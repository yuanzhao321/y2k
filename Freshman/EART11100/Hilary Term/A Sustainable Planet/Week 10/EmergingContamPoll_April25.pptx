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68" r:id="rId3"/>
    <p:sldId id="272" r:id="rId4"/>
    <p:sldId id="271" r:id="rId5"/>
    <p:sldId id="269" r:id="rId6"/>
    <p:sldId id="270" r:id="rId7"/>
    <p:sldId id="284" r:id="rId8"/>
    <p:sldId id="280" r:id="rId9"/>
    <p:sldId id="286" r:id="rId10"/>
    <p:sldId id="287" r:id="rId11"/>
    <p:sldId id="289" r:id="rId12"/>
    <p:sldId id="291" r:id="rId13"/>
    <p:sldId id="290" r:id="rId14"/>
    <p:sldId id="276" r:id="rId15"/>
    <p:sldId id="277" r:id="rId16"/>
    <p:sldId id="296" r:id="rId17"/>
    <p:sldId id="295" r:id="rId18"/>
    <p:sldId id="297" r:id="rId19"/>
    <p:sldId id="292" r:id="rId20"/>
    <p:sldId id="298" r:id="rId21"/>
    <p:sldId id="294" r:id="rId22"/>
    <p:sldId id="293" r:id="rId23"/>
    <p:sldId id="299" r:id="rId24"/>
    <p:sldId id="300" r:id="rId25"/>
    <p:sldId id="301" r:id="rId26"/>
    <p:sldId id="279" r:id="rId27"/>
    <p:sldId id="303" r:id="rId28"/>
    <p:sldId id="304" r:id="rId29"/>
    <p:sldId id="302" r:id="rId30"/>
    <p:sldId id="305" r:id="rId31"/>
    <p:sldId id="306" r:id="rId32"/>
    <p:sldId id="308" r:id="rId33"/>
    <p:sldId id="309" r:id="rId34"/>
    <p:sldId id="310" r:id="rId35"/>
    <p:sldId id="307" r:id="rId36"/>
    <p:sldId id="319" r:id="rId37"/>
    <p:sldId id="314" r:id="rId38"/>
    <p:sldId id="311" r:id="rId39"/>
    <p:sldId id="312" r:id="rId40"/>
    <p:sldId id="316" r:id="rId41"/>
    <p:sldId id="282" r:id="rId42"/>
    <p:sldId id="259" r:id="rId43"/>
    <p:sldId id="258" r:id="rId44"/>
    <p:sldId id="263" r:id="rId45"/>
    <p:sldId id="265" r:id="rId46"/>
    <p:sldId id="317" r:id="rId47"/>
    <p:sldId id="266" r:id="rId48"/>
    <p:sldId id="318" r:id="rId49"/>
    <p:sldId id="322" r:id="rId50"/>
    <p:sldId id="323" r:id="rId51"/>
    <p:sldId id="321" r:id="rId52"/>
    <p:sldId id="320" r:id="rId53"/>
    <p:sldId id="327" r:id="rId54"/>
    <p:sldId id="324" r:id="rId55"/>
    <p:sldId id="325" r:id="rId56"/>
    <p:sldId id="326" r:id="rId57"/>
    <p:sldId id="328" r:id="rId58"/>
    <p:sldId id="329" r:id="rId59"/>
    <p:sldId id="330"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90FE"/>
    <a:srgbClr val="FDCEC1"/>
    <a:srgbClr val="F2F6E7"/>
    <a:srgbClr val="889C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85"/>
    <p:restoredTop sz="94677"/>
  </p:normalViewPr>
  <p:slideViewPr>
    <p:cSldViewPr snapToGrid="0" showGuides="1">
      <p:cViewPr>
        <p:scale>
          <a:sx n="91" d="100"/>
          <a:sy n="91" d="100"/>
        </p:scale>
        <p:origin x="1256" y="1472"/>
      </p:cViewPr>
      <p:guideLst>
        <p:guide orient="horz" pos="2160"/>
        <p:guide pos="379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03FF1-3D03-7E47-9A0A-6D2781AA3185}" type="datetimeFigureOut">
              <a:rPr lang="en-US" smtClean="0"/>
              <a:t>4/28/25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D04338-C37E-4D44-828B-0F6D2CB100F8}" type="slidenum">
              <a:rPr lang="en-US" smtClean="0"/>
              <a:t>‹#›</a:t>
            </a:fld>
            <a:endParaRPr lang="en-US"/>
          </a:p>
        </p:txBody>
      </p:sp>
    </p:spTree>
    <p:extLst>
      <p:ext uri="{BB962C8B-B14F-4D97-AF65-F5344CB8AC3E}">
        <p14:creationId xmlns:p14="http://schemas.microsoft.com/office/powerpoint/2010/main" val="324352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04338-C37E-4D44-828B-0F6D2CB100F8}" type="slidenum">
              <a:rPr lang="en-US" smtClean="0"/>
              <a:t>2</a:t>
            </a:fld>
            <a:endParaRPr lang="en-US"/>
          </a:p>
        </p:txBody>
      </p:sp>
    </p:spTree>
    <p:extLst>
      <p:ext uri="{BB962C8B-B14F-4D97-AF65-F5344CB8AC3E}">
        <p14:creationId xmlns:p14="http://schemas.microsoft.com/office/powerpoint/2010/main" val="55705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04338-C37E-4D44-828B-0F6D2CB100F8}" type="slidenum">
              <a:rPr lang="en-US" smtClean="0"/>
              <a:t>5</a:t>
            </a:fld>
            <a:endParaRPr lang="en-US"/>
          </a:p>
        </p:txBody>
      </p:sp>
    </p:spTree>
    <p:extLst>
      <p:ext uri="{BB962C8B-B14F-4D97-AF65-F5344CB8AC3E}">
        <p14:creationId xmlns:p14="http://schemas.microsoft.com/office/powerpoint/2010/main" val="2112923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CEC3C-EC6F-0556-435F-70BBE2DF0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F83B8-F443-D41F-6511-A6D04019DF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DC9FF-3B65-5BEB-6981-58CF0C2FF0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79AAB0-A9B3-E135-12AA-A74454603BF1}"/>
              </a:ext>
            </a:extLst>
          </p:cNvPr>
          <p:cNvSpPr>
            <a:spLocks noGrp="1"/>
          </p:cNvSpPr>
          <p:nvPr>
            <p:ph type="sldNum" sz="quarter" idx="5"/>
          </p:nvPr>
        </p:nvSpPr>
        <p:spPr/>
        <p:txBody>
          <a:bodyPr/>
          <a:lstStyle/>
          <a:p>
            <a:fld id="{D7D04338-C37E-4D44-828B-0F6D2CB100F8}" type="slidenum">
              <a:rPr lang="en-US" smtClean="0"/>
              <a:t>6</a:t>
            </a:fld>
            <a:endParaRPr lang="en-US"/>
          </a:p>
        </p:txBody>
      </p:sp>
    </p:spTree>
    <p:extLst>
      <p:ext uri="{BB962C8B-B14F-4D97-AF65-F5344CB8AC3E}">
        <p14:creationId xmlns:p14="http://schemas.microsoft.com/office/powerpoint/2010/main" val="4209045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04338-C37E-4D44-828B-0F6D2CB100F8}" type="slidenum">
              <a:rPr lang="en-US" smtClean="0"/>
              <a:t>7</a:t>
            </a:fld>
            <a:endParaRPr lang="en-US"/>
          </a:p>
        </p:txBody>
      </p:sp>
    </p:spTree>
    <p:extLst>
      <p:ext uri="{BB962C8B-B14F-4D97-AF65-F5344CB8AC3E}">
        <p14:creationId xmlns:p14="http://schemas.microsoft.com/office/powerpoint/2010/main" val="4142455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04338-C37E-4D44-828B-0F6D2CB100F8}" type="slidenum">
              <a:rPr lang="en-US" smtClean="0"/>
              <a:t>17</a:t>
            </a:fld>
            <a:endParaRPr lang="en-US"/>
          </a:p>
        </p:txBody>
      </p:sp>
    </p:spTree>
    <p:extLst>
      <p:ext uri="{BB962C8B-B14F-4D97-AF65-F5344CB8AC3E}">
        <p14:creationId xmlns:p14="http://schemas.microsoft.com/office/powerpoint/2010/main" val="415627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FB0C3-32DE-7C08-B0AF-88CAD1B6D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EC834-181F-7706-58D9-1D93A425A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91F48-C592-8CA1-5BAF-A5A73D8F72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465021-54D7-AB52-DB83-D40E14DF395A}"/>
              </a:ext>
            </a:extLst>
          </p:cNvPr>
          <p:cNvSpPr>
            <a:spLocks noGrp="1"/>
          </p:cNvSpPr>
          <p:nvPr>
            <p:ph type="sldNum" sz="quarter" idx="5"/>
          </p:nvPr>
        </p:nvSpPr>
        <p:spPr/>
        <p:txBody>
          <a:bodyPr/>
          <a:lstStyle/>
          <a:p>
            <a:fld id="{D7D04338-C37E-4D44-828B-0F6D2CB100F8}" type="slidenum">
              <a:rPr lang="en-US" smtClean="0"/>
              <a:t>18</a:t>
            </a:fld>
            <a:endParaRPr lang="en-US"/>
          </a:p>
        </p:txBody>
      </p:sp>
    </p:spTree>
    <p:extLst>
      <p:ext uri="{BB962C8B-B14F-4D97-AF65-F5344CB8AC3E}">
        <p14:creationId xmlns:p14="http://schemas.microsoft.com/office/powerpoint/2010/main" val="1521620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04338-C37E-4D44-828B-0F6D2CB100F8}" type="slidenum">
              <a:rPr lang="en-US" smtClean="0"/>
              <a:t>20</a:t>
            </a:fld>
            <a:endParaRPr lang="en-US"/>
          </a:p>
        </p:txBody>
      </p:sp>
    </p:spTree>
    <p:extLst>
      <p:ext uri="{BB962C8B-B14F-4D97-AF65-F5344CB8AC3E}">
        <p14:creationId xmlns:p14="http://schemas.microsoft.com/office/powerpoint/2010/main" val="10599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D04338-C37E-4D44-828B-0F6D2CB100F8}" type="slidenum">
              <a:rPr lang="en-US" smtClean="0"/>
              <a:t>24</a:t>
            </a:fld>
            <a:endParaRPr lang="en-US"/>
          </a:p>
        </p:txBody>
      </p:sp>
    </p:spTree>
    <p:extLst>
      <p:ext uri="{BB962C8B-B14F-4D97-AF65-F5344CB8AC3E}">
        <p14:creationId xmlns:p14="http://schemas.microsoft.com/office/powerpoint/2010/main" val="2549991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860FC-2607-DDFC-B1FD-72B07953D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2862B-9F61-8CFD-919A-1EBD11FCA9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7793BC-9EF0-AE32-0D03-E9ED9AB9EB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0E4A6D-BE7A-AFCD-9B58-3916DEF0DD5F}"/>
              </a:ext>
            </a:extLst>
          </p:cNvPr>
          <p:cNvSpPr>
            <a:spLocks noGrp="1"/>
          </p:cNvSpPr>
          <p:nvPr>
            <p:ph type="sldNum" sz="quarter" idx="5"/>
          </p:nvPr>
        </p:nvSpPr>
        <p:spPr/>
        <p:txBody>
          <a:bodyPr/>
          <a:lstStyle/>
          <a:p>
            <a:fld id="{D7D04338-C37E-4D44-828B-0F6D2CB100F8}" type="slidenum">
              <a:rPr lang="en-US" smtClean="0"/>
              <a:t>25</a:t>
            </a:fld>
            <a:endParaRPr lang="en-US"/>
          </a:p>
        </p:txBody>
      </p:sp>
    </p:spTree>
    <p:extLst>
      <p:ext uri="{BB962C8B-B14F-4D97-AF65-F5344CB8AC3E}">
        <p14:creationId xmlns:p14="http://schemas.microsoft.com/office/powerpoint/2010/main" val="411699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461AE-6713-EDC1-C5BC-C3E033363E4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0223A99-2317-1E90-EA6F-D06756403D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78A7B98-B953-44B3-5942-44943FC50787}"/>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5" name="Footer Placeholder 4">
            <a:extLst>
              <a:ext uri="{FF2B5EF4-FFF2-40B4-BE49-F238E27FC236}">
                <a16:creationId xmlns:a16="http://schemas.microsoft.com/office/drawing/2014/main" id="{16310984-DCA1-92E0-617C-667444D26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FD8DDF-3773-3D0C-D164-697D6130BFFB}"/>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3427311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523F-21B4-7811-AB73-864C42F9D98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8811A53-1172-F0F5-5B6B-32ACAB854C2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6E5739-F458-5932-DCBB-6A8B5953857B}"/>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5" name="Footer Placeholder 4">
            <a:extLst>
              <a:ext uri="{FF2B5EF4-FFF2-40B4-BE49-F238E27FC236}">
                <a16:creationId xmlns:a16="http://schemas.microsoft.com/office/drawing/2014/main" id="{958D0FEB-E991-34B7-DA6F-7AD27A63D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D63F2-260B-4C26-6CBD-A23D90E1C584}"/>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250295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7B6EE-4562-C56C-5A67-90AC34E9FA6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2337677-63A2-CC03-BB53-C0F128CBDD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65F511C-C5CA-689F-A18D-823E660FB72E}"/>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5" name="Footer Placeholder 4">
            <a:extLst>
              <a:ext uri="{FF2B5EF4-FFF2-40B4-BE49-F238E27FC236}">
                <a16:creationId xmlns:a16="http://schemas.microsoft.com/office/drawing/2014/main" id="{21A8C190-DD4B-E510-3B90-B04D13313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6F074-1C79-E91E-A18B-6F7BCD37BCD4}"/>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3046002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B3936-E464-A3D1-19F0-A28EF0BE5B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CC1A916-6D1F-A2FD-5F43-67A6CBBBB52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291E6AC-69E3-D908-D3AE-5355EFE653E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5D35B2C-90A7-49E2-3C02-E546259BAC21}"/>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6" name="Footer Placeholder 5">
            <a:extLst>
              <a:ext uri="{FF2B5EF4-FFF2-40B4-BE49-F238E27FC236}">
                <a16:creationId xmlns:a16="http://schemas.microsoft.com/office/drawing/2014/main" id="{E515D855-36F1-CE46-7257-DCC9554B09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ECD7D8-2359-8E4D-3983-49619EC1825A}"/>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2730320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43C4D-738D-14F8-9D35-25B66BFC5A7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A5707D-F905-3BCF-5F4C-340B6C88B8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894ADE-A02B-E21B-0FB6-94234ABC49D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079371F-66D0-2AB0-AD42-FF70D7BC54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CEFBF46-0940-9BA2-748F-5C579F5E776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E5789DE-897D-D7E0-025C-B510DEBC4776}"/>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8" name="Footer Placeholder 7">
            <a:extLst>
              <a:ext uri="{FF2B5EF4-FFF2-40B4-BE49-F238E27FC236}">
                <a16:creationId xmlns:a16="http://schemas.microsoft.com/office/drawing/2014/main" id="{86CEF865-82CB-03D6-4B1E-C6A90DA6D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D9D4B3-102D-2B85-B9E6-815A41FE1403}"/>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1953243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19F08-8348-E179-9C23-60CB16476A0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484D650-3FF5-7054-9AEF-AD3C526D859B}"/>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4" name="Footer Placeholder 3">
            <a:extLst>
              <a:ext uri="{FF2B5EF4-FFF2-40B4-BE49-F238E27FC236}">
                <a16:creationId xmlns:a16="http://schemas.microsoft.com/office/drawing/2014/main" id="{DBD6270B-517F-7DCC-A02C-40E7653030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80212C-AE4A-F745-85DB-E4342CD6CCD2}"/>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4273674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E00AFD-B535-7BEC-8F27-072D0C522907}"/>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3" name="Footer Placeholder 2">
            <a:extLst>
              <a:ext uri="{FF2B5EF4-FFF2-40B4-BE49-F238E27FC236}">
                <a16:creationId xmlns:a16="http://schemas.microsoft.com/office/drawing/2014/main" id="{DCEF5D36-551F-EA23-AAA1-2BB5D9CD90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2FE884-3872-A6D7-BDE3-1E1C3F913C0E}"/>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507501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369D-526B-FCD3-AA08-F12F42C91F6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BB64C9B-DB96-115B-F206-241927DC4B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D5EF88E-DD09-7042-970C-8D417F857E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E00C0E5-5674-0584-BF85-86DED7B29634}"/>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6" name="Footer Placeholder 5">
            <a:extLst>
              <a:ext uri="{FF2B5EF4-FFF2-40B4-BE49-F238E27FC236}">
                <a16:creationId xmlns:a16="http://schemas.microsoft.com/office/drawing/2014/main" id="{D27D9BD6-81B8-4955-CD7D-144EBECDA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A3827D-0595-0292-5D77-5121B3B0C088}"/>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3880768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60F9-E247-7BC9-AFCE-A3B58529B50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D307A58-434C-ABA1-89A8-61B47383F2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FDE08-BCC0-B8AE-0C39-BC07BE053C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D707C8A-3CA1-0FCA-613E-8112970F3276}"/>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6" name="Footer Placeholder 5">
            <a:extLst>
              <a:ext uri="{FF2B5EF4-FFF2-40B4-BE49-F238E27FC236}">
                <a16:creationId xmlns:a16="http://schemas.microsoft.com/office/drawing/2014/main" id="{37928C9E-DDAD-54E3-2A3D-4846AACC32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BC219F-3A24-EF7A-97E5-355E4ED826EE}"/>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3619237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0CAF-B25B-9F7B-031A-AA96A07C3EA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CE8F18A-85D7-EB59-F4F4-7283D8BD3F7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34C63D3-F442-785B-BD9B-DF71DBF234EB}"/>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5" name="Footer Placeholder 4">
            <a:extLst>
              <a:ext uri="{FF2B5EF4-FFF2-40B4-BE49-F238E27FC236}">
                <a16:creationId xmlns:a16="http://schemas.microsoft.com/office/drawing/2014/main" id="{1C84A25A-DA4D-FF86-5421-EFC3E3E21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DA5B0D-3D3F-777F-697B-B2F037A42EDB}"/>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2666843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4B5791-99BF-7F6E-5158-D496F0CDBDD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4EB06C0-A1E7-8909-56B4-D12E24904CC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572EAB7-B15C-CC4A-6110-A17CBF999E92}"/>
              </a:ext>
            </a:extLst>
          </p:cNvPr>
          <p:cNvSpPr>
            <a:spLocks noGrp="1"/>
          </p:cNvSpPr>
          <p:nvPr>
            <p:ph type="dt" sz="half" idx="10"/>
          </p:nvPr>
        </p:nvSpPr>
        <p:spPr/>
        <p:txBody>
          <a:bodyPr/>
          <a:lstStyle/>
          <a:p>
            <a:fld id="{1CD97CCE-6787-B64E-873D-7F805B76F788}" type="datetimeFigureOut">
              <a:rPr lang="en-US" smtClean="0"/>
              <a:t>4/28/25</a:t>
            </a:fld>
            <a:endParaRPr lang="en-US"/>
          </a:p>
        </p:txBody>
      </p:sp>
      <p:sp>
        <p:nvSpPr>
          <p:cNvPr id="5" name="Footer Placeholder 4">
            <a:extLst>
              <a:ext uri="{FF2B5EF4-FFF2-40B4-BE49-F238E27FC236}">
                <a16:creationId xmlns:a16="http://schemas.microsoft.com/office/drawing/2014/main" id="{346F8F2A-60AD-5E64-F2D1-21C6F07468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22764-F44E-E45B-1E51-A1CB9F8CB6D7}"/>
              </a:ext>
            </a:extLst>
          </p:cNvPr>
          <p:cNvSpPr>
            <a:spLocks noGrp="1"/>
          </p:cNvSpPr>
          <p:nvPr>
            <p:ph type="sldNum" sz="quarter" idx="12"/>
          </p:nvPr>
        </p:nvSpPr>
        <p:spPr/>
        <p:txBody>
          <a:bodyPr/>
          <a:lstStyle/>
          <a:p>
            <a:fld id="{B22CE37C-F6A5-634D-A6D1-78BD104A75BB}" type="slidenum">
              <a:rPr lang="en-US" smtClean="0"/>
              <a:t>‹#›</a:t>
            </a:fld>
            <a:endParaRPr lang="en-US"/>
          </a:p>
        </p:txBody>
      </p:sp>
    </p:spTree>
    <p:extLst>
      <p:ext uri="{BB962C8B-B14F-4D97-AF65-F5344CB8AC3E}">
        <p14:creationId xmlns:p14="http://schemas.microsoft.com/office/powerpoint/2010/main" val="3485230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B3CD12-DBD4-52AB-AA96-6640D161C7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6E7FE4C-3DE1-BB07-3639-8436C4DA4B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A408D03-BE5F-6308-0C19-037D0635B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D97CCE-6787-B64E-873D-7F805B76F788}" type="datetimeFigureOut">
              <a:rPr lang="en-US" smtClean="0"/>
              <a:t>4/28/25</a:t>
            </a:fld>
            <a:endParaRPr lang="en-US"/>
          </a:p>
        </p:txBody>
      </p:sp>
      <p:sp>
        <p:nvSpPr>
          <p:cNvPr id="5" name="Footer Placeholder 4">
            <a:extLst>
              <a:ext uri="{FF2B5EF4-FFF2-40B4-BE49-F238E27FC236}">
                <a16:creationId xmlns:a16="http://schemas.microsoft.com/office/drawing/2014/main" id="{17EDC5F7-16AB-8706-2F8A-4284285968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45CB29-046D-35CE-B123-A247B1A16F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2CE37C-F6A5-634D-A6D1-78BD104A75BB}" type="slidenum">
              <a:rPr lang="en-US" smtClean="0"/>
              <a:t>‹#›</a:t>
            </a:fld>
            <a:endParaRPr lang="en-US"/>
          </a:p>
        </p:txBody>
      </p:sp>
    </p:spTree>
    <p:extLst>
      <p:ext uri="{BB962C8B-B14F-4D97-AF65-F5344CB8AC3E}">
        <p14:creationId xmlns:p14="http://schemas.microsoft.com/office/powerpoint/2010/main" val="2611280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8.gif"/><Relationship Id="rId1" Type="http://schemas.openxmlformats.org/officeDocument/2006/relationships/slideLayout" Target="../slideLayouts/slideLayout2.xml"/><Relationship Id="rId5" Type="http://schemas.openxmlformats.org/officeDocument/2006/relationships/hyperlink" Target="https://doi.org/10.1039/1463-9270/1999" TargetMode="External"/><Relationship Id="rId4" Type="http://schemas.openxmlformats.org/officeDocument/2006/relationships/hyperlink" Target="https://doi.org/10.1039/D2GC02588D"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2.jpeg"/><Relationship Id="rId4" Type="http://schemas.openxmlformats.org/officeDocument/2006/relationships/image" Target="../media/image41.jpe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3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jpeg"/></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gif"/></Relationships>
</file>

<file path=ppt/slides/_rels/slide3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jpeg"/></Relationships>
</file>

<file path=ppt/slides/_rels/slide35.xml.rels><?xml version="1.0" encoding="UTF-8" standalone="yes"?>
<Relationships xmlns="http://schemas.openxmlformats.org/package/2006/relationships"><Relationship Id="rId8" Type="http://schemas.openxmlformats.org/officeDocument/2006/relationships/image" Target="../media/image80.jpeg"/><Relationship Id="rId3" Type="http://schemas.openxmlformats.org/officeDocument/2006/relationships/image" Target="../media/image75.jpeg"/><Relationship Id="rId7" Type="http://schemas.openxmlformats.org/officeDocument/2006/relationships/image" Target="../media/image79.jpe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jpeg"/><Relationship Id="rId5" Type="http://schemas.openxmlformats.org/officeDocument/2006/relationships/image" Target="../media/image77.jpeg"/><Relationship Id="rId4" Type="http://schemas.openxmlformats.org/officeDocument/2006/relationships/image" Target="../media/image76.jpeg"/></Relationships>
</file>

<file path=ppt/slides/_rels/slide36.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jpeg"/><Relationship Id="rId5" Type="http://schemas.openxmlformats.org/officeDocument/2006/relationships/image" Target="../media/image90.png"/><Relationship Id="rId4" Type="http://schemas.openxmlformats.org/officeDocument/2006/relationships/image" Target="../media/image89.png"/></Relationships>
</file>

<file path=ppt/slides/_rels/slide38.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5.png"/><Relationship Id="rId2" Type="http://schemas.openxmlformats.org/officeDocument/2006/relationships/image" Target="../media/image88.jpe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3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jpeg"/><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4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4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www.pnas.org/lookup/doi/10.1073/pnas.2113947119#supplementary-materials" TargetMode="External"/><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www.pnas.org/lookup/doi/10.1073/pnas.2113947119#supplementary-materials" TargetMode="External"/><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209FC-BF02-3584-221B-961DD5C99E27}"/>
              </a:ext>
            </a:extLst>
          </p:cNvPr>
          <p:cNvSpPr>
            <a:spLocks noGrp="1"/>
          </p:cNvSpPr>
          <p:nvPr>
            <p:ph type="ctrTitle"/>
          </p:nvPr>
        </p:nvSpPr>
        <p:spPr>
          <a:xfrm>
            <a:off x="139889" y="157337"/>
            <a:ext cx="11930742" cy="839152"/>
          </a:xfrm>
        </p:spPr>
        <p:txBody>
          <a:bodyPr>
            <a:normAutofit/>
          </a:bodyPr>
          <a:lstStyle/>
          <a:p>
            <a:r>
              <a:rPr lang="en-US" sz="4800" b="1" dirty="0">
                <a:solidFill>
                  <a:srgbClr val="C00000"/>
                </a:solidFill>
              </a:rPr>
              <a:t>Emerging contaminants &amp; pollutants</a:t>
            </a:r>
          </a:p>
        </p:txBody>
      </p:sp>
      <p:sp>
        <p:nvSpPr>
          <p:cNvPr id="3" name="Subtitle 2">
            <a:extLst>
              <a:ext uri="{FF2B5EF4-FFF2-40B4-BE49-F238E27FC236}">
                <a16:creationId xmlns:a16="http://schemas.microsoft.com/office/drawing/2014/main" id="{47BDBB53-B80C-834D-D134-4B4092B363CF}"/>
              </a:ext>
            </a:extLst>
          </p:cNvPr>
          <p:cNvSpPr>
            <a:spLocks noGrp="1"/>
          </p:cNvSpPr>
          <p:nvPr>
            <p:ph type="subTitle" idx="1"/>
          </p:nvPr>
        </p:nvSpPr>
        <p:spPr>
          <a:xfrm>
            <a:off x="1122869" y="5845180"/>
            <a:ext cx="9971314" cy="989465"/>
          </a:xfrm>
        </p:spPr>
        <p:txBody>
          <a:bodyPr>
            <a:normAutofit fontScale="92500"/>
          </a:bodyPr>
          <a:lstStyle/>
          <a:p>
            <a:r>
              <a:rPr lang="en-US" b="1" dirty="0"/>
              <a:t>Sustainable Planet </a:t>
            </a:r>
            <a:r>
              <a:rPr lang="en-US" dirty="0"/>
              <a:t>| 29</a:t>
            </a:r>
            <a:r>
              <a:rPr lang="en-US" baseline="30000" dirty="0"/>
              <a:t>th</a:t>
            </a:r>
            <a:r>
              <a:rPr lang="en-US" dirty="0"/>
              <a:t> April 2025</a:t>
            </a:r>
            <a:endParaRPr lang="en-US" b="1" dirty="0"/>
          </a:p>
          <a:p>
            <a:r>
              <a:rPr lang="en-US" dirty="0"/>
              <a:t>Prof Sophie Nixon | Chair of Environmental Microbiology and Biotechnology</a:t>
            </a:r>
          </a:p>
          <a:p>
            <a:endParaRPr lang="en-US" dirty="0"/>
          </a:p>
        </p:txBody>
      </p:sp>
      <p:grpSp>
        <p:nvGrpSpPr>
          <p:cNvPr id="5" name="Group 4">
            <a:extLst>
              <a:ext uri="{FF2B5EF4-FFF2-40B4-BE49-F238E27FC236}">
                <a16:creationId xmlns:a16="http://schemas.microsoft.com/office/drawing/2014/main" id="{6851E4F1-ABD1-A17D-1E5E-5CE31776FA82}"/>
              </a:ext>
            </a:extLst>
          </p:cNvPr>
          <p:cNvGrpSpPr/>
          <p:nvPr/>
        </p:nvGrpSpPr>
        <p:grpSpPr>
          <a:xfrm>
            <a:off x="3780069" y="1136542"/>
            <a:ext cx="4601931" cy="4584915"/>
            <a:chOff x="3780069" y="1136542"/>
            <a:chExt cx="4601931" cy="4584915"/>
          </a:xfrm>
        </p:grpSpPr>
        <p:pic>
          <p:nvPicPr>
            <p:cNvPr id="11268" name="Picture 4" descr="Are we living in the Anthropocene epoch? Scientific body says &quot;yes&quot;">
              <a:extLst>
                <a:ext uri="{FF2B5EF4-FFF2-40B4-BE49-F238E27FC236}">
                  <a16:creationId xmlns:a16="http://schemas.microsoft.com/office/drawing/2014/main" id="{C1ACA79A-9C65-CBBE-7815-DD337ACAB6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179" t="3828" r="27410" b="5612"/>
            <a:stretch/>
          </p:blipFill>
          <p:spPr bwMode="auto">
            <a:xfrm>
              <a:off x="3809999" y="1136542"/>
              <a:ext cx="4572001" cy="4584915"/>
            </a:xfrm>
            <a:prstGeom prst="ellipse">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352BCEE0-8BFB-1DEC-CC26-A22D5B695C91}"/>
                </a:ext>
              </a:extLst>
            </p:cNvPr>
            <p:cNvSpPr/>
            <p:nvPr/>
          </p:nvSpPr>
          <p:spPr>
            <a:xfrm>
              <a:off x="3780069" y="1136542"/>
              <a:ext cx="4601931" cy="4584914"/>
            </a:xfrm>
            <a:prstGeom prst="ellipse">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73636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E3F3-F436-4600-8C54-1F6622C511B6}"/>
              </a:ext>
            </a:extLst>
          </p:cNvPr>
          <p:cNvSpPr>
            <a:spLocks noGrp="1"/>
          </p:cNvSpPr>
          <p:nvPr>
            <p:ph type="title"/>
          </p:nvPr>
        </p:nvSpPr>
        <p:spPr>
          <a:xfrm>
            <a:off x="65316" y="86408"/>
            <a:ext cx="10515600" cy="724126"/>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Intended Learning Outcomes</a:t>
            </a:r>
          </a:p>
        </p:txBody>
      </p:sp>
      <p:sp>
        <p:nvSpPr>
          <p:cNvPr id="15" name="TextBox 14">
            <a:extLst>
              <a:ext uri="{FF2B5EF4-FFF2-40B4-BE49-F238E27FC236}">
                <a16:creationId xmlns:a16="http://schemas.microsoft.com/office/drawing/2014/main" id="{55FE3D6A-1869-CE32-3DBD-B33499604BD0}"/>
              </a:ext>
            </a:extLst>
          </p:cNvPr>
          <p:cNvSpPr txBox="1"/>
          <p:nvPr/>
        </p:nvSpPr>
        <p:spPr>
          <a:xfrm>
            <a:off x="221667" y="1166842"/>
            <a:ext cx="11416152" cy="4524315"/>
          </a:xfrm>
          <a:prstGeom prst="rect">
            <a:avLst/>
          </a:prstGeom>
          <a:noFill/>
        </p:spPr>
        <p:txBody>
          <a:bodyPr wrap="square" rtlCol="0">
            <a:spAutoFit/>
          </a:bodyPr>
          <a:lstStyle/>
          <a:p>
            <a:pPr marL="457200" indent="-457200">
              <a:buClr>
                <a:srgbClr val="C00000"/>
              </a:buClr>
              <a:buFont typeface="+mj-lt"/>
              <a:buAutoNum type="arabicPeriod"/>
            </a:pPr>
            <a:endParaRPr lang="en-US" sz="2400" b="1" dirty="0">
              <a:solidFill>
                <a:srgbClr val="C00000"/>
              </a:solidFill>
              <a:latin typeface="Arial" panose="020B0604020202020204" pitchFamily="34" charset="0"/>
              <a:cs typeface="Arial" panose="020B0604020202020204" pitchFamily="34" charset="0"/>
            </a:endParaRPr>
          </a:p>
          <a:p>
            <a:pPr marL="949325" indent="-457200">
              <a:buClr>
                <a:srgbClr val="C00000"/>
              </a:buClr>
              <a:buFont typeface="+mj-lt"/>
              <a:buAutoNum type="arabicPeriod"/>
            </a:pPr>
            <a:r>
              <a:rPr lang="en-US" sz="2400" dirty="0">
                <a:latin typeface="Arial" panose="020B0604020202020204" pitchFamily="34" charset="0"/>
                <a:cs typeface="Arial" panose="020B0604020202020204" pitchFamily="34" charset="0"/>
              </a:rPr>
              <a:t>Differentiate between the terms </a:t>
            </a:r>
            <a:r>
              <a:rPr lang="en-US" sz="2400" b="1" i="1" dirty="0">
                <a:solidFill>
                  <a:srgbClr val="C00000"/>
                </a:solidFill>
                <a:latin typeface="Arial" panose="020B0604020202020204" pitchFamily="34" charset="0"/>
                <a:cs typeface="Arial" panose="020B0604020202020204" pitchFamily="34" charset="0"/>
              </a:rPr>
              <a:t>contaminant </a:t>
            </a:r>
            <a:r>
              <a:rPr lang="en-US" sz="2400" dirty="0">
                <a:latin typeface="Arial" panose="020B0604020202020204" pitchFamily="34" charset="0"/>
                <a:cs typeface="Arial" panose="020B0604020202020204" pitchFamily="34" charset="0"/>
              </a:rPr>
              <a:t>and </a:t>
            </a:r>
            <a:r>
              <a:rPr lang="en-US" sz="2400" b="1" i="1" dirty="0">
                <a:solidFill>
                  <a:srgbClr val="C00000"/>
                </a:solidFill>
                <a:latin typeface="Arial" panose="020B0604020202020204" pitchFamily="34" charset="0"/>
                <a:cs typeface="Arial" panose="020B0604020202020204" pitchFamily="34" charset="0"/>
              </a:rPr>
              <a:t>pollutant</a:t>
            </a:r>
          </a:p>
          <a:p>
            <a:pPr marL="949325" indent="-457200">
              <a:buClr>
                <a:srgbClr val="C00000"/>
              </a:buClr>
              <a:buFont typeface="+mj-lt"/>
              <a:buAutoNum type="arabicPeriod"/>
            </a:pPr>
            <a:endParaRPr lang="en-US" sz="2400" i="1" dirty="0">
              <a:latin typeface="Arial" panose="020B0604020202020204" pitchFamily="34" charset="0"/>
              <a:cs typeface="Arial" panose="020B0604020202020204" pitchFamily="34" charset="0"/>
            </a:endParaRPr>
          </a:p>
          <a:p>
            <a:pPr marL="949325" indent="-457200">
              <a:buClr>
                <a:srgbClr val="C00000"/>
              </a:buClr>
              <a:buFont typeface="+mj-lt"/>
              <a:buAutoNum type="arabicPeriod"/>
            </a:pPr>
            <a:r>
              <a:rPr lang="en-US" sz="2400" dirty="0">
                <a:latin typeface="Arial" panose="020B0604020202020204" pitchFamily="34" charset="0"/>
                <a:cs typeface="Arial" panose="020B0604020202020204" pitchFamily="34" charset="0"/>
              </a:rPr>
              <a:t>Identify and classify a range of emerging environmental contaminants and pollutants</a:t>
            </a:r>
          </a:p>
          <a:p>
            <a:pPr marL="949325" indent="-457200">
              <a:buClr>
                <a:srgbClr val="C00000"/>
              </a:buClr>
              <a:buFont typeface="+mj-lt"/>
              <a:buAutoNum type="arabicPeriod"/>
            </a:pPr>
            <a:endParaRPr lang="en-US" sz="2400" dirty="0">
              <a:latin typeface="Arial" panose="020B0604020202020204" pitchFamily="34" charset="0"/>
              <a:cs typeface="Arial" panose="020B0604020202020204" pitchFamily="34" charset="0"/>
            </a:endParaRPr>
          </a:p>
          <a:p>
            <a:pPr marL="949325" indent="-457200">
              <a:buClr>
                <a:srgbClr val="C00000"/>
              </a:buClr>
              <a:buFont typeface="+mj-lt"/>
              <a:buAutoNum type="arabicPeriod"/>
            </a:pPr>
            <a:r>
              <a:rPr lang="en-US" sz="2400" dirty="0">
                <a:latin typeface="Arial" panose="020B0604020202020204" pitchFamily="34" charset="0"/>
                <a:cs typeface="Arial" panose="020B0604020202020204" pitchFamily="34" charset="0"/>
              </a:rPr>
              <a:t>Explain why these substances are of </a:t>
            </a:r>
            <a:r>
              <a:rPr lang="en-US" sz="2400" b="1" dirty="0">
                <a:solidFill>
                  <a:srgbClr val="C00000"/>
                </a:solidFill>
                <a:latin typeface="Arial" panose="020B0604020202020204" pitchFamily="34" charset="0"/>
                <a:cs typeface="Arial" panose="020B0604020202020204" pitchFamily="34" charset="0"/>
              </a:rPr>
              <a:t>environmental concern</a:t>
            </a:r>
          </a:p>
          <a:p>
            <a:pPr marL="949325" indent="-457200">
              <a:buClr>
                <a:srgbClr val="C00000"/>
              </a:buClr>
              <a:buFont typeface="+mj-lt"/>
              <a:buAutoNum type="arabicPeriod"/>
            </a:pPr>
            <a:endParaRPr lang="en-US" sz="2400" dirty="0">
              <a:latin typeface="Arial" panose="020B0604020202020204" pitchFamily="34" charset="0"/>
              <a:cs typeface="Arial" panose="020B0604020202020204" pitchFamily="34" charset="0"/>
            </a:endParaRPr>
          </a:p>
          <a:p>
            <a:pPr marL="949325" indent="-457200">
              <a:buClr>
                <a:srgbClr val="C00000"/>
              </a:buClr>
              <a:buFont typeface="+mj-lt"/>
              <a:buAutoNum type="arabicPeriod"/>
            </a:pPr>
            <a:r>
              <a:rPr lang="en-US" sz="2400" dirty="0">
                <a:latin typeface="Arial" panose="020B0604020202020204" pitchFamily="34" charset="0"/>
                <a:cs typeface="Arial" panose="020B0604020202020204" pitchFamily="34" charset="0"/>
              </a:rPr>
              <a:t>Evaluate</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current </a:t>
            </a:r>
            <a:r>
              <a:rPr lang="en-US" sz="2400" b="1" dirty="0">
                <a:solidFill>
                  <a:srgbClr val="C00000"/>
                </a:solidFill>
                <a:latin typeface="Arial" panose="020B0604020202020204" pitchFamily="34" charset="0"/>
                <a:cs typeface="Arial" panose="020B0604020202020204" pitchFamily="34" charset="0"/>
              </a:rPr>
              <a:t>remediation</a:t>
            </a:r>
            <a:r>
              <a:rPr lang="en-US" sz="2400" dirty="0">
                <a:latin typeface="Arial" panose="020B0604020202020204" pitchFamily="34" charset="0"/>
                <a:cs typeface="Arial" panose="020B0604020202020204" pitchFamily="34" charset="0"/>
              </a:rPr>
              <a:t> approaches and identify their key limitations and challenges </a:t>
            </a:r>
          </a:p>
          <a:p>
            <a:pPr marL="949325" indent="-457200">
              <a:buClr>
                <a:srgbClr val="C00000"/>
              </a:buClr>
              <a:buFont typeface="+mj-lt"/>
              <a:buAutoNum type="arabicPeriod"/>
            </a:pPr>
            <a:endParaRPr lang="en-US" sz="2400" dirty="0">
              <a:latin typeface="Arial" panose="020B0604020202020204" pitchFamily="34" charset="0"/>
              <a:cs typeface="Arial" panose="020B0604020202020204" pitchFamily="34" charset="0"/>
            </a:endParaRPr>
          </a:p>
          <a:p>
            <a:pPr marL="949325" indent="-457200">
              <a:buClr>
                <a:srgbClr val="C00000"/>
              </a:buClr>
              <a:buFont typeface="+mj-lt"/>
              <a:buAutoNum type="arabicPeriod"/>
            </a:pPr>
            <a:r>
              <a:rPr lang="en-US" sz="2400" dirty="0">
                <a:latin typeface="Arial" panose="020B0604020202020204" pitchFamily="34" charset="0"/>
                <a:cs typeface="Arial" panose="020B0604020202020204" pitchFamily="34" charset="0"/>
              </a:rPr>
              <a:t>Connect</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emerging contaminant issues with relevant </a:t>
            </a:r>
            <a:r>
              <a:rPr lang="en-US" sz="2400" b="1" dirty="0">
                <a:solidFill>
                  <a:srgbClr val="C00000"/>
                </a:solidFill>
                <a:latin typeface="Arial" panose="020B0604020202020204" pitchFamily="34" charset="0"/>
                <a:cs typeface="Arial" panose="020B0604020202020204" pitchFamily="34" charset="0"/>
              </a:rPr>
              <a:t>SDGs</a:t>
            </a:r>
          </a:p>
        </p:txBody>
      </p:sp>
    </p:spTree>
    <p:extLst>
      <p:ext uri="{BB962C8B-B14F-4D97-AF65-F5344CB8AC3E}">
        <p14:creationId xmlns:p14="http://schemas.microsoft.com/office/powerpoint/2010/main" val="1947754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B886DDB-E911-9DF2-8B33-454A3135558A}"/>
              </a:ext>
            </a:extLst>
          </p:cNvPr>
          <p:cNvSpPr txBox="1">
            <a:spLocks/>
          </p:cNvSpPr>
          <p:nvPr/>
        </p:nvSpPr>
        <p:spPr>
          <a:xfrm>
            <a:off x="65316" y="86408"/>
            <a:ext cx="10515600" cy="7241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What we will cover</a:t>
            </a:r>
          </a:p>
        </p:txBody>
      </p:sp>
      <p:sp>
        <p:nvSpPr>
          <p:cNvPr id="5" name="TextBox 4">
            <a:extLst>
              <a:ext uri="{FF2B5EF4-FFF2-40B4-BE49-F238E27FC236}">
                <a16:creationId xmlns:a16="http://schemas.microsoft.com/office/drawing/2014/main" id="{DDC80762-C7A9-4E9E-C1A1-86D94AD429B4}"/>
              </a:ext>
            </a:extLst>
          </p:cNvPr>
          <p:cNvSpPr txBox="1"/>
          <p:nvPr/>
        </p:nvSpPr>
        <p:spPr>
          <a:xfrm>
            <a:off x="639574" y="1458351"/>
            <a:ext cx="10839827" cy="4524315"/>
          </a:xfrm>
          <a:prstGeom prst="rect">
            <a:avLst/>
          </a:prstGeom>
          <a:noFill/>
        </p:spPr>
        <p:txBody>
          <a:bodyPr wrap="none" rtlCol="0">
            <a:spAutoFit/>
          </a:bodyPr>
          <a:lstStyle/>
          <a:p>
            <a:pPr>
              <a:buNone/>
            </a:pPr>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The Anthropocene</a:t>
            </a:r>
            <a:r>
              <a:rPr lang="en-GB" sz="2400" dirty="0">
                <a:latin typeface="Arial" panose="020B0604020202020204" pitchFamily="34" charset="0"/>
                <a:cs typeface="Arial" panose="020B0604020202020204" pitchFamily="34" charset="0"/>
              </a:rPr>
              <a:t>: Defining humanity’s environmental footprint</a:t>
            </a:r>
          </a:p>
          <a:p>
            <a:pPr>
              <a:buNone/>
            </a:pPr>
            <a:endParaRPr lang="en-GB" sz="2400" dirty="0">
              <a:latin typeface="Arial" panose="020B0604020202020204" pitchFamily="34" charset="0"/>
              <a:cs typeface="Arial" panose="020B0604020202020204" pitchFamily="34" charset="0"/>
            </a:endParaRPr>
          </a:p>
          <a:p>
            <a:pPr>
              <a:buNone/>
            </a:pPr>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Emerging contaminants</a:t>
            </a:r>
            <a:r>
              <a:rPr lang="en-GB" sz="2400" dirty="0">
                <a:latin typeface="Arial" panose="020B0604020202020204" pitchFamily="34" charset="0"/>
                <a:cs typeface="Arial" panose="020B0604020202020204" pitchFamily="34" charset="0"/>
              </a:rPr>
              <a:t>: What are they and where are they coming from?</a:t>
            </a:r>
          </a:p>
          <a:p>
            <a:pPr>
              <a:buNone/>
            </a:pPr>
            <a:endParaRPr lang="en-GB" sz="2400" dirty="0">
              <a:latin typeface="Arial" panose="020B0604020202020204" pitchFamily="34" charset="0"/>
              <a:cs typeface="Arial" panose="020B0604020202020204" pitchFamily="34" charset="0"/>
            </a:endParaRPr>
          </a:p>
          <a:p>
            <a:pPr>
              <a:buNone/>
            </a:pPr>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From contaminant to pollutant</a:t>
            </a:r>
            <a:r>
              <a:rPr lang="en-GB" sz="2400" dirty="0">
                <a:latin typeface="Arial" panose="020B0604020202020204" pitchFamily="34" charset="0"/>
                <a:cs typeface="Arial" panose="020B0604020202020204" pitchFamily="34" charset="0"/>
              </a:rPr>
              <a:t>: When substances become a problem</a:t>
            </a:r>
          </a:p>
          <a:p>
            <a:pPr>
              <a:buNone/>
            </a:pPr>
            <a:endParaRPr lang="en-GB" sz="2400" dirty="0">
              <a:latin typeface="Arial" panose="020B0604020202020204" pitchFamily="34" charset="0"/>
              <a:cs typeface="Arial" panose="020B0604020202020204" pitchFamily="34" charset="0"/>
            </a:endParaRPr>
          </a:p>
          <a:p>
            <a:pPr>
              <a:buNone/>
            </a:pPr>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Case studies</a:t>
            </a:r>
            <a:r>
              <a:rPr lang="en-GB" sz="2400" dirty="0">
                <a:latin typeface="Arial" panose="020B0604020202020204" pitchFamily="34" charset="0"/>
                <a:cs typeface="Arial" panose="020B0604020202020204" pitchFamily="34" charset="0"/>
              </a:rPr>
              <a:t>: Plastics and PFAS</a:t>
            </a:r>
          </a:p>
          <a:p>
            <a:pPr>
              <a:buNone/>
            </a:pPr>
            <a:endParaRPr lang="en-GB" sz="2400" dirty="0">
              <a:latin typeface="Arial" panose="020B0604020202020204" pitchFamily="34" charset="0"/>
              <a:cs typeface="Arial" panose="020B0604020202020204" pitchFamily="34" charset="0"/>
            </a:endParaRPr>
          </a:p>
          <a:p>
            <a:pPr>
              <a:buNone/>
            </a:pPr>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Responding to the crisis</a:t>
            </a:r>
            <a:r>
              <a:rPr lang="en-GB" sz="2400" dirty="0">
                <a:latin typeface="Arial" panose="020B0604020202020204" pitchFamily="34" charset="0"/>
                <a:cs typeface="Arial" panose="020B0604020202020204" pitchFamily="34" charset="0"/>
              </a:rPr>
              <a:t>: Current remediation &amp; nature-based solutions</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 </a:t>
            </a:r>
            <a:r>
              <a:rPr lang="en-GB" sz="2400" b="1" dirty="0">
                <a:latin typeface="Arial" panose="020B0604020202020204" pitchFamily="34" charset="0"/>
                <a:cs typeface="Arial" panose="020B0604020202020204" pitchFamily="34" charset="0"/>
              </a:rPr>
              <a:t>Paper of the week</a:t>
            </a:r>
            <a:r>
              <a:rPr lang="en-GB" sz="2400" dirty="0">
                <a:latin typeface="Arial" panose="020B0604020202020204" pitchFamily="34" charset="0"/>
                <a:cs typeface="Arial" panose="020B0604020202020204" pitchFamily="34" charset="0"/>
              </a:rPr>
              <a:t>: Pharmaceutical pollution in the world’s rivers</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9195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D0334-ED89-7358-7976-512504CE74A1}"/>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4A2C1216-9F54-EC48-284D-E43F50487729}"/>
              </a:ext>
            </a:extLst>
          </p:cNvPr>
          <p:cNvPicPr>
            <a:picLocks noChangeAspect="1"/>
          </p:cNvPicPr>
          <p:nvPr/>
        </p:nvPicPr>
        <p:blipFill>
          <a:blip r:embed="rId2"/>
          <a:srcRect l="2517" r="58581" b="64111"/>
          <a:stretch/>
        </p:blipFill>
        <p:spPr>
          <a:xfrm>
            <a:off x="306981" y="1318012"/>
            <a:ext cx="3170280" cy="1634194"/>
          </a:xfrm>
          <a:prstGeom prst="rect">
            <a:avLst/>
          </a:prstGeom>
        </p:spPr>
      </p:pic>
      <p:pic>
        <p:nvPicPr>
          <p:cNvPr id="12290" name="Picture 2" descr="Learning Geology: Anthropocene">
            <a:extLst>
              <a:ext uri="{FF2B5EF4-FFF2-40B4-BE49-F238E27FC236}">
                <a16:creationId xmlns:a16="http://schemas.microsoft.com/office/drawing/2014/main" id="{C108686A-6EAC-1F8C-EBD4-8E58F3249F3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81116" y="316138"/>
            <a:ext cx="6145568" cy="63574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EF1A180-3224-6D39-D90B-007A6E0F56F1}"/>
              </a:ext>
            </a:extLst>
          </p:cNvPr>
          <p:cNvSpPr>
            <a:spLocks noGrp="1"/>
          </p:cNvSpPr>
          <p:nvPr>
            <p:ph type="title"/>
          </p:nvPr>
        </p:nvSpPr>
        <p:spPr>
          <a:xfrm>
            <a:off x="65316" y="86408"/>
            <a:ext cx="10515600" cy="724126"/>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We are in the Anthropocene</a:t>
            </a:r>
          </a:p>
        </p:txBody>
      </p:sp>
      <p:pic>
        <p:nvPicPr>
          <p:cNvPr id="9" name="Picture 8" descr="A screenshot of a computer&#10;&#10;AI-generated content may be incorrect.">
            <a:extLst>
              <a:ext uri="{FF2B5EF4-FFF2-40B4-BE49-F238E27FC236}">
                <a16:creationId xmlns:a16="http://schemas.microsoft.com/office/drawing/2014/main" id="{0C7C5316-7268-1A68-AC92-92248119F38A}"/>
              </a:ext>
            </a:extLst>
          </p:cNvPr>
          <p:cNvPicPr>
            <a:picLocks noChangeAspect="1"/>
          </p:cNvPicPr>
          <p:nvPr/>
        </p:nvPicPr>
        <p:blipFill>
          <a:blip r:embed="rId2"/>
          <a:srcRect l="2517" t="71457" r="3387" b="3092"/>
          <a:stretch/>
        </p:blipFill>
        <p:spPr>
          <a:xfrm>
            <a:off x="306980" y="3256368"/>
            <a:ext cx="6714307" cy="1014689"/>
          </a:xfrm>
          <a:prstGeom prst="rect">
            <a:avLst/>
          </a:prstGeom>
        </p:spPr>
      </p:pic>
      <p:sp>
        <p:nvSpPr>
          <p:cNvPr id="10" name="TextBox 9">
            <a:extLst>
              <a:ext uri="{FF2B5EF4-FFF2-40B4-BE49-F238E27FC236}">
                <a16:creationId xmlns:a16="http://schemas.microsoft.com/office/drawing/2014/main" id="{6A1E62E5-9E05-D579-E65A-B68041E15683}"/>
              </a:ext>
            </a:extLst>
          </p:cNvPr>
          <p:cNvSpPr txBox="1"/>
          <p:nvPr/>
        </p:nvSpPr>
        <p:spPr>
          <a:xfrm>
            <a:off x="306980" y="4609482"/>
            <a:ext cx="6302826" cy="907941"/>
          </a:xfrm>
          <a:prstGeom prst="rect">
            <a:avLst/>
          </a:prstGeom>
          <a:noFill/>
        </p:spPr>
        <p:txBody>
          <a:bodyPr wrap="square" rtlCol="0">
            <a:spAutoFit/>
          </a:bodyPr>
          <a:lstStyle/>
          <a:p>
            <a:pPr algn="just"/>
            <a:endParaRPr lang="en-GB" sz="1100" b="1" i="0" dirty="0">
              <a:solidFill>
                <a:srgbClr val="001D35"/>
              </a:solidFill>
              <a:effectLst/>
              <a:latin typeface="Arial" panose="020B0604020202020204" pitchFamily="34" charset="0"/>
              <a:cs typeface="Arial" panose="020B0604020202020204" pitchFamily="34" charset="0"/>
            </a:endParaRPr>
          </a:p>
          <a:p>
            <a:pPr marL="323850"/>
            <a:r>
              <a:rPr lang="en-GB" sz="1400" b="0" i="0" dirty="0">
                <a:solidFill>
                  <a:srgbClr val="202122"/>
                </a:solidFill>
                <a:effectLst/>
                <a:latin typeface="Arial" panose="020B0604020202020204" pitchFamily="34" charset="0"/>
                <a:cs typeface="Arial" panose="020B0604020202020204" pitchFamily="34" charset="0"/>
              </a:rPr>
              <a:t>The name is a combination of</a:t>
            </a:r>
            <a:r>
              <a:rPr lang="en-GB" sz="1400" i="1" dirty="0">
                <a:solidFill>
                  <a:srgbClr val="202122"/>
                </a:solidFill>
                <a:latin typeface="Arial" panose="020B0604020202020204" pitchFamily="34" charset="0"/>
                <a:cs typeface="Arial" panose="020B0604020202020204" pitchFamily="34" charset="0"/>
              </a:rPr>
              <a:t> </a:t>
            </a:r>
            <a:r>
              <a:rPr lang="en-GB" sz="1400" i="1" dirty="0">
                <a:solidFill>
                  <a:srgbClr val="C00000"/>
                </a:solidFill>
                <a:latin typeface="Arial" panose="020B0604020202020204" pitchFamily="34" charset="0"/>
                <a:cs typeface="Arial" panose="020B0604020202020204" pitchFamily="34" charset="0"/>
              </a:rPr>
              <a:t>anthropo-</a:t>
            </a:r>
            <a:r>
              <a:rPr lang="en-GB" sz="1400" b="0" i="0" dirty="0">
                <a:solidFill>
                  <a:srgbClr val="202122"/>
                </a:solidFill>
                <a:effectLst/>
                <a:latin typeface="Arial" panose="020B0604020202020204" pitchFamily="34" charset="0"/>
                <a:cs typeface="Arial" panose="020B0604020202020204" pitchFamily="34" charset="0"/>
              </a:rPr>
              <a:t> from the Ancient Greek </a:t>
            </a:r>
            <a:r>
              <a:rPr lang="en-GB" sz="1400" b="0" i="1" dirty="0" err="1">
                <a:solidFill>
                  <a:srgbClr val="202122"/>
                </a:solidFill>
                <a:effectLst/>
                <a:latin typeface="Arial" panose="020B0604020202020204" pitchFamily="34" charset="0"/>
                <a:cs typeface="Arial" panose="020B0604020202020204" pitchFamily="34" charset="0"/>
              </a:rPr>
              <a:t>ánthropos</a:t>
            </a:r>
            <a:r>
              <a:rPr lang="en-GB" sz="1400" b="0" i="0" dirty="0">
                <a:solidFill>
                  <a:srgbClr val="202122"/>
                </a:solidFill>
                <a:effectLst/>
                <a:latin typeface="Arial" panose="020B0604020202020204" pitchFamily="34" charset="0"/>
                <a:cs typeface="Arial" panose="020B0604020202020204" pitchFamily="34" charset="0"/>
              </a:rPr>
              <a:t> meaning 'human' and </a:t>
            </a:r>
            <a:r>
              <a:rPr lang="en-GB" sz="1400" i="1" dirty="0">
                <a:solidFill>
                  <a:srgbClr val="C00000"/>
                </a:solidFill>
                <a:latin typeface="Arial" panose="020B0604020202020204" pitchFamily="34" charset="0"/>
                <a:cs typeface="Arial" panose="020B0604020202020204" pitchFamily="34" charset="0"/>
              </a:rPr>
              <a:t>-</a:t>
            </a:r>
            <a:r>
              <a:rPr lang="en-GB" sz="1400" b="0" i="1" dirty="0" err="1">
                <a:solidFill>
                  <a:srgbClr val="C00000"/>
                </a:solidFill>
                <a:effectLst/>
                <a:latin typeface="Arial" panose="020B0604020202020204" pitchFamily="34" charset="0"/>
                <a:cs typeface="Arial" panose="020B0604020202020204" pitchFamily="34" charset="0"/>
              </a:rPr>
              <a:t>cene</a:t>
            </a:r>
            <a:r>
              <a:rPr lang="en-GB" sz="1400" b="0" i="0" dirty="0">
                <a:solidFill>
                  <a:srgbClr val="202122"/>
                </a:solidFill>
                <a:effectLst/>
                <a:latin typeface="Arial" panose="020B0604020202020204" pitchFamily="34" charset="0"/>
                <a:cs typeface="Arial" panose="020B0604020202020204" pitchFamily="34" charset="0"/>
              </a:rPr>
              <a:t> from </a:t>
            </a:r>
            <a:r>
              <a:rPr lang="en-GB" sz="1400" b="0" i="1" dirty="0" err="1">
                <a:solidFill>
                  <a:srgbClr val="202122"/>
                </a:solidFill>
                <a:effectLst/>
                <a:latin typeface="Arial" panose="020B0604020202020204" pitchFamily="34" charset="0"/>
                <a:cs typeface="Arial" panose="020B0604020202020204" pitchFamily="34" charset="0"/>
              </a:rPr>
              <a:t>kainós</a:t>
            </a:r>
            <a:r>
              <a:rPr lang="en-GB" sz="1400" b="0" i="0" dirty="0">
                <a:solidFill>
                  <a:srgbClr val="202122"/>
                </a:solidFill>
                <a:effectLst/>
                <a:latin typeface="Arial" panose="020B0604020202020204" pitchFamily="34" charset="0"/>
                <a:cs typeface="Arial" panose="020B0604020202020204" pitchFamily="34" charset="0"/>
              </a:rPr>
              <a:t> meaning 'new' or 'recent'.</a:t>
            </a:r>
            <a:endParaRPr lang="en-US" sz="1400" dirty="0">
              <a:latin typeface="Arial" panose="020B0604020202020204" pitchFamily="34" charset="0"/>
              <a:cs typeface="Arial" panose="020B0604020202020204" pitchFamily="34" charset="0"/>
            </a:endParaRPr>
          </a:p>
        </p:txBody>
      </p:sp>
      <p:cxnSp>
        <p:nvCxnSpPr>
          <p:cNvPr id="12" name="Elbow Connector 11">
            <a:extLst>
              <a:ext uri="{FF2B5EF4-FFF2-40B4-BE49-F238E27FC236}">
                <a16:creationId xmlns:a16="http://schemas.microsoft.com/office/drawing/2014/main" id="{EBF61058-9206-C8C3-FCC6-694895F76D3A}"/>
              </a:ext>
            </a:extLst>
          </p:cNvPr>
          <p:cNvCxnSpPr>
            <a:cxnSpLocks/>
          </p:cNvCxnSpPr>
          <p:nvPr/>
        </p:nvCxnSpPr>
        <p:spPr>
          <a:xfrm rot="10800000" flipV="1">
            <a:off x="3161212" y="953588"/>
            <a:ext cx="4323805" cy="1489164"/>
          </a:xfrm>
          <a:prstGeom prst="bentConnector3">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6728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28BDD62-C3ED-5572-6C1C-7E2D51962126}"/>
              </a:ext>
            </a:extLst>
          </p:cNvPr>
          <p:cNvSpPr txBox="1">
            <a:spLocks/>
          </p:cNvSpPr>
          <p:nvPr/>
        </p:nvSpPr>
        <p:spPr>
          <a:xfrm>
            <a:off x="65316" y="86408"/>
            <a:ext cx="10515600" cy="7241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An alternative definition</a:t>
            </a:r>
            <a:endParaRPr lang="en-US" sz="3200" b="1" i="1" dirty="0">
              <a:solidFill>
                <a:srgbClr val="C00000"/>
              </a:solidFill>
              <a:latin typeface="Arial" panose="020B0604020202020204" pitchFamily="34" charset="0"/>
              <a:cs typeface="Arial" panose="020B0604020202020204" pitchFamily="34" charset="0"/>
            </a:endParaRPr>
          </a:p>
        </p:txBody>
      </p:sp>
      <p:pic>
        <p:nvPicPr>
          <p:cNvPr id="7" name="Picture 6" descr="A white background with black text&#10;&#10;AI-generated content may be incorrect.">
            <a:extLst>
              <a:ext uri="{FF2B5EF4-FFF2-40B4-BE49-F238E27FC236}">
                <a16:creationId xmlns:a16="http://schemas.microsoft.com/office/drawing/2014/main" id="{6E97D3D7-2790-663C-51D0-BF6096792E7D}"/>
              </a:ext>
            </a:extLst>
          </p:cNvPr>
          <p:cNvPicPr>
            <a:picLocks noChangeAspect="1"/>
          </p:cNvPicPr>
          <p:nvPr/>
        </p:nvPicPr>
        <p:blipFill>
          <a:blip r:embed="rId3"/>
          <a:stretch>
            <a:fillRect/>
          </a:stretch>
        </p:blipFill>
        <p:spPr>
          <a:xfrm>
            <a:off x="237087" y="925508"/>
            <a:ext cx="6544490" cy="2058564"/>
          </a:xfrm>
          <a:prstGeom prst="rect">
            <a:avLst/>
          </a:prstGeom>
          <a:ln>
            <a:solidFill>
              <a:srgbClr val="C00000"/>
            </a:solidFill>
          </a:ln>
        </p:spPr>
      </p:pic>
      <p:pic>
        <p:nvPicPr>
          <p:cNvPr id="4" name="Picture 6" descr="Anthropocene Syndrome: a complex of environmental degradation, biological annihilation in the form of species losses, non-communicable disease epidemics, climate change, and increasing incivility in public and professional discourse. The symbiocene can transcend these trends. The health of people, place, and planet requires compassion, education by example, civility, and diversity of thought. Image with permission: Susan L. Prescott. ">
            <a:extLst>
              <a:ext uri="{FF2B5EF4-FFF2-40B4-BE49-F238E27FC236}">
                <a16:creationId xmlns:a16="http://schemas.microsoft.com/office/drawing/2014/main" id="{3BC0EEC8-69E6-1A4E-2689-DDE8198EC1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3511" y="2350208"/>
            <a:ext cx="7919996" cy="4351339"/>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4A5B758-2AAD-2B21-DB46-1368E426A29E}"/>
              </a:ext>
            </a:extLst>
          </p:cNvPr>
          <p:cNvSpPr txBox="1"/>
          <p:nvPr/>
        </p:nvSpPr>
        <p:spPr>
          <a:xfrm>
            <a:off x="237087" y="3170079"/>
            <a:ext cx="3886424" cy="3539430"/>
          </a:xfrm>
          <a:prstGeom prst="rect">
            <a:avLst/>
          </a:prstGeom>
          <a:noFill/>
        </p:spPr>
        <p:txBody>
          <a:bodyPr wrap="square" rtlCol="0">
            <a:spAutoFit/>
          </a:bodyPr>
          <a:lstStyle/>
          <a:p>
            <a:r>
              <a:rPr lang="en-US" b="1" dirty="0">
                <a:solidFill>
                  <a:srgbClr val="C00000"/>
                </a:solidFill>
                <a:latin typeface="Arial" panose="020B0604020202020204" pitchFamily="34" charset="0"/>
                <a:cs typeface="Arial" panose="020B0604020202020204" pitchFamily="34" charset="0"/>
              </a:rPr>
              <a:t>Anthropocene Syndrome</a:t>
            </a:r>
          </a:p>
          <a:p>
            <a:endParaRPr lang="en-US" sz="1600" i="1" dirty="0">
              <a:latin typeface="Arial" panose="020B0604020202020204" pitchFamily="34" charset="0"/>
              <a:cs typeface="Arial" panose="020B0604020202020204" pitchFamily="34" charset="0"/>
            </a:endParaRPr>
          </a:p>
          <a:p>
            <a:r>
              <a:rPr lang="en-US" sz="1600" i="1" dirty="0">
                <a:latin typeface="Arial" panose="020B0604020202020204" pitchFamily="34" charset="0"/>
                <a:cs typeface="Arial" panose="020B0604020202020204" pitchFamily="34" charset="0"/>
              </a:rPr>
              <a:t>“a complex of </a:t>
            </a:r>
            <a:r>
              <a:rPr lang="en-US" sz="1600" i="1" dirty="0">
                <a:solidFill>
                  <a:srgbClr val="C00000"/>
                </a:solidFill>
                <a:latin typeface="Arial" panose="020B0604020202020204" pitchFamily="34" charset="0"/>
                <a:cs typeface="Arial" panose="020B0604020202020204" pitchFamily="34" charset="0"/>
              </a:rPr>
              <a:t>environmental degradation</a:t>
            </a:r>
            <a:r>
              <a:rPr lang="en-US" sz="1600" i="1" dirty="0">
                <a:latin typeface="Arial" panose="020B0604020202020204" pitchFamily="34" charset="0"/>
                <a:cs typeface="Arial" panose="020B0604020202020204" pitchFamily="34" charset="0"/>
              </a:rPr>
              <a:t>, </a:t>
            </a:r>
            <a:r>
              <a:rPr lang="en-US" sz="1600" i="1" dirty="0">
                <a:solidFill>
                  <a:srgbClr val="C00000"/>
                </a:solidFill>
                <a:latin typeface="Arial" panose="020B0604020202020204" pitchFamily="34" charset="0"/>
                <a:cs typeface="Arial" panose="020B0604020202020204" pitchFamily="34" charset="0"/>
              </a:rPr>
              <a:t>biological annihilation </a:t>
            </a:r>
            <a:r>
              <a:rPr lang="en-US" sz="1600" i="1" dirty="0">
                <a:latin typeface="Arial" panose="020B0604020202020204" pitchFamily="34" charset="0"/>
                <a:cs typeface="Arial" panose="020B0604020202020204" pitchFamily="34" charset="0"/>
              </a:rPr>
              <a:t>in the form of species losses, non-communicable disease epidemics, </a:t>
            </a:r>
            <a:r>
              <a:rPr lang="en-US" sz="1600" i="1" dirty="0">
                <a:solidFill>
                  <a:srgbClr val="C00000"/>
                </a:solidFill>
                <a:latin typeface="Arial" panose="020B0604020202020204" pitchFamily="34" charset="0"/>
                <a:cs typeface="Arial" panose="020B0604020202020204" pitchFamily="34" charset="0"/>
              </a:rPr>
              <a:t>climate change</a:t>
            </a:r>
            <a:r>
              <a:rPr lang="en-US" sz="1600" i="1" dirty="0">
                <a:latin typeface="Arial" panose="020B0604020202020204" pitchFamily="34" charset="0"/>
                <a:cs typeface="Arial" panose="020B0604020202020204" pitchFamily="34" charset="0"/>
              </a:rPr>
              <a:t>, and increasing incivility in public and professional discourse”</a:t>
            </a:r>
          </a:p>
          <a:p>
            <a:endParaRPr lang="en-US" sz="1600" i="1" dirty="0">
              <a:latin typeface="Arial" panose="020B0604020202020204" pitchFamily="34" charset="0"/>
              <a:cs typeface="Arial" panose="020B0604020202020204" pitchFamily="34" charset="0"/>
            </a:endParaRPr>
          </a:p>
          <a:p>
            <a:endParaRPr lang="en-US" sz="1600" i="1" dirty="0">
              <a:latin typeface="Arial" panose="020B0604020202020204" pitchFamily="34" charset="0"/>
              <a:cs typeface="Arial" panose="020B0604020202020204" pitchFamily="34" charset="0"/>
            </a:endParaRPr>
          </a:p>
          <a:p>
            <a:r>
              <a:rPr lang="en-US" sz="1600" i="1" dirty="0">
                <a:latin typeface="Arial" panose="020B0604020202020204" pitchFamily="34" charset="0"/>
                <a:cs typeface="Arial" panose="020B0604020202020204" pitchFamily="34" charset="0"/>
              </a:rPr>
              <a:t>“</a:t>
            </a:r>
            <a:r>
              <a:rPr lang="en-GB" sz="1600" i="1" dirty="0">
                <a:latin typeface="Arial" panose="020B0604020202020204" pitchFamily="34" charset="0"/>
                <a:cs typeface="Arial" panose="020B0604020202020204" pitchFamily="34" charset="0"/>
              </a:rPr>
              <a:t>a set of signs and symptoms that are intertwined with politics, economics, policies (or lack thereof), and social values.”</a:t>
            </a:r>
            <a:endParaRPr lang="en-US" sz="16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9490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9E11B-DDCB-16C3-134F-DD25105092E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E1BF748-DE19-9FEC-7127-2C11E063E749}"/>
              </a:ext>
            </a:extLst>
          </p:cNvPr>
          <p:cNvSpPr txBox="1">
            <a:spLocks/>
          </p:cNvSpPr>
          <p:nvPr/>
        </p:nvSpPr>
        <p:spPr>
          <a:xfrm>
            <a:off x="237793" y="92163"/>
            <a:ext cx="10515600" cy="7241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aka the Triple Planetary Crisis</a:t>
            </a:r>
            <a:endParaRPr lang="en-US" sz="3200" b="1" i="1" dirty="0">
              <a:solidFill>
                <a:srgbClr val="C00000"/>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3422FE18-6308-220E-F5F5-D1A5E4CD4D6C}"/>
              </a:ext>
            </a:extLst>
          </p:cNvPr>
          <p:cNvPicPr>
            <a:picLocks noChangeAspect="1"/>
          </p:cNvPicPr>
          <p:nvPr/>
        </p:nvPicPr>
        <p:blipFill>
          <a:blip r:embed="rId3"/>
          <a:stretch>
            <a:fillRect/>
          </a:stretch>
        </p:blipFill>
        <p:spPr>
          <a:xfrm>
            <a:off x="2940745" y="803167"/>
            <a:ext cx="6257665" cy="5819570"/>
          </a:xfrm>
          <a:prstGeom prst="rect">
            <a:avLst/>
          </a:prstGeom>
        </p:spPr>
      </p:pic>
      <p:grpSp>
        <p:nvGrpSpPr>
          <p:cNvPr id="31" name="Group 30">
            <a:extLst>
              <a:ext uri="{FF2B5EF4-FFF2-40B4-BE49-F238E27FC236}">
                <a16:creationId xmlns:a16="http://schemas.microsoft.com/office/drawing/2014/main" id="{B84296E5-2675-13E8-FB7D-2C304ED408F0}"/>
              </a:ext>
            </a:extLst>
          </p:cNvPr>
          <p:cNvGrpSpPr/>
          <p:nvPr/>
        </p:nvGrpSpPr>
        <p:grpSpPr>
          <a:xfrm>
            <a:off x="237793" y="1323173"/>
            <a:ext cx="11633927" cy="3991023"/>
            <a:chOff x="237793" y="1323173"/>
            <a:chExt cx="11633927" cy="3991023"/>
          </a:xfrm>
        </p:grpSpPr>
        <p:pic>
          <p:nvPicPr>
            <p:cNvPr id="4" name="Picture 3" descr="A blue sign with a white text and a glass of water&#10;&#10;AI-generated content may be incorrect.">
              <a:extLst>
                <a:ext uri="{FF2B5EF4-FFF2-40B4-BE49-F238E27FC236}">
                  <a16:creationId xmlns:a16="http://schemas.microsoft.com/office/drawing/2014/main" id="{A88BD03F-8A23-EA6E-F4E1-4AFA62BDD55E}"/>
                </a:ext>
              </a:extLst>
            </p:cNvPr>
            <p:cNvPicPr>
              <a:picLocks noChangeAspect="1"/>
            </p:cNvPicPr>
            <p:nvPr/>
          </p:nvPicPr>
          <p:blipFill>
            <a:blip r:embed="rId4"/>
            <a:stretch>
              <a:fillRect/>
            </a:stretch>
          </p:blipFill>
          <p:spPr>
            <a:xfrm>
              <a:off x="237795" y="2679198"/>
              <a:ext cx="1267087" cy="1267087"/>
            </a:xfrm>
            <a:prstGeom prst="rect">
              <a:avLst/>
            </a:prstGeom>
          </p:spPr>
        </p:pic>
        <p:pic>
          <p:nvPicPr>
            <p:cNvPr id="7" name="Picture 6" descr="A white text on a brown background&#10;&#10;AI-generated content may be incorrect.">
              <a:extLst>
                <a:ext uri="{FF2B5EF4-FFF2-40B4-BE49-F238E27FC236}">
                  <a16:creationId xmlns:a16="http://schemas.microsoft.com/office/drawing/2014/main" id="{6421CCE6-85F8-1141-4DFE-E7A7142045AF}"/>
                </a:ext>
              </a:extLst>
            </p:cNvPr>
            <p:cNvPicPr>
              <a:picLocks noChangeAspect="1"/>
            </p:cNvPicPr>
            <p:nvPr/>
          </p:nvPicPr>
          <p:blipFill>
            <a:blip r:embed="rId5"/>
            <a:stretch>
              <a:fillRect/>
            </a:stretch>
          </p:blipFill>
          <p:spPr>
            <a:xfrm>
              <a:off x="237795" y="4047109"/>
              <a:ext cx="1267087" cy="1267087"/>
            </a:xfrm>
            <a:prstGeom prst="rect">
              <a:avLst/>
            </a:prstGeom>
          </p:spPr>
        </p:pic>
        <p:pic>
          <p:nvPicPr>
            <p:cNvPr id="9" name="Picture 8" descr="A blue background with white text and a fish and waves&#10;&#10;AI-generated content may be incorrect.">
              <a:extLst>
                <a:ext uri="{FF2B5EF4-FFF2-40B4-BE49-F238E27FC236}">
                  <a16:creationId xmlns:a16="http://schemas.microsoft.com/office/drawing/2014/main" id="{4873EF69-1C19-8272-DC0F-8164CA159E7D}"/>
                </a:ext>
              </a:extLst>
            </p:cNvPr>
            <p:cNvPicPr>
              <a:picLocks noChangeAspect="1"/>
            </p:cNvPicPr>
            <p:nvPr/>
          </p:nvPicPr>
          <p:blipFill>
            <a:blip r:embed="rId6"/>
            <a:stretch>
              <a:fillRect/>
            </a:stretch>
          </p:blipFill>
          <p:spPr>
            <a:xfrm>
              <a:off x="10587623" y="2658771"/>
              <a:ext cx="1267088" cy="1250305"/>
            </a:xfrm>
            <a:prstGeom prst="rect">
              <a:avLst/>
            </a:prstGeom>
          </p:spPr>
        </p:pic>
        <p:pic>
          <p:nvPicPr>
            <p:cNvPr id="11" name="Picture 10" descr="A green square with white text and a tree and birds&#10;&#10;AI-generated content may be incorrect.">
              <a:extLst>
                <a:ext uri="{FF2B5EF4-FFF2-40B4-BE49-F238E27FC236}">
                  <a16:creationId xmlns:a16="http://schemas.microsoft.com/office/drawing/2014/main" id="{7E6B20B2-2D3B-25EF-F625-A7FD888B9754}"/>
                </a:ext>
              </a:extLst>
            </p:cNvPr>
            <p:cNvPicPr>
              <a:picLocks noChangeAspect="1"/>
            </p:cNvPicPr>
            <p:nvPr/>
          </p:nvPicPr>
          <p:blipFill>
            <a:blip r:embed="rId7"/>
            <a:stretch>
              <a:fillRect/>
            </a:stretch>
          </p:blipFill>
          <p:spPr>
            <a:xfrm>
              <a:off x="10587510" y="4043498"/>
              <a:ext cx="1284210" cy="1267087"/>
            </a:xfrm>
            <a:prstGeom prst="rect">
              <a:avLst/>
            </a:prstGeom>
          </p:spPr>
        </p:pic>
        <p:pic>
          <p:nvPicPr>
            <p:cNvPr id="13" name="Picture 12" descr="A green and white poster with a globe and text&#10;&#10;AI-generated content may be incorrect.">
              <a:extLst>
                <a:ext uri="{FF2B5EF4-FFF2-40B4-BE49-F238E27FC236}">
                  <a16:creationId xmlns:a16="http://schemas.microsoft.com/office/drawing/2014/main" id="{B251E02C-F141-8BC9-A320-6014E8EE2519}"/>
                </a:ext>
              </a:extLst>
            </p:cNvPr>
            <p:cNvPicPr>
              <a:picLocks noChangeAspect="1"/>
            </p:cNvPicPr>
            <p:nvPr/>
          </p:nvPicPr>
          <p:blipFill>
            <a:blip r:embed="rId8"/>
            <a:stretch>
              <a:fillRect/>
            </a:stretch>
          </p:blipFill>
          <p:spPr>
            <a:xfrm>
              <a:off x="10595365" y="1323173"/>
              <a:ext cx="1242112" cy="1267121"/>
            </a:xfrm>
            <a:prstGeom prst="rect">
              <a:avLst/>
            </a:prstGeom>
          </p:spPr>
        </p:pic>
        <p:pic>
          <p:nvPicPr>
            <p:cNvPr id="15" name="Picture 14" descr="A green background with white text and a heart and a line of pulse&#10;&#10;AI-generated content may be incorrect.">
              <a:extLst>
                <a:ext uri="{FF2B5EF4-FFF2-40B4-BE49-F238E27FC236}">
                  <a16:creationId xmlns:a16="http://schemas.microsoft.com/office/drawing/2014/main" id="{7D6FE427-067A-6DDF-94EE-5B3A00B5C60A}"/>
                </a:ext>
              </a:extLst>
            </p:cNvPr>
            <p:cNvPicPr>
              <a:picLocks noChangeAspect="1"/>
            </p:cNvPicPr>
            <p:nvPr/>
          </p:nvPicPr>
          <p:blipFill>
            <a:blip r:embed="rId9"/>
            <a:stretch>
              <a:fillRect/>
            </a:stretch>
          </p:blipFill>
          <p:spPr>
            <a:xfrm>
              <a:off x="237793" y="1340215"/>
              <a:ext cx="1267087" cy="1250079"/>
            </a:xfrm>
            <a:prstGeom prst="rect">
              <a:avLst/>
            </a:prstGeom>
          </p:spPr>
        </p:pic>
        <p:cxnSp>
          <p:nvCxnSpPr>
            <p:cNvPr id="17" name="Straight Connector 16">
              <a:extLst>
                <a:ext uri="{FF2B5EF4-FFF2-40B4-BE49-F238E27FC236}">
                  <a16:creationId xmlns:a16="http://schemas.microsoft.com/office/drawing/2014/main" id="{40F0EC3E-411A-53A1-C0ED-FF9F83CEE42C}"/>
                </a:ext>
              </a:extLst>
            </p:cNvPr>
            <p:cNvCxnSpPr>
              <a:endCxn id="15" idx="3"/>
            </p:cNvCxnSpPr>
            <p:nvPr/>
          </p:nvCxnSpPr>
          <p:spPr>
            <a:xfrm flipH="1">
              <a:off x="1504880" y="1956733"/>
              <a:ext cx="2853111" cy="8522"/>
            </a:xfrm>
            <a:prstGeom prst="line">
              <a:avLst/>
            </a:prstGeom>
            <a:ln>
              <a:solidFill>
                <a:srgbClr val="2090FE"/>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3F7005F-B44E-6019-9247-E5F0AC09A769}"/>
                </a:ext>
              </a:extLst>
            </p:cNvPr>
            <p:cNvCxnSpPr>
              <a:cxnSpLocks/>
              <a:endCxn id="4" idx="3"/>
            </p:cNvCxnSpPr>
            <p:nvPr/>
          </p:nvCxnSpPr>
          <p:spPr>
            <a:xfrm flipH="1">
              <a:off x="1504882" y="1965254"/>
              <a:ext cx="2853109" cy="1347488"/>
            </a:xfrm>
            <a:prstGeom prst="line">
              <a:avLst/>
            </a:prstGeom>
            <a:ln>
              <a:solidFill>
                <a:srgbClr val="2090F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685C088-1A06-1FE4-856E-09B5237AB415}"/>
                </a:ext>
              </a:extLst>
            </p:cNvPr>
            <p:cNvCxnSpPr>
              <a:cxnSpLocks/>
              <a:endCxn id="7" idx="3"/>
            </p:cNvCxnSpPr>
            <p:nvPr/>
          </p:nvCxnSpPr>
          <p:spPr>
            <a:xfrm flipH="1">
              <a:off x="1504882" y="1965253"/>
              <a:ext cx="2853109" cy="2715400"/>
            </a:xfrm>
            <a:prstGeom prst="line">
              <a:avLst/>
            </a:prstGeom>
            <a:ln>
              <a:solidFill>
                <a:srgbClr val="2090FE"/>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6AC26A7-0EC6-5ED6-80FC-8A37B244534C}"/>
                </a:ext>
              </a:extLst>
            </p:cNvPr>
            <p:cNvCxnSpPr/>
            <p:nvPr/>
          </p:nvCxnSpPr>
          <p:spPr>
            <a:xfrm flipH="1">
              <a:off x="7721487" y="1948211"/>
              <a:ext cx="2853111" cy="8522"/>
            </a:xfrm>
            <a:prstGeom prst="line">
              <a:avLst/>
            </a:prstGeom>
            <a:ln>
              <a:solidFill>
                <a:srgbClr val="2090FE"/>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9F1E824-68A8-5E81-D608-6DB68BDDA3ED}"/>
                </a:ext>
              </a:extLst>
            </p:cNvPr>
            <p:cNvCxnSpPr>
              <a:cxnSpLocks/>
              <a:stCxn id="9" idx="1"/>
            </p:cNvCxnSpPr>
            <p:nvPr/>
          </p:nvCxnSpPr>
          <p:spPr>
            <a:xfrm flipH="1" flipV="1">
              <a:off x="7721487" y="1956733"/>
              <a:ext cx="2866136" cy="1327191"/>
            </a:xfrm>
            <a:prstGeom prst="line">
              <a:avLst/>
            </a:prstGeom>
            <a:ln>
              <a:solidFill>
                <a:srgbClr val="2090F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724387D-5AB2-5420-33FE-6E7F9CD43AB9}"/>
                </a:ext>
              </a:extLst>
            </p:cNvPr>
            <p:cNvCxnSpPr>
              <a:cxnSpLocks/>
            </p:cNvCxnSpPr>
            <p:nvPr/>
          </p:nvCxnSpPr>
          <p:spPr>
            <a:xfrm flipH="1" flipV="1">
              <a:off x="7721487" y="1948211"/>
              <a:ext cx="2873878" cy="2766011"/>
            </a:xfrm>
            <a:prstGeom prst="line">
              <a:avLst/>
            </a:prstGeom>
            <a:ln>
              <a:solidFill>
                <a:srgbClr val="2090FE"/>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0483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9849-364E-3098-AEDC-DB3F3210D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F9D63-BB4C-4D38-31B1-3424589716AD}"/>
              </a:ext>
            </a:extLst>
          </p:cNvPr>
          <p:cNvSpPr>
            <a:spLocks noGrp="1"/>
          </p:cNvSpPr>
          <p:nvPr>
            <p:ph type="title"/>
          </p:nvPr>
        </p:nvSpPr>
        <p:spPr>
          <a:xfrm>
            <a:off x="99165" y="127131"/>
            <a:ext cx="10515600" cy="687062"/>
          </a:xfrm>
        </p:spPr>
        <p:txBody>
          <a:bodyPr>
            <a:normAutofit fontScale="90000"/>
          </a:bodyPr>
          <a:lstStyle/>
          <a:p>
            <a:r>
              <a:rPr lang="en-US" b="1" dirty="0">
                <a:solidFill>
                  <a:srgbClr val="C00000"/>
                </a:solidFill>
                <a:latin typeface="Arial" panose="020B0604020202020204" pitchFamily="34" charset="0"/>
                <a:cs typeface="Arial" panose="020B0604020202020204" pitchFamily="34" charset="0"/>
              </a:rPr>
              <a:t>Contaminants vs Pollutants</a:t>
            </a:r>
          </a:p>
        </p:txBody>
      </p:sp>
      <p:sp>
        <p:nvSpPr>
          <p:cNvPr id="3" name="Content Placeholder 2">
            <a:extLst>
              <a:ext uri="{FF2B5EF4-FFF2-40B4-BE49-F238E27FC236}">
                <a16:creationId xmlns:a16="http://schemas.microsoft.com/office/drawing/2014/main" id="{750A9AE6-E8C4-1F16-D9D9-556589E9216B}"/>
              </a:ext>
            </a:extLst>
          </p:cNvPr>
          <p:cNvSpPr>
            <a:spLocks noGrp="1"/>
          </p:cNvSpPr>
          <p:nvPr>
            <p:ph idx="1"/>
          </p:nvPr>
        </p:nvSpPr>
        <p:spPr>
          <a:xfrm>
            <a:off x="488087" y="861638"/>
            <a:ext cx="11215825" cy="4227333"/>
          </a:xfrm>
        </p:spPr>
        <p:txBody>
          <a:bodyPr>
            <a:normAutofit/>
          </a:bodyPr>
          <a:lstStyle/>
          <a:p>
            <a:pPr>
              <a:buClr>
                <a:srgbClr val="C00000"/>
              </a:buClr>
            </a:pPr>
            <a:r>
              <a:rPr lang="en-GB" sz="2400" b="0" i="0" dirty="0">
                <a:solidFill>
                  <a:srgbClr val="000000"/>
                </a:solidFill>
                <a:effectLst/>
                <a:latin typeface="Helvetica" pitchFamily="2" charset="0"/>
              </a:rPr>
              <a:t>a </a:t>
            </a:r>
            <a:r>
              <a:rPr lang="en-GB" sz="2400" b="1" i="0" dirty="0">
                <a:solidFill>
                  <a:srgbClr val="C00000"/>
                </a:solidFill>
                <a:effectLst/>
                <a:latin typeface="Helvetica" pitchFamily="2" charset="0"/>
              </a:rPr>
              <a:t>contaminant</a:t>
            </a:r>
            <a:r>
              <a:rPr lang="en-GB" sz="2400" i="0" dirty="0">
                <a:solidFill>
                  <a:srgbClr val="000000"/>
                </a:solidFill>
                <a:effectLst/>
                <a:latin typeface="Helvetica" pitchFamily="2" charset="0"/>
              </a:rPr>
              <a:t> is </a:t>
            </a:r>
            <a:r>
              <a:rPr lang="en-GB" sz="2400" dirty="0">
                <a:latin typeface="Helvetica" pitchFamily="2" charset="0"/>
              </a:rPr>
              <a:t>any physical, chemical, biological, or radiological substance present in the environment at levels that are not naturally occurring, or that are above natural background levels, but that does not necessarily cause harm </a:t>
            </a:r>
          </a:p>
          <a:p>
            <a:pPr marL="0" indent="0" algn="r">
              <a:buClr>
                <a:srgbClr val="C00000"/>
              </a:buClr>
              <a:buNone/>
            </a:pPr>
            <a:r>
              <a:rPr lang="en-GB" sz="2000" dirty="0">
                <a:latin typeface="Helvetica" pitchFamily="2" charset="0"/>
              </a:rPr>
              <a:t>UNEP (2021), </a:t>
            </a:r>
            <a:r>
              <a:rPr lang="en-GB" sz="2000" i="1" dirty="0">
                <a:latin typeface="Helvetica" pitchFamily="2" charset="0"/>
              </a:rPr>
              <a:t>Making Peace with Nature Report</a:t>
            </a:r>
            <a:endParaRPr lang="en-GB" sz="2400" dirty="0">
              <a:solidFill>
                <a:srgbClr val="000000"/>
              </a:solidFill>
              <a:latin typeface="Helvetica" pitchFamily="2" charset="0"/>
            </a:endParaRPr>
          </a:p>
          <a:p>
            <a:pPr>
              <a:buClr>
                <a:srgbClr val="C00000"/>
              </a:buClr>
            </a:pPr>
            <a:endParaRPr lang="en-GB" sz="800" dirty="0">
              <a:solidFill>
                <a:srgbClr val="C00000"/>
              </a:solidFill>
              <a:latin typeface="Helvetica" pitchFamily="2" charset="0"/>
            </a:endParaRPr>
          </a:p>
          <a:p>
            <a:pPr>
              <a:buClr>
                <a:srgbClr val="C00000"/>
              </a:buClr>
            </a:pPr>
            <a:r>
              <a:rPr lang="en-GB" sz="2400" dirty="0">
                <a:solidFill>
                  <a:srgbClr val="C00000"/>
                </a:solidFill>
                <a:latin typeface="Helvetica" pitchFamily="2" charset="0"/>
              </a:rPr>
              <a:t>a </a:t>
            </a:r>
            <a:r>
              <a:rPr lang="en-GB" sz="2400" b="1" dirty="0">
                <a:solidFill>
                  <a:srgbClr val="C00000"/>
                </a:solidFill>
                <a:latin typeface="Helvetica" pitchFamily="2" charset="0"/>
              </a:rPr>
              <a:t>pollutant</a:t>
            </a:r>
            <a:r>
              <a:rPr lang="en-GB" sz="2400" dirty="0">
                <a:solidFill>
                  <a:srgbClr val="C00000"/>
                </a:solidFill>
                <a:latin typeface="Helvetica" pitchFamily="2" charset="0"/>
              </a:rPr>
              <a:t> </a:t>
            </a:r>
            <a:r>
              <a:rPr lang="en-GB" sz="2400" dirty="0">
                <a:solidFill>
                  <a:srgbClr val="000000"/>
                </a:solidFill>
                <a:latin typeface="Helvetica" pitchFamily="2" charset="0"/>
              </a:rPr>
              <a:t>is </a:t>
            </a:r>
            <a:r>
              <a:rPr lang="en-GB" sz="2400" dirty="0">
                <a:latin typeface="Helvetica" pitchFamily="2" charset="0"/>
              </a:rPr>
              <a:t>a contaminant that causes, or is likely to cause, adverse biological, chemical, or physical effects to organisms or ecosystems</a:t>
            </a:r>
            <a:br>
              <a:rPr lang="en-GB" sz="2400" dirty="0">
                <a:solidFill>
                  <a:srgbClr val="000000"/>
                </a:solidFill>
                <a:latin typeface="Helvetica" pitchFamily="2" charset="0"/>
              </a:rPr>
            </a:br>
            <a:endParaRPr lang="en-GB" sz="2000" dirty="0">
              <a:latin typeface="Helvetica" pitchFamily="2" charset="0"/>
            </a:endParaRPr>
          </a:p>
          <a:p>
            <a:pPr>
              <a:buClr>
                <a:srgbClr val="C00000"/>
              </a:buClr>
            </a:pPr>
            <a:r>
              <a:rPr lang="en-GB" sz="2400" dirty="0">
                <a:latin typeface="Helvetica" pitchFamily="2" charset="0"/>
              </a:rPr>
              <a:t>The transition from </a:t>
            </a:r>
            <a:r>
              <a:rPr lang="en-GB" sz="2400" i="1" dirty="0">
                <a:latin typeface="Helvetica" pitchFamily="2" charset="0"/>
              </a:rPr>
              <a:t>contaminant</a:t>
            </a:r>
            <a:r>
              <a:rPr lang="en-GB" sz="2400" dirty="0">
                <a:latin typeface="Helvetica" pitchFamily="2" charset="0"/>
              </a:rPr>
              <a:t> to </a:t>
            </a:r>
            <a:r>
              <a:rPr lang="en-GB" sz="2400" i="1" dirty="0">
                <a:latin typeface="Helvetica" pitchFamily="2" charset="0"/>
              </a:rPr>
              <a:t>pollutant</a:t>
            </a:r>
            <a:r>
              <a:rPr lang="en-GB" sz="2400" dirty="0">
                <a:latin typeface="Helvetica" pitchFamily="2" charset="0"/>
              </a:rPr>
              <a:t> is determined by </a:t>
            </a:r>
            <a:r>
              <a:rPr lang="en-GB" sz="2400" b="1" dirty="0">
                <a:solidFill>
                  <a:srgbClr val="C00000"/>
                </a:solidFill>
                <a:latin typeface="Helvetica" pitchFamily="2" charset="0"/>
              </a:rPr>
              <a:t>evidence</a:t>
            </a:r>
            <a:r>
              <a:rPr lang="en-GB" sz="2400" b="1" dirty="0">
                <a:latin typeface="Helvetica" pitchFamily="2" charset="0"/>
              </a:rPr>
              <a:t> </a:t>
            </a:r>
            <a:r>
              <a:rPr lang="en-GB" sz="2400" b="1" dirty="0">
                <a:solidFill>
                  <a:srgbClr val="C00000"/>
                </a:solidFill>
                <a:latin typeface="Helvetica" pitchFamily="2" charset="0"/>
              </a:rPr>
              <a:t>of harm</a:t>
            </a:r>
            <a:endParaRPr lang="en-GB" sz="2400" dirty="0">
              <a:solidFill>
                <a:srgbClr val="C00000"/>
              </a:solidFill>
              <a:latin typeface="Helvetica" pitchFamily="2" charset="0"/>
            </a:endParaRPr>
          </a:p>
        </p:txBody>
      </p:sp>
      <p:pic>
        <p:nvPicPr>
          <p:cNvPr id="4" name="Picture 3" descr="A screenshot of a phone&#10;&#10;AI-generated content may be incorrect.">
            <a:extLst>
              <a:ext uri="{FF2B5EF4-FFF2-40B4-BE49-F238E27FC236}">
                <a16:creationId xmlns:a16="http://schemas.microsoft.com/office/drawing/2014/main" id="{16C7CDAA-323F-CA8A-8DE1-572AD921A3AC}"/>
              </a:ext>
            </a:extLst>
          </p:cNvPr>
          <p:cNvPicPr>
            <a:picLocks noChangeAspect="1"/>
          </p:cNvPicPr>
          <p:nvPr/>
        </p:nvPicPr>
        <p:blipFill>
          <a:blip r:embed="rId3"/>
          <a:stretch>
            <a:fillRect/>
          </a:stretch>
        </p:blipFill>
        <p:spPr>
          <a:xfrm>
            <a:off x="137925" y="4287685"/>
            <a:ext cx="11916051" cy="2425931"/>
          </a:xfrm>
          <a:prstGeom prst="rect">
            <a:avLst/>
          </a:prstGeom>
        </p:spPr>
      </p:pic>
    </p:spTree>
    <p:extLst>
      <p:ext uri="{BB962C8B-B14F-4D97-AF65-F5344CB8AC3E}">
        <p14:creationId xmlns:p14="http://schemas.microsoft.com/office/powerpoint/2010/main" val="345531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24E1-C2AA-54AD-F6E0-D5D3B67DD6E3}"/>
              </a:ext>
            </a:extLst>
          </p:cNvPr>
          <p:cNvSpPr>
            <a:spLocks noGrp="1"/>
          </p:cNvSpPr>
          <p:nvPr>
            <p:ph type="title"/>
          </p:nvPr>
        </p:nvSpPr>
        <p:spPr>
          <a:xfrm>
            <a:off x="838205" y="2766218"/>
            <a:ext cx="10515600" cy="1325563"/>
          </a:xfrm>
        </p:spPr>
        <p:txBody>
          <a:bodyPr/>
          <a:lstStyle/>
          <a:p>
            <a:pPr algn="ctr"/>
            <a:r>
              <a:rPr lang="en-US" b="1" dirty="0">
                <a:solidFill>
                  <a:srgbClr val="C00000"/>
                </a:solidFill>
                <a:latin typeface="Helvetica" pitchFamily="2" charset="0"/>
              </a:rPr>
              <a:t>Plastics</a:t>
            </a:r>
            <a:br>
              <a:rPr lang="en-US" b="1" dirty="0">
                <a:solidFill>
                  <a:srgbClr val="C00000"/>
                </a:solidFill>
                <a:latin typeface="Helvetica" pitchFamily="2" charset="0"/>
              </a:rPr>
            </a:br>
            <a:r>
              <a:rPr lang="en-US" b="1" dirty="0">
                <a:solidFill>
                  <a:srgbClr val="C00000"/>
                </a:solidFill>
                <a:latin typeface="Helvetica" pitchFamily="2" charset="0"/>
              </a:rPr>
              <a:t>(macro and micro)</a:t>
            </a:r>
          </a:p>
        </p:txBody>
      </p:sp>
    </p:spTree>
    <p:extLst>
      <p:ext uri="{BB962C8B-B14F-4D97-AF65-F5344CB8AC3E}">
        <p14:creationId xmlns:p14="http://schemas.microsoft.com/office/powerpoint/2010/main" val="2656072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D9C5B-08BE-B1AC-053E-E24F925C36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AB64F5-3722-0416-BC86-0983E0A75F48}"/>
              </a:ext>
            </a:extLst>
          </p:cNvPr>
          <p:cNvSpPr>
            <a:spLocks noGrp="1"/>
          </p:cNvSpPr>
          <p:nvPr>
            <p:ph idx="1"/>
          </p:nvPr>
        </p:nvSpPr>
        <p:spPr/>
        <p:txBody>
          <a:bodyPr/>
          <a:lstStyle/>
          <a:p>
            <a:endParaRPr lang="en-US" dirty="0"/>
          </a:p>
        </p:txBody>
      </p:sp>
      <p:pic>
        <p:nvPicPr>
          <p:cNvPr id="10256" name="Picture 16" descr="Everyone Is Applauding This National Geographic Cover But The Real Shock  Lies Inside The Pages">
            <a:extLst>
              <a:ext uri="{FF2B5EF4-FFF2-40B4-BE49-F238E27FC236}">
                <a16:creationId xmlns:a16="http://schemas.microsoft.com/office/drawing/2014/main" id="{A48B1F52-9C89-7A46-0D41-3469B3DA8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397" y="493362"/>
            <a:ext cx="10855206" cy="5706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040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Turtle">
            <a:extLst>
              <a:ext uri="{FF2B5EF4-FFF2-40B4-BE49-F238E27FC236}">
                <a16:creationId xmlns:a16="http://schemas.microsoft.com/office/drawing/2014/main" id="{7F6E32E0-2A1C-8A5C-45C4-0A0C36958B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389" t="36471" r="19195" b="11591"/>
          <a:stretch/>
        </p:blipFill>
        <p:spPr bwMode="auto">
          <a:xfrm>
            <a:off x="5549153" y="3065930"/>
            <a:ext cx="6427694" cy="356188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Crab in plastic container">
            <a:extLst>
              <a:ext uri="{FF2B5EF4-FFF2-40B4-BE49-F238E27FC236}">
                <a16:creationId xmlns:a16="http://schemas.microsoft.com/office/drawing/2014/main" id="{6751DF3F-3D85-C7B9-3F03-A239318251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16" t="42414" r="52872" b="17819"/>
          <a:stretch/>
        </p:blipFill>
        <p:spPr bwMode="auto">
          <a:xfrm>
            <a:off x="5549153" y="230188"/>
            <a:ext cx="3523130" cy="272723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descr="Hyenas">
            <a:extLst>
              <a:ext uri="{FF2B5EF4-FFF2-40B4-BE49-F238E27FC236}">
                <a16:creationId xmlns:a16="http://schemas.microsoft.com/office/drawing/2014/main" id="{93DCFA8C-E6C3-A675-5CAE-98230392A1D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000" t="1389" r="36642" b="5324"/>
          <a:stretch/>
        </p:blipFill>
        <p:spPr bwMode="auto">
          <a:xfrm>
            <a:off x="215153" y="230187"/>
            <a:ext cx="5082990" cy="6397625"/>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Blue Planet 2: How plastic is slowly killing our sea creatures, fish and  birds - BBC News">
            <a:extLst>
              <a:ext uri="{FF2B5EF4-FFF2-40B4-BE49-F238E27FC236}">
                <a16:creationId xmlns:a16="http://schemas.microsoft.com/office/drawing/2014/main" id="{6A4CFD1B-708B-D911-A398-8F590DEED1D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4172" t="19658" r="30038" b="15793"/>
          <a:stretch/>
        </p:blipFill>
        <p:spPr bwMode="auto">
          <a:xfrm>
            <a:off x="9288611" y="230187"/>
            <a:ext cx="2688236" cy="2727233"/>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National-Geographic-Logo |">
            <a:extLst>
              <a:ext uri="{FF2B5EF4-FFF2-40B4-BE49-F238E27FC236}">
                <a16:creationId xmlns:a16="http://schemas.microsoft.com/office/drawing/2014/main" id="{3C5850FE-E8CB-28AB-DBB9-EBB09C1D2F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153" y="172402"/>
            <a:ext cx="1367246" cy="6173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National-Geographic-Logo |">
            <a:extLst>
              <a:ext uri="{FF2B5EF4-FFF2-40B4-BE49-F238E27FC236}">
                <a16:creationId xmlns:a16="http://schemas.microsoft.com/office/drawing/2014/main" id="{9E3024FA-7034-2AF0-6E44-62B165B3126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 r="74232" b="-8757"/>
          <a:stretch/>
        </p:blipFill>
        <p:spPr bwMode="auto">
          <a:xfrm>
            <a:off x="5549153" y="185551"/>
            <a:ext cx="352312" cy="67146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National-Geographic-Logo |">
            <a:extLst>
              <a:ext uri="{FF2B5EF4-FFF2-40B4-BE49-F238E27FC236}">
                <a16:creationId xmlns:a16="http://schemas.microsoft.com/office/drawing/2014/main" id="{9DD4942A-F353-ADD3-C4E8-14931FCF72A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 r="74232" b="-8757"/>
          <a:stretch/>
        </p:blipFill>
        <p:spPr bwMode="auto">
          <a:xfrm>
            <a:off x="5549153" y="3036348"/>
            <a:ext cx="352312" cy="671466"/>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EEFF77D8-27DC-D3EB-BDB8-A9360A2B5B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69013" y="302335"/>
            <a:ext cx="986567" cy="282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513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C974A9-F308-1D5A-5A41-DD04ED651901}"/>
              </a:ext>
            </a:extLst>
          </p:cNvPr>
          <p:cNvSpPr>
            <a:spLocks noGrp="1"/>
          </p:cNvSpPr>
          <p:nvPr>
            <p:ph type="title"/>
          </p:nvPr>
        </p:nvSpPr>
        <p:spPr>
          <a:xfrm>
            <a:off x="145548" y="50536"/>
            <a:ext cx="10515600" cy="687062"/>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What are plastics?</a:t>
            </a:r>
          </a:p>
        </p:txBody>
      </p:sp>
      <p:pic>
        <p:nvPicPr>
          <p:cNvPr id="21" name="Picture 20" descr="A collage of images of various professions&#10;&#10;AI-generated content may be incorrect.">
            <a:extLst>
              <a:ext uri="{FF2B5EF4-FFF2-40B4-BE49-F238E27FC236}">
                <a16:creationId xmlns:a16="http://schemas.microsoft.com/office/drawing/2014/main" id="{B099B49E-D82C-4A8E-6876-59F1591F7B5F}"/>
              </a:ext>
            </a:extLst>
          </p:cNvPr>
          <p:cNvPicPr>
            <a:picLocks noChangeAspect="1"/>
          </p:cNvPicPr>
          <p:nvPr/>
        </p:nvPicPr>
        <p:blipFill>
          <a:blip r:embed="rId2"/>
          <a:stretch>
            <a:fillRect/>
          </a:stretch>
        </p:blipFill>
        <p:spPr>
          <a:xfrm>
            <a:off x="1551449" y="2333835"/>
            <a:ext cx="9109699" cy="4323603"/>
          </a:xfrm>
          <a:prstGeom prst="rect">
            <a:avLst/>
          </a:prstGeom>
        </p:spPr>
      </p:pic>
      <p:sp>
        <p:nvSpPr>
          <p:cNvPr id="22" name="TextBox 21">
            <a:extLst>
              <a:ext uri="{FF2B5EF4-FFF2-40B4-BE49-F238E27FC236}">
                <a16:creationId xmlns:a16="http://schemas.microsoft.com/office/drawing/2014/main" id="{BF8A5C6A-E02C-29D3-3A42-33A7CE0340FB}"/>
              </a:ext>
            </a:extLst>
          </p:cNvPr>
          <p:cNvSpPr txBox="1"/>
          <p:nvPr/>
        </p:nvSpPr>
        <p:spPr>
          <a:xfrm>
            <a:off x="145548" y="788398"/>
            <a:ext cx="11662139" cy="1446550"/>
          </a:xfrm>
          <a:prstGeom prst="rect">
            <a:avLst/>
          </a:prstGeom>
          <a:noFill/>
        </p:spPr>
        <p:txBody>
          <a:bodyPr wrap="square" rtlCol="0">
            <a:spAutoFit/>
          </a:bodyPr>
          <a:lstStyle/>
          <a:p>
            <a:pPr marL="342900" indent="-342900">
              <a:buClr>
                <a:srgbClr val="C00000"/>
              </a:buClr>
              <a:buFont typeface="Arial" panose="020B0604020202020204" pitchFamily="34" charset="0"/>
              <a:buChar char="•"/>
            </a:pPr>
            <a:r>
              <a:rPr lang="en-GB" sz="2400" b="0" i="0" dirty="0">
                <a:solidFill>
                  <a:srgbClr val="4A4A49"/>
                </a:solidFill>
                <a:effectLst/>
                <a:latin typeface="Helvetica" pitchFamily="2" charset="0"/>
              </a:rPr>
              <a:t>a group of materials produced from natural or synthetically created resources</a:t>
            </a:r>
          </a:p>
          <a:p>
            <a:pPr marL="342900" indent="-342900">
              <a:buClr>
                <a:srgbClr val="C00000"/>
              </a:buClr>
              <a:buFont typeface="Arial" panose="020B0604020202020204" pitchFamily="34" charset="0"/>
              <a:buChar char="•"/>
            </a:pPr>
            <a:endParaRPr lang="en-GB" sz="1600" b="0" i="0" dirty="0">
              <a:solidFill>
                <a:srgbClr val="4A4A49"/>
              </a:solidFill>
              <a:effectLst/>
              <a:latin typeface="Helvetica" pitchFamily="2" charset="0"/>
            </a:endParaRPr>
          </a:p>
          <a:p>
            <a:pPr marL="342900" indent="-342900">
              <a:buClr>
                <a:srgbClr val="C00000"/>
              </a:buClr>
              <a:buFont typeface="Arial" panose="020B0604020202020204" pitchFamily="34" charset="0"/>
              <a:buChar char="•"/>
            </a:pPr>
            <a:r>
              <a:rPr lang="en-GB" sz="2400" b="1" i="0" dirty="0">
                <a:solidFill>
                  <a:srgbClr val="C00000"/>
                </a:solidFill>
                <a:effectLst/>
                <a:latin typeface="Helvetica" pitchFamily="2" charset="0"/>
              </a:rPr>
              <a:t>raw materials </a:t>
            </a:r>
            <a:r>
              <a:rPr lang="en-GB" sz="2400" b="0" i="0" dirty="0">
                <a:solidFill>
                  <a:srgbClr val="4A4A49"/>
                </a:solidFill>
                <a:effectLst/>
                <a:latin typeface="Helvetica" pitchFamily="2" charset="0"/>
              </a:rPr>
              <a:t>used to produce plastics are </a:t>
            </a:r>
            <a:r>
              <a:rPr lang="en-GB" sz="2400" b="1" i="0" dirty="0">
                <a:solidFill>
                  <a:srgbClr val="C00000"/>
                </a:solidFill>
                <a:effectLst/>
                <a:latin typeface="Helvetica" pitchFamily="2" charset="0"/>
              </a:rPr>
              <a:t>mostly found in nature</a:t>
            </a:r>
            <a:r>
              <a:rPr lang="en-GB" sz="2400" b="0" i="0" dirty="0">
                <a:solidFill>
                  <a:srgbClr val="4A4A49"/>
                </a:solidFill>
                <a:effectLst/>
                <a:latin typeface="Helvetica" pitchFamily="2" charset="0"/>
              </a:rPr>
              <a:t>, e.g., cellulose, coal, natural gas, salt, and crude oil</a:t>
            </a:r>
            <a:endParaRPr lang="en-US" sz="2400" dirty="0">
              <a:latin typeface="Helvetica" pitchFamily="2" charset="0"/>
            </a:endParaRPr>
          </a:p>
        </p:txBody>
      </p:sp>
      <p:sp>
        <p:nvSpPr>
          <p:cNvPr id="24" name="TextBox 23">
            <a:extLst>
              <a:ext uri="{FF2B5EF4-FFF2-40B4-BE49-F238E27FC236}">
                <a16:creationId xmlns:a16="http://schemas.microsoft.com/office/drawing/2014/main" id="{6B58C0BE-0A71-B4B4-BE9E-57042BEBB31E}"/>
              </a:ext>
            </a:extLst>
          </p:cNvPr>
          <p:cNvSpPr txBox="1"/>
          <p:nvPr/>
        </p:nvSpPr>
        <p:spPr>
          <a:xfrm>
            <a:off x="5937752" y="280134"/>
            <a:ext cx="6108700" cy="369332"/>
          </a:xfrm>
          <a:prstGeom prst="rect">
            <a:avLst/>
          </a:prstGeom>
          <a:noFill/>
        </p:spPr>
        <p:txBody>
          <a:bodyPr wrap="square">
            <a:spAutoFit/>
          </a:bodyPr>
          <a:lstStyle/>
          <a:p>
            <a:pPr algn="r"/>
            <a:r>
              <a:rPr lang="en-US" dirty="0">
                <a:solidFill>
                  <a:schemeClr val="tx1">
                    <a:lumMod val="50000"/>
                    <a:lumOff val="50000"/>
                  </a:schemeClr>
                </a:solidFill>
                <a:latin typeface="Helvetica" pitchFamily="2" charset="0"/>
              </a:rPr>
              <a:t>https://</a:t>
            </a:r>
            <a:r>
              <a:rPr lang="en-US" dirty="0" err="1">
                <a:solidFill>
                  <a:schemeClr val="tx1">
                    <a:lumMod val="50000"/>
                    <a:lumOff val="50000"/>
                  </a:schemeClr>
                </a:solidFill>
                <a:latin typeface="Helvetica" pitchFamily="2" charset="0"/>
              </a:rPr>
              <a:t>plasticseurope.org</a:t>
            </a:r>
            <a:endParaRPr lang="en-US" dirty="0">
              <a:solidFill>
                <a:schemeClr val="tx1">
                  <a:lumMod val="50000"/>
                  <a:lumOff val="50000"/>
                </a:schemeClr>
              </a:solidFill>
              <a:latin typeface="Helvetica" pitchFamily="2" charset="0"/>
            </a:endParaRPr>
          </a:p>
        </p:txBody>
      </p:sp>
    </p:spTree>
    <p:extLst>
      <p:ext uri="{BB962C8B-B14F-4D97-AF65-F5344CB8AC3E}">
        <p14:creationId xmlns:p14="http://schemas.microsoft.com/office/powerpoint/2010/main" val="774930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CE119-A8DF-01EC-2DA0-8DBB0717483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03B8E2A-A629-64D5-B1B6-4AEE9C1B0740}"/>
              </a:ext>
            </a:extLst>
          </p:cNvPr>
          <p:cNvSpPr>
            <a:spLocks noGrp="1"/>
          </p:cNvSpPr>
          <p:nvPr>
            <p:ph type="title"/>
          </p:nvPr>
        </p:nvSpPr>
        <p:spPr>
          <a:xfrm>
            <a:off x="99165" y="127131"/>
            <a:ext cx="10515600" cy="687062"/>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Different plastics and their uses</a:t>
            </a:r>
          </a:p>
        </p:txBody>
      </p:sp>
      <p:sp>
        <p:nvSpPr>
          <p:cNvPr id="3" name="Left Bracket 2">
            <a:extLst>
              <a:ext uri="{FF2B5EF4-FFF2-40B4-BE49-F238E27FC236}">
                <a16:creationId xmlns:a16="http://schemas.microsoft.com/office/drawing/2014/main" id="{79E06499-3639-A7A7-2A4B-C9469AE5511F}"/>
              </a:ext>
            </a:extLst>
          </p:cNvPr>
          <p:cNvSpPr/>
          <p:nvPr/>
        </p:nvSpPr>
        <p:spPr>
          <a:xfrm>
            <a:off x="2115631" y="1068620"/>
            <a:ext cx="73152" cy="914400"/>
          </a:xfrm>
          <a:prstGeom prst="leftBracket">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pic>
        <p:nvPicPr>
          <p:cNvPr id="16388" name="Picture 4" descr="Just one word — Plastics. Legos are a dream come true for many… | by  Chandhana Sathishkumar | Medium">
            <a:extLst>
              <a:ext uri="{FF2B5EF4-FFF2-40B4-BE49-F238E27FC236}">
                <a16:creationId xmlns:a16="http://schemas.microsoft.com/office/drawing/2014/main" id="{197587B7-7528-5E49-3FA9-6F759D39D4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7600" y="927100"/>
            <a:ext cx="7416800" cy="5003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46C4EC7-53D2-53A0-851A-BAD08FDECA8C}"/>
              </a:ext>
            </a:extLst>
          </p:cNvPr>
          <p:cNvSpPr txBox="1"/>
          <p:nvPr/>
        </p:nvSpPr>
        <p:spPr>
          <a:xfrm>
            <a:off x="434396" y="1105933"/>
            <a:ext cx="1555570" cy="830997"/>
          </a:xfrm>
          <a:prstGeom prst="rect">
            <a:avLst/>
          </a:prstGeom>
          <a:noFill/>
        </p:spPr>
        <p:txBody>
          <a:bodyPr wrap="square" rtlCol="0">
            <a:spAutoFit/>
          </a:bodyPr>
          <a:lstStyle/>
          <a:p>
            <a:pPr algn="r"/>
            <a:r>
              <a:rPr lang="en-US" sz="1600" dirty="0">
                <a:latin typeface="Helvetica" pitchFamily="2" charset="0"/>
              </a:rPr>
              <a:t>Resin Identification Code</a:t>
            </a:r>
          </a:p>
        </p:txBody>
      </p:sp>
      <p:sp>
        <p:nvSpPr>
          <p:cNvPr id="6" name="Left Bracket 5">
            <a:extLst>
              <a:ext uri="{FF2B5EF4-FFF2-40B4-BE49-F238E27FC236}">
                <a16:creationId xmlns:a16="http://schemas.microsoft.com/office/drawing/2014/main" id="{069E1F7A-6983-8162-AB7B-C7C3527F5288}"/>
              </a:ext>
            </a:extLst>
          </p:cNvPr>
          <p:cNvSpPr/>
          <p:nvPr/>
        </p:nvSpPr>
        <p:spPr>
          <a:xfrm>
            <a:off x="2152207" y="2971800"/>
            <a:ext cx="73152" cy="914400"/>
          </a:xfrm>
          <a:prstGeom prst="leftBracket">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B1A058D2-3D53-4B1C-1CB6-0B14295190A9}"/>
              </a:ext>
            </a:extLst>
          </p:cNvPr>
          <p:cNvSpPr txBox="1"/>
          <p:nvPr/>
        </p:nvSpPr>
        <p:spPr>
          <a:xfrm>
            <a:off x="434396" y="3059668"/>
            <a:ext cx="1555570" cy="738664"/>
          </a:xfrm>
          <a:prstGeom prst="rect">
            <a:avLst/>
          </a:prstGeom>
          <a:noFill/>
        </p:spPr>
        <p:txBody>
          <a:bodyPr wrap="square" rtlCol="0">
            <a:spAutoFit/>
          </a:bodyPr>
          <a:lstStyle/>
          <a:p>
            <a:pPr algn="r"/>
            <a:r>
              <a:rPr lang="en-US" sz="1400" dirty="0">
                <a:latin typeface="Helvetica" pitchFamily="2" charset="0"/>
              </a:rPr>
              <a:t>Resin types are differentiated by Temp heated to </a:t>
            </a:r>
          </a:p>
        </p:txBody>
      </p:sp>
    </p:spTree>
    <p:extLst>
      <p:ext uri="{BB962C8B-B14F-4D97-AF65-F5344CB8AC3E}">
        <p14:creationId xmlns:p14="http://schemas.microsoft.com/office/powerpoint/2010/main" val="246961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6DE52-637F-5F4A-C8DD-7584BF77838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B63FB89-1707-B9DC-81D4-D84F988E3673}"/>
              </a:ext>
            </a:extLst>
          </p:cNvPr>
          <p:cNvSpPr>
            <a:spLocks noGrp="1"/>
          </p:cNvSpPr>
          <p:nvPr>
            <p:ph type="title"/>
          </p:nvPr>
        </p:nvSpPr>
        <p:spPr>
          <a:xfrm>
            <a:off x="99165" y="127131"/>
            <a:ext cx="10515600" cy="687062"/>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How is it made?</a:t>
            </a:r>
          </a:p>
        </p:txBody>
      </p:sp>
      <p:pic>
        <p:nvPicPr>
          <p:cNvPr id="14344" name="Picture 8" descr="Manufacturing of a variety of petroleum-based plastics">
            <a:extLst>
              <a:ext uri="{FF2B5EF4-FFF2-40B4-BE49-F238E27FC236}">
                <a16:creationId xmlns:a16="http://schemas.microsoft.com/office/drawing/2014/main" id="{08597346-CAB5-98DF-E793-B0836A1407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272" y="1259998"/>
            <a:ext cx="9811456" cy="528664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9B61A43-0A32-DC42-FE2C-FBC0FA1BD425}"/>
              </a:ext>
            </a:extLst>
          </p:cNvPr>
          <p:cNvSpPr txBox="1"/>
          <p:nvPr/>
        </p:nvSpPr>
        <p:spPr>
          <a:xfrm>
            <a:off x="0" y="6546641"/>
            <a:ext cx="8318500" cy="523220"/>
          </a:xfrm>
          <a:prstGeom prst="rect">
            <a:avLst/>
          </a:prstGeom>
          <a:noFill/>
        </p:spPr>
        <p:txBody>
          <a:bodyPr wrap="square">
            <a:spAutoFit/>
          </a:bodyPr>
          <a:lstStyle/>
          <a:p>
            <a:r>
              <a:rPr lang="en-GB" sz="1400" b="0" i="0" dirty="0" err="1">
                <a:effectLst/>
                <a:latin typeface="Source Sans Pro" panose="020B0503030403020204" pitchFamily="34" charset="0"/>
              </a:rPr>
              <a:t>Elsamahy</a:t>
            </a:r>
            <a:r>
              <a:rPr lang="en-GB" sz="1400" b="0" i="0" dirty="0">
                <a:effectLst/>
                <a:latin typeface="Source Sans Pro" panose="020B0503030403020204" pitchFamily="34" charset="0"/>
              </a:rPr>
              <a:t> et al 2023 </a:t>
            </a:r>
            <a:r>
              <a:rPr lang="en-GB" sz="1400" b="0" i="1" dirty="0">
                <a:effectLst/>
                <a:latin typeface="Source Sans Pro" panose="020B0503030403020204" pitchFamily="34" charset="0"/>
              </a:rPr>
              <a:t>Env Monitor Assess </a:t>
            </a:r>
            <a:r>
              <a:rPr lang="en-GB" sz="1400" b="0" dirty="0">
                <a:effectLst/>
                <a:latin typeface="Source Sans Pro" panose="020B0503030403020204" pitchFamily="34" charset="0"/>
              </a:rPr>
              <a:t>195(11) DOI:10.1007/s10661-023-11955-7</a:t>
            </a:r>
          </a:p>
          <a:p>
            <a:endParaRPr lang="en-US" sz="1400" dirty="0"/>
          </a:p>
        </p:txBody>
      </p:sp>
      <p:pic>
        <p:nvPicPr>
          <p:cNvPr id="14346" name="Picture 10" descr="Corn 3D Color icon | Freepik">
            <a:extLst>
              <a:ext uri="{FF2B5EF4-FFF2-40B4-BE49-F238E27FC236}">
                <a16:creationId xmlns:a16="http://schemas.microsoft.com/office/drawing/2014/main" id="{5851D0DE-97B6-2D23-C9AE-13A365B925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595116">
            <a:off x="4893027" y="67733"/>
            <a:ext cx="1095023" cy="1095023"/>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7F4AAA0-08CA-60AE-0F74-D7578311D593}"/>
              </a:ext>
            </a:extLst>
          </p:cNvPr>
          <p:cNvSpPr txBox="1"/>
          <p:nvPr/>
        </p:nvSpPr>
        <p:spPr>
          <a:xfrm>
            <a:off x="9468498" y="238090"/>
            <a:ext cx="2377767" cy="646331"/>
          </a:xfrm>
          <a:prstGeom prst="rect">
            <a:avLst/>
          </a:prstGeom>
          <a:noFill/>
        </p:spPr>
        <p:txBody>
          <a:bodyPr wrap="none" rtlCol="0">
            <a:spAutoFit/>
          </a:bodyPr>
          <a:lstStyle/>
          <a:p>
            <a:r>
              <a:rPr lang="en-US" dirty="0">
                <a:latin typeface="Helvetica" pitchFamily="2" charset="0"/>
              </a:rPr>
              <a:t>Polylactic Acid (PLA) </a:t>
            </a:r>
            <a:br>
              <a:rPr lang="en-US" dirty="0">
                <a:latin typeface="Helvetica" pitchFamily="2" charset="0"/>
              </a:rPr>
            </a:br>
            <a:r>
              <a:rPr lang="en-US" dirty="0">
                <a:latin typeface="Helvetica" pitchFamily="2" charset="0"/>
              </a:rPr>
              <a:t>aka ‘corn plastics’ </a:t>
            </a:r>
          </a:p>
        </p:txBody>
      </p:sp>
      <p:pic>
        <p:nvPicPr>
          <p:cNvPr id="14348" name="Picture 12" descr="Extremely Tough and Heat Resistant PLA">
            <a:extLst>
              <a:ext uri="{FF2B5EF4-FFF2-40B4-BE49-F238E27FC236}">
                <a16:creationId xmlns:a16="http://schemas.microsoft.com/office/drawing/2014/main" id="{9210CB5D-DE77-E646-D4C3-21B706E075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7321" y="144795"/>
            <a:ext cx="2328333" cy="809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567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B4332-AE25-B97B-2D2F-D482FAA47BED}"/>
            </a:ext>
          </a:extLst>
        </p:cNvPr>
        <p:cNvGrpSpPr/>
        <p:nvPr/>
      </p:nvGrpSpPr>
      <p:grpSpPr>
        <a:xfrm>
          <a:off x="0" y="0"/>
          <a:ext cx="0" cy="0"/>
          <a:chOff x="0" y="0"/>
          <a:chExt cx="0" cy="0"/>
        </a:xfrm>
      </p:grpSpPr>
      <p:pic>
        <p:nvPicPr>
          <p:cNvPr id="5124" name="Picture 4" descr="Revealed: hotspots of plastic waste pollution across 51,000 cities ...">
            <a:extLst>
              <a:ext uri="{FF2B5EF4-FFF2-40B4-BE49-F238E27FC236}">
                <a16:creationId xmlns:a16="http://schemas.microsoft.com/office/drawing/2014/main" id="{A822C39A-DDE5-024D-7579-C4F3FA1C1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460" y="-42530"/>
            <a:ext cx="9249609" cy="653982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close-up of a blue background&#10;&#10;AI-generated content may be incorrect.">
            <a:extLst>
              <a:ext uri="{FF2B5EF4-FFF2-40B4-BE49-F238E27FC236}">
                <a16:creationId xmlns:a16="http://schemas.microsoft.com/office/drawing/2014/main" id="{98C2BA11-F98E-EDF5-E76F-0E87C76E9EA4}"/>
              </a:ext>
            </a:extLst>
          </p:cNvPr>
          <p:cNvPicPr>
            <a:picLocks noChangeAspect="1"/>
          </p:cNvPicPr>
          <p:nvPr/>
        </p:nvPicPr>
        <p:blipFill>
          <a:blip r:embed="rId3"/>
          <a:stretch>
            <a:fillRect/>
          </a:stretch>
        </p:blipFill>
        <p:spPr>
          <a:xfrm>
            <a:off x="9810603" y="6343871"/>
            <a:ext cx="2381397" cy="495331"/>
          </a:xfrm>
          <a:prstGeom prst="rect">
            <a:avLst/>
          </a:prstGeom>
        </p:spPr>
      </p:pic>
    </p:spTree>
    <p:extLst>
      <p:ext uri="{BB962C8B-B14F-4D97-AF65-F5344CB8AC3E}">
        <p14:creationId xmlns:p14="http://schemas.microsoft.com/office/powerpoint/2010/main" val="2430646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lmost 70% of all plastic waste is produced by just 20 countries ...">
            <a:extLst>
              <a:ext uri="{FF2B5EF4-FFF2-40B4-BE49-F238E27FC236}">
                <a16:creationId xmlns:a16="http://schemas.microsoft.com/office/drawing/2014/main" id="{930E6FC0-6992-49B7-0C9A-16599BB90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22" y="429067"/>
            <a:ext cx="10091486" cy="58297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close-up of a blue background&#10;&#10;AI-generated content may be incorrect.">
            <a:extLst>
              <a:ext uri="{FF2B5EF4-FFF2-40B4-BE49-F238E27FC236}">
                <a16:creationId xmlns:a16="http://schemas.microsoft.com/office/drawing/2014/main" id="{BD45717C-3352-37AB-5E21-A63FECE81C6D}"/>
              </a:ext>
            </a:extLst>
          </p:cNvPr>
          <p:cNvPicPr>
            <a:picLocks noChangeAspect="1"/>
          </p:cNvPicPr>
          <p:nvPr/>
        </p:nvPicPr>
        <p:blipFill>
          <a:blip r:embed="rId3"/>
          <a:stretch>
            <a:fillRect/>
          </a:stretch>
        </p:blipFill>
        <p:spPr>
          <a:xfrm>
            <a:off x="9810603" y="6343871"/>
            <a:ext cx="2381397" cy="495331"/>
          </a:xfrm>
          <a:prstGeom prst="rect">
            <a:avLst/>
          </a:prstGeom>
        </p:spPr>
      </p:pic>
    </p:spTree>
    <p:extLst>
      <p:ext uri="{BB962C8B-B14F-4D97-AF65-F5344CB8AC3E}">
        <p14:creationId xmlns:p14="http://schemas.microsoft.com/office/powerpoint/2010/main" val="606642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68A99-FE07-7A2F-EB10-22E7BFB10DE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A7239DC-C960-EA3E-E693-A456405A67C3}"/>
              </a:ext>
            </a:extLst>
          </p:cNvPr>
          <p:cNvSpPr>
            <a:spLocks noGrp="1"/>
          </p:cNvSpPr>
          <p:nvPr>
            <p:ph type="title"/>
          </p:nvPr>
        </p:nvSpPr>
        <p:spPr>
          <a:xfrm>
            <a:off x="99165" y="61815"/>
            <a:ext cx="10515600" cy="687062"/>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Why is plastic an environmental issue?</a:t>
            </a:r>
          </a:p>
        </p:txBody>
      </p:sp>
      <p:pic>
        <p:nvPicPr>
          <p:cNvPr id="3" name="Picture 2" descr="Bar chart showing how long it takes for plastic to decompose.">
            <a:extLst>
              <a:ext uri="{FF2B5EF4-FFF2-40B4-BE49-F238E27FC236}">
                <a16:creationId xmlns:a16="http://schemas.microsoft.com/office/drawing/2014/main" id="{468EC1B0-58FC-5564-10CE-0B1B093675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751" b="4131"/>
          <a:stretch/>
        </p:blipFill>
        <p:spPr bwMode="auto">
          <a:xfrm>
            <a:off x="6286500" y="680741"/>
            <a:ext cx="5659379" cy="61154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8ED3585-A5E3-D9E8-140A-367F933E6574}"/>
              </a:ext>
            </a:extLst>
          </p:cNvPr>
          <p:cNvSpPr txBox="1"/>
          <p:nvPr/>
        </p:nvSpPr>
        <p:spPr>
          <a:xfrm>
            <a:off x="151514" y="779130"/>
            <a:ext cx="6134986" cy="5909310"/>
          </a:xfrm>
          <a:prstGeom prst="rect">
            <a:avLst/>
          </a:prstGeom>
          <a:noFill/>
        </p:spPr>
        <p:txBody>
          <a:bodyPr wrap="square">
            <a:spAutoFit/>
          </a:bodyPr>
          <a:lstStyle/>
          <a:p>
            <a:pPr>
              <a:buNone/>
            </a:pPr>
            <a:r>
              <a:rPr lang="en-GB" dirty="0">
                <a:latin typeface="Helvetica" pitchFamily="2" charset="0"/>
              </a:rPr>
              <a:t>Plastics are </a:t>
            </a:r>
            <a:r>
              <a:rPr lang="en-GB" b="1" dirty="0">
                <a:latin typeface="Helvetica" pitchFamily="2" charset="0"/>
              </a:rPr>
              <a:t>persistent,</a:t>
            </a:r>
            <a:r>
              <a:rPr lang="en-GB" dirty="0">
                <a:latin typeface="Helvetica" pitchFamily="2" charset="0"/>
              </a:rPr>
              <a:t> lasting for decades to centuries without fully breaking down:</a:t>
            </a:r>
          </a:p>
          <a:p>
            <a:pPr>
              <a:buNone/>
            </a:pPr>
            <a:endParaRPr lang="en-GB" dirty="0">
              <a:latin typeface="Helvetica" pitchFamily="2" charset="0"/>
            </a:endParaRPr>
          </a:p>
          <a:p>
            <a:r>
              <a:rPr lang="en-GB" dirty="0">
                <a:latin typeface="Helvetica" pitchFamily="2" charset="0"/>
              </a:rPr>
              <a:t>🧪 </a:t>
            </a:r>
            <a:r>
              <a:rPr lang="en-GB" b="1" dirty="0">
                <a:latin typeface="Helvetica" pitchFamily="2" charset="0"/>
              </a:rPr>
              <a:t>Strong Chemical Bonds</a:t>
            </a:r>
            <a:r>
              <a:rPr lang="en-GB" dirty="0">
                <a:latin typeface="Helvetica" pitchFamily="2" charset="0"/>
              </a:rPr>
              <a:t>: Long chains of carbon-carbon (C–C) or carbon-hydrogen (C–H) bonds that are very stable and hard to break under natural conditions</a:t>
            </a:r>
          </a:p>
          <a:p>
            <a:pPr marL="285750" indent="-285750">
              <a:buFont typeface="Arial" panose="020B0604020202020204" pitchFamily="34" charset="0"/>
              <a:buChar char="•"/>
            </a:pPr>
            <a:endParaRPr lang="en-GB" dirty="0">
              <a:latin typeface="Helvetica" pitchFamily="2" charset="0"/>
            </a:endParaRPr>
          </a:p>
          <a:p>
            <a:pPr>
              <a:buNone/>
            </a:pPr>
            <a:r>
              <a:rPr lang="en-GB" dirty="0">
                <a:latin typeface="Helvetica" pitchFamily="2" charset="0"/>
              </a:rPr>
              <a:t>🦠 </a:t>
            </a:r>
            <a:r>
              <a:rPr lang="en-GB" b="1" dirty="0">
                <a:latin typeface="Helvetica" pitchFamily="2" charset="0"/>
              </a:rPr>
              <a:t>Resistance to Biological Attack</a:t>
            </a:r>
            <a:r>
              <a:rPr lang="en-GB" dirty="0">
                <a:latin typeface="Helvetica" pitchFamily="2" charset="0"/>
              </a:rPr>
              <a:t>: Most microbes and enzymes cannot recognize or break down synthetic plastic polymers; they evolved to degrade natural materials, not human-made ones</a:t>
            </a:r>
          </a:p>
          <a:p>
            <a:pPr>
              <a:buNone/>
            </a:pPr>
            <a:endParaRPr lang="en-GB" dirty="0">
              <a:latin typeface="Helvetica" pitchFamily="2" charset="0"/>
            </a:endParaRPr>
          </a:p>
          <a:p>
            <a:pPr>
              <a:buNone/>
            </a:pPr>
            <a:r>
              <a:rPr lang="en-GB" dirty="0">
                <a:latin typeface="Helvetica" pitchFamily="2" charset="0"/>
              </a:rPr>
              <a:t>💧 </a:t>
            </a:r>
            <a:r>
              <a:rPr lang="en-GB" b="1" dirty="0">
                <a:latin typeface="Helvetica" pitchFamily="2" charset="0"/>
              </a:rPr>
              <a:t>Hydrophobicity</a:t>
            </a:r>
            <a:r>
              <a:rPr lang="en-GB" dirty="0">
                <a:latin typeface="Helvetica" pitchFamily="2" charset="0"/>
              </a:rPr>
              <a:t>: Plastics repel water, reducing chemical weathering processes like hydrolysis that would otherwise help degrade them</a:t>
            </a:r>
          </a:p>
          <a:p>
            <a:endParaRPr lang="en-GB" dirty="0">
              <a:latin typeface="Helvetica" pitchFamily="2" charset="0"/>
            </a:endParaRPr>
          </a:p>
          <a:p>
            <a:r>
              <a:rPr lang="en-GB" dirty="0">
                <a:latin typeface="Helvetica" pitchFamily="2" charset="0"/>
              </a:rPr>
              <a:t>🧱 </a:t>
            </a:r>
            <a:r>
              <a:rPr lang="en-GB" b="1" dirty="0">
                <a:latin typeface="Helvetica" pitchFamily="2" charset="0"/>
              </a:rPr>
              <a:t>Physical Durability</a:t>
            </a:r>
            <a:r>
              <a:rPr lang="en-GB" dirty="0">
                <a:latin typeface="Helvetica" pitchFamily="2" charset="0"/>
              </a:rPr>
              <a:t>: Tough and </a:t>
            </a:r>
            <a:r>
              <a:rPr lang="en-GB" dirty="0" err="1">
                <a:latin typeface="Helvetica" pitchFamily="2" charset="0"/>
              </a:rPr>
              <a:t>flexibleeaning</a:t>
            </a:r>
            <a:r>
              <a:rPr lang="en-GB" dirty="0">
                <a:latin typeface="Helvetica" pitchFamily="2" charset="0"/>
              </a:rPr>
              <a:t> they resist mechanical damage, abrasion, and temperature changes that could otherwise help fragment and degrade materials</a:t>
            </a:r>
          </a:p>
          <a:p>
            <a:pPr>
              <a:buNone/>
            </a:pPr>
            <a:endParaRPr lang="en-GB" dirty="0">
              <a:latin typeface="Helvetica" pitchFamily="2" charset="0"/>
            </a:endParaRPr>
          </a:p>
        </p:txBody>
      </p:sp>
    </p:spTree>
    <p:extLst>
      <p:ext uri="{BB962C8B-B14F-4D97-AF65-F5344CB8AC3E}">
        <p14:creationId xmlns:p14="http://schemas.microsoft.com/office/powerpoint/2010/main" val="2690812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025418-28CE-9CBA-EFA4-5F7C2E5B5456}"/>
              </a:ext>
            </a:extLst>
          </p:cNvPr>
          <p:cNvSpPr txBox="1">
            <a:spLocks/>
          </p:cNvSpPr>
          <p:nvPr/>
        </p:nvSpPr>
        <p:spPr>
          <a:xfrm>
            <a:off x="99165" y="82632"/>
            <a:ext cx="10515600" cy="6870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Can’t we just recycle it?</a:t>
            </a:r>
          </a:p>
        </p:txBody>
      </p:sp>
      <p:pic>
        <p:nvPicPr>
          <p:cNvPr id="20" name="Picture 2">
            <a:extLst>
              <a:ext uri="{FF2B5EF4-FFF2-40B4-BE49-F238E27FC236}">
                <a16:creationId xmlns:a16="http://schemas.microsoft.com/office/drawing/2014/main" id="{2EADD0DB-E623-7A49-96D3-2EAA6A140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340" y="769694"/>
            <a:ext cx="5613400" cy="5613400"/>
          </a:xfrm>
          <a:prstGeom prst="rect">
            <a:avLst/>
          </a:prstGeom>
          <a:noFill/>
          <a:extLst>
            <a:ext uri="{909E8E84-426E-40DD-AFC4-6F175D3DCCD1}">
              <a14:hiddenFill xmlns:a14="http://schemas.microsoft.com/office/drawing/2010/main">
                <a:solidFill>
                  <a:srgbClr val="FFFFFF"/>
                </a:solidFill>
              </a14:hiddenFill>
            </a:ext>
          </a:extLst>
        </p:spPr>
      </p:pic>
      <p:pic>
        <p:nvPicPr>
          <p:cNvPr id="20492" name="Picture 12">
            <a:extLst>
              <a:ext uri="{FF2B5EF4-FFF2-40B4-BE49-F238E27FC236}">
                <a16:creationId xmlns:a16="http://schemas.microsoft.com/office/drawing/2014/main" id="{F77A2655-3F2F-A4F1-6771-BDC2D0DB01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259" y="769694"/>
            <a:ext cx="5613401" cy="561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3870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14046-A3E5-4D0C-F2B8-C1545F551EB1}"/>
            </a:ext>
          </a:extLst>
        </p:cNvPr>
        <p:cNvGrpSpPr/>
        <p:nvPr/>
      </p:nvGrpSpPr>
      <p:grpSpPr>
        <a:xfrm>
          <a:off x="0" y="0"/>
          <a:ext cx="0" cy="0"/>
          <a:chOff x="0" y="0"/>
          <a:chExt cx="0" cy="0"/>
        </a:xfrm>
      </p:grpSpPr>
      <p:pic>
        <p:nvPicPr>
          <p:cNvPr id="20484" name="Picture 4" descr="Phasing out hard-to-recycle and single-use plastics | Ministry for the  Environment">
            <a:extLst>
              <a:ext uri="{FF2B5EF4-FFF2-40B4-BE49-F238E27FC236}">
                <a16:creationId xmlns:a16="http://schemas.microsoft.com/office/drawing/2014/main" id="{AADDF722-741D-7589-DA42-9774A0E5FC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133" r="8845"/>
          <a:stretch/>
        </p:blipFill>
        <p:spPr bwMode="auto">
          <a:xfrm>
            <a:off x="5382365" y="561540"/>
            <a:ext cx="6809635" cy="631605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E3A35000-954A-9B5D-31B7-BF6D28617ECD}"/>
              </a:ext>
            </a:extLst>
          </p:cNvPr>
          <p:cNvSpPr txBox="1">
            <a:spLocks/>
          </p:cNvSpPr>
          <p:nvPr/>
        </p:nvSpPr>
        <p:spPr>
          <a:xfrm>
            <a:off x="99165" y="82632"/>
            <a:ext cx="10515600" cy="6870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Not all plastics are equally recyclable</a:t>
            </a:r>
          </a:p>
        </p:txBody>
      </p:sp>
      <p:sp>
        <p:nvSpPr>
          <p:cNvPr id="6" name="TextBox 5">
            <a:extLst>
              <a:ext uri="{FF2B5EF4-FFF2-40B4-BE49-F238E27FC236}">
                <a16:creationId xmlns:a16="http://schemas.microsoft.com/office/drawing/2014/main" id="{42EE83EB-3BFD-19B1-3227-E62AABB4699F}"/>
              </a:ext>
            </a:extLst>
          </p:cNvPr>
          <p:cNvSpPr txBox="1"/>
          <p:nvPr/>
        </p:nvSpPr>
        <p:spPr>
          <a:xfrm>
            <a:off x="8592759" y="149164"/>
            <a:ext cx="3500076" cy="276999"/>
          </a:xfrm>
          <a:prstGeom prst="rect">
            <a:avLst/>
          </a:prstGeom>
          <a:noFill/>
        </p:spPr>
        <p:txBody>
          <a:bodyPr wrap="square">
            <a:spAutoFit/>
          </a:bodyPr>
          <a:lstStyle/>
          <a:p>
            <a:pPr algn="r"/>
            <a:r>
              <a:rPr lang="en-US" sz="1200" dirty="0">
                <a:solidFill>
                  <a:schemeClr val="tx1">
                    <a:lumMod val="50000"/>
                    <a:lumOff val="50000"/>
                  </a:schemeClr>
                </a:solidFill>
              </a:rPr>
              <a:t>https://</a:t>
            </a:r>
            <a:r>
              <a:rPr lang="en-US" sz="1200" dirty="0" err="1">
                <a:solidFill>
                  <a:schemeClr val="tx1">
                    <a:lumMod val="50000"/>
                    <a:lumOff val="50000"/>
                  </a:schemeClr>
                </a:solidFill>
              </a:rPr>
              <a:t>environment.govt.nz</a:t>
            </a:r>
            <a:endParaRPr lang="en-US" sz="1200" dirty="0">
              <a:solidFill>
                <a:schemeClr val="tx1">
                  <a:lumMod val="50000"/>
                  <a:lumOff val="50000"/>
                </a:schemeClr>
              </a:solidFill>
            </a:endParaRPr>
          </a:p>
        </p:txBody>
      </p:sp>
      <p:sp>
        <p:nvSpPr>
          <p:cNvPr id="17" name="TextBox 16">
            <a:extLst>
              <a:ext uri="{FF2B5EF4-FFF2-40B4-BE49-F238E27FC236}">
                <a16:creationId xmlns:a16="http://schemas.microsoft.com/office/drawing/2014/main" id="{4711A3D0-68CB-539F-B24F-E25F25778774}"/>
              </a:ext>
            </a:extLst>
          </p:cNvPr>
          <p:cNvSpPr txBox="1"/>
          <p:nvPr/>
        </p:nvSpPr>
        <p:spPr>
          <a:xfrm>
            <a:off x="99165" y="799010"/>
            <a:ext cx="5459805" cy="2708434"/>
          </a:xfrm>
          <a:prstGeom prst="rect">
            <a:avLst/>
          </a:prstGeom>
          <a:solidFill>
            <a:srgbClr val="F2F6E7"/>
          </a:solidFill>
        </p:spPr>
        <p:txBody>
          <a:bodyPr wrap="square">
            <a:spAutoFit/>
          </a:bodyPr>
          <a:lstStyle/>
          <a:p>
            <a:pPr algn="just"/>
            <a:r>
              <a:rPr lang="en-GB" sz="1600" b="1" dirty="0">
                <a:latin typeface="Helvetica" pitchFamily="2" charset="0"/>
              </a:rPr>
              <a:t>PET</a:t>
            </a:r>
            <a:endParaRPr lang="en-GB" sz="1600" dirty="0">
              <a:latin typeface="Helvetica" pitchFamily="2" charset="0"/>
            </a:endParaRPr>
          </a:p>
          <a:p>
            <a:pPr marL="285750" indent="-285750" algn="just">
              <a:buFont typeface="Arial" panose="020B0604020202020204" pitchFamily="34" charset="0"/>
              <a:buChar char="•"/>
            </a:pPr>
            <a:r>
              <a:rPr lang="en-GB" sz="1600" dirty="0">
                <a:solidFill>
                  <a:srgbClr val="C00000"/>
                </a:solidFill>
                <a:latin typeface="Helvetica" pitchFamily="2" charset="0"/>
              </a:rPr>
              <a:t>easily melted </a:t>
            </a:r>
            <a:r>
              <a:rPr lang="en-GB" sz="1600" dirty="0">
                <a:latin typeface="Helvetica" pitchFamily="2" charset="0"/>
              </a:rPr>
              <a:t>and reformed into new products without significant loss of quality </a:t>
            </a:r>
          </a:p>
          <a:p>
            <a:pPr marL="285750" indent="-285750" algn="just">
              <a:buFont typeface="Arial" panose="020B0604020202020204" pitchFamily="34" charset="0"/>
              <a:buChar char="•"/>
            </a:pPr>
            <a:r>
              <a:rPr lang="en-GB" sz="1600" dirty="0">
                <a:solidFill>
                  <a:srgbClr val="C00000"/>
                </a:solidFill>
                <a:latin typeface="Helvetica" pitchFamily="2" charset="0"/>
              </a:rPr>
              <a:t>consistent composition</a:t>
            </a:r>
            <a:r>
              <a:rPr lang="en-GB" sz="1600" dirty="0">
                <a:latin typeface="Helvetica" pitchFamily="2" charset="0"/>
              </a:rPr>
              <a:t>, high </a:t>
            </a:r>
            <a:r>
              <a:rPr lang="en-GB" sz="1600" dirty="0">
                <a:solidFill>
                  <a:srgbClr val="C00000"/>
                </a:solidFill>
                <a:latin typeface="Helvetica" pitchFamily="2" charset="0"/>
              </a:rPr>
              <a:t>demand for recycled PET (</a:t>
            </a:r>
            <a:r>
              <a:rPr lang="en-GB" sz="1600" dirty="0" err="1">
                <a:solidFill>
                  <a:srgbClr val="C00000"/>
                </a:solidFill>
                <a:latin typeface="Helvetica" pitchFamily="2" charset="0"/>
              </a:rPr>
              <a:t>rPET</a:t>
            </a:r>
            <a:r>
              <a:rPr lang="en-GB" sz="1600" dirty="0">
                <a:solidFill>
                  <a:srgbClr val="C00000"/>
                </a:solidFill>
                <a:latin typeface="Helvetica" pitchFamily="2" charset="0"/>
              </a:rPr>
              <a:t>)</a:t>
            </a:r>
            <a:r>
              <a:rPr lang="en-GB" sz="1600" dirty="0">
                <a:latin typeface="Helvetica" pitchFamily="2" charset="0"/>
              </a:rPr>
              <a:t>, and </a:t>
            </a:r>
            <a:r>
              <a:rPr lang="en-GB" sz="1600" dirty="0">
                <a:solidFill>
                  <a:srgbClr val="C00000"/>
                </a:solidFill>
                <a:latin typeface="Helvetica" pitchFamily="2" charset="0"/>
              </a:rPr>
              <a:t>mature sorting infrastructure</a:t>
            </a:r>
            <a:endParaRPr lang="en-GB" sz="1600" dirty="0">
              <a:latin typeface="Helvetica" pitchFamily="2" charset="0"/>
            </a:endParaRPr>
          </a:p>
          <a:p>
            <a:pPr algn="just"/>
            <a:endParaRPr lang="en-GB" sz="1000" b="1" dirty="0">
              <a:latin typeface="Helvetica" pitchFamily="2" charset="0"/>
            </a:endParaRPr>
          </a:p>
          <a:p>
            <a:pPr algn="just"/>
            <a:r>
              <a:rPr lang="en-GB" sz="1600" b="1" dirty="0">
                <a:latin typeface="Helvetica" pitchFamily="2" charset="0"/>
              </a:rPr>
              <a:t>HDPE</a:t>
            </a:r>
          </a:p>
          <a:p>
            <a:pPr marL="285750" indent="-285750" algn="just">
              <a:buFont typeface="Arial" panose="020B0604020202020204" pitchFamily="34" charset="0"/>
              <a:buChar char="•"/>
            </a:pPr>
            <a:r>
              <a:rPr lang="en-GB" sz="1600" dirty="0">
                <a:solidFill>
                  <a:srgbClr val="C00000"/>
                </a:solidFill>
                <a:latin typeface="Helvetica" pitchFamily="2" charset="0"/>
              </a:rPr>
              <a:t>simple chemical structure</a:t>
            </a:r>
            <a:r>
              <a:rPr lang="en-GB" sz="1600" dirty="0">
                <a:latin typeface="Helvetica" pitchFamily="2" charset="0"/>
              </a:rPr>
              <a:t> and </a:t>
            </a:r>
          </a:p>
          <a:p>
            <a:pPr marL="285750" indent="-285750" algn="just">
              <a:buFont typeface="Arial" panose="020B0604020202020204" pitchFamily="34" charset="0"/>
              <a:buChar char="•"/>
            </a:pPr>
            <a:r>
              <a:rPr lang="en-GB" sz="1600" dirty="0">
                <a:latin typeface="Helvetica" pitchFamily="2" charset="0"/>
              </a:rPr>
              <a:t>widespread use in </a:t>
            </a:r>
            <a:r>
              <a:rPr lang="en-GB" sz="1600" dirty="0">
                <a:solidFill>
                  <a:srgbClr val="C00000"/>
                </a:solidFill>
                <a:latin typeface="Helvetica" pitchFamily="2" charset="0"/>
              </a:rPr>
              <a:t>bottles and containers</a:t>
            </a:r>
            <a:r>
              <a:rPr lang="en-GB" sz="1600" dirty="0">
                <a:latin typeface="Helvetica" pitchFamily="2" charset="0"/>
              </a:rPr>
              <a:t>; </a:t>
            </a:r>
            <a:r>
              <a:rPr lang="en-GB" sz="1600" dirty="0">
                <a:solidFill>
                  <a:srgbClr val="C00000"/>
                </a:solidFill>
                <a:latin typeface="Helvetica" pitchFamily="2" charset="0"/>
              </a:rPr>
              <a:t>easy to sort, clean, and reprocess</a:t>
            </a:r>
            <a:r>
              <a:rPr lang="en-GB" sz="1600" dirty="0">
                <a:latin typeface="Helvetica" pitchFamily="2" charset="0"/>
              </a:rPr>
              <a:t> into high-quality recycled materials</a:t>
            </a:r>
          </a:p>
        </p:txBody>
      </p:sp>
      <p:sp>
        <p:nvSpPr>
          <p:cNvPr id="18" name="TextBox 17">
            <a:extLst>
              <a:ext uri="{FF2B5EF4-FFF2-40B4-BE49-F238E27FC236}">
                <a16:creationId xmlns:a16="http://schemas.microsoft.com/office/drawing/2014/main" id="{49DD7153-3F03-51EE-2529-A62092C86EC1}"/>
              </a:ext>
            </a:extLst>
          </p:cNvPr>
          <p:cNvSpPr txBox="1"/>
          <p:nvPr/>
        </p:nvSpPr>
        <p:spPr>
          <a:xfrm>
            <a:off x="99165" y="3719566"/>
            <a:ext cx="5459805" cy="2708434"/>
          </a:xfrm>
          <a:prstGeom prst="rect">
            <a:avLst/>
          </a:prstGeom>
          <a:solidFill>
            <a:srgbClr val="FDCEC1">
              <a:alpha val="45098"/>
            </a:srgbClr>
          </a:solidFill>
        </p:spPr>
        <p:txBody>
          <a:bodyPr wrap="square">
            <a:spAutoFit/>
          </a:bodyPr>
          <a:lstStyle/>
          <a:p>
            <a:pPr algn="just"/>
            <a:r>
              <a:rPr lang="en-GB" sz="1600" b="1" dirty="0">
                <a:latin typeface="Helvetica" pitchFamily="2" charset="0"/>
              </a:rPr>
              <a:t>PVC</a:t>
            </a:r>
          </a:p>
          <a:p>
            <a:pPr marL="285750" indent="-285750" algn="just">
              <a:buClr>
                <a:srgbClr val="C00000"/>
              </a:buClr>
              <a:buFont typeface="Arial" panose="020B0604020202020204" pitchFamily="34" charset="0"/>
              <a:buChar char="•"/>
            </a:pPr>
            <a:r>
              <a:rPr lang="en-GB" sz="1600" dirty="0">
                <a:latin typeface="Helvetica" pitchFamily="2" charset="0"/>
              </a:rPr>
              <a:t>contains several </a:t>
            </a:r>
            <a:r>
              <a:rPr lang="en-GB" sz="1600" dirty="0">
                <a:solidFill>
                  <a:srgbClr val="C00000"/>
                </a:solidFill>
                <a:latin typeface="Helvetica" pitchFamily="2" charset="0"/>
              </a:rPr>
              <a:t>chemical additives </a:t>
            </a:r>
            <a:r>
              <a:rPr lang="en-GB" sz="1600" dirty="0">
                <a:latin typeface="Helvetica" pitchFamily="2" charset="0"/>
              </a:rPr>
              <a:t>that can release toxic substances during processing (e.g. phthalates)</a:t>
            </a:r>
          </a:p>
          <a:p>
            <a:pPr marL="285750" indent="-285750" algn="just">
              <a:buClr>
                <a:srgbClr val="C00000"/>
              </a:buClr>
              <a:buFont typeface="Arial" panose="020B0604020202020204" pitchFamily="34" charset="0"/>
              <a:buChar char="•"/>
            </a:pPr>
            <a:r>
              <a:rPr lang="en-GB" sz="1600" dirty="0">
                <a:latin typeface="Helvetica" pitchFamily="2" charset="0"/>
              </a:rPr>
              <a:t>requires </a:t>
            </a:r>
            <a:r>
              <a:rPr lang="en-GB" sz="1600" dirty="0">
                <a:solidFill>
                  <a:srgbClr val="C00000"/>
                </a:solidFill>
                <a:latin typeface="Helvetica" pitchFamily="2" charset="0"/>
              </a:rPr>
              <a:t>complex separation and cleaning steps</a:t>
            </a:r>
            <a:r>
              <a:rPr lang="en-GB" sz="1600" dirty="0">
                <a:latin typeface="Helvetica" pitchFamily="2" charset="0"/>
              </a:rPr>
              <a:t>; costly and environmentally risky compared to other plastics.</a:t>
            </a:r>
          </a:p>
          <a:p>
            <a:pPr algn="just"/>
            <a:endParaRPr lang="en-GB" sz="1000" b="1" dirty="0">
              <a:latin typeface="Helvetica" pitchFamily="2" charset="0"/>
            </a:endParaRPr>
          </a:p>
          <a:p>
            <a:pPr algn="just"/>
            <a:r>
              <a:rPr lang="en-GB" sz="1600" b="1" dirty="0">
                <a:latin typeface="Helvetica" pitchFamily="2" charset="0"/>
              </a:rPr>
              <a:t>PS</a:t>
            </a:r>
          </a:p>
          <a:p>
            <a:pPr marL="285750" indent="-285750" algn="just">
              <a:buClr>
                <a:srgbClr val="C00000"/>
              </a:buClr>
              <a:buFont typeface="Arial" panose="020B0604020202020204" pitchFamily="34" charset="0"/>
              <a:buChar char="•"/>
            </a:pPr>
            <a:r>
              <a:rPr lang="en-GB" sz="1600" dirty="0">
                <a:latin typeface="Helvetica" pitchFamily="2" charset="0"/>
              </a:rPr>
              <a:t>lightweight but bulky = </a:t>
            </a:r>
            <a:r>
              <a:rPr lang="en-GB" sz="1600" dirty="0">
                <a:solidFill>
                  <a:srgbClr val="C00000"/>
                </a:solidFill>
                <a:latin typeface="Helvetica" pitchFamily="2" charset="0"/>
              </a:rPr>
              <a:t>inefficient transportation </a:t>
            </a:r>
          </a:p>
          <a:p>
            <a:pPr marL="285750" indent="-285750" algn="just">
              <a:buClr>
                <a:srgbClr val="C00000"/>
              </a:buClr>
              <a:buFont typeface="Arial" panose="020B0604020202020204" pitchFamily="34" charset="0"/>
              <a:buChar char="•"/>
            </a:pPr>
            <a:r>
              <a:rPr lang="en-GB" sz="1600" dirty="0">
                <a:latin typeface="Helvetica" pitchFamily="2" charset="0"/>
              </a:rPr>
              <a:t>tends to break into small fragments (microplastics)</a:t>
            </a:r>
          </a:p>
          <a:p>
            <a:pPr marL="285750" indent="-285750" algn="just">
              <a:buClr>
                <a:srgbClr val="C00000"/>
              </a:buClr>
              <a:buFont typeface="Arial" panose="020B0604020202020204" pitchFamily="34" charset="0"/>
              <a:buChar char="•"/>
            </a:pPr>
            <a:r>
              <a:rPr lang="en-GB" sz="1600" dirty="0">
                <a:solidFill>
                  <a:srgbClr val="C00000"/>
                </a:solidFill>
                <a:latin typeface="Helvetica" pitchFamily="2" charset="0"/>
              </a:rPr>
              <a:t>often contaminated </a:t>
            </a:r>
            <a:r>
              <a:rPr lang="en-GB" sz="1600" dirty="0">
                <a:latin typeface="Helvetica" pitchFamily="2" charset="0"/>
              </a:rPr>
              <a:t>with food </a:t>
            </a:r>
          </a:p>
          <a:p>
            <a:pPr marL="285750" indent="-285750" algn="just">
              <a:buClr>
                <a:srgbClr val="C00000"/>
              </a:buClr>
              <a:buFont typeface="Arial" panose="020B0604020202020204" pitchFamily="34" charset="0"/>
              <a:buChar char="•"/>
            </a:pPr>
            <a:r>
              <a:rPr lang="en-GB" sz="1600" dirty="0">
                <a:solidFill>
                  <a:srgbClr val="C00000"/>
                </a:solidFill>
                <a:latin typeface="Helvetica" pitchFamily="2" charset="0"/>
              </a:rPr>
              <a:t>very low market value </a:t>
            </a:r>
            <a:r>
              <a:rPr lang="en-GB" sz="1600" dirty="0">
                <a:latin typeface="Helvetica" pitchFamily="2" charset="0"/>
              </a:rPr>
              <a:t>when recycled</a:t>
            </a:r>
            <a:endParaRPr lang="en-GB" sz="1600" b="1" dirty="0">
              <a:latin typeface="Helvetica" pitchFamily="2" charset="0"/>
            </a:endParaRPr>
          </a:p>
        </p:txBody>
      </p:sp>
    </p:spTree>
    <p:extLst>
      <p:ext uri="{BB962C8B-B14F-4D97-AF65-F5344CB8AC3E}">
        <p14:creationId xmlns:p14="http://schemas.microsoft.com/office/powerpoint/2010/main" val="1588029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06BC-B68F-10AB-995B-E6F4CDB5827D}"/>
            </a:ext>
          </a:extLst>
        </p:cNvPr>
        <p:cNvGrpSpPr/>
        <p:nvPr/>
      </p:nvGrpSpPr>
      <p:grpSpPr>
        <a:xfrm>
          <a:off x="0" y="0"/>
          <a:ext cx="0" cy="0"/>
          <a:chOff x="0" y="0"/>
          <a:chExt cx="0" cy="0"/>
        </a:xfrm>
      </p:grpSpPr>
      <p:pic>
        <p:nvPicPr>
          <p:cNvPr id="14340" name="Picture 4">
            <a:extLst>
              <a:ext uri="{FF2B5EF4-FFF2-40B4-BE49-F238E27FC236}">
                <a16:creationId xmlns:a16="http://schemas.microsoft.com/office/drawing/2014/main" id="{988D54F4-0E82-1714-6483-E93CAF4FB9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589"/>
          <a:stretch/>
        </p:blipFill>
        <p:spPr bwMode="auto">
          <a:xfrm>
            <a:off x="6371990" y="196326"/>
            <a:ext cx="5720845" cy="646534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26649D1D-55D8-1868-282C-42D623872431}"/>
              </a:ext>
            </a:extLst>
          </p:cNvPr>
          <p:cNvSpPr>
            <a:spLocks noGrp="1"/>
          </p:cNvSpPr>
          <p:nvPr>
            <p:ph type="title"/>
          </p:nvPr>
        </p:nvSpPr>
        <p:spPr>
          <a:xfrm>
            <a:off x="99165" y="127131"/>
            <a:ext cx="10515600" cy="505047"/>
          </a:xfrm>
        </p:spPr>
        <p:txBody>
          <a:bodyPr>
            <a:normAutofit fontScale="90000"/>
          </a:bodyPr>
          <a:lstStyle/>
          <a:p>
            <a:r>
              <a:rPr lang="en-US" sz="3200" b="1" dirty="0">
                <a:solidFill>
                  <a:srgbClr val="C00000"/>
                </a:solidFill>
                <a:latin typeface="Arial" panose="020B0604020202020204" pitchFamily="34" charset="0"/>
                <a:cs typeface="Arial" panose="020B0604020202020204" pitchFamily="34" charset="0"/>
              </a:rPr>
              <a:t>The reality of recycling</a:t>
            </a:r>
          </a:p>
        </p:txBody>
      </p:sp>
      <p:sp>
        <p:nvSpPr>
          <p:cNvPr id="3" name="TextBox 2">
            <a:extLst>
              <a:ext uri="{FF2B5EF4-FFF2-40B4-BE49-F238E27FC236}">
                <a16:creationId xmlns:a16="http://schemas.microsoft.com/office/drawing/2014/main" id="{4D221294-F54D-B615-2ABB-44BCADCFE220}"/>
              </a:ext>
            </a:extLst>
          </p:cNvPr>
          <p:cNvSpPr txBox="1"/>
          <p:nvPr/>
        </p:nvSpPr>
        <p:spPr>
          <a:xfrm>
            <a:off x="99165" y="909176"/>
            <a:ext cx="6121830" cy="461665"/>
          </a:xfrm>
          <a:prstGeom prst="rect">
            <a:avLst/>
          </a:prstGeom>
          <a:noFill/>
        </p:spPr>
        <p:txBody>
          <a:bodyPr wrap="square">
            <a:spAutoFit/>
          </a:bodyPr>
          <a:lstStyle/>
          <a:p>
            <a:pPr algn="ctr"/>
            <a:r>
              <a:rPr lang="en-GB" sz="2400" b="1" dirty="0"/>
              <a:t>Recyclable ≠ Recycled</a:t>
            </a:r>
            <a:endParaRPr lang="en-US" sz="2400" dirty="0"/>
          </a:p>
        </p:txBody>
      </p:sp>
      <p:sp>
        <p:nvSpPr>
          <p:cNvPr id="6" name="TextBox 5">
            <a:extLst>
              <a:ext uri="{FF2B5EF4-FFF2-40B4-BE49-F238E27FC236}">
                <a16:creationId xmlns:a16="http://schemas.microsoft.com/office/drawing/2014/main" id="{32A4B80E-6EFB-CE8D-1185-301AF343D419}"/>
              </a:ext>
            </a:extLst>
          </p:cNvPr>
          <p:cNvSpPr txBox="1"/>
          <p:nvPr/>
        </p:nvSpPr>
        <p:spPr>
          <a:xfrm>
            <a:off x="191626" y="1825051"/>
            <a:ext cx="6180364" cy="4524315"/>
          </a:xfrm>
          <a:prstGeom prst="rect">
            <a:avLst/>
          </a:prstGeom>
          <a:noFill/>
        </p:spPr>
        <p:txBody>
          <a:bodyPr wrap="square">
            <a:spAutoFit/>
          </a:bodyPr>
          <a:lstStyle/>
          <a:p>
            <a:pPr>
              <a:buNone/>
            </a:pPr>
            <a:r>
              <a:rPr lang="en-GB" dirty="0">
                <a:latin typeface="Helvetica" pitchFamily="2" charset="0"/>
              </a:rPr>
              <a:t>💸 </a:t>
            </a:r>
            <a:r>
              <a:rPr lang="en-GB" b="1" dirty="0">
                <a:latin typeface="Helvetica" pitchFamily="2" charset="0"/>
              </a:rPr>
              <a:t>Cost: </a:t>
            </a:r>
            <a:r>
              <a:rPr lang="en-GB" dirty="0">
                <a:latin typeface="Helvetica" pitchFamily="2" charset="0"/>
              </a:rPr>
              <a:t>Virgin plastic is often cheaper than recycled plastic, reducing demand for recycled plastics</a:t>
            </a:r>
          </a:p>
          <a:p>
            <a:pPr>
              <a:buNone/>
            </a:pPr>
            <a:endParaRPr lang="en-GB" dirty="0">
              <a:latin typeface="Helvetica" pitchFamily="2" charset="0"/>
            </a:endParaRPr>
          </a:p>
          <a:p>
            <a:pPr>
              <a:buNone/>
            </a:pPr>
            <a:r>
              <a:rPr lang="en-GB" dirty="0">
                <a:latin typeface="Helvetica" pitchFamily="2" charset="0"/>
              </a:rPr>
              <a:t>🛑 </a:t>
            </a:r>
            <a:r>
              <a:rPr lang="en-GB" b="1" dirty="0">
                <a:latin typeface="Helvetica" pitchFamily="2" charset="0"/>
              </a:rPr>
              <a:t>Infrastructure: </a:t>
            </a:r>
            <a:r>
              <a:rPr lang="en-GB" dirty="0">
                <a:latin typeface="Helvetica" pitchFamily="2" charset="0"/>
              </a:rPr>
              <a:t>Recycling systems vary widely</a:t>
            </a:r>
          </a:p>
          <a:p>
            <a:pPr>
              <a:buNone/>
            </a:pPr>
            <a:endParaRPr lang="en-GB" dirty="0">
              <a:latin typeface="Helvetica" pitchFamily="2" charset="0"/>
            </a:endParaRPr>
          </a:p>
          <a:p>
            <a:pPr>
              <a:buNone/>
            </a:pPr>
            <a:r>
              <a:rPr lang="en-GB" dirty="0">
                <a:latin typeface="Helvetica" pitchFamily="2" charset="0"/>
              </a:rPr>
              <a:t>🚢 </a:t>
            </a:r>
            <a:r>
              <a:rPr lang="en-GB" b="1" dirty="0">
                <a:latin typeface="Helvetica" pitchFamily="2" charset="0"/>
              </a:rPr>
              <a:t>Global waste trade: </a:t>
            </a:r>
            <a:r>
              <a:rPr lang="en-GB" dirty="0">
                <a:latin typeface="Helvetica" pitchFamily="2" charset="0"/>
              </a:rPr>
              <a:t>Wealthy nations (e.g. the UK!) export plastic waste overseas, where it may be poorly managed, burned, or dumped rather than recycled</a:t>
            </a:r>
          </a:p>
          <a:p>
            <a:pPr>
              <a:buNone/>
            </a:pPr>
            <a:endParaRPr lang="en-GB" dirty="0">
              <a:latin typeface="Helvetica" pitchFamily="2" charset="0"/>
            </a:endParaRPr>
          </a:p>
          <a:p>
            <a:pPr>
              <a:buNone/>
            </a:pPr>
            <a:r>
              <a:rPr lang="en-GB" dirty="0">
                <a:latin typeface="Helvetica" pitchFamily="2" charset="0"/>
              </a:rPr>
              <a:t>📜 </a:t>
            </a:r>
            <a:r>
              <a:rPr lang="en-GB" b="1" dirty="0">
                <a:latin typeface="Helvetica" pitchFamily="2" charset="0"/>
              </a:rPr>
              <a:t>Weak policy and regulation: </a:t>
            </a:r>
            <a:r>
              <a:rPr lang="en-GB" dirty="0">
                <a:latin typeface="Helvetica" pitchFamily="2" charset="0"/>
              </a:rPr>
              <a:t>Without strong legislation or incentives, recycling remains voluntary or economically unattractive for many industries</a:t>
            </a:r>
          </a:p>
          <a:p>
            <a:pPr>
              <a:buNone/>
            </a:pPr>
            <a:endParaRPr lang="en-GB" dirty="0">
              <a:latin typeface="Helvetica" pitchFamily="2" charset="0"/>
            </a:endParaRPr>
          </a:p>
          <a:p>
            <a:r>
              <a:rPr lang="en-GB" dirty="0">
                <a:latin typeface="Helvetica" pitchFamily="2" charset="0"/>
              </a:rPr>
              <a:t>🔥 </a:t>
            </a:r>
            <a:r>
              <a:rPr lang="en-GB" b="1" dirty="0">
                <a:latin typeface="Helvetica" pitchFamily="2" charset="0"/>
              </a:rPr>
              <a:t>Contamination: </a:t>
            </a:r>
            <a:r>
              <a:rPr lang="en-GB" dirty="0">
                <a:latin typeface="Helvetica" pitchFamily="2" charset="0"/>
              </a:rPr>
              <a:t>Mixed or dirty plastics are costly to clean and recycle, meaning much collected material is incinerated or landfilled instead</a:t>
            </a:r>
          </a:p>
        </p:txBody>
      </p:sp>
    </p:spTree>
    <p:extLst>
      <p:ext uri="{BB962C8B-B14F-4D97-AF65-F5344CB8AC3E}">
        <p14:creationId xmlns:p14="http://schemas.microsoft.com/office/powerpoint/2010/main" val="831508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30A2D-0890-E00A-CF74-214C1238CDD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819EB9D-ACFC-A8E0-7C2F-833799259C0B}"/>
              </a:ext>
            </a:extLst>
          </p:cNvPr>
          <p:cNvSpPr>
            <a:spLocks noGrp="1"/>
          </p:cNvSpPr>
          <p:nvPr>
            <p:ph type="title"/>
          </p:nvPr>
        </p:nvSpPr>
        <p:spPr>
          <a:xfrm>
            <a:off x="99165" y="127131"/>
            <a:ext cx="10515600" cy="505047"/>
          </a:xfrm>
        </p:spPr>
        <p:txBody>
          <a:bodyPr>
            <a:normAutofit fontScale="90000"/>
          </a:bodyPr>
          <a:lstStyle/>
          <a:p>
            <a:r>
              <a:rPr lang="en-US" sz="3200" b="1" dirty="0">
                <a:solidFill>
                  <a:srgbClr val="C00000"/>
                </a:solidFill>
                <a:latin typeface="Arial" panose="020B0604020202020204" pitchFamily="34" charset="0"/>
                <a:cs typeface="Arial" panose="020B0604020202020204" pitchFamily="34" charset="0"/>
              </a:rPr>
              <a:t>The reality of recycling</a:t>
            </a:r>
          </a:p>
        </p:txBody>
      </p:sp>
      <p:pic>
        <p:nvPicPr>
          <p:cNvPr id="17412" name="Picture 4" descr="Infographic showing structure and recycling rates of plastic types one through six.">
            <a:extLst>
              <a:ext uri="{FF2B5EF4-FFF2-40B4-BE49-F238E27FC236}">
                <a16:creationId xmlns:a16="http://schemas.microsoft.com/office/drawing/2014/main" id="{B135598D-D247-D0B9-656F-C3FB1841CE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11" b="49933"/>
          <a:stretch/>
        </p:blipFill>
        <p:spPr bwMode="auto">
          <a:xfrm>
            <a:off x="1491515" y="1467642"/>
            <a:ext cx="3865450" cy="455962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Infographic showing structure and recycling rates of plastic types one through six.">
            <a:extLst>
              <a:ext uri="{FF2B5EF4-FFF2-40B4-BE49-F238E27FC236}">
                <a16:creationId xmlns:a16="http://schemas.microsoft.com/office/drawing/2014/main" id="{F188F26E-91A1-D780-7B54-C0DE96D4A4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621"/>
          <a:stretch/>
        </p:blipFill>
        <p:spPr bwMode="auto">
          <a:xfrm>
            <a:off x="7137171" y="1274585"/>
            <a:ext cx="3865451" cy="476899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20E6681-A069-E701-721E-D1F52A2DAD4F}"/>
              </a:ext>
            </a:extLst>
          </p:cNvPr>
          <p:cNvSpPr txBox="1"/>
          <p:nvPr/>
        </p:nvSpPr>
        <p:spPr>
          <a:xfrm>
            <a:off x="1971582" y="6424727"/>
            <a:ext cx="8211669" cy="307777"/>
          </a:xfrm>
          <a:prstGeom prst="rect">
            <a:avLst/>
          </a:prstGeom>
          <a:noFill/>
        </p:spPr>
        <p:txBody>
          <a:bodyPr wrap="square">
            <a:spAutoFit/>
          </a:bodyPr>
          <a:lstStyle/>
          <a:p>
            <a:pPr algn="ctr"/>
            <a:r>
              <a:rPr lang="en-GB" sz="1400" b="0" i="0" dirty="0">
                <a:solidFill>
                  <a:srgbClr val="777777"/>
                </a:solidFill>
                <a:effectLst/>
                <a:latin typeface="Franklin ITC Light"/>
              </a:rPr>
              <a:t>Data from the US Environmental Protection Agency, are for the U.S. in 2012, published in 2014.</a:t>
            </a:r>
            <a:endParaRPr lang="en-US" sz="1400" dirty="0"/>
          </a:p>
        </p:txBody>
      </p:sp>
      <p:pic>
        <p:nvPicPr>
          <p:cNvPr id="8" name="Picture 4" descr="Phasing out hard-to-recycle and single-use plastics | Ministry for the  Environment">
            <a:extLst>
              <a:ext uri="{FF2B5EF4-FFF2-40B4-BE49-F238E27FC236}">
                <a16:creationId xmlns:a16="http://schemas.microsoft.com/office/drawing/2014/main" id="{C39DD4AE-6867-D441-1874-E8451DF5AA7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431" t="42157" r="90591" b="47089"/>
          <a:stretch/>
        </p:blipFill>
        <p:spPr bwMode="auto">
          <a:xfrm>
            <a:off x="664524" y="4747224"/>
            <a:ext cx="428214" cy="119557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Phasing out hard-to-recycle and single-use plastics | Ministry for the  Environment">
            <a:extLst>
              <a:ext uri="{FF2B5EF4-FFF2-40B4-BE49-F238E27FC236}">
                <a16:creationId xmlns:a16="http://schemas.microsoft.com/office/drawing/2014/main" id="{4A9D5DA3-9A2F-FCC8-5DDC-ABEAE24270C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17" t="20468" r="90486" b="58392"/>
          <a:stretch/>
        </p:blipFill>
        <p:spPr bwMode="auto">
          <a:xfrm>
            <a:off x="649480" y="1985068"/>
            <a:ext cx="487112" cy="241846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Phasing out hard-to-recycle and single-use plastics | Ministry for the  Environment">
            <a:extLst>
              <a:ext uri="{FF2B5EF4-FFF2-40B4-BE49-F238E27FC236}">
                <a16:creationId xmlns:a16="http://schemas.microsoft.com/office/drawing/2014/main" id="{D3425518-878C-11CE-7DAD-BC791E990F9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68" t="52766" r="90507" b="36925"/>
          <a:stretch/>
        </p:blipFill>
        <p:spPr bwMode="auto">
          <a:xfrm>
            <a:off x="6347925" y="1412000"/>
            <a:ext cx="487112" cy="114613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Phasing out hard-to-recycle and single-use plastics | Ministry for the  Environment">
            <a:extLst>
              <a:ext uri="{FF2B5EF4-FFF2-40B4-BE49-F238E27FC236}">
                <a16:creationId xmlns:a16="http://schemas.microsoft.com/office/drawing/2014/main" id="{C277ED28-FE1D-2C74-F855-C86D47ED00A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91" t="63685" r="90507" b="26604"/>
          <a:stretch/>
        </p:blipFill>
        <p:spPr bwMode="auto">
          <a:xfrm>
            <a:off x="6339614" y="3019757"/>
            <a:ext cx="495423" cy="107974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Phasing out hard-to-recycle and single-use plastics | Ministry for the  Environment">
            <a:extLst>
              <a:ext uri="{FF2B5EF4-FFF2-40B4-BE49-F238E27FC236}">
                <a16:creationId xmlns:a16="http://schemas.microsoft.com/office/drawing/2014/main" id="{572BA48E-CDE8-4660-3219-0BD1AC47467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431" t="42157" r="90591" b="47089"/>
          <a:stretch/>
        </p:blipFill>
        <p:spPr bwMode="auto">
          <a:xfrm>
            <a:off x="6339614" y="4561127"/>
            <a:ext cx="461819" cy="128939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Infographic showing structure and recycling rates of plastic types one through six.">
            <a:extLst>
              <a:ext uri="{FF2B5EF4-FFF2-40B4-BE49-F238E27FC236}">
                <a16:creationId xmlns:a16="http://schemas.microsoft.com/office/drawing/2014/main" id="{C5E1BC15-67D2-9854-3F2A-A464C10266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6878"/>
          <a:stretch/>
        </p:blipFill>
        <p:spPr bwMode="auto">
          <a:xfrm>
            <a:off x="299921" y="773345"/>
            <a:ext cx="3865450" cy="307777"/>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42C9931A-AB0D-FEAA-4611-A806FF707981}"/>
              </a:ext>
            </a:extLst>
          </p:cNvPr>
          <p:cNvGrpSpPr/>
          <p:nvPr/>
        </p:nvGrpSpPr>
        <p:grpSpPr>
          <a:xfrm>
            <a:off x="3424240" y="632178"/>
            <a:ext cx="7487182" cy="3375901"/>
            <a:chOff x="3424240" y="632178"/>
            <a:chExt cx="7487182" cy="3375901"/>
          </a:xfrm>
        </p:grpSpPr>
        <p:grpSp>
          <p:nvGrpSpPr>
            <p:cNvPr id="22" name="Group 21">
              <a:extLst>
                <a:ext uri="{FF2B5EF4-FFF2-40B4-BE49-F238E27FC236}">
                  <a16:creationId xmlns:a16="http://schemas.microsoft.com/office/drawing/2014/main" id="{6275911C-90C9-E380-DF6C-142CD76FD830}"/>
                </a:ext>
              </a:extLst>
            </p:cNvPr>
            <p:cNvGrpSpPr/>
            <p:nvPr/>
          </p:nvGrpSpPr>
          <p:grpSpPr>
            <a:xfrm>
              <a:off x="3424240" y="632178"/>
              <a:ext cx="1867490" cy="1841526"/>
              <a:chOff x="3450065" y="-1756958"/>
              <a:chExt cx="1867490" cy="1841526"/>
            </a:xfrm>
          </p:grpSpPr>
          <p:pic>
            <p:nvPicPr>
              <p:cNvPr id="21" name="Picture 4" descr="Infographic showing structure and recycling rates of plastic types one through six.">
                <a:extLst>
                  <a:ext uri="{FF2B5EF4-FFF2-40B4-BE49-F238E27FC236}">
                    <a16:creationId xmlns:a16="http://schemas.microsoft.com/office/drawing/2014/main" id="{85D3D327-FEB8-DCEA-25CA-BC913AB86C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254" t="3811" r="26568" b="88147"/>
              <a:stretch/>
            </p:blipFill>
            <p:spPr bwMode="auto">
              <a:xfrm>
                <a:off x="3450065" y="-1179340"/>
                <a:ext cx="1215833" cy="1235887"/>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F60D9757-9099-7745-B4DC-446CBD540F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350484">
                <a:off x="3476029" y="-1756958"/>
                <a:ext cx="1841526" cy="18415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23">
              <a:extLst>
                <a:ext uri="{FF2B5EF4-FFF2-40B4-BE49-F238E27FC236}">
                  <a16:creationId xmlns:a16="http://schemas.microsoft.com/office/drawing/2014/main" id="{8564F246-4AC8-5E4C-775B-F7138C010B58}"/>
                </a:ext>
              </a:extLst>
            </p:cNvPr>
            <p:cNvGrpSpPr/>
            <p:nvPr/>
          </p:nvGrpSpPr>
          <p:grpSpPr>
            <a:xfrm>
              <a:off x="3424240" y="2166553"/>
              <a:ext cx="1857004" cy="1841526"/>
              <a:chOff x="5599703" y="-1442058"/>
              <a:chExt cx="1857004" cy="1841526"/>
            </a:xfrm>
          </p:grpSpPr>
          <p:pic>
            <p:nvPicPr>
              <p:cNvPr id="23" name="Picture 4" descr="Infographic showing structure and recycling rates of plastic types one through six.">
                <a:extLst>
                  <a:ext uri="{FF2B5EF4-FFF2-40B4-BE49-F238E27FC236}">
                    <a16:creationId xmlns:a16="http://schemas.microsoft.com/office/drawing/2014/main" id="{3EFF00A8-045C-72BF-2716-B6681D8438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501" t="20478" r="28326" b="72100"/>
              <a:stretch/>
            </p:blipFill>
            <p:spPr bwMode="auto">
              <a:xfrm>
                <a:off x="5599703" y="-812019"/>
                <a:ext cx="1127063" cy="1112420"/>
              </a:xfrm>
              <a:prstGeom prst="ellipse">
                <a:avLst/>
              </a:prstGeom>
              <a:noFill/>
              <a:extLst>
                <a:ext uri="{909E8E84-426E-40DD-AFC4-6F175D3DCCD1}">
                  <a14:hiddenFill xmlns:a14="http://schemas.microsoft.com/office/drawing/2010/main">
                    <a:solidFill>
                      <a:srgbClr val="FFFFFF"/>
                    </a:solidFill>
                  </a14:hiddenFill>
                </a:ext>
              </a:extLst>
            </p:spPr>
          </p:pic>
          <p:pic>
            <p:nvPicPr>
              <p:cNvPr id="24578" name="Picture 2">
                <a:extLst>
                  <a:ext uri="{FF2B5EF4-FFF2-40B4-BE49-F238E27FC236}">
                    <a16:creationId xmlns:a16="http://schemas.microsoft.com/office/drawing/2014/main" id="{ABA11C28-A842-AD27-E66C-B3B584F32F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350484">
                <a:off x="5615181" y="-1442058"/>
                <a:ext cx="1841526" cy="18415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DD197EF1-5402-5824-B339-C1EF1B56BF92}"/>
                </a:ext>
              </a:extLst>
            </p:cNvPr>
            <p:cNvGrpSpPr/>
            <p:nvPr/>
          </p:nvGrpSpPr>
          <p:grpSpPr>
            <a:xfrm>
              <a:off x="9069896" y="2036636"/>
              <a:ext cx="1841526" cy="1841526"/>
              <a:chOff x="8149133" y="-2221036"/>
              <a:chExt cx="1841526" cy="1841526"/>
            </a:xfrm>
          </p:grpSpPr>
          <p:pic>
            <p:nvPicPr>
              <p:cNvPr id="25" name="Picture 4" descr="Infographic showing structure and recycling rates of plastic types one through six.">
                <a:extLst>
                  <a:ext uri="{FF2B5EF4-FFF2-40B4-BE49-F238E27FC236}">
                    <a16:creationId xmlns:a16="http://schemas.microsoft.com/office/drawing/2014/main" id="{57B8B743-78B3-27F3-FCC9-22481C816B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576" t="67269" r="26179" b="25167"/>
              <a:stretch/>
            </p:blipFill>
            <p:spPr bwMode="auto">
              <a:xfrm>
                <a:off x="8177173" y="-1619226"/>
                <a:ext cx="1155086" cy="1157738"/>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C9B75DD0-7C2A-BA81-D482-73BAB1918A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350484">
                <a:off x="8149133" y="-2221036"/>
                <a:ext cx="1841526" cy="1841526"/>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2" name="Rectangle 31">
            <a:extLst>
              <a:ext uri="{FF2B5EF4-FFF2-40B4-BE49-F238E27FC236}">
                <a16:creationId xmlns:a16="http://schemas.microsoft.com/office/drawing/2014/main" id="{842941CE-55E0-FAB1-5865-E678D7FD68D1}"/>
              </a:ext>
            </a:extLst>
          </p:cNvPr>
          <p:cNvSpPr/>
          <p:nvPr/>
        </p:nvSpPr>
        <p:spPr>
          <a:xfrm>
            <a:off x="228600" y="632178"/>
            <a:ext cx="11688879" cy="5831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graph of mass production&#10;&#10;AI-generated content may be incorrect.">
            <a:extLst>
              <a:ext uri="{FF2B5EF4-FFF2-40B4-BE49-F238E27FC236}">
                <a16:creationId xmlns:a16="http://schemas.microsoft.com/office/drawing/2014/main" id="{9505EAE0-E907-5AC6-374D-82E85BA79A50}"/>
              </a:ext>
            </a:extLst>
          </p:cNvPr>
          <p:cNvPicPr>
            <a:picLocks noChangeAspect="1"/>
          </p:cNvPicPr>
          <p:nvPr/>
        </p:nvPicPr>
        <p:blipFill>
          <a:blip r:embed="rId6"/>
          <a:stretch>
            <a:fillRect/>
          </a:stretch>
        </p:blipFill>
        <p:spPr>
          <a:xfrm>
            <a:off x="1477038" y="671589"/>
            <a:ext cx="5905500" cy="5765800"/>
          </a:xfrm>
          <a:prstGeom prst="rect">
            <a:avLst/>
          </a:prstGeom>
        </p:spPr>
      </p:pic>
      <p:pic>
        <p:nvPicPr>
          <p:cNvPr id="31" name="Picture 30" descr="A graph of different colored bars&#10;&#10;AI-generated content may be incorrect.">
            <a:extLst>
              <a:ext uri="{FF2B5EF4-FFF2-40B4-BE49-F238E27FC236}">
                <a16:creationId xmlns:a16="http://schemas.microsoft.com/office/drawing/2014/main" id="{FF099491-6D59-FD55-E076-47D081DEE087}"/>
              </a:ext>
            </a:extLst>
          </p:cNvPr>
          <p:cNvPicPr>
            <a:picLocks noChangeAspect="1"/>
          </p:cNvPicPr>
          <p:nvPr/>
        </p:nvPicPr>
        <p:blipFill>
          <a:blip r:embed="rId7"/>
          <a:srcRect l="4802"/>
          <a:stretch/>
        </p:blipFill>
        <p:spPr>
          <a:xfrm>
            <a:off x="7516731" y="1042304"/>
            <a:ext cx="3264340" cy="5308600"/>
          </a:xfrm>
          <a:prstGeom prst="rect">
            <a:avLst/>
          </a:prstGeom>
        </p:spPr>
      </p:pic>
    </p:spTree>
    <p:extLst>
      <p:ext uri="{BB962C8B-B14F-4D97-AF65-F5344CB8AC3E}">
        <p14:creationId xmlns:p14="http://schemas.microsoft.com/office/powerpoint/2010/main" val="298275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84C9B-2ADE-D843-0CC3-7571D153F9E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D390C62-4E02-36F8-73EC-D5B281A5DE46}"/>
              </a:ext>
            </a:extLst>
          </p:cNvPr>
          <p:cNvSpPr>
            <a:spLocks noGrp="1"/>
          </p:cNvSpPr>
          <p:nvPr>
            <p:ph type="title"/>
          </p:nvPr>
        </p:nvSpPr>
        <p:spPr>
          <a:xfrm>
            <a:off x="99165" y="127131"/>
            <a:ext cx="10515600" cy="687062"/>
          </a:xfrm>
        </p:spPr>
        <p:txBody>
          <a:bodyPr>
            <a:normAutofit/>
          </a:bodyPr>
          <a:lstStyle/>
          <a:p>
            <a:r>
              <a:rPr lang="en-US" sz="3200" b="1" dirty="0">
                <a:solidFill>
                  <a:srgbClr val="C00000"/>
                </a:solidFill>
                <a:latin typeface="Arial" panose="020B0604020202020204" pitchFamily="34" charset="0"/>
                <a:cs typeface="Arial" panose="020B0604020202020204" pitchFamily="34" charset="0"/>
              </a:rPr>
              <a:t>What happens to it?</a:t>
            </a:r>
          </a:p>
        </p:txBody>
      </p:sp>
      <p:pic>
        <p:nvPicPr>
          <p:cNvPr id="14342" name="Picture 6" descr="Expanding plastics recycling technologies: chemical aspects, technology  status and challenges - Green Chemistry (RSC Publishing)  DOI:10.1039/D2GC02588D">
            <a:extLst>
              <a:ext uri="{FF2B5EF4-FFF2-40B4-BE49-F238E27FC236}">
                <a16:creationId xmlns:a16="http://schemas.microsoft.com/office/drawing/2014/main" id="{CA744024-0315-9472-2A73-93C47C6E3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65" y="1547567"/>
            <a:ext cx="11785800" cy="467288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collage of images of various professions&#10;&#10;AI-generated content may be incorrect.">
            <a:extLst>
              <a:ext uri="{FF2B5EF4-FFF2-40B4-BE49-F238E27FC236}">
                <a16:creationId xmlns:a16="http://schemas.microsoft.com/office/drawing/2014/main" id="{2A65F18D-C08E-D0A2-7C27-CE88F55F689C}"/>
              </a:ext>
            </a:extLst>
          </p:cNvPr>
          <p:cNvPicPr>
            <a:picLocks noChangeAspect="1"/>
          </p:cNvPicPr>
          <p:nvPr/>
        </p:nvPicPr>
        <p:blipFill>
          <a:blip r:embed="rId3"/>
          <a:srcRect l="2627" t="15636" r="76462" b="66739"/>
          <a:stretch/>
        </p:blipFill>
        <p:spPr>
          <a:xfrm>
            <a:off x="10056165" y="165231"/>
            <a:ext cx="1905000" cy="762000"/>
          </a:xfrm>
          <a:prstGeom prst="rect">
            <a:avLst/>
          </a:prstGeom>
        </p:spPr>
      </p:pic>
      <p:sp>
        <p:nvSpPr>
          <p:cNvPr id="5" name="TextBox 4">
            <a:extLst>
              <a:ext uri="{FF2B5EF4-FFF2-40B4-BE49-F238E27FC236}">
                <a16:creationId xmlns:a16="http://schemas.microsoft.com/office/drawing/2014/main" id="{8B2D2AF0-CEFC-39AB-D061-3243678D9620}"/>
              </a:ext>
            </a:extLst>
          </p:cNvPr>
          <p:cNvSpPr txBox="1"/>
          <p:nvPr/>
        </p:nvSpPr>
        <p:spPr>
          <a:xfrm>
            <a:off x="5429250" y="6414133"/>
            <a:ext cx="6762750" cy="369332"/>
          </a:xfrm>
          <a:prstGeom prst="rect">
            <a:avLst/>
          </a:prstGeom>
          <a:noFill/>
        </p:spPr>
        <p:txBody>
          <a:bodyPr wrap="square">
            <a:spAutoFit/>
          </a:bodyPr>
          <a:lstStyle/>
          <a:p>
            <a:r>
              <a:rPr lang="en-GB" b="0" i="0" dirty="0">
                <a:effectLst/>
                <a:latin typeface="Source Sans Pro" panose="020B0503030403020204" pitchFamily="34" charset="0"/>
              </a:rPr>
              <a:t>Li et al (2022) DOI: </a:t>
            </a:r>
            <a:r>
              <a:rPr lang="en-GB" b="0" i="0" dirty="0">
                <a:solidFill>
                  <a:srgbClr val="007AAF"/>
                </a:solidFill>
                <a:effectLst/>
                <a:latin typeface="Source Sans Pro" panose="020B0503030403020204" pitchFamily="34" charset="0"/>
                <a:hlinkClick r:id="rId4" tooltip="Link to landing page via DOI"/>
              </a:rPr>
              <a:t>10.1039/D2GC02588D</a:t>
            </a:r>
            <a:r>
              <a:rPr lang="en-GB" b="0" i="0" dirty="0">
                <a:effectLst/>
                <a:latin typeface="Source Sans Pro" panose="020B0503030403020204" pitchFamily="34" charset="0"/>
              </a:rPr>
              <a:t> </a:t>
            </a:r>
            <a:r>
              <a:rPr lang="en-GB" b="0" i="1" dirty="0">
                <a:solidFill>
                  <a:srgbClr val="007AAF"/>
                </a:solidFill>
                <a:effectLst/>
                <a:latin typeface="Source Sans Pro" panose="020B0503030403020204" pitchFamily="34" charset="0"/>
                <a:hlinkClick r:id="rId5" tooltip="Link to journal home page"/>
              </a:rPr>
              <a:t>Green Chem.</a:t>
            </a:r>
            <a:r>
              <a:rPr lang="en-GB" b="0" i="0" dirty="0">
                <a:effectLst/>
                <a:latin typeface="Source Sans Pro" panose="020B0503030403020204" pitchFamily="34" charset="0"/>
              </a:rPr>
              <a:t>, </a:t>
            </a:r>
            <a:r>
              <a:rPr lang="en-GB" b="1" i="0" dirty="0">
                <a:effectLst/>
                <a:latin typeface="Source Sans Pro" panose="020B0503030403020204" pitchFamily="34" charset="0"/>
              </a:rPr>
              <a:t>24</a:t>
            </a:r>
            <a:r>
              <a:rPr lang="en-GB" b="0" i="0" dirty="0">
                <a:effectLst/>
                <a:latin typeface="Source Sans Pro" panose="020B0503030403020204" pitchFamily="34" charset="0"/>
              </a:rPr>
              <a:t>, 8899-9002</a:t>
            </a:r>
            <a:endParaRPr lang="en-US" dirty="0"/>
          </a:p>
        </p:txBody>
      </p:sp>
    </p:spTree>
    <p:extLst>
      <p:ext uri="{BB962C8B-B14F-4D97-AF65-F5344CB8AC3E}">
        <p14:creationId xmlns:p14="http://schemas.microsoft.com/office/powerpoint/2010/main" val="2313899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7B2DAEB-4DA8-5D67-6692-5C3068A74F21}"/>
              </a:ext>
            </a:extLst>
          </p:cNvPr>
          <p:cNvSpPr txBox="1">
            <a:spLocks/>
          </p:cNvSpPr>
          <p:nvPr/>
        </p:nvSpPr>
        <p:spPr>
          <a:xfrm>
            <a:off x="99165" y="127131"/>
            <a:ext cx="10515600" cy="6870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The Great Pacific Garbage Patch</a:t>
            </a:r>
          </a:p>
        </p:txBody>
      </p:sp>
      <p:pic>
        <p:nvPicPr>
          <p:cNvPr id="7" name="Picture 6" descr="A map of the pacific ocean&#10;&#10;AI-generated content may be incorrect.">
            <a:extLst>
              <a:ext uri="{FF2B5EF4-FFF2-40B4-BE49-F238E27FC236}">
                <a16:creationId xmlns:a16="http://schemas.microsoft.com/office/drawing/2014/main" id="{DED2FD4E-0C3B-D99D-9FB6-5D48BBEB6E81}"/>
              </a:ext>
            </a:extLst>
          </p:cNvPr>
          <p:cNvPicPr>
            <a:picLocks noChangeAspect="1"/>
          </p:cNvPicPr>
          <p:nvPr/>
        </p:nvPicPr>
        <p:blipFill>
          <a:blip r:embed="rId2"/>
          <a:stretch>
            <a:fillRect/>
          </a:stretch>
        </p:blipFill>
        <p:spPr>
          <a:xfrm>
            <a:off x="99165" y="977478"/>
            <a:ext cx="7772400" cy="5193580"/>
          </a:xfrm>
          <a:prstGeom prst="rect">
            <a:avLst/>
          </a:prstGeom>
        </p:spPr>
      </p:pic>
      <p:pic>
        <p:nvPicPr>
          <p:cNvPr id="18434" name="Picture 2" descr="300-Mile Swim Through The Great Pacific Garbage Patch Will ...">
            <a:extLst>
              <a:ext uri="{FF2B5EF4-FFF2-40B4-BE49-F238E27FC236}">
                <a16:creationId xmlns:a16="http://schemas.microsoft.com/office/drawing/2014/main" id="{EE39B001-A820-564B-EF9B-6703BF4FA5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551" y="2150219"/>
            <a:ext cx="7425255" cy="4580650"/>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descr="Plastic Debris">
            <a:extLst>
              <a:ext uri="{FF2B5EF4-FFF2-40B4-BE49-F238E27FC236}">
                <a16:creationId xmlns:a16="http://schemas.microsoft.com/office/drawing/2014/main" id="{BFDE0519-6FBC-790F-D9AD-05A896CC8C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7757" y="891427"/>
            <a:ext cx="5496049" cy="3706358"/>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Microplastics">
            <a:extLst>
              <a:ext uri="{FF2B5EF4-FFF2-40B4-BE49-F238E27FC236}">
                <a16:creationId xmlns:a16="http://schemas.microsoft.com/office/drawing/2014/main" id="{B1A96BD0-F1E9-5D64-7FD9-E2AE5C6931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225" y="2174163"/>
            <a:ext cx="5496049" cy="37063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National-Geographic-Logo |">
            <a:extLst>
              <a:ext uri="{FF2B5EF4-FFF2-40B4-BE49-F238E27FC236}">
                <a16:creationId xmlns:a16="http://schemas.microsoft.com/office/drawing/2014/main" id="{033EEB9E-41EC-0C7B-D6D5-210955A773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4754" y="0"/>
            <a:ext cx="1367246" cy="61739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8B0FC8C-8D3A-C8DD-984F-66721E6B67B0}"/>
              </a:ext>
            </a:extLst>
          </p:cNvPr>
          <p:cNvSpPr txBox="1"/>
          <p:nvPr/>
        </p:nvSpPr>
        <p:spPr>
          <a:xfrm>
            <a:off x="8167908" y="429762"/>
            <a:ext cx="2358338" cy="461665"/>
          </a:xfrm>
          <a:prstGeom prst="rect">
            <a:avLst/>
          </a:prstGeom>
          <a:noFill/>
        </p:spPr>
        <p:txBody>
          <a:bodyPr wrap="none" rtlCol="0">
            <a:spAutoFit/>
          </a:bodyPr>
          <a:lstStyle/>
          <a:p>
            <a:r>
              <a:rPr lang="en-US" sz="2400" b="1" i="1" dirty="0">
                <a:solidFill>
                  <a:srgbClr val="C00000"/>
                </a:solidFill>
                <a:latin typeface="Helvetica" pitchFamily="2" charset="0"/>
              </a:rPr>
              <a:t>macro-</a:t>
            </a:r>
            <a:r>
              <a:rPr lang="en-US" sz="2400" b="1" dirty="0">
                <a:solidFill>
                  <a:srgbClr val="C00000"/>
                </a:solidFill>
                <a:latin typeface="Helvetica" pitchFamily="2" charset="0"/>
              </a:rPr>
              <a:t>plastics</a:t>
            </a:r>
          </a:p>
        </p:txBody>
      </p:sp>
      <p:sp>
        <p:nvSpPr>
          <p:cNvPr id="10" name="TextBox 9">
            <a:extLst>
              <a:ext uri="{FF2B5EF4-FFF2-40B4-BE49-F238E27FC236}">
                <a16:creationId xmlns:a16="http://schemas.microsoft.com/office/drawing/2014/main" id="{200B0234-7F1A-3167-7305-9090187ECF7B}"/>
              </a:ext>
            </a:extLst>
          </p:cNvPr>
          <p:cNvSpPr txBox="1"/>
          <p:nvPr/>
        </p:nvSpPr>
        <p:spPr>
          <a:xfrm>
            <a:off x="2487192" y="2174163"/>
            <a:ext cx="2358338" cy="461665"/>
          </a:xfrm>
          <a:prstGeom prst="rect">
            <a:avLst/>
          </a:prstGeom>
          <a:solidFill>
            <a:schemeClr val="bg1"/>
          </a:solidFill>
        </p:spPr>
        <p:txBody>
          <a:bodyPr wrap="none" rtlCol="0">
            <a:spAutoFit/>
          </a:bodyPr>
          <a:lstStyle/>
          <a:p>
            <a:pPr algn="ctr"/>
            <a:r>
              <a:rPr lang="en-US" sz="2400" b="1" i="1" dirty="0">
                <a:solidFill>
                  <a:srgbClr val="C00000"/>
                </a:solidFill>
                <a:latin typeface="Helvetica" pitchFamily="2" charset="0"/>
              </a:rPr>
              <a:t>micro-</a:t>
            </a:r>
            <a:r>
              <a:rPr lang="en-US" sz="2400" b="1" dirty="0">
                <a:solidFill>
                  <a:srgbClr val="C00000"/>
                </a:solidFill>
                <a:latin typeface="Helvetica" pitchFamily="2" charset="0"/>
              </a:rPr>
              <a:t>plastics</a:t>
            </a:r>
          </a:p>
        </p:txBody>
      </p:sp>
    </p:spTree>
    <p:extLst>
      <p:ext uri="{BB962C8B-B14F-4D97-AF65-F5344CB8AC3E}">
        <p14:creationId xmlns:p14="http://schemas.microsoft.com/office/powerpoint/2010/main" val="27519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4" descr="figure 4">
            <a:extLst>
              <a:ext uri="{FF2B5EF4-FFF2-40B4-BE49-F238E27FC236}">
                <a16:creationId xmlns:a16="http://schemas.microsoft.com/office/drawing/2014/main" id="{C75AC220-504A-8675-74C4-ABD768FC3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710" y="999970"/>
            <a:ext cx="6576623" cy="485806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70059ACB-5197-5513-A885-D21451865045}"/>
              </a:ext>
            </a:extLst>
          </p:cNvPr>
          <p:cNvSpPr txBox="1">
            <a:spLocks/>
          </p:cNvSpPr>
          <p:nvPr/>
        </p:nvSpPr>
        <p:spPr>
          <a:xfrm>
            <a:off x="99165" y="127131"/>
            <a:ext cx="10515600" cy="8728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Microplastics</a:t>
            </a:r>
          </a:p>
          <a:p>
            <a:r>
              <a:rPr lang="en-US" sz="2800" dirty="0">
                <a:solidFill>
                  <a:srgbClr val="C00000"/>
                </a:solidFill>
                <a:latin typeface="Arial" panose="020B0604020202020204" pitchFamily="34" charset="0"/>
                <a:cs typeface="Arial" panose="020B0604020202020204" pitchFamily="34" charset="0"/>
              </a:rPr>
              <a:t>&lt;5 mm</a:t>
            </a:r>
          </a:p>
        </p:txBody>
      </p:sp>
      <p:grpSp>
        <p:nvGrpSpPr>
          <p:cNvPr id="10" name="Group 9">
            <a:extLst>
              <a:ext uri="{FF2B5EF4-FFF2-40B4-BE49-F238E27FC236}">
                <a16:creationId xmlns:a16="http://schemas.microsoft.com/office/drawing/2014/main" id="{A7F79FCF-964A-CE15-D5C7-68768A84AFD4}"/>
              </a:ext>
            </a:extLst>
          </p:cNvPr>
          <p:cNvGrpSpPr/>
          <p:nvPr/>
        </p:nvGrpSpPr>
        <p:grpSpPr>
          <a:xfrm>
            <a:off x="7415870" y="175867"/>
            <a:ext cx="4676965" cy="1333592"/>
            <a:chOff x="7415870" y="108743"/>
            <a:chExt cx="4676965" cy="1333592"/>
          </a:xfrm>
        </p:grpSpPr>
        <p:pic>
          <p:nvPicPr>
            <p:cNvPr id="8" name="Picture 7" descr="A screenshot of a computer&#10;&#10;AI-generated content may be incorrect.">
              <a:extLst>
                <a:ext uri="{FF2B5EF4-FFF2-40B4-BE49-F238E27FC236}">
                  <a16:creationId xmlns:a16="http://schemas.microsoft.com/office/drawing/2014/main" id="{8BF9DB0D-0D19-16BF-0558-89D433493302}"/>
                </a:ext>
              </a:extLst>
            </p:cNvPr>
            <p:cNvPicPr>
              <a:picLocks noChangeAspect="1"/>
            </p:cNvPicPr>
            <p:nvPr/>
          </p:nvPicPr>
          <p:blipFill>
            <a:blip r:embed="rId3"/>
            <a:stretch>
              <a:fillRect/>
            </a:stretch>
          </p:blipFill>
          <p:spPr>
            <a:xfrm>
              <a:off x="7415870" y="108743"/>
              <a:ext cx="4676965" cy="1333592"/>
            </a:xfrm>
            <a:prstGeom prst="rect">
              <a:avLst/>
            </a:prstGeom>
          </p:spPr>
        </p:pic>
        <p:sp>
          <p:nvSpPr>
            <p:cNvPr id="9" name="TextBox 8">
              <a:extLst>
                <a:ext uri="{FF2B5EF4-FFF2-40B4-BE49-F238E27FC236}">
                  <a16:creationId xmlns:a16="http://schemas.microsoft.com/office/drawing/2014/main" id="{B8E88C9C-FF5D-E425-8F2E-0DB96A9DF19C}"/>
                </a:ext>
              </a:extLst>
            </p:cNvPr>
            <p:cNvSpPr txBox="1"/>
            <p:nvPr/>
          </p:nvSpPr>
          <p:spPr>
            <a:xfrm>
              <a:off x="10550425" y="1134558"/>
              <a:ext cx="1542410" cy="307777"/>
            </a:xfrm>
            <a:prstGeom prst="rect">
              <a:avLst/>
            </a:prstGeom>
            <a:noFill/>
          </p:spPr>
          <p:txBody>
            <a:bodyPr wrap="none" rtlCol="0">
              <a:spAutoFit/>
            </a:bodyPr>
            <a:lstStyle/>
            <a:p>
              <a:r>
                <a:rPr lang="en-US" sz="1400" dirty="0">
                  <a:solidFill>
                    <a:schemeClr val="bg1"/>
                  </a:solidFill>
                </a:rPr>
                <a:t>Osman et al 2023</a:t>
              </a:r>
            </a:p>
          </p:txBody>
        </p:sp>
      </p:grpSp>
      <p:sp>
        <p:nvSpPr>
          <p:cNvPr id="12" name="TextBox 11">
            <a:extLst>
              <a:ext uri="{FF2B5EF4-FFF2-40B4-BE49-F238E27FC236}">
                <a16:creationId xmlns:a16="http://schemas.microsoft.com/office/drawing/2014/main" id="{72CC8D49-E0C1-7769-C04E-A0216CF39F7D}"/>
              </a:ext>
            </a:extLst>
          </p:cNvPr>
          <p:cNvSpPr txBox="1"/>
          <p:nvPr/>
        </p:nvSpPr>
        <p:spPr>
          <a:xfrm>
            <a:off x="7415870" y="2322622"/>
            <a:ext cx="4676965" cy="2862322"/>
          </a:xfrm>
          <a:prstGeom prst="rect">
            <a:avLst/>
          </a:prstGeom>
          <a:noFill/>
        </p:spPr>
        <p:txBody>
          <a:bodyPr wrap="square">
            <a:spAutoFit/>
          </a:bodyPr>
          <a:lstStyle/>
          <a:p>
            <a:r>
              <a:rPr lang="en-GB" dirty="0">
                <a:latin typeface="Helvetica" pitchFamily="2" charset="0"/>
              </a:rPr>
              <a:t>Microplastics </a:t>
            </a:r>
            <a:r>
              <a:rPr lang="en-GB" b="1" dirty="0">
                <a:latin typeface="Helvetica" pitchFamily="2" charset="0"/>
              </a:rPr>
              <a:t>mainly come from land-based sources (80–90%) </a:t>
            </a:r>
            <a:r>
              <a:rPr lang="en-GB" dirty="0">
                <a:latin typeface="Helvetica" pitchFamily="2" charset="0"/>
              </a:rPr>
              <a:t>like urban runoff, wastewater, and industrial activities, while </a:t>
            </a:r>
            <a:r>
              <a:rPr lang="en-GB" b="1" dirty="0">
                <a:latin typeface="Helvetica" pitchFamily="2" charset="0"/>
              </a:rPr>
              <a:t>ocean-based sources</a:t>
            </a:r>
            <a:r>
              <a:rPr lang="en-GB" dirty="0">
                <a:latin typeface="Helvetica" pitchFamily="2" charset="0"/>
              </a:rPr>
              <a:t> (e.g., fishing activities)</a:t>
            </a:r>
            <a:r>
              <a:rPr lang="en-GB" b="1" dirty="0">
                <a:latin typeface="Helvetica" pitchFamily="2" charset="0"/>
              </a:rPr>
              <a:t> account for only 10–20%</a:t>
            </a:r>
          </a:p>
          <a:p>
            <a:endParaRPr lang="en-GB" sz="1400" dirty="0">
              <a:latin typeface="Helvetica" pitchFamily="2" charset="0"/>
            </a:endParaRPr>
          </a:p>
          <a:p>
            <a:endParaRPr lang="en-GB" dirty="0">
              <a:latin typeface="Helvetica" pitchFamily="2" charset="0"/>
            </a:endParaRPr>
          </a:p>
          <a:p>
            <a:r>
              <a:rPr lang="en-GB" dirty="0">
                <a:latin typeface="Helvetica" pitchFamily="2" charset="0"/>
              </a:rPr>
              <a:t>They are categorized into </a:t>
            </a:r>
            <a:r>
              <a:rPr lang="en-GB" i="1" dirty="0">
                <a:solidFill>
                  <a:srgbClr val="C00000"/>
                </a:solidFill>
                <a:latin typeface="Helvetica" pitchFamily="2" charset="0"/>
              </a:rPr>
              <a:t>primary</a:t>
            </a:r>
            <a:r>
              <a:rPr lang="en-GB" dirty="0">
                <a:latin typeface="Helvetica" pitchFamily="2" charset="0"/>
              </a:rPr>
              <a:t> (e.g., microbeads in cosmetics) and </a:t>
            </a:r>
            <a:r>
              <a:rPr lang="en-GB" i="1" dirty="0">
                <a:solidFill>
                  <a:srgbClr val="C00000"/>
                </a:solidFill>
                <a:latin typeface="Helvetica" pitchFamily="2" charset="0"/>
              </a:rPr>
              <a:t>secondary</a:t>
            </a:r>
            <a:r>
              <a:rPr lang="en-GB" dirty="0">
                <a:solidFill>
                  <a:srgbClr val="C00000"/>
                </a:solidFill>
                <a:latin typeface="Helvetica" pitchFamily="2" charset="0"/>
              </a:rPr>
              <a:t> </a:t>
            </a:r>
            <a:r>
              <a:rPr lang="en-GB" dirty="0">
                <a:latin typeface="Helvetica" pitchFamily="2" charset="0"/>
              </a:rPr>
              <a:t>microplastics (breakdown of larger plastics)</a:t>
            </a:r>
            <a:endParaRPr lang="en-US" dirty="0">
              <a:latin typeface="Helvetica" pitchFamily="2" charset="0"/>
            </a:endParaRPr>
          </a:p>
        </p:txBody>
      </p:sp>
      <p:sp>
        <p:nvSpPr>
          <p:cNvPr id="13" name="TextBox 12">
            <a:extLst>
              <a:ext uri="{FF2B5EF4-FFF2-40B4-BE49-F238E27FC236}">
                <a16:creationId xmlns:a16="http://schemas.microsoft.com/office/drawing/2014/main" id="{4CC23BA6-2011-F99D-2FBF-41987590A631}"/>
              </a:ext>
            </a:extLst>
          </p:cNvPr>
          <p:cNvSpPr txBox="1"/>
          <p:nvPr/>
        </p:nvSpPr>
        <p:spPr>
          <a:xfrm>
            <a:off x="5101369" y="6220468"/>
            <a:ext cx="6991466" cy="461665"/>
          </a:xfrm>
          <a:prstGeom prst="rect">
            <a:avLst/>
          </a:prstGeom>
          <a:noFill/>
        </p:spPr>
        <p:txBody>
          <a:bodyPr wrap="none" rtlCol="0">
            <a:spAutoFit/>
          </a:bodyPr>
          <a:lstStyle/>
          <a:p>
            <a:r>
              <a:rPr lang="en-US" sz="2400" dirty="0"/>
              <a:t>They are highly mobile; we find them </a:t>
            </a:r>
            <a:r>
              <a:rPr lang="en-US" sz="2400" b="1" dirty="0">
                <a:latin typeface="Helvetica" pitchFamily="2" charset="0"/>
              </a:rPr>
              <a:t>everywhere…</a:t>
            </a:r>
          </a:p>
        </p:txBody>
      </p:sp>
    </p:spTree>
    <p:extLst>
      <p:ext uri="{BB962C8B-B14F-4D97-AF65-F5344CB8AC3E}">
        <p14:creationId xmlns:p14="http://schemas.microsoft.com/office/powerpoint/2010/main" val="677013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F3B4B-6DB2-3AC2-046B-43AB0A2FA60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6ACE399-C279-5F58-C91E-F1CA099E4F90}"/>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Microplastics are ubiquitous</a:t>
            </a:r>
          </a:p>
        </p:txBody>
      </p:sp>
      <p:sp>
        <p:nvSpPr>
          <p:cNvPr id="5" name="TextBox 4">
            <a:extLst>
              <a:ext uri="{FF2B5EF4-FFF2-40B4-BE49-F238E27FC236}">
                <a16:creationId xmlns:a16="http://schemas.microsoft.com/office/drawing/2014/main" id="{6EC27F60-2DF5-88AC-6575-68E36B4770E9}"/>
              </a:ext>
            </a:extLst>
          </p:cNvPr>
          <p:cNvSpPr txBox="1"/>
          <p:nvPr/>
        </p:nvSpPr>
        <p:spPr>
          <a:xfrm>
            <a:off x="557322" y="807791"/>
            <a:ext cx="11004331" cy="8679299"/>
          </a:xfrm>
          <a:prstGeom prst="rect">
            <a:avLst/>
          </a:prstGeom>
          <a:noFill/>
        </p:spPr>
        <p:txBody>
          <a:bodyPr wrap="square" numCol="2" spcCol="180000">
            <a:spAutoFit/>
          </a:bodyPr>
          <a:lstStyle/>
          <a:p>
            <a:pPr>
              <a:buNone/>
            </a:pPr>
            <a:r>
              <a:rPr lang="en-GB" dirty="0"/>
              <a:t>🌊 </a:t>
            </a:r>
            <a:r>
              <a:rPr lang="en-GB" b="1" dirty="0"/>
              <a:t>Oceans and Marine Environments</a:t>
            </a:r>
            <a:endParaRPr lang="en-GB" dirty="0"/>
          </a:p>
          <a:p>
            <a:pPr>
              <a:buFont typeface="Arial" panose="020B0604020202020204" pitchFamily="34" charset="0"/>
              <a:buChar char="•"/>
            </a:pPr>
            <a:r>
              <a:rPr lang="en-GB" dirty="0"/>
              <a:t>Surface waters</a:t>
            </a:r>
          </a:p>
          <a:p>
            <a:pPr>
              <a:buFont typeface="Arial" panose="020B0604020202020204" pitchFamily="34" charset="0"/>
              <a:buChar char="•"/>
            </a:pPr>
            <a:r>
              <a:rPr lang="en-GB" dirty="0">
                <a:solidFill>
                  <a:srgbClr val="C00000"/>
                </a:solidFill>
              </a:rPr>
              <a:t>Deep-sea sediments</a:t>
            </a:r>
          </a:p>
          <a:p>
            <a:pPr>
              <a:buFont typeface="Arial" panose="020B0604020202020204" pitchFamily="34" charset="0"/>
              <a:buChar char="•"/>
            </a:pPr>
            <a:r>
              <a:rPr lang="en-GB" dirty="0"/>
              <a:t>Coastal beaches and estuaries</a:t>
            </a:r>
          </a:p>
          <a:p>
            <a:pPr>
              <a:buFont typeface="Arial" panose="020B0604020202020204" pitchFamily="34" charset="0"/>
              <a:buChar char="•"/>
            </a:pPr>
            <a:r>
              <a:rPr lang="en-GB" dirty="0"/>
              <a:t>Arctic sea ice and Antarctic waters</a:t>
            </a:r>
          </a:p>
          <a:p>
            <a:endParaRPr lang="en-GB" dirty="0"/>
          </a:p>
          <a:p>
            <a:pPr>
              <a:buNone/>
            </a:pPr>
            <a:r>
              <a:rPr lang="en-GB" dirty="0"/>
              <a:t>🏞️ </a:t>
            </a:r>
            <a:r>
              <a:rPr lang="en-GB" b="1" dirty="0"/>
              <a:t>Freshwater Systems</a:t>
            </a:r>
            <a:endParaRPr lang="en-GB" dirty="0"/>
          </a:p>
          <a:p>
            <a:pPr>
              <a:buFont typeface="Arial" panose="020B0604020202020204" pitchFamily="34" charset="0"/>
              <a:buChar char="•"/>
            </a:pPr>
            <a:r>
              <a:rPr lang="en-GB" dirty="0"/>
              <a:t>Rivers and streams</a:t>
            </a:r>
          </a:p>
          <a:p>
            <a:pPr>
              <a:buFont typeface="Arial" panose="020B0604020202020204" pitchFamily="34" charset="0"/>
              <a:buChar char="•"/>
            </a:pPr>
            <a:r>
              <a:rPr lang="en-GB" dirty="0"/>
              <a:t>Lakes and reservoirs</a:t>
            </a:r>
          </a:p>
          <a:p>
            <a:pPr>
              <a:buFont typeface="Arial" panose="020B0604020202020204" pitchFamily="34" charset="0"/>
              <a:buChar char="•"/>
            </a:pPr>
            <a:r>
              <a:rPr lang="en-GB" dirty="0"/>
              <a:t>Groundwater aquifers</a:t>
            </a:r>
          </a:p>
          <a:p>
            <a:endParaRPr lang="en-GB" dirty="0"/>
          </a:p>
          <a:p>
            <a:pPr>
              <a:buNone/>
            </a:pPr>
            <a:r>
              <a:rPr lang="en-GB" dirty="0"/>
              <a:t>🌧️ </a:t>
            </a:r>
            <a:r>
              <a:rPr lang="en-GB" b="1" dirty="0"/>
              <a:t>Atmosphere</a:t>
            </a:r>
            <a:endParaRPr lang="en-GB" dirty="0"/>
          </a:p>
          <a:p>
            <a:pPr>
              <a:buFont typeface="Arial" panose="020B0604020202020204" pitchFamily="34" charset="0"/>
              <a:buChar char="•"/>
            </a:pPr>
            <a:r>
              <a:rPr lang="en-GB" dirty="0"/>
              <a:t>Urban and rural air (e.g., airborne microplastics)</a:t>
            </a:r>
          </a:p>
          <a:p>
            <a:pPr>
              <a:buFont typeface="Arial" panose="020B0604020202020204" pitchFamily="34" charset="0"/>
              <a:buChar char="•"/>
            </a:pPr>
            <a:r>
              <a:rPr lang="en-GB" dirty="0"/>
              <a:t>Rainwater ("plastic rain")</a:t>
            </a:r>
          </a:p>
          <a:p>
            <a:pPr>
              <a:buFont typeface="Arial" panose="020B0604020202020204" pitchFamily="34" charset="0"/>
              <a:buChar char="•"/>
            </a:pPr>
            <a:r>
              <a:rPr lang="en-GB" dirty="0"/>
              <a:t>Snow, including remote areas like the Alps and Arctic</a:t>
            </a:r>
          </a:p>
          <a:p>
            <a:pPr>
              <a:buFont typeface="Arial" panose="020B0604020202020204" pitchFamily="34" charset="0"/>
              <a:buChar char="•"/>
            </a:pPr>
            <a:endParaRPr lang="en-GB" dirty="0"/>
          </a:p>
          <a:p>
            <a:pPr>
              <a:buNone/>
            </a:pPr>
            <a:r>
              <a:rPr lang="en-GB" dirty="0"/>
              <a:t>🧊 </a:t>
            </a:r>
            <a:r>
              <a:rPr lang="en-GB" b="1" dirty="0"/>
              <a:t>Cryosphere</a:t>
            </a:r>
            <a:endParaRPr lang="en-GB" dirty="0"/>
          </a:p>
          <a:p>
            <a:pPr>
              <a:buFont typeface="Arial" panose="020B0604020202020204" pitchFamily="34" charset="0"/>
              <a:buChar char="•"/>
            </a:pPr>
            <a:r>
              <a:rPr lang="en-GB" dirty="0"/>
              <a:t>Glacier surfaces</a:t>
            </a:r>
          </a:p>
          <a:p>
            <a:pPr>
              <a:buFont typeface="Arial" panose="020B0604020202020204" pitchFamily="34" charset="0"/>
              <a:buChar char="•"/>
            </a:pPr>
            <a:r>
              <a:rPr lang="en-GB" dirty="0"/>
              <a:t>Arctic and Antarctic snowpacks</a:t>
            </a:r>
          </a:p>
          <a:p>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endParaRPr lang="en-GB" dirty="0"/>
          </a:p>
          <a:p>
            <a:pPr>
              <a:buNone/>
            </a:pPr>
            <a:r>
              <a:rPr lang="en-GB" dirty="0"/>
              <a:t>🌱 </a:t>
            </a:r>
            <a:r>
              <a:rPr lang="en-GB" b="1" dirty="0"/>
              <a:t>Soil and Terrestrial Ecosystems</a:t>
            </a:r>
            <a:endParaRPr lang="en-GB" dirty="0"/>
          </a:p>
          <a:p>
            <a:pPr>
              <a:buFont typeface="Arial" panose="020B0604020202020204" pitchFamily="34" charset="0"/>
              <a:buChar char="•"/>
            </a:pPr>
            <a:r>
              <a:rPr lang="en-GB" dirty="0"/>
              <a:t>Agricultural </a:t>
            </a:r>
            <a:r>
              <a:rPr lang="en-GB" dirty="0">
                <a:solidFill>
                  <a:srgbClr val="C00000"/>
                </a:solidFill>
              </a:rPr>
              <a:t>soils</a:t>
            </a:r>
            <a:r>
              <a:rPr lang="en-GB" dirty="0"/>
              <a:t> (especially where sewage sludge is used as fertilizer)</a:t>
            </a:r>
          </a:p>
          <a:p>
            <a:pPr>
              <a:buFont typeface="Arial" panose="020B0604020202020204" pitchFamily="34" charset="0"/>
              <a:buChar char="•"/>
            </a:pPr>
            <a:r>
              <a:rPr lang="en-GB" dirty="0"/>
              <a:t>Forest soils</a:t>
            </a:r>
          </a:p>
          <a:p>
            <a:pPr>
              <a:buFont typeface="Arial" panose="020B0604020202020204" pitchFamily="34" charset="0"/>
              <a:buChar char="•"/>
            </a:pPr>
            <a:r>
              <a:rPr lang="en-GB" dirty="0"/>
              <a:t>Urban parks and green spaces</a:t>
            </a:r>
          </a:p>
          <a:p>
            <a:pPr>
              <a:buNone/>
            </a:pPr>
            <a:endParaRPr lang="en-GB" dirty="0"/>
          </a:p>
          <a:p>
            <a:pPr>
              <a:buNone/>
            </a:pPr>
            <a:r>
              <a:rPr lang="en-GB" dirty="0"/>
              <a:t>🧫 </a:t>
            </a:r>
            <a:r>
              <a:rPr lang="en-GB" b="1" dirty="0"/>
              <a:t>Biological Systems</a:t>
            </a:r>
            <a:endParaRPr lang="en-GB" dirty="0"/>
          </a:p>
          <a:p>
            <a:pPr>
              <a:buFont typeface="Arial" panose="020B0604020202020204" pitchFamily="34" charset="0"/>
              <a:buChar char="•"/>
            </a:pPr>
            <a:r>
              <a:rPr lang="en-GB" dirty="0"/>
              <a:t>Marine organisms (fish, mussels, zooplankton)</a:t>
            </a:r>
          </a:p>
          <a:p>
            <a:pPr>
              <a:buFont typeface="Arial" panose="020B0604020202020204" pitchFamily="34" charset="0"/>
              <a:buChar char="•"/>
            </a:pPr>
            <a:r>
              <a:rPr lang="en-GB" dirty="0"/>
              <a:t>Freshwater organisms</a:t>
            </a:r>
          </a:p>
          <a:p>
            <a:pPr>
              <a:buFont typeface="Arial" panose="020B0604020202020204" pitchFamily="34" charset="0"/>
              <a:buChar char="•"/>
            </a:pPr>
            <a:r>
              <a:rPr lang="en-GB" dirty="0"/>
              <a:t>Terrestrial organisms (insects, birds)</a:t>
            </a:r>
          </a:p>
          <a:p>
            <a:pPr>
              <a:buFont typeface="Arial" panose="020B0604020202020204" pitchFamily="34" charset="0"/>
              <a:buChar char="•"/>
            </a:pPr>
            <a:r>
              <a:rPr lang="en-GB" dirty="0">
                <a:solidFill>
                  <a:srgbClr val="C00000"/>
                </a:solidFill>
              </a:rPr>
              <a:t>Human bodies </a:t>
            </a:r>
            <a:r>
              <a:rPr lang="en-GB" dirty="0"/>
              <a:t>(detected in blood, lung tissue, placenta, and faeces)</a:t>
            </a:r>
          </a:p>
          <a:p>
            <a:endParaRPr lang="en-GB" dirty="0"/>
          </a:p>
          <a:p>
            <a:pPr>
              <a:buNone/>
            </a:pPr>
            <a:r>
              <a:rPr lang="en-GB" dirty="0"/>
              <a:t>🏠 </a:t>
            </a:r>
            <a:r>
              <a:rPr lang="en-GB" b="1" dirty="0"/>
              <a:t>Built Environments</a:t>
            </a:r>
            <a:endParaRPr lang="en-GB" dirty="0"/>
          </a:p>
          <a:p>
            <a:pPr>
              <a:buFont typeface="Arial" panose="020B0604020202020204" pitchFamily="34" charset="0"/>
              <a:buChar char="•"/>
            </a:pPr>
            <a:r>
              <a:rPr lang="en-GB" dirty="0"/>
              <a:t>Indoor dust (homes, offices, schools…)</a:t>
            </a:r>
          </a:p>
          <a:p>
            <a:pPr>
              <a:buFont typeface="Arial" panose="020B0604020202020204" pitchFamily="34" charset="0"/>
              <a:buChar char="•"/>
            </a:pPr>
            <a:r>
              <a:rPr lang="en-GB" dirty="0"/>
              <a:t>Tap water and bottled water</a:t>
            </a:r>
          </a:p>
          <a:p>
            <a:pPr>
              <a:buFont typeface="Arial" panose="020B0604020202020204" pitchFamily="34" charset="0"/>
              <a:buChar char="•"/>
            </a:pPr>
            <a:r>
              <a:rPr lang="en-GB" dirty="0"/>
              <a:t>Food products (e.g., seafood, salt, honey…)</a:t>
            </a:r>
          </a:p>
        </p:txBody>
      </p:sp>
    </p:spTree>
    <p:extLst>
      <p:ext uri="{BB962C8B-B14F-4D97-AF65-F5344CB8AC3E}">
        <p14:creationId xmlns:p14="http://schemas.microsoft.com/office/powerpoint/2010/main" val="3569446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E3C01-1367-CA19-295E-D9500602B94B}"/>
            </a:ext>
          </a:extLst>
        </p:cNvPr>
        <p:cNvGrpSpPr/>
        <p:nvPr/>
      </p:nvGrpSpPr>
      <p:grpSpPr>
        <a:xfrm>
          <a:off x="0" y="0"/>
          <a:ext cx="0" cy="0"/>
          <a:chOff x="0" y="0"/>
          <a:chExt cx="0" cy="0"/>
        </a:xfrm>
      </p:grpSpPr>
      <p:pic>
        <p:nvPicPr>
          <p:cNvPr id="3" name="Picture 2" descr="A screenshot of a news article&#10;&#10;AI-generated content may be incorrect.">
            <a:extLst>
              <a:ext uri="{FF2B5EF4-FFF2-40B4-BE49-F238E27FC236}">
                <a16:creationId xmlns:a16="http://schemas.microsoft.com/office/drawing/2014/main" id="{AD7DF73B-3C57-7851-F845-438FF2329B67}"/>
              </a:ext>
            </a:extLst>
          </p:cNvPr>
          <p:cNvPicPr>
            <a:picLocks noChangeAspect="1"/>
          </p:cNvPicPr>
          <p:nvPr/>
        </p:nvPicPr>
        <p:blipFill>
          <a:blip r:embed="rId3"/>
          <a:stretch>
            <a:fillRect/>
          </a:stretch>
        </p:blipFill>
        <p:spPr>
          <a:xfrm>
            <a:off x="5622125" y="113697"/>
            <a:ext cx="6432768" cy="3585636"/>
          </a:xfrm>
          <a:prstGeom prst="rect">
            <a:avLst/>
          </a:prstGeom>
        </p:spPr>
      </p:pic>
      <p:grpSp>
        <p:nvGrpSpPr>
          <p:cNvPr id="11" name="Group 10">
            <a:extLst>
              <a:ext uri="{FF2B5EF4-FFF2-40B4-BE49-F238E27FC236}">
                <a16:creationId xmlns:a16="http://schemas.microsoft.com/office/drawing/2014/main" id="{15FBA01E-BD43-A1D1-2FD1-CF1C44B58E6B}"/>
              </a:ext>
            </a:extLst>
          </p:cNvPr>
          <p:cNvGrpSpPr/>
          <p:nvPr/>
        </p:nvGrpSpPr>
        <p:grpSpPr>
          <a:xfrm>
            <a:off x="99165" y="2597328"/>
            <a:ext cx="7772400" cy="2098637"/>
            <a:chOff x="416560" y="6388101"/>
            <a:chExt cx="7772400" cy="2098637"/>
          </a:xfrm>
        </p:grpSpPr>
        <p:pic>
          <p:nvPicPr>
            <p:cNvPr id="9" name="Picture 8" descr="A screenshot of a website&#10;&#10;AI-generated content may be incorrect.">
              <a:extLst>
                <a:ext uri="{FF2B5EF4-FFF2-40B4-BE49-F238E27FC236}">
                  <a16:creationId xmlns:a16="http://schemas.microsoft.com/office/drawing/2014/main" id="{BB3C3059-7BB4-AAC4-FE54-8D2602D8C7A8}"/>
                </a:ext>
              </a:extLst>
            </p:cNvPr>
            <p:cNvPicPr>
              <a:picLocks noChangeAspect="1"/>
            </p:cNvPicPr>
            <p:nvPr/>
          </p:nvPicPr>
          <p:blipFill>
            <a:blip r:embed="rId4"/>
            <a:srcRect b="86644"/>
            <a:stretch/>
          </p:blipFill>
          <p:spPr>
            <a:xfrm>
              <a:off x="416560" y="6388101"/>
              <a:ext cx="7772400" cy="561340"/>
            </a:xfrm>
            <a:prstGeom prst="rect">
              <a:avLst/>
            </a:prstGeom>
          </p:spPr>
        </p:pic>
        <p:pic>
          <p:nvPicPr>
            <p:cNvPr id="10" name="Picture 9" descr="A screenshot of a website&#10;&#10;AI-generated content may be incorrect.">
              <a:extLst>
                <a:ext uri="{FF2B5EF4-FFF2-40B4-BE49-F238E27FC236}">
                  <a16:creationId xmlns:a16="http://schemas.microsoft.com/office/drawing/2014/main" id="{B000C222-CCBA-6386-7AAB-D4879CB722FF}"/>
                </a:ext>
              </a:extLst>
            </p:cNvPr>
            <p:cNvPicPr>
              <a:picLocks noChangeAspect="1"/>
            </p:cNvPicPr>
            <p:nvPr/>
          </p:nvPicPr>
          <p:blipFill>
            <a:blip r:embed="rId4"/>
            <a:srcRect t="62284"/>
            <a:stretch/>
          </p:blipFill>
          <p:spPr>
            <a:xfrm>
              <a:off x="416560" y="6901545"/>
              <a:ext cx="7772400" cy="1585193"/>
            </a:xfrm>
            <a:prstGeom prst="rect">
              <a:avLst/>
            </a:prstGeom>
          </p:spPr>
        </p:pic>
      </p:grpSp>
      <p:sp>
        <p:nvSpPr>
          <p:cNvPr id="6" name="Title 1">
            <a:extLst>
              <a:ext uri="{FF2B5EF4-FFF2-40B4-BE49-F238E27FC236}">
                <a16:creationId xmlns:a16="http://schemas.microsoft.com/office/drawing/2014/main" id="{1AC515A9-6803-3D79-27D5-94C38DE73551}"/>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and a major research area…</a:t>
            </a:r>
          </a:p>
        </p:txBody>
      </p:sp>
      <p:pic>
        <p:nvPicPr>
          <p:cNvPr id="7" name="Picture 6" descr="A person using a microscope&#10;&#10;AI-generated content may be incorrect.">
            <a:extLst>
              <a:ext uri="{FF2B5EF4-FFF2-40B4-BE49-F238E27FC236}">
                <a16:creationId xmlns:a16="http://schemas.microsoft.com/office/drawing/2014/main" id="{CD9C185E-644B-F7BC-BE79-842AAEA72A91}"/>
              </a:ext>
            </a:extLst>
          </p:cNvPr>
          <p:cNvPicPr>
            <a:picLocks noChangeAspect="1"/>
          </p:cNvPicPr>
          <p:nvPr/>
        </p:nvPicPr>
        <p:blipFill>
          <a:blip r:embed="rId5"/>
          <a:srcRect b="68629"/>
          <a:stretch/>
        </p:blipFill>
        <p:spPr>
          <a:xfrm>
            <a:off x="137107" y="790600"/>
            <a:ext cx="5522960" cy="167828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8E3B730E-AF9B-282A-389F-14EA0E939181}"/>
              </a:ext>
            </a:extLst>
          </p:cNvPr>
          <p:cNvPicPr>
            <a:picLocks noChangeAspect="1"/>
          </p:cNvPicPr>
          <p:nvPr/>
        </p:nvPicPr>
        <p:blipFill>
          <a:blip r:embed="rId6"/>
          <a:stretch>
            <a:fillRect/>
          </a:stretch>
        </p:blipFill>
        <p:spPr>
          <a:xfrm>
            <a:off x="99165" y="3841215"/>
            <a:ext cx="7405991" cy="2628577"/>
          </a:xfrm>
          <a:prstGeom prst="rect">
            <a:avLst/>
          </a:prstGeom>
        </p:spPr>
      </p:pic>
      <p:pic>
        <p:nvPicPr>
          <p:cNvPr id="15" name="Picture 14" descr="A screenshot of a news article&#10;&#10;AI-generated content may be incorrect.">
            <a:extLst>
              <a:ext uri="{FF2B5EF4-FFF2-40B4-BE49-F238E27FC236}">
                <a16:creationId xmlns:a16="http://schemas.microsoft.com/office/drawing/2014/main" id="{E9D4D7BE-F471-746E-019D-9365E79EF2F7}"/>
              </a:ext>
            </a:extLst>
          </p:cNvPr>
          <p:cNvPicPr>
            <a:picLocks noChangeAspect="1"/>
          </p:cNvPicPr>
          <p:nvPr/>
        </p:nvPicPr>
        <p:blipFill>
          <a:blip r:embed="rId7"/>
          <a:stretch>
            <a:fillRect/>
          </a:stretch>
        </p:blipFill>
        <p:spPr>
          <a:xfrm>
            <a:off x="5356965" y="4264587"/>
            <a:ext cx="6594433" cy="2466282"/>
          </a:xfrm>
          <a:prstGeom prst="rect">
            <a:avLst/>
          </a:prstGeom>
        </p:spPr>
      </p:pic>
    </p:spTree>
    <p:extLst>
      <p:ext uri="{BB962C8B-B14F-4D97-AF65-F5344CB8AC3E}">
        <p14:creationId xmlns:p14="http://schemas.microsoft.com/office/powerpoint/2010/main" val="3560094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screenshot of a text&#10;&#10;AI-generated content may be incorrect.">
            <a:extLst>
              <a:ext uri="{FF2B5EF4-FFF2-40B4-BE49-F238E27FC236}">
                <a16:creationId xmlns:a16="http://schemas.microsoft.com/office/drawing/2014/main" id="{AF5401AB-E396-9311-D7F4-1E13F416602E}"/>
              </a:ext>
            </a:extLst>
          </p:cNvPr>
          <p:cNvPicPr>
            <a:picLocks noChangeAspect="1"/>
          </p:cNvPicPr>
          <p:nvPr/>
        </p:nvPicPr>
        <p:blipFill>
          <a:blip r:embed="rId2"/>
          <a:stretch>
            <a:fillRect/>
          </a:stretch>
        </p:blipFill>
        <p:spPr>
          <a:xfrm>
            <a:off x="47551" y="2132509"/>
            <a:ext cx="7772400" cy="4728379"/>
          </a:xfrm>
          <a:prstGeom prst="rect">
            <a:avLst/>
          </a:prstGeom>
        </p:spPr>
      </p:pic>
      <p:sp>
        <p:nvSpPr>
          <p:cNvPr id="10" name="Title 1">
            <a:extLst>
              <a:ext uri="{FF2B5EF4-FFF2-40B4-BE49-F238E27FC236}">
                <a16:creationId xmlns:a16="http://schemas.microsoft.com/office/drawing/2014/main" id="{AA50441D-1335-AC36-E4DB-94DC1129777C}"/>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Transport: rivers</a:t>
            </a:r>
          </a:p>
        </p:txBody>
      </p:sp>
      <p:pic>
        <p:nvPicPr>
          <p:cNvPr id="12" name="Picture 11" descr="A screenshot of a website&#10;&#10;AI-generated content may be incorrect.">
            <a:extLst>
              <a:ext uri="{FF2B5EF4-FFF2-40B4-BE49-F238E27FC236}">
                <a16:creationId xmlns:a16="http://schemas.microsoft.com/office/drawing/2014/main" id="{F8B691D7-E8C8-BF8E-9EE7-2D01240285D6}"/>
              </a:ext>
            </a:extLst>
          </p:cNvPr>
          <p:cNvPicPr>
            <a:picLocks noChangeAspect="1"/>
          </p:cNvPicPr>
          <p:nvPr/>
        </p:nvPicPr>
        <p:blipFill>
          <a:blip r:embed="rId3"/>
          <a:stretch>
            <a:fillRect/>
          </a:stretch>
        </p:blipFill>
        <p:spPr>
          <a:xfrm>
            <a:off x="4320435" y="127131"/>
            <a:ext cx="7772400" cy="2234171"/>
          </a:xfrm>
          <a:prstGeom prst="rect">
            <a:avLst/>
          </a:prstGeom>
        </p:spPr>
      </p:pic>
    </p:spTree>
    <p:extLst>
      <p:ext uri="{BB962C8B-B14F-4D97-AF65-F5344CB8AC3E}">
        <p14:creationId xmlns:p14="http://schemas.microsoft.com/office/powerpoint/2010/main" val="2170126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Fig. 1">
            <a:extLst>
              <a:ext uri="{FF2B5EF4-FFF2-40B4-BE49-F238E27FC236}">
                <a16:creationId xmlns:a16="http://schemas.microsoft.com/office/drawing/2014/main" id="{550875A6-D834-FD04-0170-6460A52703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65" y="1085161"/>
            <a:ext cx="6526543" cy="564570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12C22B58-329C-1222-C56B-C07F0883DE1B}"/>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Transport: rivers</a:t>
            </a:r>
          </a:p>
        </p:txBody>
      </p:sp>
      <p:pic>
        <p:nvPicPr>
          <p:cNvPr id="6" name="Picture 5" descr="A text on a page&#10;&#10;AI-generated content may be incorrect.">
            <a:extLst>
              <a:ext uri="{FF2B5EF4-FFF2-40B4-BE49-F238E27FC236}">
                <a16:creationId xmlns:a16="http://schemas.microsoft.com/office/drawing/2014/main" id="{7E40B148-7972-0420-79E9-9B57A92B7546}"/>
              </a:ext>
            </a:extLst>
          </p:cNvPr>
          <p:cNvPicPr>
            <a:picLocks noChangeAspect="1"/>
          </p:cNvPicPr>
          <p:nvPr/>
        </p:nvPicPr>
        <p:blipFill>
          <a:blip r:embed="rId3"/>
          <a:stretch>
            <a:fillRect/>
          </a:stretch>
        </p:blipFill>
        <p:spPr>
          <a:xfrm>
            <a:off x="6751827" y="2514123"/>
            <a:ext cx="5388802" cy="1829753"/>
          </a:xfrm>
          <a:prstGeom prst="rect">
            <a:avLst/>
          </a:prstGeom>
        </p:spPr>
      </p:pic>
      <p:sp>
        <p:nvSpPr>
          <p:cNvPr id="7" name="TextBox 6">
            <a:extLst>
              <a:ext uri="{FF2B5EF4-FFF2-40B4-BE49-F238E27FC236}">
                <a16:creationId xmlns:a16="http://schemas.microsoft.com/office/drawing/2014/main" id="{40EEF77B-1141-BAC3-36BA-BD6432D681D3}"/>
              </a:ext>
            </a:extLst>
          </p:cNvPr>
          <p:cNvSpPr txBox="1"/>
          <p:nvPr/>
        </p:nvSpPr>
        <p:spPr>
          <a:xfrm>
            <a:off x="10241046" y="127131"/>
            <a:ext cx="1851789" cy="369332"/>
          </a:xfrm>
          <a:prstGeom prst="rect">
            <a:avLst/>
          </a:prstGeom>
          <a:noFill/>
        </p:spPr>
        <p:txBody>
          <a:bodyPr wrap="none" rtlCol="0">
            <a:spAutoFit/>
          </a:bodyPr>
          <a:lstStyle/>
          <a:p>
            <a:r>
              <a:rPr lang="en-US" dirty="0"/>
              <a:t>Hurley</a:t>
            </a:r>
            <a:r>
              <a:rPr lang="en-US" i="1" dirty="0"/>
              <a:t> et al </a:t>
            </a:r>
            <a:r>
              <a:rPr lang="en-US" dirty="0"/>
              <a:t>2018</a:t>
            </a:r>
          </a:p>
        </p:txBody>
      </p:sp>
    </p:spTree>
    <p:extLst>
      <p:ext uri="{BB962C8B-B14F-4D97-AF65-F5344CB8AC3E}">
        <p14:creationId xmlns:p14="http://schemas.microsoft.com/office/powerpoint/2010/main" val="3367471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Fig. 5">
            <a:extLst>
              <a:ext uri="{FF2B5EF4-FFF2-40B4-BE49-F238E27FC236}">
                <a16:creationId xmlns:a16="http://schemas.microsoft.com/office/drawing/2014/main" id="{6AD06E48-A352-FDBC-D12E-C520382AF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36800"/>
            <a:ext cx="5682793" cy="4394069"/>
          </a:xfrm>
          <a:prstGeom prst="rect">
            <a:avLst/>
          </a:prstGeom>
          <a:noFill/>
          <a:extLst>
            <a:ext uri="{909E8E84-426E-40DD-AFC4-6F175D3DCCD1}">
              <a14:hiddenFill xmlns:a14="http://schemas.microsoft.com/office/drawing/2010/main">
                <a:solidFill>
                  <a:srgbClr val="FFFFFF"/>
                </a:solidFill>
              </a14:hiddenFill>
            </a:ext>
          </a:extLst>
        </p:spPr>
      </p:pic>
      <p:pic>
        <p:nvPicPr>
          <p:cNvPr id="31750" name="Picture 6" descr="figure 2">
            <a:extLst>
              <a:ext uri="{FF2B5EF4-FFF2-40B4-BE49-F238E27FC236}">
                <a16:creationId xmlns:a16="http://schemas.microsoft.com/office/drawing/2014/main" id="{E822C88D-A3F4-905B-0C2D-CE60866A7079}"/>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20938"/>
          <a:stretch/>
        </p:blipFill>
        <p:spPr bwMode="auto">
          <a:xfrm>
            <a:off x="1043680" y="2054366"/>
            <a:ext cx="4313285" cy="467650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3AC7974-080F-B4CC-732D-6307F0BC3038}"/>
              </a:ext>
            </a:extLst>
          </p:cNvPr>
          <p:cNvSpPr txBox="1"/>
          <p:nvPr/>
        </p:nvSpPr>
        <p:spPr>
          <a:xfrm>
            <a:off x="10241046" y="127131"/>
            <a:ext cx="1851789" cy="369332"/>
          </a:xfrm>
          <a:prstGeom prst="rect">
            <a:avLst/>
          </a:prstGeom>
          <a:noFill/>
        </p:spPr>
        <p:txBody>
          <a:bodyPr wrap="none" rtlCol="0">
            <a:spAutoFit/>
          </a:bodyPr>
          <a:lstStyle/>
          <a:p>
            <a:r>
              <a:rPr lang="en-US" dirty="0"/>
              <a:t>Hurley</a:t>
            </a:r>
            <a:r>
              <a:rPr lang="en-US" i="1" dirty="0"/>
              <a:t> et al </a:t>
            </a:r>
            <a:r>
              <a:rPr lang="en-US" dirty="0"/>
              <a:t>2018</a:t>
            </a:r>
          </a:p>
        </p:txBody>
      </p:sp>
      <p:pic>
        <p:nvPicPr>
          <p:cNvPr id="7" name="Picture 6" descr="A close-up of a text&#10;&#10;AI-generated content may be incorrect.">
            <a:extLst>
              <a:ext uri="{FF2B5EF4-FFF2-40B4-BE49-F238E27FC236}">
                <a16:creationId xmlns:a16="http://schemas.microsoft.com/office/drawing/2014/main" id="{A945A840-E982-4B9F-C43B-8F54E2008B40}"/>
              </a:ext>
            </a:extLst>
          </p:cNvPr>
          <p:cNvPicPr>
            <a:picLocks noChangeAspect="1"/>
          </p:cNvPicPr>
          <p:nvPr/>
        </p:nvPicPr>
        <p:blipFill>
          <a:blip r:embed="rId4"/>
          <a:srcRect t="17771" b="38681"/>
          <a:stretch/>
        </p:blipFill>
        <p:spPr>
          <a:xfrm>
            <a:off x="2173288" y="647785"/>
            <a:ext cx="7772400" cy="710473"/>
          </a:xfrm>
          <a:prstGeom prst="rect">
            <a:avLst/>
          </a:prstGeom>
        </p:spPr>
      </p:pic>
      <p:sp>
        <p:nvSpPr>
          <p:cNvPr id="8" name="Title 1">
            <a:extLst>
              <a:ext uri="{FF2B5EF4-FFF2-40B4-BE49-F238E27FC236}">
                <a16:creationId xmlns:a16="http://schemas.microsoft.com/office/drawing/2014/main" id="{316A5314-B832-1584-5BEC-BFDB6DAFFBE9}"/>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Transport: rivers</a:t>
            </a:r>
          </a:p>
        </p:txBody>
      </p:sp>
      <p:sp>
        <p:nvSpPr>
          <p:cNvPr id="10" name="TextBox 9">
            <a:extLst>
              <a:ext uri="{FF2B5EF4-FFF2-40B4-BE49-F238E27FC236}">
                <a16:creationId xmlns:a16="http://schemas.microsoft.com/office/drawing/2014/main" id="{9AC9C2C1-74BB-EEC8-D0D8-2DB2CE8946E4}"/>
              </a:ext>
            </a:extLst>
          </p:cNvPr>
          <p:cNvSpPr txBox="1"/>
          <p:nvPr/>
        </p:nvSpPr>
        <p:spPr>
          <a:xfrm>
            <a:off x="2132648" y="1358258"/>
            <a:ext cx="7845424" cy="646331"/>
          </a:xfrm>
          <a:prstGeom prst="rect">
            <a:avLst/>
          </a:prstGeom>
          <a:noFill/>
        </p:spPr>
        <p:txBody>
          <a:bodyPr wrap="square">
            <a:spAutoFit/>
          </a:bodyPr>
          <a:lstStyle/>
          <a:p>
            <a:pPr algn="ctr"/>
            <a:r>
              <a:rPr lang="en-GB" b="0" i="0" dirty="0">
                <a:solidFill>
                  <a:srgbClr val="222222"/>
                </a:solidFill>
                <a:effectLst/>
                <a:latin typeface="Harding"/>
              </a:rPr>
              <a:t>Total microplastics </a:t>
            </a:r>
            <a:r>
              <a:rPr lang="en-GB" dirty="0">
                <a:solidFill>
                  <a:srgbClr val="222222"/>
                </a:solidFill>
                <a:latin typeface="Harding"/>
              </a:rPr>
              <a:t>observed in the 2015/16 hydrological year </a:t>
            </a:r>
            <a:r>
              <a:rPr lang="en-GB" b="0" i="0" dirty="0">
                <a:solidFill>
                  <a:srgbClr val="222222"/>
                </a:solidFill>
                <a:effectLst/>
                <a:latin typeface="Harding"/>
              </a:rPr>
              <a:t>approximate 0.5% of the total floating microplastic burden in the global ocean (</a:t>
            </a:r>
            <a:r>
              <a:rPr lang="en-GB" b="1" i="0" dirty="0">
                <a:solidFill>
                  <a:srgbClr val="222222"/>
                </a:solidFill>
                <a:effectLst/>
                <a:latin typeface="Harding"/>
              </a:rPr>
              <a:t>4.85 trillion particles</a:t>
            </a:r>
            <a:r>
              <a:rPr lang="en-GB" b="0" i="0" dirty="0">
                <a:solidFill>
                  <a:srgbClr val="222222"/>
                </a:solidFill>
                <a:effectLst/>
                <a:latin typeface="Harding"/>
              </a:rPr>
              <a:t>)</a:t>
            </a:r>
            <a:endParaRPr lang="en-US" dirty="0"/>
          </a:p>
        </p:txBody>
      </p:sp>
    </p:spTree>
    <p:extLst>
      <p:ext uri="{BB962C8B-B14F-4D97-AF65-F5344CB8AC3E}">
        <p14:creationId xmlns:p14="http://schemas.microsoft.com/office/powerpoint/2010/main" val="4181926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0108-4125-A696-BC4D-49F039BC07C9}"/>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30E73CAF-CCED-8357-D24D-D2E4280665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67459"/>
            <a:ext cx="7414544" cy="51905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A1C5E0E-9AB0-AADF-0CD6-207E8545C964}"/>
              </a:ext>
            </a:extLst>
          </p:cNvPr>
          <p:cNvSpPr txBox="1"/>
          <p:nvPr/>
        </p:nvSpPr>
        <p:spPr>
          <a:xfrm>
            <a:off x="7768026" y="2633111"/>
            <a:ext cx="4299284" cy="2585323"/>
          </a:xfrm>
          <a:prstGeom prst="rect">
            <a:avLst/>
          </a:prstGeom>
          <a:noFill/>
          <a:ln>
            <a:solidFill>
              <a:srgbClr val="C00000"/>
            </a:solidFill>
          </a:ln>
        </p:spPr>
        <p:txBody>
          <a:bodyPr wrap="square" rtlCol="0">
            <a:spAutoFit/>
          </a:bodyPr>
          <a:lstStyle/>
          <a:p>
            <a:r>
              <a:rPr lang="en-US" dirty="0">
                <a:latin typeface="Arial" panose="020B0604020202020204" pitchFamily="34" charset="0"/>
                <a:cs typeface="Arial" panose="020B0604020202020204" pitchFamily="34" charset="0"/>
              </a:rPr>
              <a:t>“…</a:t>
            </a:r>
            <a:r>
              <a:rPr lang="en-GB" b="0" i="0" dirty="0">
                <a:solidFill>
                  <a:srgbClr val="333333"/>
                </a:solidFill>
                <a:effectLst/>
                <a:latin typeface="Arial" panose="020B0604020202020204" pitchFamily="34" charset="0"/>
                <a:cs typeface="Arial" panose="020B0604020202020204" pitchFamily="34" charset="0"/>
              </a:rPr>
              <a:t>we demonstrate that the spatial distribution and ultimate fate of microplastics are strongly controlled by near-bed thermohaline currents (bottom currents). These currents are known to supply oxygen and nutrients to deep-sea benthos, suggesting that deep-sea biodiversity hotspots are also likely to be microplastic hotspots.”</a:t>
            </a:r>
            <a:endParaRPr lang="en-US" dirty="0">
              <a:latin typeface="Arial" panose="020B0604020202020204" pitchFamily="34" charset="0"/>
              <a:cs typeface="Arial" panose="020B0604020202020204" pitchFamily="34" charset="0"/>
            </a:endParaRPr>
          </a:p>
        </p:txBody>
      </p:sp>
      <p:pic>
        <p:nvPicPr>
          <p:cNvPr id="8" name="Picture 7" descr="A screenshot of a computer&#10;&#10;AI-generated content may be incorrect.">
            <a:extLst>
              <a:ext uri="{FF2B5EF4-FFF2-40B4-BE49-F238E27FC236}">
                <a16:creationId xmlns:a16="http://schemas.microsoft.com/office/drawing/2014/main" id="{CD843579-8860-C834-730C-8A04585C9F50}"/>
              </a:ext>
            </a:extLst>
          </p:cNvPr>
          <p:cNvPicPr>
            <a:picLocks noChangeAspect="1"/>
          </p:cNvPicPr>
          <p:nvPr/>
        </p:nvPicPr>
        <p:blipFill>
          <a:blip r:embed="rId3"/>
          <a:srcRect t="24077"/>
          <a:stretch/>
        </p:blipFill>
        <p:spPr>
          <a:xfrm>
            <a:off x="5084042" y="258522"/>
            <a:ext cx="6983268" cy="140893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3235F64D-173A-2C1B-A047-FD3B1C1179E3}"/>
              </a:ext>
            </a:extLst>
          </p:cNvPr>
          <p:cNvPicPr>
            <a:picLocks noChangeAspect="1"/>
          </p:cNvPicPr>
          <p:nvPr/>
        </p:nvPicPr>
        <p:blipFill>
          <a:blip r:embed="rId3"/>
          <a:srcRect b="91603"/>
          <a:stretch/>
        </p:blipFill>
        <p:spPr>
          <a:xfrm>
            <a:off x="5084042" y="92267"/>
            <a:ext cx="6983268" cy="155824"/>
          </a:xfrm>
          <a:prstGeom prst="rect">
            <a:avLst/>
          </a:prstGeom>
        </p:spPr>
      </p:pic>
      <p:sp>
        <p:nvSpPr>
          <p:cNvPr id="10" name="Title 1">
            <a:extLst>
              <a:ext uri="{FF2B5EF4-FFF2-40B4-BE49-F238E27FC236}">
                <a16:creationId xmlns:a16="http://schemas.microsoft.com/office/drawing/2014/main" id="{DEE3D518-2811-28C9-8BA4-991EE3CA1F4B}"/>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Transport: oceans</a:t>
            </a:r>
          </a:p>
        </p:txBody>
      </p:sp>
    </p:spTree>
    <p:extLst>
      <p:ext uri="{BB962C8B-B14F-4D97-AF65-F5344CB8AC3E}">
        <p14:creationId xmlns:p14="http://schemas.microsoft.com/office/powerpoint/2010/main" val="1211965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ED878-0767-71FA-7AAD-D1EBBD3B610C}"/>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1A669B78-02C7-AB80-2A4A-DD4AE46DDFCA}"/>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Hadal trenches: the ultimate sink?</a:t>
            </a:r>
          </a:p>
        </p:txBody>
      </p:sp>
      <p:pic>
        <p:nvPicPr>
          <p:cNvPr id="3" name="Picture 2" descr="A screenshot of a web page&#10;&#10;AI-generated content may be incorrect.">
            <a:extLst>
              <a:ext uri="{FF2B5EF4-FFF2-40B4-BE49-F238E27FC236}">
                <a16:creationId xmlns:a16="http://schemas.microsoft.com/office/drawing/2014/main" id="{A0926E56-EAC1-115E-617D-DFDE4A75F40D}"/>
              </a:ext>
            </a:extLst>
          </p:cNvPr>
          <p:cNvPicPr>
            <a:picLocks noChangeAspect="1"/>
          </p:cNvPicPr>
          <p:nvPr/>
        </p:nvPicPr>
        <p:blipFill>
          <a:blip r:embed="rId2"/>
          <a:stretch>
            <a:fillRect/>
          </a:stretch>
        </p:blipFill>
        <p:spPr>
          <a:xfrm>
            <a:off x="6380480" y="167771"/>
            <a:ext cx="5681027" cy="2845102"/>
          </a:xfrm>
          <a:prstGeom prst="rect">
            <a:avLst/>
          </a:prstGeom>
        </p:spPr>
      </p:pic>
      <p:pic>
        <p:nvPicPr>
          <p:cNvPr id="5" name="Picture 4" descr="A screenshot of a white text&#10;&#10;AI-generated content may be incorrect.">
            <a:extLst>
              <a:ext uri="{FF2B5EF4-FFF2-40B4-BE49-F238E27FC236}">
                <a16:creationId xmlns:a16="http://schemas.microsoft.com/office/drawing/2014/main" id="{957D8B53-44B9-2A98-069C-0B3436FB9079}"/>
              </a:ext>
            </a:extLst>
          </p:cNvPr>
          <p:cNvPicPr>
            <a:picLocks noChangeAspect="1"/>
          </p:cNvPicPr>
          <p:nvPr/>
        </p:nvPicPr>
        <p:blipFill>
          <a:blip r:embed="rId3"/>
          <a:srcRect l="3531" r="2296"/>
          <a:stretch/>
        </p:blipFill>
        <p:spPr>
          <a:xfrm>
            <a:off x="130494" y="1119519"/>
            <a:ext cx="5681027" cy="4691988"/>
          </a:xfrm>
          <a:prstGeom prst="rect">
            <a:avLst/>
          </a:prstGeom>
        </p:spPr>
      </p:pic>
      <p:pic>
        <p:nvPicPr>
          <p:cNvPr id="32770" name="Picture 2">
            <a:extLst>
              <a:ext uri="{FF2B5EF4-FFF2-40B4-BE49-F238E27FC236}">
                <a16:creationId xmlns:a16="http://schemas.microsoft.com/office/drawing/2014/main" id="{260E6875-067D-4630-2FA3-DC618466C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2161" y="3352035"/>
            <a:ext cx="6249986" cy="3323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953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67648-C060-DE19-7384-CB3787D1897B}"/>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8C18BC5-6B85-FDDA-A793-0B3BFCCF0B31}"/>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solidFill>
                  <a:srgbClr val="C00000"/>
                </a:solidFill>
                <a:latin typeface="Arial" panose="020B0604020202020204" pitchFamily="34" charset="0"/>
                <a:cs typeface="Arial" panose="020B0604020202020204" pitchFamily="34" charset="0"/>
              </a:rPr>
              <a:t>Macroplastics</a:t>
            </a:r>
            <a:r>
              <a:rPr lang="en-US" sz="2800" b="1" dirty="0">
                <a:solidFill>
                  <a:srgbClr val="C00000"/>
                </a:solidFill>
                <a:latin typeface="Arial" panose="020B0604020202020204" pitchFamily="34" charset="0"/>
                <a:cs typeface="Arial" panose="020B0604020202020204" pitchFamily="34" charset="0"/>
              </a:rPr>
              <a:t>: contaminants or pollutants?</a:t>
            </a:r>
          </a:p>
        </p:txBody>
      </p:sp>
      <p:pic>
        <p:nvPicPr>
          <p:cNvPr id="2" name="Picture 8" descr="Turtle">
            <a:extLst>
              <a:ext uri="{FF2B5EF4-FFF2-40B4-BE49-F238E27FC236}">
                <a16:creationId xmlns:a16="http://schemas.microsoft.com/office/drawing/2014/main" id="{E52B4BE4-5086-695D-701C-36D56A4762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389" t="36471" r="19195" b="11591"/>
          <a:stretch/>
        </p:blipFill>
        <p:spPr bwMode="auto">
          <a:xfrm>
            <a:off x="261725" y="647850"/>
            <a:ext cx="5366915" cy="2974055"/>
          </a:xfrm>
          <a:prstGeom prst="rect">
            <a:avLst/>
          </a:prstGeom>
          <a:noFill/>
          <a:extLst>
            <a:ext uri="{909E8E84-426E-40DD-AFC4-6F175D3DCCD1}">
              <a14:hiddenFill xmlns:a14="http://schemas.microsoft.com/office/drawing/2010/main">
                <a:solidFill>
                  <a:srgbClr val="FFFFFF"/>
                </a:solidFill>
              </a14:hiddenFill>
            </a:ext>
          </a:extLst>
        </p:spPr>
      </p:pic>
      <p:pic>
        <p:nvPicPr>
          <p:cNvPr id="33794" name="Picture 2" descr="Albatross">
            <a:extLst>
              <a:ext uri="{FF2B5EF4-FFF2-40B4-BE49-F238E27FC236}">
                <a16:creationId xmlns:a16="http://schemas.microsoft.com/office/drawing/2014/main" id="{EABBF63E-6663-0E50-E64D-61D0D1DF78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827"/>
          <a:stretch/>
        </p:blipFill>
        <p:spPr bwMode="auto">
          <a:xfrm>
            <a:off x="261725" y="3770163"/>
            <a:ext cx="5366915" cy="2974055"/>
          </a:xfrm>
          <a:prstGeom prst="rect">
            <a:avLst/>
          </a:prstGeom>
          <a:noFill/>
          <a:extLst>
            <a:ext uri="{909E8E84-426E-40DD-AFC4-6F175D3DCCD1}">
              <a14:hiddenFill xmlns:a14="http://schemas.microsoft.com/office/drawing/2010/main">
                <a:solidFill>
                  <a:srgbClr val="FFFFFF"/>
                </a:solidFill>
              </a14:hiddenFill>
            </a:ext>
          </a:extLst>
        </p:spPr>
      </p:pic>
      <p:pic>
        <p:nvPicPr>
          <p:cNvPr id="33796" name="Picture 4" descr="Seal">
            <a:extLst>
              <a:ext uri="{FF2B5EF4-FFF2-40B4-BE49-F238E27FC236}">
                <a16:creationId xmlns:a16="http://schemas.microsoft.com/office/drawing/2014/main" id="{32CCFB83-E24E-27AF-99EF-C1879148A7C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030" t="13037" r="13834" b="12592"/>
          <a:stretch/>
        </p:blipFill>
        <p:spPr bwMode="auto">
          <a:xfrm>
            <a:off x="5791200" y="2153920"/>
            <a:ext cx="6236222" cy="459029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close-up of a text&#10;&#10;AI-generated content may be incorrect.">
            <a:extLst>
              <a:ext uri="{FF2B5EF4-FFF2-40B4-BE49-F238E27FC236}">
                <a16:creationId xmlns:a16="http://schemas.microsoft.com/office/drawing/2014/main" id="{F2DC7EB3-D222-C0B3-6FC1-43979F1A0F81}"/>
              </a:ext>
            </a:extLst>
          </p:cNvPr>
          <p:cNvPicPr>
            <a:picLocks noChangeAspect="1"/>
          </p:cNvPicPr>
          <p:nvPr/>
        </p:nvPicPr>
        <p:blipFill>
          <a:blip r:embed="rId5"/>
          <a:stretch>
            <a:fillRect/>
          </a:stretch>
        </p:blipFill>
        <p:spPr>
          <a:xfrm>
            <a:off x="5791200" y="744996"/>
            <a:ext cx="6096001" cy="980774"/>
          </a:xfrm>
          <a:prstGeom prst="rect">
            <a:avLst/>
          </a:prstGeom>
        </p:spPr>
      </p:pic>
    </p:spTree>
    <p:extLst>
      <p:ext uri="{BB962C8B-B14F-4D97-AF65-F5344CB8AC3E}">
        <p14:creationId xmlns:p14="http://schemas.microsoft.com/office/powerpoint/2010/main" val="64114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97DDE-525D-7BBC-6FBD-0C1CA02528C0}"/>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00CED0CD-9813-4ED3-CCC5-D22F343DADB1}"/>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Microplastics: contaminants or pollutants?</a:t>
            </a:r>
          </a:p>
        </p:txBody>
      </p:sp>
      <p:sp>
        <p:nvSpPr>
          <p:cNvPr id="4" name="TextBox 3">
            <a:extLst>
              <a:ext uri="{FF2B5EF4-FFF2-40B4-BE49-F238E27FC236}">
                <a16:creationId xmlns:a16="http://schemas.microsoft.com/office/drawing/2014/main" id="{C5CFD1C6-C802-A683-0CC1-98C5FD626F6B}"/>
              </a:ext>
            </a:extLst>
          </p:cNvPr>
          <p:cNvSpPr txBox="1"/>
          <p:nvPr/>
        </p:nvSpPr>
        <p:spPr>
          <a:xfrm>
            <a:off x="3027680" y="-2946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1DBF0BA6-6920-E7CD-5B86-DF1932A9A9A7}"/>
              </a:ext>
            </a:extLst>
          </p:cNvPr>
          <p:cNvSpPr txBox="1"/>
          <p:nvPr/>
        </p:nvSpPr>
        <p:spPr>
          <a:xfrm>
            <a:off x="99165" y="852716"/>
            <a:ext cx="11501120" cy="923330"/>
          </a:xfrm>
          <a:prstGeom prst="rect">
            <a:avLst/>
          </a:prstGeom>
          <a:noFill/>
        </p:spPr>
        <p:txBody>
          <a:bodyPr wrap="square">
            <a:spAutoFit/>
          </a:bodyPr>
          <a:lstStyle/>
          <a:p>
            <a:r>
              <a:rPr lang="en-GB" dirty="0"/>
              <a:t>Microplastics are everywhere, but </a:t>
            </a:r>
            <a:r>
              <a:rPr lang="en-GB" b="1" dirty="0"/>
              <a:t>direct </a:t>
            </a:r>
            <a:r>
              <a:rPr lang="en-GB" b="1" i="1" dirty="0"/>
              <a:t>proof of harm</a:t>
            </a:r>
            <a:r>
              <a:rPr lang="en-GB" b="1" dirty="0"/>
              <a:t> is nuanced</a:t>
            </a:r>
            <a:r>
              <a:rPr lang="en-GB" dirty="0"/>
              <a:t>.</a:t>
            </a:r>
            <a:br>
              <a:rPr lang="en-GB" dirty="0"/>
            </a:br>
            <a:endParaRPr lang="en-GB" dirty="0"/>
          </a:p>
          <a:p>
            <a:r>
              <a:rPr lang="en-GB" dirty="0"/>
              <a:t>The most </a:t>
            </a:r>
            <a:r>
              <a:rPr lang="en-GB" b="1" dirty="0"/>
              <a:t>convincing evidence</a:t>
            </a:r>
            <a:r>
              <a:rPr lang="en-GB" dirty="0"/>
              <a:t> comes from </a:t>
            </a:r>
            <a:r>
              <a:rPr lang="en-GB" b="1" dirty="0"/>
              <a:t>lab studies</a:t>
            </a:r>
            <a:r>
              <a:rPr lang="en-GB" dirty="0"/>
              <a:t>, with a growing but still </a:t>
            </a:r>
            <a:r>
              <a:rPr lang="en-GB" b="1" dirty="0"/>
              <a:t>patchy field evidence</a:t>
            </a:r>
            <a:r>
              <a:rPr lang="en-GB" dirty="0"/>
              <a:t> base.</a:t>
            </a:r>
            <a:endParaRPr lang="en-US" dirty="0"/>
          </a:p>
        </p:txBody>
      </p:sp>
      <p:pic>
        <p:nvPicPr>
          <p:cNvPr id="8" name="Picture 7" descr="A screenshot of a website&#10;&#10;AI-generated content may be incorrect.">
            <a:extLst>
              <a:ext uri="{FF2B5EF4-FFF2-40B4-BE49-F238E27FC236}">
                <a16:creationId xmlns:a16="http://schemas.microsoft.com/office/drawing/2014/main" id="{94DDA66E-EF7C-DCEB-ECB1-C9B6E4BD0BEF}"/>
              </a:ext>
            </a:extLst>
          </p:cNvPr>
          <p:cNvPicPr>
            <a:picLocks noChangeAspect="1"/>
          </p:cNvPicPr>
          <p:nvPr/>
        </p:nvPicPr>
        <p:blipFill>
          <a:blip r:embed="rId2"/>
          <a:stretch>
            <a:fillRect/>
          </a:stretch>
        </p:blipFill>
        <p:spPr>
          <a:xfrm>
            <a:off x="99165" y="2055785"/>
            <a:ext cx="7772400" cy="1373215"/>
          </a:xfrm>
          <a:prstGeom prst="rect">
            <a:avLst/>
          </a:prstGeom>
        </p:spPr>
      </p:pic>
      <p:pic>
        <p:nvPicPr>
          <p:cNvPr id="11" name="Picture 10" descr="A close up of a sign&#10;&#10;AI-generated content may be incorrect.">
            <a:extLst>
              <a:ext uri="{FF2B5EF4-FFF2-40B4-BE49-F238E27FC236}">
                <a16:creationId xmlns:a16="http://schemas.microsoft.com/office/drawing/2014/main" id="{A2D639B7-7C4C-F6D5-35A5-906C2B0C3025}"/>
              </a:ext>
            </a:extLst>
          </p:cNvPr>
          <p:cNvPicPr>
            <a:picLocks noChangeAspect="1"/>
          </p:cNvPicPr>
          <p:nvPr/>
        </p:nvPicPr>
        <p:blipFill>
          <a:blip r:embed="rId3"/>
          <a:stretch>
            <a:fillRect/>
          </a:stretch>
        </p:blipFill>
        <p:spPr>
          <a:xfrm>
            <a:off x="99165" y="3708739"/>
            <a:ext cx="5537200" cy="711200"/>
          </a:xfrm>
          <a:prstGeom prst="rect">
            <a:avLst/>
          </a:prstGeom>
        </p:spPr>
      </p:pic>
      <p:pic>
        <p:nvPicPr>
          <p:cNvPr id="35842" name="Picture 2" descr="Abstract Image">
            <a:extLst>
              <a:ext uri="{FF2B5EF4-FFF2-40B4-BE49-F238E27FC236}">
                <a16:creationId xmlns:a16="http://schemas.microsoft.com/office/drawing/2014/main" id="{104F02DD-C11A-35E4-7F0C-46225069F3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3938" y="2946335"/>
            <a:ext cx="2713182" cy="152480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white background with black text&#10;&#10;AI-generated content may be incorrect.">
            <a:extLst>
              <a:ext uri="{FF2B5EF4-FFF2-40B4-BE49-F238E27FC236}">
                <a16:creationId xmlns:a16="http://schemas.microsoft.com/office/drawing/2014/main" id="{9A501F1B-A730-5D9C-A692-ACC3DEE9BE33}"/>
              </a:ext>
            </a:extLst>
          </p:cNvPr>
          <p:cNvPicPr>
            <a:picLocks noChangeAspect="1"/>
          </p:cNvPicPr>
          <p:nvPr/>
        </p:nvPicPr>
        <p:blipFill>
          <a:blip r:embed="rId5"/>
          <a:stretch>
            <a:fillRect/>
          </a:stretch>
        </p:blipFill>
        <p:spPr>
          <a:xfrm>
            <a:off x="2163763" y="5081955"/>
            <a:ext cx="7721600" cy="1346200"/>
          </a:xfrm>
          <a:prstGeom prst="rect">
            <a:avLst/>
          </a:prstGeom>
        </p:spPr>
      </p:pic>
    </p:spTree>
    <p:extLst>
      <p:ext uri="{BB962C8B-B14F-4D97-AF65-F5344CB8AC3E}">
        <p14:creationId xmlns:p14="http://schemas.microsoft.com/office/powerpoint/2010/main" val="1066010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CEAA3-7C98-7A4A-00E1-DE1180B6728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0B139DF5-91B2-FA67-14A2-0AAA5B3F6D37}"/>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Microplastics: contaminants or pollutants?</a:t>
            </a:r>
          </a:p>
        </p:txBody>
      </p:sp>
      <p:sp>
        <p:nvSpPr>
          <p:cNvPr id="4" name="TextBox 3">
            <a:extLst>
              <a:ext uri="{FF2B5EF4-FFF2-40B4-BE49-F238E27FC236}">
                <a16:creationId xmlns:a16="http://schemas.microsoft.com/office/drawing/2014/main" id="{19992D2A-430D-3987-82C7-B0C5C6FB67DF}"/>
              </a:ext>
            </a:extLst>
          </p:cNvPr>
          <p:cNvSpPr txBox="1"/>
          <p:nvPr/>
        </p:nvSpPr>
        <p:spPr>
          <a:xfrm>
            <a:off x="3027680" y="-2946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837FEA6F-ED16-0CE6-5B12-B9591729FDA2}"/>
              </a:ext>
            </a:extLst>
          </p:cNvPr>
          <p:cNvSpPr txBox="1"/>
          <p:nvPr/>
        </p:nvSpPr>
        <p:spPr>
          <a:xfrm>
            <a:off x="99165" y="852716"/>
            <a:ext cx="11501120" cy="923330"/>
          </a:xfrm>
          <a:prstGeom prst="rect">
            <a:avLst/>
          </a:prstGeom>
          <a:noFill/>
        </p:spPr>
        <p:txBody>
          <a:bodyPr wrap="square">
            <a:spAutoFit/>
          </a:bodyPr>
          <a:lstStyle/>
          <a:p>
            <a:r>
              <a:rPr lang="en-GB" dirty="0"/>
              <a:t>Microplastics are everywhere, but </a:t>
            </a:r>
            <a:r>
              <a:rPr lang="en-GB" b="1" dirty="0"/>
              <a:t>direct </a:t>
            </a:r>
            <a:r>
              <a:rPr lang="en-GB" b="1" i="1" dirty="0"/>
              <a:t>proof of harm</a:t>
            </a:r>
            <a:r>
              <a:rPr lang="en-GB" b="1" dirty="0"/>
              <a:t> is nuanced</a:t>
            </a:r>
            <a:r>
              <a:rPr lang="en-GB" dirty="0"/>
              <a:t>.</a:t>
            </a:r>
            <a:br>
              <a:rPr lang="en-GB" dirty="0"/>
            </a:br>
            <a:endParaRPr lang="en-GB" dirty="0"/>
          </a:p>
          <a:p>
            <a:r>
              <a:rPr lang="en-GB" dirty="0"/>
              <a:t>The most </a:t>
            </a:r>
            <a:r>
              <a:rPr lang="en-GB" b="1" dirty="0"/>
              <a:t>convincing evidence</a:t>
            </a:r>
            <a:r>
              <a:rPr lang="en-GB" dirty="0"/>
              <a:t> comes from </a:t>
            </a:r>
            <a:r>
              <a:rPr lang="en-GB" b="1" dirty="0"/>
              <a:t>lab studies</a:t>
            </a:r>
            <a:r>
              <a:rPr lang="en-GB" dirty="0"/>
              <a:t>, with a growing but still </a:t>
            </a:r>
            <a:r>
              <a:rPr lang="en-GB" b="1" dirty="0"/>
              <a:t>patchy field evidence</a:t>
            </a:r>
            <a:r>
              <a:rPr lang="en-GB" dirty="0"/>
              <a:t> base.</a:t>
            </a:r>
            <a:endParaRPr lang="en-US" dirty="0"/>
          </a:p>
        </p:txBody>
      </p:sp>
      <p:pic>
        <p:nvPicPr>
          <p:cNvPr id="3" name="Picture 2" descr="A screenshot of a cell phone&#10;&#10;AI-generated content may be incorrect.">
            <a:extLst>
              <a:ext uri="{FF2B5EF4-FFF2-40B4-BE49-F238E27FC236}">
                <a16:creationId xmlns:a16="http://schemas.microsoft.com/office/drawing/2014/main" id="{89826BEF-300B-9D85-B881-47AB61AAFB99}"/>
              </a:ext>
            </a:extLst>
          </p:cNvPr>
          <p:cNvPicPr>
            <a:picLocks noChangeAspect="1"/>
          </p:cNvPicPr>
          <p:nvPr/>
        </p:nvPicPr>
        <p:blipFill>
          <a:blip r:embed="rId2"/>
          <a:stretch>
            <a:fillRect/>
          </a:stretch>
        </p:blipFill>
        <p:spPr>
          <a:xfrm>
            <a:off x="99165" y="1869070"/>
            <a:ext cx="7772400" cy="1596443"/>
          </a:xfrm>
          <a:prstGeom prst="rect">
            <a:avLst/>
          </a:prstGeom>
        </p:spPr>
      </p:pic>
      <p:pic>
        <p:nvPicPr>
          <p:cNvPr id="7" name="Picture 6" descr="A close-up of a fish&#10;&#10;AI-generated content may be incorrect.">
            <a:extLst>
              <a:ext uri="{FF2B5EF4-FFF2-40B4-BE49-F238E27FC236}">
                <a16:creationId xmlns:a16="http://schemas.microsoft.com/office/drawing/2014/main" id="{E58FE406-1FC1-2425-03C0-2D12DC9A6288}"/>
              </a:ext>
            </a:extLst>
          </p:cNvPr>
          <p:cNvPicPr>
            <a:picLocks noChangeAspect="1"/>
          </p:cNvPicPr>
          <p:nvPr/>
        </p:nvPicPr>
        <p:blipFill>
          <a:blip r:embed="rId3"/>
          <a:stretch>
            <a:fillRect/>
          </a:stretch>
        </p:blipFill>
        <p:spPr>
          <a:xfrm>
            <a:off x="4320435" y="3621003"/>
            <a:ext cx="7772400" cy="3236997"/>
          </a:xfrm>
          <a:prstGeom prst="rect">
            <a:avLst/>
          </a:prstGeom>
        </p:spPr>
      </p:pic>
    </p:spTree>
    <p:extLst>
      <p:ext uri="{BB962C8B-B14F-4D97-AF65-F5344CB8AC3E}">
        <p14:creationId xmlns:p14="http://schemas.microsoft.com/office/powerpoint/2010/main" val="1306365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ell phone&#10;&#10;AI-generated content may be incorrect.">
            <a:extLst>
              <a:ext uri="{FF2B5EF4-FFF2-40B4-BE49-F238E27FC236}">
                <a16:creationId xmlns:a16="http://schemas.microsoft.com/office/drawing/2014/main" id="{72A458AE-7745-2A06-5BB0-693C9829032E}"/>
              </a:ext>
            </a:extLst>
          </p:cNvPr>
          <p:cNvPicPr>
            <a:picLocks noGrp="1" noChangeAspect="1"/>
          </p:cNvPicPr>
          <p:nvPr>
            <p:ph idx="1"/>
          </p:nvPr>
        </p:nvPicPr>
        <p:blipFill>
          <a:blip r:embed="rId2"/>
          <a:srcRect l="22523" t="20028" r="3249"/>
          <a:stretch/>
        </p:blipFill>
        <p:spPr>
          <a:xfrm>
            <a:off x="4758612" y="687386"/>
            <a:ext cx="7250508" cy="1909474"/>
          </a:xfrm>
        </p:spPr>
      </p:pic>
      <p:pic>
        <p:nvPicPr>
          <p:cNvPr id="6" name="Content Placeholder 4" descr="A screenshot of a cell phone&#10;&#10;AI-generated content may be incorrect.">
            <a:extLst>
              <a:ext uri="{FF2B5EF4-FFF2-40B4-BE49-F238E27FC236}">
                <a16:creationId xmlns:a16="http://schemas.microsoft.com/office/drawing/2014/main" id="{822FCA54-4F1E-63FC-16AE-C4986056AE3D}"/>
              </a:ext>
            </a:extLst>
          </p:cNvPr>
          <p:cNvPicPr>
            <a:picLocks noChangeAspect="1"/>
          </p:cNvPicPr>
          <p:nvPr/>
        </p:nvPicPr>
        <p:blipFill>
          <a:blip r:embed="rId2"/>
          <a:srcRect r="33768" b="84319"/>
          <a:stretch/>
        </p:blipFill>
        <p:spPr>
          <a:xfrm>
            <a:off x="6024562" y="281417"/>
            <a:ext cx="6021879" cy="348503"/>
          </a:xfrm>
          <a:prstGeom prst="rect">
            <a:avLst/>
          </a:prstGeom>
        </p:spPr>
      </p:pic>
      <p:pic>
        <p:nvPicPr>
          <p:cNvPr id="8" name="Picture 7" descr="A close-up of a screen&#10;&#10;AI-generated content may be incorrect.">
            <a:extLst>
              <a:ext uri="{FF2B5EF4-FFF2-40B4-BE49-F238E27FC236}">
                <a16:creationId xmlns:a16="http://schemas.microsoft.com/office/drawing/2014/main" id="{57641340-5ACD-9FB7-6A2B-6D27D3E66BF2}"/>
              </a:ext>
            </a:extLst>
          </p:cNvPr>
          <p:cNvPicPr>
            <a:picLocks noChangeAspect="1"/>
          </p:cNvPicPr>
          <p:nvPr/>
        </p:nvPicPr>
        <p:blipFill>
          <a:blip r:embed="rId3"/>
          <a:stretch>
            <a:fillRect/>
          </a:stretch>
        </p:blipFill>
        <p:spPr>
          <a:xfrm>
            <a:off x="4758612" y="2850833"/>
            <a:ext cx="7250508" cy="1146813"/>
          </a:xfrm>
          <a:prstGeom prst="rect">
            <a:avLst/>
          </a:prstGeom>
        </p:spPr>
      </p:pic>
      <p:pic>
        <p:nvPicPr>
          <p:cNvPr id="37890" name="Picture 2">
            <a:extLst>
              <a:ext uri="{FF2B5EF4-FFF2-40B4-BE49-F238E27FC236}">
                <a16:creationId xmlns:a16="http://schemas.microsoft.com/office/drawing/2014/main" id="{1BC2A9F7-1F8C-04D9-CA5B-CE723D9A17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 y="3199075"/>
            <a:ext cx="4503357" cy="3658925"/>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D0B9391C-9FDF-6F6B-5DA8-4B7A5902184C}"/>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Microplastics are Pollutants</a:t>
            </a:r>
          </a:p>
        </p:txBody>
      </p:sp>
    </p:spTree>
    <p:extLst>
      <p:ext uri="{BB962C8B-B14F-4D97-AF65-F5344CB8AC3E}">
        <p14:creationId xmlns:p14="http://schemas.microsoft.com/office/powerpoint/2010/main" val="1819555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BB420-DEEE-F8CB-0A69-7B74CB468982}"/>
            </a:ext>
          </a:extLst>
        </p:cNvPr>
        <p:cNvGrpSpPr/>
        <p:nvPr/>
      </p:nvGrpSpPr>
      <p:grpSpPr>
        <a:xfrm>
          <a:off x="0" y="0"/>
          <a:ext cx="0" cy="0"/>
          <a:chOff x="0" y="0"/>
          <a:chExt cx="0" cy="0"/>
        </a:xfrm>
      </p:grpSpPr>
      <p:pic>
        <p:nvPicPr>
          <p:cNvPr id="34840" name="Picture 24" descr="2,439 Refrigeration Icon High Res Vector Graphics - Getty Images | No refrigeration  icon">
            <a:extLst>
              <a:ext uri="{FF2B5EF4-FFF2-40B4-BE49-F238E27FC236}">
                <a16:creationId xmlns:a16="http://schemas.microsoft.com/office/drawing/2014/main" id="{C01297CA-3759-050D-7B07-865472C2B591}"/>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0877" r="34313"/>
          <a:stretch/>
        </p:blipFill>
        <p:spPr bwMode="auto">
          <a:xfrm>
            <a:off x="78689" y="1210997"/>
            <a:ext cx="2860929" cy="4965864"/>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E571C5ED-66CC-C02D-26F7-64F40A3C9A8F}"/>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Nature-based solutions: microbial degradation?</a:t>
            </a:r>
          </a:p>
        </p:txBody>
      </p:sp>
      <p:grpSp>
        <p:nvGrpSpPr>
          <p:cNvPr id="11" name="Group 10">
            <a:extLst>
              <a:ext uri="{FF2B5EF4-FFF2-40B4-BE49-F238E27FC236}">
                <a16:creationId xmlns:a16="http://schemas.microsoft.com/office/drawing/2014/main" id="{1657AE2F-9459-9A4C-53FA-434FB2031ACB}"/>
              </a:ext>
            </a:extLst>
          </p:cNvPr>
          <p:cNvGrpSpPr/>
          <p:nvPr/>
        </p:nvGrpSpPr>
        <p:grpSpPr>
          <a:xfrm>
            <a:off x="3041218" y="1189671"/>
            <a:ext cx="5103322" cy="4438785"/>
            <a:chOff x="2838019" y="1187664"/>
            <a:chExt cx="6373087" cy="5543205"/>
          </a:xfrm>
        </p:grpSpPr>
        <p:grpSp>
          <p:nvGrpSpPr>
            <p:cNvPr id="9" name="Group 8">
              <a:extLst>
                <a:ext uri="{FF2B5EF4-FFF2-40B4-BE49-F238E27FC236}">
                  <a16:creationId xmlns:a16="http://schemas.microsoft.com/office/drawing/2014/main" id="{2F624537-D87D-31AE-A465-8CCE16A3E27A}"/>
                </a:ext>
              </a:extLst>
            </p:cNvPr>
            <p:cNvGrpSpPr/>
            <p:nvPr/>
          </p:nvGrpSpPr>
          <p:grpSpPr>
            <a:xfrm>
              <a:off x="2838019" y="1187664"/>
              <a:ext cx="6373087" cy="5543205"/>
              <a:chOff x="99165" y="1072340"/>
              <a:chExt cx="6373087" cy="5543205"/>
            </a:xfrm>
          </p:grpSpPr>
          <p:pic>
            <p:nvPicPr>
              <p:cNvPr id="34826" name="Picture 10" descr="Grey Supreme Plastic Buffet Folding Table at ₹ 5500 in Ahmedabad | ID:  21608362797">
                <a:extLst>
                  <a:ext uri="{FF2B5EF4-FFF2-40B4-BE49-F238E27FC236}">
                    <a16:creationId xmlns:a16="http://schemas.microsoft.com/office/drawing/2014/main" id="{EFB344EF-5CB2-2318-44ED-C83E1C788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796" t="31390" r="10054" b="30535"/>
              <a:stretch/>
            </p:blipFill>
            <p:spPr bwMode="auto">
              <a:xfrm>
                <a:off x="99165" y="3429001"/>
                <a:ext cx="6373087" cy="3186544"/>
              </a:xfrm>
              <a:prstGeom prst="rect">
                <a:avLst/>
              </a:prstGeom>
              <a:noFill/>
              <a:extLst>
                <a:ext uri="{909E8E84-426E-40DD-AFC4-6F175D3DCCD1}">
                  <a14:hiddenFill xmlns:a14="http://schemas.microsoft.com/office/drawing/2010/main">
                    <a:solidFill>
                      <a:srgbClr val="FFFFFF"/>
                    </a:solidFill>
                  </a14:hiddenFill>
                </a:ext>
              </a:extLst>
            </p:spPr>
          </p:pic>
          <p:pic>
            <p:nvPicPr>
              <p:cNvPr id="34828" name="Picture 12" descr="1 Litre Plastic Juice Bottle &amp; 38mm T/E Screw Cap">
                <a:extLst>
                  <a:ext uri="{FF2B5EF4-FFF2-40B4-BE49-F238E27FC236}">
                    <a16:creationId xmlns:a16="http://schemas.microsoft.com/office/drawing/2014/main" id="{906FDBC9-0DEC-B33B-2437-5948DE69EF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739" r="35323"/>
              <a:stretch/>
            </p:blipFill>
            <p:spPr bwMode="auto">
              <a:xfrm>
                <a:off x="302364" y="1072340"/>
                <a:ext cx="791227" cy="2477386"/>
              </a:xfrm>
              <a:prstGeom prst="rect">
                <a:avLst/>
              </a:prstGeom>
              <a:noFill/>
              <a:extLst>
                <a:ext uri="{909E8E84-426E-40DD-AFC4-6F175D3DCCD1}">
                  <a14:hiddenFill xmlns:a14="http://schemas.microsoft.com/office/drawing/2010/main">
                    <a:solidFill>
                      <a:srgbClr val="FFFFFF"/>
                    </a:solidFill>
                  </a14:hiddenFill>
                </a:ext>
              </a:extLst>
            </p:spPr>
          </p:pic>
          <p:pic>
            <p:nvPicPr>
              <p:cNvPr id="34830" name="Picture 14">
                <a:extLst>
                  <a:ext uri="{FF2B5EF4-FFF2-40B4-BE49-F238E27FC236}">
                    <a16:creationId xmlns:a16="http://schemas.microsoft.com/office/drawing/2014/main" id="{4419C6C7-3D00-4AB6-0F54-FFAFDF33A8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6790" y="1844451"/>
                <a:ext cx="2411302" cy="1584549"/>
              </a:xfrm>
              <a:prstGeom prst="rect">
                <a:avLst/>
              </a:prstGeom>
              <a:noFill/>
              <a:extLst>
                <a:ext uri="{909E8E84-426E-40DD-AFC4-6F175D3DCCD1}">
                  <a14:hiddenFill xmlns:a14="http://schemas.microsoft.com/office/drawing/2010/main">
                    <a:solidFill>
                      <a:srgbClr val="FFFFFF"/>
                    </a:solidFill>
                  </a14:hiddenFill>
                </a:ext>
              </a:extLst>
            </p:spPr>
          </p:pic>
        </p:grpSp>
        <p:pic>
          <p:nvPicPr>
            <p:cNvPr id="34836" name="Picture 20" descr="What are Algae?">
              <a:extLst>
                <a:ext uri="{FF2B5EF4-FFF2-40B4-BE49-F238E27FC236}">
                  <a16:creationId xmlns:a16="http://schemas.microsoft.com/office/drawing/2014/main" id="{DEB3B9F8-1792-BF54-24C0-5C10F65B99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35689" y="1959775"/>
              <a:ext cx="2144272" cy="1605814"/>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Rectangle 11">
            <a:extLst>
              <a:ext uri="{FF2B5EF4-FFF2-40B4-BE49-F238E27FC236}">
                <a16:creationId xmlns:a16="http://schemas.microsoft.com/office/drawing/2014/main" id="{792C0438-FAF9-6DA6-9941-AD961064A996}"/>
              </a:ext>
            </a:extLst>
          </p:cNvPr>
          <p:cNvSpPr/>
          <p:nvPr/>
        </p:nvSpPr>
        <p:spPr>
          <a:xfrm>
            <a:off x="2275367" y="4167963"/>
            <a:ext cx="765851" cy="9696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844" name="Picture 28" descr="Ryvita Multigrain Crispbread 250g : Amazon.ca: Grocery &amp; Gourmet Food">
            <a:extLst>
              <a:ext uri="{FF2B5EF4-FFF2-40B4-BE49-F238E27FC236}">
                <a16:creationId xmlns:a16="http://schemas.microsoft.com/office/drawing/2014/main" id="{4DBAD5CA-C234-68D3-A762-AFA0111F6F3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5486" b="18780"/>
          <a:stretch/>
        </p:blipFill>
        <p:spPr bwMode="auto">
          <a:xfrm>
            <a:off x="8820633" y="1189671"/>
            <a:ext cx="2617795" cy="1459008"/>
          </a:xfrm>
          <a:prstGeom prst="rect">
            <a:avLst/>
          </a:prstGeom>
          <a:noFill/>
          <a:extLst>
            <a:ext uri="{909E8E84-426E-40DD-AFC4-6F175D3DCCD1}">
              <a14:hiddenFill xmlns:a14="http://schemas.microsoft.com/office/drawing/2010/main">
                <a:solidFill>
                  <a:srgbClr val="FFFFFF"/>
                </a:solidFill>
              </a14:hiddenFill>
            </a:ext>
          </a:extLst>
        </p:spPr>
      </p:pic>
      <p:pic>
        <p:nvPicPr>
          <p:cNvPr id="34846" name="Picture 30" descr="Matilda Cake | Delicious Handmade Cakes | Freshness Guaranteed | Baked Daily by Professional Bakers |For All Occasions | 7 Inch | Serves 14">
            <a:extLst>
              <a:ext uri="{FF2B5EF4-FFF2-40B4-BE49-F238E27FC236}">
                <a16:creationId xmlns:a16="http://schemas.microsoft.com/office/drawing/2014/main" id="{8C3E93E4-6E21-9ECE-C7D3-7BDD45A887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82512" y="3093822"/>
            <a:ext cx="2753592" cy="2551662"/>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26D7759C-65F6-8C65-C512-CADE4E802625}"/>
              </a:ext>
            </a:extLst>
          </p:cNvPr>
          <p:cNvCxnSpPr/>
          <p:nvPr/>
        </p:nvCxnSpPr>
        <p:spPr>
          <a:xfrm>
            <a:off x="8250865" y="1210997"/>
            <a:ext cx="0" cy="4434487"/>
          </a:xfrm>
          <a:prstGeom prst="line">
            <a:avLst/>
          </a:prstGeom>
        </p:spPr>
        <p:style>
          <a:lnRef idx="2">
            <a:schemeClr val="accent1"/>
          </a:lnRef>
          <a:fillRef idx="0">
            <a:schemeClr val="accent1"/>
          </a:fillRef>
          <a:effectRef idx="1">
            <a:schemeClr val="accent1"/>
          </a:effectRef>
          <a:fontRef idx="minor">
            <a:schemeClr val="tx1"/>
          </a:fontRef>
        </p:style>
      </p:cxnSp>
      <p:sp>
        <p:nvSpPr>
          <p:cNvPr id="15" name="Right Bracket 14">
            <a:extLst>
              <a:ext uri="{FF2B5EF4-FFF2-40B4-BE49-F238E27FC236}">
                <a16:creationId xmlns:a16="http://schemas.microsoft.com/office/drawing/2014/main" id="{B718570D-B83A-5A34-70D4-FCCEC82A07E9}"/>
              </a:ext>
            </a:extLst>
          </p:cNvPr>
          <p:cNvSpPr/>
          <p:nvPr/>
        </p:nvSpPr>
        <p:spPr>
          <a:xfrm rot="5400000">
            <a:off x="4535424" y="4781177"/>
            <a:ext cx="154800" cy="2636568"/>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7444F4FA-538D-3E78-A764-E47F6F183458}"/>
              </a:ext>
            </a:extLst>
          </p:cNvPr>
          <p:cNvSpPr txBox="1"/>
          <p:nvPr/>
        </p:nvSpPr>
        <p:spPr>
          <a:xfrm>
            <a:off x="3530156" y="6201134"/>
            <a:ext cx="2254463" cy="369332"/>
          </a:xfrm>
          <a:prstGeom prst="rect">
            <a:avLst/>
          </a:prstGeom>
          <a:noFill/>
        </p:spPr>
        <p:txBody>
          <a:bodyPr wrap="none" rtlCol="0">
            <a:spAutoFit/>
          </a:bodyPr>
          <a:lstStyle/>
          <a:p>
            <a:r>
              <a:rPr lang="en-US" dirty="0"/>
              <a:t>slow / uncompetitive</a:t>
            </a:r>
          </a:p>
        </p:txBody>
      </p:sp>
    </p:spTree>
    <p:extLst>
      <p:ext uri="{BB962C8B-B14F-4D97-AF65-F5344CB8AC3E}">
        <p14:creationId xmlns:p14="http://schemas.microsoft.com/office/powerpoint/2010/main" val="13061847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D661C-EA9B-89AC-CCA4-AC8829D6478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E403BED2-44E3-CD07-84B3-53C60024C263}"/>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Nature-based solutions: microbial degradation</a:t>
            </a:r>
          </a:p>
        </p:txBody>
      </p:sp>
      <p:sp>
        <p:nvSpPr>
          <p:cNvPr id="12" name="Rectangle 11">
            <a:extLst>
              <a:ext uri="{FF2B5EF4-FFF2-40B4-BE49-F238E27FC236}">
                <a16:creationId xmlns:a16="http://schemas.microsoft.com/office/drawing/2014/main" id="{6294EB7A-1AA3-3F5B-7317-E723B3511BF0}"/>
              </a:ext>
            </a:extLst>
          </p:cNvPr>
          <p:cNvSpPr/>
          <p:nvPr/>
        </p:nvSpPr>
        <p:spPr>
          <a:xfrm>
            <a:off x="2702478" y="4160573"/>
            <a:ext cx="765851" cy="9696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1CCEB2F-CA6C-D4B3-AC8A-D5EDBC2C3727}"/>
              </a:ext>
            </a:extLst>
          </p:cNvPr>
          <p:cNvPicPr>
            <a:picLocks noChangeAspect="1"/>
          </p:cNvPicPr>
          <p:nvPr/>
        </p:nvPicPr>
        <p:blipFill>
          <a:blip r:embed="rId2"/>
          <a:stretch>
            <a:fillRect/>
          </a:stretch>
        </p:blipFill>
        <p:spPr>
          <a:xfrm>
            <a:off x="731130" y="763635"/>
            <a:ext cx="4647809" cy="2330904"/>
          </a:xfrm>
          <a:prstGeom prst="rect">
            <a:avLst/>
          </a:prstGeom>
        </p:spPr>
      </p:pic>
      <p:pic>
        <p:nvPicPr>
          <p:cNvPr id="5" name="Picture 4">
            <a:extLst>
              <a:ext uri="{FF2B5EF4-FFF2-40B4-BE49-F238E27FC236}">
                <a16:creationId xmlns:a16="http://schemas.microsoft.com/office/drawing/2014/main" id="{9DD77473-567A-0862-12D6-CA8168613E14}"/>
              </a:ext>
            </a:extLst>
          </p:cNvPr>
          <p:cNvPicPr>
            <a:picLocks noChangeAspect="1"/>
          </p:cNvPicPr>
          <p:nvPr/>
        </p:nvPicPr>
        <p:blipFill>
          <a:blip r:embed="rId3"/>
          <a:stretch>
            <a:fillRect/>
          </a:stretch>
        </p:blipFill>
        <p:spPr>
          <a:xfrm>
            <a:off x="731130" y="3203412"/>
            <a:ext cx="4464929" cy="872843"/>
          </a:xfrm>
          <a:prstGeom prst="rect">
            <a:avLst/>
          </a:prstGeom>
        </p:spPr>
      </p:pic>
      <p:pic>
        <p:nvPicPr>
          <p:cNvPr id="7" name="Picture 6">
            <a:extLst>
              <a:ext uri="{FF2B5EF4-FFF2-40B4-BE49-F238E27FC236}">
                <a16:creationId xmlns:a16="http://schemas.microsoft.com/office/drawing/2014/main" id="{0E354B25-69CD-130B-89A6-2859DF4C0DCC}"/>
              </a:ext>
            </a:extLst>
          </p:cNvPr>
          <p:cNvPicPr>
            <a:picLocks noChangeAspect="1"/>
          </p:cNvPicPr>
          <p:nvPr/>
        </p:nvPicPr>
        <p:blipFill>
          <a:blip r:embed="rId4"/>
          <a:stretch>
            <a:fillRect/>
          </a:stretch>
        </p:blipFill>
        <p:spPr>
          <a:xfrm>
            <a:off x="5966956" y="654762"/>
            <a:ext cx="4647809" cy="3324971"/>
          </a:xfrm>
          <a:prstGeom prst="rect">
            <a:avLst/>
          </a:prstGeom>
        </p:spPr>
      </p:pic>
      <p:pic>
        <p:nvPicPr>
          <p:cNvPr id="13" name="Picture 12">
            <a:extLst>
              <a:ext uri="{FF2B5EF4-FFF2-40B4-BE49-F238E27FC236}">
                <a16:creationId xmlns:a16="http://schemas.microsoft.com/office/drawing/2014/main" id="{C105B969-567A-683B-EB6B-D6F633590548}"/>
              </a:ext>
            </a:extLst>
          </p:cNvPr>
          <p:cNvPicPr>
            <a:picLocks noChangeAspect="1"/>
          </p:cNvPicPr>
          <p:nvPr/>
        </p:nvPicPr>
        <p:blipFill>
          <a:blip r:embed="rId5"/>
          <a:stretch>
            <a:fillRect/>
          </a:stretch>
        </p:blipFill>
        <p:spPr>
          <a:xfrm>
            <a:off x="7585803" y="3899928"/>
            <a:ext cx="3500634" cy="2690037"/>
          </a:xfrm>
          <a:prstGeom prst="rect">
            <a:avLst/>
          </a:prstGeom>
        </p:spPr>
      </p:pic>
      <p:pic>
        <p:nvPicPr>
          <p:cNvPr id="18" name="Picture 17">
            <a:extLst>
              <a:ext uri="{FF2B5EF4-FFF2-40B4-BE49-F238E27FC236}">
                <a16:creationId xmlns:a16="http://schemas.microsoft.com/office/drawing/2014/main" id="{A8221A5F-296A-762B-8C38-F274562B515E}"/>
              </a:ext>
            </a:extLst>
          </p:cNvPr>
          <p:cNvPicPr>
            <a:picLocks noChangeAspect="1"/>
          </p:cNvPicPr>
          <p:nvPr/>
        </p:nvPicPr>
        <p:blipFill>
          <a:blip r:embed="rId6"/>
          <a:stretch>
            <a:fillRect/>
          </a:stretch>
        </p:blipFill>
        <p:spPr>
          <a:xfrm>
            <a:off x="120909" y="4160573"/>
            <a:ext cx="3727222" cy="1659778"/>
          </a:xfrm>
          <a:prstGeom prst="rect">
            <a:avLst/>
          </a:prstGeom>
        </p:spPr>
      </p:pic>
      <p:pic>
        <p:nvPicPr>
          <p:cNvPr id="20" name="Picture 19">
            <a:extLst>
              <a:ext uri="{FF2B5EF4-FFF2-40B4-BE49-F238E27FC236}">
                <a16:creationId xmlns:a16="http://schemas.microsoft.com/office/drawing/2014/main" id="{462E58B3-E521-9491-6816-E248D69EF628}"/>
              </a:ext>
            </a:extLst>
          </p:cNvPr>
          <p:cNvPicPr>
            <a:picLocks noChangeAspect="1"/>
          </p:cNvPicPr>
          <p:nvPr/>
        </p:nvPicPr>
        <p:blipFill>
          <a:blip r:embed="rId7"/>
          <a:stretch>
            <a:fillRect/>
          </a:stretch>
        </p:blipFill>
        <p:spPr>
          <a:xfrm>
            <a:off x="2150823" y="5410399"/>
            <a:ext cx="4056966" cy="988539"/>
          </a:xfrm>
          <a:prstGeom prst="rect">
            <a:avLst/>
          </a:prstGeom>
        </p:spPr>
      </p:pic>
    </p:spTree>
    <p:extLst>
      <p:ext uri="{BB962C8B-B14F-4D97-AF65-F5344CB8AC3E}">
        <p14:creationId xmlns:p14="http://schemas.microsoft.com/office/powerpoint/2010/main" val="5708304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6788D-B47E-32C5-F836-57348CDDBA20}"/>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A3C11032-B778-146E-7970-9E96D27A9EB6}"/>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Arial" panose="020B0604020202020204" pitchFamily="34" charset="0"/>
                <a:cs typeface="Arial" panose="020B0604020202020204" pitchFamily="34" charset="0"/>
              </a:rPr>
              <a:t>Nature-based solutions: microbial degradation</a:t>
            </a:r>
          </a:p>
        </p:txBody>
      </p:sp>
      <p:pic>
        <p:nvPicPr>
          <p:cNvPr id="34818" name="Picture 2">
            <a:extLst>
              <a:ext uri="{FF2B5EF4-FFF2-40B4-BE49-F238E27FC236}">
                <a16:creationId xmlns:a16="http://schemas.microsoft.com/office/drawing/2014/main" id="{3C970065-6F67-A8D9-B7F3-3CCF25FF3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9541" y="-3531310"/>
            <a:ext cx="2631595" cy="2400015"/>
          </a:xfrm>
          <a:prstGeom prst="rect">
            <a:avLst/>
          </a:prstGeom>
          <a:noFill/>
          <a:extLst>
            <a:ext uri="{909E8E84-426E-40DD-AFC4-6F175D3DCCD1}">
              <a14:hiddenFill xmlns:a14="http://schemas.microsoft.com/office/drawing/2010/main">
                <a:solidFill>
                  <a:srgbClr val="FFFFFF"/>
                </a:solidFill>
              </a14:hiddenFill>
            </a:ext>
          </a:extLst>
        </p:spPr>
      </p:pic>
      <p:pic>
        <p:nvPicPr>
          <p:cNvPr id="34822" name="Picture 6">
            <a:extLst>
              <a:ext uri="{FF2B5EF4-FFF2-40B4-BE49-F238E27FC236}">
                <a16:creationId xmlns:a16="http://schemas.microsoft.com/office/drawing/2014/main" id="{404AB582-4A30-D159-5F2C-07CE45A589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610" b="6854"/>
          <a:stretch/>
        </p:blipFill>
        <p:spPr bwMode="auto">
          <a:xfrm>
            <a:off x="4965339" y="7925187"/>
            <a:ext cx="5649426" cy="638797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text on a page&#10;&#10;AI-generated content may be incorrect.">
            <a:extLst>
              <a:ext uri="{FF2B5EF4-FFF2-40B4-BE49-F238E27FC236}">
                <a16:creationId xmlns:a16="http://schemas.microsoft.com/office/drawing/2014/main" id="{0263DACF-BE3A-63F6-5FFB-AD35DA245FDC}"/>
              </a:ext>
            </a:extLst>
          </p:cNvPr>
          <p:cNvPicPr>
            <a:picLocks noChangeAspect="1"/>
          </p:cNvPicPr>
          <p:nvPr/>
        </p:nvPicPr>
        <p:blipFill>
          <a:blip r:embed="rId4"/>
          <a:srcRect t="29214"/>
          <a:stretch/>
        </p:blipFill>
        <p:spPr>
          <a:xfrm>
            <a:off x="99165" y="3293589"/>
            <a:ext cx="7772400" cy="2843540"/>
          </a:xfrm>
          <a:prstGeom prst="rect">
            <a:avLst/>
          </a:prstGeom>
        </p:spPr>
      </p:pic>
      <p:pic>
        <p:nvPicPr>
          <p:cNvPr id="7" name="Picture 6" descr="A screenshot of a social media post&#10;&#10;AI-generated content may be incorrect.">
            <a:extLst>
              <a:ext uri="{FF2B5EF4-FFF2-40B4-BE49-F238E27FC236}">
                <a16:creationId xmlns:a16="http://schemas.microsoft.com/office/drawing/2014/main" id="{B1D1BD54-149B-DC7D-06D4-99EA70BD55BD}"/>
              </a:ext>
            </a:extLst>
          </p:cNvPr>
          <p:cNvPicPr>
            <a:picLocks noChangeAspect="1"/>
          </p:cNvPicPr>
          <p:nvPr/>
        </p:nvPicPr>
        <p:blipFill>
          <a:blip r:embed="rId5"/>
          <a:stretch>
            <a:fillRect/>
          </a:stretch>
        </p:blipFill>
        <p:spPr>
          <a:xfrm>
            <a:off x="213465" y="662152"/>
            <a:ext cx="7543800" cy="2514600"/>
          </a:xfrm>
          <a:prstGeom prst="rect">
            <a:avLst/>
          </a:prstGeom>
        </p:spPr>
      </p:pic>
      <p:pic>
        <p:nvPicPr>
          <p:cNvPr id="34824" name="Picture 8">
            <a:extLst>
              <a:ext uri="{FF2B5EF4-FFF2-40B4-BE49-F238E27FC236}">
                <a16:creationId xmlns:a16="http://schemas.microsoft.com/office/drawing/2014/main" id="{CDC5B8DA-CFB0-1DD3-83E6-2206ABD1636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8726" b="54879"/>
          <a:stretch/>
        </p:blipFill>
        <p:spPr bwMode="auto">
          <a:xfrm>
            <a:off x="7260231" y="1737677"/>
            <a:ext cx="4718304" cy="17062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AB1374F9-EC46-3FB4-B238-3E44714626A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5614" r="-1" b="55446"/>
          <a:stretch/>
        </p:blipFill>
        <p:spPr bwMode="auto">
          <a:xfrm>
            <a:off x="9444385" y="3474641"/>
            <a:ext cx="2340759" cy="1757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671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C0310-E94C-0069-2CC2-ECAC75CBD8A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C05071B-D764-6D56-4DFD-CF7001C68537}"/>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solidFill>
                  <a:srgbClr val="C00000"/>
                </a:solidFill>
                <a:latin typeface="Arial" panose="020B0604020202020204" pitchFamily="34" charset="0"/>
                <a:cs typeface="Arial" panose="020B0604020202020204" pitchFamily="34" charset="0"/>
              </a:rPr>
              <a:t>PETase</a:t>
            </a:r>
            <a:endParaRPr lang="en-US" sz="2800" b="1" dirty="0">
              <a:solidFill>
                <a:srgbClr val="C00000"/>
              </a:solidFill>
              <a:latin typeface="Arial" panose="020B0604020202020204" pitchFamily="34" charset="0"/>
              <a:cs typeface="Arial" panose="020B0604020202020204" pitchFamily="34" charset="0"/>
            </a:endParaRPr>
          </a:p>
        </p:txBody>
      </p:sp>
      <p:pic>
        <p:nvPicPr>
          <p:cNvPr id="34822" name="Picture 6">
            <a:extLst>
              <a:ext uri="{FF2B5EF4-FFF2-40B4-BE49-F238E27FC236}">
                <a16:creationId xmlns:a16="http://schemas.microsoft.com/office/drawing/2014/main" id="{E6896284-07BD-97BA-3774-C2FBDBF06D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610" b="6854"/>
          <a:stretch/>
        </p:blipFill>
        <p:spPr bwMode="auto">
          <a:xfrm>
            <a:off x="274320" y="1091820"/>
            <a:ext cx="4626864" cy="5231731"/>
          </a:xfrm>
          <a:prstGeom prst="rect">
            <a:avLst/>
          </a:prstGeom>
          <a:noFill/>
          <a:extLst>
            <a:ext uri="{909E8E84-426E-40DD-AFC4-6F175D3DCCD1}">
              <a14:hiddenFill xmlns:a14="http://schemas.microsoft.com/office/drawing/2010/main">
                <a:solidFill>
                  <a:srgbClr val="FFFFFF"/>
                </a:solidFill>
              </a14:hiddenFill>
            </a:ext>
          </a:extLst>
        </p:spPr>
      </p:pic>
      <p:pic>
        <p:nvPicPr>
          <p:cNvPr id="34818" name="Picture 2">
            <a:extLst>
              <a:ext uri="{FF2B5EF4-FFF2-40B4-BE49-F238E27FC236}">
                <a16:creationId xmlns:a16="http://schemas.microsoft.com/office/drawing/2014/main" id="{FE2BD23D-A1FC-5470-F84F-E58BAEF14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144" y="92841"/>
            <a:ext cx="1976759" cy="180280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84AA642-62D7-4004-7EFB-61E9439BD047}"/>
              </a:ext>
            </a:extLst>
          </p:cNvPr>
          <p:cNvSpPr txBox="1"/>
          <p:nvPr/>
        </p:nvSpPr>
        <p:spPr>
          <a:xfrm>
            <a:off x="4082728" y="6488668"/>
            <a:ext cx="1976760" cy="369332"/>
          </a:xfrm>
          <a:prstGeom prst="rect">
            <a:avLst/>
          </a:prstGeom>
          <a:noFill/>
        </p:spPr>
        <p:txBody>
          <a:bodyPr wrap="none" rtlCol="0">
            <a:spAutoFit/>
          </a:bodyPr>
          <a:lstStyle/>
          <a:p>
            <a:r>
              <a:rPr lang="en-US" dirty="0"/>
              <a:t>Yoshida</a:t>
            </a:r>
            <a:r>
              <a:rPr lang="en-US" i="1" dirty="0"/>
              <a:t> et al </a:t>
            </a:r>
            <a:r>
              <a:rPr lang="en-US" dirty="0"/>
              <a:t>2016</a:t>
            </a:r>
          </a:p>
        </p:txBody>
      </p:sp>
      <p:pic>
        <p:nvPicPr>
          <p:cNvPr id="4" name="Picture 3" descr="A screenshot of a web page&#10;&#10;AI-generated content may be incorrect.">
            <a:extLst>
              <a:ext uri="{FF2B5EF4-FFF2-40B4-BE49-F238E27FC236}">
                <a16:creationId xmlns:a16="http://schemas.microsoft.com/office/drawing/2014/main" id="{9D46FD77-BD5B-E249-183C-204E7B1B01D5}"/>
              </a:ext>
            </a:extLst>
          </p:cNvPr>
          <p:cNvPicPr>
            <a:picLocks noChangeAspect="1"/>
          </p:cNvPicPr>
          <p:nvPr/>
        </p:nvPicPr>
        <p:blipFill>
          <a:blip r:embed="rId4"/>
          <a:stretch>
            <a:fillRect/>
          </a:stretch>
        </p:blipFill>
        <p:spPr>
          <a:xfrm>
            <a:off x="6161594" y="92841"/>
            <a:ext cx="5931241" cy="2536059"/>
          </a:xfrm>
          <a:prstGeom prst="rect">
            <a:avLst/>
          </a:prstGeom>
        </p:spPr>
      </p:pic>
      <p:pic>
        <p:nvPicPr>
          <p:cNvPr id="38916" name="Picture 4" descr="Fig. 2">
            <a:extLst>
              <a:ext uri="{FF2B5EF4-FFF2-40B4-BE49-F238E27FC236}">
                <a16:creationId xmlns:a16="http://schemas.microsoft.com/office/drawing/2014/main" id="{657ED3AA-656A-845C-9856-7275E37A308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0149"/>
          <a:stretch/>
        </p:blipFill>
        <p:spPr bwMode="auto">
          <a:xfrm>
            <a:off x="9593451" y="1667124"/>
            <a:ext cx="2499384" cy="5125188"/>
          </a:xfrm>
          <a:prstGeom prst="rect">
            <a:avLst/>
          </a:prstGeom>
          <a:noFill/>
          <a:extLst>
            <a:ext uri="{909E8E84-426E-40DD-AFC4-6F175D3DCCD1}">
              <a14:hiddenFill xmlns:a14="http://schemas.microsoft.com/office/drawing/2010/main">
                <a:solidFill>
                  <a:srgbClr val="FFFFFF"/>
                </a:solidFill>
              </a14:hiddenFill>
            </a:ext>
          </a:extLst>
        </p:spPr>
      </p:pic>
      <p:pic>
        <p:nvPicPr>
          <p:cNvPr id="38918" name="Picture 6" descr="figure 4">
            <a:extLst>
              <a:ext uri="{FF2B5EF4-FFF2-40B4-BE49-F238E27FC236}">
                <a16:creationId xmlns:a16="http://schemas.microsoft.com/office/drawing/2014/main" id="{BA7DCA64-4251-9103-5DE8-25EF3A312C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7946" y="3146942"/>
            <a:ext cx="4286409" cy="145174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screenshot of a computer&#10;&#10;AI-generated content may be incorrect.">
            <a:extLst>
              <a:ext uri="{FF2B5EF4-FFF2-40B4-BE49-F238E27FC236}">
                <a16:creationId xmlns:a16="http://schemas.microsoft.com/office/drawing/2014/main" id="{B34E06C5-31D0-2443-8C32-A1C3D3495508}"/>
              </a:ext>
            </a:extLst>
          </p:cNvPr>
          <p:cNvPicPr>
            <a:picLocks noChangeAspect="1"/>
          </p:cNvPicPr>
          <p:nvPr/>
        </p:nvPicPr>
        <p:blipFill>
          <a:blip r:embed="rId7"/>
          <a:stretch>
            <a:fillRect/>
          </a:stretch>
        </p:blipFill>
        <p:spPr>
          <a:xfrm>
            <a:off x="1821051" y="1895645"/>
            <a:ext cx="7772400" cy="4995089"/>
          </a:xfrm>
          <a:prstGeom prst="rect">
            <a:avLst/>
          </a:prstGeom>
        </p:spPr>
      </p:pic>
    </p:spTree>
    <p:extLst>
      <p:ext uri="{BB962C8B-B14F-4D97-AF65-F5344CB8AC3E}">
        <p14:creationId xmlns:p14="http://schemas.microsoft.com/office/powerpoint/2010/main" val="25862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0F90C-B145-72A0-E25D-0CA633CE2830}"/>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CC86299-AEE7-1ED2-DAD1-64A706DF6B13}"/>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Helvetica" pitchFamily="2" charset="0"/>
                <a:cs typeface="Arial" panose="020B0604020202020204" pitchFamily="34" charset="0"/>
              </a:rPr>
              <a:t>Nature-based solutions: </a:t>
            </a:r>
            <a:r>
              <a:rPr lang="en-GB" sz="2800" b="1" dirty="0">
                <a:solidFill>
                  <a:srgbClr val="C00000"/>
                </a:solidFill>
                <a:latin typeface="Helvetica" pitchFamily="2" charset="0"/>
              </a:rPr>
              <a:t>Mussels as Plastic Filters</a:t>
            </a:r>
            <a:endParaRPr lang="en-US" sz="2800" b="1" dirty="0">
              <a:solidFill>
                <a:srgbClr val="C00000"/>
              </a:solidFill>
              <a:latin typeface="Helvetica" pitchFamily="2" charset="0"/>
              <a:cs typeface="Arial" panose="020B0604020202020204" pitchFamily="34" charset="0"/>
            </a:endParaRPr>
          </a:p>
        </p:txBody>
      </p:sp>
      <p:pic>
        <p:nvPicPr>
          <p:cNvPr id="39938" name="Picture 2" descr="Microplastics in our mussels: the sea is feeding human ...">
            <a:extLst>
              <a:ext uri="{FF2B5EF4-FFF2-40B4-BE49-F238E27FC236}">
                <a16:creationId xmlns:a16="http://schemas.microsoft.com/office/drawing/2014/main" id="{68B82649-192F-C08B-BE18-9FE01947D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7227" y="715209"/>
            <a:ext cx="4897465" cy="48974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4C1B03-752A-22BC-E40B-C02A2E31CED6}"/>
              </a:ext>
            </a:extLst>
          </p:cNvPr>
          <p:cNvSpPr txBox="1"/>
          <p:nvPr/>
        </p:nvSpPr>
        <p:spPr>
          <a:xfrm>
            <a:off x="227308" y="907613"/>
            <a:ext cx="6114080" cy="2031325"/>
          </a:xfrm>
          <a:prstGeom prst="rect">
            <a:avLst/>
          </a:prstGeom>
          <a:noFill/>
        </p:spPr>
        <p:txBody>
          <a:bodyPr wrap="square">
            <a:spAutoFit/>
          </a:bodyPr>
          <a:lstStyle/>
          <a:p>
            <a:pPr>
              <a:buNone/>
            </a:pPr>
            <a:r>
              <a:rPr lang="en-GB" dirty="0"/>
              <a:t>Mussels naturally filter microplastics from water</a:t>
            </a:r>
          </a:p>
          <a:p>
            <a:pPr>
              <a:buNone/>
            </a:pPr>
            <a:endParaRPr lang="en-GB" dirty="0"/>
          </a:p>
          <a:p>
            <a:pPr>
              <a:buNone/>
            </a:pPr>
            <a:r>
              <a:rPr lang="en-GB" dirty="0"/>
              <a:t>Pilot projects suggest mussel beds can trap and concentrate plastics for easier removal</a:t>
            </a:r>
          </a:p>
          <a:p>
            <a:pPr>
              <a:buNone/>
            </a:pPr>
            <a:endParaRPr lang="en-GB" dirty="0"/>
          </a:p>
          <a:p>
            <a:r>
              <a:rPr lang="en-GB" dirty="0"/>
              <a:t>Low-energy, scalable option — with co-benefits for biodiversity</a:t>
            </a:r>
          </a:p>
        </p:txBody>
      </p:sp>
      <p:pic>
        <p:nvPicPr>
          <p:cNvPr id="6" name="Picture 5" descr="A screenshot of a computer&#10;&#10;AI-generated content may be incorrect.">
            <a:extLst>
              <a:ext uri="{FF2B5EF4-FFF2-40B4-BE49-F238E27FC236}">
                <a16:creationId xmlns:a16="http://schemas.microsoft.com/office/drawing/2014/main" id="{69A0AC73-AB39-93DF-3837-7B2F5D10F9FC}"/>
              </a:ext>
            </a:extLst>
          </p:cNvPr>
          <p:cNvPicPr>
            <a:picLocks noChangeAspect="1"/>
          </p:cNvPicPr>
          <p:nvPr/>
        </p:nvPicPr>
        <p:blipFill>
          <a:blip r:embed="rId3"/>
          <a:stretch>
            <a:fillRect/>
          </a:stretch>
        </p:blipFill>
        <p:spPr>
          <a:xfrm>
            <a:off x="227308" y="4934513"/>
            <a:ext cx="8583295" cy="1356322"/>
          </a:xfrm>
          <a:prstGeom prst="rect">
            <a:avLst/>
          </a:prstGeom>
        </p:spPr>
      </p:pic>
      <p:pic>
        <p:nvPicPr>
          <p:cNvPr id="13" name="Picture 12">
            <a:extLst>
              <a:ext uri="{FF2B5EF4-FFF2-40B4-BE49-F238E27FC236}">
                <a16:creationId xmlns:a16="http://schemas.microsoft.com/office/drawing/2014/main" id="{0AEA2317-3FDE-BF03-EF77-224069A7DA6B}"/>
              </a:ext>
            </a:extLst>
          </p:cNvPr>
          <p:cNvPicPr>
            <a:picLocks noChangeAspect="1"/>
          </p:cNvPicPr>
          <p:nvPr/>
        </p:nvPicPr>
        <p:blipFill>
          <a:blip r:embed="rId4"/>
          <a:stretch>
            <a:fillRect/>
          </a:stretch>
        </p:blipFill>
        <p:spPr>
          <a:xfrm>
            <a:off x="325782" y="3429000"/>
            <a:ext cx="6114080" cy="1294147"/>
          </a:xfrm>
          <a:prstGeom prst="rect">
            <a:avLst/>
          </a:prstGeom>
        </p:spPr>
      </p:pic>
      <p:pic>
        <p:nvPicPr>
          <p:cNvPr id="15" name="Picture 14">
            <a:extLst>
              <a:ext uri="{FF2B5EF4-FFF2-40B4-BE49-F238E27FC236}">
                <a16:creationId xmlns:a16="http://schemas.microsoft.com/office/drawing/2014/main" id="{9C8B6A9F-4F92-1D7F-0454-5C8BBA404193}"/>
              </a:ext>
            </a:extLst>
          </p:cNvPr>
          <p:cNvPicPr>
            <a:picLocks noChangeAspect="1"/>
          </p:cNvPicPr>
          <p:nvPr/>
        </p:nvPicPr>
        <p:blipFill>
          <a:blip r:embed="rId5"/>
          <a:stretch>
            <a:fillRect/>
          </a:stretch>
        </p:blipFill>
        <p:spPr>
          <a:xfrm>
            <a:off x="5612108" y="2374011"/>
            <a:ext cx="2184400" cy="901700"/>
          </a:xfrm>
          <a:prstGeom prst="rect">
            <a:avLst/>
          </a:prstGeom>
          <a:ln>
            <a:solidFill>
              <a:schemeClr val="bg1"/>
            </a:solidFill>
          </a:ln>
        </p:spPr>
      </p:pic>
    </p:spTree>
    <p:extLst>
      <p:ext uri="{BB962C8B-B14F-4D97-AF65-F5344CB8AC3E}">
        <p14:creationId xmlns:p14="http://schemas.microsoft.com/office/powerpoint/2010/main" val="1476243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8CF8-9CFF-AB49-1FCC-DDBE1A887E9F}"/>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0DBA04D-8F85-3DA3-D3E8-B0A0FEEADF1D}"/>
              </a:ext>
            </a:extLst>
          </p:cNvPr>
          <p:cNvSpPr txBox="1">
            <a:spLocks/>
          </p:cNvSpPr>
          <p:nvPr/>
        </p:nvSpPr>
        <p:spPr>
          <a:xfrm>
            <a:off x="99165" y="127131"/>
            <a:ext cx="10515600" cy="535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800" b="1" dirty="0">
                <a:solidFill>
                  <a:srgbClr val="C00000"/>
                </a:solidFill>
                <a:latin typeface="Helvetica" pitchFamily="2" charset="0"/>
                <a:cs typeface="Arial" panose="020B0604020202020204" pitchFamily="34" charset="0"/>
              </a:rPr>
              <a:t>Towards effective plastic remediation</a:t>
            </a:r>
            <a:endParaRPr lang="en-US" sz="2800" b="1" dirty="0">
              <a:solidFill>
                <a:srgbClr val="C00000"/>
              </a:solidFill>
              <a:latin typeface="Helvetica" pitchFamily="2" charset="0"/>
              <a:cs typeface="Arial" panose="020B0604020202020204" pitchFamily="34" charset="0"/>
            </a:endParaRPr>
          </a:p>
        </p:txBody>
      </p:sp>
      <p:sp>
        <p:nvSpPr>
          <p:cNvPr id="8" name="TextBox 7">
            <a:extLst>
              <a:ext uri="{FF2B5EF4-FFF2-40B4-BE49-F238E27FC236}">
                <a16:creationId xmlns:a16="http://schemas.microsoft.com/office/drawing/2014/main" id="{2330555B-69B1-7709-C9F3-BA0B5E49638E}"/>
              </a:ext>
            </a:extLst>
          </p:cNvPr>
          <p:cNvSpPr txBox="1"/>
          <p:nvPr/>
        </p:nvSpPr>
        <p:spPr>
          <a:xfrm>
            <a:off x="410253" y="1008287"/>
            <a:ext cx="8995144" cy="2308324"/>
          </a:xfrm>
          <a:prstGeom prst="rect">
            <a:avLst/>
          </a:prstGeom>
          <a:noFill/>
        </p:spPr>
        <p:txBody>
          <a:bodyPr wrap="square">
            <a:spAutoFit/>
          </a:bodyPr>
          <a:lstStyle/>
          <a:p>
            <a:pPr>
              <a:buNone/>
            </a:pPr>
            <a:r>
              <a:rPr lang="en-GB" dirty="0">
                <a:latin typeface="Helvetica" pitchFamily="2" charset="0"/>
              </a:rPr>
              <a:t>♻️ A multi-pronged approach is essential:</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b="1" dirty="0">
                <a:latin typeface="Helvetica" pitchFamily="2" charset="0"/>
              </a:rPr>
              <a:t>Waste reduction:</a:t>
            </a:r>
            <a:r>
              <a:rPr lang="en-GB" dirty="0">
                <a:latin typeface="Helvetica" pitchFamily="2" charset="0"/>
              </a:rPr>
              <a:t> Reducing plastic production and single-use plastic consumption</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b="1" dirty="0">
                <a:latin typeface="Helvetica" pitchFamily="2" charset="0"/>
              </a:rPr>
              <a:t>Improved recycling:</a:t>
            </a:r>
            <a:r>
              <a:rPr lang="en-GB" dirty="0">
                <a:latin typeface="Helvetica" pitchFamily="2" charset="0"/>
              </a:rPr>
              <a:t> Mechanical and chemical recycling to recover valuable materials</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b="1" dirty="0">
                <a:latin typeface="Helvetica" pitchFamily="2" charset="0"/>
              </a:rPr>
              <a:t>Active collection efforts:</a:t>
            </a:r>
            <a:r>
              <a:rPr lang="en-GB" dirty="0">
                <a:latin typeface="Helvetica" pitchFamily="2" charset="0"/>
              </a:rPr>
              <a:t> River booms, beach cleanups, ocean plastic interceptors.</a:t>
            </a:r>
          </a:p>
        </p:txBody>
      </p:sp>
      <p:sp>
        <p:nvSpPr>
          <p:cNvPr id="11" name="TextBox 10">
            <a:extLst>
              <a:ext uri="{FF2B5EF4-FFF2-40B4-BE49-F238E27FC236}">
                <a16:creationId xmlns:a16="http://schemas.microsoft.com/office/drawing/2014/main" id="{5A9BEC58-21DB-6BD0-5E15-241E45B63776}"/>
              </a:ext>
            </a:extLst>
          </p:cNvPr>
          <p:cNvSpPr txBox="1"/>
          <p:nvPr/>
        </p:nvSpPr>
        <p:spPr>
          <a:xfrm>
            <a:off x="410253" y="3490868"/>
            <a:ext cx="9952074" cy="1754326"/>
          </a:xfrm>
          <a:prstGeom prst="rect">
            <a:avLst/>
          </a:prstGeom>
          <a:noFill/>
        </p:spPr>
        <p:txBody>
          <a:bodyPr wrap="square">
            <a:spAutoFit/>
          </a:bodyPr>
          <a:lstStyle/>
          <a:p>
            <a:pPr>
              <a:buNone/>
            </a:pPr>
            <a:r>
              <a:rPr lang="en-GB" dirty="0">
                <a:latin typeface="Helvetica" pitchFamily="2" charset="0"/>
              </a:rPr>
              <a:t>🧪 </a:t>
            </a:r>
            <a:r>
              <a:rPr lang="en-GB" b="1" dirty="0">
                <a:latin typeface="Helvetica" pitchFamily="2" charset="0"/>
              </a:rPr>
              <a:t>Emerging innovations complement but do not replace core strategies:</a:t>
            </a:r>
            <a:endParaRPr lang="en-GB" dirty="0">
              <a:latin typeface="Helvetica" pitchFamily="2" charset="0"/>
            </a:endParaRPr>
          </a:p>
          <a:p>
            <a:pPr>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Biodegradable plastics offer potential but face scale and stability challenges.</a:t>
            </a:r>
          </a:p>
          <a:p>
            <a:pPr>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Microbial and enzymatic degradation (e.g., </a:t>
            </a:r>
            <a:r>
              <a:rPr lang="en-GB" dirty="0" err="1">
                <a:latin typeface="Helvetica" pitchFamily="2" charset="0"/>
              </a:rPr>
              <a:t>PETase</a:t>
            </a:r>
            <a:r>
              <a:rPr lang="en-GB" dirty="0">
                <a:latin typeface="Helvetica" pitchFamily="2" charset="0"/>
              </a:rPr>
              <a:t>) is promising but not yet sufficient for large-scale environmental remediation.</a:t>
            </a:r>
          </a:p>
        </p:txBody>
      </p:sp>
      <p:sp>
        <p:nvSpPr>
          <p:cNvPr id="13" name="TextBox 12">
            <a:extLst>
              <a:ext uri="{FF2B5EF4-FFF2-40B4-BE49-F238E27FC236}">
                <a16:creationId xmlns:a16="http://schemas.microsoft.com/office/drawing/2014/main" id="{505C12F0-ADA2-4EB7-863A-7890171EA976}"/>
              </a:ext>
            </a:extLst>
          </p:cNvPr>
          <p:cNvSpPr txBox="1"/>
          <p:nvPr/>
        </p:nvSpPr>
        <p:spPr>
          <a:xfrm>
            <a:off x="493469" y="5583908"/>
            <a:ext cx="9952074" cy="707886"/>
          </a:xfrm>
          <a:prstGeom prst="rect">
            <a:avLst/>
          </a:prstGeom>
          <a:noFill/>
        </p:spPr>
        <p:txBody>
          <a:bodyPr wrap="square">
            <a:spAutoFit/>
          </a:bodyPr>
          <a:lstStyle/>
          <a:p>
            <a:r>
              <a:rPr lang="en-GB" sz="2000" b="1" dirty="0">
                <a:latin typeface="Helvetica" pitchFamily="2" charset="0"/>
              </a:rPr>
              <a:t>Combination</a:t>
            </a:r>
            <a:r>
              <a:rPr lang="en-GB" sz="2000" dirty="0">
                <a:latin typeface="Helvetica" pitchFamily="2" charset="0"/>
              </a:rPr>
              <a:t> of reduction, recycling, and recovery is currently the most realistic and effective solution to the plastic crisis.</a:t>
            </a:r>
            <a:endParaRPr lang="en-US" sz="2000" dirty="0">
              <a:latin typeface="Helvetica" pitchFamily="2" charset="0"/>
            </a:endParaRPr>
          </a:p>
        </p:txBody>
      </p:sp>
    </p:spTree>
    <p:extLst>
      <p:ext uri="{BB962C8B-B14F-4D97-AF65-F5344CB8AC3E}">
        <p14:creationId xmlns:p14="http://schemas.microsoft.com/office/powerpoint/2010/main" val="2263939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A2C06-1B38-E090-FEB5-F2F043689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74249-7A37-FE28-CC10-720447EC75ED}"/>
              </a:ext>
            </a:extLst>
          </p:cNvPr>
          <p:cNvSpPr>
            <a:spLocks noGrp="1"/>
          </p:cNvSpPr>
          <p:nvPr>
            <p:ph type="title"/>
          </p:nvPr>
        </p:nvSpPr>
        <p:spPr>
          <a:xfrm>
            <a:off x="838205" y="2766218"/>
            <a:ext cx="10515600" cy="1325563"/>
          </a:xfrm>
        </p:spPr>
        <p:txBody>
          <a:bodyPr/>
          <a:lstStyle/>
          <a:p>
            <a:pPr algn="ctr"/>
            <a:r>
              <a:rPr lang="en-US" b="1" dirty="0">
                <a:solidFill>
                  <a:srgbClr val="C00000"/>
                </a:solidFill>
                <a:latin typeface="Helvetica" pitchFamily="2" charset="0"/>
              </a:rPr>
              <a:t>PFAS </a:t>
            </a:r>
            <a:br>
              <a:rPr lang="en-US" b="1" dirty="0">
                <a:solidFill>
                  <a:srgbClr val="C00000"/>
                </a:solidFill>
                <a:latin typeface="Helvetica" pitchFamily="2" charset="0"/>
              </a:rPr>
            </a:br>
            <a:r>
              <a:rPr lang="en-US" b="1" dirty="0">
                <a:solidFill>
                  <a:srgbClr val="C00000"/>
                </a:solidFill>
                <a:latin typeface="Helvetica" pitchFamily="2" charset="0"/>
              </a:rPr>
              <a:t>(aka ‘Forever Chemicals’)</a:t>
            </a:r>
          </a:p>
        </p:txBody>
      </p:sp>
    </p:spTree>
    <p:extLst>
      <p:ext uri="{BB962C8B-B14F-4D97-AF65-F5344CB8AC3E}">
        <p14:creationId xmlns:p14="http://schemas.microsoft.com/office/powerpoint/2010/main" val="3387795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E7019C-0D2C-6147-1B68-2493EC1C2DBF}"/>
              </a:ext>
            </a:extLst>
          </p:cNvPr>
          <p:cNvSpPr>
            <a:spLocks noGrp="1"/>
          </p:cNvSpPr>
          <p:nvPr>
            <p:ph idx="1"/>
          </p:nvPr>
        </p:nvSpPr>
        <p:spPr>
          <a:xfrm>
            <a:off x="209855" y="151570"/>
            <a:ext cx="10515600" cy="4351338"/>
          </a:xfrm>
        </p:spPr>
        <p:txBody>
          <a:bodyPr/>
          <a:lstStyle/>
          <a:p>
            <a:pPr marL="0" indent="0">
              <a:buNone/>
            </a:pPr>
            <a:r>
              <a:rPr lang="en-US" b="1" dirty="0">
                <a:solidFill>
                  <a:srgbClr val="C00000"/>
                </a:solidFill>
                <a:latin typeface="Helvetica" pitchFamily="2" charset="0"/>
              </a:rPr>
              <a:t>What are they?</a:t>
            </a:r>
          </a:p>
        </p:txBody>
      </p:sp>
      <p:pic>
        <p:nvPicPr>
          <p:cNvPr id="3076" name="Picture 4" descr="PFAS Molecules: A Major Concern for the Human Health and the Environment">
            <a:extLst>
              <a:ext uri="{FF2B5EF4-FFF2-40B4-BE49-F238E27FC236}">
                <a16:creationId xmlns:a16="http://schemas.microsoft.com/office/drawing/2014/main" id="{AFAB6E07-FC72-7BAB-3707-A37BB6121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88" y="2055813"/>
            <a:ext cx="7476309" cy="40389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161E66F-D5F2-5ABC-7C80-7B70159F006E}"/>
              </a:ext>
            </a:extLst>
          </p:cNvPr>
          <p:cNvSpPr txBox="1"/>
          <p:nvPr/>
        </p:nvSpPr>
        <p:spPr>
          <a:xfrm>
            <a:off x="344188" y="763228"/>
            <a:ext cx="6098344" cy="1477328"/>
          </a:xfrm>
          <a:prstGeom prst="rect">
            <a:avLst/>
          </a:prstGeom>
          <a:noFill/>
        </p:spPr>
        <p:txBody>
          <a:bodyPr wrap="square">
            <a:spAutoFit/>
          </a:bodyPr>
          <a:lstStyle/>
          <a:p>
            <a:pPr>
              <a:buNone/>
            </a:pPr>
            <a:r>
              <a:rPr lang="en-GB" dirty="0">
                <a:latin typeface="Helvetica" pitchFamily="2" charset="0"/>
              </a:rPr>
              <a:t>Synthetic compounds found in firefighting foams, stain-resistant fabrics, non-stick cookware, food packaging</a:t>
            </a:r>
          </a:p>
          <a:p>
            <a:pPr>
              <a:buNone/>
            </a:pPr>
            <a:endParaRPr lang="en-GB" dirty="0">
              <a:latin typeface="Helvetica" pitchFamily="2" charset="0"/>
            </a:endParaRPr>
          </a:p>
          <a:p>
            <a:r>
              <a:rPr lang="en-GB" dirty="0">
                <a:latin typeface="Helvetica" pitchFamily="2" charset="0"/>
              </a:rPr>
              <a:t>Characterized by extremely strong carbon–fluorine (C–F) bonds</a:t>
            </a:r>
          </a:p>
        </p:txBody>
      </p:sp>
      <p:pic>
        <p:nvPicPr>
          <p:cNvPr id="6" name="Picture 2" descr="Keeping the Kitchen Safe and Sound from PFAS - WMEAC">
            <a:extLst>
              <a:ext uri="{FF2B5EF4-FFF2-40B4-BE49-F238E27FC236}">
                <a16:creationId xmlns:a16="http://schemas.microsoft.com/office/drawing/2014/main" id="{94EFCB54-7842-87E1-86A5-6152EBEF9A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5243" y="256791"/>
            <a:ext cx="4406902" cy="29365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The potential of phytoremediation technology as a panacea for per- and  poly-fluoroalkyl substances-contaminated soil | Chemical Papers">
            <a:extLst>
              <a:ext uri="{FF2B5EF4-FFF2-40B4-BE49-F238E27FC236}">
                <a16:creationId xmlns:a16="http://schemas.microsoft.com/office/drawing/2014/main" id="{6C8F6B42-C995-C220-9F01-74EFCC17CF0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6" r="132"/>
          <a:stretch/>
        </p:blipFill>
        <p:spPr bwMode="auto">
          <a:xfrm>
            <a:off x="8115288" y="3403808"/>
            <a:ext cx="3326812" cy="3302622"/>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2338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er- and Polyfluoroalkyl Substances (PFAS) Facts Related to Drinking Water  | UNL Water | Nebraska">
            <a:extLst>
              <a:ext uri="{FF2B5EF4-FFF2-40B4-BE49-F238E27FC236}">
                <a16:creationId xmlns:a16="http://schemas.microsoft.com/office/drawing/2014/main" id="{C8B64BFC-7FC3-E8A7-B709-278804BCD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8253" y="705406"/>
            <a:ext cx="7563937" cy="59411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EDCE97-2A1C-769A-BE1A-7564AF4F704F}"/>
              </a:ext>
            </a:extLst>
          </p:cNvPr>
          <p:cNvSpPr txBox="1"/>
          <p:nvPr/>
        </p:nvSpPr>
        <p:spPr>
          <a:xfrm>
            <a:off x="0" y="112991"/>
            <a:ext cx="6098344" cy="461665"/>
          </a:xfrm>
          <a:prstGeom prst="rect">
            <a:avLst/>
          </a:prstGeom>
          <a:noFill/>
        </p:spPr>
        <p:txBody>
          <a:bodyPr wrap="square">
            <a:spAutoFit/>
          </a:bodyPr>
          <a:lstStyle/>
          <a:p>
            <a:pPr marL="0" indent="0">
              <a:buNone/>
            </a:pPr>
            <a:r>
              <a:rPr lang="en-US" sz="2400" b="1" dirty="0">
                <a:solidFill>
                  <a:srgbClr val="C00000"/>
                </a:solidFill>
                <a:latin typeface="Helvetica" pitchFamily="2" charset="0"/>
              </a:rPr>
              <a:t>Transport and persistence</a:t>
            </a:r>
          </a:p>
        </p:txBody>
      </p:sp>
      <p:sp>
        <p:nvSpPr>
          <p:cNvPr id="7" name="TextBox 6">
            <a:extLst>
              <a:ext uri="{FF2B5EF4-FFF2-40B4-BE49-F238E27FC236}">
                <a16:creationId xmlns:a16="http://schemas.microsoft.com/office/drawing/2014/main" id="{43233EE9-5021-852F-9699-0DE1C0B2D50C}"/>
              </a:ext>
            </a:extLst>
          </p:cNvPr>
          <p:cNvSpPr txBox="1"/>
          <p:nvPr/>
        </p:nvSpPr>
        <p:spPr>
          <a:xfrm>
            <a:off x="189810" y="2274838"/>
            <a:ext cx="3896647" cy="2308324"/>
          </a:xfrm>
          <a:prstGeom prst="rect">
            <a:avLst/>
          </a:prstGeom>
          <a:noFill/>
        </p:spPr>
        <p:txBody>
          <a:bodyPr wrap="square">
            <a:spAutoFit/>
          </a:bodyPr>
          <a:lstStyle/>
          <a:p>
            <a:pPr marL="285750" indent="-285750">
              <a:buClr>
                <a:srgbClr val="C00000"/>
              </a:buClr>
              <a:buFont typeface="Arial" panose="020B0604020202020204" pitchFamily="34" charset="0"/>
              <a:buChar char="•"/>
            </a:pPr>
            <a:r>
              <a:rPr lang="en-GB" dirty="0">
                <a:latin typeface="Helvetica" pitchFamily="2" charset="0"/>
              </a:rPr>
              <a:t>Highly mobile: leaches into groundwater and surface waters</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Resistant to chemical, biological, and thermal breakdown</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Found globally — from tap water to Arctic wildlife</a:t>
            </a:r>
          </a:p>
        </p:txBody>
      </p:sp>
    </p:spTree>
    <p:extLst>
      <p:ext uri="{BB962C8B-B14F-4D97-AF65-F5344CB8AC3E}">
        <p14:creationId xmlns:p14="http://schemas.microsoft.com/office/powerpoint/2010/main" val="34813220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3562-143A-C134-E133-20FC623B252E}"/>
              </a:ext>
            </a:extLst>
          </p:cNvPr>
          <p:cNvSpPr>
            <a:spLocks noGrp="1"/>
          </p:cNvSpPr>
          <p:nvPr>
            <p:ph type="title"/>
          </p:nvPr>
        </p:nvSpPr>
        <p:spPr/>
        <p:txBody>
          <a:bodyPr/>
          <a:lstStyle/>
          <a:p>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72B30D65-2CDD-1972-0D01-6544D076B3AC}"/>
              </a:ext>
            </a:extLst>
          </p:cNvPr>
          <p:cNvPicPr>
            <a:picLocks noGrp="1" noChangeAspect="1"/>
          </p:cNvPicPr>
          <p:nvPr>
            <p:ph idx="1"/>
          </p:nvPr>
        </p:nvPicPr>
        <p:blipFill>
          <a:blip r:embed="rId2"/>
          <a:srcRect l="4408" t="3989" r="2560" b="24119"/>
          <a:stretch/>
        </p:blipFill>
        <p:spPr>
          <a:xfrm>
            <a:off x="3887243" y="69665"/>
            <a:ext cx="8304757" cy="1916481"/>
          </a:xfrm>
        </p:spPr>
      </p:pic>
      <p:pic>
        <p:nvPicPr>
          <p:cNvPr id="7170" name="Picture 2">
            <a:extLst>
              <a:ext uri="{FF2B5EF4-FFF2-40B4-BE49-F238E27FC236}">
                <a16:creationId xmlns:a16="http://schemas.microsoft.com/office/drawing/2014/main" id="{7423E253-78EA-CAC6-16BD-59DA509C50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62" y="2737071"/>
            <a:ext cx="6121439" cy="37558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text on a page&#10;&#10;AI-generated content may be incorrect.">
            <a:extLst>
              <a:ext uri="{FF2B5EF4-FFF2-40B4-BE49-F238E27FC236}">
                <a16:creationId xmlns:a16="http://schemas.microsoft.com/office/drawing/2014/main" id="{1E04FC3B-0211-DAB0-E334-4E767F0EEC5A}"/>
              </a:ext>
            </a:extLst>
          </p:cNvPr>
          <p:cNvPicPr>
            <a:picLocks noChangeAspect="1"/>
          </p:cNvPicPr>
          <p:nvPr/>
        </p:nvPicPr>
        <p:blipFill>
          <a:blip r:embed="rId4"/>
          <a:stretch>
            <a:fillRect/>
          </a:stretch>
        </p:blipFill>
        <p:spPr>
          <a:xfrm>
            <a:off x="6400801" y="2281606"/>
            <a:ext cx="5713636" cy="1754366"/>
          </a:xfrm>
          <a:prstGeom prst="rect">
            <a:avLst/>
          </a:prstGeom>
        </p:spPr>
      </p:pic>
      <p:sp>
        <p:nvSpPr>
          <p:cNvPr id="3" name="TextBox 2">
            <a:extLst>
              <a:ext uri="{FF2B5EF4-FFF2-40B4-BE49-F238E27FC236}">
                <a16:creationId xmlns:a16="http://schemas.microsoft.com/office/drawing/2014/main" id="{BBAA4CE0-4450-89D8-3357-DF22DB4A1B85}"/>
              </a:ext>
            </a:extLst>
          </p:cNvPr>
          <p:cNvSpPr txBox="1"/>
          <p:nvPr/>
        </p:nvSpPr>
        <p:spPr>
          <a:xfrm>
            <a:off x="0" y="112991"/>
            <a:ext cx="6098344" cy="461665"/>
          </a:xfrm>
          <a:prstGeom prst="rect">
            <a:avLst/>
          </a:prstGeom>
          <a:noFill/>
        </p:spPr>
        <p:txBody>
          <a:bodyPr wrap="square">
            <a:spAutoFit/>
          </a:bodyPr>
          <a:lstStyle/>
          <a:p>
            <a:pPr marL="0" indent="0">
              <a:buNone/>
            </a:pPr>
            <a:r>
              <a:rPr lang="en-US" sz="2400" b="1" dirty="0">
                <a:solidFill>
                  <a:srgbClr val="C00000"/>
                </a:solidFill>
                <a:latin typeface="Helvetica" pitchFamily="2" charset="0"/>
              </a:rPr>
              <a:t>Transport and persistence</a:t>
            </a:r>
          </a:p>
        </p:txBody>
      </p:sp>
    </p:spTree>
    <p:extLst>
      <p:ext uri="{BB962C8B-B14F-4D97-AF65-F5344CB8AC3E}">
        <p14:creationId xmlns:p14="http://schemas.microsoft.com/office/powerpoint/2010/main" val="931076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CF05E3-88F6-B3C4-F90A-612434B5B3FB}"/>
              </a:ext>
            </a:extLst>
          </p:cNvPr>
          <p:cNvPicPr>
            <a:picLocks noChangeAspect="1"/>
          </p:cNvPicPr>
          <p:nvPr/>
        </p:nvPicPr>
        <p:blipFill>
          <a:blip r:embed="rId2"/>
          <a:stretch>
            <a:fillRect/>
          </a:stretch>
        </p:blipFill>
        <p:spPr>
          <a:xfrm>
            <a:off x="4891647" y="0"/>
            <a:ext cx="7300353" cy="6858000"/>
          </a:xfrm>
          <a:prstGeom prst="rect">
            <a:avLst/>
          </a:prstGeom>
        </p:spPr>
      </p:pic>
      <p:sp>
        <p:nvSpPr>
          <p:cNvPr id="5" name="TextBox 4">
            <a:extLst>
              <a:ext uri="{FF2B5EF4-FFF2-40B4-BE49-F238E27FC236}">
                <a16:creationId xmlns:a16="http://schemas.microsoft.com/office/drawing/2014/main" id="{33870B5F-30AD-07AB-5ED1-65EB43946987}"/>
              </a:ext>
            </a:extLst>
          </p:cNvPr>
          <p:cNvSpPr txBox="1"/>
          <p:nvPr/>
        </p:nvSpPr>
        <p:spPr>
          <a:xfrm>
            <a:off x="42204" y="1582340"/>
            <a:ext cx="4891647" cy="3693319"/>
          </a:xfrm>
          <a:prstGeom prst="rect">
            <a:avLst/>
          </a:prstGeom>
          <a:noFill/>
        </p:spPr>
        <p:txBody>
          <a:bodyPr wrap="square">
            <a:spAutoFit/>
          </a:bodyPr>
          <a:lstStyle/>
          <a:p>
            <a:pPr marL="285750" indent="-285750">
              <a:buClr>
                <a:srgbClr val="C00000"/>
              </a:buClr>
              <a:buFont typeface="Arial" panose="020B0604020202020204" pitchFamily="34" charset="0"/>
              <a:buChar char="•"/>
            </a:pPr>
            <a:r>
              <a:rPr lang="en-GB" dirty="0">
                <a:latin typeface="Helvetica" pitchFamily="2" charset="0"/>
              </a:rPr>
              <a:t>Longer-chain PFAS (more carbon atoms) </a:t>
            </a:r>
            <a:r>
              <a:rPr lang="en-GB" b="1" dirty="0">
                <a:latin typeface="Helvetica" pitchFamily="2" charset="0"/>
              </a:rPr>
              <a:t>bioaccumulate more strongly</a:t>
            </a:r>
          </a:p>
          <a:p>
            <a:pPr marL="285750" indent="-285750">
              <a:buClr>
                <a:srgbClr val="C00000"/>
              </a:buClr>
              <a:buFont typeface="Arial" panose="020B0604020202020204" pitchFamily="34" charset="0"/>
              <a:buChar char="•"/>
            </a:pPr>
            <a:endParaRPr lang="en-GB" b="1" dirty="0">
              <a:latin typeface="Helvetica" pitchFamily="2" charset="0"/>
            </a:endParaRPr>
          </a:p>
          <a:p>
            <a:pPr>
              <a:buClr>
                <a:srgbClr val="C00000"/>
              </a:buClr>
            </a:pPr>
            <a:endParaRPr lang="en-GB" dirty="0">
              <a:latin typeface="Helvetica" pitchFamily="2" charset="0"/>
            </a:endParaRPr>
          </a:p>
          <a:p>
            <a:pPr marL="285750" indent="-285750">
              <a:buClr>
                <a:srgbClr val="C00000"/>
              </a:buClr>
              <a:buFont typeface="Arial" panose="020B0604020202020204" pitchFamily="34" charset="0"/>
              <a:buChar char="•"/>
            </a:pPr>
            <a:r>
              <a:rPr lang="en-GB" b="1" dirty="0">
                <a:latin typeface="Helvetica" pitchFamily="2" charset="0"/>
              </a:rPr>
              <a:t>Marine environments</a:t>
            </a:r>
            <a:r>
              <a:rPr lang="en-GB" dirty="0">
                <a:latin typeface="Helvetica" pitchFamily="2" charset="0"/>
              </a:rPr>
              <a:t> generally show </a:t>
            </a:r>
            <a:r>
              <a:rPr lang="en-GB" b="1" dirty="0">
                <a:latin typeface="Helvetica" pitchFamily="2" charset="0"/>
              </a:rPr>
              <a:t>higher bioaccumulation</a:t>
            </a:r>
            <a:r>
              <a:rPr lang="en-GB" dirty="0">
                <a:latin typeface="Helvetica" pitchFamily="2" charset="0"/>
              </a:rPr>
              <a:t> than freshwater or brackish systems</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Both </a:t>
            </a:r>
            <a:r>
              <a:rPr lang="en-GB" b="1" dirty="0" err="1">
                <a:latin typeface="Helvetica" pitchFamily="2" charset="0"/>
              </a:rPr>
              <a:t>perfluorocarboxylates</a:t>
            </a:r>
            <a:r>
              <a:rPr lang="en-GB" b="1" dirty="0">
                <a:latin typeface="Helvetica" pitchFamily="2" charset="0"/>
              </a:rPr>
              <a:t> (PFCA)</a:t>
            </a:r>
            <a:r>
              <a:rPr lang="en-GB" dirty="0">
                <a:latin typeface="Helvetica" pitchFamily="2" charset="0"/>
              </a:rPr>
              <a:t> and </a:t>
            </a:r>
            <a:r>
              <a:rPr lang="en-GB" b="1" dirty="0" err="1">
                <a:latin typeface="Helvetica" pitchFamily="2" charset="0"/>
              </a:rPr>
              <a:t>perfluorosulfonates</a:t>
            </a:r>
            <a:r>
              <a:rPr lang="en-GB" b="1" dirty="0">
                <a:latin typeface="Helvetica" pitchFamily="2" charset="0"/>
              </a:rPr>
              <a:t> (PFSA)</a:t>
            </a:r>
            <a:r>
              <a:rPr lang="en-GB" dirty="0">
                <a:latin typeface="Helvetica" pitchFamily="2" charset="0"/>
              </a:rPr>
              <a:t> accumulate, but patterns differ slightly by chemical type and ecosystem</a:t>
            </a:r>
          </a:p>
        </p:txBody>
      </p:sp>
      <p:sp>
        <p:nvSpPr>
          <p:cNvPr id="9" name="Title 1">
            <a:extLst>
              <a:ext uri="{FF2B5EF4-FFF2-40B4-BE49-F238E27FC236}">
                <a16:creationId xmlns:a16="http://schemas.microsoft.com/office/drawing/2014/main" id="{F4FB2F7F-D1B7-1363-3B87-99F569954999}"/>
              </a:ext>
            </a:extLst>
          </p:cNvPr>
          <p:cNvSpPr>
            <a:spLocks noGrp="1"/>
          </p:cNvSpPr>
          <p:nvPr>
            <p:ph type="title"/>
          </p:nvPr>
        </p:nvSpPr>
        <p:spPr>
          <a:xfrm>
            <a:off x="42204" y="82841"/>
            <a:ext cx="10515600" cy="577410"/>
          </a:xfrm>
        </p:spPr>
        <p:txBody>
          <a:bodyPr>
            <a:noAutofit/>
          </a:bodyPr>
          <a:lstStyle/>
          <a:p>
            <a:r>
              <a:rPr lang="en-GB" sz="2800" b="1" dirty="0">
                <a:solidFill>
                  <a:srgbClr val="C00000"/>
                </a:solidFill>
                <a:latin typeface="Helvetica" pitchFamily="2" charset="0"/>
              </a:rPr>
              <a:t>Environmental behaviour</a:t>
            </a:r>
            <a:endParaRPr lang="en-US" sz="2800" b="1" dirty="0">
              <a:solidFill>
                <a:srgbClr val="C00000"/>
              </a:solidFill>
              <a:latin typeface="Helvetica" pitchFamily="2" charset="0"/>
            </a:endParaRPr>
          </a:p>
        </p:txBody>
      </p:sp>
    </p:spTree>
    <p:extLst>
      <p:ext uri="{BB962C8B-B14F-4D97-AF65-F5344CB8AC3E}">
        <p14:creationId xmlns:p14="http://schemas.microsoft.com/office/powerpoint/2010/main" val="1884021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B998-D571-4A7F-1A40-B10302311CE9}"/>
              </a:ext>
            </a:extLst>
          </p:cNvPr>
          <p:cNvSpPr>
            <a:spLocks noGrp="1"/>
          </p:cNvSpPr>
          <p:nvPr>
            <p:ph type="title"/>
          </p:nvPr>
        </p:nvSpPr>
        <p:spPr>
          <a:xfrm>
            <a:off x="274394" y="237587"/>
            <a:ext cx="10515600" cy="577410"/>
          </a:xfrm>
        </p:spPr>
        <p:txBody>
          <a:bodyPr>
            <a:noAutofit/>
          </a:bodyPr>
          <a:lstStyle/>
          <a:p>
            <a:r>
              <a:rPr lang="en-GB" sz="2800" b="1" dirty="0">
                <a:solidFill>
                  <a:srgbClr val="C00000"/>
                </a:solidFill>
                <a:latin typeface="Helvetica" pitchFamily="2" charset="0"/>
              </a:rPr>
              <a:t>Evidence of Harm</a:t>
            </a:r>
            <a:endParaRPr lang="en-US" sz="2800" b="1" dirty="0">
              <a:solidFill>
                <a:srgbClr val="C00000"/>
              </a:solidFill>
              <a:latin typeface="Helvetica" pitchFamily="2" charset="0"/>
            </a:endParaRPr>
          </a:p>
        </p:txBody>
      </p:sp>
      <p:sp>
        <p:nvSpPr>
          <p:cNvPr id="5" name="TextBox 4">
            <a:extLst>
              <a:ext uri="{FF2B5EF4-FFF2-40B4-BE49-F238E27FC236}">
                <a16:creationId xmlns:a16="http://schemas.microsoft.com/office/drawing/2014/main" id="{0D023427-5E8C-54B3-A912-AC695B7BF06E}"/>
              </a:ext>
            </a:extLst>
          </p:cNvPr>
          <p:cNvSpPr txBox="1"/>
          <p:nvPr/>
        </p:nvSpPr>
        <p:spPr>
          <a:xfrm>
            <a:off x="165295" y="1120676"/>
            <a:ext cx="7234312" cy="3139321"/>
          </a:xfrm>
          <a:prstGeom prst="rect">
            <a:avLst/>
          </a:prstGeom>
          <a:noFill/>
        </p:spPr>
        <p:txBody>
          <a:bodyPr wrap="square">
            <a:spAutoFit/>
          </a:bodyPr>
          <a:lstStyle/>
          <a:p>
            <a:pPr marL="285750" indent="-285750">
              <a:buClr>
                <a:srgbClr val="C00000"/>
              </a:buClr>
              <a:buFont typeface="Arial" panose="020B0604020202020204" pitchFamily="34" charset="0"/>
              <a:buChar char="•"/>
            </a:pPr>
            <a:r>
              <a:rPr lang="en-GB" b="1" dirty="0">
                <a:latin typeface="Helvetica" pitchFamily="2" charset="0"/>
              </a:rPr>
              <a:t>Bioaccumulates</a:t>
            </a:r>
            <a:r>
              <a:rPr lang="en-GB" dirty="0">
                <a:latin typeface="Helvetica" pitchFamily="2" charset="0"/>
              </a:rPr>
              <a:t> in human and animal bloodstreams</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Linked to </a:t>
            </a:r>
            <a:r>
              <a:rPr lang="en-GB" b="1" dirty="0">
                <a:latin typeface="Helvetica" pitchFamily="2" charset="0"/>
              </a:rPr>
              <a:t>cancers</a:t>
            </a:r>
            <a:r>
              <a:rPr lang="en-GB" dirty="0">
                <a:latin typeface="Helvetica" pitchFamily="2" charset="0"/>
              </a:rPr>
              <a:t> (kidney, testicular), </a:t>
            </a:r>
            <a:r>
              <a:rPr lang="en-GB" b="1" dirty="0">
                <a:latin typeface="Helvetica" pitchFamily="2" charset="0"/>
              </a:rPr>
              <a:t>immune suppression</a:t>
            </a:r>
            <a:r>
              <a:rPr lang="en-GB" dirty="0">
                <a:latin typeface="Helvetica" pitchFamily="2" charset="0"/>
              </a:rPr>
              <a:t>, </a:t>
            </a:r>
            <a:r>
              <a:rPr lang="en-GB" b="1" dirty="0">
                <a:latin typeface="Helvetica" pitchFamily="2" charset="0"/>
              </a:rPr>
              <a:t>thyroid disease </a:t>
            </a:r>
            <a:r>
              <a:rPr lang="en-GB" dirty="0">
                <a:latin typeface="Helvetica" pitchFamily="2" charset="0"/>
              </a:rPr>
              <a:t>(EPA, 2022)</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Detected in </a:t>
            </a:r>
            <a:r>
              <a:rPr lang="en-GB" b="1" dirty="0">
                <a:latin typeface="Helvetica" pitchFamily="2" charset="0"/>
              </a:rPr>
              <a:t>drinking water</a:t>
            </a:r>
            <a:r>
              <a:rPr lang="en-GB" dirty="0">
                <a:latin typeface="Helvetica" pitchFamily="2" charset="0"/>
              </a:rPr>
              <a:t>, </a:t>
            </a:r>
            <a:r>
              <a:rPr lang="en-GB" b="1" dirty="0">
                <a:latin typeface="Helvetica" pitchFamily="2" charset="0"/>
              </a:rPr>
              <a:t>wildlife</a:t>
            </a:r>
            <a:r>
              <a:rPr lang="en-GB" dirty="0">
                <a:latin typeface="Helvetica" pitchFamily="2" charset="0"/>
              </a:rPr>
              <a:t> (even in remote Arctic ecosystems)</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Health advisories now recommend </a:t>
            </a:r>
            <a:r>
              <a:rPr lang="en-GB" b="1" dirty="0">
                <a:latin typeface="Helvetica" pitchFamily="2" charset="0"/>
              </a:rPr>
              <a:t>near-zero exposure levels</a:t>
            </a:r>
          </a:p>
          <a:p>
            <a:pPr marL="285750" indent="-285750">
              <a:buClr>
                <a:srgbClr val="C00000"/>
              </a:buClr>
              <a:buFont typeface="Arial" panose="020B0604020202020204" pitchFamily="34" charset="0"/>
              <a:buChar char="•"/>
            </a:pPr>
            <a:endParaRPr lang="en-GB" dirty="0">
              <a:latin typeface="Helvetica" pitchFamily="2" charset="0"/>
            </a:endParaRPr>
          </a:p>
          <a:p>
            <a:pPr marL="285750" indent="-285750">
              <a:buClr>
                <a:srgbClr val="C00000"/>
              </a:buClr>
              <a:buFont typeface="Arial" panose="020B0604020202020204" pitchFamily="34" charset="0"/>
              <a:buChar char="•"/>
            </a:pPr>
            <a:r>
              <a:rPr lang="en-GB" dirty="0">
                <a:latin typeface="Helvetica" pitchFamily="2" charset="0"/>
              </a:rPr>
              <a:t>Urgent regulatory and public health responses underway</a:t>
            </a:r>
          </a:p>
        </p:txBody>
      </p:sp>
      <p:pic>
        <p:nvPicPr>
          <p:cNvPr id="46082" name="Picture 2" descr="PFAS: forever chemicals—persistent, bioaccumulative and mobile. Reviewing  the status and the need for their phase out and remediation of contaminated  sites | Environmental Sciences Europe | Full Text">
            <a:extLst>
              <a:ext uri="{FF2B5EF4-FFF2-40B4-BE49-F238E27FC236}">
                <a16:creationId xmlns:a16="http://schemas.microsoft.com/office/drawing/2014/main" id="{3CEB08A1-3EB0-AA52-C2A8-8AC13B6D25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887" y="0"/>
            <a:ext cx="4583113"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32FE97A-CB1C-8F81-90DE-AFC9B318DC72}"/>
              </a:ext>
            </a:extLst>
          </p:cNvPr>
          <p:cNvSpPr txBox="1"/>
          <p:nvPr/>
        </p:nvSpPr>
        <p:spPr>
          <a:xfrm>
            <a:off x="1547446" y="5134708"/>
            <a:ext cx="4151265" cy="461665"/>
          </a:xfrm>
          <a:prstGeom prst="rect">
            <a:avLst/>
          </a:prstGeom>
          <a:noFill/>
        </p:spPr>
        <p:txBody>
          <a:bodyPr wrap="none" rtlCol="0">
            <a:spAutoFit/>
          </a:bodyPr>
          <a:lstStyle/>
          <a:p>
            <a:r>
              <a:rPr lang="en-US" sz="2400" b="1" dirty="0">
                <a:solidFill>
                  <a:srgbClr val="C00000"/>
                </a:solidFill>
                <a:latin typeface="Helvetica" pitchFamily="2" charset="0"/>
              </a:rPr>
              <a:t>PFAS are clearly pollutants</a:t>
            </a:r>
          </a:p>
        </p:txBody>
      </p:sp>
    </p:spTree>
    <p:extLst>
      <p:ext uri="{BB962C8B-B14F-4D97-AF65-F5344CB8AC3E}">
        <p14:creationId xmlns:p14="http://schemas.microsoft.com/office/powerpoint/2010/main" val="79235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BF57AB-BE89-05C3-3E9A-4C2AC1FCE0E3}"/>
              </a:ext>
            </a:extLst>
          </p:cNvPr>
          <p:cNvSpPr txBox="1">
            <a:spLocks/>
          </p:cNvSpPr>
          <p:nvPr/>
        </p:nvSpPr>
        <p:spPr>
          <a:xfrm>
            <a:off x="274394" y="237587"/>
            <a:ext cx="10515600" cy="5774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800" b="1" dirty="0">
                <a:solidFill>
                  <a:srgbClr val="C00000"/>
                </a:solidFill>
                <a:latin typeface="Helvetica" pitchFamily="2" charset="0"/>
              </a:rPr>
              <a:t>Addressing the PFAS issue</a:t>
            </a:r>
            <a:endParaRPr lang="en-US" sz="2800" b="1" dirty="0">
              <a:solidFill>
                <a:srgbClr val="C00000"/>
              </a:solidFill>
              <a:latin typeface="Helvetica" pitchFamily="2" charset="0"/>
            </a:endParaRPr>
          </a:p>
        </p:txBody>
      </p:sp>
      <p:sp>
        <p:nvSpPr>
          <p:cNvPr id="7" name="TextBox 6">
            <a:extLst>
              <a:ext uri="{FF2B5EF4-FFF2-40B4-BE49-F238E27FC236}">
                <a16:creationId xmlns:a16="http://schemas.microsoft.com/office/drawing/2014/main" id="{BC49C59C-AA64-C191-286D-BC0AEF9D83A2}"/>
              </a:ext>
            </a:extLst>
          </p:cNvPr>
          <p:cNvSpPr txBox="1"/>
          <p:nvPr/>
        </p:nvSpPr>
        <p:spPr>
          <a:xfrm>
            <a:off x="274394" y="1584518"/>
            <a:ext cx="5602532" cy="4247317"/>
          </a:xfrm>
          <a:prstGeom prst="rect">
            <a:avLst/>
          </a:prstGeom>
          <a:noFill/>
        </p:spPr>
        <p:txBody>
          <a:bodyPr wrap="square">
            <a:spAutoFit/>
          </a:bodyPr>
          <a:lstStyle/>
          <a:p>
            <a:pPr>
              <a:buNone/>
            </a:pPr>
            <a:r>
              <a:rPr lang="en-GB" b="1" dirty="0">
                <a:latin typeface="Helvetica" pitchFamily="2" charset="0"/>
              </a:rPr>
              <a:t>Capture technologies:</a:t>
            </a:r>
            <a:r>
              <a:rPr lang="en-GB" dirty="0">
                <a:latin typeface="Helvetica" pitchFamily="2" charset="0"/>
              </a:rPr>
              <a:t> Activated carbon, ion exchange resins</a:t>
            </a:r>
          </a:p>
          <a:p>
            <a:pPr>
              <a:buNone/>
            </a:pPr>
            <a:endParaRPr lang="en-GB" b="1" dirty="0">
              <a:latin typeface="Helvetica" pitchFamily="2" charset="0"/>
            </a:endParaRPr>
          </a:p>
          <a:p>
            <a:pPr>
              <a:buNone/>
            </a:pPr>
            <a:r>
              <a:rPr lang="en-GB" b="1" dirty="0">
                <a:latin typeface="Helvetica" pitchFamily="2" charset="0"/>
              </a:rPr>
              <a:t>Destruction methods:</a:t>
            </a:r>
            <a:r>
              <a:rPr lang="en-GB" dirty="0">
                <a:latin typeface="Helvetica" pitchFamily="2" charset="0"/>
              </a:rPr>
              <a:t> High-temperature incineration, plasma treatment (expensive)</a:t>
            </a:r>
          </a:p>
          <a:p>
            <a:pPr>
              <a:buNone/>
            </a:pPr>
            <a:endParaRPr lang="en-GB" b="1" dirty="0">
              <a:latin typeface="Helvetica" pitchFamily="2" charset="0"/>
            </a:endParaRPr>
          </a:p>
          <a:p>
            <a:pPr>
              <a:buNone/>
            </a:pPr>
            <a:r>
              <a:rPr lang="en-GB" b="1" dirty="0">
                <a:latin typeface="Helvetica" pitchFamily="2" charset="0"/>
              </a:rPr>
              <a:t>Nature-Based Solutions (early-stage):</a:t>
            </a:r>
            <a:r>
              <a:rPr lang="en-GB" dirty="0">
                <a:latin typeface="Helvetica" pitchFamily="2" charset="0"/>
              </a:rPr>
              <a:t> Wetland attenuation, sorption into organic-rich soils </a:t>
            </a:r>
          </a:p>
          <a:p>
            <a:pPr>
              <a:buNone/>
            </a:pPr>
            <a:endParaRPr lang="en-GB" b="1" dirty="0">
              <a:latin typeface="Helvetica" pitchFamily="2" charset="0"/>
            </a:endParaRPr>
          </a:p>
          <a:p>
            <a:pPr>
              <a:buNone/>
            </a:pPr>
            <a:r>
              <a:rPr lang="en-GB" b="1" dirty="0">
                <a:latin typeface="Helvetica" pitchFamily="2" charset="0"/>
              </a:rPr>
              <a:t>Prevention focus:</a:t>
            </a:r>
            <a:r>
              <a:rPr lang="en-GB" dirty="0">
                <a:latin typeface="Helvetica" pitchFamily="2" charset="0"/>
              </a:rPr>
              <a:t> Reducing use and emissions of PFAS at source</a:t>
            </a:r>
          </a:p>
          <a:p>
            <a:endParaRPr lang="en-GB" dirty="0">
              <a:latin typeface="Helvetica" pitchFamily="2" charset="0"/>
            </a:endParaRPr>
          </a:p>
          <a:p>
            <a:endParaRPr lang="en-GB" dirty="0">
              <a:latin typeface="Helvetica" pitchFamily="2" charset="0"/>
            </a:endParaRPr>
          </a:p>
          <a:p>
            <a:r>
              <a:rPr lang="en-GB" dirty="0">
                <a:solidFill>
                  <a:srgbClr val="C00000"/>
                </a:solidFill>
                <a:latin typeface="Helvetica" pitchFamily="2" charset="0"/>
              </a:rPr>
              <a:t>No single "magic bullet" — integrated approaches needed</a:t>
            </a:r>
          </a:p>
        </p:txBody>
      </p:sp>
      <p:pic>
        <p:nvPicPr>
          <p:cNvPr id="9" name="Picture 8">
            <a:extLst>
              <a:ext uri="{FF2B5EF4-FFF2-40B4-BE49-F238E27FC236}">
                <a16:creationId xmlns:a16="http://schemas.microsoft.com/office/drawing/2014/main" id="{5DAB994C-8A26-8042-6937-D44946B90EF9}"/>
              </a:ext>
            </a:extLst>
          </p:cNvPr>
          <p:cNvPicPr>
            <a:picLocks noChangeAspect="1"/>
          </p:cNvPicPr>
          <p:nvPr/>
        </p:nvPicPr>
        <p:blipFill>
          <a:blip r:embed="rId2"/>
          <a:stretch>
            <a:fillRect/>
          </a:stretch>
        </p:blipFill>
        <p:spPr>
          <a:xfrm>
            <a:off x="6136130" y="237587"/>
            <a:ext cx="5933266" cy="3068321"/>
          </a:xfrm>
          <a:prstGeom prst="rect">
            <a:avLst/>
          </a:prstGeom>
        </p:spPr>
      </p:pic>
      <p:pic>
        <p:nvPicPr>
          <p:cNvPr id="47106" name="Picture 2" descr="Constructed Wetlands | Green Infrastructure Solutions">
            <a:extLst>
              <a:ext uri="{FF2B5EF4-FFF2-40B4-BE49-F238E27FC236}">
                <a16:creationId xmlns:a16="http://schemas.microsoft.com/office/drawing/2014/main" id="{5B58A8C9-3481-2BE3-1ECA-9D84239B0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7438" y="3383705"/>
            <a:ext cx="5901957" cy="3319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7211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07CCC-2E1F-9EE4-BD9C-6A0BEE1A693E}"/>
              </a:ext>
            </a:extLst>
          </p:cNvPr>
          <p:cNvSpPr>
            <a:spLocks noGrp="1"/>
          </p:cNvSpPr>
          <p:nvPr>
            <p:ph type="title"/>
          </p:nvPr>
        </p:nvSpPr>
        <p:spPr>
          <a:xfrm>
            <a:off x="134815" y="196313"/>
            <a:ext cx="10515600" cy="704020"/>
          </a:xfrm>
        </p:spPr>
        <p:txBody>
          <a:bodyPr>
            <a:normAutofit/>
          </a:bodyPr>
          <a:lstStyle/>
          <a:p>
            <a:r>
              <a:rPr lang="en-US" sz="2800" b="1" dirty="0">
                <a:solidFill>
                  <a:srgbClr val="C00000"/>
                </a:solidFill>
                <a:latin typeface="Helvetica" pitchFamily="2" charset="0"/>
              </a:rPr>
              <a:t>Other emerging contaminants</a:t>
            </a:r>
          </a:p>
        </p:txBody>
      </p:sp>
      <p:sp>
        <p:nvSpPr>
          <p:cNvPr id="3" name="Content Placeholder 2">
            <a:extLst>
              <a:ext uri="{FF2B5EF4-FFF2-40B4-BE49-F238E27FC236}">
                <a16:creationId xmlns:a16="http://schemas.microsoft.com/office/drawing/2014/main" id="{D89857A3-9805-C8D1-6839-C860EDC1ADCF}"/>
              </a:ext>
            </a:extLst>
          </p:cNvPr>
          <p:cNvSpPr>
            <a:spLocks noGrp="1"/>
          </p:cNvSpPr>
          <p:nvPr>
            <p:ph idx="1"/>
          </p:nvPr>
        </p:nvSpPr>
        <p:spPr>
          <a:xfrm>
            <a:off x="548750" y="1182993"/>
            <a:ext cx="10951625" cy="4992724"/>
          </a:xfrm>
        </p:spPr>
        <p:txBody>
          <a:bodyPr>
            <a:normAutofit fontScale="77500" lnSpcReduction="20000"/>
          </a:bodyPr>
          <a:lstStyle/>
          <a:p>
            <a:pPr marL="12700" indent="-12700">
              <a:buNone/>
            </a:pPr>
            <a:r>
              <a:rPr lang="en-GB" sz="2000" dirty="0">
                <a:latin typeface="Helvetica" pitchFamily="2" charset="0"/>
              </a:rPr>
              <a:t>Plastics and PFAS pollution are just two examples. There are many more, including (but not limited to):</a:t>
            </a:r>
          </a:p>
          <a:p>
            <a:pPr marL="0" indent="0">
              <a:buNone/>
            </a:pPr>
            <a:endParaRPr lang="en-GB" sz="2000" dirty="0">
              <a:latin typeface="Helvetica" pitchFamily="2" charset="0"/>
            </a:endParaRPr>
          </a:p>
          <a:p>
            <a:pPr>
              <a:buNone/>
            </a:pPr>
            <a:r>
              <a:rPr lang="en-GB" sz="2100" dirty="0">
                <a:latin typeface="Helvetica" pitchFamily="2" charset="0"/>
              </a:rPr>
              <a:t>💊 </a:t>
            </a:r>
            <a:r>
              <a:rPr lang="en-GB" sz="2100" b="1" dirty="0">
                <a:latin typeface="Helvetica" pitchFamily="2" charset="0"/>
              </a:rPr>
              <a:t>Pharmaceuticals and Personal Care Products</a:t>
            </a:r>
            <a:br>
              <a:rPr lang="en-GB" sz="2100" dirty="0">
                <a:latin typeface="Helvetica" pitchFamily="2" charset="0"/>
              </a:rPr>
            </a:br>
            <a:r>
              <a:rPr lang="en-GB" sz="2100" i="1" dirty="0">
                <a:latin typeface="Helvetica" pitchFamily="2" charset="0"/>
              </a:rPr>
              <a:t>(e.g., antibiotics, antidepressants, sunscreens)</a:t>
            </a:r>
          </a:p>
          <a:p>
            <a:pPr>
              <a:buNone/>
            </a:pPr>
            <a:endParaRPr lang="en-GB" sz="2100" dirty="0">
              <a:latin typeface="Helvetica" pitchFamily="2" charset="0"/>
            </a:endParaRPr>
          </a:p>
          <a:p>
            <a:pPr>
              <a:buNone/>
            </a:pPr>
            <a:r>
              <a:rPr lang="en-GB" sz="2100" dirty="0">
                <a:latin typeface="Helvetica" pitchFamily="2" charset="0"/>
              </a:rPr>
              <a:t>🌸 </a:t>
            </a:r>
            <a:r>
              <a:rPr lang="en-GB" sz="2100" b="1" dirty="0">
                <a:latin typeface="Helvetica" pitchFamily="2" charset="0"/>
              </a:rPr>
              <a:t>Endocrine Disrupting Chemicals</a:t>
            </a:r>
            <a:br>
              <a:rPr lang="en-GB" sz="2100" dirty="0">
                <a:latin typeface="Helvetica" pitchFamily="2" charset="0"/>
              </a:rPr>
            </a:br>
            <a:r>
              <a:rPr lang="en-GB" sz="2100" i="1" dirty="0">
                <a:latin typeface="Helvetica" pitchFamily="2" charset="0"/>
              </a:rPr>
              <a:t>(e.g., BPA, phthalates — interfere with hormonal systems)</a:t>
            </a:r>
          </a:p>
          <a:p>
            <a:pPr>
              <a:buNone/>
            </a:pPr>
            <a:endParaRPr lang="en-GB" sz="2100" dirty="0">
              <a:latin typeface="Helvetica" pitchFamily="2" charset="0"/>
            </a:endParaRPr>
          </a:p>
          <a:p>
            <a:pPr>
              <a:buNone/>
            </a:pPr>
            <a:r>
              <a:rPr lang="en-GB" sz="2100" dirty="0">
                <a:latin typeface="Helvetica" pitchFamily="2" charset="0"/>
              </a:rPr>
              <a:t>🧪 </a:t>
            </a:r>
            <a:r>
              <a:rPr lang="en-GB" sz="2100" b="1" dirty="0">
                <a:latin typeface="Helvetica" pitchFamily="2" charset="0"/>
              </a:rPr>
              <a:t>Industrial Additives and Plasticisers</a:t>
            </a:r>
            <a:br>
              <a:rPr lang="en-GB" sz="2100" dirty="0">
                <a:latin typeface="Helvetica" pitchFamily="2" charset="0"/>
              </a:rPr>
            </a:br>
            <a:r>
              <a:rPr lang="en-GB" sz="2100" i="1" dirty="0">
                <a:latin typeface="Helvetica" pitchFamily="2" charset="0"/>
              </a:rPr>
              <a:t>(e.g., bisphenol A (BPA), flame retardants, PFAS beyond those covered today)</a:t>
            </a:r>
          </a:p>
          <a:p>
            <a:pPr>
              <a:buNone/>
            </a:pPr>
            <a:endParaRPr lang="en-GB" sz="2100" dirty="0">
              <a:latin typeface="Helvetica" pitchFamily="2" charset="0"/>
            </a:endParaRPr>
          </a:p>
          <a:p>
            <a:pPr>
              <a:buNone/>
            </a:pPr>
            <a:r>
              <a:rPr lang="en-GB" sz="2100" dirty="0">
                <a:latin typeface="Helvetica" pitchFamily="2" charset="0"/>
              </a:rPr>
              <a:t>☠️ </a:t>
            </a:r>
            <a:r>
              <a:rPr lang="en-GB" sz="2100" b="1" dirty="0">
                <a:latin typeface="Helvetica" pitchFamily="2" charset="0"/>
              </a:rPr>
              <a:t>Pesticides and Herbicides</a:t>
            </a:r>
            <a:br>
              <a:rPr lang="en-GB" sz="2100" dirty="0">
                <a:latin typeface="Helvetica" pitchFamily="2" charset="0"/>
              </a:rPr>
            </a:br>
            <a:r>
              <a:rPr lang="en-GB" sz="2100" i="1" dirty="0">
                <a:latin typeface="Helvetica" pitchFamily="2" charset="0"/>
              </a:rPr>
              <a:t>(e.g., neonicotinoids, glyphosate — linked to pollinator and aquatic decline)</a:t>
            </a:r>
          </a:p>
          <a:p>
            <a:pPr>
              <a:buNone/>
            </a:pPr>
            <a:endParaRPr lang="en-GB" sz="2100" dirty="0">
              <a:latin typeface="Helvetica" pitchFamily="2" charset="0"/>
            </a:endParaRPr>
          </a:p>
          <a:p>
            <a:pPr>
              <a:buNone/>
            </a:pPr>
            <a:r>
              <a:rPr lang="en-GB" sz="2100" dirty="0">
                <a:latin typeface="Helvetica" pitchFamily="2" charset="0"/>
              </a:rPr>
              <a:t>⚡ </a:t>
            </a:r>
            <a:r>
              <a:rPr lang="en-GB" sz="2100" b="1" dirty="0">
                <a:latin typeface="Helvetica" pitchFamily="2" charset="0"/>
              </a:rPr>
              <a:t>Flame Retardants</a:t>
            </a:r>
            <a:br>
              <a:rPr lang="en-GB" sz="2100" dirty="0">
                <a:latin typeface="Helvetica" pitchFamily="2" charset="0"/>
              </a:rPr>
            </a:br>
            <a:r>
              <a:rPr lang="en-GB" sz="2100" i="1" dirty="0">
                <a:latin typeface="Helvetica" pitchFamily="2" charset="0"/>
              </a:rPr>
              <a:t>(e.g., PBDEs — persistent, </a:t>
            </a:r>
            <a:r>
              <a:rPr lang="en-GB" sz="2100" i="1" dirty="0" err="1">
                <a:latin typeface="Helvetica" pitchFamily="2" charset="0"/>
              </a:rPr>
              <a:t>bioaccumulative</a:t>
            </a:r>
            <a:r>
              <a:rPr lang="en-GB" sz="2100" i="1" dirty="0">
                <a:latin typeface="Helvetica" pitchFamily="2" charset="0"/>
              </a:rPr>
              <a:t>, toxic)</a:t>
            </a:r>
          </a:p>
          <a:p>
            <a:pPr>
              <a:buNone/>
            </a:pPr>
            <a:endParaRPr lang="en-GB" sz="2100" dirty="0">
              <a:latin typeface="Helvetica" pitchFamily="2" charset="0"/>
            </a:endParaRPr>
          </a:p>
          <a:p>
            <a:pPr>
              <a:buNone/>
            </a:pPr>
            <a:r>
              <a:rPr lang="en-GB" sz="2100" dirty="0">
                <a:latin typeface="Helvetica" pitchFamily="2" charset="0"/>
              </a:rPr>
              <a:t>🔬 </a:t>
            </a:r>
            <a:r>
              <a:rPr lang="en-GB" sz="2100" b="1" dirty="0">
                <a:latin typeface="Helvetica" pitchFamily="2" charset="0"/>
              </a:rPr>
              <a:t>Nanomaterials</a:t>
            </a:r>
            <a:br>
              <a:rPr lang="en-GB" sz="2100" dirty="0">
                <a:latin typeface="Helvetica" pitchFamily="2" charset="0"/>
              </a:rPr>
            </a:br>
            <a:r>
              <a:rPr lang="en-GB" sz="2100" i="1" dirty="0">
                <a:latin typeface="Helvetica" pitchFamily="2" charset="0"/>
              </a:rPr>
              <a:t>(e.g., silver nanoparticles, carbon nanotubes — novel toxicity pathways)</a:t>
            </a:r>
            <a:endParaRPr lang="en-GB" sz="2100" dirty="0">
              <a:latin typeface="Helvetica" pitchFamily="2" charset="0"/>
            </a:endParaRPr>
          </a:p>
          <a:p>
            <a:pPr marL="0" indent="0">
              <a:buNone/>
            </a:pPr>
            <a:endParaRPr lang="en-US" sz="2400" dirty="0">
              <a:latin typeface="Helvetica" pitchFamily="2" charset="0"/>
            </a:endParaRPr>
          </a:p>
        </p:txBody>
      </p:sp>
    </p:spTree>
    <p:extLst>
      <p:ext uri="{BB962C8B-B14F-4D97-AF65-F5344CB8AC3E}">
        <p14:creationId xmlns:p14="http://schemas.microsoft.com/office/powerpoint/2010/main" val="7685914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D33B8-6C3E-5F6C-1712-037859DD6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F670B-DA0A-76D2-9C19-D4CACF4754F0}"/>
              </a:ext>
            </a:extLst>
          </p:cNvPr>
          <p:cNvSpPr>
            <a:spLocks noGrp="1"/>
          </p:cNvSpPr>
          <p:nvPr>
            <p:ph type="title"/>
          </p:nvPr>
        </p:nvSpPr>
        <p:spPr>
          <a:xfrm>
            <a:off x="134815" y="196313"/>
            <a:ext cx="10515600" cy="704020"/>
          </a:xfrm>
        </p:spPr>
        <p:txBody>
          <a:bodyPr>
            <a:normAutofit/>
          </a:bodyPr>
          <a:lstStyle/>
          <a:p>
            <a:r>
              <a:rPr lang="en-US" sz="3200" b="1" dirty="0">
                <a:solidFill>
                  <a:srgbClr val="C00000"/>
                </a:solidFill>
                <a:latin typeface="Helvetica" pitchFamily="2" charset="0"/>
              </a:rPr>
              <a:t>The bigger picture</a:t>
            </a:r>
          </a:p>
        </p:txBody>
      </p:sp>
      <p:sp>
        <p:nvSpPr>
          <p:cNvPr id="3" name="Content Placeholder 2">
            <a:extLst>
              <a:ext uri="{FF2B5EF4-FFF2-40B4-BE49-F238E27FC236}">
                <a16:creationId xmlns:a16="http://schemas.microsoft.com/office/drawing/2014/main" id="{6995CF36-F3DE-F04D-1BE7-B2BD8D69DEF2}"/>
              </a:ext>
            </a:extLst>
          </p:cNvPr>
          <p:cNvSpPr>
            <a:spLocks noGrp="1"/>
          </p:cNvSpPr>
          <p:nvPr>
            <p:ph idx="1"/>
          </p:nvPr>
        </p:nvSpPr>
        <p:spPr>
          <a:xfrm>
            <a:off x="548750" y="1450279"/>
            <a:ext cx="10951625" cy="4351338"/>
          </a:xfrm>
        </p:spPr>
        <p:txBody>
          <a:bodyPr>
            <a:normAutofit/>
          </a:bodyPr>
          <a:lstStyle/>
          <a:p>
            <a:pPr>
              <a:buNone/>
            </a:pPr>
            <a:r>
              <a:rPr lang="en-GB" sz="2000" dirty="0">
                <a:latin typeface="Helvetica" pitchFamily="2" charset="0"/>
              </a:rPr>
              <a:t>Plastics and PFAS pollution are key markers and emerging pollutants of the </a:t>
            </a:r>
            <a:r>
              <a:rPr lang="en-GB" sz="2000" b="1" dirty="0">
                <a:latin typeface="Helvetica" pitchFamily="2" charset="0"/>
              </a:rPr>
              <a:t>Anthropocene</a:t>
            </a:r>
          </a:p>
          <a:p>
            <a:pPr>
              <a:buNone/>
            </a:pPr>
            <a:endParaRPr lang="en-GB" sz="2000" dirty="0">
              <a:latin typeface="Helvetica" pitchFamily="2" charset="0"/>
            </a:endParaRPr>
          </a:p>
          <a:p>
            <a:pPr>
              <a:buNone/>
            </a:pPr>
            <a:r>
              <a:rPr lang="en-GB" sz="2000" dirty="0">
                <a:latin typeface="Helvetica" pitchFamily="2" charset="0"/>
              </a:rPr>
              <a:t>They contribute to the </a:t>
            </a:r>
            <a:r>
              <a:rPr lang="en-GB" sz="2000" b="1" dirty="0">
                <a:latin typeface="Helvetica" pitchFamily="2" charset="0"/>
              </a:rPr>
              <a:t>Triple Planetary Crisis</a:t>
            </a:r>
            <a:r>
              <a:rPr lang="en-GB" sz="2000" dirty="0">
                <a:latin typeface="Helvetica" pitchFamily="2" charset="0"/>
              </a:rPr>
              <a:t>: Climate, Nature, Pollution</a:t>
            </a:r>
          </a:p>
          <a:p>
            <a:pPr>
              <a:buNone/>
            </a:pPr>
            <a:endParaRPr lang="en-GB" sz="2000" dirty="0">
              <a:latin typeface="Helvetica" pitchFamily="2" charset="0"/>
            </a:endParaRPr>
          </a:p>
          <a:p>
            <a:pPr>
              <a:buNone/>
            </a:pPr>
            <a:r>
              <a:rPr lang="en-GB" sz="2000" dirty="0">
                <a:latin typeface="Helvetica" pitchFamily="2" charset="0"/>
              </a:rPr>
              <a:t>Solutions directly align with </a:t>
            </a:r>
            <a:r>
              <a:rPr lang="en-GB" sz="2000" b="1" dirty="0">
                <a:latin typeface="Helvetica" pitchFamily="2" charset="0"/>
              </a:rPr>
              <a:t>SDGs</a:t>
            </a:r>
            <a:r>
              <a:rPr lang="en-GB" sz="2000" dirty="0">
                <a:latin typeface="Helvetica" pitchFamily="2" charset="0"/>
              </a:rPr>
              <a:t>:</a:t>
            </a:r>
          </a:p>
          <a:p>
            <a:pPr>
              <a:buClr>
                <a:srgbClr val="C00000"/>
              </a:buClr>
              <a:buFont typeface="Arial" panose="020B0604020202020204" pitchFamily="34" charset="0"/>
              <a:buChar char="•"/>
            </a:pPr>
            <a:r>
              <a:rPr lang="en-GB" sz="2000" dirty="0">
                <a:latin typeface="Helvetica" pitchFamily="2" charset="0"/>
              </a:rPr>
              <a:t>SDG 6 (Clean Water)</a:t>
            </a:r>
          </a:p>
          <a:p>
            <a:pPr>
              <a:buClr>
                <a:srgbClr val="C00000"/>
              </a:buClr>
              <a:buFont typeface="Arial" panose="020B0604020202020204" pitchFamily="34" charset="0"/>
              <a:buChar char="•"/>
            </a:pPr>
            <a:r>
              <a:rPr lang="en-GB" sz="2000" dirty="0">
                <a:latin typeface="Helvetica" pitchFamily="2" charset="0"/>
              </a:rPr>
              <a:t>SDG 12 (Responsible Consumption and Production)</a:t>
            </a:r>
          </a:p>
          <a:p>
            <a:pPr>
              <a:buClr>
                <a:srgbClr val="C00000"/>
              </a:buClr>
              <a:buFont typeface="Arial" panose="020B0604020202020204" pitchFamily="34" charset="0"/>
              <a:buChar char="•"/>
            </a:pPr>
            <a:r>
              <a:rPr lang="en-GB" sz="2000" dirty="0">
                <a:latin typeface="Helvetica" pitchFamily="2" charset="0"/>
              </a:rPr>
              <a:t>SDG 14 (Life Below Water)</a:t>
            </a:r>
          </a:p>
          <a:p>
            <a:pPr>
              <a:buClr>
                <a:srgbClr val="C00000"/>
              </a:buClr>
              <a:buFont typeface="Arial" panose="020B0604020202020204" pitchFamily="34" charset="0"/>
              <a:buChar char="•"/>
            </a:pPr>
            <a:r>
              <a:rPr lang="en-GB" sz="2000" dirty="0">
                <a:latin typeface="Helvetica" pitchFamily="2" charset="0"/>
              </a:rPr>
              <a:t>SDG 15 (Life on Land)</a:t>
            </a:r>
          </a:p>
          <a:p>
            <a:pPr marL="0" indent="0">
              <a:buNone/>
            </a:pPr>
            <a:endParaRPr lang="en-GB" sz="2000" dirty="0">
              <a:latin typeface="Helvetica" pitchFamily="2" charset="0"/>
            </a:endParaRPr>
          </a:p>
          <a:p>
            <a:pPr marL="0" indent="0">
              <a:buNone/>
            </a:pPr>
            <a:endParaRPr lang="en-GB" sz="2000" dirty="0">
              <a:latin typeface="Helvetica" pitchFamily="2" charset="0"/>
            </a:endParaRPr>
          </a:p>
          <a:p>
            <a:endParaRPr lang="en-US" sz="2400" dirty="0">
              <a:latin typeface="Helvetica" pitchFamily="2" charset="0"/>
            </a:endParaRPr>
          </a:p>
        </p:txBody>
      </p:sp>
      <p:grpSp>
        <p:nvGrpSpPr>
          <p:cNvPr id="4" name="Group 3">
            <a:extLst>
              <a:ext uri="{FF2B5EF4-FFF2-40B4-BE49-F238E27FC236}">
                <a16:creationId xmlns:a16="http://schemas.microsoft.com/office/drawing/2014/main" id="{2AA55A2B-A728-285B-0531-03BA15DB71F1}"/>
              </a:ext>
            </a:extLst>
          </p:cNvPr>
          <p:cNvGrpSpPr/>
          <p:nvPr/>
        </p:nvGrpSpPr>
        <p:grpSpPr>
          <a:xfrm>
            <a:off x="7648172" y="2771970"/>
            <a:ext cx="3852203" cy="3889717"/>
            <a:chOff x="3780069" y="1136542"/>
            <a:chExt cx="4601931" cy="4584915"/>
          </a:xfrm>
        </p:grpSpPr>
        <p:pic>
          <p:nvPicPr>
            <p:cNvPr id="5" name="Picture 4" descr="Are we living in the Anthropocene epoch? Scientific body says &quot;yes&quot;">
              <a:extLst>
                <a:ext uri="{FF2B5EF4-FFF2-40B4-BE49-F238E27FC236}">
                  <a16:creationId xmlns:a16="http://schemas.microsoft.com/office/drawing/2014/main" id="{279C1558-AAA1-3A65-A2D3-0911896D9C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179" t="3828" r="27410" b="5612"/>
            <a:stretch/>
          </p:blipFill>
          <p:spPr bwMode="auto">
            <a:xfrm>
              <a:off x="3809999" y="1136542"/>
              <a:ext cx="4572001" cy="4584915"/>
            </a:xfrm>
            <a:prstGeom prst="ellipse">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AF5A3DE3-6A14-1E2D-6F3F-E8251A1EBDB5}"/>
                </a:ext>
              </a:extLst>
            </p:cNvPr>
            <p:cNvSpPr/>
            <p:nvPr/>
          </p:nvSpPr>
          <p:spPr>
            <a:xfrm>
              <a:off x="3780069" y="1136542"/>
              <a:ext cx="4601931" cy="4584914"/>
            </a:xfrm>
            <a:prstGeom prst="ellipse">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48054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168C-B359-F572-16B8-008B42CB55B0}"/>
              </a:ext>
            </a:extLst>
          </p:cNvPr>
          <p:cNvSpPr>
            <a:spLocks noGrp="1"/>
          </p:cNvSpPr>
          <p:nvPr>
            <p:ph type="title"/>
          </p:nvPr>
        </p:nvSpPr>
        <p:spPr>
          <a:xfrm>
            <a:off x="219222" y="210382"/>
            <a:ext cx="10515600" cy="315912"/>
          </a:xfrm>
        </p:spPr>
        <p:txBody>
          <a:bodyPr>
            <a:noAutofit/>
          </a:bodyPr>
          <a:lstStyle/>
          <a:p>
            <a:r>
              <a:rPr lang="en-GB" sz="3200" b="1" dirty="0">
                <a:solidFill>
                  <a:srgbClr val="C00000"/>
                </a:solidFill>
                <a:latin typeface="Helvetica" pitchFamily="2" charset="0"/>
              </a:rPr>
              <a:t>Key Takeaways</a:t>
            </a:r>
            <a:endParaRPr lang="en-US" sz="3200" b="1" dirty="0">
              <a:solidFill>
                <a:srgbClr val="C00000"/>
              </a:solidFill>
              <a:latin typeface="Helvetica" pitchFamily="2" charset="0"/>
            </a:endParaRPr>
          </a:p>
        </p:txBody>
      </p:sp>
      <p:sp>
        <p:nvSpPr>
          <p:cNvPr id="3" name="Content Placeholder 2">
            <a:extLst>
              <a:ext uri="{FF2B5EF4-FFF2-40B4-BE49-F238E27FC236}">
                <a16:creationId xmlns:a16="http://schemas.microsoft.com/office/drawing/2014/main" id="{CACCE951-6411-F4F2-795D-A5728C84D7D3}"/>
              </a:ext>
            </a:extLst>
          </p:cNvPr>
          <p:cNvSpPr>
            <a:spLocks noGrp="1"/>
          </p:cNvSpPr>
          <p:nvPr>
            <p:ph idx="1"/>
          </p:nvPr>
        </p:nvSpPr>
        <p:spPr>
          <a:xfrm>
            <a:off x="422690" y="773722"/>
            <a:ext cx="11203745" cy="5873896"/>
          </a:xfrm>
        </p:spPr>
        <p:txBody>
          <a:bodyPr>
            <a:normAutofit fontScale="92500" lnSpcReduction="10000"/>
          </a:bodyPr>
          <a:lstStyle/>
          <a:p>
            <a:pPr>
              <a:buNone/>
            </a:pPr>
            <a:r>
              <a:rPr lang="en-GB" sz="1800" dirty="0">
                <a:latin typeface="Helvetica" pitchFamily="2" charset="0"/>
              </a:rPr>
              <a:t>🌍 We are living in the </a:t>
            </a:r>
            <a:r>
              <a:rPr lang="en-GB" sz="1800" b="1" dirty="0">
                <a:latin typeface="Helvetica" pitchFamily="2" charset="0"/>
              </a:rPr>
              <a:t>Anthropocene</a:t>
            </a:r>
            <a:r>
              <a:rPr lang="en-GB" sz="1800" dirty="0">
                <a:latin typeface="Helvetica" pitchFamily="2" charset="0"/>
              </a:rPr>
              <a:t> — human activities are reshaping planetary systems</a:t>
            </a:r>
          </a:p>
          <a:p>
            <a:pPr>
              <a:buNone/>
            </a:pPr>
            <a:endParaRPr lang="en-GB" sz="1300" dirty="0">
              <a:latin typeface="Helvetica" pitchFamily="2" charset="0"/>
            </a:endParaRPr>
          </a:p>
          <a:p>
            <a:pPr>
              <a:buNone/>
            </a:pPr>
            <a:r>
              <a:rPr lang="en-GB" sz="1800" dirty="0">
                <a:latin typeface="Helvetica" pitchFamily="2" charset="0"/>
              </a:rPr>
              <a:t>🔍 </a:t>
            </a:r>
            <a:r>
              <a:rPr lang="en-GB" sz="1800" b="1" dirty="0">
                <a:latin typeface="Helvetica" pitchFamily="2" charset="0"/>
              </a:rPr>
              <a:t>Emerging contaminants</a:t>
            </a:r>
            <a:r>
              <a:rPr lang="en-GB" sz="1800" dirty="0">
                <a:latin typeface="Helvetica" pitchFamily="2" charset="0"/>
              </a:rPr>
              <a:t> are substances of growing concern; they become </a:t>
            </a:r>
            <a:r>
              <a:rPr lang="en-GB" sz="1800" b="1" dirty="0">
                <a:latin typeface="Helvetica" pitchFamily="2" charset="0"/>
              </a:rPr>
              <a:t>pollutants</a:t>
            </a:r>
            <a:r>
              <a:rPr lang="en-GB" sz="1800" dirty="0">
                <a:latin typeface="Helvetica" pitchFamily="2" charset="0"/>
              </a:rPr>
              <a:t> when evidence of harm is demonstrated.</a:t>
            </a:r>
          </a:p>
          <a:p>
            <a:pPr>
              <a:buNone/>
            </a:pPr>
            <a:endParaRPr lang="en-GB" sz="1300" dirty="0">
              <a:latin typeface="Helvetica" pitchFamily="2" charset="0"/>
            </a:endParaRPr>
          </a:p>
          <a:p>
            <a:pPr>
              <a:buNone/>
            </a:pPr>
            <a:r>
              <a:rPr lang="en-GB" sz="1800" dirty="0">
                <a:latin typeface="Helvetica" pitchFamily="2" charset="0"/>
              </a:rPr>
              <a:t>🧪 </a:t>
            </a:r>
            <a:r>
              <a:rPr lang="en-GB" sz="1800" b="1" dirty="0">
                <a:latin typeface="Helvetica" pitchFamily="2" charset="0"/>
              </a:rPr>
              <a:t>Plastics</a:t>
            </a:r>
            <a:r>
              <a:rPr lang="en-GB" sz="1800" dirty="0">
                <a:latin typeface="Helvetica" pitchFamily="2" charset="0"/>
              </a:rPr>
              <a:t> (macro and micro):</a:t>
            </a:r>
          </a:p>
          <a:p>
            <a:pPr marL="808038" indent="-306388">
              <a:buClr>
                <a:srgbClr val="C00000"/>
              </a:buClr>
              <a:buFont typeface="Arial" panose="020B0604020202020204" pitchFamily="34" charset="0"/>
              <a:buChar char="•"/>
            </a:pPr>
            <a:r>
              <a:rPr lang="en-GB" sz="1800" dirty="0">
                <a:latin typeface="Helvetica" pitchFamily="2" charset="0"/>
              </a:rPr>
              <a:t>Widespread, persistent, and fragmenting into microplastics</a:t>
            </a:r>
          </a:p>
          <a:p>
            <a:pPr marL="808038" indent="-306388">
              <a:buClr>
                <a:srgbClr val="C00000"/>
              </a:buClr>
              <a:buFont typeface="Arial" panose="020B0604020202020204" pitchFamily="34" charset="0"/>
              <a:buChar char="•"/>
            </a:pPr>
            <a:r>
              <a:rPr lang="en-GB" sz="1800" dirty="0">
                <a:latin typeface="Helvetica" pitchFamily="2" charset="0"/>
              </a:rPr>
              <a:t>Recycling is imperfect; solutions require waste reduction, improved recycling, and collection efforts</a:t>
            </a:r>
          </a:p>
          <a:p>
            <a:pPr marL="808038" indent="-306388">
              <a:buClr>
                <a:srgbClr val="C00000"/>
              </a:buClr>
              <a:buFont typeface="Arial" panose="020B0604020202020204" pitchFamily="34" charset="0"/>
              <a:buChar char="•"/>
            </a:pPr>
            <a:r>
              <a:rPr lang="en-GB" sz="1800" dirty="0">
                <a:latin typeface="Helvetica" pitchFamily="2" charset="0"/>
              </a:rPr>
              <a:t>Nature-based innovations like </a:t>
            </a:r>
            <a:r>
              <a:rPr lang="en-GB" sz="1800" b="1" dirty="0" err="1">
                <a:latin typeface="Helvetica" pitchFamily="2" charset="0"/>
              </a:rPr>
              <a:t>PETase</a:t>
            </a:r>
            <a:r>
              <a:rPr lang="en-GB" sz="1800" dirty="0">
                <a:latin typeface="Helvetica" pitchFamily="2" charset="0"/>
              </a:rPr>
              <a:t> and </a:t>
            </a:r>
            <a:r>
              <a:rPr lang="en-GB" sz="1800" b="1" dirty="0">
                <a:latin typeface="Helvetica" pitchFamily="2" charset="0"/>
              </a:rPr>
              <a:t>mussel filtration</a:t>
            </a:r>
            <a:r>
              <a:rPr lang="en-GB" sz="1800" dirty="0">
                <a:latin typeface="Helvetica" pitchFamily="2" charset="0"/>
              </a:rPr>
              <a:t> are promising but complementary</a:t>
            </a:r>
          </a:p>
          <a:p>
            <a:pPr>
              <a:buNone/>
            </a:pPr>
            <a:endParaRPr lang="en-GB" sz="1300" dirty="0">
              <a:latin typeface="Helvetica" pitchFamily="2" charset="0"/>
            </a:endParaRPr>
          </a:p>
          <a:p>
            <a:pPr>
              <a:buNone/>
            </a:pPr>
            <a:r>
              <a:rPr lang="en-GB" sz="1800" dirty="0">
                <a:latin typeface="Helvetica" pitchFamily="2" charset="0"/>
              </a:rPr>
              <a:t>🧪 </a:t>
            </a:r>
            <a:r>
              <a:rPr lang="en-GB" sz="1800" b="1" dirty="0">
                <a:latin typeface="Helvetica" pitchFamily="2" charset="0"/>
              </a:rPr>
              <a:t>PFAS (‘Forever Chemicals’):</a:t>
            </a:r>
            <a:endParaRPr lang="en-GB" sz="1800" dirty="0">
              <a:latin typeface="Helvetica" pitchFamily="2" charset="0"/>
            </a:endParaRPr>
          </a:p>
          <a:p>
            <a:pPr marL="808038" indent="-306388">
              <a:buClr>
                <a:srgbClr val="C00000"/>
              </a:buClr>
              <a:buFont typeface="Arial" panose="020B0604020202020204" pitchFamily="34" charset="0"/>
              <a:buChar char="•"/>
            </a:pPr>
            <a:r>
              <a:rPr lang="en-GB" sz="1800" dirty="0">
                <a:latin typeface="Helvetica" pitchFamily="2" charset="0"/>
              </a:rPr>
              <a:t>Synthetic, highly mobile, and resistant to degradation</a:t>
            </a:r>
          </a:p>
          <a:p>
            <a:pPr marL="808038" indent="-306388">
              <a:buClr>
                <a:srgbClr val="C00000"/>
              </a:buClr>
              <a:buFont typeface="Arial" panose="020B0604020202020204" pitchFamily="34" charset="0"/>
              <a:buChar char="•"/>
            </a:pPr>
            <a:r>
              <a:rPr lang="en-GB" sz="1800" dirty="0">
                <a:latin typeface="Helvetica" pitchFamily="2" charset="0"/>
              </a:rPr>
              <a:t>Strong evidence of human and environmental harm; bioaccumulate across ecosystems</a:t>
            </a:r>
          </a:p>
          <a:p>
            <a:pPr marL="808038" indent="-306388">
              <a:buClr>
                <a:srgbClr val="C00000"/>
              </a:buClr>
              <a:buFont typeface="Arial" panose="020B0604020202020204" pitchFamily="34" charset="0"/>
              <a:buChar char="•"/>
            </a:pPr>
            <a:r>
              <a:rPr lang="en-GB" sz="1800" dirty="0">
                <a:latin typeface="Helvetica" pitchFamily="2" charset="0"/>
              </a:rPr>
              <a:t>Urgent need for capture technologies, destruction methods, and nature-based attenuation</a:t>
            </a:r>
          </a:p>
          <a:p>
            <a:pPr>
              <a:buNone/>
            </a:pPr>
            <a:endParaRPr lang="en-GB" sz="1300" dirty="0">
              <a:latin typeface="Helvetica" pitchFamily="2" charset="0"/>
            </a:endParaRPr>
          </a:p>
          <a:p>
            <a:pPr>
              <a:buNone/>
            </a:pPr>
            <a:r>
              <a:rPr lang="en-GB" sz="1800" dirty="0">
                <a:latin typeface="Helvetica" pitchFamily="2" charset="0"/>
              </a:rPr>
              <a:t>🌱 </a:t>
            </a:r>
            <a:r>
              <a:rPr lang="en-GB" sz="1800" b="1" dirty="0">
                <a:latin typeface="Helvetica" pitchFamily="2" charset="0"/>
              </a:rPr>
              <a:t>Nature-Based Solutions</a:t>
            </a:r>
            <a:r>
              <a:rPr lang="en-GB" sz="1800" dirty="0">
                <a:latin typeface="Helvetica" pitchFamily="2" charset="0"/>
              </a:rPr>
              <a:t> (NBS) are essential but must complement prevention and innovation strategies</a:t>
            </a:r>
          </a:p>
          <a:p>
            <a:pPr>
              <a:buNone/>
            </a:pPr>
            <a:endParaRPr lang="en-GB" sz="1300" dirty="0">
              <a:latin typeface="Helvetica" pitchFamily="2" charset="0"/>
            </a:endParaRPr>
          </a:p>
          <a:p>
            <a:pPr>
              <a:buNone/>
            </a:pPr>
            <a:r>
              <a:rPr lang="en-GB" sz="1800" dirty="0">
                <a:latin typeface="Helvetica" pitchFamily="2" charset="0"/>
              </a:rPr>
              <a:t>♻️ </a:t>
            </a:r>
            <a:r>
              <a:rPr lang="en-GB" sz="1800" b="1" dirty="0">
                <a:latin typeface="Helvetica" pitchFamily="2" charset="0"/>
              </a:rPr>
              <a:t>A multi-pronged approach</a:t>
            </a:r>
            <a:r>
              <a:rPr lang="en-GB" sz="1800" dirty="0">
                <a:latin typeface="Helvetica" pitchFamily="2" charset="0"/>
              </a:rPr>
              <a:t> — reduction, recycling, recovery, and innovation — is needed to tackle pollution and stay within </a:t>
            </a:r>
            <a:r>
              <a:rPr lang="en-GB" sz="1800" b="1" dirty="0">
                <a:latin typeface="Helvetica" pitchFamily="2" charset="0"/>
              </a:rPr>
              <a:t>planetary boundaries</a:t>
            </a:r>
            <a:endParaRPr lang="en-US" sz="1800" dirty="0">
              <a:latin typeface="Helvetica" pitchFamily="2" charset="0"/>
            </a:endParaRPr>
          </a:p>
        </p:txBody>
      </p:sp>
    </p:spTree>
    <p:extLst>
      <p:ext uri="{BB962C8B-B14F-4D97-AF65-F5344CB8AC3E}">
        <p14:creationId xmlns:p14="http://schemas.microsoft.com/office/powerpoint/2010/main" val="40665160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BB062-B469-DA43-7EB7-AD4E4789C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D2EA4-8598-B0FC-153D-75C33845C6DB}"/>
              </a:ext>
            </a:extLst>
          </p:cNvPr>
          <p:cNvSpPr>
            <a:spLocks noGrp="1"/>
          </p:cNvSpPr>
          <p:nvPr>
            <p:ph type="title"/>
          </p:nvPr>
        </p:nvSpPr>
        <p:spPr>
          <a:xfrm>
            <a:off x="767865" y="2653674"/>
            <a:ext cx="10515600" cy="1325563"/>
          </a:xfrm>
        </p:spPr>
        <p:txBody>
          <a:bodyPr/>
          <a:lstStyle/>
          <a:p>
            <a:pPr algn="ctr"/>
            <a:r>
              <a:rPr lang="en-US" b="1" dirty="0">
                <a:solidFill>
                  <a:srgbClr val="C00000"/>
                </a:solidFill>
                <a:latin typeface="Helvetica" pitchFamily="2" charset="0"/>
              </a:rPr>
              <a:t>5 MIN BREAK</a:t>
            </a:r>
          </a:p>
        </p:txBody>
      </p:sp>
    </p:spTree>
    <p:extLst>
      <p:ext uri="{BB962C8B-B14F-4D97-AF65-F5344CB8AC3E}">
        <p14:creationId xmlns:p14="http://schemas.microsoft.com/office/powerpoint/2010/main" val="31987768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997CD-CF88-48B9-3685-D84DBA134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5C9CF-C9C9-DE97-4E2B-2EEE5C68AA44}"/>
              </a:ext>
            </a:extLst>
          </p:cNvPr>
          <p:cNvSpPr>
            <a:spLocks noGrp="1"/>
          </p:cNvSpPr>
          <p:nvPr>
            <p:ph type="title"/>
          </p:nvPr>
        </p:nvSpPr>
        <p:spPr>
          <a:xfrm>
            <a:off x="766763" y="1767410"/>
            <a:ext cx="10515600" cy="1325563"/>
          </a:xfrm>
        </p:spPr>
        <p:txBody>
          <a:bodyPr/>
          <a:lstStyle/>
          <a:p>
            <a:pPr algn="ctr"/>
            <a:r>
              <a:rPr lang="en-US" b="1" dirty="0">
                <a:solidFill>
                  <a:srgbClr val="C00000"/>
                </a:solidFill>
                <a:latin typeface="Helvetica" pitchFamily="2" charset="0"/>
              </a:rPr>
              <a:t>Paper of the Week</a:t>
            </a:r>
          </a:p>
        </p:txBody>
      </p:sp>
      <p:pic>
        <p:nvPicPr>
          <p:cNvPr id="4" name="Picture 3">
            <a:extLst>
              <a:ext uri="{FF2B5EF4-FFF2-40B4-BE49-F238E27FC236}">
                <a16:creationId xmlns:a16="http://schemas.microsoft.com/office/drawing/2014/main" id="{F5BE97A5-DD8B-B6E7-C77F-03A94CD20513}"/>
              </a:ext>
            </a:extLst>
          </p:cNvPr>
          <p:cNvPicPr>
            <a:picLocks noChangeAspect="1"/>
          </p:cNvPicPr>
          <p:nvPr/>
        </p:nvPicPr>
        <p:blipFill>
          <a:blip r:embed="rId2"/>
          <a:stretch>
            <a:fillRect/>
          </a:stretch>
        </p:blipFill>
        <p:spPr>
          <a:xfrm>
            <a:off x="2138363" y="3092973"/>
            <a:ext cx="7772400" cy="2076381"/>
          </a:xfrm>
          <a:prstGeom prst="rect">
            <a:avLst/>
          </a:prstGeom>
          <a:ln>
            <a:solidFill>
              <a:srgbClr val="C00000"/>
            </a:solidFill>
          </a:ln>
        </p:spPr>
      </p:pic>
    </p:spTree>
    <p:extLst>
      <p:ext uri="{BB962C8B-B14F-4D97-AF65-F5344CB8AC3E}">
        <p14:creationId xmlns:p14="http://schemas.microsoft.com/office/powerpoint/2010/main" val="20870452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19B39A-B384-D8BA-9FBF-E7A26F420B36}"/>
              </a:ext>
            </a:extLst>
          </p:cNvPr>
          <p:cNvSpPr txBox="1"/>
          <p:nvPr/>
        </p:nvSpPr>
        <p:spPr>
          <a:xfrm>
            <a:off x="766763" y="482388"/>
            <a:ext cx="10515599" cy="5909310"/>
          </a:xfrm>
          <a:prstGeom prst="rect">
            <a:avLst/>
          </a:prstGeom>
          <a:noFill/>
        </p:spPr>
        <p:txBody>
          <a:bodyPr wrap="square">
            <a:spAutoFit/>
          </a:bodyPr>
          <a:lstStyle/>
          <a:p>
            <a:pPr algn="l">
              <a:buNone/>
            </a:pPr>
            <a:r>
              <a:rPr lang="en-GB" i="0" dirty="0">
                <a:solidFill>
                  <a:srgbClr val="0B0B0B"/>
                </a:solidFill>
                <a:effectLst/>
                <a:latin typeface="Helvetica" pitchFamily="2" charset="0"/>
              </a:rPr>
              <a:t>ABSTRACT</a:t>
            </a:r>
          </a:p>
          <a:p>
            <a:pPr algn="l">
              <a:buNone/>
            </a:pPr>
            <a:endParaRPr lang="en-GB" i="0" dirty="0">
              <a:solidFill>
                <a:srgbClr val="0B0B0B"/>
              </a:solidFill>
              <a:effectLst/>
              <a:latin typeface="Helvetica" pitchFamily="2" charset="0"/>
            </a:endParaRPr>
          </a:p>
          <a:p>
            <a:pPr algn="l"/>
            <a:r>
              <a:rPr lang="en-GB" b="0" i="0" dirty="0">
                <a:solidFill>
                  <a:srgbClr val="262626"/>
                </a:solidFill>
                <a:effectLst/>
                <a:latin typeface="Helvetica" pitchFamily="2" charset="0"/>
              </a:rPr>
              <a:t>Environmental exposure </a:t>
            </a:r>
            <a:r>
              <a:rPr lang="en-GB" i="0" dirty="0">
                <a:solidFill>
                  <a:srgbClr val="262626"/>
                </a:solidFill>
                <a:effectLst/>
                <a:latin typeface="Helvetica" pitchFamily="2" charset="0"/>
              </a:rPr>
              <a:t>to </a:t>
            </a:r>
            <a:r>
              <a:rPr lang="en-GB" b="1" i="0" dirty="0">
                <a:solidFill>
                  <a:srgbClr val="262626"/>
                </a:solidFill>
                <a:effectLst/>
                <a:latin typeface="Helvetica" pitchFamily="2" charset="0"/>
              </a:rPr>
              <a:t>active pharmaceutical ingredients (APIs) </a:t>
            </a:r>
            <a:r>
              <a:rPr lang="en-GB" b="0" i="0" dirty="0">
                <a:solidFill>
                  <a:srgbClr val="262626"/>
                </a:solidFill>
                <a:effectLst/>
                <a:latin typeface="Helvetica" pitchFamily="2" charset="0"/>
              </a:rPr>
              <a:t>can have negative effects on the health of ecosystems and humans. While numerous studies have monitored APIs in rivers, these employ different analytical methods, measure different APIs, and have ignored many of the countries of the world. This makes it difficult to quantify the scale of the problem from a global perspective. Furthermore, comparison of the existing data, generated for different studies/regions/continents, is challenging due to the vast differences between the analytical methodologies employed. </a:t>
            </a:r>
            <a:r>
              <a:rPr lang="en-GB" b="0" i="0" dirty="0">
                <a:solidFill>
                  <a:srgbClr val="262626"/>
                </a:solidFill>
                <a:effectLst/>
                <a:highlight>
                  <a:srgbClr val="FFFF00"/>
                </a:highlight>
                <a:latin typeface="Helvetica" pitchFamily="2" charset="0"/>
              </a:rPr>
              <a:t>Here, we present a global-scale study of API pollution in 258 of the world’s rivers, representing the environmental influence of 471.4 million people across 137 geographic regions.</a:t>
            </a:r>
            <a:r>
              <a:rPr lang="en-GB" b="0" i="0" dirty="0">
                <a:solidFill>
                  <a:srgbClr val="262626"/>
                </a:solidFill>
                <a:effectLst/>
                <a:latin typeface="Helvetica" pitchFamily="2" charset="0"/>
              </a:rPr>
              <a:t> Samples were obtained from 1,052 locations in 104 countries (representing all continents and 36 countries not previously studied for API contamination) and </a:t>
            </a:r>
            <a:r>
              <a:rPr lang="en-GB" b="0" i="0" dirty="0" err="1">
                <a:solidFill>
                  <a:srgbClr val="262626"/>
                </a:solidFill>
                <a:effectLst/>
                <a:latin typeface="Helvetica" pitchFamily="2" charset="0"/>
              </a:rPr>
              <a:t>analyzed</a:t>
            </a:r>
            <a:r>
              <a:rPr lang="en-GB" b="0" i="0" dirty="0">
                <a:solidFill>
                  <a:srgbClr val="262626"/>
                </a:solidFill>
                <a:effectLst/>
                <a:latin typeface="Helvetica" pitchFamily="2" charset="0"/>
              </a:rPr>
              <a:t> for 61 APIs. Highest cumulative API concentrations were observed in sub-Saharan Africa, south Asia, and South America. </a:t>
            </a:r>
            <a:r>
              <a:rPr lang="en-GB" b="0" i="0" dirty="0">
                <a:solidFill>
                  <a:srgbClr val="262626"/>
                </a:solidFill>
                <a:effectLst/>
                <a:highlight>
                  <a:srgbClr val="FFFF00"/>
                </a:highlight>
                <a:latin typeface="Helvetica" pitchFamily="2" charset="0"/>
              </a:rPr>
              <a:t>The most contaminated sites were in low- to middle-income countries and were associated with areas with poor wastewater and waste management infrastructure and pharmaceutical manufacturing</a:t>
            </a:r>
            <a:r>
              <a:rPr lang="en-GB" b="0" i="0" dirty="0">
                <a:solidFill>
                  <a:srgbClr val="262626"/>
                </a:solidFill>
                <a:effectLst/>
                <a:latin typeface="Helvetica" pitchFamily="2" charset="0"/>
              </a:rPr>
              <a:t>. The most frequently detected APIs were carbamazepine, metformin, and caffeine (a compound also arising from lifestyle use), which were detected at over half of the sites monitored. Concentrations of at least one API at 25.7% of the sampling sites were greater than concentrations considered safe for aquatic organisms, or which are of concern in terms of selection for antimicrobial resistance. Therefore, </a:t>
            </a:r>
            <a:r>
              <a:rPr lang="en-GB" b="1" i="0" dirty="0">
                <a:solidFill>
                  <a:srgbClr val="262626"/>
                </a:solidFill>
                <a:effectLst/>
                <a:latin typeface="Helvetica" pitchFamily="2" charset="0"/>
              </a:rPr>
              <a:t>pharmaceutical pollution poses a global threat to environmental and human health, as well as to delivery of the United Nations Sustainable Development Goals.</a:t>
            </a:r>
          </a:p>
        </p:txBody>
      </p:sp>
    </p:spTree>
    <p:extLst>
      <p:ext uri="{BB962C8B-B14F-4D97-AF65-F5344CB8AC3E}">
        <p14:creationId xmlns:p14="http://schemas.microsoft.com/office/powerpoint/2010/main" val="2487229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67CE6-2CC1-7E60-AAA0-CD69B4C66E1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A82AC7D-5374-AA2C-3F0E-FDEC8631DCAE}"/>
              </a:ext>
            </a:extLst>
          </p:cNvPr>
          <p:cNvPicPr>
            <a:picLocks noGrp="1" noChangeAspect="1"/>
          </p:cNvPicPr>
          <p:nvPr>
            <p:ph idx="1"/>
          </p:nvPr>
        </p:nvPicPr>
        <p:blipFill>
          <a:blip r:embed="rId2"/>
          <a:stretch>
            <a:fillRect/>
          </a:stretch>
        </p:blipFill>
        <p:spPr>
          <a:xfrm>
            <a:off x="1541938" y="365125"/>
            <a:ext cx="8965249" cy="6400591"/>
          </a:xfrm>
        </p:spPr>
      </p:pic>
    </p:spTree>
    <p:extLst>
      <p:ext uri="{BB962C8B-B14F-4D97-AF65-F5344CB8AC3E}">
        <p14:creationId xmlns:p14="http://schemas.microsoft.com/office/powerpoint/2010/main" val="3603297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a:extLst>
              <a:ext uri="{FF2B5EF4-FFF2-40B4-BE49-F238E27FC236}">
                <a16:creationId xmlns:a16="http://schemas.microsoft.com/office/drawing/2014/main" id="{2DA6A06D-4288-BCC0-B934-3A0DB5F22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8732" y="126609"/>
            <a:ext cx="4378726" cy="66047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909971A-CC61-FE53-9F6C-38449841D35E}"/>
              </a:ext>
            </a:extLst>
          </p:cNvPr>
          <p:cNvSpPr txBox="1"/>
          <p:nvPr/>
        </p:nvSpPr>
        <p:spPr>
          <a:xfrm>
            <a:off x="643597" y="2136338"/>
            <a:ext cx="6098344" cy="2585323"/>
          </a:xfrm>
          <a:prstGeom prst="rect">
            <a:avLst/>
          </a:prstGeom>
          <a:noFill/>
        </p:spPr>
        <p:txBody>
          <a:bodyPr wrap="square">
            <a:spAutoFit/>
          </a:bodyPr>
          <a:lstStyle/>
          <a:p>
            <a:r>
              <a:rPr lang="en-GB" b="0" i="1" dirty="0">
                <a:solidFill>
                  <a:srgbClr val="666666"/>
                </a:solidFill>
                <a:effectLst/>
                <a:latin typeface="Helvetica" pitchFamily="2" charset="0"/>
              </a:rPr>
              <a:t>Cumulative API concentrations quantified across 137 studied river catchments (</a:t>
            </a:r>
            <a:r>
              <a:rPr lang="en-GB" b="0" i="1" u="sng" dirty="0">
                <a:solidFill>
                  <a:srgbClr val="1F75B9"/>
                </a:solidFill>
                <a:effectLst/>
                <a:latin typeface="Helvetica" pitchFamily="2" charset="0"/>
                <a:hlinkClick r:id="rId3"/>
              </a:rPr>
              <a:t>Dataset S6</a:t>
            </a:r>
            <a:r>
              <a:rPr lang="en-GB" b="0" i="1" dirty="0">
                <a:solidFill>
                  <a:srgbClr val="666666"/>
                </a:solidFill>
                <a:effectLst/>
                <a:latin typeface="Helvetica" pitchFamily="2" charset="0"/>
              </a:rPr>
              <a:t>) organized by descending cumulative concentration (ng/L). Percentiles are marked by black lines and countries not previously monitored by crosses above the plot. The cumulative concentrations reported here are calculated as the average of the sum concentration of all quantifiable API residues at each sampling site within respective river catchments.</a:t>
            </a:r>
            <a:endParaRPr lang="en-US" dirty="0">
              <a:latin typeface="Helvetica" pitchFamily="2" charset="0"/>
            </a:endParaRPr>
          </a:p>
        </p:txBody>
      </p:sp>
    </p:spTree>
    <p:extLst>
      <p:ext uri="{BB962C8B-B14F-4D97-AF65-F5344CB8AC3E}">
        <p14:creationId xmlns:p14="http://schemas.microsoft.com/office/powerpoint/2010/main" val="2226759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id="{33901FA8-7C2C-CAD9-7CF8-5FAC5E228C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5866" y="0"/>
            <a:ext cx="6312608" cy="67467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E69658-BB67-DDE7-740A-FEC91006EDBB}"/>
              </a:ext>
            </a:extLst>
          </p:cNvPr>
          <p:cNvSpPr txBox="1"/>
          <p:nvPr/>
        </p:nvSpPr>
        <p:spPr>
          <a:xfrm>
            <a:off x="183526" y="2535127"/>
            <a:ext cx="5593874" cy="1815882"/>
          </a:xfrm>
          <a:prstGeom prst="rect">
            <a:avLst/>
          </a:prstGeom>
          <a:noFill/>
        </p:spPr>
        <p:txBody>
          <a:bodyPr wrap="square">
            <a:spAutoFit/>
          </a:bodyPr>
          <a:lstStyle/>
          <a:p>
            <a:r>
              <a:rPr lang="en-GB" sz="1600" b="0" i="1" dirty="0">
                <a:solidFill>
                  <a:srgbClr val="666666"/>
                </a:solidFill>
                <a:effectLst/>
                <a:latin typeface="Helvetica" pitchFamily="2" charset="0"/>
              </a:rPr>
              <a:t>(A) Detection frequencies (</a:t>
            </a:r>
            <a:r>
              <a:rPr lang="en-GB" sz="1600" b="0" i="1" u="sng" dirty="0">
                <a:solidFill>
                  <a:srgbClr val="1F75B9"/>
                </a:solidFill>
                <a:effectLst/>
                <a:latin typeface="Helvetica" pitchFamily="2" charset="0"/>
                <a:hlinkClick r:id="rId3"/>
              </a:rPr>
              <a:t>Dataset S5</a:t>
            </a:r>
            <a:r>
              <a:rPr lang="en-GB" sz="1600" b="0" i="1" dirty="0">
                <a:solidFill>
                  <a:srgbClr val="666666"/>
                </a:solidFill>
                <a:effectLst/>
                <a:latin typeface="Helvetica" pitchFamily="2" charset="0"/>
              </a:rPr>
              <a:t>) and (B) number of APIs detected at sampling sites in the global monitoring study (</a:t>
            </a:r>
            <a:r>
              <a:rPr lang="en-GB" sz="1600" b="0" i="1" u="sng" dirty="0">
                <a:solidFill>
                  <a:srgbClr val="1F75B9"/>
                </a:solidFill>
                <a:effectLst/>
                <a:latin typeface="Helvetica" pitchFamily="2" charset="0"/>
                <a:hlinkClick r:id="rId3"/>
              </a:rPr>
              <a:t>Dataset S4</a:t>
            </a:r>
            <a:r>
              <a:rPr lang="en-GB" sz="1600" b="0" i="1" dirty="0">
                <a:solidFill>
                  <a:srgbClr val="666666"/>
                </a:solidFill>
                <a:effectLst/>
                <a:latin typeface="Helvetica" pitchFamily="2" charset="0"/>
              </a:rPr>
              <a:t>), excluding sites without the detection of any API, and (C) box-and-whisker plots of concentrations (ng/L) of individual APIs (</a:t>
            </a:r>
            <a:r>
              <a:rPr lang="en-GB" sz="1600" b="0" i="1" u="sng" dirty="0">
                <a:solidFill>
                  <a:srgbClr val="1F75B9"/>
                </a:solidFill>
                <a:effectLst/>
                <a:latin typeface="Helvetica" pitchFamily="2" charset="0"/>
                <a:hlinkClick r:id="rId3"/>
              </a:rPr>
              <a:t>Dataset S4</a:t>
            </a:r>
            <a:r>
              <a:rPr lang="en-GB" sz="1600" b="0" i="1" dirty="0">
                <a:solidFill>
                  <a:srgbClr val="666666"/>
                </a:solidFill>
                <a:effectLst/>
                <a:latin typeface="Helvetica" pitchFamily="2" charset="0"/>
              </a:rPr>
              <a:t>), indicating the mean, minimum, maximum, and upper and lower quartile concentrations for each API globally.</a:t>
            </a:r>
            <a:endParaRPr lang="en-US" sz="1600" dirty="0">
              <a:latin typeface="Helvetica" pitchFamily="2" charset="0"/>
            </a:endParaRPr>
          </a:p>
        </p:txBody>
      </p:sp>
    </p:spTree>
    <p:extLst>
      <p:ext uri="{BB962C8B-B14F-4D97-AF65-F5344CB8AC3E}">
        <p14:creationId xmlns:p14="http://schemas.microsoft.com/office/powerpoint/2010/main" val="40127263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244FC5-619C-6857-BC35-A3CEF2048C83}"/>
              </a:ext>
            </a:extLst>
          </p:cNvPr>
          <p:cNvSpPr>
            <a:spLocks noGrp="1"/>
          </p:cNvSpPr>
          <p:nvPr>
            <p:ph idx="1"/>
          </p:nvPr>
        </p:nvSpPr>
        <p:spPr>
          <a:xfrm>
            <a:off x="317694" y="137501"/>
            <a:ext cx="11874305" cy="4351338"/>
          </a:xfrm>
        </p:spPr>
        <p:txBody>
          <a:bodyPr>
            <a:normAutofit/>
          </a:bodyPr>
          <a:lstStyle/>
          <a:p>
            <a:pPr>
              <a:buClr>
                <a:srgbClr val="C00000"/>
              </a:buClr>
            </a:pPr>
            <a:r>
              <a:rPr lang="en-GB" sz="1600" b="0" i="0" dirty="0">
                <a:solidFill>
                  <a:srgbClr val="262626"/>
                </a:solidFill>
                <a:effectLst/>
                <a:latin typeface="Helvetica" pitchFamily="2" charset="0"/>
              </a:rPr>
              <a:t>The contaminants with the highest concentrations were </a:t>
            </a:r>
            <a:r>
              <a:rPr lang="en-GB" sz="1600" b="1" i="0" dirty="0">
                <a:solidFill>
                  <a:srgbClr val="262626"/>
                </a:solidFill>
                <a:effectLst/>
                <a:latin typeface="Helvetica" pitchFamily="2" charset="0"/>
              </a:rPr>
              <a:t>paracetamol</a:t>
            </a:r>
            <a:r>
              <a:rPr lang="en-GB" sz="1600" b="0" i="0" dirty="0">
                <a:solidFill>
                  <a:srgbClr val="262626"/>
                </a:solidFill>
                <a:effectLst/>
                <a:latin typeface="Helvetica" pitchFamily="2" charset="0"/>
              </a:rPr>
              <a:t>, </a:t>
            </a:r>
            <a:r>
              <a:rPr lang="en-GB" sz="1600" b="1" i="0" dirty="0">
                <a:solidFill>
                  <a:srgbClr val="262626"/>
                </a:solidFill>
                <a:effectLst/>
                <a:latin typeface="Helvetica" pitchFamily="2" charset="0"/>
              </a:rPr>
              <a:t>caffeine</a:t>
            </a:r>
            <a:r>
              <a:rPr lang="en-GB" sz="1600" b="0" i="0" dirty="0">
                <a:solidFill>
                  <a:srgbClr val="262626"/>
                </a:solidFill>
                <a:effectLst/>
                <a:latin typeface="Helvetica" pitchFamily="2" charset="0"/>
              </a:rPr>
              <a:t>, </a:t>
            </a:r>
            <a:r>
              <a:rPr lang="en-GB" sz="1600" b="1" i="0" dirty="0">
                <a:solidFill>
                  <a:srgbClr val="262626"/>
                </a:solidFill>
                <a:effectLst/>
                <a:latin typeface="Helvetica" pitchFamily="2" charset="0"/>
              </a:rPr>
              <a:t>metformin</a:t>
            </a:r>
            <a:r>
              <a:rPr lang="en-GB" sz="1600" b="0" i="0" dirty="0">
                <a:solidFill>
                  <a:srgbClr val="262626"/>
                </a:solidFill>
                <a:effectLst/>
                <a:latin typeface="Helvetica" pitchFamily="2" charset="0"/>
              </a:rPr>
              <a:t>, </a:t>
            </a:r>
            <a:r>
              <a:rPr lang="en-GB" sz="1600" b="1" i="0" dirty="0">
                <a:solidFill>
                  <a:srgbClr val="262626"/>
                </a:solidFill>
                <a:effectLst/>
                <a:latin typeface="Helvetica" pitchFamily="2" charset="0"/>
              </a:rPr>
              <a:t>fexofenadine</a:t>
            </a:r>
            <a:r>
              <a:rPr lang="en-GB" sz="1600" b="0" i="0" dirty="0">
                <a:solidFill>
                  <a:srgbClr val="262626"/>
                </a:solidFill>
                <a:effectLst/>
                <a:latin typeface="Helvetica" pitchFamily="2" charset="0"/>
              </a:rPr>
              <a:t>, </a:t>
            </a:r>
            <a:r>
              <a:rPr lang="en-GB" sz="1600" b="1" i="0" dirty="0">
                <a:solidFill>
                  <a:srgbClr val="262626"/>
                </a:solidFill>
                <a:effectLst/>
                <a:latin typeface="Helvetica" pitchFamily="2" charset="0"/>
              </a:rPr>
              <a:t>sulfamethoxazole</a:t>
            </a:r>
            <a:r>
              <a:rPr lang="en-GB" sz="1600" b="0" i="0" dirty="0">
                <a:solidFill>
                  <a:srgbClr val="262626"/>
                </a:solidFill>
                <a:effectLst/>
                <a:latin typeface="Helvetica" pitchFamily="2" charset="0"/>
              </a:rPr>
              <a:t> (antimicrobial), </a:t>
            </a:r>
            <a:r>
              <a:rPr lang="en-GB" sz="1600" b="1" i="0" dirty="0">
                <a:solidFill>
                  <a:srgbClr val="262626"/>
                </a:solidFill>
                <a:effectLst/>
                <a:latin typeface="Helvetica" pitchFamily="2" charset="0"/>
              </a:rPr>
              <a:t>metronidazole</a:t>
            </a:r>
            <a:r>
              <a:rPr lang="en-GB" sz="1600" b="0" i="0" dirty="0">
                <a:solidFill>
                  <a:srgbClr val="262626"/>
                </a:solidFill>
                <a:effectLst/>
                <a:latin typeface="Helvetica" pitchFamily="2" charset="0"/>
              </a:rPr>
              <a:t> (antimicrobial), and </a:t>
            </a:r>
            <a:r>
              <a:rPr lang="en-GB" sz="1600" b="1" i="0" dirty="0">
                <a:solidFill>
                  <a:srgbClr val="262626"/>
                </a:solidFill>
                <a:effectLst/>
                <a:latin typeface="Helvetica" pitchFamily="2" charset="0"/>
              </a:rPr>
              <a:t>gabapentin</a:t>
            </a:r>
            <a:endParaRPr lang="en-US" sz="1600" b="1" dirty="0">
              <a:latin typeface="Helvetica" pitchFamily="2" charset="0"/>
            </a:endParaRPr>
          </a:p>
        </p:txBody>
      </p:sp>
      <p:pic>
        <p:nvPicPr>
          <p:cNvPr id="5" name="Picture 4">
            <a:extLst>
              <a:ext uri="{FF2B5EF4-FFF2-40B4-BE49-F238E27FC236}">
                <a16:creationId xmlns:a16="http://schemas.microsoft.com/office/drawing/2014/main" id="{25D2DA8E-06B5-288D-58F1-AEFE7CDE165F}"/>
              </a:ext>
            </a:extLst>
          </p:cNvPr>
          <p:cNvPicPr>
            <a:picLocks noChangeAspect="1"/>
          </p:cNvPicPr>
          <p:nvPr/>
        </p:nvPicPr>
        <p:blipFill>
          <a:blip r:embed="rId2"/>
          <a:stretch>
            <a:fillRect/>
          </a:stretch>
        </p:blipFill>
        <p:spPr>
          <a:xfrm>
            <a:off x="2285193" y="792794"/>
            <a:ext cx="7478739" cy="5910458"/>
          </a:xfrm>
          <a:prstGeom prst="rect">
            <a:avLst/>
          </a:prstGeom>
        </p:spPr>
      </p:pic>
    </p:spTree>
    <p:extLst>
      <p:ext uri="{BB962C8B-B14F-4D97-AF65-F5344CB8AC3E}">
        <p14:creationId xmlns:p14="http://schemas.microsoft.com/office/powerpoint/2010/main" val="6904518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DC4C2-6CE5-DDC4-465B-68EEE82480B8}"/>
              </a:ext>
            </a:extLst>
          </p:cNvPr>
          <p:cNvSpPr>
            <a:spLocks noGrp="1"/>
          </p:cNvSpPr>
          <p:nvPr>
            <p:ph idx="1"/>
          </p:nvPr>
        </p:nvSpPr>
        <p:spPr>
          <a:xfrm>
            <a:off x="370447" y="615805"/>
            <a:ext cx="11310425" cy="4351338"/>
          </a:xfrm>
        </p:spPr>
        <p:txBody>
          <a:bodyPr>
            <a:noAutofit/>
          </a:bodyPr>
          <a:lstStyle/>
          <a:p>
            <a:pPr>
              <a:buClr>
                <a:srgbClr val="C00000"/>
              </a:buClr>
              <a:buFont typeface="Arial" panose="020B0604020202020204" pitchFamily="34" charset="0"/>
              <a:buChar char="•"/>
            </a:pPr>
            <a:r>
              <a:rPr lang="en-GB" sz="1600" b="1" dirty="0">
                <a:latin typeface="Helvetica" pitchFamily="2" charset="0"/>
              </a:rPr>
              <a:t>Massive Range Shifts:</a:t>
            </a:r>
            <a:r>
              <a:rPr lang="en-GB" sz="1600" dirty="0">
                <a:latin typeface="Helvetica" pitchFamily="2" charset="0"/>
              </a:rPr>
              <a:t> Climate change and land use changes will cause about 3,139 mammal species to move their geographic ranges by 2070, especially into high elevations and biodiversity hotspots</a:t>
            </a:r>
          </a:p>
          <a:p>
            <a:pPr>
              <a:buClr>
                <a:srgbClr val="C00000"/>
              </a:buClr>
              <a:buFont typeface="Arial" panose="020B0604020202020204" pitchFamily="34" charset="0"/>
              <a:buChar char="•"/>
            </a:pPr>
            <a:endParaRPr lang="en-GB" sz="1600" dirty="0">
              <a:latin typeface="Helvetica" pitchFamily="2" charset="0"/>
            </a:endParaRPr>
          </a:p>
          <a:p>
            <a:pPr>
              <a:buClr>
                <a:srgbClr val="C00000"/>
              </a:buClr>
              <a:buFont typeface="Arial" panose="020B0604020202020204" pitchFamily="34" charset="0"/>
              <a:buChar char="•"/>
            </a:pPr>
            <a:r>
              <a:rPr lang="en-GB" sz="1600" b="1" dirty="0">
                <a:latin typeface="Helvetica" pitchFamily="2" charset="0"/>
              </a:rPr>
              <a:t>Increased Viral Sharing:</a:t>
            </a:r>
            <a:r>
              <a:rPr lang="en-GB" sz="1600" dirty="0">
                <a:latin typeface="Helvetica" pitchFamily="2" charset="0"/>
              </a:rPr>
              <a:t> These shifts will result in at least 4,000 new opportunities for cross-species viral transmission</a:t>
            </a:r>
          </a:p>
          <a:p>
            <a:pPr>
              <a:buClr>
                <a:srgbClr val="C00000"/>
              </a:buClr>
              <a:buFont typeface="Arial" panose="020B0604020202020204" pitchFamily="34" charset="0"/>
              <a:buChar char="•"/>
            </a:pPr>
            <a:endParaRPr lang="en-GB" sz="1600" dirty="0">
              <a:latin typeface="Helvetica" pitchFamily="2" charset="0"/>
            </a:endParaRPr>
          </a:p>
          <a:p>
            <a:pPr>
              <a:buClr>
                <a:srgbClr val="C00000"/>
              </a:buClr>
              <a:buFont typeface="Arial" panose="020B0604020202020204" pitchFamily="34" charset="0"/>
              <a:buChar char="•"/>
            </a:pPr>
            <a:r>
              <a:rPr lang="en-GB" sz="1600" b="1" dirty="0">
                <a:latin typeface="Helvetica" pitchFamily="2" charset="0"/>
              </a:rPr>
              <a:t>Human Risk:</a:t>
            </a:r>
            <a:r>
              <a:rPr lang="en-GB" sz="1600" dirty="0">
                <a:latin typeface="Helvetica" pitchFamily="2" charset="0"/>
              </a:rPr>
              <a:t> New hotspots of viral sharing are expected to overlap heavily with human population </a:t>
            </a:r>
            <a:r>
              <a:rPr lang="en-GB" sz="1600" dirty="0" err="1">
                <a:latin typeface="Helvetica" pitchFamily="2" charset="0"/>
              </a:rPr>
              <a:t>centers</a:t>
            </a:r>
            <a:r>
              <a:rPr lang="en-GB" sz="1600" dirty="0">
                <a:latin typeface="Helvetica" pitchFamily="2" charset="0"/>
              </a:rPr>
              <a:t>, especially in Asia and Africa, raising the risk of zoonotic (animal-to-human) disease spillover</a:t>
            </a:r>
          </a:p>
          <a:p>
            <a:pPr>
              <a:buClr>
                <a:srgbClr val="C00000"/>
              </a:buClr>
              <a:buFont typeface="Arial" panose="020B0604020202020204" pitchFamily="34" charset="0"/>
              <a:buChar char="•"/>
            </a:pPr>
            <a:endParaRPr lang="en-GB" sz="1600" dirty="0">
              <a:latin typeface="Helvetica" pitchFamily="2" charset="0"/>
            </a:endParaRPr>
          </a:p>
          <a:p>
            <a:pPr>
              <a:buClr>
                <a:srgbClr val="C00000"/>
              </a:buClr>
              <a:buFont typeface="Arial" panose="020B0604020202020204" pitchFamily="34" charset="0"/>
              <a:buChar char="•"/>
            </a:pPr>
            <a:r>
              <a:rPr lang="en-GB" sz="1600" b="1" dirty="0">
                <a:latin typeface="Helvetica" pitchFamily="2" charset="0"/>
              </a:rPr>
              <a:t>Role of Bats:</a:t>
            </a:r>
            <a:r>
              <a:rPr lang="en-GB" sz="1600" dirty="0">
                <a:latin typeface="Helvetica" pitchFamily="2" charset="0"/>
              </a:rPr>
              <a:t> Bats are projected to drive the majority of novel viral transmissions due to their high mobility and evolutionary tendencies</a:t>
            </a:r>
          </a:p>
          <a:p>
            <a:pPr>
              <a:buClr>
                <a:srgbClr val="C00000"/>
              </a:buClr>
              <a:buFont typeface="Arial" panose="020B0604020202020204" pitchFamily="34" charset="0"/>
              <a:buChar char="•"/>
            </a:pPr>
            <a:endParaRPr lang="en-GB" sz="1600" dirty="0">
              <a:latin typeface="Helvetica" pitchFamily="2" charset="0"/>
            </a:endParaRPr>
          </a:p>
          <a:p>
            <a:pPr>
              <a:buClr>
                <a:srgbClr val="C00000"/>
              </a:buClr>
              <a:buFont typeface="Arial" panose="020B0604020202020204" pitchFamily="34" charset="0"/>
              <a:buChar char="•"/>
            </a:pPr>
            <a:r>
              <a:rPr lang="en-GB" sz="1600" b="1" dirty="0">
                <a:latin typeface="Helvetica" pitchFamily="2" charset="0"/>
              </a:rPr>
              <a:t>No Easy Fix:</a:t>
            </a:r>
            <a:r>
              <a:rPr lang="en-GB" sz="1600" dirty="0">
                <a:latin typeface="Helvetica" pitchFamily="2" charset="0"/>
              </a:rPr>
              <a:t> Even limiting global warming to under 2°C will not significantly reduce the risk of viral sharing, because species' range expansions will still occur under moderate warming</a:t>
            </a:r>
          </a:p>
          <a:p>
            <a:pPr>
              <a:buClr>
                <a:srgbClr val="C00000"/>
              </a:buClr>
              <a:buFont typeface="Arial" panose="020B0604020202020204" pitchFamily="34" charset="0"/>
              <a:buChar char="•"/>
            </a:pPr>
            <a:endParaRPr lang="en-GB" sz="1600" dirty="0">
              <a:latin typeface="Helvetica" pitchFamily="2" charset="0"/>
            </a:endParaRPr>
          </a:p>
          <a:p>
            <a:pPr>
              <a:buClr>
                <a:srgbClr val="C00000"/>
              </a:buClr>
              <a:buFont typeface="Arial" panose="020B0604020202020204" pitchFamily="34" charset="0"/>
              <a:buChar char="•"/>
            </a:pPr>
            <a:r>
              <a:rPr lang="en-GB" sz="1600" b="1" dirty="0">
                <a:latin typeface="Helvetica" pitchFamily="2" charset="0"/>
              </a:rPr>
              <a:t>Call to Action:</a:t>
            </a:r>
            <a:r>
              <a:rPr lang="en-GB" sz="1600" dirty="0">
                <a:latin typeface="Helvetica" pitchFamily="2" charset="0"/>
              </a:rPr>
              <a:t> The authors stress the need for viral surveillance programs to be paired with biodiversity monitoring, particularly in tropical regions where most emerging diseases originate</a:t>
            </a:r>
          </a:p>
          <a:p>
            <a:pPr marL="0" indent="0">
              <a:buClr>
                <a:srgbClr val="C00000"/>
              </a:buClr>
              <a:buNone/>
            </a:pPr>
            <a:endParaRPr lang="en-GB" sz="1600" dirty="0">
              <a:latin typeface="Helvetica" pitchFamily="2" charset="0"/>
            </a:endParaRPr>
          </a:p>
          <a:p>
            <a:pPr marL="0" indent="0">
              <a:buClr>
                <a:srgbClr val="C00000"/>
              </a:buClr>
              <a:buNone/>
            </a:pPr>
            <a:r>
              <a:rPr lang="en-GB" sz="1600" dirty="0">
                <a:latin typeface="Helvetica" pitchFamily="2" charset="0"/>
              </a:rPr>
              <a:t>Climate change is already setting in motion ecological changes that will </a:t>
            </a:r>
            <a:r>
              <a:rPr lang="en-GB" sz="1600" dirty="0">
                <a:solidFill>
                  <a:srgbClr val="C00000"/>
                </a:solidFill>
                <a:latin typeface="Helvetica" pitchFamily="2" charset="0"/>
              </a:rPr>
              <a:t>heighten the risk of pandemics</a:t>
            </a:r>
            <a:r>
              <a:rPr lang="en-GB" sz="1600" dirty="0">
                <a:latin typeface="Helvetica" pitchFamily="2" charset="0"/>
              </a:rPr>
              <a:t>, and urgent, global cooperation in monitoring wildlife and viruses is necessary to prevent future outbreaks</a:t>
            </a:r>
          </a:p>
          <a:p>
            <a:pPr>
              <a:buClr>
                <a:srgbClr val="C00000"/>
              </a:buClr>
            </a:pPr>
            <a:endParaRPr lang="en-US" sz="1600" dirty="0">
              <a:latin typeface="Helvetica" pitchFamily="2" charset="0"/>
            </a:endParaRPr>
          </a:p>
        </p:txBody>
      </p:sp>
    </p:spTree>
    <p:extLst>
      <p:ext uri="{BB962C8B-B14F-4D97-AF65-F5344CB8AC3E}">
        <p14:creationId xmlns:p14="http://schemas.microsoft.com/office/powerpoint/2010/main" val="26565294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727B4C-EDBF-E808-01AA-ABC9AA131CC7}"/>
              </a:ext>
            </a:extLst>
          </p:cNvPr>
          <p:cNvSpPr>
            <a:spLocks noGrp="1"/>
          </p:cNvSpPr>
          <p:nvPr>
            <p:ph idx="1"/>
          </p:nvPr>
        </p:nvSpPr>
        <p:spPr>
          <a:xfrm>
            <a:off x="794899" y="1730326"/>
            <a:ext cx="11092302" cy="4816026"/>
          </a:xfrm>
        </p:spPr>
        <p:txBody>
          <a:bodyPr>
            <a:normAutofit/>
          </a:bodyPr>
          <a:lstStyle/>
          <a:p>
            <a:pPr marL="514350" indent="-514350">
              <a:buClr>
                <a:srgbClr val="C00000"/>
              </a:buClr>
              <a:buFont typeface="+mj-lt"/>
              <a:buAutoNum type="arabicPeriod"/>
            </a:pPr>
            <a:r>
              <a:rPr lang="en-GB" sz="2400" dirty="0">
                <a:solidFill>
                  <a:srgbClr val="C00000"/>
                </a:solidFill>
                <a:latin typeface="Helvetica" pitchFamily="2" charset="0"/>
              </a:rPr>
              <a:t>Why</a:t>
            </a:r>
            <a:r>
              <a:rPr lang="en-GB" sz="2400" dirty="0">
                <a:latin typeface="Helvetica" pitchFamily="2" charset="0"/>
              </a:rPr>
              <a:t> is pharmaceutical pollution </a:t>
            </a:r>
            <a:r>
              <a:rPr lang="en-GB" sz="2400" dirty="0">
                <a:solidFill>
                  <a:srgbClr val="C00000"/>
                </a:solidFill>
                <a:latin typeface="Helvetica" pitchFamily="2" charset="0"/>
              </a:rPr>
              <a:t>a problem </a:t>
            </a:r>
            <a:r>
              <a:rPr lang="en-GB" sz="2400" dirty="0">
                <a:latin typeface="Helvetica" pitchFamily="2" charset="0"/>
              </a:rPr>
              <a:t>for humans and nature?</a:t>
            </a:r>
          </a:p>
          <a:p>
            <a:pPr marL="514350" indent="-514350">
              <a:buClr>
                <a:srgbClr val="C00000"/>
              </a:buClr>
              <a:buFont typeface="+mj-lt"/>
              <a:buAutoNum type="arabicPeriod"/>
            </a:pPr>
            <a:endParaRPr lang="en-GB" sz="2400" dirty="0">
              <a:latin typeface="Helvetica" pitchFamily="2" charset="0"/>
            </a:endParaRPr>
          </a:p>
          <a:p>
            <a:pPr marL="514350" indent="-514350">
              <a:buClr>
                <a:srgbClr val="C00000"/>
              </a:buClr>
              <a:buFont typeface="+mj-lt"/>
              <a:buAutoNum type="arabicPeriod"/>
            </a:pPr>
            <a:endParaRPr lang="en-GB" sz="2400" dirty="0">
              <a:latin typeface="Helvetica" pitchFamily="2" charset="0"/>
            </a:endParaRPr>
          </a:p>
          <a:p>
            <a:pPr marL="514350" indent="-514350">
              <a:buClr>
                <a:srgbClr val="C00000"/>
              </a:buClr>
              <a:buFont typeface="+mj-lt"/>
              <a:buAutoNum type="arabicPeriod"/>
            </a:pPr>
            <a:r>
              <a:rPr lang="en-GB" sz="2400" dirty="0">
                <a:latin typeface="Helvetica" pitchFamily="2" charset="0"/>
              </a:rPr>
              <a:t>What are the </a:t>
            </a:r>
            <a:r>
              <a:rPr lang="en-GB" sz="2400" dirty="0">
                <a:solidFill>
                  <a:srgbClr val="C00000"/>
                </a:solidFill>
                <a:latin typeface="Helvetica" pitchFamily="2" charset="0"/>
              </a:rPr>
              <a:t>major sources</a:t>
            </a:r>
            <a:r>
              <a:rPr lang="en-GB" sz="2400" dirty="0">
                <a:latin typeface="Helvetica" pitchFamily="2" charset="0"/>
              </a:rPr>
              <a:t>, and how could we </a:t>
            </a:r>
            <a:r>
              <a:rPr lang="en-GB" sz="2400" dirty="0">
                <a:solidFill>
                  <a:srgbClr val="C00000"/>
                </a:solidFill>
                <a:latin typeface="Helvetica" pitchFamily="2" charset="0"/>
              </a:rPr>
              <a:t>minimise</a:t>
            </a:r>
            <a:r>
              <a:rPr lang="en-GB" sz="2400" dirty="0">
                <a:latin typeface="Helvetica" pitchFamily="2" charset="0"/>
              </a:rPr>
              <a:t> them?</a:t>
            </a:r>
          </a:p>
          <a:p>
            <a:pPr marL="514350" indent="-514350">
              <a:buClr>
                <a:srgbClr val="C00000"/>
              </a:buClr>
              <a:buFont typeface="+mj-lt"/>
              <a:buAutoNum type="arabicPeriod"/>
            </a:pPr>
            <a:endParaRPr lang="en-GB" sz="2400" dirty="0">
              <a:latin typeface="Helvetica" pitchFamily="2" charset="0"/>
            </a:endParaRPr>
          </a:p>
          <a:p>
            <a:pPr marL="514350" indent="-514350">
              <a:buClr>
                <a:srgbClr val="C00000"/>
              </a:buClr>
              <a:buFont typeface="+mj-lt"/>
              <a:buAutoNum type="arabicPeriod"/>
            </a:pPr>
            <a:endParaRPr lang="en-GB" sz="2400" dirty="0">
              <a:latin typeface="Helvetica" pitchFamily="2" charset="0"/>
            </a:endParaRPr>
          </a:p>
          <a:p>
            <a:pPr marL="514350" indent="-514350">
              <a:buClr>
                <a:srgbClr val="C00000"/>
              </a:buClr>
              <a:buFont typeface="+mj-lt"/>
              <a:buAutoNum type="arabicPeriod"/>
            </a:pPr>
            <a:r>
              <a:rPr lang="en-GB" sz="2400" dirty="0">
                <a:latin typeface="Helvetica" pitchFamily="2" charset="0"/>
              </a:rPr>
              <a:t>How could we </a:t>
            </a:r>
            <a:r>
              <a:rPr lang="en-GB" sz="2400" dirty="0">
                <a:solidFill>
                  <a:srgbClr val="C00000"/>
                </a:solidFill>
                <a:latin typeface="Helvetica" pitchFamily="2" charset="0"/>
              </a:rPr>
              <a:t>harness nature </a:t>
            </a:r>
            <a:r>
              <a:rPr lang="en-GB" sz="2400" dirty="0">
                <a:latin typeface="Helvetica" pitchFamily="2" charset="0"/>
              </a:rPr>
              <a:t>to help clean up pharmaceutical pollution?</a:t>
            </a:r>
          </a:p>
        </p:txBody>
      </p:sp>
      <p:sp>
        <p:nvSpPr>
          <p:cNvPr id="4" name="Title 1">
            <a:extLst>
              <a:ext uri="{FF2B5EF4-FFF2-40B4-BE49-F238E27FC236}">
                <a16:creationId xmlns:a16="http://schemas.microsoft.com/office/drawing/2014/main" id="{ECE02214-F5C0-10F3-35B2-3B3B88D9409B}"/>
              </a:ext>
            </a:extLst>
          </p:cNvPr>
          <p:cNvSpPr txBox="1">
            <a:spLocks/>
          </p:cNvSpPr>
          <p:nvPr/>
        </p:nvSpPr>
        <p:spPr>
          <a:xfrm>
            <a:off x="208572" y="311648"/>
            <a:ext cx="10515600" cy="6626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C00000"/>
                </a:solidFill>
                <a:latin typeface="Helvetica" pitchFamily="2" charset="0"/>
              </a:rPr>
              <a:t>Discuss:</a:t>
            </a:r>
          </a:p>
          <a:p>
            <a:endParaRPr lang="en-US" sz="2800" b="1" dirty="0">
              <a:solidFill>
                <a:srgbClr val="C00000"/>
              </a:solidFill>
              <a:latin typeface="Helvetica" pitchFamily="2" charset="0"/>
            </a:endParaRPr>
          </a:p>
        </p:txBody>
      </p:sp>
    </p:spTree>
    <p:extLst>
      <p:ext uri="{BB962C8B-B14F-4D97-AF65-F5344CB8AC3E}">
        <p14:creationId xmlns:p14="http://schemas.microsoft.com/office/powerpoint/2010/main" val="2327280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1238</TotalTime>
  <Words>2757</Words>
  <Application>Microsoft Macintosh PowerPoint</Application>
  <PresentationFormat>Widescreen</PresentationFormat>
  <Paragraphs>324</Paragraphs>
  <Slides>59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Aptos</vt:lpstr>
      <vt:lpstr>Aptos Display</vt:lpstr>
      <vt:lpstr>Arial</vt:lpstr>
      <vt:lpstr>Franklin ITC Light</vt:lpstr>
      <vt:lpstr>Harding</vt:lpstr>
      <vt:lpstr>Helvetica</vt:lpstr>
      <vt:lpstr>Source Sans Pro</vt:lpstr>
      <vt:lpstr>Office Theme</vt:lpstr>
      <vt:lpstr>Emerging contaminants &amp; pollutants</vt:lpstr>
      <vt:lpstr>Intended Learning Outcomes</vt:lpstr>
      <vt:lpstr>PowerPoint Presentation</vt:lpstr>
      <vt:lpstr>We are in the Anthropocene</vt:lpstr>
      <vt:lpstr>PowerPoint Presentation</vt:lpstr>
      <vt:lpstr>PowerPoint Presentation</vt:lpstr>
      <vt:lpstr>Contaminants vs Pollutants</vt:lpstr>
      <vt:lpstr>Plastics (macro and micro)</vt:lpstr>
      <vt:lpstr>PowerPoint Presentation</vt:lpstr>
      <vt:lpstr>PowerPoint Presentation</vt:lpstr>
      <vt:lpstr>What are plastics?</vt:lpstr>
      <vt:lpstr>Different plastics and their uses</vt:lpstr>
      <vt:lpstr>How is it made?</vt:lpstr>
      <vt:lpstr>PowerPoint Presentation</vt:lpstr>
      <vt:lpstr>PowerPoint Presentation</vt:lpstr>
      <vt:lpstr>Why is plastic an environmental issue?</vt:lpstr>
      <vt:lpstr>PowerPoint Presentation</vt:lpstr>
      <vt:lpstr>PowerPoint Presentation</vt:lpstr>
      <vt:lpstr>The reality of recycling</vt:lpstr>
      <vt:lpstr>The reality of recycling</vt:lpstr>
      <vt:lpstr>What happens to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PFAS  (aka ‘Forever Chemicals’)</vt:lpstr>
      <vt:lpstr>PowerPoint Presentation</vt:lpstr>
      <vt:lpstr>PowerPoint Presentation</vt:lpstr>
      <vt:lpstr>PowerPoint Presentation</vt:lpstr>
      <vt:lpstr>Environmental behaviour</vt:lpstr>
      <vt:lpstr>Evidence of Harm</vt:lpstr>
      <vt:lpstr>PowerPoint Presentation</vt:lpstr>
      <vt:lpstr>Other emerging contaminants</vt:lpstr>
      <vt:lpstr>The bigger picture</vt:lpstr>
      <vt:lpstr>Key Takeaways</vt:lpstr>
      <vt:lpstr>5 MIN BREAK</vt:lpstr>
      <vt:lpstr>Paper of the Week</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Sophie Nixon</dc:creator>
  <cp:lastModifiedBy>Sophie Nixon</cp:lastModifiedBy>
  <cp:revision>33</cp:revision>
  <dcterms:created xsi:type="dcterms:W3CDTF">2025-04-23T12:41:56Z</dcterms:created>
  <dcterms:modified xsi:type="dcterms:W3CDTF">2025-04-29T04:04:09Z</dcterms:modified>
</cp:coreProperties>
</file>