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30.xml" ContentType="application/vnd.openxmlformats-officedocument.presentationml.tags+xml"/>
  <Override PartName="/ppt/notesSlides/notesSlide32.xml" ContentType="application/vnd.openxmlformats-officedocument.presentationml.notesSlide+xml"/>
  <Override PartName="/ppt/tags/tag31.xml" ContentType="application/vnd.openxmlformats-officedocument.presentationml.tags+xml"/>
  <Override PartName="/ppt/notesSlides/notesSlide3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7" r:id="rId2"/>
    <p:sldId id="424" r:id="rId3"/>
    <p:sldId id="342" r:id="rId4"/>
    <p:sldId id="343" r:id="rId5"/>
    <p:sldId id="345" r:id="rId6"/>
    <p:sldId id="346" r:id="rId7"/>
    <p:sldId id="347" r:id="rId8"/>
    <p:sldId id="348" r:id="rId9"/>
    <p:sldId id="349" r:id="rId10"/>
    <p:sldId id="350" r:id="rId11"/>
    <p:sldId id="353" r:id="rId12"/>
    <p:sldId id="354" r:id="rId13"/>
    <p:sldId id="356" r:id="rId14"/>
    <p:sldId id="358" r:id="rId15"/>
    <p:sldId id="361" r:id="rId16"/>
    <p:sldId id="365" r:id="rId17"/>
    <p:sldId id="258" r:id="rId18"/>
    <p:sldId id="371" r:id="rId19"/>
    <p:sldId id="368" r:id="rId20"/>
    <p:sldId id="329" r:id="rId21"/>
    <p:sldId id="330" r:id="rId22"/>
    <p:sldId id="331" r:id="rId23"/>
    <p:sldId id="332" r:id="rId24"/>
    <p:sldId id="333" r:id="rId25"/>
    <p:sldId id="334" r:id="rId26"/>
    <p:sldId id="311" r:id="rId27"/>
    <p:sldId id="315" r:id="rId28"/>
    <p:sldId id="336" r:id="rId29"/>
    <p:sldId id="422" r:id="rId30"/>
    <p:sldId id="320" r:id="rId31"/>
    <p:sldId id="325" r:id="rId32"/>
    <p:sldId id="323" r:id="rId33"/>
    <p:sldId id="322" r:id="rId34"/>
    <p:sldId id="321" r:id="rId35"/>
    <p:sldId id="340" r:id="rId36"/>
    <p:sldId id="338" r:id="rId37"/>
    <p:sldId id="339" r:id="rId38"/>
    <p:sldId id="307" r:id="rId39"/>
    <p:sldId id="419" r:id="rId40"/>
    <p:sldId id="373" r:id="rId41"/>
    <p:sldId id="375" r:id="rId42"/>
    <p:sldId id="310" r:id="rId43"/>
    <p:sldId id="423" r:id="rId44"/>
    <p:sldId id="380" r:id="rId45"/>
    <p:sldId id="384" r:id="rId46"/>
    <p:sldId id="386" r:id="rId47"/>
    <p:sldId id="396" r:id="rId48"/>
    <p:sldId id="397" r:id="rId49"/>
    <p:sldId id="398" r:id="rId50"/>
    <p:sldId id="400" r:id="rId51"/>
    <p:sldId id="401" r:id="rId52"/>
    <p:sldId id="403" r:id="rId53"/>
    <p:sldId id="404" r:id="rId54"/>
    <p:sldId id="408" r:id="rId55"/>
    <p:sldId id="409" r:id="rId56"/>
    <p:sldId id="426" r:id="rId57"/>
    <p:sldId id="411" r:id="rId58"/>
    <p:sldId id="412" r:id="rId59"/>
    <p:sldId id="415" r:id="rId60"/>
    <p:sldId id="425" r:id="rId61"/>
    <p:sldId id="383" r:id="rId62"/>
    <p:sldId id="420" r:id="rId63"/>
    <p:sldId id="421" r:id="rId64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5" autoAdjust="0"/>
    <p:restoredTop sz="93464" autoAdjust="0"/>
  </p:normalViewPr>
  <p:slideViewPr>
    <p:cSldViewPr>
      <p:cViewPr varScale="1">
        <p:scale>
          <a:sx n="77" d="100"/>
          <a:sy n="77" d="100"/>
        </p:scale>
        <p:origin x="150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Coker" userId="d72aa273-31db-4826-9280-c88045117e4b" providerId="ADAL" clId="{DDA256DA-688D-4652-A3C5-B361B79EFB5B}"/>
    <pc:docChg chg="modSld">
      <pc:chgData name="Victoria Coker" userId="d72aa273-31db-4826-9280-c88045117e4b" providerId="ADAL" clId="{DDA256DA-688D-4652-A3C5-B361B79EFB5B}" dt="2025-03-21T13:26:27.474" v="0" actId="20577"/>
      <pc:docMkLst>
        <pc:docMk/>
      </pc:docMkLst>
      <pc:sldChg chg="modNotesTx">
        <pc:chgData name="Victoria Coker" userId="d72aa273-31db-4826-9280-c88045117e4b" providerId="ADAL" clId="{DDA256DA-688D-4652-A3C5-B361B79EFB5B}" dt="2025-03-21T13:26:27.474" v="0" actId="20577"/>
        <pc:sldMkLst>
          <pc:docMk/>
          <pc:sldMk cId="710655444" sldId="3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4" y="0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/>
          <a:lstStyle>
            <a:lvl1pPr algn="r">
              <a:defRPr sz="1200"/>
            </a:lvl1pPr>
          </a:lstStyle>
          <a:p>
            <a:fld id="{AB919D0B-CDFB-42CE-9D44-514123B788FB}" type="datetimeFigureOut">
              <a:rPr lang="en-GB" smtClean="0"/>
              <a:t>19/03/2025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4" y="6456612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 anchor="b"/>
          <a:lstStyle>
            <a:lvl1pPr algn="r">
              <a:defRPr sz="1200"/>
            </a:lvl1pPr>
          </a:lstStyle>
          <a:p>
            <a:fld id="{66ACDA3B-534F-4926-972A-A597EC627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537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3124" y="0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/>
          <a:lstStyle>
            <a:lvl1pPr algn="r">
              <a:defRPr sz="1200"/>
            </a:lvl1pPr>
          </a:lstStyle>
          <a:p>
            <a:fld id="{496789C2-2F43-464B-832C-D765BCB452A7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8500" y="509588"/>
            <a:ext cx="339725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344" tIns="47672" rIns="95344" bIns="4767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5344" tIns="47672" rIns="95344" bIns="4767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3124" y="6456612"/>
            <a:ext cx="4278842" cy="339883"/>
          </a:xfrm>
          <a:prstGeom prst="rect">
            <a:avLst/>
          </a:prstGeom>
        </p:spPr>
        <p:txBody>
          <a:bodyPr vert="horz" lIns="95344" tIns="47672" rIns="95344" bIns="47672" rtlCol="0" anchor="b"/>
          <a:lstStyle>
            <a:lvl1pPr algn="r">
              <a:defRPr sz="1200"/>
            </a:lvl1pPr>
          </a:lstStyle>
          <a:p>
            <a:fld id="{18B8CF42-9C27-4D2E-95E0-FB8BD74F8E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30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86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029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34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33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164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529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912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223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418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235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897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858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619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16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751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93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55EB7C-282E-4EC3-B9C8-8E5F74BC0D84}" type="slidenum">
              <a:rPr lang="en-GB"/>
              <a:pPr/>
              <a:t>30</a:t>
            </a:fld>
            <a:endParaRPr lang="en-GB"/>
          </a:p>
        </p:txBody>
      </p:sp>
      <p:sp>
        <p:nvSpPr>
          <p:cNvPr id="473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6568" y="3228896"/>
            <a:ext cx="7241116" cy="3058954"/>
          </a:xfrm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384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27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04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419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781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948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410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441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529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4230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3377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9636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FA88C-524C-42C0-8773-76F368B52736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340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0FA88C-524C-42C0-8773-76F368B52736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4468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859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9040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8CF42-9C27-4D2E-95E0-FB8BD74F8E6A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60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65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20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401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08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05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49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4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699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41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72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82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4801E87-2CC2-41E0-B188-81C1512D17D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3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5EF53-55FE-4BC7-924E-F39EBC523750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104E3-5561-4951-BF7F-3BEC30C9D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55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Vicky.coker@manchester.ac.uk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5" Type="http://schemas.openxmlformats.org/officeDocument/2006/relationships/image" Target="../media/image34.jpeg"/><Relationship Id="rId4" Type="http://schemas.openxmlformats.org/officeDocument/2006/relationships/hyperlink" Target="http://en.wikipedia.org/wiki/File:Alphadecay.jp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hyperlink" Target="http://images.google.co.uk/imgres?imgurl=http://www.trihealth.com/ser/cancer/images/Basal_cell_carcinoma.jpg&amp;imgrefurl=http://www.trihealth.com/ser/cancer/what_is_skin_cancer.aspx&amp;usg=__FXlz9SacnEDSxIPEJvTcyr4oK7U=&amp;h=383&amp;w=575&amp;sz=36&amp;hl=en&amp;start=22&amp;um=1&amp;itbs=1&amp;tbnid=bUhxqPxuY2-C4M:&amp;tbnh=89&amp;tbnw=134&amp;prev=/images?q=skin+cancer&amp;ndsp=21&amp;hl=en&amp;rlz=1T4SUNA_enGB299GB304&amp;sa=N&amp;start=21&amp;um=1" TargetMode="External"/><Relationship Id="rId4" Type="http://schemas.openxmlformats.org/officeDocument/2006/relationships/image" Target="../media/image3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5" Type="http://schemas.openxmlformats.org/officeDocument/2006/relationships/image" Target="../media/image53.wmf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63.png"/><Relationship Id="rId5" Type="http://schemas.openxmlformats.org/officeDocument/2006/relationships/image" Target="../media/image62.gif"/><Relationship Id="rId4" Type="http://schemas.openxmlformats.org/officeDocument/2006/relationships/image" Target="../media/image6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.uk/url?sa=i&amp;rct=j&amp;q=&amp;esrc=s&amp;frm=1&amp;source=images&amp;cd=&amp;cad=rja&amp;docid=UTYnsLIv0lgX8M&amp;tbnid=bVHpLMhwaCglJM:&amp;ved=0CAUQjRw&amp;url=http://learningenglish-esl.blogspot.com/2010/05/traffic-signs.html&amp;ei=aGjBUeCxD-PR0QW544GgCg&amp;bvm=bv.47883778,d.d2k&amp;psig=AFQjCNGI4Hu1tc9FTevTJBi4pO6NqTRiHQ&amp;ust=1371715984695787" TargetMode="External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6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6" Type="http://schemas.openxmlformats.org/officeDocument/2006/relationships/hyperlink" Target="http://www.google.co.uk/url?sa=i&amp;rct=j&amp;q=&amp;esrc=s&amp;frm=1&amp;source=images&amp;cd=&amp;cad=rja&amp;docid=HyNB_2xuKMQbdM&amp;tbnid=okgzUvbd-PuePM:&amp;ved=0CAUQjRw&amp;url=http://www.spiegel.de/international/europe/legacy-danger-old-nuclear-waste-found-in-english-channel-a-893991.html&amp;ei=pWPBUbLrMqKI0AWB1oGICw&amp;bvm=bv.47883778,d.d2k&amp;psig=AFQjCNHhrk53255Eh4g2K8jGrRwP694Qrw&amp;ust=1371714753528859" TargetMode="External"/><Relationship Id="rId5" Type="http://schemas.openxmlformats.org/officeDocument/2006/relationships/image" Target="../media/image65.jpeg"/><Relationship Id="rId10" Type="http://schemas.microsoft.com/office/2007/relationships/hdphoto" Target="../media/hdphoto1.wdp"/><Relationship Id="rId4" Type="http://schemas.openxmlformats.org/officeDocument/2006/relationships/image" Target="../media/image64.png"/><Relationship Id="rId9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7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7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gif"/><Relationship Id="rId4" Type="http://schemas.openxmlformats.org/officeDocument/2006/relationships/image" Target="../media/image7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mailto:Vicky.coker@manchester.ac.uk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9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Relationship Id="rId5" Type="http://schemas.openxmlformats.org/officeDocument/2006/relationships/image" Target="../media/image88.jpeg"/><Relationship Id="rId4" Type="http://schemas.openxmlformats.org/officeDocument/2006/relationships/image" Target="../media/image8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gif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102.png"/><Relationship Id="rId4" Type="http://schemas.openxmlformats.org/officeDocument/2006/relationships/image" Target="../media/image101.jp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10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world-nuclear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BBE0-DEF1-6E44-97B3-618D56C29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" y="325369"/>
            <a:ext cx="3276451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/>
              <a:t>A Sustainable Planet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C71B0-E228-5748-A274-244EA0104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3339223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900" b="1" dirty="0">
                <a:solidFill>
                  <a:schemeClr val="tx1"/>
                </a:solidFill>
              </a:rPr>
              <a:t>Week 9</a:t>
            </a:r>
          </a:p>
          <a:p>
            <a:pPr algn="l">
              <a:lnSpc>
                <a:spcPct val="90000"/>
              </a:lnSpc>
            </a:pPr>
            <a:r>
              <a:rPr lang="en-US" sz="1900" b="1" dirty="0">
                <a:solidFill>
                  <a:schemeClr val="tx1"/>
                </a:solidFill>
              </a:rPr>
              <a:t>Low Carbon Energy</a:t>
            </a:r>
          </a:p>
          <a:p>
            <a:pPr algn="l">
              <a:lnSpc>
                <a:spcPct val="90000"/>
              </a:lnSpc>
            </a:pPr>
            <a:endParaRPr lang="en-US" sz="190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Dr Vicky Coker</a:t>
            </a: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Department of Earth and Environmental Sciences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2C842-1D72-2245-B860-AD5AC1DEE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64" r="20274" b="-1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327388-0E8D-2244-BDBE-8994FF988B69}"/>
              </a:ext>
            </a:extLst>
          </p:cNvPr>
          <p:cNvSpPr txBox="1"/>
          <p:nvPr/>
        </p:nvSpPr>
        <p:spPr>
          <a:xfrm>
            <a:off x="3983776" y="6172201"/>
            <a:ext cx="5159081" cy="685799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GB" sz="13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vicky.coker@manchester.ac.uk</a:t>
            </a:r>
            <a:r>
              <a:rPr lang="en-GB" sz="1300">
                <a:solidFill>
                  <a:srgbClr val="FFFFFF"/>
                </a:solidFill>
              </a:rPr>
              <a:t>; Williamson Building</a:t>
            </a:r>
          </a:p>
        </p:txBody>
      </p:sp>
    </p:spTree>
    <p:extLst>
      <p:ext uri="{BB962C8B-B14F-4D97-AF65-F5344CB8AC3E}">
        <p14:creationId xmlns:p14="http://schemas.microsoft.com/office/powerpoint/2010/main" val="87575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05D939-00C4-4F2E-9797-3170DD04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EE4E44-1403-472B-8C01-D354CB8F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2649" y="480060"/>
            <a:ext cx="409359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oster of a climate change&#10;&#10;AI-generated content may be incorrect.">
            <a:extLst>
              <a:ext uri="{FF2B5EF4-FFF2-40B4-BE49-F238E27FC236}">
                <a16:creationId xmlns:a16="http://schemas.microsoft.com/office/drawing/2014/main" id="{D19D5903-1F96-005B-2209-A4F8BB23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6" r="5767" b="2"/>
          <a:stretch/>
        </p:blipFill>
        <p:spPr>
          <a:xfrm>
            <a:off x="4815776" y="643467"/>
            <a:ext cx="3847338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83CCE40-4C5F-42D3-86D9-7892AD1E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093590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and white infographic&#10;&#10;AI-generated content may be incorrect.">
            <a:extLst>
              <a:ext uri="{FF2B5EF4-FFF2-40B4-BE49-F238E27FC236}">
                <a16:creationId xmlns:a16="http://schemas.microsoft.com/office/drawing/2014/main" id="{8826AD37-AA5E-2058-AB29-86DAE962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6" r="4297" b="2"/>
          <a:stretch/>
        </p:blipFill>
        <p:spPr>
          <a:xfrm>
            <a:off x="480885" y="643467"/>
            <a:ext cx="384733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3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Learning outcomes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974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Uranium </a:t>
            </a:r>
          </a:p>
          <a:p>
            <a:pPr lvl="1"/>
            <a:r>
              <a:rPr lang="en-US" dirty="0"/>
              <a:t>Geology</a:t>
            </a:r>
          </a:p>
          <a:p>
            <a:pPr lvl="1"/>
            <a:r>
              <a:rPr lang="en-US" dirty="0"/>
              <a:t>Mining</a:t>
            </a:r>
          </a:p>
          <a:p>
            <a:pPr lvl="1"/>
            <a:r>
              <a:rPr lang="en-US" dirty="0"/>
              <a:t>Processing</a:t>
            </a:r>
          </a:p>
          <a:p>
            <a:r>
              <a:rPr lang="en-US" dirty="0"/>
              <a:t>Enrichment</a:t>
            </a:r>
          </a:p>
          <a:p>
            <a:r>
              <a:rPr lang="en-US" dirty="0"/>
              <a:t>Nuclear Fission</a:t>
            </a:r>
          </a:p>
          <a:p>
            <a:r>
              <a:rPr lang="en-US" dirty="0" err="1"/>
              <a:t>Pressurised</a:t>
            </a:r>
            <a:r>
              <a:rPr lang="en-US" dirty="0"/>
              <a:t> water reactors</a:t>
            </a:r>
          </a:p>
          <a:p>
            <a:r>
              <a:rPr lang="en-US" dirty="0"/>
              <a:t>Comparison with fossil fuels</a:t>
            </a:r>
          </a:p>
          <a:p>
            <a:r>
              <a:rPr lang="en-US" dirty="0"/>
              <a:t>What to do with the waste?</a:t>
            </a:r>
          </a:p>
        </p:txBody>
      </p:sp>
      <p:pic>
        <p:nvPicPr>
          <p:cNvPr id="1026" name="Picture 2" descr="https://encrypted-tbn1.gstatic.com/images?q=tbn:ANd9GcR1kMvSgftc0dPtRvfV24oKbxZ97dgL5_tSLcEQt3YUqcGDJJA34MEH8dL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747" y="26064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330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369"/>
    </mc:Choice>
    <mc:Fallback xmlns="">
      <p:transition spd="slow" advTm="793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A79D4F-D58A-3BC5-452A-F97458AB7BB6}"/>
              </a:ext>
            </a:extLst>
          </p:cNvPr>
          <p:cNvSpPr txBox="1"/>
          <p:nvPr/>
        </p:nvSpPr>
        <p:spPr>
          <a:xfrm>
            <a:off x="2267744" y="6597352"/>
            <a:ext cx="74453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https://www.world-nuclear.org/information-library/current-and-future-generation/nuclear-power-in-the-world-today.aspx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EE903-B613-B99F-FA93-4238A4D0E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5339"/>
            <a:ext cx="5673223" cy="3377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425A8-3B59-D4EE-67CA-5D7DEF342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715188"/>
            <a:ext cx="5673222" cy="28046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58FC3D-76C6-BDAE-D429-6C414ACBD6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290"/>
          <a:stretch/>
        </p:blipFill>
        <p:spPr>
          <a:xfrm>
            <a:off x="5940152" y="4143767"/>
            <a:ext cx="2955368" cy="18722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6B47EE-6E70-FC2E-7BB2-B8E1ADB59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743" y="479804"/>
            <a:ext cx="3063505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1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63"/>
    </mc:Choice>
    <mc:Fallback xmlns="">
      <p:transition spd="slow" advTm="1175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Uranium at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933056"/>
            <a:ext cx="2808312" cy="279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666594" y="211792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/>
              <a:t>Nature and Origin of Nuclear Power</a:t>
            </a:r>
            <a:br>
              <a:rPr lang="en-GB" sz="3600" dirty="0"/>
            </a:br>
            <a:br>
              <a:rPr lang="en-GB" sz="3600" dirty="0"/>
            </a:br>
            <a:r>
              <a:rPr lang="en-GB" sz="3600" dirty="0"/>
              <a:t>What do nuclear reactors “burn”?</a:t>
            </a:r>
          </a:p>
          <a:p>
            <a:endParaRPr lang="en-GB" sz="3600" dirty="0"/>
          </a:p>
          <a:p>
            <a:r>
              <a:rPr lang="en-GB" sz="6000" baseline="30000" dirty="0"/>
              <a:t>235</a:t>
            </a:r>
            <a:r>
              <a:rPr lang="en-GB" sz="6000" dirty="0"/>
              <a:t>U</a:t>
            </a:r>
          </a:p>
          <a:p>
            <a:r>
              <a:rPr lang="en-GB" sz="2400" dirty="0"/>
              <a:t>=92 protons and 143 neutrons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597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965"/>
    </mc:Choice>
    <mc:Fallback xmlns="">
      <p:transition spd="slow" advTm="819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Uranium Occurrence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240" y="1340768"/>
            <a:ext cx="5206977" cy="5141168"/>
          </a:xfrm>
        </p:spPr>
        <p:txBody>
          <a:bodyPr>
            <a:normAutofit fontScale="92500"/>
          </a:bodyPr>
          <a:lstStyle/>
          <a:p>
            <a:r>
              <a:rPr lang="en-GB" dirty="0"/>
              <a:t>Crustal abundance of 2.7 ppm</a:t>
            </a:r>
          </a:p>
          <a:p>
            <a:r>
              <a:rPr lang="en-GB" dirty="0"/>
              <a:t>Uranium is a large atom and only fits into certain minerals</a:t>
            </a:r>
          </a:p>
          <a:p>
            <a:pPr marL="0" indent="0">
              <a:buNone/>
            </a:pPr>
            <a:r>
              <a:rPr lang="en-GB" dirty="0"/>
              <a:t>	e.g. apatite, zircons</a:t>
            </a:r>
          </a:p>
          <a:p>
            <a:r>
              <a:rPr lang="en-GB" dirty="0"/>
              <a:t>Ore of uranium</a:t>
            </a:r>
          </a:p>
          <a:p>
            <a:pPr lvl="1"/>
            <a:r>
              <a:rPr lang="en-GB" dirty="0" err="1"/>
              <a:t>uraninite</a:t>
            </a:r>
            <a:r>
              <a:rPr lang="en-GB" dirty="0"/>
              <a:t> (UO</a:t>
            </a:r>
            <a:r>
              <a:rPr lang="en-GB" baseline="-25000" dirty="0"/>
              <a:t>2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pitchblende (U</a:t>
            </a:r>
            <a:r>
              <a:rPr lang="en-GB" baseline="-25000" dirty="0"/>
              <a:t>3</a:t>
            </a:r>
            <a:r>
              <a:rPr lang="en-GB" dirty="0"/>
              <a:t>O</a:t>
            </a:r>
            <a:r>
              <a:rPr lang="en-GB" baseline="-25000" dirty="0"/>
              <a:t>8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+many others</a:t>
            </a:r>
          </a:p>
          <a:p>
            <a:r>
              <a:rPr lang="en-GB" dirty="0"/>
              <a:t>Variety of deposit types</a:t>
            </a:r>
          </a:p>
          <a:p>
            <a:endParaRPr lang="en-GB" baseline="-25000" dirty="0"/>
          </a:p>
        </p:txBody>
      </p:sp>
      <p:pic>
        <p:nvPicPr>
          <p:cNvPr id="4098" name="Picture 2" descr="Uranium at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340768"/>
            <a:ext cx="2088232" cy="207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data:image/jpeg;base64,/9j/4AAQSkZJRgABAQAAAQABAAD/2wCEAAkGBhQSEBUUERQUFRUWFh4XGBYUFBQXFhcVHBoVGBgVGBgYHCYeFxwlGRYUIC8gIycpLS0sFx4xNTArNScrLCkBCQoKDgwOGg8PGikcHB8sKSwpLCwsKSkpKSksKS0pKSwpKSwpKSkpKSwsKSwpKSkpLCwpKSwsLCksLCksKSksLP/AABEIAN0A5AMBIgACEQEDEQH/xAAbAAEAAgMBAQAAAAAAAAAAAAAABAUCAwYBB//EAEoQAAIBAgMEBgYGBggFBQEAAAECAwARBBIhBTFBUQYTMmFxgSIzUnKRoRRCYoKSsRUjNFNzsgdDY6KzwdHwJFSDk6M1RMLD0hb/xAAZAQEBAQEBAQAAAAAAAAAAAAAAAQMCBQT/xAAgEQEBAAICAwEAAwAAAAAAAAAAAQIRAyESMUEEIlFx/9oADAMBAAIRAxEAPwCfisZCfpk2zJ4UEWz3gjjimQzzMhLPiSitm9BQQrsMxJLbiC1l0b22IY8QkRwmGMX0MfSGzmCVJUVgCub1uQ2LX1upNuH0TC7GgjbNHDEjbsyRopt4gXrYmzolXKsaBb5soRQua4Oa1rXuAb91Bxf9N6g7DxJIFwYiCQND10QuORsSPM1mNvYoY/GQQmLqcJFDKI+qOdlZHLQoVYBb5RYkG2gtrcdli8DHKuWVEcXvZ1VhfnYisYNmRI2ZIo1Yi2ZUVWtpYXAvbQad1B8vn/pKxa4SSQGJm/R0WNDrH6MckkpRoCMxuMu65vod/Dr+inSGabG47DzFGGHMBRlQobTRGQqwzHcRYGr87JhysvVRZXN2Xq0sx33YWsTfiazg2fGjFkjRWIAJVFBIGgBIGtqCRSlKBSlKBSlKBSlKBSlKBSlKBSlKBSlKBXzrppNhGxscInw8GIE0U8s0k0aPHGnZjjzMGLuBbKugDMzdpQ30WoWI2LBI+d4YmbT0mjRm03akXoOK6a7SixWIwUMEkch+kzo+f0sMskUDl45l4uMylR4mpn9HO1oJ9mYbDmRjKcMGaN5CJurzGMvdSDkzCwI4Fa6aHYMCq69WrCSQyP1gD55DYZ2zXubBQOQAA0FZHYkJkMhQMxj6r0tVEVwTGqnQAkAnTWw5CwfOOh21uq6P4Vcs7CUzhngimlZUE05a5jUlS1woY2tcm9xUvoJtzBnYcEGKlVB9FZ5Ee6sYVZg7gb2S9xcXvra9fQsNs+OMFY40QHeERVB8QBrUZuj8BcMYkOWMxKpAyKjEFwqdkZiq30+qKD5lgPosjTTDasOCWaUyJhocXhwETKiAuBIFWRshZgLgFrXJvXtfS/8A+bwv/LYf/sx//mlBZUpSgUpSgUpSgUpSgUpSgUpSgUpSgUpSgUpSgUpSgUpSgUpSgUpSgUpSgUpSgUpSgUpSgUpSgUpSgUpSgUpSgUpSgUpSgUpSgUpSgUpSgUpSgUpSgUpSgUpSgUpSgUpSgUpSgUpSgUpSgUrxmAFzoKgnbkV7IxkPKJWk+JQEDzNBPpVf+kpD2cPL95ol/wDmT8q47pptjErKinNCuW4COfSNzcllte2mnDzq6S3T6DSue6P7TxDYaNniL3HazqrMLmxKtbhbW+u/jVj+liO3DMvfkDj/AMRY1DawpUXDbUikNkdS3s3sw8VOo+FSqKUpSgUpSgUpSgUpSgUpSgUpSgUpSgUpSgUpSgUpULGbQyt1cYzyEXy3sFHtO31V+Z4A62CRicUsalnYKBxJt5d57qhfSZpfVL1a+3KDmPux6EeLEeBrZhtmWYSSnrJOBIsqd0a/V8dSeJrfjcYsUbSObKouf9B30RGXYiE3lzTNzlOYeSaIvkKnqoAsN1c1szp1HM5Tq5A31QBnLd2m421100OtWvXYh+yiRDnIS7fgQgD8dU3FjVbtja2HhyjEMuuoBUsfGwBt41l+jpD28RJ4IsaD5qzfOua6TdDZZJFeFi/o5SJH9IWJ1BItbXd/rQu3Y4fEK6BkIZWFwRuIrZVFsbo20MKoZpQwuTkYZLkk2AZSOPLWpv0WdezMr90sY/mjK2+BqCTicEkgtIisPtAG3hfdUX9GunqJWA9iW8ieRJzr5G3dXkm1XjBM8RVQLl4z1iAcyLBx+G3fVZsrpzFNMIsjJmNlZrankQOzfzqnS1j2rYhZ16pibAk3jY8lfn3MAe6rCsZIgwIYAgixBAII5EHfVccO8GsV5I+MRN2Uf2ZO8fYPkRuMVZ0rVhsUsihkNwf9kEHUEHQg6ittApSlApSlApSlApSlApSlApSlApSom0cb1ajKMzscqLzbv5AAEk8gaDXjsY2bqobdYRck6rGvttzO+y8SOQJrfgsEsS2W5JN2ZtWZuLMeJ/LcLCsdn4Lq11OZmOZ3O9m4nuG4AcAAKjTdI4AxQSB3GmRNWZt2UcCb/Dja1ETcViljXM5sPmSdwAGpJ4Aamq7E4N8UhWS8UTDsCxkbkWJuE4HKLnmeFSMJgSW62axk+qo1WIHgvM823nuGlT6Dmdg9Clw8vWGQuRcKMuUC+hJ1Nza/xrpqr32mWJXDr1hBsXJtEp5Ftcx7lB7yK8/RRf18jP8AZUmOP4Kbt95jVP8AEjEbTijNnkRTyZlB+BN65jpD05MThMOFbS5Zg1uOgGnLf311OGwMcfq0RPdUD8qhbY6OQ4kgyg5hoGU2NuR5i/50Lto2T0riliV5GWNjvDGwBBtox0I41bwzq4ujBhzUgj4isMJg0iQJGLKosB/vfWmbY0TG+QK3tJdH/Elj86h2k4nDiRGRtVYFT4EWNctgOgCxy5+ub0TdLKoIPAkm4a3Kwq86maLsN1y+zJZX+64Fj4MPvVvwe0FkuBdWXtIws6+I5d4uDwNU9tCY9oyFxAAubLKvYY8AwPq27iSDwN9KsaxkjDAhgCCLEEXBHIjjVZ1hwujEmDgxNzDyDHjHyJ7PHTUQbMXg2RjLCPS+um4Sgfk4G5uO46WIl4TFLIgZDofIgjQgjgQbgjurVgdqxTX6qRXtvsdR5VGxi9Q5mXsN65eXATDvA7XNdfq6haUrwGvaKUpSgUpSgUpSgUpSgUpSgVW7OHWuZzuPoxd0d9X++Rf3QvfWe2HJURKbNK2S43hbEu3kga3eRU2NAoAAsALADcBwFBhiWARiWygKbt7ItqfLfXzvYnRDEddExXKgZXzkgHKCD2b5gTbcRpfWu3xw62VYfqraSTvF/wBWnmwJPcluNWVVLNqzpFtNsPhnkUXYWAvuBJAue4XrmOje3ZsXL1M7XTKWOQBSbWGViPq68LX3XtpXS4lPpMhjOsKH9Z9t9CI/dGhbvsOdb9nbFhgv1MYUnedST3XJJt3UT6mRxhQAoAAFgALADkBwrVi8ckQvIwW+gvvJ5KBqx7hUfE41mcxwWLDtudUjvrr7T21C+ZI0vswmzVQ5tWkO+R9XPdf6o+yLDuqOmr9ISN6uBre1KwjHwsz/ABUVxfTiLEmRDIvoZfREeZkDXN73A9Ldw3W76+iV5V2lm3P9Hji1wyZ0RtNzuyyBbmwN1Iva2+2lqsP0yq6TI8Pe4BT/ALikqPMirGvCKgBr6iom0cGrrmNwyAlXTtqe48b+ydDxFaX2c0XpYaw4mI6Rt7v7tu8acxxqVgsasq3FwQbMraMrcVYcD+dwRcGiuE2V04xDYhA+VkdlUqFAtcgXB331vrXX9JdmtPhnjjNmNiLmwNiDY+Nqwl6LQZi6IEkOodb3Vt4YC+Xf3a6jjUvZuMLqQ4AkQ5XA3X3hh9kixHjbeDVcyf25HohsSXD4oGcGPMjKoupzm6ki6kgWAvbjY8jXckX31G2jg+sjIBswOZG9lxqrfHeOIJHGvdn4vrIw1rHcy+y4NmXyYEUWTSNsz9W7QHcozRHnFuy/cPo+BSrKq/bK5VEo3xHN3lN0i/hufFVqerXFxuqD2lKUUpSlApSlApSlApSlBXxeninPCJAg957O/wDdEXxNT2awuagbF1Rn/eSO3lmKr/cVa5X+kPFSq6KCyxFeBIBa5uGtv0y6Hmaqb1HVbFW8ZkO+U9Z4KbBB5IEHjetu08UY4yV1ckKgPF2Nlv3XNz3A1X9DppGwiGa97kKW3lPqk/PXkBUub08Si8I0Mh95ron90S/Gh8ScDhBFGqDWw1J3sTqzHvJJJ8a0bSxLDLHH6yS9ja4RR2pCONriw4kqKnVXbMGd5Jj9Zsid0aEj5tnbwK8qipeDwixoFXcOJ1JJ1LE8STqTULbm348KoL5mdzaOJBeSRt9lHIbyxsAN5qRtXaaYeF5pDZY1LG288gBxJNgBzIrktmYV2ZsRiNZ5RqN4ij3rAnILxP1muTwtzldNeLivJdMpZMXiNZpjh0O6HDEZrfbnIzE+4FHeajt0Vw51dGkPOSWaRvi7mrelZXK16OPDhj8VadHkT1Ek8B/sp5MvnG5ZD5rUvD9Jp8N+2ASw/wDMRJlZBzmiF/R5umg4qBrUmlJlYmfBhl806SKUMoZSGUi4IIIIOoII3i1Qdo4co3XxAllFnUf1kY4e8NSvmNxrnNiYn6HiFh/9tOxEY4Qz6sYxyRwGIHBgQO0K7StpdvMzwuN1WEMwdQym6sAQRxB1BqBtAdXIkw3aRye4T6Lfdc/B2r3Zw6uSSLgD1idyOTdfJw3ky1MxWHEiMjbmUqfAi1Vw21XQjq8Sy/VlXrB762V/ipjPk1btk4gvChbtWyt76kq395TXD9PMXMuJAuyoFBjykgX+sbjjfTwtzqwtfQiL1A2KbRmM74mMf3V7H/jKHzrHo5LI2FiM185XW+8i5yk95WxrLD+jipV9tEfzGZG+Sx1BYUpSilKUoFKUoFKUoFYyNYE8hesq1Ysfq290/kaCNsNbYaH+EvxKgn51htRbvAp3GW/4Y5W/MCt2yP2eL+Gn8orVtD12H99v8J6qLCqvZeIV58QysrWZV0YH0QinhwzO48jW7beFeTDypGbMyEDh5X4X3edcV0M2JOuLzMpRY7q99Lkronf2lblu7qFvbuto4jq4ZHG9UZvMAn/KvcBh+riRPZQL8ABWjb4/4Wb+G38pqcKiuX6ZPnlwkH1WkaZxzWEAqD/1XiP3ayrV0jFto4YnccPOB4h8MT8vyrbWOft6X5Z/BUdJ+kH0LDtO0bSIls+RkBUEhQbMRf0mA0qFhOl7vHFN9ElWGYxgSGWA2EroiMVD5rXdb6VH/pU/9IxPgn+NFWnoRhcV9GwLNKhgGH1RY2RhdF6vMxkYSW13KvOpJ07yyy89R2QpXx+DA4zH4vH9U6rPBilEckk0qmGNGlARERGBVgBfduG+9fXx31LNOsM/P4r+kGFMmGkC6OFzxnlKnpxkffVa67ZeOE0EUo3SRq48GUN/nXPzMApJ3AEnwA1qw6EoRs3CA7/o8f8AItaYPk/XO5UrGDLiIG9rPGfNesH+F86sKgbS9Zh/4x/wpq3bRhZ4ZFQ2ZkYKeRIIB+NaPiRNjYlc86KynLKxsGBNmCMTYfaZh4g1s2+l8NLzCFh4qMwPxFcP0V2DOuMUlCgiazk2t2b5O+4Zd3A3ru9tfs038J/5Wq1J6TFOlQJtMXH3xSD4NCR+ZqbAPRXwH5VCxX7VD7kn/wBVRVhSlKKUpSgUpSgUpSgV4RXtKCBsFv8AhouYQKfFRlPzBqF0k2vHA0BdrESZrAEnLkdCbD36mbJ061PYla3g9pR/OR5VSdMei74hhLERdUylTcXAJIynnqRbwqpfTpMFjUlQPGwZW3Ef70NRsH6OImX2gkg8wYz/AIY+NR+imzhDhUAbNm9O43elY6eVq34/0JopOBJibwexQ/jVR9+oJmJgDoyHcylT4EW/zrRsicvBGT2stm99fRYfiBqZVbhz1U7IezLeRPf/AKxPyfzflRVX05hyxxYkD9mkzvbf1DAxy/AMH/6dYg33V00kYYEMAQRYg6gg7wRxrhWhOz3EMpP0ZjaCY7kvuw8p+qRuRjowsN41zzm+31/m5JjfG/Unaex4cSmSeNZFBvla9r87ca92bsmLDrkgQRrvyre3LQE6eVS6Vk+/U3tUYzolhJZuukgjaQ72sQWta2YA2fcO0DuFW9Kj47HpCheRsqjTmSTuVQNWY8ANTVOse0PpCxaIQJ6zEt1CcxnvnfwWPO3lXbwQhFVVFlUBQOQAsB8K5zozsd2kOLxK5XK5YojqYYjYnNw617AtbcAF4G/SySBQWYgAC5J3ADUk1tjNR5fNyeeXXpBn9LFRjhGjOfFrInyEvwqwqv2ShIaVgQ0pzAHesYFkU8jl1I5sa37SxXVxMw1a1lHNzog82IFdMGjY+okf25nPkp6sfKMVB6VbciiiaJm9ORCAACbBtCTbcLX+FW+BwvVxog1yqBfnYanzOtcj0s6LvNilaJlvIuoa4sEygtcA6ekotz+VS+nYYbEK6BkIZWFwRuIqI5vi1+zCx/E8YH8hrLYmzfo8CRXzZRqeZJJNu65NY4L0p535FYx90Fz85SPKoqwpSlFKUpQKUpQKUpQKUpQV8noYpTwlTJ99LsvxUyfhFWFRNqYUvGQvbUh0J9tTdb9x3HuJrZgsUJI1ddzC9jvB4qe8G4PeKCLss5GkhP1DmT+G5JHwbOvgo51LxmFEkbI25hbTeO8d4Oo8Ki7UiIyzICWjvdRveM2zqOZ0DDvUDjUuDEq4BVgQQCLHeDuNEaNmYsupD+sQ5XH2h9YdzCzDx7qzx+DEiWvlIOZWG9XG5h/pxBI41A2/MMOPpI3rZWX94hOi9zAm4PiONRejvTBcVIYymRgMw9LMCBa+thY6iqb+LXAY4tdJAFlXtLwI4OnND8tx1FScRhlkQpIqsrCzKwBUg7wQdCK1Y3ALJbUqy6q66Mp7jxB4g3B4iowx7xaTrcfvY1JX7yi7J8x3ioKaXodJF+xT5U4QYgNLGO5HBEkY7rsBwFR2gx66HCxP3x4qw+Dxgiuuw+JWQZkZWHNSCPiKj7R21DBbrZAt9w1JPfYAm3fXPjK2x5s8Z1XNps3HyfUw2HHtNI87DwRVRf71WeyeiMcTiWVmxE43SS2sl94iQDLH4gX5k1dQTq6hkIZSLgg3BHOtGK2rGhylrvwRQWc/dXXz3VZjI5y5MsvdS6qnb6S2UeoU+keErA9gc0BGp4kW51kYJJ/W3jj/AHYPpuOTsNFH2VJvxPCrCwReAVRwFgAO7laqzZ1WseunAHYhNz3zEaD7qm572XlXPr0/62Tq40yZ2CJIxva5ADFLd97X5XrrMHhVjQIt7DidSSdSxPEkkknmapvbdVds89ZLJLwv1ae6pOZh4uWHggr3aWLJAjib9ZJcAjXIo7cn3QdPtFRUzDwBEVFFlUAAcgNBUDEzhEZ23KCx8ALmo+yYCsK5u013b33JZh5E28q1bRPWSJCN3rJPcU+iv3nAHgrVY0UpSlApSlApSlApSlApSlAqsH6ma39XMbjks3EdwcC/vA+0Ks61YrDLIhRxcEWP+RB4EGxB4EUGUoOU5d9tPHhXyzZmBnixSFleMrIud2BCgFgGJbcQbkcjevo2z8UwbqZT+sUXDbhIntjv3BhwPcRU6SMMCGAIIsQdQQd4I41Us2j7S2ck8TRyXyty3gjUEd4Iqj2b0R+it1kL9Y+oyuAAUNrgEaq2g11HC3GrFWbDaNdoODalohybiyfa3jjcaizRwQCCCCLgjUEcwaGkfB7RWS4F1de0jaOviOI+0Lg8DUqo+L2ekls41HZYEhlPNWGo8qjCKePsssy8pPQf8agq3mo8ag2z7Iic5igze0t1f8S2PzrlOlPQ+WSRXgJcZcpDyEsLE7mc6jXdf866cbWI9ZDMngnWD4xFvmBVD0g6c9U4SFAxtdjIHW2/QKbHhvqxLpYbF6MCOBUmZmIuSBLIIxck2CggHfy11q4w2DSMWjRUHJVA/LfVXsvpQk0SvlkzHeqRyvYg2PpKtqk/T5W9XAR9qVlQfBczfECizSxqtmx5lumHAbg0hF415gfvG+yNOZHH39FtJ+0SFx+7QZI/MXLP9427qnogAAAAA0AGgA5AVBzOB6AxRyrJndgpBCnLvG4kga6620qd0wLfRHEZszFVAHaa7C6LbUki+njVjjMesdr3LNoqLqzHkB+ZOg4kVpwmCYv1s1i/1VGqxg7wvNjxbyFhVNOQ6AbPmWdmKMkeQg5lK3a4sBffbX/ZruMXiljQuxsFF+/uAHEk2AHM1tJqsg/4hxIfVIbxj22/en7I+rz7Xs0JNN2y8MwBeT1khzMN+UbljB5KNO8ljxqdSlRSlKUClKUClKUClKUClKUClKUEbHYESKASVYG6uvaVuY/K24gkGtOEx5zdVMAsnAjsyAfWT/Nd47xYmfWnFYRZFyuLjfxBBG4gjUEcxrQbqo9sRHDRSTYc5bDMY7XjPNgtxkOt7jQ2Nwak9fJBpJeWP94ovIo+2o7XvKPEcanQzJIt1Kup4ggg0RwvRnpfK2ICYiQFGvqwVcptcEEAcdLd4rvgaiYXY0MWbq4kXNobKNRy8O6tZ2JGNYy8R/smKr+DVP7tUm4sKqds9GYcSwaTMGAtmQ2JG+xuCDx+NbhhZ17Myt/EiBPxRl/KuL6cnECROsPoZfRMYYJmub3uT6W7jutbjSJa73BYJIY1jjFlUWA+ZPeb3Nb657o6uLOGjzsim39YjtJa5y5vTXW1vlerH9HSN6yd/CNUjHxsW+DVFbNq7REMTuStwpKgkDMwBIUc7nlXDbF6V4qTEKhcHrDl1QEL9pQLHQX3nxrusNsqKM5lUZvbYln/ABsS3zrzDbHhjcvHEisd5VQD3+FUsrLB7OWO7as57Tsbse6+4D7IsO6pDuACSQABck6ADmTwqNi9pIhy6s53RoLue+25R3tYd9aEwDSkNiLWGqxLqgPAuf6xvkOR31BhY4neCsHI6GbxHCP5t4dq0Ar2lFKUpQKUpQKUpQKUpQKUpQKUpQKUpQKUpQKgz7JUsXQtG53tGQL+8pBV/MGp1KCu67EJ2kWUe1Gcj+aOcp8m8q9G3YtzkxHlKrR/NhlPkTVhXhFBhFOrC6sGHNSCPlVbtnpLDhiFkLZmF8qi5tuueQ3/AAqVLsaBjdoYyeeRb/G164vpzsJIykkfohvRK20uNcwN9N+7uqxLbHc4LGJLGskZurC4P+9xvcVjiNpxJ25EXuLqD8L1V7F6MQpAgdFkNrlmG8nXcbgb7eVW2HwMcfYRF91VX8hUEX9MZvVRySd+XIn4pLXHhen0aaT1jiNfZh1bzkYfyqD31Y0orRhMEkYsigX1J3knmxOrHvJrfSlApSlApSlApSlApSlApSlB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data:image/jpeg;base64,/9j/4AAQSkZJRgABAQAAAQABAAD/2wCEAAkGBhQSEBUUERQUFRUWFh4XGBYUFBQXFhcVHBoVGBgVGBgYHCYeFxwlGRYUIC8gIycpLS0sFx4xNTArNScrLCkBCQoKDgwOGg8PGikcHB8sKSwpLCwsKSkpKSksKS0pKSwpKSwpKSkpKSwsKSwpKSkpLCwpKSwsLCksLCksKSksLP/AABEIAN0A5AMBIgACEQEDEQH/xAAbAAEAAgMBAQAAAAAAAAAAAAAABAUCAwYBB//EAEoQAAIBAgMEBgYGBggFBQEAAAECAwARBBIhBTFBUQYTMmFxgSIzUnKRoRRCYoKSsRUjNFNzsgdDY6KzwdHwJFSDk6M1RMLD0hb/xAAZAQEBAQEBAQAAAAAAAAAAAAAAAQMCBQT/xAAgEQEBAAICAwEAAwAAAAAAAAAAAQIRAyESMUEEIlFx/9oADAMBAAIRAxEAPwCfisZCfpk2zJ4UEWz3gjjimQzzMhLPiSitm9BQQrsMxJLbiC1l0b22IY8QkRwmGMX0MfSGzmCVJUVgCub1uQ2LX1upNuH0TC7GgjbNHDEjbsyRopt4gXrYmzolXKsaBb5soRQua4Oa1rXuAb91Bxf9N6g7DxJIFwYiCQND10QuORsSPM1mNvYoY/GQQmLqcJFDKI+qOdlZHLQoVYBb5RYkG2gtrcdli8DHKuWVEcXvZ1VhfnYisYNmRI2ZIo1Yi2ZUVWtpYXAvbQad1B8vn/pKxa4SSQGJm/R0WNDrH6MckkpRoCMxuMu65vod/Dr+inSGabG47DzFGGHMBRlQobTRGQqwzHcRYGr87JhysvVRZXN2Xq0sx33YWsTfiazg2fGjFkjRWIAJVFBIGgBIGtqCRSlKBSlKBSlKBSlKBSlKBSlKBSlKBSlKBXzrppNhGxscInw8GIE0U8s0k0aPHGnZjjzMGLuBbKugDMzdpQ30WoWI2LBI+d4YmbT0mjRm03akXoOK6a7SixWIwUMEkch+kzo+f0sMskUDl45l4uMylR4mpn9HO1oJ9mYbDmRjKcMGaN5CJurzGMvdSDkzCwI4Fa6aHYMCq69WrCSQyP1gD55DYZ2zXubBQOQAA0FZHYkJkMhQMxj6r0tVEVwTGqnQAkAnTWw5CwfOOh21uq6P4Vcs7CUzhngimlZUE05a5jUlS1woY2tcm9xUvoJtzBnYcEGKlVB9FZ5Ee6sYVZg7gb2S9xcXvra9fQsNs+OMFY40QHeERVB8QBrUZuj8BcMYkOWMxKpAyKjEFwqdkZiq30+qKD5lgPosjTTDasOCWaUyJhocXhwETKiAuBIFWRshZgLgFrXJvXtfS/8A+bwv/LYf/sx//mlBZUpSgUpSgUpSgUpSgUpSgUpSgUpSgUpSgUpSgUpSgUpSgUpSgUpSgUpSgUpSgUpSgUpSgUpSgUpSgUpSgUpSgUpSgUpSgUpSgUpSgUpSgUpSgUpSgUpSgUpSgUpSgUpSgUpSgUpSgUpSgUrxmAFzoKgnbkV7IxkPKJWk+JQEDzNBPpVf+kpD2cPL95ol/wDmT8q47pptjErKinNCuW4COfSNzcllte2mnDzq6S3T6DSue6P7TxDYaNniL3HazqrMLmxKtbhbW+u/jVj+liO3DMvfkDj/AMRY1DawpUXDbUikNkdS3s3sw8VOo+FSqKUpSgUpSgUpSgUpSgUpSgUpSgUpSgUpSgUpSgUpULGbQyt1cYzyEXy3sFHtO31V+Z4A62CRicUsalnYKBxJt5d57qhfSZpfVL1a+3KDmPux6EeLEeBrZhtmWYSSnrJOBIsqd0a/V8dSeJrfjcYsUbSObKouf9B30RGXYiE3lzTNzlOYeSaIvkKnqoAsN1c1szp1HM5Tq5A31QBnLd2m421100OtWvXYh+yiRDnIS7fgQgD8dU3FjVbtja2HhyjEMuuoBUsfGwBt41l+jpD28RJ4IsaD5qzfOua6TdDZZJFeFi/o5SJH9IWJ1BItbXd/rQu3Y4fEK6BkIZWFwRuIrZVFsbo20MKoZpQwuTkYZLkk2AZSOPLWpv0WdezMr90sY/mjK2+BqCTicEkgtIisPtAG3hfdUX9GunqJWA9iW8ieRJzr5G3dXkm1XjBM8RVQLl4z1iAcyLBx+G3fVZsrpzFNMIsjJmNlZrankQOzfzqnS1j2rYhZ16pibAk3jY8lfn3MAe6rCsZIgwIYAgixBAII5EHfVccO8GsV5I+MRN2Uf2ZO8fYPkRuMVZ0rVhsUsihkNwf9kEHUEHQg6ittApSlApSlApSlApSlApSlApSlApSom0cb1ajKMzscqLzbv5AAEk8gaDXjsY2bqobdYRck6rGvttzO+y8SOQJrfgsEsS2W5JN2ZtWZuLMeJ/LcLCsdn4Lq11OZmOZ3O9m4nuG4AcAAKjTdI4AxQSB3GmRNWZt2UcCb/Dja1ETcViljXM5sPmSdwAGpJ4Aamq7E4N8UhWS8UTDsCxkbkWJuE4HKLnmeFSMJgSW62axk+qo1WIHgvM823nuGlT6Dmdg9Clw8vWGQuRcKMuUC+hJ1Nza/xrpqr32mWJXDr1hBsXJtEp5Ftcx7lB7yK8/RRf18jP8AZUmOP4Kbt95jVP8AEjEbTijNnkRTyZlB+BN65jpD05MThMOFbS5Zg1uOgGnLf311OGwMcfq0RPdUD8qhbY6OQ4kgyg5hoGU2NuR5i/50Lto2T0riliV5GWNjvDGwBBtox0I41bwzq4ujBhzUgj4isMJg0iQJGLKosB/vfWmbY0TG+QK3tJdH/Elj86h2k4nDiRGRtVYFT4EWNctgOgCxy5+ub0TdLKoIPAkm4a3Kwq86maLsN1y+zJZX+64Fj4MPvVvwe0FkuBdWXtIws6+I5d4uDwNU9tCY9oyFxAAubLKvYY8AwPq27iSDwN9KsaxkjDAhgCCLEEXBHIjjVZ1hwujEmDgxNzDyDHjHyJ7PHTUQbMXg2RjLCPS+um4Sgfk4G5uO46WIl4TFLIgZDofIgjQgjgQbgjurVgdqxTX6qRXtvsdR5VGxi9Q5mXsN65eXATDvA7XNdfq6haUrwGvaKUpSgUpSgUpSgUpSgUpSgVW7OHWuZzuPoxd0d9X++Rf3QvfWe2HJURKbNK2S43hbEu3kga3eRU2NAoAAsALADcBwFBhiWARiWygKbt7ItqfLfXzvYnRDEddExXKgZXzkgHKCD2b5gTbcRpfWu3xw62VYfqraSTvF/wBWnmwJPcluNWVVLNqzpFtNsPhnkUXYWAvuBJAue4XrmOje3ZsXL1M7XTKWOQBSbWGViPq68LX3XtpXS4lPpMhjOsKH9Z9t9CI/dGhbvsOdb9nbFhgv1MYUnedST3XJJt3UT6mRxhQAoAAFgALADkBwrVi8ckQvIwW+gvvJ5KBqx7hUfE41mcxwWLDtudUjvrr7T21C+ZI0vswmzVQ5tWkO+R9XPdf6o+yLDuqOmr9ISN6uBre1KwjHwsz/ABUVxfTiLEmRDIvoZfREeZkDXN73A9Ldw3W76+iV5V2lm3P9Hji1wyZ0RtNzuyyBbmwN1Iva2+2lqsP0yq6TI8Pe4BT/ALikqPMirGvCKgBr6iom0cGrrmNwyAlXTtqe48b+ydDxFaX2c0XpYaw4mI6Rt7v7tu8acxxqVgsasq3FwQbMraMrcVYcD+dwRcGiuE2V04xDYhA+VkdlUqFAtcgXB331vrXX9JdmtPhnjjNmNiLmwNiDY+Nqwl6LQZi6IEkOodb3Vt4YC+Xf3a6jjUvZuMLqQ4AkQ5XA3X3hh9kixHjbeDVcyf25HohsSXD4oGcGPMjKoupzm6ki6kgWAvbjY8jXckX31G2jg+sjIBswOZG9lxqrfHeOIJHGvdn4vrIw1rHcy+y4NmXyYEUWTSNsz9W7QHcozRHnFuy/cPo+BSrKq/bK5VEo3xHN3lN0i/hufFVqerXFxuqD2lKUUpSlApSlApSlApSlBXxeninPCJAg957O/wDdEXxNT2awuagbF1Rn/eSO3lmKr/cVa5X+kPFSq6KCyxFeBIBa5uGtv0y6Hmaqb1HVbFW8ZkO+U9Z4KbBB5IEHjetu08UY4yV1ckKgPF2Nlv3XNz3A1X9DppGwiGa97kKW3lPqk/PXkBUub08Si8I0Mh95ron90S/Gh8ScDhBFGqDWw1J3sTqzHvJJJ8a0bSxLDLHH6yS9ja4RR2pCONriw4kqKnVXbMGd5Jj9Zsid0aEj5tnbwK8qipeDwixoFXcOJ1JJ1LE8STqTULbm348KoL5mdzaOJBeSRt9lHIbyxsAN5qRtXaaYeF5pDZY1LG288gBxJNgBzIrktmYV2ZsRiNZ5RqN4ij3rAnILxP1muTwtzldNeLivJdMpZMXiNZpjh0O6HDEZrfbnIzE+4FHeajt0Vw51dGkPOSWaRvi7mrelZXK16OPDhj8VadHkT1Ek8B/sp5MvnG5ZD5rUvD9Jp8N+2ASw/wDMRJlZBzmiF/R5umg4qBrUmlJlYmfBhl806SKUMoZSGUi4IIIIOoII3i1Qdo4co3XxAllFnUf1kY4e8NSvmNxrnNiYn6HiFh/9tOxEY4Qz6sYxyRwGIHBgQO0K7StpdvMzwuN1WEMwdQym6sAQRxB1BqBtAdXIkw3aRye4T6Lfdc/B2r3Zw6uSSLgD1idyOTdfJw3ky1MxWHEiMjbmUqfAi1Vw21XQjq8Sy/VlXrB762V/ipjPk1btk4gvChbtWyt76kq395TXD9PMXMuJAuyoFBjykgX+sbjjfTwtzqwtfQiL1A2KbRmM74mMf3V7H/jKHzrHo5LI2FiM185XW+8i5yk95WxrLD+jipV9tEfzGZG+Sx1BYUpSilKUoFKUoFKUoFYyNYE8hesq1Ysfq290/kaCNsNbYaH+EvxKgn51htRbvAp3GW/4Y5W/MCt2yP2eL+Gn8orVtD12H99v8J6qLCqvZeIV58QysrWZV0YH0QinhwzO48jW7beFeTDypGbMyEDh5X4X3edcV0M2JOuLzMpRY7q99Lkronf2lblu7qFvbuto4jq4ZHG9UZvMAn/KvcBh+riRPZQL8ABWjb4/4Wb+G38pqcKiuX6ZPnlwkH1WkaZxzWEAqD/1XiP3ayrV0jFto4YnccPOB4h8MT8vyrbWOft6X5Z/BUdJ+kH0LDtO0bSIls+RkBUEhQbMRf0mA0qFhOl7vHFN9ElWGYxgSGWA2EroiMVD5rXdb6VH/pU/9IxPgn+NFWnoRhcV9GwLNKhgGH1RY2RhdF6vMxkYSW13KvOpJ07yyy89R2QpXx+DA4zH4vH9U6rPBilEckk0qmGNGlARERGBVgBfduG+9fXx31LNOsM/P4r+kGFMmGkC6OFzxnlKnpxkffVa67ZeOE0EUo3SRq48GUN/nXPzMApJ3AEnwA1qw6EoRs3CA7/o8f8AItaYPk/XO5UrGDLiIG9rPGfNesH+F86sKgbS9Zh/4x/wpq3bRhZ4ZFQ2ZkYKeRIIB+NaPiRNjYlc86KynLKxsGBNmCMTYfaZh4g1s2+l8NLzCFh4qMwPxFcP0V2DOuMUlCgiazk2t2b5O+4Zd3A3ru9tfs038J/5Wq1J6TFOlQJtMXH3xSD4NCR+ZqbAPRXwH5VCxX7VD7kn/wBVRVhSlKKUpSgUpSgUpSgV4RXtKCBsFv8AhouYQKfFRlPzBqF0k2vHA0BdrESZrAEnLkdCbD36mbJ061PYla3g9pR/OR5VSdMei74hhLERdUylTcXAJIynnqRbwqpfTpMFjUlQPGwZW3Ef70NRsH6OImX2gkg8wYz/AIY+NR+imzhDhUAbNm9O43elY6eVq34/0JopOBJibwexQ/jVR9+oJmJgDoyHcylT4EW/zrRsicvBGT2stm99fRYfiBqZVbhz1U7IezLeRPf/AKxPyfzflRVX05hyxxYkD9mkzvbf1DAxy/AMH/6dYg33V00kYYEMAQRYg6gg7wRxrhWhOz3EMpP0ZjaCY7kvuw8p+qRuRjowsN41zzm+31/m5JjfG/Unaex4cSmSeNZFBvla9r87ca92bsmLDrkgQRrvyre3LQE6eVS6Vk+/U3tUYzolhJZuukgjaQ72sQWta2YA2fcO0DuFW9Kj47HpCheRsqjTmSTuVQNWY8ANTVOse0PpCxaIQJ6zEt1CcxnvnfwWPO3lXbwQhFVVFlUBQOQAsB8K5zozsd2kOLxK5XK5YojqYYjYnNw617AtbcAF4G/SySBQWYgAC5J3ADUk1tjNR5fNyeeXXpBn9LFRjhGjOfFrInyEvwqwqv2ShIaVgQ0pzAHesYFkU8jl1I5sa37SxXVxMw1a1lHNzog82IFdMGjY+okf25nPkp6sfKMVB6VbciiiaJm9ORCAACbBtCTbcLX+FW+BwvVxog1yqBfnYanzOtcj0s6LvNilaJlvIuoa4sEygtcA6ekotz+VS+nYYbEK6BkIZWFwRuIqI5vi1+zCx/E8YH8hrLYmzfo8CRXzZRqeZJJNu65NY4L0p535FYx90Fz85SPKoqwpSlFKUpQKUpQKUpQKUpQV8noYpTwlTJ99LsvxUyfhFWFRNqYUvGQvbUh0J9tTdb9x3HuJrZgsUJI1ddzC9jvB4qe8G4PeKCLss5GkhP1DmT+G5JHwbOvgo51LxmFEkbI25hbTeO8d4Oo8Ki7UiIyzICWjvdRveM2zqOZ0DDvUDjUuDEq4BVgQQCLHeDuNEaNmYsupD+sQ5XH2h9YdzCzDx7qzx+DEiWvlIOZWG9XG5h/pxBI41A2/MMOPpI3rZWX94hOi9zAm4PiONRejvTBcVIYymRgMw9LMCBa+thY6iqb+LXAY4tdJAFlXtLwI4OnND8tx1FScRhlkQpIqsrCzKwBUg7wQdCK1Y3ALJbUqy6q66Mp7jxB4g3B4iowx7xaTrcfvY1JX7yi7J8x3ioKaXodJF+xT5U4QYgNLGO5HBEkY7rsBwFR2gx66HCxP3x4qw+Dxgiuuw+JWQZkZWHNSCPiKj7R21DBbrZAt9w1JPfYAm3fXPjK2x5s8Z1XNps3HyfUw2HHtNI87DwRVRf71WeyeiMcTiWVmxE43SS2sl94iQDLH4gX5k1dQTq6hkIZSLgg3BHOtGK2rGhylrvwRQWc/dXXz3VZjI5y5MsvdS6qnb6S2UeoU+keErA9gc0BGp4kW51kYJJ/W3jj/AHYPpuOTsNFH2VJvxPCrCwReAVRwFgAO7laqzZ1WseunAHYhNz3zEaD7qm572XlXPr0/62Tq40yZ2CJIxva5ADFLd97X5XrrMHhVjQIt7DidSSdSxPEkkknmapvbdVds89ZLJLwv1ae6pOZh4uWHggr3aWLJAjib9ZJcAjXIo7cn3QdPtFRUzDwBEVFFlUAAcgNBUDEzhEZ23KCx8ALmo+yYCsK5u013b33JZh5E28q1bRPWSJCN3rJPcU+iv3nAHgrVY0UpSlApSlApSlApSlApSlAqsH6ma39XMbjks3EdwcC/vA+0Ks61YrDLIhRxcEWP+RB4EGxB4EUGUoOU5d9tPHhXyzZmBnixSFleMrIud2BCgFgGJbcQbkcjevo2z8UwbqZT+sUXDbhIntjv3BhwPcRU6SMMCGAIIsQdQQd4I41Us2j7S2ck8TRyXyty3gjUEd4Iqj2b0R+it1kL9Y+oyuAAUNrgEaq2g11HC3GrFWbDaNdoODalohybiyfa3jjcaizRwQCCCCLgjUEcwaGkfB7RWS4F1de0jaOviOI+0Lg8DUqo+L2ekls41HZYEhlPNWGo8qjCKePsssy8pPQf8agq3mo8ag2z7Iic5igze0t1f8S2PzrlOlPQ+WSRXgJcZcpDyEsLE7mc6jXdf866cbWI9ZDMngnWD4xFvmBVD0g6c9U4SFAxtdjIHW2/QKbHhvqxLpYbF6MCOBUmZmIuSBLIIxck2CggHfy11q4w2DSMWjRUHJVA/LfVXsvpQk0SvlkzHeqRyvYg2PpKtqk/T5W9XAR9qVlQfBczfECizSxqtmx5lumHAbg0hF415gfvG+yNOZHH39FtJ+0SFx+7QZI/MXLP9427qnogAAAAA0AGgA5AVBzOB6AxRyrJndgpBCnLvG4kga6620qd0wLfRHEZszFVAHaa7C6LbUki+njVjjMesdr3LNoqLqzHkB+ZOg4kVpwmCYv1s1i/1VGqxg7wvNjxbyFhVNOQ6AbPmWdmKMkeQg5lK3a4sBffbX/ZruMXiljQuxsFF+/uAHEk2AHM1tJqsg/4hxIfVIbxj22/en7I+rz7Xs0JNN2y8MwBeT1khzMN+UbljB5KNO8ljxqdSlRSlKUClKUClKUClKUClKUClKUEbHYESKASVYG6uvaVuY/K24gkGtOEx5zdVMAsnAjsyAfWT/Nd47xYmfWnFYRZFyuLjfxBBG4gjUEcxrQbqo9sRHDRSTYc5bDMY7XjPNgtxkOt7jQ2Nwak9fJBpJeWP94ovIo+2o7XvKPEcanQzJIt1Kup4ggg0RwvRnpfK2ICYiQFGvqwVcptcEEAcdLd4rvgaiYXY0MWbq4kXNobKNRy8O6tZ2JGNYy8R/smKr+DVP7tUm4sKqds9GYcSwaTMGAtmQ2JG+xuCDx+NbhhZ17Myt/EiBPxRl/KuL6cnECROsPoZfRMYYJmub3uT6W7jutbjSJa73BYJIY1jjFlUWA+ZPeb3Nb657o6uLOGjzsim39YjtJa5y5vTXW1vlerH9HSN6yd/CNUjHxsW+DVFbNq7REMTuStwpKgkDMwBIUc7nlXDbF6V4qTEKhcHrDl1QEL9pQLHQX3nxrusNsqKM5lUZvbYln/ABsS3zrzDbHhjcvHEisd5VQD3+FUsrLB7OWO7as57Tsbse6+4D7IsO6pDuACSQABck6ADmTwqNi9pIhy6s53RoLue+25R3tYd9aEwDSkNiLWGqxLqgPAuf6xvkOR31BhY4neCsHI6GbxHCP5t4dq0Ar2lFKUpQKUpQKUpQKUpQKUpQKUpQKUpQKUpQKgz7JUsXQtG53tGQL+8pBV/MGp1KCu67EJ2kWUe1Gcj+aOcp8m8q9G3YtzkxHlKrR/NhlPkTVhXhFBhFOrC6sGHNSCPlVbtnpLDhiFkLZmF8qi5tuueQ3/AAqVLsaBjdoYyeeRb/G164vpzsJIykkfohvRK20uNcwN9N+7uqxLbHc4LGJLGskZurC4P+9xvcVjiNpxJ25EXuLqD8L1V7F6MQpAgdFkNrlmG8nXcbgb7eVW2HwMcfYRF91VX8hUEX9MZvVRySd+XIn4pLXHhen0aaT1jiNfZh1bzkYfyqD31Y0orRhMEkYsigX1J3knmxOrHvJrfSlApSlApSlApSlApSlApSlB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889" y="1796728"/>
            <a:ext cx="1080491" cy="1165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 descr="http://www.mineralatlas.com/mineral%20photos/U/Z530B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805190"/>
            <a:ext cx="2972710" cy="244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34681" y="6249419"/>
            <a:ext cx="1031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uraninite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069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659"/>
    </mc:Choice>
    <mc:Fallback xmlns="">
      <p:transition spd="slow" advTm="11665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238" y="0"/>
            <a:ext cx="8229600" cy="1143000"/>
          </a:xfrm>
        </p:spPr>
        <p:txBody>
          <a:bodyPr/>
          <a:lstStyle/>
          <a:p>
            <a:r>
              <a:rPr lang="en-GB" dirty="0"/>
              <a:t>Uranium: secondary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Most U formed in association with igneous rocks during late stage melt crystallization</a:t>
            </a:r>
          </a:p>
          <a:p>
            <a:r>
              <a:rPr lang="en-GB" dirty="0"/>
              <a:t>However: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GB" dirty="0" err="1"/>
              <a:t>Uranyl</a:t>
            </a:r>
            <a:r>
              <a:rPr lang="en-GB" dirty="0"/>
              <a:t> transported by </a:t>
            </a:r>
            <a:r>
              <a:rPr lang="en-GB" dirty="0" err="1"/>
              <a:t>groundwaters</a:t>
            </a:r>
            <a:r>
              <a:rPr lang="en-GB" dirty="0"/>
              <a:t> after leaching the uranium from the solid </a:t>
            </a:r>
          </a:p>
          <a:p>
            <a:pPr lvl="1"/>
            <a:r>
              <a:rPr lang="en-GB" dirty="0"/>
              <a:t>reduced downstream when conditions change = Precipitation of uranium back into a solid = </a:t>
            </a:r>
            <a:r>
              <a:rPr lang="en-GB" b="1" dirty="0" err="1"/>
              <a:t>hydrogenic</a:t>
            </a:r>
            <a:endParaRPr lang="en-GB" b="1" dirty="0"/>
          </a:p>
          <a:p>
            <a:r>
              <a:rPr lang="en-GB" dirty="0"/>
              <a:t>OR can be deposited as a </a:t>
            </a:r>
            <a:r>
              <a:rPr lang="en-GB" b="1" dirty="0"/>
              <a:t>placer</a:t>
            </a:r>
            <a:r>
              <a:rPr lang="en-GB" dirty="0"/>
              <a:t> deposit (similar to gold), where density separation concentrates uranium grains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945139" y="2484339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U</a:t>
            </a:r>
            <a:r>
              <a:rPr lang="en-GB" sz="3600" baseline="30000" dirty="0"/>
              <a:t>4+ 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37227" y="2714151"/>
            <a:ext cx="252028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257507" y="2485587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U</a:t>
            </a:r>
            <a:r>
              <a:rPr lang="en-GB" sz="3600" baseline="30000" dirty="0"/>
              <a:t>6+ </a:t>
            </a:r>
            <a:r>
              <a:rPr lang="en-GB" sz="3600" dirty="0"/>
              <a:t>/</a:t>
            </a:r>
            <a:r>
              <a:rPr lang="en-GB" sz="3600" dirty="0" err="1"/>
              <a:t>uranyl</a:t>
            </a:r>
            <a:r>
              <a:rPr lang="en-GB" sz="3600" dirty="0"/>
              <a:t> ion (UO</a:t>
            </a:r>
            <a:r>
              <a:rPr lang="en-GB" sz="3600" baseline="-25000" dirty="0"/>
              <a:t>2</a:t>
            </a:r>
            <a:r>
              <a:rPr lang="en-GB" sz="3600" dirty="0"/>
              <a:t>)</a:t>
            </a:r>
            <a:r>
              <a:rPr lang="en-GB" sz="3600" baseline="30000" dirty="0"/>
              <a:t>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7064" y="2129376"/>
            <a:ext cx="1740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i="1" dirty="0"/>
              <a:t>oxidation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603" y="2190930"/>
            <a:ext cx="92525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SOLID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463" y="2129376"/>
            <a:ext cx="129695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SOLUBLE</a:t>
            </a:r>
          </a:p>
        </p:txBody>
      </p:sp>
      <p:sp>
        <p:nvSpPr>
          <p:cNvPr id="12" name="Curved Up Arrow 11"/>
          <p:cNvSpPr/>
          <p:nvPr/>
        </p:nvSpPr>
        <p:spPr>
          <a:xfrm flipH="1">
            <a:off x="1129646" y="3003294"/>
            <a:ext cx="3672408" cy="713738"/>
          </a:xfrm>
          <a:prstGeom prst="curved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9752" y="3222216"/>
            <a:ext cx="1392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reduction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517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731"/>
    </mc:Choice>
    <mc:Fallback xmlns="">
      <p:transition spd="slow" advTm="21873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Unconformity deposit: </a:t>
            </a:r>
            <a:br>
              <a:rPr lang="en-GB" dirty="0"/>
            </a:br>
            <a:r>
              <a:rPr lang="en-GB" dirty="0" err="1"/>
              <a:t>Athabascan</a:t>
            </a:r>
            <a:r>
              <a:rPr lang="en-GB" dirty="0"/>
              <a:t> Basin, Canada</a:t>
            </a:r>
          </a:p>
        </p:txBody>
      </p:sp>
      <p:sp>
        <p:nvSpPr>
          <p:cNvPr id="4" name="AutoShape 2" descr="data:image/jpeg;base64,/9j/4AAQSkZJRgABAQAAAQABAAD/2wCEAAkGBhQSERUUExQWFRUWGBcYFxcXGSAXGhsYHBwVGBYYGhgaHCYeGhojGhcaIC8gIycpLCwsGB8xNTAqNSYrLCkBCQoKDgwOGg8PGiwcHBwsKSkpKSwpKSkpKSkpKSkpLCwpKSkpKSkpKSkpKSksKSksKSksKSwpLCwsKSkpLCwsLP/AABEIALUBFwMBIgACEQEDEQH/xAAbAAACAwEBAQAAAAAAAAAAAAAEBQIDBgABB//EAEUQAAECBAQDBQYEAwUGBwAAAAECEQADITEEEkFRBWFxBhMigZEyQqGxwfAjUtHhFHLxFjNigpIVJENTc8IHFzREY4OT/8QAGQEAAwEBAQAAAAAAAAAAAAAAAQIDAAQF/8QAIhEAAgICAwEAAwEBAAAAAAAAAAECERIhAzFBURMiYXEy/9oADAMBAAIRAxEAPwDGdolvNIauWTbbupcKTK5GNXxTNnuQyJVB/wBKXzgBefRS/vziikUUdCMyC+semUW/WG0+XOvmUfMwtx2cEOpQ5ElvnDpmaorTgZjUST5ftFkvDTBdBA1J8I9SwiS56i1T5kn6wPKTUux8oOxQwSh7ykD/ADP8Egx5ll+9M8koJ+KiIpy0tEe6O0CmGwxM2QG8C1/zKy/BLwWnjmX+6lSkc8uY33Vr6Qoy5RpFklYL0d2gY/QWxlO4tNmAhcxRB0BYeggEgua/vEshDHrBGGwqplEpJ+nMk0AjaQNsCMghTsQ+8WDCva4538tYc4bhM1YyJSZg0KPZH+ZmV5Q6w3Y1Mrxz1oQBXK9TyJo3kDCPkSCotlHZbNNmBKvEsCimqEj8ynqHFHi//wASeIZUy5I1cqHLSIK7U9ylSMPLSitFE5iaAOXvX+gjMY6aqYoqUcylGvnE4wcnkx3Ko0gGSHBaB8SjxDzi1SMpr5D94rmrcvtHQcxWURB6xau8Vq0jGKSbRE2i3JFahGMRjxRfWv3pHR4U/WMYiTE5ZZiCx8/pFWWPSYATTcP7Z4iVQnOALrc7ahtIf8D7TzcStSGQgkBikEkMa+0ogHYs7tHztKi8GS1EVcit9eVWvCPjTHjNo+oDhKpMslC1FIJdCUyydTcjxeVaxmh2nmBTJSkHYu9NCEskekLP7ZT0oCEq62q25Ad+YMLU8XIWZjDOX9InHjfo75DWYnjK1DNMlpCDUqQ6iDuQXDeQ6wRgVImlpc9IzAAhOaWpQ9qgJZ6CoD3jEq44p6pSeoeDuzvFymYEGiSaUdj1uH5bxnx0tGXJs3ON4oiWe7XMSFNQKBJdwALVNdKwk4lPmC5VLy0CZagB18YD9It/iVhZCglaCR4VDO4GyjUGl6xLHLQuWe6/CURQOWJFfdPzTCx0Vsz0rirVxClTaHKlZAy1vepMdE+HdmFzZ346mRlfM4NdByvYx0VtEKNDxSVnmJSKfhyfERvKl0B1MTlcJrlJZXM/I6w2VOBKARaXKr/9UuIpckkkNSm3XcxJzo6YrQpTw9WcjMMoapv9YlMkIqHzEflS4/aHHdAk+1zGnoYXCSQcqUMCXLXPMxlKxmhBxPgxy5kgpBe4pq+kL5XCpiAHSSS9QMwYbFtzH0EoUEJCkkpagV56G0B4lSVORM7tRcgZaG1TlNPTS8MuVom4GKmSCkspJGz0+ERIjT43gCpiSUus6MXGlCD86dIHmdjsRlByprVswf00vFFyx9Fwfhnih49weFIJ1ezXrWNFg+xa/wDiqCB6mH+AwUmRWWkrVoT+psOkCXMktBXG32JeD9k1TBmX4RZvnWNMqVh8MhlVYeyP2gSfxGcpbMAhxZyW62eEWK4PMUtZFQVlQBOh5WuYjuT/AGY1Y9IM4p2qUpJRKGRNnBIPJiIxs+YoKIUVF3Icv1h8vg00E0eu7/vA07s/MVTKeR0t1i0cI9EpZMCkYh6VoPlFqg8ESez00GgG1SP1iydwOcPd9D+hg5oTGXwSTcKQaVB0iEhANDfbnDuX2dmmuU+ov6xHE9lZwLpAfdxBzj9Bg/ggnyWNLVptEG2u0Np/Z+ffulPuPF8oDm8MmJclBSRUghrkOQ/UQckLiwCtiN2MVrP2YvSlTkEFoL/hA1QX+sa0ahWYj8fsQRNwiszBJbQMY44BbewacjBtApgse5IvTw5ZPs/f2IsHDF08Kh5eUa0HFlCECIrm6QWOEq1B+2jxfClRsl9NT+AWYxE1g4cNV9gxMcNIuD97QMl9NixelJ0g3BJyqChvYbsbOwvEl4ZQFE3ig4VfPaNaDTRqcXNWAFS2AI8Tau1eVfDTbnFvCcBMPskpBFzX0DbawJ2ZwU33hQ+yTuHo2xF/2jTypbAEFjdiKg1BqGdqjWISklpFoq9gWI4R4VJdytmURqCHfyjyGM6VmSxfyLtXQecdCqY9BxxktRQjKoqRLku1ie7RatYOlISpJcFIvU3jK8T4goKAQ4yolBxv3ctov4dxMz0LE0MpPhCk3PV6GBKD7Hg9GjVLSHqWF7fExUMdLT4gVFntW/SMynhy2LTlD/qJp6pJigdmJhqmcgvZlUjKC9YXI1E/jso0KSX0+zA03jMkGqB1JDi3J4UYPhCpb95R6BQcpJ/mhPx/hkzMSASna9f1/SDGEbozkzVTO1WHle6QQdj6wQjtfJKQoN5liB84+cJnlJZblty3Tp970YYSWicohAKVZSQCQQTsDe0O+KIn5GbOb2vkH3Qo9CY5PaqS9EJ9CflGKnyShWVQY848E0jp6CMuJAfIzdzO1kgBwhP+kx5K7VylEju0i903Fdn+zGJ74l3vFsoKWoZQVEdX9RXaM+JC5tm7mcTSwIlS1u3sgE1tQkN5wNiO0kuWWXICVMDlKWPJtxzEKOF4SaVkFNWCXLtrWl6RdxXCqUoJCFKDhlKL03q7Dk0SxSY+Toh/bpOZv4ZLWeDldsJQFJQPIAQrmdn0u6vaFgA/O7AGA5mANwFG3u/JqCGxgxMpj0dtJYNZLcw3yLRMdsZZBPdgDmB8gqMpieHTLJQo7gioipPZ7EK9xTfynlyjfjgDOZqcR2ukiyEktqg/rA8jtbKJZUpF29gnpXe4hBM7KYke4S4/TU+tIjK7MT6vRtz62pBwh9BlP4PpvaqQ7dzLP+QfKKsT2pkJ/wDboUo0pLF7X6/KFauz84MzO+7Uq12iqZwPEaNu5jKMTXIMPbQe7hpSeZAHwYQJO7ZTD7MiUmmz6/pA44TihZgOYHTYxBXDcSi/iA0BzDrSHxj4C5Eldq5yvclWr+GOj18/WJK7YzgT+HKGgIlg9LxRNwWJukgegp135QHiFz0jxJZtSkEa6t1EGkK7Q1l9u54Hsyv/AMwIl/5gzvyS/wDT9IzpxZJchPp9/Zj3vEaoHlT9YbBfDZP6aaV21xCjSXLPRA++cQn9uZwoqWkFvygQBhMSnIwIynQiujW5x0/GJbQ7/u8Jir6Db+hB7bzGolIPQNET27xGoR/phLikJd0gjlp5DSByCYfFCuTNAe3WIP5fSNBwrtL3klyAVOczP4XYJYPUXFdxHz4yoK4bj1SV5gxGoNiNQeu8LKCrRozdm6wnFVp8MxyoO5FAdvNmcFo6AkYYzGXJAmBqhRALaM7VBId666x0TxRa2OJvCVE5gSE93KzOKOZcsevKKcNweZKXmBC0G7Bm2cbcxDHFcUkmXLSJhQtMuWFUpmCEUNL2rAi+Ls/dS9GK2L83YVHSEyfRRJUXKlLQogOBtfmCPT4wlx3FkyyQZZu9Wc620oI0GGxAmpSAWUk3IIN7tEcd2MRNzKzEqVUKJcVchgDBUlf7DNOtGYR2qI9kFJtQvDbhfa0KpMyq8q/vGaxPAJspTGWTUgEeKuoo8SRwKcmqkLFSCwqBz5RZxgySlI2UyZhpnhKQ52pXneBz2Rlu6Myf5WP1PyEZ/AcOWCcpro1T5gW6xouHyZiADMmMBWlKbPp5RJ/r0yi32iydwyYU5F5ZwDEZnCwOStehEDy+x7ke0xvuA1hoa/KDZnFEq9kFQZnNKeke55iSlTZaOHp5kH1A6wMpINIgrsnJSokqo1iWbd93hjw6RLR4ZYAe7Cp5kmsXysWSKFJPJIrQUr1jxWLXLYlanJFHFLnbl8Ym5N9mpLoskrzqySw62fKDUh2fkH1hfxFKUK/FllMx2Idg+92bWoqCIKxXFRnzeKiaFPh08Vq2+UK8OBMKswck+J/HeutfsRkgNlGO7TBAyyxmvSrDz1gWX2gmEP3SSBclJI2A5VEMV4LIBlQmpGgfyeCVTCEuR4dgNN9jtD6+CU/oiRx6bTKgBzoCHNLAaxeeKYsD2VpH8v0IPyguRjasKM7B/u7RNc9wxJBNn56v122ga+Br+gmG4nOzAzUzFB3YAPu1AGcaxcjjM4Bu7LB7kf8Ac/o+piUjCL7whJJKa1N+lbxLEYdST4iBd6eQgXG6CkwM8WnayzufELblqANE/wCOUQ/dr9b35/bwLooP7QSCL2YmlzSnnETj8wKSWILg67M2upf/ABcobEFhcvizH+6NnIcHfn9tEFcdDf3KwpywZKv0hUZxTmGYVDBxUPrzrHi5yhU5WZvMCpOloOCNbGiu0Eogd4hSTupPqRWnx6QRKXImXSCW90uQC4FFcwzkD4wgm41RAJSl8zq2ADuR8D5xTI4kmwQASSSLOA9Tr/WkbD4DL6EcU7KIWSqWoA1JBs2/Idbxm8VwGbLDlLp/MnxD1EaVHEVITmCg29wk+0HGlXbSoilHaBVylBpRQdK61d3ZRpcu0PFyROUYsyCixizviwcuzemg6co05nycQQFhlVBU1W0DoYqPMiOndiXqhYIZ2BCvIMxUeQTD5r0TB+GbQhJuojyf1/pEZjDVJHJ3+kOZnZZYcEijOLEWNXZjFI7PEb+jwckzYsTFXMRwMMp/CWNAprbfSBhgXOoHOv0g2LiE8L4yqXS6fyktXcMQX+kdFn+waAuK/KOgaGSkfaOHYYnDymH/AApZdx+RP+ExBGDWkl5iyCGqrMz6gBIHq8EcNX/u8ln/ALqVz9xIiUyacrv5848+Tds9CKVIS4rgiwTNMyYvKCcuYANqQnKzwhRxyRmJ/i5yUn3WFN8rppGn49x1OGlFSjVmSKBy2la3j5RguHzcRMyS0lSlGw+L8ovxLJWyU5VpGrw3GcLKWpaVKKi4VlSyi+rhvrFa+2cpdFy5hAsM7vuTQA+cMOH/APh1KQnNiZpzGmVJsaAV1qREk8KwsvKDJKism4JoDUECtm/URrh/pql/hPh+OlzUgIQUg+6Q7VIFnADNBWL4YnKUq9oOADVubQXhU5QCJZQAKXZhUdbjTSLcUymUQxUN611ppE73oatCPDYNbsCaEaU9NYKxmGPdlQUVEkjazU5RJcgpqFFjuojcjWKyKBJqQ5bTkac4fsUokTVCZl90EOeXXrDCdh00dRLOx63oeUBzcNQMlf8ApP6RZIl6ELZ3sRSrCsF/RGSmS2AypDAa/fz5RQJaRr1Ys/SC54S58BNgPCab6XagipbA5QlzRqNzodBrGsxGXJSS5c6sASQNIlj5QCKDUgBj93grCTSl+YbVnranJ4GxnFR3mUBSVBm1G1a7H0gAYhSvKos5cs7H2rctfiIumzTbMzAXDDppWnx84KmSiiYVKSCMwJCXYlyKD81bi0V4qZ4vEC5pQ9cotsVelqRQW6J4AzAgLDB2oWuznyHPaJ4tRUDmOmharwJhpJJykl0k94QHuxZuQaCZuESSjKkhISAs3rXpQgj0EI4qxk3QHKWFXDAhxXWrv0Be30bpuCJLoLgDWhJoABRzV9IIVhEuLskEG16VpQmIYlTEFIYANfVqagvXaCaxXi8ApEwKXUsGsSpnoA/25868ThkzEs+V2PQmooNS/qYKTh3UjvFqGqlEEkVqEtcuAPP0FmJypWQPEACKuWelNVatXWKIFnpypCpdyW/mSQSUtX2WLHkOkBzpYSFuCoMMuUux57ggftA4xjkLXTL4b8iGN70iiUshagg5fCAU2ANg70JDjTZ4ehWzpeIBCgXANC9jrXc1+HSKpcg5TkLs5pqDmqfh6ROZjykqlzJbJJIcHLZyNGJ+pFoHmyQtjIWSSPYJZZ6UqaWhqEbIy+IrlrGYMAAGZ3YWbnvDOVxRCyGIQQ1LB3sD8bW1hXP4gF5UzQc1lHLlIY060gc8PIqkuFWIq41jUmC2jXSisUfT+b7eCVrDVYdKU15PzIjHyeILQWBZO3wv6wXi1LmJzBRUwql9NFAQjiNkaJWNQz5gOWa3lrFAx4s6CeotGOVP0JPnFTsYOIuZvUzHHshrOLR0YyXxiYBlCqD7vHQMRskfduEzP92kA/8AKRT/ACwNxrH93LWQxUlBW25TbyDuYs4F/wCmkq/+NFG0aM7224ymUEoDKWuq6lkilCkG9BfQRxqNyO26iAcJ7NKxMwTsUcqFq8KHv0c0SOV42ODQmSAiRLCB4hV8zpIAqHdJrflzhDxLDGZMlzJRsmWXSaId3NbINBnDh01F4twefPMUpWeyU6EgbEMC5o7Q0m5egjQYJKps0pSwcsSLsnMHfUlzX5w2OGTLUlMoOpKS12qxP9ecD8MOVCg34hZwLAcieb+YMNEKTKHiIKlNXXyGsSk/BqIzZalJ8eVHSvxP0EKMVhMg8RcPe+wFBaD5+LcAAVB96pegFBzO8V4ozUpDjWnsptu7wIsDQEhbaWTokXYWePRi3Q4J1Z4t4ZPTMWoEMsbFwpOpdgxBuG1hkZCDp6VflDuVC4szyJytiwpd9b15Rwx5DFna5e2luQeNIMIgWQOVG+MCrwyKq7sBiQ5cWpSt4OafgMa9EEzHFRR4al2ctfyc3PpEZkxZOUM9iR4zXnbaHmSSSGSaCjOGc6E2/rFicPLSDlexDOa6nz6wc0DEQCQpDOolhRwCbVZ6PeJnDhLLzNoN70Y/rDGdhpVyCA+tgaNpAyJUoqYgj0Yc7VjZAcRDMLDMS6yLP7Ki5NrkEuYjKlFSiFKqQ+YsRUJzm9gVa8/N9MwEpzRYLbPbyiE/haFJdK8m7hraG9/topmhcWKuEpMsL7uyiEqVUksA2XyI9Dq0MDgVhKgQBWiSaE0HNwAbco8k8MUhs9S/ulnG4cUPlFuMlLBS+chr7EkOx+PkIVyvo2NIpm4JQHtbEJA1Jq42pc7CEuIKkOqlLkB9WTYUBDfYhqMOwLqq6gWJAb3evOAsfw9CX8RL2Z8vKu3ODFoDQtkSJinWlIL6G2tRoB8dudIwipZdaT4lhIyqdy1cupV8AzGGeDmhSLrTMqQX2ALAbvAPFFB5fiLoBICixB8QUQGptq+lADFVdi6Qoxc8gq8IbxBKSx1olR5NcUfaFuGmpCSVhnABfoKte45ltKwVj1e0oLHiUVF/zMSbfdA3NXi55WSAHSkPUgHQAnQ+0Awqzc4siTYLiZ6lHxFx8K1PnFaZjMRfQ2bUVjxUss+8SRLo5fVudv1hhB2OKont/EB1hh3guU6lX5j6G8D46RMkkD3FMUqFUlN6Havs9KQLh0IqFnKbpIqH2NbcxaDJPGe7lKlkZyVP4vZADGg1JOp0DQtV0NZDGykslYNFB22uGfqG8j5q0zyKgtBGKxDgB82ppbrzpARMEDYQsv1NYibc3MSw5uD1i9OHegBJravwvAs1WCgR0FnBkXBHUR0a0bE+1cLnf7lKJ/5aR9PVo+adqceZ2JmKNkqypGwS4Hy+MbORj8mClqNkIBNdlCj7tSMiUYKYXzzpRLliBMA1oQx9REeJU2zsm7SRZ2Z493ZUheYy1JUklLuhJuQ2jm0arh+M7vKhZdJAKZhGXMg0SoghwoNW+uxjEGaiUWlzisO7GWUpVyYlTW2jS4bjUudJKAUS1IdUvMbu6ikH3dvSNyR9QISNzLmIkodR5EipNTlA8iIGVL9kEsVO7bAOUg6C32YS8IxZnyjLmECchlIzCqkXBBOhtSGq1d6lKk+0kuBo+qDsDZ+m0cuNM6E7PcJiTNmpAdCZZJAT5pDhQrR62vDjEpUteU6u71DVpGbxK2aYh8rsdCku5Chox9XhxJ4h4TmFdxvu0CURUwGfiU4eapkk1IKiWpTTUc40feulJSzEAh9KO/3vCnG4eXOQEpIKmcPcnV4hwbw/hTFsrRJNW6HSD2jDsrVW2j+loXYpFgpeZy4BYB3JehqRFnehjmoXZqlw5Y+nzMDKUl6Co1BZ9d/ukKhGEd4pAAUoFIFC1yKO73pFMrBKUS6mALjKLnRy9g51i2XgkFZJNjQgtTSusU4jDy0JoovW5fdwKXeCKCYhCiognw1fm1/Ot3ivFYVJNHLtqBodPu0E4QAqSAklwBXQvcPSnlBSuHrzHKhL7uwtpt6QbowmxUpYCct6gsWFcpv5NyzRGVmUiYHZbpyFVQfEylEakpLsbN6sis2LMTfS9q602sRC/FuqehI8OdBYVOZJzEjkfA5OjiGWxW6GUxBKAoKIDGtBQbUD2p5RGVJKUvnc7BhToLmgpEsEJbeI5jf2QS1a1HUPsLwWgSioMkWqWbozecIxrIS8Cot46cxVuT0hRjJmVWVSEk3Ay7Pt0HpD2diJCWY22Hm1eUZbtN2ukSPFkBmEOlJuXsbUEaCcnRm6RAypSw/dAHcFuf36Rnu02Fky5ZKZrG4QoPmcD4WvtGcxfbGcRlSyA5NB4qkn2jXXlCafjFKLqUSTd/PUx2x4mnZB8qZHFTyTSidEu45l4qzHcnnFj0iIWQaaF31i9ELPcxNzTT6xP+IUebV/b9oqzR4oV+7RjHXjxXKOSmOUIxiMegeukcRHhEKzF2HVX5s0bXgWBCJffEO1RViaa+Xk+kYzAtmGa2sfQMRPSmQMtJYAAG5YH1c/bxHkfhfiXpFCswSSlTHR7Xu+r6fY6IkqCApbJBqSSxBdgGfT6x0IXsff7LOIwMpKFBJyChDg3odq1jB43gi5agFjIokgJqXbZhrD7g/aM4cpBBVLI8Zax2DnzcCvlGinSJOOQFo9pNHUCCL0/RnHxjKT43/GHFTX9PmU6UtBZSSk9I8wpAUNA4dixHMVvGzx3D3HdKoA3jIdiQ+Vzz+GkAJ7FqMxszJ0UzhxoWZuRiy5FWyT43ej3h5xamyBc1IqkqdwXulZLpV0OpjS8Px0wrZYWks4zD8SzGjfiANYOWNIB4ZwfE4ZWZBStJoUktS/la8NuP4Jc+QMjpWDmCQbsah/i8c05JstFNIImBKyASkLIelQWLEHQ3sbPFP8SuX4cpLB1I1H+JB95LC1x0jPy586Wj8SSRl95ic/JQBuxPioR0AhtgONy5gSmafFoX8QPPL1v6jdaoa7LVzHSJktTg+0AaioJBDUg4SUqUFofOlsySbixIOjCmzeZgTE8OIdUvxOB4gzkDQpFFjmK+VvMAtaVZmqxGVJfl7KmLdHg6YGmhlPxZUFDwpuAXsqrEk2N6coW43HANlUBMdgAHB5KrQWII2iGMSiYknxpYOAkOSzU50+T6QrlSMrFEwpJqAaFhuxLemsGKQknfRruEz0ksv5WvtT6WjRScqk0Sz6Wf8AaMNwibMBIZB/MrN/2s8PJfGGLFQdNqgfMvyiU1vQUtbGgwq1F2SGsHt5gPHs2QvKXmv/ACgBqBwNzTzgFXFEkEqmlI2ZydWFfhAGK49LSnL+ITzAA9HBtCUzDCZw9CUB1qURUUBrz5tCjHpSMhfSrXc1IBFBsRTnvA8/tYAXyPpUg/CAE8ekuTMKwCXbKkhJ0ZiPl6xSMXYkh/NExSSUkh0hKQGNyPGRqKHzgmRMSkAAVS7lw1ats2rc2jH43t2hBHdOtgzkkAbUIf4xkeI9o580nNNLVLAsPQUiseGUuxHNI23a7tsJYKJSEFZDFbuU1bTpqY+YYucZiipaiSS5Ual4lMU+o9YHWN464cagtEJTciox48TKYgBDingj0xFo5SYBj0GPQIiEvEjGAemIkx6BWLsFhe8WEuw1JBYdWt1jMKK8NhVTFBIFSejNcmK5qWMfQuEcPRKSciakMSS5Ov15Rle0fDSiaVN4Vlx53pElO3RRwpEOD4YApUoFSSRmAuztTS/6RssQpJAb2Q2UM3MU9IzvBZ6kSwCAB4me/VrjraGhmOMizlBdS1flliihyJZgBvE5bZaFJFGI4jmyrKc5/wCFL/MKhSzyu0dBGDDkz2yqmUlj8kpNEgDQlo6AGmFcM4QJiUZZ8skgEoPiIvTK9d/ONgcCESkoQ6QkgkJoS1x5uR58o+RzJ5Cizi0MeH9p58q0wkflV4h8YafE30xociS6Nini4yklKlUpmaqa1ZrPSK5Pa1AWPAs6UAtu7in6QPw3tJKxS8sxIlrIyhYUQ/In4xTxrALkgJGZSVWUQ4BNg97/ADiWO6ZRv1GhncallIJUUP4g6QaeT7s9IJk8SkzAAJyHelQDqLEvX6R89/2gZWVlHMAQC9PPkxPWFnEhlWcvs0b0BKXe4g/gT0K+Wj69KQlD5lunnp56RTxPhMuaWUlL70B/ePk2Hx8xHiSSPP1+kaXgna4u0wBxYpo5t4hawpSkK+GS2mZcil2ajCdnFYdyiavKxZDhn0qQRCbE9r1JVkmyPZNQakm2obX6w8wXFFLCny28NCWUNGHWIY7hYxMoCakJmbprWlRqxa0JFpP9h5J1+oqk9rsOdJiH1CnA+LCDsLxVK8vdzQ+ygCfLKQdIx/GezM3Dur20M+YCo/mTfzhSJhDEHo0dC44yVxOdzcXs+qJ4gFvTM1CUKzEGrOCARFH8TJBLzEpUCQQfAoF9Rb5Rh8BOlqRkWVBRJZ15U2I1cO5hpI7NLLKBC5ZDgg5SCbPRQVTUbwjgl2PnZqJoCknKsv8AzAjm+Wut4W4yRMzPcCzlgSWqxt0gRXYubdK0Ef4ix9QkwsxmKxGFUApXtBwMwXSlOWlDGjFPpmcq7GOOwk41EuXT/KrfQUjPcVcEZ0Kl03dz1YDyrDGX2wV7yEG1hlgmTx6Up3QHVd7+v7xRZR7RN0zGzEmKSDG1VwyRPDUQdKMWPzdtQYDn9hFvSZTcpfrY7N8Yr+WPpL8cvDJqlnaK1JMaSd2MmghlA+RHq/zj2V2GmqZ1AB6+E2puQDrB/JH6D8cvhlwkvFmCwSpqwhAJUosBzPPSNXI7EpFZs1IGozhNiXoxOhsIacNx2EwyViSQtdwM/hUpLMeTevyhJcqrWx48TvZdwvsZIQgBaEzFe8pTlzZQSAzJBN9YMxPZPCZSkykh6DLccwd4VSO05UrIuYUrcsU0Sdgmp9DD/C95Y5y3tZxlNbFyKDpvHNLJPZ0LHxCSd2Uwctlq8NWZaiEnSugDi7gPFGN4dhB3bISxDhk+0AXZyeRaHnE5yKoml81MtFPR2DPbcbxnuKcARPWAmYaIHhLMAGAACQAEne/WGi/rFaXiAO0M7CGVllBlO6QMvRiRyJ8x6ouH8KWoZyDk3ahqHtf1EbLCcAkychzAKI1U7qYlVhVg1KO0FLmB8qmSnK2xULnmzC3XaHz8Qjhe2IJvFlKSAm7BvJtuYbpC6dMXMXmShRO5rt6axolcOkVBVMS9glTKoNblulYIXNJbu0lvJD11UW82S/ONkvBsX6IpBmIUQoJcDxOwSBuomD5eECvEtzLoS9FTVaUuJY2/V4Il8LchS2W1k2QDoWNVHmYtxZaqsyjyGn0gXYUqKFLLuoGumwFgLMI6IKxYAdkpAo6z8soPx3jowTMYkeL0iBTSJ4g+ImKbiOogSlzPVj9I+hdlOKpxMnuJrFgw0JGz7j9No+e5QDX+n28TlTSkuCzfCEnDJDRnibPj3ZooBIdSQ5TSr30NqbDzjJ4vEAoQGqCrMXdzRuYYCNjwTtchcvu8QWNnNQRbxNrz1eB+K9kUTR3mHUkgucoN/wCVX0MSg3F1ItJKW0Y0zXpHBXiDX1aGS+BLScqgQdjR72o3xgaVgjnAD3ZmO/IGLKSI4s+gdlpzygW1L+WsafDyQW+sZPBYpEtIRVxTwgqci5AFW6w2w/EXT4dfL+hjzeRNs741Qn7bcYyFMuWsMXKsprsEvZruIxeE4eucWQHMbP8Aseha8yiq7sWA6PD7AcIlyh4UgUAcbDc6xePLGEaRzy4nKVsyXD+xq05VTGLXT56mwIOjxoMfjEYSWM1W8KUA131qz6WjzjHGAhXcoSCopKqsA25e9jatI+eYnFFZc+mg5DlGjGXJuQkmuPSH2O7bTlgpQ0tJDeH2m3CneM9MWVKckl7kl46U1YkR9P1+kXjFR6OaUmwmXxKWmhkoUBfMVO+7ghukMcJhcJPZIK5Kzo4UHrQE/CsIe4c+cWy0gaW9YzMmaYdk1g/hzw+gmIalOvwEMsDgcTLPibLoUqzCm6TURlJfEV+yVLKQXAPKo/aNzgON96h6BQZ2YAlvE+0SnkjohRNc9wywU8xY9RHqCpg6QoboJto4JgD+0UuY4JYIoXYg63FXby5wcnD6yztb7+MRaoqnfRnu0vATPIVKSQsUNQElOjg1ChuIx/GOETZBZYuPaFUvs7M7R9R738wbmPqIrm4fMCCygR1+EVhyOKoSfGpbPk0mc+UK0Ib1tG/4FxJc8hFVTDRJ/M2h2NLtWsL+L9jgrKZQAvma5/KwJygjUOIH7H8VXg8YgzJanSSyTQkKBS43Z3izlGcSKTgz6FK7FzpntISkaZjUDk1RTlrGaEopnEfhgoUpLgkkgZkn3RRwKE+UfU+6xKmdUuWOSSo/G0fH+03DhhOIGVJmLGdOZaiWzKVmVRy1HYk87mObjbkUs9GKQJykzkAgpcKPhS4qAnQgPRyfjF3+zwZZWoqJLnJmbKknwhQSxsPerAyJ6pgWmagLyH2BSYBRlJHvanVxakEyVjIChWZDADcMQQ9Pt4d2gxaZVOaTKK2AAqwAD/uwuYXTOO5SASrOpmCRRyzBz8+kaOfh0qSkKSCl7HQ3B8mMA8Q4PLmJYJDOTzD3L3v84ya9DJPwoxnETh27xJIYDMGIOoY77jSLMBxtExjmSA9iqvkP1aFMvDzpRCQsLlk1SutH09YDx82XJmFSUpCiXyjQcgLQ+Nk1Jrs1+IlS16J8wD0v5x5GQk8czqsWAsL+pjoGI6mmAzxVXr9/GKc9oJme0vp+kBx1nOSKosEV5omlPOAMSlq3fygvh+PXLVmSopIq/kzEGBEy45aaMBAasZWja4DtjLmjJiEgC2ZnT5i48oZHsrJWnPh1tmqCDmB6R83QSPhUw14NxKfKJ7sqDXAqC26dYjLjr/krGf01mH4HMlzcxIygE5nytzdqjyhjNw845FlYUKEkO7U0Dg9TAHDu2yVMJqSk2zCo8xcQ8lzkzQ8uYDS4qBZqfSOaWS7RZV4DSuJKScq2seR5tyZvN4ORjkFg7E2fXk/s+Twpm8LmmpJJehTQC9WJJ21hjKwpCR4QksSSAC+miqk784m0gpsT9rpJSUTEBsoUCQHYFr0OsYPESyL2AFRt5dBH19eBCknY0oXT5ftGN4v2bQgkj8Ml2CvZPOnsiL8XIlpkOWF7Rj0qOnKLHtEsRIINrGrVr1sRzikoOlY6ls5HouQqPSnWBwveI5+cChbClTyQ12av3pFinI8JD0LD6lrtAWTaPZai/IQGgphUjFePxEoOtKUpGqwoT4GnDKkFRZvC12ItU60jGGeSL/d4rWs2aEkrKRnR9ClcelqopQLMH3tUEUuTaLJeMQDRRIuTtah0eo9Y+ay1ZbG93/W8G4PHpUplKYFhWttoX8aKrls+k94DU02OhiudhUqYqSCUkEFquKhvOMvwvEzUpCwrNLJIUD7pFHbY/QxoMPjPJ+bg9DpE3GiydjDBcUmJCkKJCXUoKSosSSKGXob1BblpGf7ScPE8gmik+yoXJ2VsBcEcxq4bqlhVqH7sYWcQ4QZrDvFp5AsD8oSOnZpLQv4UgrOSesS+6BWmcaOgNmDXUTTw3diNYIQlBmomSVHKoqTNCk5QwZl6ELKizAM4frpFYpCE5ZeGkywQyiAZhBIYspZ31aEaJWV6hiX5vp98oq5WTUAkpK5bPVqdRb5QnlcbSEOohKknKoGni/QtT0hpJUQ3Mwr4jwgidmTZbBaRrzblf1jRq6Y0n6ghE9E0GyhT2SxY66H5xn8fwNEwEyV+IVIU9Ov0hpw9HckligKzAKuORbRtaQo4xLmiYlaQy70LhtwbEODTR4dfwk9raEk/h0xF0kcxUH0vHQ+kY+e2chJBNQqibBiG5uPKPIa2JghZPV4lfe0UL+/SOjo6BSItFss76x0dGHRclNPSCcFICpiQbEgesdHQo6L8fhwlTDb6mKAsi1Ol/WOjoVdDHiVVgvDYxaC6FFJ3FLfMR5HQWtAvZsuz/aFc2YJawDQlxT4Q/mYcLDEbco6Ojh5ElLR0LoDn+E+EkU05QPNwwmqUV1yBRbQkVtHR0KKwTjXD0TZSTlysAQ2j5iYxOOk5CKu6QbNckfSOjovxdHNyoFmTL/d4oULeUdHR0I5iKVFx1j2ZPKajnHkdBZj1KnA6kfKOCXD846OiYTxQoOgiicGL+UdHQEEK4bxZcshq2jY8An5yoEAUSqm5f0jo6FmdHGxpMUUAkGwBbT7rE5imAO+kdHRBHQRCnFoAxK8hoBHR0MhWWgMQXd/2hgtNQOcdHQGFdg+KwCFp8QBr8n/UwrnyEoBQkAAWjo6DEDF6MMFqykkAPbrHsdHRYmz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data:image/jpeg;base64,/9j/4AAQSkZJRgABAQAAAQABAAD/2wCEAAkGBhQSERUUExQWFRUWGBcYFxcXGSAXGhsYHBwVGBYYGhgaHCYeGhojGhcaIC8gIycpLCwsGB8xNTAqNSYrLCkBCQoKDgwOGg8PGiwcHBwsKSkpKSwpKSkpKSkpKSkpLCwpKSkpKSkpKSkpKSksKSksKSksKSwpLCwsKSkpLCwsLP/AABEIALUBFwMBIgACEQEDEQH/xAAbAAACAwEBAQAAAAAAAAAAAAAEBQIDBgABB//EAEUQAAECBAQDBQYEAwUGBwAAAAECEQADITEEEkFRBWFxBhMigZEyQqGxwfAjUtHhFHLxFjNigpIVJENTc8IHFzREY4OT/8QAGQEAAwEBAQAAAAAAAAAAAAAAAQIDAAQF/8QAIhEAAgICAwEAAwEBAAAAAAAAAAECERIhAzFBURMiYXEy/9oADAMBAAIRAxEAPwDGdolvNIauWTbbupcKTK5GNXxTNnuQyJVB/wBKXzgBefRS/vziikUUdCMyC+semUW/WG0+XOvmUfMwtx2cEOpQ5ElvnDpmaorTgZjUST5ftFkvDTBdBA1J8I9SwiS56i1T5kn6wPKTUux8oOxQwSh7ykD/ADP8Egx5ll+9M8koJ+KiIpy0tEe6O0CmGwxM2QG8C1/zKy/BLwWnjmX+6lSkc8uY33Vr6Qoy5RpFklYL0d2gY/QWxlO4tNmAhcxRB0BYeggEgua/vEshDHrBGGwqplEpJ+nMk0AjaQNsCMghTsQ+8WDCva4538tYc4bhM1YyJSZg0KPZH+ZmV5Q6w3Y1Mrxz1oQBXK9TyJo3kDCPkSCotlHZbNNmBKvEsCimqEj8ynqHFHi//wASeIZUy5I1cqHLSIK7U9ylSMPLSitFE5iaAOXvX+gjMY6aqYoqUcylGvnE4wcnkx3Ko0gGSHBaB8SjxDzi1SMpr5D94rmrcvtHQcxWURB6xau8Vq0jGKSbRE2i3JFahGMRjxRfWv3pHR4U/WMYiTE5ZZiCx8/pFWWPSYATTcP7Z4iVQnOALrc7ahtIf8D7TzcStSGQgkBikEkMa+0ogHYs7tHztKi8GS1EVcit9eVWvCPjTHjNo+oDhKpMslC1FIJdCUyydTcjxeVaxmh2nmBTJSkHYu9NCEskekLP7ZT0oCEq62q25Ad+YMLU8XIWZjDOX9InHjfo75DWYnjK1DNMlpCDUqQ6iDuQXDeQ6wRgVImlpc9IzAAhOaWpQ9qgJZ6CoD3jEq44p6pSeoeDuzvFymYEGiSaUdj1uH5bxnx0tGXJs3ON4oiWe7XMSFNQKBJdwALVNdKwk4lPmC5VLy0CZagB18YD9It/iVhZCglaCR4VDO4GyjUGl6xLHLQuWe6/CURQOWJFfdPzTCx0Vsz0rirVxClTaHKlZAy1vepMdE+HdmFzZ346mRlfM4NdByvYx0VtEKNDxSVnmJSKfhyfERvKl0B1MTlcJrlJZXM/I6w2VOBKARaXKr/9UuIpckkkNSm3XcxJzo6YrQpTw9WcjMMoapv9YlMkIqHzEflS4/aHHdAk+1zGnoYXCSQcqUMCXLXPMxlKxmhBxPgxy5kgpBe4pq+kL5XCpiAHSSS9QMwYbFtzH0EoUEJCkkpagV56G0B4lSVORM7tRcgZaG1TlNPTS8MuVom4GKmSCkspJGz0+ERIjT43gCpiSUus6MXGlCD86dIHmdjsRlByprVswf00vFFyx9Fwfhnih49weFIJ1ezXrWNFg+xa/wDiqCB6mH+AwUmRWWkrVoT+psOkCXMktBXG32JeD9k1TBmX4RZvnWNMqVh8MhlVYeyP2gSfxGcpbMAhxZyW62eEWK4PMUtZFQVlQBOh5WuYjuT/AGY1Y9IM4p2qUpJRKGRNnBIPJiIxs+YoKIUVF3Icv1h8vg00E0eu7/vA07s/MVTKeR0t1i0cI9EpZMCkYh6VoPlFqg8ESez00GgG1SP1iydwOcPd9D+hg5oTGXwSTcKQaVB0iEhANDfbnDuX2dmmuU+ov6xHE9lZwLpAfdxBzj9Bg/ggnyWNLVptEG2u0Np/Z+ffulPuPF8oDm8MmJclBSRUghrkOQ/UQckLiwCtiN2MVrP2YvSlTkEFoL/hA1QX+sa0ahWYj8fsQRNwiszBJbQMY44BbewacjBtApgse5IvTw5ZPs/f2IsHDF08Kh5eUa0HFlCECIrm6QWOEq1B+2jxfClRsl9NT+AWYxE1g4cNV9gxMcNIuD97QMl9NixelJ0g3BJyqChvYbsbOwvEl4ZQFE3ig4VfPaNaDTRqcXNWAFS2AI8Tau1eVfDTbnFvCcBMPskpBFzX0DbawJ2ZwU33hQ+yTuHo2xF/2jTypbAEFjdiKg1BqGdqjWISklpFoq9gWI4R4VJdytmURqCHfyjyGM6VmSxfyLtXQecdCqY9BxxktRQjKoqRLku1ie7RatYOlISpJcFIvU3jK8T4goKAQ4yolBxv3ctov4dxMz0LE0MpPhCk3PV6GBKD7Hg9GjVLSHqWF7fExUMdLT4gVFntW/SMynhy2LTlD/qJp6pJigdmJhqmcgvZlUjKC9YXI1E/jso0KSX0+zA03jMkGqB1JDi3J4UYPhCpb95R6BQcpJ/mhPx/hkzMSASna9f1/SDGEbozkzVTO1WHle6QQdj6wQjtfJKQoN5liB84+cJnlJZblty3Tp970YYSWicohAKVZSQCQQTsDe0O+KIn5GbOb2vkH3Qo9CY5PaqS9EJ9CflGKnyShWVQY848E0jp6CMuJAfIzdzO1kgBwhP+kx5K7VylEju0i903Fdn+zGJ74l3vFsoKWoZQVEdX9RXaM+JC5tm7mcTSwIlS1u3sgE1tQkN5wNiO0kuWWXICVMDlKWPJtxzEKOF4SaVkFNWCXLtrWl6RdxXCqUoJCFKDhlKL03q7Dk0SxSY+Toh/bpOZv4ZLWeDldsJQFJQPIAQrmdn0u6vaFgA/O7AGA5mANwFG3u/JqCGxgxMpj0dtJYNZLcw3yLRMdsZZBPdgDmB8gqMpieHTLJQo7gioipPZ7EK9xTfynlyjfjgDOZqcR2ukiyEktqg/rA8jtbKJZUpF29gnpXe4hBM7KYke4S4/TU+tIjK7MT6vRtz62pBwh9BlP4PpvaqQ7dzLP+QfKKsT2pkJ/wDboUo0pLF7X6/KFauz84MzO+7Uq12iqZwPEaNu5jKMTXIMPbQe7hpSeZAHwYQJO7ZTD7MiUmmz6/pA44TihZgOYHTYxBXDcSi/iA0BzDrSHxj4C5Eldq5yvclWr+GOj18/WJK7YzgT+HKGgIlg9LxRNwWJukgegp135QHiFz0jxJZtSkEa6t1EGkK7Q1l9u54Hsyv/AMwIl/5gzvyS/wDT9IzpxZJchPp9/Zj3vEaoHlT9YbBfDZP6aaV21xCjSXLPRA++cQn9uZwoqWkFvygQBhMSnIwIynQiujW5x0/GJbQ7/u8Jir6Db+hB7bzGolIPQNET27xGoR/phLikJd0gjlp5DSByCYfFCuTNAe3WIP5fSNBwrtL3klyAVOczP4XYJYPUXFdxHz4yoK4bj1SV5gxGoNiNQeu8LKCrRozdm6wnFVp8MxyoO5FAdvNmcFo6AkYYzGXJAmBqhRALaM7VBId666x0TxRa2OJvCVE5gSE93KzOKOZcsevKKcNweZKXmBC0G7Bm2cbcxDHFcUkmXLSJhQtMuWFUpmCEUNL2rAi+Ls/dS9GK2L83YVHSEyfRRJUXKlLQogOBtfmCPT4wlx3FkyyQZZu9Wc620oI0GGxAmpSAWUk3IIN7tEcd2MRNzKzEqVUKJcVchgDBUlf7DNOtGYR2qI9kFJtQvDbhfa0KpMyq8q/vGaxPAJspTGWTUgEeKuoo8SRwKcmqkLFSCwqBz5RZxgySlI2UyZhpnhKQ52pXneBz2Rlu6Myf5WP1PyEZ/AcOWCcpro1T5gW6xouHyZiADMmMBWlKbPp5RJ/r0yi32iydwyYU5F5ZwDEZnCwOStehEDy+x7ke0xvuA1hoa/KDZnFEq9kFQZnNKeke55iSlTZaOHp5kH1A6wMpINIgrsnJSokqo1iWbd93hjw6RLR4ZYAe7Cp5kmsXysWSKFJPJIrQUr1jxWLXLYlanJFHFLnbl8Ym5N9mpLoskrzqySw62fKDUh2fkH1hfxFKUK/FllMx2Idg+92bWoqCIKxXFRnzeKiaFPh08Vq2+UK8OBMKswck+J/HeutfsRkgNlGO7TBAyyxmvSrDz1gWX2gmEP3SSBclJI2A5VEMV4LIBlQmpGgfyeCVTCEuR4dgNN9jtD6+CU/oiRx6bTKgBzoCHNLAaxeeKYsD2VpH8v0IPyguRjasKM7B/u7RNc9wxJBNn56v122ga+Br+gmG4nOzAzUzFB3YAPu1AGcaxcjjM4Bu7LB7kf8Ac/o+piUjCL7whJJKa1N+lbxLEYdST4iBd6eQgXG6CkwM8WnayzufELblqANE/wCOUQ/dr9b35/bwLooP7QSCL2YmlzSnnETj8wKSWILg67M2upf/ABcobEFhcvizH+6NnIcHfn9tEFcdDf3KwpywZKv0hUZxTmGYVDBxUPrzrHi5yhU5WZvMCpOloOCNbGiu0Eogd4hSTupPqRWnx6QRKXImXSCW90uQC4FFcwzkD4wgm41RAJSl8zq2ADuR8D5xTI4kmwQASSSLOA9Tr/WkbD4DL6EcU7KIWSqWoA1JBs2/Idbxm8VwGbLDlLp/MnxD1EaVHEVITmCg29wk+0HGlXbSoilHaBVylBpRQdK61d3ZRpcu0PFyROUYsyCixizviwcuzemg6co05nycQQFhlVBU1W0DoYqPMiOndiXqhYIZ2BCvIMxUeQTD5r0TB+GbQhJuojyf1/pEZjDVJHJ3+kOZnZZYcEijOLEWNXZjFI7PEb+jwckzYsTFXMRwMMp/CWNAprbfSBhgXOoHOv0g2LiE8L4yqXS6fyktXcMQX+kdFn+waAuK/KOgaGSkfaOHYYnDymH/AApZdx+RP+ExBGDWkl5iyCGqrMz6gBIHq8EcNX/u8ln/ALqVz9xIiUyacrv5848+Tds9CKVIS4rgiwTNMyYvKCcuYANqQnKzwhRxyRmJ/i5yUn3WFN8rppGn49x1OGlFSjVmSKBy2la3j5RguHzcRMyS0lSlGw+L8ovxLJWyU5VpGrw3GcLKWpaVKKi4VlSyi+rhvrFa+2cpdFy5hAsM7vuTQA+cMOH/APh1KQnNiZpzGmVJsaAV1qREk8KwsvKDJKism4JoDUECtm/URrh/pql/hPh+OlzUgIQUg+6Q7VIFnADNBWL4YnKUq9oOADVubQXhU5QCJZQAKXZhUdbjTSLcUymUQxUN611ppE73oatCPDYNbsCaEaU9NYKxmGPdlQUVEkjazU5RJcgpqFFjuojcjWKyKBJqQ5bTkac4fsUokTVCZl90EOeXXrDCdh00dRLOx63oeUBzcNQMlf8ApP6RZIl6ELZ3sRSrCsF/RGSmS2AypDAa/fz5RQJaRr1Ys/SC54S58BNgPCab6XagipbA5QlzRqNzodBrGsxGXJSS5c6sASQNIlj5QCKDUgBj93grCTSl+YbVnranJ4GxnFR3mUBSVBm1G1a7H0gAYhSvKos5cs7H2rctfiIumzTbMzAXDDppWnx84KmSiiYVKSCMwJCXYlyKD81bi0V4qZ4vEC5pQ9cotsVelqRQW6J4AzAgLDB2oWuznyHPaJ4tRUDmOmharwJhpJJykl0k94QHuxZuQaCZuESSjKkhISAs3rXpQgj0EI4qxk3QHKWFXDAhxXWrv0Be30bpuCJLoLgDWhJoABRzV9IIVhEuLskEG16VpQmIYlTEFIYANfVqagvXaCaxXi8ApEwKXUsGsSpnoA/25868ThkzEs+V2PQmooNS/qYKTh3UjvFqGqlEEkVqEtcuAPP0FmJypWQPEACKuWelNVatXWKIFnpypCpdyW/mSQSUtX2WLHkOkBzpYSFuCoMMuUux57ggftA4xjkLXTL4b8iGN70iiUshagg5fCAU2ANg70JDjTZ4ehWzpeIBCgXANC9jrXc1+HSKpcg5TkLs5pqDmqfh6ROZjykqlzJbJJIcHLZyNGJ+pFoHmyQtjIWSSPYJZZ6UqaWhqEbIy+IrlrGYMAAGZ3YWbnvDOVxRCyGIQQ1LB3sD8bW1hXP4gF5UzQc1lHLlIY060gc8PIqkuFWIq41jUmC2jXSisUfT+b7eCVrDVYdKU15PzIjHyeILQWBZO3wv6wXi1LmJzBRUwql9NFAQjiNkaJWNQz5gOWa3lrFAx4s6CeotGOVP0JPnFTsYOIuZvUzHHshrOLR0YyXxiYBlCqD7vHQMRskfduEzP92kA/8AKRT/ACwNxrH93LWQxUlBW25TbyDuYs4F/wCmkq/+NFG0aM7224ymUEoDKWuq6lkilCkG9BfQRxqNyO26iAcJ7NKxMwTsUcqFq8KHv0c0SOV42ODQmSAiRLCB4hV8zpIAqHdJrflzhDxLDGZMlzJRsmWXSaId3NbINBnDh01F4twefPMUpWeyU6EgbEMC5o7Q0m5egjQYJKps0pSwcsSLsnMHfUlzX5w2OGTLUlMoOpKS12qxP9ecD8MOVCg34hZwLAcieb+YMNEKTKHiIKlNXXyGsSk/BqIzZalJ8eVHSvxP0EKMVhMg8RcPe+wFBaD5+LcAAVB96pegFBzO8V4ozUpDjWnsptu7wIsDQEhbaWTokXYWePRi3Q4J1Z4t4ZPTMWoEMsbFwpOpdgxBuG1hkZCDp6VflDuVC4szyJytiwpd9b15Rwx5DFna5e2luQeNIMIgWQOVG+MCrwyKq7sBiQ5cWpSt4OafgMa9EEzHFRR4al2ctfyc3PpEZkxZOUM9iR4zXnbaHmSSSGSaCjOGc6E2/rFicPLSDlexDOa6nz6wc0DEQCQpDOolhRwCbVZ6PeJnDhLLzNoN70Y/rDGdhpVyCA+tgaNpAyJUoqYgj0Yc7VjZAcRDMLDMS6yLP7Ki5NrkEuYjKlFSiFKqQ+YsRUJzm9gVa8/N9MwEpzRYLbPbyiE/haFJdK8m7hraG9/topmhcWKuEpMsL7uyiEqVUksA2XyI9Dq0MDgVhKgQBWiSaE0HNwAbco8k8MUhs9S/ulnG4cUPlFuMlLBS+chr7EkOx+PkIVyvo2NIpm4JQHtbEJA1Jq42pc7CEuIKkOqlLkB9WTYUBDfYhqMOwLqq6gWJAb3evOAsfw9CX8RL2Z8vKu3ODFoDQtkSJinWlIL6G2tRoB8dudIwipZdaT4lhIyqdy1cupV8AzGGeDmhSLrTMqQX2ALAbvAPFFB5fiLoBICixB8QUQGptq+lADFVdi6Qoxc8gq8IbxBKSx1olR5NcUfaFuGmpCSVhnABfoKte45ltKwVj1e0oLHiUVF/zMSbfdA3NXi55WSAHSkPUgHQAnQ+0Awqzc4siTYLiZ6lHxFx8K1PnFaZjMRfQ2bUVjxUss+8SRLo5fVudv1hhB2OKont/EB1hh3guU6lX5j6G8D46RMkkD3FMUqFUlN6Havs9KQLh0IqFnKbpIqH2NbcxaDJPGe7lKlkZyVP4vZADGg1JOp0DQtV0NZDGykslYNFB22uGfqG8j5q0zyKgtBGKxDgB82ppbrzpARMEDYQsv1NYibc3MSw5uD1i9OHegBJravwvAs1WCgR0FnBkXBHUR0a0bE+1cLnf7lKJ/5aR9PVo+adqceZ2JmKNkqypGwS4Hy+MbORj8mClqNkIBNdlCj7tSMiUYKYXzzpRLliBMA1oQx9REeJU2zsm7SRZ2Z493ZUheYy1JUklLuhJuQ2jm0arh+M7vKhZdJAKZhGXMg0SoghwoNW+uxjEGaiUWlzisO7GWUpVyYlTW2jS4bjUudJKAUS1IdUvMbu6ikH3dvSNyR9QISNzLmIkodR5EipNTlA8iIGVL9kEsVO7bAOUg6C32YS8IxZnyjLmECchlIzCqkXBBOhtSGq1d6lKk+0kuBo+qDsDZ+m0cuNM6E7PcJiTNmpAdCZZJAT5pDhQrR62vDjEpUteU6u71DVpGbxK2aYh8rsdCku5Chox9XhxJ4h4TmFdxvu0CURUwGfiU4eapkk1IKiWpTTUc40feulJSzEAh9KO/3vCnG4eXOQEpIKmcPcnV4hwbw/hTFsrRJNW6HSD2jDsrVW2j+loXYpFgpeZy4BYB3JehqRFnehjmoXZqlw5Y+nzMDKUl6Co1BZ9d/ukKhGEd4pAAUoFIFC1yKO73pFMrBKUS6mALjKLnRy9g51i2XgkFZJNjQgtTSusU4jDy0JoovW5fdwKXeCKCYhCiognw1fm1/Ot3ivFYVJNHLtqBodPu0E4QAqSAklwBXQvcPSnlBSuHrzHKhL7uwtpt6QbowmxUpYCct6gsWFcpv5NyzRGVmUiYHZbpyFVQfEylEakpLsbN6sis2LMTfS9q602sRC/FuqehI8OdBYVOZJzEjkfA5OjiGWxW6GUxBKAoKIDGtBQbUD2p5RGVJKUvnc7BhToLmgpEsEJbeI5jf2QS1a1HUPsLwWgSioMkWqWbozecIxrIS8Cot46cxVuT0hRjJmVWVSEk3Ay7Pt0HpD2diJCWY22Hm1eUZbtN2ukSPFkBmEOlJuXsbUEaCcnRm6RAypSw/dAHcFuf36Rnu02Fky5ZKZrG4QoPmcD4WvtGcxfbGcRlSyA5NB4qkn2jXXlCafjFKLqUSTd/PUx2x4mnZB8qZHFTyTSidEu45l4qzHcnnFj0iIWQaaF31i9ELPcxNzTT6xP+IUebV/b9oqzR4oV+7RjHXjxXKOSmOUIxiMegeukcRHhEKzF2HVX5s0bXgWBCJffEO1RViaa+Xk+kYzAtmGa2sfQMRPSmQMtJYAAG5YH1c/bxHkfhfiXpFCswSSlTHR7Xu+r6fY6IkqCApbJBqSSxBdgGfT6x0IXsff7LOIwMpKFBJyChDg3odq1jB43gi5agFjIokgJqXbZhrD7g/aM4cpBBVLI8Zax2DnzcCvlGinSJOOQFo9pNHUCCL0/RnHxjKT43/GHFTX9PmU6UtBZSSk9I8wpAUNA4dixHMVvGzx3D3HdKoA3jIdiQ+Vzz+GkAJ7FqMxszJ0UzhxoWZuRiy5FWyT43ej3h5xamyBc1IqkqdwXulZLpV0OpjS8Px0wrZYWks4zD8SzGjfiANYOWNIB4ZwfE4ZWZBStJoUktS/la8NuP4Jc+QMjpWDmCQbsah/i8c05JstFNIImBKyASkLIelQWLEHQ3sbPFP8SuX4cpLB1I1H+JB95LC1x0jPy586Wj8SSRl95ic/JQBuxPioR0AhtgONy5gSmafFoX8QPPL1v6jdaoa7LVzHSJktTg+0AaioJBDUg4SUqUFofOlsySbixIOjCmzeZgTE8OIdUvxOB4gzkDQpFFjmK+VvMAtaVZmqxGVJfl7KmLdHg6YGmhlPxZUFDwpuAXsqrEk2N6coW43HANlUBMdgAHB5KrQWII2iGMSiYknxpYOAkOSzU50+T6QrlSMrFEwpJqAaFhuxLemsGKQknfRruEz0ksv5WvtT6WjRScqk0Sz6Wf8AaMNwibMBIZB/MrN/2s8PJfGGLFQdNqgfMvyiU1vQUtbGgwq1F2SGsHt5gPHs2QvKXmv/ACgBqBwNzTzgFXFEkEqmlI2ZydWFfhAGK49LSnL+ITzAA9HBtCUzDCZw9CUB1qURUUBrz5tCjHpSMhfSrXc1IBFBsRTnvA8/tYAXyPpUg/CAE8ekuTMKwCXbKkhJ0ZiPl6xSMXYkh/NExSSUkh0hKQGNyPGRqKHzgmRMSkAAVS7lw1ats2rc2jH43t2hBHdOtgzkkAbUIf4xkeI9o580nNNLVLAsPQUiseGUuxHNI23a7tsJYKJSEFZDFbuU1bTpqY+YYucZiipaiSS5Ual4lMU+o9YHWN464cagtEJTciox48TKYgBDingj0xFo5SYBj0GPQIiEvEjGAemIkx6BWLsFhe8WEuw1JBYdWt1jMKK8NhVTFBIFSejNcmK5qWMfQuEcPRKSciakMSS5Ov15Rle0fDSiaVN4Vlx53pElO3RRwpEOD4YApUoFSSRmAuztTS/6RssQpJAb2Q2UM3MU9IzvBZ6kSwCAB4me/VrjraGhmOMizlBdS1flliihyJZgBvE5bZaFJFGI4jmyrKc5/wCFL/MKhSzyu0dBGDDkz2yqmUlj8kpNEgDQlo6AGmFcM4QJiUZZ8skgEoPiIvTK9d/ONgcCESkoQ6QkgkJoS1x5uR58o+RzJ5Cizi0MeH9p58q0wkflV4h8YafE30xociS6Nini4yklKlUpmaqa1ZrPSK5Pa1AWPAs6UAtu7in6QPw3tJKxS8sxIlrIyhYUQ/In4xTxrALkgJGZSVWUQ4BNg97/ADiWO6ZRv1GhncallIJUUP4g6QaeT7s9IJk8SkzAAJyHelQDqLEvX6R89/2gZWVlHMAQC9PPkxPWFnEhlWcvs0b0BKXe4g/gT0K+Wj69KQlD5lunnp56RTxPhMuaWUlL70B/ePk2Hx8xHiSSPP1+kaXgna4u0wBxYpo5t4hawpSkK+GS2mZcil2ajCdnFYdyiavKxZDhn0qQRCbE9r1JVkmyPZNQakm2obX6w8wXFFLCny28NCWUNGHWIY7hYxMoCakJmbprWlRqxa0JFpP9h5J1+oqk9rsOdJiH1CnA+LCDsLxVK8vdzQ+ygCfLKQdIx/GezM3Dur20M+YCo/mTfzhSJhDEHo0dC44yVxOdzcXs+qJ4gFvTM1CUKzEGrOCARFH8TJBLzEpUCQQfAoF9Rb5Rh8BOlqRkWVBRJZ15U2I1cO5hpI7NLLKBC5ZDgg5SCbPRQVTUbwjgl2PnZqJoCknKsv8AzAjm+Wut4W4yRMzPcCzlgSWqxt0gRXYubdK0Ef4ix9QkwsxmKxGFUApXtBwMwXSlOWlDGjFPpmcq7GOOwk41EuXT/KrfQUjPcVcEZ0Kl03dz1YDyrDGX2wV7yEG1hlgmTx6Up3QHVd7+v7xRZR7RN0zGzEmKSDG1VwyRPDUQdKMWPzdtQYDn9hFvSZTcpfrY7N8Yr+WPpL8cvDJqlnaK1JMaSd2MmghlA+RHq/zj2V2GmqZ1AB6+E2puQDrB/JH6D8cvhlwkvFmCwSpqwhAJUosBzPPSNXI7EpFZs1IGozhNiXoxOhsIacNx2EwyViSQtdwM/hUpLMeTevyhJcqrWx48TvZdwvsZIQgBaEzFe8pTlzZQSAzJBN9YMxPZPCZSkykh6DLccwd4VSO05UrIuYUrcsU0Sdgmp9DD/C95Y5y3tZxlNbFyKDpvHNLJPZ0LHxCSd2Uwctlq8NWZaiEnSugDi7gPFGN4dhB3bISxDhk+0AXZyeRaHnE5yKoml81MtFPR2DPbcbxnuKcARPWAmYaIHhLMAGAACQAEne/WGi/rFaXiAO0M7CGVllBlO6QMvRiRyJ8x6ouH8KWoZyDk3ahqHtf1EbLCcAkychzAKI1U7qYlVhVg1KO0FLmB8qmSnK2xULnmzC3XaHz8Qjhe2IJvFlKSAm7BvJtuYbpC6dMXMXmShRO5rt6axolcOkVBVMS9glTKoNblulYIXNJbu0lvJD11UW82S/ONkvBsX6IpBmIUQoJcDxOwSBuomD5eECvEtzLoS9FTVaUuJY2/V4Il8LchS2W1k2QDoWNVHmYtxZaqsyjyGn0gXYUqKFLLuoGumwFgLMI6IKxYAdkpAo6z8soPx3jowTMYkeL0iBTSJ4g+ImKbiOogSlzPVj9I+hdlOKpxMnuJrFgw0JGz7j9No+e5QDX+n28TlTSkuCzfCEnDJDRnibPj3ZooBIdSQ5TSr30NqbDzjJ4vEAoQGqCrMXdzRuYYCNjwTtchcvu8QWNnNQRbxNrz1eB+K9kUTR3mHUkgucoN/wCVX0MSg3F1ItJKW0Y0zXpHBXiDX1aGS+BLScqgQdjR72o3xgaVgjnAD3ZmO/IGLKSI4s+gdlpzygW1L+WsafDyQW+sZPBYpEtIRVxTwgqci5AFW6w2w/EXT4dfL+hjzeRNs741Qn7bcYyFMuWsMXKsprsEvZruIxeE4eucWQHMbP8Aseha8yiq7sWA6PD7AcIlyh4UgUAcbDc6xePLGEaRzy4nKVsyXD+xq05VTGLXT56mwIOjxoMfjEYSWM1W8KUA131qz6WjzjHGAhXcoSCopKqsA25e9jatI+eYnFFZc+mg5DlGjGXJuQkmuPSH2O7bTlgpQ0tJDeH2m3CneM9MWVKckl7kl46U1YkR9P1+kXjFR6OaUmwmXxKWmhkoUBfMVO+7ghukMcJhcJPZIK5Kzo4UHrQE/CsIe4c+cWy0gaW9YzMmaYdk1g/hzw+gmIalOvwEMsDgcTLPibLoUqzCm6TURlJfEV+yVLKQXAPKo/aNzgON96h6BQZ2YAlvE+0SnkjohRNc9wywU8xY9RHqCpg6QoboJto4JgD+0UuY4JYIoXYg63FXby5wcnD6yztb7+MRaoqnfRnu0vATPIVKSQsUNQElOjg1ChuIx/GOETZBZYuPaFUvs7M7R9R738wbmPqIrm4fMCCygR1+EVhyOKoSfGpbPk0mc+UK0Ib1tG/4FxJc8hFVTDRJ/M2h2NLtWsL+L9jgrKZQAvma5/KwJygjUOIH7H8VXg8YgzJanSSyTQkKBS43Z3izlGcSKTgz6FK7FzpntISkaZjUDk1RTlrGaEopnEfhgoUpLgkkgZkn3RRwKE+UfU+6xKmdUuWOSSo/G0fH+03DhhOIGVJmLGdOZaiWzKVmVRy1HYk87mObjbkUs9GKQJykzkAgpcKPhS4qAnQgPRyfjF3+zwZZWoqJLnJmbKknwhQSxsPerAyJ6pgWmagLyH2BSYBRlJHvanVxakEyVjIChWZDADcMQQ9Pt4d2gxaZVOaTKK2AAqwAD/uwuYXTOO5SASrOpmCRRyzBz8+kaOfh0qSkKSCl7HQ3B8mMA8Q4PLmJYJDOTzD3L3v84ya9DJPwoxnETh27xJIYDMGIOoY77jSLMBxtExjmSA9iqvkP1aFMvDzpRCQsLlk1SutH09YDx82XJmFSUpCiXyjQcgLQ+Nk1Jrs1+IlS16J8wD0v5x5GQk8czqsWAsL+pjoGI6mmAzxVXr9/GKc9oJme0vp+kBx1nOSKosEV5omlPOAMSlq3fygvh+PXLVmSopIq/kzEGBEy45aaMBAasZWja4DtjLmjJiEgC2ZnT5i48oZHsrJWnPh1tmqCDmB6R83QSPhUw14NxKfKJ7sqDXAqC26dYjLjr/krGf01mH4HMlzcxIygE5nytzdqjyhjNw845FlYUKEkO7U0Dg9TAHDu2yVMJqSk2zCo8xcQ8lzkzQ8uYDS4qBZqfSOaWS7RZV4DSuJKScq2seR5tyZvN4ORjkFg7E2fXk/s+Twpm8LmmpJJehTQC9WJJ21hjKwpCR4QksSSAC+miqk784m0gpsT9rpJSUTEBsoUCQHYFr0OsYPESyL2AFRt5dBH19eBCknY0oXT5ftGN4v2bQgkj8Ml2CvZPOnsiL8XIlpkOWF7Rj0qOnKLHtEsRIINrGrVr1sRzikoOlY6ls5HouQqPSnWBwveI5+cChbClTyQ12av3pFinI8JD0LD6lrtAWTaPZai/IQGgphUjFePxEoOtKUpGqwoT4GnDKkFRZvC12ItU60jGGeSL/d4rWs2aEkrKRnR9ClcelqopQLMH3tUEUuTaLJeMQDRRIuTtah0eo9Y+ay1ZbG93/W8G4PHpUplKYFhWttoX8aKrls+k94DU02OhiudhUqYqSCUkEFquKhvOMvwvEzUpCwrNLJIUD7pFHbY/QxoMPjPJ+bg9DpE3GiydjDBcUmJCkKJCXUoKSosSSKGXob1BblpGf7ScPE8gmik+yoXJ2VsBcEcxq4bqlhVqH7sYWcQ4QZrDvFp5AsD8oSOnZpLQv4UgrOSesS+6BWmcaOgNmDXUTTw3diNYIQlBmomSVHKoqTNCk5QwZl6ELKizAM4frpFYpCE5ZeGkywQyiAZhBIYspZ31aEaJWV6hiX5vp98oq5WTUAkpK5bPVqdRb5QnlcbSEOohKknKoGni/QtT0hpJUQ3Mwr4jwgidmTZbBaRrzblf1jRq6Y0n6ghE9E0GyhT2SxY66H5xn8fwNEwEyV+IVIU9Ov0hpw9HckligKzAKuORbRtaQo4xLmiYlaQy70LhtwbEODTR4dfwk9raEk/h0xF0kcxUH0vHQ+kY+e2chJBNQqibBiG5uPKPIa2JghZPV4lfe0UL+/SOjo6BSItFss76x0dGHRclNPSCcFICpiQbEgesdHQo6L8fhwlTDb6mKAsi1Ol/WOjoVdDHiVVgvDYxaC6FFJ3FLfMR5HQWtAvZsuz/aFc2YJawDQlxT4Q/mYcLDEbco6Ojh5ElLR0LoDn+E+EkU05QPNwwmqUV1yBRbQkVtHR0KKwTjXD0TZSTlysAQ2j5iYxOOk5CKu6QbNckfSOjovxdHNyoFmTL/d4oULeUdHR0I5iKVFx1j2ZPKajnHkdBZj1KnA6kfKOCXD846OiYTxQoOgiicGL+UdHQEEK4bxZcshq2jY8An5yoEAUSqm5f0jo6FmdHGxpMUUAkGwBbT7rE5imAO+kdHRBHQRCnFoAxK8hoBHR0MhWWgMQXd/2hgtNQOcdHQGFdg+KwCFp8QBr8n/UwrnyEoBQkAAWjo6DEDF6MMFqykkAPbrHsdHRYmz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6" descr="data:image/jpeg;base64,/9j/4AAQSkZJRgABAQAAAQABAAD/2wCEAAkGBhQSERUUExQWFRUWGBcYFxcXGSAXGhsYHBwVGBYYGhgaHCYeGhojGhcaIC8gIycpLCwsGB8xNTAqNSYrLCkBCQoKDgwOGg8PGiwcHBwsKSkpKSwpKSkpKSkpKSkpLCwpKSkpKSkpKSkpKSksKSksKSksKSwpLCwsKSkpLCwsLP/AABEIALUBFwMBIgACEQEDEQH/xAAbAAACAwEBAQAAAAAAAAAAAAAEBQIDBgABB//EAEUQAAECBAQDBQYEAwUGBwAAAAECEQADITEEEkFRBWFxBhMigZEyQqGxwfAjUtHhFHLxFjNigpIVJENTc8IHFzREY4OT/8QAGQEAAwEBAQAAAAAAAAAAAAAAAQIDAAQF/8QAIhEAAgICAwEAAwEBAAAAAAAAAAECERIhAzFBURMiYXEy/9oADAMBAAIRAxEAPwDGdolvNIauWTbbupcKTK5GNXxTNnuQyJVB/wBKXzgBefRS/vziikUUdCMyC+semUW/WG0+XOvmUfMwtx2cEOpQ5ElvnDpmaorTgZjUST5ftFkvDTBdBA1J8I9SwiS56i1T5kn6wPKTUux8oOxQwSh7ykD/ADP8Egx5ll+9M8koJ+KiIpy0tEe6O0CmGwxM2QG8C1/zKy/BLwWnjmX+6lSkc8uY33Vr6Qoy5RpFklYL0d2gY/QWxlO4tNmAhcxRB0BYeggEgua/vEshDHrBGGwqplEpJ+nMk0AjaQNsCMghTsQ+8WDCva4538tYc4bhM1YyJSZg0KPZH+ZmV5Q6w3Y1Mrxz1oQBXK9TyJo3kDCPkSCotlHZbNNmBKvEsCimqEj8ynqHFHi//wASeIZUy5I1cqHLSIK7U9ylSMPLSitFE5iaAOXvX+gjMY6aqYoqUcylGvnE4wcnkx3Ko0gGSHBaB8SjxDzi1SMpr5D94rmrcvtHQcxWURB6xau8Vq0jGKSbRE2i3JFahGMRjxRfWv3pHR4U/WMYiTE5ZZiCx8/pFWWPSYATTcP7Z4iVQnOALrc7ahtIf8D7TzcStSGQgkBikEkMa+0ogHYs7tHztKi8GS1EVcit9eVWvCPjTHjNo+oDhKpMslC1FIJdCUyydTcjxeVaxmh2nmBTJSkHYu9NCEskekLP7ZT0oCEq62q25Ad+YMLU8XIWZjDOX9InHjfo75DWYnjK1DNMlpCDUqQ6iDuQXDeQ6wRgVImlpc9IzAAhOaWpQ9qgJZ6CoD3jEq44p6pSeoeDuzvFymYEGiSaUdj1uH5bxnx0tGXJs3ON4oiWe7XMSFNQKBJdwALVNdKwk4lPmC5VLy0CZagB18YD9It/iVhZCglaCR4VDO4GyjUGl6xLHLQuWe6/CURQOWJFfdPzTCx0Vsz0rirVxClTaHKlZAy1vepMdE+HdmFzZ346mRlfM4NdByvYx0VtEKNDxSVnmJSKfhyfERvKl0B1MTlcJrlJZXM/I6w2VOBKARaXKr/9UuIpckkkNSm3XcxJzo6YrQpTw9WcjMMoapv9YlMkIqHzEflS4/aHHdAk+1zGnoYXCSQcqUMCXLXPMxlKxmhBxPgxy5kgpBe4pq+kL5XCpiAHSSS9QMwYbFtzH0EoUEJCkkpagV56G0B4lSVORM7tRcgZaG1TlNPTS8MuVom4GKmSCkspJGz0+ERIjT43gCpiSUus6MXGlCD86dIHmdjsRlByprVswf00vFFyx9Fwfhnih49weFIJ1ezXrWNFg+xa/wDiqCB6mH+AwUmRWWkrVoT+psOkCXMktBXG32JeD9k1TBmX4RZvnWNMqVh8MhlVYeyP2gSfxGcpbMAhxZyW62eEWK4PMUtZFQVlQBOh5WuYjuT/AGY1Y9IM4p2qUpJRKGRNnBIPJiIxs+YoKIUVF3Icv1h8vg00E0eu7/vA07s/MVTKeR0t1i0cI9EpZMCkYh6VoPlFqg8ESez00GgG1SP1iydwOcPd9D+hg5oTGXwSTcKQaVB0iEhANDfbnDuX2dmmuU+ov6xHE9lZwLpAfdxBzj9Bg/ggnyWNLVptEG2u0Np/Z+ffulPuPF8oDm8MmJclBSRUghrkOQ/UQckLiwCtiN2MVrP2YvSlTkEFoL/hA1QX+sa0ahWYj8fsQRNwiszBJbQMY44BbewacjBtApgse5IvTw5ZPs/f2IsHDF08Kh5eUa0HFlCECIrm6QWOEq1B+2jxfClRsl9NT+AWYxE1g4cNV9gxMcNIuD97QMl9NixelJ0g3BJyqChvYbsbOwvEl4ZQFE3ig4VfPaNaDTRqcXNWAFS2AI8Tau1eVfDTbnFvCcBMPskpBFzX0DbawJ2ZwU33hQ+yTuHo2xF/2jTypbAEFjdiKg1BqGdqjWISklpFoq9gWI4R4VJdytmURqCHfyjyGM6VmSxfyLtXQecdCqY9BxxktRQjKoqRLku1ie7RatYOlISpJcFIvU3jK8T4goKAQ4yolBxv3ctov4dxMz0LE0MpPhCk3PV6GBKD7Hg9GjVLSHqWF7fExUMdLT4gVFntW/SMynhy2LTlD/qJp6pJigdmJhqmcgvZlUjKC9YXI1E/jso0KSX0+zA03jMkGqB1JDi3J4UYPhCpb95R6BQcpJ/mhPx/hkzMSASna9f1/SDGEbozkzVTO1WHle6QQdj6wQjtfJKQoN5liB84+cJnlJZblty3Tp970YYSWicohAKVZSQCQQTsDe0O+KIn5GbOb2vkH3Qo9CY5PaqS9EJ9CflGKnyShWVQY848E0jp6CMuJAfIzdzO1kgBwhP+kx5K7VylEju0i903Fdn+zGJ74l3vFsoKWoZQVEdX9RXaM+JC5tm7mcTSwIlS1u3sgE1tQkN5wNiO0kuWWXICVMDlKWPJtxzEKOF4SaVkFNWCXLtrWl6RdxXCqUoJCFKDhlKL03q7Dk0SxSY+Toh/bpOZv4ZLWeDldsJQFJQPIAQrmdn0u6vaFgA/O7AGA5mANwFG3u/JqCGxgxMpj0dtJYNZLcw3yLRMdsZZBPdgDmB8gqMpieHTLJQo7gioipPZ7EK9xTfynlyjfjgDOZqcR2ukiyEktqg/rA8jtbKJZUpF29gnpXe4hBM7KYke4S4/TU+tIjK7MT6vRtz62pBwh9BlP4PpvaqQ7dzLP+QfKKsT2pkJ/wDboUo0pLF7X6/KFauz84MzO+7Uq12iqZwPEaNu5jKMTXIMPbQe7hpSeZAHwYQJO7ZTD7MiUmmz6/pA44TihZgOYHTYxBXDcSi/iA0BzDrSHxj4C5Eldq5yvclWr+GOj18/WJK7YzgT+HKGgIlg9LxRNwWJukgegp135QHiFz0jxJZtSkEa6t1EGkK7Q1l9u54Hsyv/AMwIl/5gzvyS/wDT9IzpxZJchPp9/Zj3vEaoHlT9YbBfDZP6aaV21xCjSXLPRA++cQn9uZwoqWkFvygQBhMSnIwIynQiujW5x0/GJbQ7/u8Jir6Db+hB7bzGolIPQNET27xGoR/phLikJd0gjlp5DSByCYfFCuTNAe3WIP5fSNBwrtL3klyAVOczP4XYJYPUXFdxHz4yoK4bj1SV5gxGoNiNQeu8LKCrRozdm6wnFVp8MxyoO5FAdvNmcFo6AkYYzGXJAmBqhRALaM7VBId666x0TxRa2OJvCVE5gSE93KzOKOZcsevKKcNweZKXmBC0G7Bm2cbcxDHFcUkmXLSJhQtMuWFUpmCEUNL2rAi+Ls/dS9GK2L83YVHSEyfRRJUXKlLQogOBtfmCPT4wlx3FkyyQZZu9Wc620oI0GGxAmpSAWUk3IIN7tEcd2MRNzKzEqVUKJcVchgDBUlf7DNOtGYR2qI9kFJtQvDbhfa0KpMyq8q/vGaxPAJspTGWTUgEeKuoo8SRwKcmqkLFSCwqBz5RZxgySlI2UyZhpnhKQ52pXneBz2Rlu6Myf5WP1PyEZ/AcOWCcpro1T5gW6xouHyZiADMmMBWlKbPp5RJ/r0yi32iydwyYU5F5ZwDEZnCwOStehEDy+x7ke0xvuA1hoa/KDZnFEq9kFQZnNKeke55iSlTZaOHp5kH1A6wMpINIgrsnJSokqo1iWbd93hjw6RLR4ZYAe7Cp5kmsXysWSKFJPJIrQUr1jxWLXLYlanJFHFLnbl8Ym5N9mpLoskrzqySw62fKDUh2fkH1hfxFKUK/FllMx2Idg+92bWoqCIKxXFRnzeKiaFPh08Vq2+UK8OBMKswck+J/HeutfsRkgNlGO7TBAyyxmvSrDz1gWX2gmEP3SSBclJI2A5VEMV4LIBlQmpGgfyeCVTCEuR4dgNN9jtD6+CU/oiRx6bTKgBzoCHNLAaxeeKYsD2VpH8v0IPyguRjasKM7B/u7RNc9wxJBNn56v122ga+Br+gmG4nOzAzUzFB3YAPu1AGcaxcjjM4Bu7LB7kf8Ac/o+piUjCL7whJJKa1N+lbxLEYdST4iBd6eQgXG6CkwM8WnayzufELblqANE/wCOUQ/dr9b35/bwLooP7QSCL2YmlzSnnETj8wKSWILg67M2upf/ABcobEFhcvizH+6NnIcHfn9tEFcdDf3KwpywZKv0hUZxTmGYVDBxUPrzrHi5yhU5WZvMCpOloOCNbGiu0Eogd4hSTupPqRWnx6QRKXImXSCW90uQC4FFcwzkD4wgm41RAJSl8zq2ADuR8D5xTI4kmwQASSSLOA9Tr/WkbD4DL6EcU7KIWSqWoA1JBs2/Idbxm8VwGbLDlLp/MnxD1EaVHEVITmCg29wk+0HGlXbSoilHaBVylBpRQdK61d3ZRpcu0PFyROUYsyCixizviwcuzemg6co05nycQQFhlVBU1W0DoYqPMiOndiXqhYIZ2BCvIMxUeQTD5r0TB+GbQhJuojyf1/pEZjDVJHJ3+kOZnZZYcEijOLEWNXZjFI7PEb+jwckzYsTFXMRwMMp/CWNAprbfSBhgXOoHOv0g2LiE8L4yqXS6fyktXcMQX+kdFn+waAuK/KOgaGSkfaOHYYnDymH/AApZdx+RP+ExBGDWkl5iyCGqrMz6gBIHq8EcNX/u8ln/ALqVz9xIiUyacrv5848+Tds9CKVIS4rgiwTNMyYvKCcuYANqQnKzwhRxyRmJ/i5yUn3WFN8rppGn49x1OGlFSjVmSKBy2la3j5RguHzcRMyS0lSlGw+L8ovxLJWyU5VpGrw3GcLKWpaVKKi4VlSyi+rhvrFa+2cpdFy5hAsM7vuTQA+cMOH/APh1KQnNiZpzGmVJsaAV1qREk8KwsvKDJKism4JoDUECtm/URrh/pql/hPh+OlzUgIQUg+6Q7VIFnADNBWL4YnKUq9oOADVubQXhU5QCJZQAKXZhUdbjTSLcUymUQxUN611ppE73oatCPDYNbsCaEaU9NYKxmGPdlQUVEkjazU5RJcgpqFFjuojcjWKyKBJqQ5bTkac4fsUokTVCZl90EOeXXrDCdh00dRLOx63oeUBzcNQMlf8ApP6RZIl6ELZ3sRSrCsF/RGSmS2AypDAa/fz5RQJaRr1Ys/SC54S58BNgPCab6XagipbA5QlzRqNzodBrGsxGXJSS5c6sASQNIlj5QCKDUgBj93grCTSl+YbVnranJ4GxnFR3mUBSVBm1G1a7H0gAYhSvKos5cs7H2rctfiIumzTbMzAXDDppWnx84KmSiiYVKSCMwJCXYlyKD81bi0V4qZ4vEC5pQ9cotsVelqRQW6J4AzAgLDB2oWuznyHPaJ4tRUDmOmharwJhpJJykl0k94QHuxZuQaCZuESSjKkhISAs3rXpQgj0EI4qxk3QHKWFXDAhxXWrv0Be30bpuCJLoLgDWhJoABRzV9IIVhEuLskEG16VpQmIYlTEFIYANfVqagvXaCaxXi8ApEwKXUsGsSpnoA/25868ThkzEs+V2PQmooNS/qYKTh3UjvFqGqlEEkVqEtcuAPP0FmJypWQPEACKuWelNVatXWKIFnpypCpdyW/mSQSUtX2WLHkOkBzpYSFuCoMMuUux57ggftA4xjkLXTL4b8iGN70iiUshagg5fCAU2ANg70JDjTZ4ehWzpeIBCgXANC9jrXc1+HSKpcg5TkLs5pqDmqfh6ROZjykqlzJbJJIcHLZyNGJ+pFoHmyQtjIWSSPYJZZ6UqaWhqEbIy+IrlrGYMAAGZ3YWbnvDOVxRCyGIQQ1LB3sD8bW1hXP4gF5UzQc1lHLlIY060gc8PIqkuFWIq41jUmC2jXSisUfT+b7eCVrDVYdKU15PzIjHyeILQWBZO3wv6wXi1LmJzBRUwql9NFAQjiNkaJWNQz5gOWa3lrFAx4s6CeotGOVP0JPnFTsYOIuZvUzHHshrOLR0YyXxiYBlCqD7vHQMRskfduEzP92kA/8AKRT/ACwNxrH93LWQxUlBW25TbyDuYs4F/wCmkq/+NFG0aM7224ymUEoDKWuq6lkilCkG9BfQRxqNyO26iAcJ7NKxMwTsUcqFq8KHv0c0SOV42ODQmSAiRLCB4hV8zpIAqHdJrflzhDxLDGZMlzJRsmWXSaId3NbINBnDh01F4twefPMUpWeyU6EgbEMC5o7Q0m5egjQYJKps0pSwcsSLsnMHfUlzX5w2OGTLUlMoOpKS12qxP9ecD8MOVCg34hZwLAcieb+YMNEKTKHiIKlNXXyGsSk/BqIzZalJ8eVHSvxP0EKMVhMg8RcPe+wFBaD5+LcAAVB96pegFBzO8V4ozUpDjWnsptu7wIsDQEhbaWTokXYWePRi3Q4J1Z4t4ZPTMWoEMsbFwpOpdgxBuG1hkZCDp6VflDuVC4szyJytiwpd9b15Rwx5DFna5e2luQeNIMIgWQOVG+MCrwyKq7sBiQ5cWpSt4OafgMa9EEzHFRR4al2ctfyc3PpEZkxZOUM9iR4zXnbaHmSSSGSaCjOGc6E2/rFicPLSDlexDOa6nz6wc0DEQCQpDOolhRwCbVZ6PeJnDhLLzNoN70Y/rDGdhpVyCA+tgaNpAyJUoqYgj0Yc7VjZAcRDMLDMS6yLP7Ki5NrkEuYjKlFSiFKqQ+YsRUJzm9gVa8/N9MwEpzRYLbPbyiE/haFJdK8m7hraG9/topmhcWKuEpMsL7uyiEqVUksA2XyI9Dq0MDgVhKgQBWiSaE0HNwAbco8k8MUhs9S/ulnG4cUPlFuMlLBS+chr7EkOx+PkIVyvo2NIpm4JQHtbEJA1Jq42pc7CEuIKkOqlLkB9WTYUBDfYhqMOwLqq6gWJAb3evOAsfw9CX8RL2Z8vKu3ODFoDQtkSJinWlIL6G2tRoB8dudIwipZdaT4lhIyqdy1cupV8AzGGeDmhSLrTMqQX2ALAbvAPFFB5fiLoBICixB8QUQGptq+lADFVdi6Qoxc8gq8IbxBKSx1olR5NcUfaFuGmpCSVhnABfoKte45ltKwVj1e0oLHiUVF/zMSbfdA3NXi55WSAHSkPUgHQAnQ+0Awqzc4siTYLiZ6lHxFx8K1PnFaZjMRfQ2bUVjxUss+8SRLo5fVudv1hhB2OKont/EB1hh3guU6lX5j6G8D46RMkkD3FMUqFUlN6Havs9KQLh0IqFnKbpIqH2NbcxaDJPGe7lKlkZyVP4vZADGg1JOp0DQtV0NZDGykslYNFB22uGfqG8j5q0zyKgtBGKxDgB82ppbrzpARMEDYQsv1NYibc3MSw5uD1i9OHegBJravwvAs1WCgR0FnBkXBHUR0a0bE+1cLnf7lKJ/5aR9PVo+adqceZ2JmKNkqypGwS4Hy+MbORj8mClqNkIBNdlCj7tSMiUYKYXzzpRLliBMA1oQx9REeJU2zsm7SRZ2Z493ZUheYy1JUklLuhJuQ2jm0arh+M7vKhZdJAKZhGXMg0SoghwoNW+uxjEGaiUWlzisO7GWUpVyYlTW2jS4bjUudJKAUS1IdUvMbu6ikH3dvSNyR9QISNzLmIkodR5EipNTlA8iIGVL9kEsVO7bAOUg6C32YS8IxZnyjLmECchlIzCqkXBBOhtSGq1d6lKk+0kuBo+qDsDZ+m0cuNM6E7PcJiTNmpAdCZZJAT5pDhQrR62vDjEpUteU6u71DVpGbxK2aYh8rsdCku5Chox9XhxJ4h4TmFdxvu0CURUwGfiU4eapkk1IKiWpTTUc40feulJSzEAh9KO/3vCnG4eXOQEpIKmcPcnV4hwbw/hTFsrRJNW6HSD2jDsrVW2j+loXYpFgpeZy4BYB3JehqRFnehjmoXZqlw5Y+nzMDKUl6Co1BZ9d/ukKhGEd4pAAUoFIFC1yKO73pFMrBKUS6mALjKLnRy9g51i2XgkFZJNjQgtTSusU4jDy0JoovW5fdwKXeCKCYhCiognw1fm1/Ot3ivFYVJNHLtqBodPu0E4QAqSAklwBXQvcPSnlBSuHrzHKhL7uwtpt6QbowmxUpYCct6gsWFcpv5NyzRGVmUiYHZbpyFVQfEylEakpLsbN6sis2LMTfS9q602sRC/FuqehI8OdBYVOZJzEjkfA5OjiGWxW6GUxBKAoKIDGtBQbUD2p5RGVJKUvnc7BhToLmgpEsEJbeI5jf2QS1a1HUPsLwWgSioMkWqWbozecIxrIS8Cot46cxVuT0hRjJmVWVSEk3Ay7Pt0HpD2diJCWY22Hm1eUZbtN2ukSPFkBmEOlJuXsbUEaCcnRm6RAypSw/dAHcFuf36Rnu02Fky5ZKZrG4QoPmcD4WvtGcxfbGcRlSyA5NB4qkn2jXXlCafjFKLqUSTd/PUx2x4mnZB8qZHFTyTSidEu45l4qzHcnnFj0iIWQaaF31i9ELPcxNzTT6xP+IUebV/b9oqzR4oV+7RjHXjxXKOSmOUIxiMegeukcRHhEKzF2HVX5s0bXgWBCJffEO1RViaa+Xk+kYzAtmGa2sfQMRPSmQMtJYAAG5YH1c/bxHkfhfiXpFCswSSlTHR7Xu+r6fY6IkqCApbJBqSSxBdgGfT6x0IXsff7LOIwMpKFBJyChDg3odq1jB43gi5agFjIokgJqXbZhrD7g/aM4cpBBVLI8Zax2DnzcCvlGinSJOOQFo9pNHUCCL0/RnHxjKT43/GHFTX9PmU6UtBZSSk9I8wpAUNA4dixHMVvGzx3D3HdKoA3jIdiQ+Vzz+GkAJ7FqMxszJ0UzhxoWZuRiy5FWyT43ej3h5xamyBc1IqkqdwXulZLpV0OpjS8Px0wrZYWks4zD8SzGjfiANYOWNIB4ZwfE4ZWZBStJoUktS/la8NuP4Jc+QMjpWDmCQbsah/i8c05JstFNIImBKyASkLIelQWLEHQ3sbPFP8SuX4cpLB1I1H+JB95LC1x0jPy586Wj8SSRl95ic/JQBuxPioR0AhtgONy5gSmafFoX8QPPL1v6jdaoa7LVzHSJktTg+0AaioJBDUg4SUqUFofOlsySbixIOjCmzeZgTE8OIdUvxOB4gzkDQpFFjmK+VvMAtaVZmqxGVJfl7KmLdHg6YGmhlPxZUFDwpuAXsqrEk2N6coW43HANlUBMdgAHB5KrQWII2iGMSiYknxpYOAkOSzU50+T6QrlSMrFEwpJqAaFhuxLemsGKQknfRruEz0ksv5WvtT6WjRScqk0Sz6Wf8AaMNwibMBIZB/MrN/2s8PJfGGLFQdNqgfMvyiU1vQUtbGgwq1F2SGsHt5gPHs2QvKXmv/ACgBqBwNzTzgFXFEkEqmlI2ZydWFfhAGK49LSnL+ITzAA9HBtCUzDCZw9CUB1qURUUBrz5tCjHpSMhfSrXc1IBFBsRTnvA8/tYAXyPpUg/CAE8ekuTMKwCXbKkhJ0ZiPl6xSMXYkh/NExSSUkh0hKQGNyPGRqKHzgmRMSkAAVS7lw1ats2rc2jH43t2hBHdOtgzkkAbUIf4xkeI9o580nNNLVLAsPQUiseGUuxHNI23a7tsJYKJSEFZDFbuU1bTpqY+YYucZiipaiSS5Ual4lMU+o9YHWN464cagtEJTciox48TKYgBDingj0xFo5SYBj0GPQIiEvEjGAemIkx6BWLsFhe8WEuw1JBYdWt1jMKK8NhVTFBIFSejNcmK5qWMfQuEcPRKSciakMSS5Ov15Rle0fDSiaVN4Vlx53pElO3RRwpEOD4YApUoFSSRmAuztTS/6RssQpJAb2Q2UM3MU9IzvBZ6kSwCAB4me/VrjraGhmOMizlBdS1flliihyJZgBvE5bZaFJFGI4jmyrKc5/wCFL/MKhSzyu0dBGDDkz2yqmUlj8kpNEgDQlo6AGmFcM4QJiUZZ8skgEoPiIvTK9d/ONgcCESkoQ6QkgkJoS1x5uR58o+RzJ5Cizi0MeH9p58q0wkflV4h8YafE30xociS6Nini4yklKlUpmaqa1ZrPSK5Pa1AWPAs6UAtu7in6QPw3tJKxS8sxIlrIyhYUQ/In4xTxrALkgJGZSVWUQ4BNg97/ADiWO6ZRv1GhncallIJUUP4g6QaeT7s9IJk8SkzAAJyHelQDqLEvX6R89/2gZWVlHMAQC9PPkxPWFnEhlWcvs0b0BKXe4g/gT0K+Wj69KQlD5lunnp56RTxPhMuaWUlL70B/ePk2Hx8xHiSSPP1+kaXgna4u0wBxYpo5t4hawpSkK+GS2mZcil2ajCdnFYdyiavKxZDhn0qQRCbE9r1JVkmyPZNQakm2obX6w8wXFFLCny28NCWUNGHWIY7hYxMoCakJmbprWlRqxa0JFpP9h5J1+oqk9rsOdJiH1CnA+LCDsLxVK8vdzQ+ygCfLKQdIx/GezM3Dur20M+YCo/mTfzhSJhDEHo0dC44yVxOdzcXs+qJ4gFvTM1CUKzEGrOCARFH8TJBLzEpUCQQfAoF9Rb5Rh8BOlqRkWVBRJZ15U2I1cO5hpI7NLLKBC5ZDgg5SCbPRQVTUbwjgl2PnZqJoCknKsv8AzAjm+Wut4W4yRMzPcCzlgSWqxt0gRXYubdK0Ef4ix9QkwsxmKxGFUApXtBwMwXSlOWlDGjFPpmcq7GOOwk41EuXT/KrfQUjPcVcEZ0Kl03dz1YDyrDGX2wV7yEG1hlgmTx6Up3QHVd7+v7xRZR7RN0zGzEmKSDG1VwyRPDUQdKMWPzdtQYDn9hFvSZTcpfrY7N8Yr+WPpL8cvDJqlnaK1JMaSd2MmghlA+RHq/zj2V2GmqZ1AB6+E2puQDrB/JH6D8cvhlwkvFmCwSpqwhAJUosBzPPSNXI7EpFZs1IGozhNiXoxOhsIacNx2EwyViSQtdwM/hUpLMeTevyhJcqrWx48TvZdwvsZIQgBaEzFe8pTlzZQSAzJBN9YMxPZPCZSkykh6DLccwd4VSO05UrIuYUrcsU0Sdgmp9DD/C95Y5y3tZxlNbFyKDpvHNLJPZ0LHxCSd2Uwctlq8NWZaiEnSugDi7gPFGN4dhB3bISxDhk+0AXZyeRaHnE5yKoml81MtFPR2DPbcbxnuKcARPWAmYaIHhLMAGAACQAEne/WGi/rFaXiAO0M7CGVllBlO6QMvRiRyJ8x6ouH8KWoZyDk3ahqHtf1EbLCcAkychzAKI1U7qYlVhVg1KO0FLmB8qmSnK2xULnmzC3XaHz8Qjhe2IJvFlKSAm7BvJtuYbpC6dMXMXmShRO5rt6axolcOkVBVMS9glTKoNblulYIXNJbu0lvJD11UW82S/ONkvBsX6IpBmIUQoJcDxOwSBuomD5eECvEtzLoS9FTVaUuJY2/V4Il8LchS2W1k2QDoWNVHmYtxZaqsyjyGn0gXYUqKFLLuoGumwFgLMI6IKxYAdkpAo6z8soPx3jowTMYkeL0iBTSJ4g+ImKbiOogSlzPVj9I+hdlOKpxMnuJrFgw0JGz7j9No+e5QDX+n28TlTSkuCzfCEnDJDRnibPj3ZooBIdSQ5TSr30NqbDzjJ4vEAoQGqCrMXdzRuYYCNjwTtchcvu8QWNnNQRbxNrz1eB+K9kUTR3mHUkgucoN/wCVX0MSg3F1ItJKW0Y0zXpHBXiDX1aGS+BLScqgQdjR72o3xgaVgjnAD3ZmO/IGLKSI4s+gdlpzygW1L+WsafDyQW+sZPBYpEtIRVxTwgqci5AFW6w2w/EXT4dfL+hjzeRNs741Qn7bcYyFMuWsMXKsprsEvZruIxeE4eucWQHMbP8Aseha8yiq7sWA6PD7AcIlyh4UgUAcbDc6xePLGEaRzy4nKVsyXD+xq05VTGLXT56mwIOjxoMfjEYSWM1W8KUA131qz6WjzjHGAhXcoSCopKqsA25e9jatI+eYnFFZc+mg5DlGjGXJuQkmuPSH2O7bTlgpQ0tJDeH2m3CneM9MWVKckl7kl46U1YkR9P1+kXjFR6OaUmwmXxKWmhkoUBfMVO+7ghukMcJhcJPZIK5Kzo4UHrQE/CsIe4c+cWy0gaW9YzMmaYdk1g/hzw+gmIalOvwEMsDgcTLPibLoUqzCm6TURlJfEV+yVLKQXAPKo/aNzgON96h6BQZ2YAlvE+0SnkjohRNc9wywU8xY9RHqCpg6QoboJto4JgD+0UuY4JYIoXYg63FXby5wcnD6yztb7+MRaoqnfRnu0vATPIVKSQsUNQElOjg1ChuIx/GOETZBZYuPaFUvs7M7R9R738wbmPqIrm4fMCCygR1+EVhyOKoSfGpbPk0mc+UK0Ib1tG/4FxJc8hFVTDRJ/M2h2NLtWsL+L9jgrKZQAvma5/KwJygjUOIH7H8VXg8YgzJanSSyTQkKBS43Z3izlGcSKTgz6FK7FzpntISkaZjUDk1RTlrGaEopnEfhgoUpLgkkgZkn3RRwKE+UfU+6xKmdUuWOSSo/G0fH+03DhhOIGVJmLGdOZaiWzKVmVRy1HYk87mObjbkUs9GKQJykzkAgpcKPhS4qAnQgPRyfjF3+zwZZWoqJLnJmbKknwhQSxsPerAyJ6pgWmagLyH2BSYBRlJHvanVxakEyVjIChWZDADcMQQ9Pt4d2gxaZVOaTKK2AAqwAD/uwuYXTOO5SASrOpmCRRyzBz8+kaOfh0qSkKSCl7HQ3B8mMA8Q4PLmJYJDOTzD3L3v84ya9DJPwoxnETh27xJIYDMGIOoY77jSLMBxtExjmSA9iqvkP1aFMvDzpRCQsLlk1SutH09YDx82XJmFSUpCiXyjQcgLQ+Nk1Jrs1+IlS16J8wD0v5x5GQk8czqsWAsL+pjoGI6mmAzxVXr9/GKc9oJme0vp+kBx1nOSKosEV5omlPOAMSlq3fygvh+PXLVmSopIq/kzEGBEy45aaMBAasZWja4DtjLmjJiEgC2ZnT5i48oZHsrJWnPh1tmqCDmB6R83QSPhUw14NxKfKJ7sqDXAqC26dYjLjr/krGf01mH4HMlzcxIygE5nytzdqjyhjNw845FlYUKEkO7U0Dg9TAHDu2yVMJqSk2zCo8xcQ8lzkzQ8uYDS4qBZqfSOaWS7RZV4DSuJKScq2seR5tyZvN4ORjkFg7E2fXk/s+Twpm8LmmpJJehTQC9WJJ21hjKwpCR4QksSSAC+miqk784m0gpsT9rpJSUTEBsoUCQHYFr0OsYPESyL2AFRt5dBH19eBCknY0oXT5ftGN4v2bQgkj8Ml2CvZPOnsiL8XIlpkOWF7Rj0qOnKLHtEsRIINrGrVr1sRzikoOlY6ls5HouQqPSnWBwveI5+cChbClTyQ12av3pFinI8JD0LD6lrtAWTaPZai/IQGgphUjFePxEoOtKUpGqwoT4GnDKkFRZvC12ItU60jGGeSL/d4rWs2aEkrKRnR9ClcelqopQLMH3tUEUuTaLJeMQDRRIuTtah0eo9Y+ay1ZbG93/W8G4PHpUplKYFhWttoX8aKrls+k94DU02OhiudhUqYqSCUkEFquKhvOMvwvEzUpCwrNLJIUD7pFHbY/QxoMPjPJ+bg9DpE3GiydjDBcUmJCkKJCXUoKSosSSKGXob1BblpGf7ScPE8gmik+yoXJ2VsBcEcxq4bqlhVqH7sYWcQ4QZrDvFp5AsD8oSOnZpLQv4UgrOSesS+6BWmcaOgNmDXUTTw3diNYIQlBmomSVHKoqTNCk5QwZl6ELKizAM4frpFYpCE5ZeGkywQyiAZhBIYspZ31aEaJWV6hiX5vp98oq5WTUAkpK5bPVqdRb5QnlcbSEOohKknKoGni/QtT0hpJUQ3Mwr4jwgidmTZbBaRrzblf1jRq6Y0n6ghE9E0GyhT2SxY66H5xn8fwNEwEyV+IVIU9Ov0hpw9HckligKzAKuORbRtaQo4xLmiYlaQy70LhtwbEODTR4dfwk9raEk/h0xF0kcxUH0vHQ+kY+e2chJBNQqibBiG5uPKPIa2JghZPV4lfe0UL+/SOjo6BSItFss76x0dGHRclNPSCcFICpiQbEgesdHQo6L8fhwlTDb6mKAsi1Ol/WOjoVdDHiVVgvDYxaC6FFJ3FLfMR5HQWtAvZsuz/aFc2YJawDQlxT4Q/mYcLDEbco6Ojh5ElLR0LoDn+E+EkU05QPNwwmqUV1yBRbQkVtHR0KKwTjXD0TZSTlysAQ2j5iYxOOk5CKu6QbNckfSOjovxdHNyoFmTL/d4oULeUdHR0I5iKVFx1j2ZPKajnHkdBZj1KnA6kfKOCXD846OiYTxQoOgiicGL+UdHQEEK4bxZcshq2jY8An5yoEAUSqm5f0jo6FmdHGxpMUUAkGwBbT7rE5imAO+kdHRBHQRCnFoAxK8hoBHR0MhWWgMQXd/2hgtNQOcdHQGFdg+KwCFp8QBr8n/UwrnyEoBQkAAWjo6DEDF6MMFqykkAPbrHsdHRYmz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8" descr="data:image/jpeg;base64,/9j/4AAQSkZJRgABAQAAAQABAAD/2wCEAAkGBhQSERUUExQWFRUWGBcYFxcXGSAXGhsYHBwVGBYYGhgaHCYeGhojGhcaIC8gIycpLCwsGB8xNTAqNSYrLCkBCQoKDgwOGg8PGiwcHBwsKSkpKSwpKSkpKSkpKSkpLCwpKSkpKSkpKSkpKSksKSksKSksKSwpLCwsKSkpLCwsLP/AABEIALUBFwMBIgACEQEDEQH/xAAbAAACAwEBAQAAAAAAAAAAAAAEBQIDBgABB//EAEUQAAECBAQDBQYEAwUGBwAAAAECEQADITEEEkFRBWFxBhMigZEyQqGxwfAjUtHhFHLxFjNigpIVJENTc8IHFzREY4OT/8QAGQEAAwEBAQAAAAAAAAAAAAAAAQIDAAQF/8QAIhEAAgICAwEAAwEBAAAAAAAAAAECERIhAzFBURMiYXEy/9oADAMBAAIRAxEAPwDGdolvNIauWTbbupcKTK5GNXxTNnuQyJVB/wBKXzgBefRS/vziikUUdCMyC+semUW/WG0+XOvmUfMwtx2cEOpQ5ElvnDpmaorTgZjUST5ftFkvDTBdBA1J8I9SwiS56i1T5kn6wPKTUux8oOxQwSh7ykD/ADP8Egx5ll+9M8koJ+KiIpy0tEe6O0CmGwxM2QG8C1/zKy/BLwWnjmX+6lSkc8uY33Vr6Qoy5RpFklYL0d2gY/QWxlO4tNmAhcxRB0BYeggEgua/vEshDHrBGGwqplEpJ+nMk0AjaQNsCMghTsQ+8WDCva4538tYc4bhM1YyJSZg0KPZH+ZmV5Q6w3Y1Mrxz1oQBXK9TyJo3kDCPkSCotlHZbNNmBKvEsCimqEj8ynqHFHi//wASeIZUy5I1cqHLSIK7U9ylSMPLSitFE5iaAOXvX+gjMY6aqYoqUcylGvnE4wcnkx3Ko0gGSHBaB8SjxDzi1SMpr5D94rmrcvtHQcxWURB6xau8Vq0jGKSbRE2i3JFahGMRjxRfWv3pHR4U/WMYiTE5ZZiCx8/pFWWPSYATTcP7Z4iVQnOALrc7ahtIf8D7TzcStSGQgkBikEkMa+0ogHYs7tHztKi8GS1EVcit9eVWvCPjTHjNo+oDhKpMslC1FIJdCUyydTcjxeVaxmh2nmBTJSkHYu9NCEskekLP7ZT0oCEq62q25Ad+YMLU8XIWZjDOX9InHjfo75DWYnjK1DNMlpCDUqQ6iDuQXDeQ6wRgVImlpc9IzAAhOaWpQ9qgJZ6CoD3jEq44p6pSeoeDuzvFymYEGiSaUdj1uH5bxnx0tGXJs3ON4oiWe7XMSFNQKBJdwALVNdKwk4lPmC5VLy0CZagB18YD9It/iVhZCglaCR4VDO4GyjUGl6xLHLQuWe6/CURQOWJFfdPzTCx0Vsz0rirVxClTaHKlZAy1vepMdE+HdmFzZ346mRlfM4NdByvYx0VtEKNDxSVnmJSKfhyfERvKl0B1MTlcJrlJZXM/I6w2VOBKARaXKr/9UuIpckkkNSm3XcxJzo6YrQpTw9WcjMMoapv9YlMkIqHzEflS4/aHHdAk+1zGnoYXCSQcqUMCXLXPMxlKxmhBxPgxy5kgpBe4pq+kL5XCpiAHSSS9QMwYbFtzH0EoUEJCkkpagV56G0B4lSVORM7tRcgZaG1TlNPTS8MuVom4GKmSCkspJGz0+ERIjT43gCpiSUus6MXGlCD86dIHmdjsRlByprVswf00vFFyx9Fwfhnih49weFIJ1ezXrWNFg+xa/wDiqCB6mH+AwUmRWWkrVoT+psOkCXMktBXG32JeD9k1TBmX4RZvnWNMqVh8MhlVYeyP2gSfxGcpbMAhxZyW62eEWK4PMUtZFQVlQBOh5WuYjuT/AGY1Y9IM4p2qUpJRKGRNnBIPJiIxs+YoKIUVF3Icv1h8vg00E0eu7/vA07s/MVTKeR0t1i0cI9EpZMCkYh6VoPlFqg8ESez00GgG1SP1iydwOcPd9D+hg5oTGXwSTcKQaVB0iEhANDfbnDuX2dmmuU+ov6xHE9lZwLpAfdxBzj9Bg/ggnyWNLVptEG2u0Np/Z+ffulPuPF8oDm8MmJclBSRUghrkOQ/UQckLiwCtiN2MVrP2YvSlTkEFoL/hA1QX+sa0ahWYj8fsQRNwiszBJbQMY44BbewacjBtApgse5IvTw5ZPs/f2IsHDF08Kh5eUa0HFlCECIrm6QWOEq1B+2jxfClRsl9NT+AWYxE1g4cNV9gxMcNIuD97QMl9NixelJ0g3BJyqChvYbsbOwvEl4ZQFE3ig4VfPaNaDTRqcXNWAFS2AI8Tau1eVfDTbnFvCcBMPskpBFzX0DbawJ2ZwU33hQ+yTuHo2xF/2jTypbAEFjdiKg1BqGdqjWISklpFoq9gWI4R4VJdytmURqCHfyjyGM6VmSxfyLtXQecdCqY9BxxktRQjKoqRLku1ie7RatYOlISpJcFIvU3jK8T4goKAQ4yolBxv3ctov4dxMz0LE0MpPhCk3PV6GBKD7Hg9GjVLSHqWF7fExUMdLT4gVFntW/SMynhy2LTlD/qJp6pJigdmJhqmcgvZlUjKC9YXI1E/jso0KSX0+zA03jMkGqB1JDi3J4UYPhCpb95R6BQcpJ/mhPx/hkzMSASna9f1/SDGEbozkzVTO1WHle6QQdj6wQjtfJKQoN5liB84+cJnlJZblty3Tp970YYSWicohAKVZSQCQQTsDe0O+KIn5GbOb2vkH3Qo9CY5PaqS9EJ9CflGKnyShWVQY848E0jp6CMuJAfIzdzO1kgBwhP+kx5K7VylEju0i903Fdn+zGJ74l3vFsoKWoZQVEdX9RXaM+JC5tm7mcTSwIlS1u3sgE1tQkN5wNiO0kuWWXICVMDlKWPJtxzEKOF4SaVkFNWCXLtrWl6RdxXCqUoJCFKDhlKL03q7Dk0SxSY+Toh/bpOZv4ZLWeDldsJQFJQPIAQrmdn0u6vaFgA/O7AGA5mANwFG3u/JqCGxgxMpj0dtJYNZLcw3yLRMdsZZBPdgDmB8gqMpieHTLJQo7gioipPZ7EK9xTfynlyjfjgDOZqcR2ukiyEktqg/rA8jtbKJZUpF29gnpXe4hBM7KYke4S4/TU+tIjK7MT6vRtz62pBwh9BlP4PpvaqQ7dzLP+QfKKsT2pkJ/wDboUo0pLF7X6/KFauz84MzO+7Uq12iqZwPEaNu5jKMTXIMPbQe7hpSeZAHwYQJO7ZTD7MiUmmz6/pA44TihZgOYHTYxBXDcSi/iA0BzDrSHxj4C5Eldq5yvclWr+GOj18/WJK7YzgT+HKGgIlg9LxRNwWJukgegp135QHiFz0jxJZtSkEa6t1EGkK7Q1l9u54Hsyv/AMwIl/5gzvyS/wDT9IzpxZJchPp9/Zj3vEaoHlT9YbBfDZP6aaV21xCjSXLPRA++cQn9uZwoqWkFvygQBhMSnIwIynQiujW5x0/GJbQ7/u8Jir6Db+hB7bzGolIPQNET27xGoR/phLikJd0gjlp5DSByCYfFCuTNAe3WIP5fSNBwrtL3klyAVOczP4XYJYPUXFdxHz4yoK4bj1SV5gxGoNiNQeu8LKCrRozdm6wnFVp8MxyoO5FAdvNmcFo6AkYYzGXJAmBqhRALaM7VBId666x0TxRa2OJvCVE5gSE93KzOKOZcsevKKcNweZKXmBC0G7Bm2cbcxDHFcUkmXLSJhQtMuWFUpmCEUNL2rAi+Ls/dS9GK2L83YVHSEyfRRJUXKlLQogOBtfmCPT4wlx3FkyyQZZu9Wc620oI0GGxAmpSAWUk3IIN7tEcd2MRNzKzEqVUKJcVchgDBUlf7DNOtGYR2qI9kFJtQvDbhfa0KpMyq8q/vGaxPAJspTGWTUgEeKuoo8SRwKcmqkLFSCwqBz5RZxgySlI2UyZhpnhKQ52pXneBz2Rlu6Myf5WP1PyEZ/AcOWCcpro1T5gW6xouHyZiADMmMBWlKbPp5RJ/r0yi32iydwyYU5F5ZwDEZnCwOStehEDy+x7ke0xvuA1hoa/KDZnFEq9kFQZnNKeke55iSlTZaOHp5kH1A6wMpINIgrsnJSokqo1iWbd93hjw6RLR4ZYAe7Cp5kmsXysWSKFJPJIrQUr1jxWLXLYlanJFHFLnbl8Ym5N9mpLoskrzqySw62fKDUh2fkH1hfxFKUK/FllMx2Idg+92bWoqCIKxXFRnzeKiaFPh08Vq2+UK8OBMKswck+J/HeutfsRkgNlGO7TBAyyxmvSrDz1gWX2gmEP3SSBclJI2A5VEMV4LIBlQmpGgfyeCVTCEuR4dgNN9jtD6+CU/oiRx6bTKgBzoCHNLAaxeeKYsD2VpH8v0IPyguRjasKM7B/u7RNc9wxJBNn56v122ga+Br+gmG4nOzAzUzFB3YAPu1AGcaxcjjM4Bu7LB7kf8Ac/o+piUjCL7whJJKa1N+lbxLEYdST4iBd6eQgXG6CkwM8WnayzufELblqANE/wCOUQ/dr9b35/bwLooP7QSCL2YmlzSnnETj8wKSWILg67M2upf/ABcobEFhcvizH+6NnIcHfn9tEFcdDf3KwpywZKv0hUZxTmGYVDBxUPrzrHi5yhU5WZvMCpOloOCNbGiu0Eogd4hSTupPqRWnx6QRKXImXSCW90uQC4FFcwzkD4wgm41RAJSl8zq2ADuR8D5xTI4kmwQASSSLOA9Tr/WkbD4DL6EcU7KIWSqWoA1JBs2/Idbxm8VwGbLDlLp/MnxD1EaVHEVITmCg29wk+0HGlXbSoilHaBVylBpRQdK61d3ZRpcu0PFyROUYsyCixizviwcuzemg6co05nycQQFhlVBU1W0DoYqPMiOndiXqhYIZ2BCvIMxUeQTD5r0TB+GbQhJuojyf1/pEZjDVJHJ3+kOZnZZYcEijOLEWNXZjFI7PEb+jwckzYsTFXMRwMMp/CWNAprbfSBhgXOoHOv0g2LiE8L4yqXS6fyktXcMQX+kdFn+waAuK/KOgaGSkfaOHYYnDymH/AApZdx+RP+ExBGDWkl5iyCGqrMz6gBIHq8EcNX/u8ln/ALqVz9xIiUyacrv5848+Tds9CKVIS4rgiwTNMyYvKCcuYANqQnKzwhRxyRmJ/i5yUn3WFN8rppGn49x1OGlFSjVmSKBy2la3j5RguHzcRMyS0lSlGw+L8ovxLJWyU5VpGrw3GcLKWpaVKKi4VlSyi+rhvrFa+2cpdFy5hAsM7vuTQA+cMOH/APh1KQnNiZpzGmVJsaAV1qREk8KwsvKDJKism4JoDUECtm/URrh/pql/hPh+OlzUgIQUg+6Q7VIFnADNBWL4YnKUq9oOADVubQXhU5QCJZQAKXZhUdbjTSLcUymUQxUN611ppE73oatCPDYNbsCaEaU9NYKxmGPdlQUVEkjazU5RJcgpqFFjuojcjWKyKBJqQ5bTkac4fsUokTVCZl90EOeXXrDCdh00dRLOx63oeUBzcNQMlf8ApP6RZIl6ELZ3sRSrCsF/RGSmS2AypDAa/fz5RQJaRr1Ys/SC54S58BNgPCab6XagipbA5QlzRqNzodBrGsxGXJSS5c6sASQNIlj5QCKDUgBj93grCTSl+YbVnranJ4GxnFR3mUBSVBm1G1a7H0gAYhSvKos5cs7H2rctfiIumzTbMzAXDDppWnx84KmSiiYVKSCMwJCXYlyKD81bi0V4qZ4vEC5pQ9cotsVelqRQW6J4AzAgLDB2oWuznyHPaJ4tRUDmOmharwJhpJJykl0k94QHuxZuQaCZuESSjKkhISAs3rXpQgj0EI4qxk3QHKWFXDAhxXWrv0Be30bpuCJLoLgDWhJoABRzV9IIVhEuLskEG16VpQmIYlTEFIYANfVqagvXaCaxXi8ApEwKXUsGsSpnoA/25868ThkzEs+V2PQmooNS/qYKTh3UjvFqGqlEEkVqEtcuAPP0FmJypWQPEACKuWelNVatXWKIFnpypCpdyW/mSQSUtX2WLHkOkBzpYSFuCoMMuUux57ggftA4xjkLXTL4b8iGN70iiUshagg5fCAU2ANg70JDjTZ4ehWzpeIBCgXANC9jrXc1+HSKpcg5TkLs5pqDmqfh6ROZjykqlzJbJJIcHLZyNGJ+pFoHmyQtjIWSSPYJZZ6UqaWhqEbIy+IrlrGYMAAGZ3YWbnvDOVxRCyGIQQ1LB3sD8bW1hXP4gF5UzQc1lHLlIY060gc8PIqkuFWIq41jUmC2jXSisUfT+b7eCVrDVYdKU15PzIjHyeILQWBZO3wv6wXi1LmJzBRUwql9NFAQjiNkaJWNQz5gOWa3lrFAx4s6CeotGOVP0JPnFTsYOIuZvUzHHshrOLR0YyXxiYBlCqD7vHQMRskfduEzP92kA/8AKRT/ACwNxrH93LWQxUlBW25TbyDuYs4F/wCmkq/+NFG0aM7224ymUEoDKWuq6lkilCkG9BfQRxqNyO26iAcJ7NKxMwTsUcqFq8KHv0c0SOV42ODQmSAiRLCB4hV8zpIAqHdJrflzhDxLDGZMlzJRsmWXSaId3NbINBnDh01F4twefPMUpWeyU6EgbEMC5o7Q0m5egjQYJKps0pSwcsSLsnMHfUlzX5w2OGTLUlMoOpKS12qxP9ecD8MOVCg34hZwLAcieb+YMNEKTKHiIKlNXXyGsSk/BqIzZalJ8eVHSvxP0EKMVhMg8RcPe+wFBaD5+LcAAVB96pegFBzO8V4ozUpDjWnsptu7wIsDQEhbaWTokXYWePRi3Q4J1Z4t4ZPTMWoEMsbFwpOpdgxBuG1hkZCDp6VflDuVC4szyJytiwpd9b15Rwx5DFna5e2luQeNIMIgWQOVG+MCrwyKq7sBiQ5cWpSt4OafgMa9EEzHFRR4al2ctfyc3PpEZkxZOUM9iR4zXnbaHmSSSGSaCjOGc6E2/rFicPLSDlexDOa6nz6wc0DEQCQpDOolhRwCbVZ6PeJnDhLLzNoN70Y/rDGdhpVyCA+tgaNpAyJUoqYgj0Yc7VjZAcRDMLDMS6yLP7Ki5NrkEuYjKlFSiFKqQ+YsRUJzm9gVa8/N9MwEpzRYLbPbyiE/haFJdK8m7hraG9/topmhcWKuEpMsL7uyiEqVUksA2XyI9Dq0MDgVhKgQBWiSaE0HNwAbco8k8MUhs9S/ulnG4cUPlFuMlLBS+chr7EkOx+PkIVyvo2NIpm4JQHtbEJA1Jq42pc7CEuIKkOqlLkB9WTYUBDfYhqMOwLqq6gWJAb3evOAsfw9CX8RL2Z8vKu3ODFoDQtkSJinWlIL6G2tRoB8dudIwipZdaT4lhIyqdy1cupV8AzGGeDmhSLrTMqQX2ALAbvAPFFB5fiLoBICixB8QUQGptq+lADFVdi6Qoxc8gq8IbxBKSx1olR5NcUfaFuGmpCSVhnABfoKte45ltKwVj1e0oLHiUVF/zMSbfdA3NXi55WSAHSkPUgHQAnQ+0Awqzc4siTYLiZ6lHxFx8K1PnFaZjMRfQ2bUVjxUss+8SRLo5fVudv1hhB2OKont/EB1hh3guU6lX5j6G8D46RMkkD3FMUqFUlN6Havs9KQLh0IqFnKbpIqH2NbcxaDJPGe7lKlkZyVP4vZADGg1JOp0DQtV0NZDGykslYNFB22uGfqG8j5q0zyKgtBGKxDgB82ppbrzpARMEDYQsv1NYibc3MSw5uD1i9OHegBJravwvAs1WCgR0FnBkXBHUR0a0bE+1cLnf7lKJ/5aR9PVo+adqceZ2JmKNkqypGwS4Hy+MbORj8mClqNkIBNdlCj7tSMiUYKYXzzpRLliBMA1oQx9REeJU2zsm7SRZ2Z493ZUheYy1JUklLuhJuQ2jm0arh+M7vKhZdJAKZhGXMg0SoghwoNW+uxjEGaiUWlzisO7GWUpVyYlTW2jS4bjUudJKAUS1IdUvMbu6ikH3dvSNyR9QISNzLmIkodR5EipNTlA8iIGVL9kEsVO7bAOUg6C32YS8IxZnyjLmECchlIzCqkXBBOhtSGq1d6lKk+0kuBo+qDsDZ+m0cuNM6E7PcJiTNmpAdCZZJAT5pDhQrR62vDjEpUteU6u71DVpGbxK2aYh8rsdCku5Chox9XhxJ4h4TmFdxvu0CURUwGfiU4eapkk1IKiWpTTUc40feulJSzEAh9KO/3vCnG4eXOQEpIKmcPcnV4hwbw/hTFsrRJNW6HSD2jDsrVW2j+loXYpFgpeZy4BYB3JehqRFnehjmoXZqlw5Y+nzMDKUl6Co1BZ9d/ukKhGEd4pAAUoFIFC1yKO73pFMrBKUS6mALjKLnRy9g51i2XgkFZJNjQgtTSusU4jDy0JoovW5fdwKXeCKCYhCiognw1fm1/Ot3ivFYVJNHLtqBodPu0E4QAqSAklwBXQvcPSnlBSuHrzHKhL7uwtpt6QbowmxUpYCct6gsWFcpv5NyzRGVmUiYHZbpyFVQfEylEakpLsbN6sis2LMTfS9q602sRC/FuqehI8OdBYVOZJzEjkfA5OjiGWxW6GUxBKAoKIDGtBQbUD2p5RGVJKUvnc7BhToLmgpEsEJbeI5jf2QS1a1HUPsLwWgSioMkWqWbozecIxrIS8Cot46cxVuT0hRjJmVWVSEk3Ay7Pt0HpD2diJCWY22Hm1eUZbtN2ukSPFkBmEOlJuXsbUEaCcnRm6RAypSw/dAHcFuf36Rnu02Fky5ZKZrG4QoPmcD4WvtGcxfbGcRlSyA5NB4qkn2jXXlCafjFKLqUSTd/PUx2x4mnZB8qZHFTyTSidEu45l4qzHcnnFj0iIWQaaF31i9ELPcxNzTT6xP+IUebV/b9oqzR4oV+7RjHXjxXKOSmOUIxiMegeukcRHhEKzF2HVX5s0bXgWBCJffEO1RViaa+Xk+kYzAtmGa2sfQMRPSmQMtJYAAG5YH1c/bxHkfhfiXpFCswSSlTHR7Xu+r6fY6IkqCApbJBqSSxBdgGfT6x0IXsff7LOIwMpKFBJyChDg3odq1jB43gi5agFjIokgJqXbZhrD7g/aM4cpBBVLI8Zax2DnzcCvlGinSJOOQFo9pNHUCCL0/RnHxjKT43/GHFTX9PmU6UtBZSSk9I8wpAUNA4dixHMVvGzx3D3HdKoA3jIdiQ+Vzz+GkAJ7FqMxszJ0UzhxoWZuRiy5FWyT43ej3h5xamyBc1IqkqdwXulZLpV0OpjS8Px0wrZYWks4zD8SzGjfiANYOWNIB4ZwfE4ZWZBStJoUktS/la8NuP4Jc+QMjpWDmCQbsah/i8c05JstFNIImBKyASkLIelQWLEHQ3sbPFP8SuX4cpLB1I1H+JB95LC1x0jPy586Wj8SSRl95ic/JQBuxPioR0AhtgONy5gSmafFoX8QPPL1v6jdaoa7LVzHSJktTg+0AaioJBDUg4SUqUFofOlsySbixIOjCmzeZgTE8OIdUvxOB4gzkDQpFFjmK+VvMAtaVZmqxGVJfl7KmLdHg6YGmhlPxZUFDwpuAXsqrEk2N6coW43HANlUBMdgAHB5KrQWII2iGMSiYknxpYOAkOSzU50+T6QrlSMrFEwpJqAaFhuxLemsGKQknfRruEz0ksv5WvtT6WjRScqk0Sz6Wf8AaMNwibMBIZB/MrN/2s8PJfGGLFQdNqgfMvyiU1vQUtbGgwq1F2SGsHt5gPHs2QvKXmv/ACgBqBwNzTzgFXFEkEqmlI2ZydWFfhAGK49LSnL+ITzAA9HBtCUzDCZw9CUB1qURUUBrz5tCjHpSMhfSrXc1IBFBsRTnvA8/tYAXyPpUg/CAE8ekuTMKwCXbKkhJ0ZiPl6xSMXYkh/NExSSUkh0hKQGNyPGRqKHzgmRMSkAAVS7lw1ats2rc2jH43t2hBHdOtgzkkAbUIf4xkeI9o580nNNLVLAsPQUiseGUuxHNI23a7tsJYKJSEFZDFbuU1bTpqY+YYucZiipaiSS5Ual4lMU+o9YHWN464cagtEJTciox48TKYgBDingj0xFo5SYBj0GPQIiEvEjGAemIkx6BWLsFhe8WEuw1JBYdWt1jMKK8NhVTFBIFSejNcmK5qWMfQuEcPRKSciakMSS5Ov15Rle0fDSiaVN4Vlx53pElO3RRwpEOD4YApUoFSSRmAuztTS/6RssQpJAb2Q2UM3MU9IzvBZ6kSwCAB4me/VrjraGhmOMizlBdS1flliihyJZgBvE5bZaFJFGI4jmyrKc5/wCFL/MKhSzyu0dBGDDkz2yqmUlj8kpNEgDQlo6AGmFcM4QJiUZZ8skgEoPiIvTK9d/ONgcCESkoQ6QkgkJoS1x5uR58o+RzJ5Cizi0MeH9p58q0wkflV4h8YafE30xociS6Nini4yklKlUpmaqa1ZrPSK5Pa1AWPAs6UAtu7in6QPw3tJKxS8sxIlrIyhYUQ/In4xTxrALkgJGZSVWUQ4BNg97/ADiWO6ZRv1GhncallIJUUP4g6QaeT7s9IJk8SkzAAJyHelQDqLEvX6R89/2gZWVlHMAQC9PPkxPWFnEhlWcvs0b0BKXe4g/gT0K+Wj69KQlD5lunnp56RTxPhMuaWUlL70B/ePk2Hx8xHiSSPP1+kaXgna4u0wBxYpo5t4hawpSkK+GS2mZcil2ajCdnFYdyiavKxZDhn0qQRCbE9r1JVkmyPZNQakm2obX6w8wXFFLCny28NCWUNGHWIY7hYxMoCakJmbprWlRqxa0JFpP9h5J1+oqk9rsOdJiH1CnA+LCDsLxVK8vdzQ+ygCfLKQdIx/GezM3Dur20M+YCo/mTfzhSJhDEHo0dC44yVxOdzcXs+qJ4gFvTM1CUKzEGrOCARFH8TJBLzEpUCQQfAoF9Rb5Rh8BOlqRkWVBRJZ15U2I1cO5hpI7NLLKBC5ZDgg5SCbPRQVTUbwjgl2PnZqJoCknKsv8AzAjm+Wut4W4yRMzPcCzlgSWqxt0gRXYubdK0Ef4ix9QkwsxmKxGFUApXtBwMwXSlOWlDGjFPpmcq7GOOwk41EuXT/KrfQUjPcVcEZ0Kl03dz1YDyrDGX2wV7yEG1hlgmTx6Up3QHVd7+v7xRZR7RN0zGzEmKSDG1VwyRPDUQdKMWPzdtQYDn9hFvSZTcpfrY7N8Yr+WPpL8cvDJqlnaK1JMaSd2MmghlA+RHq/zj2V2GmqZ1AB6+E2puQDrB/JH6D8cvhlwkvFmCwSpqwhAJUosBzPPSNXI7EpFZs1IGozhNiXoxOhsIacNx2EwyViSQtdwM/hUpLMeTevyhJcqrWx48TvZdwvsZIQgBaEzFe8pTlzZQSAzJBN9YMxPZPCZSkykh6DLccwd4VSO05UrIuYUrcsU0Sdgmp9DD/C95Y5y3tZxlNbFyKDpvHNLJPZ0LHxCSd2Uwctlq8NWZaiEnSugDi7gPFGN4dhB3bISxDhk+0AXZyeRaHnE5yKoml81MtFPR2DPbcbxnuKcARPWAmYaIHhLMAGAACQAEne/WGi/rFaXiAO0M7CGVllBlO6QMvRiRyJ8x6ouH8KWoZyDk3ahqHtf1EbLCcAkychzAKI1U7qYlVhVg1KO0FLmB8qmSnK2xULnmzC3XaHz8Qjhe2IJvFlKSAm7BvJtuYbpC6dMXMXmShRO5rt6axolcOkVBVMS9glTKoNblulYIXNJbu0lvJD11UW82S/ONkvBsX6IpBmIUQoJcDxOwSBuomD5eECvEtzLoS9FTVaUuJY2/V4Il8LchS2W1k2QDoWNVHmYtxZaqsyjyGn0gXYUqKFLLuoGumwFgLMI6IKxYAdkpAo6z8soPx3jowTMYkeL0iBTSJ4g+ImKbiOogSlzPVj9I+hdlOKpxMnuJrFgw0JGz7j9No+e5QDX+n28TlTSkuCzfCEnDJDRnibPj3ZooBIdSQ5TSr30NqbDzjJ4vEAoQGqCrMXdzRuYYCNjwTtchcvu8QWNnNQRbxNrz1eB+K9kUTR3mHUkgucoN/wCVX0MSg3F1ItJKW0Y0zXpHBXiDX1aGS+BLScqgQdjR72o3xgaVgjnAD3ZmO/IGLKSI4s+gdlpzygW1L+WsafDyQW+sZPBYpEtIRVxTwgqci5AFW6w2w/EXT4dfL+hjzeRNs741Qn7bcYyFMuWsMXKsprsEvZruIxeE4eucWQHMbP8Aseha8yiq7sWA6PD7AcIlyh4UgUAcbDc6xePLGEaRzy4nKVsyXD+xq05VTGLXT56mwIOjxoMfjEYSWM1W8KUA131qz6WjzjHGAhXcoSCopKqsA25e9jatI+eYnFFZc+mg5DlGjGXJuQkmuPSH2O7bTlgpQ0tJDeH2m3CneM9MWVKckl7kl46U1YkR9P1+kXjFR6OaUmwmXxKWmhkoUBfMVO+7ghukMcJhcJPZIK5Kzo4UHrQE/CsIe4c+cWy0gaW9YzMmaYdk1g/hzw+gmIalOvwEMsDgcTLPibLoUqzCm6TURlJfEV+yVLKQXAPKo/aNzgON96h6BQZ2YAlvE+0SnkjohRNc9wywU8xY9RHqCpg6QoboJto4JgD+0UuY4JYIoXYg63FXby5wcnD6yztb7+MRaoqnfRnu0vATPIVKSQsUNQElOjg1ChuIx/GOETZBZYuPaFUvs7M7R9R738wbmPqIrm4fMCCygR1+EVhyOKoSfGpbPk0mc+UK0Ib1tG/4FxJc8hFVTDRJ/M2h2NLtWsL+L9jgrKZQAvma5/KwJygjUOIH7H8VXg8YgzJanSSyTQkKBS43Z3izlGcSKTgz6FK7FzpntISkaZjUDk1RTlrGaEopnEfhgoUpLgkkgZkn3RRwKE+UfU+6xKmdUuWOSSo/G0fH+03DhhOIGVJmLGdOZaiWzKVmVRy1HYk87mObjbkUs9GKQJykzkAgpcKPhS4qAnQgPRyfjF3+zwZZWoqJLnJmbKknwhQSxsPerAyJ6pgWmagLyH2BSYBRlJHvanVxakEyVjIChWZDADcMQQ9Pt4d2gxaZVOaTKK2AAqwAD/uwuYXTOO5SASrOpmCRRyzBz8+kaOfh0qSkKSCl7HQ3B8mMA8Q4PLmJYJDOTzD3L3v84ya9DJPwoxnETh27xJIYDMGIOoY77jSLMBxtExjmSA9iqvkP1aFMvDzpRCQsLlk1SutH09YDx82XJmFSUpCiXyjQcgLQ+Nk1Jrs1+IlS16J8wD0v5x5GQk8czqsWAsL+pjoGI6mmAzxVXr9/GKc9oJme0vp+kBx1nOSKosEV5omlPOAMSlq3fygvh+PXLVmSopIq/kzEGBEy45aaMBAasZWja4DtjLmjJiEgC2ZnT5i48oZHsrJWnPh1tmqCDmB6R83QSPhUw14NxKfKJ7sqDXAqC26dYjLjr/krGf01mH4HMlzcxIygE5nytzdqjyhjNw845FlYUKEkO7U0Dg9TAHDu2yVMJqSk2zCo8xcQ8lzkzQ8uYDS4qBZqfSOaWS7RZV4DSuJKScq2seR5tyZvN4ORjkFg7E2fXk/s+Twpm8LmmpJJehTQC9WJJ21hjKwpCR4QksSSAC+miqk784m0gpsT9rpJSUTEBsoUCQHYFr0OsYPESyL2AFRt5dBH19eBCknY0oXT5ftGN4v2bQgkj8Ml2CvZPOnsiL8XIlpkOWF7Rj0qOnKLHtEsRIINrGrVr1sRzikoOlY6ls5HouQqPSnWBwveI5+cChbClTyQ12av3pFinI8JD0LD6lrtAWTaPZai/IQGgphUjFePxEoOtKUpGqwoT4GnDKkFRZvC12ItU60jGGeSL/d4rWs2aEkrKRnR9ClcelqopQLMH3tUEUuTaLJeMQDRRIuTtah0eo9Y+ay1ZbG93/W8G4PHpUplKYFhWttoX8aKrls+k94DU02OhiudhUqYqSCUkEFquKhvOMvwvEzUpCwrNLJIUD7pFHbY/QxoMPjPJ+bg9DpE3GiydjDBcUmJCkKJCXUoKSosSSKGXob1BblpGf7ScPE8gmik+yoXJ2VsBcEcxq4bqlhVqH7sYWcQ4QZrDvFp5AsD8oSOnZpLQv4UgrOSesS+6BWmcaOgNmDXUTTw3diNYIQlBmomSVHKoqTNCk5QwZl6ELKizAM4frpFYpCE5ZeGkywQyiAZhBIYspZ31aEaJWV6hiX5vp98oq5WTUAkpK5bPVqdRb5QnlcbSEOohKknKoGni/QtT0hpJUQ3Mwr4jwgidmTZbBaRrzblf1jRq6Y0n6ghE9E0GyhT2SxY66H5xn8fwNEwEyV+IVIU9Ov0hpw9HckligKzAKuORbRtaQo4xLmiYlaQy70LhtwbEODTR4dfwk9raEk/h0xF0kcxUH0vHQ+kY+e2chJBNQqibBiG5uPKPIa2JghZPV4lfe0UL+/SOjo6BSItFss76x0dGHRclNPSCcFICpiQbEgesdHQo6L8fhwlTDb6mKAsi1Ol/WOjoVdDHiVVgvDYxaC6FFJ3FLfMR5HQWtAvZsuz/aFc2YJawDQlxT4Q/mYcLDEbco6Ojh5ElLR0LoDn+E+EkU05QPNwwmqUV1yBRbQkVtHR0KKwTjXD0TZSTlysAQ2j5iYxOOk5CKu6QbNckfSOjovxdHNyoFmTL/d4oULeUdHR0I5iKVFx1j2ZPKajnHkdBZj1KnA6kfKOCXD846OiYTxQoOgiicGL+UdHQEEK4bxZcshq2jY8An5yoEAUSqm5f0jo6FmdHGxpMUUAkGwBbT7rE5imAO+kdHRBHQRCnFoAxK8hoBHR0MhWWgMQXd/2hgtNQOcdHQGFdg+KwCFp8QBr8n/UwrnyEoBQkAAWjo6DEDF6MMFqykkAPbrHsdHRYmz/2Q=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4376737" cy="271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 descr="Rabbit Lake Mi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801" y="1556792"/>
            <a:ext cx="4541079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5575" y="5445224"/>
            <a:ext cx="8736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Highest grade uranium deposits e.g. Cigar Lake = 16% U</a:t>
            </a:r>
            <a:r>
              <a:rPr lang="en-GB" sz="2400" baseline="-25000" dirty="0"/>
              <a:t>3</a:t>
            </a:r>
            <a:r>
              <a:rPr lang="en-GB" sz="2400" dirty="0"/>
              <a:t>O</a:t>
            </a:r>
            <a:r>
              <a:rPr lang="en-GB" sz="2400" baseline="-25000" dirty="0"/>
              <a:t>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Form in association with the meeting point between metamorphic basement and a sedimentary basin = unconformity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169655" y="2852936"/>
            <a:ext cx="4059867" cy="2592288"/>
            <a:chOff x="5192653" y="1410771"/>
            <a:chExt cx="4716375" cy="3026341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653" y="1410771"/>
              <a:ext cx="4716375" cy="3026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Rectangle 11"/>
            <p:cNvSpPr/>
            <p:nvPr/>
          </p:nvSpPr>
          <p:spPr>
            <a:xfrm>
              <a:off x="5436096" y="4077072"/>
              <a:ext cx="208262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200" dirty="0">
                  <a:solidFill>
                    <a:srgbClr val="FFFFFF"/>
                  </a:solidFill>
                  <a:cs typeface="Arial" pitchFamily="34" charset="0"/>
                </a:rPr>
                <a:t>longharbourexploration.com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467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05"/>
    </mc:Choice>
    <mc:Fallback xmlns="">
      <p:transition spd="slow" advTm="851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/>
              <a:t>Roll front deposits: </a:t>
            </a:r>
            <a:br>
              <a:rPr lang="en-GB" dirty="0"/>
            </a:br>
            <a:r>
              <a:rPr lang="en-GB" dirty="0"/>
              <a:t>e.g. Australia, Kazakhstan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311" y="3933056"/>
            <a:ext cx="38586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Roll-front deposits</a:t>
            </a:r>
            <a:r>
              <a:rPr lang="en-GB" dirty="0"/>
              <a:t>  shape results from movement through a porous rock, e.g. sandstone, with dissolution and deposition along a curved front.</a:t>
            </a:r>
          </a:p>
        </p:txBody>
      </p:sp>
      <p:pic>
        <p:nvPicPr>
          <p:cNvPr id="6148" name="Picture 4" descr="http://upload.wikimedia.org/wikipedia/commons/thumb/2/2f/Dead_tree_creek_rollfront.jpg/220px-Dead_tree_creek_rollfron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843" y="312738"/>
            <a:ext cx="3024334" cy="22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data:image/jpeg;base64,/9j/4AAQSkZJRgABAQAAAQABAAD/2wCEAAkGBhQSEBUUExQUFRUVFRQYGBgWGBUYGhgcGxYYFhgdGBgbGycfGBkkHRgYHy8gJCcpLCwsFx8xNTAqNScrLCoBCQoKDgwOFw8PGi8lHCQpLCwsLCwsKS0sLCwsLCkpKSksLCksLCksKSwpLCwsLSksLC8qLCwpLCwpKSksLCwpLP/AABEIAKgBKwMBIgACEQEDEQH/xAAcAAABBQEBAQAAAAAAAAAAAAAAAQMEBQYCBwj/xABDEAACAQIEAwYCBgkDAwQDAAABAhEAAwQSITEFIkEGEzJRYXGBkSNCUqHR8AcUU2JygpKxwRUzokNzssLS4fEWF2P/xAAZAQEBAQEBAQAAAAAAAAAAAAAAAQIDBAX/xAAtEQACAgEDAgUEAAcAAAAAAAAAAQIRIQMSMRNhBDJBUfBxgaGxIkJSYpHh8f/aAAwDAQACEQMRAD8A9xorF8Q4Hjmvu9u6QhuGF71oKM+HnT6rAI5HxXZzTDdmsatqVus1w9+WHfXBuZtiWcg6TqAoHlQG7orH8R4DiLzXbi95aNxcKApxF0hCMSxv8qXAom0E8JE6gEEk0xY4Fjw9gM+a1a7xLg766DcW7duqTuTyW+5ZczZlggEnUgbeisLZ7OYtEtBjcuKLWH762MTcDXHHf97luFpHM9ltwGCRtpT/AArgWPS/Za5dLIGtd6pus2i4ZllZ8X0jQ0+KFbcagbOiiigCiiigCiiigCiiigCiiigCiiigCiiigCiiigCiiigCiiigCiiigCiiigCiiigCiiigCiiigCiiigIeA4tavD6NwSN11DD+JTqPiKZ49intWxdTVbTB7igA5rcEXI6yoOcRqSkdawraMrxmKGQOsbMFIghiNiCNQtazD4+4FUo3eqyhgr6GCJ0uAeXRgSfOuC116naWk1wXyOCAQQQRII2PtXVZns1xVLbNhH+jNsjuVcgFrTeAKZIbIZt6E6Kp3NaWa7Jp8HEruCY5nV0uR3tm41t4ETs1to6ZrbI3oSR0qyqlx/0OLt3vqXgLFz0aS1hj/MXt+pup5VdVQFFFR8djlspncwoKgmCYzMEEx0lhJ6CTQEiiqG323wrKrB2h3toDkfxXC4UHTT/bYknYQToRXDducONxeH0jW4NpwSygswEjoB94oDQ0VT4btTZuPcRO8LWxcJHdvzd3c7p8mnND6aU3h+2eGcIczjvLT3VDI6koozTBHUBio3YI0bGgLyiqfhPauxiSotMxLZ4BVl8C23bcR4bqH4+hp7gvaC1igxtZiFMSylZ32n2oCyooooAooooAooooAooooAopGMCsrgP0h2r6g2rN52aCEU2CSO770nMLuUECAVJDAsums0Bq6KpcP2stXLfeKHKd9YtAwNTeFlkYCfDF5ZnXQ6UcT7V2rN63a8b3GKwr2hkIyaPncQx7xSF1J8qAuqKy2B/SDavHLatXXcsqqgNmWzLebU97lQhbDkq5B8Omtd4Tt7ZusEt27rO2TIsIpbNhziNCzgaABWk6My9CDQGmoqiTtUGw9i8ti8f1kgW7YNnOQbT3gTNzKAUQmM07CKgj9ItgrcZUuFLaWmLTZWRcWyy6NcBAi+klgAIbXSgNXRWbw3bi2+UravZSbQZ/oyEN261q2DDkuGZdGTMIZTMGaas/pAtNbLizekLdYpNnMBbW27Zh3nIwW4OVoMqwjaQNTRUfAYo3LauUZMwnK2UkTtOUkba6HrUigCiiigCiiigPNasuBYuG7pmgasm0ebpr5asPQt9mq2uXWdjBBBB3gjUGOvt1EjrXzmrVH0GrLrj9soq3yA3c5i4gQbJAF1I+toA4H2rSjrScOv3C6XcJeDYd8wZW57YyyA1kzOWQVKggdekF5HXFWCHQMrcly1AYTHMDPQ6EHeCp06cdnOB/qlruVYm0jO1uYJyuS+VjuSpZhPUAVmGo4XXJwlFS5LDiGNF2y9q+rWwwI7xOdVO6sCOZWVgG5lABXep3Z/in6xh0uHLm1V8pBAdCUcAjdcwMHqINUlnhKI/eoHXPOa3mARmMc5U7NAiRvOs1W4XGW14hcthnS5eBPW2wuWxEgRFxHtgEEgj6I9TFeqOtffByca5wb+o+PwK3rT2rglLiMjCSNGBBgjUGDvVZZ4jeQwyi6B1ACN8pKsf6dqnYfi9tiFnIx2VxlJ9p0b+UmusdSMuGZcWuSqvdgcIylTbMEu0Z3EM6JbLCDowW2AD0lvM1IxXZKxcic4Iu3LsqxBzuuVj7EdKuqp7LG9jXMnJhlyehu3ArvPnlTuwP+63lXQyO4Ds5Zs3TdtrDt3uYz4u8u982b7RzExOwJA0qGOw+F5DkabaJbU53lURHthRrsVuPPnnNX9FAUGF7FWLZUobysjE5hcaTK20IbzXLaQR+76mpvBuA28KCtovlPRmzAbnT5/2qyooAooooAooooAooooAooooBCKxnGruAs3hhnsSVw+cZTELat3QlsQwaTbS8PKFIbcTtKhYjgthyWe1bYsQSSoJMKU1P8JK+xNAYdeM4O4yD9TecQyg5X5TkbDKrWwrAPlzW9VAI7lx9XWbwntbZum33OFY3QFS0M6eG4juQzk6HLhtZk+DeTGl4hfSzcsHuwWuP3CsIBRSjXCP4fohp7eVY/D9pMHdyrcwaLa7m22bfIqYQYwDwBYVbzqMrZpZuUKSaAsOD4jB4u4LKYYrlsWLgbMFK2yC1jKVfMrfS3102h5MOuadixhcNiLCDDjNKlWQKBazC3g0MSDBBS3CjQLJ2FUeG7U4SLLjCIpuDdTbIS4L9qx3ZZRB1tIQRoe5QfZqTiu1li6ou3MKHa3mC5ipInCXcSYMaSLOX3IPSgOuJ8Ywvd9w2GuNaw7ZUgwoW2Ltl2lWlEQI6EtAhh0Jh3iOLwFpiURbuYjvFs3AVQWgnMyB8oKi2gAAnlAG1RMNxXB3bOKunBpFpbDsCEJdijDLqABlbPbJOnjnQmu+MdrUzpbv4RXe3dbMM+cIyHDwbbd3BkYlDz5AIIJ2kCdxzG2FxRL4S5du20RlZQGzRcVUlFYk5WukqWXdbmXbVnhT4IuEFjILiAI7ty3Eu2lEW3ZudYCIFXSIiIMO8Aw+HxRvMcGlsAm3mIeXCXGQam2qmDbUgqzRpqDWgPB7JyfRJ9Hkyco5ck5MvkFkwOlASrdsKAAIAAAHoNBXVFFAFFFFAFFFFAea0UUV88+iO4TGGy+cSREOo1LLqRA+0pJI85I6gjRWmDpIzMrEEGZGo0PTTX+1ZipXCeIdy2VjFpjM/ZY+Z6IT8ifJjlxKNmJI0DE9cpyka7mZE6DbrVP2uwl65hS+GCteRke0GXUFWlgpHVoiDykGOoIutA41ifTffc/f/APdcqQZOYZlkdYG41E+/y9K5p07MtWU3Asbibliy93I6XbSNmWbVy22QEqywQ3NIkREairM3EdnUFWKQHVirbqCAwk5eh1HWnu7AGoBBksennIHrNRxgLT3FuOim4s5GygMBEESN112JI+IrbkpO3j6GKa4/JA7RcYbAYa5fSeQJFsGUYm4EiGmNxokVM7LcQuphk7yw2dwblzVVfPcYu8oTlBknTPIECBECPjLd0leW1csi5aJVsyOhUgggaq4BhguhBG/lNu4u2rLb7xAXBIVmhnG0rrr8K6rUnFJLP5MtRfOC4tcatFgpbIx+q4KE+06N8CamhqzeMsKy5GUa6ajMSBsfeduoj5UuM4a1rmQtctgxIkunuB4x6jX0OprpHxN8odLub+isFguO3UAK3Cy+pzD8+xq/wHatG0uDIfMar+IrtHVizMtKSL6iuUuAiQQQdiNRXVdTkFFFFAFFFFAFFFFAFFFFAMY3AW7yZLqJcUwcrqGGm2hEU23CLJEG1bImYKJE5Bb2j7AC+wA2qXRQEVuFWSSTatksQSSikkgqwJMamVUz5qPIVW4uzg0xNm01m13t63dW2e6TwIsupMaKQ502Mt61eVkeOc13EXxJ/U1wxHujG/fA9Wsuq/GgNJb4ZaUMBbtgOCGARQGBLE5hHNJdjr9o+Zri3wSwqhFs2goDAKEQABmDMIjYlQT5kA9KmK0iRS0BFwnC7Npma3atozmXKIqljJMsQNTJJ18zUqiigCiiigCiiigCiiigPNEcEAgyCAQRsQdQRS1lOzPGchFlzyk8h8ifq+x6eR06iNXXzz6IUETRRQFhwjiZQi25Zp5bZJ09EY+fQHrMHWC16GDE6Ar5yDqPT4/mayLKCIIkGrPhnGSpCXWJGytAJYnZWP29dD9bbxHm5yj6ow1RcwToreszqD008vz7huCDBJkxI+rO0em3zqu7Q45rFrNbkk5hlVQTpbZ4UAaucum+5MNABoB2qvKpzNaXu2IIYRoq4dpcg6SL5JgiBbJynUCx0pSVo5uSRsO8iZ2EiWMSenTb18hTeMwdu6hW6ikNuGCtt7g+VZgdoMR3gXQkgnKbbSJe2gOUEaAuTOuqOJIGYsWe1d+4qc1ps0TFuWlrV66oUZiDItCGgyXYRyidLQmnaMucfU1GPsXGUFL/AHJ9FV1OmkgwdvskH16V1fxLoksr3HQLmFkDmmJKqzbAzpMx51mR2ivk63LShWA50IP+0t5plhOW2MT0HNYgxJALfae+QhLWx3ltiVAXMjiz3wWMzRykA5gCGD6ELWulOknVfPuTcs0XFzDW8QO8QNack5iylDoYm5bcDN76HaDFVmKsNaMXBA+2NUPx+r7NHuahYjtHfEW37sq1guxa2+Vj3atkBe2VKy5XTvDA1CkxWk7P4G2lstbUJL3AwSQrZLjW5VJbICFmF8/ako7Fb+3/AH/RqM3dIg4DilyyeRtPsnUH4f5FaLB9rEbS4Ch8xqv4j5VnE7OMGJF4ZTMRay5TI8QDBMsE+EIdtTrUe/hbyPDWXZZ0uW8rqR55Qc49sprcZNOou/neg9svMq+dj0OxilcSrBh6EGna8u/1a2rx3qK38QU7x576bVc4ftBfT6+YeTCfv3++u3VrzIx0r8rNxRWXsdsD9e2D6qY+4/jU612rsnfOvuJ/sTW1qRfqZenJehdUVAt8csNtcX46f3ipVvFI2zKfYg1pNMw00O0UUVSBRRRQBVL2cQXLNy4dRfvXn16pmNu38DaRKmcdxps4a9cHiS25X1bKco+LQPjTnDMELNi3aG1u2iD+VQv+KAhdlnP6sttjLWS9hvM90xtgn+JQrfzVb1T4P6PHXk6XkS8vqygWbvyC2D/NVxQBRRRQBRRRQBRRRQBRRRQHzUdvz5VquzvaDPFq4ebZGP1vQn7X9/ffKTSmvAfSPS6KzvAu0cxbvHm2Vz18gx6N69fffRVCBSMoIgiQdwaWigJFjiGVO7ujPbJ8TQY/7k+ICBDdPrfaq8Xh1qOW3aPhgBbYjfUEDQ6k/HTes3Ujh+PaxoozW+qaCPVDsP4Tp/Dqaw4+xhxJXGLFq3YlEsomZcwNu2QDBM+BgWjSYO+k6CqS1xQ924v27WctkVTaQhWLmZbu1GZlW2RnC6spIMRWtwt9b1s5SjwRoVjKd4ZPqt1H5NOXrK5szokgatoTrpG0ke9IzSVNHJxMV/qLzlz2FgBU7y1aABYkouqrCgoXblUqHtSA2bNqMFhbZtWWuW7c5FOYqixPOJUDQ7ExpmkwKTiWJtWSFdItAEl+7DoknYgAlF9Yy66kdZ/fhlUhkObVCOZWHSD133FJz3JUqEVQyvDrSGe7t5pEEWkzTqZ0E7//AHTyWFQBVABAIBRQoEaxpotcY3CM+qO1s75kyyYEQQylWXbQ+8iBUBcVetSLtrOIkvh5zAT9ayTP9DOf3RXPk1wdq2KXRhavjXSe6cj2bOrf1JXA43aBi6Gw7TP0whdul3W316NUvAcRt3ixtXLbnqACCuv1xAZTto0VKRpLQQREERB8tfMaGn1QImJwFm/BZUcbl8ohtvDcGo+Bqs4h2UW4Bla4IY+InTpIKsrEe7Gplzs9a3W2LTE6tYZrPxYLAc/xBq5Ni+gGS6l1SMoW8uQx5d5bGWemtqtxk4+Vka9Girv8DvLbhSDA0dXVzpvIuxPzNQ7bsi/StzEmCyG0D6a6EyDqK0CccyL9NauWljxhO9SddZtzC/xKtSrXErborJdsOCwUEOpBZtlEHxGNvTatdSVU18+pVzZlsLduGc6KvkVfMD81BFImMl8pS4NTzFeUx1zAnT3itRe4RZLa2lUkwChKk++SPvqFd4AJ5LzDWIcB9fgFPxnpWupF3gqtVkpn4sltspuhGMQCxXfaOlTRxO4v/Vcfzn8aducHugxNtz5Asv3MCP8AlVRiAjyLtkypIIe2Hynr4c0dD6iDtFa3wxmvn2Ll3VFuvGL37V/nNdjj1/8AaN8l/CqaLTp3YKwIAVWykRtGUginbOFCLlBaNd2ZiJ8ixJq3jll254Q/xfjl5xbtlyQ963IhdrZ749P/AOcfGp47Q3/2h/pT/wBtZqxhSMSAblxwlotzlTBdsoiFHRH386mJYuB5NyVk8uRR7cwM6Vpv+79mUl/T+iXxHj14XLN3Pqj5Ccq+G7CHptn7o/y1Zr2ov+an3Uf4rNcUwd24rIjWwGWOZWJB6EMGA0MEadK7t4q5ctW3thOdQxDlhEgaDKDqDI+FP4sZJUc4NOva271CH4H8aeTtg3W2p9mI/wAGsqmKLW8yd27aAhX5c2kjOAdvanLDuVl0CtroGzA+WsD+1N00rv8AQ2wbqv2a+12wT6yOPYqfwqQnaqyftD3X8JrC4a+7Tnt5P51aflQuJbPl7pwsnnm3HvGbNr7VvdNWsf5RnZB5z+T0Be0dg/X+at+Fdjjtj9ov3155iMUytAtXHEDVckf8mB+6u8TiCgEI7yfqZdPeWFXfPHGSdOOc8HoP+t2P2qfOuf8A8gsftB8m/CsAcQcmbI8wDlgZvaJifjUf/Um/YX/6U/8AfVUpvhEcILlmBAoK0tIw/P59q8p7ANX3Be0ptwl2SnRtSy+/Vl+8evShj0pYoQ9It3AwBUggiQQZBHoetdVg+F8XeweXVSdUOx21H2T6j4g1r+G8Xt3xyGGA1U6MPxHqNKEJtFFFAIJBzKSrRAZTBjy8iPQyKtcJ2iKgC4I/f1y/zDdPvA8xtVXRUaTI1ZqUuCFyZTm2MkjzMH3qDd4MA7vYuGwx1YIJtk9S9rwkn7S5X/eqnw2Ie1/tNl/dIlD/AC9D6qR6zVphOPqRluA22J8UjKZ654AX+aD71zcWuDDQlvixtx+sqbaja8rMbTGdcxIm0NPriPJ2qfY4hbu6q6MgdllWnmQ5SNDuD09t9KeDZlG22pJEjTfTc/KqXgXZKxg2LYc3EVhLjOWtsZgcrSQw8wQehmphruZyWGM4dbvEllAKSFuKSlxT+66wyjfQGD61Fa3iLWUrcGIXor/R3D7XFXK3TRkHq29WTMSBqpMnSAM0RpzbfKuMRxBEKm4wtiSOdlUGBr4iJjTX1FRNghJ2itIG71jZcAsyXjk2BZipkq4A15Gap9vEKVLgq2gOhkEfVM6jXzE0zxbhaYm01m8B3bkSoJBcAhhqCCNRUfg/BreEQW7JdE3Fu47XAsn6pMlQfKY++mK7jJZ5jKyQDroJM/hVFx7sjhsbHfAkq0s6nI2gIguBJA10mNB6Vd54YnxdNIka7efWhH0IEkzsxHkPxom1lFoYwmG7m2EV3dBpmuvnYDaM/iPuZNSFcSAsaiZ9OnvSodSPEJAgQAv5/wAVx30zzqBoQYOmvroagAnlPPoG3j7p9zvUHiHCxchgQtwABSSeYDYON9zuNQT11BmsxCxDAgTykD79tf8ANOXGnbKB9rQwZ2AqNWqZU6yjJukyrrqDBVgDB/t7EaEbV53x9MRhLz5LrojsTb5nysGzEqBqFZTpEREGK9i4ngBcEzldQArkTm6wQN139tx1nKcWe0cO5xC/RrOcQSVytlMRrKkaEa6TXGDehPGUz0WtWOeUefYTtjiUuMcyuWKAllB0UHSFhtJbUb1Z2/0juBLWFYCJKsViYEwQZG/yrPY7hZt2rdzNmtXgCHi4TM5iP+4pB9GAJHWoYAkmG1YgnXlmIMnmkgxrtX1ltlk8ltG+w36Q7LaNbur7ZGA0ncN5SfgfKu8D2lwzW7qG7kRmfKSGHLdBfQxAIZnA/hFeeWm9IkSCczbjUkzqNwPck7CkZjIMkk6iCDyxylZ8JEMJPz1mmxDez0A4e1dQBb+DuEKyQQqrBtqiNlDEl1AMT0cgZaePAr8nJdlWJJOZpBN22J0In6FDIBHNMHmmvPu7aVGYSYlTmXNuQT/T01kmuMwEkFhGUSodTA6t++ARvppSi2ejYvDYtM3dsxADhQWnNNuygIzsxBDm64knwR1FKcZi1fwFlLQBlGn0l1xqPqlAiT0OXzNYQcYvoYW5eUiRHeOJgZg0TqD5DYfCpSdq8VplvtJ6MFkwZMFwRqJ32y+dTaxZtbPGLgsXnPMbaoQWttbBLAZhEyQpkdCOs713jO0H0oSyFdSrQ/NlLlXZFzgZRIQg6zzr61kLXbbFljluBlmQTbXVYmBlEzuJ2MfN0dvsSFJJsMAYBy3IOgOsNyiDoT1qbS7jTL2kYsvIoVrPfCW5srd4UB6ZiqAmJALR01q8V+kE22ytZEwp8br4lDDRrU9fjuNKgt29uak2LT5QCORwY1DHVtIPl571xc/SDqZw9htYnUyBoPujTpVUexHLuR6KSlNcT0BS/wDxRQ1AIaW3cIIYEgjUEGCPY9K5ApRVIaThnayIW8J/fUf+Sj+6/KtJZvK6hlIZTsQZB+NecU9hMfctNmtsVJ3GkH3Gx99/WoSj0SiqHh3axG0ujIftCSh/yvx09avVYEAggg7Eag+x60AtFFFAdYe89v8A2myz9WAyf0nb+UirSx2hG1xSggyUBdT8QMyfKPWqmio4pmWjVYW8reAh16MGVp9oqn4vwu61zPah8oTka4VJyFmCzlPKxaDPl1kFKsW4MglSdypgn36N7EEVY4fjlxTzqtzpIhHj/wAW/wCNZScXcTEo3goLDXsKbVtTdTIiiCujsuY3GRJZNbdgwEk58QksxlRbYbtW2ZUupLakFGCEQlt2DI3KsZypLOBNt5y7VbWsfh7o7snLJ8FwZQx6aNyv7KTUXHdk7dxWVQbeYANk0XdmUoDopDMW5cupJ3rp1IS86Oe1rhkuxxy1dVTnyMwzKHJtlgRIy5wM2hB0ncVPg6GBJnUbDoD61krnZO6t9rko5u5JCwnKGLOmoHIYtDma4VFuIdTlEfFY67ZuIkiLZtKJcqjiLasdToP9xy5Dcp8SsgR8vSi/Ixua5RtYOw3OpaBG/l91U97tCbZOazcUEnV2UKdTqGiB7EioK9q2TMWAuZcrMQcsqbS3iVXMyhEDpmOY+NN9RVjh+0VtmOYFGkyGBZoGjj6IuAVzKDJEZxO4nEtKa9DSnEZu8ccnkRVnfOxcR6IAB/y67Gm/9WvbTaA6ju2195uU9a4ZYfWzd5BpFp0YA+QkNA9NgNtKdHAkkDvb2okaW/793XkcdW+T0qWl7EG9xC84g3IB6Iqr95lh8CKr8fgBdsvaOgdWU9TruZO56z51eP2dI/6twzty29P4uShuz8Ak3WG0SLZAP70ICRPkR7isPT1Hls2tTTXCMzx7CWv1O4jQqKnL0ClR9Hl9QQAK8ozGTJMkGdMrFpIHh1K/MfdXp/aPsB3rEnOG3lGa8m062m5l8+UQNPjh8X2Sv2ecDOoPjtFmECTqo5gRpOnSvb4XbppqTyzjqtzdpFEU8tSQ2xEwdyemwYQJjXencQsHyKREkMdc3KAYkeRAga0BJBgSZ0Og8JI8K9WmIHkTSW1J8MAGQDrGpYiAfrAg6b717zzhodySuXqWUjXQE9ZnU9Z0207lusgEiTo882kjyBB8+o2IppbMRJ0GcMQRJAABifqwYj3rq4jGZH2SdyYAKk+cAAkTtPWRQFng+zt29bsuMgF28tkZmIUGOVmABy2pRxI3KkQKUdmryC45EdzZF0y0ESXJAAUy2W27FQYy22MmrHBYTFd3hltYg5LhGUKWa3aADYjmIUrmSHcwM8hhBFPWeG47LlF4qqk2GQu0ju2XCAXIXmRgzhZkQrbHQ7oxZGXsPf7zuVZAyqHELiCAGe3b6WZuc1wQVBCgEkio2G7L3WZUDW+8Y28yi45hblzJbY8hUoxyk5Sx5k0g6T34biLjFv1i20pmlEh72S826i0LjFbmGWWIaOQ7MYLdu/kRv11IItXA+R+U3LlzuQfoyzjOLrQSUUBiBJWVIlshX+zN5CS72wqiXc96Mid2jiB3feD/AHlWMs5iBECaosTlV2XMGhiMysCp10KmNR6nU+lbC1wbHZkm8izlSIUohhrboyd2UgLa8MZYdSJIJGR4xiSt+4GZbjZpZiiMSW5jqwk6nrSvYu73ZfikJpfz91BP5/PwrxHuEiiiloAmkpfz/akoAilFJFLQBT+C4jctGbbFfMbqfdTp8d/WmCfz+fhSCgNXge1ynS6pQ/aWSvxHiX76vbF9XXMjBh5ggj7q84ruzfZDmVip8wYn38/Y0JR6PRWSwfa910uKHHmOVvl4T91X2D47ZuwA4DH6r8p+E6H4E0ISsTiltrmYwJA0BJJJgAAAkknoBRYxSOAVYGRI84mDodRB0PkRFc4zBi4ACWUqwZSsAqRMESCNiRqCNaqcXwByzMjrJYMHIPeg913MZ/sgEvtqdOs1UkZdl6RIg6jypbNxkEW3ZB5Ayv8AS0gfACs0mJxdoEv4LaMWkBswXkUAyCWYWyxgyDfXQxFSsL2mUnK6lWDFdCCDzJbzDY5S7MB6W2NXaS0+TU2OOusBraOBOqyrfBWJE/zCptrjVpvEwWDKq4NsT05jyk7bE1msNxK3cUMrqQwUjWPEJXQ6yYOm+lSa5uCLtXoXOK7OWLoYhFVmDBjbbLIbRpjQhgBIjXKJnKIgYvsiSwYXQdSWDaCSwcmFGpLBDMBgbaZGtxrDtJkMoSh80JSfcLAPxmpdnid1eqP/ABoJPXdMv3g1U5x4Zh6dlff7P3UCEqGVQFSIuBFzM05YIBOZYgQBby5kkEcWeK37ZUF7yEzmS4C7mLN26SMyMxAYJY5QZZGYBp1u7fHiBDI40PgZW111lsp+QNS/9XsXFOcrJ0yXeVTrOzgKT89q11X/ADKzDh7B2exD3LK3HCjNmnxAwHZRIYCDprIB8wCIqbkgRylmOsnSNTt8KRQoTkylYHKIKqP3QvSa6VdAdAAAZWZ84iJj0rzt5s2jpxLFdIjUQZPx8tvvqLi+GJcPMMj9GUjMd99IYabMD12qQpbQgltD5DqOldBBMDoDLTLCZrJUYvjXZNG1v2kbT/dtyCB1zRzAevMvmRtWXxX6OUP+1dgGNHXNMGRzKR8NNq9Ox/FFtuoy94YkREwNJLEgDWY32PrVI5BcsqC2CNVBkTO4AAC6bxuddOvKU3peWVdjvBb/ADL7nnXE+wht3h3TZxkDAOBmMHIwXYMQCkdebrWc7g23hzDSFIZSNd4ZSAVU5R5bDpXqPFeBC5icPiB4rT8w6FSGG3mCQfafSrDF4C3dEXERx+8oPynatx8a4pbsh+HtusHk44vfgLnuhcuVQrZTBUplzR4gDl8gsqIE10nGLzPPe3CdRKsTmg59ZafFbRvUp7Vsu0fZLDrh7j217pkUsMpIUkSArKTEHMRpHirAKAsk+bE6yekQBI1bqR9XTavfpa61Y3E889NwdMnrxzESWN1izBQTn0MFiMpGYD/cbUBSJaDLGmsNxK7bAyXnQqgGgblUDMqyR4VcyJiDqDpNRzALAZSYKwfrRlGqhYmVOmh1BrkrmELtBAiYnmJUySDOw89Pauts50iXY4neTRLr5lK/WbQoj5fVhzvl0mWPQ6x7uJZzmbKWO+fKG001gelNkZ2AhoIldAsaTI9BJJjeBERXHcltSjMYGuZh933Vb9yfQ0FH5/P5/CjLQwrynsFig/hQTSGgCgfn8/n8FC0iigFIpDRRE0AldCkIooBYrmloy0AUpXSkiloCVheLXbXgcgfZPMvyO3wirrC9sv2lufVD/wClj/6qzVAWhKN7hOO2bnhuAHyblPyMT8JrvF8ItXJzIJKxI5TEOu48hcePLNNefgVIwvELlvwO6+kyP6TI+6qSjS4vssDmNtlGc3ZFxQ4HeFCcg2EBMuoOjGpeIvXUuXWW27jIgtAMuUsM05paVJLCWjZN6pcL2uuDxqj+olD/AJH3CrTD9q7LeLMh9RI+az98VbM0R7XHryJ9JbzFbTO+mQyty7bjKM3M5W3lA01YyYEzbfaBMyo6sjtl03jM5trMgMJYEaqI6xUy3ftXlIBS4p3Eqw+I/GuBwi0CpCAFSpEaRlDAew5209aWhTJdFFFZNHC2VBkDKfNeU/NYNSLeLurtdufzEOP+YJ+RpqihKRLt8XuifA07mGVvnmI+6mb/ABq+dAq21n/pEFj7m4APu+NNUVlxTFIZS+BMpcBO5ILk+5UsTXX68nVgP4pX/wAgKcpQa80vCxfqzstVoRL6nZlPsQf7U5FMPZU7qp9wD/em/wBST7Cj2Ef2iub8H7M11uxi/wBInFWNxcOJyABmA0zM2g66gSD5a+1ZGy2YgHUakkAyNYEEbCR8IPSvV8b2cw90zct5jESXuTH9VQ37EYUmcrifK5c/yTX0dLbpwUTyzTlJs82R5MudTJIhYUgRJGwJ0gnxeVJEqeUAk/ZlTtAB0y7FtPvr0b/8Ew8AA3YHTMp+eZDMdJ2imG/R3h4AD3hE7MvXf6vnr8K6b0Y2swTalgHJkAnIADmAaBlHi000PlTD3Gkxpqds3nrsfOvQv/13Z0+lu6GRItmPmv5geVcn9HNv9ve/41d6GxlDQ34UUVwPQFH5/P5/+SihBRSdaKKFCiiiqQUiuRS0VCsKWkoowDfn/FFFFVECl/P+KKKhRKKKKpBaRtqKKhQjr1qZh+MXk8N148icw+TTRRVIWWH7X3R4lRvaVP8AkfdU+x2wtHxI6/Jh9xn7qWioKJ9njthtrqD0Y5D8mipqtOo1HpRRWmsGE8i0UUVk0FFFFAFFFFAFFFFAFFFFAFFFFA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8" descr="data:image/jpeg;base64,/9j/4AAQSkZJRgABAQAAAQABAAD/2wCEAAkGBhQSEBUUExQUFRUVFRQYGBgWGBUYGhgcGxYYFhgdGBgbGycfGBkkHRgYHy8gJCcpLCwsFx8xNTAqNScrLCoBCQoKDgwOFw8PGi8lHCQpLCwsLCwsKS0sLCwsLCkpKSksLCksLCksKSwpLCwsLSksLC8qLCwpLCwpKSksLCwpLP/AABEIAKgBKwMBIgACEQEDEQH/xAAcAAABBQEBAQAAAAAAAAAAAAAAAQMEBQYCBwj/xABDEAACAQIEAwYCBgkDAwQDAAABAhEAAwQSITEFIkEGEzJRYXGBkSNCUqHR8AcUU2JygpKxwRUzokNzssLS4fEWF2P/xAAZAQEBAQEBAQAAAAAAAAAAAAAAAQIDBAX/xAAtEQACAgEDAgUEAAcAAAAAAAAAAQIRIQMSMRNhBDJBUfBxgaGxIkJSYpHh8f/aAAwDAQACEQMRAD8A9xorF8Q4Hjmvu9u6QhuGF71oKM+HnT6rAI5HxXZzTDdmsatqVus1w9+WHfXBuZtiWcg6TqAoHlQG7orH8R4DiLzXbi95aNxcKApxF0hCMSxv8qXAom0E8JE6gEEk0xY4Fjw9gM+a1a7xLg766DcW7duqTuTyW+5ZczZlggEnUgbeisLZ7OYtEtBjcuKLWH762MTcDXHHf97luFpHM9ltwGCRtpT/AArgWPS/Za5dLIGtd6pus2i4ZllZ8X0jQ0+KFbcagbOiiigCiiigCiiigCiiigCiiigCiiigCiiigCiiigCiiigCiiigCiiigCiiigCiiigCiiigCiiigCiiigIeA4tavD6NwSN11DD+JTqPiKZ49intWxdTVbTB7igA5rcEXI6yoOcRqSkdawraMrxmKGQOsbMFIghiNiCNQtazD4+4FUo3eqyhgr6GCJ0uAeXRgSfOuC116naWk1wXyOCAQQQRII2PtXVZns1xVLbNhH+jNsjuVcgFrTeAKZIbIZt6E6Kp3NaWa7Jp8HEruCY5nV0uR3tm41t4ETs1to6ZrbI3oSR0qyqlx/0OLt3vqXgLFz0aS1hj/MXt+pup5VdVQFFFR8djlspncwoKgmCYzMEEx0lhJ6CTQEiiqG323wrKrB2h3toDkfxXC4UHTT/bYknYQToRXDducONxeH0jW4NpwSygswEjoB94oDQ0VT4btTZuPcRO8LWxcJHdvzd3c7p8mnND6aU3h+2eGcIczjvLT3VDI6koozTBHUBio3YI0bGgLyiqfhPauxiSotMxLZ4BVl8C23bcR4bqH4+hp7gvaC1igxtZiFMSylZ32n2oCyooooAooooAooooAooooAopGMCsrgP0h2r6g2rN52aCEU2CSO770nMLuUECAVJDAsums0Bq6KpcP2stXLfeKHKd9YtAwNTeFlkYCfDF5ZnXQ6UcT7V2rN63a8b3GKwr2hkIyaPncQx7xSF1J8qAuqKy2B/SDavHLatXXcsqqgNmWzLebU97lQhbDkq5B8Omtd4Tt7ZusEt27rO2TIsIpbNhziNCzgaABWk6My9CDQGmoqiTtUGw9i8ti8f1kgW7YNnOQbT3gTNzKAUQmM07CKgj9ItgrcZUuFLaWmLTZWRcWyy6NcBAi+klgAIbXSgNXRWbw3bi2+UravZSbQZ/oyEN261q2DDkuGZdGTMIZTMGaas/pAtNbLizekLdYpNnMBbW27Zh3nIwW4OVoMqwjaQNTRUfAYo3LauUZMwnK2UkTtOUkba6HrUigCiiigCiiigPNasuBYuG7pmgasm0ebpr5asPQt9mq2uXWdjBBBB3gjUGOvt1EjrXzmrVH0GrLrj9soq3yA3c5i4gQbJAF1I+toA4H2rSjrScOv3C6XcJeDYd8wZW57YyyA1kzOWQVKggdekF5HXFWCHQMrcly1AYTHMDPQ6EHeCp06cdnOB/qlruVYm0jO1uYJyuS+VjuSpZhPUAVmGo4XXJwlFS5LDiGNF2y9q+rWwwI7xOdVO6sCOZWVgG5lABXep3Z/in6xh0uHLm1V8pBAdCUcAjdcwMHqINUlnhKI/eoHXPOa3mARmMc5U7NAiRvOs1W4XGW14hcthnS5eBPW2wuWxEgRFxHtgEEgj6I9TFeqOtffByca5wb+o+PwK3rT2rglLiMjCSNGBBgjUGDvVZZ4jeQwyi6B1ACN8pKsf6dqnYfi9tiFnIx2VxlJ9p0b+UmusdSMuGZcWuSqvdgcIylTbMEu0Z3EM6JbLCDowW2AD0lvM1IxXZKxcic4Iu3LsqxBzuuVj7EdKuqp7LG9jXMnJhlyehu3ArvPnlTuwP+63lXQyO4Ds5Zs3TdtrDt3uYz4u8u982b7RzExOwJA0qGOw+F5DkabaJbU53lURHthRrsVuPPnnNX9FAUGF7FWLZUobysjE5hcaTK20IbzXLaQR+76mpvBuA28KCtovlPRmzAbnT5/2qyooAooooAooooAooooAooooBCKxnGruAs3hhnsSVw+cZTELat3QlsQwaTbS8PKFIbcTtKhYjgthyWe1bYsQSSoJMKU1P8JK+xNAYdeM4O4yD9TecQyg5X5TkbDKrWwrAPlzW9VAI7lx9XWbwntbZum33OFY3QFS0M6eG4juQzk6HLhtZk+DeTGl4hfSzcsHuwWuP3CsIBRSjXCP4fohp7eVY/D9pMHdyrcwaLa7m22bfIqYQYwDwBYVbzqMrZpZuUKSaAsOD4jB4u4LKYYrlsWLgbMFK2yC1jKVfMrfS3102h5MOuadixhcNiLCDDjNKlWQKBazC3g0MSDBBS3CjQLJ2FUeG7U4SLLjCIpuDdTbIS4L9qx3ZZRB1tIQRoe5QfZqTiu1li6ou3MKHa3mC5ipInCXcSYMaSLOX3IPSgOuJ8Ywvd9w2GuNaw7ZUgwoW2Ltl2lWlEQI6EtAhh0Jh3iOLwFpiURbuYjvFs3AVQWgnMyB8oKi2gAAnlAG1RMNxXB3bOKunBpFpbDsCEJdijDLqABlbPbJOnjnQmu+MdrUzpbv4RXe3dbMM+cIyHDwbbd3BkYlDz5AIIJ2kCdxzG2FxRL4S5du20RlZQGzRcVUlFYk5WukqWXdbmXbVnhT4IuEFjILiAI7ty3Eu2lEW3ZudYCIFXSIiIMO8Aw+HxRvMcGlsAm3mIeXCXGQam2qmDbUgqzRpqDWgPB7JyfRJ9Hkyco5ck5MvkFkwOlASrdsKAAIAAAHoNBXVFFAFFFFAFFFFAea0UUV88+iO4TGGy+cSREOo1LLqRA+0pJI85I6gjRWmDpIzMrEEGZGo0PTTX+1ZipXCeIdy2VjFpjM/ZY+Z6IT8ifJjlxKNmJI0DE9cpyka7mZE6DbrVP2uwl65hS+GCteRke0GXUFWlgpHVoiDykGOoIutA41ifTffc/f/APdcqQZOYZlkdYG41E+/y9K5p07MtWU3Asbibliy93I6XbSNmWbVy22QEqywQ3NIkREairM3EdnUFWKQHVirbqCAwk5eh1HWnu7AGoBBksennIHrNRxgLT3FuOim4s5GygMBEESN112JI+IrbkpO3j6GKa4/JA7RcYbAYa5fSeQJFsGUYm4EiGmNxokVM7LcQuphk7yw2dwblzVVfPcYu8oTlBknTPIECBECPjLd0leW1csi5aJVsyOhUgggaq4BhguhBG/lNu4u2rLb7xAXBIVmhnG0rrr8K6rUnFJLP5MtRfOC4tcatFgpbIx+q4KE+06N8CamhqzeMsKy5GUa6ajMSBsfeduoj5UuM4a1rmQtctgxIkunuB4x6jX0OprpHxN8odLub+isFguO3UAK3Cy+pzD8+xq/wHatG0uDIfMar+IrtHVizMtKSL6iuUuAiQQQdiNRXVdTkFFFFAFFFFAFFFFAFFFFAMY3AW7yZLqJcUwcrqGGm2hEU23CLJEG1bImYKJE5Bb2j7AC+wA2qXRQEVuFWSSTatksQSSikkgqwJMamVUz5qPIVW4uzg0xNm01m13t63dW2e6TwIsupMaKQ502Mt61eVkeOc13EXxJ/U1wxHujG/fA9Wsuq/GgNJb4ZaUMBbtgOCGARQGBLE5hHNJdjr9o+Zri3wSwqhFs2goDAKEQABmDMIjYlQT5kA9KmK0iRS0BFwnC7Npma3atozmXKIqljJMsQNTJJ18zUqiigCiiigCiiigCiiigPNEcEAgyCAQRsQdQRS1lOzPGchFlzyk8h8ifq+x6eR06iNXXzz6IUETRRQFhwjiZQi25Zp5bZJ09EY+fQHrMHWC16GDE6Ar5yDqPT4/mayLKCIIkGrPhnGSpCXWJGytAJYnZWP29dD9bbxHm5yj6ow1RcwToreszqD008vz7huCDBJkxI+rO0em3zqu7Q45rFrNbkk5hlVQTpbZ4UAaucum+5MNABoB2qvKpzNaXu2IIYRoq4dpcg6SL5JgiBbJynUCx0pSVo5uSRsO8iZ2EiWMSenTb18hTeMwdu6hW6ikNuGCtt7g+VZgdoMR3gXQkgnKbbSJe2gOUEaAuTOuqOJIGYsWe1d+4qc1ps0TFuWlrV66oUZiDItCGgyXYRyidLQmnaMucfU1GPsXGUFL/AHJ9FV1OmkgwdvskH16V1fxLoksr3HQLmFkDmmJKqzbAzpMx51mR2ivk63LShWA50IP+0t5plhOW2MT0HNYgxJALfae+QhLWx3ltiVAXMjiz3wWMzRykA5gCGD6ELWulOknVfPuTcs0XFzDW8QO8QNack5iylDoYm5bcDN76HaDFVmKsNaMXBA+2NUPx+r7NHuahYjtHfEW37sq1guxa2+Vj3atkBe2VKy5XTvDA1CkxWk7P4G2lstbUJL3AwSQrZLjW5VJbICFmF8/ako7Fb+3/AH/RqM3dIg4DilyyeRtPsnUH4f5FaLB9rEbS4Ch8xqv4j5VnE7OMGJF4ZTMRay5TI8QDBMsE+EIdtTrUe/hbyPDWXZZ0uW8rqR55Qc49sprcZNOou/neg9svMq+dj0OxilcSrBh6EGna8u/1a2rx3qK38QU7x576bVc4ftBfT6+YeTCfv3++u3VrzIx0r8rNxRWXsdsD9e2D6qY+4/jU612rsnfOvuJ/sTW1qRfqZenJehdUVAt8csNtcX46f3ipVvFI2zKfYg1pNMw00O0UUVSBRRRQBVL2cQXLNy4dRfvXn16pmNu38DaRKmcdxps4a9cHiS25X1bKco+LQPjTnDMELNi3aG1u2iD+VQv+KAhdlnP6sttjLWS9hvM90xtgn+JQrfzVb1T4P6PHXk6XkS8vqygWbvyC2D/NVxQBRRRQBRRRQBRRRQBRRRQHzUdvz5VquzvaDPFq4ebZGP1vQn7X9/ffKTSmvAfSPS6KzvAu0cxbvHm2Vz18gx6N69fffRVCBSMoIgiQdwaWigJFjiGVO7ujPbJ8TQY/7k+ICBDdPrfaq8Xh1qOW3aPhgBbYjfUEDQ6k/HTes3Ujh+PaxoozW+qaCPVDsP4Tp/Dqaw4+xhxJXGLFq3YlEsomZcwNu2QDBM+BgWjSYO+k6CqS1xQ924v27WctkVTaQhWLmZbu1GZlW2RnC6spIMRWtwt9b1s5SjwRoVjKd4ZPqt1H5NOXrK5szokgatoTrpG0ke9IzSVNHJxMV/qLzlz2FgBU7y1aABYkouqrCgoXblUqHtSA2bNqMFhbZtWWuW7c5FOYqixPOJUDQ7ExpmkwKTiWJtWSFdItAEl+7DoknYgAlF9Yy66kdZ/fhlUhkObVCOZWHSD133FJz3JUqEVQyvDrSGe7t5pEEWkzTqZ0E7//AHTyWFQBVABAIBRQoEaxpotcY3CM+qO1s75kyyYEQQylWXbQ+8iBUBcVetSLtrOIkvh5zAT9ayTP9DOf3RXPk1wdq2KXRhavjXSe6cj2bOrf1JXA43aBi6Gw7TP0whdul3W316NUvAcRt3ixtXLbnqACCuv1xAZTto0VKRpLQQREERB8tfMaGn1QImJwFm/BZUcbl8ohtvDcGo+Bqs4h2UW4Bla4IY+InTpIKsrEe7Gplzs9a3W2LTE6tYZrPxYLAc/xBq5Ni+gGS6l1SMoW8uQx5d5bGWemtqtxk4+Vka9Girv8DvLbhSDA0dXVzpvIuxPzNQ7bsi/StzEmCyG0D6a6EyDqK0CccyL9NauWljxhO9SddZtzC/xKtSrXErborJdsOCwUEOpBZtlEHxGNvTatdSVU18+pVzZlsLduGc6KvkVfMD81BFImMl8pS4NTzFeUx1zAnT3itRe4RZLa2lUkwChKk++SPvqFd4AJ5LzDWIcB9fgFPxnpWupF3gqtVkpn4sltspuhGMQCxXfaOlTRxO4v/Vcfzn8aducHugxNtz5Asv3MCP8AlVRiAjyLtkypIIe2Hynr4c0dD6iDtFa3wxmvn2Ll3VFuvGL37V/nNdjj1/8AaN8l/CqaLTp3YKwIAVWykRtGUginbOFCLlBaNd2ZiJ8ixJq3jll254Q/xfjl5xbtlyQ963IhdrZ749P/AOcfGp47Q3/2h/pT/wBtZqxhSMSAblxwlotzlTBdsoiFHRH386mJYuB5NyVk8uRR7cwM6Vpv+79mUl/T+iXxHj14XLN3Pqj5Ccq+G7CHptn7o/y1Zr2ov+an3Uf4rNcUwd24rIjWwGWOZWJB6EMGA0MEadK7t4q5ctW3thOdQxDlhEgaDKDqDI+FP4sZJUc4NOva271CH4H8aeTtg3W2p9mI/wAGsqmKLW8yd27aAhX5c2kjOAdvanLDuVl0CtroGzA+WsD+1N00rv8AQ2wbqv2a+12wT6yOPYqfwqQnaqyftD3X8JrC4a+7Tnt5P51aflQuJbPl7pwsnnm3HvGbNr7VvdNWsf5RnZB5z+T0Be0dg/X+at+Fdjjtj9ov3155iMUytAtXHEDVckf8mB+6u8TiCgEI7yfqZdPeWFXfPHGSdOOc8HoP+t2P2qfOuf8A8gsftB8m/CsAcQcmbI8wDlgZvaJifjUf/Um/YX/6U/8AfVUpvhEcILlmBAoK0tIw/P59q8p7ANX3Be0ptwl2SnRtSy+/Vl+8evShj0pYoQ9It3AwBUggiQQZBHoetdVg+F8XeweXVSdUOx21H2T6j4g1r+G8Xt3xyGGA1U6MPxHqNKEJtFFFAIJBzKSrRAZTBjy8iPQyKtcJ2iKgC4I/f1y/zDdPvA8xtVXRUaTI1ZqUuCFyZTm2MkjzMH3qDd4MA7vYuGwx1YIJtk9S9rwkn7S5X/eqnw2Ie1/tNl/dIlD/AC9D6qR6zVphOPqRluA22J8UjKZ654AX+aD71zcWuDDQlvixtx+sqbaja8rMbTGdcxIm0NPriPJ2qfY4hbu6q6MgdllWnmQ5SNDuD09t9KeDZlG22pJEjTfTc/KqXgXZKxg2LYc3EVhLjOWtsZgcrSQw8wQehmphruZyWGM4dbvEllAKSFuKSlxT+66wyjfQGD61Fa3iLWUrcGIXor/R3D7XFXK3TRkHq29WTMSBqpMnSAM0RpzbfKuMRxBEKm4wtiSOdlUGBr4iJjTX1FRNghJ2itIG71jZcAsyXjk2BZipkq4A15Gap9vEKVLgq2gOhkEfVM6jXzE0zxbhaYm01m8B3bkSoJBcAhhqCCNRUfg/BreEQW7JdE3Fu47XAsn6pMlQfKY++mK7jJZ5jKyQDroJM/hVFx7sjhsbHfAkq0s6nI2gIguBJA10mNB6Vd54YnxdNIka7efWhH0IEkzsxHkPxom1lFoYwmG7m2EV3dBpmuvnYDaM/iPuZNSFcSAsaiZ9OnvSodSPEJAgQAv5/wAVx30zzqBoQYOmvroagAnlPPoG3j7p9zvUHiHCxchgQtwABSSeYDYON9zuNQT11BmsxCxDAgTykD79tf8ANOXGnbKB9rQwZ2AqNWqZU6yjJukyrrqDBVgDB/t7EaEbV53x9MRhLz5LrojsTb5nysGzEqBqFZTpEREGK9i4ngBcEzldQArkTm6wQN139tx1nKcWe0cO5xC/RrOcQSVytlMRrKkaEa6TXGDehPGUz0WtWOeUefYTtjiUuMcyuWKAllB0UHSFhtJbUb1Z2/0juBLWFYCJKsViYEwQZG/yrPY7hZt2rdzNmtXgCHi4TM5iP+4pB9GAJHWoYAkmG1YgnXlmIMnmkgxrtX1ltlk8ltG+w36Q7LaNbur7ZGA0ncN5SfgfKu8D2lwzW7qG7kRmfKSGHLdBfQxAIZnA/hFeeWm9IkSCczbjUkzqNwPck7CkZjIMkk6iCDyxylZ8JEMJPz1mmxDez0A4e1dQBb+DuEKyQQqrBtqiNlDEl1AMT0cgZaePAr8nJdlWJJOZpBN22J0In6FDIBHNMHmmvPu7aVGYSYlTmXNuQT/T01kmuMwEkFhGUSodTA6t++ARvppSi2ejYvDYtM3dsxADhQWnNNuygIzsxBDm64knwR1FKcZi1fwFlLQBlGn0l1xqPqlAiT0OXzNYQcYvoYW5eUiRHeOJgZg0TqD5DYfCpSdq8VplvtJ6MFkwZMFwRqJ32y+dTaxZtbPGLgsXnPMbaoQWttbBLAZhEyQpkdCOs713jO0H0oSyFdSrQ/NlLlXZFzgZRIQg6zzr61kLXbbFljluBlmQTbXVYmBlEzuJ2MfN0dvsSFJJsMAYBy3IOgOsNyiDoT1qbS7jTL2kYsvIoVrPfCW5srd4UB6ZiqAmJALR01q8V+kE22ytZEwp8br4lDDRrU9fjuNKgt29uak2LT5QCORwY1DHVtIPl571xc/SDqZw9htYnUyBoPujTpVUexHLuR6KSlNcT0BS/wDxRQ1AIaW3cIIYEgjUEGCPY9K5ApRVIaThnayIW8J/fUf+Sj+6/KtJZvK6hlIZTsQZB+NecU9hMfctNmtsVJ3GkH3Gx99/WoSj0SiqHh3axG0ujIftCSh/yvx09avVYEAggg7Eag+x60AtFFFAdYe89v8A2myz9WAyf0nb+UirSx2hG1xSggyUBdT8QMyfKPWqmio4pmWjVYW8reAh16MGVp9oqn4vwu61zPah8oTka4VJyFmCzlPKxaDPl1kFKsW4MglSdypgn36N7EEVY4fjlxTzqtzpIhHj/wAW/wCNZScXcTEo3goLDXsKbVtTdTIiiCujsuY3GRJZNbdgwEk58QksxlRbYbtW2ZUupLakFGCEQlt2DI3KsZypLOBNt5y7VbWsfh7o7snLJ8FwZQx6aNyv7KTUXHdk7dxWVQbeYANk0XdmUoDopDMW5cupJ3rp1IS86Oe1rhkuxxy1dVTnyMwzKHJtlgRIy5wM2hB0ncVPg6GBJnUbDoD61krnZO6t9rko5u5JCwnKGLOmoHIYtDma4VFuIdTlEfFY67ZuIkiLZtKJcqjiLasdToP9xy5Dcp8SsgR8vSi/Ixua5RtYOw3OpaBG/l91U97tCbZOazcUEnV2UKdTqGiB7EioK9q2TMWAuZcrMQcsqbS3iVXMyhEDpmOY+NN9RVjh+0VtmOYFGkyGBZoGjj6IuAVzKDJEZxO4nEtKa9DSnEZu8ccnkRVnfOxcR6IAB/y67Gm/9WvbTaA6ju2195uU9a4ZYfWzd5BpFp0YA+QkNA9NgNtKdHAkkDvb2okaW/793XkcdW+T0qWl7EG9xC84g3IB6Iqr95lh8CKr8fgBdsvaOgdWU9TruZO56z51eP2dI/6twzty29P4uShuz8Ak3WG0SLZAP70ICRPkR7isPT1Hls2tTTXCMzx7CWv1O4jQqKnL0ClR9Hl9QQAK8ozGTJMkGdMrFpIHh1K/MfdXp/aPsB3rEnOG3lGa8m062m5l8+UQNPjh8X2Sv2ecDOoPjtFmECTqo5gRpOnSvb4XbppqTyzjqtzdpFEU8tSQ2xEwdyemwYQJjXencQsHyKREkMdc3KAYkeRAga0BJBgSZ0Og8JI8K9WmIHkTSW1J8MAGQDrGpYiAfrAg6b717zzhodySuXqWUjXQE9ZnU9Z0207lusgEiTo882kjyBB8+o2IppbMRJ0GcMQRJAABifqwYj3rq4jGZH2SdyYAKk+cAAkTtPWRQFng+zt29bsuMgF28tkZmIUGOVmABy2pRxI3KkQKUdmryC45EdzZF0y0ESXJAAUy2W27FQYy22MmrHBYTFd3hltYg5LhGUKWa3aADYjmIUrmSHcwM8hhBFPWeG47LlF4qqk2GQu0ju2XCAXIXmRgzhZkQrbHQ7oxZGXsPf7zuVZAyqHELiCAGe3b6WZuc1wQVBCgEkio2G7L3WZUDW+8Y28yi45hblzJbY8hUoxyk5Sx5k0g6T34biLjFv1i20pmlEh72S826i0LjFbmGWWIaOQ7MYLdu/kRv11IItXA+R+U3LlzuQfoyzjOLrQSUUBiBJWVIlshX+zN5CS72wqiXc96Mid2jiB3feD/AHlWMs5iBECaosTlV2XMGhiMysCp10KmNR6nU+lbC1wbHZkm8izlSIUohhrboyd2UgLa8MZYdSJIJGR4xiSt+4GZbjZpZiiMSW5jqwk6nrSvYu73ZfikJpfz91BP5/PwrxHuEiiiloAmkpfz/akoAilFJFLQBT+C4jctGbbFfMbqfdTp8d/WmCfz+fhSCgNXge1ynS6pQ/aWSvxHiX76vbF9XXMjBh5ggj7q84ruzfZDmVip8wYn38/Y0JR6PRWSwfa910uKHHmOVvl4T91X2D47ZuwA4DH6r8p+E6H4E0ISsTiltrmYwJA0BJJJgAAAkknoBRYxSOAVYGRI84mDodRB0PkRFc4zBi4ACWUqwZSsAqRMESCNiRqCNaqcXwByzMjrJYMHIPeg913MZ/sgEvtqdOs1UkZdl6RIg6jypbNxkEW3ZB5Ayv8AS0gfACs0mJxdoEv4LaMWkBswXkUAyCWYWyxgyDfXQxFSsL2mUnK6lWDFdCCDzJbzDY5S7MB6W2NXaS0+TU2OOusBraOBOqyrfBWJE/zCptrjVpvEwWDKq4NsT05jyk7bE1msNxK3cUMrqQwUjWPEJXQ6yYOm+lSa5uCLtXoXOK7OWLoYhFVmDBjbbLIbRpjQhgBIjXKJnKIgYvsiSwYXQdSWDaCSwcmFGpLBDMBgbaZGtxrDtJkMoSh80JSfcLAPxmpdnid1eqP/ABoJPXdMv3g1U5x4Zh6dlff7P3UCEqGVQFSIuBFzM05YIBOZYgQBby5kkEcWeK37ZUF7yEzmS4C7mLN26SMyMxAYJY5QZZGYBp1u7fHiBDI40PgZW111lsp+QNS/9XsXFOcrJ0yXeVTrOzgKT89q11X/ADKzDh7B2exD3LK3HCjNmnxAwHZRIYCDprIB8wCIqbkgRylmOsnSNTt8KRQoTkylYHKIKqP3QvSa6VdAdAAAZWZ84iJj0rzt5s2jpxLFdIjUQZPx8tvvqLi+GJcPMMj9GUjMd99IYabMD12qQpbQgltD5DqOldBBMDoDLTLCZrJUYvjXZNG1v2kbT/dtyCB1zRzAevMvmRtWXxX6OUP+1dgGNHXNMGRzKR8NNq9Ox/FFtuoy94YkREwNJLEgDWY32PrVI5BcsqC2CNVBkTO4AAC6bxuddOvKU3peWVdjvBb/ADL7nnXE+wht3h3TZxkDAOBmMHIwXYMQCkdebrWc7g23hzDSFIZSNd4ZSAVU5R5bDpXqPFeBC5icPiB4rT8w6FSGG3mCQfafSrDF4C3dEXERx+8oPynatx8a4pbsh+HtusHk44vfgLnuhcuVQrZTBUplzR4gDl8gsqIE10nGLzPPe3CdRKsTmg59ZafFbRvUp7Vsu0fZLDrh7j217pkUsMpIUkSArKTEHMRpHirAKAsk+bE6yekQBI1bqR9XTavfpa61Y3E889NwdMnrxzESWN1izBQTn0MFiMpGYD/cbUBSJaDLGmsNxK7bAyXnQqgGgblUDMqyR4VcyJiDqDpNRzALAZSYKwfrRlGqhYmVOmh1BrkrmELtBAiYnmJUySDOw89Pauts50iXY4neTRLr5lK/WbQoj5fVhzvl0mWPQ6x7uJZzmbKWO+fKG001gelNkZ2AhoIldAsaTI9BJJjeBERXHcltSjMYGuZh933Vb9yfQ0FH5/P5/CjLQwrynsFig/hQTSGgCgfn8/n8FC0iigFIpDRRE0AldCkIooBYrmloy0AUpXSkiloCVheLXbXgcgfZPMvyO3wirrC9sv2lufVD/wClj/6qzVAWhKN7hOO2bnhuAHyblPyMT8JrvF8ItXJzIJKxI5TEOu48hcePLNNefgVIwvELlvwO6+kyP6TI+6qSjS4vssDmNtlGc3ZFxQ4HeFCcg2EBMuoOjGpeIvXUuXWW27jIgtAMuUsM05paVJLCWjZN6pcL2uuDxqj+olD/AJH3CrTD9q7LeLMh9RI+az98VbM0R7XHryJ9JbzFbTO+mQyty7bjKM3M5W3lA01YyYEzbfaBMyo6sjtl03jM5trMgMJYEaqI6xUy3ftXlIBS4p3Eqw+I/GuBwi0CpCAFSpEaRlDAew5209aWhTJdFFFZNHC2VBkDKfNeU/NYNSLeLurtdufzEOP+YJ+RpqihKRLt8XuifA07mGVvnmI+6mb/ABq+dAq21n/pEFj7m4APu+NNUVlxTFIZS+BMpcBO5ILk+5UsTXX68nVgP4pX/wAgKcpQa80vCxfqzstVoRL6nZlPsQf7U5FMPZU7qp9wD/em/wBST7Cj2Ef2iub8H7M11uxi/wBInFWNxcOJyABmA0zM2g66gSD5a+1ZGy2YgHUakkAyNYEEbCR8IPSvV8b2cw90zct5jESXuTH9VQ37EYUmcrifK5c/yTX0dLbpwUTyzTlJs82R5MudTJIhYUgRJGwJ0gnxeVJEqeUAk/ZlTtAB0y7FtPvr0b/8Ew8AA3YHTMp+eZDMdJ2imG/R3h4AD3hE7MvXf6vnr8K6b0Y2swTalgHJkAnIADmAaBlHi000PlTD3Gkxpqds3nrsfOvQv/13Z0+lu6GRItmPmv5geVcn9HNv9ve/41d6GxlDQ34UUVwPQFH5/P5/+SihBRSdaKKFCiiiqQUiuRS0VCsKWkoowDfn/FFFFVECl/P+KKKhRKKKKpBaRtqKKhQjr1qZh+MXk8N148icw+TTRRVIWWH7X3R4lRvaVP8AkfdU+x2wtHxI6/Jh9xn7qWioKJ9njthtrqD0Y5D8mipqtOo1HpRRWmsGE8i0UUVk0FFFFAFFFFAFFFFAFFFFAFFFFAf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154" name="Picture 10" descr="http://uraniumworld.blogspot.com/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63" y="1628800"/>
            <a:ext cx="38100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540" y="2996952"/>
            <a:ext cx="472440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5311" y="5517232"/>
            <a:ext cx="287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Mining: In situ leaching (ISL)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86" y="5886564"/>
            <a:ext cx="3984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Inject a solution that oxidises, solubilises and binds the uranium, then it is pumped out </a:t>
            </a:r>
            <a:r>
              <a:rPr lang="en-GB" dirty="0" err="1"/>
              <a:t>e.g</a:t>
            </a:r>
            <a:r>
              <a:rPr lang="en-GB" dirty="0"/>
              <a:t> sulphuric acid leaching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411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393"/>
    </mc:Choice>
    <mc:Fallback xmlns="">
      <p:transition spd="slow" advTm="15739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Purification and concentration of U 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6347048" cy="566124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Dynamic treatment (High grade ore &gt; 0.10%) </a:t>
            </a:r>
          </a:p>
          <a:p>
            <a:r>
              <a:rPr lang="en-GB" dirty="0"/>
              <a:t>Crushed and ground mechanically</a:t>
            </a:r>
          </a:p>
          <a:p>
            <a:r>
              <a:rPr lang="en-GB" dirty="0"/>
              <a:t>Processed with chemical solutions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Acid heap leaching (low grade ore-the rest)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94994D36-5B35-4A44-A001-C0A633709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9041" y="1411404"/>
            <a:ext cx="2753783" cy="18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13">
            <a:extLst>
              <a:ext uri="{FF2B5EF4-FFF2-40B4-BE49-F238E27FC236}">
                <a16:creationId xmlns:a16="http://schemas.microsoft.com/office/drawing/2014/main" id="{7DD1C677-129C-4EDD-9601-8E4AE7ADA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264" y="3295334"/>
            <a:ext cx="31877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>
                <a:latin typeface="Times New Roman" pitchFamily="18" charset="0"/>
              </a:rPr>
              <a:t>Yellowcake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1FCC3-D7B2-4340-9214-BFD219687EAD}"/>
              </a:ext>
            </a:extLst>
          </p:cNvPr>
          <p:cNvSpPr txBox="1"/>
          <p:nvPr/>
        </p:nvSpPr>
        <p:spPr>
          <a:xfrm>
            <a:off x="7583264" y="3601479"/>
            <a:ext cx="510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~0.7 % </a:t>
            </a:r>
            <a:r>
              <a:rPr lang="en-GB" sz="1800" baseline="30000" dirty="0"/>
              <a:t>235</a:t>
            </a:r>
            <a:r>
              <a:rPr lang="en-GB" sz="1800" dirty="0"/>
              <a:t>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A05A5-75AA-05AF-D03C-98CA973E2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31" y="2733131"/>
            <a:ext cx="5425910" cy="38331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F591D3-94DD-C4A4-59A5-416835D55F4E}"/>
              </a:ext>
            </a:extLst>
          </p:cNvPr>
          <p:cNvSpPr txBox="1"/>
          <p:nvPr/>
        </p:nvSpPr>
        <p:spPr>
          <a:xfrm>
            <a:off x="5831541" y="4388551"/>
            <a:ext cx="33701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</a:t>
            </a:r>
            <a:r>
              <a:rPr lang="en-GB" b="1" dirty="0"/>
              <a:t>olid, concentrated uranium is obtained</a:t>
            </a:r>
            <a:r>
              <a:rPr lang="en-GB" dirty="0"/>
              <a:t> called "</a:t>
            </a:r>
            <a:r>
              <a:rPr lang="en-GB" b="1" dirty="0">
                <a:highlight>
                  <a:srgbClr val="FFFF00"/>
                </a:highlight>
              </a:rPr>
              <a:t>yellow cake</a:t>
            </a:r>
            <a:r>
              <a:rPr lang="en-GB" dirty="0"/>
              <a:t>" containing around 75% uranium, or 750 kilograms per metric ton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88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379"/>
    </mc:Choice>
    <mc:Fallback xmlns="">
      <p:transition spd="slow" advTm="10637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11560" y="26369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GB" baseline="30000" dirty="0"/>
              <a:t>235</a:t>
            </a:r>
            <a:r>
              <a:rPr lang="en-GB" dirty="0"/>
              <a:t>U</a:t>
            </a:r>
            <a:br>
              <a:rPr lang="en-GB" dirty="0"/>
            </a:br>
            <a:br>
              <a:rPr lang="en-GB" dirty="0"/>
            </a:br>
            <a:r>
              <a:rPr lang="en-GB" dirty="0"/>
              <a:t>Natural uranium </a:t>
            </a:r>
            <a:br>
              <a:rPr lang="en-GB" dirty="0"/>
            </a:br>
            <a:r>
              <a:rPr lang="en-GB" dirty="0"/>
              <a:t>0.7 % </a:t>
            </a:r>
            <a:r>
              <a:rPr lang="en-GB" baseline="30000" dirty="0"/>
              <a:t>235</a:t>
            </a:r>
            <a:r>
              <a:rPr lang="en-GB" dirty="0"/>
              <a:t>U ; &gt;99% </a:t>
            </a:r>
            <a:r>
              <a:rPr lang="en-GB" baseline="30000" dirty="0"/>
              <a:t>238</a:t>
            </a:r>
            <a:r>
              <a:rPr lang="en-GB" dirty="0"/>
              <a:t>U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Pressurised Water Reactor - 3% </a:t>
            </a:r>
            <a:r>
              <a:rPr lang="en-GB" baseline="30000" dirty="0"/>
              <a:t>235</a:t>
            </a:r>
            <a:r>
              <a:rPr lang="en-GB" dirty="0"/>
              <a:t>U</a:t>
            </a:r>
            <a:br>
              <a:rPr lang="en-GB" dirty="0"/>
            </a:br>
            <a:endParaRPr lang="en-GB" dirty="0"/>
          </a:p>
        </p:txBody>
      </p:sp>
      <p:sp>
        <p:nvSpPr>
          <p:cNvPr id="4" name="Down Arrow 3"/>
          <p:cNvSpPr/>
          <p:nvPr/>
        </p:nvSpPr>
        <p:spPr>
          <a:xfrm>
            <a:off x="4283968" y="3429000"/>
            <a:ext cx="504056" cy="15121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860032" y="3667671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/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181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147"/>
    </mc:Choice>
    <mc:Fallback xmlns="">
      <p:transition spd="slow" advTm="6314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72" y="116632"/>
            <a:ext cx="8229600" cy="1143000"/>
          </a:xfrm>
        </p:spPr>
        <p:txBody>
          <a:bodyPr/>
          <a:lstStyle/>
          <a:p>
            <a:r>
              <a:rPr lang="en-GB" dirty="0"/>
              <a:t>Uranium Enrichment / Fuel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4402832" cy="5544496"/>
          </a:xfrm>
        </p:spPr>
        <p:txBody>
          <a:bodyPr>
            <a:noAutofit/>
          </a:bodyPr>
          <a:lstStyle/>
          <a:p>
            <a:r>
              <a:rPr lang="en-GB" sz="2400" dirty="0"/>
              <a:t>Enrichment</a:t>
            </a:r>
          </a:p>
          <a:p>
            <a:pPr lvl="1"/>
            <a:r>
              <a:rPr lang="en-GB" sz="2000" b="1" dirty="0"/>
              <a:t>UF</a:t>
            </a:r>
            <a:r>
              <a:rPr lang="en-GB" sz="2000" b="1" baseline="-25000" dirty="0"/>
              <a:t>6 </a:t>
            </a:r>
            <a:r>
              <a:rPr lang="en-GB" sz="2000" b="1" dirty="0"/>
              <a:t>formation </a:t>
            </a:r>
            <a:r>
              <a:rPr lang="en-GB" sz="2000" dirty="0"/>
              <a:t>= energy intensive</a:t>
            </a:r>
          </a:p>
          <a:p>
            <a:pPr lvl="1"/>
            <a:r>
              <a:rPr lang="en-GB" sz="2000" b="1" dirty="0"/>
              <a:t>Gas diffusion </a:t>
            </a:r>
            <a:r>
              <a:rPr lang="en-GB" sz="2000" dirty="0"/>
              <a:t>to increase </a:t>
            </a:r>
            <a:r>
              <a:rPr lang="en-GB" sz="2000" baseline="30000" dirty="0"/>
              <a:t>235</a:t>
            </a:r>
            <a:r>
              <a:rPr lang="en-GB" sz="2000" dirty="0"/>
              <a:t>U concentration as isotopes have different weights</a:t>
            </a:r>
          </a:p>
          <a:p>
            <a:r>
              <a:rPr lang="en-GB" sz="2400" dirty="0"/>
              <a:t>After gas diffusion, form (in PWR) fuel pellet (uranium dioxide ceramic), fuel rod and fuel assembly </a:t>
            </a:r>
          </a:p>
          <a:p>
            <a:r>
              <a:rPr lang="en-GB" sz="2400" dirty="0"/>
              <a:t>2 – 4 % </a:t>
            </a:r>
            <a:r>
              <a:rPr lang="en-GB" sz="2400" baseline="30000" dirty="0"/>
              <a:t>235</a:t>
            </a:r>
            <a:r>
              <a:rPr lang="en-GB" sz="2400" dirty="0"/>
              <a:t>UO</a:t>
            </a:r>
            <a:r>
              <a:rPr lang="en-GB" sz="2400" baseline="-25000" dirty="0"/>
              <a:t>2</a:t>
            </a:r>
          </a:p>
        </p:txBody>
      </p:sp>
      <p:pic>
        <p:nvPicPr>
          <p:cNvPr id="6" name="Picture 2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44740" y="1050671"/>
            <a:ext cx="2514600" cy="182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 descr="pellet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8131" y="2207984"/>
            <a:ext cx="1374545" cy="10800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6238763" y="6501334"/>
            <a:ext cx="269211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rgbClr val="000000"/>
                </a:solidFill>
                <a:cs typeface="Arial" pitchFamily="34" charset="0"/>
              </a:rPr>
              <a:t>http://www.klimaatkeuze.nl/wise/monitor/439-440/paitz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24026" y="4519108"/>
            <a:ext cx="4860342" cy="2115056"/>
            <a:chOff x="-390496" y="2207967"/>
            <a:chExt cx="9246728" cy="4262256"/>
          </a:xfrm>
        </p:grpSpPr>
        <p:pic>
          <p:nvPicPr>
            <p:cNvPr id="11" name="Picture 2" descr="Gaseous Diffusion Stag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1221" y="2207967"/>
              <a:ext cx="6209091" cy="3168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-390496" y="3348722"/>
              <a:ext cx="114646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4400" b="1" dirty="0">
                  <a:solidFill>
                    <a:srgbClr val="FF0000"/>
                  </a:solidFill>
                  <a:cs typeface="Arial" pitchFamily="34" charset="0"/>
                </a:rPr>
                <a:t>UF</a:t>
              </a:r>
              <a:r>
                <a:rPr lang="en-GB" sz="4400" b="1" baseline="-25000" dirty="0">
                  <a:solidFill>
                    <a:srgbClr val="FF0000"/>
                  </a:solidFill>
                  <a:cs typeface="Arial" pitchFamily="34" charset="0"/>
                </a:rPr>
                <a:t>6</a:t>
              </a:r>
              <a:endParaRPr lang="en-GB" sz="4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94703" y="5539877"/>
              <a:ext cx="1748081" cy="9303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135</a:t>
              </a:r>
              <a:r>
                <a:rPr lang="en-GB" sz="2400" baseline="30000" dirty="0">
                  <a:solidFill>
                    <a:srgbClr val="FF0000"/>
                  </a:solidFill>
                  <a:cs typeface="Arial" pitchFamily="34" charset="0"/>
                </a:rPr>
                <a:t>0</a:t>
              </a: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92352" y="2852936"/>
              <a:ext cx="227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baseline="30000" dirty="0">
                  <a:solidFill>
                    <a:srgbClr val="000000"/>
                  </a:solidFill>
                  <a:cs typeface="Arial" pitchFamily="34" charset="0"/>
                </a:rPr>
                <a:t> </a:t>
              </a:r>
              <a:endParaRPr lang="en-GB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08660" y="3699404"/>
              <a:ext cx="1409360" cy="769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4400" b="1" dirty="0">
                  <a:solidFill>
                    <a:srgbClr val="FF0000"/>
                  </a:solidFill>
                  <a:cs typeface="Arial" pitchFamily="34" charset="0"/>
                </a:rPr>
                <a:t>-U</a:t>
              </a:r>
              <a:r>
                <a:rPr lang="en-GB" sz="4400" b="1" baseline="30000" dirty="0">
                  <a:solidFill>
                    <a:srgbClr val="FF0000"/>
                  </a:solidFill>
                  <a:cs typeface="Arial" pitchFamily="34" charset="0"/>
                </a:rPr>
                <a:t>235</a:t>
              </a:r>
              <a:endParaRPr lang="en-GB" sz="4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65633" y="2474511"/>
              <a:ext cx="2090599" cy="9130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4400" b="1" dirty="0">
                  <a:solidFill>
                    <a:srgbClr val="FF0000"/>
                  </a:solidFill>
                  <a:cs typeface="Arial" pitchFamily="34" charset="0"/>
                </a:rPr>
                <a:t>  +U</a:t>
              </a:r>
              <a:r>
                <a:rPr lang="en-GB" sz="4400" b="1" baseline="30000" dirty="0">
                  <a:solidFill>
                    <a:srgbClr val="FF0000"/>
                  </a:solidFill>
                  <a:cs typeface="Arial" pitchFamily="34" charset="0"/>
                </a:rPr>
                <a:t>235</a:t>
              </a:r>
              <a:endParaRPr lang="en-GB" sz="4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1520" y="5004465"/>
              <a:ext cx="206942" cy="693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32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337" y="6251143"/>
            <a:ext cx="5940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FF0000"/>
                </a:solidFill>
                <a:cs typeface="Arial" pitchFamily="34" charset="0"/>
              </a:rPr>
              <a:t>Waste  U</a:t>
            </a:r>
            <a:r>
              <a:rPr lang="en-GB" sz="2400" b="1" baseline="30000" dirty="0">
                <a:solidFill>
                  <a:srgbClr val="FF0000"/>
                </a:solidFill>
                <a:cs typeface="Arial" pitchFamily="34" charset="0"/>
              </a:rPr>
              <a:t>238</a:t>
            </a:r>
            <a:r>
              <a:rPr lang="en-GB" sz="2400" b="1" dirty="0">
                <a:solidFill>
                  <a:srgbClr val="FF0000"/>
                </a:solidFill>
                <a:cs typeface="Arial" pitchFamily="34" charset="0"/>
              </a:rPr>
              <a:t>rich = depleted uranium</a:t>
            </a:r>
            <a:endParaRPr lang="en-GB" sz="2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0" name="Right Arrow 19"/>
          <p:cNvSpPr/>
          <p:nvPr/>
        </p:nvSpPr>
        <p:spPr>
          <a:xfrm rot="17512751">
            <a:off x="6802479" y="3329784"/>
            <a:ext cx="1730106" cy="10181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441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780"/>
    </mc:Choice>
    <mc:Fallback xmlns="">
      <p:transition spd="slow" advTm="18778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718276" y="116632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2400" b="1" dirty="0">
                <a:latin typeface="Tahoma" pitchFamily="34" charset="0"/>
              </a:rPr>
              <a:t>Nuclear reactor  1 x </a:t>
            </a:r>
            <a:r>
              <a:rPr lang="en-GB" sz="2400" b="1" baseline="30000" dirty="0">
                <a:latin typeface="Tahoma" pitchFamily="34" charset="0"/>
              </a:rPr>
              <a:t>1</a:t>
            </a:r>
            <a:r>
              <a:rPr lang="en-GB" sz="2400" b="1" baseline="-25000" dirty="0">
                <a:latin typeface="Tahoma" pitchFamily="34" charset="0"/>
              </a:rPr>
              <a:t>0</a:t>
            </a:r>
            <a:r>
              <a:rPr lang="en-GB" sz="2400" b="1" dirty="0">
                <a:latin typeface="Tahoma" pitchFamily="34" charset="0"/>
              </a:rPr>
              <a:t>n – </a:t>
            </a:r>
            <a:r>
              <a:rPr lang="en-GB" sz="2400" b="1" u="sng" dirty="0">
                <a:latin typeface="Tahoma" pitchFamily="34" charset="0"/>
              </a:rPr>
              <a:t>controlled</a:t>
            </a:r>
            <a:r>
              <a:rPr lang="en-GB" sz="2400" b="1" dirty="0">
                <a:latin typeface="Tahoma" pitchFamily="34" charset="0"/>
              </a:rPr>
              <a:t> fission</a:t>
            </a:r>
            <a:endParaRPr lang="en-US" sz="2400" b="1" dirty="0">
              <a:latin typeface="Tahoma" pitchFamily="34" charset="0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497614" y="2313190"/>
            <a:ext cx="83978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GB" sz="3200" baseline="30000" dirty="0">
              <a:solidFill>
                <a:srgbClr val="145230"/>
              </a:solidFill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GB" sz="3200" baseline="30000" dirty="0">
              <a:solidFill>
                <a:srgbClr val="145230"/>
              </a:solidFill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GB" sz="3200" baseline="30000" dirty="0">
              <a:solidFill>
                <a:srgbClr val="145230"/>
              </a:solidFill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</a:pPr>
            <a:endParaRPr lang="en-GB" sz="3200" baseline="30000" dirty="0">
              <a:solidFill>
                <a:srgbClr val="145230"/>
              </a:solidFill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GB" sz="3200" baseline="30000" dirty="0">
                <a:solidFill>
                  <a:srgbClr val="145230"/>
                </a:solidFill>
                <a:latin typeface="Tahoma" pitchFamily="34" charset="0"/>
              </a:rPr>
              <a:t>235</a:t>
            </a:r>
            <a:r>
              <a:rPr lang="en-GB" sz="3200" dirty="0">
                <a:solidFill>
                  <a:srgbClr val="145230"/>
                </a:solidFill>
                <a:latin typeface="Tahoma" pitchFamily="34" charset="0"/>
              </a:rPr>
              <a:t>U + </a:t>
            </a:r>
            <a:r>
              <a:rPr lang="en-GB" sz="3200" baseline="30000" dirty="0">
                <a:solidFill>
                  <a:srgbClr val="145230"/>
                </a:solidFill>
                <a:latin typeface="Tahoma" pitchFamily="34" charset="0"/>
              </a:rPr>
              <a:t>1</a:t>
            </a:r>
            <a:r>
              <a:rPr lang="en-GB" sz="3200" baseline="-25000" dirty="0">
                <a:solidFill>
                  <a:srgbClr val="145230"/>
                </a:solidFill>
                <a:latin typeface="Tahoma" pitchFamily="34" charset="0"/>
              </a:rPr>
              <a:t>0</a:t>
            </a:r>
            <a:r>
              <a:rPr lang="en-GB" sz="3200" dirty="0">
                <a:solidFill>
                  <a:srgbClr val="145230"/>
                </a:solidFill>
                <a:latin typeface="Tahoma" pitchFamily="34" charset="0"/>
              </a:rPr>
              <a:t>n  </a:t>
            </a:r>
            <a:r>
              <a:rPr lang="en-GB" sz="3200" dirty="0">
                <a:solidFill>
                  <a:srgbClr val="145230"/>
                </a:solidFill>
                <a:latin typeface="Tahoma" pitchFamily="34" charset="0"/>
                <a:sym typeface="Wingdings" pitchFamily="2" charset="2"/>
              </a:rPr>
              <a:t>  2 x F.P.  +  ~ 3 </a:t>
            </a:r>
            <a:r>
              <a:rPr lang="en-GB" sz="3200" baseline="30000" dirty="0">
                <a:solidFill>
                  <a:srgbClr val="145230"/>
                </a:solidFill>
                <a:latin typeface="Tahoma" pitchFamily="34" charset="0"/>
              </a:rPr>
              <a:t>1</a:t>
            </a:r>
            <a:r>
              <a:rPr lang="en-GB" sz="3200" baseline="-25000" dirty="0">
                <a:solidFill>
                  <a:srgbClr val="145230"/>
                </a:solidFill>
                <a:latin typeface="Tahoma" pitchFamily="34" charset="0"/>
              </a:rPr>
              <a:t>0</a:t>
            </a:r>
            <a:r>
              <a:rPr lang="en-GB" sz="3200" dirty="0">
                <a:solidFill>
                  <a:srgbClr val="145230"/>
                </a:solidFill>
                <a:latin typeface="Tahoma" pitchFamily="34" charset="0"/>
              </a:rPr>
              <a:t>n  + energy</a:t>
            </a:r>
            <a:endParaRPr lang="en-US" sz="3200" dirty="0">
              <a:solidFill>
                <a:srgbClr val="145230"/>
              </a:solidFill>
              <a:latin typeface="Tahoma" pitchFamily="34" charset="0"/>
            </a:endParaRPr>
          </a:p>
        </p:txBody>
      </p:sp>
      <p:sp>
        <p:nvSpPr>
          <p:cNvPr id="4" name="Line 13"/>
          <p:cNvSpPr>
            <a:spLocks noChangeShapeType="1"/>
          </p:cNvSpPr>
          <p:nvPr/>
        </p:nvSpPr>
        <p:spPr bwMode="auto">
          <a:xfrm flipV="1">
            <a:off x="6374539" y="2533852"/>
            <a:ext cx="1943100" cy="1368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7174639" y="2849765"/>
            <a:ext cx="14398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3600" dirty="0">
                <a:latin typeface="Tahoma" pitchFamily="34" charset="0"/>
              </a:rPr>
              <a:t>X</a:t>
            </a:r>
            <a:endParaRPr lang="en-US" sz="3600" dirty="0">
              <a:latin typeface="Tahoma" pitchFamily="34" charset="0"/>
            </a:endParaRP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738257" y="2089792"/>
            <a:ext cx="3211512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2 neutrons lost by escape / absorbed by control rods </a:t>
            </a:r>
          </a:p>
          <a:p>
            <a:pPr>
              <a:spcBef>
                <a:spcPct val="50000"/>
              </a:spcBef>
            </a:pPr>
            <a:endParaRPr lang="en-US" dirty="0"/>
          </a:p>
        </p:txBody>
      </p:sp>
      <p:sp>
        <p:nvSpPr>
          <p:cNvPr id="7" name="Oval 17"/>
          <p:cNvSpPr>
            <a:spLocks noChangeArrowheads="1"/>
          </p:cNvSpPr>
          <p:nvPr/>
        </p:nvSpPr>
        <p:spPr bwMode="auto">
          <a:xfrm>
            <a:off x="1554889" y="3714952"/>
            <a:ext cx="1223963" cy="100806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2631115" y="3142956"/>
            <a:ext cx="262731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Slow neutron induces nuclear fission (8x speed of sound)</a:t>
            </a:r>
            <a:endParaRPr lang="en-US" dirty="0"/>
          </a:p>
        </p:txBody>
      </p:sp>
      <p:sp>
        <p:nvSpPr>
          <p:cNvPr id="9" name="Line 19"/>
          <p:cNvSpPr>
            <a:spLocks noChangeShapeType="1"/>
          </p:cNvSpPr>
          <p:nvPr/>
        </p:nvSpPr>
        <p:spPr bwMode="auto">
          <a:xfrm flipH="1">
            <a:off x="2415091" y="3430988"/>
            <a:ext cx="142875" cy="3587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7093677" y="4869065"/>
            <a:ext cx="14398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3600" dirty="0">
                <a:latin typeface="Tahoma" pitchFamily="34" charset="0"/>
              </a:rPr>
              <a:t>X</a:t>
            </a:r>
            <a:endParaRPr lang="en-US" sz="3600" dirty="0">
              <a:latin typeface="Tahoma" pitchFamily="34" charset="0"/>
            </a:endParaRP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6426927" y="4649990"/>
            <a:ext cx="1927225" cy="113665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" name="AutoShape 24"/>
          <p:cNvSpPr>
            <a:spLocks noChangeArrowheads="1"/>
          </p:cNvSpPr>
          <p:nvPr/>
        </p:nvSpPr>
        <p:spPr bwMode="auto">
          <a:xfrm rot="10800000">
            <a:off x="542882" y="4511108"/>
            <a:ext cx="5832648" cy="928688"/>
          </a:xfrm>
          <a:prstGeom prst="curvedDownArrow">
            <a:avLst>
              <a:gd name="adj1" fmla="val 86803"/>
              <a:gd name="adj2" fmla="val 173607"/>
              <a:gd name="adj3" fmla="val 3333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2367689" y="5783465"/>
            <a:ext cx="44735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1 neutron moderated and fissions with another </a:t>
            </a:r>
            <a:r>
              <a:rPr lang="en-GB" baseline="30000" dirty="0"/>
              <a:t>235</a:t>
            </a:r>
            <a:r>
              <a:rPr lang="en-GB" dirty="0"/>
              <a:t>U atom in the fuel</a:t>
            </a:r>
            <a:endParaRPr lang="en-US" dirty="0"/>
          </a:p>
        </p:txBody>
      </p:sp>
      <p:pic>
        <p:nvPicPr>
          <p:cNvPr id="16" name="Picture 29" descr="Drawing of how fission splits the uranium atom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2880" y="961520"/>
            <a:ext cx="3165023" cy="2256544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965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163"/>
    </mc:Choice>
    <mc:Fallback xmlns="">
      <p:transition spd="slow" advTm="1691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5450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Generic Pressurized Water Reactor (PWR) </a:t>
            </a:r>
            <a:br>
              <a:rPr lang="en-GB" dirty="0"/>
            </a:br>
            <a:endParaRPr lang="en-GB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C28D9-8B46-298F-CA0C-730E53ABE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31658"/>
            <a:ext cx="5256584" cy="472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5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38"/>
    </mc:Choice>
    <mc:Fallback xmlns="">
      <p:transition spd="slow" advTm="7013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PWR Operation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4114800" cy="4525963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Fission products “grown into” fuel,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have high fission reaction cross sections, fission becomes inefficient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2400" baseline="0" dirty="0"/>
              <a:t>2</a:t>
            </a:r>
            <a:r>
              <a:rPr lang="en-GB" sz="2400" dirty="0"/>
              <a:t> – 3 years spent nuclear fuel; radioactive waste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Spent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fuel = ~3% FPs; ~1%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96% 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235+238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2400" noProof="0" dirty="0"/>
              <a:t>Spent fuel radioactive for 10,000y+ </a:t>
            </a:r>
            <a:r>
              <a:rPr lang="en-GB" sz="2400" noProof="0" dirty="0">
                <a:sym typeface="Wingdings" pitchFamily="2" charset="2"/>
              </a:rPr>
              <a:t> radioactive waste or reprocessing (“recycle”) to manage the waste component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GB" sz="2400" noProof="0" dirty="0"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HLW MOVE SHIELDINGlow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81813" y="334193"/>
            <a:ext cx="1626691" cy="3598863"/>
          </a:xfrm>
          <a:prstGeom prst="rect">
            <a:avLst/>
          </a:prstGeom>
          <a:noFill/>
        </p:spPr>
      </p:pic>
      <p:pic>
        <p:nvPicPr>
          <p:cNvPr id="6" name="Picture 3" descr="fullsize_04_d_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2597" y="3933056"/>
            <a:ext cx="3315907" cy="2520000"/>
          </a:xfrm>
          <a:prstGeom prst="rect">
            <a:avLst/>
          </a:prstGeom>
          <a:noFill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23383" y="1700808"/>
            <a:ext cx="2928937" cy="219710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668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77"/>
    </mc:Choice>
    <mc:Fallback xmlns="">
      <p:transition spd="slow" advTm="7777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elmhurst.edu/~chm/CHM110/Labs/images/lab2b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339752"/>
            <a:ext cx="3960440" cy="257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How does it compare to fossil fuel?</a:t>
            </a:r>
            <a:endParaRPr lang="en-GB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57200" y="1196752"/>
            <a:ext cx="8291264" cy="547260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Chemical reaction ~4 eV per molecule e.g. combustion of fossil fuels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Nuclear reaction ~ 200,000,000 eV per molecule</a:t>
            </a:r>
          </a:p>
          <a:p>
            <a:r>
              <a:rPr lang="en-GB" dirty="0"/>
              <a:t>1 g </a:t>
            </a:r>
            <a:r>
              <a:rPr lang="en-GB" baseline="30000" dirty="0"/>
              <a:t>235</a:t>
            </a:r>
            <a:r>
              <a:rPr lang="en-GB" dirty="0"/>
              <a:t>U is equivalent to ~2.5 t carbon</a:t>
            </a:r>
          </a:p>
          <a:p>
            <a:r>
              <a:rPr lang="en-GB" dirty="0"/>
              <a:t>Nuclear = Carbon-free at the point of generation</a:t>
            </a:r>
          </a:p>
          <a:p>
            <a:endParaRPr lang="en-GB" dirty="0"/>
          </a:p>
          <a:p>
            <a:endParaRPr lang="en-GB" dirty="0"/>
          </a:p>
          <a:p>
            <a:endParaRPr lang="en-GB" baseline="30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839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47"/>
    </mc:Choice>
    <mc:Fallback xmlns="">
      <p:transition spd="slow" advTm="3184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Nuclear waste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9740" y="1600200"/>
            <a:ext cx="8229600" cy="4525963"/>
          </a:xfrm>
        </p:spPr>
        <p:txBody>
          <a:bodyPr/>
          <a:lstStyle/>
          <a:p>
            <a:r>
              <a:rPr lang="en-US" dirty="0"/>
              <a:t>What are alpha, beta and gamma radiation?</a:t>
            </a:r>
          </a:p>
          <a:p>
            <a:r>
              <a:rPr lang="en-US" dirty="0"/>
              <a:t>Where does the waste come from?</a:t>
            </a:r>
          </a:p>
          <a:p>
            <a:r>
              <a:rPr lang="en-US" dirty="0"/>
              <a:t>How do we classify it?</a:t>
            </a:r>
          </a:p>
          <a:p>
            <a:r>
              <a:rPr lang="en-US" dirty="0"/>
              <a:t>Legacy waste issues in the UK</a:t>
            </a:r>
          </a:p>
          <a:p>
            <a:r>
              <a:rPr lang="en-US" dirty="0"/>
              <a:t>How is the UK going to dispose of the legacy nuclear waste?</a:t>
            </a:r>
          </a:p>
        </p:txBody>
      </p:sp>
      <p:pic>
        <p:nvPicPr>
          <p:cNvPr id="6" name="Picture 5" descr="-6 sole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221" y="220838"/>
            <a:ext cx="1188579" cy="124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12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1"/>
    </mc:Choice>
    <mc:Fallback xmlns="">
      <p:transition spd="slow" advTm="4068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8" name="Picture 4" descr="The Nuclear Fuel Cyc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31251"/>
            <a:ext cx="7848872" cy="640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73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16"/>
    </mc:Choice>
    <mc:Fallback xmlns="">
      <p:transition spd="slow" advTm="4891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627313" y="981075"/>
            <a:ext cx="38528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GB" sz="3200" b="1" dirty="0"/>
              <a:t>Radioactivity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95288" y="1844675"/>
            <a:ext cx="8443912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Tx/>
              <a:buChar char="•"/>
            </a:pPr>
            <a:r>
              <a:rPr lang="en-GB" sz="2400" dirty="0">
                <a:latin typeface="Times New Roman" pitchFamily="18" charset="0"/>
              </a:rPr>
              <a:t> </a:t>
            </a:r>
            <a:r>
              <a:rPr lang="en-GB" sz="2400" dirty="0"/>
              <a:t>The ‘half life’ is the time it takes for any given radioisotope to decay to half of its original activity</a:t>
            </a:r>
          </a:p>
          <a:p>
            <a:pPr>
              <a:lnSpc>
                <a:spcPct val="115000"/>
              </a:lnSpc>
              <a:buFontTx/>
              <a:buChar char="•"/>
            </a:pPr>
            <a:r>
              <a:rPr lang="en-GB" sz="2400" dirty="0"/>
              <a:t> This varies between isotopes e.g. </a:t>
            </a:r>
            <a:r>
              <a:rPr lang="en-GB" sz="2400" baseline="30000" dirty="0"/>
              <a:t>99m</a:t>
            </a:r>
            <a:r>
              <a:rPr lang="en-GB" sz="2400" dirty="0"/>
              <a:t>Tc = minutes, </a:t>
            </a:r>
            <a:r>
              <a:rPr lang="en-GB" sz="2400" baseline="30000" dirty="0"/>
              <a:t>237</a:t>
            </a:r>
            <a:r>
              <a:rPr lang="en-GB" sz="2400" dirty="0"/>
              <a:t>Np = millions of years</a:t>
            </a:r>
          </a:p>
          <a:p>
            <a:pPr>
              <a:lnSpc>
                <a:spcPct val="115000"/>
              </a:lnSpc>
              <a:buFontTx/>
              <a:buChar char="•"/>
            </a:pPr>
            <a:endParaRPr lang="en-GB" sz="2400" dirty="0">
              <a:cs typeface="Times New Roman" pitchFamily="18" charset="0"/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2988" y="4443189"/>
            <a:ext cx="67595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4328" y="188640"/>
            <a:ext cx="1234286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061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18"/>
    </mc:Choice>
    <mc:Fallback xmlns="">
      <p:transition spd="slow" advTm="6271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250825" y="1038082"/>
            <a:ext cx="8459788" cy="5780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dirty="0"/>
              <a:t>Radioactivity was discovered in 1896 (Henri Becquerel)</a:t>
            </a:r>
          </a:p>
          <a:p>
            <a:pPr eaLnBrk="1" hangingPunct="1">
              <a:spcBef>
                <a:spcPct val="50000"/>
              </a:spcBef>
            </a:pPr>
            <a:r>
              <a:rPr lang="en-GB" sz="2400" b="1" dirty="0"/>
              <a:t>There are 3 types of emission from radioactive decay-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GB" sz="2400" b="1" dirty="0"/>
              <a:t>	</a:t>
            </a:r>
            <a:r>
              <a:rPr lang="en-GB" sz="2400" b="1" dirty="0">
                <a:solidFill>
                  <a:srgbClr val="FF0000"/>
                </a:solidFill>
              </a:rPr>
              <a:t>alpha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GB" sz="2400" b="1" dirty="0">
                <a:solidFill>
                  <a:srgbClr val="FF0000"/>
                </a:solidFill>
              </a:rPr>
              <a:t>	beta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GB" sz="2400" b="1" dirty="0">
                <a:solidFill>
                  <a:srgbClr val="FF0000"/>
                </a:solidFill>
              </a:rPr>
              <a:t>	gamma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endParaRPr lang="en-GB" sz="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GB" sz="2400" dirty="0"/>
              <a:t>Particle radiation from nuclear reactions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GB" sz="2400" dirty="0"/>
              <a:t>	-  neutrons (important)</a:t>
            </a: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en-GB" sz="2400" dirty="0"/>
              <a:t>	-  fission products (less so)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b="1" dirty="0"/>
              <a:t>Nuclear fission reaction discovered by Hahn and </a:t>
            </a:r>
            <a:r>
              <a:rPr lang="en-GB" sz="2000" b="1" dirty="0" err="1"/>
              <a:t>Strassmann</a:t>
            </a:r>
            <a:r>
              <a:rPr lang="en-GB" sz="2000" b="1" dirty="0"/>
              <a:t> in 1938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/>
              <a:t>A “fissile” isotope is one which will undergo a fission reaction itself 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/>
              <a:t>A “fertile” isotope is one which can be converted by neutron capture into a fissile one</a:t>
            </a:r>
            <a:endParaRPr lang="en-US" sz="2000" b="1" dirty="0"/>
          </a:p>
        </p:txBody>
      </p:sp>
      <p:pic>
        <p:nvPicPr>
          <p:cNvPr id="14848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2636838"/>
            <a:ext cx="2376487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4" name="Text Box 6"/>
          <p:cNvSpPr txBox="1">
            <a:spLocks noChangeArrowheads="1"/>
          </p:cNvSpPr>
          <p:nvPr/>
        </p:nvSpPr>
        <p:spPr bwMode="auto">
          <a:xfrm>
            <a:off x="2519363" y="371475"/>
            <a:ext cx="287178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sz="3400" b="1"/>
              <a:t>Radioactivity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2615367"/>
      </p:ext>
    </p:extLst>
  </p:cSld>
  <p:clrMapOvr>
    <a:masterClrMapping/>
  </p:clrMapOvr>
  <p:transition advTm="69862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3276600" y="404813"/>
            <a:ext cx="25923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000" b="1"/>
              <a:t>Alpha Decay</a:t>
            </a:r>
            <a:endParaRPr lang="en-US" sz="3000" b="1"/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539750" y="1531938"/>
            <a:ext cx="7920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/>
              <a:t>Alpha decay is characteristic of heavy nuclei (A &gt; 200)-</a:t>
            </a:r>
            <a:endParaRPr lang="en-US" sz="2400"/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611188" y="4005263"/>
            <a:ext cx="7921625" cy="205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dirty="0">
                <a:cs typeface="Arial" pitchFamily="34" charset="0"/>
              </a:rPr>
              <a:t>●</a:t>
            </a:r>
            <a:r>
              <a:rPr lang="en-GB" sz="2400" b="1" dirty="0"/>
              <a:t>Decay energies are typically 3.5-6 MeV</a:t>
            </a:r>
          </a:p>
          <a:p>
            <a:pPr eaLnBrk="1" hangingPunct="1">
              <a:spcBef>
                <a:spcPct val="50000"/>
              </a:spcBef>
            </a:pPr>
            <a:endParaRPr lang="en-GB" sz="1400" b="1" dirty="0">
              <a:cs typeface="Arial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GB" sz="2400" b="1" dirty="0">
                <a:cs typeface="Arial" pitchFamily="34" charset="0"/>
              </a:rPr>
              <a:t>●</a:t>
            </a:r>
            <a:r>
              <a:rPr lang="en-GB" sz="2400" b="1" dirty="0"/>
              <a:t>Alpha particles are heavy and highly charged so interact readily with matter and have only a short range (5 cm in air</a:t>
            </a:r>
            <a:r>
              <a:rPr lang="en-GB" sz="2400" dirty="0"/>
              <a:t>)</a:t>
            </a:r>
            <a:endParaRPr lang="en-US" sz="2400" dirty="0"/>
          </a:p>
        </p:txBody>
      </p:sp>
      <p:sp>
        <p:nvSpPr>
          <p:cNvPr id="149509" name="Line 5"/>
          <p:cNvSpPr>
            <a:spLocks noChangeShapeType="1"/>
          </p:cNvSpPr>
          <p:nvPr/>
        </p:nvSpPr>
        <p:spPr bwMode="auto">
          <a:xfrm>
            <a:off x="2987675" y="2636838"/>
            <a:ext cx="1223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49510" name="Group 6"/>
          <p:cNvGrpSpPr>
            <a:grpSpLocks/>
          </p:cNvGrpSpPr>
          <p:nvPr/>
        </p:nvGrpSpPr>
        <p:grpSpPr bwMode="auto">
          <a:xfrm>
            <a:off x="1979613" y="2276475"/>
            <a:ext cx="5329237" cy="687388"/>
            <a:chOff x="1247" y="1302"/>
            <a:chExt cx="3357" cy="433"/>
          </a:xfrm>
        </p:grpSpPr>
        <p:grpSp>
          <p:nvGrpSpPr>
            <p:cNvPr id="149513" name="Group 7"/>
            <p:cNvGrpSpPr>
              <a:grpSpLocks/>
            </p:cNvGrpSpPr>
            <p:nvPr/>
          </p:nvGrpSpPr>
          <p:grpSpPr bwMode="auto">
            <a:xfrm>
              <a:off x="1247" y="1302"/>
              <a:ext cx="3266" cy="404"/>
              <a:chOff x="1247" y="1302"/>
              <a:chExt cx="3266" cy="404"/>
            </a:xfrm>
          </p:grpSpPr>
          <p:sp>
            <p:nvSpPr>
              <p:cNvPr id="149517" name="Text Box 8"/>
              <p:cNvSpPr txBox="1">
                <a:spLocks noChangeArrowheads="1"/>
              </p:cNvSpPr>
              <p:nvPr/>
            </p:nvSpPr>
            <p:spPr bwMode="auto">
              <a:xfrm>
                <a:off x="1474" y="1302"/>
                <a:ext cx="3039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3600"/>
                  <a:t>U                Th  +   </a:t>
                </a:r>
                <a:r>
                  <a:rPr lang="en-GB" sz="3600">
                    <a:solidFill>
                      <a:srgbClr val="FF0000"/>
                    </a:solidFill>
                  </a:rPr>
                  <a:t> He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9518" name="Text Box 9"/>
              <p:cNvSpPr txBox="1">
                <a:spLocks noChangeArrowheads="1"/>
              </p:cNvSpPr>
              <p:nvPr/>
            </p:nvSpPr>
            <p:spPr bwMode="auto">
              <a:xfrm>
                <a:off x="1247" y="1313"/>
                <a:ext cx="331" cy="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1400" b="1"/>
                  <a:t>236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GB" sz="1400" b="1"/>
                  <a:t>  92</a:t>
                </a:r>
                <a:endParaRPr lang="en-US" sz="1400" b="1"/>
              </a:p>
            </p:txBody>
          </p:sp>
        </p:grpSp>
        <p:sp>
          <p:nvSpPr>
            <p:cNvPr id="149514" name="Text Box 10"/>
            <p:cNvSpPr txBox="1">
              <a:spLocks noChangeArrowheads="1"/>
            </p:cNvSpPr>
            <p:nvPr/>
          </p:nvSpPr>
          <p:spPr bwMode="auto">
            <a:xfrm>
              <a:off x="2744" y="1338"/>
              <a:ext cx="362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400" b="1"/>
                <a:t>232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GB" sz="1400" b="1"/>
                <a:t>  90</a:t>
              </a:r>
              <a:endParaRPr lang="en-US" sz="1400" b="1"/>
            </a:p>
          </p:txBody>
        </p:sp>
        <p:sp>
          <p:nvSpPr>
            <p:cNvPr id="149515" name="Text Box 11"/>
            <p:cNvSpPr txBox="1">
              <a:spLocks noChangeArrowheads="1"/>
            </p:cNvSpPr>
            <p:nvPr/>
          </p:nvSpPr>
          <p:spPr bwMode="auto">
            <a:xfrm>
              <a:off x="3849" y="1342"/>
              <a:ext cx="211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400" b="1">
                  <a:solidFill>
                    <a:srgbClr val="FF0000"/>
                  </a:solidFill>
                </a:rPr>
                <a:t>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GB" sz="1400" b="1">
                  <a:solidFill>
                    <a:srgbClr val="FF0000"/>
                  </a:solidFill>
                </a:rPr>
                <a:t>2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  <p:sp>
          <p:nvSpPr>
            <p:cNvPr id="149516" name="Text Box 12"/>
            <p:cNvSpPr txBox="1">
              <a:spLocks noChangeArrowheads="1"/>
            </p:cNvSpPr>
            <p:nvPr/>
          </p:nvSpPr>
          <p:spPr bwMode="auto">
            <a:xfrm>
              <a:off x="4292" y="1303"/>
              <a:ext cx="3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400" b="1">
                  <a:solidFill>
                    <a:srgbClr val="FF0000"/>
                  </a:solidFill>
                </a:rPr>
                <a:t>2+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</p:grpSp>
      <p:pic>
        <p:nvPicPr>
          <p:cNvPr id="149511" name="Picture 13" descr="Alphadecay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636838"/>
            <a:ext cx="20955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12" name="Text Box 14"/>
          <p:cNvSpPr txBox="1">
            <a:spLocks noChangeArrowheads="1"/>
          </p:cNvSpPr>
          <p:nvPr/>
        </p:nvSpPr>
        <p:spPr bwMode="auto">
          <a:xfrm>
            <a:off x="1166813" y="6205538"/>
            <a:ext cx="6577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sz="2000" b="1" dirty="0">
                <a:solidFill>
                  <a:srgbClr val="FF0000"/>
                </a:solidFill>
              </a:rPr>
              <a:t>Pu</a:t>
            </a:r>
            <a:r>
              <a:rPr lang="en-GB" sz="2000" b="1" baseline="30000" dirty="0">
                <a:solidFill>
                  <a:srgbClr val="FF0000"/>
                </a:solidFill>
              </a:rPr>
              <a:t>239</a:t>
            </a:r>
            <a:r>
              <a:rPr lang="en-GB" sz="2000" b="1" dirty="0">
                <a:solidFill>
                  <a:srgbClr val="FF0000"/>
                </a:solidFill>
              </a:rPr>
              <a:t>primary decay is via </a:t>
            </a:r>
            <a:r>
              <a:rPr lang="el-GR" sz="2000" b="1" dirty="0">
                <a:solidFill>
                  <a:srgbClr val="FF0000"/>
                </a:solidFill>
                <a:cs typeface="Arial" pitchFamily="34" charset="0"/>
              </a:rPr>
              <a:t>α</a:t>
            </a:r>
            <a:r>
              <a:rPr lang="en-GB" sz="2000" b="1" dirty="0">
                <a:solidFill>
                  <a:srgbClr val="FF0000"/>
                </a:solidFill>
                <a:cs typeface="Arial" pitchFamily="34" charset="0"/>
              </a:rPr>
              <a:t> –decay (half life 24,000yr)</a:t>
            </a:r>
            <a:endParaRPr lang="el-GR" sz="2000" b="1" dirty="0">
              <a:solidFill>
                <a:srgbClr val="FF0000"/>
              </a:solidFill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1005316"/>
      </p:ext>
    </p:extLst>
  </p:cSld>
  <p:clrMapOvr>
    <a:masterClrMapping/>
  </p:clrMapOvr>
  <p:transition advTm="117269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1619250" y="431800"/>
            <a:ext cx="48974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000" b="1"/>
              <a:t>Beta decay - negatron</a:t>
            </a:r>
            <a:r>
              <a:rPr lang="en-GB" sz="2000"/>
              <a:t> </a:t>
            </a:r>
            <a:endParaRPr lang="en-US" sz="2000"/>
          </a:p>
        </p:txBody>
      </p:sp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539750" y="1670050"/>
            <a:ext cx="79200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/>
              <a:t>This decay mode is characteristic of lighter, neutron-rich nuclei, high speed electron or positron </a:t>
            </a:r>
            <a:endParaRPr lang="en-US" sz="2400"/>
          </a:p>
        </p:txBody>
      </p:sp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323850" y="3644900"/>
            <a:ext cx="7993063" cy="242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sz="2400" dirty="0">
                <a:cs typeface="Arial" pitchFamily="34" charset="0"/>
              </a:rPr>
              <a:t>●</a:t>
            </a:r>
            <a:r>
              <a:rPr lang="en-GB" sz="2400" dirty="0">
                <a:cs typeface="Arial" pitchFamily="34" charset="0"/>
              </a:rPr>
              <a:t> </a:t>
            </a:r>
            <a:r>
              <a:rPr lang="el-GR" sz="2400" dirty="0">
                <a:cs typeface="Arial" pitchFamily="34" charset="0"/>
              </a:rPr>
              <a:t>β</a:t>
            </a:r>
            <a:r>
              <a:rPr lang="en-GB" sz="2400" dirty="0">
                <a:cs typeface="Arial" pitchFamily="34" charset="0"/>
              </a:rPr>
              <a:t> particles have a range of energies a few </a:t>
            </a:r>
            <a:r>
              <a:rPr lang="en-GB" sz="2400" dirty="0" err="1">
                <a:cs typeface="Arial" pitchFamily="34" charset="0"/>
              </a:rPr>
              <a:t>keV</a:t>
            </a:r>
            <a:r>
              <a:rPr lang="en-GB" sz="2400" dirty="0">
                <a:cs typeface="Arial" pitchFamily="34" charset="0"/>
              </a:rPr>
              <a:t> (</a:t>
            </a:r>
            <a:r>
              <a:rPr lang="en-GB" sz="2400" baseline="30000" dirty="0">
                <a:cs typeface="Arial" pitchFamily="34" charset="0"/>
              </a:rPr>
              <a:t>3</a:t>
            </a:r>
            <a:r>
              <a:rPr lang="en-GB" sz="2400" dirty="0">
                <a:cs typeface="Arial" pitchFamily="34" charset="0"/>
              </a:rPr>
              <a:t>H) up to 2-3 MeV (</a:t>
            </a:r>
            <a:r>
              <a:rPr lang="en-GB" sz="2400" baseline="30000" dirty="0">
                <a:cs typeface="Arial" pitchFamily="34" charset="0"/>
              </a:rPr>
              <a:t>90</a:t>
            </a:r>
            <a:r>
              <a:rPr lang="en-GB" sz="2400" dirty="0">
                <a:cs typeface="Arial" pitchFamily="34" charset="0"/>
              </a:rPr>
              <a:t>Y)</a:t>
            </a:r>
          </a:p>
          <a:p>
            <a:pPr eaLnBrk="1" hangingPunct="1">
              <a:spcBef>
                <a:spcPct val="50000"/>
              </a:spcBef>
            </a:pPr>
            <a:r>
              <a:rPr lang="el-GR" sz="2400" dirty="0">
                <a:cs typeface="Arial" pitchFamily="34" charset="0"/>
              </a:rPr>
              <a:t>●</a:t>
            </a:r>
            <a:r>
              <a:rPr lang="en-GB" sz="2400" dirty="0">
                <a:cs typeface="Arial" pitchFamily="34" charset="0"/>
              </a:rPr>
              <a:t> Low mass, medium energy. Less damaging but ~3m in air</a:t>
            </a:r>
          </a:p>
          <a:p>
            <a:pPr eaLnBrk="1" hangingPunct="1">
              <a:spcBef>
                <a:spcPct val="50000"/>
              </a:spcBef>
            </a:pPr>
            <a:r>
              <a:rPr lang="en-GB" sz="3000" b="1" dirty="0">
                <a:solidFill>
                  <a:srgbClr val="FF0000"/>
                </a:solidFill>
                <a:cs typeface="Arial" pitchFamily="34" charset="0"/>
              </a:rPr>
              <a:t>e.g. Tc</a:t>
            </a:r>
            <a:r>
              <a:rPr lang="en-GB" sz="3000" b="1" baseline="30000" dirty="0">
                <a:solidFill>
                  <a:srgbClr val="FF0000"/>
                </a:solidFill>
                <a:cs typeface="Arial" pitchFamily="34" charset="0"/>
              </a:rPr>
              <a:t>99 ,</a:t>
            </a:r>
            <a:r>
              <a:rPr lang="en-GB" sz="3000" b="1" dirty="0">
                <a:solidFill>
                  <a:srgbClr val="FF0000"/>
                </a:solidFill>
                <a:cs typeface="Arial" pitchFamily="34" charset="0"/>
              </a:rPr>
              <a:t> Cs</a:t>
            </a:r>
            <a:r>
              <a:rPr lang="en-GB" sz="3000" b="1" baseline="30000" dirty="0">
                <a:solidFill>
                  <a:srgbClr val="FF0000"/>
                </a:solidFill>
                <a:cs typeface="Arial" pitchFamily="34" charset="0"/>
              </a:rPr>
              <a:t>134</a:t>
            </a:r>
          </a:p>
        </p:txBody>
      </p:sp>
      <p:sp>
        <p:nvSpPr>
          <p:cNvPr id="150533" name="Line 7"/>
          <p:cNvSpPr>
            <a:spLocks noChangeShapeType="1"/>
          </p:cNvSpPr>
          <p:nvPr/>
        </p:nvSpPr>
        <p:spPr bwMode="auto">
          <a:xfrm>
            <a:off x="3059113" y="3141663"/>
            <a:ext cx="1223962" cy="0"/>
          </a:xfrm>
          <a:prstGeom prst="line">
            <a:avLst/>
          </a:prstGeom>
          <a:noFill/>
          <a:ln w="603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50534" name="Group 33"/>
          <p:cNvGrpSpPr>
            <a:grpSpLocks/>
          </p:cNvGrpSpPr>
          <p:nvPr/>
        </p:nvGrpSpPr>
        <p:grpSpPr bwMode="auto">
          <a:xfrm>
            <a:off x="1870075" y="2811463"/>
            <a:ext cx="4933950" cy="688975"/>
            <a:chOff x="1405" y="1288"/>
            <a:chExt cx="3108" cy="434"/>
          </a:xfrm>
        </p:grpSpPr>
        <p:grpSp>
          <p:nvGrpSpPr>
            <p:cNvPr id="150541" name="Group 31"/>
            <p:cNvGrpSpPr>
              <a:grpSpLocks/>
            </p:cNvGrpSpPr>
            <p:nvPr/>
          </p:nvGrpSpPr>
          <p:grpSpPr bwMode="auto">
            <a:xfrm>
              <a:off x="1405" y="1298"/>
              <a:ext cx="3108" cy="424"/>
              <a:chOff x="1405" y="1344"/>
              <a:chExt cx="3108" cy="424"/>
            </a:xfrm>
          </p:grpSpPr>
          <p:sp>
            <p:nvSpPr>
              <p:cNvPr id="150543" name="Text Box 5"/>
              <p:cNvSpPr txBox="1">
                <a:spLocks noChangeArrowheads="1"/>
              </p:cNvSpPr>
              <p:nvPr/>
            </p:nvSpPr>
            <p:spPr bwMode="auto">
              <a:xfrm>
                <a:off x="1474" y="1344"/>
                <a:ext cx="3039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3600"/>
                  <a:t>H                </a:t>
                </a:r>
                <a:r>
                  <a:rPr lang="en-GB" sz="3600">
                    <a:solidFill>
                      <a:srgbClr val="FF0000"/>
                    </a:solidFill>
                  </a:rPr>
                  <a:t>He  +    e</a:t>
                </a:r>
                <a:endParaRPr lang="en-US" sz="3600">
                  <a:solidFill>
                    <a:srgbClr val="FF0000"/>
                  </a:solidFill>
                </a:endParaRPr>
              </a:p>
            </p:txBody>
          </p:sp>
          <p:sp>
            <p:nvSpPr>
              <p:cNvPr id="150544" name="Text Box 6"/>
              <p:cNvSpPr txBox="1">
                <a:spLocks noChangeArrowheads="1"/>
              </p:cNvSpPr>
              <p:nvPr/>
            </p:nvSpPr>
            <p:spPr bwMode="auto">
              <a:xfrm>
                <a:off x="1405" y="1351"/>
                <a:ext cx="181" cy="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1400" b="1"/>
                  <a:t>3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GB" sz="1400" b="1"/>
                  <a:t>1</a:t>
                </a:r>
                <a:endParaRPr lang="en-US" sz="1400" b="1"/>
              </a:p>
            </p:txBody>
          </p:sp>
          <p:sp>
            <p:nvSpPr>
              <p:cNvPr id="150545" name="Text Box 8"/>
              <p:cNvSpPr txBox="1">
                <a:spLocks noChangeArrowheads="1"/>
              </p:cNvSpPr>
              <p:nvPr/>
            </p:nvSpPr>
            <p:spPr bwMode="auto">
              <a:xfrm>
                <a:off x="2902" y="1371"/>
                <a:ext cx="205" cy="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1400" b="1">
                    <a:solidFill>
                      <a:srgbClr val="FF0000"/>
                    </a:solidFill>
                  </a:rPr>
                  <a:t>3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GB" sz="1400" b="1">
                    <a:solidFill>
                      <a:srgbClr val="FF0000"/>
                    </a:solidFill>
                  </a:rPr>
                  <a:t>2</a:t>
                </a:r>
                <a:endParaRPr lang="en-US" sz="14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50546" name="Text Box 10"/>
              <p:cNvSpPr txBox="1">
                <a:spLocks noChangeArrowheads="1"/>
              </p:cNvSpPr>
              <p:nvPr/>
            </p:nvSpPr>
            <p:spPr bwMode="auto">
              <a:xfrm>
                <a:off x="3877" y="1375"/>
                <a:ext cx="273" cy="3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24" tIns="45712" rIns="91424" bIns="45712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1400" b="1"/>
                  <a:t> </a:t>
                </a:r>
                <a:r>
                  <a:rPr lang="en-GB" sz="1400" b="1">
                    <a:solidFill>
                      <a:srgbClr val="FF0000"/>
                    </a:solidFill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GB" sz="1400" b="1">
                    <a:solidFill>
                      <a:srgbClr val="FF0000"/>
                    </a:solidFill>
                  </a:rPr>
                  <a:t>-1</a:t>
                </a:r>
                <a:endParaRPr lang="en-US" sz="1400"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0542" name="Text Box 11"/>
            <p:cNvSpPr txBox="1">
              <a:spLocks noChangeArrowheads="1"/>
            </p:cNvSpPr>
            <p:nvPr/>
          </p:nvSpPr>
          <p:spPr bwMode="auto">
            <a:xfrm>
              <a:off x="4110" y="1288"/>
              <a:ext cx="3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400" b="1">
                  <a:solidFill>
                    <a:srgbClr val="FF0000"/>
                  </a:solidFill>
                </a:rPr>
                <a:t>-</a:t>
              </a:r>
              <a:endParaRPr lang="en-US" sz="14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50535" name="Group 32"/>
          <p:cNvGrpSpPr>
            <a:grpSpLocks/>
          </p:cNvGrpSpPr>
          <p:nvPr/>
        </p:nvGrpSpPr>
        <p:grpSpPr bwMode="auto">
          <a:xfrm>
            <a:off x="395288" y="3073400"/>
            <a:ext cx="6553200" cy="355600"/>
            <a:chOff x="204" y="1923"/>
            <a:chExt cx="4128" cy="224"/>
          </a:xfrm>
        </p:grpSpPr>
        <p:sp>
          <p:nvSpPr>
            <p:cNvPr id="150538" name="Text Box 13"/>
            <p:cNvSpPr txBox="1">
              <a:spLocks noChangeArrowheads="1"/>
            </p:cNvSpPr>
            <p:nvPr/>
          </p:nvSpPr>
          <p:spPr bwMode="auto">
            <a:xfrm>
              <a:off x="204" y="1974"/>
              <a:ext cx="412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b="1" baseline="30000"/>
            </a:p>
          </p:txBody>
        </p:sp>
        <p:sp>
          <p:nvSpPr>
            <p:cNvPr id="150539" name="Text Box 15"/>
            <p:cNvSpPr txBox="1">
              <a:spLocks noChangeArrowheads="1"/>
            </p:cNvSpPr>
            <p:nvPr/>
          </p:nvSpPr>
          <p:spPr bwMode="auto">
            <a:xfrm>
              <a:off x="2856" y="1933"/>
              <a:ext cx="3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sz="1400" b="1"/>
            </a:p>
          </p:txBody>
        </p:sp>
        <p:sp>
          <p:nvSpPr>
            <p:cNvPr id="150540" name="Text Box 16"/>
            <p:cNvSpPr txBox="1">
              <a:spLocks noChangeArrowheads="1"/>
            </p:cNvSpPr>
            <p:nvPr/>
          </p:nvSpPr>
          <p:spPr bwMode="auto">
            <a:xfrm>
              <a:off x="3166" y="1923"/>
              <a:ext cx="31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24" tIns="45712" rIns="91424" bIns="45712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GB" sz="1400" b="1"/>
            </a:p>
          </p:txBody>
        </p:sp>
      </p:grpSp>
      <p:sp>
        <p:nvSpPr>
          <p:cNvPr id="150536" name="Text Box 17"/>
          <p:cNvSpPr txBox="1">
            <a:spLocks noChangeArrowheads="1"/>
          </p:cNvSpPr>
          <p:nvPr/>
        </p:nvSpPr>
        <p:spPr bwMode="auto">
          <a:xfrm>
            <a:off x="611188" y="908050"/>
            <a:ext cx="7561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GB"/>
          </a:p>
        </p:txBody>
      </p:sp>
      <p:pic>
        <p:nvPicPr>
          <p:cNvPr id="150537" name="Picture 37" descr="double_beta_decay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4" t="8586" r="61555" b="12915"/>
          <a:stretch>
            <a:fillRect/>
          </a:stretch>
        </p:blipFill>
        <p:spPr bwMode="auto">
          <a:xfrm>
            <a:off x="7343775" y="0"/>
            <a:ext cx="1800225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1774644"/>
      </p:ext>
    </p:extLst>
  </p:cSld>
  <p:clrMapOvr>
    <a:masterClrMapping/>
  </p:clrMapOvr>
  <p:transition advTm="85926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3348038" y="333375"/>
            <a:ext cx="36004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sz="3000" b="1"/>
              <a:t>Gamma Emission</a:t>
            </a:r>
          </a:p>
        </p:txBody>
      </p:sp>
      <p:sp>
        <p:nvSpPr>
          <p:cNvPr id="151555" name="Text Box 17"/>
          <p:cNvSpPr txBox="1">
            <a:spLocks noChangeArrowheads="1"/>
          </p:cNvSpPr>
          <p:nvPr/>
        </p:nvSpPr>
        <p:spPr bwMode="auto">
          <a:xfrm>
            <a:off x="395288" y="1304925"/>
            <a:ext cx="82089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sz="2400">
                <a:cs typeface="Arial" pitchFamily="34" charset="0"/>
              </a:rPr>
              <a:t>α</a:t>
            </a:r>
            <a:r>
              <a:rPr lang="en-GB" sz="2400">
                <a:cs typeface="Arial" pitchFamily="34" charset="0"/>
              </a:rPr>
              <a:t>- </a:t>
            </a:r>
            <a:r>
              <a:rPr lang="en-GB" sz="2400"/>
              <a:t>or </a:t>
            </a:r>
            <a:r>
              <a:rPr lang="el-GR" sz="2400">
                <a:cs typeface="Arial" pitchFamily="34" charset="0"/>
              </a:rPr>
              <a:t>β</a:t>
            </a:r>
            <a:r>
              <a:rPr lang="en-GB" sz="2400">
                <a:cs typeface="Arial" pitchFamily="34" charset="0"/>
              </a:rPr>
              <a:t>-decay</a:t>
            </a:r>
            <a:r>
              <a:rPr lang="en-GB" sz="2400"/>
              <a:t> can proceed via an excited state of the product nucleus. The excited state de-excites by emission of a high energy photon, </a:t>
            </a:r>
            <a:r>
              <a:rPr lang="en-GB" sz="2400" b="1">
                <a:solidFill>
                  <a:srgbClr val="FF0000"/>
                </a:solidFill>
              </a:rPr>
              <a:t>a </a:t>
            </a:r>
            <a:r>
              <a:rPr lang="el-GR" sz="2400" b="1">
                <a:solidFill>
                  <a:srgbClr val="FF0000"/>
                </a:solidFill>
                <a:cs typeface="Arial" pitchFamily="34" charset="0"/>
              </a:rPr>
              <a:t>γ</a:t>
            </a:r>
            <a:r>
              <a:rPr lang="en-GB" sz="2400" b="1">
                <a:solidFill>
                  <a:srgbClr val="FF0000"/>
                </a:solidFill>
              </a:rPr>
              <a:t>–ray.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151556" name="Text Box 18"/>
          <p:cNvSpPr txBox="1">
            <a:spLocks noChangeArrowheads="1"/>
          </p:cNvSpPr>
          <p:nvPr/>
        </p:nvSpPr>
        <p:spPr bwMode="auto">
          <a:xfrm>
            <a:off x="3708400" y="3860800"/>
            <a:ext cx="5184775" cy="275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000" b="1"/>
              <a:t>The total decay energy is partitioned between the particle and the </a:t>
            </a:r>
            <a:r>
              <a:rPr lang="el-GR" sz="2000" b="1"/>
              <a:t>γ</a:t>
            </a:r>
            <a:r>
              <a:rPr lang="en-GB" sz="2000" b="1"/>
              <a:t>–ray.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b="1"/>
              <a:t>For some isotopes, like </a:t>
            </a:r>
            <a:r>
              <a:rPr lang="en-GB" sz="2000" b="1" baseline="30000"/>
              <a:t>60</a:t>
            </a:r>
            <a:r>
              <a:rPr lang="en-GB" sz="2000" b="1"/>
              <a:t>Co, all decays give rise to </a:t>
            </a:r>
            <a:r>
              <a:rPr lang="el-GR" sz="2000" b="1"/>
              <a:t>γ</a:t>
            </a:r>
            <a:r>
              <a:rPr lang="en-GB" sz="2000" b="1"/>
              <a:t>–emission; in some (</a:t>
            </a:r>
            <a:r>
              <a:rPr lang="en-GB" sz="2000" b="1" baseline="30000"/>
              <a:t>241</a:t>
            </a:r>
            <a:r>
              <a:rPr lang="en-GB" sz="2000" b="1"/>
              <a:t>Am, </a:t>
            </a:r>
            <a:r>
              <a:rPr lang="en-GB" sz="2000" b="1" baseline="30000"/>
              <a:t>137</a:t>
            </a:r>
            <a:r>
              <a:rPr lang="en-GB" sz="2000" b="1"/>
              <a:t>Cs) a proportion of decays do; in some (</a:t>
            </a:r>
            <a:r>
              <a:rPr lang="en-GB" sz="2000" b="1" baseline="30000"/>
              <a:t>3</a:t>
            </a:r>
            <a:r>
              <a:rPr lang="en-GB" sz="2000" b="1"/>
              <a:t>H, </a:t>
            </a:r>
            <a:r>
              <a:rPr lang="en-GB" sz="2000" b="1" baseline="30000"/>
              <a:t>14</a:t>
            </a:r>
            <a:r>
              <a:rPr lang="en-GB" sz="2000" b="1"/>
              <a:t>C), none do. </a:t>
            </a:r>
          </a:p>
          <a:p>
            <a:pPr eaLnBrk="1" hangingPunct="1">
              <a:spcBef>
                <a:spcPct val="50000"/>
              </a:spcBef>
            </a:pPr>
            <a:r>
              <a:rPr lang="en-GB" sz="3000" b="1">
                <a:solidFill>
                  <a:srgbClr val="FF0000"/>
                </a:solidFill>
              </a:rPr>
              <a:t>e.g.  Cs</a:t>
            </a:r>
            <a:r>
              <a:rPr lang="en-GB" sz="3000" b="1" baseline="30000">
                <a:solidFill>
                  <a:srgbClr val="FF0000"/>
                </a:solidFill>
              </a:rPr>
              <a:t>137 </a:t>
            </a:r>
            <a:endParaRPr lang="en-GB" sz="3000" b="1">
              <a:solidFill>
                <a:srgbClr val="FF0000"/>
              </a:solidFill>
            </a:endParaRPr>
          </a:p>
        </p:txBody>
      </p:sp>
      <p:sp>
        <p:nvSpPr>
          <p:cNvPr id="151557" name="Line 20"/>
          <p:cNvSpPr>
            <a:spLocks noChangeShapeType="1"/>
          </p:cNvSpPr>
          <p:nvPr/>
        </p:nvSpPr>
        <p:spPr bwMode="auto">
          <a:xfrm>
            <a:off x="1187450" y="2990850"/>
            <a:ext cx="50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58" name="Line 21"/>
          <p:cNvSpPr>
            <a:spLocks noChangeShapeType="1"/>
          </p:cNvSpPr>
          <p:nvPr/>
        </p:nvSpPr>
        <p:spPr bwMode="auto">
          <a:xfrm>
            <a:off x="2195513" y="3854450"/>
            <a:ext cx="50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59" name="Line 22"/>
          <p:cNvSpPr>
            <a:spLocks noChangeShapeType="1"/>
          </p:cNvSpPr>
          <p:nvPr/>
        </p:nvSpPr>
        <p:spPr bwMode="auto">
          <a:xfrm>
            <a:off x="2230438" y="4935538"/>
            <a:ext cx="50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60" name="Text Box 23"/>
          <p:cNvSpPr txBox="1">
            <a:spLocks noChangeArrowheads="1"/>
          </p:cNvSpPr>
          <p:nvPr/>
        </p:nvSpPr>
        <p:spPr bwMode="auto">
          <a:xfrm>
            <a:off x="323850" y="2630488"/>
            <a:ext cx="1006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aseline="30000"/>
              <a:t>60</a:t>
            </a:r>
            <a:r>
              <a:rPr lang="en-GB" sz="2400"/>
              <a:t>Co</a:t>
            </a:r>
            <a:endParaRPr lang="en-US" sz="2400"/>
          </a:p>
        </p:txBody>
      </p:sp>
      <p:sp>
        <p:nvSpPr>
          <p:cNvPr id="151561" name="Line 24"/>
          <p:cNvSpPr>
            <a:spLocks noChangeShapeType="1"/>
          </p:cNvSpPr>
          <p:nvPr/>
        </p:nvSpPr>
        <p:spPr bwMode="auto">
          <a:xfrm>
            <a:off x="1692275" y="2990850"/>
            <a:ext cx="503238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62" name="Line 25"/>
          <p:cNvSpPr>
            <a:spLocks noChangeShapeType="1"/>
          </p:cNvSpPr>
          <p:nvPr/>
        </p:nvSpPr>
        <p:spPr bwMode="auto">
          <a:xfrm>
            <a:off x="2484438" y="3927475"/>
            <a:ext cx="0" cy="9350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63" name="Text Box 26"/>
          <p:cNvSpPr txBox="1">
            <a:spLocks noChangeArrowheads="1"/>
          </p:cNvSpPr>
          <p:nvPr/>
        </p:nvSpPr>
        <p:spPr bwMode="auto">
          <a:xfrm>
            <a:off x="2700338" y="6157913"/>
            <a:ext cx="719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aseline="30000"/>
              <a:t>60</a:t>
            </a:r>
            <a:r>
              <a:rPr lang="en-GB" sz="2400"/>
              <a:t>Ni</a:t>
            </a:r>
            <a:endParaRPr lang="en-US" sz="2400"/>
          </a:p>
        </p:txBody>
      </p:sp>
      <p:sp>
        <p:nvSpPr>
          <p:cNvPr id="151564" name="Text Box 27"/>
          <p:cNvSpPr txBox="1">
            <a:spLocks noChangeArrowheads="1"/>
          </p:cNvSpPr>
          <p:nvPr/>
        </p:nvSpPr>
        <p:spPr bwMode="auto">
          <a:xfrm>
            <a:off x="1979613" y="3351213"/>
            <a:ext cx="6492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400"/>
              <a:t>100%</a:t>
            </a:r>
            <a:endParaRPr lang="en-US" sz="1400"/>
          </a:p>
        </p:txBody>
      </p:sp>
      <p:sp>
        <p:nvSpPr>
          <p:cNvPr id="151565" name="Text Box 28"/>
          <p:cNvSpPr txBox="1">
            <a:spLocks noChangeArrowheads="1"/>
          </p:cNvSpPr>
          <p:nvPr/>
        </p:nvSpPr>
        <p:spPr bwMode="auto">
          <a:xfrm>
            <a:off x="1476375" y="4214813"/>
            <a:ext cx="191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sz="2400">
                <a:solidFill>
                  <a:srgbClr val="FF0000"/>
                </a:solidFill>
              </a:rPr>
              <a:t>γ</a:t>
            </a:r>
            <a:r>
              <a:rPr lang="en-GB" sz="2400"/>
              <a:t> </a:t>
            </a:r>
            <a:r>
              <a:rPr lang="en-GB"/>
              <a:t>  1173 keV</a:t>
            </a:r>
            <a:endParaRPr lang="en-US"/>
          </a:p>
        </p:txBody>
      </p:sp>
      <p:sp>
        <p:nvSpPr>
          <p:cNvPr id="151566" name="Text Box 29"/>
          <p:cNvSpPr txBox="1">
            <a:spLocks noChangeArrowheads="1"/>
          </p:cNvSpPr>
          <p:nvPr/>
        </p:nvSpPr>
        <p:spPr bwMode="auto">
          <a:xfrm>
            <a:off x="1836738" y="3062288"/>
            <a:ext cx="172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sz="1400">
                <a:cs typeface="Arial" pitchFamily="34" charset="0"/>
              </a:rPr>
              <a:t>β</a:t>
            </a:r>
            <a:r>
              <a:rPr lang="en-GB" sz="1400" baseline="30000">
                <a:cs typeface="Arial" pitchFamily="34" charset="0"/>
              </a:rPr>
              <a:t>- </a:t>
            </a:r>
            <a:r>
              <a:rPr lang="en-GB" sz="1400">
                <a:cs typeface="Arial" pitchFamily="34" charset="0"/>
              </a:rPr>
              <a:t>(E</a:t>
            </a:r>
            <a:r>
              <a:rPr lang="en-GB" sz="1400" baseline="-25000">
                <a:cs typeface="Arial" pitchFamily="34" charset="0"/>
              </a:rPr>
              <a:t>max</a:t>
            </a:r>
            <a:r>
              <a:rPr lang="en-GB" sz="1400">
                <a:cs typeface="Arial" pitchFamily="34" charset="0"/>
              </a:rPr>
              <a:t> 310 keV)</a:t>
            </a:r>
            <a:endParaRPr lang="el-GR" sz="1400">
              <a:cs typeface="Arial" pitchFamily="34" charset="0"/>
            </a:endParaRPr>
          </a:p>
        </p:txBody>
      </p:sp>
      <p:sp>
        <p:nvSpPr>
          <p:cNvPr id="151567" name="Line 30"/>
          <p:cNvSpPr>
            <a:spLocks noChangeShapeType="1"/>
          </p:cNvSpPr>
          <p:nvPr/>
        </p:nvSpPr>
        <p:spPr bwMode="auto">
          <a:xfrm>
            <a:off x="2195513" y="6302375"/>
            <a:ext cx="50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68" name="Line 31"/>
          <p:cNvSpPr>
            <a:spLocks noChangeShapeType="1"/>
          </p:cNvSpPr>
          <p:nvPr/>
        </p:nvSpPr>
        <p:spPr bwMode="auto">
          <a:xfrm>
            <a:off x="2484438" y="5151438"/>
            <a:ext cx="0" cy="93503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1569" name="Text Box 32"/>
          <p:cNvSpPr txBox="1">
            <a:spLocks noChangeArrowheads="1"/>
          </p:cNvSpPr>
          <p:nvPr/>
        </p:nvSpPr>
        <p:spPr bwMode="auto">
          <a:xfrm>
            <a:off x="1476375" y="5421313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sz="2400">
                <a:solidFill>
                  <a:srgbClr val="FF0000"/>
                </a:solidFill>
              </a:rPr>
              <a:t>γ</a:t>
            </a:r>
            <a:r>
              <a:rPr lang="en-GB" sz="2400">
                <a:solidFill>
                  <a:srgbClr val="FF0000"/>
                </a:solidFill>
              </a:rPr>
              <a:t>  </a:t>
            </a:r>
            <a:r>
              <a:rPr lang="en-GB"/>
              <a:t> 1333 keV</a:t>
            </a:r>
            <a:endParaRPr lang="en-US"/>
          </a:p>
        </p:txBody>
      </p:sp>
      <p:pic>
        <p:nvPicPr>
          <p:cNvPr id="151570" name="Picture 35" descr="500px-Gamma_Deca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50" y="2133600"/>
            <a:ext cx="2520950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71" name="Text Box 36"/>
          <p:cNvSpPr txBox="1">
            <a:spLocks noChangeArrowheads="1"/>
          </p:cNvSpPr>
          <p:nvPr/>
        </p:nvSpPr>
        <p:spPr bwMode="auto">
          <a:xfrm>
            <a:off x="323850" y="3933825"/>
            <a:ext cx="11160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aseline="30000"/>
              <a:t>60</a:t>
            </a:r>
            <a:r>
              <a:rPr lang="en-GB" sz="2400"/>
              <a:t>Co decay</a:t>
            </a:r>
          </a:p>
        </p:txBody>
      </p:sp>
    </p:spTree>
    <p:extLst>
      <p:ext uri="{BB962C8B-B14F-4D97-AF65-F5344CB8AC3E}">
        <p14:creationId xmlns:p14="http://schemas.microsoft.com/office/powerpoint/2010/main" val="1960423768"/>
      </p:ext>
    </p:extLst>
  </p:cSld>
  <p:clrMapOvr>
    <a:masterClrMapping/>
  </p:clrMapOvr>
  <p:transition advTm="104358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GB"/>
              <a:t>Stopping radiation</a:t>
            </a:r>
          </a:p>
        </p:txBody>
      </p:sp>
      <p:pic>
        <p:nvPicPr>
          <p:cNvPr id="152579" name="Picture 3" descr="200px-Alfa_beta_gamma_radi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6563"/>
            <a:ext cx="2341563" cy="30908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6588125" y="1933575"/>
            <a:ext cx="24479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/>
              <a:t>Sheet of paper</a:t>
            </a:r>
          </a:p>
          <a:p>
            <a:pPr eaLnBrk="1" hangingPunct="1">
              <a:spcBef>
                <a:spcPct val="50000"/>
              </a:spcBef>
            </a:pPr>
            <a:endParaRPr lang="en-GB" sz="2400"/>
          </a:p>
          <a:p>
            <a:pPr eaLnBrk="1" hangingPunct="1">
              <a:spcBef>
                <a:spcPct val="50000"/>
              </a:spcBef>
            </a:pPr>
            <a:r>
              <a:rPr lang="en-GB" sz="2400"/>
              <a:t>Aluminium sheet</a:t>
            </a:r>
          </a:p>
          <a:p>
            <a:pPr eaLnBrk="1" hangingPunct="1">
              <a:spcBef>
                <a:spcPct val="50000"/>
              </a:spcBef>
            </a:pPr>
            <a:endParaRPr lang="en-GB" sz="2400"/>
          </a:p>
          <a:p>
            <a:pPr eaLnBrk="1" hangingPunct="1">
              <a:spcBef>
                <a:spcPct val="50000"/>
              </a:spcBef>
            </a:pPr>
            <a:r>
              <a:rPr lang="en-GB" sz="2400"/>
              <a:t>Lead blocks</a:t>
            </a: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-4632325" y="325278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endParaRPr lang="en-GB"/>
          </a:p>
        </p:txBody>
      </p:sp>
      <p:pic>
        <p:nvPicPr>
          <p:cNvPr id="152582" name="Picture 7" descr="Simulation shows how defect-engineered zirconia repairs radiation-induced da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07" r="9525"/>
          <a:stretch>
            <a:fillRect/>
          </a:stretch>
        </p:blipFill>
        <p:spPr bwMode="auto">
          <a:xfrm>
            <a:off x="107950" y="2197100"/>
            <a:ext cx="4249738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3" name="Text Box 8"/>
          <p:cNvSpPr txBox="1">
            <a:spLocks noChangeArrowheads="1"/>
          </p:cNvSpPr>
          <p:nvPr/>
        </p:nvSpPr>
        <p:spPr bwMode="auto">
          <a:xfrm>
            <a:off x="468313" y="1341438"/>
            <a:ext cx="31115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sz="2400" b="1"/>
              <a:t>Modelled molecular </a:t>
            </a:r>
          </a:p>
          <a:p>
            <a:pPr eaLnBrk="1" hangingPunct="1"/>
            <a:r>
              <a:rPr lang="en-GB" sz="2400" b="1"/>
              <a:t>damage in Zircon</a:t>
            </a:r>
          </a:p>
        </p:txBody>
      </p:sp>
      <p:pic>
        <p:nvPicPr>
          <p:cNvPr id="152584" name="Picture 10" descr="Basal_cell_carcinoma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4941888"/>
            <a:ext cx="2159000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85" name="Text Box 13"/>
          <p:cNvSpPr txBox="1">
            <a:spLocks noChangeArrowheads="1"/>
          </p:cNvSpPr>
          <p:nvPr/>
        </p:nvSpPr>
        <p:spPr bwMode="auto">
          <a:xfrm>
            <a:off x="2484438" y="5537200"/>
            <a:ext cx="2762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b="1"/>
              <a:t>Damage haloes around </a:t>
            </a:r>
          </a:p>
          <a:p>
            <a:pPr eaLnBrk="1" hangingPunct="1"/>
            <a:r>
              <a:rPr lang="en-GB" b="1"/>
              <a:t>zircon in biotite</a:t>
            </a:r>
          </a:p>
        </p:txBody>
      </p:sp>
      <p:grpSp>
        <p:nvGrpSpPr>
          <p:cNvPr id="152586" name="Group 17"/>
          <p:cNvGrpSpPr>
            <a:grpSpLocks/>
          </p:cNvGrpSpPr>
          <p:nvPr/>
        </p:nvGrpSpPr>
        <p:grpSpPr bwMode="auto">
          <a:xfrm>
            <a:off x="539750" y="4868863"/>
            <a:ext cx="2398713" cy="1879600"/>
            <a:chOff x="340" y="3067"/>
            <a:chExt cx="1511" cy="1184"/>
          </a:xfrm>
        </p:grpSpPr>
        <p:pic>
          <p:nvPicPr>
            <p:cNvPr id="152588" name="Picture 12" descr="Z-TUN5B_biotite_before_analysi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70" t="44884" r="42975" b="6436"/>
            <a:stretch>
              <a:fillRect/>
            </a:stretch>
          </p:blipFill>
          <p:spPr bwMode="auto">
            <a:xfrm>
              <a:off x="340" y="3067"/>
              <a:ext cx="1179" cy="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2589" name="Group 16"/>
            <p:cNvGrpSpPr>
              <a:grpSpLocks/>
            </p:cNvGrpSpPr>
            <p:nvPr/>
          </p:nvGrpSpPr>
          <p:grpSpPr bwMode="auto">
            <a:xfrm>
              <a:off x="431" y="4020"/>
              <a:ext cx="1420" cy="231"/>
              <a:chOff x="431" y="4020"/>
              <a:chExt cx="1420" cy="231"/>
            </a:xfrm>
          </p:grpSpPr>
          <p:sp>
            <p:nvSpPr>
              <p:cNvPr id="152590" name="Line 14"/>
              <p:cNvSpPr>
                <a:spLocks noChangeShapeType="1"/>
              </p:cNvSpPr>
              <p:nvPr/>
            </p:nvSpPr>
            <p:spPr bwMode="auto">
              <a:xfrm>
                <a:off x="431" y="4156"/>
                <a:ext cx="862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2591" name="Text Box 15"/>
              <p:cNvSpPr txBox="1">
                <a:spLocks noChangeArrowheads="1"/>
              </p:cNvSpPr>
              <p:nvPr/>
            </p:nvSpPr>
            <p:spPr bwMode="auto">
              <a:xfrm>
                <a:off x="1292" y="4020"/>
                <a:ext cx="55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r>
                  <a:rPr lang="en-GB"/>
                  <a:t>200</a:t>
                </a:r>
                <a:r>
                  <a:rPr lang="el-GR">
                    <a:cs typeface="Arial" pitchFamily="34" charset="0"/>
                  </a:rPr>
                  <a:t>μ</a:t>
                </a:r>
                <a:r>
                  <a:rPr lang="en-GB">
                    <a:cs typeface="Arial" pitchFamily="34" charset="0"/>
                  </a:rPr>
                  <a:t>m</a:t>
                </a:r>
                <a:endParaRPr lang="el-GR">
                  <a:cs typeface="Arial" pitchFamily="34" charset="0"/>
                </a:endParaRPr>
              </a:p>
            </p:txBody>
          </p:sp>
        </p:grpSp>
      </p:grpSp>
      <p:sp>
        <p:nvSpPr>
          <p:cNvPr id="152587" name="Text Box 18"/>
          <p:cNvSpPr txBox="1">
            <a:spLocks noChangeArrowheads="1"/>
          </p:cNvSpPr>
          <p:nvPr/>
        </p:nvSpPr>
        <p:spPr bwMode="auto">
          <a:xfrm>
            <a:off x="2484438" y="3854450"/>
            <a:ext cx="1619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>
                <a:solidFill>
                  <a:srgbClr val="FF0000"/>
                </a:solidFill>
              </a:rPr>
              <a:t>amorphisation</a:t>
            </a:r>
          </a:p>
        </p:txBody>
      </p:sp>
    </p:spTree>
    <p:extLst>
      <p:ext uri="{BB962C8B-B14F-4D97-AF65-F5344CB8AC3E}">
        <p14:creationId xmlns:p14="http://schemas.microsoft.com/office/powerpoint/2010/main" val="1925005339"/>
      </p:ext>
    </p:extLst>
  </p:cSld>
  <p:clrMapOvr>
    <a:masterClrMapping/>
  </p:clrMapOvr>
  <p:transition advTm="74936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4076700"/>
            <a:ext cx="3656012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3" name="Text Box 5"/>
          <p:cNvSpPr txBox="1">
            <a:spLocks noChangeArrowheads="1"/>
          </p:cNvSpPr>
          <p:nvPr/>
        </p:nvSpPr>
        <p:spPr bwMode="auto">
          <a:xfrm>
            <a:off x="971550" y="404813"/>
            <a:ext cx="77755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3000"/>
              <a:t>Working With Radioactive Materials</a:t>
            </a:r>
          </a:p>
        </p:txBody>
      </p:sp>
      <p:pic>
        <p:nvPicPr>
          <p:cNvPr id="15360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484313"/>
            <a:ext cx="2871787" cy="289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05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149725"/>
            <a:ext cx="34671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06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773238"/>
            <a:ext cx="3309937" cy="238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565229"/>
      </p:ext>
    </p:extLst>
  </p:cSld>
  <p:clrMapOvr>
    <a:masterClrMapping/>
  </p:clrMapOvr>
  <p:transition advTm="39292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23528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000" dirty="0"/>
              <a:t>Where is radioactive waste from?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8973" t="5489"/>
          <a:stretch/>
        </p:blipFill>
        <p:spPr>
          <a:xfrm>
            <a:off x="2051720" y="833890"/>
            <a:ext cx="4231418" cy="5014116"/>
          </a:xfrm>
          <a:prstGeom prst="rect">
            <a:avLst/>
          </a:prstGeom>
          <a:noFill/>
          <a:ln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32"/>
          <a:stretch/>
        </p:blipFill>
        <p:spPr bwMode="auto">
          <a:xfrm>
            <a:off x="4924689" y="3953723"/>
            <a:ext cx="2006521" cy="1095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17" b="18774"/>
          <a:stretch/>
        </p:blipFill>
        <p:spPr bwMode="auto">
          <a:xfrm>
            <a:off x="6372200" y="836712"/>
            <a:ext cx="1999170" cy="104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250" y="3340948"/>
            <a:ext cx="1663700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599" y="1879936"/>
            <a:ext cx="1908811" cy="110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055" y="4689300"/>
            <a:ext cx="1884363" cy="111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307" r="53943" b="62946"/>
          <a:stretch/>
        </p:blipFill>
        <p:spPr bwMode="auto">
          <a:xfrm>
            <a:off x="5625883" y="2908772"/>
            <a:ext cx="2033393" cy="994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36852" y="1700808"/>
            <a:ext cx="22493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Nuclear</a:t>
            </a:r>
          </a:p>
          <a:p>
            <a:r>
              <a:rPr lang="en-GB" sz="2800" b="1" dirty="0">
                <a:solidFill>
                  <a:srgbClr val="FF0000"/>
                </a:solidFill>
              </a:rPr>
              <a:t>Fuel </a:t>
            </a:r>
          </a:p>
          <a:p>
            <a:r>
              <a:rPr lang="en-GB" sz="2800" b="1" dirty="0">
                <a:solidFill>
                  <a:srgbClr val="FF0000"/>
                </a:solidFill>
              </a:rPr>
              <a:t>Cycle</a:t>
            </a:r>
          </a:p>
          <a:p>
            <a:r>
              <a:rPr lang="en-GB" b="1" dirty="0">
                <a:solidFill>
                  <a:srgbClr val="FF0000"/>
                </a:solidFill>
              </a:rPr>
              <a:t>+</a:t>
            </a:r>
          </a:p>
          <a:p>
            <a:r>
              <a:rPr lang="en-GB" b="1" dirty="0">
                <a:solidFill>
                  <a:srgbClr val="FF0000"/>
                </a:solidFill>
              </a:rPr>
              <a:t>Research &amp; Development (R&amp;D)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6C58A0-60BF-B8B3-6A2C-3CB32F54048B}"/>
              </a:ext>
            </a:extLst>
          </p:cNvPr>
          <p:cNvSpPr txBox="1"/>
          <p:nvPr/>
        </p:nvSpPr>
        <p:spPr>
          <a:xfrm>
            <a:off x="0" y="6014392"/>
            <a:ext cx="9406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RADIOACTIVE WASTE</a:t>
            </a:r>
            <a:r>
              <a:rPr lang="en-US" i="1" dirty="0"/>
              <a:t>:  Material that has no further use, and is contaminated by, or incorporates, activity above certain levels defined in UK legislation is known as radioactive waste.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93019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51"/>
    </mc:Choice>
    <mc:Fallback xmlns="">
      <p:transition spd="slow" advTm="3845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2952571" y="5529613"/>
            <a:ext cx="5867901" cy="12117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6671" y="5615508"/>
            <a:ext cx="2895600" cy="47625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© UNM &amp; BNFL</a:t>
            </a:r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22626" y="59874"/>
            <a:ext cx="8294687" cy="6858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Fuel Rods: hottest properties</a:t>
            </a:r>
            <a:endParaRPr lang="en-US" sz="4000" b="1" dirty="0"/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330224" y="2119938"/>
            <a:ext cx="711556" cy="570026"/>
            <a:chOff x="2584" y="1424"/>
            <a:chExt cx="575" cy="488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2584" y="1544"/>
              <a:ext cx="295" cy="272"/>
              <a:chOff x="2584" y="1544"/>
              <a:chExt cx="295" cy="272"/>
            </a:xfrm>
          </p:grpSpPr>
          <p:sp>
            <p:nvSpPr>
              <p:cNvPr id="191493" name="Oval 5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494" name="Oval 6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495" name="Oval 7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496" name="Oval 8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497" name="Oval 9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498" name="Oval 10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499" name="Oval 11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2680" y="1640"/>
              <a:ext cx="295" cy="272"/>
              <a:chOff x="2584" y="1544"/>
              <a:chExt cx="295" cy="272"/>
            </a:xfrm>
          </p:grpSpPr>
          <p:sp>
            <p:nvSpPr>
              <p:cNvPr id="191501" name="Oval 13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02" name="Oval 14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03" name="Oval 15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04" name="Oval 16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05" name="Oval 17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06" name="Oval 18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07" name="Oval 19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2688" y="1456"/>
              <a:ext cx="295" cy="272"/>
              <a:chOff x="2584" y="1544"/>
              <a:chExt cx="295" cy="272"/>
            </a:xfrm>
          </p:grpSpPr>
          <p:sp>
            <p:nvSpPr>
              <p:cNvPr id="191509" name="Oval 21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0" name="Oval 22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1" name="Oval 23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2" name="Oval 24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3" name="Oval 25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4" name="Oval 26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5" name="Oval 27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2848" y="1616"/>
              <a:ext cx="295" cy="272"/>
              <a:chOff x="2584" y="1544"/>
              <a:chExt cx="295" cy="272"/>
            </a:xfrm>
          </p:grpSpPr>
          <p:sp>
            <p:nvSpPr>
              <p:cNvPr id="191517" name="Oval 29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8" name="Oval 30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19" name="Oval 31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0" name="Oval 32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1" name="Oval 33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2" name="Oval 34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3" name="Oval 35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8" name="Group 36"/>
            <p:cNvGrpSpPr>
              <a:grpSpLocks/>
            </p:cNvGrpSpPr>
            <p:nvPr/>
          </p:nvGrpSpPr>
          <p:grpSpPr bwMode="auto">
            <a:xfrm>
              <a:off x="2864" y="1440"/>
              <a:ext cx="295" cy="272"/>
              <a:chOff x="2584" y="1544"/>
              <a:chExt cx="295" cy="272"/>
            </a:xfrm>
          </p:grpSpPr>
          <p:sp>
            <p:nvSpPr>
              <p:cNvPr id="191525" name="Oval 37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6" name="Oval 38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7" name="Oval 39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8" name="Oval 40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29" name="Oval 41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30" name="Oval 42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31" name="Oval 43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91532" name="Oval 44"/>
            <p:cNvSpPr>
              <a:spLocks noChangeArrowheads="1"/>
            </p:cNvSpPr>
            <p:nvPr/>
          </p:nvSpPr>
          <p:spPr bwMode="auto">
            <a:xfrm>
              <a:off x="3048" y="1680"/>
              <a:ext cx="103" cy="104"/>
            </a:xfrm>
            <a:prstGeom prst="ellipse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533" name="Oval 45"/>
            <p:cNvSpPr>
              <a:spLocks noChangeArrowheads="1"/>
            </p:cNvSpPr>
            <p:nvPr/>
          </p:nvSpPr>
          <p:spPr bwMode="auto">
            <a:xfrm>
              <a:off x="2784" y="1424"/>
              <a:ext cx="103" cy="10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2498413" y="2138627"/>
            <a:ext cx="711556" cy="570026"/>
            <a:chOff x="2584" y="1424"/>
            <a:chExt cx="575" cy="488"/>
          </a:xfrm>
        </p:grpSpPr>
        <p:grpSp>
          <p:nvGrpSpPr>
            <p:cNvPr id="10" name="Group 47"/>
            <p:cNvGrpSpPr>
              <a:grpSpLocks/>
            </p:cNvGrpSpPr>
            <p:nvPr/>
          </p:nvGrpSpPr>
          <p:grpSpPr bwMode="auto">
            <a:xfrm>
              <a:off x="2584" y="1544"/>
              <a:ext cx="295" cy="272"/>
              <a:chOff x="2584" y="1544"/>
              <a:chExt cx="295" cy="272"/>
            </a:xfrm>
          </p:grpSpPr>
          <p:sp>
            <p:nvSpPr>
              <p:cNvPr id="191536" name="Oval 48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37" name="Oval 49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38" name="Oval 50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39" name="Oval 51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0" name="Oval 52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1" name="Oval 53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2" name="Oval 54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11" name="Group 55"/>
            <p:cNvGrpSpPr>
              <a:grpSpLocks/>
            </p:cNvGrpSpPr>
            <p:nvPr/>
          </p:nvGrpSpPr>
          <p:grpSpPr bwMode="auto">
            <a:xfrm>
              <a:off x="2680" y="1640"/>
              <a:ext cx="295" cy="272"/>
              <a:chOff x="2584" y="1544"/>
              <a:chExt cx="295" cy="272"/>
            </a:xfrm>
          </p:grpSpPr>
          <p:sp>
            <p:nvSpPr>
              <p:cNvPr id="191544" name="Oval 56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5" name="Oval 57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6" name="Oval 58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7" name="Oval 59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8" name="Oval 60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49" name="Oval 61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0" name="Oval 62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12" name="Group 63"/>
            <p:cNvGrpSpPr>
              <a:grpSpLocks/>
            </p:cNvGrpSpPr>
            <p:nvPr/>
          </p:nvGrpSpPr>
          <p:grpSpPr bwMode="auto">
            <a:xfrm>
              <a:off x="2688" y="1456"/>
              <a:ext cx="295" cy="272"/>
              <a:chOff x="2584" y="1544"/>
              <a:chExt cx="295" cy="272"/>
            </a:xfrm>
          </p:grpSpPr>
          <p:sp>
            <p:nvSpPr>
              <p:cNvPr id="191552" name="Oval 64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3" name="Oval 65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4" name="Oval 66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5" name="Oval 67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6" name="Oval 68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7" name="Oval 69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58" name="Oval 70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13" name="Group 71"/>
            <p:cNvGrpSpPr>
              <a:grpSpLocks/>
            </p:cNvGrpSpPr>
            <p:nvPr/>
          </p:nvGrpSpPr>
          <p:grpSpPr bwMode="auto">
            <a:xfrm>
              <a:off x="2848" y="1616"/>
              <a:ext cx="295" cy="272"/>
              <a:chOff x="2584" y="1544"/>
              <a:chExt cx="295" cy="272"/>
            </a:xfrm>
          </p:grpSpPr>
          <p:sp>
            <p:nvSpPr>
              <p:cNvPr id="191560" name="Oval 72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1" name="Oval 73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2" name="Oval 74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3" name="Oval 75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4" name="Oval 76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5" name="Oval 77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6" name="Oval 78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14" name="Group 79"/>
            <p:cNvGrpSpPr>
              <a:grpSpLocks/>
            </p:cNvGrpSpPr>
            <p:nvPr/>
          </p:nvGrpSpPr>
          <p:grpSpPr bwMode="auto">
            <a:xfrm>
              <a:off x="2864" y="1440"/>
              <a:ext cx="295" cy="272"/>
              <a:chOff x="2584" y="1544"/>
              <a:chExt cx="295" cy="272"/>
            </a:xfrm>
          </p:grpSpPr>
          <p:sp>
            <p:nvSpPr>
              <p:cNvPr id="191568" name="Oval 80"/>
              <p:cNvSpPr>
                <a:spLocks noChangeArrowheads="1"/>
              </p:cNvSpPr>
              <p:nvPr/>
            </p:nvSpPr>
            <p:spPr bwMode="auto">
              <a:xfrm>
                <a:off x="2608" y="154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69" name="Oval 81"/>
              <p:cNvSpPr>
                <a:spLocks noChangeArrowheads="1"/>
              </p:cNvSpPr>
              <p:nvPr/>
            </p:nvSpPr>
            <p:spPr bwMode="auto">
              <a:xfrm>
                <a:off x="2680" y="158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70" name="Oval 82"/>
              <p:cNvSpPr>
                <a:spLocks noChangeArrowheads="1"/>
              </p:cNvSpPr>
              <p:nvPr/>
            </p:nvSpPr>
            <p:spPr bwMode="auto">
              <a:xfrm>
                <a:off x="2704" y="164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71" name="Oval 83"/>
              <p:cNvSpPr>
                <a:spLocks noChangeArrowheads="1"/>
              </p:cNvSpPr>
              <p:nvPr/>
            </p:nvSpPr>
            <p:spPr bwMode="auto">
              <a:xfrm>
                <a:off x="2776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72" name="Oval 84"/>
              <p:cNvSpPr>
                <a:spLocks noChangeArrowheads="1"/>
              </p:cNvSpPr>
              <p:nvPr/>
            </p:nvSpPr>
            <p:spPr bwMode="auto">
              <a:xfrm>
                <a:off x="2584" y="161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73" name="Oval 85"/>
              <p:cNvSpPr>
                <a:spLocks noChangeArrowheads="1"/>
              </p:cNvSpPr>
              <p:nvPr/>
            </p:nvSpPr>
            <p:spPr bwMode="auto">
              <a:xfrm>
                <a:off x="2624" y="168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74" name="Oval 86"/>
              <p:cNvSpPr>
                <a:spLocks noChangeArrowheads="1"/>
              </p:cNvSpPr>
              <p:nvPr/>
            </p:nvSpPr>
            <p:spPr bwMode="auto">
              <a:xfrm>
                <a:off x="2680" y="171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91575" name="Oval 87"/>
            <p:cNvSpPr>
              <a:spLocks noChangeArrowheads="1"/>
            </p:cNvSpPr>
            <p:nvPr/>
          </p:nvSpPr>
          <p:spPr bwMode="auto">
            <a:xfrm>
              <a:off x="3048" y="1680"/>
              <a:ext cx="103" cy="104"/>
            </a:xfrm>
            <a:prstGeom prst="ellipse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576" name="Oval 88"/>
            <p:cNvSpPr>
              <a:spLocks noChangeArrowheads="1"/>
            </p:cNvSpPr>
            <p:nvPr/>
          </p:nvSpPr>
          <p:spPr bwMode="auto">
            <a:xfrm>
              <a:off x="2784" y="1424"/>
              <a:ext cx="103" cy="10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</p:grpSp>
      <p:sp>
        <p:nvSpPr>
          <p:cNvPr id="191619" name="Oval 131"/>
          <p:cNvSpPr>
            <a:spLocks noChangeArrowheads="1"/>
          </p:cNvSpPr>
          <p:nvPr/>
        </p:nvSpPr>
        <p:spPr bwMode="auto">
          <a:xfrm>
            <a:off x="548131" y="2372244"/>
            <a:ext cx="127462" cy="121481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91671" name="Line 183"/>
          <p:cNvSpPr>
            <a:spLocks noChangeShapeType="1"/>
          </p:cNvSpPr>
          <p:nvPr/>
        </p:nvSpPr>
        <p:spPr bwMode="auto">
          <a:xfrm>
            <a:off x="785729" y="2437657"/>
            <a:ext cx="50489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91672" name="Line 184"/>
          <p:cNvSpPr>
            <a:spLocks noChangeShapeType="1"/>
          </p:cNvSpPr>
          <p:nvPr/>
        </p:nvSpPr>
        <p:spPr bwMode="auto">
          <a:xfrm flipV="1">
            <a:off x="2122217" y="2400278"/>
            <a:ext cx="306897" cy="934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91673" name="Line 185"/>
          <p:cNvSpPr>
            <a:spLocks noChangeShapeType="1"/>
          </p:cNvSpPr>
          <p:nvPr/>
        </p:nvSpPr>
        <p:spPr bwMode="auto">
          <a:xfrm>
            <a:off x="3300306" y="2428312"/>
            <a:ext cx="50489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91680" name="Text Box 192"/>
          <p:cNvSpPr txBox="1">
            <a:spLocks noChangeArrowheads="1"/>
          </p:cNvSpPr>
          <p:nvPr/>
        </p:nvSpPr>
        <p:spPr bwMode="auto">
          <a:xfrm>
            <a:off x="191734" y="1970423"/>
            <a:ext cx="113849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FF"/>
                </a:solidFill>
                <a:latin typeface="Times New Roman" pitchFamily="18" charset="0"/>
                <a:cs typeface="Arial" pitchFamily="34" charset="0"/>
              </a:rPr>
              <a:t>neutron</a:t>
            </a:r>
            <a:endParaRPr lang="en-GB" sz="2800" dirty="0">
              <a:solidFill>
                <a:srgbClr val="0000FF"/>
              </a:solidFill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191681" name="Text Box 193"/>
          <p:cNvSpPr txBox="1">
            <a:spLocks noChangeArrowheads="1"/>
          </p:cNvSpPr>
          <p:nvPr/>
        </p:nvSpPr>
        <p:spPr bwMode="auto">
          <a:xfrm>
            <a:off x="1488622" y="1729796"/>
            <a:ext cx="85113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GB" sz="2400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235</a:t>
            </a: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endParaRPr lang="en-GB" sz="3000" b="1" dirty="0">
              <a:solidFill>
                <a:srgbClr val="FF0000"/>
              </a:solidFill>
              <a:latin typeface="Times New Roman" pitchFamily="18" charset="0"/>
              <a:cs typeface="Arial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834901" y="1178460"/>
            <a:ext cx="1998384" cy="1614295"/>
            <a:chOff x="3834901" y="1933614"/>
            <a:chExt cx="1998384" cy="1614295"/>
          </a:xfrm>
        </p:grpSpPr>
        <p:grpSp>
          <p:nvGrpSpPr>
            <p:cNvPr id="15" name="Group 89"/>
            <p:cNvGrpSpPr>
              <a:grpSpLocks/>
            </p:cNvGrpSpPr>
            <p:nvPr/>
          </p:nvGrpSpPr>
          <p:grpSpPr bwMode="auto">
            <a:xfrm>
              <a:off x="3834901" y="3136743"/>
              <a:ext cx="533358" cy="411166"/>
              <a:chOff x="3224" y="2304"/>
              <a:chExt cx="431" cy="352"/>
            </a:xfrm>
          </p:grpSpPr>
          <p:grpSp>
            <p:nvGrpSpPr>
              <p:cNvPr id="16" name="Group 90"/>
              <p:cNvGrpSpPr>
                <a:grpSpLocks/>
              </p:cNvGrpSpPr>
              <p:nvPr/>
            </p:nvGrpSpPr>
            <p:grpSpPr bwMode="auto">
              <a:xfrm>
                <a:off x="3224" y="2384"/>
                <a:ext cx="295" cy="272"/>
                <a:chOff x="2584" y="1544"/>
                <a:chExt cx="295" cy="272"/>
              </a:xfrm>
            </p:grpSpPr>
            <p:sp>
              <p:nvSpPr>
                <p:cNvPr id="191579" name="Oval 91"/>
                <p:cNvSpPr>
                  <a:spLocks noChangeArrowheads="1"/>
                </p:cNvSpPr>
                <p:nvPr/>
              </p:nvSpPr>
              <p:spPr bwMode="auto">
                <a:xfrm>
                  <a:off x="2608" y="1544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0" name="Oval 92"/>
                <p:cNvSpPr>
                  <a:spLocks noChangeArrowheads="1"/>
                </p:cNvSpPr>
                <p:nvPr/>
              </p:nvSpPr>
              <p:spPr bwMode="auto">
                <a:xfrm>
                  <a:off x="2680" y="1584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1" name="Oval 93"/>
                <p:cNvSpPr>
                  <a:spLocks noChangeArrowheads="1"/>
                </p:cNvSpPr>
                <p:nvPr/>
              </p:nvSpPr>
              <p:spPr bwMode="auto">
                <a:xfrm>
                  <a:off x="2704" y="1640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2" name="Oval 94"/>
                <p:cNvSpPr>
                  <a:spLocks noChangeArrowheads="1"/>
                </p:cNvSpPr>
                <p:nvPr/>
              </p:nvSpPr>
              <p:spPr bwMode="auto">
                <a:xfrm>
                  <a:off x="2776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3" name="Oval 95"/>
                <p:cNvSpPr>
                  <a:spLocks noChangeArrowheads="1"/>
                </p:cNvSpPr>
                <p:nvPr/>
              </p:nvSpPr>
              <p:spPr bwMode="auto">
                <a:xfrm>
                  <a:off x="2584" y="1616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4" name="Oval 96"/>
                <p:cNvSpPr>
                  <a:spLocks noChangeArrowheads="1"/>
                </p:cNvSpPr>
                <p:nvPr/>
              </p:nvSpPr>
              <p:spPr bwMode="auto">
                <a:xfrm>
                  <a:off x="2624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5" name="Oval 97"/>
                <p:cNvSpPr>
                  <a:spLocks noChangeArrowheads="1"/>
                </p:cNvSpPr>
                <p:nvPr/>
              </p:nvSpPr>
              <p:spPr bwMode="auto">
                <a:xfrm>
                  <a:off x="2680" y="1712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</p:grpSp>
          <p:grpSp>
            <p:nvGrpSpPr>
              <p:cNvPr id="17" name="Group 98"/>
              <p:cNvGrpSpPr>
                <a:grpSpLocks/>
              </p:cNvGrpSpPr>
              <p:nvPr/>
            </p:nvGrpSpPr>
            <p:grpSpPr bwMode="auto">
              <a:xfrm>
                <a:off x="3272" y="2344"/>
                <a:ext cx="295" cy="272"/>
                <a:chOff x="2584" y="1544"/>
                <a:chExt cx="295" cy="272"/>
              </a:xfrm>
            </p:grpSpPr>
            <p:sp>
              <p:nvSpPr>
                <p:cNvPr id="191587" name="Oval 99"/>
                <p:cNvSpPr>
                  <a:spLocks noChangeArrowheads="1"/>
                </p:cNvSpPr>
                <p:nvPr/>
              </p:nvSpPr>
              <p:spPr bwMode="auto">
                <a:xfrm>
                  <a:off x="2608" y="1544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8" name="Oval 100"/>
                <p:cNvSpPr>
                  <a:spLocks noChangeArrowheads="1"/>
                </p:cNvSpPr>
                <p:nvPr/>
              </p:nvSpPr>
              <p:spPr bwMode="auto">
                <a:xfrm>
                  <a:off x="2680" y="1584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89" name="Oval 101"/>
                <p:cNvSpPr>
                  <a:spLocks noChangeArrowheads="1"/>
                </p:cNvSpPr>
                <p:nvPr/>
              </p:nvSpPr>
              <p:spPr bwMode="auto">
                <a:xfrm>
                  <a:off x="2704" y="1640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90" name="Oval 102"/>
                <p:cNvSpPr>
                  <a:spLocks noChangeArrowheads="1"/>
                </p:cNvSpPr>
                <p:nvPr/>
              </p:nvSpPr>
              <p:spPr bwMode="auto">
                <a:xfrm>
                  <a:off x="2776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91" name="Oval 103"/>
                <p:cNvSpPr>
                  <a:spLocks noChangeArrowheads="1"/>
                </p:cNvSpPr>
                <p:nvPr/>
              </p:nvSpPr>
              <p:spPr bwMode="auto">
                <a:xfrm>
                  <a:off x="2584" y="1616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92" name="Oval 104"/>
                <p:cNvSpPr>
                  <a:spLocks noChangeArrowheads="1"/>
                </p:cNvSpPr>
                <p:nvPr/>
              </p:nvSpPr>
              <p:spPr bwMode="auto">
                <a:xfrm>
                  <a:off x="2624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593" name="Oval 105"/>
                <p:cNvSpPr>
                  <a:spLocks noChangeArrowheads="1"/>
                </p:cNvSpPr>
                <p:nvPr/>
              </p:nvSpPr>
              <p:spPr bwMode="auto">
                <a:xfrm>
                  <a:off x="2680" y="1712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191594" name="Oval 106"/>
              <p:cNvSpPr>
                <a:spLocks noChangeArrowheads="1"/>
              </p:cNvSpPr>
              <p:nvPr/>
            </p:nvSpPr>
            <p:spPr bwMode="auto">
              <a:xfrm>
                <a:off x="3456" y="235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95" name="Oval 107"/>
              <p:cNvSpPr>
                <a:spLocks noChangeArrowheads="1"/>
              </p:cNvSpPr>
              <p:nvPr/>
            </p:nvSpPr>
            <p:spPr bwMode="auto">
              <a:xfrm>
                <a:off x="3528" y="2392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96" name="Oval 108"/>
              <p:cNvSpPr>
                <a:spLocks noChangeArrowheads="1"/>
              </p:cNvSpPr>
              <p:nvPr/>
            </p:nvSpPr>
            <p:spPr bwMode="auto">
              <a:xfrm>
                <a:off x="3552" y="2448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97" name="Oval 109"/>
              <p:cNvSpPr>
                <a:spLocks noChangeArrowheads="1"/>
              </p:cNvSpPr>
              <p:nvPr/>
            </p:nvSpPr>
            <p:spPr bwMode="auto">
              <a:xfrm>
                <a:off x="3544" y="234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98" name="Oval 110"/>
              <p:cNvSpPr>
                <a:spLocks noChangeArrowheads="1"/>
              </p:cNvSpPr>
              <p:nvPr/>
            </p:nvSpPr>
            <p:spPr bwMode="auto">
              <a:xfrm>
                <a:off x="3432" y="242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599" name="Oval 111"/>
              <p:cNvSpPr>
                <a:spLocks noChangeArrowheads="1"/>
              </p:cNvSpPr>
              <p:nvPr/>
            </p:nvSpPr>
            <p:spPr bwMode="auto">
              <a:xfrm>
                <a:off x="3472" y="2488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00" name="Oval 112"/>
              <p:cNvSpPr>
                <a:spLocks noChangeArrowheads="1"/>
              </p:cNvSpPr>
              <p:nvPr/>
            </p:nvSpPr>
            <p:spPr bwMode="auto">
              <a:xfrm>
                <a:off x="3528" y="252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01" name="Oval 113"/>
              <p:cNvSpPr>
                <a:spLocks noChangeArrowheads="1"/>
              </p:cNvSpPr>
              <p:nvPr/>
            </p:nvSpPr>
            <p:spPr bwMode="auto">
              <a:xfrm>
                <a:off x="3360" y="230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18" name="Group 114"/>
            <p:cNvGrpSpPr>
              <a:grpSpLocks/>
            </p:cNvGrpSpPr>
            <p:nvPr/>
          </p:nvGrpSpPr>
          <p:grpSpPr bwMode="auto">
            <a:xfrm>
              <a:off x="3854701" y="2781645"/>
              <a:ext cx="483859" cy="411166"/>
              <a:chOff x="3240" y="2000"/>
              <a:chExt cx="391" cy="352"/>
            </a:xfrm>
          </p:grpSpPr>
          <p:grpSp>
            <p:nvGrpSpPr>
              <p:cNvPr id="19" name="Group 115"/>
              <p:cNvGrpSpPr>
                <a:grpSpLocks/>
              </p:cNvGrpSpPr>
              <p:nvPr/>
            </p:nvGrpSpPr>
            <p:grpSpPr bwMode="auto">
              <a:xfrm>
                <a:off x="3240" y="2080"/>
                <a:ext cx="295" cy="272"/>
                <a:chOff x="2584" y="1544"/>
                <a:chExt cx="295" cy="272"/>
              </a:xfrm>
            </p:grpSpPr>
            <p:sp>
              <p:nvSpPr>
                <p:cNvPr id="191604" name="Oval 116"/>
                <p:cNvSpPr>
                  <a:spLocks noChangeArrowheads="1"/>
                </p:cNvSpPr>
                <p:nvPr/>
              </p:nvSpPr>
              <p:spPr bwMode="auto">
                <a:xfrm>
                  <a:off x="2608" y="1544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05" name="Oval 117"/>
                <p:cNvSpPr>
                  <a:spLocks noChangeArrowheads="1"/>
                </p:cNvSpPr>
                <p:nvPr/>
              </p:nvSpPr>
              <p:spPr bwMode="auto">
                <a:xfrm>
                  <a:off x="2680" y="1584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06" name="Oval 118"/>
                <p:cNvSpPr>
                  <a:spLocks noChangeArrowheads="1"/>
                </p:cNvSpPr>
                <p:nvPr/>
              </p:nvSpPr>
              <p:spPr bwMode="auto">
                <a:xfrm>
                  <a:off x="2704" y="1640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07" name="Oval 119"/>
                <p:cNvSpPr>
                  <a:spLocks noChangeArrowheads="1"/>
                </p:cNvSpPr>
                <p:nvPr/>
              </p:nvSpPr>
              <p:spPr bwMode="auto">
                <a:xfrm>
                  <a:off x="2776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08" name="Oval 120"/>
                <p:cNvSpPr>
                  <a:spLocks noChangeArrowheads="1"/>
                </p:cNvSpPr>
                <p:nvPr/>
              </p:nvSpPr>
              <p:spPr bwMode="auto">
                <a:xfrm>
                  <a:off x="2584" y="1616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09" name="Oval 121"/>
                <p:cNvSpPr>
                  <a:spLocks noChangeArrowheads="1"/>
                </p:cNvSpPr>
                <p:nvPr/>
              </p:nvSpPr>
              <p:spPr bwMode="auto">
                <a:xfrm>
                  <a:off x="2624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10" name="Oval 122"/>
                <p:cNvSpPr>
                  <a:spLocks noChangeArrowheads="1"/>
                </p:cNvSpPr>
                <p:nvPr/>
              </p:nvSpPr>
              <p:spPr bwMode="auto">
                <a:xfrm>
                  <a:off x="2680" y="1712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191611" name="Oval 123"/>
              <p:cNvSpPr>
                <a:spLocks noChangeArrowheads="1"/>
              </p:cNvSpPr>
              <p:nvPr/>
            </p:nvSpPr>
            <p:spPr bwMode="auto">
              <a:xfrm>
                <a:off x="3432" y="200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2" name="Oval 124"/>
              <p:cNvSpPr>
                <a:spLocks noChangeArrowheads="1"/>
              </p:cNvSpPr>
              <p:nvPr/>
            </p:nvSpPr>
            <p:spPr bwMode="auto">
              <a:xfrm>
                <a:off x="3504" y="204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3" name="Oval 125"/>
              <p:cNvSpPr>
                <a:spLocks noChangeArrowheads="1"/>
              </p:cNvSpPr>
              <p:nvPr/>
            </p:nvSpPr>
            <p:spPr bwMode="auto">
              <a:xfrm>
                <a:off x="3528" y="209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4" name="Oval 126"/>
              <p:cNvSpPr>
                <a:spLocks noChangeArrowheads="1"/>
              </p:cNvSpPr>
              <p:nvPr/>
            </p:nvSpPr>
            <p:spPr bwMode="auto">
              <a:xfrm>
                <a:off x="3288" y="200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5" name="Oval 127"/>
              <p:cNvSpPr>
                <a:spLocks noChangeArrowheads="1"/>
              </p:cNvSpPr>
              <p:nvPr/>
            </p:nvSpPr>
            <p:spPr bwMode="auto">
              <a:xfrm>
                <a:off x="3408" y="207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6" name="Oval 128"/>
              <p:cNvSpPr>
                <a:spLocks noChangeArrowheads="1"/>
              </p:cNvSpPr>
              <p:nvPr/>
            </p:nvSpPr>
            <p:spPr bwMode="auto">
              <a:xfrm>
                <a:off x="3448" y="2136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7" name="Oval 129"/>
              <p:cNvSpPr>
                <a:spLocks noChangeArrowheads="1"/>
              </p:cNvSpPr>
              <p:nvPr/>
            </p:nvSpPr>
            <p:spPr bwMode="auto">
              <a:xfrm>
                <a:off x="3504" y="2168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18" name="Oval 130"/>
              <p:cNvSpPr>
                <a:spLocks noChangeArrowheads="1"/>
              </p:cNvSpPr>
              <p:nvPr/>
            </p:nvSpPr>
            <p:spPr bwMode="auto">
              <a:xfrm>
                <a:off x="3336" y="2048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0" name="Group 132"/>
            <p:cNvGrpSpPr>
              <a:grpSpLocks/>
            </p:cNvGrpSpPr>
            <p:nvPr/>
          </p:nvGrpSpPr>
          <p:grpSpPr bwMode="auto">
            <a:xfrm>
              <a:off x="5299927" y="2620094"/>
              <a:ext cx="533358" cy="521320"/>
              <a:chOff x="3224" y="2304"/>
              <a:chExt cx="431" cy="352"/>
            </a:xfrm>
          </p:grpSpPr>
          <p:grpSp>
            <p:nvGrpSpPr>
              <p:cNvPr id="21" name="Group 133"/>
              <p:cNvGrpSpPr>
                <a:grpSpLocks/>
              </p:cNvGrpSpPr>
              <p:nvPr/>
            </p:nvGrpSpPr>
            <p:grpSpPr bwMode="auto">
              <a:xfrm>
                <a:off x="3224" y="2384"/>
                <a:ext cx="295" cy="272"/>
                <a:chOff x="2584" y="1544"/>
                <a:chExt cx="295" cy="272"/>
              </a:xfrm>
            </p:grpSpPr>
            <p:sp>
              <p:nvSpPr>
                <p:cNvPr id="191622" name="Oval 134"/>
                <p:cNvSpPr>
                  <a:spLocks noChangeArrowheads="1"/>
                </p:cNvSpPr>
                <p:nvPr/>
              </p:nvSpPr>
              <p:spPr bwMode="auto">
                <a:xfrm>
                  <a:off x="2608" y="1544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23" name="Oval 135"/>
                <p:cNvSpPr>
                  <a:spLocks noChangeArrowheads="1"/>
                </p:cNvSpPr>
                <p:nvPr/>
              </p:nvSpPr>
              <p:spPr bwMode="auto">
                <a:xfrm>
                  <a:off x="2680" y="1584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24" name="Oval 136"/>
                <p:cNvSpPr>
                  <a:spLocks noChangeArrowheads="1"/>
                </p:cNvSpPr>
                <p:nvPr/>
              </p:nvSpPr>
              <p:spPr bwMode="auto">
                <a:xfrm>
                  <a:off x="2704" y="1640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25" name="Oval 137"/>
                <p:cNvSpPr>
                  <a:spLocks noChangeArrowheads="1"/>
                </p:cNvSpPr>
                <p:nvPr/>
              </p:nvSpPr>
              <p:spPr bwMode="auto">
                <a:xfrm>
                  <a:off x="2776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26" name="Oval 138"/>
                <p:cNvSpPr>
                  <a:spLocks noChangeArrowheads="1"/>
                </p:cNvSpPr>
                <p:nvPr/>
              </p:nvSpPr>
              <p:spPr bwMode="auto">
                <a:xfrm>
                  <a:off x="2584" y="1616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27" name="Oval 139"/>
                <p:cNvSpPr>
                  <a:spLocks noChangeArrowheads="1"/>
                </p:cNvSpPr>
                <p:nvPr/>
              </p:nvSpPr>
              <p:spPr bwMode="auto">
                <a:xfrm>
                  <a:off x="2624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28" name="Oval 140"/>
                <p:cNvSpPr>
                  <a:spLocks noChangeArrowheads="1"/>
                </p:cNvSpPr>
                <p:nvPr/>
              </p:nvSpPr>
              <p:spPr bwMode="auto">
                <a:xfrm>
                  <a:off x="2680" y="1712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</p:grpSp>
          <p:grpSp>
            <p:nvGrpSpPr>
              <p:cNvPr id="22" name="Group 141"/>
              <p:cNvGrpSpPr>
                <a:grpSpLocks/>
              </p:cNvGrpSpPr>
              <p:nvPr/>
            </p:nvGrpSpPr>
            <p:grpSpPr bwMode="auto">
              <a:xfrm>
                <a:off x="3272" y="2344"/>
                <a:ext cx="295" cy="272"/>
                <a:chOff x="2584" y="1544"/>
                <a:chExt cx="295" cy="272"/>
              </a:xfrm>
            </p:grpSpPr>
            <p:sp>
              <p:nvSpPr>
                <p:cNvPr id="191630" name="Oval 142"/>
                <p:cNvSpPr>
                  <a:spLocks noChangeArrowheads="1"/>
                </p:cNvSpPr>
                <p:nvPr/>
              </p:nvSpPr>
              <p:spPr bwMode="auto">
                <a:xfrm>
                  <a:off x="2608" y="1544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31" name="Oval 143"/>
                <p:cNvSpPr>
                  <a:spLocks noChangeArrowheads="1"/>
                </p:cNvSpPr>
                <p:nvPr/>
              </p:nvSpPr>
              <p:spPr bwMode="auto">
                <a:xfrm>
                  <a:off x="2680" y="1584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32" name="Oval 144"/>
                <p:cNvSpPr>
                  <a:spLocks noChangeArrowheads="1"/>
                </p:cNvSpPr>
                <p:nvPr/>
              </p:nvSpPr>
              <p:spPr bwMode="auto">
                <a:xfrm>
                  <a:off x="2704" y="1640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33" name="Oval 145"/>
                <p:cNvSpPr>
                  <a:spLocks noChangeArrowheads="1"/>
                </p:cNvSpPr>
                <p:nvPr/>
              </p:nvSpPr>
              <p:spPr bwMode="auto">
                <a:xfrm>
                  <a:off x="2776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34" name="Oval 146"/>
                <p:cNvSpPr>
                  <a:spLocks noChangeArrowheads="1"/>
                </p:cNvSpPr>
                <p:nvPr/>
              </p:nvSpPr>
              <p:spPr bwMode="auto">
                <a:xfrm>
                  <a:off x="2584" y="1616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35" name="Oval 147"/>
                <p:cNvSpPr>
                  <a:spLocks noChangeArrowheads="1"/>
                </p:cNvSpPr>
                <p:nvPr/>
              </p:nvSpPr>
              <p:spPr bwMode="auto">
                <a:xfrm>
                  <a:off x="2624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36" name="Oval 148"/>
                <p:cNvSpPr>
                  <a:spLocks noChangeArrowheads="1"/>
                </p:cNvSpPr>
                <p:nvPr/>
              </p:nvSpPr>
              <p:spPr bwMode="auto">
                <a:xfrm>
                  <a:off x="2680" y="1712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191637" name="Oval 149"/>
              <p:cNvSpPr>
                <a:spLocks noChangeArrowheads="1"/>
              </p:cNvSpPr>
              <p:nvPr/>
            </p:nvSpPr>
            <p:spPr bwMode="auto">
              <a:xfrm>
                <a:off x="3456" y="235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38" name="Oval 150"/>
              <p:cNvSpPr>
                <a:spLocks noChangeArrowheads="1"/>
              </p:cNvSpPr>
              <p:nvPr/>
            </p:nvSpPr>
            <p:spPr bwMode="auto">
              <a:xfrm>
                <a:off x="3528" y="2392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39" name="Oval 151"/>
              <p:cNvSpPr>
                <a:spLocks noChangeArrowheads="1"/>
              </p:cNvSpPr>
              <p:nvPr/>
            </p:nvSpPr>
            <p:spPr bwMode="auto">
              <a:xfrm>
                <a:off x="3552" y="2448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40" name="Oval 152"/>
              <p:cNvSpPr>
                <a:spLocks noChangeArrowheads="1"/>
              </p:cNvSpPr>
              <p:nvPr/>
            </p:nvSpPr>
            <p:spPr bwMode="auto">
              <a:xfrm>
                <a:off x="3544" y="2344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41" name="Oval 153"/>
              <p:cNvSpPr>
                <a:spLocks noChangeArrowheads="1"/>
              </p:cNvSpPr>
              <p:nvPr/>
            </p:nvSpPr>
            <p:spPr bwMode="auto">
              <a:xfrm>
                <a:off x="3432" y="242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42" name="Oval 154"/>
              <p:cNvSpPr>
                <a:spLocks noChangeArrowheads="1"/>
              </p:cNvSpPr>
              <p:nvPr/>
            </p:nvSpPr>
            <p:spPr bwMode="auto">
              <a:xfrm>
                <a:off x="3472" y="2488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43" name="Oval 155"/>
              <p:cNvSpPr>
                <a:spLocks noChangeArrowheads="1"/>
              </p:cNvSpPr>
              <p:nvPr/>
            </p:nvSpPr>
            <p:spPr bwMode="auto">
              <a:xfrm>
                <a:off x="3528" y="252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44" name="Oval 156"/>
              <p:cNvSpPr>
                <a:spLocks noChangeArrowheads="1"/>
              </p:cNvSpPr>
              <p:nvPr/>
            </p:nvSpPr>
            <p:spPr bwMode="auto">
              <a:xfrm>
                <a:off x="3360" y="2304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3" name="Group 157"/>
            <p:cNvGrpSpPr>
              <a:grpSpLocks/>
            </p:cNvGrpSpPr>
            <p:nvPr/>
          </p:nvGrpSpPr>
          <p:grpSpPr bwMode="auto">
            <a:xfrm>
              <a:off x="4234610" y="1933614"/>
              <a:ext cx="483859" cy="411166"/>
              <a:chOff x="3240" y="2000"/>
              <a:chExt cx="391" cy="352"/>
            </a:xfrm>
          </p:grpSpPr>
          <p:grpSp>
            <p:nvGrpSpPr>
              <p:cNvPr id="24" name="Group 158"/>
              <p:cNvGrpSpPr>
                <a:grpSpLocks/>
              </p:cNvGrpSpPr>
              <p:nvPr/>
            </p:nvGrpSpPr>
            <p:grpSpPr bwMode="auto">
              <a:xfrm>
                <a:off x="3240" y="2080"/>
                <a:ext cx="295" cy="272"/>
                <a:chOff x="2584" y="1544"/>
                <a:chExt cx="295" cy="272"/>
              </a:xfrm>
            </p:grpSpPr>
            <p:sp>
              <p:nvSpPr>
                <p:cNvPr id="191647" name="Oval 159"/>
                <p:cNvSpPr>
                  <a:spLocks noChangeArrowheads="1"/>
                </p:cNvSpPr>
                <p:nvPr/>
              </p:nvSpPr>
              <p:spPr bwMode="auto">
                <a:xfrm>
                  <a:off x="2608" y="1544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48" name="Oval 160"/>
                <p:cNvSpPr>
                  <a:spLocks noChangeArrowheads="1"/>
                </p:cNvSpPr>
                <p:nvPr/>
              </p:nvSpPr>
              <p:spPr bwMode="auto">
                <a:xfrm>
                  <a:off x="2680" y="1584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49" name="Oval 161"/>
                <p:cNvSpPr>
                  <a:spLocks noChangeArrowheads="1"/>
                </p:cNvSpPr>
                <p:nvPr/>
              </p:nvSpPr>
              <p:spPr bwMode="auto">
                <a:xfrm>
                  <a:off x="2704" y="1640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50" name="Oval 162"/>
                <p:cNvSpPr>
                  <a:spLocks noChangeArrowheads="1"/>
                </p:cNvSpPr>
                <p:nvPr/>
              </p:nvSpPr>
              <p:spPr bwMode="auto">
                <a:xfrm>
                  <a:off x="2776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51" name="Oval 163"/>
                <p:cNvSpPr>
                  <a:spLocks noChangeArrowheads="1"/>
                </p:cNvSpPr>
                <p:nvPr/>
              </p:nvSpPr>
              <p:spPr bwMode="auto">
                <a:xfrm>
                  <a:off x="2584" y="1616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52" name="Oval 164"/>
                <p:cNvSpPr>
                  <a:spLocks noChangeArrowheads="1"/>
                </p:cNvSpPr>
                <p:nvPr/>
              </p:nvSpPr>
              <p:spPr bwMode="auto">
                <a:xfrm>
                  <a:off x="2624" y="1680"/>
                  <a:ext cx="103" cy="104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91653" name="Oval 165"/>
                <p:cNvSpPr>
                  <a:spLocks noChangeArrowheads="1"/>
                </p:cNvSpPr>
                <p:nvPr/>
              </p:nvSpPr>
              <p:spPr bwMode="auto">
                <a:xfrm>
                  <a:off x="2680" y="1712"/>
                  <a:ext cx="103" cy="104"/>
                </a:xfrm>
                <a:prstGeom prst="ellipse">
                  <a:avLst/>
                </a:prstGeom>
                <a:solidFill>
                  <a:srgbClr val="3366FF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>
                    <a:solidFill>
                      <a:srgbClr val="000000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191654" name="Oval 166"/>
              <p:cNvSpPr>
                <a:spLocks noChangeArrowheads="1"/>
              </p:cNvSpPr>
              <p:nvPr/>
            </p:nvSpPr>
            <p:spPr bwMode="auto">
              <a:xfrm>
                <a:off x="3432" y="2000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55" name="Oval 167"/>
              <p:cNvSpPr>
                <a:spLocks noChangeArrowheads="1"/>
              </p:cNvSpPr>
              <p:nvPr/>
            </p:nvSpPr>
            <p:spPr bwMode="auto">
              <a:xfrm>
                <a:off x="3504" y="204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56" name="Oval 168"/>
              <p:cNvSpPr>
                <a:spLocks noChangeArrowheads="1"/>
              </p:cNvSpPr>
              <p:nvPr/>
            </p:nvSpPr>
            <p:spPr bwMode="auto">
              <a:xfrm>
                <a:off x="3528" y="2096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57" name="Oval 169"/>
              <p:cNvSpPr>
                <a:spLocks noChangeArrowheads="1"/>
              </p:cNvSpPr>
              <p:nvPr/>
            </p:nvSpPr>
            <p:spPr bwMode="auto">
              <a:xfrm>
                <a:off x="3288" y="2000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58" name="Oval 170"/>
              <p:cNvSpPr>
                <a:spLocks noChangeArrowheads="1"/>
              </p:cNvSpPr>
              <p:nvPr/>
            </p:nvSpPr>
            <p:spPr bwMode="auto">
              <a:xfrm>
                <a:off x="3408" y="2072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59" name="Oval 171"/>
              <p:cNvSpPr>
                <a:spLocks noChangeArrowheads="1"/>
              </p:cNvSpPr>
              <p:nvPr/>
            </p:nvSpPr>
            <p:spPr bwMode="auto">
              <a:xfrm>
                <a:off x="3448" y="2136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60" name="Oval 172"/>
              <p:cNvSpPr>
                <a:spLocks noChangeArrowheads="1"/>
              </p:cNvSpPr>
              <p:nvPr/>
            </p:nvSpPr>
            <p:spPr bwMode="auto">
              <a:xfrm>
                <a:off x="3504" y="2168"/>
                <a:ext cx="103" cy="104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91661" name="Oval 173"/>
              <p:cNvSpPr>
                <a:spLocks noChangeArrowheads="1"/>
              </p:cNvSpPr>
              <p:nvPr/>
            </p:nvSpPr>
            <p:spPr bwMode="auto">
              <a:xfrm>
                <a:off x="3336" y="2048"/>
                <a:ext cx="103" cy="10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91674" name="Line 186"/>
            <p:cNvSpPr>
              <a:spLocks noChangeShapeType="1"/>
            </p:cNvSpPr>
            <p:nvPr/>
          </p:nvSpPr>
          <p:spPr bwMode="auto">
            <a:xfrm flipV="1">
              <a:off x="4239560" y="2389168"/>
              <a:ext cx="110135" cy="3267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684" name="Line 196"/>
            <p:cNvSpPr>
              <a:spLocks noChangeShapeType="1"/>
            </p:cNvSpPr>
            <p:nvPr/>
          </p:nvSpPr>
          <p:spPr bwMode="auto">
            <a:xfrm flipV="1">
              <a:off x="4555739" y="3057312"/>
              <a:ext cx="703339" cy="2009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</p:grpSp>
      <p:grpSp>
        <p:nvGrpSpPr>
          <p:cNvPr id="191535" name="Group 191534"/>
          <p:cNvGrpSpPr/>
          <p:nvPr/>
        </p:nvGrpSpPr>
        <p:grpSpPr>
          <a:xfrm>
            <a:off x="4892846" y="729630"/>
            <a:ext cx="4163598" cy="3456384"/>
            <a:chOff x="4892846" y="1484784"/>
            <a:chExt cx="4163598" cy="3456384"/>
          </a:xfrm>
        </p:grpSpPr>
        <p:sp>
          <p:nvSpPr>
            <p:cNvPr id="191679" name="Text Box 191"/>
            <p:cNvSpPr txBox="1">
              <a:spLocks noChangeArrowheads="1"/>
            </p:cNvSpPr>
            <p:nvPr/>
          </p:nvSpPr>
          <p:spPr bwMode="auto">
            <a:xfrm>
              <a:off x="4892846" y="1484784"/>
              <a:ext cx="3133353" cy="10772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defTabSz="762000" eaLnBrk="0" fontAlgn="base" hangingPunct="0">
                <a:spcAft>
                  <a:spcPct val="0"/>
                </a:spcAft>
              </a:pPr>
              <a:r>
                <a:rPr lang="en-GB" sz="3200" dirty="0">
                  <a:latin typeface="Times New Roman" pitchFamily="18" charset="0"/>
                  <a:cs typeface="Times New Roman" pitchFamily="18" charset="0"/>
                </a:rPr>
                <a:t>Fission fragments</a:t>
              </a:r>
            </a:p>
            <a:p>
              <a:pPr defTabSz="762000" eaLnBrk="0" fontAlgn="base" hangingPunct="0">
                <a:spcAft>
                  <a:spcPct val="0"/>
                </a:spcAft>
              </a:pPr>
              <a:r>
                <a:rPr lang="en-GB" sz="32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Cs,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Sr</a:t>
              </a:r>
              <a:r>
                <a:rPr lang="en-GB" sz="32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Tc</a:t>
              </a:r>
              <a:r>
                <a:rPr lang="en-GB" sz="32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, I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972966" y="2632844"/>
              <a:ext cx="308347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cs typeface="Arial" pitchFamily="34" charset="0"/>
                </a:rPr>
                <a:t>Short lived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cs typeface="Arial" pitchFamily="34" charset="0"/>
                </a:rPr>
                <a:t>Isotopes. </a:t>
              </a: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Half-life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 err="1">
                  <a:solidFill>
                    <a:srgbClr val="FF0000"/>
                  </a:solidFill>
                  <a:cs typeface="Arial" pitchFamily="34" charset="0"/>
                </a:rPr>
                <a:t>milleseconds</a:t>
              </a: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to years.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cs typeface="Arial" pitchFamily="34" charset="0"/>
                </a:rPr>
                <a:t>Radioactive and hot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cs typeface="Arial" pitchFamily="34" charset="0"/>
                </a:rPr>
                <a:t> </a:t>
              </a:r>
            </a:p>
          </p:txBody>
        </p:sp>
      </p:grpSp>
      <p:sp>
        <p:nvSpPr>
          <p:cNvPr id="211" name="Line 189"/>
          <p:cNvSpPr>
            <a:spLocks noChangeShapeType="1"/>
          </p:cNvSpPr>
          <p:nvPr/>
        </p:nvSpPr>
        <p:spPr bwMode="auto">
          <a:xfrm flipH="1">
            <a:off x="1859250" y="4714862"/>
            <a:ext cx="596430" cy="5832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cs typeface="Arial" pitchFamily="34" charset="0"/>
            </a:endParaRPr>
          </a:p>
        </p:txBody>
      </p:sp>
      <p:grpSp>
        <p:nvGrpSpPr>
          <p:cNvPr id="191543" name="Group 191542"/>
          <p:cNvGrpSpPr/>
          <p:nvPr/>
        </p:nvGrpSpPr>
        <p:grpSpPr>
          <a:xfrm>
            <a:off x="395536" y="2878371"/>
            <a:ext cx="7843434" cy="3246635"/>
            <a:chOff x="395536" y="3633525"/>
            <a:chExt cx="7843434" cy="3246635"/>
          </a:xfrm>
        </p:grpSpPr>
        <p:sp>
          <p:nvSpPr>
            <p:cNvPr id="191662" name="Oval 174"/>
            <p:cNvSpPr>
              <a:spLocks noChangeArrowheads="1"/>
            </p:cNvSpPr>
            <p:nvPr/>
          </p:nvSpPr>
          <p:spPr bwMode="auto">
            <a:xfrm>
              <a:off x="3057139" y="3986749"/>
              <a:ext cx="127462" cy="1214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663" name="Oval 175"/>
            <p:cNvSpPr>
              <a:spLocks noChangeArrowheads="1"/>
            </p:cNvSpPr>
            <p:nvPr/>
          </p:nvSpPr>
          <p:spPr bwMode="auto">
            <a:xfrm>
              <a:off x="3215538" y="4098885"/>
              <a:ext cx="127462" cy="1214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676" name="Line 188"/>
            <p:cNvSpPr>
              <a:spLocks noChangeShapeType="1"/>
            </p:cNvSpPr>
            <p:nvPr/>
          </p:nvSpPr>
          <p:spPr bwMode="auto">
            <a:xfrm flipH="1">
              <a:off x="3327837" y="3714130"/>
              <a:ext cx="675363" cy="9970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677" name="Line 189"/>
            <p:cNvSpPr>
              <a:spLocks noChangeShapeType="1"/>
            </p:cNvSpPr>
            <p:nvPr/>
          </p:nvSpPr>
          <p:spPr bwMode="auto">
            <a:xfrm flipH="1">
              <a:off x="3327837" y="3633525"/>
              <a:ext cx="490045" cy="3737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91685" name="Oval 197"/>
            <p:cNvSpPr>
              <a:spLocks noChangeArrowheads="1"/>
            </p:cNvSpPr>
            <p:nvPr/>
          </p:nvSpPr>
          <p:spPr bwMode="auto">
            <a:xfrm>
              <a:off x="3136338" y="4711152"/>
              <a:ext cx="127462" cy="1214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>
                <a:solidFill>
                  <a:srgbClr val="000000"/>
                </a:solidFill>
                <a:cs typeface="Arial" pitchFamily="34" charset="0"/>
              </a:endParaRPr>
            </a:p>
          </p:txBody>
        </p:sp>
        <p:pic>
          <p:nvPicPr>
            <p:cNvPr id="204" name="Object 1"/>
            <p:cNvPicPr>
              <a:picLocks noChangeArrowheads="1"/>
            </p:cNvPicPr>
            <p:nvPr/>
          </p:nvPicPr>
          <p:blipFill rotWithShape="1">
            <a:blip r:embed="rId4" cstate="print"/>
            <a:srcRect l="16836" t="15561" r="69372" b="49256"/>
            <a:stretch/>
          </p:blipFill>
          <p:spPr bwMode="auto">
            <a:xfrm>
              <a:off x="2545086" y="4788040"/>
              <a:ext cx="755220" cy="9928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1" name="Group 30"/>
            <p:cNvGrpSpPr/>
            <p:nvPr/>
          </p:nvGrpSpPr>
          <p:grpSpPr>
            <a:xfrm>
              <a:off x="473102" y="4711152"/>
              <a:ext cx="1714244" cy="1573615"/>
              <a:chOff x="7106228" y="4772063"/>
              <a:chExt cx="1714244" cy="1573615"/>
            </a:xfrm>
          </p:grpSpPr>
          <p:sp>
            <p:nvSpPr>
              <p:cNvPr id="206" name="Text Box 60"/>
              <p:cNvSpPr txBox="1">
                <a:spLocks noChangeArrowheads="1"/>
              </p:cNvSpPr>
              <p:nvPr/>
            </p:nvSpPr>
            <p:spPr bwMode="auto">
              <a:xfrm>
                <a:off x="7106228" y="4772063"/>
                <a:ext cx="1714244" cy="5847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91424" tIns="45712" rIns="91424" bIns="45712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3200" baseline="30000" dirty="0">
                    <a:solidFill>
                      <a:srgbClr val="FF0000"/>
                    </a:solidFill>
                    <a:latin typeface="Times New Roman" pitchFamily="18" charset="0"/>
                    <a:cs typeface="+mn-cs"/>
                  </a:rPr>
                  <a:t>238-241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itchFamily="18" charset="0"/>
                    <a:cs typeface="+mn-cs"/>
                  </a:rPr>
                  <a:t>Pu</a:t>
                </a:r>
              </a:p>
            </p:txBody>
          </p:sp>
          <p:sp>
            <p:nvSpPr>
              <p:cNvPr id="207" name="Text Box 37"/>
              <p:cNvSpPr txBox="1">
                <a:spLocks noChangeArrowheads="1"/>
              </p:cNvSpPr>
              <p:nvPr/>
            </p:nvSpPr>
            <p:spPr bwMode="auto">
              <a:xfrm>
                <a:off x="7205891" y="5229200"/>
                <a:ext cx="1378300" cy="5847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91424" tIns="45712" rIns="91424" bIns="45712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3200" baseline="30000" dirty="0">
                    <a:solidFill>
                      <a:srgbClr val="FF0000"/>
                    </a:solidFill>
                    <a:latin typeface="Times New Roman" pitchFamily="18" charset="0"/>
                    <a:cs typeface="+mn-cs"/>
                  </a:rPr>
                  <a:t>238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itchFamily="18" charset="0"/>
                    <a:cs typeface="+mn-cs"/>
                  </a:rPr>
                  <a:t>Np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7199540" y="5760903"/>
                <a:ext cx="12314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3200" baseline="30000" dirty="0">
                    <a:solidFill>
                      <a:srgbClr val="FF0000"/>
                    </a:solidFill>
                    <a:latin typeface="Times New Roman" pitchFamily="18" charset="0"/>
                  </a:rPr>
                  <a:t>241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itchFamily="18" charset="0"/>
                  </a:rPr>
                  <a:t>Am</a:t>
                </a:r>
              </a:p>
            </p:txBody>
          </p:sp>
        </p:grpSp>
        <p:sp>
          <p:nvSpPr>
            <p:cNvPr id="191524" name="TextBox 191523"/>
            <p:cNvSpPr txBox="1"/>
            <p:nvPr/>
          </p:nvSpPr>
          <p:spPr>
            <a:xfrm>
              <a:off x="395536" y="4005064"/>
              <a:ext cx="23936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latin typeface="Times New Roman" pitchFamily="18" charset="0"/>
                  <a:cs typeface="Times New Roman" pitchFamily="18" charset="0"/>
                </a:rPr>
                <a:t>Transuranics</a:t>
              </a:r>
              <a:r>
                <a:rPr lang="en-GB" sz="3200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263800" y="4941168"/>
              <a:ext cx="497517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cs typeface="Arial" pitchFamily="34" charset="0"/>
                </a:rPr>
                <a:t>Long lived Isotopes. </a:t>
              </a: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Half-life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solidFill>
                    <a:srgbClr val="FF0000"/>
                  </a:solidFill>
                  <a:cs typeface="Arial" pitchFamily="34" charset="0"/>
                </a:rPr>
                <a:t>thousands to 100s thousands of years. </a:t>
              </a:r>
              <a:r>
                <a:rPr lang="en-GB" sz="2400" dirty="0">
                  <a:cs typeface="Arial" pitchFamily="34" charset="0"/>
                </a:rPr>
                <a:t>Radioactive and produce daughters. 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cs typeface="Arial" pitchFamily="34" charset="0"/>
                </a:rPr>
                <a:t> </a:t>
              </a:r>
            </a:p>
          </p:txBody>
        </p:sp>
      </p:grpSp>
      <p:pic>
        <p:nvPicPr>
          <p:cNvPr id="20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2003" y="980876"/>
            <a:ext cx="3272292" cy="4171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01" name="Rectangle 200"/>
          <p:cNvSpPr/>
          <p:nvPr/>
        </p:nvSpPr>
        <p:spPr>
          <a:xfrm>
            <a:off x="2920794" y="5529613"/>
            <a:ext cx="617792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2 – 3 years operations – full of breakdown products</a:t>
            </a:r>
            <a:endParaRPr lang="en-GB" sz="2000" i="1" dirty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Spent fuel = ~3% FPs; ~1% </a:t>
            </a:r>
            <a:r>
              <a:rPr lang="en-GB" sz="2000" dirty="0" err="1"/>
              <a:t>Pu</a:t>
            </a:r>
            <a:r>
              <a:rPr lang="en-GB" sz="2000" dirty="0"/>
              <a:t>; 96% </a:t>
            </a:r>
            <a:r>
              <a:rPr lang="en-GB" sz="2000" baseline="30000" dirty="0"/>
              <a:t>235+238</a:t>
            </a:r>
            <a:r>
              <a:rPr lang="en-GB" sz="2000" dirty="0"/>
              <a:t>U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2000" dirty="0"/>
              <a:t>1 million X more radioactive than they went in.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9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886"/>
    </mc:Choice>
    <mc:Fallback xmlns="">
      <p:transition spd="slow" advTm="8388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pPr algn="l"/>
            <a:r>
              <a:rPr lang="en-GB" dirty="0" err="1"/>
              <a:t>Radwaste</a:t>
            </a:r>
            <a:r>
              <a:rPr lang="en-GB" dirty="0"/>
              <a:t>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4032448" cy="5122789"/>
          </a:xfrm>
        </p:spPr>
        <p:txBody>
          <a:bodyPr>
            <a:normAutofit fontScale="92500" lnSpcReduction="20000"/>
          </a:bodyPr>
          <a:lstStyle/>
          <a:p>
            <a:r>
              <a:rPr lang="en-GB" sz="2400" dirty="0"/>
              <a:t>High-level waste: (HLW) </a:t>
            </a:r>
          </a:p>
          <a:p>
            <a:pPr lvl="1"/>
            <a:r>
              <a:rPr lang="en-GB" sz="1800" dirty="0">
                <a:solidFill>
                  <a:srgbClr val="FF0000"/>
                </a:solidFill>
              </a:rPr>
              <a:t>Produces radioactivity and heat. </a:t>
            </a:r>
          </a:p>
          <a:p>
            <a:pPr lvl="1"/>
            <a:r>
              <a:rPr lang="en-GB" sz="1800" dirty="0"/>
              <a:t>From reprocessing spent fuel, nitric acid solutions and glasses</a:t>
            </a:r>
            <a:endParaRPr lang="en-GB" dirty="0"/>
          </a:p>
          <a:p>
            <a:r>
              <a:rPr lang="en-GB" sz="2400" dirty="0"/>
              <a:t>Intermediate-level waste (ILW)</a:t>
            </a:r>
            <a:endParaRPr lang="en-GB" dirty="0"/>
          </a:p>
          <a:p>
            <a:pPr lvl="1"/>
            <a:r>
              <a:rPr lang="en-GB" sz="1800" dirty="0">
                <a:solidFill>
                  <a:srgbClr val="FF0000"/>
                </a:solidFill>
              </a:rPr>
              <a:t>High radioactivity but little heat</a:t>
            </a:r>
          </a:p>
          <a:p>
            <a:pPr lvl="1"/>
            <a:r>
              <a:rPr lang="en-GB" sz="1800" dirty="0"/>
              <a:t>Steel, graphite, concrete, cement and sand, sludges etc. (e.g. from buildings)</a:t>
            </a:r>
          </a:p>
          <a:p>
            <a:r>
              <a:rPr lang="en-GB" sz="2400" dirty="0"/>
              <a:t>Low-level waste (LLW)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Wastes less than 4 </a:t>
            </a:r>
            <a:r>
              <a:rPr lang="en-US" sz="1800" dirty="0" err="1">
                <a:solidFill>
                  <a:srgbClr val="FF0000"/>
                </a:solidFill>
              </a:rPr>
              <a:t>GBqs</a:t>
            </a:r>
            <a:r>
              <a:rPr lang="en-US" sz="1800" dirty="0">
                <a:solidFill>
                  <a:srgbClr val="FF0000"/>
                </a:solidFill>
              </a:rPr>
              <a:t> per </a:t>
            </a:r>
            <a:r>
              <a:rPr lang="en-US" sz="1800" dirty="0" err="1">
                <a:solidFill>
                  <a:srgbClr val="FF0000"/>
                </a:solidFill>
              </a:rPr>
              <a:t>tonne</a:t>
            </a:r>
            <a:r>
              <a:rPr lang="en-US" sz="1800" dirty="0">
                <a:solidFill>
                  <a:srgbClr val="FF0000"/>
                </a:solidFill>
              </a:rPr>
              <a:t> of alpha activity or 12 </a:t>
            </a:r>
            <a:r>
              <a:rPr lang="en-US" sz="1800" dirty="0" err="1">
                <a:solidFill>
                  <a:srgbClr val="FF0000"/>
                </a:solidFill>
              </a:rPr>
              <a:t>Gbq</a:t>
            </a:r>
            <a:r>
              <a:rPr lang="en-US" sz="1800" dirty="0">
                <a:solidFill>
                  <a:srgbClr val="FF0000"/>
                </a:solidFill>
              </a:rPr>
              <a:t> per </a:t>
            </a:r>
            <a:r>
              <a:rPr lang="en-US" sz="1800" dirty="0" err="1">
                <a:solidFill>
                  <a:srgbClr val="FF0000"/>
                </a:solidFill>
              </a:rPr>
              <a:t>tonne</a:t>
            </a:r>
            <a:r>
              <a:rPr lang="en-US" sz="1800" dirty="0">
                <a:solidFill>
                  <a:srgbClr val="FF0000"/>
                </a:solidFill>
              </a:rPr>
              <a:t> of beta/gamma activity</a:t>
            </a:r>
            <a:endParaRPr lang="en-GB" sz="1800" dirty="0">
              <a:solidFill>
                <a:srgbClr val="FF0000"/>
              </a:solidFill>
            </a:endParaRPr>
          </a:p>
          <a:p>
            <a:pPr lvl="1"/>
            <a:r>
              <a:rPr lang="en-GB" sz="1800" dirty="0"/>
              <a:t>Plastics, paper and metal, soils, building materials and plant.</a:t>
            </a:r>
            <a:endParaRPr lang="en-GB" sz="1800" i="1" dirty="0"/>
          </a:p>
          <a:p>
            <a:r>
              <a:rPr lang="en-GB" sz="2400" dirty="0"/>
              <a:t>Very low-level waste (</a:t>
            </a:r>
            <a:r>
              <a:rPr lang="en-GB" sz="2400" dirty="0" err="1"/>
              <a:t>VLLW</a:t>
            </a:r>
            <a:r>
              <a:rPr lang="en-GB" sz="2400" dirty="0"/>
              <a:t>)</a:t>
            </a:r>
          </a:p>
          <a:p>
            <a:pPr lvl="1"/>
            <a:r>
              <a:rPr lang="en-GB" sz="2000" dirty="0">
                <a:solidFill>
                  <a:srgbClr val="FF0000"/>
                </a:solidFill>
              </a:rPr>
              <a:t>Controlled or general landfill depending on volume.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27007" y="6467818"/>
            <a:ext cx="93610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rgbClr val="000000"/>
                </a:solidFill>
              </a:rPr>
              <a:t>https://ukinventory.nda.gov.uk/wp-content/uploads/2021/03/20201222-Official-Rep-PO023346_fact-sheet-03.pdf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0F6A0E6E-2C61-9387-5637-CFF3198C8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6907527" y="118695"/>
            <a:ext cx="2005641" cy="2631606"/>
          </a:xfrm>
          <a:prstGeom prst="rect">
            <a:avLst/>
          </a:prstGeom>
          <a:noFill/>
        </p:spPr>
      </p:pic>
      <p:pic>
        <p:nvPicPr>
          <p:cNvPr id="8" name="Picture 4" descr="TS064">
            <a:extLst>
              <a:ext uri="{FF2B5EF4-FFF2-40B4-BE49-F238E27FC236}">
                <a16:creationId xmlns:a16="http://schemas.microsoft.com/office/drawing/2014/main" id="{28ECFCEE-89FF-007A-3E89-42209CC2E3D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6881972" y="2964827"/>
            <a:ext cx="2056750" cy="2725763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5CEE79-C5FD-50DB-876C-1007C79EB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553" y="1945714"/>
            <a:ext cx="2363711" cy="20986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760BCD-1F18-C440-2262-3D1EC643A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952" y="4327708"/>
            <a:ext cx="2472955" cy="17655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813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17"/>
    </mc:Choice>
    <mc:Fallback xmlns="">
      <p:transition spd="slow" advTm="58417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B67E3C-DC0D-AA54-2671-A09DDEEEF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31757"/>
            <a:ext cx="4216284" cy="3848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6F809-24A9-E339-F6FC-535C7A6733F2}"/>
              </a:ext>
            </a:extLst>
          </p:cNvPr>
          <p:cNvSpPr txBox="1"/>
          <p:nvPr/>
        </p:nvSpPr>
        <p:spPr>
          <a:xfrm>
            <a:off x="5508104" y="43386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B353E"/>
                </a:solidFill>
                <a:effectLst/>
                <a:latin typeface="Source Sans 3"/>
              </a:rPr>
              <a:t>Approx. 450,000 m</a:t>
            </a:r>
            <a:r>
              <a:rPr lang="en-GB" b="0" i="0" baseline="30000" dirty="0">
                <a:solidFill>
                  <a:srgbClr val="2B353E"/>
                </a:solidFill>
                <a:effectLst/>
                <a:latin typeface="Source Sans 3"/>
              </a:rPr>
              <a:t>3</a:t>
            </a:r>
            <a:endParaRPr lang="en-GB" baseline="30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325186-D862-DFF1-6480-F28FB328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477" y="1231757"/>
            <a:ext cx="3995936" cy="31069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9A021BF-30C8-0B66-2CFC-E78A6AB4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Volume of waste-the challenge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98E96B-8155-C6DA-4B2D-0DFE36470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702" y="323581"/>
            <a:ext cx="6416596" cy="62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2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067" name="Picture 3" descr="Sellafield site new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6363935" y="2190879"/>
            <a:ext cx="28216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 err="1">
                <a:latin typeface="#Calibri"/>
              </a:rPr>
              <a:t>Sellafield</a:t>
            </a:r>
            <a:r>
              <a:rPr lang="en-GB" sz="4400" b="1" dirty="0">
                <a:latin typeface="#Calibri"/>
              </a:rPr>
              <a:t> </a:t>
            </a:r>
          </a:p>
        </p:txBody>
      </p:sp>
      <p:pic>
        <p:nvPicPr>
          <p:cNvPr id="194562" name="Picture 2" descr="http://gwydir.demon.co.uk/jo/maps/uktowns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093" y="0"/>
            <a:ext cx="1622907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V="1">
            <a:off x="7521093" y="548680"/>
            <a:ext cx="507291" cy="165618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70376" y="4797152"/>
            <a:ext cx="461665" cy="3883308"/>
          </a:xfrm>
          <a:prstGeom prst="rect">
            <a:avLst/>
          </a:prstGeom>
          <a:noFill/>
          <a:scene3d>
            <a:camera prst="orthographicFront">
              <a:rot lat="0" lon="5400000" rev="0"/>
            </a:camera>
            <a:lightRig rig="threePt" dir="t"/>
          </a:scene3d>
        </p:spPr>
        <p:txBody>
          <a:bodyPr vert="eaVert" wrap="square" rtlCol="0">
            <a:spAutoFit/>
          </a:bodyPr>
          <a:lstStyle/>
          <a:p>
            <a:r>
              <a:rPr lang="en-GB" dirty="0"/>
              <a:t>70% by volume already at </a:t>
            </a:r>
            <a:r>
              <a:rPr lang="en-GB" dirty="0" err="1"/>
              <a:t>Sellafield</a:t>
            </a:r>
            <a:r>
              <a:rPr lang="en-GB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93858"/>
            <a:ext cx="91440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b="1" dirty="0"/>
              <a:t>70% HLW/ILW at </a:t>
            </a:r>
            <a:r>
              <a:rPr lang="en-GB" sz="2800" b="1" dirty="0" err="1"/>
              <a:t>Sellafield</a:t>
            </a:r>
            <a:r>
              <a:rPr lang="en-GB" sz="2800" b="1" dirty="0"/>
              <a:t> (volume)</a:t>
            </a:r>
          </a:p>
          <a:p>
            <a:r>
              <a:rPr lang="en-GB" sz="2800" b="1" dirty="0"/>
              <a:t>Radioactivity % much higher as all HLW and Spent Fuel is sent there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A44B8-7FE6-0E6D-3CBC-847022A093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083" t="4816"/>
          <a:stretch/>
        </p:blipFill>
        <p:spPr>
          <a:xfrm>
            <a:off x="-10548" y="-20853"/>
            <a:ext cx="3142388" cy="33061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9515136"/>
      </p:ext>
    </p:extLst>
  </p:cSld>
  <p:clrMapOvr>
    <a:masterClrMapping/>
  </p:clrMapOvr>
  <p:transition advTm="2963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528" y="2708920"/>
            <a:ext cx="8229600" cy="1143000"/>
          </a:xfrm>
        </p:spPr>
        <p:txBody>
          <a:bodyPr/>
          <a:lstStyle/>
          <a:p>
            <a:r>
              <a:rPr lang="en-GB" dirty="0"/>
              <a:t>So what can we do with the waste?</a:t>
            </a:r>
          </a:p>
        </p:txBody>
      </p:sp>
    </p:spTree>
    <p:extLst>
      <p:ext uri="{BB962C8B-B14F-4D97-AF65-F5344CB8AC3E}">
        <p14:creationId xmlns:p14="http://schemas.microsoft.com/office/powerpoint/2010/main" val="32649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73"/>
    </mc:Choice>
    <mc:Fallback xmlns="">
      <p:transition spd="slow" advTm="7073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199" y="1841505"/>
            <a:ext cx="4138297" cy="4179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5085184"/>
            <a:ext cx="84599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200" b="1" dirty="0">
              <a:solidFill>
                <a:srgbClr val="000000"/>
              </a:solidFill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200" b="1" dirty="0">
                <a:solidFill>
                  <a:srgbClr val="000000"/>
                </a:solidFill>
                <a:cs typeface="Arial" pitchFamily="34" charset="0"/>
              </a:rPr>
              <a:t>UK 35000 </a:t>
            </a:r>
            <a:r>
              <a:rPr lang="en-GB" sz="2200" b="1" dirty="0" err="1">
                <a:solidFill>
                  <a:srgbClr val="000000"/>
                </a:solidFill>
                <a:cs typeface="Arial" pitchFamily="34" charset="0"/>
              </a:rPr>
              <a:t>TBq</a:t>
            </a:r>
            <a:r>
              <a:rPr lang="en-GB" sz="2200" b="1" dirty="0">
                <a:solidFill>
                  <a:srgbClr val="000000"/>
                </a:solidFill>
                <a:cs typeface="Arial" pitchFamily="34" charset="0"/>
              </a:rPr>
              <a:t> in the Atlantic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2200" b="1" dirty="0">
              <a:solidFill>
                <a:srgbClr val="000000"/>
              </a:solidFill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200" b="1" dirty="0">
                <a:solidFill>
                  <a:srgbClr val="000000"/>
                </a:solidFill>
                <a:cs typeface="Arial" pitchFamily="34" charset="0"/>
              </a:rPr>
              <a:t>(USA at least  ‘34282 containers’)</a:t>
            </a:r>
          </a:p>
        </p:txBody>
      </p:sp>
      <p:pic>
        <p:nvPicPr>
          <p:cNvPr id="4" name="Picture 4" descr="http://i.ytimg.com/vi/5vIZEgFY3hg/0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8" t="10618" r="4916" b="28474"/>
          <a:stretch/>
        </p:blipFill>
        <p:spPr bwMode="auto">
          <a:xfrm>
            <a:off x="235735" y="2132856"/>
            <a:ext cx="4431739" cy="27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7544" y="416858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000" dirty="0">
                <a:solidFill>
                  <a:srgbClr val="000000"/>
                </a:solidFill>
                <a:cs typeface="Arial" pitchFamily="34" charset="0"/>
              </a:rPr>
              <a:t>Sea Dumping 1948-1982</a:t>
            </a:r>
          </a:p>
        </p:txBody>
      </p:sp>
      <p:pic>
        <p:nvPicPr>
          <p:cNvPr id="6" name="Picture 2" descr="http://cdn1.spiegel.de/images/image-482830-breitwandaufmacher-micy.jpg">
            <a:hlinkClick r:id="rId6"/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04" r="28870"/>
          <a:stretch/>
        </p:blipFill>
        <p:spPr bwMode="auto">
          <a:xfrm>
            <a:off x="107504" y="2132856"/>
            <a:ext cx="468236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5580112" y="2394815"/>
            <a:ext cx="2762378" cy="2762377"/>
            <a:chOff x="5608152" y="2147248"/>
            <a:chExt cx="2762378" cy="2762377"/>
          </a:xfrm>
        </p:grpSpPr>
        <p:pic>
          <p:nvPicPr>
            <p:cNvPr id="8" name="Picture 6" descr="http://1.bp.blogspot.com/_AsW-lOVBuzE/S-Hidp_PWAI/AAAAAAAACRk/uM4UB7sazh8/s1600/No+entry.png">
              <a:hlinkClick r:id="rId8"/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-39000"/>
                      </a14:imgEffect>
                      <a14:imgEffect>
                        <a14:saturation sat="81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603735">
              <a:off x="5608152" y="2147248"/>
              <a:ext cx="2762377" cy="2762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 rot="18556818">
              <a:off x="6059571" y="3177926"/>
              <a:ext cx="18902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FF0000"/>
                  </a:solidFill>
                </a:rPr>
                <a:t>High level 1972</a:t>
              </a:r>
            </a:p>
            <a:p>
              <a:pPr algn="ctr"/>
              <a:r>
                <a:rPr lang="en-GB" b="1" dirty="0">
                  <a:solidFill>
                    <a:srgbClr val="FF0000"/>
                  </a:solidFill>
                </a:rPr>
                <a:t>All wastes 1994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3080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97"/>
    </mc:Choice>
    <mc:Fallback xmlns="">
      <p:transition spd="slow" advTm="74997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2267619" y="260648"/>
            <a:ext cx="5256709" cy="76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4" tIns="45712" rIns="91424" bIns="4571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z="4400" dirty="0">
                <a:solidFill>
                  <a:srgbClr val="000000"/>
                </a:solidFill>
                <a:cs typeface="Arial" pitchFamily="34" charset="0"/>
              </a:rPr>
              <a:t>Early bad habits!</a:t>
            </a:r>
            <a:endParaRPr lang="en-US" sz="4400" dirty="0">
              <a:solidFill>
                <a:srgbClr val="000000"/>
              </a:solidFill>
              <a:cs typeface="Arial" pitchFamily="34" charset="0"/>
            </a:endParaRPr>
          </a:p>
        </p:txBody>
      </p:sp>
      <p:graphicFrame>
        <p:nvGraphicFramePr>
          <p:cNvPr id="666630" name="Object 6"/>
          <p:cNvGraphicFramePr>
            <a:graphicFrameLocks noChangeAspect="1"/>
          </p:cNvGraphicFramePr>
          <p:nvPr/>
        </p:nvGraphicFramePr>
        <p:xfrm>
          <a:off x="250825" y="1700213"/>
          <a:ext cx="5472113" cy="330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3495238" imgH="10123810" progId="">
                  <p:embed/>
                </p:oleObj>
              </mc:Choice>
              <mc:Fallback>
                <p:oleObj name="Image" r:id="rId4" imgW="13495238" imgH="10123810" progId="">
                  <p:embed/>
                  <p:pic>
                    <p:nvPicPr>
                      <p:cNvPr id="66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5472113" cy="330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66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50063"/>
            <a:ext cx="3420317" cy="253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1332057"/>
            <a:ext cx="1848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</a:rPr>
              <a:t>Sellafield</a:t>
            </a:r>
            <a:endParaRPr lang="en-GB" sz="3200" dirty="0">
              <a:solidFill>
                <a:srgbClr val="FF0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292080" y="1260049"/>
            <a:ext cx="3600450" cy="5265295"/>
            <a:chOff x="5292080" y="1260049"/>
            <a:chExt cx="3600450" cy="5265295"/>
          </a:xfrm>
        </p:grpSpPr>
        <p:pic>
          <p:nvPicPr>
            <p:cNvPr id="10" name="Picture 4" descr="dounreay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292080" y="1960042"/>
              <a:ext cx="3600450" cy="2405062"/>
            </a:xfrm>
            <a:prstGeom prst="rect">
              <a:avLst/>
            </a:prstGeom>
            <a:noFill/>
          </p:spPr>
        </p:pic>
        <p:graphicFrame>
          <p:nvGraphicFramePr>
            <p:cNvPr id="1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4805139"/>
                </p:ext>
              </p:extLst>
            </p:nvPr>
          </p:nvGraphicFramePr>
          <p:xfrm>
            <a:off x="5543549" y="4472517"/>
            <a:ext cx="3060899" cy="20528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8" imgW="5714286" imgH="3828571" progId="PBrush">
                    <p:embed/>
                  </p:oleObj>
                </mc:Choice>
                <mc:Fallback>
                  <p:oleObj name="Bitmap Image" r:id="rId8" imgW="5714286" imgH="3828571" progId="PBrush">
                    <p:embed/>
                    <p:pic>
                      <p:nvPicPr>
                        <p:cNvPr id="1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3549" y="4472517"/>
                          <a:ext cx="3060899" cy="20528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TextBox 2"/>
            <p:cNvSpPr txBox="1"/>
            <p:nvPr/>
          </p:nvSpPr>
          <p:spPr>
            <a:xfrm>
              <a:off x="5635543" y="1260049"/>
              <a:ext cx="18035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>
                  <a:solidFill>
                    <a:srgbClr val="FF0000"/>
                  </a:solidFill>
                </a:rPr>
                <a:t>Dounreay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19ADFFE-1E56-67F2-CE39-F43DA161FF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4769" y="597924"/>
            <a:ext cx="5334462" cy="56621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39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73"/>
    </mc:Choice>
    <mc:Fallback xmlns="">
      <p:transition spd="slow" advTm="797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Waste at 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Sellafield</a:t>
            </a:r>
            <a:r>
              <a:rPr lang="en-GB" sz="4400" dirty="0">
                <a:latin typeface="+mj-lt"/>
                <a:ea typeface="+mj-ea"/>
                <a:cs typeface="+mj-cs"/>
              </a:rPr>
              <a:t>, Cumbria 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8" name="Picture 3" descr="fullsize_04_d_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43931"/>
            <a:ext cx="3315907" cy="2520000"/>
          </a:xfrm>
          <a:prstGeom prst="rect">
            <a:avLst/>
          </a:prstGeom>
          <a:noFill/>
        </p:spPr>
      </p:pic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476698"/>
            <a:ext cx="2110609" cy="223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3" descr="3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55390" y="4220808"/>
            <a:ext cx="3562541" cy="2399512"/>
          </a:xfrm>
          <a:prstGeom prst="rect">
            <a:avLst/>
          </a:prstGeom>
          <a:noFill/>
          <a:ln w="76200" cap="flat" algn="ctr">
            <a:solidFill>
              <a:srgbClr val="FFFFFF"/>
            </a:solidFill>
          </a:ln>
        </p:spPr>
      </p:pic>
      <p:pic>
        <p:nvPicPr>
          <p:cNvPr id="6" name="Picture 3" descr="P1010081_FinalWTCProductAtEDS2After2,250Compact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4008" y="4247131"/>
            <a:ext cx="3337703" cy="2373189"/>
          </a:xfrm>
          <a:prstGeom prst="rect">
            <a:avLst/>
          </a:prstGeom>
          <a:noFill/>
          <a:ln w="57150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2" descr="http://static.guim.co.uk/sys-images/Guardian/Pix/pictures/2009/10/20/1256032223237/Vitrified-Product-Store-a-00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859" y="1923887"/>
            <a:ext cx="2600145" cy="156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503812"/>
      </p:ext>
    </p:extLst>
  </p:cSld>
  <p:clrMapOvr>
    <a:masterClrMapping/>
  </p:clrMapOvr>
  <p:transition advTm="15017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Geological disposal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3400" b="1" dirty="0">
                <a:solidFill>
                  <a:srgbClr val="FF0000"/>
                </a:solidFill>
              </a:rPr>
              <a:t>Multi-barrier method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600" b="1" dirty="0" err="1"/>
              <a:t>Wasteforms</a:t>
            </a:r>
            <a:endParaRPr lang="en-GB" sz="2600" b="1" dirty="0"/>
          </a:p>
          <a:p>
            <a:pPr lvl="1" eaLnBrk="1" hangingPunct="1">
              <a:lnSpc>
                <a:spcPct val="90000"/>
              </a:lnSpc>
            </a:pPr>
            <a:r>
              <a:rPr lang="en-GB" sz="2600" b="1" dirty="0"/>
              <a:t>Casing for waste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600" b="1" dirty="0"/>
              <a:t>Engineered barrier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600" b="1" dirty="0"/>
              <a:t>Geosphere</a:t>
            </a:r>
          </a:p>
          <a:p>
            <a:pPr lvl="1" eaLnBrk="1" hangingPunct="1">
              <a:lnSpc>
                <a:spcPct val="90000"/>
              </a:lnSpc>
            </a:pPr>
            <a:endParaRPr lang="en-GB" sz="2600" b="1" dirty="0"/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Last for 10</a:t>
            </a:r>
            <a:r>
              <a:rPr lang="en-GB" sz="2600" b="1" baseline="30000" dirty="0"/>
              <a:t>6 </a:t>
            </a:r>
            <a:r>
              <a:rPr lang="en-GB" sz="2800" b="1" dirty="0"/>
              <a:t>years</a:t>
            </a:r>
          </a:p>
          <a:p>
            <a:pPr lvl="1" eaLnBrk="1" hangingPunct="1">
              <a:lnSpc>
                <a:spcPct val="90000"/>
              </a:lnSpc>
            </a:pPr>
            <a:endParaRPr lang="en-GB" sz="2600" dirty="0"/>
          </a:p>
        </p:txBody>
      </p:sp>
      <p:pic>
        <p:nvPicPr>
          <p:cNvPr id="62771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6" t="44554" r="2519" b="1834"/>
          <a:stretch>
            <a:fillRect/>
          </a:stretch>
        </p:blipFill>
        <p:spPr bwMode="auto">
          <a:xfrm>
            <a:off x="3491880" y="3861048"/>
            <a:ext cx="5003800" cy="249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/>
          <p:cNvSpPr/>
          <p:nvPr/>
        </p:nvSpPr>
        <p:spPr>
          <a:xfrm>
            <a:off x="899592" y="3429000"/>
            <a:ext cx="223224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275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69"/>
    </mc:Choice>
    <mc:Fallback xmlns="">
      <p:transition spd="slow" advTm="86869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Deep Geological Disposal</a:t>
            </a:r>
          </a:p>
        </p:txBody>
      </p:sp>
      <p:pic>
        <p:nvPicPr>
          <p:cNvPr id="3" name="Picture 2" descr="1609-01-NDA - GDF Scenario 2"/>
          <p:cNvPicPr>
            <a:picLocks noChangeAspect="1" noChangeArrowheads="1"/>
          </p:cNvPicPr>
          <p:nvPr/>
        </p:nvPicPr>
        <p:blipFill>
          <a:blip r:embed="rId3" cstate="print"/>
          <a:srcRect l="2782" t="3077" r="1236" b="12308"/>
          <a:stretch>
            <a:fillRect/>
          </a:stretch>
        </p:blipFill>
        <p:spPr bwMode="auto">
          <a:xfrm>
            <a:off x="463617" y="4077072"/>
            <a:ext cx="4053396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825" y="1336701"/>
            <a:ext cx="4415651" cy="2740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703554" y="5188550"/>
            <a:ext cx="4440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Should we be able to access the waste again?</a:t>
            </a:r>
          </a:p>
        </p:txBody>
      </p:sp>
      <p:pic>
        <p:nvPicPr>
          <p:cNvPr id="6" name="Picture 2" descr="High Level Waste Deca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47" y="1556792"/>
            <a:ext cx="3056460" cy="331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14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07"/>
    </mc:Choice>
    <mc:Fallback xmlns="">
      <p:transition spd="slow" advTm="29107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2400" dirty="0"/>
              <a:t>What do we need to know?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908720"/>
            <a:ext cx="3372104" cy="358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C8D3A1-5D2A-DC8B-978A-39394C45D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48" y="354063"/>
            <a:ext cx="6972904" cy="6149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AC77B1-94C0-F916-0E23-D5CA36445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894" y="2924944"/>
            <a:ext cx="5292812" cy="37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0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533"/>
    </mc:Choice>
    <mc:Fallback xmlns="">
      <p:transition spd="slow" advTm="48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Waste materials will take up to a million years to be considered ‘safe’</a:t>
            </a:r>
          </a:p>
          <a:p>
            <a:r>
              <a:rPr lang="en-GB" dirty="0"/>
              <a:t>The nuclear waste comes from every part of the nuclear fuel cycle from mining the uranium to reprocessing the spent fuel</a:t>
            </a:r>
          </a:p>
          <a:p>
            <a:r>
              <a:rPr lang="en-GB" dirty="0"/>
              <a:t>There have been many different scenarios for disposal</a:t>
            </a:r>
          </a:p>
          <a:p>
            <a:r>
              <a:rPr lang="en-GB" dirty="0"/>
              <a:t>Deep geological disposal is the UK method</a:t>
            </a:r>
          </a:p>
          <a:p>
            <a:r>
              <a:rPr lang="en-GB" dirty="0"/>
              <a:t>But where exactly to put it…?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027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472"/>
    </mc:Choice>
    <mc:Fallback xmlns="">
      <p:transition spd="slow" advTm="74472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BBE0-DEF1-6E44-97B3-618D56C29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" y="325369"/>
            <a:ext cx="3276451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/>
              <a:t>A Sustainable Planet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C71B0-E228-5748-A274-244EA0104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3339223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900" b="1" dirty="0">
                <a:solidFill>
                  <a:schemeClr val="tx1"/>
                </a:solidFill>
              </a:rPr>
              <a:t>Low Carbon Energy</a:t>
            </a:r>
          </a:p>
          <a:p>
            <a:pPr algn="l">
              <a:lnSpc>
                <a:spcPct val="90000"/>
              </a:lnSpc>
            </a:pPr>
            <a:endParaRPr lang="en-US" sz="190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Dr Vicky Coker</a:t>
            </a: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chemeClr val="tx1"/>
                </a:solidFill>
              </a:rPr>
              <a:t>Department of Earth and Environmental Sciences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2C842-1D72-2245-B860-AD5AC1DEE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64" r="20274" b="-1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327388-0E8D-2244-BDBE-8994FF988B69}"/>
              </a:ext>
            </a:extLst>
          </p:cNvPr>
          <p:cNvSpPr txBox="1"/>
          <p:nvPr/>
        </p:nvSpPr>
        <p:spPr>
          <a:xfrm>
            <a:off x="3983776" y="6172201"/>
            <a:ext cx="5159081" cy="685799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GB" sz="13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vicky.coker@manchester.ac.uk</a:t>
            </a:r>
            <a:r>
              <a:rPr lang="en-GB" sz="1300">
                <a:solidFill>
                  <a:srgbClr val="FFFFFF"/>
                </a:solidFill>
              </a:rPr>
              <a:t>; Williamson Building</a:t>
            </a:r>
          </a:p>
        </p:txBody>
      </p:sp>
    </p:spTree>
    <p:extLst>
      <p:ext uri="{BB962C8B-B14F-4D97-AF65-F5344CB8AC3E}">
        <p14:creationId xmlns:p14="http://schemas.microsoft.com/office/powerpoint/2010/main" val="2513787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Learning outcomes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974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Why low carbon?</a:t>
            </a:r>
          </a:p>
          <a:p>
            <a:r>
              <a:rPr lang="en-US" dirty="0"/>
              <a:t>Discussion of the sources of low carbon energy</a:t>
            </a:r>
          </a:p>
          <a:p>
            <a:pPr lvl="1"/>
            <a:r>
              <a:rPr lang="en-GB" dirty="0"/>
              <a:t>Wind</a:t>
            </a:r>
          </a:p>
          <a:p>
            <a:pPr lvl="1"/>
            <a:r>
              <a:rPr lang="en-GB" dirty="0"/>
              <a:t>Hydroelectric</a:t>
            </a:r>
          </a:p>
          <a:p>
            <a:pPr lvl="1"/>
            <a:r>
              <a:rPr lang="en-GB" dirty="0"/>
              <a:t>Solar </a:t>
            </a:r>
          </a:p>
          <a:p>
            <a:pPr lvl="1"/>
            <a:r>
              <a:rPr lang="en-GB" dirty="0"/>
              <a:t>Biofuels</a:t>
            </a:r>
          </a:p>
          <a:p>
            <a:pPr lvl="1"/>
            <a:r>
              <a:rPr lang="en-GB" dirty="0"/>
              <a:t>Geothermal</a:t>
            </a:r>
          </a:p>
          <a:p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-6 sole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219072"/>
            <a:ext cx="1188579" cy="124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0925A-AF8D-2F75-0CE9-50D1029009DD}"/>
              </a:ext>
            </a:extLst>
          </p:cNvPr>
          <p:cNvSpPr txBox="1"/>
          <p:nvPr/>
        </p:nvSpPr>
        <p:spPr>
          <a:xfrm>
            <a:off x="4587661" y="63087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https://www.iea.org/reports/the-role-of-critical-minerals-in-clean-energy-transitions/mineral-requirements-for-clean-energy-transitions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180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78"/>
    </mc:Choice>
    <mc:Fallback xmlns="">
      <p:transition spd="slow" advTm="33878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5379ADB-B1F7-0EBF-5B0A-572A2A1A5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483"/>
            <a:ext cx="4625741" cy="4458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1744F1-49DB-8B05-9B76-0767C8C0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813" y="3205414"/>
            <a:ext cx="5159187" cy="36274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652E80-8FC2-E6AB-7D81-1756838BAC37}"/>
              </a:ext>
            </a:extLst>
          </p:cNvPr>
          <p:cNvSpPr txBox="1"/>
          <p:nvPr/>
        </p:nvSpPr>
        <p:spPr>
          <a:xfrm>
            <a:off x="-28397" y="6126163"/>
            <a:ext cx="4013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Energy Institute Statistical Review of World Energy 2024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65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20"/>
    </mc:Choice>
    <mc:Fallback xmlns="">
      <p:transition spd="slow" advTm="3512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04800" y="260648"/>
            <a:ext cx="853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 b="1" dirty="0"/>
              <a:t>Natural Energy Flows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2743200" y="2133600"/>
            <a:ext cx="3657600" cy="35814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4343400" y="1143000"/>
            <a:ext cx="457200" cy="914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667000" y="1219200"/>
            <a:ext cx="19050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dirty="0"/>
              <a:t>Mean Solar Input 342 Wm</a:t>
            </a:r>
            <a:r>
              <a:rPr lang="en-GB" sz="1800" baseline="30000" dirty="0"/>
              <a:t>-2</a:t>
            </a:r>
            <a:r>
              <a:rPr lang="en-GB" sz="1800" dirty="0"/>
              <a:t> or  5500 Q/year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733800" y="2971800"/>
            <a:ext cx="1752600" cy="1828800"/>
          </a:xfrm>
          <a:prstGeom prst="ellipse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191000" y="3733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/>
              <a:t>Earth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276600" y="47244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/>
              <a:t>Atmosphere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4495800" y="22098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362200" y="2362200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/>
              <a:t>Photosynthesis 1 Q/y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943600" y="16002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dirty="0"/>
              <a:t>Reflected radiation (albedo 30%) 1650 Q/y</a:t>
            </a:r>
          </a:p>
        </p:txBody>
      </p:sp>
      <p:sp>
        <p:nvSpPr>
          <p:cNvPr id="14" name="AutoShape 13"/>
          <p:cNvSpPr>
            <a:spLocks noChangeArrowheads="1"/>
          </p:cNvSpPr>
          <p:nvPr/>
        </p:nvSpPr>
        <p:spPr bwMode="auto">
          <a:xfrm rot="13034792">
            <a:off x="5562600" y="20574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5638800" y="3505200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6781800" y="3244850"/>
            <a:ext cx="198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dirty="0"/>
              <a:t>Absorption and re-radiation 3850 Q/y</a:t>
            </a:r>
          </a:p>
        </p:txBody>
      </p:sp>
      <p:sp>
        <p:nvSpPr>
          <p:cNvPr id="17" name="AutoShape 17"/>
          <p:cNvSpPr>
            <a:spLocks noChangeArrowheads="1"/>
          </p:cNvSpPr>
          <p:nvPr/>
        </p:nvSpPr>
        <p:spPr bwMode="auto">
          <a:xfrm rot="2183917">
            <a:off x="5334000" y="4495800"/>
            <a:ext cx="762000" cy="381000"/>
          </a:xfrm>
          <a:prstGeom prst="left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477000" y="4267200"/>
            <a:ext cx="251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dirty="0"/>
              <a:t>Evaporation and precipitation 1300 Q/y</a:t>
            </a:r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4495800" y="5105400"/>
            <a:ext cx="990600" cy="228600"/>
          </a:xfrm>
          <a:prstGeom prst="curvedDownArrow">
            <a:avLst>
              <a:gd name="adj1" fmla="val 86667"/>
              <a:gd name="adj2" fmla="val 173333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257800" y="5607050"/>
            <a:ext cx="2514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/>
              <a:t>Solar power assoc. with winds waves and currents 12 Q/y</a:t>
            </a:r>
          </a:p>
        </p:txBody>
      </p:sp>
      <p:sp>
        <p:nvSpPr>
          <p:cNvPr id="21" name="AutoShape 21"/>
          <p:cNvSpPr>
            <a:spLocks noChangeArrowheads="1"/>
          </p:cNvSpPr>
          <p:nvPr/>
        </p:nvSpPr>
        <p:spPr bwMode="auto">
          <a:xfrm rot="8606695">
            <a:off x="2619375" y="4586288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685800" y="5181600"/>
            <a:ext cx="251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/>
              <a:t>Geothermal outflow from Earth ~ 1 Q/y</a:t>
            </a:r>
          </a:p>
        </p:txBody>
      </p:sp>
      <p:sp>
        <p:nvSpPr>
          <p:cNvPr id="23" name="AutoShape 25"/>
          <p:cNvSpPr>
            <a:spLocks noChangeArrowheads="1"/>
          </p:cNvSpPr>
          <p:nvPr/>
        </p:nvSpPr>
        <p:spPr bwMode="auto">
          <a:xfrm>
            <a:off x="1828800" y="3657600"/>
            <a:ext cx="1905000" cy="228600"/>
          </a:xfrm>
          <a:prstGeom prst="rightArrow">
            <a:avLst>
              <a:gd name="adj1" fmla="val 50000"/>
              <a:gd name="adj2" fmla="val 208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228600" y="3048000"/>
            <a:ext cx="2514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dirty="0"/>
              <a:t>Mean tidal power </a:t>
            </a:r>
            <a:r>
              <a:rPr lang="en-GB" sz="1800" dirty="0" err="1"/>
              <a:t>assoc</a:t>
            </a:r>
            <a:r>
              <a:rPr lang="en-GB" sz="1800" dirty="0"/>
              <a:t> with Earth-Sun-Moon ~ 0.1 Q/y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79512" y="1340768"/>
            <a:ext cx="1905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b="1" dirty="0"/>
              <a:t>Note: 1Q = 10</a:t>
            </a:r>
            <a:r>
              <a:rPr lang="en-GB" sz="1800" b="1" baseline="30000" dirty="0"/>
              <a:t>21</a:t>
            </a:r>
            <a:r>
              <a:rPr lang="en-GB" sz="1800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42008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16"/>
    </mc:Choice>
    <mc:Fallback xmlns="">
      <p:transition spd="slow" advTm="31316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3F1F73-AC8A-0BAA-C5F1-3A8247636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66" y="0"/>
            <a:ext cx="5602946" cy="687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3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 turbine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5575" y="1700808"/>
            <a:ext cx="4186808" cy="452596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Wind turbines rotor blades, made from e.g. fibreglass-reinforced polyester</a:t>
            </a:r>
          </a:p>
          <a:p>
            <a:r>
              <a:rPr lang="en-GB" dirty="0"/>
              <a:t>30-80 m diameter </a:t>
            </a:r>
          </a:p>
          <a:p>
            <a:r>
              <a:rPr lang="en-GB" dirty="0"/>
              <a:t>the longer the blades, the greater the energy output. </a:t>
            </a:r>
          </a:p>
          <a:p>
            <a:r>
              <a:rPr lang="en-GB" dirty="0"/>
              <a:t>rotate at 10-30 revolutions per minute</a:t>
            </a:r>
          </a:p>
          <a:p>
            <a:r>
              <a:rPr lang="en-GB" dirty="0"/>
              <a:t>Rotational energy is converted into electricity</a:t>
            </a:r>
          </a:p>
        </p:txBody>
      </p:sp>
      <p:pic>
        <p:nvPicPr>
          <p:cNvPr id="6146" name="Picture 2" descr="Turb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210359"/>
            <a:ext cx="2047875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data:image/jpeg;base64,/9j/4AAQSkZJRgABAQAAAQABAAD/2wCEAAkGBhQSEBQUEBQUFBQVFRQVFBQUFBUUFBQUFBQWFBUUFRQXHCYeFxkkGRQUHy8gJCcpLCwsFR4xNTAqNSYrLCkBCQoKDgwOGA8PFykcHB4pLCkpKSksKSkpKSwpKSkpKSkpKSkpKSwpKSwpKSkpKSkpKSwpKSkpKSwsKSwpLCksLP/AABEIAPwAyAMBIgACEQEDEQH/xAAbAAACAwEBAQAAAAAAAAAAAAABAgADBAYFB//EAEYQAAEDAgMEBwQFCgMJAAAAAAEAAhEDIQQSMQVBUWEGEyIycYGRQqGxwRQjM1LRFUNicoKSssLh8CWiwwcWJDQ1RFNjc//EABkBAQEBAQEBAAAAAAAAAAAAAAABAgMEBf/EACURAQACAQMDBQEBAQAAAAAAAAABEQISITETQVEDBCIyMyNhFP/aAAwDAQACEQMRAD8A8EhKQrChC+8+IWFA1NCICAAIgIgIwoAAjCICMIqAIowmARCwjCaFAFRGhMQi1GECQoQnQhAgCkJ4UhRSZVIVkIZVQmVDKrIUyoirKplVuVCFRXlUVhCiDM4IQrHNQhZCQmARyowgWEWtTAJgECQiAmhEBFBEBGE4CAQoE0IPIAk2AuTuAGqWMu08WKbMxBPaYOyYN3Aa7h+K1jnY8FzFXHNq4in19NzqFVrm0mh5pk7uudGpvLQve2I8Ow1OQQIIDiZdYkSTvmJ81xx9S8ph2y9OsYlrDUC1OWkG/kdxUIXa3EkKQmhGECQjCeFIRSOahCsyqFqCvKhlVkKZURVlRTwgqKXBJCteEMiiK4RhPkRhAkIhqMI5UByqZUwCMKKUBHKmARISwq8uuDiKhpN+yYR1xHtu16oHhx9Fo2hXdIpUvtH7/wDxs3vPwHNa8FhG02BjNB6k7yeZXOd5puNt3MdMH5a1DLua4DlcBdFsnD5cNRHFjXet/mub6dWqUf1X/ELsmUMjKbT7NKmP8gXPH9JdcvzgGPtBuN4/BK+jF23HvCfKslfa9KiZfVpt4guaZ5FouV2mYhxiLXtRAVWEx1KuHOw7s2WA+xETpEjtN5q9vNXHKJ4JiuQAUhOAplVZJChCeFISxWQgVYQlc1LCwomAUSxQ4IBWOCEJaBCBarA1GFLVWGolqcBHKgQNRyqwBSFAoCrxVcMaXG+4De4nQBXwvBds/wCmvL3vqNotOWm1hyl5FnPJjQ6LOUzEbct4xE88NFKvToZnYioxtR5l0uEjg0DWAtgxwIBYHPDhLS0ANI45nQIWGl0MwrTPVZj+m9zvW69ShgWMAaxjWgaADSb2WcdXeGstPZxvTJ7qlegA28EBupu8W5rtMRLiD2z2W7xTAtpYTI0hc70laPpmEEcf4wuuxEZjHH371yxj+kumU/zhz+0OjDa7R1j3NI3sc4zO4hxj3BLgeiGGpfm8541O17tPcvdSuau3Txu6cteVVaUOxGSBGgAgRwjgrK9AQHN7rt33XDVp+RShaMG4SWu7r7HkfZd5H3StccM8sYEJgFbVolpIdqCQRzCrLOCqIApCLTx1RIQKQhlTkIQgQtQVhCioywoAnLVGhQCE2VNlRIQJCICaFIQLCZGEcqDzNsPLg2iww6rIJ+7THfd8vNejSohrQ1ogNAAHABY9mU876lY+0clPlTZv83SV6MLMb7tZeCwoAmATQtMuT6TgnHYMDW9+HbF11j3NddhBbcAtMixjXyXF9PBFegR9x38S6fYOGyYWi06luY/tEu+BXnx/SXfL6Q1wplTlqi9DgraExamLVAitGJGZrX7+4/8AWb3XebY9FmAWrD3ZUbyDh4tP4ErPCzHhZ8lLUpsrUCFpCIJ8nBSUCwojCiCghANVhCACIEIwiAmhAkIwmyowoAAqMUCWOA3iB4my0Iilbwj3rOU7NY8kpUg1oaNAAAnypoRhajZCgIgIgI5URxfTqjmxOGb94EerwF3FemAQBoGtA8AIHwXIdLW/8dg54H+NdjiB2vIfBeeP0l6Mo/nCktQLU8KQu7gQBSE+VRUW4IdsDiHD1aVnbcWTGnNpjUT4gj5rPs3Z/UUm0s2bJIzQBNysX8mq+LRCkJlIW2Cwlc2dVYEHBBVprfmgrCFFRS4KNCZymVRAhEBGEwCBQFE8IFqKVrVfk+rn9MD3Sq4QwxqZavWDsdaOq0u0U25ja/eJ1WMuzePcQEQ1ENRC0yEJgEYRAQcj0r/5/B+H867LEjtei4zpgSMfg44fzrs62t+S88fpL0ZfnCqFMqaECF6HnCFITQplQSjZzTzSAp5gj+9yQNhZ7t9kARTBQBaYLlQITlCEFcIpoQVRmaFYEGhPCAQjCYNRIUCFENRaxPCKEK4t+pH/ANCPdIVYC1UWzRqD7pa/4tPxCxl2axYwES1EBNC0hIThqICIag4/pa2doYMcv512VZt/Rcd0vA/KGDmR2eE+2uyqi688fpLvl9IVQgQrIRhd3BWAiAmISvcACSYABJPAC5KopzTUj7rZPi6wHoCrC1Z9lglhqO1qHPHBpswfux6rZCkNSrARCYhRzFWSkIZUykIFhFNCiDMGpgExF0YREAQhMmyoEhGExaiAigAtOzqgFQB3dcCx3g4RPkYKoyKZVmYuFjkalEtcWu1aSD5JVtxQzsbU3iGVPEd13mPgsiROyzBQnAQhOCqlOK6XO/xDB/q/zldq9cT0xd/iOD/VP8ZXckLhH3l3n6QrAUyp4UJXZxIQvL2p9Y5uHb7faqn7tFpuPFxhv7y3Y7FNpsL3aDcNXEmGtaN7iYAHNVbKwTmhz6sdbUOZ8aN3Npjk0W8ZO9SZ7LENYahlVkIQqlFyoBPCDmqoUtShWAKFqFFhRQqItKg1HKiEWowUNTwipCjVAAjCICaEtaABSEwCkJYfD1shuJaRDhxb+Ky4/E06TyzOHGAQGhzjlddshoMHxWiFbRqWymzSZmLg6LMtRvs8uptCxLadZ8WgMg+WciUTVqkdiluB7bstzuIAJlei5hBg6/3cIgJZT5z0xr1W43Cl1NpeGdkNJM9t3Ej3rtsNUqPYxzS0AgEyIIOhEQdDzXLdN/8AqWDjXJ/qOXbURbzP9Vxj7y6z9IYKuBrO/wC4Lde5Tp79B2gdOO9JT2SRd+JxDouZdTYNLk5WD4r1CvIxE4p5pN+wYYrOH5xwv1DTwFsx/Z4rrLmp2XgxVqdec5pt+wD3udmOhrkONpBIbbS+8L3ITBvBHKkbEkyoQmUhVAhAtTwpCWKoRhMQoEClqieFFbKZYThqjWRomBS2aQNRhEJoUVWAmhNlUhFCEQEwCgUCgIEKzKplRT0odZ1j7Ltw5HkeKBpkGDYpcqqrOc3tXc2O00XI/Sbx5j0UHD9PWu/KWDya9Xbx6xy7jCMy0wOE+JvcnxK4Tp5jWtx+FfcsNEFrxcfaOPZ57v2l1lTaU06bcMQ6o8dgmS1rQYNZ8+yNw9o24rlE/KXWY+EBtDEuqP6igYcQDVqD8yw8P/Y7cN2vCfRwuFbTY1lMZWtEAcvmeaTZ+z20WZWyTJc5x7z3nvPcd5P4DctQC6w5AFITZUQ1WxXlQhWEIZUChQhHKhPFAIQIT5VMqBIUTQoiKQ1MAiAmDUFYairMqmVFLCmVNkRhQQBTKmCaECBqOVEIpYXKvG6QbfGGaSTEA2D2NcSI0DuRXuNavkXSTa+JqZ/rn5Mz4bLQAC4iBA4WWM8qhrHG5TpBt2jXxlMCBSZUcHP6xjqZzHvNtLRoSNCRK6zoxtig1gaK9M1HR1jnVKRc4Aua1tiGgBrWkAcV852ZsdhDS4TLo967Tox/s+q0MdnrYcOpi4kNe1ocDBgk3FjovNGU3fl6JxxqnfU3SNZ8x8iU4CIbGkDwEJl63mmCwimhTKpaEIQhPlUAVtShqBCeEISxXlRTwoWpYQtURUSxUGplEwalgBGFIRCllAEYRATAJYBahCdEhLVWUuEdmptJ3iVaFn2cPqmR91Qo+JqZWPd91jnejSV8axXcvvP9V9lxVEPY5j5DXtLTlO4iDB3Lidp9A8N9IYzr67GFjnumo3jlaGAt17LieULGcTLWLn+jWDFSvhqZ0dUpg+bxIX3Sq361w0lq+NYvYmGwz6L8Lj6jndbSDYdTdH1gBMtbFhPmu5oYye7tB735YBeaOv3sopg6grjOMy7RMRD1HMgnxUhV4auXsDnEkmZmNQYOiuIXojh555CEYUARVSikIJiEIRUhQhFAoUEKQoiEKLCKMKIM4ThImCKYKEIBFChCKARJgTMeKzZRoUWertOm0EudoCTYk25DVNSx7C0OmJEwSAeN7qamtMrlk2S+aFIjQsB8ii/a1IGC4T6+XuXnbD2o0UabDEtpMJ7QHezWjwhTVBpl7YC8kYgOq1XF2WlTBNR8wA1ghzZH7RP9VvqY4NBJLRAnvcF4FHD0aoq0i52RwDauWrUjtCXMaJiSSSbfFXXBplTtPbOHJpspVabmurUXgMmxbUa4w2LA5V7GD2rQrOLW1mGs4khoPabl0bpuEz4lfNqjRSxFAUy8tLix4zPMA9ljpNgQTIPJdL0W2I0Br3uf1rRlzdY8QYAdF7zB8lz1XNN6dnaUKkkg2cNRz4+BV0rz8PVAM5hMZXAuJi86ko4LaJewOMCZ8LOI+S6W503orwsftmpTc7LkIEa7tN/mq3bYql1i0aWiVLhdMvfUK8vB7YzOa17YJIAc3uzzGoXpq2lGQQlAuSyhCKUFB9UAS4gDiTAk6XSw5QQDpEiCOIuPVRWxyVPp9h+sex2YZcsOAJDg7jF2+a1v6X0Q3MBUeLdxh+JgL5vhHUw975aQ45iGw3LlgNDSZVlPHV6h+ph7QRd5LmjhNvkvnz7nLs9GjF32D6e4Z32grtPBrWu9SXABbsJ0xwdV7WM+kZnGGgtpCT++uArOqGxbWcIFmkNaTvmwlU4rAmrTEltAD2j2nx4ggBY/6sr3XRi+rO2jQNN1RryGNe5hLoAzNMOaI1M8F4m0Ok1J7clKXuLm3IIFjO9fPaGCDGwx1SoZMmMt9b8d+9PRw1ZkdkEXvIFzukqz7qbqE0Q66ttcOZWJ9lmWALSZ05rAzpczrGsFKo4DV3VwLiN/Bc4MY8Fw7Ag37c6eHikrYx89hzfC5Kzl60SsbPfx3SQCqerpvyCASRE63A3xKfB7SY15Ba8ltHDwJAElmY66ajjovJo4Ws4S9sA6EEGfVVDAYjrHljZkMDRYmGNjRZ6sNXL2sdtIuYYytO7MW28wCVg2fVxIJirTPJrfmVmw5xAP2YA55fxWoYYky5v+aPgs9T/Vhs2hXq1CwuAHVkl4aIzWab8bj3rT+WK2WmQ5rWhneFPM4vAghzd1oMzvWGlg3wYvyL3W9SraOCLWOaLe0O1IzCx3bx8FOtlfLpoh6LOkLwQ7MHXGYdVBLTqJBS4LpJV6lopNpjvQSHOMZjuXhYnCVCIBg8SfnCzspljQ0EuIDu66JOvDmt9efLE4R4exittVCCXtzE6wwstbddXYXpKTE0iLj0Hiuaq1HtjMHEOG86eNkhqMeQASJMbyJO6SrHr5QnTdi3pGGlrsh7JB11jLyW+n08a8dimQd+Y2B5cVyNPZkTD3XAm4t4LTSBa3I5wdM3dAJ5SBJTL3GU8SR6fl0zel7x3g2/AXjzQxHTN0gtpiN8m/lGpXI4/CGowBjurdOocTI4XCvwbHMbBObnO9Z62fldEeHTt6dBwBbQqW70g+5UY3pg6rSfT+iOOdrmgl7RqCJuNbrwsSwVAA+4g9nMfiIVVBrW2a1zJ3xmHjd3yVj3Gc92enD2tmdIq+HwzKbMM05BHZc1oP6RA3zqovGbhw0k5nEmJEiDHKFE6+fldEKqXR6hJmw4Bxv/RK3CMpANpVQ1t5O+dwVzMO11LrCO1IG+BeLKz6Ew2LRAJgblxm3SoZcOzWcV4gREa+0f7hNinhgJJNTgczYMb4Gqs/I9J57TB703+79EAQz3lNK1DDT2qGTZskb3HjbetH0+qbCk2AfaMg+C0s2VSnuBaxhxMbhdTQaYLhNoEiKtCkxpmHBvyOspsbgmmMhLYAgtGW+q1RDfCw8FXGbVKo0wWnhadzmeT5kbphL1cd0kEXDpvY28Fe8QAB/disrmX1KkxC01D6z7Rpcd72Q145uHdf8eaR+wnQXNcHNtYHK7xLTv8ACVPo+WIJuBw4eCtAg79DvKzEFMlPAOm4jW8ndu5qurs+03M8xAvPNb2OkxynfwS58s5QBP8Ac33q0UyU8NNiT5z8kxw3H5n4q8HMBoI4DW+9WYKnI7RLuZuUophGGBnMbe8fihWwQAGQ2jeBryhb8RSABIASUqQI09PFWinnDDneT6R8FYaTdYlw1IN/KQvRoYdpBkaAnfwWPKBJAi6CkME3DiPAIHCEixygDhvW2hSDhJ15JauHGY6+tluimNtI2uCLgwE4wxc2xkjVuhjzKufhWkabzx3CVbSwjTNtIiEiBhOHiJzegUVuIowdTpvKiq0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150" name="Picture 6" descr="https://encrypted-tbn1.gstatic.com/images?q=tbn:ANd9GcRYaVjTfKSInkQcN_3Ql3agyyvR9QyfK0sT6_TvHcD5P1V8aOYv3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869160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115819" y="1412776"/>
            <a:ext cx="293938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Kinetic energy = 0.5</a:t>
            </a:r>
            <a:r>
              <a:rPr lang="en-GB" i="1" dirty="0"/>
              <a:t>mv</a:t>
            </a:r>
            <a:r>
              <a:rPr lang="en-GB" baseline="30000" dirty="0"/>
              <a:t>2</a:t>
            </a:r>
          </a:p>
          <a:p>
            <a:r>
              <a:rPr lang="en-GB" i="1" dirty="0"/>
              <a:t>m </a:t>
            </a:r>
            <a:r>
              <a:rPr lang="en-GB" dirty="0"/>
              <a:t>=</a:t>
            </a:r>
            <a:r>
              <a:rPr lang="en-GB" i="1" dirty="0"/>
              <a:t> </a:t>
            </a:r>
            <a:r>
              <a:rPr lang="en-GB" i="1" dirty="0" err="1">
                <a:latin typeface="Symbol" panose="05050102010706020507" pitchFamily="18" charset="2"/>
              </a:rPr>
              <a:t>r</a:t>
            </a:r>
            <a:r>
              <a:rPr lang="en-GB" i="1" dirty="0" err="1"/>
              <a:t>Av</a:t>
            </a:r>
            <a:endParaRPr lang="en-GB" i="1" dirty="0"/>
          </a:p>
          <a:p>
            <a:endParaRPr lang="en-GB" i="1" dirty="0"/>
          </a:p>
          <a:p>
            <a:r>
              <a:rPr lang="en-GB" i="1" dirty="0"/>
              <a:t>Therefore:</a:t>
            </a:r>
          </a:p>
          <a:p>
            <a:r>
              <a:rPr lang="en-GB" b="1" i="1" dirty="0"/>
              <a:t>KE per sec (power)</a:t>
            </a:r>
          </a:p>
          <a:p>
            <a:r>
              <a:rPr lang="en-GB" b="1" i="1" dirty="0"/>
              <a:t>=</a:t>
            </a:r>
            <a:r>
              <a:rPr lang="en-GB" b="1" dirty="0"/>
              <a:t>0.5</a:t>
            </a:r>
            <a:r>
              <a:rPr lang="en-GB" b="1" i="1" dirty="0">
                <a:latin typeface="Symbol" panose="05050102010706020507" pitchFamily="18" charset="2"/>
              </a:rPr>
              <a:t>r</a:t>
            </a:r>
            <a:r>
              <a:rPr lang="en-GB" b="1" i="1" dirty="0"/>
              <a:t>Av</a:t>
            </a:r>
            <a:r>
              <a:rPr lang="en-GB" b="1" baseline="30000" dirty="0"/>
              <a:t>3</a:t>
            </a:r>
          </a:p>
          <a:p>
            <a:endParaRPr lang="en-GB" baseline="30000" dirty="0"/>
          </a:p>
          <a:p>
            <a:r>
              <a:rPr lang="en-GB" sz="1600" i="1" dirty="0"/>
              <a:t>m</a:t>
            </a:r>
            <a:r>
              <a:rPr lang="en-GB" sz="1600" dirty="0"/>
              <a:t> = mass of air through turbine</a:t>
            </a:r>
          </a:p>
          <a:p>
            <a:r>
              <a:rPr lang="en-GB" sz="1600" i="1" dirty="0"/>
              <a:t>v</a:t>
            </a:r>
            <a:r>
              <a:rPr lang="en-GB" sz="1600" dirty="0"/>
              <a:t> = velocity of the air</a:t>
            </a:r>
          </a:p>
          <a:p>
            <a:r>
              <a:rPr lang="en-GB" sz="1600" i="1" dirty="0">
                <a:latin typeface="Symbol" panose="05050102010706020507" pitchFamily="18" charset="2"/>
              </a:rPr>
              <a:t>r</a:t>
            </a:r>
            <a:r>
              <a:rPr lang="en-GB" sz="1600" dirty="0"/>
              <a:t> = density of the air</a:t>
            </a:r>
          </a:p>
          <a:p>
            <a:r>
              <a:rPr lang="en-GB" sz="1600" i="1" dirty="0"/>
              <a:t>A</a:t>
            </a:r>
            <a:r>
              <a:rPr lang="en-GB" sz="1600" dirty="0"/>
              <a:t> = swept area of the turbine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049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387"/>
    </mc:Choice>
    <mc:Fallback xmlns="">
      <p:transition spd="slow" advTm="161387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0128E1-E556-A292-A177-D018F6DA964B}"/>
              </a:ext>
            </a:extLst>
          </p:cNvPr>
          <p:cNvSpPr txBox="1"/>
          <p:nvPr/>
        </p:nvSpPr>
        <p:spPr>
          <a:xfrm>
            <a:off x="7164288" y="6574167"/>
            <a:ext cx="45774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https://grid.iamkate.com/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84CD5-A3E5-161D-BD2A-049BD4023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" y="140888"/>
            <a:ext cx="2719958" cy="2304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01283A-CF78-4D64-54CB-92F18B95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91" y="2730255"/>
            <a:ext cx="6523285" cy="37950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955091-CEB6-B4A8-DE3A-13D15B700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845" y="55289"/>
            <a:ext cx="6103155" cy="28281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55ADEB-BA3A-124C-F320-29AEEA3618D8}"/>
              </a:ext>
            </a:extLst>
          </p:cNvPr>
          <p:cNvSpPr txBox="1"/>
          <p:nvPr/>
        </p:nvSpPr>
        <p:spPr>
          <a:xfrm>
            <a:off x="2699792" y="6536783"/>
            <a:ext cx="586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https://www.renewableuk.com/energypulse/ukwed/</a:t>
            </a:r>
          </a:p>
        </p:txBody>
      </p:sp>
    </p:spTree>
    <p:extLst>
      <p:ext uri="{BB962C8B-B14F-4D97-AF65-F5344CB8AC3E}">
        <p14:creationId xmlns:p14="http://schemas.microsoft.com/office/powerpoint/2010/main" val="96447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96"/>
    </mc:Choice>
    <mc:Fallback xmlns="">
      <p:transition spd="slow" advTm="2469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Fluctuations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10" y="2179682"/>
            <a:ext cx="7204918" cy="362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43608" y="6196662"/>
            <a:ext cx="1479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MacKay, 2009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48680"/>
            <a:ext cx="3608644" cy="4000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586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774"/>
    </mc:Choice>
    <mc:Fallback xmlns="">
      <p:transition spd="slow" advTm="53774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626968" cy="1143000"/>
          </a:xfrm>
        </p:spPr>
        <p:txBody>
          <a:bodyPr/>
          <a:lstStyle/>
          <a:p>
            <a:r>
              <a:rPr lang="en-GB" dirty="0"/>
              <a:t>Hydroelectric</a:t>
            </a:r>
            <a:r>
              <a:rPr lang="en-GB" baseline="0" dirty="0"/>
              <a:t> power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00808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Usually generated at large dams in order to increase the vertical drop of the water</a:t>
            </a:r>
          </a:p>
          <a:p>
            <a:r>
              <a:rPr lang="en-GB" dirty="0"/>
              <a:t>Energy available (in J) = </a:t>
            </a:r>
            <a:r>
              <a:rPr lang="en-GB" i="1" dirty="0"/>
              <a:t>m</a:t>
            </a:r>
            <a:r>
              <a:rPr lang="en-GB" dirty="0"/>
              <a:t> x </a:t>
            </a:r>
            <a:r>
              <a:rPr lang="en-GB" i="1" dirty="0"/>
              <a:t>g</a:t>
            </a:r>
            <a:r>
              <a:rPr lang="en-GB" dirty="0"/>
              <a:t> x </a:t>
            </a:r>
            <a:r>
              <a:rPr lang="en-GB" i="1" dirty="0"/>
              <a:t>h</a:t>
            </a:r>
          </a:p>
          <a:p>
            <a:pPr lvl="1"/>
            <a:r>
              <a:rPr lang="en-GB" i="1" dirty="0"/>
              <a:t>m</a:t>
            </a:r>
            <a:r>
              <a:rPr lang="en-GB" dirty="0"/>
              <a:t> = mass of water available in kg</a:t>
            </a:r>
          </a:p>
          <a:p>
            <a:pPr lvl="1"/>
            <a:r>
              <a:rPr lang="en-GB" i="1" dirty="0"/>
              <a:t>g</a:t>
            </a:r>
            <a:r>
              <a:rPr lang="en-GB" dirty="0"/>
              <a:t> = acceleration due to gravity (9.81 ms</a:t>
            </a:r>
            <a:r>
              <a:rPr lang="en-GB" baseline="30000" dirty="0"/>
              <a:t>-1</a:t>
            </a:r>
            <a:r>
              <a:rPr lang="en-GB" dirty="0"/>
              <a:t>)</a:t>
            </a:r>
          </a:p>
          <a:p>
            <a:pPr lvl="1"/>
            <a:r>
              <a:rPr lang="en-GB" i="1" dirty="0"/>
              <a:t>h</a:t>
            </a:r>
            <a:r>
              <a:rPr lang="en-GB" dirty="0"/>
              <a:t> = height differential</a:t>
            </a:r>
          </a:p>
          <a:p>
            <a:r>
              <a:rPr lang="en-GB" dirty="0"/>
              <a:t>By using two reservoirs at different heights, water can be pumped uphill to store energy during periods of low demand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51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931"/>
    </mc:Choice>
    <mc:Fallback xmlns="">
      <p:transition spd="slow" advTm="8893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http://ga.water.usgs.gov/edu/graphics/wuhytypicalplan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8583825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89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35"/>
    </mc:Choice>
    <mc:Fallback xmlns="">
      <p:transition spd="slow" advTm="26535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 Gorges Dam, China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832448" cy="4925144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Largest hydroelectric dam in the world since completion in 2012</a:t>
            </a:r>
          </a:p>
          <a:p>
            <a:r>
              <a:rPr lang="en-GB" dirty="0"/>
              <a:t>Generating capacity of 22,500 MW</a:t>
            </a:r>
          </a:p>
          <a:p>
            <a:r>
              <a:rPr lang="en-GB" dirty="0"/>
              <a:t>However power limited at certain times of the year due to water availability</a:t>
            </a:r>
          </a:p>
          <a:p>
            <a:r>
              <a:rPr lang="en-GB" dirty="0"/>
              <a:t>Height =181m and over 2km in length</a:t>
            </a:r>
          </a:p>
          <a:p>
            <a:r>
              <a:rPr lang="en-GB" dirty="0"/>
              <a:t>Creates the 3 Gorges Reservoir which extends 600 km upstream</a:t>
            </a:r>
          </a:p>
        </p:txBody>
      </p:sp>
      <p:pic>
        <p:nvPicPr>
          <p:cNvPr id="44034" name="Picture 2" descr="Picture of Three Gorges Dam, Chin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394" y="4077072"/>
            <a:ext cx="4417662" cy="261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6" name="Picture 4" descr="http://www.ccdemo.info/landabee/ChinaTripSlideShows/1024x768/16SS-3GorgesDam/slides/002ChinaMapDams2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9" b="15516"/>
          <a:stretch/>
        </p:blipFill>
        <p:spPr bwMode="auto">
          <a:xfrm>
            <a:off x="4289648" y="1340768"/>
            <a:ext cx="4872236" cy="248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182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509"/>
    </mc:Choice>
    <mc:Fallback xmlns="">
      <p:transition spd="slow" advTm="120509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626968" cy="1143000"/>
          </a:xfrm>
        </p:spPr>
        <p:txBody>
          <a:bodyPr/>
          <a:lstStyle/>
          <a:p>
            <a:r>
              <a:rPr lang="en-GB" dirty="0"/>
              <a:t>UK Hydroelectric</a:t>
            </a:r>
            <a:r>
              <a:rPr lang="en-GB" baseline="0" dirty="0"/>
              <a:t> power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7963" y="2564904"/>
            <a:ext cx="3960440" cy="3849291"/>
          </a:xfrm>
        </p:spPr>
        <p:txBody>
          <a:bodyPr>
            <a:normAutofit fontScale="92500"/>
          </a:bodyPr>
          <a:lstStyle/>
          <a:p>
            <a:r>
              <a:rPr lang="en-GB" dirty="0"/>
              <a:t>Exploited in the UK</a:t>
            </a:r>
          </a:p>
          <a:p>
            <a:r>
              <a:rPr lang="en-GB" dirty="0"/>
              <a:t>Large installations can harvest this energy very efficiently (up to 95%)</a:t>
            </a:r>
          </a:p>
          <a:p>
            <a:r>
              <a:rPr lang="en-GB" dirty="0"/>
              <a:t>1-2% of our electricity generation</a:t>
            </a:r>
          </a:p>
        </p:txBody>
      </p:sp>
      <p:sp>
        <p:nvSpPr>
          <p:cNvPr id="5" name="AutoShape 4" descr="data:image/jpeg;base64,/9j/4AAQSkZJRgABAQAAAQABAAD/2wCEAAkGBhQSERUUExQUFBQUGBUYFBcYFRoYHRcaHRoVFxwXGBQYHCYgGBokGhgXHy8gIycpLCwsFx4xNTAqNSYrLCkBCQoKDgwOGg8PFykcHBwsKSwpLSwpKSkpKSkpKSkpKSwpKSkpKSksKSksKSksKSkpKSksKSwpLCwpKSkpLCksKf/AABEIAMIBAwMBIgACEQEDEQH/xAAcAAABBQEBAQAAAAAAAAAAAAAFAAIDBAYBBwj/xAA+EAABAwIDBAgDBgYCAgMAAAABAAIRAyEEEjEFQVFhBiJxgZGhscETMvAjQlKC0eEHFBVicvGSokOyM1PC/8QAGQEBAQEBAQEAAAAAAAAAAAAAAAECAwQF/8QAJBEBAQACAgICAgIDAAAAAAAAAAECESExA1EEQRITFCIyYbH/2gAMAwEAAhEDEQA/ABsJQnQlC+0+WbCUJ0JQgbCUJ0JQqGwlCdCUIhsJQnQlCBsJQnQlCBsJQnQlCBsJQnQlCBkJQnQlCKbCUJ0JQgbC5CfC5CBsJQnQlCbDYXITw1NJ62XesXyYz7amGV+nIXIUtSnl1IHaVVfj6QsajZ7Qe6xXO+fxz7bnhz9JYXIVP+u0APmJcJsAdVGeklO0U3mRv/2sX5WH+2v0ZCEJpQg9KtIptGp6zuyxsoWbeqVQY+HbUC8fV1zvyvUbnx/dHsqSyDtuVp6zxO+ySz/Kvpr+PPbcwlCdCUL3PGbCUJ0JQgbCUJ0JQgbCUJ0JJsNhKE6F3Ks3PGd1Zjb1DIShcdVA1IGm8JwPJx7Gk+YWL5/HPtueHO/TkJjnRuPgnOqAa211LR5EgrtDrNkEHW9j6WXn8vypr+nbv4/j3f8AZUw+OD6j2QQWQe2fRWisltnHvoYsuZcyJbxEN1HBNr9OKnGm3TRh91MflX8eZul+PN8XTYBh4LjhESDfSywlbprWP/lf+VoCnpGrXw5qZ6pjNq4/dy35fMPAqX5WX1Is+Pj7bUtgSS0DmQFXftCi35q1Md891l5xiMSQYABN5mU/+Wr7wxva5g8i6Vn9/kvX/Gv1YTtu6m3qF8ryTbRp9+Xqq46VUYOVlR0cgO3ehHRjZznOqZ3sd1GwAZjrsvaBpI13oZtvDZajmgiMzxMcHEWjuXO+TPera3MMdb00tbpeBMUmjT5n+0BUsR01deDSbfcCbcrrN0tmN35j4D2VgbPZ+HxJ9oUst7qyydDGP2xiG/fIG+ABzF44R4oRjNuuJ6xqF3Ev8rLR9JKUURYCXcOFNoWY2a0yfhgzFy0EmJHDS8LGPLWXCP8AnHP+WmXeLvQIx0fwVSpUdnp5Rkc4S0gSMsaqN7Kv3nP73Ef+xRro3hcjnVCRBY4A5gd7JuDHmt5SSMy20B21hnUajmjXkYvAM89UNbg3u+aoeySf2R3pYC7EPI0zC/cBH7KjRq0wAIe5wnNdoGu6xtCmPXK5dqg2Q3e5x/L+5Wn6HbOYPiDrETT17TpGmiHUKjXua1lOXOsA5+p5ZQ1adjm4am54+HMU3FocQZbqAXEybmEynHBjeeWRx7QKtQAWD3x4lJR4qqHPc6/WcTpxM8UlnVa3Hoi4HBeXM2lUBtVqD87v1VqntCsCC2qZEkZrxIj70zqvTfk5fUeeeDH7r0UV28R2SE4OnQOPY136LB4fpTjGA/aNIiIOSPKFd6O9J3HEl2IcYqSS46TuMfdG7hdc78jyNzw4NPXxRbBcMrdJcWid41Nt6hdtqnNnNj8x9Gwu9LajXYZpaQeu24II0dwKzWycIazsrS0WklzgBw17bLH7c73k3+vCfTRHbbIsTp+D9Xj0UA2w0EwHAkzq0TxtlPqrlPoNUiXPpN73H2Vil0GaS3NW3/dZyJ3uWLd91qY+oEP2rwA73PPo4DyTX7TJEQ2/9gPm4ErWN6E0G6uqu8B/+Vbw/RTDW+zcf8nu9ipwuqwLdpVJLczoHAx3WhL4rjqSe10+q3bNjUadYkUacZWm4ne4b0WpuAsxjB/i39FN4rqvM6eCqu0Y49jCfZaLYmAcymQ8Frg8mHCDBaw+5Wxpse43aY5NhAekOK+E8hz8hs4zEgQL68lNy8Rda5ec9K6cYp+lgzzaFmRTaTe57StJtvF/Eq1Hkh0kAEEiQ2QCQdJt4IFXbDoBETugfv4rtjHK1NTw53Nj8secLU4OkW4BxJ3O83tGvYFT6KYGmXy8McYzN64dlixljSZmRrpCh29tA/Gc1stYIbDSYMby02mQrl62mPsBLTn4AnU2HarNKkCYBk7gGuJJ4AQLqvi6gkee+Tpc7oG7meKJ7Hc0ZXAVc4IgtaIbfjmnyCsSjuycD/KtNSoHAP8AhgS3STmuBJGncs/tVoe97pkZnG26SSJP1daXpS85WgEi5+87kLyeZWRxuJi06x5Tq3v8liWW7bssmjqeJJiGsEADSZjfee9aTo/s8VGl73kG4yMpxlO4kgbxMLN7JqEOtVbTnVxLRHiJ7gtdsWrDXfbCqC7UZhltwIA3zZazy/HHbOGP5ZaA9u7U+IXNBDmtc4tsWmNLj/SC1bGAbCRI0PG24br8E7EPu7vKotrSbyTvPFTGxbKNs2ZADs1Mb4L225EStbja2XC5mfDAc35QzqgOEkC9xfVZfCVqXwwf5dzzaXGoGyeAAYf1R/aL/sCSMohkjWLC0xu0TPLXRjj7ZV+KtNgYgeIiOBtbmFWwdQB4lsjgXZfOFKdkuLcxsToOW5abox/DvEVgKpqGk3VpbJceyCIVl9prfSlRwdUuGXDgGxk5nDloRHfPciXSw/YDhnbbuK0lD+FheevWrP4y4kecysx0uqg0QBueJ8HLGd3Y3jNSslMcUlUdizOkpKcjr2iLiDxGngu0n5eDlCCQNNN4/ZdAMQLz4DxREorAug2bw+ipKuWbGeMfqqzWbvLXwU7cGW8DyGqDjXETBI7/AKlW8JtUtEdUmeF+3mqRou4HvCjDL8kHuHRnawr0GucchM9/MXnXjdFW02BwJe4gT9C3NeM7F6TOpuDXO6u8gQe3nuWurbVcY6ziIHeTf9u5c7HWVvn46lzPefZR/wBXpDc0dv7rBNrknU+JVqkc0g6QZIUVqaO1mZ3PkXIA0EAcBO/VSu6SsvcwO/0WUFOdPodqksLAKaXbSN6WNmLrC9LtoGs8u0Lzpcw1ug9PFFnPjdx+oWW2ni5qO1MDK0cT/s+SsnKZXgMxpib3JMDfruQ1mEqVKmUU3PedABJPhK2exujD69QMaM1V/wAx3N5cgF6/0d6B0cIyG9ZzozOOpPLg3ku/+M5cN7eQbG2NVoCalA05EZ3PDiTrGUCwgE9yze2qn2rjxcfUr27+I9FlKlSaPmLyT2Bse4Xif8g7E1yxthJL3RoJNu3l2LNu7tqTgIp0XPccnjpYbzO5GNjYmo1zWNqQ0ubOVrRNxvyyR2q1tLDMpgUqY0+Y73d/DlyCZgaOV7ORBPdf0E+Cfl6X8RjpK8ucxjRLjMeOvdCpbN6EVsSSKbC+CM79AJ5nfy1XpHR3omKjKbqjftK0EbyyndwHIkdY/lC9IwWyqdFgp02hrRu9zxPNJdRm815hsb+EtJgkszHi+5PdoAq/SfYLcM5rAGtBY5xgRvjd2L2EMA7l4z0+2mX45wgkfBBEfdGap628VnLmNY3VeSYlhc8MaCS4iAN/JETs4UG5Dlc98ZjF2gHRp5nU8BzRfo5sWHmo4SRqeB4T2KjtMl1RzrXMD09Fdrpd2Fhc2as7/wCOkIYOJ49vuRwWj2RsU4ouB+VkOeYtyYO037AUPdSyUmUW62zdup8z5Ben9G9nCmylTa25yvqHidfIQFJzVy4hdG/4e02EVawD3HRpFm9x1O5a1mzmgQAABoIVtrYXYVt25h2PIpUnEbgfFfOXSOpmoAtvnc2O9p/Ve69P9pfCwrz/AGOPlbzPkvDcGyWUmkb28d9t/IqXhrFzCdE6IY0VHOzwC6Ii9/dJXcVigXuPOy4sf2ddYsG2RY9y6yRMKRjJtOnangneewi66uBsyN3knOqEaQpLnh4a6qI6wbKDlQn9oUL3nsVoCJHDfJ0UFbvhUNbB1stFsfb4aMtUl0aQL6dvCFmXBOpGCml3p6bh4cA4XBuFapaab7KDB/I20DKLdyuZJjdyXN1OY3l5pNp9i49ltQFwU7fWnigrY+tkaXcBP15IHsLBl7jVd2Nnid/1xU3SSv1A0auPpePGFtehuxM76FMtIFJoc4H8UCfNbw9uedbPoL0bGHoh7h9pUF+Q4LTVHAAncE9rYCGbbxWVkcdezendZeXfxF2oamKpsk9Rr3uj+7K1o8lm8NhRh6RyjrOJJPPTXx8ArWLxHxa9eqfxFrexlvDMT4KGc4EaAT7CVK3j0D1KOpMI70J2D8et1hLBd9vui5HfZqr1cBIaBeVvuhezxSw7n732H+Lf3J8FZC1sdgUJc6oexvLjHdARqFV2VRyUWzqRJ77q3CMKe1q+SkedvFeB7SxRqYnEP+7mDR2MH6ley9Mcbkpk7mtJK8Z2fhy6mCRd8vP5jN/HyVs4ax7Q4fEFjXNcYzCR3m6G4ehmqiQDq8+v6I7W2XmhzgOqCfLim4DZ8FziRMAWM6wePYpprYh0d2UatdgiRMn1N16vsSlNVx3NHn/pZPojgMgc8gyLA7r6+y2vR9nUc7i5XqMZXdFFxdATKzoEqI8x/i3jvsXtB1hviR+q8/ZR0Biwdp/xG9ar+IOIzvpM/FUBPYMzj5QhTcOL2gw0ad53K5N4s+aThoAfrtSWh+EBu8klFeaCqNAL8pueyExxB+v1U4IBjcfreuvoiDH13o5oKbwDqY+tyfVDTo8940TImNx+rrjcMZi11QmZmkdYEHgVNVbABEX4craKQ4Ex2cCe/wCu1RfD3a80VBVbyTMqe5uVPEnmIjT3RHoexa+eixxES0a8reyJtZa8d6x/QvFwHMPLLrztwAv6rXNrd0LF7dZ0mYzmPrvTcXVytJJ5JzH21P13qhtMzOuWmC53M7gpFDMHgTisTwayC4ncAf1XtHQzC2dVP/kJPsPQ+K8v6O4FzKWbfX5bgdV7RsDBfDoMbviSunUcbd1feVjeme08lKo+flaY8CfbzWtxNSASvMOnNQvDaN/tXtDuyczv+rY70iMzhcHkwwk9Yglx7b+pS2XhctBpOr792765optCh1co5NHp7lSZAHADRo9L+qOiFuHE5RcmGjtMT9Feg0cEGCnSboIb28T6rL7AwQdiGWszru7f9lbTADNXH9oJ9lWaPALqSZWdDSeCyjzv+J2OjD1YPzDIO+G+6yuCobr9XK3TgI4cUX6fYnNUos41M57GAu9YUGDwR+E02vfdvK0sRPwwc2DPWIEDxPkEzZ+CuToJm/tfcIRF2BJsHbiflnWw0HJOwmByAam41GvdwRpodnU8tJrRvklanZ1HLSaOUoO5sQLcBA0WgY2ABwTJh0KltSpFN3Yr0IN0kq5aZUg8o6SS7F0gNGio49hys902mJG75in1Bmxh4spideJPiSW+Cny6fWqt7ax6U3UASkrBaeJ+u9JZaeTB5Nss8NV1tY/KW+JI7lC2U9k8Sq5nuubgcTDpXWuAtrzmE4VTHHfrxUEqC0cQBHzA/Wl011VhgiQdDI1P6KBwsu0m8B+3NFSMpi/mDp3FKmYNiAN4JkR3rjo00TZGmh4ogv0YxGTEgSIfI48x5jzW3+Lbt715hTOUyDoQd69I2ZjhUphwi+4GY7eBUybxq7SqWvI7kK20D8MNg5qrpN93DxI8ETN4H4vTU+w71DgQKmNzO+SkLA7yN3jKYxcq0mzKRfXpMMdRrGW0mBPmvVGiAsL0DwWeq6o7deeZW7K3XKBu1qkN7V5ltN3xcVO6mwu73GB5N81vekOIgHw71gqQvUfbrvIE8G9Uek96v0s7NpYWSDw1t367k6kwEuJ+t50T3WbaN4/dMaMrObllppui1I5Hvj53Q074Gq02wKU538TA7AhWHofCw7GjXKB3n91pdn4f4dNrd4F+1WsplT2pUhkcVeAQbpDWhiSDyzpJV+JjIH3WgDte79GoniKbgAAcsAb3cItCG7PofExjnay4m24MGX1BPetKcLJJIEDs3dY7kqxVw1CxveQN+63HjKu7NwvxKgadAniiG0xbgXa2Op3cVBsGsXVXZdIDfE6pFrTUW5qrW7p9EeyoTsbC9dzjusPdGJSsmuCzHSutaFp3FZPpFdwCsGEwlGX4h/F4aPygD1CmqUFPs6n9mL2e57vFxMlPqD6+gpe2oEVakEiEkyu4Zj2pKK8uoYaSrh2f1ZBi959lUBPgpXNcdbyjKWngwA4Zp/Lrrbkq4oap9NjgCIN+1cNJNCJ1LwUuHw1tJ7NykZSThTKIidg94jfZVKmHOpRKtRgWVJ7SioSzRaDofi8tQsP3gY7bSgraSI7Gpfbs7b+6aJ23RrQHPJPVECBv1PnAUPR5kMfrme4X5b0zatXLSDQRfX19Uf6N7LzGkzeYJ90xhlXo3RLZ/wALDji+59vJF6jrJUmAADgFFinwCqjJdIaxJPEBx8BKzHw4AFrQL/7Wh2y7qucfvOawdg6x/wDXzQIAE3Hrv7laQyo3MG6eHHvVvB4b4lZjY3ieV1Xnrb7Ir0Upy+o86gCO+VI1WnZTz1mN+6Ot4aLQFCti0pLn8eqOwImVayc1ZrpO6QeS0TnrH9KKvUf/AInzsPVIMv0UpQ9zuXqZWlqElt7BxHHSb7+CH7AwhbSnq3JN/BX69MGNAAJ3dnuVGlbauJGQ8Sp+iOFyhzjy90I2k8lwaIWp2VRy02t4wkStBg6eVg4m571LKTbAJBERVnwCsbtyuQXu1IDj5Fa/FGxWP2pUGSrxIyg8JIb7rUAPDYRwp02gSAweMfrKVSgR9fXFX2uJ47t37qnjJA5diw2AVACSkuZUkHm9F4iCF0PuLGyTaSmZh0ZT08WeHmu/y+bcL80qWGVtlBEUzhuS78JEW4YlO/kkAw0NyaNmzuRhuDPBW8PgTwQZx2BMxCJbI2bNRpjS/wBd8Ix/Sld2fhAyZFzZUUq+HL3Ady9F6EYHrl34QAPrsCyOCwUvBXoewaWSmBxukK0QKG7UrGLaqy2sqbxneBwuUgzG3mZSxk3DS53a4/o3zQhrQJMd/b9FEts1s1aoRe8DsHV9lTGl96Kgceqea0XRvDZaTnfigBBRSmAths+hlaxvC6Qo1haQYwNG4KQlV/jLhrIiXEPgLGdJX9Tm5wHhJ/RafE1uqs3t1mapSbv18Y/RUWMBg8rG8gFBjqsB3EwPrxROjAbxhBdqTuPNRQ3B0s9WTx91u8LThwH4QslsDDEvvpqtlhRqeKRFtzkviKB70z4qBY13VKy23KWWgTrmeweBzey0OKqWQHpOPs6Tf7ifAfuqRSwj+rp2ae6q7TqdV0DXs4K/QoiBdVtoYeRbestM0P8AFJEH4e+iSG3m1PDngrNPC8kTpbDq/wD1v8FeobCqEfIfT1UZCqOFKnbhijVLYL+Q7wrdPo8d5agBUcKrBwVloKOwwNXBWHbPZFyPFBmmYNXsPguSLMo0xw81LTycVQPp4LkrlDZwlWWvadCFNT5IOYfZgCOsqDyQsVo1PmE04kfiHiP1QHG4iyjGKDQ474lCG4xv4h/yCd/MN/E3/kmxQo0OO9P/AJGSrorsG8JHHs4hAzC7PAcCdyMsxKEtxrD95PGJbxHiqg4K/NcfVQR2OaNXAd4UJ21SP/lZb+6fRFF6tfNbxQrHHNWzHQQAmjHM3OB7FE7adPeT4ILjKgUdSnKpnb9Bv3x6+ie/bNL8Tf8AkEBLANDJ4orTxUBZIdIKX42+KezpNTOjvJBq6mLCruxgCzlTbrTvt9fV1H/V2H7ymxpHYoFC9suzxyCHHa7PxjxXTtFn4wrsS0cWBuUodmiyjZVb/aew/qrNGq09qg58AcElOH9niuorz1/SU6w0fXcq7+lB/GB4n0Cy7Np/2j67Al/NgzZ3cbeYU0w0rNt1Hnq1AZnQOOnIJx2xVtJcT+YR3T7rNNfUOgqc4zJpzD5swPP9yg0NXbLjGs8LX/7E+ShftuoOXePqEG+CS3NFpiZ9b2UlGnoPm4Nb1vTT1RBAdIKp3lSN248XLj4oe3C1nizDlvEmBbgXG6Y1hAuADumCPFAVO23n75HbI9CbJo2s/wDFP5iqFKlJhpBcr+EwbmGXsbMauI9EU9mMedST3x6lSNruE6E7gc3jMwoqlVp1eDuAEn0GXzTKbry35d9yJ8N/aglbiqk8OGX9pVmm6oTYuk8TA8SR5BMovjRsDiGuBi3BwB/dcr4oAZTxPWIiOOknzQSNq9YhwqTpYk89NPErlbaIENa2DPCT6nwVV2PAjeN1xfshOpbTqlpbMDkQe1BL/UbX1jf+kx5b00bVmcxPZoPC6GkOzGGnid/fKTpGoF9Ot7Aom147RHEuG4G4HdKfmabWaTyIHmbKHC0w6BlAiJ6407CVYBaDl+IxvcAfM+yqpTROtjxMTPeQu1GvIvJ7ifJWGxA6xcDoQYHeGmxVeq2HZQ1viXexE8pQV2v1ABkcvZMfiyLQeGifiq9RsHcf7Y13qrVL4kAQeX6qCSnj4sfb3Uw2i0agz/l+nJUczrajfYA+8c0i15BykmDqcv8AtAR/qzRo1ju0klSHHtdf4YE8D7EIUw1Jgi/+IM+XmrIw7tSW8YAE+hhBfG0WaBpv2eQiCu09qNEfN2BrfSVRZUJsA0TvgdxBJHko6rXAwet3H1B0QHKO1QdHEEaA0xy1hSv22dZHcRHaQCYWZaHHQ67h56T7ptUvJtry19f0RWgPSZ3F/dCSy7sUQYkj8wXUNoMOxgAmnOs6yfSB9SuV6jQRlBi0x1b9knxV7+Qo5MwrkmbjITHeJUNFtGRnfYHcxzieXzBsd6umUDscR8mZvHrkz4QPJd/qB/C3ncz4yrNM0CYIOXcYDT4Bx81LVxGFZZtNzidcxEeOafZEUPj6wAJvAebeOqfRxDm6M7SNY9kq+LZPVpAA2gOPjcHyXKe2S0ZQ1tjOpnhCC2zHVTADRH+IJN/K6fSwrs2hYfxWN+WkeCoHar80ggQbdUHfzBnvXKmPe7f4NDfQBRRx2z4IL3sdY5pMO4akiTPenVKtL7zt1hAdf/IzYaeSAMpk6k+J9SrTGiLuntMx5Iulx+Np854hoHkEqO0MujHOnW0ndxBjTgoMw/ET9dinoVWkwRUd2O07k2aTUKznXFOoBH4Qb8ZgKbrudBFUOj5job2EEmygbiGtd1fiA8HRb/tPorbdpZjBEnm0EeDnqiOlhCCZuTYwWR3nmmV8I4ghjHd72+g/ZS1MUTcvqgDQNptA8iVSxdMuEDMRuLyT5AQgfRohkZ8rRxFyO8KxTrUmaDOdQcsDlYuKGu2UYkucTyg9wH6wptn7LaT1szeEtB94QWKDw53yt6xtu94IRD+SpfMckN+7lknnF7eSpVSxjerlLhoHBug4Ayoht0zAeCNPkaBYaSG+6AxiMMxzAC2BAu1uka6enqoRgW5Ia4wd2bLOu4CZ71Uw2Klpd8Jz41ygEtnkQTuSw+NcHdVmQxYvY1p7bgkoLg2a4ZvkEjSCf+3zEoY4OJyPIDTuEz4anvTsTiqpOVzs0xIgjL5xfsVRzqh6oDRxlx7piBPIobdxOHYHQO4kx3b/ADXMjMpkCOPfuMie6exQVmPiHGAdAwAAHtHunNwTnkHNJi0iY5Ej3TRsUbs5jZLNAZBZVbOmp67Z8FZp4+oY0AAvmpzpF84MT3wq2y9kuLTJayD95hOm+CbhSY2k5jpd8OG8KeWTyaBfxEhBeOPpC/ws7jqMrCe20qm/FAi9F3KzdOZiB3obWx1OR9nqOtFNje/rTBUn9UpQA1vO9+48OyENm4jGhxkDKBNy4X5ANCHYzHtcYaTfWSdf8QVdDi4ENYYN4BAHkASe1DXONMzLWnjDp36IIw9w3eRSUbsSCZzzP9v7JKCHDnVMeZN7pJLSGNTikkjNdppOMBJJRXWLrXEkSkkosT0TorTDZJJWkJ5sVJhPmSSSFXcS4m83lH8LRbGgsARYa8VxJVUtNo6/LRDsS4llz94LqSoF4+kC2SATAvHNWJ15RH/FJJREdUSCTcyn4ZozGw+guJIOvqEAwSPl3qKniHQ/rO3DU6cF1JBQqvMi5uCpaTuq5JJZEVEy0ze29DzUMxJidJSSWlF9k1CGmCRMzBUuGeXElxJPO/DikkojrP8A5nD+wnvk3UjzDhFuo4+SSSqs9Sdne3N1rDW+/mjWFotJHVGh3BcSUpAjG1CKjgCQJ4riSSo//9k="/>
          <p:cNvSpPr>
            <a:spLocks noChangeAspect="1" noChangeArrowheads="1"/>
          </p:cNvSpPr>
          <p:nvPr/>
        </p:nvSpPr>
        <p:spPr bwMode="auto">
          <a:xfrm>
            <a:off x="155575" y="-1957388"/>
            <a:ext cx="5448300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6870" name="Picture 6" descr="http://edinburghnapiernews.files.wordpress.com/2012/03/da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94357"/>
            <a:ext cx="2724150" cy="204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00" y="1340767"/>
            <a:ext cx="4081051" cy="4785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32183" y="659639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100" dirty="0"/>
              <a:t>https://www.carbonbrief.org/mapped-how-the-uk-generates-its-electricity</a:t>
            </a:r>
          </a:p>
        </p:txBody>
      </p:sp>
    </p:spTree>
    <p:extLst>
      <p:ext uri="{BB962C8B-B14F-4D97-AF65-F5344CB8AC3E}">
        <p14:creationId xmlns:p14="http://schemas.microsoft.com/office/powerpoint/2010/main" val="210367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712"/>
    </mc:Choice>
    <mc:Fallback xmlns="">
      <p:transition spd="slow" advTm="23712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Solar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44" y="1196752"/>
            <a:ext cx="8640960" cy="4320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615905"/>
            <a:ext cx="3962372" cy="69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0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42"/>
    </mc:Choice>
    <mc:Fallback xmlns="">
      <p:transition spd="slow" advTm="14142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Solar electrical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5" y="1860557"/>
            <a:ext cx="432048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Photovoltaic technology</a:t>
            </a:r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Concentrated Solar Power (CSP)</a:t>
            </a:r>
          </a:p>
          <a:p>
            <a:endParaRPr lang="en-GB" sz="2200" dirty="0"/>
          </a:p>
          <a:p>
            <a:endParaRPr lang="en-GB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24744"/>
            <a:ext cx="3546046" cy="2651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F87F3-8D71-DC55-988F-16048E976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785" y="4005064"/>
            <a:ext cx="3820524" cy="26546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891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693"/>
    </mc:Choice>
    <mc:Fallback xmlns="">
      <p:transition spd="slow" advTm="87693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799"/>
            <a:ext cx="8242945" cy="1584177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Semiconductor e.g. Silicon, GaAs, </a:t>
            </a:r>
            <a:r>
              <a:rPr lang="en-GB" dirty="0" err="1"/>
              <a:t>CdTe</a:t>
            </a:r>
            <a:endParaRPr lang="en-GB" dirty="0"/>
          </a:p>
          <a:p>
            <a:r>
              <a:rPr lang="en-GB" dirty="0"/>
              <a:t>N-type silicon: addition of impurity creates extra electrons e.g. P</a:t>
            </a:r>
          </a:p>
          <a:p>
            <a:r>
              <a:rPr lang="en-GB" dirty="0"/>
              <a:t>P-type silicon: addition of impurity creates ‘holes’ for electrons e.g. B</a:t>
            </a:r>
          </a:p>
          <a:p>
            <a:r>
              <a:rPr lang="en-GB" dirty="0"/>
              <a:t>Transfer of energy from the light (photon) to the extra electrons </a:t>
            </a:r>
          </a:p>
          <a:p>
            <a:r>
              <a:rPr lang="en-GB" dirty="0"/>
              <a:t>Electrons move generating a current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36280"/>
            <a:ext cx="6943684" cy="3110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Photovoltaic cell</a:t>
            </a:r>
          </a:p>
        </p:txBody>
      </p:sp>
    </p:spTree>
    <p:extLst>
      <p:ext uri="{BB962C8B-B14F-4D97-AF65-F5344CB8AC3E}">
        <p14:creationId xmlns:p14="http://schemas.microsoft.com/office/powerpoint/2010/main" val="340405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604"/>
    </mc:Choice>
    <mc:Fallback xmlns="">
      <p:transition spd="slow" advTm="151604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Biofuels and waste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3384376" cy="5184576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Any solid, liquid or gaseous fuel derived from recently living organisms</a:t>
            </a:r>
          </a:p>
          <a:p>
            <a:r>
              <a:rPr lang="en-GB" dirty="0"/>
              <a:t>Using crops as a source of fuel means that any carbon released through combustion is offset by carbon absorbed as the plant grows</a:t>
            </a:r>
          </a:p>
          <a:p>
            <a:r>
              <a:rPr lang="en-GB" dirty="0"/>
              <a:t>Can be a direct replacement for petrol/diesel or used for electricity generation</a:t>
            </a:r>
          </a:p>
        </p:txBody>
      </p:sp>
      <p:pic>
        <p:nvPicPr>
          <p:cNvPr id="47106" name="Picture 2" descr="http://www.vireol.com/media/6761/closed_carbon_cyc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484784"/>
            <a:ext cx="5200650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066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165"/>
    </mc:Choice>
    <mc:Fallback xmlns="">
      <p:transition spd="slow" advTm="108165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62250"/>
            <a:ext cx="661035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0007"/>
            <a:ext cx="8229600" cy="4525963"/>
          </a:xfrm>
        </p:spPr>
        <p:txBody>
          <a:bodyPr/>
          <a:lstStyle/>
          <a:p>
            <a:r>
              <a:rPr lang="en-GB" sz="2800" dirty="0"/>
              <a:t>Some fuels can be direct replacements for fossil fuels (e.g. biodiesel, biogas)</a:t>
            </a:r>
          </a:p>
          <a:p>
            <a:r>
              <a:rPr lang="en-GB" sz="2800" dirty="0"/>
              <a:t>Some can be produced from by-products, easing the pressure on farmland used for other crops</a:t>
            </a:r>
          </a:p>
          <a:p>
            <a:pPr lvl="1"/>
            <a:r>
              <a:rPr lang="en-GB" sz="2400" dirty="0"/>
              <a:t>e.g. biogas from food waste and sewerage, wood pellets from sawdust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934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3D2EDB-4187-80EF-B21E-0CC4A69CF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04564"/>
            <a:ext cx="7099448" cy="487859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4A214CB-A773-A510-3422-568980A8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 dirty="0"/>
              <a:t>Geothermal power</a:t>
            </a:r>
          </a:p>
        </p:txBody>
      </p:sp>
    </p:spTree>
    <p:extLst>
      <p:ext uri="{BB962C8B-B14F-4D97-AF65-F5344CB8AC3E}">
        <p14:creationId xmlns:p14="http://schemas.microsoft.com/office/powerpoint/2010/main" val="20068930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Geothermal power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E323F2-E69F-4C54-D0C7-EAAAE4B7F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1" y="636755"/>
            <a:ext cx="8989763" cy="60411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623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06"/>
    </mc:Choice>
    <mc:Fallback xmlns="">
      <p:transition spd="slow" advTm="64306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Locations of geothermal sites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33033-E501-DBD9-B300-431A43FE9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503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FDAF4-10E1-7239-6EDB-E5C833DE5495}"/>
              </a:ext>
            </a:extLst>
          </p:cNvPr>
          <p:cNvSpPr txBox="1"/>
          <p:nvPr/>
        </p:nvSpPr>
        <p:spPr>
          <a:xfrm>
            <a:off x="529208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https://www.thinkgeoenergy.com/map/</a:t>
            </a:r>
          </a:p>
        </p:txBody>
      </p:sp>
    </p:spTree>
    <p:extLst>
      <p:ext uri="{BB962C8B-B14F-4D97-AF65-F5344CB8AC3E}">
        <p14:creationId xmlns:p14="http://schemas.microsoft.com/office/powerpoint/2010/main" val="297401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66"/>
    </mc:Choice>
    <mc:Fallback xmlns="">
      <p:transition spd="slow" advTm="20266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707088" cy="45259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existing national grid is designed around providing the greatest generation capacity close to where demand is greatest (e.g. cities, heavy industry)</a:t>
            </a:r>
          </a:p>
          <a:p>
            <a:r>
              <a:rPr lang="en-GB" dirty="0"/>
              <a:t>In a low-carbon scenario, many of the sources of power are far from the users of the power (e.g. tidal streams in Scotland)</a:t>
            </a:r>
          </a:p>
          <a:p>
            <a:r>
              <a:rPr lang="en-GB" dirty="0"/>
              <a:t>Much work is needed to upgrade the power distribution network as a result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276872"/>
            <a:ext cx="18478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438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14"/>
    </mc:Choice>
    <mc:Fallback xmlns="">
      <p:transition spd="slow" advTm="73414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44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9FA53D-44A3-706C-4DF0-BE064080B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537653"/>
            <a:ext cx="8178799" cy="37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56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50106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145435"/>
          </a:xfrm>
        </p:spPr>
        <p:txBody>
          <a:bodyPr>
            <a:normAutofit/>
          </a:bodyPr>
          <a:lstStyle/>
          <a:p>
            <a:r>
              <a:rPr lang="en-GB" dirty="0"/>
              <a:t>Substantial amounts of energy could in theory be utilised through non-nuclear low-carbon technologies</a:t>
            </a:r>
          </a:p>
          <a:p>
            <a:r>
              <a:rPr lang="en-GB" dirty="0"/>
              <a:t>Even with the technical capacity, many economic, social and environmental issues will likely make implementing some technologies unfeasible</a:t>
            </a:r>
          </a:p>
          <a:p>
            <a:r>
              <a:rPr lang="en-GB" dirty="0"/>
              <a:t>Part of an energy mix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450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44"/>
    </mc:Choice>
    <mc:Fallback xmlns="">
      <p:transition spd="slow" advTm="50744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5E0A-2C1B-0E18-E968-F961384B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175D-68A9-5C02-5906-8D879BFE5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434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2C70-FD14-2035-E210-6D046A72F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World Nuclear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E084-78DD-58DB-A1A7-5AA6517E1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>
            <a:normAutofit fontScale="70000" lnSpcReduction="20000"/>
          </a:bodyPr>
          <a:lstStyle/>
          <a:p>
            <a:r>
              <a:rPr lang="en-GB" dirty="0">
                <a:hlinkClick r:id="rId2"/>
              </a:rPr>
              <a:t>https://world-nuclear.org/</a:t>
            </a:r>
            <a:endParaRPr lang="en-GB" dirty="0"/>
          </a:p>
          <a:p>
            <a:endParaRPr lang="en-GB" dirty="0"/>
          </a:p>
          <a:p>
            <a:r>
              <a:rPr lang="en-GB" dirty="0"/>
              <a:t>Read about your own country or one of interest </a:t>
            </a:r>
          </a:p>
          <a:p>
            <a:r>
              <a:rPr lang="en-GB" dirty="0"/>
              <a:t>Post interesting facts related to:</a:t>
            </a:r>
          </a:p>
          <a:p>
            <a:pPr lvl="1"/>
            <a:r>
              <a:rPr lang="en-GB" dirty="0"/>
              <a:t>Do they use nuclear? Why/Why not?</a:t>
            </a:r>
          </a:p>
          <a:p>
            <a:pPr lvl="1"/>
            <a:r>
              <a:rPr lang="en-GB" dirty="0"/>
              <a:t>How are they dealing with the waste?</a:t>
            </a:r>
          </a:p>
          <a:p>
            <a:pPr lvl="1"/>
            <a:r>
              <a:rPr lang="en-GB" dirty="0"/>
              <a:t>Has any country completed a waste repository?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Add to </a:t>
            </a:r>
            <a:r>
              <a:rPr lang="en-GB" dirty="0" err="1"/>
              <a:t>mentimeter</a:t>
            </a:r>
            <a:r>
              <a:rPr lang="en-GB" dirty="0"/>
              <a:t> to build the discussion</a:t>
            </a:r>
          </a:p>
        </p:txBody>
      </p:sp>
    </p:spTree>
    <p:extLst>
      <p:ext uri="{BB962C8B-B14F-4D97-AF65-F5344CB8AC3E}">
        <p14:creationId xmlns:p14="http://schemas.microsoft.com/office/powerpoint/2010/main" val="38296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6.2|1.6|5.1|2.2|5.8|6.7|11.4|9.1|1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16.6|30.9|7.6|18.1|19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27.2|0.7|68|12.3|13.5|55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77.7|8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4.8|3.6|4.1|9.2|1.3|0.9|2.4|8.4|24|15.4|0.8|7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52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5|4|10.9|23.1|45.3|12.1|33.9|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5.9|21.4|65.9|1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19.5|10.1|13.4|17.9|3|4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11.6|14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3.8|1.9|3.1|5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0|22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6.7|14.1|10.4|9.5|5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3.7|8.5|27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1|14.3|20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33.3|29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3.2|18.2|1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7.6|4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46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2|28|0.9|1.9|1.9|1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6.2|10.4|3.2|49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0.8|5|4.2|0.9|1|1.6|1.2|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9.2|12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2.2|14.3|2.2|5.9|107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10.5|2.4|23.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5|8.4|5.5|8|5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0.9|0.6|6|0.5|1.2|16.3|10|5.3|19|1.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1|82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8|5.5|17.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14.5|15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|20.2|20.8|7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33368</TotalTime>
  <Words>2377</Words>
  <Application>Microsoft Office PowerPoint</Application>
  <PresentationFormat>On-screen Show (4:3)</PresentationFormat>
  <Paragraphs>419</Paragraphs>
  <Slides>63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#Calibri</vt:lpstr>
      <vt:lpstr>Arial</vt:lpstr>
      <vt:lpstr>Calibri</vt:lpstr>
      <vt:lpstr>Source Sans 3</vt:lpstr>
      <vt:lpstr>Symbol</vt:lpstr>
      <vt:lpstr>Tahoma</vt:lpstr>
      <vt:lpstr>Times New Roman</vt:lpstr>
      <vt:lpstr>Wingdings</vt:lpstr>
      <vt:lpstr>Office Theme</vt:lpstr>
      <vt:lpstr>Image</vt:lpstr>
      <vt:lpstr>Bitmap Image</vt:lpstr>
      <vt:lpstr>A Sustainable Planet</vt:lpstr>
      <vt:lpstr>PowerPoint Presentation</vt:lpstr>
      <vt:lpstr>Learning outcomes</vt:lpstr>
      <vt:lpstr>PowerPoint Presentation</vt:lpstr>
      <vt:lpstr>PowerPoint Presentation</vt:lpstr>
      <vt:lpstr>Uranium Occurrence</vt:lpstr>
      <vt:lpstr>Uranium: secondary formation</vt:lpstr>
      <vt:lpstr>Unconformity deposit:  Athabascan Basin, Canada</vt:lpstr>
      <vt:lpstr>Roll front deposits:  e.g. Australia, Kazakhstan</vt:lpstr>
      <vt:lpstr>Purification and concentration of U ore</vt:lpstr>
      <vt:lpstr>235U  Natural uranium  0.7 % 235U ; &gt;99% 238U    Pressurised Water Reactor - 3% 235U </vt:lpstr>
      <vt:lpstr>Uranium Enrichment / Fuel</vt:lpstr>
      <vt:lpstr>PowerPoint Presentation</vt:lpstr>
      <vt:lpstr>Generic Pressurized Water Reactor (PWR)  </vt:lpstr>
      <vt:lpstr>PowerPoint Presentation</vt:lpstr>
      <vt:lpstr>PowerPoint Presentation</vt:lpstr>
      <vt:lpstr>Nuclear waste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Stopping radiation</vt:lpstr>
      <vt:lpstr>PowerPoint Presentation</vt:lpstr>
      <vt:lpstr>PowerPoint Presentation</vt:lpstr>
      <vt:lpstr>Fuel Rods: hottest properties</vt:lpstr>
      <vt:lpstr>Radwaste definitions</vt:lpstr>
      <vt:lpstr>Volume of waste-the challenge</vt:lpstr>
      <vt:lpstr>PowerPoint Presentation</vt:lpstr>
      <vt:lpstr>So what can we do with the waste?</vt:lpstr>
      <vt:lpstr>PowerPoint Presentation</vt:lpstr>
      <vt:lpstr>PowerPoint Presentation</vt:lpstr>
      <vt:lpstr>PowerPoint Presentation</vt:lpstr>
      <vt:lpstr>Geological disposal</vt:lpstr>
      <vt:lpstr>Deep Geological Disposal</vt:lpstr>
      <vt:lpstr>What do we need to know?</vt:lpstr>
      <vt:lpstr>Summary</vt:lpstr>
      <vt:lpstr>A Sustainable Planet</vt:lpstr>
      <vt:lpstr>Learning outcomes</vt:lpstr>
      <vt:lpstr>PowerPoint Presentation</vt:lpstr>
      <vt:lpstr>PowerPoint Presentation</vt:lpstr>
      <vt:lpstr>PowerPoint Presentation</vt:lpstr>
      <vt:lpstr>Wind turbine</vt:lpstr>
      <vt:lpstr>PowerPoint Presentation</vt:lpstr>
      <vt:lpstr>Fluctuations</vt:lpstr>
      <vt:lpstr>Hydroelectric power</vt:lpstr>
      <vt:lpstr>PowerPoint Presentation</vt:lpstr>
      <vt:lpstr>Three Gorges Dam, China</vt:lpstr>
      <vt:lpstr>UK Hydroelectric power</vt:lpstr>
      <vt:lpstr>Solar power</vt:lpstr>
      <vt:lpstr>Solar electrical generation</vt:lpstr>
      <vt:lpstr>Photovoltaic cell</vt:lpstr>
      <vt:lpstr>Biofuels and waste products</vt:lpstr>
      <vt:lpstr>PowerPoint Presentation</vt:lpstr>
      <vt:lpstr>Geothermal power</vt:lpstr>
      <vt:lpstr>Geothermal power</vt:lpstr>
      <vt:lpstr>Locations of geothermal sites</vt:lpstr>
      <vt:lpstr>Distribution</vt:lpstr>
      <vt:lpstr>PowerPoint Presentation</vt:lpstr>
      <vt:lpstr>Summary</vt:lpstr>
      <vt:lpstr>PowerPoint Presentation</vt:lpstr>
      <vt:lpstr>World Nuclear Association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mbexdvsc</dc:creator>
  <cp:lastModifiedBy>Victoria Coker</cp:lastModifiedBy>
  <cp:revision>81</cp:revision>
  <cp:lastPrinted>2018-03-01T08:48:50Z</cp:lastPrinted>
  <dcterms:created xsi:type="dcterms:W3CDTF">2014-01-31T15:03:22Z</dcterms:created>
  <dcterms:modified xsi:type="dcterms:W3CDTF">2025-03-21T13:26:36Z</dcterms:modified>
</cp:coreProperties>
</file>