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7"/>
  </p:notesMasterIdLst>
  <p:sldIdLst>
    <p:sldId id="256" r:id="rId2"/>
    <p:sldId id="257" r:id="rId3"/>
    <p:sldId id="259" r:id="rId4"/>
    <p:sldId id="260" r:id="rId5"/>
    <p:sldId id="261" r:id="rId6"/>
    <p:sldId id="274" r:id="rId7"/>
    <p:sldId id="271" r:id="rId8"/>
    <p:sldId id="272" r:id="rId9"/>
    <p:sldId id="263" r:id="rId10"/>
    <p:sldId id="264" r:id="rId11"/>
    <p:sldId id="265" r:id="rId12"/>
    <p:sldId id="266" r:id="rId13"/>
    <p:sldId id="267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87186" autoAdjust="0"/>
  </p:normalViewPr>
  <p:slideViewPr>
    <p:cSldViewPr snapToGrid="0">
      <p:cViewPr varScale="1">
        <p:scale>
          <a:sx n="110" d="100"/>
          <a:sy n="110" d="100"/>
        </p:scale>
        <p:origin x="34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953AF-DF34-41AB-87A3-F900B0DA0FC7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3A3FC-9EFF-4235-97DD-25083E8D1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58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313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65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538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143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81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838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709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149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8838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4056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4056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819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4137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836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528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EB6B-C512-49C0-9CAD-276284DCA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B2130-D659-4086-A5E7-3AEF8B9FE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1113E-79F7-4222-9DEA-3399CE8E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October 2020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7D4B2-768D-42AB-B96C-ADC0935B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000" y="6356350"/>
            <a:ext cx="4320000" cy="365125"/>
          </a:xfrm>
        </p:spPr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544E5-283B-497C-A17F-C5391119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26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44D7-5AE2-41B0-B945-E0FECB667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D1EA-A4A2-466D-B767-7370ABE81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6DFC4-0CDF-499C-B418-8927AA7AC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B0986-6916-4257-AC63-570EB60B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95634-03D4-4B80-8752-BEC3863C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29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5007B-207F-41C8-AD48-8936F46D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FFBCD-2955-4AEB-9992-D31726423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DD235-57F7-4DF5-A618-53498FAE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D12B6-0CAE-4442-BB78-79F3BF66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F6BF4-1B6C-4A06-947A-FCF11168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47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F338-9494-47F6-9CEE-A923AD708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69605-CD76-408F-96F4-EA27EC69C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9F475-DB77-4C29-99B4-4C4C64BC8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2455F-10BA-427D-8547-8C5F5617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C4AF3-05D4-4B43-9A59-60C5E1AD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008A9-97D5-40C4-A96B-CEF65CF1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78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F20F-10A8-48E6-80DB-7B010E2B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576000" cy="13255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D2251-873A-4A2D-A182-4E34AA341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14E8C-305B-4B34-8E66-A4F27CB03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E0F9B-6195-46E1-9CF4-416107D16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4E796-701E-4320-A231-AEF835AE1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CF397-B797-4A96-995C-78DE1992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2B863-2E74-460E-8183-92C86265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FDD3A-C152-47DF-8127-598C7C5C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70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AABF-A0CD-4179-9FE9-90F93136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A6627-BDA2-45CE-8E54-D36CA5DA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16E08-C137-465F-B57D-E9D94150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8A738-D179-41F0-A7D7-8A450A3A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06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F2D7E-443F-4ADA-91DF-33246ADB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3AFB4-9718-41E1-B211-5F80969F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F952D-E203-4F1B-9063-B98E9509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76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A30D7-E7C0-4BE7-827F-3FF29DD2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2A7E1-86B7-4951-A1FC-BDB39D0A7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FF350-FAD3-46DA-A9C4-EE5711265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5A263-81E2-4306-BDF4-B5C84BE8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EA232-7B9A-4C5F-BCC2-A18CBE4D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2B55D-FD4A-436A-AB1B-882DC557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450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62B7-ACB1-43AC-AA2C-9373A999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2F6B07-574D-4C0E-A925-45AA47BEC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C7EBD-0CE1-4E7F-8E35-2E0B7470B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C96AF-E8C1-4F52-AFFB-8DACD886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EB72B-8213-49B5-B39E-DECF9978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E4821-0C42-4BA9-9DD9-53387A36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6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FA19-4301-4438-9832-D4D27B00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8D55F-6FA4-4694-A0E6-014C8499A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E48DF-3ED2-4288-8906-6A091A87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9EBF5-8347-40D6-8325-95E87E18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E5CE1-2E6D-484E-954B-2BFBE70E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12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29294-658A-4249-B526-A099D2AB0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C2D95-B9CF-41E2-A944-2553D8AFF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FBEB1-908E-4CEA-8F6C-1B7EFA96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C3054-6B2A-423D-83B9-B0F1A298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A5E9B-95EC-4279-94DD-C781953F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64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D7403-4BF5-4671-ABC7-9B0F30D3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753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6F7F6-C35F-42F5-9686-7FB1BA713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46F8-F24C-44E3-B06F-D7FD88AB0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A35A-47F9-4349-A154-804ADAFED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6000" y="6356350"/>
            <a:ext cx="43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EART26201 | Principles of Geochemistry | Lecture 4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7A1A-0F11-4CD9-86CE-E1686C26D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6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Melting and crystallisation in geochemical systems: phase diagram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4</a:t>
            </a:r>
          </a:p>
          <a:p>
            <a:r>
              <a:rPr lang="en-GB" dirty="0"/>
              <a:t>Part 1 | 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109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0" descr="A picture containing food, cake, tree&#10;&#10;Description automatically generated">
            <a:extLst>
              <a:ext uri="{FF2B5EF4-FFF2-40B4-BE49-F238E27FC236}">
                <a16:creationId xmlns:a16="http://schemas.microsoft.com/office/drawing/2014/main" id="{157BCA21-EA8B-461E-A51F-24BA338488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0885" y="1884708"/>
            <a:ext cx="5412915" cy="40596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97E0F85E-C10D-469F-8F94-EF71F8814A2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Phase diagrams link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–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–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 to observable features</a:t>
                </a:r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97E0F85E-C10D-469F-8F94-EF71F8814A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D648F-CB6E-47F3-B8C9-224F2F996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921FE-BE96-4439-B42B-69CBEBA52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C8C80-0EAE-4053-9A7F-F639A3D2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</a:t>
            </a:fld>
            <a:endParaRPr lang="en-GB"/>
          </a:p>
        </p:txBody>
      </p:sp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E5CE928C-DFF9-49DA-BEB7-3AF2DAD16B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4603" y="1840257"/>
            <a:ext cx="4555363" cy="414602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4DD92F-D71A-4C0F-888F-8C18031F46A2}"/>
                  </a:ext>
                </a:extLst>
              </p:cNvPr>
              <p:cNvSpPr txBox="1"/>
              <p:nvPr/>
            </p:nvSpPr>
            <p:spPr>
              <a:xfrm>
                <a:off x="5997313" y="5057287"/>
                <a:ext cx="5300059" cy="8309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Estimate the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–</m:t>
                    </m:r>
                    <m:r>
                      <a:rPr lang="en-GB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–</m:t>
                    </m:r>
                    <m:r>
                      <a:rPr lang="en-GB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/>
                  <a:t> conditions under which magmas form and crystallise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4DD92F-D71A-4C0F-888F-8C18031F4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313" y="5057287"/>
                <a:ext cx="5300059" cy="830997"/>
              </a:xfrm>
              <a:prstGeom prst="rect">
                <a:avLst/>
              </a:prstGeom>
              <a:blipFill>
                <a:blip r:embed="rId6"/>
                <a:stretch>
                  <a:fillRect l="-1841" t="-5147" r="-2992" b="-1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F286292-69C4-4979-AAA7-35005FF566E6}"/>
              </a:ext>
            </a:extLst>
          </p:cNvPr>
          <p:cNvSpPr txBox="1"/>
          <p:nvPr/>
        </p:nvSpPr>
        <p:spPr>
          <a:xfrm>
            <a:off x="5940885" y="1893146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Icelandic basalt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57539-FC33-401C-B307-298A68670E09}"/>
              </a:ext>
            </a:extLst>
          </p:cNvPr>
          <p:cNvSpPr txBox="1"/>
          <p:nvPr/>
        </p:nvSpPr>
        <p:spPr>
          <a:xfrm>
            <a:off x="8962766" y="2452056"/>
            <a:ext cx="18288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Plagioclase with</a:t>
            </a:r>
          </a:p>
          <a:p>
            <a:pPr algn="ctr"/>
            <a:r>
              <a:rPr lang="en-GB" i="1" dirty="0" err="1"/>
              <a:t>X</a:t>
            </a:r>
            <a:r>
              <a:rPr lang="en-GB" baseline="-25000" dirty="0" err="1"/>
              <a:t>An</a:t>
            </a:r>
            <a:r>
              <a:rPr lang="en-GB" dirty="0"/>
              <a:t> = 0.9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585C58-22FF-45CF-BD6B-6DB7B52424F9}"/>
              </a:ext>
            </a:extLst>
          </p:cNvPr>
          <p:cNvSpPr/>
          <p:nvPr/>
        </p:nvSpPr>
        <p:spPr>
          <a:xfrm>
            <a:off x="4792580" y="2729283"/>
            <a:ext cx="196850" cy="196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586075E-3EFF-40B9-BF97-795C8C5DE564}"/>
              </a:ext>
            </a:extLst>
          </p:cNvPr>
          <p:cNvSpPr/>
          <p:nvPr/>
        </p:nvSpPr>
        <p:spPr>
          <a:xfrm flipH="1">
            <a:off x="5241913" y="2709025"/>
            <a:ext cx="3271520" cy="2373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9C3C1A8-812E-4B89-90B0-4527E614FCCC}"/>
              </a:ext>
            </a:extLst>
          </p:cNvPr>
          <p:cNvSpPr/>
          <p:nvPr/>
        </p:nvSpPr>
        <p:spPr>
          <a:xfrm>
            <a:off x="8626396" y="2729283"/>
            <a:ext cx="196850" cy="196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FA58EB-B733-4F64-842C-0BADE4F31E9A}"/>
              </a:ext>
            </a:extLst>
          </p:cNvPr>
          <p:cNvSpPr/>
          <p:nvPr/>
        </p:nvSpPr>
        <p:spPr>
          <a:xfrm>
            <a:off x="9680316" y="3759614"/>
            <a:ext cx="196850" cy="19685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89685CE-DC27-4433-A3EA-7E5AB6C5D837}"/>
              </a:ext>
            </a:extLst>
          </p:cNvPr>
          <p:cNvSpPr/>
          <p:nvPr/>
        </p:nvSpPr>
        <p:spPr>
          <a:xfrm flipH="1">
            <a:off x="3581399" y="3741081"/>
            <a:ext cx="6034905" cy="23736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881A04-C6FA-476D-A009-91C1D9D5DB3A}"/>
              </a:ext>
            </a:extLst>
          </p:cNvPr>
          <p:cNvSpPr/>
          <p:nvPr/>
        </p:nvSpPr>
        <p:spPr>
          <a:xfrm>
            <a:off x="3095664" y="3759614"/>
            <a:ext cx="196850" cy="19685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E2F3B3-06E1-482E-AD1D-44D017E583AF}"/>
              </a:ext>
            </a:extLst>
          </p:cNvPr>
          <p:cNvSpPr txBox="1"/>
          <p:nvPr/>
        </p:nvSpPr>
        <p:spPr>
          <a:xfrm>
            <a:off x="9468572" y="4067239"/>
            <a:ext cx="18288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Plagioclase with</a:t>
            </a:r>
          </a:p>
          <a:p>
            <a:pPr algn="ctr"/>
            <a:r>
              <a:rPr lang="en-GB" i="1" dirty="0" err="1"/>
              <a:t>X</a:t>
            </a:r>
            <a:r>
              <a:rPr lang="en-GB" baseline="-25000" dirty="0" err="1"/>
              <a:t>An</a:t>
            </a:r>
            <a:r>
              <a:rPr lang="en-GB" dirty="0"/>
              <a:t> = 0.4</a:t>
            </a:r>
          </a:p>
        </p:txBody>
      </p:sp>
    </p:spTree>
    <p:extLst>
      <p:ext uri="{BB962C8B-B14F-4D97-AF65-F5344CB8AC3E}">
        <p14:creationId xmlns:p14="http://schemas.microsoft.com/office/powerpoint/2010/main" val="166837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5" grpId="0" animBg="1"/>
      <p:bldP spid="16" grpId="0" animBg="1"/>
      <p:bldP spid="21" grpId="0" animBg="1"/>
      <p:bldP spid="22" grpId="0" animBg="1"/>
      <p:bldP spid="14" grpId="0" animBg="1"/>
      <p:bldP spid="17" grpId="0" animBg="1"/>
      <p:bldP spid="18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75E-9A44-4D35-9E93-BC23911D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experiments to construct phase diagrams</a:t>
            </a:r>
          </a:p>
        </p:txBody>
      </p:sp>
      <p:pic>
        <p:nvPicPr>
          <p:cNvPr id="9" name="Content Placeholder 8" descr="A picture containing indoor, wall, floor, cluttered&#10;&#10;Description automatically generated">
            <a:extLst>
              <a:ext uri="{FF2B5EF4-FFF2-40B4-BE49-F238E27FC236}">
                <a16:creationId xmlns:a16="http://schemas.microsoft.com/office/drawing/2014/main" id="{FA579C78-F3E9-4858-9510-559D8DDB4D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1760" y="1823054"/>
            <a:ext cx="2352040" cy="4321664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821AE-C84E-4211-B800-306AAA4C6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6F249-5D85-4267-B278-B38B5A36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72BF5-8270-4F60-9522-0BE63288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</a:t>
            </a:fld>
            <a:endParaRPr lang="en-GB"/>
          </a:p>
        </p:txBody>
      </p:sp>
      <p:pic>
        <p:nvPicPr>
          <p:cNvPr id="17" name="Picture 16" descr="A picture containing indoor, cluttered&#10;&#10;Description automatically generated">
            <a:extLst>
              <a:ext uri="{FF2B5EF4-FFF2-40B4-BE49-F238E27FC236}">
                <a16:creationId xmlns:a16="http://schemas.microsoft.com/office/drawing/2014/main" id="{7D6B11FE-8BD1-4867-99D6-EA5F1B764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4328160"/>
            <a:ext cx="3229435" cy="18165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8">
                <a:extLst>
                  <a:ext uri="{FF2B5EF4-FFF2-40B4-BE49-F238E27FC236}">
                    <a16:creationId xmlns:a16="http://schemas.microsoft.com/office/drawing/2014/main" id="{FF37997F-88B2-4BD6-A08D-657441196BD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7899400" cy="2502535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Natural magmas are complex chemical systems:</a:t>
                </a:r>
              </a:p>
              <a:p>
                <a:pPr lvl="1"/>
                <a:r>
                  <a:rPr lang="en-GB" dirty="0"/>
                  <a:t>Si, </a:t>
                </a:r>
                <a:r>
                  <a:rPr lang="en-GB" dirty="0" err="1"/>
                  <a:t>Ti</a:t>
                </a:r>
                <a:r>
                  <a:rPr lang="en-GB" dirty="0"/>
                  <a:t>, Al, Fe, Mn, Mg, Ca, Na, K, P and O (plus H and C)</a:t>
                </a:r>
              </a:p>
              <a:p>
                <a:r>
                  <a:rPr lang="en-GB" dirty="0"/>
                  <a:t>Experiments at known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–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–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 enable us to understand reactions in magmas and construct phase diagrams</a:t>
                </a:r>
              </a:p>
              <a:p>
                <a:r>
                  <a:rPr lang="en-GB" dirty="0"/>
                  <a:t>Experiments are often expensive but generate the thermodynamic data needed for predictive models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9" name="Content Placeholder 18">
                <a:extLst>
                  <a:ext uri="{FF2B5EF4-FFF2-40B4-BE49-F238E27FC236}">
                    <a16:creationId xmlns:a16="http://schemas.microsoft.com/office/drawing/2014/main" id="{FF37997F-88B2-4BD6-A08D-657441196B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7899400" cy="2502535"/>
              </a:xfrm>
              <a:blipFill>
                <a:blip r:embed="rId4"/>
                <a:stretch>
                  <a:fillRect l="-1081" t="-3163" r="-1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 descr="A picture containing person, hand&#10;&#10;Description automatically generated">
            <a:extLst>
              <a:ext uri="{FF2B5EF4-FFF2-40B4-BE49-F238E27FC236}">
                <a16:creationId xmlns:a16="http://schemas.microsoft.com/office/drawing/2014/main" id="{04B867F7-C837-49E9-8B4D-12451383EA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5532" y="4328160"/>
            <a:ext cx="2998332" cy="1816557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DA6656D1-18AC-40E3-8D40-462865CEC1AC}"/>
              </a:ext>
            </a:extLst>
          </p:cNvPr>
          <p:cNvSpPr/>
          <p:nvPr/>
        </p:nvSpPr>
        <p:spPr>
          <a:xfrm>
            <a:off x="4226560" y="5100320"/>
            <a:ext cx="640080" cy="365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118E583-192D-4FD2-8B89-78FF43C6418D}"/>
              </a:ext>
            </a:extLst>
          </p:cNvPr>
          <p:cNvSpPr/>
          <p:nvPr/>
        </p:nvSpPr>
        <p:spPr>
          <a:xfrm>
            <a:off x="8197772" y="5100320"/>
            <a:ext cx="640080" cy="365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4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8697CBF-EB69-48E1-9A95-545ABF3E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4 synopsis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F493CA-D1ED-4702-94EB-FC465378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Synchronous</a:t>
            </a:r>
            <a:endParaRPr lang="en-GB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GB" dirty="0"/>
              <a:t>Part 1 | Introduction</a:t>
            </a:r>
          </a:p>
          <a:p>
            <a:pPr marL="0" indent="0">
              <a:buNone/>
            </a:pPr>
            <a:r>
              <a:rPr lang="en-GB" dirty="0"/>
              <a:t>Part 2 | Phase diagrams without solid solution</a:t>
            </a:r>
          </a:p>
          <a:p>
            <a:pPr marL="0" indent="0">
              <a:buNone/>
            </a:pPr>
            <a:r>
              <a:rPr lang="en-GB" dirty="0"/>
              <a:t>Part 3 | Phase diagrams with a solvus</a:t>
            </a:r>
          </a:p>
          <a:p>
            <a:pPr marL="0" indent="0">
              <a:buNone/>
            </a:pPr>
            <a:r>
              <a:rPr lang="en-GB" dirty="0"/>
              <a:t>Part 4 | Pyroxenes and exsolution</a:t>
            </a:r>
          </a:p>
          <a:p>
            <a:pPr marL="0" indent="0">
              <a:buNone/>
            </a:pPr>
            <a:r>
              <a:rPr lang="en-GB" dirty="0"/>
              <a:t>Part 5 | Phase diagrams with a peritectic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Further reading | White, Chapter 4 (Phase diagram construction)</a:t>
            </a:r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14C43-D8E1-4C9B-B591-FD6C78A3C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FB0BB-08CB-4C2A-9DA7-3B9176E6F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EA239-335C-47CF-8544-14C5E5A5F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029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Melting and crystallisation in geochemical systems: phase diagram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4</a:t>
            </a:r>
          </a:p>
          <a:p>
            <a:r>
              <a:rPr lang="en-GB" dirty="0"/>
              <a:t>Part 2 | Binary phase diagrams without solid solution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93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2" y="1870075"/>
            <a:ext cx="4498856" cy="4094595"/>
          </a:xfr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06677E2-7F45-4C9C-B40B-6BC165AD0E17}"/>
              </a:ext>
            </a:extLst>
          </p:cNvPr>
          <p:cNvCxnSpPr>
            <a:cxnSpLocks/>
          </p:cNvCxnSpPr>
          <p:nvPr/>
        </p:nvCxnSpPr>
        <p:spPr>
          <a:xfrm>
            <a:off x="3668162" y="2934930"/>
            <a:ext cx="5410" cy="2387406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ED20C3A-25AA-49CE-A587-9972B0FD0A8F}"/>
              </a:ext>
            </a:extLst>
          </p:cNvPr>
          <p:cNvCxnSpPr>
            <a:cxnSpLocks/>
          </p:cNvCxnSpPr>
          <p:nvPr/>
        </p:nvCxnSpPr>
        <p:spPr>
          <a:xfrm>
            <a:off x="3668710" y="3694720"/>
            <a:ext cx="4315" cy="1638053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solid solution: a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7" y="1828800"/>
                <a:ext cx="5852637" cy="45275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i="1" dirty="0"/>
                  <a:t>Equilibrium crystallisation</a:t>
                </a:r>
              </a:p>
              <a:p>
                <a:r>
                  <a:rPr lang="en-GB" dirty="0"/>
                  <a:t>First plagioclase is An-rich</a:t>
                </a:r>
              </a:p>
              <a:p>
                <a:r>
                  <a:rPr lang="en-GB" dirty="0"/>
                  <a:t>Plagioclase maintains equilibrium with the melt and becomes richer in Ab</a:t>
                </a:r>
              </a:p>
              <a:p>
                <a:r>
                  <a:rPr lang="en-GB" dirty="0"/>
                  <a:t>Plagioclase at low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has exactly the same composition as melt at high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GB" i="1" dirty="0"/>
                  <a:t>Equilibrium melting </a:t>
                </a:r>
              </a:p>
              <a:p>
                <a:r>
                  <a:rPr lang="en-GB" dirty="0"/>
                  <a:t>Opposite of equilibrium crystallisation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7" y="1828800"/>
                <a:ext cx="5852637" cy="4527549"/>
              </a:xfrm>
              <a:blipFill>
                <a:blip r:embed="rId4"/>
                <a:stretch>
                  <a:fillRect l="-1667" t="-1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6</a:t>
            </a:fld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04A7B-572E-4109-A5B6-6B25000E7C59}"/>
              </a:ext>
            </a:extLst>
          </p:cNvPr>
          <p:cNvCxnSpPr>
            <a:cxnSpLocks/>
          </p:cNvCxnSpPr>
          <p:nvPr/>
        </p:nvCxnSpPr>
        <p:spPr>
          <a:xfrm>
            <a:off x="3670867" y="2373403"/>
            <a:ext cx="0" cy="426719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D11A4D-BC3B-42C1-95E6-C5AEEAAC0EBC}"/>
              </a:ext>
            </a:extLst>
          </p:cNvPr>
          <p:cNvCxnSpPr>
            <a:cxnSpLocks/>
          </p:cNvCxnSpPr>
          <p:nvPr/>
        </p:nvCxnSpPr>
        <p:spPr>
          <a:xfrm>
            <a:off x="3668138" y="2848890"/>
            <a:ext cx="125577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343CD6-47C0-4AE3-9685-8FB3EE639055}"/>
              </a:ext>
            </a:extLst>
          </p:cNvPr>
          <p:cNvCxnSpPr>
            <a:cxnSpLocks/>
          </p:cNvCxnSpPr>
          <p:nvPr/>
        </p:nvCxnSpPr>
        <p:spPr>
          <a:xfrm>
            <a:off x="2934010" y="3223385"/>
            <a:ext cx="143865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E95CB6-4CEE-4656-8C4D-45F96A68FC64}"/>
              </a:ext>
            </a:extLst>
          </p:cNvPr>
          <p:cNvCxnSpPr>
            <a:cxnSpLocks/>
          </p:cNvCxnSpPr>
          <p:nvPr/>
        </p:nvCxnSpPr>
        <p:spPr>
          <a:xfrm>
            <a:off x="2381882" y="3641370"/>
            <a:ext cx="128625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3BB61E4E-ED7B-40DF-B067-E80FC3AE236D}"/>
              </a:ext>
            </a:extLst>
          </p:cNvPr>
          <p:cNvSpPr/>
          <p:nvPr/>
        </p:nvSpPr>
        <p:spPr>
          <a:xfrm>
            <a:off x="3609907" y="2251483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82FF249-74A6-45B5-8A9E-480DB19FF48E}"/>
              </a:ext>
            </a:extLst>
          </p:cNvPr>
          <p:cNvSpPr/>
          <p:nvPr/>
        </p:nvSpPr>
        <p:spPr>
          <a:xfrm>
            <a:off x="4862954" y="278793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9CC755-92CD-4235-882E-872B8B94D872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4923914" y="2909850"/>
            <a:ext cx="0" cy="2416682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0938859-4D01-48DB-9518-188ADF5790EF}"/>
              </a:ext>
            </a:extLst>
          </p:cNvPr>
          <p:cNvCxnSpPr>
            <a:cxnSpLocks/>
          </p:cNvCxnSpPr>
          <p:nvPr/>
        </p:nvCxnSpPr>
        <p:spPr>
          <a:xfrm>
            <a:off x="4353317" y="3284345"/>
            <a:ext cx="0" cy="2050922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1ABB35E-3020-4C41-957B-79AD7687F3F5}"/>
              </a:ext>
            </a:extLst>
          </p:cNvPr>
          <p:cNvCxnSpPr>
            <a:cxnSpLocks/>
          </p:cNvCxnSpPr>
          <p:nvPr/>
        </p:nvCxnSpPr>
        <p:spPr>
          <a:xfrm>
            <a:off x="2934010" y="3284424"/>
            <a:ext cx="0" cy="2050922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556F8A4-7EE5-4B17-9110-7CEC2585D8C1}"/>
              </a:ext>
            </a:extLst>
          </p:cNvPr>
          <p:cNvCxnSpPr>
            <a:cxnSpLocks/>
          </p:cNvCxnSpPr>
          <p:nvPr/>
        </p:nvCxnSpPr>
        <p:spPr>
          <a:xfrm>
            <a:off x="2381881" y="3702330"/>
            <a:ext cx="0" cy="1632937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2A9F5B2-A67B-4E6A-BB36-6584C525E9DB}"/>
              </a:ext>
            </a:extLst>
          </p:cNvPr>
          <p:cNvSpPr txBox="1"/>
          <p:nvPr/>
        </p:nvSpPr>
        <p:spPr>
          <a:xfrm>
            <a:off x="4323532" y="3169666"/>
            <a:ext cx="558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81C5C3-75E7-47F5-950A-27C1A5159E5D}"/>
              </a:ext>
            </a:extLst>
          </p:cNvPr>
          <p:cNvSpPr txBox="1"/>
          <p:nvPr/>
        </p:nvSpPr>
        <p:spPr>
          <a:xfrm>
            <a:off x="4873114" y="2812238"/>
            <a:ext cx="558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5A9FC3-7FF1-4992-AEB1-C622D784E8A5}"/>
              </a:ext>
            </a:extLst>
          </p:cNvPr>
          <p:cNvSpPr txBox="1"/>
          <p:nvPr/>
        </p:nvSpPr>
        <p:spPr>
          <a:xfrm>
            <a:off x="3631184" y="3576488"/>
            <a:ext cx="558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36D6BF-A8F7-4FB2-931C-DB966A23D005}"/>
              </a:ext>
            </a:extLst>
          </p:cNvPr>
          <p:cNvSpPr txBox="1"/>
          <p:nvPr/>
        </p:nvSpPr>
        <p:spPr>
          <a:xfrm>
            <a:off x="3344073" y="2596971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510F1A-228F-436D-9269-5CBFBC56BAF3}"/>
              </a:ext>
            </a:extLst>
          </p:cNvPr>
          <p:cNvSpPr txBox="1"/>
          <p:nvPr/>
        </p:nvSpPr>
        <p:spPr>
          <a:xfrm>
            <a:off x="3429000" y="2749940"/>
            <a:ext cx="1847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200" i="1" dirty="0">
              <a:solidFill>
                <a:schemeClr val="accent2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396C9B-0A0C-4637-88B4-E0EC2EE23576}"/>
              </a:ext>
            </a:extLst>
          </p:cNvPr>
          <p:cNvSpPr txBox="1"/>
          <p:nvPr/>
        </p:nvSpPr>
        <p:spPr>
          <a:xfrm>
            <a:off x="2658102" y="2956243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9B0F8D-78FB-4032-BC23-3978F378E952}"/>
              </a:ext>
            </a:extLst>
          </p:cNvPr>
          <p:cNvSpPr txBox="1"/>
          <p:nvPr/>
        </p:nvSpPr>
        <p:spPr>
          <a:xfrm>
            <a:off x="2153742" y="3359101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L3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1C30559-C674-44C8-9322-4027C20A38BB}"/>
              </a:ext>
            </a:extLst>
          </p:cNvPr>
          <p:cNvCxnSpPr>
            <a:cxnSpLocks/>
          </p:cNvCxnSpPr>
          <p:nvPr/>
        </p:nvCxnSpPr>
        <p:spPr>
          <a:xfrm flipH="1">
            <a:off x="1968370" y="2861082"/>
            <a:ext cx="1638808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607E435-B76B-47FE-A40A-DFB7D3A4C7B5}"/>
              </a:ext>
            </a:extLst>
          </p:cNvPr>
          <p:cNvCxnSpPr>
            <a:cxnSpLocks/>
          </p:cNvCxnSpPr>
          <p:nvPr/>
        </p:nvCxnSpPr>
        <p:spPr>
          <a:xfrm flipH="1">
            <a:off x="1968370" y="3641370"/>
            <a:ext cx="357254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58E5505-61B0-475E-999D-69099D163C82}"/>
              </a:ext>
            </a:extLst>
          </p:cNvPr>
          <p:cNvCxnSpPr>
            <a:cxnSpLocks/>
          </p:cNvCxnSpPr>
          <p:nvPr/>
        </p:nvCxnSpPr>
        <p:spPr>
          <a:xfrm flipH="1">
            <a:off x="1968370" y="3223385"/>
            <a:ext cx="903609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2CCAA69-3632-4B47-991B-D4DFC92E41ED}"/>
              </a:ext>
            </a:extLst>
          </p:cNvPr>
          <p:cNvSpPr txBox="1"/>
          <p:nvPr/>
        </p:nvSpPr>
        <p:spPr>
          <a:xfrm>
            <a:off x="3380035" y="2171598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BAFFAD-68DC-4388-A095-5DEC2174E399}"/>
              </a:ext>
            </a:extLst>
          </p:cNvPr>
          <p:cNvSpPr txBox="1"/>
          <p:nvPr/>
        </p:nvSpPr>
        <p:spPr>
          <a:xfrm>
            <a:off x="3662728" y="5005153"/>
            <a:ext cx="47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F8ACD2-9F20-44E8-A9E9-9FC23FD4350F}"/>
              </a:ext>
            </a:extLst>
          </p:cNvPr>
          <p:cNvSpPr/>
          <p:nvPr/>
        </p:nvSpPr>
        <p:spPr>
          <a:xfrm>
            <a:off x="3609907" y="2800122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BBC9FD-899D-4C70-AD57-E2486F5E1A45}"/>
              </a:ext>
            </a:extLst>
          </p:cNvPr>
          <p:cNvSpPr/>
          <p:nvPr/>
        </p:nvSpPr>
        <p:spPr>
          <a:xfrm>
            <a:off x="2871978" y="3162425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D017A58-B914-4C45-918C-DF810804F404}"/>
              </a:ext>
            </a:extLst>
          </p:cNvPr>
          <p:cNvSpPr/>
          <p:nvPr/>
        </p:nvSpPr>
        <p:spPr>
          <a:xfrm>
            <a:off x="2320921" y="3580410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2E0B404-398D-4DF4-911F-9385521293AC}"/>
              </a:ext>
            </a:extLst>
          </p:cNvPr>
          <p:cNvSpPr/>
          <p:nvPr/>
        </p:nvSpPr>
        <p:spPr>
          <a:xfrm>
            <a:off x="4288918" y="316242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0FBB8B-C221-4C56-888E-1BE0D7C30956}"/>
              </a:ext>
            </a:extLst>
          </p:cNvPr>
          <p:cNvSpPr txBox="1"/>
          <p:nvPr/>
        </p:nvSpPr>
        <p:spPr>
          <a:xfrm>
            <a:off x="1914357" y="2596971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43887A-D18A-4303-88BE-615D37C9CE1F}"/>
              </a:ext>
            </a:extLst>
          </p:cNvPr>
          <p:cNvSpPr txBox="1"/>
          <p:nvPr/>
        </p:nvSpPr>
        <p:spPr>
          <a:xfrm>
            <a:off x="1914357" y="2956243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DCCB54-8BA1-429A-AF44-C2E066C30A8F}"/>
              </a:ext>
            </a:extLst>
          </p:cNvPr>
          <p:cNvSpPr txBox="1"/>
          <p:nvPr/>
        </p:nvSpPr>
        <p:spPr>
          <a:xfrm>
            <a:off x="1914087" y="3359101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T3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73B81A1-206F-40A8-9DAF-85EE82541C69}"/>
              </a:ext>
            </a:extLst>
          </p:cNvPr>
          <p:cNvCxnSpPr>
            <a:cxnSpLocks/>
          </p:cNvCxnSpPr>
          <p:nvPr/>
        </p:nvCxnSpPr>
        <p:spPr>
          <a:xfrm>
            <a:off x="3670867" y="2932382"/>
            <a:ext cx="0" cy="291003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A4FC2B3-C7D5-4758-9ED2-1A6D8C3288A4}"/>
              </a:ext>
            </a:extLst>
          </p:cNvPr>
          <p:cNvCxnSpPr>
            <a:cxnSpLocks/>
          </p:cNvCxnSpPr>
          <p:nvPr/>
        </p:nvCxnSpPr>
        <p:spPr>
          <a:xfrm>
            <a:off x="3670867" y="3223385"/>
            <a:ext cx="0" cy="347089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942DEE5C-B17F-406A-ADC0-F4B6E65CF7F6}"/>
              </a:ext>
            </a:extLst>
          </p:cNvPr>
          <p:cNvSpPr/>
          <p:nvPr/>
        </p:nvSpPr>
        <p:spPr>
          <a:xfrm>
            <a:off x="3609907" y="5210853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4A6CD6B-1373-4579-B0C7-E54A69FBFF6A}"/>
              </a:ext>
            </a:extLst>
          </p:cNvPr>
          <p:cNvCxnSpPr>
            <a:cxnSpLocks/>
            <a:stCxn id="33" idx="4"/>
          </p:cNvCxnSpPr>
          <p:nvPr/>
        </p:nvCxnSpPr>
        <p:spPr>
          <a:xfrm>
            <a:off x="3670867" y="3694720"/>
            <a:ext cx="2158" cy="1512951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275DA4E-C7A6-46E0-87D7-EB8243346109}"/>
              </a:ext>
            </a:extLst>
          </p:cNvPr>
          <p:cNvSpPr/>
          <p:nvPr/>
        </p:nvSpPr>
        <p:spPr>
          <a:xfrm>
            <a:off x="3609907" y="357280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AF96B98-E462-4D6D-A6A3-446719436292}"/>
              </a:ext>
            </a:extLst>
          </p:cNvPr>
          <p:cNvCxnSpPr>
            <a:cxnSpLocks/>
          </p:cNvCxnSpPr>
          <p:nvPr/>
        </p:nvCxnSpPr>
        <p:spPr>
          <a:xfrm flipH="1" flipV="1">
            <a:off x="3532703" y="3769201"/>
            <a:ext cx="2158" cy="1512951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629173B-78AB-43EC-95A9-038394908360}"/>
              </a:ext>
            </a:extLst>
          </p:cNvPr>
          <p:cNvSpPr txBox="1"/>
          <p:nvPr/>
        </p:nvSpPr>
        <p:spPr>
          <a:xfrm>
            <a:off x="3698657" y="2916972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3"/>
                </a:solidFill>
              </a:rPr>
              <a:t>System</a:t>
            </a:r>
            <a:endParaRPr lang="en-GB" i="1" dirty="0">
              <a:solidFill>
                <a:schemeClr val="accent3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67D8098-8074-499D-98AB-1E60F936F9AF}"/>
              </a:ext>
            </a:extLst>
          </p:cNvPr>
          <p:cNvCxnSpPr>
            <a:cxnSpLocks/>
          </p:cNvCxnSpPr>
          <p:nvPr/>
        </p:nvCxnSpPr>
        <p:spPr>
          <a:xfrm flipH="1">
            <a:off x="3025010" y="2878663"/>
            <a:ext cx="582168" cy="291003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894CF99-D8EC-4228-B913-E9FFEA26F0DC}"/>
              </a:ext>
            </a:extLst>
          </p:cNvPr>
          <p:cNvCxnSpPr>
            <a:cxnSpLocks/>
          </p:cNvCxnSpPr>
          <p:nvPr/>
        </p:nvCxnSpPr>
        <p:spPr>
          <a:xfrm flipH="1">
            <a:off x="2472101" y="3305784"/>
            <a:ext cx="346643" cy="262309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0EFDD88-E4F5-435F-A917-D3ABE899701F}"/>
              </a:ext>
            </a:extLst>
          </p:cNvPr>
          <p:cNvSpPr txBox="1"/>
          <p:nvPr/>
        </p:nvSpPr>
        <p:spPr>
          <a:xfrm>
            <a:off x="2781771" y="2803328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Liquid</a:t>
            </a:r>
            <a:endParaRPr lang="en-GB" i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93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2" y="1870075"/>
            <a:ext cx="4498856" cy="4094595"/>
          </a:xfr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06677E2-7F45-4C9C-B40B-6BC165AD0E17}"/>
              </a:ext>
            </a:extLst>
          </p:cNvPr>
          <p:cNvCxnSpPr>
            <a:cxnSpLocks/>
          </p:cNvCxnSpPr>
          <p:nvPr/>
        </p:nvCxnSpPr>
        <p:spPr>
          <a:xfrm>
            <a:off x="3660542" y="2934295"/>
            <a:ext cx="5410" cy="2387406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ED20C3A-25AA-49CE-A587-9972B0FD0A8F}"/>
              </a:ext>
            </a:extLst>
          </p:cNvPr>
          <p:cNvCxnSpPr>
            <a:cxnSpLocks/>
            <a:stCxn id="33" idx="4"/>
          </p:cNvCxnSpPr>
          <p:nvPr/>
        </p:nvCxnSpPr>
        <p:spPr>
          <a:xfrm>
            <a:off x="3531525" y="3812686"/>
            <a:ext cx="4025" cy="1509015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solid solution: a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i="1" dirty="0"/>
                  <a:t>Fractional crystallisation</a:t>
                </a:r>
              </a:p>
              <a:p>
                <a:r>
                  <a:rPr lang="en-GB" dirty="0"/>
                  <a:t>First plagioclase is An-rich</a:t>
                </a:r>
              </a:p>
              <a:p>
                <a:r>
                  <a:rPr lang="en-GB" dirty="0"/>
                  <a:t>Plagioclase is removed from the system as soon as it is formed</a:t>
                </a:r>
              </a:p>
              <a:p>
                <a:r>
                  <a:rPr lang="en-GB" dirty="0"/>
                  <a:t>The composition of the system is the composition of the liquid</a:t>
                </a:r>
              </a:p>
              <a:p>
                <a:r>
                  <a:rPr lang="en-GB" dirty="0"/>
                  <a:t>Residual melt compositions become more Ab-rich as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decreases.</a:t>
                </a:r>
              </a:p>
              <a:p>
                <a:r>
                  <a:rPr lang="en-GB" dirty="0"/>
                  <a:t>Last melt at the lowest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part of the liquidus and crystallises pure Ab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  <a:blipFill>
                <a:blip r:embed="rId4"/>
                <a:stretch>
                  <a:fillRect l="-1719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150" y="6356350"/>
            <a:ext cx="2743200" cy="365125"/>
          </a:xfrm>
        </p:spPr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000" y="6356350"/>
            <a:ext cx="4320000" cy="365125"/>
          </a:xfrm>
        </p:spPr>
        <p:txBody>
          <a:bodyPr/>
          <a:lstStyle/>
          <a:p>
            <a:r>
              <a:rPr lang="en-GB" dirty="0"/>
              <a:t>EART26201 | Principles of Geochemistry | Lecture 4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7</a:t>
            </a:fld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04A7B-572E-4109-A5B6-6B25000E7C59}"/>
              </a:ext>
            </a:extLst>
          </p:cNvPr>
          <p:cNvCxnSpPr>
            <a:cxnSpLocks/>
          </p:cNvCxnSpPr>
          <p:nvPr/>
        </p:nvCxnSpPr>
        <p:spPr>
          <a:xfrm>
            <a:off x="3663247" y="2372768"/>
            <a:ext cx="0" cy="426719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D11A4D-BC3B-42C1-95E6-C5AEEAAC0EBC}"/>
              </a:ext>
            </a:extLst>
          </p:cNvPr>
          <p:cNvCxnSpPr>
            <a:cxnSpLocks/>
          </p:cNvCxnSpPr>
          <p:nvPr/>
        </p:nvCxnSpPr>
        <p:spPr>
          <a:xfrm>
            <a:off x="3660518" y="2848255"/>
            <a:ext cx="125577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343CD6-47C0-4AE3-9685-8FB3EE639055}"/>
              </a:ext>
            </a:extLst>
          </p:cNvPr>
          <p:cNvCxnSpPr>
            <a:cxnSpLocks/>
          </p:cNvCxnSpPr>
          <p:nvPr/>
        </p:nvCxnSpPr>
        <p:spPr>
          <a:xfrm>
            <a:off x="2926390" y="3222750"/>
            <a:ext cx="143865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E95CB6-4CEE-4656-8C4D-45F96A68FC64}"/>
              </a:ext>
            </a:extLst>
          </p:cNvPr>
          <p:cNvCxnSpPr>
            <a:cxnSpLocks/>
          </p:cNvCxnSpPr>
          <p:nvPr/>
        </p:nvCxnSpPr>
        <p:spPr>
          <a:xfrm>
            <a:off x="2242540" y="3759336"/>
            <a:ext cx="128625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3BB61E4E-ED7B-40DF-B067-E80FC3AE236D}"/>
              </a:ext>
            </a:extLst>
          </p:cNvPr>
          <p:cNvSpPr/>
          <p:nvPr/>
        </p:nvSpPr>
        <p:spPr>
          <a:xfrm>
            <a:off x="3602287" y="2250848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82FF249-74A6-45B5-8A9E-480DB19FF48E}"/>
              </a:ext>
            </a:extLst>
          </p:cNvPr>
          <p:cNvSpPr/>
          <p:nvPr/>
        </p:nvSpPr>
        <p:spPr>
          <a:xfrm>
            <a:off x="4855334" y="278729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9CC755-92CD-4235-882E-872B8B94D872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4916294" y="2909215"/>
            <a:ext cx="0" cy="2416682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0938859-4D01-48DB-9518-188ADF5790EF}"/>
              </a:ext>
            </a:extLst>
          </p:cNvPr>
          <p:cNvCxnSpPr>
            <a:cxnSpLocks/>
          </p:cNvCxnSpPr>
          <p:nvPr/>
        </p:nvCxnSpPr>
        <p:spPr>
          <a:xfrm>
            <a:off x="4345697" y="3283710"/>
            <a:ext cx="0" cy="2050922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1ABB35E-3020-4C41-957B-79AD7687F3F5}"/>
              </a:ext>
            </a:extLst>
          </p:cNvPr>
          <p:cNvCxnSpPr>
            <a:cxnSpLocks/>
          </p:cNvCxnSpPr>
          <p:nvPr/>
        </p:nvCxnSpPr>
        <p:spPr>
          <a:xfrm>
            <a:off x="2926390" y="3283789"/>
            <a:ext cx="0" cy="2050922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556F8A4-7EE5-4B17-9110-7CEC2585D8C1}"/>
              </a:ext>
            </a:extLst>
          </p:cNvPr>
          <p:cNvCxnSpPr>
            <a:cxnSpLocks/>
          </p:cNvCxnSpPr>
          <p:nvPr/>
        </p:nvCxnSpPr>
        <p:spPr>
          <a:xfrm>
            <a:off x="2242540" y="3812686"/>
            <a:ext cx="0" cy="1519452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2A9F5B2-A67B-4E6A-BB36-6584C525E9DB}"/>
              </a:ext>
            </a:extLst>
          </p:cNvPr>
          <p:cNvSpPr txBox="1"/>
          <p:nvPr/>
        </p:nvSpPr>
        <p:spPr>
          <a:xfrm>
            <a:off x="4315912" y="3169031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81C5C3-75E7-47F5-950A-27C1A5159E5D}"/>
              </a:ext>
            </a:extLst>
          </p:cNvPr>
          <p:cNvSpPr txBox="1"/>
          <p:nvPr/>
        </p:nvSpPr>
        <p:spPr>
          <a:xfrm>
            <a:off x="4862954" y="2811603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5A9FC3-7FF1-4992-AEB1-C622D784E8A5}"/>
              </a:ext>
            </a:extLst>
          </p:cNvPr>
          <p:cNvSpPr txBox="1"/>
          <p:nvPr/>
        </p:nvSpPr>
        <p:spPr>
          <a:xfrm>
            <a:off x="3597402" y="3784346"/>
            <a:ext cx="373500" cy="184666"/>
          </a:xfrm>
          <a:prstGeom prst="rect">
            <a:avLst/>
          </a:prstGeom>
          <a:solidFill>
            <a:srgbClr val="ECECEC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36D6BF-A8F7-4FB2-931C-DB966A23D005}"/>
              </a:ext>
            </a:extLst>
          </p:cNvPr>
          <p:cNvSpPr txBox="1"/>
          <p:nvPr/>
        </p:nvSpPr>
        <p:spPr>
          <a:xfrm>
            <a:off x="3336453" y="2596336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396C9B-0A0C-4637-88B4-E0EC2EE23576}"/>
              </a:ext>
            </a:extLst>
          </p:cNvPr>
          <p:cNvSpPr txBox="1"/>
          <p:nvPr/>
        </p:nvSpPr>
        <p:spPr>
          <a:xfrm>
            <a:off x="2650482" y="2955608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9B0F8D-78FB-4032-BC23-3978F378E952}"/>
              </a:ext>
            </a:extLst>
          </p:cNvPr>
          <p:cNvSpPr txBox="1"/>
          <p:nvPr/>
        </p:nvSpPr>
        <p:spPr>
          <a:xfrm>
            <a:off x="2116576" y="3421299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L3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1C30559-C674-44C8-9322-4027C20A38BB}"/>
              </a:ext>
            </a:extLst>
          </p:cNvPr>
          <p:cNvCxnSpPr>
            <a:cxnSpLocks/>
          </p:cNvCxnSpPr>
          <p:nvPr/>
        </p:nvCxnSpPr>
        <p:spPr>
          <a:xfrm flipH="1">
            <a:off x="1960750" y="2860447"/>
            <a:ext cx="1638808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607E435-B76B-47FE-A40A-DFB7D3A4C7B5}"/>
              </a:ext>
            </a:extLst>
          </p:cNvPr>
          <p:cNvCxnSpPr>
            <a:cxnSpLocks/>
          </p:cNvCxnSpPr>
          <p:nvPr/>
        </p:nvCxnSpPr>
        <p:spPr>
          <a:xfrm flipH="1">
            <a:off x="1960750" y="3759336"/>
            <a:ext cx="225532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58E5505-61B0-475E-999D-69099D163C82}"/>
              </a:ext>
            </a:extLst>
          </p:cNvPr>
          <p:cNvCxnSpPr>
            <a:cxnSpLocks/>
          </p:cNvCxnSpPr>
          <p:nvPr/>
        </p:nvCxnSpPr>
        <p:spPr>
          <a:xfrm flipH="1">
            <a:off x="1960750" y="3222750"/>
            <a:ext cx="903609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2CCAA69-3632-4B47-991B-D4DFC92E41ED}"/>
              </a:ext>
            </a:extLst>
          </p:cNvPr>
          <p:cNvSpPr txBox="1"/>
          <p:nvPr/>
        </p:nvSpPr>
        <p:spPr>
          <a:xfrm>
            <a:off x="3372415" y="217096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F8ACD2-9F20-44E8-A9E9-9FC23FD4350F}"/>
              </a:ext>
            </a:extLst>
          </p:cNvPr>
          <p:cNvSpPr/>
          <p:nvPr/>
        </p:nvSpPr>
        <p:spPr>
          <a:xfrm>
            <a:off x="3602287" y="2799487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BBC9FD-899D-4C70-AD57-E2486F5E1A45}"/>
              </a:ext>
            </a:extLst>
          </p:cNvPr>
          <p:cNvSpPr/>
          <p:nvPr/>
        </p:nvSpPr>
        <p:spPr>
          <a:xfrm>
            <a:off x="2864358" y="3161790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D017A58-B914-4C45-918C-DF810804F404}"/>
              </a:ext>
            </a:extLst>
          </p:cNvPr>
          <p:cNvSpPr/>
          <p:nvPr/>
        </p:nvSpPr>
        <p:spPr>
          <a:xfrm>
            <a:off x="2181579" y="3698376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2E0B404-398D-4DF4-911F-9385521293AC}"/>
              </a:ext>
            </a:extLst>
          </p:cNvPr>
          <p:cNvSpPr/>
          <p:nvPr/>
        </p:nvSpPr>
        <p:spPr>
          <a:xfrm>
            <a:off x="4281298" y="316179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0FBB8B-C221-4C56-888E-1BE0D7C30956}"/>
              </a:ext>
            </a:extLst>
          </p:cNvPr>
          <p:cNvSpPr txBox="1"/>
          <p:nvPr/>
        </p:nvSpPr>
        <p:spPr>
          <a:xfrm>
            <a:off x="1906737" y="2596336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43887A-D18A-4303-88BE-615D37C9CE1F}"/>
              </a:ext>
            </a:extLst>
          </p:cNvPr>
          <p:cNvSpPr txBox="1"/>
          <p:nvPr/>
        </p:nvSpPr>
        <p:spPr>
          <a:xfrm>
            <a:off x="1906737" y="2955608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DCCB54-8BA1-429A-AF44-C2E066C30A8F}"/>
              </a:ext>
            </a:extLst>
          </p:cNvPr>
          <p:cNvSpPr txBox="1"/>
          <p:nvPr/>
        </p:nvSpPr>
        <p:spPr>
          <a:xfrm>
            <a:off x="1906737" y="3455662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275DA4E-C7A6-46E0-87D7-EB8243346109}"/>
              </a:ext>
            </a:extLst>
          </p:cNvPr>
          <p:cNvSpPr/>
          <p:nvPr/>
        </p:nvSpPr>
        <p:spPr>
          <a:xfrm>
            <a:off x="3470565" y="369076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5AE6D32-BC5C-49B5-ABCB-043D19C33A7F}"/>
              </a:ext>
            </a:extLst>
          </p:cNvPr>
          <p:cNvSpPr/>
          <p:nvPr/>
        </p:nvSpPr>
        <p:spPr>
          <a:xfrm>
            <a:off x="1885266" y="5210218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481DC5-7E16-41AF-B526-10264B3D45DD}"/>
              </a:ext>
            </a:extLst>
          </p:cNvPr>
          <p:cNvSpPr txBox="1"/>
          <p:nvPr/>
        </p:nvSpPr>
        <p:spPr>
          <a:xfrm>
            <a:off x="2014212" y="4351394"/>
            <a:ext cx="431928" cy="221018"/>
          </a:xfrm>
          <a:prstGeom prst="rect">
            <a:avLst/>
          </a:prstGeom>
          <a:solidFill>
            <a:srgbClr val="ECECEC"/>
          </a:solidFill>
        </p:spPr>
        <p:txBody>
          <a:bodyPr wrap="square" lIns="0" tIns="0" rIns="0" bIns="36000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4112845-8BC6-4513-8C73-7CAE002A6289}"/>
              </a:ext>
            </a:extLst>
          </p:cNvPr>
          <p:cNvSpPr/>
          <p:nvPr/>
        </p:nvSpPr>
        <p:spPr>
          <a:xfrm>
            <a:off x="1885266" y="426970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A8C049-2661-499A-AB50-9229A560FC6E}"/>
              </a:ext>
            </a:extLst>
          </p:cNvPr>
          <p:cNvSpPr txBox="1"/>
          <p:nvPr/>
        </p:nvSpPr>
        <p:spPr>
          <a:xfrm>
            <a:off x="1555187" y="4207675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T4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4BDAB4E-D550-424E-BE4E-08708F64A2EC}"/>
              </a:ext>
            </a:extLst>
          </p:cNvPr>
          <p:cNvCxnSpPr>
            <a:cxnSpLocks/>
          </p:cNvCxnSpPr>
          <p:nvPr/>
        </p:nvCxnSpPr>
        <p:spPr>
          <a:xfrm flipH="1">
            <a:off x="3039682" y="2909215"/>
            <a:ext cx="517049" cy="265463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CD1E2C2-4496-40F5-B28E-55EADFBA19B5}"/>
              </a:ext>
            </a:extLst>
          </p:cNvPr>
          <p:cNvCxnSpPr>
            <a:cxnSpLocks/>
          </p:cNvCxnSpPr>
          <p:nvPr/>
        </p:nvCxnSpPr>
        <p:spPr>
          <a:xfrm flipH="1">
            <a:off x="2332971" y="3266077"/>
            <a:ext cx="527223" cy="455478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62245D7-EA9F-420B-A385-B6A7D47EC791}"/>
              </a:ext>
            </a:extLst>
          </p:cNvPr>
          <p:cNvCxnSpPr>
            <a:cxnSpLocks/>
          </p:cNvCxnSpPr>
          <p:nvPr/>
        </p:nvCxnSpPr>
        <p:spPr>
          <a:xfrm flipH="1">
            <a:off x="1987670" y="3847784"/>
            <a:ext cx="233671" cy="406856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A9D9D34-A3DC-405E-9E55-6E89D2D7AAE6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946226" y="4391626"/>
            <a:ext cx="4025" cy="818592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03ABBDA-B2E6-4535-B235-5678F13C841E}"/>
              </a:ext>
            </a:extLst>
          </p:cNvPr>
          <p:cNvSpPr txBox="1"/>
          <p:nvPr/>
        </p:nvSpPr>
        <p:spPr>
          <a:xfrm>
            <a:off x="2523386" y="2123796"/>
            <a:ext cx="7825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i="1" dirty="0">
                <a:solidFill>
                  <a:schemeClr val="accent6"/>
                </a:solidFill>
              </a:rPr>
              <a:t>Liquid</a:t>
            </a:r>
          </a:p>
          <a:p>
            <a:pPr algn="ctr"/>
            <a:r>
              <a:rPr lang="en-GB" sz="1400" i="1" dirty="0"/>
              <a:t>=</a:t>
            </a:r>
          </a:p>
          <a:p>
            <a:pPr algn="ctr"/>
            <a:r>
              <a:rPr lang="en-GB" sz="1400" i="1" dirty="0">
                <a:solidFill>
                  <a:schemeClr val="accent3"/>
                </a:solidFill>
              </a:rPr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46300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2" y="1870075"/>
            <a:ext cx="4498856" cy="4094595"/>
          </a:xfr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06677E2-7F45-4C9C-B40B-6BC165AD0E17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3784487" y="2877730"/>
            <a:ext cx="0" cy="2455043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ED20C3A-25AA-49CE-A587-9972B0FD0A8F}"/>
              </a:ext>
            </a:extLst>
          </p:cNvPr>
          <p:cNvCxnSpPr>
            <a:cxnSpLocks/>
          </p:cNvCxnSpPr>
          <p:nvPr/>
        </p:nvCxnSpPr>
        <p:spPr>
          <a:xfrm>
            <a:off x="3668710" y="3694720"/>
            <a:ext cx="4315" cy="1638053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solid solution: a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i="1" dirty="0"/>
                  <a:t>Fractional melting</a:t>
                </a:r>
              </a:p>
              <a:p>
                <a:r>
                  <a:rPr lang="en-GB" dirty="0"/>
                  <a:t>First melt is Ab-rich</a:t>
                </a:r>
              </a:p>
              <a:p>
                <a:r>
                  <a:rPr lang="en-GB" dirty="0"/>
                  <a:t>Melt is removed from the system as soon as it is formed</a:t>
                </a:r>
              </a:p>
              <a:p>
                <a:r>
                  <a:rPr lang="en-GB" dirty="0"/>
                  <a:t>Residual plagioclase compositions become more An-rich as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increases</a:t>
                </a:r>
              </a:p>
              <a:p>
                <a:r>
                  <a:rPr lang="en-GB" dirty="0"/>
                  <a:t>Last plagioclase at the highest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point of the solidus and produces An melt</a:t>
                </a:r>
              </a:p>
              <a:p>
                <a:pPr marL="0" indent="0" algn="ctr">
                  <a:spcBef>
                    <a:spcPts val="1800"/>
                  </a:spcBef>
                  <a:buNone/>
                </a:pPr>
                <a:r>
                  <a:rPr lang="en-GB" i="1" dirty="0">
                    <a:solidFill>
                      <a:schemeClr val="accent1"/>
                    </a:solidFill>
                  </a:rPr>
                  <a:t>Fractional melting is not the opposite</a:t>
                </a:r>
                <a:br>
                  <a:rPr lang="en-GB" i="1" dirty="0">
                    <a:solidFill>
                      <a:schemeClr val="accent1"/>
                    </a:solidFill>
                  </a:rPr>
                </a:br>
                <a:r>
                  <a:rPr lang="en-GB" i="1" dirty="0">
                    <a:solidFill>
                      <a:schemeClr val="accent1"/>
                    </a:solidFill>
                  </a:rPr>
                  <a:t>of fractional crystallisation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  <a:blipFill>
                <a:blip r:embed="rId4"/>
                <a:stretch>
                  <a:fillRect l="-1719" t="-1821" r="-6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0610" y="6356350"/>
            <a:ext cx="2743200" cy="365125"/>
          </a:xfrm>
        </p:spPr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000" y="6356350"/>
            <a:ext cx="4320000" cy="365125"/>
          </a:xfrm>
        </p:spPr>
        <p:txBody>
          <a:bodyPr/>
          <a:lstStyle/>
          <a:p>
            <a:r>
              <a:rPr lang="en-GB" dirty="0"/>
              <a:t>EART26201 | Principles of Geochemistry | Lecture 4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8</a:t>
            </a:fld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04A7B-572E-4109-A5B6-6B25000E7C59}"/>
              </a:ext>
            </a:extLst>
          </p:cNvPr>
          <p:cNvCxnSpPr>
            <a:cxnSpLocks/>
          </p:cNvCxnSpPr>
          <p:nvPr/>
        </p:nvCxnSpPr>
        <p:spPr>
          <a:xfrm flipV="1">
            <a:off x="5098494" y="2564804"/>
            <a:ext cx="210866" cy="170902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D11A4D-BC3B-42C1-95E6-C5AEEAAC0EBC}"/>
              </a:ext>
            </a:extLst>
          </p:cNvPr>
          <p:cNvCxnSpPr>
            <a:cxnSpLocks/>
          </p:cNvCxnSpPr>
          <p:nvPr/>
        </p:nvCxnSpPr>
        <p:spPr>
          <a:xfrm>
            <a:off x="3781758" y="2804578"/>
            <a:ext cx="125577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343CD6-47C0-4AE3-9685-8FB3EE639055}"/>
              </a:ext>
            </a:extLst>
          </p:cNvPr>
          <p:cNvCxnSpPr>
            <a:cxnSpLocks/>
          </p:cNvCxnSpPr>
          <p:nvPr/>
        </p:nvCxnSpPr>
        <p:spPr>
          <a:xfrm>
            <a:off x="2934010" y="3223385"/>
            <a:ext cx="143865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E95CB6-4CEE-4656-8C4D-45F96A68FC64}"/>
              </a:ext>
            </a:extLst>
          </p:cNvPr>
          <p:cNvCxnSpPr>
            <a:cxnSpLocks/>
          </p:cNvCxnSpPr>
          <p:nvPr/>
        </p:nvCxnSpPr>
        <p:spPr>
          <a:xfrm>
            <a:off x="2381882" y="3641370"/>
            <a:ext cx="128625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182FF249-74A6-45B5-8A9E-480DB19FF48E}"/>
              </a:ext>
            </a:extLst>
          </p:cNvPr>
          <p:cNvSpPr/>
          <p:nvPr/>
        </p:nvSpPr>
        <p:spPr>
          <a:xfrm>
            <a:off x="4976574" y="2743618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9CC755-92CD-4235-882E-872B8B94D872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5037534" y="2865538"/>
            <a:ext cx="0" cy="2467235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0938859-4D01-48DB-9518-188ADF5790EF}"/>
              </a:ext>
            </a:extLst>
          </p:cNvPr>
          <p:cNvCxnSpPr>
            <a:cxnSpLocks/>
          </p:cNvCxnSpPr>
          <p:nvPr/>
        </p:nvCxnSpPr>
        <p:spPr>
          <a:xfrm>
            <a:off x="4353317" y="3284345"/>
            <a:ext cx="0" cy="2050922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1ABB35E-3020-4C41-957B-79AD7687F3F5}"/>
              </a:ext>
            </a:extLst>
          </p:cNvPr>
          <p:cNvCxnSpPr>
            <a:cxnSpLocks/>
          </p:cNvCxnSpPr>
          <p:nvPr/>
        </p:nvCxnSpPr>
        <p:spPr>
          <a:xfrm>
            <a:off x="2934010" y="3284424"/>
            <a:ext cx="0" cy="2050922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556F8A4-7EE5-4B17-9110-7CEC2585D8C1}"/>
              </a:ext>
            </a:extLst>
          </p:cNvPr>
          <p:cNvCxnSpPr>
            <a:cxnSpLocks/>
          </p:cNvCxnSpPr>
          <p:nvPr/>
        </p:nvCxnSpPr>
        <p:spPr>
          <a:xfrm>
            <a:off x="2381881" y="3702330"/>
            <a:ext cx="0" cy="1632937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2A9F5B2-A67B-4E6A-BB36-6584C525E9DB}"/>
              </a:ext>
            </a:extLst>
          </p:cNvPr>
          <p:cNvSpPr txBox="1"/>
          <p:nvPr/>
        </p:nvSpPr>
        <p:spPr>
          <a:xfrm>
            <a:off x="4323532" y="3169666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36D6BF-A8F7-4FB2-931C-DB966A23D005}"/>
              </a:ext>
            </a:extLst>
          </p:cNvPr>
          <p:cNvSpPr txBox="1"/>
          <p:nvPr/>
        </p:nvSpPr>
        <p:spPr>
          <a:xfrm>
            <a:off x="3445995" y="2565489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510F1A-228F-436D-9269-5CBFBC56BAF3}"/>
              </a:ext>
            </a:extLst>
          </p:cNvPr>
          <p:cNvSpPr txBox="1"/>
          <p:nvPr/>
        </p:nvSpPr>
        <p:spPr>
          <a:xfrm>
            <a:off x="3429000" y="2749940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200" i="1" dirty="0">
              <a:solidFill>
                <a:schemeClr val="accent2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396C9B-0A0C-4637-88B4-E0EC2EE23576}"/>
              </a:ext>
            </a:extLst>
          </p:cNvPr>
          <p:cNvSpPr txBox="1"/>
          <p:nvPr/>
        </p:nvSpPr>
        <p:spPr>
          <a:xfrm>
            <a:off x="2658102" y="2956243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9B0F8D-78FB-4032-BC23-3978F378E952}"/>
              </a:ext>
            </a:extLst>
          </p:cNvPr>
          <p:cNvSpPr txBox="1"/>
          <p:nvPr/>
        </p:nvSpPr>
        <p:spPr>
          <a:xfrm>
            <a:off x="2153742" y="335910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1C30559-C674-44C8-9322-4027C20A38BB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1968370" y="2816770"/>
            <a:ext cx="1755157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607E435-B76B-47FE-A40A-DFB7D3A4C7B5}"/>
              </a:ext>
            </a:extLst>
          </p:cNvPr>
          <p:cNvCxnSpPr>
            <a:cxnSpLocks/>
          </p:cNvCxnSpPr>
          <p:nvPr/>
        </p:nvCxnSpPr>
        <p:spPr>
          <a:xfrm flipH="1">
            <a:off x="1968370" y="3641370"/>
            <a:ext cx="357254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58E5505-61B0-475E-999D-69099D163C82}"/>
              </a:ext>
            </a:extLst>
          </p:cNvPr>
          <p:cNvCxnSpPr>
            <a:cxnSpLocks/>
          </p:cNvCxnSpPr>
          <p:nvPr/>
        </p:nvCxnSpPr>
        <p:spPr>
          <a:xfrm flipH="1">
            <a:off x="1968370" y="3223385"/>
            <a:ext cx="903609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2CCAA69-3632-4B47-991B-D4DFC92E41ED}"/>
              </a:ext>
            </a:extLst>
          </p:cNvPr>
          <p:cNvSpPr txBox="1"/>
          <p:nvPr/>
        </p:nvSpPr>
        <p:spPr>
          <a:xfrm>
            <a:off x="5037534" y="2269376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F8ACD2-9F20-44E8-A9E9-9FC23FD4350F}"/>
              </a:ext>
            </a:extLst>
          </p:cNvPr>
          <p:cNvSpPr/>
          <p:nvPr/>
        </p:nvSpPr>
        <p:spPr>
          <a:xfrm>
            <a:off x="3723527" y="2755810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BBC9FD-899D-4C70-AD57-E2486F5E1A45}"/>
              </a:ext>
            </a:extLst>
          </p:cNvPr>
          <p:cNvSpPr/>
          <p:nvPr/>
        </p:nvSpPr>
        <p:spPr>
          <a:xfrm>
            <a:off x="2871978" y="3162425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D017A58-B914-4C45-918C-DF810804F404}"/>
              </a:ext>
            </a:extLst>
          </p:cNvPr>
          <p:cNvSpPr/>
          <p:nvPr/>
        </p:nvSpPr>
        <p:spPr>
          <a:xfrm>
            <a:off x="2320921" y="3580410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2E0B404-398D-4DF4-911F-9385521293AC}"/>
              </a:ext>
            </a:extLst>
          </p:cNvPr>
          <p:cNvSpPr/>
          <p:nvPr/>
        </p:nvSpPr>
        <p:spPr>
          <a:xfrm>
            <a:off x="4288918" y="316242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0FBB8B-C221-4C56-888E-1BE0D7C30956}"/>
              </a:ext>
            </a:extLst>
          </p:cNvPr>
          <p:cNvSpPr txBox="1"/>
          <p:nvPr/>
        </p:nvSpPr>
        <p:spPr>
          <a:xfrm>
            <a:off x="1914087" y="2541062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43887A-D18A-4303-88BE-615D37C9CE1F}"/>
              </a:ext>
            </a:extLst>
          </p:cNvPr>
          <p:cNvSpPr txBox="1"/>
          <p:nvPr/>
        </p:nvSpPr>
        <p:spPr>
          <a:xfrm>
            <a:off x="1914357" y="2956243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DCCB54-8BA1-429A-AF44-C2E066C30A8F}"/>
              </a:ext>
            </a:extLst>
          </p:cNvPr>
          <p:cNvSpPr txBox="1"/>
          <p:nvPr/>
        </p:nvSpPr>
        <p:spPr>
          <a:xfrm>
            <a:off x="1914087" y="3359101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73B81A1-206F-40A8-9DAF-85EE82541C69}"/>
              </a:ext>
            </a:extLst>
          </p:cNvPr>
          <p:cNvCxnSpPr>
            <a:cxnSpLocks/>
          </p:cNvCxnSpPr>
          <p:nvPr/>
        </p:nvCxnSpPr>
        <p:spPr>
          <a:xfrm flipV="1">
            <a:off x="4474843" y="2853347"/>
            <a:ext cx="477699" cy="319417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A4FC2B3-C7D5-4758-9ED2-1A6D8C3288A4}"/>
              </a:ext>
            </a:extLst>
          </p:cNvPr>
          <p:cNvCxnSpPr>
            <a:cxnSpLocks/>
          </p:cNvCxnSpPr>
          <p:nvPr/>
        </p:nvCxnSpPr>
        <p:spPr>
          <a:xfrm flipV="1">
            <a:off x="3781758" y="3298400"/>
            <a:ext cx="499020" cy="305883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942DEE5C-B17F-406A-ADC0-F4B6E65CF7F6}"/>
              </a:ext>
            </a:extLst>
          </p:cNvPr>
          <p:cNvSpPr/>
          <p:nvPr/>
        </p:nvSpPr>
        <p:spPr>
          <a:xfrm>
            <a:off x="3609907" y="5210853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4A6CD6B-1373-4579-B0C7-E54A69FBFF6A}"/>
              </a:ext>
            </a:extLst>
          </p:cNvPr>
          <p:cNvCxnSpPr>
            <a:cxnSpLocks/>
          </p:cNvCxnSpPr>
          <p:nvPr/>
        </p:nvCxnSpPr>
        <p:spPr>
          <a:xfrm flipV="1">
            <a:off x="3667057" y="3694720"/>
            <a:ext cx="2158" cy="1512951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275DA4E-C7A6-46E0-87D7-EB8243346109}"/>
              </a:ext>
            </a:extLst>
          </p:cNvPr>
          <p:cNvSpPr/>
          <p:nvPr/>
        </p:nvSpPr>
        <p:spPr>
          <a:xfrm>
            <a:off x="3609907" y="357280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2AE765-AB52-4F22-89E8-22B7E290E29F}"/>
              </a:ext>
            </a:extLst>
          </p:cNvPr>
          <p:cNvSpPr/>
          <p:nvPr/>
        </p:nvSpPr>
        <p:spPr>
          <a:xfrm>
            <a:off x="5309360" y="1973600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246831-45B2-476C-A250-8D7B0F5F4937}"/>
              </a:ext>
            </a:extLst>
          </p:cNvPr>
          <p:cNvSpPr txBox="1"/>
          <p:nvPr/>
        </p:nvSpPr>
        <p:spPr>
          <a:xfrm>
            <a:off x="5070785" y="190167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1EDEE7B-76B6-4F03-80AD-EF6375F86740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1968370" y="2503844"/>
            <a:ext cx="3340990" cy="4669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3BB61E4E-ED7B-40DF-B067-E80FC3AE236D}"/>
              </a:ext>
            </a:extLst>
          </p:cNvPr>
          <p:cNvSpPr/>
          <p:nvPr/>
        </p:nvSpPr>
        <p:spPr>
          <a:xfrm>
            <a:off x="5309360" y="2442884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408779-E5D7-4D4A-BF24-3231C51F31F4}"/>
              </a:ext>
            </a:extLst>
          </p:cNvPr>
          <p:cNvSpPr txBox="1"/>
          <p:nvPr/>
        </p:nvSpPr>
        <p:spPr>
          <a:xfrm>
            <a:off x="1914087" y="2237820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EA0A46-E934-4299-9E49-2797FFEB1C6F}"/>
              </a:ext>
            </a:extLst>
          </p:cNvPr>
          <p:cNvSpPr txBox="1"/>
          <p:nvPr/>
        </p:nvSpPr>
        <p:spPr>
          <a:xfrm>
            <a:off x="4840859" y="2956243"/>
            <a:ext cx="373500" cy="184666"/>
          </a:xfrm>
          <a:prstGeom prst="rect">
            <a:avLst/>
          </a:prstGeom>
          <a:solidFill>
            <a:srgbClr val="ECECEC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A4F020E-7968-4DA2-ACC3-8027E6850492}"/>
              </a:ext>
            </a:extLst>
          </p:cNvPr>
          <p:cNvSpPr txBox="1"/>
          <p:nvPr/>
        </p:nvSpPr>
        <p:spPr>
          <a:xfrm>
            <a:off x="3750571" y="3676280"/>
            <a:ext cx="373500" cy="184666"/>
          </a:xfrm>
          <a:prstGeom prst="rect">
            <a:avLst/>
          </a:prstGeom>
          <a:solidFill>
            <a:srgbClr val="ECECEC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plag1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DEE699-80E3-48B0-AFDD-87E630879612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5370320" y="2112557"/>
            <a:ext cx="0" cy="330327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0E463CC-47AC-498C-AAB2-A3D826E74F8A}"/>
              </a:ext>
            </a:extLst>
          </p:cNvPr>
          <p:cNvSpPr txBox="1"/>
          <p:nvPr/>
        </p:nvSpPr>
        <p:spPr>
          <a:xfrm>
            <a:off x="3745564" y="5060702"/>
            <a:ext cx="288541" cy="184666"/>
          </a:xfrm>
          <a:prstGeom prst="rect">
            <a:avLst/>
          </a:prstGeom>
          <a:solidFill>
            <a:srgbClr val="ECECEC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</a:t>
            </a:r>
          </a:p>
        </p:txBody>
      </p:sp>
    </p:spTree>
    <p:extLst>
      <p:ext uri="{BB962C8B-B14F-4D97-AF65-F5344CB8AC3E}">
        <p14:creationId xmlns:p14="http://schemas.microsoft.com/office/powerpoint/2010/main" val="2090757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no solid solution: An–Di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1" y="1870075"/>
            <a:ext cx="4498856" cy="409459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No solid solution: one solid per phase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: 	Anorthite (An; CaAl</a:t>
                </a:r>
                <a:r>
                  <a:rPr lang="en-GB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GB" dirty="0">
                    <a:solidFill>
                      <a:schemeClr val="tx1"/>
                    </a:solidFill>
                  </a:rPr>
                  <a:t>Si</a:t>
                </a:r>
                <a:r>
                  <a:rPr lang="en-GB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GB" dirty="0">
                    <a:solidFill>
                      <a:schemeClr val="tx1"/>
                    </a:solidFill>
                  </a:rPr>
                  <a:t>O</a:t>
                </a:r>
                <a:r>
                  <a:rPr lang="en-GB" baseline="-25000" dirty="0">
                    <a:solidFill>
                      <a:schemeClr val="tx1"/>
                    </a:solidFill>
                  </a:rPr>
                  <a:t>8</a:t>
                </a:r>
                <a:r>
                  <a:rPr lang="en-GB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	Diopside (Di; CaMgSi</a:t>
                </a:r>
                <a:r>
                  <a:rPr lang="en-GB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GB" dirty="0">
                    <a:solidFill>
                      <a:schemeClr val="tx1"/>
                    </a:solidFill>
                  </a:rPr>
                  <a:t>O</a:t>
                </a:r>
                <a:r>
                  <a:rPr lang="en-GB" baseline="-25000" dirty="0">
                    <a:solidFill>
                      <a:schemeClr val="tx1"/>
                    </a:solidFill>
                  </a:rPr>
                  <a:t>6</a:t>
                </a:r>
                <a:r>
                  <a:rPr lang="en-GB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:	anorthite (An)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	diopside (Di)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	melt (</a:t>
                </a:r>
                <a:r>
                  <a:rPr lang="en-GB" i="1" dirty="0">
                    <a:solidFill>
                      <a:schemeClr val="tx1"/>
                    </a:solidFill>
                  </a:rPr>
                  <a:t>L</a:t>
                </a:r>
                <a:r>
                  <a:rPr lang="en-GB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1"/>
                    </a:solidFill>
                  </a:rPr>
                  <a:t>Above liquidus: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 (</a:t>
                </a:r>
                <a:r>
                  <a:rPr lang="en-GB" dirty="0" err="1"/>
                  <a:t>divarient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2"/>
                    </a:solidFill>
                  </a:rPr>
                  <a:t>On liquidus:</a:t>
                </a:r>
                <a:r>
                  <a:rPr lang="en-GB" dirty="0"/>
                  <a:t>	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</a:t>
                </a:r>
                <a:r>
                  <a:rPr lang="en-GB" dirty="0" err="1"/>
                  <a:t>univarient</a:t>
                </a:r>
                <a:r>
                  <a:rPr lang="en-GB" dirty="0"/>
                  <a:t>)</a:t>
                </a:r>
              </a:p>
              <a:p>
                <a:pPr marL="0" indent="0">
                  <a:spcAft>
                    <a:spcPts val="1000"/>
                  </a:spcAft>
                  <a:buNone/>
                </a:pPr>
                <a:r>
                  <a:rPr lang="en-GB" dirty="0">
                    <a:solidFill>
                      <a:schemeClr val="accent3"/>
                    </a:solidFill>
                  </a:rPr>
                  <a:t>At eutectic:</a:t>
                </a:r>
                <a:r>
                  <a:rPr lang="en-GB" dirty="0"/>
                  <a:t>	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(</a:t>
                </a:r>
                <a:r>
                  <a:rPr lang="en-GB" dirty="0" err="1"/>
                  <a:t>invarient</a:t>
                </a:r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  <a:blipFill>
                <a:blip r:embed="rId4"/>
                <a:stretch>
                  <a:fillRect l="-1719" t="-1821" r="-16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9</a:t>
            </a:fld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A02A4F-539D-4192-A367-5145B3C987DC}"/>
              </a:ext>
            </a:extLst>
          </p:cNvPr>
          <p:cNvCxnSpPr/>
          <p:nvPr/>
        </p:nvCxnSpPr>
        <p:spPr>
          <a:xfrm>
            <a:off x="4339820" y="2433550"/>
            <a:ext cx="0" cy="8763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BA9B48-FF55-422D-BB47-6E3687BAA88C}"/>
              </a:ext>
            </a:extLst>
          </p:cNvPr>
          <p:cNvCxnSpPr>
            <a:cxnSpLocks/>
          </p:cNvCxnSpPr>
          <p:nvPr/>
        </p:nvCxnSpPr>
        <p:spPr>
          <a:xfrm flipH="1">
            <a:off x="3889470" y="2871700"/>
            <a:ext cx="9007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9B90885-F3C3-49B2-AD5D-AB232DA76113}"/>
              </a:ext>
            </a:extLst>
          </p:cNvPr>
          <p:cNvSpPr/>
          <p:nvPr/>
        </p:nvSpPr>
        <p:spPr>
          <a:xfrm>
            <a:off x="4212320" y="2744200"/>
            <a:ext cx="255000" cy="25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74F40C-5AC5-48D4-919C-FD8E99A54054}"/>
              </a:ext>
            </a:extLst>
          </p:cNvPr>
          <p:cNvCxnSpPr>
            <a:cxnSpLocks/>
          </p:cNvCxnSpPr>
          <p:nvPr/>
        </p:nvCxnSpPr>
        <p:spPr>
          <a:xfrm rot="19501639">
            <a:off x="2427429" y="2311953"/>
            <a:ext cx="195072" cy="125577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449A83A-BCD9-406C-9C15-39B4017EC759}"/>
              </a:ext>
            </a:extLst>
          </p:cNvPr>
          <p:cNvSpPr/>
          <p:nvPr/>
        </p:nvSpPr>
        <p:spPr>
          <a:xfrm rot="19813733">
            <a:off x="2397464" y="2821437"/>
            <a:ext cx="255000" cy="255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A50CC49-9F41-4E6E-85F0-C442CD7634DF}"/>
              </a:ext>
            </a:extLst>
          </p:cNvPr>
          <p:cNvSpPr/>
          <p:nvPr/>
        </p:nvSpPr>
        <p:spPr>
          <a:xfrm>
            <a:off x="3808500" y="4570412"/>
            <a:ext cx="255000" cy="255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253E0C-08AA-433E-909B-717AFA5D71D5}"/>
              </a:ext>
            </a:extLst>
          </p:cNvPr>
          <p:cNvSpPr/>
          <p:nvPr/>
        </p:nvSpPr>
        <p:spPr>
          <a:xfrm>
            <a:off x="1950719" y="1950133"/>
            <a:ext cx="710125" cy="33503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9B0590-FC83-4E32-A412-0B7D66F07493}"/>
              </a:ext>
            </a:extLst>
          </p:cNvPr>
          <p:cNvSpPr/>
          <p:nvPr/>
        </p:nvSpPr>
        <p:spPr>
          <a:xfrm rot="19813733">
            <a:off x="1796220" y="2821437"/>
            <a:ext cx="255000" cy="255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CF6AF6-FFCE-43DB-B9D2-4A6BEAF95620}"/>
              </a:ext>
            </a:extLst>
          </p:cNvPr>
          <p:cNvCxnSpPr>
            <a:cxnSpLocks/>
          </p:cNvCxnSpPr>
          <p:nvPr/>
        </p:nvCxnSpPr>
        <p:spPr>
          <a:xfrm>
            <a:off x="1880381" y="2948937"/>
            <a:ext cx="658837" cy="0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4B54F32-D11C-42F8-B2B1-4A8946E3F0FC}"/>
              </a:ext>
            </a:extLst>
          </p:cNvPr>
          <p:cNvSpPr txBox="1"/>
          <p:nvPr/>
        </p:nvSpPr>
        <p:spPr>
          <a:xfrm>
            <a:off x="2575986" y="270372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  <a:endParaRPr lang="en-GB" i="1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A9DC2B-19B7-44A0-B78A-8266799AECDB}"/>
              </a:ext>
            </a:extLst>
          </p:cNvPr>
          <p:cNvSpPr txBox="1"/>
          <p:nvPr/>
        </p:nvSpPr>
        <p:spPr>
          <a:xfrm>
            <a:off x="1496457" y="2948937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An</a:t>
            </a:r>
            <a:endParaRPr lang="en-GB" i="1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D8E4C4-3606-45B3-9113-5F43FAE3699C}"/>
                  </a:ext>
                </a:extLst>
              </p:cNvPr>
              <p:cNvSpPr txBox="1"/>
              <p:nvPr/>
            </p:nvSpPr>
            <p:spPr>
              <a:xfrm>
                <a:off x="8817869" y="3429000"/>
                <a:ext cx="219456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sz="24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4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400" b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𝚽</m:t>
                      </m:r>
                      <m:r>
                        <a:rPr lang="en-GB" sz="2400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2400" dirty="0">
                  <a:solidFill>
                    <a:schemeClr val="accent1"/>
                  </a:solidFill>
                </a:endParaRPr>
              </a:p>
              <a:p>
                <a:pPr marL="0" indent="0" algn="ctr">
                  <a:buNone/>
                </a:pPr>
                <a:r>
                  <a:rPr lang="en-GB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</a:rPr>
                  <a:t> is fixed)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D8E4C4-3606-45B3-9113-5F43FAE36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869" y="3429000"/>
                <a:ext cx="2194560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74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7" grpId="0" animBg="1"/>
      <p:bldP spid="19" grpId="0" animBg="1"/>
      <p:bldP spid="20" grpId="0" animBg="1"/>
      <p:bldP spid="27" grpId="0"/>
      <p:bldP spid="28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no solid solution: An–Di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1" y="1870075"/>
            <a:ext cx="4498856" cy="4094595"/>
          </a:xfr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F14D63D-F5C7-42E1-9059-CCE71758CD9B}"/>
              </a:ext>
            </a:extLst>
          </p:cNvPr>
          <p:cNvCxnSpPr>
            <a:cxnSpLocks/>
          </p:cNvCxnSpPr>
          <p:nvPr/>
        </p:nvCxnSpPr>
        <p:spPr>
          <a:xfrm>
            <a:off x="2017327" y="4694606"/>
            <a:ext cx="32953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2CCD40-D466-46CE-AB11-DAA30B3C9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78428" y="1825625"/>
            <a:ext cx="567537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i="1" dirty="0"/>
              <a:t>Equilibrium crystallisation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/>
                </a:solidFill>
              </a:rPr>
              <a:t>An</a:t>
            </a:r>
            <a:r>
              <a:rPr lang="en-GB" baseline="-25000" dirty="0">
                <a:solidFill>
                  <a:schemeClr val="accent3"/>
                </a:solidFill>
              </a:rPr>
              <a:t>40</a:t>
            </a:r>
            <a:r>
              <a:rPr lang="en-GB" dirty="0">
                <a:solidFill>
                  <a:schemeClr val="accent3"/>
                </a:solidFill>
              </a:rPr>
              <a:t>Di</a:t>
            </a:r>
            <a:r>
              <a:rPr lang="en-GB" baseline="-25000" dirty="0">
                <a:solidFill>
                  <a:schemeClr val="accent3"/>
                </a:solidFill>
              </a:rPr>
              <a:t>60	</a:t>
            </a:r>
            <a:r>
              <a:rPr lang="en-GB" dirty="0">
                <a:solidFill>
                  <a:schemeClr val="accent3"/>
                </a:solidFill>
              </a:rPr>
              <a:t>L → An + Di	(eutectic)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An</a:t>
            </a:r>
            <a:r>
              <a:rPr lang="en-GB" baseline="-25000" dirty="0">
                <a:solidFill>
                  <a:schemeClr val="accent1"/>
                </a:solidFill>
              </a:rPr>
              <a:t>70</a:t>
            </a:r>
            <a:r>
              <a:rPr lang="en-GB" dirty="0">
                <a:solidFill>
                  <a:schemeClr val="accent1"/>
                </a:solidFill>
              </a:rPr>
              <a:t>Di</a:t>
            </a:r>
            <a:r>
              <a:rPr lang="en-GB" baseline="-25000" dirty="0">
                <a:solidFill>
                  <a:schemeClr val="accent1"/>
                </a:solidFill>
              </a:rPr>
              <a:t>30	</a:t>
            </a:r>
            <a:r>
              <a:rPr lang="en-GB" dirty="0">
                <a:solidFill>
                  <a:schemeClr val="accent1"/>
                </a:solidFill>
              </a:rPr>
              <a:t>L → An  	(liquidus)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	L → An + Di	(eutectic)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An</a:t>
            </a:r>
            <a:r>
              <a:rPr lang="en-GB" baseline="-25000" dirty="0">
                <a:solidFill>
                  <a:schemeClr val="accent2"/>
                </a:solidFill>
              </a:rPr>
              <a:t>20</a:t>
            </a:r>
            <a:r>
              <a:rPr lang="en-GB" dirty="0">
                <a:solidFill>
                  <a:schemeClr val="accent2"/>
                </a:solidFill>
              </a:rPr>
              <a:t>Di</a:t>
            </a:r>
            <a:r>
              <a:rPr lang="en-GB" baseline="-25000" dirty="0">
                <a:solidFill>
                  <a:schemeClr val="accent2"/>
                </a:solidFill>
              </a:rPr>
              <a:t>80	</a:t>
            </a:r>
            <a:r>
              <a:rPr lang="en-GB" dirty="0">
                <a:solidFill>
                  <a:schemeClr val="accent2"/>
                </a:solidFill>
              </a:rPr>
              <a:t>L → Di	(liquidus)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		L → An + Di	(eutectic)</a:t>
            </a:r>
          </a:p>
          <a:p>
            <a:r>
              <a:rPr lang="en-GB" dirty="0"/>
              <a:t>Lever rule for quantitative descriptions</a:t>
            </a:r>
          </a:p>
          <a:p>
            <a:pPr marL="0" indent="0">
              <a:buNone/>
            </a:pPr>
            <a:r>
              <a:rPr lang="en-GB" i="1" dirty="0"/>
              <a:t>Equilibrium melting </a:t>
            </a:r>
          </a:p>
          <a:p>
            <a:r>
              <a:rPr lang="en-GB" dirty="0"/>
              <a:t>Opposite of equilibrium crystallisation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10</a:t>
            </a:fld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F701D0-8E6D-4E88-8A29-30FDB263732B}"/>
              </a:ext>
            </a:extLst>
          </p:cNvPr>
          <p:cNvSpPr/>
          <p:nvPr/>
        </p:nvSpPr>
        <p:spPr>
          <a:xfrm>
            <a:off x="1895407" y="330708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6BBBE6-F925-4362-9E89-C8CED57CC9B1}"/>
              </a:ext>
            </a:extLst>
          </p:cNvPr>
          <p:cNvSpPr/>
          <p:nvPr/>
        </p:nvSpPr>
        <p:spPr>
          <a:xfrm>
            <a:off x="2884801" y="3307080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6AE749-F771-4A34-A81A-FCE3FB7F3366}"/>
              </a:ext>
            </a:extLst>
          </p:cNvPr>
          <p:cNvSpPr/>
          <p:nvPr/>
        </p:nvSpPr>
        <p:spPr>
          <a:xfrm>
            <a:off x="3459480" y="4001294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C389FC-B736-4913-88E1-FBBA9433651F}"/>
              </a:ext>
            </a:extLst>
          </p:cNvPr>
          <p:cNvSpPr/>
          <p:nvPr/>
        </p:nvSpPr>
        <p:spPr>
          <a:xfrm>
            <a:off x="1895407" y="4001294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B151E1-14EF-4F38-99FA-CA338D5F325A}"/>
              </a:ext>
            </a:extLst>
          </p:cNvPr>
          <p:cNvSpPr/>
          <p:nvPr/>
        </p:nvSpPr>
        <p:spPr>
          <a:xfrm>
            <a:off x="5312666" y="4001294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DC46C7-2C4F-48EB-B567-42B41DC3B6C1}"/>
              </a:ext>
            </a:extLst>
          </p:cNvPr>
          <p:cNvSpPr/>
          <p:nvPr/>
        </p:nvSpPr>
        <p:spPr>
          <a:xfrm>
            <a:off x="2884801" y="2550456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521B932-85C6-41D1-B05B-5FFA42C9067C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3935577" y="2672376"/>
            <a:ext cx="0" cy="1937285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50CB642-FE2F-4030-AE14-7A2B332F2F26}"/>
              </a:ext>
            </a:extLst>
          </p:cNvPr>
          <p:cNvSpPr/>
          <p:nvPr/>
        </p:nvSpPr>
        <p:spPr>
          <a:xfrm>
            <a:off x="3874617" y="2550456"/>
            <a:ext cx="121920" cy="12192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DFAB841-77F6-44A1-B134-0ACA5044C0E5}"/>
              </a:ext>
            </a:extLst>
          </p:cNvPr>
          <p:cNvSpPr/>
          <p:nvPr/>
        </p:nvSpPr>
        <p:spPr>
          <a:xfrm>
            <a:off x="3874617" y="4633646"/>
            <a:ext cx="121920" cy="12192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CAA95B7-F95E-4C9D-8329-849252AB8FD5}"/>
              </a:ext>
            </a:extLst>
          </p:cNvPr>
          <p:cNvSpPr/>
          <p:nvPr/>
        </p:nvSpPr>
        <p:spPr>
          <a:xfrm>
            <a:off x="1895407" y="4633646"/>
            <a:ext cx="121920" cy="121920"/>
          </a:xfrm>
          <a:prstGeom prst="ellips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6DCB0FC-69A5-4112-8DAB-4D21258B9822}"/>
              </a:ext>
            </a:extLst>
          </p:cNvPr>
          <p:cNvSpPr/>
          <p:nvPr/>
        </p:nvSpPr>
        <p:spPr>
          <a:xfrm>
            <a:off x="5312666" y="4633646"/>
            <a:ext cx="121920" cy="121920"/>
          </a:xfrm>
          <a:prstGeom prst="ellips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654D3BD-C346-4E36-B688-4237CE7C9E52}"/>
              </a:ext>
            </a:extLst>
          </p:cNvPr>
          <p:cNvCxnSpPr>
            <a:cxnSpLocks/>
          </p:cNvCxnSpPr>
          <p:nvPr/>
        </p:nvCxnSpPr>
        <p:spPr>
          <a:xfrm>
            <a:off x="3935577" y="4756468"/>
            <a:ext cx="0" cy="574992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7F1219B-281C-4B02-80B4-7DBF6B7A00C3}"/>
              </a:ext>
            </a:extLst>
          </p:cNvPr>
          <p:cNvCxnSpPr>
            <a:cxnSpLocks/>
          </p:cNvCxnSpPr>
          <p:nvPr/>
        </p:nvCxnSpPr>
        <p:spPr>
          <a:xfrm>
            <a:off x="2017327" y="5351845"/>
            <a:ext cx="32953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5226CE60-EEE1-439D-93E3-4C9A45C2720B}"/>
              </a:ext>
            </a:extLst>
          </p:cNvPr>
          <p:cNvSpPr/>
          <p:nvPr/>
        </p:nvSpPr>
        <p:spPr>
          <a:xfrm>
            <a:off x="1895407" y="5290885"/>
            <a:ext cx="121920" cy="121920"/>
          </a:xfrm>
          <a:prstGeom prst="ellips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5A52AEF-332E-4E39-BB7E-C04CEC92AB37}"/>
              </a:ext>
            </a:extLst>
          </p:cNvPr>
          <p:cNvSpPr/>
          <p:nvPr/>
        </p:nvSpPr>
        <p:spPr>
          <a:xfrm>
            <a:off x="5312666" y="5290885"/>
            <a:ext cx="121920" cy="121920"/>
          </a:xfrm>
          <a:prstGeom prst="ellips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37CEA1B-3896-44B4-9F42-AB678C27D4EF}"/>
              </a:ext>
            </a:extLst>
          </p:cNvPr>
          <p:cNvCxnSpPr>
            <a:cxnSpLocks/>
          </p:cNvCxnSpPr>
          <p:nvPr/>
        </p:nvCxnSpPr>
        <p:spPr>
          <a:xfrm>
            <a:off x="2949418" y="2672376"/>
            <a:ext cx="0" cy="634704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AF49A5F-D586-47B3-BAB3-1E0BD2CF3997}"/>
              </a:ext>
            </a:extLst>
          </p:cNvPr>
          <p:cNvSpPr/>
          <p:nvPr/>
        </p:nvSpPr>
        <p:spPr>
          <a:xfrm>
            <a:off x="1895407" y="463364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256789F-AD95-4665-B06E-AD0F5C1E9CF8}"/>
              </a:ext>
            </a:extLst>
          </p:cNvPr>
          <p:cNvSpPr/>
          <p:nvPr/>
        </p:nvSpPr>
        <p:spPr>
          <a:xfrm>
            <a:off x="5312666" y="463364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AB55C4C-03E8-4569-B0E9-BDADAA7AD550}"/>
              </a:ext>
            </a:extLst>
          </p:cNvPr>
          <p:cNvCxnSpPr>
            <a:cxnSpLocks/>
          </p:cNvCxnSpPr>
          <p:nvPr/>
        </p:nvCxnSpPr>
        <p:spPr>
          <a:xfrm>
            <a:off x="2945761" y="3429000"/>
            <a:ext cx="0" cy="634704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753B0C2-60C4-4324-B3E6-BFEB5DB1259A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2017327" y="4062254"/>
            <a:ext cx="1442153" cy="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2806357-62B4-491A-A436-1E78A6C7B2AA}"/>
              </a:ext>
            </a:extLst>
          </p:cNvPr>
          <p:cNvCxnSpPr>
            <a:cxnSpLocks/>
          </p:cNvCxnSpPr>
          <p:nvPr/>
        </p:nvCxnSpPr>
        <p:spPr>
          <a:xfrm>
            <a:off x="2017327" y="4694606"/>
            <a:ext cx="3295339" cy="902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82432395-AE96-49CC-9449-532B02FC155A}"/>
              </a:ext>
            </a:extLst>
          </p:cNvPr>
          <p:cNvSpPr/>
          <p:nvPr/>
        </p:nvSpPr>
        <p:spPr>
          <a:xfrm>
            <a:off x="3874617" y="4633646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C20187B-90E8-4F84-AACD-F0F2B6FD8D4A}"/>
              </a:ext>
            </a:extLst>
          </p:cNvPr>
          <p:cNvCxnSpPr>
            <a:cxnSpLocks/>
          </p:cNvCxnSpPr>
          <p:nvPr/>
        </p:nvCxnSpPr>
        <p:spPr>
          <a:xfrm>
            <a:off x="2945761" y="4062254"/>
            <a:ext cx="0" cy="634704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15126AC-081A-48AC-8C89-F2DC4C18D748}"/>
              </a:ext>
            </a:extLst>
          </p:cNvPr>
          <p:cNvCxnSpPr>
            <a:cxnSpLocks/>
          </p:cNvCxnSpPr>
          <p:nvPr/>
        </p:nvCxnSpPr>
        <p:spPr>
          <a:xfrm>
            <a:off x="2945761" y="4718346"/>
            <a:ext cx="0" cy="613114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0CEED9C4-8B7A-40BF-8ED1-7F55F99B1D22}"/>
              </a:ext>
            </a:extLst>
          </p:cNvPr>
          <p:cNvSpPr/>
          <p:nvPr/>
        </p:nvSpPr>
        <p:spPr>
          <a:xfrm>
            <a:off x="1895407" y="529088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6FAAE86-C13E-4602-8DA5-A35B2D216A4B}"/>
              </a:ext>
            </a:extLst>
          </p:cNvPr>
          <p:cNvSpPr/>
          <p:nvPr/>
        </p:nvSpPr>
        <p:spPr>
          <a:xfrm>
            <a:off x="5312666" y="529088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3B54A06-BE58-4445-8A10-84D1560DDCAF}"/>
              </a:ext>
            </a:extLst>
          </p:cNvPr>
          <p:cNvCxnSpPr>
            <a:cxnSpLocks/>
          </p:cNvCxnSpPr>
          <p:nvPr/>
        </p:nvCxnSpPr>
        <p:spPr>
          <a:xfrm>
            <a:off x="2017327" y="5351845"/>
            <a:ext cx="3295339" cy="2807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EA7514B-7320-4A30-A76B-EA6744101A00}"/>
              </a:ext>
            </a:extLst>
          </p:cNvPr>
          <p:cNvCxnSpPr>
            <a:cxnSpLocks/>
          </p:cNvCxnSpPr>
          <p:nvPr/>
        </p:nvCxnSpPr>
        <p:spPr>
          <a:xfrm>
            <a:off x="2017327" y="3368834"/>
            <a:ext cx="867474" cy="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8BAEC85-8DB3-41BA-8BB0-9A5C4062D255}"/>
              </a:ext>
            </a:extLst>
          </p:cNvPr>
          <p:cNvCxnSpPr>
            <a:cxnSpLocks/>
          </p:cNvCxnSpPr>
          <p:nvPr/>
        </p:nvCxnSpPr>
        <p:spPr>
          <a:xfrm>
            <a:off x="4715773" y="2672376"/>
            <a:ext cx="0" cy="1328918"/>
          </a:xfrm>
          <a:prstGeom prst="straightConnector1">
            <a:avLst/>
          </a:prstGeom>
          <a:ln w="38100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76A9DFE-E186-41F0-8CD2-233525908859}"/>
              </a:ext>
            </a:extLst>
          </p:cNvPr>
          <p:cNvCxnSpPr>
            <a:cxnSpLocks/>
          </p:cNvCxnSpPr>
          <p:nvPr/>
        </p:nvCxnSpPr>
        <p:spPr>
          <a:xfrm>
            <a:off x="4715773" y="4123214"/>
            <a:ext cx="0" cy="571392"/>
          </a:xfrm>
          <a:prstGeom prst="straightConnector1">
            <a:avLst/>
          </a:prstGeom>
          <a:ln w="38100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8C718CE-8EED-43F5-A1A9-4C4FF002B66D}"/>
              </a:ext>
            </a:extLst>
          </p:cNvPr>
          <p:cNvCxnSpPr>
            <a:cxnSpLocks/>
          </p:cNvCxnSpPr>
          <p:nvPr/>
        </p:nvCxnSpPr>
        <p:spPr>
          <a:xfrm>
            <a:off x="4715773" y="4719493"/>
            <a:ext cx="0" cy="611967"/>
          </a:xfrm>
          <a:prstGeom prst="straightConnector1">
            <a:avLst/>
          </a:prstGeom>
          <a:ln w="38100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77DFB92-3DA0-4579-9DE0-678270B76045}"/>
              </a:ext>
            </a:extLst>
          </p:cNvPr>
          <p:cNvSpPr/>
          <p:nvPr/>
        </p:nvSpPr>
        <p:spPr>
          <a:xfrm>
            <a:off x="4654813" y="4001294"/>
            <a:ext cx="121920" cy="121920"/>
          </a:xfrm>
          <a:prstGeom prst="ellips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DBA1528-F63D-4F62-A6A1-A49A602F1619}"/>
              </a:ext>
            </a:extLst>
          </p:cNvPr>
          <p:cNvSpPr/>
          <p:nvPr/>
        </p:nvSpPr>
        <p:spPr>
          <a:xfrm>
            <a:off x="4654813" y="2550456"/>
            <a:ext cx="121920" cy="121920"/>
          </a:xfrm>
          <a:prstGeom prst="ellips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53C0E01-CCC4-42FA-9A37-0F1BFC1D828F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4776733" y="4062254"/>
            <a:ext cx="535933" cy="0"/>
          </a:xfrm>
          <a:prstGeom prst="line">
            <a:avLst/>
          </a:prstGeom>
          <a:ln>
            <a:solidFill>
              <a:schemeClr val="accent2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D3C2B7B-6D8C-4783-9979-AF276A4818EF}"/>
              </a:ext>
            </a:extLst>
          </p:cNvPr>
          <p:cNvCxnSpPr>
            <a:cxnSpLocks/>
            <a:endCxn id="73" idx="2"/>
          </p:cNvCxnSpPr>
          <p:nvPr/>
        </p:nvCxnSpPr>
        <p:spPr>
          <a:xfrm>
            <a:off x="2016906" y="4694606"/>
            <a:ext cx="3295759" cy="0"/>
          </a:xfrm>
          <a:prstGeom prst="line">
            <a:avLst/>
          </a:prstGeom>
          <a:ln>
            <a:solidFill>
              <a:schemeClr val="accent2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5F104221-1F87-45C9-A147-9A7899CA50D9}"/>
              </a:ext>
            </a:extLst>
          </p:cNvPr>
          <p:cNvSpPr/>
          <p:nvPr/>
        </p:nvSpPr>
        <p:spPr>
          <a:xfrm>
            <a:off x="3874617" y="4633646"/>
            <a:ext cx="121920" cy="121920"/>
          </a:xfrm>
          <a:prstGeom prst="ellips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431C231-9C3C-4C8C-833D-FD5C38EED278}"/>
              </a:ext>
            </a:extLst>
          </p:cNvPr>
          <p:cNvCxnSpPr>
            <a:cxnSpLocks/>
          </p:cNvCxnSpPr>
          <p:nvPr/>
        </p:nvCxnSpPr>
        <p:spPr>
          <a:xfrm>
            <a:off x="2016906" y="5351845"/>
            <a:ext cx="3295759" cy="0"/>
          </a:xfrm>
          <a:prstGeom prst="line">
            <a:avLst/>
          </a:prstGeom>
          <a:ln>
            <a:solidFill>
              <a:schemeClr val="accent2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D3583F6B-8065-4E7A-A440-2D298DA0936D}"/>
              </a:ext>
            </a:extLst>
          </p:cNvPr>
          <p:cNvSpPr/>
          <p:nvPr/>
        </p:nvSpPr>
        <p:spPr>
          <a:xfrm>
            <a:off x="5312665" y="4633646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100443C-A840-443C-8EC5-2E691F5B18D5}"/>
              </a:ext>
            </a:extLst>
          </p:cNvPr>
          <p:cNvSpPr/>
          <p:nvPr/>
        </p:nvSpPr>
        <p:spPr>
          <a:xfrm>
            <a:off x="5312665" y="5290885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A64E53A-9BA4-4F56-8C4A-FBB74D5AF901}"/>
              </a:ext>
            </a:extLst>
          </p:cNvPr>
          <p:cNvSpPr/>
          <p:nvPr/>
        </p:nvSpPr>
        <p:spPr>
          <a:xfrm>
            <a:off x="1895406" y="4633646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275D32E-1773-4C0A-9B45-5C96583A0F8E}"/>
              </a:ext>
            </a:extLst>
          </p:cNvPr>
          <p:cNvSpPr/>
          <p:nvPr/>
        </p:nvSpPr>
        <p:spPr>
          <a:xfrm>
            <a:off x="1894986" y="5290885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E7E679C-DF93-4702-A24A-767C7326E254}"/>
              </a:ext>
            </a:extLst>
          </p:cNvPr>
          <p:cNvCxnSpPr>
            <a:cxnSpLocks/>
          </p:cNvCxnSpPr>
          <p:nvPr/>
        </p:nvCxnSpPr>
        <p:spPr>
          <a:xfrm>
            <a:off x="3017828" y="3459028"/>
            <a:ext cx="441652" cy="542266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41A0F09-2F63-4656-8E51-B6BB11816B6E}"/>
              </a:ext>
            </a:extLst>
          </p:cNvPr>
          <p:cNvCxnSpPr>
            <a:cxnSpLocks/>
          </p:cNvCxnSpPr>
          <p:nvPr/>
        </p:nvCxnSpPr>
        <p:spPr>
          <a:xfrm>
            <a:off x="3593280" y="4173482"/>
            <a:ext cx="280916" cy="436179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738C4EE-35CB-4AD0-A98A-79896ABEEC1A}"/>
              </a:ext>
            </a:extLst>
          </p:cNvPr>
          <p:cNvCxnSpPr>
            <a:cxnSpLocks/>
          </p:cNvCxnSpPr>
          <p:nvPr/>
        </p:nvCxnSpPr>
        <p:spPr>
          <a:xfrm flipH="1">
            <a:off x="4023052" y="4099229"/>
            <a:ext cx="582745" cy="510432"/>
          </a:xfrm>
          <a:prstGeom prst="straightConnector1">
            <a:avLst/>
          </a:prstGeom>
          <a:ln w="38100">
            <a:solidFill>
              <a:schemeClr val="accent5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487F2E4-F26F-49A7-8DF4-29BADD4ABACC}"/>
              </a:ext>
            </a:extLst>
          </p:cNvPr>
          <p:cNvSpPr txBox="1"/>
          <p:nvPr/>
        </p:nvSpPr>
        <p:spPr>
          <a:xfrm>
            <a:off x="2741628" y="2016370"/>
            <a:ext cx="2571037" cy="30777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We’ll do this in the practical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AB756-6EC8-4060-87BB-EB7613205D7F}"/>
              </a:ext>
            </a:extLst>
          </p:cNvPr>
          <p:cNvSpPr txBox="1"/>
          <p:nvPr/>
        </p:nvSpPr>
        <p:spPr>
          <a:xfrm>
            <a:off x="3176531" y="3466877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Liquid</a:t>
            </a:r>
            <a:endParaRPr lang="en-GB" i="1" dirty="0">
              <a:solidFill>
                <a:schemeClr val="accent4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C4BB14-C57E-403B-9DFD-E6C99F7141F6}"/>
              </a:ext>
            </a:extLst>
          </p:cNvPr>
          <p:cNvSpPr txBox="1"/>
          <p:nvPr/>
        </p:nvSpPr>
        <p:spPr>
          <a:xfrm>
            <a:off x="2278917" y="3560260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System</a:t>
            </a:r>
            <a:endParaRPr lang="en-GB" i="1" dirty="0">
              <a:solidFill>
                <a:schemeClr val="accent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DABF46-62B8-4122-9D3F-494FE6FE18B6}"/>
              </a:ext>
            </a:extLst>
          </p:cNvPr>
          <p:cNvSpPr txBox="1"/>
          <p:nvPr/>
        </p:nvSpPr>
        <p:spPr>
          <a:xfrm>
            <a:off x="3975729" y="3922647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5"/>
                </a:solidFill>
              </a:rPr>
              <a:t>Liquid</a:t>
            </a:r>
            <a:endParaRPr lang="en-GB" i="1" dirty="0">
              <a:solidFill>
                <a:schemeClr val="accent5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B340B1-362D-43F1-A8D3-776527DE6E87}"/>
              </a:ext>
            </a:extLst>
          </p:cNvPr>
          <p:cNvSpPr txBox="1"/>
          <p:nvPr/>
        </p:nvSpPr>
        <p:spPr>
          <a:xfrm>
            <a:off x="4693271" y="4162344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System</a:t>
            </a:r>
            <a:endParaRPr lang="en-GB" i="1" dirty="0">
              <a:solidFill>
                <a:schemeClr val="accent2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37F70B-C012-415F-848B-38FBCCA3E88C}"/>
              </a:ext>
            </a:extLst>
          </p:cNvPr>
          <p:cNvSpPr txBox="1"/>
          <p:nvPr/>
        </p:nvSpPr>
        <p:spPr>
          <a:xfrm>
            <a:off x="1449094" y="3746519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Solid</a:t>
            </a:r>
            <a:endParaRPr lang="en-GB" i="1" dirty="0">
              <a:solidFill>
                <a:schemeClr val="accent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9559664-6F4F-4ED6-870F-7F3C4372F4C8}"/>
              </a:ext>
            </a:extLst>
          </p:cNvPr>
          <p:cNvSpPr txBox="1"/>
          <p:nvPr/>
        </p:nvSpPr>
        <p:spPr>
          <a:xfrm>
            <a:off x="5312665" y="4109167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Solid</a:t>
            </a:r>
            <a:endParaRPr lang="en-GB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17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6" grpId="0" animBg="1"/>
      <p:bldP spid="23" grpId="0" animBg="1"/>
      <p:bldP spid="18" grpId="0" animBg="1"/>
      <p:bldP spid="26" grpId="0" animBg="1"/>
      <p:bldP spid="41" grpId="0" animBg="1"/>
      <p:bldP spid="42" grpId="0" animBg="1"/>
      <p:bldP spid="50" grpId="0" animBg="1"/>
      <p:bldP spid="51" grpId="0" animBg="1"/>
      <p:bldP spid="24" grpId="0" animBg="1"/>
      <p:bldP spid="56" grpId="0" animBg="1"/>
      <p:bldP spid="54" grpId="0" animBg="1"/>
      <p:bldP spid="65" grpId="0" animBg="1"/>
      <p:bldP spid="66" grpId="0" animBg="1"/>
      <p:bldP spid="15" grpId="0" animBg="1"/>
      <p:bldP spid="20" grpId="0" animBg="1"/>
      <p:bldP spid="71" grpId="0" animBg="1"/>
      <p:bldP spid="73" grpId="0" animBg="1"/>
      <p:bldP spid="75" grpId="0" animBg="1"/>
      <p:bldP spid="79" grpId="0" animBg="1"/>
      <p:bldP spid="81" grpId="0" animBg="1"/>
      <p:bldP spid="53" grpId="0" animBg="1"/>
      <p:bldP spid="3" grpId="0"/>
      <p:bldP spid="55" grpId="0"/>
      <p:bldP spid="59" grpId="0"/>
      <p:bldP spid="60" grpId="0"/>
      <p:bldP spid="62" grpId="0"/>
      <p:bldP spid="6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1" y="1870075"/>
            <a:ext cx="4498856" cy="4094595"/>
          </a:xfr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654D3BD-C346-4E36-B688-4237CE7C9E52}"/>
              </a:ext>
            </a:extLst>
          </p:cNvPr>
          <p:cNvCxnSpPr>
            <a:cxnSpLocks/>
          </p:cNvCxnSpPr>
          <p:nvPr/>
        </p:nvCxnSpPr>
        <p:spPr>
          <a:xfrm>
            <a:off x="3935577" y="4751966"/>
            <a:ext cx="0" cy="574992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715BFE8-DB47-428A-9D25-240DC5AF0DBF}"/>
              </a:ext>
            </a:extLst>
          </p:cNvPr>
          <p:cNvCxnSpPr>
            <a:cxnSpLocks/>
            <a:stCxn id="71" idx="4"/>
          </p:cNvCxnSpPr>
          <p:nvPr/>
        </p:nvCxnSpPr>
        <p:spPr>
          <a:xfrm>
            <a:off x="3935577" y="4755566"/>
            <a:ext cx="0" cy="571392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no solid solution: An–Di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F14D63D-F5C7-42E1-9059-CCE71758CD9B}"/>
              </a:ext>
            </a:extLst>
          </p:cNvPr>
          <p:cNvCxnSpPr>
            <a:cxnSpLocks/>
          </p:cNvCxnSpPr>
          <p:nvPr/>
        </p:nvCxnSpPr>
        <p:spPr>
          <a:xfrm>
            <a:off x="2017327" y="4694606"/>
            <a:ext cx="32953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2CCD40-D466-46CE-AB11-DAA30B3C9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78428" y="1825624"/>
            <a:ext cx="5675372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i="1" dirty="0"/>
              <a:t>Fractional crystallisation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/>
                </a:solidFill>
              </a:rPr>
              <a:t>An</a:t>
            </a:r>
            <a:r>
              <a:rPr lang="en-GB" baseline="-25000" dirty="0">
                <a:solidFill>
                  <a:schemeClr val="accent3"/>
                </a:solidFill>
              </a:rPr>
              <a:t>40</a:t>
            </a:r>
            <a:r>
              <a:rPr lang="en-GB" dirty="0">
                <a:solidFill>
                  <a:schemeClr val="accent3"/>
                </a:solidFill>
              </a:rPr>
              <a:t>Di</a:t>
            </a:r>
            <a:r>
              <a:rPr lang="en-GB" baseline="-25000" dirty="0">
                <a:solidFill>
                  <a:schemeClr val="accent3"/>
                </a:solidFill>
              </a:rPr>
              <a:t>60	</a:t>
            </a:r>
            <a:r>
              <a:rPr lang="en-GB" dirty="0">
                <a:solidFill>
                  <a:schemeClr val="accent3"/>
                </a:solidFill>
              </a:rPr>
              <a:t>L → An + Di	(eutectic)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An</a:t>
            </a:r>
            <a:r>
              <a:rPr lang="en-GB" baseline="-25000" dirty="0">
                <a:solidFill>
                  <a:schemeClr val="accent1"/>
                </a:solidFill>
              </a:rPr>
              <a:t>70</a:t>
            </a:r>
            <a:r>
              <a:rPr lang="en-GB" dirty="0">
                <a:solidFill>
                  <a:schemeClr val="accent1"/>
                </a:solidFill>
              </a:rPr>
              <a:t>Di</a:t>
            </a:r>
            <a:r>
              <a:rPr lang="en-GB" baseline="-25000" dirty="0">
                <a:solidFill>
                  <a:schemeClr val="accent1"/>
                </a:solidFill>
              </a:rPr>
              <a:t>30	</a:t>
            </a:r>
            <a:r>
              <a:rPr lang="en-GB" dirty="0">
                <a:solidFill>
                  <a:schemeClr val="accent1"/>
                </a:solidFill>
              </a:rPr>
              <a:t>L → An  	(liquidus)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	L → An + Di	(eutectic)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An</a:t>
            </a:r>
            <a:r>
              <a:rPr lang="en-GB" baseline="-25000" dirty="0">
                <a:solidFill>
                  <a:schemeClr val="accent2"/>
                </a:solidFill>
              </a:rPr>
              <a:t>20</a:t>
            </a:r>
            <a:r>
              <a:rPr lang="en-GB" dirty="0">
                <a:solidFill>
                  <a:schemeClr val="accent2"/>
                </a:solidFill>
              </a:rPr>
              <a:t>Di</a:t>
            </a:r>
            <a:r>
              <a:rPr lang="en-GB" baseline="-25000" dirty="0">
                <a:solidFill>
                  <a:schemeClr val="accent2"/>
                </a:solidFill>
              </a:rPr>
              <a:t>80	</a:t>
            </a:r>
            <a:r>
              <a:rPr lang="en-GB" dirty="0">
                <a:solidFill>
                  <a:schemeClr val="accent2"/>
                </a:solidFill>
              </a:rPr>
              <a:t>L → Di	(liquidus)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		L → An + Di	(eutectic)</a:t>
            </a:r>
          </a:p>
          <a:p>
            <a:r>
              <a:rPr lang="en-GB" dirty="0"/>
              <a:t>Lever rule for quantitative descriptions</a:t>
            </a:r>
          </a:p>
          <a:p>
            <a:r>
              <a:rPr lang="en-GB" dirty="0"/>
              <a:t>The composition of the system is the composition of liquid</a:t>
            </a:r>
          </a:p>
          <a:p>
            <a:r>
              <a:rPr lang="en-GB" dirty="0"/>
              <a:t>Last liquid is always at the eutectic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11</a:t>
            </a:fld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F701D0-8E6D-4E88-8A29-30FDB263732B}"/>
              </a:ext>
            </a:extLst>
          </p:cNvPr>
          <p:cNvSpPr/>
          <p:nvPr/>
        </p:nvSpPr>
        <p:spPr>
          <a:xfrm>
            <a:off x="1895407" y="330708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6BBBE6-F925-4362-9E89-C8CED57CC9B1}"/>
              </a:ext>
            </a:extLst>
          </p:cNvPr>
          <p:cNvSpPr/>
          <p:nvPr/>
        </p:nvSpPr>
        <p:spPr>
          <a:xfrm>
            <a:off x="2884801" y="3307080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6AE749-F771-4A34-A81A-FCE3FB7F3366}"/>
              </a:ext>
            </a:extLst>
          </p:cNvPr>
          <p:cNvSpPr/>
          <p:nvPr/>
        </p:nvSpPr>
        <p:spPr>
          <a:xfrm>
            <a:off x="3459480" y="4001294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C389FC-B736-4913-88E1-FBBA9433651F}"/>
              </a:ext>
            </a:extLst>
          </p:cNvPr>
          <p:cNvSpPr/>
          <p:nvPr/>
        </p:nvSpPr>
        <p:spPr>
          <a:xfrm>
            <a:off x="1895407" y="4001294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B151E1-14EF-4F38-99FA-CA338D5F325A}"/>
              </a:ext>
            </a:extLst>
          </p:cNvPr>
          <p:cNvSpPr/>
          <p:nvPr/>
        </p:nvSpPr>
        <p:spPr>
          <a:xfrm>
            <a:off x="5312666" y="4001294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DC46C7-2C4F-48EB-B567-42B41DC3B6C1}"/>
              </a:ext>
            </a:extLst>
          </p:cNvPr>
          <p:cNvSpPr/>
          <p:nvPr/>
        </p:nvSpPr>
        <p:spPr>
          <a:xfrm>
            <a:off x="2884801" y="2550456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521B932-85C6-41D1-B05B-5FFA42C9067C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3935577" y="2672376"/>
            <a:ext cx="0" cy="1937285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50CB642-FE2F-4030-AE14-7A2B332F2F26}"/>
              </a:ext>
            </a:extLst>
          </p:cNvPr>
          <p:cNvSpPr/>
          <p:nvPr/>
        </p:nvSpPr>
        <p:spPr>
          <a:xfrm>
            <a:off x="3874617" y="2550456"/>
            <a:ext cx="121920" cy="12192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DFAB841-77F6-44A1-B134-0ACA5044C0E5}"/>
              </a:ext>
            </a:extLst>
          </p:cNvPr>
          <p:cNvSpPr/>
          <p:nvPr/>
        </p:nvSpPr>
        <p:spPr>
          <a:xfrm>
            <a:off x="3874617" y="4633646"/>
            <a:ext cx="121920" cy="12192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CAA95B7-F95E-4C9D-8329-849252AB8FD5}"/>
              </a:ext>
            </a:extLst>
          </p:cNvPr>
          <p:cNvSpPr/>
          <p:nvPr/>
        </p:nvSpPr>
        <p:spPr>
          <a:xfrm>
            <a:off x="1895407" y="4633646"/>
            <a:ext cx="121920" cy="121920"/>
          </a:xfrm>
          <a:prstGeom prst="ellips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6DCB0FC-69A5-4112-8DAB-4D21258B9822}"/>
              </a:ext>
            </a:extLst>
          </p:cNvPr>
          <p:cNvSpPr/>
          <p:nvPr/>
        </p:nvSpPr>
        <p:spPr>
          <a:xfrm>
            <a:off x="5312666" y="4633646"/>
            <a:ext cx="121920" cy="121920"/>
          </a:xfrm>
          <a:prstGeom prst="ellips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7F1219B-281C-4B02-80B4-7DBF6B7A00C3}"/>
              </a:ext>
            </a:extLst>
          </p:cNvPr>
          <p:cNvCxnSpPr>
            <a:cxnSpLocks/>
          </p:cNvCxnSpPr>
          <p:nvPr/>
        </p:nvCxnSpPr>
        <p:spPr>
          <a:xfrm>
            <a:off x="2017327" y="5351845"/>
            <a:ext cx="32953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5226CE60-EEE1-439D-93E3-4C9A45C2720B}"/>
              </a:ext>
            </a:extLst>
          </p:cNvPr>
          <p:cNvSpPr/>
          <p:nvPr/>
        </p:nvSpPr>
        <p:spPr>
          <a:xfrm>
            <a:off x="1895407" y="5290885"/>
            <a:ext cx="121920" cy="121920"/>
          </a:xfrm>
          <a:prstGeom prst="ellips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5A52AEF-332E-4E39-BB7E-C04CEC92AB37}"/>
              </a:ext>
            </a:extLst>
          </p:cNvPr>
          <p:cNvSpPr/>
          <p:nvPr/>
        </p:nvSpPr>
        <p:spPr>
          <a:xfrm>
            <a:off x="5312666" y="5290885"/>
            <a:ext cx="121920" cy="121920"/>
          </a:xfrm>
          <a:prstGeom prst="ellips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37CEA1B-3896-44B4-9F42-AB678C27D4EF}"/>
              </a:ext>
            </a:extLst>
          </p:cNvPr>
          <p:cNvCxnSpPr>
            <a:cxnSpLocks/>
          </p:cNvCxnSpPr>
          <p:nvPr/>
        </p:nvCxnSpPr>
        <p:spPr>
          <a:xfrm>
            <a:off x="2949418" y="2672376"/>
            <a:ext cx="0" cy="634704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AF49A5F-D586-47B3-BAB3-1E0BD2CF3997}"/>
              </a:ext>
            </a:extLst>
          </p:cNvPr>
          <p:cNvSpPr/>
          <p:nvPr/>
        </p:nvSpPr>
        <p:spPr>
          <a:xfrm>
            <a:off x="1895407" y="463364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256789F-AD95-4665-B06E-AD0F5C1E9CF8}"/>
              </a:ext>
            </a:extLst>
          </p:cNvPr>
          <p:cNvSpPr/>
          <p:nvPr/>
        </p:nvSpPr>
        <p:spPr>
          <a:xfrm>
            <a:off x="5312666" y="463364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753B0C2-60C4-4324-B3E6-BFEB5DB1259A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2017327" y="4062254"/>
            <a:ext cx="1442153" cy="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2806357-62B4-491A-A436-1E78A6C7B2AA}"/>
              </a:ext>
            </a:extLst>
          </p:cNvPr>
          <p:cNvCxnSpPr>
            <a:cxnSpLocks/>
          </p:cNvCxnSpPr>
          <p:nvPr/>
        </p:nvCxnSpPr>
        <p:spPr>
          <a:xfrm>
            <a:off x="2017327" y="4694606"/>
            <a:ext cx="3295339" cy="902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82432395-AE96-49CC-9449-532B02FC155A}"/>
              </a:ext>
            </a:extLst>
          </p:cNvPr>
          <p:cNvSpPr/>
          <p:nvPr/>
        </p:nvSpPr>
        <p:spPr>
          <a:xfrm>
            <a:off x="3874617" y="4633646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CEED9C4-8B7A-40BF-8ED1-7F55F99B1D22}"/>
              </a:ext>
            </a:extLst>
          </p:cNvPr>
          <p:cNvSpPr/>
          <p:nvPr/>
        </p:nvSpPr>
        <p:spPr>
          <a:xfrm>
            <a:off x="1895407" y="529088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6FAAE86-C13E-4602-8DA5-A35B2D216A4B}"/>
              </a:ext>
            </a:extLst>
          </p:cNvPr>
          <p:cNvSpPr/>
          <p:nvPr/>
        </p:nvSpPr>
        <p:spPr>
          <a:xfrm>
            <a:off x="5312666" y="529088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3B54A06-BE58-4445-8A10-84D1560DDCAF}"/>
              </a:ext>
            </a:extLst>
          </p:cNvPr>
          <p:cNvCxnSpPr>
            <a:cxnSpLocks/>
          </p:cNvCxnSpPr>
          <p:nvPr/>
        </p:nvCxnSpPr>
        <p:spPr>
          <a:xfrm>
            <a:off x="2017327" y="5351845"/>
            <a:ext cx="3295339" cy="2807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EA7514B-7320-4A30-A76B-EA6744101A00}"/>
              </a:ext>
            </a:extLst>
          </p:cNvPr>
          <p:cNvCxnSpPr>
            <a:cxnSpLocks/>
          </p:cNvCxnSpPr>
          <p:nvPr/>
        </p:nvCxnSpPr>
        <p:spPr>
          <a:xfrm>
            <a:off x="2017327" y="3368834"/>
            <a:ext cx="867474" cy="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8BAEC85-8DB3-41BA-8BB0-9A5C4062D255}"/>
              </a:ext>
            </a:extLst>
          </p:cNvPr>
          <p:cNvCxnSpPr>
            <a:cxnSpLocks/>
          </p:cNvCxnSpPr>
          <p:nvPr/>
        </p:nvCxnSpPr>
        <p:spPr>
          <a:xfrm>
            <a:off x="4715773" y="2672376"/>
            <a:ext cx="0" cy="1328918"/>
          </a:xfrm>
          <a:prstGeom prst="straightConnector1">
            <a:avLst/>
          </a:prstGeom>
          <a:ln w="38100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77DFB92-3DA0-4579-9DE0-678270B76045}"/>
              </a:ext>
            </a:extLst>
          </p:cNvPr>
          <p:cNvSpPr/>
          <p:nvPr/>
        </p:nvSpPr>
        <p:spPr>
          <a:xfrm>
            <a:off x="4654813" y="4001294"/>
            <a:ext cx="121920" cy="121920"/>
          </a:xfrm>
          <a:prstGeom prst="ellips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DBA1528-F63D-4F62-A6A1-A49A602F1619}"/>
              </a:ext>
            </a:extLst>
          </p:cNvPr>
          <p:cNvSpPr/>
          <p:nvPr/>
        </p:nvSpPr>
        <p:spPr>
          <a:xfrm>
            <a:off x="4654813" y="2550456"/>
            <a:ext cx="121920" cy="121920"/>
          </a:xfrm>
          <a:prstGeom prst="ellips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53C0E01-CCC4-42FA-9A37-0F1BFC1D828F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4776733" y="4062254"/>
            <a:ext cx="535933" cy="0"/>
          </a:xfrm>
          <a:prstGeom prst="line">
            <a:avLst/>
          </a:prstGeom>
          <a:ln>
            <a:solidFill>
              <a:schemeClr val="accent2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D3C2B7B-6D8C-4783-9979-AF276A4818EF}"/>
              </a:ext>
            </a:extLst>
          </p:cNvPr>
          <p:cNvCxnSpPr>
            <a:cxnSpLocks/>
            <a:endCxn id="73" idx="2"/>
          </p:cNvCxnSpPr>
          <p:nvPr/>
        </p:nvCxnSpPr>
        <p:spPr>
          <a:xfrm>
            <a:off x="2016906" y="4694606"/>
            <a:ext cx="3295759" cy="0"/>
          </a:xfrm>
          <a:prstGeom prst="line">
            <a:avLst/>
          </a:prstGeom>
          <a:ln>
            <a:solidFill>
              <a:schemeClr val="accent2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431C231-9C3C-4C8C-833D-FD5C38EED278}"/>
              </a:ext>
            </a:extLst>
          </p:cNvPr>
          <p:cNvCxnSpPr>
            <a:cxnSpLocks/>
          </p:cNvCxnSpPr>
          <p:nvPr/>
        </p:nvCxnSpPr>
        <p:spPr>
          <a:xfrm>
            <a:off x="2016906" y="5351845"/>
            <a:ext cx="3295759" cy="0"/>
          </a:xfrm>
          <a:prstGeom prst="line">
            <a:avLst/>
          </a:prstGeom>
          <a:ln>
            <a:solidFill>
              <a:schemeClr val="accent2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D3583F6B-8065-4E7A-A440-2D298DA0936D}"/>
              </a:ext>
            </a:extLst>
          </p:cNvPr>
          <p:cNvSpPr/>
          <p:nvPr/>
        </p:nvSpPr>
        <p:spPr>
          <a:xfrm>
            <a:off x="5312665" y="4633646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100443C-A840-443C-8EC5-2E691F5B18D5}"/>
              </a:ext>
            </a:extLst>
          </p:cNvPr>
          <p:cNvSpPr/>
          <p:nvPr/>
        </p:nvSpPr>
        <p:spPr>
          <a:xfrm>
            <a:off x="5312665" y="5290885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A64E53A-9BA4-4F56-8C4A-FBB74D5AF901}"/>
              </a:ext>
            </a:extLst>
          </p:cNvPr>
          <p:cNvSpPr/>
          <p:nvPr/>
        </p:nvSpPr>
        <p:spPr>
          <a:xfrm>
            <a:off x="1895406" y="4633646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275D32E-1773-4C0A-9B45-5C96583A0F8E}"/>
              </a:ext>
            </a:extLst>
          </p:cNvPr>
          <p:cNvSpPr/>
          <p:nvPr/>
        </p:nvSpPr>
        <p:spPr>
          <a:xfrm>
            <a:off x="1894986" y="5290885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E7E679C-DF93-4702-A24A-767C7326E254}"/>
              </a:ext>
            </a:extLst>
          </p:cNvPr>
          <p:cNvCxnSpPr>
            <a:cxnSpLocks/>
          </p:cNvCxnSpPr>
          <p:nvPr/>
        </p:nvCxnSpPr>
        <p:spPr>
          <a:xfrm>
            <a:off x="3017828" y="3459028"/>
            <a:ext cx="441652" cy="542266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41A0F09-2F63-4656-8E51-B6BB11816B6E}"/>
              </a:ext>
            </a:extLst>
          </p:cNvPr>
          <p:cNvCxnSpPr>
            <a:cxnSpLocks/>
          </p:cNvCxnSpPr>
          <p:nvPr/>
        </p:nvCxnSpPr>
        <p:spPr>
          <a:xfrm>
            <a:off x="3593280" y="4173482"/>
            <a:ext cx="280916" cy="436179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738C4EE-35CB-4AD0-A98A-79896ABEEC1A}"/>
              </a:ext>
            </a:extLst>
          </p:cNvPr>
          <p:cNvCxnSpPr>
            <a:cxnSpLocks/>
          </p:cNvCxnSpPr>
          <p:nvPr/>
        </p:nvCxnSpPr>
        <p:spPr>
          <a:xfrm flipH="1">
            <a:off x="4023052" y="4099229"/>
            <a:ext cx="582745" cy="510432"/>
          </a:xfrm>
          <a:prstGeom prst="straightConnector1">
            <a:avLst/>
          </a:prstGeom>
          <a:ln w="38100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A921E1E-9C25-4C1D-A00F-5C21FC6C1526}"/>
              </a:ext>
            </a:extLst>
          </p:cNvPr>
          <p:cNvCxnSpPr>
            <a:cxnSpLocks/>
            <a:stCxn id="71" idx="4"/>
          </p:cNvCxnSpPr>
          <p:nvPr/>
        </p:nvCxnSpPr>
        <p:spPr>
          <a:xfrm>
            <a:off x="3935577" y="4755566"/>
            <a:ext cx="0" cy="567792"/>
          </a:xfrm>
          <a:prstGeom prst="straightConnector1">
            <a:avLst/>
          </a:prstGeom>
          <a:ln w="38100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5F104221-1F87-45C9-A147-9A7899CA50D9}"/>
              </a:ext>
            </a:extLst>
          </p:cNvPr>
          <p:cNvSpPr/>
          <p:nvPr/>
        </p:nvSpPr>
        <p:spPr>
          <a:xfrm>
            <a:off x="3874617" y="4633646"/>
            <a:ext cx="121920" cy="121920"/>
          </a:xfrm>
          <a:prstGeom prst="ellips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A53C76-1AE1-4E22-8805-61E0C0124479}"/>
              </a:ext>
            </a:extLst>
          </p:cNvPr>
          <p:cNvSpPr txBox="1"/>
          <p:nvPr/>
        </p:nvSpPr>
        <p:spPr>
          <a:xfrm>
            <a:off x="3089289" y="3031798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i="1" dirty="0">
                <a:solidFill>
                  <a:schemeClr val="accent4"/>
                </a:solidFill>
              </a:rPr>
              <a:t>Liquid</a:t>
            </a:r>
          </a:p>
          <a:p>
            <a:pPr algn="ctr"/>
            <a:r>
              <a:rPr lang="en-GB" sz="1200" i="1" dirty="0"/>
              <a:t>=</a:t>
            </a:r>
          </a:p>
          <a:p>
            <a:pPr algn="ctr"/>
            <a:r>
              <a:rPr lang="en-GB" sz="1200" i="1" dirty="0">
                <a:solidFill>
                  <a:schemeClr val="accent1"/>
                </a:solidFill>
              </a:rPr>
              <a:t>System</a:t>
            </a:r>
            <a:endParaRPr lang="en-GB" i="1" dirty="0">
              <a:solidFill>
                <a:schemeClr val="accent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A04B9D-99A4-44F8-8795-C46DED9C0058}"/>
              </a:ext>
            </a:extLst>
          </p:cNvPr>
          <p:cNvSpPr txBox="1"/>
          <p:nvPr/>
        </p:nvSpPr>
        <p:spPr>
          <a:xfrm>
            <a:off x="3956764" y="3504746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i="1" dirty="0">
                <a:solidFill>
                  <a:schemeClr val="accent5"/>
                </a:solidFill>
              </a:rPr>
              <a:t>Liquid</a:t>
            </a:r>
          </a:p>
          <a:p>
            <a:pPr algn="ctr"/>
            <a:r>
              <a:rPr lang="en-GB" sz="1200" i="1" dirty="0"/>
              <a:t>=</a:t>
            </a:r>
          </a:p>
          <a:p>
            <a:pPr algn="ctr"/>
            <a:r>
              <a:rPr lang="en-GB" sz="1200" i="1" dirty="0">
                <a:solidFill>
                  <a:schemeClr val="accent2"/>
                </a:solidFill>
              </a:rPr>
              <a:t>System</a:t>
            </a:r>
            <a:endParaRPr lang="en-GB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18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6" grpId="0" animBg="1"/>
      <p:bldP spid="23" grpId="0" animBg="1"/>
      <p:bldP spid="18" grpId="0" animBg="1"/>
      <p:bldP spid="26" grpId="0" animBg="1"/>
      <p:bldP spid="41" grpId="0" animBg="1"/>
      <p:bldP spid="42" grpId="0" animBg="1"/>
      <p:bldP spid="50" grpId="0" animBg="1"/>
      <p:bldP spid="51" grpId="0" animBg="1"/>
      <p:bldP spid="24" grpId="0" animBg="1"/>
      <p:bldP spid="56" grpId="0" animBg="1"/>
      <p:bldP spid="54" grpId="0" animBg="1"/>
      <p:bldP spid="65" grpId="0" animBg="1"/>
      <p:bldP spid="66" grpId="0" animBg="1"/>
      <p:bldP spid="15" grpId="0" animBg="1"/>
      <p:bldP spid="20" grpId="0" animBg="1"/>
      <p:bldP spid="73" grpId="0" animBg="1"/>
      <p:bldP spid="75" grpId="0" animBg="1"/>
      <p:bldP spid="79" grpId="0" animBg="1"/>
      <p:bldP spid="81" grpId="0" animBg="1"/>
      <p:bldP spid="71" grpId="0" animBg="1"/>
      <p:bldP spid="55" grpId="0"/>
      <p:bldP spid="5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1" y="1870075"/>
            <a:ext cx="4498856" cy="4094595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2CCD40-D466-46CE-AB11-DAA30B3C9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72914" y="1870075"/>
            <a:ext cx="567537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i="1" dirty="0"/>
              <a:t>Fractional melting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An</a:t>
            </a:r>
            <a:r>
              <a:rPr lang="en-GB" baseline="-25000" dirty="0">
                <a:solidFill>
                  <a:schemeClr val="accent1"/>
                </a:solidFill>
              </a:rPr>
              <a:t>70</a:t>
            </a:r>
            <a:r>
              <a:rPr lang="en-GB" dirty="0">
                <a:solidFill>
                  <a:schemeClr val="accent1"/>
                </a:solidFill>
              </a:rPr>
              <a:t>Di</a:t>
            </a:r>
            <a:r>
              <a:rPr lang="en-GB" baseline="-25000" dirty="0">
                <a:solidFill>
                  <a:schemeClr val="accent1"/>
                </a:solidFill>
              </a:rPr>
              <a:t>30	</a:t>
            </a:r>
            <a:r>
              <a:rPr lang="en-GB" dirty="0">
                <a:solidFill>
                  <a:schemeClr val="accent1"/>
                </a:solidFill>
              </a:rPr>
              <a:t>An + Di</a:t>
            </a:r>
            <a:endParaRPr lang="en-GB" baseline="-25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GB" baseline="-25000" dirty="0">
                <a:solidFill>
                  <a:schemeClr val="accent1"/>
                </a:solidFill>
              </a:rPr>
              <a:t>		</a:t>
            </a:r>
            <a:r>
              <a:rPr lang="en-GB" dirty="0">
                <a:solidFill>
                  <a:schemeClr val="accent1"/>
                </a:solidFill>
              </a:rPr>
              <a:t>An + Di → L	(eutectic)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	until Di is exhausted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	An → L  	(liquidus)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	until An is exhausted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	last melt is of pure An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	</a:t>
            </a:r>
          </a:p>
          <a:p>
            <a:pPr marL="0" indent="0" algn="ctr">
              <a:spcBef>
                <a:spcPts val="1800"/>
              </a:spcBef>
              <a:buNone/>
            </a:pPr>
            <a:r>
              <a:rPr lang="en-GB" i="1" dirty="0">
                <a:solidFill>
                  <a:schemeClr val="accent1"/>
                </a:solidFill>
              </a:rPr>
              <a:t>Fractional melting is not the opposite</a:t>
            </a:r>
            <a:br>
              <a:rPr lang="en-GB" i="1" dirty="0">
                <a:solidFill>
                  <a:schemeClr val="accent1"/>
                </a:solidFill>
              </a:rPr>
            </a:br>
            <a:r>
              <a:rPr lang="en-GB" i="1" dirty="0">
                <a:solidFill>
                  <a:schemeClr val="accent1"/>
                </a:solidFill>
              </a:rPr>
              <a:t>of fractional crystallisation</a:t>
            </a:r>
          </a:p>
          <a:p>
            <a:pPr marL="0" indent="0">
              <a:buNone/>
            </a:pPr>
            <a:endParaRPr lang="en-GB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12</a:t>
            </a:fld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4C2B96F-874C-4B38-BF22-2373F511CC76}"/>
              </a:ext>
            </a:extLst>
          </p:cNvPr>
          <p:cNvSpPr/>
          <p:nvPr/>
        </p:nvSpPr>
        <p:spPr>
          <a:xfrm>
            <a:off x="1895407" y="1884997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C26F67-1D3F-4C28-8065-C9C211571F6C}"/>
              </a:ext>
            </a:extLst>
          </p:cNvPr>
          <p:cNvSpPr/>
          <p:nvPr/>
        </p:nvSpPr>
        <p:spPr>
          <a:xfrm>
            <a:off x="1895407" y="2337637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9563723-E443-46E1-9362-CA6DD3579E2F}"/>
              </a:ext>
            </a:extLst>
          </p:cNvPr>
          <p:cNvSpPr/>
          <p:nvPr/>
        </p:nvSpPr>
        <p:spPr>
          <a:xfrm>
            <a:off x="1895408" y="4633754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582898-99E4-4E60-8399-5D3A8BBCD545}"/>
              </a:ext>
            </a:extLst>
          </p:cNvPr>
          <p:cNvSpPr/>
          <p:nvPr/>
        </p:nvSpPr>
        <p:spPr>
          <a:xfrm>
            <a:off x="5291793" y="4633754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724CA40-3EF1-40B3-A2AF-C482FD22320E}"/>
              </a:ext>
            </a:extLst>
          </p:cNvPr>
          <p:cNvCxnSpPr>
            <a:cxnSpLocks/>
          </p:cNvCxnSpPr>
          <p:nvPr/>
        </p:nvCxnSpPr>
        <p:spPr>
          <a:xfrm flipV="1">
            <a:off x="2945761" y="4718346"/>
            <a:ext cx="0" cy="613114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9E4DEDD-F1C1-48D9-A96B-D89A5799900F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>
            <a:off x="2017328" y="4694714"/>
            <a:ext cx="3274465" cy="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712B18D9-79F3-4CE7-96B8-0B6964F0E682}"/>
              </a:ext>
            </a:extLst>
          </p:cNvPr>
          <p:cNvSpPr/>
          <p:nvPr/>
        </p:nvSpPr>
        <p:spPr>
          <a:xfrm>
            <a:off x="3875040" y="4633754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0779EE9-C714-4612-99C2-487C33853285}"/>
              </a:ext>
            </a:extLst>
          </p:cNvPr>
          <p:cNvSpPr/>
          <p:nvPr/>
        </p:nvSpPr>
        <p:spPr>
          <a:xfrm>
            <a:off x="5291793" y="5299212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A7C0210-0A97-4ADB-96FD-9109648E4488}"/>
              </a:ext>
            </a:extLst>
          </p:cNvPr>
          <p:cNvSpPr/>
          <p:nvPr/>
        </p:nvSpPr>
        <p:spPr>
          <a:xfrm>
            <a:off x="1895407" y="5299212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AE3CC3B-066B-4D32-8D67-DA58D0FE2861}"/>
              </a:ext>
            </a:extLst>
          </p:cNvPr>
          <p:cNvCxnSpPr>
            <a:cxnSpLocks/>
          </p:cNvCxnSpPr>
          <p:nvPr/>
        </p:nvCxnSpPr>
        <p:spPr>
          <a:xfrm>
            <a:off x="2024629" y="5360172"/>
            <a:ext cx="3274465" cy="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7F25E9E-C0A2-4199-B087-FA83E03B4B15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1956367" y="2459557"/>
            <a:ext cx="0" cy="2174198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3D83CC0-4FF3-4ECD-9824-C4C682AFEE59}"/>
              </a:ext>
            </a:extLst>
          </p:cNvPr>
          <p:cNvCxnSpPr>
            <a:cxnSpLocks/>
          </p:cNvCxnSpPr>
          <p:nvPr/>
        </p:nvCxnSpPr>
        <p:spPr>
          <a:xfrm flipV="1">
            <a:off x="1956367" y="2006917"/>
            <a:ext cx="0" cy="328421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FBCD25C-4DC0-455C-B5E3-001ACB3FEEBC}"/>
              </a:ext>
            </a:extLst>
          </p:cNvPr>
          <p:cNvCxnSpPr>
            <a:cxnSpLocks/>
          </p:cNvCxnSpPr>
          <p:nvPr/>
        </p:nvCxnSpPr>
        <p:spPr>
          <a:xfrm flipH="1">
            <a:off x="2017328" y="4792822"/>
            <a:ext cx="863032" cy="0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FA54423-E4E0-419A-ABDE-B76457D22E3A}"/>
              </a:ext>
            </a:extLst>
          </p:cNvPr>
          <p:cNvSpPr/>
          <p:nvPr/>
        </p:nvSpPr>
        <p:spPr>
          <a:xfrm>
            <a:off x="2884801" y="5299212"/>
            <a:ext cx="121920" cy="121920"/>
          </a:xfrm>
          <a:prstGeom prst="ellips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phase diagram with no solid solution: An–Di</a:t>
            </a:r>
          </a:p>
        </p:txBody>
      </p:sp>
    </p:spTree>
    <p:extLst>
      <p:ext uri="{BB962C8B-B14F-4D97-AF65-F5344CB8AC3E}">
        <p14:creationId xmlns:p14="http://schemas.microsoft.com/office/powerpoint/2010/main" val="320316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30" grpId="0" animBg="1"/>
      <p:bldP spid="31" grpId="0" animBg="1"/>
      <p:bldP spid="29" grpId="0" animBg="1"/>
      <p:bldP spid="39" grpId="0" animBg="1"/>
      <p:bldP spid="40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1B7698E-9C33-400A-BB27-A3D63F63F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276474"/>
            <a:ext cx="2429300" cy="39151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Basalt with </a:t>
            </a:r>
            <a:r>
              <a:rPr lang="en-GB" dirty="0">
                <a:solidFill>
                  <a:schemeClr val="accent1"/>
                </a:solidFill>
              </a:rPr>
              <a:t>plagioclase</a:t>
            </a:r>
            <a:r>
              <a:rPr lang="en-GB" dirty="0"/>
              <a:t> crystals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Basalt with intergrown </a:t>
            </a:r>
            <a:r>
              <a:rPr lang="en-GB" dirty="0">
                <a:solidFill>
                  <a:schemeClr val="accent2"/>
                </a:solidFill>
              </a:rPr>
              <a:t>plagioclase </a:t>
            </a:r>
            <a:r>
              <a:rPr lang="en-GB" dirty="0"/>
              <a:t>and</a:t>
            </a:r>
            <a:r>
              <a:rPr lang="en-GB" dirty="0">
                <a:solidFill>
                  <a:schemeClr val="accent2"/>
                </a:solidFill>
              </a:rPr>
              <a:t> clinopyroxene </a:t>
            </a:r>
            <a:r>
              <a:rPr lang="en-GB" dirty="0"/>
              <a:t>crystals</a:t>
            </a:r>
          </a:p>
        </p:txBody>
      </p:sp>
      <p:pic>
        <p:nvPicPr>
          <p:cNvPr id="15" name="Content Placeholder 7">
            <a:extLst>
              <a:ext uri="{FF2B5EF4-FFF2-40B4-BE49-F238E27FC236}">
                <a16:creationId xmlns:a16="http://schemas.microsoft.com/office/drawing/2014/main" id="{E84EF6AA-8AA0-41A8-BED2-95E57611EF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8603" y="1840257"/>
            <a:ext cx="4748794" cy="432207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421BFE-ADE6-479A-ABF8-A9993D69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diagrams and natural rocks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6AD58-CA81-47F7-979D-118B8811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933DC-C936-473C-9CAA-E9A930DD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2DB46-E18E-44A7-8FC5-F1F9E3D7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13</a:t>
            </a:fld>
            <a:endParaRPr lang="en-GB"/>
          </a:p>
        </p:txBody>
      </p:sp>
      <p:pic>
        <p:nvPicPr>
          <p:cNvPr id="10" name="Picture 2" descr="Image result for plagioclase basalt">
            <a:extLst>
              <a:ext uri="{FF2B5EF4-FFF2-40B4-BE49-F238E27FC236}">
                <a16:creationId xmlns:a16="http://schemas.microsoft.com/office/drawing/2014/main" id="{C5CD6409-CEF4-40D8-80DC-BF7347284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686" y="1840257"/>
            <a:ext cx="2790314" cy="209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Image result for ophitic dolerite">
            <a:extLst>
              <a:ext uri="{FF2B5EF4-FFF2-40B4-BE49-F238E27FC236}">
                <a16:creationId xmlns:a16="http://schemas.microsoft.com/office/drawing/2014/main" id="{D6C33D00-D351-4B91-93D6-C9B8DB61A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277" y="4314080"/>
            <a:ext cx="2776723" cy="187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16B9BEB9-9347-4B30-926F-C4FB63824976}"/>
              </a:ext>
            </a:extLst>
          </p:cNvPr>
          <p:cNvSpPr/>
          <p:nvPr/>
        </p:nvSpPr>
        <p:spPr>
          <a:xfrm rot="431023">
            <a:off x="6221714" y="3192275"/>
            <a:ext cx="1961470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401E830-DA3A-4BC6-B7A4-67DC92F674FC}"/>
              </a:ext>
            </a:extLst>
          </p:cNvPr>
          <p:cNvSpPr/>
          <p:nvPr/>
        </p:nvSpPr>
        <p:spPr>
          <a:xfrm rot="21045748">
            <a:off x="6212565" y="5084733"/>
            <a:ext cx="3090686" cy="1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0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Melting and crystallisation in geochemical systems: phase diagram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4</a:t>
            </a:r>
          </a:p>
          <a:p>
            <a:r>
              <a:rPr lang="en-GB" dirty="0"/>
              <a:t>Part 3 | Phase diagrams with a solvus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558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no solid solution: a recap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2" y="1870075"/>
            <a:ext cx="4498856" cy="409459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i="1" dirty="0"/>
                  <a:t>Equilibrium crystallisation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1"/>
                    </a:solidFill>
                  </a:rPr>
                  <a:t>An</a:t>
                </a:r>
                <a:r>
                  <a:rPr lang="en-GB" baseline="-25000" dirty="0">
                    <a:solidFill>
                      <a:schemeClr val="accent1"/>
                    </a:solidFill>
                  </a:rPr>
                  <a:t>70</a:t>
                </a:r>
                <a:r>
                  <a:rPr lang="en-GB" dirty="0">
                    <a:solidFill>
                      <a:schemeClr val="accent1"/>
                    </a:solidFill>
                  </a:rPr>
                  <a:t>Di</a:t>
                </a:r>
                <a:r>
                  <a:rPr lang="en-GB" baseline="-25000" dirty="0">
                    <a:solidFill>
                      <a:schemeClr val="accent1"/>
                    </a:solidFill>
                  </a:rPr>
                  <a:t>30	</a:t>
                </a:r>
                <a:r>
                  <a:rPr lang="en-GB" dirty="0">
                    <a:solidFill>
                      <a:schemeClr val="accent1"/>
                    </a:solidFill>
                  </a:rPr>
                  <a:t>L → An  	(liquidus)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1"/>
                    </a:solidFill>
                  </a:rPr>
                  <a:t>		L → An + Di	(eutectic)</a:t>
                </a:r>
              </a:p>
              <a:p>
                <a:pPr marL="0" indent="0">
                  <a:buNone/>
                </a:pPr>
                <a:r>
                  <a:rPr lang="en-GB" dirty="0"/>
                  <a:t>The solid comprises two phases at moderate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: pure An and pure Di</a:t>
                </a:r>
              </a:p>
              <a:p>
                <a:pPr marL="0" indent="0">
                  <a:buNone/>
                </a:pPr>
                <a:r>
                  <a:rPr lang="en-GB" dirty="0"/>
                  <a:t>No solid solution</a:t>
                </a:r>
              </a:p>
              <a:p>
                <a:pPr marL="0" indent="0">
                  <a:buNone/>
                </a:pPr>
                <a:r>
                  <a:rPr lang="en-GB" dirty="0"/>
                  <a:t>But, some solids,</a:t>
                </a:r>
                <a:br>
                  <a:rPr lang="en-GB" dirty="0"/>
                </a:br>
                <a:r>
                  <a:rPr lang="en-GB" dirty="0"/>
                  <a:t>like plagioclase, </a:t>
                </a:r>
                <a:br>
                  <a:rPr lang="en-GB" dirty="0"/>
                </a:br>
                <a:r>
                  <a:rPr lang="en-GB" dirty="0"/>
                  <a:t>show solid solution</a:t>
                </a:r>
                <a:br>
                  <a:rPr lang="en-GB" dirty="0"/>
                </a:br>
                <a:r>
                  <a:rPr lang="en-GB" dirty="0"/>
                  <a:t>at low/moderate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  <a:blipFill>
                <a:blip r:embed="rId4"/>
                <a:stretch>
                  <a:fillRect l="-1719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15</a:t>
            </a:fld>
            <a:endParaRPr lang="en-GB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F701D0-8E6D-4E88-8A29-30FDB263732B}"/>
              </a:ext>
            </a:extLst>
          </p:cNvPr>
          <p:cNvSpPr/>
          <p:nvPr/>
        </p:nvSpPr>
        <p:spPr>
          <a:xfrm>
            <a:off x="1895407" y="330708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6BBBE6-F925-4362-9E89-C8CED57CC9B1}"/>
              </a:ext>
            </a:extLst>
          </p:cNvPr>
          <p:cNvSpPr/>
          <p:nvPr/>
        </p:nvSpPr>
        <p:spPr>
          <a:xfrm>
            <a:off x="2884801" y="3307080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6AE749-F771-4A34-A81A-FCE3FB7F3366}"/>
              </a:ext>
            </a:extLst>
          </p:cNvPr>
          <p:cNvSpPr/>
          <p:nvPr/>
        </p:nvSpPr>
        <p:spPr>
          <a:xfrm>
            <a:off x="3459480" y="4001294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C389FC-B736-4913-88E1-FBBA9433651F}"/>
              </a:ext>
            </a:extLst>
          </p:cNvPr>
          <p:cNvSpPr/>
          <p:nvPr/>
        </p:nvSpPr>
        <p:spPr>
          <a:xfrm>
            <a:off x="1895407" y="4001294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DC46C7-2C4F-48EB-B567-42B41DC3B6C1}"/>
              </a:ext>
            </a:extLst>
          </p:cNvPr>
          <p:cNvSpPr/>
          <p:nvPr/>
        </p:nvSpPr>
        <p:spPr>
          <a:xfrm>
            <a:off x="2884801" y="2550456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AF49A5F-D586-47B3-BAB3-1E0BD2CF3997}"/>
              </a:ext>
            </a:extLst>
          </p:cNvPr>
          <p:cNvSpPr/>
          <p:nvPr/>
        </p:nvSpPr>
        <p:spPr>
          <a:xfrm>
            <a:off x="1895407" y="463364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37CEA1B-3896-44B4-9F42-AB678C27D4EF}"/>
              </a:ext>
            </a:extLst>
          </p:cNvPr>
          <p:cNvCxnSpPr>
            <a:cxnSpLocks/>
          </p:cNvCxnSpPr>
          <p:nvPr/>
        </p:nvCxnSpPr>
        <p:spPr>
          <a:xfrm>
            <a:off x="2949418" y="2672376"/>
            <a:ext cx="0" cy="634704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AB55C4C-03E8-4569-B0E9-BDADAA7AD550}"/>
              </a:ext>
            </a:extLst>
          </p:cNvPr>
          <p:cNvCxnSpPr>
            <a:cxnSpLocks/>
          </p:cNvCxnSpPr>
          <p:nvPr/>
        </p:nvCxnSpPr>
        <p:spPr>
          <a:xfrm>
            <a:off x="2945761" y="3429000"/>
            <a:ext cx="0" cy="634704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0CEED9C4-8B7A-40BF-8ED1-7F55F99B1D22}"/>
              </a:ext>
            </a:extLst>
          </p:cNvPr>
          <p:cNvSpPr/>
          <p:nvPr/>
        </p:nvSpPr>
        <p:spPr>
          <a:xfrm>
            <a:off x="1895407" y="5293933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753B0C2-60C4-4324-B3E6-BFEB5DB1259A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2017327" y="4062254"/>
            <a:ext cx="1442153" cy="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2806357-62B4-491A-A436-1E78A6C7B2AA}"/>
              </a:ext>
            </a:extLst>
          </p:cNvPr>
          <p:cNvCxnSpPr>
            <a:cxnSpLocks/>
          </p:cNvCxnSpPr>
          <p:nvPr/>
        </p:nvCxnSpPr>
        <p:spPr>
          <a:xfrm>
            <a:off x="2011231" y="4694155"/>
            <a:ext cx="3295339" cy="902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82432395-AE96-49CC-9449-532B02FC155A}"/>
              </a:ext>
            </a:extLst>
          </p:cNvPr>
          <p:cNvSpPr/>
          <p:nvPr/>
        </p:nvSpPr>
        <p:spPr>
          <a:xfrm>
            <a:off x="3874617" y="4639742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C20187B-90E8-4F84-AACD-F0F2B6FD8D4A}"/>
              </a:ext>
            </a:extLst>
          </p:cNvPr>
          <p:cNvCxnSpPr>
            <a:cxnSpLocks/>
          </p:cNvCxnSpPr>
          <p:nvPr/>
        </p:nvCxnSpPr>
        <p:spPr>
          <a:xfrm>
            <a:off x="2945761" y="4062254"/>
            <a:ext cx="0" cy="634704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15126AC-081A-48AC-8C89-F2DC4C18D748}"/>
              </a:ext>
            </a:extLst>
          </p:cNvPr>
          <p:cNvCxnSpPr>
            <a:cxnSpLocks/>
          </p:cNvCxnSpPr>
          <p:nvPr/>
        </p:nvCxnSpPr>
        <p:spPr>
          <a:xfrm>
            <a:off x="2945761" y="4718346"/>
            <a:ext cx="0" cy="613114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3B54A06-BE58-4445-8A10-84D1560DDCAF}"/>
              </a:ext>
            </a:extLst>
          </p:cNvPr>
          <p:cNvCxnSpPr>
            <a:cxnSpLocks/>
          </p:cNvCxnSpPr>
          <p:nvPr/>
        </p:nvCxnSpPr>
        <p:spPr>
          <a:xfrm>
            <a:off x="2017327" y="5353490"/>
            <a:ext cx="3295339" cy="2807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EA7514B-7320-4A30-A76B-EA6744101A00}"/>
              </a:ext>
            </a:extLst>
          </p:cNvPr>
          <p:cNvCxnSpPr>
            <a:cxnSpLocks/>
          </p:cNvCxnSpPr>
          <p:nvPr/>
        </p:nvCxnSpPr>
        <p:spPr>
          <a:xfrm>
            <a:off x="2017327" y="3368834"/>
            <a:ext cx="867474" cy="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E7E679C-DF93-4702-A24A-767C7326E254}"/>
              </a:ext>
            </a:extLst>
          </p:cNvPr>
          <p:cNvCxnSpPr>
            <a:cxnSpLocks/>
          </p:cNvCxnSpPr>
          <p:nvPr/>
        </p:nvCxnSpPr>
        <p:spPr>
          <a:xfrm>
            <a:off x="3017828" y="3459028"/>
            <a:ext cx="441652" cy="542266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41A0F09-2F63-4656-8E51-B6BB11816B6E}"/>
              </a:ext>
            </a:extLst>
          </p:cNvPr>
          <p:cNvCxnSpPr>
            <a:cxnSpLocks/>
          </p:cNvCxnSpPr>
          <p:nvPr/>
        </p:nvCxnSpPr>
        <p:spPr>
          <a:xfrm>
            <a:off x="3593280" y="4173482"/>
            <a:ext cx="280916" cy="436179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C1AB756-6EC8-4060-87BB-EB7613205D7F}"/>
              </a:ext>
            </a:extLst>
          </p:cNvPr>
          <p:cNvSpPr txBox="1"/>
          <p:nvPr/>
        </p:nvSpPr>
        <p:spPr>
          <a:xfrm>
            <a:off x="3176531" y="3466877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Liquid</a:t>
            </a:r>
            <a:endParaRPr lang="en-GB" i="1" dirty="0">
              <a:solidFill>
                <a:schemeClr val="accent4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C4BB14-C57E-403B-9DFD-E6C99F7141F6}"/>
              </a:ext>
            </a:extLst>
          </p:cNvPr>
          <p:cNvSpPr txBox="1"/>
          <p:nvPr/>
        </p:nvSpPr>
        <p:spPr>
          <a:xfrm>
            <a:off x="2278917" y="3560260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System</a:t>
            </a:r>
            <a:endParaRPr lang="en-GB" i="1" dirty="0">
              <a:solidFill>
                <a:schemeClr val="accent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37F70B-C012-415F-848B-38FBCCA3E88C}"/>
              </a:ext>
            </a:extLst>
          </p:cNvPr>
          <p:cNvSpPr txBox="1"/>
          <p:nvPr/>
        </p:nvSpPr>
        <p:spPr>
          <a:xfrm>
            <a:off x="1449094" y="3746519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Solid</a:t>
            </a:r>
            <a:endParaRPr lang="en-GB" i="1" dirty="0">
              <a:solidFill>
                <a:schemeClr val="accent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90828DC-1EDF-4CA9-8A32-602796A9129E}"/>
              </a:ext>
            </a:extLst>
          </p:cNvPr>
          <p:cNvSpPr/>
          <p:nvPr/>
        </p:nvSpPr>
        <p:spPr>
          <a:xfrm>
            <a:off x="5312666" y="463364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932F1A6-967F-4403-80B0-DCCD8CA91CFF}"/>
              </a:ext>
            </a:extLst>
          </p:cNvPr>
          <p:cNvSpPr/>
          <p:nvPr/>
        </p:nvSpPr>
        <p:spPr>
          <a:xfrm>
            <a:off x="5312666" y="5293933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4" name="Content Placeholder 7">
            <a:extLst>
              <a:ext uri="{FF2B5EF4-FFF2-40B4-BE49-F238E27FC236}">
                <a16:creationId xmlns:a16="http://schemas.microsoft.com/office/drawing/2014/main" id="{FF31D77F-AE79-4D8A-A6C5-A7FF87BD1E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6114" y="4001294"/>
            <a:ext cx="2157221" cy="19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92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D0AC-1690-4B1D-A79C-8217FEE2A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phase diagram with a solvus: Ab–Or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C5D27E4-1486-4FB7-AD63-AC3029A9E3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603" y="1840257"/>
            <a:ext cx="4499999" cy="409563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8D0B2F5-57B3-4CFC-8E23-C9C366A02A2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838825" y="1825625"/>
                <a:ext cx="5514975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GB" dirty="0"/>
                  <a:t>Intermediate between phase diagrams </a:t>
                </a:r>
                <a:r>
                  <a:rPr lang="en-GB" dirty="0">
                    <a:solidFill>
                      <a:schemeClr val="accent1"/>
                    </a:solidFill>
                  </a:rPr>
                  <a:t>with</a:t>
                </a:r>
                <a:r>
                  <a:rPr lang="en-GB" dirty="0"/>
                  <a:t> and </a:t>
                </a:r>
                <a:r>
                  <a:rPr lang="en-GB" dirty="0">
                    <a:solidFill>
                      <a:schemeClr val="accent2"/>
                    </a:solidFill>
                  </a:rPr>
                  <a:t>without</a:t>
                </a:r>
                <a:r>
                  <a:rPr lang="en-GB" dirty="0"/>
                  <a:t> solid solutions: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Solid solution extensive at high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but limited at low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(Goldschmidt’s Rules)</a:t>
                </a:r>
              </a:p>
              <a:p>
                <a:r>
                  <a:rPr lang="en-GB" dirty="0"/>
                  <a:t>Formation of a solvus, beneath which multiple solid phases occur at equilibrium</a:t>
                </a:r>
              </a:p>
              <a:p>
                <a:r>
                  <a:rPr lang="en-GB" dirty="0"/>
                  <a:t>Solid solutions are denoted </a:t>
                </a:r>
                <a:r>
                  <a:rPr lang="en-GB" i="1" dirty="0" err="1"/>
                  <a:t>X</a:t>
                </a:r>
                <a:r>
                  <a:rPr lang="en-GB" i="1" baseline="-25000" dirty="0" err="1"/>
                  <a:t>ss</a:t>
                </a:r>
                <a:endParaRPr lang="en-GB" i="1" baseline="-25000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8D0B2F5-57B3-4CFC-8E23-C9C366A02A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838825" y="1825625"/>
                <a:ext cx="5514975" cy="4351338"/>
              </a:xfrm>
              <a:blipFill>
                <a:blip r:embed="rId3"/>
                <a:stretch>
                  <a:fillRect l="-1326" t="-1541" r="-1326" b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BE1D1-30C7-43FD-819D-5EB25525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CD1FF-1E9A-411D-B14A-EB11B5F6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F4AAC-CBC3-499C-826D-D192668B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16</a:t>
            </a:fld>
            <a:endParaRPr lang="en-GB"/>
          </a:p>
        </p:txBody>
      </p:sp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FABDBFC7-238D-421E-840A-8E6F387BA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08750" y="2530092"/>
            <a:ext cx="1828800" cy="1664466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DB474466-ACCD-4C51-B7F0-6AD9A605DF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83650" y="2530092"/>
            <a:ext cx="1828799" cy="1664465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D942919-FF19-4EA4-9A13-482458EA56FA}"/>
              </a:ext>
            </a:extLst>
          </p:cNvPr>
          <p:cNvSpPr/>
          <p:nvPr/>
        </p:nvSpPr>
        <p:spPr>
          <a:xfrm>
            <a:off x="3188237" y="3982244"/>
            <a:ext cx="710125" cy="33503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68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a solvus: Ab–Or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8" y="1825624"/>
                <a:ext cx="5675372" cy="453072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Solid solution: multiple solids per phase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: 	Albite (Ab; NaAlSi</a:t>
                </a:r>
                <a:r>
                  <a:rPr lang="en-GB" baseline="-25000" dirty="0"/>
                  <a:t>3</a:t>
                </a:r>
                <a:r>
                  <a:rPr lang="en-GB" dirty="0"/>
                  <a:t>O</a:t>
                </a:r>
                <a:r>
                  <a:rPr lang="en-GB" baseline="-25000" dirty="0"/>
                  <a:t>8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	Orthoclase (Or ; KAlSi</a:t>
                </a:r>
                <a:r>
                  <a:rPr lang="en-GB" baseline="-25000" dirty="0"/>
                  <a:t>3</a:t>
                </a:r>
                <a:r>
                  <a:rPr lang="en-GB" dirty="0"/>
                  <a:t>O</a:t>
                </a:r>
                <a:r>
                  <a:rPr lang="en-GB" baseline="-25000" dirty="0"/>
                  <a:t>8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:	alkali feldspar (</a:t>
                </a:r>
                <a:r>
                  <a:rPr lang="en-GB" i="1" dirty="0" err="1"/>
                  <a:t>afs</a:t>
                </a:r>
                <a:r>
                  <a:rPr lang="en-GB" i="1" baseline="-25000" dirty="0" err="1"/>
                  <a:t>ss</a:t>
                </a:r>
                <a:r>
                  <a:rPr lang="en-GB" dirty="0"/>
                  <a:t>) (but...)</a:t>
                </a:r>
              </a:p>
              <a:p>
                <a:pPr marL="0" indent="0">
                  <a:buNone/>
                </a:pPr>
                <a:r>
                  <a:rPr lang="en-GB" dirty="0"/>
                  <a:t>	melt (</a:t>
                </a:r>
                <a:r>
                  <a:rPr lang="en-GB" i="1" dirty="0"/>
                  <a:t>L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Alkali feldspar shows different degrees of solid solution at different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conditions</a:t>
                </a:r>
              </a:p>
              <a:p>
                <a:pPr marL="0" indent="0">
                  <a:buNone/>
                </a:pPr>
                <a:r>
                  <a:rPr lang="en-GB" dirty="0"/>
                  <a:t>At equilibrium, distinct Ab- and Or-rich solid phases form at low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Separation of multiple solid phases from a single solid phase is called exsolution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8" y="1825624"/>
                <a:ext cx="5675372" cy="4530725"/>
              </a:xfrm>
              <a:blipFill>
                <a:blip r:embed="rId3"/>
                <a:stretch>
                  <a:fillRect l="-1719" t="-2554" r="-19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17</a:t>
            </a:fld>
            <a:endParaRPr lang="en-GB"/>
          </a:p>
        </p:txBody>
      </p:sp>
      <p:pic>
        <p:nvPicPr>
          <p:cNvPr id="15" name="Content Placeholder 8">
            <a:extLst>
              <a:ext uri="{FF2B5EF4-FFF2-40B4-BE49-F238E27FC236}">
                <a16:creationId xmlns:a16="http://schemas.microsoft.com/office/drawing/2014/main" id="{CB38B7CC-567B-4324-8BCD-739E72D1E8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603" y="1840260"/>
            <a:ext cx="4500000" cy="4095635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5CC0420-E1CF-45BE-B0AA-0E54087D30F0}"/>
              </a:ext>
            </a:extLst>
          </p:cNvPr>
          <p:cNvSpPr/>
          <p:nvPr/>
        </p:nvSpPr>
        <p:spPr>
          <a:xfrm>
            <a:off x="2209800" y="2799620"/>
            <a:ext cx="1283208" cy="33503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27F7DD-CE6B-4739-9700-7176622A07A6}"/>
              </a:ext>
            </a:extLst>
          </p:cNvPr>
          <p:cNvSpPr/>
          <p:nvPr/>
        </p:nvSpPr>
        <p:spPr>
          <a:xfrm>
            <a:off x="3923807" y="2676086"/>
            <a:ext cx="1229409" cy="33503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25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B93F9-7FE3-45A0-A784-DE9F374C1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phase diagram with a solvus: Ab–Or</a:t>
            </a:r>
          </a:p>
        </p:txBody>
      </p:sp>
      <p:pic>
        <p:nvPicPr>
          <p:cNvPr id="9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A7E4069F-598B-47E9-B51F-1B676453B1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128" y="1840257"/>
            <a:ext cx="4748794" cy="432207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DCE79-0316-4FB2-8CB4-33FC0BE439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i="1" dirty="0"/>
              <a:t>Equilibrium crystallisation</a:t>
            </a:r>
          </a:p>
          <a:p>
            <a:r>
              <a:rPr lang="en-GB" dirty="0"/>
              <a:t>First alkali feldspar is Ab-rich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</a:t>
            </a:r>
            <a:r>
              <a:rPr lang="en-GB" dirty="0"/>
              <a:t>L → Ab-rich </a:t>
            </a:r>
            <a:r>
              <a:rPr lang="en-GB" dirty="0" err="1"/>
              <a:t>afs</a:t>
            </a:r>
            <a:r>
              <a:rPr lang="en-GB" baseline="-25000" dirty="0" err="1"/>
              <a:t>ss</a:t>
            </a:r>
            <a:r>
              <a:rPr lang="en-GB" dirty="0"/>
              <a:t>  	(liquidus)</a:t>
            </a:r>
          </a:p>
          <a:p>
            <a:r>
              <a:rPr lang="en-GB" dirty="0"/>
              <a:t>Alkali feldspar and melt become richer in Or until the solid reaches the system composition</a:t>
            </a:r>
          </a:p>
          <a:p>
            <a:r>
              <a:rPr lang="en-GB" dirty="0"/>
              <a:t>The system cools to the solvus, where Or-rich </a:t>
            </a:r>
            <a:r>
              <a:rPr lang="en-GB" dirty="0" err="1"/>
              <a:t>afs</a:t>
            </a:r>
            <a:r>
              <a:rPr lang="en-GB" baseline="-25000" dirty="0" err="1"/>
              <a:t>ss</a:t>
            </a:r>
            <a:r>
              <a:rPr lang="en-GB" dirty="0"/>
              <a:t> progressively exsolves from the Ab-rich </a:t>
            </a:r>
            <a:r>
              <a:rPr lang="en-GB" dirty="0" err="1"/>
              <a:t>afs</a:t>
            </a:r>
            <a:r>
              <a:rPr lang="en-GB" baseline="-25000" dirty="0" err="1"/>
              <a:t>ss</a:t>
            </a:r>
            <a:endParaRPr lang="en-GB" baseline="-25000" dirty="0"/>
          </a:p>
          <a:p>
            <a:r>
              <a:rPr lang="en-GB" dirty="0"/>
              <a:t>Proportions of Ab- and Or-rich </a:t>
            </a:r>
            <a:r>
              <a:rPr lang="en-GB" dirty="0" err="1"/>
              <a:t>afs</a:t>
            </a:r>
            <a:r>
              <a:rPr lang="en-GB" baseline="-25000" dirty="0" err="1"/>
              <a:t>ss</a:t>
            </a:r>
            <a:r>
              <a:rPr lang="en-GB" dirty="0"/>
              <a:t> are given by the lever rule</a:t>
            </a:r>
            <a:r>
              <a:rPr lang="en-GB" dirty="0">
                <a:solidFill>
                  <a:schemeClr val="accent1"/>
                </a:solidFill>
              </a:rPr>
              <a:t>	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A5B31-3ED1-4D83-A758-3ACB2623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E13B8-00D1-4B03-9560-1FA08A81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8C75F-ECCE-43C4-8BF4-4631FC5DF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18</a:t>
            </a:fld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BA512D-FD16-433A-80B3-75F18A66DF1D}"/>
              </a:ext>
            </a:extLst>
          </p:cNvPr>
          <p:cNvSpPr/>
          <p:nvPr/>
        </p:nvSpPr>
        <p:spPr>
          <a:xfrm>
            <a:off x="2727189" y="1947609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910121-6D36-434E-B4B2-143FF9D36937}"/>
              </a:ext>
            </a:extLst>
          </p:cNvPr>
          <p:cNvCxnSpPr>
            <a:cxnSpLocks/>
          </p:cNvCxnSpPr>
          <p:nvPr/>
        </p:nvCxnSpPr>
        <p:spPr>
          <a:xfrm>
            <a:off x="2788149" y="2097178"/>
            <a:ext cx="0" cy="223747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BC0F092-8B74-4766-A4A7-CA495EC9724C}"/>
              </a:ext>
            </a:extLst>
          </p:cNvPr>
          <p:cNvSpPr/>
          <p:nvPr/>
        </p:nvSpPr>
        <p:spPr>
          <a:xfrm>
            <a:off x="2727189" y="2352040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ECD484-150F-4CB3-9949-DEE3E5CDA653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2179650" y="2413000"/>
            <a:ext cx="5475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383632-E021-42AF-BDD5-9027B77F5C0D}"/>
              </a:ext>
            </a:extLst>
          </p:cNvPr>
          <p:cNvCxnSpPr>
            <a:cxnSpLocks/>
          </p:cNvCxnSpPr>
          <p:nvPr/>
        </p:nvCxnSpPr>
        <p:spPr>
          <a:xfrm>
            <a:off x="2876473" y="2462615"/>
            <a:ext cx="296779" cy="204215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BF792D6-AA86-4894-BFFF-E85A36F17872}"/>
              </a:ext>
            </a:extLst>
          </p:cNvPr>
          <p:cNvCxnSpPr>
            <a:cxnSpLocks/>
          </p:cNvCxnSpPr>
          <p:nvPr/>
        </p:nvCxnSpPr>
        <p:spPr>
          <a:xfrm>
            <a:off x="2788149" y="2496831"/>
            <a:ext cx="0" cy="169999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6965E87-4C36-4932-8359-6AC80339BBAF}"/>
              </a:ext>
            </a:extLst>
          </p:cNvPr>
          <p:cNvCxnSpPr>
            <a:cxnSpLocks/>
          </p:cNvCxnSpPr>
          <p:nvPr/>
        </p:nvCxnSpPr>
        <p:spPr>
          <a:xfrm>
            <a:off x="2862751" y="4389174"/>
            <a:ext cx="167432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F9CF689-F213-44BE-B07A-9C386BE41B6C}"/>
              </a:ext>
            </a:extLst>
          </p:cNvPr>
          <p:cNvCxnSpPr>
            <a:cxnSpLocks/>
          </p:cNvCxnSpPr>
          <p:nvPr/>
        </p:nvCxnSpPr>
        <p:spPr>
          <a:xfrm>
            <a:off x="2788149" y="2817431"/>
            <a:ext cx="0" cy="1484694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2430BDC8-51D4-4324-9097-041F51F8FC42}"/>
              </a:ext>
            </a:extLst>
          </p:cNvPr>
          <p:cNvSpPr/>
          <p:nvPr/>
        </p:nvSpPr>
        <p:spPr>
          <a:xfrm>
            <a:off x="4511466" y="4328214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5A1A06F-424B-4FAE-8092-502982F51B2A}"/>
              </a:ext>
            </a:extLst>
          </p:cNvPr>
          <p:cNvCxnSpPr>
            <a:cxnSpLocks/>
          </p:cNvCxnSpPr>
          <p:nvPr/>
        </p:nvCxnSpPr>
        <p:spPr>
          <a:xfrm flipH="1">
            <a:off x="1900240" y="4389174"/>
            <a:ext cx="826597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45DC65B-3A06-48C1-B58C-CD6BCEC0E608}"/>
              </a:ext>
            </a:extLst>
          </p:cNvPr>
          <p:cNvCxnSpPr>
            <a:cxnSpLocks/>
          </p:cNvCxnSpPr>
          <p:nvPr/>
        </p:nvCxnSpPr>
        <p:spPr>
          <a:xfrm>
            <a:off x="2787797" y="4477874"/>
            <a:ext cx="352" cy="1022724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8873771F-0678-4762-87FE-6E206EFC11CF}"/>
              </a:ext>
            </a:extLst>
          </p:cNvPr>
          <p:cNvSpPr/>
          <p:nvPr/>
        </p:nvSpPr>
        <p:spPr>
          <a:xfrm>
            <a:off x="1932182" y="545732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ED2CE84-5AF1-40BA-837B-13243B1FF8F4}"/>
              </a:ext>
            </a:extLst>
          </p:cNvPr>
          <p:cNvCxnSpPr>
            <a:cxnSpLocks/>
          </p:cNvCxnSpPr>
          <p:nvPr/>
        </p:nvCxnSpPr>
        <p:spPr>
          <a:xfrm>
            <a:off x="2075215" y="5518285"/>
            <a:ext cx="3230402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55FD58A0-4C22-4F41-A346-5023393F859A}"/>
              </a:ext>
            </a:extLst>
          </p:cNvPr>
          <p:cNvSpPr/>
          <p:nvPr/>
        </p:nvSpPr>
        <p:spPr>
          <a:xfrm>
            <a:off x="5305617" y="5457325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BAF3E7B-93AD-4C31-A6E9-1497DB0A56C4}"/>
              </a:ext>
            </a:extLst>
          </p:cNvPr>
          <p:cNvCxnSpPr>
            <a:cxnSpLocks/>
          </p:cNvCxnSpPr>
          <p:nvPr/>
        </p:nvCxnSpPr>
        <p:spPr>
          <a:xfrm flipH="1">
            <a:off x="1900239" y="2413000"/>
            <a:ext cx="153863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73FF828-4722-48D9-8630-F4DD8A3CD7B6}"/>
              </a:ext>
            </a:extLst>
          </p:cNvPr>
          <p:cNvCxnSpPr>
            <a:cxnSpLocks/>
          </p:cNvCxnSpPr>
          <p:nvPr/>
        </p:nvCxnSpPr>
        <p:spPr>
          <a:xfrm flipH="1">
            <a:off x="1900239" y="2728359"/>
            <a:ext cx="1369875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4E49F75-0A32-4661-BCE3-8BB5C4F1560B}"/>
              </a:ext>
            </a:extLst>
          </p:cNvPr>
          <p:cNvCxnSpPr>
            <a:cxnSpLocks/>
          </p:cNvCxnSpPr>
          <p:nvPr/>
        </p:nvCxnSpPr>
        <p:spPr>
          <a:xfrm flipV="1">
            <a:off x="2480254" y="4441709"/>
            <a:ext cx="230339" cy="173813"/>
          </a:xfrm>
          <a:prstGeom prst="lin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F81AE85-2C99-48F0-88DE-63F6278C1036}"/>
              </a:ext>
            </a:extLst>
          </p:cNvPr>
          <p:cNvCxnSpPr>
            <a:cxnSpLocks/>
          </p:cNvCxnSpPr>
          <p:nvPr/>
        </p:nvCxnSpPr>
        <p:spPr>
          <a:xfrm flipV="1">
            <a:off x="2190423" y="4656280"/>
            <a:ext cx="262543" cy="308893"/>
          </a:xfrm>
          <a:prstGeom prst="lin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503A6A1-5A9A-4BA3-A633-8D98601533DB}"/>
              </a:ext>
            </a:extLst>
          </p:cNvPr>
          <p:cNvCxnSpPr>
            <a:cxnSpLocks/>
          </p:cNvCxnSpPr>
          <p:nvPr/>
        </p:nvCxnSpPr>
        <p:spPr>
          <a:xfrm flipV="1">
            <a:off x="2054102" y="4995653"/>
            <a:ext cx="123621" cy="255797"/>
          </a:xfrm>
          <a:prstGeom prst="lin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D864A50-A973-4F6B-BDB6-5B20BAB76985}"/>
              </a:ext>
            </a:extLst>
          </p:cNvPr>
          <p:cNvCxnSpPr>
            <a:cxnSpLocks/>
            <a:endCxn id="64" idx="0"/>
          </p:cNvCxnSpPr>
          <p:nvPr/>
        </p:nvCxnSpPr>
        <p:spPr>
          <a:xfrm flipH="1">
            <a:off x="1993142" y="5276850"/>
            <a:ext cx="48164" cy="180475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E53691D-BDCF-454D-8611-E35B1F20A720}"/>
              </a:ext>
            </a:extLst>
          </p:cNvPr>
          <p:cNvCxnSpPr>
            <a:cxnSpLocks/>
          </p:cNvCxnSpPr>
          <p:nvPr/>
        </p:nvCxnSpPr>
        <p:spPr>
          <a:xfrm>
            <a:off x="4657725" y="4441709"/>
            <a:ext cx="193675" cy="173813"/>
          </a:xfrm>
          <a:prstGeom prst="line">
            <a:avLst/>
          </a:prstGeom>
          <a:ln w="381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6DF3F25-6A4F-4735-B4E8-F9F52CCD2925}"/>
              </a:ext>
            </a:extLst>
          </p:cNvPr>
          <p:cNvCxnSpPr>
            <a:cxnSpLocks/>
          </p:cNvCxnSpPr>
          <p:nvPr/>
        </p:nvCxnSpPr>
        <p:spPr>
          <a:xfrm>
            <a:off x="4860084" y="4627443"/>
            <a:ext cx="273891" cy="337730"/>
          </a:xfrm>
          <a:prstGeom prst="line">
            <a:avLst/>
          </a:prstGeom>
          <a:ln w="381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255792B-CD4F-437C-910E-4DBFAF0D389B}"/>
              </a:ext>
            </a:extLst>
          </p:cNvPr>
          <p:cNvCxnSpPr>
            <a:cxnSpLocks/>
          </p:cNvCxnSpPr>
          <p:nvPr/>
        </p:nvCxnSpPr>
        <p:spPr>
          <a:xfrm>
            <a:off x="5150101" y="4993748"/>
            <a:ext cx="111125" cy="247398"/>
          </a:xfrm>
          <a:prstGeom prst="line">
            <a:avLst/>
          </a:prstGeom>
          <a:ln w="381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DB8B7F0-8D25-4B37-8A26-1DF575B80846}"/>
              </a:ext>
            </a:extLst>
          </p:cNvPr>
          <p:cNvCxnSpPr>
            <a:cxnSpLocks/>
          </p:cNvCxnSpPr>
          <p:nvPr/>
        </p:nvCxnSpPr>
        <p:spPr>
          <a:xfrm>
            <a:off x="5279231" y="5276850"/>
            <a:ext cx="69057" cy="161415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8D5EB2A-E137-4152-A6DB-B8E3259FF3E2}"/>
              </a:ext>
            </a:extLst>
          </p:cNvPr>
          <p:cNvSpPr/>
          <p:nvPr/>
        </p:nvSpPr>
        <p:spPr>
          <a:xfrm>
            <a:off x="2057730" y="235204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C66E0E5-CD6E-4EBF-B3A5-A32890453978}"/>
              </a:ext>
            </a:extLst>
          </p:cNvPr>
          <p:cNvSpPr/>
          <p:nvPr/>
        </p:nvSpPr>
        <p:spPr>
          <a:xfrm>
            <a:off x="3209154" y="2667399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DA5C9C6-D78F-407E-956F-050414B182EC}"/>
              </a:ext>
            </a:extLst>
          </p:cNvPr>
          <p:cNvSpPr/>
          <p:nvPr/>
        </p:nvSpPr>
        <p:spPr>
          <a:xfrm>
            <a:off x="2726837" y="4328214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2F902A6-755C-46DC-B1D5-D554513B9002}"/>
              </a:ext>
            </a:extLst>
          </p:cNvPr>
          <p:cNvSpPr/>
          <p:nvPr/>
        </p:nvSpPr>
        <p:spPr>
          <a:xfrm>
            <a:off x="2726837" y="2667399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9D5DAEF-3B13-408B-844E-4866A9FB2AB1}"/>
              </a:ext>
            </a:extLst>
          </p:cNvPr>
          <p:cNvCxnSpPr>
            <a:cxnSpLocks/>
          </p:cNvCxnSpPr>
          <p:nvPr/>
        </p:nvCxnSpPr>
        <p:spPr>
          <a:xfrm>
            <a:off x="2209800" y="2473960"/>
            <a:ext cx="453781" cy="216180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51CCDA18-3542-4DF0-9E75-A53C2CBA4E45}"/>
              </a:ext>
            </a:extLst>
          </p:cNvPr>
          <p:cNvSpPr txBox="1"/>
          <p:nvPr/>
        </p:nvSpPr>
        <p:spPr>
          <a:xfrm>
            <a:off x="2787797" y="1889438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A71FFAC-1CD5-4A78-9C4E-EDC07F858E9D}"/>
              </a:ext>
            </a:extLst>
          </p:cNvPr>
          <p:cNvSpPr txBox="1"/>
          <p:nvPr/>
        </p:nvSpPr>
        <p:spPr>
          <a:xfrm>
            <a:off x="2797971" y="2155137"/>
            <a:ext cx="45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B2CF22A-EF48-4861-8C03-A58BC9E4A1A2}"/>
              </a:ext>
            </a:extLst>
          </p:cNvPr>
          <p:cNvSpPr txBox="1"/>
          <p:nvPr/>
        </p:nvSpPr>
        <p:spPr>
          <a:xfrm>
            <a:off x="3238254" y="2475315"/>
            <a:ext cx="45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5DBE2D0-98C5-40C8-8BC5-A4C8280CA367}"/>
              </a:ext>
            </a:extLst>
          </p:cNvPr>
          <p:cNvSpPr txBox="1"/>
          <p:nvPr/>
        </p:nvSpPr>
        <p:spPr>
          <a:xfrm>
            <a:off x="2767517" y="4658269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3"/>
                </a:solidFill>
              </a:rPr>
              <a:t>System</a:t>
            </a:r>
            <a:endParaRPr lang="en-GB" i="1" dirty="0">
              <a:solidFill>
                <a:schemeClr val="accent3"/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D329A34-9865-44EB-A093-C04BC78E4F80}"/>
              </a:ext>
            </a:extLst>
          </p:cNvPr>
          <p:cNvSpPr txBox="1"/>
          <p:nvPr/>
        </p:nvSpPr>
        <p:spPr>
          <a:xfrm>
            <a:off x="1813345" y="2411350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C6F6B2C5-DC37-41A7-94A3-19D4D8F99D2B}"/>
              </a:ext>
            </a:extLst>
          </p:cNvPr>
          <p:cNvSpPr txBox="1"/>
          <p:nvPr/>
        </p:nvSpPr>
        <p:spPr>
          <a:xfrm>
            <a:off x="1881327" y="2703504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33917BF-931E-4C3A-99C7-9984BD623BF7}"/>
              </a:ext>
            </a:extLst>
          </p:cNvPr>
          <p:cNvSpPr txBox="1"/>
          <p:nvPr/>
        </p:nvSpPr>
        <p:spPr>
          <a:xfrm>
            <a:off x="1813345" y="4379281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T3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6B85399-A152-42A8-8A82-031D3A333C7F}"/>
              </a:ext>
            </a:extLst>
          </p:cNvPr>
          <p:cNvSpPr txBox="1"/>
          <p:nvPr/>
        </p:nvSpPr>
        <p:spPr>
          <a:xfrm>
            <a:off x="2890213" y="2284106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Liquid</a:t>
            </a:r>
            <a:endParaRPr lang="en-GB" i="1" dirty="0">
              <a:solidFill>
                <a:schemeClr val="accent6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29D1003-5E8C-4CCB-ADCB-BC13A82CBD2F}"/>
              </a:ext>
            </a:extLst>
          </p:cNvPr>
          <p:cNvSpPr txBox="1"/>
          <p:nvPr/>
        </p:nvSpPr>
        <p:spPr>
          <a:xfrm>
            <a:off x="1812619" y="2848660"/>
            <a:ext cx="1202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Ab-rich </a:t>
            </a:r>
            <a:r>
              <a:rPr lang="en-GB" sz="1200" i="1" dirty="0" err="1">
                <a:solidFill>
                  <a:schemeClr val="accent1"/>
                </a:solidFill>
              </a:rPr>
              <a:t>afs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5857A26-F782-4175-90D8-CDA5F1952469}"/>
              </a:ext>
            </a:extLst>
          </p:cNvPr>
          <p:cNvSpPr txBox="1"/>
          <p:nvPr/>
        </p:nvSpPr>
        <p:spPr>
          <a:xfrm>
            <a:off x="1812619" y="3891697"/>
            <a:ext cx="1202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Ab-rich </a:t>
            </a:r>
            <a:r>
              <a:rPr lang="en-GB" sz="1200" i="1" dirty="0" err="1">
                <a:solidFill>
                  <a:schemeClr val="accent1"/>
                </a:solidFill>
              </a:rPr>
              <a:t>afs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992EA0C-F26C-465F-AB1F-718D15AA19CB}"/>
              </a:ext>
            </a:extLst>
          </p:cNvPr>
          <p:cNvSpPr txBox="1"/>
          <p:nvPr/>
        </p:nvSpPr>
        <p:spPr>
          <a:xfrm>
            <a:off x="4423674" y="4084690"/>
            <a:ext cx="1202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Or-rich </a:t>
            </a:r>
            <a:r>
              <a:rPr lang="en-GB" sz="1200" i="1" dirty="0" err="1">
                <a:solidFill>
                  <a:schemeClr val="accent4"/>
                </a:solidFill>
              </a:rPr>
              <a:t>afs</a:t>
            </a:r>
            <a:r>
              <a:rPr lang="en-GB" sz="1200" i="1" baseline="-25000" dirty="0" err="1">
                <a:solidFill>
                  <a:schemeClr val="accent4"/>
                </a:solidFill>
              </a:rPr>
              <a:t>ss</a:t>
            </a:r>
            <a:endParaRPr lang="en-GB" sz="1200" i="1" baseline="-25000" dirty="0">
              <a:solidFill>
                <a:schemeClr val="accent4"/>
              </a:solidFill>
            </a:endParaRP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6CB6A61C-7682-46A9-81A1-D754C55638A4}"/>
              </a:ext>
            </a:extLst>
          </p:cNvPr>
          <p:cNvCxnSpPr>
            <a:cxnSpLocks/>
          </p:cNvCxnSpPr>
          <p:nvPr/>
        </p:nvCxnSpPr>
        <p:spPr>
          <a:xfrm>
            <a:off x="2052706" y="5445209"/>
            <a:ext cx="71481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A6F901AF-367B-44A9-8A4B-BA4F2824A221}"/>
              </a:ext>
            </a:extLst>
          </p:cNvPr>
          <p:cNvCxnSpPr>
            <a:cxnSpLocks/>
          </p:cNvCxnSpPr>
          <p:nvPr/>
        </p:nvCxnSpPr>
        <p:spPr>
          <a:xfrm>
            <a:off x="2797971" y="5445209"/>
            <a:ext cx="25157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31AE2361-4B4A-4DD0-8E1C-1E567E82C16E}"/>
              </a:ext>
            </a:extLst>
          </p:cNvPr>
          <p:cNvSpPr txBox="1"/>
          <p:nvPr/>
        </p:nvSpPr>
        <p:spPr>
          <a:xfrm>
            <a:off x="2285438" y="5220398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65DFAF7-8064-46F7-A853-A71E0D765EF6}"/>
              </a:ext>
            </a:extLst>
          </p:cNvPr>
          <p:cNvSpPr txBox="1"/>
          <p:nvPr/>
        </p:nvSpPr>
        <p:spPr>
          <a:xfrm>
            <a:off x="3921052" y="5220398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ADDA6EB-75D3-4CE4-B2CC-BB641C89294D}"/>
              </a:ext>
            </a:extLst>
          </p:cNvPr>
          <p:cNvSpPr txBox="1"/>
          <p:nvPr/>
        </p:nvSpPr>
        <p:spPr>
          <a:xfrm>
            <a:off x="2882451" y="2008360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3"/>
                </a:solidFill>
              </a:rPr>
              <a:t>System</a:t>
            </a:r>
            <a:endParaRPr lang="en-GB" i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81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55" grpId="0" animBg="1"/>
      <p:bldP spid="64" grpId="0" animBg="1"/>
      <p:bldP spid="69" grpId="0" animBg="1"/>
      <p:bldP spid="23" grpId="0" animBg="1"/>
      <p:bldP spid="18" grpId="0" animBg="1"/>
      <p:bldP spid="46" grpId="0" animBg="1"/>
      <p:bldP spid="27" grpId="0" animBg="1"/>
      <p:bldP spid="166" grpId="0"/>
      <p:bldP spid="167" grpId="0"/>
      <p:bldP spid="168" grpId="0"/>
      <p:bldP spid="169" grpId="0"/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182" grpId="0"/>
      <p:bldP spid="183" grpId="0"/>
      <p:bldP spid="19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B93F9-7FE3-45A0-A784-DE9F374C1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phase diagram with a solvus: Ab–Or</a:t>
            </a:r>
          </a:p>
        </p:txBody>
      </p:sp>
      <p:pic>
        <p:nvPicPr>
          <p:cNvPr id="9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A7E4069F-598B-47E9-B51F-1B676453B1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128" y="1840257"/>
            <a:ext cx="4748794" cy="432207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DCE79-0316-4FB2-8CB4-33FC0BE43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075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i="1" dirty="0"/>
              <a:t>Fractional crystallisation</a:t>
            </a:r>
          </a:p>
          <a:p>
            <a:r>
              <a:rPr lang="en-GB" dirty="0"/>
              <a:t>First alkali feldspar is Ab-rich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</a:t>
            </a:r>
            <a:r>
              <a:rPr lang="en-GB" dirty="0"/>
              <a:t>L → Ab-rich </a:t>
            </a:r>
            <a:r>
              <a:rPr lang="en-GB" dirty="0" err="1"/>
              <a:t>afs</a:t>
            </a:r>
            <a:r>
              <a:rPr lang="en-GB" baseline="-25000" dirty="0" err="1"/>
              <a:t>ss</a:t>
            </a:r>
            <a:r>
              <a:rPr lang="en-GB" dirty="0"/>
              <a:t>  	(liquidus)</a:t>
            </a:r>
          </a:p>
          <a:p>
            <a:r>
              <a:rPr lang="en-GB" dirty="0"/>
              <a:t>Alkali feldspar is removed from the system; melt reaches the eutectic</a:t>
            </a:r>
          </a:p>
          <a:p>
            <a:pPr marL="0" indent="0">
              <a:buNone/>
            </a:pPr>
            <a:r>
              <a:rPr lang="en-GB" dirty="0"/>
              <a:t>	L → eutectic </a:t>
            </a:r>
            <a:r>
              <a:rPr lang="en-GB" dirty="0" err="1"/>
              <a:t>afs</a:t>
            </a:r>
            <a:r>
              <a:rPr lang="en-GB" baseline="-25000" dirty="0" err="1"/>
              <a:t>ss</a:t>
            </a:r>
            <a:r>
              <a:rPr lang="en-GB" dirty="0"/>
              <a:t>  	(liquidus)</a:t>
            </a:r>
          </a:p>
          <a:p>
            <a:r>
              <a:rPr lang="en-GB" dirty="0"/>
              <a:t>The system cools to the solvus and exsolution occurs (at equilibrium)</a:t>
            </a:r>
            <a:endParaRPr lang="en-GB" baseline="-25000" dirty="0"/>
          </a:p>
          <a:p>
            <a:r>
              <a:rPr lang="en-GB" dirty="0"/>
              <a:t>Once solid, the composition of the system cannot change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A5B31-3ED1-4D83-A758-3ACB2623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E13B8-00D1-4B03-9560-1FA08A81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8C75F-ECCE-43C4-8BF4-4631FC5DF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19</a:t>
            </a:fld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BA512D-FD16-433A-80B3-75F18A66DF1D}"/>
              </a:ext>
            </a:extLst>
          </p:cNvPr>
          <p:cNvSpPr/>
          <p:nvPr/>
        </p:nvSpPr>
        <p:spPr>
          <a:xfrm>
            <a:off x="2727189" y="1947609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910121-6D36-434E-B4B2-143FF9D36937}"/>
              </a:ext>
            </a:extLst>
          </p:cNvPr>
          <p:cNvCxnSpPr>
            <a:cxnSpLocks/>
          </p:cNvCxnSpPr>
          <p:nvPr/>
        </p:nvCxnSpPr>
        <p:spPr>
          <a:xfrm>
            <a:off x="2788149" y="2097178"/>
            <a:ext cx="0" cy="223747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BC0F092-8B74-4766-A4A7-CA495EC9724C}"/>
              </a:ext>
            </a:extLst>
          </p:cNvPr>
          <p:cNvSpPr/>
          <p:nvPr/>
        </p:nvSpPr>
        <p:spPr>
          <a:xfrm>
            <a:off x="2727189" y="2352040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ECD484-150F-4CB3-9949-DEE3E5CDA653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2179650" y="2413000"/>
            <a:ext cx="5475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383632-E021-42AF-BDD5-9027B77F5C0D}"/>
              </a:ext>
            </a:extLst>
          </p:cNvPr>
          <p:cNvCxnSpPr>
            <a:cxnSpLocks/>
          </p:cNvCxnSpPr>
          <p:nvPr/>
        </p:nvCxnSpPr>
        <p:spPr>
          <a:xfrm>
            <a:off x="2876473" y="2462615"/>
            <a:ext cx="401482" cy="279867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6965E87-4C36-4932-8359-6AC80339BBAF}"/>
              </a:ext>
            </a:extLst>
          </p:cNvPr>
          <p:cNvCxnSpPr>
            <a:cxnSpLocks/>
          </p:cNvCxnSpPr>
          <p:nvPr/>
        </p:nvCxnSpPr>
        <p:spPr>
          <a:xfrm>
            <a:off x="3399875" y="4182466"/>
            <a:ext cx="655990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F9CF689-F213-44BE-B07A-9C386BE41B6C}"/>
              </a:ext>
            </a:extLst>
          </p:cNvPr>
          <p:cNvCxnSpPr>
            <a:cxnSpLocks/>
          </p:cNvCxnSpPr>
          <p:nvPr/>
        </p:nvCxnSpPr>
        <p:spPr>
          <a:xfrm>
            <a:off x="3338915" y="2868642"/>
            <a:ext cx="0" cy="1216048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2430BDC8-51D4-4324-9097-041F51F8FC42}"/>
              </a:ext>
            </a:extLst>
          </p:cNvPr>
          <p:cNvSpPr/>
          <p:nvPr/>
        </p:nvSpPr>
        <p:spPr>
          <a:xfrm>
            <a:off x="4046700" y="4121506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5A1A06F-424B-4FAE-8092-502982F51B2A}"/>
              </a:ext>
            </a:extLst>
          </p:cNvPr>
          <p:cNvCxnSpPr>
            <a:cxnSpLocks/>
          </p:cNvCxnSpPr>
          <p:nvPr/>
        </p:nvCxnSpPr>
        <p:spPr>
          <a:xfrm flipH="1">
            <a:off x="1900239" y="4182996"/>
            <a:ext cx="1361439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45DC65B-3A06-48C1-B58C-CD6BCEC0E608}"/>
              </a:ext>
            </a:extLst>
          </p:cNvPr>
          <p:cNvCxnSpPr>
            <a:cxnSpLocks/>
          </p:cNvCxnSpPr>
          <p:nvPr/>
        </p:nvCxnSpPr>
        <p:spPr>
          <a:xfrm>
            <a:off x="3338739" y="4270929"/>
            <a:ext cx="0" cy="1226468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8873771F-0678-4762-87FE-6E206EFC11CF}"/>
              </a:ext>
            </a:extLst>
          </p:cNvPr>
          <p:cNvSpPr/>
          <p:nvPr/>
        </p:nvSpPr>
        <p:spPr>
          <a:xfrm>
            <a:off x="1932182" y="545732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ED2CE84-5AF1-40BA-837B-13243B1FF8F4}"/>
              </a:ext>
            </a:extLst>
          </p:cNvPr>
          <p:cNvCxnSpPr>
            <a:cxnSpLocks/>
          </p:cNvCxnSpPr>
          <p:nvPr/>
        </p:nvCxnSpPr>
        <p:spPr>
          <a:xfrm>
            <a:off x="2075215" y="5518285"/>
            <a:ext cx="3230402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55FD58A0-4C22-4F41-A346-5023393F859A}"/>
              </a:ext>
            </a:extLst>
          </p:cNvPr>
          <p:cNvSpPr/>
          <p:nvPr/>
        </p:nvSpPr>
        <p:spPr>
          <a:xfrm>
            <a:off x="5305617" y="5457325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BAF3E7B-93AD-4C31-A6E9-1497DB0A56C4}"/>
              </a:ext>
            </a:extLst>
          </p:cNvPr>
          <p:cNvCxnSpPr>
            <a:cxnSpLocks/>
          </p:cNvCxnSpPr>
          <p:nvPr/>
        </p:nvCxnSpPr>
        <p:spPr>
          <a:xfrm flipH="1">
            <a:off x="1900239" y="2413000"/>
            <a:ext cx="153863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73FF828-4722-48D9-8630-F4DD8A3CD7B6}"/>
              </a:ext>
            </a:extLst>
          </p:cNvPr>
          <p:cNvCxnSpPr>
            <a:cxnSpLocks/>
          </p:cNvCxnSpPr>
          <p:nvPr/>
        </p:nvCxnSpPr>
        <p:spPr>
          <a:xfrm flipH="1">
            <a:off x="1910485" y="2816877"/>
            <a:ext cx="1369875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4E49F75-0A32-4661-BCE3-8BB5C4F1560B}"/>
              </a:ext>
            </a:extLst>
          </p:cNvPr>
          <p:cNvCxnSpPr>
            <a:cxnSpLocks/>
          </p:cNvCxnSpPr>
          <p:nvPr/>
        </p:nvCxnSpPr>
        <p:spPr>
          <a:xfrm flipV="1">
            <a:off x="2480254" y="4441709"/>
            <a:ext cx="230339" cy="173813"/>
          </a:xfrm>
          <a:prstGeom prst="lin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F81AE85-2C99-48F0-88DE-63F6278C1036}"/>
              </a:ext>
            </a:extLst>
          </p:cNvPr>
          <p:cNvCxnSpPr>
            <a:cxnSpLocks/>
          </p:cNvCxnSpPr>
          <p:nvPr/>
        </p:nvCxnSpPr>
        <p:spPr>
          <a:xfrm flipV="1">
            <a:off x="2190423" y="4656280"/>
            <a:ext cx="262543" cy="308893"/>
          </a:xfrm>
          <a:prstGeom prst="lin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503A6A1-5A9A-4BA3-A633-8D98601533DB}"/>
              </a:ext>
            </a:extLst>
          </p:cNvPr>
          <p:cNvCxnSpPr>
            <a:cxnSpLocks/>
          </p:cNvCxnSpPr>
          <p:nvPr/>
        </p:nvCxnSpPr>
        <p:spPr>
          <a:xfrm flipV="1">
            <a:off x="2054102" y="4995653"/>
            <a:ext cx="123621" cy="255797"/>
          </a:xfrm>
          <a:prstGeom prst="lin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D864A50-A973-4F6B-BDB6-5B20BAB76985}"/>
              </a:ext>
            </a:extLst>
          </p:cNvPr>
          <p:cNvCxnSpPr>
            <a:cxnSpLocks/>
            <a:endCxn id="64" idx="0"/>
          </p:cNvCxnSpPr>
          <p:nvPr/>
        </p:nvCxnSpPr>
        <p:spPr>
          <a:xfrm flipH="1">
            <a:off x="1993142" y="5276850"/>
            <a:ext cx="48164" cy="180475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E53691D-BDCF-454D-8611-E35B1F20A720}"/>
              </a:ext>
            </a:extLst>
          </p:cNvPr>
          <p:cNvCxnSpPr>
            <a:cxnSpLocks/>
          </p:cNvCxnSpPr>
          <p:nvPr/>
        </p:nvCxnSpPr>
        <p:spPr>
          <a:xfrm>
            <a:off x="4599516" y="4403014"/>
            <a:ext cx="263525" cy="207863"/>
          </a:xfrm>
          <a:prstGeom prst="line">
            <a:avLst/>
          </a:prstGeom>
          <a:ln w="381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6DF3F25-6A4F-4735-B4E8-F9F52CCD2925}"/>
              </a:ext>
            </a:extLst>
          </p:cNvPr>
          <p:cNvCxnSpPr>
            <a:cxnSpLocks/>
          </p:cNvCxnSpPr>
          <p:nvPr/>
        </p:nvCxnSpPr>
        <p:spPr>
          <a:xfrm>
            <a:off x="4840585" y="4586500"/>
            <a:ext cx="293390" cy="378673"/>
          </a:xfrm>
          <a:prstGeom prst="line">
            <a:avLst/>
          </a:prstGeom>
          <a:ln w="381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255792B-CD4F-437C-910E-4DBFAF0D389B}"/>
              </a:ext>
            </a:extLst>
          </p:cNvPr>
          <p:cNvCxnSpPr>
            <a:cxnSpLocks/>
          </p:cNvCxnSpPr>
          <p:nvPr/>
        </p:nvCxnSpPr>
        <p:spPr>
          <a:xfrm>
            <a:off x="5150101" y="4993748"/>
            <a:ext cx="111125" cy="247398"/>
          </a:xfrm>
          <a:prstGeom prst="line">
            <a:avLst/>
          </a:prstGeom>
          <a:ln w="381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DB8B7F0-8D25-4B37-8A26-1DF575B80846}"/>
              </a:ext>
            </a:extLst>
          </p:cNvPr>
          <p:cNvCxnSpPr>
            <a:cxnSpLocks/>
          </p:cNvCxnSpPr>
          <p:nvPr/>
        </p:nvCxnSpPr>
        <p:spPr>
          <a:xfrm>
            <a:off x="5279231" y="5276850"/>
            <a:ext cx="69057" cy="161415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8D5EB2A-E137-4152-A6DB-B8E3259FF3E2}"/>
              </a:ext>
            </a:extLst>
          </p:cNvPr>
          <p:cNvSpPr/>
          <p:nvPr/>
        </p:nvSpPr>
        <p:spPr>
          <a:xfrm>
            <a:off x="2057730" y="235204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C66E0E5-CD6E-4EBF-B3A5-A32890453978}"/>
              </a:ext>
            </a:extLst>
          </p:cNvPr>
          <p:cNvSpPr/>
          <p:nvPr/>
        </p:nvSpPr>
        <p:spPr>
          <a:xfrm>
            <a:off x="3277955" y="2746722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DA5C9C6-D78F-407E-956F-050414B182EC}"/>
              </a:ext>
            </a:extLst>
          </p:cNvPr>
          <p:cNvSpPr/>
          <p:nvPr/>
        </p:nvSpPr>
        <p:spPr>
          <a:xfrm>
            <a:off x="3277955" y="412150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2F902A6-755C-46DC-B1D5-D554513B9002}"/>
              </a:ext>
            </a:extLst>
          </p:cNvPr>
          <p:cNvSpPr/>
          <p:nvPr/>
        </p:nvSpPr>
        <p:spPr>
          <a:xfrm>
            <a:off x="3251752" y="2746722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1CCDA18-3542-4DF0-9E75-A53C2CBA4E45}"/>
              </a:ext>
            </a:extLst>
          </p:cNvPr>
          <p:cNvSpPr txBox="1"/>
          <p:nvPr/>
        </p:nvSpPr>
        <p:spPr>
          <a:xfrm>
            <a:off x="2787797" y="1889438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A71FFAC-1CD5-4A78-9C4E-EDC07F858E9D}"/>
              </a:ext>
            </a:extLst>
          </p:cNvPr>
          <p:cNvSpPr txBox="1"/>
          <p:nvPr/>
        </p:nvSpPr>
        <p:spPr>
          <a:xfrm>
            <a:off x="2797971" y="2155137"/>
            <a:ext cx="45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B2CF22A-EF48-4861-8C03-A58BC9E4A1A2}"/>
              </a:ext>
            </a:extLst>
          </p:cNvPr>
          <p:cNvSpPr txBox="1"/>
          <p:nvPr/>
        </p:nvSpPr>
        <p:spPr>
          <a:xfrm>
            <a:off x="3173645" y="2522882"/>
            <a:ext cx="45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5DBE2D0-98C5-40C8-8BC5-A4C8280CA367}"/>
              </a:ext>
            </a:extLst>
          </p:cNvPr>
          <p:cNvSpPr txBox="1"/>
          <p:nvPr/>
        </p:nvSpPr>
        <p:spPr>
          <a:xfrm>
            <a:off x="3322533" y="4549664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3"/>
                </a:solidFill>
              </a:rPr>
              <a:t>System</a:t>
            </a:r>
            <a:endParaRPr lang="en-GB" i="1" dirty="0">
              <a:solidFill>
                <a:schemeClr val="accent3"/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D329A34-9865-44EB-A093-C04BC78E4F80}"/>
              </a:ext>
            </a:extLst>
          </p:cNvPr>
          <p:cNvSpPr txBox="1"/>
          <p:nvPr/>
        </p:nvSpPr>
        <p:spPr>
          <a:xfrm>
            <a:off x="1811041" y="2411350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C6F6B2C5-DC37-41A7-94A3-19D4D8F99D2B}"/>
              </a:ext>
            </a:extLst>
          </p:cNvPr>
          <p:cNvSpPr txBox="1"/>
          <p:nvPr/>
        </p:nvSpPr>
        <p:spPr>
          <a:xfrm>
            <a:off x="1811041" y="2569565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33917BF-931E-4C3A-99C7-9984BD623BF7}"/>
              </a:ext>
            </a:extLst>
          </p:cNvPr>
          <p:cNvSpPr txBox="1"/>
          <p:nvPr/>
        </p:nvSpPr>
        <p:spPr>
          <a:xfrm>
            <a:off x="1795069" y="3937141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T3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6B85399-A152-42A8-8A82-031D3A333C7F}"/>
              </a:ext>
            </a:extLst>
          </p:cNvPr>
          <p:cNvSpPr txBox="1"/>
          <p:nvPr/>
        </p:nvSpPr>
        <p:spPr>
          <a:xfrm>
            <a:off x="2973720" y="1910820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accent6"/>
                </a:solidFill>
              </a:rPr>
              <a:t>Liquid</a:t>
            </a:r>
            <a:br>
              <a:rPr lang="en-GB" sz="1200" dirty="0">
                <a:solidFill>
                  <a:schemeClr val="accent6"/>
                </a:solidFill>
              </a:rPr>
            </a:br>
            <a:r>
              <a:rPr lang="en-GB" sz="1200" dirty="0"/>
              <a:t>=</a:t>
            </a:r>
            <a:br>
              <a:rPr lang="en-GB" sz="1200" dirty="0">
                <a:solidFill>
                  <a:schemeClr val="accent6"/>
                </a:solidFill>
              </a:rPr>
            </a:br>
            <a:r>
              <a:rPr lang="en-GB" sz="1200" dirty="0">
                <a:solidFill>
                  <a:schemeClr val="accent3"/>
                </a:solidFill>
              </a:rPr>
              <a:t>System</a:t>
            </a:r>
            <a:endParaRPr lang="en-GB" dirty="0">
              <a:solidFill>
                <a:schemeClr val="accent3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29D1003-5E8C-4CCB-ADCB-BC13A82CBD2F}"/>
              </a:ext>
            </a:extLst>
          </p:cNvPr>
          <p:cNvSpPr txBox="1"/>
          <p:nvPr/>
        </p:nvSpPr>
        <p:spPr>
          <a:xfrm>
            <a:off x="1812619" y="2848660"/>
            <a:ext cx="1202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Ab-rich </a:t>
            </a:r>
            <a:r>
              <a:rPr lang="en-GB" sz="1200" i="1" dirty="0" err="1">
                <a:solidFill>
                  <a:schemeClr val="accent1"/>
                </a:solidFill>
              </a:rPr>
              <a:t>afs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5857A26-F782-4175-90D8-CDA5F1952469}"/>
              </a:ext>
            </a:extLst>
          </p:cNvPr>
          <p:cNvSpPr txBox="1"/>
          <p:nvPr/>
        </p:nvSpPr>
        <p:spPr>
          <a:xfrm>
            <a:off x="2308974" y="3898437"/>
            <a:ext cx="1202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Ab-rich </a:t>
            </a:r>
            <a:r>
              <a:rPr lang="en-GB" sz="1200" i="1" dirty="0" err="1">
                <a:solidFill>
                  <a:schemeClr val="accent1"/>
                </a:solidFill>
              </a:rPr>
              <a:t>afs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992EA0C-F26C-465F-AB1F-718D15AA19CB}"/>
              </a:ext>
            </a:extLst>
          </p:cNvPr>
          <p:cNvSpPr txBox="1"/>
          <p:nvPr/>
        </p:nvSpPr>
        <p:spPr>
          <a:xfrm>
            <a:off x="4077052" y="3903932"/>
            <a:ext cx="1202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Or-rich </a:t>
            </a:r>
            <a:r>
              <a:rPr lang="en-GB" sz="1200" i="1" dirty="0" err="1">
                <a:solidFill>
                  <a:schemeClr val="accent4"/>
                </a:solidFill>
              </a:rPr>
              <a:t>afs</a:t>
            </a:r>
            <a:r>
              <a:rPr lang="en-GB" sz="1200" i="1" baseline="-25000" dirty="0" err="1">
                <a:solidFill>
                  <a:schemeClr val="accent4"/>
                </a:solidFill>
              </a:rPr>
              <a:t>ss</a:t>
            </a:r>
            <a:endParaRPr lang="en-GB" sz="1200" i="1" baseline="-25000" dirty="0">
              <a:solidFill>
                <a:schemeClr val="accent4"/>
              </a:solidFill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15C65F1-8114-4014-92B6-8AC363ED612E}"/>
              </a:ext>
            </a:extLst>
          </p:cNvPr>
          <p:cNvCxnSpPr>
            <a:cxnSpLocks/>
          </p:cNvCxnSpPr>
          <p:nvPr/>
        </p:nvCxnSpPr>
        <p:spPr>
          <a:xfrm>
            <a:off x="4190678" y="4205134"/>
            <a:ext cx="397197" cy="184040"/>
          </a:xfrm>
          <a:prstGeom prst="line">
            <a:avLst/>
          </a:prstGeom>
          <a:ln w="381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B1AD38E-5D1A-452B-8C7A-082D5D251BB5}"/>
              </a:ext>
            </a:extLst>
          </p:cNvPr>
          <p:cNvCxnSpPr>
            <a:cxnSpLocks/>
          </p:cNvCxnSpPr>
          <p:nvPr/>
        </p:nvCxnSpPr>
        <p:spPr>
          <a:xfrm flipV="1">
            <a:off x="2726837" y="4202628"/>
            <a:ext cx="527952" cy="227176"/>
          </a:xfrm>
          <a:prstGeom prst="lin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922C97D-DC95-4D3D-8B08-EC02F1D078CC}"/>
              </a:ext>
            </a:extLst>
          </p:cNvPr>
          <p:cNvSpPr txBox="1"/>
          <p:nvPr/>
        </p:nvSpPr>
        <p:spPr>
          <a:xfrm>
            <a:off x="7027710" y="5639110"/>
            <a:ext cx="3470580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Exsolution depends on cooling rate; we’ll discuss this with pyroxenes next</a:t>
            </a:r>
          </a:p>
        </p:txBody>
      </p:sp>
    </p:spTree>
    <p:extLst>
      <p:ext uri="{BB962C8B-B14F-4D97-AF65-F5344CB8AC3E}">
        <p14:creationId xmlns:p14="http://schemas.microsoft.com/office/powerpoint/2010/main" val="9875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55" grpId="0" animBg="1"/>
      <p:bldP spid="64" grpId="0" animBg="1"/>
      <p:bldP spid="69" grpId="0" animBg="1"/>
      <p:bldP spid="23" grpId="0" animBg="1"/>
      <p:bldP spid="18" grpId="0" animBg="1"/>
      <p:bldP spid="46" grpId="0" animBg="1"/>
      <p:bldP spid="27" grpId="0" animBg="1"/>
      <p:bldP spid="166" grpId="0"/>
      <p:bldP spid="167" grpId="0"/>
      <p:bldP spid="168" grpId="0"/>
      <p:bldP spid="169" grpId="0"/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7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Melting and crystallisation in geochemical systems: phase diagram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4</a:t>
            </a:r>
          </a:p>
          <a:p>
            <a:r>
              <a:rPr lang="en-GB" dirty="0"/>
              <a:t>Part 4 | Pyroxenes and exsolution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098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a solvus: a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8" y="1825624"/>
                <a:ext cx="5675372" cy="4530725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The degree of alkali feldspar solid solution depends on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conditions</a:t>
                </a:r>
              </a:p>
              <a:p>
                <a:r>
                  <a:rPr lang="en-GB" dirty="0"/>
                  <a:t>Solid solution extensive at high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but limited at low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(Goldschmidt’s Rules)</a:t>
                </a:r>
              </a:p>
              <a:p>
                <a:r>
                  <a:rPr lang="en-GB" dirty="0"/>
                  <a:t>Multiple solid phases occur below the solvus at equilibrium</a:t>
                </a:r>
              </a:p>
              <a:p>
                <a:r>
                  <a:rPr lang="en-GB" dirty="0"/>
                  <a:t>Separation of multiple solids from a single solid phase is called exsolution</a:t>
                </a:r>
              </a:p>
              <a:p>
                <a:r>
                  <a:rPr lang="en-GB" dirty="0"/>
                  <a:t>The extent to which exsolution occurs depends on the cooling rate (kinetics)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8" y="1825624"/>
                <a:ext cx="5675372" cy="4530725"/>
              </a:xfrm>
              <a:blipFill>
                <a:blip r:embed="rId3"/>
                <a:stretch>
                  <a:fillRect l="-1504" t="-17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21</a:t>
            </a:fld>
            <a:endParaRPr lang="en-GB"/>
          </a:p>
        </p:txBody>
      </p:sp>
      <p:pic>
        <p:nvPicPr>
          <p:cNvPr id="15" name="Content Placeholder 8">
            <a:extLst>
              <a:ext uri="{FF2B5EF4-FFF2-40B4-BE49-F238E27FC236}">
                <a16:creationId xmlns:a16="http://schemas.microsoft.com/office/drawing/2014/main" id="{CB38B7CC-567B-4324-8BCD-739E72D1E8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603" y="1840260"/>
            <a:ext cx="4500000" cy="409563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3225B4-C72F-420C-8E18-9F38B5251D95}"/>
              </a:ext>
            </a:extLst>
          </p:cNvPr>
          <p:cNvSpPr txBox="1"/>
          <p:nvPr/>
        </p:nvSpPr>
        <p:spPr>
          <a:xfrm>
            <a:off x="6829892" y="5782006"/>
            <a:ext cx="3561415" cy="30777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We’ll discuss kinetics more in Lecture 5</a:t>
            </a:r>
          </a:p>
        </p:txBody>
      </p:sp>
    </p:spTree>
    <p:extLst>
      <p:ext uri="{BB962C8B-B14F-4D97-AF65-F5344CB8AC3E}">
        <p14:creationId xmlns:p14="http://schemas.microsoft.com/office/powerpoint/2010/main" val="391367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6438E-BA56-4C03-9D63-7A6E3E284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diagrams and mineral textures: pyroxenes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CE0845A-BBBE-4CAB-9A07-1E82D5D3B46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1825625"/>
                <a:ext cx="5257800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Solvus intersects eutectic </a:t>
                </a:r>
              </a:p>
              <a:p>
                <a:pPr marL="0" indent="0">
                  <a:buNone/>
                </a:pPr>
                <a:r>
                  <a:rPr lang="en-GB" dirty="0"/>
                  <a:t>Characteristic rabbit-ears shape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: 	Enstatite (</a:t>
                </a:r>
                <a:r>
                  <a:rPr lang="en-GB" dirty="0" err="1"/>
                  <a:t>En</a:t>
                </a:r>
                <a:r>
                  <a:rPr lang="en-GB" dirty="0"/>
                  <a:t>; MgSiO</a:t>
                </a:r>
                <a:r>
                  <a:rPr lang="en-GB" baseline="-25000" dirty="0"/>
                  <a:t>3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	Diopside (Di; CaMgSi</a:t>
                </a:r>
                <a:r>
                  <a:rPr lang="en-GB" baseline="-25000" dirty="0"/>
                  <a:t>2</a:t>
                </a:r>
                <a:r>
                  <a:rPr lang="en-GB" dirty="0"/>
                  <a:t>O</a:t>
                </a:r>
                <a:r>
                  <a:rPr lang="en-GB" baseline="-25000" dirty="0"/>
                  <a:t>6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GB" dirty="0"/>
                  <a:t>:	orthopyroxene (</a:t>
                </a:r>
                <a:r>
                  <a:rPr lang="en-GB" dirty="0" err="1"/>
                  <a:t>Opx</a:t>
                </a:r>
                <a:r>
                  <a:rPr lang="en-GB" baseline="-25000" dirty="0" err="1"/>
                  <a:t>ss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	pigeonite (</a:t>
                </a:r>
                <a:r>
                  <a:rPr lang="en-GB" dirty="0" err="1"/>
                  <a:t>Pig</a:t>
                </a:r>
                <a:r>
                  <a:rPr lang="en-GB" baseline="-25000" dirty="0" err="1"/>
                  <a:t>ss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	augite (</a:t>
                </a:r>
                <a:r>
                  <a:rPr lang="en-GB" dirty="0" err="1"/>
                  <a:t>Aug</a:t>
                </a:r>
                <a:r>
                  <a:rPr lang="en-GB" baseline="-25000" dirty="0" err="1"/>
                  <a:t>ss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	melt (</a:t>
                </a:r>
                <a:r>
                  <a:rPr lang="en-GB" i="1" dirty="0"/>
                  <a:t>L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Pigeonite is stable at higher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than orthopyroxene and hosts some Ca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CE0845A-BBBE-4CAB-9A07-1E82D5D3B4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1825625"/>
                <a:ext cx="5257800" cy="4667250"/>
              </a:xfrm>
              <a:blipFill>
                <a:blip r:embed="rId2"/>
                <a:stretch>
                  <a:fillRect l="-1738" t="-1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6EA40-4F1F-4113-91EE-09D55139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760F3-F315-41E4-9EC4-6BA3FDD0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CE94F-D973-4AB6-8B0E-FD41DFEEF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22</a:t>
            </a:fld>
            <a:endParaRPr lang="en-GB"/>
          </a:p>
        </p:txBody>
      </p:sp>
      <p:pic>
        <p:nvPicPr>
          <p:cNvPr id="11" name="Content Placeholder 92">
            <a:extLst>
              <a:ext uri="{FF2B5EF4-FFF2-40B4-BE49-F238E27FC236}">
                <a16:creationId xmlns:a16="http://schemas.microsoft.com/office/drawing/2014/main" id="{BAC6ACA8-654E-4163-8B92-E45673C50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3803" y="1840257"/>
            <a:ext cx="4748794" cy="4322073"/>
          </a:xfrm>
          <a:prstGeom prst="rect">
            <a:avLst/>
          </a:prstGeom>
        </p:spPr>
      </p:pic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554D2418-3876-4F6C-A0A8-9376CB96B3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6725" y="2723660"/>
            <a:ext cx="3638550" cy="3311594"/>
          </a:xfrm>
        </p:spPr>
      </p:pic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B93A004E-5389-4C47-B75F-755F881F3E45}"/>
              </a:ext>
            </a:extLst>
          </p:cNvPr>
          <p:cNvSpPr/>
          <p:nvPr/>
        </p:nvSpPr>
        <p:spPr>
          <a:xfrm>
            <a:off x="8133260" y="3623128"/>
            <a:ext cx="477340" cy="75632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345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Content Placeholder 92">
            <a:extLst>
              <a:ext uri="{FF2B5EF4-FFF2-40B4-BE49-F238E27FC236}">
                <a16:creationId xmlns:a16="http://schemas.microsoft.com/office/drawing/2014/main" id="{94F434DE-85C1-456A-88E0-0C2238194A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3803" y="1840257"/>
            <a:ext cx="4748794" cy="432207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4172E7-68C9-4B8D-AE7C-346D5CE4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diagrams and mineral textures: pyroxenes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5D6C6-DA1E-4AA8-944B-2A2B288FA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i="1" dirty="0"/>
              <a:t>Slow cooling </a:t>
            </a:r>
            <a:r>
              <a:rPr lang="en-GB" sz="1600" i="1" dirty="0"/>
              <a:t>(equilibrium)</a:t>
            </a:r>
            <a:endParaRPr lang="en-GB" sz="2000" i="1" dirty="0"/>
          </a:p>
          <a:p>
            <a:r>
              <a:rPr lang="en-GB" sz="2000" dirty="0"/>
              <a:t>Di-rich augite is the first solid to crystallise</a:t>
            </a:r>
          </a:p>
          <a:p>
            <a:r>
              <a:rPr lang="en-GB" sz="2000" dirty="0"/>
              <a:t>Melt and augite become richer in </a:t>
            </a:r>
            <a:r>
              <a:rPr lang="en-GB" sz="2000" dirty="0" err="1"/>
              <a:t>En</a:t>
            </a:r>
            <a:r>
              <a:rPr lang="en-GB" sz="2000" dirty="0"/>
              <a:t> until the eutectic is reached, where Di-poor pigeonite and Di-rich augite crystallise</a:t>
            </a:r>
          </a:p>
          <a:p>
            <a:r>
              <a:rPr lang="en-GB" sz="2000" dirty="0"/>
              <a:t>Once the system has solidified, augite exsolves from pigeonite and vice versa</a:t>
            </a:r>
          </a:p>
          <a:p>
            <a:pPr lvl="1"/>
            <a:r>
              <a:rPr lang="en-GB" sz="1600" dirty="0"/>
              <a:t>Augite becomes richer in Di</a:t>
            </a:r>
          </a:p>
          <a:p>
            <a:pPr lvl="1"/>
            <a:r>
              <a:rPr lang="en-GB" sz="1600" dirty="0"/>
              <a:t>Pigeonite becomes poorer in Di</a:t>
            </a:r>
          </a:p>
          <a:p>
            <a:r>
              <a:rPr lang="en-GB" sz="2000" dirty="0"/>
              <a:t>Eventually, Di-rich pigeonite undergoes a phase transition to Di-poor orthopyroxene</a:t>
            </a:r>
          </a:p>
          <a:p>
            <a:r>
              <a:rPr lang="en-GB" sz="2000" dirty="0"/>
              <a:t>Orthopyroxene exsolves from augite and vice versa, changing compositions further</a:t>
            </a:r>
            <a:endParaRPr lang="en-GB" dirty="0"/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2D0B6-4CF4-41DA-BDFC-24380093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DAA65-7183-4CC9-83EA-1E2165FC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</a:t>
            </a:r>
            <a:r>
              <a:rPr lang="en-GB"/>
              <a:t>Part 4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94D67-7ED0-4B46-A81F-8D64B7C6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23</a:t>
            </a:fld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4E763F-B17F-4365-8B05-68ACF6D94D12}"/>
              </a:ext>
            </a:extLst>
          </p:cNvPr>
          <p:cNvSpPr/>
          <p:nvPr/>
        </p:nvSpPr>
        <p:spPr>
          <a:xfrm>
            <a:off x="4161468" y="1996995"/>
            <a:ext cx="121761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B69F24-1951-490B-941B-C6DD04F3BACB}"/>
              </a:ext>
            </a:extLst>
          </p:cNvPr>
          <p:cNvCxnSpPr>
            <a:cxnSpLocks/>
          </p:cNvCxnSpPr>
          <p:nvPr/>
        </p:nvCxnSpPr>
        <p:spPr>
          <a:xfrm>
            <a:off x="4222348" y="2124367"/>
            <a:ext cx="0" cy="311980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3E845F-A56A-4E76-9823-849B55EA2577}"/>
              </a:ext>
            </a:extLst>
          </p:cNvPr>
          <p:cNvCxnSpPr>
            <a:cxnSpLocks/>
          </p:cNvCxnSpPr>
          <p:nvPr/>
        </p:nvCxnSpPr>
        <p:spPr>
          <a:xfrm>
            <a:off x="4299359" y="2502288"/>
            <a:ext cx="9482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65F241-3BB3-4CA3-A81F-E3B8496F97BD}"/>
              </a:ext>
            </a:extLst>
          </p:cNvPr>
          <p:cNvCxnSpPr>
            <a:cxnSpLocks/>
          </p:cNvCxnSpPr>
          <p:nvPr/>
        </p:nvCxnSpPr>
        <p:spPr>
          <a:xfrm flipH="1">
            <a:off x="3594147" y="2577538"/>
            <a:ext cx="540115" cy="371225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CA34DA-0A6B-4F9D-A3D2-29419146E250}"/>
              </a:ext>
            </a:extLst>
          </p:cNvPr>
          <p:cNvCxnSpPr>
            <a:cxnSpLocks/>
          </p:cNvCxnSpPr>
          <p:nvPr/>
        </p:nvCxnSpPr>
        <p:spPr>
          <a:xfrm flipH="1">
            <a:off x="1842353" y="2502288"/>
            <a:ext cx="2319036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E8A90D-1BEE-48EF-AF53-5BB27FDA434C}"/>
              </a:ext>
            </a:extLst>
          </p:cNvPr>
          <p:cNvCxnSpPr>
            <a:cxnSpLocks/>
          </p:cNvCxnSpPr>
          <p:nvPr/>
        </p:nvCxnSpPr>
        <p:spPr>
          <a:xfrm flipH="1">
            <a:off x="1842353" y="2997317"/>
            <a:ext cx="602748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4318B6A-5D01-492E-9A75-6F0A9906BF0B}"/>
              </a:ext>
            </a:extLst>
          </p:cNvPr>
          <p:cNvSpPr/>
          <p:nvPr/>
        </p:nvSpPr>
        <p:spPr>
          <a:xfrm>
            <a:off x="4492667" y="2936357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293B66-F79B-4199-8344-4DAF7CFD53E9}"/>
              </a:ext>
            </a:extLst>
          </p:cNvPr>
          <p:cNvSpPr txBox="1"/>
          <p:nvPr/>
        </p:nvSpPr>
        <p:spPr>
          <a:xfrm>
            <a:off x="4213306" y="1871735"/>
            <a:ext cx="26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E1D208-65FD-4796-BB5B-DA3452AA8B99}"/>
              </a:ext>
            </a:extLst>
          </p:cNvPr>
          <p:cNvSpPr txBox="1"/>
          <p:nvPr/>
        </p:nvSpPr>
        <p:spPr>
          <a:xfrm>
            <a:off x="1478151" y="2347663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3B44B4-7F32-4780-84A6-DACF4477EC7C}"/>
              </a:ext>
            </a:extLst>
          </p:cNvPr>
          <p:cNvSpPr txBox="1"/>
          <p:nvPr/>
        </p:nvSpPr>
        <p:spPr>
          <a:xfrm>
            <a:off x="1478151" y="2857748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329A66-67F7-4F66-A443-DF2F776AC6A7}"/>
              </a:ext>
            </a:extLst>
          </p:cNvPr>
          <p:cNvSpPr txBox="1"/>
          <p:nvPr/>
        </p:nvSpPr>
        <p:spPr>
          <a:xfrm>
            <a:off x="4422188" y="2509503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Aug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22ACD6-3789-4537-A2F7-29B9DC2A380E}"/>
              </a:ext>
            </a:extLst>
          </p:cNvPr>
          <p:cNvSpPr txBox="1"/>
          <p:nvPr/>
        </p:nvSpPr>
        <p:spPr>
          <a:xfrm>
            <a:off x="3573297" y="2081496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3"/>
                </a:solidFill>
              </a:rPr>
              <a:t>System</a:t>
            </a:r>
            <a:endParaRPr lang="en-GB" i="1" dirty="0">
              <a:solidFill>
                <a:schemeClr val="accent3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66E89D-E9B4-4011-9C4B-689DD6A55ED0}"/>
              </a:ext>
            </a:extLst>
          </p:cNvPr>
          <p:cNvSpPr/>
          <p:nvPr/>
        </p:nvSpPr>
        <p:spPr>
          <a:xfrm>
            <a:off x="4161388" y="2441328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2D311C7-845B-4B2E-86FC-07100CD0BF33}"/>
              </a:ext>
            </a:extLst>
          </p:cNvPr>
          <p:cNvSpPr/>
          <p:nvPr/>
        </p:nvSpPr>
        <p:spPr>
          <a:xfrm>
            <a:off x="5247598" y="2441328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5BE9A6-0F66-4DC8-9B89-F770EF8CBB45}"/>
              </a:ext>
            </a:extLst>
          </p:cNvPr>
          <p:cNvCxnSpPr>
            <a:cxnSpLocks/>
          </p:cNvCxnSpPr>
          <p:nvPr/>
        </p:nvCxnSpPr>
        <p:spPr>
          <a:xfrm flipH="1">
            <a:off x="3533764" y="2996248"/>
            <a:ext cx="9482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3D13660-EF9D-4F91-8F0C-03CD14EDC37C}"/>
              </a:ext>
            </a:extLst>
          </p:cNvPr>
          <p:cNvCxnSpPr>
            <a:cxnSpLocks/>
          </p:cNvCxnSpPr>
          <p:nvPr/>
        </p:nvCxnSpPr>
        <p:spPr>
          <a:xfrm flipH="1">
            <a:off x="2566443" y="2997317"/>
            <a:ext cx="1915560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799F44B-701A-4F4A-963F-52B7DA30BEF5}"/>
              </a:ext>
            </a:extLst>
          </p:cNvPr>
          <p:cNvCxnSpPr>
            <a:cxnSpLocks/>
          </p:cNvCxnSpPr>
          <p:nvPr/>
        </p:nvCxnSpPr>
        <p:spPr>
          <a:xfrm flipH="1">
            <a:off x="4656990" y="2577901"/>
            <a:ext cx="590031" cy="370862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22C470C-0522-4431-AB0E-53B91B3771C9}"/>
              </a:ext>
            </a:extLst>
          </p:cNvPr>
          <p:cNvCxnSpPr>
            <a:cxnSpLocks/>
          </p:cNvCxnSpPr>
          <p:nvPr/>
        </p:nvCxnSpPr>
        <p:spPr>
          <a:xfrm flipH="1">
            <a:off x="2032000" y="4254996"/>
            <a:ext cx="2847890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862AAA0-7237-4BE2-9D2A-146F0C490FCD}"/>
              </a:ext>
            </a:extLst>
          </p:cNvPr>
          <p:cNvCxnSpPr>
            <a:cxnSpLocks/>
          </p:cNvCxnSpPr>
          <p:nvPr/>
        </p:nvCxnSpPr>
        <p:spPr>
          <a:xfrm flipH="1" flipV="1">
            <a:off x="2252905" y="4252063"/>
            <a:ext cx="2626986" cy="5314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469A0E31-B7D5-49C2-A080-A1A2FB65028F}"/>
              </a:ext>
            </a:extLst>
          </p:cNvPr>
          <p:cNvSpPr/>
          <p:nvPr/>
        </p:nvSpPr>
        <p:spPr>
          <a:xfrm>
            <a:off x="1964273" y="4194036"/>
            <a:ext cx="121920" cy="12192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280BFEC-D4DC-46C3-BAED-E96B83033726}"/>
              </a:ext>
            </a:extLst>
          </p:cNvPr>
          <p:cNvCxnSpPr>
            <a:cxnSpLocks/>
          </p:cNvCxnSpPr>
          <p:nvPr/>
        </p:nvCxnSpPr>
        <p:spPr>
          <a:xfrm flipH="1">
            <a:off x="1964273" y="5515968"/>
            <a:ext cx="3315075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49B4114-93B3-4525-A9DD-BE4DA4B5A011}"/>
              </a:ext>
            </a:extLst>
          </p:cNvPr>
          <p:cNvCxnSpPr>
            <a:cxnSpLocks/>
          </p:cNvCxnSpPr>
          <p:nvPr/>
        </p:nvCxnSpPr>
        <p:spPr>
          <a:xfrm>
            <a:off x="4867040" y="3624725"/>
            <a:ext cx="77265" cy="554340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28055D2-9EF5-4DD9-933A-9F304AC80F3E}"/>
              </a:ext>
            </a:extLst>
          </p:cNvPr>
          <p:cNvCxnSpPr>
            <a:cxnSpLocks/>
          </p:cNvCxnSpPr>
          <p:nvPr/>
        </p:nvCxnSpPr>
        <p:spPr>
          <a:xfrm>
            <a:off x="5247598" y="4692650"/>
            <a:ext cx="78198" cy="743461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561BAE3-C1BD-4A8B-A172-2AF6F7864023}"/>
              </a:ext>
            </a:extLst>
          </p:cNvPr>
          <p:cNvCxnSpPr>
            <a:cxnSpLocks/>
          </p:cNvCxnSpPr>
          <p:nvPr/>
        </p:nvCxnSpPr>
        <p:spPr>
          <a:xfrm>
            <a:off x="4615164" y="3058277"/>
            <a:ext cx="225244" cy="520803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69F6A5-7970-46F4-BE95-257BE295F27C}"/>
              </a:ext>
            </a:extLst>
          </p:cNvPr>
          <p:cNvCxnSpPr>
            <a:cxnSpLocks/>
          </p:cNvCxnSpPr>
          <p:nvPr/>
        </p:nvCxnSpPr>
        <p:spPr>
          <a:xfrm>
            <a:off x="5003390" y="4304874"/>
            <a:ext cx="248838" cy="35279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2325268-3705-4B62-A19F-77AF0A4DE155}"/>
              </a:ext>
            </a:extLst>
          </p:cNvPr>
          <p:cNvCxnSpPr>
            <a:cxnSpLocks/>
          </p:cNvCxnSpPr>
          <p:nvPr/>
        </p:nvCxnSpPr>
        <p:spPr>
          <a:xfrm flipH="1">
            <a:off x="2270760" y="3096419"/>
            <a:ext cx="192950" cy="539721"/>
          </a:xfrm>
          <a:prstGeom prst="line">
            <a:avLst/>
          </a:prstGeom>
          <a:ln w="381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E7F49BF-73DD-4B40-9B05-B519B80F9822}"/>
              </a:ext>
            </a:extLst>
          </p:cNvPr>
          <p:cNvCxnSpPr>
            <a:cxnSpLocks/>
          </p:cNvCxnSpPr>
          <p:nvPr/>
        </p:nvCxnSpPr>
        <p:spPr>
          <a:xfrm flipH="1">
            <a:off x="2213498" y="3691405"/>
            <a:ext cx="48932" cy="487660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F7F4ADD-2C90-48D5-97D3-BAD3095B8C1E}"/>
              </a:ext>
            </a:extLst>
          </p:cNvPr>
          <p:cNvCxnSpPr>
            <a:cxnSpLocks/>
          </p:cNvCxnSpPr>
          <p:nvPr/>
        </p:nvCxnSpPr>
        <p:spPr>
          <a:xfrm flipH="1">
            <a:off x="1929229" y="4340395"/>
            <a:ext cx="59898" cy="426868"/>
          </a:xfrm>
          <a:prstGeom prst="line">
            <a:avLst/>
          </a:prstGeom>
          <a:ln w="381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BD5ED04-9FFE-4CF2-929D-87146331C9E6}"/>
              </a:ext>
            </a:extLst>
          </p:cNvPr>
          <p:cNvCxnSpPr>
            <a:cxnSpLocks/>
          </p:cNvCxnSpPr>
          <p:nvPr/>
        </p:nvCxnSpPr>
        <p:spPr>
          <a:xfrm flipH="1">
            <a:off x="1893787" y="4793544"/>
            <a:ext cx="26820" cy="642567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D4C4D55-8B63-4371-B088-F5F40C167D36}"/>
              </a:ext>
            </a:extLst>
          </p:cNvPr>
          <p:cNvSpPr txBox="1"/>
          <p:nvPr/>
        </p:nvSpPr>
        <p:spPr>
          <a:xfrm>
            <a:off x="3337353" y="2511235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Liquid</a:t>
            </a:r>
            <a:endParaRPr lang="en-GB" i="1" dirty="0">
              <a:solidFill>
                <a:schemeClr val="accent6"/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3A3CBE5-0EA1-4D3E-AB50-8ADA200333F1}"/>
              </a:ext>
            </a:extLst>
          </p:cNvPr>
          <p:cNvCxnSpPr>
            <a:cxnSpLocks/>
          </p:cNvCxnSpPr>
          <p:nvPr/>
        </p:nvCxnSpPr>
        <p:spPr>
          <a:xfrm>
            <a:off x="4221771" y="2564734"/>
            <a:ext cx="577" cy="431514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B5308E0-F757-4DA4-935D-FE7557023C5B}"/>
              </a:ext>
            </a:extLst>
          </p:cNvPr>
          <p:cNvCxnSpPr>
            <a:cxnSpLocks/>
          </p:cNvCxnSpPr>
          <p:nvPr/>
        </p:nvCxnSpPr>
        <p:spPr>
          <a:xfrm>
            <a:off x="4222348" y="3021132"/>
            <a:ext cx="0" cy="1233864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2D202C2-36BB-4C9D-BC10-530FD1CB4623}"/>
              </a:ext>
            </a:extLst>
          </p:cNvPr>
          <p:cNvCxnSpPr>
            <a:cxnSpLocks/>
          </p:cNvCxnSpPr>
          <p:nvPr/>
        </p:nvCxnSpPr>
        <p:spPr>
          <a:xfrm>
            <a:off x="4222348" y="4267969"/>
            <a:ext cx="0" cy="1239565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3943BB06-2F5C-44F9-9605-C2302AEB61C7}"/>
              </a:ext>
            </a:extLst>
          </p:cNvPr>
          <p:cNvSpPr txBox="1"/>
          <p:nvPr/>
        </p:nvSpPr>
        <p:spPr>
          <a:xfrm>
            <a:off x="4213306" y="2237729"/>
            <a:ext cx="45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C9BB9C0-7ECF-4D51-B37B-23231AB3316F}"/>
              </a:ext>
            </a:extLst>
          </p:cNvPr>
          <p:cNvSpPr txBox="1"/>
          <p:nvPr/>
        </p:nvSpPr>
        <p:spPr>
          <a:xfrm>
            <a:off x="3350273" y="2691253"/>
            <a:ext cx="45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62E4DBC-00C8-4336-8CDE-1057D6074C6E}"/>
              </a:ext>
            </a:extLst>
          </p:cNvPr>
          <p:cNvCxnSpPr>
            <a:cxnSpLocks/>
          </p:cNvCxnSpPr>
          <p:nvPr/>
        </p:nvCxnSpPr>
        <p:spPr>
          <a:xfrm flipH="1">
            <a:off x="1842353" y="4254996"/>
            <a:ext cx="116825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8E7D6E5-26DF-47BF-8F33-A1531F149B1F}"/>
              </a:ext>
            </a:extLst>
          </p:cNvPr>
          <p:cNvSpPr txBox="1"/>
          <p:nvPr/>
        </p:nvSpPr>
        <p:spPr>
          <a:xfrm>
            <a:off x="1478151" y="4116497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1E7BB1-5413-4EC4-964A-8F3CD50731DF}"/>
              </a:ext>
            </a:extLst>
          </p:cNvPr>
          <p:cNvSpPr/>
          <p:nvPr/>
        </p:nvSpPr>
        <p:spPr>
          <a:xfrm>
            <a:off x="3472227" y="2936357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2C46691-9AEE-4F12-BBB4-52AEE4DCF7BF}"/>
              </a:ext>
            </a:extLst>
          </p:cNvPr>
          <p:cNvSpPr/>
          <p:nvPr/>
        </p:nvSpPr>
        <p:spPr>
          <a:xfrm>
            <a:off x="2445100" y="2936357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C0A4102-4737-407C-9FFA-C0BEEA6B767F}"/>
              </a:ext>
            </a:extLst>
          </p:cNvPr>
          <p:cNvSpPr/>
          <p:nvPr/>
        </p:nvSpPr>
        <p:spPr>
          <a:xfrm>
            <a:off x="2148840" y="4194036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6B32F18-2874-4B46-AA7C-61A89A08BCE7}"/>
              </a:ext>
            </a:extLst>
          </p:cNvPr>
          <p:cNvSpPr/>
          <p:nvPr/>
        </p:nvSpPr>
        <p:spPr>
          <a:xfrm>
            <a:off x="4867040" y="419403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4476988-E7A9-4430-A948-5C543C9430E4}"/>
              </a:ext>
            </a:extLst>
          </p:cNvPr>
          <p:cNvSpPr/>
          <p:nvPr/>
        </p:nvSpPr>
        <p:spPr>
          <a:xfrm>
            <a:off x="1842353" y="5446574"/>
            <a:ext cx="121920" cy="12192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14E62D6-40D8-4E1B-B379-D35962D4EF96}"/>
              </a:ext>
            </a:extLst>
          </p:cNvPr>
          <p:cNvSpPr/>
          <p:nvPr/>
        </p:nvSpPr>
        <p:spPr>
          <a:xfrm>
            <a:off x="5279425" y="5446574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705BA8E-9D02-4087-A28D-D4AABC67F61B}"/>
              </a:ext>
            </a:extLst>
          </p:cNvPr>
          <p:cNvSpPr txBox="1"/>
          <p:nvPr/>
        </p:nvSpPr>
        <p:spPr>
          <a:xfrm>
            <a:off x="4533157" y="4276830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Aug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58C7BA-600B-46AD-8CE4-6BD502FA6621}"/>
              </a:ext>
            </a:extLst>
          </p:cNvPr>
          <p:cNvSpPr txBox="1"/>
          <p:nvPr/>
        </p:nvSpPr>
        <p:spPr>
          <a:xfrm>
            <a:off x="1937905" y="4270931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3"/>
                </a:solidFill>
              </a:rPr>
              <a:t>Opx</a:t>
            </a:r>
            <a:r>
              <a:rPr lang="en-GB" sz="1200" i="1" baseline="-25000" dirty="0" err="1">
                <a:solidFill>
                  <a:schemeClr val="accent3"/>
                </a:solidFill>
              </a:rPr>
              <a:t>ss</a:t>
            </a:r>
            <a:endParaRPr lang="en-GB" sz="1200" i="1" baseline="-25000" dirty="0">
              <a:solidFill>
                <a:schemeClr val="accent3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D9EBC28-79AB-46DC-ADDD-8184A9867365}"/>
              </a:ext>
            </a:extLst>
          </p:cNvPr>
          <p:cNvSpPr txBox="1"/>
          <p:nvPr/>
        </p:nvSpPr>
        <p:spPr>
          <a:xfrm>
            <a:off x="4173574" y="3024120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Aug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260DFE8-E145-4C11-8EFE-117168AB3A02}"/>
              </a:ext>
            </a:extLst>
          </p:cNvPr>
          <p:cNvSpPr txBox="1"/>
          <p:nvPr/>
        </p:nvSpPr>
        <p:spPr>
          <a:xfrm>
            <a:off x="2426696" y="3024543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4"/>
                </a:solidFill>
              </a:rPr>
              <a:t>Pig</a:t>
            </a:r>
            <a:r>
              <a:rPr lang="en-GB" sz="1200" i="1" baseline="-25000" dirty="0" err="1">
                <a:solidFill>
                  <a:schemeClr val="accent4"/>
                </a:solidFill>
              </a:rPr>
              <a:t>ss</a:t>
            </a:r>
            <a:endParaRPr lang="en-GB" sz="1200" i="1" baseline="-25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93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4" grpId="0" animBg="1"/>
      <p:bldP spid="24" grpId="0" animBg="1"/>
      <p:bldP spid="26" grpId="0"/>
      <p:bldP spid="28" grpId="0"/>
      <p:bldP spid="29" grpId="0"/>
      <p:bldP spid="31" grpId="0"/>
      <p:bldP spid="32" grpId="0"/>
      <p:bldP spid="33" grpId="0" animBg="1"/>
      <p:bldP spid="35" grpId="0" animBg="1"/>
      <p:bldP spid="56" grpId="0" animBg="1"/>
      <p:bldP spid="94" grpId="0"/>
      <p:bldP spid="102" grpId="0"/>
      <p:bldP spid="103" grpId="0"/>
      <p:bldP spid="108" grpId="0"/>
      <p:bldP spid="16" grpId="0" animBg="1"/>
      <p:bldP spid="16" grpId="1" animBg="1"/>
      <p:bldP spid="37" grpId="0" animBg="1"/>
      <p:bldP spid="51" grpId="0" animBg="1"/>
      <p:bldP spid="51" grpId="1" animBg="1"/>
      <p:bldP spid="50" grpId="0" animBg="1"/>
      <p:bldP spid="58" grpId="0" animBg="1"/>
      <p:bldP spid="57" grpId="0" animBg="1"/>
      <p:bldP spid="113" grpId="0"/>
      <p:bldP spid="114" grpId="0"/>
      <p:bldP spid="115" grpId="0"/>
      <p:bldP spid="1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Content Placeholder 92">
            <a:extLst>
              <a:ext uri="{FF2B5EF4-FFF2-40B4-BE49-F238E27FC236}">
                <a16:creationId xmlns:a16="http://schemas.microsoft.com/office/drawing/2014/main" id="{94F434DE-85C1-456A-88E0-0C2238194A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3803" y="1840257"/>
            <a:ext cx="4748794" cy="432207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4172E7-68C9-4B8D-AE7C-346D5CE4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diagrams and mineral textures: pyroxenes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5D6C6-DA1E-4AA8-944B-2A2B288FA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530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i="1" dirty="0"/>
              <a:t>Moderate cooling </a:t>
            </a:r>
            <a:r>
              <a:rPr lang="en-GB" sz="1600" i="1" dirty="0"/>
              <a:t>(close to equilibrium)</a:t>
            </a:r>
          </a:p>
          <a:p>
            <a:r>
              <a:rPr lang="en-GB" sz="2000" dirty="0"/>
              <a:t>Di-rich augite is the first solid to crystallise</a:t>
            </a:r>
          </a:p>
          <a:p>
            <a:r>
              <a:rPr lang="en-GB" sz="2000" dirty="0"/>
              <a:t>Melt and augite become richer in </a:t>
            </a:r>
            <a:r>
              <a:rPr lang="en-GB" sz="2000" dirty="0" err="1"/>
              <a:t>En</a:t>
            </a:r>
            <a:r>
              <a:rPr lang="en-GB" sz="2000" dirty="0"/>
              <a:t> until the eutectic is reached, where Di-poor pigeonite and Di-rich augite crystallise</a:t>
            </a:r>
          </a:p>
          <a:p>
            <a:r>
              <a:rPr lang="en-GB" sz="2000" dirty="0"/>
              <a:t>Once the system has solidified, augite exsolves from pigeonite and vice versa</a:t>
            </a:r>
          </a:p>
          <a:p>
            <a:pPr lvl="1"/>
            <a:r>
              <a:rPr lang="en-GB" sz="1600" dirty="0"/>
              <a:t>Augite becomes richer in Di</a:t>
            </a:r>
          </a:p>
          <a:p>
            <a:pPr lvl="1"/>
            <a:r>
              <a:rPr lang="en-GB" sz="1600" dirty="0"/>
              <a:t>Pigeonite becomes poorer in Di</a:t>
            </a:r>
          </a:p>
          <a:p>
            <a:r>
              <a:rPr lang="en-GB" sz="2000" dirty="0"/>
              <a:t>However, exsolution takes time (kinetics) and may not run to completion</a:t>
            </a:r>
          </a:p>
          <a:p>
            <a:r>
              <a:rPr lang="en-GB" sz="2000" dirty="0"/>
              <a:t>Di-rich Pigeonite does not go through phase transition to Di-poor orthopyroxene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2D0B6-4CF4-41DA-BDFC-24380093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DAA65-7183-4CC9-83EA-1E2165FC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</a:t>
            </a:r>
            <a:r>
              <a:rPr lang="en-GB"/>
              <a:t>Part 4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94D67-7ED0-4B46-A81F-8D64B7C6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24</a:t>
            </a:fld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4E763F-B17F-4365-8B05-68ACF6D94D12}"/>
              </a:ext>
            </a:extLst>
          </p:cNvPr>
          <p:cNvSpPr/>
          <p:nvPr/>
        </p:nvSpPr>
        <p:spPr>
          <a:xfrm>
            <a:off x="4161468" y="1996995"/>
            <a:ext cx="121761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B69F24-1951-490B-941B-C6DD04F3BACB}"/>
              </a:ext>
            </a:extLst>
          </p:cNvPr>
          <p:cNvCxnSpPr>
            <a:cxnSpLocks/>
          </p:cNvCxnSpPr>
          <p:nvPr/>
        </p:nvCxnSpPr>
        <p:spPr>
          <a:xfrm>
            <a:off x="4222348" y="2124367"/>
            <a:ext cx="0" cy="311980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3E845F-A56A-4E76-9823-849B55EA2577}"/>
              </a:ext>
            </a:extLst>
          </p:cNvPr>
          <p:cNvCxnSpPr>
            <a:cxnSpLocks/>
          </p:cNvCxnSpPr>
          <p:nvPr/>
        </p:nvCxnSpPr>
        <p:spPr>
          <a:xfrm>
            <a:off x="4299359" y="2502288"/>
            <a:ext cx="9482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65F241-3BB3-4CA3-A81F-E3B8496F97BD}"/>
              </a:ext>
            </a:extLst>
          </p:cNvPr>
          <p:cNvCxnSpPr>
            <a:cxnSpLocks/>
          </p:cNvCxnSpPr>
          <p:nvPr/>
        </p:nvCxnSpPr>
        <p:spPr>
          <a:xfrm flipH="1">
            <a:off x="3594147" y="2577538"/>
            <a:ext cx="540115" cy="371225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CA34DA-0A6B-4F9D-A3D2-29419146E250}"/>
              </a:ext>
            </a:extLst>
          </p:cNvPr>
          <p:cNvCxnSpPr>
            <a:cxnSpLocks/>
          </p:cNvCxnSpPr>
          <p:nvPr/>
        </p:nvCxnSpPr>
        <p:spPr>
          <a:xfrm flipH="1">
            <a:off x="1842353" y="2502288"/>
            <a:ext cx="2319036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E8A90D-1BEE-48EF-AF53-5BB27FDA434C}"/>
              </a:ext>
            </a:extLst>
          </p:cNvPr>
          <p:cNvCxnSpPr>
            <a:cxnSpLocks/>
          </p:cNvCxnSpPr>
          <p:nvPr/>
        </p:nvCxnSpPr>
        <p:spPr>
          <a:xfrm flipH="1">
            <a:off x="1842353" y="2997317"/>
            <a:ext cx="602748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4318B6A-5D01-492E-9A75-6F0A9906BF0B}"/>
              </a:ext>
            </a:extLst>
          </p:cNvPr>
          <p:cNvSpPr/>
          <p:nvPr/>
        </p:nvSpPr>
        <p:spPr>
          <a:xfrm>
            <a:off x="4492667" y="2936357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293B66-F79B-4199-8344-4DAF7CFD53E9}"/>
              </a:ext>
            </a:extLst>
          </p:cNvPr>
          <p:cNvSpPr txBox="1"/>
          <p:nvPr/>
        </p:nvSpPr>
        <p:spPr>
          <a:xfrm>
            <a:off x="4213306" y="1871735"/>
            <a:ext cx="26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E1D208-65FD-4796-BB5B-DA3452AA8B99}"/>
              </a:ext>
            </a:extLst>
          </p:cNvPr>
          <p:cNvSpPr txBox="1"/>
          <p:nvPr/>
        </p:nvSpPr>
        <p:spPr>
          <a:xfrm>
            <a:off x="1478151" y="2347663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3B44B4-7F32-4780-84A6-DACF4477EC7C}"/>
              </a:ext>
            </a:extLst>
          </p:cNvPr>
          <p:cNvSpPr txBox="1"/>
          <p:nvPr/>
        </p:nvSpPr>
        <p:spPr>
          <a:xfrm>
            <a:off x="1478151" y="2857748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329A66-67F7-4F66-A443-DF2F776AC6A7}"/>
              </a:ext>
            </a:extLst>
          </p:cNvPr>
          <p:cNvSpPr txBox="1"/>
          <p:nvPr/>
        </p:nvSpPr>
        <p:spPr>
          <a:xfrm>
            <a:off x="4422188" y="2509503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Aug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22ACD6-3789-4537-A2F7-29B9DC2A380E}"/>
              </a:ext>
            </a:extLst>
          </p:cNvPr>
          <p:cNvSpPr txBox="1"/>
          <p:nvPr/>
        </p:nvSpPr>
        <p:spPr>
          <a:xfrm>
            <a:off x="3573297" y="2081496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3"/>
                </a:solidFill>
              </a:rPr>
              <a:t>System</a:t>
            </a:r>
            <a:endParaRPr lang="en-GB" i="1" dirty="0">
              <a:solidFill>
                <a:schemeClr val="accent3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66E89D-E9B4-4011-9C4B-689DD6A55ED0}"/>
              </a:ext>
            </a:extLst>
          </p:cNvPr>
          <p:cNvSpPr/>
          <p:nvPr/>
        </p:nvSpPr>
        <p:spPr>
          <a:xfrm>
            <a:off x="4161388" y="2441328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2D311C7-845B-4B2E-86FC-07100CD0BF33}"/>
              </a:ext>
            </a:extLst>
          </p:cNvPr>
          <p:cNvSpPr/>
          <p:nvPr/>
        </p:nvSpPr>
        <p:spPr>
          <a:xfrm>
            <a:off x="5247598" y="2441328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5BE9A6-0F66-4DC8-9B89-F770EF8CBB45}"/>
              </a:ext>
            </a:extLst>
          </p:cNvPr>
          <p:cNvCxnSpPr>
            <a:cxnSpLocks/>
          </p:cNvCxnSpPr>
          <p:nvPr/>
        </p:nvCxnSpPr>
        <p:spPr>
          <a:xfrm flipH="1">
            <a:off x="3533764" y="2996248"/>
            <a:ext cx="9482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3D13660-EF9D-4F91-8F0C-03CD14EDC37C}"/>
              </a:ext>
            </a:extLst>
          </p:cNvPr>
          <p:cNvCxnSpPr>
            <a:cxnSpLocks/>
          </p:cNvCxnSpPr>
          <p:nvPr/>
        </p:nvCxnSpPr>
        <p:spPr>
          <a:xfrm flipH="1">
            <a:off x="2566443" y="2997317"/>
            <a:ext cx="1915560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799F44B-701A-4F4A-963F-52B7DA30BEF5}"/>
              </a:ext>
            </a:extLst>
          </p:cNvPr>
          <p:cNvCxnSpPr>
            <a:cxnSpLocks/>
          </p:cNvCxnSpPr>
          <p:nvPr/>
        </p:nvCxnSpPr>
        <p:spPr>
          <a:xfrm flipH="1">
            <a:off x="4656990" y="2577901"/>
            <a:ext cx="590031" cy="370862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280BFEC-D4DC-46C3-BAED-E96B83033726}"/>
              </a:ext>
            </a:extLst>
          </p:cNvPr>
          <p:cNvCxnSpPr>
            <a:cxnSpLocks/>
            <a:stCxn id="50" idx="2"/>
            <a:endCxn id="51" idx="6"/>
          </p:cNvCxnSpPr>
          <p:nvPr/>
        </p:nvCxnSpPr>
        <p:spPr>
          <a:xfrm flipH="1">
            <a:off x="2331720" y="5507534"/>
            <a:ext cx="2484120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49B4114-93B3-4525-A9DD-BE4DA4B5A011}"/>
              </a:ext>
            </a:extLst>
          </p:cNvPr>
          <p:cNvCxnSpPr>
            <a:cxnSpLocks/>
          </p:cNvCxnSpPr>
          <p:nvPr/>
        </p:nvCxnSpPr>
        <p:spPr>
          <a:xfrm>
            <a:off x="4876800" y="3714808"/>
            <a:ext cx="0" cy="1731766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E7F49BF-73DD-4B40-9B05-B519B80F9822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262430" y="3691405"/>
            <a:ext cx="8330" cy="1755169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D4C4D55-8B63-4371-B088-F5F40C167D36}"/>
              </a:ext>
            </a:extLst>
          </p:cNvPr>
          <p:cNvSpPr txBox="1"/>
          <p:nvPr/>
        </p:nvSpPr>
        <p:spPr>
          <a:xfrm>
            <a:off x="3337353" y="2511235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Liquid</a:t>
            </a:r>
            <a:endParaRPr lang="en-GB" i="1" dirty="0">
              <a:solidFill>
                <a:schemeClr val="accent6"/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3A3CBE5-0EA1-4D3E-AB50-8ADA200333F1}"/>
              </a:ext>
            </a:extLst>
          </p:cNvPr>
          <p:cNvCxnSpPr>
            <a:cxnSpLocks/>
          </p:cNvCxnSpPr>
          <p:nvPr/>
        </p:nvCxnSpPr>
        <p:spPr>
          <a:xfrm>
            <a:off x="4221771" y="2564734"/>
            <a:ext cx="577" cy="431514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B5308E0-F757-4DA4-935D-FE7557023C5B}"/>
              </a:ext>
            </a:extLst>
          </p:cNvPr>
          <p:cNvCxnSpPr>
            <a:cxnSpLocks/>
          </p:cNvCxnSpPr>
          <p:nvPr/>
        </p:nvCxnSpPr>
        <p:spPr>
          <a:xfrm flipH="1">
            <a:off x="4213306" y="3021132"/>
            <a:ext cx="9042" cy="670273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2D202C2-36BB-4C9D-BC10-530FD1CB4623}"/>
              </a:ext>
            </a:extLst>
          </p:cNvPr>
          <p:cNvCxnSpPr>
            <a:cxnSpLocks/>
          </p:cNvCxnSpPr>
          <p:nvPr/>
        </p:nvCxnSpPr>
        <p:spPr>
          <a:xfrm>
            <a:off x="4213306" y="3714808"/>
            <a:ext cx="9042" cy="1792726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3943BB06-2F5C-44F9-9605-C2302AEB61C7}"/>
              </a:ext>
            </a:extLst>
          </p:cNvPr>
          <p:cNvSpPr txBox="1"/>
          <p:nvPr/>
        </p:nvSpPr>
        <p:spPr>
          <a:xfrm>
            <a:off x="4213306" y="2237729"/>
            <a:ext cx="45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C9BB9C0-7ECF-4D51-B37B-23231AB3316F}"/>
              </a:ext>
            </a:extLst>
          </p:cNvPr>
          <p:cNvSpPr txBox="1"/>
          <p:nvPr/>
        </p:nvSpPr>
        <p:spPr>
          <a:xfrm>
            <a:off x="3350273" y="2691253"/>
            <a:ext cx="45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1E7BB1-5413-4EC4-964A-8F3CD50731DF}"/>
              </a:ext>
            </a:extLst>
          </p:cNvPr>
          <p:cNvSpPr/>
          <p:nvPr/>
        </p:nvSpPr>
        <p:spPr>
          <a:xfrm>
            <a:off x="3472227" y="2936357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2C46691-9AEE-4F12-BBB4-52AEE4DCF7BF}"/>
              </a:ext>
            </a:extLst>
          </p:cNvPr>
          <p:cNvSpPr/>
          <p:nvPr/>
        </p:nvSpPr>
        <p:spPr>
          <a:xfrm>
            <a:off x="2445100" y="2936357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C0A4102-4737-407C-9FFA-C0BEEA6B767F}"/>
              </a:ext>
            </a:extLst>
          </p:cNvPr>
          <p:cNvSpPr/>
          <p:nvPr/>
        </p:nvSpPr>
        <p:spPr>
          <a:xfrm>
            <a:off x="2209800" y="5446574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6B32F18-2874-4B46-AA7C-61A89A08BCE7}"/>
              </a:ext>
            </a:extLst>
          </p:cNvPr>
          <p:cNvSpPr/>
          <p:nvPr/>
        </p:nvSpPr>
        <p:spPr>
          <a:xfrm>
            <a:off x="4815840" y="5446574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D9EBC28-79AB-46DC-ADDD-8184A9867365}"/>
              </a:ext>
            </a:extLst>
          </p:cNvPr>
          <p:cNvSpPr txBox="1"/>
          <p:nvPr/>
        </p:nvSpPr>
        <p:spPr>
          <a:xfrm>
            <a:off x="4173574" y="3024120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Aug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260DFE8-E145-4C11-8EFE-117168AB3A02}"/>
              </a:ext>
            </a:extLst>
          </p:cNvPr>
          <p:cNvSpPr txBox="1"/>
          <p:nvPr/>
        </p:nvSpPr>
        <p:spPr>
          <a:xfrm>
            <a:off x="2426696" y="3024543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4"/>
                </a:solidFill>
              </a:rPr>
              <a:t>Pig</a:t>
            </a:r>
            <a:r>
              <a:rPr lang="en-GB" sz="1200" i="1" baseline="-25000" dirty="0" err="1">
                <a:solidFill>
                  <a:schemeClr val="accent4"/>
                </a:solidFill>
              </a:rPr>
              <a:t>ss</a:t>
            </a:r>
            <a:endParaRPr lang="en-GB" sz="1200" i="1" baseline="-25000" dirty="0">
              <a:solidFill>
                <a:schemeClr val="accent4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3281289-9F0B-4E63-A4BF-FF3DEF18DE78}"/>
              </a:ext>
            </a:extLst>
          </p:cNvPr>
          <p:cNvCxnSpPr>
            <a:cxnSpLocks/>
          </p:cNvCxnSpPr>
          <p:nvPr/>
        </p:nvCxnSpPr>
        <p:spPr>
          <a:xfrm>
            <a:off x="4621697" y="3077792"/>
            <a:ext cx="255103" cy="587825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A7CE5F6-41A4-43F4-8190-6BEB723B5AC2}"/>
              </a:ext>
            </a:extLst>
          </p:cNvPr>
          <p:cNvCxnSpPr>
            <a:cxnSpLocks/>
          </p:cNvCxnSpPr>
          <p:nvPr/>
        </p:nvCxnSpPr>
        <p:spPr>
          <a:xfrm flipH="1">
            <a:off x="2250483" y="3073986"/>
            <a:ext cx="230553" cy="599553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87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  <p:bldP spid="26" grpId="0"/>
      <p:bldP spid="28" grpId="0"/>
      <p:bldP spid="29" grpId="0"/>
      <p:bldP spid="31" grpId="0"/>
      <p:bldP spid="32" grpId="0"/>
      <p:bldP spid="33" grpId="0" animBg="1"/>
      <p:bldP spid="35" grpId="0" animBg="1"/>
      <p:bldP spid="94" grpId="0"/>
      <p:bldP spid="102" grpId="0"/>
      <p:bldP spid="103" grpId="0"/>
      <p:bldP spid="16" grpId="0" animBg="1"/>
      <p:bldP spid="16" grpId="1" animBg="1"/>
      <p:bldP spid="37" grpId="0" animBg="1"/>
      <p:bldP spid="51" grpId="0" animBg="1"/>
      <p:bldP spid="50" grpId="0" animBg="1"/>
      <p:bldP spid="115" grpId="0"/>
      <p:bldP spid="1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Content Placeholder 92">
            <a:extLst>
              <a:ext uri="{FF2B5EF4-FFF2-40B4-BE49-F238E27FC236}">
                <a16:creationId xmlns:a16="http://schemas.microsoft.com/office/drawing/2014/main" id="{94F434DE-85C1-456A-88E0-0C2238194A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3803" y="1840257"/>
            <a:ext cx="4748794" cy="432207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4172E7-68C9-4B8D-AE7C-346D5CE4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diagrams and mineral textures: pyroxenes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5D6C6-DA1E-4AA8-944B-2A2B288FA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530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i="1" dirty="0"/>
              <a:t>Fast cooling </a:t>
            </a:r>
            <a:r>
              <a:rPr lang="en-GB" sz="1600" i="1" dirty="0"/>
              <a:t>(far from equilibrium)</a:t>
            </a:r>
          </a:p>
          <a:p>
            <a:r>
              <a:rPr lang="en-GB" sz="2000" dirty="0"/>
              <a:t>Di-rich augite is the first solid to crystallise</a:t>
            </a:r>
          </a:p>
          <a:p>
            <a:r>
              <a:rPr lang="en-GB" sz="2000" dirty="0"/>
              <a:t>Melt and augite become richer in </a:t>
            </a:r>
            <a:r>
              <a:rPr lang="en-GB" sz="2000" dirty="0" err="1"/>
              <a:t>En</a:t>
            </a:r>
            <a:r>
              <a:rPr lang="en-GB" sz="2000" dirty="0"/>
              <a:t> until the eutectic is reached, where Di-poor pigeonite and Di-rich augite crystallise</a:t>
            </a:r>
          </a:p>
          <a:p>
            <a:r>
              <a:rPr lang="en-GB" sz="2000" dirty="0"/>
              <a:t>No exsolution occurs during fast cooling</a:t>
            </a:r>
          </a:p>
          <a:p>
            <a:r>
              <a:rPr lang="en-GB" sz="2000" dirty="0"/>
              <a:t>Augite and pigeonite are homogenous and retain compositions from eutectic</a:t>
            </a:r>
          </a:p>
          <a:p>
            <a:r>
              <a:rPr lang="en-GB" sz="2000" dirty="0"/>
              <a:t>Di-rich pigeonite does not go through phase transition to Di-poor orthopyroxene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2D0B6-4CF4-41DA-BDFC-24380093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DAA65-7183-4CC9-83EA-1E2165FC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</a:t>
            </a:r>
            <a:r>
              <a:rPr lang="en-GB"/>
              <a:t>Part 4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94D67-7ED0-4B46-A81F-8D64B7C6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25</a:t>
            </a:fld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4E763F-B17F-4365-8B05-68ACF6D94D12}"/>
              </a:ext>
            </a:extLst>
          </p:cNvPr>
          <p:cNvSpPr/>
          <p:nvPr/>
        </p:nvSpPr>
        <p:spPr>
          <a:xfrm>
            <a:off x="4161468" y="1996995"/>
            <a:ext cx="121761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B69F24-1951-490B-941B-C6DD04F3BACB}"/>
              </a:ext>
            </a:extLst>
          </p:cNvPr>
          <p:cNvCxnSpPr>
            <a:cxnSpLocks/>
          </p:cNvCxnSpPr>
          <p:nvPr/>
        </p:nvCxnSpPr>
        <p:spPr>
          <a:xfrm>
            <a:off x="4222348" y="2124367"/>
            <a:ext cx="0" cy="311980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3E845F-A56A-4E76-9823-849B55EA2577}"/>
              </a:ext>
            </a:extLst>
          </p:cNvPr>
          <p:cNvCxnSpPr>
            <a:cxnSpLocks/>
          </p:cNvCxnSpPr>
          <p:nvPr/>
        </p:nvCxnSpPr>
        <p:spPr>
          <a:xfrm>
            <a:off x="4299359" y="2502288"/>
            <a:ext cx="9482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65F241-3BB3-4CA3-A81F-E3B8496F97BD}"/>
              </a:ext>
            </a:extLst>
          </p:cNvPr>
          <p:cNvCxnSpPr>
            <a:cxnSpLocks/>
          </p:cNvCxnSpPr>
          <p:nvPr/>
        </p:nvCxnSpPr>
        <p:spPr>
          <a:xfrm flipH="1">
            <a:off x="3594147" y="2577538"/>
            <a:ext cx="540115" cy="371225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CA34DA-0A6B-4F9D-A3D2-29419146E250}"/>
              </a:ext>
            </a:extLst>
          </p:cNvPr>
          <p:cNvCxnSpPr>
            <a:cxnSpLocks/>
          </p:cNvCxnSpPr>
          <p:nvPr/>
        </p:nvCxnSpPr>
        <p:spPr>
          <a:xfrm flipH="1">
            <a:off x="1842353" y="2502288"/>
            <a:ext cx="2319036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E8A90D-1BEE-48EF-AF53-5BB27FDA434C}"/>
              </a:ext>
            </a:extLst>
          </p:cNvPr>
          <p:cNvCxnSpPr>
            <a:cxnSpLocks/>
          </p:cNvCxnSpPr>
          <p:nvPr/>
        </p:nvCxnSpPr>
        <p:spPr>
          <a:xfrm flipH="1">
            <a:off x="1842353" y="2997317"/>
            <a:ext cx="602748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4318B6A-5D01-492E-9A75-6F0A9906BF0B}"/>
              </a:ext>
            </a:extLst>
          </p:cNvPr>
          <p:cNvSpPr/>
          <p:nvPr/>
        </p:nvSpPr>
        <p:spPr>
          <a:xfrm>
            <a:off x="4492667" y="2936357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293B66-F79B-4199-8344-4DAF7CFD53E9}"/>
              </a:ext>
            </a:extLst>
          </p:cNvPr>
          <p:cNvSpPr txBox="1"/>
          <p:nvPr/>
        </p:nvSpPr>
        <p:spPr>
          <a:xfrm>
            <a:off x="4213306" y="1871735"/>
            <a:ext cx="26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E1D208-65FD-4796-BB5B-DA3452AA8B99}"/>
              </a:ext>
            </a:extLst>
          </p:cNvPr>
          <p:cNvSpPr txBox="1"/>
          <p:nvPr/>
        </p:nvSpPr>
        <p:spPr>
          <a:xfrm>
            <a:off x="1478151" y="2347663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3B44B4-7F32-4780-84A6-DACF4477EC7C}"/>
              </a:ext>
            </a:extLst>
          </p:cNvPr>
          <p:cNvSpPr txBox="1"/>
          <p:nvPr/>
        </p:nvSpPr>
        <p:spPr>
          <a:xfrm>
            <a:off x="1478151" y="2857748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329A66-67F7-4F66-A443-DF2F776AC6A7}"/>
              </a:ext>
            </a:extLst>
          </p:cNvPr>
          <p:cNvSpPr txBox="1"/>
          <p:nvPr/>
        </p:nvSpPr>
        <p:spPr>
          <a:xfrm>
            <a:off x="4422188" y="2509503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Aug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22ACD6-3789-4537-A2F7-29B9DC2A380E}"/>
              </a:ext>
            </a:extLst>
          </p:cNvPr>
          <p:cNvSpPr txBox="1"/>
          <p:nvPr/>
        </p:nvSpPr>
        <p:spPr>
          <a:xfrm>
            <a:off x="3573297" y="2081496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3"/>
                </a:solidFill>
              </a:rPr>
              <a:t>System</a:t>
            </a:r>
            <a:endParaRPr lang="en-GB" i="1" dirty="0">
              <a:solidFill>
                <a:schemeClr val="accent3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66E89D-E9B4-4011-9C4B-689DD6A55ED0}"/>
              </a:ext>
            </a:extLst>
          </p:cNvPr>
          <p:cNvSpPr/>
          <p:nvPr/>
        </p:nvSpPr>
        <p:spPr>
          <a:xfrm>
            <a:off x="4161388" y="2441328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2D311C7-845B-4B2E-86FC-07100CD0BF33}"/>
              </a:ext>
            </a:extLst>
          </p:cNvPr>
          <p:cNvSpPr/>
          <p:nvPr/>
        </p:nvSpPr>
        <p:spPr>
          <a:xfrm>
            <a:off x="5247598" y="2441328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5BE9A6-0F66-4DC8-9B89-F770EF8CBB45}"/>
              </a:ext>
            </a:extLst>
          </p:cNvPr>
          <p:cNvCxnSpPr>
            <a:cxnSpLocks/>
          </p:cNvCxnSpPr>
          <p:nvPr/>
        </p:nvCxnSpPr>
        <p:spPr>
          <a:xfrm flipH="1">
            <a:off x="3533764" y="2996248"/>
            <a:ext cx="9482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3D13660-EF9D-4F91-8F0C-03CD14EDC37C}"/>
              </a:ext>
            </a:extLst>
          </p:cNvPr>
          <p:cNvCxnSpPr>
            <a:cxnSpLocks/>
          </p:cNvCxnSpPr>
          <p:nvPr/>
        </p:nvCxnSpPr>
        <p:spPr>
          <a:xfrm flipH="1">
            <a:off x="2566443" y="2997317"/>
            <a:ext cx="1915560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799F44B-701A-4F4A-963F-52B7DA30BEF5}"/>
              </a:ext>
            </a:extLst>
          </p:cNvPr>
          <p:cNvCxnSpPr>
            <a:cxnSpLocks/>
          </p:cNvCxnSpPr>
          <p:nvPr/>
        </p:nvCxnSpPr>
        <p:spPr>
          <a:xfrm flipH="1">
            <a:off x="4656990" y="2577901"/>
            <a:ext cx="590031" cy="370862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280BFEC-D4DC-46C3-BAED-E96B83033726}"/>
              </a:ext>
            </a:extLst>
          </p:cNvPr>
          <p:cNvCxnSpPr>
            <a:cxnSpLocks/>
          </p:cNvCxnSpPr>
          <p:nvPr/>
        </p:nvCxnSpPr>
        <p:spPr>
          <a:xfrm flipH="1">
            <a:off x="2517407" y="5517648"/>
            <a:ext cx="2050864" cy="1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D4C4D55-8B63-4371-B088-F5F40C167D36}"/>
              </a:ext>
            </a:extLst>
          </p:cNvPr>
          <p:cNvSpPr txBox="1"/>
          <p:nvPr/>
        </p:nvSpPr>
        <p:spPr>
          <a:xfrm>
            <a:off x="3337353" y="2511235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Liquid</a:t>
            </a:r>
            <a:endParaRPr lang="en-GB" i="1" dirty="0">
              <a:solidFill>
                <a:schemeClr val="accent6"/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3A3CBE5-0EA1-4D3E-AB50-8ADA200333F1}"/>
              </a:ext>
            </a:extLst>
          </p:cNvPr>
          <p:cNvCxnSpPr>
            <a:cxnSpLocks/>
          </p:cNvCxnSpPr>
          <p:nvPr/>
        </p:nvCxnSpPr>
        <p:spPr>
          <a:xfrm>
            <a:off x="4221771" y="2564734"/>
            <a:ext cx="577" cy="431514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B5308E0-F757-4DA4-935D-FE7557023C5B}"/>
              </a:ext>
            </a:extLst>
          </p:cNvPr>
          <p:cNvCxnSpPr>
            <a:cxnSpLocks/>
          </p:cNvCxnSpPr>
          <p:nvPr/>
        </p:nvCxnSpPr>
        <p:spPr>
          <a:xfrm>
            <a:off x="4222348" y="3021132"/>
            <a:ext cx="0" cy="2483721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3943BB06-2F5C-44F9-9605-C2302AEB61C7}"/>
              </a:ext>
            </a:extLst>
          </p:cNvPr>
          <p:cNvSpPr txBox="1"/>
          <p:nvPr/>
        </p:nvSpPr>
        <p:spPr>
          <a:xfrm>
            <a:off x="4213306" y="2237729"/>
            <a:ext cx="45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C9BB9C0-7ECF-4D51-B37B-23231AB3316F}"/>
              </a:ext>
            </a:extLst>
          </p:cNvPr>
          <p:cNvSpPr txBox="1"/>
          <p:nvPr/>
        </p:nvSpPr>
        <p:spPr>
          <a:xfrm>
            <a:off x="3350273" y="2691253"/>
            <a:ext cx="45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1E7BB1-5413-4EC4-964A-8F3CD50731DF}"/>
              </a:ext>
            </a:extLst>
          </p:cNvPr>
          <p:cNvSpPr/>
          <p:nvPr/>
        </p:nvSpPr>
        <p:spPr>
          <a:xfrm>
            <a:off x="3472227" y="2936357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2C46691-9AEE-4F12-BBB4-52AEE4DCF7BF}"/>
              </a:ext>
            </a:extLst>
          </p:cNvPr>
          <p:cNvSpPr/>
          <p:nvPr/>
        </p:nvSpPr>
        <p:spPr>
          <a:xfrm>
            <a:off x="2445100" y="2936357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C0A4102-4737-407C-9FFA-C0BEEA6B767F}"/>
              </a:ext>
            </a:extLst>
          </p:cNvPr>
          <p:cNvSpPr/>
          <p:nvPr/>
        </p:nvSpPr>
        <p:spPr>
          <a:xfrm>
            <a:off x="2436185" y="5456688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6B32F18-2874-4B46-AA7C-61A89A08BCE7}"/>
              </a:ext>
            </a:extLst>
          </p:cNvPr>
          <p:cNvSpPr/>
          <p:nvPr/>
        </p:nvSpPr>
        <p:spPr>
          <a:xfrm>
            <a:off x="4523418" y="5456688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D9EBC28-79AB-46DC-ADDD-8184A9867365}"/>
              </a:ext>
            </a:extLst>
          </p:cNvPr>
          <p:cNvSpPr txBox="1"/>
          <p:nvPr/>
        </p:nvSpPr>
        <p:spPr>
          <a:xfrm>
            <a:off x="4020581" y="3107396"/>
            <a:ext cx="566854" cy="276999"/>
          </a:xfrm>
          <a:prstGeom prst="rect">
            <a:avLst/>
          </a:prstGeom>
          <a:solidFill>
            <a:srgbClr val="ECECEC"/>
          </a:solidFill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Aug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260DFE8-E145-4C11-8EFE-117168AB3A02}"/>
              </a:ext>
            </a:extLst>
          </p:cNvPr>
          <p:cNvSpPr txBox="1"/>
          <p:nvPr/>
        </p:nvSpPr>
        <p:spPr>
          <a:xfrm>
            <a:off x="2517407" y="3107396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4"/>
                </a:solidFill>
              </a:rPr>
              <a:t>Pig</a:t>
            </a:r>
            <a:r>
              <a:rPr lang="en-GB" sz="1200" i="1" baseline="-25000" dirty="0" err="1">
                <a:solidFill>
                  <a:schemeClr val="accent4"/>
                </a:solidFill>
              </a:rPr>
              <a:t>ss</a:t>
            </a:r>
            <a:endParaRPr lang="en-GB" sz="1200" i="1" baseline="-25000" dirty="0">
              <a:solidFill>
                <a:schemeClr val="accent4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3281289-9F0B-4E63-A4BF-FF3DEF18DE78}"/>
              </a:ext>
            </a:extLst>
          </p:cNvPr>
          <p:cNvCxnSpPr>
            <a:cxnSpLocks/>
          </p:cNvCxnSpPr>
          <p:nvPr/>
        </p:nvCxnSpPr>
        <p:spPr>
          <a:xfrm>
            <a:off x="4553199" y="3071672"/>
            <a:ext cx="30145" cy="2335948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A7CE5F6-41A4-43F4-8190-6BEB723B5AC2}"/>
              </a:ext>
            </a:extLst>
          </p:cNvPr>
          <p:cNvCxnSpPr>
            <a:cxnSpLocks/>
          </p:cNvCxnSpPr>
          <p:nvPr/>
        </p:nvCxnSpPr>
        <p:spPr>
          <a:xfrm flipH="1">
            <a:off x="2497145" y="3082420"/>
            <a:ext cx="8917" cy="2325200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57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  <p:bldP spid="26" grpId="0"/>
      <p:bldP spid="28" grpId="0"/>
      <p:bldP spid="29" grpId="0"/>
      <p:bldP spid="31" grpId="0"/>
      <p:bldP spid="32" grpId="0"/>
      <p:bldP spid="33" grpId="0" animBg="1"/>
      <p:bldP spid="35" grpId="0" animBg="1"/>
      <p:bldP spid="94" grpId="0"/>
      <p:bldP spid="102" grpId="0"/>
      <p:bldP spid="103" grpId="0"/>
      <p:bldP spid="16" grpId="0" animBg="1"/>
      <p:bldP spid="16" grpId="1" animBg="1"/>
      <p:bldP spid="37" grpId="0" animBg="1"/>
      <p:bldP spid="51" grpId="0" animBg="1"/>
      <p:bldP spid="50" grpId="0" animBg="1"/>
      <p:bldP spid="115" grpId="0" animBg="1"/>
      <p:bldP spid="1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Content Placeholder 92">
            <a:extLst>
              <a:ext uri="{FF2B5EF4-FFF2-40B4-BE49-F238E27FC236}">
                <a16:creationId xmlns:a16="http://schemas.microsoft.com/office/drawing/2014/main" id="{94F434DE-85C1-456A-88E0-0C2238194A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3803" y="1840257"/>
            <a:ext cx="4748794" cy="432207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4172E7-68C9-4B8D-AE7C-346D5CE4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diagrams and mineral textures: pyroxenes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5D6C6-DA1E-4AA8-944B-2A2B288FA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9968" y="1818032"/>
            <a:ext cx="518040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i="1" dirty="0"/>
              <a:t>Slow cooling </a:t>
            </a:r>
            <a:r>
              <a:rPr lang="en-GB" sz="1600" i="1" dirty="0"/>
              <a:t>(equilibrium)</a:t>
            </a:r>
          </a:p>
          <a:p>
            <a:r>
              <a:rPr lang="en-GB" dirty="0"/>
              <a:t>Augite and/or orthopyroxene with exsolution lamellae of each other</a:t>
            </a:r>
          </a:p>
          <a:p>
            <a:r>
              <a:rPr lang="en-GB" dirty="0"/>
              <a:t>‘Inverted pigeonite’ is often found in large fossil magma chambers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2D0B6-4CF4-41DA-BDFC-24380093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DAA65-7183-4CC9-83EA-1E2165FC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</a:t>
            </a:r>
            <a:r>
              <a:rPr lang="en-GB"/>
              <a:t>Part 4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94D67-7ED0-4B46-A81F-8D64B7C6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26</a:t>
            </a:fld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318B6A-5D01-492E-9A75-6F0A9906BF0B}"/>
              </a:ext>
            </a:extLst>
          </p:cNvPr>
          <p:cNvSpPr/>
          <p:nvPr/>
        </p:nvSpPr>
        <p:spPr>
          <a:xfrm>
            <a:off x="4492667" y="2936357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5BE9A6-0F66-4DC8-9B89-F770EF8CBB45}"/>
              </a:ext>
            </a:extLst>
          </p:cNvPr>
          <p:cNvCxnSpPr>
            <a:cxnSpLocks/>
          </p:cNvCxnSpPr>
          <p:nvPr/>
        </p:nvCxnSpPr>
        <p:spPr>
          <a:xfrm flipH="1">
            <a:off x="3533764" y="2996248"/>
            <a:ext cx="9482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3D13660-EF9D-4F91-8F0C-03CD14EDC37C}"/>
              </a:ext>
            </a:extLst>
          </p:cNvPr>
          <p:cNvCxnSpPr>
            <a:cxnSpLocks/>
          </p:cNvCxnSpPr>
          <p:nvPr/>
        </p:nvCxnSpPr>
        <p:spPr>
          <a:xfrm flipH="1">
            <a:off x="2566443" y="2997317"/>
            <a:ext cx="1915560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22C470C-0522-4431-AB0E-53B91B3771C9}"/>
              </a:ext>
            </a:extLst>
          </p:cNvPr>
          <p:cNvCxnSpPr>
            <a:cxnSpLocks/>
          </p:cNvCxnSpPr>
          <p:nvPr/>
        </p:nvCxnSpPr>
        <p:spPr>
          <a:xfrm flipH="1">
            <a:off x="2032000" y="4254996"/>
            <a:ext cx="2847890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862AAA0-7237-4BE2-9D2A-146F0C490FCD}"/>
              </a:ext>
            </a:extLst>
          </p:cNvPr>
          <p:cNvCxnSpPr>
            <a:cxnSpLocks/>
          </p:cNvCxnSpPr>
          <p:nvPr/>
        </p:nvCxnSpPr>
        <p:spPr>
          <a:xfrm flipH="1" flipV="1">
            <a:off x="2252905" y="4252063"/>
            <a:ext cx="2626986" cy="5314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469A0E31-B7D5-49C2-A080-A1A2FB65028F}"/>
              </a:ext>
            </a:extLst>
          </p:cNvPr>
          <p:cNvSpPr/>
          <p:nvPr/>
        </p:nvSpPr>
        <p:spPr>
          <a:xfrm>
            <a:off x="1964273" y="4194036"/>
            <a:ext cx="121920" cy="12192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280BFEC-D4DC-46C3-BAED-E96B83033726}"/>
              </a:ext>
            </a:extLst>
          </p:cNvPr>
          <p:cNvCxnSpPr>
            <a:cxnSpLocks/>
          </p:cNvCxnSpPr>
          <p:nvPr/>
        </p:nvCxnSpPr>
        <p:spPr>
          <a:xfrm flipH="1">
            <a:off x="1964273" y="5515968"/>
            <a:ext cx="3315075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49B4114-93B3-4525-A9DD-BE4DA4B5A011}"/>
              </a:ext>
            </a:extLst>
          </p:cNvPr>
          <p:cNvCxnSpPr>
            <a:cxnSpLocks/>
          </p:cNvCxnSpPr>
          <p:nvPr/>
        </p:nvCxnSpPr>
        <p:spPr>
          <a:xfrm>
            <a:off x="4867040" y="3624725"/>
            <a:ext cx="77265" cy="554340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28055D2-9EF5-4DD9-933A-9F304AC80F3E}"/>
              </a:ext>
            </a:extLst>
          </p:cNvPr>
          <p:cNvCxnSpPr>
            <a:cxnSpLocks/>
          </p:cNvCxnSpPr>
          <p:nvPr/>
        </p:nvCxnSpPr>
        <p:spPr>
          <a:xfrm>
            <a:off x="5247598" y="4692650"/>
            <a:ext cx="78198" cy="743461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561BAE3-C1BD-4A8B-A172-2AF6F7864023}"/>
              </a:ext>
            </a:extLst>
          </p:cNvPr>
          <p:cNvCxnSpPr>
            <a:cxnSpLocks/>
          </p:cNvCxnSpPr>
          <p:nvPr/>
        </p:nvCxnSpPr>
        <p:spPr>
          <a:xfrm>
            <a:off x="4615164" y="3058277"/>
            <a:ext cx="225244" cy="520803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69F6A5-7970-46F4-BE95-257BE295F27C}"/>
              </a:ext>
            </a:extLst>
          </p:cNvPr>
          <p:cNvCxnSpPr>
            <a:cxnSpLocks/>
          </p:cNvCxnSpPr>
          <p:nvPr/>
        </p:nvCxnSpPr>
        <p:spPr>
          <a:xfrm>
            <a:off x="5003390" y="4304874"/>
            <a:ext cx="248838" cy="35279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2325268-3705-4B62-A19F-77AF0A4DE155}"/>
              </a:ext>
            </a:extLst>
          </p:cNvPr>
          <p:cNvCxnSpPr>
            <a:cxnSpLocks/>
          </p:cNvCxnSpPr>
          <p:nvPr/>
        </p:nvCxnSpPr>
        <p:spPr>
          <a:xfrm flipH="1">
            <a:off x="2270760" y="3096419"/>
            <a:ext cx="192950" cy="539721"/>
          </a:xfrm>
          <a:prstGeom prst="line">
            <a:avLst/>
          </a:prstGeom>
          <a:ln w="381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E7F49BF-73DD-4B40-9B05-B519B80F9822}"/>
              </a:ext>
            </a:extLst>
          </p:cNvPr>
          <p:cNvCxnSpPr>
            <a:cxnSpLocks/>
          </p:cNvCxnSpPr>
          <p:nvPr/>
        </p:nvCxnSpPr>
        <p:spPr>
          <a:xfrm flipH="1">
            <a:off x="2213498" y="3691405"/>
            <a:ext cx="48932" cy="487660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F7F4ADD-2C90-48D5-97D3-BAD3095B8C1E}"/>
              </a:ext>
            </a:extLst>
          </p:cNvPr>
          <p:cNvCxnSpPr>
            <a:cxnSpLocks/>
          </p:cNvCxnSpPr>
          <p:nvPr/>
        </p:nvCxnSpPr>
        <p:spPr>
          <a:xfrm flipH="1">
            <a:off x="1929229" y="4340395"/>
            <a:ext cx="59898" cy="426868"/>
          </a:xfrm>
          <a:prstGeom prst="line">
            <a:avLst/>
          </a:prstGeom>
          <a:ln w="381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BD5ED04-9FFE-4CF2-929D-87146331C9E6}"/>
              </a:ext>
            </a:extLst>
          </p:cNvPr>
          <p:cNvCxnSpPr>
            <a:cxnSpLocks/>
          </p:cNvCxnSpPr>
          <p:nvPr/>
        </p:nvCxnSpPr>
        <p:spPr>
          <a:xfrm flipH="1">
            <a:off x="1893787" y="4793544"/>
            <a:ext cx="26820" cy="642567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02C46691-9AEE-4F12-BBB4-52AEE4DCF7BF}"/>
              </a:ext>
            </a:extLst>
          </p:cNvPr>
          <p:cNvSpPr/>
          <p:nvPr/>
        </p:nvSpPr>
        <p:spPr>
          <a:xfrm>
            <a:off x="2445100" y="2936357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C0A4102-4737-407C-9FFA-C0BEEA6B767F}"/>
              </a:ext>
            </a:extLst>
          </p:cNvPr>
          <p:cNvSpPr/>
          <p:nvPr/>
        </p:nvSpPr>
        <p:spPr>
          <a:xfrm>
            <a:off x="2148840" y="4194036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6B32F18-2874-4B46-AA7C-61A89A08BCE7}"/>
              </a:ext>
            </a:extLst>
          </p:cNvPr>
          <p:cNvSpPr/>
          <p:nvPr/>
        </p:nvSpPr>
        <p:spPr>
          <a:xfrm>
            <a:off x="4867040" y="419403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4476988-E7A9-4430-A948-5C543C9430E4}"/>
              </a:ext>
            </a:extLst>
          </p:cNvPr>
          <p:cNvSpPr/>
          <p:nvPr/>
        </p:nvSpPr>
        <p:spPr>
          <a:xfrm>
            <a:off x="1842353" y="5446574"/>
            <a:ext cx="121920" cy="12192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14E62D6-40D8-4E1B-B379-D35962D4EF96}"/>
              </a:ext>
            </a:extLst>
          </p:cNvPr>
          <p:cNvSpPr/>
          <p:nvPr/>
        </p:nvSpPr>
        <p:spPr>
          <a:xfrm>
            <a:off x="5279425" y="5446574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705BA8E-9D02-4087-A28D-D4AABC67F61B}"/>
              </a:ext>
            </a:extLst>
          </p:cNvPr>
          <p:cNvSpPr txBox="1"/>
          <p:nvPr/>
        </p:nvSpPr>
        <p:spPr>
          <a:xfrm>
            <a:off x="4533157" y="4276830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Aug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58C7BA-600B-46AD-8CE4-6BD502FA6621}"/>
              </a:ext>
            </a:extLst>
          </p:cNvPr>
          <p:cNvSpPr txBox="1"/>
          <p:nvPr/>
        </p:nvSpPr>
        <p:spPr>
          <a:xfrm>
            <a:off x="1937905" y="4270931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3"/>
                </a:solidFill>
              </a:rPr>
              <a:t>Opx</a:t>
            </a:r>
            <a:r>
              <a:rPr lang="en-GB" sz="1200" i="1" baseline="-25000" dirty="0" err="1">
                <a:solidFill>
                  <a:schemeClr val="accent3"/>
                </a:solidFill>
              </a:rPr>
              <a:t>ss</a:t>
            </a:r>
            <a:endParaRPr lang="en-GB" sz="1200" i="1" baseline="-25000" dirty="0">
              <a:solidFill>
                <a:schemeClr val="accent3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D9EBC28-79AB-46DC-ADDD-8184A9867365}"/>
              </a:ext>
            </a:extLst>
          </p:cNvPr>
          <p:cNvSpPr txBox="1"/>
          <p:nvPr/>
        </p:nvSpPr>
        <p:spPr>
          <a:xfrm>
            <a:off x="4173574" y="3024120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Aug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260DFE8-E145-4C11-8EFE-117168AB3A02}"/>
              </a:ext>
            </a:extLst>
          </p:cNvPr>
          <p:cNvSpPr txBox="1"/>
          <p:nvPr/>
        </p:nvSpPr>
        <p:spPr>
          <a:xfrm>
            <a:off x="2426696" y="3024543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4"/>
                </a:solidFill>
              </a:rPr>
              <a:t>Pig</a:t>
            </a:r>
            <a:r>
              <a:rPr lang="en-GB" sz="1200" i="1" baseline="-25000" dirty="0" err="1">
                <a:solidFill>
                  <a:schemeClr val="accent4"/>
                </a:solidFill>
              </a:rPr>
              <a:t>ss</a:t>
            </a:r>
            <a:endParaRPr lang="en-GB" sz="1200" i="1" baseline="-25000" dirty="0">
              <a:solidFill>
                <a:schemeClr val="accent4"/>
              </a:solidFill>
            </a:endParaRPr>
          </a:p>
        </p:txBody>
      </p:sp>
      <p:pic>
        <p:nvPicPr>
          <p:cNvPr id="8" name="Picture 7" descr="Map&#10;&#10;Description automatically generated">
            <a:extLst>
              <a:ext uri="{FF2B5EF4-FFF2-40B4-BE49-F238E27FC236}">
                <a16:creationId xmlns:a16="http://schemas.microsoft.com/office/drawing/2014/main" id="{5798975A-2328-4F77-A766-5917A857F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350" y="4016990"/>
            <a:ext cx="2719983" cy="2031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53D2E1-2665-442B-B145-D06AFC388891}"/>
              </a:ext>
            </a:extLst>
          </p:cNvPr>
          <p:cNvSpPr txBox="1"/>
          <p:nvPr/>
        </p:nvSpPr>
        <p:spPr>
          <a:xfrm>
            <a:off x="8987644" y="4178489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Thick augite lamellae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A1B32C-6C4B-4C9C-B6B2-202B385EA057}"/>
              </a:ext>
            </a:extLst>
          </p:cNvPr>
          <p:cNvSpPr txBox="1"/>
          <p:nvPr/>
        </p:nvSpPr>
        <p:spPr>
          <a:xfrm>
            <a:off x="8987644" y="4756249"/>
            <a:ext cx="24801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Orthopyroxene that</a:t>
            </a:r>
            <a:br>
              <a:rPr lang="en-GB" dirty="0"/>
            </a:br>
            <a:r>
              <a:rPr lang="en-GB" dirty="0"/>
              <a:t>used to be pigeonite,</a:t>
            </a:r>
          </a:p>
          <a:p>
            <a:r>
              <a:rPr lang="en-GB" dirty="0"/>
              <a:t>i.e. ‘inverted pigeonite’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55D88BF-3007-41A9-A6CA-38D9226AA43E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7740720" y="4363155"/>
            <a:ext cx="1246924" cy="20984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090D1E-7A14-4766-9D5C-9A642B20E928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8278934" y="5217914"/>
            <a:ext cx="708710" cy="14555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1E9D5CC-6FDE-4FD9-B4F1-9ED24D1DDE8E}"/>
              </a:ext>
            </a:extLst>
          </p:cNvPr>
          <p:cNvSpPr txBox="1"/>
          <p:nvPr/>
        </p:nvSpPr>
        <p:spPr>
          <a:xfrm>
            <a:off x="7216681" y="4027875"/>
            <a:ext cx="1736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McDonald et al. (2017)</a:t>
            </a:r>
          </a:p>
        </p:txBody>
      </p:sp>
    </p:spTree>
    <p:extLst>
      <p:ext uri="{BB962C8B-B14F-4D97-AF65-F5344CB8AC3E}">
        <p14:creationId xmlns:p14="http://schemas.microsoft.com/office/powerpoint/2010/main" val="205528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4" grpId="0" animBg="1"/>
      <p:bldP spid="56" grpId="0" animBg="1"/>
      <p:bldP spid="37" grpId="0" animBg="1"/>
      <p:bldP spid="51" grpId="0" animBg="1"/>
      <p:bldP spid="50" grpId="0" animBg="1"/>
      <p:bldP spid="58" grpId="0" animBg="1"/>
      <p:bldP spid="57" grpId="0" animBg="1"/>
      <p:bldP spid="113" grpId="0"/>
      <p:bldP spid="114" grpId="0"/>
      <p:bldP spid="115" grpId="0"/>
      <p:bldP spid="116" grpId="0"/>
      <p:bldP spid="11" grpId="0"/>
      <p:bldP spid="12" grpId="0"/>
      <p:bldP spid="7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Content Placeholder 92">
            <a:extLst>
              <a:ext uri="{FF2B5EF4-FFF2-40B4-BE49-F238E27FC236}">
                <a16:creationId xmlns:a16="http://schemas.microsoft.com/office/drawing/2014/main" id="{94F434DE-85C1-456A-88E0-0C2238194A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3803" y="1840257"/>
            <a:ext cx="4748794" cy="432207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4172E7-68C9-4B8D-AE7C-346D5CE4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diagrams and mineral textures: pyroxenes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5D6C6-DA1E-4AA8-944B-2A2B288FA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530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i="1" dirty="0"/>
              <a:t>Moderate cooling </a:t>
            </a:r>
            <a:r>
              <a:rPr lang="en-GB" sz="1600" i="1" dirty="0"/>
              <a:t>(close to equilibrium)</a:t>
            </a:r>
          </a:p>
          <a:p>
            <a:r>
              <a:rPr lang="en-GB" dirty="0"/>
              <a:t>Augite and/or pigeonite with exsolution lamellae of each other</a:t>
            </a:r>
          </a:p>
          <a:p>
            <a:r>
              <a:rPr lang="en-GB" dirty="0"/>
              <a:t>Crystals with exsolution lamellae (but no orthopyroxene) are found in small fossil magma chambers</a:t>
            </a:r>
          </a:p>
          <a:p>
            <a:pPr marL="0" indent="0">
              <a:buNone/>
            </a:pPr>
            <a:endParaRPr lang="en-GB" sz="1600" i="1" dirty="0"/>
          </a:p>
          <a:p>
            <a:pPr marL="0" indent="0">
              <a:buNone/>
            </a:pPr>
            <a:endParaRPr lang="en-GB" sz="1600" i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2D0B6-4CF4-41DA-BDFC-24380093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DAA65-7183-4CC9-83EA-1E2165FC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</a:t>
            </a:r>
            <a:r>
              <a:rPr lang="en-GB"/>
              <a:t>Part 4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94D67-7ED0-4B46-A81F-8D64B7C6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27</a:t>
            </a:fld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318B6A-5D01-492E-9A75-6F0A9906BF0B}"/>
              </a:ext>
            </a:extLst>
          </p:cNvPr>
          <p:cNvSpPr/>
          <p:nvPr/>
        </p:nvSpPr>
        <p:spPr>
          <a:xfrm>
            <a:off x="4492667" y="2936357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5BE9A6-0F66-4DC8-9B89-F770EF8CBB45}"/>
              </a:ext>
            </a:extLst>
          </p:cNvPr>
          <p:cNvCxnSpPr>
            <a:cxnSpLocks/>
          </p:cNvCxnSpPr>
          <p:nvPr/>
        </p:nvCxnSpPr>
        <p:spPr>
          <a:xfrm flipH="1">
            <a:off x="3533764" y="2996248"/>
            <a:ext cx="9482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3D13660-EF9D-4F91-8F0C-03CD14EDC37C}"/>
              </a:ext>
            </a:extLst>
          </p:cNvPr>
          <p:cNvCxnSpPr>
            <a:cxnSpLocks/>
          </p:cNvCxnSpPr>
          <p:nvPr/>
        </p:nvCxnSpPr>
        <p:spPr>
          <a:xfrm flipH="1">
            <a:off x="2566443" y="2997317"/>
            <a:ext cx="1915560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280BFEC-D4DC-46C3-BAED-E96B83033726}"/>
              </a:ext>
            </a:extLst>
          </p:cNvPr>
          <p:cNvCxnSpPr>
            <a:cxnSpLocks/>
          </p:cNvCxnSpPr>
          <p:nvPr/>
        </p:nvCxnSpPr>
        <p:spPr>
          <a:xfrm flipH="1">
            <a:off x="2332945" y="5507534"/>
            <a:ext cx="2482895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49B4114-93B3-4525-A9DD-BE4DA4B5A011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4876800" y="3714808"/>
            <a:ext cx="0" cy="1731143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E7F49BF-73DD-4B40-9B05-B519B80F9822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262430" y="3710259"/>
            <a:ext cx="8330" cy="1735692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02C46691-9AEE-4F12-BBB4-52AEE4DCF7BF}"/>
              </a:ext>
            </a:extLst>
          </p:cNvPr>
          <p:cNvSpPr/>
          <p:nvPr/>
        </p:nvSpPr>
        <p:spPr>
          <a:xfrm>
            <a:off x="2445100" y="2936357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C0A4102-4737-407C-9FFA-C0BEEA6B767F}"/>
              </a:ext>
            </a:extLst>
          </p:cNvPr>
          <p:cNvSpPr/>
          <p:nvPr/>
        </p:nvSpPr>
        <p:spPr>
          <a:xfrm>
            <a:off x="2209800" y="5445951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6B32F18-2874-4B46-AA7C-61A89A08BCE7}"/>
              </a:ext>
            </a:extLst>
          </p:cNvPr>
          <p:cNvSpPr/>
          <p:nvPr/>
        </p:nvSpPr>
        <p:spPr>
          <a:xfrm>
            <a:off x="4815840" y="5445951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D9EBC28-79AB-46DC-ADDD-8184A9867365}"/>
              </a:ext>
            </a:extLst>
          </p:cNvPr>
          <p:cNvSpPr txBox="1"/>
          <p:nvPr/>
        </p:nvSpPr>
        <p:spPr>
          <a:xfrm>
            <a:off x="4173574" y="3024120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Aug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260DFE8-E145-4C11-8EFE-117168AB3A02}"/>
              </a:ext>
            </a:extLst>
          </p:cNvPr>
          <p:cNvSpPr txBox="1"/>
          <p:nvPr/>
        </p:nvSpPr>
        <p:spPr>
          <a:xfrm>
            <a:off x="2426696" y="3024543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4"/>
                </a:solidFill>
              </a:rPr>
              <a:t>Pig</a:t>
            </a:r>
            <a:r>
              <a:rPr lang="en-GB" sz="1200" i="1" baseline="-25000" dirty="0" err="1">
                <a:solidFill>
                  <a:schemeClr val="accent4"/>
                </a:solidFill>
              </a:rPr>
              <a:t>ss</a:t>
            </a:r>
            <a:endParaRPr lang="en-GB" sz="1200" i="1" baseline="-25000" dirty="0">
              <a:solidFill>
                <a:schemeClr val="accent4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3281289-9F0B-4E63-A4BF-FF3DEF18DE78}"/>
              </a:ext>
            </a:extLst>
          </p:cNvPr>
          <p:cNvCxnSpPr>
            <a:cxnSpLocks/>
          </p:cNvCxnSpPr>
          <p:nvPr/>
        </p:nvCxnSpPr>
        <p:spPr>
          <a:xfrm>
            <a:off x="4621697" y="3077792"/>
            <a:ext cx="255103" cy="587825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A7CE5F6-41A4-43F4-8190-6BEB723B5AC2}"/>
              </a:ext>
            </a:extLst>
          </p:cNvPr>
          <p:cNvCxnSpPr>
            <a:cxnSpLocks/>
          </p:cNvCxnSpPr>
          <p:nvPr/>
        </p:nvCxnSpPr>
        <p:spPr>
          <a:xfrm flipH="1">
            <a:off x="2250483" y="3073986"/>
            <a:ext cx="230553" cy="599553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icture containing person, skirt&#10;&#10;Description automatically generated">
            <a:extLst>
              <a:ext uri="{FF2B5EF4-FFF2-40B4-BE49-F238E27FC236}">
                <a16:creationId xmlns:a16="http://schemas.microsoft.com/office/drawing/2014/main" id="{CD75C242-A002-4B93-92AB-5BB23E22B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257064"/>
            <a:ext cx="2543530" cy="190526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2ED71C1-2340-48A9-96BA-E4A8ABAD91F3}"/>
              </a:ext>
            </a:extLst>
          </p:cNvPr>
          <p:cNvSpPr txBox="1"/>
          <p:nvPr/>
        </p:nvSpPr>
        <p:spPr>
          <a:xfrm>
            <a:off x="8892206" y="4504616"/>
            <a:ext cx="2673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Thin pigeonite lamellae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F4F48B2-F8A3-432F-9F20-6FCB524B2415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7286625" y="4689282"/>
            <a:ext cx="1605581" cy="258206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7EF38A3-6812-4D25-A190-8F150F94C982}"/>
              </a:ext>
            </a:extLst>
          </p:cNvPr>
          <p:cNvSpPr txBox="1"/>
          <p:nvPr/>
        </p:nvSpPr>
        <p:spPr>
          <a:xfrm>
            <a:off x="8952097" y="5394048"/>
            <a:ext cx="1762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Augite crystals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12BB82F-157F-41EB-A1FB-B85BD9B82780}"/>
              </a:ext>
            </a:extLst>
          </p:cNvPr>
          <p:cNvCxnSpPr>
            <a:cxnSpLocks/>
            <a:stCxn id="52" idx="1"/>
          </p:cNvCxnSpPr>
          <p:nvPr/>
        </p:nvCxnSpPr>
        <p:spPr>
          <a:xfrm flipH="1" flipV="1">
            <a:off x="7421880" y="5446574"/>
            <a:ext cx="1530217" cy="13214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EEAE89B-33FE-414F-B12B-976EF9A89169}"/>
              </a:ext>
            </a:extLst>
          </p:cNvPr>
          <p:cNvSpPr txBox="1"/>
          <p:nvPr/>
        </p:nvSpPr>
        <p:spPr>
          <a:xfrm>
            <a:off x="6146962" y="5885331"/>
            <a:ext cx="2196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Humphreys &amp; </a:t>
            </a:r>
            <a:r>
              <a:rPr lang="en-GB" sz="1200" dirty="0" err="1">
                <a:solidFill>
                  <a:schemeClr val="bg1"/>
                </a:solidFill>
              </a:rPr>
              <a:t>Holness</a:t>
            </a:r>
            <a:r>
              <a:rPr lang="en-GB" sz="1200" dirty="0">
                <a:solidFill>
                  <a:schemeClr val="bg1"/>
                </a:solidFill>
              </a:rPr>
              <a:t> (2010)</a:t>
            </a:r>
          </a:p>
        </p:txBody>
      </p:sp>
    </p:spTree>
    <p:extLst>
      <p:ext uri="{BB962C8B-B14F-4D97-AF65-F5344CB8AC3E}">
        <p14:creationId xmlns:p14="http://schemas.microsoft.com/office/powerpoint/2010/main" val="382184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4" grpId="0" animBg="1"/>
      <p:bldP spid="37" grpId="0" animBg="1"/>
      <p:bldP spid="51" grpId="0" animBg="1"/>
      <p:bldP spid="50" grpId="0" animBg="1"/>
      <p:bldP spid="115" grpId="0"/>
      <p:bldP spid="116" grpId="0"/>
      <p:bldP spid="47" grpId="0"/>
      <p:bldP spid="52" grpId="0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Content Placeholder 92">
            <a:extLst>
              <a:ext uri="{FF2B5EF4-FFF2-40B4-BE49-F238E27FC236}">
                <a16:creationId xmlns:a16="http://schemas.microsoft.com/office/drawing/2014/main" id="{94F434DE-85C1-456A-88E0-0C2238194A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3803" y="1840257"/>
            <a:ext cx="4748794" cy="432207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4172E7-68C9-4B8D-AE7C-346D5CE4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diagrams and mineral textures: pyroxenes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5D6C6-DA1E-4AA8-944B-2A2B288FA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5458" y="1825625"/>
            <a:ext cx="5441218" cy="4530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i="1" dirty="0"/>
              <a:t>Fast cooling </a:t>
            </a:r>
            <a:r>
              <a:rPr lang="en-GB" sz="1600" i="1" dirty="0"/>
              <a:t>(far from equilibrium)</a:t>
            </a:r>
          </a:p>
          <a:p>
            <a:r>
              <a:rPr lang="en-GB" dirty="0"/>
              <a:t>Homogenous augite and/or pigeonite without exsolution lamellae</a:t>
            </a:r>
          </a:p>
          <a:p>
            <a:r>
              <a:rPr lang="en-GB" dirty="0"/>
              <a:t>Homogenous crystals are commonly found in volcanic rocks (i.e. lavas)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2D0B6-4CF4-41DA-BDFC-24380093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DAA65-7183-4CC9-83EA-1E2165FC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</a:t>
            </a:r>
            <a:r>
              <a:rPr lang="en-GB"/>
              <a:t>Part 4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94D67-7ED0-4B46-A81F-8D64B7C6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28</a:t>
            </a:fld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318B6A-5D01-492E-9A75-6F0A9906BF0B}"/>
              </a:ext>
            </a:extLst>
          </p:cNvPr>
          <p:cNvSpPr/>
          <p:nvPr/>
        </p:nvSpPr>
        <p:spPr>
          <a:xfrm>
            <a:off x="4492667" y="2936357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5BE9A6-0F66-4DC8-9B89-F770EF8CBB45}"/>
              </a:ext>
            </a:extLst>
          </p:cNvPr>
          <p:cNvCxnSpPr>
            <a:cxnSpLocks/>
          </p:cNvCxnSpPr>
          <p:nvPr/>
        </p:nvCxnSpPr>
        <p:spPr>
          <a:xfrm flipH="1">
            <a:off x="3533764" y="2996248"/>
            <a:ext cx="948239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3D13660-EF9D-4F91-8F0C-03CD14EDC37C}"/>
              </a:ext>
            </a:extLst>
          </p:cNvPr>
          <p:cNvCxnSpPr>
            <a:cxnSpLocks/>
          </p:cNvCxnSpPr>
          <p:nvPr/>
        </p:nvCxnSpPr>
        <p:spPr>
          <a:xfrm flipH="1">
            <a:off x="2566443" y="2997317"/>
            <a:ext cx="1915560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280BFEC-D4DC-46C3-BAED-E96B83033726}"/>
              </a:ext>
            </a:extLst>
          </p:cNvPr>
          <p:cNvCxnSpPr>
            <a:cxnSpLocks/>
          </p:cNvCxnSpPr>
          <p:nvPr/>
        </p:nvCxnSpPr>
        <p:spPr>
          <a:xfrm flipH="1">
            <a:off x="2517407" y="5517648"/>
            <a:ext cx="2050864" cy="1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02C46691-9AEE-4F12-BBB4-52AEE4DCF7BF}"/>
              </a:ext>
            </a:extLst>
          </p:cNvPr>
          <p:cNvSpPr/>
          <p:nvPr/>
        </p:nvSpPr>
        <p:spPr>
          <a:xfrm>
            <a:off x="2445100" y="2936357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C0A4102-4737-407C-9FFA-C0BEEA6B767F}"/>
              </a:ext>
            </a:extLst>
          </p:cNvPr>
          <p:cNvSpPr/>
          <p:nvPr/>
        </p:nvSpPr>
        <p:spPr>
          <a:xfrm>
            <a:off x="2436185" y="5456688"/>
            <a:ext cx="121920" cy="1219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6B32F18-2874-4B46-AA7C-61A89A08BCE7}"/>
              </a:ext>
            </a:extLst>
          </p:cNvPr>
          <p:cNvSpPr/>
          <p:nvPr/>
        </p:nvSpPr>
        <p:spPr>
          <a:xfrm>
            <a:off x="4523418" y="5456688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D9EBC28-79AB-46DC-ADDD-8184A9867365}"/>
              </a:ext>
            </a:extLst>
          </p:cNvPr>
          <p:cNvSpPr txBox="1"/>
          <p:nvPr/>
        </p:nvSpPr>
        <p:spPr>
          <a:xfrm>
            <a:off x="4020581" y="3107396"/>
            <a:ext cx="566854" cy="276999"/>
          </a:xfrm>
          <a:prstGeom prst="rect">
            <a:avLst/>
          </a:prstGeom>
          <a:solidFill>
            <a:srgbClr val="ECECEC"/>
          </a:solidFill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Aug</a:t>
            </a:r>
            <a:r>
              <a:rPr lang="en-GB" sz="1200" i="1" baseline="-25000" dirty="0" err="1">
                <a:solidFill>
                  <a:schemeClr val="accent1"/>
                </a:solidFill>
              </a:rPr>
              <a:t>ss</a:t>
            </a:r>
            <a:endParaRPr lang="en-GB" sz="1200" i="1" baseline="-25000" dirty="0">
              <a:solidFill>
                <a:schemeClr val="accent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260DFE8-E145-4C11-8EFE-117168AB3A02}"/>
              </a:ext>
            </a:extLst>
          </p:cNvPr>
          <p:cNvSpPr txBox="1"/>
          <p:nvPr/>
        </p:nvSpPr>
        <p:spPr>
          <a:xfrm>
            <a:off x="2517407" y="3107396"/>
            <a:ext cx="69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4"/>
                </a:solidFill>
              </a:rPr>
              <a:t>Pig</a:t>
            </a:r>
            <a:r>
              <a:rPr lang="en-GB" sz="1200" i="1" baseline="-25000" dirty="0" err="1">
                <a:solidFill>
                  <a:schemeClr val="accent4"/>
                </a:solidFill>
              </a:rPr>
              <a:t>ss</a:t>
            </a:r>
            <a:endParaRPr lang="en-GB" sz="1200" i="1" baseline="-25000" dirty="0">
              <a:solidFill>
                <a:schemeClr val="accent4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3281289-9F0B-4E63-A4BF-FF3DEF18DE78}"/>
              </a:ext>
            </a:extLst>
          </p:cNvPr>
          <p:cNvCxnSpPr>
            <a:cxnSpLocks/>
          </p:cNvCxnSpPr>
          <p:nvPr/>
        </p:nvCxnSpPr>
        <p:spPr>
          <a:xfrm>
            <a:off x="4553199" y="3071672"/>
            <a:ext cx="30145" cy="2335948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A7CE5F6-41A4-43F4-8190-6BEB723B5AC2}"/>
              </a:ext>
            </a:extLst>
          </p:cNvPr>
          <p:cNvCxnSpPr>
            <a:cxnSpLocks/>
          </p:cNvCxnSpPr>
          <p:nvPr/>
        </p:nvCxnSpPr>
        <p:spPr>
          <a:xfrm flipH="1">
            <a:off x="2497145" y="3082420"/>
            <a:ext cx="8917" cy="2325200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tree&#10;&#10;Description automatically generated">
            <a:extLst>
              <a:ext uri="{FF2B5EF4-FFF2-40B4-BE49-F238E27FC236}">
                <a16:creationId xmlns:a16="http://schemas.microsoft.com/office/drawing/2014/main" id="{E6BB56DA-C5E9-45B2-B9D0-C99814106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492" y="3945516"/>
            <a:ext cx="3008534" cy="2216814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0B6BF01-CCF3-4EDA-AE11-65729D19F5D2}"/>
              </a:ext>
            </a:extLst>
          </p:cNvPr>
          <p:cNvCxnSpPr>
            <a:cxnSpLocks/>
          </p:cNvCxnSpPr>
          <p:nvPr/>
        </p:nvCxnSpPr>
        <p:spPr>
          <a:xfrm flipH="1" flipV="1">
            <a:off x="8213338" y="4808399"/>
            <a:ext cx="1530217" cy="13214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79AA2BE-A75C-45E0-9A40-DF4C00CEC4C3}"/>
              </a:ext>
            </a:extLst>
          </p:cNvPr>
          <p:cNvSpPr txBox="1"/>
          <p:nvPr/>
        </p:nvSpPr>
        <p:spPr>
          <a:xfrm>
            <a:off x="9743555" y="4617373"/>
            <a:ext cx="1719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Homogenous</a:t>
            </a:r>
          </a:p>
          <a:p>
            <a:r>
              <a:rPr lang="en-GB" dirty="0"/>
              <a:t>augite crystal</a:t>
            </a:r>
          </a:p>
        </p:txBody>
      </p:sp>
    </p:spTree>
    <p:extLst>
      <p:ext uri="{BB962C8B-B14F-4D97-AF65-F5344CB8AC3E}">
        <p14:creationId xmlns:p14="http://schemas.microsoft.com/office/powerpoint/2010/main" val="264737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4" grpId="0" animBg="1"/>
      <p:bldP spid="37" grpId="0" animBg="1"/>
      <p:bldP spid="51" grpId="0" animBg="1"/>
      <p:bldP spid="50" grpId="0" animBg="1"/>
      <p:bldP spid="115" grpId="0" animBg="1"/>
      <p:bldP spid="116" grpId="0"/>
      <p:bldP spid="4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Map&#10;&#10;Description automatically generated">
            <a:extLst>
              <a:ext uri="{FF2B5EF4-FFF2-40B4-BE49-F238E27FC236}">
                <a16:creationId xmlns:a16="http://schemas.microsoft.com/office/drawing/2014/main" id="{5798975A-2328-4F77-A766-5917A857F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206" y="3044774"/>
            <a:ext cx="1800000" cy="1344079"/>
          </a:xfrm>
          <a:prstGeom prst="rect">
            <a:avLst/>
          </a:prstGeom>
        </p:spPr>
      </p:pic>
      <p:pic>
        <p:nvPicPr>
          <p:cNvPr id="22" name="Picture 21" descr="A picture containing person, skirt&#10;&#10;Description automatically generated">
            <a:extLst>
              <a:ext uri="{FF2B5EF4-FFF2-40B4-BE49-F238E27FC236}">
                <a16:creationId xmlns:a16="http://schemas.microsoft.com/office/drawing/2014/main" id="{CD75C242-A002-4B93-92AB-5BB23E22B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800" y="4388853"/>
            <a:ext cx="1800000" cy="13483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A77242-2DB0-46E0-A8B0-8F4D062B5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Which pyroxene grows where?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E50F1-8521-4F96-A6B3-E99026A96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29</a:t>
            </a:fld>
            <a:endParaRPr lang="en-GB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88C3E69-B93E-4D5C-AD57-136506AB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6500DD4-CCA3-47D9-9B2D-4DB00B31C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32759" y="6356350"/>
            <a:ext cx="4526481" cy="365125"/>
          </a:xfrm>
        </p:spPr>
        <p:txBody>
          <a:bodyPr/>
          <a:lstStyle/>
          <a:p>
            <a:r>
              <a:rPr lang="en-GB" dirty="0"/>
              <a:t>EART26201 | Principles of Geochemistry | Lecture 4 | Part 4</a:t>
            </a:r>
          </a:p>
        </p:txBody>
      </p:sp>
      <p:pic>
        <p:nvPicPr>
          <p:cNvPr id="1026" name="Picture 2" descr="Section 4: Volcanic Landforms | Nitty Gritty Science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774" y="1541145"/>
            <a:ext cx="644829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cture containing tree&#10;&#10;Description automatically generated">
            <a:extLst>
              <a:ext uri="{FF2B5EF4-FFF2-40B4-BE49-F238E27FC236}">
                <a16:creationId xmlns:a16="http://schemas.microsoft.com/office/drawing/2014/main" id="{E6BB56DA-C5E9-45B2-B9D0-C998141066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800" y="1716342"/>
            <a:ext cx="1800000" cy="132631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377950" y="1765300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7708900" y="2507429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7353300" y="3435985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8616950" y="4540250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1377950" y="4461674"/>
            <a:ext cx="355600" cy="355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7531100" y="4540250"/>
            <a:ext cx="355600" cy="355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9447074" y="3308350"/>
            <a:ext cx="355600" cy="355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5952380" y="3130550"/>
            <a:ext cx="355600" cy="355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3410334" y="3130550"/>
            <a:ext cx="355600" cy="355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6214804" y="5373100"/>
            <a:ext cx="355600" cy="355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02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Melting and crystallisation in geochemical systems: phase diagram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4</a:t>
            </a:r>
          </a:p>
          <a:p>
            <a:r>
              <a:rPr lang="en-GB" dirty="0"/>
              <a:t>Part 5 | Binary phase diagrams with a peritectic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888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a peritectic: </a:t>
            </a:r>
            <a:r>
              <a:rPr lang="en-GB" dirty="0" err="1"/>
              <a:t>Fo</a:t>
            </a:r>
            <a:r>
              <a:rPr lang="en-GB" dirty="0"/>
              <a:t>–</a:t>
            </a:r>
            <a:r>
              <a:rPr lang="en-GB" dirty="0" err="1"/>
              <a:t>Qz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1" y="1870075"/>
            <a:ext cx="4498856" cy="4094594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Key reactions in basalt crystallisation</a:t>
                </a:r>
                <a:endParaRPr lang="en-GB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: 	Forsterite (</a:t>
                </a:r>
                <a:r>
                  <a:rPr lang="en-GB" dirty="0" err="1"/>
                  <a:t>Fo</a:t>
                </a:r>
                <a:r>
                  <a:rPr lang="en-GB" dirty="0"/>
                  <a:t>; Mg</a:t>
                </a:r>
                <a:r>
                  <a:rPr lang="en-GB" baseline="-25000" dirty="0"/>
                  <a:t>2</a:t>
                </a:r>
                <a:r>
                  <a:rPr lang="en-GB" dirty="0"/>
                  <a:t>SiO</a:t>
                </a:r>
                <a:r>
                  <a:rPr lang="en-GB" baseline="-25000" dirty="0"/>
                  <a:t>4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	Quartz (</a:t>
                </a:r>
                <a:r>
                  <a:rPr lang="en-GB" dirty="0" err="1"/>
                  <a:t>Qz</a:t>
                </a:r>
                <a:r>
                  <a:rPr lang="en-GB" dirty="0"/>
                  <a:t>; SiO</a:t>
                </a:r>
                <a:r>
                  <a:rPr lang="en-GB" baseline="-25000" dirty="0"/>
                  <a:t>2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dirty="0"/>
                  <a:t>:	forsterite (</a:t>
                </a:r>
                <a:r>
                  <a:rPr lang="en-GB" dirty="0" err="1"/>
                  <a:t>Fo</a:t>
                </a:r>
                <a:r>
                  <a:rPr lang="en-GB" dirty="0"/>
                  <a:t>; Mg</a:t>
                </a:r>
                <a:r>
                  <a:rPr lang="en-GB" baseline="-25000" dirty="0"/>
                  <a:t>2</a:t>
                </a:r>
                <a:r>
                  <a:rPr lang="en-GB" dirty="0"/>
                  <a:t>SiO</a:t>
                </a:r>
                <a:r>
                  <a:rPr lang="en-GB" baseline="-25000" dirty="0"/>
                  <a:t>4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	cristobalite (Cr; SiO</a:t>
                </a:r>
                <a:r>
                  <a:rPr lang="en-GB" baseline="-25000" dirty="0"/>
                  <a:t>2</a:t>
                </a:r>
                <a:r>
                  <a:rPr lang="en-GB" dirty="0"/>
                  <a:t>)</a:t>
                </a:r>
                <a:r>
                  <a:rPr lang="en-GB" dirty="0">
                    <a:solidFill>
                      <a:schemeClr val="accent3"/>
                    </a:solidFill>
                  </a:rPr>
                  <a:t>*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3"/>
                    </a:solidFill>
                  </a:rPr>
                  <a:t>	</a:t>
                </a:r>
                <a:r>
                  <a:rPr lang="en-GB" dirty="0"/>
                  <a:t>enstatite (En; MgSiO</a:t>
                </a:r>
                <a:r>
                  <a:rPr lang="en-GB" baseline="-25000" dirty="0"/>
                  <a:t>3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	melt (</a:t>
                </a:r>
                <a:r>
                  <a:rPr lang="en-GB" i="1" dirty="0"/>
                  <a:t>L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1"/>
                    </a:solidFill>
                  </a:rPr>
                  <a:t>Eutectic reaction: L → En + Cr (</a:t>
                </a:r>
                <a:r>
                  <a:rPr lang="en-GB" i="1" dirty="0">
                    <a:solidFill>
                      <a:schemeClr val="accent1"/>
                    </a:solidFill>
                  </a:rPr>
                  <a:t>invariant</a:t>
                </a:r>
                <a:r>
                  <a:rPr lang="en-GB" dirty="0">
                    <a:solidFill>
                      <a:schemeClr val="accent1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2"/>
                    </a:solidFill>
                  </a:rPr>
                  <a:t>Peritectic reaction: Fo + L → En (</a:t>
                </a:r>
                <a:r>
                  <a:rPr lang="en-GB" i="1" dirty="0">
                    <a:solidFill>
                      <a:schemeClr val="accent2"/>
                    </a:solidFill>
                  </a:rPr>
                  <a:t>invariant</a:t>
                </a:r>
                <a:r>
                  <a:rPr lang="en-GB" dirty="0">
                    <a:solidFill>
                      <a:schemeClr val="accent2"/>
                    </a:solidFill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:r>
                  <a:rPr lang="en-GB" sz="1800" dirty="0">
                    <a:solidFill>
                      <a:schemeClr val="accent3"/>
                    </a:solidFill>
                  </a:rPr>
                  <a:t>*cristobalite (Cr) is a high-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800" dirty="0">
                    <a:solidFill>
                      <a:schemeClr val="accent3"/>
                    </a:solidFill>
                  </a:rPr>
                  <a:t> SiO</a:t>
                </a:r>
                <a:r>
                  <a:rPr lang="en-GB" sz="1800" baseline="-25000" dirty="0">
                    <a:solidFill>
                      <a:schemeClr val="accent3"/>
                    </a:solidFill>
                  </a:rPr>
                  <a:t>2</a:t>
                </a:r>
                <a:r>
                  <a:rPr lang="en-GB" sz="1800" dirty="0">
                    <a:solidFill>
                      <a:schemeClr val="accent3"/>
                    </a:solidFill>
                  </a:rPr>
                  <a:t> polymorph</a:t>
                </a:r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  <a:blipFill>
                <a:blip r:embed="rId4"/>
                <a:stretch>
                  <a:fillRect l="-1396" t="-1541" b="-9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31</a:t>
            </a:fld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961516-BA60-45A0-9A35-2A7C4B9E8F29}"/>
              </a:ext>
            </a:extLst>
          </p:cNvPr>
          <p:cNvSpPr/>
          <p:nvPr/>
        </p:nvSpPr>
        <p:spPr>
          <a:xfrm>
            <a:off x="1951317" y="1956136"/>
            <a:ext cx="1717041" cy="3418504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B575EFE-BC83-4C67-895E-140772ABFCC6}"/>
              </a:ext>
            </a:extLst>
          </p:cNvPr>
          <p:cNvSpPr/>
          <p:nvPr/>
        </p:nvSpPr>
        <p:spPr>
          <a:xfrm rot="5400000">
            <a:off x="3074079" y="4236574"/>
            <a:ext cx="540000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7853BDE-0C7F-4101-8D95-40D81B80052C}"/>
              </a:ext>
            </a:extLst>
          </p:cNvPr>
          <p:cNvSpPr/>
          <p:nvPr/>
        </p:nvSpPr>
        <p:spPr>
          <a:xfrm rot="5400000">
            <a:off x="2784350" y="4083598"/>
            <a:ext cx="540000" cy="1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7B6409-A58F-428D-A67F-413C11B763A8}"/>
              </a:ext>
            </a:extLst>
          </p:cNvPr>
          <p:cNvSpPr txBox="1"/>
          <p:nvPr/>
        </p:nvSpPr>
        <p:spPr>
          <a:xfrm>
            <a:off x="1951317" y="1562298"/>
            <a:ext cx="1741301" cy="30777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Focus on this part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11E7B-3C0B-437E-A6F7-45F8F865D588}"/>
              </a:ext>
            </a:extLst>
          </p:cNvPr>
          <p:cNvSpPr txBox="1"/>
          <p:nvPr/>
        </p:nvSpPr>
        <p:spPr>
          <a:xfrm>
            <a:off x="5110480" y="274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824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4" grpId="0" animBg="1"/>
      <p:bldP spid="3" grpId="0" uiExpand="1" animBg="1"/>
      <p:bldP spid="13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5700-D723-46B3-AF76-6C62C1254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phase diagram with a peritectic: </a:t>
            </a:r>
            <a:r>
              <a:rPr lang="en-GB" dirty="0" err="1"/>
              <a:t>Fo</a:t>
            </a:r>
            <a:r>
              <a:rPr lang="en-GB" dirty="0"/>
              <a:t>–</a:t>
            </a:r>
            <a:r>
              <a:rPr lang="en-GB" dirty="0" err="1"/>
              <a:t>Qz</a:t>
            </a:r>
            <a:endParaRPr lang="en-GB" dirty="0"/>
          </a:p>
        </p:txBody>
      </p:sp>
      <p:pic>
        <p:nvPicPr>
          <p:cNvPr id="9" name="Content Placeholder 8" descr="A picture containing umbrella&#10;&#10;Description automatically generated">
            <a:extLst>
              <a:ext uri="{FF2B5EF4-FFF2-40B4-BE49-F238E27FC236}">
                <a16:creationId xmlns:a16="http://schemas.microsoft.com/office/drawing/2014/main" id="{4E867CF2-4601-4953-BA7B-B6E3238916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03" y="1854663"/>
            <a:ext cx="4748794" cy="432207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50C5A62-1CCE-441A-B97F-EFCBB04A29F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61442" y="1825625"/>
                <a:ext cx="5459058" cy="4530725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GB" i="1" dirty="0">
                    <a:solidFill>
                      <a:prstClr val="black"/>
                    </a:solidFill>
                  </a:rPr>
                  <a:t>Equilibrium crystallisation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between </a:t>
                </a:r>
                <a:r>
                  <a:rPr lang="en-GB" dirty="0" err="1"/>
                  <a:t>Fo</a:t>
                </a:r>
                <a:r>
                  <a:rPr lang="en-GB" dirty="0"/>
                  <a:t> and En</a:t>
                </a:r>
              </a:p>
              <a:p>
                <a:pPr lvl="0"/>
                <a:r>
                  <a:rPr lang="en-GB" dirty="0">
                    <a:solidFill>
                      <a:prstClr val="black"/>
                    </a:solidFill>
                  </a:rPr>
                  <a:t>L → </a:t>
                </a:r>
                <a:r>
                  <a:rPr lang="en-GB" dirty="0" err="1">
                    <a:solidFill>
                      <a:prstClr val="black"/>
                    </a:solidFill>
                  </a:rPr>
                  <a:t>Fo</a:t>
                </a:r>
                <a:r>
                  <a:rPr lang="en-GB" dirty="0">
                    <a:solidFill>
                      <a:prstClr val="black"/>
                    </a:solidFill>
                  </a:rPr>
                  <a:t> (liquidus)</a:t>
                </a:r>
              </a:p>
              <a:p>
                <a:pPr lvl="0"/>
                <a:r>
                  <a:rPr lang="en-GB" dirty="0" err="1">
                    <a:solidFill>
                      <a:prstClr val="black"/>
                    </a:solidFill>
                  </a:rPr>
                  <a:t>Fo</a:t>
                </a:r>
                <a:r>
                  <a:rPr lang="en-GB" dirty="0">
                    <a:solidFill>
                      <a:prstClr val="black"/>
                    </a:solidFill>
                  </a:rPr>
                  <a:t> + L → En (</a:t>
                </a:r>
                <a:r>
                  <a:rPr lang="en-GB" dirty="0">
                    <a:solidFill>
                      <a:schemeClr val="accent2"/>
                    </a:solidFill>
                  </a:rPr>
                  <a:t>peritectic</a:t>
                </a:r>
                <a:r>
                  <a:rPr lang="en-GB" dirty="0">
                    <a:solidFill>
                      <a:prstClr val="black"/>
                    </a:solidFill>
                  </a:rPr>
                  <a:t>)</a:t>
                </a:r>
              </a:p>
              <a:p>
                <a:pPr lvl="0"/>
                <a:r>
                  <a:rPr lang="en-GB" dirty="0">
                    <a:solidFill>
                      <a:prstClr val="black"/>
                    </a:solidFill>
                  </a:rPr>
                  <a:t>Peritectic reaction continues until either </a:t>
                </a:r>
                <a:r>
                  <a:rPr lang="en-GB" dirty="0" err="1">
                    <a:solidFill>
                      <a:prstClr val="black"/>
                    </a:solidFill>
                  </a:rPr>
                  <a:t>Fo</a:t>
                </a:r>
                <a:r>
                  <a:rPr lang="en-GB" dirty="0">
                    <a:solidFill>
                      <a:prstClr val="black"/>
                    </a:solidFill>
                  </a:rPr>
                  <a:t> or L is exhausted.</a:t>
                </a:r>
              </a:p>
              <a:p>
                <a:pPr lvl="0"/>
                <a:r>
                  <a:rPr lang="en-GB" dirty="0">
                    <a:solidFill>
                      <a:prstClr val="black"/>
                    </a:solidFill>
                  </a:rPr>
                  <a:t>L is exhausted leaving </a:t>
                </a:r>
                <a:r>
                  <a:rPr lang="en-GB" dirty="0" err="1">
                    <a:solidFill>
                      <a:prstClr val="black"/>
                    </a:solidFill>
                  </a:rPr>
                  <a:t>Fo</a:t>
                </a:r>
                <a:r>
                  <a:rPr lang="en-GB" dirty="0">
                    <a:solidFill>
                      <a:prstClr val="black"/>
                    </a:solidFill>
                  </a:rPr>
                  <a:t> and En</a:t>
                </a:r>
              </a:p>
              <a:p>
                <a:pPr marL="0" lvl="0" indent="0">
                  <a:buNone/>
                </a:pPr>
                <a:r>
                  <a:rPr lang="en-GB" i="1" dirty="0">
                    <a:solidFill>
                      <a:prstClr val="black"/>
                    </a:solidFill>
                  </a:rPr>
                  <a:t>Equilibrium melting </a:t>
                </a:r>
              </a:p>
              <a:p>
                <a:pPr lvl="0"/>
                <a:r>
                  <a:rPr lang="en-GB" dirty="0">
                    <a:solidFill>
                      <a:prstClr val="black"/>
                    </a:solidFill>
                  </a:rPr>
                  <a:t>Opposite of equilibrium crystallisation</a:t>
                </a:r>
              </a:p>
              <a:p>
                <a:pPr marL="0" indent="0" algn="ctr">
                  <a:buNone/>
                </a:pPr>
                <a:r>
                  <a:rPr lang="en-GB" i="1" dirty="0">
                    <a:solidFill>
                      <a:schemeClr val="tx2"/>
                    </a:solidFill>
                  </a:rPr>
                  <a:t>Incongruent melting: first liquid is </a:t>
                </a:r>
                <a:r>
                  <a:rPr lang="en-GB" i="1" u="sng" dirty="0">
                    <a:solidFill>
                      <a:schemeClr val="tx2"/>
                    </a:solidFill>
                  </a:rPr>
                  <a:t>outside</a:t>
                </a:r>
                <a:r>
                  <a:rPr lang="en-GB" i="1" dirty="0">
                    <a:solidFill>
                      <a:schemeClr val="tx2"/>
                    </a:solidFill>
                  </a:rPr>
                  <a:t> the compositional system</a:t>
                </a:r>
              </a:p>
              <a:p>
                <a:pPr marL="0" lvl="0" indent="0">
                  <a:buNone/>
                </a:pPr>
                <a:endParaRPr lang="en-GB" dirty="0">
                  <a:solidFill>
                    <a:prstClr val="black"/>
                  </a:solidFill>
                </a:endParaRPr>
              </a:p>
              <a:p>
                <a:pPr lvl="0"/>
                <a:endParaRPr lang="en-GB" dirty="0">
                  <a:solidFill>
                    <a:prstClr val="black"/>
                  </a:solidFill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50C5A62-1CCE-441A-B97F-EFCBB04A29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61442" y="1825625"/>
                <a:ext cx="5459058" cy="4530725"/>
              </a:xfrm>
              <a:blipFill>
                <a:blip r:embed="rId4"/>
                <a:stretch>
                  <a:fillRect l="-1788" t="-2554" r="-16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64BB0-732C-462C-8416-DCCBAB70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08E04-55B5-4120-9C89-99FE654DD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079D7-4313-4745-9234-900D19BC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32</a:t>
            </a:fld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D33103-CC3E-4EA5-9B97-C66673CB224D}"/>
              </a:ext>
            </a:extLst>
          </p:cNvPr>
          <p:cNvSpPr/>
          <p:nvPr/>
        </p:nvSpPr>
        <p:spPr>
          <a:xfrm>
            <a:off x="3253740" y="2251483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65CA6-E486-4522-99B0-B812E205191A}"/>
              </a:ext>
            </a:extLst>
          </p:cNvPr>
          <p:cNvSpPr txBox="1"/>
          <p:nvPr/>
        </p:nvSpPr>
        <p:spPr>
          <a:xfrm>
            <a:off x="3331845" y="2122511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FD0521-8507-433B-92A3-4978D69550FF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1930908" y="2974549"/>
            <a:ext cx="1322832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43E7368-A2F8-419F-AE3C-BF0A18A2ED78}"/>
              </a:ext>
            </a:extLst>
          </p:cNvPr>
          <p:cNvSpPr/>
          <p:nvPr/>
        </p:nvSpPr>
        <p:spPr>
          <a:xfrm>
            <a:off x="3253740" y="2913589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6679E9-4E6F-4C3F-853D-50B2EC1C905E}"/>
              </a:ext>
            </a:extLst>
          </p:cNvPr>
          <p:cNvSpPr/>
          <p:nvPr/>
        </p:nvSpPr>
        <p:spPr>
          <a:xfrm>
            <a:off x="1808988" y="2899183"/>
            <a:ext cx="121920" cy="121920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8BC782-9546-48AD-BC99-0AFEE06F65ED}"/>
              </a:ext>
            </a:extLst>
          </p:cNvPr>
          <p:cNvSpPr txBox="1"/>
          <p:nvPr/>
        </p:nvSpPr>
        <p:spPr>
          <a:xfrm>
            <a:off x="3314700" y="2717021"/>
            <a:ext cx="383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FF20A7-8FCE-4116-92AD-B73C12AE57F8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3314700" y="2387809"/>
            <a:ext cx="0" cy="525780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7B1FC83-D98E-4CE4-A81A-674397EF5FEF}"/>
              </a:ext>
            </a:extLst>
          </p:cNvPr>
          <p:cNvSpPr txBox="1"/>
          <p:nvPr/>
        </p:nvSpPr>
        <p:spPr>
          <a:xfrm>
            <a:off x="1870271" y="2717021"/>
            <a:ext cx="572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Fo</a:t>
            </a:r>
            <a:endParaRPr lang="en-GB" sz="1200" i="1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65AE11-98B3-46EA-8CE2-AD6CC4026DA0}"/>
              </a:ext>
            </a:extLst>
          </p:cNvPr>
          <p:cNvSpPr txBox="1"/>
          <p:nvPr/>
        </p:nvSpPr>
        <p:spPr>
          <a:xfrm>
            <a:off x="1486022" y="2836049"/>
            <a:ext cx="362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E0A4F8-ED15-43E1-9473-B449639EBB5B}"/>
              </a:ext>
            </a:extLst>
          </p:cNvPr>
          <p:cNvCxnSpPr>
            <a:cxnSpLocks/>
          </p:cNvCxnSpPr>
          <p:nvPr/>
        </p:nvCxnSpPr>
        <p:spPr>
          <a:xfrm>
            <a:off x="3375660" y="3067636"/>
            <a:ext cx="819150" cy="1493520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8FBC1AC-F1D7-4B64-B360-EA9B865711CC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3314700" y="3035509"/>
            <a:ext cx="0" cy="1582211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E989DD3-B829-4A8A-831D-97E76E6D2277}"/>
              </a:ext>
            </a:extLst>
          </p:cNvPr>
          <p:cNvCxnSpPr>
            <a:cxnSpLocks/>
            <a:stCxn id="32" idx="6"/>
            <a:endCxn id="30" idx="2"/>
          </p:cNvCxnSpPr>
          <p:nvPr/>
        </p:nvCxnSpPr>
        <p:spPr>
          <a:xfrm>
            <a:off x="1935222" y="4626511"/>
            <a:ext cx="2226057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CCB5071-4917-40D6-9340-17EF3B76CD00}"/>
              </a:ext>
            </a:extLst>
          </p:cNvPr>
          <p:cNvSpPr/>
          <p:nvPr/>
        </p:nvSpPr>
        <p:spPr>
          <a:xfrm>
            <a:off x="3976878" y="4565551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A04D4B8-A328-4A0D-8A4F-546620AEC09C}"/>
              </a:ext>
            </a:extLst>
          </p:cNvPr>
          <p:cNvSpPr/>
          <p:nvPr/>
        </p:nvSpPr>
        <p:spPr>
          <a:xfrm>
            <a:off x="4161279" y="4565551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FB91877-2F51-4AEE-BC22-975236A41316}"/>
              </a:ext>
            </a:extLst>
          </p:cNvPr>
          <p:cNvSpPr/>
          <p:nvPr/>
        </p:nvSpPr>
        <p:spPr>
          <a:xfrm>
            <a:off x="1813302" y="4565551"/>
            <a:ext cx="121920" cy="121920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279C13-C6D9-4045-9CF5-421AA314B11C}"/>
              </a:ext>
            </a:extLst>
          </p:cNvPr>
          <p:cNvSpPr txBox="1"/>
          <p:nvPr/>
        </p:nvSpPr>
        <p:spPr>
          <a:xfrm>
            <a:off x="1491606" y="4488011"/>
            <a:ext cx="362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B323C8-9E98-4124-BF71-DB553102813E}"/>
              </a:ext>
            </a:extLst>
          </p:cNvPr>
          <p:cNvSpPr txBox="1"/>
          <p:nvPr/>
        </p:nvSpPr>
        <p:spPr>
          <a:xfrm>
            <a:off x="1870271" y="4376885"/>
            <a:ext cx="572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Fo</a:t>
            </a:r>
            <a:endParaRPr lang="en-GB" sz="1200" i="1" dirty="0">
              <a:solidFill>
                <a:schemeClr val="accent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418666-12C8-4913-901B-668A4596D9AC}"/>
              </a:ext>
            </a:extLst>
          </p:cNvPr>
          <p:cNvSpPr txBox="1"/>
          <p:nvPr/>
        </p:nvSpPr>
        <p:spPr>
          <a:xfrm>
            <a:off x="3683504" y="4376885"/>
            <a:ext cx="490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En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293211-E81B-4AC3-AE93-426CB4B618E9}"/>
              </a:ext>
            </a:extLst>
          </p:cNvPr>
          <p:cNvSpPr txBox="1"/>
          <p:nvPr/>
        </p:nvSpPr>
        <p:spPr>
          <a:xfrm>
            <a:off x="4256086" y="4372975"/>
            <a:ext cx="383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0737B69-5F8A-44B7-8A09-5FB50B1DF2BB}"/>
              </a:ext>
            </a:extLst>
          </p:cNvPr>
          <p:cNvCxnSpPr>
            <a:cxnSpLocks/>
          </p:cNvCxnSpPr>
          <p:nvPr/>
        </p:nvCxnSpPr>
        <p:spPr>
          <a:xfrm>
            <a:off x="3314700" y="4687471"/>
            <a:ext cx="0" cy="777480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D6BE166-B65A-4989-AC37-D420D0533E1A}"/>
              </a:ext>
            </a:extLst>
          </p:cNvPr>
          <p:cNvCxnSpPr>
            <a:cxnSpLocks/>
            <a:stCxn id="63" idx="6"/>
          </p:cNvCxnSpPr>
          <p:nvPr/>
        </p:nvCxnSpPr>
        <p:spPr>
          <a:xfrm>
            <a:off x="1947869" y="5525911"/>
            <a:ext cx="211930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C709B9E9-B2F9-4E13-B224-907A1FE5118B}"/>
              </a:ext>
            </a:extLst>
          </p:cNvPr>
          <p:cNvSpPr/>
          <p:nvPr/>
        </p:nvSpPr>
        <p:spPr>
          <a:xfrm>
            <a:off x="3989525" y="5464951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954DD73-F66E-4D1D-B62B-850C0B127F29}"/>
              </a:ext>
            </a:extLst>
          </p:cNvPr>
          <p:cNvSpPr/>
          <p:nvPr/>
        </p:nvSpPr>
        <p:spPr>
          <a:xfrm>
            <a:off x="1825949" y="5464951"/>
            <a:ext cx="121920" cy="121920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CDDE777-B896-4E47-A646-DB03C40815C0}"/>
              </a:ext>
            </a:extLst>
          </p:cNvPr>
          <p:cNvSpPr txBox="1"/>
          <p:nvPr/>
        </p:nvSpPr>
        <p:spPr>
          <a:xfrm>
            <a:off x="1504253" y="5387411"/>
            <a:ext cx="362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22E927-3268-4BFE-B79F-BE5CFBB8CAB4}"/>
              </a:ext>
            </a:extLst>
          </p:cNvPr>
          <p:cNvSpPr txBox="1"/>
          <p:nvPr/>
        </p:nvSpPr>
        <p:spPr>
          <a:xfrm>
            <a:off x="1882918" y="5276285"/>
            <a:ext cx="572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Fo</a:t>
            </a:r>
            <a:endParaRPr lang="en-GB" sz="1200" i="1" dirty="0">
              <a:solidFill>
                <a:schemeClr val="accent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0B372E-9C72-4A34-879D-1174323C5BA5}"/>
              </a:ext>
            </a:extLst>
          </p:cNvPr>
          <p:cNvSpPr txBox="1"/>
          <p:nvPr/>
        </p:nvSpPr>
        <p:spPr>
          <a:xfrm>
            <a:off x="3696151" y="5276285"/>
            <a:ext cx="490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167650-C354-43AD-806D-AED864CEE62D}"/>
              </a:ext>
            </a:extLst>
          </p:cNvPr>
          <p:cNvSpPr txBox="1"/>
          <p:nvPr/>
        </p:nvSpPr>
        <p:spPr>
          <a:xfrm>
            <a:off x="3706657" y="3431793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solidFill>
                  <a:schemeClr val="accent6"/>
                </a:solidFill>
              </a:rPr>
              <a:t>Liquid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E646C-78D9-476F-A99A-B595C02DC958}"/>
              </a:ext>
            </a:extLst>
          </p:cNvPr>
          <p:cNvSpPr txBox="1"/>
          <p:nvPr/>
        </p:nvSpPr>
        <p:spPr>
          <a:xfrm>
            <a:off x="2560812" y="3682735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solidFill>
                  <a:schemeClr val="accent3"/>
                </a:solidFill>
              </a:rPr>
              <a:t>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E1AB8D-57D4-8B85-5ED0-32ECE7E1003D}"/>
              </a:ext>
            </a:extLst>
          </p:cNvPr>
          <p:cNvSpPr txBox="1"/>
          <p:nvPr/>
        </p:nvSpPr>
        <p:spPr>
          <a:xfrm>
            <a:off x="4212565" y="2437638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/>
              <a:t>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2159E0-EED5-728B-08F5-96D80811CDB8}"/>
              </a:ext>
            </a:extLst>
          </p:cNvPr>
          <p:cNvSpPr txBox="1"/>
          <p:nvPr/>
        </p:nvSpPr>
        <p:spPr>
          <a:xfrm>
            <a:off x="4737054" y="4364900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Cr+L</a:t>
            </a:r>
            <a:endParaRPr lang="en-GB" sz="2000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1B6265-5945-BC18-5040-0BB1BB63676A}"/>
              </a:ext>
            </a:extLst>
          </p:cNvPr>
          <p:cNvSpPr txBox="1"/>
          <p:nvPr/>
        </p:nvSpPr>
        <p:spPr>
          <a:xfrm>
            <a:off x="4369018" y="4944624"/>
            <a:ext cx="918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En+Cr</a:t>
            </a:r>
            <a:endParaRPr lang="en-GB" sz="2000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5A1020-7AF6-C84F-FFDA-8D2653C4BB7F}"/>
              </a:ext>
            </a:extLst>
          </p:cNvPr>
          <p:cNvSpPr txBox="1"/>
          <p:nvPr/>
        </p:nvSpPr>
        <p:spPr>
          <a:xfrm>
            <a:off x="2054705" y="4862401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Fo+En</a:t>
            </a:r>
            <a:endParaRPr lang="en-GB" sz="2000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FADC6F-C55D-A0F8-5492-32C3DF2DA3CF}"/>
              </a:ext>
            </a:extLst>
          </p:cNvPr>
          <p:cNvSpPr txBox="1"/>
          <p:nvPr/>
        </p:nvSpPr>
        <p:spPr>
          <a:xfrm>
            <a:off x="2035231" y="3107569"/>
            <a:ext cx="776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Fo+L</a:t>
            </a:r>
            <a:endParaRPr lang="en-GB" sz="2000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4583C4-D9F3-8648-0E1C-49599496EFAD}"/>
              </a:ext>
            </a:extLst>
          </p:cNvPr>
          <p:cNvSpPr txBox="1"/>
          <p:nvPr/>
        </p:nvSpPr>
        <p:spPr>
          <a:xfrm>
            <a:off x="4290194" y="3976737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En+L</a:t>
            </a:r>
            <a:endParaRPr lang="en-GB" sz="2000" i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7A1653-3FFA-CD12-3710-0D68A58AE3A2}"/>
              </a:ext>
            </a:extLst>
          </p:cNvPr>
          <p:cNvCxnSpPr/>
          <p:nvPr/>
        </p:nvCxnSpPr>
        <p:spPr>
          <a:xfrm flipH="1">
            <a:off x="4448049" y="4364900"/>
            <a:ext cx="289005" cy="400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02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1" grpId="0" animBg="1"/>
      <p:bldP spid="13" grpId="0"/>
      <p:bldP spid="14" grpId="0" animBg="1"/>
      <p:bldP spid="15" grpId="0" animBg="1"/>
      <p:bldP spid="20" grpId="0"/>
      <p:bldP spid="27" grpId="0"/>
      <p:bldP spid="28" grpId="0"/>
      <p:bldP spid="31" grpId="0" animBg="1"/>
      <p:bldP spid="30" grpId="0" animBg="1"/>
      <p:bldP spid="32" grpId="0" animBg="1"/>
      <p:bldP spid="44" grpId="0"/>
      <p:bldP spid="45" grpId="0"/>
      <p:bldP spid="46" grpId="0"/>
      <p:bldP spid="47" grpId="0"/>
      <p:bldP spid="62" grpId="0" animBg="1"/>
      <p:bldP spid="63" grpId="0" animBg="1"/>
      <p:bldP spid="64" grpId="0"/>
      <p:bldP spid="65" grpId="0"/>
      <p:bldP spid="66" grpId="0"/>
      <p:bldP spid="3" grpId="0"/>
      <p:bldP spid="3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picture containing umbrella&#10;&#10;Description automatically generated">
            <a:extLst>
              <a:ext uri="{FF2B5EF4-FFF2-40B4-BE49-F238E27FC236}">
                <a16:creationId xmlns:a16="http://schemas.microsoft.com/office/drawing/2014/main" id="{4E867CF2-4601-4953-BA7B-B6E3238916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00" y="1854663"/>
            <a:ext cx="4748794" cy="4322073"/>
          </a:xfrm>
          <a:prstGeom prst="rect">
            <a:avLst/>
          </a:prstGeom>
        </p:spPr>
      </p:pic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91ACC64-B217-40D0-94DE-58833803DB78}"/>
              </a:ext>
            </a:extLst>
          </p:cNvPr>
          <p:cNvCxnSpPr>
            <a:cxnSpLocks/>
          </p:cNvCxnSpPr>
          <p:nvPr/>
        </p:nvCxnSpPr>
        <p:spPr>
          <a:xfrm>
            <a:off x="4125214" y="4649974"/>
            <a:ext cx="0" cy="127821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819E715C-557E-4F37-A374-EF94CEE2FC9B}"/>
              </a:ext>
            </a:extLst>
          </p:cNvPr>
          <p:cNvSpPr/>
          <p:nvPr/>
        </p:nvSpPr>
        <p:spPr>
          <a:xfrm>
            <a:off x="1259205" y="4215765"/>
            <a:ext cx="575383" cy="259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50C5A62-1CCE-441A-B97F-EFCBB04A29F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63852" y="1825398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i="1" dirty="0"/>
                  <a:t>Equilibrium crystallisation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 between En and peritectic</a:t>
                </a:r>
              </a:p>
              <a:p>
                <a:r>
                  <a:rPr lang="en-GB" dirty="0"/>
                  <a:t>L → </a:t>
                </a:r>
                <a:r>
                  <a:rPr lang="en-GB" dirty="0" err="1"/>
                  <a:t>Fo</a:t>
                </a:r>
                <a:r>
                  <a:rPr lang="en-GB" dirty="0"/>
                  <a:t> (liquidus)</a:t>
                </a:r>
              </a:p>
              <a:p>
                <a:r>
                  <a:rPr lang="en-GB" dirty="0" err="1"/>
                  <a:t>Fo</a:t>
                </a:r>
                <a:r>
                  <a:rPr lang="en-GB" dirty="0"/>
                  <a:t> + L → En (</a:t>
                </a:r>
                <a:r>
                  <a:rPr lang="en-GB" dirty="0">
                    <a:solidFill>
                      <a:schemeClr val="accent2"/>
                    </a:solidFill>
                  </a:rPr>
                  <a:t>peritectic</a:t>
                </a:r>
                <a:r>
                  <a:rPr lang="en-GB" dirty="0"/>
                  <a:t>)</a:t>
                </a:r>
              </a:p>
              <a:p>
                <a:r>
                  <a:rPr lang="en-GB" dirty="0"/>
                  <a:t>Peritectic reaction continues until either </a:t>
                </a:r>
                <a:r>
                  <a:rPr lang="en-GB" dirty="0" err="1"/>
                  <a:t>Fo</a:t>
                </a:r>
                <a:r>
                  <a:rPr lang="en-GB" dirty="0"/>
                  <a:t> or L is exhausted.</a:t>
                </a:r>
              </a:p>
              <a:p>
                <a:r>
                  <a:rPr lang="en-GB" dirty="0" err="1"/>
                  <a:t>Fo</a:t>
                </a:r>
                <a:r>
                  <a:rPr lang="en-GB" dirty="0"/>
                  <a:t> is exhausted leaving L + En</a:t>
                </a:r>
              </a:p>
              <a:p>
                <a:r>
                  <a:rPr lang="en-GB" dirty="0"/>
                  <a:t>L → En (liquidus)</a:t>
                </a:r>
              </a:p>
              <a:p>
                <a:r>
                  <a:rPr lang="en-GB" dirty="0"/>
                  <a:t>L → En + Cr (</a:t>
                </a:r>
                <a:r>
                  <a:rPr lang="en-GB" dirty="0">
                    <a:solidFill>
                      <a:schemeClr val="accent1"/>
                    </a:solidFill>
                  </a:rPr>
                  <a:t>eutectic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50C5A62-1CCE-441A-B97F-EFCBB04A29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63852" y="1825398"/>
                <a:ext cx="5181600" cy="4351338"/>
              </a:xfrm>
              <a:blipFill>
                <a:blip r:embed="rId4"/>
                <a:stretch>
                  <a:fillRect l="-1765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64BB0-732C-462C-8416-DCCBAB70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08E04-55B5-4120-9C89-99FE654DD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079D7-4313-4745-9234-900D19BC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33</a:t>
            </a:fld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D33103-CC3E-4EA5-9B97-C66673CB224D}"/>
              </a:ext>
            </a:extLst>
          </p:cNvPr>
          <p:cNvSpPr/>
          <p:nvPr/>
        </p:nvSpPr>
        <p:spPr>
          <a:xfrm>
            <a:off x="4060889" y="2238579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65CA6-E486-4522-99B0-B812E205191A}"/>
              </a:ext>
            </a:extLst>
          </p:cNvPr>
          <p:cNvSpPr txBox="1"/>
          <p:nvPr/>
        </p:nvSpPr>
        <p:spPr>
          <a:xfrm>
            <a:off x="4147817" y="2161805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FD0521-8507-433B-92A3-4978D69550FF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1935222" y="4414784"/>
            <a:ext cx="2129032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8BC782-9546-48AD-BC99-0AFEE06F65ED}"/>
              </a:ext>
            </a:extLst>
          </p:cNvPr>
          <p:cNvSpPr txBox="1"/>
          <p:nvPr/>
        </p:nvSpPr>
        <p:spPr>
          <a:xfrm>
            <a:off x="4125083" y="4169513"/>
            <a:ext cx="383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6679E9-4E6F-4C3F-853D-50B2EC1C905E}"/>
              </a:ext>
            </a:extLst>
          </p:cNvPr>
          <p:cNvSpPr/>
          <p:nvPr/>
        </p:nvSpPr>
        <p:spPr>
          <a:xfrm>
            <a:off x="1813302" y="4355123"/>
            <a:ext cx="121920" cy="121920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FF20A7-8FCE-4116-92AD-B73C12AE57F8}"/>
              </a:ext>
            </a:extLst>
          </p:cNvPr>
          <p:cNvCxnSpPr>
            <a:cxnSpLocks/>
          </p:cNvCxnSpPr>
          <p:nvPr/>
        </p:nvCxnSpPr>
        <p:spPr>
          <a:xfrm>
            <a:off x="4121849" y="2373403"/>
            <a:ext cx="6731" cy="1980421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865AE11-98B3-46EA-8CE2-AD6CC4026DA0}"/>
              </a:ext>
            </a:extLst>
          </p:cNvPr>
          <p:cNvSpPr txBox="1"/>
          <p:nvPr/>
        </p:nvSpPr>
        <p:spPr>
          <a:xfrm>
            <a:off x="1491015" y="4283623"/>
            <a:ext cx="362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E0A4F8-ED15-43E1-9473-B449639EBB5B}"/>
              </a:ext>
            </a:extLst>
          </p:cNvPr>
          <p:cNvCxnSpPr>
            <a:cxnSpLocks/>
          </p:cNvCxnSpPr>
          <p:nvPr/>
        </p:nvCxnSpPr>
        <p:spPr>
          <a:xfrm>
            <a:off x="4244528" y="4446512"/>
            <a:ext cx="47506" cy="133495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8FBC1AC-F1D7-4B64-B360-EA9B865711CC}"/>
              </a:ext>
            </a:extLst>
          </p:cNvPr>
          <p:cNvCxnSpPr>
            <a:cxnSpLocks/>
          </p:cNvCxnSpPr>
          <p:nvPr/>
        </p:nvCxnSpPr>
        <p:spPr>
          <a:xfrm>
            <a:off x="4125214" y="4430956"/>
            <a:ext cx="0" cy="180000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E989DD3-B829-4A8A-831D-97E76E6D2277}"/>
              </a:ext>
            </a:extLst>
          </p:cNvPr>
          <p:cNvCxnSpPr>
            <a:cxnSpLocks/>
            <a:stCxn id="32" idx="6"/>
            <a:endCxn id="30" idx="2"/>
          </p:cNvCxnSpPr>
          <p:nvPr/>
        </p:nvCxnSpPr>
        <p:spPr>
          <a:xfrm>
            <a:off x="1935222" y="4626511"/>
            <a:ext cx="2226057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CCB5071-4917-40D6-9340-17EF3B76CD00}"/>
              </a:ext>
            </a:extLst>
          </p:cNvPr>
          <p:cNvSpPr/>
          <p:nvPr/>
        </p:nvSpPr>
        <p:spPr>
          <a:xfrm>
            <a:off x="3976878" y="4565551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A04D4B8-A328-4A0D-8A4F-546620AEC09C}"/>
              </a:ext>
            </a:extLst>
          </p:cNvPr>
          <p:cNvSpPr/>
          <p:nvPr/>
        </p:nvSpPr>
        <p:spPr>
          <a:xfrm>
            <a:off x="4161279" y="4565551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FB91877-2F51-4AEE-BC22-975236A41316}"/>
              </a:ext>
            </a:extLst>
          </p:cNvPr>
          <p:cNvSpPr/>
          <p:nvPr/>
        </p:nvSpPr>
        <p:spPr>
          <a:xfrm>
            <a:off x="1813302" y="4565551"/>
            <a:ext cx="121920" cy="121920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279C13-C6D9-4045-9CF5-421AA314B11C}"/>
              </a:ext>
            </a:extLst>
          </p:cNvPr>
          <p:cNvSpPr txBox="1"/>
          <p:nvPr/>
        </p:nvSpPr>
        <p:spPr>
          <a:xfrm>
            <a:off x="1491606" y="4488011"/>
            <a:ext cx="362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B323C8-9E98-4124-BF71-DB553102813E}"/>
              </a:ext>
            </a:extLst>
          </p:cNvPr>
          <p:cNvSpPr txBox="1"/>
          <p:nvPr/>
        </p:nvSpPr>
        <p:spPr>
          <a:xfrm>
            <a:off x="1870271" y="4376885"/>
            <a:ext cx="572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Fo</a:t>
            </a:r>
            <a:endParaRPr lang="en-GB" sz="1200" i="1" dirty="0">
              <a:solidFill>
                <a:schemeClr val="accent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418666-12C8-4913-901B-668A4596D9AC}"/>
              </a:ext>
            </a:extLst>
          </p:cNvPr>
          <p:cNvSpPr txBox="1"/>
          <p:nvPr/>
        </p:nvSpPr>
        <p:spPr>
          <a:xfrm>
            <a:off x="3671601" y="4376885"/>
            <a:ext cx="403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En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293211-E81B-4AC3-AE93-426CB4B618E9}"/>
              </a:ext>
            </a:extLst>
          </p:cNvPr>
          <p:cNvSpPr txBox="1"/>
          <p:nvPr/>
        </p:nvSpPr>
        <p:spPr>
          <a:xfrm>
            <a:off x="4225480" y="4334849"/>
            <a:ext cx="383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D6BE166-B65A-4989-AC37-D420D0533E1A}"/>
              </a:ext>
            </a:extLst>
          </p:cNvPr>
          <p:cNvCxnSpPr>
            <a:cxnSpLocks/>
            <a:stCxn id="62" idx="6"/>
            <a:endCxn id="71" idx="2"/>
          </p:cNvCxnSpPr>
          <p:nvPr/>
        </p:nvCxnSpPr>
        <p:spPr>
          <a:xfrm>
            <a:off x="4111445" y="5525911"/>
            <a:ext cx="1312387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80B372E-9C72-4A34-879D-1174323C5BA5}"/>
              </a:ext>
            </a:extLst>
          </p:cNvPr>
          <p:cNvSpPr txBox="1"/>
          <p:nvPr/>
        </p:nvSpPr>
        <p:spPr>
          <a:xfrm>
            <a:off x="3671601" y="5276285"/>
            <a:ext cx="393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En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3E7368-A2F8-419F-AE3C-BF0A18A2ED78}"/>
              </a:ext>
            </a:extLst>
          </p:cNvPr>
          <p:cNvSpPr/>
          <p:nvPr/>
        </p:nvSpPr>
        <p:spPr>
          <a:xfrm>
            <a:off x="4064254" y="4353824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4223EA-8557-4389-BD0E-105D3BABAF59}"/>
              </a:ext>
            </a:extLst>
          </p:cNvPr>
          <p:cNvSpPr txBox="1"/>
          <p:nvPr/>
        </p:nvSpPr>
        <p:spPr>
          <a:xfrm>
            <a:off x="1888112" y="4165916"/>
            <a:ext cx="572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Fo</a:t>
            </a:r>
            <a:endParaRPr lang="en-GB" sz="1200" i="1" dirty="0">
              <a:solidFill>
                <a:schemeClr val="accent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72DCE6-521C-443E-A2D9-755C6E758593}"/>
              </a:ext>
            </a:extLst>
          </p:cNvPr>
          <p:cNvSpPr txBox="1"/>
          <p:nvPr/>
        </p:nvSpPr>
        <p:spPr>
          <a:xfrm>
            <a:off x="4840835" y="4564523"/>
            <a:ext cx="383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L3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5179994-3488-4FA8-A89F-B9EF703B0464}"/>
              </a:ext>
            </a:extLst>
          </p:cNvPr>
          <p:cNvCxnSpPr>
            <a:cxnSpLocks/>
          </p:cNvCxnSpPr>
          <p:nvPr/>
        </p:nvCxnSpPr>
        <p:spPr>
          <a:xfrm>
            <a:off x="4099606" y="4795814"/>
            <a:ext cx="132422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310F032B-1B7D-4877-80ED-86AA7184BF3C}"/>
              </a:ext>
            </a:extLst>
          </p:cNvPr>
          <p:cNvSpPr/>
          <p:nvPr/>
        </p:nvSpPr>
        <p:spPr>
          <a:xfrm>
            <a:off x="4775452" y="4734854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1DA89AD-9A1F-4087-B35A-5A57723666B2}"/>
              </a:ext>
            </a:extLst>
          </p:cNvPr>
          <p:cNvSpPr/>
          <p:nvPr/>
        </p:nvSpPr>
        <p:spPr>
          <a:xfrm>
            <a:off x="5423832" y="4734854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C6C3A7-C910-4045-9715-63C263D3B93F}"/>
              </a:ext>
            </a:extLst>
          </p:cNvPr>
          <p:cNvSpPr txBox="1"/>
          <p:nvPr/>
        </p:nvSpPr>
        <p:spPr>
          <a:xfrm>
            <a:off x="3671601" y="4777795"/>
            <a:ext cx="403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En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43A6082-77C3-472C-AF1E-C5E923D8F406}"/>
              </a:ext>
            </a:extLst>
          </p:cNvPr>
          <p:cNvCxnSpPr>
            <a:cxnSpLocks/>
          </p:cNvCxnSpPr>
          <p:nvPr/>
        </p:nvCxnSpPr>
        <p:spPr>
          <a:xfrm flipH="1" flipV="1">
            <a:off x="1918335" y="4793735"/>
            <a:ext cx="2055525" cy="2079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255E10D-BCDC-49BA-8FE5-A82480ECFFAA}"/>
              </a:ext>
            </a:extLst>
          </p:cNvPr>
          <p:cNvSpPr txBox="1"/>
          <p:nvPr/>
        </p:nvSpPr>
        <p:spPr>
          <a:xfrm>
            <a:off x="1493562" y="4655236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187CF9-ABB7-443A-A583-A03B4BA08834}"/>
              </a:ext>
            </a:extLst>
          </p:cNvPr>
          <p:cNvSpPr txBox="1"/>
          <p:nvPr/>
        </p:nvSpPr>
        <p:spPr>
          <a:xfrm>
            <a:off x="5132332" y="4777795"/>
            <a:ext cx="403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Cr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67D3B81-4E12-47B4-89ED-F6FA576641F4}"/>
              </a:ext>
            </a:extLst>
          </p:cNvPr>
          <p:cNvSpPr/>
          <p:nvPr/>
        </p:nvSpPr>
        <p:spPr>
          <a:xfrm>
            <a:off x="5423832" y="5464951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A5B2FD1-658D-4733-90F4-46EE597BB70B}"/>
              </a:ext>
            </a:extLst>
          </p:cNvPr>
          <p:cNvCxnSpPr>
            <a:cxnSpLocks/>
            <a:stCxn id="62" idx="2"/>
          </p:cNvCxnSpPr>
          <p:nvPr/>
        </p:nvCxnSpPr>
        <p:spPr>
          <a:xfrm flipH="1">
            <a:off x="1918335" y="5525911"/>
            <a:ext cx="2071190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533715D6-699B-46AF-9E91-783FB4873AFA}"/>
              </a:ext>
            </a:extLst>
          </p:cNvPr>
          <p:cNvSpPr txBox="1"/>
          <p:nvPr/>
        </p:nvSpPr>
        <p:spPr>
          <a:xfrm>
            <a:off x="1509227" y="5393736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95819F1-5643-4352-9C43-D03C86AF7D4C}"/>
              </a:ext>
            </a:extLst>
          </p:cNvPr>
          <p:cNvSpPr/>
          <p:nvPr/>
        </p:nvSpPr>
        <p:spPr>
          <a:xfrm>
            <a:off x="3977686" y="4734854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709B9E9-B2F9-4E13-B224-907A1FE5118B}"/>
              </a:ext>
            </a:extLst>
          </p:cNvPr>
          <p:cNvSpPr/>
          <p:nvPr/>
        </p:nvSpPr>
        <p:spPr>
          <a:xfrm>
            <a:off x="3989525" y="5464951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4E9E0EB-D39B-4579-AD7E-6864EAC3F941}"/>
              </a:ext>
            </a:extLst>
          </p:cNvPr>
          <p:cNvSpPr txBox="1"/>
          <p:nvPr/>
        </p:nvSpPr>
        <p:spPr>
          <a:xfrm>
            <a:off x="5127072" y="5276284"/>
            <a:ext cx="403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Cr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40B8B15-7BD0-4856-ADE9-2E852F276F17}"/>
              </a:ext>
            </a:extLst>
          </p:cNvPr>
          <p:cNvCxnSpPr>
            <a:cxnSpLocks/>
          </p:cNvCxnSpPr>
          <p:nvPr/>
        </p:nvCxnSpPr>
        <p:spPr>
          <a:xfrm>
            <a:off x="5545752" y="4793735"/>
            <a:ext cx="232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BA8DF4C-3B23-4547-8E11-6E0023E3689F}"/>
              </a:ext>
            </a:extLst>
          </p:cNvPr>
          <p:cNvCxnSpPr>
            <a:cxnSpLocks/>
            <a:stCxn id="71" idx="6"/>
          </p:cNvCxnSpPr>
          <p:nvPr/>
        </p:nvCxnSpPr>
        <p:spPr>
          <a:xfrm>
            <a:off x="5545752" y="5525911"/>
            <a:ext cx="232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F7A0D46-C83E-4418-B90C-EA3FBC9F45B1}"/>
              </a:ext>
            </a:extLst>
          </p:cNvPr>
          <p:cNvCxnSpPr>
            <a:cxnSpLocks/>
          </p:cNvCxnSpPr>
          <p:nvPr/>
        </p:nvCxnSpPr>
        <p:spPr>
          <a:xfrm>
            <a:off x="4125214" y="4849488"/>
            <a:ext cx="0" cy="652152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itle 91">
            <a:extLst>
              <a:ext uri="{FF2B5EF4-FFF2-40B4-BE49-F238E27FC236}">
                <a16:creationId xmlns:a16="http://schemas.microsoft.com/office/drawing/2014/main" id="{209BF00C-3C42-4500-8CD5-E89D140A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phase diagram with a peritectic: </a:t>
            </a:r>
            <a:r>
              <a:rPr lang="en-GB" dirty="0" err="1"/>
              <a:t>Fo</a:t>
            </a:r>
            <a:r>
              <a:rPr lang="en-GB" dirty="0"/>
              <a:t>–</a:t>
            </a:r>
            <a:r>
              <a:rPr lang="en-GB" dirty="0" err="1"/>
              <a:t>Qz</a:t>
            </a:r>
            <a:endParaRPr lang="en-GB" dirty="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0867A06-1A30-4417-B6AB-A4D5402789F4}"/>
              </a:ext>
            </a:extLst>
          </p:cNvPr>
          <p:cNvCxnSpPr>
            <a:cxnSpLocks/>
          </p:cNvCxnSpPr>
          <p:nvPr/>
        </p:nvCxnSpPr>
        <p:spPr>
          <a:xfrm>
            <a:off x="4385319" y="4568301"/>
            <a:ext cx="401941" cy="97017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7B8EF28-716A-A8AB-015B-7AA772353E2F}"/>
              </a:ext>
            </a:extLst>
          </p:cNvPr>
          <p:cNvSpPr txBox="1"/>
          <p:nvPr/>
        </p:nvSpPr>
        <p:spPr>
          <a:xfrm>
            <a:off x="4212565" y="2437638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/>
              <a:t>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70EDC-68A0-8EC3-7158-564812CCD1FE}"/>
              </a:ext>
            </a:extLst>
          </p:cNvPr>
          <p:cNvSpPr txBox="1"/>
          <p:nvPr/>
        </p:nvSpPr>
        <p:spPr>
          <a:xfrm>
            <a:off x="4771890" y="4251683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Cr+L</a:t>
            </a:r>
            <a:endParaRPr lang="en-GB" sz="20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EB385D-CEC3-F2C6-0696-2CEA6936DDCF}"/>
              </a:ext>
            </a:extLst>
          </p:cNvPr>
          <p:cNvSpPr txBox="1"/>
          <p:nvPr/>
        </p:nvSpPr>
        <p:spPr>
          <a:xfrm>
            <a:off x="4369018" y="4944624"/>
            <a:ext cx="918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En+Cr</a:t>
            </a:r>
            <a:endParaRPr lang="en-GB" sz="20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1B7C6-CFDF-D708-3BA3-3C74AF5B4DFC}"/>
              </a:ext>
            </a:extLst>
          </p:cNvPr>
          <p:cNvSpPr txBox="1"/>
          <p:nvPr/>
        </p:nvSpPr>
        <p:spPr>
          <a:xfrm>
            <a:off x="2054705" y="4862401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Fo+En</a:t>
            </a:r>
            <a:endParaRPr lang="en-GB" sz="20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B9F22F-0DD0-395C-10F2-67417DC77EB6}"/>
              </a:ext>
            </a:extLst>
          </p:cNvPr>
          <p:cNvSpPr txBox="1"/>
          <p:nvPr/>
        </p:nvSpPr>
        <p:spPr>
          <a:xfrm>
            <a:off x="2035231" y="3107569"/>
            <a:ext cx="776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Fo+L</a:t>
            </a:r>
            <a:endParaRPr lang="en-GB" sz="2000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0B96E9-C292-6982-D5C0-3544307138F2}"/>
              </a:ext>
            </a:extLst>
          </p:cNvPr>
          <p:cNvSpPr txBox="1"/>
          <p:nvPr/>
        </p:nvSpPr>
        <p:spPr>
          <a:xfrm>
            <a:off x="4290194" y="3976737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En+L</a:t>
            </a:r>
            <a:endParaRPr lang="en-GB" sz="2000" i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9CAD2E-40C0-D46C-CBE6-D12EA6BCD42E}"/>
              </a:ext>
            </a:extLst>
          </p:cNvPr>
          <p:cNvCxnSpPr/>
          <p:nvPr/>
        </p:nvCxnSpPr>
        <p:spPr>
          <a:xfrm flipH="1">
            <a:off x="4448049" y="4364900"/>
            <a:ext cx="289005" cy="400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88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11" grpId="0" animBg="1"/>
      <p:bldP spid="13" grpId="0"/>
      <p:bldP spid="20" grpId="0"/>
      <p:bldP spid="15" grpId="0" animBg="1"/>
      <p:bldP spid="28" grpId="0"/>
      <p:bldP spid="31" grpId="0" animBg="1"/>
      <p:bldP spid="30" grpId="0" animBg="1"/>
      <p:bldP spid="32" grpId="0" animBg="1"/>
      <p:bldP spid="44" grpId="0"/>
      <p:bldP spid="45" grpId="0"/>
      <p:bldP spid="46" grpId="0"/>
      <p:bldP spid="47" grpId="0"/>
      <p:bldP spid="66" grpId="0"/>
      <p:bldP spid="14" grpId="0" animBg="1"/>
      <p:bldP spid="29" grpId="0"/>
      <p:bldP spid="38" grpId="0"/>
      <p:bldP spid="34" grpId="0" animBg="1"/>
      <p:bldP spid="36" grpId="0" animBg="1"/>
      <p:bldP spid="42" grpId="0"/>
      <p:bldP spid="68" grpId="0"/>
      <p:bldP spid="55" grpId="0"/>
      <p:bldP spid="71" grpId="0" animBg="1"/>
      <p:bldP spid="76" grpId="0"/>
      <p:bldP spid="35" grpId="0" animBg="1"/>
      <p:bldP spid="62" grpId="0" animBg="1"/>
      <p:bldP spid="8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5700-D723-46B3-AF76-6C62C1254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phase diagram with a peritectic: </a:t>
            </a:r>
            <a:r>
              <a:rPr lang="en-GB" dirty="0" err="1"/>
              <a:t>Fo</a:t>
            </a:r>
            <a:r>
              <a:rPr lang="en-GB" dirty="0"/>
              <a:t>–</a:t>
            </a:r>
            <a:r>
              <a:rPr lang="en-GB" dirty="0" err="1"/>
              <a:t>Qz</a:t>
            </a:r>
            <a:endParaRPr lang="en-GB" dirty="0"/>
          </a:p>
        </p:txBody>
      </p:sp>
      <p:pic>
        <p:nvPicPr>
          <p:cNvPr id="9" name="Content Placeholder 8" descr="A picture containing umbrella&#10;&#10;Description automatically generated">
            <a:extLst>
              <a:ext uri="{FF2B5EF4-FFF2-40B4-BE49-F238E27FC236}">
                <a16:creationId xmlns:a16="http://schemas.microsoft.com/office/drawing/2014/main" id="{4E867CF2-4601-4953-BA7B-B6E3238916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21" y="1862482"/>
            <a:ext cx="4748794" cy="432207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50C5A62-1CCE-441A-B97F-EFCBB04A29F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61442" y="1825625"/>
                <a:ext cx="5553636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i="1" dirty="0"/>
                  <a:t>Fractional crystallisation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initially between </a:t>
                </a:r>
                <a:r>
                  <a:rPr lang="en-GB" dirty="0" err="1"/>
                  <a:t>Fo</a:t>
                </a:r>
                <a:r>
                  <a:rPr lang="en-GB" dirty="0"/>
                  <a:t> and En</a:t>
                </a:r>
              </a:p>
              <a:p>
                <a:r>
                  <a:rPr lang="en-GB" dirty="0"/>
                  <a:t>L → </a:t>
                </a:r>
                <a:r>
                  <a:rPr lang="en-GB" dirty="0" err="1"/>
                  <a:t>Fo</a:t>
                </a:r>
                <a:r>
                  <a:rPr lang="en-GB" dirty="0"/>
                  <a:t> (liquidus)</a:t>
                </a:r>
              </a:p>
              <a:p>
                <a:r>
                  <a:rPr lang="en-GB" dirty="0" err="1"/>
                  <a:t>Fo</a:t>
                </a:r>
                <a:r>
                  <a:rPr lang="en-GB" dirty="0"/>
                  <a:t> is removed from the system</a:t>
                </a:r>
              </a:p>
              <a:p>
                <a:r>
                  <a:rPr lang="en-GB" dirty="0"/>
                  <a:t>Peritectic reaction cannot occur because there is no </a:t>
                </a:r>
                <a:r>
                  <a:rPr lang="en-GB" dirty="0" err="1"/>
                  <a:t>Fo</a:t>
                </a:r>
                <a:endParaRPr lang="en-GB" dirty="0"/>
              </a:p>
              <a:p>
                <a:r>
                  <a:rPr lang="en-GB" dirty="0"/>
                  <a:t>L → En (liquidus)</a:t>
                </a:r>
              </a:p>
              <a:p>
                <a:r>
                  <a:rPr lang="en-GB" dirty="0"/>
                  <a:t>L → En + Cr (</a:t>
                </a:r>
                <a:r>
                  <a:rPr lang="en-GB" dirty="0">
                    <a:solidFill>
                      <a:schemeClr val="accent1"/>
                    </a:solidFill>
                  </a:rPr>
                  <a:t>eutectic</a:t>
                </a:r>
                <a:r>
                  <a:rPr lang="en-GB" dirty="0"/>
                  <a:t>)</a:t>
                </a:r>
              </a:p>
              <a:p>
                <a:r>
                  <a:rPr lang="en-GB" dirty="0"/>
                  <a:t>Last liquid at the eutectic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50C5A62-1CCE-441A-B97F-EFCBB04A29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61442" y="1825625"/>
                <a:ext cx="5553636" cy="4351338"/>
              </a:xfrm>
              <a:blipFill>
                <a:blip r:embed="rId3"/>
                <a:stretch>
                  <a:fillRect l="-1756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64BB0-732C-462C-8416-DCCBAB70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08E04-55B5-4120-9C89-99FE654DD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079D7-4313-4745-9234-900D19BC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34</a:t>
            </a:fld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D33103-CC3E-4EA5-9B97-C66673CB224D}"/>
              </a:ext>
            </a:extLst>
          </p:cNvPr>
          <p:cNvSpPr/>
          <p:nvPr/>
        </p:nvSpPr>
        <p:spPr>
          <a:xfrm>
            <a:off x="3243580" y="2251483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65CA6-E486-4522-99B0-B812E205191A}"/>
              </a:ext>
            </a:extLst>
          </p:cNvPr>
          <p:cNvSpPr txBox="1"/>
          <p:nvPr/>
        </p:nvSpPr>
        <p:spPr>
          <a:xfrm>
            <a:off x="3321685" y="2122511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FD0521-8507-433B-92A3-4978D69550FF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1920748" y="2974549"/>
            <a:ext cx="1322832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43E7368-A2F8-419F-AE3C-BF0A18A2ED78}"/>
              </a:ext>
            </a:extLst>
          </p:cNvPr>
          <p:cNvSpPr/>
          <p:nvPr/>
        </p:nvSpPr>
        <p:spPr>
          <a:xfrm>
            <a:off x="3243580" y="2913589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6679E9-4E6F-4C3F-853D-50B2EC1C905E}"/>
              </a:ext>
            </a:extLst>
          </p:cNvPr>
          <p:cNvSpPr/>
          <p:nvPr/>
        </p:nvSpPr>
        <p:spPr>
          <a:xfrm>
            <a:off x="1798828" y="2899183"/>
            <a:ext cx="121920" cy="121920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8BC782-9546-48AD-BC99-0AFEE06F65ED}"/>
              </a:ext>
            </a:extLst>
          </p:cNvPr>
          <p:cNvSpPr txBox="1"/>
          <p:nvPr/>
        </p:nvSpPr>
        <p:spPr>
          <a:xfrm>
            <a:off x="3304540" y="2717021"/>
            <a:ext cx="383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FF20A7-8FCE-4116-92AD-B73C12AE57F8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3304540" y="2387809"/>
            <a:ext cx="0" cy="525780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7B1FC83-D98E-4CE4-A81A-674397EF5FEF}"/>
              </a:ext>
            </a:extLst>
          </p:cNvPr>
          <p:cNvSpPr txBox="1"/>
          <p:nvPr/>
        </p:nvSpPr>
        <p:spPr>
          <a:xfrm>
            <a:off x="1860111" y="2717021"/>
            <a:ext cx="572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err="1">
                <a:solidFill>
                  <a:schemeClr val="accent1"/>
                </a:solidFill>
              </a:rPr>
              <a:t>Fo</a:t>
            </a:r>
            <a:endParaRPr lang="en-GB" sz="1200" i="1" dirty="0">
              <a:solidFill>
                <a:schemeClr val="accent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E0A4F8-ED15-43E1-9473-B449639EBB5B}"/>
              </a:ext>
            </a:extLst>
          </p:cNvPr>
          <p:cNvCxnSpPr>
            <a:cxnSpLocks/>
          </p:cNvCxnSpPr>
          <p:nvPr/>
        </p:nvCxnSpPr>
        <p:spPr>
          <a:xfrm>
            <a:off x="3365500" y="3067636"/>
            <a:ext cx="819150" cy="1493520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E989DD3-B829-4A8A-831D-97E76E6D2277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4088638" y="4626511"/>
            <a:ext cx="62481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CCB5071-4917-40D6-9340-17EF3B76CD00}"/>
              </a:ext>
            </a:extLst>
          </p:cNvPr>
          <p:cNvSpPr/>
          <p:nvPr/>
        </p:nvSpPr>
        <p:spPr>
          <a:xfrm>
            <a:off x="3966718" y="4565551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A04D4B8-A328-4A0D-8A4F-546620AEC09C}"/>
              </a:ext>
            </a:extLst>
          </p:cNvPr>
          <p:cNvSpPr/>
          <p:nvPr/>
        </p:nvSpPr>
        <p:spPr>
          <a:xfrm>
            <a:off x="4151119" y="4565551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418666-12C8-4913-901B-668A4596D9AC}"/>
              </a:ext>
            </a:extLst>
          </p:cNvPr>
          <p:cNvSpPr txBox="1"/>
          <p:nvPr/>
        </p:nvSpPr>
        <p:spPr>
          <a:xfrm>
            <a:off x="3673344" y="4376885"/>
            <a:ext cx="490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En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1398E3-DDF7-49F3-8490-AF2EB7115D2B}"/>
              </a:ext>
            </a:extLst>
          </p:cNvPr>
          <p:cNvCxnSpPr>
            <a:cxnSpLocks/>
          </p:cNvCxnSpPr>
          <p:nvPr/>
        </p:nvCxnSpPr>
        <p:spPr>
          <a:xfrm flipH="1" flipV="1">
            <a:off x="1908175" y="4622116"/>
            <a:ext cx="2055525" cy="2079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9DF3771-8098-4E9E-857B-96ED6AD47DAB}"/>
              </a:ext>
            </a:extLst>
          </p:cNvPr>
          <p:cNvCxnSpPr>
            <a:cxnSpLocks/>
          </p:cNvCxnSpPr>
          <p:nvPr/>
        </p:nvCxnSpPr>
        <p:spPr>
          <a:xfrm>
            <a:off x="4089446" y="4795814"/>
            <a:ext cx="132422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1E753550-BCDC-4352-B575-74528885E807}"/>
              </a:ext>
            </a:extLst>
          </p:cNvPr>
          <p:cNvSpPr/>
          <p:nvPr/>
        </p:nvSpPr>
        <p:spPr>
          <a:xfrm>
            <a:off x="5413672" y="4734854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8A64E79-FA45-4635-8A9B-D1F67A2052C5}"/>
              </a:ext>
            </a:extLst>
          </p:cNvPr>
          <p:cNvSpPr/>
          <p:nvPr/>
        </p:nvSpPr>
        <p:spPr>
          <a:xfrm>
            <a:off x="3967526" y="4734854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3DD816D-FB3D-4F33-9C12-030290570E25}"/>
              </a:ext>
            </a:extLst>
          </p:cNvPr>
          <p:cNvCxnSpPr>
            <a:cxnSpLocks/>
          </p:cNvCxnSpPr>
          <p:nvPr/>
        </p:nvCxnSpPr>
        <p:spPr>
          <a:xfrm>
            <a:off x="5535592" y="4793735"/>
            <a:ext cx="232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F649AC2-E620-4B3E-BACF-ED4101DC1F24}"/>
              </a:ext>
            </a:extLst>
          </p:cNvPr>
          <p:cNvCxnSpPr>
            <a:cxnSpLocks/>
          </p:cNvCxnSpPr>
          <p:nvPr/>
        </p:nvCxnSpPr>
        <p:spPr>
          <a:xfrm>
            <a:off x="4375159" y="4568301"/>
            <a:ext cx="401941" cy="97017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C175CC3-08E9-464A-93E3-59B864AAD637}"/>
              </a:ext>
            </a:extLst>
          </p:cNvPr>
          <p:cNvSpPr txBox="1"/>
          <p:nvPr/>
        </p:nvSpPr>
        <p:spPr>
          <a:xfrm>
            <a:off x="4830675" y="4564523"/>
            <a:ext cx="383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B1A08B-0213-46EB-8298-F2A9C76F8FA2}"/>
              </a:ext>
            </a:extLst>
          </p:cNvPr>
          <p:cNvSpPr txBox="1"/>
          <p:nvPr/>
        </p:nvSpPr>
        <p:spPr>
          <a:xfrm>
            <a:off x="3661441" y="4777795"/>
            <a:ext cx="403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En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D8BC89-8027-4A5D-87A7-AF61A674C592}"/>
              </a:ext>
            </a:extLst>
          </p:cNvPr>
          <p:cNvSpPr txBox="1"/>
          <p:nvPr/>
        </p:nvSpPr>
        <p:spPr>
          <a:xfrm>
            <a:off x="5122172" y="4777795"/>
            <a:ext cx="403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Cr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B53B7F-41BE-4D29-936F-D693E5250443}"/>
              </a:ext>
            </a:extLst>
          </p:cNvPr>
          <p:cNvSpPr txBox="1"/>
          <p:nvPr/>
        </p:nvSpPr>
        <p:spPr>
          <a:xfrm>
            <a:off x="4192460" y="4334849"/>
            <a:ext cx="383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4B2A74E-62AA-451A-9DB7-326935DE229B}"/>
              </a:ext>
            </a:extLst>
          </p:cNvPr>
          <p:cNvCxnSpPr>
            <a:cxnSpLocks/>
          </p:cNvCxnSpPr>
          <p:nvPr/>
        </p:nvCxnSpPr>
        <p:spPr>
          <a:xfrm flipH="1" flipV="1">
            <a:off x="1908175" y="4800353"/>
            <a:ext cx="2055525" cy="2079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3FFFD97-7A33-4DF5-B5E5-18ACB28DFDB3}"/>
              </a:ext>
            </a:extLst>
          </p:cNvPr>
          <p:cNvCxnSpPr>
            <a:cxnSpLocks/>
            <a:stCxn id="75" idx="6"/>
            <a:endCxn id="72" idx="2"/>
          </p:cNvCxnSpPr>
          <p:nvPr/>
        </p:nvCxnSpPr>
        <p:spPr>
          <a:xfrm>
            <a:off x="4101285" y="5525911"/>
            <a:ext cx="1312387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41CBB6B-C4C3-45EB-9BB6-2241BF342327}"/>
              </a:ext>
            </a:extLst>
          </p:cNvPr>
          <p:cNvSpPr txBox="1"/>
          <p:nvPr/>
        </p:nvSpPr>
        <p:spPr>
          <a:xfrm>
            <a:off x="3661441" y="5276285"/>
            <a:ext cx="393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En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D95A1D9-2B21-459C-8A88-3C6B8445F83A}"/>
              </a:ext>
            </a:extLst>
          </p:cNvPr>
          <p:cNvSpPr/>
          <p:nvPr/>
        </p:nvSpPr>
        <p:spPr>
          <a:xfrm>
            <a:off x="5413672" y="5464951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2A8102F-D09B-4C72-A99B-E6B6DA49E6DA}"/>
              </a:ext>
            </a:extLst>
          </p:cNvPr>
          <p:cNvCxnSpPr>
            <a:cxnSpLocks/>
          </p:cNvCxnSpPr>
          <p:nvPr/>
        </p:nvCxnSpPr>
        <p:spPr>
          <a:xfrm flipH="1">
            <a:off x="1908175" y="5525911"/>
            <a:ext cx="2071190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D4B59438-7E5A-4FA2-9625-C6A69833A761}"/>
              </a:ext>
            </a:extLst>
          </p:cNvPr>
          <p:cNvSpPr/>
          <p:nvPr/>
        </p:nvSpPr>
        <p:spPr>
          <a:xfrm>
            <a:off x="3979365" y="5464951"/>
            <a:ext cx="121920" cy="121920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743373F-E537-463C-AE28-3ACDDA598708}"/>
              </a:ext>
            </a:extLst>
          </p:cNvPr>
          <p:cNvSpPr txBox="1"/>
          <p:nvPr/>
        </p:nvSpPr>
        <p:spPr>
          <a:xfrm>
            <a:off x="5116912" y="5276284"/>
            <a:ext cx="403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4"/>
                </a:solidFill>
              </a:rPr>
              <a:t>Cr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6BF17EE-DA93-4E23-88CD-96FBCEAEC127}"/>
              </a:ext>
            </a:extLst>
          </p:cNvPr>
          <p:cNvCxnSpPr>
            <a:cxnSpLocks/>
            <a:stCxn id="72" idx="6"/>
          </p:cNvCxnSpPr>
          <p:nvPr/>
        </p:nvCxnSpPr>
        <p:spPr>
          <a:xfrm>
            <a:off x="5535592" y="5525911"/>
            <a:ext cx="232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E9B9EE8-22EF-4EBC-BEF2-13C329134600}"/>
              </a:ext>
            </a:extLst>
          </p:cNvPr>
          <p:cNvCxnSpPr>
            <a:cxnSpLocks/>
          </p:cNvCxnSpPr>
          <p:nvPr/>
        </p:nvCxnSpPr>
        <p:spPr>
          <a:xfrm>
            <a:off x="4826252" y="4849488"/>
            <a:ext cx="0" cy="652152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6EA13FEA-5326-47D4-8A9E-11E0F753F265}"/>
              </a:ext>
            </a:extLst>
          </p:cNvPr>
          <p:cNvSpPr/>
          <p:nvPr/>
        </p:nvSpPr>
        <p:spPr>
          <a:xfrm>
            <a:off x="4765292" y="4734854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E46E72-BFA4-4DA9-A769-D085D92E8D06}"/>
              </a:ext>
            </a:extLst>
          </p:cNvPr>
          <p:cNvSpPr txBox="1"/>
          <p:nvPr/>
        </p:nvSpPr>
        <p:spPr>
          <a:xfrm>
            <a:off x="1483402" y="4655236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38E566-AD91-4EDB-9240-298B3A281794}"/>
              </a:ext>
            </a:extLst>
          </p:cNvPr>
          <p:cNvSpPr txBox="1"/>
          <p:nvPr/>
        </p:nvSpPr>
        <p:spPr>
          <a:xfrm>
            <a:off x="1499067" y="5393736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A80F6E-80B1-4945-9105-0747E058B2DC}"/>
              </a:ext>
            </a:extLst>
          </p:cNvPr>
          <p:cNvSpPr txBox="1"/>
          <p:nvPr/>
        </p:nvSpPr>
        <p:spPr>
          <a:xfrm>
            <a:off x="1489726" y="4480018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B6EB30-B1BE-4972-9A51-30C71922677F}"/>
              </a:ext>
            </a:extLst>
          </p:cNvPr>
          <p:cNvSpPr txBox="1"/>
          <p:nvPr/>
        </p:nvSpPr>
        <p:spPr>
          <a:xfrm>
            <a:off x="1483402" y="2836049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02F051-F099-4A04-B70D-D79066545135}"/>
              </a:ext>
            </a:extLst>
          </p:cNvPr>
          <p:cNvSpPr txBox="1"/>
          <p:nvPr/>
        </p:nvSpPr>
        <p:spPr>
          <a:xfrm>
            <a:off x="3881745" y="3304751"/>
            <a:ext cx="7825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i="1" dirty="0">
                <a:solidFill>
                  <a:schemeClr val="accent6"/>
                </a:solidFill>
              </a:rPr>
              <a:t>Liquid</a:t>
            </a:r>
          </a:p>
          <a:p>
            <a:pPr algn="ctr"/>
            <a:r>
              <a:rPr lang="en-GB" sz="1400" i="1" dirty="0"/>
              <a:t>=</a:t>
            </a:r>
          </a:p>
          <a:p>
            <a:pPr algn="ctr"/>
            <a:r>
              <a:rPr lang="en-GB" sz="1400" i="1" dirty="0">
                <a:solidFill>
                  <a:schemeClr val="accent3"/>
                </a:solidFill>
              </a:rPr>
              <a:t>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62358-23C1-4CB6-2704-7BAE25A641FE}"/>
              </a:ext>
            </a:extLst>
          </p:cNvPr>
          <p:cNvSpPr txBox="1"/>
          <p:nvPr/>
        </p:nvSpPr>
        <p:spPr>
          <a:xfrm>
            <a:off x="4212565" y="2437638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/>
              <a:t>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832F5-257D-1372-79A7-368FB886C9EE}"/>
              </a:ext>
            </a:extLst>
          </p:cNvPr>
          <p:cNvSpPr txBox="1"/>
          <p:nvPr/>
        </p:nvSpPr>
        <p:spPr>
          <a:xfrm>
            <a:off x="4754472" y="4234268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Cr+L</a:t>
            </a:r>
            <a:endParaRPr lang="en-GB" sz="20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632E28-8D06-8C2A-CEEF-3D627132AE56}"/>
              </a:ext>
            </a:extLst>
          </p:cNvPr>
          <p:cNvSpPr txBox="1"/>
          <p:nvPr/>
        </p:nvSpPr>
        <p:spPr>
          <a:xfrm>
            <a:off x="4369018" y="4944624"/>
            <a:ext cx="918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En+Cr</a:t>
            </a:r>
            <a:endParaRPr lang="en-GB" sz="20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5204C7-8B91-2642-F612-5A92F78D8BA6}"/>
              </a:ext>
            </a:extLst>
          </p:cNvPr>
          <p:cNvSpPr txBox="1"/>
          <p:nvPr/>
        </p:nvSpPr>
        <p:spPr>
          <a:xfrm>
            <a:off x="2054705" y="4862401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Fo+En</a:t>
            </a:r>
            <a:endParaRPr lang="en-GB" sz="2000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A6591-74C9-1A1F-6AFA-5E24C55077F8}"/>
              </a:ext>
            </a:extLst>
          </p:cNvPr>
          <p:cNvSpPr txBox="1"/>
          <p:nvPr/>
        </p:nvSpPr>
        <p:spPr>
          <a:xfrm>
            <a:off x="2035231" y="3107569"/>
            <a:ext cx="776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Fo+L</a:t>
            </a:r>
            <a:endParaRPr lang="en-GB" sz="2000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D3335D-AC7C-9B27-86DC-5FF574B23B90}"/>
              </a:ext>
            </a:extLst>
          </p:cNvPr>
          <p:cNvSpPr txBox="1"/>
          <p:nvPr/>
        </p:nvSpPr>
        <p:spPr>
          <a:xfrm>
            <a:off x="4290194" y="3976737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 err="1"/>
              <a:t>En+L</a:t>
            </a:r>
            <a:endParaRPr lang="en-GB" sz="2000" i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BD072E-AED4-6A38-F2AE-86D48451EF7B}"/>
              </a:ext>
            </a:extLst>
          </p:cNvPr>
          <p:cNvCxnSpPr/>
          <p:nvPr/>
        </p:nvCxnSpPr>
        <p:spPr>
          <a:xfrm flipH="1">
            <a:off x="4448049" y="4364900"/>
            <a:ext cx="289005" cy="400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50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4" grpId="0" animBg="1"/>
      <p:bldP spid="15" grpId="0" animBg="1"/>
      <p:bldP spid="20" grpId="0"/>
      <p:bldP spid="27" grpId="0"/>
      <p:bldP spid="31" grpId="0" animBg="1"/>
      <p:bldP spid="30" grpId="0" animBg="1"/>
      <p:bldP spid="46" grpId="0"/>
      <p:bldP spid="43" grpId="0" animBg="1"/>
      <p:bldP spid="48" grpId="0" animBg="1"/>
      <p:bldP spid="52" grpId="0"/>
      <p:bldP spid="53" grpId="0"/>
      <p:bldP spid="54" grpId="0"/>
      <p:bldP spid="56" grpId="0"/>
      <p:bldP spid="71" grpId="0"/>
      <p:bldP spid="72" grpId="0" animBg="1"/>
      <p:bldP spid="75" grpId="0" animBg="1"/>
      <p:bldP spid="76" grpId="0"/>
      <p:bldP spid="42" grpId="0" animBg="1"/>
      <p:bldP spid="80" grpId="0"/>
      <p:bldP spid="81" grpId="0"/>
      <p:bldP spid="84" grpId="0"/>
      <p:bldP spid="85" grpId="0"/>
      <p:bldP spid="4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5F4E2-D1A3-4CBD-86D9-794519B5D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But do peritectic reactions occur in nature?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55EAF-6CEC-48EA-9B4A-E355C22F3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53072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Peritectic reactions are rarely observed in natural magmas</a:t>
            </a:r>
          </a:p>
          <a:p>
            <a:r>
              <a:rPr lang="en-GB" dirty="0"/>
              <a:t>Fractional crystallisation dominates</a:t>
            </a:r>
          </a:p>
          <a:p>
            <a:r>
              <a:rPr lang="en-GB" dirty="0"/>
              <a:t>Start </a:t>
            </a:r>
            <a:r>
              <a:rPr lang="en-GB" dirty="0" err="1"/>
              <a:t>Fo</a:t>
            </a:r>
            <a:r>
              <a:rPr lang="en-GB" dirty="0"/>
              <a:t> rich but end </a:t>
            </a:r>
            <a:r>
              <a:rPr lang="en-GB" dirty="0" err="1"/>
              <a:t>Fo</a:t>
            </a:r>
            <a:r>
              <a:rPr lang="en-GB" dirty="0"/>
              <a:t> free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But what about equilibrium </a:t>
            </a:r>
            <a:r>
              <a:rPr lang="en-GB"/>
              <a:t>crystallisation in </a:t>
            </a:r>
            <a:r>
              <a:rPr lang="en-GB" dirty="0"/>
              <a:t>closed systems?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2B6AE-FDDB-4A06-825A-A40EB05B3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032A1-286A-45AD-B69B-92F82F9D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4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E59EE-2BD1-4C32-85D2-762FE4C8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35</a:t>
            </a:fld>
            <a:endParaRPr lang="en-GB"/>
          </a:p>
        </p:txBody>
      </p:sp>
      <p:pic>
        <p:nvPicPr>
          <p:cNvPr id="15" name="Content Placeholder 14" descr="A picture containing histogram&#10;&#10;Description automatically generated">
            <a:extLst>
              <a:ext uri="{FF2B5EF4-FFF2-40B4-BE49-F238E27FC236}">
                <a16:creationId xmlns:a16="http://schemas.microsoft.com/office/drawing/2014/main" id="{B1B0C5AB-AE9A-4806-B775-9CCA603A25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03" y="1840257"/>
            <a:ext cx="4748794" cy="4322073"/>
          </a:xfrm>
        </p:spPr>
      </p:pic>
      <p:pic>
        <p:nvPicPr>
          <p:cNvPr id="17" name="Picture 16" descr="A picture containing bread, outdoor object&#10;&#10;Description automatically generated">
            <a:extLst>
              <a:ext uri="{FF2B5EF4-FFF2-40B4-BE49-F238E27FC236}">
                <a16:creationId xmlns:a16="http://schemas.microsoft.com/office/drawing/2014/main" id="{33AAF179-68FF-494B-8221-748D01AF297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" t="3967" r="-42" b="3967"/>
          <a:stretch/>
        </p:blipFill>
        <p:spPr>
          <a:xfrm>
            <a:off x="6172200" y="3702671"/>
            <a:ext cx="2483653" cy="1704809"/>
          </a:xfrm>
          <a:prstGeom prst="rect">
            <a:avLst/>
          </a:prstGeom>
        </p:spPr>
      </p:pic>
      <p:pic>
        <p:nvPicPr>
          <p:cNvPr id="19" name="Picture 18" descr="A picture containing megalith, stone, rock&#10;&#10;Description automatically generated">
            <a:extLst>
              <a:ext uri="{FF2B5EF4-FFF2-40B4-BE49-F238E27FC236}">
                <a16:creationId xmlns:a16="http://schemas.microsoft.com/office/drawing/2014/main" id="{F6C64F6E-67BB-4819-8BDB-F2F8154846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147" y="3698964"/>
            <a:ext cx="2483653" cy="17048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08C9CDB-1227-4199-AF49-4CE9DE8066E9}"/>
              </a:ext>
            </a:extLst>
          </p:cNvPr>
          <p:cNvSpPr txBox="1"/>
          <p:nvPr/>
        </p:nvSpPr>
        <p:spPr>
          <a:xfrm>
            <a:off x="6744612" y="3292282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Basalt: </a:t>
            </a:r>
            <a:r>
              <a:rPr lang="en-GB" sz="2000" dirty="0" err="1"/>
              <a:t>Fo</a:t>
            </a:r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FED29C-2761-458F-A1DB-988AAE50202C}"/>
              </a:ext>
            </a:extLst>
          </p:cNvPr>
          <p:cNvSpPr txBox="1"/>
          <p:nvPr/>
        </p:nvSpPr>
        <p:spPr>
          <a:xfrm>
            <a:off x="9119553" y="3288574"/>
            <a:ext cx="1984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Dacite: </a:t>
            </a:r>
            <a:r>
              <a:rPr lang="en-GB" sz="2000" dirty="0" err="1"/>
              <a:t>En</a:t>
            </a:r>
            <a:r>
              <a:rPr lang="en-GB" sz="2000" dirty="0"/>
              <a:t> + </a:t>
            </a:r>
            <a:r>
              <a:rPr lang="en-GB" sz="2000" dirty="0" err="1"/>
              <a:t>Qz</a:t>
            </a:r>
            <a:endParaRPr lang="en-GB" sz="20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1236AC1-3945-4838-A581-2CD413B946E6}"/>
              </a:ext>
            </a:extLst>
          </p:cNvPr>
          <p:cNvSpPr/>
          <p:nvPr/>
        </p:nvSpPr>
        <p:spPr>
          <a:xfrm>
            <a:off x="6197600" y="3724364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72A5942-D27B-4150-B948-A8633D76E6A5}"/>
              </a:ext>
            </a:extLst>
          </p:cNvPr>
          <p:cNvSpPr/>
          <p:nvPr/>
        </p:nvSpPr>
        <p:spPr>
          <a:xfrm>
            <a:off x="2900186" y="2495798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66DC38A-8795-453B-9E38-2B919F064549}"/>
              </a:ext>
            </a:extLst>
          </p:cNvPr>
          <p:cNvSpPr/>
          <p:nvPr/>
        </p:nvSpPr>
        <p:spPr>
          <a:xfrm>
            <a:off x="8895547" y="3724364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0344AC5-979F-4695-898A-415ABC2459C4}"/>
              </a:ext>
            </a:extLst>
          </p:cNvPr>
          <p:cNvSpPr/>
          <p:nvPr/>
        </p:nvSpPr>
        <p:spPr>
          <a:xfrm>
            <a:off x="4634158" y="4580417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9EBDD858-D03C-463C-A8C7-AEF1BC26479E}"/>
              </a:ext>
            </a:extLst>
          </p:cNvPr>
          <p:cNvSpPr/>
          <p:nvPr/>
        </p:nvSpPr>
        <p:spPr>
          <a:xfrm rot="19427173">
            <a:off x="3858979" y="2603185"/>
            <a:ext cx="310745" cy="2077960"/>
          </a:xfrm>
          <a:prstGeom prst="downArrow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52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2" grpId="0"/>
      <p:bldP spid="23" grpId="0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UoM_Teaching">
      <a:dk1>
        <a:sysClr val="windowText" lastClr="000000"/>
      </a:dk1>
      <a:lt1>
        <a:sysClr val="window" lastClr="FFFFFF"/>
      </a:lt1>
      <a:dk2>
        <a:srgbClr val="660099"/>
      </a:dk2>
      <a:lt2>
        <a:srgbClr val="FFCC33"/>
      </a:lt2>
      <a:accent1>
        <a:srgbClr val="660099"/>
      </a:accent1>
      <a:accent2>
        <a:srgbClr val="FFCC33"/>
      </a:accent2>
      <a:accent3>
        <a:srgbClr val="999999"/>
      </a:accent3>
      <a:accent4>
        <a:srgbClr val="B728FE"/>
      </a:accent4>
      <a:accent5>
        <a:srgbClr val="FFE084"/>
      </a:accent5>
      <a:accent6>
        <a:srgbClr val="C1C1C1"/>
      </a:accent6>
      <a:hlink>
        <a:srgbClr val="999999"/>
      </a:hlink>
      <a:folHlink>
        <a:srgbClr val="9999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1800</TotalTime>
  <Words>2794</Words>
  <Application>Microsoft Office PowerPoint</Application>
  <PresentationFormat>Widescreen</PresentationFormat>
  <Paragraphs>581</Paragraphs>
  <Slides>35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 Math</vt:lpstr>
      <vt:lpstr>Office Theme</vt:lpstr>
      <vt:lpstr>Melting and crystallisation in geochemical systems: phase diagram applications</vt:lpstr>
      <vt:lpstr>Phase diagrams link P–T–X to observable features</vt:lpstr>
      <vt:lpstr>Using experiments to construct phase diagrams</vt:lpstr>
      <vt:lpstr>Lecture 4 synopsis</vt:lpstr>
      <vt:lpstr>Melting and crystallisation in geochemical systems: phase diagram applications</vt:lpstr>
      <vt:lpstr>Binary phase diagram with solid solution: a recap</vt:lpstr>
      <vt:lpstr>Binary phase diagram with solid solution: a recap</vt:lpstr>
      <vt:lpstr>Binary phase diagram with solid solution: a recap</vt:lpstr>
      <vt:lpstr>Binary phase diagram with no solid solution: An–Di</vt:lpstr>
      <vt:lpstr>Binary phase diagram with no solid solution: An–Di</vt:lpstr>
      <vt:lpstr>Binary phase diagram with no solid solution: An–Di</vt:lpstr>
      <vt:lpstr>Binary phase diagram with no solid solution: An–Di</vt:lpstr>
      <vt:lpstr>Phase diagrams and natural rocks</vt:lpstr>
      <vt:lpstr>Melting and crystallisation in geochemical systems: phase diagram applications</vt:lpstr>
      <vt:lpstr>Binary phase diagram with no solid solution: a recap</vt:lpstr>
      <vt:lpstr>Binary phase diagram with a solvus: Ab–Or</vt:lpstr>
      <vt:lpstr>Binary phase diagram with a solvus: Ab–Or</vt:lpstr>
      <vt:lpstr>Binary phase diagram with a solvus: Ab–Or</vt:lpstr>
      <vt:lpstr>Binary phase diagram with a solvus: Ab–Or</vt:lpstr>
      <vt:lpstr>Melting and crystallisation in geochemical systems: phase diagram applications</vt:lpstr>
      <vt:lpstr>Binary phase diagram with a solvus: a recap</vt:lpstr>
      <vt:lpstr>Phase diagrams and mineral textures: pyroxenes</vt:lpstr>
      <vt:lpstr>Phase diagrams and mineral textures: pyroxenes</vt:lpstr>
      <vt:lpstr>Phase diagrams and mineral textures: pyroxenes</vt:lpstr>
      <vt:lpstr>Phase diagrams and mineral textures: pyroxenes</vt:lpstr>
      <vt:lpstr>Phase diagrams and mineral textures: pyroxenes</vt:lpstr>
      <vt:lpstr>Phase diagrams and mineral textures: pyroxenes</vt:lpstr>
      <vt:lpstr>Phase diagrams and mineral textures: pyroxenes</vt:lpstr>
      <vt:lpstr>Which pyroxene grows where?</vt:lpstr>
      <vt:lpstr>Melting and crystallisation in geochemical systems: phase diagram applications</vt:lpstr>
      <vt:lpstr>Binary phase diagram with a peritectic: Fo–Qz</vt:lpstr>
      <vt:lpstr>Binary phase diagram with a peritectic: Fo–Qz</vt:lpstr>
      <vt:lpstr>Binary phase diagram with a peritectic: Fo–Qz</vt:lpstr>
      <vt:lpstr>Binary phase diagram with a peritectic: Fo–Qz</vt:lpstr>
      <vt:lpstr>But do peritectic reactions occur in nature?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Neave</dc:creator>
  <cp:lastModifiedBy>Romain Tartese</cp:lastModifiedBy>
  <cp:revision>226</cp:revision>
  <dcterms:created xsi:type="dcterms:W3CDTF">2020-07-29T10:27:56Z</dcterms:created>
  <dcterms:modified xsi:type="dcterms:W3CDTF">2025-10-19T19:33:15Z</dcterms:modified>
</cp:coreProperties>
</file>