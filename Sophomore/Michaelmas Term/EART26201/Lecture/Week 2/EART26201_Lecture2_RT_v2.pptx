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3"/>
  </p:notesMasterIdLst>
  <p:sldIdLst>
    <p:sldId id="256" r:id="rId2"/>
    <p:sldId id="261" r:id="rId3"/>
    <p:sldId id="262" r:id="rId4"/>
    <p:sldId id="263" r:id="rId5"/>
    <p:sldId id="264" r:id="rId6"/>
    <p:sldId id="260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57" r:id="rId35"/>
    <p:sldId id="258" r:id="rId36"/>
    <p:sldId id="259" r:id="rId37"/>
    <p:sldId id="292" r:id="rId38"/>
    <p:sldId id="295" r:id="rId39"/>
    <p:sldId id="296" r:id="rId40"/>
    <p:sldId id="293" r:id="rId41"/>
    <p:sldId id="294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8" autoAdjust="0"/>
    <p:restoredTop sz="87186" autoAdjust="0"/>
  </p:normalViewPr>
  <p:slideViewPr>
    <p:cSldViewPr snapToGrid="0">
      <p:cViewPr varScale="1">
        <p:scale>
          <a:sx n="96" d="100"/>
          <a:sy n="96" d="100"/>
        </p:scale>
        <p:origin x="336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-6" y="-18"/>
    </p:cViewPr>
  </p:notesTextViewPr>
  <p:notesViewPr>
    <p:cSldViewPr snapToGrid="0">
      <p:cViewPr varScale="1">
        <p:scale>
          <a:sx n="65" d="100"/>
          <a:sy n="65" d="100"/>
        </p:scale>
        <p:origin x="315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B953AF-DF34-41AB-87A3-F900B0DA0FC7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73A3FC-9EFF-4235-97DD-25083E8D10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583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1834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74119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76091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18347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26526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18347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6295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50953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18347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18347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24509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0195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DEB6B-C512-49C0-9CAD-276284DCA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8B2130-D659-4086-A5E7-3AEF8B9FE4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1113E-79F7-4222-9DEA-3399CE8E4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October 2020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7D4B2-768D-42AB-B96C-ADC0935BF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36000" y="6356350"/>
            <a:ext cx="4320000" cy="365125"/>
          </a:xfrm>
        </p:spPr>
        <p:txBody>
          <a:bodyPr/>
          <a:lstStyle/>
          <a:p>
            <a:r>
              <a:rPr lang="en-GB" dirty="0"/>
              <a:t>EART26201 | Principles of Geochemistry | Lecture 1 | Part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544E5-283B-497C-A17F-C5391119A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1263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444D7-5AE2-41B0-B945-E0FECB667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D1EA-A4A2-466D-B767-7370ABE81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6DFC4-0CDF-499C-B418-8927AA7AC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B0986-6916-4257-AC63-570EB60B2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95634-03D4-4B80-8752-BEC3863C0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1291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5007B-207F-41C8-AD48-8936F46D6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FFBCD-2955-4AEB-9992-D31726423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DD235-57F7-4DF5-A618-53498FAEB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D12B6-0CAE-4442-BB78-79F3BF66C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F6BF4-1B6C-4A06-947A-FCF111688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2474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CF338-9494-47F6-9CEE-A923AD708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69605-CD76-408F-96F4-EA27EC69C4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99F475-DB77-4C29-99B4-4C4C64BC8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92455F-10BA-427D-8547-8C5F56177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CC4AF3-05D4-4B43-9A59-60C5E1AD1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EART26201 | Principles of Geochemistry | Lecture 1 | Part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008A9-97D5-40C4-A96B-CEF65CF16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5789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4F20F-10A8-48E6-80DB-7B010E2BD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576000" cy="1325563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FD2251-873A-4A2D-A182-4E34AA341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t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14E8C-305B-4B34-8E66-A4F27CB03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AE0F9B-6195-46E1-9CF4-416107D163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t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54E796-701E-4320-A231-AEF835AE1E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6CF397-B797-4A96-995C-78DE19921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52B863-2E74-460E-8183-92C862656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EART26201 | Principles of Geochemistry | Lecture 1 | Part 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3FDD3A-C152-47DF-8127-598C7C5C1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570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BAABF-A0CD-4179-9FE9-90F931368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CA6627-BDA2-45CE-8E54-D36CA5DA1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F16E08-C137-465F-B57D-E9D941508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78A738-D179-41F0-A7D7-8A450A3A0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6062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9F2D7E-443F-4ADA-91DF-33246ADB5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E3AFB4-9718-41E1-B211-5F80969FB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F952D-E203-4F1B-9063-B98E95092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0760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A30D7-E7C0-4BE7-827F-3FF29DD20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2A7E1-86B7-4951-A1FC-BDB39D0A7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FF350-FAD3-46DA-A9C4-EE57112657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95A263-81E2-4306-BDF4-B5C84BE89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1EA232-7B9A-4C5F-BCC2-A18CBE4DA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42B55D-FD4A-436A-AB1B-882DC5572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3450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962B7-ACB1-43AC-AA2C-9373A9992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2F6B07-574D-4C0E-A925-45AA47BEC0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DC7EBD-0CE1-4E7F-8E35-2E0B7470B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9C96AF-E8C1-4F52-AFFB-8DACD8869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2EB72B-8213-49B5-B39E-DECF99786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DE4821-0C42-4BA9-9DD9-53387A36D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960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BFA19-4301-4438-9832-D4D27B007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E8D55F-6FA4-4694-A0E6-014C8499A3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E48DF-3ED2-4288-8906-6A091A87E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9EBF5-8347-40D6-8325-95E87E18A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E5CE1-2E6D-484E-954B-2BFBE70E6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7120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B29294-658A-4249-B526-A099D2AB05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2C2D95-B9CF-41E2-A944-2553D8AFF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FBEB1-908E-4CEA-8F6C-1B7EFA969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C3054-6B2A-423D-83B9-B0F1A2980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1 | Part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A5E9B-95EC-4279-94DD-C781953F0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8643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2D7403-4BF5-4671-ABC7-9B0F30D3E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57530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66F7F6-C35F-42F5-9686-7FB1BA713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346F8-F24C-44E3-B06F-D7FD88AB07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8A35A-47F9-4349-A154-804ADAFEDA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6000" y="6356350"/>
            <a:ext cx="432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EART26201 | Principles of Geochemistry | Lecture 4 | Part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D7A1A-0F11-4CD9-86CE-E1686C26D8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5641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NUL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NUL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NUL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NUL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NUL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70.png"/><Relationship Id="rId7" Type="http://schemas.openxmlformats.org/officeDocument/2006/relationships/image" Target="../media/image1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jpg"/><Relationship Id="rId5" Type="http://schemas.openxmlformats.org/officeDocument/2006/relationships/image" Target="../media/image9.png"/><Relationship Id="rId10" Type="http://schemas.openxmlformats.org/officeDocument/2006/relationships/image" Target="../media/image26.jpeg"/><Relationship Id="rId4" Type="http://schemas.openxmlformats.org/officeDocument/2006/relationships/image" Target="../media/image80.png"/><Relationship Id="rId9" Type="http://schemas.openxmlformats.org/officeDocument/2006/relationships/image" Target="../media/image25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37.jp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png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700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4.jp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8.jp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4.jpg"/><Relationship Id="rId4" Type="http://schemas.openxmlformats.org/officeDocument/2006/relationships/image" Target="../media/image5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1F090-150B-473E-BD80-A3825C7649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age and provenance of rocks: radiogenic isotopes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0E7A83-1F4B-42AA-92ED-D2CA10EB50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EART26201 | Principles of Geochemistry | Lecture 2</a:t>
            </a:r>
          </a:p>
          <a:p>
            <a:r>
              <a:rPr lang="en-GB" dirty="0"/>
              <a:t>Part 1 | Introduction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BC59C-67B6-4B05-BC06-2EEFD1F7A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8E3BF-8C94-43B7-BDCB-B289E57EE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507B5-2A7D-4FCF-A40A-BADB4BDC4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3109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FEA06-413C-41AC-9FFF-E859702CC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Elements and isotopes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5BF158-AD1F-42DC-9870-AA0CF5804B5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4715577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GB" dirty="0"/>
                  <a:t>Elements are ordered by proton number 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GB" dirty="0"/>
                  <a:t>) in the periodic table</a:t>
                </a:r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Most elements have multiple isotopes with different neutron numbers 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dirty="0"/>
                  <a:t>) but the same </a:t>
                </a:r>
                <a14:m>
                  <m:oMath xmlns:m="http://schemas.openxmlformats.org/officeDocument/2006/math">
                    <m:r>
                      <a:rPr lang="en-GB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endParaRPr lang="en-GB" dirty="0"/>
              </a:p>
              <a:p>
                <a:r>
                  <a:rPr lang="en-GB" dirty="0"/>
                  <a:t>Nuclide versus isotope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5BF158-AD1F-42DC-9870-AA0CF5804B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4715577" cy="4351338"/>
              </a:xfrm>
              <a:blipFill>
                <a:blip r:embed="rId2"/>
                <a:stretch>
                  <a:fillRect l="-1811" t="-2661" r="-34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773EB5-F4BA-4122-9A86-42BBA7DAF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BC6908-5886-472B-8D0D-AEAD73705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7A6A3-26AB-43B8-B8A2-A52196907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</a:t>
            </a:fld>
            <a:endParaRPr lang="en-GB"/>
          </a:p>
        </p:txBody>
      </p:sp>
      <p:pic>
        <p:nvPicPr>
          <p:cNvPr id="21" name="Picture 20" descr="Chart&#10;&#10;Description automatically generated">
            <a:extLst>
              <a:ext uri="{FF2B5EF4-FFF2-40B4-BE49-F238E27FC236}">
                <a16:creationId xmlns:a16="http://schemas.microsoft.com/office/drawing/2014/main" id="{4254DE14-8428-48D6-881C-682043C32E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8905" y="2303729"/>
            <a:ext cx="5674895" cy="3873233"/>
          </a:xfrm>
          <a:prstGeom prst="rect">
            <a:avLst/>
          </a:prstGeom>
        </p:spPr>
      </p:pic>
      <p:pic>
        <p:nvPicPr>
          <p:cNvPr id="15" name="Picture 14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B68E272C-2CD2-4482-A99C-6B86455266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685" y="2534024"/>
            <a:ext cx="3795179" cy="2009101"/>
          </a:xfrm>
          <a:prstGeom prst="rect">
            <a:avLst/>
          </a:prstGeom>
        </p:spPr>
      </p:pic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69A45D0E-0BB5-4637-993D-9EDE2947FD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78905" y="1825625"/>
            <a:ext cx="5674895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The Karlsruhe Nuclide Chart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0E3BB08-6594-4A62-B674-992B177503DB}"/>
              </a:ext>
            </a:extLst>
          </p:cNvPr>
          <p:cNvCxnSpPr/>
          <p:nvPr/>
        </p:nvCxnSpPr>
        <p:spPr>
          <a:xfrm flipV="1">
            <a:off x="6118055" y="2767324"/>
            <a:ext cx="0" cy="9144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86A1491-E667-491F-B370-1A54D02B55D4}"/>
              </a:ext>
            </a:extLst>
          </p:cNvPr>
          <p:cNvCxnSpPr>
            <a:cxnSpLocks/>
          </p:cNvCxnSpPr>
          <p:nvPr/>
        </p:nvCxnSpPr>
        <p:spPr>
          <a:xfrm rot="5400000" flipV="1">
            <a:off x="6575255" y="3210324"/>
            <a:ext cx="0" cy="9144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36BCE6C-C7FD-4592-BF67-2AB9698FB683}"/>
                  </a:ext>
                </a:extLst>
              </p:cNvPr>
              <p:cNvSpPr txBox="1"/>
              <p:nvPr/>
            </p:nvSpPr>
            <p:spPr>
              <a:xfrm>
                <a:off x="5955190" y="2403271"/>
                <a:ext cx="13396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Protons 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GB" dirty="0"/>
                  <a:t>)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36BCE6C-C7FD-4592-BF67-2AB9698FB6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5190" y="2403271"/>
                <a:ext cx="1339662" cy="369332"/>
              </a:xfrm>
              <a:prstGeom prst="rect">
                <a:avLst/>
              </a:prstGeom>
              <a:blipFill>
                <a:blip r:embed="rId5"/>
                <a:stretch>
                  <a:fillRect l="-4091" t="-8197" r="-3182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08AF1D4-5CB5-4BB7-8777-338728B03753}"/>
                  </a:ext>
                </a:extLst>
              </p:cNvPr>
              <p:cNvSpPr txBox="1"/>
              <p:nvPr/>
            </p:nvSpPr>
            <p:spPr>
              <a:xfrm>
                <a:off x="6276062" y="3745817"/>
                <a:ext cx="15127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0" dirty="0"/>
                  <a:t>Neutrons (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dirty="0"/>
                  <a:t>)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08AF1D4-5CB5-4BB7-8777-338728B037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6062" y="3745817"/>
                <a:ext cx="1512786" cy="369332"/>
              </a:xfrm>
              <a:prstGeom prst="rect">
                <a:avLst/>
              </a:prstGeom>
              <a:blipFill>
                <a:blip r:embed="rId6"/>
                <a:stretch>
                  <a:fillRect l="-3629" t="-8197" r="-2419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5831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7" grpId="0" build="p"/>
      <p:bldP spid="27" grpId="0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2932C-6612-453C-8280-0BC652CFA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Stability and radioactive decay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0AA9FE-F1BA-44CD-A2B8-0A283044B11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dirty="0"/>
                  <a:t>Most isotopes are unstable and undergo spontaneous radioactive decay to produce stable isotopes</a:t>
                </a:r>
              </a:p>
              <a:p>
                <a:pPr>
                  <a:spcAft>
                    <a:spcPts val="1000"/>
                  </a:spcAft>
                </a:pPr>
                <a:r>
                  <a:rPr lang="en-GB" dirty="0"/>
                  <a:t>The rate of radioactive decay is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GB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GB" dirty="0"/>
              </a:p>
              <a:p>
                <a:pPr marL="457200" lvl="1" indent="0">
                  <a:buNone/>
                </a:pPr>
                <a:r>
                  <a:rPr lang="en-GB" dirty="0"/>
                  <a:t>where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dirty="0"/>
                  <a:t> is the number of decaying nuclides and </a:t>
                </a:r>
                <a14:m>
                  <m:oMath xmlns:m="http://schemas.openxmlformats.org/officeDocument/2006/math">
                    <m:r>
                      <a:rPr lang="el-GR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GB" dirty="0"/>
                  <a:t> is the decay constant</a:t>
                </a:r>
              </a:p>
              <a:p>
                <a:pPr>
                  <a:spcAft>
                    <a:spcPts val="1000"/>
                  </a:spcAft>
                </a:pPr>
                <a:r>
                  <a:rPr lang="en-GB" dirty="0"/>
                  <a:t>The decay constant (</a:t>
                </a:r>
                <a14:m>
                  <m:oMath xmlns:m="http://schemas.openxmlformats.org/officeDocument/2006/math">
                    <m:r>
                      <a:rPr lang="el-GR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GB" dirty="0"/>
                  <a:t>) is related to an isotope’s half-life as follows: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GB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half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</m:num>
                        <m:den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0AA9FE-F1BA-44CD-A2B8-0A283044B1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647" t="-26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5EC2DE7-5970-4014-A9C5-3524A28ECC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5425" y="1825625"/>
            <a:ext cx="4415148" cy="4351337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BE60D5-85A7-440B-8048-7536EFF0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26176-CB54-41FB-9886-DF6DBE911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3C633E-3AC1-4300-8746-D7479C1D7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0277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9E9C2-909D-4841-9B1C-7C3C3EC95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power of radiogenic isotopes: rock 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1ADD5D-FDD9-4AFB-AFCF-4D0A321BD3F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GB" dirty="0"/>
                  <a:t>Radiogenic isotopes are the products of radioactive decay</a:t>
                </a:r>
              </a:p>
              <a:p>
                <a:r>
                  <a:rPr lang="en-GB" dirty="0"/>
                  <a:t>The abundance of radiogenic isotopes is related to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by </a:t>
                </a:r>
                <a14:m>
                  <m:oMath xmlns:m="http://schemas.openxmlformats.org/officeDocument/2006/math">
                    <m:r>
                      <a:rPr lang="el-GR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GB" dirty="0"/>
              </a:p>
              <a:p>
                <a:r>
                  <a:rPr lang="en-GB" dirty="0"/>
                  <a:t>Radiogenic isotopes can be used to date rocks and events throughout geological history</a:t>
                </a:r>
              </a:p>
              <a:p>
                <a:r>
                  <a:rPr lang="en-GB" dirty="0"/>
                  <a:t>Determining the absolute age of rocks of called geochronology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1ADD5D-FDD9-4AFB-AFCF-4D0A321BD3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1647" t="-18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09C104-C911-45CB-902C-C8FCF6ECD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A03F68-B5BF-422F-BEA0-FDD4B7B01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A477DA-043C-4670-8B0C-F6FD0E6F3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4</a:t>
            </a:fld>
            <a:endParaRPr lang="en-GB"/>
          </a:p>
        </p:txBody>
      </p:sp>
      <p:pic>
        <p:nvPicPr>
          <p:cNvPr id="13" name="Content Placeholder 12" descr="A picture containing mountain, outdoor, sky, nature&#10;&#10;Description automatically generated">
            <a:extLst>
              <a:ext uri="{FF2B5EF4-FFF2-40B4-BE49-F238E27FC236}">
                <a16:creationId xmlns:a16="http://schemas.microsoft.com/office/drawing/2014/main" id="{D10619A0-FB2A-4598-9DE1-37892D2E6E2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7909" y="1825625"/>
            <a:ext cx="3075891" cy="2306918"/>
          </a:xfr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1765B65-FF1B-4E49-A73C-29CE82379CA3}"/>
              </a:ext>
            </a:extLst>
          </p:cNvPr>
          <p:cNvSpPr txBox="1"/>
          <p:nvPr/>
        </p:nvSpPr>
        <p:spPr>
          <a:xfrm>
            <a:off x="10051841" y="3828444"/>
            <a:ext cx="13019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chemeClr val="bg1"/>
                </a:solidFill>
              </a:rPr>
              <a:t>credit: </a:t>
            </a:r>
            <a:r>
              <a:rPr lang="en-GB" sz="1200" dirty="0" err="1">
                <a:solidFill>
                  <a:schemeClr val="bg1"/>
                </a:solidFill>
              </a:rPr>
              <a:t>MaxPixel</a:t>
            </a:r>
            <a:endParaRPr lang="en-GB" sz="1200" dirty="0">
              <a:solidFill>
                <a:schemeClr val="bg1"/>
              </a:solidFill>
            </a:endParaRPr>
          </a:p>
        </p:txBody>
      </p:sp>
      <p:pic>
        <p:nvPicPr>
          <p:cNvPr id="16" name="Picture 15" descr="A picture containing text, sky, nature, mountain&#10;&#10;Description automatically generated">
            <a:extLst>
              <a:ext uri="{FF2B5EF4-FFF2-40B4-BE49-F238E27FC236}">
                <a16:creationId xmlns:a16="http://schemas.microsoft.com/office/drawing/2014/main" id="{7B4A3432-5270-4259-B92E-626C661BBC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1" y="4458427"/>
            <a:ext cx="5181600" cy="165163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EBAED0D-1FB2-40D2-9DC7-A2C89BDA98DE}"/>
              </a:ext>
            </a:extLst>
          </p:cNvPr>
          <p:cNvSpPr txBox="1"/>
          <p:nvPr/>
        </p:nvSpPr>
        <p:spPr>
          <a:xfrm>
            <a:off x="9745667" y="5833063"/>
            <a:ext cx="16081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chemeClr val="bg1"/>
                </a:solidFill>
              </a:rPr>
              <a:t>credit: Michel </a:t>
            </a:r>
            <a:r>
              <a:rPr lang="en-GB" sz="1200" dirty="0" err="1">
                <a:solidFill>
                  <a:schemeClr val="bg1"/>
                </a:solidFill>
              </a:rPr>
              <a:t>Royon</a:t>
            </a:r>
            <a:endParaRPr lang="en-GB" sz="12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B120F5-FB5E-491D-9E52-ADE5F8B78222}"/>
              </a:ext>
            </a:extLst>
          </p:cNvPr>
          <p:cNvSpPr txBox="1"/>
          <p:nvPr/>
        </p:nvSpPr>
        <p:spPr>
          <a:xfrm>
            <a:off x="9473157" y="1833881"/>
            <a:ext cx="18806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600" dirty="0"/>
              <a:t>Scottish Highlands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874CD6-29F9-437B-83ED-A193D7476BF4}"/>
              </a:ext>
            </a:extLst>
          </p:cNvPr>
          <p:cNvSpPr/>
          <p:nvPr/>
        </p:nvSpPr>
        <p:spPr>
          <a:xfrm>
            <a:off x="6172201" y="2736860"/>
            <a:ext cx="2808000" cy="1875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0" name="Picture 19" descr="Diagram&#10;&#10;Description automatically generated">
            <a:extLst>
              <a:ext uri="{FF2B5EF4-FFF2-40B4-BE49-F238E27FC236}">
                <a16:creationId xmlns:a16="http://schemas.microsoft.com/office/drawing/2014/main" id="{185DA785-7E07-443D-AE12-41A69C1182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041" y="2736860"/>
            <a:ext cx="2808000" cy="187565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2B9ACF5-9FC9-4703-A6EC-C0AC5C85C7B3}"/>
              </a:ext>
            </a:extLst>
          </p:cNvPr>
          <p:cNvSpPr txBox="1"/>
          <p:nvPr/>
        </p:nvSpPr>
        <p:spPr>
          <a:xfrm>
            <a:off x="6172201" y="2736860"/>
            <a:ext cx="1055097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1200" dirty="0"/>
              <a:t>Matte (2001)</a:t>
            </a:r>
            <a:endParaRPr lang="en-GB" sz="1200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72429B4-36BC-4B77-99BE-C9B04B8813D8}"/>
              </a:ext>
            </a:extLst>
          </p:cNvPr>
          <p:cNvSpPr txBox="1"/>
          <p:nvPr/>
        </p:nvSpPr>
        <p:spPr>
          <a:xfrm>
            <a:off x="10316337" y="4458427"/>
            <a:ext cx="10374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600" dirty="0">
                <a:solidFill>
                  <a:schemeClr val="bg1"/>
                </a:solidFill>
              </a:rPr>
              <a:t>Himalaya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92941C-9BAC-4740-9AFD-02FE06FA8240}"/>
              </a:ext>
            </a:extLst>
          </p:cNvPr>
          <p:cNvSpPr txBox="1"/>
          <p:nvPr/>
        </p:nvSpPr>
        <p:spPr>
          <a:xfrm>
            <a:off x="6172201" y="1833881"/>
            <a:ext cx="20633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Caledonian Orogeny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FC0D590C-0D96-4294-8DFA-073439E92071}"/>
              </a:ext>
            </a:extLst>
          </p:cNvPr>
          <p:cNvSpPr/>
          <p:nvPr/>
        </p:nvSpPr>
        <p:spPr>
          <a:xfrm flipH="1">
            <a:off x="8077741" y="3689944"/>
            <a:ext cx="1301959" cy="2769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3AF34D5-C9B4-42D2-80EC-DDDB0D5457F0}"/>
              </a:ext>
            </a:extLst>
          </p:cNvPr>
          <p:cNvGrpSpPr/>
          <p:nvPr/>
        </p:nvGrpSpPr>
        <p:grpSpPr>
          <a:xfrm>
            <a:off x="1816388" y="5318062"/>
            <a:ext cx="2802275" cy="792000"/>
            <a:chOff x="1892588" y="5384963"/>
            <a:chExt cx="2802275" cy="792000"/>
          </a:xfrm>
        </p:grpSpPr>
        <p:pic>
          <p:nvPicPr>
            <p:cNvPr id="27" name="Picture 26" descr="Icon&#10;&#10;Description automatically generated">
              <a:extLst>
                <a:ext uri="{FF2B5EF4-FFF2-40B4-BE49-F238E27FC236}">
                  <a16:creationId xmlns:a16="http://schemas.microsoft.com/office/drawing/2014/main" id="{6216C889-DDF2-406B-B79B-BB69877BDD4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2588" y="5384963"/>
              <a:ext cx="792000" cy="792000"/>
            </a:xfrm>
            <a:prstGeom prst="rect">
              <a:avLst/>
            </a:prstGeom>
          </p:spPr>
        </p:pic>
        <p:pic>
          <p:nvPicPr>
            <p:cNvPr id="28" name="Picture 27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82DEDC20-F753-4696-BE61-B6F6C8C100C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02863" y="5384963"/>
              <a:ext cx="792000" cy="792000"/>
            </a:xfrm>
            <a:prstGeom prst="rect">
              <a:avLst/>
            </a:prstGeom>
          </p:spPr>
        </p:pic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35C1FB28-DCDA-4B42-80C4-75E12D1D0FC4}"/>
              </a:ext>
            </a:extLst>
          </p:cNvPr>
          <p:cNvSpPr txBox="1"/>
          <p:nvPr/>
        </p:nvSpPr>
        <p:spPr>
          <a:xfrm>
            <a:off x="6562854" y="2171628"/>
            <a:ext cx="1324402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400–425 Ma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5169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3AB8C-88F6-47ED-8FB8-34DF31737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power of radiogenic isotopes: rock provenance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50E036-F033-4B07-B246-B30D4426248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>
                  <a:spcAft>
                    <a:spcPts val="1000"/>
                  </a:spcAft>
                </a:pPr>
                <a:r>
                  <a:rPr lang="en-GB" dirty="0"/>
                  <a:t>Radiogenic isotopes are not fractionated by high-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processes like melting and crystallisation:</a:t>
                </a:r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sPre>
                            <m:sPrePr>
                              <m:ctrlPr>
                                <a:rPr lang="en-GB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/>
                            <m:sup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87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GB" b="0" i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Sr</m:t>
                              </m:r>
                            </m:e>
                          </m:sPre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sPre>
                            <m:sPre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/>
                            <m:sup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GB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Sr</m:t>
                              </m:r>
                            </m:e>
                          </m:sPre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GB" dirty="0">
                  <a:solidFill>
                    <a:schemeClr val="accent1"/>
                  </a:solidFill>
                </a:endParaRPr>
              </a:p>
              <a:p>
                <a:r>
                  <a:rPr lang="en-GB" dirty="0"/>
                  <a:t>Radiogenic isotopes are passive (unreactive) tracers the record the provenance (i.e. source) of rocks</a:t>
                </a:r>
              </a:p>
              <a:p>
                <a:r>
                  <a:rPr lang="en-GB" dirty="0"/>
                  <a:t>Different geochemical reservoirs have characteristic isotopic compositions (e.g. </a:t>
                </a:r>
                <a:r>
                  <a:rPr lang="en-GB" dirty="0">
                    <a:solidFill>
                      <a:schemeClr val="accent1"/>
                    </a:solidFill>
                  </a:rPr>
                  <a:t>Continental Crust </a:t>
                </a:r>
                <a:r>
                  <a:rPr lang="en-GB" dirty="0"/>
                  <a:t>versus </a:t>
                </a:r>
                <a:r>
                  <a:rPr lang="en-GB" dirty="0">
                    <a:solidFill>
                      <a:schemeClr val="accent3"/>
                    </a:solidFill>
                  </a:rPr>
                  <a:t>Depleted Mantle</a:t>
                </a:r>
                <a:r>
                  <a:rPr lang="en-GB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50E036-F033-4B07-B246-B30D442624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1647" t="-18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Content Placeholder 8" descr="Map&#10;&#10;Description automatically generated">
            <a:extLst>
              <a:ext uri="{FF2B5EF4-FFF2-40B4-BE49-F238E27FC236}">
                <a16:creationId xmlns:a16="http://schemas.microsoft.com/office/drawing/2014/main" id="{935BB059-54B1-4D22-9FEF-724E27A617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844" y="4099226"/>
            <a:ext cx="3377956" cy="2077737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B5BD2E-4223-40AD-B1C7-774FBDB05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35E020-B99F-408C-B66E-E29B27D49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5B414-D962-44B7-890D-0C9130AFE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5</a:t>
            </a:fld>
            <a:endParaRPr lang="en-GB"/>
          </a:p>
        </p:txBody>
      </p:sp>
      <p:pic>
        <p:nvPicPr>
          <p:cNvPr id="11" name="Picture 10" descr="Diagram&#10;&#10;Description automatically generated">
            <a:extLst>
              <a:ext uri="{FF2B5EF4-FFF2-40B4-BE49-F238E27FC236}">
                <a16:creationId xmlns:a16="http://schemas.microsoft.com/office/drawing/2014/main" id="{7E0733F9-D7F3-4730-A560-2748A794CE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5563" y="1825625"/>
            <a:ext cx="4410074" cy="202013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6FE4771-7D12-4CA1-BE5F-ECE8FA9F32EE}"/>
              </a:ext>
            </a:extLst>
          </p:cNvPr>
          <p:cNvSpPr txBox="1"/>
          <p:nvPr/>
        </p:nvSpPr>
        <p:spPr>
          <a:xfrm>
            <a:off x="9359343" y="6079351"/>
            <a:ext cx="19944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chemeClr val="accent3"/>
                </a:solidFill>
              </a:rPr>
              <a:t>van der </a:t>
            </a:r>
            <a:r>
              <a:rPr lang="en-GB" sz="1200" dirty="0" err="1">
                <a:solidFill>
                  <a:schemeClr val="accent3"/>
                </a:solidFill>
              </a:rPr>
              <a:t>Fierdt</a:t>
            </a:r>
            <a:r>
              <a:rPr lang="en-GB" sz="1200" dirty="0">
                <a:solidFill>
                  <a:schemeClr val="accent3"/>
                </a:solidFill>
              </a:rPr>
              <a:t> et al. (2016)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6CA252-7030-4B1D-B691-85376A7CB62D}"/>
              </a:ext>
            </a:extLst>
          </p:cNvPr>
          <p:cNvSpPr txBox="1"/>
          <p:nvPr/>
        </p:nvSpPr>
        <p:spPr>
          <a:xfrm>
            <a:off x="6405563" y="3864049"/>
            <a:ext cx="172354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Determine fluxes</a:t>
            </a:r>
            <a:br>
              <a:rPr lang="en-GB" sz="1600" dirty="0"/>
            </a:br>
            <a:r>
              <a:rPr lang="en-GB" sz="1600" dirty="0"/>
              <a:t>between Earth’s</a:t>
            </a:r>
            <a:br>
              <a:rPr lang="en-GB" sz="1600" dirty="0"/>
            </a:br>
            <a:r>
              <a:rPr lang="en-GB" sz="1600" dirty="0"/>
              <a:t>geochemical</a:t>
            </a:r>
            <a:br>
              <a:rPr lang="en-GB" sz="1600" dirty="0"/>
            </a:br>
            <a:r>
              <a:rPr lang="en-GB" sz="1600" dirty="0"/>
              <a:t>reservoirs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A413E4-24D0-4E1E-8F2E-ED76C1A1EE3E}"/>
              </a:ext>
            </a:extLst>
          </p:cNvPr>
          <p:cNvSpPr txBox="1"/>
          <p:nvPr/>
        </p:nvSpPr>
        <p:spPr>
          <a:xfrm>
            <a:off x="6780666" y="5345966"/>
            <a:ext cx="13484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Track ocean</a:t>
            </a:r>
            <a:br>
              <a:rPr lang="en-GB" sz="1600" dirty="0"/>
            </a:br>
            <a:r>
              <a:rPr lang="en-GB" sz="1600" dirty="0"/>
              <a:t>currents with</a:t>
            </a:r>
            <a:br>
              <a:rPr lang="en-GB" sz="1600" dirty="0"/>
            </a:br>
            <a:r>
              <a:rPr lang="en-GB" sz="1600" dirty="0"/>
              <a:t>Nd isotopes</a:t>
            </a:r>
          </a:p>
        </p:txBody>
      </p:sp>
    </p:spTree>
    <p:extLst>
      <p:ext uri="{BB962C8B-B14F-4D97-AF65-F5344CB8AC3E}">
        <p14:creationId xmlns:p14="http://schemas.microsoft.com/office/powerpoint/2010/main" val="1069161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8697CBF-EB69-48E1-9A95-545ABF3E1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Lecture 2 synopsis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EF493CA-D1ED-4702-94EB-FC465378E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solidFill>
                  <a:schemeClr val="accent2"/>
                </a:solidFill>
              </a:rPr>
              <a:t>Synchronous</a:t>
            </a:r>
          </a:p>
          <a:p>
            <a:pPr marL="0" indent="0">
              <a:buNone/>
            </a:pPr>
            <a:r>
              <a:rPr lang="en-GB" dirty="0"/>
              <a:t>Part 1 | Introduction</a:t>
            </a:r>
          </a:p>
          <a:p>
            <a:pPr marL="0" indent="0">
              <a:buNone/>
            </a:pPr>
            <a:r>
              <a:rPr lang="en-GB" dirty="0"/>
              <a:t>Part 2 | Radioactive decay</a:t>
            </a:r>
          </a:p>
          <a:p>
            <a:pPr marL="0" indent="0">
              <a:buNone/>
            </a:pPr>
            <a:r>
              <a:rPr lang="en-GB" dirty="0"/>
              <a:t>Part 3 | Dating and isochron diagrams</a:t>
            </a:r>
          </a:p>
          <a:p>
            <a:pPr marL="0" indent="0">
              <a:buNone/>
            </a:pPr>
            <a:r>
              <a:rPr lang="en-GB" dirty="0"/>
              <a:t>Part 4 | Isotopic evolution of the crust and mantle</a:t>
            </a:r>
          </a:p>
          <a:p>
            <a:pPr marL="0" indent="0">
              <a:buNone/>
            </a:pPr>
            <a:r>
              <a:rPr lang="en-GB" dirty="0"/>
              <a:t>Part 5 | Provenance and the mantle array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Further reading | </a:t>
            </a:r>
            <a:r>
              <a:rPr lang="en-GB" dirty="0" err="1"/>
              <a:t>Misra</a:t>
            </a:r>
            <a:r>
              <a:rPr lang="en-GB" dirty="0"/>
              <a:t>, Chapter 10 (theoretical overview)</a:t>
            </a:r>
          </a:p>
          <a:p>
            <a:pPr marL="0" indent="0">
              <a:buNone/>
            </a:pPr>
            <a:r>
              <a:rPr lang="en-GB" dirty="0"/>
              <a:t>Further reading | White, Chapter 8 (detailed and comprehensive)</a:t>
            </a:r>
          </a:p>
          <a:p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214C43-D8E1-4C9B-B591-FD6C78A3C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8FB0BB-08CB-4C2A-9DA7-3B9176E6F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BEA239-335C-47CF-8544-14C5E5A5F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6029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1F090-150B-473E-BD80-A3825C7649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age and provenance of rocks: radiogenic isotopes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0E7A83-1F4B-42AA-92ED-D2CA10EB50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EART26201 | Principles of Geochemistry | Lecture 2</a:t>
            </a:r>
          </a:p>
          <a:p>
            <a:r>
              <a:rPr lang="en-GB" dirty="0"/>
              <a:t>Part 2 | Radioactive decay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BC59C-67B6-4B05-BC06-2EEFD1F7A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8E3BF-8C94-43B7-BDCB-B289E57EE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507B5-2A7D-4FCF-A40A-BADB4BDC4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175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A020F45-1932-40DE-BC00-A5ADFF13A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Nuclear structure and stability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FBC3F1BA-99B5-4498-A396-BCE60269CA3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Nuclei contain protons (+ charge) and neutrons (no charge)</a:t>
                </a:r>
              </a:p>
              <a:p>
                <a:r>
                  <a:rPr lang="en-GB" dirty="0"/>
                  <a:t>The atomic mass 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) is the sum of the proton number 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GB" dirty="0"/>
                  <a:t>) and the neutron number 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dirty="0"/>
                  <a:t>)</a:t>
                </a:r>
              </a:p>
              <a:p>
                <a:r>
                  <a:rPr lang="en-GB" dirty="0"/>
                  <a:t>In stable nuclei,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dirty="0"/>
                  <a:t>, though</a:t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GB" dirty="0">
                    <a:solidFill>
                      <a:schemeClr val="accent1"/>
                    </a:solidFill>
                  </a:rPr>
                  <a:t> </a:t>
                </a:r>
                <a:r>
                  <a:rPr lang="en-GB" dirty="0"/>
                  <a:t>in heavier nuclides</a:t>
                </a:r>
              </a:p>
              <a:p>
                <a:r>
                  <a:rPr lang="en-GB" dirty="0"/>
                  <a:t>Nuclides where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GB" dirty="0"/>
                  <a:t> and/or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dirty="0"/>
                  <a:t> are even numbers are more stable</a:t>
                </a:r>
              </a:p>
              <a:p>
                <a:r>
                  <a:rPr lang="en-GB" dirty="0"/>
                  <a:t>Stability is greatest when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GB" dirty="0"/>
                  <a:t> or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dirty="0"/>
                  <a:t> is 2, 8, 20, 28, 50, 82 or 126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FBC3F1BA-99B5-4498-A396-BCE60269CA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647" t="-1821" r="-588" b="-2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Content Placeholder 10" descr="Chart&#10;&#10;Description automatically generated">
            <a:extLst>
              <a:ext uri="{FF2B5EF4-FFF2-40B4-BE49-F238E27FC236}">
                <a16:creationId xmlns:a16="http://schemas.microsoft.com/office/drawing/2014/main" id="{D1728478-4E5A-4E55-9EC7-8233E40596D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0815" y="1843305"/>
            <a:ext cx="4404369" cy="4315977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7FC15-FB5C-4C23-BD9B-05AD5F4BF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06C57-1B44-4AB1-B307-9AA1DEA15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15E5E-EE5E-4D90-8A61-FC3E5235D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8</a:t>
            </a:fld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DEA1AB-35E5-4761-B324-FFE6AE50A45B}"/>
              </a:ext>
            </a:extLst>
          </p:cNvPr>
          <p:cNvSpPr txBox="1"/>
          <p:nvPr/>
        </p:nvSpPr>
        <p:spPr>
          <a:xfrm>
            <a:off x="5106674" y="5734596"/>
            <a:ext cx="1569644" cy="52322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b="1" i="1" dirty="0" err="1">
                <a:solidFill>
                  <a:schemeClr val="accent1"/>
                </a:solidFill>
              </a:rPr>
              <a:t>Oddo</a:t>
            </a:r>
            <a:r>
              <a:rPr lang="en-GB" sz="1400" b="1" i="1" dirty="0">
                <a:solidFill>
                  <a:schemeClr val="accent1"/>
                </a:solidFill>
              </a:rPr>
              <a:t>-Harkins rule in Lecture 1</a:t>
            </a:r>
          </a:p>
        </p:txBody>
      </p:sp>
    </p:spTree>
    <p:extLst>
      <p:ext uri="{BB962C8B-B14F-4D97-AF65-F5344CB8AC3E}">
        <p14:creationId xmlns:p14="http://schemas.microsoft.com/office/powerpoint/2010/main" val="453991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474DE-BE16-4500-AB74-9DDB48FEA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Radioactive decay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D9D502-86E2-40C2-8751-19044D88475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5413744" cy="4351338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Unstable parent nuclides undergo radioactive decay to different but not always stable daughter nuclides</a:t>
                </a:r>
              </a:p>
              <a:p>
                <a:r>
                  <a:rPr lang="en-GB" dirty="0"/>
                  <a:t>Unstable nuclides can exist for between 10</a:t>
                </a:r>
                <a:r>
                  <a:rPr lang="en-GB" baseline="30000" dirty="0"/>
                  <a:t>−14</a:t>
                </a:r>
                <a:r>
                  <a:rPr lang="en-GB" dirty="0"/>
                  <a:t> s and 10</a:t>
                </a:r>
                <a:r>
                  <a:rPr lang="en-GB" baseline="30000" dirty="0"/>
                  <a:t>11</a:t>
                </a:r>
                <a:r>
                  <a:rPr lang="en-GB" dirty="0"/>
                  <a:t> years</a:t>
                </a:r>
              </a:p>
              <a:p>
                <a:pPr>
                  <a:spcAft>
                    <a:spcPts val="1000"/>
                  </a:spcAft>
                </a:pPr>
                <a:r>
                  <a:rPr lang="en-GB" dirty="0"/>
                  <a:t>The rate of decay depends on the energy state of the nuclide alone, and is described by: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GB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GB" dirty="0"/>
              </a:p>
              <a:p>
                <a:pPr marL="457200" lvl="1" indent="0">
                  <a:buNone/>
                </a:pPr>
                <a:r>
                  <a:rPr lang="en-GB" dirty="0"/>
                  <a:t>where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dirty="0"/>
                  <a:t> is the number of decaying nuclides and </a:t>
                </a:r>
                <a14:m>
                  <m:oMath xmlns:m="http://schemas.openxmlformats.org/officeDocument/2006/math">
                    <m:r>
                      <a:rPr lang="el-GR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GB" dirty="0"/>
                  <a:t> is the decay constant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D9D502-86E2-40C2-8751-19044D8847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5413744" cy="4351338"/>
              </a:xfrm>
              <a:blipFill>
                <a:blip r:embed="rId2"/>
                <a:stretch>
                  <a:fillRect l="-1577" t="-1821" r="-1577" b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839E933-9D74-4C7D-B5B4-44BF297B533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5425" y="1825625"/>
            <a:ext cx="4415149" cy="4351337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00507-2A55-448E-8CAD-5284AE9FB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148B90-ECB8-4F8E-AFA9-7376B7DE6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22F5D0-851D-4661-A981-DF07AEEC3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6764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58537-97FA-4A16-9A5C-BE7F553C1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Mechanisms of radioactive decay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D0A99A-38D6-482C-A3D9-A64ACB3273D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5181600" cy="4351338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GB" dirty="0">
                    <a:solidFill>
                      <a:schemeClr val="accent1"/>
                    </a:solidFill>
                  </a:rPr>
                  <a:t>Alpha decay</a:t>
                </a:r>
              </a:p>
              <a:p>
                <a:pPr marL="0" indent="0">
                  <a:buNone/>
                </a:pPr>
                <a:r>
                  <a:rPr lang="en-GB" dirty="0"/>
                  <a:t>When an </a:t>
                </a:r>
                <a:r>
                  <a:rPr lang="el-GR" dirty="0"/>
                  <a:t>α</a:t>
                </a:r>
                <a:r>
                  <a:rPr lang="en-GB" dirty="0"/>
                  <a:t>-particle with 2 protons and 2 neutrons (i.e. a He nucleus) escapes the nucleus, reducing both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>
                    <a:solidFill>
                      <a:schemeClr val="accent2"/>
                    </a:solidFill>
                  </a:rPr>
                  <a:t>Beta decay</a:t>
                </a:r>
              </a:p>
              <a:p>
                <a:pPr marL="0" indent="0">
                  <a:buNone/>
                </a:pPr>
                <a:r>
                  <a:rPr lang="en-GB" dirty="0"/>
                  <a:t>When a </a:t>
                </a:r>
                <a:r>
                  <a:rPr lang="el-GR" dirty="0"/>
                  <a:t>β</a:t>
                </a:r>
                <a:r>
                  <a:rPr lang="en-GB" dirty="0"/>
                  <a:t>-particle (either a positron or an electron) escapes the nucleus changing the ratio of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GB" dirty="0"/>
                  <a:t> to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GB" dirty="0">
                  <a:solidFill>
                    <a:schemeClr val="accent2"/>
                  </a:solidFill>
                </a:endParaRPr>
              </a:p>
              <a:p>
                <a:pPr marL="0" indent="0">
                  <a:buNone/>
                </a:pPr>
                <a:r>
                  <a:rPr lang="en-GB" dirty="0">
                    <a:solidFill>
                      <a:schemeClr val="accent3"/>
                    </a:solidFill>
                  </a:rPr>
                  <a:t>Gamma decay</a:t>
                </a:r>
              </a:p>
              <a:p>
                <a:pPr marL="0" indent="0">
                  <a:buNone/>
                </a:pPr>
                <a:r>
                  <a:rPr lang="en-GB" dirty="0"/>
                  <a:t>The decay of an excited nucleus to a more stable state by the release of a </a:t>
                </a:r>
                <a:br>
                  <a:rPr lang="en-GB" dirty="0"/>
                </a:br>
                <a:r>
                  <a:rPr lang="el-GR" dirty="0"/>
                  <a:t>γ</a:t>
                </a:r>
                <a:r>
                  <a:rPr lang="en-GB" dirty="0"/>
                  <a:t>-ray; neither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GB" dirty="0"/>
                  <a:t> nor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dirty="0"/>
                  <a:t> change</a:t>
                </a:r>
              </a:p>
              <a:p>
                <a:pPr lvl="1"/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D0A99A-38D6-482C-A3D9-A64ACB3273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5181600" cy="4351338"/>
              </a:xfrm>
              <a:blipFill>
                <a:blip r:embed="rId2"/>
                <a:stretch>
                  <a:fillRect l="-1529" t="-1541" r="-2000" b="-29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E1814-187B-48C5-AA28-4EA158191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7BBF7C-6AFD-4DC7-9944-243BE4BCE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A10384-14B0-4FA1-BA6B-87023AFCC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10</a:t>
            </a:fld>
            <a:endParaRPr lang="en-GB"/>
          </a:p>
        </p:txBody>
      </p:sp>
      <p:pic>
        <p:nvPicPr>
          <p:cNvPr id="8" name="Content Placeholder 10" descr="Chart&#10;&#10;Description automatically generated">
            <a:extLst>
              <a:ext uri="{FF2B5EF4-FFF2-40B4-BE49-F238E27FC236}">
                <a16:creationId xmlns:a16="http://schemas.microsoft.com/office/drawing/2014/main" id="{425A90AA-48CC-4050-B169-E535A8F2779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5720" y="1853938"/>
            <a:ext cx="4404369" cy="4315977"/>
          </a:xfr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20B0E9A-3495-46BE-9822-25163FEA8626}"/>
              </a:ext>
            </a:extLst>
          </p:cNvPr>
          <p:cNvCxnSpPr>
            <a:cxnSpLocks/>
          </p:cNvCxnSpPr>
          <p:nvPr/>
        </p:nvCxnSpPr>
        <p:spPr>
          <a:xfrm flipH="1">
            <a:off x="9063174" y="3548644"/>
            <a:ext cx="1350333" cy="9497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96EBAF4-E31D-434A-8716-B6A5600FB095}"/>
              </a:ext>
            </a:extLst>
          </p:cNvPr>
          <p:cNvSpPr txBox="1"/>
          <p:nvPr/>
        </p:nvSpPr>
        <p:spPr>
          <a:xfrm>
            <a:off x="9356651" y="4227595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Alpha decay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59CE32A-82BF-482E-AC02-0EDB0FD00679}"/>
              </a:ext>
            </a:extLst>
          </p:cNvPr>
          <p:cNvCxnSpPr>
            <a:cxnSpLocks/>
          </p:cNvCxnSpPr>
          <p:nvPr/>
        </p:nvCxnSpPr>
        <p:spPr>
          <a:xfrm>
            <a:off x="7523239" y="3734358"/>
            <a:ext cx="846285" cy="57832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2634575-2AF1-45AC-805F-FD304FD1F1DE}"/>
              </a:ext>
            </a:extLst>
          </p:cNvPr>
          <p:cNvCxnSpPr>
            <a:cxnSpLocks/>
          </p:cNvCxnSpPr>
          <p:nvPr/>
        </p:nvCxnSpPr>
        <p:spPr>
          <a:xfrm flipH="1" flipV="1">
            <a:off x="8640031" y="4782651"/>
            <a:ext cx="846285" cy="57832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D58D04A-5829-40C9-A167-5129889FFB94}"/>
              </a:ext>
            </a:extLst>
          </p:cNvPr>
          <p:cNvSpPr txBox="1"/>
          <p:nvPr/>
        </p:nvSpPr>
        <p:spPr>
          <a:xfrm>
            <a:off x="7367890" y="4088049"/>
            <a:ext cx="8002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solidFill>
                  <a:schemeClr val="accent2"/>
                </a:solidFill>
              </a:rPr>
              <a:t>Beta</a:t>
            </a:r>
          </a:p>
          <a:p>
            <a:pPr algn="ctr"/>
            <a:r>
              <a:rPr lang="en-GB" dirty="0">
                <a:solidFill>
                  <a:schemeClr val="accent2"/>
                </a:solidFill>
              </a:rPr>
              <a:t>decay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6C0F81C-D9D3-46D1-8A20-925F19C4AAC2}"/>
              </a:ext>
            </a:extLst>
          </p:cNvPr>
          <p:cNvSpPr/>
          <p:nvPr/>
        </p:nvSpPr>
        <p:spPr>
          <a:xfrm>
            <a:off x="9063173" y="2381693"/>
            <a:ext cx="148856" cy="14885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707A80-831B-4C28-AF40-BAE8522299DD}"/>
              </a:ext>
            </a:extLst>
          </p:cNvPr>
          <p:cNvSpPr txBox="1"/>
          <p:nvPr/>
        </p:nvSpPr>
        <p:spPr>
          <a:xfrm>
            <a:off x="8057770" y="2121151"/>
            <a:ext cx="10054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solidFill>
                  <a:schemeClr val="accent3"/>
                </a:solidFill>
              </a:rPr>
              <a:t>Gamma</a:t>
            </a:r>
          </a:p>
          <a:p>
            <a:pPr algn="ctr"/>
            <a:r>
              <a:rPr lang="en-GB" dirty="0">
                <a:solidFill>
                  <a:schemeClr val="accent3"/>
                </a:solidFill>
              </a:rPr>
              <a:t>decay</a:t>
            </a:r>
          </a:p>
        </p:txBody>
      </p:sp>
    </p:spTree>
    <p:extLst>
      <p:ext uri="{BB962C8B-B14F-4D97-AF65-F5344CB8AC3E}">
        <p14:creationId xmlns:p14="http://schemas.microsoft.com/office/powerpoint/2010/main" val="3554077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1" grpId="0"/>
      <p:bldP spid="22" grpId="0" animBg="1"/>
      <p:bldP spid="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56E94-A169-4EC5-84BE-5F6D0B19F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Decay constants and half-lives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F60C83-82B1-4DB6-B2E8-96BCF070773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5181600" cy="4667250"/>
              </a:xfrm>
            </p:spPr>
            <p:txBody>
              <a:bodyPr>
                <a:normAutofit lnSpcReduction="10000"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GB" dirty="0"/>
                  <a:t>The rate of decay is described by:</a:t>
                </a:r>
              </a:p>
              <a:p>
                <a:pPr marL="0" indent="0">
                  <a:spcAft>
                    <a:spcPts val="5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GB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GB" dirty="0"/>
              </a:p>
              <a:p>
                <a:pPr marL="457200" lvl="1" indent="0">
                  <a:buNone/>
                </a:pPr>
                <a:r>
                  <a:rPr lang="en-GB" dirty="0"/>
                  <a:t>where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dirty="0"/>
                  <a:t> is the number of decaying nuclides and </a:t>
                </a:r>
                <a14:m>
                  <m:oMath xmlns:m="http://schemas.openxmlformats.org/officeDocument/2006/math">
                    <m:r>
                      <a:rPr lang="el-GR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GB" dirty="0"/>
                  <a:t> is the decay constant</a:t>
                </a:r>
              </a:p>
              <a:p>
                <a:pPr>
                  <a:spcAft>
                    <a:spcPts val="1000"/>
                  </a:spcAft>
                </a:pPr>
                <a:r>
                  <a:rPr lang="en-GB" dirty="0"/>
                  <a:t>With respect to initial number of decaying nuclides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) at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GB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GB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GB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>
                    <a:solidFill>
                      <a:schemeClr val="accent1"/>
                    </a:solidFill>
                  </a:rPr>
                  <a:t> </a:t>
                </a:r>
                <a:r>
                  <a:rPr lang="en-GB" dirty="0"/>
                  <a:t>or</a:t>
                </a:r>
                <a:r>
                  <a:rPr lang="en-GB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GB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GB" dirty="0"/>
              </a:p>
              <a:p>
                <a:pPr>
                  <a:spcAft>
                    <a:spcPts val="1000"/>
                  </a:spcAft>
                </a:pPr>
                <a:r>
                  <a:rPr lang="en-GB" dirty="0"/>
                  <a:t>Half-life (time to reduce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dirty="0"/>
                  <a:t> by half) is given as follows: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GB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half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</m:num>
                        <m:den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F60C83-82B1-4DB6-B2E8-96BCF07077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5181600" cy="4667250"/>
              </a:xfrm>
              <a:blipFill>
                <a:blip r:embed="rId2"/>
                <a:stretch>
                  <a:fillRect l="-1647" t="-24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1159AF-6397-4D2B-8022-7BD655353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569A54-4F30-4C7F-9D5C-1AF15F670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8F8DA3-7AF8-49E3-81E1-4860E6660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11</a:t>
            </a:fld>
            <a:endParaRPr lang="en-GB"/>
          </a:p>
        </p:txBody>
      </p:sp>
      <p:pic>
        <p:nvPicPr>
          <p:cNvPr id="8" name="Content Placeholder 10">
            <a:extLst>
              <a:ext uri="{FF2B5EF4-FFF2-40B4-BE49-F238E27FC236}">
                <a16:creationId xmlns:a16="http://schemas.microsoft.com/office/drawing/2014/main" id="{C0CDB593-F72B-4E1A-BD39-EF230E4777A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5425" y="1825625"/>
            <a:ext cx="4415149" cy="4351337"/>
          </a:xfrm>
        </p:spPr>
      </p:pic>
    </p:spTree>
    <p:extLst>
      <p:ext uri="{BB962C8B-B14F-4D97-AF65-F5344CB8AC3E}">
        <p14:creationId xmlns:p14="http://schemas.microsoft.com/office/powerpoint/2010/main" val="915857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1ECFA-3C8F-488A-B6E2-1EDB87165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Parents, daughters and decay constants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B23C5B-DDF2-438B-8ADE-0765BA8CCF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GB" dirty="0"/>
                  <a:t>At any given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the number of daughter nuclides 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GB" dirty="0"/>
                  <a:t>) is given by: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GB" b="0" dirty="0">
                  <a:solidFill>
                    <a:schemeClr val="accent1"/>
                  </a:solidFill>
                </a:endParaRPr>
              </a:p>
              <a:p>
                <a:pPr>
                  <a:spcAft>
                    <a:spcPts val="1000"/>
                  </a:spcAft>
                </a:pPr>
                <a:r>
                  <a:rPr lang="en-GB" dirty="0"/>
                  <a:t>By substituting </a:t>
                </a:r>
                <a14:m>
                  <m:oMath xmlns:m="http://schemas.openxmlformats.org/officeDocument/2006/math">
                    <m:r>
                      <a:rPr lang="en-GB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GB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GB" dirty="0"/>
                  <a:t> into this we can describe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GB" dirty="0"/>
                  <a:t> at any given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>
                  <a:spcAft>
                    <a:spcPts val="1000"/>
                  </a:spcAft>
                </a:pPr>
                <a:r>
                  <a:rPr lang="en-GB" dirty="0"/>
                  <a:t>Some amount of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GB" dirty="0"/>
                  <a:t> will be present at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) and must be considered: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>
                  <a:spcAft>
                    <a:spcPts val="1000"/>
                  </a:spcAft>
                </a:pPr>
                <a:r>
                  <a:rPr lang="en-GB" dirty="0"/>
                  <a:t>It is easier to measure isotope ratios than concentrations.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GB" dirty="0"/>
                  <a:t> are thus ratioed to a non-radiogenic isotope 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dirty="0"/>
                  <a:t>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GB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num>
                                <m:den>
                                  <m:r>
                                    <a:rPr lang="en-GB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B23C5B-DDF2-438B-8ADE-0765BA8CCF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6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4A64F-294D-4D30-94A9-110E957FF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3852C-0732-4F16-94FC-280EB40A3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7F0CB-E027-4624-882D-2CA954029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12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B018DD-B6C1-4495-B030-A4CFEF577B0D}"/>
              </a:ext>
            </a:extLst>
          </p:cNvPr>
          <p:cNvSpPr txBox="1"/>
          <p:nvPr/>
        </p:nvSpPr>
        <p:spPr>
          <a:xfrm>
            <a:off x="7960091" y="5407337"/>
            <a:ext cx="2960571" cy="73866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b="1" i="1" dirty="0">
                <a:solidFill>
                  <a:schemeClr val="accent1"/>
                </a:solidFill>
              </a:rPr>
              <a:t>The fundamental equation </a:t>
            </a:r>
            <a:r>
              <a:rPr lang="en-GB" sz="1400" b="1" i="1">
                <a:solidFill>
                  <a:schemeClr val="accent1"/>
                </a:solidFill>
              </a:rPr>
              <a:t>of geochronology and </a:t>
            </a:r>
            <a:r>
              <a:rPr lang="en-GB" sz="1400" b="1" i="1" dirty="0">
                <a:solidFill>
                  <a:schemeClr val="accent1"/>
                </a:solidFill>
              </a:rPr>
              <a:t>radiogenic isotope geochemistry</a:t>
            </a:r>
          </a:p>
        </p:txBody>
      </p:sp>
    </p:spTree>
    <p:extLst>
      <p:ext uri="{BB962C8B-B14F-4D97-AF65-F5344CB8AC3E}">
        <p14:creationId xmlns:p14="http://schemas.microsoft.com/office/powerpoint/2010/main" val="299839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11596C5-09DE-4049-AC00-3194EE9F6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Radioactive decay in a geological context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CD84239-E963-420F-A9A2-BECC451C229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GB" dirty="0"/>
                  <a:t>Most geochemical events (like melting or crystallisation) occurred at some time 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) less than the age of the Earth 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)</a:t>
                </a:r>
              </a:p>
              <a:p>
                <a:r>
                  <a:rPr lang="en-GB" dirty="0"/>
                  <a:t>Some amount of both parent and daughter nuclides will already be present 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i="1" baseline="-250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GB" i="1" baseline="-2500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dirty="0"/>
                  <a:t>)</a:t>
                </a:r>
              </a:p>
              <a:p>
                <a:r>
                  <a:rPr lang="en-GB" dirty="0"/>
                  <a:t>After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, the total number of daughter nuclides 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GB" dirty="0"/>
                  <a:t>) will be the sum of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GB" i="1" baseline="-2500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dirty="0"/>
                  <a:t> and those produced by decay from </a:t>
                </a:r>
                <a14:m>
                  <m:oMath xmlns:m="http://schemas.openxmlformats.org/officeDocument/2006/math">
                    <m:r>
                      <a:rPr lang="en-GB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i="1" baseline="-25000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0 </m:t>
                    </m:r>
                  </m:oMath>
                </a14:m>
                <a:r>
                  <a:rPr lang="en-GB" dirty="0"/>
                  <a:t> over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GB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GB" dirty="0"/>
                  <a:t>)</a:t>
                </a:r>
                <a:endParaRPr lang="en-GB" baseline="-25000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CD84239-E963-420F-A9A2-BECC451C22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647" t="-1821" r="-7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611CA14-3AF8-44B5-9BFF-46C2FF0D420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5425" y="1825625"/>
            <a:ext cx="4415149" cy="4351337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9ACCC-3295-4B4A-A809-BC2FAB63C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3C5E1-4E74-495E-AA6A-CFC5039A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D6770-A9BD-496C-A8F3-C605B2E7A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026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B11FF-C3E8-4738-B741-99B068E8E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decay systems of geochemical interest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073FEDB-9658-442E-9B94-0A9EFE562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404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Many geochemically important systems have very long half-lives: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457200" lvl="1" indent="0">
              <a:buNone/>
            </a:pPr>
            <a:r>
              <a:rPr lang="en-GB" dirty="0"/>
              <a:t>*Radiogenic isotopes are measured with respect to non-radiogenic isotopes</a:t>
            </a:r>
          </a:p>
          <a:p>
            <a:pPr marL="457200" lvl="1" indent="0">
              <a:buNone/>
            </a:pPr>
            <a:r>
              <a:rPr lang="en-GB" baseline="30000" dirty="0"/>
              <a:t>† </a:t>
            </a:r>
            <a:r>
              <a:rPr lang="en-GB" dirty="0"/>
              <a:t>Very little </a:t>
            </a:r>
            <a:r>
              <a:rPr lang="en-GB" baseline="30000" dirty="0"/>
              <a:t>4</a:t>
            </a:r>
            <a:r>
              <a:rPr lang="en-GB" dirty="0"/>
              <a:t>He is produced by </a:t>
            </a:r>
            <a:r>
              <a:rPr lang="en-GB" baseline="30000" dirty="0"/>
              <a:t>147</a:t>
            </a:r>
            <a:r>
              <a:rPr lang="en-GB" baseline="0" dirty="0"/>
              <a:t>Sm</a:t>
            </a:r>
            <a:r>
              <a:rPr lang="en-GB" dirty="0"/>
              <a:t> decay when compared with </a:t>
            </a:r>
            <a:r>
              <a:rPr lang="en-GB" baseline="30000" dirty="0"/>
              <a:t>232</a:t>
            </a:r>
            <a:r>
              <a:rPr lang="en-GB" baseline="0" dirty="0"/>
              <a:t>Th or </a:t>
            </a:r>
            <a:r>
              <a:rPr lang="en-GB" baseline="30000" dirty="0"/>
              <a:t>238</a:t>
            </a:r>
            <a:r>
              <a:rPr lang="en-GB" baseline="0" dirty="0"/>
              <a:t>U</a:t>
            </a:r>
            <a:r>
              <a:rPr lang="en-GB" dirty="0"/>
              <a:t> decay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89E8B9-CF7E-4AB1-9D36-1157B287B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54ECEB-98C0-4DA9-B5F4-51F00EC81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FB1E1-0BA4-4400-BBE7-94C9ADDD8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14</a:t>
            </a:fld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Table 9">
                <a:extLst>
                  <a:ext uri="{FF2B5EF4-FFF2-40B4-BE49-F238E27FC236}">
                    <a16:creationId xmlns:a16="http://schemas.microsoft.com/office/drawing/2014/main" id="{6FCFF0EC-9AFD-4669-B395-71DAC05609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5262772"/>
                  </p:ext>
                </p:extLst>
              </p:nvPr>
            </p:nvGraphicFramePr>
            <p:xfrm>
              <a:off x="1082611" y="2513205"/>
              <a:ext cx="10026777" cy="1849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57580">
                      <a:extLst>
                        <a:ext uri="{9D8B030D-6E8A-4147-A177-3AD203B41FA5}">
                          <a16:colId xmlns:a16="http://schemas.microsoft.com/office/drawing/2014/main" val="2009666211"/>
                        </a:ext>
                      </a:extLst>
                    </a:gridCol>
                    <a:gridCol w="1592580">
                      <a:extLst>
                        <a:ext uri="{9D8B030D-6E8A-4147-A177-3AD203B41FA5}">
                          <a16:colId xmlns:a16="http://schemas.microsoft.com/office/drawing/2014/main" val="2554595898"/>
                        </a:ext>
                      </a:extLst>
                    </a:gridCol>
                    <a:gridCol w="1344930">
                      <a:extLst>
                        <a:ext uri="{9D8B030D-6E8A-4147-A177-3AD203B41FA5}">
                          <a16:colId xmlns:a16="http://schemas.microsoft.com/office/drawing/2014/main" val="4106669239"/>
                        </a:ext>
                      </a:extLst>
                    </a:gridCol>
                    <a:gridCol w="1946402">
                      <a:extLst>
                        <a:ext uri="{9D8B030D-6E8A-4147-A177-3AD203B41FA5}">
                          <a16:colId xmlns:a16="http://schemas.microsoft.com/office/drawing/2014/main" val="2386969129"/>
                        </a:ext>
                      </a:extLst>
                    </a:gridCol>
                    <a:gridCol w="1868805">
                      <a:extLst>
                        <a:ext uri="{9D8B030D-6E8A-4147-A177-3AD203B41FA5}">
                          <a16:colId xmlns:a16="http://schemas.microsoft.com/office/drawing/2014/main" val="3458555137"/>
                        </a:ext>
                      </a:extLst>
                    </a:gridCol>
                    <a:gridCol w="2316480">
                      <a:extLst>
                        <a:ext uri="{9D8B030D-6E8A-4147-A177-3AD203B41FA5}">
                          <a16:colId xmlns:a16="http://schemas.microsoft.com/office/drawing/2014/main" val="162519615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Parent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Decay mode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Daughter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𝝀</m:t>
                                </m:r>
                              </m:oMath>
                            </m:oMathPara>
                          </a14:m>
                          <a:endParaRPr lang="en-GB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Half-life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Measured ratio*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454511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baseline="30000" dirty="0"/>
                            <a:t>87</a:t>
                          </a:r>
                          <a:r>
                            <a:rPr lang="en-GB" baseline="0" dirty="0"/>
                            <a:t>Rb</a:t>
                          </a:r>
                          <a:endParaRPr lang="en-GB" baseline="30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l-GR" dirty="0"/>
                            <a:t>β</a:t>
                          </a:r>
                          <a:r>
                            <a:rPr lang="el-GR" baseline="30000" dirty="0"/>
                            <a:t>−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baseline="30000" dirty="0"/>
                            <a:t>87</a:t>
                          </a:r>
                          <a:r>
                            <a:rPr lang="en-GB" dirty="0"/>
                            <a:t>Sr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1.42×10</a:t>
                          </a:r>
                          <a:r>
                            <a:rPr lang="en-GB" baseline="30000" dirty="0"/>
                            <a:t>−11</a:t>
                          </a:r>
                          <a:r>
                            <a:rPr lang="en-GB" dirty="0"/>
                            <a:t> years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4.88×10</a:t>
                          </a:r>
                          <a:r>
                            <a:rPr lang="en-GB" baseline="30000" dirty="0"/>
                            <a:t>10</a:t>
                          </a:r>
                          <a:r>
                            <a:rPr lang="en-GB" baseline="0" dirty="0"/>
                            <a:t> </a:t>
                          </a:r>
                          <a:r>
                            <a:rPr lang="en-GB" dirty="0"/>
                            <a:t>years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aseline="30000" dirty="0"/>
                            <a:t>87</a:t>
                          </a:r>
                          <a:r>
                            <a:rPr lang="en-GB" dirty="0"/>
                            <a:t>Sr/</a:t>
                          </a:r>
                          <a:r>
                            <a:rPr lang="en-GB" baseline="30000" dirty="0"/>
                            <a:t>86</a:t>
                          </a:r>
                          <a:r>
                            <a:rPr lang="en-GB" dirty="0"/>
                            <a:t>Sr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429932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baseline="30000" dirty="0"/>
                            <a:t>147</a:t>
                          </a:r>
                          <a:r>
                            <a:rPr lang="en-GB" baseline="0" dirty="0"/>
                            <a:t>Sm</a:t>
                          </a:r>
                          <a:endParaRPr lang="en-GB" baseline="30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l-GR" dirty="0"/>
                            <a:t>α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baseline="30000" dirty="0"/>
                            <a:t>143</a:t>
                          </a:r>
                          <a:r>
                            <a:rPr lang="en-GB" dirty="0"/>
                            <a:t>Nd</a:t>
                          </a:r>
                          <a:r>
                            <a:rPr lang="en-GB" baseline="30000" dirty="0"/>
                            <a:t>†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6.54×10</a:t>
                          </a:r>
                          <a:r>
                            <a:rPr lang="en-GB" baseline="30000" dirty="0"/>
                            <a:t>−12</a:t>
                          </a:r>
                          <a:r>
                            <a:rPr lang="en-GB" dirty="0"/>
                            <a:t> years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1.06×10</a:t>
                          </a:r>
                          <a:r>
                            <a:rPr lang="en-GB" baseline="30000"/>
                            <a:t>11</a:t>
                          </a:r>
                          <a:r>
                            <a:rPr lang="en-GB" baseline="0"/>
                            <a:t> </a:t>
                          </a:r>
                          <a:r>
                            <a:rPr lang="en-GB" dirty="0"/>
                            <a:t>years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aseline="30000" dirty="0"/>
                            <a:t>143</a:t>
                          </a:r>
                          <a:r>
                            <a:rPr lang="en-GB" dirty="0"/>
                            <a:t>Nd/</a:t>
                          </a:r>
                          <a:r>
                            <a:rPr lang="en-GB" baseline="30000" dirty="0"/>
                            <a:t>144</a:t>
                          </a:r>
                          <a:r>
                            <a:rPr lang="en-GB" dirty="0"/>
                            <a:t>Nd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503099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GB" baseline="30000" dirty="0"/>
                            <a:t>232</a:t>
                          </a:r>
                          <a:r>
                            <a:rPr lang="en-GB" baseline="0" dirty="0"/>
                            <a:t>Th</a:t>
                          </a:r>
                          <a:endParaRPr lang="en-GB" baseline="30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l-GR" dirty="0"/>
                            <a:t>α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baseline="30000" dirty="0"/>
                            <a:t>208</a:t>
                          </a:r>
                          <a:r>
                            <a:rPr lang="en-GB" dirty="0"/>
                            <a:t>Pb, </a:t>
                          </a:r>
                          <a:r>
                            <a:rPr lang="en-GB" baseline="30000" dirty="0"/>
                            <a:t>4</a:t>
                          </a:r>
                          <a:r>
                            <a:rPr lang="en-GB" dirty="0"/>
                            <a:t>He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4.95×10</a:t>
                          </a:r>
                          <a:r>
                            <a:rPr lang="en-GB" baseline="30000" dirty="0"/>
                            <a:t>−11</a:t>
                          </a:r>
                          <a:r>
                            <a:rPr lang="en-GB" dirty="0"/>
                            <a:t> years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1.40×10</a:t>
                          </a:r>
                          <a:r>
                            <a:rPr lang="en-GB" baseline="30000" dirty="0"/>
                            <a:t>10</a:t>
                          </a:r>
                          <a:r>
                            <a:rPr lang="en-GB" baseline="0" dirty="0"/>
                            <a:t> </a:t>
                          </a:r>
                          <a:r>
                            <a:rPr lang="en-GB" dirty="0"/>
                            <a:t>years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aseline="30000" dirty="0"/>
                            <a:t>208</a:t>
                          </a:r>
                          <a:r>
                            <a:rPr lang="en-GB" dirty="0"/>
                            <a:t>Pb/</a:t>
                          </a:r>
                          <a:r>
                            <a:rPr lang="en-GB" baseline="30000" dirty="0"/>
                            <a:t>204</a:t>
                          </a:r>
                          <a:r>
                            <a:rPr lang="en-GB" dirty="0"/>
                            <a:t>Pb, </a:t>
                          </a:r>
                          <a:r>
                            <a:rPr lang="en-GB" baseline="30000" dirty="0"/>
                            <a:t>3</a:t>
                          </a:r>
                          <a:r>
                            <a:rPr lang="en-GB" dirty="0"/>
                            <a:t>He/</a:t>
                          </a:r>
                          <a:r>
                            <a:rPr lang="en-GB" baseline="30000" dirty="0"/>
                            <a:t>4</a:t>
                          </a:r>
                          <a:r>
                            <a:rPr lang="en-GB" dirty="0"/>
                            <a:t>He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98338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baseline="30000" dirty="0"/>
                            <a:t>238</a:t>
                          </a:r>
                          <a:r>
                            <a:rPr lang="en-GB" baseline="0" dirty="0"/>
                            <a:t>U</a:t>
                          </a:r>
                          <a:endParaRPr lang="en-GB" baseline="30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l-GR" dirty="0"/>
                            <a:t>α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baseline="30000" dirty="0"/>
                            <a:t>206</a:t>
                          </a:r>
                          <a:r>
                            <a:rPr lang="en-GB" dirty="0"/>
                            <a:t>Pb, </a:t>
                          </a:r>
                          <a:r>
                            <a:rPr lang="en-GB" baseline="30000" dirty="0"/>
                            <a:t>4</a:t>
                          </a:r>
                          <a:r>
                            <a:rPr lang="en-GB" dirty="0"/>
                            <a:t>He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1.55×10</a:t>
                          </a:r>
                          <a:r>
                            <a:rPr lang="en-GB" baseline="30000" dirty="0"/>
                            <a:t>−10</a:t>
                          </a:r>
                          <a:r>
                            <a:rPr lang="en-GB" dirty="0"/>
                            <a:t> years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4.47×10</a:t>
                          </a:r>
                          <a:r>
                            <a:rPr lang="en-GB" baseline="30000" dirty="0"/>
                            <a:t>9</a:t>
                          </a:r>
                          <a:r>
                            <a:rPr lang="en-GB" baseline="0" dirty="0"/>
                            <a:t> </a:t>
                          </a:r>
                          <a:r>
                            <a:rPr lang="en-GB" dirty="0"/>
                            <a:t>years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aseline="30000" dirty="0"/>
                            <a:t>208</a:t>
                          </a:r>
                          <a:r>
                            <a:rPr lang="en-GB" dirty="0"/>
                            <a:t>Pb/</a:t>
                          </a:r>
                          <a:r>
                            <a:rPr lang="en-GB" baseline="30000" dirty="0"/>
                            <a:t>204</a:t>
                          </a:r>
                          <a:r>
                            <a:rPr lang="en-GB" dirty="0"/>
                            <a:t>Pb, </a:t>
                          </a:r>
                          <a:r>
                            <a:rPr lang="en-GB" baseline="30000" dirty="0"/>
                            <a:t>3</a:t>
                          </a:r>
                          <a:r>
                            <a:rPr lang="en-GB" dirty="0"/>
                            <a:t>He/</a:t>
                          </a:r>
                          <a:r>
                            <a:rPr lang="en-GB" baseline="30000" dirty="0"/>
                            <a:t>4</a:t>
                          </a:r>
                          <a:r>
                            <a:rPr lang="en-GB" dirty="0"/>
                            <a:t>He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376858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Table 9">
                <a:extLst>
                  <a:ext uri="{FF2B5EF4-FFF2-40B4-BE49-F238E27FC236}">
                    <a16:creationId xmlns:a16="http://schemas.microsoft.com/office/drawing/2014/main" id="{6FCFF0EC-9AFD-4669-B395-71DAC05609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5262772"/>
                  </p:ext>
                </p:extLst>
              </p:nvPr>
            </p:nvGraphicFramePr>
            <p:xfrm>
              <a:off x="1082611" y="2513205"/>
              <a:ext cx="10026777" cy="1849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57580">
                      <a:extLst>
                        <a:ext uri="{9D8B030D-6E8A-4147-A177-3AD203B41FA5}">
                          <a16:colId xmlns:a16="http://schemas.microsoft.com/office/drawing/2014/main" val="2009666211"/>
                        </a:ext>
                      </a:extLst>
                    </a:gridCol>
                    <a:gridCol w="1592580">
                      <a:extLst>
                        <a:ext uri="{9D8B030D-6E8A-4147-A177-3AD203B41FA5}">
                          <a16:colId xmlns:a16="http://schemas.microsoft.com/office/drawing/2014/main" val="2554595898"/>
                        </a:ext>
                      </a:extLst>
                    </a:gridCol>
                    <a:gridCol w="1344930">
                      <a:extLst>
                        <a:ext uri="{9D8B030D-6E8A-4147-A177-3AD203B41FA5}">
                          <a16:colId xmlns:a16="http://schemas.microsoft.com/office/drawing/2014/main" val="4106669239"/>
                        </a:ext>
                      </a:extLst>
                    </a:gridCol>
                    <a:gridCol w="1946402">
                      <a:extLst>
                        <a:ext uri="{9D8B030D-6E8A-4147-A177-3AD203B41FA5}">
                          <a16:colId xmlns:a16="http://schemas.microsoft.com/office/drawing/2014/main" val="2386969129"/>
                        </a:ext>
                      </a:extLst>
                    </a:gridCol>
                    <a:gridCol w="1868805">
                      <a:extLst>
                        <a:ext uri="{9D8B030D-6E8A-4147-A177-3AD203B41FA5}">
                          <a16:colId xmlns:a16="http://schemas.microsoft.com/office/drawing/2014/main" val="3458555137"/>
                        </a:ext>
                      </a:extLst>
                    </a:gridCol>
                    <a:gridCol w="2316480">
                      <a:extLst>
                        <a:ext uri="{9D8B030D-6E8A-4147-A177-3AD203B41FA5}">
                          <a16:colId xmlns:a16="http://schemas.microsoft.com/office/drawing/2014/main" val="162519615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Parent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Decay mode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Daughter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8197" r="-215937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Half-life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Measured ratio*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454511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baseline="30000" dirty="0"/>
                            <a:t>87</a:t>
                          </a:r>
                          <a:r>
                            <a:rPr lang="en-GB" baseline="0" dirty="0"/>
                            <a:t>Rb</a:t>
                          </a:r>
                          <a:endParaRPr lang="en-GB" baseline="30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l-GR" dirty="0"/>
                            <a:t>β</a:t>
                          </a:r>
                          <a:r>
                            <a:rPr lang="el-GR" baseline="30000" dirty="0"/>
                            <a:t>−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baseline="30000" dirty="0"/>
                            <a:t>87</a:t>
                          </a:r>
                          <a:r>
                            <a:rPr lang="en-GB" dirty="0"/>
                            <a:t>Sr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1.42×10</a:t>
                          </a:r>
                          <a:r>
                            <a:rPr lang="en-GB" baseline="30000" dirty="0"/>
                            <a:t>−11</a:t>
                          </a:r>
                          <a:r>
                            <a:rPr lang="en-GB" dirty="0"/>
                            <a:t> years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4.88×10</a:t>
                          </a:r>
                          <a:r>
                            <a:rPr lang="en-GB" baseline="30000" dirty="0"/>
                            <a:t>10</a:t>
                          </a:r>
                          <a:r>
                            <a:rPr lang="en-GB" baseline="0" dirty="0"/>
                            <a:t> </a:t>
                          </a:r>
                          <a:r>
                            <a:rPr lang="en-GB" dirty="0"/>
                            <a:t>years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aseline="30000" dirty="0"/>
                            <a:t>87</a:t>
                          </a:r>
                          <a:r>
                            <a:rPr lang="en-GB" dirty="0"/>
                            <a:t>Sr/</a:t>
                          </a:r>
                          <a:r>
                            <a:rPr lang="en-GB" baseline="30000" dirty="0"/>
                            <a:t>86</a:t>
                          </a:r>
                          <a:r>
                            <a:rPr lang="en-GB" dirty="0"/>
                            <a:t>Sr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429932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baseline="30000" dirty="0"/>
                            <a:t>147</a:t>
                          </a:r>
                          <a:r>
                            <a:rPr lang="en-GB" baseline="0" dirty="0"/>
                            <a:t>Sm</a:t>
                          </a:r>
                          <a:endParaRPr lang="en-GB" baseline="30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l-GR" dirty="0"/>
                            <a:t>α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baseline="30000" dirty="0"/>
                            <a:t>143</a:t>
                          </a:r>
                          <a:r>
                            <a:rPr lang="en-GB" dirty="0"/>
                            <a:t>Nd</a:t>
                          </a:r>
                          <a:r>
                            <a:rPr lang="en-GB" baseline="30000" dirty="0"/>
                            <a:t>†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6.54×10</a:t>
                          </a:r>
                          <a:r>
                            <a:rPr lang="en-GB" baseline="30000" dirty="0"/>
                            <a:t>−12</a:t>
                          </a:r>
                          <a:r>
                            <a:rPr lang="en-GB" dirty="0"/>
                            <a:t> years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1.06×10</a:t>
                          </a:r>
                          <a:r>
                            <a:rPr lang="en-GB" baseline="30000"/>
                            <a:t>11</a:t>
                          </a:r>
                          <a:r>
                            <a:rPr lang="en-GB" baseline="0"/>
                            <a:t> </a:t>
                          </a:r>
                          <a:r>
                            <a:rPr lang="en-GB" dirty="0"/>
                            <a:t>years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aseline="30000" dirty="0"/>
                            <a:t>143</a:t>
                          </a:r>
                          <a:r>
                            <a:rPr lang="en-GB" dirty="0"/>
                            <a:t>Nd/</a:t>
                          </a:r>
                          <a:r>
                            <a:rPr lang="en-GB" baseline="30000" dirty="0"/>
                            <a:t>144</a:t>
                          </a:r>
                          <a:r>
                            <a:rPr lang="en-GB" dirty="0"/>
                            <a:t>Nd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503099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GB" baseline="30000" dirty="0"/>
                            <a:t>232</a:t>
                          </a:r>
                          <a:r>
                            <a:rPr lang="en-GB" baseline="0" dirty="0"/>
                            <a:t>Th</a:t>
                          </a:r>
                          <a:endParaRPr lang="en-GB" baseline="30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l-GR" dirty="0"/>
                            <a:t>α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baseline="30000" dirty="0"/>
                            <a:t>208</a:t>
                          </a:r>
                          <a:r>
                            <a:rPr lang="en-GB" dirty="0"/>
                            <a:t>Pb, </a:t>
                          </a:r>
                          <a:r>
                            <a:rPr lang="en-GB" baseline="30000" dirty="0"/>
                            <a:t>4</a:t>
                          </a:r>
                          <a:r>
                            <a:rPr lang="en-GB" dirty="0"/>
                            <a:t>He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4.95×10</a:t>
                          </a:r>
                          <a:r>
                            <a:rPr lang="en-GB" baseline="30000" dirty="0"/>
                            <a:t>−11</a:t>
                          </a:r>
                          <a:r>
                            <a:rPr lang="en-GB" dirty="0"/>
                            <a:t> years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1.40×10</a:t>
                          </a:r>
                          <a:r>
                            <a:rPr lang="en-GB" baseline="30000" dirty="0"/>
                            <a:t>10</a:t>
                          </a:r>
                          <a:r>
                            <a:rPr lang="en-GB" baseline="0" dirty="0"/>
                            <a:t> </a:t>
                          </a:r>
                          <a:r>
                            <a:rPr lang="en-GB" dirty="0"/>
                            <a:t>years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aseline="30000" dirty="0"/>
                            <a:t>208</a:t>
                          </a:r>
                          <a:r>
                            <a:rPr lang="en-GB" dirty="0"/>
                            <a:t>Pb/</a:t>
                          </a:r>
                          <a:r>
                            <a:rPr lang="en-GB" baseline="30000" dirty="0"/>
                            <a:t>204</a:t>
                          </a:r>
                          <a:r>
                            <a:rPr lang="en-GB" dirty="0"/>
                            <a:t>Pb, </a:t>
                          </a:r>
                          <a:r>
                            <a:rPr lang="en-GB" baseline="30000" dirty="0"/>
                            <a:t>3</a:t>
                          </a:r>
                          <a:r>
                            <a:rPr lang="en-GB" dirty="0"/>
                            <a:t>He/</a:t>
                          </a:r>
                          <a:r>
                            <a:rPr lang="en-GB" baseline="30000" dirty="0"/>
                            <a:t>4</a:t>
                          </a:r>
                          <a:r>
                            <a:rPr lang="en-GB" dirty="0"/>
                            <a:t>He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98338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baseline="30000" dirty="0"/>
                            <a:t>238</a:t>
                          </a:r>
                          <a:r>
                            <a:rPr lang="en-GB" baseline="0" dirty="0"/>
                            <a:t>U</a:t>
                          </a:r>
                          <a:endParaRPr lang="en-GB" baseline="30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l-GR" dirty="0"/>
                            <a:t>α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baseline="30000" dirty="0"/>
                            <a:t>206</a:t>
                          </a:r>
                          <a:r>
                            <a:rPr lang="en-GB" dirty="0"/>
                            <a:t>Pb, </a:t>
                          </a:r>
                          <a:r>
                            <a:rPr lang="en-GB" baseline="30000" dirty="0"/>
                            <a:t>4</a:t>
                          </a:r>
                          <a:r>
                            <a:rPr lang="en-GB" dirty="0"/>
                            <a:t>He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1.55×10</a:t>
                          </a:r>
                          <a:r>
                            <a:rPr lang="en-GB" baseline="30000" dirty="0"/>
                            <a:t>−10</a:t>
                          </a:r>
                          <a:r>
                            <a:rPr lang="en-GB" dirty="0"/>
                            <a:t> years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4.47×10</a:t>
                          </a:r>
                          <a:r>
                            <a:rPr lang="en-GB" baseline="30000" dirty="0"/>
                            <a:t>9</a:t>
                          </a:r>
                          <a:r>
                            <a:rPr lang="en-GB" baseline="0" dirty="0"/>
                            <a:t> </a:t>
                          </a:r>
                          <a:r>
                            <a:rPr lang="en-GB" dirty="0"/>
                            <a:t>years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aseline="30000" dirty="0"/>
                            <a:t>208</a:t>
                          </a:r>
                          <a:r>
                            <a:rPr lang="en-GB" dirty="0"/>
                            <a:t>Pb/</a:t>
                          </a:r>
                          <a:r>
                            <a:rPr lang="en-GB" baseline="30000" dirty="0"/>
                            <a:t>204</a:t>
                          </a:r>
                          <a:r>
                            <a:rPr lang="en-GB" dirty="0"/>
                            <a:t>Pb, </a:t>
                          </a:r>
                          <a:r>
                            <a:rPr lang="en-GB" baseline="30000" dirty="0"/>
                            <a:t>3</a:t>
                          </a:r>
                          <a:r>
                            <a:rPr lang="en-GB" dirty="0"/>
                            <a:t>He/</a:t>
                          </a:r>
                          <a:r>
                            <a:rPr lang="en-GB" baseline="30000" dirty="0"/>
                            <a:t>4</a:t>
                          </a:r>
                          <a:r>
                            <a:rPr lang="en-GB" dirty="0"/>
                            <a:t>He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376858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30922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1F090-150B-473E-BD80-A3825C7649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age and provenance of rocks: radiogenic isotopes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0E7A83-1F4B-42AA-92ED-D2CA10EB50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EART26201 | Principles of Geochemistry | Lecture 2</a:t>
            </a:r>
          </a:p>
          <a:p>
            <a:r>
              <a:rPr lang="en-GB" dirty="0"/>
              <a:t>Part 3 | Dating and isochron diagrams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BC59C-67B6-4B05-BC06-2EEFD1F7A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8E3BF-8C94-43B7-BDCB-B289E57EE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507B5-2A7D-4FCF-A40A-BADB4BDC4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8113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13EDC-157B-401C-BF43-E79B024CA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Geochronology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5A065E-C5DD-4ACE-822E-0587CFAA56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00100" y="1778000"/>
                <a:ext cx="10591800" cy="4351338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GB" dirty="0"/>
                  <a:t>Parent and daughter isotopes are related to time via the decay constant: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GB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num>
                                <m:den>
                                  <m:r>
                                    <a:rPr lang="en-GB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By manipulating this equation we can solve for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...</a:t>
                </a:r>
              </a:p>
              <a:p>
                <a:pPr marL="0" indent="0">
                  <a:buNone/>
                </a:pPr>
                <a:r>
                  <a:rPr lang="en-GB" dirty="0"/>
                  <a:t>     ...but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GB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num>
                              <m:den>
                                <m:r>
                                  <a:rPr lang="en-GB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 cannot be determined concurrently from a single system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dirty="0"/>
                  <a:t>Fortunately, by measuring multiple related systems with the same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GB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num>
                              <m:den>
                                <m:r>
                                  <a:rPr lang="en-GB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, both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num>
                              <m:den>
                                <m:r>
                                  <a:rPr lang="en-GB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 can be determined simultaneously</a:t>
                </a:r>
              </a:p>
              <a:p>
                <a:r>
                  <a:rPr lang="en-GB" dirty="0"/>
                  <a:t>This is done with isochron diagrams that show systems of equal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num>
                              <m:den>
                                <m:r>
                                  <a:rPr lang="en-GB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5A065E-C5DD-4ACE-822E-0587CFAA56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00100" y="1778000"/>
                <a:ext cx="10591800" cy="4351338"/>
              </a:xfrm>
              <a:blipFill>
                <a:blip r:embed="rId2"/>
                <a:stretch>
                  <a:fillRect l="-748" t="-18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30578-3408-4C79-9871-4FAF631B9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B774B-AA4B-4B9F-ACD5-4326009F0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8A1E0-CDF4-4E04-90F7-9A7130ADA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6631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3" name="Content Placeholder 52">
                <a:extLst>
                  <a:ext uri="{FF2B5EF4-FFF2-40B4-BE49-F238E27FC236}">
                    <a16:creationId xmlns:a16="http://schemas.microsoft.com/office/drawing/2014/main" id="{A2748EAC-D5B7-4B65-930E-FB6AEC156D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324524"/>
                <a:ext cx="10515600" cy="1004643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Part of a sample that has remained chemically closed for the duration of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Systems can range in scale depending on the analytical technique used</a:t>
                </a:r>
              </a:p>
            </p:txBody>
          </p:sp>
        </mc:Choice>
        <mc:Fallback xmlns="">
          <p:sp>
            <p:nvSpPr>
              <p:cNvPr id="53" name="Content Placeholder 52">
                <a:extLst>
                  <a:ext uri="{FF2B5EF4-FFF2-40B4-BE49-F238E27FC236}">
                    <a16:creationId xmlns:a16="http://schemas.microsoft.com/office/drawing/2014/main" id="{A2748EAC-D5B7-4B65-930E-FB6AEC156D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324524"/>
                <a:ext cx="10515600" cy="1004643"/>
              </a:xfrm>
              <a:blipFill>
                <a:blip r:embed="rId2"/>
                <a:stretch>
                  <a:fillRect l="-812" t="-7879" b="-12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4" name="Content Placeholder 13" descr="A picture containing rock, mountain, nature, outdoor&#10;&#10;Description automatically generated">
            <a:extLst>
              <a:ext uri="{FF2B5EF4-FFF2-40B4-BE49-F238E27FC236}">
                <a16:creationId xmlns:a16="http://schemas.microsoft.com/office/drawing/2014/main" id="{610C5211-DD0C-4988-BAE5-131E3941851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1" r="8741"/>
          <a:stretch/>
        </p:blipFill>
        <p:spPr>
          <a:xfrm>
            <a:off x="838200" y="2704763"/>
            <a:ext cx="3229091" cy="21381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982AB5-B9A0-4FC4-887A-AB3EC5B58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system?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C2F73-9EA2-4DED-A0E6-7681CF0F9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ED3C5-F2B1-4907-A5D7-435DAF441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5B946-78B4-42DE-B18E-7A2AB8B59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17</a:t>
            </a:fld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7EFE33-BF43-43DA-9489-1B9E9198EC58}"/>
              </a:ext>
            </a:extLst>
          </p:cNvPr>
          <p:cNvSpPr txBox="1"/>
          <p:nvPr/>
        </p:nvSpPr>
        <p:spPr>
          <a:xfrm>
            <a:off x="2347128" y="4542488"/>
            <a:ext cx="17187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chemeClr val="bg1"/>
                </a:solidFill>
              </a:rPr>
              <a:t>credit: Daniel Burgess</a:t>
            </a:r>
          </a:p>
        </p:txBody>
      </p:sp>
      <p:pic>
        <p:nvPicPr>
          <p:cNvPr id="17" name="Picture 16" descr="A picture containing rock&#10;&#10;Description automatically generated">
            <a:extLst>
              <a:ext uri="{FF2B5EF4-FFF2-40B4-BE49-F238E27FC236}">
                <a16:creationId xmlns:a16="http://schemas.microsoft.com/office/drawing/2014/main" id="{07231AFC-53DC-4871-B33E-185378214BF3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4974" y="2513611"/>
            <a:ext cx="1001026" cy="1334701"/>
          </a:xfrm>
          <a:prstGeom prst="rect">
            <a:avLst/>
          </a:prstGeom>
        </p:spPr>
      </p:pic>
      <p:pic>
        <p:nvPicPr>
          <p:cNvPr id="18" name="Picture 17" descr="A picture containing rock&#10;&#10;Description automatically generated">
            <a:extLst>
              <a:ext uri="{FF2B5EF4-FFF2-40B4-BE49-F238E27FC236}">
                <a16:creationId xmlns:a16="http://schemas.microsoft.com/office/drawing/2014/main" id="{47D4159D-737D-48E4-BEFD-35BC7B9EEC71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1553" y="2973299"/>
            <a:ext cx="932042" cy="1242722"/>
          </a:xfrm>
          <a:prstGeom prst="rect">
            <a:avLst/>
          </a:prstGeom>
        </p:spPr>
      </p:pic>
      <p:pic>
        <p:nvPicPr>
          <p:cNvPr id="19" name="Picture 18" descr="A picture containing rock&#10;&#10;Description automatically generated">
            <a:extLst>
              <a:ext uri="{FF2B5EF4-FFF2-40B4-BE49-F238E27FC236}">
                <a16:creationId xmlns:a16="http://schemas.microsoft.com/office/drawing/2014/main" id="{A0FAD5B2-E527-4EE0-B4DD-07EEE9AC0559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378" y="3968531"/>
            <a:ext cx="932042" cy="124272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5F3172E-7237-4C0D-93E3-DF704A0992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3443" y="2664412"/>
            <a:ext cx="1981011" cy="215507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0B9486D-5976-46DF-8B3F-3D40489C7092}"/>
              </a:ext>
            </a:extLst>
          </p:cNvPr>
          <p:cNvSpPr txBox="1"/>
          <p:nvPr/>
        </p:nvSpPr>
        <p:spPr>
          <a:xfrm>
            <a:off x="6297420" y="4884440"/>
            <a:ext cx="14934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chemeClr val="accent3"/>
                </a:solidFill>
              </a:rPr>
              <a:t>credit: Kevin Walsh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895B30-3360-49AA-9E54-529F115E68F5}"/>
              </a:ext>
            </a:extLst>
          </p:cNvPr>
          <p:cNvSpPr txBox="1"/>
          <p:nvPr/>
        </p:nvSpPr>
        <p:spPr>
          <a:xfrm>
            <a:off x="838200" y="2068153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An outcrop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35A435B-D3F7-449A-9741-67EDDF7C9550}"/>
              </a:ext>
            </a:extLst>
          </p:cNvPr>
          <p:cNvSpPr txBox="1"/>
          <p:nvPr/>
        </p:nvSpPr>
        <p:spPr>
          <a:xfrm>
            <a:off x="2211445" y="1668106"/>
            <a:ext cx="2351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can be divided into...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CCFD07-F4EF-4F71-A78C-A4949D99DBE9}"/>
              </a:ext>
            </a:extLst>
          </p:cNvPr>
          <p:cNvSpPr txBox="1"/>
          <p:nvPr/>
        </p:nvSpPr>
        <p:spPr>
          <a:xfrm>
            <a:off x="4539553" y="2068153"/>
            <a:ext cx="222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whole-rock samples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6CD580-485C-4692-920C-CC4E3D5E3C41}"/>
              </a:ext>
            </a:extLst>
          </p:cNvPr>
          <p:cNvSpPr txBox="1"/>
          <p:nvPr/>
        </p:nvSpPr>
        <p:spPr>
          <a:xfrm>
            <a:off x="6554319" y="1668106"/>
            <a:ext cx="2351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can be divided into...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644609-7AA2-4BCF-880B-6EF898210BE6}"/>
              </a:ext>
            </a:extLst>
          </p:cNvPr>
          <p:cNvSpPr txBox="1"/>
          <p:nvPr/>
        </p:nvSpPr>
        <p:spPr>
          <a:xfrm>
            <a:off x="8694098" y="2068153"/>
            <a:ext cx="2659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dirty="0"/>
              <a:t>individual mineral grains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FCE2EC0-B288-4CC1-988F-C78D257C7470}"/>
              </a:ext>
            </a:extLst>
          </p:cNvPr>
          <p:cNvCxnSpPr>
            <a:cxnSpLocks/>
          </p:cNvCxnSpPr>
          <p:nvPr/>
        </p:nvCxnSpPr>
        <p:spPr>
          <a:xfrm flipV="1">
            <a:off x="2452745" y="3064386"/>
            <a:ext cx="2471680" cy="164589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0D0A627-24B3-445B-B79A-8C52744E6C75}"/>
              </a:ext>
            </a:extLst>
          </p:cNvPr>
          <p:cNvCxnSpPr>
            <a:cxnSpLocks/>
          </p:cNvCxnSpPr>
          <p:nvPr/>
        </p:nvCxnSpPr>
        <p:spPr>
          <a:xfrm flipV="1">
            <a:off x="2882628" y="3734012"/>
            <a:ext cx="3638925" cy="39850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6769C86-074D-4AC2-8068-3F5204D494F6}"/>
              </a:ext>
            </a:extLst>
          </p:cNvPr>
          <p:cNvCxnSpPr>
            <a:cxnSpLocks/>
          </p:cNvCxnSpPr>
          <p:nvPr/>
        </p:nvCxnSpPr>
        <p:spPr>
          <a:xfrm>
            <a:off x="2138556" y="4226875"/>
            <a:ext cx="3226822" cy="216200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D071728-FF1E-4E79-BC4B-D4DC2D7CA31D}"/>
              </a:ext>
            </a:extLst>
          </p:cNvPr>
          <p:cNvCxnSpPr>
            <a:cxnSpLocks/>
          </p:cNvCxnSpPr>
          <p:nvPr/>
        </p:nvCxnSpPr>
        <p:spPr>
          <a:xfrm flipV="1">
            <a:off x="6987574" y="3064386"/>
            <a:ext cx="2920283" cy="509912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E03F14C-9201-4DB7-A3C7-0776B5C3BE42}"/>
              </a:ext>
            </a:extLst>
          </p:cNvPr>
          <p:cNvCxnSpPr>
            <a:cxnSpLocks/>
          </p:cNvCxnSpPr>
          <p:nvPr/>
        </p:nvCxnSpPr>
        <p:spPr>
          <a:xfrm flipV="1">
            <a:off x="6987574" y="3574298"/>
            <a:ext cx="3036374" cy="159714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784BC12-C643-4705-AF65-DF168145A1C4}"/>
              </a:ext>
            </a:extLst>
          </p:cNvPr>
          <p:cNvCxnSpPr>
            <a:cxnSpLocks/>
          </p:cNvCxnSpPr>
          <p:nvPr/>
        </p:nvCxnSpPr>
        <p:spPr>
          <a:xfrm>
            <a:off x="6987574" y="3889554"/>
            <a:ext cx="2920283" cy="223111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EE384414-CC10-4F8F-87FD-8E0314BD891F}"/>
              </a:ext>
            </a:extLst>
          </p:cNvPr>
          <p:cNvSpPr txBox="1"/>
          <p:nvPr/>
        </p:nvSpPr>
        <p:spPr>
          <a:xfrm>
            <a:off x="9292297" y="4884440"/>
            <a:ext cx="20084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chemeClr val="accent3"/>
                </a:solidFill>
              </a:rPr>
              <a:t>www.virtualmicroscope.org</a:t>
            </a:r>
          </a:p>
        </p:txBody>
      </p:sp>
    </p:spTree>
    <p:extLst>
      <p:ext uri="{BB962C8B-B14F-4D97-AF65-F5344CB8AC3E}">
        <p14:creationId xmlns:p14="http://schemas.microsoft.com/office/powerpoint/2010/main" val="520495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4" grpId="0"/>
      <p:bldP spid="25" grpId="0"/>
      <p:bldP spid="26" grpId="0"/>
      <p:bldP spid="27" grpId="0"/>
      <p:bldP spid="28" grpId="0"/>
      <p:bldP spid="29" grpId="0"/>
      <p:bldP spid="5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1C439-0FE8-4D0E-89E1-8E05DA5E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Isochron diagrams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F0E9A4-AFC6-4834-85B7-7C0FAE0100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Aft>
                    <a:spcPts val="1000"/>
                  </a:spcAft>
                </a:pPr>
                <a:r>
                  <a:rPr lang="en-GB" dirty="0"/>
                  <a:t>Isochron diagrams exploit the fact that the fundamental equation of geochronology is equivalent to the equation of a straight line</a:t>
                </a:r>
                <a:r>
                  <a:rPr lang="en-GB" b="0" dirty="0"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GB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GB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GB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GB" i="1" dirty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):</a:t>
                </a:r>
                <a:endParaRPr lang="en-GB" b="0" i="0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GB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num>
                                <m:den>
                                  <m:r>
                                    <a:rPr lang="en-GB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GB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GB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GB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f>
                        <m:fPr>
                          <m:ctrlPr>
                            <a:rPr lang="en-GB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GB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en-GB" b="0" dirty="0">
                  <a:solidFill>
                    <a:schemeClr val="accent1"/>
                  </a:solidFill>
                  <a:ea typeface="Cambria Math" panose="02040503050406030204" pitchFamily="18" charset="0"/>
                </a:endParaRPr>
              </a:p>
              <a:p>
                <a:pPr marL="457200" lvl="1" indent="0" algn="ctr">
                  <a:buNone/>
                </a:pP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4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GB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</m:oMath>
                </a14:m>
                <a:r>
                  <a:rPr lang="en-GB" sz="2400" b="0" dirty="0">
                    <a:solidFill>
                      <a:schemeClr val="accent1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en-GB" sz="2400" b="0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GB" sz="24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24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4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num>
                              <m:den>
                                <m:r>
                                  <a:rPr lang="en-GB" sz="24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GB" sz="24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2400" dirty="0"/>
                  <a:t>, </a:t>
                </a:r>
                <a14:m>
                  <m:oMath xmlns:m="http://schemas.openxmlformats.org/officeDocument/2006/math">
                    <m:r>
                      <a:rPr lang="en-GB" sz="240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40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4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24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GB" sz="24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GB" sz="240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sz="2400" dirty="0">
                    <a:solidFill>
                      <a:schemeClr val="accent4"/>
                    </a:solidFill>
                  </a:rPr>
                  <a:t> </a:t>
                </a:r>
                <a:r>
                  <a:rPr lang="en-GB" sz="2400" dirty="0"/>
                  <a:t>and</a:t>
                </a:r>
                <a14:m>
                  <m:oMath xmlns:m="http://schemas.openxmlformats.org/officeDocument/2006/math">
                    <m:r>
                      <a:rPr lang="en-GB" sz="2400" b="0" i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i="1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400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GB" sz="2400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</m:oMath>
                </a14:m>
                <a:r>
                  <a:rPr lang="en-GB" sz="2400" dirty="0"/>
                  <a:t> 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dirty="0"/>
                  <a:t>On a diagram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GB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</m:oMath>
                </a14:m>
                <a:r>
                  <a:rPr lang="en-GB" dirty="0">
                    <a:solidFill>
                      <a:schemeClr val="accent3"/>
                    </a:solidFill>
                  </a:rPr>
                  <a:t> </a:t>
                </a:r>
                <a:r>
                  <a:rPr lang="en-GB" dirty="0"/>
                  <a:t>(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-axis) versus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</m:oMath>
                </a14:m>
                <a:r>
                  <a:rPr lang="en-GB" dirty="0"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>
                    <a:ea typeface="Cambria Math" panose="02040503050406030204" pitchFamily="18" charset="0"/>
                  </a:rPr>
                  <a:t>-axis), the slope is equal to</a:t>
                </a:r>
                <a14:m>
                  <m:oMath xmlns:m="http://schemas.openxmlformats.org/officeDocument/2006/math">
                    <m:r>
                      <a:rPr lang="en-GB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GB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GB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GB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, from which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can be determined because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GB" dirty="0"/>
                  <a:t> is known independently </a:t>
                </a:r>
              </a:p>
              <a:p>
                <a:r>
                  <a:rPr lang="en-GB" dirty="0"/>
                  <a:t>The intercept gives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GB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num>
                              <m:den>
                                <m:r>
                                  <a:rPr lang="en-GB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GB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, which also contains useful geological information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F0E9A4-AFC6-4834-85B7-7C0FAE0100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821" r="-2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C1B22-4E8D-495B-BBE9-015922D2F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BD68B-C8C3-43AC-84A1-1D3B1A5F7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CF084-EB4A-4292-8C26-013D8421D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0624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79B82-81C0-4132-B928-1B2EC0E7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Isochron diagram assumptions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CA94FEB7-68BF-4393-9E16-41D2D37E8BD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9788" y="1681163"/>
                <a:ext cx="5157787" cy="477837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Isotopic equilibrium at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CA94FEB7-68BF-4393-9E16-41D2D37E8B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9788" y="1681163"/>
                <a:ext cx="5157787" cy="477837"/>
              </a:xfrm>
              <a:blipFill>
                <a:blip r:embed="rId3"/>
                <a:stretch>
                  <a:fillRect l="-1891" t="-16667" b="-192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F1A475EF-5E1F-4455-A7D6-22497BE6244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2159000"/>
                <a:ext cx="5256212" cy="4030663"/>
              </a:xfrm>
            </p:spPr>
            <p:txBody>
              <a:bodyPr/>
              <a:lstStyle/>
              <a:p>
                <a:r>
                  <a:rPr lang="en-GB" dirty="0"/>
                  <a:t>System isotopically uniform at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dirty="0">
                  <a:solidFill>
                    <a:schemeClr val="accent1"/>
                  </a:solidFill>
                </a:endParaRPr>
              </a:p>
              <a:p>
                <a:r>
                  <a:rPr lang="en-GB" dirty="0"/>
                  <a:t>Assumes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num>
                              <m:den>
                                <m:r>
                                  <a:rPr lang="en-GB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accent1"/>
                    </a:solidFill>
                  </a:rPr>
                  <a:t> </a:t>
                </a:r>
                <a:r>
                  <a:rPr lang="en-GB" dirty="0"/>
                  <a:t>was homogenous</a:t>
                </a:r>
              </a:p>
              <a:p>
                <a:r>
                  <a:rPr lang="en-GB" dirty="0"/>
                  <a:t>Solar nebular before accretion</a:t>
                </a:r>
              </a:p>
              <a:p>
                <a:r>
                  <a:rPr lang="en-GB" dirty="0"/>
                  <a:t>Magma reservoirs before cooling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F1A475EF-5E1F-4455-A7D6-22497BE624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2159000"/>
                <a:ext cx="5256212" cy="4030663"/>
              </a:xfrm>
              <a:blipFill>
                <a:blip r:embed="rId4"/>
                <a:stretch>
                  <a:fillRect l="-1624" t="-19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8">
                <a:extLst>
                  <a:ext uri="{FF2B5EF4-FFF2-40B4-BE49-F238E27FC236}">
                    <a16:creationId xmlns:a16="http://schemas.microsoft.com/office/drawing/2014/main" id="{38C26F05-52B0-41F9-B9EC-22433B279CC0}"/>
                  </a:ext>
                </a:extLst>
              </p:cNvPr>
              <p:cNvSpPr>
                <a:spLocks noGrp="1"/>
              </p:cNvSpPr>
              <p:nvPr>
                <p:ph type="body" sz="quarter" idx="3"/>
              </p:nvPr>
            </p:nvSpPr>
            <p:spPr>
              <a:xfrm>
                <a:off x="6172200" y="1681163"/>
                <a:ext cx="5183188" cy="477837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Closed system for the duration of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GB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9" name="Text Placeholder 8">
                <a:extLst>
                  <a:ext uri="{FF2B5EF4-FFF2-40B4-BE49-F238E27FC236}">
                    <a16:creationId xmlns:a16="http://schemas.microsoft.com/office/drawing/2014/main" id="{38C26F05-52B0-41F9-B9EC-22433B279C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3"/>
              </p:nvPr>
            </p:nvSpPr>
            <p:spPr>
              <a:xfrm>
                <a:off x="6172200" y="1681163"/>
                <a:ext cx="5183188" cy="477837"/>
              </a:xfrm>
              <a:blipFill>
                <a:blip r:embed="rId5"/>
                <a:stretch>
                  <a:fillRect l="-1882" t="-16667" b="-192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7C8FD-2989-408E-BED8-BBCF324DC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D2AFF-50DF-4F98-9A7E-32E43343E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7DA1B-43A7-486D-AADD-EA29B02F9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19</a:t>
            </a:fld>
            <a:endParaRPr lang="en-GB"/>
          </a:p>
        </p:txBody>
      </p:sp>
      <p:pic>
        <p:nvPicPr>
          <p:cNvPr id="19" name="Picture 18" descr="A picture containing smoke, train, steam, coming&#10;&#10;Description automatically generated">
            <a:extLst>
              <a:ext uri="{FF2B5EF4-FFF2-40B4-BE49-F238E27FC236}">
                <a16:creationId xmlns:a16="http://schemas.microsoft.com/office/drawing/2014/main" id="{DCCF4826-86D9-49A3-97C5-A83027B2AF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1508" y="4350588"/>
            <a:ext cx="2482759" cy="162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22">
                <a:extLst>
                  <a:ext uri="{FF2B5EF4-FFF2-40B4-BE49-F238E27FC236}">
                    <a16:creationId xmlns:a16="http://schemas.microsoft.com/office/drawing/2014/main" id="{1F4BAF76-FA03-4694-BB3F-C73FFDF1B89E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172200" y="2159000"/>
                <a:ext cx="5183188" cy="4030663"/>
              </a:xfrm>
            </p:spPr>
            <p:txBody>
              <a:bodyPr/>
              <a:lstStyle/>
              <a:p>
                <a:r>
                  <a:rPr lang="en-GB" dirty="0"/>
                  <a:t>There has been no gain or loss of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GB" dirty="0"/>
                  <a:t> or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dirty="0"/>
                  <a:t> from the system</a:t>
                </a:r>
              </a:p>
              <a:p>
                <a:r>
                  <a:rPr lang="en-GB" dirty="0"/>
                  <a:t>Thus,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</m:oMath>
                </a14:m>
                <a:r>
                  <a:rPr lang="en-GB" dirty="0"/>
                  <a:t> change only as a result of decay according to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System has remained below the closure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for diffusion (Lecture 5)</a:t>
                </a:r>
              </a:p>
            </p:txBody>
          </p:sp>
        </mc:Choice>
        <mc:Fallback xmlns="">
          <p:sp>
            <p:nvSpPr>
              <p:cNvPr id="23" name="Content Placeholder 22">
                <a:extLst>
                  <a:ext uri="{FF2B5EF4-FFF2-40B4-BE49-F238E27FC236}">
                    <a16:creationId xmlns:a16="http://schemas.microsoft.com/office/drawing/2014/main" id="{1F4BAF76-FA03-4694-BB3F-C73FFDF1B8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172200" y="2159000"/>
                <a:ext cx="5183188" cy="4030663"/>
              </a:xfrm>
              <a:blipFill>
                <a:blip r:embed="rId7"/>
                <a:stretch>
                  <a:fillRect l="-1647" t="-19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Content Placeholder 14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ACEFA14-AEB2-4D10-B1B5-AA24D253A6E0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340225"/>
            <a:ext cx="2430000" cy="1620000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29F2F3CA-0D24-4BD6-BA06-EFBD249FC6FF}"/>
              </a:ext>
            </a:extLst>
          </p:cNvPr>
          <p:cNvGrpSpPr/>
          <p:nvPr/>
        </p:nvGrpSpPr>
        <p:grpSpPr>
          <a:xfrm>
            <a:off x="6638837" y="4724118"/>
            <a:ext cx="4383640" cy="1311090"/>
            <a:chOff x="6638837" y="4878573"/>
            <a:chExt cx="4383640" cy="1311090"/>
          </a:xfrm>
        </p:grpSpPr>
        <p:pic>
          <p:nvPicPr>
            <p:cNvPr id="25" name="Content Placeholder 13" descr="A picture containing rock, mountain, nature, outdoor&#10;&#10;Description automatically generated">
              <a:extLst>
                <a:ext uri="{FF2B5EF4-FFF2-40B4-BE49-F238E27FC236}">
                  <a16:creationId xmlns:a16="http://schemas.microsoft.com/office/drawing/2014/main" id="{6169987C-6EA5-408A-8175-B9EB88600A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11" r="8741"/>
            <a:stretch/>
          </p:blipFill>
          <p:spPr>
            <a:xfrm>
              <a:off x="7840657" y="4878573"/>
              <a:ext cx="1980000" cy="1311090"/>
            </a:xfrm>
            <a:prstGeom prst="rect">
              <a:avLst/>
            </a:prstGeom>
          </p:spPr>
        </p:pic>
        <p:pic>
          <p:nvPicPr>
            <p:cNvPr id="26" name="Picture 25" descr="A picture containing rock&#10;&#10;Description automatically generated">
              <a:extLst>
                <a:ext uri="{FF2B5EF4-FFF2-40B4-BE49-F238E27FC236}">
                  <a16:creationId xmlns:a16="http://schemas.microsoft.com/office/drawing/2014/main" id="{4334F747-289C-456B-BF7D-4C8C140D6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38837" y="5054118"/>
              <a:ext cx="720000" cy="960000"/>
            </a:xfrm>
            <a:prstGeom prst="rect">
              <a:avLst/>
            </a:prstGeom>
          </p:spPr>
        </p:pic>
        <p:pic>
          <p:nvPicPr>
            <p:cNvPr id="27" name="Picture 26" descr="A picture containing rock&#10;&#10;Description automatically generated">
              <a:extLst>
                <a:ext uri="{FF2B5EF4-FFF2-40B4-BE49-F238E27FC236}">
                  <a16:creationId xmlns:a16="http://schemas.microsoft.com/office/drawing/2014/main" id="{46E417AE-E940-4F30-A2EA-8E7557ECD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02477" y="5054118"/>
              <a:ext cx="720000" cy="960000"/>
            </a:xfrm>
            <a:prstGeom prst="rect">
              <a:avLst/>
            </a:prstGeom>
          </p:spPr>
        </p:pic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9C3C8084-5062-4CC2-AD94-1A1D217AEC85}"/>
                </a:ext>
              </a:extLst>
            </p:cNvPr>
            <p:cNvCxnSpPr>
              <a:cxnSpLocks/>
            </p:cNvCxnSpPr>
            <p:nvPr/>
          </p:nvCxnSpPr>
          <p:spPr>
            <a:xfrm>
              <a:off x="7358837" y="5534118"/>
              <a:ext cx="1121020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2A33B298-3462-4455-B592-AB8048DA11C8}"/>
                </a:ext>
              </a:extLst>
            </p:cNvPr>
            <p:cNvCxnSpPr>
              <a:cxnSpLocks/>
            </p:cNvCxnSpPr>
            <p:nvPr/>
          </p:nvCxnSpPr>
          <p:spPr>
            <a:xfrm>
              <a:off x="9109785" y="5534118"/>
              <a:ext cx="1121020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08674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 uiExpand="1" build="p"/>
      <p:bldP spid="9" grpId="0" build="p"/>
      <p:bldP spid="2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BD028BD-16D9-425F-AD24-FDB906A70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Constructing and interpreting isochron diagrams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2358CCB-0BFE-4FF6-B373-F16BE21A7D0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5181600" cy="4530726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At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, samples have the same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  <m:r>
                      <a:rPr lang="en-GB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GB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num>
                              <m:den>
                                <m:r>
                                  <a:rPr lang="en-GB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 but different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</m:oMath>
                </a14:m>
                <a:endParaRPr lang="en-GB" dirty="0">
                  <a:solidFill>
                    <a:schemeClr val="accent3"/>
                  </a:solidFill>
                </a:endParaRPr>
              </a:p>
              <a:p>
                <a:r>
                  <a:rPr lang="en-GB" dirty="0"/>
                  <a:t>Different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</m:oMath>
                </a14:m>
                <a:r>
                  <a:rPr lang="en-GB" dirty="0"/>
                  <a:t> values arise because different elements partition differently into different minerals during geochemical processes</a:t>
                </a:r>
              </a:p>
              <a:p>
                <a:r>
                  <a:rPr lang="en-GB" dirty="0"/>
                  <a:t>When a granite forms, biotite will host relatively more </a:t>
                </a:r>
                <a:r>
                  <a:rPr lang="en-GB" baseline="30000" dirty="0">
                    <a:solidFill>
                      <a:schemeClr val="accent1"/>
                    </a:solidFill>
                  </a:rPr>
                  <a:t>87</a:t>
                </a:r>
                <a:r>
                  <a:rPr lang="en-GB" dirty="0">
                    <a:solidFill>
                      <a:schemeClr val="accent1"/>
                    </a:solidFill>
                  </a:rPr>
                  <a:t>Rb</a:t>
                </a:r>
                <a:r>
                  <a:rPr lang="en-GB" dirty="0"/>
                  <a:t> with respect to </a:t>
                </a:r>
                <a:r>
                  <a:rPr lang="en-GB" baseline="30000" dirty="0">
                    <a:solidFill>
                      <a:schemeClr val="accent2"/>
                    </a:solidFill>
                  </a:rPr>
                  <a:t>86</a:t>
                </a:r>
                <a:r>
                  <a:rPr lang="en-GB" dirty="0">
                    <a:solidFill>
                      <a:schemeClr val="accent2"/>
                    </a:solidFill>
                  </a:rPr>
                  <a:t>Sr</a:t>
                </a:r>
                <a:r>
                  <a:rPr lang="en-GB" dirty="0"/>
                  <a:t> than a coexisting feldspar, resulting in a higher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</m:oMath>
                </a14:m>
                <a:r>
                  <a:rPr lang="en-GB" dirty="0"/>
                  <a:t> 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2358CCB-0BFE-4FF6-B373-F16BE21A7D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5181600" cy="4530726"/>
              </a:xfrm>
              <a:blipFill>
                <a:blip r:embed="rId3"/>
                <a:stretch>
                  <a:fillRect l="-1647" t="-4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A148B-C95C-421A-B5C1-E78B7249D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B31A1-BB86-41D8-8F88-892B8F49F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9BE37-FE5B-4B65-A761-3AFEEE1D5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20</a:t>
            </a:fld>
            <a:endParaRPr lang="en-GB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F0F016FA-F04E-4554-89C7-398A8595520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09562" y="1825625"/>
            <a:ext cx="4306876" cy="4351337"/>
          </a:xfr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D4925F5-0D81-4346-9ECC-4C0513780043}"/>
              </a:ext>
            </a:extLst>
          </p:cNvPr>
          <p:cNvSpPr txBox="1"/>
          <p:nvPr/>
        </p:nvSpPr>
        <p:spPr>
          <a:xfrm>
            <a:off x="7911829" y="1995751"/>
            <a:ext cx="2324910" cy="52322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b="1" i="1" dirty="0">
                <a:solidFill>
                  <a:schemeClr val="accent1"/>
                </a:solidFill>
              </a:rPr>
              <a:t>Partition coefficients are discussed in Lecture 1</a:t>
            </a:r>
          </a:p>
        </p:txBody>
      </p:sp>
      <p:pic>
        <p:nvPicPr>
          <p:cNvPr id="25" name="Picture 24" descr="A picture containing echinoderm, invertebrate, insect&#10;&#10;Description automatically generated">
            <a:extLst>
              <a:ext uri="{FF2B5EF4-FFF2-40B4-BE49-F238E27FC236}">
                <a16:creationId xmlns:a16="http://schemas.microsoft.com/office/drawing/2014/main" id="{0F0B978C-1094-4322-A24F-9F681906B2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0575" y="2653908"/>
            <a:ext cx="3173225" cy="335756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0445513-E584-4474-A4CD-997D28843162}"/>
              </a:ext>
            </a:extLst>
          </p:cNvPr>
          <p:cNvSpPr txBox="1"/>
          <p:nvPr/>
        </p:nvSpPr>
        <p:spPr>
          <a:xfrm>
            <a:off x="5900923" y="2692008"/>
            <a:ext cx="28200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Biotite has high </a:t>
            </a:r>
            <a:r>
              <a:rPr lang="en-GB" baseline="30000" dirty="0">
                <a:solidFill>
                  <a:schemeClr val="accent1"/>
                </a:solidFill>
              </a:rPr>
              <a:t>87</a:t>
            </a:r>
            <a:r>
              <a:rPr lang="en-GB" dirty="0">
                <a:solidFill>
                  <a:schemeClr val="accent1"/>
                </a:solidFill>
              </a:rPr>
              <a:t>Rb/</a:t>
            </a:r>
            <a:r>
              <a:rPr lang="en-GB" baseline="30000" dirty="0">
                <a:solidFill>
                  <a:schemeClr val="accent1"/>
                </a:solidFill>
              </a:rPr>
              <a:t>86</a:t>
            </a:r>
            <a:r>
              <a:rPr lang="en-GB" dirty="0">
                <a:solidFill>
                  <a:schemeClr val="accent1"/>
                </a:solidFill>
              </a:rPr>
              <a:t>Sr:</a:t>
            </a:r>
          </a:p>
          <a:p>
            <a:pPr algn="ctr"/>
            <a:r>
              <a:rPr lang="en-GB" i="1" dirty="0" err="1">
                <a:solidFill>
                  <a:schemeClr val="accent1"/>
                </a:solidFill>
              </a:rPr>
              <a:t>D</a:t>
            </a:r>
            <a:r>
              <a:rPr lang="en-GB" baseline="-25000" dirty="0" err="1">
                <a:solidFill>
                  <a:schemeClr val="accent1"/>
                </a:solidFill>
              </a:rPr>
              <a:t>Rb</a:t>
            </a:r>
            <a:r>
              <a:rPr lang="en-GB" dirty="0">
                <a:solidFill>
                  <a:schemeClr val="accent1"/>
                </a:solidFill>
              </a:rPr>
              <a:t>/</a:t>
            </a:r>
            <a:r>
              <a:rPr lang="en-GB" i="1" dirty="0" err="1">
                <a:solidFill>
                  <a:schemeClr val="accent1"/>
                </a:solidFill>
              </a:rPr>
              <a:t>D</a:t>
            </a:r>
            <a:r>
              <a:rPr lang="en-GB" baseline="-25000" dirty="0" err="1">
                <a:solidFill>
                  <a:schemeClr val="accent1"/>
                </a:solidFill>
              </a:rPr>
              <a:t>Sr</a:t>
            </a:r>
            <a:r>
              <a:rPr lang="en-GB" dirty="0">
                <a:solidFill>
                  <a:schemeClr val="accent1"/>
                </a:solidFill>
              </a:rPr>
              <a:t> is high</a:t>
            </a:r>
            <a:endParaRPr lang="en-GB" baseline="-25000" dirty="0">
              <a:solidFill>
                <a:schemeClr val="accent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69426F-9C02-4656-A3E3-176490E2B2E3}"/>
              </a:ext>
            </a:extLst>
          </p:cNvPr>
          <p:cNvSpPr txBox="1"/>
          <p:nvPr/>
        </p:nvSpPr>
        <p:spPr>
          <a:xfrm>
            <a:off x="5900923" y="5345478"/>
            <a:ext cx="29867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solidFill>
                  <a:schemeClr val="accent2"/>
                </a:solidFill>
              </a:rPr>
              <a:t>Feldspar has low </a:t>
            </a:r>
            <a:r>
              <a:rPr lang="en-GB" baseline="30000" dirty="0">
                <a:solidFill>
                  <a:schemeClr val="accent2"/>
                </a:solidFill>
              </a:rPr>
              <a:t>87</a:t>
            </a:r>
            <a:r>
              <a:rPr lang="en-GB" dirty="0">
                <a:solidFill>
                  <a:schemeClr val="accent2"/>
                </a:solidFill>
              </a:rPr>
              <a:t>Rb/</a:t>
            </a:r>
            <a:r>
              <a:rPr lang="en-GB" baseline="30000" dirty="0">
                <a:solidFill>
                  <a:schemeClr val="accent2"/>
                </a:solidFill>
              </a:rPr>
              <a:t>86</a:t>
            </a:r>
            <a:r>
              <a:rPr lang="en-GB" dirty="0">
                <a:solidFill>
                  <a:schemeClr val="accent2"/>
                </a:solidFill>
              </a:rPr>
              <a:t>Sr:</a:t>
            </a:r>
          </a:p>
          <a:p>
            <a:pPr algn="ctr"/>
            <a:r>
              <a:rPr lang="en-GB" i="1" dirty="0" err="1">
                <a:solidFill>
                  <a:schemeClr val="accent2"/>
                </a:solidFill>
              </a:rPr>
              <a:t>D</a:t>
            </a:r>
            <a:r>
              <a:rPr lang="en-GB" baseline="-25000" dirty="0" err="1">
                <a:solidFill>
                  <a:schemeClr val="accent2"/>
                </a:solidFill>
              </a:rPr>
              <a:t>Rb</a:t>
            </a:r>
            <a:r>
              <a:rPr lang="en-GB" dirty="0">
                <a:solidFill>
                  <a:schemeClr val="accent2"/>
                </a:solidFill>
              </a:rPr>
              <a:t>/</a:t>
            </a:r>
            <a:r>
              <a:rPr lang="en-GB" i="1" dirty="0" err="1">
                <a:solidFill>
                  <a:schemeClr val="accent2"/>
                </a:solidFill>
              </a:rPr>
              <a:t>D</a:t>
            </a:r>
            <a:r>
              <a:rPr lang="en-GB" baseline="-25000" dirty="0" err="1">
                <a:solidFill>
                  <a:schemeClr val="accent2"/>
                </a:solidFill>
              </a:rPr>
              <a:t>Sr</a:t>
            </a:r>
            <a:r>
              <a:rPr lang="en-GB" dirty="0">
                <a:solidFill>
                  <a:schemeClr val="accent2"/>
                </a:solidFill>
              </a:rPr>
              <a:t> is low</a:t>
            </a:r>
            <a:endParaRPr lang="en-GB" baseline="-25000" dirty="0">
              <a:solidFill>
                <a:schemeClr val="accent2"/>
              </a:solidFill>
            </a:endParaRP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600C098A-0CFC-4DCA-AFBF-0E5FB6627F78}"/>
              </a:ext>
            </a:extLst>
          </p:cNvPr>
          <p:cNvSpPr/>
          <p:nvPr/>
        </p:nvSpPr>
        <p:spPr>
          <a:xfrm rot="1309571">
            <a:off x="8127088" y="3337296"/>
            <a:ext cx="1625037" cy="1633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3E6A4F4C-F917-47C5-9A91-BE9B0458807A}"/>
              </a:ext>
            </a:extLst>
          </p:cNvPr>
          <p:cNvSpPr/>
          <p:nvPr/>
        </p:nvSpPr>
        <p:spPr>
          <a:xfrm rot="20818717">
            <a:off x="8250740" y="5161958"/>
            <a:ext cx="791915" cy="163352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204342-14CC-4304-B104-986F3DA17F56}"/>
              </a:ext>
            </a:extLst>
          </p:cNvPr>
          <p:cNvSpPr txBox="1"/>
          <p:nvPr/>
        </p:nvSpPr>
        <p:spPr>
          <a:xfrm>
            <a:off x="9232521" y="5989657"/>
            <a:ext cx="20084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chemeClr val="accent3"/>
                </a:solidFill>
              </a:rPr>
              <a:t>www.virtualmicroscope.org</a:t>
            </a:r>
          </a:p>
        </p:txBody>
      </p:sp>
    </p:spTree>
    <p:extLst>
      <p:ext uri="{BB962C8B-B14F-4D97-AF65-F5344CB8AC3E}">
        <p14:creationId xmlns:p14="http://schemas.microsoft.com/office/powerpoint/2010/main" val="2050105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6" grpId="0"/>
      <p:bldP spid="27" grpId="0"/>
      <p:bldP spid="31" grpId="0" animBg="1"/>
      <p:bldP spid="32" grpId="0" animBg="1"/>
      <p:bldP spid="3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BD028BD-16D9-425F-AD24-FDB906A70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Constructing and interpreting isochron diagrams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2358CCB-0BFE-4FF6-B373-F16BE21A7D0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At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, some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dirty="0"/>
                  <a:t> has decayed into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GB" dirty="0"/>
                  <a:t> but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dirty="0"/>
                  <a:t> has remained constant</a:t>
                </a:r>
              </a:p>
              <a:p>
                <a:r>
                  <a:rPr lang="en-GB" dirty="0"/>
                  <a:t>The greater the starting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</m:oMath>
                </a14:m>
                <a:r>
                  <a:rPr lang="en-GB" dirty="0"/>
                  <a:t> , the greater the resulting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</m:oMath>
                </a14:m>
                <a:endParaRPr lang="en-GB" dirty="0"/>
              </a:p>
              <a:p>
                <a:r>
                  <a:rPr lang="en-GB" dirty="0"/>
                  <a:t>The eventual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GB" dirty="0"/>
                  <a:t> is directly proportional to the initial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GB" dirty="0">
                  <a:solidFill>
                    <a:schemeClr val="accent1"/>
                  </a:solidFill>
                </a:endParaRPr>
              </a:p>
              <a:p>
                <a:r>
                  <a:rPr lang="en-GB" dirty="0"/>
                  <a:t>The value of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can be estimated from the isochron slope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GB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GB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endParaRPr lang="en-GB" sz="2400" dirty="0">
                  <a:solidFill>
                    <a:schemeClr val="accent4"/>
                  </a:solidFill>
                  <a:ea typeface="Cambria Math" panose="02040503050406030204" pitchFamily="18" charset="0"/>
                </a:endParaRPr>
              </a:p>
              <a:p>
                <a:r>
                  <a:rPr lang="en-GB" dirty="0"/>
                  <a:t>At </a:t>
                </a:r>
                <a14:m>
                  <m:oMath xmlns:m="http://schemas.openxmlformats.org/officeDocument/2006/math">
                    <m:r>
                      <a:rPr lang="en-GB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dirty="0"/>
                  <a:t>, more </a:t>
                </a:r>
                <a14:m>
                  <m:oMath xmlns:m="http://schemas.openxmlformats.org/officeDocument/2006/math">
                    <m:r>
                      <a:rPr lang="en-GB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dirty="0"/>
                  <a:t> has decayed into </a:t>
                </a:r>
                <a14:m>
                  <m:oMath xmlns:m="http://schemas.openxmlformats.org/officeDocument/2006/math">
                    <m:r>
                      <a:rPr lang="en-GB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GB" dirty="0"/>
                  <a:t> and the isochron slope steepens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2358CCB-0BFE-4FF6-B373-F16BE21A7D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647" t="-1821" r="-1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A148B-C95C-421A-B5C1-E78B7249D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B31A1-BB86-41D8-8F88-892B8F49F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9BE37-FE5B-4B65-A761-3AFEEE1D5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21</a:t>
            </a:fld>
            <a:endParaRPr lang="en-GB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F0F016FA-F04E-4554-89C7-398A8595520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09562" y="1825625"/>
            <a:ext cx="4306876" cy="4351337"/>
          </a:xfrm>
        </p:spPr>
      </p:pic>
      <p:pic>
        <p:nvPicPr>
          <p:cNvPr id="9" name="Content Placeholder 14">
            <a:extLst>
              <a:ext uri="{FF2B5EF4-FFF2-40B4-BE49-F238E27FC236}">
                <a16:creationId xmlns:a16="http://schemas.microsoft.com/office/drawing/2014/main" id="{E2DAA714-9777-41BA-84FC-90E806E37E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09562" y="1825625"/>
            <a:ext cx="4306875" cy="4351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301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BD028BD-16D9-425F-AD24-FDB906A70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Generic isochron diagram for Rb-Sr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2358CCB-0BFE-4FF6-B373-F16BE21A7D0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4784725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GB" dirty="0"/>
                  <a:t>The isochron equation for the decay of </a:t>
                </a:r>
                <a:r>
                  <a:rPr lang="en-GB" baseline="30000" dirty="0"/>
                  <a:t>87</a:t>
                </a:r>
                <a:r>
                  <a:rPr lang="en-GB" dirty="0"/>
                  <a:t>Rb to </a:t>
                </a:r>
                <a:r>
                  <a:rPr lang="en-GB" baseline="30000" dirty="0"/>
                  <a:t>87</a:t>
                </a:r>
                <a:r>
                  <a:rPr lang="en-GB" dirty="0"/>
                  <a:t>Sr, where </a:t>
                </a:r>
                <a:r>
                  <a:rPr lang="en-GB" baseline="30000" dirty="0"/>
                  <a:t>86</a:t>
                </a:r>
                <a:r>
                  <a:rPr lang="en-GB" dirty="0"/>
                  <a:t>Sr</a:t>
                </a:r>
                <a:br>
                  <a:rPr lang="en-GB" dirty="0"/>
                </a:br>
                <a:r>
                  <a:rPr lang="en-GB" dirty="0"/>
                  <a:t>is a non-radiogenic isotope,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Pre>
                            <m:sPrePr>
                              <m:ctrlP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/>
                            <m:sup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87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GB" b="0" i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Sr</m:t>
                              </m:r>
                            </m:e>
                          </m:sPre>
                        </m:num>
                        <m:den>
                          <m:sPre>
                            <m:sPrePr>
                              <m:ctrlP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/>
                            <m:sup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86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GB" b="0" i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Sr</m:t>
                              </m:r>
                            </m:e>
                          </m:sPre>
                        </m:den>
                      </m:f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GB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Pre>
                                    <m:sPrePr>
                                      <m:ctrlPr>
                                        <a:rPr lang="en-GB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PrePr>
                                    <m:sub/>
                                    <m:sup>
                                      <m:r>
                                        <a:rPr lang="en-GB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87</m:t>
                                      </m:r>
                                    </m:sup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GB" i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Sr</m:t>
                                      </m:r>
                                    </m:e>
                                  </m:sPre>
                                </m:num>
                                <m:den>
                                  <m:sPre>
                                    <m:sPrePr>
                                      <m:ctrlPr>
                                        <a:rPr lang="en-GB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PrePr>
                                    <m:sub/>
                                    <m:sup>
                                      <m:r>
                                        <a:rPr lang="en-GB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86</m:t>
                                      </m:r>
                                    </m:sup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GB" i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Sr</m:t>
                                      </m:r>
                                    </m:e>
                                  </m:sPre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Pre>
                            <m:sPre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/>
                            <m:sup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87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GB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Rb</m:t>
                              </m:r>
                            </m:e>
                          </m:sPre>
                        </m:num>
                        <m:den>
                          <m:sPre>
                            <m:sPre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/>
                            <m:sup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86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GB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Sr</m:t>
                              </m:r>
                            </m:e>
                          </m:sPre>
                        </m:den>
                      </m:f>
                      <m:d>
                        <m:dPr>
                          <m:ctrlP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GB" b="0" dirty="0">
                  <a:solidFill>
                    <a:schemeClr val="accent1"/>
                  </a:solidFill>
                  <a:ea typeface="Cambria Math" panose="02040503050406030204" pitchFamily="18" charset="0"/>
                </a:endParaRPr>
              </a:p>
              <a:p>
                <a:r>
                  <a:rPr lang="en-GB" dirty="0"/>
                  <a:t>Differences 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Pre>
                          <m:sPrePr>
                            <m:ctrlP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PrePr>
                          <m:sub/>
                          <m:sup>
                            <m: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87</m:t>
                            </m:r>
                          </m:sup>
                          <m:e>
                            <m:r>
                              <m:rPr>
                                <m:nor/>
                              </m:rPr>
                              <a:rPr lang="en-GB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Rb</m:t>
                            </m:r>
                          </m:e>
                        </m:sPre>
                      </m:num>
                      <m:den>
                        <m:sPre>
                          <m:sPrePr>
                            <m:ctrlP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PrePr>
                          <m:sub/>
                          <m:sup>
                            <m: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86</m:t>
                            </m:r>
                          </m:sup>
                          <m:e>
                            <m:r>
                              <m:rPr>
                                <m:nor/>
                              </m:rPr>
                              <a:rPr lang="en-GB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Sr</m:t>
                            </m:r>
                          </m:e>
                        </m:sPre>
                      </m:den>
                    </m:f>
                  </m:oMath>
                </a14:m>
                <a:br>
                  <a:rPr lang="en-GB" dirty="0">
                    <a:solidFill>
                      <a:schemeClr val="accent1"/>
                    </a:solidFill>
                  </a:rPr>
                </a:br>
                <a:r>
                  <a:rPr lang="en-GB" dirty="0"/>
                  <a:t>arise from different</a:t>
                </a:r>
                <a:br>
                  <a:rPr lang="en-GB" dirty="0"/>
                </a:br>
                <a:r>
                  <a:rPr lang="en-GB" dirty="0"/>
                  <a:t>partition coefficients</a:t>
                </a:r>
                <a:br>
                  <a:rPr lang="en-GB" dirty="0"/>
                </a:br>
                <a:r>
                  <a:rPr lang="en-GB" dirty="0"/>
                  <a:t>and evolve into </a:t>
                </a:r>
                <a:br>
                  <a:rPr lang="en-GB" dirty="0"/>
                </a:br>
                <a:r>
                  <a:rPr lang="en-GB" dirty="0"/>
                  <a:t>different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Pre>
                          <m:sPrePr>
                            <m:ctrlP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PrePr>
                          <m:sub/>
                          <m:sup>
                            <m: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87</m:t>
                            </m:r>
                          </m:sup>
                          <m:e>
                            <m:r>
                              <m:rPr>
                                <m:nor/>
                              </m:rPr>
                              <a:rPr lang="en-GB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Sr</m:t>
                            </m:r>
                          </m:e>
                        </m:sPre>
                      </m:num>
                      <m:den>
                        <m:sPre>
                          <m:sPrePr>
                            <m:ctrlP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PrePr>
                          <m:sub/>
                          <m:sup>
                            <m: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86</m:t>
                            </m:r>
                          </m:sup>
                          <m:e>
                            <m:r>
                              <m:rPr>
                                <m:nor/>
                              </m:rPr>
                              <a:rPr lang="en-GB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Sr</m:t>
                            </m:r>
                          </m:e>
                        </m:sPre>
                      </m:den>
                    </m:f>
                  </m:oMath>
                </a14:m>
                <a:r>
                  <a:rPr lang="en-GB" dirty="0"/>
                  <a:t> with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GB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2358CCB-0BFE-4FF6-B373-F16BE21A7D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4784725"/>
              </a:xfrm>
              <a:blipFill>
                <a:blip r:embed="rId2"/>
                <a:stretch>
                  <a:fillRect l="-1647" t="-16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A148B-C95C-421A-B5C1-E78B7249D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B31A1-BB86-41D8-8F88-892B8F49F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9BE37-FE5B-4B65-A761-3AFEEE1D5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22</a:t>
            </a:fld>
            <a:endParaRPr lang="en-GB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F0F016FA-F04E-4554-89C7-398A8595520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09562" y="1825625"/>
            <a:ext cx="4306875" cy="4351337"/>
          </a:xfrm>
        </p:spPr>
      </p:pic>
      <p:pic>
        <p:nvPicPr>
          <p:cNvPr id="9" name="Picture 8" descr="A picture containing echinoderm, invertebrate, insect&#10;&#10;Description automatically generated">
            <a:extLst>
              <a:ext uri="{FF2B5EF4-FFF2-40B4-BE49-F238E27FC236}">
                <a16:creationId xmlns:a16="http://schemas.microsoft.com/office/drawing/2014/main" id="{B5A5ADE9-7F55-42FF-8EF2-6587CDA22A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388" y="4001293"/>
            <a:ext cx="1891412" cy="2001287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C454F1FF-1DAB-452B-9027-4465B58C1DCD}"/>
              </a:ext>
            </a:extLst>
          </p:cNvPr>
          <p:cNvSpPr/>
          <p:nvPr/>
        </p:nvSpPr>
        <p:spPr>
          <a:xfrm rot="1309571">
            <a:off x="4123596" y="4399382"/>
            <a:ext cx="989405" cy="1633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628C7C8C-2EEA-4321-A17A-8FCCA9EB2FF7}"/>
              </a:ext>
            </a:extLst>
          </p:cNvPr>
          <p:cNvSpPr/>
          <p:nvPr/>
        </p:nvSpPr>
        <p:spPr>
          <a:xfrm rot="20818717">
            <a:off x="4137946" y="5485517"/>
            <a:ext cx="626675" cy="163352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8458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2D001-0714-418D-A87B-F7D5F394E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Dating the formation of early planetesimal crusts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A6D88-B50B-475D-B076-148C5AB53E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486400" cy="4351338"/>
          </a:xfrm>
        </p:spPr>
        <p:txBody>
          <a:bodyPr/>
          <a:lstStyle/>
          <a:p>
            <a:r>
              <a:rPr lang="en-GB" dirty="0"/>
              <a:t>Analyses of mineral separates from the </a:t>
            </a:r>
            <a:r>
              <a:rPr lang="en-GB" dirty="0" err="1"/>
              <a:t>Bholghati</a:t>
            </a:r>
            <a:r>
              <a:rPr lang="en-GB" dirty="0"/>
              <a:t> meteorite define an isochron in the Rb-Sr system</a:t>
            </a:r>
          </a:p>
          <a:p>
            <a:r>
              <a:rPr lang="en-GB" dirty="0" err="1"/>
              <a:t>Bholghati</a:t>
            </a:r>
            <a:r>
              <a:rPr lang="en-GB" dirty="0"/>
              <a:t> is a stony achondrite meteorite, and its age</a:t>
            </a:r>
            <a:br>
              <a:rPr lang="en-GB" dirty="0"/>
            </a:br>
            <a:r>
              <a:rPr lang="en-GB" dirty="0"/>
              <a:t>of ~4.57 Ga likely </a:t>
            </a:r>
            <a:br>
              <a:rPr lang="en-GB" dirty="0"/>
            </a:br>
            <a:r>
              <a:rPr lang="en-GB" dirty="0"/>
              <a:t>records the growth</a:t>
            </a:r>
            <a:br>
              <a:rPr lang="en-GB" dirty="0"/>
            </a:br>
            <a:r>
              <a:rPr lang="en-GB" dirty="0"/>
              <a:t>of an early crust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0538211-6603-4039-B7ED-8F0CA4F0D05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24788" y="1861593"/>
            <a:ext cx="4815850" cy="4279401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426D1D-F67B-4598-8423-0C83FE17F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1CAC0-BB35-464B-B5EF-CBB7C3FB4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344D05-6EEA-4537-8153-C79BD53B8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23</a:t>
            </a:fld>
            <a:endParaRPr lang="en-GB"/>
          </a:p>
        </p:txBody>
      </p:sp>
      <p:pic>
        <p:nvPicPr>
          <p:cNvPr id="13" name="Picture 12" descr="A picture containing piece, rock&#10;&#10;Description automatically generated">
            <a:extLst>
              <a:ext uri="{FF2B5EF4-FFF2-40B4-BE49-F238E27FC236}">
                <a16:creationId xmlns:a16="http://schemas.microsoft.com/office/drawing/2014/main" id="{3CD40750-C2B4-419D-B240-4D9A224796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8415" y="3886200"/>
            <a:ext cx="2177586" cy="225078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EC95709-2FE4-416F-A25C-DB1B4CF85168}"/>
              </a:ext>
            </a:extLst>
          </p:cNvPr>
          <p:cNvSpPr txBox="1"/>
          <p:nvPr/>
        </p:nvSpPr>
        <p:spPr>
          <a:xfrm>
            <a:off x="4495882" y="3885019"/>
            <a:ext cx="16001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accent3"/>
                </a:solidFill>
              </a:rPr>
              <a:t>credit: Don Edwards</a:t>
            </a:r>
          </a:p>
        </p:txBody>
      </p:sp>
      <p:pic>
        <p:nvPicPr>
          <p:cNvPr id="18" name="Picture 17" descr="A picture containing text, orange, different, colorful&#10;&#10;Description automatically generated">
            <a:extLst>
              <a:ext uri="{FF2B5EF4-FFF2-40B4-BE49-F238E27FC236}">
                <a16:creationId xmlns:a16="http://schemas.microsoft.com/office/drawing/2014/main" id="{C45EAAED-DE9E-44D3-8785-9B18DDAEF1C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371"/>
          <a:stretch/>
        </p:blipFill>
        <p:spPr>
          <a:xfrm>
            <a:off x="1102948" y="4787063"/>
            <a:ext cx="2719999" cy="1349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615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29F65-189C-4EF6-A47D-345EF5C5E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Dating the formation of impacts and ore deposits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F50C4-EAA5-49C1-A246-E0B4E407E3A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The Sudbury Nickel Irruptive is a large Ni deposit that formed after a bolide (meteor/comet) impact instantaneously melted a </a:t>
            </a:r>
            <a:r>
              <a:rPr lang="en-GB"/>
              <a:t>large volume </a:t>
            </a:r>
            <a:r>
              <a:rPr lang="en-GB" dirty="0"/>
              <a:t>of crust in Ontario, Canada</a:t>
            </a:r>
          </a:p>
          <a:p>
            <a:r>
              <a:rPr lang="en-GB" dirty="0"/>
              <a:t>Analyses of mineral separates and whole-rock samples define an isochron with an age of ~1.8 Ga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5E41489-87FA-4255-B495-7E03A0DBEE6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55075" y="1861593"/>
            <a:ext cx="4815850" cy="4279401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8C730-47C7-460A-8ED8-B60BF59B8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3873D2-8EA1-412F-95F5-A1EBE46C4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662156-E206-4D48-9832-AF6456F17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24</a:t>
            </a:fld>
            <a:endParaRPr lang="en-GB"/>
          </a:p>
        </p:txBody>
      </p:sp>
      <p:pic>
        <p:nvPicPr>
          <p:cNvPr id="11" name="Picture 10" descr="Diagram, map&#10;&#10;Description automatically generated">
            <a:extLst>
              <a:ext uri="{FF2B5EF4-FFF2-40B4-BE49-F238E27FC236}">
                <a16:creationId xmlns:a16="http://schemas.microsoft.com/office/drawing/2014/main" id="{AF1EB84F-83B4-43EB-8DCD-C646F86B97C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433" y="4759445"/>
            <a:ext cx="1388367" cy="1381548"/>
          </a:xfrm>
          <a:prstGeom prst="rect">
            <a:avLst/>
          </a:prstGeom>
        </p:spPr>
      </p:pic>
      <p:pic>
        <p:nvPicPr>
          <p:cNvPr id="13" name="Picture 12" descr="A close-up of a rock&#10;&#10;Description automatically generated with medium confidence">
            <a:extLst>
              <a:ext uri="{FF2B5EF4-FFF2-40B4-BE49-F238E27FC236}">
                <a16:creationId xmlns:a16="http://schemas.microsoft.com/office/drawing/2014/main" id="{88780E9B-4DC7-4C17-B084-1B31945148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759446"/>
            <a:ext cx="2407925" cy="1381547"/>
          </a:xfrm>
          <a:prstGeom prst="rect">
            <a:avLst/>
          </a:prstGeom>
        </p:spPr>
      </p:pic>
      <p:pic>
        <p:nvPicPr>
          <p:cNvPr id="16" name="Picture 15" descr="A picture containing text&#10;&#10;Description automatically generated">
            <a:extLst>
              <a:ext uri="{FF2B5EF4-FFF2-40B4-BE49-F238E27FC236}">
                <a16:creationId xmlns:a16="http://schemas.microsoft.com/office/drawing/2014/main" id="{21702D8A-AE15-48F5-903F-5F18EC6833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2779" y="5054219"/>
            <a:ext cx="792000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91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1F090-150B-473E-BD80-A3825C7649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age and provenance of rocks: radiogenic isotopes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0E7A83-1F4B-42AA-92ED-D2CA10EB50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EART26201 | Principles of Geochemistry | Lecture 2</a:t>
            </a:r>
          </a:p>
          <a:p>
            <a:r>
              <a:rPr lang="en-GB" dirty="0"/>
              <a:t>Part 4 | Isotopic evolution of the crust and mantle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BC59C-67B6-4B05-BC06-2EEFD1F7A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8E3BF-8C94-43B7-BDCB-B289E57EE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507B5-2A7D-4FCF-A40A-BADB4BDC4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3883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A63A0-4362-488F-B496-620270E15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01463" cy="1325563"/>
          </a:xfrm>
        </p:spPr>
        <p:txBody>
          <a:bodyPr/>
          <a:lstStyle/>
          <a:p>
            <a:r>
              <a:rPr lang="en-GB" dirty="0"/>
              <a:t>Radiogenic isotopes record past geochemical events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6CCF4E01-CB78-49F4-B880-F1A4E6EF400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8" y="1825625"/>
                <a:ext cx="6391324" cy="4351338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Isotopes are not fractionated (much) by high-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processes like mantle melting</a:t>
                </a:r>
              </a:p>
              <a:p>
                <a:r>
                  <a:rPr lang="en-GB" dirty="0"/>
                  <a:t>Immediately after eruption, the </a:t>
                </a:r>
                <a:r>
                  <a:rPr lang="en-GB" baseline="30000" dirty="0"/>
                  <a:t>87</a:t>
                </a:r>
                <a:r>
                  <a:rPr lang="en-GB" dirty="0"/>
                  <a:t>Sr/</a:t>
                </a:r>
                <a:r>
                  <a:rPr lang="en-GB" baseline="30000" dirty="0"/>
                  <a:t>86</a:t>
                </a:r>
                <a:r>
                  <a:rPr lang="en-GB" dirty="0"/>
                  <a:t>Sr of a </a:t>
                </a:r>
                <a:r>
                  <a:rPr lang="en-GB" dirty="0">
                    <a:solidFill>
                      <a:schemeClr val="accent1"/>
                    </a:solidFill>
                  </a:rPr>
                  <a:t>basalt</a:t>
                </a:r>
                <a:r>
                  <a:rPr lang="en-GB" dirty="0"/>
                  <a:t> is the same as its </a:t>
                </a:r>
                <a:r>
                  <a:rPr lang="en-GB" dirty="0">
                    <a:solidFill>
                      <a:schemeClr val="accent3"/>
                    </a:solidFill>
                  </a:rPr>
                  <a:t>mantle</a:t>
                </a:r>
                <a:r>
                  <a:rPr lang="en-GB" dirty="0"/>
                  <a:t> source</a:t>
                </a:r>
              </a:p>
              <a:p>
                <a:r>
                  <a:rPr lang="en-GB" dirty="0"/>
                  <a:t>However, the </a:t>
                </a:r>
                <a:r>
                  <a:rPr lang="en-GB" baseline="30000" dirty="0"/>
                  <a:t>87</a:t>
                </a:r>
                <a:r>
                  <a:rPr lang="en-GB" dirty="0"/>
                  <a:t>Rb/</a:t>
                </a:r>
                <a:r>
                  <a:rPr lang="en-GB" baseline="30000" dirty="0"/>
                  <a:t>86</a:t>
                </a:r>
                <a:r>
                  <a:rPr lang="en-GB" dirty="0"/>
                  <a:t>Sr of the </a:t>
                </a:r>
                <a:r>
                  <a:rPr lang="en-GB" dirty="0">
                    <a:solidFill>
                      <a:schemeClr val="accent1"/>
                    </a:solidFill>
                  </a:rPr>
                  <a:t>basalt</a:t>
                </a:r>
                <a:r>
                  <a:rPr lang="en-GB" dirty="0"/>
                  <a:t> will </a:t>
                </a:r>
                <a:br>
                  <a:rPr lang="en-GB" dirty="0"/>
                </a:br>
                <a:r>
                  <a:rPr lang="en-GB" dirty="0"/>
                  <a:t>be much higher because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nor/>
                      </m:rPr>
                      <a:rPr lang="en-GB" i="0" baseline="-2500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Rb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i="1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nor/>
                      </m:rPr>
                      <a:rPr lang="en-GB" i="0" baseline="-2500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Sr</m:t>
                    </m:r>
                  </m:oMath>
                </a14:m>
                <a:endParaRPr lang="en-GB" dirty="0"/>
              </a:p>
              <a:p>
                <a:r>
                  <a:rPr lang="en-GB" baseline="30000" dirty="0"/>
                  <a:t>87</a:t>
                </a:r>
                <a:r>
                  <a:rPr lang="en-GB" dirty="0"/>
                  <a:t>Sr/</a:t>
                </a:r>
                <a:r>
                  <a:rPr lang="en-GB" baseline="30000" dirty="0"/>
                  <a:t>86</a:t>
                </a:r>
                <a:r>
                  <a:rPr lang="en-GB" dirty="0"/>
                  <a:t>Sr will thus increase faster in the </a:t>
                </a:r>
                <a:r>
                  <a:rPr lang="en-GB" dirty="0">
                    <a:solidFill>
                      <a:schemeClr val="accent1"/>
                    </a:solidFill>
                  </a:rPr>
                  <a:t>basalt</a:t>
                </a:r>
                <a:r>
                  <a:rPr lang="en-GB" dirty="0"/>
                  <a:t> (high Rb) than in the </a:t>
                </a:r>
                <a:r>
                  <a:rPr lang="en-GB" dirty="0">
                    <a:solidFill>
                      <a:schemeClr val="accent3"/>
                    </a:solidFill>
                  </a:rPr>
                  <a:t>mantle</a:t>
                </a:r>
                <a:r>
                  <a:rPr lang="en-GB" dirty="0"/>
                  <a:t> (low Rb)</a:t>
                </a:r>
              </a:p>
              <a:p>
                <a:pPr marL="0" indent="0" algn="ctr">
                  <a:buNone/>
                </a:pPr>
                <a:r>
                  <a:rPr lang="en-GB" i="1" dirty="0">
                    <a:solidFill>
                      <a:schemeClr val="accent1"/>
                    </a:solidFill>
                  </a:rPr>
                  <a:t>Isotope ratios measured today</a:t>
                </a:r>
                <a:br>
                  <a:rPr lang="en-GB" i="1" dirty="0">
                    <a:solidFill>
                      <a:schemeClr val="accent1"/>
                    </a:solidFill>
                  </a:rPr>
                </a:br>
                <a:r>
                  <a:rPr lang="en-GB" i="1" dirty="0">
                    <a:solidFill>
                      <a:schemeClr val="accent1"/>
                    </a:solidFill>
                  </a:rPr>
                  <a:t>reflect the past fractionation of</a:t>
                </a:r>
                <a:br>
                  <a:rPr lang="en-GB" i="1" dirty="0">
                    <a:solidFill>
                      <a:schemeClr val="accent1"/>
                    </a:solidFill>
                  </a:rPr>
                </a:br>
                <a:r>
                  <a:rPr lang="en-GB" i="1" dirty="0">
                    <a:solidFill>
                      <a:schemeClr val="accent1"/>
                    </a:solidFill>
                  </a:rPr>
                  <a:t>parent and daughter isotopes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6CCF4E01-CB78-49F4-B880-F1A4E6EF40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8" y="1825625"/>
                <a:ext cx="6391324" cy="4351338"/>
              </a:xfrm>
              <a:blipFill>
                <a:blip r:embed="rId2"/>
                <a:stretch>
                  <a:fillRect l="-1239" t="-1821" r="-2193" b="-2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Content Placeholder 9" descr="A picture containing text, seat, chair&#10;&#10;Description automatically generated">
            <a:extLst>
              <a:ext uri="{FF2B5EF4-FFF2-40B4-BE49-F238E27FC236}">
                <a16:creationId xmlns:a16="http://schemas.microsoft.com/office/drawing/2014/main" id="{2701FCA0-710C-404C-A39A-B49E56129B9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3731" y="1792003"/>
            <a:ext cx="3145562" cy="435133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71807-98AC-4D7A-827E-D0022BE9F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A414B-2C19-4B29-8ABC-B0CF6C80D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441E7-591B-4EFF-B7E7-31261EF12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26</a:t>
            </a:fld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3B46BFE-2A95-4493-9EF0-E0E17CC16AD0}"/>
              </a:ext>
            </a:extLst>
          </p:cNvPr>
          <p:cNvSpPr/>
          <p:nvPr/>
        </p:nvSpPr>
        <p:spPr>
          <a:xfrm>
            <a:off x="8225589" y="1903697"/>
            <a:ext cx="385011" cy="3850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DF93974-1F3F-459E-966A-F6391C4C3031}"/>
              </a:ext>
            </a:extLst>
          </p:cNvPr>
          <p:cNvSpPr/>
          <p:nvPr/>
        </p:nvSpPr>
        <p:spPr>
          <a:xfrm>
            <a:off x="8994006" y="5449068"/>
            <a:ext cx="385011" cy="385011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3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54F6EB-7E8E-46EE-BEC3-A715CBC468F8}"/>
              </a:ext>
            </a:extLst>
          </p:cNvPr>
          <p:cNvSpPr txBox="1"/>
          <p:nvPr/>
        </p:nvSpPr>
        <p:spPr>
          <a:xfrm>
            <a:off x="6096000" y="3813783"/>
            <a:ext cx="1009851" cy="30777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b="1" i="1" dirty="0">
                <a:solidFill>
                  <a:schemeClr val="accent1"/>
                </a:solidFill>
              </a:rPr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530528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068E-D086-47CC-A86D-62B517E44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Sr isotope evolution of the crust and mantle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5E9B1E-B89E-44E5-80D9-0BFE24809DB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4530725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The (</a:t>
                </a:r>
                <a:r>
                  <a:rPr lang="en-GB" baseline="30000" dirty="0"/>
                  <a:t>87</a:t>
                </a:r>
                <a:r>
                  <a:rPr lang="en-GB" dirty="0"/>
                  <a:t>Sr/</a:t>
                </a:r>
                <a:r>
                  <a:rPr lang="en-GB" baseline="30000" dirty="0"/>
                  <a:t>86</a:t>
                </a:r>
                <a:r>
                  <a:rPr lang="en-GB" dirty="0"/>
                  <a:t>Sr)</a:t>
                </a:r>
                <a:r>
                  <a:rPr lang="en-GB" baseline="-25000" dirty="0"/>
                  <a:t>0</a:t>
                </a:r>
                <a:r>
                  <a:rPr lang="en-GB" dirty="0"/>
                  <a:t> of </a:t>
                </a:r>
                <a:r>
                  <a:rPr lang="en-GB" dirty="0">
                    <a:solidFill>
                      <a:schemeClr val="accent4"/>
                    </a:solidFill>
                  </a:rPr>
                  <a:t>Bulk Silicate Earth</a:t>
                </a:r>
                <a:r>
                  <a:rPr lang="en-GB" dirty="0"/>
                  <a:t> can be estimated from achondrite meteorites (Part 3) </a:t>
                </a:r>
              </a:p>
              <a:p>
                <a:r>
                  <a:rPr lang="en-GB" dirty="0"/>
                  <a:t>The </a:t>
                </a:r>
                <a:r>
                  <a:rPr lang="en-GB" baseline="30000" dirty="0"/>
                  <a:t>87</a:t>
                </a:r>
                <a:r>
                  <a:rPr lang="en-GB" dirty="0"/>
                  <a:t>Sr/</a:t>
                </a:r>
                <a:r>
                  <a:rPr lang="en-GB" baseline="30000" dirty="0"/>
                  <a:t>86</a:t>
                </a:r>
                <a:r>
                  <a:rPr lang="en-GB" dirty="0"/>
                  <a:t>Sr of </a:t>
                </a:r>
                <a:r>
                  <a:rPr lang="en-GB" dirty="0">
                    <a:solidFill>
                      <a:schemeClr val="accent4"/>
                    </a:solidFill>
                  </a:rPr>
                  <a:t>Bulk Silicate Earth </a:t>
                </a:r>
                <a:r>
                  <a:rPr lang="en-GB" dirty="0"/>
                  <a:t>today can be predicted using estimates of </a:t>
                </a:r>
                <a:r>
                  <a:rPr lang="en-GB" baseline="30000" dirty="0"/>
                  <a:t>87</a:t>
                </a:r>
                <a:r>
                  <a:rPr lang="en-GB" dirty="0"/>
                  <a:t>Rb/</a:t>
                </a:r>
                <a:r>
                  <a:rPr lang="en-GB" baseline="30000" dirty="0"/>
                  <a:t>86</a:t>
                </a:r>
                <a:r>
                  <a:rPr lang="en-GB" dirty="0"/>
                  <a:t>Sr and </a:t>
                </a:r>
                <a14:m>
                  <m:oMath xmlns:m="http://schemas.openxmlformats.org/officeDocument/2006/math">
                    <m:r>
                      <a:rPr lang="en-GB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endParaRPr lang="en-GB" dirty="0"/>
              </a:p>
              <a:p>
                <a:r>
                  <a:rPr lang="en-GB" dirty="0"/>
                  <a:t>The </a:t>
                </a:r>
                <a:r>
                  <a:rPr lang="en-GB" baseline="30000" dirty="0"/>
                  <a:t>87</a:t>
                </a:r>
                <a:r>
                  <a:rPr lang="en-GB" dirty="0"/>
                  <a:t>Sr/</a:t>
                </a:r>
                <a:r>
                  <a:rPr lang="en-GB" baseline="30000" dirty="0"/>
                  <a:t>86</a:t>
                </a:r>
                <a:r>
                  <a:rPr lang="en-GB" dirty="0"/>
                  <a:t>Sr of </a:t>
                </a:r>
                <a:r>
                  <a:rPr lang="en-GB" dirty="0">
                    <a:solidFill>
                      <a:schemeClr val="accent3"/>
                    </a:solidFill>
                  </a:rPr>
                  <a:t>Depleted Mantle</a:t>
                </a:r>
                <a:r>
                  <a:rPr lang="en-GB" dirty="0"/>
                  <a:t> is lower than </a:t>
                </a:r>
                <a:r>
                  <a:rPr lang="en-GB" dirty="0">
                    <a:solidFill>
                      <a:schemeClr val="accent4"/>
                    </a:solidFill>
                  </a:rPr>
                  <a:t>Bulk Silicate Earth</a:t>
                </a:r>
                <a:r>
                  <a:rPr lang="en-GB" dirty="0"/>
                  <a:t> while that of </a:t>
                </a:r>
                <a:r>
                  <a:rPr lang="en-GB" dirty="0">
                    <a:solidFill>
                      <a:schemeClr val="accent1"/>
                    </a:solidFill>
                  </a:rPr>
                  <a:t>Continental Crust </a:t>
                </a:r>
                <a:r>
                  <a:rPr lang="en-GB" dirty="0"/>
                  <a:t>higher</a:t>
                </a:r>
              </a:p>
              <a:p>
                <a:r>
                  <a:rPr lang="en-GB" dirty="0"/>
                  <a:t>Melting at ~3 Ga created Rb-rich </a:t>
                </a:r>
                <a:r>
                  <a:rPr lang="en-GB" dirty="0">
                    <a:solidFill>
                      <a:schemeClr val="accent1"/>
                    </a:solidFill>
                  </a:rPr>
                  <a:t>Continental Crust </a:t>
                </a:r>
                <a:r>
                  <a:rPr lang="en-GB" dirty="0"/>
                  <a:t>and Rb-poor </a:t>
                </a:r>
                <a:r>
                  <a:rPr lang="en-GB" dirty="0">
                    <a:solidFill>
                      <a:schemeClr val="accent3"/>
                    </a:solidFill>
                  </a:rPr>
                  <a:t>Depleted Mantle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5E9B1E-B89E-44E5-80D9-0BFE24809D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4530725"/>
              </a:xfrm>
              <a:blipFill>
                <a:blip r:embed="rId2"/>
                <a:stretch>
                  <a:fillRect l="-1647" t="-1747" r="-3059" b="-6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B23725C-46D3-446C-852F-D4A6AFB30B7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00063" y="1825625"/>
            <a:ext cx="4725874" cy="4351337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44775B-F42C-47D8-A76A-6EFE3C681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3ADF27-7DCA-46DD-9827-BB0D24596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351DD-4F8A-4C90-8EDA-2A3EE404F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27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2E4D3E-C77C-4B91-9BB4-8DDD5D7579ED}"/>
              </a:ext>
            </a:extLst>
          </p:cNvPr>
          <p:cNvSpPr txBox="1"/>
          <p:nvPr/>
        </p:nvSpPr>
        <p:spPr>
          <a:xfrm>
            <a:off x="3581400" y="5978129"/>
            <a:ext cx="4061059" cy="30777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b="1" i="1" dirty="0">
                <a:solidFill>
                  <a:schemeClr val="accent1"/>
                </a:solidFill>
              </a:rPr>
              <a:t>Trace elements tell the same story (Lecture 1)</a:t>
            </a:r>
          </a:p>
        </p:txBody>
      </p:sp>
      <p:pic>
        <p:nvPicPr>
          <p:cNvPr id="8" name="Picture 7" descr="A collage of planets&#10;&#10;Description automatically generated with low confidence">
            <a:extLst>
              <a:ext uri="{FF2B5EF4-FFF2-40B4-BE49-F238E27FC236}">
                <a16:creationId xmlns:a16="http://schemas.microsoft.com/office/drawing/2014/main" id="{465FB941-A616-4D26-945B-E9E180BACD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0399" y="2107932"/>
            <a:ext cx="1411202" cy="1411202"/>
          </a:xfrm>
          <a:prstGeom prst="rect">
            <a:avLst/>
          </a:prstGeom>
        </p:spPr>
      </p:pic>
      <p:pic>
        <p:nvPicPr>
          <p:cNvPr id="12" name="Picture 11" descr="A landscape with trees and mountains in the back&#10;&#10;Description automatically generated with medium confidence">
            <a:extLst>
              <a:ext uri="{FF2B5EF4-FFF2-40B4-BE49-F238E27FC236}">
                <a16:creationId xmlns:a16="http://schemas.microsoft.com/office/drawing/2014/main" id="{6DD17E4B-B990-48CF-8ADE-140B14347FFC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0399" y="2101982"/>
            <a:ext cx="2116804" cy="141120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246D94F-8A8B-4652-9E63-6F02360662B6}"/>
              </a:ext>
            </a:extLst>
          </p:cNvPr>
          <p:cNvSpPr/>
          <p:nvPr/>
        </p:nvSpPr>
        <p:spPr>
          <a:xfrm>
            <a:off x="7863840" y="3749040"/>
            <a:ext cx="965200" cy="701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9DE087-295F-4147-AA0A-33304B51FB94}"/>
              </a:ext>
            </a:extLst>
          </p:cNvPr>
          <p:cNvSpPr/>
          <p:nvPr/>
        </p:nvSpPr>
        <p:spPr>
          <a:xfrm>
            <a:off x="8483600" y="4328160"/>
            <a:ext cx="368300" cy="726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354F19-AC34-41E5-A48D-A7413AC51250}"/>
              </a:ext>
            </a:extLst>
          </p:cNvPr>
          <p:cNvSpPr/>
          <p:nvPr/>
        </p:nvSpPr>
        <p:spPr>
          <a:xfrm>
            <a:off x="7434580" y="4640580"/>
            <a:ext cx="767080" cy="4241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897DBC-B2E1-4417-A77E-A57575EEE69D}"/>
              </a:ext>
            </a:extLst>
          </p:cNvPr>
          <p:cNvSpPr/>
          <p:nvPr/>
        </p:nvSpPr>
        <p:spPr>
          <a:xfrm>
            <a:off x="7696200" y="4923114"/>
            <a:ext cx="137160" cy="4241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9989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4" grpId="0" animBg="1"/>
      <p:bldP spid="11" grpId="0" animBg="1"/>
      <p:bldP spid="13" grpId="0" animBg="1"/>
      <p:bldP spid="1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068E-D086-47CC-A86D-62B517E44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the Sr isotope evolution diagram works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5E9B1E-B89E-44E5-80D9-0BFE24809DB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561862" cy="4530726"/>
              </a:xfrm>
            </p:spPr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≪1/</m:t>
                    </m:r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GB" b="0" dirty="0">
                    <a:ea typeface="Cambria Math" panose="02040503050406030204" pitchFamily="18" charset="0"/>
                  </a:rPr>
                  <a:t> (which is the case for Rb-Sr),</a:t>
                </a:r>
                <a:endParaRPr lang="en-GB" b="0" i="0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Pre>
                            <m:sPre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/>
                            <m:sup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87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GB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Sr</m:t>
                              </m:r>
                            </m:e>
                          </m:sPre>
                        </m:num>
                        <m:den>
                          <m:sPre>
                            <m:sPre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/>
                            <m:sup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86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GB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Sr</m:t>
                              </m:r>
                            </m:e>
                          </m:sPre>
                        </m:den>
                      </m:f>
                      <m:r>
                        <a:rPr lang="en-GB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Pre>
                                    <m:sPrePr>
                                      <m:ctrlPr>
                                        <a:rPr lang="en-GB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PrePr>
                                    <m:sub/>
                                    <m:sup>
                                      <m:r>
                                        <a:rPr lang="en-GB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87</m:t>
                                      </m:r>
                                    </m:sup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GB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Sr</m:t>
                                      </m:r>
                                    </m:e>
                                  </m:sPre>
                                </m:num>
                                <m:den>
                                  <m:sPre>
                                    <m:sPrePr>
                                      <m:ctrlPr>
                                        <a:rPr lang="en-GB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PrePr>
                                    <m:sub/>
                                    <m:sup>
                                      <m:r>
                                        <a:rPr lang="en-GB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86</m:t>
                                      </m:r>
                                    </m:sup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GB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Sr</m:t>
                                      </m:r>
                                    </m:e>
                                  </m:sPre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Pre>
                            <m:sPre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/>
                            <m:sup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87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GB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Rb</m:t>
                              </m:r>
                            </m:e>
                          </m:sPre>
                        </m:num>
                        <m:den>
                          <m:sPre>
                            <m:sPre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/>
                            <m:sup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86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GB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Sr</m:t>
                              </m:r>
                            </m:e>
                          </m:sPre>
                        </m:den>
                      </m:f>
                      <m:d>
                        <m:dPr>
                          <m:ctrlP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GB" dirty="0">
                  <a:solidFill>
                    <a:schemeClr val="accent1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GB" dirty="0">
                    <a:ea typeface="Cambria Math" panose="02040503050406030204" pitchFamily="18" charset="0"/>
                  </a:rPr>
                  <a:t>    can be simplified to: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Pre>
                            <m:sPre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/>
                            <m:sup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87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GB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Sr</m:t>
                              </m:r>
                            </m:e>
                          </m:sPre>
                        </m:num>
                        <m:den>
                          <m:sPre>
                            <m:sPre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/>
                            <m:sup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86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GB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Sr</m:t>
                              </m:r>
                            </m:e>
                          </m:sPre>
                        </m:den>
                      </m:f>
                      <m:r>
                        <a:rPr lang="en-GB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Pre>
                                    <m:sPrePr>
                                      <m:ctrlPr>
                                        <a:rPr lang="en-GB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PrePr>
                                    <m:sub/>
                                    <m:sup>
                                      <m:r>
                                        <a:rPr lang="en-GB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87</m:t>
                                      </m:r>
                                    </m:sup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GB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Sr</m:t>
                                      </m:r>
                                    </m:e>
                                  </m:sPre>
                                </m:num>
                                <m:den>
                                  <m:sPre>
                                    <m:sPrePr>
                                      <m:ctrlPr>
                                        <a:rPr lang="en-GB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PrePr>
                                    <m:sub/>
                                    <m:sup>
                                      <m:r>
                                        <a:rPr lang="en-GB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86</m:t>
                                      </m:r>
                                    </m:sup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GB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Sr</m:t>
                                      </m:r>
                                    </m:e>
                                  </m:sPre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Pre>
                            <m:sPre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/>
                            <m:sup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87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GB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Rb</m:t>
                              </m:r>
                            </m:e>
                          </m:sPre>
                        </m:num>
                        <m:den>
                          <m:sPre>
                            <m:sPre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/>
                            <m:sup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86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GB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Sr</m:t>
                              </m:r>
                            </m:e>
                          </m:sPre>
                        </m:den>
                      </m:f>
                      <m: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GB" dirty="0"/>
              </a:p>
              <a:p>
                <a:pPr>
                  <a:lnSpc>
                    <a:spcPct val="110000"/>
                  </a:lnSpc>
                </a:pPr>
                <a:r>
                  <a:rPr lang="en-GB" dirty="0"/>
                  <a:t>Conveniently, this is a straight line equation: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Pre>
                            <m:sPre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/>
                            <m:sup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87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GB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Sr</m:t>
                              </m:r>
                            </m:e>
                          </m:sPre>
                        </m:num>
                        <m:den>
                          <m:sPre>
                            <m:sPre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/>
                            <m:sup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86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GB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Sr</m:t>
                              </m:r>
                            </m:e>
                          </m:sPre>
                        </m:den>
                      </m:f>
                      <m:r>
                        <a:rPr lang="en-GB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GB" dirty="0"/>
              </a:p>
              <a:p>
                <a:pPr marL="457200" lvl="1" indent="0">
                  <a:lnSpc>
                    <a:spcPct val="110000"/>
                  </a:lnSpc>
                  <a:buNone/>
                </a:pPr>
                <a:r>
                  <a:rPr lang="en-GB" dirty="0"/>
                  <a:t>where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Pre>
                                  <m:sPrePr>
                                    <m:ctrlPr>
                                      <a:rPr lang="en-GB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GB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87</m:t>
                                    </m:r>
                                  </m:sup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GB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Sr</m:t>
                                    </m:r>
                                  </m:e>
                                </m:sPre>
                              </m:num>
                              <m:den>
                                <m:sPre>
                                  <m:sPrePr>
                                    <m:ctrlPr>
                                      <a:rPr lang="en-GB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GB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86</m:t>
                                    </m:r>
                                  </m:sup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GB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Sr</m:t>
                                    </m:r>
                                  </m:e>
                                </m:sPre>
                              </m:den>
                            </m:f>
                          </m:e>
                        </m:d>
                      </m:e>
                      <m:sub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Pre>
                          <m:sPrePr>
                            <m:ctrlP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PrePr>
                          <m:sub/>
                          <m:sup>
                            <m: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87</m:t>
                            </m:r>
                          </m:sup>
                          <m:e>
                            <m:r>
                              <m:rPr>
                                <m:nor/>
                              </m:rPr>
                              <a:rPr lang="en-GB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Rb</m:t>
                            </m:r>
                          </m:e>
                        </m:sPre>
                      </m:num>
                      <m:den>
                        <m:sPre>
                          <m:sPrePr>
                            <m:ctrlP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PrePr>
                          <m:sub/>
                          <m:sup>
                            <m: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86</m:t>
                            </m:r>
                          </m:sup>
                          <m:e>
                            <m:r>
                              <m:rPr>
                                <m:nor/>
                              </m:rPr>
                              <a:rPr lang="en-GB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Sr</m:t>
                            </m:r>
                          </m:e>
                        </m:sPre>
                      </m:den>
                    </m:f>
                    <m:r>
                      <a:rPr lang="en-GB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5E9B1E-B89E-44E5-80D9-0BFE24809D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561862" cy="4530726"/>
              </a:xfrm>
              <a:blipFill>
                <a:blip r:embed="rId2"/>
                <a:stretch>
                  <a:fillRect l="-987" t="-5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B23725C-46D3-446C-852F-D4A6AFB30B7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00063" y="1825625"/>
            <a:ext cx="4725874" cy="4351337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44775B-F42C-47D8-A76A-6EFE3C681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3ADF27-7DCA-46DD-9827-BB0D24596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351DD-4F8A-4C90-8EDA-2A3EE404F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0294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068E-D086-47CC-A86D-62B517E44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the Sr isotope evolution diagram shows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5E9B1E-B89E-44E5-80D9-0BFE24809DB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5464444" cy="4530726"/>
              </a:xfrm>
            </p:spPr>
            <p:txBody>
              <a:bodyPr>
                <a:normAutofit/>
              </a:bodyPr>
              <a:lstStyle/>
              <a:p>
                <a:r>
                  <a:rPr lang="en-GB" baseline="30000" dirty="0"/>
                  <a:t>87</a:t>
                </a:r>
                <a:r>
                  <a:rPr lang="en-GB" dirty="0"/>
                  <a:t>Rb/</a:t>
                </a:r>
                <a:r>
                  <a:rPr lang="en-GB" baseline="30000" dirty="0"/>
                  <a:t>86</a:t>
                </a:r>
                <a:r>
                  <a:rPr lang="en-GB" dirty="0"/>
                  <a:t>Sr and </a:t>
                </a:r>
                <a:r>
                  <a:rPr lang="en-GB" baseline="30000" dirty="0"/>
                  <a:t>87</a:t>
                </a:r>
                <a:r>
                  <a:rPr lang="en-GB" dirty="0"/>
                  <a:t>Sr/</a:t>
                </a:r>
                <a:r>
                  <a:rPr lang="en-GB" baseline="30000" dirty="0"/>
                  <a:t>86</a:t>
                </a:r>
                <a:r>
                  <a:rPr lang="en-GB" dirty="0"/>
                  <a:t>Sr in the current </a:t>
                </a:r>
                <a:r>
                  <a:rPr lang="en-GB" dirty="0">
                    <a:solidFill>
                      <a:schemeClr val="accent3"/>
                    </a:solidFill>
                  </a:rPr>
                  <a:t>Depleted Mantle</a:t>
                </a:r>
                <a:r>
                  <a:rPr lang="en-GB" dirty="0"/>
                  <a:t> can be determined from dredged and drilled samples</a:t>
                </a:r>
              </a:p>
              <a:p>
                <a:r>
                  <a:rPr lang="en-GB" dirty="0"/>
                  <a:t>The evolution of </a:t>
                </a:r>
                <a:r>
                  <a:rPr lang="en-GB" dirty="0">
                    <a:solidFill>
                      <a:schemeClr val="accent3"/>
                    </a:solidFill>
                  </a:rPr>
                  <a:t>Depleted Mantle</a:t>
                </a:r>
                <a:r>
                  <a:rPr lang="en-GB" dirty="0"/>
                  <a:t> </a:t>
                </a:r>
                <a:r>
                  <a:rPr lang="en-GB" baseline="30000" dirty="0"/>
                  <a:t>87</a:t>
                </a:r>
                <a:r>
                  <a:rPr lang="en-GB" dirty="0"/>
                  <a:t>Sr/</a:t>
                </a:r>
                <a:r>
                  <a:rPr lang="en-GB" baseline="30000" dirty="0"/>
                  <a:t>86</a:t>
                </a:r>
                <a:r>
                  <a:rPr lang="en-GB" dirty="0"/>
                  <a:t>Sr through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can be predicted by using the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≪1/</m:t>
                    </m:r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GB" b="0" dirty="0">
                    <a:ea typeface="Cambria Math" panose="02040503050406030204" pitchFamily="18" charset="0"/>
                  </a:rPr>
                  <a:t> simplification</a:t>
                </a:r>
              </a:p>
              <a:p>
                <a:r>
                  <a:rPr lang="en-GB" dirty="0"/>
                  <a:t>Where </a:t>
                </a:r>
                <a:r>
                  <a:rPr lang="en-GB" dirty="0">
                    <a:solidFill>
                      <a:schemeClr val="accent4"/>
                    </a:solidFill>
                  </a:rPr>
                  <a:t>Bulk Silicate Earth</a:t>
                </a:r>
                <a:r>
                  <a:rPr lang="en-GB" dirty="0"/>
                  <a:t> and </a:t>
                </a:r>
                <a:r>
                  <a:rPr lang="en-GB" dirty="0">
                    <a:solidFill>
                      <a:schemeClr val="accent3"/>
                    </a:solidFill>
                  </a:rPr>
                  <a:t>Depleted Mantle </a:t>
                </a:r>
                <a:r>
                  <a:rPr lang="en-GB" dirty="0"/>
                  <a:t>cross gives a ‘model age’ for the depletion (i.e., melting) of </a:t>
                </a:r>
                <a:r>
                  <a:rPr lang="en-GB" dirty="0">
                    <a:solidFill>
                      <a:schemeClr val="accent4"/>
                    </a:solidFill>
                  </a:rPr>
                  <a:t>Bulk Silicate Earth</a:t>
                </a:r>
                <a:r>
                  <a:rPr lang="en-GB" dirty="0"/>
                  <a:t>, which is sometimes called Primitive Mantle</a:t>
                </a:r>
              </a:p>
              <a:p>
                <a:r>
                  <a:rPr lang="en-GB" dirty="0"/>
                  <a:t>This depletion took place at ~3 Ga</a:t>
                </a:r>
                <a:endParaRPr lang="en-GB" dirty="0">
                  <a:solidFill>
                    <a:schemeClr val="accent1"/>
                  </a:solidFill>
                </a:endParaRPr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5E9B1E-B89E-44E5-80D9-0BFE24809D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5464444" cy="4530726"/>
              </a:xfrm>
              <a:blipFill>
                <a:blip r:embed="rId2"/>
                <a:stretch>
                  <a:fillRect l="-1563" t="-1747" r="-1116" b="-6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44775B-F42C-47D8-A76A-6EFE3C681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3ADF27-7DCA-46DD-9827-BB0D24596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351DD-4F8A-4C90-8EDA-2A3EE404F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29</a:t>
            </a:fld>
            <a:endParaRPr lang="en-GB"/>
          </a:p>
        </p:txBody>
      </p:sp>
      <p:pic>
        <p:nvPicPr>
          <p:cNvPr id="8" name="Picture 7" descr="A picture containing boat, water, outdoor, sky&#10;&#10;Description automatically generated">
            <a:extLst>
              <a:ext uri="{FF2B5EF4-FFF2-40B4-BE49-F238E27FC236}">
                <a16:creationId xmlns:a16="http://schemas.microsoft.com/office/drawing/2014/main" id="{6A29483E-CF62-46F6-8C8B-C2B9E050B2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6062" y="2084396"/>
            <a:ext cx="1931401" cy="15112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FAE656-37D4-4BAF-89F7-9782186DA0EF}"/>
              </a:ext>
            </a:extLst>
          </p:cNvPr>
          <p:cNvSpPr txBox="1"/>
          <p:nvPr/>
        </p:nvSpPr>
        <p:spPr>
          <a:xfrm>
            <a:off x="8414426" y="2084396"/>
            <a:ext cx="1023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chemeClr val="accent3"/>
                </a:solidFill>
              </a:rPr>
              <a:t>credit: IODP</a:t>
            </a:r>
          </a:p>
        </p:txBody>
      </p:sp>
      <p:pic>
        <p:nvPicPr>
          <p:cNvPr id="12" name="Content Placeholder 8">
            <a:extLst>
              <a:ext uri="{FF2B5EF4-FFF2-40B4-BE49-F238E27FC236}">
                <a16:creationId xmlns:a16="http://schemas.microsoft.com/office/drawing/2014/main" id="{33ACB7FF-4A39-3BAF-266A-E849608D2BB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00062" y="1825625"/>
            <a:ext cx="4725876" cy="4351338"/>
          </a:xfrm>
        </p:spPr>
      </p:pic>
    </p:spTree>
    <p:extLst>
      <p:ext uri="{BB962C8B-B14F-4D97-AF65-F5344CB8AC3E}">
        <p14:creationId xmlns:p14="http://schemas.microsoft.com/office/powerpoint/2010/main" val="209631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068E-D086-47CC-A86D-62B517E44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the Sr isotope evolution diagram shows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E9B1E-B89E-44E5-80D9-0BFE24809D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561862" cy="4351337"/>
          </a:xfrm>
        </p:spPr>
        <p:txBody>
          <a:bodyPr>
            <a:normAutofit/>
          </a:bodyPr>
          <a:lstStyle/>
          <a:p>
            <a:r>
              <a:rPr lang="en-GB" baseline="30000" dirty="0"/>
              <a:t>87</a:t>
            </a:r>
            <a:r>
              <a:rPr lang="en-GB" dirty="0"/>
              <a:t>Rb/</a:t>
            </a:r>
            <a:r>
              <a:rPr lang="en-GB" baseline="30000" dirty="0"/>
              <a:t>86</a:t>
            </a:r>
            <a:r>
              <a:rPr lang="en-GB" dirty="0"/>
              <a:t>Sr and </a:t>
            </a:r>
            <a:r>
              <a:rPr lang="en-GB" baseline="30000" dirty="0"/>
              <a:t>87</a:t>
            </a:r>
            <a:r>
              <a:rPr lang="en-GB" dirty="0"/>
              <a:t>Sr/</a:t>
            </a:r>
            <a:r>
              <a:rPr lang="en-GB" baseline="30000" dirty="0"/>
              <a:t>86</a:t>
            </a:r>
            <a:r>
              <a:rPr lang="en-GB" dirty="0"/>
              <a:t>Sr in the current </a:t>
            </a:r>
            <a:r>
              <a:rPr lang="en-GB" dirty="0">
                <a:solidFill>
                  <a:schemeClr val="accent1"/>
                </a:solidFill>
              </a:rPr>
              <a:t>Continental Crust </a:t>
            </a:r>
            <a:r>
              <a:rPr lang="en-GB" dirty="0"/>
              <a:t>can be estimated from exposed metamorphic rocks and the sedimentary products of erosion</a:t>
            </a:r>
          </a:p>
          <a:p>
            <a:r>
              <a:rPr lang="en-GB" dirty="0"/>
              <a:t>Where </a:t>
            </a:r>
            <a:r>
              <a:rPr lang="en-GB" dirty="0">
                <a:solidFill>
                  <a:schemeClr val="accent4"/>
                </a:solidFill>
              </a:rPr>
              <a:t>Bulk Silicate Earth</a:t>
            </a:r>
            <a:r>
              <a:rPr lang="en-GB" dirty="0"/>
              <a:t> and </a:t>
            </a:r>
            <a:r>
              <a:rPr lang="en-GB" dirty="0">
                <a:solidFill>
                  <a:schemeClr val="accent1"/>
                </a:solidFill>
              </a:rPr>
              <a:t>Continental Crust </a:t>
            </a:r>
            <a:r>
              <a:rPr lang="en-GB" dirty="0"/>
              <a:t>cross gives a </a:t>
            </a:r>
            <a:br>
              <a:rPr lang="en-GB" dirty="0"/>
            </a:br>
            <a:r>
              <a:rPr lang="en-GB" dirty="0"/>
              <a:t>‘model age’ for continent formation...</a:t>
            </a:r>
          </a:p>
          <a:p>
            <a:r>
              <a:rPr lang="en-GB" dirty="0"/>
              <a:t>...from melts produced by melting </a:t>
            </a:r>
            <a:r>
              <a:rPr lang="en-GB" dirty="0">
                <a:solidFill>
                  <a:schemeClr val="accent4"/>
                </a:solidFill>
              </a:rPr>
              <a:t>BSE</a:t>
            </a:r>
            <a:r>
              <a:rPr lang="en-GB" dirty="0"/>
              <a:t> to create the </a:t>
            </a:r>
            <a:r>
              <a:rPr lang="en-GB" dirty="0">
                <a:solidFill>
                  <a:schemeClr val="accent3"/>
                </a:solidFill>
              </a:rPr>
              <a:t>Depleted Mantle</a:t>
            </a:r>
          </a:p>
          <a:p>
            <a:r>
              <a:rPr lang="en-GB" dirty="0"/>
              <a:t>But, reality is much more complex...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B23725C-46D3-446C-852F-D4A6AFB30B7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00063" y="1825625"/>
            <a:ext cx="4725874" cy="4351337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44775B-F42C-47D8-A76A-6EFE3C681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3ADF27-7DCA-46DD-9827-BB0D24596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351DD-4F8A-4C90-8EDA-2A3EE404F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30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29483E-CF62-46F6-8C8B-C2B9E050B28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940"/>
          <a:stretch/>
        </p:blipFill>
        <p:spPr>
          <a:xfrm>
            <a:off x="7541939" y="2078479"/>
            <a:ext cx="1984191" cy="148613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F1FD48-CC20-44BD-A383-4527DEDAB8A7}"/>
              </a:ext>
            </a:extLst>
          </p:cNvPr>
          <p:cNvSpPr txBox="1"/>
          <p:nvPr/>
        </p:nvSpPr>
        <p:spPr>
          <a:xfrm>
            <a:off x="3103235" y="5653741"/>
            <a:ext cx="3628070" cy="52322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b="1" i="1" dirty="0">
                <a:solidFill>
                  <a:schemeClr val="accent1"/>
                </a:solidFill>
              </a:rPr>
              <a:t>Mantle melting and continent formation</a:t>
            </a:r>
            <a:br>
              <a:rPr lang="en-GB" sz="1400" b="1" i="1" dirty="0">
                <a:solidFill>
                  <a:schemeClr val="accent1"/>
                </a:solidFill>
              </a:rPr>
            </a:br>
            <a:r>
              <a:rPr lang="en-GB" sz="1400" b="1" i="1" dirty="0">
                <a:solidFill>
                  <a:schemeClr val="accent1"/>
                </a:solidFill>
              </a:rPr>
              <a:t>processes are continuous</a:t>
            </a:r>
          </a:p>
        </p:txBody>
      </p:sp>
    </p:spTree>
    <p:extLst>
      <p:ext uri="{BB962C8B-B14F-4D97-AF65-F5344CB8AC3E}">
        <p14:creationId xmlns:p14="http://schemas.microsoft.com/office/powerpoint/2010/main" val="1373960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52878-76B6-47AD-AF94-528A0CBFD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Rb-Sr versus </a:t>
            </a:r>
            <a:r>
              <a:rPr lang="en-GB" dirty="0" err="1"/>
              <a:t>Sm</a:t>
            </a:r>
            <a:r>
              <a:rPr lang="en-GB" dirty="0"/>
              <a:t>-Nd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AF813C-4064-49E1-9290-8671CDD44B8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GB" dirty="0"/>
                  <a:t>Rb and Sr are highly mobile during weathering and alteration</a:t>
                </a:r>
              </a:p>
              <a:p>
                <a:r>
                  <a:rPr lang="en-GB" dirty="0"/>
                  <a:t>Sr isotope measurements may not reliably record high-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processes</a:t>
                </a:r>
              </a:p>
              <a:p>
                <a:r>
                  <a:rPr lang="en-GB" dirty="0" err="1"/>
                  <a:t>Sm</a:t>
                </a:r>
                <a:r>
                  <a:rPr lang="en-GB" dirty="0"/>
                  <a:t> and Nd (REEs) are relatively immobile when compared with Rb and Sr (Rb is a LILE)</a:t>
                </a:r>
              </a:p>
              <a:p>
                <a:r>
                  <a:rPr lang="en-GB" baseline="30000" dirty="0"/>
                  <a:t>143</a:t>
                </a:r>
                <a:r>
                  <a:rPr lang="en-GB" dirty="0"/>
                  <a:t>Nd/</a:t>
                </a:r>
                <a:r>
                  <a:rPr lang="en-GB" baseline="30000" dirty="0"/>
                  <a:t>144</a:t>
                </a:r>
                <a:r>
                  <a:rPr lang="en-GB" dirty="0"/>
                  <a:t>Nd can thus be more reliable than </a:t>
                </a:r>
                <a:r>
                  <a:rPr lang="en-GB" baseline="30000" dirty="0"/>
                  <a:t>87</a:t>
                </a:r>
                <a:r>
                  <a:rPr lang="en-GB" dirty="0"/>
                  <a:t>Sr/</a:t>
                </a:r>
                <a:r>
                  <a:rPr lang="en-GB" baseline="30000" dirty="0"/>
                  <a:t>86</a:t>
                </a:r>
                <a:r>
                  <a:rPr lang="en-GB" dirty="0"/>
                  <a:t>Sr</a:t>
                </a:r>
              </a:p>
              <a:p>
                <a:r>
                  <a:rPr lang="en-GB" dirty="0"/>
                  <a:t>Rb-Sr and </a:t>
                </a:r>
                <a:r>
                  <a:rPr lang="en-GB" dirty="0" err="1"/>
                  <a:t>Sm</a:t>
                </a:r>
                <a:r>
                  <a:rPr lang="en-GB" dirty="0"/>
                  <a:t>-Nd systems are often studied together (Part 5)</a:t>
                </a:r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AF813C-4064-49E1-9290-8671CDD44B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647" t="-1821" r="-2118" b="-2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Content Placeholder 8" descr="A green rock with black specks&#10;&#10;Description automatically generated with low confidence">
            <a:extLst>
              <a:ext uri="{FF2B5EF4-FFF2-40B4-BE49-F238E27FC236}">
                <a16:creationId xmlns:a16="http://schemas.microsoft.com/office/drawing/2014/main" id="{3175C49A-5FBC-411E-821F-DB8BB7D07E7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1828727"/>
            <a:ext cx="3281083" cy="1948143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680081-C5FF-43E2-AAF6-7F52ECDE5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759BAB-BCED-473A-9760-43F60CEE6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F363B9-87F2-435A-9E2B-AE3164F35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31</a:t>
            </a:fld>
            <a:endParaRPr lang="en-GB"/>
          </a:p>
        </p:txBody>
      </p:sp>
      <p:pic>
        <p:nvPicPr>
          <p:cNvPr id="11" name="Picture 10" descr="A picture containing rock&#10;&#10;Description automatically generated">
            <a:extLst>
              <a:ext uri="{FF2B5EF4-FFF2-40B4-BE49-F238E27FC236}">
                <a16:creationId xmlns:a16="http://schemas.microsoft.com/office/drawing/2014/main" id="{80ED9E22-B9F6-4E20-81DA-B44B5ADA0A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790" y="3956256"/>
            <a:ext cx="3352010" cy="2220707"/>
          </a:xfrm>
          <a:prstGeom prst="rect">
            <a:avLst/>
          </a:prstGeom>
        </p:spPr>
      </p:pic>
      <p:sp>
        <p:nvSpPr>
          <p:cNvPr id="12" name="Arrow: Left-Right 11">
            <a:extLst>
              <a:ext uri="{FF2B5EF4-FFF2-40B4-BE49-F238E27FC236}">
                <a16:creationId xmlns:a16="http://schemas.microsoft.com/office/drawing/2014/main" id="{C2B481A8-31C7-4654-ACBD-3DAD35901319}"/>
              </a:ext>
            </a:extLst>
          </p:cNvPr>
          <p:cNvSpPr/>
          <p:nvPr/>
        </p:nvSpPr>
        <p:spPr>
          <a:xfrm rot="2862886">
            <a:off x="7823637" y="3419086"/>
            <a:ext cx="2160653" cy="789254"/>
          </a:xfrm>
          <a:prstGeom prst="leftRightArrow">
            <a:avLst/>
          </a:pr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B96EC9-58FB-4624-9140-C7A19C8DC4C3}"/>
              </a:ext>
            </a:extLst>
          </p:cNvPr>
          <p:cNvSpPr txBox="1"/>
          <p:nvPr/>
        </p:nvSpPr>
        <p:spPr>
          <a:xfrm>
            <a:off x="9878745" y="2395025"/>
            <a:ext cx="10695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chemeClr val="accent1"/>
                </a:solidFill>
              </a:rPr>
              <a:t>Mantle</a:t>
            </a:r>
          </a:p>
          <a:p>
            <a:pPr algn="ctr"/>
            <a:r>
              <a:rPr lang="en-GB" sz="2000" dirty="0">
                <a:solidFill>
                  <a:schemeClr val="accent1"/>
                </a:solidFill>
              </a:rPr>
              <a:t>xenolith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FB2852-0977-4E7A-BCD1-0BE4C70711AF}"/>
              </a:ext>
            </a:extLst>
          </p:cNvPr>
          <p:cNvSpPr txBox="1"/>
          <p:nvPr/>
        </p:nvSpPr>
        <p:spPr>
          <a:xfrm>
            <a:off x="6255620" y="4712667"/>
            <a:ext cx="15103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chemeClr val="accent3"/>
                </a:solidFill>
              </a:rPr>
              <a:t>Weathered</a:t>
            </a:r>
            <a:br>
              <a:rPr lang="en-GB" sz="2000" dirty="0">
                <a:solidFill>
                  <a:schemeClr val="accent3"/>
                </a:solidFill>
              </a:rPr>
            </a:br>
            <a:r>
              <a:rPr lang="en-GB" sz="2000" dirty="0">
                <a:solidFill>
                  <a:schemeClr val="accent3"/>
                </a:solidFill>
              </a:rPr>
              <a:t>serpentinite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EB21F6-E679-4C7E-82E3-30D37279E466}"/>
              </a:ext>
            </a:extLst>
          </p:cNvPr>
          <p:cNvSpPr txBox="1"/>
          <p:nvPr/>
        </p:nvSpPr>
        <p:spPr>
          <a:xfrm>
            <a:off x="6157837" y="1823579"/>
            <a:ext cx="17059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credit: James St. John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4E3AE9-35E9-4D9D-BEC7-BFCF87FB935A}"/>
              </a:ext>
            </a:extLst>
          </p:cNvPr>
          <p:cNvSpPr txBox="1"/>
          <p:nvPr/>
        </p:nvSpPr>
        <p:spPr>
          <a:xfrm>
            <a:off x="9922778" y="5899964"/>
            <a:ext cx="14456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/>
              <a:t>credit: Pierre Terre</a:t>
            </a:r>
          </a:p>
        </p:txBody>
      </p:sp>
    </p:spTree>
    <p:extLst>
      <p:ext uri="{BB962C8B-B14F-4D97-AF65-F5344CB8AC3E}">
        <p14:creationId xmlns:p14="http://schemas.microsoft.com/office/powerpoint/2010/main" val="2852365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4" grpId="0"/>
      <p:bldP spid="1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D57B3-2F5E-4885-A66B-118C802C2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Nd isotope evolution of the crust and mantle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D80E2-64B2-4F26-A3D6-2297AAD4718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Analogous to Sr isotope evolution of the crust and mantle except...</a:t>
            </a:r>
          </a:p>
          <a:p>
            <a:r>
              <a:rPr lang="en-GB" dirty="0"/>
              <a:t>(</a:t>
            </a:r>
            <a:r>
              <a:rPr lang="en-GB" baseline="30000" dirty="0"/>
              <a:t>143</a:t>
            </a:r>
            <a:r>
              <a:rPr lang="en-GB" dirty="0"/>
              <a:t>Nd/</a:t>
            </a:r>
            <a:r>
              <a:rPr lang="en-GB" baseline="30000" dirty="0"/>
              <a:t>144</a:t>
            </a:r>
            <a:r>
              <a:rPr lang="en-GB" dirty="0"/>
              <a:t>Nd)</a:t>
            </a:r>
            <a:r>
              <a:rPr lang="en-GB" baseline="-25000" dirty="0"/>
              <a:t>0</a:t>
            </a:r>
            <a:r>
              <a:rPr lang="en-GB" dirty="0"/>
              <a:t> is estimated from chondrites because </a:t>
            </a:r>
            <a:r>
              <a:rPr lang="en-GB" dirty="0" err="1"/>
              <a:t>Sm</a:t>
            </a:r>
            <a:r>
              <a:rPr lang="en-GB" dirty="0"/>
              <a:t> and Nd are refractory (unlike volatile Rb)</a:t>
            </a:r>
          </a:p>
          <a:p>
            <a:r>
              <a:rPr lang="en-GB" dirty="0"/>
              <a:t>The parent isotope (</a:t>
            </a:r>
            <a:r>
              <a:rPr lang="en-GB" baseline="30000" dirty="0"/>
              <a:t>147</a:t>
            </a:r>
            <a:r>
              <a:rPr lang="en-GB" dirty="0"/>
              <a:t>Sm) is more compatible than the daughter isotope (</a:t>
            </a:r>
            <a:r>
              <a:rPr lang="en-GB" baseline="30000" dirty="0"/>
              <a:t>143</a:t>
            </a:r>
            <a:r>
              <a:rPr lang="en-GB" dirty="0"/>
              <a:t>Nd) – opposite of Rb-Sr</a:t>
            </a:r>
          </a:p>
          <a:p>
            <a:r>
              <a:rPr lang="en-GB" dirty="0"/>
              <a:t>Thus, </a:t>
            </a:r>
            <a:r>
              <a:rPr lang="en-GB" dirty="0">
                <a:solidFill>
                  <a:schemeClr val="accent3"/>
                </a:solidFill>
              </a:rPr>
              <a:t>Depleted Mantle </a:t>
            </a:r>
            <a:r>
              <a:rPr lang="en-GB" dirty="0"/>
              <a:t>evolves to high </a:t>
            </a:r>
            <a:r>
              <a:rPr lang="en-GB" baseline="30000" dirty="0"/>
              <a:t>143</a:t>
            </a:r>
            <a:r>
              <a:rPr lang="en-GB" dirty="0"/>
              <a:t>Nd/</a:t>
            </a:r>
            <a:r>
              <a:rPr lang="en-GB" baseline="30000" dirty="0"/>
              <a:t>144</a:t>
            </a:r>
            <a:r>
              <a:rPr lang="en-GB" dirty="0"/>
              <a:t>Nd while </a:t>
            </a:r>
            <a:r>
              <a:rPr lang="en-GB" dirty="0">
                <a:solidFill>
                  <a:schemeClr val="accent1"/>
                </a:solidFill>
              </a:rPr>
              <a:t>Continental Crust</a:t>
            </a:r>
            <a:r>
              <a:rPr lang="en-GB" dirty="0"/>
              <a:t> evolves to low </a:t>
            </a:r>
            <a:r>
              <a:rPr lang="en-GB" baseline="30000" dirty="0"/>
              <a:t>143</a:t>
            </a:r>
            <a:r>
              <a:rPr lang="en-GB" dirty="0"/>
              <a:t>Nd/</a:t>
            </a:r>
            <a:r>
              <a:rPr lang="en-GB" baseline="30000" dirty="0"/>
              <a:t>144</a:t>
            </a:r>
            <a:r>
              <a:rPr lang="en-GB" dirty="0"/>
              <a:t>Nd</a:t>
            </a:r>
          </a:p>
        </p:txBody>
      </p:sp>
      <p:pic>
        <p:nvPicPr>
          <p:cNvPr id="9" name="Content Placeholder 8" descr="Chart, line chart&#10;&#10;Description automatically generated">
            <a:extLst>
              <a:ext uri="{FF2B5EF4-FFF2-40B4-BE49-F238E27FC236}">
                <a16:creationId xmlns:a16="http://schemas.microsoft.com/office/drawing/2014/main" id="{9EA609E2-E68F-4338-92AC-F7AE4BDC284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062" y="1825625"/>
            <a:ext cx="4725876" cy="4351338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D75C0F-A353-4351-A4EF-5A0BA9DBD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D60398-D1E3-4A98-9282-15761140A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DC8739-66D4-4F90-A6CA-B03D19A16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1993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1F090-150B-473E-BD80-A3825C7649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age and provenance of rocks: radiogenic isotopes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0E7A83-1F4B-42AA-92ED-D2CA10EB50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EART26201 | Principles of Geochemistry | Lecture 2</a:t>
            </a:r>
          </a:p>
          <a:p>
            <a:r>
              <a:rPr lang="en-GB" dirty="0"/>
              <a:t>Part 5 | Provenance and the mantle array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BC59C-67B6-4B05-BC06-2EEFD1F7A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8E3BF-8C94-43B7-BDCB-B289E57EE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507B5-2A7D-4FCF-A40A-BADB4BDC4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05154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EC6609E-2DDF-4C90-9D80-E6663CB3F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Passive tracers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50E635A3-B4CA-4817-AB50-EF67776B0C4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5257800" cy="4392296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A passive tracer tracks the flow of a fluid without either reacting with it or affecting its movement  </a:t>
                </a:r>
              </a:p>
              <a:p>
                <a:r>
                  <a:rPr lang="en-GB" dirty="0"/>
                  <a:t>Pigment in ink is a passive tracer</a:t>
                </a:r>
              </a:p>
              <a:p>
                <a:r>
                  <a:rPr lang="en-GB" dirty="0"/>
                  <a:t>When dropped into clear water, the pigment shows how the drop of ink moves and mixes with the water</a:t>
                </a:r>
              </a:p>
              <a:p>
                <a:r>
                  <a:rPr lang="en-GB" dirty="0"/>
                  <a:t>Isotope ratios act as passive tracers in geochemical systems:</a:t>
                </a:r>
              </a:p>
              <a:p>
                <a:pPr lvl="1"/>
                <a:r>
                  <a:rPr lang="en-GB" dirty="0"/>
                  <a:t>unaffected by ongoing reactions</a:t>
                </a:r>
              </a:p>
              <a:p>
                <a:pPr lvl="1"/>
                <a:r>
                  <a:rPr lang="en-GB" dirty="0"/>
                  <a:t>only modified by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and mixing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50E635A3-B4CA-4817-AB50-EF67776B0C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5257800" cy="4392296"/>
              </a:xfrm>
              <a:blipFill>
                <a:blip r:embed="rId2"/>
                <a:stretch>
                  <a:fillRect l="-1624" t="-1803" r="-24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Content Placeholder 10" descr="A picture containing container, glass, indoor&#10;&#10;Description automatically generated">
            <a:extLst>
              <a:ext uri="{FF2B5EF4-FFF2-40B4-BE49-F238E27FC236}">
                <a16:creationId xmlns:a16="http://schemas.microsoft.com/office/drawing/2014/main" id="{29CBEE3A-BD7D-41D3-9A48-276D4E5A232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164958"/>
            <a:ext cx="5181600" cy="3672672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E3698-E34B-4A21-9725-6EB068FA0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2AA28-47F5-46BD-A7FF-01880C9A2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DDACE-A5C9-4828-B843-A3FEEF203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1618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9BBAE-1527-40F4-8F5A-14601BF29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Sr isotopes as passive tracers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58F0A-DED2-46CC-8A93-09101E44C0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418221" cy="4351338"/>
          </a:xfrm>
        </p:spPr>
        <p:txBody>
          <a:bodyPr/>
          <a:lstStyle/>
          <a:p>
            <a:r>
              <a:rPr lang="en-GB" dirty="0"/>
              <a:t>Sr isotope compositions provide information about magma sources</a:t>
            </a:r>
          </a:p>
          <a:p>
            <a:r>
              <a:rPr lang="en-GB" dirty="0"/>
              <a:t>Magmas created by melting the </a:t>
            </a:r>
            <a:r>
              <a:rPr lang="en-GB" dirty="0">
                <a:solidFill>
                  <a:schemeClr val="accent3"/>
                </a:solidFill>
              </a:rPr>
              <a:t>Depleted Mantle </a:t>
            </a:r>
            <a:r>
              <a:rPr lang="en-GB" dirty="0"/>
              <a:t>have low </a:t>
            </a:r>
            <a:r>
              <a:rPr lang="en-GB" baseline="30000" dirty="0"/>
              <a:t>87</a:t>
            </a:r>
            <a:r>
              <a:rPr lang="en-GB" dirty="0"/>
              <a:t>Sr/</a:t>
            </a:r>
            <a:r>
              <a:rPr lang="en-GB" baseline="30000" dirty="0"/>
              <a:t>86</a:t>
            </a:r>
            <a:r>
              <a:rPr lang="en-GB" dirty="0"/>
              <a:t>Sr</a:t>
            </a:r>
          </a:p>
          <a:p>
            <a:r>
              <a:rPr lang="en-GB" dirty="0"/>
              <a:t>Magmas created by melting the </a:t>
            </a:r>
            <a:r>
              <a:rPr lang="en-GB" dirty="0">
                <a:solidFill>
                  <a:schemeClr val="accent1"/>
                </a:solidFill>
              </a:rPr>
              <a:t>Continental Crust</a:t>
            </a:r>
            <a:r>
              <a:rPr lang="en-GB" dirty="0"/>
              <a:t> have high </a:t>
            </a:r>
            <a:r>
              <a:rPr lang="en-GB" baseline="30000" dirty="0"/>
              <a:t>87</a:t>
            </a:r>
            <a:r>
              <a:rPr lang="en-GB" dirty="0"/>
              <a:t>Sr/</a:t>
            </a:r>
            <a:r>
              <a:rPr lang="en-GB" baseline="30000" dirty="0"/>
              <a:t>86</a:t>
            </a:r>
            <a:r>
              <a:rPr lang="en-GB" dirty="0"/>
              <a:t>Sr</a:t>
            </a:r>
          </a:p>
          <a:p>
            <a:endParaRPr lang="en-GB" dirty="0"/>
          </a:p>
        </p:txBody>
      </p:sp>
      <p:pic>
        <p:nvPicPr>
          <p:cNvPr id="9" name="Content Placeholder 8" descr="A picture containing text, purple&#10;&#10;Description automatically generated">
            <a:extLst>
              <a:ext uri="{FF2B5EF4-FFF2-40B4-BE49-F238E27FC236}">
                <a16:creationId xmlns:a16="http://schemas.microsoft.com/office/drawing/2014/main" id="{C05F0BFA-9140-4B4C-A124-2272174F2D8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062" y="1825625"/>
            <a:ext cx="4725876" cy="4351338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C22EF1-6C57-450B-91BA-68C550D11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0D86C4-2319-491B-A9EC-3E20C55A2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B60EB9-DD8B-4481-8E81-686FCC9DC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35</a:t>
            </a:fld>
            <a:endParaRPr lang="en-GB"/>
          </a:p>
        </p:txBody>
      </p:sp>
      <p:pic>
        <p:nvPicPr>
          <p:cNvPr id="13" name="Picture 12" descr="A picture containing ocean floor&#10;&#10;Description automatically generated">
            <a:extLst>
              <a:ext uri="{FF2B5EF4-FFF2-40B4-BE49-F238E27FC236}">
                <a16:creationId xmlns:a16="http://schemas.microsoft.com/office/drawing/2014/main" id="{BFBF16CD-EBAB-4086-AB75-C311B9C299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8" y="4349319"/>
            <a:ext cx="2436859" cy="1827644"/>
          </a:xfrm>
          <a:prstGeom prst="rect">
            <a:avLst/>
          </a:prstGeom>
        </p:spPr>
      </p:pic>
      <p:pic>
        <p:nvPicPr>
          <p:cNvPr id="15" name="Picture 14" descr="A picture containing snow, mountain, outdoor, sky&#10;&#10;Description automatically generated">
            <a:extLst>
              <a:ext uri="{FF2B5EF4-FFF2-40B4-BE49-F238E27FC236}">
                <a16:creationId xmlns:a16="http://schemas.microsoft.com/office/drawing/2014/main" id="{E06A2744-80AA-469C-A6B6-D30CBB49A65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1" r="8682"/>
          <a:stretch/>
        </p:blipFill>
        <p:spPr>
          <a:xfrm>
            <a:off x="3443375" y="4349319"/>
            <a:ext cx="2813046" cy="1827644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CF3B7546-34FC-4E8D-A921-AD03BD7A711E}"/>
              </a:ext>
            </a:extLst>
          </p:cNvPr>
          <p:cNvSpPr/>
          <p:nvPr/>
        </p:nvSpPr>
        <p:spPr>
          <a:xfrm>
            <a:off x="10837938" y="1825625"/>
            <a:ext cx="288000" cy="288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A4045D3-A72D-4C8C-877E-84B80075FFA2}"/>
              </a:ext>
            </a:extLst>
          </p:cNvPr>
          <p:cNvSpPr/>
          <p:nvPr/>
        </p:nvSpPr>
        <p:spPr>
          <a:xfrm>
            <a:off x="10837938" y="4803577"/>
            <a:ext cx="288000" cy="2880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912AE8F-5D19-450E-90D6-82D4BD2FBBB3}"/>
              </a:ext>
            </a:extLst>
          </p:cNvPr>
          <p:cNvSpPr/>
          <p:nvPr/>
        </p:nvSpPr>
        <p:spPr>
          <a:xfrm>
            <a:off x="2961657" y="4371968"/>
            <a:ext cx="288000" cy="2880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4B3CA14-D9BD-4B98-BBFE-D5288A74489F}"/>
              </a:ext>
            </a:extLst>
          </p:cNvPr>
          <p:cNvSpPr/>
          <p:nvPr/>
        </p:nvSpPr>
        <p:spPr>
          <a:xfrm>
            <a:off x="5943020" y="4371968"/>
            <a:ext cx="288000" cy="288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A08D99-C3C7-42E3-8CBE-70B352C4D4A1}"/>
              </a:ext>
            </a:extLst>
          </p:cNvPr>
          <p:cNvSpPr txBox="1"/>
          <p:nvPr/>
        </p:nvSpPr>
        <p:spPr>
          <a:xfrm>
            <a:off x="837723" y="4349319"/>
            <a:ext cx="1082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accent3"/>
                </a:solidFill>
              </a:rPr>
              <a:t>credit: NOAA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873F8F-B92D-46D8-B369-93C9C0323665}"/>
              </a:ext>
            </a:extLst>
          </p:cNvPr>
          <p:cNvSpPr txBox="1"/>
          <p:nvPr/>
        </p:nvSpPr>
        <p:spPr>
          <a:xfrm>
            <a:off x="4511583" y="5899964"/>
            <a:ext cx="1744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chemeClr val="bg1"/>
                </a:solidFill>
              </a:rPr>
              <a:t>credit: Gabriel </a:t>
            </a:r>
            <a:r>
              <a:rPr lang="en-GB" sz="1200" dirty="0" err="1">
                <a:solidFill>
                  <a:schemeClr val="bg1"/>
                </a:solidFill>
              </a:rPr>
              <a:t>Esteffan</a:t>
            </a:r>
            <a:endParaRPr lang="en-GB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1995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6" grpId="0" animBg="1"/>
      <p:bldP spid="17" grpId="0" animBg="1"/>
      <p:bldP spid="18" grpId="0" animBg="1"/>
      <p:bldP spid="19" grpId="0" animBg="1"/>
      <p:bldP spid="20" grpId="0"/>
      <p:bldP spid="2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7CE87-BDAF-481E-8CB8-C0A4DEB9F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mantle array: summarising Sr and Nd isotopes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1A6AD-2CF2-417A-BC6F-0A218712B30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Negative correlation between Sr and Nd isotopes for most basalts</a:t>
            </a:r>
          </a:p>
          <a:p>
            <a:r>
              <a:rPr lang="en-GB" dirty="0"/>
              <a:t>Mid-ocean ridge basalts are sourced from the </a:t>
            </a:r>
            <a:r>
              <a:rPr lang="en-GB" dirty="0">
                <a:solidFill>
                  <a:schemeClr val="accent3"/>
                </a:solidFill>
              </a:rPr>
              <a:t>Depleted Mantle</a:t>
            </a:r>
          </a:p>
          <a:p>
            <a:r>
              <a:rPr lang="en-GB" dirty="0"/>
              <a:t>Ocean island basalts sourced from mantle plumes are often similar to </a:t>
            </a:r>
            <a:r>
              <a:rPr lang="en-GB" dirty="0">
                <a:solidFill>
                  <a:schemeClr val="accent4"/>
                </a:solidFill>
              </a:rPr>
              <a:t>Bulk Silicate Earth</a:t>
            </a:r>
            <a:r>
              <a:rPr lang="en-GB" dirty="0"/>
              <a:t> (recycling)</a:t>
            </a:r>
          </a:p>
          <a:p>
            <a:r>
              <a:rPr lang="en-GB" dirty="0"/>
              <a:t>Continental basalts are from the mantle but are </a:t>
            </a:r>
            <a:r>
              <a:rPr lang="en-GB" dirty="0">
                <a:solidFill>
                  <a:schemeClr val="accent2"/>
                </a:solidFill>
              </a:rPr>
              <a:t>contaminated </a:t>
            </a:r>
            <a:r>
              <a:rPr lang="en-GB" dirty="0"/>
              <a:t>by melts from the </a:t>
            </a:r>
            <a:r>
              <a:rPr lang="en-GB" dirty="0">
                <a:solidFill>
                  <a:schemeClr val="accent1"/>
                </a:solidFill>
              </a:rPr>
              <a:t>Continental Crust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825A353-0FE4-4DB4-8F02-EF51E5FADE1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6015" y="1873785"/>
            <a:ext cx="5013970" cy="4255017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546E3D-7B2A-4FDF-8FDA-424D1EB3A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9BA74-8EEA-4AF1-B027-F0DF0EAE6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3949BC-D717-4FE8-BCAC-605D014EC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829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68ABD3E-E57E-41C0-BE58-C0CD2E349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682"/>
            <a:ext cx="9575307" cy="1325563"/>
          </a:xfrm>
        </p:spPr>
        <p:txBody>
          <a:bodyPr/>
          <a:lstStyle/>
          <a:p>
            <a:r>
              <a:rPr lang="en-GB" dirty="0"/>
              <a:t>Subduction recycling and ocean island basalts </a:t>
            </a:r>
          </a:p>
        </p:txBody>
      </p:sp>
      <p:pic>
        <p:nvPicPr>
          <p:cNvPr id="9" name="Content Placeholder 8" descr="Diagram&#10;&#10;Description automatically generated">
            <a:extLst>
              <a:ext uri="{FF2B5EF4-FFF2-40B4-BE49-F238E27FC236}">
                <a16:creationId xmlns:a16="http://schemas.microsoft.com/office/drawing/2014/main" id="{7D2A8D99-85A4-427F-BB5F-34A42DE4F2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038119"/>
            <a:ext cx="7641657" cy="3087537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84392-5DD1-4CE8-ADC2-552EB5DFA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077590-77C9-429C-A816-744233B48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3F9A8F-5584-417B-A426-D256C3EDD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37</a:t>
            </a:fld>
            <a:endParaRPr lang="en-GB"/>
          </a:p>
        </p:txBody>
      </p:sp>
      <p:pic>
        <p:nvPicPr>
          <p:cNvPr id="11" name="Content Placeholder 8">
            <a:extLst>
              <a:ext uri="{FF2B5EF4-FFF2-40B4-BE49-F238E27FC236}">
                <a16:creationId xmlns:a16="http://schemas.microsoft.com/office/drawing/2014/main" id="{47E559C1-570C-4C6D-887D-EF2FE86837A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83313" y="1873786"/>
            <a:ext cx="2986672" cy="2534586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5EE993C2-0035-4F69-9A1B-CC2595C555A0}"/>
              </a:ext>
            </a:extLst>
          </p:cNvPr>
          <p:cNvSpPr/>
          <p:nvPr/>
        </p:nvSpPr>
        <p:spPr>
          <a:xfrm>
            <a:off x="3127572" y="3383109"/>
            <a:ext cx="288000" cy="2880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5FC8A4B-83DA-4ABC-A7DD-A5418D3C0756}"/>
              </a:ext>
            </a:extLst>
          </p:cNvPr>
          <p:cNvSpPr/>
          <p:nvPr/>
        </p:nvSpPr>
        <p:spPr>
          <a:xfrm>
            <a:off x="4993408" y="3877600"/>
            <a:ext cx="288000" cy="288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63C84E7-57C2-459D-B815-F080CC882C0A}"/>
              </a:ext>
            </a:extLst>
          </p:cNvPr>
          <p:cNvSpPr/>
          <p:nvPr/>
        </p:nvSpPr>
        <p:spPr>
          <a:xfrm>
            <a:off x="4380757" y="3429000"/>
            <a:ext cx="288000" cy="2880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A8B2D5-7333-407F-8765-E80534A69505}"/>
              </a:ext>
            </a:extLst>
          </p:cNvPr>
          <p:cNvSpPr txBox="1"/>
          <p:nvPr/>
        </p:nvSpPr>
        <p:spPr>
          <a:xfrm>
            <a:off x="9118434" y="4474114"/>
            <a:ext cx="20088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Recycled crust?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9D23DC3-98CD-4780-A307-3EE6AC4C4B39}"/>
              </a:ext>
            </a:extLst>
          </p:cNvPr>
          <p:cNvCxnSpPr>
            <a:cxnSpLocks/>
            <a:stCxn id="19" idx="1"/>
          </p:cNvCxnSpPr>
          <p:nvPr/>
        </p:nvCxnSpPr>
        <p:spPr>
          <a:xfrm flipH="1" flipV="1">
            <a:off x="7373332" y="4346583"/>
            <a:ext cx="1745102" cy="3275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4614DC9-78A5-4BBD-8109-D2EC82FCECF7}"/>
              </a:ext>
            </a:extLst>
          </p:cNvPr>
          <p:cNvSpPr txBox="1"/>
          <p:nvPr/>
        </p:nvSpPr>
        <p:spPr>
          <a:xfrm>
            <a:off x="8833099" y="5417770"/>
            <a:ext cx="24368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Primitive mantle?</a:t>
            </a:r>
          </a:p>
          <a:p>
            <a:pPr algn="ctr"/>
            <a:r>
              <a:rPr lang="en-GB" sz="2000" dirty="0"/>
              <a:t>(</a:t>
            </a:r>
            <a:r>
              <a:rPr lang="en-GB" sz="2000" dirty="0">
                <a:solidFill>
                  <a:schemeClr val="accent4"/>
                </a:solidFill>
              </a:rPr>
              <a:t>Bulk Silicate Earth</a:t>
            </a:r>
            <a:r>
              <a:rPr lang="en-GB" sz="2000" dirty="0"/>
              <a:t>)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23B9B46-8D65-4D8D-BB9C-6E232812EDD9}"/>
              </a:ext>
            </a:extLst>
          </p:cNvPr>
          <p:cNvCxnSpPr>
            <a:cxnSpLocks/>
            <a:stCxn id="28" idx="1"/>
          </p:cNvCxnSpPr>
          <p:nvPr/>
        </p:nvCxnSpPr>
        <p:spPr>
          <a:xfrm flipH="1">
            <a:off x="7137447" y="5771713"/>
            <a:ext cx="1695652" cy="39576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ontent Placeholder 7">
            <a:extLst>
              <a:ext uri="{FF2B5EF4-FFF2-40B4-BE49-F238E27FC236}">
                <a16:creationId xmlns:a16="http://schemas.microsoft.com/office/drawing/2014/main" id="{2918F52C-AC84-412E-951E-278DCC83B68B}"/>
              </a:ext>
            </a:extLst>
          </p:cNvPr>
          <p:cNvSpPr txBox="1">
            <a:spLocks/>
          </p:cNvSpPr>
          <p:nvPr/>
        </p:nvSpPr>
        <p:spPr>
          <a:xfrm>
            <a:off x="838200" y="1814382"/>
            <a:ext cx="7445113" cy="32283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/>
              <a:t>Subducted lithosphere is recycled into the convecting mantle</a:t>
            </a:r>
          </a:p>
          <a:p>
            <a:r>
              <a:rPr lang="en-GB" sz="2000" dirty="0"/>
              <a:t>This recycling re-enriches the </a:t>
            </a:r>
            <a:r>
              <a:rPr lang="en-GB" sz="2000" dirty="0">
                <a:solidFill>
                  <a:schemeClr val="accent3"/>
                </a:solidFill>
              </a:rPr>
              <a:t>Depleted Mantle</a:t>
            </a:r>
            <a:r>
              <a:rPr lang="en-GB" sz="2000" dirty="0"/>
              <a:t> creating compositions like </a:t>
            </a:r>
            <a:r>
              <a:rPr lang="en-GB" sz="2000" dirty="0">
                <a:solidFill>
                  <a:schemeClr val="accent4"/>
                </a:solidFill>
              </a:rPr>
              <a:t>Bulk Silicate Earth </a:t>
            </a:r>
            <a:r>
              <a:rPr lang="en-GB" sz="2000" dirty="0"/>
              <a:t>that melt under hotspots</a:t>
            </a:r>
            <a:endParaRPr lang="en-GB" sz="2000" dirty="0">
              <a:solidFill>
                <a:schemeClr val="accent3"/>
              </a:solidFill>
            </a:endParaRPr>
          </a:p>
          <a:p>
            <a:endParaRPr lang="en-GB" sz="2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78F6C1-DA1D-40B1-BE15-AF3DD9AC843F}"/>
              </a:ext>
            </a:extLst>
          </p:cNvPr>
          <p:cNvSpPr txBox="1"/>
          <p:nvPr/>
        </p:nvSpPr>
        <p:spPr>
          <a:xfrm>
            <a:off x="6763834" y="3442724"/>
            <a:ext cx="16177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accent3"/>
                </a:solidFill>
              </a:rPr>
              <a:t>Koppers et al. (2021)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42F22C3-6B7F-4C87-8A35-A5CDD9327E67}"/>
              </a:ext>
            </a:extLst>
          </p:cNvPr>
          <p:cNvSpPr/>
          <p:nvPr/>
        </p:nvSpPr>
        <p:spPr>
          <a:xfrm>
            <a:off x="2249784" y="3574181"/>
            <a:ext cx="584856" cy="1598997"/>
          </a:xfrm>
          <a:custGeom>
            <a:avLst/>
            <a:gdLst>
              <a:gd name="connsiteX0" fmla="*/ 642594 w 642594"/>
              <a:gd name="connsiteY0" fmla="*/ 0 h 1713297"/>
              <a:gd name="connsiteX1" fmla="*/ 7327 w 642594"/>
              <a:gd name="connsiteY1" fmla="*/ 856648 h 1713297"/>
              <a:gd name="connsiteX2" fmla="*/ 353836 w 642594"/>
              <a:gd name="connsiteY2" fmla="*/ 1713297 h 1713297"/>
              <a:gd name="connsiteX0" fmla="*/ 541278 w 541278"/>
              <a:gd name="connsiteY0" fmla="*/ 0 h 1713297"/>
              <a:gd name="connsiteX1" fmla="*/ 12691 w 541278"/>
              <a:gd name="connsiteY1" fmla="*/ 932848 h 1713297"/>
              <a:gd name="connsiteX2" fmla="*/ 252520 w 541278"/>
              <a:gd name="connsiteY2" fmla="*/ 1713297 h 1713297"/>
              <a:gd name="connsiteX0" fmla="*/ 632718 w 632718"/>
              <a:gd name="connsiteY0" fmla="*/ 0 h 1652337"/>
              <a:gd name="connsiteX1" fmla="*/ 12691 w 632718"/>
              <a:gd name="connsiteY1" fmla="*/ 871888 h 1652337"/>
              <a:gd name="connsiteX2" fmla="*/ 252520 w 632718"/>
              <a:gd name="connsiteY2" fmla="*/ 1652337 h 1652337"/>
              <a:gd name="connsiteX0" fmla="*/ 592060 w 592060"/>
              <a:gd name="connsiteY0" fmla="*/ 0 h 1652337"/>
              <a:gd name="connsiteX1" fmla="*/ 17753 w 592060"/>
              <a:gd name="connsiteY1" fmla="*/ 871888 h 1652337"/>
              <a:gd name="connsiteX2" fmla="*/ 211862 w 592060"/>
              <a:gd name="connsiteY2" fmla="*/ 1652337 h 1652337"/>
              <a:gd name="connsiteX0" fmla="*/ 584856 w 584856"/>
              <a:gd name="connsiteY0" fmla="*/ 0 h 1598997"/>
              <a:gd name="connsiteX1" fmla="*/ 10549 w 584856"/>
              <a:gd name="connsiteY1" fmla="*/ 871888 h 1598997"/>
              <a:gd name="connsiteX2" fmla="*/ 280858 w 584856"/>
              <a:gd name="connsiteY2" fmla="*/ 1598997 h 159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4856" h="1598997">
                <a:moveTo>
                  <a:pt x="584856" y="0"/>
                </a:moveTo>
                <a:cubicBezTo>
                  <a:pt x="291285" y="285549"/>
                  <a:pt x="58675" y="586338"/>
                  <a:pt x="10549" y="871888"/>
                </a:cubicBezTo>
                <a:cubicBezTo>
                  <a:pt x="-37577" y="1157438"/>
                  <a:pt x="83540" y="1313447"/>
                  <a:pt x="280858" y="1598997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5291AE77-D5C4-4095-98EC-94C8059817A2}"/>
              </a:ext>
            </a:extLst>
          </p:cNvPr>
          <p:cNvSpPr/>
          <p:nvPr/>
        </p:nvSpPr>
        <p:spPr>
          <a:xfrm>
            <a:off x="5122295" y="4027139"/>
            <a:ext cx="858250" cy="1309115"/>
          </a:xfrm>
          <a:custGeom>
            <a:avLst/>
            <a:gdLst>
              <a:gd name="connsiteX0" fmla="*/ 760396 w 866631"/>
              <a:gd name="connsiteY0" fmla="*/ 19868 h 1499213"/>
              <a:gd name="connsiteX1" fmla="*/ 789271 w 866631"/>
              <a:gd name="connsiteY1" fmla="*/ 77619 h 1499213"/>
              <a:gd name="connsiteX2" fmla="*/ 847023 w 866631"/>
              <a:gd name="connsiteY2" fmla="*/ 645510 h 1499213"/>
              <a:gd name="connsiteX3" fmla="*/ 413886 w 866631"/>
              <a:gd name="connsiteY3" fmla="*/ 1396280 h 1499213"/>
              <a:gd name="connsiteX4" fmla="*/ 0 w 866631"/>
              <a:gd name="connsiteY4" fmla="*/ 1473282 h 1499213"/>
              <a:gd name="connsiteX0" fmla="*/ 699436 w 867889"/>
              <a:gd name="connsiteY0" fmla="*/ 176655 h 1435020"/>
              <a:gd name="connsiteX1" fmla="*/ 789271 w 867889"/>
              <a:gd name="connsiteY1" fmla="*/ 13426 h 1435020"/>
              <a:gd name="connsiteX2" fmla="*/ 847023 w 867889"/>
              <a:gd name="connsiteY2" fmla="*/ 581317 h 1435020"/>
              <a:gd name="connsiteX3" fmla="*/ 413886 w 867889"/>
              <a:gd name="connsiteY3" fmla="*/ 1332087 h 1435020"/>
              <a:gd name="connsiteX4" fmla="*/ 0 w 867889"/>
              <a:gd name="connsiteY4" fmla="*/ 1409089 h 1435020"/>
              <a:gd name="connsiteX0" fmla="*/ 699436 w 867889"/>
              <a:gd name="connsiteY0" fmla="*/ 2048 h 1260413"/>
              <a:gd name="connsiteX1" fmla="*/ 789271 w 867889"/>
              <a:gd name="connsiteY1" fmla="*/ 227439 h 1260413"/>
              <a:gd name="connsiteX2" fmla="*/ 847023 w 867889"/>
              <a:gd name="connsiteY2" fmla="*/ 406710 h 1260413"/>
              <a:gd name="connsiteX3" fmla="*/ 413886 w 867889"/>
              <a:gd name="connsiteY3" fmla="*/ 1157480 h 1260413"/>
              <a:gd name="connsiteX4" fmla="*/ 0 w 867889"/>
              <a:gd name="connsiteY4" fmla="*/ 1234482 h 1260413"/>
              <a:gd name="connsiteX0" fmla="*/ 775636 w 866337"/>
              <a:gd name="connsiteY0" fmla="*/ 1384 h 1374049"/>
              <a:gd name="connsiteX1" fmla="*/ 789271 w 866337"/>
              <a:gd name="connsiteY1" fmla="*/ 341075 h 1374049"/>
              <a:gd name="connsiteX2" fmla="*/ 847023 w 866337"/>
              <a:gd name="connsiteY2" fmla="*/ 520346 h 1374049"/>
              <a:gd name="connsiteX3" fmla="*/ 413886 w 866337"/>
              <a:gd name="connsiteY3" fmla="*/ 1271116 h 1374049"/>
              <a:gd name="connsiteX4" fmla="*/ 0 w 866337"/>
              <a:gd name="connsiteY4" fmla="*/ 1348118 h 1374049"/>
              <a:gd name="connsiteX0" fmla="*/ 775636 w 861304"/>
              <a:gd name="connsiteY0" fmla="*/ 3606 h 1376271"/>
              <a:gd name="connsiteX1" fmla="*/ 758791 w 861304"/>
              <a:gd name="connsiteY1" fmla="*/ 160417 h 1376271"/>
              <a:gd name="connsiteX2" fmla="*/ 847023 w 861304"/>
              <a:gd name="connsiteY2" fmla="*/ 522568 h 1376271"/>
              <a:gd name="connsiteX3" fmla="*/ 413886 w 861304"/>
              <a:gd name="connsiteY3" fmla="*/ 1273338 h 1376271"/>
              <a:gd name="connsiteX4" fmla="*/ 0 w 861304"/>
              <a:gd name="connsiteY4" fmla="*/ 1350340 h 1376271"/>
              <a:gd name="connsiteX0" fmla="*/ 775636 w 777708"/>
              <a:gd name="connsiteY0" fmla="*/ 4269 h 1376934"/>
              <a:gd name="connsiteX1" fmla="*/ 758791 w 777708"/>
              <a:gd name="connsiteY1" fmla="*/ 161080 h 1376934"/>
              <a:gd name="connsiteX2" fmla="*/ 709863 w 777708"/>
              <a:gd name="connsiteY2" fmla="*/ 637531 h 1376934"/>
              <a:gd name="connsiteX3" fmla="*/ 413886 w 777708"/>
              <a:gd name="connsiteY3" fmla="*/ 1274001 h 1376934"/>
              <a:gd name="connsiteX4" fmla="*/ 0 w 777708"/>
              <a:gd name="connsiteY4" fmla="*/ 1351003 h 1376934"/>
              <a:gd name="connsiteX0" fmla="*/ 775636 w 777708"/>
              <a:gd name="connsiteY0" fmla="*/ 4269 h 1359310"/>
              <a:gd name="connsiteX1" fmla="*/ 758791 w 777708"/>
              <a:gd name="connsiteY1" fmla="*/ 161080 h 1359310"/>
              <a:gd name="connsiteX2" fmla="*/ 709863 w 777708"/>
              <a:gd name="connsiteY2" fmla="*/ 637531 h 1359310"/>
              <a:gd name="connsiteX3" fmla="*/ 406266 w 777708"/>
              <a:gd name="connsiteY3" fmla="*/ 1190181 h 1359310"/>
              <a:gd name="connsiteX4" fmla="*/ 0 w 777708"/>
              <a:gd name="connsiteY4" fmla="*/ 1351003 h 1359310"/>
              <a:gd name="connsiteX0" fmla="*/ 775636 w 777708"/>
              <a:gd name="connsiteY0" fmla="*/ 4269 h 1303009"/>
              <a:gd name="connsiteX1" fmla="*/ 758791 w 777708"/>
              <a:gd name="connsiteY1" fmla="*/ 161080 h 1303009"/>
              <a:gd name="connsiteX2" fmla="*/ 709863 w 777708"/>
              <a:gd name="connsiteY2" fmla="*/ 637531 h 1303009"/>
              <a:gd name="connsiteX3" fmla="*/ 406266 w 777708"/>
              <a:gd name="connsiteY3" fmla="*/ 1190181 h 1303009"/>
              <a:gd name="connsiteX4" fmla="*/ 0 w 777708"/>
              <a:gd name="connsiteY4" fmla="*/ 1282423 h 1303009"/>
              <a:gd name="connsiteX0" fmla="*/ 775636 w 777708"/>
              <a:gd name="connsiteY0" fmla="*/ 4269 h 1288294"/>
              <a:gd name="connsiteX1" fmla="*/ 758791 w 777708"/>
              <a:gd name="connsiteY1" fmla="*/ 161080 h 1288294"/>
              <a:gd name="connsiteX2" fmla="*/ 709863 w 777708"/>
              <a:gd name="connsiteY2" fmla="*/ 637531 h 1288294"/>
              <a:gd name="connsiteX3" fmla="*/ 345306 w 777708"/>
              <a:gd name="connsiteY3" fmla="*/ 1083501 h 1288294"/>
              <a:gd name="connsiteX4" fmla="*/ 0 w 777708"/>
              <a:gd name="connsiteY4" fmla="*/ 1282423 h 1288294"/>
              <a:gd name="connsiteX0" fmla="*/ 798496 w 800568"/>
              <a:gd name="connsiteY0" fmla="*/ 4269 h 1219397"/>
              <a:gd name="connsiteX1" fmla="*/ 781651 w 800568"/>
              <a:gd name="connsiteY1" fmla="*/ 161080 h 1219397"/>
              <a:gd name="connsiteX2" fmla="*/ 732723 w 800568"/>
              <a:gd name="connsiteY2" fmla="*/ 637531 h 1219397"/>
              <a:gd name="connsiteX3" fmla="*/ 368166 w 800568"/>
              <a:gd name="connsiteY3" fmla="*/ 1083501 h 1219397"/>
              <a:gd name="connsiteX4" fmla="*/ 0 w 800568"/>
              <a:gd name="connsiteY4" fmla="*/ 1206223 h 1219397"/>
              <a:gd name="connsiteX0" fmla="*/ 798496 w 800568"/>
              <a:gd name="connsiteY0" fmla="*/ 4269 h 1206223"/>
              <a:gd name="connsiteX1" fmla="*/ 781651 w 800568"/>
              <a:gd name="connsiteY1" fmla="*/ 161080 h 1206223"/>
              <a:gd name="connsiteX2" fmla="*/ 732723 w 800568"/>
              <a:gd name="connsiteY2" fmla="*/ 637531 h 1206223"/>
              <a:gd name="connsiteX3" fmla="*/ 368166 w 800568"/>
              <a:gd name="connsiteY3" fmla="*/ 1083501 h 1206223"/>
              <a:gd name="connsiteX4" fmla="*/ 0 w 800568"/>
              <a:gd name="connsiteY4" fmla="*/ 1206223 h 1206223"/>
              <a:gd name="connsiteX0" fmla="*/ 841358 w 843430"/>
              <a:gd name="connsiteY0" fmla="*/ 4269 h 1258611"/>
              <a:gd name="connsiteX1" fmla="*/ 824513 w 843430"/>
              <a:gd name="connsiteY1" fmla="*/ 161080 h 1258611"/>
              <a:gd name="connsiteX2" fmla="*/ 775585 w 843430"/>
              <a:gd name="connsiteY2" fmla="*/ 637531 h 1258611"/>
              <a:gd name="connsiteX3" fmla="*/ 411028 w 843430"/>
              <a:gd name="connsiteY3" fmla="*/ 1083501 h 1258611"/>
              <a:gd name="connsiteX4" fmla="*/ 0 w 843430"/>
              <a:gd name="connsiteY4" fmla="*/ 1258611 h 1258611"/>
              <a:gd name="connsiteX0" fmla="*/ 769920 w 827622"/>
              <a:gd name="connsiteY0" fmla="*/ 2955 h 1309684"/>
              <a:gd name="connsiteX1" fmla="*/ 824513 w 827622"/>
              <a:gd name="connsiteY1" fmla="*/ 212153 h 1309684"/>
              <a:gd name="connsiteX2" fmla="*/ 775585 w 827622"/>
              <a:gd name="connsiteY2" fmla="*/ 688604 h 1309684"/>
              <a:gd name="connsiteX3" fmla="*/ 411028 w 827622"/>
              <a:gd name="connsiteY3" fmla="*/ 1134574 h 1309684"/>
              <a:gd name="connsiteX4" fmla="*/ 0 w 827622"/>
              <a:gd name="connsiteY4" fmla="*/ 1309684 h 1309684"/>
              <a:gd name="connsiteX0" fmla="*/ 769920 w 857914"/>
              <a:gd name="connsiteY0" fmla="*/ 2325 h 1309054"/>
              <a:gd name="connsiteX1" fmla="*/ 857851 w 857914"/>
              <a:gd name="connsiteY1" fmla="*/ 249623 h 1309054"/>
              <a:gd name="connsiteX2" fmla="*/ 775585 w 857914"/>
              <a:gd name="connsiteY2" fmla="*/ 687974 h 1309054"/>
              <a:gd name="connsiteX3" fmla="*/ 411028 w 857914"/>
              <a:gd name="connsiteY3" fmla="*/ 1133944 h 1309054"/>
              <a:gd name="connsiteX4" fmla="*/ 0 w 857914"/>
              <a:gd name="connsiteY4" fmla="*/ 1309054 h 1309054"/>
              <a:gd name="connsiteX0" fmla="*/ 788970 w 857908"/>
              <a:gd name="connsiteY0" fmla="*/ 2325 h 1309054"/>
              <a:gd name="connsiteX1" fmla="*/ 857851 w 857908"/>
              <a:gd name="connsiteY1" fmla="*/ 249623 h 1309054"/>
              <a:gd name="connsiteX2" fmla="*/ 775585 w 857908"/>
              <a:gd name="connsiteY2" fmla="*/ 687974 h 1309054"/>
              <a:gd name="connsiteX3" fmla="*/ 411028 w 857908"/>
              <a:gd name="connsiteY3" fmla="*/ 1133944 h 1309054"/>
              <a:gd name="connsiteX4" fmla="*/ 0 w 857908"/>
              <a:gd name="connsiteY4" fmla="*/ 1309054 h 1309054"/>
              <a:gd name="connsiteX0" fmla="*/ 788970 w 858250"/>
              <a:gd name="connsiteY0" fmla="*/ 2386 h 1309115"/>
              <a:gd name="connsiteX1" fmla="*/ 857851 w 858250"/>
              <a:gd name="connsiteY1" fmla="*/ 249684 h 1309115"/>
              <a:gd name="connsiteX2" fmla="*/ 751772 w 858250"/>
              <a:gd name="connsiteY2" fmla="*/ 716610 h 1309115"/>
              <a:gd name="connsiteX3" fmla="*/ 411028 w 858250"/>
              <a:gd name="connsiteY3" fmla="*/ 1134005 h 1309115"/>
              <a:gd name="connsiteX4" fmla="*/ 0 w 858250"/>
              <a:gd name="connsiteY4" fmla="*/ 1309115 h 1309115"/>
              <a:gd name="connsiteX0" fmla="*/ 788970 w 858250"/>
              <a:gd name="connsiteY0" fmla="*/ 2386 h 1309115"/>
              <a:gd name="connsiteX1" fmla="*/ 857851 w 858250"/>
              <a:gd name="connsiteY1" fmla="*/ 249684 h 1309115"/>
              <a:gd name="connsiteX2" fmla="*/ 751772 w 858250"/>
              <a:gd name="connsiteY2" fmla="*/ 716610 h 1309115"/>
              <a:gd name="connsiteX3" fmla="*/ 496753 w 858250"/>
              <a:gd name="connsiteY3" fmla="*/ 1072092 h 1309115"/>
              <a:gd name="connsiteX4" fmla="*/ 0 w 858250"/>
              <a:gd name="connsiteY4" fmla="*/ 1309115 h 1309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8250" h="1309115">
                <a:moveTo>
                  <a:pt x="788970" y="2386"/>
                </a:moveTo>
                <a:cubicBezTo>
                  <a:pt x="796188" y="-20876"/>
                  <a:pt x="864051" y="130647"/>
                  <a:pt x="857851" y="249684"/>
                </a:cubicBezTo>
                <a:cubicBezTo>
                  <a:pt x="851651" y="368721"/>
                  <a:pt x="811955" y="579542"/>
                  <a:pt x="751772" y="716610"/>
                </a:cubicBezTo>
                <a:cubicBezTo>
                  <a:pt x="691589" y="853678"/>
                  <a:pt x="637923" y="934130"/>
                  <a:pt x="496753" y="1072092"/>
                </a:cubicBezTo>
                <a:cubicBezTo>
                  <a:pt x="355582" y="1210054"/>
                  <a:pt x="166837" y="1286255"/>
                  <a:pt x="0" y="1309115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A059D107-3856-463F-9824-AFE63DF60B2D}"/>
              </a:ext>
            </a:extLst>
          </p:cNvPr>
          <p:cNvSpPr/>
          <p:nvPr/>
        </p:nvSpPr>
        <p:spPr>
          <a:xfrm>
            <a:off x="2641600" y="4165600"/>
            <a:ext cx="2352675" cy="1035050"/>
          </a:xfrm>
          <a:custGeom>
            <a:avLst/>
            <a:gdLst>
              <a:gd name="connsiteX0" fmla="*/ 0 w 2203450"/>
              <a:gd name="connsiteY0" fmla="*/ 952500 h 989998"/>
              <a:gd name="connsiteX1" fmla="*/ 1536700 w 2203450"/>
              <a:gd name="connsiteY1" fmla="*/ 876300 h 989998"/>
              <a:gd name="connsiteX2" fmla="*/ 2203450 w 2203450"/>
              <a:gd name="connsiteY2" fmla="*/ 0 h 989998"/>
              <a:gd name="connsiteX0" fmla="*/ 0 w 2203450"/>
              <a:gd name="connsiteY0" fmla="*/ 952500 h 971907"/>
              <a:gd name="connsiteX1" fmla="*/ 1384300 w 2203450"/>
              <a:gd name="connsiteY1" fmla="*/ 819150 h 971907"/>
              <a:gd name="connsiteX2" fmla="*/ 2203450 w 2203450"/>
              <a:gd name="connsiteY2" fmla="*/ 0 h 971907"/>
              <a:gd name="connsiteX0" fmla="*/ 0 w 2330450"/>
              <a:gd name="connsiteY0" fmla="*/ 1028700 h 1038544"/>
              <a:gd name="connsiteX1" fmla="*/ 1511300 w 2330450"/>
              <a:gd name="connsiteY1" fmla="*/ 819150 h 1038544"/>
              <a:gd name="connsiteX2" fmla="*/ 2330450 w 2330450"/>
              <a:gd name="connsiteY2" fmla="*/ 0 h 1038544"/>
              <a:gd name="connsiteX0" fmla="*/ 0 w 2330450"/>
              <a:gd name="connsiteY0" fmla="*/ 1028700 h 1028700"/>
              <a:gd name="connsiteX1" fmla="*/ 1511300 w 2330450"/>
              <a:gd name="connsiteY1" fmla="*/ 819150 h 1028700"/>
              <a:gd name="connsiteX2" fmla="*/ 2330450 w 2330450"/>
              <a:gd name="connsiteY2" fmla="*/ 0 h 1028700"/>
              <a:gd name="connsiteX0" fmla="*/ 0 w 2330450"/>
              <a:gd name="connsiteY0" fmla="*/ 1028700 h 1028700"/>
              <a:gd name="connsiteX1" fmla="*/ 1727200 w 2330450"/>
              <a:gd name="connsiteY1" fmla="*/ 863600 h 1028700"/>
              <a:gd name="connsiteX2" fmla="*/ 2330450 w 2330450"/>
              <a:gd name="connsiteY2" fmla="*/ 0 h 1028700"/>
              <a:gd name="connsiteX0" fmla="*/ 0 w 2368550"/>
              <a:gd name="connsiteY0" fmla="*/ 1016000 h 1016000"/>
              <a:gd name="connsiteX1" fmla="*/ 1765300 w 2368550"/>
              <a:gd name="connsiteY1" fmla="*/ 863600 h 1016000"/>
              <a:gd name="connsiteX2" fmla="*/ 2368550 w 2368550"/>
              <a:gd name="connsiteY2" fmla="*/ 0 h 1016000"/>
              <a:gd name="connsiteX0" fmla="*/ 0 w 2368550"/>
              <a:gd name="connsiteY0" fmla="*/ 1016000 h 1016000"/>
              <a:gd name="connsiteX1" fmla="*/ 1765300 w 2368550"/>
              <a:gd name="connsiteY1" fmla="*/ 863600 h 1016000"/>
              <a:gd name="connsiteX2" fmla="*/ 2368550 w 2368550"/>
              <a:gd name="connsiteY2" fmla="*/ 0 h 1016000"/>
              <a:gd name="connsiteX0" fmla="*/ 0 w 2368550"/>
              <a:gd name="connsiteY0" fmla="*/ 1016000 h 1016000"/>
              <a:gd name="connsiteX1" fmla="*/ 1828800 w 2368550"/>
              <a:gd name="connsiteY1" fmla="*/ 819150 h 1016000"/>
              <a:gd name="connsiteX2" fmla="*/ 2368550 w 2368550"/>
              <a:gd name="connsiteY2" fmla="*/ 0 h 1016000"/>
              <a:gd name="connsiteX0" fmla="*/ 0 w 2362200"/>
              <a:gd name="connsiteY0" fmla="*/ 1028700 h 1028700"/>
              <a:gd name="connsiteX1" fmla="*/ 1828800 w 2362200"/>
              <a:gd name="connsiteY1" fmla="*/ 831850 h 1028700"/>
              <a:gd name="connsiteX2" fmla="*/ 2362200 w 2362200"/>
              <a:gd name="connsiteY2" fmla="*/ 0 h 1028700"/>
              <a:gd name="connsiteX0" fmla="*/ 0 w 2362200"/>
              <a:gd name="connsiteY0" fmla="*/ 1028700 h 1028700"/>
              <a:gd name="connsiteX1" fmla="*/ 1828800 w 2362200"/>
              <a:gd name="connsiteY1" fmla="*/ 831850 h 1028700"/>
              <a:gd name="connsiteX2" fmla="*/ 2362200 w 2362200"/>
              <a:gd name="connsiteY2" fmla="*/ 0 h 1028700"/>
              <a:gd name="connsiteX0" fmla="*/ 0 w 2362200"/>
              <a:gd name="connsiteY0" fmla="*/ 1028700 h 1028700"/>
              <a:gd name="connsiteX1" fmla="*/ 1828800 w 2362200"/>
              <a:gd name="connsiteY1" fmla="*/ 831850 h 1028700"/>
              <a:gd name="connsiteX2" fmla="*/ 2362200 w 2362200"/>
              <a:gd name="connsiteY2" fmla="*/ 0 h 1028700"/>
              <a:gd name="connsiteX0" fmla="*/ 0 w 2371725"/>
              <a:gd name="connsiteY0" fmla="*/ 1035050 h 1035050"/>
              <a:gd name="connsiteX1" fmla="*/ 1828800 w 2371725"/>
              <a:gd name="connsiteY1" fmla="*/ 838200 h 1035050"/>
              <a:gd name="connsiteX2" fmla="*/ 2371725 w 2371725"/>
              <a:gd name="connsiteY2" fmla="*/ 0 h 1035050"/>
              <a:gd name="connsiteX0" fmla="*/ 0 w 2352675"/>
              <a:gd name="connsiteY0" fmla="*/ 1035050 h 1035050"/>
              <a:gd name="connsiteX1" fmla="*/ 1828800 w 2352675"/>
              <a:gd name="connsiteY1" fmla="*/ 838200 h 1035050"/>
              <a:gd name="connsiteX2" fmla="*/ 2352675 w 2352675"/>
              <a:gd name="connsiteY2" fmla="*/ 0 h 1035050"/>
              <a:gd name="connsiteX0" fmla="*/ 0 w 2352675"/>
              <a:gd name="connsiteY0" fmla="*/ 1035050 h 1035050"/>
              <a:gd name="connsiteX1" fmla="*/ 1828800 w 2352675"/>
              <a:gd name="connsiteY1" fmla="*/ 838200 h 1035050"/>
              <a:gd name="connsiteX2" fmla="*/ 2352675 w 2352675"/>
              <a:gd name="connsiteY2" fmla="*/ 0 h 1035050"/>
              <a:gd name="connsiteX0" fmla="*/ 0 w 2352675"/>
              <a:gd name="connsiteY0" fmla="*/ 1035050 h 1035050"/>
              <a:gd name="connsiteX1" fmla="*/ 1828800 w 2352675"/>
              <a:gd name="connsiteY1" fmla="*/ 838200 h 1035050"/>
              <a:gd name="connsiteX2" fmla="*/ 2352675 w 2352675"/>
              <a:gd name="connsiteY2" fmla="*/ 0 h 1035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52675" h="1035050">
                <a:moveTo>
                  <a:pt x="0" y="1035050"/>
                </a:moveTo>
                <a:cubicBezTo>
                  <a:pt x="660929" y="987425"/>
                  <a:pt x="1461558" y="996950"/>
                  <a:pt x="1828800" y="838200"/>
                </a:cubicBezTo>
                <a:cubicBezTo>
                  <a:pt x="2164292" y="635000"/>
                  <a:pt x="2206096" y="387350"/>
                  <a:pt x="2352675" y="0"/>
                </a:cubicBezTo>
              </a:path>
            </a:pathLst>
          </a:custGeom>
          <a:noFill/>
          <a:ln w="38100">
            <a:solidFill>
              <a:schemeClr val="accent4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30680B0-1E6C-41F7-9C59-DBC28465AA1A}"/>
              </a:ext>
            </a:extLst>
          </p:cNvPr>
          <p:cNvSpPr/>
          <p:nvPr/>
        </p:nvSpPr>
        <p:spPr>
          <a:xfrm>
            <a:off x="4899305" y="4210050"/>
            <a:ext cx="225145" cy="1114425"/>
          </a:xfrm>
          <a:custGeom>
            <a:avLst/>
            <a:gdLst>
              <a:gd name="connsiteX0" fmla="*/ 12700 w 12700"/>
              <a:gd name="connsiteY0" fmla="*/ 1143000 h 1143000"/>
              <a:gd name="connsiteX1" fmla="*/ 0 w 12700"/>
              <a:gd name="connsiteY1" fmla="*/ 0 h 1143000"/>
              <a:gd name="connsiteX0" fmla="*/ 139700 w 139700"/>
              <a:gd name="connsiteY0" fmla="*/ 1143000 h 1143000"/>
              <a:gd name="connsiteX1" fmla="*/ 0 w 139700"/>
              <a:gd name="connsiteY1" fmla="*/ 590550 h 1143000"/>
              <a:gd name="connsiteX2" fmla="*/ 127000 w 139700"/>
              <a:gd name="connsiteY2" fmla="*/ 0 h 1143000"/>
              <a:gd name="connsiteX0" fmla="*/ 185001 w 185001"/>
              <a:gd name="connsiteY0" fmla="*/ 1143000 h 1143000"/>
              <a:gd name="connsiteX1" fmla="*/ 45301 w 185001"/>
              <a:gd name="connsiteY1" fmla="*/ 590550 h 1143000"/>
              <a:gd name="connsiteX2" fmla="*/ 172301 w 185001"/>
              <a:gd name="connsiteY2" fmla="*/ 0 h 1143000"/>
              <a:gd name="connsiteX0" fmla="*/ 185001 w 185001"/>
              <a:gd name="connsiteY0" fmla="*/ 1143000 h 1143000"/>
              <a:gd name="connsiteX1" fmla="*/ 45301 w 185001"/>
              <a:gd name="connsiteY1" fmla="*/ 590550 h 1143000"/>
              <a:gd name="connsiteX2" fmla="*/ 172301 w 185001"/>
              <a:gd name="connsiteY2" fmla="*/ 0 h 1143000"/>
              <a:gd name="connsiteX0" fmla="*/ 153845 w 153845"/>
              <a:gd name="connsiteY0" fmla="*/ 1143000 h 1143000"/>
              <a:gd name="connsiteX1" fmla="*/ 14145 w 153845"/>
              <a:gd name="connsiteY1" fmla="*/ 590550 h 1143000"/>
              <a:gd name="connsiteX2" fmla="*/ 141145 w 153845"/>
              <a:gd name="connsiteY2" fmla="*/ 0 h 1143000"/>
              <a:gd name="connsiteX0" fmla="*/ 187303 w 187303"/>
              <a:gd name="connsiteY0" fmla="*/ 1143000 h 1143000"/>
              <a:gd name="connsiteX1" fmla="*/ 47603 w 187303"/>
              <a:gd name="connsiteY1" fmla="*/ 590550 h 1143000"/>
              <a:gd name="connsiteX2" fmla="*/ 174603 w 187303"/>
              <a:gd name="connsiteY2" fmla="*/ 0 h 1143000"/>
              <a:gd name="connsiteX0" fmla="*/ 137002 w 219962"/>
              <a:gd name="connsiteY0" fmla="*/ 1108075 h 1108075"/>
              <a:gd name="connsiteX1" fmla="*/ 92552 w 219962"/>
              <a:gd name="connsiteY1" fmla="*/ 590550 h 1108075"/>
              <a:gd name="connsiteX2" fmla="*/ 219552 w 219962"/>
              <a:gd name="connsiteY2" fmla="*/ 0 h 1108075"/>
              <a:gd name="connsiteX0" fmla="*/ 137002 w 238866"/>
              <a:gd name="connsiteY0" fmla="*/ 1104900 h 1104900"/>
              <a:gd name="connsiteX1" fmla="*/ 92552 w 238866"/>
              <a:gd name="connsiteY1" fmla="*/ 587375 h 1104900"/>
              <a:gd name="connsiteX2" fmla="*/ 238602 w 238866"/>
              <a:gd name="connsiteY2" fmla="*/ 0 h 1104900"/>
              <a:gd name="connsiteX0" fmla="*/ 137002 w 238602"/>
              <a:gd name="connsiteY0" fmla="*/ 1104900 h 1104900"/>
              <a:gd name="connsiteX1" fmla="*/ 92552 w 238602"/>
              <a:gd name="connsiteY1" fmla="*/ 587375 h 1104900"/>
              <a:gd name="connsiteX2" fmla="*/ 238602 w 238602"/>
              <a:gd name="connsiteY2" fmla="*/ 0 h 1104900"/>
              <a:gd name="connsiteX0" fmla="*/ 137002 w 238602"/>
              <a:gd name="connsiteY0" fmla="*/ 1104900 h 1104900"/>
              <a:gd name="connsiteX1" fmla="*/ 92552 w 238602"/>
              <a:gd name="connsiteY1" fmla="*/ 587375 h 1104900"/>
              <a:gd name="connsiteX2" fmla="*/ 238602 w 238602"/>
              <a:gd name="connsiteY2" fmla="*/ 0 h 1104900"/>
              <a:gd name="connsiteX0" fmla="*/ 137002 w 238602"/>
              <a:gd name="connsiteY0" fmla="*/ 1104900 h 1104900"/>
              <a:gd name="connsiteX1" fmla="*/ 92552 w 238602"/>
              <a:gd name="connsiteY1" fmla="*/ 587375 h 1104900"/>
              <a:gd name="connsiteX2" fmla="*/ 238602 w 238602"/>
              <a:gd name="connsiteY2" fmla="*/ 0 h 1104900"/>
              <a:gd name="connsiteX0" fmla="*/ 137002 w 238602"/>
              <a:gd name="connsiteY0" fmla="*/ 1104900 h 1104900"/>
              <a:gd name="connsiteX1" fmla="*/ 92552 w 238602"/>
              <a:gd name="connsiteY1" fmla="*/ 587375 h 1104900"/>
              <a:gd name="connsiteX2" fmla="*/ 238602 w 238602"/>
              <a:gd name="connsiteY2" fmla="*/ 0 h 1104900"/>
              <a:gd name="connsiteX0" fmla="*/ 137002 w 238602"/>
              <a:gd name="connsiteY0" fmla="*/ 1104900 h 1104900"/>
              <a:gd name="connsiteX1" fmla="*/ 92552 w 238602"/>
              <a:gd name="connsiteY1" fmla="*/ 587375 h 1104900"/>
              <a:gd name="connsiteX2" fmla="*/ 238602 w 238602"/>
              <a:gd name="connsiteY2" fmla="*/ 0 h 1104900"/>
              <a:gd name="connsiteX0" fmla="*/ 152806 w 219481"/>
              <a:gd name="connsiteY0" fmla="*/ 1114425 h 1114425"/>
              <a:gd name="connsiteX1" fmla="*/ 73431 w 219481"/>
              <a:gd name="connsiteY1" fmla="*/ 587375 h 1114425"/>
              <a:gd name="connsiteX2" fmla="*/ 219481 w 219481"/>
              <a:gd name="connsiteY2" fmla="*/ 0 h 1114425"/>
              <a:gd name="connsiteX0" fmla="*/ 146734 w 213409"/>
              <a:gd name="connsiteY0" fmla="*/ 1114425 h 1114425"/>
              <a:gd name="connsiteX1" fmla="*/ 80059 w 213409"/>
              <a:gd name="connsiteY1" fmla="*/ 590550 h 1114425"/>
              <a:gd name="connsiteX2" fmla="*/ 213409 w 213409"/>
              <a:gd name="connsiteY2" fmla="*/ 0 h 1114425"/>
              <a:gd name="connsiteX0" fmla="*/ 0 w 66675"/>
              <a:gd name="connsiteY0" fmla="*/ 1114425 h 1114425"/>
              <a:gd name="connsiteX1" fmla="*/ 66675 w 66675"/>
              <a:gd name="connsiteY1" fmla="*/ 0 h 1114425"/>
              <a:gd name="connsiteX0" fmla="*/ 111618 w 178293"/>
              <a:gd name="connsiteY0" fmla="*/ 1114425 h 1114425"/>
              <a:gd name="connsiteX1" fmla="*/ 178293 w 178293"/>
              <a:gd name="connsiteY1" fmla="*/ 0 h 1114425"/>
              <a:gd name="connsiteX0" fmla="*/ 127378 w 194053"/>
              <a:gd name="connsiteY0" fmla="*/ 1114425 h 1114425"/>
              <a:gd name="connsiteX1" fmla="*/ 194053 w 194053"/>
              <a:gd name="connsiteY1" fmla="*/ 0 h 1114425"/>
              <a:gd name="connsiteX0" fmla="*/ 117195 w 225145"/>
              <a:gd name="connsiteY0" fmla="*/ 1114425 h 1114425"/>
              <a:gd name="connsiteX1" fmla="*/ 225145 w 225145"/>
              <a:gd name="connsiteY1" fmla="*/ 0 h 1114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5145" h="1114425">
                <a:moveTo>
                  <a:pt x="117195" y="1114425"/>
                </a:moveTo>
                <a:cubicBezTo>
                  <a:pt x="-159030" y="942975"/>
                  <a:pt x="126720" y="323850"/>
                  <a:pt x="225145" y="0"/>
                </a:cubicBezTo>
              </a:path>
            </a:pathLst>
          </a:custGeom>
          <a:noFill/>
          <a:ln w="38100">
            <a:solidFill>
              <a:schemeClr val="accent4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C3777DE-A6DC-42B4-BAFA-34EBFB6AFD5E}"/>
              </a:ext>
            </a:extLst>
          </p:cNvPr>
          <p:cNvSpPr/>
          <p:nvPr/>
        </p:nvSpPr>
        <p:spPr>
          <a:xfrm>
            <a:off x="5504398" y="3796445"/>
            <a:ext cx="288000" cy="2880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67EFAFE-25C9-4CDA-A69E-73A1F441D5C7}"/>
              </a:ext>
            </a:extLst>
          </p:cNvPr>
          <p:cNvSpPr txBox="1"/>
          <p:nvPr/>
        </p:nvSpPr>
        <p:spPr>
          <a:xfrm>
            <a:off x="8995053" y="4889621"/>
            <a:ext cx="2112978" cy="52322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b="1" i="1" dirty="0">
                <a:solidFill>
                  <a:schemeClr val="accent1"/>
                </a:solidFill>
              </a:rPr>
              <a:t>There are still many uncertainties</a:t>
            </a:r>
          </a:p>
        </p:txBody>
      </p:sp>
    </p:spTree>
    <p:extLst>
      <p:ext uri="{BB962C8B-B14F-4D97-AF65-F5344CB8AC3E}">
        <p14:creationId xmlns:p14="http://schemas.microsoft.com/office/powerpoint/2010/main" val="92122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  <p:bldP spid="19" grpId="0"/>
      <p:bldP spid="28" grpId="0"/>
      <p:bldP spid="33" grpId="0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3CF28-E2BC-4541-8249-33B13CEE3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Crustal contamination in the Tertiary North Atlantic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9DABC-5448-4CB3-93C3-746C1F4EA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7D69B7-4FA0-4099-AA46-722B5A1CE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2B7AA1-81A9-4466-9814-2E77FB64E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38</a:t>
            </a:fld>
            <a:endParaRPr lang="en-GB"/>
          </a:p>
        </p:txBody>
      </p:sp>
      <p:pic>
        <p:nvPicPr>
          <p:cNvPr id="21" name="Content Placeholder 20" descr="Map&#10;&#10;Description automatically generated">
            <a:extLst>
              <a:ext uri="{FF2B5EF4-FFF2-40B4-BE49-F238E27FC236}">
                <a16:creationId xmlns:a16="http://schemas.microsoft.com/office/drawing/2014/main" id="{C244DB3C-9740-41A0-8525-0B6F92005CF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050" y="1899055"/>
            <a:ext cx="2952750" cy="4275958"/>
          </a:xfrm>
        </p:spPr>
      </p:pic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A0C9F1CE-8704-45E7-B481-1C89E6E8D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048125" cy="4351338"/>
          </a:xfrm>
        </p:spPr>
        <p:txBody>
          <a:bodyPr/>
          <a:lstStyle/>
          <a:p>
            <a:r>
              <a:rPr lang="en-GB" dirty="0"/>
              <a:t>The opening of the North Atlantic at ~60 Ma was associated with extensive magmatism and volcanism</a:t>
            </a:r>
          </a:p>
          <a:p>
            <a:r>
              <a:rPr lang="en-GB" dirty="0"/>
              <a:t>Basalts from the proto-Iceland plume erupted through </a:t>
            </a:r>
            <a:r>
              <a:rPr lang="en-GB" dirty="0">
                <a:solidFill>
                  <a:schemeClr val="accent1"/>
                </a:solidFill>
              </a:rPr>
              <a:t>Continental Crust</a:t>
            </a:r>
          </a:p>
        </p:txBody>
      </p:sp>
      <p:pic>
        <p:nvPicPr>
          <p:cNvPr id="23" name="Picture 22" descr="Map&#10;&#10;Description automatically generated">
            <a:extLst>
              <a:ext uri="{FF2B5EF4-FFF2-40B4-BE49-F238E27FC236}">
                <a16:creationId xmlns:a16="http://schemas.microsoft.com/office/drawing/2014/main" id="{7AF956B6-05A7-4C0B-9F06-C07926F0C4E2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6325" y="1899055"/>
            <a:ext cx="3372418" cy="4277909"/>
          </a:xfrm>
          <a:prstGeom prst="rect">
            <a:avLst/>
          </a:prstGeom>
        </p:spPr>
      </p:pic>
      <p:pic>
        <p:nvPicPr>
          <p:cNvPr id="25" name="Picture 24" descr="A picture containing mountain, nature, valley, outdoor&#10;&#10;Description automatically generated">
            <a:extLst>
              <a:ext uri="{FF2B5EF4-FFF2-40B4-BE49-F238E27FC236}">
                <a16:creationId xmlns:a16="http://schemas.microsoft.com/office/drawing/2014/main" id="{EBC2807F-D750-48C1-9C0C-5328F7345090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437" y="4398600"/>
            <a:ext cx="2616219" cy="177641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E9E29EB-7D12-4B2A-8815-4EB72BE74B4D}"/>
              </a:ext>
            </a:extLst>
          </p:cNvPr>
          <p:cNvSpPr txBox="1"/>
          <p:nvPr/>
        </p:nvSpPr>
        <p:spPr>
          <a:xfrm>
            <a:off x="9728699" y="1564501"/>
            <a:ext cx="17107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err="1">
                <a:solidFill>
                  <a:schemeClr val="accent3"/>
                </a:solidFill>
              </a:rPr>
              <a:t>Emeleus</a:t>
            </a:r>
            <a:r>
              <a:rPr lang="en-GB" sz="1200" dirty="0">
                <a:solidFill>
                  <a:schemeClr val="accent3"/>
                </a:solidFill>
              </a:rPr>
              <a:t> &amp; Bell (2005)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6DC8CAE-209C-4D81-B013-892641BB725D}"/>
              </a:ext>
            </a:extLst>
          </p:cNvPr>
          <p:cNvSpPr/>
          <p:nvPr/>
        </p:nvSpPr>
        <p:spPr>
          <a:xfrm>
            <a:off x="9728699" y="3385050"/>
            <a:ext cx="288000" cy="288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3A86116-7B6D-43A7-A329-50055D033C9B}"/>
              </a:ext>
            </a:extLst>
          </p:cNvPr>
          <p:cNvSpPr/>
          <p:nvPr/>
        </p:nvSpPr>
        <p:spPr>
          <a:xfrm>
            <a:off x="1581537" y="4434750"/>
            <a:ext cx="288000" cy="288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9956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uiExpand="1" build="p"/>
      <p:bldP spid="27" grpId="0"/>
      <p:bldP spid="28" grpId="0" animBg="1"/>
      <p:bldP spid="2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E97BC-4306-4211-A2D9-6FD75DA08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Different styles of contamination in different places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04A1B-29E0-4F24-BF8D-4AB9E0291E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385811" cy="4530725"/>
          </a:xfrm>
        </p:spPr>
        <p:txBody>
          <a:bodyPr>
            <a:normAutofit/>
          </a:bodyPr>
          <a:lstStyle/>
          <a:p>
            <a:r>
              <a:rPr lang="en-GB" dirty="0"/>
              <a:t>The most depleted lavas from the Scottish Tertiary are broadly similar to </a:t>
            </a:r>
            <a:r>
              <a:rPr lang="en-GB" dirty="0">
                <a:solidFill>
                  <a:schemeClr val="accent3"/>
                </a:solidFill>
              </a:rPr>
              <a:t>mid-ocean ridge basalts</a:t>
            </a:r>
            <a:r>
              <a:rPr lang="en-GB" dirty="0"/>
              <a:t>, but...</a:t>
            </a:r>
          </a:p>
          <a:p>
            <a:r>
              <a:rPr lang="en-GB" dirty="0"/>
              <a:t>Lavas from Skye trend to low </a:t>
            </a:r>
            <a:r>
              <a:rPr lang="en-GB" baseline="30000" dirty="0"/>
              <a:t>143</a:t>
            </a:r>
            <a:r>
              <a:rPr lang="en-GB" dirty="0"/>
              <a:t>Nd/</a:t>
            </a:r>
            <a:r>
              <a:rPr lang="en-GB" baseline="30000" dirty="0"/>
              <a:t>144</a:t>
            </a:r>
            <a:r>
              <a:rPr lang="en-GB" dirty="0"/>
              <a:t>Nd and low </a:t>
            </a:r>
            <a:r>
              <a:rPr lang="en-GB" baseline="30000" dirty="0"/>
              <a:t>87</a:t>
            </a:r>
            <a:r>
              <a:rPr lang="en-GB" dirty="0"/>
              <a:t>Sr/</a:t>
            </a:r>
            <a:r>
              <a:rPr lang="en-GB" baseline="30000" dirty="0"/>
              <a:t>86</a:t>
            </a:r>
            <a:r>
              <a:rPr lang="en-GB" dirty="0"/>
              <a:t>Sr, consistent with contamination from the </a:t>
            </a:r>
            <a:r>
              <a:rPr lang="en-GB" dirty="0">
                <a:solidFill>
                  <a:schemeClr val="accent1"/>
                </a:solidFill>
              </a:rPr>
              <a:t>Lower Continental Crust</a:t>
            </a:r>
          </a:p>
          <a:p>
            <a:r>
              <a:rPr lang="en-GB" dirty="0"/>
              <a:t>Igneous rocks from Rum have low </a:t>
            </a:r>
            <a:r>
              <a:rPr lang="en-GB" baseline="30000" dirty="0"/>
              <a:t>143</a:t>
            </a:r>
            <a:r>
              <a:rPr lang="en-GB" dirty="0"/>
              <a:t>Nd/</a:t>
            </a:r>
            <a:r>
              <a:rPr lang="en-GB" baseline="30000" dirty="0"/>
              <a:t>144</a:t>
            </a:r>
            <a:r>
              <a:rPr lang="en-GB" dirty="0"/>
              <a:t>Nd but high </a:t>
            </a:r>
            <a:r>
              <a:rPr lang="en-GB" baseline="30000" dirty="0"/>
              <a:t>87</a:t>
            </a:r>
            <a:r>
              <a:rPr lang="en-GB" dirty="0"/>
              <a:t>Sr/</a:t>
            </a:r>
            <a:r>
              <a:rPr lang="en-GB" baseline="30000" dirty="0"/>
              <a:t>86</a:t>
            </a:r>
            <a:r>
              <a:rPr lang="en-GB" dirty="0"/>
              <a:t>Sr consistent with contamination from the </a:t>
            </a:r>
            <a:r>
              <a:rPr lang="en-GB" dirty="0">
                <a:solidFill>
                  <a:schemeClr val="accent2"/>
                </a:solidFill>
              </a:rPr>
              <a:t>Upper Continental Crust</a:t>
            </a:r>
          </a:p>
          <a:p>
            <a:r>
              <a:rPr lang="en-GB" dirty="0"/>
              <a:t>Different magma plumbing systems?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D2C1DD4-AA41-4546-8A5F-AC52E9ECD85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4011" y="1873785"/>
            <a:ext cx="5077978" cy="4255017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56086-B68F-4630-9432-A7A809429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55C71-A5A5-4F58-9046-58C7EA57B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397D44-F570-46E2-9F15-E3C608513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39</a:t>
            </a:fld>
            <a:endParaRPr lang="en-GB"/>
          </a:p>
        </p:txBody>
      </p:sp>
      <p:pic>
        <p:nvPicPr>
          <p:cNvPr id="11" name="Picture 10" descr="A picture containing text, seat, chair&#10;&#10;Description automatically generated">
            <a:extLst>
              <a:ext uri="{FF2B5EF4-FFF2-40B4-BE49-F238E27FC236}">
                <a16:creationId xmlns:a16="http://schemas.microsoft.com/office/drawing/2014/main" id="{AAC33090-4D2F-4DC6-A0BB-4F9EE482C2D3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046" y="2886075"/>
            <a:ext cx="1260061" cy="1743075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DCBD94E8-36FB-45DE-9EE4-BF8654489B4E}"/>
              </a:ext>
            </a:extLst>
          </p:cNvPr>
          <p:cNvSpPr/>
          <p:nvPr/>
        </p:nvSpPr>
        <p:spPr>
          <a:xfrm>
            <a:off x="9343076" y="3898569"/>
            <a:ext cx="288000" cy="288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99DF89D-A4F9-4ADB-998B-97EAA2E165D4}"/>
              </a:ext>
            </a:extLst>
          </p:cNvPr>
          <p:cNvSpPr/>
          <p:nvPr/>
        </p:nvSpPr>
        <p:spPr>
          <a:xfrm>
            <a:off x="9487076" y="3248322"/>
            <a:ext cx="288000" cy="288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48B668-8808-4A7D-A86A-B182F5828330}"/>
              </a:ext>
            </a:extLst>
          </p:cNvPr>
          <p:cNvSpPr/>
          <p:nvPr/>
        </p:nvSpPr>
        <p:spPr>
          <a:xfrm>
            <a:off x="8072843" y="3592317"/>
            <a:ext cx="842558" cy="40818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BFAF59-3A92-428F-9541-1DDFCB2AB7AA}"/>
              </a:ext>
            </a:extLst>
          </p:cNvPr>
          <p:cNvSpPr/>
          <p:nvPr/>
        </p:nvSpPr>
        <p:spPr>
          <a:xfrm>
            <a:off x="8676353" y="2647173"/>
            <a:ext cx="1744774" cy="25025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/>
          <p:cNvSpPr/>
          <p:nvPr/>
        </p:nvSpPr>
        <p:spPr>
          <a:xfrm>
            <a:off x="9130553" y="4831976"/>
            <a:ext cx="1685365" cy="4168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7413317" y="4868052"/>
            <a:ext cx="1685365" cy="4168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8583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animBg="1"/>
      <p:bldP spid="13" grpId="0" animBg="1"/>
      <p:bldP spid="14" grpId="0" animBg="1"/>
      <p:bldP spid="15" grpId="0" animBg="1"/>
      <p:bldP spid="4" grpId="0" animBg="1"/>
      <p:bldP spid="1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68EB5-9BE1-4F73-884A-B823D9119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Tracking changes in mantle source beneath Hawaii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8FDAB15A-B9E7-4C0B-BC80-9A78BFF03EB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24011" y="1835685"/>
            <a:ext cx="5077978" cy="4331217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D93B9-DE95-4483-A361-9AC1FF960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F9A8C-EB18-49CB-A8C4-773C98403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72664-05DA-473E-B861-FFDB95135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40</a:t>
            </a:fld>
            <a:endParaRPr lang="en-GB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ACC6E01-75D1-4377-9831-54D9C44C9C2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Compositions of lavas erupted on Hawaiian islands change with time</a:t>
            </a:r>
          </a:p>
          <a:p>
            <a:r>
              <a:rPr lang="en-GB" dirty="0"/>
              <a:t>Lavas erupted early and late in a volcano’s lifecycle (</a:t>
            </a:r>
            <a:r>
              <a:rPr lang="en-GB" dirty="0">
                <a:solidFill>
                  <a:schemeClr val="accent2"/>
                </a:solidFill>
              </a:rPr>
              <a:t>Alkalic Pre- and Post-Shield</a:t>
            </a:r>
            <a:r>
              <a:rPr lang="en-GB" dirty="0"/>
              <a:t>) are relatively depleted</a:t>
            </a:r>
          </a:p>
          <a:p>
            <a:r>
              <a:rPr lang="en-GB" dirty="0"/>
              <a:t>Lavas from the main phase of volcano growth (</a:t>
            </a:r>
            <a:r>
              <a:rPr lang="en-GB" dirty="0">
                <a:solidFill>
                  <a:schemeClr val="accent1"/>
                </a:solidFill>
              </a:rPr>
              <a:t>Tholeiitic Shield</a:t>
            </a:r>
            <a:r>
              <a:rPr lang="en-GB" dirty="0"/>
              <a:t>) are more enriched and closer to </a:t>
            </a:r>
            <a:r>
              <a:rPr lang="en-GB" dirty="0">
                <a:solidFill>
                  <a:schemeClr val="accent4"/>
                </a:solidFill>
              </a:rPr>
              <a:t>Bulk Silicate Earth</a:t>
            </a:r>
            <a:r>
              <a:rPr lang="en-GB" dirty="0"/>
              <a:t> (mantle plume)</a:t>
            </a:r>
          </a:p>
        </p:txBody>
      </p:sp>
      <p:pic>
        <p:nvPicPr>
          <p:cNvPr id="16" name="Picture 15" descr="A picture containing sky, outdoor, mountain, nature&#10;&#10;Description automatically generated">
            <a:extLst>
              <a:ext uri="{FF2B5EF4-FFF2-40B4-BE49-F238E27FC236}">
                <a16:creationId xmlns:a16="http://schemas.microsoft.com/office/drawing/2014/main" id="{60756390-9331-456A-925C-4E83098518F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663" b="35070"/>
          <a:stretch/>
        </p:blipFill>
        <p:spPr>
          <a:xfrm>
            <a:off x="838200" y="5329119"/>
            <a:ext cx="5181600" cy="83778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B9D4E7F-C637-444F-AF02-B055137AF53D}"/>
              </a:ext>
            </a:extLst>
          </p:cNvPr>
          <p:cNvSpPr txBox="1"/>
          <p:nvPr/>
        </p:nvSpPr>
        <p:spPr>
          <a:xfrm>
            <a:off x="4804403" y="5889903"/>
            <a:ext cx="12153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chemeClr val="accent3"/>
                </a:solidFill>
              </a:rPr>
              <a:t>credit: Nula666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E2FFB1B-599C-4D2A-B695-B793DC7BDC22}"/>
              </a:ext>
            </a:extLst>
          </p:cNvPr>
          <p:cNvSpPr/>
          <p:nvPr/>
        </p:nvSpPr>
        <p:spPr>
          <a:xfrm>
            <a:off x="3401400" y="5587260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7FC0C21-809E-48EA-8D1D-D5B32C4BBFC3}"/>
              </a:ext>
            </a:extLst>
          </p:cNvPr>
          <p:cNvSpPr/>
          <p:nvPr/>
        </p:nvSpPr>
        <p:spPr>
          <a:xfrm>
            <a:off x="1605338" y="5538695"/>
            <a:ext cx="180000" cy="180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5CAD1AB-01C1-4CFC-9643-5E6674AE8FE4}"/>
              </a:ext>
            </a:extLst>
          </p:cNvPr>
          <p:cNvCxnSpPr>
            <a:cxnSpLocks/>
          </p:cNvCxnSpPr>
          <p:nvPr/>
        </p:nvCxnSpPr>
        <p:spPr>
          <a:xfrm flipV="1">
            <a:off x="1809549" y="5486400"/>
            <a:ext cx="1460269" cy="12308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DAAC00F-6BE0-4957-B9D2-57B5DE1ABB53}"/>
              </a:ext>
            </a:extLst>
          </p:cNvPr>
          <p:cNvCxnSpPr>
            <a:cxnSpLocks/>
          </p:cNvCxnSpPr>
          <p:nvPr/>
        </p:nvCxnSpPr>
        <p:spPr>
          <a:xfrm>
            <a:off x="1809549" y="5677260"/>
            <a:ext cx="1704428" cy="36448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E7E03297-1E4B-4171-8BA2-781ACC43ECD2}"/>
              </a:ext>
            </a:extLst>
          </p:cNvPr>
          <p:cNvSpPr/>
          <p:nvPr/>
        </p:nvSpPr>
        <p:spPr>
          <a:xfrm>
            <a:off x="9605612" y="3590223"/>
            <a:ext cx="1241659" cy="250257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F0F4BCE-4125-4606-9062-D7F383886567}"/>
              </a:ext>
            </a:extLst>
          </p:cNvPr>
          <p:cNvSpPr/>
          <p:nvPr/>
        </p:nvSpPr>
        <p:spPr>
          <a:xfrm>
            <a:off x="8919812" y="2971098"/>
            <a:ext cx="2014888" cy="25025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9832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 animBg="1"/>
      <p:bldP spid="19" grpId="0" animBg="1"/>
      <p:bldP spid="29" grpId="0" animBg="1"/>
      <p:bldP spid="3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68EB5-9BE1-4F73-884A-B823D9119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Magmas compositions controlled by plate tectonics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8FDAB15A-B9E7-4C0B-BC80-9A78BFF03EB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24011" y="1835685"/>
            <a:ext cx="5077978" cy="4331217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D93B9-DE95-4483-A361-9AC1FF960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F9A8C-EB18-49CB-A8C4-773C98403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72664-05DA-473E-B861-FFDB95135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41</a:t>
            </a:fld>
            <a:endParaRPr lang="en-GB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ACC6E01-75D1-4377-9831-54D9C44C9C2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Compositions mainly reflect the movement of the Pacific Plate over the underlying mantle plume</a:t>
            </a:r>
          </a:p>
          <a:p>
            <a:r>
              <a:rPr lang="en-GB" dirty="0"/>
              <a:t>The mantle is also </a:t>
            </a:r>
            <a:r>
              <a:rPr lang="en-GB" dirty="0">
                <a:solidFill>
                  <a:schemeClr val="accent1"/>
                </a:solidFill>
              </a:rPr>
              <a:t>hetero</a:t>
            </a:r>
            <a:r>
              <a:rPr lang="en-GB" dirty="0">
                <a:solidFill>
                  <a:schemeClr val="accent4"/>
                </a:solidFill>
              </a:rPr>
              <a:t>geneous</a:t>
            </a:r>
          </a:p>
          <a:p>
            <a:endParaRPr lang="en-GB" dirty="0"/>
          </a:p>
        </p:txBody>
      </p: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78B0977F-7E5B-4B1A-91BF-1598724993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429000"/>
            <a:ext cx="5169419" cy="2642621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899B375-D680-4CA6-BF00-668AFEECDE6B}"/>
              </a:ext>
            </a:extLst>
          </p:cNvPr>
          <p:cNvSpPr/>
          <p:nvPr/>
        </p:nvSpPr>
        <p:spPr>
          <a:xfrm>
            <a:off x="9605612" y="3590223"/>
            <a:ext cx="1241659" cy="250257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787DD48-0E81-4910-8314-1BD2617DE0F3}"/>
              </a:ext>
            </a:extLst>
          </p:cNvPr>
          <p:cNvSpPr/>
          <p:nvPr/>
        </p:nvSpPr>
        <p:spPr>
          <a:xfrm>
            <a:off x="7548212" y="4866573"/>
            <a:ext cx="1691038" cy="250257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084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  <p:bldP spid="24" grpId="0" animBg="1"/>
      <p:bldP spid="2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UoM_Teaching">
      <a:dk1>
        <a:sysClr val="windowText" lastClr="000000"/>
      </a:dk1>
      <a:lt1>
        <a:sysClr val="window" lastClr="FFFFFF"/>
      </a:lt1>
      <a:dk2>
        <a:srgbClr val="660099"/>
      </a:dk2>
      <a:lt2>
        <a:srgbClr val="FFCC33"/>
      </a:lt2>
      <a:accent1>
        <a:srgbClr val="660099"/>
      </a:accent1>
      <a:accent2>
        <a:srgbClr val="FFCC33"/>
      </a:accent2>
      <a:accent3>
        <a:srgbClr val="999999"/>
      </a:accent3>
      <a:accent4>
        <a:srgbClr val="B728FE"/>
      </a:accent4>
      <a:accent5>
        <a:srgbClr val="FFE084"/>
      </a:accent5>
      <a:accent6>
        <a:srgbClr val="C1C1C1"/>
      </a:accent6>
      <a:hlink>
        <a:srgbClr val="999999"/>
      </a:hlink>
      <a:folHlink>
        <a:srgbClr val="99999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1900</TotalTime>
  <Words>3322</Words>
  <Application>Microsoft Office PowerPoint</Application>
  <PresentationFormat>Widescreen</PresentationFormat>
  <Paragraphs>438</Paragraphs>
  <Slides>41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Arial</vt:lpstr>
      <vt:lpstr>Calibri</vt:lpstr>
      <vt:lpstr>Cambria Math</vt:lpstr>
      <vt:lpstr>Office Theme</vt:lpstr>
      <vt:lpstr>The age and provenance of rocks: radiogenic isotopes</vt:lpstr>
      <vt:lpstr>Elements and isotopes</vt:lpstr>
      <vt:lpstr>Stability and radioactive decay</vt:lpstr>
      <vt:lpstr>The power of radiogenic isotopes: rock ages</vt:lpstr>
      <vt:lpstr>The power of radiogenic isotopes: rock provenance</vt:lpstr>
      <vt:lpstr>Lecture 2 synopsis</vt:lpstr>
      <vt:lpstr>The age and provenance of rocks: radiogenic isotopes</vt:lpstr>
      <vt:lpstr>Nuclear structure and stability</vt:lpstr>
      <vt:lpstr>Radioactive decay</vt:lpstr>
      <vt:lpstr>Mechanisms of radioactive decay</vt:lpstr>
      <vt:lpstr>Decay constants and half-lives</vt:lpstr>
      <vt:lpstr>Parents, daughters and decay constants</vt:lpstr>
      <vt:lpstr>Radioactive decay in a geological context</vt:lpstr>
      <vt:lpstr>Key decay systems of geochemical interest</vt:lpstr>
      <vt:lpstr>The age and provenance of rocks: radiogenic isotopes</vt:lpstr>
      <vt:lpstr>Geochronology</vt:lpstr>
      <vt:lpstr>What is a system?</vt:lpstr>
      <vt:lpstr>Isochron diagrams</vt:lpstr>
      <vt:lpstr>Isochron diagram assumptions</vt:lpstr>
      <vt:lpstr>Constructing and interpreting isochron diagrams</vt:lpstr>
      <vt:lpstr>Constructing and interpreting isochron diagrams</vt:lpstr>
      <vt:lpstr>Generic isochron diagram for Rb-Sr system</vt:lpstr>
      <vt:lpstr>Dating the formation of early planetesimal crusts</vt:lpstr>
      <vt:lpstr>Dating the formation of impacts and ore deposits</vt:lpstr>
      <vt:lpstr>The age and provenance of rocks: radiogenic isotopes</vt:lpstr>
      <vt:lpstr>Radiogenic isotopes record past geochemical events</vt:lpstr>
      <vt:lpstr>The Sr isotope evolution of the crust and mantle </vt:lpstr>
      <vt:lpstr>How the Sr isotope evolution diagram works</vt:lpstr>
      <vt:lpstr>What the Sr isotope evolution diagram shows</vt:lpstr>
      <vt:lpstr>What the Sr isotope evolution diagram shows</vt:lpstr>
      <vt:lpstr>Rb-Sr versus Sm-Nd systems</vt:lpstr>
      <vt:lpstr>The Nd isotope evolution of the crust and mantle </vt:lpstr>
      <vt:lpstr>The age and provenance of rocks: radiogenic isotopes</vt:lpstr>
      <vt:lpstr>Passive tracers</vt:lpstr>
      <vt:lpstr>Sr isotopes as passive tracers</vt:lpstr>
      <vt:lpstr>The mantle array: summarising Sr and Nd isotopes</vt:lpstr>
      <vt:lpstr>Subduction recycling and ocean island basalts </vt:lpstr>
      <vt:lpstr>Crustal contamination in the Tertiary North Atlantic </vt:lpstr>
      <vt:lpstr>Different styles of contamination in different places</vt:lpstr>
      <vt:lpstr>Tracking changes in mantle source beneath Hawaii</vt:lpstr>
      <vt:lpstr>Magmas compositions controlled by plate tectonics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Neave</dc:creator>
  <cp:lastModifiedBy>Romain Tartese</cp:lastModifiedBy>
  <cp:revision>233</cp:revision>
  <dcterms:created xsi:type="dcterms:W3CDTF">2020-07-29T10:27:56Z</dcterms:created>
  <dcterms:modified xsi:type="dcterms:W3CDTF">2025-10-06T07:50:19Z</dcterms:modified>
</cp:coreProperties>
</file>