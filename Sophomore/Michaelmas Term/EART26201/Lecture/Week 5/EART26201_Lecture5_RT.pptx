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1" autoAdjust="0"/>
    <p:restoredTop sz="92949" autoAdjust="0"/>
  </p:normalViewPr>
  <p:slideViewPr>
    <p:cSldViewPr snapToGrid="0">
      <p:cViewPr varScale="1">
        <p:scale>
          <a:sx n="103" d="100"/>
          <a:sy n="103" d="100"/>
        </p:scale>
        <p:origin x="30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953AF-DF34-41AB-87A3-F900B0DA0FC7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73A3FC-9EFF-4235-97DD-25083E8D10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583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227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863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581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862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303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701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297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035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444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804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A3FC-9EFF-4235-97DD-25083E8D1028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282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EB6B-C512-49C0-9CAD-276284DCA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B2130-D659-4086-A5E7-3AEF8B9FE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1113E-79F7-4222-9DEA-3399CE8E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7D4B2-768D-42AB-B96C-ADC0935B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000" y="6356350"/>
            <a:ext cx="4320000" cy="365125"/>
          </a:xfrm>
        </p:spPr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544E5-283B-497C-A17F-C5391119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26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44D7-5AE2-41B0-B945-E0FECB667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D1EA-A4A2-466D-B767-7370ABE81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6DFC4-0CDF-499C-B418-8927AA7AC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B0986-6916-4257-AC63-570EB60B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95634-03D4-4B80-8752-BEC3863C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29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5007B-207F-41C8-AD48-8936F46D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FFBCD-2955-4AEB-9992-D31726423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DD235-57F7-4DF5-A618-53498FAE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D12B6-0CAE-4442-BB78-79F3BF66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F6BF4-1B6C-4A06-947A-FCF11168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47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F338-9494-47F6-9CEE-A923AD708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69605-CD76-408F-96F4-EA27EC69C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9F475-DB77-4C29-99B4-4C4C64BC8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2455F-10BA-427D-8547-8C5F5617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C4AF3-05D4-4B43-9A59-60C5E1AD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EART26201 | Principles of Geochemistry | Lecture 1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008A9-97D5-40C4-A96B-CEF65CF1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78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F20F-10A8-48E6-80DB-7B010E2B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576000" cy="13255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D2251-873A-4A2D-A182-4E34AA341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14E8C-305B-4B34-8E66-A4F27CB03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E0F9B-6195-46E1-9CF4-416107D16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4E796-701E-4320-A231-AEF835AE1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CF397-B797-4A96-995C-78DE1992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2B863-2E74-460E-8183-92C86265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3FDD3A-C152-47DF-8127-598C7C5C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70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AABF-A0CD-4179-9FE9-90F93136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A6627-BDA2-45CE-8E54-D36CA5DA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16E08-C137-465F-B57D-E9D94150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8A738-D179-41F0-A7D7-8A450A3A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06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F2D7E-443F-4ADA-91DF-33246ADB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3AFB4-9718-41E1-B211-5F80969F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F952D-E203-4F1B-9063-B98E9509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76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A30D7-E7C0-4BE7-827F-3FF29DD2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2A7E1-86B7-4951-A1FC-BDB39D0A7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FF350-FAD3-46DA-A9C4-EE5711265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5A263-81E2-4306-BDF4-B5C84BE8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EA232-7B9A-4C5F-BCC2-A18CBE4D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2B55D-FD4A-436A-AB1B-882DC557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450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62B7-ACB1-43AC-AA2C-9373A999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2F6B07-574D-4C0E-A925-45AA47BEC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C7EBD-0CE1-4E7F-8E35-2E0B7470B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C96AF-E8C1-4F52-AFFB-8DACD886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EB72B-8213-49B5-B39E-DECF9978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E4821-0C42-4BA9-9DD9-53387A36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6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FA19-4301-4438-9832-D4D27B00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8D55F-6FA4-4694-A0E6-014C8499A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E48DF-3ED2-4288-8906-6A091A87E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9EBF5-8347-40D6-8325-95E87E18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E5CE1-2E6D-484E-954B-2BFBE70E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12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29294-658A-4249-B526-A099D2AB0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C2D95-B9CF-41E2-A944-2553D8AFF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FBEB1-908E-4CEA-8F6C-1B7EFA96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C3054-6B2A-423D-83B9-B0F1A2980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A5E9B-95EC-4279-94DD-C781953F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64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D7403-4BF5-4671-ABC7-9B0F30D3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753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6F7F6-C35F-42F5-9686-7FB1BA713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46F8-F24C-44E3-B06F-D7FD88AB0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October 2020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8A35A-47F9-4349-A154-804ADAFED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6000" y="6356350"/>
            <a:ext cx="432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EART26201 | Principles of Geochemistry | Lecture 2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7A1A-0F11-4CD9-86CE-E1686C26D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C7AC6-D8A2-4BCF-8417-B674C50441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64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20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39.png"/><Relationship Id="rId4" Type="http://schemas.openxmlformats.org/officeDocument/2006/relationships/image" Target="../media/image38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jpeg"/><Relationship Id="rId5" Type="http://schemas.openxmlformats.org/officeDocument/2006/relationships/image" Target="../media/image53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E90D-CF6A-43C7-9314-A05F5311D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1122363"/>
            <a:ext cx="9372600" cy="2387600"/>
          </a:xfrm>
        </p:spPr>
        <p:txBody>
          <a:bodyPr/>
          <a:lstStyle/>
          <a:p>
            <a:r>
              <a:rPr lang="en-GB" dirty="0"/>
              <a:t>The pace of geochemical processes: kinetics and diffusion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A3D18-B3CE-4AF9-9F2C-E6BDFA8BB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5</a:t>
            </a:r>
          </a:p>
          <a:p>
            <a:r>
              <a:rPr lang="en-GB" dirty="0"/>
              <a:t>Part 1 | Introduction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0A6A-49C1-4287-9BB8-A85D3082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0D41-60E7-4ACB-9B2B-88486139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614C2-8618-4A1E-A193-645A6446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222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F98E42-53B8-4267-BFF6-C2A5D5C36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Thermodynamics versus kinetics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3A1BE9A-C9E6-4323-A04B-8B53B15902E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6901" y="1825625"/>
                <a:ext cx="5676899" cy="4351338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r>
                  <a:rPr lang="en-GB" dirty="0"/>
                  <a:t>Thermodynamics describes the equilibrium state of a system at a given set of conditions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Phase diagrams show the phase (or phase assemblage) with the lowest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dirty="0"/>
                  <a:t>:</a:t>
                </a:r>
              </a:p>
              <a:p>
                <a:pPr lvl="1"/>
                <a:r>
                  <a:rPr lang="en-GB" dirty="0">
                    <a:solidFill>
                      <a:schemeClr val="accent1"/>
                    </a:solidFill>
                  </a:rPr>
                  <a:t>Mantle melting		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)</a:t>
                </a:r>
              </a:p>
              <a:p>
                <a:pPr lvl="1"/>
                <a:r>
                  <a:rPr lang="en-GB" dirty="0">
                    <a:solidFill>
                      <a:schemeClr val="accent2"/>
                    </a:solidFill>
                  </a:rPr>
                  <a:t>Magma crystallisation	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>
                    <a:solidFill>
                      <a:schemeClr val="accent2"/>
                    </a:solidFill>
                  </a:rPr>
                  <a:t>)</a:t>
                </a:r>
              </a:p>
              <a:p>
                <a:pPr lvl="1"/>
                <a:r>
                  <a:rPr lang="en-GB" dirty="0">
                    <a:solidFill>
                      <a:schemeClr val="accent3"/>
                    </a:solidFill>
                  </a:rPr>
                  <a:t>Magma degassing	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GB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GB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dirty="0">
                    <a:solidFill>
                      <a:schemeClr val="accent3"/>
                    </a:solidFill>
                  </a:rPr>
                  <a:t>)</a:t>
                </a:r>
              </a:p>
              <a:p>
                <a:r>
                  <a:rPr lang="en-GB" dirty="0"/>
                  <a:t>Achieving equilibrium takes time</a:t>
                </a:r>
              </a:p>
              <a:p>
                <a:r>
                  <a:rPr lang="en-GB" dirty="0"/>
                  <a:t>Kinetics is the study of how fast equilibrium is attained</a:t>
                </a:r>
              </a:p>
              <a:p>
                <a:pPr marL="457200" lvl="1" indent="0">
                  <a:buNone/>
                </a:pPr>
                <a:endParaRPr lang="en-GB" dirty="0"/>
              </a:p>
              <a:p>
                <a:endParaRPr lang="en-GB" dirty="0">
                  <a:solidFill>
                    <a:schemeClr val="accent1"/>
                  </a:solidFill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3A1BE9A-C9E6-4323-A04B-8B53B15902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6901" y="1825625"/>
                <a:ext cx="5676899" cy="4351338"/>
              </a:xfrm>
              <a:blipFill>
                <a:blip r:embed="rId3"/>
                <a:stretch>
                  <a:fillRect l="-1395" t="-18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C9CC3-73CA-458B-9F52-3D67F2464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E6BC2-5D56-48F4-9577-59A96BF0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30F1A-FFE0-4CD5-8F68-D23F6C9D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</a:t>
            </a:fld>
            <a:endParaRPr lang="en-GB"/>
          </a:p>
        </p:txBody>
      </p:sp>
      <p:pic>
        <p:nvPicPr>
          <p:cNvPr id="10" name="Content Placeholder 37" descr="A picture containing chair&#10;&#10;Description automatically generated">
            <a:extLst>
              <a:ext uri="{FF2B5EF4-FFF2-40B4-BE49-F238E27FC236}">
                <a16:creationId xmlns:a16="http://schemas.microsoft.com/office/drawing/2014/main" id="{127137EF-3A30-4ACC-8336-D6704EFA0C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219" y="1825625"/>
            <a:ext cx="3145562" cy="435133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08CBB3A-988E-4FE3-906D-12E2009B2152}"/>
              </a:ext>
            </a:extLst>
          </p:cNvPr>
          <p:cNvSpPr/>
          <p:nvPr/>
        </p:nvSpPr>
        <p:spPr>
          <a:xfrm>
            <a:off x="4267200" y="55880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6DB754-D086-4BBD-B179-588A4E4F7297}"/>
              </a:ext>
            </a:extLst>
          </p:cNvPr>
          <p:cNvSpPr/>
          <p:nvPr/>
        </p:nvSpPr>
        <p:spPr>
          <a:xfrm>
            <a:off x="3758201" y="1840616"/>
            <a:ext cx="381000" cy="381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8053CA7-44F8-4D6E-BFC2-AC9529B40BDC}"/>
              </a:ext>
            </a:extLst>
          </p:cNvPr>
          <p:cNvSpPr/>
          <p:nvPr/>
        </p:nvSpPr>
        <p:spPr>
          <a:xfrm>
            <a:off x="3238500" y="3238500"/>
            <a:ext cx="381000" cy="381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853145B-F4DE-4E79-9B21-2C89E421F1AA}"/>
              </a:ext>
            </a:extLst>
          </p:cNvPr>
          <p:cNvSpPr/>
          <p:nvPr/>
        </p:nvSpPr>
        <p:spPr>
          <a:xfrm rot="14737221">
            <a:off x="3005465" y="4231201"/>
            <a:ext cx="1886473" cy="704526"/>
          </a:xfrm>
          <a:prstGeom prst="rightArrow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5FB8E9C-2DAF-44DC-A66A-3772CEF22D50}"/>
              </a:ext>
            </a:extLst>
          </p:cNvPr>
          <p:cNvSpPr/>
          <p:nvPr/>
        </p:nvSpPr>
        <p:spPr>
          <a:xfrm rot="17510932">
            <a:off x="3240697" y="2335895"/>
            <a:ext cx="833059" cy="704526"/>
          </a:xfrm>
          <a:prstGeom prst="rightArrow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2"/>
              </a:gs>
            </a:gsLst>
            <a:lin ang="10800000" scaled="1"/>
            <a:tileRect/>
          </a:gra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03F143-FF3E-4323-8ECB-6ECEDC106473}"/>
              </a:ext>
            </a:extLst>
          </p:cNvPr>
          <p:cNvSpPr txBox="1"/>
          <p:nvPr/>
        </p:nvSpPr>
        <p:spPr>
          <a:xfrm>
            <a:off x="10529502" y="4735864"/>
            <a:ext cx="1244195" cy="523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Pyroxenes in Lecture 4</a:t>
            </a:r>
          </a:p>
        </p:txBody>
      </p:sp>
    </p:spTree>
    <p:extLst>
      <p:ext uri="{BB962C8B-B14F-4D97-AF65-F5344CB8AC3E}">
        <p14:creationId xmlns:p14="http://schemas.microsoft.com/office/powerpoint/2010/main" val="110971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8" grpId="0" animBg="1"/>
      <p:bldP spid="2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EE62F-89C3-4CB9-A277-C7D6C658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Kinetics in geological systems: the rock record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8C0385-6ABD-4B9F-BA70-ADA01F6B6A0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GB" dirty="0"/>
                  <a:t>At equilibrium, </a:t>
                </a:r>
                <a:r>
                  <a:rPr lang="en-GB" b="1" dirty="0">
                    <a:solidFill>
                      <a:srgbClr val="92D050"/>
                    </a:solidFill>
                  </a:rPr>
                  <a:t>peridotites</a:t>
                </a:r>
                <a:r>
                  <a:rPr lang="en-GB" dirty="0"/>
                  <a:t> and </a:t>
                </a:r>
                <a:r>
                  <a:rPr lang="en-GB" b="1" dirty="0">
                    <a:solidFill>
                      <a:srgbClr val="0070C0"/>
                    </a:solidFill>
                  </a:rPr>
                  <a:t>blueschists</a:t>
                </a:r>
                <a:r>
                  <a:rPr lang="en-GB" dirty="0"/>
                  <a:t> contain clays, quartz and serpentine at surface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Rocks formed at high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are preserved because of kinetics:</a:t>
                </a:r>
              </a:p>
              <a:p>
                <a:pPr lvl="1"/>
                <a:r>
                  <a:rPr lang="en-GB" dirty="0"/>
                  <a:t>reaction rates depend on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GB" dirty="0"/>
                  <a:t>reaction rates depend on surface area</a:t>
                </a:r>
              </a:p>
              <a:p>
                <a:r>
                  <a:rPr lang="en-GB" dirty="0"/>
                  <a:t>Without kinetics there would be no igneous or metamorphic petrology!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8C0385-6ABD-4B9F-BA70-ADA01F6B6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647" t="-1821" r="-10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ACBD8-0D76-4230-821D-DC259937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7DFF4-9C2A-49D8-95A5-2B260F82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AF155-569B-4D91-B3A4-B23138B8F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</a:t>
            </a:fld>
            <a:endParaRPr lang="en-GB" dirty="0"/>
          </a:p>
        </p:txBody>
      </p:sp>
      <p:pic>
        <p:nvPicPr>
          <p:cNvPr id="33" name="Content Placeholder 32">
            <a:extLst>
              <a:ext uri="{FF2B5EF4-FFF2-40B4-BE49-F238E27FC236}">
                <a16:creationId xmlns:a16="http://schemas.microsoft.com/office/drawing/2014/main" id="{9D81DCAB-9770-4CC3-85F2-6B69265508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116997" y="1820603"/>
            <a:ext cx="4844970" cy="2646043"/>
          </a:xfr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7520BFC-2146-4EEF-B582-30CED095C2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20726" y="4596560"/>
            <a:ext cx="2041242" cy="1530931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2D424813-255A-49EF-8996-576A694C15F0}"/>
              </a:ext>
            </a:extLst>
          </p:cNvPr>
          <p:cNvSpPr/>
          <p:nvPr/>
        </p:nvSpPr>
        <p:spPr>
          <a:xfrm>
            <a:off x="3943876" y="4619101"/>
            <a:ext cx="360000" cy="360000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DE8F6B4-C045-424A-B193-B3D9CD606385}"/>
              </a:ext>
            </a:extLst>
          </p:cNvPr>
          <p:cNvSpPr/>
          <p:nvPr/>
        </p:nvSpPr>
        <p:spPr>
          <a:xfrm>
            <a:off x="2926622" y="3069000"/>
            <a:ext cx="360000" cy="360000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325A7A4-B95B-41F8-9C6E-33CF0C2E5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6997" y="4596560"/>
            <a:ext cx="2575150" cy="1530931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2DAA8DA3-6185-449F-9B13-D368867137D5}"/>
              </a:ext>
            </a:extLst>
          </p:cNvPr>
          <p:cNvSpPr/>
          <p:nvPr/>
        </p:nvSpPr>
        <p:spPr>
          <a:xfrm>
            <a:off x="1140147" y="4619711"/>
            <a:ext cx="360000" cy="360000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6261322-6964-4C8A-9F20-8D2A54249AB4}"/>
              </a:ext>
            </a:extLst>
          </p:cNvPr>
          <p:cNvSpPr/>
          <p:nvPr/>
        </p:nvSpPr>
        <p:spPr>
          <a:xfrm>
            <a:off x="2221724" y="3400392"/>
            <a:ext cx="360000" cy="360000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1A335B-6221-45AB-81B8-51158832A079}"/>
              </a:ext>
            </a:extLst>
          </p:cNvPr>
          <p:cNvSpPr txBox="1"/>
          <p:nvPr/>
        </p:nvSpPr>
        <p:spPr>
          <a:xfrm>
            <a:off x="1116996" y="1919547"/>
            <a:ext cx="163382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3"/>
                </a:solidFill>
              </a:rPr>
              <a:t>Mason et al. (2017)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2F8E1A-312C-4F85-BA43-C068D160D2B3}"/>
              </a:ext>
            </a:extLst>
          </p:cNvPr>
          <p:cNvGrpSpPr/>
          <p:nvPr/>
        </p:nvGrpSpPr>
        <p:grpSpPr>
          <a:xfrm>
            <a:off x="7393360" y="5335491"/>
            <a:ext cx="2747081" cy="792000"/>
            <a:chOff x="7464480" y="5335491"/>
            <a:chExt cx="2747081" cy="792000"/>
          </a:xfrm>
        </p:grpSpPr>
        <p:pic>
          <p:nvPicPr>
            <p:cNvPr id="15" name="Picture 14" descr="Icon&#10;&#10;Description automatically generated">
              <a:extLst>
                <a:ext uri="{FF2B5EF4-FFF2-40B4-BE49-F238E27FC236}">
                  <a16:creationId xmlns:a16="http://schemas.microsoft.com/office/drawing/2014/main" id="{4B531548-F80D-4A4A-8EBC-6A9376117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480" y="5335491"/>
              <a:ext cx="792000" cy="792000"/>
            </a:xfrm>
            <a:prstGeom prst="rect">
              <a:avLst/>
            </a:prstGeom>
          </p:spPr>
        </p:pic>
        <p:pic>
          <p:nvPicPr>
            <p:cNvPr id="16" name="Picture 15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E3D9A28C-F0A0-4549-BD69-951176450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021" y="5335491"/>
              <a:ext cx="792000" cy="792000"/>
            </a:xfrm>
            <a:prstGeom prst="rect">
              <a:avLst/>
            </a:prstGeom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8B6F43A-074A-4D86-B65A-FDD63DE8D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19561" y="5335491"/>
              <a:ext cx="792000" cy="7920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CF2CEA6-6D8E-4A91-B79B-1B5A5A650C21}"/>
              </a:ext>
            </a:extLst>
          </p:cNvPr>
          <p:cNvSpPr txBox="1"/>
          <p:nvPr/>
        </p:nvSpPr>
        <p:spPr>
          <a:xfrm>
            <a:off x="1236444" y="3775632"/>
            <a:ext cx="12490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Peridotite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EC206A-29AA-466E-843C-D185744B3073}"/>
              </a:ext>
            </a:extLst>
          </p:cNvPr>
          <p:cNvSpPr txBox="1"/>
          <p:nvPr/>
        </p:nvSpPr>
        <p:spPr>
          <a:xfrm>
            <a:off x="3309482" y="2884334"/>
            <a:ext cx="13516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Blueschist</a:t>
            </a:r>
          </a:p>
        </p:txBody>
      </p:sp>
    </p:spTree>
    <p:extLst>
      <p:ext uri="{BB962C8B-B14F-4D97-AF65-F5344CB8AC3E}">
        <p14:creationId xmlns:p14="http://schemas.microsoft.com/office/powerpoint/2010/main" val="361022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  <p:bldP spid="43" grpId="0" animBg="1"/>
      <p:bldP spid="45" grpId="0" animBg="1"/>
      <p:bldP spid="14" grpId="0" animBg="1"/>
      <p:bldP spid="8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20A4-CC36-485E-9EF0-0CDF6977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Kinetics in geological systems: timescales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5DA64-FD6F-4FBA-9C91-8C3A2EA94F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Kinetics allows us to determine the timescales of geological processes</a:t>
            </a:r>
          </a:p>
          <a:p>
            <a:r>
              <a:rPr lang="en-GB" dirty="0"/>
              <a:t>Partial attainment of equilibrium</a:t>
            </a:r>
          </a:p>
          <a:p>
            <a:r>
              <a:rPr lang="en-GB" dirty="0"/>
              <a:t>Timescales of magma mixing and transport before volcanic eruptions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3C80A-89F2-4554-8F95-10D689F05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00C74-77DD-499B-9E9E-1467E009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185E4-DD62-48B6-803E-F4705707C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4</a:t>
            </a:fld>
            <a:endParaRPr lang="en-GB"/>
          </a:p>
        </p:txBody>
      </p:sp>
      <p:pic>
        <p:nvPicPr>
          <p:cNvPr id="13" name="Content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4681AA97-F984-40F9-BA66-6BD8B7092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326" y="3806423"/>
            <a:ext cx="5181600" cy="2390860"/>
          </a:xfrm>
          <a:prstGeom prst="rect">
            <a:avLst/>
          </a:prstGeom>
        </p:spPr>
      </p:pic>
      <p:pic>
        <p:nvPicPr>
          <p:cNvPr id="14" name="Content Placeholder 37" descr="A picture containing chair&#10;&#10;Description automatically generated">
            <a:extLst>
              <a:ext uri="{FF2B5EF4-FFF2-40B4-BE49-F238E27FC236}">
                <a16:creationId xmlns:a16="http://schemas.microsoft.com/office/drawing/2014/main" id="{849BF24E-855C-4085-BE49-657405E0B9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219" y="1825625"/>
            <a:ext cx="3145562" cy="4351338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2F68A146-CD11-4E28-B84F-B65E05CDF379}"/>
              </a:ext>
            </a:extLst>
          </p:cNvPr>
          <p:cNvSpPr/>
          <p:nvPr/>
        </p:nvSpPr>
        <p:spPr>
          <a:xfrm>
            <a:off x="4267200" y="55880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A400C4-C88C-4FD9-AC3B-AC4B77A5B993}"/>
              </a:ext>
            </a:extLst>
          </p:cNvPr>
          <p:cNvSpPr/>
          <p:nvPr/>
        </p:nvSpPr>
        <p:spPr>
          <a:xfrm>
            <a:off x="3238500" y="3238500"/>
            <a:ext cx="381000" cy="381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8967D78-8E77-4FB3-AF95-29533262E275}"/>
              </a:ext>
            </a:extLst>
          </p:cNvPr>
          <p:cNvSpPr/>
          <p:nvPr/>
        </p:nvSpPr>
        <p:spPr>
          <a:xfrm rot="16200000">
            <a:off x="8609126" y="4621533"/>
            <a:ext cx="540000" cy="1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3D40C04-00B1-4A31-BF98-CB5BDCFF7126}"/>
              </a:ext>
            </a:extLst>
          </p:cNvPr>
          <p:cNvSpPr/>
          <p:nvPr/>
        </p:nvSpPr>
        <p:spPr>
          <a:xfrm rot="10800000">
            <a:off x="7141029" y="5259763"/>
            <a:ext cx="540000" cy="18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3050C6B6-4DD3-425B-A503-B649236A490C}"/>
              </a:ext>
            </a:extLst>
          </p:cNvPr>
          <p:cNvSpPr/>
          <p:nvPr/>
        </p:nvSpPr>
        <p:spPr>
          <a:xfrm rot="16200000">
            <a:off x="9959545" y="4946416"/>
            <a:ext cx="540000" cy="1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55845262-0862-490D-A39E-3CBF8B18757A}"/>
              </a:ext>
            </a:extLst>
          </p:cNvPr>
          <p:cNvSpPr/>
          <p:nvPr/>
        </p:nvSpPr>
        <p:spPr>
          <a:xfrm rot="10800000">
            <a:off x="10543869" y="4586415"/>
            <a:ext cx="540000" cy="18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DC91A33-2085-4C73-9E31-4C5C270A6697}"/>
              </a:ext>
            </a:extLst>
          </p:cNvPr>
          <p:cNvSpPr/>
          <p:nvPr/>
        </p:nvSpPr>
        <p:spPr>
          <a:xfrm rot="14737221">
            <a:off x="3005465" y="4231201"/>
            <a:ext cx="1886473" cy="704526"/>
          </a:xfrm>
          <a:prstGeom prst="rightArrow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9CDB4-03A4-464B-9498-8F930CDF0DEE}"/>
              </a:ext>
            </a:extLst>
          </p:cNvPr>
          <p:cNvSpPr txBox="1"/>
          <p:nvPr/>
        </p:nvSpPr>
        <p:spPr>
          <a:xfrm>
            <a:off x="9703398" y="5920284"/>
            <a:ext cx="1650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solidFill>
                  <a:schemeClr val="accent3"/>
                </a:solidFill>
              </a:rPr>
              <a:t>Kahl et al. (2015)</a:t>
            </a:r>
          </a:p>
        </p:txBody>
      </p:sp>
    </p:spTree>
    <p:extLst>
      <p:ext uri="{BB962C8B-B14F-4D97-AF65-F5344CB8AC3E}">
        <p14:creationId xmlns:p14="http://schemas.microsoft.com/office/powerpoint/2010/main" val="375869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5" grpId="0" animBg="1"/>
      <p:bldP spid="27" grpId="0" animBg="1"/>
      <p:bldP spid="29" grpId="0" animBg="1"/>
      <p:bldP spid="31" grpId="0" animBg="1"/>
      <p:bldP spid="17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AF29-55A1-44EA-9890-69CD43F2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29800" cy="1325563"/>
          </a:xfrm>
        </p:spPr>
        <p:txBody>
          <a:bodyPr/>
          <a:lstStyle/>
          <a:p>
            <a:r>
              <a:rPr lang="en-GB" dirty="0"/>
              <a:t>Kinetics in environmental systems: climate feedbacks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9CDB53-0B6E-4293-AB53-751E6333480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40500" y="1962722"/>
            <a:ext cx="5704840" cy="4024774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9A70CB8-C882-4E35-A7AC-219BD00F2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5340" y="1825625"/>
            <a:ext cx="4808460" cy="4351338"/>
          </a:xfrm>
        </p:spPr>
        <p:txBody>
          <a:bodyPr/>
          <a:lstStyle/>
          <a:p>
            <a:r>
              <a:rPr lang="en-GB" dirty="0"/>
              <a:t>Kinetics controls the flux of carbon between reservoirs</a:t>
            </a:r>
          </a:p>
          <a:p>
            <a:r>
              <a:rPr lang="en-GB" dirty="0"/>
              <a:t>The </a:t>
            </a:r>
            <a:r>
              <a:rPr lang="en-GB" i="1" dirty="0">
                <a:solidFill>
                  <a:schemeClr val="accent1"/>
                </a:solidFill>
              </a:rPr>
              <a:t>slow</a:t>
            </a:r>
            <a:r>
              <a:rPr lang="en-GB" dirty="0"/>
              <a:t> drawdown of carbon by silicate weathering with respect to the </a:t>
            </a:r>
            <a:r>
              <a:rPr lang="en-GB" i="1" dirty="0">
                <a:solidFill>
                  <a:schemeClr val="accent2"/>
                </a:solidFill>
              </a:rPr>
              <a:t>fast</a:t>
            </a:r>
            <a:r>
              <a:rPr lang="en-GB" dirty="0"/>
              <a:t> release of carbon by burning fossil fuels drives climate change</a:t>
            </a:r>
          </a:p>
          <a:p>
            <a:r>
              <a:rPr lang="en-GB" dirty="0"/>
              <a:t>Not our focus, but the principles discussed are widely applicable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5F3BB-347D-44E6-8ABE-AFF212B35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8A924-07E3-4AC3-A884-34A026E34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B3E0E-E73F-4623-8ACF-854B8E9F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5</a:t>
            </a:fld>
            <a:endParaRPr lang="en-GB"/>
          </a:p>
        </p:txBody>
      </p:sp>
      <p:pic>
        <p:nvPicPr>
          <p:cNvPr id="9" name="Picture 8" descr="A white circle with a green background&#10;&#10;Description automatically generated with medium confidence">
            <a:extLst>
              <a:ext uri="{FF2B5EF4-FFF2-40B4-BE49-F238E27FC236}">
                <a16:creationId xmlns:a16="http://schemas.microsoft.com/office/drawing/2014/main" id="{570D5AD5-6DEE-42B7-9F3E-8E4275F31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380" y="5225976"/>
            <a:ext cx="792000" cy="792000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766021BB-CB63-4F84-B9E7-15FB4F33551A}"/>
              </a:ext>
            </a:extLst>
          </p:cNvPr>
          <p:cNvSpPr/>
          <p:nvPr/>
        </p:nvSpPr>
        <p:spPr>
          <a:xfrm>
            <a:off x="4734560" y="2509520"/>
            <a:ext cx="294640" cy="7416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A3D80A3-91A2-4E97-A13D-62CFE31F0A0C}"/>
              </a:ext>
            </a:extLst>
          </p:cNvPr>
          <p:cNvSpPr/>
          <p:nvPr/>
        </p:nvSpPr>
        <p:spPr>
          <a:xfrm rot="16200000">
            <a:off x="4587240" y="4855137"/>
            <a:ext cx="294640" cy="74168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54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5A04A-66A0-43DD-9488-793A6DED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5 synopsis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62A71B-8991-494C-8169-CA91F01C7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Synchronous</a:t>
            </a:r>
          </a:p>
          <a:p>
            <a:pPr marL="0" indent="0">
              <a:buNone/>
            </a:pPr>
            <a:r>
              <a:rPr lang="en-GB" dirty="0"/>
              <a:t>Part 1 | Introduction</a:t>
            </a:r>
          </a:p>
          <a:p>
            <a:pPr marL="0" indent="0">
              <a:buNone/>
            </a:pPr>
            <a:r>
              <a:rPr lang="en-GB" dirty="0"/>
              <a:t>Part 2 | Rate equations and reaction orders</a:t>
            </a:r>
          </a:p>
          <a:p>
            <a:pPr marL="0" indent="0">
              <a:buNone/>
            </a:pPr>
            <a:r>
              <a:rPr lang="en-GB" dirty="0"/>
              <a:t>Part 3 | Temperature and Arrhenian relationships</a:t>
            </a:r>
          </a:p>
          <a:p>
            <a:pPr marL="0" indent="0">
              <a:buNone/>
            </a:pPr>
            <a:r>
              <a:rPr lang="en-GB" dirty="0"/>
              <a:t>Part 4 | Diffusion and Fick’s laws</a:t>
            </a:r>
          </a:p>
          <a:p>
            <a:pPr marL="0" indent="0">
              <a:buNone/>
            </a:pPr>
            <a:r>
              <a:rPr lang="en-GB" dirty="0"/>
              <a:t>Part 5 | Estimating the timescales of magmatic processes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Further reading | </a:t>
            </a:r>
            <a:r>
              <a:rPr lang="en-GB" dirty="0" err="1"/>
              <a:t>Misra</a:t>
            </a:r>
            <a:r>
              <a:rPr lang="en-GB" dirty="0"/>
              <a:t>, Chapter 9 (detailed and mathematical)</a:t>
            </a:r>
          </a:p>
          <a:p>
            <a:pPr marL="0" indent="0">
              <a:buNone/>
            </a:pPr>
            <a:r>
              <a:rPr lang="en-GB" dirty="0"/>
              <a:t>Further reading | White, Chapter 5 (comprehensive but readable)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8033A-7C21-4AD8-AAD6-C7972D475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A31AC-F747-4892-AFE6-83347206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B307E-3FF9-4713-91EC-E28BD5AA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27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E90D-CF6A-43C7-9314-A05F5311D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1122363"/>
            <a:ext cx="9372600" cy="2387600"/>
          </a:xfrm>
        </p:spPr>
        <p:txBody>
          <a:bodyPr/>
          <a:lstStyle/>
          <a:p>
            <a:r>
              <a:rPr lang="en-GB" dirty="0"/>
              <a:t>The pace of geochemical processes: kinetics and diffusion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A3D18-B3CE-4AF9-9F2C-E6BDFA8BB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</a:t>
            </a:r>
            <a:r>
              <a:rPr lang="en-GB"/>
              <a:t>Lecture 5</a:t>
            </a:r>
            <a:endParaRPr lang="en-GB" dirty="0"/>
          </a:p>
          <a:p>
            <a:r>
              <a:rPr lang="en-GB" dirty="0"/>
              <a:t>Part 2 | Reaction rates and reaction orders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0A6A-49C1-4287-9BB8-A85D3082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0D41-60E7-4ACB-9B2B-88486139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000" y="6356350"/>
            <a:ext cx="4320000" cy="365125"/>
          </a:xfrm>
        </p:spPr>
        <p:txBody>
          <a:bodyPr/>
          <a:lstStyle/>
          <a:p>
            <a:r>
              <a:rPr lang="en-GB" dirty="0"/>
              <a:t>EART26201 | Principles of Geochemistry | Lecture 5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614C2-8618-4A1E-A193-645A6446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27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32AE6C8-A74F-4941-B29B-A3A1D0FC2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Reaction rates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E2299DE5-8D3E-4C79-9AF4-2917FA419E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The rate of a chemical reaction is given by the change in concentration of a reactant or product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(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begChr m:val="["/>
                        <m:endChr m:val="]"/>
                        <m:ctrlP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GB" dirty="0"/>
                  <a:t>) per unit time (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)</a:t>
                </a:r>
                <a:endParaRPr lang="en-GB" dirty="0">
                  <a:solidFill>
                    <a:schemeClr val="accent1"/>
                  </a:solidFill>
                </a:endParaRPr>
              </a:p>
              <a:p>
                <a:r>
                  <a:rPr lang="en-GB" dirty="0"/>
                  <a:t>For the reaction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GB" i="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GB" i="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GB" i="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GB" dirty="0"/>
                  <a:t>, the average rate of reaction (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ℜ</m:t>
                    </m:r>
                  </m:oMath>
                </a14:m>
                <a:r>
                  <a:rPr lang="en-GB" dirty="0"/>
                  <a:t>) is:</a:t>
                </a:r>
              </a:p>
              <a:p>
                <a:pPr marL="0" indent="0" algn="ctr">
                  <a:spcBef>
                    <a:spcPts val="1800"/>
                  </a:spcBef>
                  <a:buNone/>
                </a:pP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ℜ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GB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d>
                      <m:dPr>
                        <m:ctrlPr>
                          <a:rPr lang="en-GB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GB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d>
                          </m:num>
                          <m:den>
                            <m:r>
                              <a:rPr lang="en-GB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GB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GB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d>
                      <m:dPr>
                        <m:ctrlP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GB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d>
                          </m:num>
                          <m:den>
                            <m:r>
                              <a:rPr lang="en-GB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GB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d>
                      <m:dPr>
                        <m:ctrlP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GB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</m:d>
                          </m:num>
                          <m:den>
                            <m:r>
                              <a:rPr lang="en-GB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GB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d>
                      <m:dPr>
                        <m:ctrlP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GB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GB" b="0" i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</m:d>
                          </m:num>
                          <m:den>
                            <m:r>
                              <a:rPr lang="en-GB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GB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At any given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, the rate of reaction for a reaction containing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given by: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ℜ</m:t>
                      </m:r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457200" lvl="1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the stoichiometric coefficient (+ for products; − for reactants)</a:t>
                </a:r>
                <a:endParaRPr lang="en-GB" sz="2400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E2299DE5-8D3E-4C79-9AF4-2917FA419E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84B20-CF24-4195-9428-595ADCA46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368B5-BAA4-449B-8362-65AA0EA2A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DB73E-28CD-442F-8597-EF18EE815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8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4B87B-FA7F-44CB-A69B-9F5B801FEC0D}"/>
              </a:ext>
            </a:extLst>
          </p:cNvPr>
          <p:cNvSpPr txBox="1"/>
          <p:nvPr/>
        </p:nvSpPr>
        <p:spPr>
          <a:xfrm>
            <a:off x="7479573" y="4452165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Instantaneous change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C31663-5F47-49B8-B868-B4C6D1F331C5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7013749" y="4531807"/>
            <a:ext cx="465824" cy="1050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EA1F-C23A-4127-9CCA-A31C13ADF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Factors determining reaction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1D1D-4F77-4E09-826A-4BA489D3A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40" y="1847850"/>
            <a:ext cx="10662920" cy="4351338"/>
          </a:xfrm>
        </p:spPr>
        <p:txBody>
          <a:bodyPr/>
          <a:lstStyle/>
          <a:p>
            <a:r>
              <a:rPr lang="en-GB" dirty="0"/>
              <a:t>Reactants must collide with sufficient energy for reactions </a:t>
            </a:r>
            <a:r>
              <a:rPr lang="en-GB"/>
              <a:t>to occur</a:t>
            </a:r>
            <a:endParaRPr lang="en-GB" dirty="0"/>
          </a:p>
          <a:p>
            <a:r>
              <a:rPr lang="en-GB" dirty="0"/>
              <a:t>The number of successful collisions can be increased by:</a:t>
            </a:r>
          </a:p>
          <a:p>
            <a:pPr lvl="1"/>
            <a:r>
              <a:rPr lang="en-GB" dirty="0">
                <a:solidFill>
                  <a:schemeClr val="accent3"/>
                </a:solidFill>
              </a:rPr>
              <a:t>Increasing the energy of the reactants: temperature and the Arrhenius relation (Part 3)</a:t>
            </a:r>
          </a:p>
          <a:p>
            <a:pPr lvl="1"/>
            <a:r>
              <a:rPr lang="en-GB" dirty="0"/>
              <a:t>Increasing the concentration of the reactants: rate laws and reaction orders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E515F-7A00-4464-B472-6082B91B9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90A11-AC93-443C-82B8-154A56A6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09723-AF63-4566-AF27-EFFFE462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9</a:t>
            </a:fld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BB12F91-7A77-49A0-9841-1542E0C41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5365" y="3429000"/>
            <a:ext cx="7001270" cy="27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2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66B69-F330-4055-868B-AC6D848B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Rate laws and reaction orders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CC6FD2-8768-4144-84AC-813FCDD047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For the reaction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aA</m:t>
                    </m:r>
                    <m: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GB" i="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bB</m:t>
                    </m:r>
                    <m: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i="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cC</m:t>
                    </m:r>
                    <m: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GB" i="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dD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ℜ</m:t>
                    </m:r>
                  </m:oMath>
                </a14:m>
                <a:r>
                  <a:rPr lang="en-GB" dirty="0"/>
                  <a:t> is given by the rate law: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ℜ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GB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GB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GB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sup>
                    </m:sSup>
                  </m:oMath>
                </a14:m>
                <a:endParaRPr lang="en-GB" dirty="0"/>
              </a:p>
              <a:p>
                <a:pPr marL="457200" lvl="1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is the rate constant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etc. are the reaction orders for each species</a:t>
                </a:r>
              </a:p>
              <a:p>
                <a:r>
                  <a:rPr lang="en-GB" dirty="0"/>
                  <a:t>A rate law relates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ℜ</m:t>
                    </m:r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to the concentration of species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i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</m:d>
                  </m:oMath>
                </a14:m>
                <a:r>
                  <a:rPr lang="en-GB" dirty="0"/>
                  <a:t>,</a:t>
                </a:r>
                <a:r>
                  <a:rPr lang="en-GB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lang="en-GB" dirty="0"/>
                  <a:t> etc.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In the case of simple reactions, the overall reaction order is expressed as: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overall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GB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For elementary reactions, we can infer reaction orders from stoichiometry</a:t>
                </a:r>
              </a:p>
              <a:p>
                <a:r>
                  <a:rPr lang="en-GB" dirty="0"/>
                  <a:t>For complex reactions, reaction orders must be determined experimentally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CC6FD2-8768-4144-84AC-813FCDD04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 r="-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25B1E-2EBB-40A1-8B16-7AE5BAA4E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6EB9F-293A-498F-88CA-AA723FDB7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6863E-C668-41ED-BF18-524A042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7DC61F-BC6E-4BDF-9D63-6717D76AA352}"/>
              </a:ext>
            </a:extLst>
          </p:cNvPr>
          <p:cNvSpPr txBox="1"/>
          <p:nvPr/>
        </p:nvSpPr>
        <p:spPr>
          <a:xfrm>
            <a:off x="3595915" y="5371406"/>
            <a:ext cx="5000171" cy="523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Almost all geochemical reactions are complex, and many have multiple steps with distinct reaction orders</a:t>
            </a:r>
          </a:p>
        </p:txBody>
      </p:sp>
    </p:spTree>
    <p:extLst>
      <p:ext uri="{BB962C8B-B14F-4D97-AF65-F5344CB8AC3E}">
        <p14:creationId xmlns:p14="http://schemas.microsoft.com/office/powerpoint/2010/main" val="107089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6F84020-1216-4125-BA2E-6A72CA285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reaction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42753E2D-9109-4813-9ADE-63F66F008D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Most reactions can be classified as zeroth, first or second order</a:t>
                </a:r>
              </a:p>
              <a:p>
                <a:r>
                  <a:rPr lang="en-GB" dirty="0">
                    <a:solidFill>
                      <a:schemeClr val="accent1"/>
                    </a:solidFill>
                  </a:rPr>
                  <a:t>Zeroth order:</a:t>
                </a:r>
                <a:r>
                  <a:rPr lang="en-GB" dirty="0"/>
                  <a:t> rate is independent of concentration,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ℜ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GB" dirty="0"/>
              </a:p>
              <a:p>
                <a:r>
                  <a:rPr lang="en-GB" dirty="0">
                    <a:solidFill>
                      <a:schemeClr val="accent2"/>
                    </a:solidFill>
                  </a:rPr>
                  <a:t>First order:</a:t>
                </a:r>
                <a:r>
                  <a:rPr lang="en-GB" dirty="0"/>
                  <a:t> rate is proportional to concentration,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ℜ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GB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>
                    <a:solidFill>
                      <a:schemeClr val="accent3"/>
                    </a:solidFill>
                  </a:rPr>
                  <a:t>Second order: </a:t>
                </a:r>
                <a:r>
                  <a:rPr lang="en-GB" dirty="0"/>
                  <a:t>rate is proportional to concentration squared,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ℜ</m:t>
                    </m:r>
                    <m:r>
                      <a:rPr lang="en-GB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GB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42753E2D-9109-4813-9ADE-63F66F008D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8CBE1-6722-4A25-ADC6-29DD505F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6E1C8-CA0B-42F9-9C86-969187775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5B3E9-73F4-46B6-9304-ED3C140E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11</a:t>
            </a:fld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73C8C5-1B23-4E18-BAF4-01F3C5A29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4589" y="3688150"/>
            <a:ext cx="5842821" cy="248881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2509D82-EC70-4062-8289-815F05AD6A6C}"/>
              </a:ext>
            </a:extLst>
          </p:cNvPr>
          <p:cNvSpPr/>
          <p:nvPr/>
        </p:nvSpPr>
        <p:spPr>
          <a:xfrm>
            <a:off x="5417369" y="3810694"/>
            <a:ext cx="3821466" cy="2411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BDE175-05BD-4533-87F9-8241FE4CCE13}"/>
              </a:ext>
            </a:extLst>
          </p:cNvPr>
          <p:cNvSpPr/>
          <p:nvPr/>
        </p:nvSpPr>
        <p:spPr>
          <a:xfrm>
            <a:off x="7024742" y="3856215"/>
            <a:ext cx="2721685" cy="2320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84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D59D-2975-4016-BE12-B5FDD6CBD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Reaction order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06293A-42E3-4FC7-B3DD-D81845739ED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8" y="1735193"/>
                <a:ext cx="6197705" cy="466725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Hydration of CO</a:t>
                </a:r>
                <a:r>
                  <a:rPr lang="en-GB" baseline="-25000" dirty="0"/>
                  <a:t>2</a:t>
                </a:r>
                <a:r>
                  <a:rPr lang="en-GB" dirty="0"/>
                  <a:t>:</a:t>
                </a:r>
                <a:endParaRPr lang="en-GB" b="0" i="0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CO</m:t>
                      </m:r>
                      <m:r>
                        <a:rPr lang="en-GB" i="0" baseline="-2500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GB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0" baseline="-2500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GB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GB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m:rPr>
                          <m:sty m:val="p"/>
                        </m:rPr>
                        <a:rPr lang="en-GB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i="0" baseline="-2500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GB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CO</m:t>
                      </m:r>
                      <m:r>
                        <a:rPr lang="en-GB" i="0" baseline="-2500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baseline="-25000" dirty="0">
                  <a:solidFill>
                    <a:schemeClr val="accent1"/>
                  </a:solidFill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Reaction rate: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0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CO</m:t>
                                  </m:r>
                                </m:e>
                                <m:sub>
                                  <m:r>
                                    <a:rPr lang="en-GB" i="0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CO</m:t>
                              </m:r>
                            </m:e>
                            <m:sub>
                              <m:r>
                                <a:rPr lang="en-GB" b="0" i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accent3"/>
                  </a:solidFill>
                </a:endParaRPr>
              </a:p>
              <a:p>
                <a:r>
                  <a:rPr lang="en-GB" dirty="0"/>
                  <a:t>Theoretically </a:t>
                </a:r>
                <a:r>
                  <a:rPr lang="en-GB" dirty="0">
                    <a:solidFill>
                      <a:schemeClr val="accent3"/>
                    </a:solidFill>
                  </a:rPr>
                  <a:t>second order</a:t>
                </a:r>
                <a:r>
                  <a:rPr lang="en-GB" dirty="0"/>
                  <a:t>, but H</a:t>
                </a:r>
                <a:r>
                  <a:rPr lang="en-GB" baseline="-25000" dirty="0"/>
                  <a:t>2</a:t>
                </a:r>
                <a:r>
                  <a:rPr lang="en-GB" dirty="0"/>
                  <a:t>O </a:t>
                </a:r>
                <a:r>
                  <a:rPr lang="en-GB"/>
                  <a:t>is typically </a:t>
                </a:r>
                <a:r>
                  <a:rPr lang="en-GB" dirty="0"/>
                  <a:t>present in excess (e.g. ocean)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[H</a:t>
                </a:r>
                <a:r>
                  <a:rPr lang="en-GB" baseline="-25000" dirty="0"/>
                  <a:t>2</a:t>
                </a:r>
                <a:r>
                  <a:rPr lang="en-GB" dirty="0"/>
                  <a:t>O] changes little; effectively </a:t>
                </a:r>
                <a:r>
                  <a:rPr lang="en-GB" dirty="0">
                    <a:solidFill>
                      <a:schemeClr val="accent2"/>
                    </a:solidFill>
                  </a:rPr>
                  <a:t>first order</a:t>
                </a:r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CO</m:t>
                                  </m:r>
                                </m:e>
                                <m:sub>
                                  <m:r>
                                    <a:rPr lang="en-GB" i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CO</m:t>
                              </m:r>
                            </m:e>
                            <m:sub>
                              <m:r>
                                <a:rPr lang="en-GB" b="0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Reaction rate depends on concentration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06293A-42E3-4FC7-B3DD-D81845739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8" y="1735193"/>
                <a:ext cx="6197705" cy="4667250"/>
              </a:xfrm>
              <a:blipFill>
                <a:blip r:embed="rId2"/>
                <a:stretch>
                  <a:fillRect l="-1278" t="-1699" b="-7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E552231-BE86-4D73-BE09-D21562F358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90504" y="3527822"/>
            <a:ext cx="3963296" cy="264839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1F846-9D1F-49E4-B27B-43BE8F9C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E11BC-3F4B-4FCA-84B0-D91460524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100ED-758E-41C2-81F3-B674F7EB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12</a:t>
            </a:fld>
            <a:endParaRPr lang="en-GB"/>
          </a:p>
        </p:txBody>
      </p:sp>
      <p:pic>
        <p:nvPicPr>
          <p:cNvPr id="10" name="Picture 9" descr="A view of a city&#10;&#10;Description automatically generated">
            <a:extLst>
              <a:ext uri="{FF2B5EF4-FFF2-40B4-BE49-F238E27FC236}">
                <a16:creationId xmlns:a16="http://schemas.microsoft.com/office/drawing/2014/main" id="{F7828C0E-64E9-4C92-A215-1F407C3E2E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1" t="24888" r="6701" b="11581"/>
          <a:stretch/>
        </p:blipFill>
        <p:spPr>
          <a:xfrm>
            <a:off x="6737425" y="1789182"/>
            <a:ext cx="3250638" cy="1190017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5F2B0609-E9CC-4D5B-88E5-D760BF868B6D}"/>
              </a:ext>
            </a:extLst>
          </p:cNvPr>
          <p:cNvSpPr/>
          <p:nvPr/>
        </p:nvSpPr>
        <p:spPr>
          <a:xfrm>
            <a:off x="8283550" y="1942302"/>
            <a:ext cx="2021042" cy="36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AE772FE-6403-43E1-AF32-E36849804CFC}"/>
              </a:ext>
            </a:extLst>
          </p:cNvPr>
          <p:cNvSpPr/>
          <p:nvPr/>
        </p:nvSpPr>
        <p:spPr>
          <a:xfrm rot="5400000">
            <a:off x="8935439" y="3741493"/>
            <a:ext cx="2894467" cy="36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580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E90D-CF6A-43C7-9314-A05F5311D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1122363"/>
            <a:ext cx="9372600" cy="2387600"/>
          </a:xfrm>
        </p:spPr>
        <p:txBody>
          <a:bodyPr/>
          <a:lstStyle/>
          <a:p>
            <a:r>
              <a:rPr lang="en-GB" dirty="0"/>
              <a:t>The pace of geochemical processes: kinetics and diffusion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A3D18-B3CE-4AF9-9F2C-E6BDFA8BB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5</a:t>
            </a:r>
          </a:p>
          <a:p>
            <a:r>
              <a:rPr lang="en-GB" dirty="0"/>
              <a:t>Part 3 | Temperature and Arrhenian relationships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0A6A-49C1-4287-9BB8-A85D3082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0D41-60E7-4ACB-9B2B-88486139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000" y="6356350"/>
            <a:ext cx="4320000" cy="365125"/>
          </a:xfrm>
        </p:spPr>
        <p:txBody>
          <a:bodyPr/>
          <a:lstStyle/>
          <a:p>
            <a:r>
              <a:rPr lang="en-GB" dirty="0"/>
              <a:t>EART26201 | Principles of Geochemistry | Lecture 5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614C2-8618-4A1E-A193-645A6446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546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EA1F-C23A-4127-9CCA-A31C13ADF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Factors determining reaction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1D1D-4F77-4E09-826A-4BA489D3A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Reactants must collide with sufficient energy for reactions to occur</a:t>
            </a:r>
          </a:p>
          <a:p>
            <a:r>
              <a:rPr lang="en-GB" dirty="0"/>
              <a:t>The number of successful collisions can be increased by: </a:t>
            </a:r>
          </a:p>
          <a:p>
            <a:pPr lvl="1"/>
            <a:r>
              <a:rPr lang="en-GB" dirty="0">
                <a:solidFill>
                  <a:schemeClr val="accent3"/>
                </a:solidFill>
              </a:rPr>
              <a:t>Increasing the concentration of the reactants: rate laws and reaction orders (Part 2)</a:t>
            </a:r>
          </a:p>
          <a:p>
            <a:pPr lvl="1"/>
            <a:r>
              <a:rPr lang="en-GB" dirty="0"/>
              <a:t>Increasing the energy of the reactants: temperature and Arrhenian relationships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E515F-7A00-4464-B472-6082B91B9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90A11-AC93-443C-82B8-154A56A6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09723-AF63-4566-AF27-EFFFE462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14</a:t>
            </a:fld>
            <a:endParaRPr lang="en-GB"/>
          </a:p>
        </p:txBody>
      </p:sp>
      <p:pic>
        <p:nvPicPr>
          <p:cNvPr id="10" name="Picture 9" descr="A picture containing clock&#10;&#10;Description automatically generated">
            <a:extLst>
              <a:ext uri="{FF2B5EF4-FFF2-40B4-BE49-F238E27FC236}">
                <a16:creationId xmlns:a16="http://schemas.microsoft.com/office/drawing/2014/main" id="{29D04D99-835A-41E0-9E3E-7BE2C856A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378893"/>
            <a:ext cx="4020320" cy="27980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EFDB0D-0363-4866-B81D-2DEBEDC3E9C7}"/>
                  </a:ext>
                </a:extLst>
              </p:cNvPr>
              <p:cNvSpPr txBox="1"/>
              <p:nvPr/>
            </p:nvSpPr>
            <p:spPr>
              <a:xfrm>
                <a:off x="6669695" y="3896270"/>
                <a:ext cx="317260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000" i="1" baseline="-250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000" dirty="0"/>
                  <a:t> is the activation energy, the energy required for a reaction to occur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EFDB0D-0363-4866-B81D-2DEBEDC3E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695" y="3896270"/>
                <a:ext cx="3172609" cy="1015663"/>
              </a:xfrm>
              <a:prstGeom prst="rect">
                <a:avLst/>
              </a:prstGeom>
              <a:blipFill>
                <a:blip r:embed="rId3"/>
                <a:stretch>
                  <a:fillRect l="-1919" t="-2395" r="-3647" b="-101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913FF7-634A-483F-BCBA-302076B13740}"/>
              </a:ext>
            </a:extLst>
          </p:cNvPr>
          <p:cNvCxnSpPr>
            <a:cxnSpLocks/>
          </p:cNvCxnSpPr>
          <p:nvPr/>
        </p:nvCxnSpPr>
        <p:spPr>
          <a:xfrm flipH="1" flipV="1">
            <a:off x="5625855" y="3896270"/>
            <a:ext cx="967985" cy="2591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05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CF6B7-16A5-4BA3-B391-45B95A0A2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rate constant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C0E6FE-3F50-4E51-982C-C96489B51C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For the reaction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GB" i="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GB" i="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GB" i="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ℜ</m:t>
                    </m:r>
                  </m:oMath>
                </a14:m>
                <a:r>
                  <a:rPr lang="en-GB" dirty="0"/>
                  <a:t> is given by the rate law: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ℜ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GB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GB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GB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sup>
                    </m:sSup>
                  </m:oMath>
                </a14:m>
                <a:endParaRPr lang="en-GB" dirty="0"/>
              </a:p>
              <a:p>
                <a:pPr marL="457200" lvl="1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is the rate constant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etc. are the reaction orders for each species</a:t>
                </a:r>
              </a:p>
              <a:p>
                <a:r>
                  <a:rPr lang="en-GB" dirty="0"/>
                  <a:t>The rate constant (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) encodes information about the energy of reactants</a:t>
                </a:r>
              </a:p>
              <a:p>
                <a:r>
                  <a:rPr lang="en-GB" dirty="0"/>
                  <a:t>The larger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, the faster the reaction rate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C0E6FE-3F50-4E51-982C-C96489B51C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77E67-3992-4A3D-949A-E167F86B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F1BA9-0B70-4F25-8F95-DF1BF9A76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9AD87-4C13-47EA-AF42-F6F7664E7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94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DC9C8-9757-4FD7-9823-B01ABDB6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Energy and temperature: Arrhenian relationships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20C5B1-1A41-493D-BB9A-C6B830FECC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The number of molecules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) having energy level</a:t>
                </a:r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is given by: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ℰ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457200" lvl="1" indent="0">
                  <a:buNone/>
                </a:pPr>
                <a:r>
                  <a:rPr lang="en-GB" dirty="0"/>
                  <a:t>where the ‘frequency factor’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depends on the total number of molecules in the system,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GB" dirty="0"/>
                  <a:t> is Boltzmann’s constant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is temperature in K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We can also express this in terms of the proportion of molecules with the activation energy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i="1" baseline="-250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) required for a reaction to occur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GB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dirty="0"/>
                  <a:t>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GB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Given that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ℜ</m:t>
                    </m:r>
                    <m:r>
                      <a:rPr lang="en-GB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is thus related to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by this relationship: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GB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r>
                  <a:rPr lang="en-GB" i="1" dirty="0">
                    <a:solidFill>
                      <a:schemeClr val="accent1"/>
                    </a:solidFill>
                  </a:rPr>
                  <a:t>The effect of 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i="1" dirty="0">
                    <a:solidFill>
                      <a:schemeClr val="accent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ℜ</m:t>
                    </m:r>
                  </m:oMath>
                </a14:m>
                <a:r>
                  <a:rPr lang="en-GB" i="1" dirty="0">
                    <a:solidFill>
                      <a:schemeClr val="accent1"/>
                    </a:solidFill>
                  </a:rPr>
                  <a:t> is strongly non-linear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20C5B1-1A41-493D-BB9A-C6B830FEC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 r="-348" b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E224E-1B6E-40A9-A941-6BDECD0B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A96BD-405E-4252-AE9D-5FD8EA8C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32963-C7B6-429B-88C3-6DF8EF14D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74CCFD-A38A-4CE4-8A26-8BD6B17BFB74}"/>
                  </a:ext>
                </a:extLst>
              </p:cNvPr>
              <p:cNvSpPr txBox="1"/>
              <p:nvPr/>
            </p:nvSpPr>
            <p:spPr>
              <a:xfrm>
                <a:off x="9133115" y="5481827"/>
                <a:ext cx="1870165" cy="523220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i="1" dirty="0">
                    <a:solidFill>
                      <a:schemeClr val="accent1"/>
                    </a:solidFill>
                  </a:rPr>
                  <a:t>Reactions are much faster at higher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GB" sz="1400" b="1" i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74CCFD-A38A-4CE4-8A26-8BD6B17BF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115" y="5481827"/>
                <a:ext cx="1870165" cy="523220"/>
              </a:xfrm>
              <a:prstGeom prst="rect">
                <a:avLst/>
              </a:prstGeom>
              <a:blipFill>
                <a:blip r:embed="rId3"/>
                <a:stretch>
                  <a:fillRect r="-2236" b="-7609"/>
                </a:stretch>
              </a:blipFill>
              <a:ln w="3810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78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AE59-5D66-4241-B8E7-4B64A1CA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Implications for Arrhenian relationships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D1A3EAA-0C44-45D9-951D-F1C680B50B4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:r>
                  <a:rPr lang="en-GB" dirty="0"/>
                  <a:t>Crystallisation of magmas at high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(e.g. </a:t>
                </a:r>
                <a:r>
                  <a:rPr lang="en-GB" dirty="0">
                    <a:solidFill>
                      <a:schemeClr val="accent2"/>
                    </a:solidFill>
                  </a:rPr>
                  <a:t>melt → olivine</a:t>
                </a:r>
                <a:r>
                  <a:rPr lang="en-GB" dirty="0"/>
                  <a:t>) can occur very rapidly (within seconds)</a:t>
                </a:r>
              </a:p>
              <a:p>
                <a:r>
                  <a:rPr lang="en-GB" dirty="0"/>
                  <a:t>At high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, more molecules have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i="1" baseline="-250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required for reactions to occur</a:t>
                </a:r>
              </a:p>
              <a:p>
                <a:r>
                  <a:rPr lang="en-GB" dirty="0"/>
                  <a:t>Alteration of igneous rocks at low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(e.g. </a:t>
                </a:r>
                <a:r>
                  <a:rPr lang="en-GB" dirty="0">
                    <a:solidFill>
                      <a:schemeClr val="accent1"/>
                    </a:solidFill>
                  </a:rPr>
                  <a:t>olivine → serpentine</a:t>
                </a:r>
                <a:r>
                  <a:rPr lang="en-GB" dirty="0"/>
                  <a:t>) occurs slowly (years to millennia or longer)</a:t>
                </a:r>
              </a:p>
              <a:p>
                <a:r>
                  <a:rPr lang="en-GB" dirty="0"/>
                  <a:t>At low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, fewer molecules have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i="1" baseline="-250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required for reactions to occur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D1A3EAA-0C44-45D9-951D-F1C680B50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3"/>
                <a:stretch>
                  <a:fillRect l="-1624" t="-1821" r="-25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1FC9222-FE16-4277-8237-15A7DCF0A8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9373800" y="1685145"/>
            <a:ext cx="1980000" cy="210143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D08D2-3C8C-4D08-886F-6C1AA54B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E175-24AE-4AE1-A31B-EDAF8FAF4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DC6AD-8F58-4D4E-80BF-52046804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17</a:t>
            </a:fld>
            <a:endParaRPr lang="en-GB"/>
          </a:p>
        </p:txBody>
      </p:sp>
      <p:pic>
        <p:nvPicPr>
          <p:cNvPr id="12" name="Picture 11" descr="A picture containing smoke, fire, outdoor, weapon&#10;&#10;Description automatically generated">
            <a:extLst>
              <a:ext uri="{FF2B5EF4-FFF2-40B4-BE49-F238E27FC236}">
                <a16:creationId xmlns:a16="http://schemas.microsoft.com/office/drawing/2014/main" id="{11B79FCB-86CE-4228-9ED1-6D9776483D6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9" r="13325"/>
          <a:stretch/>
        </p:blipFill>
        <p:spPr>
          <a:xfrm>
            <a:off x="6592153" y="1825625"/>
            <a:ext cx="1980000" cy="17184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DE53B6-DDA1-4080-9BDA-41105516EB52}"/>
              </a:ext>
            </a:extLst>
          </p:cNvPr>
          <p:cNvSpPr txBox="1"/>
          <p:nvPr/>
        </p:nvSpPr>
        <p:spPr>
          <a:xfrm>
            <a:off x="7747292" y="3738426"/>
            <a:ext cx="2578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3"/>
                </a:solidFill>
              </a:rPr>
              <a:t>https://www.virtualmicroscope.org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11E7657-8A82-42E2-AD2B-3FC4A2E0C7FD}"/>
              </a:ext>
            </a:extLst>
          </p:cNvPr>
          <p:cNvSpPr/>
          <p:nvPr/>
        </p:nvSpPr>
        <p:spPr>
          <a:xfrm>
            <a:off x="8369450" y="2464241"/>
            <a:ext cx="1333948" cy="36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8BF5546-4292-4EF0-AA1A-17BCF1105A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3800" y="4073653"/>
            <a:ext cx="1980000" cy="2101431"/>
          </a:xfrm>
          <a:prstGeom prst="rect">
            <a:avLst/>
          </a:prstGeom>
        </p:spPr>
      </p:pic>
      <p:pic>
        <p:nvPicPr>
          <p:cNvPr id="20" name="Content Placeholder 13">
            <a:extLst>
              <a:ext uri="{FF2B5EF4-FFF2-40B4-BE49-F238E27FC236}">
                <a16:creationId xmlns:a16="http://schemas.microsoft.com/office/drawing/2014/main" id="{95F5A194-7BDD-4BF8-8DAA-FF2756F5E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152" y="4074221"/>
            <a:ext cx="1980000" cy="2101431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21FBE3F4-AEA2-4B9B-AFFC-283C6C3DBF99}"/>
              </a:ext>
            </a:extLst>
          </p:cNvPr>
          <p:cNvSpPr/>
          <p:nvPr/>
        </p:nvSpPr>
        <p:spPr>
          <a:xfrm>
            <a:off x="8369449" y="4852269"/>
            <a:ext cx="1333948" cy="36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39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E90D-CF6A-43C7-9314-A05F5311D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1122363"/>
            <a:ext cx="9372600" cy="2387600"/>
          </a:xfrm>
        </p:spPr>
        <p:txBody>
          <a:bodyPr/>
          <a:lstStyle/>
          <a:p>
            <a:r>
              <a:rPr lang="en-GB" dirty="0"/>
              <a:t>The pace of geochemical processes: kinetics and diffusion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A3D18-B3CE-4AF9-9F2C-E6BDFA8BB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5</a:t>
            </a:r>
          </a:p>
          <a:p>
            <a:r>
              <a:rPr lang="en-GB" dirty="0"/>
              <a:t>Part 4 | Diffusion and Fick’s laws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0A6A-49C1-4287-9BB8-A85D3082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0D41-60E7-4ACB-9B2B-88486139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6000" y="6356350"/>
            <a:ext cx="4320000" cy="365125"/>
          </a:xfrm>
        </p:spPr>
        <p:txBody>
          <a:bodyPr/>
          <a:lstStyle/>
          <a:p>
            <a:r>
              <a:rPr lang="en-GB" dirty="0"/>
              <a:t>EART26201 | Principles of Geochemistry | Lecture 5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614C2-8618-4A1E-A193-645A6446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411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8C42BA-AC70-4F90-98A4-3A0CAD194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Mass transfer in geochemical systems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4650893-74A3-4B70-8571-E5214B2BC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17141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Theory assumes that reactants are always available for reaction, but…</a:t>
            </a:r>
          </a:p>
          <a:p>
            <a:r>
              <a:rPr lang="en-GB" dirty="0"/>
              <a:t>Reactants in geochemical systems are often isolated from each other</a:t>
            </a:r>
          </a:p>
          <a:p>
            <a:r>
              <a:rPr lang="en-GB" dirty="0"/>
              <a:t>Many reactions can only take place at the interfaces between phases</a:t>
            </a:r>
          </a:p>
          <a:p>
            <a:r>
              <a:rPr lang="en-GB" dirty="0"/>
              <a:t>Phases are often locked within large reservoirs (oceans, the mantle etc.)</a:t>
            </a:r>
          </a:p>
          <a:p>
            <a:r>
              <a:rPr lang="en-GB" dirty="0"/>
              <a:t>Mass transfer is thus often required for reactions to occur: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Advection: </a:t>
            </a:r>
            <a:r>
              <a:rPr lang="en-GB" dirty="0"/>
              <a:t>physical bulk movement</a:t>
            </a:r>
          </a:p>
          <a:p>
            <a:pPr lvl="1"/>
            <a:r>
              <a:rPr lang="en-GB" dirty="0">
                <a:solidFill>
                  <a:schemeClr val="accent2"/>
                </a:solidFill>
              </a:rPr>
              <a:t>Diffusion: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/>
              <a:t>spontaneous movement down a concentration gradient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05BE511-526B-4065-A191-A9569DFE2E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30166" y="1822365"/>
            <a:ext cx="3360868" cy="189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00D8-BC3F-4A8C-8BE9-D44D6B0C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A2EEA-0505-4A7F-8AD6-7EA8AAC68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34EC-F68A-454F-A469-36150E61E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19</a:t>
            </a:fld>
            <a:endParaRPr lang="en-GB"/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79327777-A9C3-44BD-9598-F3F0A9FF45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892"/>
          <a:stretch/>
        </p:blipFill>
        <p:spPr>
          <a:xfrm>
            <a:off x="8915400" y="4117225"/>
            <a:ext cx="2438400" cy="2059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6777BC-E2EC-44BD-B76C-755C60FF5F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020"/>
          <a:stretch/>
        </p:blipFill>
        <p:spPr>
          <a:xfrm>
            <a:off x="6172200" y="4119563"/>
            <a:ext cx="2495772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3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79AAF-077D-45AA-8FDF-4D5E1415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Advection versus diffusion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BCAC0D9-9EAC-4A36-B10D-9384E1C94B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Advection</a:t>
            </a:r>
          </a:p>
          <a:p>
            <a:r>
              <a:rPr lang="en-GB" dirty="0"/>
              <a:t>Reactants brought into contact by bulk physical movement (stirring)</a:t>
            </a:r>
          </a:p>
          <a:p>
            <a:r>
              <a:rPr lang="en-GB" dirty="0"/>
              <a:t>External forces (e.g. gravity)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2"/>
                </a:solidFill>
              </a:rPr>
              <a:t>Diffusion</a:t>
            </a:r>
          </a:p>
          <a:p>
            <a:r>
              <a:rPr lang="en-GB" dirty="0"/>
              <a:t>Reactants brought into contact by spontaneous movement down a concentration gradient</a:t>
            </a:r>
          </a:p>
          <a:p>
            <a:r>
              <a:rPr lang="en-GB" dirty="0"/>
              <a:t>Diffusion occurs </a:t>
            </a:r>
            <a:r>
              <a:rPr lang="en-GB" i="1" dirty="0"/>
              <a:t>all the time</a:t>
            </a:r>
            <a:r>
              <a:rPr lang="en-GB" dirty="0"/>
              <a:t>, but is only visible when homogenising a concentration gradient</a:t>
            </a:r>
          </a:p>
        </p:txBody>
      </p:sp>
      <p:pic>
        <p:nvPicPr>
          <p:cNvPr id="4" name="Content Placeholder 3" descr="A close up of a logo&#10;&#10;Description automatically generated">
            <a:extLst>
              <a:ext uri="{FF2B5EF4-FFF2-40B4-BE49-F238E27FC236}">
                <a16:creationId xmlns:a16="http://schemas.microsoft.com/office/drawing/2014/main" id="{C1D50F9C-30D1-4CFA-BD1B-021B4BD0F1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611" y="1825625"/>
            <a:ext cx="4315977" cy="2078740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72295-1F3C-4C2F-81E6-8762D2D55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42944-8675-496E-98B3-8111F1D9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D45C8-D3A2-4807-BD3E-26B07EDA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20</a:t>
            </a:fld>
            <a:endParaRPr lang="en-GB"/>
          </a:p>
        </p:txBody>
      </p:sp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5AD47646-2922-435E-870B-4FE14FA00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611" y="3848608"/>
            <a:ext cx="4315977" cy="20817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6013AE9-2FD2-4A1B-B7AE-6F4C89446B0F}"/>
              </a:ext>
            </a:extLst>
          </p:cNvPr>
          <p:cNvSpPr/>
          <p:nvPr/>
        </p:nvSpPr>
        <p:spPr>
          <a:xfrm>
            <a:off x="6580624" y="1904999"/>
            <a:ext cx="1106051" cy="324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68C6C3-E19B-4F6F-AC78-DC38F8E46B20}"/>
              </a:ext>
            </a:extLst>
          </p:cNvPr>
          <p:cNvSpPr/>
          <p:nvPr/>
        </p:nvSpPr>
        <p:spPr>
          <a:xfrm>
            <a:off x="6580625" y="3943222"/>
            <a:ext cx="993656" cy="3240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07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ABAE0F3-A3CB-494C-88DA-876F59589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Advective flux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1E80F1-972F-4ADC-9B4A-211EC29B20A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The advective flux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GB" dirty="0"/>
                  <a:t>) of a solute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) through a plane is described by: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l-G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457200" lvl="1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i="1" baseline="-250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 the velocity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in the direction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its concentration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The change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in a volume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deep with time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) is described by: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l-G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  <a:p>
                <a:pPr marL="457200" lvl="1" indent="0">
                  <a:buNone/>
                </a:pPr>
                <a:r>
                  <a:rPr lang="en-GB" b="0" dirty="0"/>
                  <a:t>where</a:t>
                </a:r>
                <a:r>
                  <a:rPr lang="en-GB" b="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dirty="0"/>
                  <a:t> reflects the difference between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GB" b="0" i="1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baseline="-25000" dirty="0">
                    <a:solidFill>
                      <a:schemeClr val="accent1"/>
                    </a:solidFill>
                  </a:rPr>
                  <a:t>(in)</a:t>
                </a:r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GB" i="1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baseline="-25000" dirty="0">
                    <a:solidFill>
                      <a:schemeClr val="accent1"/>
                    </a:solidFill>
                  </a:rPr>
                  <a:t> (out)</a:t>
                </a:r>
                <a:endParaRPr lang="en-GB" baseline="-25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1E80F1-972F-4ADC-9B4A-211EC29B20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r="-30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FBB83C4-A0EB-49F5-B612-167A4C9FBE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48340" y="1825625"/>
            <a:ext cx="5105460" cy="413093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A80B8-80AB-4A1D-AAA4-DB55A523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E13C0-75C6-4978-B6E1-DBC408248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9DA1E-00A5-473A-BB59-A8B3E4C3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21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2752F9-195B-4B68-8564-C6A78D01F6A4}"/>
              </a:ext>
            </a:extLst>
          </p:cNvPr>
          <p:cNvSpPr txBox="1"/>
          <p:nvPr/>
        </p:nvSpPr>
        <p:spPr>
          <a:xfrm>
            <a:off x="4981521" y="5049531"/>
            <a:ext cx="1500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Change in flux with distance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B8F814-9B5A-4DFD-A4F2-770434FAEB07}"/>
              </a:ext>
            </a:extLst>
          </p:cNvPr>
          <p:cNvCxnSpPr>
            <a:cxnSpLocks/>
          </p:cNvCxnSpPr>
          <p:nvPr/>
        </p:nvCxnSpPr>
        <p:spPr>
          <a:xfrm flipH="1" flipV="1">
            <a:off x="4585877" y="4825362"/>
            <a:ext cx="508638" cy="2241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40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3BDD4-900D-4D37-A145-5409F012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Advective mass transfer on Earth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00CBAC5-4EF9-4227-9988-F3BFC60661C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The two preceding expressions can be combined to give: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l-G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Advection moves reactants over long distances (m to 1000s km)</a:t>
                </a:r>
              </a:p>
              <a:p>
                <a:r>
                  <a:rPr lang="en-GB" dirty="0"/>
                  <a:t>Essential role in Earth processes:</a:t>
                </a:r>
              </a:p>
              <a:p>
                <a:pPr lvl="1"/>
                <a:r>
                  <a:rPr lang="en-GB" dirty="0">
                    <a:solidFill>
                      <a:schemeClr val="accent1"/>
                    </a:solidFill>
                  </a:rPr>
                  <a:t>Plate tectonics:</a:t>
                </a:r>
                <a:r>
                  <a:rPr lang="en-GB" dirty="0"/>
                  <a:t> transporting H</a:t>
                </a:r>
                <a:r>
                  <a:rPr lang="en-GB" baseline="-25000" dirty="0"/>
                  <a:t>2</a:t>
                </a:r>
                <a:r>
                  <a:rPr lang="en-GB" dirty="0"/>
                  <a:t>O into the deep Earth at subduction zones</a:t>
                </a:r>
              </a:p>
              <a:p>
                <a:pPr lvl="1"/>
                <a:r>
                  <a:rPr lang="en-GB" dirty="0">
                    <a:solidFill>
                      <a:schemeClr val="accent2"/>
                    </a:solidFill>
                  </a:rPr>
                  <a:t>Ocean circulation: </a:t>
                </a:r>
                <a:r>
                  <a:rPr lang="en-GB" dirty="0"/>
                  <a:t>redistributing dissolved gases and nutrients</a:t>
                </a:r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00CBAC5-4EF9-4227-9988-F3BFC60661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70FED-D6A6-47EB-9007-6EA5497AB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6B633-2261-41E0-AE87-74061DBE4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20E27-1C44-4811-AFAA-4C5FB60E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22</a:t>
            </a:fld>
            <a:endParaRPr lang="en-GB"/>
          </a:p>
        </p:txBody>
      </p:sp>
      <p:pic>
        <p:nvPicPr>
          <p:cNvPr id="4" name="Content Placeholder 32">
            <a:extLst>
              <a:ext uri="{FF2B5EF4-FFF2-40B4-BE49-F238E27FC236}">
                <a16:creationId xmlns:a16="http://schemas.microsoft.com/office/drawing/2014/main" id="{EBCCC721-816E-488F-ABA0-3EEDA8CBA9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95697" y="1690688"/>
            <a:ext cx="4029805" cy="22008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773C36-F162-4255-B4BC-17E0D120F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19460" y="4173913"/>
            <a:ext cx="3382277" cy="1884489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B00E55EB-D13A-4544-8B7D-4C83F648E740}"/>
              </a:ext>
            </a:extLst>
          </p:cNvPr>
          <p:cNvSpPr/>
          <p:nvPr/>
        </p:nvSpPr>
        <p:spPr>
          <a:xfrm rot="18488919">
            <a:off x="7923740" y="2411930"/>
            <a:ext cx="295210" cy="7583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B0086B8-085B-41C9-A2E7-A2C870B48A48}"/>
              </a:ext>
            </a:extLst>
          </p:cNvPr>
          <p:cNvSpPr/>
          <p:nvPr/>
        </p:nvSpPr>
        <p:spPr>
          <a:xfrm rot="8333471">
            <a:off x="7866764" y="4692033"/>
            <a:ext cx="295210" cy="75836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31D7F82D-3767-4640-9B22-F0F1CFDDBBAC}"/>
              </a:ext>
            </a:extLst>
          </p:cNvPr>
          <p:cNvSpPr/>
          <p:nvPr/>
        </p:nvSpPr>
        <p:spPr>
          <a:xfrm rot="20905788">
            <a:off x="7166908" y="4938410"/>
            <a:ext cx="295210" cy="75836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A0109DF3-043A-4F1B-9F4E-3A5281852280}"/>
              </a:ext>
            </a:extLst>
          </p:cNvPr>
          <p:cNvSpPr/>
          <p:nvPr/>
        </p:nvSpPr>
        <p:spPr>
          <a:xfrm rot="13309872">
            <a:off x="9664217" y="5052343"/>
            <a:ext cx="295210" cy="75836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08494F5D-BC03-4335-BDC4-907C437847AE}"/>
              </a:ext>
            </a:extLst>
          </p:cNvPr>
          <p:cNvSpPr/>
          <p:nvPr/>
        </p:nvSpPr>
        <p:spPr>
          <a:xfrm rot="4398947">
            <a:off x="8768709" y="4537329"/>
            <a:ext cx="295210" cy="75836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89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0FE6F-87E7-453C-A97C-25FD26FD8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Diffusive flux and Fick’s first law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D5D8B0A-11CF-4BEC-A358-192EAA37CE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The diffusive flux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GB" dirty="0"/>
                  <a:t>) of a solute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) through a plane can be described by: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l-G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i="1" dirty="0">
                    <a:solidFill>
                      <a:schemeClr val="accent1"/>
                    </a:solidFill>
                  </a:rPr>
                  <a:t>	Fick’s first law</a:t>
                </a:r>
              </a:p>
              <a:p>
                <a:pPr marL="457200" lvl="1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the diffusion coefficient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l-G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dirty="0"/>
                  <a:t> is the concentration gradient</a:t>
                </a:r>
              </a:p>
              <a:p>
                <a:r>
                  <a:rPr lang="en-GB" dirty="0"/>
                  <a:t>The minus sign indicates that the flux is towards lower concentrations</a:t>
                </a:r>
              </a:p>
              <a:p>
                <a:r>
                  <a:rPr lang="en-GB" dirty="0"/>
                  <a:t>The greater the concentration gradient, the greater the flux</a:t>
                </a:r>
              </a:p>
              <a:p>
                <a:r>
                  <a:rPr lang="en-GB" dirty="0"/>
                  <a:t>At equilibrium there is no concentration gradient and thus no flux</a:t>
                </a:r>
              </a:p>
              <a:p>
                <a:r>
                  <a:rPr lang="en-GB" dirty="0"/>
                  <a:t>Flux depends on the magnitude of the diffusion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D5D8B0A-11CF-4BEC-A358-192EAA37CE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8B303-ACEC-4AB3-8663-89489B830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4F3A8-CE9D-4F8B-BD2D-699980654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D205E-02BC-45E8-BF61-F344C4BE2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B6EF460-FFA3-495A-AA30-6C8CA988124E}"/>
                  </a:ext>
                </a:extLst>
              </p:cNvPr>
              <p:cNvSpPr txBox="1"/>
              <p:nvPr/>
            </p:nvSpPr>
            <p:spPr>
              <a:xfrm>
                <a:off x="2547937" y="5409358"/>
                <a:ext cx="7096125" cy="523220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i="1" dirty="0">
                    <a:solidFill>
                      <a:schemeClr val="accent1"/>
                    </a:solidFill>
                  </a:rPr>
                  <a:t>The partition coefficient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GB" sz="1400" b="1" i="1" dirty="0">
                    <a:solidFill>
                      <a:schemeClr val="accent1"/>
                    </a:solidFill>
                  </a:rPr>
                  <a:t> should not be confused with the diffusion coefficient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GB" sz="1400" b="1" i="1" dirty="0">
                    <a:solidFill>
                      <a:schemeClr val="accent1"/>
                    </a:solidFill>
                  </a:rPr>
                  <a:t>! </a:t>
                </a:r>
                <a:br>
                  <a:rPr lang="en-GB" sz="1400" b="1" i="1" dirty="0">
                    <a:solidFill>
                      <a:schemeClr val="accent1"/>
                    </a:solidFill>
                  </a:rPr>
                </a:br>
                <a:r>
                  <a:rPr lang="en-GB" sz="1400" b="1" i="1" dirty="0">
                    <a:solidFill>
                      <a:schemeClr val="accent1"/>
                    </a:solidFill>
                  </a:rPr>
                  <a:t>Context should make it clear which </a:t>
                </a:r>
                <a14:m>
                  <m:oMath xmlns:m="http://schemas.openxmlformats.org/officeDocument/2006/math">
                    <m:r>
                      <a:rPr lang="en-GB" sz="14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GB" sz="1400" b="1" i="1" dirty="0">
                    <a:solidFill>
                      <a:schemeClr val="accent1"/>
                    </a:solidFill>
                  </a:rPr>
                  <a:t> applies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B6EF460-FFA3-495A-AA30-6C8CA9881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37" y="5409358"/>
                <a:ext cx="7096125" cy="523220"/>
              </a:xfrm>
              <a:prstGeom prst="rect">
                <a:avLst/>
              </a:prstGeom>
              <a:blipFill>
                <a:blip r:embed="rId4"/>
                <a:stretch>
                  <a:fillRect r="-684" b="-7609"/>
                </a:stretch>
              </a:blipFill>
              <a:ln w="3810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093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2EFA-6A0C-438F-9724-568E7AFA8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Diffusion coefficients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55EEEE-9707-426C-A3E9-C55C6AEB7CD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4"/>
                <a:ext cx="5962651" cy="4530725"/>
              </a:xfrm>
            </p:spPr>
            <p:txBody>
              <a:bodyPr>
                <a:normAutofit fontScale="92500"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GB" dirty="0"/>
                  <a:t>The diffusion coefficient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) is related to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by the relationship: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457200" lvl="1" indent="0">
                  <a:spcBef>
                    <a:spcPts val="1000"/>
                  </a:spcBef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is the ‘pre-exponential factor’,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dirty="0"/>
                  <a:t> is the activation energy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GB" dirty="0"/>
                  <a:t> is the gas constant (8.314 J/mol/K)</a:t>
                </a:r>
              </a:p>
              <a:p>
                <a:r>
                  <a:rPr lang="en-GB" dirty="0"/>
                  <a:t>This is an Arrhenian relationship (Part 3)</a:t>
                </a:r>
              </a:p>
              <a:p>
                <a:r>
                  <a:rPr lang="en-GB" dirty="0"/>
                  <a:t>Solute and medium properties are encoded in values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i="1" baseline="-250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b="0" dirty="0"/>
              </a:p>
              <a:p>
                <a:r>
                  <a:rPr lang="en-GB" b="0" dirty="0"/>
                  <a:t>In general,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d>
                          <m:dPr>
                            <m:ctrlP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</m:d>
                      </m:sub>
                    </m:sSub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d>
                          <m:dPr>
                            <m:ctrlPr>
                              <a:rPr lang="en-GB" b="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d>
                      </m:sub>
                    </m:sSub>
                  </m:oMath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r>
                  <a:rPr lang="en-GB" dirty="0"/>
                  <a:t>Even over millions of years, diffusion may only move reactants short distances (&lt; cm)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55EEEE-9707-426C-A3E9-C55C6AEB7C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4"/>
                <a:ext cx="5962651" cy="4530725"/>
              </a:xfrm>
              <a:blipFill>
                <a:blip r:embed="rId2"/>
                <a:stretch>
                  <a:fillRect l="-1124" t="-14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DC05F76-CA21-4E55-8930-AD734C92DC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t="20648" b="14675"/>
          <a:stretch/>
        </p:blipFill>
        <p:spPr>
          <a:xfrm>
            <a:off x="7537989" y="3234243"/>
            <a:ext cx="2880000" cy="123428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E9EE0-0637-4A74-8309-948BCEB5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F9CDA-8451-4396-BF97-91A30E27C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50B3B-0B94-4A7C-8A18-C0527002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24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2E99F1-44CB-46D9-ADE0-274B52B9B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507" y="1820570"/>
            <a:ext cx="2880000" cy="123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969976-42C5-4070-B82B-83686669E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3507" y="4680448"/>
            <a:ext cx="2880000" cy="149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3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6362E-2410-43CA-8D1E-5155BC90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Diffusion profiles and Fick’s second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F4D591-B5C4-4F6C-A7C6-245F600F4B8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4"/>
                <a:ext cx="5642929" cy="4530725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Concentration gradients often record incomplete diffusive re-equilibration</a:t>
                </a:r>
              </a:p>
              <a:p>
                <a:r>
                  <a:rPr lang="en-GB" dirty="0"/>
                  <a:t>Disequilibrium states are preserved by cooling through the closure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br>
                  <a:rPr lang="en-GB" dirty="0">
                    <a:solidFill>
                      <a:schemeClr val="accent1"/>
                    </a:solidFill>
                  </a:rPr>
                </a:br>
                <a:endParaRPr lang="en-GB" dirty="0"/>
              </a:p>
              <a:p>
                <a:r>
                  <a:rPr lang="en-GB" dirty="0"/>
                  <a:t>Diffusion-driven changes in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as a function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are described by: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GB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GB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l-GR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l-GR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GB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l-GR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l-G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GB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 </a:t>
                </a:r>
                <a:r>
                  <a:rPr lang="en-GB" i="1" dirty="0">
                    <a:solidFill>
                      <a:schemeClr val="accent1"/>
                    </a:solidFill>
                  </a:rPr>
                  <a:t>Fick’s second law</a:t>
                </a:r>
              </a:p>
              <a:p>
                <a:r>
                  <a:rPr lang="en-GB" dirty="0"/>
                  <a:t>Solving Fick’s second law allows us to determine </a:t>
                </a:r>
                <a:r>
                  <a:rPr lang="en-GB" i="1" dirty="0">
                    <a:solidFill>
                      <a:schemeClr val="accent1"/>
                    </a:solidFill>
                  </a:rPr>
                  <a:t>t</a:t>
                </a:r>
                <a:r>
                  <a:rPr lang="en-GB" dirty="0"/>
                  <a:t> for geological processes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F4D591-B5C4-4F6C-A7C6-245F600F4B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4"/>
                <a:ext cx="5642929" cy="4530725"/>
              </a:xfrm>
              <a:blipFill>
                <a:blip r:embed="rId2"/>
                <a:stretch>
                  <a:fillRect l="-1404" t="-1747" r="-24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D0006DE-0A3A-40B3-97AD-F8A77CB5F1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81129" y="1825625"/>
            <a:ext cx="4563742" cy="435133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71B2B-AAC2-4394-9F7B-72311E315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A10DF-9A62-4B6D-8C7B-2DAC591BA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FD8AF-0921-43E3-B533-10F3F0208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CB40BD-9067-4E29-8DF4-DF7600A6A24F}"/>
                  </a:ext>
                </a:extLst>
              </p:cNvPr>
              <p:cNvSpPr txBox="1"/>
              <p:nvPr/>
            </p:nvSpPr>
            <p:spPr>
              <a:xfrm>
                <a:off x="2861534" y="3391961"/>
                <a:ext cx="35012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600" dirty="0"/>
                  <a:t> below which little diffusion occurs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CB40BD-9067-4E29-8DF4-DF7600A6A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534" y="3391961"/>
                <a:ext cx="3501261" cy="338554"/>
              </a:xfrm>
              <a:prstGeom prst="rect">
                <a:avLst/>
              </a:prstGeom>
              <a:blipFill>
                <a:blip r:embed="rId4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7F66BD-9169-4775-87FE-1C73E71252C9}"/>
              </a:ext>
            </a:extLst>
          </p:cNvPr>
          <p:cNvCxnSpPr>
            <a:cxnSpLocks/>
          </p:cNvCxnSpPr>
          <p:nvPr/>
        </p:nvCxnSpPr>
        <p:spPr>
          <a:xfrm flipH="1" flipV="1">
            <a:off x="5137079" y="3172387"/>
            <a:ext cx="277402" cy="2566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413E612-1555-486D-9993-151DCE4A0496}"/>
              </a:ext>
            </a:extLst>
          </p:cNvPr>
          <p:cNvSpPr txBox="1"/>
          <p:nvPr/>
        </p:nvSpPr>
        <p:spPr>
          <a:xfrm>
            <a:off x="1273576" y="5958879"/>
            <a:ext cx="4513156" cy="30777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i="1" dirty="0">
                <a:solidFill>
                  <a:schemeClr val="accent1"/>
                </a:solidFill>
              </a:rPr>
              <a:t>Solving Fick’s second law is rarely straightforward</a:t>
            </a: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682B253A-480E-4756-BF44-CC2420613A2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949" y="2532934"/>
            <a:ext cx="1073901" cy="10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89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E90D-CF6A-43C7-9314-A05F5311D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1122363"/>
            <a:ext cx="9372600" cy="2387600"/>
          </a:xfrm>
        </p:spPr>
        <p:txBody>
          <a:bodyPr/>
          <a:lstStyle/>
          <a:p>
            <a:r>
              <a:rPr lang="en-GB" dirty="0"/>
              <a:t>The pace of geochemical processes: kinetics and diffusion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A3D18-B3CE-4AF9-9F2C-E6BDFA8BB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EART26201 | Principles of Geochemistry | Lecture 5</a:t>
            </a:r>
          </a:p>
          <a:p>
            <a:r>
              <a:rPr lang="en-GB" dirty="0"/>
              <a:t>Part 5 | Estimating the timescales of magmatic processes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0A6A-49C1-4287-9BB8-A85D3082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0D41-60E7-4ACB-9B2B-88486139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614C2-8618-4A1E-A193-645A6446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09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5600-A474-45E1-B3FF-7A85E1F08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Concentration profiles record information about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D6A9D2-EF33-435A-9AA2-E3A8032466E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5642930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GB" dirty="0"/>
                  <a:t>Concentration (</a:t>
                </a:r>
                <a14:m>
                  <m:oMath xmlns:m="http://schemas.openxmlformats.org/officeDocument/2006/math">
                    <m:r>
                      <a:rPr lang="en-GB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) profiles show how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varies as a function of distance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As time (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) progresses, disequilibrium profiles evolve (re-equilibrate) by diffusion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If we know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baseline="-2500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, we can solve Fick’s second law to work out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l-GR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l-GR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l-GR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GB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Principle of diffusion chronometry</a:t>
                </a:r>
              </a:p>
              <a:p>
                <a:r>
                  <a:rPr lang="en-GB" dirty="0"/>
                  <a:t>Estimate timescales operating over seconds to millions of years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8D6A9D2-EF33-435A-9AA2-E3A8032466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5642930" cy="4351338"/>
              </a:xfrm>
              <a:blipFill>
                <a:blip r:embed="rId3"/>
                <a:stretch>
                  <a:fillRect l="-1188" t="-1541" r="-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87E71AE-580A-44B3-9EBA-E9E58C2426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481129" y="1825625"/>
            <a:ext cx="4563742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F1E52-E610-4BBA-A0C5-0F042573F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0F0F5-F11C-4D1E-8661-E213061B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DE741-15FB-4837-BBDE-D7B534E7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06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5600-A474-45E1-B3FF-7A85E1F08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Concentration profiles in magmatic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7E9D44A-833D-49DA-869F-D983C33ECD1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GB" dirty="0"/>
                  <a:t>Crystals grow in concentric zones</a:t>
                </a:r>
              </a:p>
              <a:p>
                <a:r>
                  <a:rPr lang="en-GB" dirty="0"/>
                  <a:t>Zones record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 conditions at different stages of crystal growth</a:t>
                </a:r>
              </a:p>
              <a:p>
                <a:r>
                  <a:rPr lang="en-GB" dirty="0"/>
                  <a:t>Conditions can be estimated from compositions with thermodynamics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7E9D44A-833D-49DA-869F-D983C33EC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647" t="-1821" r="-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 descr="A picture containing brown, looking, large, standing&#10;&#10;Description automatically generated">
            <a:extLst>
              <a:ext uri="{FF2B5EF4-FFF2-40B4-BE49-F238E27FC236}">
                <a16:creationId xmlns:a16="http://schemas.microsoft.com/office/drawing/2014/main" id="{80AD5D9D-0F1C-49FC-8262-1144501EEF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058" y="4001294"/>
            <a:ext cx="2649069" cy="188462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F1E52-E610-4BBA-A0C5-0F042573F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0F0F5-F11C-4D1E-8661-E213061B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DE741-15FB-4837-BBDE-D7B534E7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28</a:t>
            </a:fld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43014B-D14F-46A4-BD84-C1B273DA748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07571"/>
            <a:ext cx="2645718" cy="2407976"/>
          </a:xfrm>
          <a:prstGeom prst="rect">
            <a:avLst/>
          </a:prstGeom>
        </p:spPr>
      </p:pic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D3684427-FE44-40B7-B6D1-9B42406DA9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0" y="3585570"/>
            <a:ext cx="2514600" cy="2514600"/>
          </a:xfrm>
          <a:prstGeom prst="rect">
            <a:avLst/>
          </a:prstGeom>
        </p:spPr>
      </p:pic>
      <p:sp>
        <p:nvSpPr>
          <p:cNvPr id="31" name="Arrow: Right 30">
            <a:extLst>
              <a:ext uri="{FF2B5EF4-FFF2-40B4-BE49-F238E27FC236}">
                <a16:creationId xmlns:a16="http://schemas.microsoft.com/office/drawing/2014/main" id="{F99B4C8C-CBE1-4CD4-98E5-6F42190724DD}"/>
              </a:ext>
            </a:extLst>
          </p:cNvPr>
          <p:cNvSpPr/>
          <p:nvPr/>
        </p:nvSpPr>
        <p:spPr>
          <a:xfrm rot="2792093">
            <a:off x="8007327" y="3176239"/>
            <a:ext cx="2095944" cy="1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BA74700-ABCC-4970-9146-DA8D298DB54D}"/>
              </a:ext>
            </a:extLst>
          </p:cNvPr>
          <p:cNvSpPr/>
          <p:nvPr/>
        </p:nvSpPr>
        <p:spPr>
          <a:xfrm rot="2662261">
            <a:off x="6872846" y="3998807"/>
            <a:ext cx="2851068" cy="18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A27C8C92-E109-4868-B3CB-D0C5AE0F23D1}"/>
              </a:ext>
            </a:extLst>
          </p:cNvPr>
          <p:cNvSpPr/>
          <p:nvPr/>
        </p:nvSpPr>
        <p:spPr>
          <a:xfrm rot="20676050">
            <a:off x="3305597" y="4677305"/>
            <a:ext cx="1214552" cy="287011"/>
          </a:xfrm>
          <a:prstGeom prst="rightArrow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BBE46C-FF3E-4953-A3CD-69BD1A62B472}"/>
              </a:ext>
            </a:extLst>
          </p:cNvPr>
          <p:cNvSpPr txBox="1"/>
          <p:nvPr/>
        </p:nvSpPr>
        <p:spPr>
          <a:xfrm>
            <a:off x="5151120" y="4989901"/>
            <a:ext cx="28376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>
                <a:solidFill>
                  <a:schemeClr val="accent1"/>
                </a:solidFill>
              </a:rPr>
              <a:t>Crystal stratigraphy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4C1D06-DCF4-4EB1-B2EE-1B48C7C82D9F}"/>
              </a:ext>
            </a:extLst>
          </p:cNvPr>
          <p:cNvSpPr txBox="1"/>
          <p:nvPr/>
        </p:nvSpPr>
        <p:spPr>
          <a:xfrm>
            <a:off x="9421889" y="3329390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3"/>
                </a:solidFill>
              </a:rPr>
              <a:t>Blundy &amp; Cashman (2013)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069F5CB-29FD-419F-B915-38BBDA803D6E}"/>
              </a:ext>
            </a:extLst>
          </p:cNvPr>
          <p:cNvSpPr/>
          <p:nvPr/>
        </p:nvSpPr>
        <p:spPr>
          <a:xfrm rot="20676050">
            <a:off x="10041359" y="4381421"/>
            <a:ext cx="1214552" cy="287011"/>
          </a:xfrm>
          <a:prstGeom prst="rightArrow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28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5" grpId="0" animBg="1"/>
      <p:bldP spid="36" grpId="0"/>
      <p:bldP spid="37" grpId="0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F1E6-1E7F-4019-A223-9F1AD7A6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Mg–Fe zoning in olivine: growth of crystal zones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5DF5B8D-529F-409C-A661-F99E09A731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603" y="1840257"/>
            <a:ext cx="4748794" cy="4322073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35FB25E-5FA1-4792-AFEE-C5536E33E1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3487" y="1841781"/>
            <a:ext cx="4319025" cy="4319025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6866D-C850-41AB-AA8E-1139D5BE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13977-BE56-4D11-A0CA-F30B0EC0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9CD67-77D0-4961-8A56-4468B3964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29</a:t>
            </a:fld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60F88E-5D20-4A5D-B15D-9A067BCB21C1}"/>
              </a:ext>
            </a:extLst>
          </p:cNvPr>
          <p:cNvSpPr/>
          <p:nvPr/>
        </p:nvSpPr>
        <p:spPr>
          <a:xfrm>
            <a:off x="3662914" y="3843519"/>
            <a:ext cx="360000" cy="36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5914C58-2FFB-411F-9393-8CE8FD70DF4E}"/>
              </a:ext>
            </a:extLst>
          </p:cNvPr>
          <p:cNvSpPr/>
          <p:nvPr/>
        </p:nvSpPr>
        <p:spPr>
          <a:xfrm>
            <a:off x="2252761" y="4689964"/>
            <a:ext cx="360000" cy="3600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B613A96-A75B-48EC-A967-DE435C1FF607}"/>
              </a:ext>
            </a:extLst>
          </p:cNvPr>
          <p:cNvSpPr/>
          <p:nvPr/>
        </p:nvSpPr>
        <p:spPr>
          <a:xfrm rot="9021602">
            <a:off x="2739889" y="4320996"/>
            <a:ext cx="884166" cy="28701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FC9D3A-9FB1-4585-9FE4-643F4DD7658E}"/>
              </a:ext>
            </a:extLst>
          </p:cNvPr>
          <p:cNvSpPr/>
          <p:nvPr/>
        </p:nvSpPr>
        <p:spPr>
          <a:xfrm>
            <a:off x="8762999" y="1760220"/>
            <a:ext cx="2159513" cy="2979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49DFEE-38FA-47B7-99E6-668BA8B44C65}"/>
              </a:ext>
            </a:extLst>
          </p:cNvPr>
          <p:cNvSpPr/>
          <p:nvPr/>
        </p:nvSpPr>
        <p:spPr>
          <a:xfrm>
            <a:off x="6941820" y="4739640"/>
            <a:ext cx="3657600" cy="1421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513DB90-260D-4EA0-9A2B-0954A2E91913}"/>
              </a:ext>
            </a:extLst>
          </p:cNvPr>
          <p:cNvSpPr/>
          <p:nvPr/>
        </p:nvSpPr>
        <p:spPr>
          <a:xfrm>
            <a:off x="8160600" y="3141989"/>
            <a:ext cx="900000" cy="28701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 descr="A close up of a logo&#10;&#10;Description automatically generated">
            <a:extLst>
              <a:ext uri="{FF2B5EF4-FFF2-40B4-BE49-F238E27FC236}">
                <a16:creationId xmlns:a16="http://schemas.microsoft.com/office/drawing/2014/main" id="{FE3A9441-9B03-42E7-BABB-84E9F0E3D7A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821" y="1690688"/>
            <a:ext cx="1424143" cy="196807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3027093F-9B47-42D4-99A3-C85EBC74E317}"/>
              </a:ext>
            </a:extLst>
          </p:cNvPr>
          <p:cNvSpPr/>
          <p:nvPr/>
        </p:nvSpPr>
        <p:spPr>
          <a:xfrm>
            <a:off x="5015715" y="2258130"/>
            <a:ext cx="360000" cy="3600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98B2C6C2-C36E-4C6A-9B3C-D1730102F4C4}"/>
              </a:ext>
            </a:extLst>
          </p:cNvPr>
          <p:cNvSpPr/>
          <p:nvPr/>
        </p:nvSpPr>
        <p:spPr>
          <a:xfrm rot="16200000">
            <a:off x="5271069" y="2588187"/>
            <a:ext cx="587125" cy="28701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4EBF8C-A718-3A6A-6F2C-C5A4090AA6C7}"/>
              </a:ext>
            </a:extLst>
          </p:cNvPr>
          <p:cNvSpPr/>
          <p:nvPr/>
        </p:nvSpPr>
        <p:spPr>
          <a:xfrm>
            <a:off x="5105715" y="2348130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BD052A3-DF2A-89E9-8E48-A57F120F8DC9}"/>
              </a:ext>
            </a:extLst>
          </p:cNvPr>
          <p:cNvSpPr/>
          <p:nvPr/>
        </p:nvSpPr>
        <p:spPr>
          <a:xfrm>
            <a:off x="5176299" y="2982969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41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7" grpId="0" animBg="1"/>
      <p:bldP spid="18" grpId="0" animBg="1"/>
      <p:bldP spid="16" grpId="0" animBg="1"/>
      <p:bldP spid="23" grpId="0" animBg="1"/>
      <p:bldP spid="25" grpId="0" animBg="1"/>
      <p:bldP spid="3" grpId="0" animBg="1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75D7-F1D3-4328-A1B9-EF2EA795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Mg–Fe zoning in olivine: diffusion of crystal zones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7A9B5ED-1FAF-46E2-9BB4-7C8DE4C445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3487" y="1841781"/>
            <a:ext cx="4319025" cy="4319025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3DCAE-540D-4AEA-9264-A4354917B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1CFB2-C985-4553-8653-75D40B867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22F5B-E2ED-44B0-97E9-EEDD50812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30</a:t>
            </a:fld>
            <a:endParaRPr lang="en-GB"/>
          </a:p>
        </p:txBody>
      </p:sp>
      <p:pic>
        <p:nvPicPr>
          <p:cNvPr id="8" name="Content Placeholder 8">
            <a:extLst>
              <a:ext uri="{FF2B5EF4-FFF2-40B4-BE49-F238E27FC236}">
                <a16:creationId xmlns:a16="http://schemas.microsoft.com/office/drawing/2014/main" id="{C659C488-2D1C-4014-9FE3-9088A9E1DD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603" y="1840257"/>
            <a:ext cx="4748794" cy="4322073"/>
          </a:xfr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D85BF15C-F050-4315-BDB3-D88914DE564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821" y="1690688"/>
            <a:ext cx="1424143" cy="196807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B58C5FF-FD49-4065-AC58-97114C5E494A}"/>
              </a:ext>
            </a:extLst>
          </p:cNvPr>
          <p:cNvSpPr/>
          <p:nvPr/>
        </p:nvSpPr>
        <p:spPr>
          <a:xfrm>
            <a:off x="5015715" y="2258130"/>
            <a:ext cx="360000" cy="3600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E7CC868-456A-4167-96B7-A44C1029E4BF}"/>
              </a:ext>
            </a:extLst>
          </p:cNvPr>
          <p:cNvSpPr/>
          <p:nvPr/>
        </p:nvSpPr>
        <p:spPr>
          <a:xfrm>
            <a:off x="5105715" y="2348130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8EB3C0F-432F-49DA-9DF6-A696AAF34CCC}"/>
              </a:ext>
            </a:extLst>
          </p:cNvPr>
          <p:cNvSpPr/>
          <p:nvPr/>
        </p:nvSpPr>
        <p:spPr>
          <a:xfrm>
            <a:off x="8529320" y="3141989"/>
            <a:ext cx="450000" cy="287011"/>
          </a:xfrm>
          <a:prstGeom prst="rightArrow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5D8399-E83E-46EC-835A-374E24B1349F}"/>
              </a:ext>
            </a:extLst>
          </p:cNvPr>
          <p:cNvSpPr/>
          <p:nvPr/>
        </p:nvSpPr>
        <p:spPr>
          <a:xfrm>
            <a:off x="9067182" y="2001520"/>
            <a:ext cx="1946258" cy="2753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8DF7B4-3A91-46DC-A014-FD028F4C6352}"/>
              </a:ext>
            </a:extLst>
          </p:cNvPr>
          <p:cNvSpPr/>
          <p:nvPr/>
        </p:nvSpPr>
        <p:spPr>
          <a:xfrm>
            <a:off x="7051040" y="4835480"/>
            <a:ext cx="3484880" cy="1325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55091EA-DF26-4288-8F74-5A817451A5DC}"/>
              </a:ext>
            </a:extLst>
          </p:cNvPr>
          <p:cNvSpPr/>
          <p:nvPr/>
        </p:nvSpPr>
        <p:spPr>
          <a:xfrm>
            <a:off x="3662914" y="3843519"/>
            <a:ext cx="360000" cy="36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BDC05E1-306A-4A47-9C9A-7A0A2A3DC27C}"/>
              </a:ext>
            </a:extLst>
          </p:cNvPr>
          <p:cNvSpPr/>
          <p:nvPr/>
        </p:nvSpPr>
        <p:spPr>
          <a:xfrm>
            <a:off x="2252761" y="4689964"/>
            <a:ext cx="360000" cy="3600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D03634F-5ABF-5988-0409-2F5F62FF67F2}"/>
              </a:ext>
            </a:extLst>
          </p:cNvPr>
          <p:cNvSpPr/>
          <p:nvPr/>
        </p:nvSpPr>
        <p:spPr>
          <a:xfrm rot="9045499">
            <a:off x="2614350" y="4338606"/>
            <a:ext cx="1075282" cy="287011"/>
          </a:xfrm>
          <a:prstGeom prst="rightArrow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48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0F0A85B-A176-4454-B558-FCA67AA5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Mg–Fe zoning in olivine: estimating timescales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98EC398-5A2E-4C26-BAB8-C53043491C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33257" y="2010749"/>
            <a:ext cx="3154686" cy="1127762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C274C-4EA8-4A3B-83B3-53E06CDF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01BF6-683D-4659-B9E6-925AEE2D3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22B4B-830F-472E-8CAE-54A927386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31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BE3B689B-07DC-40FF-88BA-47C12A88847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Measure profile to determine the relationship between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GB" i="0" baseline="-25000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GB" b="0" i="0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</a:t>
                </a:r>
              </a:p>
              <a:p>
                <a:r>
                  <a:rPr lang="en-GB" dirty="0"/>
                  <a:t>Electron microprobe: X-ray spectroscopy at the µm scale</a:t>
                </a:r>
              </a:p>
              <a:p>
                <a:r>
                  <a:rPr lang="en-GB" dirty="0"/>
                  <a:t>Calculate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GB" i="0" baseline="-25000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GB" b="0" i="0" baseline="-250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GB" dirty="0"/>
                  <a:t> (assuming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>
                    <a:solidFill>
                      <a:schemeClr val="accent1"/>
                    </a:solidFill>
                  </a:rPr>
                  <a:t>)</a:t>
                </a:r>
              </a:p>
              <a:p>
                <a:pPr>
                  <a:spcAft>
                    <a:spcPts val="1000"/>
                  </a:spcAft>
                </a:pPr>
                <a:r>
                  <a:rPr lang="en-GB" dirty="0"/>
                  <a:t>Solve Fick’s second law for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Fo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Fo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l-GR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l-GR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Fo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l-GR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GB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Solutions are usually obtained numerically (i.e. with a computer)</a:t>
                </a:r>
              </a:p>
            </p:txBody>
          </p:sp>
        </mc:Choice>
        <mc:Fallback xmlns="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BE3B689B-07DC-40FF-88BA-47C12A8884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647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Content Placeholder 9">
            <a:extLst>
              <a:ext uri="{FF2B5EF4-FFF2-40B4-BE49-F238E27FC236}">
                <a16:creationId xmlns:a16="http://schemas.microsoft.com/office/drawing/2014/main" id="{D29E2F6A-E755-4FD5-BB22-EE6B106EE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757" y="3428218"/>
            <a:ext cx="29527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4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256" y="4034318"/>
            <a:ext cx="3950543" cy="22302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03FF24-71CC-4FB8-9D0C-E10832FD6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41061" cy="1325563"/>
          </a:xfrm>
        </p:spPr>
        <p:txBody>
          <a:bodyPr/>
          <a:lstStyle/>
          <a:p>
            <a:r>
              <a:rPr lang="en-GB" dirty="0"/>
              <a:t>Mg–Fe zoning in olivine: 1783–84 Laki Fires, Iceland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2DBE1C-37E6-489B-B4F9-E744736789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38200" y="1777515"/>
            <a:ext cx="4057997" cy="210739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9DA21B1-A6E7-4CE3-9454-5B4787946A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4786" y="4162131"/>
            <a:ext cx="4970549" cy="2088000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E8974-7E44-4FC5-B2FD-A238DA58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8F117-3C2A-4F3F-AAF1-4E8F227C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</a:t>
            </a:r>
            <a:r>
              <a:rPr lang="en-GB"/>
              <a:t>Lecture 5 </a:t>
            </a:r>
            <a:r>
              <a:rPr lang="en-GB" dirty="0"/>
              <a:t>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4226D-4861-4692-B377-3094FB8F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32</a:t>
            </a:fld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CC1928-C514-43D5-98BB-F7C9B232D4AE}"/>
              </a:ext>
            </a:extLst>
          </p:cNvPr>
          <p:cNvSpPr txBox="1"/>
          <p:nvPr/>
        </p:nvSpPr>
        <p:spPr>
          <a:xfrm>
            <a:off x="5262344" y="1992007"/>
            <a:ext cx="5987311" cy="1678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Largest documented eruption in Europe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Olivines record </a:t>
            </a:r>
            <a:r>
              <a:rPr lang="en-GB" sz="2400" i="1" dirty="0">
                <a:solidFill>
                  <a:schemeClr val="accent1"/>
                </a:solidFill>
              </a:rPr>
              <a:t>mixing with cooler melts</a:t>
            </a:r>
            <a:r>
              <a:rPr lang="en-GB" sz="2400" dirty="0"/>
              <a:t> only </a:t>
            </a:r>
            <a:r>
              <a:rPr lang="en-GB" sz="2400" i="1" dirty="0">
                <a:solidFill>
                  <a:schemeClr val="accent1"/>
                </a:solidFill>
              </a:rPr>
              <a:t>6–10 days </a:t>
            </a:r>
            <a:r>
              <a:rPr lang="en-GB" sz="2400" dirty="0"/>
              <a:t>before eruption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Little warning of future eruptions?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95498A-6DE0-4628-9280-956F408E0E9C}"/>
              </a:ext>
            </a:extLst>
          </p:cNvPr>
          <p:cNvSpPr txBox="1"/>
          <p:nvPr/>
        </p:nvSpPr>
        <p:spPr>
          <a:xfrm>
            <a:off x="9821008" y="3992229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3"/>
                </a:solidFill>
              </a:rPr>
              <a:t>Hartley et al. (2016)</a:t>
            </a:r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5E43E5E7-3BBF-4149-9666-54C71D8448C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76602"/>
            <a:ext cx="1510920" cy="208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62B6594C-0136-4E57-B983-C439B708E617}"/>
              </a:ext>
            </a:extLst>
          </p:cNvPr>
          <p:cNvSpPr/>
          <p:nvPr/>
        </p:nvSpPr>
        <p:spPr>
          <a:xfrm>
            <a:off x="1348326" y="4760628"/>
            <a:ext cx="360000" cy="36000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6598FC1-25D9-4CE0-8B68-C5546A9577EC}"/>
              </a:ext>
            </a:extLst>
          </p:cNvPr>
          <p:cNvSpPr/>
          <p:nvPr/>
        </p:nvSpPr>
        <p:spPr>
          <a:xfrm rot="5400000" flipH="1">
            <a:off x="957228" y="4513224"/>
            <a:ext cx="517404" cy="18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picture containing polygon&#10;&#10;Description automatically generated">
            <a:extLst>
              <a:ext uri="{FF2B5EF4-FFF2-40B4-BE49-F238E27FC236}">
                <a16:creationId xmlns:a16="http://schemas.microsoft.com/office/drawing/2014/main" id="{B2A9163B-C17D-4213-A4BC-D161B0F723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7655" y="3062788"/>
            <a:ext cx="792000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2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BA427-2B20-4A16-82BA-289FD8FDF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Mg–Fe zoning in olivine: Etna, Italy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18369D9-FFBB-423A-8120-6BEA861FC1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1825624"/>
            <a:ext cx="3971933" cy="161755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4E26C-3A82-48D8-87AD-7A0A5394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8E804-85C3-42BF-A354-C468C3B6A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EART26201 | Principles of Geochemistry | Lecture 5 | Part 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422C2-F4C3-4AB4-89C7-EE0BF1425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33</a:t>
            </a:fld>
            <a:endParaRPr lang="en-GB"/>
          </a:p>
        </p:txBody>
      </p: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AD089FE1-A0C8-42AA-BA06-F02E90BCCAD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76602"/>
            <a:ext cx="1510920" cy="208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8D7CECEF-EEB0-4AAC-B717-016BDA0C66A2}"/>
              </a:ext>
            </a:extLst>
          </p:cNvPr>
          <p:cNvSpPr/>
          <p:nvPr/>
        </p:nvSpPr>
        <p:spPr>
          <a:xfrm>
            <a:off x="1593660" y="4760628"/>
            <a:ext cx="360000" cy="360000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82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3541EBA-AD03-46E1-BE6A-D2190C3DE572}"/>
              </a:ext>
            </a:extLst>
          </p:cNvPr>
          <p:cNvSpPr/>
          <p:nvPr/>
        </p:nvSpPr>
        <p:spPr>
          <a:xfrm rot="5400000" flipH="1">
            <a:off x="1514958" y="5381078"/>
            <a:ext cx="517404" cy="1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0A1A533E-BF67-4C12-AEFB-DF63828A50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9922" y="3780602"/>
            <a:ext cx="3370678" cy="2484000"/>
          </a:xfrm>
        </p:spPr>
      </p:pic>
      <p:pic>
        <p:nvPicPr>
          <p:cNvPr id="27" name="Content Placeholder 8">
            <a:extLst>
              <a:ext uri="{FF2B5EF4-FFF2-40B4-BE49-F238E27FC236}">
                <a16:creationId xmlns:a16="http://schemas.microsoft.com/office/drawing/2014/main" id="{B336BDEF-8A2F-4A65-8FEF-9B2185B6549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24553" y="3778044"/>
            <a:ext cx="2729246" cy="2484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2858BB8-AFE8-4A72-AB87-B388CE5462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23598" y="4110461"/>
            <a:ext cx="2186535" cy="215414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AEB4986-B1FC-49B5-960D-1BEC3A0A94DE}"/>
              </a:ext>
            </a:extLst>
          </p:cNvPr>
          <p:cNvSpPr txBox="1"/>
          <p:nvPr/>
        </p:nvSpPr>
        <p:spPr>
          <a:xfrm>
            <a:off x="5262344" y="1825624"/>
            <a:ext cx="5987311" cy="1678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Most active volcano in Europe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Some olivines record </a:t>
            </a:r>
            <a:r>
              <a:rPr lang="en-GB" sz="2400" i="1" dirty="0">
                <a:solidFill>
                  <a:schemeClr val="accent1"/>
                </a:solidFill>
              </a:rPr>
              <a:t>recharge by hotter melts ~40 days </a:t>
            </a:r>
            <a:r>
              <a:rPr lang="en-GB" sz="2400" dirty="0"/>
              <a:t>before eruption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Magma recharge may trigger eruptions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46AB70-D0C0-4010-AD82-F4048D9C42EA}"/>
              </a:ext>
            </a:extLst>
          </p:cNvPr>
          <p:cNvSpPr txBox="1"/>
          <p:nvPr/>
        </p:nvSpPr>
        <p:spPr>
          <a:xfrm>
            <a:off x="3566955" y="3741714"/>
            <a:ext cx="1353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3"/>
                </a:solidFill>
              </a:rPr>
              <a:t>Kahl et al. (2013)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DD59424-6BCA-4331-832C-3B706DAF9109}"/>
              </a:ext>
            </a:extLst>
          </p:cNvPr>
          <p:cNvSpPr/>
          <p:nvPr/>
        </p:nvSpPr>
        <p:spPr>
          <a:xfrm flipH="1">
            <a:off x="9499298" y="5220602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D335B24-EBE0-4941-9904-813A91F28B38}"/>
              </a:ext>
            </a:extLst>
          </p:cNvPr>
          <p:cNvSpPr/>
          <p:nvPr/>
        </p:nvSpPr>
        <p:spPr>
          <a:xfrm rot="19562526">
            <a:off x="9927656" y="4962709"/>
            <a:ext cx="676313" cy="186345"/>
          </a:xfrm>
          <a:prstGeom prst="rightArrow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4D31A06-A953-45F8-A6C4-468C9EE517FE}"/>
              </a:ext>
            </a:extLst>
          </p:cNvPr>
          <p:cNvSpPr/>
          <p:nvPr/>
        </p:nvSpPr>
        <p:spPr>
          <a:xfrm flipH="1">
            <a:off x="10583141" y="4472705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011CBFBE-E903-4889-A666-33AC8214C8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60" y="2522594"/>
            <a:ext cx="792000" cy="79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3ECA5E-A77D-433E-AF37-44B787756EFB}"/>
              </a:ext>
            </a:extLst>
          </p:cNvPr>
          <p:cNvSpPr txBox="1"/>
          <p:nvPr/>
        </p:nvSpPr>
        <p:spPr>
          <a:xfrm>
            <a:off x="2039823" y="2981518"/>
            <a:ext cx="2770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chemeClr val="bg1"/>
                </a:solidFill>
              </a:rPr>
              <a:t>Catania, pop. 300k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E8992-AF32-4522-B61E-14C44E688633}"/>
              </a:ext>
            </a:extLst>
          </p:cNvPr>
          <p:cNvSpPr/>
          <p:nvPr/>
        </p:nvSpPr>
        <p:spPr>
          <a:xfrm>
            <a:off x="8624553" y="3580185"/>
            <a:ext cx="3127664" cy="2646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74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34" grpId="0"/>
      <p:bldP spid="15" grpId="0" animBg="1"/>
      <p:bldP spid="17" grpId="0" animBg="1"/>
      <p:bldP spid="19" grpId="0" animBg="1"/>
      <p:bldP spid="9" grpId="0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E8A18-8DFF-4DD1-879D-E250C77D5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01250" cy="1325563"/>
          </a:xfrm>
        </p:spPr>
        <p:txBody>
          <a:bodyPr/>
          <a:lstStyle/>
          <a:p>
            <a:r>
              <a:rPr lang="en-GB" dirty="0"/>
              <a:t>But magma plumbing systems may be more complex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89C17A0-1C1A-44CF-9175-9EDADEC67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847850"/>
            <a:ext cx="5225924" cy="4351338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D9073-74D0-4EC9-BA7B-DDCB9CD6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C7AC6-D8A2-4BCF-8417-B674C5044179}" type="slidenum">
              <a:rPr lang="en-GB" smtClean="0"/>
              <a:t>34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FC469C4-2421-408E-B5E4-AC7CB920C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Semester 1</a:t>
            </a:r>
            <a:endParaRPr lang="en-GB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56CF564-680E-45A7-99E6-012E3E935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32759" y="6356350"/>
            <a:ext cx="4526481" cy="365125"/>
          </a:xfrm>
        </p:spPr>
        <p:txBody>
          <a:bodyPr/>
          <a:lstStyle/>
          <a:p>
            <a:r>
              <a:rPr lang="en-GB" dirty="0"/>
              <a:t>EART26201 | Principles of Geochemistry | Lecture 5 | Part 5</a:t>
            </a:r>
          </a:p>
        </p:txBody>
      </p:sp>
      <p:pic>
        <p:nvPicPr>
          <p:cNvPr id="13" name="Content Placeholder 8">
            <a:extLst>
              <a:ext uri="{FF2B5EF4-FFF2-40B4-BE49-F238E27FC236}">
                <a16:creationId xmlns:a16="http://schemas.microsoft.com/office/drawing/2014/main" id="{885F4CF7-3A28-46C1-A982-E0FCBB6A433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4774" y="4143616"/>
            <a:ext cx="2256901" cy="2054100"/>
          </a:xfrm>
          <a:prstGeom prst="rect">
            <a:avLst/>
          </a:prstGeom>
        </p:spPr>
      </p:pic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CEB130F8-9106-40F5-87C1-0D1946FA6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4" y="1621488"/>
            <a:ext cx="5092391" cy="2073862"/>
          </a:xfrm>
          <a:prstGeom prst="rect">
            <a:avLst/>
          </a:prstGeom>
        </p:spPr>
      </p:pic>
      <p:pic>
        <p:nvPicPr>
          <p:cNvPr id="1026" name="Picture 2" descr="File:Etna Volcano Paroxysmal Eruption July 30 2011 - Creative Commons by  gnuckx (5992727232).jpg - Wikimedia Commons"/>
          <p:cNvPicPr>
            <a:picLocks noChangeAspect="1" noChangeArrowheads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63" t="9955" r="10290" b="-2489"/>
          <a:stretch/>
        </p:blipFill>
        <p:spPr bwMode="auto">
          <a:xfrm>
            <a:off x="9355666" y="4143616"/>
            <a:ext cx="1834434" cy="205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V="1">
            <a:off x="7214595" y="4665133"/>
            <a:ext cx="553572" cy="4716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2962212" y="2470768"/>
            <a:ext cx="977900" cy="1481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3230033" y="3547533"/>
            <a:ext cx="351368" cy="8043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2692401" y="3509433"/>
            <a:ext cx="469899" cy="23706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7634339" y="4864102"/>
            <a:ext cx="481605" cy="36106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751115" y="5026467"/>
            <a:ext cx="364829" cy="307096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2692401" y="4944533"/>
            <a:ext cx="269812" cy="4318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7369558" y="4809950"/>
            <a:ext cx="561569" cy="41522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4108450" y="4944533"/>
            <a:ext cx="269812" cy="4318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3757082" y="3587750"/>
            <a:ext cx="351368" cy="8043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184121" y="3589161"/>
            <a:ext cx="315912" cy="31582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25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UoM_Teaching">
      <a:dk1>
        <a:sysClr val="windowText" lastClr="000000"/>
      </a:dk1>
      <a:lt1>
        <a:sysClr val="window" lastClr="FFFFFF"/>
      </a:lt1>
      <a:dk2>
        <a:srgbClr val="660099"/>
      </a:dk2>
      <a:lt2>
        <a:srgbClr val="FFCC33"/>
      </a:lt2>
      <a:accent1>
        <a:srgbClr val="660099"/>
      </a:accent1>
      <a:accent2>
        <a:srgbClr val="FFCC33"/>
      </a:accent2>
      <a:accent3>
        <a:srgbClr val="999999"/>
      </a:accent3>
      <a:accent4>
        <a:srgbClr val="B728FE"/>
      </a:accent4>
      <a:accent5>
        <a:srgbClr val="FFE084"/>
      </a:accent5>
      <a:accent6>
        <a:srgbClr val="C1C1C1"/>
      </a:accent6>
      <a:hlink>
        <a:srgbClr val="999999"/>
      </a:hlink>
      <a:folHlink>
        <a:srgbClr val="9999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1737</TotalTime>
  <Words>2500</Words>
  <Application>Microsoft Office PowerPoint</Application>
  <PresentationFormat>Widescreen</PresentationFormat>
  <Paragraphs>335</Paragraphs>
  <Slides>34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Cambria Math</vt:lpstr>
      <vt:lpstr>Office Theme</vt:lpstr>
      <vt:lpstr>The pace of geochemical processes: kinetics and diffusion</vt:lpstr>
      <vt:lpstr>Thermodynamics versus kinetics</vt:lpstr>
      <vt:lpstr>Kinetics in geological systems: the rock record</vt:lpstr>
      <vt:lpstr>Kinetics in geological systems: timescales</vt:lpstr>
      <vt:lpstr>Kinetics in environmental systems: climate feedbacks</vt:lpstr>
      <vt:lpstr>Lecture 5 synopsis</vt:lpstr>
      <vt:lpstr>The pace of geochemical processes: kinetics and diffusion</vt:lpstr>
      <vt:lpstr>Reaction rates</vt:lpstr>
      <vt:lpstr>Factors determining reaction rates</vt:lpstr>
      <vt:lpstr>Rate laws and reaction orders</vt:lpstr>
      <vt:lpstr>Types of reaction order</vt:lpstr>
      <vt:lpstr>Reaction order example</vt:lpstr>
      <vt:lpstr>The pace of geochemical processes: kinetics and diffusion</vt:lpstr>
      <vt:lpstr>Factors determining reaction rates</vt:lpstr>
      <vt:lpstr>The rate constant</vt:lpstr>
      <vt:lpstr>Energy and temperature: Arrhenian relationships</vt:lpstr>
      <vt:lpstr>Implications for Arrhenian relationships</vt:lpstr>
      <vt:lpstr>The pace of geochemical processes: kinetics and diffusion</vt:lpstr>
      <vt:lpstr>Mass transfer in geochemical systems</vt:lpstr>
      <vt:lpstr>Advection versus diffusion</vt:lpstr>
      <vt:lpstr>Advective flux</vt:lpstr>
      <vt:lpstr>Advective mass transfer on Earth</vt:lpstr>
      <vt:lpstr>Diffusive flux and Fick’s first law</vt:lpstr>
      <vt:lpstr>Diffusion coefficients</vt:lpstr>
      <vt:lpstr>Diffusion profiles and Fick’s second law</vt:lpstr>
      <vt:lpstr>The pace of geochemical processes: kinetics and diffusion</vt:lpstr>
      <vt:lpstr>Concentration profiles record information about time</vt:lpstr>
      <vt:lpstr>Concentration profiles in magmatic samples</vt:lpstr>
      <vt:lpstr>Mg–Fe zoning in olivine: growth of crystal zones</vt:lpstr>
      <vt:lpstr>Mg–Fe zoning in olivine: diffusion of crystal zones</vt:lpstr>
      <vt:lpstr>Mg–Fe zoning in olivine: estimating timescales</vt:lpstr>
      <vt:lpstr>Mg–Fe zoning in olivine: 1783–84 Laki Fires, Iceland</vt:lpstr>
      <vt:lpstr>Mg–Fe zoning in olivine: Etna, Italy</vt:lpstr>
      <vt:lpstr>But magma plumbing systems may be more complex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Neave</dc:creator>
  <cp:lastModifiedBy>Romain Tartese</cp:lastModifiedBy>
  <cp:revision>126</cp:revision>
  <dcterms:created xsi:type="dcterms:W3CDTF">2020-07-29T10:27:56Z</dcterms:created>
  <dcterms:modified xsi:type="dcterms:W3CDTF">2025-10-24T08:52:10Z</dcterms:modified>
</cp:coreProperties>
</file>