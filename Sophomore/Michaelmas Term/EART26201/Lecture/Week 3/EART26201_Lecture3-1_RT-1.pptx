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3"/>
  </p:notesMasterIdLst>
  <p:sldIdLst>
    <p:sldId id="256" r:id="rId2"/>
    <p:sldId id="262" r:id="rId3"/>
    <p:sldId id="257" r:id="rId4"/>
    <p:sldId id="261" r:id="rId5"/>
    <p:sldId id="258" r:id="rId6"/>
    <p:sldId id="259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60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1404" autoAdjust="0"/>
  </p:normalViewPr>
  <p:slideViewPr>
    <p:cSldViewPr snapToGrid="0">
      <p:cViewPr varScale="1">
        <p:scale>
          <a:sx n="101" d="100"/>
          <a:sy n="101" d="100"/>
        </p:scale>
        <p:origin x="180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B953AF-DF34-41AB-87A3-F900B0DA0FC7}" type="datetimeFigureOut">
              <a:rPr lang="en-GB" smtClean="0"/>
              <a:t>13/10/2025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73A3FC-9EFF-4235-97DD-25083E8D10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583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834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368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6302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397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121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834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1432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923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465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95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2996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8347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4661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8635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32657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819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15898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8347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4056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2656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75385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31439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4545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834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DEB6B-C512-49C0-9CAD-276284DCA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B2130-D659-4086-A5E7-3AEF8B9FE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1113E-79F7-4222-9DEA-3399CE8E4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7D4B2-768D-42AB-B96C-ADC0935B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6000" y="6356350"/>
            <a:ext cx="4320000" cy="365125"/>
          </a:xfrm>
        </p:spPr>
        <p:txBody>
          <a:bodyPr/>
          <a:lstStyle/>
          <a:p>
            <a:r>
              <a:rPr lang="en-GB"/>
              <a:t>EART26201 | Principles of Geochemistry | Lecture 1 | Part 1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544E5-283B-497C-A17F-C5391119A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263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444D7-5AE2-41B0-B945-E0FECB667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D1EA-A4A2-466D-B767-7370ABE81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6DFC4-0CDF-499C-B418-8927AA7AC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B0986-6916-4257-AC63-570EB60B2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EART26201 | Principles of Geochemistry | Lecture 1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95634-03D4-4B80-8752-BEC3863C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29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5007B-207F-41C8-AD48-8936F46D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FFBCD-2955-4AEB-9992-D31726423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DD235-57F7-4DF5-A618-53498FAEB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D12B6-0CAE-4442-BB78-79F3BF66C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EART26201 | Principles of Geochemistry | Lecture 1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F6BF4-1B6C-4A06-947A-FCF11168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474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CF338-9494-47F6-9CEE-A923AD708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69605-CD76-408F-96F4-EA27EC69C4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9F475-DB77-4C29-99B4-4C4C64BC8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2455F-10BA-427D-8547-8C5F56177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C4AF3-05D4-4B43-9A59-60C5E1AD1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EART26201 | Principles of Geochemistry | Lecture 1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008A9-97D5-40C4-A96B-CEF65CF16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789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4F20F-10A8-48E6-80DB-7B010E2BD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576000" cy="132556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D2251-873A-4A2D-A182-4E34AA341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14E8C-305B-4B34-8E66-A4F27CB03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AE0F9B-6195-46E1-9CF4-416107D16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54E796-701E-4320-A231-AEF835AE1E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6CF397-B797-4A96-995C-78DE19921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2B863-2E74-460E-8183-92C862656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EART26201 | Principles of Geochemistry | Lecture 1 | Part 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3FDD3A-C152-47DF-8127-598C7C5C1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70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AABF-A0CD-4179-9FE9-90F931368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A6627-BDA2-45CE-8E54-D36CA5DA1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16E08-C137-465F-B57D-E9D941508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EART26201 | Principles of Geochemistry | Lecture 1 | Part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8A738-D179-41F0-A7D7-8A450A3A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062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9F2D7E-443F-4ADA-91DF-33246ADB5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E3AFB4-9718-41E1-B211-5F80969FB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EART26201 | Principles of Geochemistry | Lecture 1 | Part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F952D-E203-4F1B-9063-B98E95092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760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A30D7-E7C0-4BE7-827F-3FF29DD20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2A7E1-86B7-4951-A1FC-BDB39D0A7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FF350-FAD3-46DA-A9C4-EE5711265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5A263-81E2-4306-BDF4-B5C84BE89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EA232-7B9A-4C5F-BCC2-A18CBE4DA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EART26201 | Principles of Geochemistry | Lecture 1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2B55D-FD4A-436A-AB1B-882DC5572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450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962B7-ACB1-43AC-AA2C-9373A999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2F6B07-574D-4C0E-A925-45AA47BEC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DC7EBD-0CE1-4E7F-8E35-2E0B7470B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C96AF-E8C1-4F52-AFFB-8DACD886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EB72B-8213-49B5-B39E-DECF99786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EART26201 | Principles of Geochemistry | Lecture 1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E4821-0C42-4BA9-9DD9-53387A36D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6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BFA19-4301-4438-9832-D4D27B007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E8D55F-6FA4-4694-A0E6-014C8499A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E48DF-3ED2-4288-8906-6A091A87E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9EBF5-8347-40D6-8325-95E87E18A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EART26201 | Principles of Geochemistry | Lecture 1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E5CE1-2E6D-484E-954B-2BFBE70E6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120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B29294-658A-4249-B526-A099D2AB05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C2D95-B9CF-41E2-A944-2553D8AFF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FBEB1-908E-4CEA-8F6C-1B7EFA96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C3054-6B2A-423D-83B9-B0F1A2980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EART26201 | Principles of Geochemistry | Lecture 1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A5E9B-95EC-4279-94DD-C781953F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643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2D7403-4BF5-4671-ABC7-9B0F30D3E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753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6F7F6-C35F-42F5-9686-7FB1BA713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346F8-F24C-44E3-B06F-D7FD88AB07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8A35A-47F9-4349-A154-804ADAFED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6000" y="6356350"/>
            <a:ext cx="432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EART26201 | Principles of Geochemistry | Lecture 1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D7A1A-0F11-4CD9-86CE-E1686C26D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641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90.png"/><Relationship Id="rId7" Type="http://schemas.openxmlformats.org/officeDocument/2006/relationships/image" Target="../media/image2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png"/><Relationship Id="rId4" Type="http://schemas.openxmlformats.org/officeDocument/2006/relationships/image" Target="../media/image10.png"/><Relationship Id="rId9" Type="http://schemas.openxmlformats.org/officeDocument/2006/relationships/image" Target="../media/image2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0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4.png"/><Relationship Id="rId4" Type="http://schemas.openxmlformats.org/officeDocument/2006/relationships/image" Target="../media/image33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1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F090-150B-473E-BD80-A3825C764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Reactions in geochemical systems: thermodynamics and phase diagram principles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E7A83-1F4B-42AA-92ED-D2CA10EB50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3</a:t>
            </a:r>
          </a:p>
          <a:p>
            <a:r>
              <a:rPr lang="en-GB" dirty="0"/>
              <a:t>Part 1 | Introduction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BC59C-67B6-4B05-BC06-2EEFD1F7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8E3BF-8C94-43B7-BDCB-B289E57E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507B5-2A7D-4FCF-A40A-BADB4BDC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109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C6D3-9E17-452B-B6F5-145944785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Variations in pressure, temperature and composition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98F833-F67D-46F1-B565-F3C234C1E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604D0-A1D6-482B-B3A1-EE1DA7BA9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305DC-B311-4E22-B3C5-F0228735C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</a:t>
            </a:fld>
            <a:endParaRPr lang="en-GB"/>
          </a:p>
        </p:txBody>
      </p:sp>
      <p:pic>
        <p:nvPicPr>
          <p:cNvPr id="21" name="Content Placeholder 12" descr="A picture containing sitting, table, snow, covered&#10;&#10;Description automatically generated">
            <a:extLst>
              <a:ext uri="{FF2B5EF4-FFF2-40B4-BE49-F238E27FC236}">
                <a16:creationId xmlns:a16="http://schemas.microsoft.com/office/drawing/2014/main" id="{66CDACC1-B8F9-4D14-ABFF-16068371552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4038"/>
            <a:ext cx="4316402" cy="4320000"/>
          </a:xfrm>
        </p:spPr>
      </p:pic>
      <p:pic>
        <p:nvPicPr>
          <p:cNvPr id="24" name="Content Placeholder 16" descr="A smoke on the side of a mountain&#10;&#10;Description automatically generated">
            <a:extLst>
              <a:ext uri="{FF2B5EF4-FFF2-40B4-BE49-F238E27FC236}">
                <a16:creationId xmlns:a16="http://schemas.microsoft.com/office/drawing/2014/main" id="{2AC4B4F5-FBA3-41D6-BF76-F48BEF7AFE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3" r="8562"/>
          <a:stretch/>
        </p:blipFill>
        <p:spPr>
          <a:xfrm>
            <a:off x="5969955" y="1824038"/>
            <a:ext cx="5383845" cy="4320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4B8C56-85C7-495C-AAE5-9E80E32E4850}"/>
              </a:ext>
            </a:extLst>
          </p:cNvPr>
          <p:cNvSpPr txBox="1"/>
          <p:nvPr/>
        </p:nvSpPr>
        <p:spPr>
          <a:xfrm>
            <a:off x="8661877" y="5811252"/>
            <a:ext cx="26741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 err="1">
                <a:solidFill>
                  <a:schemeClr val="accent3"/>
                </a:solidFill>
              </a:rPr>
              <a:t>Holuhraun</a:t>
            </a:r>
            <a:r>
              <a:rPr lang="en-GB" sz="1200" dirty="0">
                <a:solidFill>
                  <a:schemeClr val="accent3"/>
                </a:solidFill>
              </a:rPr>
              <a:t>, Iceland, credit: Fangorn9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E82E29-63E1-4123-B096-964763093D97}"/>
              </a:ext>
            </a:extLst>
          </p:cNvPr>
          <p:cNvSpPr txBox="1"/>
          <p:nvPr/>
        </p:nvSpPr>
        <p:spPr>
          <a:xfrm>
            <a:off x="4089887" y="5811252"/>
            <a:ext cx="10647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chemeClr val="accent3"/>
                </a:solidFill>
              </a:rPr>
              <a:t>credit: NASA</a:t>
            </a:r>
          </a:p>
        </p:txBody>
      </p:sp>
    </p:spTree>
    <p:extLst>
      <p:ext uri="{BB962C8B-B14F-4D97-AF65-F5344CB8AC3E}">
        <p14:creationId xmlns:p14="http://schemas.microsoft.com/office/powerpoint/2010/main" val="3765365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31AF2ED-302D-45A2-B7FD-14023B149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Equilibrium in Earth systems: from mantle to surface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DEEABF45-0116-42C4-BA04-ECEBB49C0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5362" y="2257625"/>
            <a:ext cx="5998438" cy="3919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Equilibrium is reached when constituents of a system do not change with time</a:t>
            </a:r>
          </a:p>
          <a:p>
            <a:pPr>
              <a:lnSpc>
                <a:spcPct val="100000"/>
              </a:lnSpc>
            </a:pPr>
            <a:r>
              <a:rPr lang="en-GB" dirty="0"/>
              <a:t>At equilibrium, basaltic magmas are </a:t>
            </a:r>
            <a:r>
              <a:rPr lang="en-GB" dirty="0">
                <a:solidFill>
                  <a:schemeClr val="accent1"/>
                </a:solidFill>
              </a:rPr>
              <a:t>liquid under mantle conditions</a:t>
            </a:r>
            <a:r>
              <a:rPr lang="en-GB" dirty="0"/>
              <a:t>, but…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                …</a:t>
            </a:r>
            <a:r>
              <a:rPr lang="en-GB" dirty="0">
                <a:solidFill>
                  <a:schemeClr val="accent2"/>
                </a:solidFill>
              </a:rPr>
              <a:t>solid under surface conditions</a:t>
            </a:r>
          </a:p>
          <a:p>
            <a:pPr>
              <a:lnSpc>
                <a:spcPct val="100000"/>
              </a:lnSpc>
            </a:pPr>
            <a:r>
              <a:rPr lang="en-GB" dirty="0"/>
              <a:t>Crystallisation reflects the re-equilibration of hot magmas with cooler surroundings</a:t>
            </a:r>
          </a:p>
          <a:p>
            <a:pPr>
              <a:lnSpc>
                <a:spcPct val="100000"/>
              </a:lnSpc>
            </a:pPr>
            <a:r>
              <a:rPr lang="en-GB" dirty="0"/>
              <a:t>Thermodynamics lets us quantitatively describe chemical changes in the Earth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51DAC-4F51-46BD-865C-90A8782AB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22518-F80C-44F3-9258-D7DF3C43D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11D78-A165-48C7-9A28-2E7010830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</a:t>
            </a:fld>
            <a:endParaRPr lang="en-GB"/>
          </a:p>
        </p:txBody>
      </p:sp>
      <p:pic>
        <p:nvPicPr>
          <p:cNvPr id="38" name="Content Placeholder 37" descr="A picture containing chair&#10;&#10;Description automatically generated">
            <a:extLst>
              <a:ext uri="{FF2B5EF4-FFF2-40B4-BE49-F238E27FC236}">
                <a16:creationId xmlns:a16="http://schemas.microsoft.com/office/drawing/2014/main" id="{817A6850-C34D-4776-9710-D08C31FB187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651" y="1825625"/>
            <a:ext cx="3145562" cy="4351338"/>
          </a:xfrm>
          <a:prstGeom prst="rect">
            <a:avLst/>
          </a:prstGeom>
        </p:spPr>
      </p:pic>
      <p:sp>
        <p:nvSpPr>
          <p:cNvPr id="48" name="Arrow: Left 47">
            <a:extLst>
              <a:ext uri="{FF2B5EF4-FFF2-40B4-BE49-F238E27FC236}">
                <a16:creationId xmlns:a16="http://schemas.microsoft.com/office/drawing/2014/main" id="{5041FDCA-31E7-4915-9C25-773DCA085831}"/>
              </a:ext>
            </a:extLst>
          </p:cNvPr>
          <p:cNvSpPr/>
          <p:nvPr/>
        </p:nvSpPr>
        <p:spPr>
          <a:xfrm>
            <a:off x="2804032" y="5382737"/>
            <a:ext cx="540000" cy="4320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Arrow: Left 49">
            <a:extLst>
              <a:ext uri="{FF2B5EF4-FFF2-40B4-BE49-F238E27FC236}">
                <a16:creationId xmlns:a16="http://schemas.microsoft.com/office/drawing/2014/main" id="{EDEB6913-A5F0-4B0C-B34E-0CC2BB632F22}"/>
              </a:ext>
            </a:extLst>
          </p:cNvPr>
          <p:cNvSpPr/>
          <p:nvPr/>
        </p:nvSpPr>
        <p:spPr>
          <a:xfrm flipH="1">
            <a:off x="1993232" y="1825625"/>
            <a:ext cx="540000" cy="4320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E1C16A5B-39FC-4629-9281-ECF2EF9ED793}"/>
              </a:ext>
            </a:extLst>
          </p:cNvPr>
          <p:cNvSpPr/>
          <p:nvPr/>
        </p:nvSpPr>
        <p:spPr>
          <a:xfrm rot="10800000">
            <a:off x="3344032" y="2632326"/>
            <a:ext cx="417095" cy="2442411"/>
          </a:xfrm>
          <a:prstGeom prst="downArrow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4598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uiExpand="1" build="p"/>
      <p:bldP spid="48" grpId="0" animBg="1"/>
      <p:bldP spid="50" grpId="0" animBg="1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31AF2ED-302D-45A2-B7FD-14023B149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Equilibrium in Earth systems: magma crystallisation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A49B974-B629-49C7-960D-FF037AAF0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2"/>
            <a:ext cx="5157787" cy="1023783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Out of equilibrium: </a:t>
            </a:r>
            <a:r>
              <a:rPr lang="en-GB" dirty="0" err="1"/>
              <a:t>Halemaʻumaʻu</a:t>
            </a:r>
            <a:r>
              <a:rPr lang="en-GB" dirty="0"/>
              <a:t> lava lake in Hawaii before the 2018 eruption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296F7A3-DC76-4ECB-B1B5-222BEB8683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1023782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Approaching equilibrium: crystallisation of the </a:t>
            </a:r>
            <a:r>
              <a:rPr lang="en-GB" dirty="0" err="1"/>
              <a:t>Makaopuhi</a:t>
            </a:r>
            <a:r>
              <a:rPr lang="en-GB" dirty="0"/>
              <a:t> lava lake in 1965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51DAC-4F51-46BD-865C-90A8782AB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22518-F80C-44F3-9258-D7DF3C43D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11D78-A165-48C7-9A28-2E7010830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4</a:t>
            </a:fld>
            <a:endParaRPr lang="en-GB" dirty="0"/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3552B33E-AA68-4E58-B15C-A6572D068ED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2457" y="2704946"/>
            <a:ext cx="5158209" cy="3456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B1D435C-3A57-4E8F-84E0-73B5A0D68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572" y="3112860"/>
            <a:ext cx="1709228" cy="262366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C18267B-8162-4B5A-83AF-5566934D39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704947"/>
            <a:ext cx="3370974" cy="34515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F371B0-3AA4-48D9-8D27-A83AEA5D547A}"/>
              </a:ext>
            </a:extLst>
          </p:cNvPr>
          <p:cNvSpPr txBox="1"/>
          <p:nvPr/>
        </p:nvSpPr>
        <p:spPr>
          <a:xfrm>
            <a:off x="9639111" y="5879478"/>
            <a:ext cx="17146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dirty="0">
                <a:solidFill>
                  <a:schemeClr val="accent3"/>
                </a:solidFill>
              </a:rPr>
              <a:t>credit: USGS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3C0815-0531-4523-848B-3065E4AFF95D}"/>
              </a:ext>
            </a:extLst>
          </p:cNvPr>
          <p:cNvSpPr/>
          <p:nvPr/>
        </p:nvSpPr>
        <p:spPr>
          <a:xfrm>
            <a:off x="6127910" y="2658245"/>
            <a:ext cx="5314122" cy="3600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A6EA3A3F-987A-4A15-919D-7D0386668E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25113" y="2898914"/>
            <a:ext cx="3370974" cy="30680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14AD279-AEF0-4383-A839-67D146657834}"/>
              </a:ext>
            </a:extLst>
          </p:cNvPr>
          <p:cNvSpPr txBox="1"/>
          <p:nvPr/>
        </p:nvSpPr>
        <p:spPr>
          <a:xfrm>
            <a:off x="907270" y="2773889"/>
            <a:ext cx="3449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chemeClr val="accent6"/>
                </a:solidFill>
              </a:rPr>
              <a:t>Halemaʻumaʻu</a:t>
            </a:r>
            <a:r>
              <a:rPr lang="en-GB" sz="1200" dirty="0">
                <a:solidFill>
                  <a:schemeClr val="accent6"/>
                </a:solidFill>
              </a:rPr>
              <a:t>, Hawaii, credit: Brocken </a:t>
            </a:r>
            <a:r>
              <a:rPr lang="en-GB" sz="1200" dirty="0" err="1">
                <a:solidFill>
                  <a:schemeClr val="accent6"/>
                </a:solidFill>
              </a:rPr>
              <a:t>Inaglory</a:t>
            </a:r>
            <a:endParaRPr lang="en-GB" sz="1200" dirty="0">
              <a:solidFill>
                <a:schemeClr val="accent6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CD5FDD-16C6-4146-8050-03D233E9F333}"/>
              </a:ext>
            </a:extLst>
          </p:cNvPr>
          <p:cNvSpPr txBox="1"/>
          <p:nvPr/>
        </p:nvSpPr>
        <p:spPr>
          <a:xfrm>
            <a:off x="7021049" y="5598026"/>
            <a:ext cx="193238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accent3"/>
                </a:solidFill>
              </a:rPr>
              <a:t>Wright &amp; Okamura (1977)</a:t>
            </a:r>
          </a:p>
        </p:txBody>
      </p:sp>
    </p:spTree>
    <p:extLst>
      <p:ext uri="{BB962C8B-B14F-4D97-AF65-F5344CB8AC3E}">
        <p14:creationId xmlns:p14="http://schemas.microsoft.com/office/powerpoint/2010/main" val="46518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15" grpId="0" build="p"/>
      <p:bldP spid="12" grpId="0"/>
      <p:bldP spid="3" grpId="0" animBg="1"/>
      <p:bldP spid="16" grpId="0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DE44341-2699-4BED-8363-512C1415480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0603" y="2627266"/>
            <a:ext cx="3853492" cy="3507221"/>
          </a:xfrm>
          <a:prstGeom prst="rect">
            <a:avLst/>
          </a:prstGeom>
        </p:spPr>
      </p:pic>
      <p:pic>
        <p:nvPicPr>
          <p:cNvPr id="28" name="Content Placeholder 23">
            <a:extLst>
              <a:ext uri="{FF2B5EF4-FFF2-40B4-BE49-F238E27FC236}">
                <a16:creationId xmlns:a16="http://schemas.microsoft.com/office/drawing/2014/main" id="{F26035BB-AE9C-4B4E-A659-629EF1170F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0084" y="2627266"/>
            <a:ext cx="4494531" cy="3456000"/>
          </a:xfrm>
          <a:prstGeom prst="rect">
            <a:avLst/>
          </a:prstGeom>
        </p:spPr>
      </p:pic>
      <p:pic>
        <p:nvPicPr>
          <p:cNvPr id="20" name="Picture 19" descr="A rocky mountain side&#10;&#10;Description automatically generated">
            <a:extLst>
              <a:ext uri="{FF2B5EF4-FFF2-40B4-BE49-F238E27FC236}">
                <a16:creationId xmlns:a16="http://schemas.microsoft.com/office/drawing/2014/main" id="{FEAFA152-6E51-488E-90C6-877EC5A74CF2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402" y="2627266"/>
            <a:ext cx="4608000" cy="3456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AB07EF-B8C1-4070-A1A1-18B056709B1C}"/>
              </a:ext>
            </a:extLst>
          </p:cNvPr>
          <p:cNvSpPr txBox="1"/>
          <p:nvPr/>
        </p:nvSpPr>
        <p:spPr>
          <a:xfrm>
            <a:off x="7807573" y="2624013"/>
            <a:ext cx="32608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 err="1">
                <a:solidFill>
                  <a:schemeClr val="accent6"/>
                </a:solidFill>
              </a:rPr>
              <a:t>Cligga</a:t>
            </a:r>
            <a:r>
              <a:rPr lang="en-GB" sz="1200" dirty="0">
                <a:solidFill>
                  <a:schemeClr val="accent6"/>
                </a:solidFill>
              </a:rPr>
              <a:t> Head, Cornwall: tin and tungsten mine</a:t>
            </a:r>
          </a:p>
        </p:txBody>
      </p:sp>
      <p:sp>
        <p:nvSpPr>
          <p:cNvPr id="34" name="Arrow: Left 33">
            <a:extLst>
              <a:ext uri="{FF2B5EF4-FFF2-40B4-BE49-F238E27FC236}">
                <a16:creationId xmlns:a16="http://schemas.microsoft.com/office/drawing/2014/main" id="{10A7B193-CA23-4729-85CF-6A8583AB9890}"/>
              </a:ext>
            </a:extLst>
          </p:cNvPr>
          <p:cNvSpPr/>
          <p:nvPr/>
        </p:nvSpPr>
        <p:spPr>
          <a:xfrm rot="9271233" flipH="1">
            <a:off x="9375539" y="4022391"/>
            <a:ext cx="540000" cy="4320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31AF2ED-302D-45A2-B7FD-14023B149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importance of thermodynamics in Earth science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31A318F-9CEE-4771-AD83-66904BADBF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3059" y="2627266"/>
            <a:ext cx="5181470" cy="3456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A49B974-B629-49C7-960D-FF037AAF0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0084" y="1681163"/>
            <a:ext cx="4494531" cy="823912"/>
          </a:xfrm>
        </p:spPr>
        <p:txBody>
          <a:bodyPr>
            <a:normAutofit fontScale="92500"/>
          </a:bodyPr>
          <a:lstStyle/>
          <a:p>
            <a:r>
              <a:rPr lang="en-GB" dirty="0"/>
              <a:t>Predictive power: forecast responses to changing conditions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296F7A3-DC76-4ECB-B1B5-222BEB8683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>
            <a:normAutofit/>
          </a:bodyPr>
          <a:lstStyle/>
          <a:p>
            <a:r>
              <a:rPr lang="en-GB" dirty="0"/>
              <a:t>Applications: from prospecting to geoengineering and carbon capture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51DAC-4F51-46BD-865C-90A8782AB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22518-F80C-44F3-9258-D7DF3C43D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11D78-A165-48C7-9A28-2E7010830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5</a:t>
            </a:fld>
            <a:endParaRPr lang="en-GB"/>
          </a:p>
        </p:txBody>
      </p:sp>
      <p:pic>
        <p:nvPicPr>
          <p:cNvPr id="29" name="Content Placeholder 9">
            <a:extLst>
              <a:ext uri="{FF2B5EF4-FFF2-40B4-BE49-F238E27FC236}">
                <a16:creationId xmlns:a16="http://schemas.microsoft.com/office/drawing/2014/main" id="{0E584CEA-6331-413D-AE37-D4EB8F350527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09514" y="4489998"/>
            <a:ext cx="1704427" cy="1551269"/>
          </a:xfrm>
          <a:prstGeom prst="rect">
            <a:avLst/>
          </a:prstGeom>
        </p:spPr>
      </p:pic>
      <p:pic>
        <p:nvPicPr>
          <p:cNvPr id="31" name="Picture 30" descr="A picture containing cake, sitting, food, piece&#10;&#10;Description automatically generated">
            <a:extLst>
              <a:ext uri="{FF2B5EF4-FFF2-40B4-BE49-F238E27FC236}">
                <a16:creationId xmlns:a16="http://schemas.microsoft.com/office/drawing/2014/main" id="{DFB93B92-62AD-4DFD-A194-DE9D845760E0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3889148"/>
            <a:ext cx="2874197" cy="2155648"/>
          </a:xfrm>
          <a:prstGeom prst="rect">
            <a:avLst/>
          </a:prstGeom>
        </p:spPr>
      </p:pic>
      <p:sp>
        <p:nvSpPr>
          <p:cNvPr id="33" name="Arrow: Left 32">
            <a:extLst>
              <a:ext uri="{FF2B5EF4-FFF2-40B4-BE49-F238E27FC236}">
                <a16:creationId xmlns:a16="http://schemas.microsoft.com/office/drawing/2014/main" id="{41679D1E-FEA7-4049-B77E-46B70EB82D6C}"/>
              </a:ext>
            </a:extLst>
          </p:cNvPr>
          <p:cNvSpPr/>
          <p:nvPr/>
        </p:nvSpPr>
        <p:spPr>
          <a:xfrm rot="8596716" flipH="1">
            <a:off x="7787879" y="4492171"/>
            <a:ext cx="540000" cy="4320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055C4E-233E-4DD3-910B-96CCAF0F2848}"/>
              </a:ext>
            </a:extLst>
          </p:cNvPr>
          <p:cNvSpPr txBox="1"/>
          <p:nvPr/>
        </p:nvSpPr>
        <p:spPr>
          <a:xfrm>
            <a:off x="1170686" y="2670467"/>
            <a:ext cx="30267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chemeClr val="accent6"/>
                </a:solidFill>
              </a:rPr>
              <a:t>Jökulsárlón</a:t>
            </a:r>
            <a:r>
              <a:rPr lang="en-GB" sz="1200" dirty="0">
                <a:solidFill>
                  <a:schemeClr val="accent6"/>
                </a:solidFill>
              </a:rPr>
              <a:t>, Iceland, credit: Martin Peeks</a:t>
            </a:r>
          </a:p>
        </p:txBody>
      </p:sp>
      <p:pic>
        <p:nvPicPr>
          <p:cNvPr id="24" name="Picture 23" descr="A picture containing icon&#10;&#10;Description automatically generated">
            <a:extLst>
              <a:ext uri="{FF2B5EF4-FFF2-40B4-BE49-F238E27FC236}">
                <a16:creationId xmlns:a16="http://schemas.microsoft.com/office/drawing/2014/main" id="{47DBC0CA-8011-4868-8FBD-2CD39AE66A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159" y="5108607"/>
            <a:ext cx="792000" cy="792000"/>
          </a:xfrm>
          <a:prstGeom prst="rect">
            <a:avLst/>
          </a:prstGeom>
        </p:spPr>
      </p:pic>
      <p:pic>
        <p:nvPicPr>
          <p:cNvPr id="18" name="Picture 17" descr="Icon&#10;&#10;Description automatically generated">
            <a:extLst>
              <a:ext uri="{FF2B5EF4-FFF2-40B4-BE49-F238E27FC236}">
                <a16:creationId xmlns:a16="http://schemas.microsoft.com/office/drawing/2014/main" id="{18678495-6544-4DAA-A272-6D1D0C2223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205" y="2670467"/>
            <a:ext cx="792000" cy="792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F1FD4FC-C7D8-47E9-8149-72848CFB7C88}"/>
              </a:ext>
            </a:extLst>
          </p:cNvPr>
          <p:cNvSpPr txBox="1"/>
          <p:nvPr/>
        </p:nvSpPr>
        <p:spPr>
          <a:xfrm>
            <a:off x="9558593" y="2670218"/>
            <a:ext cx="1754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 err="1">
                <a:solidFill>
                  <a:schemeClr val="bg1"/>
                </a:solidFill>
              </a:rPr>
              <a:t>Carbfix</a:t>
            </a:r>
            <a:r>
              <a:rPr lang="en-GB" sz="1200" dirty="0">
                <a:solidFill>
                  <a:schemeClr val="bg1"/>
                </a:solidFill>
              </a:rPr>
              <a:t> project, Iceland</a:t>
            </a:r>
          </a:p>
        </p:txBody>
      </p:sp>
      <p:pic>
        <p:nvPicPr>
          <p:cNvPr id="23" name="Picture 22" descr="A picture containing text&#10;&#10;Description automatically generated">
            <a:extLst>
              <a:ext uri="{FF2B5EF4-FFF2-40B4-BE49-F238E27FC236}">
                <a16:creationId xmlns:a16="http://schemas.microsoft.com/office/drawing/2014/main" id="{77BE82AC-FF27-403D-84D2-1D69ECB731D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4955" y="5108607"/>
            <a:ext cx="792000" cy="792000"/>
          </a:xfrm>
          <a:prstGeom prst="rect">
            <a:avLst/>
          </a:prstGeom>
        </p:spPr>
      </p:pic>
      <p:pic>
        <p:nvPicPr>
          <p:cNvPr id="19" name="Picture 18" descr="A white circle with a green background&#10;&#10;Description automatically generated with medium confidence">
            <a:extLst>
              <a:ext uri="{FF2B5EF4-FFF2-40B4-BE49-F238E27FC236}">
                <a16:creationId xmlns:a16="http://schemas.microsoft.com/office/drawing/2014/main" id="{FEC89420-5401-46E7-A8C0-7745F501289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955" y="2670467"/>
            <a:ext cx="792000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67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4" grpId="0" animBg="1"/>
      <p:bldP spid="14" grpId="0" build="p"/>
      <p:bldP spid="15" grpId="0" build="p"/>
      <p:bldP spid="33" grpId="0" animBg="1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95FF365-DD3E-448E-B48E-6D0430578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3 synopsis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37DAB45C-CFE8-4AF8-921F-C7EA79E92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>
                    <a:solidFill>
                      <a:schemeClr val="accent2"/>
                    </a:solidFill>
                  </a:rPr>
                  <a:t>Synchronous</a:t>
                </a:r>
              </a:p>
              <a:p>
                <a:pPr marL="0" indent="0">
                  <a:buNone/>
                </a:pPr>
                <a:r>
                  <a:rPr lang="en-GB" dirty="0"/>
                  <a:t>Part 1 | Introduction</a:t>
                </a:r>
              </a:p>
              <a:p>
                <a:pPr marL="0" indent="0">
                  <a:buNone/>
                </a:pPr>
                <a:r>
                  <a:rPr lang="en-GB" dirty="0"/>
                  <a:t>Part 2 | Revising key thermodynamic concepts</a:t>
                </a:r>
              </a:p>
              <a:p>
                <a:pPr marL="0" indent="0">
                  <a:buNone/>
                </a:pPr>
                <a:r>
                  <a:rPr lang="en-GB" dirty="0"/>
                  <a:t>Part 3 | The Gibbs phase rule and the lever rule</a:t>
                </a:r>
              </a:p>
              <a:p>
                <a:pPr marL="0" indent="0">
                  <a:buNone/>
                </a:pPr>
                <a:r>
                  <a:rPr lang="en-GB" dirty="0"/>
                  <a:t>Part 4 | Binary phase diagrams with solid solutions</a:t>
                </a:r>
              </a:p>
              <a:p>
                <a:pPr marL="0" indent="0">
                  <a:buNone/>
                </a:pPr>
                <a:r>
                  <a:rPr lang="en-GB" dirty="0"/>
                  <a:t>Part 5 | Thermodynamics and phase diagrams: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–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:r>
                  <a:rPr lang="en-GB" dirty="0"/>
                  <a:t>curves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Further reading | </a:t>
                </a:r>
                <a:r>
                  <a:rPr lang="en-GB" dirty="0" err="1"/>
                  <a:t>Misra</a:t>
                </a:r>
                <a:r>
                  <a:rPr lang="en-GB" dirty="0"/>
                  <a:t>, Chapters 4 and 5 (detailed and mathematical)</a:t>
                </a:r>
              </a:p>
              <a:p>
                <a:pPr marL="0" indent="0">
                  <a:buNone/>
                </a:pPr>
                <a:r>
                  <a:rPr lang="en-GB" dirty="0"/>
                  <a:t>Further reading | White, Chapters 2, 3 and 4 (comprehensive but readable)</a:t>
                </a:r>
                <a:endParaRPr lang="en-GB" i="1" dirty="0"/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37DAB45C-CFE8-4AF8-921F-C7EA79E92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3FCD13-B1DD-47BE-9A05-A692EB7B3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A216D6-55A6-45A6-9A08-90E35E090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65FE31-A1A5-49CC-B426-B7D1E3A32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207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F090-150B-473E-BD80-A3825C764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Reactions in geochemical systems: thermodynamics and phase diagram principles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E7A83-1F4B-42AA-92ED-D2CA10EB50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3</a:t>
            </a:r>
          </a:p>
          <a:p>
            <a:r>
              <a:rPr lang="en-GB" dirty="0"/>
              <a:t>Part 2 | Key thermodynamic concepts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BC59C-67B6-4B05-BC06-2EEFD1F7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8E3BF-8C94-43B7-BDCB-B289E57E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507B5-2A7D-4FCF-A40A-BADB4BDC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9918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39001-01FD-413F-9CB7-E97C7405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Thermodynamics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258AE8-BC48-407C-9D22-44236B59306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6341533" cy="4351338"/>
              </a:xfrm>
            </p:spPr>
            <p:txBody>
              <a:bodyPr/>
              <a:lstStyle/>
              <a:p>
                <a:r>
                  <a:rPr lang="en-GB" dirty="0"/>
                  <a:t>The study of energy and energy changes</a:t>
                </a:r>
              </a:p>
              <a:p>
                <a:r>
                  <a:rPr lang="en-GB" dirty="0"/>
                  <a:t>The two most important forms of energy for Earth scientists are heat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dirty="0"/>
                  <a:t>) and work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Describes the equilibrium state of a system</a:t>
                </a:r>
              </a:p>
              <a:p>
                <a:r>
                  <a:rPr lang="en-GB" dirty="0"/>
                  <a:t>At equilibrium, the state of a system does not change with time</a:t>
                </a:r>
              </a:p>
              <a:p>
                <a:r>
                  <a:rPr lang="en-GB" dirty="0"/>
                  <a:t>Systems are arbitrarily defined parts of the universe that are of interest:</a:t>
                </a:r>
              </a:p>
              <a:p>
                <a:pPr lvl="1"/>
                <a:r>
                  <a:rPr lang="en-GB" dirty="0"/>
                  <a:t>a mineral grain</a:t>
                </a:r>
              </a:p>
              <a:p>
                <a:pPr lvl="1"/>
                <a:r>
                  <a:rPr lang="en-GB" dirty="0"/>
                  <a:t>a magma reservoir</a:t>
                </a:r>
              </a:p>
              <a:p>
                <a:pPr lvl="1"/>
                <a:r>
                  <a:rPr lang="en-GB" dirty="0"/>
                  <a:t>a planet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258AE8-BC48-407C-9D22-44236B5930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6341533" cy="4351338"/>
              </a:xfrm>
              <a:blipFill>
                <a:blip r:embed="rId3"/>
                <a:stretch>
                  <a:fillRect l="-1249" t="-1821" r="-1249" b="-1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047AE95-6C86-41E0-88EA-15813074CB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8594607" y="1690688"/>
            <a:ext cx="2759193" cy="18348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444D7-EFDF-4E24-B6D5-5FE86E40A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D55B1-E5ED-45AD-ACC0-90B1F49E0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5D1F5-7BC0-42A3-A978-8BB426399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8</a:t>
            </a:fld>
            <a:endParaRPr lang="en-GB"/>
          </a:p>
        </p:txBody>
      </p:sp>
      <p:pic>
        <p:nvPicPr>
          <p:cNvPr id="1026" name="Picture 2" descr="planet earth, earth, planet, global, sphere, world, 3d, space ...">
            <a:extLst>
              <a:ext uri="{FF2B5EF4-FFF2-40B4-BE49-F238E27FC236}">
                <a16:creationId xmlns:a16="http://schemas.microsoft.com/office/drawing/2014/main" id="{541FCF98-E07B-48F1-AC52-CB88A13B02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42" r="16225"/>
          <a:stretch/>
        </p:blipFill>
        <p:spPr bwMode="auto">
          <a:xfrm>
            <a:off x="9573210" y="4403196"/>
            <a:ext cx="1780590" cy="177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D3DF075A-BCD2-4397-9F96-1133424036F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6" t="1788" r="2244" b="2351"/>
          <a:stretch/>
        </p:blipFill>
        <p:spPr>
          <a:xfrm>
            <a:off x="7486176" y="4403196"/>
            <a:ext cx="1780590" cy="177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84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815C1-E5E1-4213-9879-F0C54B825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State variables and equations of state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E027D7-9CBA-4A6D-875B-5B74E29E38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The state of a system is described by state variables</a:t>
                </a:r>
              </a:p>
              <a:p>
                <a:r>
                  <a:rPr lang="en-GB" dirty="0"/>
                  <a:t>There are two types of state variable:</a:t>
                </a:r>
              </a:p>
              <a:p>
                <a:pPr lvl="1"/>
                <a:r>
                  <a:rPr lang="en-GB" i="1" u="sng" dirty="0"/>
                  <a:t>Extensive variables</a:t>
                </a:r>
              </a:p>
              <a:p>
                <a:pPr lvl="2"/>
                <a:r>
                  <a:rPr lang="en-GB" dirty="0"/>
                  <a:t>Depend on system size</a:t>
                </a:r>
              </a:p>
              <a:p>
                <a:pPr lvl="2"/>
                <a:r>
                  <a:rPr lang="en-GB" dirty="0"/>
                  <a:t>Mass, volume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), enthalpy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GB" dirty="0"/>
                  <a:t>), entropy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) and Gibbs free energy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GB" dirty="0"/>
                  <a:t>)</a:t>
                </a:r>
              </a:p>
              <a:p>
                <a:pPr lvl="1"/>
                <a:r>
                  <a:rPr lang="en-GB" i="1" u="sng" dirty="0"/>
                  <a:t>Intensive variables</a:t>
                </a:r>
              </a:p>
              <a:p>
                <a:pPr lvl="2"/>
                <a:r>
                  <a:rPr lang="en-GB" dirty="0"/>
                  <a:t>Independent of system size</a:t>
                </a:r>
              </a:p>
              <a:p>
                <a:pPr lvl="2"/>
                <a:r>
                  <a:rPr lang="en-GB" dirty="0"/>
                  <a:t>Temperature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), pressure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), bulk composition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)	 	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is expressed in Kelvin</a:t>
                </a: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State variables are related by equations of state like the ideal gas law: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𝑃𝑉</m:t>
                      </m:r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i="1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nor/>
                        </m:rPr>
                        <a:rPr lang="en-GB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GB" i="1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marL="457200" lvl="1" indent="0">
                  <a:buNone/>
                </a:pPr>
                <a:r>
                  <a:rPr lang="en-GB" dirty="0"/>
                  <a:t>   where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is the number of moles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GB" dirty="0"/>
                  <a:t> is the gas constant (8.314 J.mol</a:t>
                </a:r>
                <a:r>
                  <a:rPr lang="en-GB" baseline="30000" dirty="0"/>
                  <a:t>-1</a:t>
                </a:r>
                <a:r>
                  <a:rPr lang="en-GB" dirty="0"/>
                  <a:t>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E027D7-9CBA-4A6D-875B-5B74E29E38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44C7C-FB55-4170-9CB9-B244D11D6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C1E5A-7C39-4534-8826-5C9FF0496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5A5EC-61CB-42F5-BA6C-872AD3042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9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FD691A-CA18-4B87-804B-80DB2F503F3E}"/>
              </a:ext>
            </a:extLst>
          </p:cNvPr>
          <p:cNvSpPr txBox="1"/>
          <p:nvPr/>
        </p:nvSpPr>
        <p:spPr>
          <a:xfrm>
            <a:off x="7736305" y="2348988"/>
            <a:ext cx="3280611" cy="73866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i="1" dirty="0">
                <a:solidFill>
                  <a:schemeClr val="accent1"/>
                </a:solidFill>
              </a:rPr>
              <a:t>We will use symbols to discuss and apply thermodynamics, but I do not expect you to memorise them!</a:t>
            </a:r>
          </a:p>
        </p:txBody>
      </p:sp>
    </p:spTree>
    <p:extLst>
      <p:ext uri="{BB962C8B-B14F-4D97-AF65-F5344CB8AC3E}">
        <p14:creationId xmlns:p14="http://schemas.microsoft.com/office/powerpoint/2010/main" val="253155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BCD7E-20D0-4F58-A5D0-FA1218BBC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First law of thermodynamics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B4E287-ECD3-4C1D-9E5F-F1541195B8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GB" i="1" dirty="0">
                    <a:solidFill>
                      <a:schemeClr val="accent1"/>
                    </a:solidFill>
                  </a:rPr>
                  <a:t>Energy is conserved; energy can be neither created nor destroyed </a:t>
                </a:r>
              </a:p>
              <a:p>
                <a:r>
                  <a:rPr lang="en-GB" dirty="0"/>
                  <a:t>The internal energy of a system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GB" dirty="0"/>
                  <a:t>) is the sum of kinetic energy from atomic vibrations and potential energy stored in bonds between atoms</a:t>
                </a: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A change in the internal energy of a system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GB" dirty="0"/>
                  <a:t>) is the sum of the heat exchanged with the surroundings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dirty="0"/>
                  <a:t>) and work done on the system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dirty="0"/>
                  <a:t>):</a:t>
                </a:r>
              </a:p>
              <a:p>
                <a:pPr marL="0" indent="0" algn="just">
                  <a:spcBef>
                    <a:spcPts val="1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GB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GB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GB" dirty="0"/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This is usually expressed in terms of an infinitesimally small change: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GB" i="0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GB" i="1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en-GB" i="0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GB" i="1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Work in geological systems reflects changes in pressure and volume, so: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𝐝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GB" b="1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b="1" i="0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𝐝</m:t>
                      </m:r>
                      <m:r>
                        <a:rPr lang="en-GB" b="1" i="1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GB" b="1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GB" b="1" i="1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GB" b="1" i="0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𝐝</m:t>
                      </m:r>
                      <m:r>
                        <a:rPr lang="en-GB" b="1" i="1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n-GB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B4E287-ECD3-4C1D-9E5F-F1541195B8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F3E0A-4C8D-45F2-A609-37E5B6FCF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D4BC8-E76D-46A4-B92D-C0217C8D1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6AD99-2979-4A51-82FB-6A3636242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10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C10C0C-26F1-4040-B3C8-E738D47DFC79}"/>
              </a:ext>
            </a:extLst>
          </p:cNvPr>
          <p:cNvSpPr txBox="1"/>
          <p:nvPr/>
        </p:nvSpPr>
        <p:spPr>
          <a:xfrm>
            <a:off x="7952871" y="5797249"/>
            <a:ext cx="3003885" cy="30777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i="1" dirty="0">
                <a:solidFill>
                  <a:schemeClr val="accent1"/>
                </a:solidFill>
              </a:rPr>
              <a:t>See the summary of key symbols </a:t>
            </a:r>
          </a:p>
        </p:txBody>
      </p:sp>
    </p:spTree>
    <p:extLst>
      <p:ext uri="{BB962C8B-B14F-4D97-AF65-F5344CB8AC3E}">
        <p14:creationId xmlns:p14="http://schemas.microsoft.com/office/powerpoint/2010/main" val="336196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54F05-84EC-4D69-A859-916DC6693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Second law of thermodynamics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685C8E-3858-437C-B069-84A633DB7B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GB" i="1" dirty="0">
                    <a:solidFill>
                      <a:schemeClr val="accent1"/>
                    </a:solidFill>
                  </a:rPr>
                  <a:t>Reactions tend to proceed in the direction of overall increased entropy</a:t>
                </a:r>
              </a:p>
              <a:p>
                <a:r>
                  <a:rPr lang="en-GB" dirty="0"/>
                  <a:t>Entropy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)</a:t>
                </a:r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:r>
                  <a:rPr lang="en-GB"/>
                  <a:t>is a measure </a:t>
                </a:r>
                <a:r>
                  <a:rPr lang="en-GB" dirty="0"/>
                  <a:t>of energy distribution and disorder in a system</a:t>
                </a: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For a reversible process: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GB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i="0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GB" i="1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GB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And correspondingly, for an irreversible process: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&gt;</m:t>
                      </m:r>
                      <m:f>
                        <m:fPr>
                          <m:ctrlPr>
                            <a:rPr lang="en-GB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i="0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GB" i="1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GB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r>
                  <a:rPr lang="en-GB" dirty="0"/>
                  <a:t>So, overall: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𝐝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GB" b="1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≥</m:t>
                      </m:r>
                      <m:f>
                        <m:fPr>
                          <m:ctrlPr>
                            <a:rPr lang="en-GB" b="1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0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𝐝</m:t>
                          </m:r>
                          <m:r>
                            <a:rPr lang="en-GB" b="1" i="1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num>
                        <m:den>
                          <m:r>
                            <a:rPr lang="en-GB" b="1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</m:oMath>
                  </m:oMathPara>
                </a14:m>
                <a:endParaRPr lang="en-GB" b="1" dirty="0">
                  <a:solidFill>
                    <a:schemeClr val="accent1"/>
                  </a:solidFill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685C8E-3858-437C-B069-84A633DB7B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6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6BB88-9C2A-446C-A32B-631B0A28A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F9B98-FCC7-40E1-AB2B-99D7AE39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7AE7B-4A0D-42E4-9853-C88F46755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991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4F3B6-8705-44E9-AAF1-311CAEE1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Combining the first and second laws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EC0AA9-5638-43CE-A819-3A763A6113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54925"/>
                <a:ext cx="10515600" cy="4322037"/>
              </a:xfrm>
            </p:spPr>
            <p:txBody>
              <a:bodyPr/>
              <a:lstStyle/>
              <a:p>
                <a:pPr>
                  <a:spcAft>
                    <a:spcPts val="1000"/>
                  </a:spcAft>
                </a:pPr>
                <a:r>
                  <a:rPr lang="en-GB" dirty="0"/>
                  <a:t>Combining the first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GB" i="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GB" i="1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GB" i="1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GB" i="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GB" i="1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) and second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≥</m:t>
                    </m:r>
                    <m:r>
                      <m:rPr>
                        <m:sty m:val="p"/>
                      </m:rPr>
                      <a:rPr lang="en-GB" i="0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GB" i="1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) laws produces the </a:t>
                </a:r>
                <a:r>
                  <a:rPr lang="en-GB" i="1" dirty="0">
                    <a:solidFill>
                      <a:schemeClr val="accent1"/>
                    </a:solidFill>
                  </a:rPr>
                  <a:t>fundamental equation of thermodynamics</a:t>
                </a:r>
                <a:r>
                  <a:rPr lang="en-GB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en-GB" i="1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m:rPr>
                          <m:sty m:val="p"/>
                        </m:rPr>
                        <a:rPr lang="en-GB" i="0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GB" i="1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GB" i="1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m:rPr>
                          <m:sty m:val="p"/>
                        </m:rPr>
                        <a:rPr lang="en-GB" i="0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GB" i="1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marL="0" indent="0" algn="ctr">
                  <a:buNone/>
                </a:pPr>
                <a:endParaRPr lang="en-GB" dirty="0"/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For geological purposes this simplifies to: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𝐝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b="1" i="1" dirty="0" err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GB" b="1" i="0" dirty="0" err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𝐝</m:t>
                      </m:r>
                      <m:r>
                        <a:rPr lang="en-GB" b="1" i="1" dirty="0" err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GB" b="1" i="1" dirty="0" err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GB" b="1" i="0" dirty="0" err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𝐝</m:t>
                      </m:r>
                      <m:r>
                        <a:rPr lang="en-GB" b="1" i="1" dirty="0" err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EC0AA9-5638-43CE-A819-3A763A611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54925"/>
                <a:ext cx="10515600" cy="4322037"/>
              </a:xfrm>
              <a:blipFill>
                <a:blip r:embed="rId2"/>
                <a:stretch>
                  <a:fillRect l="-812" t="-18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C52FA-F126-46B3-B1F0-30E2E4E16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47A18-808B-4C96-9152-90BC08EB3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F3AF7-FAB3-4EDA-92C6-7939281EA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12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A63C49-9862-46D1-888D-FB8175EDEC63}"/>
              </a:ext>
            </a:extLst>
          </p:cNvPr>
          <p:cNvSpPr txBox="1"/>
          <p:nvPr/>
        </p:nvSpPr>
        <p:spPr>
          <a:xfrm>
            <a:off x="3116392" y="4969042"/>
            <a:ext cx="3736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Heat exchanged with surroundings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F78C9D-5BB4-40AF-8E53-2BFA4C536F44}"/>
              </a:ext>
            </a:extLst>
          </p:cNvPr>
          <p:cNvSpPr txBox="1"/>
          <p:nvPr/>
        </p:nvSpPr>
        <p:spPr>
          <a:xfrm>
            <a:off x="7271269" y="4969042"/>
            <a:ext cx="3108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Physical movement in space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4DA1D1-5CD4-449D-877D-ED48789E3942}"/>
              </a:ext>
            </a:extLst>
          </p:cNvPr>
          <p:cNvCxnSpPr>
            <a:cxnSpLocks/>
          </p:cNvCxnSpPr>
          <p:nvPr/>
        </p:nvCxnSpPr>
        <p:spPr>
          <a:xfrm flipV="1">
            <a:off x="5426242" y="4451684"/>
            <a:ext cx="529390" cy="5173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7F4AF8B-FFD7-4AB1-A739-8F671740521D}"/>
              </a:ext>
            </a:extLst>
          </p:cNvPr>
          <p:cNvCxnSpPr>
            <a:cxnSpLocks/>
          </p:cNvCxnSpPr>
          <p:nvPr/>
        </p:nvCxnSpPr>
        <p:spPr>
          <a:xfrm flipH="1" flipV="1">
            <a:off x="7094437" y="4451683"/>
            <a:ext cx="529390" cy="5173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880F452-3502-4F73-BC1E-C0E87D1AAD97}"/>
              </a:ext>
            </a:extLst>
          </p:cNvPr>
          <p:cNvSpPr txBox="1"/>
          <p:nvPr/>
        </p:nvSpPr>
        <p:spPr>
          <a:xfrm>
            <a:off x="1162550" y="4267017"/>
            <a:ext cx="282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Change in internal energy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40B8169-0CFF-4FD9-BAA6-0A774C5BCF71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3988965" y="4256171"/>
            <a:ext cx="729962" cy="1955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673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3ABCD-9317-4C03-8AAD-B0711A0BA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Enthalpy and Gibbs free energy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D181A6-C47D-4280-800E-6F2CC56DF7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GB" dirty="0"/>
                  <a:t>Enthalpy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GB" dirty="0"/>
                  <a:t>) is a measure of the total heat content of a substance: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𝑷𝑽</m:t>
                      </m:r>
                    </m:oMath>
                  </m:oMathPara>
                </a14:m>
                <a:endParaRPr lang="en-GB" b="1" dirty="0">
                  <a:solidFill>
                    <a:schemeClr val="accent1"/>
                  </a:solidFill>
                </a:endParaRP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We can only measure changes in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GB" dirty="0"/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GB" dirty="0"/>
                  <a:t>) not absolute values of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GB" dirty="0"/>
                  <a:t> </a:t>
                </a: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Thus, at constant pressure when no work is done (i.e.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GB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GB" b="0" i="1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):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GB" i="0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GB" i="1" dirty="0" err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Gibbs free energy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GB" dirty="0"/>
                  <a:t>) describes the energy available to do work at constant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, and thus describes whether reactions will occur: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𝑻𝑺</m:t>
                      </m:r>
                    </m:oMath>
                  </m:oMathPara>
                </a14:m>
                <a:endParaRPr lang="en-GB" b="1" dirty="0">
                  <a:solidFill>
                    <a:schemeClr val="accent1"/>
                  </a:solidFill>
                </a:endParaRPr>
              </a:p>
              <a:p>
                <a:r>
                  <a:rPr lang="en-GB" dirty="0"/>
                  <a:t>At fixed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, reactions proceed in the direction of lower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GB" dirty="0"/>
                  <a:t>,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&lt; 0</m:t>
                    </m:r>
                  </m:oMath>
                </a14:m>
                <a:r>
                  <a:rPr lang="en-GB" dirty="0"/>
                  <a:t>; at equilibrium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:r>
                  <a:rPr lang="en-GB" dirty="0"/>
                  <a:t>and no reaction occurs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D181A6-C47D-4280-800E-6F2CC56DF7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26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388F1-9268-4B68-8B2A-067DB4630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A2AC2-4BCA-48D5-A263-275A278D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C2643-05C1-45A3-81CD-E9F2748F7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13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C10C0C-26F1-4040-B3C8-E738D47DFC79}"/>
              </a:ext>
            </a:extLst>
          </p:cNvPr>
          <p:cNvSpPr txBox="1"/>
          <p:nvPr/>
        </p:nvSpPr>
        <p:spPr>
          <a:xfrm>
            <a:off x="8696680" y="5743437"/>
            <a:ext cx="2571039" cy="52322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i="1" dirty="0">
                <a:solidFill>
                  <a:schemeClr val="accent1"/>
                </a:solidFill>
              </a:rPr>
              <a:t>This should be familiar from Chemistry of the Earth</a:t>
            </a:r>
          </a:p>
        </p:txBody>
      </p:sp>
    </p:spTree>
    <p:extLst>
      <p:ext uri="{BB962C8B-B14F-4D97-AF65-F5344CB8AC3E}">
        <p14:creationId xmlns:p14="http://schemas.microsoft.com/office/powerpoint/2010/main" val="207822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CFBFA7F-387A-4BA0-B00C-3093BC10A45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Phase diagrams and the importance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CFBFA7F-387A-4BA0-B00C-3093BC10A4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6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1FA515-1641-4848-9DF1-EA490747C0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At any given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, the equilibrium phase (or phase assemblage) in a system is the phase (or phase assemblage) with the lowest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GB" dirty="0"/>
              </a:p>
              <a:p>
                <a:r>
                  <a:rPr lang="en-GB" dirty="0"/>
                  <a:t>Phase diagrams graphically show the phase (or phase assemblage) with the lowest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GB" dirty="0"/>
                  <a:t> at any given set of conditions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1FA515-1641-4848-9DF1-EA490747C0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812" t="-1821" r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F35F7-4665-41B6-A32B-B6C951C33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BA00B-0CFC-4FFB-9ECD-EFA9C9956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44001-C859-4E16-97FD-06BF3A25B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14</a:t>
            </a:fld>
            <a:endParaRPr lang="en-GB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5D8D4E0-FF6D-4A6C-942A-AD8100D5E5B0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86732" y="3548562"/>
            <a:ext cx="2887904" cy="2628401"/>
          </a:xfrm>
        </p:spPr>
      </p:pic>
      <p:pic>
        <p:nvPicPr>
          <p:cNvPr id="11" name="Picture 10" descr="A tree with a mountain in the background&#10;&#10;Description automatically generated">
            <a:extLst>
              <a:ext uri="{FF2B5EF4-FFF2-40B4-BE49-F238E27FC236}">
                <a16:creationId xmlns:a16="http://schemas.microsoft.com/office/drawing/2014/main" id="{DBDBFDAF-FBD2-42DB-A465-F2A94E4AEE8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463" y="3471497"/>
            <a:ext cx="1800000" cy="1349999"/>
          </a:xfrm>
          <a:prstGeom prst="rect">
            <a:avLst/>
          </a:prstGeom>
        </p:spPr>
      </p:pic>
      <p:pic>
        <p:nvPicPr>
          <p:cNvPr id="2050" name="Picture 2" descr="File:Sgùrr nan Gillean from Sligachan, Isle of Skye, Scotland ...">
            <a:extLst>
              <a:ext uri="{FF2B5EF4-FFF2-40B4-BE49-F238E27FC236}">
                <a16:creationId xmlns:a16="http://schemas.microsoft.com/office/drawing/2014/main" id="{CFFA3FB5-15F7-4AA5-9636-B01085C27E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06"/>
          <a:stretch/>
        </p:blipFill>
        <p:spPr bwMode="auto">
          <a:xfrm>
            <a:off x="8562232" y="4834761"/>
            <a:ext cx="1800000" cy="127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C60618-BC78-4B13-9A8F-B9E6C5E192CC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32" y="3484761"/>
            <a:ext cx="1800000" cy="1350000"/>
          </a:xfrm>
          <a:prstGeom prst="rect">
            <a:avLst/>
          </a:prstGeom>
        </p:spPr>
      </p:pic>
      <p:pic>
        <p:nvPicPr>
          <p:cNvPr id="2052" name="Picture 4" descr="Wide sandy beach below Kessingland... © Evelyn Simak :: Geograph ...">
            <a:extLst>
              <a:ext uri="{FF2B5EF4-FFF2-40B4-BE49-F238E27FC236}">
                <a16:creationId xmlns:a16="http://schemas.microsoft.com/office/drawing/2014/main" id="{4219D353-5538-401D-B344-EC1C83B0C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463" y="4797222"/>
            <a:ext cx="1800000" cy="1317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6F17F1D-AD17-4EF8-8D63-09C7153F746A}"/>
              </a:ext>
            </a:extLst>
          </p:cNvPr>
          <p:cNvCxnSpPr>
            <a:cxnSpLocks/>
          </p:cNvCxnSpPr>
          <p:nvPr/>
        </p:nvCxnSpPr>
        <p:spPr>
          <a:xfrm flipH="1">
            <a:off x="5692140" y="3848100"/>
            <a:ext cx="2870092" cy="16535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4B5260F-743A-4C21-9D25-67AC03AF210A}"/>
              </a:ext>
            </a:extLst>
          </p:cNvPr>
          <p:cNvCxnSpPr>
            <a:cxnSpLocks/>
          </p:cNvCxnSpPr>
          <p:nvPr/>
        </p:nvCxnSpPr>
        <p:spPr>
          <a:xfrm flipH="1">
            <a:off x="6644640" y="5263045"/>
            <a:ext cx="1917592" cy="4976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A391D1A-2A1E-4340-A7FC-2BAA982FDA31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3634463" y="4053840"/>
            <a:ext cx="1646197" cy="9265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9EDE4F4-4913-4210-9C2C-AFD07809CAD7}"/>
              </a:ext>
            </a:extLst>
          </p:cNvPr>
          <p:cNvCxnSpPr>
            <a:cxnSpLocks/>
          </p:cNvCxnSpPr>
          <p:nvPr/>
        </p:nvCxnSpPr>
        <p:spPr>
          <a:xfrm>
            <a:off x="3634463" y="5059680"/>
            <a:ext cx="1577617" cy="7010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75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F090-150B-473E-BD80-A3825C764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Reactions in geochemical systems: thermodynamics and phase diagram principles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E7A83-1F4B-42AA-92ED-D2CA10EB50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3</a:t>
            </a:r>
          </a:p>
          <a:p>
            <a:r>
              <a:rPr lang="en-GB" dirty="0"/>
              <a:t>Part 3 | The Gibbs phase rule and the lever rule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BC59C-67B6-4B05-BC06-2EEFD1F7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8E3BF-8C94-43B7-BDCB-B289E57E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507B5-2A7D-4FCF-A40A-BADB4BDC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610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08A09-1021-474F-92A7-CE8D486F0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Gibbs phase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95CCC4-6C83-4B33-A728-86BE937119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GB" dirty="0"/>
                  <a:t>The Gibbs phase rule describes the degrees of freedom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) (or variance) in a system at equilibrium as follows: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b="1" i="0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𝚽</m:t>
                      </m:r>
                      <m:r>
                        <a:rPr lang="en-GB" b="1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b="1" dirty="0">
                  <a:solidFill>
                    <a:schemeClr val="accent1"/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GB" dirty="0"/>
                  <a:t>Degrees of freedom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): the number of intensive variables (e.g.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) that can be changed independently without altering the system state (typically the number and proportion of phases, though phase compositions can change)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GB" dirty="0"/>
                  <a:t>Components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): the minimum number of chemical species required to describe the composition of phases in the system (e.g. SiO</a:t>
                </a:r>
                <a:r>
                  <a:rPr lang="en-GB" baseline="-25000" dirty="0"/>
                  <a:t>2</a:t>
                </a:r>
                <a:r>
                  <a:rPr lang="en-GB" dirty="0"/>
                  <a:t>, H</a:t>
                </a:r>
                <a:r>
                  <a:rPr lang="en-GB" baseline="-25000" dirty="0"/>
                  <a:t>2</a:t>
                </a:r>
                <a:r>
                  <a:rPr lang="en-GB" dirty="0"/>
                  <a:t>O, MgO)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GB" dirty="0"/>
                  <a:t>Phases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GB" dirty="0"/>
                  <a:t>): the number of physically distinct types of matter (e.g. melt, ice, olivine)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GB" dirty="0"/>
                  <a:t>The ‘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dirty="0"/>
                  <a:t>’ reflects that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are often the only intensive variables that can be changed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GB" dirty="0"/>
                  <a:t>If only one out of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can be changed (e.g. in an isobaric or isothermal system), the ‘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dirty="0"/>
                  <a:t>’ is replaced with a ‘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’ because an additional intensive variable is fixed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95CCC4-6C83-4B33-A728-86BE937119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21" r="-580" b="-5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E5348-3D56-41A4-B448-DE363A509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C5932-AD6E-419E-B47E-1B0923515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C948E-4CCB-491E-A243-EF5961065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64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95159DC-BC0C-43C8-B620-394F74F50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Gibbs phase rule: H</a:t>
            </a:r>
            <a:r>
              <a:rPr lang="en-GB" baseline="-25000" dirty="0"/>
              <a:t>2</a:t>
            </a:r>
            <a:r>
              <a:rPr lang="en-GB" dirty="0"/>
              <a:t>O phase diagram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42DE0C0-D03F-4308-81E0-3804A02DBF1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b="1" i="0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𝚽</m:t>
                      </m:r>
                      <m:r>
                        <a:rPr lang="en-GB" b="1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b="1" dirty="0">
                  <a:solidFill>
                    <a:schemeClr val="accent1"/>
                  </a:solidFill>
                </a:endParaRPr>
              </a:p>
              <a:p>
                <a:r>
                  <a:rPr lang="en-GB" dirty="0"/>
                  <a:t>H</a:t>
                </a:r>
                <a:r>
                  <a:rPr lang="en-GB" baseline="-25000" dirty="0"/>
                  <a:t>2</a:t>
                </a:r>
                <a:r>
                  <a:rPr lang="en-GB" dirty="0"/>
                  <a:t>O is the only component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)</a:t>
                </a: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In the </a:t>
                </a:r>
                <a:r>
                  <a:rPr lang="en-GB" dirty="0">
                    <a:solidFill>
                      <a:schemeClr val="accent1"/>
                    </a:solidFill>
                  </a:rPr>
                  <a:t>water field </a:t>
                </a:r>
                <a:r>
                  <a:rPr lang="en-GB" dirty="0"/>
                  <a:t>there is only one phase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), so: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=1–1+2=2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r>
                  <a:rPr lang="en-GB" dirty="0"/>
                  <a:t>We can independently change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without changing the total number of phases (system state)</a:t>
                </a:r>
              </a:p>
              <a:p>
                <a:r>
                  <a:rPr lang="en-GB" dirty="0"/>
                  <a:t>The </a:t>
                </a:r>
                <a:r>
                  <a:rPr lang="en-GB" dirty="0">
                    <a:solidFill>
                      <a:schemeClr val="accent1"/>
                    </a:solidFill>
                  </a:rPr>
                  <a:t>water field </a:t>
                </a:r>
                <a:r>
                  <a:rPr lang="en-GB" dirty="0"/>
                  <a:t>is a divarient field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42DE0C0-D03F-4308-81E0-3804A02DBF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6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D97D9-B687-4712-A60B-B493A8809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pic>
        <p:nvPicPr>
          <p:cNvPr id="10" name="Content Placeholder 9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3DA48E39-C6DE-46F2-896E-DC26BD956B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03" y="1840257"/>
            <a:ext cx="4748794" cy="4322073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B9BA4-3571-4FE6-A8E5-F31405F95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8DCA5-D938-4F4A-B33E-907384649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17</a:t>
            </a:fld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C57D51-F1E6-4AC1-AB10-63025B52C4C1}"/>
              </a:ext>
            </a:extLst>
          </p:cNvPr>
          <p:cNvCxnSpPr/>
          <p:nvPr/>
        </p:nvCxnSpPr>
        <p:spPr>
          <a:xfrm>
            <a:off x="4339820" y="2433550"/>
            <a:ext cx="0" cy="87630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81D2054-F622-4EFF-92F4-2778EDFCB4A6}"/>
              </a:ext>
            </a:extLst>
          </p:cNvPr>
          <p:cNvCxnSpPr>
            <a:cxnSpLocks/>
          </p:cNvCxnSpPr>
          <p:nvPr/>
        </p:nvCxnSpPr>
        <p:spPr>
          <a:xfrm flipH="1">
            <a:off x="3889470" y="2871700"/>
            <a:ext cx="900700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542D7EE9-A103-443F-9500-07F9D8FAA28B}"/>
              </a:ext>
            </a:extLst>
          </p:cNvPr>
          <p:cNvSpPr/>
          <p:nvPr/>
        </p:nvSpPr>
        <p:spPr>
          <a:xfrm>
            <a:off x="4212320" y="2744200"/>
            <a:ext cx="255000" cy="255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376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95159DC-BC0C-43C8-B620-394F74F50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Gibbs phase rule: H</a:t>
            </a:r>
            <a:r>
              <a:rPr lang="en-GB" baseline="-25000" dirty="0"/>
              <a:t>2</a:t>
            </a:r>
            <a:r>
              <a:rPr lang="en-GB" dirty="0"/>
              <a:t>O phase diagram</a:t>
            </a:r>
          </a:p>
        </p:txBody>
      </p:sp>
      <p:pic>
        <p:nvPicPr>
          <p:cNvPr id="10" name="Content Placeholder 9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78234204-1F26-4AA6-A743-A3CFC9640A4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03" y="1840257"/>
            <a:ext cx="4748794" cy="4322073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42DE0C0-D03F-4308-81E0-3804A02DBF1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b="1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b="1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b="1" i="0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𝚽</m:t>
                      </m:r>
                      <m:r>
                        <a:rPr lang="en-GB" b="1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b="1" dirty="0">
                  <a:solidFill>
                    <a:schemeClr val="accent2"/>
                  </a:solidFill>
                </a:endParaRPr>
              </a:p>
              <a:p>
                <a:r>
                  <a:rPr lang="en-GB" dirty="0"/>
                  <a:t>H</a:t>
                </a:r>
                <a:r>
                  <a:rPr lang="en-GB" baseline="-25000" dirty="0"/>
                  <a:t>2</a:t>
                </a:r>
                <a:r>
                  <a:rPr lang="en-GB" dirty="0"/>
                  <a:t>O is the only component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)</a:t>
                </a: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On the </a:t>
                </a:r>
                <a:r>
                  <a:rPr lang="en-GB" dirty="0">
                    <a:solidFill>
                      <a:schemeClr val="accent2"/>
                    </a:solidFill>
                  </a:rPr>
                  <a:t>water–ice boundary </a:t>
                </a:r>
                <a:r>
                  <a:rPr lang="en-GB" dirty="0"/>
                  <a:t>there are 2 phases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), so: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=1–2+2=1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  <a:p>
                <a:r>
                  <a:rPr lang="en-GB" dirty="0"/>
                  <a:t>If we change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, we also have to change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to avoid changing the total number of phases;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cannot vary independently</a:t>
                </a:r>
              </a:p>
              <a:p>
                <a:r>
                  <a:rPr lang="en-GB" dirty="0"/>
                  <a:t>The </a:t>
                </a:r>
                <a:r>
                  <a:rPr lang="en-GB" dirty="0">
                    <a:solidFill>
                      <a:schemeClr val="accent2"/>
                    </a:solidFill>
                  </a:rPr>
                  <a:t>water–ice boundary </a:t>
                </a:r>
                <a:r>
                  <a:rPr lang="en-GB" dirty="0"/>
                  <a:t>is a univariant curve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42DE0C0-D03F-4308-81E0-3804A02DBF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l="-1647" b="-32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D97D9-B687-4712-A60B-B493A8809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B9BA4-3571-4FE6-A8E5-F31405F95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8DCA5-D938-4F4A-B33E-907384649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18</a:t>
            </a:fld>
            <a:endParaRPr lang="en-GB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81D2054-F622-4EFF-92F4-2778EDFCB4A6}"/>
              </a:ext>
            </a:extLst>
          </p:cNvPr>
          <p:cNvCxnSpPr>
            <a:cxnSpLocks/>
          </p:cNvCxnSpPr>
          <p:nvPr/>
        </p:nvCxnSpPr>
        <p:spPr>
          <a:xfrm>
            <a:off x="2596896" y="2400966"/>
            <a:ext cx="195072" cy="125577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542D7EE9-A103-443F-9500-07F9D8FAA28B}"/>
              </a:ext>
            </a:extLst>
          </p:cNvPr>
          <p:cNvSpPr/>
          <p:nvPr/>
        </p:nvSpPr>
        <p:spPr>
          <a:xfrm>
            <a:off x="2566932" y="2901354"/>
            <a:ext cx="255000" cy="255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390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95159DC-BC0C-43C8-B620-394F74F50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Gibbs phase rule: H</a:t>
            </a:r>
            <a:r>
              <a:rPr lang="en-GB" baseline="-25000" dirty="0"/>
              <a:t>2</a:t>
            </a:r>
            <a:r>
              <a:rPr lang="en-GB" dirty="0"/>
              <a:t>O phase diagram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42DE0C0-D03F-4308-81E0-3804A02DBF1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b="1" i="1" dirty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dirty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b="1" i="1" dirty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l-GR" b="1" i="0" dirty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𝚽</m:t>
                      </m:r>
                      <m:r>
                        <a:rPr lang="en-GB" b="1" i="1" dirty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dirty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b="1" dirty="0">
                  <a:solidFill>
                    <a:schemeClr val="accent3"/>
                  </a:solidFill>
                </a:endParaRPr>
              </a:p>
              <a:p>
                <a:r>
                  <a:rPr lang="en-GB" dirty="0"/>
                  <a:t>H</a:t>
                </a:r>
                <a:r>
                  <a:rPr lang="en-GB" baseline="-25000" dirty="0"/>
                  <a:t>2</a:t>
                </a:r>
                <a:r>
                  <a:rPr lang="en-GB" dirty="0"/>
                  <a:t>O is the only component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At the </a:t>
                </a:r>
                <a:r>
                  <a:rPr lang="en-GB" dirty="0">
                    <a:solidFill>
                      <a:schemeClr val="accent3"/>
                    </a:solidFill>
                  </a:rPr>
                  <a:t>water–ice–water vapour triple point</a:t>
                </a:r>
                <a:r>
                  <a:rPr lang="en-GB" dirty="0"/>
                  <a:t> there are three phases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GB" dirty="0"/>
                  <a:t>), so: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i="1" dirty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=1−3+2=0</m:t>
                      </m:r>
                    </m:oMath>
                  </m:oMathPara>
                </a14:m>
                <a:endParaRPr lang="en-GB" dirty="0">
                  <a:solidFill>
                    <a:schemeClr val="accent3"/>
                  </a:solidFill>
                </a:endParaRPr>
              </a:p>
              <a:p>
                <a:r>
                  <a:rPr lang="en-GB" dirty="0"/>
                  <a:t>Neither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not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can be changed  without changing the total number of phases and system state</a:t>
                </a:r>
              </a:p>
              <a:p>
                <a:r>
                  <a:rPr lang="en-GB" dirty="0"/>
                  <a:t>The </a:t>
                </a:r>
                <a:r>
                  <a:rPr lang="en-GB" dirty="0">
                    <a:solidFill>
                      <a:schemeClr val="accent3"/>
                    </a:solidFill>
                  </a:rPr>
                  <a:t>water–ice–water vapour point</a:t>
                </a:r>
                <a:r>
                  <a:rPr lang="en-GB" dirty="0"/>
                  <a:t> is an invariant point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42DE0C0-D03F-4308-81E0-3804A02DBF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647" b="-2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ontent Placeholder 9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FD5E1BC5-4FB6-4C52-A5AC-1D5EF2A00B5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03" y="1840257"/>
            <a:ext cx="4748794" cy="432207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D97D9-B687-4712-A60B-B493A8809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B9BA4-3571-4FE6-A8E5-F31405F95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8DCA5-D938-4F4A-B33E-907384649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19</a:t>
            </a:fld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2D7EE9-A103-443F-9500-07F9D8FAA28B}"/>
              </a:ext>
            </a:extLst>
          </p:cNvPr>
          <p:cNvSpPr/>
          <p:nvPr/>
        </p:nvSpPr>
        <p:spPr>
          <a:xfrm>
            <a:off x="2806258" y="4450096"/>
            <a:ext cx="255000" cy="255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024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09517-D00A-4CAA-BE81-A30D3475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94333" cy="1325563"/>
          </a:xfrm>
        </p:spPr>
        <p:txBody>
          <a:bodyPr/>
          <a:lstStyle/>
          <a:p>
            <a:r>
              <a:rPr lang="en-GB" dirty="0"/>
              <a:t>The Gibbs phase rule: isobaric An–Di phase diagram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9122ED-1DA6-4F70-98B2-9ECE8F882F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571" y="1870075"/>
            <a:ext cx="4498856" cy="4094595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78428" y="1825625"/>
                <a:ext cx="5675372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b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𝚽</m:t>
                      </m:r>
                      <m:r>
                        <a:rPr lang="en-GB" b="1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marL="0" indent="0" algn="ctr"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fixed)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: 	Anorthite (An; CaAl</a:t>
                </a:r>
                <a:r>
                  <a:rPr lang="en-GB" baseline="-25000" dirty="0">
                    <a:solidFill>
                      <a:schemeClr val="tx1"/>
                    </a:solidFill>
                  </a:rPr>
                  <a:t>2</a:t>
                </a:r>
                <a:r>
                  <a:rPr lang="en-GB" dirty="0">
                    <a:solidFill>
                      <a:schemeClr val="tx1"/>
                    </a:solidFill>
                  </a:rPr>
                  <a:t>Si</a:t>
                </a:r>
                <a:r>
                  <a:rPr lang="en-GB" baseline="-25000" dirty="0">
                    <a:solidFill>
                      <a:schemeClr val="tx1"/>
                    </a:solidFill>
                  </a:rPr>
                  <a:t>2</a:t>
                </a:r>
                <a:r>
                  <a:rPr lang="en-GB" dirty="0">
                    <a:solidFill>
                      <a:schemeClr val="tx1"/>
                    </a:solidFill>
                  </a:rPr>
                  <a:t>O</a:t>
                </a:r>
                <a:r>
                  <a:rPr lang="en-GB" baseline="-25000" dirty="0">
                    <a:solidFill>
                      <a:schemeClr val="tx1"/>
                    </a:solidFill>
                  </a:rPr>
                  <a:t>8</a:t>
                </a:r>
                <a:r>
                  <a:rPr lang="en-GB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	Diopside (Di; CaMgSi</a:t>
                </a:r>
                <a:r>
                  <a:rPr lang="en-GB" baseline="-25000" dirty="0">
                    <a:solidFill>
                      <a:schemeClr val="tx1"/>
                    </a:solidFill>
                  </a:rPr>
                  <a:t>2</a:t>
                </a:r>
                <a:r>
                  <a:rPr lang="en-GB" dirty="0">
                    <a:solidFill>
                      <a:schemeClr val="tx1"/>
                    </a:solidFill>
                  </a:rPr>
                  <a:t>O</a:t>
                </a:r>
                <a:r>
                  <a:rPr lang="en-GB" baseline="-25000" dirty="0">
                    <a:solidFill>
                      <a:schemeClr val="tx1"/>
                    </a:solidFill>
                  </a:rPr>
                  <a:t>6</a:t>
                </a:r>
                <a:r>
                  <a:rPr lang="en-GB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:	anorthite (An)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	diopside (Di)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	melt (</a:t>
                </a:r>
                <a:r>
                  <a:rPr lang="en-GB" i="1" dirty="0">
                    <a:solidFill>
                      <a:schemeClr val="tx1"/>
                    </a:solidFill>
                  </a:rPr>
                  <a:t>L</a:t>
                </a:r>
                <a:r>
                  <a:rPr lang="en-GB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accent1"/>
                    </a:solidFill>
                  </a:rPr>
                  <a:t>Above liquidus: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 (</a:t>
                </a:r>
                <a:r>
                  <a:rPr lang="en-GB" dirty="0" err="1"/>
                  <a:t>divarient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accent2"/>
                    </a:solidFill>
                  </a:rPr>
                  <a:t>On liquidus:</a:t>
                </a:r>
                <a:r>
                  <a:rPr lang="en-GB" dirty="0"/>
                  <a:t>	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(</a:t>
                </a:r>
                <a:r>
                  <a:rPr lang="en-GB" dirty="0" err="1"/>
                  <a:t>univarient</a:t>
                </a:r>
                <a:r>
                  <a:rPr lang="en-GB" dirty="0"/>
                  <a:t>)</a:t>
                </a:r>
              </a:p>
              <a:p>
                <a:pPr marL="0" indent="0">
                  <a:spcAft>
                    <a:spcPts val="1000"/>
                  </a:spcAft>
                  <a:buNone/>
                </a:pPr>
                <a:r>
                  <a:rPr lang="en-GB" dirty="0">
                    <a:solidFill>
                      <a:schemeClr val="accent3"/>
                    </a:solidFill>
                  </a:rPr>
                  <a:t>At eutectic:</a:t>
                </a:r>
                <a:r>
                  <a:rPr lang="en-GB" dirty="0"/>
                  <a:t>	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0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(</a:t>
                </a:r>
                <a:r>
                  <a:rPr lang="en-GB" dirty="0" err="1"/>
                  <a:t>invarient</a:t>
                </a:r>
                <a:r>
                  <a:rPr lang="en-GB" dirty="0"/>
                  <a:t>)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78428" y="1825625"/>
                <a:ext cx="5675372" cy="4351338"/>
              </a:xfrm>
              <a:blipFill>
                <a:blip r:embed="rId4"/>
                <a:stretch>
                  <a:fillRect l="-1719" r="-16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F3A1D-3535-4C9E-8F3A-49F5F6C6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1AE2B-6E2D-4628-B342-B5F90A96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753F8-334F-4BD0-B62B-D2AF8767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20</a:t>
            </a:fld>
            <a:endParaRPr lang="en-GB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A02A4F-539D-4192-A367-5145B3C987DC}"/>
              </a:ext>
            </a:extLst>
          </p:cNvPr>
          <p:cNvCxnSpPr/>
          <p:nvPr/>
        </p:nvCxnSpPr>
        <p:spPr>
          <a:xfrm>
            <a:off x="4339820" y="2433550"/>
            <a:ext cx="0" cy="87630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BBA9B48-FF55-422D-BB47-6E3687BAA88C}"/>
              </a:ext>
            </a:extLst>
          </p:cNvPr>
          <p:cNvCxnSpPr>
            <a:cxnSpLocks/>
          </p:cNvCxnSpPr>
          <p:nvPr/>
        </p:nvCxnSpPr>
        <p:spPr>
          <a:xfrm flipH="1">
            <a:off x="3889470" y="2871700"/>
            <a:ext cx="900700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F9B90885-F3C3-49B2-AD5D-AB232DA76113}"/>
              </a:ext>
            </a:extLst>
          </p:cNvPr>
          <p:cNvSpPr/>
          <p:nvPr/>
        </p:nvSpPr>
        <p:spPr>
          <a:xfrm>
            <a:off x="4212320" y="2744200"/>
            <a:ext cx="255000" cy="255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74F40C-5AC5-48D4-919C-FD8E99A54054}"/>
              </a:ext>
            </a:extLst>
          </p:cNvPr>
          <p:cNvCxnSpPr>
            <a:cxnSpLocks/>
          </p:cNvCxnSpPr>
          <p:nvPr/>
        </p:nvCxnSpPr>
        <p:spPr>
          <a:xfrm rot="19501639">
            <a:off x="2427429" y="2311953"/>
            <a:ext cx="195072" cy="125577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1449A83A-BCD9-406C-9C15-39B4017EC759}"/>
              </a:ext>
            </a:extLst>
          </p:cNvPr>
          <p:cNvSpPr/>
          <p:nvPr/>
        </p:nvSpPr>
        <p:spPr>
          <a:xfrm rot="19813733">
            <a:off x="2397464" y="2821437"/>
            <a:ext cx="255000" cy="255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A50CC49-9F41-4E6E-85F0-C442CD7634DF}"/>
              </a:ext>
            </a:extLst>
          </p:cNvPr>
          <p:cNvSpPr/>
          <p:nvPr/>
        </p:nvSpPr>
        <p:spPr>
          <a:xfrm>
            <a:off x="3808500" y="4570412"/>
            <a:ext cx="255000" cy="255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E14CDD-07B6-44E9-A781-8C1E35E1279E}"/>
              </a:ext>
            </a:extLst>
          </p:cNvPr>
          <p:cNvSpPr txBox="1"/>
          <p:nvPr/>
        </p:nvSpPr>
        <p:spPr>
          <a:xfrm>
            <a:off x="8579042" y="4047192"/>
            <a:ext cx="2433387" cy="52322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i="1" dirty="0">
                <a:solidFill>
                  <a:schemeClr val="accent1"/>
                </a:solidFill>
              </a:rPr>
              <a:t>We’ll look at this phase diagram again in Lecture 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253E0C-08AA-433E-909B-717AFA5D71D5}"/>
              </a:ext>
            </a:extLst>
          </p:cNvPr>
          <p:cNvSpPr/>
          <p:nvPr/>
        </p:nvSpPr>
        <p:spPr>
          <a:xfrm>
            <a:off x="1950719" y="1950133"/>
            <a:ext cx="710125" cy="33503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19B0590-FC83-4E32-A412-0B7D66F07493}"/>
              </a:ext>
            </a:extLst>
          </p:cNvPr>
          <p:cNvSpPr/>
          <p:nvPr/>
        </p:nvSpPr>
        <p:spPr>
          <a:xfrm rot="19813733">
            <a:off x="1796220" y="2821437"/>
            <a:ext cx="255000" cy="255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8CF6AF6-FFCE-43DB-B9D2-4A6BEAF95620}"/>
              </a:ext>
            </a:extLst>
          </p:cNvPr>
          <p:cNvCxnSpPr>
            <a:cxnSpLocks/>
          </p:cNvCxnSpPr>
          <p:nvPr/>
        </p:nvCxnSpPr>
        <p:spPr>
          <a:xfrm>
            <a:off x="1880381" y="2948937"/>
            <a:ext cx="658837" cy="0"/>
          </a:xfrm>
          <a:prstGeom prst="straightConnector1">
            <a:avLst/>
          </a:prstGeom>
          <a:ln w="38100">
            <a:prstDash val="sysDot"/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4B54F32-D11C-42F8-B2B1-4A8946E3F0FC}"/>
              </a:ext>
            </a:extLst>
          </p:cNvPr>
          <p:cNvSpPr txBox="1"/>
          <p:nvPr/>
        </p:nvSpPr>
        <p:spPr>
          <a:xfrm>
            <a:off x="2575986" y="270372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</a:t>
            </a:r>
            <a:endParaRPr lang="en-GB" i="1" dirty="0">
              <a:solidFill>
                <a:schemeClr val="accent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A9DC2B-19B7-44A0-B78A-8266799AECDB}"/>
              </a:ext>
            </a:extLst>
          </p:cNvPr>
          <p:cNvSpPr txBox="1"/>
          <p:nvPr/>
        </p:nvSpPr>
        <p:spPr>
          <a:xfrm>
            <a:off x="1496457" y="2948937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An</a:t>
            </a:r>
            <a:endParaRPr lang="en-GB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24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7" grpId="0" animBg="1"/>
      <p:bldP spid="18" grpId="0" animBg="1"/>
      <p:bldP spid="19" grpId="0" animBg="1"/>
      <p:bldP spid="20" grpId="0" animBg="1"/>
      <p:bldP spid="27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E325-02AD-4B04-99CB-43A2F925C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lever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8C18931-DB96-41CB-8ED5-F30C269BD5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To calculate the proportions of two phases in a system with a composition between </a:t>
                </a:r>
                <a:r>
                  <a:rPr lang="en-GB"/>
                  <a:t>the compositions </a:t>
                </a:r>
                <a:r>
                  <a:rPr lang="en-GB" dirty="0"/>
                  <a:t>of those two phases</a:t>
                </a:r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The proportions of phases </a:t>
                </a:r>
                <a:r>
                  <a:rPr lang="en-GB" dirty="0">
                    <a:solidFill>
                      <a:schemeClr val="accent1"/>
                    </a:solidFill>
                  </a:rPr>
                  <a:t>A</a:t>
                </a:r>
                <a:r>
                  <a:rPr lang="en-GB" dirty="0"/>
                  <a:t> and </a:t>
                </a:r>
                <a:r>
                  <a:rPr lang="en-GB" dirty="0">
                    <a:solidFill>
                      <a:schemeClr val="accent2"/>
                    </a:solidFill>
                  </a:rPr>
                  <a:t>B</a:t>
                </a:r>
                <a:r>
                  <a:rPr lang="en-GB" dirty="0"/>
                  <a:t> in substance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i="1" baseline="-250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>
                    <a:solidFill>
                      <a:schemeClr val="accent2"/>
                    </a:solidFill>
                  </a:rPr>
                  <a:t>, </a:t>
                </a:r>
                <a:r>
                  <a:rPr lang="en-GB" dirty="0"/>
                  <a:t>are given by:</a:t>
                </a:r>
                <a:endParaRPr lang="en-GB" baseline="-25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i="1" baseline="-250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GB" b="1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/ (</m:t>
                    </m:r>
                    <m:r>
                      <a:rPr lang="en-GB" b="1" i="1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dirty="0" err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and</a:t>
                </a:r>
                <a14:m>
                  <m:oMath xmlns:m="http://schemas.openxmlformats.org/officeDocument/2006/math">
                    <m:r>
                      <a:rPr lang="en-GB" b="0" i="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GB" b="1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/ (</m:t>
                    </m:r>
                    <m:r>
                      <a:rPr lang="en-GB" b="1" i="1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dirty="0" err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</a:t>
                </a:r>
              </a:p>
              <a:p>
                <a:pPr marL="0" indent="0" algn="ctr">
                  <a:buNone/>
                </a:pPr>
                <a:r>
                  <a:rPr lang="en-GB" dirty="0"/>
                  <a:t> such that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i="1" baseline="-25000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i="1" baseline="-25000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8C18931-DB96-41CB-8ED5-F30C269BD5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821" r="-8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C62FE-DB48-4D48-9635-4B72EFED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6596E-E6AF-4CCB-9F43-A0EFCF8C8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87F7B-F2FA-43C1-B253-1760D4A16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21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4861C3-9CD2-4A56-A4C3-7CCF2574F40D}"/>
              </a:ext>
            </a:extLst>
          </p:cNvPr>
          <p:cNvCxnSpPr>
            <a:cxnSpLocks/>
          </p:cNvCxnSpPr>
          <p:nvPr/>
        </p:nvCxnSpPr>
        <p:spPr>
          <a:xfrm>
            <a:off x="1803647" y="3337996"/>
            <a:ext cx="858470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77E3EB43-0F80-42D3-A105-BC5EDDF3C5E3}"/>
              </a:ext>
            </a:extLst>
          </p:cNvPr>
          <p:cNvSpPr/>
          <p:nvPr/>
        </p:nvSpPr>
        <p:spPr>
          <a:xfrm>
            <a:off x="1632196" y="3172896"/>
            <a:ext cx="342900" cy="3429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D461BF3-3AD0-4E3E-B19A-BF31C37DE40B}"/>
              </a:ext>
            </a:extLst>
          </p:cNvPr>
          <p:cNvSpPr/>
          <p:nvPr/>
        </p:nvSpPr>
        <p:spPr>
          <a:xfrm>
            <a:off x="10242057" y="3147496"/>
            <a:ext cx="342900" cy="3429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A7AD15F-9D06-4B8B-86E6-C22BEC97EC34}"/>
              </a:ext>
            </a:extLst>
          </p:cNvPr>
          <p:cNvSpPr/>
          <p:nvPr/>
        </p:nvSpPr>
        <p:spPr>
          <a:xfrm>
            <a:off x="5197229" y="3172896"/>
            <a:ext cx="342900" cy="3429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3A9B8F-D3C8-426F-8AE8-094FD6ED7230}"/>
              </a:ext>
            </a:extLst>
          </p:cNvPr>
          <p:cNvSpPr txBox="1"/>
          <p:nvPr/>
        </p:nvSpPr>
        <p:spPr>
          <a:xfrm>
            <a:off x="1137918" y="2653933"/>
            <a:ext cx="1331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tx2"/>
                </a:solidFill>
              </a:rPr>
              <a:t>Phase 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52558A-CABF-4EDB-8735-0ACA6C826BA1}"/>
              </a:ext>
            </a:extLst>
          </p:cNvPr>
          <p:cNvSpPr txBox="1"/>
          <p:nvPr/>
        </p:nvSpPr>
        <p:spPr>
          <a:xfrm>
            <a:off x="9739284" y="2653932"/>
            <a:ext cx="1348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2"/>
                </a:solidFill>
              </a:rPr>
              <a:t>Phase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3EDD57E-EAC6-435B-A15B-6549D176E82E}"/>
                  </a:ext>
                </a:extLst>
              </p:cNvPr>
              <p:cNvSpPr txBox="1"/>
              <p:nvPr/>
            </p:nvSpPr>
            <p:spPr>
              <a:xfrm>
                <a:off x="5180101" y="2653932"/>
                <a:ext cx="3771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4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3EDD57E-EAC6-435B-A15B-6549D176E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101" y="2653932"/>
                <a:ext cx="377155" cy="461665"/>
              </a:xfrm>
              <a:prstGeom prst="rect">
                <a:avLst/>
              </a:prstGeom>
              <a:blipFill>
                <a:blip r:embed="rId4"/>
                <a:stretch>
                  <a:fillRect l="-48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CDBAAD4-BB82-4DA3-B71C-E7AE4289C7AA}"/>
              </a:ext>
            </a:extLst>
          </p:cNvPr>
          <p:cNvCxnSpPr>
            <a:cxnSpLocks/>
          </p:cNvCxnSpPr>
          <p:nvPr/>
        </p:nvCxnSpPr>
        <p:spPr>
          <a:xfrm>
            <a:off x="1765546" y="3599140"/>
            <a:ext cx="3603133" cy="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F556553-F9F5-41D0-AFE0-1A795CE15FEC}"/>
              </a:ext>
            </a:extLst>
          </p:cNvPr>
          <p:cNvCxnSpPr>
            <a:cxnSpLocks/>
          </p:cNvCxnSpPr>
          <p:nvPr/>
        </p:nvCxnSpPr>
        <p:spPr>
          <a:xfrm>
            <a:off x="5368679" y="3599140"/>
            <a:ext cx="5044828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27A6079-F724-459B-B7C3-04B96B24B20B}"/>
                  </a:ext>
                </a:extLst>
              </p:cNvPr>
              <p:cNvSpPr txBox="1"/>
              <p:nvPr/>
            </p:nvSpPr>
            <p:spPr>
              <a:xfrm>
                <a:off x="3307262" y="3666610"/>
                <a:ext cx="5197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sz="2400" b="1" i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27A6079-F724-459B-B7C3-04B96B24B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262" y="3666610"/>
                <a:ext cx="5197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1CEB39F-7297-4B44-82BC-CF769E4E851E}"/>
                  </a:ext>
                </a:extLst>
              </p:cNvPr>
              <p:cNvSpPr txBox="1"/>
              <p:nvPr/>
            </p:nvSpPr>
            <p:spPr>
              <a:xfrm>
                <a:off x="7631243" y="3666610"/>
                <a:ext cx="5197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sz="2400" b="1" i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1CEB39F-7297-4B44-82BC-CF769E4E8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243" y="3666610"/>
                <a:ext cx="51970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FFB7630C-4ECE-4B7B-B7FE-7E8B44B184B7}"/>
              </a:ext>
            </a:extLst>
          </p:cNvPr>
          <p:cNvSpPr txBox="1"/>
          <p:nvPr/>
        </p:nvSpPr>
        <p:spPr>
          <a:xfrm>
            <a:off x="4213859" y="4020086"/>
            <a:ext cx="3057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Expressed in wt.% or mol.%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D91807B-FAD3-4038-BC1C-CF5A85FCF112}"/>
              </a:ext>
            </a:extLst>
          </p:cNvPr>
          <p:cNvCxnSpPr>
            <a:cxnSpLocks/>
            <a:stCxn id="19" idx="1"/>
          </p:cNvCxnSpPr>
          <p:nvPr/>
        </p:nvCxnSpPr>
        <p:spPr>
          <a:xfrm flipH="1" flipV="1">
            <a:off x="3665221" y="4001294"/>
            <a:ext cx="548638" cy="2034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3F8140B-4BBB-48DE-969A-BB633DC6439F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7271106" y="4020086"/>
            <a:ext cx="484519" cy="1846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87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 animBg="1"/>
      <p:bldP spid="18" grpId="0"/>
      <p:bldP spid="20" grpId="0"/>
      <p:bldP spid="22" grpId="0"/>
      <p:bldP spid="30" grpId="0"/>
      <p:bldP spid="32" grpId="0"/>
      <p:bldP spid="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F090-150B-473E-BD80-A3825C764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Reactions in geochemical systems: thermodynamics and phase diagram principles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E7A83-1F4B-42AA-92ED-D2CA10EB50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3</a:t>
            </a:r>
          </a:p>
          <a:p>
            <a:r>
              <a:rPr lang="en-GB" dirty="0"/>
              <a:t>Part 4 | Binary phase diagrams with solid solutions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BC59C-67B6-4B05-BC06-2EEFD1F7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8E3BF-8C94-43B7-BDCB-B289E57E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507B5-2A7D-4FCF-A40A-BADB4BDC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0811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649F9-2EA3-4572-9FE4-76195DE7D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Equilibrium and fractional processes</a:t>
            </a:r>
          </a:p>
        </p:txBody>
      </p:sp>
      <p:pic>
        <p:nvPicPr>
          <p:cNvPr id="9" name="Content Placeholder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2E3AE99B-7D71-4C09-B14B-15DEAFFB985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36" y="1898169"/>
            <a:ext cx="3779528" cy="4206249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926FA-217B-4CF8-AE63-C85B42A0C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4720" y="1825625"/>
            <a:ext cx="53390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i="1" dirty="0"/>
              <a:t>Equilibrium melting and crystallisation</a:t>
            </a:r>
          </a:p>
          <a:p>
            <a:r>
              <a:rPr lang="en-GB" dirty="0"/>
              <a:t>Solid and liquid remain in equilibrium with each other</a:t>
            </a:r>
          </a:p>
          <a:p>
            <a:pPr marL="0" indent="0">
              <a:buNone/>
            </a:pPr>
            <a:r>
              <a:rPr lang="en-GB" i="1" dirty="0"/>
              <a:t>Fractional melting</a:t>
            </a:r>
          </a:p>
          <a:p>
            <a:r>
              <a:rPr lang="en-GB" dirty="0"/>
              <a:t>As liquids are formed, they are removed and are no longer in equilibrium with the solid</a:t>
            </a:r>
          </a:p>
          <a:p>
            <a:pPr marL="0" indent="0">
              <a:buNone/>
            </a:pPr>
            <a:r>
              <a:rPr lang="en-GB" i="1" dirty="0"/>
              <a:t>Fractional crystallisation</a:t>
            </a:r>
          </a:p>
          <a:p>
            <a:r>
              <a:rPr lang="en-GB" dirty="0"/>
              <a:t>As solids are formed, they are removed and are no longer in equilibrium with the liquid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5B8EB-45CE-4CC8-864C-A3B1F5155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0B54A3-3629-4331-BE94-950C02B85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CD3EE0-BF65-4FB3-AE45-215A8440B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23</a:t>
            </a:fld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1448E6-6E5D-4500-BF87-8341F44907D2}"/>
              </a:ext>
            </a:extLst>
          </p:cNvPr>
          <p:cNvSpPr/>
          <p:nvPr/>
        </p:nvSpPr>
        <p:spPr>
          <a:xfrm>
            <a:off x="3581400" y="1744109"/>
            <a:ext cx="2072640" cy="19744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FD67E5-3F6D-4348-9764-808DBBC5F4FA}"/>
              </a:ext>
            </a:extLst>
          </p:cNvPr>
          <p:cNvSpPr/>
          <p:nvPr/>
        </p:nvSpPr>
        <p:spPr>
          <a:xfrm>
            <a:off x="3291840" y="3556000"/>
            <a:ext cx="2397760" cy="2710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951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09517-D00A-4CAA-BE81-A30D3475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94333" cy="1325563"/>
          </a:xfrm>
        </p:spPr>
        <p:txBody>
          <a:bodyPr/>
          <a:lstStyle/>
          <a:p>
            <a:r>
              <a:rPr lang="en-GB" dirty="0"/>
              <a:t>Binary phase diagram with solid solution: plagioclase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9122ED-1DA6-4F70-98B2-9ECE8F882F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571" y="1870075"/>
            <a:ext cx="4498857" cy="4094595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78428" y="1825624"/>
                <a:ext cx="5675372" cy="45307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Solid solution: multiple solids per phase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dirty="0"/>
                  <a:t>: 	Anorthite (An; CaAl</a:t>
                </a:r>
                <a:r>
                  <a:rPr lang="en-GB" baseline="-25000" dirty="0"/>
                  <a:t>2</a:t>
                </a:r>
                <a:r>
                  <a:rPr lang="en-GB" dirty="0"/>
                  <a:t>Si</a:t>
                </a:r>
                <a:r>
                  <a:rPr lang="en-GB" baseline="-25000" dirty="0"/>
                  <a:t>2</a:t>
                </a:r>
                <a:r>
                  <a:rPr lang="en-GB" dirty="0"/>
                  <a:t>O</a:t>
                </a:r>
                <a:r>
                  <a:rPr lang="en-GB" baseline="-25000" dirty="0"/>
                  <a:t>8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r>
                  <a:rPr lang="en-GB" dirty="0"/>
                  <a:t>	Albite (Ab; NaAlSi</a:t>
                </a:r>
                <a:r>
                  <a:rPr lang="en-GB" baseline="-25000" dirty="0"/>
                  <a:t>3</a:t>
                </a:r>
                <a:r>
                  <a:rPr lang="en-GB" dirty="0"/>
                  <a:t>O</a:t>
                </a:r>
                <a:r>
                  <a:rPr lang="en-GB" baseline="-25000" dirty="0"/>
                  <a:t>8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GB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:	plagioclase (</a:t>
                </a:r>
                <a:r>
                  <a:rPr lang="en-GB" i="1" dirty="0"/>
                  <a:t>plag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r>
                  <a:rPr lang="en-GB" dirty="0"/>
                  <a:t>	melt (</a:t>
                </a:r>
                <a:r>
                  <a:rPr lang="en-GB" i="1" dirty="0"/>
                  <a:t>L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r>
                  <a:rPr lang="en-GB" dirty="0"/>
                  <a:t>Plagioclase is a mixture of Ab and An</a:t>
                </a:r>
              </a:p>
              <a:p>
                <a:pPr marL="0" indent="0">
                  <a:buNone/>
                </a:pPr>
                <a:r>
                  <a:rPr lang="en-GB" dirty="0"/>
                  <a:t>The equilibrium phase assemblage depends on both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, but…</a:t>
                </a:r>
              </a:p>
              <a:p>
                <a:pPr marL="0" indent="0">
                  <a:spcAft>
                    <a:spcPts val="1000"/>
                  </a:spcAft>
                  <a:buNone/>
                </a:pPr>
                <a:r>
                  <a:rPr lang="en-GB" dirty="0"/>
                  <a:t>…if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is fixed, only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can vary, such that: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b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𝚽</m:t>
                      </m:r>
                      <m:r>
                        <a:rPr lang="en-GB" b="1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78428" y="1825624"/>
                <a:ext cx="5675372" cy="4530725"/>
              </a:xfrm>
              <a:blipFill>
                <a:blip r:embed="rId4"/>
                <a:stretch>
                  <a:fillRect l="-1719" t="-1747" r="-13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F3A1D-3535-4C9E-8F3A-49F5F6C6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1AE2B-6E2D-4628-B342-B5F90A96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753F8-334F-4BD0-B62B-D2AF8767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24</a:t>
            </a:fld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6E9D80-E45F-4045-82DD-1222F52997DE}"/>
              </a:ext>
            </a:extLst>
          </p:cNvPr>
          <p:cNvSpPr/>
          <p:nvPr/>
        </p:nvSpPr>
        <p:spPr>
          <a:xfrm>
            <a:off x="1950719" y="1950133"/>
            <a:ext cx="710125" cy="33503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C2809D-6E9D-4D79-B10C-CDA1CD4E1099}"/>
              </a:ext>
            </a:extLst>
          </p:cNvPr>
          <p:cNvSpPr txBox="1"/>
          <p:nvPr/>
        </p:nvSpPr>
        <p:spPr>
          <a:xfrm>
            <a:off x="9206029" y="3284855"/>
            <a:ext cx="2270761" cy="73866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i="1" dirty="0">
                <a:solidFill>
                  <a:schemeClr val="accent1"/>
                </a:solidFill>
              </a:rPr>
              <a:t>Think back to Lecture 1: element partitioning and Goldschmidt’s Rules</a:t>
            </a:r>
          </a:p>
        </p:txBody>
      </p:sp>
    </p:spTree>
    <p:extLst>
      <p:ext uri="{BB962C8B-B14F-4D97-AF65-F5344CB8AC3E}">
        <p14:creationId xmlns:p14="http://schemas.microsoft.com/office/powerpoint/2010/main" val="185662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1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9122ED-1DA6-4F70-98B2-9ECE8F882F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572" y="1870075"/>
            <a:ext cx="4498856" cy="4094595"/>
          </a:xfrm>
        </p:spPr>
      </p:pic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06677E2-7F45-4C9C-B40B-6BC165AD0E17}"/>
              </a:ext>
            </a:extLst>
          </p:cNvPr>
          <p:cNvCxnSpPr>
            <a:cxnSpLocks/>
          </p:cNvCxnSpPr>
          <p:nvPr/>
        </p:nvCxnSpPr>
        <p:spPr>
          <a:xfrm>
            <a:off x="3668162" y="2934930"/>
            <a:ext cx="5410" cy="2387406"/>
          </a:xfrm>
          <a:prstGeom prst="straightConnector1">
            <a:avLst/>
          </a:prstGeom>
          <a:ln w="1905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ED20C3A-25AA-49CE-A587-9972B0FD0A8F}"/>
              </a:ext>
            </a:extLst>
          </p:cNvPr>
          <p:cNvCxnSpPr>
            <a:cxnSpLocks/>
          </p:cNvCxnSpPr>
          <p:nvPr/>
        </p:nvCxnSpPr>
        <p:spPr>
          <a:xfrm>
            <a:off x="3668710" y="3694720"/>
            <a:ext cx="4315" cy="1638053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C509517-D00A-4CAA-BE81-A30D3475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94333" cy="1325563"/>
          </a:xfrm>
        </p:spPr>
        <p:txBody>
          <a:bodyPr/>
          <a:lstStyle/>
          <a:p>
            <a:r>
              <a:rPr lang="en-GB" dirty="0"/>
              <a:t>Binary phase diagram with solid solution: plagioclase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78428" y="1825625"/>
                <a:ext cx="5675372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i="1" dirty="0"/>
                  <a:t>Equilibrium crystallisation</a:t>
                </a:r>
              </a:p>
              <a:p>
                <a:r>
                  <a:rPr lang="en-GB" dirty="0"/>
                  <a:t>First plagioclase is An-rich</a:t>
                </a:r>
              </a:p>
              <a:p>
                <a:r>
                  <a:rPr lang="en-GB" dirty="0"/>
                  <a:t>Plagioclase maintains equilibrium with the melt as it cools and evolves to a more Ab-rich composition</a:t>
                </a:r>
              </a:p>
              <a:p>
                <a:r>
                  <a:rPr lang="en-GB" dirty="0"/>
                  <a:t>Lever rule for quantitative descriptions</a:t>
                </a:r>
              </a:p>
              <a:p>
                <a:r>
                  <a:rPr lang="en-GB" dirty="0"/>
                  <a:t>Plagioclase at low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has exactly the same composition as melt at high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GB" i="1" dirty="0"/>
                  <a:t>Equilibrium melting </a:t>
                </a:r>
              </a:p>
              <a:p>
                <a:r>
                  <a:rPr lang="en-GB" dirty="0"/>
                  <a:t>Opposite of equilibrium crystallisation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78428" y="1825625"/>
                <a:ext cx="5675372" cy="4351338"/>
              </a:xfrm>
              <a:blipFill>
                <a:blip r:embed="rId4"/>
                <a:stretch>
                  <a:fillRect l="-1719" t="-1821" r="-9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F3A1D-3535-4C9E-8F3A-49F5F6C6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1AE2B-6E2D-4628-B342-B5F90A96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753F8-334F-4BD0-B62B-D2AF8767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25</a:t>
            </a:fld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904A7B-572E-4109-A5B6-6B25000E7C59}"/>
              </a:ext>
            </a:extLst>
          </p:cNvPr>
          <p:cNvCxnSpPr>
            <a:cxnSpLocks/>
          </p:cNvCxnSpPr>
          <p:nvPr/>
        </p:nvCxnSpPr>
        <p:spPr>
          <a:xfrm>
            <a:off x="3670867" y="2373403"/>
            <a:ext cx="0" cy="426719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D11A4D-BC3B-42C1-95E6-C5AEEAAC0EBC}"/>
              </a:ext>
            </a:extLst>
          </p:cNvPr>
          <p:cNvCxnSpPr>
            <a:cxnSpLocks/>
          </p:cNvCxnSpPr>
          <p:nvPr/>
        </p:nvCxnSpPr>
        <p:spPr>
          <a:xfrm>
            <a:off x="3668138" y="2848890"/>
            <a:ext cx="1255776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8343CD6-47C0-4AE3-9685-8FB3EE639055}"/>
              </a:ext>
            </a:extLst>
          </p:cNvPr>
          <p:cNvCxnSpPr>
            <a:cxnSpLocks/>
          </p:cNvCxnSpPr>
          <p:nvPr/>
        </p:nvCxnSpPr>
        <p:spPr>
          <a:xfrm>
            <a:off x="2934010" y="3223385"/>
            <a:ext cx="1438656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E95CB6-4CEE-4656-8C4D-45F96A68FC64}"/>
              </a:ext>
            </a:extLst>
          </p:cNvPr>
          <p:cNvCxnSpPr>
            <a:cxnSpLocks/>
          </p:cNvCxnSpPr>
          <p:nvPr/>
        </p:nvCxnSpPr>
        <p:spPr>
          <a:xfrm>
            <a:off x="2381882" y="3641370"/>
            <a:ext cx="1286256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3BB61E4E-ED7B-40DF-B067-E80FC3AE236D}"/>
              </a:ext>
            </a:extLst>
          </p:cNvPr>
          <p:cNvSpPr/>
          <p:nvPr/>
        </p:nvSpPr>
        <p:spPr>
          <a:xfrm>
            <a:off x="3609907" y="2251483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82FF249-74A6-45B5-8A9E-480DB19FF48E}"/>
              </a:ext>
            </a:extLst>
          </p:cNvPr>
          <p:cNvSpPr/>
          <p:nvPr/>
        </p:nvSpPr>
        <p:spPr>
          <a:xfrm>
            <a:off x="4862954" y="2787930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89CC755-92CD-4235-882E-872B8B94D872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4923914" y="2909850"/>
            <a:ext cx="0" cy="2416682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0938859-4D01-48DB-9518-188ADF5790EF}"/>
              </a:ext>
            </a:extLst>
          </p:cNvPr>
          <p:cNvCxnSpPr>
            <a:cxnSpLocks/>
          </p:cNvCxnSpPr>
          <p:nvPr/>
        </p:nvCxnSpPr>
        <p:spPr>
          <a:xfrm>
            <a:off x="4353317" y="3284345"/>
            <a:ext cx="0" cy="2050922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1ABB35E-3020-4C41-957B-79AD7687F3F5}"/>
              </a:ext>
            </a:extLst>
          </p:cNvPr>
          <p:cNvCxnSpPr>
            <a:cxnSpLocks/>
          </p:cNvCxnSpPr>
          <p:nvPr/>
        </p:nvCxnSpPr>
        <p:spPr>
          <a:xfrm>
            <a:off x="2934010" y="3284424"/>
            <a:ext cx="0" cy="2050922"/>
          </a:xfrm>
          <a:prstGeom prst="straightConnector1">
            <a:avLst/>
          </a:prstGeom>
          <a:ln w="1905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556F8A4-7EE5-4B17-9110-7CEC2585D8C1}"/>
              </a:ext>
            </a:extLst>
          </p:cNvPr>
          <p:cNvCxnSpPr>
            <a:cxnSpLocks/>
          </p:cNvCxnSpPr>
          <p:nvPr/>
        </p:nvCxnSpPr>
        <p:spPr>
          <a:xfrm>
            <a:off x="2381881" y="3702330"/>
            <a:ext cx="0" cy="1632937"/>
          </a:xfrm>
          <a:prstGeom prst="straightConnector1">
            <a:avLst/>
          </a:prstGeom>
          <a:ln w="1905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2A9F5B2-A67B-4E6A-BB36-6584C525E9DB}"/>
              </a:ext>
            </a:extLst>
          </p:cNvPr>
          <p:cNvSpPr txBox="1"/>
          <p:nvPr/>
        </p:nvSpPr>
        <p:spPr>
          <a:xfrm>
            <a:off x="4323532" y="3169666"/>
            <a:ext cx="558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781C5C3-75E7-47F5-950A-27C1A5159E5D}"/>
              </a:ext>
            </a:extLst>
          </p:cNvPr>
          <p:cNvSpPr txBox="1"/>
          <p:nvPr/>
        </p:nvSpPr>
        <p:spPr>
          <a:xfrm>
            <a:off x="4873114" y="2812238"/>
            <a:ext cx="558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5A9FC3-7FF1-4992-AEB1-C622D784E8A5}"/>
              </a:ext>
            </a:extLst>
          </p:cNvPr>
          <p:cNvSpPr txBox="1"/>
          <p:nvPr/>
        </p:nvSpPr>
        <p:spPr>
          <a:xfrm>
            <a:off x="3631184" y="3576488"/>
            <a:ext cx="558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36D6BF-A8F7-4FB2-931C-DB966A23D005}"/>
              </a:ext>
            </a:extLst>
          </p:cNvPr>
          <p:cNvSpPr txBox="1"/>
          <p:nvPr/>
        </p:nvSpPr>
        <p:spPr>
          <a:xfrm>
            <a:off x="3344073" y="2596971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510F1A-228F-436D-9269-5CBFBC56BAF3}"/>
              </a:ext>
            </a:extLst>
          </p:cNvPr>
          <p:cNvSpPr txBox="1"/>
          <p:nvPr/>
        </p:nvSpPr>
        <p:spPr>
          <a:xfrm>
            <a:off x="3429000" y="2749940"/>
            <a:ext cx="1847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200" i="1" dirty="0">
              <a:solidFill>
                <a:schemeClr val="accent2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396C9B-0A0C-4637-88B4-E0EC2EE23576}"/>
              </a:ext>
            </a:extLst>
          </p:cNvPr>
          <p:cNvSpPr txBox="1"/>
          <p:nvPr/>
        </p:nvSpPr>
        <p:spPr>
          <a:xfrm>
            <a:off x="2658102" y="2956243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9B0F8D-78FB-4032-BC23-3978F378E952}"/>
              </a:ext>
            </a:extLst>
          </p:cNvPr>
          <p:cNvSpPr txBox="1"/>
          <p:nvPr/>
        </p:nvSpPr>
        <p:spPr>
          <a:xfrm>
            <a:off x="2153742" y="3359101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L3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1C30559-C674-44C8-9322-4027C20A38BB}"/>
              </a:ext>
            </a:extLst>
          </p:cNvPr>
          <p:cNvCxnSpPr>
            <a:cxnSpLocks/>
          </p:cNvCxnSpPr>
          <p:nvPr/>
        </p:nvCxnSpPr>
        <p:spPr>
          <a:xfrm flipH="1">
            <a:off x="1968370" y="2861082"/>
            <a:ext cx="1638808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607E435-B76B-47FE-A40A-DFB7D3A4C7B5}"/>
              </a:ext>
            </a:extLst>
          </p:cNvPr>
          <p:cNvCxnSpPr>
            <a:cxnSpLocks/>
          </p:cNvCxnSpPr>
          <p:nvPr/>
        </p:nvCxnSpPr>
        <p:spPr>
          <a:xfrm flipH="1">
            <a:off x="1968370" y="3641370"/>
            <a:ext cx="357254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58E5505-61B0-475E-999D-69099D163C82}"/>
              </a:ext>
            </a:extLst>
          </p:cNvPr>
          <p:cNvCxnSpPr>
            <a:cxnSpLocks/>
          </p:cNvCxnSpPr>
          <p:nvPr/>
        </p:nvCxnSpPr>
        <p:spPr>
          <a:xfrm flipH="1">
            <a:off x="1968370" y="3223385"/>
            <a:ext cx="903609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2CCAA69-3632-4B47-991B-D4DFC92E41ED}"/>
              </a:ext>
            </a:extLst>
          </p:cNvPr>
          <p:cNvSpPr txBox="1"/>
          <p:nvPr/>
        </p:nvSpPr>
        <p:spPr>
          <a:xfrm>
            <a:off x="3380035" y="2171598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3BAFFAD-68DC-4388-A095-5DEC2174E399}"/>
              </a:ext>
            </a:extLst>
          </p:cNvPr>
          <p:cNvSpPr txBox="1"/>
          <p:nvPr/>
        </p:nvSpPr>
        <p:spPr>
          <a:xfrm>
            <a:off x="3662728" y="5005153"/>
            <a:ext cx="473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1F8ACD2-9F20-44E8-A9E9-9FC23FD4350F}"/>
              </a:ext>
            </a:extLst>
          </p:cNvPr>
          <p:cNvSpPr/>
          <p:nvPr/>
        </p:nvSpPr>
        <p:spPr>
          <a:xfrm>
            <a:off x="3609907" y="2800122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0BBC9FD-899D-4C70-AD57-E2486F5E1A45}"/>
              </a:ext>
            </a:extLst>
          </p:cNvPr>
          <p:cNvSpPr/>
          <p:nvPr/>
        </p:nvSpPr>
        <p:spPr>
          <a:xfrm>
            <a:off x="2871978" y="3162425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D017A58-B914-4C45-918C-DF810804F404}"/>
              </a:ext>
            </a:extLst>
          </p:cNvPr>
          <p:cNvSpPr/>
          <p:nvPr/>
        </p:nvSpPr>
        <p:spPr>
          <a:xfrm>
            <a:off x="2320921" y="3580410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2E0B404-398D-4DF4-911F-9385521293AC}"/>
              </a:ext>
            </a:extLst>
          </p:cNvPr>
          <p:cNvSpPr/>
          <p:nvPr/>
        </p:nvSpPr>
        <p:spPr>
          <a:xfrm>
            <a:off x="4288918" y="3162425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00FBB8B-C221-4C56-888E-1BE0D7C30956}"/>
              </a:ext>
            </a:extLst>
          </p:cNvPr>
          <p:cNvSpPr txBox="1"/>
          <p:nvPr/>
        </p:nvSpPr>
        <p:spPr>
          <a:xfrm>
            <a:off x="1914357" y="2596971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143887A-D18A-4303-88BE-615D37C9CE1F}"/>
              </a:ext>
            </a:extLst>
          </p:cNvPr>
          <p:cNvSpPr txBox="1"/>
          <p:nvPr/>
        </p:nvSpPr>
        <p:spPr>
          <a:xfrm>
            <a:off x="1914357" y="2956243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6DCCB54-8BA1-429A-AF44-C2E066C30A8F}"/>
              </a:ext>
            </a:extLst>
          </p:cNvPr>
          <p:cNvSpPr txBox="1"/>
          <p:nvPr/>
        </p:nvSpPr>
        <p:spPr>
          <a:xfrm>
            <a:off x="1914087" y="3359101"/>
            <a:ext cx="364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T3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73B81A1-206F-40A8-9DAF-85EE82541C69}"/>
              </a:ext>
            </a:extLst>
          </p:cNvPr>
          <p:cNvCxnSpPr>
            <a:cxnSpLocks/>
          </p:cNvCxnSpPr>
          <p:nvPr/>
        </p:nvCxnSpPr>
        <p:spPr>
          <a:xfrm>
            <a:off x="3670867" y="2932382"/>
            <a:ext cx="0" cy="291003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A4FC2B3-C7D5-4758-9ED2-1A6D8C3288A4}"/>
              </a:ext>
            </a:extLst>
          </p:cNvPr>
          <p:cNvCxnSpPr>
            <a:cxnSpLocks/>
          </p:cNvCxnSpPr>
          <p:nvPr/>
        </p:nvCxnSpPr>
        <p:spPr>
          <a:xfrm>
            <a:off x="3670867" y="3223385"/>
            <a:ext cx="0" cy="347089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942DEE5C-B17F-406A-ADC0-F4B6E65CF7F6}"/>
              </a:ext>
            </a:extLst>
          </p:cNvPr>
          <p:cNvSpPr/>
          <p:nvPr/>
        </p:nvSpPr>
        <p:spPr>
          <a:xfrm>
            <a:off x="3609907" y="5210853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4A6CD6B-1373-4579-B0C7-E54A69FBFF6A}"/>
              </a:ext>
            </a:extLst>
          </p:cNvPr>
          <p:cNvCxnSpPr>
            <a:cxnSpLocks/>
            <a:stCxn id="33" idx="4"/>
          </p:cNvCxnSpPr>
          <p:nvPr/>
        </p:nvCxnSpPr>
        <p:spPr>
          <a:xfrm>
            <a:off x="3670867" y="3694720"/>
            <a:ext cx="2158" cy="1512951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8275DA4E-C7A6-46E0-87D7-EB8243346109}"/>
              </a:ext>
            </a:extLst>
          </p:cNvPr>
          <p:cNvSpPr/>
          <p:nvPr/>
        </p:nvSpPr>
        <p:spPr>
          <a:xfrm>
            <a:off x="3609907" y="3572800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17A856D-DBD2-4785-BB62-7FE75C026F3F}"/>
              </a:ext>
            </a:extLst>
          </p:cNvPr>
          <p:cNvCxnSpPr>
            <a:cxnSpLocks/>
          </p:cNvCxnSpPr>
          <p:nvPr/>
        </p:nvCxnSpPr>
        <p:spPr>
          <a:xfrm>
            <a:off x="2958970" y="3308884"/>
            <a:ext cx="67221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FBB99D10-5551-488A-8BAC-53E675BBF2A0}"/>
              </a:ext>
            </a:extLst>
          </p:cNvPr>
          <p:cNvCxnSpPr>
            <a:cxnSpLocks/>
          </p:cNvCxnSpPr>
          <p:nvPr/>
        </p:nvCxnSpPr>
        <p:spPr>
          <a:xfrm>
            <a:off x="3700452" y="3308884"/>
            <a:ext cx="62308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016E0AC5-0679-46BE-A576-2F844A4DCC52}"/>
              </a:ext>
            </a:extLst>
          </p:cNvPr>
          <p:cNvSpPr txBox="1"/>
          <p:nvPr/>
        </p:nvSpPr>
        <p:spPr>
          <a:xfrm>
            <a:off x="3184831" y="3253513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A15A785-CB5C-4988-A996-0CF2F93116A0}"/>
              </a:ext>
            </a:extLst>
          </p:cNvPr>
          <p:cNvSpPr txBox="1"/>
          <p:nvPr/>
        </p:nvSpPr>
        <p:spPr>
          <a:xfrm>
            <a:off x="3867637" y="3259305"/>
            <a:ext cx="26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2"/>
                </a:solidFill>
              </a:rPr>
              <a:t>b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AF96B98-E462-4D6D-A6A3-446719436292}"/>
              </a:ext>
            </a:extLst>
          </p:cNvPr>
          <p:cNvCxnSpPr>
            <a:cxnSpLocks/>
          </p:cNvCxnSpPr>
          <p:nvPr/>
        </p:nvCxnSpPr>
        <p:spPr>
          <a:xfrm flipH="1" flipV="1">
            <a:off x="3532703" y="3769201"/>
            <a:ext cx="2158" cy="1512951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6F1ED95-39FE-4775-83CE-1D5A0C1147FE}"/>
              </a:ext>
            </a:extLst>
          </p:cNvPr>
          <p:cNvSpPr txBox="1"/>
          <p:nvPr/>
        </p:nvSpPr>
        <p:spPr>
          <a:xfrm>
            <a:off x="3698657" y="2916972"/>
            <a:ext cx="69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3"/>
                </a:solidFill>
              </a:rPr>
              <a:t>System</a:t>
            </a:r>
            <a:endParaRPr lang="en-GB" i="1" dirty="0">
              <a:solidFill>
                <a:schemeClr val="accent3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C64A0C3-8DCA-47CD-BDB2-06272553E6B1}"/>
              </a:ext>
            </a:extLst>
          </p:cNvPr>
          <p:cNvCxnSpPr>
            <a:cxnSpLocks/>
          </p:cNvCxnSpPr>
          <p:nvPr/>
        </p:nvCxnSpPr>
        <p:spPr>
          <a:xfrm flipH="1">
            <a:off x="3025010" y="2878663"/>
            <a:ext cx="582168" cy="291003"/>
          </a:xfrm>
          <a:prstGeom prst="straightConnector1">
            <a:avLst/>
          </a:prstGeom>
          <a:ln w="38100">
            <a:solidFill>
              <a:schemeClr val="accent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0C6A149-1236-4A6E-BCA2-365C6D3F1663}"/>
              </a:ext>
            </a:extLst>
          </p:cNvPr>
          <p:cNvCxnSpPr>
            <a:cxnSpLocks/>
          </p:cNvCxnSpPr>
          <p:nvPr/>
        </p:nvCxnSpPr>
        <p:spPr>
          <a:xfrm flipH="1">
            <a:off x="2472101" y="3305784"/>
            <a:ext cx="346643" cy="262309"/>
          </a:xfrm>
          <a:prstGeom prst="straightConnector1">
            <a:avLst/>
          </a:prstGeom>
          <a:ln w="38100">
            <a:solidFill>
              <a:schemeClr val="accent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13B781C-88BC-413F-A1DC-1F88F00E0F2F}"/>
              </a:ext>
            </a:extLst>
          </p:cNvPr>
          <p:cNvSpPr txBox="1"/>
          <p:nvPr/>
        </p:nvSpPr>
        <p:spPr>
          <a:xfrm>
            <a:off x="2781771" y="2803328"/>
            <a:ext cx="5918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Liquid</a:t>
            </a:r>
            <a:endParaRPr lang="en-GB" i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93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9" grpId="0" animBg="1"/>
      <p:bldP spid="50" grpId="0"/>
      <p:bldP spid="52" grpId="0"/>
      <p:bldP spid="54" grpId="0"/>
      <p:bldP spid="55" grpId="0"/>
      <p:bldP spid="59" grpId="0"/>
      <p:bldP spid="61" grpId="0"/>
      <p:bldP spid="70" grpId="0"/>
      <p:bldP spid="72" grpId="0"/>
      <p:bldP spid="23" grpId="0" animBg="1"/>
      <p:bldP spid="25" grpId="0" animBg="1"/>
      <p:bldP spid="27" grpId="0" animBg="1"/>
      <p:bldP spid="31" grpId="0" animBg="1"/>
      <p:bldP spid="75" grpId="0"/>
      <p:bldP spid="77" grpId="0"/>
      <p:bldP spid="79" grpId="0"/>
      <p:bldP spid="40" grpId="0" animBg="1"/>
      <p:bldP spid="33" grpId="0" animBg="1"/>
      <p:bldP spid="110" grpId="0"/>
      <p:bldP spid="112" grpId="0"/>
      <p:bldP spid="51" grpId="0"/>
      <p:bldP spid="5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9122ED-1DA6-4F70-98B2-9ECE8F882F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572" y="1870075"/>
            <a:ext cx="4498856" cy="4094595"/>
          </a:xfrm>
        </p:spPr>
      </p:pic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06677E2-7F45-4C9C-B40B-6BC165AD0E17}"/>
              </a:ext>
            </a:extLst>
          </p:cNvPr>
          <p:cNvCxnSpPr>
            <a:cxnSpLocks/>
          </p:cNvCxnSpPr>
          <p:nvPr/>
        </p:nvCxnSpPr>
        <p:spPr>
          <a:xfrm>
            <a:off x="3660542" y="2934295"/>
            <a:ext cx="5410" cy="2387406"/>
          </a:xfrm>
          <a:prstGeom prst="straightConnector1">
            <a:avLst/>
          </a:prstGeom>
          <a:ln w="1905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ED20C3A-25AA-49CE-A587-9972B0FD0A8F}"/>
              </a:ext>
            </a:extLst>
          </p:cNvPr>
          <p:cNvCxnSpPr>
            <a:cxnSpLocks/>
            <a:stCxn id="33" idx="4"/>
          </p:cNvCxnSpPr>
          <p:nvPr/>
        </p:nvCxnSpPr>
        <p:spPr>
          <a:xfrm>
            <a:off x="3531525" y="3812686"/>
            <a:ext cx="4025" cy="1509015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C509517-D00A-4CAA-BE81-A30D3475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94333" cy="1325563"/>
          </a:xfrm>
        </p:spPr>
        <p:txBody>
          <a:bodyPr/>
          <a:lstStyle/>
          <a:p>
            <a:r>
              <a:rPr lang="en-GB" dirty="0"/>
              <a:t>Binary phase diagram with solid solution: plagioclase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78428" y="1825625"/>
                <a:ext cx="5675372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i="1" dirty="0"/>
                  <a:t>Fractional crystallisation</a:t>
                </a:r>
              </a:p>
              <a:p>
                <a:r>
                  <a:rPr lang="en-GB" dirty="0"/>
                  <a:t>First plagioclase is An-rich</a:t>
                </a:r>
              </a:p>
              <a:p>
                <a:r>
                  <a:rPr lang="en-GB" dirty="0"/>
                  <a:t>Plagioclase is removed from the system as soon as it is formed, so the composition of the system changes</a:t>
                </a:r>
              </a:p>
              <a:p>
                <a:r>
                  <a:rPr lang="en-GB" dirty="0"/>
                  <a:t>The composition of the system is the composition of the liquid</a:t>
                </a:r>
              </a:p>
              <a:p>
                <a:r>
                  <a:rPr lang="en-GB" dirty="0"/>
                  <a:t>Residual melt compositions become more Ab-rich as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decreases</a:t>
                </a:r>
              </a:p>
              <a:p>
                <a:r>
                  <a:rPr lang="en-GB" dirty="0"/>
                  <a:t>Last melt at the lowest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part of the liquidus and crystallises pure Ab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78428" y="1825625"/>
                <a:ext cx="5675372" cy="4351338"/>
              </a:xfrm>
              <a:blipFill>
                <a:blip r:embed="rId4"/>
                <a:stretch>
                  <a:fillRect l="-1719" t="-1821" r="-215" b="-32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F3A1D-3535-4C9E-8F3A-49F5F6C6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3150" y="6356350"/>
            <a:ext cx="2743200" cy="365125"/>
          </a:xfrm>
        </p:spPr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1AE2B-6E2D-4628-B342-B5F90A96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6000" y="6356350"/>
            <a:ext cx="4320000" cy="365125"/>
          </a:xfrm>
        </p:spPr>
        <p:txBody>
          <a:bodyPr/>
          <a:lstStyle/>
          <a:p>
            <a:r>
              <a:rPr lang="en-GB" dirty="0"/>
              <a:t>EART26201 | Principles of Geochemistry | Lecture 3 | Part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753F8-334F-4BD0-B62B-D2AF8767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26</a:t>
            </a:fld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904A7B-572E-4109-A5B6-6B25000E7C59}"/>
              </a:ext>
            </a:extLst>
          </p:cNvPr>
          <p:cNvCxnSpPr>
            <a:cxnSpLocks/>
          </p:cNvCxnSpPr>
          <p:nvPr/>
        </p:nvCxnSpPr>
        <p:spPr>
          <a:xfrm>
            <a:off x="3663247" y="2372768"/>
            <a:ext cx="0" cy="426719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D11A4D-BC3B-42C1-95E6-C5AEEAAC0EBC}"/>
              </a:ext>
            </a:extLst>
          </p:cNvPr>
          <p:cNvCxnSpPr>
            <a:cxnSpLocks/>
          </p:cNvCxnSpPr>
          <p:nvPr/>
        </p:nvCxnSpPr>
        <p:spPr>
          <a:xfrm>
            <a:off x="3660518" y="2848255"/>
            <a:ext cx="1255776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8343CD6-47C0-4AE3-9685-8FB3EE639055}"/>
              </a:ext>
            </a:extLst>
          </p:cNvPr>
          <p:cNvCxnSpPr>
            <a:cxnSpLocks/>
          </p:cNvCxnSpPr>
          <p:nvPr/>
        </p:nvCxnSpPr>
        <p:spPr>
          <a:xfrm>
            <a:off x="2926390" y="3222750"/>
            <a:ext cx="1438656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E95CB6-4CEE-4656-8C4D-45F96A68FC64}"/>
              </a:ext>
            </a:extLst>
          </p:cNvPr>
          <p:cNvCxnSpPr>
            <a:cxnSpLocks/>
          </p:cNvCxnSpPr>
          <p:nvPr/>
        </p:nvCxnSpPr>
        <p:spPr>
          <a:xfrm>
            <a:off x="2242540" y="3759336"/>
            <a:ext cx="1286256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3BB61E4E-ED7B-40DF-B067-E80FC3AE236D}"/>
              </a:ext>
            </a:extLst>
          </p:cNvPr>
          <p:cNvSpPr/>
          <p:nvPr/>
        </p:nvSpPr>
        <p:spPr>
          <a:xfrm>
            <a:off x="3602287" y="2250848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82FF249-74A6-45B5-8A9E-480DB19FF48E}"/>
              </a:ext>
            </a:extLst>
          </p:cNvPr>
          <p:cNvSpPr/>
          <p:nvPr/>
        </p:nvSpPr>
        <p:spPr>
          <a:xfrm>
            <a:off x="4855334" y="2787295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89CC755-92CD-4235-882E-872B8B94D872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4916294" y="2909215"/>
            <a:ext cx="0" cy="2416682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0938859-4D01-48DB-9518-188ADF5790EF}"/>
              </a:ext>
            </a:extLst>
          </p:cNvPr>
          <p:cNvCxnSpPr>
            <a:cxnSpLocks/>
          </p:cNvCxnSpPr>
          <p:nvPr/>
        </p:nvCxnSpPr>
        <p:spPr>
          <a:xfrm>
            <a:off x="4345697" y="3283710"/>
            <a:ext cx="0" cy="2050922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1ABB35E-3020-4C41-957B-79AD7687F3F5}"/>
              </a:ext>
            </a:extLst>
          </p:cNvPr>
          <p:cNvCxnSpPr>
            <a:cxnSpLocks/>
          </p:cNvCxnSpPr>
          <p:nvPr/>
        </p:nvCxnSpPr>
        <p:spPr>
          <a:xfrm>
            <a:off x="2926390" y="3283789"/>
            <a:ext cx="0" cy="2050922"/>
          </a:xfrm>
          <a:prstGeom prst="straightConnector1">
            <a:avLst/>
          </a:prstGeom>
          <a:ln w="1905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556F8A4-7EE5-4B17-9110-7CEC2585D8C1}"/>
              </a:ext>
            </a:extLst>
          </p:cNvPr>
          <p:cNvCxnSpPr>
            <a:cxnSpLocks/>
          </p:cNvCxnSpPr>
          <p:nvPr/>
        </p:nvCxnSpPr>
        <p:spPr>
          <a:xfrm>
            <a:off x="2242540" y="3812686"/>
            <a:ext cx="0" cy="1519452"/>
          </a:xfrm>
          <a:prstGeom prst="straightConnector1">
            <a:avLst/>
          </a:prstGeom>
          <a:ln w="1905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2A9F5B2-A67B-4E6A-BB36-6584C525E9DB}"/>
              </a:ext>
            </a:extLst>
          </p:cNvPr>
          <p:cNvSpPr txBox="1"/>
          <p:nvPr/>
        </p:nvSpPr>
        <p:spPr>
          <a:xfrm>
            <a:off x="4315912" y="3169031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781C5C3-75E7-47F5-950A-27C1A5159E5D}"/>
              </a:ext>
            </a:extLst>
          </p:cNvPr>
          <p:cNvSpPr txBox="1"/>
          <p:nvPr/>
        </p:nvSpPr>
        <p:spPr>
          <a:xfrm>
            <a:off x="4862954" y="2811603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5A9FC3-7FF1-4992-AEB1-C622D784E8A5}"/>
              </a:ext>
            </a:extLst>
          </p:cNvPr>
          <p:cNvSpPr txBox="1"/>
          <p:nvPr/>
        </p:nvSpPr>
        <p:spPr>
          <a:xfrm>
            <a:off x="3597402" y="3784346"/>
            <a:ext cx="373500" cy="184666"/>
          </a:xfrm>
          <a:prstGeom prst="rect">
            <a:avLst/>
          </a:prstGeom>
          <a:solidFill>
            <a:srgbClr val="ECECEC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36D6BF-A8F7-4FB2-931C-DB966A23D005}"/>
              </a:ext>
            </a:extLst>
          </p:cNvPr>
          <p:cNvSpPr txBox="1"/>
          <p:nvPr/>
        </p:nvSpPr>
        <p:spPr>
          <a:xfrm>
            <a:off x="3336453" y="2596336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396C9B-0A0C-4637-88B4-E0EC2EE23576}"/>
              </a:ext>
            </a:extLst>
          </p:cNvPr>
          <p:cNvSpPr txBox="1"/>
          <p:nvPr/>
        </p:nvSpPr>
        <p:spPr>
          <a:xfrm>
            <a:off x="2650482" y="2955608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9B0F8D-78FB-4032-BC23-3978F378E952}"/>
              </a:ext>
            </a:extLst>
          </p:cNvPr>
          <p:cNvSpPr txBox="1"/>
          <p:nvPr/>
        </p:nvSpPr>
        <p:spPr>
          <a:xfrm>
            <a:off x="2116576" y="3421299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L3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1C30559-C674-44C8-9322-4027C20A38BB}"/>
              </a:ext>
            </a:extLst>
          </p:cNvPr>
          <p:cNvCxnSpPr>
            <a:cxnSpLocks/>
          </p:cNvCxnSpPr>
          <p:nvPr/>
        </p:nvCxnSpPr>
        <p:spPr>
          <a:xfrm flipH="1">
            <a:off x="1960750" y="2860447"/>
            <a:ext cx="1638808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607E435-B76B-47FE-A40A-DFB7D3A4C7B5}"/>
              </a:ext>
            </a:extLst>
          </p:cNvPr>
          <p:cNvCxnSpPr>
            <a:cxnSpLocks/>
          </p:cNvCxnSpPr>
          <p:nvPr/>
        </p:nvCxnSpPr>
        <p:spPr>
          <a:xfrm flipH="1">
            <a:off x="1960750" y="3759336"/>
            <a:ext cx="225532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58E5505-61B0-475E-999D-69099D163C82}"/>
              </a:ext>
            </a:extLst>
          </p:cNvPr>
          <p:cNvCxnSpPr>
            <a:cxnSpLocks/>
          </p:cNvCxnSpPr>
          <p:nvPr/>
        </p:nvCxnSpPr>
        <p:spPr>
          <a:xfrm flipH="1">
            <a:off x="1960750" y="3222750"/>
            <a:ext cx="903609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2CCAA69-3632-4B47-991B-D4DFC92E41ED}"/>
              </a:ext>
            </a:extLst>
          </p:cNvPr>
          <p:cNvSpPr txBox="1"/>
          <p:nvPr/>
        </p:nvSpPr>
        <p:spPr>
          <a:xfrm>
            <a:off x="3372415" y="217096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1F8ACD2-9F20-44E8-A9E9-9FC23FD4350F}"/>
              </a:ext>
            </a:extLst>
          </p:cNvPr>
          <p:cNvSpPr/>
          <p:nvPr/>
        </p:nvSpPr>
        <p:spPr>
          <a:xfrm>
            <a:off x="3602287" y="2799487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0BBC9FD-899D-4C70-AD57-E2486F5E1A45}"/>
              </a:ext>
            </a:extLst>
          </p:cNvPr>
          <p:cNvSpPr/>
          <p:nvPr/>
        </p:nvSpPr>
        <p:spPr>
          <a:xfrm>
            <a:off x="2864358" y="3161790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D017A58-B914-4C45-918C-DF810804F404}"/>
              </a:ext>
            </a:extLst>
          </p:cNvPr>
          <p:cNvSpPr/>
          <p:nvPr/>
        </p:nvSpPr>
        <p:spPr>
          <a:xfrm>
            <a:off x="2181579" y="3698376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2E0B404-398D-4DF4-911F-9385521293AC}"/>
              </a:ext>
            </a:extLst>
          </p:cNvPr>
          <p:cNvSpPr/>
          <p:nvPr/>
        </p:nvSpPr>
        <p:spPr>
          <a:xfrm>
            <a:off x="4281298" y="3161790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00FBB8B-C221-4C56-888E-1BE0D7C30956}"/>
              </a:ext>
            </a:extLst>
          </p:cNvPr>
          <p:cNvSpPr txBox="1"/>
          <p:nvPr/>
        </p:nvSpPr>
        <p:spPr>
          <a:xfrm>
            <a:off x="1906737" y="2596336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143887A-D18A-4303-88BE-615D37C9CE1F}"/>
              </a:ext>
            </a:extLst>
          </p:cNvPr>
          <p:cNvSpPr txBox="1"/>
          <p:nvPr/>
        </p:nvSpPr>
        <p:spPr>
          <a:xfrm>
            <a:off x="1906737" y="2955608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6DCCB54-8BA1-429A-AF44-C2E066C30A8F}"/>
              </a:ext>
            </a:extLst>
          </p:cNvPr>
          <p:cNvSpPr txBox="1"/>
          <p:nvPr/>
        </p:nvSpPr>
        <p:spPr>
          <a:xfrm>
            <a:off x="1906737" y="3455662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275DA4E-C7A6-46E0-87D7-EB8243346109}"/>
              </a:ext>
            </a:extLst>
          </p:cNvPr>
          <p:cNvSpPr/>
          <p:nvPr/>
        </p:nvSpPr>
        <p:spPr>
          <a:xfrm>
            <a:off x="3470565" y="3690766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5AE6D32-BC5C-49B5-ABCB-043D19C33A7F}"/>
              </a:ext>
            </a:extLst>
          </p:cNvPr>
          <p:cNvSpPr/>
          <p:nvPr/>
        </p:nvSpPr>
        <p:spPr>
          <a:xfrm>
            <a:off x="1885266" y="5210218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1481DC5-7E16-41AF-B526-10264B3D45DD}"/>
              </a:ext>
            </a:extLst>
          </p:cNvPr>
          <p:cNvSpPr txBox="1"/>
          <p:nvPr/>
        </p:nvSpPr>
        <p:spPr>
          <a:xfrm>
            <a:off x="2014212" y="4351394"/>
            <a:ext cx="431928" cy="221018"/>
          </a:xfrm>
          <a:prstGeom prst="rect">
            <a:avLst/>
          </a:prstGeom>
          <a:solidFill>
            <a:srgbClr val="ECECEC"/>
          </a:solidFill>
        </p:spPr>
        <p:txBody>
          <a:bodyPr wrap="square" lIns="0" tIns="0" rIns="0" bIns="36000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4112845-8BC6-4513-8C73-7CAE002A6289}"/>
              </a:ext>
            </a:extLst>
          </p:cNvPr>
          <p:cNvSpPr/>
          <p:nvPr/>
        </p:nvSpPr>
        <p:spPr>
          <a:xfrm>
            <a:off x="1885266" y="4269706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6A8C049-2661-499A-AB50-9229A560FC6E}"/>
              </a:ext>
            </a:extLst>
          </p:cNvPr>
          <p:cNvSpPr txBox="1"/>
          <p:nvPr/>
        </p:nvSpPr>
        <p:spPr>
          <a:xfrm>
            <a:off x="1555187" y="4207675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T4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4BDAB4E-D550-424E-BE4E-08708F64A2EC}"/>
              </a:ext>
            </a:extLst>
          </p:cNvPr>
          <p:cNvCxnSpPr>
            <a:cxnSpLocks/>
          </p:cNvCxnSpPr>
          <p:nvPr/>
        </p:nvCxnSpPr>
        <p:spPr>
          <a:xfrm flipH="1">
            <a:off x="3039682" y="2909215"/>
            <a:ext cx="517049" cy="265463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CD1E2C2-4496-40F5-B28E-55EADFBA19B5}"/>
              </a:ext>
            </a:extLst>
          </p:cNvPr>
          <p:cNvCxnSpPr>
            <a:cxnSpLocks/>
          </p:cNvCxnSpPr>
          <p:nvPr/>
        </p:nvCxnSpPr>
        <p:spPr>
          <a:xfrm flipH="1">
            <a:off x="2332971" y="3266077"/>
            <a:ext cx="527223" cy="455478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62245D7-EA9F-420B-A385-B6A7D47EC791}"/>
              </a:ext>
            </a:extLst>
          </p:cNvPr>
          <p:cNvCxnSpPr>
            <a:cxnSpLocks/>
          </p:cNvCxnSpPr>
          <p:nvPr/>
        </p:nvCxnSpPr>
        <p:spPr>
          <a:xfrm flipH="1">
            <a:off x="1987670" y="3847784"/>
            <a:ext cx="233671" cy="406856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A9D9D34-A3DC-405E-9E55-6E89D2D7AAE6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946226" y="4391626"/>
            <a:ext cx="4025" cy="818592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7DDA326-9C95-4EEB-A48B-EF22EC380DB9}"/>
              </a:ext>
            </a:extLst>
          </p:cNvPr>
          <p:cNvSpPr txBox="1"/>
          <p:nvPr/>
        </p:nvSpPr>
        <p:spPr>
          <a:xfrm>
            <a:off x="2565866" y="2123796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i="1" dirty="0">
                <a:solidFill>
                  <a:schemeClr val="accent6"/>
                </a:solidFill>
              </a:rPr>
              <a:t>Liquid</a:t>
            </a:r>
          </a:p>
          <a:p>
            <a:pPr algn="ctr"/>
            <a:r>
              <a:rPr lang="en-GB" sz="1200" i="1" dirty="0"/>
              <a:t>=</a:t>
            </a:r>
          </a:p>
          <a:p>
            <a:pPr algn="ctr"/>
            <a:r>
              <a:rPr lang="en-GB" sz="1200" i="1" dirty="0">
                <a:solidFill>
                  <a:schemeClr val="accent3"/>
                </a:solidFill>
              </a:rPr>
              <a:t>System</a:t>
            </a:r>
          </a:p>
        </p:txBody>
      </p:sp>
    </p:spTree>
    <p:extLst>
      <p:ext uri="{BB962C8B-B14F-4D97-AF65-F5344CB8AC3E}">
        <p14:creationId xmlns:p14="http://schemas.microsoft.com/office/powerpoint/2010/main" val="58968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9" grpId="0" animBg="1"/>
      <p:bldP spid="50" grpId="0"/>
      <p:bldP spid="52" grpId="0"/>
      <p:bldP spid="54" grpId="0" animBg="1"/>
      <p:bldP spid="55" grpId="0"/>
      <p:bldP spid="59" grpId="0"/>
      <p:bldP spid="61" grpId="0"/>
      <p:bldP spid="70" grpId="0"/>
      <p:bldP spid="23" grpId="0" animBg="1"/>
      <p:bldP spid="25" grpId="0" animBg="1"/>
      <p:bldP spid="27" grpId="0" animBg="1"/>
      <p:bldP spid="31" grpId="0" animBg="1"/>
      <p:bldP spid="75" grpId="0"/>
      <p:bldP spid="77" grpId="0"/>
      <p:bldP spid="79" grpId="0"/>
      <p:bldP spid="33" grpId="0" animBg="1"/>
      <p:bldP spid="53" grpId="0" animBg="1"/>
      <p:bldP spid="58" grpId="0" animBg="1"/>
      <p:bldP spid="51" grpId="0" animBg="1"/>
      <p:bldP spid="60" grpId="0"/>
      <p:bldP spid="4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9122ED-1DA6-4F70-98B2-9ECE8F882F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572" y="1870075"/>
            <a:ext cx="4498856" cy="4094595"/>
          </a:xfrm>
        </p:spPr>
      </p:pic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06677E2-7F45-4C9C-B40B-6BC165AD0E17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3784487" y="2877730"/>
            <a:ext cx="0" cy="2455043"/>
          </a:xfrm>
          <a:prstGeom prst="straightConnector1">
            <a:avLst/>
          </a:prstGeom>
          <a:ln w="1905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ED20C3A-25AA-49CE-A587-9972B0FD0A8F}"/>
              </a:ext>
            </a:extLst>
          </p:cNvPr>
          <p:cNvCxnSpPr>
            <a:cxnSpLocks/>
          </p:cNvCxnSpPr>
          <p:nvPr/>
        </p:nvCxnSpPr>
        <p:spPr>
          <a:xfrm>
            <a:off x="3668710" y="3694720"/>
            <a:ext cx="4315" cy="1638053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C509517-D00A-4CAA-BE81-A30D3475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94333" cy="1325563"/>
          </a:xfrm>
        </p:spPr>
        <p:txBody>
          <a:bodyPr/>
          <a:lstStyle/>
          <a:p>
            <a:r>
              <a:rPr lang="en-GB" dirty="0"/>
              <a:t>Binary phase diagram with solid solution: plagioclase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78428" y="1825625"/>
                <a:ext cx="5675372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i="1" dirty="0"/>
                  <a:t>Fractional melting</a:t>
                </a:r>
              </a:p>
              <a:p>
                <a:r>
                  <a:rPr lang="en-GB" dirty="0"/>
                  <a:t>First melt is Ab-rich</a:t>
                </a:r>
              </a:p>
              <a:p>
                <a:r>
                  <a:rPr lang="en-GB" dirty="0"/>
                  <a:t>Melt is removed from the system as soon as it is formed</a:t>
                </a:r>
              </a:p>
              <a:p>
                <a:r>
                  <a:rPr lang="en-GB" dirty="0"/>
                  <a:t>Residual plagioclase compositions become more An-rich as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increases</a:t>
                </a:r>
              </a:p>
              <a:p>
                <a:r>
                  <a:rPr lang="en-GB" dirty="0"/>
                  <a:t>Last plagioclase at the highest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point of the solidus and produces An melt</a:t>
                </a:r>
              </a:p>
              <a:p>
                <a:pPr marL="0" indent="0" algn="ctr">
                  <a:spcBef>
                    <a:spcPts val="1800"/>
                  </a:spcBef>
                  <a:buNone/>
                </a:pPr>
                <a:r>
                  <a:rPr lang="en-GB" i="1" dirty="0">
                    <a:solidFill>
                      <a:schemeClr val="accent1"/>
                    </a:solidFill>
                  </a:rPr>
                  <a:t>Fractional melting is not the opposite</a:t>
                </a:r>
                <a:br>
                  <a:rPr lang="en-GB" i="1" dirty="0">
                    <a:solidFill>
                      <a:schemeClr val="accent1"/>
                    </a:solidFill>
                  </a:rPr>
                </a:br>
                <a:r>
                  <a:rPr lang="en-GB" i="1" dirty="0">
                    <a:solidFill>
                      <a:schemeClr val="accent1"/>
                    </a:solidFill>
                  </a:rPr>
                  <a:t>of fractional crystallisation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42CCD40-D466-46CE-AB11-DAA30B3C9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78428" y="1825625"/>
                <a:ext cx="5675372" cy="4351338"/>
              </a:xfrm>
              <a:blipFill>
                <a:blip r:embed="rId4"/>
                <a:stretch>
                  <a:fillRect l="-1719" t="-1821" r="-6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F3A1D-3535-4C9E-8F3A-49F5F6C6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0610" y="6356350"/>
            <a:ext cx="2743200" cy="365125"/>
          </a:xfrm>
        </p:spPr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1AE2B-6E2D-4628-B342-B5F90A96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6000" y="6356350"/>
            <a:ext cx="4320000" cy="365125"/>
          </a:xfrm>
        </p:spPr>
        <p:txBody>
          <a:bodyPr/>
          <a:lstStyle/>
          <a:p>
            <a:r>
              <a:rPr lang="en-GB" dirty="0"/>
              <a:t>EART26201 | Principles of Geochemistry | Lecture 3 | Part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753F8-334F-4BD0-B62B-D2AF8767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27</a:t>
            </a:fld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904A7B-572E-4109-A5B6-6B25000E7C59}"/>
              </a:ext>
            </a:extLst>
          </p:cNvPr>
          <p:cNvCxnSpPr>
            <a:cxnSpLocks/>
          </p:cNvCxnSpPr>
          <p:nvPr/>
        </p:nvCxnSpPr>
        <p:spPr>
          <a:xfrm flipV="1">
            <a:off x="5098494" y="2564804"/>
            <a:ext cx="210866" cy="170902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D11A4D-BC3B-42C1-95E6-C5AEEAAC0EBC}"/>
              </a:ext>
            </a:extLst>
          </p:cNvPr>
          <p:cNvCxnSpPr>
            <a:cxnSpLocks/>
          </p:cNvCxnSpPr>
          <p:nvPr/>
        </p:nvCxnSpPr>
        <p:spPr>
          <a:xfrm>
            <a:off x="3781758" y="2804578"/>
            <a:ext cx="1255776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8343CD6-47C0-4AE3-9685-8FB3EE639055}"/>
              </a:ext>
            </a:extLst>
          </p:cNvPr>
          <p:cNvCxnSpPr>
            <a:cxnSpLocks/>
          </p:cNvCxnSpPr>
          <p:nvPr/>
        </p:nvCxnSpPr>
        <p:spPr>
          <a:xfrm>
            <a:off x="2934010" y="3223385"/>
            <a:ext cx="1438656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E95CB6-4CEE-4656-8C4D-45F96A68FC64}"/>
              </a:ext>
            </a:extLst>
          </p:cNvPr>
          <p:cNvCxnSpPr>
            <a:cxnSpLocks/>
          </p:cNvCxnSpPr>
          <p:nvPr/>
        </p:nvCxnSpPr>
        <p:spPr>
          <a:xfrm>
            <a:off x="2381882" y="3641370"/>
            <a:ext cx="1286256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182FF249-74A6-45B5-8A9E-480DB19FF48E}"/>
              </a:ext>
            </a:extLst>
          </p:cNvPr>
          <p:cNvSpPr/>
          <p:nvPr/>
        </p:nvSpPr>
        <p:spPr>
          <a:xfrm>
            <a:off x="4976574" y="2743618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89CC755-92CD-4235-882E-872B8B94D872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5037534" y="2865538"/>
            <a:ext cx="0" cy="2467235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0938859-4D01-48DB-9518-188ADF5790EF}"/>
              </a:ext>
            </a:extLst>
          </p:cNvPr>
          <p:cNvCxnSpPr>
            <a:cxnSpLocks/>
          </p:cNvCxnSpPr>
          <p:nvPr/>
        </p:nvCxnSpPr>
        <p:spPr>
          <a:xfrm>
            <a:off x="4353317" y="3284345"/>
            <a:ext cx="0" cy="2050922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1ABB35E-3020-4C41-957B-79AD7687F3F5}"/>
              </a:ext>
            </a:extLst>
          </p:cNvPr>
          <p:cNvCxnSpPr>
            <a:cxnSpLocks/>
          </p:cNvCxnSpPr>
          <p:nvPr/>
        </p:nvCxnSpPr>
        <p:spPr>
          <a:xfrm>
            <a:off x="2934010" y="3284424"/>
            <a:ext cx="0" cy="2050922"/>
          </a:xfrm>
          <a:prstGeom prst="straightConnector1">
            <a:avLst/>
          </a:prstGeom>
          <a:ln w="1905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556F8A4-7EE5-4B17-9110-7CEC2585D8C1}"/>
              </a:ext>
            </a:extLst>
          </p:cNvPr>
          <p:cNvCxnSpPr>
            <a:cxnSpLocks/>
          </p:cNvCxnSpPr>
          <p:nvPr/>
        </p:nvCxnSpPr>
        <p:spPr>
          <a:xfrm>
            <a:off x="2381881" y="3702330"/>
            <a:ext cx="0" cy="1632937"/>
          </a:xfrm>
          <a:prstGeom prst="straightConnector1">
            <a:avLst/>
          </a:prstGeom>
          <a:ln w="1905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2A9F5B2-A67B-4E6A-BB36-6584C525E9DB}"/>
              </a:ext>
            </a:extLst>
          </p:cNvPr>
          <p:cNvSpPr txBox="1"/>
          <p:nvPr/>
        </p:nvSpPr>
        <p:spPr>
          <a:xfrm>
            <a:off x="4323532" y="3169666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36D6BF-A8F7-4FB2-931C-DB966A23D005}"/>
              </a:ext>
            </a:extLst>
          </p:cNvPr>
          <p:cNvSpPr txBox="1"/>
          <p:nvPr/>
        </p:nvSpPr>
        <p:spPr>
          <a:xfrm>
            <a:off x="3445995" y="2565489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510F1A-228F-436D-9269-5CBFBC56BAF3}"/>
              </a:ext>
            </a:extLst>
          </p:cNvPr>
          <p:cNvSpPr txBox="1"/>
          <p:nvPr/>
        </p:nvSpPr>
        <p:spPr>
          <a:xfrm>
            <a:off x="3429000" y="2749940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200" i="1" dirty="0">
              <a:solidFill>
                <a:schemeClr val="accent2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396C9B-0A0C-4637-88B4-E0EC2EE23576}"/>
              </a:ext>
            </a:extLst>
          </p:cNvPr>
          <p:cNvSpPr txBox="1"/>
          <p:nvPr/>
        </p:nvSpPr>
        <p:spPr>
          <a:xfrm>
            <a:off x="2658102" y="2956243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9B0F8D-78FB-4032-BC23-3978F378E952}"/>
              </a:ext>
            </a:extLst>
          </p:cNvPr>
          <p:cNvSpPr txBox="1"/>
          <p:nvPr/>
        </p:nvSpPr>
        <p:spPr>
          <a:xfrm>
            <a:off x="2153742" y="335910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L1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1C30559-C674-44C8-9322-4027C20A38BB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1968370" y="2816770"/>
            <a:ext cx="1755157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607E435-B76B-47FE-A40A-DFB7D3A4C7B5}"/>
              </a:ext>
            </a:extLst>
          </p:cNvPr>
          <p:cNvCxnSpPr>
            <a:cxnSpLocks/>
          </p:cNvCxnSpPr>
          <p:nvPr/>
        </p:nvCxnSpPr>
        <p:spPr>
          <a:xfrm flipH="1">
            <a:off x="1968370" y="3641370"/>
            <a:ext cx="357254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58E5505-61B0-475E-999D-69099D163C82}"/>
              </a:ext>
            </a:extLst>
          </p:cNvPr>
          <p:cNvCxnSpPr>
            <a:cxnSpLocks/>
          </p:cNvCxnSpPr>
          <p:nvPr/>
        </p:nvCxnSpPr>
        <p:spPr>
          <a:xfrm flipH="1">
            <a:off x="1968370" y="3223385"/>
            <a:ext cx="903609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2CCAA69-3632-4B47-991B-D4DFC92E41ED}"/>
              </a:ext>
            </a:extLst>
          </p:cNvPr>
          <p:cNvSpPr txBox="1"/>
          <p:nvPr/>
        </p:nvSpPr>
        <p:spPr>
          <a:xfrm>
            <a:off x="5037534" y="2269376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1F8ACD2-9F20-44E8-A9E9-9FC23FD4350F}"/>
              </a:ext>
            </a:extLst>
          </p:cNvPr>
          <p:cNvSpPr/>
          <p:nvPr/>
        </p:nvSpPr>
        <p:spPr>
          <a:xfrm>
            <a:off x="3723527" y="2755810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0BBC9FD-899D-4C70-AD57-E2486F5E1A45}"/>
              </a:ext>
            </a:extLst>
          </p:cNvPr>
          <p:cNvSpPr/>
          <p:nvPr/>
        </p:nvSpPr>
        <p:spPr>
          <a:xfrm>
            <a:off x="2871978" y="3162425"/>
            <a:ext cx="121920" cy="1219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D017A58-B914-4C45-918C-DF810804F404}"/>
              </a:ext>
            </a:extLst>
          </p:cNvPr>
          <p:cNvSpPr/>
          <p:nvPr/>
        </p:nvSpPr>
        <p:spPr>
          <a:xfrm>
            <a:off x="2320921" y="3580410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2E0B404-398D-4DF4-911F-9385521293AC}"/>
              </a:ext>
            </a:extLst>
          </p:cNvPr>
          <p:cNvSpPr/>
          <p:nvPr/>
        </p:nvSpPr>
        <p:spPr>
          <a:xfrm>
            <a:off x="4288918" y="3162425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00FBB8B-C221-4C56-888E-1BE0D7C30956}"/>
              </a:ext>
            </a:extLst>
          </p:cNvPr>
          <p:cNvSpPr txBox="1"/>
          <p:nvPr/>
        </p:nvSpPr>
        <p:spPr>
          <a:xfrm>
            <a:off x="1914087" y="2541062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143887A-D18A-4303-88BE-615D37C9CE1F}"/>
              </a:ext>
            </a:extLst>
          </p:cNvPr>
          <p:cNvSpPr txBox="1"/>
          <p:nvPr/>
        </p:nvSpPr>
        <p:spPr>
          <a:xfrm>
            <a:off x="1914357" y="2956243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6DCCB54-8BA1-429A-AF44-C2E066C30A8F}"/>
              </a:ext>
            </a:extLst>
          </p:cNvPr>
          <p:cNvSpPr txBox="1"/>
          <p:nvPr/>
        </p:nvSpPr>
        <p:spPr>
          <a:xfrm>
            <a:off x="1914087" y="3359101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T1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73B81A1-206F-40A8-9DAF-85EE82541C69}"/>
              </a:ext>
            </a:extLst>
          </p:cNvPr>
          <p:cNvCxnSpPr>
            <a:cxnSpLocks/>
          </p:cNvCxnSpPr>
          <p:nvPr/>
        </p:nvCxnSpPr>
        <p:spPr>
          <a:xfrm flipV="1">
            <a:off x="4474843" y="2853347"/>
            <a:ext cx="477699" cy="319417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A4FC2B3-C7D5-4758-9ED2-1A6D8C3288A4}"/>
              </a:ext>
            </a:extLst>
          </p:cNvPr>
          <p:cNvCxnSpPr>
            <a:cxnSpLocks/>
          </p:cNvCxnSpPr>
          <p:nvPr/>
        </p:nvCxnSpPr>
        <p:spPr>
          <a:xfrm flipV="1">
            <a:off x="3781758" y="3298400"/>
            <a:ext cx="499020" cy="305883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942DEE5C-B17F-406A-ADC0-F4B6E65CF7F6}"/>
              </a:ext>
            </a:extLst>
          </p:cNvPr>
          <p:cNvSpPr/>
          <p:nvPr/>
        </p:nvSpPr>
        <p:spPr>
          <a:xfrm>
            <a:off x="3609907" y="5210853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4A6CD6B-1373-4579-B0C7-E54A69FBFF6A}"/>
              </a:ext>
            </a:extLst>
          </p:cNvPr>
          <p:cNvCxnSpPr>
            <a:cxnSpLocks/>
          </p:cNvCxnSpPr>
          <p:nvPr/>
        </p:nvCxnSpPr>
        <p:spPr>
          <a:xfrm flipV="1">
            <a:off x="3667057" y="3694720"/>
            <a:ext cx="2158" cy="1512951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8275DA4E-C7A6-46E0-87D7-EB8243346109}"/>
              </a:ext>
            </a:extLst>
          </p:cNvPr>
          <p:cNvSpPr/>
          <p:nvPr/>
        </p:nvSpPr>
        <p:spPr>
          <a:xfrm>
            <a:off x="3609907" y="3572800"/>
            <a:ext cx="121920" cy="121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2AE765-AB52-4F22-89E8-22B7E290E29F}"/>
              </a:ext>
            </a:extLst>
          </p:cNvPr>
          <p:cNvSpPr/>
          <p:nvPr/>
        </p:nvSpPr>
        <p:spPr>
          <a:xfrm>
            <a:off x="5309360" y="1973600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246831-45B2-476C-A250-8D7B0F5F4937}"/>
              </a:ext>
            </a:extLst>
          </p:cNvPr>
          <p:cNvSpPr txBox="1"/>
          <p:nvPr/>
        </p:nvSpPr>
        <p:spPr>
          <a:xfrm>
            <a:off x="5070785" y="190167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2"/>
                </a:solidFill>
              </a:rPr>
              <a:t>L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1EDEE7B-76B6-4F03-80AD-EF6375F86740}"/>
              </a:ext>
            </a:extLst>
          </p:cNvPr>
          <p:cNvCxnSpPr>
            <a:cxnSpLocks/>
            <a:stCxn id="35" idx="2"/>
          </p:cNvCxnSpPr>
          <p:nvPr/>
        </p:nvCxnSpPr>
        <p:spPr>
          <a:xfrm flipH="1">
            <a:off x="1968370" y="2503844"/>
            <a:ext cx="3340990" cy="4669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3BB61E4E-ED7B-40DF-B067-E80FC3AE236D}"/>
              </a:ext>
            </a:extLst>
          </p:cNvPr>
          <p:cNvSpPr/>
          <p:nvPr/>
        </p:nvSpPr>
        <p:spPr>
          <a:xfrm>
            <a:off x="5309360" y="2442884"/>
            <a:ext cx="121920" cy="121920"/>
          </a:xfrm>
          <a:prstGeom prst="ellips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408779-E5D7-4D4A-BF24-3231C51F31F4}"/>
              </a:ext>
            </a:extLst>
          </p:cNvPr>
          <p:cNvSpPr txBox="1"/>
          <p:nvPr/>
        </p:nvSpPr>
        <p:spPr>
          <a:xfrm>
            <a:off x="1914087" y="2237820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6"/>
                </a:solidFill>
              </a:rPr>
              <a:t>T4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7EA0A46-E934-4299-9E49-2797FFEB1C6F}"/>
              </a:ext>
            </a:extLst>
          </p:cNvPr>
          <p:cNvSpPr txBox="1"/>
          <p:nvPr/>
        </p:nvSpPr>
        <p:spPr>
          <a:xfrm>
            <a:off x="4840859" y="2956243"/>
            <a:ext cx="373500" cy="184666"/>
          </a:xfrm>
          <a:prstGeom prst="rect">
            <a:avLst/>
          </a:prstGeom>
          <a:solidFill>
            <a:srgbClr val="ECECEC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A4F020E-7968-4DA2-ACC3-8027E6850492}"/>
              </a:ext>
            </a:extLst>
          </p:cNvPr>
          <p:cNvSpPr txBox="1"/>
          <p:nvPr/>
        </p:nvSpPr>
        <p:spPr>
          <a:xfrm>
            <a:off x="3750571" y="3676280"/>
            <a:ext cx="373500" cy="184666"/>
          </a:xfrm>
          <a:prstGeom prst="rect">
            <a:avLst/>
          </a:prstGeom>
          <a:solidFill>
            <a:srgbClr val="ECECEC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plag1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7DEE699-80E3-48B0-AFDD-87E630879612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5370320" y="2112557"/>
            <a:ext cx="0" cy="330327"/>
          </a:xfrm>
          <a:prstGeom prst="straightConnector1">
            <a:avLst/>
          </a:prstGeom>
          <a:ln w="381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0E463CC-47AC-498C-AAB2-A3D826E74F8A}"/>
              </a:ext>
            </a:extLst>
          </p:cNvPr>
          <p:cNvSpPr txBox="1"/>
          <p:nvPr/>
        </p:nvSpPr>
        <p:spPr>
          <a:xfrm>
            <a:off x="3745564" y="5060702"/>
            <a:ext cx="288541" cy="184666"/>
          </a:xfrm>
          <a:prstGeom prst="rect">
            <a:avLst/>
          </a:prstGeom>
          <a:solidFill>
            <a:srgbClr val="ECECEC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GB" sz="1200" i="1" dirty="0">
                <a:solidFill>
                  <a:schemeClr val="accent1"/>
                </a:solidFill>
              </a:rPr>
              <a:t>plag</a:t>
            </a:r>
          </a:p>
        </p:txBody>
      </p:sp>
    </p:spTree>
    <p:extLst>
      <p:ext uri="{BB962C8B-B14F-4D97-AF65-F5344CB8AC3E}">
        <p14:creationId xmlns:p14="http://schemas.microsoft.com/office/powerpoint/2010/main" val="109791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50" grpId="0"/>
      <p:bldP spid="55" grpId="0"/>
      <p:bldP spid="59" grpId="0"/>
      <p:bldP spid="61" grpId="0"/>
      <p:bldP spid="70" grpId="0"/>
      <p:bldP spid="23" grpId="0" animBg="1"/>
      <p:bldP spid="25" grpId="0" animBg="1"/>
      <p:bldP spid="27" grpId="0" animBg="1"/>
      <p:bldP spid="31" grpId="0" animBg="1"/>
      <p:bldP spid="75" grpId="0"/>
      <p:bldP spid="77" grpId="0"/>
      <p:bldP spid="79" grpId="0"/>
      <p:bldP spid="40" grpId="0" animBg="1"/>
      <p:bldP spid="33" grpId="0" animBg="1"/>
      <p:bldP spid="3" grpId="0" animBg="1"/>
      <p:bldP spid="7" grpId="0"/>
      <p:bldP spid="35" grpId="0" animBg="1"/>
      <p:bldP spid="12" grpId="0"/>
      <p:bldP spid="67" grpId="0" animBg="1"/>
      <p:bldP spid="87" grpId="0" animBg="1"/>
      <p:bldP spid="7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CA0C0-0B9C-4154-AFE5-523A21F2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/>
              <a:t>importance and ubiquity </a:t>
            </a:r>
            <a:r>
              <a:rPr lang="en-GB" dirty="0"/>
              <a:t>of plagioclase</a:t>
            </a:r>
          </a:p>
        </p:txBody>
      </p:sp>
      <p:pic>
        <p:nvPicPr>
          <p:cNvPr id="14" name="Content Placeholder 13" descr="Diagram&#10;&#10;Description automatically generated">
            <a:extLst>
              <a:ext uri="{FF2B5EF4-FFF2-40B4-BE49-F238E27FC236}">
                <a16:creationId xmlns:a16="http://schemas.microsoft.com/office/drawing/2014/main" id="{7A3C0927-EDC7-49FF-9103-DB91536347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975" y="2308868"/>
            <a:ext cx="6232050" cy="2854726"/>
          </a:xfrm>
        </p:spPr>
      </p:pic>
      <p:pic>
        <p:nvPicPr>
          <p:cNvPr id="29" name="Picture 28" descr="A picture containing outdoor&#10;&#10;Description automatically generated">
            <a:extLst>
              <a:ext uri="{FF2B5EF4-FFF2-40B4-BE49-F238E27FC236}">
                <a16:creationId xmlns:a16="http://schemas.microsoft.com/office/drawing/2014/main" id="{76D053BA-F636-439F-B588-14195FFDE9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744" y="4123616"/>
            <a:ext cx="3181056" cy="212070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56ABF-DF88-493A-9185-F5AA1C72B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9F324A-8504-40E0-9481-86C63E35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0E03A-BEE7-40E6-909E-52DB53CDD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28</a:t>
            </a:fld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4C93DD-3870-4BD4-82B0-B66564131FE3}"/>
              </a:ext>
            </a:extLst>
          </p:cNvPr>
          <p:cNvSpPr txBox="1"/>
          <p:nvPr/>
        </p:nvSpPr>
        <p:spPr>
          <a:xfrm>
            <a:off x="9763272" y="5967320"/>
            <a:ext cx="15623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credit: David Waters</a:t>
            </a:r>
          </a:p>
        </p:txBody>
      </p:sp>
      <p:pic>
        <p:nvPicPr>
          <p:cNvPr id="25" name="Picture 24" descr="A close up of a rock&#10;&#10;Description automatically generated with medium confidence">
            <a:extLst>
              <a:ext uri="{FF2B5EF4-FFF2-40B4-BE49-F238E27FC236}">
                <a16:creationId xmlns:a16="http://schemas.microsoft.com/office/drawing/2014/main" id="{93B0D225-A301-485A-9DB2-531DBFABA1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123616"/>
            <a:ext cx="2552700" cy="212070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2656431-55A9-4624-B108-8CD4B6CFEF68}"/>
              </a:ext>
            </a:extLst>
          </p:cNvPr>
          <p:cNvSpPr txBox="1"/>
          <p:nvPr/>
        </p:nvSpPr>
        <p:spPr>
          <a:xfrm>
            <a:off x="866377" y="5967319"/>
            <a:ext cx="17059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credit: James St. John</a:t>
            </a:r>
          </a:p>
        </p:txBody>
      </p:sp>
      <p:pic>
        <p:nvPicPr>
          <p:cNvPr id="31" name="Picture 30" descr="A close up of the moon&#10;&#10;Description automatically generated with medium confidence">
            <a:extLst>
              <a:ext uri="{FF2B5EF4-FFF2-40B4-BE49-F238E27FC236}">
                <a16:creationId xmlns:a16="http://schemas.microsoft.com/office/drawing/2014/main" id="{89B904E1-A275-4D8D-9206-B54358F179D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525" y="1690688"/>
            <a:ext cx="1819275" cy="1728667"/>
          </a:xfrm>
          <a:prstGeom prst="rect">
            <a:avLst/>
          </a:prstGeom>
        </p:spPr>
      </p:pic>
      <p:pic>
        <p:nvPicPr>
          <p:cNvPr id="33" name="Picture 32" descr="A map of the world&#10;&#10;Description automatically generated with low confidence">
            <a:extLst>
              <a:ext uri="{FF2B5EF4-FFF2-40B4-BE49-F238E27FC236}">
                <a16:creationId xmlns:a16="http://schemas.microsoft.com/office/drawing/2014/main" id="{E4471D86-2F4D-49EB-A6B2-16EB1886821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012"/>
          <a:stretch/>
        </p:blipFill>
        <p:spPr>
          <a:xfrm>
            <a:off x="838200" y="1690688"/>
            <a:ext cx="1791098" cy="1843703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D4ED7C01-7FF1-48A5-A599-5666FA9946B3}"/>
              </a:ext>
            </a:extLst>
          </p:cNvPr>
          <p:cNvSpPr/>
          <p:nvPr/>
        </p:nvSpPr>
        <p:spPr>
          <a:xfrm>
            <a:off x="2226537" y="1726295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3646C68-794C-48BF-95BE-CB0CD2CE6426}"/>
              </a:ext>
            </a:extLst>
          </p:cNvPr>
          <p:cNvSpPr/>
          <p:nvPr/>
        </p:nvSpPr>
        <p:spPr>
          <a:xfrm>
            <a:off x="2988837" y="4161716"/>
            <a:ext cx="360000" cy="36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9FD617B-7606-4F1B-8B2A-B2618D35997B}"/>
              </a:ext>
            </a:extLst>
          </p:cNvPr>
          <p:cNvSpPr/>
          <p:nvPr/>
        </p:nvSpPr>
        <p:spPr>
          <a:xfrm>
            <a:off x="5445853" y="3508247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3FAA44E-FE77-4DC1-BB2E-D1CE05D06EF4}"/>
              </a:ext>
            </a:extLst>
          </p:cNvPr>
          <p:cNvSpPr/>
          <p:nvPr/>
        </p:nvSpPr>
        <p:spPr>
          <a:xfrm>
            <a:off x="3036762" y="3354391"/>
            <a:ext cx="360000" cy="36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C06406D-850C-4D78-A219-69E8FB06984D}"/>
              </a:ext>
            </a:extLst>
          </p:cNvPr>
          <p:cNvSpPr/>
          <p:nvPr/>
        </p:nvSpPr>
        <p:spPr>
          <a:xfrm>
            <a:off x="7587628" y="3239355"/>
            <a:ext cx="360000" cy="36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25A62BE-1C17-49A9-8090-52148B522BD8}"/>
              </a:ext>
            </a:extLst>
          </p:cNvPr>
          <p:cNvSpPr/>
          <p:nvPr/>
        </p:nvSpPr>
        <p:spPr>
          <a:xfrm>
            <a:off x="10955700" y="4161715"/>
            <a:ext cx="360000" cy="36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E815BC9-A610-4EC0-9A55-FDCE58D51966}"/>
              </a:ext>
            </a:extLst>
          </p:cNvPr>
          <p:cNvSpPr/>
          <p:nvPr/>
        </p:nvSpPr>
        <p:spPr>
          <a:xfrm>
            <a:off x="8430600" y="3580817"/>
            <a:ext cx="360000" cy="36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171D90-6A27-40A3-86BC-42264CFCBCDC}"/>
              </a:ext>
            </a:extLst>
          </p:cNvPr>
          <p:cNvSpPr txBox="1"/>
          <p:nvPr/>
        </p:nvSpPr>
        <p:spPr>
          <a:xfrm>
            <a:off x="781204" y="3541755"/>
            <a:ext cx="1428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accent3"/>
                </a:solidFill>
              </a:rPr>
              <a:t>Lange et al (2013)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C10D36-91F5-49AF-87E9-7257CDE3668E}"/>
              </a:ext>
            </a:extLst>
          </p:cNvPr>
          <p:cNvSpPr txBox="1"/>
          <p:nvPr/>
        </p:nvSpPr>
        <p:spPr>
          <a:xfrm>
            <a:off x="2636135" y="1709525"/>
            <a:ext cx="2222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Oceanic basalt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459D7F-B812-4D5A-9F64-07F6BFF37444}"/>
              </a:ext>
            </a:extLst>
          </p:cNvPr>
          <p:cNvSpPr txBox="1"/>
          <p:nvPr/>
        </p:nvSpPr>
        <p:spPr>
          <a:xfrm>
            <a:off x="3390900" y="5782653"/>
            <a:ext cx="1896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Arc andesite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3CC7AF-F3F9-4C49-BBFE-7E3C60358354}"/>
              </a:ext>
            </a:extLst>
          </p:cNvPr>
          <p:cNvSpPr txBox="1"/>
          <p:nvPr/>
        </p:nvSpPr>
        <p:spPr>
          <a:xfrm>
            <a:off x="5743874" y="5781774"/>
            <a:ext cx="2428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Crustal granulite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BF923F-10C1-4134-8DEC-AAE30ADC7DFA}"/>
              </a:ext>
            </a:extLst>
          </p:cNvPr>
          <p:cNvSpPr txBox="1"/>
          <p:nvPr/>
        </p:nvSpPr>
        <p:spPr>
          <a:xfrm>
            <a:off x="7105655" y="1692769"/>
            <a:ext cx="2430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Lunar Highlands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9FD617B-7606-4F1B-8B2A-B2618D35997B}"/>
              </a:ext>
            </a:extLst>
          </p:cNvPr>
          <p:cNvSpPr/>
          <p:nvPr/>
        </p:nvSpPr>
        <p:spPr>
          <a:xfrm>
            <a:off x="10962426" y="1722061"/>
            <a:ext cx="360000" cy="360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9FD617B-7606-4F1B-8B2A-B2618D35997B}"/>
              </a:ext>
            </a:extLst>
          </p:cNvPr>
          <p:cNvSpPr/>
          <p:nvPr/>
        </p:nvSpPr>
        <p:spPr>
          <a:xfrm>
            <a:off x="6887967" y="2815755"/>
            <a:ext cx="360000" cy="360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81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/>
      <p:bldP spid="42" grpId="0"/>
      <p:bldP spid="43" grpId="0"/>
      <p:bldP spid="44" grpId="0"/>
      <p:bldP spid="45" grpId="0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F090-150B-473E-BD80-A3825C764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Reactions in geochemical systems: thermodynamics and phase diagram principles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830E7A83-1F4B-42AA-92ED-D2CA10EB506E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r>
                  <a:rPr lang="en-GB" dirty="0"/>
                  <a:t>EART26201 | Principles of Geochemistry | Lecture 3</a:t>
                </a:r>
              </a:p>
              <a:p>
                <a:r>
                  <a:rPr lang="en-GB" dirty="0"/>
                  <a:t>Part 5 | Thermodynamics and phase diagrams: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–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:r>
                  <a:rPr lang="en-GB" dirty="0"/>
                  <a:t>curves</a:t>
                </a: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830E7A83-1F4B-42AA-92ED-D2CA10EB50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>
                <a:blip r:embed="rId3"/>
                <a:stretch>
                  <a:fillRect t="-47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BC59C-67B6-4B05-BC06-2EEFD1F7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8E3BF-8C94-43B7-BDCB-B289E57E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507B5-2A7D-4FCF-A40A-BADB4BDC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193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D134F-766A-4454-8354-E25ADD0C0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Relating phase diagrams and thermodynamics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4746F5C-7B5D-48CA-A082-B8918B29AB6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4603" y="1849889"/>
            <a:ext cx="4590000" cy="415892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0346157-4BC3-41A9-A2F2-DC12BCBF3D6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803397" y="1825625"/>
                <a:ext cx="5550403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i="1" dirty="0"/>
                  <a:t>Phase diagrams</a:t>
                </a:r>
              </a:p>
              <a:p>
                <a:r>
                  <a:rPr lang="en-GB" dirty="0"/>
                  <a:t>Relate phase stabilities to intensive variables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Show which phase (or phase assemblage) has the lowest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r>
                  <a:rPr lang="en-GB" dirty="0"/>
                  <a:t>Lowest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GB" dirty="0"/>
                  <a:t>:	</a:t>
                </a:r>
                <a:r>
                  <a:rPr lang="en-GB" i="1" dirty="0">
                    <a:solidFill>
                      <a:schemeClr val="accent3"/>
                    </a:solidFill>
                  </a:rPr>
                  <a:t>L</a:t>
                </a:r>
                <a:r>
                  <a:rPr lang="en-GB" dirty="0">
                    <a:solidFill>
                      <a:schemeClr val="accent3"/>
                    </a:solidFill>
                  </a:rPr>
                  <a:t> only</a:t>
                </a:r>
              </a:p>
              <a:p>
                <a:pPr marL="0" indent="0">
                  <a:buNone/>
                </a:pPr>
                <a:r>
                  <a:rPr lang="en-GB" dirty="0"/>
                  <a:t>		</a:t>
                </a:r>
                <a:r>
                  <a:rPr lang="en-GB" i="1" dirty="0">
                    <a:solidFill>
                      <a:schemeClr val="accent2"/>
                    </a:solidFill>
                  </a:rPr>
                  <a:t>L</a:t>
                </a:r>
                <a:r>
                  <a:rPr lang="en-GB" dirty="0">
                    <a:solidFill>
                      <a:schemeClr val="accent2"/>
                    </a:solidFill>
                  </a:rPr>
                  <a:t> and </a:t>
                </a:r>
                <a:r>
                  <a:rPr lang="en-GB" i="1" dirty="0">
                    <a:solidFill>
                      <a:schemeClr val="accent2"/>
                    </a:solidFill>
                  </a:rPr>
                  <a:t>plag</a:t>
                </a:r>
              </a:p>
              <a:p>
                <a:pPr marL="0" indent="0">
                  <a:buNone/>
                </a:pPr>
                <a:r>
                  <a:rPr lang="en-GB" dirty="0"/>
                  <a:t>		</a:t>
                </a:r>
                <a:r>
                  <a:rPr lang="en-GB" i="1" dirty="0" err="1"/>
                  <a:t>plag</a:t>
                </a:r>
                <a:r>
                  <a:rPr lang="en-GB" i="1" dirty="0"/>
                  <a:t> only</a:t>
                </a:r>
              </a:p>
              <a:p>
                <a:pPr marL="0" indent="0" algn="ctr">
                  <a:spcBef>
                    <a:spcPts val="1800"/>
                  </a:spcBef>
                  <a:buNone/>
                </a:pPr>
                <a:r>
                  <a:rPr lang="en-GB" i="1" dirty="0">
                    <a:solidFill>
                      <a:schemeClr val="tx2"/>
                    </a:solidFill>
                  </a:rPr>
                  <a:t>Thermodynamics concerns </a:t>
                </a:r>
                <a:r>
                  <a:rPr lang="en-GB" i="1" u="sng" dirty="0">
                    <a:solidFill>
                      <a:schemeClr val="tx2"/>
                    </a:solidFill>
                  </a:rPr>
                  <a:t>equilibrium</a:t>
                </a:r>
                <a:r>
                  <a:rPr lang="en-GB" i="1" dirty="0">
                    <a:solidFill>
                      <a:schemeClr val="tx2"/>
                    </a:solidFill>
                  </a:rPr>
                  <a:t> phases and phase assemblages</a:t>
                </a:r>
                <a:endParaRPr lang="en-GB" dirty="0"/>
              </a:p>
              <a:p>
                <a:pPr marL="0" indent="0">
                  <a:buNone/>
                </a:pPr>
                <a:endParaRPr lang="en-GB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0346157-4BC3-41A9-A2F2-DC12BCBF3D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803397" y="1825625"/>
                <a:ext cx="5550403" cy="4351338"/>
              </a:xfrm>
              <a:blipFill>
                <a:blip r:embed="rId3"/>
                <a:stretch>
                  <a:fillRect l="-1647" t="-1821" r="-110" b="-8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9C8D0-5A8A-4E93-B6DD-52927AE4D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18024-0C96-4143-83F7-83F0F276F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DED54-16EC-4E41-9323-B92407695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30</a:t>
            </a:fld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3536FC-4592-4268-A8CD-396FC59CD6D0}"/>
              </a:ext>
            </a:extLst>
          </p:cNvPr>
          <p:cNvSpPr/>
          <p:nvPr/>
        </p:nvSpPr>
        <p:spPr>
          <a:xfrm>
            <a:off x="2209800" y="2649685"/>
            <a:ext cx="301336" cy="29094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3A781D5-3946-4220-9DD7-91D327C32097}"/>
              </a:ext>
            </a:extLst>
          </p:cNvPr>
          <p:cNvSpPr/>
          <p:nvPr/>
        </p:nvSpPr>
        <p:spPr>
          <a:xfrm>
            <a:off x="2876550" y="3453242"/>
            <a:ext cx="301336" cy="29094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E141C8E-F3BA-4822-B205-B1410DCE28DC}"/>
              </a:ext>
            </a:extLst>
          </p:cNvPr>
          <p:cNvSpPr/>
          <p:nvPr/>
        </p:nvSpPr>
        <p:spPr>
          <a:xfrm>
            <a:off x="4075006" y="4022620"/>
            <a:ext cx="301336" cy="29094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5F6034-1278-4629-939D-4557025B7DFC}"/>
              </a:ext>
            </a:extLst>
          </p:cNvPr>
          <p:cNvSpPr txBox="1"/>
          <p:nvPr/>
        </p:nvSpPr>
        <p:spPr>
          <a:xfrm>
            <a:off x="9538636" y="4314342"/>
            <a:ext cx="1598761" cy="95410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i="1" dirty="0">
                <a:solidFill>
                  <a:schemeClr val="accent1"/>
                </a:solidFill>
              </a:rPr>
              <a:t>We’ll consider kinetics and disequilibrium in Lecture 5</a:t>
            </a:r>
          </a:p>
        </p:txBody>
      </p:sp>
    </p:spTree>
    <p:extLst>
      <p:ext uri="{BB962C8B-B14F-4D97-AF65-F5344CB8AC3E}">
        <p14:creationId xmlns:p14="http://schemas.microsoft.com/office/powerpoint/2010/main" val="345515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F25DC3B4-EA69-477A-9029-A59490694D3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Constructing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–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:r>
                  <a:rPr lang="en-GB" dirty="0"/>
                  <a:t>curves </a:t>
                </a:r>
                <a:r>
                  <a:rPr lang="en-GB"/>
                  <a:t>for plagioclase</a:t>
                </a:r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F25DC3B4-EA69-477A-9029-A59490694D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6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41A7329-3110-4C59-A009-E78EAFC11E0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4977" y="1913410"/>
            <a:ext cx="4588044" cy="4175768"/>
          </a:xfr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C8D0D32-549C-4AF1-B5A6-5458F484C6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8603" y="1840257"/>
            <a:ext cx="4748794" cy="432207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1C417-DA0B-4BAF-BB4C-F6303570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D9A25-ECA2-4BA9-998A-A67CA5499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3 | Part 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EAAC269-F53E-459B-AE8F-709C3369BC85}"/>
              </a:ext>
            </a:extLst>
          </p:cNvPr>
          <p:cNvSpPr/>
          <p:nvPr/>
        </p:nvSpPr>
        <p:spPr>
          <a:xfrm>
            <a:off x="8343047" y="3317773"/>
            <a:ext cx="144379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0A03BEF-21B9-4E20-94E8-6D6DBB6F547A}"/>
              </a:ext>
            </a:extLst>
          </p:cNvPr>
          <p:cNvSpPr/>
          <p:nvPr/>
        </p:nvSpPr>
        <p:spPr>
          <a:xfrm>
            <a:off x="9910010" y="3224127"/>
            <a:ext cx="144379" cy="144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1485A-8F88-48ED-B32F-FB8D0CE38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31</a:t>
            </a:fld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63A233-6395-475C-870B-F5A9B6716560}"/>
              </a:ext>
            </a:extLst>
          </p:cNvPr>
          <p:cNvSpPr/>
          <p:nvPr/>
        </p:nvSpPr>
        <p:spPr>
          <a:xfrm>
            <a:off x="6797582" y="4744670"/>
            <a:ext cx="4339815" cy="7035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55F510A-6121-4150-89BF-BB7F3F824EC2}"/>
                  </a:ext>
                </a:extLst>
              </p:cNvPr>
              <p:cNvSpPr txBox="1"/>
              <p:nvPr/>
            </p:nvSpPr>
            <p:spPr>
              <a:xfrm>
                <a:off x="8006041" y="2731804"/>
                <a:ext cx="23391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Mixture has lowest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GB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55F510A-6121-4150-89BF-BB7F3F824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6041" y="2731804"/>
                <a:ext cx="2339102" cy="369332"/>
              </a:xfrm>
              <a:prstGeom prst="rect">
                <a:avLst/>
              </a:prstGeom>
              <a:blipFill>
                <a:blip r:embed="rId5"/>
                <a:stretch>
                  <a:fillRect l="-2083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7E41757-EA61-439E-BF26-03097B059B12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9175592" y="3101136"/>
            <a:ext cx="68836" cy="23005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4312636-B7AC-4DEF-8AE8-C460AA18B121}"/>
              </a:ext>
            </a:extLst>
          </p:cNvPr>
          <p:cNvSpPr/>
          <p:nvPr/>
        </p:nvSpPr>
        <p:spPr>
          <a:xfrm>
            <a:off x="6797581" y="2799636"/>
            <a:ext cx="4339815" cy="91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39970C8-6B98-4E2A-83D5-85BAB165C1BE}"/>
              </a:ext>
            </a:extLst>
          </p:cNvPr>
          <p:cNvSpPr/>
          <p:nvPr/>
        </p:nvSpPr>
        <p:spPr>
          <a:xfrm>
            <a:off x="7758847" y="4189746"/>
            <a:ext cx="144379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FFE6740-AA86-4B1A-9409-8D65B4D65116}"/>
              </a:ext>
            </a:extLst>
          </p:cNvPr>
          <p:cNvSpPr/>
          <p:nvPr/>
        </p:nvSpPr>
        <p:spPr>
          <a:xfrm>
            <a:off x="9346880" y="4221846"/>
            <a:ext cx="144379" cy="144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BDC563-F811-4ECD-8B9F-A6F8E8E21644}"/>
              </a:ext>
            </a:extLst>
          </p:cNvPr>
          <p:cNvSpPr/>
          <p:nvPr/>
        </p:nvSpPr>
        <p:spPr>
          <a:xfrm>
            <a:off x="6797581" y="3762845"/>
            <a:ext cx="4339815" cy="91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2F91B2-1A58-4E92-A183-8A2A36F8DAE8}"/>
              </a:ext>
            </a:extLst>
          </p:cNvPr>
          <p:cNvSpPr/>
          <p:nvPr/>
        </p:nvSpPr>
        <p:spPr>
          <a:xfrm>
            <a:off x="10186988" y="5162550"/>
            <a:ext cx="552132" cy="2905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4D4E8F1-6D4A-4FE5-8BAC-FA984748C053}"/>
              </a:ext>
            </a:extLst>
          </p:cNvPr>
          <p:cNvSpPr/>
          <p:nvPr/>
        </p:nvSpPr>
        <p:spPr>
          <a:xfrm>
            <a:off x="3096360" y="309119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8D7D0DF-563F-4737-BAFB-B6689E35B0EC}"/>
              </a:ext>
            </a:extLst>
          </p:cNvPr>
          <p:cNvSpPr/>
          <p:nvPr/>
        </p:nvSpPr>
        <p:spPr>
          <a:xfrm>
            <a:off x="4555710" y="3091196"/>
            <a:ext cx="144379" cy="144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8BA4A0C-F873-4FF6-A92D-BC194387A169}"/>
              </a:ext>
            </a:extLst>
          </p:cNvPr>
          <p:cNvSpPr/>
          <p:nvPr/>
        </p:nvSpPr>
        <p:spPr>
          <a:xfrm>
            <a:off x="2512160" y="3480150"/>
            <a:ext cx="144379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B613B93-2C8D-41B7-A5A9-717D341745C8}"/>
              </a:ext>
            </a:extLst>
          </p:cNvPr>
          <p:cNvSpPr/>
          <p:nvPr/>
        </p:nvSpPr>
        <p:spPr>
          <a:xfrm>
            <a:off x="3936000" y="3480150"/>
            <a:ext cx="144379" cy="144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00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" grpId="0" animBg="1"/>
      <p:bldP spid="25" grpId="0"/>
      <p:bldP spid="3" grpId="0" animBg="1"/>
      <p:bldP spid="21" grpId="0" animBg="1"/>
      <p:bldP spid="22" grpId="0" animBg="1"/>
      <p:bldP spid="8" grpId="0" animBg="1"/>
      <p:bldP spid="9" grpId="0" animBg="1"/>
      <p:bldP spid="10" grpId="0" animBg="1"/>
      <p:bldP spid="16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UoM_Teaching">
      <a:dk1>
        <a:sysClr val="windowText" lastClr="000000"/>
      </a:dk1>
      <a:lt1>
        <a:sysClr val="window" lastClr="FFFFFF"/>
      </a:lt1>
      <a:dk2>
        <a:srgbClr val="660099"/>
      </a:dk2>
      <a:lt2>
        <a:srgbClr val="FFCC33"/>
      </a:lt2>
      <a:accent1>
        <a:srgbClr val="660099"/>
      </a:accent1>
      <a:accent2>
        <a:srgbClr val="FFCC33"/>
      </a:accent2>
      <a:accent3>
        <a:srgbClr val="999999"/>
      </a:accent3>
      <a:accent4>
        <a:srgbClr val="B728FE"/>
      </a:accent4>
      <a:accent5>
        <a:srgbClr val="FFE084"/>
      </a:accent5>
      <a:accent6>
        <a:srgbClr val="C1C1C1"/>
      </a:accent6>
      <a:hlink>
        <a:srgbClr val="999999"/>
      </a:hlink>
      <a:folHlink>
        <a:srgbClr val="99999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1649</TotalTime>
  <Words>2608</Words>
  <Application>Microsoft Office PowerPoint</Application>
  <PresentationFormat>Widescreen</PresentationFormat>
  <Paragraphs>386</Paragraphs>
  <Slides>31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Cambria Math</vt:lpstr>
      <vt:lpstr>Office Theme</vt:lpstr>
      <vt:lpstr>Reactions in geochemical systems: thermodynamics and phase diagram principles</vt:lpstr>
      <vt:lpstr>Variations in pressure, temperature and composition</vt:lpstr>
      <vt:lpstr>Equilibrium in Earth systems: from mantle to surface</vt:lpstr>
      <vt:lpstr>Equilibrium in Earth systems: magma crystallisation</vt:lpstr>
      <vt:lpstr>The importance of thermodynamics in Earth science</vt:lpstr>
      <vt:lpstr>Lecture 3 synopsis</vt:lpstr>
      <vt:lpstr>Reactions in geochemical systems: thermodynamics and phase diagram principles</vt:lpstr>
      <vt:lpstr>Thermodynamics</vt:lpstr>
      <vt:lpstr>State variables and equations of state</vt:lpstr>
      <vt:lpstr>First law of thermodynamics</vt:lpstr>
      <vt:lpstr>Second law of thermodynamics</vt:lpstr>
      <vt:lpstr>Combining the first and second laws</vt:lpstr>
      <vt:lpstr>Enthalpy and Gibbs free energy</vt:lpstr>
      <vt:lpstr>Phase diagrams and the importance of G</vt:lpstr>
      <vt:lpstr>Reactions in geochemical systems: thermodynamics and phase diagram principles</vt:lpstr>
      <vt:lpstr>The Gibbs phase rule</vt:lpstr>
      <vt:lpstr>The Gibbs phase rule: H2O phase diagram</vt:lpstr>
      <vt:lpstr>The Gibbs phase rule: H2O phase diagram</vt:lpstr>
      <vt:lpstr>The Gibbs phase rule: H2O phase diagram</vt:lpstr>
      <vt:lpstr>The Gibbs phase rule: isobaric An–Di phase diagram</vt:lpstr>
      <vt:lpstr>The lever rule</vt:lpstr>
      <vt:lpstr>Reactions in geochemical systems: thermodynamics and phase diagram principles</vt:lpstr>
      <vt:lpstr>Equilibrium and fractional processes</vt:lpstr>
      <vt:lpstr>Binary phase diagram with solid solution: plagioclase</vt:lpstr>
      <vt:lpstr>Binary phase diagram with solid solution: plagioclase</vt:lpstr>
      <vt:lpstr>Binary phase diagram with solid solution: plagioclase</vt:lpstr>
      <vt:lpstr>Binary phase diagram with solid solution: plagioclase</vt:lpstr>
      <vt:lpstr>The importance and ubiquity of plagioclase</vt:lpstr>
      <vt:lpstr>Reactions in geochemical systems: thermodynamics and phase diagram principles</vt:lpstr>
      <vt:lpstr>Relating phase diagrams and thermodynamics</vt:lpstr>
      <vt:lpstr>Constructing G–X curves for plagioclase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Neave</dc:creator>
  <cp:lastModifiedBy>Romain Tartese</cp:lastModifiedBy>
  <cp:revision>128</cp:revision>
  <dcterms:created xsi:type="dcterms:W3CDTF">2020-07-29T10:27:56Z</dcterms:created>
  <dcterms:modified xsi:type="dcterms:W3CDTF">2025-10-13T07:44:23Z</dcterms:modified>
</cp:coreProperties>
</file>