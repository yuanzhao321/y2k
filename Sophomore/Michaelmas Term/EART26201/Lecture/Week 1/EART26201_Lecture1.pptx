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5"/>
  </p:notesMasterIdLst>
  <p:handoutMasterIdLst>
    <p:handoutMasterId r:id="rId36"/>
  </p:handout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58" autoAdjust="0"/>
    <p:restoredTop sz="83417" autoAdjust="0"/>
  </p:normalViewPr>
  <p:slideViewPr>
    <p:cSldViewPr snapToGrid="0">
      <p:cViewPr varScale="1">
        <p:scale>
          <a:sx n="93" d="100"/>
          <a:sy n="93" d="100"/>
        </p:scale>
        <p:origin x="984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14E71B6-87FB-426E-90F4-4F497E32993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5C6391-32FB-48EC-96D5-28A4AD8CFFF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53F5C3-A162-4867-9D1A-D46BA11DF73F}" type="datetimeFigureOut">
              <a:rPr lang="en-GB" smtClean="0"/>
              <a:t>23/09/2024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9157DD-ED3A-40F7-AA55-0773B1BF5FE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672568-1089-43D8-90FF-F1F05920DEF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B439FC-1E0E-46AB-BBFE-D3BD81CFA9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56312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B953AF-DF34-41AB-87A3-F900B0DA0FC7}" type="datetimeFigureOut">
              <a:rPr lang="en-GB" smtClean="0"/>
              <a:t>23/09/2024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73A3FC-9EFF-4235-97DD-25083E8D10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3583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18916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11556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006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84190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39665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40894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SWAP THE COLOURS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91891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75255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4702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50349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74457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12070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47695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1260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DEB6B-C512-49C0-9CAD-276284DCAC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8B2130-D659-4086-A5E7-3AEF8B9FE4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31113E-79F7-4222-9DEA-3399CE8E4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2020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7D4B2-768D-42AB-B96C-ADC0935BF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36000" y="6356350"/>
            <a:ext cx="4320000" cy="365125"/>
          </a:xfrm>
        </p:spPr>
        <p:txBody>
          <a:bodyPr/>
          <a:lstStyle/>
          <a:p>
            <a:r>
              <a:rPr lang="en-GB" dirty="0"/>
              <a:t>EART26201 | Principles of Geochemistry | Lecture 3 | Part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9544E5-283B-497C-A17F-C5391119A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1263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444D7-5AE2-41B0-B945-E0FECB667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D1EA-A4A2-466D-B767-7370ABE81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6DFC4-0CDF-499C-B418-8927AA7AC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2020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B0986-6916-4257-AC63-570EB60B2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3 | Part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395634-03D4-4B80-8752-BEC3863C0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1291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5007B-207F-41C8-AD48-8936F46D6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7FFBCD-2955-4AEB-9992-D317264231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DD235-57F7-4DF5-A618-53498FAEB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2020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D12B6-0CAE-4442-BB78-79F3BF66C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3 | Part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BF6BF4-1B6C-4A06-947A-FCF111688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2474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CF338-9494-47F6-9CEE-A923AD708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69605-CD76-408F-96F4-EA27EC69C4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99F475-DB77-4C29-99B4-4C4C64BC8D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92455F-10BA-427D-8547-8C5F56177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2020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CC4AF3-05D4-4B43-9A59-60C5E1AD1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3 | Part 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8008A9-97D5-40C4-A96B-CEF65CF16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5789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4F20F-10A8-48E6-80DB-7B010E2BD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9576000" cy="1325563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FD2251-873A-4A2D-A182-4E34AA3417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t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114E8C-305B-4B34-8E66-A4F27CB037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AE0F9B-6195-46E1-9CF4-416107D163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t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54E796-701E-4320-A231-AEF835AE1E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6CF397-B797-4A96-995C-78DE19921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2020</a:t>
            </a:r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52B863-2E74-460E-8183-92C862656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3 | Part 1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3FDD3A-C152-47DF-8127-598C7C5C1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5709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BAABF-A0CD-4179-9FE9-90F931368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CA6627-BDA2-45CE-8E54-D36CA5DA1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2020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F16E08-C137-465F-B57D-E9D941508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3 | Part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78A738-D179-41F0-A7D7-8A450A3A0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6062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9F2D7E-443F-4ADA-91DF-33246ADB5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2020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E3AFB4-9718-41E1-B211-5F80969FB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3 | Part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6F952D-E203-4F1B-9063-B98E95092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0760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A30D7-E7C0-4BE7-827F-3FF29DD20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2A7E1-86B7-4951-A1FC-BDB39D0A79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3FF350-FAD3-46DA-A9C4-EE57112657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95A263-81E2-4306-BDF4-B5C84BE89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2020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1EA232-7B9A-4C5F-BCC2-A18CBE4DA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2 | Part 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42B55D-FD4A-436A-AB1B-882DC5572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3450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962B7-ACB1-43AC-AA2C-9373A9992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2F6B07-574D-4C0E-A925-45AA47BEC0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DC7EBD-0CE1-4E7F-8E35-2E0B7470B4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9C96AF-E8C1-4F52-AFFB-8DACD8869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2020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2EB72B-8213-49B5-B39E-DECF99786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2 | Part 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DE4821-0C42-4BA9-9DD9-53387A36D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960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BFA19-4301-4438-9832-D4D27B007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E8D55F-6FA4-4694-A0E6-014C8499A3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E48DF-3ED2-4288-8906-6A091A87E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2020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29EBF5-8347-40D6-8325-95E87E18A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2 | Part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EE5CE1-2E6D-484E-954B-2BFBE70E6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7120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B29294-658A-4249-B526-A099D2AB05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2C2D95-B9CF-41E2-A944-2553D8AFF3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FBEB1-908E-4CEA-8F6C-1B7EFA969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2020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1C3054-6B2A-423D-83B9-B0F1A2980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2 | Part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A5E9B-95EC-4279-94DD-C781953F0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8643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2D7403-4BF5-4671-ABC7-9B0F30D3E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57530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66F7F6-C35F-42F5-9686-7FB1BA713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346F8-F24C-44E3-B06F-D7FD88AB07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8A35A-47F9-4349-A154-804ADAFEDA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6000" y="6356350"/>
            <a:ext cx="432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dirty="0"/>
              <a:t>EART26201 | Principles of Geochemistry | Lecture 1 | Part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D7A1A-0F11-4CD9-86CE-E1686C26D8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CC7AC6-D8A2-4BCF-8417-B674C50441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5641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NUL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NULL"/><Relationship Id="rId1" Type="http://schemas.openxmlformats.org/officeDocument/2006/relationships/slideLayout" Target="../slideLayouts/slideLayout4.xml"/><Relationship Id="rId5" Type="http://schemas.microsoft.com/office/2007/relationships/hdphoto" Target="../media/hdphoto1.wdp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NUL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NUL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NUL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NULL"/><Relationship Id="rId1" Type="http://schemas.openxmlformats.org/officeDocument/2006/relationships/slideLayout" Target="../slideLayouts/slideLayout4.xml"/><Relationship Id="rId4" Type="http://schemas.openxmlformats.org/officeDocument/2006/relationships/image" Target="NUL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48.jpg"/><Relationship Id="rId4" Type="http://schemas.openxmlformats.org/officeDocument/2006/relationships/image" Target="../media/image4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BE90D-CF6A-43C7-9314-A05F5311DA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en-GB" dirty="0"/>
              <a:t>The geochemist’s periodic table: element partitioning </a:t>
            </a:r>
            <a:r>
              <a:rPr lang="en-GB"/>
              <a:t>and </a:t>
            </a:r>
            <a:br>
              <a:rPr lang="en-GB"/>
            </a:br>
            <a:r>
              <a:rPr lang="en-GB"/>
              <a:t>chemical </a:t>
            </a:r>
            <a:r>
              <a:rPr lang="en-GB" dirty="0"/>
              <a:t>differentiation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1A3D18-B3CE-4AF9-9F2C-E6BDFA8BBD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EART26201 | Principles of Geochemistry | Lecture 1</a:t>
            </a:r>
          </a:p>
          <a:p>
            <a:r>
              <a:rPr lang="en-GB" dirty="0"/>
              <a:t>Part 1 | Introduction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60A6A-49C1-4287-9BB8-A85D30829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20D41-60E7-4ACB-9B2B-884861396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1 | Part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614C2-8618-4A1E-A193-645A64469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9222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001CF002-0342-4FE7-A332-CB169AD08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geochemist’s periodic table</a:t>
            </a:r>
          </a:p>
        </p:txBody>
      </p:sp>
      <p:pic>
        <p:nvPicPr>
          <p:cNvPr id="13" name="Content Placeholder 12" descr="A screenshot of text&#10;&#10;Description automatically generated">
            <a:extLst>
              <a:ext uri="{FF2B5EF4-FFF2-40B4-BE49-F238E27FC236}">
                <a16:creationId xmlns:a16="http://schemas.microsoft.com/office/drawing/2014/main" id="{97977A45-1DF6-4D7B-AFDB-8A854B67CCC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32448"/>
            <a:ext cx="6304878" cy="3337692"/>
          </a:xfrm>
        </p:spPr>
      </p:pic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26F4EFC2-EFE5-4ADE-8072-09FD20566E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43078" y="1825624"/>
            <a:ext cx="4210721" cy="4530725"/>
          </a:xfrm>
        </p:spPr>
        <p:txBody>
          <a:bodyPr>
            <a:normAutofit/>
          </a:bodyPr>
          <a:lstStyle/>
          <a:p>
            <a:r>
              <a:rPr lang="en-GB" dirty="0"/>
              <a:t>Element abundances vary hugely within and between different planetary bodies</a:t>
            </a:r>
          </a:p>
          <a:p>
            <a:r>
              <a:rPr lang="en-GB" dirty="0"/>
              <a:t>Grouped by abundance</a:t>
            </a:r>
          </a:p>
          <a:p>
            <a:r>
              <a:rPr lang="en-GB" dirty="0">
                <a:solidFill>
                  <a:schemeClr val="accent4"/>
                </a:solidFill>
              </a:rPr>
              <a:t>Major elements: &gt;1 wt.%</a:t>
            </a:r>
          </a:p>
          <a:p>
            <a:pPr lvl="1"/>
            <a:r>
              <a:rPr lang="en-GB" dirty="0"/>
              <a:t>O is Earth’s most abundant element and dominant anion</a:t>
            </a:r>
          </a:p>
          <a:p>
            <a:pPr lvl="1"/>
            <a:r>
              <a:rPr lang="en-GB" dirty="0"/>
              <a:t>Other elements are often expressed as oxides (MgO)</a:t>
            </a:r>
          </a:p>
          <a:p>
            <a:pPr lvl="1"/>
            <a:r>
              <a:rPr lang="en-GB" dirty="0"/>
              <a:t>Make rock-forming minerals</a:t>
            </a:r>
          </a:p>
          <a:p>
            <a:r>
              <a:rPr lang="en-GB" dirty="0">
                <a:solidFill>
                  <a:schemeClr val="accent2"/>
                </a:solidFill>
              </a:rPr>
              <a:t>Minor elements: 0.1–1 wt.%</a:t>
            </a:r>
          </a:p>
          <a:p>
            <a:r>
              <a:rPr lang="en-GB" dirty="0">
                <a:solidFill>
                  <a:schemeClr val="accent3"/>
                </a:solidFill>
              </a:rPr>
              <a:t>Trace elements: &lt;0.1 wt.%</a:t>
            </a:r>
          </a:p>
          <a:p>
            <a:pPr lvl="1"/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4E90C-C528-4E98-B49D-821E0A036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819B0-4D98-4A87-BFEA-85BEF68E0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1 | Part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6A75A-969C-446D-BFE0-8190BB65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2</a:t>
            </a:fld>
            <a:endParaRPr lang="en-GB"/>
          </a:p>
        </p:txBody>
      </p:sp>
      <p:pic>
        <p:nvPicPr>
          <p:cNvPr id="17" name="Picture 16" descr="A picture containing clock&#10;&#10;Description automatically generated">
            <a:extLst>
              <a:ext uri="{FF2B5EF4-FFF2-40B4-BE49-F238E27FC236}">
                <a16:creationId xmlns:a16="http://schemas.microsoft.com/office/drawing/2014/main" id="{DAB96F08-4BD0-4804-8969-508F5C69F9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32448"/>
            <a:ext cx="6304878" cy="3337692"/>
          </a:xfrm>
          <a:prstGeom prst="rect">
            <a:avLst/>
          </a:prstGeom>
        </p:spPr>
      </p:pic>
      <p:pic>
        <p:nvPicPr>
          <p:cNvPr id="19" name="Picture 18" descr="A picture containing clock&#10;&#10;Description automatically generated">
            <a:extLst>
              <a:ext uri="{FF2B5EF4-FFF2-40B4-BE49-F238E27FC236}">
                <a16:creationId xmlns:a16="http://schemas.microsoft.com/office/drawing/2014/main" id="{8CD54B78-B188-4D4C-B973-A4C1D4E2D9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32449"/>
            <a:ext cx="6304878" cy="333769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534DBD5-2679-48A0-8754-2BCAA92A25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2332447"/>
            <a:ext cx="6304878" cy="3337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673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AB214-D102-4665-8060-803D37268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Trace elements as tracers and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67E0C-7F1F-4764-BBB3-7830A01B6E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66360" cy="4351338"/>
          </a:xfrm>
        </p:spPr>
        <p:txBody>
          <a:bodyPr/>
          <a:lstStyle/>
          <a:p>
            <a:r>
              <a:rPr lang="en-GB" dirty="0"/>
              <a:t>Not involved in chemical reactions</a:t>
            </a:r>
          </a:p>
          <a:p>
            <a:r>
              <a:rPr lang="en-GB" dirty="0"/>
              <a:t>Passive tracers of Earth processes</a:t>
            </a:r>
          </a:p>
          <a:p>
            <a:r>
              <a:rPr lang="en-GB" dirty="0"/>
              <a:t>Relatively easy to measure by mass spectrometry</a:t>
            </a:r>
          </a:p>
          <a:p>
            <a:r>
              <a:rPr lang="en-GB" dirty="0"/>
              <a:t>Ore deposits occur where trace elements are highly concentrated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0408C1-1A4A-42B9-BF66-0686B7B8E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41D30E-C9BD-4E72-989D-8E05ED4D6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1 | Part 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14F988-01C4-4F95-8148-7D43953E3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3</a:t>
            </a:fld>
            <a:endParaRPr lang="en-GB"/>
          </a:p>
        </p:txBody>
      </p:sp>
      <p:pic>
        <p:nvPicPr>
          <p:cNvPr id="22" name="Content Placeholder 21" descr="A close up of text on a black background&#10;&#10;Description automatically generated">
            <a:extLst>
              <a:ext uri="{FF2B5EF4-FFF2-40B4-BE49-F238E27FC236}">
                <a16:creationId xmlns:a16="http://schemas.microsoft.com/office/drawing/2014/main" id="{20D2B5A7-0454-4E35-9CAE-238425F7C62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0440" y="1705685"/>
            <a:ext cx="5209860" cy="2366564"/>
          </a:xfrm>
        </p:spPr>
      </p:pic>
      <p:pic>
        <p:nvPicPr>
          <p:cNvPr id="29" name="Picture 28" descr="A kitchen filled with appliances and cabinets&#10;&#10;Description automatically generated">
            <a:extLst>
              <a:ext uri="{FF2B5EF4-FFF2-40B4-BE49-F238E27FC236}">
                <a16:creationId xmlns:a16="http://schemas.microsoft.com/office/drawing/2014/main" id="{FE28E959-6DA9-4F32-AC1D-25DAFAD5C7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0440" y="4412959"/>
            <a:ext cx="2245360" cy="1602681"/>
          </a:xfrm>
          <a:prstGeom prst="rect">
            <a:avLst/>
          </a:prstGeom>
        </p:spPr>
      </p:pic>
      <p:pic>
        <p:nvPicPr>
          <p:cNvPr id="33" name="Picture 32" descr="A pile of dirt in front of a house&#10;&#10;Description automatically generated">
            <a:extLst>
              <a:ext uri="{FF2B5EF4-FFF2-40B4-BE49-F238E27FC236}">
                <a16:creationId xmlns:a16="http://schemas.microsoft.com/office/drawing/2014/main" id="{D0D704E8-3F2E-43E5-AC6D-AEE014E23B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7422" y="4411908"/>
            <a:ext cx="2507916" cy="1606633"/>
          </a:xfrm>
          <a:prstGeom prst="rect">
            <a:avLst/>
          </a:prstGeom>
        </p:spPr>
      </p:pic>
      <p:pic>
        <p:nvPicPr>
          <p:cNvPr id="35" name="Picture 34" descr="A picture containing indoor, kitchen, sitting, table&#10;&#10;Description automatically generated">
            <a:extLst>
              <a:ext uri="{FF2B5EF4-FFF2-40B4-BE49-F238E27FC236}">
                <a16:creationId xmlns:a16="http://schemas.microsoft.com/office/drawing/2014/main" id="{5D57AC46-9B88-41BD-A9F4-8C714F12CE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2017" y="4412960"/>
            <a:ext cx="2168283" cy="1604530"/>
          </a:xfrm>
          <a:prstGeom prst="rect">
            <a:avLst/>
          </a:prstGeom>
        </p:spPr>
      </p:pic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id="{A6D00163-B2E0-453D-AD3E-83D898E4454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234" y="4411908"/>
            <a:ext cx="792000" cy="792000"/>
          </a:xfrm>
          <a:prstGeom prst="rect">
            <a:avLst/>
          </a:prstGeom>
        </p:spPr>
      </p:pic>
      <p:pic>
        <p:nvPicPr>
          <p:cNvPr id="14" name="Picture 13" descr="A picture containing text&#10;&#10;Description automatically generated">
            <a:extLst>
              <a:ext uri="{FF2B5EF4-FFF2-40B4-BE49-F238E27FC236}">
                <a16:creationId xmlns:a16="http://schemas.microsoft.com/office/drawing/2014/main" id="{5B99527E-7573-44C1-9BF2-55F4A5F2D36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9118" y="4411908"/>
            <a:ext cx="792000" cy="792000"/>
          </a:xfrm>
          <a:prstGeom prst="rect">
            <a:avLst/>
          </a:prstGeom>
        </p:spPr>
      </p:pic>
      <p:pic>
        <p:nvPicPr>
          <p:cNvPr id="8" name="Picture 7" descr="A white circle with a green background&#10;&#10;Description automatically generated with medium confidence">
            <a:extLst>
              <a:ext uri="{FF2B5EF4-FFF2-40B4-BE49-F238E27FC236}">
                <a16:creationId xmlns:a16="http://schemas.microsoft.com/office/drawing/2014/main" id="{13BA57B5-D035-417D-8FAC-92EACF43654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9118" y="5223640"/>
            <a:ext cx="792000" cy="792000"/>
          </a:xfrm>
          <a:prstGeom prst="rect">
            <a:avLst/>
          </a:prstGeom>
        </p:spPr>
      </p:pic>
      <p:pic>
        <p:nvPicPr>
          <p:cNvPr id="11" name="Picture 10" descr="A picture containing icon&#10;&#10;Description automatically generated">
            <a:extLst>
              <a:ext uri="{FF2B5EF4-FFF2-40B4-BE49-F238E27FC236}">
                <a16:creationId xmlns:a16="http://schemas.microsoft.com/office/drawing/2014/main" id="{A8C5128F-CF0F-4B72-A930-50E3D4C21C2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234" y="5223640"/>
            <a:ext cx="792000" cy="7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442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AB214-D102-4665-8060-803D37268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Chemical differentiation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67E0C-7F1F-4764-BBB3-7830A01B6E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GB" i="1" dirty="0">
                <a:solidFill>
                  <a:schemeClr val="accent1"/>
                </a:solidFill>
              </a:rPr>
              <a:t>Separation of larger bodies into </a:t>
            </a:r>
            <a:br>
              <a:rPr lang="en-GB" i="1" dirty="0">
                <a:solidFill>
                  <a:schemeClr val="accent1"/>
                </a:solidFill>
              </a:rPr>
            </a:br>
            <a:r>
              <a:rPr lang="en-GB" i="1" dirty="0">
                <a:solidFill>
                  <a:schemeClr val="accent1"/>
                </a:solidFill>
              </a:rPr>
              <a:t>chemically distinct parts</a:t>
            </a:r>
          </a:p>
          <a:p>
            <a:r>
              <a:rPr lang="en-GB" dirty="0"/>
              <a:t>The solar system is differentiated:</a:t>
            </a:r>
          </a:p>
          <a:p>
            <a:pPr lvl="1"/>
            <a:r>
              <a:rPr lang="en-GB" dirty="0"/>
              <a:t>Terrestrial planets (Mg, Fe, Si, O)</a:t>
            </a:r>
          </a:p>
          <a:p>
            <a:pPr lvl="1"/>
            <a:r>
              <a:rPr lang="en-GB" dirty="0"/>
              <a:t>Jovian planets (H &amp; He in gas giants; H, He, C &amp; N in ice giants and comets)</a:t>
            </a:r>
          </a:p>
          <a:p>
            <a:r>
              <a:rPr lang="en-GB" dirty="0"/>
              <a:t>Earth is differentiated:</a:t>
            </a:r>
          </a:p>
          <a:p>
            <a:pPr lvl="1"/>
            <a:r>
              <a:rPr lang="en-GB" dirty="0"/>
              <a:t>Core (inner &amp; outer)</a:t>
            </a:r>
          </a:p>
          <a:p>
            <a:pPr lvl="1"/>
            <a:r>
              <a:rPr lang="en-GB" dirty="0"/>
              <a:t>Mantle (</a:t>
            </a:r>
            <a:r>
              <a:rPr lang="en-GB" dirty="0" err="1"/>
              <a:t>asthenospheric</a:t>
            </a:r>
            <a:r>
              <a:rPr lang="en-GB" dirty="0"/>
              <a:t> &amp; lithospheric)</a:t>
            </a:r>
          </a:p>
          <a:p>
            <a:pPr lvl="1"/>
            <a:r>
              <a:rPr lang="en-GB" dirty="0"/>
              <a:t>Crust (oceanic &amp; continental)</a:t>
            </a:r>
          </a:p>
          <a:p>
            <a:pPr lvl="1"/>
            <a:r>
              <a:rPr lang="en-GB" dirty="0"/>
              <a:t>Atmosphere</a:t>
            </a:r>
          </a:p>
          <a:p>
            <a:r>
              <a:rPr lang="en-GB" dirty="0"/>
              <a:t>Trace elements track differentiation</a:t>
            </a:r>
          </a:p>
          <a:p>
            <a:endParaRPr lang="en-GB" dirty="0"/>
          </a:p>
        </p:txBody>
      </p:sp>
      <p:pic>
        <p:nvPicPr>
          <p:cNvPr id="11" name="Content Placeholder 10" descr="A picture containing device, light, star&#10;&#10;Description automatically generated">
            <a:extLst>
              <a:ext uri="{FF2B5EF4-FFF2-40B4-BE49-F238E27FC236}">
                <a16:creationId xmlns:a16="http://schemas.microsoft.com/office/drawing/2014/main" id="{8EF46BB9-2535-4577-97CE-AE936FE603D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1268" y="1825625"/>
            <a:ext cx="4982532" cy="1329463"/>
          </a:xfr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0408C1-1A4A-42B9-BF66-0686B7B8E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41D30E-C9BD-4E72-989D-8E05ED4D6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1 | Part 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14F988-01C4-4F95-8148-7D43953E3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4</a:t>
            </a:fld>
            <a:endParaRPr lang="en-GB"/>
          </a:p>
        </p:txBody>
      </p:sp>
      <p:pic>
        <p:nvPicPr>
          <p:cNvPr id="13" name="Picture 12" descr="A picture containing device, electronics&#10;&#10;Description automatically generated">
            <a:extLst>
              <a:ext uri="{FF2B5EF4-FFF2-40B4-BE49-F238E27FC236}">
                <a16:creationId xmlns:a16="http://schemas.microsoft.com/office/drawing/2014/main" id="{7C3EA27D-B69C-44C9-BED4-1FA3F6B1E2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1268" y="3101483"/>
            <a:ext cx="4982532" cy="296875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8BBA136-3F05-4F41-9CC1-F589CF8FA060}"/>
              </a:ext>
            </a:extLst>
          </p:cNvPr>
          <p:cNvSpPr txBox="1"/>
          <p:nvPr/>
        </p:nvSpPr>
        <p:spPr>
          <a:xfrm>
            <a:off x="10178980" y="5793243"/>
            <a:ext cx="11748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200" dirty="0">
                <a:solidFill>
                  <a:schemeClr val="accent3"/>
                </a:solidFill>
              </a:rPr>
              <a:t>credit: NASA</a:t>
            </a:r>
          </a:p>
        </p:txBody>
      </p:sp>
    </p:spTree>
    <p:extLst>
      <p:ext uri="{BB962C8B-B14F-4D97-AF65-F5344CB8AC3E}">
        <p14:creationId xmlns:p14="http://schemas.microsoft.com/office/powerpoint/2010/main" val="1718196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8697CBF-EB69-48E1-9A95-545ABF3E1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Lecture 1 synopsis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EF493CA-D1ED-4702-94EB-FC465378E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>
                <a:solidFill>
                  <a:schemeClr val="accent2"/>
                </a:solidFill>
              </a:rPr>
              <a:t>Synchronous</a:t>
            </a:r>
            <a:endParaRPr lang="en-GB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GB" dirty="0"/>
              <a:t>Part 1 | Introduction</a:t>
            </a:r>
          </a:p>
          <a:p>
            <a:pPr marL="0" indent="0">
              <a:buNone/>
            </a:pPr>
            <a:r>
              <a:rPr lang="en-GB" dirty="0"/>
              <a:t>Part 2 | Cosmochemical and geochemical classifications </a:t>
            </a:r>
          </a:p>
          <a:p>
            <a:pPr marL="0" indent="0">
              <a:buNone/>
            </a:pPr>
            <a:r>
              <a:rPr lang="en-GB" dirty="0"/>
              <a:t>Part 3 | Partition coefficients and Goldschmidt’s rules</a:t>
            </a:r>
          </a:p>
          <a:p>
            <a:pPr marL="0" indent="0">
              <a:buNone/>
            </a:pPr>
            <a:r>
              <a:rPr lang="en-GB" dirty="0"/>
              <a:t>Part 4 | Using trace elements to model magmatic processes</a:t>
            </a:r>
          </a:p>
          <a:p>
            <a:pPr marL="0" indent="0">
              <a:buNone/>
            </a:pPr>
            <a:r>
              <a:rPr lang="en-GB" dirty="0"/>
              <a:t>Part 5 | Chemical differentiation of the Earth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Further reading | </a:t>
            </a:r>
            <a:r>
              <a:rPr lang="en-GB" dirty="0" err="1"/>
              <a:t>Misra</a:t>
            </a:r>
            <a:r>
              <a:rPr lang="en-GB" dirty="0"/>
              <a:t>, Chapter 12 (Earth formation and trace elements)</a:t>
            </a:r>
          </a:p>
          <a:p>
            <a:pPr marL="0" indent="0">
              <a:buNone/>
            </a:pPr>
            <a:r>
              <a:rPr lang="en-GB" dirty="0"/>
              <a:t>Further reading | White, Chapter 11 (Chemical differentiation)</a:t>
            </a:r>
          </a:p>
          <a:p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214C43-D8E1-4C9B-B591-FD6C78A3C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8FB0BB-08CB-4C2A-9DA7-3B9176E6F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1 | Part 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BEA239-335C-47CF-8544-14C5E5A5F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6029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C1A3D18-B3CE-4AF9-9F2C-E6BDFA8BBD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EART26201 | Principles of Geochemistry | Lecture 1</a:t>
            </a:r>
          </a:p>
          <a:p>
            <a:r>
              <a:rPr lang="en-GB" dirty="0"/>
              <a:t>Part 2 | Cosmochemical and geochemical classifications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60A6A-49C1-4287-9BB8-A85D30829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20D41-60E7-4ACB-9B2B-884861396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1 | Part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614C2-8618-4A1E-A193-645A64469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6</a:t>
            </a:fld>
            <a:endParaRPr lang="en-GB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72A32A8-20BC-4739-B268-2C36A4C229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en-GB" dirty="0"/>
              <a:t>The geochemist’s periodic table: element </a:t>
            </a:r>
            <a:r>
              <a:rPr lang="en-GB"/>
              <a:t>partitioning and</a:t>
            </a:r>
            <a:br>
              <a:rPr lang="en-GB"/>
            </a:br>
            <a:r>
              <a:rPr lang="en-GB"/>
              <a:t>chemical </a:t>
            </a:r>
            <a:r>
              <a:rPr lang="en-GB" dirty="0"/>
              <a:t>differentiation</a:t>
            </a:r>
          </a:p>
        </p:txBody>
      </p:sp>
    </p:spTree>
    <p:extLst>
      <p:ext uri="{BB962C8B-B14F-4D97-AF65-F5344CB8AC3E}">
        <p14:creationId xmlns:p14="http://schemas.microsoft.com/office/powerpoint/2010/main" val="662095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rock&#10;&#10;Description automatically generated with low confidence">
            <a:extLst>
              <a:ext uri="{FF2B5EF4-FFF2-40B4-BE49-F238E27FC236}">
                <a16:creationId xmlns:a16="http://schemas.microsoft.com/office/drawing/2014/main" id="{33B34C87-E354-402B-BA83-0B31AE1D5B21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6388" y="2002619"/>
            <a:ext cx="3473223" cy="32841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E1D0320-ABB4-48A8-A554-53286B7CA969}"/>
              </a:ext>
            </a:extLst>
          </p:cNvPr>
          <p:cNvSpPr txBox="1"/>
          <p:nvPr/>
        </p:nvSpPr>
        <p:spPr>
          <a:xfrm>
            <a:off x="7631920" y="5381045"/>
            <a:ext cx="226215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Allende CI chondrite</a:t>
            </a:r>
          </a:p>
          <a:p>
            <a:pPr algn="ctr"/>
            <a:r>
              <a:rPr lang="en-GB" sz="1200" dirty="0">
                <a:solidFill>
                  <a:schemeClr val="accent3"/>
                </a:solidFill>
              </a:rPr>
              <a:t>(credit: AMNH meteorites)</a:t>
            </a:r>
            <a:endParaRPr lang="en-GB" dirty="0">
              <a:solidFill>
                <a:schemeClr val="accent3"/>
              </a:solidFill>
            </a:endParaRPr>
          </a:p>
        </p:txBody>
      </p:sp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C3B7CCAF-9E8E-4AAF-A7E3-28D65261127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88603" y="1840257"/>
            <a:ext cx="4748794" cy="4322073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2F866E-3FBC-469A-BC09-A22D38415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Solar element abundances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EEBE2671-B252-4172-83AC-CA7FF5CCD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529372" cy="4530725"/>
          </a:xfrm>
        </p:spPr>
        <p:txBody>
          <a:bodyPr>
            <a:normAutofit/>
          </a:bodyPr>
          <a:lstStyle/>
          <a:p>
            <a:r>
              <a:rPr lang="en-GB" dirty="0"/>
              <a:t>Estimates from solar spectroscopy and analyses of CI chondrites</a:t>
            </a:r>
          </a:p>
          <a:p>
            <a:r>
              <a:rPr lang="en-GB" dirty="0"/>
              <a:t>Nucleosynthesis mechanisms:</a:t>
            </a:r>
          </a:p>
          <a:p>
            <a:pPr lvl="1"/>
            <a:r>
              <a:rPr lang="en-GB" dirty="0">
                <a:solidFill>
                  <a:schemeClr val="accent2"/>
                </a:solidFill>
              </a:rPr>
              <a:t>H and He from Big Bang</a:t>
            </a:r>
          </a:p>
          <a:p>
            <a:pPr lvl="1"/>
            <a:r>
              <a:rPr lang="en-GB" dirty="0">
                <a:solidFill>
                  <a:schemeClr val="accent4"/>
                </a:solidFill>
              </a:rPr>
              <a:t>Li, B and Be from cosmic ray spallation</a:t>
            </a:r>
          </a:p>
          <a:p>
            <a:pPr lvl="1"/>
            <a:r>
              <a:rPr lang="en-GB" dirty="0">
                <a:solidFill>
                  <a:schemeClr val="accent3"/>
                </a:solidFill>
              </a:rPr>
              <a:t>C to Fe from stellar fusion</a:t>
            </a:r>
          </a:p>
          <a:p>
            <a:pPr lvl="1"/>
            <a:r>
              <a:rPr lang="en-GB" dirty="0">
                <a:solidFill>
                  <a:schemeClr val="accent1"/>
                </a:solidFill>
              </a:rPr>
              <a:t>Ni to Bi from neutron capture (supernovae and neutron star collision)</a:t>
            </a:r>
          </a:p>
          <a:p>
            <a:r>
              <a:rPr lang="en-GB" dirty="0"/>
              <a:t>Major versus trace element divide</a:t>
            </a:r>
          </a:p>
          <a:p>
            <a:r>
              <a:rPr lang="en-GB" dirty="0"/>
              <a:t>Odd-even effect (</a:t>
            </a:r>
            <a:r>
              <a:rPr lang="en-GB" dirty="0" err="1"/>
              <a:t>Oddo</a:t>
            </a:r>
            <a:r>
              <a:rPr lang="en-GB" dirty="0"/>
              <a:t>-Harkins rule):</a:t>
            </a:r>
          </a:p>
          <a:p>
            <a:pPr lvl="1"/>
            <a:r>
              <a:rPr lang="en-GB" dirty="0"/>
              <a:t>Paired protons are more stable</a:t>
            </a:r>
          </a:p>
          <a:p>
            <a:pPr lvl="1"/>
            <a:r>
              <a:rPr lang="en-GB" dirty="0"/>
              <a:t>Affects how we </a:t>
            </a:r>
            <a:r>
              <a:rPr lang="en-GB"/>
              <a:t>present data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91FE4-A9A3-43CB-890D-E55623241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7732A-AEAD-47B6-B7C4-AD2FDC21A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1 | Part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BEC8A-790A-48E1-B7E0-40BADF963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7</a:t>
            </a:fld>
            <a:endParaRPr lang="en-GB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40DA87CA-4FD0-4F98-9BD9-8969080F22EB}"/>
              </a:ext>
            </a:extLst>
          </p:cNvPr>
          <p:cNvSpPr/>
          <p:nvPr/>
        </p:nvSpPr>
        <p:spPr>
          <a:xfrm flipH="1">
            <a:off x="7576639" y="2097615"/>
            <a:ext cx="740780" cy="1800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02AFDF05-CDE8-4044-B7F4-01AB3B9F18EE}"/>
              </a:ext>
            </a:extLst>
          </p:cNvPr>
          <p:cNvSpPr/>
          <p:nvPr/>
        </p:nvSpPr>
        <p:spPr>
          <a:xfrm rot="2700000" flipH="1">
            <a:off x="7409874" y="4815931"/>
            <a:ext cx="740780" cy="18000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DDC63988-4AAA-47E7-B7C0-3D1005E86E4F}"/>
              </a:ext>
            </a:extLst>
          </p:cNvPr>
          <p:cNvSpPr/>
          <p:nvPr/>
        </p:nvSpPr>
        <p:spPr>
          <a:xfrm rot="19922266" flipH="1">
            <a:off x="7910309" y="2498907"/>
            <a:ext cx="740780" cy="180000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5BCEF18F-F821-42DC-86B0-4187F4AD6750}"/>
              </a:ext>
            </a:extLst>
          </p:cNvPr>
          <p:cNvSpPr/>
          <p:nvPr/>
        </p:nvSpPr>
        <p:spPr>
          <a:xfrm rot="18000000" flipH="1">
            <a:off x="9440113" y="4132953"/>
            <a:ext cx="740780" cy="180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9" name="Picture 28" descr="A close up of a star in the dark&#10;&#10;Description automatically generated">
            <a:extLst>
              <a:ext uri="{FF2B5EF4-FFF2-40B4-BE49-F238E27FC236}">
                <a16:creationId xmlns:a16="http://schemas.microsoft.com/office/drawing/2014/main" id="{F4C0A3FE-B2A8-4283-819B-B6CE4C5416C1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0048" y="2002619"/>
            <a:ext cx="943572" cy="900000"/>
          </a:xfrm>
          <a:prstGeom prst="rect">
            <a:avLst/>
          </a:prstGeom>
        </p:spPr>
      </p:pic>
      <p:pic>
        <p:nvPicPr>
          <p:cNvPr id="31" name="Picture 30" descr="A star filled sky&#10;&#10;Description automatically generated">
            <a:extLst>
              <a:ext uri="{FF2B5EF4-FFF2-40B4-BE49-F238E27FC236}">
                <a16:creationId xmlns:a16="http://schemas.microsoft.com/office/drawing/2014/main" id="{9D413B19-7CC5-41E5-B5DF-E5AB07DE696B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9062" y="2921259"/>
            <a:ext cx="898454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907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7" grpId="0" uiExpand="1" build="p"/>
      <p:bldP spid="21" grpId="0" animBg="1"/>
      <p:bldP spid="23" grpId="0" animBg="1"/>
      <p:bldP spid="25" grpId="0" animBg="1"/>
      <p:bldP spid="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001CF002-0342-4FE7-A332-CB169AD08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Geochemical classification: partitioning behaviour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97977A45-1DF6-4D7B-AFDB-8A854B67CCC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48921" y="2354673"/>
            <a:ext cx="6304876" cy="3337691"/>
          </a:xfrm>
        </p:spPr>
      </p:pic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26F4EFC2-EFE5-4ADE-8072-09FD20566E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856142"/>
            <a:ext cx="4810760" cy="4500208"/>
          </a:xfrm>
        </p:spPr>
        <p:txBody>
          <a:bodyPr>
            <a:normAutofit/>
          </a:bodyPr>
          <a:lstStyle/>
          <a:p>
            <a:r>
              <a:rPr lang="en-GB" dirty="0"/>
              <a:t>Classified by partitioning affinities in liquid systems:</a:t>
            </a:r>
          </a:p>
          <a:p>
            <a:pPr lvl="1"/>
            <a:r>
              <a:rPr lang="en-GB" dirty="0">
                <a:solidFill>
                  <a:schemeClr val="accent3">
                    <a:lumMod val="75000"/>
                  </a:schemeClr>
                </a:solidFill>
              </a:rPr>
              <a:t>Siderophile (iron liquid)</a:t>
            </a:r>
          </a:p>
          <a:p>
            <a:pPr lvl="1"/>
            <a:r>
              <a:rPr lang="en-GB" dirty="0">
                <a:solidFill>
                  <a:schemeClr val="accent2"/>
                </a:solidFill>
              </a:rPr>
              <a:t>Chalcophile (sulfide liquid)</a:t>
            </a:r>
          </a:p>
          <a:p>
            <a:pPr lvl="1"/>
            <a:r>
              <a:rPr lang="en-GB" dirty="0">
                <a:solidFill>
                  <a:schemeClr val="accent4"/>
                </a:solidFill>
              </a:rPr>
              <a:t>Lithophile (silicate liquid)</a:t>
            </a:r>
          </a:p>
          <a:p>
            <a:pPr lvl="1"/>
            <a:r>
              <a:rPr lang="en-GB" dirty="0">
                <a:solidFill>
                  <a:schemeClr val="accent6"/>
                </a:solidFill>
              </a:rPr>
              <a:t>Atmophile (gas)</a:t>
            </a:r>
          </a:p>
          <a:p>
            <a:r>
              <a:rPr lang="en-GB" dirty="0"/>
              <a:t>Greek </a:t>
            </a:r>
            <a:r>
              <a:rPr lang="en-GB" i="1" dirty="0" err="1"/>
              <a:t>philos</a:t>
            </a:r>
            <a:r>
              <a:rPr lang="en-GB" dirty="0"/>
              <a:t> means ‘loving’</a:t>
            </a:r>
          </a:p>
          <a:p>
            <a:r>
              <a:rPr lang="en-GB" dirty="0"/>
              <a:t>Partitioning affinity can vary depending on conditions</a:t>
            </a:r>
          </a:p>
          <a:p>
            <a:r>
              <a:rPr lang="en-GB" dirty="0"/>
              <a:t>Controls element distributions between geochemical reservoirs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4E90C-C528-4E98-B49D-821E0A036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819B0-4D98-4A87-BFEA-85BEF68E0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1 | Part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6A75A-969C-446D-BFE0-8190BB65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221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EE072-CAB0-44CB-8071-79B4B7C28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Geochemical classification: chemical differentiation</a:t>
            </a:r>
          </a:p>
        </p:txBody>
      </p:sp>
      <p:pic>
        <p:nvPicPr>
          <p:cNvPr id="9" name="Content Placeholder 8" descr="A close up of a logo&#10;&#10;Description automatically generated">
            <a:extLst>
              <a:ext uri="{FF2B5EF4-FFF2-40B4-BE49-F238E27FC236}">
                <a16:creationId xmlns:a16="http://schemas.microsoft.com/office/drawing/2014/main" id="{C35CECA8-F9B6-4CBE-9823-E383A24FAE6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051" y="2122521"/>
            <a:ext cx="3970364" cy="2324301"/>
          </a:xfr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9C6BCB9B-047F-45DF-B3BC-0E45A99A393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25076" y="2089279"/>
            <a:ext cx="3075438" cy="3898400"/>
          </a:xfr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1A1F29-4BAB-4A06-B8C7-B92E97A32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3CD592-099B-4709-8F3F-7E2ABFE1E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1 | Part 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486492-FB1D-4E02-87A7-894749DE0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9</a:t>
            </a:fld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1AC41E-D1E9-4108-BFA9-0A6CE428B827}"/>
              </a:ext>
            </a:extLst>
          </p:cNvPr>
          <p:cNvSpPr txBox="1"/>
          <p:nvPr/>
        </p:nvSpPr>
        <p:spPr>
          <a:xfrm>
            <a:off x="840707" y="4697928"/>
            <a:ext cx="609407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3">
                    <a:lumMod val="75000"/>
                  </a:schemeClr>
                </a:solidFill>
              </a:rPr>
              <a:t>Siderophile (iron liquid)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2"/>
                </a:solidFill>
              </a:rPr>
              <a:t>Chalcophile (sulfide liquid)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4"/>
                </a:solidFill>
              </a:rPr>
              <a:t>Lithophile (silicate liquid)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6"/>
                </a:solidFill>
              </a:rPr>
              <a:t>Atmophile (gas)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AC0D6348-9A85-4D61-9210-5CE37CF0749C}"/>
              </a:ext>
            </a:extLst>
          </p:cNvPr>
          <p:cNvSpPr/>
          <p:nvPr/>
        </p:nvSpPr>
        <p:spPr>
          <a:xfrm rot="13268715">
            <a:off x="2560793" y="4052179"/>
            <a:ext cx="720000" cy="180000"/>
          </a:xfrm>
          <a:prstGeom prst="rightArrow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12C09243-2135-4CEE-AB13-BA6AA78F784A}"/>
              </a:ext>
            </a:extLst>
          </p:cNvPr>
          <p:cNvSpPr/>
          <p:nvPr/>
        </p:nvSpPr>
        <p:spPr>
          <a:xfrm>
            <a:off x="7079342" y="5251207"/>
            <a:ext cx="720000" cy="180000"/>
          </a:xfrm>
          <a:prstGeom prst="rightArrow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EEC173A8-2671-45DD-91F2-B1667C65D405}"/>
              </a:ext>
            </a:extLst>
          </p:cNvPr>
          <p:cNvSpPr/>
          <p:nvPr/>
        </p:nvSpPr>
        <p:spPr>
          <a:xfrm rot="13268715">
            <a:off x="2446421" y="4356822"/>
            <a:ext cx="720000" cy="1800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2B0B8B13-265F-4224-9B41-17A25B565B21}"/>
              </a:ext>
            </a:extLst>
          </p:cNvPr>
          <p:cNvSpPr/>
          <p:nvPr/>
        </p:nvSpPr>
        <p:spPr>
          <a:xfrm>
            <a:off x="7163162" y="5486327"/>
            <a:ext cx="720000" cy="1800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874161F7-A38B-4349-AF99-2F973DEA8109}"/>
              </a:ext>
            </a:extLst>
          </p:cNvPr>
          <p:cNvSpPr/>
          <p:nvPr/>
        </p:nvSpPr>
        <p:spPr>
          <a:xfrm flipH="1">
            <a:off x="9693507" y="2836924"/>
            <a:ext cx="720000" cy="18000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C8480B07-BDDF-44F5-B299-40A62DD8176A}"/>
              </a:ext>
            </a:extLst>
          </p:cNvPr>
          <p:cNvSpPr/>
          <p:nvPr/>
        </p:nvSpPr>
        <p:spPr>
          <a:xfrm>
            <a:off x="6572270" y="3350749"/>
            <a:ext cx="720000" cy="18000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ACB52E16-3ABE-496A-AE0A-647A56ACAB8C}"/>
              </a:ext>
            </a:extLst>
          </p:cNvPr>
          <p:cNvSpPr/>
          <p:nvPr/>
        </p:nvSpPr>
        <p:spPr>
          <a:xfrm>
            <a:off x="6865281" y="4381184"/>
            <a:ext cx="720000" cy="18000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AFB01FBF-A5E3-40E4-8EA5-62D08CEA42B4}"/>
              </a:ext>
            </a:extLst>
          </p:cNvPr>
          <p:cNvSpPr/>
          <p:nvPr/>
        </p:nvSpPr>
        <p:spPr>
          <a:xfrm rot="10800000">
            <a:off x="4497785" y="3086848"/>
            <a:ext cx="720000" cy="18000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B24786B3-18A4-4E69-A2C5-1A1CD35D6BC9}"/>
              </a:ext>
            </a:extLst>
          </p:cNvPr>
          <p:cNvSpPr/>
          <p:nvPr/>
        </p:nvSpPr>
        <p:spPr>
          <a:xfrm rot="10800000">
            <a:off x="4516724" y="2407622"/>
            <a:ext cx="720000" cy="180000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E78C99C6-FDFC-4D1F-910F-ADA6A13714C7}"/>
              </a:ext>
            </a:extLst>
          </p:cNvPr>
          <p:cNvSpPr/>
          <p:nvPr/>
        </p:nvSpPr>
        <p:spPr>
          <a:xfrm>
            <a:off x="6294006" y="2498271"/>
            <a:ext cx="720000" cy="180000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EDC49999-D349-48E8-95C0-E047421E1049}"/>
              </a:ext>
            </a:extLst>
          </p:cNvPr>
          <p:cNvSpPr/>
          <p:nvPr/>
        </p:nvSpPr>
        <p:spPr>
          <a:xfrm rot="10800000" flipH="1">
            <a:off x="890723" y="3086848"/>
            <a:ext cx="720000" cy="18000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17E1CD8-4BB8-4B6B-A558-94EE3869B4AE}"/>
              </a:ext>
            </a:extLst>
          </p:cNvPr>
          <p:cNvSpPr txBox="1"/>
          <p:nvPr/>
        </p:nvSpPr>
        <p:spPr>
          <a:xfrm>
            <a:off x="7475867" y="1497245"/>
            <a:ext cx="20505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Modern Earth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A6A60CB-5BC0-476D-9C3B-F8F6AA0605FF}"/>
              </a:ext>
            </a:extLst>
          </p:cNvPr>
          <p:cNvSpPr txBox="1"/>
          <p:nvPr/>
        </p:nvSpPr>
        <p:spPr>
          <a:xfrm>
            <a:off x="1378817" y="1497245"/>
            <a:ext cx="34788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 err="1"/>
              <a:t>Hadean</a:t>
            </a:r>
            <a:r>
              <a:rPr lang="en-GB" sz="2400" dirty="0"/>
              <a:t> Earth (~4.4 Ga)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79501F45-BAF7-42BC-BD0D-F137835C896E}"/>
              </a:ext>
            </a:extLst>
          </p:cNvPr>
          <p:cNvSpPr/>
          <p:nvPr/>
        </p:nvSpPr>
        <p:spPr>
          <a:xfrm rot="2033430">
            <a:off x="6774911" y="2223840"/>
            <a:ext cx="720000" cy="1800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1E316C-4509-47B8-B68A-3FA8CBC3179C}"/>
              </a:ext>
            </a:extLst>
          </p:cNvPr>
          <p:cNvSpPr txBox="1"/>
          <p:nvPr/>
        </p:nvSpPr>
        <p:spPr>
          <a:xfrm>
            <a:off x="6163870" y="1781236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Ores</a:t>
            </a:r>
          </a:p>
        </p:txBody>
      </p:sp>
    </p:spTree>
    <p:extLst>
      <p:ext uri="{BB962C8B-B14F-4D97-AF65-F5344CB8AC3E}">
        <p14:creationId xmlns:p14="http://schemas.microsoft.com/office/powerpoint/2010/main" val="1944865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 animBg="1"/>
      <p:bldP spid="19" grpId="0" animBg="1"/>
      <p:bldP spid="21" grpId="0" animBg="1"/>
      <p:bldP spid="23" grpId="0" animBg="1"/>
      <p:bldP spid="25" grpId="0" animBg="1"/>
      <p:bldP spid="27" grpId="0" animBg="1"/>
      <p:bldP spid="29" grpId="0" animBg="1"/>
      <p:bldP spid="31" grpId="0" animBg="1"/>
      <p:bldP spid="33" grpId="0" animBg="1"/>
      <p:bldP spid="35" grpId="0" animBg="1"/>
      <p:bldP spid="36" grpId="0"/>
      <p:bldP spid="38" grpId="0"/>
      <p:bldP spid="22" grpId="0" animBg="1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C1A3D18-B3CE-4AF9-9F2C-E6BDFA8BBD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EART26201 | Principles of Geochemistry | Lecture 1</a:t>
            </a:r>
          </a:p>
          <a:p>
            <a:r>
              <a:rPr lang="en-GB" dirty="0"/>
              <a:t>Part 3 | Partition coefficients and Goldschmidt’s rules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60A6A-49C1-4287-9BB8-A85D30829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20D41-60E7-4ACB-9B2B-884861396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1 | Part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614C2-8618-4A1E-A193-645A64469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10</a:t>
            </a:fld>
            <a:endParaRPr lang="en-GB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B6C623F-22E3-4A49-98FE-86CB5E8BB8AE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The geochemist’s periodic table: element partitioning and</a:t>
            </a:r>
          </a:p>
          <a:p>
            <a:r>
              <a:rPr lang="en-GB" dirty="0"/>
              <a:t>chemical differentiation</a:t>
            </a:r>
          </a:p>
        </p:txBody>
      </p:sp>
    </p:spTree>
    <p:extLst>
      <p:ext uri="{BB962C8B-B14F-4D97-AF65-F5344CB8AC3E}">
        <p14:creationId xmlns:p14="http://schemas.microsoft.com/office/powerpoint/2010/main" val="4290739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7016601-E1FB-421A-BD91-2685D8D8A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Partition coefficients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9141D979-F4AF-482E-9445-E34C9986840E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1825625"/>
                <a:ext cx="5486401" cy="4351338"/>
              </a:xfrm>
            </p:spPr>
            <p:txBody>
              <a:bodyPr>
                <a:normAutofit fontScale="92500"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GB" dirty="0"/>
                  <a:t>Equilibrium concentration ratio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GB" dirty="0"/>
                  <a:t> </a:t>
                </a:r>
                <a:r>
                  <a:rPr lang="en-GB" dirty="0">
                    <a:solidFill>
                      <a:schemeClr val="tx1"/>
                    </a:solidFill>
                  </a:rPr>
                  <a:t>(or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) </a:t>
                </a:r>
                <a:r>
                  <a:rPr lang="en-GB" dirty="0"/>
                  <a:t>of the of element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in phases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GB" dirty="0"/>
                  <a:t>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∝−</m:t>
                          </m:r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sup>
                      </m:sSubSup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GB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GB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GB" dirty="0"/>
              </a:p>
              <a:p>
                <a:pPr lvl="1"/>
                <a:r>
                  <a:rPr lang="en-GB" dirty="0"/>
                  <a:t>Usually expressed in terms of weight</a:t>
                </a:r>
              </a:p>
              <a:p>
                <a:pPr lvl="1"/>
                <a:r>
                  <a:rPr lang="en-GB" dirty="0"/>
                  <a:t>Different from diffusion coefficient (also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GB" dirty="0"/>
                  <a:t>!)</a:t>
                </a:r>
              </a:p>
              <a:p>
                <a:pPr>
                  <a:spcAft>
                    <a:spcPts val="1000"/>
                  </a:spcAft>
                </a:pPr>
                <a:r>
                  <a:rPr lang="en-GB" dirty="0"/>
                  <a:t>In magmas,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is expressed as follows: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b="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GB" b="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𝑠𝑜𝑙𝑖𝑑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b="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GB" b="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𝑙𝑖𝑞𝑢𝑖𝑑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GB" dirty="0"/>
              </a:p>
              <a:p>
                <a:pPr lvl="1"/>
                <a:r>
                  <a:rPr lang="en-GB" dirty="0">
                    <a:solidFill>
                      <a:schemeClr val="tx1"/>
                    </a:solidFill>
                  </a:rPr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GB" b="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, element </a:t>
                </a:r>
                <a14:m>
                  <m:oMath xmlns:m="http://schemas.openxmlformats.org/officeDocument/2006/math">
                    <m:r>
                      <a:rPr lang="en-GB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 is </a:t>
                </a:r>
                <a:r>
                  <a:rPr lang="en-GB" i="1" dirty="0">
                    <a:solidFill>
                      <a:schemeClr val="accent1"/>
                    </a:solidFill>
                  </a:rPr>
                  <a:t>incompatible</a:t>
                </a:r>
              </a:p>
              <a:p>
                <a:pPr lvl="1"/>
                <a:r>
                  <a:rPr lang="en-GB" dirty="0">
                    <a:solidFill>
                      <a:schemeClr val="tx1"/>
                    </a:solidFill>
                  </a:rPr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GB" b="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, element </a:t>
                </a:r>
                <a14:m>
                  <m:oMath xmlns:m="http://schemas.openxmlformats.org/officeDocument/2006/math">
                    <m:r>
                      <a:rPr lang="en-GB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 is </a:t>
                </a:r>
                <a:r>
                  <a:rPr lang="en-GB" i="1" dirty="0">
                    <a:solidFill>
                      <a:schemeClr val="accent1"/>
                    </a:solidFill>
                  </a:rPr>
                  <a:t>compatible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9141D979-F4AF-482E-9445-E34C998684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1825625"/>
                <a:ext cx="5486401" cy="4351338"/>
              </a:xfrm>
              <a:blipFill>
                <a:blip r:embed="rId2"/>
                <a:stretch>
                  <a:fillRect l="-1221" t="-1541" r="-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A7EDBC-5F20-4D18-B069-E77D4F95F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100C2-CEA3-406F-A163-87E9F6E68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1 | Part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B62CE-5174-4B6E-8235-E36CD47D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11</a:t>
            </a:fld>
            <a:endParaRPr lang="en-GB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2EC4884F-2E20-4D6E-BDE2-F62DD93D49D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67459" y="2298356"/>
            <a:ext cx="4086281" cy="3405873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F494FED-50CF-4196-88B6-8A2351EEBC3D}"/>
              </a:ext>
            </a:extLst>
          </p:cNvPr>
          <p:cNvSpPr/>
          <p:nvPr/>
        </p:nvSpPr>
        <p:spPr>
          <a:xfrm>
            <a:off x="6324600" y="4114800"/>
            <a:ext cx="4587240" cy="1844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0311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7016601-E1FB-421A-BD91-2685D8D8A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Bulk partition coefficients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9141D979-F4AF-482E-9445-E34C9986840E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1825625"/>
                <a:ext cx="6429320" cy="4351338"/>
              </a:xfrm>
            </p:spPr>
            <p:txBody>
              <a:bodyPr>
                <a:norm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GB" dirty="0"/>
                  <a:t>Magmas often contain multiple solids</a:t>
                </a:r>
              </a:p>
              <a:p>
                <a:pPr>
                  <a:spcAft>
                    <a:spcPts val="1000"/>
                  </a:spcAft>
                </a:pPr>
                <a:r>
                  <a:rPr lang="en-GB" dirty="0"/>
                  <a:t>The bulk partition coefficient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GB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acc>
                      </m:e>
                      <m:sub>
                        <m: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) is the sum of relative contributions of solids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GB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acc>
                        </m:e>
                        <m:sub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p>
                          <m:sSubSup>
                            <m:sSubSupPr>
                              <m:ctrlP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GB" dirty="0"/>
              </a:p>
              <a:p>
                <a:pPr lvl="1"/>
                <a:r>
                  <a:rPr lang="en-GB" dirty="0"/>
                  <a:t>w</a:t>
                </a:r>
                <a:r>
                  <a:rPr lang="en-GB" dirty="0">
                    <a:solidFill>
                      <a:schemeClr val="tx1"/>
                    </a:solidFill>
                  </a:rPr>
                  <a:t>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, is the weight % of solid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,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bSup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 is the partition coefficient of element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 in solid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.</a:t>
                </a:r>
                <a:endParaRPr lang="en-GB" i="1" dirty="0">
                  <a:solidFill>
                    <a:schemeClr val="tx1"/>
                  </a:solidFill>
                </a:endParaRPr>
              </a:p>
              <a:p>
                <a:r>
                  <a:rPr lang="en-GB" dirty="0">
                    <a:solidFill>
                      <a:schemeClr val="tx1"/>
                    </a:solidFill>
                  </a:rPr>
                  <a:t>In a natural basaltic magma: </a:t>
                </a:r>
              </a:p>
              <a:p>
                <a:pPr lvl="1"/>
                <a:r>
                  <a:rPr lang="en-GB" dirty="0"/>
                  <a:t>Liquid – </a:t>
                </a:r>
                <a:r>
                  <a:rPr lang="en-GB" dirty="0">
                    <a:solidFill>
                      <a:schemeClr val="accent1"/>
                    </a:solidFill>
                  </a:rPr>
                  <a:t>basaltic melt (quenched to glass)</a:t>
                </a:r>
              </a:p>
              <a:p>
                <a:pPr lvl="1"/>
                <a:r>
                  <a:rPr lang="en-GB" dirty="0"/>
                  <a:t>S</a:t>
                </a:r>
                <a:r>
                  <a:rPr lang="en-GB" dirty="0">
                    <a:solidFill>
                      <a:schemeClr val="tx1"/>
                    </a:solidFill>
                  </a:rPr>
                  <a:t>olids – </a:t>
                </a:r>
                <a:r>
                  <a:rPr lang="en-GB" dirty="0">
                    <a:solidFill>
                      <a:schemeClr val="accent2"/>
                    </a:solidFill>
                  </a:rPr>
                  <a:t>olivine</a:t>
                </a:r>
                <a:r>
                  <a:rPr lang="en-GB" dirty="0">
                    <a:solidFill>
                      <a:schemeClr val="tx1"/>
                    </a:solidFill>
                  </a:rPr>
                  <a:t>, </a:t>
                </a:r>
                <a:r>
                  <a:rPr lang="en-GB" dirty="0">
                    <a:solidFill>
                      <a:schemeClr val="accent3"/>
                    </a:solidFill>
                  </a:rPr>
                  <a:t>feldspar</a:t>
                </a:r>
                <a:r>
                  <a:rPr lang="en-GB" dirty="0">
                    <a:solidFill>
                      <a:schemeClr val="tx1"/>
                    </a:solidFill>
                  </a:rPr>
                  <a:t> and </a:t>
                </a:r>
                <a:r>
                  <a:rPr lang="en-GB" dirty="0">
                    <a:solidFill>
                      <a:schemeClr val="accent4"/>
                    </a:solidFill>
                  </a:rPr>
                  <a:t>pyroxene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9141D979-F4AF-482E-9445-E34C998684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1825625"/>
                <a:ext cx="6429320" cy="4351338"/>
              </a:xfrm>
              <a:blipFill>
                <a:blip r:embed="rId2"/>
                <a:stretch>
                  <a:fillRect l="-1232" t="-1821" r="-1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A7EDBC-5F20-4D18-B069-E77D4F95F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100C2-CEA3-406F-A163-87E9F6E68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1 | Part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B62CE-5174-4B6E-8235-E36CD47D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12</a:t>
            </a:fld>
            <a:endParaRPr lang="en-GB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2EC4884F-2E20-4D6E-BDE2-F62DD93D49D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43222" y="1805454"/>
            <a:ext cx="3934876" cy="1310390"/>
          </a:xfrm>
        </p:spPr>
      </p:pic>
      <p:pic>
        <p:nvPicPr>
          <p:cNvPr id="3" name="Picture 2" descr="A picture containing food, cake, tree&#10;&#10;Description automatically generated">
            <a:extLst>
              <a:ext uri="{FF2B5EF4-FFF2-40B4-BE49-F238E27FC236}">
                <a16:creationId xmlns:a16="http://schemas.microsoft.com/office/drawing/2014/main" id="{AEA23085-A6DB-4D1B-A1B5-49CAD7E70DB6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3222" y="3225806"/>
            <a:ext cx="3934876" cy="2951157"/>
          </a:xfrm>
          <a:prstGeom prst="rect">
            <a:avLst/>
          </a:prstGeom>
        </p:spPr>
      </p:pic>
      <p:sp>
        <p:nvSpPr>
          <p:cNvPr id="20" name="Arrow: Right 19">
            <a:extLst>
              <a:ext uri="{FF2B5EF4-FFF2-40B4-BE49-F238E27FC236}">
                <a16:creationId xmlns:a16="http://schemas.microsoft.com/office/drawing/2014/main" id="{EAA15931-DCD7-4F05-8562-D49B5AC3D18B}"/>
              </a:ext>
            </a:extLst>
          </p:cNvPr>
          <p:cNvSpPr/>
          <p:nvPr/>
        </p:nvSpPr>
        <p:spPr>
          <a:xfrm>
            <a:off x="9426653" y="4833622"/>
            <a:ext cx="720000" cy="36000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B6591322-6782-489D-ABE0-5761FA1C0AB9}"/>
              </a:ext>
            </a:extLst>
          </p:cNvPr>
          <p:cNvSpPr/>
          <p:nvPr/>
        </p:nvSpPr>
        <p:spPr>
          <a:xfrm flipH="1">
            <a:off x="9786653" y="3519493"/>
            <a:ext cx="720000" cy="360000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04563BEC-4F56-4677-89F1-669F9CA17AC2}"/>
              </a:ext>
            </a:extLst>
          </p:cNvPr>
          <p:cNvSpPr/>
          <p:nvPr/>
        </p:nvSpPr>
        <p:spPr>
          <a:xfrm flipH="1">
            <a:off x="9487613" y="5276325"/>
            <a:ext cx="720000" cy="3600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2"/>
              </a:solidFill>
            </a:endParaRP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4B976DCF-6692-4E20-AE4E-F796AFB7247D}"/>
              </a:ext>
            </a:extLst>
          </p:cNvPr>
          <p:cNvSpPr/>
          <p:nvPr/>
        </p:nvSpPr>
        <p:spPr>
          <a:xfrm flipH="1">
            <a:off x="8950660" y="5566287"/>
            <a:ext cx="720000" cy="360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1610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2" grpId="0" animBg="1"/>
      <p:bldP spid="24" grpId="0" animBg="1"/>
      <p:bldP spid="2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27B0D-EB2E-4FC6-A8DF-844FBC723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Factors affecting trace element partitioning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BE9E0-2B78-477E-9A02-BB16F718D5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550403" cy="4351338"/>
          </a:xfrm>
        </p:spPr>
        <p:txBody>
          <a:bodyPr>
            <a:normAutofit/>
          </a:bodyPr>
          <a:lstStyle/>
          <a:p>
            <a:r>
              <a:rPr lang="en-GB" dirty="0"/>
              <a:t>Ionic radius</a:t>
            </a:r>
          </a:p>
          <a:p>
            <a:pPr lvl="1"/>
            <a:r>
              <a:rPr lang="en-GB" dirty="0"/>
              <a:t>Avoid inducing lattice strain by introducing ions of different sizes</a:t>
            </a:r>
          </a:p>
          <a:p>
            <a:r>
              <a:rPr lang="en-GB" dirty="0"/>
              <a:t>Charge</a:t>
            </a:r>
          </a:p>
          <a:p>
            <a:pPr lvl="1"/>
            <a:r>
              <a:rPr lang="en-GB" dirty="0"/>
              <a:t>Avoid introducing highly charged ions</a:t>
            </a:r>
          </a:p>
          <a:p>
            <a:pPr lvl="1"/>
            <a:r>
              <a:rPr lang="en-GB" dirty="0"/>
              <a:t>Avoid introducing charge imbalance</a:t>
            </a:r>
          </a:p>
          <a:p>
            <a:r>
              <a:rPr lang="en-GB" dirty="0"/>
              <a:t>General rules of partitioning</a:t>
            </a:r>
          </a:p>
          <a:p>
            <a:pPr lvl="1"/>
            <a:r>
              <a:rPr lang="en-GB" dirty="0"/>
              <a:t>Large cations are typically incompatible</a:t>
            </a:r>
          </a:p>
          <a:p>
            <a:pPr lvl="1"/>
            <a:r>
              <a:rPr lang="en-GB" dirty="0"/>
              <a:t>Small divalent cations are often more compatible than small univalent cations</a:t>
            </a:r>
          </a:p>
          <a:p>
            <a:pPr lvl="1"/>
            <a:r>
              <a:rPr lang="en-GB" dirty="0"/>
              <a:t>Ionic radius more important than charge</a:t>
            </a:r>
          </a:p>
          <a:p>
            <a:pPr lvl="1"/>
            <a:endParaRPr lang="en-GB" dirty="0"/>
          </a:p>
          <a:p>
            <a:endParaRPr lang="en-GB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3A69521-ADE5-4B38-B1D1-0C04CCF54BA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88603" y="1840257"/>
            <a:ext cx="4748794" cy="4322073"/>
          </a:xfr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4208DD-4A03-45CE-A1FC-409308F5F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EBFCF7-FF5E-47AD-959E-AA1E3E110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1 | Part 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1ED5B9-E164-4C9B-A7E0-F54E5D26B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13</a:t>
            </a:fld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FC3352-C924-4D31-8946-004B973F8584}"/>
              </a:ext>
            </a:extLst>
          </p:cNvPr>
          <p:cNvSpPr txBox="1"/>
          <p:nvPr/>
        </p:nvSpPr>
        <p:spPr>
          <a:xfrm>
            <a:off x="9241319" y="6120841"/>
            <a:ext cx="17256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accent3"/>
                </a:solidFill>
              </a:rPr>
              <a:t>Blundy &amp; Wood (2003)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7F63B4-E460-4BFC-A444-78AF07E037AA}"/>
              </a:ext>
            </a:extLst>
          </p:cNvPr>
          <p:cNvSpPr txBox="1"/>
          <p:nvPr/>
        </p:nvSpPr>
        <p:spPr>
          <a:xfrm>
            <a:off x="8351520" y="1943239"/>
            <a:ext cx="24536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000" i="1" dirty="0">
                <a:solidFill>
                  <a:schemeClr val="accent1"/>
                </a:solidFill>
              </a:rPr>
              <a:t>pyroxene–liquid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5E0581-61B4-4FD4-B985-7C6332765D92}"/>
              </a:ext>
            </a:extLst>
          </p:cNvPr>
          <p:cNvSpPr txBox="1"/>
          <p:nvPr/>
        </p:nvSpPr>
        <p:spPr>
          <a:xfrm>
            <a:off x="8962989" y="2362187"/>
            <a:ext cx="1842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dirty="0">
                <a:solidFill>
                  <a:schemeClr val="accent3"/>
                </a:solidFill>
              </a:rPr>
              <a:t>Ca(</a:t>
            </a:r>
            <a:r>
              <a:rPr lang="en-GB" dirty="0" err="1">
                <a:solidFill>
                  <a:schemeClr val="accent3"/>
                </a:solidFill>
              </a:rPr>
              <a:t>Mg,Fe</a:t>
            </a:r>
            <a:r>
              <a:rPr lang="en-GB" dirty="0">
                <a:solidFill>
                  <a:schemeClr val="accent3"/>
                </a:solidFill>
              </a:rPr>
              <a:t>)Si</a:t>
            </a:r>
            <a:r>
              <a:rPr lang="en-GB" baseline="-25000" dirty="0">
                <a:solidFill>
                  <a:schemeClr val="accent3"/>
                </a:solidFill>
              </a:rPr>
              <a:t>2</a:t>
            </a:r>
            <a:r>
              <a:rPr lang="en-GB" dirty="0">
                <a:solidFill>
                  <a:schemeClr val="accent3"/>
                </a:solidFill>
              </a:rPr>
              <a:t>O</a:t>
            </a:r>
            <a:r>
              <a:rPr lang="en-GB" baseline="-25000" dirty="0">
                <a:solidFill>
                  <a:schemeClr val="accent3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34825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0" grpId="0"/>
      <p:bldP spid="4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A4B26-1BD0-4674-B4A5-927DB11BA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Goldschmidt’s Rules for element substitution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EA87BC9-CAA9-4541-9641-296B6BC55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001000" cy="4351338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GB" dirty="0"/>
              <a:t>Ions of one element can extensively substitute for those of another if their radii differ by less than 15%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If two ions have similar radii and the same charge, the smaller ion is preferentially incorporated into the </a:t>
            </a:r>
            <a:r>
              <a:rPr lang="en-GB" i="1" dirty="0">
                <a:solidFill>
                  <a:schemeClr val="accent1"/>
                </a:solidFill>
              </a:rPr>
              <a:t>solid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F9E625-BFCC-4466-B688-0EA62C64D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6D2E0C-7373-4841-A02E-6EBBBF4D2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1 | Part 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54E238-07AF-4890-96D4-C2A9E6FC9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14</a:t>
            </a:fld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13A6CC-B9BD-4042-BE4F-A99573E189B9}"/>
              </a:ext>
            </a:extLst>
          </p:cNvPr>
          <p:cNvSpPr txBox="1"/>
          <p:nvPr/>
        </p:nvSpPr>
        <p:spPr>
          <a:xfrm>
            <a:off x="9059333" y="1777603"/>
            <a:ext cx="2294467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solidFill>
                  <a:schemeClr val="accent1"/>
                </a:solidFill>
              </a:rPr>
              <a:t>K</a:t>
            </a:r>
            <a:r>
              <a:rPr lang="en-GB" sz="2000" baseline="30000" dirty="0">
                <a:solidFill>
                  <a:schemeClr val="accent1"/>
                </a:solidFill>
              </a:rPr>
              <a:t>+	</a:t>
            </a:r>
            <a:r>
              <a:rPr lang="en-GB" sz="2000" dirty="0">
                <a:solidFill>
                  <a:schemeClr val="accent1"/>
                </a:solidFill>
              </a:rPr>
              <a:t>1.33 Å</a:t>
            </a:r>
          </a:p>
          <a:p>
            <a:pPr algn="ctr"/>
            <a:r>
              <a:rPr lang="en-GB" sz="2000" dirty="0" err="1">
                <a:solidFill>
                  <a:schemeClr val="accent1"/>
                </a:solidFill>
              </a:rPr>
              <a:t>Rb</a:t>
            </a:r>
            <a:r>
              <a:rPr lang="en-GB" sz="2000" baseline="30000" dirty="0">
                <a:solidFill>
                  <a:schemeClr val="accent1"/>
                </a:solidFill>
              </a:rPr>
              <a:t>+</a:t>
            </a:r>
            <a:r>
              <a:rPr lang="en-GB" sz="2000" dirty="0">
                <a:solidFill>
                  <a:schemeClr val="accent1"/>
                </a:solidFill>
              </a:rPr>
              <a:t>	1.47 Å</a:t>
            </a:r>
          </a:p>
          <a:p>
            <a:pPr algn="ctr"/>
            <a:r>
              <a:rPr lang="en-GB" sz="2000" dirty="0">
                <a:solidFill>
                  <a:schemeClr val="accent3"/>
                </a:solidFill>
              </a:rPr>
              <a:t>Mg</a:t>
            </a:r>
            <a:r>
              <a:rPr lang="en-GB" sz="2000" baseline="30000" dirty="0">
                <a:solidFill>
                  <a:schemeClr val="accent3"/>
                </a:solidFill>
              </a:rPr>
              <a:t>2+	</a:t>
            </a:r>
            <a:r>
              <a:rPr lang="en-GB" sz="2000" dirty="0">
                <a:solidFill>
                  <a:schemeClr val="accent3"/>
                </a:solidFill>
              </a:rPr>
              <a:t>0.66 Å</a:t>
            </a:r>
          </a:p>
          <a:p>
            <a:pPr algn="ctr"/>
            <a:r>
              <a:rPr lang="en-GB" sz="2000" dirty="0">
                <a:solidFill>
                  <a:schemeClr val="accent3"/>
                </a:solidFill>
              </a:rPr>
              <a:t>Ni</a:t>
            </a:r>
            <a:r>
              <a:rPr lang="en-GB" sz="2000" baseline="30000" dirty="0">
                <a:solidFill>
                  <a:schemeClr val="accent3"/>
                </a:solidFill>
              </a:rPr>
              <a:t>2+</a:t>
            </a:r>
            <a:r>
              <a:rPr lang="en-GB" sz="2000" dirty="0">
                <a:solidFill>
                  <a:schemeClr val="accent3"/>
                </a:solidFill>
              </a:rPr>
              <a:t>	0.69 Å</a:t>
            </a:r>
            <a:endParaRPr lang="en-GB" sz="2000" baseline="30000" dirty="0">
              <a:solidFill>
                <a:schemeClr val="accent3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520977-52A7-4516-82FE-F323A94D43C9}"/>
              </a:ext>
            </a:extLst>
          </p:cNvPr>
          <p:cNvSpPr txBox="1"/>
          <p:nvPr/>
        </p:nvSpPr>
        <p:spPr>
          <a:xfrm>
            <a:off x="1330960" y="5279563"/>
            <a:ext cx="4582610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b">
            <a:spAutoFit/>
          </a:bodyPr>
          <a:lstStyle/>
          <a:p>
            <a:r>
              <a:rPr lang="en-GB" sz="2000" dirty="0">
                <a:solidFill>
                  <a:schemeClr val="accent1"/>
                </a:solidFill>
              </a:rPr>
              <a:t>Liquid:	    K</a:t>
            </a:r>
            <a:r>
              <a:rPr lang="en-GB" sz="2000" baseline="30000" dirty="0">
                <a:solidFill>
                  <a:schemeClr val="accent1"/>
                </a:solidFill>
              </a:rPr>
              <a:t>+</a:t>
            </a:r>
            <a:r>
              <a:rPr lang="en-GB" sz="2000" dirty="0">
                <a:solidFill>
                  <a:schemeClr val="accent1"/>
                </a:solidFill>
              </a:rPr>
              <a:t>     	1.33 Å,	    Y</a:t>
            </a:r>
            <a:r>
              <a:rPr lang="en-GB" sz="2000" baseline="30000" dirty="0">
                <a:solidFill>
                  <a:schemeClr val="accent1"/>
                </a:solidFill>
              </a:rPr>
              <a:t>3+	</a:t>
            </a:r>
            <a:r>
              <a:rPr lang="en-GB" sz="2000" dirty="0">
                <a:solidFill>
                  <a:schemeClr val="accent1"/>
                </a:solidFill>
              </a:rPr>
              <a:t>0.90 Å</a:t>
            </a:r>
          </a:p>
          <a:p>
            <a:r>
              <a:rPr lang="en-GB" sz="2000" dirty="0">
                <a:solidFill>
                  <a:schemeClr val="accent3"/>
                </a:solidFill>
              </a:rPr>
              <a:t>Solid:	    Ba</a:t>
            </a:r>
            <a:r>
              <a:rPr lang="en-GB" sz="2000" baseline="30000" dirty="0">
                <a:solidFill>
                  <a:schemeClr val="accent3"/>
                </a:solidFill>
              </a:rPr>
              <a:t>2+  	</a:t>
            </a:r>
            <a:r>
              <a:rPr lang="en-GB" sz="2000" dirty="0">
                <a:solidFill>
                  <a:schemeClr val="accent3"/>
                </a:solidFill>
              </a:rPr>
              <a:t>1.47 Å,	    U</a:t>
            </a:r>
            <a:r>
              <a:rPr lang="en-GB" sz="2000" baseline="30000" dirty="0">
                <a:solidFill>
                  <a:schemeClr val="accent3"/>
                </a:solidFill>
              </a:rPr>
              <a:t>4+</a:t>
            </a:r>
            <a:r>
              <a:rPr lang="en-GB" sz="2000" dirty="0">
                <a:solidFill>
                  <a:schemeClr val="accent3"/>
                </a:solidFill>
              </a:rPr>
              <a:t>	0.94 Å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964F0D0-1CC0-4735-96F5-FB0247561C4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96528" y="3469944"/>
            <a:ext cx="2655736" cy="241709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6B9AC1C-185A-4544-AAF1-CB7C4AD6F121}"/>
              </a:ext>
            </a:extLst>
          </p:cNvPr>
          <p:cNvSpPr txBox="1"/>
          <p:nvPr/>
        </p:nvSpPr>
        <p:spPr>
          <a:xfrm>
            <a:off x="6377536" y="4253694"/>
            <a:ext cx="192467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accent1"/>
                </a:solidFill>
              </a:rPr>
              <a:t>Mg</a:t>
            </a:r>
            <a:r>
              <a:rPr lang="en-GB" sz="2000" baseline="30000" dirty="0">
                <a:solidFill>
                  <a:schemeClr val="accent1"/>
                </a:solidFill>
              </a:rPr>
              <a:t>2+	</a:t>
            </a:r>
            <a:r>
              <a:rPr lang="en-GB" sz="2000" dirty="0">
                <a:solidFill>
                  <a:schemeClr val="accent1"/>
                </a:solidFill>
              </a:rPr>
              <a:t>0.66 Å</a:t>
            </a:r>
          </a:p>
          <a:p>
            <a:pPr algn="ctr"/>
            <a:r>
              <a:rPr lang="en-GB" sz="2000" dirty="0">
                <a:solidFill>
                  <a:schemeClr val="bg2"/>
                </a:solidFill>
              </a:rPr>
              <a:t>Fe</a:t>
            </a:r>
            <a:r>
              <a:rPr lang="en-GB" sz="2000" baseline="30000" dirty="0">
                <a:solidFill>
                  <a:schemeClr val="bg2"/>
                </a:solidFill>
              </a:rPr>
              <a:t>2+</a:t>
            </a:r>
            <a:r>
              <a:rPr lang="en-GB" sz="2000" dirty="0">
                <a:solidFill>
                  <a:schemeClr val="bg2"/>
                </a:solidFill>
              </a:rPr>
              <a:t>	0.74 Å</a:t>
            </a:r>
            <a:endParaRPr lang="en-GB" sz="2000" baseline="30000" dirty="0">
              <a:solidFill>
                <a:schemeClr val="bg2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02AF99-BFFD-4ACB-B2EA-46B587FD57DB}"/>
              </a:ext>
            </a:extLst>
          </p:cNvPr>
          <p:cNvSpPr txBox="1"/>
          <p:nvPr/>
        </p:nvSpPr>
        <p:spPr>
          <a:xfrm>
            <a:off x="838200" y="3392749"/>
            <a:ext cx="514591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GB" sz="2400" dirty="0"/>
              <a:t>If two ions have similar radii but different charges, the ion with the higher charge is preferentially incorporated into the </a:t>
            </a:r>
            <a:r>
              <a:rPr lang="en-GB" sz="2400" i="1" dirty="0">
                <a:solidFill>
                  <a:schemeClr val="accent1"/>
                </a:solidFill>
              </a:rPr>
              <a:t>solid</a:t>
            </a:r>
          </a:p>
          <a:p>
            <a:endParaRPr lang="en-GB" sz="2400" dirty="0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FBCE52F0-AA70-4077-92AF-26B1502A6336}"/>
              </a:ext>
            </a:extLst>
          </p:cNvPr>
          <p:cNvSpPr/>
          <p:nvPr/>
        </p:nvSpPr>
        <p:spPr>
          <a:xfrm rot="16200000">
            <a:off x="10577423" y="4368227"/>
            <a:ext cx="720000" cy="180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85C8C8F6-2DD5-4E7B-BD6B-6442BEB1F885}"/>
              </a:ext>
            </a:extLst>
          </p:cNvPr>
          <p:cNvSpPr/>
          <p:nvPr/>
        </p:nvSpPr>
        <p:spPr>
          <a:xfrm rot="5400000">
            <a:off x="8863519" y="4523694"/>
            <a:ext cx="720000" cy="1800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2641F9-7B55-486D-8A6A-1B659DD554FF}"/>
              </a:ext>
            </a:extLst>
          </p:cNvPr>
          <p:cNvSpPr/>
          <p:nvPr/>
        </p:nvSpPr>
        <p:spPr>
          <a:xfrm>
            <a:off x="6207888" y="3428999"/>
            <a:ext cx="5145912" cy="25584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3436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6" grpId="0"/>
      <p:bldP spid="17" grpId="0"/>
      <p:bldP spid="18" grpId="0" animBg="1"/>
      <p:bldP spid="20" grpId="0" animBg="1"/>
      <p:bldP spid="2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8408B-EF45-4D0E-9B98-4F649D66B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Goldschmidt’s Rules </a:t>
            </a:r>
            <a:r>
              <a:rPr lang="en-GB" dirty="0"/>
              <a:t>applied to igneous minerals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9BEDC5E-7AE1-4FFF-AD60-8AC789448A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233160" cy="4351338"/>
          </a:xfrm>
        </p:spPr>
        <p:txBody>
          <a:bodyPr/>
          <a:lstStyle/>
          <a:p>
            <a:r>
              <a:rPr lang="en-GB" dirty="0"/>
              <a:t>Anorthite (Ca-rich plagioclase): CaAl</a:t>
            </a:r>
            <a:r>
              <a:rPr lang="en-GB" baseline="-25000" dirty="0"/>
              <a:t>2</a:t>
            </a:r>
            <a:r>
              <a:rPr lang="en-GB" dirty="0"/>
              <a:t>Si</a:t>
            </a:r>
            <a:r>
              <a:rPr lang="en-GB" baseline="-25000" dirty="0"/>
              <a:t>2</a:t>
            </a:r>
            <a:r>
              <a:rPr lang="en-GB" dirty="0"/>
              <a:t>O</a:t>
            </a:r>
            <a:r>
              <a:rPr lang="en-GB" baseline="-25000" dirty="0"/>
              <a:t>8</a:t>
            </a:r>
          </a:p>
          <a:p>
            <a:pPr lvl="1"/>
            <a:r>
              <a:rPr lang="en-GB" dirty="0"/>
              <a:t>Eu</a:t>
            </a:r>
            <a:r>
              <a:rPr lang="en-GB" baseline="30000" dirty="0"/>
              <a:t>2+</a:t>
            </a:r>
            <a:r>
              <a:rPr lang="en-GB" dirty="0"/>
              <a:t> and Sr</a:t>
            </a:r>
            <a:r>
              <a:rPr lang="en-GB" baseline="30000" dirty="0"/>
              <a:t>2+</a:t>
            </a:r>
            <a:r>
              <a:rPr lang="en-GB" dirty="0"/>
              <a:t> substitute for Ca</a:t>
            </a:r>
            <a:r>
              <a:rPr lang="en-GB" baseline="30000" dirty="0"/>
              <a:t>2+</a:t>
            </a:r>
            <a:r>
              <a:rPr lang="en-GB" dirty="0"/>
              <a:t> in anorthite</a:t>
            </a:r>
            <a:endParaRPr lang="en-GB" baseline="30000" dirty="0"/>
          </a:p>
          <a:p>
            <a:pPr lvl="1"/>
            <a:endParaRPr lang="en-GB" baseline="30000" dirty="0"/>
          </a:p>
          <a:p>
            <a:pPr lvl="1"/>
            <a:endParaRPr lang="en-GB" baseline="30000" dirty="0"/>
          </a:p>
          <a:p>
            <a:pPr lvl="1"/>
            <a:endParaRPr lang="en-GB" baseline="30000" dirty="0"/>
          </a:p>
          <a:p>
            <a:pPr lvl="1"/>
            <a:endParaRPr lang="en-GB" baseline="30000" dirty="0"/>
          </a:p>
          <a:p>
            <a:pPr lvl="1"/>
            <a:endParaRPr lang="en-GB" baseline="30000" dirty="0"/>
          </a:p>
          <a:p>
            <a:pPr marL="457200" lvl="1" indent="0">
              <a:buNone/>
            </a:pPr>
            <a:endParaRPr lang="en-GB" baseline="30000" dirty="0"/>
          </a:p>
          <a:p>
            <a:r>
              <a:rPr lang="en-GB" dirty="0"/>
              <a:t>Olivine: (</a:t>
            </a:r>
            <a:r>
              <a:rPr lang="en-GB" dirty="0" err="1"/>
              <a:t>Mg,Fe</a:t>
            </a:r>
            <a:r>
              <a:rPr lang="en-GB" dirty="0"/>
              <a:t>)</a:t>
            </a:r>
            <a:r>
              <a:rPr lang="en-GB" baseline="-25000" dirty="0"/>
              <a:t>2</a:t>
            </a:r>
            <a:r>
              <a:rPr lang="en-GB" dirty="0"/>
              <a:t>SiO</a:t>
            </a:r>
            <a:r>
              <a:rPr lang="en-GB" baseline="-25000" dirty="0"/>
              <a:t>4</a:t>
            </a:r>
          </a:p>
          <a:p>
            <a:pPr lvl="1"/>
            <a:r>
              <a:rPr lang="en-GB" dirty="0"/>
              <a:t>Ni</a:t>
            </a:r>
            <a:r>
              <a:rPr lang="en-GB" baseline="30000" dirty="0"/>
              <a:t>2+</a:t>
            </a:r>
            <a:r>
              <a:rPr lang="en-GB" dirty="0"/>
              <a:t> and Co</a:t>
            </a:r>
            <a:r>
              <a:rPr lang="en-GB" baseline="30000" dirty="0"/>
              <a:t>2+</a:t>
            </a:r>
            <a:r>
              <a:rPr lang="en-GB" dirty="0"/>
              <a:t> substitute for Mg</a:t>
            </a:r>
            <a:r>
              <a:rPr lang="en-GB" baseline="30000" dirty="0"/>
              <a:t>2+</a:t>
            </a:r>
            <a:r>
              <a:rPr lang="en-GB" dirty="0"/>
              <a:t> and Fe</a:t>
            </a:r>
            <a:r>
              <a:rPr lang="en-GB" baseline="30000" dirty="0"/>
              <a:t>2+</a:t>
            </a:r>
          </a:p>
        </p:txBody>
      </p:sp>
      <p:pic>
        <p:nvPicPr>
          <p:cNvPr id="14" name="Content Placeholder 13" descr="A picture containing indoor, table, photo, baby&#10;&#10;Description automatically generated">
            <a:extLst>
              <a:ext uri="{FF2B5EF4-FFF2-40B4-BE49-F238E27FC236}">
                <a16:creationId xmlns:a16="http://schemas.microsoft.com/office/drawing/2014/main" id="{A899E9CB-D7DF-476A-9994-BFBBB2B2B8E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296" y="1690688"/>
            <a:ext cx="3505504" cy="2255715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8D336-B765-475D-A56C-566F07938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11CBC-F4B9-4276-8DDF-E69EDDB68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3 | Part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503A8-C97E-40E8-B34D-2C36E27B5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15</a:t>
            </a:fld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58B51-CF05-417A-ACE1-AA7129071C2C}"/>
              </a:ext>
            </a:extLst>
          </p:cNvPr>
          <p:cNvSpPr txBox="1"/>
          <p:nvPr/>
        </p:nvSpPr>
        <p:spPr>
          <a:xfrm>
            <a:off x="2563311" y="2523966"/>
            <a:ext cx="203617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solidFill>
                  <a:schemeClr val="accent3"/>
                </a:solidFill>
              </a:rPr>
              <a:t>Na</a:t>
            </a:r>
            <a:r>
              <a:rPr lang="en-GB" sz="1800" baseline="30000" dirty="0">
                <a:solidFill>
                  <a:schemeClr val="accent3"/>
                </a:solidFill>
              </a:rPr>
              <a:t>+	</a:t>
            </a:r>
            <a:r>
              <a:rPr lang="en-GB" sz="1800" dirty="0">
                <a:solidFill>
                  <a:schemeClr val="accent3"/>
                </a:solidFill>
              </a:rPr>
              <a:t>1.40 Å</a:t>
            </a:r>
          </a:p>
          <a:p>
            <a:r>
              <a:rPr lang="en-GB" sz="1800" dirty="0">
                <a:solidFill>
                  <a:schemeClr val="accent1"/>
                </a:solidFill>
              </a:rPr>
              <a:t>Ca</a:t>
            </a:r>
            <a:r>
              <a:rPr lang="en-GB" sz="1800" baseline="30000" dirty="0">
                <a:solidFill>
                  <a:schemeClr val="accent1"/>
                </a:solidFill>
              </a:rPr>
              <a:t>2+	</a:t>
            </a:r>
            <a:r>
              <a:rPr lang="en-GB" sz="1800" dirty="0">
                <a:solidFill>
                  <a:schemeClr val="accent1"/>
                </a:solidFill>
              </a:rPr>
              <a:t>1.26 Å	</a:t>
            </a:r>
          </a:p>
          <a:p>
            <a:r>
              <a:rPr lang="en-GB" sz="1800" dirty="0">
                <a:solidFill>
                  <a:schemeClr val="accent4"/>
                </a:solidFill>
              </a:rPr>
              <a:t>Sr</a:t>
            </a:r>
            <a:r>
              <a:rPr lang="en-GB" sz="1800" baseline="30000" dirty="0">
                <a:solidFill>
                  <a:schemeClr val="accent4"/>
                </a:solidFill>
              </a:rPr>
              <a:t>2+	</a:t>
            </a:r>
            <a:r>
              <a:rPr lang="en-GB" sz="1800" dirty="0">
                <a:solidFill>
                  <a:schemeClr val="accent4"/>
                </a:solidFill>
              </a:rPr>
              <a:t>1.33 Å </a:t>
            </a:r>
          </a:p>
          <a:p>
            <a:r>
              <a:rPr lang="en-GB" sz="1800" dirty="0">
                <a:solidFill>
                  <a:schemeClr val="accent4"/>
                </a:solidFill>
              </a:rPr>
              <a:t>Eu</a:t>
            </a:r>
            <a:r>
              <a:rPr lang="en-GB" sz="1800" baseline="30000" dirty="0">
                <a:solidFill>
                  <a:schemeClr val="accent4"/>
                </a:solidFill>
              </a:rPr>
              <a:t>2+	</a:t>
            </a:r>
            <a:r>
              <a:rPr lang="en-GB" sz="1800" dirty="0">
                <a:solidFill>
                  <a:schemeClr val="accent4"/>
                </a:solidFill>
              </a:rPr>
              <a:t>1.33 Å </a:t>
            </a:r>
            <a:endParaRPr lang="en-GB" dirty="0">
              <a:solidFill>
                <a:schemeClr val="accent4"/>
              </a:solidFill>
            </a:endParaRPr>
          </a:p>
          <a:p>
            <a:r>
              <a:rPr lang="en-GB" sz="1800" dirty="0">
                <a:solidFill>
                  <a:schemeClr val="accent3"/>
                </a:solidFill>
              </a:rPr>
              <a:t>Ba</a:t>
            </a:r>
            <a:r>
              <a:rPr lang="en-GB" sz="1800" baseline="30000" dirty="0">
                <a:solidFill>
                  <a:schemeClr val="accent3"/>
                </a:solidFill>
              </a:rPr>
              <a:t>2+	</a:t>
            </a:r>
            <a:r>
              <a:rPr lang="en-GB" sz="1800" dirty="0">
                <a:solidFill>
                  <a:schemeClr val="accent3"/>
                </a:solidFill>
              </a:rPr>
              <a:t>1.55 Å</a:t>
            </a:r>
            <a:endParaRPr lang="en-GB" sz="1800" baseline="30000" dirty="0">
              <a:solidFill>
                <a:schemeClr val="accent3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E37202-14EC-40FD-9126-E9E075BFF0F6}"/>
              </a:ext>
            </a:extLst>
          </p:cNvPr>
          <p:cNvSpPr txBox="1"/>
          <p:nvPr/>
        </p:nvSpPr>
        <p:spPr>
          <a:xfrm>
            <a:off x="2563311" y="4873466"/>
            <a:ext cx="203617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solidFill>
                  <a:schemeClr val="accent1"/>
                </a:solidFill>
              </a:rPr>
              <a:t>Mg</a:t>
            </a:r>
            <a:r>
              <a:rPr lang="en-GB" sz="1800" baseline="30000" dirty="0">
                <a:solidFill>
                  <a:schemeClr val="accent1"/>
                </a:solidFill>
              </a:rPr>
              <a:t>2+ 	</a:t>
            </a:r>
            <a:r>
              <a:rPr lang="en-GB" sz="1800" dirty="0">
                <a:solidFill>
                  <a:schemeClr val="accent1"/>
                </a:solidFill>
              </a:rPr>
              <a:t>0.66 Å</a:t>
            </a:r>
          </a:p>
          <a:p>
            <a:r>
              <a:rPr lang="en-GB" sz="1800" dirty="0">
                <a:solidFill>
                  <a:schemeClr val="accent1"/>
                </a:solidFill>
              </a:rPr>
              <a:t>Fe</a:t>
            </a:r>
            <a:r>
              <a:rPr lang="en-GB" sz="1800" baseline="30000" dirty="0">
                <a:solidFill>
                  <a:schemeClr val="accent1"/>
                </a:solidFill>
              </a:rPr>
              <a:t>2+	</a:t>
            </a:r>
            <a:r>
              <a:rPr lang="en-GB" sz="1800" dirty="0">
                <a:solidFill>
                  <a:schemeClr val="accent1"/>
                </a:solidFill>
              </a:rPr>
              <a:t>0.74 Å	</a:t>
            </a:r>
          </a:p>
          <a:p>
            <a:r>
              <a:rPr lang="en-GB" dirty="0">
                <a:solidFill>
                  <a:schemeClr val="accent4"/>
                </a:solidFill>
              </a:rPr>
              <a:t>Ni</a:t>
            </a:r>
            <a:r>
              <a:rPr lang="en-GB" sz="1800" baseline="30000" dirty="0">
                <a:solidFill>
                  <a:schemeClr val="accent4"/>
                </a:solidFill>
              </a:rPr>
              <a:t>2+	</a:t>
            </a:r>
            <a:r>
              <a:rPr lang="en-GB" sz="1800" dirty="0">
                <a:solidFill>
                  <a:schemeClr val="accent4"/>
                </a:solidFill>
              </a:rPr>
              <a:t>0.69 Å </a:t>
            </a:r>
          </a:p>
          <a:p>
            <a:r>
              <a:rPr lang="en-GB" sz="1800" dirty="0">
                <a:solidFill>
                  <a:schemeClr val="accent4"/>
                </a:solidFill>
              </a:rPr>
              <a:t>Co</a:t>
            </a:r>
            <a:r>
              <a:rPr lang="en-GB" sz="1800" baseline="30000" dirty="0">
                <a:solidFill>
                  <a:schemeClr val="accent4"/>
                </a:solidFill>
              </a:rPr>
              <a:t>2+	</a:t>
            </a:r>
            <a:r>
              <a:rPr lang="en-GB" sz="1800" dirty="0">
                <a:solidFill>
                  <a:schemeClr val="accent4"/>
                </a:solidFill>
              </a:rPr>
              <a:t>0.75 Å </a:t>
            </a:r>
            <a:endParaRPr lang="en-GB" dirty="0">
              <a:solidFill>
                <a:schemeClr val="accent4"/>
              </a:solidFill>
            </a:endParaRPr>
          </a:p>
          <a:p>
            <a:r>
              <a:rPr lang="en-GB" sz="1800" dirty="0">
                <a:solidFill>
                  <a:schemeClr val="accent3"/>
                </a:solidFill>
              </a:rPr>
              <a:t>Ca</a:t>
            </a:r>
            <a:r>
              <a:rPr lang="en-GB" sz="1800" baseline="30000" dirty="0">
                <a:solidFill>
                  <a:schemeClr val="accent3"/>
                </a:solidFill>
              </a:rPr>
              <a:t>2+	</a:t>
            </a:r>
            <a:r>
              <a:rPr lang="en-GB" sz="1800" dirty="0">
                <a:solidFill>
                  <a:schemeClr val="accent3"/>
                </a:solidFill>
              </a:rPr>
              <a:t>1.26 Å</a:t>
            </a:r>
            <a:endParaRPr lang="en-GB" sz="1800" baseline="30000" dirty="0">
              <a:solidFill>
                <a:schemeClr val="accent3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72145A8-74C3-40D8-AD35-97AC0A304E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295" y="4006987"/>
            <a:ext cx="3505504" cy="211892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32688B2-C4F6-48FB-8F33-8DE6546C6259}"/>
              </a:ext>
            </a:extLst>
          </p:cNvPr>
          <p:cNvSpPr txBox="1"/>
          <p:nvPr/>
        </p:nvSpPr>
        <p:spPr>
          <a:xfrm>
            <a:off x="5754552" y="3226434"/>
            <a:ext cx="14766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SiO</a:t>
            </a:r>
            <a:r>
              <a:rPr lang="en-GB" baseline="-25000" dirty="0"/>
              <a:t>4</a:t>
            </a:r>
            <a:r>
              <a:rPr lang="en-GB" dirty="0"/>
              <a:t> (+AlO</a:t>
            </a:r>
            <a:r>
              <a:rPr lang="en-GB" baseline="-25000" dirty="0"/>
              <a:t>4</a:t>
            </a:r>
            <a:r>
              <a:rPr lang="en-GB" dirty="0"/>
              <a:t>)</a:t>
            </a:r>
          </a:p>
          <a:p>
            <a:pPr algn="ctr"/>
            <a:r>
              <a:rPr lang="en-GB" dirty="0"/>
              <a:t>tetrahedra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6708226-FD0A-4066-A93D-59C58D08161F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7231238" y="3124200"/>
            <a:ext cx="1135522" cy="4254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7EA859C-38C8-43D2-8D60-795F6108D9BF}"/>
              </a:ext>
            </a:extLst>
          </p:cNvPr>
          <p:cNvSpPr txBox="1"/>
          <p:nvPr/>
        </p:nvSpPr>
        <p:spPr>
          <a:xfrm>
            <a:off x="6009430" y="2687558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Cations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50E9D13-ACF8-4D1F-8ADC-C0EE6A61E7A2}"/>
              </a:ext>
            </a:extLst>
          </p:cNvPr>
          <p:cNvCxnSpPr>
            <a:cxnSpLocks/>
            <a:stCxn id="26" idx="3"/>
          </p:cNvCxnSpPr>
          <p:nvPr/>
        </p:nvCxnSpPr>
        <p:spPr>
          <a:xfrm flipV="1">
            <a:off x="6976361" y="2468592"/>
            <a:ext cx="1017019" cy="4036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80EB8911-E6B0-44F9-B22B-16C2EEC140B7}"/>
              </a:ext>
            </a:extLst>
          </p:cNvPr>
          <p:cNvSpPr txBox="1"/>
          <p:nvPr/>
        </p:nvSpPr>
        <p:spPr>
          <a:xfrm>
            <a:off x="6009430" y="4923633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Cations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8BAA811-B63E-470D-9632-227F0B9B5548}"/>
              </a:ext>
            </a:extLst>
          </p:cNvPr>
          <p:cNvSpPr txBox="1"/>
          <p:nvPr/>
        </p:nvSpPr>
        <p:spPr>
          <a:xfrm>
            <a:off x="5607877" y="5466419"/>
            <a:ext cx="1770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SiO</a:t>
            </a:r>
            <a:r>
              <a:rPr lang="en-GB" baseline="-25000" dirty="0"/>
              <a:t>4</a:t>
            </a:r>
            <a:r>
              <a:rPr lang="en-GB" dirty="0"/>
              <a:t> tetrahedra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50757AE-AC85-4680-8703-E2DE845EBC43}"/>
              </a:ext>
            </a:extLst>
          </p:cNvPr>
          <p:cNvCxnSpPr>
            <a:cxnSpLocks/>
            <a:stCxn id="31" idx="3"/>
          </p:cNvCxnSpPr>
          <p:nvPr/>
        </p:nvCxnSpPr>
        <p:spPr>
          <a:xfrm flipV="1">
            <a:off x="6976361" y="5066450"/>
            <a:ext cx="1017019" cy="418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F36AC72-9711-48A1-9946-5E01D7799D9A}"/>
              </a:ext>
            </a:extLst>
          </p:cNvPr>
          <p:cNvCxnSpPr>
            <a:cxnSpLocks/>
            <a:stCxn id="31" idx="3"/>
          </p:cNvCxnSpPr>
          <p:nvPr/>
        </p:nvCxnSpPr>
        <p:spPr>
          <a:xfrm flipV="1">
            <a:off x="6976361" y="4831301"/>
            <a:ext cx="1458979" cy="2769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701828F-FAC2-4F9E-982D-32658C04F32F}"/>
              </a:ext>
            </a:extLst>
          </p:cNvPr>
          <p:cNvCxnSpPr>
            <a:cxnSpLocks/>
            <a:stCxn id="33" idx="3"/>
          </p:cNvCxnSpPr>
          <p:nvPr/>
        </p:nvCxnSpPr>
        <p:spPr>
          <a:xfrm flipV="1">
            <a:off x="7377913" y="5312073"/>
            <a:ext cx="1232687" cy="3390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8768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7" grpId="0"/>
      <p:bldP spid="26" grpId="0"/>
      <p:bldP spid="31" grpId="0"/>
      <p:bldP spid="3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22984-F8AF-4F2F-965C-FFAFDEAEB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of incompatible trace element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FCC8E-F792-4A7B-A559-037565D4F3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921416" cy="4351338"/>
          </a:xfrm>
        </p:spPr>
        <p:txBody>
          <a:bodyPr>
            <a:normAutofit/>
          </a:bodyPr>
          <a:lstStyle/>
          <a:p>
            <a:r>
              <a:rPr lang="en-GB" dirty="0"/>
              <a:t>Three key groups for igneous petrology</a:t>
            </a:r>
          </a:p>
          <a:p>
            <a:r>
              <a:rPr lang="en-GB" b="1" dirty="0">
                <a:solidFill>
                  <a:schemeClr val="accent2"/>
                </a:solidFill>
              </a:rPr>
              <a:t>High field-strength elements (HFSE)</a:t>
            </a:r>
          </a:p>
          <a:p>
            <a:pPr lvl="1"/>
            <a:r>
              <a:rPr lang="en-GB" dirty="0"/>
              <a:t>Too highly charged to fit into crystal lattices</a:t>
            </a:r>
          </a:p>
          <a:p>
            <a:pPr lvl="1"/>
            <a:r>
              <a:rPr lang="en-GB" dirty="0"/>
              <a:t>Largely immobile in aqueous fluids</a:t>
            </a:r>
          </a:p>
          <a:p>
            <a:r>
              <a:rPr lang="en-GB" i="1" dirty="0">
                <a:solidFill>
                  <a:schemeClr val="accent4"/>
                </a:solidFill>
              </a:rPr>
              <a:t>Large-ion lithophile elements (LILE)</a:t>
            </a:r>
          </a:p>
          <a:p>
            <a:pPr lvl="1"/>
            <a:r>
              <a:rPr lang="en-GB" dirty="0"/>
              <a:t>Too large to fit into crystal lattices</a:t>
            </a:r>
          </a:p>
          <a:p>
            <a:pPr lvl="1"/>
            <a:r>
              <a:rPr lang="en-GB" dirty="0"/>
              <a:t>Highly mobile in aqueous fluids</a:t>
            </a:r>
          </a:p>
          <a:p>
            <a:r>
              <a:rPr lang="en-GB" b="1" i="1" dirty="0"/>
              <a:t>Rare earth elements (REE)</a:t>
            </a:r>
          </a:p>
          <a:p>
            <a:pPr lvl="1"/>
            <a:r>
              <a:rPr lang="en-GB" dirty="0"/>
              <a:t>La to Lu; very similar chemical properties</a:t>
            </a:r>
          </a:p>
          <a:p>
            <a:pPr lvl="1"/>
            <a:r>
              <a:rPr lang="en-GB" dirty="0"/>
              <a:t>Related behaviour during key geological processes like melting and crystallisation</a:t>
            </a:r>
          </a:p>
          <a:p>
            <a:endParaRPr lang="en-GB" dirty="0"/>
          </a:p>
          <a:p>
            <a:pPr lvl="1"/>
            <a:endParaRPr lang="en-GB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46642E8-14A4-4071-A5DD-F5FB75A569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83543" y="1825625"/>
            <a:ext cx="4270257" cy="4319025"/>
          </a:xfr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075118-90CE-4B4A-9B9F-D883A09F7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312AB1-9EF4-415E-A53F-4E4A5FFFF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1 | Part 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599265-1E38-41FE-8EF0-D3E06852A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16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D53CFF-33E2-42DB-B79B-1AB9939B2D91}"/>
              </a:ext>
            </a:extLst>
          </p:cNvPr>
          <p:cNvSpPr txBox="1"/>
          <p:nvPr/>
        </p:nvSpPr>
        <p:spPr>
          <a:xfrm>
            <a:off x="7779750" y="1500743"/>
            <a:ext cx="3365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Typical solid–liquid partitioning </a:t>
            </a:r>
          </a:p>
        </p:txBody>
      </p:sp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id="{44682DCF-6063-47C0-8606-2714FFDB65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1579" y="3842897"/>
            <a:ext cx="900000" cy="900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9447330-A329-486D-8D72-33C8425C8800}"/>
              </a:ext>
            </a:extLst>
          </p:cNvPr>
          <p:cNvSpPr/>
          <p:nvPr/>
        </p:nvSpPr>
        <p:spPr>
          <a:xfrm>
            <a:off x="8920163" y="4810125"/>
            <a:ext cx="214314" cy="209867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DF23DF-3EDB-40EB-A004-5E1A4E896B5E}"/>
              </a:ext>
            </a:extLst>
          </p:cNvPr>
          <p:cNvSpPr/>
          <p:nvPr/>
        </p:nvSpPr>
        <p:spPr>
          <a:xfrm>
            <a:off x="9536510" y="3601181"/>
            <a:ext cx="559989" cy="280257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6334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 animBg="1"/>
      <p:bldP spid="1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C1A3D18-B3CE-4AF9-9F2C-E6BDFA8BBD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EART26201 | Principles of Geochemistry | Lecture 1</a:t>
            </a:r>
          </a:p>
          <a:p>
            <a:r>
              <a:rPr lang="en-GB" dirty="0"/>
              <a:t>Part 4 | Using trace elements to model igneous processes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60A6A-49C1-4287-9BB8-A85D30829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20D41-60E7-4ACB-9B2B-884861396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1 | Part 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614C2-8618-4A1E-A193-645A64469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17</a:t>
            </a:fld>
            <a:endParaRPr lang="en-GB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F7873D5-8C74-46E0-AE6D-7980B655431E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The geochemist’s periodic table: element </a:t>
            </a:r>
            <a:r>
              <a:rPr lang="en-GB"/>
              <a:t>partitioning and</a:t>
            </a:r>
          </a:p>
          <a:p>
            <a:r>
              <a:rPr lang="en-GB"/>
              <a:t>chemical </a:t>
            </a:r>
            <a:r>
              <a:rPr lang="en-GB" dirty="0"/>
              <a:t>differentiation</a:t>
            </a:r>
          </a:p>
        </p:txBody>
      </p:sp>
    </p:spTree>
    <p:extLst>
      <p:ext uri="{BB962C8B-B14F-4D97-AF65-F5344CB8AC3E}">
        <p14:creationId xmlns:p14="http://schemas.microsoft.com/office/powerpoint/2010/main" val="4155087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4ABAA-B196-4B25-BD37-3319459B1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Magmatic processes: melting and crystallisation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6226F-C765-442D-A9BA-8A5B14A71A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6735038" cy="4351338"/>
          </a:xfrm>
        </p:spPr>
        <p:txBody>
          <a:bodyPr>
            <a:normAutofit/>
          </a:bodyPr>
          <a:lstStyle/>
          <a:p>
            <a:r>
              <a:rPr lang="en-GB" dirty="0"/>
              <a:t>Trace elements record geochemical processes</a:t>
            </a:r>
          </a:p>
          <a:p>
            <a:r>
              <a:rPr lang="en-GB" dirty="0"/>
              <a:t>Trace elements can be used to:</a:t>
            </a:r>
          </a:p>
          <a:p>
            <a:pPr lvl="1"/>
            <a:r>
              <a:rPr lang="en-GB" dirty="0"/>
              <a:t>estimate extents of mantle and crustal melting</a:t>
            </a:r>
          </a:p>
          <a:p>
            <a:pPr lvl="1"/>
            <a:r>
              <a:rPr lang="en-GB" dirty="0"/>
              <a:t>estimate extents of magma crystallisation</a:t>
            </a:r>
          </a:p>
          <a:p>
            <a:pPr lvl="1"/>
            <a:r>
              <a:rPr lang="en-GB" dirty="0"/>
              <a:t>determine how different magmas (i.e. solidified igneous rocks) are related to each other</a:t>
            </a:r>
          </a:p>
          <a:p>
            <a:pPr lvl="1"/>
            <a:r>
              <a:rPr lang="en-GB" dirty="0"/>
              <a:t>understand and predict ore deposit formation</a:t>
            </a:r>
          </a:p>
          <a:p>
            <a:r>
              <a:rPr lang="en-GB" dirty="0"/>
              <a:t>There are four scenarios to consider:</a:t>
            </a:r>
          </a:p>
          <a:p>
            <a:pPr lvl="1"/>
            <a:r>
              <a:rPr lang="en-GB" dirty="0"/>
              <a:t>Equilibrium melting	</a:t>
            </a:r>
          </a:p>
          <a:p>
            <a:pPr lvl="1"/>
            <a:r>
              <a:rPr lang="en-GB" dirty="0"/>
              <a:t>Equilibrium crystallisation</a:t>
            </a:r>
          </a:p>
          <a:p>
            <a:pPr lvl="1"/>
            <a:r>
              <a:rPr lang="en-GB" dirty="0"/>
              <a:t>Fractional melting</a:t>
            </a:r>
          </a:p>
          <a:p>
            <a:pPr lvl="1"/>
            <a:r>
              <a:rPr lang="en-GB" dirty="0"/>
              <a:t>Fractional crystallisation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87C4E97-6052-48B1-B8D2-17BD7304469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74272" y="1827005"/>
            <a:ext cx="3779528" cy="4206249"/>
          </a:xfr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2F3115-55CE-45F3-ABEC-1C7F0C7D2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3C96F1-6672-4C3E-94E6-88F424755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1 | Part 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FF7C4C-E240-4929-91B4-7810F47D9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18</a:t>
            </a:fld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4D01CA-4965-461A-8774-C541A8E20428}"/>
              </a:ext>
            </a:extLst>
          </p:cNvPr>
          <p:cNvSpPr/>
          <p:nvPr/>
        </p:nvSpPr>
        <p:spPr>
          <a:xfrm>
            <a:off x="7574272" y="1690688"/>
            <a:ext cx="1591243" cy="5791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27B017-6D63-49E0-9560-A5CDF47ACC52}"/>
              </a:ext>
            </a:extLst>
          </p:cNvPr>
          <p:cNvSpPr/>
          <p:nvPr/>
        </p:nvSpPr>
        <p:spPr>
          <a:xfrm>
            <a:off x="9358326" y="1690687"/>
            <a:ext cx="2188285" cy="18700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607F1A-3873-4888-9738-95990BDAA21E}"/>
              </a:ext>
            </a:extLst>
          </p:cNvPr>
          <p:cNvSpPr/>
          <p:nvPr/>
        </p:nvSpPr>
        <p:spPr>
          <a:xfrm>
            <a:off x="9534445" y="1677240"/>
            <a:ext cx="2011131" cy="44339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8DC4F3-BE2A-4F7B-A5D3-509F5F336778}"/>
              </a:ext>
            </a:extLst>
          </p:cNvPr>
          <p:cNvSpPr/>
          <p:nvPr/>
        </p:nvSpPr>
        <p:spPr>
          <a:xfrm>
            <a:off x="7573237" y="1677240"/>
            <a:ext cx="3513863" cy="44997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 descr="A picture containing text, seat, chair&#10;&#10;Description automatically generated">
            <a:extLst>
              <a:ext uri="{FF2B5EF4-FFF2-40B4-BE49-F238E27FC236}">
                <a16:creationId xmlns:a16="http://schemas.microsoft.com/office/drawing/2014/main" id="{973027D3-FF42-448C-9FBF-6C5045277D51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6595" y="1903565"/>
            <a:ext cx="2634882" cy="364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530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0" grpId="0" animBg="1"/>
      <p:bldP spid="13" grpId="0" animBg="1"/>
      <p:bldP spid="12" grpId="0" animBg="1"/>
      <p:bldP spid="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5A2BE-AEE2-4E55-8F05-5ED28D17D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Equilibrium melting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7AF4F7-FF55-4C3B-A6E1-6FAE9D4B4DD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8763000" cy="4431337"/>
              </a:xfrm>
            </p:spPr>
            <p:txBody>
              <a:bodyPr>
                <a:normAutofit/>
              </a:bodyPr>
              <a:lstStyle/>
              <a:p>
                <a:r>
                  <a:rPr lang="en-GB" dirty="0"/>
                  <a:t>The liquid remains in equilibrium with the solid residue</a:t>
                </a:r>
              </a:p>
              <a:p>
                <a:pPr>
                  <a:spcAft>
                    <a:spcPts val="1000"/>
                  </a:spcAft>
                </a:pPr>
                <a:r>
                  <a:rPr lang="en-GB" dirty="0"/>
                  <a:t>Concentrations of element </a:t>
                </a:r>
                <a14:m>
                  <m:oMath xmlns:m="http://schemas.openxmlformats.org/officeDocument/2006/math">
                    <m:r>
                      <a:rPr lang="en-GB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in the liquid and solid are related by the bulk partition coefficient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GB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acc>
                      </m:e>
                      <m:sub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as follows: 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acc>
                        </m:e>
                        <m:sub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𝑠𝑜𝑙𝑖𝑑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𝑙𝑖𝑞𝑢𝑖𝑑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dirty="0">
                  <a:solidFill>
                    <a:schemeClr val="accent1"/>
                  </a:solidFill>
                </a:endParaRPr>
              </a:p>
              <a:p>
                <a:pPr>
                  <a:spcAft>
                    <a:spcPts val="1000"/>
                  </a:spcAft>
                </a:pPr>
                <a:r>
                  <a:rPr lang="en-GB" dirty="0"/>
                  <a:t>The proportion of liquid is denoted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GB" dirty="0"/>
                  <a:t>, so in a closed system:</a:t>
                </a:r>
              </a:p>
              <a:p>
                <a:pPr marL="0" indent="0" algn="ctr"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𝑠𝑜𝑙𝑖𝑑</m:t>
                          </m:r>
                        </m:sub>
                        <m:sup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𝑙𝑖𝑞𝑢𝑖𝑑</m:t>
                              </m:r>
                            </m:sub>
                          </m:sSub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𝑠𝑜𝑙𝑖𝑑</m:t>
                          </m:r>
                        </m:sub>
                      </m:sSub>
                      <m:d>
                        <m:dPr>
                          <m:ctrlP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</m:oMath>
                  </m:oMathPara>
                </a14:m>
                <a:endParaRPr lang="en-GB" dirty="0"/>
              </a:p>
              <a:p>
                <a:pPr>
                  <a:spcAft>
                    <a:spcPts val="1000"/>
                  </a:spcAft>
                </a:pPr>
                <a:r>
                  <a:rPr lang="en-GB" dirty="0"/>
                  <a:t>Combining these equations relates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GB" dirty="0"/>
                  <a:t> in an equation that can be rearranged to solve geological problems: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𝑠𝑜𝑙𝑖𝑑</m:t>
                          </m:r>
                        </m:sub>
                        <m:sup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𝑙𝑖𝑞𝑢𝑖𝑑</m:t>
                          </m:r>
                        </m:sub>
                      </m:sSub>
                      <m:d>
                        <m:dPr>
                          <m:ctrlPr>
                            <a:rPr lang="en-GB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GB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GB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d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</m:oMath>
                  </m:oMathPara>
                </a14:m>
                <a:endParaRPr lang="en-GB" dirty="0"/>
              </a:p>
              <a:p>
                <a:pPr marL="0" indent="0" algn="ctr">
                  <a:buNone/>
                </a:pPr>
                <a:endParaRPr lang="en-GB" dirty="0"/>
              </a:p>
              <a:p>
                <a:endParaRPr lang="en-GB" dirty="0"/>
              </a:p>
              <a:p>
                <a:pPr marL="0" indent="0" algn="ctr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7AF4F7-FF55-4C3B-A6E1-6FAE9D4B4D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8763000" cy="4431337"/>
              </a:xfrm>
              <a:blipFill>
                <a:blip r:embed="rId3"/>
                <a:stretch>
                  <a:fillRect l="-974" t="-1788" r="-626" b="-9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F5CD453-0E62-43B6-B238-4162E6FAB22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35309" y="2169626"/>
            <a:ext cx="1618491" cy="3721615"/>
          </a:xfr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3784E5-84AF-4EDC-9A57-2F693FC79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254368-A1C1-4F07-BC1E-A1B58167E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1 | Part 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12EF55-0295-4043-9866-2E51B8F02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19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EE480F7-1F69-4347-9D59-46366A5DE55F}"/>
                  </a:ext>
                </a:extLst>
              </p:cNvPr>
              <p:cNvSpPr txBox="1"/>
              <p:nvPr/>
            </p:nvSpPr>
            <p:spPr>
              <a:xfrm>
                <a:off x="1060031" y="4663482"/>
                <a:ext cx="17689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Initial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GB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in solid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EE480F7-1F69-4347-9D59-46366A5DE5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031" y="4663482"/>
                <a:ext cx="1768946" cy="369332"/>
              </a:xfrm>
              <a:prstGeom prst="rect">
                <a:avLst/>
              </a:prstGeom>
              <a:blipFill>
                <a:blip r:embed="rId5"/>
                <a:stretch>
                  <a:fillRect l="-3103" t="-8197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Arrow: Right 9">
            <a:extLst>
              <a:ext uri="{FF2B5EF4-FFF2-40B4-BE49-F238E27FC236}">
                <a16:creationId xmlns:a16="http://schemas.microsoft.com/office/drawing/2014/main" id="{AE18E591-A83F-455A-9AC2-99465B9EC0BD}"/>
              </a:ext>
            </a:extLst>
          </p:cNvPr>
          <p:cNvSpPr/>
          <p:nvPr/>
        </p:nvSpPr>
        <p:spPr>
          <a:xfrm rot="20251513">
            <a:off x="2716126" y="4653588"/>
            <a:ext cx="312131" cy="180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9229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47D6E-F7B7-4CEB-A13D-2EC5F3AC5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Equilibrium melting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8818DEF8-C333-4A36-A4AD-CF6BA9A18D3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GB" dirty="0"/>
                  <a:t>Equilibrium melting:</a:t>
                </a:r>
              </a:p>
              <a:p>
                <a:pPr marL="0" indent="0"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𝑙𝑖𝑞𝑢𝑖𝑑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GB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𝑠𝑜𝑙𝑖𝑑</m:t>
                              </m:r>
                            </m:sub>
                            <m:sup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bSup>
                        </m:den>
                      </m:f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ctrlP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GB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GB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GB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d>
                                <m:dPr>
                                  <m:ctrlPr>
                                    <a:rPr lang="en-GB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GB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GB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GB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GB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den>
                      </m:f>
                    </m:oMath>
                  </m:oMathPara>
                </a14:m>
                <a:endParaRPr lang="en-GB" dirty="0">
                  <a:solidFill>
                    <a:schemeClr val="accent1"/>
                  </a:solidFill>
                </a:endParaRPr>
              </a:p>
              <a:p>
                <a:pPr lvl="1"/>
                <a:r>
                  <a:rPr lang="en-GB" dirty="0"/>
                  <a:t>Liquid in equilibrium with solid residue </a:t>
                </a:r>
              </a:p>
              <a:p>
                <a:r>
                  <a:rPr lang="en-GB" dirty="0">
                    <a:solidFill>
                      <a:schemeClr val="accent1"/>
                    </a:solidFill>
                  </a:rPr>
                  <a:t>Incompatible elements </a:t>
                </a:r>
                <a:r>
                  <a:rPr lang="en-GB" dirty="0"/>
                  <a:t>are highly concentrated in the melt at low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GB" dirty="0"/>
                  <a:t>, and are diluted as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GB" dirty="0"/>
                  <a:t> increases</a:t>
                </a:r>
              </a:p>
              <a:p>
                <a:r>
                  <a:rPr lang="en-GB" dirty="0">
                    <a:solidFill>
                      <a:schemeClr val="accent4"/>
                    </a:solidFill>
                  </a:rPr>
                  <a:t>Compatible elements </a:t>
                </a:r>
                <a:r>
                  <a:rPr lang="en-GB" dirty="0"/>
                  <a:t>have very low concentrations in melts, especially at low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8818DEF8-C333-4A36-A4AD-CF6BA9A18D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1647" t="-1821" r="-16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91E54B76-BB9D-4349-A4CC-06CEA68FFB5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55425" y="1825625"/>
            <a:ext cx="4415148" cy="4351337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09FAC-C66B-4DC5-B784-56276A1C3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1FEB5-23A1-4123-BF67-F95802311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1 | Part 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B7C45-8944-4411-983E-7E77177EA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20</a:t>
            </a:fld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90487C0-C458-4123-9554-58981221B6B0}"/>
              </a:ext>
            </a:extLst>
          </p:cNvPr>
          <p:cNvSpPr/>
          <p:nvPr/>
        </p:nvSpPr>
        <p:spPr>
          <a:xfrm>
            <a:off x="7200962" y="2658872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E05FD9EC-4D06-42A9-B280-60A00FC8FAC9}"/>
              </a:ext>
            </a:extLst>
          </p:cNvPr>
          <p:cNvSpPr/>
          <p:nvPr/>
        </p:nvSpPr>
        <p:spPr>
          <a:xfrm rot="849702">
            <a:off x="8774077" y="3660399"/>
            <a:ext cx="720000" cy="180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C1CA474-8416-43B5-AA8D-045BA449F3B9}"/>
              </a:ext>
            </a:extLst>
          </p:cNvPr>
          <p:cNvSpPr/>
          <p:nvPr/>
        </p:nvSpPr>
        <p:spPr>
          <a:xfrm>
            <a:off x="10748264" y="4030472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1CE38B6-7888-40BB-944C-E1D6523BD827}"/>
              </a:ext>
            </a:extLst>
          </p:cNvPr>
          <p:cNvSpPr/>
          <p:nvPr/>
        </p:nvSpPr>
        <p:spPr>
          <a:xfrm>
            <a:off x="7205450" y="4779781"/>
            <a:ext cx="180000" cy="1800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1B4B5F88-A383-4119-A7FF-5282A3B43A76}"/>
              </a:ext>
            </a:extLst>
          </p:cNvPr>
          <p:cNvSpPr/>
          <p:nvPr/>
        </p:nvSpPr>
        <p:spPr>
          <a:xfrm rot="21018387">
            <a:off x="8773012" y="4812021"/>
            <a:ext cx="720000" cy="18000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0717AC2-81A5-4D44-A4A3-9454F342D0C8}"/>
              </a:ext>
            </a:extLst>
          </p:cNvPr>
          <p:cNvSpPr/>
          <p:nvPr/>
        </p:nvSpPr>
        <p:spPr>
          <a:xfrm>
            <a:off x="10748264" y="4030472"/>
            <a:ext cx="180000" cy="1800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C4B2F2B-0367-4809-9D3A-E3F3E2398942}"/>
              </a:ext>
            </a:extLst>
          </p:cNvPr>
          <p:cNvSpPr/>
          <p:nvPr/>
        </p:nvSpPr>
        <p:spPr>
          <a:xfrm>
            <a:off x="7200962" y="4030472"/>
            <a:ext cx="180000" cy="1800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07FFAD-E8A2-451B-994A-A4A27AD6F145}"/>
              </a:ext>
            </a:extLst>
          </p:cNvPr>
          <p:cNvSpPr txBox="1"/>
          <p:nvPr/>
        </p:nvSpPr>
        <p:spPr>
          <a:xfrm>
            <a:off x="7303224" y="4172731"/>
            <a:ext cx="7232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3"/>
                </a:solidFill>
              </a:rPr>
              <a:t>Initial</a:t>
            </a:r>
          </a:p>
          <a:p>
            <a:pPr algn="ctr"/>
            <a:r>
              <a:rPr lang="en-GB" dirty="0">
                <a:solidFill>
                  <a:schemeClr val="accent3"/>
                </a:solidFill>
              </a:rPr>
              <a:t>solid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FE3A28-09DD-4832-B856-27479F1D1FB7}"/>
              </a:ext>
            </a:extLst>
          </p:cNvPr>
          <p:cNvSpPr txBox="1"/>
          <p:nvPr/>
        </p:nvSpPr>
        <p:spPr>
          <a:xfrm>
            <a:off x="10114989" y="3377187"/>
            <a:ext cx="7232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Final</a:t>
            </a:r>
          </a:p>
          <a:p>
            <a:pPr algn="ctr"/>
            <a:r>
              <a:rPr lang="en-GB" dirty="0">
                <a:solidFill>
                  <a:schemeClr val="accent1"/>
                </a:solidFill>
              </a:rPr>
              <a:t>liquid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57AB74-78AC-4ADC-848A-9676E5230C19}"/>
              </a:ext>
            </a:extLst>
          </p:cNvPr>
          <p:cNvSpPr txBox="1"/>
          <p:nvPr/>
        </p:nvSpPr>
        <p:spPr>
          <a:xfrm>
            <a:off x="7303224" y="2102541"/>
            <a:ext cx="7232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First</a:t>
            </a:r>
          </a:p>
          <a:p>
            <a:r>
              <a:rPr lang="en-GB" dirty="0">
                <a:solidFill>
                  <a:schemeClr val="accent1"/>
                </a:solidFill>
              </a:rPr>
              <a:t>liquid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0A852B-0A34-41F7-985D-BD1CE2A0178B}"/>
              </a:ext>
            </a:extLst>
          </p:cNvPr>
          <p:cNvSpPr txBox="1"/>
          <p:nvPr/>
        </p:nvSpPr>
        <p:spPr>
          <a:xfrm>
            <a:off x="7309836" y="4882759"/>
            <a:ext cx="7232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>
                <a:solidFill>
                  <a:schemeClr val="accent4"/>
                </a:solidFill>
              </a:rPr>
              <a:t>First</a:t>
            </a:r>
          </a:p>
          <a:p>
            <a:pPr algn="ctr"/>
            <a:r>
              <a:rPr lang="en-GB" dirty="0">
                <a:solidFill>
                  <a:schemeClr val="accent4"/>
                </a:solidFill>
              </a:rPr>
              <a:t>liquid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18C8DF-17AA-4FDA-A63D-9C89A68464C4}"/>
              </a:ext>
            </a:extLst>
          </p:cNvPr>
          <p:cNvSpPr/>
          <p:nvPr/>
        </p:nvSpPr>
        <p:spPr>
          <a:xfrm>
            <a:off x="10122549" y="3415002"/>
            <a:ext cx="715715" cy="6085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B82F19A-911F-4D13-9C4E-38B1FE332410}"/>
              </a:ext>
            </a:extLst>
          </p:cNvPr>
          <p:cNvSpPr txBox="1"/>
          <p:nvPr/>
        </p:nvSpPr>
        <p:spPr>
          <a:xfrm>
            <a:off x="10114989" y="3377186"/>
            <a:ext cx="7232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4"/>
                </a:solidFill>
              </a:rPr>
              <a:t>Final</a:t>
            </a:r>
          </a:p>
          <a:p>
            <a:pPr algn="ctr"/>
            <a:r>
              <a:rPr lang="en-GB" dirty="0">
                <a:solidFill>
                  <a:schemeClr val="accent4"/>
                </a:solidFill>
              </a:rPr>
              <a:t>liquid</a:t>
            </a:r>
          </a:p>
        </p:txBody>
      </p:sp>
    </p:spTree>
    <p:extLst>
      <p:ext uri="{BB962C8B-B14F-4D97-AF65-F5344CB8AC3E}">
        <p14:creationId xmlns:p14="http://schemas.microsoft.com/office/powerpoint/2010/main" val="3205772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5" grpId="0" animBg="1"/>
      <p:bldP spid="17" grpId="0" animBg="1"/>
      <p:bldP spid="19" grpId="0" animBg="1"/>
      <p:bldP spid="21" grpId="0" animBg="1"/>
      <p:bldP spid="14" grpId="0" animBg="1"/>
      <p:bldP spid="16" grpId="0"/>
      <p:bldP spid="18" grpId="0"/>
      <p:bldP spid="20" grpId="0"/>
      <p:bldP spid="22" grpId="0"/>
      <p:bldP spid="3" grpId="0" animBg="1"/>
      <p:bldP spid="2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47D6E-F7B7-4CEB-A13D-2EC5F3AC5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Equilibrium crystallisation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8818DEF8-C333-4A36-A4AD-CF6BA9A18D3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GB" dirty="0"/>
                  <a:t>Equilibrium crystallisation:</a:t>
                </a:r>
              </a:p>
              <a:p>
                <a:pPr marL="0" indent="0"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𝑙𝑖𝑞𝑢𝑖𝑑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GB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𝑙𝑖𝑞𝑢𝑖𝑑</m:t>
                              </m:r>
                            </m:sub>
                            <m:sup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bSup>
                        </m:den>
                      </m:f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ctrlP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GB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GB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GB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+(1−</m:t>
                              </m:r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d>
                                <m:dPr>
                                  <m:ctrlPr>
                                    <a:rPr lang="en-GB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GB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GB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GB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GB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den>
                      </m:f>
                    </m:oMath>
                  </m:oMathPara>
                </a14:m>
                <a:endParaRPr lang="en-GB" dirty="0">
                  <a:solidFill>
                    <a:schemeClr val="accent1"/>
                  </a:solidFill>
                </a:endParaRPr>
              </a:p>
              <a:p>
                <a:pPr lvl="1"/>
                <a:r>
                  <a:rPr lang="en-GB" dirty="0"/>
                  <a:t>Solid in equilibrium with residual liquid</a:t>
                </a:r>
              </a:p>
              <a:p>
                <a:r>
                  <a:rPr lang="en-GB" dirty="0"/>
                  <a:t>Initial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dirty="0"/>
                  <a:t> in liquid is denoted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𝑙𝑖𝑞𝑢𝑖𝑑</m:t>
                        </m:r>
                      </m:sub>
                      <m:sup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endParaRPr lang="en-GB" dirty="0"/>
              </a:p>
              <a:p>
                <a:r>
                  <a:rPr lang="en-GB" dirty="0"/>
                  <a:t>The proportion of solid is often expressed as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dirty="0"/>
                  <a:t>, where </a:t>
                </a:r>
                <a14:m>
                  <m:oMath xmlns:m="http://schemas.openxmlformats.org/officeDocument/2006/math">
                    <m:r>
                      <a:rPr lang="en-GB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GB" b="0" i="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endParaRPr lang="en-GB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r>
                  <a:rPr lang="en-GB" i="1" dirty="0">
                    <a:solidFill>
                      <a:schemeClr val="accent1"/>
                    </a:solidFill>
                  </a:rPr>
                  <a:t>Exact opposite of equilibrium melting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8818DEF8-C333-4A36-A4AD-CF6BA9A18D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882" t="-1821" r="-11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91E54B76-BB9D-4349-A4CC-06CEA68FFB5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55425" y="1825625"/>
            <a:ext cx="4415148" cy="4351336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09FAC-C66B-4DC5-B784-56276A1C3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1FEB5-23A1-4123-BF67-F95802311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1 | Part 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B7C45-8944-4411-983E-7E77177EA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21</a:t>
            </a:fld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90487C0-C458-4123-9554-58981221B6B0}"/>
              </a:ext>
            </a:extLst>
          </p:cNvPr>
          <p:cNvSpPr/>
          <p:nvPr/>
        </p:nvSpPr>
        <p:spPr>
          <a:xfrm>
            <a:off x="7205450" y="4030472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E05FD9EC-4D06-42A9-B280-60A00FC8FAC9}"/>
              </a:ext>
            </a:extLst>
          </p:cNvPr>
          <p:cNvSpPr/>
          <p:nvPr/>
        </p:nvSpPr>
        <p:spPr>
          <a:xfrm rot="21014459">
            <a:off x="8773045" y="3761574"/>
            <a:ext cx="720000" cy="180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C1CA474-8416-43B5-AA8D-045BA449F3B9}"/>
              </a:ext>
            </a:extLst>
          </p:cNvPr>
          <p:cNvSpPr/>
          <p:nvPr/>
        </p:nvSpPr>
        <p:spPr>
          <a:xfrm>
            <a:off x="10767797" y="2782455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1CE38B6-7888-40BB-944C-E1D6523BD827}"/>
              </a:ext>
            </a:extLst>
          </p:cNvPr>
          <p:cNvSpPr/>
          <p:nvPr/>
        </p:nvSpPr>
        <p:spPr>
          <a:xfrm>
            <a:off x="7205450" y="4030472"/>
            <a:ext cx="180000" cy="1800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1B4B5F88-A383-4119-A7FF-5282A3B43A76}"/>
              </a:ext>
            </a:extLst>
          </p:cNvPr>
          <p:cNvSpPr/>
          <p:nvPr/>
        </p:nvSpPr>
        <p:spPr>
          <a:xfrm rot="467623">
            <a:off x="8771878" y="4485068"/>
            <a:ext cx="720000" cy="18000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0717AC2-81A5-4D44-A4A3-9454F342D0C8}"/>
              </a:ext>
            </a:extLst>
          </p:cNvPr>
          <p:cNvSpPr/>
          <p:nvPr/>
        </p:nvSpPr>
        <p:spPr>
          <a:xfrm>
            <a:off x="10767797" y="4765780"/>
            <a:ext cx="180000" cy="1800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65F3393-971E-4A90-871A-692E9EBA4989}"/>
              </a:ext>
            </a:extLst>
          </p:cNvPr>
          <p:cNvSpPr/>
          <p:nvPr/>
        </p:nvSpPr>
        <p:spPr>
          <a:xfrm>
            <a:off x="10767797" y="4030472"/>
            <a:ext cx="180000" cy="1800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15A84E-9294-40C1-99F0-129AD1F70BA1}"/>
              </a:ext>
            </a:extLst>
          </p:cNvPr>
          <p:cNvSpPr txBox="1"/>
          <p:nvPr/>
        </p:nvSpPr>
        <p:spPr>
          <a:xfrm>
            <a:off x="10208376" y="4113914"/>
            <a:ext cx="6848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3"/>
                </a:solidFill>
              </a:rPr>
              <a:t>Final</a:t>
            </a:r>
          </a:p>
          <a:p>
            <a:pPr algn="ctr"/>
            <a:r>
              <a:rPr lang="en-GB" dirty="0">
                <a:solidFill>
                  <a:schemeClr val="accent3"/>
                </a:solidFill>
              </a:rPr>
              <a:t>solid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7229E1B-3038-4CC4-8D28-950F2C9EAB34}"/>
              </a:ext>
            </a:extLst>
          </p:cNvPr>
          <p:cNvSpPr txBox="1"/>
          <p:nvPr/>
        </p:nvSpPr>
        <p:spPr>
          <a:xfrm>
            <a:off x="7295450" y="3467583"/>
            <a:ext cx="7232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Initial</a:t>
            </a:r>
          </a:p>
          <a:p>
            <a:pPr algn="ctr"/>
            <a:r>
              <a:rPr lang="en-GB" dirty="0">
                <a:solidFill>
                  <a:schemeClr val="accent4"/>
                </a:solidFill>
              </a:rPr>
              <a:t>liquid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C1540DD-6E0C-4E6E-8234-286648EF7B57}"/>
              </a:ext>
            </a:extLst>
          </p:cNvPr>
          <p:cNvSpPr txBox="1"/>
          <p:nvPr/>
        </p:nvSpPr>
        <p:spPr>
          <a:xfrm>
            <a:off x="10189140" y="2122310"/>
            <a:ext cx="7232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Final</a:t>
            </a:r>
          </a:p>
          <a:p>
            <a:pPr algn="ctr"/>
            <a:r>
              <a:rPr lang="en-GB" dirty="0">
                <a:solidFill>
                  <a:schemeClr val="accent1"/>
                </a:solidFill>
              </a:rPr>
              <a:t>liquid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E68250-E738-43DC-9B58-1F7C9BE63A96}"/>
              </a:ext>
            </a:extLst>
          </p:cNvPr>
          <p:cNvSpPr txBox="1"/>
          <p:nvPr/>
        </p:nvSpPr>
        <p:spPr>
          <a:xfrm>
            <a:off x="10189140" y="4895182"/>
            <a:ext cx="7232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4"/>
                </a:solidFill>
              </a:rPr>
              <a:t>Final</a:t>
            </a:r>
          </a:p>
          <a:p>
            <a:pPr algn="ctr"/>
            <a:r>
              <a:rPr lang="en-GB" dirty="0">
                <a:solidFill>
                  <a:schemeClr val="accent4"/>
                </a:solidFill>
              </a:rPr>
              <a:t>liquid</a:t>
            </a:r>
          </a:p>
        </p:txBody>
      </p:sp>
    </p:spTree>
    <p:extLst>
      <p:ext uri="{BB962C8B-B14F-4D97-AF65-F5344CB8AC3E}">
        <p14:creationId xmlns:p14="http://schemas.microsoft.com/office/powerpoint/2010/main" val="740733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5" grpId="0" animBg="1"/>
      <p:bldP spid="17" grpId="0" animBg="1"/>
      <p:bldP spid="19" grpId="0" animBg="1"/>
      <p:bldP spid="21" grpId="0" animBg="1"/>
      <p:bldP spid="16" grpId="0" animBg="1"/>
      <p:bldP spid="3" grpId="0"/>
      <p:bldP spid="18" grpId="0"/>
      <p:bldP spid="20" grpId="0"/>
      <p:bldP spid="2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5A2BE-AEE2-4E55-8F05-5ED28D17D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Trace element behaviour: fractional melting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7AF4F7-FF55-4C3B-A6E1-6FAE9D4B4DD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5"/>
                <a:ext cx="8897109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GB" dirty="0"/>
                  <a:t>The liquid leaves the system as soon as it forms</a:t>
                </a:r>
              </a:p>
              <a:p>
                <a:r>
                  <a:rPr lang="en-GB" dirty="0"/>
                  <a:t>Incremental liquid compositions are typically reported</a:t>
                </a:r>
              </a:p>
              <a:p>
                <a:r>
                  <a:rPr lang="en-GB" dirty="0"/>
                  <a:t>The composition of the system </a:t>
                </a:r>
                <a:r>
                  <a:rPr lang="en-GB" i="1" dirty="0">
                    <a:solidFill>
                      <a:schemeClr val="accent1"/>
                    </a:solidFill>
                  </a:rPr>
                  <a:t>is</a:t>
                </a:r>
                <a:r>
                  <a:rPr lang="en-GB" dirty="0"/>
                  <a:t> the composition of the solid</a:t>
                </a:r>
              </a:p>
              <a:p>
                <a:r>
                  <a:rPr lang="en-GB" dirty="0"/>
                  <a:t>Incompatible elements are depleted in the solid residue and thus the liquids that are subsequently derived from it</a:t>
                </a:r>
              </a:p>
              <a:p>
                <a:pPr>
                  <a:spcAft>
                    <a:spcPts val="1000"/>
                  </a:spcAft>
                </a:pPr>
                <a:r>
                  <a:rPr lang="en-GB" dirty="0"/>
                  <a:t>Relationships between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GB" dirty="0"/>
                  <a:t> are described by: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𝑙𝑖𝑞𝑢𝑖𝑑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GB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𝑠𝑜𝑙𝑖𝑑</m:t>
                              </m:r>
                            </m:sub>
                            <m:sup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bSup>
                        </m:den>
                      </m:f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GB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d>
                        </m:e>
                        <m:sup>
                          <m:d>
                            <m:dPr>
                              <m:ctrlP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GB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GB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GB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GB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Incremental melts can accumulate (e.g. in magma reservoir)</a:t>
                </a:r>
              </a:p>
              <a:p>
                <a:r>
                  <a:rPr lang="en-GB" dirty="0"/>
                  <a:t>Accumulated fractional melts are similar to equilibrium melts</a:t>
                </a:r>
              </a:p>
              <a:p>
                <a:pPr marL="0" indent="0" algn="ctr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7AF4F7-FF55-4C3B-A6E1-6FAE9D4B4D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8897109" cy="4351338"/>
              </a:xfrm>
              <a:blipFill>
                <a:blip r:embed="rId2"/>
                <a:stretch>
                  <a:fillRect l="-960" t="-26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F5CD453-0E62-43B6-B238-4162E6FAB22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35309" y="2352105"/>
            <a:ext cx="1618491" cy="2883414"/>
          </a:xfr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3784E5-84AF-4EDC-9A57-2F693FC79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254368-A1C1-4F07-BC1E-A1B58167E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1 | Part 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12EF55-0295-4043-9866-2E51B8F02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22</a:t>
            </a:fld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98856B-C532-46D9-9233-A82DC7839F37}"/>
              </a:ext>
            </a:extLst>
          </p:cNvPr>
          <p:cNvSpPr/>
          <p:nvPr/>
        </p:nvSpPr>
        <p:spPr>
          <a:xfrm>
            <a:off x="9601200" y="2162232"/>
            <a:ext cx="1904035" cy="6492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8615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47D6E-F7B7-4CEB-A13D-2EC5F3AC5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Trace element behaviour: fractional melting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8818DEF8-C333-4A36-A4AD-CF6BA9A18D3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GB" dirty="0"/>
                  <a:t>Fractional melting:</a:t>
                </a:r>
              </a:p>
              <a:p>
                <a:pPr marL="0" indent="0"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𝑙𝑖𝑞𝑢𝑖𝑑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GB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𝑠𝑜𝑙𝑖𝑑</m:t>
                              </m:r>
                            </m:sub>
                            <m:sup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bSup>
                        </m:den>
                      </m:f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GB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d>
                        </m:e>
                        <m:sup>
                          <m:d>
                            <m:dPr>
                              <m:ctrlP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GB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GB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GB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GB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GB" dirty="0">
                  <a:solidFill>
                    <a:schemeClr val="accent1"/>
                  </a:solidFill>
                </a:endParaRPr>
              </a:p>
              <a:p>
                <a:pPr lvl="1"/>
                <a:r>
                  <a:rPr lang="en-GB" dirty="0"/>
                  <a:t>Liquids leave as soon as they form</a:t>
                </a:r>
              </a:p>
              <a:p>
                <a:r>
                  <a:rPr lang="en-GB" dirty="0">
                    <a:solidFill>
                      <a:schemeClr val="accent1"/>
                    </a:solidFill>
                  </a:rPr>
                  <a:t>Incompatible elements </a:t>
                </a:r>
                <a:r>
                  <a:rPr lang="en-GB" dirty="0"/>
                  <a:t>are rapidly depleted in the solid residue, so liquids are also rapidly depleted</a:t>
                </a:r>
              </a:p>
              <a:p>
                <a:r>
                  <a:rPr lang="en-GB" dirty="0">
                    <a:solidFill>
                      <a:schemeClr val="accent4"/>
                    </a:solidFill>
                  </a:rPr>
                  <a:t>Compatible elements </a:t>
                </a:r>
                <a:r>
                  <a:rPr lang="en-GB" dirty="0"/>
                  <a:t>are initially retained in the solid, so the last liquids are relatively enriched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8818DEF8-C333-4A36-A4AD-CF6BA9A18D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647" t="-18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91E54B76-BB9D-4349-A4CC-06CEA68FFB5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55425" y="1825625"/>
            <a:ext cx="4415148" cy="4351336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09FAC-C66B-4DC5-B784-56276A1C3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1FEB5-23A1-4123-BF67-F95802311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1 | Part 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B7C45-8944-4411-983E-7E77177EA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23</a:t>
            </a:fld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90487C0-C458-4123-9554-58981221B6B0}"/>
              </a:ext>
            </a:extLst>
          </p:cNvPr>
          <p:cNvSpPr/>
          <p:nvPr/>
        </p:nvSpPr>
        <p:spPr>
          <a:xfrm>
            <a:off x="7205450" y="2658872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E05FD9EC-4D06-42A9-B280-60A00FC8FAC9}"/>
              </a:ext>
            </a:extLst>
          </p:cNvPr>
          <p:cNvSpPr/>
          <p:nvPr/>
        </p:nvSpPr>
        <p:spPr>
          <a:xfrm rot="4967244">
            <a:off x="7231437" y="4028879"/>
            <a:ext cx="720000" cy="180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C1CA474-8416-43B5-AA8D-045BA449F3B9}"/>
              </a:ext>
            </a:extLst>
          </p:cNvPr>
          <p:cNvSpPr/>
          <p:nvPr/>
        </p:nvSpPr>
        <p:spPr>
          <a:xfrm>
            <a:off x="7542077" y="5488882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1CE38B6-7888-40BB-944C-E1D6523BD827}"/>
              </a:ext>
            </a:extLst>
          </p:cNvPr>
          <p:cNvSpPr/>
          <p:nvPr/>
        </p:nvSpPr>
        <p:spPr>
          <a:xfrm>
            <a:off x="7205450" y="4779781"/>
            <a:ext cx="180000" cy="1800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2"/>
              </a:solidFill>
            </a:endParaRP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1B4B5F88-A383-4119-A7FF-5282A3B43A76}"/>
              </a:ext>
            </a:extLst>
          </p:cNvPr>
          <p:cNvSpPr/>
          <p:nvPr/>
        </p:nvSpPr>
        <p:spPr>
          <a:xfrm rot="21018387">
            <a:off x="9008567" y="4689779"/>
            <a:ext cx="720000" cy="18000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0717AC2-81A5-4D44-A4A3-9454F342D0C8}"/>
              </a:ext>
            </a:extLst>
          </p:cNvPr>
          <p:cNvSpPr/>
          <p:nvPr/>
        </p:nvSpPr>
        <p:spPr>
          <a:xfrm>
            <a:off x="10790573" y="3339000"/>
            <a:ext cx="180000" cy="1800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C76BBB5-C445-4FA8-9308-C1373B569CF2}"/>
                  </a:ext>
                </a:extLst>
              </p:cNvPr>
              <p:cNvSpPr txBox="1"/>
              <p:nvPr/>
            </p:nvSpPr>
            <p:spPr>
              <a:xfrm>
                <a:off x="7295450" y="1968427"/>
                <a:ext cx="3587055" cy="613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Maximum enrichment: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40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2400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C76BBB5-C445-4FA8-9308-C1373B569C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5450" y="1968427"/>
                <a:ext cx="3587055" cy="613886"/>
              </a:xfrm>
              <a:prstGeom prst="rect">
                <a:avLst/>
              </a:prstGeom>
              <a:blipFill>
                <a:blip r:embed="rId4"/>
                <a:stretch>
                  <a:fillRect l="-2721" b="-89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Arrow: Right 17">
            <a:extLst>
              <a:ext uri="{FF2B5EF4-FFF2-40B4-BE49-F238E27FC236}">
                <a16:creationId xmlns:a16="http://schemas.microsoft.com/office/drawing/2014/main" id="{A077E3E2-EE23-43B2-9D3D-330FB079DF73}"/>
              </a:ext>
            </a:extLst>
          </p:cNvPr>
          <p:cNvSpPr/>
          <p:nvPr/>
        </p:nvSpPr>
        <p:spPr>
          <a:xfrm rot="9130192">
            <a:off x="7445710" y="2474586"/>
            <a:ext cx="422019" cy="1865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6662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5" grpId="0" animBg="1"/>
      <p:bldP spid="17" grpId="0" animBg="1"/>
      <p:bldP spid="19" grpId="0" animBg="1"/>
      <p:bldP spid="21" grpId="0" animBg="1"/>
      <p:bldP spid="3" grpId="0"/>
      <p:bldP spid="1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5A2BE-AEE2-4E55-8F05-5ED28D17D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Trace element behaviour: fractional crystallisation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7AF4F7-FF55-4C3B-A6E1-6FAE9D4B4DD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1825625"/>
                <a:ext cx="8898281" cy="4351338"/>
              </a:xfrm>
            </p:spPr>
            <p:txBody>
              <a:bodyPr>
                <a:normAutofit/>
              </a:bodyPr>
              <a:lstStyle/>
              <a:p>
                <a:r>
                  <a:rPr lang="en-GB" dirty="0"/>
                  <a:t>The solid leaves the system as soon as it forms</a:t>
                </a:r>
              </a:p>
              <a:p>
                <a:r>
                  <a:rPr lang="en-GB" dirty="0"/>
                  <a:t>The composition of the system </a:t>
                </a:r>
                <a:r>
                  <a:rPr lang="en-GB" i="1" dirty="0">
                    <a:solidFill>
                      <a:schemeClr val="accent1"/>
                    </a:solidFill>
                  </a:rPr>
                  <a:t>is</a:t>
                </a:r>
                <a:r>
                  <a:rPr lang="en-GB" dirty="0"/>
                  <a:t> the composition of the liquid</a:t>
                </a:r>
              </a:p>
              <a:p>
                <a:r>
                  <a:rPr lang="en-GB" dirty="0"/>
                  <a:t>Incompatible elements are progressively concentrated</a:t>
                </a:r>
              </a:p>
              <a:p>
                <a:pPr>
                  <a:spcAft>
                    <a:spcPts val="1000"/>
                  </a:spcAft>
                </a:pPr>
                <a:r>
                  <a:rPr lang="en-GB" dirty="0"/>
                  <a:t>Relationships between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GB" dirty="0"/>
                  <a:t> are described by: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GB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𝑙𝑖𝑞𝑢𝑖𝑑</m:t>
                            </m:r>
                          </m:sub>
                        </m:sSub>
                      </m:num>
                      <m:den>
                        <m:sSubSup>
                          <m:sSubSupPr>
                            <m:ctrlPr>
                              <a:rPr lang="en-GB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𝑙𝑖𝑞𝑢𝑖𝑑</m:t>
                            </m:r>
                          </m:sub>
                          <m:sup>
                            <m:r>
                              <a:rPr lang="en-GB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bSup>
                      </m:den>
                    </m:f>
                    <m:r>
                      <a:rPr lang="en-GB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d>
                          <m:dPr>
                            <m:ctrlPr>
                              <a:rPr lang="en-GB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GB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GB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GB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sup>
                    </m:sSup>
                  </m:oMath>
                </a14:m>
                <a:r>
                  <a:rPr lang="en-GB" dirty="0">
                    <a:solidFill>
                      <a:schemeClr val="accent1"/>
                    </a:solidFill>
                  </a:rPr>
                  <a:t> </a:t>
                </a:r>
                <a:r>
                  <a:rPr lang="en-GB" i="1" dirty="0">
                    <a:solidFill>
                      <a:schemeClr val="accent1"/>
                    </a:solidFill>
                  </a:rPr>
                  <a:t>Rayleigh Distillation</a:t>
                </a:r>
              </a:p>
              <a:p>
                <a:r>
                  <a:rPr lang="en-GB" dirty="0"/>
                  <a:t>The dominant way in which magmas crystallise on Earth</a:t>
                </a:r>
              </a:p>
              <a:p>
                <a:r>
                  <a:rPr lang="en-GB" dirty="0"/>
                  <a:t>The insides of solids are effectively isolated from their surroundings because of kinetics (see Lecture 5)</a:t>
                </a:r>
              </a:p>
              <a:p>
                <a:r>
                  <a:rPr lang="en-GB" dirty="0"/>
                  <a:t>Can produce extreme element enrichments (i.e. ore deposits)</a:t>
                </a:r>
              </a:p>
              <a:p>
                <a:pPr marL="0" indent="0" algn="ctr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7AF4F7-FF55-4C3B-A6E1-6FAE9D4B4D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1825625"/>
                <a:ext cx="8898281" cy="4351338"/>
              </a:xfrm>
              <a:blipFill>
                <a:blip r:embed="rId3"/>
                <a:stretch>
                  <a:fillRect l="-890" t="-1821" b="-28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F5CD453-0E62-43B6-B238-4162E6FAB22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36481" y="2602066"/>
            <a:ext cx="1617319" cy="1653868"/>
          </a:xfr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3784E5-84AF-4EDC-9A57-2F693FC79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254368-A1C1-4F07-BC1E-A1B58167E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1 | Part 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12EF55-0295-4043-9866-2E51B8F02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24</a:t>
            </a:fld>
            <a:endParaRPr lang="en-GB"/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606E16B6-D648-46E6-9BB8-EA72707C40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629" y="5384963"/>
            <a:ext cx="792000" cy="792000"/>
          </a:xfrm>
          <a:prstGeom prst="rect">
            <a:avLst/>
          </a:prstGeom>
        </p:spPr>
      </p:pic>
      <p:pic>
        <p:nvPicPr>
          <p:cNvPr id="10" name="Picture 9" descr="A picture containing text&#10;&#10;Description automatically generated">
            <a:extLst>
              <a:ext uri="{FF2B5EF4-FFF2-40B4-BE49-F238E27FC236}">
                <a16:creationId xmlns:a16="http://schemas.microsoft.com/office/drawing/2014/main" id="{52EB2161-648C-425E-A18D-184650ED8D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1800" y="5384963"/>
            <a:ext cx="792000" cy="7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915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47D6E-F7B7-4CEB-A13D-2EC5F3AC5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Trace element behaviour: fractional crystallisation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8818DEF8-C333-4A36-A4AD-CF6BA9A18D3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4530725"/>
              </a:xfrm>
            </p:spPr>
            <p:txBody>
              <a:bodyPr>
                <a:norm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GB" dirty="0"/>
                  <a:t>Fractional crystallisation:</a:t>
                </a:r>
              </a:p>
              <a:p>
                <a:pPr marL="0" indent="0"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𝑙𝑖𝑞𝑢𝑖𝑑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GB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𝑙𝑖𝑞𝑢𝑖𝑑</m:t>
                              </m:r>
                            </m:sub>
                            <m:sup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bSup>
                        </m:den>
                      </m:f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d>
                            <m:dPr>
                              <m:ctrlP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GB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GB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GB" dirty="0">
                  <a:solidFill>
                    <a:schemeClr val="accent1"/>
                  </a:solidFill>
                </a:endParaRPr>
              </a:p>
              <a:p>
                <a:pPr lvl="1"/>
                <a:r>
                  <a:rPr lang="en-GB" dirty="0"/>
                  <a:t>Solids leave as soon as they form</a:t>
                </a:r>
              </a:p>
              <a:p>
                <a:r>
                  <a:rPr lang="en-GB" dirty="0">
                    <a:solidFill>
                      <a:schemeClr val="accent1"/>
                    </a:solidFill>
                  </a:rPr>
                  <a:t>Incompatible elements </a:t>
                </a:r>
                <a:r>
                  <a:rPr lang="en-GB" dirty="0"/>
                  <a:t>remain in the system (i.e. not in solids), so liquids become highly enriched</a:t>
                </a:r>
              </a:p>
              <a:p>
                <a:r>
                  <a:rPr lang="en-GB" dirty="0">
                    <a:solidFill>
                      <a:schemeClr val="accent4"/>
                    </a:solidFill>
                  </a:rPr>
                  <a:t>Compatible elements </a:t>
                </a:r>
                <a:r>
                  <a:rPr lang="en-GB" dirty="0"/>
                  <a:t>are rapidly removed from the system, leaving highly depleted residual liquids</a:t>
                </a:r>
              </a:p>
              <a:p>
                <a:pPr marL="0" indent="0" algn="ctr">
                  <a:buNone/>
                </a:pPr>
                <a:r>
                  <a:rPr lang="en-GB" i="1" dirty="0">
                    <a:solidFill>
                      <a:schemeClr val="accent1"/>
                    </a:solidFill>
                  </a:rPr>
                  <a:t>Not the opposite of fractional melting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8818DEF8-C333-4A36-A4AD-CF6BA9A18D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4530725"/>
              </a:xfrm>
              <a:blipFill>
                <a:blip r:embed="rId3"/>
                <a:stretch>
                  <a:fillRect l="-1647" t="-1747" r="-1294" b="-134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91E54B76-BB9D-4349-A4CC-06CEA68FFB5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55425" y="1825625"/>
            <a:ext cx="4415147" cy="4351335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09FAC-C66B-4DC5-B784-56276A1C3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1FEB5-23A1-4123-BF67-F95802311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1 | Part 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B7C45-8944-4411-983E-7E77177EA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25</a:t>
            </a:fld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90487C0-C458-4123-9554-58981221B6B0}"/>
              </a:ext>
            </a:extLst>
          </p:cNvPr>
          <p:cNvSpPr/>
          <p:nvPr/>
        </p:nvSpPr>
        <p:spPr>
          <a:xfrm>
            <a:off x="7205450" y="4028879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E05FD9EC-4D06-42A9-B280-60A00FC8FAC9}"/>
              </a:ext>
            </a:extLst>
          </p:cNvPr>
          <p:cNvSpPr/>
          <p:nvPr/>
        </p:nvSpPr>
        <p:spPr>
          <a:xfrm rot="21023677">
            <a:off x="8718030" y="3746968"/>
            <a:ext cx="720000" cy="180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C1CA474-8416-43B5-AA8D-045BA449F3B9}"/>
              </a:ext>
            </a:extLst>
          </p:cNvPr>
          <p:cNvSpPr/>
          <p:nvPr/>
        </p:nvSpPr>
        <p:spPr>
          <a:xfrm>
            <a:off x="10753281" y="1912052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1CE38B6-7888-40BB-944C-E1D6523BD827}"/>
              </a:ext>
            </a:extLst>
          </p:cNvPr>
          <p:cNvSpPr/>
          <p:nvPr/>
        </p:nvSpPr>
        <p:spPr>
          <a:xfrm>
            <a:off x="7205450" y="4031213"/>
            <a:ext cx="180000" cy="1800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2"/>
              </a:solidFill>
            </a:endParaRP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1B4B5F88-A383-4119-A7FF-5282A3B43A76}"/>
              </a:ext>
            </a:extLst>
          </p:cNvPr>
          <p:cNvSpPr/>
          <p:nvPr/>
        </p:nvSpPr>
        <p:spPr>
          <a:xfrm rot="2543352">
            <a:off x="7777446" y="4639704"/>
            <a:ext cx="720000" cy="18000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0717AC2-81A5-4D44-A4A3-9454F342D0C8}"/>
              </a:ext>
            </a:extLst>
          </p:cNvPr>
          <p:cNvSpPr/>
          <p:nvPr/>
        </p:nvSpPr>
        <p:spPr>
          <a:xfrm>
            <a:off x="8618729" y="5488882"/>
            <a:ext cx="180000" cy="1800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8991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5" grpId="0" animBg="1"/>
      <p:bldP spid="17" grpId="0" animBg="1"/>
      <p:bldP spid="19" grpId="0" animBg="1"/>
      <p:bldP spid="2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C1A3D18-B3CE-4AF9-9F2C-E6BDFA8BBD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EART26201 | Principles of Geochemistry | Lecture 1</a:t>
            </a:r>
          </a:p>
          <a:p>
            <a:r>
              <a:rPr lang="en-GB" dirty="0"/>
              <a:t>Part 5 | Chemical differentiation of the Earth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60A6A-49C1-4287-9BB8-A85D30829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20D41-60E7-4ACB-9B2B-884861396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1 | Part 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614C2-8618-4A1E-A193-645A64469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26</a:t>
            </a:fld>
            <a:endParaRPr lang="en-GB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041E7CD-6EC3-4D28-8046-F6E0E2742534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The geochemist’s periodic table: element </a:t>
            </a:r>
            <a:r>
              <a:rPr lang="en-GB"/>
              <a:t>partitioning and</a:t>
            </a:r>
          </a:p>
          <a:p>
            <a:r>
              <a:rPr lang="en-GB"/>
              <a:t>chemical </a:t>
            </a:r>
            <a:r>
              <a:rPr lang="en-GB" dirty="0"/>
              <a:t>differentiation</a:t>
            </a:r>
          </a:p>
        </p:txBody>
      </p:sp>
    </p:spTree>
    <p:extLst>
      <p:ext uri="{BB962C8B-B14F-4D97-AF65-F5344CB8AC3E}">
        <p14:creationId xmlns:p14="http://schemas.microsoft.com/office/powerpoint/2010/main" val="10513443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001CF002-0342-4FE7-A332-CB169AD08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Chemical differentiation reflects element partitioning 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97977A45-1DF6-4D7B-AFDB-8A854B67CCC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1" y="2332448"/>
            <a:ext cx="6304876" cy="3337691"/>
          </a:xfrm>
        </p:spPr>
      </p:pic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26F4EFC2-EFE5-4ADE-8072-09FD20566E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81333" y="2332448"/>
            <a:ext cx="4072466" cy="4160427"/>
          </a:xfrm>
        </p:spPr>
        <p:txBody>
          <a:bodyPr>
            <a:normAutofit/>
          </a:bodyPr>
          <a:lstStyle/>
          <a:p>
            <a:r>
              <a:rPr lang="en-GB" dirty="0"/>
              <a:t>Elements partition into different reservoirs</a:t>
            </a:r>
          </a:p>
          <a:p>
            <a:r>
              <a:rPr lang="en-GB" dirty="0"/>
              <a:t>Geochemical reservoirs are domains with distinct and internally coherent chemical characteristics:</a:t>
            </a:r>
          </a:p>
          <a:p>
            <a:pPr lvl="1"/>
            <a:r>
              <a:rPr lang="en-GB" dirty="0" err="1">
                <a:solidFill>
                  <a:schemeClr val="accent3">
                    <a:lumMod val="75000"/>
                  </a:schemeClr>
                </a:solidFill>
              </a:rPr>
              <a:t>Siderophile</a:t>
            </a:r>
            <a:r>
              <a:rPr lang="en-GB" dirty="0">
                <a:solidFill>
                  <a:schemeClr val="accent3">
                    <a:lumMod val="75000"/>
                  </a:schemeClr>
                </a:solidFill>
              </a:rPr>
              <a:t> – core</a:t>
            </a:r>
          </a:p>
          <a:p>
            <a:pPr lvl="1"/>
            <a:r>
              <a:rPr lang="en-GB" dirty="0">
                <a:solidFill>
                  <a:schemeClr val="accent2"/>
                </a:solidFill>
              </a:rPr>
              <a:t>Chalcophile – core</a:t>
            </a:r>
          </a:p>
          <a:p>
            <a:pPr lvl="1"/>
            <a:r>
              <a:rPr lang="en-GB" dirty="0">
                <a:solidFill>
                  <a:schemeClr val="accent4"/>
                </a:solidFill>
              </a:rPr>
              <a:t>Lithophile – mantle &amp; crust</a:t>
            </a:r>
          </a:p>
          <a:p>
            <a:pPr lvl="1"/>
            <a:r>
              <a:rPr lang="en-GB" dirty="0">
                <a:solidFill>
                  <a:schemeClr val="accent6"/>
                </a:solidFill>
              </a:rPr>
              <a:t>Atmophile – atmosphere</a:t>
            </a:r>
          </a:p>
          <a:p>
            <a:pPr lvl="1"/>
            <a:endParaRPr lang="en-GB" dirty="0">
              <a:solidFill>
                <a:schemeClr val="accent6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4E90C-C528-4E98-B49D-821E0A036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819B0-4D98-4A87-BFEA-85BEF68E0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1 | Part 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6A75A-969C-446D-BFE0-8190BB65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1250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0FE1F-750C-4570-842A-463BD82E1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Composition of the core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40372-81B1-4791-B6EE-B9A3563D79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537960" cy="4351338"/>
          </a:xfrm>
        </p:spPr>
        <p:txBody>
          <a:bodyPr>
            <a:normAutofit/>
          </a:bodyPr>
          <a:lstStyle/>
          <a:p>
            <a:r>
              <a:rPr lang="en-GB" dirty="0"/>
              <a:t>16% of Earth’s volume; 31% of Earth’s mass</a:t>
            </a:r>
          </a:p>
          <a:p>
            <a:r>
              <a:rPr lang="en-GB" dirty="0"/>
              <a:t>The inner core is solid; the outer core is liquid (S waves; </a:t>
            </a:r>
            <a:r>
              <a:rPr lang="en-GB" dirty="0" err="1"/>
              <a:t>geodynamo</a:t>
            </a:r>
            <a:r>
              <a:rPr lang="en-GB" dirty="0"/>
              <a:t>)</a:t>
            </a:r>
          </a:p>
          <a:p>
            <a:r>
              <a:rPr lang="en-GB" dirty="0"/>
              <a:t>Fe and Ni dominate (~90 and ~5 wt.%); Fe/Ni of the core is similar to chondrites</a:t>
            </a:r>
          </a:p>
          <a:p>
            <a:r>
              <a:rPr lang="en-GB" dirty="0"/>
              <a:t>Density is 5–15% lower than pure alloy; light elements must be present (H, C, S, O or Si)</a:t>
            </a:r>
          </a:p>
          <a:p>
            <a:r>
              <a:rPr lang="en-GB" dirty="0"/>
              <a:t>Siderophile elements are depleted in the mantle but enriched in the core </a:t>
            </a:r>
          </a:p>
          <a:p>
            <a:r>
              <a:rPr lang="en-GB" dirty="0"/>
              <a:t>Chalcophile elements are enriched in the core because sulfide is siderophile</a:t>
            </a:r>
          </a:p>
        </p:txBody>
      </p:sp>
      <p:pic>
        <p:nvPicPr>
          <p:cNvPr id="10" name="Content Placeholder 9" descr="A pile of hay&#10;&#10;Description automatically generated">
            <a:extLst>
              <a:ext uri="{FF2B5EF4-FFF2-40B4-BE49-F238E27FC236}">
                <a16:creationId xmlns:a16="http://schemas.microsoft.com/office/drawing/2014/main" id="{1479AE90-444B-4B9D-A222-7FAE562A08E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07" r="-239" b="-459"/>
          <a:stretch/>
        </p:blipFill>
        <p:spPr>
          <a:xfrm>
            <a:off x="7561318" y="1763934"/>
            <a:ext cx="3861009" cy="1865883"/>
          </a:xfr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869BF2-EB10-4999-908A-2EE0C49D3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94094A-AA13-4DA1-BD98-986D8393E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1 | Part 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6B7491-94A5-40E6-A8B9-89A0683C9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28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8F8097-62E2-4725-99E9-B0F241FCD0BF}"/>
              </a:ext>
            </a:extLst>
          </p:cNvPr>
          <p:cNvSpPr txBox="1"/>
          <p:nvPr/>
        </p:nvSpPr>
        <p:spPr>
          <a:xfrm>
            <a:off x="10149840" y="5943491"/>
            <a:ext cx="126322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chemeClr val="bg1"/>
                </a:solidFill>
              </a:rPr>
              <a:t>Photo: James St. John</a:t>
            </a:r>
          </a:p>
        </p:txBody>
      </p:sp>
      <p:pic>
        <p:nvPicPr>
          <p:cNvPr id="11" name="Content Placeholder 8" descr="A close up of a logo&#10;&#10;Description automatically generated">
            <a:extLst>
              <a:ext uri="{FF2B5EF4-FFF2-40B4-BE49-F238E27FC236}">
                <a16:creationId xmlns:a16="http://schemas.microsoft.com/office/drawing/2014/main" id="{34B4F0C9-AF5A-44EC-9A2F-B799AE0EFE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1318" y="4096067"/>
            <a:ext cx="3861009" cy="2260283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29B1F06-5122-4700-AF3B-FE2EB65C0F3F}"/>
              </a:ext>
            </a:extLst>
          </p:cNvPr>
          <p:cNvSpPr txBox="1"/>
          <p:nvPr/>
        </p:nvSpPr>
        <p:spPr>
          <a:xfrm>
            <a:off x="7669047" y="4098764"/>
            <a:ext cx="17055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 err="1">
                <a:solidFill>
                  <a:schemeClr val="accent3"/>
                </a:solidFill>
              </a:rPr>
              <a:t>Boujibar</a:t>
            </a:r>
            <a:r>
              <a:rPr lang="en-GB" sz="1050" dirty="0">
                <a:solidFill>
                  <a:schemeClr val="accent3"/>
                </a:solidFill>
              </a:rPr>
              <a:t> et al. (2015)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24B7A1-39F6-44E5-BD17-1439FB8B5A27}"/>
              </a:ext>
            </a:extLst>
          </p:cNvPr>
          <p:cNvSpPr txBox="1"/>
          <p:nvPr/>
        </p:nvSpPr>
        <p:spPr>
          <a:xfrm>
            <a:off x="7561318" y="3624894"/>
            <a:ext cx="38517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Iron meteorite    </a:t>
            </a:r>
            <a:r>
              <a:rPr lang="en-GB" sz="1050" dirty="0">
                <a:solidFill>
                  <a:schemeClr val="accent3"/>
                </a:solidFill>
              </a:rPr>
              <a:t>(credit: Odessa Meteor Crater Museum)</a:t>
            </a:r>
            <a:endParaRPr lang="en-GB" sz="14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6782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3" grpId="0"/>
      <p:bldP spid="1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4FB56-4853-46F4-9F65-66F8B6854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Composition of the mantle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5CF5621-E7B6-4855-BCCF-B663DF4BD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160762" cy="4351338"/>
          </a:xfrm>
        </p:spPr>
        <p:txBody>
          <a:bodyPr/>
          <a:lstStyle/>
          <a:p>
            <a:r>
              <a:rPr lang="en-GB" dirty="0"/>
              <a:t>83% of Earth’s volume; 68.3% of Earth’s mass</a:t>
            </a:r>
          </a:p>
          <a:p>
            <a:r>
              <a:rPr lang="en-GB" dirty="0"/>
              <a:t>Bulk Silicate Earth (BSE) ≈ CI chondrite − Core</a:t>
            </a:r>
          </a:p>
          <a:p>
            <a:r>
              <a:rPr lang="en-GB" dirty="0"/>
              <a:t>BSE sometimes referred to as Primitive Mantle</a:t>
            </a:r>
          </a:p>
          <a:p>
            <a:r>
              <a:rPr lang="en-GB" dirty="0"/>
              <a:t>O, Si, Mg and Fe dominate alongside Ca and Al</a:t>
            </a:r>
          </a:p>
          <a:p>
            <a:r>
              <a:rPr lang="en-GB" dirty="0"/>
              <a:t>Mantle composition determined from meteorites, xenoliths and ophiolites</a:t>
            </a:r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860FF1-D244-4B67-983C-A0B8B30CE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E0A925-C23C-4C22-B5FF-4A057693E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1 | Part 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959BB0-B4BF-4609-A10F-01D8AC33D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29</a:t>
            </a:fld>
            <a:endParaRPr lang="en-GB"/>
          </a:p>
        </p:txBody>
      </p:sp>
      <p:pic>
        <p:nvPicPr>
          <p:cNvPr id="9" name="Content Placeholder 10">
            <a:extLst>
              <a:ext uri="{FF2B5EF4-FFF2-40B4-BE49-F238E27FC236}">
                <a16:creationId xmlns:a16="http://schemas.microsoft.com/office/drawing/2014/main" id="{9EE8E655-7752-49E3-B496-CC2015318F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03549" y="1924398"/>
            <a:ext cx="3354838" cy="425256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EA62104-BAE5-47CE-975D-3492CC9E16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1838" y="4217707"/>
            <a:ext cx="2667084" cy="2000313"/>
          </a:xfrm>
          <a:prstGeom prst="rect">
            <a:avLst/>
          </a:prstGeom>
        </p:spPr>
      </p:pic>
      <p:pic>
        <p:nvPicPr>
          <p:cNvPr id="11" name="Picture 2" descr="File:Peridotite mantle xenolith in vesicular phonotephrite ...">
            <a:extLst>
              <a:ext uri="{FF2B5EF4-FFF2-40B4-BE49-F238E27FC236}">
                <a16:creationId xmlns:a16="http://schemas.microsoft.com/office/drawing/2014/main" id="{FA089A06-44BC-436B-A1D4-AE908944FA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4225" y="4566073"/>
            <a:ext cx="2771775" cy="1647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ADEE810-BF3C-47F1-8623-FD56F3CC45DB}"/>
              </a:ext>
            </a:extLst>
          </p:cNvPr>
          <p:cNvSpPr txBox="1"/>
          <p:nvPr/>
        </p:nvSpPr>
        <p:spPr>
          <a:xfrm>
            <a:off x="5007251" y="4217707"/>
            <a:ext cx="25822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accent3"/>
                </a:solidFill>
              </a:rPr>
              <a:t>credit: Oman Drilling Program</a:t>
            </a:r>
          </a:p>
        </p:txBody>
      </p:sp>
    </p:spTree>
    <p:extLst>
      <p:ext uri="{BB962C8B-B14F-4D97-AF65-F5344CB8AC3E}">
        <p14:creationId xmlns:p14="http://schemas.microsoft.com/office/powerpoint/2010/main" val="3958498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  <p:bldP spid="1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C64D2-AF85-4701-B07F-525ACD814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Composition of the crust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5BD1E-2A0D-473A-846C-8BDB4E7CD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/>
          <a:lstStyle/>
          <a:p>
            <a:r>
              <a:rPr lang="en-GB" dirty="0"/>
              <a:t>Insignificant contribution to Earth’s volume; 0.7% of Earth’s mass</a:t>
            </a:r>
          </a:p>
          <a:p>
            <a:r>
              <a:rPr lang="en-GB" dirty="0"/>
              <a:t>99 wt.% of the crust is composed of O, Si, Al, Fe, Mg, Na and K</a:t>
            </a:r>
          </a:p>
          <a:p>
            <a:r>
              <a:rPr lang="en-GB" dirty="0"/>
              <a:t>Uniquely divided between </a:t>
            </a:r>
            <a:r>
              <a:rPr lang="en-GB" dirty="0">
                <a:solidFill>
                  <a:schemeClr val="accent1"/>
                </a:solidFill>
              </a:rPr>
              <a:t>oceanic crust</a:t>
            </a:r>
            <a:r>
              <a:rPr lang="en-GB" dirty="0"/>
              <a:t> and </a:t>
            </a:r>
            <a:r>
              <a:rPr lang="en-GB" dirty="0">
                <a:solidFill>
                  <a:schemeClr val="accent2"/>
                </a:solidFill>
              </a:rPr>
              <a:t>continental crust</a:t>
            </a:r>
          </a:p>
          <a:p>
            <a:r>
              <a:rPr lang="en-GB" dirty="0">
                <a:solidFill>
                  <a:schemeClr val="accent1"/>
                </a:solidFill>
              </a:rPr>
              <a:t>Oceanic crust:</a:t>
            </a:r>
            <a:r>
              <a:rPr lang="en-GB" dirty="0"/>
              <a:t> rich in Ca, Mg and Fe; covers 70% of Earth’s surface</a:t>
            </a:r>
          </a:p>
          <a:p>
            <a:r>
              <a:rPr lang="en-GB" dirty="0">
                <a:solidFill>
                  <a:schemeClr val="accent2"/>
                </a:solidFill>
              </a:rPr>
              <a:t>Continental crust:</a:t>
            </a:r>
            <a:r>
              <a:rPr lang="en-GB" dirty="0"/>
              <a:t> rich in Si, Na, K and incompatible elements; covers 30%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3CF515-7751-4C98-9003-F89426382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19F82E-546B-4258-9016-F855E1E79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1 | Part 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535CB0-19FE-4A39-B93A-9A01E90D1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30</a:t>
            </a:fld>
            <a:endParaRPr lang="en-GB"/>
          </a:p>
        </p:txBody>
      </p:sp>
      <p:pic>
        <p:nvPicPr>
          <p:cNvPr id="8" name="Content Placeholder 21" descr="A close up of text on a black background&#10;&#10;Description automatically generated">
            <a:extLst>
              <a:ext uri="{FF2B5EF4-FFF2-40B4-BE49-F238E27FC236}">
                <a16:creationId xmlns:a16="http://schemas.microsoft.com/office/drawing/2014/main" id="{21F33D33-D444-4360-A4B2-7A22915F0AFE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587" y="4135169"/>
            <a:ext cx="4597981" cy="2106000"/>
          </a:xfrm>
        </p:spPr>
      </p:pic>
      <p:pic>
        <p:nvPicPr>
          <p:cNvPr id="10" name="Picture 9" descr="A picture containing table, sitting, doughnut, small&#10;&#10;Description automatically generated">
            <a:extLst>
              <a:ext uri="{FF2B5EF4-FFF2-40B4-BE49-F238E27FC236}">
                <a16:creationId xmlns:a16="http://schemas.microsoft.com/office/drawing/2014/main" id="{D9D05809-F428-44F1-9FF3-601065B077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7155" y="4134471"/>
            <a:ext cx="4850258" cy="210739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464E90B-2BB3-4A63-A79D-35BDD6878523}"/>
              </a:ext>
            </a:extLst>
          </p:cNvPr>
          <p:cNvSpPr txBox="1"/>
          <p:nvPr/>
        </p:nvSpPr>
        <p:spPr>
          <a:xfrm>
            <a:off x="10092079" y="5979651"/>
            <a:ext cx="11853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200" dirty="0">
                <a:solidFill>
                  <a:schemeClr val="accent3"/>
                </a:solidFill>
              </a:rPr>
              <a:t>credit: NASA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24E1F7-C3F0-4EAA-93A4-98BD45591C1E}"/>
              </a:ext>
            </a:extLst>
          </p:cNvPr>
          <p:cNvSpPr txBox="1"/>
          <p:nvPr/>
        </p:nvSpPr>
        <p:spPr>
          <a:xfrm>
            <a:off x="7442860" y="4119689"/>
            <a:ext cx="26019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accent6"/>
                </a:solidFill>
              </a:rPr>
              <a:t>Unique in the solar system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52A4747-1C54-48B7-A2DC-83C3444EE0A3}"/>
              </a:ext>
            </a:extLst>
          </p:cNvPr>
          <p:cNvSpPr/>
          <p:nvPr/>
        </p:nvSpPr>
        <p:spPr>
          <a:xfrm>
            <a:off x="1642793" y="4723861"/>
            <a:ext cx="490807" cy="32877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4E3419-4380-4DE5-B6DA-8ACDCC215237}"/>
              </a:ext>
            </a:extLst>
          </p:cNvPr>
          <p:cNvSpPr/>
          <p:nvPr/>
        </p:nvSpPr>
        <p:spPr>
          <a:xfrm>
            <a:off x="4820677" y="4754683"/>
            <a:ext cx="691892" cy="328773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2529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1" grpId="0"/>
      <p:bldP spid="4" grpId="0"/>
      <p:bldP spid="9" grpId="0" animBg="1"/>
      <p:bldP spid="1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A0F13-D7BA-4AE1-85BB-AB477F984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Tracking crustal processes with trace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AD7ED-811A-4E3E-AEBD-75F3052A9B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Multi-element plots show trace elements ordered by their compatibility</a:t>
            </a:r>
          </a:p>
          <a:p>
            <a:r>
              <a:rPr lang="en-GB" dirty="0"/>
              <a:t>Absolute concentrations are hard to interpret (</a:t>
            </a:r>
            <a:r>
              <a:rPr lang="en-GB" dirty="0" err="1"/>
              <a:t>Oddo</a:t>
            </a:r>
            <a:r>
              <a:rPr lang="en-GB" dirty="0"/>
              <a:t>-Harkins rule)</a:t>
            </a:r>
          </a:p>
          <a:p>
            <a:r>
              <a:rPr lang="en-GB" dirty="0"/>
              <a:t>Element concentrations are normalised to key reservoirs (e.g. CI, BSE)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8B6C80-858E-47F7-8A01-49046146B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410E-5824-475E-A482-ADCB6494F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1 | Part 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EE73DC-5FA6-4564-8049-5AF541445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31</a:t>
            </a:fld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52EB831-741E-4976-8F00-7CFEE3DF32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27722" y="3205306"/>
            <a:ext cx="9336555" cy="296236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EBF8EA5-496D-4713-8E9A-ED838C1EC0AB}"/>
              </a:ext>
            </a:extLst>
          </p:cNvPr>
          <p:cNvSpPr/>
          <p:nvPr/>
        </p:nvSpPr>
        <p:spPr>
          <a:xfrm>
            <a:off x="6096000" y="3145971"/>
            <a:ext cx="4865914" cy="31659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0799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E2317-FB65-4A40-9C6D-88AB03496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Continental crust 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FC027-E915-4AE0-BEE5-DC2A6F5730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6310775" cy="4351338"/>
          </a:xfrm>
        </p:spPr>
        <p:txBody>
          <a:bodyPr>
            <a:normAutofit/>
          </a:bodyPr>
          <a:lstStyle/>
          <a:p>
            <a:r>
              <a:rPr lang="en-GB" dirty="0"/>
              <a:t>Mean composition is andesitic; grades from basaltic at the base to granitic at the top</a:t>
            </a:r>
          </a:p>
          <a:p>
            <a:r>
              <a:rPr lang="en-GB" dirty="0"/>
              <a:t>1 wt.% of BSE, but contains up to 50% of BSE’s </a:t>
            </a:r>
            <a:r>
              <a:rPr lang="en-GB" dirty="0">
                <a:solidFill>
                  <a:schemeClr val="accent1"/>
                </a:solidFill>
              </a:rPr>
              <a:t>incompatible elements</a:t>
            </a:r>
            <a:r>
              <a:rPr lang="en-GB" dirty="0"/>
              <a:t>,</a:t>
            </a:r>
            <a:r>
              <a:rPr lang="en-GB" dirty="0">
                <a:solidFill>
                  <a:schemeClr val="accent1"/>
                </a:solidFill>
              </a:rPr>
              <a:t> </a:t>
            </a:r>
            <a:r>
              <a:rPr lang="en-GB" dirty="0"/>
              <a:t>including radioactive elements like U, Th and K</a:t>
            </a:r>
          </a:p>
          <a:p>
            <a:r>
              <a:rPr lang="en-GB" dirty="0"/>
              <a:t>Depleted in </a:t>
            </a:r>
            <a:r>
              <a:rPr lang="en-GB" dirty="0">
                <a:solidFill>
                  <a:schemeClr val="bg2"/>
                </a:solidFill>
              </a:rPr>
              <a:t>HFSE</a:t>
            </a:r>
            <a:r>
              <a:rPr lang="en-GB" dirty="0"/>
              <a:t>, suggesting formation in subduction zones: </a:t>
            </a:r>
            <a:r>
              <a:rPr lang="en-GB" dirty="0">
                <a:solidFill>
                  <a:schemeClr val="accent2"/>
                </a:solidFill>
              </a:rPr>
              <a:t>HFSE</a:t>
            </a:r>
            <a:r>
              <a:rPr lang="en-GB" dirty="0"/>
              <a:t> are immobile in aqueous fluids released from subducting slabs that drive flux melting (unlike LILE)</a:t>
            </a:r>
          </a:p>
          <a:p>
            <a:r>
              <a:rPr lang="en-GB" dirty="0"/>
              <a:t>Removing the continental crust from BSE probably created the </a:t>
            </a:r>
            <a:r>
              <a:rPr lang="en-GB" dirty="0">
                <a:solidFill>
                  <a:schemeClr val="accent3"/>
                </a:solidFill>
              </a:rPr>
              <a:t>Depleted Mantle</a:t>
            </a:r>
          </a:p>
          <a:p>
            <a:endParaRPr lang="en-GB" dirty="0"/>
          </a:p>
          <a:p>
            <a:pPr lvl="1"/>
            <a:endParaRPr lang="en-GB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AE26BCC-48AA-4F04-9224-C1A566527D5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53647" y="1825625"/>
            <a:ext cx="4200153" cy="2651765"/>
          </a:xfr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6F4BC4-1D63-4C75-A7B7-99BEAE603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747C95-6621-4C37-97E0-35A07736F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1 | Part 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864DAE-1999-441A-BCCC-9AF76C890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32</a:t>
            </a:fld>
            <a:endParaRPr lang="en-GB"/>
          </a:p>
        </p:txBody>
      </p:sp>
      <p:pic>
        <p:nvPicPr>
          <p:cNvPr id="11" name="Content Placeholder 21" descr="A close up of text on a black background&#10;&#10;Description automatically generated">
            <a:extLst>
              <a:ext uri="{FF2B5EF4-FFF2-40B4-BE49-F238E27FC236}">
                <a16:creationId xmlns:a16="http://schemas.microsoft.com/office/drawing/2014/main" id="{66A276B8-CB9A-4398-AB42-EF2962D58C04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0667" y="4612327"/>
            <a:ext cx="3615266" cy="1655890"/>
          </a:xfrm>
          <a:prstGeom prst="rect">
            <a:avLst/>
          </a:prstGeom>
        </p:spPr>
      </p:pic>
      <p:sp>
        <p:nvSpPr>
          <p:cNvPr id="12" name="Arrow: Down 11">
            <a:extLst>
              <a:ext uri="{FF2B5EF4-FFF2-40B4-BE49-F238E27FC236}">
                <a16:creationId xmlns:a16="http://schemas.microsoft.com/office/drawing/2014/main" id="{EC63D29C-75E4-4E94-9845-B2A0B7A66EBE}"/>
              </a:ext>
            </a:extLst>
          </p:cNvPr>
          <p:cNvSpPr/>
          <p:nvPr/>
        </p:nvSpPr>
        <p:spPr>
          <a:xfrm flipV="1">
            <a:off x="7902526" y="2197866"/>
            <a:ext cx="180000" cy="74853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336B45EE-184F-453D-BAA3-969905FFF858}"/>
              </a:ext>
            </a:extLst>
          </p:cNvPr>
          <p:cNvSpPr/>
          <p:nvPr/>
        </p:nvSpPr>
        <p:spPr>
          <a:xfrm rot="10800000" flipV="1">
            <a:off x="8800078" y="2061476"/>
            <a:ext cx="180000" cy="43200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30776449-5F24-4A96-86BD-BDE35B260D70}"/>
              </a:ext>
            </a:extLst>
          </p:cNvPr>
          <p:cNvSpPr/>
          <p:nvPr/>
        </p:nvSpPr>
        <p:spPr>
          <a:xfrm rot="5400000" flipH="1" flipV="1">
            <a:off x="9892200" y="5439806"/>
            <a:ext cx="180000" cy="43200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5A0B2B7C-3014-424A-85BB-26D8E3EE9442}"/>
              </a:ext>
            </a:extLst>
          </p:cNvPr>
          <p:cNvSpPr/>
          <p:nvPr/>
        </p:nvSpPr>
        <p:spPr>
          <a:xfrm rot="16200000" flipV="1">
            <a:off x="7992526" y="5439807"/>
            <a:ext cx="180000" cy="43200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E6341045-9763-40AD-998A-F50ABF40F03B}"/>
              </a:ext>
            </a:extLst>
          </p:cNvPr>
          <p:cNvSpPr/>
          <p:nvPr/>
        </p:nvSpPr>
        <p:spPr>
          <a:xfrm rot="10800000" flipV="1">
            <a:off x="7902526" y="3569648"/>
            <a:ext cx="180000" cy="358246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9493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 animBg="1"/>
      <p:bldP spid="14" grpId="0" animBg="1"/>
      <p:bldP spid="16" grpId="0" animBg="1"/>
      <p:bldP spid="18" grpId="0" animBg="1"/>
      <p:bldP spid="2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FC027-E915-4AE0-BEE5-DC2A6F5730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6152909" cy="4351338"/>
          </a:xfrm>
        </p:spPr>
        <p:txBody>
          <a:bodyPr>
            <a:normAutofit fontScale="92500"/>
          </a:bodyPr>
          <a:lstStyle/>
          <a:p>
            <a:r>
              <a:rPr lang="en-GB" dirty="0"/>
              <a:t>Mean composition is basaltic, but stratified from ultramafic (base) to basaltic (top)</a:t>
            </a:r>
          </a:p>
          <a:p>
            <a:r>
              <a:rPr lang="en-GB" dirty="0"/>
              <a:t>Slightly enriched in </a:t>
            </a:r>
            <a:r>
              <a:rPr lang="en-GB" dirty="0">
                <a:solidFill>
                  <a:schemeClr val="accent1"/>
                </a:solidFill>
              </a:rPr>
              <a:t>incompatible elements </a:t>
            </a:r>
            <a:r>
              <a:rPr lang="en-GB" dirty="0"/>
              <a:t>with respect to BSE</a:t>
            </a:r>
          </a:p>
          <a:p>
            <a:r>
              <a:rPr lang="en-GB" dirty="0"/>
              <a:t>Relatively depleted in </a:t>
            </a:r>
            <a:r>
              <a:rPr lang="en-GB" dirty="0">
                <a:solidFill>
                  <a:schemeClr val="accent2"/>
                </a:solidFill>
              </a:rPr>
              <a:t>highly incompatible elements</a:t>
            </a:r>
            <a:r>
              <a:rPr lang="en-GB" dirty="0"/>
              <a:t>; oceanic crust is mostly created by melting the </a:t>
            </a:r>
            <a:r>
              <a:rPr lang="en-GB" dirty="0">
                <a:solidFill>
                  <a:schemeClr val="accent3"/>
                </a:solidFill>
              </a:rPr>
              <a:t>Depleted Mantle</a:t>
            </a:r>
            <a:endParaRPr lang="en-GB" dirty="0"/>
          </a:p>
          <a:p>
            <a:r>
              <a:rPr lang="en-GB" dirty="0"/>
              <a:t>Relatively enriched in compatible elements like Ni and Cr</a:t>
            </a:r>
          </a:p>
          <a:p>
            <a:r>
              <a:rPr lang="en-GB" dirty="0"/>
              <a:t>Contains sulfide deposits rich in chalcophile and technologically important elements</a:t>
            </a:r>
            <a:br>
              <a:rPr lang="en-GB" dirty="0"/>
            </a:br>
            <a:r>
              <a:rPr lang="en-GB" dirty="0"/>
              <a:t>like Cu and the Platinum Group Metals</a:t>
            </a:r>
          </a:p>
          <a:p>
            <a:pPr lvl="1"/>
            <a:endParaRPr lang="en-GB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AE26BCC-48AA-4F04-9224-C1A566527D5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53647" y="1825625"/>
            <a:ext cx="4200153" cy="2651765"/>
          </a:xfr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6F4BC4-1D63-4C75-A7B7-99BEAE603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747C95-6621-4C37-97E0-35A07736F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1 | Part 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864DAE-1999-441A-BCCC-9AF76C890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33</a:t>
            </a:fld>
            <a:endParaRPr lang="en-GB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EC63D29C-75E4-4E94-9845-B2A0B7A66EBE}"/>
              </a:ext>
            </a:extLst>
          </p:cNvPr>
          <p:cNvSpPr/>
          <p:nvPr/>
        </p:nvSpPr>
        <p:spPr>
          <a:xfrm flipV="1">
            <a:off x="9601453" y="2997000"/>
            <a:ext cx="180000" cy="4320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Arrow: Up-Down 3">
            <a:extLst>
              <a:ext uri="{FF2B5EF4-FFF2-40B4-BE49-F238E27FC236}">
                <a16:creationId xmlns:a16="http://schemas.microsoft.com/office/drawing/2014/main" id="{B40D4B25-A840-4BE8-805E-964C0C807173}"/>
              </a:ext>
            </a:extLst>
          </p:cNvPr>
          <p:cNvSpPr/>
          <p:nvPr/>
        </p:nvSpPr>
        <p:spPr>
          <a:xfrm>
            <a:off x="7849107" y="3185160"/>
            <a:ext cx="180000" cy="756934"/>
          </a:xfrm>
          <a:prstGeom prst="up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D91EFA45-FD6E-4205-B51C-D69DA61F59B2}"/>
              </a:ext>
            </a:extLst>
          </p:cNvPr>
          <p:cNvSpPr/>
          <p:nvPr/>
        </p:nvSpPr>
        <p:spPr>
          <a:xfrm flipH="1">
            <a:off x="8166000" y="2565000"/>
            <a:ext cx="180000" cy="43200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9" name="Picture 18" descr="A picture containing covered, cake, snow, sitting&#10;&#10;Description automatically generated">
            <a:extLst>
              <a:ext uri="{FF2B5EF4-FFF2-40B4-BE49-F238E27FC236}">
                <a16:creationId xmlns:a16="http://schemas.microsoft.com/office/drawing/2014/main" id="{41AB65CC-5E8F-4B38-888D-F2442791DB43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0619" y="4816383"/>
            <a:ext cx="2226087" cy="1440000"/>
          </a:xfrm>
          <a:prstGeom prst="rect">
            <a:avLst/>
          </a:prstGeom>
        </p:spPr>
      </p:pic>
      <p:pic>
        <p:nvPicPr>
          <p:cNvPr id="21" name="Picture 20" descr="A picture containing food, cake, plate, piece&#10;&#10;Description automatically generated">
            <a:extLst>
              <a:ext uri="{FF2B5EF4-FFF2-40B4-BE49-F238E27FC236}">
                <a16:creationId xmlns:a16="http://schemas.microsoft.com/office/drawing/2014/main" id="{BE71888D-E7F9-4A91-8D18-E7282F0109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6217" y="4816383"/>
            <a:ext cx="1770492" cy="1440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B477983-E22D-45AA-B801-3EC0BF89BE44}"/>
              </a:ext>
            </a:extLst>
          </p:cNvPr>
          <p:cNvSpPr txBox="1"/>
          <p:nvPr/>
        </p:nvSpPr>
        <p:spPr>
          <a:xfrm>
            <a:off x="7210619" y="4816383"/>
            <a:ext cx="10823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accent3"/>
                </a:solidFill>
              </a:rPr>
              <a:t>credit: NOAA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43EC394-2B82-45B0-9E3A-C5C6B47FC41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957530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Oceanic crust formation</a:t>
            </a:r>
          </a:p>
        </p:txBody>
      </p:sp>
      <p:pic>
        <p:nvPicPr>
          <p:cNvPr id="17" name="Picture 16" descr="A picture containing icon&#10;&#10;Description automatically generated">
            <a:extLst>
              <a:ext uri="{FF2B5EF4-FFF2-40B4-BE49-F238E27FC236}">
                <a16:creationId xmlns:a16="http://schemas.microsoft.com/office/drawing/2014/main" id="{3AC83085-9300-4113-9534-4EA9FCF39D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0222" y="5464383"/>
            <a:ext cx="792000" cy="7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103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 animBg="1"/>
      <p:bldP spid="4" grpId="0" animBg="1"/>
      <p:bldP spid="8" grpId="0" animBg="1"/>
      <p:bldP spid="22" grpId="0"/>
    </p:bldLst>
  </p:timing>
</p:sld>
</file>

<file path=ppt/theme/theme1.xml><?xml version="1.0" encoding="utf-8"?>
<a:theme xmlns:a="http://schemas.openxmlformats.org/drawingml/2006/main" name="Office Theme">
  <a:themeElements>
    <a:clrScheme name="UoM_Teaching">
      <a:dk1>
        <a:sysClr val="windowText" lastClr="000000"/>
      </a:dk1>
      <a:lt1>
        <a:sysClr val="window" lastClr="FFFFFF"/>
      </a:lt1>
      <a:dk2>
        <a:srgbClr val="660099"/>
      </a:dk2>
      <a:lt2>
        <a:srgbClr val="FFCC33"/>
      </a:lt2>
      <a:accent1>
        <a:srgbClr val="660099"/>
      </a:accent1>
      <a:accent2>
        <a:srgbClr val="FFCC33"/>
      </a:accent2>
      <a:accent3>
        <a:srgbClr val="999999"/>
      </a:accent3>
      <a:accent4>
        <a:srgbClr val="B728FE"/>
      </a:accent4>
      <a:accent5>
        <a:srgbClr val="FFE084"/>
      </a:accent5>
      <a:accent6>
        <a:srgbClr val="C1C1C1"/>
      </a:accent6>
      <a:hlink>
        <a:srgbClr val="999999"/>
      </a:hlink>
      <a:folHlink>
        <a:srgbClr val="99999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3558</TotalTime>
  <Words>2581</Words>
  <Application>Microsoft Office PowerPoint</Application>
  <PresentationFormat>Widescreen</PresentationFormat>
  <Paragraphs>412</Paragraphs>
  <Slides>33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Calibri</vt:lpstr>
      <vt:lpstr>Cambria Math</vt:lpstr>
      <vt:lpstr>Office Theme</vt:lpstr>
      <vt:lpstr>The geochemist’s periodic table: element partitioning and  chemical differentiation</vt:lpstr>
      <vt:lpstr>The geochemist’s periodic table</vt:lpstr>
      <vt:lpstr>Trace elements as tracers and resources</vt:lpstr>
      <vt:lpstr>Chemical differentiation</vt:lpstr>
      <vt:lpstr>Lecture 1 synopsis</vt:lpstr>
      <vt:lpstr>The geochemist’s periodic table: element partitioning and chemical differentiation</vt:lpstr>
      <vt:lpstr>Solar element abundances</vt:lpstr>
      <vt:lpstr>Geochemical classification: partitioning behaviour</vt:lpstr>
      <vt:lpstr>Geochemical classification: chemical differentiation</vt:lpstr>
      <vt:lpstr>PowerPoint Presentation</vt:lpstr>
      <vt:lpstr>Partition coefficients</vt:lpstr>
      <vt:lpstr>Bulk partition coefficients</vt:lpstr>
      <vt:lpstr>Factors affecting trace element partitioning</vt:lpstr>
      <vt:lpstr>Goldschmidt’s Rules for element substitution</vt:lpstr>
      <vt:lpstr>Goldschmidt’s Rules applied to igneous minerals</vt:lpstr>
      <vt:lpstr>Types of incompatible trace element</vt:lpstr>
      <vt:lpstr>PowerPoint Presentation</vt:lpstr>
      <vt:lpstr>Magmatic processes: melting and crystallisation</vt:lpstr>
      <vt:lpstr>Equilibrium melting</vt:lpstr>
      <vt:lpstr>Equilibrium melting</vt:lpstr>
      <vt:lpstr>Equilibrium crystallisation</vt:lpstr>
      <vt:lpstr>Trace element behaviour: fractional melting</vt:lpstr>
      <vt:lpstr>Trace element behaviour: fractional melting</vt:lpstr>
      <vt:lpstr>Trace element behaviour: fractional crystallisation</vt:lpstr>
      <vt:lpstr>Trace element behaviour: fractional crystallisation</vt:lpstr>
      <vt:lpstr>PowerPoint Presentation</vt:lpstr>
      <vt:lpstr>Chemical differentiation reflects element partitioning </vt:lpstr>
      <vt:lpstr>Composition of the core</vt:lpstr>
      <vt:lpstr>Composition of the mantle</vt:lpstr>
      <vt:lpstr>Composition of the crust</vt:lpstr>
      <vt:lpstr>Tracking crustal processes with trace elements</vt:lpstr>
      <vt:lpstr>Continental crust formation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Neave</dc:creator>
  <cp:lastModifiedBy>David Neave</cp:lastModifiedBy>
  <cp:revision>329</cp:revision>
  <dcterms:created xsi:type="dcterms:W3CDTF">2020-07-29T10:27:56Z</dcterms:created>
  <dcterms:modified xsi:type="dcterms:W3CDTF">2024-09-23T20:44:56Z</dcterms:modified>
</cp:coreProperties>
</file>