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514" r:id="rId2"/>
    <p:sldId id="537" r:id="rId3"/>
    <p:sldId id="256" r:id="rId4"/>
    <p:sldId id="261" r:id="rId5"/>
    <p:sldId id="257" r:id="rId6"/>
    <p:sldId id="542" r:id="rId7"/>
    <p:sldId id="54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15"/>
    <p:restoredTop sz="96197"/>
  </p:normalViewPr>
  <p:slideViewPr>
    <p:cSldViewPr snapToGrid="0" snapToObjects="1">
      <p:cViewPr varScale="1">
        <p:scale>
          <a:sx n="114" d="100"/>
          <a:sy n="114" d="100"/>
        </p:scale>
        <p:origin x="520"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7A6FE-9E7A-6341-92BF-D36F614F8F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871AFC9-8AFC-6A4C-9A0D-C8A13439B9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FF34FE8-4D6D-A244-AA83-87556B79FD13}"/>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018D18C3-8EDE-D441-96A0-C0A03D69E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FF872-0985-D049-A19F-E1D7141D6799}"/>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380174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A971-1EBA-8B41-B253-8F7310B2CC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DD475F-5271-D245-8573-E7AF6354B98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4CAEAFF-3F19-874A-8A19-1FCF52C0B6B0}"/>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96D40939-7E36-B647-86D6-0DC9E0537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F74A2-91DC-4D45-A777-6969452C1BFF}"/>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1997984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4CCC4-B6D7-4348-A9DE-F6609540726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CCA4236-23DE-6247-A188-24C7B7FCD1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F18A0C-EC3A-E448-8B84-C4DA98CED68F}"/>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85A19410-C3EC-9543-986A-2D7C70900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87D53-D76D-EB48-8ABB-A87BE76BA6FF}"/>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3431900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5324-B63D-5543-AFD0-F46B938ED1B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CF9192C-B866-0442-B727-DA4C26F03A4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4B7A38E-44B8-6549-AC46-6282E1FB3D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17D61D-5BCA-854E-B944-A646E086242E}"/>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6" name="Footer Placeholder 5">
            <a:extLst>
              <a:ext uri="{FF2B5EF4-FFF2-40B4-BE49-F238E27FC236}">
                <a16:creationId xmlns:a16="http://schemas.microsoft.com/office/drawing/2014/main" id="{FDEA32FB-8A3B-764C-9F5F-FC2E36529B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1DE5A-4970-BF4F-A2E1-5AC0F0A86CD2}"/>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172114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FF755-E184-C647-89CB-4D874E60837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086FB7A-D143-CD47-9098-DDD9C51FC3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6C2AB83-6578-B044-952A-F8BE758B19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E19EC7-02E0-F54E-8B46-E1E173312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8B6377-A8DC-3242-8CAF-4C84C23ACD3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853A740-1409-B248-A459-7773E7191738}"/>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8" name="Footer Placeholder 7">
            <a:extLst>
              <a:ext uri="{FF2B5EF4-FFF2-40B4-BE49-F238E27FC236}">
                <a16:creationId xmlns:a16="http://schemas.microsoft.com/office/drawing/2014/main" id="{B20FA808-FA7A-D44E-A0CF-17B853291D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821244-5546-FB4F-B631-CFE61E949B2E}"/>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4003141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C63B-42E9-9540-82C4-12CEDBC8B1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6C3378A-3E28-FA45-B089-A48383E3FE45}"/>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4" name="Footer Placeholder 3">
            <a:extLst>
              <a:ext uri="{FF2B5EF4-FFF2-40B4-BE49-F238E27FC236}">
                <a16:creationId xmlns:a16="http://schemas.microsoft.com/office/drawing/2014/main" id="{52F67BFF-B937-A545-B738-10E9C0B7BC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7FE696-C41B-A44D-A288-FEE89B6EBC7B}"/>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2887627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7FD769-90A6-6248-BA69-301031C2D4C8}"/>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3" name="Footer Placeholder 2">
            <a:extLst>
              <a:ext uri="{FF2B5EF4-FFF2-40B4-BE49-F238E27FC236}">
                <a16:creationId xmlns:a16="http://schemas.microsoft.com/office/drawing/2014/main" id="{DA8C3263-52F5-A24C-A7B7-B23FF11A44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23BC7D-71D1-204F-9C60-F827A18F67C8}"/>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2602363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BBDE0-E840-EF4B-A80F-D38058EB4CB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51FB784-044A-A849-8B70-1AB3E4D122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EDEA69-C41F-5A4B-AEBB-CF64EDEF08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A07EDF-0BA2-6447-B47B-1F36B857797A}"/>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6" name="Footer Placeholder 5">
            <a:extLst>
              <a:ext uri="{FF2B5EF4-FFF2-40B4-BE49-F238E27FC236}">
                <a16:creationId xmlns:a16="http://schemas.microsoft.com/office/drawing/2014/main" id="{01E7D5E4-F7F8-B840-A66E-35244EE14B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B1833C-9B67-E748-8A9E-9D8575AA7E79}"/>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1403018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5646B-FDBB-BF47-9908-85339DD9752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FA07AF4-C4F4-4540-B30A-1C57DFA50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65C5B3-6E31-C543-8BA7-427249DC31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3095EBC-81EE-8B49-9DD9-570635CF5E9C}"/>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6" name="Footer Placeholder 5">
            <a:extLst>
              <a:ext uri="{FF2B5EF4-FFF2-40B4-BE49-F238E27FC236}">
                <a16:creationId xmlns:a16="http://schemas.microsoft.com/office/drawing/2014/main" id="{1CB294BD-4057-8244-AFE1-6E29263D01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E9075-1BC3-4447-8EB4-420FE9951077}"/>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1723044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C4865-7AAA-334A-8607-987B9471EFC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00B1DB6-F4C7-EE48-971A-914909C7BF6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8E65FB5-8F5E-FC4F-97BD-D51B20B40EDC}"/>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03EABA3C-2320-484D-843F-E8B5CF259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04A59-3B52-7349-8617-3443C8BC3A1F}"/>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2048240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28E859-3FCC-924E-95C8-332D5A4D00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00D900-CEBA-9F46-AF4B-54E715379B5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3534CA-0E87-154C-80C7-A44DF9FBB78D}"/>
              </a:ext>
            </a:extLst>
          </p:cNvPr>
          <p:cNvSpPr>
            <a:spLocks noGrp="1"/>
          </p:cNvSpPr>
          <p:nvPr>
            <p:ph type="dt" sz="half" idx="10"/>
          </p:nvPr>
        </p:nvSpPr>
        <p:spPr/>
        <p:txBody>
          <a:body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B7E2C3C5-715B-DF4C-AA0E-67743964E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0D7AE-A003-7C4B-93AD-A11AFCD4E22C}"/>
              </a:ext>
            </a:extLst>
          </p:cNvPr>
          <p:cNvSpPr>
            <a:spLocks noGrp="1"/>
          </p:cNvSpPr>
          <p:nvPr>
            <p:ph type="sldNum" sz="quarter" idx="12"/>
          </p:nvPr>
        </p:nvSpPr>
        <p:spPr/>
        <p:txBody>
          <a:bodyPr/>
          <a:lstStyle/>
          <a:p>
            <a:fld id="{C7A683E3-3918-654E-ACD7-0BADBF0B432F}" type="slidenum">
              <a:rPr lang="en-US" smtClean="0"/>
              <a:t>‹#›</a:t>
            </a:fld>
            <a:endParaRPr lang="en-US"/>
          </a:p>
        </p:txBody>
      </p:sp>
    </p:spTree>
    <p:extLst>
      <p:ext uri="{BB962C8B-B14F-4D97-AF65-F5344CB8AC3E}">
        <p14:creationId xmlns:p14="http://schemas.microsoft.com/office/powerpoint/2010/main" val="27895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E23AC9-C1A5-0B4C-9A2D-8F4ADDD9FE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5CE833-8306-5748-8D7E-B7FCE61DD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3C331D-8B02-5E4C-AEEB-0A73E0BF6C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305AA-7241-ED41-9FB9-BC3B17B34A70}" type="datetimeFigureOut">
              <a:rPr lang="en-US" smtClean="0"/>
              <a:t>8/4/25</a:t>
            </a:fld>
            <a:endParaRPr lang="en-US"/>
          </a:p>
        </p:txBody>
      </p:sp>
      <p:sp>
        <p:nvSpPr>
          <p:cNvPr id="5" name="Footer Placeholder 4">
            <a:extLst>
              <a:ext uri="{FF2B5EF4-FFF2-40B4-BE49-F238E27FC236}">
                <a16:creationId xmlns:a16="http://schemas.microsoft.com/office/drawing/2014/main" id="{09A7741E-3BEC-3440-8168-52D7939D2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4FEECB-A842-9D4F-91F8-16633A0FD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A683E3-3918-654E-ACD7-0BADBF0B432F}" type="slidenum">
              <a:rPr lang="en-US" smtClean="0"/>
              <a:t>‹#›</a:t>
            </a:fld>
            <a:endParaRPr lang="en-US"/>
          </a:p>
        </p:txBody>
      </p:sp>
    </p:spTree>
    <p:extLst>
      <p:ext uri="{BB962C8B-B14F-4D97-AF65-F5344CB8AC3E}">
        <p14:creationId xmlns:p14="http://schemas.microsoft.com/office/powerpoint/2010/main" val="3268060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60ACCFE4-2274-1741-9D20-6C2C25A1CEEA}"/>
              </a:ext>
            </a:extLst>
          </p:cNvPr>
          <p:cNvSpPr txBox="1">
            <a:spLocks noGrp="1" noChangeArrowheads="1"/>
          </p:cNvSpPr>
          <p:nvPr>
            <p:ph type="title" idx="4294967295"/>
          </p:nvPr>
        </p:nvSpPr>
        <p:spPr bwMode="auto">
          <a:xfrm>
            <a:off x="1514474" y="19050"/>
            <a:ext cx="6410326" cy="795338"/>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lnSpc>
                <a:spcPct val="90000"/>
              </a:lnSpc>
              <a:spcBef>
                <a:spcPct val="0"/>
              </a:spcBef>
              <a:spcAft>
                <a:spcPct val="0"/>
              </a:spcAft>
              <a:defRPr sz="2400" b="1">
                <a:solidFill>
                  <a:schemeClr val="tx2"/>
                </a:solidFill>
                <a:latin typeface="+mj-lt"/>
                <a:ea typeface="+mj-ea"/>
                <a:cs typeface="+mj-cs"/>
              </a:defRPr>
            </a:lvl1pPr>
            <a:lvl2pPr algn="l" rtl="0" eaLnBrk="0" fontAlgn="base" hangingPunct="0">
              <a:lnSpc>
                <a:spcPct val="90000"/>
              </a:lnSpc>
              <a:spcBef>
                <a:spcPct val="0"/>
              </a:spcBef>
              <a:spcAft>
                <a:spcPct val="0"/>
              </a:spcAft>
              <a:defRPr sz="2400" b="1">
                <a:solidFill>
                  <a:schemeClr val="tx2"/>
                </a:solidFill>
                <a:latin typeface="Arial" charset="0"/>
              </a:defRPr>
            </a:lvl2pPr>
            <a:lvl3pPr algn="l" rtl="0" eaLnBrk="0" fontAlgn="base" hangingPunct="0">
              <a:lnSpc>
                <a:spcPct val="90000"/>
              </a:lnSpc>
              <a:spcBef>
                <a:spcPct val="0"/>
              </a:spcBef>
              <a:spcAft>
                <a:spcPct val="0"/>
              </a:spcAft>
              <a:defRPr sz="2400" b="1">
                <a:solidFill>
                  <a:schemeClr val="tx2"/>
                </a:solidFill>
                <a:latin typeface="Arial" charset="0"/>
              </a:defRPr>
            </a:lvl3pPr>
            <a:lvl4pPr algn="l" rtl="0" eaLnBrk="0" fontAlgn="base" hangingPunct="0">
              <a:lnSpc>
                <a:spcPct val="90000"/>
              </a:lnSpc>
              <a:spcBef>
                <a:spcPct val="0"/>
              </a:spcBef>
              <a:spcAft>
                <a:spcPct val="0"/>
              </a:spcAft>
              <a:defRPr sz="2400" b="1">
                <a:solidFill>
                  <a:schemeClr val="tx2"/>
                </a:solidFill>
                <a:latin typeface="Arial" charset="0"/>
              </a:defRPr>
            </a:lvl4pPr>
            <a:lvl5pPr algn="l" rtl="0" eaLnBrk="0" fontAlgn="base" hangingPunct="0">
              <a:lnSpc>
                <a:spcPct val="90000"/>
              </a:lnSpc>
              <a:spcBef>
                <a:spcPct val="0"/>
              </a:spcBef>
              <a:spcAft>
                <a:spcPct val="0"/>
              </a:spcAft>
              <a:defRPr sz="2400" b="1">
                <a:solidFill>
                  <a:schemeClr val="tx2"/>
                </a:solidFill>
                <a:latin typeface="Arial" charset="0"/>
              </a:defRPr>
            </a:lvl5pPr>
            <a:lvl6pPr marL="457200" algn="l" rtl="0" fontAlgn="base">
              <a:lnSpc>
                <a:spcPct val="90000"/>
              </a:lnSpc>
              <a:spcBef>
                <a:spcPct val="0"/>
              </a:spcBef>
              <a:spcAft>
                <a:spcPct val="0"/>
              </a:spcAft>
              <a:defRPr sz="2400" b="1">
                <a:solidFill>
                  <a:schemeClr val="tx2"/>
                </a:solidFill>
                <a:latin typeface="Arial" charset="0"/>
              </a:defRPr>
            </a:lvl6pPr>
            <a:lvl7pPr marL="914400" algn="l" rtl="0" fontAlgn="base">
              <a:lnSpc>
                <a:spcPct val="90000"/>
              </a:lnSpc>
              <a:spcBef>
                <a:spcPct val="0"/>
              </a:spcBef>
              <a:spcAft>
                <a:spcPct val="0"/>
              </a:spcAft>
              <a:defRPr sz="2400" b="1">
                <a:solidFill>
                  <a:schemeClr val="tx2"/>
                </a:solidFill>
                <a:latin typeface="Arial" charset="0"/>
              </a:defRPr>
            </a:lvl7pPr>
            <a:lvl8pPr marL="1371600" algn="l" rtl="0" fontAlgn="base">
              <a:lnSpc>
                <a:spcPct val="90000"/>
              </a:lnSpc>
              <a:spcBef>
                <a:spcPct val="0"/>
              </a:spcBef>
              <a:spcAft>
                <a:spcPct val="0"/>
              </a:spcAft>
              <a:defRPr sz="2400" b="1">
                <a:solidFill>
                  <a:schemeClr val="tx2"/>
                </a:solidFill>
                <a:latin typeface="Arial" charset="0"/>
              </a:defRPr>
            </a:lvl8pPr>
            <a:lvl9pPr marL="1828800" algn="l" rtl="0" fontAlgn="base">
              <a:lnSpc>
                <a:spcPct val="90000"/>
              </a:lnSpc>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GB" sz="24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Petroleum system</a:t>
            </a:r>
            <a:br>
              <a:rPr kumimoji="0" lang="en-GB" sz="20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br>
            <a:endParaRPr kumimoji="0" lang="en-US" sz="14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endParaRPr>
          </a:p>
        </p:txBody>
      </p:sp>
      <p:pic>
        <p:nvPicPr>
          <p:cNvPr id="11" name="Picture 2" descr="schematic of a petroleum system">
            <a:extLst>
              <a:ext uri="{FF2B5EF4-FFF2-40B4-BE49-F238E27FC236}">
                <a16:creationId xmlns:a16="http://schemas.microsoft.com/office/drawing/2014/main" id="{27795214-6A75-934A-ABF2-A9535F5A30A9}"/>
              </a:ext>
            </a:extLst>
          </p:cNvPr>
          <p:cNvPicPr>
            <a:picLocks noChangeAspect="1" noChangeArrowheads="1"/>
          </p:cNvPicPr>
          <p:nvPr/>
        </p:nvPicPr>
        <p:blipFill>
          <a:blip r:embed="rId2" cstate="print"/>
          <a:srcRect l="6292" t="4344" r="11916" b="8770"/>
          <a:stretch>
            <a:fillRect/>
          </a:stretch>
        </p:blipFill>
        <p:spPr bwMode="auto">
          <a:xfrm>
            <a:off x="2911016" y="690014"/>
            <a:ext cx="6410738" cy="3945069"/>
          </a:xfrm>
          <a:prstGeom prst="rect">
            <a:avLst/>
          </a:prstGeom>
          <a:noFill/>
        </p:spPr>
      </p:pic>
      <p:sp>
        <p:nvSpPr>
          <p:cNvPr id="12" name="TextBox 11">
            <a:extLst>
              <a:ext uri="{FF2B5EF4-FFF2-40B4-BE49-F238E27FC236}">
                <a16:creationId xmlns:a16="http://schemas.microsoft.com/office/drawing/2014/main" id="{2D11BAF1-96F8-4242-A30D-434D425A6508}"/>
              </a:ext>
            </a:extLst>
          </p:cNvPr>
          <p:cNvSpPr txBox="1"/>
          <p:nvPr/>
        </p:nvSpPr>
        <p:spPr>
          <a:xfrm>
            <a:off x="8693013" y="3523483"/>
            <a:ext cx="557159" cy="307777"/>
          </a:xfrm>
          <a:prstGeom prst="rect">
            <a:avLst/>
          </a:prstGeom>
          <a:solidFill>
            <a:schemeClr val="bg1"/>
          </a:solidFill>
        </p:spPr>
        <p:txBody>
          <a:bodyPr wrap="square" rtlCol="0">
            <a:spAutoFit/>
          </a:bodyPr>
          <a:lstStyle/>
          <a:p>
            <a:r>
              <a:rPr lang="en-GB" sz="1400" b="1" dirty="0">
                <a:latin typeface="Arial" panose="020B0604020202020204" pitchFamily="34" charset="0"/>
                <a:cs typeface="Arial" panose="020B0604020202020204" pitchFamily="34" charset="0"/>
              </a:rPr>
              <a:t>50</a:t>
            </a:r>
            <a:r>
              <a:rPr lang="en-GB" sz="1400" b="1" baseline="30000" dirty="0">
                <a:latin typeface="Arial" panose="020B0604020202020204" pitchFamily="34" charset="0"/>
                <a:cs typeface="Arial" panose="020B0604020202020204" pitchFamily="34" charset="0"/>
              </a:rPr>
              <a:t>°</a:t>
            </a:r>
            <a:r>
              <a:rPr lang="en-GB" sz="1400" b="1" dirty="0">
                <a:latin typeface="Arial" panose="020B0604020202020204" pitchFamily="34" charset="0"/>
                <a:cs typeface="Arial" panose="020B0604020202020204" pitchFamily="34" charset="0"/>
              </a:rPr>
              <a:t>C</a:t>
            </a:r>
          </a:p>
        </p:txBody>
      </p:sp>
      <p:sp>
        <p:nvSpPr>
          <p:cNvPr id="13" name="TextBox 12">
            <a:extLst>
              <a:ext uri="{FF2B5EF4-FFF2-40B4-BE49-F238E27FC236}">
                <a16:creationId xmlns:a16="http://schemas.microsoft.com/office/drawing/2014/main" id="{01B54BA0-13E1-114D-9753-045230E8466C}"/>
              </a:ext>
            </a:extLst>
          </p:cNvPr>
          <p:cNvSpPr txBox="1"/>
          <p:nvPr/>
        </p:nvSpPr>
        <p:spPr>
          <a:xfrm>
            <a:off x="8660759" y="4022884"/>
            <a:ext cx="661331" cy="307777"/>
          </a:xfrm>
          <a:prstGeom prst="rect">
            <a:avLst/>
          </a:prstGeom>
          <a:solidFill>
            <a:schemeClr val="bg1"/>
          </a:solidFill>
        </p:spPr>
        <p:txBody>
          <a:bodyPr wrap="square" rtlCol="0">
            <a:spAutoFit/>
          </a:bodyPr>
          <a:lstStyle/>
          <a:p>
            <a:r>
              <a:rPr lang="en-GB" sz="1400" b="1" dirty="0">
                <a:latin typeface="Arial" panose="020B0604020202020204" pitchFamily="34" charset="0"/>
                <a:cs typeface="Arial" panose="020B0604020202020204" pitchFamily="34" charset="0"/>
              </a:rPr>
              <a:t>175</a:t>
            </a:r>
            <a:r>
              <a:rPr lang="en-GB" sz="1400" b="1" baseline="30000" dirty="0">
                <a:latin typeface="Arial" panose="020B0604020202020204" pitchFamily="34" charset="0"/>
                <a:cs typeface="Arial" panose="020B0604020202020204" pitchFamily="34" charset="0"/>
              </a:rPr>
              <a:t>°</a:t>
            </a:r>
            <a:r>
              <a:rPr lang="en-GB" sz="1400" b="1" dirty="0">
                <a:latin typeface="Arial" panose="020B0604020202020204" pitchFamily="34" charset="0"/>
                <a:cs typeface="Arial" panose="020B0604020202020204" pitchFamily="34" charset="0"/>
              </a:rPr>
              <a:t>C</a:t>
            </a:r>
          </a:p>
        </p:txBody>
      </p:sp>
      <p:sp>
        <p:nvSpPr>
          <p:cNvPr id="14" name="Rectangle 3">
            <a:extLst>
              <a:ext uri="{FF2B5EF4-FFF2-40B4-BE49-F238E27FC236}">
                <a16:creationId xmlns:a16="http://schemas.microsoft.com/office/drawing/2014/main" id="{E9D9E217-34BD-EC44-B665-9D9CC3FFD6F7}"/>
              </a:ext>
            </a:extLst>
          </p:cNvPr>
          <p:cNvSpPr>
            <a:spLocks noChangeArrowheads="1"/>
          </p:cNvSpPr>
          <p:nvPr/>
        </p:nvSpPr>
        <p:spPr bwMode="auto">
          <a:xfrm>
            <a:off x="2849368" y="4726115"/>
            <a:ext cx="2434975" cy="1756880"/>
          </a:xfrm>
          <a:prstGeom prst="rect">
            <a:avLst/>
          </a:prstGeom>
          <a:noFill/>
          <a:ln w="9525">
            <a:noFill/>
            <a:miter lim="800000"/>
            <a:headEnd/>
            <a:tailEnd/>
          </a:ln>
        </p:spPr>
        <p:txBody>
          <a:bodyPr>
            <a:prstTxWarp prst="textNoShape">
              <a:avLst/>
            </a:prstTxWarp>
          </a:bodyPr>
          <a:lstStyle/>
          <a:p>
            <a:pPr>
              <a:spcBef>
                <a:spcPts val="720"/>
              </a:spcBef>
            </a:pPr>
            <a:r>
              <a:rPr lang="en-GB" sz="1600" b="1" dirty="0">
                <a:latin typeface="Arial" panose="020B0604020202020204" pitchFamily="34" charset="0"/>
                <a:cs typeface="Arial" panose="020B0604020202020204" pitchFamily="34" charset="0"/>
              </a:rPr>
              <a:t>Necessary elements:</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Source rock</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Reservoir rock</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Seal rock</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Overburden</a:t>
            </a:r>
            <a:endParaRPr lang="en-US" sz="1600" b="1" dirty="0">
              <a:latin typeface="Arial" panose="020B0604020202020204" pitchFamily="34" charset="0"/>
              <a:cs typeface="Arial" panose="020B0604020202020204" pitchFamily="34" charset="0"/>
            </a:endParaRPr>
          </a:p>
        </p:txBody>
      </p:sp>
      <p:sp>
        <p:nvSpPr>
          <p:cNvPr id="16" name="Rectangle 3">
            <a:extLst>
              <a:ext uri="{FF2B5EF4-FFF2-40B4-BE49-F238E27FC236}">
                <a16:creationId xmlns:a16="http://schemas.microsoft.com/office/drawing/2014/main" id="{BE6AED01-8228-084D-AB20-D86AA72036D5}"/>
              </a:ext>
            </a:extLst>
          </p:cNvPr>
          <p:cNvSpPr>
            <a:spLocks noChangeArrowheads="1"/>
          </p:cNvSpPr>
          <p:nvPr/>
        </p:nvSpPr>
        <p:spPr bwMode="auto">
          <a:xfrm>
            <a:off x="5662774" y="4726115"/>
            <a:ext cx="3700408" cy="1756880"/>
          </a:xfrm>
          <a:prstGeom prst="rect">
            <a:avLst/>
          </a:prstGeom>
          <a:noFill/>
          <a:ln w="9525">
            <a:noFill/>
            <a:miter lim="800000"/>
            <a:headEnd/>
            <a:tailEnd/>
          </a:ln>
        </p:spPr>
        <p:txBody>
          <a:bodyPr>
            <a:prstTxWarp prst="textNoShape">
              <a:avLst/>
            </a:prstTxWarp>
          </a:bodyPr>
          <a:lstStyle/>
          <a:p>
            <a:pPr>
              <a:spcBef>
                <a:spcPts val="720"/>
              </a:spcBef>
            </a:pPr>
            <a:r>
              <a:rPr lang="en-GB" sz="1600" b="1" dirty="0">
                <a:latin typeface="Arial" panose="020B0604020202020204" pitchFamily="34" charset="0"/>
                <a:cs typeface="Arial" panose="020B0604020202020204" pitchFamily="34" charset="0"/>
              </a:rPr>
              <a:t>Necessary processes:</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Trap formation</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Generation of hydrocarbons (by maturation)</a:t>
            </a:r>
          </a:p>
          <a:p>
            <a:pPr marL="190500" indent="-190500">
              <a:spcBef>
                <a:spcPts val="720"/>
              </a:spcBef>
              <a:buBlip>
                <a:blip r:embed="rId3"/>
              </a:buBlip>
            </a:pPr>
            <a:r>
              <a:rPr lang="en-GB" sz="1600" b="1" dirty="0">
                <a:latin typeface="Arial" panose="020B0604020202020204" pitchFamily="34" charset="0"/>
                <a:cs typeface="Arial" panose="020B0604020202020204" pitchFamily="34" charset="0"/>
              </a:rPr>
              <a:t>Hydrocarbon migration and accumulation in trap</a:t>
            </a:r>
            <a:endParaRPr lang="en-US"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455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60ACCFE4-2274-1741-9D20-6C2C25A1CEEA}"/>
              </a:ext>
            </a:extLst>
          </p:cNvPr>
          <p:cNvSpPr txBox="1">
            <a:spLocks noGrp="1" noChangeArrowheads="1"/>
          </p:cNvSpPr>
          <p:nvPr>
            <p:ph type="title" idx="4294967295"/>
          </p:nvPr>
        </p:nvSpPr>
        <p:spPr bwMode="auto">
          <a:xfrm>
            <a:off x="1514474" y="19050"/>
            <a:ext cx="6410326" cy="795338"/>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lnSpc>
                <a:spcPct val="90000"/>
              </a:lnSpc>
              <a:spcBef>
                <a:spcPct val="0"/>
              </a:spcBef>
              <a:spcAft>
                <a:spcPct val="0"/>
              </a:spcAft>
              <a:defRPr sz="2400" b="1">
                <a:solidFill>
                  <a:schemeClr val="tx2"/>
                </a:solidFill>
                <a:latin typeface="+mj-lt"/>
                <a:ea typeface="+mj-ea"/>
                <a:cs typeface="+mj-cs"/>
              </a:defRPr>
            </a:lvl1pPr>
            <a:lvl2pPr algn="l" rtl="0" eaLnBrk="0" fontAlgn="base" hangingPunct="0">
              <a:lnSpc>
                <a:spcPct val="90000"/>
              </a:lnSpc>
              <a:spcBef>
                <a:spcPct val="0"/>
              </a:spcBef>
              <a:spcAft>
                <a:spcPct val="0"/>
              </a:spcAft>
              <a:defRPr sz="2400" b="1">
                <a:solidFill>
                  <a:schemeClr val="tx2"/>
                </a:solidFill>
                <a:latin typeface="Arial" charset="0"/>
              </a:defRPr>
            </a:lvl2pPr>
            <a:lvl3pPr algn="l" rtl="0" eaLnBrk="0" fontAlgn="base" hangingPunct="0">
              <a:lnSpc>
                <a:spcPct val="90000"/>
              </a:lnSpc>
              <a:spcBef>
                <a:spcPct val="0"/>
              </a:spcBef>
              <a:spcAft>
                <a:spcPct val="0"/>
              </a:spcAft>
              <a:defRPr sz="2400" b="1">
                <a:solidFill>
                  <a:schemeClr val="tx2"/>
                </a:solidFill>
                <a:latin typeface="Arial" charset="0"/>
              </a:defRPr>
            </a:lvl3pPr>
            <a:lvl4pPr algn="l" rtl="0" eaLnBrk="0" fontAlgn="base" hangingPunct="0">
              <a:lnSpc>
                <a:spcPct val="90000"/>
              </a:lnSpc>
              <a:spcBef>
                <a:spcPct val="0"/>
              </a:spcBef>
              <a:spcAft>
                <a:spcPct val="0"/>
              </a:spcAft>
              <a:defRPr sz="2400" b="1">
                <a:solidFill>
                  <a:schemeClr val="tx2"/>
                </a:solidFill>
                <a:latin typeface="Arial" charset="0"/>
              </a:defRPr>
            </a:lvl4pPr>
            <a:lvl5pPr algn="l" rtl="0" eaLnBrk="0" fontAlgn="base" hangingPunct="0">
              <a:lnSpc>
                <a:spcPct val="90000"/>
              </a:lnSpc>
              <a:spcBef>
                <a:spcPct val="0"/>
              </a:spcBef>
              <a:spcAft>
                <a:spcPct val="0"/>
              </a:spcAft>
              <a:defRPr sz="2400" b="1">
                <a:solidFill>
                  <a:schemeClr val="tx2"/>
                </a:solidFill>
                <a:latin typeface="Arial" charset="0"/>
              </a:defRPr>
            </a:lvl5pPr>
            <a:lvl6pPr marL="457200" algn="l" rtl="0" fontAlgn="base">
              <a:lnSpc>
                <a:spcPct val="90000"/>
              </a:lnSpc>
              <a:spcBef>
                <a:spcPct val="0"/>
              </a:spcBef>
              <a:spcAft>
                <a:spcPct val="0"/>
              </a:spcAft>
              <a:defRPr sz="2400" b="1">
                <a:solidFill>
                  <a:schemeClr val="tx2"/>
                </a:solidFill>
                <a:latin typeface="Arial" charset="0"/>
              </a:defRPr>
            </a:lvl6pPr>
            <a:lvl7pPr marL="914400" algn="l" rtl="0" fontAlgn="base">
              <a:lnSpc>
                <a:spcPct val="90000"/>
              </a:lnSpc>
              <a:spcBef>
                <a:spcPct val="0"/>
              </a:spcBef>
              <a:spcAft>
                <a:spcPct val="0"/>
              </a:spcAft>
              <a:defRPr sz="2400" b="1">
                <a:solidFill>
                  <a:schemeClr val="tx2"/>
                </a:solidFill>
                <a:latin typeface="Arial" charset="0"/>
              </a:defRPr>
            </a:lvl7pPr>
            <a:lvl8pPr marL="1371600" algn="l" rtl="0" fontAlgn="base">
              <a:lnSpc>
                <a:spcPct val="90000"/>
              </a:lnSpc>
              <a:spcBef>
                <a:spcPct val="0"/>
              </a:spcBef>
              <a:spcAft>
                <a:spcPct val="0"/>
              </a:spcAft>
              <a:defRPr sz="2400" b="1">
                <a:solidFill>
                  <a:schemeClr val="tx2"/>
                </a:solidFill>
                <a:latin typeface="Arial" charset="0"/>
              </a:defRPr>
            </a:lvl8pPr>
            <a:lvl9pPr marL="1828800" algn="l" rtl="0" fontAlgn="base">
              <a:lnSpc>
                <a:spcPct val="90000"/>
              </a:lnSpc>
              <a:spcBef>
                <a:spcPct val="0"/>
              </a:spcBef>
              <a:spcAft>
                <a:spcPct val="0"/>
              </a:spcAft>
              <a:defRPr sz="2400" b="1">
                <a:solidFill>
                  <a:schemeClr val="tx2"/>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GB" sz="24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Petroleum system</a:t>
            </a:r>
            <a:br>
              <a:rPr kumimoji="0" lang="en-GB" sz="20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br>
            <a:endParaRPr kumimoji="0" lang="en-US" sz="14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endParaRPr>
          </a:p>
        </p:txBody>
      </p:sp>
      <p:pic>
        <p:nvPicPr>
          <p:cNvPr id="9" name="Picture 2" descr="example of a petroleum systems chart">
            <a:extLst>
              <a:ext uri="{FF2B5EF4-FFF2-40B4-BE49-F238E27FC236}">
                <a16:creationId xmlns:a16="http://schemas.microsoft.com/office/drawing/2014/main" id="{AE095C70-D502-7D4A-B494-397920349550}"/>
              </a:ext>
            </a:extLst>
          </p:cNvPr>
          <p:cNvPicPr>
            <a:picLocks noChangeAspect="1" noChangeArrowheads="1"/>
          </p:cNvPicPr>
          <p:nvPr/>
        </p:nvPicPr>
        <p:blipFill>
          <a:blip r:embed="rId2" cstate="print"/>
          <a:srcRect l="13453" t="20293" r="4286" b="4778"/>
          <a:stretch>
            <a:fillRect/>
          </a:stretch>
        </p:blipFill>
        <p:spPr bwMode="auto">
          <a:xfrm>
            <a:off x="2083744" y="891018"/>
            <a:ext cx="8060274" cy="4893060"/>
          </a:xfrm>
          <a:prstGeom prst="rect">
            <a:avLst/>
          </a:prstGeom>
          <a:noFill/>
        </p:spPr>
      </p:pic>
    </p:spTree>
    <p:extLst>
      <p:ext uri="{BB962C8B-B14F-4D97-AF65-F5344CB8AC3E}">
        <p14:creationId xmlns:p14="http://schemas.microsoft.com/office/powerpoint/2010/main" val="2660485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C3C00E-9F79-9149-AE9A-BACC232FBD07}"/>
              </a:ext>
            </a:extLst>
          </p:cNvPr>
          <p:cNvSpPr txBox="1">
            <a:spLocks noGrp="1"/>
          </p:cNvSpPr>
          <p:nvPr>
            <p:ph type="title" idx="4294967295"/>
          </p:nvPr>
        </p:nvSpPr>
        <p:spPr>
          <a:xfrm>
            <a:off x="393290" y="274600"/>
            <a:ext cx="11434916" cy="28931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mn-lt"/>
                <a:ea typeface="+mn-ea"/>
                <a:cs typeface="+mn-cs"/>
              </a:rPr>
              <a:t>Petroleum systems exercise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Overleaf shows a geological cross section through the south Pyrenean foreland basin in Spain (modified after Robert 2018), the geological column in a well drilled in the center, and the subsidence curve for that well. This data set allows an assessment of the petroleum system in the basin. The aim of the exercise is to complete the systems chart overleaf.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Tasks: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1. Using the stratigraphic column, identify the petroleum systems elements (source, reservoir, seal, overburden). There may be more than one of each.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2. Determine from the cross section the most likely traps, where they are, their type (stratigraphic vs structural), and when they formed – the latter information should go in the systems chart.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3. Draw the subsidence chart for the well, establish the thermal history of the well, and determine timings for oil/gas generation (see last week’s exercise).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4. When was (were) the critical moment(s)?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5. Do you expect oil and/or gas in any reservoirs?</a:t>
            </a:r>
          </a:p>
        </p:txBody>
      </p:sp>
    </p:spTree>
    <p:extLst>
      <p:ext uri="{BB962C8B-B14F-4D97-AF65-F5344CB8AC3E}">
        <p14:creationId xmlns:p14="http://schemas.microsoft.com/office/powerpoint/2010/main" val="4230650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eological map for the exercise">
            <a:extLst>
              <a:ext uri="{FF2B5EF4-FFF2-40B4-BE49-F238E27FC236}">
                <a16:creationId xmlns:a16="http://schemas.microsoft.com/office/drawing/2014/main" id="{667D1EF5-6CCC-3040-A92C-FB77A12927F1}"/>
              </a:ext>
            </a:extLst>
          </p:cNvPr>
          <p:cNvPicPr>
            <a:picLocks noChangeAspect="1"/>
          </p:cNvPicPr>
          <p:nvPr/>
        </p:nvPicPr>
        <p:blipFill>
          <a:blip r:embed="rId2"/>
          <a:stretch>
            <a:fillRect/>
          </a:stretch>
        </p:blipFill>
        <p:spPr>
          <a:xfrm>
            <a:off x="6678592" y="2833492"/>
            <a:ext cx="4949062" cy="3637639"/>
          </a:xfrm>
          <a:prstGeom prst="rect">
            <a:avLst/>
          </a:prstGeom>
        </p:spPr>
      </p:pic>
      <p:pic>
        <p:nvPicPr>
          <p:cNvPr id="3" name="Picture 2" descr="geological cross section for the exercise">
            <a:extLst>
              <a:ext uri="{FF2B5EF4-FFF2-40B4-BE49-F238E27FC236}">
                <a16:creationId xmlns:a16="http://schemas.microsoft.com/office/drawing/2014/main" id="{D1DCDF46-CB24-5A4F-97C4-4833DFC40E7B}"/>
              </a:ext>
            </a:extLst>
          </p:cNvPr>
          <p:cNvPicPr>
            <a:picLocks noChangeAspect="1"/>
          </p:cNvPicPr>
          <p:nvPr/>
        </p:nvPicPr>
        <p:blipFill rotWithShape="1">
          <a:blip r:embed="rId3"/>
          <a:srcRect l="5806" t="7936" r="4684" b="62512"/>
          <a:stretch/>
        </p:blipFill>
        <p:spPr>
          <a:xfrm>
            <a:off x="1393370" y="150517"/>
            <a:ext cx="9427029" cy="2199393"/>
          </a:xfrm>
          <a:prstGeom prst="rect">
            <a:avLst/>
          </a:prstGeom>
        </p:spPr>
      </p:pic>
      <p:sp>
        <p:nvSpPr>
          <p:cNvPr id="4" name="TextBox 3">
            <a:extLst>
              <a:ext uri="{FF2B5EF4-FFF2-40B4-BE49-F238E27FC236}">
                <a16:creationId xmlns:a16="http://schemas.microsoft.com/office/drawing/2014/main" id="{A4469DB0-8752-624B-9C47-81BAFA53AF55}"/>
              </a:ext>
            </a:extLst>
          </p:cNvPr>
          <p:cNvSpPr txBox="1"/>
          <p:nvPr/>
        </p:nvSpPr>
        <p:spPr>
          <a:xfrm>
            <a:off x="5812971" y="326571"/>
            <a:ext cx="484428" cy="307777"/>
          </a:xfrm>
          <a:prstGeom prst="rect">
            <a:avLst/>
          </a:prstGeom>
          <a:noFill/>
        </p:spPr>
        <p:txBody>
          <a:bodyPr wrap="none" rtlCol="0">
            <a:spAutoFit/>
          </a:bodyPr>
          <a:lstStyle/>
          <a:p>
            <a:r>
              <a:rPr lang="en-US" sz="1400" dirty="0"/>
              <a:t>well</a:t>
            </a:r>
          </a:p>
        </p:txBody>
      </p:sp>
      <p:sp>
        <p:nvSpPr>
          <p:cNvPr id="7" name="TextBox 6">
            <a:extLst>
              <a:ext uri="{FF2B5EF4-FFF2-40B4-BE49-F238E27FC236}">
                <a16:creationId xmlns:a16="http://schemas.microsoft.com/office/drawing/2014/main" id="{560D1953-6BD9-7C4C-8734-8385A5902785}"/>
              </a:ext>
            </a:extLst>
          </p:cNvPr>
          <p:cNvSpPr txBox="1"/>
          <p:nvPr/>
        </p:nvSpPr>
        <p:spPr>
          <a:xfrm>
            <a:off x="11125200" y="6444342"/>
            <a:ext cx="628698" cy="307777"/>
          </a:xfrm>
          <a:prstGeom prst="rect">
            <a:avLst/>
          </a:prstGeom>
          <a:noFill/>
        </p:spPr>
        <p:txBody>
          <a:bodyPr wrap="none" rtlCol="0">
            <a:spAutoFit/>
          </a:bodyPr>
          <a:lstStyle/>
          <a:p>
            <a:r>
              <a:rPr lang="en-US" sz="1400" dirty="0"/>
              <a:t>© IGC</a:t>
            </a:r>
          </a:p>
        </p:txBody>
      </p:sp>
      <p:sp>
        <p:nvSpPr>
          <p:cNvPr id="8" name="Freeform 7">
            <a:extLst>
              <a:ext uri="{FF2B5EF4-FFF2-40B4-BE49-F238E27FC236}">
                <a16:creationId xmlns:a16="http://schemas.microsoft.com/office/drawing/2014/main" id="{C580B6CF-1DB0-E64C-A34B-4EA1661756AB}"/>
              </a:ext>
              <a:ext uri="{C183D7F6-B498-43B3-948B-1728B52AA6E4}">
                <adec:decorative xmlns:adec="http://schemas.microsoft.com/office/drawing/2017/decorative" val="1"/>
              </a:ext>
            </a:extLst>
          </p:cNvPr>
          <p:cNvSpPr/>
          <p:nvPr/>
        </p:nvSpPr>
        <p:spPr>
          <a:xfrm flipH="1">
            <a:off x="9865941" y="2905246"/>
            <a:ext cx="516549" cy="3229335"/>
          </a:xfrm>
          <a:custGeom>
            <a:avLst/>
            <a:gdLst>
              <a:gd name="connsiteX0" fmla="*/ 0 w 1498921"/>
              <a:gd name="connsiteY0" fmla="*/ 2187615 h 2187615"/>
              <a:gd name="connsiteX1" fmla="*/ 625033 w 1498921"/>
              <a:gd name="connsiteY1" fmla="*/ 1464198 h 2187615"/>
              <a:gd name="connsiteX2" fmla="*/ 1498921 w 1498921"/>
              <a:gd name="connsiteY2" fmla="*/ 0 h 2187615"/>
              <a:gd name="connsiteX3" fmla="*/ 1498921 w 1498921"/>
              <a:gd name="connsiteY3" fmla="*/ 0 h 2187615"/>
              <a:gd name="connsiteX4" fmla="*/ 1498921 w 1498921"/>
              <a:gd name="connsiteY4" fmla="*/ 0 h 2187615"/>
              <a:gd name="connsiteX0" fmla="*/ 0 w 9818442"/>
              <a:gd name="connsiteY0" fmla="*/ 2187615 h 2187615"/>
              <a:gd name="connsiteX1" fmla="*/ 9818442 w 9818442"/>
              <a:gd name="connsiteY1" fmla="*/ 1139798 h 2187615"/>
              <a:gd name="connsiteX2" fmla="*/ 1498921 w 9818442"/>
              <a:gd name="connsiteY2" fmla="*/ 0 h 2187615"/>
              <a:gd name="connsiteX3" fmla="*/ 1498921 w 9818442"/>
              <a:gd name="connsiteY3" fmla="*/ 0 h 2187615"/>
              <a:gd name="connsiteX4" fmla="*/ 1498921 w 9818442"/>
              <a:gd name="connsiteY4" fmla="*/ 0 h 2187615"/>
              <a:gd name="connsiteX0" fmla="*/ 199862 w 8319521"/>
              <a:gd name="connsiteY0" fmla="*/ 2216727 h 2216727"/>
              <a:gd name="connsiteX1" fmla="*/ 8319521 w 8319521"/>
              <a:gd name="connsiteY1" fmla="*/ 1139798 h 2216727"/>
              <a:gd name="connsiteX2" fmla="*/ 0 w 8319521"/>
              <a:gd name="connsiteY2" fmla="*/ 0 h 2216727"/>
              <a:gd name="connsiteX3" fmla="*/ 0 w 8319521"/>
              <a:gd name="connsiteY3" fmla="*/ 0 h 2216727"/>
              <a:gd name="connsiteX4" fmla="*/ 0 w 8319521"/>
              <a:gd name="connsiteY4" fmla="*/ 0 h 2216727"/>
              <a:gd name="connsiteX0" fmla="*/ 799430 w 8919089"/>
              <a:gd name="connsiteY0" fmla="*/ 2320701 h 2320701"/>
              <a:gd name="connsiteX1" fmla="*/ 8919089 w 8919089"/>
              <a:gd name="connsiteY1" fmla="*/ 1243772 h 2320701"/>
              <a:gd name="connsiteX2" fmla="*/ 599568 w 8919089"/>
              <a:gd name="connsiteY2" fmla="*/ 103974 h 2320701"/>
              <a:gd name="connsiteX3" fmla="*/ 599568 w 8919089"/>
              <a:gd name="connsiteY3" fmla="*/ 103974 h 2320701"/>
              <a:gd name="connsiteX4" fmla="*/ 0 w 8919089"/>
              <a:gd name="connsiteY4" fmla="*/ 0 h 2320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089" h="2320701">
                <a:moveTo>
                  <a:pt x="799430" y="2320701"/>
                </a:moveTo>
                <a:lnTo>
                  <a:pt x="8919089" y="1243772"/>
                </a:lnTo>
                <a:lnTo>
                  <a:pt x="599568" y="103974"/>
                </a:lnTo>
                <a:lnTo>
                  <a:pt x="599568" y="103974"/>
                </a:lnTo>
                <a:lnTo>
                  <a:pt x="0" y="0"/>
                </a:ln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774241C-7F94-CD41-B847-A9F2076932F0}"/>
              </a:ext>
            </a:extLst>
          </p:cNvPr>
          <p:cNvSpPr txBox="1"/>
          <p:nvPr/>
        </p:nvSpPr>
        <p:spPr>
          <a:xfrm>
            <a:off x="6597897" y="2513839"/>
            <a:ext cx="2849306" cy="307777"/>
          </a:xfrm>
          <a:prstGeom prst="rect">
            <a:avLst/>
          </a:prstGeom>
          <a:noFill/>
        </p:spPr>
        <p:txBody>
          <a:bodyPr wrap="none" rtlCol="0">
            <a:spAutoFit/>
          </a:bodyPr>
          <a:lstStyle/>
          <a:p>
            <a:r>
              <a:rPr lang="en-US" sz="1400" dirty="0"/>
              <a:t>Geological map (colors not identical)</a:t>
            </a:r>
          </a:p>
        </p:txBody>
      </p:sp>
      <p:sp>
        <p:nvSpPr>
          <p:cNvPr id="12" name="Rectangle 11">
            <a:extLst>
              <a:ext uri="{FF2B5EF4-FFF2-40B4-BE49-F238E27FC236}">
                <a16:creationId xmlns:a16="http://schemas.microsoft.com/office/drawing/2014/main" id="{AE568130-4D5E-2543-990F-E1E1DC87584F}"/>
              </a:ext>
              <a:ext uri="{C183D7F6-B498-43B3-948B-1728B52AA6E4}">
                <adec:decorative xmlns:adec="http://schemas.microsoft.com/office/drawing/2017/decorative" val="1"/>
              </a:ext>
            </a:extLst>
          </p:cNvPr>
          <p:cNvSpPr/>
          <p:nvPr/>
        </p:nvSpPr>
        <p:spPr>
          <a:xfrm>
            <a:off x="3293235" y="2240954"/>
            <a:ext cx="806817" cy="1482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tratigraphic column for the exercise">
            <a:extLst>
              <a:ext uri="{FF2B5EF4-FFF2-40B4-BE49-F238E27FC236}">
                <a16:creationId xmlns:a16="http://schemas.microsoft.com/office/drawing/2014/main" id="{92795A6F-240D-1340-829E-67242C61893E}"/>
              </a:ext>
            </a:extLst>
          </p:cNvPr>
          <p:cNvPicPr>
            <a:picLocks noChangeAspect="1"/>
          </p:cNvPicPr>
          <p:nvPr/>
        </p:nvPicPr>
        <p:blipFill rotWithShape="1">
          <a:blip r:embed="rId4"/>
          <a:srcRect l="7939" t="35781" r="61648" b="2447"/>
          <a:stretch/>
        </p:blipFill>
        <p:spPr>
          <a:xfrm>
            <a:off x="1574157" y="2194559"/>
            <a:ext cx="3148314" cy="4518758"/>
          </a:xfrm>
          <a:prstGeom prst="rect">
            <a:avLst/>
          </a:prstGeom>
        </p:spPr>
      </p:pic>
    </p:spTree>
    <p:extLst>
      <p:ext uri="{BB962C8B-B14F-4D97-AF65-F5344CB8AC3E}">
        <p14:creationId xmlns:p14="http://schemas.microsoft.com/office/powerpoint/2010/main" val="1502809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petroleum systems chart for the exercise">
            <a:extLst>
              <a:ext uri="{FF2B5EF4-FFF2-40B4-BE49-F238E27FC236}">
                <a16:creationId xmlns:a16="http://schemas.microsoft.com/office/drawing/2014/main" id="{09F37A87-14F4-C642-ABF0-95CD6D0FF896}"/>
              </a:ext>
            </a:extLst>
          </p:cNvPr>
          <p:cNvPicPr>
            <a:picLocks noChangeAspect="1"/>
          </p:cNvPicPr>
          <p:nvPr/>
        </p:nvPicPr>
        <p:blipFill rotWithShape="1">
          <a:blip r:embed="rId2"/>
          <a:srcRect l="3195" t="8373" r="2024" b="58449"/>
          <a:stretch/>
        </p:blipFill>
        <p:spPr>
          <a:xfrm>
            <a:off x="350577" y="574158"/>
            <a:ext cx="11547554" cy="5720316"/>
          </a:xfrm>
          <a:prstGeom prst="rect">
            <a:avLst/>
          </a:prstGeom>
        </p:spPr>
      </p:pic>
    </p:spTree>
    <p:extLst>
      <p:ext uri="{BB962C8B-B14F-4D97-AF65-F5344CB8AC3E}">
        <p14:creationId xmlns:p14="http://schemas.microsoft.com/office/powerpoint/2010/main" val="155401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eological cross section for the exercise">
            <a:extLst>
              <a:ext uri="{FF2B5EF4-FFF2-40B4-BE49-F238E27FC236}">
                <a16:creationId xmlns:a16="http://schemas.microsoft.com/office/drawing/2014/main" id="{D1DCDF46-CB24-5A4F-97C4-4833DFC40E7B}"/>
              </a:ext>
            </a:extLst>
          </p:cNvPr>
          <p:cNvPicPr>
            <a:picLocks noChangeAspect="1"/>
          </p:cNvPicPr>
          <p:nvPr/>
        </p:nvPicPr>
        <p:blipFill rotWithShape="1">
          <a:blip r:embed="rId2"/>
          <a:srcRect l="5806" t="7936" r="4684" b="62656"/>
          <a:stretch/>
        </p:blipFill>
        <p:spPr>
          <a:xfrm>
            <a:off x="202650" y="161149"/>
            <a:ext cx="11854268" cy="2752171"/>
          </a:xfrm>
          <a:prstGeom prst="rect">
            <a:avLst/>
          </a:prstGeom>
        </p:spPr>
      </p:pic>
      <p:sp>
        <p:nvSpPr>
          <p:cNvPr id="2" name="Rectangle 1">
            <a:extLst>
              <a:ext uri="{FF2B5EF4-FFF2-40B4-BE49-F238E27FC236}">
                <a16:creationId xmlns:a16="http://schemas.microsoft.com/office/drawing/2014/main" id="{2EDEB8F6-393E-F743-86C0-8A49B7E08F12}"/>
              </a:ext>
              <a:ext uri="{C183D7F6-B498-43B3-948B-1728B52AA6E4}">
                <adec:decorative xmlns:adec="http://schemas.microsoft.com/office/drawing/2017/decorative" val="1"/>
              </a:ext>
            </a:extLst>
          </p:cNvPr>
          <p:cNvSpPr/>
          <p:nvPr/>
        </p:nvSpPr>
        <p:spPr>
          <a:xfrm>
            <a:off x="2604977" y="2732567"/>
            <a:ext cx="988828" cy="287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tratigraphic column for the exercise">
            <a:extLst>
              <a:ext uri="{FF2B5EF4-FFF2-40B4-BE49-F238E27FC236}">
                <a16:creationId xmlns:a16="http://schemas.microsoft.com/office/drawing/2014/main" id="{FB022803-7021-8FAA-89A7-69401AC40699}"/>
              </a:ext>
            </a:extLst>
          </p:cNvPr>
          <p:cNvPicPr>
            <a:picLocks noChangeAspect="1"/>
          </p:cNvPicPr>
          <p:nvPr/>
        </p:nvPicPr>
        <p:blipFill rotWithShape="1">
          <a:blip r:embed="rId3"/>
          <a:srcRect l="7939" t="35781" r="61648" b="2447"/>
          <a:stretch/>
        </p:blipFill>
        <p:spPr>
          <a:xfrm>
            <a:off x="901554" y="2783475"/>
            <a:ext cx="2573458" cy="3693671"/>
          </a:xfrm>
          <a:prstGeom prst="rect">
            <a:avLst/>
          </a:prstGeom>
        </p:spPr>
      </p:pic>
      <p:sp>
        <p:nvSpPr>
          <p:cNvPr id="5" name="TextBox 4">
            <a:extLst>
              <a:ext uri="{FF2B5EF4-FFF2-40B4-BE49-F238E27FC236}">
                <a16:creationId xmlns:a16="http://schemas.microsoft.com/office/drawing/2014/main" id="{DB0CEF78-CEA8-A2DA-693D-B80FF2EE3833}"/>
              </a:ext>
            </a:extLst>
          </p:cNvPr>
          <p:cNvSpPr txBox="1"/>
          <p:nvPr/>
        </p:nvSpPr>
        <p:spPr>
          <a:xfrm>
            <a:off x="3529327" y="4271486"/>
            <a:ext cx="526106" cy="338554"/>
          </a:xfrm>
          <a:prstGeom prst="rect">
            <a:avLst/>
          </a:prstGeom>
          <a:noFill/>
        </p:spPr>
        <p:txBody>
          <a:bodyPr wrap="none" rtlCol="0">
            <a:spAutoFit/>
          </a:bodyPr>
          <a:lstStyle/>
          <a:p>
            <a:r>
              <a:rPr lang="en-US" sz="1600" dirty="0">
                <a:solidFill>
                  <a:schemeClr val="accent4">
                    <a:lumMod val="50000"/>
                  </a:schemeClr>
                </a:solidFill>
              </a:rPr>
              <a:t>Seal</a:t>
            </a:r>
          </a:p>
        </p:txBody>
      </p:sp>
      <p:sp>
        <p:nvSpPr>
          <p:cNvPr id="6" name="TextBox 5">
            <a:extLst>
              <a:ext uri="{FF2B5EF4-FFF2-40B4-BE49-F238E27FC236}">
                <a16:creationId xmlns:a16="http://schemas.microsoft.com/office/drawing/2014/main" id="{2B01E715-ED95-1197-55EA-3067B1CD5C8C}"/>
              </a:ext>
            </a:extLst>
          </p:cNvPr>
          <p:cNvSpPr txBox="1"/>
          <p:nvPr/>
        </p:nvSpPr>
        <p:spPr>
          <a:xfrm>
            <a:off x="3529327" y="2834980"/>
            <a:ext cx="526106" cy="338554"/>
          </a:xfrm>
          <a:prstGeom prst="rect">
            <a:avLst/>
          </a:prstGeom>
          <a:noFill/>
        </p:spPr>
        <p:txBody>
          <a:bodyPr wrap="none" rtlCol="0">
            <a:spAutoFit/>
          </a:bodyPr>
          <a:lstStyle/>
          <a:p>
            <a:r>
              <a:rPr lang="en-US" sz="1600" dirty="0">
                <a:solidFill>
                  <a:schemeClr val="accent2">
                    <a:lumMod val="50000"/>
                  </a:schemeClr>
                </a:solidFill>
              </a:rPr>
              <a:t>Seal</a:t>
            </a:r>
          </a:p>
        </p:txBody>
      </p:sp>
      <p:sp>
        <p:nvSpPr>
          <p:cNvPr id="7" name="TextBox 6">
            <a:extLst>
              <a:ext uri="{FF2B5EF4-FFF2-40B4-BE49-F238E27FC236}">
                <a16:creationId xmlns:a16="http://schemas.microsoft.com/office/drawing/2014/main" id="{1630BCDF-6192-BE30-1500-F1E5BADF041D}"/>
              </a:ext>
            </a:extLst>
          </p:cNvPr>
          <p:cNvSpPr txBox="1"/>
          <p:nvPr/>
        </p:nvSpPr>
        <p:spPr>
          <a:xfrm>
            <a:off x="3529327" y="3237690"/>
            <a:ext cx="971356" cy="338554"/>
          </a:xfrm>
          <a:prstGeom prst="rect">
            <a:avLst/>
          </a:prstGeom>
          <a:noFill/>
        </p:spPr>
        <p:txBody>
          <a:bodyPr wrap="none" rtlCol="0">
            <a:spAutoFit/>
          </a:bodyPr>
          <a:lstStyle/>
          <a:p>
            <a:r>
              <a:rPr lang="en-US" sz="1600" dirty="0">
                <a:solidFill>
                  <a:schemeClr val="accent4">
                    <a:lumMod val="60000"/>
                    <a:lumOff val="40000"/>
                  </a:schemeClr>
                </a:solidFill>
              </a:rPr>
              <a:t>Reservoir</a:t>
            </a:r>
          </a:p>
        </p:txBody>
      </p:sp>
      <p:sp>
        <p:nvSpPr>
          <p:cNvPr id="8" name="TextBox 7">
            <a:extLst>
              <a:ext uri="{FF2B5EF4-FFF2-40B4-BE49-F238E27FC236}">
                <a16:creationId xmlns:a16="http://schemas.microsoft.com/office/drawing/2014/main" id="{3AAF62CB-3EE0-B393-A5F7-00C28657E75E}"/>
              </a:ext>
            </a:extLst>
          </p:cNvPr>
          <p:cNvSpPr txBox="1"/>
          <p:nvPr/>
        </p:nvSpPr>
        <p:spPr>
          <a:xfrm>
            <a:off x="3529327" y="4946387"/>
            <a:ext cx="971356" cy="338554"/>
          </a:xfrm>
          <a:prstGeom prst="rect">
            <a:avLst/>
          </a:prstGeom>
          <a:noFill/>
        </p:spPr>
        <p:txBody>
          <a:bodyPr wrap="none" rtlCol="0">
            <a:spAutoFit/>
          </a:bodyPr>
          <a:lstStyle/>
          <a:p>
            <a:r>
              <a:rPr lang="en-US" sz="1600" dirty="0">
                <a:solidFill>
                  <a:srgbClr val="00B0F0"/>
                </a:solidFill>
              </a:rPr>
              <a:t>Reservoir</a:t>
            </a:r>
          </a:p>
        </p:txBody>
      </p:sp>
      <p:sp>
        <p:nvSpPr>
          <p:cNvPr id="9" name="TextBox 8">
            <a:extLst>
              <a:ext uri="{FF2B5EF4-FFF2-40B4-BE49-F238E27FC236}">
                <a16:creationId xmlns:a16="http://schemas.microsoft.com/office/drawing/2014/main" id="{FA205C44-AD5C-9C13-90A0-8A4D97B41C31}"/>
              </a:ext>
            </a:extLst>
          </p:cNvPr>
          <p:cNvSpPr txBox="1"/>
          <p:nvPr/>
        </p:nvSpPr>
        <p:spPr>
          <a:xfrm>
            <a:off x="3529327" y="5619425"/>
            <a:ext cx="753924" cy="338554"/>
          </a:xfrm>
          <a:prstGeom prst="rect">
            <a:avLst/>
          </a:prstGeom>
          <a:noFill/>
        </p:spPr>
        <p:txBody>
          <a:bodyPr wrap="none" rtlCol="0">
            <a:spAutoFit/>
          </a:bodyPr>
          <a:lstStyle/>
          <a:p>
            <a:r>
              <a:rPr lang="en-US" sz="1600" dirty="0">
                <a:solidFill>
                  <a:schemeClr val="accent2">
                    <a:lumMod val="75000"/>
                  </a:schemeClr>
                </a:solidFill>
              </a:rPr>
              <a:t>Source</a:t>
            </a:r>
          </a:p>
        </p:txBody>
      </p:sp>
      <p:sp>
        <p:nvSpPr>
          <p:cNvPr id="10" name="TextBox 9">
            <a:extLst>
              <a:ext uri="{FF2B5EF4-FFF2-40B4-BE49-F238E27FC236}">
                <a16:creationId xmlns:a16="http://schemas.microsoft.com/office/drawing/2014/main" id="{F04BCB96-1BBC-45BC-D588-0F36CE488367}"/>
              </a:ext>
            </a:extLst>
          </p:cNvPr>
          <p:cNvSpPr txBox="1"/>
          <p:nvPr/>
        </p:nvSpPr>
        <p:spPr>
          <a:xfrm>
            <a:off x="3529327" y="5903095"/>
            <a:ext cx="526106" cy="338554"/>
          </a:xfrm>
          <a:prstGeom prst="rect">
            <a:avLst/>
          </a:prstGeom>
          <a:noFill/>
        </p:spPr>
        <p:txBody>
          <a:bodyPr wrap="none" rtlCol="0">
            <a:spAutoFit/>
          </a:bodyPr>
          <a:lstStyle/>
          <a:p>
            <a:r>
              <a:rPr lang="en-US" sz="1600" dirty="0">
                <a:solidFill>
                  <a:schemeClr val="accent4">
                    <a:lumMod val="50000"/>
                  </a:schemeClr>
                </a:solidFill>
              </a:rPr>
              <a:t>Seal</a:t>
            </a:r>
          </a:p>
        </p:txBody>
      </p:sp>
      <p:sp>
        <p:nvSpPr>
          <p:cNvPr id="11" name="TextBox 10">
            <a:extLst>
              <a:ext uri="{FF2B5EF4-FFF2-40B4-BE49-F238E27FC236}">
                <a16:creationId xmlns:a16="http://schemas.microsoft.com/office/drawing/2014/main" id="{B4B94796-F925-FBDF-0BED-C85539E70F02}"/>
              </a:ext>
            </a:extLst>
          </p:cNvPr>
          <p:cNvSpPr txBox="1"/>
          <p:nvPr/>
        </p:nvSpPr>
        <p:spPr>
          <a:xfrm rot="3449027">
            <a:off x="6353521" y="1751083"/>
            <a:ext cx="726481" cy="261610"/>
          </a:xfrm>
          <a:prstGeom prst="rect">
            <a:avLst/>
          </a:prstGeom>
          <a:noFill/>
        </p:spPr>
        <p:txBody>
          <a:bodyPr wrap="none" rtlCol="0">
            <a:spAutoFit/>
          </a:bodyPr>
          <a:lstStyle/>
          <a:p>
            <a:r>
              <a:rPr lang="en-US" sz="1100" dirty="0">
                <a:solidFill>
                  <a:srgbClr val="C00000"/>
                </a:solidFill>
              </a:rPr>
              <a:t>Reservoir</a:t>
            </a:r>
          </a:p>
        </p:txBody>
      </p:sp>
      <p:sp>
        <p:nvSpPr>
          <p:cNvPr id="12" name="TextBox 11">
            <a:extLst>
              <a:ext uri="{FF2B5EF4-FFF2-40B4-BE49-F238E27FC236}">
                <a16:creationId xmlns:a16="http://schemas.microsoft.com/office/drawing/2014/main" id="{29601E5F-0E4B-6682-7CD9-C24B45C9F4A4}"/>
              </a:ext>
            </a:extLst>
          </p:cNvPr>
          <p:cNvSpPr txBox="1"/>
          <p:nvPr/>
        </p:nvSpPr>
        <p:spPr>
          <a:xfrm>
            <a:off x="6107716" y="1341773"/>
            <a:ext cx="418704" cy="261610"/>
          </a:xfrm>
          <a:prstGeom prst="rect">
            <a:avLst/>
          </a:prstGeom>
          <a:noFill/>
        </p:spPr>
        <p:txBody>
          <a:bodyPr wrap="none" rtlCol="0">
            <a:spAutoFit/>
          </a:bodyPr>
          <a:lstStyle/>
          <a:p>
            <a:r>
              <a:rPr lang="en-US" sz="1100" dirty="0">
                <a:solidFill>
                  <a:schemeClr val="accent3">
                    <a:lumMod val="50000"/>
                  </a:schemeClr>
                </a:solidFill>
              </a:rPr>
              <a:t>Seal</a:t>
            </a:r>
          </a:p>
        </p:txBody>
      </p:sp>
      <p:sp>
        <p:nvSpPr>
          <p:cNvPr id="13" name="TextBox 12">
            <a:extLst>
              <a:ext uri="{FF2B5EF4-FFF2-40B4-BE49-F238E27FC236}">
                <a16:creationId xmlns:a16="http://schemas.microsoft.com/office/drawing/2014/main" id="{4D85576A-7AB8-53E0-4C3F-4B90EB4A1A42}"/>
              </a:ext>
            </a:extLst>
          </p:cNvPr>
          <p:cNvSpPr txBox="1"/>
          <p:nvPr/>
        </p:nvSpPr>
        <p:spPr>
          <a:xfrm>
            <a:off x="781176" y="973686"/>
            <a:ext cx="418704" cy="261610"/>
          </a:xfrm>
          <a:prstGeom prst="rect">
            <a:avLst/>
          </a:prstGeom>
          <a:noFill/>
        </p:spPr>
        <p:txBody>
          <a:bodyPr wrap="none" rtlCol="0">
            <a:spAutoFit/>
          </a:bodyPr>
          <a:lstStyle/>
          <a:p>
            <a:r>
              <a:rPr lang="en-US" sz="1100" dirty="0">
                <a:solidFill>
                  <a:schemeClr val="accent3">
                    <a:lumMod val="50000"/>
                  </a:schemeClr>
                </a:solidFill>
              </a:rPr>
              <a:t>Seal</a:t>
            </a:r>
          </a:p>
        </p:txBody>
      </p:sp>
      <p:sp>
        <p:nvSpPr>
          <p:cNvPr id="14" name="TextBox 13">
            <a:extLst>
              <a:ext uri="{FF2B5EF4-FFF2-40B4-BE49-F238E27FC236}">
                <a16:creationId xmlns:a16="http://schemas.microsoft.com/office/drawing/2014/main" id="{A67CE822-E7A6-C6ED-835D-FCED88439670}"/>
              </a:ext>
            </a:extLst>
          </p:cNvPr>
          <p:cNvSpPr txBox="1"/>
          <p:nvPr/>
        </p:nvSpPr>
        <p:spPr>
          <a:xfrm>
            <a:off x="1532486" y="1178400"/>
            <a:ext cx="726481" cy="261610"/>
          </a:xfrm>
          <a:prstGeom prst="rect">
            <a:avLst/>
          </a:prstGeom>
          <a:noFill/>
        </p:spPr>
        <p:txBody>
          <a:bodyPr wrap="none" rtlCol="0">
            <a:spAutoFit/>
          </a:bodyPr>
          <a:lstStyle/>
          <a:p>
            <a:r>
              <a:rPr lang="en-US" sz="1100" dirty="0">
                <a:solidFill>
                  <a:srgbClr val="C00000"/>
                </a:solidFill>
              </a:rPr>
              <a:t>Reservoir</a:t>
            </a:r>
          </a:p>
        </p:txBody>
      </p:sp>
      <p:sp>
        <p:nvSpPr>
          <p:cNvPr id="15" name="TextBox 14">
            <a:extLst>
              <a:ext uri="{FF2B5EF4-FFF2-40B4-BE49-F238E27FC236}">
                <a16:creationId xmlns:a16="http://schemas.microsoft.com/office/drawing/2014/main" id="{FB583211-C8A4-A39B-1B20-CEE7B78CE2CB}"/>
              </a:ext>
            </a:extLst>
          </p:cNvPr>
          <p:cNvSpPr txBox="1"/>
          <p:nvPr/>
        </p:nvSpPr>
        <p:spPr>
          <a:xfrm>
            <a:off x="2299622" y="1024586"/>
            <a:ext cx="726481" cy="261610"/>
          </a:xfrm>
          <a:prstGeom prst="rect">
            <a:avLst/>
          </a:prstGeom>
          <a:noFill/>
        </p:spPr>
        <p:txBody>
          <a:bodyPr wrap="none" rtlCol="0">
            <a:spAutoFit/>
          </a:bodyPr>
          <a:lstStyle/>
          <a:p>
            <a:r>
              <a:rPr lang="en-US" sz="1100" dirty="0">
                <a:solidFill>
                  <a:srgbClr val="C00000"/>
                </a:solidFill>
              </a:rPr>
              <a:t>Reservoir</a:t>
            </a:r>
          </a:p>
        </p:txBody>
      </p:sp>
      <p:sp>
        <p:nvSpPr>
          <p:cNvPr id="16" name="TextBox 15">
            <a:extLst>
              <a:ext uri="{FF2B5EF4-FFF2-40B4-BE49-F238E27FC236}">
                <a16:creationId xmlns:a16="http://schemas.microsoft.com/office/drawing/2014/main" id="{B87F736F-0D0F-554E-9728-9F806F05B264}"/>
              </a:ext>
            </a:extLst>
          </p:cNvPr>
          <p:cNvSpPr txBox="1"/>
          <p:nvPr/>
        </p:nvSpPr>
        <p:spPr>
          <a:xfrm rot="2711284">
            <a:off x="7311369" y="1323567"/>
            <a:ext cx="726481" cy="261610"/>
          </a:xfrm>
          <a:prstGeom prst="rect">
            <a:avLst/>
          </a:prstGeom>
          <a:noFill/>
        </p:spPr>
        <p:txBody>
          <a:bodyPr wrap="none" rtlCol="0">
            <a:spAutoFit/>
          </a:bodyPr>
          <a:lstStyle/>
          <a:p>
            <a:r>
              <a:rPr lang="en-US" sz="1100" dirty="0">
                <a:solidFill>
                  <a:srgbClr val="C00000"/>
                </a:solidFill>
              </a:rPr>
              <a:t>Reservoir</a:t>
            </a:r>
          </a:p>
        </p:txBody>
      </p:sp>
      <p:sp>
        <p:nvSpPr>
          <p:cNvPr id="17" name="TextBox 16">
            <a:extLst>
              <a:ext uri="{FF2B5EF4-FFF2-40B4-BE49-F238E27FC236}">
                <a16:creationId xmlns:a16="http://schemas.microsoft.com/office/drawing/2014/main" id="{FC9B6F91-A092-FDB8-BA19-027C9C158753}"/>
              </a:ext>
            </a:extLst>
          </p:cNvPr>
          <p:cNvSpPr txBox="1"/>
          <p:nvPr/>
        </p:nvSpPr>
        <p:spPr>
          <a:xfrm rot="1373391">
            <a:off x="1978931" y="1037597"/>
            <a:ext cx="418704" cy="261610"/>
          </a:xfrm>
          <a:prstGeom prst="rect">
            <a:avLst/>
          </a:prstGeom>
          <a:noFill/>
        </p:spPr>
        <p:txBody>
          <a:bodyPr wrap="none" rtlCol="0">
            <a:spAutoFit/>
          </a:bodyPr>
          <a:lstStyle/>
          <a:p>
            <a:r>
              <a:rPr lang="en-US" sz="1100" dirty="0">
                <a:solidFill>
                  <a:schemeClr val="accent3">
                    <a:lumMod val="50000"/>
                  </a:schemeClr>
                </a:solidFill>
              </a:rPr>
              <a:t>Seal</a:t>
            </a:r>
          </a:p>
        </p:txBody>
      </p:sp>
      <p:sp>
        <p:nvSpPr>
          <p:cNvPr id="18" name="TextBox 17">
            <a:extLst>
              <a:ext uri="{FF2B5EF4-FFF2-40B4-BE49-F238E27FC236}">
                <a16:creationId xmlns:a16="http://schemas.microsoft.com/office/drawing/2014/main" id="{D6E8278A-AC6B-F0D5-DBD1-3AEE735F665A}"/>
              </a:ext>
            </a:extLst>
          </p:cNvPr>
          <p:cNvSpPr txBox="1"/>
          <p:nvPr/>
        </p:nvSpPr>
        <p:spPr>
          <a:xfrm>
            <a:off x="2770441" y="842881"/>
            <a:ext cx="418704" cy="261610"/>
          </a:xfrm>
          <a:prstGeom prst="rect">
            <a:avLst/>
          </a:prstGeom>
          <a:noFill/>
        </p:spPr>
        <p:txBody>
          <a:bodyPr wrap="none" rtlCol="0">
            <a:spAutoFit/>
          </a:bodyPr>
          <a:lstStyle/>
          <a:p>
            <a:r>
              <a:rPr lang="en-US" sz="1100" dirty="0">
                <a:solidFill>
                  <a:schemeClr val="accent3">
                    <a:lumMod val="50000"/>
                  </a:schemeClr>
                </a:solidFill>
              </a:rPr>
              <a:t>Seal</a:t>
            </a:r>
          </a:p>
        </p:txBody>
      </p:sp>
      <p:sp>
        <p:nvSpPr>
          <p:cNvPr id="19" name="TextBox 18">
            <a:extLst>
              <a:ext uri="{FF2B5EF4-FFF2-40B4-BE49-F238E27FC236}">
                <a16:creationId xmlns:a16="http://schemas.microsoft.com/office/drawing/2014/main" id="{9D0DEBB3-E836-F4F6-92AD-47A4021E8AE1}"/>
              </a:ext>
            </a:extLst>
          </p:cNvPr>
          <p:cNvSpPr txBox="1"/>
          <p:nvPr/>
        </p:nvSpPr>
        <p:spPr>
          <a:xfrm>
            <a:off x="7366435" y="966467"/>
            <a:ext cx="418704" cy="261610"/>
          </a:xfrm>
          <a:prstGeom prst="rect">
            <a:avLst/>
          </a:prstGeom>
          <a:noFill/>
        </p:spPr>
        <p:txBody>
          <a:bodyPr wrap="none" rtlCol="0">
            <a:spAutoFit/>
          </a:bodyPr>
          <a:lstStyle/>
          <a:p>
            <a:r>
              <a:rPr lang="en-US" sz="1100" dirty="0">
                <a:solidFill>
                  <a:schemeClr val="accent3">
                    <a:lumMod val="50000"/>
                  </a:schemeClr>
                </a:solidFill>
              </a:rPr>
              <a:t>Seal</a:t>
            </a:r>
          </a:p>
        </p:txBody>
      </p:sp>
      <p:sp>
        <p:nvSpPr>
          <p:cNvPr id="20" name="TextBox 19">
            <a:extLst>
              <a:ext uri="{FF2B5EF4-FFF2-40B4-BE49-F238E27FC236}">
                <a16:creationId xmlns:a16="http://schemas.microsoft.com/office/drawing/2014/main" id="{0760BDE8-F4D8-C026-AC5E-C2B4DA91D399}"/>
              </a:ext>
            </a:extLst>
          </p:cNvPr>
          <p:cNvSpPr txBox="1"/>
          <p:nvPr/>
        </p:nvSpPr>
        <p:spPr>
          <a:xfrm>
            <a:off x="9087243" y="277134"/>
            <a:ext cx="662361" cy="261610"/>
          </a:xfrm>
          <a:prstGeom prst="rect">
            <a:avLst/>
          </a:prstGeom>
          <a:noFill/>
        </p:spPr>
        <p:txBody>
          <a:bodyPr wrap="none" rtlCol="0">
            <a:spAutoFit/>
          </a:bodyPr>
          <a:lstStyle/>
          <a:p>
            <a:r>
              <a:rPr lang="en-US" sz="1100" dirty="0">
                <a:solidFill>
                  <a:schemeClr val="accent3">
                    <a:lumMod val="50000"/>
                  </a:schemeClr>
                </a:solidFill>
              </a:rPr>
              <a:t>No Seal!</a:t>
            </a:r>
          </a:p>
        </p:txBody>
      </p:sp>
      <p:sp>
        <p:nvSpPr>
          <p:cNvPr id="21" name="TextBox 20">
            <a:extLst>
              <a:ext uri="{FF2B5EF4-FFF2-40B4-BE49-F238E27FC236}">
                <a16:creationId xmlns:a16="http://schemas.microsoft.com/office/drawing/2014/main" id="{EF94320E-5797-6155-5083-B17CED0B3890}"/>
              </a:ext>
            </a:extLst>
          </p:cNvPr>
          <p:cNvSpPr txBox="1"/>
          <p:nvPr/>
        </p:nvSpPr>
        <p:spPr>
          <a:xfrm>
            <a:off x="3529327" y="3722706"/>
            <a:ext cx="971356" cy="338554"/>
          </a:xfrm>
          <a:prstGeom prst="rect">
            <a:avLst/>
          </a:prstGeom>
          <a:noFill/>
        </p:spPr>
        <p:txBody>
          <a:bodyPr wrap="none" rtlCol="0">
            <a:spAutoFit/>
          </a:bodyPr>
          <a:lstStyle/>
          <a:p>
            <a:r>
              <a:rPr lang="en-US" sz="1600" dirty="0">
                <a:solidFill>
                  <a:srgbClr val="00B0F0"/>
                </a:solidFill>
              </a:rPr>
              <a:t>Reservoir</a:t>
            </a:r>
          </a:p>
        </p:txBody>
      </p:sp>
      <p:sp>
        <p:nvSpPr>
          <p:cNvPr id="23" name="TextBox 22">
            <a:extLst>
              <a:ext uri="{FF2B5EF4-FFF2-40B4-BE49-F238E27FC236}">
                <a16:creationId xmlns:a16="http://schemas.microsoft.com/office/drawing/2014/main" id="{356B9E2F-4CC9-E7FF-60E8-6AF86817D6C0}"/>
              </a:ext>
            </a:extLst>
          </p:cNvPr>
          <p:cNvSpPr txBox="1"/>
          <p:nvPr/>
        </p:nvSpPr>
        <p:spPr>
          <a:xfrm rot="19894988">
            <a:off x="4583015" y="906792"/>
            <a:ext cx="726481" cy="261610"/>
          </a:xfrm>
          <a:prstGeom prst="rect">
            <a:avLst/>
          </a:prstGeom>
          <a:noFill/>
        </p:spPr>
        <p:txBody>
          <a:bodyPr wrap="none" rtlCol="0">
            <a:spAutoFit/>
          </a:bodyPr>
          <a:lstStyle/>
          <a:p>
            <a:r>
              <a:rPr lang="en-US" sz="1100" dirty="0">
                <a:solidFill>
                  <a:srgbClr val="C00000"/>
                </a:solidFill>
              </a:rPr>
              <a:t>Reservoir</a:t>
            </a:r>
          </a:p>
        </p:txBody>
      </p:sp>
      <p:sp>
        <p:nvSpPr>
          <p:cNvPr id="24" name="TextBox 23">
            <a:extLst>
              <a:ext uri="{FF2B5EF4-FFF2-40B4-BE49-F238E27FC236}">
                <a16:creationId xmlns:a16="http://schemas.microsoft.com/office/drawing/2014/main" id="{BB7D104D-22A1-C84B-57D9-B4F5D194D3E9}"/>
              </a:ext>
            </a:extLst>
          </p:cNvPr>
          <p:cNvSpPr txBox="1"/>
          <p:nvPr/>
        </p:nvSpPr>
        <p:spPr>
          <a:xfrm>
            <a:off x="3529327" y="5366083"/>
            <a:ext cx="971356" cy="338554"/>
          </a:xfrm>
          <a:prstGeom prst="rect">
            <a:avLst/>
          </a:prstGeom>
          <a:noFill/>
        </p:spPr>
        <p:txBody>
          <a:bodyPr wrap="none" rtlCol="0">
            <a:spAutoFit/>
          </a:bodyPr>
          <a:lstStyle/>
          <a:p>
            <a:r>
              <a:rPr lang="en-US" sz="1600" dirty="0">
                <a:solidFill>
                  <a:schemeClr val="accent4">
                    <a:lumMod val="60000"/>
                    <a:lumOff val="40000"/>
                  </a:schemeClr>
                </a:solidFill>
              </a:rPr>
              <a:t>Reservoir</a:t>
            </a:r>
          </a:p>
        </p:txBody>
      </p:sp>
      <p:sp>
        <p:nvSpPr>
          <p:cNvPr id="26" name="TextBox 25">
            <a:extLst>
              <a:ext uri="{FF2B5EF4-FFF2-40B4-BE49-F238E27FC236}">
                <a16:creationId xmlns:a16="http://schemas.microsoft.com/office/drawing/2014/main" id="{CB48EA28-4EF5-5FB8-8798-2A1C32D53E9A}"/>
              </a:ext>
            </a:extLst>
          </p:cNvPr>
          <p:cNvSpPr txBox="1"/>
          <p:nvPr/>
        </p:nvSpPr>
        <p:spPr>
          <a:xfrm>
            <a:off x="473399" y="1651664"/>
            <a:ext cx="726481" cy="261610"/>
          </a:xfrm>
          <a:prstGeom prst="rect">
            <a:avLst/>
          </a:prstGeom>
          <a:noFill/>
        </p:spPr>
        <p:txBody>
          <a:bodyPr wrap="none" rtlCol="0">
            <a:spAutoFit/>
          </a:bodyPr>
          <a:lstStyle/>
          <a:p>
            <a:r>
              <a:rPr lang="en-US" sz="1100" dirty="0">
                <a:solidFill>
                  <a:srgbClr val="C00000"/>
                </a:solidFill>
              </a:rPr>
              <a:t>Reservoir</a:t>
            </a:r>
          </a:p>
        </p:txBody>
      </p:sp>
    </p:spTree>
    <p:extLst>
      <p:ext uri="{BB962C8B-B14F-4D97-AF65-F5344CB8AC3E}">
        <p14:creationId xmlns:p14="http://schemas.microsoft.com/office/powerpoint/2010/main" val="835147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766342-0C81-55D6-E141-DDCABF4155FE}"/>
              </a:ext>
              <a:ext uri="{C183D7F6-B498-43B3-948B-1728B52AA6E4}">
                <adec:decorative xmlns:adec="http://schemas.microsoft.com/office/drawing/2017/decorative" val="1"/>
              </a:ext>
            </a:extLst>
          </p:cNvPr>
          <p:cNvPicPr>
            <a:picLocks noChangeAspect="1"/>
          </p:cNvPicPr>
          <p:nvPr/>
        </p:nvPicPr>
        <p:blipFill rotWithShape="1">
          <a:blip r:embed="rId2"/>
          <a:srcRect t="5401" b="47004"/>
          <a:stretch/>
        </p:blipFill>
        <p:spPr>
          <a:xfrm>
            <a:off x="478278" y="173619"/>
            <a:ext cx="9572127" cy="6447100"/>
          </a:xfrm>
          <a:prstGeom prst="rect">
            <a:avLst/>
          </a:prstGeom>
        </p:spPr>
      </p:pic>
    </p:spTree>
    <p:extLst>
      <p:ext uri="{BB962C8B-B14F-4D97-AF65-F5344CB8AC3E}">
        <p14:creationId xmlns:p14="http://schemas.microsoft.com/office/powerpoint/2010/main" val="1306076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270</Words>
  <Application>Microsoft Macintosh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Petroleum system </vt:lpstr>
      <vt:lpstr>Petroleum system </vt:lpstr>
      <vt:lpstr>Petroleum systems exercise  Overleaf shows a geological cross section through the south Pyrenean foreland basin in Spain (modified after Robert 2018), the geological column in a well drilled in the center, and the subsidence curve for that well. This data set allows an assessment of the petroleum system in the basin. The aim of the exercise is to complete the systems chart overleaf.  Tasks: 1. Using the stratigraphic column, identify the petroleum systems elements (source, reservoir, seal, overburden). There may be more than one of each. 2. Determine from the cross section the most likely traps, where they are, their type (stratigraphic vs structural), and when they formed – the latter information should go in the systems chart. 3. Draw the subsidence chart for the well, establish the thermal history of the well, and determine timings for oil/gas generation (see last week’s exercise). 4. When was (were) the critical moment(s)? 5. Do you expect oil and/or gas in any reservoirs?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Stefan Schroeder</dc:creator>
  <cp:lastModifiedBy>Stefan Schroeder</cp:lastModifiedBy>
  <cp:revision>36</cp:revision>
  <dcterms:created xsi:type="dcterms:W3CDTF">2021-02-27T18:23:04Z</dcterms:created>
  <dcterms:modified xsi:type="dcterms:W3CDTF">2025-08-04T11:01:51Z</dcterms:modified>
</cp:coreProperties>
</file>