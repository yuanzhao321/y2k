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543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15"/>
    <p:restoredTop sz="96197"/>
  </p:normalViewPr>
  <p:slideViewPr>
    <p:cSldViewPr snapToGrid="0" snapToObjects="1">
      <p:cViewPr varScale="1">
        <p:scale>
          <a:sx n="114" d="100"/>
          <a:sy n="114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7A6FE-9E7A-6341-92BF-D36F614F8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AFC9-8AFC-6A4C-9A0D-C8A13439B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34FE8-4D6D-A244-AA83-87556B79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18C3-8EDE-D441-96A0-C0A03D69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FF872-0985-D049-A19F-E1D7141D6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4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A971-1EBA-8B41-B253-8F7310B2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D475F-5271-D245-8573-E7AF6354B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AEAFF-3F19-874A-8A19-1FCF52C0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40939-7E36-B647-86D6-0DC9E0537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F74A2-91DC-4D45-A777-6969452C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8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CCC4-B6D7-4348-A9DE-F6609540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4236-23DE-6247-A188-24C7B7FCD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18A0C-EC3A-E448-8B84-C4DA98CE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19410-C3EC-9543-986A-2D7C70900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87D53-D76D-EB48-8ABB-A87BE76B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5324-B63D-5543-AFD0-F46B938E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9192C-B866-0442-B727-DA4C26F03A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7A38E-44B8-6549-AC46-6282E1FB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7D61D-5BCA-854E-B944-A646E0862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A32FB-8A3B-764C-9F5F-FC2E36529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1DE5A-4970-BF4F-A2E1-5AC0F0A8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47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F755-E184-C647-89CB-4D874E608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6FB7A-D143-CD47-9098-DDD9C51FC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2AB83-6578-B044-952A-F8BE758B1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19EC7-02E0-F54E-8B46-E1E173312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B6377-A8DC-3242-8CAF-4C84C23AC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53A740-1409-B248-A459-7773E7191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0FA808-FA7A-D44E-A0CF-17B85329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21244-5546-FB4F-B631-CFE61E94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4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C63B-42E9-9540-82C4-12CEDBC8B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3378A-3E28-FA45-B089-A48383E3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F67BFF-B937-A545-B738-10E9C0B7B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FE696-C41B-A44D-A288-FEE89B6EB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2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FD769-90A6-6248-BA69-301031C2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8C3263-52F5-A24C-A7B7-B23FF11A4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3BC7D-71D1-204F-9C60-F827A18F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BBDE0-E840-EF4B-A80F-D38058EB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FB784-044A-A849-8B70-1AB3E4D12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EA69-C41F-5A4B-AEBB-CF64EDEF0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07EDF-0BA2-6447-B47B-1F36B857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E7D5E4-F7F8-B840-A66E-35244EE1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1833C-9B67-E748-8A9E-9D8575AA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1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5646B-FDBB-BF47-9908-85339DD97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07AF4-C4F4-4540-B30A-1C57DFA50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5C5B3-6E31-C543-8BA7-427249DC3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5EBC-81EE-8B49-9DD9-570635CF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294BD-4057-8244-AFE1-6E29263D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8E9075-1BC3-4447-8EB4-420FE995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4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4865-7AAA-334A-8607-987B9471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B1DB6-F4C7-EE48-971A-914909C7B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65FB5-8F5E-FC4F-97BD-D51B20B4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ABA3C-2320-484D-843F-E8B5CF259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04A59-3B52-7349-8617-3443C8BC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4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28E859-3FCC-924E-95C8-332D5A4D00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0D900-CEBA-9F46-AF4B-54E715379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534CA-0E87-154C-80C7-A44DF9FBB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2C3C5-715B-DF4C-AA0E-67743964E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D7AE-A003-7C4B-93AD-A11AFCD4E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5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23AC9-C1A5-0B4C-9A2D-8F4ADDD9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CE833-8306-5748-8D7E-B7FCE61DD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C331D-8B02-5E4C-AEEB-0A73E0BF6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305AA-7241-ED41-9FB9-BC3B17B34A70}" type="datetimeFigureOut">
              <a:rPr lang="en-US" smtClean="0"/>
              <a:t>8/4/25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741E-3BEC-3440-8168-52D7939D2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EECB-A842-9D4F-91F8-16633A0FD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683E3-3918-654E-ACD7-0BADBF0B4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6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C3C00E-9F79-9149-AE9A-BACC232FBD0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" y="102472"/>
            <a:ext cx="12192000" cy="954107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Burial graphs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 have learnt that organic-rich source rocks mature under increasing pressure and temperature as they get buried into the subsurface. In exploration for hydrocarbons, a key element is determining when and where these source rocks have reached conditions that allow maturation of organic matter – i.e. when they passed into oil and gas windows. This can be reconstructed using burial graphs that represent the depth and temperature history of a given rock column through time.</a:t>
            </a:r>
          </a:p>
        </p:txBody>
      </p:sp>
      <p:pic>
        <p:nvPicPr>
          <p:cNvPr id="2" name="Picture 1" descr="burial graph example">
            <a:extLst>
              <a:ext uri="{FF2B5EF4-FFF2-40B4-BE49-F238E27FC236}">
                <a16:creationId xmlns:a16="http://schemas.microsoft.com/office/drawing/2014/main" id="{B12A2DC7-5E93-6E3A-27F3-8CAF9404B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1" t="5680" r="2227" b="2748"/>
          <a:stretch/>
        </p:blipFill>
        <p:spPr>
          <a:xfrm>
            <a:off x="1465065" y="1056579"/>
            <a:ext cx="9223029" cy="57483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F3AE7E-2AC8-756F-E386-C5B0C7F51A28}"/>
              </a:ext>
            </a:extLst>
          </p:cNvPr>
          <p:cNvSpPr txBox="1"/>
          <p:nvPr/>
        </p:nvSpPr>
        <p:spPr>
          <a:xfrm>
            <a:off x="9621848" y="6478529"/>
            <a:ext cx="1045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latin typeface="Arial" panose="020B0604020202020204" pitchFamily="34" charset="0"/>
                <a:cs typeface="Arial" panose="020B0604020202020204" pitchFamily="34" charset="0"/>
              </a:rPr>
              <a:t>Gluyas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2004</a:t>
            </a:r>
          </a:p>
        </p:txBody>
      </p:sp>
    </p:spTree>
    <p:extLst>
      <p:ext uri="{BB962C8B-B14F-4D97-AF65-F5344CB8AC3E}">
        <p14:creationId xmlns:p14="http://schemas.microsoft.com/office/powerpoint/2010/main" val="4230650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geological map of exercise area">
            <a:extLst>
              <a:ext uri="{FF2B5EF4-FFF2-40B4-BE49-F238E27FC236}">
                <a16:creationId xmlns:a16="http://schemas.microsoft.com/office/drawing/2014/main" id="{667D1EF5-6CCC-3040-A92C-FB77A129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592" y="2833492"/>
            <a:ext cx="4949062" cy="3637639"/>
          </a:xfrm>
          <a:prstGeom prst="rect">
            <a:avLst/>
          </a:prstGeom>
        </p:spPr>
      </p:pic>
      <p:pic>
        <p:nvPicPr>
          <p:cNvPr id="3" name="Picture 2" descr="geological cross section of exercise area">
            <a:extLst>
              <a:ext uri="{FF2B5EF4-FFF2-40B4-BE49-F238E27FC236}">
                <a16:creationId xmlns:a16="http://schemas.microsoft.com/office/drawing/2014/main" id="{D1DCDF46-CB24-5A4F-97C4-4833DFC40E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06" t="7936" r="4684" b="62512"/>
          <a:stretch/>
        </p:blipFill>
        <p:spPr>
          <a:xfrm>
            <a:off x="1393370" y="150517"/>
            <a:ext cx="9427029" cy="21993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469DB0-8752-624B-9C47-81BAFA53AF55}"/>
              </a:ext>
            </a:extLst>
          </p:cNvPr>
          <p:cNvSpPr txBox="1"/>
          <p:nvPr/>
        </p:nvSpPr>
        <p:spPr>
          <a:xfrm>
            <a:off x="5812971" y="326571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0D1953-6BD9-7C4C-8734-8385A5902785}"/>
              </a:ext>
            </a:extLst>
          </p:cNvPr>
          <p:cNvSpPr txBox="1"/>
          <p:nvPr/>
        </p:nvSpPr>
        <p:spPr>
          <a:xfrm>
            <a:off x="11125200" y="6444342"/>
            <a:ext cx="628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© IGC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580B6CF-1DB0-E64C-A34B-4EA16617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9865941" y="2905246"/>
            <a:ext cx="516549" cy="3229335"/>
          </a:xfrm>
          <a:custGeom>
            <a:avLst/>
            <a:gdLst>
              <a:gd name="connsiteX0" fmla="*/ 0 w 1498921"/>
              <a:gd name="connsiteY0" fmla="*/ 2187615 h 2187615"/>
              <a:gd name="connsiteX1" fmla="*/ 625033 w 1498921"/>
              <a:gd name="connsiteY1" fmla="*/ 1464198 h 2187615"/>
              <a:gd name="connsiteX2" fmla="*/ 1498921 w 1498921"/>
              <a:gd name="connsiteY2" fmla="*/ 0 h 2187615"/>
              <a:gd name="connsiteX3" fmla="*/ 1498921 w 1498921"/>
              <a:gd name="connsiteY3" fmla="*/ 0 h 2187615"/>
              <a:gd name="connsiteX4" fmla="*/ 1498921 w 1498921"/>
              <a:gd name="connsiteY4" fmla="*/ 0 h 2187615"/>
              <a:gd name="connsiteX0" fmla="*/ 0 w 9818442"/>
              <a:gd name="connsiteY0" fmla="*/ 2187615 h 2187615"/>
              <a:gd name="connsiteX1" fmla="*/ 9818442 w 9818442"/>
              <a:gd name="connsiteY1" fmla="*/ 1139798 h 2187615"/>
              <a:gd name="connsiteX2" fmla="*/ 1498921 w 9818442"/>
              <a:gd name="connsiteY2" fmla="*/ 0 h 2187615"/>
              <a:gd name="connsiteX3" fmla="*/ 1498921 w 9818442"/>
              <a:gd name="connsiteY3" fmla="*/ 0 h 2187615"/>
              <a:gd name="connsiteX4" fmla="*/ 1498921 w 9818442"/>
              <a:gd name="connsiteY4" fmla="*/ 0 h 2187615"/>
              <a:gd name="connsiteX0" fmla="*/ 199862 w 8319521"/>
              <a:gd name="connsiteY0" fmla="*/ 2216727 h 2216727"/>
              <a:gd name="connsiteX1" fmla="*/ 8319521 w 8319521"/>
              <a:gd name="connsiteY1" fmla="*/ 1139798 h 2216727"/>
              <a:gd name="connsiteX2" fmla="*/ 0 w 8319521"/>
              <a:gd name="connsiteY2" fmla="*/ 0 h 2216727"/>
              <a:gd name="connsiteX3" fmla="*/ 0 w 8319521"/>
              <a:gd name="connsiteY3" fmla="*/ 0 h 2216727"/>
              <a:gd name="connsiteX4" fmla="*/ 0 w 8319521"/>
              <a:gd name="connsiteY4" fmla="*/ 0 h 2216727"/>
              <a:gd name="connsiteX0" fmla="*/ 799430 w 8919089"/>
              <a:gd name="connsiteY0" fmla="*/ 2320701 h 2320701"/>
              <a:gd name="connsiteX1" fmla="*/ 8919089 w 8919089"/>
              <a:gd name="connsiteY1" fmla="*/ 1243772 h 2320701"/>
              <a:gd name="connsiteX2" fmla="*/ 599568 w 8919089"/>
              <a:gd name="connsiteY2" fmla="*/ 103974 h 2320701"/>
              <a:gd name="connsiteX3" fmla="*/ 599568 w 8919089"/>
              <a:gd name="connsiteY3" fmla="*/ 103974 h 2320701"/>
              <a:gd name="connsiteX4" fmla="*/ 0 w 8919089"/>
              <a:gd name="connsiteY4" fmla="*/ 0 h 232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19089" h="2320701">
                <a:moveTo>
                  <a:pt x="799430" y="2320701"/>
                </a:moveTo>
                <a:lnTo>
                  <a:pt x="8919089" y="1243772"/>
                </a:lnTo>
                <a:lnTo>
                  <a:pt x="599568" y="103974"/>
                </a:lnTo>
                <a:lnTo>
                  <a:pt x="599568" y="103974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74241C-7F94-CD41-B847-A9F2076932F0}"/>
              </a:ext>
            </a:extLst>
          </p:cNvPr>
          <p:cNvSpPr txBox="1"/>
          <p:nvPr/>
        </p:nvSpPr>
        <p:spPr>
          <a:xfrm>
            <a:off x="6597897" y="2513839"/>
            <a:ext cx="28493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Geological map (colors not identical)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68130-4D5E-2543-990F-E1E1DC875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3235" y="2240954"/>
            <a:ext cx="806817" cy="148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tratigraphic column of exercise area">
            <a:extLst>
              <a:ext uri="{FF2B5EF4-FFF2-40B4-BE49-F238E27FC236}">
                <a16:creationId xmlns:a16="http://schemas.microsoft.com/office/drawing/2014/main" id="{92795A6F-240D-1340-829E-67242C6189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39" t="35781" r="61648" b="2447"/>
          <a:stretch/>
        </p:blipFill>
        <p:spPr>
          <a:xfrm>
            <a:off x="1574157" y="2194559"/>
            <a:ext cx="3148314" cy="451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09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02B249-AD9A-D247-BB14-C1A64FEB3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51"/>
          <a:stretch/>
        </p:blipFill>
        <p:spPr>
          <a:xfrm>
            <a:off x="492369" y="245388"/>
            <a:ext cx="8567224" cy="6367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8E0A69-4234-F2BB-FB90-42E6FF7ECE96}"/>
              </a:ext>
            </a:extLst>
          </p:cNvPr>
          <p:cNvSpPr txBox="1"/>
          <p:nvPr/>
        </p:nvSpPr>
        <p:spPr>
          <a:xfrm>
            <a:off x="9219304" y="597324"/>
            <a:ext cx="280774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Burial graph construction</a:t>
            </a:r>
          </a:p>
          <a:p>
            <a:r>
              <a:rPr lang="en-US" sz="1400" dirty="0"/>
              <a:t>Step 1:</a:t>
            </a:r>
          </a:p>
          <a:p>
            <a:r>
              <a:rPr lang="en-US" sz="1400" dirty="0"/>
              <a:t>Starting from youngest unit (I), use its basal age (20 Myr) to determine when it was at surface -&gt; line A-B</a:t>
            </a:r>
          </a:p>
          <a:p>
            <a:r>
              <a:rPr lang="en-US" sz="1400" dirty="0"/>
              <a:t>All units below will have the same burial rate during this time interval, so draw parallel lines (C-D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endParaRPr lang="en-US" sz="1400" dirty="0"/>
          </a:p>
          <a:p>
            <a:r>
              <a:rPr lang="en-US" sz="1400" dirty="0"/>
              <a:t>Step 2:</a:t>
            </a:r>
          </a:p>
          <a:p>
            <a:r>
              <a:rPr lang="en-US" sz="1400" dirty="0"/>
              <a:t>For the next unit (II), use its basal age (30 Myr) to determine when it was at surface -&gt; line E-C</a:t>
            </a:r>
          </a:p>
          <a:p>
            <a:r>
              <a:rPr lang="en-US" sz="1400" dirty="0"/>
              <a:t>All units below will have the same burial rate during this time interval, so draw parallel lines</a:t>
            </a:r>
          </a:p>
          <a:p>
            <a:endParaRPr lang="en-US" sz="1400" dirty="0"/>
          </a:p>
          <a:p>
            <a:r>
              <a:rPr lang="en-US" sz="1400" dirty="0"/>
              <a:t>Steps 3-4:</a:t>
            </a:r>
          </a:p>
          <a:p>
            <a:r>
              <a:rPr lang="en-US" sz="1400" dirty="0"/>
              <a:t>Systematically follow the same principle, working your way back in time.</a:t>
            </a:r>
          </a:p>
        </p:txBody>
      </p:sp>
    </p:spTree>
    <p:extLst>
      <p:ext uri="{BB962C8B-B14F-4D97-AF65-F5344CB8AC3E}">
        <p14:creationId xmlns:p14="http://schemas.microsoft.com/office/powerpoint/2010/main" val="56691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urial graph for exercise">
            <a:extLst>
              <a:ext uri="{FF2B5EF4-FFF2-40B4-BE49-F238E27FC236}">
                <a16:creationId xmlns:a16="http://schemas.microsoft.com/office/drawing/2014/main" id="{24C42B2D-A36C-AC43-BEF5-9D352ED02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32" b="46836"/>
          <a:stretch/>
        </p:blipFill>
        <p:spPr>
          <a:xfrm>
            <a:off x="489856" y="150469"/>
            <a:ext cx="9545395" cy="647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6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211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Burial graphs We have learnt that organic-rich source rocks mature under increasing pressure and temperature as they get buried into the subsurface. In exploration for hydrocarbons, a key element is determining when and where these source rocks have reached conditions that allow maturation of organic matter – i.e. when they passed into oil and gas windows. This can be reconstructed using burial graphs that represent the depth and temperature history of a given rock column through time.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Schroeder</dc:creator>
  <cp:lastModifiedBy>Stefan Schroeder</cp:lastModifiedBy>
  <cp:revision>38</cp:revision>
  <dcterms:created xsi:type="dcterms:W3CDTF">2021-02-27T18:23:04Z</dcterms:created>
  <dcterms:modified xsi:type="dcterms:W3CDTF">2025-08-04T10:51:59Z</dcterms:modified>
</cp:coreProperties>
</file>