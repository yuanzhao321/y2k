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51" r:id="rId1"/>
  </p:sldMasterIdLst>
  <p:notesMasterIdLst>
    <p:notesMasterId r:id="rId51"/>
  </p:notesMasterIdLst>
  <p:handoutMasterIdLst>
    <p:handoutMasterId r:id="rId52"/>
  </p:handoutMasterIdLst>
  <p:sldIdLst>
    <p:sldId id="316" r:id="rId2"/>
    <p:sldId id="341" r:id="rId3"/>
    <p:sldId id="342" r:id="rId4"/>
    <p:sldId id="366" r:id="rId5"/>
    <p:sldId id="399" r:id="rId6"/>
    <p:sldId id="367" r:id="rId7"/>
    <p:sldId id="344" r:id="rId8"/>
    <p:sldId id="368" r:id="rId9"/>
    <p:sldId id="348" r:id="rId10"/>
    <p:sldId id="345" r:id="rId11"/>
    <p:sldId id="372" r:id="rId12"/>
    <p:sldId id="371" r:id="rId13"/>
    <p:sldId id="369" r:id="rId14"/>
    <p:sldId id="346" r:id="rId15"/>
    <p:sldId id="373" r:id="rId16"/>
    <p:sldId id="349" r:id="rId17"/>
    <p:sldId id="379" r:id="rId18"/>
    <p:sldId id="375" r:id="rId19"/>
    <p:sldId id="374" r:id="rId20"/>
    <p:sldId id="350" r:id="rId21"/>
    <p:sldId id="391" r:id="rId22"/>
    <p:sldId id="351" r:id="rId23"/>
    <p:sldId id="352" r:id="rId24"/>
    <p:sldId id="392" r:id="rId25"/>
    <p:sldId id="393" r:id="rId26"/>
    <p:sldId id="401" r:id="rId27"/>
    <p:sldId id="378" r:id="rId28"/>
    <p:sldId id="382" r:id="rId29"/>
    <p:sldId id="381" r:id="rId30"/>
    <p:sldId id="383" r:id="rId31"/>
    <p:sldId id="353" r:id="rId32"/>
    <p:sldId id="355" r:id="rId33"/>
    <p:sldId id="400" r:id="rId34"/>
    <p:sldId id="394" r:id="rId35"/>
    <p:sldId id="384" r:id="rId36"/>
    <p:sldId id="387" r:id="rId37"/>
    <p:sldId id="385" r:id="rId38"/>
    <p:sldId id="396" r:id="rId39"/>
    <p:sldId id="395" r:id="rId40"/>
    <p:sldId id="356" r:id="rId41"/>
    <p:sldId id="359" r:id="rId42"/>
    <p:sldId id="386" r:id="rId43"/>
    <p:sldId id="388" r:id="rId44"/>
    <p:sldId id="364" r:id="rId45"/>
    <p:sldId id="390" r:id="rId46"/>
    <p:sldId id="397" r:id="rId47"/>
    <p:sldId id="398" r:id="rId48"/>
    <p:sldId id="370" r:id="rId49"/>
    <p:sldId id="363" r:id="rId50"/>
  </p:sldIdLst>
  <p:sldSz cx="9144000" cy="6858000" type="screen4x3"/>
  <p:notesSz cx="6732588" cy="9855200"/>
  <p:defaultTextStyle>
    <a:defPPr>
      <a:defRPr lang="en-GB"/>
    </a:defPPr>
    <a:lvl1pPr algn="l" rtl="0" eaLnBrk="0" fontAlgn="base" hangingPunct="0">
      <a:spcBef>
        <a:spcPct val="20000"/>
      </a:spcBef>
      <a:spcAft>
        <a:spcPct val="0"/>
      </a:spcAft>
      <a:buClr>
        <a:schemeClr val="accent2"/>
      </a:buClr>
      <a:defRPr sz="1600" kern="1200">
        <a:solidFill>
          <a:schemeClr val="tx1"/>
        </a:solidFill>
        <a:effectLst>
          <a:outerShdw blurRad="38100" dist="38100" dir="2700000" algn="tl">
            <a:srgbClr val="000000">
              <a:alpha val="43137"/>
            </a:srgbClr>
          </a:outerShdw>
        </a:effectLst>
        <a:latin typeface="Helvetica" panose="020B0604020202020204" pitchFamily="34" charset="0"/>
        <a:ea typeface="+mn-ea"/>
        <a:cs typeface="+mn-cs"/>
      </a:defRPr>
    </a:lvl1pPr>
    <a:lvl2pPr marL="457200" algn="l" rtl="0" eaLnBrk="0" fontAlgn="base" hangingPunct="0">
      <a:spcBef>
        <a:spcPct val="20000"/>
      </a:spcBef>
      <a:spcAft>
        <a:spcPct val="0"/>
      </a:spcAft>
      <a:buClr>
        <a:schemeClr val="accent2"/>
      </a:buClr>
      <a:defRPr sz="1600" kern="1200">
        <a:solidFill>
          <a:schemeClr val="tx1"/>
        </a:solidFill>
        <a:effectLst>
          <a:outerShdw blurRad="38100" dist="38100" dir="2700000" algn="tl">
            <a:srgbClr val="000000">
              <a:alpha val="43137"/>
            </a:srgbClr>
          </a:outerShdw>
        </a:effectLst>
        <a:latin typeface="Helvetica" panose="020B0604020202020204" pitchFamily="34" charset="0"/>
        <a:ea typeface="+mn-ea"/>
        <a:cs typeface="+mn-cs"/>
      </a:defRPr>
    </a:lvl2pPr>
    <a:lvl3pPr marL="914400" algn="l" rtl="0" eaLnBrk="0" fontAlgn="base" hangingPunct="0">
      <a:spcBef>
        <a:spcPct val="20000"/>
      </a:spcBef>
      <a:spcAft>
        <a:spcPct val="0"/>
      </a:spcAft>
      <a:buClr>
        <a:schemeClr val="accent2"/>
      </a:buClr>
      <a:defRPr sz="1600" kern="1200">
        <a:solidFill>
          <a:schemeClr val="tx1"/>
        </a:solidFill>
        <a:effectLst>
          <a:outerShdw blurRad="38100" dist="38100" dir="2700000" algn="tl">
            <a:srgbClr val="000000">
              <a:alpha val="43137"/>
            </a:srgbClr>
          </a:outerShdw>
        </a:effectLst>
        <a:latin typeface="Helvetica" panose="020B0604020202020204" pitchFamily="34" charset="0"/>
        <a:ea typeface="+mn-ea"/>
        <a:cs typeface="+mn-cs"/>
      </a:defRPr>
    </a:lvl3pPr>
    <a:lvl4pPr marL="1371600" algn="l" rtl="0" eaLnBrk="0" fontAlgn="base" hangingPunct="0">
      <a:spcBef>
        <a:spcPct val="20000"/>
      </a:spcBef>
      <a:spcAft>
        <a:spcPct val="0"/>
      </a:spcAft>
      <a:buClr>
        <a:schemeClr val="accent2"/>
      </a:buClr>
      <a:defRPr sz="1600" kern="1200">
        <a:solidFill>
          <a:schemeClr val="tx1"/>
        </a:solidFill>
        <a:effectLst>
          <a:outerShdw blurRad="38100" dist="38100" dir="2700000" algn="tl">
            <a:srgbClr val="000000">
              <a:alpha val="43137"/>
            </a:srgbClr>
          </a:outerShdw>
        </a:effectLst>
        <a:latin typeface="Helvetica" panose="020B0604020202020204" pitchFamily="34" charset="0"/>
        <a:ea typeface="+mn-ea"/>
        <a:cs typeface="+mn-cs"/>
      </a:defRPr>
    </a:lvl4pPr>
    <a:lvl5pPr marL="1828800" algn="l" rtl="0" eaLnBrk="0" fontAlgn="base" hangingPunct="0">
      <a:spcBef>
        <a:spcPct val="20000"/>
      </a:spcBef>
      <a:spcAft>
        <a:spcPct val="0"/>
      </a:spcAft>
      <a:buClr>
        <a:schemeClr val="accent2"/>
      </a:buClr>
      <a:defRPr sz="1600" kern="1200">
        <a:solidFill>
          <a:schemeClr val="tx1"/>
        </a:solidFill>
        <a:effectLst>
          <a:outerShdw blurRad="38100" dist="38100" dir="2700000" algn="tl">
            <a:srgbClr val="000000">
              <a:alpha val="43137"/>
            </a:srgbClr>
          </a:outerShdw>
        </a:effectLst>
        <a:latin typeface="Helvetica" panose="020B0604020202020204" pitchFamily="34" charset="0"/>
        <a:ea typeface="+mn-ea"/>
        <a:cs typeface="+mn-cs"/>
      </a:defRPr>
    </a:lvl5pPr>
    <a:lvl6pPr marL="2286000" algn="l" defTabSz="914400" rtl="0" eaLnBrk="1" latinLnBrk="0" hangingPunct="1">
      <a:defRPr sz="1600" kern="1200">
        <a:solidFill>
          <a:schemeClr val="tx1"/>
        </a:solidFill>
        <a:effectLst>
          <a:outerShdw blurRad="38100" dist="38100" dir="2700000" algn="tl">
            <a:srgbClr val="000000">
              <a:alpha val="43137"/>
            </a:srgbClr>
          </a:outerShdw>
        </a:effectLst>
        <a:latin typeface="Helvetica" panose="020B0604020202020204" pitchFamily="34" charset="0"/>
        <a:ea typeface="+mn-ea"/>
        <a:cs typeface="+mn-cs"/>
      </a:defRPr>
    </a:lvl6pPr>
    <a:lvl7pPr marL="2743200" algn="l" defTabSz="914400" rtl="0" eaLnBrk="1" latinLnBrk="0" hangingPunct="1">
      <a:defRPr sz="1600" kern="1200">
        <a:solidFill>
          <a:schemeClr val="tx1"/>
        </a:solidFill>
        <a:effectLst>
          <a:outerShdw blurRad="38100" dist="38100" dir="2700000" algn="tl">
            <a:srgbClr val="000000">
              <a:alpha val="43137"/>
            </a:srgbClr>
          </a:outerShdw>
        </a:effectLst>
        <a:latin typeface="Helvetica" panose="020B0604020202020204" pitchFamily="34" charset="0"/>
        <a:ea typeface="+mn-ea"/>
        <a:cs typeface="+mn-cs"/>
      </a:defRPr>
    </a:lvl7pPr>
    <a:lvl8pPr marL="3200400" algn="l" defTabSz="914400" rtl="0" eaLnBrk="1" latinLnBrk="0" hangingPunct="1">
      <a:defRPr sz="1600" kern="1200">
        <a:solidFill>
          <a:schemeClr val="tx1"/>
        </a:solidFill>
        <a:effectLst>
          <a:outerShdw blurRad="38100" dist="38100" dir="2700000" algn="tl">
            <a:srgbClr val="000000">
              <a:alpha val="43137"/>
            </a:srgbClr>
          </a:outerShdw>
        </a:effectLst>
        <a:latin typeface="Helvetica" panose="020B0604020202020204" pitchFamily="34" charset="0"/>
        <a:ea typeface="+mn-ea"/>
        <a:cs typeface="+mn-cs"/>
      </a:defRPr>
    </a:lvl8pPr>
    <a:lvl9pPr marL="3657600" algn="l" defTabSz="914400" rtl="0" eaLnBrk="1" latinLnBrk="0" hangingPunct="1">
      <a:defRPr sz="1600" kern="1200">
        <a:solidFill>
          <a:schemeClr val="tx1"/>
        </a:solidFill>
        <a:effectLst>
          <a:outerShdw blurRad="38100" dist="38100" dir="2700000" algn="tl">
            <a:srgbClr val="000000">
              <a:alpha val="43137"/>
            </a:srgbClr>
          </a:outerShdw>
        </a:effectLst>
        <a:latin typeface="Helvetica" panose="020B0604020202020204" pitchFamily="34" charset="0"/>
        <a:ea typeface="+mn-ea"/>
        <a:cs typeface="+mn-cs"/>
      </a:defRPr>
    </a:lvl9pPr>
  </p:defaultTextStyle>
  <p:extLst>
    <p:ext uri="{EFAFB233-063F-42B5-8137-9DF3F51BA10A}">
      <p15:sldGuideLst xmlns:p15="http://schemas.microsoft.com/office/powerpoint/2012/main">
        <p15:guide id="1" orient="horz" pos="2914">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00"/>
    <a:srgbClr val="FFFF00"/>
    <a:srgbClr val="FF0000"/>
    <a:srgbClr val="FF3300"/>
    <a:srgbClr val="D3D3FF"/>
    <a:srgbClr val="B7B7FF"/>
    <a:srgbClr val="A1A1FF"/>
    <a:srgbClr val="FF66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055" autoAdjust="0"/>
    <p:restoredTop sz="70484" autoAdjust="0"/>
  </p:normalViewPr>
  <p:slideViewPr>
    <p:cSldViewPr snapToGrid="0">
      <p:cViewPr varScale="1">
        <p:scale>
          <a:sx n="78" d="100"/>
          <a:sy n="78" d="100"/>
        </p:scale>
        <p:origin x="3012" y="84"/>
      </p:cViewPr>
      <p:guideLst>
        <p:guide orient="horz" pos="2914"/>
        <p:guide pos="2880"/>
      </p:guideLst>
    </p:cSldViewPr>
  </p:slideViewPr>
  <p:outlineViewPr>
    <p:cViewPr>
      <p:scale>
        <a:sx n="33" d="100"/>
        <a:sy n="33" d="100"/>
      </p:scale>
      <p:origin x="0" y="0"/>
    </p:cViewPr>
    <p:sldLst>
      <p:sld r:id="rId1" collapse="1"/>
      <p:sld r:id="rId2" collapse="1"/>
      <p:sld r:id="rId3" collapse="1"/>
      <p:sld r:id="rId4" collapse="1"/>
    </p:sldLst>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_rels/viewProps.xml.rels><?xml version="1.0" encoding="UTF-8" standalone="yes"?>
<Relationships xmlns="http://schemas.openxmlformats.org/package/2006/relationships"><Relationship Id="rId3" Type="http://schemas.openxmlformats.org/officeDocument/2006/relationships/slide" Target="slides/slide32.xml"/><Relationship Id="rId2" Type="http://schemas.openxmlformats.org/officeDocument/2006/relationships/slide" Target="slides/slide9.xml"/><Relationship Id="rId1" Type="http://schemas.openxmlformats.org/officeDocument/2006/relationships/slide" Target="slides/slide1.xml"/><Relationship Id="rId4" Type="http://schemas.openxmlformats.org/officeDocument/2006/relationships/slide" Target="slides/slide4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7042" name="Rectangle 2">
            <a:extLst>
              <a:ext uri="{FF2B5EF4-FFF2-40B4-BE49-F238E27FC236}">
                <a16:creationId xmlns:a16="http://schemas.microsoft.com/office/drawing/2014/main" id="{FDDB03EB-D499-4F0B-939C-A2AF295A7F71}"/>
              </a:ext>
            </a:extLst>
          </p:cNvPr>
          <p:cNvSpPr>
            <a:spLocks noGrp="1" noChangeArrowheads="1"/>
          </p:cNvSpPr>
          <p:nvPr>
            <p:ph type="hdr" sz="quarter"/>
          </p:nvPr>
        </p:nvSpPr>
        <p:spPr bwMode="auto">
          <a:xfrm>
            <a:off x="0" y="0"/>
            <a:ext cx="28908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285" tIns="45642" rIns="91285" bIns="45642" numCol="1" anchor="t" anchorCtr="0" compatLnSpc="1">
            <a:prstTxWarp prst="textNoShape">
              <a:avLst/>
            </a:prstTxWarp>
          </a:bodyPr>
          <a:lstStyle>
            <a:lvl1pPr defTabSz="912813">
              <a:spcBef>
                <a:spcPct val="0"/>
              </a:spcBef>
              <a:buClrTx/>
              <a:defRPr sz="1200">
                <a:effectLst/>
                <a:latin typeface="Arial" charset="0"/>
              </a:defRPr>
            </a:lvl1pPr>
          </a:lstStyle>
          <a:p>
            <a:pPr>
              <a:defRPr/>
            </a:pPr>
            <a:endParaRPr lang="en-GB"/>
          </a:p>
        </p:txBody>
      </p:sp>
      <p:sp>
        <p:nvSpPr>
          <p:cNvPr id="87043" name="Rectangle 3">
            <a:extLst>
              <a:ext uri="{FF2B5EF4-FFF2-40B4-BE49-F238E27FC236}">
                <a16:creationId xmlns:a16="http://schemas.microsoft.com/office/drawing/2014/main" id="{7512E951-F32D-46F6-B7C3-C5CDFFC10F88}"/>
              </a:ext>
            </a:extLst>
          </p:cNvPr>
          <p:cNvSpPr>
            <a:spLocks noGrp="1" noChangeArrowheads="1"/>
          </p:cNvSpPr>
          <p:nvPr>
            <p:ph type="dt" sz="quarter" idx="1"/>
          </p:nvPr>
        </p:nvSpPr>
        <p:spPr bwMode="auto">
          <a:xfrm>
            <a:off x="3803650" y="0"/>
            <a:ext cx="28908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285" tIns="45642" rIns="91285" bIns="45642" numCol="1" anchor="t" anchorCtr="0" compatLnSpc="1">
            <a:prstTxWarp prst="textNoShape">
              <a:avLst/>
            </a:prstTxWarp>
          </a:bodyPr>
          <a:lstStyle>
            <a:lvl1pPr algn="r" defTabSz="912813">
              <a:spcBef>
                <a:spcPct val="0"/>
              </a:spcBef>
              <a:buClrTx/>
              <a:defRPr sz="1200">
                <a:effectLst/>
                <a:latin typeface="Arial" charset="0"/>
              </a:defRPr>
            </a:lvl1pPr>
          </a:lstStyle>
          <a:p>
            <a:pPr>
              <a:defRPr/>
            </a:pPr>
            <a:endParaRPr lang="en-GB"/>
          </a:p>
        </p:txBody>
      </p:sp>
      <p:sp>
        <p:nvSpPr>
          <p:cNvPr id="87044" name="Rectangle 4">
            <a:extLst>
              <a:ext uri="{FF2B5EF4-FFF2-40B4-BE49-F238E27FC236}">
                <a16:creationId xmlns:a16="http://schemas.microsoft.com/office/drawing/2014/main" id="{B0D7BBDC-72FB-4670-808F-3B23622F3BED}"/>
              </a:ext>
            </a:extLst>
          </p:cNvPr>
          <p:cNvSpPr>
            <a:spLocks noGrp="1" noChangeArrowheads="1"/>
          </p:cNvSpPr>
          <p:nvPr>
            <p:ph type="ftr" sz="quarter" idx="2"/>
          </p:nvPr>
        </p:nvSpPr>
        <p:spPr bwMode="auto">
          <a:xfrm>
            <a:off x="0" y="9347200"/>
            <a:ext cx="2890838"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285" tIns="45642" rIns="91285" bIns="45642" numCol="1" anchor="b" anchorCtr="0" compatLnSpc="1">
            <a:prstTxWarp prst="textNoShape">
              <a:avLst/>
            </a:prstTxWarp>
          </a:bodyPr>
          <a:lstStyle>
            <a:lvl1pPr defTabSz="912813">
              <a:spcBef>
                <a:spcPct val="0"/>
              </a:spcBef>
              <a:buClrTx/>
              <a:defRPr sz="1200">
                <a:effectLst/>
                <a:latin typeface="Arial" charset="0"/>
              </a:defRPr>
            </a:lvl1pPr>
          </a:lstStyle>
          <a:p>
            <a:pPr>
              <a:defRPr/>
            </a:pPr>
            <a:endParaRPr lang="en-GB"/>
          </a:p>
        </p:txBody>
      </p:sp>
      <p:sp>
        <p:nvSpPr>
          <p:cNvPr id="87045" name="Rectangle 5">
            <a:extLst>
              <a:ext uri="{FF2B5EF4-FFF2-40B4-BE49-F238E27FC236}">
                <a16:creationId xmlns:a16="http://schemas.microsoft.com/office/drawing/2014/main" id="{B0728BF9-B0CA-4F58-914C-8A4C1980A48A}"/>
              </a:ext>
            </a:extLst>
          </p:cNvPr>
          <p:cNvSpPr>
            <a:spLocks noGrp="1" noChangeArrowheads="1"/>
          </p:cNvSpPr>
          <p:nvPr>
            <p:ph type="sldNum" sz="quarter" idx="3"/>
          </p:nvPr>
        </p:nvSpPr>
        <p:spPr bwMode="auto">
          <a:xfrm>
            <a:off x="3803650" y="9347200"/>
            <a:ext cx="2890838"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285" tIns="45642" rIns="91285" bIns="45642" numCol="1" anchor="b" anchorCtr="0" compatLnSpc="1">
            <a:prstTxWarp prst="textNoShape">
              <a:avLst/>
            </a:prstTxWarp>
          </a:bodyPr>
          <a:lstStyle>
            <a:lvl1pPr algn="r" defTabSz="912813">
              <a:spcBef>
                <a:spcPct val="0"/>
              </a:spcBef>
              <a:buClrTx/>
              <a:defRPr sz="1200">
                <a:effectLst/>
                <a:latin typeface="Arial" panose="020B0604020202020204" pitchFamily="34" charset="0"/>
              </a:defRPr>
            </a:lvl1pPr>
          </a:lstStyle>
          <a:p>
            <a:fld id="{14DD3119-C7BC-44AE-8780-77ACF08EE5E1}" type="slidenum">
              <a:rPr lang="en-GB" altLang="en-US"/>
              <a:pPr/>
              <a:t>‹#›</a:t>
            </a:fld>
            <a:endParaRPr lang="en-GB" altLang="en-US"/>
          </a:p>
        </p:txBody>
      </p:sp>
    </p:spTree>
    <p:extLst>
      <p:ext uri="{BB962C8B-B14F-4D97-AF65-F5344CB8AC3E}">
        <p14:creationId xmlns:p14="http://schemas.microsoft.com/office/powerpoint/2010/main" val="116955729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750F26A1-E01E-4282-9C28-EADD58F3D676}"/>
              </a:ext>
            </a:extLst>
          </p:cNvPr>
          <p:cNvSpPr>
            <a:spLocks noGrp="1" noChangeArrowheads="1"/>
          </p:cNvSpPr>
          <p:nvPr>
            <p:ph type="hdr" sz="quarter"/>
          </p:nvPr>
        </p:nvSpPr>
        <p:spPr bwMode="auto">
          <a:xfrm>
            <a:off x="0" y="0"/>
            <a:ext cx="28908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285" tIns="45642" rIns="91285" bIns="45642" numCol="1" anchor="t" anchorCtr="0" compatLnSpc="1">
            <a:prstTxWarp prst="textNoShape">
              <a:avLst/>
            </a:prstTxWarp>
          </a:bodyPr>
          <a:lstStyle>
            <a:lvl1pPr defTabSz="912813">
              <a:spcBef>
                <a:spcPct val="0"/>
              </a:spcBef>
              <a:buClrTx/>
              <a:defRPr sz="1200">
                <a:effectLst/>
                <a:latin typeface="Arial" charset="0"/>
              </a:defRPr>
            </a:lvl1pPr>
          </a:lstStyle>
          <a:p>
            <a:pPr>
              <a:defRPr/>
            </a:pPr>
            <a:endParaRPr lang="en-GB"/>
          </a:p>
        </p:txBody>
      </p:sp>
      <p:sp>
        <p:nvSpPr>
          <p:cNvPr id="43011" name="Rectangle 3">
            <a:extLst>
              <a:ext uri="{FF2B5EF4-FFF2-40B4-BE49-F238E27FC236}">
                <a16:creationId xmlns:a16="http://schemas.microsoft.com/office/drawing/2014/main" id="{8F123E64-4D82-4123-B853-6C4FA2CCCEA5}"/>
              </a:ext>
            </a:extLst>
          </p:cNvPr>
          <p:cNvSpPr>
            <a:spLocks noGrp="1" noChangeArrowheads="1"/>
          </p:cNvSpPr>
          <p:nvPr>
            <p:ph type="dt" idx="1"/>
          </p:nvPr>
        </p:nvSpPr>
        <p:spPr bwMode="auto">
          <a:xfrm>
            <a:off x="3803650" y="0"/>
            <a:ext cx="28908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285" tIns="45642" rIns="91285" bIns="45642" numCol="1" anchor="t" anchorCtr="0" compatLnSpc="1">
            <a:prstTxWarp prst="textNoShape">
              <a:avLst/>
            </a:prstTxWarp>
          </a:bodyPr>
          <a:lstStyle>
            <a:lvl1pPr algn="r" defTabSz="912813">
              <a:spcBef>
                <a:spcPct val="0"/>
              </a:spcBef>
              <a:buClrTx/>
              <a:defRPr sz="1200">
                <a:effectLst/>
                <a:latin typeface="Arial" charset="0"/>
              </a:defRPr>
            </a:lvl1pPr>
          </a:lstStyle>
          <a:p>
            <a:pPr>
              <a:defRPr/>
            </a:pPr>
            <a:endParaRPr lang="en-GB"/>
          </a:p>
        </p:txBody>
      </p:sp>
      <p:sp>
        <p:nvSpPr>
          <p:cNvPr id="52228" name="Rectangle 4">
            <a:extLst>
              <a:ext uri="{FF2B5EF4-FFF2-40B4-BE49-F238E27FC236}">
                <a16:creationId xmlns:a16="http://schemas.microsoft.com/office/drawing/2014/main" id="{8801CEDD-EE3C-4A87-820F-3446993B681E}"/>
              </a:ext>
            </a:extLst>
          </p:cNvPr>
          <p:cNvSpPr>
            <a:spLocks noGrp="1" noRot="1" noChangeAspect="1" noChangeArrowheads="1" noTextEdit="1"/>
          </p:cNvSpPr>
          <p:nvPr>
            <p:ph type="sldImg" idx="2"/>
          </p:nvPr>
        </p:nvSpPr>
        <p:spPr bwMode="auto">
          <a:xfrm>
            <a:off x="954088" y="758825"/>
            <a:ext cx="4864100" cy="3648075"/>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43013" name="Rectangle 5">
            <a:extLst>
              <a:ext uri="{FF2B5EF4-FFF2-40B4-BE49-F238E27FC236}">
                <a16:creationId xmlns:a16="http://schemas.microsoft.com/office/drawing/2014/main" id="{A2CD516B-8F9E-4648-82A5-BE35ABB9A2C7}"/>
              </a:ext>
            </a:extLst>
          </p:cNvPr>
          <p:cNvSpPr>
            <a:spLocks noGrp="1" noChangeArrowheads="1"/>
          </p:cNvSpPr>
          <p:nvPr>
            <p:ph type="body" sz="quarter" idx="3"/>
          </p:nvPr>
        </p:nvSpPr>
        <p:spPr bwMode="auto">
          <a:xfrm>
            <a:off x="912813" y="4711700"/>
            <a:ext cx="4945062" cy="4410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285" tIns="45642" rIns="91285" bIns="45642" numCol="1" anchor="t" anchorCtr="0" compatLnSpc="1">
            <a:prstTxWarp prst="textNoShape">
              <a:avLst/>
            </a:prstTxWarp>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43014" name="Rectangle 6">
            <a:extLst>
              <a:ext uri="{FF2B5EF4-FFF2-40B4-BE49-F238E27FC236}">
                <a16:creationId xmlns:a16="http://schemas.microsoft.com/office/drawing/2014/main" id="{28FB018D-0ED4-49C4-AF37-723A306417D8}"/>
              </a:ext>
            </a:extLst>
          </p:cNvPr>
          <p:cNvSpPr>
            <a:spLocks noGrp="1" noChangeArrowheads="1"/>
          </p:cNvSpPr>
          <p:nvPr>
            <p:ph type="ftr" sz="quarter" idx="4"/>
          </p:nvPr>
        </p:nvSpPr>
        <p:spPr bwMode="auto">
          <a:xfrm>
            <a:off x="0" y="9347200"/>
            <a:ext cx="2890838"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285" tIns="45642" rIns="91285" bIns="45642" numCol="1" anchor="b" anchorCtr="0" compatLnSpc="1">
            <a:prstTxWarp prst="textNoShape">
              <a:avLst/>
            </a:prstTxWarp>
          </a:bodyPr>
          <a:lstStyle>
            <a:lvl1pPr defTabSz="912813">
              <a:spcBef>
                <a:spcPct val="0"/>
              </a:spcBef>
              <a:buClrTx/>
              <a:defRPr sz="1200">
                <a:effectLst/>
                <a:latin typeface="Arial" charset="0"/>
              </a:defRPr>
            </a:lvl1pPr>
          </a:lstStyle>
          <a:p>
            <a:pPr>
              <a:defRPr/>
            </a:pPr>
            <a:endParaRPr lang="en-GB"/>
          </a:p>
        </p:txBody>
      </p:sp>
      <p:sp>
        <p:nvSpPr>
          <p:cNvPr id="43015" name="Rectangle 7">
            <a:extLst>
              <a:ext uri="{FF2B5EF4-FFF2-40B4-BE49-F238E27FC236}">
                <a16:creationId xmlns:a16="http://schemas.microsoft.com/office/drawing/2014/main" id="{546B117B-5A13-4BA5-A555-FBA34AB1DE1D}"/>
              </a:ext>
            </a:extLst>
          </p:cNvPr>
          <p:cNvSpPr>
            <a:spLocks noGrp="1" noChangeArrowheads="1"/>
          </p:cNvSpPr>
          <p:nvPr>
            <p:ph type="sldNum" sz="quarter" idx="5"/>
          </p:nvPr>
        </p:nvSpPr>
        <p:spPr bwMode="auto">
          <a:xfrm>
            <a:off x="3803650" y="9347200"/>
            <a:ext cx="2890838"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285" tIns="45642" rIns="91285" bIns="45642" numCol="1" anchor="b" anchorCtr="0" compatLnSpc="1">
            <a:prstTxWarp prst="textNoShape">
              <a:avLst/>
            </a:prstTxWarp>
          </a:bodyPr>
          <a:lstStyle>
            <a:lvl1pPr algn="r" defTabSz="912813">
              <a:spcBef>
                <a:spcPct val="0"/>
              </a:spcBef>
              <a:buClrTx/>
              <a:defRPr sz="1200">
                <a:effectLst/>
                <a:latin typeface="Arial" panose="020B0604020202020204" pitchFamily="34" charset="0"/>
              </a:defRPr>
            </a:lvl1pPr>
          </a:lstStyle>
          <a:p>
            <a:fld id="{C501626C-B5A0-495B-BE4C-E6C934511C75}" type="slidenum">
              <a:rPr lang="en-GB" altLang="en-US"/>
              <a:pPr/>
              <a:t>‹#›</a:t>
            </a:fld>
            <a:endParaRPr lang="en-GB" altLang="en-US"/>
          </a:p>
        </p:txBody>
      </p:sp>
    </p:spTree>
    <p:extLst>
      <p:ext uri="{BB962C8B-B14F-4D97-AF65-F5344CB8AC3E}">
        <p14:creationId xmlns:p14="http://schemas.microsoft.com/office/powerpoint/2010/main" val="79487510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a:extLst>
              <a:ext uri="{FF2B5EF4-FFF2-40B4-BE49-F238E27FC236}">
                <a16:creationId xmlns:a16="http://schemas.microsoft.com/office/drawing/2014/main" id="{EDBC88A1-5BA7-443D-9C31-471873DEE582}"/>
              </a:ext>
            </a:extLst>
          </p:cNvPr>
          <p:cNvSpPr>
            <a:spLocks noGrp="1" noRot="1" noChangeAspect="1" noChangeArrowheads="1" noTextEdit="1"/>
          </p:cNvSpPr>
          <p:nvPr>
            <p:ph type="sldImg"/>
          </p:nvPr>
        </p:nvSpPr>
        <p:spPr>
          <a:ln/>
        </p:spPr>
      </p:sp>
      <p:sp>
        <p:nvSpPr>
          <p:cNvPr id="98307" name="Rectangle 3">
            <a:extLst>
              <a:ext uri="{FF2B5EF4-FFF2-40B4-BE49-F238E27FC236}">
                <a16:creationId xmlns:a16="http://schemas.microsoft.com/office/drawing/2014/main" id="{85C203F4-1598-42FB-B67B-05D29F0F9176}"/>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In the notes panes to these slides there are numerous references (figure credits and further reading). If the reference is incomplete it refers to the references stated in the reading list on the last slide</a:t>
            </a:r>
          </a:p>
          <a:p>
            <a:pPr marL="108000" indent="-108000">
              <a:spcBef>
                <a:spcPts val="300"/>
              </a:spcBef>
              <a:buFont typeface="Arial" panose="020B0604020202020204" pitchFamily="34" charset="0"/>
              <a:buChar char="•"/>
            </a:pPr>
            <a:r>
              <a:rPr lang="en-GB" altLang="en-US" sz="1000" dirty="0"/>
              <a:t>With regard to figures in this PowerPoint file, many will be subject to copyright restrictions. I don’t care about you using any of the figures/photos that are mine (Steve Covey-Crump), although a credit would be nice, but take care to comply with copyright restrictions if you reuse any that are not</a:t>
            </a:r>
          </a:p>
          <a:p>
            <a:pPr>
              <a:spcBef>
                <a:spcPts val="300"/>
              </a:spcBef>
            </a:pPr>
            <a:endParaRPr lang="en-GB"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FAF93FD0-5952-48ED-A707-076A3A4378AA}"/>
              </a:ext>
            </a:extLst>
          </p:cNvPr>
          <p:cNvSpPr>
            <a:spLocks noGrp="1" noRot="1" noChangeAspect="1" noChangeArrowheads="1" noTextEdit="1"/>
          </p:cNvSpPr>
          <p:nvPr>
            <p:ph type="sldImg"/>
          </p:nvPr>
        </p:nvSpPr>
        <p:spPr>
          <a:ln/>
        </p:spPr>
      </p:sp>
      <p:sp>
        <p:nvSpPr>
          <p:cNvPr id="53251" name="Rectangle 3">
            <a:extLst>
              <a:ext uri="{FF2B5EF4-FFF2-40B4-BE49-F238E27FC236}">
                <a16:creationId xmlns:a16="http://schemas.microsoft.com/office/drawing/2014/main" id="{680F71C1-3975-4255-BE1D-6628E2461777}"/>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For a summary of the nomenclature (definitions) of various types of structural discontinuities (joints, faults, fractures, shear zones, deformation bands) see Schultz &amp; Fossen, 2008, </a:t>
            </a:r>
            <a:r>
              <a:rPr lang="en-GB" altLang="en-US" sz="1000" i="1" dirty="0"/>
              <a:t>American Association of Petroleum Geologists Bulletin</a:t>
            </a:r>
            <a:r>
              <a:rPr lang="en-GB" altLang="en-US" sz="1000" i="0" dirty="0"/>
              <a:t> 92: 853-867, </a:t>
            </a:r>
            <a:r>
              <a:rPr lang="en-GB" sz="1000" dirty="0"/>
              <a:t>https://doi.org/10.1306/02200807065</a:t>
            </a:r>
          </a:p>
          <a:p>
            <a:pPr marL="108000" indent="-108000">
              <a:spcBef>
                <a:spcPts val="300"/>
              </a:spcBef>
              <a:buFont typeface="Arial" panose="020B0604020202020204" pitchFamily="34" charset="0"/>
              <a:buChar char="•"/>
            </a:pPr>
            <a:r>
              <a:rPr lang="en-GB" altLang="en-US" sz="1000" dirty="0"/>
              <a:t>Photo (Fossen, one of the extra figures on the web-site for the book, folk.uib.no/</a:t>
            </a:r>
            <a:r>
              <a:rPr lang="en-GB" altLang="en-US" sz="1000" dirty="0" err="1"/>
              <a:t>nglhe</a:t>
            </a:r>
            <a:r>
              <a:rPr lang="en-GB" altLang="en-US" sz="1000" dirty="0"/>
              <a:t>/StructuralGeoBook.html): a fault at Moreno Bay, </a:t>
            </a:r>
            <a:r>
              <a:rPr lang="en-GB" altLang="en-US" sz="1000" dirty="0" err="1"/>
              <a:t>Antofagata</a:t>
            </a:r>
            <a:r>
              <a:rPr lang="en-GB" altLang="en-US" sz="1000" dirty="0"/>
              <a:t>, Chile. Note that in the centre of the image the localized zone of strong deformation is of finite width (width ~ ¼ the diameter of the coin that is used as a scale) and so this fault is not simply a discrete fracture surface</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a:extLst>
              <a:ext uri="{FF2B5EF4-FFF2-40B4-BE49-F238E27FC236}">
                <a16:creationId xmlns:a16="http://schemas.microsoft.com/office/drawing/2014/main" id="{E65ACFE1-389C-414B-BE68-7ACEFB758186}"/>
              </a:ext>
            </a:extLst>
          </p:cNvPr>
          <p:cNvSpPr>
            <a:spLocks noGrp="1" noRot="1" noChangeAspect="1" noChangeArrowheads="1" noTextEdit="1"/>
          </p:cNvSpPr>
          <p:nvPr>
            <p:ph type="sldImg"/>
          </p:nvPr>
        </p:nvSpPr>
        <p:spPr>
          <a:ln/>
        </p:spPr>
      </p:sp>
      <p:sp>
        <p:nvSpPr>
          <p:cNvPr id="54275" name="Rectangle 3">
            <a:extLst>
              <a:ext uri="{FF2B5EF4-FFF2-40B4-BE49-F238E27FC236}">
                <a16:creationId xmlns:a16="http://schemas.microsoft.com/office/drawing/2014/main" id="{34523EA2-DF43-4BFC-ADDE-A39D983AF56D}"/>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The change in the way that rocks deform with the deformation conditions is described in the Optional PowerPoint presentation</a:t>
            </a:r>
          </a:p>
          <a:p>
            <a:pPr marL="108000" indent="-108000">
              <a:spcBef>
                <a:spcPts val="300"/>
              </a:spcBef>
              <a:buFont typeface="Arial" panose="020B0604020202020204" pitchFamily="34" charset="0"/>
              <a:buChar char="•"/>
            </a:pPr>
            <a:r>
              <a:rPr lang="en-GB" altLang="en-US" sz="1000" dirty="0"/>
              <a:t>Strictly, a ductile shear zone is one in which some marker layer can be traced continuously across the shear zone, although if the displacements are large, this might only be true in principle rather than in actuality</a:t>
            </a:r>
          </a:p>
          <a:p>
            <a:pPr marL="108000" indent="-108000">
              <a:spcBef>
                <a:spcPts val="300"/>
              </a:spcBef>
              <a:buFont typeface="Arial" panose="020B0604020202020204" pitchFamily="34" charset="0"/>
              <a:buChar char="•"/>
            </a:pPr>
            <a:r>
              <a:rPr lang="en-GB" altLang="en-US" sz="1000" dirty="0"/>
              <a:t>Figure top from Fossen &amp; Cavalcante, 2017, </a:t>
            </a:r>
            <a:r>
              <a:rPr lang="en-GB" altLang="en-US" sz="1000" i="1" dirty="0"/>
              <a:t>Earth-Science Reviews</a:t>
            </a:r>
            <a:r>
              <a:rPr lang="en-GB" altLang="en-US" sz="1000" i="0" dirty="0"/>
              <a:t> 171: 434-455, http://dx.doi.org/10.1016/j.earscirev.2017.05.002</a:t>
            </a:r>
            <a:endParaRPr lang="en-GB" altLang="en-US" sz="1000" dirty="0"/>
          </a:p>
          <a:p>
            <a:pPr marL="108000" indent="-108000">
              <a:spcBef>
                <a:spcPts val="300"/>
              </a:spcBef>
              <a:buFont typeface="Arial" panose="020B0604020202020204" pitchFamily="34" charset="0"/>
              <a:buChar char="•"/>
            </a:pPr>
            <a:r>
              <a:rPr lang="en-GB" altLang="en-US" sz="1000" dirty="0"/>
              <a:t>Figure bottom from Ramsay &amp; Huber vol. 2, p.596</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a:extLst>
              <a:ext uri="{FF2B5EF4-FFF2-40B4-BE49-F238E27FC236}">
                <a16:creationId xmlns:a16="http://schemas.microsoft.com/office/drawing/2014/main" id="{CEA28CA9-6262-4D9B-A09A-199D6F638A89}"/>
              </a:ext>
            </a:extLst>
          </p:cNvPr>
          <p:cNvSpPr>
            <a:spLocks noGrp="1" noRot="1" noChangeAspect="1" noChangeArrowheads="1" noTextEdit="1"/>
          </p:cNvSpPr>
          <p:nvPr>
            <p:ph type="sldImg"/>
          </p:nvPr>
        </p:nvSpPr>
        <p:spPr>
          <a:ln/>
        </p:spPr>
      </p:sp>
      <p:sp>
        <p:nvSpPr>
          <p:cNvPr id="55299" name="Rectangle 3">
            <a:extLst>
              <a:ext uri="{FF2B5EF4-FFF2-40B4-BE49-F238E27FC236}">
                <a16:creationId xmlns:a16="http://schemas.microsoft.com/office/drawing/2014/main" id="{D39B5487-9C77-4C03-9DAC-46E6A27FF997}"/>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Photo top left (Fossen, one of the extra figures on the web-site for the book, folk.uib.no/</a:t>
            </a:r>
            <a:r>
              <a:rPr lang="en-GB" altLang="en-US" sz="1000" dirty="0" err="1"/>
              <a:t>nglhe</a:t>
            </a:r>
            <a:r>
              <a:rPr lang="en-GB" altLang="en-US" sz="1000" dirty="0"/>
              <a:t>/StructuralGeoBook.html): brittle shear zone, Moab Fault, Utah</a:t>
            </a:r>
          </a:p>
          <a:p>
            <a:pPr marL="108000" indent="-108000">
              <a:spcBef>
                <a:spcPts val="300"/>
              </a:spcBef>
              <a:buFont typeface="Arial" panose="020B0604020202020204" pitchFamily="34" charset="0"/>
              <a:buChar char="•"/>
            </a:pPr>
            <a:r>
              <a:rPr lang="en-GB" altLang="en-US" sz="1000" dirty="0"/>
              <a:t>Photo top right (from mentemalleo.wordpress.com/tag/metamorphism): amphibolite facies ductile shear zone, Norwegian </a:t>
            </a:r>
            <a:r>
              <a:rPr lang="en-GB" altLang="en-US" sz="1000" dirty="0" err="1"/>
              <a:t>Caledonides</a:t>
            </a:r>
            <a:r>
              <a:rPr lang="en-GB" altLang="en-US" sz="1000" dirty="0"/>
              <a:t> near Bergen</a:t>
            </a:r>
          </a:p>
          <a:p>
            <a:pPr marL="108000" indent="-108000">
              <a:spcBef>
                <a:spcPts val="300"/>
              </a:spcBef>
              <a:buFont typeface="Arial" panose="020B0604020202020204" pitchFamily="34" charset="0"/>
              <a:buChar char="•"/>
            </a:pPr>
            <a:r>
              <a:rPr lang="en-GB" altLang="en-US" sz="1000" dirty="0"/>
              <a:t>Photo bottom left (Steve Covey-Crump): semi-brittle shear zone from Les </a:t>
            </a:r>
            <a:r>
              <a:rPr lang="en-GB" altLang="en-US" sz="1000" dirty="0" err="1"/>
              <a:t>Sauzeries</a:t>
            </a:r>
            <a:r>
              <a:rPr lang="en-GB" altLang="en-US" sz="1000" dirty="0"/>
              <a:t> Formation below Le Château, </a:t>
            </a:r>
            <a:r>
              <a:rPr lang="en-GB" altLang="en-US" sz="1000" dirty="0" err="1"/>
              <a:t>Barrême</a:t>
            </a:r>
            <a:r>
              <a:rPr lang="en-GB" altLang="en-US" sz="1000" dirty="0"/>
              <a:t> Basin, France</a:t>
            </a:r>
          </a:p>
          <a:p>
            <a:pPr marL="108000" indent="-108000">
              <a:spcBef>
                <a:spcPts val="300"/>
              </a:spcBef>
              <a:buFont typeface="Arial" panose="020B0604020202020204" pitchFamily="34" charset="0"/>
              <a:buChar char="•"/>
            </a:pPr>
            <a:r>
              <a:rPr lang="en-GB" altLang="en-US" sz="1000" dirty="0"/>
              <a:t>Photo bottom right (from Price &amp; Cosgrove, 1990, </a:t>
            </a:r>
            <a:r>
              <a:rPr lang="en-GB" altLang="en-US" sz="1000" i="1" dirty="0"/>
              <a:t>Analysis of Geological Structures</a:t>
            </a:r>
            <a:r>
              <a:rPr lang="en-GB" altLang="en-US" sz="1000" dirty="0"/>
              <a:t>, p.471): semi-brittle shear zone from </a:t>
            </a:r>
            <a:r>
              <a:rPr lang="en-GB" altLang="en-US" sz="1000" dirty="0" err="1"/>
              <a:t>Marloes</a:t>
            </a:r>
            <a:r>
              <a:rPr lang="en-GB" altLang="en-US" sz="1000" dirty="0"/>
              <a:t> Sands, Pembrokeshire. The quartz veins infill extension cracks; the other fabric at about 90° to the veins is a pressure solution cleavage</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a:extLst>
              <a:ext uri="{FF2B5EF4-FFF2-40B4-BE49-F238E27FC236}">
                <a16:creationId xmlns:a16="http://schemas.microsoft.com/office/drawing/2014/main" id="{8BF3C9FD-FE7C-43FB-8337-95B81ED883B2}"/>
              </a:ext>
            </a:extLst>
          </p:cNvPr>
          <p:cNvSpPr>
            <a:spLocks noGrp="1" noRot="1" noChangeAspect="1" noChangeArrowheads="1" noTextEdit="1"/>
          </p:cNvSpPr>
          <p:nvPr>
            <p:ph type="sldImg"/>
          </p:nvPr>
        </p:nvSpPr>
        <p:spPr>
          <a:ln/>
        </p:spPr>
      </p:sp>
      <p:sp>
        <p:nvSpPr>
          <p:cNvPr id="56323" name="Rectangle 3">
            <a:extLst>
              <a:ext uri="{FF2B5EF4-FFF2-40B4-BE49-F238E27FC236}">
                <a16:creationId xmlns:a16="http://schemas.microsoft.com/office/drawing/2014/main" id="{C146D98C-BD0C-4FFA-8E49-D0FDD0FAFA28}"/>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As we shall repeatedly note when we consider faults in the forthcoming classes, the key things that need to be stated when describing shear zones and faults are </a:t>
            </a:r>
          </a:p>
          <a:p>
            <a:pPr marL="432000" lvl="1" indent="-180000">
              <a:spcBef>
                <a:spcPts val="300"/>
              </a:spcBef>
              <a:buFont typeface="+mj-lt"/>
              <a:buAutoNum type="arabicPeriod"/>
            </a:pPr>
            <a:r>
              <a:rPr lang="en-GB" altLang="en-US" sz="1000" dirty="0"/>
              <a:t>The orientation (strike/dip) of the shear zone walls</a:t>
            </a:r>
          </a:p>
          <a:p>
            <a:pPr marL="432000" lvl="1" indent="-180000">
              <a:spcBef>
                <a:spcPts val="300"/>
              </a:spcBef>
              <a:buFont typeface="+mj-lt"/>
              <a:buAutoNum type="arabicPeriod"/>
            </a:pPr>
            <a:r>
              <a:rPr lang="en-GB" altLang="en-US" sz="1000" dirty="0"/>
              <a:t>The orientation (plunge/plunge direction) of the slip vector</a:t>
            </a:r>
          </a:p>
          <a:p>
            <a:pPr marL="432000" lvl="1" indent="-180000">
              <a:spcBef>
                <a:spcPts val="300"/>
              </a:spcBef>
              <a:buFont typeface="+mj-lt"/>
              <a:buAutoNum type="arabicPeriod"/>
            </a:pPr>
            <a:r>
              <a:rPr lang="en-GB" altLang="en-US" sz="1000" dirty="0"/>
              <a:t>The magnitude and sense of displacement of the strike-slip and dip-slip components of the slip vector</a:t>
            </a:r>
          </a:p>
          <a:p>
            <a:pPr marL="216000" indent="-108000">
              <a:spcBef>
                <a:spcPts val="300"/>
              </a:spcBef>
              <a:buFont typeface="Arial" panose="020B0604020202020204" pitchFamily="34" charset="0"/>
              <a:buNone/>
            </a:pPr>
            <a:r>
              <a:rPr lang="en-GB" altLang="en-US" sz="1000" dirty="0"/>
              <a:t>On this slide, ‘displacement’ means ‘slip-vector’. For shear zones it is also useful to describe the thickness (width) of the shear zone</a:t>
            </a:r>
          </a:p>
          <a:p>
            <a:pPr marL="108000" indent="-108000">
              <a:spcBef>
                <a:spcPts val="300"/>
              </a:spcBef>
              <a:buFont typeface="Arial" panose="020B0604020202020204" pitchFamily="34" charset="0"/>
              <a:buChar char="•"/>
            </a:pPr>
            <a:r>
              <a:rPr lang="en-GB" altLang="en-US" sz="1000" dirty="0"/>
              <a:t>Figure from Fossen, p.331 (modified by Steve Covey-Crump). Note that for relatively small displacements (up to </a:t>
            </a:r>
            <a:r>
              <a:rPr lang="en-GB" altLang="en-US" sz="1000" spc="100" baseline="0" dirty="0"/>
              <a:t>~</a:t>
            </a:r>
            <a:r>
              <a:rPr lang="en-GB" altLang="en-US" sz="1000" dirty="0"/>
              <a:t>100 m), the general trend is that displacement </a:t>
            </a:r>
            <a:r>
              <a:rPr lang="en-GB" altLang="en-US" sz="1000" spc="100" baseline="0" dirty="0"/>
              <a:t>(</a:t>
            </a:r>
            <a:r>
              <a:rPr lang="en-GB" altLang="en-US" sz="1000" i="1" spc="150" baseline="0" dirty="0"/>
              <a:t>D</a:t>
            </a:r>
            <a:r>
              <a:rPr lang="en-GB" altLang="en-US" sz="1000" dirty="0"/>
              <a:t>) is approximately equal to deformation zone width </a:t>
            </a:r>
            <a:r>
              <a:rPr lang="en-GB" altLang="en-US" sz="1000" spc="100" baseline="0" dirty="0"/>
              <a:t>(</a:t>
            </a:r>
            <a:r>
              <a:rPr lang="en-GB" altLang="en-US" sz="1000" i="1" spc="200" baseline="0" dirty="0"/>
              <a:t>T</a:t>
            </a:r>
            <a:r>
              <a:rPr lang="en-GB" altLang="en-US" sz="1000" dirty="0"/>
              <a:t>), but note also that there is a large scatter (this is a log-log plot) and so the relationship is not particularly helpful as a means of assessing displacement</a:t>
            </a:r>
          </a:p>
          <a:p>
            <a:pPr marL="108000" indent="-108000">
              <a:spcBef>
                <a:spcPts val="300"/>
              </a:spcBef>
              <a:buFont typeface="Arial" panose="020B0604020202020204" pitchFamily="34" charset="0"/>
              <a:buNone/>
            </a:pPr>
            <a:endParaRPr lang="en-GB" altLang="en-US" sz="1000" dirty="0"/>
          </a:p>
        </p:txBody>
      </p:sp>
    </p:spTree>
    <p:extLst>
      <p:ext uri="{BB962C8B-B14F-4D97-AF65-F5344CB8AC3E}">
        <p14:creationId xmlns:p14="http://schemas.microsoft.com/office/powerpoint/2010/main" val="30806613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a:extLst>
              <a:ext uri="{FF2B5EF4-FFF2-40B4-BE49-F238E27FC236}">
                <a16:creationId xmlns:a16="http://schemas.microsoft.com/office/drawing/2014/main" id="{C124C1C3-4B0A-4B20-B8CA-56A66B4CF807}"/>
              </a:ext>
            </a:extLst>
          </p:cNvPr>
          <p:cNvSpPr>
            <a:spLocks noGrp="1" noRot="1" noChangeAspect="1" noChangeArrowheads="1" noTextEdit="1"/>
          </p:cNvSpPr>
          <p:nvPr>
            <p:ph type="sldImg"/>
          </p:nvPr>
        </p:nvSpPr>
        <p:spPr>
          <a:ln/>
        </p:spPr>
      </p:sp>
      <p:sp>
        <p:nvSpPr>
          <p:cNvPr id="57347" name="Rectangle 3">
            <a:extLst>
              <a:ext uri="{FF2B5EF4-FFF2-40B4-BE49-F238E27FC236}">
                <a16:creationId xmlns:a16="http://schemas.microsoft.com/office/drawing/2014/main" id="{79E79F3A-A785-4A1E-A1FC-B93CD0CE8B58}"/>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Figure by Steve Covey-Crump</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E4F446C7-A956-433D-9BC2-685BD549116A}"/>
              </a:ext>
            </a:extLst>
          </p:cNvPr>
          <p:cNvSpPr>
            <a:spLocks noGrp="1" noRot="1" noChangeAspect="1" noChangeArrowheads="1" noTextEdit="1"/>
          </p:cNvSpPr>
          <p:nvPr>
            <p:ph type="sldImg"/>
          </p:nvPr>
        </p:nvSpPr>
        <p:spPr>
          <a:ln/>
        </p:spPr>
      </p:sp>
      <p:sp>
        <p:nvSpPr>
          <p:cNvPr id="58371" name="Rectangle 3">
            <a:extLst>
              <a:ext uri="{FF2B5EF4-FFF2-40B4-BE49-F238E27FC236}">
                <a16:creationId xmlns:a16="http://schemas.microsoft.com/office/drawing/2014/main" id="{0F906385-B6BB-4FDE-8F6A-BAA99BC1D1A9}"/>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latin typeface="Times New Roman" panose="02020603050405020304" pitchFamily="18" charset="0"/>
                <a:cs typeface="Times New Roman" panose="02020603050405020304" pitchFamily="18" charset="0"/>
              </a:rPr>
              <a:t>Figure left from Twiss &amp; </a:t>
            </a:r>
            <a:r>
              <a:rPr lang="en-GB" altLang="en-US" sz="1000" dirty="0" err="1">
                <a:latin typeface="Times New Roman" panose="02020603050405020304" pitchFamily="18" charset="0"/>
                <a:cs typeface="Times New Roman" panose="02020603050405020304" pitchFamily="18" charset="0"/>
              </a:rPr>
              <a:t>Moores</a:t>
            </a:r>
            <a:r>
              <a:rPr lang="en-GB" altLang="en-US" sz="1000" dirty="0">
                <a:latin typeface="Times New Roman" panose="02020603050405020304" pitchFamily="18" charset="0"/>
                <a:cs typeface="Times New Roman" panose="02020603050405020304" pitchFamily="18" charset="0"/>
              </a:rPr>
              <a:t>, 2007, </a:t>
            </a:r>
            <a:r>
              <a:rPr lang="en-GB" altLang="en-US" sz="1000" i="1" dirty="0">
                <a:latin typeface="Times New Roman" panose="02020603050405020304" pitchFamily="18" charset="0"/>
                <a:cs typeface="Times New Roman" panose="02020603050405020304" pitchFamily="18" charset="0"/>
              </a:rPr>
              <a:t>Structural Geology</a:t>
            </a:r>
            <a:r>
              <a:rPr lang="en-GB" altLang="en-US" sz="1000" dirty="0">
                <a:latin typeface="Times New Roman" panose="02020603050405020304" pitchFamily="18" charset="0"/>
                <a:cs typeface="Times New Roman" panose="02020603050405020304" pitchFamily="18" charset="0"/>
              </a:rPr>
              <a:t> (2</a:t>
            </a:r>
            <a:r>
              <a:rPr lang="en-GB" altLang="en-US" sz="1000" baseline="30000" dirty="0">
                <a:latin typeface="Times New Roman" panose="02020603050405020304" pitchFamily="18" charset="0"/>
                <a:cs typeface="Times New Roman" panose="02020603050405020304" pitchFamily="18" charset="0"/>
              </a:rPr>
              <a:t>nd</a:t>
            </a:r>
            <a:r>
              <a:rPr lang="en-GB" altLang="en-US" sz="1000" dirty="0">
                <a:latin typeface="Times New Roman" panose="02020603050405020304" pitchFamily="18" charset="0"/>
                <a:cs typeface="Times New Roman" panose="02020603050405020304" pitchFamily="18" charset="0"/>
              </a:rPr>
              <a:t> edition), p.444</a:t>
            </a:r>
          </a:p>
          <a:p>
            <a:pPr marL="108000" indent="-108000">
              <a:spcBef>
                <a:spcPts val="300"/>
              </a:spcBef>
              <a:buFont typeface="Arial" panose="020B0604020202020204" pitchFamily="34" charset="0"/>
              <a:buChar char="•"/>
            </a:pPr>
            <a:r>
              <a:rPr lang="en-GB" altLang="en-US" sz="1000" dirty="0">
                <a:latin typeface="Times New Roman" panose="02020603050405020304" pitchFamily="18" charset="0"/>
                <a:cs typeface="Times New Roman" panose="02020603050405020304" pitchFamily="18" charset="0"/>
              </a:rPr>
              <a:t>Figure right by Steve Covey-Crump showing the change in orientation of the maximum extension direction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θ</a:t>
            </a:r>
            <a:r>
              <a:rPr lang="en-GB" altLang="en-US" sz="1000" spc="100" baseline="0" dirty="0">
                <a:latin typeface="Times New Roman" panose="02020603050405020304" pitchFamily="18" charset="0"/>
                <a:cs typeface="Times New Roman" panose="02020603050405020304" pitchFamily="18" charset="0"/>
              </a:rPr>
              <a:t>´</a:t>
            </a:r>
            <a:r>
              <a:rPr lang="en-GB" altLang="en-US" sz="1000" dirty="0">
                <a:latin typeface="Times New Roman" panose="02020603050405020304" pitchFamily="18" charset="0"/>
                <a:cs typeface="Times New Roman" panose="02020603050405020304" pitchFamily="18" charset="0"/>
              </a:rPr>
              <a:t>) and strain ellipse aspect ratio (</a:t>
            </a:r>
            <a:r>
              <a:rPr lang="en-GB" altLang="en-US" sz="1000" i="1" spc="100" baseline="0" dirty="0">
                <a:latin typeface="Times New Roman" panose="02020603050405020304" pitchFamily="18" charset="0"/>
                <a:cs typeface="Times New Roman" panose="02020603050405020304" pitchFamily="18" charset="0"/>
              </a:rPr>
              <a:t>R</a:t>
            </a:r>
            <a:r>
              <a:rPr lang="en-GB" altLang="en-US" sz="1000" i="0" dirty="0">
                <a:latin typeface="Times New Roman" panose="02020603050405020304" pitchFamily="18" charset="0"/>
                <a:cs typeface="Times New Roman" panose="02020603050405020304" pitchFamily="18" charset="0"/>
              </a:rPr>
              <a:t>) with increasing shear strain</a:t>
            </a:r>
            <a:r>
              <a:rPr lang="en-GB" altLang="en-US" sz="1000" i="1" dirty="0">
                <a:latin typeface="Times New Roman" panose="02020603050405020304" pitchFamily="18" charset="0"/>
                <a:cs typeface="Times New Roman" panose="02020603050405020304" pitchFamily="18" charset="0"/>
              </a:rPr>
              <a:t>.</a:t>
            </a:r>
            <a:r>
              <a:rPr lang="en-GB" altLang="en-US" sz="1000" dirty="0">
                <a:latin typeface="Times New Roman" panose="02020603050405020304" pitchFamily="18" charset="0"/>
                <a:cs typeface="Times New Roman" panose="02020603050405020304" pitchFamily="18" charset="0"/>
              </a:rPr>
              <a:t> The calculations apply for simple shear only – any component of pure shear or volume change modifies the equations. The equation for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θ</a:t>
            </a:r>
            <a:r>
              <a:rPr lang="en-GB" altLang="en-US" sz="1000" dirty="0">
                <a:latin typeface="Times New Roman" panose="02020603050405020304" pitchFamily="18" charset="0"/>
                <a:cs typeface="Times New Roman" panose="02020603050405020304" pitchFamily="18" charset="0"/>
              </a:rPr>
              <a:t>´ is derived from Eqn. 2.4 of Ramsay &amp; Huber, vol.1, and that for </a:t>
            </a:r>
            <a:r>
              <a:rPr lang="en-GB" altLang="en-US" sz="1000" i="1" dirty="0">
                <a:latin typeface="Times New Roman" panose="02020603050405020304" pitchFamily="18" charset="0"/>
                <a:cs typeface="Times New Roman" panose="02020603050405020304" pitchFamily="18" charset="0"/>
              </a:rPr>
              <a:t>R</a:t>
            </a:r>
            <a:r>
              <a:rPr lang="en-GB" altLang="en-US" sz="1000" dirty="0">
                <a:latin typeface="Times New Roman" panose="02020603050405020304" pitchFamily="18" charset="0"/>
                <a:cs typeface="Times New Roman" panose="02020603050405020304" pitchFamily="18" charset="0"/>
              </a:rPr>
              <a:t> is derived from Eqn. 2.7 of Ramsay &amp; Huber, vol.1. Note that the values of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θ</a:t>
            </a:r>
            <a:r>
              <a:rPr lang="en-GB" altLang="en-US" sz="1000" dirty="0">
                <a:latin typeface="Times New Roman" panose="02020603050405020304" pitchFamily="18" charset="0"/>
                <a:cs typeface="Times New Roman" panose="02020603050405020304" pitchFamily="18" charset="0"/>
              </a:rPr>
              <a:t>´ are negative (clockwise angle) in a dextral shear zone; they are positive in a sinistral shear zone.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γ</a:t>
            </a:r>
            <a:r>
              <a:rPr lang="en-GB" altLang="en-US" sz="1000" dirty="0">
                <a:latin typeface="Times New Roman" panose="02020603050405020304" pitchFamily="18" charset="0"/>
                <a:cs typeface="Times New Roman" panose="02020603050405020304" pitchFamily="18" charset="0"/>
              </a:rPr>
              <a:t> is engineering shear strain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γ</a:t>
            </a:r>
            <a:r>
              <a:rPr lang="en-US" altLang="en-US" sz="1000" i="1" dirty="0">
                <a:latin typeface="Cambria Math" panose="02040503050406030204" pitchFamily="18" charset="0"/>
                <a:ea typeface="Cambria Math" panose="02040503050406030204" pitchFamily="18" charset="0"/>
                <a:cs typeface="Times New Roman" panose="02020603050405020304" pitchFamily="18" charset="0"/>
              </a:rPr>
              <a:t> </a:t>
            </a:r>
            <a:r>
              <a:rPr lang="en-US" altLang="en-US" sz="1000" i="0" dirty="0">
                <a:latin typeface="Cambria Math" panose="02040503050406030204" pitchFamily="18" charset="0"/>
                <a:ea typeface="Cambria Math" panose="02040503050406030204" pitchFamily="18" charset="0"/>
                <a:cs typeface="Times New Roman" panose="02020603050405020304" pitchFamily="18" charset="0"/>
              </a:rPr>
              <a:t>= tan </a:t>
            </a:r>
            <a:r>
              <a:rPr lang="el-GR" altLang="en-US" sz="1000" i="1" dirty="0">
                <a:latin typeface="Times New Roman" panose="02020603050405020304" pitchFamily="18" charset="0"/>
                <a:ea typeface="Cambria Math" panose="02040503050406030204" pitchFamily="18" charset="0"/>
                <a:cs typeface="Times New Roman" panose="02020603050405020304" pitchFamily="18" charset="0"/>
              </a:rPr>
              <a:t>ψ</a:t>
            </a:r>
            <a:r>
              <a:rPr lang="en-US" altLang="en-US" sz="1000" i="0" dirty="0">
                <a:latin typeface="Times New Roman" panose="02020603050405020304" pitchFamily="18" charset="0"/>
                <a:ea typeface="Cambria Math" panose="02040503050406030204" pitchFamily="18" charset="0"/>
                <a:cs typeface="Times New Roman" panose="02020603050405020304" pitchFamily="18" charset="0"/>
              </a:rPr>
              <a:t>;</a:t>
            </a:r>
            <a:r>
              <a:rPr lang="en-GB" altLang="en-US" sz="1000" dirty="0">
                <a:latin typeface="Times New Roman" panose="02020603050405020304" pitchFamily="18" charset="0"/>
                <a:cs typeface="Times New Roman" panose="02020603050405020304" pitchFamily="18" charset="0"/>
              </a:rPr>
              <a:t> see Class 3 Slide 4)</a:t>
            </a:r>
          </a:p>
          <a:p>
            <a:pPr marL="0" indent="0">
              <a:spcBef>
                <a:spcPts val="300"/>
              </a:spcBef>
              <a:buFont typeface="Arial" panose="020B0604020202020204" pitchFamily="34" charset="0"/>
              <a:buNone/>
            </a:pPr>
            <a:endParaRPr lang="en-GB" altLang="en-US" sz="1000" dirty="0">
              <a:latin typeface="Times New Roman" panose="02020603050405020304" pitchFamily="18" charset="0"/>
              <a:cs typeface="Times New Roman" panose="02020603050405020304"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a:extLst>
              <a:ext uri="{FF2B5EF4-FFF2-40B4-BE49-F238E27FC236}">
                <a16:creationId xmlns:a16="http://schemas.microsoft.com/office/drawing/2014/main" id="{27D856AD-C2B5-4286-966C-2216B5031DA7}"/>
              </a:ext>
            </a:extLst>
          </p:cNvPr>
          <p:cNvSpPr>
            <a:spLocks noGrp="1" noRot="1" noChangeAspect="1" noChangeArrowheads="1" noTextEdit="1"/>
          </p:cNvSpPr>
          <p:nvPr>
            <p:ph type="sldImg"/>
          </p:nvPr>
        </p:nvSpPr>
        <p:spPr>
          <a:ln/>
        </p:spPr>
      </p:sp>
      <p:sp>
        <p:nvSpPr>
          <p:cNvPr id="59395" name="Rectangle 3">
            <a:extLst>
              <a:ext uri="{FF2B5EF4-FFF2-40B4-BE49-F238E27FC236}">
                <a16:creationId xmlns:a16="http://schemas.microsoft.com/office/drawing/2014/main" id="{5CCAF55F-1AA3-411F-837F-DF723CE88279}"/>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latin typeface="Times New Roman" panose="02020603050405020304" pitchFamily="18" charset="0"/>
                <a:cs typeface="Times New Roman" panose="02020603050405020304" pitchFamily="18" charset="0"/>
              </a:rPr>
              <a:t>From the orientation of the long axis of the strain ellipse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θ</a:t>
            </a:r>
            <a:r>
              <a:rPr lang="en-GB" altLang="en-US" sz="1000" i="0" dirty="0">
                <a:latin typeface="Times New Roman" panose="02020603050405020304" pitchFamily="18" charset="0"/>
                <a:ea typeface="Cambria Math" panose="02040503050406030204" pitchFamily="18" charset="0"/>
                <a:cs typeface="Times New Roman" panose="02020603050405020304" pitchFamily="18" charset="0"/>
              </a:rPr>
              <a:t>´ then the tan 2</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θ</a:t>
            </a:r>
            <a:r>
              <a:rPr lang="en-GB" altLang="en-US" sz="1000" i="0" dirty="0">
                <a:latin typeface="Times New Roman" panose="02020603050405020304" pitchFamily="18" charset="0"/>
                <a:ea typeface="Cambria Math" panose="02040503050406030204" pitchFamily="18" charset="0"/>
                <a:cs typeface="Times New Roman" panose="02020603050405020304" pitchFamily="18" charset="0"/>
              </a:rPr>
              <a:t>´ formula on the bottom right figure may be used to determine the shear strain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γ</a:t>
            </a:r>
            <a:r>
              <a:rPr lang="en-GB" altLang="en-US" sz="1000" i="0" dirty="0">
                <a:latin typeface="Times New Roman" panose="02020603050405020304" pitchFamily="18" charset="0"/>
                <a:ea typeface="Cambria Math" panose="02040503050406030204" pitchFamily="18" charset="0"/>
                <a:cs typeface="Times New Roman" panose="02020603050405020304" pitchFamily="18" charset="0"/>
              </a:rPr>
              <a:t>. The equation written in yellow on the slide simply expresses the usual trigonometrical relationship, tan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θ </a:t>
            </a:r>
            <a:r>
              <a:rPr lang="en-GB" altLang="en-US" sz="1000" i="0" dirty="0">
                <a:latin typeface="Times New Roman" panose="02020603050405020304" pitchFamily="18" charset="0"/>
                <a:ea typeface="Cambria Math" panose="02040503050406030204" pitchFamily="18" charset="0"/>
                <a:cs typeface="Times New Roman" panose="02020603050405020304" pitchFamily="18" charset="0"/>
              </a:rPr>
              <a:t>= opposite over adjacent (see the diagram bottom left, where </a:t>
            </a:r>
            <a:r>
              <a:rPr lang="el-GR" altLang="en-US" sz="1000" i="1" dirty="0">
                <a:latin typeface="Times New Roman" panose="02020603050405020304" pitchFamily="18" charset="0"/>
                <a:ea typeface="Cambria Math" panose="02040503050406030204" pitchFamily="18" charset="0"/>
                <a:cs typeface="Times New Roman" panose="02020603050405020304" pitchFamily="18" charset="0"/>
              </a:rPr>
              <a:t>θ</a:t>
            </a:r>
            <a:r>
              <a:rPr lang="en-GB" altLang="en-US" sz="1000" i="0" dirty="0">
                <a:latin typeface="Times New Roman" panose="02020603050405020304" pitchFamily="18" charset="0"/>
                <a:ea typeface="Cambria Math" panose="02040503050406030204" pitchFamily="18" charset="0"/>
                <a:cs typeface="Times New Roman" panose="02020603050405020304" pitchFamily="18" charset="0"/>
              </a:rPr>
              <a:t> is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ψ</a:t>
            </a:r>
            <a:r>
              <a:rPr lang="en-GB" altLang="en-US" sz="1000" i="0" dirty="0">
                <a:latin typeface="Times New Roman" panose="02020603050405020304" pitchFamily="18" charset="0"/>
                <a:ea typeface="Cambria Math" panose="02040503050406030204" pitchFamily="18" charset="0"/>
                <a:cs typeface="Times New Roman" panose="02020603050405020304" pitchFamily="18" charset="0"/>
              </a:rPr>
              <a:t>). Hence, we see that “displacement =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γ</a:t>
            </a:r>
            <a:r>
              <a:rPr lang="en-GB" altLang="en-US" sz="1000" i="0" dirty="0">
                <a:latin typeface="Times New Roman" panose="02020603050405020304" pitchFamily="18" charset="0"/>
                <a:ea typeface="Cambria Math" panose="02040503050406030204" pitchFamily="18" charset="0"/>
                <a:cs typeface="Times New Roman" panose="02020603050405020304" pitchFamily="18" charset="0"/>
              </a:rPr>
              <a:t> × shear zone width”. In the figure bottom left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γ</a:t>
            </a:r>
            <a:r>
              <a:rPr lang="en-GB" altLang="en-US" sz="1000" i="0" dirty="0">
                <a:latin typeface="Times New Roman" panose="02020603050405020304" pitchFamily="18" charset="0"/>
                <a:ea typeface="Cambria Math" panose="02040503050406030204" pitchFamily="18" charset="0"/>
                <a:cs typeface="Times New Roman" panose="02020603050405020304" pitchFamily="18" charset="0"/>
              </a:rPr>
              <a:t> is constant across the shear zone, but if instead it varies across the shear zone, then the “displacement =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γ</a:t>
            </a:r>
            <a:r>
              <a:rPr lang="en-GB" altLang="en-US" sz="1000" i="0" dirty="0">
                <a:latin typeface="Times New Roman" panose="02020603050405020304" pitchFamily="18" charset="0"/>
                <a:ea typeface="Cambria Math" panose="02040503050406030204" pitchFamily="18" charset="0"/>
                <a:cs typeface="Times New Roman" panose="02020603050405020304" pitchFamily="18" charset="0"/>
              </a:rPr>
              <a:t> × shear zone width” equation becomes the integration that yields the area under the “shear strain vs. distance across the shear zone curve”</a:t>
            </a:r>
            <a:endParaRPr lang="en-GB" altLang="en-US" sz="1000" i="0" dirty="0">
              <a:latin typeface="Times New Roman" panose="02020603050405020304" pitchFamily="18" charset="0"/>
              <a:cs typeface="Times New Roman" panose="02020603050405020304" pitchFamily="18" charset="0"/>
            </a:endParaRPr>
          </a:p>
          <a:p>
            <a:pPr marL="108000" indent="-108000">
              <a:spcBef>
                <a:spcPts val="300"/>
              </a:spcBef>
              <a:buFont typeface="Arial" panose="020B0604020202020204" pitchFamily="34" charset="0"/>
              <a:buChar char="•"/>
            </a:pPr>
            <a:r>
              <a:rPr lang="en-GB" altLang="en-US" sz="1000" dirty="0">
                <a:latin typeface="Times New Roman" panose="02020603050405020304" pitchFamily="18" charset="0"/>
                <a:cs typeface="Times New Roman" panose="02020603050405020304" pitchFamily="18" charset="0"/>
              </a:rPr>
              <a:t>The cross-check that simple shear applies makes use of the formula for </a:t>
            </a:r>
            <a:r>
              <a:rPr lang="en-GB" altLang="en-US" sz="1000" i="1" dirty="0">
                <a:latin typeface="Times New Roman" panose="02020603050405020304" pitchFamily="18" charset="0"/>
                <a:cs typeface="Times New Roman" panose="02020603050405020304" pitchFamily="18" charset="0"/>
              </a:rPr>
              <a:t>R</a:t>
            </a:r>
            <a:r>
              <a:rPr lang="en-GB" altLang="en-US" sz="1000" i="0" dirty="0">
                <a:latin typeface="Times New Roman" panose="02020603050405020304" pitchFamily="18" charset="0"/>
                <a:cs typeface="Times New Roman" panose="02020603050405020304" pitchFamily="18" charset="0"/>
              </a:rPr>
              <a:t> (the aspect ratio of the strain ellipse) on the bottom right figure – the calculated value of </a:t>
            </a:r>
            <a:r>
              <a:rPr lang="en-GB" altLang="en-US" sz="1000" i="1" dirty="0">
                <a:latin typeface="Times New Roman" panose="02020603050405020304" pitchFamily="18" charset="0"/>
                <a:cs typeface="Times New Roman" panose="02020603050405020304" pitchFamily="18" charset="0"/>
              </a:rPr>
              <a:t>R</a:t>
            </a:r>
            <a:r>
              <a:rPr lang="en-GB" altLang="en-US" sz="1000" i="0" dirty="0">
                <a:latin typeface="Times New Roman" panose="02020603050405020304" pitchFamily="18" charset="0"/>
                <a:cs typeface="Times New Roman" panose="02020603050405020304" pitchFamily="18" charset="0"/>
              </a:rPr>
              <a:t> from the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γ</a:t>
            </a:r>
            <a:r>
              <a:rPr lang="en-GB" altLang="en-US" sz="1000" i="0" dirty="0">
                <a:latin typeface="Times New Roman" panose="02020603050405020304" pitchFamily="18" charset="0"/>
                <a:ea typeface="Cambria Math" panose="02040503050406030204" pitchFamily="18" charset="0"/>
                <a:cs typeface="Times New Roman" panose="02020603050405020304" pitchFamily="18" charset="0"/>
              </a:rPr>
              <a:t> values determined from the measured </a:t>
            </a:r>
            <a:r>
              <a:rPr lang="el-GR" altLang="en-US" sz="1000" i="1" dirty="0">
                <a:latin typeface="Times New Roman" panose="02020603050405020304" pitchFamily="18" charset="0"/>
                <a:ea typeface="Cambria Math" panose="02040503050406030204" pitchFamily="18" charset="0"/>
                <a:cs typeface="Times New Roman" panose="02020603050405020304" pitchFamily="18" charset="0"/>
              </a:rPr>
              <a:t>θ</a:t>
            </a:r>
            <a:r>
              <a:rPr lang="en-GB" altLang="en-US" sz="1000" i="0" dirty="0">
                <a:latin typeface="Times New Roman" panose="02020603050405020304" pitchFamily="18" charset="0"/>
                <a:ea typeface="Cambria Math" panose="02040503050406030204" pitchFamily="18" charset="0"/>
                <a:cs typeface="Times New Roman" panose="02020603050405020304" pitchFamily="18" charset="0"/>
              </a:rPr>
              <a:t>´ may be compared with the measured values of </a:t>
            </a:r>
            <a:r>
              <a:rPr lang="en-GB" altLang="en-US" sz="1000" i="1" dirty="0">
                <a:latin typeface="Times New Roman" panose="02020603050405020304" pitchFamily="18" charset="0"/>
                <a:ea typeface="Cambria Math" panose="02040503050406030204" pitchFamily="18" charset="0"/>
                <a:cs typeface="Times New Roman" panose="02020603050405020304" pitchFamily="18" charset="0"/>
              </a:rPr>
              <a:t>R</a:t>
            </a:r>
            <a:endParaRPr lang="en-GB" altLang="en-US" sz="1000" dirty="0">
              <a:latin typeface="Times New Roman" panose="02020603050405020304" pitchFamily="18" charset="0"/>
              <a:cs typeface="Times New Roman" panose="02020603050405020304" pitchFamily="18" charset="0"/>
            </a:endParaRPr>
          </a:p>
          <a:p>
            <a:pPr marL="108000" indent="-108000">
              <a:spcBef>
                <a:spcPts val="300"/>
              </a:spcBef>
              <a:buFont typeface="Arial" panose="020B0604020202020204" pitchFamily="34" charset="0"/>
              <a:buChar char="•"/>
            </a:pPr>
            <a:r>
              <a:rPr lang="en-GB" altLang="en-US" sz="1000" dirty="0">
                <a:latin typeface="Times New Roman" panose="02020603050405020304" pitchFamily="18" charset="0"/>
                <a:cs typeface="Times New Roman" panose="02020603050405020304" pitchFamily="18" charset="0"/>
              </a:rPr>
              <a:t>For further details on this technique, see Ramsay and Huber, vol.1, Questions 3.4 and 3.5 (p.37ff.). Note that looking at the diagrams on the slide it is tempting to think that </a:t>
            </a:r>
            <a:r>
              <a:rPr lang="el-GR" altLang="en-US" sz="1000" i="1" dirty="0">
                <a:latin typeface="Times New Roman" panose="02020603050405020304" pitchFamily="18" charset="0"/>
                <a:cs typeface="Times New Roman" panose="02020603050405020304" pitchFamily="18" charset="0"/>
              </a:rPr>
              <a:t>θ</a:t>
            </a:r>
            <a:r>
              <a:rPr lang="en-GB" altLang="en-US" sz="1000" dirty="0">
                <a:latin typeface="Times New Roman" panose="02020603050405020304" pitchFamily="18" charset="0"/>
                <a:cs typeface="Times New Roman" panose="02020603050405020304" pitchFamily="18" charset="0"/>
              </a:rPr>
              <a:t>´ = 90 -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ψ</a:t>
            </a:r>
            <a:r>
              <a:rPr lang="en-GB" altLang="en-US" sz="1000" dirty="0">
                <a:latin typeface="Times New Roman" panose="02020603050405020304" pitchFamily="18" charset="0"/>
                <a:cs typeface="Times New Roman" panose="02020603050405020304" pitchFamily="18" charset="0"/>
              </a:rPr>
              <a:t> but this is NOT correct –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θ</a:t>
            </a:r>
            <a:r>
              <a:rPr lang="en-GB" altLang="en-US" sz="1000" dirty="0">
                <a:latin typeface="Times New Roman" panose="02020603050405020304" pitchFamily="18" charset="0"/>
                <a:cs typeface="Times New Roman" panose="02020603050405020304" pitchFamily="18" charset="0"/>
              </a:rPr>
              <a:t>´ records the direction of maximum extension while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ψ</a:t>
            </a:r>
            <a:r>
              <a:rPr lang="en-GB" altLang="en-US" sz="1000" dirty="0">
                <a:latin typeface="Times New Roman" panose="02020603050405020304" pitchFamily="18" charset="0"/>
                <a:cs typeface="Times New Roman" panose="02020603050405020304" pitchFamily="18" charset="0"/>
              </a:rPr>
              <a:t> records the change in angle between two lines that were originally orthogonal</a:t>
            </a:r>
            <a:endParaRPr lang="el-GR" altLang="en-US" sz="1000" dirty="0">
              <a:latin typeface="Times New Roman" panose="02020603050405020304" pitchFamily="18" charset="0"/>
              <a:cs typeface="Times New Roman" panose="02020603050405020304" pitchFamily="18" charset="0"/>
            </a:endParaRPr>
          </a:p>
          <a:p>
            <a:pPr marL="108000" indent="-108000">
              <a:spcBef>
                <a:spcPts val="300"/>
              </a:spcBef>
              <a:buFont typeface="Arial" panose="020B0604020202020204" pitchFamily="34" charset="0"/>
              <a:buChar char="•"/>
            </a:pPr>
            <a:r>
              <a:rPr lang="en-GB" altLang="en-US" sz="1000" dirty="0">
                <a:latin typeface="Times New Roman" panose="02020603050405020304" pitchFamily="18" charset="0"/>
                <a:cs typeface="Times New Roman" panose="02020603050405020304" pitchFamily="18" charset="0"/>
              </a:rPr>
              <a:t>You may be able to employ this technique in fieldwork, but you do need a section through the shear zone that contains the slip vector (the XZ plane). The orientation of a foliation produced by the shearing can be used to give the orientation of the maximum extension direction = long axis of the strain ellipse = X direction (see Slide 12)</a:t>
            </a:r>
          </a:p>
          <a:p>
            <a:pPr marL="108000" indent="-108000">
              <a:spcBef>
                <a:spcPts val="300"/>
              </a:spcBef>
              <a:buFont typeface="Arial" panose="020B0604020202020204" pitchFamily="34" charset="0"/>
              <a:buChar char="•"/>
            </a:pPr>
            <a:r>
              <a:rPr lang="en-GB" altLang="en-US" sz="1000" dirty="0">
                <a:latin typeface="Times New Roman" panose="02020603050405020304" pitchFamily="18" charset="0"/>
                <a:cs typeface="Times New Roman" panose="02020603050405020304" pitchFamily="18" charset="0"/>
              </a:rPr>
              <a:t>Figures top left, bottom left, and bottom right by Steve Covey-Crump</a:t>
            </a:r>
          </a:p>
          <a:p>
            <a:pPr marL="108000" indent="-108000">
              <a:spcBef>
                <a:spcPts val="300"/>
              </a:spcBef>
              <a:buFont typeface="Arial" panose="020B0604020202020204" pitchFamily="34" charset="0"/>
              <a:buChar char="•"/>
            </a:pPr>
            <a:r>
              <a:rPr lang="en-GB" altLang="en-US" sz="1000" dirty="0">
                <a:latin typeface="Times New Roman" panose="02020603050405020304" pitchFamily="18" charset="0"/>
                <a:cs typeface="Times New Roman" panose="02020603050405020304" pitchFamily="18" charset="0"/>
              </a:rPr>
              <a:t>Figure bottom middle from Fossen, p.334</a:t>
            </a:r>
          </a:p>
          <a:p>
            <a:pPr marL="0" indent="0">
              <a:spcBef>
                <a:spcPts val="300"/>
              </a:spcBef>
              <a:buFont typeface="Arial" panose="020B0604020202020204" pitchFamily="34" charset="0"/>
              <a:buNone/>
            </a:pPr>
            <a:endParaRPr lang="en-GB" altLang="en-US" sz="1000" dirty="0">
              <a:latin typeface="Times New Roman" panose="02020603050405020304" pitchFamily="18" charset="0"/>
              <a:cs typeface="Times New Roman" panose="02020603050405020304"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08000" indent="-108000">
              <a:spcBef>
                <a:spcPts val="300"/>
              </a:spcBef>
              <a:buFont typeface="Arial" panose="020B0604020202020204" pitchFamily="34" charset="0"/>
              <a:buChar char="•"/>
            </a:pPr>
            <a:endParaRPr lang="en-GB" sz="1000" dirty="0"/>
          </a:p>
        </p:txBody>
      </p:sp>
      <p:sp>
        <p:nvSpPr>
          <p:cNvPr id="4" name="Slide Number Placeholder 3"/>
          <p:cNvSpPr>
            <a:spLocks noGrp="1"/>
          </p:cNvSpPr>
          <p:nvPr>
            <p:ph type="sldNum" sz="quarter" idx="5"/>
          </p:nvPr>
        </p:nvSpPr>
        <p:spPr/>
        <p:txBody>
          <a:bodyPr/>
          <a:lstStyle/>
          <a:p>
            <a:fld id="{C501626C-B5A0-495B-BE4C-E6C934511C75}" type="slidenum">
              <a:rPr lang="en-GB" altLang="en-US" smtClean="0"/>
              <a:pPr/>
              <a:t>9</a:t>
            </a:fld>
            <a:endParaRPr lang="en-GB" altLang="en-US"/>
          </a:p>
        </p:txBody>
      </p:sp>
    </p:spTree>
    <p:extLst>
      <p:ext uri="{BB962C8B-B14F-4D97-AF65-F5344CB8AC3E}">
        <p14:creationId xmlns:p14="http://schemas.microsoft.com/office/powerpoint/2010/main" val="13544664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a:extLst>
              <a:ext uri="{FF2B5EF4-FFF2-40B4-BE49-F238E27FC236}">
                <a16:creationId xmlns:a16="http://schemas.microsoft.com/office/drawing/2014/main" id="{9B360861-9013-43A0-A89B-7F71D2F4F86E}"/>
              </a:ext>
            </a:extLst>
          </p:cNvPr>
          <p:cNvSpPr>
            <a:spLocks noGrp="1" noRot="1" noChangeAspect="1" noChangeArrowheads="1" noTextEdit="1"/>
          </p:cNvSpPr>
          <p:nvPr>
            <p:ph type="sldImg"/>
          </p:nvPr>
        </p:nvSpPr>
        <p:spPr>
          <a:ln/>
        </p:spPr>
      </p:sp>
      <p:sp>
        <p:nvSpPr>
          <p:cNvPr id="60419" name="Rectangle 3">
            <a:extLst>
              <a:ext uri="{FF2B5EF4-FFF2-40B4-BE49-F238E27FC236}">
                <a16:creationId xmlns:a16="http://schemas.microsoft.com/office/drawing/2014/main" id="{32967675-05C8-49DD-A476-1CD091C7B794}"/>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When using the curvature of foliations to infer slip sense, be aware that how this curvature appears depends upon the orientation of the section through the rock (relative to the shear plane) on which the fabric is being viewed – care is required</a:t>
            </a:r>
          </a:p>
          <a:p>
            <a:pPr marL="108000" indent="-108000">
              <a:spcBef>
                <a:spcPts val="300"/>
              </a:spcBef>
              <a:buFont typeface="Arial" panose="020B0604020202020204" pitchFamily="34" charset="0"/>
              <a:buChar char="•"/>
            </a:pPr>
            <a:r>
              <a:rPr lang="en-GB" altLang="en-US" sz="1000" dirty="0"/>
              <a:t>Photo top left (from Fossen, p.334): ductile shear zone in a greenstone – the white patches are feldspar aggregates (amygdales)</a:t>
            </a:r>
          </a:p>
          <a:p>
            <a:pPr marL="108000" indent="-108000">
              <a:spcBef>
                <a:spcPts val="300"/>
              </a:spcBef>
              <a:buFont typeface="Arial" panose="020B0604020202020204" pitchFamily="34" charset="0"/>
              <a:buChar char="•"/>
            </a:pPr>
            <a:r>
              <a:rPr lang="en-GB" altLang="en-US" sz="1000" dirty="0"/>
              <a:t>Photo top right (by Keith </a:t>
            </a:r>
            <a:r>
              <a:rPr lang="en-GB" altLang="en-US" sz="1000" dirty="0" err="1"/>
              <a:t>Klepeis</a:t>
            </a:r>
            <a:r>
              <a:rPr lang="en-GB" altLang="en-US" sz="1000" dirty="0"/>
              <a:t>, badger.uvm.edu/</a:t>
            </a:r>
            <a:r>
              <a:rPr lang="en-GB" altLang="en-US" sz="1000" dirty="0" err="1"/>
              <a:t>jspui</a:t>
            </a:r>
            <a:r>
              <a:rPr lang="en-GB" altLang="en-US" sz="1000" dirty="0"/>
              <a:t>/handle/2051/4185): ductile shear zone, Pembroke Valley, Fiordland, New Zealand</a:t>
            </a:r>
          </a:p>
          <a:p>
            <a:pPr marL="108000" indent="-108000">
              <a:spcBef>
                <a:spcPts val="300"/>
              </a:spcBef>
              <a:buFont typeface="Arial" panose="020B0604020202020204" pitchFamily="34" charset="0"/>
              <a:buChar char="•"/>
            </a:pPr>
            <a:r>
              <a:rPr lang="en-GB" altLang="en-US" sz="1000" dirty="0"/>
              <a:t>Photo bottom right (by Keith </a:t>
            </a:r>
            <a:r>
              <a:rPr lang="en-GB" altLang="en-US" sz="1000" dirty="0" err="1"/>
              <a:t>Klepeis</a:t>
            </a:r>
            <a:r>
              <a:rPr lang="en-GB" altLang="en-US" sz="1000" dirty="0"/>
              <a:t>: badger.uvm.edu/</a:t>
            </a:r>
            <a:r>
              <a:rPr lang="en-GB" altLang="en-US" sz="1000" dirty="0" err="1"/>
              <a:t>xmlui</a:t>
            </a:r>
            <a:r>
              <a:rPr lang="en-GB" altLang="en-US" sz="1000" dirty="0"/>
              <a:t>/handle/2051/3277): a well-developed stretching lineation within a shear zone (unknown location)</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a:extLst>
              <a:ext uri="{FF2B5EF4-FFF2-40B4-BE49-F238E27FC236}">
                <a16:creationId xmlns:a16="http://schemas.microsoft.com/office/drawing/2014/main" id="{CA6F6138-F725-4370-8783-DF2A452A666D}"/>
              </a:ext>
            </a:extLst>
          </p:cNvPr>
          <p:cNvSpPr>
            <a:spLocks noGrp="1" noRot="1" noChangeAspect="1" noChangeArrowheads="1" noTextEdit="1"/>
          </p:cNvSpPr>
          <p:nvPr>
            <p:ph type="sldImg"/>
          </p:nvPr>
        </p:nvSpPr>
        <p:spPr>
          <a:ln/>
        </p:spPr>
      </p:sp>
      <p:sp>
        <p:nvSpPr>
          <p:cNvPr id="61443" name="Rectangle 3">
            <a:extLst>
              <a:ext uri="{FF2B5EF4-FFF2-40B4-BE49-F238E27FC236}">
                <a16:creationId xmlns:a16="http://schemas.microsoft.com/office/drawing/2014/main" id="{2C9BE9DC-C222-4720-9E98-148D1A67C2EB}"/>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err="1"/>
              <a:t>Mylonites</a:t>
            </a:r>
            <a:r>
              <a:rPr lang="en-GB" altLang="en-US" sz="1000" dirty="0"/>
              <a:t> are formally defined as “</a:t>
            </a:r>
            <a:r>
              <a:rPr lang="en-GB" altLang="en-US" sz="1000" i="1" dirty="0"/>
              <a:t>A fault rock which is cohesive and characterised by a well-developed schistosity resulting from tectonic reduction of grain size and commonly containing rounded </a:t>
            </a:r>
            <a:r>
              <a:rPr lang="en-GB" altLang="en-US" sz="1000" i="1" dirty="0" err="1"/>
              <a:t>porphyroclasts</a:t>
            </a:r>
            <a:r>
              <a:rPr lang="en-GB" altLang="en-US" sz="1000" i="1" dirty="0"/>
              <a:t> and lithic fragments of similar composition to minerals in the matrix</a:t>
            </a:r>
            <a:r>
              <a:rPr lang="en-GB" altLang="en-US" sz="1000" dirty="0"/>
              <a:t>”. They are subdivided according to the proportion of original grains that remain </a:t>
            </a:r>
            <a:r>
              <a:rPr lang="en-GB" altLang="en-US" sz="1000" dirty="0" err="1"/>
              <a:t>unrecrystallized</a:t>
            </a:r>
            <a:r>
              <a:rPr lang="en-GB" altLang="en-US" sz="1000" dirty="0"/>
              <a:t>: (1) </a:t>
            </a:r>
            <a:r>
              <a:rPr lang="en-GB" altLang="en-US" sz="1000" b="1" i="1" dirty="0" err="1"/>
              <a:t>protomylonites</a:t>
            </a:r>
            <a:r>
              <a:rPr lang="en-GB" altLang="en-US" sz="1000" dirty="0"/>
              <a:t> – less than 50% new recrystallized grains; (2) </a:t>
            </a:r>
            <a:r>
              <a:rPr lang="en-GB" altLang="en-US" sz="1000" b="1" i="1" dirty="0"/>
              <a:t>(</a:t>
            </a:r>
            <a:r>
              <a:rPr lang="en-GB" altLang="en-US" sz="1000" b="1" i="1" dirty="0" err="1"/>
              <a:t>meso</a:t>
            </a:r>
            <a:r>
              <a:rPr lang="en-GB" altLang="en-US" sz="1000" b="1" i="1" dirty="0"/>
              <a:t>)</a:t>
            </a:r>
            <a:r>
              <a:rPr lang="en-GB" altLang="en-US" sz="1000" b="1" i="1" dirty="0" err="1"/>
              <a:t>mylonites</a:t>
            </a:r>
            <a:r>
              <a:rPr lang="en-GB" altLang="en-US" sz="1000" dirty="0"/>
              <a:t> – 5</a:t>
            </a:r>
            <a:r>
              <a:rPr lang="en-GB" altLang="en-US" sz="1000" spc="100" baseline="0" dirty="0"/>
              <a:t>0-</a:t>
            </a:r>
            <a:r>
              <a:rPr lang="en-GB" altLang="en-US" sz="1000" dirty="0"/>
              <a:t>90% new recrystallized grains; (3) </a:t>
            </a:r>
            <a:r>
              <a:rPr lang="en-GB" altLang="en-US" sz="1000" b="1" i="1" dirty="0" err="1"/>
              <a:t>ultramylonites</a:t>
            </a:r>
            <a:r>
              <a:rPr lang="en-GB" altLang="en-US" sz="1000" dirty="0"/>
              <a:t> – more than 90% new recrystallized grains. For formal definitions, see Brodie </a:t>
            </a:r>
            <a:r>
              <a:rPr lang="en-GB" altLang="en-US" sz="1000" i="1" dirty="0"/>
              <a:t>et al.</a:t>
            </a:r>
            <a:r>
              <a:rPr lang="en-GB" altLang="en-US" sz="1000" dirty="0"/>
              <a:t>, 2007, in: </a:t>
            </a:r>
            <a:r>
              <a:rPr lang="en-GB" altLang="en-US" sz="1000" i="1" dirty="0"/>
              <a:t>Metamorphic Rocks: a Classification and Glossary of Terms </a:t>
            </a:r>
            <a:r>
              <a:rPr lang="en-GB" altLang="en-US" sz="1000" dirty="0"/>
              <a:t>(editors D. Fettes &amp; J. </a:t>
            </a:r>
            <a:r>
              <a:rPr lang="en-GB" altLang="en-US" sz="1000" dirty="0" err="1"/>
              <a:t>Desmonds</a:t>
            </a:r>
            <a:r>
              <a:rPr lang="en-GB" altLang="en-US" sz="1000" dirty="0"/>
              <a:t>), p.24-31. There are additional categories: an </a:t>
            </a:r>
            <a:r>
              <a:rPr lang="en-GB" altLang="en-US" sz="1000" b="1" i="1" dirty="0" err="1"/>
              <a:t>augen</a:t>
            </a:r>
            <a:r>
              <a:rPr lang="en-GB" altLang="en-US" sz="1000" b="1" i="1" dirty="0"/>
              <a:t> </a:t>
            </a:r>
            <a:r>
              <a:rPr lang="en-GB" altLang="en-US" sz="1000" b="1" i="1" dirty="0" err="1"/>
              <a:t>mylonite</a:t>
            </a:r>
            <a:r>
              <a:rPr lang="en-GB" altLang="en-US" sz="1000" b="1" i="1" dirty="0"/>
              <a:t> </a:t>
            </a:r>
            <a:r>
              <a:rPr lang="en-GB" altLang="en-US" sz="1000" dirty="0"/>
              <a:t>contains distinctive large crystals around which the foliated matrix is wrapped, and a </a:t>
            </a:r>
            <a:r>
              <a:rPr lang="en-GB" altLang="en-US" sz="1000" b="1" i="1" dirty="0" err="1"/>
              <a:t>blastomylonite</a:t>
            </a:r>
            <a:r>
              <a:rPr lang="en-GB" altLang="en-US" sz="1000" b="1" i="1" dirty="0"/>
              <a:t> </a:t>
            </a:r>
            <a:r>
              <a:rPr lang="en-GB" altLang="en-US" sz="1000" dirty="0"/>
              <a:t>is a </a:t>
            </a:r>
            <a:r>
              <a:rPr lang="en-GB" altLang="en-US" sz="1000" dirty="0" err="1"/>
              <a:t>mylonite</a:t>
            </a:r>
            <a:r>
              <a:rPr lang="en-GB" altLang="en-US" sz="1000" dirty="0"/>
              <a:t> that has undergone significant grain growth during or after deformation</a:t>
            </a:r>
          </a:p>
          <a:p>
            <a:pPr marL="108000" indent="-108000">
              <a:spcBef>
                <a:spcPts val="300"/>
              </a:spcBef>
              <a:buFont typeface="Arial" panose="020B0604020202020204" pitchFamily="34" charset="0"/>
              <a:buChar char="•"/>
            </a:pPr>
            <a:r>
              <a:rPr lang="en-GB" altLang="en-US" sz="1000" dirty="0"/>
              <a:t>Photo top left (Fossen, one of the extra figures on the web-site for the book, folk.uib.no/</a:t>
            </a:r>
            <a:r>
              <a:rPr lang="en-GB" altLang="en-US" sz="1000" dirty="0" err="1"/>
              <a:t>nglhe</a:t>
            </a:r>
            <a:r>
              <a:rPr lang="en-GB" altLang="en-US" sz="1000" dirty="0"/>
              <a:t>/StructuralGeoBook.html): Proterozoic migmatite, </a:t>
            </a:r>
            <a:r>
              <a:rPr lang="en-GB" altLang="en-US" sz="1000" dirty="0" err="1"/>
              <a:t>mylonitized</a:t>
            </a:r>
            <a:r>
              <a:rPr lang="en-GB" altLang="en-US" sz="1000" dirty="0"/>
              <a:t> during Caledonian deformation</a:t>
            </a:r>
          </a:p>
          <a:p>
            <a:pPr marL="108000" indent="-108000">
              <a:spcBef>
                <a:spcPts val="300"/>
              </a:spcBef>
              <a:buFont typeface="Arial" panose="020B0604020202020204" pitchFamily="34" charset="0"/>
              <a:buChar char="•"/>
            </a:pPr>
            <a:r>
              <a:rPr lang="en-GB" altLang="en-US" sz="1000" dirty="0"/>
              <a:t>Photo top right (by Roberto Weinberg, users.monash.edu.au/~</a:t>
            </a:r>
            <a:r>
              <a:rPr lang="en-GB" altLang="en-US" sz="1000" dirty="0" err="1"/>
              <a:t>weinberg</a:t>
            </a:r>
            <a:r>
              <a:rPr lang="en-GB" altLang="en-US" sz="1000" dirty="0"/>
              <a:t>/Pages/</a:t>
            </a:r>
            <a:r>
              <a:rPr lang="en-GB" altLang="en-US" sz="1000" dirty="0" err="1"/>
              <a:t>Zanskar_SZ</a:t>
            </a:r>
            <a:r>
              <a:rPr lang="en-GB" altLang="en-US" sz="1000" dirty="0"/>
              <a:t>/Zanskar_SZ.htm): the thick </a:t>
            </a:r>
            <a:r>
              <a:rPr lang="en-GB" altLang="en-US" sz="1000" dirty="0" err="1"/>
              <a:t>mylonites</a:t>
            </a:r>
            <a:r>
              <a:rPr lang="en-GB" altLang="en-US" sz="1000" dirty="0"/>
              <a:t> of the Zanskar Shear Zone, to the west of </a:t>
            </a:r>
            <a:r>
              <a:rPr lang="en-GB" altLang="en-US" sz="1000" dirty="0" err="1"/>
              <a:t>Pensi</a:t>
            </a:r>
            <a:r>
              <a:rPr lang="en-GB" altLang="en-US" sz="1000" dirty="0"/>
              <a:t> La, </a:t>
            </a:r>
            <a:r>
              <a:rPr lang="en-GB" altLang="en-US" sz="1000" dirty="0" err="1"/>
              <a:t>Reru</a:t>
            </a:r>
            <a:r>
              <a:rPr lang="en-GB" altLang="en-US" sz="1000" dirty="0"/>
              <a:t> Valley, High Himalaya</a:t>
            </a:r>
          </a:p>
          <a:p>
            <a:pPr marL="108000" indent="-108000">
              <a:spcBef>
                <a:spcPts val="300"/>
              </a:spcBef>
              <a:buFont typeface="Arial" panose="020B0604020202020204" pitchFamily="34" charset="0"/>
              <a:buChar char="•"/>
            </a:pPr>
            <a:r>
              <a:rPr lang="en-GB" altLang="en-US" sz="1000" dirty="0"/>
              <a:t>Photo bottom left (by Roberto Weinberg, users.monash.edu.au/~</a:t>
            </a:r>
            <a:r>
              <a:rPr lang="en-GB" altLang="en-US" sz="1000" dirty="0" err="1"/>
              <a:t>weinberg</a:t>
            </a:r>
            <a:r>
              <a:rPr lang="en-GB" altLang="en-US" sz="1000" dirty="0"/>
              <a:t>/Pages/</a:t>
            </a:r>
            <a:r>
              <a:rPr lang="en-GB" altLang="en-US" sz="1000" dirty="0" err="1"/>
              <a:t>Reru_valley</a:t>
            </a:r>
            <a:r>
              <a:rPr lang="en-GB" altLang="en-US" sz="1000" dirty="0"/>
              <a:t>/Reru_def_melt.htm): </a:t>
            </a:r>
            <a:r>
              <a:rPr lang="en-GB" altLang="en-US" sz="1000" dirty="0" err="1"/>
              <a:t>porphyroblastic</a:t>
            </a:r>
            <a:r>
              <a:rPr lang="en-GB" altLang="en-US" sz="1000" dirty="0"/>
              <a:t> mylonite (granitic protolith), </a:t>
            </a:r>
            <a:r>
              <a:rPr lang="en-GB" altLang="en-US" sz="1000" dirty="0" err="1"/>
              <a:t>Reru</a:t>
            </a:r>
            <a:r>
              <a:rPr lang="en-GB" altLang="en-US" sz="1000" dirty="0"/>
              <a:t> Valley, Zanskar Shear Zone, High Himalaya</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a:extLst>
              <a:ext uri="{FF2B5EF4-FFF2-40B4-BE49-F238E27FC236}">
                <a16:creationId xmlns:a16="http://schemas.microsoft.com/office/drawing/2014/main" id="{C7947578-AD3E-45B3-91C3-3173E94C3C26}"/>
              </a:ext>
            </a:extLst>
          </p:cNvPr>
          <p:cNvSpPr>
            <a:spLocks noGrp="1" noRot="1" noChangeAspect="1" noChangeArrowheads="1" noTextEdit="1"/>
          </p:cNvSpPr>
          <p:nvPr>
            <p:ph type="sldImg"/>
          </p:nvPr>
        </p:nvSpPr>
        <p:spPr>
          <a:ln/>
        </p:spPr>
      </p:sp>
      <p:sp>
        <p:nvSpPr>
          <p:cNvPr id="62467" name="Rectangle 3">
            <a:extLst>
              <a:ext uri="{FF2B5EF4-FFF2-40B4-BE49-F238E27FC236}">
                <a16:creationId xmlns:a16="http://schemas.microsoft.com/office/drawing/2014/main" id="{A287223D-93AE-4E98-A4CF-1D097E3A163D}"/>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Recall the terminology from Class 3: the principal flattening plane is the plane at right angles to the Z axis of the strain ellipsoid (Z = the shortest axis). Hence if Z is at right angles to this plane, that plane contains the longest (X) and intermediate (Y) axes of the strain ellipsoid, that is, it is the XY plane</a:t>
            </a:r>
          </a:p>
          <a:p>
            <a:pPr marL="108000" indent="-108000">
              <a:spcBef>
                <a:spcPts val="300"/>
              </a:spcBef>
              <a:buFont typeface="Arial" panose="020B0604020202020204" pitchFamily="34" charset="0"/>
              <a:buChar char="•"/>
            </a:pPr>
            <a:r>
              <a:rPr lang="en-GB" altLang="en-US" sz="1000" dirty="0"/>
              <a:t>At the margins of a shear zone the foliation is commonly found to be a little less than 45° because a small amount of strain is required before the foliation is sufficiently well developed to be visible</a:t>
            </a:r>
          </a:p>
          <a:p>
            <a:pPr marL="108000" indent="-108000">
              <a:spcBef>
                <a:spcPts val="300"/>
              </a:spcBef>
              <a:buFont typeface="Arial" panose="020B0604020202020204" pitchFamily="34" charset="0"/>
              <a:buChar char="•"/>
            </a:pPr>
            <a:r>
              <a:rPr lang="en-GB" altLang="en-US" sz="1000" dirty="0"/>
              <a:t>Figure top left from Fossen, p.342</a:t>
            </a:r>
          </a:p>
          <a:p>
            <a:pPr marL="108000" indent="-108000">
              <a:spcBef>
                <a:spcPts val="300"/>
              </a:spcBef>
              <a:buFont typeface="Arial" panose="020B0604020202020204" pitchFamily="34" charset="0"/>
              <a:buChar char="•"/>
            </a:pPr>
            <a:r>
              <a:rPr lang="en-GB" altLang="en-US" sz="1000" dirty="0"/>
              <a:t>Figure top right by Steve Covey-Crump</a:t>
            </a:r>
          </a:p>
          <a:p>
            <a:pPr marL="108000" indent="-108000">
              <a:spcBef>
                <a:spcPts val="300"/>
              </a:spcBef>
              <a:buFont typeface="Arial" panose="020B0604020202020204" pitchFamily="34" charset="0"/>
              <a:buChar char="•"/>
            </a:pPr>
            <a:r>
              <a:rPr lang="en-GB" altLang="en-US" sz="1000" dirty="0"/>
              <a:t>Figure bottom right redrawn and adapted by Steve Covey-Crump from an original by Ernie Rutter</a:t>
            </a:r>
          </a:p>
          <a:p>
            <a:pPr>
              <a:spcBef>
                <a:spcPts val="300"/>
              </a:spcBef>
            </a:pPr>
            <a:endParaRPr lang="en-GB" alt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79ECC6DD-DF8F-49FE-AD87-E0E096DEE119}"/>
              </a:ext>
            </a:extLst>
          </p:cNvPr>
          <p:cNvSpPr>
            <a:spLocks noGrp="1" noRot="1" noChangeAspect="1" noChangeArrowheads="1" noTextEdit="1"/>
          </p:cNvSpPr>
          <p:nvPr>
            <p:ph type="sldImg"/>
          </p:nvPr>
        </p:nvSpPr>
        <p:spPr>
          <a:ln/>
        </p:spPr>
      </p:sp>
      <p:sp>
        <p:nvSpPr>
          <p:cNvPr id="63491" name="Rectangle 3">
            <a:extLst>
              <a:ext uri="{FF2B5EF4-FFF2-40B4-BE49-F238E27FC236}">
                <a16:creationId xmlns:a16="http://schemas.microsoft.com/office/drawing/2014/main" id="{CFD2710F-6922-43C1-B680-EDE007609026}"/>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Hence some or all this information may be used to establish the orientation of the shear zone and the slip vector within it. These matters are so useful that we’ll devote time within the </a:t>
            </a:r>
            <a:r>
              <a:rPr lang="en-GB" altLang="en-US" sz="1000" dirty="0" err="1"/>
              <a:t>practicals</a:t>
            </a:r>
            <a:r>
              <a:rPr lang="en-GB" altLang="en-US" sz="1000" dirty="0"/>
              <a:t> to exploring them</a:t>
            </a:r>
          </a:p>
          <a:p>
            <a:pPr marL="108000" indent="-108000">
              <a:spcBef>
                <a:spcPts val="300"/>
              </a:spcBef>
              <a:buFont typeface="Arial" panose="020B0604020202020204" pitchFamily="34" charset="0"/>
              <a:buChar char="•"/>
            </a:pPr>
            <a:r>
              <a:rPr lang="en-GB" altLang="en-US" sz="1000" dirty="0"/>
              <a:t>There are other helpful features derivative from these relationships, </a:t>
            </a:r>
            <a:r>
              <a:rPr lang="en-GB" altLang="en-US" sz="1000" i="1" dirty="0"/>
              <a:t>e.g</a:t>
            </a:r>
            <a:r>
              <a:rPr lang="en-GB" altLang="en-US" sz="1000" dirty="0"/>
              <a:t>., the intersection of the foliation plane (measured anywhere in the shear zone) with the shear plane is parallel to Y and therefore at 90° to the slip vector as measured in the shear plane (see figure bottom right on previous slide), and so if one has some approximate idea of the strike/dip of the shear plane, an approximate idea of the slip vector orientation can be obtained from a foliation measurement</a:t>
            </a:r>
          </a:p>
          <a:p>
            <a:pPr marL="108000" indent="-108000">
              <a:spcBef>
                <a:spcPts val="300"/>
              </a:spcBef>
              <a:buFont typeface="Arial" panose="020B0604020202020204" pitchFamily="34" charset="0"/>
              <a:buChar char="•"/>
            </a:pPr>
            <a:r>
              <a:rPr lang="en-GB" altLang="en-US" sz="1000" dirty="0"/>
              <a:t>Figure top from Fossen, p.342</a:t>
            </a:r>
          </a:p>
          <a:p>
            <a:pPr marL="108000" indent="-108000">
              <a:spcBef>
                <a:spcPts val="300"/>
              </a:spcBef>
              <a:buFont typeface="Arial" panose="020B0604020202020204" pitchFamily="34" charset="0"/>
              <a:buChar char="•"/>
            </a:pPr>
            <a:r>
              <a:rPr lang="en-GB" altLang="en-US" sz="1000" dirty="0"/>
              <a:t>Figure bottom by Steve Covey-Crump</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a:extLst>
              <a:ext uri="{FF2B5EF4-FFF2-40B4-BE49-F238E27FC236}">
                <a16:creationId xmlns:a16="http://schemas.microsoft.com/office/drawing/2014/main" id="{D203E316-4DE4-4593-9933-216149E989F5}"/>
              </a:ext>
            </a:extLst>
          </p:cNvPr>
          <p:cNvSpPr>
            <a:spLocks noGrp="1" noRot="1" noChangeAspect="1" noChangeArrowheads="1" noTextEdit="1"/>
          </p:cNvSpPr>
          <p:nvPr>
            <p:ph type="sldImg"/>
          </p:nvPr>
        </p:nvSpPr>
        <p:spPr>
          <a:ln/>
        </p:spPr>
      </p:sp>
      <p:sp>
        <p:nvSpPr>
          <p:cNvPr id="64515" name="Rectangle 3">
            <a:extLst>
              <a:ext uri="{FF2B5EF4-FFF2-40B4-BE49-F238E27FC236}">
                <a16:creationId xmlns:a16="http://schemas.microsoft.com/office/drawing/2014/main" id="{A1DC4518-8B26-48C2-B0B8-D074DDD1F33C}"/>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The caution about using apparent offsets is because the apparent offset of a layer across a fault depends upon (a) the orientation of that layer relative to the fault plane, and (b) the orientation of the surface of observation relative to the fault plane</a:t>
            </a:r>
          </a:p>
          <a:p>
            <a:pPr marL="108000" indent="-108000">
              <a:spcBef>
                <a:spcPts val="300"/>
              </a:spcBef>
              <a:buFont typeface="Arial" panose="020B0604020202020204" pitchFamily="34" charset="0"/>
              <a:buChar char="•"/>
            </a:pPr>
            <a:r>
              <a:rPr lang="en-GB" altLang="en-US" sz="1000" dirty="0"/>
              <a:t>Photo left (by Keith </a:t>
            </a:r>
            <a:r>
              <a:rPr lang="en-GB" altLang="en-US" sz="1000" dirty="0" err="1"/>
              <a:t>Klepeis</a:t>
            </a:r>
            <a:r>
              <a:rPr lang="en-GB" altLang="en-US" sz="1000" dirty="0"/>
              <a:t>: badger.uvm.edu/</a:t>
            </a:r>
            <a:r>
              <a:rPr lang="en-GB" altLang="en-US" sz="1000" dirty="0" err="1"/>
              <a:t>xmlui</a:t>
            </a:r>
            <a:r>
              <a:rPr lang="en-GB" altLang="en-US" sz="1000" dirty="0"/>
              <a:t>/handle/2051/3299): ductile shear zone (unknown locality). Note that the vein is extended and thinned as it crosses the shear zone</a:t>
            </a:r>
          </a:p>
          <a:p>
            <a:pPr marL="108000" indent="-108000">
              <a:spcBef>
                <a:spcPts val="300"/>
              </a:spcBef>
              <a:buFont typeface="Arial" panose="020B0604020202020204" pitchFamily="34" charset="0"/>
              <a:buChar char="•"/>
            </a:pPr>
            <a:r>
              <a:rPr lang="en-GB" altLang="en-US" sz="1000" dirty="0"/>
              <a:t>Photo right (Fossen, one of the extra figures on the web-site for the book, folk.uib.no/</a:t>
            </a:r>
            <a:r>
              <a:rPr lang="en-GB" altLang="en-US" sz="1000" dirty="0" err="1"/>
              <a:t>nglhe</a:t>
            </a:r>
            <a:r>
              <a:rPr lang="en-GB" altLang="en-US" sz="1000" dirty="0"/>
              <a:t>/StructuralGeoBook.html): shear zone in a granite, Sierra Nevada. Note that the vein is </a:t>
            </a:r>
            <a:r>
              <a:rPr lang="en-GB" altLang="en-US" sz="1000" dirty="0" err="1"/>
              <a:t>boudinaged</a:t>
            </a:r>
            <a:r>
              <a:rPr lang="en-GB" altLang="en-US" sz="1000" dirty="0"/>
              <a:t> as it crosses the shear zone</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a:extLst>
              <a:ext uri="{FF2B5EF4-FFF2-40B4-BE49-F238E27FC236}">
                <a16:creationId xmlns:a16="http://schemas.microsoft.com/office/drawing/2014/main" id="{4D3FE26B-CE8A-4277-87AC-C4C13E4256CC}"/>
              </a:ext>
            </a:extLst>
          </p:cNvPr>
          <p:cNvSpPr>
            <a:spLocks noGrp="1" noRot="1" noChangeAspect="1" noChangeArrowheads="1" noTextEdit="1"/>
          </p:cNvSpPr>
          <p:nvPr>
            <p:ph type="sldImg"/>
          </p:nvPr>
        </p:nvSpPr>
        <p:spPr>
          <a:ln/>
        </p:spPr>
      </p:sp>
      <p:sp>
        <p:nvSpPr>
          <p:cNvPr id="65539" name="Rectangle 3">
            <a:extLst>
              <a:ext uri="{FF2B5EF4-FFF2-40B4-BE49-F238E27FC236}">
                <a16:creationId xmlns:a16="http://schemas.microsoft.com/office/drawing/2014/main" id="{FDCD79F6-F6AB-4225-8ABC-C040CC794201}"/>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These points will be explored further in </a:t>
            </a:r>
            <a:r>
              <a:rPr lang="en-GB" altLang="en-US" sz="1000" dirty="0" err="1"/>
              <a:t>practicals</a:t>
            </a:r>
            <a:r>
              <a:rPr lang="en-GB" altLang="en-US" sz="1000" dirty="0"/>
              <a:t> to come later in the course. For a diagram illustrating why point (1) is true, see the shear folding figures (Class 2 Slide 30)</a:t>
            </a:r>
          </a:p>
          <a:p>
            <a:pPr marL="108000" indent="-108000">
              <a:spcBef>
                <a:spcPts val="300"/>
              </a:spcBef>
              <a:buFont typeface="Arial" panose="020B0604020202020204" pitchFamily="34" charset="0"/>
              <a:buChar char="•"/>
            </a:pPr>
            <a:r>
              <a:rPr lang="en-GB" altLang="en-US" sz="1000" dirty="0"/>
              <a:t>Figure by Steve Covey-Crump</a:t>
            </a:r>
          </a:p>
          <a:p>
            <a:pPr>
              <a:spcBef>
                <a:spcPts val="300"/>
              </a:spcBef>
            </a:pPr>
            <a:endParaRPr lang="en-GB" alt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a:extLst>
              <a:ext uri="{FF2B5EF4-FFF2-40B4-BE49-F238E27FC236}">
                <a16:creationId xmlns:a16="http://schemas.microsoft.com/office/drawing/2014/main" id="{AE9C7042-D349-4F51-BE73-96422A2DB4A4}"/>
              </a:ext>
            </a:extLst>
          </p:cNvPr>
          <p:cNvSpPr>
            <a:spLocks noGrp="1" noRot="1" noChangeAspect="1" noChangeArrowheads="1" noTextEdit="1"/>
          </p:cNvSpPr>
          <p:nvPr>
            <p:ph type="sldImg"/>
          </p:nvPr>
        </p:nvSpPr>
        <p:spPr>
          <a:ln/>
        </p:spPr>
      </p:sp>
      <p:sp>
        <p:nvSpPr>
          <p:cNvPr id="66563" name="Rectangle 3">
            <a:extLst>
              <a:ext uri="{FF2B5EF4-FFF2-40B4-BE49-F238E27FC236}">
                <a16:creationId xmlns:a16="http://schemas.microsoft.com/office/drawing/2014/main" id="{27699B83-34EA-46E0-B882-5FCA136FE0BC}"/>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Recall (from Class 2) that markers will deform passively if their competence contrast with the host rock is small; if a significant viscosity contrast exists then they will fold by buckling</a:t>
            </a:r>
          </a:p>
          <a:p>
            <a:pPr marL="108000" indent="-108000">
              <a:spcBef>
                <a:spcPts val="300"/>
              </a:spcBef>
              <a:buFont typeface="Arial" panose="020B0604020202020204" pitchFamily="34" charset="0"/>
              <a:buChar char="•"/>
            </a:pPr>
            <a:r>
              <a:rPr lang="en-GB" altLang="en-US" sz="1000" dirty="0"/>
              <a:t>Figure bottom adapted from Fossen, p.347</a:t>
            </a:r>
          </a:p>
          <a:p>
            <a:pPr marL="108000" indent="-108000">
              <a:spcBef>
                <a:spcPts val="300"/>
              </a:spcBef>
              <a:buFont typeface="Arial" panose="020B0604020202020204" pitchFamily="34" charset="0"/>
              <a:buChar char="•"/>
            </a:pPr>
            <a:r>
              <a:rPr lang="en-GB" altLang="en-US" sz="1000" dirty="0"/>
              <a:t>Photo right (Steve Covey-Crump): quartz vein crossing a near vertical, metamorphosed dyke that has been highly sheared, </a:t>
            </a:r>
            <a:r>
              <a:rPr lang="en-GB" altLang="en-US" sz="1000" dirty="0" err="1"/>
              <a:t>Moine</a:t>
            </a:r>
            <a:r>
              <a:rPr lang="en-GB" altLang="en-US" sz="1000" dirty="0"/>
              <a:t> units, Ross of Mull, Scotland. In this case (not that you can tell from the photo), there was almost certainly significant layer-normal contraction and up/down dip extension in addition to the shearing</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a:extLst>
              <a:ext uri="{FF2B5EF4-FFF2-40B4-BE49-F238E27FC236}">
                <a16:creationId xmlns:a16="http://schemas.microsoft.com/office/drawing/2014/main" id="{417D5833-F526-47A3-A4E9-39B8F2CDB6E5}"/>
              </a:ext>
            </a:extLst>
          </p:cNvPr>
          <p:cNvSpPr>
            <a:spLocks noGrp="1" noRot="1" noChangeAspect="1" noChangeArrowheads="1" noTextEdit="1"/>
          </p:cNvSpPr>
          <p:nvPr>
            <p:ph type="sldImg"/>
          </p:nvPr>
        </p:nvSpPr>
        <p:spPr>
          <a:ln/>
        </p:spPr>
      </p:sp>
      <p:sp>
        <p:nvSpPr>
          <p:cNvPr id="67587" name="Rectangle 3">
            <a:extLst>
              <a:ext uri="{FF2B5EF4-FFF2-40B4-BE49-F238E27FC236}">
                <a16:creationId xmlns:a16="http://schemas.microsoft.com/office/drawing/2014/main" id="{9B854825-02A7-45C3-ADE3-DFE6CE7ED5BF}"/>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Recall (Class 1 Slide 17) that isoclinal folds are folds with a very small interlimb angle</a:t>
            </a:r>
          </a:p>
          <a:p>
            <a:pPr marL="108000" indent="-108000">
              <a:spcBef>
                <a:spcPts val="300"/>
              </a:spcBef>
              <a:buFont typeface="Arial" panose="020B0604020202020204" pitchFamily="34" charset="0"/>
              <a:buChar char="•"/>
            </a:pPr>
            <a:r>
              <a:rPr lang="en-GB" altLang="en-US" sz="1000" dirty="0"/>
              <a:t>When the strains are large and any layering crossing the shear zone has been rotated into parallelism with it, the term “</a:t>
            </a:r>
            <a:r>
              <a:rPr lang="en-GB" altLang="en-US" sz="1000" dirty="0" err="1"/>
              <a:t>intrafolial</a:t>
            </a:r>
            <a:r>
              <a:rPr lang="en-GB" altLang="en-US" sz="1000" dirty="0"/>
              <a:t> fold” is often loosely applied to the folded layering as well as to the folded foliation</a:t>
            </a:r>
          </a:p>
          <a:p>
            <a:pPr marL="108000" indent="-108000">
              <a:spcBef>
                <a:spcPts val="300"/>
              </a:spcBef>
              <a:buFont typeface="Arial" panose="020B0604020202020204" pitchFamily="34" charset="0"/>
              <a:buChar char="•"/>
            </a:pPr>
            <a:r>
              <a:rPr lang="en-GB" altLang="en-US" sz="1000" dirty="0"/>
              <a:t>Figure right from </a:t>
            </a:r>
            <a:r>
              <a:rPr lang="en-GB" altLang="en-US" sz="1000" dirty="0" err="1"/>
              <a:t>Trouw</a:t>
            </a:r>
            <a:r>
              <a:rPr lang="en-GB" altLang="en-US" sz="1000" dirty="0"/>
              <a:t> </a:t>
            </a:r>
            <a:r>
              <a:rPr lang="en-GB" altLang="en-US" sz="1000" i="1" dirty="0"/>
              <a:t>et al.</a:t>
            </a:r>
            <a:r>
              <a:rPr lang="en-GB" altLang="en-US" sz="1000" dirty="0"/>
              <a:t>, 2009, </a:t>
            </a:r>
            <a:r>
              <a:rPr lang="en-GB" altLang="en-US" sz="1000" i="1" dirty="0"/>
              <a:t>Atlas of </a:t>
            </a:r>
            <a:r>
              <a:rPr lang="en-GB" altLang="en-US" sz="1000" i="1" dirty="0" err="1"/>
              <a:t>Mylonites</a:t>
            </a:r>
            <a:r>
              <a:rPr lang="en-GB" altLang="en-US" sz="1000" i="1" dirty="0"/>
              <a:t> and Related Microstructures</a:t>
            </a:r>
            <a:r>
              <a:rPr lang="en-GB" altLang="en-US" sz="1000" dirty="0"/>
              <a:t>, p.211</a:t>
            </a:r>
          </a:p>
          <a:p>
            <a:pPr marL="108000" indent="-108000">
              <a:spcBef>
                <a:spcPts val="300"/>
              </a:spcBef>
              <a:buFont typeface="Arial" panose="020B0604020202020204" pitchFamily="34" charset="0"/>
              <a:buChar char="•"/>
            </a:pPr>
            <a:r>
              <a:rPr lang="en-GB" altLang="en-US" sz="1000" dirty="0"/>
              <a:t>Photo (by Keith </a:t>
            </a:r>
            <a:r>
              <a:rPr lang="en-GB" altLang="en-US" sz="1000" dirty="0" err="1"/>
              <a:t>Klepeis</a:t>
            </a:r>
            <a:r>
              <a:rPr lang="en-GB" altLang="en-US" sz="1000" dirty="0"/>
              <a:t>: badger.uvm.edu/</a:t>
            </a:r>
            <a:r>
              <a:rPr lang="en-GB" altLang="en-US" sz="1000" dirty="0" err="1"/>
              <a:t>xmlui</a:t>
            </a:r>
            <a:r>
              <a:rPr lang="en-GB" altLang="en-US" sz="1000" dirty="0"/>
              <a:t>/handle/2051/3254): </a:t>
            </a:r>
            <a:r>
              <a:rPr lang="en-GB" altLang="en-US" sz="1000" dirty="0" err="1"/>
              <a:t>intrafolial</a:t>
            </a:r>
            <a:r>
              <a:rPr lang="en-GB" altLang="en-US" sz="1000" dirty="0"/>
              <a:t> folds (unknown location). It looks to me that there might be a stretching lineation oriented approximately in the dip direction of the foliation. The asymmetry of the folds suggests up-dip (dextral) shear sense (compare with the figure right)</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a:extLst>
              <a:ext uri="{FF2B5EF4-FFF2-40B4-BE49-F238E27FC236}">
                <a16:creationId xmlns:a16="http://schemas.microsoft.com/office/drawing/2014/main" id="{95EB469A-67CE-4028-81FE-65108CB79B0C}"/>
              </a:ext>
            </a:extLst>
          </p:cNvPr>
          <p:cNvSpPr>
            <a:spLocks noGrp="1" noRot="1" noChangeAspect="1" noChangeArrowheads="1" noTextEdit="1"/>
          </p:cNvSpPr>
          <p:nvPr>
            <p:ph type="sldImg"/>
          </p:nvPr>
        </p:nvSpPr>
        <p:spPr>
          <a:ln/>
        </p:spPr>
      </p:sp>
      <p:sp>
        <p:nvSpPr>
          <p:cNvPr id="68611" name="Rectangle 3">
            <a:extLst>
              <a:ext uri="{FF2B5EF4-FFF2-40B4-BE49-F238E27FC236}">
                <a16:creationId xmlns:a16="http://schemas.microsoft.com/office/drawing/2014/main" id="{608D7974-63C2-4728-B0DE-30A651D25937}"/>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Figure bottom left from Price &amp; Cosgrove, 1990, </a:t>
            </a:r>
            <a:r>
              <a:rPr lang="en-GB" altLang="en-US" sz="1000" i="1" dirty="0"/>
              <a:t>Analysis of Geological Structures</a:t>
            </a:r>
            <a:r>
              <a:rPr lang="en-GB" altLang="en-US" sz="1000" dirty="0"/>
              <a:t>, p.268. For further photos of sheath folds, see Class 2 Slide 33</a:t>
            </a:r>
          </a:p>
          <a:p>
            <a:pPr marL="108000" indent="-108000">
              <a:spcBef>
                <a:spcPts val="300"/>
              </a:spcBef>
              <a:buFont typeface="Arial" panose="020B0604020202020204" pitchFamily="34" charset="0"/>
              <a:buChar char="•"/>
            </a:pPr>
            <a:r>
              <a:rPr lang="en-GB" altLang="en-US" sz="1000" dirty="0"/>
              <a:t>Figure bottom middle from </a:t>
            </a:r>
            <a:r>
              <a:rPr lang="en-GB" altLang="en-US" sz="1000" dirty="0" err="1"/>
              <a:t>Passchier</a:t>
            </a:r>
            <a:r>
              <a:rPr lang="en-GB" altLang="en-US" sz="1000" dirty="0"/>
              <a:t> &amp; </a:t>
            </a:r>
            <a:r>
              <a:rPr lang="en-GB" altLang="en-US" sz="1000" dirty="0" err="1"/>
              <a:t>Trouw</a:t>
            </a:r>
            <a:r>
              <a:rPr lang="en-GB" altLang="en-US" sz="1000" dirty="0"/>
              <a:t>, Fig.5.10a</a:t>
            </a:r>
          </a:p>
          <a:p>
            <a:pPr marL="108000" indent="-108000">
              <a:spcBef>
                <a:spcPts val="300"/>
              </a:spcBef>
              <a:buFont typeface="Arial" panose="020B0604020202020204" pitchFamily="34" charset="0"/>
              <a:buChar char="•"/>
            </a:pPr>
            <a:r>
              <a:rPr lang="en-GB" altLang="en-US" sz="1000" dirty="0"/>
              <a:t>Photos (Steve Covey-Crump): sections through sheath folds in carbonate layers within the coastal section at </a:t>
            </a:r>
            <a:r>
              <a:rPr lang="en-GB" altLang="en-US" sz="1000" dirty="0" err="1"/>
              <a:t>Onich</a:t>
            </a:r>
            <a:r>
              <a:rPr lang="en-GB" altLang="en-US" sz="1000" dirty="0"/>
              <a:t>, Scotland</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a:extLst>
              <a:ext uri="{FF2B5EF4-FFF2-40B4-BE49-F238E27FC236}">
                <a16:creationId xmlns:a16="http://schemas.microsoft.com/office/drawing/2014/main" id="{A809DE45-4F6B-4E52-BE1B-677436780100}"/>
              </a:ext>
            </a:extLst>
          </p:cNvPr>
          <p:cNvSpPr>
            <a:spLocks noGrp="1" noRot="1" noChangeAspect="1" noChangeArrowheads="1" noTextEdit="1"/>
          </p:cNvSpPr>
          <p:nvPr>
            <p:ph type="sldImg"/>
          </p:nvPr>
        </p:nvSpPr>
        <p:spPr>
          <a:ln/>
        </p:spPr>
      </p:sp>
      <p:sp>
        <p:nvSpPr>
          <p:cNvPr id="69635" name="Rectangle 3">
            <a:extLst>
              <a:ext uri="{FF2B5EF4-FFF2-40B4-BE49-F238E27FC236}">
                <a16:creationId xmlns:a16="http://schemas.microsoft.com/office/drawing/2014/main" id="{A1F4F842-0F26-4CE2-9232-C8963396CDEF}"/>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Photos top left and right (Steve Covey-Crump): a sheath fold in the Moine metasedimentary units, Ross of Mull, Scotland – the photo to the right is an enlargement of the eye-shaped fold that can be seen on the right-hand side of the photo on the left</a:t>
            </a:r>
          </a:p>
          <a:p>
            <a:pPr marL="108000" indent="-108000">
              <a:spcBef>
                <a:spcPts val="300"/>
              </a:spcBef>
              <a:buFont typeface="Arial" panose="020B0604020202020204" pitchFamily="34" charset="0"/>
              <a:buChar char="•"/>
            </a:pPr>
            <a:r>
              <a:rPr lang="en-GB" altLang="en-US" sz="1000" dirty="0"/>
              <a:t>Photos bottom left and middle (Steve Covey-Crump): sheath folds in a ferruginous sandstone, northern Spain. In the example on the left, the fold hinge is only slightly curved but in the example in the middle the hinges are strongly curvilinear</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a:extLst>
              <a:ext uri="{FF2B5EF4-FFF2-40B4-BE49-F238E27FC236}">
                <a16:creationId xmlns:a16="http://schemas.microsoft.com/office/drawing/2014/main" id="{E1694EA2-F30B-4A67-BEA5-983810F7FCCB}"/>
              </a:ext>
            </a:extLst>
          </p:cNvPr>
          <p:cNvSpPr>
            <a:spLocks noGrp="1" noRot="1" noChangeAspect="1" noChangeArrowheads="1" noTextEdit="1"/>
          </p:cNvSpPr>
          <p:nvPr>
            <p:ph type="sldImg"/>
          </p:nvPr>
        </p:nvSpPr>
        <p:spPr>
          <a:ln/>
        </p:spPr>
      </p:sp>
      <p:sp>
        <p:nvSpPr>
          <p:cNvPr id="70659" name="Rectangle 3">
            <a:extLst>
              <a:ext uri="{FF2B5EF4-FFF2-40B4-BE49-F238E27FC236}">
                <a16:creationId xmlns:a16="http://schemas.microsoft.com/office/drawing/2014/main" id="{76B17533-EA32-4E8F-AE65-F45E96AF4F0B}"/>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The C´-surfaces are in the same orientation as Riedel shears in clay-bearing fault gouges (see Slide 45). Their extensional character means that they are commonly described as extensional crenulation cleavages</a:t>
            </a:r>
          </a:p>
          <a:p>
            <a:pPr marL="108000" indent="-108000">
              <a:spcBef>
                <a:spcPts val="300"/>
              </a:spcBef>
              <a:buFont typeface="Arial" panose="020B0604020202020204" pitchFamily="34" charset="0"/>
              <a:buChar char="•"/>
            </a:pPr>
            <a:r>
              <a:rPr lang="en-GB" altLang="en-US" sz="1000" dirty="0"/>
              <a:t>The distinction between C- and C´-surfaces is often not made in the literature</a:t>
            </a:r>
          </a:p>
          <a:p>
            <a:pPr marL="108000" indent="-108000">
              <a:spcBef>
                <a:spcPts val="300"/>
              </a:spcBef>
              <a:buFont typeface="Arial" panose="020B0604020202020204" pitchFamily="34" charset="0"/>
              <a:buChar char="•"/>
            </a:pPr>
            <a:r>
              <a:rPr lang="en-GB" altLang="en-US" sz="1000" dirty="0"/>
              <a:t>Figure top redrawn by Steve Covey-Crump from Blenkinsop, 2000, </a:t>
            </a:r>
            <a:r>
              <a:rPr lang="en-GB" altLang="en-US" sz="1000" i="1" dirty="0"/>
              <a:t>Deformation Microstructures and Mechanisms in Minerals and Rocks</a:t>
            </a:r>
            <a:r>
              <a:rPr lang="en-GB" altLang="en-US" sz="1000" dirty="0"/>
              <a:t>,</a:t>
            </a:r>
            <a:r>
              <a:rPr lang="en-GB" altLang="en-US" sz="1000" i="1" dirty="0"/>
              <a:t> </a:t>
            </a:r>
            <a:r>
              <a:rPr lang="en-GB" altLang="en-US" sz="1000" dirty="0"/>
              <a:t>p.72</a:t>
            </a:r>
          </a:p>
          <a:p>
            <a:pPr marL="108000" indent="-108000">
              <a:spcBef>
                <a:spcPts val="300"/>
              </a:spcBef>
              <a:buFont typeface="Arial" panose="020B0604020202020204" pitchFamily="34" charset="0"/>
              <a:buChar char="•"/>
            </a:pPr>
            <a:r>
              <a:rPr lang="en-GB" altLang="en-US" sz="1000" dirty="0"/>
              <a:t>Photomicrograph bottom (from </a:t>
            </a:r>
            <a:r>
              <a:rPr lang="en-GB" altLang="en-US" sz="1000" dirty="0" err="1"/>
              <a:t>Passchier</a:t>
            </a:r>
            <a:r>
              <a:rPr lang="en-GB" altLang="en-US" sz="1000" dirty="0"/>
              <a:t> &amp; </a:t>
            </a:r>
            <a:r>
              <a:rPr lang="en-GB" altLang="en-US" sz="1000" dirty="0" err="1"/>
              <a:t>Trouw</a:t>
            </a:r>
            <a:r>
              <a:rPr lang="en-GB" altLang="en-US" sz="1000" dirty="0"/>
              <a:t>, Fig.5.15): mica-schist, Menderes Massif, Turkey (width of view = 3.5 mm), sectioned parallel to the XZ plane</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a16="http://schemas.microsoft.com/office/drawing/2014/main" id="{DCE25986-A9E6-4BF2-8AB3-D17AF872EA95}"/>
              </a:ext>
            </a:extLst>
          </p:cNvPr>
          <p:cNvSpPr>
            <a:spLocks noGrp="1" noRot="1" noChangeAspect="1" noChangeArrowheads="1" noTextEdit="1"/>
          </p:cNvSpPr>
          <p:nvPr>
            <p:ph type="sldImg"/>
          </p:nvPr>
        </p:nvSpPr>
        <p:spPr>
          <a:ln/>
        </p:spPr>
      </p:sp>
      <p:sp>
        <p:nvSpPr>
          <p:cNvPr id="71683" name="Rectangle 3">
            <a:extLst>
              <a:ext uri="{FF2B5EF4-FFF2-40B4-BE49-F238E27FC236}">
                <a16:creationId xmlns:a16="http://schemas.microsoft.com/office/drawing/2014/main" id="{EBFE30F3-2341-4D6F-9E48-62A6DA429B3F}"/>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My terms “early” and “late” on the slide refer to early and late in the evolution of the mylonitic fabric. The origin of C´ surfaces is only partly understood. They form after a strong mineral preferred orientation has been established and probably represent an energetically favourable flow partitioning in systems that are composed of strongly anisotropic minerals (see discussion on S-C </a:t>
            </a:r>
            <a:r>
              <a:rPr lang="en-GB" altLang="en-US" sz="1000" dirty="0" err="1"/>
              <a:t>mylonites</a:t>
            </a:r>
            <a:r>
              <a:rPr lang="en-GB" altLang="en-US" sz="1000" dirty="0"/>
              <a:t> in </a:t>
            </a:r>
            <a:r>
              <a:rPr lang="en-GB" altLang="en-US" sz="1000" dirty="0" err="1"/>
              <a:t>Passchier</a:t>
            </a:r>
            <a:r>
              <a:rPr lang="en-GB" altLang="en-US" sz="1000" dirty="0"/>
              <a:t> &amp; </a:t>
            </a:r>
            <a:r>
              <a:rPr lang="en-GB" altLang="en-US" sz="1000" dirty="0" err="1"/>
              <a:t>Trouw</a:t>
            </a:r>
            <a:r>
              <a:rPr lang="en-GB" altLang="en-US" sz="1000" dirty="0"/>
              <a:t>, p.128-132)</a:t>
            </a:r>
          </a:p>
          <a:p>
            <a:pPr marL="108000" indent="-108000">
              <a:spcBef>
                <a:spcPts val="300"/>
              </a:spcBef>
              <a:buFont typeface="Arial" panose="020B0604020202020204" pitchFamily="34" charset="0"/>
              <a:buChar char="•"/>
            </a:pPr>
            <a:r>
              <a:rPr lang="en-GB" altLang="en-US" sz="1000" dirty="0"/>
              <a:t>Figure from Fossen, p.295</a:t>
            </a:r>
          </a:p>
          <a:p>
            <a:pPr marL="108000" indent="-108000">
              <a:spcBef>
                <a:spcPts val="300"/>
              </a:spcBef>
              <a:buFont typeface="Arial" panose="020B0604020202020204" pitchFamily="34" charset="0"/>
              <a:buChar char="•"/>
            </a:pPr>
            <a:r>
              <a:rPr lang="en-GB" altLang="en-US" sz="1000" dirty="0"/>
              <a:t>Photo top right (from John Platt’s lecture notes on microstructure and rock rheology): micaceous </a:t>
            </a:r>
            <a:r>
              <a:rPr lang="en-GB" altLang="en-US" sz="1000" dirty="0" err="1"/>
              <a:t>mylonite</a:t>
            </a:r>
            <a:r>
              <a:rPr lang="en-GB" altLang="en-US" sz="1000" dirty="0"/>
              <a:t> from southern Spain. C and C´-surfaces are best developed in micaceous lithologies</a:t>
            </a:r>
          </a:p>
          <a:p>
            <a:pPr marL="108000" indent="-108000">
              <a:spcBef>
                <a:spcPts val="300"/>
              </a:spcBef>
              <a:buFont typeface="Arial" panose="020B0604020202020204" pitchFamily="34" charset="0"/>
              <a:buChar char="•"/>
            </a:pPr>
            <a:r>
              <a:rPr lang="en-GB" altLang="en-US" sz="1000" dirty="0"/>
              <a:t>Photo bottom (Fossen, one of the extra figures on the web-site for the book, folk.uib.no/</a:t>
            </a:r>
            <a:r>
              <a:rPr lang="en-GB" altLang="en-US" sz="1000" dirty="0" err="1"/>
              <a:t>nglhe</a:t>
            </a:r>
            <a:r>
              <a:rPr lang="en-GB" altLang="en-US" sz="1000" dirty="0"/>
              <a:t>/StructuralGeoBook.html): sheared granite, Norwegian </a:t>
            </a:r>
            <a:r>
              <a:rPr lang="en-GB" altLang="en-US" sz="1000" dirty="0" err="1"/>
              <a:t>Caledonides</a:t>
            </a:r>
            <a:r>
              <a:rPr lang="en-GB" altLang="en-US" sz="1000" dirty="0"/>
              <a:t> at </a:t>
            </a:r>
            <a:r>
              <a:rPr lang="en-GB" altLang="en-US" sz="1000" dirty="0" err="1"/>
              <a:t>Evanger</a:t>
            </a:r>
            <a:r>
              <a:rPr lang="en-GB" altLang="en-US" sz="1000" dirty="0"/>
              <a:t>, north-east of Bergen</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a:extLst>
              <a:ext uri="{FF2B5EF4-FFF2-40B4-BE49-F238E27FC236}">
                <a16:creationId xmlns:a16="http://schemas.microsoft.com/office/drawing/2014/main" id="{53F0C0ED-7C8D-4869-B587-46385E1ED47D}"/>
              </a:ext>
            </a:extLst>
          </p:cNvPr>
          <p:cNvSpPr>
            <a:spLocks noGrp="1" noRot="1" noChangeAspect="1" noChangeArrowheads="1" noTextEdit="1"/>
          </p:cNvSpPr>
          <p:nvPr>
            <p:ph type="sldImg"/>
          </p:nvPr>
        </p:nvSpPr>
        <p:spPr>
          <a:ln/>
        </p:spPr>
      </p:sp>
      <p:sp>
        <p:nvSpPr>
          <p:cNvPr id="72707" name="Rectangle 3">
            <a:extLst>
              <a:ext uri="{FF2B5EF4-FFF2-40B4-BE49-F238E27FC236}">
                <a16:creationId xmlns:a16="http://schemas.microsoft.com/office/drawing/2014/main" id="{46E7BC14-CFC7-4548-8648-3E633DCC3DA1}"/>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NOTE: </a:t>
            </a:r>
            <a:r>
              <a:rPr lang="en-GB" altLang="en-US" sz="1000" b="1" i="1" dirty="0"/>
              <a:t>porphyroblasts</a:t>
            </a:r>
            <a:r>
              <a:rPr lang="en-GB" altLang="en-US" sz="1000" dirty="0"/>
              <a:t> grow in response to changing metamorphic conditions; </a:t>
            </a:r>
            <a:r>
              <a:rPr lang="en-GB" altLang="en-US" sz="1000" b="1" i="1" dirty="0" err="1"/>
              <a:t>porphyroclasts</a:t>
            </a:r>
            <a:r>
              <a:rPr lang="en-GB" altLang="en-US" sz="1000" dirty="0"/>
              <a:t> are the remnants of grains within an originally coarse-grained rock</a:t>
            </a:r>
          </a:p>
          <a:p>
            <a:pPr marL="108000" indent="-108000">
              <a:spcBef>
                <a:spcPts val="300"/>
              </a:spcBef>
              <a:buFont typeface="Arial" panose="020B0604020202020204" pitchFamily="34" charset="0"/>
              <a:buChar char="•"/>
            </a:pPr>
            <a:r>
              <a:rPr lang="en-GB" altLang="en-US" sz="1000" dirty="0"/>
              <a:t>Types of object:</a:t>
            </a:r>
          </a:p>
          <a:p>
            <a:pPr marL="360000" lvl="1" indent="-171450">
              <a:spcBef>
                <a:spcPts val="300"/>
              </a:spcBef>
              <a:buFont typeface="Wingdings" panose="05000000000000000000" pitchFamily="2" charset="2"/>
              <a:buChar char="Ø"/>
            </a:pPr>
            <a:r>
              <a:rPr lang="en-GB" altLang="en-US" sz="1000" dirty="0"/>
              <a:t>Naked clasts/mineral fish have no rims</a:t>
            </a:r>
          </a:p>
          <a:p>
            <a:pPr marL="360000" lvl="1" indent="-171450">
              <a:spcBef>
                <a:spcPts val="300"/>
              </a:spcBef>
              <a:buFont typeface="Wingdings" panose="05000000000000000000" pitchFamily="2" charset="2"/>
              <a:buChar char="Ø"/>
            </a:pPr>
            <a:r>
              <a:rPr lang="en-GB" altLang="en-US" sz="1000" dirty="0"/>
              <a:t>Mineral fish are lozenge-shaped</a:t>
            </a:r>
          </a:p>
          <a:p>
            <a:pPr marL="360000" lvl="1" indent="-171450">
              <a:spcBef>
                <a:spcPts val="300"/>
              </a:spcBef>
              <a:buFont typeface="Wingdings" panose="05000000000000000000" pitchFamily="2" charset="2"/>
              <a:buChar char="Ø"/>
            </a:pPr>
            <a:r>
              <a:rPr lang="en-GB" altLang="en-US" sz="1000" dirty="0"/>
              <a:t>In a mantled </a:t>
            </a:r>
            <a:r>
              <a:rPr lang="en-GB" altLang="en-US" sz="1000" dirty="0" err="1"/>
              <a:t>porphyroclast</a:t>
            </a:r>
            <a:r>
              <a:rPr lang="en-GB" altLang="en-US" sz="1000" dirty="0"/>
              <a:t> the rim is made of the same mineral as the clast</a:t>
            </a:r>
          </a:p>
          <a:p>
            <a:pPr marL="360000" lvl="1" indent="-171450">
              <a:spcBef>
                <a:spcPts val="300"/>
              </a:spcBef>
              <a:buFont typeface="Wingdings" panose="05000000000000000000" pitchFamily="2" charset="2"/>
              <a:buChar char="Ø"/>
            </a:pPr>
            <a:r>
              <a:rPr lang="en-GB" altLang="en-US" sz="1000" dirty="0"/>
              <a:t>In the other two types of rimmed </a:t>
            </a:r>
            <a:r>
              <a:rPr lang="en-GB" altLang="en-US" sz="1000" dirty="0" err="1"/>
              <a:t>porphyroclast</a:t>
            </a:r>
            <a:r>
              <a:rPr lang="en-GB" altLang="en-US" sz="1000" dirty="0"/>
              <a:t> the rim contains different minerals to the clast</a:t>
            </a:r>
          </a:p>
          <a:p>
            <a:pPr marL="360000" lvl="1" indent="-171450">
              <a:spcBef>
                <a:spcPts val="300"/>
              </a:spcBef>
              <a:buFont typeface="Wingdings" panose="05000000000000000000" pitchFamily="2" charset="2"/>
              <a:buChar char="Ø"/>
            </a:pPr>
            <a:r>
              <a:rPr lang="en-GB" altLang="en-US" sz="1000" dirty="0" err="1"/>
              <a:t>Sigmoids</a:t>
            </a:r>
            <a:r>
              <a:rPr lang="en-GB" altLang="en-US" sz="1000" dirty="0"/>
              <a:t> are polycrystalline aggregates of a mineral with the shape indicated in the figure top right</a:t>
            </a:r>
          </a:p>
          <a:p>
            <a:pPr marL="108000" indent="-108000">
              <a:spcBef>
                <a:spcPts val="300"/>
              </a:spcBef>
              <a:buFont typeface="Arial" panose="020B0604020202020204" pitchFamily="34" charset="0"/>
              <a:buChar char="•"/>
            </a:pPr>
            <a:r>
              <a:rPr lang="en-GB" altLang="en-US" sz="1000" dirty="0"/>
              <a:t>For those of you who are not taking </a:t>
            </a:r>
            <a:r>
              <a:rPr lang="en-GB" altLang="en-US" sz="1000" i="1" dirty="0"/>
              <a:t>Metamorphic Minerals and Processes</a:t>
            </a:r>
            <a:r>
              <a:rPr lang="en-GB" altLang="en-US" sz="1000" dirty="0"/>
              <a:t>, there are some helpful comments on using inclusion trails within porphyroblasts to infer the timing of deformation and porphyroblast growth on https://www.alexstrekeisen.it/english/meta/porphyroblastic.php. When those inclusion trails are sigmoidal, porphyroblast growth could be interpreted as occurring at the same time as the deformation (that is, that it was </a:t>
            </a:r>
            <a:r>
              <a:rPr lang="en-GB" altLang="en-US" sz="1000" dirty="0" err="1"/>
              <a:t>syntectonic</a:t>
            </a:r>
            <a:r>
              <a:rPr lang="en-GB" altLang="en-US" sz="1000" dirty="0"/>
              <a:t>), and it may be possible to infer the sense of shear. For example, in the photomicrograph at bottom right of this slide, the sigmoidal inclusion trails suggest that the garnet was rotating anticlockwise as it was growing (sinistral sense of shear implied)</a:t>
            </a:r>
          </a:p>
          <a:p>
            <a:pPr marL="108000" indent="-108000">
              <a:spcBef>
                <a:spcPts val="300"/>
              </a:spcBef>
              <a:buFont typeface="Arial" panose="020B0604020202020204" pitchFamily="34" charset="0"/>
              <a:buChar char="•"/>
            </a:pPr>
            <a:r>
              <a:rPr lang="en-GB" altLang="en-US" sz="1000" dirty="0"/>
              <a:t>As an example of some of the issues associated with using </a:t>
            </a:r>
            <a:r>
              <a:rPr lang="en-GB" altLang="en-US" sz="1000" dirty="0" err="1"/>
              <a:t>porphyroblasts</a:t>
            </a:r>
            <a:r>
              <a:rPr lang="en-GB" altLang="en-US" sz="1000" dirty="0"/>
              <a:t> with sigmoidal inclusion trails as shear sense indicators, see Williams &amp; </a:t>
            </a:r>
            <a:r>
              <a:rPr lang="en-GB" altLang="en-US" sz="1000" dirty="0" err="1"/>
              <a:t>Schoneveld</a:t>
            </a:r>
            <a:r>
              <a:rPr lang="en-GB" altLang="en-US" sz="1000" dirty="0"/>
              <a:t>, 1981, </a:t>
            </a:r>
            <a:r>
              <a:rPr lang="en-GB" altLang="en-US" sz="1000" i="1" dirty="0"/>
              <a:t>Tectonophysics</a:t>
            </a:r>
            <a:r>
              <a:rPr lang="en-GB" altLang="en-US" sz="1000" dirty="0"/>
              <a:t> 78: 307-334, </a:t>
            </a:r>
            <a:r>
              <a:rPr lang="en-GB" sz="1000" dirty="0"/>
              <a:t>https://doi.org/10.1016/0040-1951(81)90019-6</a:t>
            </a:r>
            <a:endParaRPr lang="en-GB" altLang="en-US" sz="1000" dirty="0"/>
          </a:p>
          <a:p>
            <a:pPr marL="108000" indent="-108000">
              <a:spcBef>
                <a:spcPts val="300"/>
              </a:spcBef>
              <a:buFont typeface="Arial" panose="020B0604020202020204" pitchFamily="34" charset="0"/>
              <a:buChar char="•"/>
            </a:pPr>
            <a:r>
              <a:rPr lang="en-GB" altLang="en-US" sz="1000" dirty="0"/>
              <a:t>Figure top from </a:t>
            </a:r>
            <a:r>
              <a:rPr lang="en-GB" altLang="en-US" sz="1000" dirty="0" err="1"/>
              <a:t>Passchier</a:t>
            </a:r>
            <a:r>
              <a:rPr lang="en-GB" altLang="en-US" sz="1000" dirty="0"/>
              <a:t> &amp; </a:t>
            </a:r>
            <a:r>
              <a:rPr lang="en-GB" altLang="en-US" sz="1000" dirty="0" err="1"/>
              <a:t>Trouw</a:t>
            </a:r>
            <a:r>
              <a:rPr lang="en-GB" altLang="en-US" sz="1000" dirty="0"/>
              <a:t>, Fig.5.20</a:t>
            </a:r>
          </a:p>
          <a:p>
            <a:pPr marL="108000" indent="-108000">
              <a:spcBef>
                <a:spcPts val="300"/>
              </a:spcBef>
              <a:buFont typeface="Arial" panose="020B0604020202020204" pitchFamily="34" charset="0"/>
              <a:buChar char="•"/>
            </a:pPr>
            <a:r>
              <a:rPr lang="en-GB" altLang="en-US" sz="1000" dirty="0"/>
              <a:t>Photomicrograph bottom (from </a:t>
            </a:r>
            <a:r>
              <a:rPr lang="en-GB" altLang="en-US" sz="1000" dirty="0" err="1"/>
              <a:t>Passchier</a:t>
            </a:r>
            <a:r>
              <a:rPr lang="en-GB" altLang="en-US" sz="1000" dirty="0"/>
              <a:t> &amp; </a:t>
            </a:r>
            <a:r>
              <a:rPr lang="en-GB" altLang="en-US" sz="1000" dirty="0" err="1"/>
              <a:t>Trouw</a:t>
            </a:r>
            <a:r>
              <a:rPr lang="en-GB" altLang="en-US" sz="1000" dirty="0"/>
              <a:t>, Exercise 20a): garnet </a:t>
            </a:r>
            <a:r>
              <a:rPr lang="en-GB" altLang="en-US" sz="1000" dirty="0" err="1"/>
              <a:t>porphyroblasts</a:t>
            </a:r>
            <a:r>
              <a:rPr lang="en-GB" altLang="en-US" sz="1000" dirty="0"/>
              <a:t> in a garnet-chloritoid-muscovite schist, </a:t>
            </a:r>
            <a:r>
              <a:rPr lang="en-GB" altLang="en-US" sz="1000" dirty="0" err="1"/>
              <a:t>Itumirim</a:t>
            </a:r>
            <a:r>
              <a:rPr lang="en-GB" altLang="en-US" sz="1000" dirty="0"/>
              <a:t>, Minas Gerais, Brazil (width of view 2 mm)</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a:extLst>
              <a:ext uri="{FF2B5EF4-FFF2-40B4-BE49-F238E27FC236}">
                <a16:creationId xmlns:a16="http://schemas.microsoft.com/office/drawing/2014/main" id="{8B66667F-565B-432B-8BF8-9906234930E2}"/>
              </a:ext>
            </a:extLst>
          </p:cNvPr>
          <p:cNvSpPr>
            <a:spLocks noGrp="1" noRot="1" noChangeAspect="1" noChangeArrowheads="1" noTextEdit="1"/>
          </p:cNvSpPr>
          <p:nvPr>
            <p:ph type="sldImg"/>
          </p:nvPr>
        </p:nvSpPr>
        <p:spPr>
          <a:ln/>
        </p:spPr>
      </p:sp>
      <p:sp>
        <p:nvSpPr>
          <p:cNvPr id="73731" name="Rectangle 3">
            <a:extLst>
              <a:ext uri="{FF2B5EF4-FFF2-40B4-BE49-F238E27FC236}">
                <a16:creationId xmlns:a16="http://schemas.microsoft.com/office/drawing/2014/main" id="{D6D3CAF4-FA0B-4B3C-8C7F-852258B1C6BC}"/>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Figure bottom left from </a:t>
            </a:r>
            <a:r>
              <a:rPr lang="en-GB" altLang="en-US" sz="1000" dirty="0" err="1"/>
              <a:t>Passchier</a:t>
            </a:r>
            <a:r>
              <a:rPr lang="en-GB" altLang="en-US" sz="1000" dirty="0"/>
              <a:t> &amp; </a:t>
            </a:r>
            <a:r>
              <a:rPr lang="en-GB" altLang="en-US" sz="1000" dirty="0" err="1"/>
              <a:t>Trouw</a:t>
            </a:r>
            <a:r>
              <a:rPr lang="en-GB" altLang="en-US" sz="1000" dirty="0"/>
              <a:t>, Fig.5.21</a:t>
            </a:r>
          </a:p>
          <a:p>
            <a:pPr marL="108000" indent="-108000">
              <a:spcBef>
                <a:spcPts val="300"/>
              </a:spcBef>
              <a:buFont typeface="Arial" panose="020B0604020202020204" pitchFamily="34" charset="0"/>
              <a:buChar char="•"/>
            </a:pPr>
            <a:r>
              <a:rPr lang="en-GB" altLang="en-US" sz="1000" dirty="0"/>
              <a:t>Photo (by Chris </a:t>
            </a:r>
            <a:r>
              <a:rPr lang="en-GB" altLang="en-US" sz="1000" dirty="0" err="1"/>
              <a:t>Mattinson</a:t>
            </a:r>
            <a:r>
              <a:rPr lang="en-GB" altLang="en-US" sz="1000" dirty="0"/>
              <a:t>, www.geology.cwu.edu/facstaff/mattinson/2008_photos/): stream polished surface of a garnet amphibolite, </a:t>
            </a:r>
            <a:r>
              <a:rPr lang="en-GB" altLang="en-US" sz="1000" dirty="0" err="1"/>
              <a:t>Dulan</a:t>
            </a:r>
            <a:r>
              <a:rPr lang="en-GB" altLang="en-US" sz="1000" dirty="0"/>
              <a:t> region, North </a:t>
            </a:r>
            <a:r>
              <a:rPr lang="en-GB" altLang="en-US" sz="1000" dirty="0" err="1"/>
              <a:t>Qaidam</a:t>
            </a:r>
            <a:r>
              <a:rPr lang="en-GB" altLang="en-US" sz="1000" dirty="0"/>
              <a:t> ultra-high pressure metamorphic terrane, western China</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a:extLst>
              <a:ext uri="{FF2B5EF4-FFF2-40B4-BE49-F238E27FC236}">
                <a16:creationId xmlns:a16="http://schemas.microsoft.com/office/drawing/2014/main" id="{2D4DD966-809B-48CE-AF6C-9B9C88A686BF}"/>
              </a:ext>
            </a:extLst>
          </p:cNvPr>
          <p:cNvSpPr>
            <a:spLocks noGrp="1" noRot="1" noChangeAspect="1" noChangeArrowheads="1" noTextEdit="1"/>
          </p:cNvSpPr>
          <p:nvPr>
            <p:ph type="sldImg"/>
          </p:nvPr>
        </p:nvSpPr>
        <p:spPr>
          <a:ln/>
        </p:spPr>
      </p:sp>
      <p:sp>
        <p:nvSpPr>
          <p:cNvPr id="74755" name="Rectangle 3">
            <a:extLst>
              <a:ext uri="{FF2B5EF4-FFF2-40B4-BE49-F238E27FC236}">
                <a16:creationId xmlns:a16="http://schemas.microsoft.com/office/drawing/2014/main" id="{381AF88F-F4F1-4CE2-9088-44A88E5FA3F8}"/>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latin typeface="Times New Roman" panose="02020603050405020304" pitchFamily="18" charset="0"/>
                <a:cs typeface="Times New Roman" panose="02020603050405020304" pitchFamily="18" charset="0"/>
              </a:rPr>
              <a:t>In stair-stepping the sense of shear is obtained if you walk up the stairs</a:t>
            </a:r>
          </a:p>
          <a:p>
            <a:pPr marL="108000" indent="-108000">
              <a:spcBef>
                <a:spcPts val="300"/>
              </a:spcBef>
              <a:buFont typeface="Arial" panose="020B0604020202020204" pitchFamily="34" charset="0"/>
              <a:buChar char="•"/>
            </a:pPr>
            <a:r>
              <a:rPr lang="en-GB" altLang="en-US" sz="1000" dirty="0">
                <a:latin typeface="Times New Roman" panose="02020603050405020304" pitchFamily="18" charset="0"/>
                <a:cs typeface="Times New Roman" panose="02020603050405020304" pitchFamily="18" charset="0"/>
              </a:rPr>
              <a:t>Figure top right from </a:t>
            </a:r>
            <a:r>
              <a:rPr lang="en-GB" altLang="en-US" sz="1000" dirty="0" err="1">
                <a:latin typeface="Times New Roman" panose="02020603050405020304" pitchFamily="18" charset="0"/>
                <a:cs typeface="Times New Roman" panose="02020603050405020304" pitchFamily="18" charset="0"/>
              </a:rPr>
              <a:t>Trouw</a:t>
            </a:r>
            <a:r>
              <a:rPr lang="en-GB" altLang="en-US" sz="1000" dirty="0">
                <a:latin typeface="Times New Roman" panose="02020603050405020304" pitchFamily="18" charset="0"/>
                <a:cs typeface="Times New Roman" panose="02020603050405020304" pitchFamily="18" charset="0"/>
              </a:rPr>
              <a:t> </a:t>
            </a:r>
            <a:r>
              <a:rPr lang="en-GB" altLang="en-US" sz="1000" i="1" dirty="0">
                <a:latin typeface="Times New Roman" panose="02020603050405020304" pitchFamily="18" charset="0"/>
                <a:cs typeface="Times New Roman" panose="02020603050405020304" pitchFamily="18" charset="0"/>
              </a:rPr>
              <a:t>et al.</a:t>
            </a:r>
            <a:r>
              <a:rPr lang="en-GB" altLang="en-US" sz="1000" dirty="0">
                <a:latin typeface="Times New Roman" panose="02020603050405020304" pitchFamily="18" charset="0"/>
                <a:cs typeface="Times New Roman" panose="02020603050405020304" pitchFamily="18" charset="0"/>
              </a:rPr>
              <a:t>, 2009, </a:t>
            </a:r>
            <a:r>
              <a:rPr lang="en-GB" altLang="en-US" sz="1000" i="1" dirty="0">
                <a:latin typeface="Times New Roman" panose="02020603050405020304" pitchFamily="18" charset="0"/>
                <a:cs typeface="Times New Roman" panose="02020603050405020304" pitchFamily="18" charset="0"/>
              </a:rPr>
              <a:t>Atlas of </a:t>
            </a:r>
            <a:r>
              <a:rPr lang="en-GB" altLang="en-US" sz="1000" i="1" dirty="0" err="1">
                <a:latin typeface="Times New Roman" panose="02020603050405020304" pitchFamily="18" charset="0"/>
                <a:cs typeface="Times New Roman" panose="02020603050405020304" pitchFamily="18" charset="0"/>
              </a:rPr>
              <a:t>Mylonites</a:t>
            </a:r>
            <a:r>
              <a:rPr lang="en-GB" altLang="en-US" sz="1000" i="1" dirty="0">
                <a:latin typeface="Times New Roman" panose="02020603050405020304" pitchFamily="18" charset="0"/>
                <a:cs typeface="Times New Roman" panose="02020603050405020304" pitchFamily="18" charset="0"/>
              </a:rPr>
              <a:t> and Related Microstructures</a:t>
            </a:r>
            <a:r>
              <a:rPr lang="en-GB" altLang="en-US" sz="1000" dirty="0">
                <a:latin typeface="Times New Roman" panose="02020603050405020304" pitchFamily="18" charset="0"/>
                <a:cs typeface="Times New Roman" panose="02020603050405020304" pitchFamily="18" charset="0"/>
              </a:rPr>
              <a:t>, p.159</a:t>
            </a:r>
          </a:p>
          <a:p>
            <a:pPr marL="108000" indent="-108000">
              <a:spcBef>
                <a:spcPts val="300"/>
              </a:spcBef>
              <a:buFont typeface="Arial" panose="020B0604020202020204" pitchFamily="34" charset="0"/>
              <a:buChar char="•"/>
            </a:pPr>
            <a:r>
              <a:rPr lang="en-GB" altLang="en-US" sz="1000" dirty="0">
                <a:latin typeface="Times New Roman" panose="02020603050405020304" pitchFamily="18" charset="0"/>
                <a:cs typeface="Times New Roman" panose="02020603050405020304" pitchFamily="18" charset="0"/>
              </a:rPr>
              <a:t>Photograph left with annotated interpretation next to it (from blogs.agu.org/</a:t>
            </a:r>
            <a:r>
              <a:rPr lang="en-GB" altLang="en-US" sz="1000" dirty="0" err="1">
                <a:latin typeface="Times New Roman" panose="02020603050405020304" pitchFamily="18" charset="0"/>
                <a:cs typeface="Times New Roman" panose="02020603050405020304" pitchFamily="18" charset="0"/>
              </a:rPr>
              <a:t>mountainbeltway</a:t>
            </a:r>
            <a:r>
              <a:rPr lang="en-GB" altLang="en-US" sz="1000" dirty="0">
                <a:latin typeface="Times New Roman" panose="02020603050405020304" pitchFamily="18" charset="0"/>
                <a:cs typeface="Times New Roman" panose="02020603050405020304" pitchFamily="18" charset="0"/>
              </a:rPr>
              <a:t>/2011/10/27/pavement-outcrops-of-strained-seine-conglomerate/): deformed </a:t>
            </a:r>
            <a:r>
              <a:rPr lang="en-GB" altLang="en-US" sz="1000" dirty="0" err="1">
                <a:latin typeface="Times New Roman" panose="02020603050405020304" pitchFamily="18" charset="0"/>
                <a:cs typeface="Times New Roman" panose="02020603050405020304" pitchFamily="18" charset="0"/>
              </a:rPr>
              <a:t>polymict</a:t>
            </a:r>
            <a:r>
              <a:rPr lang="en-GB" altLang="en-US" sz="1000" dirty="0">
                <a:latin typeface="Times New Roman" panose="02020603050405020304" pitchFamily="18" charset="0"/>
                <a:cs typeface="Times New Roman" panose="02020603050405020304" pitchFamily="18" charset="0"/>
              </a:rPr>
              <a:t> conglomerates from the boundary between the Wabigoon and </a:t>
            </a:r>
            <a:r>
              <a:rPr lang="en-GB" altLang="en-US" sz="1000" dirty="0" err="1">
                <a:latin typeface="Times New Roman" panose="02020603050405020304" pitchFamily="18" charset="0"/>
                <a:cs typeface="Times New Roman" panose="02020603050405020304" pitchFamily="18" charset="0"/>
              </a:rPr>
              <a:t>Quertico</a:t>
            </a:r>
            <a:r>
              <a:rPr lang="en-GB" altLang="en-US" sz="1000" dirty="0">
                <a:latin typeface="Times New Roman" panose="02020603050405020304" pitchFamily="18" charset="0"/>
                <a:cs typeface="Times New Roman" panose="02020603050405020304" pitchFamily="18" charset="0"/>
              </a:rPr>
              <a:t> sub-provinces of the Superior Craton, Seine River, Ontario, on the Canada/U.S.A. border. The conglomerate clast in the centre of the image looks like a </a:t>
            </a:r>
            <a:r>
              <a:rPr lang="el-GR" altLang="en-US" sz="1000" dirty="0">
                <a:latin typeface="Cambria Math" panose="02040503050406030204" pitchFamily="18" charset="0"/>
                <a:ea typeface="Cambria Math" panose="02040503050406030204" pitchFamily="18" charset="0"/>
                <a:cs typeface="Times New Roman" panose="02020603050405020304" pitchFamily="18" charset="0"/>
              </a:rPr>
              <a:t>σ</a:t>
            </a:r>
            <a:r>
              <a:rPr lang="en-GB" altLang="en-US" sz="1000" dirty="0">
                <a:latin typeface="Times New Roman" panose="02020603050405020304" pitchFamily="18" charset="0"/>
                <a:cs typeface="Times New Roman" panose="02020603050405020304" pitchFamily="18" charset="0"/>
              </a:rPr>
              <a:t>-type </a:t>
            </a:r>
            <a:r>
              <a:rPr lang="en-GB" altLang="en-US" sz="1000" dirty="0" err="1">
                <a:latin typeface="Times New Roman" panose="02020603050405020304" pitchFamily="18" charset="0"/>
                <a:cs typeface="Times New Roman" panose="02020603050405020304" pitchFamily="18" charset="0"/>
              </a:rPr>
              <a:t>porphyroclast</a:t>
            </a:r>
            <a:r>
              <a:rPr lang="en-GB" altLang="en-US" sz="1000" dirty="0">
                <a:latin typeface="Times New Roman" panose="02020603050405020304" pitchFamily="18" charset="0"/>
                <a:cs typeface="Times New Roman" panose="02020603050405020304" pitchFamily="18" charset="0"/>
              </a:rPr>
              <a:t> although, using the terminology of two slides back, it is not strictly a mantled clast but rather a naked clast</a:t>
            </a:r>
          </a:p>
          <a:p>
            <a:pPr marL="108000" indent="-108000">
              <a:spcBef>
                <a:spcPts val="300"/>
              </a:spcBef>
              <a:buFont typeface="Arial" panose="020B0604020202020204" pitchFamily="34" charset="0"/>
              <a:buChar char="•"/>
            </a:pPr>
            <a:r>
              <a:rPr lang="en-GB" altLang="en-US" sz="1000" dirty="0">
                <a:latin typeface="Times New Roman" panose="02020603050405020304" pitchFamily="18" charset="0"/>
                <a:cs typeface="Times New Roman" panose="02020603050405020304" pitchFamily="18" charset="0"/>
              </a:rPr>
              <a:t>Photomicrograph left (from </a:t>
            </a:r>
            <a:r>
              <a:rPr lang="en-GB" altLang="en-US" sz="1000" dirty="0" err="1">
                <a:latin typeface="Times New Roman" panose="02020603050405020304" pitchFamily="18" charset="0"/>
                <a:cs typeface="Times New Roman" panose="02020603050405020304" pitchFamily="18" charset="0"/>
              </a:rPr>
              <a:t>Passchier</a:t>
            </a:r>
            <a:r>
              <a:rPr lang="en-GB" altLang="en-US" sz="1000" dirty="0">
                <a:latin typeface="Times New Roman" panose="02020603050405020304" pitchFamily="18" charset="0"/>
                <a:cs typeface="Times New Roman" panose="02020603050405020304" pitchFamily="18" charset="0"/>
              </a:rPr>
              <a:t> &amp; </a:t>
            </a:r>
            <a:r>
              <a:rPr lang="en-GB" altLang="en-US" sz="1000" dirty="0" err="1">
                <a:latin typeface="Times New Roman" panose="02020603050405020304" pitchFamily="18" charset="0"/>
                <a:cs typeface="Times New Roman" panose="02020603050405020304" pitchFamily="18" charset="0"/>
              </a:rPr>
              <a:t>Trouw</a:t>
            </a:r>
            <a:r>
              <a:rPr lang="en-GB" altLang="en-US" sz="1000" dirty="0">
                <a:latin typeface="Times New Roman" panose="02020603050405020304" pitchFamily="18" charset="0"/>
                <a:cs typeface="Times New Roman" panose="02020603050405020304" pitchFamily="18" charset="0"/>
              </a:rPr>
              <a:t>, Fig.5.23): </a:t>
            </a:r>
            <a:r>
              <a:rPr lang="el-GR" altLang="en-US" sz="1000" dirty="0">
                <a:latin typeface="Cambria Math" panose="02040503050406030204" pitchFamily="18" charset="0"/>
                <a:ea typeface="Cambria Math" panose="02040503050406030204" pitchFamily="18" charset="0"/>
                <a:cs typeface="Times New Roman" panose="02020603050405020304" pitchFamily="18" charset="0"/>
              </a:rPr>
              <a:t>σ</a:t>
            </a:r>
            <a:r>
              <a:rPr lang="en-GB" altLang="en-US" sz="1000" dirty="0">
                <a:latin typeface="Times New Roman" panose="02020603050405020304" pitchFamily="18" charset="0"/>
                <a:cs typeface="Times New Roman" panose="02020603050405020304" pitchFamily="18" charset="0"/>
              </a:rPr>
              <a:t>-type </a:t>
            </a:r>
            <a:r>
              <a:rPr lang="en-GB" altLang="en-US" sz="1000" dirty="0" err="1">
                <a:latin typeface="Times New Roman" panose="02020603050405020304" pitchFamily="18" charset="0"/>
                <a:cs typeface="Times New Roman" panose="02020603050405020304" pitchFamily="18" charset="0"/>
              </a:rPr>
              <a:t>porphyroclast</a:t>
            </a:r>
            <a:r>
              <a:rPr lang="en-GB" altLang="en-US" sz="1000" dirty="0">
                <a:latin typeface="Times New Roman" panose="02020603050405020304" pitchFamily="18" charset="0"/>
                <a:cs typeface="Times New Roman" panose="02020603050405020304" pitchFamily="18" charset="0"/>
              </a:rPr>
              <a:t> (a mantled K-feldspar) in a matrix of recrystallized quartz in a granite </a:t>
            </a:r>
            <a:r>
              <a:rPr lang="en-GB" altLang="en-US" sz="1000" dirty="0" err="1">
                <a:latin typeface="Times New Roman" panose="02020603050405020304" pitchFamily="18" charset="0"/>
                <a:cs typeface="Times New Roman" panose="02020603050405020304" pitchFamily="18" charset="0"/>
              </a:rPr>
              <a:t>mylonite</a:t>
            </a:r>
            <a:r>
              <a:rPr lang="en-GB" altLang="en-US" sz="1000" dirty="0">
                <a:latin typeface="Times New Roman" panose="02020603050405020304" pitchFamily="18" charset="0"/>
                <a:cs typeface="Times New Roman" panose="02020603050405020304" pitchFamily="18" charset="0"/>
              </a:rPr>
              <a:t>, St. </a:t>
            </a:r>
            <a:r>
              <a:rPr lang="en-GB" altLang="en-US" sz="1000" dirty="0" err="1">
                <a:latin typeface="Times New Roman" panose="02020603050405020304" pitchFamily="18" charset="0"/>
                <a:cs typeface="Times New Roman" panose="02020603050405020304" pitchFamily="18" charset="0"/>
              </a:rPr>
              <a:t>Barthélemy</a:t>
            </a:r>
            <a:r>
              <a:rPr lang="en-GB" altLang="en-US" sz="1000" dirty="0">
                <a:latin typeface="Times New Roman" panose="02020603050405020304" pitchFamily="18" charset="0"/>
                <a:cs typeface="Times New Roman" panose="02020603050405020304" pitchFamily="18" charset="0"/>
              </a:rPr>
              <a:t> Massif, Pyrenees, France. Width of image 4 mm</a:t>
            </a:r>
          </a:p>
          <a:p>
            <a:pPr marL="0" indent="0">
              <a:spcBef>
                <a:spcPts val="300"/>
              </a:spcBef>
              <a:buFont typeface="Arial" panose="020B0604020202020204" pitchFamily="34" charset="0"/>
              <a:buNone/>
            </a:pPr>
            <a:endParaRPr lang="en-GB" altLang="en-US" sz="1000" dirty="0">
              <a:latin typeface="Times New Roman" panose="02020603050405020304" pitchFamily="18" charset="0"/>
              <a:cs typeface="Times New Roman" panose="02020603050405020304" pitchFamily="18"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a:extLst>
              <a:ext uri="{FF2B5EF4-FFF2-40B4-BE49-F238E27FC236}">
                <a16:creationId xmlns:a16="http://schemas.microsoft.com/office/drawing/2014/main" id="{0BB592A9-D263-4979-AF89-4B94793CC2E7}"/>
              </a:ext>
            </a:extLst>
          </p:cNvPr>
          <p:cNvSpPr>
            <a:spLocks noGrp="1" noRot="1" noChangeAspect="1" noChangeArrowheads="1" noTextEdit="1"/>
          </p:cNvSpPr>
          <p:nvPr>
            <p:ph type="sldImg"/>
          </p:nvPr>
        </p:nvSpPr>
        <p:spPr>
          <a:ln/>
        </p:spPr>
      </p:sp>
      <p:sp>
        <p:nvSpPr>
          <p:cNvPr id="75779" name="Rectangle 3">
            <a:extLst>
              <a:ext uri="{FF2B5EF4-FFF2-40B4-BE49-F238E27FC236}">
                <a16:creationId xmlns:a16="http://schemas.microsoft.com/office/drawing/2014/main" id="{20EBD351-6997-422B-94A4-4C9B856AB9E7}"/>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latin typeface="Times New Roman" panose="02020603050405020304" pitchFamily="18" charset="0"/>
                <a:cs typeface="Times New Roman" panose="02020603050405020304" pitchFamily="18" charset="0"/>
              </a:rPr>
              <a:t>Figure top right from </a:t>
            </a:r>
            <a:r>
              <a:rPr lang="en-GB" altLang="en-US" sz="1000" dirty="0" err="1">
                <a:latin typeface="Times New Roman" panose="02020603050405020304" pitchFamily="18" charset="0"/>
                <a:cs typeface="Times New Roman" panose="02020603050405020304" pitchFamily="18" charset="0"/>
              </a:rPr>
              <a:t>Trouw</a:t>
            </a:r>
            <a:r>
              <a:rPr lang="en-GB" altLang="en-US" sz="1000" dirty="0">
                <a:latin typeface="Times New Roman" panose="02020603050405020304" pitchFamily="18" charset="0"/>
                <a:cs typeface="Times New Roman" panose="02020603050405020304" pitchFamily="18" charset="0"/>
              </a:rPr>
              <a:t> </a:t>
            </a:r>
            <a:r>
              <a:rPr lang="en-GB" altLang="en-US" sz="1000" i="1" dirty="0">
                <a:latin typeface="Times New Roman" panose="02020603050405020304" pitchFamily="18" charset="0"/>
                <a:cs typeface="Times New Roman" panose="02020603050405020304" pitchFamily="18" charset="0"/>
              </a:rPr>
              <a:t>et al.</a:t>
            </a:r>
            <a:r>
              <a:rPr lang="en-GB" altLang="en-US" sz="1000" dirty="0">
                <a:latin typeface="Times New Roman" panose="02020603050405020304" pitchFamily="18" charset="0"/>
                <a:cs typeface="Times New Roman" panose="02020603050405020304" pitchFamily="18" charset="0"/>
              </a:rPr>
              <a:t>, 2009, </a:t>
            </a:r>
            <a:r>
              <a:rPr lang="en-GB" altLang="en-US" sz="1000" i="1" dirty="0">
                <a:latin typeface="Times New Roman" panose="02020603050405020304" pitchFamily="18" charset="0"/>
                <a:cs typeface="Times New Roman" panose="02020603050405020304" pitchFamily="18" charset="0"/>
              </a:rPr>
              <a:t>Atlas of </a:t>
            </a:r>
            <a:r>
              <a:rPr lang="en-GB" altLang="en-US" sz="1000" i="1" dirty="0" err="1">
                <a:latin typeface="Times New Roman" panose="02020603050405020304" pitchFamily="18" charset="0"/>
                <a:cs typeface="Times New Roman" panose="02020603050405020304" pitchFamily="18" charset="0"/>
              </a:rPr>
              <a:t>Mylonites</a:t>
            </a:r>
            <a:r>
              <a:rPr lang="en-GB" altLang="en-US" sz="1000" i="1" dirty="0">
                <a:latin typeface="Times New Roman" panose="02020603050405020304" pitchFamily="18" charset="0"/>
                <a:cs typeface="Times New Roman" panose="02020603050405020304" pitchFamily="18" charset="0"/>
              </a:rPr>
              <a:t> and Related Microstructures</a:t>
            </a:r>
            <a:r>
              <a:rPr lang="en-GB" altLang="en-US" sz="1000" dirty="0">
                <a:latin typeface="Times New Roman" panose="02020603050405020304" pitchFamily="18" charset="0"/>
                <a:cs typeface="Times New Roman" panose="02020603050405020304" pitchFamily="18" charset="0"/>
              </a:rPr>
              <a:t>, p.159</a:t>
            </a:r>
          </a:p>
          <a:p>
            <a:pPr marL="108000" indent="-108000">
              <a:spcBef>
                <a:spcPts val="300"/>
              </a:spcBef>
              <a:buFont typeface="Arial" panose="020B0604020202020204" pitchFamily="34" charset="0"/>
              <a:buChar char="•"/>
            </a:pPr>
            <a:r>
              <a:rPr lang="en-GB" altLang="en-US" sz="1000" dirty="0">
                <a:latin typeface="Times New Roman" panose="02020603050405020304" pitchFamily="18" charset="0"/>
                <a:cs typeface="Times New Roman" panose="02020603050405020304" pitchFamily="18" charset="0"/>
              </a:rPr>
              <a:t>Photo top (from Fossen, p.346): feldspar </a:t>
            </a:r>
            <a:r>
              <a:rPr lang="en-GB" altLang="en-US" sz="1000" dirty="0" err="1">
                <a:latin typeface="Times New Roman" panose="02020603050405020304" pitchFamily="18" charset="0"/>
                <a:cs typeface="Times New Roman" panose="02020603050405020304" pitchFamily="18" charset="0"/>
              </a:rPr>
              <a:t>porphyroclast</a:t>
            </a:r>
            <a:r>
              <a:rPr lang="en-GB" altLang="en-US" sz="1000" dirty="0">
                <a:latin typeface="Times New Roman" panose="02020603050405020304" pitchFamily="18" charset="0"/>
                <a:cs typeface="Times New Roman" panose="02020603050405020304" pitchFamily="18" charset="0"/>
              </a:rPr>
              <a:t> with wings of recrystallized feldspar, </a:t>
            </a:r>
            <a:r>
              <a:rPr lang="en-US" altLang="en-US" sz="1000" dirty="0">
                <a:latin typeface="Times New Roman" panose="02020603050405020304" pitchFamily="18" charset="0"/>
                <a:cs typeface="Times New Roman" panose="02020603050405020304" pitchFamily="18" charset="0"/>
              </a:rPr>
              <a:t>western gneiss region, </a:t>
            </a:r>
            <a:r>
              <a:rPr lang="en-GB" altLang="en-US" sz="1000" dirty="0">
                <a:latin typeface="Times New Roman" panose="02020603050405020304" pitchFamily="18" charset="0"/>
                <a:cs typeface="Times New Roman" panose="02020603050405020304" pitchFamily="18" charset="0"/>
              </a:rPr>
              <a:t>Finn</a:t>
            </a:r>
            <a:r>
              <a:rPr lang="en-US" altLang="en-US" sz="1000" dirty="0" err="1">
                <a:latin typeface="Times New Roman" panose="02020603050405020304" pitchFamily="18" charset="0"/>
                <a:cs typeface="Times New Roman" panose="02020603050405020304" pitchFamily="18" charset="0"/>
              </a:rPr>
              <a:t>øy</a:t>
            </a:r>
            <a:r>
              <a:rPr lang="en-US" altLang="en-US" sz="1000" dirty="0">
                <a:latin typeface="Times New Roman" panose="02020603050405020304" pitchFamily="18" charset="0"/>
                <a:cs typeface="Times New Roman" panose="02020603050405020304" pitchFamily="18" charset="0"/>
              </a:rPr>
              <a:t>, Norway</a:t>
            </a:r>
          </a:p>
          <a:p>
            <a:pPr marL="108000" indent="-108000">
              <a:spcBef>
                <a:spcPts val="300"/>
              </a:spcBef>
              <a:buFont typeface="Arial" panose="020B0604020202020204" pitchFamily="34" charset="0"/>
              <a:buChar char="•"/>
            </a:pPr>
            <a:r>
              <a:rPr lang="en-GB" altLang="en-US" sz="1000" dirty="0">
                <a:latin typeface="Times New Roman" panose="02020603050405020304" pitchFamily="18" charset="0"/>
                <a:cs typeface="Times New Roman" panose="02020603050405020304" pitchFamily="18" charset="0"/>
              </a:rPr>
              <a:t>Photo bottom left (from </a:t>
            </a:r>
            <a:r>
              <a:rPr lang="en-GB" altLang="en-US" sz="1000" dirty="0" err="1">
                <a:latin typeface="Times New Roman" panose="02020603050405020304" pitchFamily="18" charset="0"/>
                <a:cs typeface="Times New Roman" panose="02020603050405020304" pitchFamily="18" charset="0"/>
              </a:rPr>
              <a:t>Passchier</a:t>
            </a:r>
            <a:r>
              <a:rPr lang="en-GB" altLang="en-US" sz="1000" dirty="0">
                <a:latin typeface="Times New Roman" panose="02020603050405020304" pitchFamily="18" charset="0"/>
                <a:cs typeface="Times New Roman" panose="02020603050405020304" pitchFamily="18" charset="0"/>
              </a:rPr>
              <a:t> &amp; </a:t>
            </a:r>
            <a:r>
              <a:rPr lang="en-GB" altLang="en-US" sz="1000" dirty="0" err="1">
                <a:latin typeface="Times New Roman" panose="02020603050405020304" pitchFamily="18" charset="0"/>
                <a:cs typeface="Times New Roman" panose="02020603050405020304" pitchFamily="18" charset="0"/>
              </a:rPr>
              <a:t>Trouw</a:t>
            </a:r>
            <a:r>
              <a:rPr lang="en-GB" altLang="en-US" sz="1000" dirty="0">
                <a:latin typeface="Times New Roman" panose="02020603050405020304" pitchFamily="18" charset="0"/>
                <a:cs typeface="Times New Roman" panose="02020603050405020304" pitchFamily="18" charset="0"/>
              </a:rPr>
              <a:t>, Fig.11.7): a sheared rock analogue – the </a:t>
            </a:r>
            <a:r>
              <a:rPr lang="en-GB" altLang="en-US" sz="1000" dirty="0" err="1">
                <a:latin typeface="Times New Roman" panose="02020603050405020304" pitchFamily="18" charset="0"/>
                <a:cs typeface="Times New Roman" panose="02020603050405020304" pitchFamily="18" charset="0"/>
              </a:rPr>
              <a:t>porphyroclast</a:t>
            </a:r>
            <a:r>
              <a:rPr lang="en-GB" altLang="en-US" sz="1000" dirty="0">
                <a:latin typeface="Times New Roman" panose="02020603050405020304" pitchFamily="18" charset="0"/>
                <a:cs typeface="Times New Roman" panose="02020603050405020304" pitchFamily="18" charset="0"/>
              </a:rPr>
              <a:t> is camphor and the matrix is </a:t>
            </a:r>
            <a:r>
              <a:rPr lang="en-GB" altLang="en-US" sz="1000" dirty="0" err="1">
                <a:latin typeface="Times New Roman" panose="02020603050405020304" pitchFamily="18" charset="0"/>
                <a:cs typeface="Times New Roman" panose="02020603050405020304" pitchFamily="18" charset="0"/>
              </a:rPr>
              <a:t>octachloropropane</a:t>
            </a:r>
            <a:r>
              <a:rPr lang="en-GB" altLang="en-US" sz="1000" dirty="0">
                <a:latin typeface="Times New Roman" panose="02020603050405020304" pitchFamily="18" charset="0"/>
                <a:cs typeface="Times New Roman" panose="02020603050405020304" pitchFamily="18" charset="0"/>
              </a:rPr>
              <a:t>. By working with transparent analogue materials, it is possible to watch the development of this microstructure (see Ten Brink &amp; </a:t>
            </a:r>
            <a:r>
              <a:rPr lang="en-GB" altLang="en-US" sz="1000" dirty="0" err="1">
                <a:latin typeface="Times New Roman" panose="02020603050405020304" pitchFamily="18" charset="0"/>
                <a:cs typeface="Times New Roman" panose="02020603050405020304" pitchFamily="18" charset="0"/>
              </a:rPr>
              <a:t>Passchier</a:t>
            </a:r>
            <a:r>
              <a:rPr lang="en-GB" altLang="en-US" sz="1000" dirty="0">
                <a:latin typeface="Times New Roman" panose="02020603050405020304" pitchFamily="18" charset="0"/>
                <a:cs typeface="Times New Roman" panose="02020603050405020304" pitchFamily="18" charset="0"/>
              </a:rPr>
              <a:t>, 1995, </a:t>
            </a:r>
            <a:r>
              <a:rPr lang="en-GB" altLang="en-US" sz="1000" i="1" dirty="0">
                <a:latin typeface="Times New Roman" panose="02020603050405020304" pitchFamily="18" charset="0"/>
                <a:cs typeface="Times New Roman" panose="02020603050405020304" pitchFamily="18" charset="0"/>
              </a:rPr>
              <a:t>Journal of Structural Geology </a:t>
            </a:r>
            <a:r>
              <a:rPr lang="en-GB" altLang="en-US" sz="1000" dirty="0">
                <a:latin typeface="Times New Roman" panose="02020603050405020304" pitchFamily="18" charset="0"/>
                <a:cs typeface="Times New Roman" panose="02020603050405020304" pitchFamily="18" charset="0"/>
              </a:rPr>
              <a:t>17: 131-146, </a:t>
            </a:r>
            <a:r>
              <a:rPr lang="en-GB" sz="1000" dirty="0">
                <a:latin typeface="Times New Roman" panose="02020603050405020304" pitchFamily="18" charset="0"/>
                <a:cs typeface="Times New Roman" panose="02020603050405020304" pitchFamily="18" charset="0"/>
              </a:rPr>
              <a:t>https://doi.org/10.1016/0191-8141(94)E0032-T</a:t>
            </a:r>
            <a:r>
              <a:rPr lang="en-GB" altLang="en-US" sz="1000" dirty="0">
                <a:latin typeface="Times New Roman" panose="02020603050405020304" pitchFamily="18" charset="0"/>
                <a:cs typeface="Times New Roman" panose="02020603050405020304" pitchFamily="18" charset="0"/>
              </a:rPr>
              <a:t>)</a:t>
            </a:r>
          </a:p>
          <a:p>
            <a:pPr marL="108000" indent="-108000">
              <a:spcBef>
                <a:spcPts val="300"/>
              </a:spcBef>
              <a:buFont typeface="Arial" panose="020B0604020202020204" pitchFamily="34" charset="0"/>
              <a:buChar char="•"/>
            </a:pPr>
            <a:r>
              <a:rPr lang="en-GB" altLang="en-US" sz="1000" dirty="0">
                <a:latin typeface="Times New Roman" panose="02020603050405020304" pitchFamily="18" charset="0"/>
                <a:cs typeface="Times New Roman" panose="02020603050405020304" pitchFamily="18" charset="0"/>
              </a:rPr>
              <a:t>Photo bottom right (by Charles Corrigan: earth-likeplanet.blogspot.co.uk/2011_12_01_archive.html): </a:t>
            </a:r>
            <a:r>
              <a:rPr lang="el-GR" altLang="en-US" sz="1000" dirty="0">
                <a:latin typeface="Cambria Math" panose="02040503050406030204" pitchFamily="18" charset="0"/>
                <a:ea typeface="Cambria Math" panose="02040503050406030204" pitchFamily="18" charset="0"/>
                <a:cs typeface="Times New Roman" panose="02020603050405020304" pitchFamily="18" charset="0"/>
              </a:rPr>
              <a:t>δ</a:t>
            </a:r>
            <a:r>
              <a:rPr lang="en-GB" altLang="en-US" sz="1000" dirty="0">
                <a:latin typeface="Times New Roman" panose="02020603050405020304" pitchFamily="18" charset="0"/>
                <a:cs typeface="Times New Roman" panose="02020603050405020304" pitchFamily="18" charset="0"/>
              </a:rPr>
              <a:t>-type </a:t>
            </a:r>
            <a:r>
              <a:rPr lang="en-GB" altLang="en-US" sz="1000" dirty="0" err="1">
                <a:latin typeface="Times New Roman" panose="02020603050405020304" pitchFamily="18" charset="0"/>
                <a:cs typeface="Times New Roman" panose="02020603050405020304" pitchFamily="18" charset="0"/>
              </a:rPr>
              <a:t>porphyroclast</a:t>
            </a:r>
            <a:r>
              <a:rPr lang="en-GB" altLang="en-US" sz="1000" dirty="0">
                <a:latin typeface="Times New Roman" panose="02020603050405020304" pitchFamily="18" charset="0"/>
                <a:cs typeface="Times New Roman" panose="02020603050405020304" pitchFamily="18" charset="0"/>
              </a:rPr>
              <a:t> from the Parry Sound Shear Zone, Ontario</a:t>
            </a:r>
          </a:p>
          <a:p>
            <a:pPr marL="0" indent="0">
              <a:spcBef>
                <a:spcPts val="300"/>
              </a:spcBef>
              <a:buFont typeface="Arial" panose="020B0604020202020204" pitchFamily="34" charset="0"/>
              <a:buNone/>
            </a:pPr>
            <a:endParaRPr lang="en-GB" altLang="en-US" sz="1000" dirty="0">
              <a:latin typeface="Times New Roman" panose="02020603050405020304" pitchFamily="18" charset="0"/>
              <a:cs typeface="Times New Roman" panose="02020603050405020304" pitchFamily="18"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a:extLst>
              <a:ext uri="{FF2B5EF4-FFF2-40B4-BE49-F238E27FC236}">
                <a16:creationId xmlns:a16="http://schemas.microsoft.com/office/drawing/2014/main" id="{33E9F890-E1B2-4EAA-BAE3-C5144FBE3C39}"/>
              </a:ext>
            </a:extLst>
          </p:cNvPr>
          <p:cNvSpPr>
            <a:spLocks noGrp="1" noRot="1" noChangeAspect="1" noChangeArrowheads="1" noTextEdit="1"/>
          </p:cNvSpPr>
          <p:nvPr>
            <p:ph type="sldImg"/>
          </p:nvPr>
        </p:nvSpPr>
        <p:spPr>
          <a:ln/>
        </p:spPr>
      </p:sp>
      <p:sp>
        <p:nvSpPr>
          <p:cNvPr id="76803" name="Rectangle 3">
            <a:extLst>
              <a:ext uri="{FF2B5EF4-FFF2-40B4-BE49-F238E27FC236}">
                <a16:creationId xmlns:a16="http://schemas.microsoft.com/office/drawing/2014/main" id="{C85C9F4A-85A2-4BD9-8327-622D9A30073F}"/>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effectLst/>
              </a:rPr>
              <a:t>Quarter structures: the </a:t>
            </a:r>
            <a:r>
              <a:rPr lang="en-GB" altLang="en-US" sz="1000" dirty="0">
                <a:solidFill>
                  <a:srgbClr val="FF66CC"/>
                </a:solidFill>
                <a:effectLst/>
              </a:rPr>
              <a:t>oblique orientation of the incremental strain ellipse</a:t>
            </a:r>
            <a:r>
              <a:rPr lang="en-GB" altLang="en-US" sz="1000" dirty="0">
                <a:effectLst/>
              </a:rPr>
              <a:t> to the margins of the shear zone leads to an asymmetry in the way that the foliation rotates around objects within shear zones. In compressional sectors the foliation may thin and intensify, while in extensional sectors it may thicken and fold </a:t>
            </a:r>
            <a:endParaRPr lang="en-GB" altLang="en-US" sz="1000" dirty="0"/>
          </a:p>
          <a:p>
            <a:pPr marL="108000" indent="-108000">
              <a:spcBef>
                <a:spcPts val="300"/>
              </a:spcBef>
              <a:buFont typeface="Arial" panose="020B0604020202020204" pitchFamily="34" charset="0"/>
              <a:buChar char="•"/>
            </a:pPr>
            <a:r>
              <a:rPr lang="en-GB" altLang="en-US" sz="1000" dirty="0"/>
              <a:t>Figure top right from </a:t>
            </a:r>
            <a:r>
              <a:rPr lang="en-GB" altLang="en-US" sz="1000" dirty="0" err="1"/>
              <a:t>Passchier</a:t>
            </a:r>
            <a:r>
              <a:rPr lang="en-GB" altLang="en-US" sz="1000" dirty="0"/>
              <a:t> &amp; </a:t>
            </a:r>
            <a:r>
              <a:rPr lang="en-GB" altLang="en-US" sz="1000" dirty="0" err="1"/>
              <a:t>Trouw</a:t>
            </a:r>
            <a:r>
              <a:rPr lang="en-GB" altLang="en-US" sz="1000" dirty="0"/>
              <a:t> (Fig.5.20): cartoon of a sigmoid</a:t>
            </a:r>
          </a:p>
          <a:p>
            <a:pPr marL="108000" indent="-108000">
              <a:spcBef>
                <a:spcPts val="300"/>
              </a:spcBef>
              <a:buFont typeface="Arial" panose="020B0604020202020204" pitchFamily="34" charset="0"/>
              <a:buChar char="•"/>
            </a:pPr>
            <a:r>
              <a:rPr lang="en-GB" altLang="en-US" sz="1000" dirty="0"/>
              <a:t>Figure left from Fossen, p.347: the relationship of quarter structures to the incremental strain ellipse</a:t>
            </a:r>
          </a:p>
          <a:p>
            <a:pPr marL="108000" indent="-108000">
              <a:spcBef>
                <a:spcPts val="300"/>
              </a:spcBef>
              <a:buFont typeface="Arial" panose="020B0604020202020204" pitchFamily="34" charset="0"/>
              <a:buChar char="•"/>
            </a:pPr>
            <a:r>
              <a:rPr lang="en-GB" altLang="en-US" sz="1000" dirty="0"/>
              <a:t>Photo bottom right (https://www.jpl.nasa.gov/spaceimages/details.php?id=PIA22942): Juno image (21 Dec 2018) of Oval BA and the Great Red Spot on Jupiter. Oval BA is an anticlockwise rotating massive storm that formed when three smaller spots merged in 2000. In 2005/6 its colour changed from white to the same red as the Great Red Spot but in 2018 its colour changed back to white. Note the quarter structures around the storm. There is an animation of the storm at https://www.jpl.nasa.gov/spaceimages/details.php?id=PIA22943</a:t>
            </a:r>
          </a:p>
          <a:p>
            <a:pPr marL="0" indent="0">
              <a:spcBef>
                <a:spcPts val="300"/>
              </a:spcBef>
              <a:buFont typeface="Arial" panose="020B0604020202020204" pitchFamily="34" charset="0"/>
              <a:buNone/>
            </a:pPr>
            <a:endParaRPr lang="en-GB" altLang="en-US" sz="1000" dirty="0"/>
          </a:p>
        </p:txBody>
      </p:sp>
    </p:spTree>
    <p:extLst>
      <p:ext uri="{BB962C8B-B14F-4D97-AF65-F5344CB8AC3E}">
        <p14:creationId xmlns:p14="http://schemas.microsoft.com/office/powerpoint/2010/main" val="52207373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a:extLst>
              <a:ext uri="{FF2B5EF4-FFF2-40B4-BE49-F238E27FC236}">
                <a16:creationId xmlns:a16="http://schemas.microsoft.com/office/drawing/2014/main" id="{0B68377F-C707-4CF3-BC18-49C12766F46D}"/>
              </a:ext>
            </a:extLst>
          </p:cNvPr>
          <p:cNvSpPr>
            <a:spLocks noGrp="1" noRot="1" noChangeAspect="1" noChangeArrowheads="1" noTextEdit="1"/>
          </p:cNvSpPr>
          <p:nvPr>
            <p:ph type="sldImg"/>
          </p:nvPr>
        </p:nvSpPr>
        <p:spPr>
          <a:ln/>
        </p:spPr>
      </p:sp>
      <p:sp>
        <p:nvSpPr>
          <p:cNvPr id="77827" name="Rectangle 3">
            <a:extLst>
              <a:ext uri="{FF2B5EF4-FFF2-40B4-BE49-F238E27FC236}">
                <a16:creationId xmlns:a16="http://schemas.microsoft.com/office/drawing/2014/main" id="{3C6F6EB4-B9CC-4BF8-8D52-EF53B2DF012C}"/>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Figure top right (from Fossen, p.346): rotated garnet (pink) with quartz fringes (blue). Note that quarter structures and shear bands (C´-surfaces) around the </a:t>
            </a:r>
            <a:r>
              <a:rPr lang="en-GB" altLang="en-US" sz="1000" dirty="0" err="1"/>
              <a:t>porphyroblast</a:t>
            </a:r>
            <a:r>
              <a:rPr lang="en-GB" altLang="en-US" sz="1000" dirty="0"/>
              <a:t> support the top-to-the-west shear sense that is implied by the asymmetry of the strain fringes (</a:t>
            </a:r>
            <a:r>
              <a:rPr lang="el-GR" altLang="en-US" sz="1000" dirty="0">
                <a:cs typeface="Times New Roman" panose="02020603050405020304" pitchFamily="18" charset="0"/>
              </a:rPr>
              <a:t>σ</a:t>
            </a:r>
            <a:r>
              <a:rPr lang="en-GB" altLang="en-US" sz="1000" dirty="0">
                <a:cs typeface="Times New Roman" panose="02020603050405020304" pitchFamily="18" charset="0"/>
              </a:rPr>
              <a:t>-type)</a:t>
            </a:r>
            <a:r>
              <a:rPr lang="en-GB" altLang="en-US" sz="1000" dirty="0"/>
              <a:t>. However, the inclusion trails within the </a:t>
            </a:r>
            <a:r>
              <a:rPr lang="en-GB" altLang="en-US" sz="1000" dirty="0" err="1"/>
              <a:t>porphyroblast</a:t>
            </a:r>
            <a:r>
              <a:rPr lang="en-GB" altLang="en-US" sz="1000" dirty="0"/>
              <a:t> seem to suggest that it has been rotated clockwise which would imply the opposite sense of shear. The interpretation of the inclusion trails is the one that we would have less confidence in here (see Slide 22)</a:t>
            </a:r>
          </a:p>
          <a:p>
            <a:pPr marL="108000" indent="-108000">
              <a:spcBef>
                <a:spcPts val="300"/>
              </a:spcBef>
              <a:buFont typeface="Arial" panose="020B0604020202020204" pitchFamily="34" charset="0"/>
              <a:buChar char="•"/>
            </a:pPr>
            <a:r>
              <a:rPr lang="en-GB" altLang="en-US" sz="1000" dirty="0"/>
              <a:t>Figure bottom left (from </a:t>
            </a:r>
            <a:r>
              <a:rPr lang="en-GB" altLang="en-US" sz="1000" dirty="0" err="1"/>
              <a:t>Passchier</a:t>
            </a:r>
            <a:r>
              <a:rPr lang="en-GB" altLang="en-US" sz="1000" dirty="0"/>
              <a:t> &amp; </a:t>
            </a:r>
            <a:r>
              <a:rPr lang="en-GB" altLang="en-US" sz="1000" dirty="0" err="1"/>
              <a:t>Trouw</a:t>
            </a:r>
            <a:r>
              <a:rPr lang="en-GB" altLang="en-US" sz="1000" dirty="0"/>
              <a:t>, Fig.6.24a): showing the development of fibres during progressive dextral simple shear</a:t>
            </a:r>
          </a:p>
          <a:p>
            <a:pPr marL="108000" indent="-108000">
              <a:spcBef>
                <a:spcPts val="300"/>
              </a:spcBef>
              <a:buFont typeface="Arial" panose="020B0604020202020204" pitchFamily="34" charset="0"/>
              <a:buChar char="•"/>
            </a:pPr>
            <a:r>
              <a:rPr lang="en-GB" altLang="en-US" sz="1000" dirty="0"/>
              <a:t>Photo bottom right (from </a:t>
            </a:r>
            <a:r>
              <a:rPr lang="en-GB" altLang="en-US" sz="1000" dirty="0" err="1"/>
              <a:t>Passchier</a:t>
            </a:r>
            <a:r>
              <a:rPr lang="en-GB" altLang="en-US" sz="1000" dirty="0"/>
              <a:t> &amp; </a:t>
            </a:r>
            <a:r>
              <a:rPr lang="en-GB" altLang="en-US" sz="1000" dirty="0" err="1"/>
              <a:t>Trouw</a:t>
            </a:r>
            <a:r>
              <a:rPr lang="en-GB" altLang="en-US" sz="1000" dirty="0"/>
              <a:t>, Fig.6.20a): quartz fibres developed around a spherical pyrite framboid in a </a:t>
            </a:r>
            <a:r>
              <a:rPr lang="en-GB" altLang="en-US" sz="1000" dirty="0" err="1"/>
              <a:t>chert</a:t>
            </a:r>
            <a:r>
              <a:rPr lang="en-GB" altLang="en-US" sz="1000" dirty="0"/>
              <a:t>, </a:t>
            </a:r>
            <a:r>
              <a:rPr lang="en-GB" altLang="en-US" sz="1000" dirty="0" err="1"/>
              <a:t>Yilgarn</a:t>
            </a:r>
            <a:r>
              <a:rPr lang="en-GB" altLang="en-US" sz="1000" dirty="0"/>
              <a:t> Craton, Western Australia. Note that a dextral shear sense follows from the orientation of the fibres closest to the pyrite (the latest stages of fibre growth are closest to the pyrite; the earliest formed parts of the fibre are furthest away and have been rotated). Fibrous strain fringes tend to form at rather lower strains and temperatures than those we have been predominantly considering so far</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a:extLst>
              <a:ext uri="{FF2B5EF4-FFF2-40B4-BE49-F238E27FC236}">
                <a16:creationId xmlns:a16="http://schemas.microsoft.com/office/drawing/2014/main" id="{EBE0AA8A-160A-459B-9F6F-560B0E2A4821}"/>
              </a:ext>
            </a:extLst>
          </p:cNvPr>
          <p:cNvSpPr>
            <a:spLocks noGrp="1" noRot="1" noChangeAspect="1" noChangeArrowheads="1" noTextEdit="1"/>
          </p:cNvSpPr>
          <p:nvPr>
            <p:ph type="sldImg"/>
          </p:nvPr>
        </p:nvSpPr>
        <p:spPr>
          <a:ln/>
        </p:spPr>
      </p:sp>
      <p:sp>
        <p:nvSpPr>
          <p:cNvPr id="78851" name="Rectangle 3">
            <a:extLst>
              <a:ext uri="{FF2B5EF4-FFF2-40B4-BE49-F238E27FC236}">
                <a16:creationId xmlns:a16="http://schemas.microsoft.com/office/drawing/2014/main" id="{72B28D01-3A31-4E5F-977A-8C791284A3E5}"/>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The use of fractures in this way should be with caution – fracture orientation may be partly controlled by the crystallography of the </a:t>
            </a:r>
            <a:r>
              <a:rPr lang="en-GB" altLang="en-US" sz="1000" dirty="0" err="1"/>
              <a:t>porphyroclasts</a:t>
            </a:r>
            <a:r>
              <a:rPr lang="en-GB" altLang="en-US" sz="1000" dirty="0"/>
              <a:t>, and also by factors such as </a:t>
            </a:r>
            <a:r>
              <a:rPr lang="en-GB" altLang="en-US" sz="1000" dirty="0" err="1"/>
              <a:t>porphyroclast</a:t>
            </a:r>
            <a:r>
              <a:rPr lang="en-GB" altLang="en-US" sz="1000" dirty="0"/>
              <a:t> shape that influence the stress distribution within the </a:t>
            </a:r>
            <a:r>
              <a:rPr lang="en-GB" altLang="en-US" sz="1000" dirty="0" err="1"/>
              <a:t>porphyroclast</a:t>
            </a:r>
            <a:r>
              <a:rPr lang="en-GB" altLang="en-US" sz="1000" dirty="0"/>
              <a:t> (we will introduce stress in Class 5)</a:t>
            </a:r>
          </a:p>
          <a:p>
            <a:pPr marL="108000" indent="-108000">
              <a:spcBef>
                <a:spcPts val="300"/>
              </a:spcBef>
              <a:buFont typeface="Arial" panose="020B0604020202020204" pitchFamily="34" charset="0"/>
              <a:buChar char="•"/>
            </a:pPr>
            <a:r>
              <a:rPr lang="en-GB" altLang="en-US" sz="1000" dirty="0"/>
              <a:t>Figure top left from Fossen, p.346</a:t>
            </a:r>
          </a:p>
          <a:p>
            <a:pPr marL="108000" indent="-108000">
              <a:spcBef>
                <a:spcPts val="300"/>
              </a:spcBef>
              <a:buFont typeface="Arial" panose="020B0604020202020204" pitchFamily="34" charset="0"/>
              <a:buChar char="•"/>
            </a:pPr>
            <a:r>
              <a:rPr lang="en-GB" altLang="en-US" sz="1000" dirty="0"/>
              <a:t>Figures middle left and bottom left from </a:t>
            </a:r>
            <a:r>
              <a:rPr lang="en-GB" altLang="en-US" sz="1000" dirty="0" err="1"/>
              <a:t>Passchier</a:t>
            </a:r>
            <a:r>
              <a:rPr lang="en-GB" altLang="en-US" sz="1000" dirty="0"/>
              <a:t> &amp; </a:t>
            </a:r>
            <a:r>
              <a:rPr lang="en-GB" altLang="en-US" sz="1000" dirty="0" err="1"/>
              <a:t>Trouw</a:t>
            </a:r>
            <a:r>
              <a:rPr lang="en-GB" altLang="en-US" sz="1000" dirty="0"/>
              <a:t>, Fig.5.43. For domino boudins note that the fragments rotate with the sense of shear (clockwise in this case)</a:t>
            </a:r>
          </a:p>
          <a:p>
            <a:pPr marL="108000" indent="-108000">
              <a:spcBef>
                <a:spcPts val="300"/>
              </a:spcBef>
              <a:buFont typeface="Arial" panose="020B0604020202020204" pitchFamily="34" charset="0"/>
              <a:buChar char="•"/>
            </a:pPr>
            <a:r>
              <a:rPr lang="en-GB" altLang="en-US" sz="1000" dirty="0"/>
              <a:t>Photo right (from </a:t>
            </a:r>
            <a:r>
              <a:rPr lang="en-GB" altLang="en-US" sz="1000" dirty="0" err="1"/>
              <a:t>Passchier</a:t>
            </a:r>
            <a:r>
              <a:rPr lang="en-GB" altLang="en-US" sz="1000" dirty="0"/>
              <a:t> &amp; </a:t>
            </a:r>
            <a:r>
              <a:rPr lang="en-GB" altLang="en-US" sz="1000" dirty="0" err="1"/>
              <a:t>Trouw</a:t>
            </a:r>
            <a:r>
              <a:rPr lang="en-GB" altLang="en-US" sz="1000" dirty="0"/>
              <a:t>, Fig.5.40): fractured feldspar </a:t>
            </a:r>
            <a:r>
              <a:rPr lang="en-GB" altLang="en-US" sz="1000" dirty="0" err="1"/>
              <a:t>porphyroclasts</a:t>
            </a:r>
            <a:r>
              <a:rPr lang="en-GB" altLang="en-US" sz="1000" dirty="0"/>
              <a:t> in a granite </a:t>
            </a:r>
            <a:r>
              <a:rPr lang="en-GB" altLang="en-US" sz="1000" dirty="0" err="1"/>
              <a:t>mylonite</a:t>
            </a:r>
            <a:r>
              <a:rPr lang="en-GB" altLang="en-US" sz="1000" dirty="0"/>
              <a:t>, St. </a:t>
            </a:r>
            <a:r>
              <a:rPr lang="en-GB" altLang="en-US" sz="1000" dirty="0" err="1"/>
              <a:t>Barthélemy</a:t>
            </a:r>
            <a:r>
              <a:rPr lang="en-GB" altLang="en-US" sz="1000" dirty="0"/>
              <a:t>, Pyrenees, France. Note the antithetic fractures in the </a:t>
            </a:r>
            <a:r>
              <a:rPr lang="en-GB" altLang="en-US" sz="1000" dirty="0" err="1"/>
              <a:t>porphyroclast</a:t>
            </a:r>
            <a:r>
              <a:rPr lang="en-GB" altLang="en-US" sz="1000" dirty="0"/>
              <a:t> top right, and synthetic fractures in the </a:t>
            </a:r>
            <a:r>
              <a:rPr lang="en-GB" altLang="en-US" sz="1000" dirty="0" err="1"/>
              <a:t>porphyroclast</a:t>
            </a:r>
            <a:r>
              <a:rPr lang="en-GB" altLang="en-US" sz="1000" dirty="0"/>
              <a:t> bottom left</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a:extLst>
              <a:ext uri="{FF2B5EF4-FFF2-40B4-BE49-F238E27FC236}">
                <a16:creationId xmlns:a16="http://schemas.microsoft.com/office/drawing/2014/main" id="{5103DEB1-F909-4997-B294-54447094E77E}"/>
              </a:ext>
            </a:extLst>
          </p:cNvPr>
          <p:cNvSpPr>
            <a:spLocks noGrp="1" noRot="1" noChangeAspect="1" noChangeArrowheads="1" noTextEdit="1"/>
          </p:cNvSpPr>
          <p:nvPr>
            <p:ph type="sldImg"/>
          </p:nvPr>
        </p:nvSpPr>
        <p:spPr>
          <a:ln/>
        </p:spPr>
      </p:sp>
      <p:sp>
        <p:nvSpPr>
          <p:cNvPr id="79875" name="Rectangle 3">
            <a:extLst>
              <a:ext uri="{FF2B5EF4-FFF2-40B4-BE49-F238E27FC236}">
                <a16:creationId xmlns:a16="http://schemas.microsoft.com/office/drawing/2014/main" id="{00FCEC44-3C26-42A0-8EE0-60EA72612A14}"/>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Figure left from </a:t>
            </a:r>
            <a:r>
              <a:rPr lang="en-GB" altLang="en-US" sz="1000" dirty="0" err="1"/>
              <a:t>Passchier</a:t>
            </a:r>
            <a:r>
              <a:rPr lang="en-GB" altLang="en-US" sz="1000" dirty="0"/>
              <a:t> &amp; </a:t>
            </a:r>
            <a:r>
              <a:rPr lang="en-GB" altLang="en-US" sz="1000" dirty="0" err="1"/>
              <a:t>Trouw</a:t>
            </a:r>
            <a:r>
              <a:rPr lang="en-GB" altLang="en-US" sz="1000" dirty="0"/>
              <a:t>, Fig.5.28a</a:t>
            </a:r>
          </a:p>
          <a:p>
            <a:pPr marL="108000" indent="-108000">
              <a:spcBef>
                <a:spcPts val="300"/>
              </a:spcBef>
              <a:buFont typeface="Arial" panose="020B0604020202020204" pitchFamily="34" charset="0"/>
              <a:buChar char="•"/>
            </a:pPr>
            <a:r>
              <a:rPr lang="en-GB" altLang="en-US" sz="1000" dirty="0"/>
              <a:t>Figure top right from </a:t>
            </a:r>
            <a:r>
              <a:rPr lang="en-GB" altLang="en-US" sz="1000" dirty="0" err="1"/>
              <a:t>Trouw</a:t>
            </a:r>
            <a:r>
              <a:rPr lang="en-GB" altLang="en-US" sz="1000" dirty="0"/>
              <a:t> </a:t>
            </a:r>
            <a:r>
              <a:rPr lang="en-GB" altLang="en-US" sz="1000" i="1" dirty="0"/>
              <a:t>et al.</a:t>
            </a:r>
            <a:r>
              <a:rPr lang="en-GB" altLang="en-US" sz="1000" dirty="0"/>
              <a:t>, 2009, </a:t>
            </a:r>
            <a:r>
              <a:rPr lang="en-GB" altLang="en-US" sz="1000" i="1" dirty="0"/>
              <a:t>Atlas of </a:t>
            </a:r>
            <a:r>
              <a:rPr lang="en-GB" altLang="en-US" sz="1000" i="1" dirty="0" err="1"/>
              <a:t>Mylonites</a:t>
            </a:r>
            <a:r>
              <a:rPr lang="en-GB" altLang="en-US" sz="1000" i="1" dirty="0"/>
              <a:t> and Related Microstructures</a:t>
            </a:r>
            <a:r>
              <a:rPr lang="en-GB" altLang="en-US" sz="1000" dirty="0"/>
              <a:t>, p.186</a:t>
            </a:r>
          </a:p>
          <a:p>
            <a:pPr marL="108000" indent="-108000">
              <a:spcBef>
                <a:spcPts val="300"/>
              </a:spcBef>
              <a:buFont typeface="Arial" panose="020B0604020202020204" pitchFamily="34" charset="0"/>
              <a:buChar char="•"/>
            </a:pPr>
            <a:r>
              <a:rPr lang="en-GB" altLang="en-US" sz="1000" dirty="0"/>
              <a:t>Photomicrograph bottom right (from </a:t>
            </a:r>
            <a:r>
              <a:rPr lang="en-GB" altLang="en-US" sz="1000" dirty="0" err="1"/>
              <a:t>Passchier</a:t>
            </a:r>
            <a:r>
              <a:rPr lang="en-GB" altLang="en-US" sz="1000" dirty="0"/>
              <a:t> &amp; </a:t>
            </a:r>
            <a:r>
              <a:rPr lang="en-GB" altLang="en-US" sz="1000" dirty="0" err="1"/>
              <a:t>Trouw</a:t>
            </a:r>
            <a:r>
              <a:rPr lang="en-GB" altLang="en-US" sz="1000" dirty="0"/>
              <a:t>, Fig.5.18): mica fish between C-type shear bands, mylonitic quartz mica schist, </a:t>
            </a:r>
            <a:r>
              <a:rPr lang="en-GB" altLang="en-US" sz="1000" dirty="0" err="1"/>
              <a:t>Varginha</a:t>
            </a:r>
            <a:r>
              <a:rPr lang="en-GB" altLang="en-US" sz="1000" dirty="0"/>
              <a:t>, Minas Gerais, Brazil</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a:extLst>
              <a:ext uri="{FF2B5EF4-FFF2-40B4-BE49-F238E27FC236}">
                <a16:creationId xmlns:a16="http://schemas.microsoft.com/office/drawing/2014/main" id="{E785FA91-F9EA-4790-B61C-1F79D27F90EB}"/>
              </a:ext>
            </a:extLst>
          </p:cNvPr>
          <p:cNvSpPr>
            <a:spLocks noGrp="1" noRot="1" noChangeAspect="1" noChangeArrowheads="1" noTextEdit="1"/>
          </p:cNvSpPr>
          <p:nvPr>
            <p:ph type="sldImg"/>
          </p:nvPr>
        </p:nvSpPr>
        <p:spPr>
          <a:ln/>
        </p:spPr>
      </p:sp>
      <p:sp>
        <p:nvSpPr>
          <p:cNvPr id="80899" name="Rectangle 3">
            <a:extLst>
              <a:ext uri="{FF2B5EF4-FFF2-40B4-BE49-F238E27FC236}">
                <a16:creationId xmlns:a16="http://schemas.microsoft.com/office/drawing/2014/main" id="{772EB9AB-A652-4AD7-B23E-0CBCF1E4C95E}"/>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Exercise 3 of the Class 3 practical on strain was a Fry strain analysis (see also Class 3 Slide 27)</a:t>
            </a:r>
          </a:p>
          <a:p>
            <a:pPr marL="108000" indent="-108000">
              <a:spcBef>
                <a:spcPts val="300"/>
              </a:spcBef>
              <a:buFont typeface="Arial" panose="020B0604020202020204" pitchFamily="34" charset="0"/>
              <a:buChar char="•"/>
            </a:pPr>
            <a:r>
              <a:rPr lang="en-GB" altLang="en-US" sz="1000" dirty="0"/>
              <a:t>There is a brief description of how LPOs form in the optional PowerPoint presentation (Slide 31)</a:t>
            </a:r>
          </a:p>
          <a:p>
            <a:pPr marL="108000" indent="-108000">
              <a:spcBef>
                <a:spcPts val="300"/>
              </a:spcBef>
              <a:buFont typeface="Arial" panose="020B0604020202020204" pitchFamily="34" charset="0"/>
              <a:buChar char="•"/>
            </a:pPr>
            <a:r>
              <a:rPr lang="en-GB" altLang="en-US" sz="1000" dirty="0"/>
              <a:t>Figure bottom left from Fossen, p.344. In this sketch the quartz aggregates are mostly shown as </a:t>
            </a:r>
            <a:r>
              <a:rPr lang="en-GB" altLang="en-US" sz="1000" dirty="0" err="1"/>
              <a:t>sigmoids</a:t>
            </a:r>
            <a:r>
              <a:rPr lang="en-GB" altLang="en-US" sz="1000" dirty="0"/>
              <a:t> with the individual grains within the </a:t>
            </a:r>
            <a:r>
              <a:rPr lang="en-GB" altLang="en-US" sz="1000" dirty="0" err="1"/>
              <a:t>sigmoids</a:t>
            </a:r>
            <a:r>
              <a:rPr lang="en-GB" altLang="en-US" sz="1000" dirty="0"/>
              <a:t> having a strong grain shape fabric</a:t>
            </a:r>
          </a:p>
          <a:p>
            <a:pPr marL="108000" indent="-108000">
              <a:spcBef>
                <a:spcPts val="300"/>
              </a:spcBef>
              <a:buFont typeface="Arial" panose="020B0604020202020204" pitchFamily="34" charset="0"/>
              <a:buChar char="•"/>
            </a:pPr>
            <a:r>
              <a:rPr lang="en-GB" altLang="en-US" sz="1000" dirty="0"/>
              <a:t>Photomicrograph (from </a:t>
            </a:r>
            <a:r>
              <a:rPr lang="en-GB" altLang="en-US" sz="1000" dirty="0" err="1"/>
              <a:t>Passchier</a:t>
            </a:r>
            <a:r>
              <a:rPr lang="en-GB" altLang="en-US" sz="1000" dirty="0"/>
              <a:t> &amp; </a:t>
            </a:r>
            <a:r>
              <a:rPr lang="en-GB" altLang="en-US" sz="1000" dirty="0" err="1"/>
              <a:t>Trouw</a:t>
            </a:r>
            <a:r>
              <a:rPr lang="en-GB" altLang="en-US" sz="1000" dirty="0"/>
              <a:t>, Fig.5.31): the grain shape fabric (defining an S-surface) implies a top-to-the-right shear sense (as do the Group 1 type mica fish), quartz </a:t>
            </a:r>
            <a:r>
              <a:rPr lang="en-GB" altLang="en-US" sz="1000" dirty="0" err="1"/>
              <a:t>mylonite</a:t>
            </a:r>
            <a:r>
              <a:rPr lang="en-GB" altLang="en-US" sz="1000" dirty="0"/>
              <a:t>, Minas Gerais, Brazil. Width of view 4 mm</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a:extLst>
              <a:ext uri="{FF2B5EF4-FFF2-40B4-BE49-F238E27FC236}">
                <a16:creationId xmlns:a16="http://schemas.microsoft.com/office/drawing/2014/main" id="{9B792E39-1F97-4711-9EB4-D95DE402FC60}"/>
              </a:ext>
            </a:extLst>
          </p:cNvPr>
          <p:cNvSpPr>
            <a:spLocks noGrp="1" noRot="1" noChangeAspect="1" noChangeArrowheads="1" noTextEdit="1"/>
          </p:cNvSpPr>
          <p:nvPr>
            <p:ph type="sldImg"/>
          </p:nvPr>
        </p:nvSpPr>
        <p:spPr>
          <a:ln/>
        </p:spPr>
      </p:sp>
      <p:sp>
        <p:nvSpPr>
          <p:cNvPr id="81923" name="Rectangle 3">
            <a:extLst>
              <a:ext uri="{FF2B5EF4-FFF2-40B4-BE49-F238E27FC236}">
                <a16:creationId xmlns:a16="http://schemas.microsoft.com/office/drawing/2014/main" id="{4CE6C477-8F94-41F7-A368-E226F5F05AD1}"/>
              </a:ext>
            </a:extLst>
          </p:cNvPr>
          <p:cNvSpPr>
            <a:spLocks noGrp="1" noChangeArrowheads="1"/>
          </p:cNvSpPr>
          <p:nvPr>
            <p:ph type="body" idx="1"/>
          </p:nvPr>
        </p:nvSpPr>
        <p:spPr>
          <a:noFill/>
        </p:spPr>
        <p:txBody>
          <a:bodyPr/>
          <a:lstStyle/>
          <a:p>
            <a:pPr marL="108000" indent="-108000" algn="l">
              <a:spcBef>
                <a:spcPts val="30"/>
              </a:spcBef>
              <a:buFont typeface="Arial" panose="020B0604020202020204" pitchFamily="34" charset="0"/>
              <a:buChar char="•"/>
            </a:pPr>
            <a:r>
              <a:rPr lang="en-GB" altLang="en-US" sz="1000" dirty="0"/>
              <a:t>For a rather technical commentary of the use of the various shear sense indicators described on Slides 22-30, see Zhang &amp; Fossen, 2020, </a:t>
            </a:r>
            <a:r>
              <a:rPr lang="en-GB" altLang="en-US" sz="1000" i="1" dirty="0"/>
              <a:t>Journal of Structural Geology</a:t>
            </a:r>
            <a:r>
              <a:rPr lang="en-GB" altLang="en-US" sz="1000" i="0" dirty="0"/>
              <a:t> 130, article 103893, </a:t>
            </a:r>
            <a:r>
              <a:rPr lang="en-GB" sz="1000" b="0" i="0" u="none" strike="noStrike" baseline="0" dirty="0">
                <a:solidFill>
                  <a:srgbClr val="000000"/>
                </a:solidFill>
                <a:latin typeface="Charis SIL"/>
              </a:rPr>
              <a:t>https://doi.org/10.1016/j.jsg.2019.103893. The authors suggest that if using mantled </a:t>
            </a:r>
            <a:r>
              <a:rPr lang="en-GB" sz="1000" b="0" i="0" u="none" strike="noStrike" baseline="0" dirty="0" err="1">
                <a:solidFill>
                  <a:srgbClr val="000000"/>
                </a:solidFill>
                <a:latin typeface="Charis SIL"/>
              </a:rPr>
              <a:t>porphyroclasts</a:t>
            </a:r>
            <a:r>
              <a:rPr lang="en-GB" sz="1000" b="0" i="0" u="none" strike="noStrike" baseline="0" dirty="0">
                <a:solidFill>
                  <a:srgbClr val="000000"/>
                </a:solidFill>
                <a:latin typeface="Charis SIL"/>
              </a:rPr>
              <a:t> for this purpose then only </a:t>
            </a:r>
            <a:r>
              <a:rPr lang="en-GB" sz="1000" b="0" i="0" u="none" strike="noStrike" baseline="0" dirty="0" err="1">
                <a:solidFill>
                  <a:srgbClr val="000000"/>
                </a:solidFill>
                <a:latin typeface="Charis SIL"/>
              </a:rPr>
              <a:t>porphyroclasts</a:t>
            </a:r>
            <a:r>
              <a:rPr lang="en-GB" sz="1000" b="0" i="0" u="none" strike="noStrike" baseline="0" dirty="0">
                <a:solidFill>
                  <a:srgbClr val="000000"/>
                </a:solidFill>
                <a:latin typeface="Charis SIL"/>
              </a:rPr>
              <a:t> that are approximately equant are really reliable, they urge caution in using mica-fish (Slide 29), and they are particularly </a:t>
            </a:r>
            <a:r>
              <a:rPr lang="en-GB" sz="1000" b="0" i="0" u="none" strike="noStrike" baseline="0" dirty="0" err="1">
                <a:solidFill>
                  <a:srgbClr val="000000"/>
                </a:solidFill>
                <a:latin typeface="Charis SIL"/>
              </a:rPr>
              <a:t>skeptical</a:t>
            </a:r>
            <a:r>
              <a:rPr lang="en-GB" sz="1000" b="0" i="0" u="none" strike="noStrike" baseline="0" dirty="0">
                <a:solidFill>
                  <a:srgbClr val="000000"/>
                </a:solidFill>
                <a:latin typeface="Charis SIL"/>
              </a:rPr>
              <a:t> about using fractured </a:t>
            </a:r>
            <a:r>
              <a:rPr lang="en-GB" sz="1000" b="0" i="0" u="none" strike="noStrike" baseline="0" dirty="0" err="1">
                <a:solidFill>
                  <a:srgbClr val="000000"/>
                </a:solidFill>
                <a:latin typeface="Charis SIL"/>
              </a:rPr>
              <a:t>porphyroclasts</a:t>
            </a:r>
            <a:r>
              <a:rPr lang="en-GB" sz="1000" b="0" i="0" u="none" strike="noStrike" baseline="0" dirty="0">
                <a:solidFill>
                  <a:srgbClr val="000000"/>
                </a:solidFill>
                <a:latin typeface="Charis SIL"/>
              </a:rPr>
              <a:t> (Slide 28). The key point is </a:t>
            </a:r>
            <a:r>
              <a:rPr lang="en-GB" sz="1000" b="0" i="1" u="none" strike="noStrike" baseline="0" dirty="0">
                <a:solidFill>
                  <a:srgbClr val="000000"/>
                </a:solidFill>
                <a:latin typeface="Charis SIL"/>
              </a:rPr>
              <a:t>don’t use shear sense indicators indiscriminately</a:t>
            </a:r>
            <a:r>
              <a:rPr lang="en-GB" sz="1000" b="0" i="0" u="none" strike="noStrike" baseline="0" dirty="0">
                <a:solidFill>
                  <a:srgbClr val="000000"/>
                </a:solidFill>
                <a:latin typeface="Charis SIL"/>
              </a:rPr>
              <a:t> – consider the context in which they occur, and utilize several criteria wherever possible</a:t>
            </a:r>
          </a:p>
          <a:p>
            <a:pPr marL="108000" indent="-108000">
              <a:spcBef>
                <a:spcPts val="300"/>
              </a:spcBef>
              <a:buFont typeface="Arial" panose="020B0604020202020204" pitchFamily="34" charset="0"/>
              <a:buChar char="•"/>
            </a:pPr>
            <a:r>
              <a:rPr lang="en-GB" altLang="en-US" sz="1000" dirty="0"/>
              <a:t>Figure from Fossen, p.342</a:t>
            </a:r>
          </a:p>
          <a:p>
            <a:pPr marL="108000" indent="-108000">
              <a:spcBef>
                <a:spcPts val="300"/>
              </a:spcBef>
              <a:buFont typeface="Arial" panose="020B0604020202020204" pitchFamily="34" charset="0"/>
              <a:buChar char="•"/>
            </a:pPr>
            <a:r>
              <a:rPr lang="en-GB" altLang="en-US" sz="1000" dirty="0"/>
              <a:t>Photo (Steve Covey-Crump): hand specimen from unknown location in the DEES collection. Are you happy that the shear sense is top to the left? Note the </a:t>
            </a:r>
            <a:r>
              <a:rPr lang="en-GB" altLang="en-US" sz="1000" dirty="0" err="1"/>
              <a:t>sigmoids</a:t>
            </a:r>
            <a:r>
              <a:rPr lang="en-GB" altLang="en-US" sz="1000" dirty="0"/>
              <a:t> / </a:t>
            </a:r>
            <a:r>
              <a:rPr lang="el-GR" altLang="en-US" sz="1000" dirty="0">
                <a:latin typeface="Cambria Math" panose="02040503050406030204" pitchFamily="18" charset="0"/>
                <a:ea typeface="Cambria Math" panose="02040503050406030204" pitchFamily="18" charset="0"/>
                <a:cs typeface="Times New Roman" panose="02020603050405020304" pitchFamily="18" charset="0"/>
              </a:rPr>
              <a:t>σ</a:t>
            </a:r>
            <a:r>
              <a:rPr lang="en-GB" altLang="en-US" sz="1000" dirty="0">
                <a:cs typeface="Times New Roman" panose="02020603050405020304" pitchFamily="18" charset="0"/>
              </a:rPr>
              <a:t>-</a:t>
            </a:r>
            <a:r>
              <a:rPr lang="en-GB" altLang="en-US" sz="1000" dirty="0" err="1">
                <a:cs typeface="Times New Roman" panose="02020603050405020304" pitchFamily="18" charset="0"/>
              </a:rPr>
              <a:t>porphyroclasts</a:t>
            </a:r>
            <a:r>
              <a:rPr lang="en-GB" altLang="en-US" sz="1000" dirty="0">
                <a:cs typeface="Times New Roman" panose="02020603050405020304" pitchFamily="18" charset="0"/>
              </a:rPr>
              <a:t>, mica fish, and C´-surfaces. Given the cautionary words in the first bullet of these notes, this is a sample that needs to be seen in context to be really confident that this shear sense interpretation is reliable</a:t>
            </a:r>
          </a:p>
          <a:p>
            <a:pPr marL="0" indent="0">
              <a:spcBef>
                <a:spcPts val="300"/>
              </a:spcBef>
              <a:buFont typeface="Arial" panose="020B0604020202020204" pitchFamily="34" charset="0"/>
              <a:buNone/>
            </a:pPr>
            <a:endParaRPr lang="el-GR" altLang="en-US" sz="1000" dirty="0">
              <a:cs typeface="Times New Roman" panose="02020603050405020304" pitchFamily="18"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08000" indent="-108000">
              <a:spcBef>
                <a:spcPts val="300"/>
              </a:spcBef>
              <a:buFont typeface="Arial" panose="020B0604020202020204" pitchFamily="34" charset="0"/>
              <a:buChar char="•"/>
            </a:pPr>
            <a:endParaRPr lang="en-GB" sz="1000" dirty="0"/>
          </a:p>
        </p:txBody>
      </p:sp>
      <p:sp>
        <p:nvSpPr>
          <p:cNvPr id="4" name="Slide Number Placeholder 3"/>
          <p:cNvSpPr>
            <a:spLocks noGrp="1"/>
          </p:cNvSpPr>
          <p:nvPr>
            <p:ph type="sldNum" sz="quarter" idx="5"/>
          </p:nvPr>
        </p:nvSpPr>
        <p:spPr/>
        <p:txBody>
          <a:bodyPr/>
          <a:lstStyle/>
          <a:p>
            <a:fld id="{C501626C-B5A0-495B-BE4C-E6C934511C75}" type="slidenum">
              <a:rPr lang="en-GB" altLang="en-US" smtClean="0"/>
              <a:pPr/>
              <a:t>32</a:t>
            </a:fld>
            <a:endParaRPr lang="en-GB" altLang="en-US"/>
          </a:p>
        </p:txBody>
      </p:sp>
    </p:spTree>
    <p:extLst>
      <p:ext uri="{BB962C8B-B14F-4D97-AF65-F5344CB8AC3E}">
        <p14:creationId xmlns:p14="http://schemas.microsoft.com/office/powerpoint/2010/main" val="32845460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a:extLst>
              <a:ext uri="{FF2B5EF4-FFF2-40B4-BE49-F238E27FC236}">
                <a16:creationId xmlns:a16="http://schemas.microsoft.com/office/drawing/2014/main" id="{833D16F7-CDD0-4882-9EAC-15498ED3ED4F}"/>
              </a:ext>
            </a:extLst>
          </p:cNvPr>
          <p:cNvSpPr>
            <a:spLocks noGrp="1" noRot="1" noChangeAspect="1" noChangeArrowheads="1" noTextEdit="1"/>
          </p:cNvSpPr>
          <p:nvPr>
            <p:ph type="sldImg"/>
          </p:nvPr>
        </p:nvSpPr>
        <p:spPr>
          <a:ln/>
        </p:spPr>
      </p:sp>
      <p:sp>
        <p:nvSpPr>
          <p:cNvPr id="82947" name="Rectangle 3">
            <a:extLst>
              <a:ext uri="{FF2B5EF4-FFF2-40B4-BE49-F238E27FC236}">
                <a16:creationId xmlns:a16="http://schemas.microsoft.com/office/drawing/2014/main" id="{4AA5EC9F-D470-460C-957E-C88BD454F94B}"/>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A helpful paper that attempts to integrate the various mesoscale and microscale deformation features of semi-brittle shear zones is Knipe &amp; White, 1979, </a:t>
            </a:r>
            <a:r>
              <a:rPr lang="en-GB" altLang="en-US" sz="1000" i="1" dirty="0"/>
              <a:t>Journal of Structural Geology</a:t>
            </a:r>
            <a:r>
              <a:rPr lang="en-GB" altLang="en-US" sz="1000" dirty="0"/>
              <a:t> 1: 53-66, </a:t>
            </a:r>
            <a:r>
              <a:rPr lang="en-GB" sz="1000" dirty="0"/>
              <a:t>https://doi.org/10.1016/0191-8141(79)90021-X</a:t>
            </a:r>
            <a:r>
              <a:rPr lang="en-GB" altLang="en-US" sz="1000" dirty="0"/>
              <a:t>. Note that many of the microstructural features require some background knowledge of the microscale processes by which rocks deform (see optional PowerPoint presentation) </a:t>
            </a:r>
          </a:p>
          <a:p>
            <a:pPr marL="108000" indent="-108000">
              <a:spcBef>
                <a:spcPts val="300"/>
              </a:spcBef>
              <a:buFont typeface="Arial" panose="020B0604020202020204" pitchFamily="34" charset="0"/>
              <a:buChar char="•"/>
            </a:pPr>
            <a:r>
              <a:rPr lang="en-GB" altLang="en-US" sz="1000" dirty="0"/>
              <a:t>Photo top right (from blogs.agu.org/</a:t>
            </a:r>
            <a:r>
              <a:rPr lang="en-GB" altLang="en-US" sz="1000" dirty="0" err="1"/>
              <a:t>mountainbeltway</a:t>
            </a:r>
            <a:r>
              <a:rPr lang="en-GB" altLang="en-US" sz="1000" dirty="0"/>
              <a:t>/2012/04/11/blue-ridge-thrust-fault-field-trip/): S-C </a:t>
            </a:r>
            <a:r>
              <a:rPr lang="en-GB" altLang="en-US" sz="1000" dirty="0" err="1"/>
              <a:t>mylonites</a:t>
            </a:r>
            <a:r>
              <a:rPr lang="en-GB" altLang="en-US" sz="1000" dirty="0"/>
              <a:t> developed, at least partly, under semi-brittle conditions, Blue Ridge thrust, North Virginia</a:t>
            </a:r>
          </a:p>
          <a:p>
            <a:pPr marL="108000" indent="-108000">
              <a:spcBef>
                <a:spcPts val="300"/>
              </a:spcBef>
              <a:buFont typeface="Arial" panose="020B0604020202020204" pitchFamily="34" charset="0"/>
              <a:buChar char="•"/>
            </a:pPr>
            <a:r>
              <a:rPr lang="en-GB" altLang="en-US" sz="1000" dirty="0"/>
              <a:t>Photo bottom left (Steve Covey-Crump): </a:t>
            </a:r>
            <a:r>
              <a:rPr lang="en-GB" altLang="en-US" sz="1000" dirty="0" err="1"/>
              <a:t>en</a:t>
            </a:r>
            <a:r>
              <a:rPr lang="en-GB" altLang="en-US" sz="1000" dirty="0"/>
              <a:t> </a:t>
            </a:r>
            <a:r>
              <a:rPr lang="en-GB" altLang="en-US" sz="1000" dirty="0" err="1"/>
              <a:t>échelon</a:t>
            </a:r>
            <a:r>
              <a:rPr lang="en-GB" altLang="en-US" sz="1000" dirty="0"/>
              <a:t> tension gash arrays in Carboniferous limestones, West Angle Bay, Pembrokeshire</a:t>
            </a:r>
          </a:p>
          <a:p>
            <a:pPr marL="0" indent="0">
              <a:spcBef>
                <a:spcPts val="300"/>
              </a:spcBef>
              <a:buFont typeface="Arial" panose="020B0604020202020204" pitchFamily="34" charset="0"/>
              <a:buNone/>
            </a:pPr>
            <a:endParaRPr lang="en-GB" altLang="en-US" sz="1000" dirty="0"/>
          </a:p>
        </p:txBody>
      </p:sp>
    </p:spTree>
    <p:extLst>
      <p:ext uri="{BB962C8B-B14F-4D97-AF65-F5344CB8AC3E}">
        <p14:creationId xmlns:p14="http://schemas.microsoft.com/office/powerpoint/2010/main" val="91408254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a:extLst>
              <a:ext uri="{FF2B5EF4-FFF2-40B4-BE49-F238E27FC236}">
                <a16:creationId xmlns:a16="http://schemas.microsoft.com/office/drawing/2014/main" id="{8EFC22E6-BD00-4B2F-A0E8-4564ABA4A933}"/>
              </a:ext>
            </a:extLst>
          </p:cNvPr>
          <p:cNvSpPr>
            <a:spLocks noGrp="1" noRot="1" noChangeAspect="1" noChangeArrowheads="1" noTextEdit="1"/>
          </p:cNvSpPr>
          <p:nvPr>
            <p:ph type="sldImg"/>
          </p:nvPr>
        </p:nvSpPr>
        <p:spPr>
          <a:ln/>
        </p:spPr>
      </p:sp>
      <p:sp>
        <p:nvSpPr>
          <p:cNvPr id="83971" name="Rectangle 3">
            <a:extLst>
              <a:ext uri="{FF2B5EF4-FFF2-40B4-BE49-F238E27FC236}">
                <a16:creationId xmlns:a16="http://schemas.microsoft.com/office/drawing/2014/main" id="{DC0CDFF0-7B73-4BD3-A364-0F2C31669ECE}"/>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On the orientation of tension gashes in shear zones, see the left-hand diagram in the bottom left figure. In response to top to the right shearing, the maximum shortening direction is indicated by the two arrows drawn parallel to the veins; the veins open in a direction at right angles to this direction</a:t>
            </a:r>
          </a:p>
          <a:p>
            <a:pPr marL="108000" indent="-108000">
              <a:spcBef>
                <a:spcPts val="300"/>
              </a:spcBef>
              <a:buFont typeface="Arial" panose="020B0604020202020204" pitchFamily="34" charset="0"/>
              <a:buChar char="•"/>
            </a:pPr>
            <a:r>
              <a:rPr lang="en-GB" altLang="en-US" sz="1000" dirty="0"/>
              <a:t>Four mechanisms have been proposed for the formation of </a:t>
            </a:r>
            <a:r>
              <a:rPr lang="en-GB" altLang="en-US" sz="1000" dirty="0" err="1"/>
              <a:t>en</a:t>
            </a:r>
            <a:r>
              <a:rPr lang="en-GB" altLang="en-US" sz="1000" dirty="0"/>
              <a:t> </a:t>
            </a:r>
            <a:r>
              <a:rPr lang="en-GB" altLang="en-US" sz="1000" dirty="0" err="1"/>
              <a:t>échelon</a:t>
            </a:r>
            <a:r>
              <a:rPr lang="en-GB" altLang="en-US" sz="1000" dirty="0"/>
              <a:t> vein arrays – for a brief summary, see Bons </a:t>
            </a:r>
            <a:r>
              <a:rPr lang="en-GB" altLang="en-US" sz="1000" i="1" dirty="0"/>
              <a:t>et al.</a:t>
            </a:r>
            <a:r>
              <a:rPr lang="en-GB" altLang="en-US" sz="1000" dirty="0"/>
              <a:t>, 2012, </a:t>
            </a:r>
            <a:r>
              <a:rPr lang="en-GB" altLang="en-US" sz="1000" i="1" dirty="0"/>
              <a:t>Journal of Structural Geology</a:t>
            </a:r>
            <a:r>
              <a:rPr lang="en-GB" altLang="en-US" sz="1000" dirty="0"/>
              <a:t> 43: 33-62 (p.39), </a:t>
            </a:r>
            <a:r>
              <a:rPr lang="en-GB" sz="1000" dirty="0"/>
              <a:t>https://doi.org/10.1016/j.jsg.2012.07.005</a:t>
            </a:r>
            <a:r>
              <a:rPr lang="en-GB" altLang="en-US" sz="1000" dirty="0"/>
              <a:t>. The development of sigmoidal tension gashes is discussed by Lisle, 2013, </a:t>
            </a:r>
            <a:r>
              <a:rPr lang="en-GB" altLang="en-US" sz="1000" i="1" dirty="0"/>
              <a:t>Journal of Structural Geology</a:t>
            </a:r>
            <a:r>
              <a:rPr lang="en-GB" altLang="en-US" sz="1000" dirty="0"/>
              <a:t> 50: 35-43. </a:t>
            </a:r>
            <a:r>
              <a:rPr lang="en-GB" sz="1000" dirty="0"/>
              <a:t>https://doi.org/10.1016/j.jsg.2012.08.002</a:t>
            </a:r>
            <a:r>
              <a:rPr lang="en-GB" altLang="en-US" sz="1000" dirty="0"/>
              <a:t>. We will consider the mechanics of vein formation in Class 6</a:t>
            </a:r>
          </a:p>
          <a:p>
            <a:pPr marL="108000" indent="-108000">
              <a:spcBef>
                <a:spcPts val="300"/>
              </a:spcBef>
              <a:buFont typeface="Arial" panose="020B0604020202020204" pitchFamily="34" charset="0"/>
              <a:buChar char="•"/>
            </a:pPr>
            <a:r>
              <a:rPr lang="en-GB" altLang="en-US" sz="1000" dirty="0"/>
              <a:t>Photo right (Steve Covey-Crump): conjugate arrays of tension gashes, </a:t>
            </a:r>
            <a:r>
              <a:rPr lang="en-GB" altLang="en-US" sz="1000" dirty="0" err="1"/>
              <a:t>Marloes</a:t>
            </a:r>
            <a:r>
              <a:rPr lang="en-GB" altLang="en-US" sz="1000" dirty="0"/>
              <a:t> Sands, Pembrokeshire. The sense of shear is indicated. Note also the formation and intensification of a pressure solution cleavage at </a:t>
            </a:r>
            <a:r>
              <a:rPr lang="en-GB" altLang="en-US" sz="1000" spc="150" baseline="0" dirty="0"/>
              <a:t>~</a:t>
            </a:r>
            <a:r>
              <a:rPr lang="en-GB" altLang="en-US" sz="1000" dirty="0"/>
              <a:t>90° to the gashes. Pressure solution is generally an important process in shear zones formed at relatively low metamorphic grades (as discussed further in the optional PowerPoint presentation)</a:t>
            </a:r>
          </a:p>
          <a:p>
            <a:pPr marL="108000" indent="-108000">
              <a:spcBef>
                <a:spcPts val="300"/>
              </a:spcBef>
              <a:buFont typeface="Arial" panose="020B0604020202020204" pitchFamily="34" charset="0"/>
              <a:buChar char="•"/>
            </a:pPr>
            <a:r>
              <a:rPr lang="en-GB" altLang="en-US" sz="1000" dirty="0"/>
              <a:t>Figure top left from </a:t>
            </a:r>
            <a:r>
              <a:rPr lang="en-GB" altLang="en-US" sz="1000" dirty="0" err="1"/>
              <a:t>Passchier</a:t>
            </a:r>
            <a:r>
              <a:rPr lang="en-GB" altLang="en-US" sz="1000" dirty="0"/>
              <a:t> &amp; </a:t>
            </a:r>
            <a:r>
              <a:rPr lang="en-GB" altLang="en-US" sz="1000" dirty="0" err="1"/>
              <a:t>Trouw</a:t>
            </a:r>
            <a:r>
              <a:rPr lang="en-GB" altLang="en-US" sz="1000" dirty="0"/>
              <a:t>, Fig.6.16a</a:t>
            </a:r>
          </a:p>
          <a:p>
            <a:pPr marL="108000" indent="-108000">
              <a:spcBef>
                <a:spcPts val="300"/>
              </a:spcBef>
              <a:buFont typeface="Arial" panose="020B0604020202020204" pitchFamily="34" charset="0"/>
              <a:buChar char="•"/>
            </a:pPr>
            <a:r>
              <a:rPr lang="en-GB" altLang="en-US" sz="1000" dirty="0"/>
              <a:t>Figure bottom left from Twiss &amp; </a:t>
            </a:r>
            <a:r>
              <a:rPr lang="en-GB" altLang="en-US" sz="1000" dirty="0" err="1"/>
              <a:t>Moores</a:t>
            </a:r>
            <a:r>
              <a:rPr lang="en-GB" altLang="en-US" sz="1000" dirty="0"/>
              <a:t>, 2007, </a:t>
            </a:r>
            <a:r>
              <a:rPr lang="en-GB" altLang="en-US" sz="1000" i="1" dirty="0"/>
              <a:t>Structural Geology</a:t>
            </a:r>
            <a:r>
              <a:rPr lang="en-GB" altLang="en-US" sz="1000" dirty="0"/>
              <a:t> (2</a:t>
            </a:r>
            <a:r>
              <a:rPr lang="en-GB" altLang="en-US" sz="1000" baseline="30000" dirty="0"/>
              <a:t>nd</a:t>
            </a:r>
            <a:r>
              <a:rPr lang="en-GB" altLang="en-US" sz="1000" dirty="0"/>
              <a:t> edition), p.447</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a:extLst>
              <a:ext uri="{FF2B5EF4-FFF2-40B4-BE49-F238E27FC236}">
                <a16:creationId xmlns:a16="http://schemas.microsoft.com/office/drawing/2014/main" id="{3D296EBA-A2BD-4EE6-B6F2-78F732993D08}"/>
              </a:ext>
            </a:extLst>
          </p:cNvPr>
          <p:cNvSpPr>
            <a:spLocks noGrp="1" noRot="1" noChangeAspect="1" noChangeArrowheads="1" noTextEdit="1"/>
          </p:cNvSpPr>
          <p:nvPr>
            <p:ph type="sldImg"/>
          </p:nvPr>
        </p:nvSpPr>
        <p:spPr>
          <a:ln/>
        </p:spPr>
      </p:sp>
      <p:sp>
        <p:nvSpPr>
          <p:cNvPr id="84995" name="Rectangle 3">
            <a:extLst>
              <a:ext uri="{FF2B5EF4-FFF2-40B4-BE49-F238E27FC236}">
                <a16:creationId xmlns:a16="http://schemas.microsoft.com/office/drawing/2014/main" id="{EED45EB1-7BED-4DC6-A49C-AD0EAE87BE85}"/>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Photo left (Fossen, one of the extra figures on the web-site for the book, folk.uib.no/</a:t>
            </a:r>
            <a:r>
              <a:rPr lang="en-GB" altLang="en-US" sz="1000" dirty="0" err="1"/>
              <a:t>nglhe</a:t>
            </a:r>
            <a:r>
              <a:rPr lang="en-GB" altLang="en-US" sz="1000" dirty="0"/>
              <a:t>/StructuralGeoBook.html): </a:t>
            </a:r>
            <a:r>
              <a:rPr lang="en-GB" altLang="en-US" sz="1000" dirty="0" err="1"/>
              <a:t>en</a:t>
            </a:r>
            <a:r>
              <a:rPr lang="en-GB" altLang="en-US" sz="1000" dirty="0"/>
              <a:t> </a:t>
            </a:r>
            <a:r>
              <a:rPr lang="en-GB" altLang="en-US" sz="1000" dirty="0" err="1"/>
              <a:t>échelon</a:t>
            </a:r>
            <a:r>
              <a:rPr lang="en-GB" altLang="en-US" sz="1000" dirty="0"/>
              <a:t> fracture set, Pike River Lake, Minnesota. Note that the deflection of the layering also gives the sense of shear</a:t>
            </a:r>
          </a:p>
          <a:p>
            <a:pPr marL="108000" indent="-108000">
              <a:spcBef>
                <a:spcPts val="300"/>
              </a:spcBef>
              <a:buFont typeface="Arial" panose="020B0604020202020204" pitchFamily="34" charset="0"/>
              <a:buChar char="•"/>
            </a:pPr>
            <a:r>
              <a:rPr lang="en-GB" altLang="en-US" sz="1000" dirty="0"/>
              <a:t>Photo top right (Steve Covey-Crump): thickening gashes, North Devon</a:t>
            </a:r>
          </a:p>
          <a:p>
            <a:pPr marL="108000" indent="-108000">
              <a:spcBef>
                <a:spcPts val="300"/>
              </a:spcBef>
              <a:buFont typeface="Arial" panose="020B0604020202020204" pitchFamily="34" charset="0"/>
              <a:buChar char="•"/>
            </a:pPr>
            <a:r>
              <a:rPr lang="en-GB" altLang="en-US" sz="1000" dirty="0"/>
              <a:t>Photo bottom right (Steve Covey-Crump): sigmoidal gashes at </a:t>
            </a:r>
            <a:r>
              <a:rPr lang="en-GB" altLang="en-US" sz="1000" dirty="0" err="1"/>
              <a:t>Marloes</a:t>
            </a:r>
            <a:r>
              <a:rPr lang="en-GB" altLang="en-US" sz="1000" dirty="0"/>
              <a:t> Sands, Pembrokeshire</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a:extLst>
              <a:ext uri="{FF2B5EF4-FFF2-40B4-BE49-F238E27FC236}">
                <a16:creationId xmlns:a16="http://schemas.microsoft.com/office/drawing/2014/main" id="{BABF9195-2B47-444B-ABC9-878C393E1E79}"/>
              </a:ext>
            </a:extLst>
          </p:cNvPr>
          <p:cNvSpPr>
            <a:spLocks noGrp="1" noRot="1" noChangeAspect="1" noChangeArrowheads="1" noTextEdit="1"/>
          </p:cNvSpPr>
          <p:nvPr>
            <p:ph type="sldImg"/>
          </p:nvPr>
        </p:nvSpPr>
        <p:spPr>
          <a:ln/>
        </p:spPr>
      </p:sp>
      <p:sp>
        <p:nvSpPr>
          <p:cNvPr id="86019" name="Rectangle 3">
            <a:extLst>
              <a:ext uri="{FF2B5EF4-FFF2-40B4-BE49-F238E27FC236}">
                <a16:creationId xmlns:a16="http://schemas.microsoft.com/office/drawing/2014/main" id="{420F8B68-BA65-4EDF-9141-406E21B21111}"/>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Photo top left (Steve Covey-Crump): surface of the road near Senez, </a:t>
            </a:r>
            <a:r>
              <a:rPr lang="en-GB" altLang="en-US" sz="1000" dirty="0" err="1"/>
              <a:t>Barrême</a:t>
            </a:r>
            <a:r>
              <a:rPr lang="en-GB" altLang="en-US" sz="1000" dirty="0"/>
              <a:t> Basin, France. Photo middle left (Steve Covey-Crump): road surface at Mam Tor – note the offset of the road centre markers confirms the indicated sense of shear. Both examples are of </a:t>
            </a:r>
            <a:r>
              <a:rPr lang="en-GB" altLang="en-US" sz="1000" dirty="0" err="1"/>
              <a:t>transtensional</a:t>
            </a:r>
            <a:r>
              <a:rPr lang="en-GB" altLang="en-US" sz="1000" dirty="0"/>
              <a:t> dextral shear zones in which the component of layer normal extension arises because the land is slipping away towards the top-right corner of the images (collapse of the edge of the road at </a:t>
            </a:r>
            <a:r>
              <a:rPr lang="en-GB" altLang="en-US" sz="1000" dirty="0" err="1"/>
              <a:t>Senez</a:t>
            </a:r>
            <a:r>
              <a:rPr lang="en-GB" altLang="en-US" sz="1000" dirty="0"/>
              <a:t>; movement of the landslip at Mam Tor)</a:t>
            </a:r>
          </a:p>
          <a:p>
            <a:pPr marL="108000" indent="-108000">
              <a:spcBef>
                <a:spcPts val="300"/>
              </a:spcBef>
              <a:buFont typeface="Arial" panose="020B0604020202020204" pitchFamily="34" charset="0"/>
              <a:buChar char="•"/>
            </a:pPr>
            <a:r>
              <a:rPr lang="en-GB" altLang="en-US" sz="1000" dirty="0"/>
              <a:t>Figures bottom from Twiss &amp; </a:t>
            </a:r>
            <a:r>
              <a:rPr lang="en-GB" altLang="en-US" sz="1000" dirty="0" err="1"/>
              <a:t>Moores</a:t>
            </a:r>
            <a:r>
              <a:rPr lang="en-GB" altLang="en-US" sz="1000" dirty="0"/>
              <a:t>, 2007, </a:t>
            </a:r>
            <a:r>
              <a:rPr lang="en-GB" altLang="en-US" sz="1000" i="1" dirty="0"/>
              <a:t>Structural Geology</a:t>
            </a:r>
            <a:r>
              <a:rPr lang="en-GB" altLang="en-US" sz="1000" dirty="0"/>
              <a:t> (2</a:t>
            </a:r>
            <a:r>
              <a:rPr lang="en-GB" altLang="en-US" sz="1000" baseline="30000" dirty="0"/>
              <a:t>nd</a:t>
            </a:r>
            <a:r>
              <a:rPr lang="en-GB" altLang="en-US" sz="1000" dirty="0"/>
              <a:t> edition), p.446</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a:extLst>
              <a:ext uri="{FF2B5EF4-FFF2-40B4-BE49-F238E27FC236}">
                <a16:creationId xmlns:a16="http://schemas.microsoft.com/office/drawing/2014/main" id="{296E07E0-B461-4FAF-9584-3199CC405558}"/>
              </a:ext>
            </a:extLst>
          </p:cNvPr>
          <p:cNvSpPr>
            <a:spLocks noGrp="1" noRot="1" noChangeAspect="1" noChangeArrowheads="1" noTextEdit="1"/>
          </p:cNvSpPr>
          <p:nvPr>
            <p:ph type="sldImg"/>
          </p:nvPr>
        </p:nvSpPr>
        <p:spPr>
          <a:ln/>
        </p:spPr>
      </p:sp>
      <p:sp>
        <p:nvSpPr>
          <p:cNvPr id="87043" name="Rectangle 3">
            <a:extLst>
              <a:ext uri="{FF2B5EF4-FFF2-40B4-BE49-F238E27FC236}">
                <a16:creationId xmlns:a16="http://schemas.microsoft.com/office/drawing/2014/main" id="{D34BE306-7AD9-4819-AD31-AF06CD89322D}"/>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For veins in which the fibres track the orientation of the incremental strain ellipsoid as the fracture opens, whether the fibres grew inwards as the fracture opened (syntaxial) or outwards as the fracture opened (</a:t>
            </a:r>
            <a:r>
              <a:rPr lang="en-GB" altLang="en-US" sz="1000" dirty="0" err="1"/>
              <a:t>antitaxial</a:t>
            </a:r>
            <a:r>
              <a:rPr lang="en-GB" altLang="en-US" sz="1000" dirty="0"/>
              <a:t>) may be assessed by observing which part of the fibre is at </a:t>
            </a:r>
            <a:r>
              <a:rPr lang="en-GB" altLang="en-US" sz="1000" spc="100" baseline="0" dirty="0"/>
              <a:t>~</a:t>
            </a:r>
            <a:r>
              <a:rPr lang="en-GB" altLang="en-US" sz="1000" dirty="0"/>
              <a:t>45° to the fracture (vein) walls – the part that is at </a:t>
            </a:r>
            <a:r>
              <a:rPr lang="en-GB" altLang="en-US" sz="1000" spc="100" baseline="0" dirty="0"/>
              <a:t>~</a:t>
            </a:r>
            <a:r>
              <a:rPr lang="en-GB" altLang="en-US" sz="1000" dirty="0"/>
              <a:t>45° is the last to form</a:t>
            </a:r>
          </a:p>
          <a:p>
            <a:pPr marL="108000" indent="-108000">
              <a:spcBef>
                <a:spcPts val="300"/>
              </a:spcBef>
              <a:buFont typeface="Arial" panose="020B0604020202020204" pitchFamily="34" charset="0"/>
              <a:buChar char="•"/>
            </a:pPr>
            <a:r>
              <a:rPr lang="en-GB" altLang="en-US" sz="1000" dirty="0"/>
              <a:t>Tectonic veins can provide information about </a:t>
            </a:r>
            <a:r>
              <a:rPr lang="en-GB" altLang="en-US" sz="1000" dirty="0" err="1"/>
              <a:t>palaeostress</a:t>
            </a:r>
            <a:r>
              <a:rPr lang="en-GB" altLang="en-US" sz="1000" dirty="0"/>
              <a:t> fields, the kinematics of deformation (pure shear, simple shear or some combination), the metamorphic conditions (temperature, pressure, fluid pressure), and the composition/source of the fluids. Consequently, they are tremendously useful and should not be overlooked when mapping. For a helpful review of many of these aspects of veins, see Bons </a:t>
            </a:r>
            <a:r>
              <a:rPr lang="en-GB" altLang="en-US" sz="1000" i="1" dirty="0"/>
              <a:t>et al.</a:t>
            </a:r>
            <a:r>
              <a:rPr lang="en-GB" altLang="en-US" sz="1000" dirty="0"/>
              <a:t>, 2012, </a:t>
            </a:r>
            <a:r>
              <a:rPr lang="en-GB" altLang="en-US" sz="1000" i="1" dirty="0"/>
              <a:t>Journal of Structural Geology</a:t>
            </a:r>
            <a:r>
              <a:rPr lang="en-GB" altLang="en-US" sz="1000" dirty="0"/>
              <a:t> 43: 33-62, </a:t>
            </a:r>
            <a:r>
              <a:rPr lang="en-GB" sz="1000" dirty="0"/>
              <a:t>https://doi.org/10.1016/j.jsg.2012.07.005</a:t>
            </a:r>
            <a:r>
              <a:rPr lang="en-GB" altLang="en-US" sz="1000" dirty="0"/>
              <a:t>. The subject is also thoroughly discussed by </a:t>
            </a:r>
            <a:r>
              <a:rPr lang="en-GB" altLang="en-US" sz="1000" dirty="0" err="1"/>
              <a:t>Passchier</a:t>
            </a:r>
            <a:r>
              <a:rPr lang="en-GB" altLang="en-US" sz="1000" dirty="0"/>
              <a:t> &amp; </a:t>
            </a:r>
            <a:r>
              <a:rPr lang="en-GB" altLang="en-US" sz="1000" dirty="0" err="1"/>
              <a:t>Trouw</a:t>
            </a:r>
            <a:r>
              <a:rPr lang="en-GB" altLang="en-US" sz="1000" dirty="0"/>
              <a:t>, Chapter 6</a:t>
            </a:r>
          </a:p>
          <a:p>
            <a:pPr marL="108000" indent="-108000">
              <a:spcBef>
                <a:spcPts val="300"/>
              </a:spcBef>
              <a:buFont typeface="Arial" panose="020B0604020202020204" pitchFamily="34" charset="0"/>
              <a:buChar char="•"/>
            </a:pPr>
            <a:r>
              <a:rPr lang="en-GB" altLang="en-US" sz="1000" dirty="0"/>
              <a:t>Photo top right (from </a:t>
            </a:r>
            <a:r>
              <a:rPr lang="en-GB" altLang="en-US" sz="1000" dirty="0" err="1"/>
              <a:t>Passchier</a:t>
            </a:r>
            <a:r>
              <a:rPr lang="en-GB" altLang="en-US" sz="1000" dirty="0"/>
              <a:t> &amp; </a:t>
            </a:r>
            <a:r>
              <a:rPr lang="en-GB" altLang="en-US" sz="1000" dirty="0" err="1"/>
              <a:t>Trouw</a:t>
            </a:r>
            <a:r>
              <a:rPr lang="en-GB" altLang="en-US" sz="1000" dirty="0"/>
              <a:t>, Fig.6.2): fibrous calcite vein in a slate, Appalachians, New York. This is an </a:t>
            </a:r>
            <a:r>
              <a:rPr lang="en-GB" altLang="en-US" sz="1000" dirty="0" err="1"/>
              <a:t>antitaxial</a:t>
            </a:r>
            <a:r>
              <a:rPr lang="en-GB" altLang="en-US" sz="1000" dirty="0"/>
              <a:t> vein – note the sense of fibre curvature and the thin median line through the middle of the vein</a:t>
            </a:r>
          </a:p>
          <a:p>
            <a:pPr marL="108000" indent="-108000">
              <a:spcBef>
                <a:spcPts val="300"/>
              </a:spcBef>
              <a:buFont typeface="Arial" panose="020B0604020202020204" pitchFamily="34" charset="0"/>
              <a:buChar char="•"/>
            </a:pPr>
            <a:r>
              <a:rPr lang="en-GB" altLang="en-US" sz="1000" dirty="0"/>
              <a:t>The diagrams (from Ramsay &amp; Huber, vol.1, p.241) show the three types of fibrous vein that are commonly distinguished. To these a fourth may be added which is some combination of these when there has been more than one fracturing event</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a:extLst>
              <a:ext uri="{FF2B5EF4-FFF2-40B4-BE49-F238E27FC236}">
                <a16:creationId xmlns:a16="http://schemas.microsoft.com/office/drawing/2014/main" id="{90F4C21E-B3BE-4E79-A114-EFCD286A0B79}"/>
              </a:ext>
            </a:extLst>
          </p:cNvPr>
          <p:cNvSpPr>
            <a:spLocks noGrp="1" noRot="1" noChangeAspect="1" noChangeArrowheads="1" noTextEdit="1"/>
          </p:cNvSpPr>
          <p:nvPr>
            <p:ph type="sldImg"/>
          </p:nvPr>
        </p:nvSpPr>
        <p:spPr>
          <a:ln/>
        </p:spPr>
      </p:sp>
      <p:sp>
        <p:nvSpPr>
          <p:cNvPr id="88067" name="Rectangle 3">
            <a:extLst>
              <a:ext uri="{FF2B5EF4-FFF2-40B4-BE49-F238E27FC236}">
                <a16:creationId xmlns:a16="http://schemas.microsoft.com/office/drawing/2014/main" id="{ACBF5523-D4B3-4C30-9327-66E4D4D5D180}"/>
              </a:ext>
            </a:extLst>
          </p:cNvPr>
          <p:cNvSpPr>
            <a:spLocks noGrp="1" noChangeArrowheads="1"/>
          </p:cNvSpPr>
          <p:nvPr>
            <p:ph type="body" idx="1"/>
          </p:nvPr>
        </p:nvSpPr>
        <p:spPr>
          <a:noFill/>
        </p:spPr>
        <p:txBody>
          <a:bodyPr/>
          <a:lstStyle/>
          <a:p>
            <a:pPr marL="108000" marR="0" lvl="0" indent="-108000" algn="l" defTabSz="914400" rtl="0" eaLnBrk="0" fontAlgn="base" latinLnBrk="0" hangingPunct="0">
              <a:lnSpc>
                <a:spcPct val="100000"/>
              </a:lnSpc>
              <a:spcBef>
                <a:spcPts val="300"/>
              </a:spcBef>
              <a:spcAft>
                <a:spcPct val="0"/>
              </a:spcAft>
              <a:buClrTx/>
              <a:buSzTx/>
              <a:buFont typeface="Arial" panose="020B0604020202020204" pitchFamily="34" charset="0"/>
              <a:buChar char="•"/>
              <a:tabLst/>
              <a:defRPr/>
            </a:pPr>
            <a:r>
              <a:rPr lang="en-GB" altLang="en-US" sz="1000" dirty="0"/>
              <a:t>Figure bottom left (from Bons </a:t>
            </a:r>
            <a:r>
              <a:rPr lang="en-GB" altLang="en-US" sz="1000" i="1" dirty="0"/>
              <a:t>et al.</a:t>
            </a:r>
            <a:r>
              <a:rPr lang="en-GB" altLang="en-US" sz="1000" dirty="0"/>
              <a:t>, 2012, </a:t>
            </a:r>
            <a:r>
              <a:rPr lang="en-GB" altLang="en-US" sz="1000" i="1" dirty="0"/>
              <a:t>Journal of Structural Geology</a:t>
            </a:r>
            <a:r>
              <a:rPr lang="en-GB" altLang="en-US" sz="1000" dirty="0"/>
              <a:t> 43: 33-62, </a:t>
            </a:r>
            <a:r>
              <a:rPr lang="en-GB" sz="1000" dirty="0"/>
              <a:t>https://doi.org/10.1016/j.jsg.2012.07.005</a:t>
            </a:r>
            <a:r>
              <a:rPr lang="en-GB" altLang="en-US" sz="1000" dirty="0"/>
              <a:t>) highlights that there is a continuum between </a:t>
            </a:r>
            <a:r>
              <a:rPr lang="en-GB" altLang="en-US" sz="1000" dirty="0" err="1"/>
              <a:t>ataxial</a:t>
            </a:r>
            <a:r>
              <a:rPr lang="en-GB" altLang="en-US" sz="1000" dirty="0"/>
              <a:t> (stretching) veins and syntaxial veins, and so the distinction of vein type is really only one that distinguishes this syntaxial/</a:t>
            </a:r>
            <a:r>
              <a:rPr lang="en-GB" altLang="en-US" sz="1000" dirty="0" err="1"/>
              <a:t>ataxial</a:t>
            </a:r>
            <a:r>
              <a:rPr lang="en-GB" altLang="en-US" sz="1000" dirty="0"/>
              <a:t> continuum from </a:t>
            </a:r>
            <a:r>
              <a:rPr lang="en-GB" altLang="en-US" sz="1000" dirty="0" err="1"/>
              <a:t>antitaxial</a:t>
            </a:r>
            <a:r>
              <a:rPr lang="en-GB" altLang="en-US" sz="1000" dirty="0"/>
              <a:t> veins</a:t>
            </a:r>
          </a:p>
          <a:p>
            <a:pPr marL="108000" indent="-108000">
              <a:spcBef>
                <a:spcPts val="300"/>
              </a:spcBef>
              <a:buFont typeface="Arial" panose="020B0604020202020204" pitchFamily="34" charset="0"/>
              <a:buChar char="•"/>
            </a:pPr>
            <a:r>
              <a:rPr lang="en-GB" altLang="en-US" sz="1000" dirty="0"/>
              <a:t>If syntaxial veins grow into an open crack, then the fibres cannot not track the opening trajectory of the crack (the crack opens before the fibres </a:t>
            </a:r>
            <a:r>
              <a:rPr lang="en-GB" altLang="en-US" sz="1000" dirty="0">
                <a:latin typeface="Times New Roman" panose="02020603050405020304" pitchFamily="18" charset="0"/>
                <a:cs typeface="Times New Roman" panose="02020603050405020304" pitchFamily="18" charset="0"/>
              </a:rPr>
              <a:t>start growing). In the situation described on the previous slide where the fibres in a syntaxial tensional gash track the opening direction of the growing and rotating tension gash, the gash must open gradually (in small increments) with the fibres growing as it does so. Really this just describes an incrementally growing </a:t>
            </a:r>
            <a:r>
              <a:rPr lang="en-GB" altLang="en-US" sz="1000" dirty="0" err="1">
                <a:latin typeface="Times New Roman" panose="02020603050405020304" pitchFamily="18" charset="0"/>
                <a:cs typeface="Times New Roman" panose="02020603050405020304" pitchFamily="18" charset="0"/>
              </a:rPr>
              <a:t>ataxial</a:t>
            </a:r>
            <a:r>
              <a:rPr lang="en-GB" altLang="en-US" sz="1000" dirty="0">
                <a:latin typeface="Times New Roman" panose="02020603050405020304" pitchFamily="18" charset="0"/>
                <a:cs typeface="Times New Roman" panose="02020603050405020304" pitchFamily="18" charset="0"/>
              </a:rPr>
              <a:t> vein rather than a syntaxial vein </a:t>
            </a:r>
            <a:r>
              <a:rPr lang="en-GB" altLang="en-US" sz="1000" i="1" dirty="0" err="1">
                <a:latin typeface="Times New Roman" panose="02020603050405020304" pitchFamily="18" charset="0"/>
                <a:cs typeface="Times New Roman" panose="02020603050405020304" pitchFamily="18" charset="0"/>
              </a:rPr>
              <a:t>sensu</a:t>
            </a:r>
            <a:r>
              <a:rPr lang="en-GB" altLang="en-US" sz="1000" i="1" dirty="0">
                <a:latin typeface="Times New Roman" panose="02020603050405020304" pitchFamily="18" charset="0"/>
                <a:cs typeface="Times New Roman" panose="02020603050405020304" pitchFamily="18" charset="0"/>
              </a:rPr>
              <a:t> </a:t>
            </a:r>
            <a:r>
              <a:rPr lang="en-GB" altLang="en-US" sz="1000" i="1" dirty="0" err="1">
                <a:latin typeface="Times New Roman" panose="02020603050405020304" pitchFamily="18" charset="0"/>
                <a:cs typeface="Times New Roman" panose="02020603050405020304" pitchFamily="18" charset="0"/>
              </a:rPr>
              <a:t>stricto</a:t>
            </a:r>
            <a:r>
              <a:rPr lang="en-GB" altLang="en-US" sz="1000" i="0" dirty="0">
                <a:latin typeface="Times New Roman" panose="02020603050405020304" pitchFamily="18" charset="0"/>
                <a:cs typeface="Times New Roman" panose="02020603050405020304" pitchFamily="18" charset="0"/>
              </a:rPr>
              <a:t>. </a:t>
            </a:r>
            <a:r>
              <a:rPr lang="en-GB" altLang="en-US" sz="1000" dirty="0" err="1">
                <a:latin typeface="Times New Roman" panose="02020603050405020304" pitchFamily="18" charset="0"/>
                <a:cs typeface="Times New Roman" panose="02020603050405020304" pitchFamily="18" charset="0"/>
              </a:rPr>
              <a:t>Antitaxial</a:t>
            </a:r>
            <a:r>
              <a:rPr lang="en-GB" altLang="en-US" sz="1000" dirty="0">
                <a:latin typeface="Times New Roman" panose="02020603050405020304" pitchFamily="18" charset="0"/>
                <a:cs typeface="Times New Roman" panose="02020603050405020304" pitchFamily="18" charset="0"/>
              </a:rPr>
              <a:t> veins do track the opening trajectory of fractures</a:t>
            </a:r>
          </a:p>
          <a:p>
            <a:pPr marL="108000" indent="-108000" algn="l">
              <a:spcBef>
                <a:spcPts val="300"/>
              </a:spcBef>
              <a:buFont typeface="Arial" panose="020B0604020202020204" pitchFamily="34" charset="0"/>
              <a:buChar char="•"/>
            </a:pPr>
            <a:r>
              <a:rPr lang="en-GB" altLang="en-US" sz="1000" dirty="0">
                <a:latin typeface="Times New Roman" panose="02020603050405020304" pitchFamily="18" charset="0"/>
                <a:cs typeface="Times New Roman" panose="02020603050405020304" pitchFamily="18" charset="0"/>
              </a:rPr>
              <a:t>For a more subtle account of fibrous vein formation, focusing on bedding-parallel </a:t>
            </a:r>
            <a:r>
              <a:rPr lang="en-GB" altLang="en-US" sz="1000" dirty="0" err="1">
                <a:latin typeface="Times New Roman" panose="02020603050405020304" pitchFamily="18" charset="0"/>
                <a:cs typeface="Times New Roman" panose="02020603050405020304" pitchFamily="18" charset="0"/>
              </a:rPr>
              <a:t>antitaxial</a:t>
            </a:r>
            <a:r>
              <a:rPr lang="en-GB" altLang="en-US" sz="1000" dirty="0">
                <a:latin typeface="Times New Roman" panose="02020603050405020304" pitchFamily="18" charset="0"/>
                <a:cs typeface="Times New Roman" panose="02020603050405020304" pitchFamily="18" charset="0"/>
              </a:rPr>
              <a:t> veins in mudstones, see Zhao &amp; Li, 2022, </a:t>
            </a:r>
            <a:r>
              <a:rPr lang="en-GB" altLang="en-US" sz="1000" i="1" dirty="0">
                <a:latin typeface="Times New Roman" panose="02020603050405020304" pitchFamily="18" charset="0"/>
                <a:cs typeface="Times New Roman" panose="02020603050405020304" pitchFamily="18" charset="0"/>
              </a:rPr>
              <a:t>Journal of Structural Geology</a:t>
            </a:r>
            <a:r>
              <a:rPr lang="en-GB" altLang="en-US" sz="1000" i="0" dirty="0">
                <a:latin typeface="Times New Roman" panose="02020603050405020304" pitchFamily="18" charset="0"/>
                <a:cs typeface="Times New Roman" panose="02020603050405020304" pitchFamily="18" charset="0"/>
              </a:rPr>
              <a:t> 161, article 104653, </a:t>
            </a:r>
            <a:r>
              <a:rPr lang="en-GB" sz="1000" b="0" i="0" u="none" strike="noStrike" baseline="0" dirty="0">
                <a:solidFill>
                  <a:srgbClr val="2196D1"/>
                </a:solidFill>
                <a:latin typeface="Times New Roman" panose="02020603050405020304" pitchFamily="18" charset="0"/>
                <a:cs typeface="Times New Roman" panose="02020603050405020304" pitchFamily="18" charset="0"/>
              </a:rPr>
              <a:t>https://doi.org/10.1016/j.jsg.2022.104653 </a:t>
            </a:r>
            <a:endParaRPr lang="en-GB" altLang="en-US" sz="1000" dirty="0">
              <a:latin typeface="Times New Roman" panose="02020603050405020304" pitchFamily="18" charset="0"/>
              <a:cs typeface="Times New Roman" panose="02020603050405020304" pitchFamily="18" charset="0"/>
            </a:endParaRPr>
          </a:p>
          <a:p>
            <a:pPr marL="108000" indent="-108000">
              <a:spcBef>
                <a:spcPts val="300"/>
              </a:spcBef>
              <a:buFont typeface="Arial" panose="020B0604020202020204" pitchFamily="34" charset="0"/>
              <a:buChar char="•"/>
            </a:pPr>
            <a:r>
              <a:rPr lang="en-GB" altLang="en-US" sz="1000" dirty="0">
                <a:latin typeface="Times New Roman" panose="02020603050405020304" pitchFamily="18" charset="0"/>
                <a:cs typeface="Times New Roman" panose="02020603050405020304" pitchFamily="18" charset="0"/>
              </a:rPr>
              <a:t>Photos top right and bottom right (from Bons </a:t>
            </a:r>
            <a:r>
              <a:rPr lang="en-GB" altLang="en-US" sz="1000" i="1" dirty="0">
                <a:latin typeface="Times New Roman" panose="02020603050405020304" pitchFamily="18" charset="0"/>
                <a:cs typeface="Times New Roman" panose="02020603050405020304" pitchFamily="18" charset="0"/>
              </a:rPr>
              <a:t>et al.</a:t>
            </a:r>
            <a:r>
              <a:rPr lang="en-GB" altLang="en-US" sz="1000" dirty="0">
                <a:latin typeface="Times New Roman" panose="02020603050405020304" pitchFamily="18" charset="0"/>
                <a:cs typeface="Times New Roman" panose="02020603050405020304" pitchFamily="18" charset="0"/>
              </a:rPr>
              <a:t>, 2012, </a:t>
            </a:r>
            <a:r>
              <a:rPr lang="en-GB" altLang="en-US" sz="1000" i="1" dirty="0">
                <a:latin typeface="Times New Roman" panose="02020603050405020304" pitchFamily="18" charset="0"/>
                <a:cs typeface="Times New Roman" panose="02020603050405020304" pitchFamily="18" charset="0"/>
              </a:rPr>
              <a:t>Journal of Structural Geology</a:t>
            </a:r>
            <a:r>
              <a:rPr lang="en-GB" altLang="en-US" sz="1000" dirty="0">
                <a:latin typeface="Times New Roman" panose="02020603050405020304" pitchFamily="18" charset="0"/>
                <a:cs typeface="Times New Roman" panose="02020603050405020304" pitchFamily="18" charset="0"/>
              </a:rPr>
              <a:t> 43: 33-62, </a:t>
            </a:r>
            <a:r>
              <a:rPr lang="en-GB" sz="1000" dirty="0">
                <a:latin typeface="Times New Roman" panose="02020603050405020304" pitchFamily="18" charset="0"/>
                <a:cs typeface="Times New Roman" panose="02020603050405020304" pitchFamily="18" charset="0"/>
              </a:rPr>
              <a:t>https://doi.org/10.1016/j.jsg.2012.07.005</a:t>
            </a:r>
            <a:r>
              <a:rPr lang="en-GB" altLang="en-US" sz="1000" dirty="0">
                <a:latin typeface="Times New Roman" panose="02020603050405020304" pitchFamily="18" charset="0"/>
                <a:cs typeface="Times New Roman" panose="02020603050405020304" pitchFamily="18" charset="0"/>
              </a:rPr>
              <a:t>): syntaxial vein, </a:t>
            </a:r>
            <a:r>
              <a:rPr lang="en-GB" altLang="en-US" sz="1000" dirty="0" err="1">
                <a:latin typeface="Times New Roman" panose="02020603050405020304" pitchFamily="18" charset="0"/>
                <a:cs typeface="Times New Roman" panose="02020603050405020304" pitchFamily="18" charset="0"/>
              </a:rPr>
              <a:t>Biure</a:t>
            </a:r>
            <a:r>
              <a:rPr lang="en-GB" altLang="en-US" sz="1000" dirty="0">
                <a:latin typeface="Times New Roman" panose="02020603050405020304" pitchFamily="18" charset="0"/>
                <a:cs typeface="Times New Roman" panose="02020603050405020304" pitchFamily="18" charset="0"/>
              </a:rPr>
              <a:t>, Spain; </a:t>
            </a:r>
            <a:r>
              <a:rPr lang="en-GB" altLang="en-US" sz="1000" dirty="0" err="1">
                <a:latin typeface="Times New Roman" panose="02020603050405020304" pitchFamily="18" charset="0"/>
                <a:cs typeface="Times New Roman" panose="02020603050405020304" pitchFamily="18" charset="0"/>
              </a:rPr>
              <a:t>antitaxial</a:t>
            </a:r>
            <a:r>
              <a:rPr lang="en-GB" altLang="en-US" sz="1000" dirty="0">
                <a:latin typeface="Times New Roman" panose="02020603050405020304" pitchFamily="18" charset="0"/>
                <a:cs typeface="Times New Roman" panose="02020603050405020304" pitchFamily="18" charset="0"/>
              </a:rPr>
              <a:t> vein, </a:t>
            </a:r>
            <a:r>
              <a:rPr lang="en-GB" altLang="en-US" sz="1000" dirty="0" err="1">
                <a:latin typeface="Times New Roman" panose="02020603050405020304" pitchFamily="18" charset="0"/>
                <a:cs typeface="Times New Roman" panose="02020603050405020304" pitchFamily="18" charset="0"/>
              </a:rPr>
              <a:t>Oppaminda</a:t>
            </a:r>
            <a:r>
              <a:rPr lang="en-GB" altLang="en-US" sz="1000" dirty="0">
                <a:latin typeface="Times New Roman" panose="02020603050405020304" pitchFamily="18" charset="0"/>
                <a:cs typeface="Times New Roman" panose="02020603050405020304" pitchFamily="18" charset="0"/>
              </a:rPr>
              <a:t> Creek, Arkaroola, South Australia</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a:extLst>
              <a:ext uri="{FF2B5EF4-FFF2-40B4-BE49-F238E27FC236}">
                <a16:creationId xmlns:a16="http://schemas.microsoft.com/office/drawing/2014/main" id="{0F4B9BDD-05BD-4B55-AD83-F5A384B8D6E7}"/>
              </a:ext>
            </a:extLst>
          </p:cNvPr>
          <p:cNvSpPr>
            <a:spLocks noGrp="1" noRot="1" noChangeAspect="1" noChangeArrowheads="1" noTextEdit="1"/>
          </p:cNvSpPr>
          <p:nvPr>
            <p:ph type="sldImg"/>
          </p:nvPr>
        </p:nvSpPr>
        <p:spPr>
          <a:ln/>
        </p:spPr>
      </p:sp>
      <p:sp>
        <p:nvSpPr>
          <p:cNvPr id="89091" name="Rectangle 3">
            <a:extLst>
              <a:ext uri="{FF2B5EF4-FFF2-40B4-BE49-F238E27FC236}">
                <a16:creationId xmlns:a16="http://schemas.microsoft.com/office/drawing/2014/main" id="{84F912E1-75DB-4056-934E-178B00ACC60A}"/>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Figure top left is from </a:t>
            </a:r>
            <a:r>
              <a:rPr lang="en-GB" altLang="en-US" sz="1000" dirty="0" err="1"/>
              <a:t>Passchier</a:t>
            </a:r>
            <a:r>
              <a:rPr lang="en-GB" altLang="en-US" sz="1000" dirty="0"/>
              <a:t> &amp; </a:t>
            </a:r>
            <a:r>
              <a:rPr lang="en-GB" altLang="en-US" sz="1000" dirty="0" err="1"/>
              <a:t>Trouw</a:t>
            </a:r>
            <a:r>
              <a:rPr lang="en-GB" altLang="en-US" sz="1000" dirty="0"/>
              <a:t>, Fig.6.17. The colour coding shows successive increments of precipitation, and the curved lateral lines within the veins show the orientation of the fibres</a:t>
            </a:r>
          </a:p>
          <a:p>
            <a:pPr marL="108000" indent="-108000">
              <a:spcBef>
                <a:spcPts val="300"/>
              </a:spcBef>
              <a:buFont typeface="Arial" panose="020B0604020202020204" pitchFamily="34" charset="0"/>
              <a:buChar char="•"/>
            </a:pPr>
            <a:r>
              <a:rPr lang="en-GB" altLang="en-US" sz="1000" dirty="0"/>
              <a:t>Photo (Steve Covey-Crump): fibrous gypsum in </a:t>
            </a:r>
            <a:r>
              <a:rPr lang="en-GB" altLang="en-US" sz="1000" dirty="0" err="1"/>
              <a:t>Keuper</a:t>
            </a:r>
            <a:r>
              <a:rPr lang="en-GB" altLang="en-US" sz="1000" dirty="0"/>
              <a:t> units, near Al</a:t>
            </a:r>
            <a:r>
              <a:rPr lang="en-US" altLang="en-US" sz="1000" dirty="0" err="1">
                <a:cs typeface="Times New Roman" panose="02020603050405020304" pitchFamily="18" charset="0"/>
              </a:rPr>
              <a:t>òs</a:t>
            </a:r>
            <a:r>
              <a:rPr lang="en-US" altLang="en-US" sz="1000" dirty="0">
                <a:cs typeface="Times New Roman" panose="02020603050405020304" pitchFamily="18" charset="0"/>
              </a:rPr>
              <a:t> de Balaguer, northern Spain. This vein was just a loose block and so we don’t know the orientation of the shear couple or even if the vein is actually from a tension gash. I suspect that this vein was originally </a:t>
            </a:r>
            <a:r>
              <a:rPr lang="en-US" altLang="en-US" sz="1000" dirty="0" err="1">
                <a:cs typeface="Times New Roman" panose="02020603050405020304" pitchFamily="18" charset="0"/>
              </a:rPr>
              <a:t>antitaxial</a:t>
            </a:r>
            <a:r>
              <a:rPr lang="en-US" altLang="en-US" sz="1000" dirty="0">
                <a:cs typeface="Times New Roman" panose="02020603050405020304" pitchFamily="18" charset="0"/>
              </a:rPr>
              <a:t> and bedding-parallel, in which case there would have been a jacking open of the beds to form the </a:t>
            </a:r>
            <a:r>
              <a:rPr lang="en-US" altLang="en-US" sz="1000" dirty="0" err="1">
                <a:cs typeface="Times New Roman" panose="02020603050405020304" pitchFamily="18" charset="0"/>
              </a:rPr>
              <a:t>fibres</a:t>
            </a:r>
            <a:r>
              <a:rPr lang="en-US" altLang="en-US" sz="1000" dirty="0">
                <a:cs typeface="Times New Roman" panose="02020603050405020304" pitchFamily="18" charset="0"/>
              </a:rPr>
              <a:t> in the </a:t>
            </a:r>
            <a:r>
              <a:rPr lang="en-US" altLang="en-US" sz="1000" dirty="0" err="1">
                <a:cs typeface="Times New Roman" panose="02020603050405020304" pitchFamily="18" charset="0"/>
              </a:rPr>
              <a:t>centre</a:t>
            </a:r>
            <a:r>
              <a:rPr lang="en-US" altLang="en-US" sz="1000" dirty="0">
                <a:cs typeface="Times New Roman" panose="02020603050405020304" pitchFamily="18" charset="0"/>
              </a:rPr>
              <a:t> of the vein and then bedding-parallel dextral shearing to form the part of the </a:t>
            </a:r>
            <a:r>
              <a:rPr lang="en-US" altLang="en-US" sz="1000" dirty="0" err="1">
                <a:cs typeface="Times New Roman" panose="02020603050405020304" pitchFamily="18" charset="0"/>
              </a:rPr>
              <a:t>fibres</a:t>
            </a:r>
            <a:r>
              <a:rPr lang="en-US" altLang="en-US" sz="1000" dirty="0">
                <a:cs typeface="Times New Roman" panose="02020603050405020304" pitchFamily="18" charset="0"/>
              </a:rPr>
              <a:t> towards the margins of the vein</a:t>
            </a:r>
            <a:endParaRPr lang="en-GB" altLang="en-US" sz="1000" dirty="0"/>
          </a:p>
          <a:p>
            <a:pPr marL="108000" indent="-108000">
              <a:spcBef>
                <a:spcPts val="300"/>
              </a:spcBef>
              <a:buFont typeface="Arial" panose="020B0604020202020204" pitchFamily="34" charset="0"/>
              <a:buChar char="•"/>
            </a:pPr>
            <a:r>
              <a:rPr lang="en-GB" altLang="en-US" sz="1000" dirty="0"/>
              <a:t>Figure bottom left by Steve Covey-Crump</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08000" indent="-108000">
              <a:spcBef>
                <a:spcPts val="300"/>
              </a:spcBef>
              <a:buFont typeface="Arial" panose="020B0604020202020204" pitchFamily="34" charset="0"/>
              <a:buChar char="•"/>
            </a:pPr>
            <a:endParaRPr lang="en-GB" sz="1000" dirty="0"/>
          </a:p>
        </p:txBody>
      </p:sp>
      <p:sp>
        <p:nvSpPr>
          <p:cNvPr id="4" name="Slide Number Placeholder 3"/>
          <p:cNvSpPr>
            <a:spLocks noGrp="1"/>
          </p:cNvSpPr>
          <p:nvPr>
            <p:ph type="sldNum" sz="quarter" idx="5"/>
          </p:nvPr>
        </p:nvSpPr>
        <p:spPr/>
        <p:txBody>
          <a:bodyPr/>
          <a:lstStyle/>
          <a:p>
            <a:fld id="{C501626C-B5A0-495B-BE4C-E6C934511C75}" type="slidenum">
              <a:rPr lang="en-GB" altLang="en-US" smtClean="0"/>
              <a:pPr/>
              <a:t>40</a:t>
            </a:fld>
            <a:endParaRPr lang="en-GB" altLang="en-US"/>
          </a:p>
        </p:txBody>
      </p:sp>
    </p:spTree>
    <p:extLst>
      <p:ext uri="{BB962C8B-B14F-4D97-AF65-F5344CB8AC3E}">
        <p14:creationId xmlns:p14="http://schemas.microsoft.com/office/powerpoint/2010/main" val="150189498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a:extLst>
              <a:ext uri="{FF2B5EF4-FFF2-40B4-BE49-F238E27FC236}">
                <a16:creationId xmlns:a16="http://schemas.microsoft.com/office/drawing/2014/main" id="{2A760187-B6C3-45CF-8A01-5BA57C782645}"/>
              </a:ext>
            </a:extLst>
          </p:cNvPr>
          <p:cNvSpPr>
            <a:spLocks noGrp="1" noRot="1" noChangeAspect="1" noChangeArrowheads="1" noTextEdit="1"/>
          </p:cNvSpPr>
          <p:nvPr>
            <p:ph type="sldImg"/>
          </p:nvPr>
        </p:nvSpPr>
        <p:spPr>
          <a:ln/>
        </p:spPr>
      </p:sp>
      <p:sp>
        <p:nvSpPr>
          <p:cNvPr id="90115" name="Rectangle 3">
            <a:extLst>
              <a:ext uri="{FF2B5EF4-FFF2-40B4-BE49-F238E27FC236}">
                <a16:creationId xmlns:a16="http://schemas.microsoft.com/office/drawing/2014/main" id="{1C6E72D2-57A9-429E-94AB-37873CF6D92E}"/>
              </a:ext>
            </a:extLst>
          </p:cNvPr>
          <p:cNvSpPr>
            <a:spLocks noGrp="1" noChangeArrowheads="1"/>
          </p:cNvSpPr>
          <p:nvPr>
            <p:ph type="body" idx="1"/>
          </p:nvPr>
        </p:nvSpPr>
        <p:spPr>
          <a:noFill/>
        </p:spPr>
        <p:txBody>
          <a:bodyPr/>
          <a:lstStyle/>
          <a:p>
            <a:pPr marL="108000" indent="-108000">
              <a:lnSpc>
                <a:spcPct val="120000"/>
              </a:lnSpc>
              <a:spcBef>
                <a:spcPts val="300"/>
              </a:spcBef>
              <a:buClr>
                <a:schemeClr val="tx1"/>
              </a:buClr>
              <a:buFont typeface="Arial" panose="020B0604020202020204" pitchFamily="34" charset="0"/>
              <a:buChar char="•"/>
            </a:pPr>
            <a:r>
              <a:rPr lang="en-GB" altLang="en-US" sz="1000" dirty="0"/>
              <a:t>Fault breccias </a:t>
            </a:r>
            <a:r>
              <a:rPr lang="en-GB" altLang="en-US" sz="1000" dirty="0">
                <a:solidFill>
                  <a:srgbClr val="FF66CC"/>
                </a:solidFill>
              </a:rPr>
              <a:t>typically</a:t>
            </a:r>
            <a:r>
              <a:rPr lang="en-GB" altLang="en-US" sz="1000" dirty="0"/>
              <a:t> </a:t>
            </a:r>
            <a:r>
              <a:rPr lang="en-GB" altLang="en-US" sz="1000" dirty="0">
                <a:solidFill>
                  <a:srgbClr val="FF66CC"/>
                </a:solidFill>
              </a:rPr>
              <a:t>lack a strong foliation</a:t>
            </a:r>
            <a:r>
              <a:rPr lang="en-GB" altLang="en-US" sz="1000" dirty="0"/>
              <a:t> but, nevertheless, the clasts are commonly neither randomly aligned or nor randomly distributed</a:t>
            </a:r>
          </a:p>
          <a:p>
            <a:pPr marL="108000" indent="-108000">
              <a:spcBef>
                <a:spcPts val="300"/>
              </a:spcBef>
              <a:buFont typeface="Arial" panose="020B0604020202020204" pitchFamily="34" charset="0"/>
              <a:buChar char="•"/>
            </a:pPr>
            <a:r>
              <a:rPr lang="en-GB" altLang="en-US" sz="1000" dirty="0"/>
              <a:t>Fault rocks (breccias, gouges and </a:t>
            </a:r>
            <a:r>
              <a:rPr lang="en-GB" altLang="en-US" sz="1000" dirty="0" err="1"/>
              <a:t>cataclasites</a:t>
            </a:r>
            <a:r>
              <a:rPr lang="en-GB" altLang="en-US" sz="1000" dirty="0"/>
              <a:t>) have historically (since the 1970s) been subdivided as cohesive or incohesive depending upon their perceived state of cohesion at the time of fault movement. The current mood (Woodcock &amp; Mort, 2008, </a:t>
            </a:r>
            <a:r>
              <a:rPr lang="en-GB" altLang="en-US" sz="1000" i="1" dirty="0"/>
              <a:t>Geological Magazine</a:t>
            </a:r>
            <a:r>
              <a:rPr lang="en-GB" altLang="en-US" sz="1000" dirty="0"/>
              <a:t> 145: 435-440, </a:t>
            </a:r>
            <a:r>
              <a:rPr lang="en-GB" sz="1000" dirty="0"/>
              <a:t>https://doi.org/10.1017/S0016756808004883</a:t>
            </a:r>
            <a:r>
              <a:rPr lang="en-GB" altLang="en-US" sz="1000" dirty="0"/>
              <a:t>) is to subdivide primarily on the basis of fragment size. For details of the practical application of this classification, see Mort &amp; Woodcock, 2008, </a:t>
            </a:r>
            <a:r>
              <a:rPr lang="en-GB" altLang="en-US" sz="1000" i="1" dirty="0"/>
              <a:t>Journal of Structural Geology</a:t>
            </a:r>
            <a:r>
              <a:rPr lang="en-GB" altLang="en-US" sz="1000" dirty="0"/>
              <a:t> 30: 701-709, </a:t>
            </a:r>
            <a:r>
              <a:rPr lang="en-GB" sz="1000" dirty="0"/>
              <a:t>https://doi.org/10.1016/j.jsg.2008.02.005</a:t>
            </a:r>
            <a:endParaRPr lang="en-GB" altLang="en-US" sz="1000" dirty="0"/>
          </a:p>
          <a:p>
            <a:pPr marL="108000" indent="-108000">
              <a:spcBef>
                <a:spcPts val="300"/>
              </a:spcBef>
              <a:buFont typeface="Arial" panose="020B0604020202020204" pitchFamily="34" charset="0"/>
              <a:buChar char="•"/>
            </a:pPr>
            <a:r>
              <a:rPr lang="en-GB" altLang="en-US" sz="1000" dirty="0"/>
              <a:t>Photo left (BGS image database: geoscenic.bgs.ac.uk/asset-bank/action/</a:t>
            </a:r>
            <a:r>
              <a:rPr lang="en-GB" altLang="en-US" sz="1000" dirty="0" err="1"/>
              <a:t>viewHome</a:t>
            </a:r>
            <a:r>
              <a:rPr lang="en-GB" altLang="en-US" sz="1000" dirty="0"/>
              <a:t>, image P200752): brecciated Lower Cambrian sandstones at Cwm </a:t>
            </a:r>
            <a:r>
              <a:rPr lang="en-GB" altLang="en-US" sz="1000" dirty="0" err="1"/>
              <a:t>Mawr</a:t>
            </a:r>
            <a:r>
              <a:rPr lang="en-GB" altLang="en-US" sz="1000" dirty="0"/>
              <a:t>, </a:t>
            </a:r>
            <a:r>
              <a:rPr lang="en-GB" altLang="en-US" sz="1000" dirty="0" err="1"/>
              <a:t>Newgale</a:t>
            </a:r>
            <a:r>
              <a:rPr lang="en-GB" altLang="en-US" sz="1000" dirty="0"/>
              <a:t>, Pembrokeshire</a:t>
            </a:r>
          </a:p>
          <a:p>
            <a:pPr marL="108000" indent="-108000">
              <a:spcBef>
                <a:spcPts val="300"/>
              </a:spcBef>
              <a:buFont typeface="Arial" panose="020B0604020202020204" pitchFamily="34" charset="0"/>
              <a:buChar char="•"/>
            </a:pPr>
            <a:r>
              <a:rPr lang="en-GB" altLang="en-US" sz="1000" dirty="0"/>
              <a:t>Photomicrographs right from Woodcock &amp; Mort, 2008, </a:t>
            </a:r>
            <a:r>
              <a:rPr lang="en-GB" altLang="en-US" sz="1000" i="1" dirty="0"/>
              <a:t>Geological Magazine</a:t>
            </a:r>
            <a:r>
              <a:rPr lang="en-GB" altLang="en-US" sz="1000" dirty="0"/>
              <a:t> 145: 435-440, </a:t>
            </a:r>
            <a:r>
              <a:rPr lang="en-GB" sz="1000" dirty="0"/>
              <a:t>https://doi.org/10.1017/S0016756808004883</a:t>
            </a:r>
            <a:r>
              <a:rPr lang="en-GB" altLang="en-US" sz="1000" dirty="0"/>
              <a:t>: carbonate breccias from the Dent Fault Zone, south-eastern Cumbria</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a:extLst>
              <a:ext uri="{FF2B5EF4-FFF2-40B4-BE49-F238E27FC236}">
                <a16:creationId xmlns:a16="http://schemas.microsoft.com/office/drawing/2014/main" id="{450513BC-2CD5-4BE8-BC7A-EE2B0ECBC2D9}"/>
              </a:ext>
            </a:extLst>
          </p:cNvPr>
          <p:cNvSpPr>
            <a:spLocks noGrp="1" noRot="1" noChangeAspect="1" noChangeArrowheads="1" noTextEdit="1"/>
          </p:cNvSpPr>
          <p:nvPr>
            <p:ph type="sldImg"/>
          </p:nvPr>
        </p:nvSpPr>
        <p:spPr>
          <a:ln/>
        </p:spPr>
      </p:sp>
      <p:sp>
        <p:nvSpPr>
          <p:cNvPr id="91139" name="Rectangle 3">
            <a:extLst>
              <a:ext uri="{FF2B5EF4-FFF2-40B4-BE49-F238E27FC236}">
                <a16:creationId xmlns:a16="http://schemas.microsoft.com/office/drawing/2014/main" id="{7550535F-136D-4991-B880-098157B73B69}"/>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Photo right (from </a:t>
            </a:r>
            <a:r>
              <a:rPr lang="en-GB" altLang="en-US" sz="1000" dirty="0" err="1"/>
              <a:t>Snoke</a:t>
            </a:r>
            <a:r>
              <a:rPr lang="en-GB" altLang="en-US" sz="1000" dirty="0"/>
              <a:t> </a:t>
            </a:r>
            <a:r>
              <a:rPr lang="en-GB" altLang="en-US" sz="1000" i="1" dirty="0"/>
              <a:t>et al</a:t>
            </a:r>
            <a:r>
              <a:rPr lang="en-GB" altLang="en-US" sz="1000" dirty="0"/>
              <a:t>., 1998, </a:t>
            </a:r>
            <a:r>
              <a:rPr lang="en-GB" altLang="en-US" sz="1000" i="1" dirty="0"/>
              <a:t>Fault-related Rocks: A Photographic Atlas</a:t>
            </a:r>
            <a:r>
              <a:rPr lang="en-GB" altLang="en-US" sz="1000" dirty="0"/>
              <a:t>, see p.22-27): </a:t>
            </a:r>
            <a:r>
              <a:rPr lang="en-GB" altLang="en-US" sz="1000" dirty="0" err="1"/>
              <a:t>cataclasite</a:t>
            </a:r>
            <a:r>
              <a:rPr lang="en-GB" altLang="en-US" sz="1000" dirty="0"/>
              <a:t> in a small fracture in a granite, 2 m from a large fault. Marble Falls fault, Llano Uplift, central Texas</a:t>
            </a:r>
          </a:p>
          <a:p>
            <a:pPr marL="108000" indent="-108000">
              <a:spcBef>
                <a:spcPts val="300"/>
              </a:spcBef>
              <a:buFont typeface="Arial" panose="020B0604020202020204" pitchFamily="34" charset="0"/>
              <a:buChar char="•"/>
            </a:pPr>
            <a:r>
              <a:rPr lang="en-GB" altLang="en-US" sz="1000" dirty="0"/>
              <a:t>Photomicrograph left (from Ernie Rutter): experimentally produced </a:t>
            </a:r>
            <a:r>
              <a:rPr lang="en-GB" altLang="en-US" sz="1000" dirty="0" err="1"/>
              <a:t>ultracataclasite</a:t>
            </a:r>
            <a:r>
              <a:rPr lang="en-GB" altLang="en-US" sz="1000" dirty="0"/>
              <a:t> in a sandstone (the </a:t>
            </a:r>
            <a:r>
              <a:rPr lang="en-GB" altLang="en-US" sz="1000" dirty="0" err="1"/>
              <a:t>ultracataclasite</a:t>
            </a:r>
            <a:r>
              <a:rPr lang="en-GB" altLang="en-US" sz="1000" dirty="0"/>
              <a:t> is the inclined orange-brown layer)</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a:extLst>
              <a:ext uri="{FF2B5EF4-FFF2-40B4-BE49-F238E27FC236}">
                <a16:creationId xmlns:a16="http://schemas.microsoft.com/office/drawing/2014/main" id="{83E32E76-8ACB-4A05-B319-55E494D86304}"/>
              </a:ext>
            </a:extLst>
          </p:cNvPr>
          <p:cNvSpPr>
            <a:spLocks noGrp="1" noRot="1" noChangeAspect="1" noChangeArrowheads="1" noTextEdit="1"/>
          </p:cNvSpPr>
          <p:nvPr>
            <p:ph type="sldImg"/>
          </p:nvPr>
        </p:nvSpPr>
        <p:spPr>
          <a:ln/>
        </p:spPr>
      </p:sp>
      <p:sp>
        <p:nvSpPr>
          <p:cNvPr id="92163" name="Rectangle 3">
            <a:extLst>
              <a:ext uri="{FF2B5EF4-FFF2-40B4-BE49-F238E27FC236}">
                <a16:creationId xmlns:a16="http://schemas.microsoft.com/office/drawing/2014/main" id="{2F2A39F9-618A-4381-9068-C896CE0E5F1C}"/>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Photo left (from Fossen, p.185): </a:t>
            </a:r>
            <a:r>
              <a:rPr lang="en-GB" altLang="en-US" sz="1000" dirty="0" err="1"/>
              <a:t>Heimefrontfjella</a:t>
            </a:r>
            <a:r>
              <a:rPr lang="en-GB" altLang="en-US" sz="1000" dirty="0"/>
              <a:t>, Antarctica</a:t>
            </a:r>
          </a:p>
          <a:p>
            <a:pPr marL="108000" indent="-108000">
              <a:spcBef>
                <a:spcPts val="300"/>
              </a:spcBef>
              <a:buFont typeface="Arial" panose="020B0604020202020204" pitchFamily="34" charset="0"/>
              <a:buChar char="•"/>
            </a:pPr>
            <a:r>
              <a:rPr lang="en-GB" altLang="en-US" sz="1000" dirty="0"/>
              <a:t>Photo right (Steve Covey-Crump): the Glen Coe </a:t>
            </a:r>
            <a:r>
              <a:rPr lang="en-GB" altLang="en-US" sz="1000" dirty="0" err="1"/>
              <a:t>pseudotachylyte</a:t>
            </a:r>
            <a:r>
              <a:rPr lang="en-GB" altLang="en-US" sz="1000" dirty="0"/>
              <a:t> (the thin dark green band on the photo), on the ring fault around a Devonian caldera</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a:extLst>
              <a:ext uri="{FF2B5EF4-FFF2-40B4-BE49-F238E27FC236}">
                <a16:creationId xmlns:a16="http://schemas.microsoft.com/office/drawing/2014/main" id="{EAA4C9ED-1B08-45B5-9A35-4BD7A9B5C63B}"/>
              </a:ext>
            </a:extLst>
          </p:cNvPr>
          <p:cNvSpPr>
            <a:spLocks noGrp="1" noRot="1" noChangeAspect="1" noChangeArrowheads="1" noTextEdit="1"/>
          </p:cNvSpPr>
          <p:nvPr>
            <p:ph type="sldImg"/>
          </p:nvPr>
        </p:nvSpPr>
        <p:spPr>
          <a:ln/>
        </p:spPr>
      </p:sp>
      <p:sp>
        <p:nvSpPr>
          <p:cNvPr id="93187" name="Rectangle 3">
            <a:extLst>
              <a:ext uri="{FF2B5EF4-FFF2-40B4-BE49-F238E27FC236}">
                <a16:creationId xmlns:a16="http://schemas.microsoft.com/office/drawing/2014/main" id="{944B6D54-CF48-4986-AFC9-67436F7721B0}"/>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Photo (unknown source from the internet, accessed February 2012): </a:t>
            </a:r>
            <a:r>
              <a:rPr lang="en-GB" altLang="en-US" sz="1000" dirty="0" err="1"/>
              <a:t>Carboneras</a:t>
            </a:r>
            <a:r>
              <a:rPr lang="en-GB" altLang="en-US" sz="1000" dirty="0"/>
              <a:t> fault zone</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a:extLst>
              <a:ext uri="{FF2B5EF4-FFF2-40B4-BE49-F238E27FC236}">
                <a16:creationId xmlns:a16="http://schemas.microsoft.com/office/drawing/2014/main" id="{B5B3C9B4-6F8E-4D61-9F96-F65591C19D96}"/>
              </a:ext>
            </a:extLst>
          </p:cNvPr>
          <p:cNvSpPr>
            <a:spLocks noGrp="1" noRot="1" noChangeAspect="1" noChangeArrowheads="1" noTextEdit="1"/>
          </p:cNvSpPr>
          <p:nvPr>
            <p:ph type="sldImg"/>
          </p:nvPr>
        </p:nvSpPr>
        <p:spPr>
          <a:ln/>
        </p:spPr>
      </p:sp>
      <p:sp>
        <p:nvSpPr>
          <p:cNvPr id="94211" name="Rectangle 3">
            <a:extLst>
              <a:ext uri="{FF2B5EF4-FFF2-40B4-BE49-F238E27FC236}">
                <a16:creationId xmlns:a16="http://schemas.microsoft.com/office/drawing/2014/main" id="{2AAB4FDC-9AEC-4737-9A2F-A75EE8519D53}"/>
              </a:ext>
            </a:extLst>
          </p:cNvPr>
          <p:cNvSpPr>
            <a:spLocks noGrp="1" noChangeArrowheads="1"/>
          </p:cNvSpPr>
          <p:nvPr>
            <p:ph type="body" idx="1"/>
          </p:nvPr>
        </p:nvSpPr>
        <p:spPr>
          <a:noFill/>
        </p:spPr>
        <p:txBody>
          <a:bodyPr/>
          <a:lstStyle/>
          <a:p>
            <a:pPr marL="108000" indent="-108000" algn="l">
              <a:spcBef>
                <a:spcPts val="300"/>
              </a:spcBef>
              <a:buFont typeface="Arial" panose="020B0604020202020204" pitchFamily="34" charset="0"/>
              <a:buChar char="•"/>
            </a:pPr>
            <a:r>
              <a:rPr lang="en-GB" altLang="en-US" sz="1000" dirty="0"/>
              <a:t>The lettering of these fabrics means that they can be referred to as Y-B-P-R fabrics in distinction to the S-C-C´ fabrics described on Slide 20. Note that geometrically the P-foliation in a brittle shear zone is the same as the S foliation in a ductile shear zone, and the R</a:t>
            </a:r>
            <a:r>
              <a:rPr lang="en-GB" altLang="en-US" sz="1000" baseline="-25000" dirty="0"/>
              <a:t>1</a:t>
            </a:r>
            <a:r>
              <a:rPr lang="en-GB" altLang="en-US" sz="1000" baseline="0" dirty="0"/>
              <a:t> Riedel shears are the same as the C´ foliation (compare the figure on this slide with that on Slide 20). This geometrical correspondence means that some have used the two nomenclatures interchangeably</a:t>
            </a:r>
          </a:p>
          <a:p>
            <a:pPr marL="108000" indent="-108000" algn="l">
              <a:spcBef>
                <a:spcPts val="300"/>
              </a:spcBef>
              <a:buFont typeface="Arial" panose="020B0604020202020204" pitchFamily="34" charset="0"/>
              <a:buChar char="•"/>
            </a:pPr>
            <a:r>
              <a:rPr lang="en-GB" altLang="en-US" sz="1000" baseline="0" dirty="0"/>
              <a:t>For an attempt to find a reason to distinguish the two nomenclatures </a:t>
            </a:r>
            <a:r>
              <a:rPr lang="en-GB" altLang="en-US" sz="1000" baseline="0" dirty="0">
                <a:latin typeface="Times New Roman" panose="02020603050405020304" pitchFamily="18" charset="0"/>
                <a:cs typeface="Times New Roman" panose="02020603050405020304" pitchFamily="18" charset="0"/>
              </a:rPr>
              <a:t>when it is applied to fabrics in </a:t>
            </a:r>
            <a:r>
              <a:rPr lang="en-GB" altLang="en-US" sz="1000" b="1" i="1" baseline="0" dirty="0">
                <a:latin typeface="Times New Roman" panose="02020603050405020304" pitchFamily="18" charset="0"/>
                <a:cs typeface="Times New Roman" panose="02020603050405020304" pitchFamily="18" charset="0"/>
              </a:rPr>
              <a:t>brittle shear zones</a:t>
            </a:r>
            <a:r>
              <a:rPr lang="en-GB" altLang="en-US" sz="1000" baseline="0" dirty="0">
                <a:latin typeface="Times New Roman" panose="02020603050405020304" pitchFamily="18" charset="0"/>
                <a:cs typeface="Times New Roman" panose="02020603050405020304" pitchFamily="18" charset="0"/>
              </a:rPr>
              <a:t>, see Volpe </a:t>
            </a:r>
            <a:r>
              <a:rPr lang="en-GB" altLang="en-US" sz="1000" i="1" baseline="0" dirty="0">
                <a:latin typeface="Times New Roman" panose="02020603050405020304" pitchFamily="18" charset="0"/>
                <a:cs typeface="Times New Roman" panose="02020603050405020304" pitchFamily="18" charset="0"/>
              </a:rPr>
              <a:t>et al.</a:t>
            </a:r>
            <a:r>
              <a:rPr lang="en-GB" altLang="en-US" sz="1000" i="0" baseline="0" dirty="0">
                <a:latin typeface="Times New Roman" panose="02020603050405020304" pitchFamily="18" charset="0"/>
                <a:cs typeface="Times New Roman" panose="02020603050405020304" pitchFamily="18" charset="0"/>
              </a:rPr>
              <a:t>, 2022, </a:t>
            </a:r>
            <a:r>
              <a:rPr lang="en-GB" altLang="en-US" sz="1000" i="1" baseline="0" dirty="0">
                <a:latin typeface="Times New Roman" panose="02020603050405020304" pitchFamily="18" charset="0"/>
                <a:cs typeface="Times New Roman" panose="02020603050405020304" pitchFamily="18" charset="0"/>
              </a:rPr>
              <a:t>Journal of Structural Geology</a:t>
            </a:r>
            <a:r>
              <a:rPr lang="en-GB" altLang="en-US" sz="1000" i="0" baseline="0" dirty="0">
                <a:latin typeface="Times New Roman" panose="02020603050405020304" pitchFamily="18" charset="0"/>
                <a:cs typeface="Times New Roman" panose="02020603050405020304" pitchFamily="18" charset="0"/>
              </a:rPr>
              <a:t> 165, article 104743, </a:t>
            </a:r>
            <a:r>
              <a:rPr lang="en-GB" sz="1000" b="0" i="0" u="none" strike="noStrike" baseline="0" dirty="0">
                <a:solidFill>
                  <a:srgbClr val="2196D1"/>
                </a:solidFill>
                <a:latin typeface="Times New Roman" panose="02020603050405020304" pitchFamily="18" charset="0"/>
                <a:cs typeface="Times New Roman" panose="02020603050405020304" pitchFamily="18" charset="0"/>
              </a:rPr>
              <a:t>https://doi.org/10.1016/j.jsg.2022.104743. They consider that the Y-B-P-R nomenclature is best suited to frictionally-strong fault rocks that form very narrow shear zones which are characterized by intense cataclasis, whereas the S-C-C´ nomenclature is best suited to phyllosilicate-rich fault rocks that are characterized by a more distributed deformation and an intense foliation, and in which deformation is dominated by frictional sliding along phyllosilicate </a:t>
            </a:r>
            <a:r>
              <a:rPr lang="en-GB" sz="1000" b="0" i="0" u="none" strike="noStrike" baseline="0" dirty="0" err="1">
                <a:solidFill>
                  <a:srgbClr val="2196D1"/>
                </a:solidFill>
                <a:latin typeface="Times New Roman" panose="02020603050405020304" pitchFamily="18" charset="0"/>
                <a:cs typeface="Times New Roman" panose="02020603050405020304" pitchFamily="18" charset="0"/>
              </a:rPr>
              <a:t>foliae</a:t>
            </a:r>
            <a:r>
              <a:rPr lang="en-GB" sz="1000" b="0" i="0" u="none" strike="noStrike" baseline="0" dirty="0">
                <a:solidFill>
                  <a:srgbClr val="2196D1"/>
                </a:solidFill>
                <a:latin typeface="Times New Roman" panose="02020603050405020304" pitchFamily="18" charset="0"/>
                <a:cs typeface="Times New Roman" panose="02020603050405020304" pitchFamily="18" charset="0"/>
              </a:rPr>
              <a:t>. These distinctions are rather too subtle for the content presented in this lecture where the frictionally-strong fault rock category has been treated as </a:t>
            </a:r>
            <a:r>
              <a:rPr lang="en-GB" sz="1000" b="0" i="0" u="none" strike="noStrike" baseline="0" dirty="0" err="1">
                <a:solidFill>
                  <a:srgbClr val="2196D1"/>
                </a:solidFill>
                <a:latin typeface="Times New Roman" panose="02020603050405020304" pitchFamily="18" charset="0"/>
                <a:cs typeface="Times New Roman" panose="02020603050405020304" pitchFamily="18" charset="0"/>
              </a:rPr>
              <a:t>unfoliated</a:t>
            </a:r>
            <a:r>
              <a:rPr lang="en-GB" sz="1000" b="0" i="0" u="none" strike="noStrike" baseline="0" dirty="0">
                <a:solidFill>
                  <a:srgbClr val="2196D1"/>
                </a:solidFill>
                <a:latin typeface="Times New Roman" panose="02020603050405020304" pitchFamily="18" charset="0"/>
                <a:cs typeface="Times New Roman" panose="02020603050405020304" pitchFamily="18" charset="0"/>
              </a:rPr>
              <a:t> </a:t>
            </a:r>
            <a:r>
              <a:rPr lang="en-GB" sz="1000" b="0" i="0" u="none" strike="noStrike" baseline="0" dirty="0" err="1">
                <a:solidFill>
                  <a:srgbClr val="2196D1"/>
                </a:solidFill>
                <a:latin typeface="Times New Roman" panose="02020603050405020304" pitchFamily="18" charset="0"/>
                <a:cs typeface="Times New Roman" panose="02020603050405020304" pitchFamily="18" charset="0"/>
              </a:rPr>
              <a:t>cataclasites</a:t>
            </a:r>
            <a:r>
              <a:rPr lang="en-GB" sz="1000" b="0" i="0" u="none" strike="noStrike" baseline="0" dirty="0">
                <a:solidFill>
                  <a:srgbClr val="2196D1"/>
                </a:solidFill>
                <a:latin typeface="Times New Roman" panose="02020603050405020304" pitchFamily="18" charset="0"/>
                <a:cs typeface="Times New Roman" panose="02020603050405020304" pitchFamily="18" charset="0"/>
              </a:rPr>
              <a:t>, the S-C-C´ nomenclature is reserved for high temperature ductile shear zones, and the Y-B-P-R nomenclature for clay-bearing fault gouges. For the moment, that is more conventional</a:t>
            </a:r>
            <a:endParaRPr lang="en-GB" altLang="en-US" sz="1000" baseline="0" dirty="0">
              <a:latin typeface="Times New Roman" panose="02020603050405020304" pitchFamily="18" charset="0"/>
              <a:cs typeface="Times New Roman" panose="02020603050405020304" pitchFamily="18" charset="0"/>
            </a:endParaRPr>
          </a:p>
          <a:p>
            <a:pPr marL="108000" indent="-108000">
              <a:spcBef>
                <a:spcPts val="300"/>
              </a:spcBef>
              <a:buFont typeface="Arial" panose="020B0604020202020204" pitchFamily="34" charset="0"/>
              <a:buChar char="•"/>
            </a:pPr>
            <a:r>
              <a:rPr lang="en-GB" altLang="en-US" sz="1000" dirty="0">
                <a:latin typeface="Times New Roman" panose="02020603050405020304" pitchFamily="18" charset="0"/>
                <a:cs typeface="Times New Roman" panose="02020603050405020304" pitchFamily="18" charset="0"/>
              </a:rPr>
              <a:t>We will revisit Riedel </a:t>
            </a:r>
            <a:r>
              <a:rPr lang="en-GB" altLang="en-US" sz="1000" dirty="0"/>
              <a:t>shears in Class 10</a:t>
            </a:r>
          </a:p>
          <a:p>
            <a:pPr marL="108000" indent="-108000">
              <a:spcBef>
                <a:spcPts val="300"/>
              </a:spcBef>
              <a:buFont typeface="Arial" panose="020B0604020202020204" pitchFamily="34" charset="0"/>
              <a:buChar char="•"/>
            </a:pPr>
            <a:r>
              <a:rPr lang="en-GB" altLang="en-US" sz="1000" dirty="0"/>
              <a:t>Figure top by Ernie Rutter</a:t>
            </a:r>
          </a:p>
          <a:p>
            <a:pPr marL="108000" indent="-108000">
              <a:spcBef>
                <a:spcPts val="300"/>
              </a:spcBef>
              <a:buFont typeface="Arial" panose="020B0604020202020204" pitchFamily="34" charset="0"/>
              <a:buChar char="•"/>
            </a:pPr>
            <a:r>
              <a:rPr lang="en-GB" altLang="en-US" sz="1000" dirty="0"/>
              <a:t>Figure bottom by Steve Covey-Crump</a:t>
            </a: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a:extLst>
              <a:ext uri="{FF2B5EF4-FFF2-40B4-BE49-F238E27FC236}">
                <a16:creationId xmlns:a16="http://schemas.microsoft.com/office/drawing/2014/main" id="{8D6EEE1F-57FC-4BAE-AC47-A40B7FA609C5}"/>
              </a:ext>
            </a:extLst>
          </p:cNvPr>
          <p:cNvSpPr>
            <a:spLocks noGrp="1" noRot="1" noChangeAspect="1" noChangeArrowheads="1" noTextEdit="1"/>
          </p:cNvSpPr>
          <p:nvPr>
            <p:ph type="sldImg"/>
          </p:nvPr>
        </p:nvSpPr>
        <p:spPr>
          <a:ln/>
        </p:spPr>
      </p:sp>
      <p:sp>
        <p:nvSpPr>
          <p:cNvPr id="95235" name="Rectangle 3">
            <a:extLst>
              <a:ext uri="{FF2B5EF4-FFF2-40B4-BE49-F238E27FC236}">
                <a16:creationId xmlns:a16="http://schemas.microsoft.com/office/drawing/2014/main" id="{C0E18531-B6F2-4F04-96CF-42ED271AB557}"/>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See Slide 12 for a diagram that shows that the intersection between two planar fabrics generated in the slip (in that case the S-foliation and the shear zone boundary) lies at 90° to the slip direction (the stretching lineation on that figure). In one of the </a:t>
            </a:r>
            <a:r>
              <a:rPr lang="en-GB" altLang="en-US" sz="1000" dirty="0" err="1"/>
              <a:t>practicals</a:t>
            </a:r>
            <a:r>
              <a:rPr lang="en-GB" altLang="en-US" sz="1000" dirty="0"/>
              <a:t> we will do an exercise to recover the fault plane orientation, slip vector orientation, and slip sense using strike/dip measurements of the P-foliation and Riedel shears in a clay-bearing fault gouge</a:t>
            </a:r>
          </a:p>
          <a:p>
            <a:pPr marL="108000" indent="-108000">
              <a:spcBef>
                <a:spcPts val="300"/>
              </a:spcBef>
              <a:buFont typeface="Arial" panose="020B0604020202020204" pitchFamily="34" charset="0"/>
              <a:buChar char="•"/>
            </a:pPr>
            <a:r>
              <a:rPr lang="en-GB" altLang="en-US" sz="1000" dirty="0"/>
              <a:t>The photo is of a fault gouge within the </a:t>
            </a:r>
            <a:r>
              <a:rPr lang="en-GB" altLang="en-US" sz="1000" dirty="0" err="1"/>
              <a:t>Carboneras</a:t>
            </a:r>
            <a:r>
              <a:rPr lang="en-GB" altLang="en-US" sz="1000" dirty="0"/>
              <a:t> fault zone, south-eastern Spain. Note the geometrical similarity between these fabrics and SC-</a:t>
            </a:r>
            <a:r>
              <a:rPr lang="en-GB" altLang="en-US" sz="1000" dirty="0" err="1"/>
              <a:t>mylonites</a:t>
            </a:r>
            <a:endParaRPr lang="en-GB" altLang="en-US" sz="1000" dirty="0"/>
          </a:p>
          <a:p>
            <a:pPr marL="108000" indent="-108000">
              <a:spcBef>
                <a:spcPts val="300"/>
              </a:spcBef>
              <a:buFont typeface="Arial" panose="020B0604020202020204" pitchFamily="34" charset="0"/>
              <a:buChar char="•"/>
            </a:pPr>
            <a:r>
              <a:rPr lang="en-GB" altLang="en-US" sz="1000" dirty="0"/>
              <a:t>The photo and the figure come from Rutter </a:t>
            </a:r>
            <a:r>
              <a:rPr lang="en-GB" altLang="en-US" sz="1000" i="1" dirty="0"/>
              <a:t>et al.</a:t>
            </a:r>
            <a:r>
              <a:rPr lang="en-GB" altLang="en-US" sz="1000" dirty="0"/>
              <a:t>, 2012, </a:t>
            </a:r>
            <a:r>
              <a:rPr lang="en-GB" altLang="en-US" sz="1000" i="1" dirty="0"/>
              <a:t>Journal of Structural Geology</a:t>
            </a:r>
            <a:r>
              <a:rPr lang="en-GB" altLang="en-US" sz="1000" dirty="0"/>
              <a:t> 45: 68-86, </a:t>
            </a:r>
            <a:r>
              <a:rPr lang="en-GB" sz="1000" dirty="0"/>
              <a:t>https://doi.org/10.1016/j.jsg.2012.08.009</a:t>
            </a:r>
            <a:endParaRPr lang="en-GB" altLang="en-US" sz="1000" dirty="0"/>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a:extLst>
              <a:ext uri="{FF2B5EF4-FFF2-40B4-BE49-F238E27FC236}">
                <a16:creationId xmlns:a16="http://schemas.microsoft.com/office/drawing/2014/main" id="{0F3493E0-D013-4EF0-AC79-118F744901BB}"/>
              </a:ext>
            </a:extLst>
          </p:cNvPr>
          <p:cNvSpPr>
            <a:spLocks noGrp="1" noRot="1" noChangeAspect="1" noChangeArrowheads="1" noTextEdit="1"/>
          </p:cNvSpPr>
          <p:nvPr>
            <p:ph type="sldImg"/>
          </p:nvPr>
        </p:nvSpPr>
        <p:spPr>
          <a:ln/>
        </p:spPr>
      </p:sp>
      <p:sp>
        <p:nvSpPr>
          <p:cNvPr id="100355" name="Rectangle 3">
            <a:extLst>
              <a:ext uri="{FF2B5EF4-FFF2-40B4-BE49-F238E27FC236}">
                <a16:creationId xmlns:a16="http://schemas.microsoft.com/office/drawing/2014/main" id="{243F9EE2-F82E-4E59-BCDB-83833BB29431}"/>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Photo (Steve Covey-Crump): fault rocks from Coll de </a:t>
            </a:r>
            <a:r>
              <a:rPr lang="en-GB" altLang="en-US" sz="1000" dirty="0" err="1"/>
              <a:t>Nargo</a:t>
            </a:r>
            <a:r>
              <a:rPr lang="en-GB" altLang="en-US" sz="1000" dirty="0"/>
              <a:t>, north of </a:t>
            </a:r>
            <a:r>
              <a:rPr lang="en-GB" altLang="en-US" sz="1000" dirty="0" err="1"/>
              <a:t>Oliana</a:t>
            </a:r>
            <a:r>
              <a:rPr lang="en-GB" altLang="en-US" sz="1000" dirty="0"/>
              <a:t>, Spain. Note the intensely developed P-foliation in the clay-bearing unit (bottom half of photo), together with the start of Riedel shear formation. Note also that the unit to the top, which was not originally clay-bearing, is a non-foliated </a:t>
            </a:r>
            <a:r>
              <a:rPr lang="en-GB" altLang="en-US" sz="1000" dirty="0" err="1"/>
              <a:t>cataclasite</a:t>
            </a:r>
            <a:r>
              <a:rPr lang="en-GB" altLang="en-US" sz="1000" dirty="0"/>
              <a:t>. The fabrics in the foliated part of this fault zone imply a slip sense of top to the right</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a:extLst>
              <a:ext uri="{FF2B5EF4-FFF2-40B4-BE49-F238E27FC236}">
                <a16:creationId xmlns:a16="http://schemas.microsoft.com/office/drawing/2014/main" id="{32D77344-314D-4576-8419-21D352B38A9B}"/>
              </a:ext>
            </a:extLst>
          </p:cNvPr>
          <p:cNvSpPr>
            <a:spLocks noGrp="1" noRot="1" noChangeAspect="1" noChangeArrowheads="1" noTextEdit="1"/>
          </p:cNvSpPr>
          <p:nvPr>
            <p:ph type="sldImg"/>
          </p:nvPr>
        </p:nvSpPr>
        <p:spPr>
          <a:ln/>
        </p:spPr>
      </p:sp>
      <p:sp>
        <p:nvSpPr>
          <p:cNvPr id="96259" name="Rectangle 3">
            <a:extLst>
              <a:ext uri="{FF2B5EF4-FFF2-40B4-BE49-F238E27FC236}">
                <a16:creationId xmlns:a16="http://schemas.microsoft.com/office/drawing/2014/main" id="{B320B93F-B1E1-4864-8787-271C1C378CB3}"/>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Figure top right from Fossen </a:t>
            </a:r>
            <a:r>
              <a:rPr lang="en-GB" altLang="en-US" sz="1000" i="1" dirty="0"/>
              <a:t>et al.</a:t>
            </a:r>
            <a:r>
              <a:rPr lang="en-GB" altLang="en-US" sz="1000" dirty="0"/>
              <a:t>, 2007, </a:t>
            </a:r>
            <a:r>
              <a:rPr lang="en-GB" altLang="en-US" sz="1000" i="1" dirty="0"/>
              <a:t>Journal of the Geological Society, London</a:t>
            </a:r>
            <a:r>
              <a:rPr lang="en-GB" altLang="en-US" sz="1000" dirty="0"/>
              <a:t> 164: 755-769, </a:t>
            </a:r>
            <a:r>
              <a:rPr lang="en-GB" sz="1000" dirty="0"/>
              <a:t>https://doi.org/10.1144/0016-76492006-036</a:t>
            </a:r>
            <a:r>
              <a:rPr lang="en-GB" altLang="en-US" sz="1000" dirty="0"/>
              <a:t> – this paper is a good overview of the subject of deformation bands. For an update of the paper, see Fossen </a:t>
            </a:r>
            <a:r>
              <a:rPr lang="en-GB" altLang="en-US" sz="1000" i="1" dirty="0"/>
              <a:t>et al.</a:t>
            </a:r>
            <a:r>
              <a:rPr lang="en-GB" altLang="en-US" sz="1000" i="0" dirty="0"/>
              <a:t>, 2018, </a:t>
            </a:r>
            <a:r>
              <a:rPr lang="en-GB" altLang="en-US" sz="1000" i="1" dirty="0"/>
              <a:t>Geological Society, London, Special Publications</a:t>
            </a:r>
            <a:r>
              <a:rPr lang="en-GB" altLang="en-US" sz="1000" i="0" dirty="0"/>
              <a:t> 459: 9-33, </a:t>
            </a:r>
            <a:r>
              <a:rPr lang="en-GB" sz="1000" dirty="0"/>
              <a:t>https://doi.org/10.1144/SP459.4</a:t>
            </a:r>
            <a:endParaRPr lang="en-GB" altLang="en-US" sz="1000" dirty="0"/>
          </a:p>
          <a:p>
            <a:pPr marL="108000" indent="-108000">
              <a:spcBef>
                <a:spcPts val="300"/>
              </a:spcBef>
              <a:buFont typeface="Arial" panose="020B0604020202020204" pitchFamily="34" charset="0"/>
              <a:buChar char="•"/>
            </a:pPr>
            <a:r>
              <a:rPr lang="en-GB" altLang="en-US" sz="1000" dirty="0"/>
              <a:t>Photomicrograph bottom left (Fossen, p.146): compaction band in Navajo sandstone, southern Utah. The blue stained areas are porosity – note how much reduced the porosity is within the compaction band</a:t>
            </a:r>
          </a:p>
          <a:p>
            <a:pPr marL="108000" indent="-108000">
              <a:spcBef>
                <a:spcPts val="300"/>
              </a:spcBef>
              <a:buFont typeface="Arial" panose="020B0604020202020204" pitchFamily="34" charset="0"/>
              <a:buChar char="•"/>
            </a:pPr>
            <a:r>
              <a:rPr lang="en-GB" altLang="en-US" sz="1000" dirty="0"/>
              <a:t>Photo bottom right (Fossen, one of the extra figures on the web-site for the book, folk.uib.no/</a:t>
            </a:r>
            <a:r>
              <a:rPr lang="en-GB" altLang="en-US" sz="1000" dirty="0" err="1"/>
              <a:t>nglhe</a:t>
            </a:r>
            <a:r>
              <a:rPr lang="en-GB" altLang="en-US" sz="1000" dirty="0"/>
              <a:t>/StructuralGeoBook.html): 6 m Fault, Goblin Valley, Utah. The deformation bands are more resistant to weathering and so give the surface of the rock the chaotic honeycomb appearance</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08000" indent="-108000">
              <a:spcBef>
                <a:spcPts val="300"/>
              </a:spcBef>
              <a:buFont typeface="Arial" panose="020B0604020202020204" pitchFamily="34" charset="0"/>
              <a:buChar char="•"/>
            </a:pPr>
            <a:endParaRPr lang="en-GB" sz="1000" dirty="0"/>
          </a:p>
        </p:txBody>
      </p:sp>
      <p:sp>
        <p:nvSpPr>
          <p:cNvPr id="4" name="Slide Number Placeholder 3"/>
          <p:cNvSpPr>
            <a:spLocks noGrp="1"/>
          </p:cNvSpPr>
          <p:nvPr>
            <p:ph type="sldNum" sz="quarter" idx="5"/>
          </p:nvPr>
        </p:nvSpPr>
        <p:spPr/>
        <p:txBody>
          <a:bodyPr/>
          <a:lstStyle/>
          <a:p>
            <a:fld id="{C501626C-B5A0-495B-BE4C-E6C934511C75}" type="slidenum">
              <a:rPr lang="en-GB" altLang="en-US" smtClean="0"/>
              <a:pPr/>
              <a:t>49</a:t>
            </a:fld>
            <a:endParaRPr lang="en-GB" altLang="en-US"/>
          </a:p>
        </p:txBody>
      </p:sp>
    </p:spTree>
    <p:extLst>
      <p:ext uri="{BB962C8B-B14F-4D97-AF65-F5344CB8AC3E}">
        <p14:creationId xmlns:p14="http://schemas.microsoft.com/office/powerpoint/2010/main" val="31530264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2292" name="Title"/>
          <p:cNvSpPr>
            <a:spLocks noGrp="1" noChangeArrowheads="1"/>
          </p:cNvSpPr>
          <p:nvPr>
            <p:ph type="ctrTitle"/>
          </p:nvPr>
        </p:nvSpPr>
        <p:spPr bwMode="black">
          <a:xfrm>
            <a:off x="566738" y="2647950"/>
            <a:ext cx="8123237" cy="625475"/>
          </a:xfrm>
          <a:effectLst>
            <a:outerShdw dist="35921" dir="2700000" algn="ctr" rotWithShape="0">
              <a:schemeClr val="bg2"/>
            </a:outerShdw>
          </a:effectLst>
          <a:extLst>
            <a:ext uri="{909E8E84-426E-40DD-AFC4-6F175D3DCCD1}">
              <a14:hiddenFill xmlns:a14="http://schemas.microsoft.com/office/drawing/2010/main">
                <a:solidFill>
                  <a:schemeClr val="bg1"/>
                </a:solidFill>
              </a14:hiddenFill>
            </a:ext>
          </a:extLst>
        </p:spPr>
        <p:txBody>
          <a:bodyPr anchor="ctr">
            <a:spAutoFit/>
          </a:bodyPr>
          <a:lstStyle>
            <a:lvl1pPr algn="ctr">
              <a:defRPr sz="3500"/>
            </a:lvl1pPr>
          </a:lstStyle>
          <a:p>
            <a:pPr lvl="0"/>
            <a:r>
              <a:rPr lang="en-GB" noProof="0"/>
              <a:t>Click to edit Master title style</a:t>
            </a:r>
          </a:p>
        </p:txBody>
      </p:sp>
    </p:spTree>
    <p:extLst>
      <p:ext uri="{BB962C8B-B14F-4D97-AF65-F5344CB8AC3E}">
        <p14:creationId xmlns:p14="http://schemas.microsoft.com/office/powerpoint/2010/main" val="1417398933"/>
      </p:ext>
    </p:extLst>
  </p:cSld>
  <p:clrMapOvr>
    <a:masterClrMapping/>
  </p:clrMapOvr>
  <p:transition spd="slow"/>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766816569"/>
      </p:ext>
    </p:extLst>
  </p:cSld>
  <p:clrMapOvr>
    <a:masterClrMapping/>
  </p:clrMapOvr>
  <p:transition spd="slow"/>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1610552831"/>
      </p:ext>
    </p:extLst>
  </p:cSld>
  <p:clrMapOvr>
    <a:masterClrMapping/>
  </p:clrMapOvr>
  <p:transition spd="slow"/>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255588" y="917575"/>
            <a:ext cx="4291012" cy="5729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99000" y="917575"/>
            <a:ext cx="4291013" cy="5729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711826212"/>
      </p:ext>
    </p:extLst>
  </p:cSld>
  <p:clrMapOvr>
    <a:masterClrMapping/>
  </p:clrMapOvr>
  <p:transition spd="slow"/>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4242303092"/>
      </p:ext>
    </p:extLst>
  </p:cSld>
  <p:clrMapOvr>
    <a:masterClrMapping/>
  </p:clrMapOvr>
  <p:transition spd="slow"/>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949911082"/>
      </p:ext>
    </p:extLst>
  </p:cSld>
  <p:clrMapOvr>
    <a:masterClrMapping/>
  </p:clrMapOvr>
  <p:transition spd="slow"/>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937883175"/>
      </p:ext>
    </p:extLst>
  </p:cSld>
  <p:clrMapOvr>
    <a:masterClrMapping/>
  </p:clrMapOvr>
  <p:transition spd="slow"/>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205405948"/>
      </p:ext>
    </p:extLst>
  </p:cSld>
  <p:clrMapOvr>
    <a:masterClrMapping/>
  </p:clrMapOvr>
  <p:transition spd="slow"/>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726700342"/>
      </p:ext>
    </p:extLst>
  </p:cSld>
  <p:clrMapOvr>
    <a:masterClrMapping/>
  </p:clrMapOvr>
  <p:transition spd="slow"/>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918692725"/>
      </p:ext>
    </p:extLst>
  </p:cSld>
  <p:clrMapOvr>
    <a:masterClrMapping/>
  </p:clrMapOvr>
  <p:transition spd="slow"/>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10375" y="93663"/>
            <a:ext cx="2184400" cy="6553200"/>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252413" y="93663"/>
            <a:ext cx="6405562" cy="6553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678941415"/>
      </p:ext>
    </p:extLst>
  </p:cSld>
  <p:clrMapOvr>
    <a:masterClrMapping/>
  </p:clrMapOvr>
  <p:transition spd="slow"/>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2413" y="93663"/>
            <a:ext cx="8742362" cy="541337"/>
          </a:xfrm>
        </p:spPr>
        <p:txBody>
          <a:bodyPr/>
          <a:lstStyle/>
          <a:p>
            <a:r>
              <a:rPr lang="en-US"/>
              <a:t>Click to edit Master title style</a:t>
            </a:r>
            <a:endParaRPr lang="en-GB"/>
          </a:p>
        </p:txBody>
      </p:sp>
      <p:sp>
        <p:nvSpPr>
          <p:cNvPr id="3" name="Text Placeholder 2"/>
          <p:cNvSpPr>
            <a:spLocks noGrp="1"/>
          </p:cNvSpPr>
          <p:nvPr>
            <p:ph type="body" sz="half" idx="1"/>
          </p:nvPr>
        </p:nvSpPr>
        <p:spPr>
          <a:xfrm>
            <a:off x="255588" y="917575"/>
            <a:ext cx="4291012" cy="5729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99000" y="917575"/>
            <a:ext cx="4291013" cy="5729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020477136"/>
      </p:ext>
    </p:extLst>
  </p:cSld>
  <p:clrMapOvr>
    <a:masterClrMapping/>
  </p:clrMapOvr>
  <p:transition spd="slow"/>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252413" y="93663"/>
            <a:ext cx="8742362" cy="541337"/>
          </a:xfrm>
        </p:spPr>
        <p:txBody>
          <a:bodyPr/>
          <a:lstStyle/>
          <a:p>
            <a:r>
              <a:rPr lang="en-US"/>
              <a:t>Click to edit Master title style</a:t>
            </a:r>
            <a:endParaRPr lang="en-GB"/>
          </a:p>
        </p:txBody>
      </p:sp>
      <p:sp>
        <p:nvSpPr>
          <p:cNvPr id="3" name="Text Placeholder 2"/>
          <p:cNvSpPr>
            <a:spLocks noGrp="1"/>
          </p:cNvSpPr>
          <p:nvPr>
            <p:ph type="body" sz="half" idx="1"/>
          </p:nvPr>
        </p:nvSpPr>
        <p:spPr>
          <a:xfrm>
            <a:off x="255588" y="917575"/>
            <a:ext cx="4291012" cy="5729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quarter" idx="2"/>
          </p:nvPr>
        </p:nvSpPr>
        <p:spPr>
          <a:xfrm>
            <a:off x="4699000" y="917575"/>
            <a:ext cx="4291013" cy="2787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Content Placeholder 4"/>
          <p:cNvSpPr>
            <a:spLocks noGrp="1"/>
          </p:cNvSpPr>
          <p:nvPr>
            <p:ph sz="quarter" idx="3"/>
          </p:nvPr>
        </p:nvSpPr>
        <p:spPr>
          <a:xfrm>
            <a:off x="4699000" y="3857625"/>
            <a:ext cx="4291013" cy="27892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4234231908"/>
      </p:ext>
    </p:extLst>
  </p:cSld>
  <p:clrMapOvr>
    <a:masterClrMapping/>
  </p:clrMapOvr>
  <p:transition spd="slow"/>
</p:sldLayout>
</file>

<file path=ppt/slideLayouts/slideLayout14.xml><?xml version="1.0" encoding="utf-8"?>
<p:sldLayout xmlns:a="http://schemas.openxmlformats.org/drawingml/2006/main" xmlns:r="http://schemas.openxmlformats.org/officeDocument/2006/relationships" xmlns:p="http://schemas.openxmlformats.org/presentationml/2006/main" type="fourObj" preserve="1">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252413" y="93663"/>
            <a:ext cx="8742362" cy="541337"/>
          </a:xfrm>
        </p:spPr>
        <p:txBody>
          <a:bodyPr/>
          <a:lstStyle/>
          <a:p>
            <a:r>
              <a:rPr lang="en-US"/>
              <a:t>Click to edit Master title style</a:t>
            </a:r>
            <a:endParaRPr lang="en-GB"/>
          </a:p>
        </p:txBody>
      </p:sp>
      <p:sp>
        <p:nvSpPr>
          <p:cNvPr id="3" name="Content Placeholder 2"/>
          <p:cNvSpPr>
            <a:spLocks noGrp="1"/>
          </p:cNvSpPr>
          <p:nvPr>
            <p:ph sz="quarter" idx="1"/>
          </p:nvPr>
        </p:nvSpPr>
        <p:spPr>
          <a:xfrm>
            <a:off x="255588" y="917575"/>
            <a:ext cx="4291012" cy="2787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quarter" idx="2"/>
          </p:nvPr>
        </p:nvSpPr>
        <p:spPr>
          <a:xfrm>
            <a:off x="4699000" y="917575"/>
            <a:ext cx="4291013" cy="2787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Content Placeholder 4"/>
          <p:cNvSpPr>
            <a:spLocks noGrp="1"/>
          </p:cNvSpPr>
          <p:nvPr>
            <p:ph sz="quarter" idx="3"/>
          </p:nvPr>
        </p:nvSpPr>
        <p:spPr>
          <a:xfrm>
            <a:off x="255588" y="3857625"/>
            <a:ext cx="4291012" cy="27892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Content Placeholder 5"/>
          <p:cNvSpPr>
            <a:spLocks noGrp="1"/>
          </p:cNvSpPr>
          <p:nvPr>
            <p:ph sz="quarter" idx="4"/>
          </p:nvPr>
        </p:nvSpPr>
        <p:spPr>
          <a:xfrm>
            <a:off x="4699000" y="3857625"/>
            <a:ext cx="4291013" cy="27892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506873765"/>
      </p:ext>
    </p:extLst>
  </p:cSld>
  <p:clrMapOvr>
    <a:masterClrMapping/>
  </p:clrMapOvr>
  <p:transition spd="slow"/>
</p:sldLayout>
</file>

<file path=ppt/slideLayouts/slideLayout15.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252413" y="93663"/>
            <a:ext cx="8742362" cy="541337"/>
          </a:xfrm>
        </p:spPr>
        <p:txBody>
          <a:bodyPr/>
          <a:lstStyle/>
          <a:p>
            <a:r>
              <a:rPr lang="en-US"/>
              <a:t>Click to edit Master title style</a:t>
            </a:r>
            <a:endParaRPr lang="en-GB"/>
          </a:p>
        </p:txBody>
      </p:sp>
      <p:sp>
        <p:nvSpPr>
          <p:cNvPr id="3" name="Content Placeholder 2"/>
          <p:cNvSpPr>
            <a:spLocks noGrp="1"/>
          </p:cNvSpPr>
          <p:nvPr>
            <p:ph sz="half" idx="1"/>
          </p:nvPr>
        </p:nvSpPr>
        <p:spPr>
          <a:xfrm>
            <a:off x="255588" y="917575"/>
            <a:ext cx="4291012" cy="5729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quarter" idx="2"/>
          </p:nvPr>
        </p:nvSpPr>
        <p:spPr>
          <a:xfrm>
            <a:off x="4699000" y="917575"/>
            <a:ext cx="4291013" cy="2787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Content Placeholder 4"/>
          <p:cNvSpPr>
            <a:spLocks noGrp="1"/>
          </p:cNvSpPr>
          <p:nvPr>
            <p:ph sz="quarter" idx="3"/>
          </p:nvPr>
        </p:nvSpPr>
        <p:spPr>
          <a:xfrm>
            <a:off x="4699000" y="3857625"/>
            <a:ext cx="4291013" cy="27892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863949117"/>
      </p:ext>
    </p:extLst>
  </p:cSld>
  <p:clrMapOvr>
    <a:masterClrMapping/>
  </p:clrMapOvr>
  <p:transition spd="slow"/>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267" name="Rectangle 3">
            <a:extLst>
              <a:ext uri="{FF2B5EF4-FFF2-40B4-BE49-F238E27FC236}">
                <a16:creationId xmlns:a16="http://schemas.microsoft.com/office/drawing/2014/main" id="{64B72719-213B-4EFC-AE1B-6B98C60B62E9}"/>
              </a:ext>
            </a:extLst>
          </p:cNvPr>
          <p:cNvSpPr>
            <a:spLocks noGrp="1" noChangeArrowheads="1"/>
          </p:cNvSpPr>
          <p:nvPr>
            <p:ph type="title"/>
          </p:nvPr>
        </p:nvSpPr>
        <p:spPr bwMode="auto">
          <a:xfrm>
            <a:off x="252413" y="93663"/>
            <a:ext cx="8742362" cy="541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en-GB"/>
              <a:t>Click to edit Master title style</a:t>
            </a:r>
          </a:p>
        </p:txBody>
      </p:sp>
      <p:sp>
        <p:nvSpPr>
          <p:cNvPr id="11268" name="Rectangle 4">
            <a:extLst>
              <a:ext uri="{FF2B5EF4-FFF2-40B4-BE49-F238E27FC236}">
                <a16:creationId xmlns:a16="http://schemas.microsoft.com/office/drawing/2014/main" id="{604696BD-CCF9-46FF-8C4D-0937460F1F8F}"/>
              </a:ext>
            </a:extLst>
          </p:cNvPr>
          <p:cNvSpPr>
            <a:spLocks noGrp="1" noChangeArrowheads="1"/>
          </p:cNvSpPr>
          <p:nvPr>
            <p:ph type="body" idx="1"/>
          </p:nvPr>
        </p:nvSpPr>
        <p:spPr bwMode="auto">
          <a:xfrm>
            <a:off x="255588" y="917575"/>
            <a:ext cx="8734425" cy="5729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1288" name="Line 24">
            <a:extLst>
              <a:ext uri="{FF2B5EF4-FFF2-40B4-BE49-F238E27FC236}">
                <a16:creationId xmlns:a16="http://schemas.microsoft.com/office/drawing/2014/main" id="{E8870632-2AF8-4696-B684-C644A1DE660B}"/>
              </a:ext>
            </a:extLst>
          </p:cNvPr>
          <p:cNvSpPr>
            <a:spLocks noChangeShapeType="1"/>
          </p:cNvSpPr>
          <p:nvPr userDrawn="1"/>
        </p:nvSpPr>
        <p:spPr bwMode="auto">
          <a:xfrm>
            <a:off x="0" y="735013"/>
            <a:ext cx="91440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GB">
              <a:latin typeface="Helvetica" charset="0"/>
            </a:endParaRPr>
          </a:p>
        </p:txBody>
      </p:sp>
    </p:spTree>
  </p:cSld>
  <p:clrMap bg1="dk2" tx1="lt1" bg2="dk1" tx2="lt2" accent1="accent1" accent2="accent2" accent3="accent3" accent4="accent4" accent5="accent5" accent6="accent6" hlink="hlink" folHlink="folHlink"/>
  <p:sldLayoutIdLst>
    <p:sldLayoutId id="2147483695" r:id="rId1"/>
    <p:sldLayoutId id="2147483694" r:id="rId2"/>
    <p:sldLayoutId id="2147483693" r:id="rId3"/>
    <p:sldLayoutId id="2147483692" r:id="rId4"/>
    <p:sldLayoutId id="2147483691" r:id="rId5"/>
    <p:sldLayoutId id="2147483690" r:id="rId6"/>
    <p:sldLayoutId id="2147483689" r:id="rId7"/>
    <p:sldLayoutId id="2147483688" r:id="rId8"/>
    <p:sldLayoutId id="2147483687" r:id="rId9"/>
    <p:sldLayoutId id="2147483686" r:id="rId10"/>
    <p:sldLayoutId id="2147483685" r:id="rId11"/>
    <p:sldLayoutId id="2147483684" r:id="rId12"/>
    <p:sldLayoutId id="2147483683" r:id="rId13"/>
    <p:sldLayoutId id="2147483682" r:id="rId14"/>
    <p:sldLayoutId id="2147483681" r:id="rId15"/>
  </p:sldLayoutIdLst>
  <p:transition spd="slow"/>
  <p:txStyles>
    <p:titleStyle>
      <a:lvl1pPr algn="l" rtl="0" eaLnBrk="0" fontAlgn="base" hangingPunct="0">
        <a:spcBef>
          <a:spcPct val="0"/>
        </a:spcBef>
        <a:spcAft>
          <a:spcPct val="0"/>
        </a:spcAft>
        <a:defRPr sz="2600" b="1">
          <a:solidFill>
            <a:srgbClr val="FFFF66"/>
          </a:solidFill>
          <a:effectLst>
            <a:outerShdw blurRad="38100" dist="38100" dir="2700000" algn="tl">
              <a:srgbClr val="000000"/>
            </a:outerShdw>
          </a:effectLst>
          <a:latin typeface="+mj-lt"/>
          <a:ea typeface="+mj-ea"/>
          <a:cs typeface="+mj-cs"/>
        </a:defRPr>
      </a:lvl1pPr>
      <a:lvl2pPr algn="l" rtl="0" eaLnBrk="0" fontAlgn="base" hangingPunct="0">
        <a:spcBef>
          <a:spcPct val="0"/>
        </a:spcBef>
        <a:spcAft>
          <a:spcPct val="0"/>
        </a:spcAft>
        <a:defRPr sz="2600" b="1">
          <a:solidFill>
            <a:srgbClr val="FFFF66"/>
          </a:solidFill>
          <a:effectLst>
            <a:outerShdw blurRad="38100" dist="38100" dir="2700000" algn="tl">
              <a:srgbClr val="000000"/>
            </a:outerShdw>
          </a:effectLst>
          <a:latin typeface="Arial" charset="0"/>
        </a:defRPr>
      </a:lvl2pPr>
      <a:lvl3pPr algn="l" rtl="0" eaLnBrk="0" fontAlgn="base" hangingPunct="0">
        <a:spcBef>
          <a:spcPct val="0"/>
        </a:spcBef>
        <a:spcAft>
          <a:spcPct val="0"/>
        </a:spcAft>
        <a:defRPr sz="2600" b="1">
          <a:solidFill>
            <a:srgbClr val="FFFF66"/>
          </a:solidFill>
          <a:effectLst>
            <a:outerShdw blurRad="38100" dist="38100" dir="2700000" algn="tl">
              <a:srgbClr val="000000"/>
            </a:outerShdw>
          </a:effectLst>
          <a:latin typeface="Arial" charset="0"/>
        </a:defRPr>
      </a:lvl3pPr>
      <a:lvl4pPr algn="l" rtl="0" eaLnBrk="0" fontAlgn="base" hangingPunct="0">
        <a:spcBef>
          <a:spcPct val="0"/>
        </a:spcBef>
        <a:spcAft>
          <a:spcPct val="0"/>
        </a:spcAft>
        <a:defRPr sz="2600" b="1">
          <a:solidFill>
            <a:srgbClr val="FFFF66"/>
          </a:solidFill>
          <a:effectLst>
            <a:outerShdw blurRad="38100" dist="38100" dir="2700000" algn="tl">
              <a:srgbClr val="000000"/>
            </a:outerShdw>
          </a:effectLst>
          <a:latin typeface="Arial" charset="0"/>
        </a:defRPr>
      </a:lvl4pPr>
      <a:lvl5pPr algn="l" rtl="0" eaLnBrk="0" fontAlgn="base" hangingPunct="0">
        <a:spcBef>
          <a:spcPct val="0"/>
        </a:spcBef>
        <a:spcAft>
          <a:spcPct val="0"/>
        </a:spcAft>
        <a:defRPr sz="2600" b="1">
          <a:solidFill>
            <a:srgbClr val="FFFF66"/>
          </a:solidFill>
          <a:effectLst>
            <a:outerShdw blurRad="38100" dist="38100" dir="2700000" algn="tl">
              <a:srgbClr val="000000"/>
            </a:outerShdw>
          </a:effectLst>
          <a:latin typeface="Arial" charset="0"/>
        </a:defRPr>
      </a:lvl5pPr>
      <a:lvl6pPr marL="457200" algn="l" rtl="0" eaLnBrk="0" fontAlgn="base" hangingPunct="0">
        <a:spcBef>
          <a:spcPct val="0"/>
        </a:spcBef>
        <a:spcAft>
          <a:spcPct val="0"/>
        </a:spcAft>
        <a:defRPr sz="2600" b="1">
          <a:solidFill>
            <a:srgbClr val="FFFF66"/>
          </a:solidFill>
          <a:effectLst>
            <a:outerShdw blurRad="38100" dist="38100" dir="2700000" algn="tl">
              <a:srgbClr val="000000"/>
            </a:outerShdw>
          </a:effectLst>
          <a:latin typeface="Arial" charset="0"/>
        </a:defRPr>
      </a:lvl6pPr>
      <a:lvl7pPr marL="914400" algn="l" rtl="0" eaLnBrk="0" fontAlgn="base" hangingPunct="0">
        <a:spcBef>
          <a:spcPct val="0"/>
        </a:spcBef>
        <a:spcAft>
          <a:spcPct val="0"/>
        </a:spcAft>
        <a:defRPr sz="2600" b="1">
          <a:solidFill>
            <a:srgbClr val="FFFF66"/>
          </a:solidFill>
          <a:effectLst>
            <a:outerShdw blurRad="38100" dist="38100" dir="2700000" algn="tl">
              <a:srgbClr val="000000"/>
            </a:outerShdw>
          </a:effectLst>
          <a:latin typeface="Arial" charset="0"/>
        </a:defRPr>
      </a:lvl7pPr>
      <a:lvl8pPr marL="1371600" algn="l" rtl="0" eaLnBrk="0" fontAlgn="base" hangingPunct="0">
        <a:spcBef>
          <a:spcPct val="0"/>
        </a:spcBef>
        <a:spcAft>
          <a:spcPct val="0"/>
        </a:spcAft>
        <a:defRPr sz="2600" b="1">
          <a:solidFill>
            <a:srgbClr val="FFFF66"/>
          </a:solidFill>
          <a:effectLst>
            <a:outerShdw blurRad="38100" dist="38100" dir="2700000" algn="tl">
              <a:srgbClr val="000000"/>
            </a:outerShdw>
          </a:effectLst>
          <a:latin typeface="Arial" charset="0"/>
        </a:defRPr>
      </a:lvl8pPr>
      <a:lvl9pPr marL="1828800" algn="l" rtl="0" eaLnBrk="0" fontAlgn="base" hangingPunct="0">
        <a:spcBef>
          <a:spcPct val="0"/>
        </a:spcBef>
        <a:spcAft>
          <a:spcPct val="0"/>
        </a:spcAft>
        <a:defRPr sz="2600" b="1">
          <a:solidFill>
            <a:srgbClr val="FFFF66"/>
          </a:solidFill>
          <a:effectLst>
            <a:outerShdw blurRad="38100" dist="38100" dir="2700000" algn="tl">
              <a:srgbClr val="000000"/>
            </a:outerShdw>
          </a:effectLst>
          <a:latin typeface="Arial" charset="0"/>
        </a:defRPr>
      </a:lvl9pPr>
    </p:titleStyle>
    <p:bodyStyle>
      <a:lvl1pPr marL="288925" indent="-288925" algn="l" rtl="0" eaLnBrk="0" fontAlgn="base" hangingPunct="0">
        <a:lnSpc>
          <a:spcPct val="120000"/>
        </a:lnSpc>
        <a:spcBef>
          <a:spcPct val="100000"/>
        </a:spcBef>
        <a:spcAft>
          <a:spcPct val="0"/>
        </a:spcAft>
        <a:buClr>
          <a:schemeClr val="folHlink"/>
        </a:buClr>
        <a:buSzPct val="100000"/>
        <a:buFont typeface="Times" panose="02020603050405020304" pitchFamily="18" charset="0"/>
        <a:buChar char="•"/>
        <a:defRPr sz="2000">
          <a:solidFill>
            <a:schemeClr val="tx1"/>
          </a:solidFill>
          <a:effectLst>
            <a:outerShdw blurRad="38100" dist="38100" dir="2700000" algn="tl">
              <a:srgbClr val="000000"/>
            </a:outerShdw>
          </a:effectLst>
          <a:latin typeface="+mn-lt"/>
          <a:ea typeface="+mn-ea"/>
          <a:cs typeface="+mn-cs"/>
        </a:defRPr>
      </a:lvl1pPr>
      <a:lvl2pPr marL="762000" indent="-187325" algn="l" rtl="0" eaLnBrk="0" fontAlgn="base" hangingPunct="0">
        <a:lnSpc>
          <a:spcPct val="120000"/>
        </a:lnSpc>
        <a:spcBef>
          <a:spcPct val="50000"/>
        </a:spcBef>
        <a:spcAft>
          <a:spcPct val="0"/>
        </a:spcAft>
        <a:buClr>
          <a:schemeClr val="folHlink"/>
        </a:buClr>
        <a:buSzPct val="100000"/>
        <a:buFont typeface="Times" panose="02020603050405020304" pitchFamily="18" charset="0"/>
        <a:buChar char="•"/>
        <a:defRPr>
          <a:solidFill>
            <a:schemeClr val="tx1"/>
          </a:solidFill>
          <a:effectLst>
            <a:outerShdw blurRad="38100" dist="38100" dir="2700000" algn="tl">
              <a:srgbClr val="000000"/>
            </a:outerShdw>
          </a:effectLst>
          <a:latin typeface="+mn-lt"/>
        </a:defRPr>
      </a:lvl2pPr>
      <a:lvl3pPr marL="1235075" indent="-184150" algn="l" rtl="0" eaLnBrk="0" fontAlgn="base" hangingPunct="0">
        <a:spcBef>
          <a:spcPct val="25000"/>
        </a:spcBef>
        <a:spcAft>
          <a:spcPct val="0"/>
        </a:spcAft>
        <a:buClr>
          <a:schemeClr val="folHlink"/>
        </a:buClr>
        <a:buFont typeface="Times" panose="02020603050405020304" pitchFamily="18" charset="0"/>
        <a:buChar char="•"/>
        <a:defRPr sz="1600">
          <a:solidFill>
            <a:schemeClr val="tx1"/>
          </a:solidFill>
          <a:effectLst>
            <a:outerShdw blurRad="38100" dist="38100" dir="2700000" algn="tl">
              <a:srgbClr val="000000"/>
            </a:outerShdw>
          </a:effectLst>
          <a:latin typeface="+mn-lt"/>
        </a:defRPr>
      </a:lvl3pPr>
      <a:lvl4pPr marL="1698625" indent="-228600" algn="l" rtl="0" eaLnBrk="0" fontAlgn="base" hangingPunct="0">
        <a:spcBef>
          <a:spcPct val="25000"/>
        </a:spcBef>
        <a:spcAft>
          <a:spcPct val="0"/>
        </a:spcAft>
        <a:buClr>
          <a:schemeClr val="folHlink"/>
        </a:buClr>
        <a:buFont typeface="Times" panose="02020603050405020304" pitchFamily="18" charset="0"/>
        <a:buChar char="•"/>
        <a:defRPr sz="1600">
          <a:solidFill>
            <a:schemeClr val="tx1"/>
          </a:solidFill>
          <a:effectLst>
            <a:outerShdw blurRad="38100" dist="38100" dir="2700000" algn="tl">
              <a:srgbClr val="000000"/>
            </a:outerShdw>
          </a:effectLst>
          <a:latin typeface="+mn-lt"/>
        </a:defRPr>
      </a:lvl4pPr>
      <a:lvl5pPr marL="2117725" indent="-228600" algn="l" rtl="0" eaLnBrk="0" fontAlgn="base" hangingPunct="0">
        <a:spcBef>
          <a:spcPct val="25000"/>
        </a:spcBef>
        <a:spcAft>
          <a:spcPct val="0"/>
        </a:spcAft>
        <a:buClr>
          <a:schemeClr val="folHlink"/>
        </a:buClr>
        <a:buSzPct val="50000"/>
        <a:buFont typeface="Times" panose="02020603050405020304" pitchFamily="18" charset="0"/>
        <a:buChar char="•"/>
        <a:defRPr sz="1600">
          <a:solidFill>
            <a:schemeClr val="tx1"/>
          </a:solidFill>
          <a:effectLst>
            <a:outerShdw blurRad="38100" dist="38100" dir="2700000" algn="tl">
              <a:srgbClr val="000000"/>
            </a:outerShdw>
          </a:effectLst>
          <a:latin typeface="+mn-lt"/>
        </a:defRPr>
      </a:lvl5pPr>
      <a:lvl6pPr marL="2574925" indent="-228600" algn="l" rtl="0" eaLnBrk="0" fontAlgn="base" hangingPunct="0">
        <a:spcBef>
          <a:spcPct val="25000"/>
        </a:spcBef>
        <a:spcAft>
          <a:spcPct val="0"/>
        </a:spcAft>
        <a:buClr>
          <a:schemeClr val="folHlink"/>
        </a:buClr>
        <a:buSzPct val="50000"/>
        <a:buFont typeface="Times"/>
        <a:buChar char="•"/>
        <a:defRPr sz="1600">
          <a:solidFill>
            <a:schemeClr val="tx1"/>
          </a:solidFill>
          <a:effectLst>
            <a:outerShdw blurRad="38100" dist="38100" dir="2700000" algn="tl">
              <a:srgbClr val="000000"/>
            </a:outerShdw>
          </a:effectLst>
          <a:latin typeface="+mn-lt"/>
        </a:defRPr>
      </a:lvl6pPr>
      <a:lvl7pPr marL="3032125" indent="-228600" algn="l" rtl="0" eaLnBrk="0" fontAlgn="base" hangingPunct="0">
        <a:spcBef>
          <a:spcPct val="25000"/>
        </a:spcBef>
        <a:spcAft>
          <a:spcPct val="0"/>
        </a:spcAft>
        <a:buClr>
          <a:schemeClr val="folHlink"/>
        </a:buClr>
        <a:buSzPct val="50000"/>
        <a:buFont typeface="Times"/>
        <a:buChar char="•"/>
        <a:defRPr sz="1600">
          <a:solidFill>
            <a:schemeClr val="tx1"/>
          </a:solidFill>
          <a:effectLst>
            <a:outerShdw blurRad="38100" dist="38100" dir="2700000" algn="tl">
              <a:srgbClr val="000000"/>
            </a:outerShdw>
          </a:effectLst>
          <a:latin typeface="+mn-lt"/>
        </a:defRPr>
      </a:lvl7pPr>
      <a:lvl8pPr marL="3489325" indent="-228600" algn="l" rtl="0" eaLnBrk="0" fontAlgn="base" hangingPunct="0">
        <a:spcBef>
          <a:spcPct val="25000"/>
        </a:spcBef>
        <a:spcAft>
          <a:spcPct val="0"/>
        </a:spcAft>
        <a:buClr>
          <a:schemeClr val="folHlink"/>
        </a:buClr>
        <a:buSzPct val="50000"/>
        <a:buFont typeface="Times"/>
        <a:buChar char="•"/>
        <a:defRPr sz="1600">
          <a:solidFill>
            <a:schemeClr val="tx1"/>
          </a:solidFill>
          <a:effectLst>
            <a:outerShdw blurRad="38100" dist="38100" dir="2700000" algn="tl">
              <a:srgbClr val="000000"/>
            </a:outerShdw>
          </a:effectLst>
          <a:latin typeface="+mn-lt"/>
        </a:defRPr>
      </a:lvl8pPr>
      <a:lvl9pPr marL="3946525" indent="-228600" algn="l" rtl="0" eaLnBrk="0" fontAlgn="base" hangingPunct="0">
        <a:spcBef>
          <a:spcPct val="25000"/>
        </a:spcBef>
        <a:spcAft>
          <a:spcPct val="0"/>
        </a:spcAft>
        <a:buClr>
          <a:schemeClr val="folHlink"/>
        </a:buClr>
        <a:buSzPct val="50000"/>
        <a:buFont typeface="Times"/>
        <a:buChar char="•"/>
        <a:defRPr sz="1600">
          <a:solidFill>
            <a:schemeClr val="tx1"/>
          </a:solidFill>
          <a:effectLst>
            <a:outerShdw blurRad="38100" dist="38100" dir="2700000" algn="tl">
              <a:srgbClr val="000000"/>
            </a:outerShdw>
          </a:effectLst>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13.xml"/><Relationship Id="rId4" Type="http://schemas.openxmlformats.org/officeDocument/2006/relationships/image" Target="../media/image3.jpg"/></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14.xml"/><Relationship Id="rId6" Type="http://schemas.openxmlformats.org/officeDocument/2006/relationships/image" Target="../media/image7.jpeg"/><Relationship Id="rId5" Type="http://schemas.openxmlformats.org/officeDocument/2006/relationships/image" Target="../media/image6.jpeg"/><Relationship Id="rId4" Type="http://schemas.openxmlformats.org/officeDocument/2006/relationships/image" Target="../media/image5.jpeg"/></Relationships>
</file>

<file path=ppt/slides/_rels/slide5.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7.xml"/><Relationship Id="rId1" Type="http://schemas.openxmlformats.org/officeDocument/2006/relationships/slideLayout" Target="../slideLayouts/slideLayout13.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image" Target="../media/image14.png"/><Relationship Id="rId5" Type="http://schemas.openxmlformats.org/officeDocument/2006/relationships/image" Target="../media/image11.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0.xml"/><Relationship Id="rId1" Type="http://schemas.openxmlformats.org/officeDocument/2006/relationships/slideLayout" Target="../slideLayouts/slideLayout15.xml"/><Relationship Id="rId5" Type="http://schemas.openxmlformats.org/officeDocument/2006/relationships/image" Target="../media/image17.jpeg"/><Relationship Id="rId4" Type="http://schemas.openxmlformats.org/officeDocument/2006/relationships/image" Target="../media/image16.jpeg"/></Relationships>
</file>

<file path=ppt/slides/_rels/slide11.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1.xml"/><Relationship Id="rId1" Type="http://schemas.openxmlformats.org/officeDocument/2006/relationships/slideLayout" Target="../slideLayouts/slideLayout15.xml"/><Relationship Id="rId5" Type="http://schemas.openxmlformats.org/officeDocument/2006/relationships/image" Target="../media/image20.jpeg"/><Relationship Id="rId4" Type="http://schemas.openxmlformats.org/officeDocument/2006/relationships/image" Target="../media/image19.jpeg"/></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13.xml"/><Relationship Id="rId5" Type="http://schemas.openxmlformats.org/officeDocument/2006/relationships/image" Target="../media/image23.png"/><Relationship Id="rId4" Type="http://schemas.openxmlformats.org/officeDocument/2006/relationships/image" Target="../media/image22.jpeg"/></Relationships>
</file>

<file path=ppt/slides/_rels/slide13.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3.xml"/><Relationship Id="rId1" Type="http://schemas.openxmlformats.org/officeDocument/2006/relationships/slideLayout" Target="../slideLayouts/slideLayout13.xml"/><Relationship Id="rId4" Type="http://schemas.openxmlformats.org/officeDocument/2006/relationships/image" Target="../media/image24.png"/></Relationships>
</file>

<file path=ppt/slides/_rels/slide14.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14.xml"/><Relationship Id="rId1" Type="http://schemas.openxmlformats.org/officeDocument/2006/relationships/slideLayout" Target="../slideLayouts/slideLayout13.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jpeg"/></Relationships>
</file>

<file path=ppt/slides/_rels/slide1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16.xml"/><Relationship Id="rId1" Type="http://schemas.openxmlformats.org/officeDocument/2006/relationships/slideLayout" Target="../slideLayouts/slideLayout12.xml"/><Relationship Id="rId5" Type="http://schemas.openxmlformats.org/officeDocument/2006/relationships/image" Target="../media/image31.jpeg"/><Relationship Id="rId4" Type="http://schemas.openxmlformats.org/officeDocument/2006/relationships/image" Target="../media/image27.png"/></Relationships>
</file>

<file path=ppt/slides/_rels/slide1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7.xml"/><Relationship Id="rId1" Type="http://schemas.openxmlformats.org/officeDocument/2006/relationships/slideLayout" Target="../slideLayouts/slideLayout13.xml"/><Relationship Id="rId4" Type="http://schemas.openxmlformats.org/officeDocument/2006/relationships/image" Target="../media/image33.jpeg"/></Relationships>
</file>

<file path=ppt/slides/_rels/slide18.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18.xml"/><Relationship Id="rId1" Type="http://schemas.openxmlformats.org/officeDocument/2006/relationships/slideLayout" Target="../slideLayouts/slideLayout13.xml"/><Relationship Id="rId6" Type="http://schemas.openxmlformats.org/officeDocument/2006/relationships/image" Target="../media/image37.jpeg"/><Relationship Id="rId5" Type="http://schemas.openxmlformats.org/officeDocument/2006/relationships/image" Target="../media/image36.jpeg"/><Relationship Id="rId4" Type="http://schemas.openxmlformats.org/officeDocument/2006/relationships/image" Target="../media/image35.jpeg"/></Relationships>
</file>

<file path=ppt/slides/_rels/slide19.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19.xml"/><Relationship Id="rId1" Type="http://schemas.openxmlformats.org/officeDocument/2006/relationships/slideLayout" Target="../slideLayouts/slideLayout13.xml"/><Relationship Id="rId6" Type="http://schemas.openxmlformats.org/officeDocument/2006/relationships/image" Target="../media/image41.jpeg"/><Relationship Id="rId5" Type="http://schemas.openxmlformats.org/officeDocument/2006/relationships/image" Target="../media/image40.jpeg"/><Relationship Id="rId4" Type="http://schemas.openxmlformats.org/officeDocument/2006/relationships/image" Target="../media/image39.jpeg"/></Relationships>
</file>

<file path=ppt/slides/_rels/slide20.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20.xml"/><Relationship Id="rId1" Type="http://schemas.openxmlformats.org/officeDocument/2006/relationships/slideLayout" Target="../slideLayouts/slideLayout13.xml"/><Relationship Id="rId5" Type="http://schemas.openxmlformats.org/officeDocument/2006/relationships/image" Target="../media/image27.png"/><Relationship Id="rId4" Type="http://schemas.openxmlformats.org/officeDocument/2006/relationships/image" Target="../media/image43.png"/></Relationships>
</file>

<file path=ppt/slides/_rels/slide21.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21.xml"/><Relationship Id="rId1" Type="http://schemas.openxmlformats.org/officeDocument/2006/relationships/slideLayout" Target="../slideLayouts/slideLayout13.xml"/><Relationship Id="rId5" Type="http://schemas.openxmlformats.org/officeDocument/2006/relationships/image" Target="../media/image46.jpeg"/><Relationship Id="rId4" Type="http://schemas.openxmlformats.org/officeDocument/2006/relationships/image" Target="../media/image45.jpeg"/></Relationships>
</file>

<file path=ppt/slides/_rels/slide22.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notesSlide" Target="../notesSlides/notesSlide22.xml"/><Relationship Id="rId1" Type="http://schemas.openxmlformats.org/officeDocument/2006/relationships/slideLayout" Target="../slideLayouts/slideLayout13.xml"/><Relationship Id="rId4" Type="http://schemas.openxmlformats.org/officeDocument/2006/relationships/image" Target="../media/image48.jpeg"/></Relationships>
</file>

<file path=ppt/slides/_rels/slide23.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notesSlide" Target="../notesSlides/notesSlide23.xml"/><Relationship Id="rId1" Type="http://schemas.openxmlformats.org/officeDocument/2006/relationships/slideLayout" Target="../slideLayouts/slideLayout12.xml"/><Relationship Id="rId4" Type="http://schemas.openxmlformats.org/officeDocument/2006/relationships/image" Target="../media/image50.jpeg"/></Relationships>
</file>

<file path=ppt/slides/_rels/slide24.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notesSlide" Target="../notesSlides/notesSlide24.xml"/><Relationship Id="rId1" Type="http://schemas.openxmlformats.org/officeDocument/2006/relationships/slideLayout" Target="../slideLayouts/slideLayout13.xml"/><Relationship Id="rId6" Type="http://schemas.openxmlformats.org/officeDocument/2006/relationships/image" Target="../media/image54.jpeg"/><Relationship Id="rId5" Type="http://schemas.openxmlformats.org/officeDocument/2006/relationships/image" Target="../media/image53.jpeg"/><Relationship Id="rId4" Type="http://schemas.openxmlformats.org/officeDocument/2006/relationships/image" Target="../media/image52.png"/></Relationships>
</file>

<file path=ppt/slides/_rels/slide25.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notesSlide" Target="../notesSlides/notesSlide25.xml"/><Relationship Id="rId1" Type="http://schemas.openxmlformats.org/officeDocument/2006/relationships/slideLayout" Target="../slideLayouts/slideLayout14.xml"/><Relationship Id="rId6" Type="http://schemas.openxmlformats.org/officeDocument/2006/relationships/image" Target="../media/image57.jpeg"/><Relationship Id="rId5" Type="http://schemas.openxmlformats.org/officeDocument/2006/relationships/image" Target="../media/image56.jpeg"/><Relationship Id="rId4" Type="http://schemas.openxmlformats.org/officeDocument/2006/relationships/image" Target="../media/image52.png"/></Relationships>
</file>

<file path=ppt/slides/_rels/slide26.xml.rels><?xml version="1.0" encoding="UTF-8" standalone="yes"?>
<Relationships xmlns="http://schemas.openxmlformats.org/package/2006/relationships"><Relationship Id="rId3" Type="http://schemas.openxmlformats.org/officeDocument/2006/relationships/image" Target="../media/image58.jpeg"/><Relationship Id="rId7" Type="http://schemas.microsoft.com/office/2007/relationships/hdphoto" Target="../media/hdphoto1.wdp"/><Relationship Id="rId2" Type="http://schemas.openxmlformats.org/officeDocument/2006/relationships/notesSlide" Target="../notesSlides/notesSlide26.xml"/><Relationship Id="rId1" Type="http://schemas.openxmlformats.org/officeDocument/2006/relationships/slideLayout" Target="../slideLayouts/slideLayout13.xml"/><Relationship Id="rId6" Type="http://schemas.openxmlformats.org/officeDocument/2006/relationships/image" Target="../media/image60.png"/><Relationship Id="rId5" Type="http://schemas.openxmlformats.org/officeDocument/2006/relationships/image" Target="../media/image27.png"/><Relationship Id="rId4" Type="http://schemas.openxmlformats.org/officeDocument/2006/relationships/image" Target="../media/image59.jpeg"/></Relationships>
</file>

<file path=ppt/slides/_rels/slide27.xml.rels><?xml version="1.0" encoding="UTF-8" standalone="yes"?>
<Relationships xmlns="http://schemas.openxmlformats.org/package/2006/relationships"><Relationship Id="rId3" Type="http://schemas.openxmlformats.org/officeDocument/2006/relationships/image" Target="../media/image61.jpeg"/><Relationship Id="rId2" Type="http://schemas.openxmlformats.org/officeDocument/2006/relationships/notesSlide" Target="../notesSlides/notesSlide27.xml"/><Relationship Id="rId1" Type="http://schemas.openxmlformats.org/officeDocument/2006/relationships/slideLayout" Target="../slideLayouts/slideLayout13.xml"/><Relationship Id="rId6" Type="http://schemas.openxmlformats.org/officeDocument/2006/relationships/image" Target="../media/image27.png"/><Relationship Id="rId5" Type="http://schemas.openxmlformats.org/officeDocument/2006/relationships/image" Target="../media/image63.jpeg"/><Relationship Id="rId4" Type="http://schemas.openxmlformats.org/officeDocument/2006/relationships/image" Target="../media/image62.jpeg"/></Relationships>
</file>

<file path=ppt/slides/_rels/slide28.xml.rels><?xml version="1.0" encoding="UTF-8" standalone="yes"?>
<Relationships xmlns="http://schemas.openxmlformats.org/package/2006/relationships"><Relationship Id="rId3" Type="http://schemas.openxmlformats.org/officeDocument/2006/relationships/image" Target="../media/image64.jpeg"/><Relationship Id="rId2" Type="http://schemas.openxmlformats.org/officeDocument/2006/relationships/notesSlide" Target="../notesSlides/notesSlide28.xml"/><Relationship Id="rId1" Type="http://schemas.openxmlformats.org/officeDocument/2006/relationships/slideLayout" Target="../slideLayouts/slideLayout13.xml"/><Relationship Id="rId6" Type="http://schemas.openxmlformats.org/officeDocument/2006/relationships/image" Target="../media/image67.png"/><Relationship Id="rId5" Type="http://schemas.openxmlformats.org/officeDocument/2006/relationships/image" Target="../media/image66.jpeg"/><Relationship Id="rId4" Type="http://schemas.openxmlformats.org/officeDocument/2006/relationships/image" Target="../media/image65.jpeg"/></Relationships>
</file>

<file path=ppt/slides/_rels/slide29.xml.rels><?xml version="1.0" encoding="UTF-8" standalone="yes"?>
<Relationships xmlns="http://schemas.openxmlformats.org/package/2006/relationships"><Relationship Id="rId3" Type="http://schemas.openxmlformats.org/officeDocument/2006/relationships/image" Target="../media/image68.jpeg"/><Relationship Id="rId2" Type="http://schemas.openxmlformats.org/officeDocument/2006/relationships/notesSlide" Target="../notesSlides/notesSlide29.xml"/><Relationship Id="rId1" Type="http://schemas.openxmlformats.org/officeDocument/2006/relationships/slideLayout" Target="../slideLayouts/slideLayout13.xml"/><Relationship Id="rId5" Type="http://schemas.openxmlformats.org/officeDocument/2006/relationships/image" Target="../media/image70.png"/><Relationship Id="rId4" Type="http://schemas.openxmlformats.org/officeDocument/2006/relationships/image" Target="../media/image69.jpeg"/></Relationships>
</file>

<file path=ppt/slides/_rels/slide30.xml.rels><?xml version="1.0" encoding="UTF-8" standalone="yes"?>
<Relationships xmlns="http://schemas.openxmlformats.org/package/2006/relationships"><Relationship Id="rId3" Type="http://schemas.openxmlformats.org/officeDocument/2006/relationships/image" Target="../media/image71.jpeg"/><Relationship Id="rId2" Type="http://schemas.openxmlformats.org/officeDocument/2006/relationships/notesSlide" Target="../notesSlides/notesSlide30.xml"/><Relationship Id="rId1" Type="http://schemas.openxmlformats.org/officeDocument/2006/relationships/slideLayout" Target="../slideLayouts/slideLayout13.xml"/><Relationship Id="rId4" Type="http://schemas.openxmlformats.org/officeDocument/2006/relationships/image" Target="../media/image72.jpeg"/></Relationships>
</file>

<file path=ppt/slides/_rels/slide31.xml.rels><?xml version="1.0" encoding="UTF-8" standalone="yes"?>
<Relationships xmlns="http://schemas.openxmlformats.org/package/2006/relationships"><Relationship Id="rId3" Type="http://schemas.openxmlformats.org/officeDocument/2006/relationships/image" Target="../media/image73.jpeg"/><Relationship Id="rId2" Type="http://schemas.openxmlformats.org/officeDocument/2006/relationships/notesSlide" Target="../notesSlides/notesSlide31.xml"/><Relationship Id="rId1" Type="http://schemas.openxmlformats.org/officeDocument/2006/relationships/slideLayout" Target="../slideLayouts/slideLayout12.xml"/><Relationship Id="rId4" Type="http://schemas.openxmlformats.org/officeDocument/2006/relationships/image" Target="../media/image74.jpe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75.jpeg"/><Relationship Id="rId2" Type="http://schemas.openxmlformats.org/officeDocument/2006/relationships/notesSlide" Target="../notesSlides/notesSlide33.xml"/><Relationship Id="rId1" Type="http://schemas.openxmlformats.org/officeDocument/2006/relationships/slideLayout" Target="../slideLayouts/slideLayout13.xml"/><Relationship Id="rId5" Type="http://schemas.openxmlformats.org/officeDocument/2006/relationships/image" Target="../media/image77.png"/><Relationship Id="rId4" Type="http://schemas.openxmlformats.org/officeDocument/2006/relationships/image" Target="../media/image76.jpeg"/></Relationships>
</file>

<file path=ppt/slides/_rels/slide34.xml.rels><?xml version="1.0" encoding="UTF-8" standalone="yes"?>
<Relationships xmlns="http://schemas.openxmlformats.org/package/2006/relationships"><Relationship Id="rId3" Type="http://schemas.openxmlformats.org/officeDocument/2006/relationships/image" Target="../media/image78.jpeg"/><Relationship Id="rId2" Type="http://schemas.openxmlformats.org/officeDocument/2006/relationships/notesSlide" Target="../notesSlides/notesSlide34.xml"/><Relationship Id="rId1" Type="http://schemas.openxmlformats.org/officeDocument/2006/relationships/slideLayout" Target="../slideLayouts/slideLayout13.xml"/><Relationship Id="rId6" Type="http://schemas.openxmlformats.org/officeDocument/2006/relationships/image" Target="../media/image27.png"/><Relationship Id="rId5" Type="http://schemas.openxmlformats.org/officeDocument/2006/relationships/image" Target="../media/image80.jpeg"/><Relationship Id="rId4" Type="http://schemas.openxmlformats.org/officeDocument/2006/relationships/image" Target="../media/image79.jpeg"/></Relationships>
</file>

<file path=ppt/slides/_rels/slide35.xml.rels><?xml version="1.0" encoding="UTF-8" standalone="yes"?>
<Relationships xmlns="http://schemas.openxmlformats.org/package/2006/relationships"><Relationship Id="rId3" Type="http://schemas.openxmlformats.org/officeDocument/2006/relationships/image" Target="../media/image81.jpeg"/><Relationship Id="rId2" Type="http://schemas.openxmlformats.org/officeDocument/2006/relationships/notesSlide" Target="../notesSlides/notesSlide35.xml"/><Relationship Id="rId1" Type="http://schemas.openxmlformats.org/officeDocument/2006/relationships/slideLayout" Target="../slideLayouts/slideLayout13.xml"/><Relationship Id="rId5" Type="http://schemas.openxmlformats.org/officeDocument/2006/relationships/image" Target="../media/image83.jpeg"/><Relationship Id="rId4" Type="http://schemas.openxmlformats.org/officeDocument/2006/relationships/image" Target="../media/image82.jpeg"/></Relationships>
</file>

<file path=ppt/slides/_rels/slide36.xml.rels><?xml version="1.0" encoding="UTF-8" standalone="yes"?>
<Relationships xmlns="http://schemas.openxmlformats.org/package/2006/relationships"><Relationship Id="rId3" Type="http://schemas.openxmlformats.org/officeDocument/2006/relationships/image" Target="../media/image84.jpeg"/><Relationship Id="rId2" Type="http://schemas.openxmlformats.org/officeDocument/2006/relationships/notesSlide" Target="../notesSlides/notesSlide36.xml"/><Relationship Id="rId1" Type="http://schemas.openxmlformats.org/officeDocument/2006/relationships/slideLayout" Target="../slideLayouts/slideLayout13.xml"/><Relationship Id="rId6" Type="http://schemas.openxmlformats.org/officeDocument/2006/relationships/image" Target="../media/image87.jpeg"/><Relationship Id="rId5" Type="http://schemas.openxmlformats.org/officeDocument/2006/relationships/image" Target="../media/image86.jpeg"/><Relationship Id="rId4" Type="http://schemas.openxmlformats.org/officeDocument/2006/relationships/image" Target="../media/image85.jpeg"/></Relationships>
</file>

<file path=ppt/slides/_rels/slide37.xml.rels><?xml version="1.0" encoding="UTF-8" standalone="yes"?>
<Relationships xmlns="http://schemas.openxmlformats.org/package/2006/relationships"><Relationship Id="rId3" Type="http://schemas.openxmlformats.org/officeDocument/2006/relationships/image" Target="../media/image88.jpeg"/><Relationship Id="rId2" Type="http://schemas.openxmlformats.org/officeDocument/2006/relationships/notesSlide" Target="../notesSlides/notesSlide37.xml"/><Relationship Id="rId1" Type="http://schemas.openxmlformats.org/officeDocument/2006/relationships/slideLayout" Target="../slideLayouts/slideLayout13.xml"/><Relationship Id="rId6" Type="http://schemas.openxmlformats.org/officeDocument/2006/relationships/image" Target="../media/image91.jpeg"/><Relationship Id="rId5" Type="http://schemas.openxmlformats.org/officeDocument/2006/relationships/image" Target="../media/image90.jpeg"/><Relationship Id="rId4" Type="http://schemas.openxmlformats.org/officeDocument/2006/relationships/image" Target="../media/image89.jpeg"/></Relationships>
</file>

<file path=ppt/slides/_rels/slide38.xml.rels><?xml version="1.0" encoding="UTF-8" standalone="yes"?>
<Relationships xmlns="http://schemas.openxmlformats.org/package/2006/relationships"><Relationship Id="rId3" Type="http://schemas.openxmlformats.org/officeDocument/2006/relationships/image" Target="../media/image92.jpeg"/><Relationship Id="rId2" Type="http://schemas.openxmlformats.org/officeDocument/2006/relationships/notesSlide" Target="../notesSlides/notesSlide38.xml"/><Relationship Id="rId1" Type="http://schemas.openxmlformats.org/officeDocument/2006/relationships/slideLayout" Target="../slideLayouts/slideLayout13.xml"/><Relationship Id="rId5" Type="http://schemas.openxmlformats.org/officeDocument/2006/relationships/image" Target="../media/image94.jpeg"/><Relationship Id="rId4" Type="http://schemas.openxmlformats.org/officeDocument/2006/relationships/image" Target="../media/image93.jpeg"/></Relationships>
</file>

<file path=ppt/slides/_rels/slide39.xml.rels><?xml version="1.0" encoding="UTF-8" standalone="yes"?>
<Relationships xmlns="http://schemas.openxmlformats.org/package/2006/relationships"><Relationship Id="rId3" Type="http://schemas.openxmlformats.org/officeDocument/2006/relationships/image" Target="../media/image95.jpeg"/><Relationship Id="rId2" Type="http://schemas.openxmlformats.org/officeDocument/2006/relationships/notesSlide" Target="../notesSlides/notesSlide39.xml"/><Relationship Id="rId1" Type="http://schemas.openxmlformats.org/officeDocument/2006/relationships/slideLayout" Target="../slideLayouts/slideLayout13.xml"/><Relationship Id="rId6" Type="http://schemas.openxmlformats.org/officeDocument/2006/relationships/image" Target="../media/image97.png"/><Relationship Id="rId5" Type="http://schemas.openxmlformats.org/officeDocument/2006/relationships/image" Target="../media/image96.jpeg"/><Relationship Id="rId4" Type="http://schemas.openxmlformats.org/officeDocument/2006/relationships/image" Target="../media/image27.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98.jpeg"/><Relationship Id="rId2" Type="http://schemas.openxmlformats.org/officeDocument/2006/relationships/notesSlide" Target="../notesSlides/notesSlide41.xml"/><Relationship Id="rId1" Type="http://schemas.openxmlformats.org/officeDocument/2006/relationships/slideLayout" Target="../slideLayouts/slideLayout12.xml"/><Relationship Id="rId4" Type="http://schemas.openxmlformats.org/officeDocument/2006/relationships/image" Target="../media/image99.wmf"/></Relationships>
</file>

<file path=ppt/slides/_rels/slide42.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42.xml"/><Relationship Id="rId1" Type="http://schemas.openxmlformats.org/officeDocument/2006/relationships/slideLayout" Target="../slideLayouts/slideLayout12.xml"/><Relationship Id="rId4" Type="http://schemas.openxmlformats.org/officeDocument/2006/relationships/image" Target="../media/image101.jpeg"/></Relationships>
</file>

<file path=ppt/slides/_rels/slide43.xml.rels><?xml version="1.0" encoding="UTF-8" standalone="yes"?>
<Relationships xmlns="http://schemas.openxmlformats.org/package/2006/relationships"><Relationship Id="rId3" Type="http://schemas.openxmlformats.org/officeDocument/2006/relationships/image" Target="../media/image102.jpeg"/><Relationship Id="rId2" Type="http://schemas.openxmlformats.org/officeDocument/2006/relationships/notesSlide" Target="../notesSlides/notesSlide43.xml"/><Relationship Id="rId1" Type="http://schemas.openxmlformats.org/officeDocument/2006/relationships/slideLayout" Target="../slideLayouts/slideLayout13.xml"/><Relationship Id="rId4" Type="http://schemas.openxmlformats.org/officeDocument/2006/relationships/image" Target="../media/image103.jpeg"/></Relationships>
</file>

<file path=ppt/slides/_rels/slide44.xml.rels><?xml version="1.0" encoding="UTF-8" standalone="yes"?>
<Relationships xmlns="http://schemas.openxmlformats.org/package/2006/relationships"><Relationship Id="rId3" Type="http://schemas.openxmlformats.org/officeDocument/2006/relationships/image" Target="../media/image104.jpe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notesSlide" Target="../notesSlides/notesSlide45.xml"/><Relationship Id="rId1" Type="http://schemas.openxmlformats.org/officeDocument/2006/relationships/slideLayout" Target="../slideLayouts/slideLayout13.xml"/><Relationship Id="rId4" Type="http://schemas.openxmlformats.org/officeDocument/2006/relationships/image" Target="../media/image106.png"/></Relationships>
</file>

<file path=ppt/slides/_rels/slide46.xml.rels><?xml version="1.0" encoding="UTF-8" standalone="yes"?>
<Relationships xmlns="http://schemas.openxmlformats.org/package/2006/relationships"><Relationship Id="rId3" Type="http://schemas.openxmlformats.org/officeDocument/2006/relationships/image" Target="../media/image107.jpeg"/><Relationship Id="rId2" Type="http://schemas.openxmlformats.org/officeDocument/2006/relationships/notesSlide" Target="../notesSlides/notesSlide46.xml"/><Relationship Id="rId1" Type="http://schemas.openxmlformats.org/officeDocument/2006/relationships/slideLayout" Target="../slideLayouts/slideLayout4.xml"/><Relationship Id="rId5" Type="http://schemas.openxmlformats.org/officeDocument/2006/relationships/image" Target="../media/image22.jpeg"/><Relationship Id="rId4" Type="http://schemas.openxmlformats.org/officeDocument/2006/relationships/image" Target="../media/image108.jpeg"/></Relationships>
</file>

<file path=ppt/slides/_rels/slide47.xml.rels><?xml version="1.0" encoding="UTF-8" standalone="yes"?>
<Relationships xmlns="http://schemas.openxmlformats.org/package/2006/relationships"><Relationship Id="rId3" Type="http://schemas.openxmlformats.org/officeDocument/2006/relationships/image" Target="../media/image109.jpeg"/><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110.jpeg"/><Relationship Id="rId2" Type="http://schemas.openxmlformats.org/officeDocument/2006/relationships/notesSlide" Target="../notesSlides/notesSlide48.xml"/><Relationship Id="rId1" Type="http://schemas.openxmlformats.org/officeDocument/2006/relationships/slideLayout" Target="../slideLayouts/slideLayout12.xml"/><Relationship Id="rId5" Type="http://schemas.openxmlformats.org/officeDocument/2006/relationships/image" Target="../media/image112.jpeg"/><Relationship Id="rId4" Type="http://schemas.openxmlformats.org/officeDocument/2006/relationships/image" Target="../media/image111.png"/></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2" name="Rectangle 2">
            <a:extLst>
              <a:ext uri="{FF2B5EF4-FFF2-40B4-BE49-F238E27FC236}">
                <a16:creationId xmlns:a16="http://schemas.microsoft.com/office/drawing/2014/main" id="{89F5A127-0399-442A-B2FB-EC15AFDE903A}"/>
              </a:ext>
            </a:extLst>
          </p:cNvPr>
          <p:cNvSpPr>
            <a:spLocks noGrp="1" noChangeArrowheads="1"/>
          </p:cNvSpPr>
          <p:nvPr>
            <p:ph type="ctrTitle"/>
          </p:nvPr>
        </p:nvSpPr>
        <p:spPr>
          <a:xfrm>
            <a:off x="239713" y="967538"/>
            <a:ext cx="8705850" cy="3213187"/>
          </a:xfrm>
        </p:spPr>
        <p:txBody>
          <a:bodyPr/>
          <a:lstStyle/>
          <a:p>
            <a:pPr>
              <a:lnSpc>
                <a:spcPct val="120000"/>
              </a:lnSpc>
              <a:defRPr/>
            </a:pPr>
            <a:r>
              <a:rPr lang="en-US" sz="3200" dirty="0"/>
              <a:t>EART 28202 :  Structural Geology</a:t>
            </a:r>
            <a:br>
              <a:rPr lang="en-US" sz="3200" dirty="0"/>
            </a:br>
            <a:br>
              <a:rPr lang="en-US" dirty="0"/>
            </a:br>
            <a:br>
              <a:rPr lang="en-US" dirty="0"/>
            </a:br>
            <a:br>
              <a:rPr lang="en-US" dirty="0"/>
            </a:br>
            <a:r>
              <a:rPr lang="en-US" sz="3200" dirty="0">
                <a:solidFill>
                  <a:srgbClr val="FF6600"/>
                </a:solidFill>
              </a:rPr>
              <a:t>Class 4 :  Shear Zones</a:t>
            </a:r>
            <a:endParaRPr lang="en-US" sz="2600" dirty="0">
              <a:solidFill>
                <a:srgbClr val="FF6600"/>
              </a:solidFill>
            </a:endParaRPr>
          </a:p>
        </p:txBody>
      </p:sp>
    </p:spTree>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E04EE556-95A5-496F-B99F-335174FB7F1B}"/>
              </a:ext>
            </a:extLst>
          </p:cNvPr>
          <p:cNvSpPr>
            <a:spLocks noGrp="1" noChangeArrowheads="1"/>
          </p:cNvSpPr>
          <p:nvPr>
            <p:ph type="title"/>
          </p:nvPr>
        </p:nvSpPr>
        <p:spPr>
          <a:noFill/>
        </p:spPr>
        <p:txBody>
          <a:bodyPr/>
          <a:lstStyle/>
          <a:p>
            <a:r>
              <a:rPr lang="en-GB" altLang="en-US">
                <a:effectLst/>
              </a:rPr>
              <a:t>Localization of deformation</a:t>
            </a:r>
          </a:p>
        </p:txBody>
      </p:sp>
      <p:sp>
        <p:nvSpPr>
          <p:cNvPr id="4099" name="Rectangle 3">
            <a:extLst>
              <a:ext uri="{FF2B5EF4-FFF2-40B4-BE49-F238E27FC236}">
                <a16:creationId xmlns:a16="http://schemas.microsoft.com/office/drawing/2014/main" id="{F7042ACA-5A03-4556-922D-E732D3D1D49D}"/>
              </a:ext>
            </a:extLst>
          </p:cNvPr>
          <p:cNvSpPr>
            <a:spLocks noGrp="1" noChangeArrowheads="1"/>
          </p:cNvSpPr>
          <p:nvPr>
            <p:ph type="body" sz="half" idx="1"/>
          </p:nvPr>
        </p:nvSpPr>
        <p:spPr>
          <a:xfrm>
            <a:off x="114300" y="793750"/>
            <a:ext cx="4406900" cy="5953125"/>
          </a:xfrm>
          <a:noFill/>
        </p:spPr>
        <p:txBody>
          <a:bodyPr/>
          <a:lstStyle/>
          <a:p>
            <a:pPr marL="177800" indent="-177800">
              <a:spcBef>
                <a:spcPct val="50000"/>
              </a:spcBef>
            </a:pPr>
            <a:r>
              <a:rPr lang="en-GB" altLang="en-US" sz="1700" dirty="0">
                <a:effectLst/>
              </a:rPr>
              <a:t>During natural deformation strain tends to be </a:t>
            </a:r>
            <a:r>
              <a:rPr lang="en-GB" altLang="en-US" sz="1700" dirty="0">
                <a:solidFill>
                  <a:srgbClr val="FF6600"/>
                </a:solidFill>
                <a:effectLst/>
              </a:rPr>
              <a:t>localized</a:t>
            </a:r>
            <a:r>
              <a:rPr lang="en-GB" altLang="en-US" sz="1700" dirty="0">
                <a:effectLst/>
              </a:rPr>
              <a:t> into zones</a:t>
            </a:r>
          </a:p>
          <a:p>
            <a:pPr marL="177800" indent="-177800">
              <a:spcBef>
                <a:spcPct val="50000"/>
              </a:spcBef>
            </a:pPr>
            <a:r>
              <a:rPr lang="en-GB" altLang="en-US" sz="1700" dirty="0">
                <a:effectLst/>
              </a:rPr>
              <a:t>The most obvious example of this is a </a:t>
            </a:r>
            <a:r>
              <a:rPr lang="en-GB" altLang="en-US" sz="1700" dirty="0">
                <a:solidFill>
                  <a:srgbClr val="FF66CC"/>
                </a:solidFill>
                <a:effectLst/>
              </a:rPr>
              <a:t>fault</a:t>
            </a:r>
            <a:r>
              <a:rPr lang="en-GB" altLang="en-US" sz="1700" dirty="0">
                <a:effectLst/>
              </a:rPr>
              <a:t> where almost all the deformation is accommodated within a narrow zone surrounding the fracture surface</a:t>
            </a:r>
          </a:p>
          <a:p>
            <a:pPr marL="177800" indent="-177800">
              <a:spcBef>
                <a:spcPct val="50000"/>
              </a:spcBef>
            </a:pPr>
            <a:r>
              <a:rPr lang="en-GB" altLang="en-US" sz="1700" dirty="0">
                <a:effectLst/>
              </a:rPr>
              <a:t>Regions of highly localized deformation are described as </a:t>
            </a:r>
            <a:r>
              <a:rPr lang="en-GB" altLang="en-US" sz="1700" dirty="0">
                <a:solidFill>
                  <a:srgbClr val="FF6600"/>
                </a:solidFill>
                <a:effectLst/>
              </a:rPr>
              <a:t>shear zones</a:t>
            </a:r>
          </a:p>
          <a:p>
            <a:pPr marL="177800" indent="-177800">
              <a:spcBef>
                <a:spcPct val="125000"/>
              </a:spcBef>
            </a:pPr>
            <a:r>
              <a:rPr lang="en-GB" altLang="en-US" sz="1700" dirty="0">
                <a:effectLst/>
              </a:rPr>
              <a:t>Shear zones can form at </a:t>
            </a:r>
            <a:r>
              <a:rPr lang="en-GB" altLang="en-US" sz="1700" dirty="0">
                <a:solidFill>
                  <a:srgbClr val="FF66CC"/>
                </a:solidFill>
                <a:effectLst/>
              </a:rPr>
              <a:t>all depths</a:t>
            </a:r>
            <a:r>
              <a:rPr lang="en-GB" altLang="en-US" sz="1700" dirty="0">
                <a:effectLst/>
              </a:rPr>
              <a:t> within the lithosphere, and at </a:t>
            </a:r>
            <a:r>
              <a:rPr lang="en-GB" altLang="en-US" sz="1700" dirty="0">
                <a:solidFill>
                  <a:srgbClr val="FF66CC"/>
                </a:solidFill>
                <a:effectLst/>
              </a:rPr>
              <a:t>all scales</a:t>
            </a:r>
            <a:r>
              <a:rPr lang="en-GB" altLang="en-US" sz="1700" dirty="0">
                <a:effectLst/>
              </a:rPr>
              <a:t> – from the sub-microscopic up to the scale of a plate boundary where the shear zone penetrates the whole lithosphere</a:t>
            </a:r>
          </a:p>
          <a:p>
            <a:pPr marL="177800" indent="-177800">
              <a:spcBef>
                <a:spcPct val="50000"/>
              </a:spcBef>
            </a:pPr>
            <a:r>
              <a:rPr lang="en-GB" altLang="en-US" sz="1700" dirty="0">
                <a:solidFill>
                  <a:srgbClr val="FF66CC"/>
                </a:solidFill>
                <a:effectLst/>
              </a:rPr>
              <a:t>Displacements</a:t>
            </a:r>
            <a:r>
              <a:rPr lang="en-GB" altLang="en-US" sz="1700" dirty="0">
                <a:effectLst/>
              </a:rPr>
              <a:t> across shear zones correspondingly range from the miniscule to 100s of kilometres</a:t>
            </a:r>
          </a:p>
        </p:txBody>
      </p:sp>
      <p:pic>
        <p:nvPicPr>
          <p:cNvPr id="4100" name="Picture 11" descr="Recent fault, Moreno Bay, Antofagata, Chile">
            <a:extLst>
              <a:ext uri="{FF2B5EF4-FFF2-40B4-BE49-F238E27FC236}">
                <a16:creationId xmlns:a16="http://schemas.microsoft.com/office/drawing/2014/main" id="{FF2D7533-C926-4AFE-AC9D-BFC3BA155DC2}"/>
              </a:ext>
            </a:extLst>
          </p:cNvPr>
          <p:cNvPicPr>
            <a:picLocks noGrp="1" noChangeAspect="1" noChangeArrowheads="1"/>
          </p:cNvPicPr>
          <p:nvPr>
            <p:ph sz="half" idx="2"/>
          </p:nvPr>
        </p:nvPicPr>
        <p:blipFill>
          <a:blip r:embed="rId3">
            <a:lum bright="-6000"/>
            <a:extLst>
              <a:ext uri="{28A0092B-C50C-407E-A947-70E740481C1C}">
                <a14:useLocalDpi xmlns:a14="http://schemas.microsoft.com/office/drawing/2010/main" val="0"/>
              </a:ext>
            </a:extLst>
          </a:blip>
          <a:srcRect/>
          <a:stretch>
            <a:fillRect/>
          </a:stretch>
        </p:blipFill>
        <p:spPr>
          <a:xfrm>
            <a:off x="5005388" y="917575"/>
            <a:ext cx="3754437" cy="5613400"/>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C7E2C9E9-1EA4-499B-9B7B-7B6E0D4DB05D}"/>
              </a:ext>
            </a:extLst>
          </p:cNvPr>
          <p:cNvSpPr>
            <a:spLocks noGrp="1" noChangeArrowheads="1"/>
          </p:cNvSpPr>
          <p:nvPr>
            <p:ph type="title"/>
          </p:nvPr>
        </p:nvSpPr>
        <p:spPr>
          <a:noFill/>
        </p:spPr>
        <p:txBody>
          <a:bodyPr/>
          <a:lstStyle/>
          <a:p>
            <a:r>
              <a:rPr lang="en-GB" altLang="en-US" dirty="0">
                <a:effectLst/>
              </a:rPr>
              <a:t>Brittle, semi-brittle, and ductile shear zones</a:t>
            </a:r>
          </a:p>
        </p:txBody>
      </p:sp>
      <p:sp>
        <p:nvSpPr>
          <p:cNvPr id="5123" name="Rectangle 3">
            <a:extLst>
              <a:ext uri="{FF2B5EF4-FFF2-40B4-BE49-F238E27FC236}">
                <a16:creationId xmlns:a16="http://schemas.microsoft.com/office/drawing/2014/main" id="{724E9427-AD81-47F3-BCF0-65B51D094D7E}"/>
              </a:ext>
            </a:extLst>
          </p:cNvPr>
          <p:cNvSpPr>
            <a:spLocks noGrp="1" noChangeArrowheads="1"/>
          </p:cNvSpPr>
          <p:nvPr>
            <p:ph type="body" sz="half" idx="1"/>
          </p:nvPr>
        </p:nvSpPr>
        <p:spPr>
          <a:xfrm>
            <a:off x="84660" y="764111"/>
            <a:ext cx="2959165" cy="4571977"/>
          </a:xfrm>
          <a:noFill/>
        </p:spPr>
        <p:txBody>
          <a:bodyPr/>
          <a:lstStyle/>
          <a:p>
            <a:pPr marL="177800" indent="-177800">
              <a:spcBef>
                <a:spcPct val="75000"/>
              </a:spcBef>
            </a:pPr>
            <a:r>
              <a:rPr lang="en-GB" altLang="en-US" sz="1700" dirty="0">
                <a:effectLst/>
              </a:rPr>
              <a:t>The mechanical properties of rocks change with temperature and pressure, and so the character of localized deformation zones </a:t>
            </a:r>
            <a:r>
              <a:rPr lang="en-GB" altLang="en-US" sz="1700" dirty="0">
                <a:solidFill>
                  <a:srgbClr val="FF66CC"/>
                </a:solidFill>
                <a:effectLst/>
              </a:rPr>
              <a:t>changes with depth</a:t>
            </a:r>
          </a:p>
          <a:p>
            <a:pPr marL="177800" indent="-177800">
              <a:spcBef>
                <a:spcPts val="600"/>
              </a:spcBef>
            </a:pPr>
            <a:r>
              <a:rPr lang="en-GB" altLang="en-US" sz="1700" dirty="0">
                <a:effectLst/>
              </a:rPr>
              <a:t>In the brittle upper crust, shear zones include </a:t>
            </a:r>
            <a:r>
              <a:rPr lang="en-GB" altLang="en-US" sz="1700" dirty="0">
                <a:solidFill>
                  <a:srgbClr val="FF6600"/>
                </a:solidFill>
                <a:effectLst/>
              </a:rPr>
              <a:t>faults </a:t>
            </a:r>
            <a:r>
              <a:rPr lang="en-GB" altLang="en-US" sz="1700" dirty="0">
                <a:effectLst/>
              </a:rPr>
              <a:t>and</a:t>
            </a:r>
            <a:r>
              <a:rPr lang="en-GB" altLang="en-US" sz="1700" dirty="0">
                <a:solidFill>
                  <a:srgbClr val="FF6600"/>
                </a:solidFill>
                <a:effectLst/>
              </a:rPr>
              <a:t> deformation bands</a:t>
            </a:r>
            <a:endParaRPr lang="en-GB" altLang="en-US" sz="1700" dirty="0">
              <a:effectLst/>
            </a:endParaRPr>
          </a:p>
          <a:p>
            <a:pPr marL="177800" indent="-177800">
              <a:spcBef>
                <a:spcPts val="600"/>
              </a:spcBef>
            </a:pPr>
            <a:r>
              <a:rPr lang="en-GB" altLang="en-US" sz="1700" dirty="0">
                <a:effectLst/>
              </a:rPr>
              <a:t>At greater depths, where rocks </a:t>
            </a:r>
            <a:r>
              <a:rPr lang="en-GB" altLang="en-US" sz="1700" dirty="0">
                <a:solidFill>
                  <a:srgbClr val="FF66CC"/>
                </a:solidFill>
                <a:effectLst/>
              </a:rPr>
              <a:t>flow rather than fracture</a:t>
            </a:r>
            <a:r>
              <a:rPr lang="en-GB" altLang="en-US" sz="1700" dirty="0">
                <a:effectLst/>
              </a:rPr>
              <a:t>, these zones of deformation are described as </a:t>
            </a:r>
            <a:r>
              <a:rPr lang="en-GB" altLang="en-US" sz="1700" dirty="0">
                <a:solidFill>
                  <a:srgbClr val="FF6600"/>
                </a:solidFill>
                <a:effectLst/>
              </a:rPr>
              <a:t>ductile shear zones</a:t>
            </a:r>
            <a:endParaRPr lang="en-GB" altLang="en-US" sz="1700" dirty="0">
              <a:solidFill>
                <a:srgbClr val="FF66CC"/>
              </a:solidFill>
              <a:effectLst/>
            </a:endParaRPr>
          </a:p>
        </p:txBody>
      </p:sp>
      <p:pic>
        <p:nvPicPr>
          <p:cNvPr id="5126" name="Picture 11" descr="01b">
            <a:extLst>
              <a:ext uri="{FF2B5EF4-FFF2-40B4-BE49-F238E27FC236}">
                <a16:creationId xmlns:a16="http://schemas.microsoft.com/office/drawing/2014/main" id="{72F028C7-4328-4278-AF63-18F3CB163018}"/>
              </a:ext>
            </a:extLst>
          </p:cNvPr>
          <p:cNvPicPr>
            <a:picLocks noGrp="1" noChangeAspect="1" noChangeArrowheads="1"/>
          </p:cNvPicPr>
          <p:nvPr>
            <p:ph sz="quarter" idx="3"/>
          </p:nvPr>
        </p:nvPicPr>
        <p:blipFill>
          <a:blip r:embed="rId3">
            <a:extLst>
              <a:ext uri="{28A0092B-C50C-407E-A947-70E740481C1C}">
                <a14:useLocalDpi xmlns:a14="http://schemas.microsoft.com/office/drawing/2010/main" val="0"/>
              </a:ext>
            </a:extLst>
          </a:blip>
          <a:srcRect/>
          <a:stretch>
            <a:fillRect/>
          </a:stretch>
        </p:blipFill>
        <p:spPr>
          <a:xfrm>
            <a:off x="3369500" y="5071315"/>
            <a:ext cx="5612054" cy="1531851"/>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3" name="Picture 2">
            <a:extLst>
              <a:ext uri="{FF2B5EF4-FFF2-40B4-BE49-F238E27FC236}">
                <a16:creationId xmlns:a16="http://schemas.microsoft.com/office/drawing/2014/main" id="{5DBDA534-7936-5C79-E586-43F0E69D890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118981" y="941518"/>
            <a:ext cx="5862572" cy="3914079"/>
          </a:xfrm>
          <a:prstGeom prst="rect">
            <a:avLst/>
          </a:prstGeom>
          <a:ln w="38100">
            <a:solidFill>
              <a:schemeClr val="bg1"/>
            </a:solidFill>
          </a:ln>
        </p:spPr>
      </p:pic>
      <p:sp>
        <p:nvSpPr>
          <p:cNvPr id="4" name="TextBox 3">
            <a:extLst>
              <a:ext uri="{FF2B5EF4-FFF2-40B4-BE49-F238E27FC236}">
                <a16:creationId xmlns:a16="http://schemas.microsoft.com/office/drawing/2014/main" id="{797ADE4B-B13D-D931-FBDF-1A4C800CAC85}"/>
              </a:ext>
            </a:extLst>
          </p:cNvPr>
          <p:cNvSpPr txBox="1"/>
          <p:nvPr/>
        </p:nvSpPr>
        <p:spPr>
          <a:xfrm>
            <a:off x="275573" y="5411245"/>
            <a:ext cx="3093927" cy="1299715"/>
          </a:xfrm>
          <a:prstGeom prst="rect">
            <a:avLst/>
          </a:prstGeom>
          <a:noFill/>
        </p:spPr>
        <p:txBody>
          <a:bodyPr wrap="square" rtlCol="0">
            <a:spAutoFit/>
          </a:bodyPr>
          <a:lstStyle/>
          <a:p>
            <a:pPr>
              <a:lnSpc>
                <a:spcPct val="114000"/>
              </a:lnSpc>
            </a:pPr>
            <a:r>
              <a:rPr lang="en-GB" altLang="en-US" sz="1400" dirty="0">
                <a:solidFill>
                  <a:srgbClr val="FFFF00"/>
                </a:solidFill>
                <a:effectLst/>
                <a:latin typeface="Arial" panose="020B0604020202020204" pitchFamily="34" charset="0"/>
                <a:cs typeface="Arial" panose="020B0604020202020204" pitchFamily="34" charset="0"/>
              </a:rPr>
              <a:t>In the transition between brittle and ductile behaviour, shear zones have a mixed, semi-brittle character, and are associated with </a:t>
            </a:r>
            <a:r>
              <a:rPr lang="en-GB" altLang="en-US" sz="1400" dirty="0" err="1">
                <a:solidFill>
                  <a:srgbClr val="FFFF00"/>
                </a:solidFill>
                <a:effectLst/>
                <a:latin typeface="Arial" panose="020B0604020202020204" pitchFamily="34" charset="0"/>
                <a:cs typeface="Arial" panose="020B0604020202020204" pitchFamily="34" charset="0"/>
              </a:rPr>
              <a:t>en</a:t>
            </a:r>
            <a:r>
              <a:rPr lang="en-GB" altLang="en-US" sz="1400" dirty="0">
                <a:solidFill>
                  <a:srgbClr val="FFFF00"/>
                </a:solidFill>
                <a:effectLst/>
                <a:latin typeface="Arial" panose="020B0604020202020204" pitchFamily="34" charset="0"/>
                <a:cs typeface="Arial" panose="020B0604020202020204" pitchFamily="34" charset="0"/>
              </a:rPr>
              <a:t> </a:t>
            </a:r>
            <a:r>
              <a:rPr lang="en-GB" altLang="en-US" sz="1400" dirty="0" err="1">
                <a:solidFill>
                  <a:srgbClr val="FFFF00"/>
                </a:solidFill>
                <a:effectLst/>
                <a:latin typeface="Arial" panose="020B0604020202020204" pitchFamily="34" charset="0"/>
                <a:cs typeface="Arial" panose="020B0604020202020204" pitchFamily="34" charset="0"/>
              </a:rPr>
              <a:t>échelon</a:t>
            </a:r>
            <a:r>
              <a:rPr lang="en-GB" altLang="en-US" sz="1400" dirty="0">
                <a:solidFill>
                  <a:srgbClr val="FFFF00"/>
                </a:solidFill>
                <a:effectLst/>
                <a:latin typeface="Arial" panose="020B0604020202020204" pitchFamily="34" charset="0"/>
                <a:cs typeface="Arial" panose="020B0604020202020204" pitchFamily="34" charset="0"/>
              </a:rPr>
              <a:t> arrays of extension cracks</a:t>
            </a:r>
          </a:p>
        </p:txBody>
      </p:sp>
    </p:spTree>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2E8550DE-2C5C-479F-9E89-BD95524EA50A}"/>
              </a:ext>
            </a:extLst>
          </p:cNvPr>
          <p:cNvSpPr>
            <a:spLocks noGrp="1" noChangeArrowheads="1"/>
          </p:cNvSpPr>
          <p:nvPr>
            <p:ph type="title" sz="quarter"/>
          </p:nvPr>
        </p:nvSpPr>
        <p:spPr>
          <a:noFill/>
        </p:spPr>
        <p:txBody>
          <a:bodyPr/>
          <a:lstStyle/>
          <a:p>
            <a:r>
              <a:rPr lang="en-GB" altLang="en-US" dirty="0">
                <a:effectLst/>
              </a:rPr>
              <a:t>Brittle, semi-brittle, and ductile shear zones</a:t>
            </a:r>
          </a:p>
        </p:txBody>
      </p:sp>
      <p:pic>
        <p:nvPicPr>
          <p:cNvPr id="6147" name="Picture 9" descr="Moab Fault core">
            <a:extLst>
              <a:ext uri="{FF2B5EF4-FFF2-40B4-BE49-F238E27FC236}">
                <a16:creationId xmlns:a16="http://schemas.microsoft.com/office/drawing/2014/main" id="{30E9BA7F-D29A-4083-91A0-7C6047FF1E54}"/>
              </a:ext>
            </a:extLst>
          </p:cNvPr>
          <p:cNvPicPr>
            <a:picLocks noGrp="1" noChangeAspect="1" noChangeArrowheads="1"/>
          </p:cNvPicPr>
          <p:nvPr>
            <p:ph sz="quarter" idx="1"/>
          </p:nvPr>
        </p:nvPicPr>
        <p:blipFill>
          <a:blip r:embed="rId3">
            <a:lum bright="-14000"/>
            <a:extLst>
              <a:ext uri="{28A0092B-C50C-407E-A947-70E740481C1C}">
                <a14:useLocalDpi xmlns:a14="http://schemas.microsoft.com/office/drawing/2010/main" val="0"/>
              </a:ext>
            </a:extLst>
          </a:blip>
          <a:srcRect/>
          <a:stretch>
            <a:fillRect/>
          </a:stretch>
        </p:blipFill>
        <p:spPr>
          <a:xfrm>
            <a:off x="247650" y="917575"/>
            <a:ext cx="4197350" cy="2787650"/>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6148" name="Picture 11" descr="SZ3c">
            <a:extLst>
              <a:ext uri="{FF2B5EF4-FFF2-40B4-BE49-F238E27FC236}">
                <a16:creationId xmlns:a16="http://schemas.microsoft.com/office/drawing/2014/main" id="{24F7B03E-7C37-477C-B9F0-0E761426BD20}"/>
              </a:ext>
            </a:extLst>
          </p:cNvPr>
          <p:cNvPicPr>
            <a:picLocks noGrp="1" noChangeAspect="1" noChangeArrowheads="1"/>
          </p:cNvPicPr>
          <p:nvPr>
            <p:ph sz="quarter" idx="2"/>
          </p:nvPr>
        </p:nvPicPr>
        <p:blipFill>
          <a:blip r:embed="rId4">
            <a:extLst>
              <a:ext uri="{28A0092B-C50C-407E-A947-70E740481C1C}">
                <a14:useLocalDpi xmlns:a14="http://schemas.microsoft.com/office/drawing/2010/main" val="0"/>
              </a:ext>
            </a:extLst>
          </a:blip>
          <a:srcRect/>
          <a:stretch>
            <a:fillRect/>
          </a:stretch>
        </p:blipFill>
        <p:spPr>
          <a:xfrm>
            <a:off x="4662488" y="917575"/>
            <a:ext cx="4291012" cy="2286000"/>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51921" name="Text Box 17">
            <a:extLst>
              <a:ext uri="{FF2B5EF4-FFF2-40B4-BE49-F238E27FC236}">
                <a16:creationId xmlns:a16="http://schemas.microsoft.com/office/drawing/2014/main" id="{32013E40-57D5-472F-AF57-DF5809860A62}"/>
              </a:ext>
            </a:extLst>
          </p:cNvPr>
          <p:cNvSpPr txBox="1">
            <a:spLocks noChangeArrowheads="1"/>
          </p:cNvSpPr>
          <p:nvPr/>
        </p:nvSpPr>
        <p:spPr bwMode="auto">
          <a:xfrm>
            <a:off x="4856163" y="3489325"/>
            <a:ext cx="3935412"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defRPr/>
            </a:pPr>
            <a:r>
              <a:rPr lang="en-GB" sz="1400" dirty="0">
                <a:solidFill>
                  <a:srgbClr val="FFFF00"/>
                </a:solidFill>
                <a:effectLst>
                  <a:outerShdw blurRad="38100" dist="38100" dir="2700000" algn="tl">
                    <a:srgbClr val="000000"/>
                  </a:outerShdw>
                </a:effectLst>
                <a:latin typeface="Arial" charset="0"/>
              </a:rPr>
              <a:t>Brittle (left), ductile (above), semi-brittle (below)</a:t>
            </a:r>
          </a:p>
        </p:txBody>
      </p:sp>
      <p:pic>
        <p:nvPicPr>
          <p:cNvPr id="6151" name="Picture 19" descr="02d-Marloes2">
            <a:extLst>
              <a:ext uri="{FF2B5EF4-FFF2-40B4-BE49-F238E27FC236}">
                <a16:creationId xmlns:a16="http://schemas.microsoft.com/office/drawing/2014/main" id="{F77E799D-98B2-4943-ADA8-47C5C4FBA10A}"/>
              </a:ext>
            </a:extLst>
          </p:cNvPr>
          <p:cNvPicPr>
            <a:picLocks noGrp="1" noChangeAspect="1" noChangeArrowheads="1"/>
          </p:cNvPicPr>
          <p:nvPr>
            <p:ph sz="quarter" idx="4"/>
          </p:nvPr>
        </p:nvPicPr>
        <p:blipFill>
          <a:blip r:embed="rId5">
            <a:extLst>
              <a:ext uri="{28A0092B-C50C-407E-A947-70E740481C1C}">
                <a14:useLocalDpi xmlns:a14="http://schemas.microsoft.com/office/drawing/2010/main" val="0"/>
              </a:ext>
            </a:extLst>
          </a:blip>
          <a:srcRect/>
          <a:stretch>
            <a:fillRect/>
          </a:stretch>
        </p:blipFill>
        <p:spPr>
          <a:xfrm>
            <a:off x="4689475" y="4083050"/>
            <a:ext cx="4291013" cy="2611438"/>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6155" name="Picture 11" descr="02e1-Sauzerie">
            <a:extLst>
              <a:ext uri="{FF2B5EF4-FFF2-40B4-BE49-F238E27FC236}">
                <a16:creationId xmlns:a16="http://schemas.microsoft.com/office/drawing/2014/main" id="{D6230A69-8B67-4FA8-9F21-08B874294D7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7650" y="3914775"/>
            <a:ext cx="4184650" cy="2779713"/>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274D39DC-8F56-432E-8104-2C940D9B17D0}"/>
              </a:ext>
            </a:extLst>
          </p:cNvPr>
          <p:cNvSpPr>
            <a:spLocks noGrp="1" noChangeArrowheads="1"/>
          </p:cNvSpPr>
          <p:nvPr>
            <p:ph type="title"/>
          </p:nvPr>
        </p:nvSpPr>
        <p:spPr>
          <a:noFill/>
        </p:spPr>
        <p:txBody>
          <a:bodyPr/>
          <a:lstStyle/>
          <a:p>
            <a:r>
              <a:rPr lang="en-GB" altLang="en-US">
                <a:effectLst/>
              </a:rPr>
              <a:t>Description of shear zones</a:t>
            </a:r>
          </a:p>
        </p:txBody>
      </p:sp>
      <p:sp>
        <p:nvSpPr>
          <p:cNvPr id="7171" name="Rectangle 3">
            <a:extLst>
              <a:ext uri="{FF2B5EF4-FFF2-40B4-BE49-F238E27FC236}">
                <a16:creationId xmlns:a16="http://schemas.microsoft.com/office/drawing/2014/main" id="{3E3EA0E7-7451-4784-B000-FF68A9A0D454}"/>
              </a:ext>
            </a:extLst>
          </p:cNvPr>
          <p:cNvSpPr>
            <a:spLocks noGrp="1" noChangeArrowheads="1"/>
          </p:cNvSpPr>
          <p:nvPr>
            <p:ph type="body" sz="half" idx="1"/>
          </p:nvPr>
        </p:nvSpPr>
        <p:spPr>
          <a:xfrm>
            <a:off x="122238" y="801688"/>
            <a:ext cx="8915400" cy="2163762"/>
          </a:xfrm>
          <a:noFill/>
        </p:spPr>
        <p:txBody>
          <a:bodyPr/>
          <a:lstStyle/>
          <a:p>
            <a:pPr marL="177800" indent="-177800">
              <a:spcBef>
                <a:spcPct val="75000"/>
              </a:spcBef>
            </a:pPr>
            <a:r>
              <a:rPr lang="en-GB" altLang="en-US" sz="1700" dirty="0">
                <a:effectLst/>
              </a:rPr>
              <a:t>A shear zone is bounded by two margins (</a:t>
            </a:r>
            <a:r>
              <a:rPr lang="en-GB" altLang="en-US" sz="1700" dirty="0">
                <a:solidFill>
                  <a:srgbClr val="FF6600"/>
                </a:solidFill>
                <a:effectLst/>
              </a:rPr>
              <a:t>shear zone walls</a:t>
            </a:r>
            <a:r>
              <a:rPr lang="en-GB" altLang="en-US" sz="1700" dirty="0">
                <a:effectLst/>
              </a:rPr>
              <a:t>) that separate relatively undeformed rock lying outside the zone from more strongly deformed rock inside it. As surfaces, the orientation of these shear zone walls should be specified as </a:t>
            </a:r>
            <a:r>
              <a:rPr lang="en-GB" altLang="en-US" sz="1700" dirty="0">
                <a:solidFill>
                  <a:srgbClr val="FF66CC"/>
                </a:solidFill>
                <a:effectLst/>
              </a:rPr>
              <a:t>strik</a:t>
            </a:r>
            <a:r>
              <a:rPr lang="en-GB" altLang="en-US" sz="1700" spc="300" dirty="0">
                <a:solidFill>
                  <a:srgbClr val="FF66CC"/>
                </a:solidFill>
                <a:effectLst/>
              </a:rPr>
              <a:t>e/</a:t>
            </a:r>
            <a:r>
              <a:rPr lang="en-GB" altLang="en-US" sz="1700" dirty="0">
                <a:solidFill>
                  <a:srgbClr val="FF66CC"/>
                </a:solidFill>
                <a:effectLst/>
              </a:rPr>
              <a:t>dip</a:t>
            </a:r>
          </a:p>
          <a:p>
            <a:pPr marL="177800" indent="-177800">
              <a:spcBef>
                <a:spcPct val="75000"/>
              </a:spcBef>
            </a:pPr>
            <a:r>
              <a:rPr lang="en-GB" altLang="en-US" sz="1700" dirty="0">
                <a:effectLst/>
              </a:rPr>
              <a:t>Once the margins of the shear zone have been defined, its </a:t>
            </a:r>
            <a:r>
              <a:rPr lang="en-GB" altLang="en-US" sz="1700" dirty="0">
                <a:solidFill>
                  <a:srgbClr val="FF6600"/>
                </a:solidFill>
                <a:effectLst/>
              </a:rPr>
              <a:t>thickness</a:t>
            </a:r>
            <a:r>
              <a:rPr lang="en-GB" altLang="en-US" sz="1700" dirty="0">
                <a:effectLst/>
              </a:rPr>
              <a:t> may be measured, and sometimes the </a:t>
            </a:r>
            <a:r>
              <a:rPr lang="en-GB" altLang="en-US" sz="1700" dirty="0">
                <a:solidFill>
                  <a:srgbClr val="FF6600"/>
                </a:solidFill>
                <a:effectLst/>
              </a:rPr>
              <a:t>displacement </a:t>
            </a:r>
            <a:r>
              <a:rPr lang="en-GB" altLang="en-US" sz="1700" dirty="0">
                <a:effectLst/>
              </a:rPr>
              <a:t>across it. Shear zone thickness tends to increase with displacement</a:t>
            </a:r>
          </a:p>
        </p:txBody>
      </p:sp>
      <p:sp>
        <p:nvSpPr>
          <p:cNvPr id="216070" name="Text Box 6">
            <a:extLst>
              <a:ext uri="{FF2B5EF4-FFF2-40B4-BE49-F238E27FC236}">
                <a16:creationId xmlns:a16="http://schemas.microsoft.com/office/drawing/2014/main" id="{E1674842-1378-4329-84E0-951083ECAB74}"/>
              </a:ext>
            </a:extLst>
          </p:cNvPr>
          <p:cNvSpPr txBox="1">
            <a:spLocks noChangeArrowheads="1"/>
          </p:cNvSpPr>
          <p:nvPr/>
        </p:nvSpPr>
        <p:spPr bwMode="auto">
          <a:xfrm>
            <a:off x="114300" y="3073400"/>
            <a:ext cx="3419732" cy="2581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177800" indent="-177800">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50000"/>
              </a:spcBef>
              <a:buClr>
                <a:schemeClr val="tx1"/>
              </a:buClr>
              <a:buFontTx/>
              <a:buChar char="•"/>
            </a:pPr>
            <a:r>
              <a:rPr lang="en-GB" altLang="en-US" sz="1700" dirty="0">
                <a:effectLst>
                  <a:outerShdw blurRad="38100" dist="38100" dir="2700000" algn="tl">
                    <a:srgbClr val="000000"/>
                  </a:outerShdw>
                </a:effectLst>
                <a:latin typeface="Arial" panose="020B0604020202020204" pitchFamily="34" charset="0"/>
              </a:rPr>
              <a:t>Even if the magnitude of the displacement is unknown, the geometry of the rock fabrics within the shear zone usually allow the </a:t>
            </a:r>
            <a:r>
              <a:rPr lang="en-GB" altLang="en-US" sz="1700" dirty="0">
                <a:solidFill>
                  <a:srgbClr val="FF6600"/>
                </a:solidFill>
                <a:effectLst>
                  <a:outerShdw blurRad="38100" dist="38100" dir="2700000" algn="tl">
                    <a:srgbClr val="000000"/>
                  </a:outerShdw>
                </a:effectLst>
                <a:latin typeface="Arial" panose="020B0604020202020204" pitchFamily="34" charset="0"/>
              </a:rPr>
              <a:t>sense of displacement</a:t>
            </a:r>
            <a:r>
              <a:rPr lang="en-GB" altLang="en-US" sz="1700" dirty="0">
                <a:effectLst>
                  <a:outerShdw blurRad="38100" dist="38100" dir="2700000" algn="tl">
                    <a:srgbClr val="000000"/>
                  </a:outerShdw>
                </a:effectLst>
                <a:latin typeface="Arial" panose="020B0604020202020204" pitchFamily="34" charset="0"/>
              </a:rPr>
              <a:t> (</a:t>
            </a:r>
            <a:r>
              <a:rPr lang="en-GB" altLang="en-US" sz="1700" dirty="0">
                <a:solidFill>
                  <a:srgbClr val="FF66CC"/>
                </a:solidFill>
                <a:effectLst>
                  <a:outerShdw blurRad="38100" dist="38100" dir="2700000" algn="tl">
                    <a:srgbClr val="000000"/>
                  </a:outerShdw>
                </a:effectLst>
                <a:latin typeface="Arial" panose="020B0604020202020204" pitchFamily="34" charset="0"/>
              </a:rPr>
              <a:t>norma</a:t>
            </a:r>
            <a:r>
              <a:rPr lang="en-GB" altLang="en-US" sz="1700" spc="300" dirty="0">
                <a:solidFill>
                  <a:srgbClr val="FF66CC"/>
                </a:solidFill>
                <a:effectLst>
                  <a:outerShdw blurRad="38100" dist="38100" dir="2700000" algn="tl">
                    <a:srgbClr val="000000"/>
                  </a:outerShdw>
                </a:effectLst>
                <a:latin typeface="Arial" panose="020B0604020202020204" pitchFamily="34" charset="0"/>
              </a:rPr>
              <a:t>l/</a:t>
            </a:r>
            <a:r>
              <a:rPr lang="en-GB" altLang="en-US" sz="1700" dirty="0">
                <a:solidFill>
                  <a:srgbClr val="FF66CC"/>
                </a:solidFill>
                <a:effectLst>
                  <a:outerShdw blurRad="38100" dist="38100" dir="2700000" algn="tl">
                    <a:srgbClr val="000000"/>
                  </a:outerShdw>
                </a:effectLst>
                <a:latin typeface="Arial" panose="020B0604020202020204" pitchFamily="34" charset="0"/>
              </a:rPr>
              <a:t>reverse</a:t>
            </a:r>
            <a:r>
              <a:rPr lang="en-GB" altLang="en-US" sz="1700" dirty="0">
                <a:effectLst>
                  <a:outerShdw blurRad="38100" dist="38100" dir="2700000" algn="tl">
                    <a:srgbClr val="000000"/>
                  </a:outerShdw>
                </a:effectLst>
                <a:latin typeface="Arial" panose="020B0604020202020204" pitchFamily="34" charset="0"/>
              </a:rPr>
              <a:t>; </a:t>
            </a:r>
            <a:r>
              <a:rPr lang="en-GB" altLang="en-US" sz="1700" dirty="0">
                <a:solidFill>
                  <a:srgbClr val="FF66CC"/>
                </a:solidFill>
                <a:effectLst>
                  <a:outerShdw blurRad="38100" dist="38100" dir="2700000" algn="tl">
                    <a:srgbClr val="000000"/>
                  </a:outerShdw>
                </a:effectLst>
                <a:latin typeface="Arial" panose="020B0604020202020204" pitchFamily="34" charset="0"/>
              </a:rPr>
              <a:t>sinistra</a:t>
            </a:r>
            <a:r>
              <a:rPr lang="en-GB" altLang="en-US" sz="1700" spc="300" dirty="0">
                <a:solidFill>
                  <a:srgbClr val="FF66CC"/>
                </a:solidFill>
                <a:effectLst>
                  <a:outerShdw blurRad="38100" dist="38100" dir="2700000" algn="tl">
                    <a:srgbClr val="000000"/>
                  </a:outerShdw>
                </a:effectLst>
                <a:latin typeface="Arial" panose="020B0604020202020204" pitchFamily="34" charset="0"/>
              </a:rPr>
              <a:t>l/</a:t>
            </a:r>
            <a:r>
              <a:rPr lang="en-GB" altLang="en-US" sz="1700" dirty="0">
                <a:solidFill>
                  <a:srgbClr val="FF66CC"/>
                </a:solidFill>
                <a:effectLst>
                  <a:outerShdw blurRad="38100" dist="38100" dir="2700000" algn="tl">
                    <a:srgbClr val="000000"/>
                  </a:outerShdw>
                </a:effectLst>
                <a:latin typeface="Arial" panose="020B0604020202020204" pitchFamily="34" charset="0"/>
              </a:rPr>
              <a:t>dextral</a:t>
            </a:r>
            <a:r>
              <a:rPr lang="en-GB" altLang="en-US" sz="1700" dirty="0">
                <a:effectLst>
                  <a:outerShdw blurRad="38100" dist="38100" dir="2700000" algn="tl">
                    <a:srgbClr val="000000"/>
                  </a:outerShdw>
                </a:effectLst>
                <a:latin typeface="Arial" panose="020B0604020202020204" pitchFamily="34" charset="0"/>
              </a:rPr>
              <a:t>) to be determined</a:t>
            </a:r>
          </a:p>
        </p:txBody>
      </p:sp>
      <p:sp>
        <p:nvSpPr>
          <p:cNvPr id="216073" name="Text Box 9">
            <a:extLst>
              <a:ext uri="{FF2B5EF4-FFF2-40B4-BE49-F238E27FC236}">
                <a16:creationId xmlns:a16="http://schemas.microsoft.com/office/drawing/2014/main" id="{F8026F77-8400-45FA-8EA4-4D2A9B81DE4E}"/>
              </a:ext>
            </a:extLst>
          </p:cNvPr>
          <p:cNvSpPr txBox="1">
            <a:spLocks noChangeArrowheads="1"/>
          </p:cNvSpPr>
          <p:nvPr/>
        </p:nvSpPr>
        <p:spPr bwMode="auto">
          <a:xfrm>
            <a:off x="611188" y="5843588"/>
            <a:ext cx="3021012" cy="82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15000"/>
              </a:lnSpc>
              <a:spcBef>
                <a:spcPct val="50000"/>
              </a:spcBef>
            </a:pPr>
            <a:r>
              <a:rPr lang="en-GB" altLang="en-US" sz="1400" dirty="0">
                <a:solidFill>
                  <a:srgbClr val="FFFF00"/>
                </a:solidFill>
                <a:effectLst>
                  <a:outerShdw blurRad="38100" dist="38100" dir="2700000" algn="tl">
                    <a:srgbClr val="000000"/>
                  </a:outerShdw>
                </a:effectLst>
                <a:latin typeface="Arial" panose="020B0604020202020204" pitchFamily="34" charset="0"/>
              </a:rPr>
              <a:t>Relationship between displacement and thickness for ductile shear zones (red) and fault zones (yellow)</a:t>
            </a:r>
          </a:p>
        </p:txBody>
      </p:sp>
      <p:pic>
        <p:nvPicPr>
          <p:cNvPr id="3" name="Picture 2">
            <a:extLst>
              <a:ext uri="{FF2B5EF4-FFF2-40B4-BE49-F238E27FC236}">
                <a16:creationId xmlns:a16="http://schemas.microsoft.com/office/drawing/2014/main" id="{164FD504-C0F5-448C-B8A4-6FFAC0D8FE9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04238" y="2965450"/>
            <a:ext cx="5082034" cy="3580316"/>
          </a:xfrm>
          <a:prstGeom prst="rect">
            <a:avLst/>
          </a:prstGeom>
          <a:ln w="38100">
            <a:solidFill>
              <a:schemeClr val="bg2"/>
            </a:solidFill>
          </a:ln>
        </p:spPr>
      </p:pic>
    </p:spTree>
    <p:extLst>
      <p:ext uri="{BB962C8B-B14F-4D97-AF65-F5344CB8AC3E}">
        <p14:creationId xmlns:p14="http://schemas.microsoft.com/office/powerpoint/2010/main" val="3769400901"/>
      </p:ext>
    </p:extLst>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3C37D5FF-F271-40FC-BEDB-75DC55D812AF}"/>
              </a:ext>
            </a:extLst>
          </p:cNvPr>
          <p:cNvSpPr>
            <a:spLocks noGrp="1" noChangeArrowheads="1"/>
          </p:cNvSpPr>
          <p:nvPr>
            <p:ph type="title"/>
          </p:nvPr>
        </p:nvSpPr>
        <p:spPr>
          <a:noFill/>
        </p:spPr>
        <p:txBody>
          <a:bodyPr/>
          <a:lstStyle/>
          <a:p>
            <a:r>
              <a:rPr lang="en-GB" altLang="en-US" dirty="0">
                <a:effectLst/>
              </a:rPr>
              <a:t>Kinematic classification of shear zones</a:t>
            </a:r>
          </a:p>
        </p:txBody>
      </p:sp>
      <p:sp>
        <p:nvSpPr>
          <p:cNvPr id="8195" name="Rectangle 3">
            <a:extLst>
              <a:ext uri="{FF2B5EF4-FFF2-40B4-BE49-F238E27FC236}">
                <a16:creationId xmlns:a16="http://schemas.microsoft.com/office/drawing/2014/main" id="{39147B78-B29C-45E9-916D-F904443E9FC1}"/>
              </a:ext>
            </a:extLst>
          </p:cNvPr>
          <p:cNvSpPr>
            <a:spLocks noGrp="1" noChangeArrowheads="1"/>
          </p:cNvSpPr>
          <p:nvPr>
            <p:ph type="body" sz="half" idx="1"/>
          </p:nvPr>
        </p:nvSpPr>
        <p:spPr>
          <a:xfrm>
            <a:off x="131763" y="762000"/>
            <a:ext cx="5243125" cy="5846763"/>
          </a:xfrm>
          <a:noFill/>
        </p:spPr>
        <p:txBody>
          <a:bodyPr/>
          <a:lstStyle/>
          <a:p>
            <a:pPr marL="177800" indent="-177800">
              <a:spcBef>
                <a:spcPct val="75000"/>
              </a:spcBef>
            </a:pPr>
            <a:r>
              <a:rPr lang="en-GB" altLang="en-US" sz="1700" dirty="0">
                <a:effectLst/>
              </a:rPr>
              <a:t>Shear zones are classified using the </a:t>
            </a:r>
            <a:r>
              <a:rPr lang="en-GB" altLang="en-US" sz="1700" dirty="0">
                <a:solidFill>
                  <a:srgbClr val="FF6600"/>
                </a:solidFill>
                <a:effectLst/>
              </a:rPr>
              <a:t>relative movement between the two shear zone walls</a:t>
            </a:r>
            <a:endParaRPr lang="en-GB" altLang="en-US" sz="1700" dirty="0">
              <a:effectLst/>
            </a:endParaRPr>
          </a:p>
          <a:p>
            <a:pPr marL="177800" indent="-177800">
              <a:spcBef>
                <a:spcPct val="75000"/>
              </a:spcBef>
            </a:pPr>
            <a:r>
              <a:rPr lang="en-GB" altLang="en-US" sz="1700" dirty="0">
                <a:effectLst/>
              </a:rPr>
              <a:t>This relative movement is some combination of </a:t>
            </a:r>
          </a:p>
          <a:p>
            <a:pPr marL="630238" lvl="1" indent="-273050">
              <a:spcBef>
                <a:spcPct val="30000"/>
              </a:spcBef>
              <a:buFont typeface="Times" panose="02020603050405020304" pitchFamily="18" charset="0"/>
              <a:buAutoNum type="arabicPeriod"/>
            </a:pPr>
            <a:r>
              <a:rPr lang="en-GB" altLang="en-US" sz="1700" dirty="0">
                <a:effectLst/>
              </a:rPr>
              <a:t>pure shear</a:t>
            </a:r>
          </a:p>
          <a:p>
            <a:pPr marL="630238" lvl="1" indent="-273050">
              <a:spcBef>
                <a:spcPct val="30000"/>
              </a:spcBef>
              <a:buFont typeface="Times" panose="02020603050405020304" pitchFamily="18" charset="0"/>
              <a:buAutoNum type="arabicPeriod"/>
            </a:pPr>
            <a:r>
              <a:rPr lang="en-GB" altLang="en-US" sz="1700" dirty="0">
                <a:effectLst/>
              </a:rPr>
              <a:t>simple shear</a:t>
            </a:r>
          </a:p>
          <a:p>
            <a:pPr marL="630238" lvl="1" indent="-273050">
              <a:spcBef>
                <a:spcPct val="30000"/>
              </a:spcBef>
              <a:buFont typeface="Times" panose="02020603050405020304" pitchFamily="18" charset="0"/>
              <a:buAutoNum type="arabicPeriod"/>
            </a:pPr>
            <a:r>
              <a:rPr lang="en-GB" altLang="en-US" sz="1700" dirty="0">
                <a:effectLst/>
              </a:rPr>
              <a:t>volume change</a:t>
            </a:r>
          </a:p>
          <a:p>
            <a:pPr marL="177800" indent="-177800">
              <a:spcBef>
                <a:spcPct val="75000"/>
              </a:spcBef>
            </a:pPr>
            <a:r>
              <a:rPr lang="en-GB" altLang="en-US" sz="1700" dirty="0">
                <a:effectLst/>
              </a:rPr>
              <a:t>In </a:t>
            </a:r>
            <a:r>
              <a:rPr lang="en-GB" altLang="en-US" sz="1700" dirty="0">
                <a:solidFill>
                  <a:srgbClr val="FF66CC"/>
                </a:solidFill>
                <a:effectLst/>
              </a:rPr>
              <a:t>low porosity rocks</a:t>
            </a:r>
            <a:r>
              <a:rPr lang="en-GB" altLang="en-US" sz="1700" dirty="0">
                <a:effectLst/>
              </a:rPr>
              <a:t> shear zones are often idealized as </a:t>
            </a:r>
            <a:r>
              <a:rPr lang="en-GB" altLang="en-US" sz="1700" dirty="0">
                <a:solidFill>
                  <a:srgbClr val="FF6600"/>
                </a:solidFill>
                <a:effectLst/>
              </a:rPr>
              <a:t>simple shear</a:t>
            </a:r>
            <a:r>
              <a:rPr lang="en-GB" altLang="en-US" sz="1700" dirty="0">
                <a:effectLst/>
              </a:rPr>
              <a:t> zones but real shear zones may simultaneously involve significant components of extension (</a:t>
            </a:r>
            <a:r>
              <a:rPr lang="en-GB" altLang="en-US" sz="1700" dirty="0" err="1">
                <a:solidFill>
                  <a:srgbClr val="FF6600"/>
                </a:solidFill>
                <a:effectLst/>
              </a:rPr>
              <a:t>transtension</a:t>
            </a:r>
            <a:r>
              <a:rPr lang="en-GB" altLang="en-US" sz="1700" dirty="0">
                <a:effectLst/>
              </a:rPr>
              <a:t>) or contraction (</a:t>
            </a:r>
            <a:r>
              <a:rPr lang="en-GB" altLang="en-US" sz="1700" dirty="0" err="1">
                <a:solidFill>
                  <a:srgbClr val="FF6600"/>
                </a:solidFill>
                <a:effectLst/>
              </a:rPr>
              <a:t>transpression</a:t>
            </a:r>
            <a:r>
              <a:rPr lang="en-GB" altLang="en-US" sz="1700" dirty="0">
                <a:effectLst/>
              </a:rPr>
              <a:t>) normal to their margins</a:t>
            </a:r>
          </a:p>
          <a:p>
            <a:pPr marL="177800" indent="-177800">
              <a:spcBef>
                <a:spcPct val="75000"/>
              </a:spcBef>
            </a:pPr>
            <a:r>
              <a:rPr lang="en-GB" altLang="en-US" sz="1700" dirty="0">
                <a:effectLst/>
              </a:rPr>
              <a:t>In </a:t>
            </a:r>
            <a:r>
              <a:rPr lang="en-GB" altLang="en-US" sz="1700" dirty="0">
                <a:solidFill>
                  <a:srgbClr val="FF66CC"/>
                </a:solidFill>
                <a:effectLst/>
              </a:rPr>
              <a:t>high porosity rocks</a:t>
            </a:r>
            <a:r>
              <a:rPr lang="en-GB" altLang="en-US" sz="1700" dirty="0">
                <a:effectLst/>
              </a:rPr>
              <a:t> (</a:t>
            </a:r>
            <a:r>
              <a:rPr lang="en-GB" altLang="en-US" sz="1700" i="1" dirty="0">
                <a:effectLst/>
              </a:rPr>
              <a:t>e.g</a:t>
            </a:r>
            <a:r>
              <a:rPr lang="en-GB" altLang="en-US" sz="1700" dirty="0">
                <a:effectLst/>
              </a:rPr>
              <a:t>., some sandstones) the term </a:t>
            </a:r>
            <a:r>
              <a:rPr lang="en-GB" altLang="en-US" sz="1700" dirty="0">
                <a:solidFill>
                  <a:srgbClr val="FF6600"/>
                </a:solidFill>
                <a:effectLst/>
              </a:rPr>
              <a:t>bands</a:t>
            </a:r>
            <a:r>
              <a:rPr lang="en-GB" altLang="en-US" sz="1700" dirty="0">
                <a:effectLst/>
              </a:rPr>
              <a:t> is used for localized deformation zones – in these deformation bands the full range of compaction, dilation, and simple shear deformation may occur</a:t>
            </a:r>
          </a:p>
        </p:txBody>
      </p:sp>
      <p:pic>
        <p:nvPicPr>
          <p:cNvPr id="8199" name="Picture 7">
            <a:extLst>
              <a:ext uri="{FF2B5EF4-FFF2-40B4-BE49-F238E27FC236}">
                <a16:creationId xmlns:a16="http://schemas.microsoft.com/office/drawing/2014/main" id="{93EBCF84-C28C-4569-B6EE-66ADFCE87EF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76888" y="914400"/>
            <a:ext cx="3381375" cy="5737225"/>
          </a:xfrm>
          <a:prstGeom prst="rect">
            <a:avLst/>
          </a:prstGeom>
          <a:noFill/>
          <a:ln w="38100">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4BCBBEA1-2508-48F9-92FD-29CC2B09C9A7}"/>
              </a:ext>
            </a:extLst>
          </p:cNvPr>
          <p:cNvSpPr>
            <a:spLocks noGrp="1" noChangeArrowheads="1"/>
          </p:cNvSpPr>
          <p:nvPr>
            <p:ph type="title"/>
          </p:nvPr>
        </p:nvSpPr>
        <p:spPr>
          <a:noFill/>
        </p:spPr>
        <p:txBody>
          <a:bodyPr/>
          <a:lstStyle/>
          <a:p>
            <a:r>
              <a:rPr lang="en-GB" altLang="en-US">
                <a:effectLst/>
              </a:rPr>
              <a:t>Ideal shear zones formed by progressive simple shear</a:t>
            </a:r>
          </a:p>
        </p:txBody>
      </p:sp>
      <p:sp>
        <p:nvSpPr>
          <p:cNvPr id="9219" name="Rectangle 3">
            <a:extLst>
              <a:ext uri="{FF2B5EF4-FFF2-40B4-BE49-F238E27FC236}">
                <a16:creationId xmlns:a16="http://schemas.microsoft.com/office/drawing/2014/main" id="{82D797C2-2C3B-432C-B398-353CA4F9542C}"/>
              </a:ext>
            </a:extLst>
          </p:cNvPr>
          <p:cNvSpPr>
            <a:spLocks noGrp="1" noChangeArrowheads="1"/>
          </p:cNvSpPr>
          <p:nvPr>
            <p:ph type="body" sz="half" idx="1"/>
          </p:nvPr>
        </p:nvSpPr>
        <p:spPr>
          <a:xfrm>
            <a:off x="94185" y="828675"/>
            <a:ext cx="8905875" cy="2841625"/>
          </a:xfrm>
          <a:noFill/>
        </p:spPr>
        <p:txBody>
          <a:bodyPr/>
          <a:lstStyle/>
          <a:p>
            <a:pPr marL="177800" indent="-177800">
              <a:spcBef>
                <a:spcPct val="75000"/>
              </a:spcBef>
            </a:pPr>
            <a:r>
              <a:rPr lang="en-GB" altLang="en-US" sz="1700" dirty="0">
                <a:effectLst/>
              </a:rPr>
              <a:t>The simplest model of shear zone deformation is </a:t>
            </a:r>
            <a:r>
              <a:rPr lang="en-GB" altLang="en-US" sz="1700" dirty="0">
                <a:solidFill>
                  <a:srgbClr val="FF6600"/>
                </a:solidFill>
                <a:effectLst/>
              </a:rPr>
              <a:t>progressive simple shear</a:t>
            </a:r>
            <a:r>
              <a:rPr lang="en-GB" altLang="en-US" sz="1700" dirty="0">
                <a:effectLst/>
              </a:rPr>
              <a:t> (most of the comments in this class are based on this model)</a:t>
            </a:r>
          </a:p>
          <a:p>
            <a:pPr marL="177800" indent="-177800">
              <a:spcBef>
                <a:spcPct val="75000"/>
              </a:spcBef>
            </a:pPr>
            <a:r>
              <a:rPr lang="en-GB" altLang="en-US" sz="1700" dirty="0">
                <a:effectLst/>
              </a:rPr>
              <a:t>Across a progressive simple shear zone, the strain is </a:t>
            </a:r>
            <a:r>
              <a:rPr lang="en-GB" altLang="en-US" sz="1700" dirty="0">
                <a:solidFill>
                  <a:srgbClr val="FF66CC"/>
                </a:solidFill>
                <a:effectLst/>
              </a:rPr>
              <a:t>heterogeneously</a:t>
            </a:r>
            <a:r>
              <a:rPr lang="en-GB" altLang="en-US" sz="1700" dirty="0">
                <a:effectLst/>
              </a:rPr>
              <a:t> distributed, varying from zero at the shear zone boundaries to a maximum in the middle of the zone</a:t>
            </a:r>
          </a:p>
          <a:p>
            <a:pPr marL="177800" indent="-177800">
              <a:spcBef>
                <a:spcPct val="75000"/>
              </a:spcBef>
            </a:pPr>
            <a:r>
              <a:rPr lang="en-GB" altLang="en-US" sz="1700" dirty="0">
                <a:effectLst/>
              </a:rPr>
              <a:t>In the first small increment of strain, the orientation of the </a:t>
            </a:r>
            <a:r>
              <a:rPr lang="en-GB" altLang="en-US" sz="1700" dirty="0">
                <a:solidFill>
                  <a:srgbClr val="FFFF00"/>
                </a:solidFill>
                <a:effectLst/>
              </a:rPr>
              <a:t>maximum extension direction </a:t>
            </a:r>
            <a:r>
              <a:rPr lang="en-GB" altLang="en-US" sz="1700" dirty="0">
                <a:effectLst/>
              </a:rPr>
              <a:t>is at </a:t>
            </a:r>
            <a:r>
              <a:rPr lang="en-GB" altLang="en-US" sz="1700" dirty="0">
                <a:solidFill>
                  <a:srgbClr val="FF66CC"/>
                </a:solidFill>
                <a:effectLst/>
              </a:rPr>
              <a:t>45° to the shear zone wall</a:t>
            </a:r>
            <a:r>
              <a:rPr lang="en-GB" altLang="en-US" sz="1700" dirty="0">
                <a:effectLst/>
              </a:rPr>
              <a:t>; with increasing strain it </a:t>
            </a:r>
            <a:r>
              <a:rPr lang="en-GB" altLang="en-US" sz="1700" dirty="0">
                <a:solidFill>
                  <a:srgbClr val="FF66CC"/>
                </a:solidFill>
                <a:effectLst/>
              </a:rPr>
              <a:t>rotates towards parallelism</a:t>
            </a:r>
            <a:r>
              <a:rPr lang="en-GB" altLang="en-US" sz="1700" dirty="0">
                <a:effectLst/>
              </a:rPr>
              <a:t> with the shear zone walls without ever becoming exactly parallel</a:t>
            </a:r>
          </a:p>
        </p:txBody>
      </p:sp>
      <p:pic>
        <p:nvPicPr>
          <p:cNvPr id="9220" name="Picture 4" descr="03">
            <a:extLst>
              <a:ext uri="{FF2B5EF4-FFF2-40B4-BE49-F238E27FC236}">
                <a16:creationId xmlns:a16="http://schemas.microsoft.com/office/drawing/2014/main" id="{8C0F7C5D-C3BF-4A04-AC15-D16266248266}"/>
              </a:ext>
            </a:extLst>
          </p:cNvPr>
          <p:cNvPicPr>
            <a:picLocks noGrp="1" noChangeAspect="1" noChangeArrowheads="1"/>
          </p:cNvPicPr>
          <p:nvPr>
            <p:ph sz="quarter" idx="2"/>
          </p:nvPr>
        </p:nvPicPr>
        <p:blipFill>
          <a:blip r:embed="rId3">
            <a:extLst>
              <a:ext uri="{28A0092B-C50C-407E-A947-70E740481C1C}">
                <a14:useLocalDpi xmlns:a14="http://schemas.microsoft.com/office/drawing/2010/main" val="0"/>
              </a:ext>
            </a:extLst>
          </a:blip>
          <a:srcRect/>
          <a:stretch>
            <a:fillRect/>
          </a:stretch>
        </p:blipFill>
        <p:spPr>
          <a:xfrm>
            <a:off x="168275" y="3906838"/>
            <a:ext cx="4205288" cy="1665287"/>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17096" name="Text Box 8">
            <a:extLst>
              <a:ext uri="{FF2B5EF4-FFF2-40B4-BE49-F238E27FC236}">
                <a16:creationId xmlns:a16="http://schemas.microsoft.com/office/drawing/2014/main" id="{F54B3A5A-F984-4C0A-8E1F-D066FCB188AF}"/>
              </a:ext>
            </a:extLst>
          </p:cNvPr>
          <p:cNvSpPr txBox="1">
            <a:spLocks noChangeArrowheads="1"/>
          </p:cNvSpPr>
          <p:nvPr/>
        </p:nvSpPr>
        <p:spPr bwMode="auto">
          <a:xfrm>
            <a:off x="363923" y="5696549"/>
            <a:ext cx="3756025" cy="10622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15000"/>
              </a:lnSpc>
              <a:spcBef>
                <a:spcPct val="50000"/>
              </a:spcBef>
            </a:pPr>
            <a:r>
              <a:rPr lang="el-GR" altLang="en-US" sz="1400" i="1"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rPr>
              <a:t>γ</a:t>
            </a:r>
            <a:r>
              <a:rPr lang="en-GB" altLang="en-US" sz="1400" dirty="0">
                <a:solidFill>
                  <a:srgbClr val="FFFF00"/>
                </a:solidFill>
                <a:effectLst>
                  <a:outerShdw blurRad="38100" dist="38100" dir="2700000" algn="tl">
                    <a:srgbClr val="000000"/>
                  </a:outerShdw>
                </a:effectLst>
              </a:rPr>
              <a:t>  </a:t>
            </a:r>
            <a:r>
              <a:rPr lang="en-GB" altLang="en-US" sz="1400" dirty="0">
                <a:solidFill>
                  <a:srgbClr val="FFFF00"/>
                </a:solidFill>
                <a:effectLst>
                  <a:outerShdw blurRad="38100" dist="38100" dir="2700000" algn="tl">
                    <a:srgbClr val="000000"/>
                  </a:outerShdw>
                </a:effectLst>
                <a:latin typeface="Arial" panose="020B0604020202020204" pitchFamily="34" charset="0"/>
              </a:rPr>
              <a:t>= shear strain; </a:t>
            </a:r>
            <a:r>
              <a:rPr lang="en-GB" altLang="en-US" sz="1400" i="1" dirty="0">
                <a:solidFill>
                  <a:srgbClr val="FFFF00"/>
                </a:solidFill>
                <a:effectLst>
                  <a:outerShdw blurRad="38100" dist="38100" dir="2700000" algn="tl">
                    <a:srgbClr val="000000"/>
                  </a:outerShdw>
                </a:effectLst>
                <a:latin typeface="Arial" panose="020B0604020202020204" pitchFamily="34" charset="0"/>
              </a:rPr>
              <a:t>R</a:t>
            </a:r>
            <a:r>
              <a:rPr lang="en-GB" altLang="en-US" sz="1400" dirty="0">
                <a:solidFill>
                  <a:srgbClr val="FFFF00"/>
                </a:solidFill>
                <a:effectLst>
                  <a:outerShdw blurRad="38100" dist="38100" dir="2700000" algn="tl">
                    <a:srgbClr val="000000"/>
                  </a:outerShdw>
                </a:effectLst>
                <a:latin typeface="Arial" panose="020B0604020202020204" pitchFamily="34" charset="0"/>
              </a:rPr>
              <a:t> = aspect ratio of the strain ellipse;</a:t>
            </a:r>
            <a:r>
              <a:rPr lang="en-GB" altLang="en-US" sz="1400" dirty="0">
                <a:solidFill>
                  <a:srgbClr val="FFFF00"/>
                </a:solidFill>
                <a:effectLst>
                  <a:outerShdw blurRad="38100" dist="38100" dir="2700000" algn="tl">
                    <a:srgbClr val="000000"/>
                  </a:outerShdw>
                </a:effectLst>
              </a:rPr>
              <a:t> </a:t>
            </a:r>
            <a:r>
              <a:rPr lang="el-GR" altLang="en-US" sz="1400" i="1" spc="250"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rPr>
              <a:t>θ</a:t>
            </a:r>
            <a:r>
              <a:rPr lang="en-GB" altLang="en-US" sz="1400" dirty="0">
                <a:solidFill>
                  <a:srgbClr val="FFFF00"/>
                </a:solidFill>
                <a:effectLst>
                  <a:outerShdw blurRad="38100" dist="38100" dir="2700000" algn="tl">
                    <a:srgbClr val="000000"/>
                  </a:outerShdw>
                </a:effectLst>
                <a:latin typeface="Arial" panose="020B0604020202020204" pitchFamily="34" charset="0"/>
              </a:rPr>
              <a:t>´ = angle between the maximum extension direction and the shear zone wall</a:t>
            </a:r>
          </a:p>
        </p:txBody>
      </p:sp>
      <p:pic>
        <p:nvPicPr>
          <p:cNvPr id="9222" name="Picture 13">
            <a:extLst>
              <a:ext uri="{FF2B5EF4-FFF2-40B4-BE49-F238E27FC236}">
                <a16:creationId xmlns:a16="http://schemas.microsoft.com/office/drawing/2014/main" id="{D3A698AE-3A86-46C1-A549-3636A50D7851}"/>
              </a:ext>
            </a:extLst>
          </p:cNvPr>
          <p:cNvPicPr>
            <a:picLocks noGrp="1" noChangeAspect="1" noChangeArrowheads="1"/>
          </p:cNvPicPr>
          <p:nvPr>
            <p:ph sz="quarter" idx="3"/>
          </p:nvPr>
        </p:nvPicPr>
        <p:blipFill>
          <a:blip r:embed="rId4" cstate="print">
            <a:extLst>
              <a:ext uri="{28A0092B-C50C-407E-A947-70E740481C1C}">
                <a14:useLocalDpi xmlns:a14="http://schemas.microsoft.com/office/drawing/2010/main" val="0"/>
              </a:ext>
            </a:extLst>
          </a:blip>
          <a:srcRect/>
          <a:stretch>
            <a:fillRect/>
          </a:stretch>
        </p:blipFill>
        <p:spPr>
          <a:xfrm>
            <a:off x="4554538" y="3906838"/>
            <a:ext cx="4445000" cy="2578100"/>
          </a:xfrm>
          <a:noFill/>
          <a:ln w="38100" cap="flat">
            <a:solidFill>
              <a:schemeClr val="bg2"/>
            </a:solidFill>
            <a:miter lim="800000"/>
            <a:headEnd/>
            <a:tailEnd/>
          </a:ln>
        </p:spPr>
      </p:pic>
    </p:spTree>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282BA809-493B-47C6-9462-19732B006DF4}"/>
              </a:ext>
            </a:extLst>
          </p:cNvPr>
          <p:cNvSpPr>
            <a:spLocks noGrp="1" noChangeArrowheads="1"/>
          </p:cNvSpPr>
          <p:nvPr>
            <p:ph type="title"/>
          </p:nvPr>
        </p:nvSpPr>
        <p:spPr>
          <a:noFill/>
        </p:spPr>
        <p:txBody>
          <a:bodyPr/>
          <a:lstStyle/>
          <a:p>
            <a:r>
              <a:rPr lang="en-GB" altLang="en-US">
                <a:effectLst/>
              </a:rPr>
              <a:t>Estimating displacements across shear zones</a:t>
            </a:r>
          </a:p>
        </p:txBody>
      </p:sp>
      <p:sp>
        <p:nvSpPr>
          <p:cNvPr id="10243" name="Rectangle 3">
            <a:extLst>
              <a:ext uri="{FF2B5EF4-FFF2-40B4-BE49-F238E27FC236}">
                <a16:creationId xmlns:a16="http://schemas.microsoft.com/office/drawing/2014/main" id="{61ACE314-70C1-4DAD-B9A7-C1D96EA86AA5}"/>
              </a:ext>
            </a:extLst>
          </p:cNvPr>
          <p:cNvSpPr>
            <a:spLocks noGrp="1" noChangeArrowheads="1"/>
          </p:cNvSpPr>
          <p:nvPr>
            <p:ph type="body" sz="half" idx="1"/>
          </p:nvPr>
        </p:nvSpPr>
        <p:spPr>
          <a:xfrm>
            <a:off x="122238" y="855663"/>
            <a:ext cx="8880475" cy="1360487"/>
          </a:xfrm>
          <a:noFill/>
        </p:spPr>
        <p:txBody>
          <a:bodyPr/>
          <a:lstStyle/>
          <a:p>
            <a:pPr marL="177800" indent="-177800">
              <a:spcBef>
                <a:spcPct val="75000"/>
              </a:spcBef>
            </a:pPr>
            <a:r>
              <a:rPr lang="en-GB" altLang="en-US" sz="1700" dirty="0">
                <a:effectLst/>
              </a:rPr>
              <a:t>If the orientation of the long axis of the strain ellipse (</a:t>
            </a:r>
            <a:r>
              <a:rPr lang="el-GR" altLang="en-US" sz="1700" i="1" spc="250" dirty="0">
                <a:solidFill>
                  <a:srgbClr val="FFFF00"/>
                </a:solidFill>
                <a:effectLst/>
                <a:latin typeface="Cambria Math" panose="02040503050406030204" pitchFamily="18" charset="0"/>
                <a:ea typeface="Cambria Math" panose="02040503050406030204" pitchFamily="18" charset="0"/>
              </a:rPr>
              <a:t>θ</a:t>
            </a:r>
            <a:r>
              <a:rPr lang="en-GB" altLang="en-US" sz="1700" spc="150" dirty="0">
                <a:solidFill>
                  <a:srgbClr val="FFFF00"/>
                </a:solidFill>
                <a:effectLst/>
              </a:rPr>
              <a:t>´</a:t>
            </a:r>
            <a:r>
              <a:rPr lang="en-GB" altLang="en-US" sz="1700" dirty="0">
                <a:effectLst/>
              </a:rPr>
              <a:t>) is known at several places across a shear zone, then </a:t>
            </a:r>
            <a:r>
              <a:rPr lang="en-GB" altLang="en-US" sz="1700" dirty="0">
                <a:solidFill>
                  <a:srgbClr val="FF66CC"/>
                </a:solidFill>
                <a:effectLst/>
              </a:rPr>
              <a:t>assuming simple shear</a:t>
            </a:r>
            <a:r>
              <a:rPr lang="en-GB" altLang="en-US" sz="1700" dirty="0">
                <a:effectLst/>
              </a:rPr>
              <a:t>, the shear strain at these places may be calculated. The </a:t>
            </a:r>
            <a:r>
              <a:rPr lang="en-GB" altLang="en-US" sz="1700" dirty="0">
                <a:solidFill>
                  <a:srgbClr val="FF6600"/>
                </a:solidFill>
                <a:effectLst/>
              </a:rPr>
              <a:t>displacement</a:t>
            </a:r>
            <a:r>
              <a:rPr lang="en-GB" altLang="en-US" sz="1700" dirty="0">
                <a:effectLst/>
              </a:rPr>
              <a:t> across the shear zone is then the </a:t>
            </a:r>
            <a:r>
              <a:rPr lang="en-GB" altLang="en-US" sz="1700" dirty="0">
                <a:solidFill>
                  <a:srgbClr val="FF66CC"/>
                </a:solidFill>
                <a:effectLst/>
              </a:rPr>
              <a:t>area under a curve of shear strain vs. distance</a:t>
            </a:r>
            <a:r>
              <a:rPr lang="en-GB" altLang="en-US" sz="1700" dirty="0">
                <a:effectLst/>
              </a:rPr>
              <a:t> </a:t>
            </a:r>
            <a:r>
              <a:rPr lang="en-GB" altLang="en-US" sz="1700" dirty="0">
                <a:solidFill>
                  <a:srgbClr val="FF66CC"/>
                </a:solidFill>
                <a:effectLst/>
              </a:rPr>
              <a:t>across the shear zone</a:t>
            </a:r>
            <a:r>
              <a:rPr lang="en-GB" altLang="en-US" sz="1700" dirty="0">
                <a:effectLst/>
              </a:rPr>
              <a:t> normal to the shear zone walls</a:t>
            </a:r>
          </a:p>
        </p:txBody>
      </p:sp>
      <p:grpSp>
        <p:nvGrpSpPr>
          <p:cNvPr id="10244" name="Group 14">
            <a:extLst>
              <a:ext uri="{FF2B5EF4-FFF2-40B4-BE49-F238E27FC236}">
                <a16:creationId xmlns:a16="http://schemas.microsoft.com/office/drawing/2014/main" id="{8D0C2F53-EF81-435F-8A43-DC59BF49EA20}"/>
              </a:ext>
            </a:extLst>
          </p:cNvPr>
          <p:cNvGrpSpPr>
            <a:grpSpLocks/>
          </p:cNvGrpSpPr>
          <p:nvPr/>
        </p:nvGrpSpPr>
        <p:grpSpPr bwMode="auto">
          <a:xfrm>
            <a:off x="2324100" y="3803650"/>
            <a:ext cx="2120900" cy="1330325"/>
            <a:chOff x="733" y="3132"/>
            <a:chExt cx="1515" cy="950"/>
          </a:xfrm>
        </p:grpSpPr>
        <p:sp>
          <p:nvSpPr>
            <p:cNvPr id="265229" name="Rectangle 13">
              <a:extLst>
                <a:ext uri="{FF2B5EF4-FFF2-40B4-BE49-F238E27FC236}">
                  <a16:creationId xmlns:a16="http://schemas.microsoft.com/office/drawing/2014/main" id="{F29702B4-114D-467B-9C13-29EC96C721ED}"/>
                </a:ext>
              </a:extLst>
            </p:cNvPr>
            <p:cNvSpPr>
              <a:spLocks noChangeArrowheads="1"/>
            </p:cNvSpPr>
            <p:nvPr/>
          </p:nvSpPr>
          <p:spPr bwMode="auto">
            <a:xfrm>
              <a:off x="733" y="3132"/>
              <a:ext cx="1515" cy="950"/>
            </a:xfrm>
            <a:prstGeom prst="rect">
              <a:avLst/>
            </a:prstGeom>
            <a:solidFill>
              <a:schemeClr val="folHlink"/>
            </a:solidFill>
            <a:ln w="381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GB">
                <a:latin typeface="Helvetica" charset="0"/>
              </a:endParaRPr>
            </a:p>
          </p:txBody>
        </p:sp>
        <p:pic>
          <p:nvPicPr>
            <p:cNvPr id="10248" name="Picture 2" descr="GR07.jpg">
              <a:extLst>
                <a:ext uri="{FF2B5EF4-FFF2-40B4-BE49-F238E27FC236}">
                  <a16:creationId xmlns:a16="http://schemas.microsoft.com/office/drawing/2014/main" id="{B6692350-D81D-4CEB-A57D-CDA975DA0B4E}"/>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60" y="3184"/>
              <a:ext cx="1419" cy="8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0245" name="Picture 11">
            <a:extLst>
              <a:ext uri="{FF2B5EF4-FFF2-40B4-BE49-F238E27FC236}">
                <a16:creationId xmlns:a16="http://schemas.microsoft.com/office/drawing/2014/main" id="{D59D12AB-2DAE-41A8-BF11-385C67B811D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5425" y="2536825"/>
            <a:ext cx="4197350" cy="1025525"/>
          </a:xfrm>
          <a:prstGeom prst="rect">
            <a:avLst/>
          </a:prstGeom>
          <a:noFill/>
          <a:ln w="38100">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46" name="Picture 19">
            <a:extLst>
              <a:ext uri="{FF2B5EF4-FFF2-40B4-BE49-F238E27FC236}">
                <a16:creationId xmlns:a16="http://schemas.microsoft.com/office/drawing/2014/main" id="{53F79904-7E57-4709-A9D8-CE060D7FB154}"/>
              </a:ext>
            </a:extLst>
          </p:cNvPr>
          <p:cNvPicPr>
            <a:picLocks noGrp="1" noChangeAspect="1" noChangeArrowheads="1"/>
          </p:cNvPicPr>
          <p:nvPr>
            <p:ph sz="half" idx="2"/>
          </p:nvPr>
        </p:nvPicPr>
        <p:blipFill>
          <a:blip r:embed="rId5" cstate="print">
            <a:extLst>
              <a:ext uri="{28A0092B-C50C-407E-A947-70E740481C1C}">
                <a14:useLocalDpi xmlns:a14="http://schemas.microsoft.com/office/drawing/2010/main" val="0"/>
              </a:ext>
            </a:extLst>
          </a:blip>
          <a:srcRect/>
          <a:stretch>
            <a:fillRect/>
          </a:stretch>
        </p:blipFill>
        <p:spPr>
          <a:xfrm>
            <a:off x="4643438" y="3967163"/>
            <a:ext cx="4291012" cy="2489200"/>
          </a:xfrm>
          <a:noFill/>
          <a:ln w="38100" cap="flat">
            <a:solidFill>
              <a:schemeClr val="bg2"/>
            </a:solidFill>
            <a:miter lim="800000"/>
            <a:headEnd/>
            <a:tailEnd/>
          </a:ln>
        </p:spPr>
      </p:pic>
      <p:sp>
        <p:nvSpPr>
          <p:cNvPr id="10252" name="Rectangle 3">
            <a:extLst>
              <a:ext uri="{FF2B5EF4-FFF2-40B4-BE49-F238E27FC236}">
                <a16:creationId xmlns:a16="http://schemas.microsoft.com/office/drawing/2014/main" id="{ED996294-903C-435F-98AE-6CC639A136CD}"/>
              </a:ext>
            </a:extLst>
          </p:cNvPr>
          <p:cNvSpPr>
            <a:spLocks noChangeArrowheads="1"/>
          </p:cNvSpPr>
          <p:nvPr/>
        </p:nvSpPr>
        <p:spPr bwMode="auto">
          <a:xfrm>
            <a:off x="4533900" y="2359025"/>
            <a:ext cx="4387850" cy="1350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7800" indent="-177800">
              <a:lnSpc>
                <a:spcPct val="120000"/>
              </a:lnSpc>
              <a:spcBef>
                <a:spcPct val="100000"/>
              </a:spcBef>
              <a:buClr>
                <a:schemeClr val="folHlink"/>
              </a:buClr>
              <a:buSzPct val="100000"/>
              <a:buFont typeface="Times" panose="02020603050405020304" pitchFamily="18" charset="0"/>
              <a:buChar char="•"/>
              <a:defRPr>
                <a:solidFill>
                  <a:schemeClr val="tx1"/>
                </a:solidFill>
                <a:latin typeface="Arial" panose="020B0604020202020204" pitchFamily="34" charset="0"/>
              </a:defRPr>
            </a:lvl1pPr>
            <a:lvl2pPr marL="742950" indent="-285750">
              <a:lnSpc>
                <a:spcPct val="120000"/>
              </a:lnSpc>
              <a:spcBef>
                <a:spcPct val="50000"/>
              </a:spcBef>
              <a:buClr>
                <a:schemeClr val="folHlink"/>
              </a:buClr>
              <a:buSzPct val="100000"/>
              <a:buFont typeface="Times" panose="02020603050405020304" pitchFamily="18" charset="0"/>
              <a:buChar char="•"/>
              <a:defRPr sz="1600">
                <a:solidFill>
                  <a:schemeClr val="tx1"/>
                </a:solidFill>
                <a:latin typeface="Arial" panose="020B0604020202020204" pitchFamily="34" charset="0"/>
              </a:defRPr>
            </a:lvl2pPr>
            <a:lvl3pPr marL="1143000" indent="-228600">
              <a:spcBef>
                <a:spcPct val="25000"/>
              </a:spcBef>
              <a:buClr>
                <a:schemeClr val="folHlink"/>
              </a:buClr>
              <a:buFont typeface="Times" panose="02020603050405020304" pitchFamily="18" charset="0"/>
              <a:buChar char="•"/>
              <a:defRPr sz="1400">
                <a:solidFill>
                  <a:schemeClr val="tx1"/>
                </a:solidFill>
                <a:latin typeface="Arial" panose="020B0604020202020204" pitchFamily="34" charset="0"/>
              </a:defRPr>
            </a:lvl3pPr>
            <a:lvl4pPr marL="1600200" indent="-228600">
              <a:spcBef>
                <a:spcPct val="25000"/>
              </a:spcBef>
              <a:buClr>
                <a:schemeClr val="folHlink"/>
              </a:buClr>
              <a:buFont typeface="Times" panose="02020603050405020304" pitchFamily="18" charset="0"/>
              <a:buChar char="•"/>
              <a:defRPr sz="1400">
                <a:solidFill>
                  <a:schemeClr val="tx1"/>
                </a:solidFill>
                <a:latin typeface="Arial" panose="020B0604020202020204" pitchFamily="34" charset="0"/>
              </a:defRPr>
            </a:lvl4pPr>
            <a:lvl5pPr marL="2057400" indent="-228600">
              <a:spcBef>
                <a:spcPct val="25000"/>
              </a:spcBef>
              <a:buClr>
                <a:schemeClr val="folHlink"/>
              </a:buClr>
              <a:buSzPct val="50000"/>
              <a:buFont typeface="Times" panose="02020603050405020304" pitchFamily="18" charset="0"/>
              <a:buChar char="•"/>
              <a:defRPr sz="1400">
                <a:solidFill>
                  <a:schemeClr val="tx1"/>
                </a:solidFill>
                <a:latin typeface="Arial" panose="020B0604020202020204" pitchFamily="34" charset="0"/>
              </a:defRPr>
            </a:lvl5pPr>
            <a:lvl6pPr marL="2514600" indent="-228600" eaLnBrk="0" fontAlgn="base" hangingPunct="0">
              <a:spcBef>
                <a:spcPct val="25000"/>
              </a:spcBef>
              <a:spcAft>
                <a:spcPct val="0"/>
              </a:spcAft>
              <a:buClr>
                <a:schemeClr val="folHlink"/>
              </a:buClr>
              <a:buSzPct val="50000"/>
              <a:buFont typeface="Times" panose="02020603050405020304" pitchFamily="18" charset="0"/>
              <a:buChar char="•"/>
              <a:defRPr sz="1400">
                <a:solidFill>
                  <a:schemeClr val="tx1"/>
                </a:solidFill>
                <a:latin typeface="Arial" panose="020B0604020202020204" pitchFamily="34" charset="0"/>
              </a:defRPr>
            </a:lvl6pPr>
            <a:lvl7pPr marL="2971800" indent="-228600" eaLnBrk="0" fontAlgn="base" hangingPunct="0">
              <a:spcBef>
                <a:spcPct val="25000"/>
              </a:spcBef>
              <a:spcAft>
                <a:spcPct val="0"/>
              </a:spcAft>
              <a:buClr>
                <a:schemeClr val="folHlink"/>
              </a:buClr>
              <a:buSzPct val="50000"/>
              <a:buFont typeface="Times" panose="02020603050405020304" pitchFamily="18" charset="0"/>
              <a:buChar char="•"/>
              <a:defRPr sz="1400">
                <a:solidFill>
                  <a:schemeClr val="tx1"/>
                </a:solidFill>
                <a:latin typeface="Arial" panose="020B0604020202020204" pitchFamily="34" charset="0"/>
              </a:defRPr>
            </a:lvl7pPr>
            <a:lvl8pPr marL="3429000" indent="-228600" eaLnBrk="0" fontAlgn="base" hangingPunct="0">
              <a:spcBef>
                <a:spcPct val="25000"/>
              </a:spcBef>
              <a:spcAft>
                <a:spcPct val="0"/>
              </a:spcAft>
              <a:buClr>
                <a:schemeClr val="folHlink"/>
              </a:buClr>
              <a:buSzPct val="50000"/>
              <a:buFont typeface="Times" panose="02020603050405020304" pitchFamily="18" charset="0"/>
              <a:buChar char="•"/>
              <a:defRPr sz="1400">
                <a:solidFill>
                  <a:schemeClr val="tx1"/>
                </a:solidFill>
                <a:latin typeface="Arial" panose="020B0604020202020204" pitchFamily="34" charset="0"/>
              </a:defRPr>
            </a:lvl8pPr>
            <a:lvl9pPr marL="3886200" indent="-228600" eaLnBrk="0" fontAlgn="base" hangingPunct="0">
              <a:spcBef>
                <a:spcPct val="25000"/>
              </a:spcBef>
              <a:spcAft>
                <a:spcPct val="0"/>
              </a:spcAft>
              <a:buClr>
                <a:schemeClr val="folHlink"/>
              </a:buClr>
              <a:buSzPct val="50000"/>
              <a:buFont typeface="Times" panose="02020603050405020304" pitchFamily="18" charset="0"/>
              <a:buChar char="•"/>
              <a:defRPr sz="1400">
                <a:solidFill>
                  <a:schemeClr val="tx1"/>
                </a:solidFill>
                <a:latin typeface="Arial" panose="020B0604020202020204" pitchFamily="34" charset="0"/>
              </a:defRPr>
            </a:lvl9pPr>
          </a:lstStyle>
          <a:p>
            <a:pPr>
              <a:spcBef>
                <a:spcPct val="75000"/>
              </a:spcBef>
            </a:pPr>
            <a:r>
              <a:rPr lang="en-GB" altLang="en-US" sz="1700" dirty="0">
                <a:solidFill>
                  <a:srgbClr val="FF66CC"/>
                </a:solidFill>
                <a:effectLst/>
              </a:rPr>
              <a:t>The assumption</a:t>
            </a:r>
            <a:r>
              <a:rPr lang="en-GB" altLang="en-US" sz="1700" dirty="0">
                <a:effectLst/>
              </a:rPr>
              <a:t> of simple shear may be checked by showing that the aspect ratios </a:t>
            </a:r>
            <a:r>
              <a:rPr lang="en-GB" altLang="en-US" sz="1700" spc="150" dirty="0">
                <a:effectLst/>
              </a:rPr>
              <a:t>(</a:t>
            </a:r>
            <a:r>
              <a:rPr lang="en-GB" altLang="en-US" sz="1700" i="1" spc="250" dirty="0">
                <a:solidFill>
                  <a:srgbClr val="FFFF00"/>
                </a:solidFill>
                <a:effectLst/>
              </a:rPr>
              <a:t>R</a:t>
            </a:r>
            <a:r>
              <a:rPr lang="en-GB" altLang="en-US" sz="1700" dirty="0">
                <a:effectLst/>
              </a:rPr>
              <a:t>) of the strain ellipses given by strain markers are as predicted by simple shear</a:t>
            </a:r>
          </a:p>
        </p:txBody>
      </p:sp>
      <p:sp>
        <p:nvSpPr>
          <p:cNvPr id="10253" name="Text Box 13">
            <a:extLst>
              <a:ext uri="{FF2B5EF4-FFF2-40B4-BE49-F238E27FC236}">
                <a16:creationId xmlns:a16="http://schemas.microsoft.com/office/drawing/2014/main" id="{FD9FBC6B-6CCA-4444-940A-3FF03C0FF4FA}"/>
              </a:ext>
            </a:extLst>
          </p:cNvPr>
          <p:cNvSpPr txBox="1">
            <a:spLocks noChangeArrowheads="1"/>
          </p:cNvSpPr>
          <p:nvPr/>
        </p:nvSpPr>
        <p:spPr bwMode="auto">
          <a:xfrm>
            <a:off x="2500313" y="5595938"/>
            <a:ext cx="514350" cy="367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15000"/>
              </a:lnSpc>
              <a:spcBef>
                <a:spcPct val="50000"/>
              </a:spcBef>
            </a:pPr>
            <a:r>
              <a:rPr lang="el-GR" altLang="en-US" sz="1700" i="1"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cs typeface="Times New Roman" panose="02020603050405020304" pitchFamily="18" charset="0"/>
              </a:rPr>
              <a:t>γ</a:t>
            </a:r>
            <a:r>
              <a:rPr lang="en-GB" altLang="en-US" sz="1400" dirty="0">
                <a:solidFill>
                  <a:srgbClr val="FFFF00"/>
                </a:solidFill>
                <a:effectLst>
                  <a:outerShdw blurRad="38100" dist="38100" dir="2700000" algn="tl">
                    <a:srgbClr val="000000"/>
                  </a:outerShdw>
                </a:effectLst>
                <a:latin typeface="Arial" panose="020B0604020202020204" pitchFamily="34" charset="0"/>
                <a:cs typeface="Arial" panose="020B0604020202020204" pitchFamily="34" charset="0"/>
              </a:rPr>
              <a:t>  =</a:t>
            </a:r>
            <a:endParaRPr lang="el-GR" altLang="en-US" sz="1400" dirty="0">
              <a:solidFill>
                <a:srgbClr val="FFFF00"/>
              </a:solidFill>
              <a:effectLst>
                <a:outerShdw blurRad="38100" dist="38100" dir="2700000" algn="tl">
                  <a:srgbClr val="000000"/>
                </a:outerShdw>
              </a:effectLst>
              <a:latin typeface="Arial" panose="020B0604020202020204" pitchFamily="34" charset="0"/>
              <a:cs typeface="Arial" panose="020B0604020202020204" pitchFamily="34" charset="0"/>
            </a:endParaRPr>
          </a:p>
        </p:txBody>
      </p:sp>
      <p:pic>
        <p:nvPicPr>
          <p:cNvPr id="10254" name="Picture 14">
            <a:extLst>
              <a:ext uri="{FF2B5EF4-FFF2-40B4-BE49-F238E27FC236}">
                <a16:creationId xmlns:a16="http://schemas.microsoft.com/office/drawing/2014/main" id="{681B26B6-D0B9-46BA-ACE1-9ECD1DA8C98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7013" y="3817938"/>
            <a:ext cx="2005012" cy="2668587"/>
          </a:xfrm>
          <a:prstGeom prst="rect">
            <a:avLst/>
          </a:prstGeom>
          <a:noFill/>
          <a:ln w="38100">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255" name="Text Box 15">
            <a:extLst>
              <a:ext uri="{FF2B5EF4-FFF2-40B4-BE49-F238E27FC236}">
                <a16:creationId xmlns:a16="http://schemas.microsoft.com/office/drawing/2014/main" id="{77EDC511-E777-4F32-97AC-55431E5F8114}"/>
              </a:ext>
            </a:extLst>
          </p:cNvPr>
          <p:cNvSpPr txBox="1">
            <a:spLocks noChangeArrowheads="1"/>
          </p:cNvSpPr>
          <p:nvPr/>
        </p:nvSpPr>
        <p:spPr bwMode="auto">
          <a:xfrm>
            <a:off x="2952750" y="5453063"/>
            <a:ext cx="124301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15000"/>
              </a:lnSpc>
              <a:spcBef>
                <a:spcPct val="50000"/>
              </a:spcBef>
            </a:pPr>
            <a:r>
              <a:rPr lang="en-GB" altLang="en-US" sz="1400">
                <a:solidFill>
                  <a:srgbClr val="FFFF00"/>
                </a:solidFill>
                <a:effectLst>
                  <a:outerShdw blurRad="38100" dist="38100" dir="2700000" algn="tl">
                    <a:srgbClr val="000000"/>
                  </a:outerShdw>
                </a:effectLst>
                <a:latin typeface="Arial" panose="020B0604020202020204" pitchFamily="34" charset="0"/>
                <a:cs typeface="Arial" panose="020B0604020202020204" pitchFamily="34" charset="0"/>
              </a:rPr>
              <a:t>displacement</a:t>
            </a:r>
            <a:endParaRPr lang="el-GR" altLang="en-US" sz="1400">
              <a:solidFill>
                <a:srgbClr val="FFFF00"/>
              </a:solidFill>
              <a:effectLst>
                <a:outerShdw blurRad="38100" dist="38100" dir="2700000" algn="tl">
                  <a:srgbClr val="000000"/>
                </a:outerShdw>
              </a:effectLst>
              <a:latin typeface="Arial" panose="020B0604020202020204" pitchFamily="34" charset="0"/>
              <a:cs typeface="Arial" panose="020B0604020202020204" pitchFamily="34" charset="0"/>
            </a:endParaRPr>
          </a:p>
        </p:txBody>
      </p:sp>
      <p:sp>
        <p:nvSpPr>
          <p:cNvPr id="10256" name="Text Box 16">
            <a:extLst>
              <a:ext uri="{FF2B5EF4-FFF2-40B4-BE49-F238E27FC236}">
                <a16:creationId xmlns:a16="http://schemas.microsoft.com/office/drawing/2014/main" id="{95DF54D6-349F-42A3-B741-C5F6C9CD4F24}"/>
              </a:ext>
            </a:extLst>
          </p:cNvPr>
          <p:cNvSpPr txBox="1">
            <a:spLocks noChangeArrowheads="1"/>
          </p:cNvSpPr>
          <p:nvPr/>
        </p:nvSpPr>
        <p:spPr bwMode="auto">
          <a:xfrm>
            <a:off x="3241675" y="5807075"/>
            <a:ext cx="66516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15000"/>
              </a:lnSpc>
              <a:spcBef>
                <a:spcPct val="50000"/>
              </a:spcBef>
            </a:pPr>
            <a:r>
              <a:rPr lang="en-GB" altLang="en-US" sz="1400">
                <a:solidFill>
                  <a:srgbClr val="FFFF00"/>
                </a:solidFill>
                <a:effectLst>
                  <a:outerShdw blurRad="38100" dist="38100" dir="2700000" algn="tl">
                    <a:srgbClr val="000000"/>
                  </a:outerShdw>
                </a:effectLst>
                <a:latin typeface="Arial" panose="020B0604020202020204" pitchFamily="34" charset="0"/>
                <a:cs typeface="Arial" panose="020B0604020202020204" pitchFamily="34" charset="0"/>
              </a:rPr>
              <a:t>width</a:t>
            </a:r>
            <a:endParaRPr lang="el-GR" altLang="en-US" sz="1400">
              <a:solidFill>
                <a:srgbClr val="FFFF00"/>
              </a:solidFill>
              <a:effectLst>
                <a:outerShdw blurRad="38100" dist="38100" dir="2700000" algn="tl">
                  <a:srgbClr val="000000"/>
                </a:outerShdw>
              </a:effectLst>
              <a:latin typeface="Arial" panose="020B0604020202020204" pitchFamily="34" charset="0"/>
              <a:cs typeface="Arial" panose="020B0604020202020204" pitchFamily="34" charset="0"/>
            </a:endParaRPr>
          </a:p>
        </p:txBody>
      </p:sp>
      <p:sp>
        <p:nvSpPr>
          <p:cNvPr id="10257" name="Line 17">
            <a:extLst>
              <a:ext uri="{FF2B5EF4-FFF2-40B4-BE49-F238E27FC236}">
                <a16:creationId xmlns:a16="http://schemas.microsoft.com/office/drawing/2014/main" id="{935552D1-F30C-4F15-B948-CC66F100AE07}"/>
              </a:ext>
            </a:extLst>
          </p:cNvPr>
          <p:cNvSpPr>
            <a:spLocks noChangeShapeType="1"/>
          </p:cNvSpPr>
          <p:nvPr/>
        </p:nvSpPr>
        <p:spPr bwMode="auto">
          <a:xfrm>
            <a:off x="3041650" y="5824538"/>
            <a:ext cx="1100138" cy="0"/>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Tree>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2" name="Rectangle 2">
            <a:extLst>
              <a:ext uri="{FF2B5EF4-FFF2-40B4-BE49-F238E27FC236}">
                <a16:creationId xmlns:a16="http://schemas.microsoft.com/office/drawing/2014/main" id="{8AED176A-7D9D-4C1F-9EE3-AC4AA3EB5BD9}"/>
              </a:ext>
            </a:extLst>
          </p:cNvPr>
          <p:cNvSpPr>
            <a:spLocks noGrp="1" noChangeArrowheads="1"/>
          </p:cNvSpPr>
          <p:nvPr>
            <p:ph type="ctrTitle" idx="4294967295"/>
          </p:nvPr>
        </p:nvSpPr>
        <p:spPr bwMode="black">
          <a:xfrm>
            <a:off x="239713" y="1622425"/>
            <a:ext cx="8705850" cy="1900238"/>
          </a:xfrm>
          <a:effectLst>
            <a:outerShdw dist="35921" dir="2700000" algn="ctr" rotWithShape="0">
              <a:schemeClr val="bg2"/>
            </a:outerShdw>
          </a:effectLst>
          <a:extLst>
            <a:ext uri="{909E8E84-426E-40DD-AFC4-6F175D3DCCD1}">
              <a14:hiddenFill xmlns:a14="http://schemas.microsoft.com/office/drawing/2010/main">
                <a:solidFill>
                  <a:schemeClr val="bg1"/>
                </a:solidFill>
              </a14:hiddenFill>
            </a:ext>
          </a:extLst>
        </p:spPr>
        <p:txBody>
          <a:bodyPr anchor="ctr">
            <a:spAutoFit/>
          </a:bodyPr>
          <a:lstStyle/>
          <a:p>
            <a:pPr algn="ctr">
              <a:lnSpc>
                <a:spcPct val="120000"/>
              </a:lnSpc>
              <a:defRPr/>
            </a:pPr>
            <a:br>
              <a:rPr lang="en-US" sz="3200"/>
            </a:br>
            <a:br>
              <a:rPr lang="en-US" sz="3500"/>
            </a:br>
            <a:r>
              <a:rPr lang="en-US" sz="3200">
                <a:solidFill>
                  <a:srgbClr val="FF6600"/>
                </a:solidFill>
              </a:rPr>
              <a:t>Ductile shear zones</a:t>
            </a:r>
            <a:endParaRPr lang="en-US">
              <a:solidFill>
                <a:srgbClr val="FF6600"/>
              </a:solidFill>
            </a:endParaRPr>
          </a:p>
        </p:txBody>
      </p:sp>
    </p:spTree>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D4377E5C-D212-40AA-9740-FC7A074BD10F}"/>
              </a:ext>
            </a:extLst>
          </p:cNvPr>
          <p:cNvSpPr>
            <a:spLocks noGrp="1" noChangeArrowheads="1"/>
          </p:cNvSpPr>
          <p:nvPr>
            <p:ph type="title"/>
          </p:nvPr>
        </p:nvSpPr>
        <p:spPr>
          <a:noFill/>
        </p:spPr>
        <p:txBody>
          <a:bodyPr/>
          <a:lstStyle/>
          <a:p>
            <a:r>
              <a:rPr lang="en-GB" altLang="en-US">
                <a:effectLst/>
              </a:rPr>
              <a:t>Shear zone rocks (fabrics)</a:t>
            </a:r>
          </a:p>
        </p:txBody>
      </p:sp>
      <p:pic>
        <p:nvPicPr>
          <p:cNvPr id="12291" name="Picture 2" descr="GR09.jpg">
            <a:extLst>
              <a:ext uri="{FF2B5EF4-FFF2-40B4-BE49-F238E27FC236}">
                <a16:creationId xmlns:a16="http://schemas.microsoft.com/office/drawing/2014/main" id="{1F324FFD-4B15-4EB9-9E2C-58A2EC518F24}"/>
              </a:ext>
            </a:extLst>
          </p:cNvPr>
          <p:cNvPicPr>
            <a:picLocks noGrp="1" noChangeAspect="1"/>
          </p:cNvPicPr>
          <p:nvPr>
            <p:ph sz="half" idx="1"/>
          </p:nvPr>
        </p:nvPicPr>
        <p:blipFill>
          <a:blip r:embed="rId3">
            <a:lum bright="-10000"/>
            <a:extLst>
              <a:ext uri="{28A0092B-C50C-407E-A947-70E740481C1C}">
                <a14:useLocalDpi xmlns:a14="http://schemas.microsoft.com/office/drawing/2010/main" val="0"/>
              </a:ext>
            </a:extLst>
          </a:blip>
          <a:srcRect/>
          <a:stretch>
            <a:fillRect/>
          </a:stretch>
        </p:blipFill>
        <p:spPr>
          <a:xfrm>
            <a:off x="727075" y="1625600"/>
            <a:ext cx="2779713" cy="2054225"/>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12292" name="Picture 25" descr="04c">
            <a:extLst>
              <a:ext uri="{FF2B5EF4-FFF2-40B4-BE49-F238E27FC236}">
                <a16:creationId xmlns:a16="http://schemas.microsoft.com/office/drawing/2014/main" id="{5E14D1B0-0C5B-42A4-AC22-767941EB339B}"/>
              </a:ext>
            </a:extLst>
          </p:cNvPr>
          <p:cNvPicPr>
            <a:picLocks noGrp="1" noChangeAspect="1" noChangeArrowheads="1"/>
          </p:cNvPicPr>
          <p:nvPr>
            <p:ph sz="quarter" idx="2"/>
          </p:nvPr>
        </p:nvPicPr>
        <p:blipFill>
          <a:blip r:embed="rId4">
            <a:extLst>
              <a:ext uri="{28A0092B-C50C-407E-A947-70E740481C1C}">
                <a14:useLocalDpi xmlns:a14="http://schemas.microsoft.com/office/drawing/2010/main" val="0"/>
              </a:ext>
            </a:extLst>
          </a:blip>
          <a:srcRect/>
          <a:stretch>
            <a:fillRect/>
          </a:stretch>
        </p:blipFill>
        <p:spPr>
          <a:xfrm>
            <a:off x="4752975" y="1644650"/>
            <a:ext cx="4133850" cy="2030413"/>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18130" name="Text Box 18">
            <a:extLst>
              <a:ext uri="{FF2B5EF4-FFF2-40B4-BE49-F238E27FC236}">
                <a16:creationId xmlns:a16="http://schemas.microsoft.com/office/drawing/2014/main" id="{83194955-7D90-4450-8E83-9981F9CD89A8}"/>
              </a:ext>
            </a:extLst>
          </p:cNvPr>
          <p:cNvSpPr txBox="1">
            <a:spLocks noChangeArrowheads="1"/>
          </p:cNvSpPr>
          <p:nvPr/>
        </p:nvSpPr>
        <p:spPr bwMode="auto">
          <a:xfrm>
            <a:off x="106363" y="779463"/>
            <a:ext cx="8931275" cy="714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7800" indent="-177800">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75000"/>
              </a:spcBef>
              <a:buClr>
                <a:schemeClr val="folHlink"/>
              </a:buClr>
              <a:buSzPct val="100000"/>
              <a:buFont typeface="Times" panose="02020603050405020304" pitchFamily="18" charset="0"/>
              <a:buChar char="•"/>
            </a:pPr>
            <a:r>
              <a:rPr lang="en-GB" altLang="en-US" sz="1700">
                <a:effectLst/>
                <a:latin typeface="Arial" panose="020B0604020202020204" pitchFamily="34" charset="0"/>
              </a:rPr>
              <a:t>As strain accumulates in ductile shear zones formed at </a:t>
            </a:r>
            <a:r>
              <a:rPr lang="en-GB" altLang="en-US" sz="1700">
                <a:solidFill>
                  <a:srgbClr val="FF66CC"/>
                </a:solidFill>
                <a:effectLst/>
                <a:latin typeface="Arial" panose="020B0604020202020204" pitchFamily="34" charset="0"/>
              </a:rPr>
              <a:t>greenschist metamorphic grade</a:t>
            </a:r>
            <a:r>
              <a:rPr lang="en-GB" altLang="en-US" sz="1700">
                <a:effectLst/>
                <a:latin typeface="Arial" panose="020B0604020202020204" pitchFamily="34" charset="0"/>
              </a:rPr>
              <a:t> and above, a </a:t>
            </a:r>
            <a:r>
              <a:rPr lang="en-GB" altLang="en-US" sz="1700">
                <a:solidFill>
                  <a:srgbClr val="FF6600"/>
                </a:solidFill>
                <a:effectLst/>
                <a:latin typeface="Arial" panose="020B0604020202020204" pitchFamily="34" charset="0"/>
              </a:rPr>
              <a:t>foliation</a:t>
            </a:r>
            <a:r>
              <a:rPr lang="en-GB" altLang="en-US" sz="1700">
                <a:effectLst/>
                <a:latin typeface="Arial" panose="020B0604020202020204" pitchFamily="34" charset="0"/>
              </a:rPr>
              <a:t> appears, and commonly within it, also a </a:t>
            </a:r>
            <a:r>
              <a:rPr lang="en-GB" altLang="en-US" sz="1700">
                <a:solidFill>
                  <a:srgbClr val="FF6600"/>
                </a:solidFill>
                <a:effectLst/>
                <a:latin typeface="Arial" panose="020B0604020202020204" pitchFamily="34" charset="0"/>
              </a:rPr>
              <a:t>stretching lineation</a:t>
            </a:r>
            <a:endParaRPr lang="en-GB" altLang="en-US" sz="1700">
              <a:solidFill>
                <a:srgbClr val="FF6600"/>
              </a:solidFill>
              <a:effectLst>
                <a:outerShdw blurRad="38100" dist="38100" dir="2700000" algn="tl">
                  <a:srgbClr val="000000"/>
                </a:outerShdw>
              </a:effectLst>
              <a:latin typeface="Arial" panose="020B0604020202020204" pitchFamily="34" charset="0"/>
            </a:endParaRPr>
          </a:p>
        </p:txBody>
      </p:sp>
      <p:sp>
        <p:nvSpPr>
          <p:cNvPr id="218141" name="Text Box 29">
            <a:extLst>
              <a:ext uri="{FF2B5EF4-FFF2-40B4-BE49-F238E27FC236}">
                <a16:creationId xmlns:a16="http://schemas.microsoft.com/office/drawing/2014/main" id="{DFDB0021-4478-4F02-9402-C2D383582F9B}"/>
              </a:ext>
            </a:extLst>
          </p:cNvPr>
          <p:cNvSpPr txBox="1">
            <a:spLocks noChangeArrowheads="1"/>
          </p:cNvSpPr>
          <p:nvPr/>
        </p:nvSpPr>
        <p:spPr bwMode="auto">
          <a:xfrm>
            <a:off x="142875" y="3756025"/>
            <a:ext cx="4403725" cy="302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7800" indent="-177800">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50000"/>
              </a:spcBef>
              <a:buClr>
                <a:schemeClr val="tx1"/>
              </a:buClr>
              <a:buFontTx/>
              <a:buChar char="•"/>
            </a:pPr>
            <a:r>
              <a:rPr lang="en-GB" altLang="en-US" sz="1700" dirty="0">
                <a:effectLst>
                  <a:outerShdw blurRad="38100" dist="38100" dir="2700000" algn="tl">
                    <a:srgbClr val="000000"/>
                  </a:outerShdw>
                </a:effectLst>
                <a:latin typeface="Arial" panose="020B0604020202020204" pitchFamily="34" charset="0"/>
              </a:rPr>
              <a:t>Objects within the </a:t>
            </a:r>
            <a:r>
              <a:rPr lang="en-GB" altLang="en-US" sz="1700" dirty="0" err="1">
                <a:effectLst>
                  <a:outerShdw blurRad="38100" dist="38100" dir="2700000" algn="tl">
                    <a:srgbClr val="000000"/>
                  </a:outerShdw>
                </a:effectLst>
                <a:latin typeface="Arial" panose="020B0604020202020204" pitchFamily="34" charset="0"/>
              </a:rPr>
              <a:t>protolith</a:t>
            </a:r>
            <a:r>
              <a:rPr lang="en-GB" altLang="en-US" sz="1700" dirty="0">
                <a:effectLst>
                  <a:outerShdw blurRad="38100" dist="38100" dir="2700000" algn="tl">
                    <a:srgbClr val="000000"/>
                  </a:outerShdw>
                </a:effectLst>
                <a:latin typeface="Arial" panose="020B0604020202020204" pitchFamily="34" charset="0"/>
              </a:rPr>
              <a:t> are </a:t>
            </a:r>
            <a:r>
              <a:rPr lang="en-GB" altLang="en-US" sz="1700" dirty="0">
                <a:solidFill>
                  <a:srgbClr val="FF66CC"/>
                </a:solidFill>
                <a:effectLst>
                  <a:outerShdw blurRad="38100" dist="38100" dir="2700000" algn="tl">
                    <a:srgbClr val="000000"/>
                  </a:outerShdw>
                </a:effectLst>
                <a:latin typeface="Arial" panose="020B0604020202020204" pitchFamily="34" charset="0"/>
              </a:rPr>
              <a:t>stretched and rotated</a:t>
            </a:r>
            <a:r>
              <a:rPr lang="en-GB" altLang="en-US" sz="1700" dirty="0">
                <a:effectLst>
                  <a:outerShdw blurRad="38100" dist="38100" dir="2700000" algn="tl">
                    <a:srgbClr val="000000"/>
                  </a:outerShdw>
                </a:effectLst>
                <a:latin typeface="Arial" panose="020B0604020202020204" pitchFamily="34" charset="0"/>
              </a:rPr>
              <a:t> into the shear zone, and the fabric is </a:t>
            </a:r>
            <a:r>
              <a:rPr lang="en-GB" altLang="en-US" sz="1700" dirty="0">
                <a:solidFill>
                  <a:srgbClr val="FF66CC"/>
                </a:solidFill>
                <a:effectLst>
                  <a:outerShdw blurRad="38100" dist="38100" dir="2700000" algn="tl">
                    <a:srgbClr val="000000"/>
                  </a:outerShdw>
                </a:effectLst>
                <a:latin typeface="Arial" panose="020B0604020202020204" pitchFamily="34" charset="0"/>
              </a:rPr>
              <a:t>intensified</a:t>
            </a:r>
            <a:r>
              <a:rPr lang="en-GB" altLang="en-US" sz="1700" dirty="0">
                <a:effectLst>
                  <a:outerShdw blurRad="38100" dist="38100" dir="2700000" algn="tl">
                    <a:srgbClr val="000000"/>
                  </a:outerShdw>
                </a:effectLst>
                <a:latin typeface="Arial" panose="020B0604020202020204" pitchFamily="34" charset="0"/>
              </a:rPr>
              <a:t> in the centre of the shear zone</a:t>
            </a:r>
          </a:p>
          <a:p>
            <a:pPr>
              <a:lnSpc>
                <a:spcPct val="120000"/>
              </a:lnSpc>
              <a:spcBef>
                <a:spcPts val="600"/>
              </a:spcBef>
              <a:buClr>
                <a:schemeClr val="tx1"/>
              </a:buClr>
              <a:buFontTx/>
              <a:buChar char="•"/>
            </a:pPr>
            <a:r>
              <a:rPr lang="en-GB" altLang="en-US" sz="1700" dirty="0">
                <a:effectLst>
                  <a:outerShdw blurRad="38100" dist="38100" dir="2700000" algn="tl">
                    <a:srgbClr val="000000"/>
                  </a:outerShdw>
                </a:effectLst>
                <a:latin typeface="Arial" panose="020B0604020202020204" pitchFamily="34" charset="0"/>
              </a:rPr>
              <a:t>The </a:t>
            </a:r>
            <a:r>
              <a:rPr lang="en-GB" altLang="en-US" sz="1700" dirty="0">
                <a:solidFill>
                  <a:srgbClr val="FF66CC"/>
                </a:solidFill>
                <a:effectLst>
                  <a:outerShdw blurRad="38100" dist="38100" dir="2700000" algn="tl">
                    <a:srgbClr val="000000"/>
                  </a:outerShdw>
                </a:effectLst>
                <a:latin typeface="Arial" panose="020B0604020202020204" pitchFamily="34" charset="0"/>
              </a:rPr>
              <a:t>curvature of the foliation</a:t>
            </a:r>
            <a:r>
              <a:rPr lang="en-GB" altLang="en-US" sz="1700" dirty="0">
                <a:effectLst>
                  <a:outerShdw blurRad="38100" dist="38100" dir="2700000" algn="tl">
                    <a:srgbClr val="000000"/>
                  </a:outerShdw>
                </a:effectLst>
                <a:latin typeface="Arial" panose="020B0604020202020204" pitchFamily="34" charset="0"/>
              </a:rPr>
              <a:t> provides a very useful indication of shear sense, but to be used in this way the foliation </a:t>
            </a:r>
            <a:r>
              <a:rPr lang="en-GB" altLang="en-US" sz="1700" dirty="0">
                <a:solidFill>
                  <a:srgbClr val="FFFF00"/>
                </a:solidFill>
                <a:effectLst>
                  <a:outerShdw blurRad="38100" dist="38100" dir="2700000" algn="tl">
                    <a:srgbClr val="000000"/>
                  </a:outerShdw>
                </a:effectLst>
                <a:latin typeface="Arial" panose="020B0604020202020204" pitchFamily="34" charset="0"/>
              </a:rPr>
              <a:t>must be one formed during the shearing</a:t>
            </a:r>
            <a:r>
              <a:rPr lang="en-GB" altLang="en-US" sz="1700" dirty="0">
                <a:effectLst>
                  <a:outerShdw blurRad="38100" dist="38100" dir="2700000" algn="tl">
                    <a:srgbClr val="000000"/>
                  </a:outerShdw>
                </a:effectLst>
                <a:latin typeface="Arial" panose="020B0604020202020204" pitchFamily="34" charset="0"/>
              </a:rPr>
              <a:t> rather than a deflected pre-existing foliation</a:t>
            </a:r>
          </a:p>
        </p:txBody>
      </p:sp>
      <p:pic>
        <p:nvPicPr>
          <p:cNvPr id="12295" name="Picture 34" descr="04e-stretching">
            <a:extLst>
              <a:ext uri="{FF2B5EF4-FFF2-40B4-BE49-F238E27FC236}">
                <a16:creationId xmlns:a16="http://schemas.microsoft.com/office/drawing/2014/main" id="{4DDEB37E-0461-4625-A30B-772974E2D7FE}"/>
              </a:ext>
            </a:extLst>
          </p:cNvPr>
          <p:cNvPicPr>
            <a:picLocks noGrp="1" noChangeAspect="1" noChangeArrowheads="1"/>
          </p:cNvPicPr>
          <p:nvPr>
            <p:ph sz="quarter" idx="3"/>
          </p:nvPr>
        </p:nvPicPr>
        <p:blipFill>
          <a:blip r:embed="rId5">
            <a:extLst>
              <a:ext uri="{28A0092B-C50C-407E-A947-70E740481C1C}">
                <a14:useLocalDpi xmlns:a14="http://schemas.microsoft.com/office/drawing/2010/main" val="0"/>
              </a:ext>
            </a:extLst>
          </a:blip>
          <a:srcRect/>
          <a:stretch>
            <a:fillRect/>
          </a:stretch>
        </p:blipFill>
        <p:spPr>
          <a:xfrm>
            <a:off x="4737100" y="3876675"/>
            <a:ext cx="4151313" cy="2832100"/>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slow"/>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4E0B8351-4DF1-4741-A641-F3DE4899EB0B}"/>
              </a:ext>
            </a:extLst>
          </p:cNvPr>
          <p:cNvSpPr>
            <a:spLocks noGrp="1" noChangeArrowheads="1"/>
          </p:cNvSpPr>
          <p:nvPr>
            <p:ph type="title"/>
          </p:nvPr>
        </p:nvSpPr>
        <p:spPr>
          <a:noFill/>
        </p:spPr>
        <p:txBody>
          <a:bodyPr/>
          <a:lstStyle/>
          <a:p>
            <a:r>
              <a:rPr lang="en-GB" altLang="en-US">
                <a:effectLst/>
              </a:rPr>
              <a:t>Shear zone rocks (mylonites)</a:t>
            </a:r>
          </a:p>
        </p:txBody>
      </p:sp>
      <p:pic>
        <p:nvPicPr>
          <p:cNvPr id="13315" name="Picture 6" descr="04e-WGR sheared migmatite">
            <a:extLst>
              <a:ext uri="{FF2B5EF4-FFF2-40B4-BE49-F238E27FC236}">
                <a16:creationId xmlns:a16="http://schemas.microsoft.com/office/drawing/2014/main" id="{C7F107F1-7862-4B5C-B142-7F5641B2DE35}"/>
              </a:ext>
            </a:extLst>
          </p:cNvPr>
          <p:cNvPicPr>
            <a:picLocks noGrp="1" noChangeAspect="1" noChangeArrowheads="1"/>
          </p:cNvPicPr>
          <p:nvPr>
            <p:ph sz="half" idx="1"/>
          </p:nvPr>
        </p:nvPicPr>
        <p:blipFill>
          <a:blip r:embed="rId3">
            <a:lum bright="-10000"/>
            <a:extLst>
              <a:ext uri="{28A0092B-C50C-407E-A947-70E740481C1C}">
                <a14:useLocalDpi xmlns:a14="http://schemas.microsoft.com/office/drawing/2010/main" val="0"/>
              </a:ext>
            </a:extLst>
          </a:blip>
          <a:srcRect/>
          <a:stretch>
            <a:fillRect/>
          </a:stretch>
        </p:blipFill>
        <p:spPr>
          <a:xfrm>
            <a:off x="193675" y="1644650"/>
            <a:ext cx="4291013" cy="2862263"/>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13316" name="Picture 10" descr="04d-ZanskarSZ">
            <a:extLst>
              <a:ext uri="{FF2B5EF4-FFF2-40B4-BE49-F238E27FC236}">
                <a16:creationId xmlns:a16="http://schemas.microsoft.com/office/drawing/2014/main" id="{D63CD553-6830-479B-AF62-F209A9AED6ED}"/>
              </a:ext>
            </a:extLst>
          </p:cNvPr>
          <p:cNvPicPr>
            <a:picLocks noGrp="1" noChangeAspect="1" noChangeArrowheads="1"/>
          </p:cNvPicPr>
          <p:nvPr>
            <p:ph sz="quarter" idx="2"/>
          </p:nvPr>
        </p:nvPicPr>
        <p:blipFill>
          <a:blip r:embed="rId4">
            <a:extLst>
              <a:ext uri="{28A0092B-C50C-407E-A947-70E740481C1C}">
                <a14:useLocalDpi xmlns:a14="http://schemas.microsoft.com/office/drawing/2010/main" val="0"/>
              </a:ext>
            </a:extLst>
          </a:blip>
          <a:srcRect/>
          <a:stretch>
            <a:fillRect/>
          </a:stretch>
        </p:blipFill>
        <p:spPr>
          <a:xfrm>
            <a:off x="4759325" y="1644650"/>
            <a:ext cx="4198938" cy="2867025"/>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80581" name="Text Box 5">
            <a:extLst>
              <a:ext uri="{FF2B5EF4-FFF2-40B4-BE49-F238E27FC236}">
                <a16:creationId xmlns:a16="http://schemas.microsoft.com/office/drawing/2014/main" id="{A66519F3-F32F-4073-9561-EB2BE0E5BD9E}"/>
              </a:ext>
            </a:extLst>
          </p:cNvPr>
          <p:cNvSpPr txBox="1">
            <a:spLocks noChangeArrowheads="1"/>
          </p:cNvSpPr>
          <p:nvPr/>
        </p:nvSpPr>
        <p:spPr bwMode="auto">
          <a:xfrm>
            <a:off x="106363" y="769938"/>
            <a:ext cx="8931275" cy="714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7800" indent="-177800">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50000"/>
              </a:spcBef>
              <a:buClr>
                <a:schemeClr val="tx1"/>
              </a:buClr>
              <a:buFontTx/>
              <a:buChar char="•"/>
            </a:pPr>
            <a:r>
              <a:rPr lang="en-GB" altLang="en-US" sz="1700">
                <a:effectLst>
                  <a:outerShdw blurRad="38100" dist="38100" dir="2700000" algn="tl">
                    <a:srgbClr val="000000"/>
                  </a:outerShdw>
                </a:effectLst>
                <a:latin typeface="Arial" panose="020B0604020202020204" pitchFamily="34" charset="0"/>
              </a:rPr>
              <a:t>In the middle of a shear zone, the strain may be so large that pre-existing textures are completely </a:t>
            </a:r>
            <a:r>
              <a:rPr lang="en-GB" altLang="en-US" sz="1700">
                <a:solidFill>
                  <a:srgbClr val="FF66CC"/>
                </a:solidFill>
                <a:effectLst>
                  <a:outerShdw blurRad="38100" dist="38100" dir="2700000" algn="tl">
                    <a:srgbClr val="000000"/>
                  </a:outerShdw>
                </a:effectLst>
                <a:latin typeface="Arial" panose="020B0604020202020204" pitchFamily="34" charset="0"/>
              </a:rPr>
              <a:t>transposed</a:t>
            </a:r>
            <a:r>
              <a:rPr lang="en-GB" altLang="en-US" sz="1700">
                <a:effectLst>
                  <a:outerShdw blurRad="38100" dist="38100" dir="2700000" algn="tl">
                    <a:srgbClr val="000000"/>
                  </a:outerShdw>
                </a:effectLst>
                <a:latin typeface="Arial" panose="020B0604020202020204" pitchFamily="34" charset="0"/>
              </a:rPr>
              <a:t>. The resulting banded rock is described as a </a:t>
            </a:r>
            <a:r>
              <a:rPr lang="en-GB" altLang="en-US" sz="1700">
                <a:solidFill>
                  <a:srgbClr val="FF6600"/>
                </a:solidFill>
                <a:effectLst>
                  <a:outerShdw blurRad="38100" dist="38100" dir="2700000" algn="tl">
                    <a:srgbClr val="000000"/>
                  </a:outerShdw>
                </a:effectLst>
                <a:latin typeface="Arial" panose="020B0604020202020204" pitchFamily="34" charset="0"/>
              </a:rPr>
              <a:t>mylonite</a:t>
            </a:r>
            <a:endParaRPr lang="en-GB" altLang="en-US" sz="1700">
              <a:effectLst>
                <a:outerShdw blurRad="38100" dist="38100" dir="2700000" algn="tl">
                  <a:srgbClr val="000000"/>
                </a:outerShdw>
              </a:effectLst>
              <a:latin typeface="Arial" panose="020B0604020202020204" pitchFamily="34" charset="0"/>
            </a:endParaRPr>
          </a:p>
        </p:txBody>
      </p:sp>
      <p:sp>
        <p:nvSpPr>
          <p:cNvPr id="280583" name="Text Box 7">
            <a:extLst>
              <a:ext uri="{FF2B5EF4-FFF2-40B4-BE49-F238E27FC236}">
                <a16:creationId xmlns:a16="http://schemas.microsoft.com/office/drawing/2014/main" id="{28460BD3-2925-494E-9884-DCD71EC60C30}"/>
              </a:ext>
            </a:extLst>
          </p:cNvPr>
          <p:cNvSpPr txBox="1">
            <a:spLocks noChangeArrowheads="1"/>
          </p:cNvSpPr>
          <p:nvPr/>
        </p:nvSpPr>
        <p:spPr bwMode="auto">
          <a:xfrm>
            <a:off x="2822575" y="4616450"/>
            <a:ext cx="6188075" cy="20778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7800" indent="-177800">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50000"/>
              </a:spcBef>
              <a:buClr>
                <a:schemeClr val="tx1"/>
              </a:buClr>
              <a:buFontTx/>
              <a:buChar char="•"/>
            </a:pPr>
            <a:r>
              <a:rPr lang="en-GB" altLang="en-US" sz="1700" dirty="0">
                <a:effectLst>
                  <a:outerShdw blurRad="38100" dist="38100" dir="2700000" algn="tl">
                    <a:srgbClr val="000000"/>
                  </a:outerShdw>
                </a:effectLst>
                <a:latin typeface="Arial" panose="020B0604020202020204" pitchFamily="34" charset="0"/>
              </a:rPr>
              <a:t>Formally, </a:t>
            </a:r>
            <a:r>
              <a:rPr lang="en-GB" altLang="en-US" sz="1700" dirty="0" err="1">
                <a:effectLst>
                  <a:outerShdw blurRad="38100" dist="38100" dir="2700000" algn="tl">
                    <a:srgbClr val="000000"/>
                  </a:outerShdw>
                </a:effectLst>
                <a:latin typeface="Arial" panose="020B0604020202020204" pitchFamily="34" charset="0"/>
              </a:rPr>
              <a:t>mylonites</a:t>
            </a:r>
            <a:r>
              <a:rPr lang="en-GB" altLang="en-US" sz="1700" dirty="0">
                <a:effectLst>
                  <a:outerShdw blurRad="38100" dist="38100" dir="2700000" algn="tl">
                    <a:srgbClr val="000000"/>
                  </a:outerShdw>
                </a:effectLst>
                <a:latin typeface="Arial" panose="020B0604020202020204" pitchFamily="34" charset="0"/>
              </a:rPr>
              <a:t> are fault rocks containing </a:t>
            </a:r>
            <a:r>
              <a:rPr lang="en-GB" altLang="en-US" sz="1700" dirty="0">
                <a:solidFill>
                  <a:srgbClr val="FF66CC"/>
                </a:solidFill>
                <a:effectLst>
                  <a:outerShdw blurRad="38100" dist="38100" dir="2700000" algn="tl">
                    <a:srgbClr val="000000"/>
                  </a:outerShdw>
                </a:effectLst>
                <a:latin typeface="Arial" panose="020B0604020202020204" pitchFamily="34" charset="0"/>
              </a:rPr>
              <a:t>a</a:t>
            </a:r>
            <a:r>
              <a:rPr lang="en-GB" altLang="en-US" sz="1700" dirty="0">
                <a:effectLst>
                  <a:outerShdw blurRad="38100" dist="38100" dir="2700000" algn="tl">
                    <a:srgbClr val="000000"/>
                  </a:outerShdw>
                </a:effectLst>
                <a:latin typeface="Arial" panose="020B0604020202020204" pitchFamily="34" charset="0"/>
              </a:rPr>
              <a:t> </a:t>
            </a:r>
            <a:r>
              <a:rPr lang="en-GB" altLang="en-US" sz="1700" dirty="0">
                <a:solidFill>
                  <a:srgbClr val="FF66CC"/>
                </a:solidFill>
                <a:effectLst>
                  <a:outerShdw blurRad="38100" dist="38100" dir="2700000" algn="tl">
                    <a:srgbClr val="000000"/>
                  </a:outerShdw>
                </a:effectLst>
                <a:latin typeface="Arial" panose="020B0604020202020204" pitchFamily="34" charset="0"/>
              </a:rPr>
              <a:t>well-developed foliation that arises during tectonic grain size reduction</a:t>
            </a:r>
          </a:p>
          <a:p>
            <a:pPr>
              <a:lnSpc>
                <a:spcPct val="120000"/>
              </a:lnSpc>
              <a:spcBef>
                <a:spcPct val="50000"/>
              </a:spcBef>
              <a:buClr>
                <a:schemeClr val="tx1"/>
              </a:buClr>
              <a:buFontTx/>
              <a:buChar char="•"/>
            </a:pPr>
            <a:r>
              <a:rPr lang="en-GB" altLang="en-US" sz="1700" dirty="0">
                <a:effectLst>
                  <a:outerShdw blurRad="38100" dist="38100" dir="2700000" algn="tl">
                    <a:srgbClr val="000000"/>
                  </a:outerShdw>
                </a:effectLst>
                <a:latin typeface="Arial" panose="020B0604020202020204" pitchFamily="34" charset="0"/>
              </a:rPr>
              <a:t>Mylonite zones can be </a:t>
            </a:r>
            <a:r>
              <a:rPr lang="en-GB" altLang="en-US" sz="1700" dirty="0">
                <a:solidFill>
                  <a:srgbClr val="FF66CC"/>
                </a:solidFill>
                <a:effectLst>
                  <a:outerShdw blurRad="38100" dist="38100" dir="2700000" algn="tl">
                    <a:srgbClr val="000000"/>
                  </a:outerShdw>
                </a:effectLst>
                <a:latin typeface="Arial" panose="020B0604020202020204" pitchFamily="34" charset="0"/>
              </a:rPr>
              <a:t>up to several kilometres thick</a:t>
            </a:r>
            <a:r>
              <a:rPr lang="en-GB" altLang="en-US" sz="1700" dirty="0">
                <a:effectLst>
                  <a:outerShdw blurRad="38100" dist="38100" dir="2700000" algn="tl">
                    <a:srgbClr val="000000"/>
                  </a:outerShdw>
                </a:effectLst>
                <a:latin typeface="Arial" panose="020B0604020202020204" pitchFamily="34" charset="0"/>
              </a:rPr>
              <a:t> and may contain a rich variety of deformation features that are indicative of local variations in finite strain</a:t>
            </a:r>
          </a:p>
        </p:txBody>
      </p:sp>
      <p:pic>
        <p:nvPicPr>
          <p:cNvPr id="13319" name="Picture 12" descr="04g-Mylonite">
            <a:extLst>
              <a:ext uri="{FF2B5EF4-FFF2-40B4-BE49-F238E27FC236}">
                <a16:creationId xmlns:a16="http://schemas.microsoft.com/office/drawing/2014/main" id="{E1169F50-57A5-4AE4-9AB5-2BF9E8689F4A}"/>
              </a:ext>
            </a:extLst>
          </p:cNvPr>
          <p:cNvPicPr>
            <a:picLocks noGrp="1" noChangeAspect="1" noChangeArrowheads="1"/>
          </p:cNvPicPr>
          <p:nvPr>
            <p:ph sz="quarter" idx="3"/>
          </p:nvPr>
        </p:nvPicPr>
        <p:blipFill>
          <a:blip r:embed="rId5">
            <a:extLst>
              <a:ext uri="{28A0092B-C50C-407E-A947-70E740481C1C}">
                <a14:useLocalDpi xmlns:a14="http://schemas.microsoft.com/office/drawing/2010/main" val="0"/>
              </a:ext>
            </a:extLst>
          </a:blip>
          <a:srcRect/>
          <a:stretch>
            <a:fillRect/>
          </a:stretch>
        </p:blipFill>
        <p:spPr>
          <a:xfrm>
            <a:off x="192088" y="4724400"/>
            <a:ext cx="2413000" cy="1960563"/>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slow"/>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5E584356-63C8-4C1E-B757-B0FC582463BF}"/>
              </a:ext>
            </a:extLst>
          </p:cNvPr>
          <p:cNvSpPr>
            <a:spLocks noGrp="1" noChangeArrowheads="1"/>
          </p:cNvSpPr>
          <p:nvPr>
            <p:ph type="title"/>
          </p:nvPr>
        </p:nvSpPr>
        <p:spPr>
          <a:noFill/>
        </p:spPr>
        <p:txBody>
          <a:bodyPr/>
          <a:lstStyle/>
          <a:p>
            <a:r>
              <a:rPr lang="en-GB" altLang="en-US">
                <a:effectLst/>
              </a:rPr>
              <a:t>Relationship of shear zone fabrics to finite strain</a:t>
            </a:r>
          </a:p>
        </p:txBody>
      </p:sp>
      <p:sp>
        <p:nvSpPr>
          <p:cNvPr id="14339" name="Rectangle 3">
            <a:extLst>
              <a:ext uri="{FF2B5EF4-FFF2-40B4-BE49-F238E27FC236}">
                <a16:creationId xmlns:a16="http://schemas.microsoft.com/office/drawing/2014/main" id="{6D2A0CA2-D233-407A-9B78-86C8F1CE5443}"/>
              </a:ext>
            </a:extLst>
          </p:cNvPr>
          <p:cNvSpPr>
            <a:spLocks noGrp="1" noChangeArrowheads="1"/>
          </p:cNvSpPr>
          <p:nvPr>
            <p:ph type="body" sz="half" idx="1"/>
          </p:nvPr>
        </p:nvSpPr>
        <p:spPr>
          <a:xfrm>
            <a:off x="125413" y="3432175"/>
            <a:ext cx="4075112" cy="3095625"/>
          </a:xfrm>
          <a:noFill/>
        </p:spPr>
        <p:txBody>
          <a:bodyPr/>
          <a:lstStyle/>
          <a:p>
            <a:pPr marL="266700" indent="-266700">
              <a:spcBef>
                <a:spcPct val="50000"/>
              </a:spcBef>
            </a:pPr>
            <a:r>
              <a:rPr lang="en-GB" altLang="en-US" sz="1700" dirty="0">
                <a:effectLst/>
              </a:rPr>
              <a:t>Hence in shear zones formed by progressive simple shear:</a:t>
            </a:r>
          </a:p>
          <a:p>
            <a:pPr marL="266700" indent="-266700">
              <a:spcBef>
                <a:spcPct val="50000"/>
              </a:spcBef>
              <a:buFont typeface="Times" panose="02020603050405020304" pitchFamily="18" charset="0"/>
              <a:buAutoNum type="arabicPeriod"/>
            </a:pPr>
            <a:r>
              <a:rPr lang="en-GB" altLang="en-US" sz="1700" dirty="0">
                <a:effectLst/>
              </a:rPr>
              <a:t>the </a:t>
            </a:r>
            <a:r>
              <a:rPr lang="en-GB" altLang="en-US" sz="1700" dirty="0">
                <a:solidFill>
                  <a:srgbClr val="FF6600"/>
                </a:solidFill>
                <a:effectLst/>
              </a:rPr>
              <a:t>foliation</a:t>
            </a:r>
            <a:r>
              <a:rPr lang="en-GB" altLang="en-US" sz="1700" dirty="0">
                <a:effectLst/>
              </a:rPr>
              <a:t> is at </a:t>
            </a:r>
            <a:r>
              <a:rPr lang="en-GB" altLang="en-US" sz="1700" spc="300" dirty="0">
                <a:solidFill>
                  <a:srgbClr val="FF66CC"/>
                </a:solidFill>
                <a:effectLst/>
              </a:rPr>
              <a:t>~</a:t>
            </a:r>
            <a:r>
              <a:rPr lang="en-GB" altLang="en-US" sz="1700" dirty="0">
                <a:solidFill>
                  <a:srgbClr val="FF66CC"/>
                </a:solidFill>
                <a:effectLst/>
              </a:rPr>
              <a:t>45°</a:t>
            </a:r>
            <a:r>
              <a:rPr lang="en-GB" altLang="en-US" sz="1700" dirty="0">
                <a:effectLst/>
              </a:rPr>
              <a:t> </a:t>
            </a:r>
            <a:r>
              <a:rPr lang="en-GB" altLang="en-US" sz="1700" dirty="0">
                <a:solidFill>
                  <a:srgbClr val="FF66CC"/>
                </a:solidFill>
                <a:effectLst/>
              </a:rPr>
              <a:t>to the shear zone walls at the margins</a:t>
            </a:r>
            <a:r>
              <a:rPr lang="en-GB" altLang="en-US" sz="1700" dirty="0">
                <a:effectLst/>
              </a:rPr>
              <a:t> and rotates towards parallelism with those walls in the centre of the shear zone</a:t>
            </a:r>
          </a:p>
          <a:p>
            <a:pPr marL="266700" indent="-266700">
              <a:spcBef>
                <a:spcPct val="50000"/>
              </a:spcBef>
              <a:buClr>
                <a:schemeClr val="tx1"/>
              </a:buClr>
              <a:buSzTx/>
              <a:buFontTx/>
              <a:buAutoNum type="arabicPeriod"/>
            </a:pPr>
            <a:r>
              <a:rPr lang="en-GB" altLang="en-US" sz="1700" dirty="0">
                <a:effectLst/>
              </a:rPr>
              <a:t>the </a:t>
            </a:r>
            <a:r>
              <a:rPr lang="en-GB" altLang="en-US" sz="1700" dirty="0">
                <a:solidFill>
                  <a:srgbClr val="FF6600"/>
                </a:solidFill>
                <a:effectLst/>
              </a:rPr>
              <a:t>stretching lineation</a:t>
            </a:r>
            <a:r>
              <a:rPr lang="en-GB" altLang="en-US" sz="1700" dirty="0">
                <a:effectLst/>
              </a:rPr>
              <a:t> is parallel to the maximum extension direction</a:t>
            </a:r>
          </a:p>
          <a:p>
            <a:pPr marL="266700" indent="-266700">
              <a:spcBef>
                <a:spcPct val="0"/>
              </a:spcBef>
              <a:buClr>
                <a:schemeClr val="tx1"/>
              </a:buClr>
              <a:buSzTx/>
              <a:buFontTx/>
              <a:buNone/>
            </a:pPr>
            <a:r>
              <a:rPr lang="en-GB" altLang="en-US" sz="1700" dirty="0">
                <a:effectLst/>
              </a:rPr>
              <a:t>	(</a:t>
            </a:r>
            <a:r>
              <a:rPr lang="en-GB" altLang="en-US" sz="1700" dirty="0">
                <a:solidFill>
                  <a:srgbClr val="FF6600"/>
                </a:solidFill>
                <a:effectLst/>
              </a:rPr>
              <a:t>X direction</a:t>
            </a:r>
            <a:r>
              <a:rPr lang="en-GB" altLang="en-US" sz="1700" dirty="0">
                <a:effectLst/>
              </a:rPr>
              <a:t>)</a:t>
            </a:r>
          </a:p>
        </p:txBody>
      </p:sp>
      <p:pic>
        <p:nvPicPr>
          <p:cNvPr id="14340" name="Picture 4">
            <a:extLst>
              <a:ext uri="{FF2B5EF4-FFF2-40B4-BE49-F238E27FC236}">
                <a16:creationId xmlns:a16="http://schemas.microsoft.com/office/drawing/2014/main" id="{E0B30632-C930-4D8A-A5FF-A0F03F911B8B}"/>
              </a:ext>
            </a:extLst>
          </p:cNvPr>
          <p:cNvPicPr>
            <a:picLocks noGrp="1" noChangeAspect="1" noChangeArrowheads="1"/>
          </p:cNvPicPr>
          <p:nvPr>
            <p:ph sz="quarter" idx="2"/>
          </p:nvPr>
        </p:nvPicPr>
        <p:blipFill>
          <a:blip r:embed="rId3">
            <a:extLst>
              <a:ext uri="{28A0092B-C50C-407E-A947-70E740481C1C}">
                <a14:useLocalDpi xmlns:a14="http://schemas.microsoft.com/office/drawing/2010/main" val="0"/>
              </a:ext>
            </a:extLst>
          </a:blip>
          <a:srcRect/>
          <a:stretch>
            <a:fillRect/>
          </a:stretch>
        </p:blipFill>
        <p:spPr>
          <a:xfrm>
            <a:off x="4090988" y="1403350"/>
            <a:ext cx="4879975" cy="1238250"/>
          </a:xfrm>
          <a:noFill/>
          <a:ln w="38100" cap="flat">
            <a:solidFill>
              <a:schemeClr val="bg2"/>
            </a:solidFill>
            <a:miter lim="800000"/>
            <a:headEnd/>
            <a:tailEnd/>
          </a:ln>
        </p:spPr>
      </p:pic>
      <p:grpSp>
        <p:nvGrpSpPr>
          <p:cNvPr id="14342" name="Group 6">
            <a:extLst>
              <a:ext uri="{FF2B5EF4-FFF2-40B4-BE49-F238E27FC236}">
                <a16:creationId xmlns:a16="http://schemas.microsoft.com/office/drawing/2014/main" id="{4E62D395-4931-496F-AF78-51038A5848B3}"/>
              </a:ext>
            </a:extLst>
          </p:cNvPr>
          <p:cNvGrpSpPr>
            <a:grpSpLocks/>
          </p:cNvGrpSpPr>
          <p:nvPr/>
        </p:nvGrpSpPr>
        <p:grpSpPr bwMode="auto">
          <a:xfrm>
            <a:off x="469900" y="1381125"/>
            <a:ext cx="3146425" cy="1874838"/>
            <a:chOff x="4240" y="2159"/>
            <a:chExt cx="1442" cy="878"/>
          </a:xfrm>
        </p:grpSpPr>
        <p:sp>
          <p:nvSpPr>
            <p:cNvPr id="275463" name="Rectangle 7">
              <a:extLst>
                <a:ext uri="{FF2B5EF4-FFF2-40B4-BE49-F238E27FC236}">
                  <a16:creationId xmlns:a16="http://schemas.microsoft.com/office/drawing/2014/main" id="{2B2BF7E2-5418-4F0F-83DE-FFD0DE433476}"/>
                </a:ext>
              </a:extLst>
            </p:cNvPr>
            <p:cNvSpPr>
              <a:spLocks noChangeArrowheads="1"/>
            </p:cNvSpPr>
            <p:nvPr/>
          </p:nvSpPr>
          <p:spPr bwMode="auto">
            <a:xfrm>
              <a:off x="4240" y="2159"/>
              <a:ext cx="1442" cy="878"/>
            </a:xfrm>
            <a:prstGeom prst="rect">
              <a:avLst/>
            </a:prstGeom>
            <a:solidFill>
              <a:schemeClr val="folHlink"/>
            </a:solidFill>
            <a:ln w="381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GB">
                <a:latin typeface="Helvetica" charset="0"/>
              </a:endParaRPr>
            </a:p>
          </p:txBody>
        </p:sp>
        <p:pic>
          <p:nvPicPr>
            <p:cNvPr id="14345" name="Picture 8" descr="04a">
              <a:extLst>
                <a:ext uri="{FF2B5EF4-FFF2-40B4-BE49-F238E27FC236}">
                  <a16:creationId xmlns:a16="http://schemas.microsoft.com/office/drawing/2014/main" id="{D7EAC38D-927E-47D9-A4E0-639546308D8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81" y="2211"/>
              <a:ext cx="1362" cy="7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275465" name="Text Box 9">
            <a:extLst>
              <a:ext uri="{FF2B5EF4-FFF2-40B4-BE49-F238E27FC236}">
                <a16:creationId xmlns:a16="http://schemas.microsoft.com/office/drawing/2014/main" id="{72D78E4C-D7EA-4B16-AB90-4F8DC2F5E626}"/>
              </a:ext>
            </a:extLst>
          </p:cNvPr>
          <p:cNvSpPr txBox="1">
            <a:spLocks noChangeArrowheads="1"/>
          </p:cNvSpPr>
          <p:nvPr/>
        </p:nvSpPr>
        <p:spPr bwMode="auto">
          <a:xfrm>
            <a:off x="106363" y="808038"/>
            <a:ext cx="8931275" cy="403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7800" indent="-177800">
              <a:defRPr sz="1600">
                <a:solidFill>
                  <a:schemeClr val="tx1"/>
                </a:solidFill>
                <a:latin typeface="Helvetica" charset="0"/>
              </a:defRPr>
            </a:lvl1pPr>
            <a:lvl2pPr>
              <a:defRPr sz="1600">
                <a:solidFill>
                  <a:schemeClr val="tx1"/>
                </a:solidFill>
                <a:latin typeface="Helvetica" charset="0"/>
              </a:defRPr>
            </a:lvl2pPr>
            <a:lvl3pPr>
              <a:defRPr sz="1600">
                <a:solidFill>
                  <a:schemeClr val="tx1"/>
                </a:solidFill>
                <a:latin typeface="Helvetica" charset="0"/>
              </a:defRPr>
            </a:lvl3pPr>
            <a:lvl4pPr>
              <a:defRPr sz="1600">
                <a:solidFill>
                  <a:schemeClr val="tx1"/>
                </a:solidFill>
                <a:latin typeface="Helvetica" charset="0"/>
              </a:defRPr>
            </a:lvl4pPr>
            <a:lvl5pPr>
              <a:defRPr sz="1600">
                <a:solidFill>
                  <a:schemeClr val="tx1"/>
                </a:solidFill>
                <a:latin typeface="Helvetica" charset="0"/>
              </a:defRPr>
            </a:lvl5pPr>
            <a:lvl6pPr eaLnBrk="0" fontAlgn="base" hangingPunct="0">
              <a:spcBef>
                <a:spcPct val="20000"/>
              </a:spcBef>
              <a:spcAft>
                <a:spcPct val="0"/>
              </a:spcAft>
              <a:buClr>
                <a:schemeClr val="accent2"/>
              </a:buClr>
              <a:defRPr sz="1600">
                <a:solidFill>
                  <a:schemeClr val="tx1"/>
                </a:solidFill>
                <a:latin typeface="Helvetica" charset="0"/>
              </a:defRPr>
            </a:lvl6pPr>
            <a:lvl7pPr eaLnBrk="0" fontAlgn="base" hangingPunct="0">
              <a:spcBef>
                <a:spcPct val="20000"/>
              </a:spcBef>
              <a:spcAft>
                <a:spcPct val="0"/>
              </a:spcAft>
              <a:buClr>
                <a:schemeClr val="accent2"/>
              </a:buClr>
              <a:defRPr sz="1600">
                <a:solidFill>
                  <a:schemeClr val="tx1"/>
                </a:solidFill>
                <a:latin typeface="Helvetica" charset="0"/>
              </a:defRPr>
            </a:lvl7pPr>
            <a:lvl8pPr eaLnBrk="0" fontAlgn="base" hangingPunct="0">
              <a:spcBef>
                <a:spcPct val="20000"/>
              </a:spcBef>
              <a:spcAft>
                <a:spcPct val="0"/>
              </a:spcAft>
              <a:buClr>
                <a:schemeClr val="accent2"/>
              </a:buClr>
              <a:defRPr sz="1600">
                <a:solidFill>
                  <a:schemeClr val="tx1"/>
                </a:solidFill>
                <a:latin typeface="Helvetica" charset="0"/>
              </a:defRPr>
            </a:lvl8pPr>
            <a:lvl9pPr eaLnBrk="0" fontAlgn="base" hangingPunct="0">
              <a:spcBef>
                <a:spcPct val="20000"/>
              </a:spcBef>
              <a:spcAft>
                <a:spcPct val="0"/>
              </a:spcAft>
              <a:buClr>
                <a:schemeClr val="accent2"/>
              </a:buClr>
              <a:defRPr sz="1600">
                <a:solidFill>
                  <a:schemeClr val="tx1"/>
                </a:solidFill>
                <a:latin typeface="Helvetica" charset="0"/>
              </a:defRPr>
            </a:lvl9pPr>
          </a:lstStyle>
          <a:p>
            <a:pPr>
              <a:lnSpc>
                <a:spcPct val="120000"/>
              </a:lnSpc>
              <a:spcBef>
                <a:spcPct val="50000"/>
              </a:spcBef>
              <a:buClr>
                <a:schemeClr val="folHlink"/>
              </a:buClr>
              <a:buSzPct val="100000"/>
              <a:buFont typeface="Times"/>
              <a:buChar char="•"/>
              <a:defRPr/>
            </a:pPr>
            <a:r>
              <a:rPr lang="en-GB" sz="1700">
                <a:effectLst/>
                <a:latin typeface="Arial" charset="0"/>
              </a:rPr>
              <a:t>The foliation tracks the principal flattening plane (</a:t>
            </a:r>
            <a:r>
              <a:rPr lang="en-GB" sz="1700">
                <a:solidFill>
                  <a:srgbClr val="FF6600"/>
                </a:solidFill>
                <a:effectLst/>
                <a:latin typeface="Arial" charset="0"/>
              </a:rPr>
              <a:t>XY plane</a:t>
            </a:r>
            <a:r>
              <a:rPr lang="en-GB" sz="1700">
                <a:effectLst/>
                <a:latin typeface="Arial" charset="0"/>
              </a:rPr>
              <a:t>) across the shear zone</a:t>
            </a:r>
            <a:endParaRPr lang="en-GB" sz="1700">
              <a:effectLst>
                <a:outerShdw blurRad="38100" dist="38100" dir="2700000" algn="tl">
                  <a:srgbClr val="000000"/>
                </a:outerShdw>
              </a:effectLst>
              <a:latin typeface="Arial" charset="0"/>
            </a:endParaRPr>
          </a:p>
        </p:txBody>
      </p:sp>
      <p:sp>
        <p:nvSpPr>
          <p:cNvPr id="14348" name="Text Box 12">
            <a:extLst>
              <a:ext uri="{FF2B5EF4-FFF2-40B4-BE49-F238E27FC236}">
                <a16:creationId xmlns:a16="http://schemas.microsoft.com/office/drawing/2014/main" id="{8A91C300-7A04-4898-B3CD-0F02DC918BFC}"/>
              </a:ext>
            </a:extLst>
          </p:cNvPr>
          <p:cNvSpPr txBox="1">
            <a:spLocks noChangeArrowheads="1"/>
          </p:cNvSpPr>
          <p:nvPr/>
        </p:nvSpPr>
        <p:spPr bwMode="auto">
          <a:xfrm>
            <a:off x="4159250" y="1479550"/>
            <a:ext cx="935038"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sz="1200">
                <a:solidFill>
                  <a:srgbClr val="FF0000"/>
                </a:solidFill>
                <a:effectLst/>
                <a:latin typeface="Arial" panose="020B0604020202020204" pitchFamily="34" charset="0"/>
              </a:rPr>
              <a:t>XZ plane</a:t>
            </a:r>
          </a:p>
        </p:txBody>
      </p:sp>
      <p:pic>
        <p:nvPicPr>
          <p:cNvPr id="14349" name="Picture 13">
            <a:extLst>
              <a:ext uri="{FF2B5EF4-FFF2-40B4-BE49-F238E27FC236}">
                <a16:creationId xmlns:a16="http://schemas.microsoft.com/office/drawing/2014/main" id="{127C7C65-679A-47EF-9B66-8FAD17C96E7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70375" y="3389313"/>
            <a:ext cx="4700588" cy="3098800"/>
          </a:xfrm>
          <a:prstGeom prst="rect">
            <a:avLst/>
          </a:prstGeom>
          <a:noFill/>
          <a:ln w="38100">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5B500666-1FC5-425F-AF62-2A385A46850D}"/>
              </a:ext>
            </a:extLst>
          </p:cNvPr>
          <p:cNvSpPr>
            <a:spLocks noGrp="1" noChangeArrowheads="1"/>
          </p:cNvSpPr>
          <p:nvPr>
            <p:ph type="title"/>
          </p:nvPr>
        </p:nvSpPr>
        <p:spPr>
          <a:noFill/>
        </p:spPr>
        <p:txBody>
          <a:bodyPr/>
          <a:lstStyle/>
          <a:p>
            <a:r>
              <a:rPr lang="en-GB" altLang="en-US">
                <a:effectLst/>
              </a:rPr>
              <a:t>Shear zone fabrics (stereograms)</a:t>
            </a:r>
          </a:p>
        </p:txBody>
      </p:sp>
      <p:sp>
        <p:nvSpPr>
          <p:cNvPr id="15363" name="Rectangle 3">
            <a:extLst>
              <a:ext uri="{FF2B5EF4-FFF2-40B4-BE49-F238E27FC236}">
                <a16:creationId xmlns:a16="http://schemas.microsoft.com/office/drawing/2014/main" id="{96A27AA7-83A8-4762-B41E-9180A2CC3ABF}"/>
              </a:ext>
            </a:extLst>
          </p:cNvPr>
          <p:cNvSpPr>
            <a:spLocks noGrp="1" noChangeArrowheads="1"/>
          </p:cNvSpPr>
          <p:nvPr>
            <p:ph type="body" sz="half" idx="1"/>
          </p:nvPr>
        </p:nvSpPr>
        <p:spPr>
          <a:xfrm>
            <a:off x="131763" y="820738"/>
            <a:ext cx="4443412" cy="5903912"/>
          </a:xfrm>
          <a:noFill/>
        </p:spPr>
        <p:txBody>
          <a:bodyPr/>
          <a:lstStyle/>
          <a:p>
            <a:pPr marL="266700" indent="-266700">
              <a:spcBef>
                <a:spcPct val="50000"/>
              </a:spcBef>
            </a:pPr>
            <a:r>
              <a:rPr lang="en-GB" altLang="en-US" sz="1700" dirty="0">
                <a:effectLst/>
              </a:rPr>
              <a:t>This geometry implies that on a stereogram:</a:t>
            </a:r>
          </a:p>
          <a:p>
            <a:pPr marL="266700" indent="-266700">
              <a:spcBef>
                <a:spcPct val="50000"/>
              </a:spcBef>
              <a:buFont typeface="Times" panose="02020603050405020304" pitchFamily="18" charset="0"/>
              <a:buAutoNum type="arabicPeriod"/>
            </a:pPr>
            <a:r>
              <a:rPr lang="en-GB" altLang="en-US" sz="1700" dirty="0">
                <a:effectLst/>
              </a:rPr>
              <a:t>across the shear zone, the </a:t>
            </a:r>
            <a:r>
              <a:rPr lang="en-GB" altLang="en-US" sz="1700" dirty="0">
                <a:solidFill>
                  <a:srgbClr val="FF66CC"/>
                </a:solidFill>
                <a:effectLst/>
              </a:rPr>
              <a:t>stretching lineation </a:t>
            </a:r>
            <a:r>
              <a:rPr lang="en-GB" altLang="en-US" sz="1700" spc="150" dirty="0">
                <a:solidFill>
                  <a:srgbClr val="FFFF00"/>
                </a:solidFill>
                <a:effectLst/>
              </a:rPr>
              <a:t>(X</a:t>
            </a:r>
            <a:r>
              <a:rPr lang="en-GB" altLang="en-US" sz="1700" dirty="0">
                <a:solidFill>
                  <a:srgbClr val="FFFF00"/>
                </a:solidFill>
                <a:effectLst/>
              </a:rPr>
              <a:t>)</a:t>
            </a:r>
            <a:r>
              <a:rPr lang="en-GB" altLang="en-US" sz="1700" dirty="0">
                <a:solidFill>
                  <a:srgbClr val="FF66CC"/>
                </a:solidFill>
                <a:effectLst/>
              </a:rPr>
              <a:t> and poles to the foliation </a:t>
            </a:r>
            <a:r>
              <a:rPr lang="en-GB" altLang="en-US" sz="1700" spc="150" dirty="0">
                <a:solidFill>
                  <a:srgbClr val="FFFF00"/>
                </a:solidFill>
                <a:effectLst/>
              </a:rPr>
              <a:t>(Z</a:t>
            </a:r>
            <a:r>
              <a:rPr lang="en-GB" altLang="en-US" sz="1700" dirty="0">
                <a:solidFill>
                  <a:srgbClr val="FFFF00"/>
                </a:solidFill>
                <a:effectLst/>
              </a:rPr>
              <a:t>)</a:t>
            </a:r>
            <a:r>
              <a:rPr lang="en-GB" altLang="en-US" sz="1700" dirty="0">
                <a:effectLst/>
              </a:rPr>
              <a:t> should be spread along the same great circle </a:t>
            </a:r>
            <a:r>
              <a:rPr lang="en-GB" altLang="en-US" sz="1700" spc="150" dirty="0">
                <a:solidFill>
                  <a:srgbClr val="FFFF00"/>
                </a:solidFill>
                <a:effectLst/>
              </a:rPr>
              <a:t>(</a:t>
            </a:r>
            <a:r>
              <a:rPr lang="en-GB" altLang="en-US" sz="1700" dirty="0">
                <a:solidFill>
                  <a:srgbClr val="FFFF00"/>
                </a:solidFill>
                <a:effectLst/>
              </a:rPr>
              <a:t>XZ plane)</a:t>
            </a:r>
          </a:p>
          <a:p>
            <a:pPr marL="266700" indent="-266700">
              <a:spcBef>
                <a:spcPct val="50000"/>
              </a:spcBef>
              <a:buFont typeface="Times" panose="02020603050405020304" pitchFamily="18" charset="0"/>
              <a:buAutoNum type="arabicPeriod"/>
            </a:pPr>
            <a:r>
              <a:rPr lang="en-GB" altLang="en-US" sz="1700" dirty="0">
                <a:effectLst/>
              </a:rPr>
              <a:t>the </a:t>
            </a:r>
            <a:r>
              <a:rPr lang="en-GB" altLang="en-US" sz="1700" dirty="0">
                <a:solidFill>
                  <a:srgbClr val="FF66CC"/>
                </a:solidFill>
                <a:effectLst/>
              </a:rPr>
              <a:t>stretching lineation should reorient</a:t>
            </a:r>
            <a:r>
              <a:rPr lang="en-GB" altLang="en-US" sz="1700" dirty="0">
                <a:effectLst/>
              </a:rPr>
              <a:t> towards the slip vector as one moves towards the centre of the shear zone (stretching </a:t>
            </a:r>
            <a:r>
              <a:rPr lang="en-GB" altLang="en-US" sz="1700" dirty="0" err="1">
                <a:effectLst/>
              </a:rPr>
              <a:t>lineations</a:t>
            </a:r>
            <a:r>
              <a:rPr lang="en-GB" altLang="en-US" sz="1700" dirty="0">
                <a:effectLst/>
              </a:rPr>
              <a:t> are usually only seen near the centre of the shear zone)</a:t>
            </a:r>
          </a:p>
          <a:p>
            <a:pPr marL="266700" indent="-266700">
              <a:spcBef>
                <a:spcPct val="50000"/>
              </a:spcBef>
              <a:buFont typeface="Times" panose="02020603050405020304" pitchFamily="18" charset="0"/>
              <a:buAutoNum type="arabicPeriod"/>
            </a:pPr>
            <a:r>
              <a:rPr lang="en-GB" altLang="en-US" sz="1700" dirty="0">
                <a:effectLst/>
              </a:rPr>
              <a:t>the </a:t>
            </a:r>
            <a:r>
              <a:rPr lang="en-GB" altLang="en-US" sz="1700" dirty="0">
                <a:solidFill>
                  <a:srgbClr val="FF66CC"/>
                </a:solidFill>
                <a:effectLst/>
              </a:rPr>
              <a:t>pole to the foliation should reorient</a:t>
            </a:r>
            <a:r>
              <a:rPr lang="en-GB" altLang="en-US" sz="1700" dirty="0">
                <a:effectLst/>
              </a:rPr>
              <a:t> towards the pole of the shear plane as one moves towards the centre of the shear zone</a:t>
            </a:r>
          </a:p>
          <a:p>
            <a:pPr marL="266700" indent="-266700">
              <a:spcBef>
                <a:spcPct val="50000"/>
              </a:spcBef>
              <a:buFont typeface="Times" panose="02020603050405020304" pitchFamily="18" charset="0"/>
              <a:buAutoNum type="arabicPeriod"/>
            </a:pPr>
            <a:r>
              <a:rPr lang="en-GB" altLang="en-US" sz="1700" dirty="0">
                <a:effectLst/>
              </a:rPr>
              <a:t>the </a:t>
            </a:r>
            <a:r>
              <a:rPr lang="en-GB" altLang="en-US" sz="1700" dirty="0">
                <a:solidFill>
                  <a:srgbClr val="FF66CC"/>
                </a:solidFill>
                <a:effectLst/>
              </a:rPr>
              <a:t>pole of the XZ plane</a:t>
            </a:r>
            <a:r>
              <a:rPr lang="en-GB" altLang="en-US" sz="1700" dirty="0">
                <a:effectLst/>
              </a:rPr>
              <a:t> </a:t>
            </a:r>
            <a:r>
              <a:rPr lang="en-GB" altLang="en-US" sz="1700" dirty="0">
                <a:solidFill>
                  <a:srgbClr val="FFFF00"/>
                </a:solidFill>
                <a:effectLst/>
              </a:rPr>
              <a:t>(= </a:t>
            </a:r>
            <a:r>
              <a:rPr lang="en-GB" altLang="en-US" sz="1700" spc="150" dirty="0">
                <a:solidFill>
                  <a:srgbClr val="FFFF00"/>
                </a:solidFill>
                <a:effectLst/>
              </a:rPr>
              <a:t>Y</a:t>
            </a:r>
            <a:r>
              <a:rPr lang="en-GB" altLang="en-US" sz="1700" dirty="0">
                <a:solidFill>
                  <a:srgbClr val="FFFF00"/>
                </a:solidFill>
                <a:effectLst/>
              </a:rPr>
              <a:t>)</a:t>
            </a:r>
            <a:r>
              <a:rPr lang="en-GB" altLang="en-US" sz="1700" dirty="0">
                <a:effectLst/>
              </a:rPr>
              <a:t> should lie in the shear plane</a:t>
            </a:r>
          </a:p>
        </p:txBody>
      </p:sp>
      <p:grpSp>
        <p:nvGrpSpPr>
          <p:cNvPr id="15364" name="Group 4">
            <a:extLst>
              <a:ext uri="{FF2B5EF4-FFF2-40B4-BE49-F238E27FC236}">
                <a16:creationId xmlns:a16="http://schemas.microsoft.com/office/drawing/2014/main" id="{4D0C33A8-0226-428E-87FE-C2AC1295C070}"/>
              </a:ext>
            </a:extLst>
          </p:cNvPr>
          <p:cNvGrpSpPr>
            <a:grpSpLocks/>
          </p:cNvGrpSpPr>
          <p:nvPr/>
        </p:nvGrpSpPr>
        <p:grpSpPr bwMode="auto">
          <a:xfrm>
            <a:off x="5487988" y="838200"/>
            <a:ext cx="2660650" cy="1708150"/>
            <a:chOff x="4240" y="2159"/>
            <a:chExt cx="1442" cy="878"/>
          </a:xfrm>
        </p:grpSpPr>
        <p:sp>
          <p:nvSpPr>
            <p:cNvPr id="269317" name="Rectangle 5">
              <a:extLst>
                <a:ext uri="{FF2B5EF4-FFF2-40B4-BE49-F238E27FC236}">
                  <a16:creationId xmlns:a16="http://schemas.microsoft.com/office/drawing/2014/main" id="{C09F8341-2A1A-4307-8C2D-69F55ECA8CB3}"/>
                </a:ext>
              </a:extLst>
            </p:cNvPr>
            <p:cNvSpPr>
              <a:spLocks noChangeArrowheads="1"/>
            </p:cNvSpPr>
            <p:nvPr/>
          </p:nvSpPr>
          <p:spPr bwMode="auto">
            <a:xfrm>
              <a:off x="4240" y="2159"/>
              <a:ext cx="1442" cy="878"/>
            </a:xfrm>
            <a:prstGeom prst="rect">
              <a:avLst/>
            </a:prstGeom>
            <a:solidFill>
              <a:schemeClr val="folHlink"/>
            </a:solidFill>
            <a:ln w="381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GB">
                <a:latin typeface="Helvetica" charset="0"/>
              </a:endParaRPr>
            </a:p>
          </p:txBody>
        </p:sp>
        <p:pic>
          <p:nvPicPr>
            <p:cNvPr id="15367" name="Picture 6" descr="04a">
              <a:extLst>
                <a:ext uri="{FF2B5EF4-FFF2-40B4-BE49-F238E27FC236}">
                  <a16:creationId xmlns:a16="http://schemas.microsoft.com/office/drawing/2014/main" id="{E8E93217-F1E8-42C0-9725-ACEBCA009ED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81" y="2211"/>
              <a:ext cx="1362" cy="79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grpSp>
      <p:pic>
        <p:nvPicPr>
          <p:cNvPr id="15365" name="Picture 10">
            <a:extLst>
              <a:ext uri="{FF2B5EF4-FFF2-40B4-BE49-F238E27FC236}">
                <a16:creationId xmlns:a16="http://schemas.microsoft.com/office/drawing/2014/main" id="{9943A37F-6B81-4B79-B635-1EBC5EA2A1B1}"/>
              </a:ext>
            </a:extLst>
          </p:cNvPr>
          <p:cNvPicPr>
            <a:picLocks noGrp="1" noChangeAspect="1" noChangeArrowheads="1"/>
          </p:cNvPicPr>
          <p:nvPr>
            <p:ph sz="quarter" idx="2"/>
          </p:nvPr>
        </p:nvPicPr>
        <p:blipFill>
          <a:blip r:embed="rId4">
            <a:extLst>
              <a:ext uri="{28A0092B-C50C-407E-A947-70E740481C1C}">
                <a14:useLocalDpi xmlns:a14="http://schemas.microsoft.com/office/drawing/2010/main" val="0"/>
              </a:ext>
            </a:extLst>
          </a:blip>
          <a:srcRect/>
          <a:stretch>
            <a:fillRect/>
          </a:stretch>
        </p:blipFill>
        <p:spPr>
          <a:xfrm>
            <a:off x="4681538" y="2692400"/>
            <a:ext cx="4259262" cy="3951288"/>
          </a:xfrm>
          <a:noFill/>
          <a:ln w="38100" cap="flat">
            <a:solidFill>
              <a:schemeClr val="bg2"/>
            </a:solidFill>
            <a:miter lim="800000"/>
            <a:headEnd/>
            <a:tailEnd/>
          </a:ln>
        </p:spPr>
      </p:pic>
    </p:spTree>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99" name="Picture 15" descr="05a2a-deflected">
            <a:extLst>
              <a:ext uri="{FF2B5EF4-FFF2-40B4-BE49-F238E27FC236}">
                <a16:creationId xmlns:a16="http://schemas.microsoft.com/office/drawing/2014/main" id="{FD7A7B2D-7075-43E4-958A-100EBFCAE1D7}"/>
              </a:ext>
            </a:extLst>
          </p:cNvPr>
          <p:cNvPicPr>
            <a:picLocks noChangeAspect="1" noChangeArrowheads="1"/>
          </p:cNvPicPr>
          <p:nvPr/>
        </p:nvPicPr>
        <p:blipFill>
          <a:blip r:embed="rId3">
            <a:lum bright="4000"/>
            <a:extLst>
              <a:ext uri="{28A0092B-C50C-407E-A947-70E740481C1C}">
                <a14:useLocalDpi xmlns:a14="http://schemas.microsoft.com/office/drawing/2010/main" val="0"/>
              </a:ext>
            </a:extLst>
          </a:blip>
          <a:srcRect/>
          <a:stretch>
            <a:fillRect/>
          </a:stretch>
        </p:blipFill>
        <p:spPr bwMode="auto">
          <a:xfrm>
            <a:off x="366713" y="3260704"/>
            <a:ext cx="4705350" cy="3263900"/>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16386" name="Rectangle 2">
            <a:extLst>
              <a:ext uri="{FF2B5EF4-FFF2-40B4-BE49-F238E27FC236}">
                <a16:creationId xmlns:a16="http://schemas.microsoft.com/office/drawing/2014/main" id="{D0E56E90-3A52-4039-A611-7B64A1AA5E02}"/>
              </a:ext>
            </a:extLst>
          </p:cNvPr>
          <p:cNvSpPr>
            <a:spLocks noGrp="1" noChangeArrowheads="1"/>
          </p:cNvSpPr>
          <p:nvPr>
            <p:ph type="title"/>
          </p:nvPr>
        </p:nvSpPr>
        <p:spPr>
          <a:noFill/>
        </p:spPr>
        <p:txBody>
          <a:bodyPr/>
          <a:lstStyle/>
          <a:p>
            <a:r>
              <a:rPr lang="en-GB" altLang="en-US">
                <a:effectLst/>
              </a:rPr>
              <a:t>Deflection and extension of markers</a:t>
            </a:r>
          </a:p>
        </p:txBody>
      </p:sp>
      <p:sp>
        <p:nvSpPr>
          <p:cNvPr id="16387" name="Rectangle 3">
            <a:extLst>
              <a:ext uri="{FF2B5EF4-FFF2-40B4-BE49-F238E27FC236}">
                <a16:creationId xmlns:a16="http://schemas.microsoft.com/office/drawing/2014/main" id="{11CD26D0-4537-49D2-AB7C-EF14820CDFA9}"/>
              </a:ext>
            </a:extLst>
          </p:cNvPr>
          <p:cNvSpPr>
            <a:spLocks noGrp="1" noChangeArrowheads="1"/>
          </p:cNvSpPr>
          <p:nvPr>
            <p:ph type="body" sz="half" idx="1"/>
          </p:nvPr>
        </p:nvSpPr>
        <p:spPr>
          <a:xfrm>
            <a:off x="112713" y="781050"/>
            <a:ext cx="8799512" cy="798513"/>
          </a:xfrm>
          <a:noFill/>
        </p:spPr>
        <p:txBody>
          <a:bodyPr/>
          <a:lstStyle/>
          <a:p>
            <a:pPr marL="177800" indent="-177800">
              <a:spcBef>
                <a:spcPct val="75000"/>
              </a:spcBef>
            </a:pPr>
            <a:r>
              <a:rPr lang="en-GB" altLang="en-US" sz="1700">
                <a:solidFill>
                  <a:srgbClr val="FF6600"/>
                </a:solidFill>
                <a:effectLst/>
              </a:rPr>
              <a:t>Deflected markers</a:t>
            </a:r>
            <a:r>
              <a:rPr lang="en-GB" altLang="en-US" sz="1700">
                <a:effectLst/>
              </a:rPr>
              <a:t> across shear zones offer insight into the </a:t>
            </a:r>
            <a:r>
              <a:rPr lang="en-GB" altLang="en-US" sz="1700">
                <a:solidFill>
                  <a:srgbClr val="FF66CC"/>
                </a:solidFill>
                <a:effectLst/>
              </a:rPr>
              <a:t>shear sense</a:t>
            </a:r>
            <a:r>
              <a:rPr lang="en-GB" altLang="en-US" sz="1700">
                <a:effectLst/>
              </a:rPr>
              <a:t>, provided that the usual precautions about inferring slip sense from apparent offsets are taken</a:t>
            </a:r>
          </a:p>
        </p:txBody>
      </p:sp>
      <p:pic>
        <p:nvPicPr>
          <p:cNvPr id="16388" name="Picture 4" descr="05a-Shear zone in granite, Sierra Nevada (B Tikoff)">
            <a:extLst>
              <a:ext uri="{FF2B5EF4-FFF2-40B4-BE49-F238E27FC236}">
                <a16:creationId xmlns:a16="http://schemas.microsoft.com/office/drawing/2014/main" id="{F09CF57E-283A-4BBD-B8D4-9633CA08B6DC}"/>
              </a:ext>
            </a:extLst>
          </p:cNvPr>
          <p:cNvPicPr>
            <a:picLocks noGrp="1" noChangeAspect="1" noChangeArrowheads="1"/>
          </p:cNvPicPr>
          <p:nvPr>
            <p:ph sz="quarter" idx="2"/>
          </p:nvPr>
        </p:nvPicPr>
        <p:blipFill>
          <a:blip r:embed="rId4">
            <a:extLst>
              <a:ext uri="{28A0092B-C50C-407E-A947-70E740481C1C}">
                <a14:useLocalDpi xmlns:a14="http://schemas.microsoft.com/office/drawing/2010/main" val="0"/>
              </a:ext>
            </a:extLst>
          </a:blip>
          <a:srcRect/>
          <a:stretch>
            <a:fillRect/>
          </a:stretch>
        </p:blipFill>
        <p:spPr>
          <a:xfrm>
            <a:off x="5595938" y="1692254"/>
            <a:ext cx="3160712" cy="4835525"/>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19144" name="Text Box 8">
            <a:extLst>
              <a:ext uri="{FF2B5EF4-FFF2-40B4-BE49-F238E27FC236}">
                <a16:creationId xmlns:a16="http://schemas.microsoft.com/office/drawing/2014/main" id="{49CFD4E9-2E40-4178-937B-40C3B31D48F9}"/>
              </a:ext>
            </a:extLst>
          </p:cNvPr>
          <p:cNvSpPr txBox="1">
            <a:spLocks noChangeArrowheads="1"/>
          </p:cNvSpPr>
          <p:nvPr/>
        </p:nvSpPr>
        <p:spPr bwMode="auto">
          <a:xfrm>
            <a:off x="112713" y="1584325"/>
            <a:ext cx="5335441" cy="13192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177800" indent="-177800">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50000"/>
              </a:spcBef>
              <a:buClr>
                <a:schemeClr val="tx1"/>
              </a:buClr>
              <a:buFontTx/>
              <a:buChar char="•"/>
            </a:pPr>
            <a:r>
              <a:rPr lang="en-GB" altLang="en-US" sz="1700" dirty="0">
                <a:effectLst>
                  <a:outerShdw blurRad="38100" dist="38100" dir="2700000" algn="tl">
                    <a:srgbClr val="000000"/>
                  </a:outerShdw>
                </a:effectLst>
                <a:latin typeface="Arial" panose="020B0604020202020204" pitchFamily="34" charset="0"/>
              </a:rPr>
              <a:t>The obliquity of the incremental strain ellipse to the shear zone margins means that layers crossing the shear zone close to the maximum extension direction should be </a:t>
            </a:r>
            <a:r>
              <a:rPr lang="en-GB" altLang="en-US" sz="1700" dirty="0">
                <a:solidFill>
                  <a:srgbClr val="FF66CC"/>
                </a:solidFill>
                <a:effectLst>
                  <a:outerShdw blurRad="38100" dist="38100" dir="2700000" algn="tl">
                    <a:srgbClr val="000000"/>
                  </a:outerShdw>
                </a:effectLst>
                <a:latin typeface="Arial" panose="020B0604020202020204" pitchFamily="34" charset="0"/>
              </a:rPr>
              <a:t>stretche</a:t>
            </a:r>
            <a:r>
              <a:rPr lang="en-GB" altLang="en-US" sz="1700" spc="300" dirty="0">
                <a:solidFill>
                  <a:srgbClr val="FF66CC"/>
                </a:solidFill>
                <a:effectLst>
                  <a:outerShdw blurRad="38100" dist="38100" dir="2700000" algn="tl">
                    <a:srgbClr val="000000"/>
                  </a:outerShdw>
                </a:effectLst>
                <a:latin typeface="Arial" panose="020B0604020202020204" pitchFamily="34" charset="0"/>
              </a:rPr>
              <a:t>d/</a:t>
            </a:r>
            <a:r>
              <a:rPr lang="en-GB" altLang="en-US" sz="1700" dirty="0" err="1">
                <a:solidFill>
                  <a:srgbClr val="FF66CC"/>
                </a:solidFill>
                <a:effectLst>
                  <a:outerShdw blurRad="38100" dist="38100" dir="2700000" algn="tl">
                    <a:srgbClr val="000000"/>
                  </a:outerShdw>
                </a:effectLst>
                <a:latin typeface="Arial" panose="020B0604020202020204" pitchFamily="34" charset="0"/>
              </a:rPr>
              <a:t>boudinaged</a:t>
            </a:r>
            <a:r>
              <a:rPr lang="en-GB" altLang="en-US" sz="1700" dirty="0">
                <a:effectLst>
                  <a:outerShdw blurRad="38100" dist="38100" dir="2700000" algn="tl">
                    <a:srgbClr val="000000"/>
                  </a:outerShdw>
                </a:effectLst>
                <a:latin typeface="Arial" panose="020B0604020202020204" pitchFamily="34" charset="0"/>
              </a:rPr>
              <a:t>  </a:t>
            </a:r>
          </a:p>
        </p:txBody>
      </p:sp>
      <p:pic>
        <p:nvPicPr>
          <p:cNvPr id="16391" name="Picture 25">
            <a:extLst>
              <a:ext uri="{FF2B5EF4-FFF2-40B4-BE49-F238E27FC236}">
                <a16:creationId xmlns:a16="http://schemas.microsoft.com/office/drawing/2014/main" id="{3E768D7A-0F21-424B-801B-1E13A5912745}"/>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rot="-1278952">
            <a:off x="3530600" y="5472091"/>
            <a:ext cx="925513" cy="773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19157" name="Freeform 21">
            <a:extLst>
              <a:ext uri="{FF2B5EF4-FFF2-40B4-BE49-F238E27FC236}">
                <a16:creationId xmlns:a16="http://schemas.microsoft.com/office/drawing/2014/main" id="{72753A96-E91C-428F-80B4-852D802A96DD}"/>
              </a:ext>
            </a:extLst>
          </p:cNvPr>
          <p:cNvSpPr>
            <a:spLocks/>
          </p:cNvSpPr>
          <p:nvPr/>
        </p:nvSpPr>
        <p:spPr bwMode="auto">
          <a:xfrm>
            <a:off x="4043363" y="5421291"/>
            <a:ext cx="252412" cy="76200"/>
          </a:xfrm>
          <a:custGeom>
            <a:avLst/>
            <a:gdLst>
              <a:gd name="T0" fmla="*/ 0 w 159"/>
              <a:gd name="T1" fmla="*/ 15 h 30"/>
              <a:gd name="T2" fmla="*/ 159 w 159"/>
              <a:gd name="T3" fmla="*/ 30 h 30"/>
              <a:gd name="T4" fmla="*/ 120 w 159"/>
              <a:gd name="T5" fmla="*/ 0 h 30"/>
            </a:gdLst>
            <a:ahLst/>
            <a:cxnLst>
              <a:cxn ang="0">
                <a:pos x="T0" y="T1"/>
              </a:cxn>
              <a:cxn ang="0">
                <a:pos x="T2" y="T3"/>
              </a:cxn>
              <a:cxn ang="0">
                <a:pos x="T4" y="T5"/>
              </a:cxn>
            </a:cxnLst>
            <a:rect l="0" t="0" r="r" b="b"/>
            <a:pathLst>
              <a:path w="159" h="30">
                <a:moveTo>
                  <a:pt x="0" y="15"/>
                </a:moveTo>
                <a:lnTo>
                  <a:pt x="159" y="30"/>
                </a:lnTo>
                <a:lnTo>
                  <a:pt x="120" y="0"/>
                </a:lnTo>
              </a:path>
            </a:pathLst>
          </a:custGeom>
          <a:noFill/>
          <a:ln w="28575"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GB">
              <a:latin typeface="Helvetica" charset="0"/>
            </a:endParaRPr>
          </a:p>
        </p:txBody>
      </p:sp>
      <p:sp>
        <p:nvSpPr>
          <p:cNvPr id="219158" name="Freeform 22">
            <a:extLst>
              <a:ext uri="{FF2B5EF4-FFF2-40B4-BE49-F238E27FC236}">
                <a16:creationId xmlns:a16="http://schemas.microsoft.com/office/drawing/2014/main" id="{05298F14-C7C8-46C8-BA29-56921C37AE54}"/>
              </a:ext>
            </a:extLst>
          </p:cNvPr>
          <p:cNvSpPr>
            <a:spLocks/>
          </p:cNvSpPr>
          <p:nvPr/>
        </p:nvSpPr>
        <p:spPr bwMode="auto">
          <a:xfrm rot="10800000">
            <a:off x="3670300" y="6221391"/>
            <a:ext cx="252413" cy="76200"/>
          </a:xfrm>
          <a:custGeom>
            <a:avLst/>
            <a:gdLst>
              <a:gd name="T0" fmla="*/ 0 w 159"/>
              <a:gd name="T1" fmla="*/ 15 h 30"/>
              <a:gd name="T2" fmla="*/ 159 w 159"/>
              <a:gd name="T3" fmla="*/ 30 h 30"/>
              <a:gd name="T4" fmla="*/ 120 w 159"/>
              <a:gd name="T5" fmla="*/ 0 h 30"/>
            </a:gdLst>
            <a:ahLst/>
            <a:cxnLst>
              <a:cxn ang="0">
                <a:pos x="T0" y="T1"/>
              </a:cxn>
              <a:cxn ang="0">
                <a:pos x="T2" y="T3"/>
              </a:cxn>
              <a:cxn ang="0">
                <a:pos x="T4" y="T5"/>
              </a:cxn>
            </a:cxnLst>
            <a:rect l="0" t="0" r="r" b="b"/>
            <a:pathLst>
              <a:path w="159" h="30">
                <a:moveTo>
                  <a:pt x="0" y="15"/>
                </a:moveTo>
                <a:lnTo>
                  <a:pt x="159" y="30"/>
                </a:lnTo>
                <a:lnTo>
                  <a:pt x="120" y="0"/>
                </a:lnTo>
              </a:path>
            </a:pathLst>
          </a:custGeom>
          <a:noFill/>
          <a:ln w="28575"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GB">
              <a:latin typeface="Helvetica" charset="0"/>
            </a:endParaRPr>
          </a:p>
        </p:txBody>
      </p:sp>
      <p:pic>
        <p:nvPicPr>
          <p:cNvPr id="16394" name="Picture 26">
            <a:extLst>
              <a:ext uri="{FF2B5EF4-FFF2-40B4-BE49-F238E27FC236}">
                <a16:creationId xmlns:a16="http://schemas.microsoft.com/office/drawing/2014/main" id="{AA99B00E-8F93-4686-81AC-8EE94023E9A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rot="729129">
            <a:off x="7747000" y="2574904"/>
            <a:ext cx="773113" cy="925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19150" name="Freeform 14">
            <a:extLst>
              <a:ext uri="{FF2B5EF4-FFF2-40B4-BE49-F238E27FC236}">
                <a16:creationId xmlns:a16="http://schemas.microsoft.com/office/drawing/2014/main" id="{5B4A758F-1152-433C-BDCC-A0251CF4FA7E}"/>
              </a:ext>
            </a:extLst>
          </p:cNvPr>
          <p:cNvSpPr>
            <a:spLocks/>
          </p:cNvSpPr>
          <p:nvPr/>
        </p:nvSpPr>
        <p:spPr bwMode="auto">
          <a:xfrm>
            <a:off x="8439150" y="2665391"/>
            <a:ext cx="95250" cy="266700"/>
          </a:xfrm>
          <a:custGeom>
            <a:avLst/>
            <a:gdLst>
              <a:gd name="T0" fmla="*/ 33 w 42"/>
              <a:gd name="T1" fmla="*/ 168 h 168"/>
              <a:gd name="T2" fmla="*/ 0 w 42"/>
              <a:gd name="T3" fmla="*/ 0 h 168"/>
              <a:gd name="T4" fmla="*/ 42 w 42"/>
              <a:gd name="T5" fmla="*/ 36 h 168"/>
            </a:gdLst>
            <a:ahLst/>
            <a:cxnLst>
              <a:cxn ang="0">
                <a:pos x="T0" y="T1"/>
              </a:cxn>
              <a:cxn ang="0">
                <a:pos x="T2" y="T3"/>
              </a:cxn>
              <a:cxn ang="0">
                <a:pos x="T4" y="T5"/>
              </a:cxn>
            </a:cxnLst>
            <a:rect l="0" t="0" r="r" b="b"/>
            <a:pathLst>
              <a:path w="42" h="168">
                <a:moveTo>
                  <a:pt x="33" y="168"/>
                </a:moveTo>
                <a:lnTo>
                  <a:pt x="0" y="0"/>
                </a:lnTo>
                <a:lnTo>
                  <a:pt x="42" y="36"/>
                </a:lnTo>
              </a:path>
            </a:pathLst>
          </a:custGeom>
          <a:noFill/>
          <a:ln w="28575"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GB">
              <a:latin typeface="Helvetica" charset="0"/>
            </a:endParaRPr>
          </a:p>
        </p:txBody>
      </p:sp>
      <p:sp>
        <p:nvSpPr>
          <p:cNvPr id="219151" name="Freeform 15">
            <a:extLst>
              <a:ext uri="{FF2B5EF4-FFF2-40B4-BE49-F238E27FC236}">
                <a16:creationId xmlns:a16="http://schemas.microsoft.com/office/drawing/2014/main" id="{438CB68C-8B53-4382-8A57-B7827F3E4430}"/>
              </a:ext>
            </a:extLst>
          </p:cNvPr>
          <p:cNvSpPr>
            <a:spLocks/>
          </p:cNvSpPr>
          <p:nvPr/>
        </p:nvSpPr>
        <p:spPr bwMode="auto">
          <a:xfrm rot="10800000">
            <a:off x="7735888" y="3122591"/>
            <a:ext cx="95250" cy="266700"/>
          </a:xfrm>
          <a:custGeom>
            <a:avLst/>
            <a:gdLst>
              <a:gd name="T0" fmla="*/ 33 w 42"/>
              <a:gd name="T1" fmla="*/ 168 h 168"/>
              <a:gd name="T2" fmla="*/ 0 w 42"/>
              <a:gd name="T3" fmla="*/ 0 h 168"/>
              <a:gd name="T4" fmla="*/ 42 w 42"/>
              <a:gd name="T5" fmla="*/ 36 h 168"/>
            </a:gdLst>
            <a:ahLst/>
            <a:cxnLst>
              <a:cxn ang="0">
                <a:pos x="T0" y="T1"/>
              </a:cxn>
              <a:cxn ang="0">
                <a:pos x="T2" y="T3"/>
              </a:cxn>
              <a:cxn ang="0">
                <a:pos x="T4" y="T5"/>
              </a:cxn>
            </a:cxnLst>
            <a:rect l="0" t="0" r="r" b="b"/>
            <a:pathLst>
              <a:path w="42" h="168">
                <a:moveTo>
                  <a:pt x="33" y="168"/>
                </a:moveTo>
                <a:lnTo>
                  <a:pt x="0" y="0"/>
                </a:lnTo>
                <a:lnTo>
                  <a:pt x="42" y="36"/>
                </a:lnTo>
              </a:path>
            </a:pathLst>
          </a:custGeom>
          <a:noFill/>
          <a:ln w="28575"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GB">
              <a:latin typeface="Helvetica" charset="0"/>
            </a:endParaRPr>
          </a:p>
        </p:txBody>
      </p:sp>
    </p:spTree>
  </p:cSld>
  <p:clrMapOvr>
    <a:masterClrMapping/>
  </p:clrMapOvr>
  <p:transition spd="slow"/>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F1B8859F-4614-4B5F-A089-269A0E2B350B}"/>
              </a:ext>
            </a:extLst>
          </p:cNvPr>
          <p:cNvSpPr>
            <a:spLocks noGrp="1" noChangeArrowheads="1"/>
          </p:cNvSpPr>
          <p:nvPr>
            <p:ph type="title"/>
          </p:nvPr>
        </p:nvSpPr>
        <p:spPr>
          <a:noFill/>
        </p:spPr>
        <p:txBody>
          <a:bodyPr/>
          <a:lstStyle/>
          <a:p>
            <a:r>
              <a:rPr lang="en-GB" altLang="en-US" dirty="0">
                <a:effectLst/>
              </a:rPr>
              <a:t>Analysis of line</a:t>
            </a:r>
            <a:r>
              <a:rPr lang="en-GB" altLang="en-US" spc="500" dirty="0">
                <a:effectLst/>
              </a:rPr>
              <a:t>s/</a:t>
            </a:r>
            <a:r>
              <a:rPr lang="en-GB" altLang="en-US" dirty="0">
                <a:effectLst/>
              </a:rPr>
              <a:t>planes deformed into a shear zone</a:t>
            </a:r>
          </a:p>
        </p:txBody>
      </p:sp>
      <p:sp>
        <p:nvSpPr>
          <p:cNvPr id="17411" name="Rectangle 3">
            <a:extLst>
              <a:ext uri="{FF2B5EF4-FFF2-40B4-BE49-F238E27FC236}">
                <a16:creationId xmlns:a16="http://schemas.microsoft.com/office/drawing/2014/main" id="{8C24C035-92E0-49B7-913E-03DB15983D6C}"/>
              </a:ext>
            </a:extLst>
          </p:cNvPr>
          <p:cNvSpPr>
            <a:spLocks noGrp="1" noChangeArrowheads="1"/>
          </p:cNvSpPr>
          <p:nvPr>
            <p:ph type="body" sz="half" idx="1"/>
          </p:nvPr>
        </p:nvSpPr>
        <p:spPr>
          <a:xfrm>
            <a:off x="122238" y="808038"/>
            <a:ext cx="8737600" cy="717550"/>
          </a:xfrm>
          <a:noFill/>
        </p:spPr>
        <p:txBody>
          <a:bodyPr/>
          <a:lstStyle/>
          <a:p>
            <a:pPr marL="268288" indent="-268288">
              <a:spcBef>
                <a:spcPct val="75000"/>
              </a:spcBef>
            </a:pPr>
            <a:r>
              <a:rPr lang="en-GB" altLang="en-US" sz="1700">
                <a:solidFill>
                  <a:srgbClr val="FF66CC"/>
                </a:solidFill>
                <a:effectLst/>
              </a:rPr>
              <a:t>Pre-existing lineations and planar features</a:t>
            </a:r>
            <a:r>
              <a:rPr lang="en-GB" altLang="en-US" sz="1700">
                <a:effectLst/>
              </a:rPr>
              <a:t> that are rotated into a shear zone may be used to determine the orientation of the shear plane and slip vector</a:t>
            </a:r>
          </a:p>
        </p:txBody>
      </p:sp>
      <p:sp>
        <p:nvSpPr>
          <p:cNvPr id="17412" name="Rectangle 14">
            <a:extLst>
              <a:ext uri="{FF2B5EF4-FFF2-40B4-BE49-F238E27FC236}">
                <a16:creationId xmlns:a16="http://schemas.microsoft.com/office/drawing/2014/main" id="{53CD02D8-139B-4BD8-841B-2C19799A018A}"/>
              </a:ext>
            </a:extLst>
          </p:cNvPr>
          <p:cNvSpPr>
            <a:spLocks noChangeArrowheads="1"/>
          </p:cNvSpPr>
          <p:nvPr/>
        </p:nvSpPr>
        <p:spPr bwMode="auto">
          <a:xfrm>
            <a:off x="131763" y="1590675"/>
            <a:ext cx="3681412" cy="4940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6700" indent="-266700">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75000"/>
              </a:spcBef>
              <a:buClr>
                <a:schemeClr val="folHlink"/>
              </a:buClr>
              <a:buSzPct val="100000"/>
              <a:buFont typeface="Times" panose="02020603050405020304" pitchFamily="18" charset="0"/>
              <a:buChar char="•"/>
            </a:pPr>
            <a:r>
              <a:rPr lang="en-GB" altLang="en-US" sz="1700" dirty="0">
                <a:effectLst/>
                <a:latin typeface="Arial" panose="020B0604020202020204" pitchFamily="34" charset="0"/>
              </a:rPr>
              <a:t>On a stereogram, as one moves into a shear zone:</a:t>
            </a:r>
          </a:p>
          <a:p>
            <a:pPr>
              <a:lnSpc>
                <a:spcPct val="120000"/>
              </a:lnSpc>
              <a:spcBef>
                <a:spcPct val="50000"/>
              </a:spcBef>
              <a:buClr>
                <a:schemeClr val="folHlink"/>
              </a:buClr>
              <a:buSzPct val="100000"/>
              <a:buFont typeface="Times" panose="02020603050405020304" pitchFamily="18" charset="0"/>
              <a:buAutoNum type="arabicPeriod"/>
            </a:pPr>
            <a:r>
              <a:rPr lang="en-GB" altLang="en-US" sz="1700" dirty="0">
                <a:effectLst/>
                <a:latin typeface="Arial" panose="020B0604020202020204" pitchFamily="34" charset="0"/>
              </a:rPr>
              <a:t>the orientations of a </a:t>
            </a:r>
            <a:r>
              <a:rPr lang="en-GB" altLang="en-US" sz="1700" dirty="0">
                <a:solidFill>
                  <a:srgbClr val="FF6600"/>
                </a:solidFill>
                <a:effectLst/>
                <a:latin typeface="Arial" panose="020B0604020202020204" pitchFamily="34" charset="0"/>
              </a:rPr>
              <a:t>pre-existing lineation</a:t>
            </a:r>
            <a:r>
              <a:rPr lang="en-GB" altLang="en-US" sz="1700" dirty="0">
                <a:effectLst/>
                <a:latin typeface="Arial" panose="020B0604020202020204" pitchFamily="34" charset="0"/>
              </a:rPr>
              <a:t> are </a:t>
            </a:r>
            <a:r>
              <a:rPr lang="en-GB" altLang="en-US" sz="1700" dirty="0">
                <a:solidFill>
                  <a:srgbClr val="FF66CC"/>
                </a:solidFill>
                <a:effectLst/>
                <a:latin typeface="Arial" panose="020B0604020202020204" pitchFamily="34" charset="0"/>
              </a:rPr>
              <a:t>spread along a great circle</a:t>
            </a:r>
            <a:r>
              <a:rPr lang="en-GB" altLang="en-US" sz="1700" dirty="0">
                <a:effectLst/>
                <a:latin typeface="Arial" panose="020B0604020202020204" pitchFamily="34" charset="0"/>
              </a:rPr>
              <a:t> towards the slip vector; the intersection of this great circle with the great circle describing the shear plane is the orientation of the </a:t>
            </a:r>
            <a:r>
              <a:rPr lang="en-GB" altLang="en-US" sz="1700" dirty="0">
                <a:solidFill>
                  <a:srgbClr val="FF66CC"/>
                </a:solidFill>
                <a:effectLst/>
                <a:latin typeface="Arial" panose="020B0604020202020204" pitchFamily="34" charset="0"/>
              </a:rPr>
              <a:t>slip vector</a:t>
            </a:r>
          </a:p>
          <a:p>
            <a:pPr>
              <a:lnSpc>
                <a:spcPct val="120000"/>
              </a:lnSpc>
              <a:spcBef>
                <a:spcPct val="50000"/>
              </a:spcBef>
              <a:buClr>
                <a:schemeClr val="folHlink"/>
              </a:buClr>
              <a:buSzPct val="100000"/>
              <a:buFont typeface="Times" panose="02020603050405020304" pitchFamily="18" charset="0"/>
              <a:buAutoNum type="arabicPeriod"/>
            </a:pPr>
            <a:r>
              <a:rPr lang="en-GB" altLang="en-US" sz="1700" dirty="0">
                <a:effectLst/>
                <a:latin typeface="Arial" panose="020B0604020202020204" pitchFamily="34" charset="0"/>
              </a:rPr>
              <a:t>the </a:t>
            </a:r>
            <a:r>
              <a:rPr lang="en-GB" altLang="en-US" sz="1700" dirty="0">
                <a:solidFill>
                  <a:srgbClr val="FF6600"/>
                </a:solidFill>
                <a:effectLst/>
                <a:latin typeface="Arial" panose="020B0604020202020204" pitchFamily="34" charset="0"/>
              </a:rPr>
              <a:t>poles of a pre-existing planar feature</a:t>
            </a:r>
            <a:r>
              <a:rPr lang="en-GB" altLang="en-US" sz="1700" dirty="0">
                <a:effectLst/>
                <a:latin typeface="Arial" panose="020B0604020202020204" pitchFamily="34" charset="0"/>
              </a:rPr>
              <a:t> (</a:t>
            </a:r>
            <a:r>
              <a:rPr lang="en-GB" altLang="en-US" sz="1700" i="1" dirty="0">
                <a:effectLst/>
                <a:latin typeface="Arial" panose="020B0604020202020204" pitchFamily="34" charset="0"/>
              </a:rPr>
              <a:t>e.g</a:t>
            </a:r>
            <a:r>
              <a:rPr lang="en-GB" altLang="en-US" sz="1700" dirty="0">
                <a:effectLst/>
                <a:latin typeface="Arial" panose="020B0604020202020204" pitchFamily="34" charset="0"/>
              </a:rPr>
              <a:t>., a dyke margin) are </a:t>
            </a:r>
            <a:r>
              <a:rPr lang="en-GB" altLang="en-US" sz="1700" dirty="0">
                <a:solidFill>
                  <a:srgbClr val="FF66CC"/>
                </a:solidFill>
                <a:effectLst/>
                <a:latin typeface="Arial" panose="020B0604020202020204" pitchFamily="34" charset="0"/>
              </a:rPr>
              <a:t>spread along a great</a:t>
            </a:r>
            <a:r>
              <a:rPr lang="en-GB" altLang="en-US" sz="1700" dirty="0">
                <a:effectLst/>
                <a:latin typeface="Arial" panose="020B0604020202020204" pitchFamily="34" charset="0"/>
              </a:rPr>
              <a:t> </a:t>
            </a:r>
            <a:r>
              <a:rPr lang="en-GB" altLang="en-US" sz="1700" dirty="0">
                <a:solidFill>
                  <a:srgbClr val="FF66CC"/>
                </a:solidFill>
                <a:effectLst/>
                <a:latin typeface="Arial" panose="020B0604020202020204" pitchFamily="34" charset="0"/>
              </a:rPr>
              <a:t>circle</a:t>
            </a:r>
            <a:r>
              <a:rPr lang="en-GB" altLang="en-US" sz="1700" dirty="0">
                <a:effectLst/>
                <a:latin typeface="Arial" panose="020B0604020202020204" pitchFamily="34" charset="0"/>
              </a:rPr>
              <a:t> towards the pole to the shear plane; the pole of that great circle (fold axis) lies in the shear plane</a:t>
            </a:r>
          </a:p>
        </p:txBody>
      </p:sp>
      <p:pic>
        <p:nvPicPr>
          <p:cNvPr id="17413" name="Picture 15">
            <a:extLst>
              <a:ext uri="{FF2B5EF4-FFF2-40B4-BE49-F238E27FC236}">
                <a16:creationId xmlns:a16="http://schemas.microsoft.com/office/drawing/2014/main" id="{26E3D432-3D52-4BBE-8B8B-E6263DC123E4}"/>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4051300" y="1779588"/>
            <a:ext cx="4902200" cy="3897312"/>
          </a:xfrm>
          <a:noFill/>
          <a:ln w="38100" cap="flat">
            <a:solidFill>
              <a:schemeClr val="bg2"/>
            </a:solidFill>
            <a:miter lim="800000"/>
            <a:headEnd/>
            <a:tailEnd/>
          </a:ln>
        </p:spPr>
      </p:pic>
    </p:spTree>
  </p:cSld>
  <p:clrMapOvr>
    <a:masterClrMapping/>
  </p:clrMapOvr>
  <p:transition spd="slow"/>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CD895731-7957-4108-B49C-654C3C02D236}"/>
              </a:ext>
            </a:extLst>
          </p:cNvPr>
          <p:cNvSpPr>
            <a:spLocks noGrp="1" noChangeArrowheads="1"/>
          </p:cNvSpPr>
          <p:nvPr>
            <p:ph type="title"/>
          </p:nvPr>
        </p:nvSpPr>
        <p:spPr>
          <a:noFill/>
        </p:spPr>
        <p:txBody>
          <a:bodyPr/>
          <a:lstStyle/>
          <a:p>
            <a:r>
              <a:rPr lang="en-GB" altLang="en-US">
                <a:effectLst/>
              </a:rPr>
              <a:t>Folded markers</a:t>
            </a:r>
          </a:p>
        </p:txBody>
      </p:sp>
      <p:sp>
        <p:nvSpPr>
          <p:cNvPr id="18435" name="Rectangle 3">
            <a:extLst>
              <a:ext uri="{FF2B5EF4-FFF2-40B4-BE49-F238E27FC236}">
                <a16:creationId xmlns:a16="http://schemas.microsoft.com/office/drawing/2014/main" id="{E2E7C755-3900-4F6D-BCB3-209B5A0319EA}"/>
              </a:ext>
            </a:extLst>
          </p:cNvPr>
          <p:cNvSpPr>
            <a:spLocks noGrp="1" noChangeArrowheads="1"/>
          </p:cNvSpPr>
          <p:nvPr>
            <p:ph type="body" sz="half" idx="1"/>
          </p:nvPr>
        </p:nvSpPr>
        <p:spPr>
          <a:xfrm>
            <a:off x="130175" y="788988"/>
            <a:ext cx="5232400" cy="4143375"/>
          </a:xfrm>
          <a:noFill/>
        </p:spPr>
        <p:txBody>
          <a:bodyPr/>
          <a:lstStyle/>
          <a:p>
            <a:pPr marL="177800" indent="-177800">
              <a:spcBef>
                <a:spcPct val="75000"/>
              </a:spcBef>
            </a:pPr>
            <a:r>
              <a:rPr lang="en-GB" altLang="en-US" sz="1700" dirty="0">
                <a:effectLst/>
              </a:rPr>
              <a:t>Markers oriented close to the maximum shortening direction of the incremental strain ellipse </a:t>
            </a:r>
            <a:r>
              <a:rPr lang="en-GB" altLang="en-US" sz="1700" dirty="0">
                <a:solidFill>
                  <a:srgbClr val="FF66CC"/>
                </a:solidFill>
                <a:effectLst/>
              </a:rPr>
              <a:t>fold</a:t>
            </a:r>
            <a:r>
              <a:rPr lang="en-GB" altLang="en-US" sz="1700" dirty="0">
                <a:effectLst/>
              </a:rPr>
              <a:t> as they cross the shear zone. However, with increasing shear, these folded markers may rotate into an extensional field of the incremental strain ellipse and then </a:t>
            </a:r>
            <a:r>
              <a:rPr lang="en-GB" altLang="en-US" sz="1700" dirty="0">
                <a:solidFill>
                  <a:srgbClr val="FF66CC"/>
                </a:solidFill>
                <a:effectLst/>
              </a:rPr>
              <a:t>start to stretch</a:t>
            </a:r>
          </a:p>
          <a:p>
            <a:pPr marL="177800" indent="-177800">
              <a:spcBef>
                <a:spcPct val="75000"/>
              </a:spcBef>
            </a:pPr>
            <a:r>
              <a:rPr lang="en-GB" altLang="en-US" sz="1700" dirty="0">
                <a:effectLst/>
              </a:rPr>
              <a:t>Markers passively folded in this way have </a:t>
            </a:r>
            <a:r>
              <a:rPr lang="en-GB" altLang="en-US" sz="1700" dirty="0">
                <a:solidFill>
                  <a:srgbClr val="FF66CC"/>
                </a:solidFill>
                <a:effectLst/>
              </a:rPr>
              <a:t>Class 2</a:t>
            </a:r>
            <a:r>
              <a:rPr lang="en-GB" altLang="en-US" sz="1700" dirty="0">
                <a:effectLst/>
              </a:rPr>
              <a:t> </a:t>
            </a:r>
            <a:r>
              <a:rPr lang="en-GB" altLang="en-US" sz="1700" dirty="0">
                <a:solidFill>
                  <a:srgbClr val="FF66CC"/>
                </a:solidFill>
                <a:effectLst/>
              </a:rPr>
              <a:t>(similar) geometry</a:t>
            </a:r>
            <a:r>
              <a:rPr lang="en-GB" altLang="en-US" sz="1700" dirty="0">
                <a:effectLst/>
              </a:rPr>
              <a:t> with thickened hinges and attenuated limbs</a:t>
            </a:r>
          </a:p>
          <a:p>
            <a:pPr marL="177800" indent="-177800">
              <a:spcBef>
                <a:spcPct val="75000"/>
              </a:spcBef>
            </a:pPr>
            <a:r>
              <a:rPr lang="en-GB" altLang="en-US" sz="1700" dirty="0">
                <a:effectLst/>
              </a:rPr>
              <a:t>The folds may be asymmetric, but care is required when inferring shear sense from their vergence</a:t>
            </a:r>
          </a:p>
        </p:txBody>
      </p:sp>
      <p:sp>
        <p:nvSpPr>
          <p:cNvPr id="223238" name="Rectangle 6">
            <a:extLst>
              <a:ext uri="{FF2B5EF4-FFF2-40B4-BE49-F238E27FC236}">
                <a16:creationId xmlns:a16="http://schemas.microsoft.com/office/drawing/2014/main" id="{6BFE59D4-36C7-4691-84AB-AE32B09BBDED}"/>
              </a:ext>
            </a:extLst>
          </p:cNvPr>
          <p:cNvSpPr>
            <a:spLocks noChangeArrowheads="1"/>
          </p:cNvSpPr>
          <p:nvPr/>
        </p:nvSpPr>
        <p:spPr bwMode="auto">
          <a:xfrm>
            <a:off x="393700" y="5038725"/>
            <a:ext cx="8570913" cy="1649413"/>
          </a:xfrm>
          <a:prstGeom prst="rect">
            <a:avLst/>
          </a:prstGeom>
          <a:solidFill>
            <a:schemeClr val="folHlink"/>
          </a:solidFill>
          <a:ln w="381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GB">
              <a:latin typeface="Helvetica" charset="0"/>
            </a:endParaRPr>
          </a:p>
        </p:txBody>
      </p:sp>
      <p:pic>
        <p:nvPicPr>
          <p:cNvPr id="18438" name="Picture 2" descr="GR31.jpg">
            <a:extLst>
              <a:ext uri="{FF2B5EF4-FFF2-40B4-BE49-F238E27FC236}">
                <a16:creationId xmlns:a16="http://schemas.microsoft.com/office/drawing/2014/main" id="{51FD60D7-49FE-4A6D-A597-E38DB1B53322}"/>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487363" y="5103813"/>
            <a:ext cx="8394700" cy="13573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8439" name="Text Box 17">
            <a:extLst>
              <a:ext uri="{FF2B5EF4-FFF2-40B4-BE49-F238E27FC236}">
                <a16:creationId xmlns:a16="http://schemas.microsoft.com/office/drawing/2014/main" id="{916173EB-60EE-4AB1-AC68-12F10D7D7612}"/>
              </a:ext>
            </a:extLst>
          </p:cNvPr>
          <p:cNvSpPr txBox="1">
            <a:spLocks noChangeArrowheads="1"/>
          </p:cNvSpPr>
          <p:nvPr/>
        </p:nvSpPr>
        <p:spPr bwMode="auto">
          <a:xfrm>
            <a:off x="1595438" y="6257925"/>
            <a:ext cx="178593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spcBef>
                <a:spcPct val="50000"/>
              </a:spcBef>
            </a:pPr>
            <a:r>
              <a:rPr lang="en-GB" altLang="en-US">
                <a:solidFill>
                  <a:srgbClr val="FF0000"/>
                </a:solidFill>
                <a:effectLst/>
              </a:rPr>
              <a:t>vergence to right</a:t>
            </a:r>
          </a:p>
        </p:txBody>
      </p:sp>
      <p:sp>
        <p:nvSpPr>
          <p:cNvPr id="18440" name="Text Box 18">
            <a:extLst>
              <a:ext uri="{FF2B5EF4-FFF2-40B4-BE49-F238E27FC236}">
                <a16:creationId xmlns:a16="http://schemas.microsoft.com/office/drawing/2014/main" id="{45996757-375A-4B0E-B010-AF29E1EFEA02}"/>
              </a:ext>
            </a:extLst>
          </p:cNvPr>
          <p:cNvSpPr txBox="1">
            <a:spLocks noChangeArrowheads="1"/>
          </p:cNvSpPr>
          <p:nvPr/>
        </p:nvSpPr>
        <p:spPr bwMode="auto">
          <a:xfrm>
            <a:off x="6902450" y="6242050"/>
            <a:ext cx="17494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spcBef>
                <a:spcPct val="50000"/>
              </a:spcBef>
            </a:pPr>
            <a:r>
              <a:rPr lang="en-GB" altLang="en-US">
                <a:solidFill>
                  <a:srgbClr val="FF0000"/>
                </a:solidFill>
                <a:effectLst/>
              </a:rPr>
              <a:t>vergence to left</a:t>
            </a:r>
          </a:p>
        </p:txBody>
      </p:sp>
      <p:sp>
        <p:nvSpPr>
          <p:cNvPr id="18441" name="Text Box 19">
            <a:extLst>
              <a:ext uri="{FF2B5EF4-FFF2-40B4-BE49-F238E27FC236}">
                <a16:creationId xmlns:a16="http://schemas.microsoft.com/office/drawing/2014/main" id="{5BBF5EE9-1F7A-46C2-B54A-AD3CE89C1CC7}"/>
              </a:ext>
            </a:extLst>
          </p:cNvPr>
          <p:cNvSpPr txBox="1">
            <a:spLocks noChangeArrowheads="1"/>
          </p:cNvSpPr>
          <p:nvPr/>
        </p:nvSpPr>
        <p:spPr bwMode="auto">
          <a:xfrm>
            <a:off x="8258175" y="5102225"/>
            <a:ext cx="67151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spcBef>
                <a:spcPct val="50000"/>
              </a:spcBef>
            </a:pPr>
            <a:r>
              <a:rPr lang="en-GB" altLang="en-US">
                <a:solidFill>
                  <a:schemeClr val="bg2"/>
                </a:solidFill>
                <a:effectLst/>
              </a:rPr>
              <a:t>initial</a:t>
            </a:r>
          </a:p>
        </p:txBody>
      </p:sp>
      <p:pic>
        <p:nvPicPr>
          <p:cNvPr id="18442" name="Picture 21">
            <a:extLst>
              <a:ext uri="{FF2B5EF4-FFF2-40B4-BE49-F238E27FC236}">
                <a16:creationId xmlns:a16="http://schemas.microsoft.com/office/drawing/2014/main" id="{2D423F00-82FD-4A0F-85F2-A73089DAD54B}"/>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rot="2219125">
            <a:off x="555625" y="5837238"/>
            <a:ext cx="742950" cy="620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23243" name="Freeform 11">
            <a:extLst>
              <a:ext uri="{FF2B5EF4-FFF2-40B4-BE49-F238E27FC236}">
                <a16:creationId xmlns:a16="http://schemas.microsoft.com/office/drawing/2014/main" id="{7652AC17-3DBA-4F60-BB8C-D22784C4D430}"/>
              </a:ext>
            </a:extLst>
          </p:cNvPr>
          <p:cNvSpPr>
            <a:spLocks/>
          </p:cNvSpPr>
          <p:nvPr/>
        </p:nvSpPr>
        <p:spPr bwMode="auto">
          <a:xfrm rot="-4495078">
            <a:off x="876300" y="5616575"/>
            <a:ext cx="95250" cy="266700"/>
          </a:xfrm>
          <a:custGeom>
            <a:avLst/>
            <a:gdLst>
              <a:gd name="T0" fmla="*/ 33 w 42"/>
              <a:gd name="T1" fmla="*/ 168 h 168"/>
              <a:gd name="T2" fmla="*/ 0 w 42"/>
              <a:gd name="T3" fmla="*/ 0 h 168"/>
              <a:gd name="T4" fmla="*/ 42 w 42"/>
              <a:gd name="T5" fmla="*/ 36 h 168"/>
            </a:gdLst>
            <a:ahLst/>
            <a:cxnLst>
              <a:cxn ang="0">
                <a:pos x="T0" y="T1"/>
              </a:cxn>
              <a:cxn ang="0">
                <a:pos x="T2" y="T3"/>
              </a:cxn>
              <a:cxn ang="0">
                <a:pos x="T4" y="T5"/>
              </a:cxn>
            </a:cxnLst>
            <a:rect l="0" t="0" r="r" b="b"/>
            <a:pathLst>
              <a:path w="42" h="168">
                <a:moveTo>
                  <a:pt x="33" y="168"/>
                </a:moveTo>
                <a:lnTo>
                  <a:pt x="0" y="0"/>
                </a:lnTo>
                <a:lnTo>
                  <a:pt x="42" y="36"/>
                </a:lnTo>
              </a:path>
            </a:pathLst>
          </a:custGeom>
          <a:noFill/>
          <a:ln w="28575"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GB">
              <a:latin typeface="Helvetica" charset="0"/>
            </a:endParaRPr>
          </a:p>
        </p:txBody>
      </p:sp>
      <p:sp>
        <p:nvSpPr>
          <p:cNvPr id="223244" name="Freeform 12">
            <a:extLst>
              <a:ext uri="{FF2B5EF4-FFF2-40B4-BE49-F238E27FC236}">
                <a16:creationId xmlns:a16="http://schemas.microsoft.com/office/drawing/2014/main" id="{E05C5D20-49BF-47EB-959B-F6F026C8063E}"/>
              </a:ext>
            </a:extLst>
          </p:cNvPr>
          <p:cNvSpPr>
            <a:spLocks/>
          </p:cNvSpPr>
          <p:nvPr/>
        </p:nvSpPr>
        <p:spPr bwMode="auto">
          <a:xfrm rot="6304922">
            <a:off x="854075" y="6384925"/>
            <a:ext cx="95250" cy="266700"/>
          </a:xfrm>
          <a:custGeom>
            <a:avLst/>
            <a:gdLst>
              <a:gd name="T0" fmla="*/ 33 w 42"/>
              <a:gd name="T1" fmla="*/ 168 h 168"/>
              <a:gd name="T2" fmla="*/ 0 w 42"/>
              <a:gd name="T3" fmla="*/ 0 h 168"/>
              <a:gd name="T4" fmla="*/ 42 w 42"/>
              <a:gd name="T5" fmla="*/ 36 h 168"/>
            </a:gdLst>
            <a:ahLst/>
            <a:cxnLst>
              <a:cxn ang="0">
                <a:pos x="T0" y="T1"/>
              </a:cxn>
              <a:cxn ang="0">
                <a:pos x="T2" y="T3"/>
              </a:cxn>
              <a:cxn ang="0">
                <a:pos x="T4" y="T5"/>
              </a:cxn>
            </a:cxnLst>
            <a:rect l="0" t="0" r="r" b="b"/>
            <a:pathLst>
              <a:path w="42" h="168">
                <a:moveTo>
                  <a:pt x="33" y="168"/>
                </a:moveTo>
                <a:lnTo>
                  <a:pt x="0" y="0"/>
                </a:lnTo>
                <a:lnTo>
                  <a:pt x="42" y="36"/>
                </a:lnTo>
              </a:path>
            </a:pathLst>
          </a:custGeom>
          <a:noFill/>
          <a:ln w="28575"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GB">
              <a:latin typeface="Helvetica" charset="0"/>
            </a:endParaRPr>
          </a:p>
        </p:txBody>
      </p:sp>
      <p:pic>
        <p:nvPicPr>
          <p:cNvPr id="18447" name="Picture 15" descr="06a1-Mull">
            <a:extLst>
              <a:ext uri="{FF2B5EF4-FFF2-40B4-BE49-F238E27FC236}">
                <a16:creationId xmlns:a16="http://schemas.microsoft.com/office/drawing/2014/main" id="{FDC7F9DF-3BE0-4135-B9E0-39787B8A417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48313" y="917575"/>
            <a:ext cx="3395662" cy="3954463"/>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spd="slow"/>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4829C973-E763-4945-802B-3872B2BED523}"/>
              </a:ext>
            </a:extLst>
          </p:cNvPr>
          <p:cNvSpPr>
            <a:spLocks noGrp="1" noChangeArrowheads="1"/>
          </p:cNvSpPr>
          <p:nvPr>
            <p:ph type="title"/>
          </p:nvPr>
        </p:nvSpPr>
        <p:spPr>
          <a:noFill/>
        </p:spPr>
        <p:txBody>
          <a:bodyPr/>
          <a:lstStyle/>
          <a:p>
            <a:r>
              <a:rPr lang="en-GB" altLang="en-US">
                <a:effectLst/>
              </a:rPr>
              <a:t>Intrafolial folds</a:t>
            </a:r>
          </a:p>
        </p:txBody>
      </p:sp>
      <p:sp>
        <p:nvSpPr>
          <p:cNvPr id="19459" name="Rectangle 3">
            <a:extLst>
              <a:ext uri="{FF2B5EF4-FFF2-40B4-BE49-F238E27FC236}">
                <a16:creationId xmlns:a16="http://schemas.microsoft.com/office/drawing/2014/main" id="{17434D71-D060-4ADC-8227-A69600BB8C56}"/>
              </a:ext>
            </a:extLst>
          </p:cNvPr>
          <p:cNvSpPr>
            <a:spLocks noGrp="1" noChangeArrowheads="1"/>
          </p:cNvSpPr>
          <p:nvPr>
            <p:ph type="body" sz="half" idx="1"/>
          </p:nvPr>
        </p:nvSpPr>
        <p:spPr>
          <a:xfrm>
            <a:off x="122238" y="836613"/>
            <a:ext cx="8505825" cy="1068387"/>
          </a:xfrm>
          <a:noFill/>
        </p:spPr>
        <p:txBody>
          <a:bodyPr/>
          <a:lstStyle/>
          <a:p>
            <a:pPr marL="177800" indent="-177800">
              <a:spcBef>
                <a:spcPct val="75000"/>
              </a:spcBef>
            </a:pPr>
            <a:r>
              <a:rPr lang="en-GB" altLang="en-US" sz="1700">
                <a:effectLst/>
              </a:rPr>
              <a:t>In mylonitic shear zones often the </a:t>
            </a:r>
            <a:r>
              <a:rPr lang="en-GB" altLang="en-US" sz="1700">
                <a:solidFill>
                  <a:srgbClr val="FF66CC"/>
                </a:solidFill>
                <a:effectLst/>
              </a:rPr>
              <a:t>foliation is itself folded</a:t>
            </a:r>
            <a:r>
              <a:rPr lang="en-GB" altLang="en-US" sz="1700">
                <a:effectLst/>
              </a:rPr>
              <a:t>. These folds are commonly </a:t>
            </a:r>
            <a:r>
              <a:rPr lang="en-GB" altLang="en-US" sz="1700">
                <a:solidFill>
                  <a:srgbClr val="FF66CC"/>
                </a:solidFill>
                <a:effectLst/>
              </a:rPr>
              <a:t>isoclinal</a:t>
            </a:r>
            <a:r>
              <a:rPr lang="en-GB" altLang="en-US" sz="1700">
                <a:effectLst/>
              </a:rPr>
              <a:t> with axial planes in orientations that are indistinguishable from the main mylonitic foliation. Such folds are described as </a:t>
            </a:r>
            <a:r>
              <a:rPr lang="en-GB" altLang="en-US" sz="1700">
                <a:solidFill>
                  <a:srgbClr val="FF6600"/>
                </a:solidFill>
                <a:effectLst/>
              </a:rPr>
              <a:t>intrafolial folds</a:t>
            </a:r>
          </a:p>
        </p:txBody>
      </p:sp>
      <p:pic>
        <p:nvPicPr>
          <p:cNvPr id="19460" name="Picture 4" descr="08a">
            <a:extLst>
              <a:ext uri="{FF2B5EF4-FFF2-40B4-BE49-F238E27FC236}">
                <a16:creationId xmlns:a16="http://schemas.microsoft.com/office/drawing/2014/main" id="{A8950B1F-2824-40FF-AE97-869F5BF325D2}"/>
              </a:ext>
            </a:extLst>
          </p:cNvPr>
          <p:cNvPicPr>
            <a:picLocks noGrp="1" noChangeAspect="1" noChangeArrowheads="1"/>
          </p:cNvPicPr>
          <p:nvPr>
            <p:ph sz="quarter" idx="2"/>
          </p:nvPr>
        </p:nvPicPr>
        <p:blipFill>
          <a:blip r:embed="rId3">
            <a:extLst>
              <a:ext uri="{28A0092B-C50C-407E-A947-70E740481C1C}">
                <a14:useLocalDpi xmlns:a14="http://schemas.microsoft.com/office/drawing/2010/main" val="0"/>
              </a:ext>
            </a:extLst>
          </a:blip>
          <a:srcRect/>
          <a:stretch>
            <a:fillRect/>
          </a:stretch>
        </p:blipFill>
        <p:spPr>
          <a:xfrm>
            <a:off x="6429375" y="4940300"/>
            <a:ext cx="2171700" cy="990600"/>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19461" name="Picture 8" descr="06b-Intrafolial">
            <a:extLst>
              <a:ext uri="{FF2B5EF4-FFF2-40B4-BE49-F238E27FC236}">
                <a16:creationId xmlns:a16="http://schemas.microsoft.com/office/drawing/2014/main" id="{8F594440-350E-402E-B3F5-6CED632301A4}"/>
              </a:ext>
            </a:extLst>
          </p:cNvPr>
          <p:cNvPicPr>
            <a:picLocks noChangeAspect="1" noChangeArrowheads="1"/>
          </p:cNvPicPr>
          <p:nvPr/>
        </p:nvPicPr>
        <p:blipFill>
          <a:blip r:embed="rId4">
            <a:lum bright="-16000"/>
            <a:extLst>
              <a:ext uri="{28A0092B-C50C-407E-A947-70E740481C1C}">
                <a14:useLocalDpi xmlns:a14="http://schemas.microsoft.com/office/drawing/2010/main" val="0"/>
              </a:ext>
            </a:extLst>
          </a:blip>
          <a:srcRect/>
          <a:stretch>
            <a:fillRect/>
          </a:stretch>
        </p:blipFill>
        <p:spPr bwMode="auto">
          <a:xfrm>
            <a:off x="292100" y="2146300"/>
            <a:ext cx="5703888" cy="3784600"/>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308235" name="Text Box 11">
            <a:extLst>
              <a:ext uri="{FF2B5EF4-FFF2-40B4-BE49-F238E27FC236}">
                <a16:creationId xmlns:a16="http://schemas.microsoft.com/office/drawing/2014/main" id="{E60C65D3-1880-421D-9558-D77CBA19D3F1}"/>
              </a:ext>
            </a:extLst>
          </p:cNvPr>
          <p:cNvSpPr txBox="1">
            <a:spLocks noChangeArrowheads="1"/>
          </p:cNvSpPr>
          <p:nvPr/>
        </p:nvSpPr>
        <p:spPr bwMode="auto">
          <a:xfrm>
            <a:off x="6211888" y="2030413"/>
            <a:ext cx="2708275" cy="2711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9388" indent="-179388">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75000"/>
              </a:spcBef>
              <a:buClr>
                <a:schemeClr val="folHlink"/>
              </a:buClr>
              <a:buSzPct val="100000"/>
              <a:buFont typeface="Times" panose="02020603050405020304" pitchFamily="18" charset="0"/>
              <a:buChar char="•"/>
            </a:pPr>
            <a:r>
              <a:rPr lang="en-GB" altLang="en-US" sz="1700">
                <a:effectLst/>
                <a:latin typeface="Arial" panose="020B0604020202020204" pitchFamily="34" charset="0"/>
              </a:rPr>
              <a:t>Folding of this kind results from local distortions in the flow field during shearing</a:t>
            </a:r>
          </a:p>
          <a:p>
            <a:pPr>
              <a:lnSpc>
                <a:spcPct val="120000"/>
              </a:lnSpc>
              <a:spcBef>
                <a:spcPct val="50000"/>
              </a:spcBef>
              <a:buClr>
                <a:schemeClr val="folHlink"/>
              </a:buClr>
              <a:buSzPct val="100000"/>
              <a:buFont typeface="Times" panose="02020603050405020304" pitchFamily="18" charset="0"/>
              <a:buChar char="•"/>
            </a:pPr>
            <a:r>
              <a:rPr lang="en-GB" altLang="en-US" sz="1700">
                <a:effectLst/>
                <a:latin typeface="Arial" panose="020B0604020202020204" pitchFamily="34" charset="0"/>
              </a:rPr>
              <a:t>When viewed in the XZ plane the </a:t>
            </a:r>
            <a:r>
              <a:rPr lang="en-GB" altLang="en-US" sz="1700">
                <a:solidFill>
                  <a:srgbClr val="FF66CC"/>
                </a:solidFill>
                <a:effectLst/>
                <a:latin typeface="Arial" panose="020B0604020202020204" pitchFamily="34" charset="0"/>
              </a:rPr>
              <a:t>asymmetry of the folds indicates the sense of shearing</a:t>
            </a:r>
            <a:endParaRPr lang="en-GB" altLang="en-US" sz="1700">
              <a:effectLst>
                <a:outerShdw blurRad="38100" dist="38100" dir="2700000" algn="tl">
                  <a:srgbClr val="000000"/>
                </a:outerShdw>
              </a:effectLst>
              <a:latin typeface="Arial" panose="020B0604020202020204" pitchFamily="34" charset="0"/>
            </a:endParaRPr>
          </a:p>
        </p:txBody>
      </p:sp>
      <p:sp>
        <p:nvSpPr>
          <p:cNvPr id="308236" name="Text Box 12">
            <a:extLst>
              <a:ext uri="{FF2B5EF4-FFF2-40B4-BE49-F238E27FC236}">
                <a16:creationId xmlns:a16="http://schemas.microsoft.com/office/drawing/2014/main" id="{B8E96D38-530F-4473-98EC-10702B57ED20}"/>
              </a:ext>
            </a:extLst>
          </p:cNvPr>
          <p:cNvSpPr txBox="1">
            <a:spLocks noChangeArrowheads="1"/>
          </p:cNvSpPr>
          <p:nvPr/>
        </p:nvSpPr>
        <p:spPr bwMode="auto">
          <a:xfrm>
            <a:off x="1169988" y="6059488"/>
            <a:ext cx="387667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defRPr/>
            </a:pPr>
            <a:r>
              <a:rPr lang="en-GB" sz="1400">
                <a:solidFill>
                  <a:srgbClr val="FFFF00"/>
                </a:solidFill>
                <a:effectLst>
                  <a:outerShdw blurRad="38100" dist="38100" dir="2700000" algn="tl">
                    <a:srgbClr val="000000"/>
                  </a:outerShdw>
                </a:effectLst>
                <a:latin typeface="Helvetica" charset="0"/>
              </a:rPr>
              <a:t>Note the importance of looking in the XZ plane</a:t>
            </a:r>
          </a:p>
        </p:txBody>
      </p:sp>
    </p:spTree>
  </p:cSld>
  <p:clrMapOvr>
    <a:masterClrMapping/>
  </p:clrMapOvr>
  <p:transition spd="slow"/>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2411A62B-97E9-446F-8B97-796947706C10}"/>
              </a:ext>
            </a:extLst>
          </p:cNvPr>
          <p:cNvSpPr>
            <a:spLocks noGrp="1" noChangeArrowheads="1"/>
          </p:cNvSpPr>
          <p:nvPr>
            <p:ph type="title"/>
          </p:nvPr>
        </p:nvSpPr>
        <p:spPr>
          <a:noFill/>
        </p:spPr>
        <p:txBody>
          <a:bodyPr/>
          <a:lstStyle/>
          <a:p>
            <a:r>
              <a:rPr lang="en-GB" altLang="en-US">
                <a:effectLst/>
              </a:rPr>
              <a:t>Sheath folds</a:t>
            </a:r>
          </a:p>
        </p:txBody>
      </p:sp>
      <p:sp>
        <p:nvSpPr>
          <p:cNvPr id="20483" name="Rectangle 3">
            <a:extLst>
              <a:ext uri="{FF2B5EF4-FFF2-40B4-BE49-F238E27FC236}">
                <a16:creationId xmlns:a16="http://schemas.microsoft.com/office/drawing/2014/main" id="{5CB0D175-F708-4AE6-94AD-9FA8BBACA6E9}"/>
              </a:ext>
            </a:extLst>
          </p:cNvPr>
          <p:cNvSpPr>
            <a:spLocks noGrp="1" noChangeArrowheads="1"/>
          </p:cNvSpPr>
          <p:nvPr>
            <p:ph type="body" sz="half" idx="1"/>
          </p:nvPr>
        </p:nvSpPr>
        <p:spPr>
          <a:xfrm>
            <a:off x="5332413" y="6132513"/>
            <a:ext cx="2954337" cy="614362"/>
          </a:xfrm>
          <a:noFill/>
        </p:spPr>
        <p:txBody>
          <a:bodyPr/>
          <a:lstStyle/>
          <a:p>
            <a:pPr marL="0" indent="0">
              <a:spcBef>
                <a:spcPct val="75000"/>
              </a:spcBef>
              <a:buFont typeface="Times" panose="02020603050405020304" pitchFamily="18" charset="0"/>
              <a:buNone/>
            </a:pPr>
            <a:r>
              <a:rPr lang="en-GB" altLang="en-US" sz="1400">
                <a:solidFill>
                  <a:srgbClr val="FFFF00"/>
                </a:solidFill>
                <a:effectLst/>
              </a:rPr>
              <a:t>In the YZ plane, sheath folds have a characteristic ‘eye’ shape</a:t>
            </a:r>
          </a:p>
        </p:txBody>
      </p:sp>
      <p:pic>
        <p:nvPicPr>
          <p:cNvPr id="20484" name="Picture 5" descr="07b">
            <a:extLst>
              <a:ext uri="{FF2B5EF4-FFF2-40B4-BE49-F238E27FC236}">
                <a16:creationId xmlns:a16="http://schemas.microsoft.com/office/drawing/2014/main" id="{DC3B6F69-431D-48A7-9C59-C66EF030AF8C}"/>
              </a:ext>
            </a:extLst>
          </p:cNvPr>
          <p:cNvPicPr>
            <a:picLocks noGrp="1" noChangeAspect="1" noChangeArrowheads="1"/>
          </p:cNvPicPr>
          <p:nvPr>
            <p:ph sz="quarter" idx="3"/>
          </p:nvPr>
        </p:nvPicPr>
        <p:blipFill>
          <a:blip r:embed="rId3">
            <a:extLst>
              <a:ext uri="{28A0092B-C50C-407E-A947-70E740481C1C}">
                <a14:useLocalDpi xmlns:a14="http://schemas.microsoft.com/office/drawing/2010/main" val="0"/>
              </a:ext>
            </a:extLst>
          </a:blip>
          <a:srcRect/>
          <a:stretch>
            <a:fillRect/>
          </a:stretch>
        </p:blipFill>
        <p:spPr>
          <a:xfrm>
            <a:off x="2022475" y="4916488"/>
            <a:ext cx="2379663" cy="1570037"/>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20486" name="Picture 17" descr="12">
            <a:extLst>
              <a:ext uri="{FF2B5EF4-FFF2-40B4-BE49-F238E27FC236}">
                <a16:creationId xmlns:a16="http://schemas.microsoft.com/office/drawing/2014/main" id="{A468F26D-77BF-4BBB-B78B-0329FD60BFA6}"/>
              </a:ext>
            </a:extLst>
          </p:cNvPr>
          <p:cNvPicPr>
            <a:picLocks noGrp="1" noChangeAspect="1" noChangeArrowheads="1"/>
          </p:cNvPicPr>
          <p:nvPr>
            <p:ph sz="quarter" idx="2"/>
          </p:nvPr>
        </p:nvPicPr>
        <p:blipFill>
          <a:blip r:embed="rId4">
            <a:extLst>
              <a:ext uri="{28A0092B-C50C-407E-A947-70E740481C1C}">
                <a14:useLocalDpi xmlns:a14="http://schemas.microsoft.com/office/drawing/2010/main" val="0"/>
              </a:ext>
            </a:extLst>
          </a:blip>
          <a:srcRect/>
          <a:stretch>
            <a:fillRect/>
          </a:stretch>
        </p:blipFill>
        <p:spPr>
          <a:xfrm>
            <a:off x="180975" y="4645025"/>
            <a:ext cx="1665288" cy="1347788"/>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95955" name="Text Box 19">
            <a:extLst>
              <a:ext uri="{FF2B5EF4-FFF2-40B4-BE49-F238E27FC236}">
                <a16:creationId xmlns:a16="http://schemas.microsoft.com/office/drawing/2014/main" id="{4EFFDBDB-9E10-4204-B336-A67205E79394}"/>
              </a:ext>
            </a:extLst>
          </p:cNvPr>
          <p:cNvSpPr txBox="1">
            <a:spLocks noChangeArrowheads="1"/>
          </p:cNvSpPr>
          <p:nvPr/>
        </p:nvSpPr>
        <p:spPr bwMode="auto">
          <a:xfrm>
            <a:off x="112713" y="771525"/>
            <a:ext cx="3214687" cy="3644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9388" indent="-179388">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50000"/>
              </a:spcBef>
              <a:buClr>
                <a:schemeClr val="tx1"/>
              </a:buClr>
              <a:buFontTx/>
              <a:buChar char="•"/>
            </a:pPr>
            <a:r>
              <a:rPr lang="en-GB" altLang="en-US" sz="1700" dirty="0">
                <a:effectLst>
                  <a:outerShdw blurRad="38100" dist="38100" dir="2700000" algn="tl">
                    <a:srgbClr val="000000"/>
                  </a:outerShdw>
                </a:effectLst>
                <a:latin typeface="Arial" panose="020B0604020202020204" pitchFamily="34" charset="0"/>
              </a:rPr>
              <a:t>Some </a:t>
            </a:r>
            <a:r>
              <a:rPr lang="en-GB" altLang="en-US" sz="1700" dirty="0" err="1">
                <a:effectLst>
                  <a:outerShdw blurRad="38100" dist="38100" dir="2700000" algn="tl">
                    <a:srgbClr val="000000"/>
                  </a:outerShdw>
                </a:effectLst>
                <a:latin typeface="Arial" panose="020B0604020202020204" pitchFamily="34" charset="0"/>
              </a:rPr>
              <a:t>intrafolial</a:t>
            </a:r>
            <a:r>
              <a:rPr lang="en-GB" altLang="en-US" sz="1700" dirty="0">
                <a:effectLst>
                  <a:outerShdw blurRad="38100" dist="38100" dir="2700000" algn="tl">
                    <a:srgbClr val="000000"/>
                  </a:outerShdw>
                </a:effectLst>
                <a:latin typeface="Arial" panose="020B0604020202020204" pitchFamily="34" charset="0"/>
              </a:rPr>
              <a:t> folds may amplify into </a:t>
            </a:r>
            <a:r>
              <a:rPr lang="en-GB" altLang="en-US" sz="1700" dirty="0">
                <a:solidFill>
                  <a:srgbClr val="FF66CC"/>
                </a:solidFill>
                <a:effectLst>
                  <a:outerShdw blurRad="38100" dist="38100" dir="2700000" algn="tl">
                    <a:srgbClr val="000000"/>
                  </a:outerShdw>
                </a:effectLst>
                <a:latin typeface="Arial" panose="020B0604020202020204" pitchFamily="34" charset="0"/>
              </a:rPr>
              <a:t>tubular shapes</a:t>
            </a:r>
            <a:r>
              <a:rPr lang="en-GB" altLang="en-US" sz="1700" dirty="0">
                <a:effectLst>
                  <a:outerShdw blurRad="38100" dist="38100" dir="2700000" algn="tl">
                    <a:srgbClr val="000000"/>
                  </a:outerShdw>
                </a:effectLst>
                <a:latin typeface="Arial" panose="020B0604020202020204" pitchFamily="34" charset="0"/>
              </a:rPr>
              <a:t> with hinge lines that swing into parallelism with the X direction as strain increases. These are described as </a:t>
            </a:r>
            <a:r>
              <a:rPr lang="en-GB" altLang="en-US" sz="1700" dirty="0">
                <a:solidFill>
                  <a:srgbClr val="FF6600"/>
                </a:solidFill>
                <a:effectLst>
                  <a:outerShdw blurRad="38100" dist="38100" dir="2700000" algn="tl">
                    <a:srgbClr val="000000"/>
                  </a:outerShdw>
                </a:effectLst>
                <a:latin typeface="Arial" panose="020B0604020202020204" pitchFamily="34" charset="0"/>
              </a:rPr>
              <a:t>sheath folds</a:t>
            </a:r>
            <a:endParaRPr lang="en-GB" altLang="en-US" sz="1700" dirty="0">
              <a:effectLst>
                <a:outerShdw blurRad="38100" dist="38100" dir="2700000" algn="tl">
                  <a:srgbClr val="000000"/>
                </a:outerShdw>
              </a:effectLst>
              <a:latin typeface="Arial" panose="020B0604020202020204" pitchFamily="34" charset="0"/>
            </a:endParaRPr>
          </a:p>
          <a:p>
            <a:pPr>
              <a:lnSpc>
                <a:spcPct val="120000"/>
              </a:lnSpc>
              <a:spcBef>
                <a:spcPct val="50000"/>
              </a:spcBef>
              <a:buClr>
                <a:schemeClr val="tx1"/>
              </a:buClr>
              <a:buFontTx/>
              <a:buChar char="•"/>
            </a:pPr>
            <a:r>
              <a:rPr lang="en-GB" altLang="en-US" sz="1700" dirty="0">
                <a:effectLst>
                  <a:outerShdw blurRad="38100" dist="38100" dir="2700000" algn="tl">
                    <a:srgbClr val="000000"/>
                  </a:outerShdw>
                </a:effectLst>
                <a:latin typeface="Arial" panose="020B0604020202020204" pitchFamily="34" charset="0"/>
              </a:rPr>
              <a:t>Folds with hinges that are parallel with the X direction, but which are not tubular are called </a:t>
            </a:r>
            <a:r>
              <a:rPr lang="en-GB" altLang="en-US" sz="1700" dirty="0">
                <a:solidFill>
                  <a:srgbClr val="FF6600"/>
                </a:solidFill>
                <a:effectLst>
                  <a:outerShdw blurRad="38100" dist="38100" dir="2700000" algn="tl">
                    <a:srgbClr val="000000"/>
                  </a:outerShdw>
                </a:effectLst>
                <a:latin typeface="Arial" panose="020B0604020202020204" pitchFamily="34" charset="0"/>
              </a:rPr>
              <a:t>curtain folds</a:t>
            </a:r>
          </a:p>
        </p:txBody>
      </p:sp>
      <p:sp>
        <p:nvSpPr>
          <p:cNvPr id="20488" name="Text Box 22">
            <a:extLst>
              <a:ext uri="{FF2B5EF4-FFF2-40B4-BE49-F238E27FC236}">
                <a16:creationId xmlns:a16="http://schemas.microsoft.com/office/drawing/2014/main" id="{F1E38E4A-9AE4-44F8-83B5-B4537A13BE2E}"/>
              </a:ext>
            </a:extLst>
          </p:cNvPr>
          <p:cNvSpPr txBox="1">
            <a:spLocks noChangeArrowheads="1"/>
          </p:cNvSpPr>
          <p:nvPr/>
        </p:nvSpPr>
        <p:spPr bwMode="auto">
          <a:xfrm>
            <a:off x="3457575" y="5006975"/>
            <a:ext cx="49371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spcBef>
                <a:spcPct val="50000"/>
              </a:spcBef>
            </a:pPr>
            <a:r>
              <a:rPr lang="en-GB" altLang="en-US" sz="1400">
                <a:solidFill>
                  <a:schemeClr val="bg2"/>
                </a:solidFill>
                <a:effectLst/>
                <a:latin typeface="Arial" panose="020B0604020202020204" pitchFamily="34" charset="0"/>
              </a:rPr>
              <a:t>XY</a:t>
            </a:r>
          </a:p>
        </p:txBody>
      </p:sp>
      <p:sp>
        <p:nvSpPr>
          <p:cNvPr id="20490" name="Text Box 20">
            <a:extLst>
              <a:ext uri="{FF2B5EF4-FFF2-40B4-BE49-F238E27FC236}">
                <a16:creationId xmlns:a16="http://schemas.microsoft.com/office/drawing/2014/main" id="{F655B8B7-85FD-434A-8683-7735C9AF1BDD}"/>
              </a:ext>
            </a:extLst>
          </p:cNvPr>
          <p:cNvSpPr txBox="1">
            <a:spLocks noChangeArrowheads="1"/>
          </p:cNvSpPr>
          <p:nvPr/>
        </p:nvSpPr>
        <p:spPr bwMode="auto">
          <a:xfrm>
            <a:off x="2841625" y="6084888"/>
            <a:ext cx="49371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spcBef>
                <a:spcPct val="50000"/>
              </a:spcBef>
            </a:pPr>
            <a:r>
              <a:rPr lang="en-GB" altLang="en-US" sz="1400">
                <a:solidFill>
                  <a:schemeClr val="bg2"/>
                </a:solidFill>
                <a:effectLst/>
                <a:latin typeface="Arial" panose="020B0604020202020204" pitchFamily="34" charset="0"/>
              </a:rPr>
              <a:t>YZ</a:t>
            </a:r>
          </a:p>
        </p:txBody>
      </p:sp>
      <p:sp>
        <p:nvSpPr>
          <p:cNvPr id="20491" name="Text Box 21">
            <a:extLst>
              <a:ext uri="{FF2B5EF4-FFF2-40B4-BE49-F238E27FC236}">
                <a16:creationId xmlns:a16="http://schemas.microsoft.com/office/drawing/2014/main" id="{26108E0E-C665-4AED-8977-13ACB6CB8AAF}"/>
              </a:ext>
            </a:extLst>
          </p:cNvPr>
          <p:cNvSpPr txBox="1">
            <a:spLocks noChangeArrowheads="1"/>
          </p:cNvSpPr>
          <p:nvPr/>
        </p:nvSpPr>
        <p:spPr bwMode="auto">
          <a:xfrm>
            <a:off x="3698875" y="5737225"/>
            <a:ext cx="49371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spcBef>
                <a:spcPct val="50000"/>
              </a:spcBef>
            </a:pPr>
            <a:r>
              <a:rPr lang="en-GB" altLang="en-US" sz="1400">
                <a:solidFill>
                  <a:schemeClr val="bg2"/>
                </a:solidFill>
                <a:effectLst/>
                <a:latin typeface="Arial" panose="020B0604020202020204" pitchFamily="34" charset="0"/>
              </a:rPr>
              <a:t>XZ</a:t>
            </a:r>
          </a:p>
        </p:txBody>
      </p:sp>
      <p:pic>
        <p:nvPicPr>
          <p:cNvPr id="20494" name="Picture 14" descr="07b1a-carbonates">
            <a:extLst>
              <a:ext uri="{FF2B5EF4-FFF2-40B4-BE49-F238E27FC236}">
                <a16:creationId xmlns:a16="http://schemas.microsoft.com/office/drawing/2014/main" id="{0C7F5D43-E2FF-4798-9CD2-BD0FF7F3D3B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22650" y="893763"/>
            <a:ext cx="5538788" cy="3182937"/>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20495" name="Picture 15" descr="07b2a-Sheath">
            <a:extLst>
              <a:ext uri="{FF2B5EF4-FFF2-40B4-BE49-F238E27FC236}">
                <a16:creationId xmlns:a16="http://schemas.microsoft.com/office/drawing/2014/main" id="{AB86D2F9-C666-48EE-81A7-88B765A8D6B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10100" y="4302125"/>
            <a:ext cx="4351338" cy="1735138"/>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spd="slow"/>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92E99255-1ABE-4F7A-A72C-54047650E652}"/>
              </a:ext>
            </a:extLst>
          </p:cNvPr>
          <p:cNvSpPr>
            <a:spLocks noGrp="1" noChangeArrowheads="1"/>
          </p:cNvSpPr>
          <p:nvPr>
            <p:ph type="title"/>
          </p:nvPr>
        </p:nvSpPr>
        <p:spPr>
          <a:noFill/>
        </p:spPr>
        <p:txBody>
          <a:bodyPr/>
          <a:lstStyle/>
          <a:p>
            <a:r>
              <a:rPr lang="en-GB" altLang="en-US">
                <a:effectLst/>
              </a:rPr>
              <a:t>Sheath folds</a:t>
            </a:r>
          </a:p>
        </p:txBody>
      </p:sp>
      <p:sp>
        <p:nvSpPr>
          <p:cNvPr id="290835" name="Text Box 19">
            <a:extLst>
              <a:ext uri="{FF2B5EF4-FFF2-40B4-BE49-F238E27FC236}">
                <a16:creationId xmlns:a16="http://schemas.microsoft.com/office/drawing/2014/main" id="{7B18E2DF-3662-44AF-AEEF-15E0CF5C3DEC}"/>
              </a:ext>
            </a:extLst>
          </p:cNvPr>
          <p:cNvSpPr txBox="1">
            <a:spLocks noChangeArrowheads="1"/>
          </p:cNvSpPr>
          <p:nvPr/>
        </p:nvSpPr>
        <p:spPr bwMode="auto">
          <a:xfrm>
            <a:off x="142875" y="4135438"/>
            <a:ext cx="5616575"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15000"/>
              </a:lnSpc>
              <a:spcBef>
                <a:spcPct val="50000"/>
              </a:spcBef>
            </a:pPr>
            <a:r>
              <a:rPr lang="en-GB" altLang="en-US" sz="1400">
                <a:solidFill>
                  <a:srgbClr val="FFFF00"/>
                </a:solidFill>
                <a:effectLst>
                  <a:outerShdw blurRad="38100" dist="38100" dir="2700000" algn="tl">
                    <a:srgbClr val="000000"/>
                  </a:outerShdw>
                </a:effectLst>
                <a:latin typeface="Arial" panose="020B0604020202020204" pitchFamily="34" charset="0"/>
              </a:rPr>
              <a:t>The central axis of this sheath fold (note the fold axis under the pencil) is parallel to a stretching lineation</a:t>
            </a:r>
          </a:p>
        </p:txBody>
      </p:sp>
      <p:pic>
        <p:nvPicPr>
          <p:cNvPr id="21513" name="Picture 9" descr="07c2-SheathMull">
            <a:extLst>
              <a:ext uri="{FF2B5EF4-FFF2-40B4-BE49-F238E27FC236}">
                <a16:creationId xmlns:a16="http://schemas.microsoft.com/office/drawing/2014/main" id="{3F6BD4BD-6548-44A4-8E9C-F9D419985E0D}"/>
              </a:ext>
            </a:extLst>
          </p:cNvPr>
          <p:cNvPicPr>
            <a:picLocks noChangeAspect="1" noChangeArrowheads="1"/>
          </p:cNvPicPr>
          <p:nvPr/>
        </p:nvPicPr>
        <p:blipFill>
          <a:blip r:embed="rId3">
            <a:lum bright="-6000" contrast="10000"/>
            <a:extLst>
              <a:ext uri="{28A0092B-C50C-407E-A947-70E740481C1C}">
                <a14:useLocalDpi xmlns:a14="http://schemas.microsoft.com/office/drawing/2010/main" val="0"/>
              </a:ext>
            </a:extLst>
          </a:blip>
          <a:srcRect t="10005" b="2101"/>
          <a:stretch>
            <a:fillRect/>
          </a:stretch>
        </p:blipFill>
        <p:spPr bwMode="auto">
          <a:xfrm>
            <a:off x="198438" y="919163"/>
            <a:ext cx="5522912" cy="3162300"/>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21514" name="Picture 10" descr="07c1a-SheathMull">
            <a:extLst>
              <a:ext uri="{FF2B5EF4-FFF2-40B4-BE49-F238E27FC236}">
                <a16:creationId xmlns:a16="http://schemas.microsoft.com/office/drawing/2014/main" id="{DE989B2C-FCFF-4506-AA63-1D1B7AF13B6D}"/>
              </a:ext>
            </a:extLst>
          </p:cNvPr>
          <p:cNvPicPr>
            <a:picLocks noChangeAspect="1" noChangeArrowheads="1"/>
          </p:cNvPicPr>
          <p:nvPr/>
        </p:nvPicPr>
        <p:blipFill>
          <a:blip r:embed="rId4">
            <a:lum bright="-6000" contrast="10000"/>
            <a:extLst>
              <a:ext uri="{28A0092B-C50C-407E-A947-70E740481C1C}">
                <a14:useLocalDpi xmlns:a14="http://schemas.microsoft.com/office/drawing/2010/main" val="0"/>
              </a:ext>
            </a:extLst>
          </a:blip>
          <a:srcRect/>
          <a:stretch>
            <a:fillRect/>
          </a:stretch>
        </p:blipFill>
        <p:spPr bwMode="auto">
          <a:xfrm>
            <a:off x="5934075" y="920750"/>
            <a:ext cx="3035300" cy="5260975"/>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290836" name="Line 20">
            <a:extLst>
              <a:ext uri="{FF2B5EF4-FFF2-40B4-BE49-F238E27FC236}">
                <a16:creationId xmlns:a16="http://schemas.microsoft.com/office/drawing/2014/main" id="{2F05AF44-DC8A-41B9-ADFB-B3903F5A5DA3}"/>
              </a:ext>
            </a:extLst>
          </p:cNvPr>
          <p:cNvSpPr>
            <a:spLocks noChangeShapeType="1"/>
          </p:cNvSpPr>
          <p:nvPr/>
        </p:nvSpPr>
        <p:spPr bwMode="auto">
          <a:xfrm flipH="1" flipV="1">
            <a:off x="5451475" y="2743200"/>
            <a:ext cx="796925" cy="311150"/>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pic>
        <p:nvPicPr>
          <p:cNvPr id="21515" name="Picture 11" descr="SpainSheath1">
            <a:extLst>
              <a:ext uri="{FF2B5EF4-FFF2-40B4-BE49-F238E27FC236}">
                <a16:creationId xmlns:a16="http://schemas.microsoft.com/office/drawing/2014/main" id="{4A3A67DA-3F78-46DA-81FE-3BA9294782D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3200" y="4900613"/>
            <a:ext cx="3287713" cy="1422400"/>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21516" name="Picture 12" descr="SpainSheath2">
            <a:extLst>
              <a:ext uri="{FF2B5EF4-FFF2-40B4-BE49-F238E27FC236}">
                <a16:creationId xmlns:a16="http://schemas.microsoft.com/office/drawing/2014/main" id="{7AC86D49-13A6-4428-9A0D-FCE739992A9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38563" y="4725988"/>
            <a:ext cx="1970087" cy="1908175"/>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2" name="Text Box 19">
            <a:extLst>
              <a:ext uri="{FF2B5EF4-FFF2-40B4-BE49-F238E27FC236}">
                <a16:creationId xmlns:a16="http://schemas.microsoft.com/office/drawing/2014/main" id="{37558AA9-6556-474C-9588-C7861D00BEFF}"/>
              </a:ext>
            </a:extLst>
          </p:cNvPr>
          <p:cNvSpPr txBox="1">
            <a:spLocks noChangeArrowheads="1"/>
          </p:cNvSpPr>
          <p:nvPr/>
        </p:nvSpPr>
        <p:spPr bwMode="auto">
          <a:xfrm>
            <a:off x="142875" y="6375400"/>
            <a:ext cx="23082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15000"/>
              </a:lnSpc>
              <a:spcBef>
                <a:spcPct val="50000"/>
              </a:spcBef>
            </a:pPr>
            <a:r>
              <a:rPr lang="en-GB" altLang="en-US" sz="1400">
                <a:solidFill>
                  <a:srgbClr val="FFFF00"/>
                </a:solidFill>
                <a:effectLst>
                  <a:outerShdw blurRad="38100" dist="38100" dir="2700000" algn="tl">
                    <a:srgbClr val="000000"/>
                  </a:outerShdw>
                </a:effectLst>
                <a:latin typeface="Arial" panose="020B0604020202020204" pitchFamily="34" charset="0"/>
              </a:rPr>
              <a:t>Hand specimen examples</a:t>
            </a:r>
          </a:p>
        </p:txBody>
      </p:sp>
    </p:spTree>
  </p:cSld>
  <p:clrMapOvr>
    <a:masterClrMapping/>
  </p:clrMapOvr>
  <p:transition spd="slow"/>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61664347-10D1-4233-B76C-F351D8EC6575}"/>
              </a:ext>
            </a:extLst>
          </p:cNvPr>
          <p:cNvSpPr>
            <a:spLocks noGrp="1" noChangeArrowheads="1"/>
          </p:cNvSpPr>
          <p:nvPr>
            <p:ph type="title"/>
          </p:nvPr>
        </p:nvSpPr>
        <p:spPr>
          <a:noFill/>
        </p:spPr>
        <p:txBody>
          <a:bodyPr/>
          <a:lstStyle/>
          <a:p>
            <a:r>
              <a:rPr lang="en-GB" altLang="en-US" spc="300" dirty="0">
                <a:effectLst/>
              </a:rPr>
              <a:t>S</a:t>
            </a:r>
            <a:r>
              <a:rPr lang="en-GB" altLang="en-US" spc="400" dirty="0">
                <a:effectLst/>
              </a:rPr>
              <a:t>-</a:t>
            </a:r>
            <a:r>
              <a:rPr lang="en-GB" altLang="en-US" dirty="0">
                <a:effectLst/>
              </a:rPr>
              <a:t>C fabrics</a:t>
            </a:r>
          </a:p>
        </p:txBody>
      </p:sp>
      <p:sp>
        <p:nvSpPr>
          <p:cNvPr id="224259" name="Rectangle 3">
            <a:extLst>
              <a:ext uri="{FF2B5EF4-FFF2-40B4-BE49-F238E27FC236}">
                <a16:creationId xmlns:a16="http://schemas.microsoft.com/office/drawing/2014/main" id="{01CE25C6-6D1F-40C7-9242-E5B72D72534D}"/>
              </a:ext>
            </a:extLst>
          </p:cNvPr>
          <p:cNvSpPr>
            <a:spLocks noGrp="1" noChangeArrowheads="1"/>
          </p:cNvSpPr>
          <p:nvPr>
            <p:ph type="body" sz="half" idx="1"/>
          </p:nvPr>
        </p:nvSpPr>
        <p:spPr>
          <a:xfrm>
            <a:off x="111125" y="771525"/>
            <a:ext cx="3522663" cy="5978525"/>
          </a:xfrm>
        </p:spPr>
        <p:txBody>
          <a:bodyPr/>
          <a:lstStyle/>
          <a:p>
            <a:pPr marL="177800" indent="-177800">
              <a:spcBef>
                <a:spcPct val="50000"/>
              </a:spcBef>
            </a:pPr>
            <a:r>
              <a:rPr lang="en-GB" altLang="en-US" sz="1700" dirty="0">
                <a:effectLst/>
              </a:rPr>
              <a:t>As strain increases, a set of shear bands (</a:t>
            </a:r>
            <a:r>
              <a:rPr lang="en-GB" altLang="en-US" sz="1700" dirty="0">
                <a:solidFill>
                  <a:srgbClr val="FF6600"/>
                </a:solidFill>
                <a:effectLst/>
              </a:rPr>
              <a:t>C</a:t>
            </a:r>
            <a:r>
              <a:rPr lang="en-GB" altLang="en-US" sz="800" dirty="0">
                <a:solidFill>
                  <a:srgbClr val="FF6600"/>
                </a:solidFill>
                <a:effectLst/>
              </a:rPr>
              <a:t> </a:t>
            </a:r>
            <a:r>
              <a:rPr lang="en-GB" altLang="en-US" sz="1700" dirty="0">
                <a:solidFill>
                  <a:srgbClr val="FF6600"/>
                </a:solidFill>
                <a:effectLst/>
              </a:rPr>
              <a:t>-</a:t>
            </a:r>
            <a:r>
              <a:rPr lang="en-GB" altLang="en-US" sz="800" dirty="0">
                <a:solidFill>
                  <a:srgbClr val="FF6600"/>
                </a:solidFill>
                <a:effectLst/>
              </a:rPr>
              <a:t> </a:t>
            </a:r>
            <a:r>
              <a:rPr lang="en-GB" altLang="en-US" sz="1700" dirty="0">
                <a:solidFill>
                  <a:srgbClr val="FF6600"/>
                </a:solidFill>
                <a:effectLst/>
              </a:rPr>
              <a:t>surfaces</a:t>
            </a:r>
            <a:r>
              <a:rPr lang="en-GB" altLang="en-US" sz="1700" dirty="0">
                <a:effectLst/>
              </a:rPr>
              <a:t>) forms </a:t>
            </a:r>
            <a:r>
              <a:rPr lang="en-GB" altLang="en-US" sz="1700" dirty="0">
                <a:solidFill>
                  <a:srgbClr val="FF66CC"/>
                </a:solidFill>
                <a:effectLst/>
              </a:rPr>
              <a:t>parallel</a:t>
            </a:r>
            <a:r>
              <a:rPr lang="en-GB" altLang="en-US" sz="1700" dirty="0">
                <a:effectLst/>
              </a:rPr>
              <a:t> to the shear zone walls. These deflect the main foliation (</a:t>
            </a:r>
            <a:r>
              <a:rPr lang="en-GB" altLang="en-US" sz="1700" dirty="0">
                <a:solidFill>
                  <a:srgbClr val="FF6600"/>
                </a:solidFill>
                <a:effectLst/>
              </a:rPr>
              <a:t>S</a:t>
            </a:r>
            <a:r>
              <a:rPr lang="en-GB" altLang="en-US" sz="800" dirty="0">
                <a:solidFill>
                  <a:srgbClr val="FF6600"/>
                </a:solidFill>
                <a:effectLst/>
              </a:rPr>
              <a:t> </a:t>
            </a:r>
            <a:r>
              <a:rPr lang="en-GB" altLang="en-US" sz="1700" dirty="0">
                <a:solidFill>
                  <a:srgbClr val="FF6600"/>
                </a:solidFill>
                <a:effectLst/>
              </a:rPr>
              <a:t>-</a:t>
            </a:r>
            <a:r>
              <a:rPr lang="en-GB" altLang="en-US" sz="800" dirty="0">
                <a:solidFill>
                  <a:srgbClr val="FF6600"/>
                </a:solidFill>
                <a:effectLst/>
              </a:rPr>
              <a:t> </a:t>
            </a:r>
            <a:r>
              <a:rPr lang="en-GB" altLang="en-US" sz="1700" dirty="0">
                <a:solidFill>
                  <a:srgbClr val="FF6600"/>
                </a:solidFill>
                <a:effectLst/>
              </a:rPr>
              <a:t>surface</a:t>
            </a:r>
            <a:r>
              <a:rPr lang="en-GB" altLang="en-US" sz="1700" dirty="0">
                <a:effectLst/>
              </a:rPr>
              <a:t>) in the same sense as the shear sense</a:t>
            </a:r>
          </a:p>
          <a:p>
            <a:pPr marL="177800" indent="-177800">
              <a:spcBef>
                <a:spcPct val="50000"/>
              </a:spcBef>
            </a:pPr>
            <a:r>
              <a:rPr lang="en-GB" altLang="en-US" sz="1700" dirty="0">
                <a:effectLst/>
              </a:rPr>
              <a:t>With further increase in strain, the angle between the C and S surfaces becomes very small, and a new set of shear bands (</a:t>
            </a:r>
            <a:r>
              <a:rPr lang="en-GB" altLang="en-US" sz="1700" dirty="0">
                <a:solidFill>
                  <a:srgbClr val="FF6600"/>
                </a:solidFill>
                <a:effectLst/>
              </a:rPr>
              <a:t>C´-</a:t>
            </a:r>
            <a:r>
              <a:rPr lang="en-GB" altLang="en-US" sz="800" dirty="0">
                <a:solidFill>
                  <a:srgbClr val="FF6600"/>
                </a:solidFill>
                <a:effectLst/>
              </a:rPr>
              <a:t> </a:t>
            </a:r>
            <a:r>
              <a:rPr lang="en-GB" altLang="en-US" sz="1700" dirty="0">
                <a:solidFill>
                  <a:srgbClr val="FF6600"/>
                </a:solidFill>
                <a:effectLst/>
              </a:rPr>
              <a:t>surfaces</a:t>
            </a:r>
            <a:r>
              <a:rPr lang="en-GB" altLang="en-US" sz="1700" dirty="0">
                <a:effectLst/>
              </a:rPr>
              <a:t>) forms at </a:t>
            </a:r>
            <a:r>
              <a:rPr lang="en-GB" altLang="en-US" sz="1700" dirty="0">
                <a:solidFill>
                  <a:srgbClr val="FF66CC"/>
                </a:solidFill>
                <a:effectLst/>
              </a:rPr>
              <a:t>1</a:t>
            </a:r>
            <a:r>
              <a:rPr lang="en-GB" altLang="en-US" sz="1700" spc="250" dirty="0">
                <a:solidFill>
                  <a:srgbClr val="FF66CC"/>
                </a:solidFill>
                <a:effectLst/>
              </a:rPr>
              <a:t>5-</a:t>
            </a:r>
            <a:r>
              <a:rPr lang="en-GB" altLang="en-US" sz="1700" dirty="0">
                <a:solidFill>
                  <a:srgbClr val="FF66CC"/>
                </a:solidFill>
                <a:effectLst/>
              </a:rPr>
              <a:t>35°</a:t>
            </a:r>
            <a:r>
              <a:rPr lang="en-GB" altLang="en-US" sz="1700" dirty="0">
                <a:effectLst/>
              </a:rPr>
              <a:t> to the shear zone walls</a:t>
            </a:r>
            <a:endParaRPr lang="en-GB" altLang="en-US" sz="1700" dirty="0">
              <a:solidFill>
                <a:srgbClr val="FF6600"/>
              </a:solidFill>
              <a:effectLst/>
            </a:endParaRPr>
          </a:p>
          <a:p>
            <a:pPr marL="177800" indent="-177800">
              <a:spcBef>
                <a:spcPct val="50000"/>
              </a:spcBef>
            </a:pPr>
            <a:r>
              <a:rPr lang="en-GB" altLang="en-US" sz="1700" dirty="0"/>
              <a:t>Across the C´-</a:t>
            </a:r>
            <a:r>
              <a:rPr lang="en-GB" altLang="en-US" sz="800" dirty="0"/>
              <a:t> </a:t>
            </a:r>
            <a:r>
              <a:rPr lang="en-GB" altLang="en-US" sz="1700" dirty="0"/>
              <a:t>surfaces the sense of deflection of the main foliation is </a:t>
            </a:r>
            <a:r>
              <a:rPr lang="en-GB" altLang="en-US" sz="1700" dirty="0">
                <a:solidFill>
                  <a:srgbClr val="FF66CC"/>
                </a:solidFill>
              </a:rPr>
              <a:t>extensional</a:t>
            </a:r>
            <a:r>
              <a:rPr lang="en-GB" altLang="en-US" sz="1700" dirty="0"/>
              <a:t>, and in the same general direction as the shear sense </a:t>
            </a:r>
            <a:r>
              <a:rPr lang="en-GB" altLang="en-US" sz="1700" dirty="0">
                <a:solidFill>
                  <a:srgbClr val="FF66CC"/>
                </a:solidFill>
              </a:rPr>
              <a:t>(= extensional crenulation cleavage)</a:t>
            </a:r>
          </a:p>
        </p:txBody>
      </p:sp>
      <p:pic>
        <p:nvPicPr>
          <p:cNvPr id="22532" name="Picture 9" descr="08b">
            <a:extLst>
              <a:ext uri="{FF2B5EF4-FFF2-40B4-BE49-F238E27FC236}">
                <a16:creationId xmlns:a16="http://schemas.microsoft.com/office/drawing/2014/main" id="{E41FC666-7243-45AF-9589-8D005985CC28}"/>
              </a:ext>
            </a:extLst>
          </p:cNvPr>
          <p:cNvPicPr>
            <a:picLocks noGrp="1" noChangeAspect="1" noChangeArrowheads="1"/>
          </p:cNvPicPr>
          <p:nvPr>
            <p:ph sz="quarter" idx="2"/>
          </p:nvPr>
        </p:nvPicPr>
        <p:blipFill>
          <a:blip r:embed="rId3">
            <a:lum bright="-10000"/>
            <a:extLst>
              <a:ext uri="{28A0092B-C50C-407E-A947-70E740481C1C}">
                <a14:useLocalDpi xmlns:a14="http://schemas.microsoft.com/office/drawing/2010/main" val="0"/>
              </a:ext>
            </a:extLst>
          </a:blip>
          <a:srcRect/>
          <a:stretch>
            <a:fillRect/>
          </a:stretch>
        </p:blipFill>
        <p:spPr>
          <a:xfrm>
            <a:off x="3900488" y="3127375"/>
            <a:ext cx="5049837" cy="3552825"/>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24275" name="Rectangle 19">
            <a:extLst>
              <a:ext uri="{FF2B5EF4-FFF2-40B4-BE49-F238E27FC236}">
                <a16:creationId xmlns:a16="http://schemas.microsoft.com/office/drawing/2014/main" id="{8580B3B5-C085-46ED-9C35-90AF775C144D}"/>
              </a:ext>
            </a:extLst>
          </p:cNvPr>
          <p:cNvSpPr>
            <a:spLocks noChangeArrowheads="1"/>
          </p:cNvSpPr>
          <p:nvPr/>
        </p:nvSpPr>
        <p:spPr bwMode="auto">
          <a:xfrm>
            <a:off x="4133850" y="5503863"/>
            <a:ext cx="177800" cy="184150"/>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GB">
              <a:latin typeface="Helvetica" charset="0"/>
            </a:endParaRPr>
          </a:p>
        </p:txBody>
      </p:sp>
      <p:sp>
        <p:nvSpPr>
          <p:cNvPr id="224276" name="Rectangle 20">
            <a:extLst>
              <a:ext uri="{FF2B5EF4-FFF2-40B4-BE49-F238E27FC236}">
                <a16:creationId xmlns:a16="http://schemas.microsoft.com/office/drawing/2014/main" id="{FDEAF94B-E2EA-4B8C-BFF0-FD0A55A30A8F}"/>
              </a:ext>
            </a:extLst>
          </p:cNvPr>
          <p:cNvSpPr>
            <a:spLocks noChangeArrowheads="1"/>
          </p:cNvSpPr>
          <p:nvPr/>
        </p:nvSpPr>
        <p:spPr bwMode="auto">
          <a:xfrm>
            <a:off x="5475288" y="5867400"/>
            <a:ext cx="274637" cy="223838"/>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GB">
              <a:latin typeface="Helvetica" charset="0"/>
            </a:endParaRPr>
          </a:p>
        </p:txBody>
      </p:sp>
      <p:sp>
        <p:nvSpPr>
          <p:cNvPr id="224270" name="Freeform 14">
            <a:extLst>
              <a:ext uri="{FF2B5EF4-FFF2-40B4-BE49-F238E27FC236}">
                <a16:creationId xmlns:a16="http://schemas.microsoft.com/office/drawing/2014/main" id="{FE3F43F4-419B-4FFE-AE5D-31AD3EA85925}"/>
              </a:ext>
            </a:extLst>
          </p:cNvPr>
          <p:cNvSpPr>
            <a:spLocks/>
          </p:cNvSpPr>
          <p:nvPr/>
        </p:nvSpPr>
        <p:spPr bwMode="auto">
          <a:xfrm>
            <a:off x="4445000" y="5411788"/>
            <a:ext cx="1177925" cy="200025"/>
          </a:xfrm>
          <a:custGeom>
            <a:avLst/>
            <a:gdLst>
              <a:gd name="T0" fmla="*/ 0 w 603"/>
              <a:gd name="T1" fmla="*/ 97 h 97"/>
              <a:gd name="T2" fmla="*/ 115 w 603"/>
              <a:gd name="T3" fmla="*/ 67 h 97"/>
              <a:gd name="T4" fmla="*/ 192 w 603"/>
              <a:gd name="T5" fmla="*/ 57 h 97"/>
              <a:gd name="T6" fmla="*/ 276 w 603"/>
              <a:gd name="T7" fmla="*/ 73 h 97"/>
              <a:gd name="T8" fmla="*/ 345 w 603"/>
              <a:gd name="T9" fmla="*/ 79 h 97"/>
              <a:gd name="T10" fmla="*/ 397 w 603"/>
              <a:gd name="T11" fmla="*/ 63 h 97"/>
              <a:gd name="T12" fmla="*/ 460 w 603"/>
              <a:gd name="T13" fmla="*/ 13 h 97"/>
              <a:gd name="T14" fmla="*/ 603 w 603"/>
              <a:gd name="T15" fmla="*/ 0 h 9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03" h="97">
                <a:moveTo>
                  <a:pt x="0" y="97"/>
                </a:moveTo>
                <a:cubicBezTo>
                  <a:pt x="41" y="85"/>
                  <a:pt x="83" y="74"/>
                  <a:pt x="115" y="67"/>
                </a:cubicBezTo>
                <a:cubicBezTo>
                  <a:pt x="147" y="60"/>
                  <a:pt x="165" y="56"/>
                  <a:pt x="192" y="57"/>
                </a:cubicBezTo>
                <a:cubicBezTo>
                  <a:pt x="219" y="58"/>
                  <a:pt x="251" y="69"/>
                  <a:pt x="276" y="73"/>
                </a:cubicBezTo>
                <a:cubicBezTo>
                  <a:pt x="301" y="77"/>
                  <a:pt x="325" y="81"/>
                  <a:pt x="345" y="79"/>
                </a:cubicBezTo>
                <a:cubicBezTo>
                  <a:pt x="365" y="77"/>
                  <a:pt x="378" y="74"/>
                  <a:pt x="397" y="63"/>
                </a:cubicBezTo>
                <a:cubicBezTo>
                  <a:pt x="416" y="52"/>
                  <a:pt x="426" y="23"/>
                  <a:pt x="460" y="13"/>
                </a:cubicBezTo>
                <a:cubicBezTo>
                  <a:pt x="494" y="3"/>
                  <a:pt x="579" y="2"/>
                  <a:pt x="603" y="0"/>
                </a:cubicBezTo>
              </a:path>
            </a:pathLst>
          </a:custGeom>
          <a:noFill/>
          <a:ln w="38100" cap="flat" cmpd="sng">
            <a:solidFill>
              <a:srgbClr val="FF66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GB">
              <a:latin typeface="Helvetica" charset="0"/>
            </a:endParaRPr>
          </a:p>
        </p:txBody>
      </p:sp>
      <p:sp>
        <p:nvSpPr>
          <p:cNvPr id="224271" name="Line 15">
            <a:extLst>
              <a:ext uri="{FF2B5EF4-FFF2-40B4-BE49-F238E27FC236}">
                <a16:creationId xmlns:a16="http://schemas.microsoft.com/office/drawing/2014/main" id="{26E81408-13CC-4A9D-8278-DC4009051EC7}"/>
              </a:ext>
            </a:extLst>
          </p:cNvPr>
          <p:cNvSpPr>
            <a:spLocks noChangeShapeType="1"/>
          </p:cNvSpPr>
          <p:nvPr/>
        </p:nvSpPr>
        <p:spPr bwMode="auto">
          <a:xfrm>
            <a:off x="4443413" y="5159375"/>
            <a:ext cx="996950" cy="735013"/>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GB">
              <a:latin typeface="Helvetica" charset="0"/>
            </a:endParaRPr>
          </a:p>
        </p:txBody>
      </p:sp>
      <p:sp>
        <p:nvSpPr>
          <p:cNvPr id="224272" name="Freeform 16">
            <a:extLst>
              <a:ext uri="{FF2B5EF4-FFF2-40B4-BE49-F238E27FC236}">
                <a16:creationId xmlns:a16="http://schemas.microsoft.com/office/drawing/2014/main" id="{586B6685-0A1E-4D91-B96C-BAE5FB5E71E0}"/>
              </a:ext>
            </a:extLst>
          </p:cNvPr>
          <p:cNvSpPr>
            <a:spLocks/>
          </p:cNvSpPr>
          <p:nvPr/>
        </p:nvSpPr>
        <p:spPr bwMode="auto">
          <a:xfrm rot="-228844">
            <a:off x="4824413" y="5322888"/>
            <a:ext cx="144462" cy="120650"/>
          </a:xfrm>
          <a:custGeom>
            <a:avLst/>
            <a:gdLst>
              <a:gd name="T0" fmla="*/ 0 w 63"/>
              <a:gd name="T1" fmla="*/ 0 h 42"/>
              <a:gd name="T2" fmla="*/ 61 w 63"/>
              <a:gd name="T3" fmla="*/ 42 h 42"/>
              <a:gd name="T4" fmla="*/ 63 w 63"/>
              <a:gd name="T5" fmla="*/ 15 h 42"/>
            </a:gdLst>
            <a:ahLst/>
            <a:cxnLst>
              <a:cxn ang="0">
                <a:pos x="T0" y="T1"/>
              </a:cxn>
              <a:cxn ang="0">
                <a:pos x="T2" y="T3"/>
              </a:cxn>
              <a:cxn ang="0">
                <a:pos x="T4" y="T5"/>
              </a:cxn>
            </a:cxnLst>
            <a:rect l="0" t="0" r="r" b="b"/>
            <a:pathLst>
              <a:path w="63" h="42">
                <a:moveTo>
                  <a:pt x="0" y="0"/>
                </a:moveTo>
                <a:lnTo>
                  <a:pt x="61" y="42"/>
                </a:lnTo>
                <a:lnTo>
                  <a:pt x="63" y="15"/>
                </a:lnTo>
              </a:path>
            </a:pathLst>
          </a:custGeom>
          <a:noFill/>
          <a:ln w="19050"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GB">
              <a:latin typeface="Helvetica" charset="0"/>
            </a:endParaRPr>
          </a:p>
        </p:txBody>
      </p:sp>
      <p:sp>
        <p:nvSpPr>
          <p:cNvPr id="22538" name="Text Box 17">
            <a:extLst>
              <a:ext uri="{FF2B5EF4-FFF2-40B4-BE49-F238E27FC236}">
                <a16:creationId xmlns:a16="http://schemas.microsoft.com/office/drawing/2014/main" id="{69C6E509-3D36-4F81-BBE9-CFF338F5A3D5}"/>
              </a:ext>
            </a:extLst>
          </p:cNvPr>
          <p:cNvSpPr txBox="1">
            <a:spLocks noChangeArrowheads="1"/>
          </p:cNvSpPr>
          <p:nvPr/>
        </p:nvSpPr>
        <p:spPr bwMode="auto">
          <a:xfrm>
            <a:off x="5403850" y="5794375"/>
            <a:ext cx="51593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spcBef>
                <a:spcPct val="50000"/>
              </a:spcBef>
            </a:pPr>
            <a:r>
              <a:rPr lang="en-GB" altLang="en-US" b="1">
                <a:solidFill>
                  <a:srgbClr val="FF0000"/>
                </a:solidFill>
                <a:effectLst/>
                <a:latin typeface="Arial" panose="020B0604020202020204" pitchFamily="34" charset="0"/>
              </a:rPr>
              <a:t>C´</a:t>
            </a:r>
          </a:p>
        </p:txBody>
      </p:sp>
      <p:sp>
        <p:nvSpPr>
          <p:cNvPr id="22539" name="Text Box 18">
            <a:extLst>
              <a:ext uri="{FF2B5EF4-FFF2-40B4-BE49-F238E27FC236}">
                <a16:creationId xmlns:a16="http://schemas.microsoft.com/office/drawing/2014/main" id="{C6D66AD2-F91B-40F2-AA1F-497EE3487949}"/>
              </a:ext>
            </a:extLst>
          </p:cNvPr>
          <p:cNvSpPr txBox="1">
            <a:spLocks noChangeArrowheads="1"/>
          </p:cNvSpPr>
          <p:nvPr/>
        </p:nvSpPr>
        <p:spPr bwMode="auto">
          <a:xfrm>
            <a:off x="4043363" y="5410200"/>
            <a:ext cx="51593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spcBef>
                <a:spcPct val="50000"/>
              </a:spcBef>
            </a:pPr>
            <a:r>
              <a:rPr lang="en-GB" altLang="en-US" b="1">
                <a:solidFill>
                  <a:srgbClr val="FF6600"/>
                </a:solidFill>
                <a:effectLst/>
                <a:latin typeface="Arial" panose="020B0604020202020204" pitchFamily="34" charset="0"/>
              </a:rPr>
              <a:t>S</a:t>
            </a:r>
          </a:p>
        </p:txBody>
      </p:sp>
      <p:sp>
        <p:nvSpPr>
          <p:cNvPr id="224278" name="Freeform 22">
            <a:extLst>
              <a:ext uri="{FF2B5EF4-FFF2-40B4-BE49-F238E27FC236}">
                <a16:creationId xmlns:a16="http://schemas.microsoft.com/office/drawing/2014/main" id="{94C94AAF-3AA4-48AA-9131-F3FD591C224F}"/>
              </a:ext>
            </a:extLst>
          </p:cNvPr>
          <p:cNvSpPr>
            <a:spLocks/>
          </p:cNvSpPr>
          <p:nvPr/>
        </p:nvSpPr>
        <p:spPr bwMode="auto">
          <a:xfrm>
            <a:off x="7558088" y="2754313"/>
            <a:ext cx="1104900" cy="161925"/>
          </a:xfrm>
          <a:custGeom>
            <a:avLst/>
            <a:gdLst>
              <a:gd name="T0" fmla="*/ 0 w 565"/>
              <a:gd name="T1" fmla="*/ 79 h 79"/>
              <a:gd name="T2" fmla="*/ 565 w 565"/>
              <a:gd name="T3" fmla="*/ 79 h 79"/>
              <a:gd name="T4" fmla="*/ 452 w 565"/>
              <a:gd name="T5" fmla="*/ 0 h 79"/>
            </a:gdLst>
            <a:ahLst/>
            <a:cxnLst>
              <a:cxn ang="0">
                <a:pos x="T0" y="T1"/>
              </a:cxn>
              <a:cxn ang="0">
                <a:pos x="T2" y="T3"/>
              </a:cxn>
              <a:cxn ang="0">
                <a:pos x="T4" y="T5"/>
              </a:cxn>
            </a:cxnLst>
            <a:rect l="0" t="0" r="r" b="b"/>
            <a:pathLst>
              <a:path w="565" h="79">
                <a:moveTo>
                  <a:pt x="0" y="79"/>
                </a:moveTo>
                <a:lnTo>
                  <a:pt x="565" y="79"/>
                </a:lnTo>
                <a:lnTo>
                  <a:pt x="452" y="0"/>
                </a:lnTo>
              </a:path>
            </a:pathLst>
          </a:custGeom>
          <a:noFill/>
          <a:ln w="38100"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GB">
              <a:latin typeface="Helvetica" charset="0"/>
            </a:endParaRPr>
          </a:p>
        </p:txBody>
      </p:sp>
      <p:pic>
        <p:nvPicPr>
          <p:cNvPr id="22541" name="Picture 35" descr="08a2">
            <a:extLst>
              <a:ext uri="{FF2B5EF4-FFF2-40B4-BE49-F238E27FC236}">
                <a16:creationId xmlns:a16="http://schemas.microsoft.com/office/drawing/2014/main" id="{60CD5466-C0C1-48E3-9D77-726E4B8A9190}"/>
              </a:ext>
            </a:extLst>
          </p:cNvPr>
          <p:cNvPicPr>
            <a:picLocks noGrp="1" noChangeAspect="1" noChangeArrowheads="1"/>
          </p:cNvPicPr>
          <p:nvPr>
            <p:ph sz="quarter" idx="3"/>
          </p:nvPr>
        </p:nvPicPr>
        <p:blipFill>
          <a:blip r:embed="rId4">
            <a:extLst>
              <a:ext uri="{28A0092B-C50C-407E-A947-70E740481C1C}">
                <a14:useLocalDpi xmlns:a14="http://schemas.microsoft.com/office/drawing/2010/main" val="0"/>
              </a:ext>
            </a:extLst>
          </a:blip>
          <a:srcRect/>
          <a:stretch>
            <a:fillRect/>
          </a:stretch>
        </p:blipFill>
        <p:spPr>
          <a:xfrm>
            <a:off x="4148138" y="992188"/>
            <a:ext cx="2952750" cy="1884362"/>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24293" name="Freeform 37">
            <a:extLst>
              <a:ext uri="{FF2B5EF4-FFF2-40B4-BE49-F238E27FC236}">
                <a16:creationId xmlns:a16="http://schemas.microsoft.com/office/drawing/2014/main" id="{EE2E73A6-66D5-499F-A31B-FC2598735F4E}"/>
              </a:ext>
            </a:extLst>
          </p:cNvPr>
          <p:cNvSpPr>
            <a:spLocks/>
          </p:cNvSpPr>
          <p:nvPr/>
        </p:nvSpPr>
        <p:spPr bwMode="auto">
          <a:xfrm rot="-1035656">
            <a:off x="6302375" y="2176463"/>
            <a:ext cx="144463" cy="120650"/>
          </a:xfrm>
          <a:custGeom>
            <a:avLst/>
            <a:gdLst>
              <a:gd name="T0" fmla="*/ 0 w 63"/>
              <a:gd name="T1" fmla="*/ 0 h 42"/>
              <a:gd name="T2" fmla="*/ 61 w 63"/>
              <a:gd name="T3" fmla="*/ 42 h 42"/>
              <a:gd name="T4" fmla="*/ 63 w 63"/>
              <a:gd name="T5" fmla="*/ 15 h 42"/>
            </a:gdLst>
            <a:ahLst/>
            <a:cxnLst>
              <a:cxn ang="0">
                <a:pos x="T0" y="T1"/>
              </a:cxn>
              <a:cxn ang="0">
                <a:pos x="T2" y="T3"/>
              </a:cxn>
              <a:cxn ang="0">
                <a:pos x="T4" y="T5"/>
              </a:cxn>
            </a:cxnLst>
            <a:rect l="0" t="0" r="r" b="b"/>
            <a:pathLst>
              <a:path w="63" h="42">
                <a:moveTo>
                  <a:pt x="0" y="0"/>
                </a:moveTo>
                <a:lnTo>
                  <a:pt x="61" y="42"/>
                </a:lnTo>
                <a:lnTo>
                  <a:pt x="63" y="15"/>
                </a:lnTo>
              </a:path>
            </a:pathLst>
          </a:custGeom>
          <a:noFill/>
          <a:ln w="19050"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GB">
              <a:latin typeface="Helvetica" charset="0"/>
            </a:endParaRPr>
          </a:p>
        </p:txBody>
      </p:sp>
      <p:sp>
        <p:nvSpPr>
          <p:cNvPr id="224294" name="Freeform 38">
            <a:extLst>
              <a:ext uri="{FF2B5EF4-FFF2-40B4-BE49-F238E27FC236}">
                <a16:creationId xmlns:a16="http://schemas.microsoft.com/office/drawing/2014/main" id="{80ED8048-3D10-4E91-A6F9-C671052929A7}"/>
              </a:ext>
            </a:extLst>
          </p:cNvPr>
          <p:cNvSpPr>
            <a:spLocks/>
          </p:cNvSpPr>
          <p:nvPr/>
        </p:nvSpPr>
        <p:spPr bwMode="auto">
          <a:xfrm rot="-1216049">
            <a:off x="6608763" y="1611313"/>
            <a:ext cx="144462" cy="120650"/>
          </a:xfrm>
          <a:custGeom>
            <a:avLst/>
            <a:gdLst>
              <a:gd name="T0" fmla="*/ 0 w 63"/>
              <a:gd name="T1" fmla="*/ 0 h 42"/>
              <a:gd name="T2" fmla="*/ 61 w 63"/>
              <a:gd name="T3" fmla="*/ 42 h 42"/>
              <a:gd name="T4" fmla="*/ 63 w 63"/>
              <a:gd name="T5" fmla="*/ 15 h 42"/>
            </a:gdLst>
            <a:ahLst/>
            <a:cxnLst>
              <a:cxn ang="0">
                <a:pos x="T0" y="T1"/>
              </a:cxn>
              <a:cxn ang="0">
                <a:pos x="T2" y="T3"/>
              </a:cxn>
              <a:cxn ang="0">
                <a:pos x="T4" y="T5"/>
              </a:cxn>
            </a:cxnLst>
            <a:rect l="0" t="0" r="r" b="b"/>
            <a:pathLst>
              <a:path w="63" h="42">
                <a:moveTo>
                  <a:pt x="0" y="0"/>
                </a:moveTo>
                <a:lnTo>
                  <a:pt x="61" y="42"/>
                </a:lnTo>
                <a:lnTo>
                  <a:pt x="63" y="15"/>
                </a:lnTo>
              </a:path>
            </a:pathLst>
          </a:custGeom>
          <a:noFill/>
          <a:ln w="19050"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GB">
              <a:latin typeface="Helvetica" charset="0"/>
            </a:endParaRPr>
          </a:p>
        </p:txBody>
      </p:sp>
      <p:pic>
        <p:nvPicPr>
          <p:cNvPr id="16" name="Picture 21">
            <a:extLst>
              <a:ext uri="{FF2B5EF4-FFF2-40B4-BE49-F238E27FC236}">
                <a16:creationId xmlns:a16="http://schemas.microsoft.com/office/drawing/2014/main" id="{B96710CF-93B5-4E20-8B7B-D61308852B6A}"/>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rot="19380875" flipH="1">
            <a:off x="7746157" y="1309982"/>
            <a:ext cx="742950" cy="620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 name="Freeform 11">
            <a:extLst>
              <a:ext uri="{FF2B5EF4-FFF2-40B4-BE49-F238E27FC236}">
                <a16:creationId xmlns:a16="http://schemas.microsoft.com/office/drawing/2014/main" id="{2B568A46-AE11-4D9F-B814-19A4296F86A0}"/>
              </a:ext>
            </a:extLst>
          </p:cNvPr>
          <p:cNvSpPr>
            <a:spLocks/>
          </p:cNvSpPr>
          <p:nvPr/>
        </p:nvSpPr>
        <p:spPr bwMode="auto">
          <a:xfrm rot="4495078" flipH="1">
            <a:off x="8070007" y="939520"/>
            <a:ext cx="95250" cy="266700"/>
          </a:xfrm>
          <a:custGeom>
            <a:avLst/>
            <a:gdLst>
              <a:gd name="T0" fmla="*/ 33 w 42"/>
              <a:gd name="T1" fmla="*/ 168 h 168"/>
              <a:gd name="T2" fmla="*/ 0 w 42"/>
              <a:gd name="T3" fmla="*/ 0 h 168"/>
              <a:gd name="T4" fmla="*/ 42 w 42"/>
              <a:gd name="T5" fmla="*/ 36 h 168"/>
            </a:gdLst>
            <a:ahLst/>
            <a:cxnLst>
              <a:cxn ang="0">
                <a:pos x="T0" y="T1"/>
              </a:cxn>
              <a:cxn ang="0">
                <a:pos x="T2" y="T3"/>
              </a:cxn>
              <a:cxn ang="0">
                <a:pos x="T4" y="T5"/>
              </a:cxn>
            </a:cxnLst>
            <a:rect l="0" t="0" r="r" b="b"/>
            <a:pathLst>
              <a:path w="42" h="168">
                <a:moveTo>
                  <a:pt x="33" y="168"/>
                </a:moveTo>
                <a:lnTo>
                  <a:pt x="0" y="0"/>
                </a:lnTo>
                <a:lnTo>
                  <a:pt x="42" y="36"/>
                </a:lnTo>
              </a:path>
            </a:pathLst>
          </a:custGeom>
          <a:noFill/>
          <a:ln w="28575"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GB">
              <a:latin typeface="Helvetica" charset="0"/>
            </a:endParaRPr>
          </a:p>
        </p:txBody>
      </p:sp>
      <p:sp>
        <p:nvSpPr>
          <p:cNvPr id="18" name="Freeform 12">
            <a:extLst>
              <a:ext uri="{FF2B5EF4-FFF2-40B4-BE49-F238E27FC236}">
                <a16:creationId xmlns:a16="http://schemas.microsoft.com/office/drawing/2014/main" id="{88563D16-54B8-48F6-BE29-109B4CE58283}"/>
              </a:ext>
            </a:extLst>
          </p:cNvPr>
          <p:cNvSpPr>
            <a:spLocks/>
          </p:cNvSpPr>
          <p:nvPr/>
        </p:nvSpPr>
        <p:spPr bwMode="auto">
          <a:xfrm rot="15295078" flipH="1">
            <a:off x="8084760" y="2063950"/>
            <a:ext cx="95250" cy="266700"/>
          </a:xfrm>
          <a:custGeom>
            <a:avLst/>
            <a:gdLst>
              <a:gd name="T0" fmla="*/ 33 w 42"/>
              <a:gd name="T1" fmla="*/ 168 h 168"/>
              <a:gd name="T2" fmla="*/ 0 w 42"/>
              <a:gd name="T3" fmla="*/ 0 h 168"/>
              <a:gd name="T4" fmla="*/ 42 w 42"/>
              <a:gd name="T5" fmla="*/ 36 h 168"/>
            </a:gdLst>
            <a:ahLst/>
            <a:cxnLst>
              <a:cxn ang="0">
                <a:pos x="T0" y="T1"/>
              </a:cxn>
              <a:cxn ang="0">
                <a:pos x="T2" y="T3"/>
              </a:cxn>
              <a:cxn ang="0">
                <a:pos x="T4" y="T5"/>
              </a:cxn>
            </a:cxnLst>
            <a:rect l="0" t="0" r="r" b="b"/>
            <a:pathLst>
              <a:path w="42" h="168">
                <a:moveTo>
                  <a:pt x="33" y="168"/>
                </a:moveTo>
                <a:lnTo>
                  <a:pt x="0" y="0"/>
                </a:lnTo>
                <a:lnTo>
                  <a:pt x="42" y="36"/>
                </a:lnTo>
              </a:path>
            </a:pathLst>
          </a:custGeom>
          <a:noFill/>
          <a:ln w="28575"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GB">
              <a:latin typeface="Helvetica" charset="0"/>
            </a:endParaRPr>
          </a:p>
        </p:txBody>
      </p:sp>
    </p:spTree>
  </p:cSld>
  <p:clrMapOvr>
    <a:masterClrMapping/>
  </p:clrMapOvr>
  <p:transition spd="slow"/>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A0FEA6C3-3EE0-4519-87CD-4685DF564BFD}"/>
              </a:ext>
            </a:extLst>
          </p:cNvPr>
          <p:cNvSpPr>
            <a:spLocks noGrp="1" noChangeArrowheads="1"/>
          </p:cNvSpPr>
          <p:nvPr>
            <p:ph type="title"/>
          </p:nvPr>
        </p:nvSpPr>
        <p:spPr>
          <a:noFill/>
        </p:spPr>
        <p:txBody>
          <a:bodyPr/>
          <a:lstStyle/>
          <a:p>
            <a:r>
              <a:rPr lang="en-GB" altLang="en-US" spc="300" dirty="0">
                <a:effectLst/>
              </a:rPr>
              <a:t>S</a:t>
            </a:r>
            <a:r>
              <a:rPr lang="en-GB" altLang="en-US" spc="400" dirty="0">
                <a:effectLst/>
              </a:rPr>
              <a:t>-</a:t>
            </a:r>
            <a:r>
              <a:rPr lang="en-GB" altLang="en-US" dirty="0">
                <a:effectLst/>
              </a:rPr>
              <a:t>C fabrics (further examples)</a:t>
            </a:r>
          </a:p>
        </p:txBody>
      </p:sp>
      <p:sp>
        <p:nvSpPr>
          <p:cNvPr id="385027" name="Rectangle 3">
            <a:extLst>
              <a:ext uri="{FF2B5EF4-FFF2-40B4-BE49-F238E27FC236}">
                <a16:creationId xmlns:a16="http://schemas.microsoft.com/office/drawing/2014/main" id="{0E420FED-A856-4BE8-949B-FC9CB9346681}"/>
              </a:ext>
            </a:extLst>
          </p:cNvPr>
          <p:cNvSpPr>
            <a:spLocks noGrp="1" noChangeArrowheads="1"/>
          </p:cNvSpPr>
          <p:nvPr>
            <p:ph type="body" sz="half" idx="1"/>
          </p:nvPr>
        </p:nvSpPr>
        <p:spPr>
          <a:xfrm>
            <a:off x="127000" y="771525"/>
            <a:ext cx="5292725" cy="1087438"/>
          </a:xfrm>
        </p:spPr>
        <p:txBody>
          <a:bodyPr/>
          <a:lstStyle/>
          <a:p>
            <a:pPr marL="177800" indent="-177800">
              <a:spcBef>
                <a:spcPct val="50000"/>
              </a:spcBef>
            </a:pPr>
            <a:r>
              <a:rPr lang="en-GB" altLang="en-US" sz="1700">
                <a:effectLst/>
              </a:rPr>
              <a:t>Shear zone rocks with these fabrics are described as </a:t>
            </a:r>
            <a:r>
              <a:rPr lang="en-GB" altLang="en-US" sz="1700">
                <a:solidFill>
                  <a:srgbClr val="FF6600"/>
                </a:solidFill>
                <a:effectLst/>
              </a:rPr>
              <a:t>S</a:t>
            </a:r>
            <a:r>
              <a:rPr lang="en-GB" altLang="en-US" sz="800">
                <a:solidFill>
                  <a:srgbClr val="FF6600"/>
                </a:solidFill>
                <a:effectLst/>
              </a:rPr>
              <a:t> </a:t>
            </a:r>
            <a:r>
              <a:rPr lang="en-GB" altLang="en-US" sz="1700">
                <a:solidFill>
                  <a:srgbClr val="FF6600"/>
                </a:solidFill>
                <a:effectLst/>
              </a:rPr>
              <a:t>-</a:t>
            </a:r>
            <a:r>
              <a:rPr lang="en-GB" altLang="en-US" sz="800">
                <a:solidFill>
                  <a:srgbClr val="FF6600"/>
                </a:solidFill>
                <a:effectLst/>
              </a:rPr>
              <a:t> </a:t>
            </a:r>
            <a:r>
              <a:rPr lang="en-GB" altLang="en-US" sz="1700">
                <a:solidFill>
                  <a:srgbClr val="FF6600"/>
                </a:solidFill>
                <a:effectLst/>
              </a:rPr>
              <a:t>C mylonites</a:t>
            </a:r>
            <a:r>
              <a:rPr lang="en-GB" altLang="en-US" sz="1700">
                <a:effectLst/>
              </a:rPr>
              <a:t> – these fabrics, particularly the C´ surfaces, make superb shear sense indicators</a:t>
            </a:r>
            <a:endParaRPr lang="en-GB" altLang="en-US" sz="1700">
              <a:solidFill>
                <a:srgbClr val="FF66CC"/>
              </a:solidFill>
            </a:endParaRPr>
          </a:p>
        </p:txBody>
      </p:sp>
      <p:pic>
        <p:nvPicPr>
          <p:cNvPr id="23556" name="Picture 18" descr="Platt">
            <a:extLst>
              <a:ext uri="{FF2B5EF4-FFF2-40B4-BE49-F238E27FC236}">
                <a16:creationId xmlns:a16="http://schemas.microsoft.com/office/drawing/2014/main" id="{D56EB8A7-5DE2-4DA7-BF94-56CC4D055E77}"/>
              </a:ext>
            </a:extLst>
          </p:cNvPr>
          <p:cNvPicPr>
            <a:picLocks noGrp="1" noChangeAspect="1" noChangeArrowheads="1"/>
          </p:cNvPicPr>
          <p:nvPr>
            <p:ph sz="quarter" idx="2"/>
          </p:nvPr>
        </p:nvPicPr>
        <p:blipFill>
          <a:blip r:embed="rId3">
            <a:extLst>
              <a:ext uri="{28A0092B-C50C-407E-A947-70E740481C1C}">
                <a14:useLocalDpi xmlns:a14="http://schemas.microsoft.com/office/drawing/2010/main" val="0"/>
              </a:ext>
            </a:extLst>
          </a:blip>
          <a:srcRect/>
          <a:stretch>
            <a:fillRect/>
          </a:stretch>
        </p:blipFill>
        <p:spPr>
          <a:xfrm>
            <a:off x="5770563" y="1004888"/>
            <a:ext cx="3136900" cy="2184400"/>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23557" name="Picture 20" descr="08c-Sheared granite">
            <a:extLst>
              <a:ext uri="{FF2B5EF4-FFF2-40B4-BE49-F238E27FC236}">
                <a16:creationId xmlns:a16="http://schemas.microsoft.com/office/drawing/2014/main" id="{B2972B0F-DC41-41A0-BD95-48FDDEAF2E9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49538" y="3400425"/>
            <a:ext cx="6267450" cy="3130550"/>
          </a:xfrm>
          <a:prstGeom prst="rect">
            <a:avLst/>
          </a:prstGeom>
          <a:noFill/>
          <a:ln w="38100">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85045" name="Rectangle 21">
            <a:extLst>
              <a:ext uri="{FF2B5EF4-FFF2-40B4-BE49-F238E27FC236}">
                <a16:creationId xmlns:a16="http://schemas.microsoft.com/office/drawing/2014/main" id="{704079A9-8BAD-45E2-B6A4-74FBFB14192F}"/>
              </a:ext>
            </a:extLst>
          </p:cNvPr>
          <p:cNvSpPr>
            <a:spLocks noChangeArrowheads="1"/>
          </p:cNvSpPr>
          <p:nvPr/>
        </p:nvSpPr>
        <p:spPr bwMode="auto">
          <a:xfrm>
            <a:off x="6965950" y="3883025"/>
            <a:ext cx="192088" cy="196850"/>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GB">
              <a:latin typeface="Helvetica" charset="0"/>
            </a:endParaRPr>
          </a:p>
        </p:txBody>
      </p:sp>
      <p:sp>
        <p:nvSpPr>
          <p:cNvPr id="385046" name="Rectangle 22">
            <a:extLst>
              <a:ext uri="{FF2B5EF4-FFF2-40B4-BE49-F238E27FC236}">
                <a16:creationId xmlns:a16="http://schemas.microsoft.com/office/drawing/2014/main" id="{91354D70-393A-4101-9A4F-6A5ED6A5E9F5}"/>
              </a:ext>
            </a:extLst>
          </p:cNvPr>
          <p:cNvSpPr>
            <a:spLocks noChangeArrowheads="1"/>
          </p:cNvSpPr>
          <p:nvPr/>
        </p:nvSpPr>
        <p:spPr bwMode="auto">
          <a:xfrm>
            <a:off x="8388350" y="3668713"/>
            <a:ext cx="300038" cy="223837"/>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GB">
              <a:latin typeface="Helvetica" charset="0"/>
            </a:endParaRPr>
          </a:p>
        </p:txBody>
      </p:sp>
      <p:sp>
        <p:nvSpPr>
          <p:cNvPr id="23560" name="Text Box 23">
            <a:extLst>
              <a:ext uri="{FF2B5EF4-FFF2-40B4-BE49-F238E27FC236}">
                <a16:creationId xmlns:a16="http://schemas.microsoft.com/office/drawing/2014/main" id="{F4FEFFC0-403A-42C4-AE1E-E2F075F79A17}"/>
              </a:ext>
            </a:extLst>
          </p:cNvPr>
          <p:cNvSpPr txBox="1">
            <a:spLocks noChangeArrowheads="1"/>
          </p:cNvSpPr>
          <p:nvPr/>
        </p:nvSpPr>
        <p:spPr bwMode="auto">
          <a:xfrm>
            <a:off x="8324850" y="3613150"/>
            <a:ext cx="446088"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spcBef>
                <a:spcPct val="50000"/>
              </a:spcBef>
            </a:pPr>
            <a:r>
              <a:rPr lang="en-GB" altLang="en-US" sz="1400" b="1">
                <a:solidFill>
                  <a:srgbClr val="FF0000"/>
                </a:solidFill>
                <a:effectLst/>
                <a:latin typeface="Arial" panose="020B0604020202020204" pitchFamily="34" charset="0"/>
              </a:rPr>
              <a:t>C´</a:t>
            </a:r>
          </a:p>
        </p:txBody>
      </p:sp>
      <p:sp>
        <p:nvSpPr>
          <p:cNvPr id="23561" name="Text Box 24">
            <a:extLst>
              <a:ext uri="{FF2B5EF4-FFF2-40B4-BE49-F238E27FC236}">
                <a16:creationId xmlns:a16="http://schemas.microsoft.com/office/drawing/2014/main" id="{0049050E-C58B-4735-9687-C8291B67ED2D}"/>
              </a:ext>
            </a:extLst>
          </p:cNvPr>
          <p:cNvSpPr txBox="1">
            <a:spLocks noChangeArrowheads="1"/>
          </p:cNvSpPr>
          <p:nvPr/>
        </p:nvSpPr>
        <p:spPr bwMode="auto">
          <a:xfrm>
            <a:off x="6897688" y="3821113"/>
            <a:ext cx="4445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spcBef>
                <a:spcPct val="50000"/>
              </a:spcBef>
            </a:pPr>
            <a:r>
              <a:rPr lang="en-GB" altLang="en-US" sz="1400" b="1">
                <a:solidFill>
                  <a:srgbClr val="FF6600"/>
                </a:solidFill>
                <a:effectLst/>
                <a:latin typeface="Arial" panose="020B0604020202020204" pitchFamily="34" charset="0"/>
              </a:rPr>
              <a:t>S</a:t>
            </a:r>
          </a:p>
        </p:txBody>
      </p:sp>
      <p:sp>
        <p:nvSpPr>
          <p:cNvPr id="385049" name="Line 25">
            <a:extLst>
              <a:ext uri="{FF2B5EF4-FFF2-40B4-BE49-F238E27FC236}">
                <a16:creationId xmlns:a16="http://schemas.microsoft.com/office/drawing/2014/main" id="{6E71406E-5897-4C4C-B64D-B0E907FA156C}"/>
              </a:ext>
            </a:extLst>
          </p:cNvPr>
          <p:cNvSpPr>
            <a:spLocks noChangeShapeType="1"/>
          </p:cNvSpPr>
          <p:nvPr/>
        </p:nvSpPr>
        <p:spPr bwMode="auto">
          <a:xfrm flipV="1">
            <a:off x="6884988" y="3917950"/>
            <a:ext cx="1447800" cy="563563"/>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GB">
              <a:latin typeface="Helvetica" charset="0"/>
            </a:endParaRPr>
          </a:p>
        </p:txBody>
      </p:sp>
      <p:sp>
        <p:nvSpPr>
          <p:cNvPr id="385050" name="Freeform 26">
            <a:extLst>
              <a:ext uri="{FF2B5EF4-FFF2-40B4-BE49-F238E27FC236}">
                <a16:creationId xmlns:a16="http://schemas.microsoft.com/office/drawing/2014/main" id="{FE244F97-3C08-4565-80A5-C4739E7820A9}"/>
              </a:ext>
            </a:extLst>
          </p:cNvPr>
          <p:cNvSpPr>
            <a:spLocks/>
          </p:cNvSpPr>
          <p:nvPr/>
        </p:nvSpPr>
        <p:spPr bwMode="auto">
          <a:xfrm>
            <a:off x="7789863" y="3917950"/>
            <a:ext cx="246062" cy="95250"/>
          </a:xfrm>
          <a:custGeom>
            <a:avLst/>
            <a:gdLst>
              <a:gd name="T0" fmla="*/ 146 w 146"/>
              <a:gd name="T1" fmla="*/ 0 h 62"/>
              <a:gd name="T2" fmla="*/ 0 w 146"/>
              <a:gd name="T3" fmla="*/ 62 h 62"/>
              <a:gd name="T4" fmla="*/ 22 w 146"/>
              <a:gd name="T5" fmla="*/ 0 h 62"/>
            </a:gdLst>
            <a:ahLst/>
            <a:cxnLst>
              <a:cxn ang="0">
                <a:pos x="T0" y="T1"/>
              </a:cxn>
              <a:cxn ang="0">
                <a:pos x="T2" y="T3"/>
              </a:cxn>
              <a:cxn ang="0">
                <a:pos x="T4" y="T5"/>
              </a:cxn>
            </a:cxnLst>
            <a:rect l="0" t="0" r="r" b="b"/>
            <a:pathLst>
              <a:path w="146" h="62">
                <a:moveTo>
                  <a:pt x="146" y="0"/>
                </a:moveTo>
                <a:lnTo>
                  <a:pt x="0" y="62"/>
                </a:lnTo>
                <a:lnTo>
                  <a:pt x="22" y="0"/>
                </a:lnTo>
              </a:path>
            </a:pathLst>
          </a:custGeom>
          <a:noFill/>
          <a:ln w="28575"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GB">
              <a:latin typeface="Helvetica" charset="0"/>
            </a:endParaRPr>
          </a:p>
        </p:txBody>
      </p:sp>
      <p:sp>
        <p:nvSpPr>
          <p:cNvPr id="385051" name="Line 27">
            <a:extLst>
              <a:ext uri="{FF2B5EF4-FFF2-40B4-BE49-F238E27FC236}">
                <a16:creationId xmlns:a16="http://schemas.microsoft.com/office/drawing/2014/main" id="{06760646-B1D5-4BA8-8BCC-7AF62CA83D8C}"/>
              </a:ext>
            </a:extLst>
          </p:cNvPr>
          <p:cNvSpPr>
            <a:spLocks noChangeShapeType="1"/>
          </p:cNvSpPr>
          <p:nvPr/>
        </p:nvSpPr>
        <p:spPr bwMode="auto">
          <a:xfrm>
            <a:off x="6315075" y="4086225"/>
            <a:ext cx="911225" cy="109538"/>
          </a:xfrm>
          <a:prstGeom prst="line">
            <a:avLst/>
          </a:prstGeom>
          <a:noFill/>
          <a:ln w="38100">
            <a:solidFill>
              <a:srgbClr val="FF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GB">
              <a:latin typeface="Helvetica" charset="0"/>
            </a:endParaRPr>
          </a:p>
        </p:txBody>
      </p:sp>
      <p:sp>
        <p:nvSpPr>
          <p:cNvPr id="385052" name="Freeform 28">
            <a:extLst>
              <a:ext uri="{FF2B5EF4-FFF2-40B4-BE49-F238E27FC236}">
                <a16:creationId xmlns:a16="http://schemas.microsoft.com/office/drawing/2014/main" id="{15B25CFE-9F0D-44E5-8BAA-68A409A00EAC}"/>
              </a:ext>
            </a:extLst>
          </p:cNvPr>
          <p:cNvSpPr>
            <a:spLocks/>
          </p:cNvSpPr>
          <p:nvPr/>
        </p:nvSpPr>
        <p:spPr bwMode="auto">
          <a:xfrm>
            <a:off x="6716713" y="3443288"/>
            <a:ext cx="1420812" cy="166687"/>
          </a:xfrm>
          <a:custGeom>
            <a:avLst/>
            <a:gdLst>
              <a:gd name="T0" fmla="*/ 972 w 972"/>
              <a:gd name="T1" fmla="*/ 96 h 96"/>
              <a:gd name="T2" fmla="*/ 0 w 972"/>
              <a:gd name="T3" fmla="*/ 96 h 96"/>
              <a:gd name="T4" fmla="*/ 175 w 972"/>
              <a:gd name="T5" fmla="*/ 0 h 96"/>
            </a:gdLst>
            <a:ahLst/>
            <a:cxnLst>
              <a:cxn ang="0">
                <a:pos x="T0" y="T1"/>
              </a:cxn>
              <a:cxn ang="0">
                <a:pos x="T2" y="T3"/>
              </a:cxn>
              <a:cxn ang="0">
                <a:pos x="T4" y="T5"/>
              </a:cxn>
            </a:cxnLst>
            <a:rect l="0" t="0" r="r" b="b"/>
            <a:pathLst>
              <a:path w="972" h="96">
                <a:moveTo>
                  <a:pt x="972" y="96"/>
                </a:moveTo>
                <a:lnTo>
                  <a:pt x="0" y="96"/>
                </a:lnTo>
                <a:lnTo>
                  <a:pt x="175" y="0"/>
                </a:lnTo>
              </a:path>
            </a:pathLst>
          </a:custGeom>
          <a:noFill/>
          <a:ln w="38100"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GB">
              <a:latin typeface="Helvetica" charset="0"/>
            </a:endParaRPr>
          </a:p>
        </p:txBody>
      </p:sp>
      <p:pic>
        <p:nvPicPr>
          <p:cNvPr id="23566" name="Picture 2" descr="GR19.jpg">
            <a:extLst>
              <a:ext uri="{FF2B5EF4-FFF2-40B4-BE49-F238E27FC236}">
                <a16:creationId xmlns:a16="http://schemas.microsoft.com/office/drawing/2014/main" id="{54A6D0FE-1B01-4E7F-B60C-44A8EFDA172E}"/>
              </a:ext>
            </a:extLst>
          </p:cNvPr>
          <p:cNvPicPr>
            <a:picLocks noGrp="1" noChangeAspect="1"/>
          </p:cNvPicPr>
          <p:nvPr>
            <p:ph sz="quarter" idx="3"/>
          </p:nvPr>
        </p:nvPicPr>
        <p:blipFill>
          <a:blip r:embed="rId5">
            <a:extLst>
              <a:ext uri="{28A0092B-C50C-407E-A947-70E740481C1C}">
                <a14:useLocalDpi xmlns:a14="http://schemas.microsoft.com/office/drawing/2010/main" val="0"/>
              </a:ext>
            </a:extLst>
          </a:blip>
          <a:srcRect/>
          <a:stretch>
            <a:fillRect/>
          </a:stretch>
        </p:blipFill>
        <p:spPr>
          <a:xfrm>
            <a:off x="2771775" y="1920875"/>
            <a:ext cx="2801938" cy="1268413"/>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85055" name="Text Box 31">
            <a:extLst>
              <a:ext uri="{FF2B5EF4-FFF2-40B4-BE49-F238E27FC236}">
                <a16:creationId xmlns:a16="http://schemas.microsoft.com/office/drawing/2014/main" id="{D8736A1F-377F-4873-9D98-0E6E013AC3F8}"/>
              </a:ext>
            </a:extLst>
          </p:cNvPr>
          <p:cNvSpPr txBox="1">
            <a:spLocks noChangeArrowheads="1"/>
          </p:cNvSpPr>
          <p:nvPr/>
        </p:nvSpPr>
        <p:spPr bwMode="auto">
          <a:xfrm>
            <a:off x="119063" y="1909763"/>
            <a:ext cx="2339975" cy="4641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6213" indent="-176213">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50000"/>
              </a:spcBef>
              <a:buClr>
                <a:schemeClr val="tx1"/>
              </a:buClr>
              <a:buFontTx/>
              <a:buChar char="•"/>
            </a:pPr>
            <a:r>
              <a:rPr lang="en-GB" altLang="en-US" sz="1700">
                <a:solidFill>
                  <a:srgbClr val="FF6600"/>
                </a:solidFill>
                <a:effectLst>
                  <a:outerShdw blurRad="38100" dist="38100" dir="2700000" algn="tl">
                    <a:srgbClr val="000000"/>
                  </a:outerShdw>
                </a:effectLst>
              </a:rPr>
              <a:t>C surfaces</a:t>
            </a:r>
            <a:r>
              <a:rPr lang="en-GB" altLang="en-US" sz="1700">
                <a:effectLst>
                  <a:outerShdw blurRad="38100" dist="38100" dir="2700000" algn="tl">
                    <a:srgbClr val="000000"/>
                  </a:outerShdw>
                </a:effectLst>
              </a:rPr>
              <a:t> are indicative of </a:t>
            </a:r>
            <a:r>
              <a:rPr lang="en-GB" altLang="en-US" sz="1700">
                <a:solidFill>
                  <a:srgbClr val="FF66CC"/>
                </a:solidFill>
                <a:effectLst>
                  <a:outerShdw blurRad="38100" dist="38100" dir="2700000" algn="tl">
                    <a:srgbClr val="000000"/>
                  </a:outerShdw>
                </a:effectLst>
              </a:rPr>
              <a:t>inhomogeneous simple shear</a:t>
            </a:r>
            <a:r>
              <a:rPr lang="en-GB" altLang="en-US" sz="1700">
                <a:effectLst>
                  <a:outerShdw blurRad="38100" dist="38100" dir="2700000" algn="tl">
                    <a:srgbClr val="000000"/>
                  </a:outerShdw>
                </a:effectLst>
              </a:rPr>
              <a:t>; they can develop </a:t>
            </a:r>
            <a:r>
              <a:rPr lang="en-GB" altLang="en-US" sz="1700">
                <a:solidFill>
                  <a:srgbClr val="FF66CC"/>
                </a:solidFill>
                <a:effectLst>
                  <a:outerShdw blurRad="38100" dist="38100" dir="2700000" algn="tl">
                    <a:srgbClr val="000000"/>
                  </a:outerShdw>
                </a:effectLst>
              </a:rPr>
              <a:t>early </a:t>
            </a:r>
            <a:r>
              <a:rPr lang="en-GB" altLang="en-US" sz="1700">
                <a:effectLst>
                  <a:outerShdw blurRad="38100" dist="38100" dir="2700000" algn="tl">
                    <a:srgbClr val="000000"/>
                  </a:outerShdw>
                </a:effectLst>
              </a:rPr>
              <a:t>in the deformation</a:t>
            </a:r>
            <a:r>
              <a:rPr lang="en-GB" altLang="en-US" sz="1700">
                <a:solidFill>
                  <a:srgbClr val="FF66CC"/>
                </a:solidFill>
                <a:effectLst>
                  <a:outerShdw blurRad="38100" dist="38100" dir="2700000" algn="tl">
                    <a:srgbClr val="000000"/>
                  </a:outerShdw>
                </a:effectLst>
              </a:rPr>
              <a:t> </a:t>
            </a:r>
            <a:r>
              <a:rPr lang="en-GB" altLang="en-US" sz="1700">
                <a:effectLst>
                  <a:outerShdw blurRad="38100" dist="38100" dir="2700000" algn="tl">
                    <a:srgbClr val="000000"/>
                  </a:outerShdw>
                </a:effectLst>
              </a:rPr>
              <a:t>and are often straight and continuous</a:t>
            </a:r>
          </a:p>
          <a:p>
            <a:pPr>
              <a:lnSpc>
                <a:spcPct val="120000"/>
              </a:lnSpc>
              <a:spcBef>
                <a:spcPct val="75000"/>
              </a:spcBef>
              <a:buClr>
                <a:schemeClr val="tx1"/>
              </a:buClr>
              <a:buFontTx/>
              <a:buChar char="•"/>
            </a:pPr>
            <a:r>
              <a:rPr lang="en-GB" altLang="en-US" sz="1700">
                <a:solidFill>
                  <a:srgbClr val="FF6600"/>
                </a:solidFill>
                <a:effectLst>
                  <a:outerShdw blurRad="38100" dist="38100" dir="2700000" algn="tl">
                    <a:srgbClr val="000000"/>
                  </a:outerShdw>
                </a:effectLst>
              </a:rPr>
              <a:t>C´ surfaces</a:t>
            </a:r>
            <a:r>
              <a:rPr lang="en-GB" altLang="en-US" sz="1700">
                <a:effectLst>
                  <a:outerShdw blurRad="38100" dist="38100" dir="2700000" algn="tl">
                    <a:srgbClr val="000000"/>
                  </a:outerShdw>
                </a:effectLst>
              </a:rPr>
              <a:t> tend to develop </a:t>
            </a:r>
            <a:r>
              <a:rPr lang="en-GB" altLang="en-US" sz="1700">
                <a:solidFill>
                  <a:srgbClr val="FF66CC"/>
                </a:solidFill>
                <a:effectLst>
                  <a:outerShdw blurRad="38100" dist="38100" dir="2700000" algn="tl">
                    <a:srgbClr val="000000"/>
                  </a:outerShdw>
                </a:effectLst>
              </a:rPr>
              <a:t>late</a:t>
            </a:r>
            <a:r>
              <a:rPr lang="en-GB" altLang="en-US" sz="1700">
                <a:effectLst>
                  <a:outerShdw blurRad="38100" dist="38100" dir="2700000" algn="tl">
                    <a:srgbClr val="000000"/>
                  </a:outerShdw>
                </a:effectLst>
              </a:rPr>
              <a:t> in the deformation and are commonly short, wavy and anastomosing</a:t>
            </a:r>
            <a:endParaRPr lang="en-GB" altLang="en-US" sz="1700">
              <a:solidFill>
                <a:srgbClr val="FF66CC"/>
              </a:solidFill>
              <a:effectLst>
                <a:outerShdw blurRad="38100" dist="38100" dir="2700000" algn="tl">
                  <a:srgbClr val="000000"/>
                </a:outerShdw>
              </a:effectLst>
            </a:endParaRPr>
          </a:p>
        </p:txBody>
      </p:sp>
      <p:sp>
        <p:nvSpPr>
          <p:cNvPr id="23569" name="Freeform 17">
            <a:extLst>
              <a:ext uri="{FF2B5EF4-FFF2-40B4-BE49-F238E27FC236}">
                <a16:creationId xmlns:a16="http://schemas.microsoft.com/office/drawing/2014/main" id="{2986E69B-2438-40C4-965A-C1BCE734A947}"/>
              </a:ext>
            </a:extLst>
          </p:cNvPr>
          <p:cNvSpPr>
            <a:spLocks/>
          </p:cNvSpPr>
          <p:nvPr/>
        </p:nvSpPr>
        <p:spPr bwMode="auto">
          <a:xfrm>
            <a:off x="7424738" y="815975"/>
            <a:ext cx="314325" cy="65088"/>
          </a:xfrm>
          <a:custGeom>
            <a:avLst/>
            <a:gdLst>
              <a:gd name="T0" fmla="*/ 294 w 294"/>
              <a:gd name="T1" fmla="*/ 34 h 34"/>
              <a:gd name="T2" fmla="*/ 0 w 294"/>
              <a:gd name="T3" fmla="*/ 34 h 34"/>
              <a:gd name="T4" fmla="*/ 75 w 294"/>
              <a:gd name="T5" fmla="*/ 0 h 34"/>
            </a:gdLst>
            <a:ahLst/>
            <a:cxnLst>
              <a:cxn ang="0">
                <a:pos x="T0" y="T1"/>
              </a:cxn>
              <a:cxn ang="0">
                <a:pos x="T2" y="T3"/>
              </a:cxn>
              <a:cxn ang="0">
                <a:pos x="T4" y="T5"/>
              </a:cxn>
            </a:cxnLst>
            <a:rect l="0" t="0" r="r" b="b"/>
            <a:pathLst>
              <a:path w="294" h="34">
                <a:moveTo>
                  <a:pt x="294" y="34"/>
                </a:moveTo>
                <a:lnTo>
                  <a:pt x="0" y="34"/>
                </a:lnTo>
                <a:lnTo>
                  <a:pt x="75" y="0"/>
                </a:lnTo>
              </a:path>
            </a:pathLst>
          </a:custGeom>
          <a:noFill/>
          <a:ln w="28575"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Tree>
  </p:cSld>
  <p:clrMapOvr>
    <a:masterClrMapping/>
  </p:clrMapOvr>
  <p:transition spd="slow"/>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57A4E3C4-1C88-4899-A000-1E01DB324C07}"/>
              </a:ext>
            </a:extLst>
          </p:cNvPr>
          <p:cNvSpPr>
            <a:spLocks noGrp="1" noChangeArrowheads="1"/>
          </p:cNvSpPr>
          <p:nvPr>
            <p:ph type="title"/>
          </p:nvPr>
        </p:nvSpPr>
        <p:spPr>
          <a:noFill/>
        </p:spPr>
        <p:txBody>
          <a:bodyPr/>
          <a:lstStyle/>
          <a:p>
            <a:r>
              <a:rPr lang="en-GB" altLang="en-US">
                <a:effectLst/>
              </a:rPr>
              <a:t>Shear sense from objects within mylonites</a:t>
            </a:r>
          </a:p>
        </p:txBody>
      </p:sp>
      <p:sp>
        <p:nvSpPr>
          <p:cNvPr id="24579" name="Rectangle 3">
            <a:extLst>
              <a:ext uri="{FF2B5EF4-FFF2-40B4-BE49-F238E27FC236}">
                <a16:creationId xmlns:a16="http://schemas.microsoft.com/office/drawing/2014/main" id="{03FBC6A3-BC23-4AB0-A140-1D960D72FC81}"/>
              </a:ext>
            </a:extLst>
          </p:cNvPr>
          <p:cNvSpPr>
            <a:spLocks noGrp="1" noChangeArrowheads="1"/>
          </p:cNvSpPr>
          <p:nvPr>
            <p:ph type="body" sz="half" idx="1"/>
          </p:nvPr>
        </p:nvSpPr>
        <p:spPr>
          <a:xfrm>
            <a:off x="112713" y="811213"/>
            <a:ext cx="4268787" cy="4114800"/>
          </a:xfrm>
          <a:noFill/>
        </p:spPr>
        <p:txBody>
          <a:bodyPr/>
          <a:lstStyle/>
          <a:p>
            <a:pPr marL="179388" indent="-179388">
              <a:spcBef>
                <a:spcPct val="75000"/>
              </a:spcBef>
            </a:pPr>
            <a:r>
              <a:rPr lang="en-GB" altLang="en-US" sz="1700">
                <a:effectLst/>
              </a:rPr>
              <a:t>A number of objects found within the matrix of mylonites, together with the deflections of the foliation around these objects, provide excellent </a:t>
            </a:r>
            <a:r>
              <a:rPr lang="en-GB" altLang="en-US" sz="1700">
                <a:solidFill>
                  <a:srgbClr val="FF66CC"/>
                </a:solidFill>
                <a:effectLst/>
              </a:rPr>
              <a:t>shear sense indicators</a:t>
            </a:r>
          </a:p>
          <a:p>
            <a:pPr marL="179388" indent="-179388">
              <a:spcBef>
                <a:spcPct val="75000"/>
              </a:spcBef>
            </a:pPr>
            <a:r>
              <a:rPr lang="en-GB" altLang="en-US" sz="1700">
                <a:solidFill>
                  <a:srgbClr val="FF66CC"/>
                </a:solidFill>
                <a:effectLst/>
              </a:rPr>
              <a:t>Six types of object</a:t>
            </a:r>
            <a:r>
              <a:rPr lang="en-GB" altLang="en-US" sz="1700">
                <a:effectLst/>
              </a:rPr>
              <a:t> are particularly helpful. It is good practice when making observations to note which of these six types is being considered because although their geometry for shear sense evaluation is similar, they each form by a different mechanism</a:t>
            </a:r>
          </a:p>
        </p:txBody>
      </p:sp>
      <p:grpSp>
        <p:nvGrpSpPr>
          <p:cNvPr id="24580" name="Group 8">
            <a:extLst>
              <a:ext uri="{FF2B5EF4-FFF2-40B4-BE49-F238E27FC236}">
                <a16:creationId xmlns:a16="http://schemas.microsoft.com/office/drawing/2014/main" id="{4245B13F-9B13-48AF-9121-67988AE3F162}"/>
              </a:ext>
            </a:extLst>
          </p:cNvPr>
          <p:cNvGrpSpPr>
            <a:grpSpLocks/>
          </p:cNvGrpSpPr>
          <p:nvPr/>
        </p:nvGrpSpPr>
        <p:grpSpPr bwMode="auto">
          <a:xfrm>
            <a:off x="4457700" y="917575"/>
            <a:ext cx="4505325" cy="2965450"/>
            <a:chOff x="2857" y="542"/>
            <a:chExt cx="2829" cy="1898"/>
          </a:xfrm>
        </p:grpSpPr>
        <p:sp>
          <p:nvSpPr>
            <p:cNvPr id="225286" name="Rectangle 6">
              <a:extLst>
                <a:ext uri="{FF2B5EF4-FFF2-40B4-BE49-F238E27FC236}">
                  <a16:creationId xmlns:a16="http://schemas.microsoft.com/office/drawing/2014/main" id="{D501F449-6C32-4418-AA06-ED7C029CA815}"/>
                </a:ext>
              </a:extLst>
            </p:cNvPr>
            <p:cNvSpPr>
              <a:spLocks noChangeArrowheads="1"/>
            </p:cNvSpPr>
            <p:nvPr/>
          </p:nvSpPr>
          <p:spPr bwMode="auto">
            <a:xfrm>
              <a:off x="2857" y="542"/>
              <a:ext cx="2829" cy="1898"/>
            </a:xfrm>
            <a:prstGeom prst="rect">
              <a:avLst/>
            </a:prstGeom>
            <a:solidFill>
              <a:schemeClr val="folHlink"/>
            </a:solidFill>
            <a:ln w="381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GB">
                <a:latin typeface="Helvetica" charset="0"/>
              </a:endParaRPr>
            </a:p>
          </p:txBody>
        </p:sp>
        <p:pic>
          <p:nvPicPr>
            <p:cNvPr id="24584" name="Picture 4" descr="09">
              <a:extLst>
                <a:ext uri="{FF2B5EF4-FFF2-40B4-BE49-F238E27FC236}">
                  <a16:creationId xmlns:a16="http://schemas.microsoft.com/office/drawing/2014/main" id="{A6D595CD-DFFB-4503-831B-5CECC1CCB03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25" y="583"/>
              <a:ext cx="2703" cy="182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grpSp>
      <p:sp>
        <p:nvSpPr>
          <p:cNvPr id="225290" name="Text Box 10">
            <a:extLst>
              <a:ext uri="{FF2B5EF4-FFF2-40B4-BE49-F238E27FC236}">
                <a16:creationId xmlns:a16="http://schemas.microsoft.com/office/drawing/2014/main" id="{BCB6AFB1-A929-416A-AE31-A52ED1DCAFD8}"/>
              </a:ext>
            </a:extLst>
          </p:cNvPr>
          <p:cNvSpPr txBox="1">
            <a:spLocks noChangeArrowheads="1"/>
          </p:cNvSpPr>
          <p:nvPr/>
        </p:nvSpPr>
        <p:spPr bwMode="auto">
          <a:xfrm>
            <a:off x="315913" y="5049838"/>
            <a:ext cx="4625975" cy="1558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15000"/>
              </a:lnSpc>
              <a:spcBef>
                <a:spcPct val="50000"/>
              </a:spcBef>
              <a:buClr>
                <a:schemeClr val="tx1"/>
              </a:buClr>
            </a:pPr>
            <a:r>
              <a:rPr lang="en-GB" altLang="en-US" sz="1400">
                <a:solidFill>
                  <a:srgbClr val="FFFF00"/>
                </a:solidFill>
                <a:effectLst>
                  <a:outerShdw blurRad="38100" dist="38100" dir="2700000" algn="tl">
                    <a:srgbClr val="000000"/>
                  </a:outerShdw>
                </a:effectLst>
                <a:latin typeface="Arial" panose="020B0604020202020204" pitchFamily="34" charset="0"/>
              </a:rPr>
              <a:t>The use of sigmoidal inclusion trails in syntectonic porphyroblasts as shear sense indicators is problematic. Establishing whether they have formed by porphyroblast rotation, matrix deformation around the porphyroblast, or some other mechanism is non-trivial (see Passchier &amp; Trouw, Fig. 7.34 in § 7.6.8)</a:t>
            </a:r>
          </a:p>
        </p:txBody>
      </p:sp>
      <p:pic>
        <p:nvPicPr>
          <p:cNvPr id="24582" name="Picture 12" descr="09b2b">
            <a:extLst>
              <a:ext uri="{FF2B5EF4-FFF2-40B4-BE49-F238E27FC236}">
                <a16:creationId xmlns:a16="http://schemas.microsoft.com/office/drawing/2014/main" id="{F44DC6DA-49A3-4D08-BAFA-FEF3AD37E900}"/>
              </a:ext>
            </a:extLst>
          </p:cNvPr>
          <p:cNvPicPr>
            <a:picLocks noGrp="1" noChangeAspect="1" noChangeArrowheads="1"/>
          </p:cNvPicPr>
          <p:nvPr>
            <p:ph sz="quarter" idx="3"/>
          </p:nvPr>
        </p:nvPicPr>
        <p:blipFill>
          <a:blip r:embed="rId4">
            <a:lum bright="-6000"/>
            <a:extLst>
              <a:ext uri="{28A0092B-C50C-407E-A947-70E740481C1C}">
                <a14:useLocalDpi xmlns:a14="http://schemas.microsoft.com/office/drawing/2010/main" val="0"/>
              </a:ext>
            </a:extLst>
          </a:blip>
          <a:srcRect/>
          <a:stretch>
            <a:fillRect/>
          </a:stretch>
        </p:blipFill>
        <p:spPr>
          <a:xfrm>
            <a:off x="5175250" y="4035425"/>
            <a:ext cx="3759200" cy="2540000"/>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slow"/>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AB7A30F3-C431-4936-9420-F61DBEDE9E4D}"/>
              </a:ext>
            </a:extLst>
          </p:cNvPr>
          <p:cNvSpPr>
            <a:spLocks noGrp="1" noChangeArrowheads="1"/>
          </p:cNvSpPr>
          <p:nvPr>
            <p:ph type="title"/>
          </p:nvPr>
        </p:nvSpPr>
        <p:spPr>
          <a:noFill/>
        </p:spPr>
        <p:txBody>
          <a:bodyPr/>
          <a:lstStyle/>
          <a:p>
            <a:r>
              <a:rPr lang="en-GB" altLang="en-US">
                <a:effectLst/>
              </a:rPr>
              <a:t>Mantled porphyroclasts</a:t>
            </a:r>
          </a:p>
        </p:txBody>
      </p:sp>
      <p:sp>
        <p:nvSpPr>
          <p:cNvPr id="25603" name="Rectangle 3">
            <a:extLst>
              <a:ext uri="{FF2B5EF4-FFF2-40B4-BE49-F238E27FC236}">
                <a16:creationId xmlns:a16="http://schemas.microsoft.com/office/drawing/2014/main" id="{7B0502F7-B9D2-4ABE-B843-EBBD540FAD87}"/>
              </a:ext>
            </a:extLst>
          </p:cNvPr>
          <p:cNvSpPr>
            <a:spLocks noGrp="1" noChangeArrowheads="1"/>
          </p:cNvSpPr>
          <p:nvPr>
            <p:ph type="body" sz="half" idx="1"/>
          </p:nvPr>
        </p:nvSpPr>
        <p:spPr>
          <a:xfrm>
            <a:off x="147638" y="836613"/>
            <a:ext cx="2925762" cy="5729287"/>
          </a:xfrm>
          <a:noFill/>
        </p:spPr>
        <p:txBody>
          <a:bodyPr/>
          <a:lstStyle/>
          <a:p>
            <a:pPr marL="177800" indent="-177800">
              <a:spcBef>
                <a:spcPct val="50000"/>
              </a:spcBef>
            </a:pPr>
            <a:r>
              <a:rPr lang="en-GB" altLang="en-US" sz="1700" dirty="0">
                <a:effectLst/>
              </a:rPr>
              <a:t>Mantled </a:t>
            </a:r>
            <a:r>
              <a:rPr lang="en-GB" altLang="en-US" sz="1700" dirty="0" err="1">
                <a:effectLst/>
              </a:rPr>
              <a:t>porphyroclasts</a:t>
            </a:r>
            <a:r>
              <a:rPr lang="en-GB" altLang="en-US" sz="1700" dirty="0">
                <a:effectLst/>
              </a:rPr>
              <a:t> consist of a </a:t>
            </a:r>
            <a:r>
              <a:rPr lang="en-GB" altLang="en-US" sz="1700" dirty="0">
                <a:solidFill>
                  <a:srgbClr val="FF66CC"/>
                </a:solidFill>
                <a:effectLst/>
              </a:rPr>
              <a:t>central single crystal</a:t>
            </a:r>
            <a:r>
              <a:rPr lang="en-GB" altLang="en-US" sz="1700" dirty="0">
                <a:effectLst/>
              </a:rPr>
              <a:t> with a fine-grained mantle of the same mineral. The mantle may be drawn out into </a:t>
            </a:r>
            <a:r>
              <a:rPr lang="en-GB" altLang="en-US" sz="1700" dirty="0">
                <a:solidFill>
                  <a:srgbClr val="FF66CC"/>
                </a:solidFill>
                <a:effectLst/>
              </a:rPr>
              <a:t>wings</a:t>
            </a:r>
            <a:r>
              <a:rPr lang="en-GB" altLang="en-US" sz="1700" dirty="0">
                <a:effectLst/>
              </a:rPr>
              <a:t> that stretch and change shape while the core remains rigid</a:t>
            </a:r>
          </a:p>
          <a:p>
            <a:pPr marL="177800" indent="-177800">
              <a:spcBef>
                <a:spcPct val="75000"/>
              </a:spcBef>
            </a:pPr>
            <a:r>
              <a:rPr lang="en-GB" altLang="en-US" sz="1700" dirty="0">
                <a:effectLst/>
              </a:rPr>
              <a:t>Viewed in the </a:t>
            </a:r>
            <a:r>
              <a:rPr lang="en-GB" altLang="en-US" sz="1700" dirty="0">
                <a:solidFill>
                  <a:srgbClr val="FF6600"/>
                </a:solidFill>
                <a:effectLst/>
              </a:rPr>
              <a:t>YZ plane</a:t>
            </a:r>
            <a:r>
              <a:rPr lang="en-GB" altLang="en-US" sz="1700" dirty="0">
                <a:effectLst/>
              </a:rPr>
              <a:t> the wings are symmetric </a:t>
            </a:r>
            <a:r>
              <a:rPr lang="en-GB" altLang="en-US" sz="1700" spc="150" dirty="0">
                <a:effectLst/>
              </a:rPr>
              <a:t>(</a:t>
            </a:r>
            <a:r>
              <a:rPr lang="el-GR" altLang="en-US" sz="1700" dirty="0">
                <a:solidFill>
                  <a:srgbClr val="FF6600"/>
                </a:solidFill>
                <a:effectLst/>
                <a:latin typeface="Cambria Math" panose="02040503050406030204" pitchFamily="18" charset="0"/>
                <a:ea typeface="Cambria Math" panose="02040503050406030204" pitchFamily="18" charset="0"/>
              </a:rPr>
              <a:t>ϕ</a:t>
            </a:r>
            <a:r>
              <a:rPr lang="en-GB" altLang="en-US" sz="800" dirty="0">
                <a:solidFill>
                  <a:srgbClr val="FF6600"/>
                </a:solidFill>
                <a:effectLst/>
                <a:latin typeface="Symbol" panose="05050102010706020507" pitchFamily="18" charset="2"/>
              </a:rPr>
              <a:t> </a:t>
            </a:r>
            <a:r>
              <a:rPr lang="en-GB" altLang="en-US" sz="1700" dirty="0">
                <a:solidFill>
                  <a:srgbClr val="FF6600"/>
                </a:solidFill>
                <a:effectLst/>
              </a:rPr>
              <a:t>-</a:t>
            </a:r>
            <a:r>
              <a:rPr lang="en-GB" altLang="en-US" sz="800" dirty="0">
                <a:solidFill>
                  <a:srgbClr val="FF6600"/>
                </a:solidFill>
                <a:effectLst/>
              </a:rPr>
              <a:t> </a:t>
            </a:r>
            <a:r>
              <a:rPr lang="en-GB" altLang="en-US" sz="1700" dirty="0">
                <a:solidFill>
                  <a:srgbClr val="FF6600"/>
                </a:solidFill>
                <a:effectLst/>
              </a:rPr>
              <a:t>type</a:t>
            </a:r>
            <a:r>
              <a:rPr lang="en-GB" altLang="en-US" sz="1700" dirty="0">
                <a:effectLst/>
              </a:rPr>
              <a:t>) and so cannot be used to infer the sense of movement</a:t>
            </a:r>
          </a:p>
        </p:txBody>
      </p:sp>
      <p:pic>
        <p:nvPicPr>
          <p:cNvPr id="25604" name="Picture 17" descr="09e">
            <a:extLst>
              <a:ext uri="{FF2B5EF4-FFF2-40B4-BE49-F238E27FC236}">
                <a16:creationId xmlns:a16="http://schemas.microsoft.com/office/drawing/2014/main" id="{E120AF52-9BC9-48B3-86A9-4EE27CA064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3737" y="5740150"/>
            <a:ext cx="1725815" cy="689475"/>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25605" name="Picture 20" descr="gtamphib">
            <a:extLst>
              <a:ext uri="{FF2B5EF4-FFF2-40B4-BE49-F238E27FC236}">
                <a16:creationId xmlns:a16="http://schemas.microsoft.com/office/drawing/2014/main" id="{DD2CBE6A-CB67-4547-A789-2562BC2CA4AA}"/>
              </a:ext>
            </a:extLst>
          </p:cNvPr>
          <p:cNvPicPr>
            <a:picLocks noGrp="1" noChangeAspect="1" noChangeArrowheads="1"/>
          </p:cNvPicPr>
          <p:nvPr>
            <p:ph sz="half" idx="2"/>
          </p:nvPr>
        </p:nvPicPr>
        <p:blipFill>
          <a:blip r:embed="rId4">
            <a:extLst>
              <a:ext uri="{28A0092B-C50C-407E-A947-70E740481C1C}">
                <a14:useLocalDpi xmlns:a14="http://schemas.microsoft.com/office/drawing/2010/main" val="0"/>
              </a:ext>
            </a:extLst>
          </a:blip>
          <a:srcRect/>
          <a:stretch>
            <a:fillRect/>
          </a:stretch>
        </p:blipFill>
        <p:spPr>
          <a:xfrm>
            <a:off x="3300413" y="1030288"/>
            <a:ext cx="5670550" cy="3810000"/>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26326" name="Text Box 22">
            <a:extLst>
              <a:ext uri="{FF2B5EF4-FFF2-40B4-BE49-F238E27FC236}">
                <a16:creationId xmlns:a16="http://schemas.microsoft.com/office/drawing/2014/main" id="{B0F018EB-A5B3-407C-B986-218D58CAFC5E}"/>
              </a:ext>
            </a:extLst>
          </p:cNvPr>
          <p:cNvSpPr txBox="1">
            <a:spLocks noChangeArrowheads="1"/>
          </p:cNvSpPr>
          <p:nvPr/>
        </p:nvSpPr>
        <p:spPr bwMode="auto">
          <a:xfrm>
            <a:off x="3857625" y="5014913"/>
            <a:ext cx="4592638" cy="13100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15000"/>
              </a:lnSpc>
              <a:spcBef>
                <a:spcPct val="50000"/>
              </a:spcBef>
            </a:pPr>
            <a:r>
              <a:rPr lang="en-GB" altLang="en-US" sz="1400" dirty="0">
                <a:solidFill>
                  <a:srgbClr val="FFFF00"/>
                </a:solidFill>
                <a:effectLst>
                  <a:outerShdw blurRad="38100" dist="38100" dir="2700000" algn="tl">
                    <a:srgbClr val="000000"/>
                  </a:outerShdw>
                </a:effectLst>
                <a:latin typeface="Arial" panose="020B0604020202020204" pitchFamily="34" charset="0"/>
              </a:rPr>
              <a:t>Symmetric wings: note that in this case these are not actually mantled clasts but strain fringes (see below) because the rims (quartz) are of a different mineral than the </a:t>
            </a:r>
            <a:r>
              <a:rPr lang="en-GB" altLang="en-US" sz="1400" dirty="0" err="1">
                <a:solidFill>
                  <a:srgbClr val="FFFF00"/>
                </a:solidFill>
                <a:effectLst>
                  <a:outerShdw blurRad="38100" dist="38100" dir="2700000" algn="tl">
                    <a:srgbClr val="000000"/>
                  </a:outerShdw>
                </a:effectLst>
                <a:latin typeface="Arial" panose="020B0604020202020204" pitchFamily="34" charset="0"/>
              </a:rPr>
              <a:t>porphyroblasts</a:t>
            </a:r>
            <a:r>
              <a:rPr lang="en-GB" altLang="en-US" sz="1400" dirty="0">
                <a:solidFill>
                  <a:srgbClr val="FFFF00"/>
                </a:solidFill>
                <a:effectLst>
                  <a:outerShdw blurRad="38100" dist="38100" dir="2700000" algn="tl">
                    <a:srgbClr val="000000"/>
                  </a:outerShdw>
                </a:effectLst>
                <a:latin typeface="Arial" panose="020B0604020202020204" pitchFamily="34" charset="0"/>
              </a:rPr>
              <a:t> (garnet). However, the same logic about the sense of movement applies</a:t>
            </a:r>
          </a:p>
        </p:txBody>
      </p:sp>
    </p:spTree>
  </p:cSld>
  <p:clrMapOvr>
    <a:masterClrMapping/>
  </p:clrMapOvr>
  <p:transition spd="slow"/>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6" name="Picture 2" descr="09d">
            <a:extLst>
              <a:ext uri="{FF2B5EF4-FFF2-40B4-BE49-F238E27FC236}">
                <a16:creationId xmlns:a16="http://schemas.microsoft.com/office/drawing/2014/main" id="{E960B607-799E-4FA2-8BF4-386CA09C2C5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11725" y="3944938"/>
            <a:ext cx="4037013" cy="2727325"/>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388099" name="Rectangle 3">
            <a:extLst>
              <a:ext uri="{FF2B5EF4-FFF2-40B4-BE49-F238E27FC236}">
                <a16:creationId xmlns:a16="http://schemas.microsoft.com/office/drawing/2014/main" id="{0C57FA29-B042-493A-93C3-89A65A64EB0E}"/>
              </a:ext>
            </a:extLst>
          </p:cNvPr>
          <p:cNvSpPr>
            <a:spLocks noChangeArrowheads="1"/>
          </p:cNvSpPr>
          <p:nvPr/>
        </p:nvSpPr>
        <p:spPr bwMode="auto">
          <a:xfrm>
            <a:off x="7929563" y="4070350"/>
            <a:ext cx="735012" cy="304800"/>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GB">
              <a:latin typeface="Helvetica" charset="0"/>
            </a:endParaRPr>
          </a:p>
        </p:txBody>
      </p:sp>
      <p:sp>
        <p:nvSpPr>
          <p:cNvPr id="26628" name="Rectangle 4">
            <a:extLst>
              <a:ext uri="{FF2B5EF4-FFF2-40B4-BE49-F238E27FC236}">
                <a16:creationId xmlns:a16="http://schemas.microsoft.com/office/drawing/2014/main" id="{51122AFB-4E81-4DE6-87EB-5C27EAD1EE9E}"/>
              </a:ext>
            </a:extLst>
          </p:cNvPr>
          <p:cNvSpPr>
            <a:spLocks noGrp="1" noChangeArrowheads="1"/>
          </p:cNvSpPr>
          <p:nvPr>
            <p:ph type="title"/>
          </p:nvPr>
        </p:nvSpPr>
        <p:spPr>
          <a:noFill/>
        </p:spPr>
        <p:txBody>
          <a:bodyPr/>
          <a:lstStyle/>
          <a:p>
            <a:r>
              <a:rPr lang="en-GB" altLang="en-US" dirty="0">
                <a:effectLst/>
              </a:rPr>
              <a:t>Mantled </a:t>
            </a:r>
            <a:r>
              <a:rPr lang="en-GB" altLang="en-US" dirty="0" err="1">
                <a:effectLst/>
              </a:rPr>
              <a:t>porphyroclasts</a:t>
            </a:r>
            <a:r>
              <a:rPr lang="en-GB" altLang="en-US" dirty="0">
                <a:effectLst/>
              </a:rPr>
              <a:t> (</a:t>
            </a:r>
            <a:r>
              <a:rPr lang="el-GR" altLang="en-US" sz="2800" dirty="0">
                <a:effectLst/>
                <a:latin typeface="Cambria Math" panose="02040503050406030204" pitchFamily="18" charset="0"/>
                <a:ea typeface="Cambria Math" panose="02040503050406030204" pitchFamily="18" charset="0"/>
                <a:cs typeface="Arial" panose="020B0604020202020204" pitchFamily="34" charset="0"/>
              </a:rPr>
              <a:t>σ</a:t>
            </a:r>
            <a:r>
              <a:rPr lang="en-GB" altLang="en-US" sz="1400" dirty="0">
                <a:effectLst/>
                <a:cs typeface="Arial" panose="020B0604020202020204" pitchFamily="34" charset="0"/>
              </a:rPr>
              <a:t> </a:t>
            </a:r>
            <a:r>
              <a:rPr lang="en-GB" altLang="en-US" dirty="0">
                <a:effectLst/>
                <a:cs typeface="Arial" panose="020B0604020202020204" pitchFamily="34" charset="0"/>
              </a:rPr>
              <a:t>-</a:t>
            </a:r>
            <a:r>
              <a:rPr lang="en-GB" altLang="en-US" sz="1400" dirty="0">
                <a:effectLst/>
                <a:cs typeface="Arial" panose="020B0604020202020204" pitchFamily="34" charset="0"/>
              </a:rPr>
              <a:t> </a:t>
            </a:r>
            <a:r>
              <a:rPr lang="en-GB" altLang="en-US" dirty="0">
                <a:effectLst/>
                <a:cs typeface="Arial" panose="020B0604020202020204" pitchFamily="34" charset="0"/>
              </a:rPr>
              <a:t>type)</a:t>
            </a:r>
            <a:endParaRPr lang="el-GR" altLang="en-US" dirty="0">
              <a:effectLst/>
              <a:cs typeface="Arial" panose="020B0604020202020204" pitchFamily="34" charset="0"/>
            </a:endParaRPr>
          </a:p>
        </p:txBody>
      </p:sp>
      <p:sp>
        <p:nvSpPr>
          <p:cNvPr id="26629" name="Rectangle 5">
            <a:extLst>
              <a:ext uri="{FF2B5EF4-FFF2-40B4-BE49-F238E27FC236}">
                <a16:creationId xmlns:a16="http://schemas.microsoft.com/office/drawing/2014/main" id="{0C19161E-9B99-4177-BA1F-9C29C4CB1B3C}"/>
              </a:ext>
            </a:extLst>
          </p:cNvPr>
          <p:cNvSpPr>
            <a:spLocks noGrp="1" noChangeArrowheads="1"/>
          </p:cNvSpPr>
          <p:nvPr>
            <p:ph type="body" sz="half" idx="1"/>
          </p:nvPr>
        </p:nvSpPr>
        <p:spPr>
          <a:xfrm>
            <a:off x="120650" y="781050"/>
            <a:ext cx="6381750" cy="1076325"/>
          </a:xfrm>
          <a:noFill/>
        </p:spPr>
        <p:txBody>
          <a:bodyPr/>
          <a:lstStyle/>
          <a:p>
            <a:pPr marL="177800" indent="-177800">
              <a:spcBef>
                <a:spcPct val="50000"/>
              </a:spcBef>
            </a:pPr>
            <a:r>
              <a:rPr lang="en-GB" altLang="en-US" sz="1700" dirty="0">
                <a:effectLst/>
              </a:rPr>
              <a:t>However, viewed in the </a:t>
            </a:r>
            <a:r>
              <a:rPr lang="en-GB" altLang="en-US" sz="1700" dirty="0">
                <a:solidFill>
                  <a:srgbClr val="FF6600"/>
                </a:solidFill>
                <a:effectLst/>
              </a:rPr>
              <a:t>XZ plane</a:t>
            </a:r>
            <a:r>
              <a:rPr lang="en-GB" altLang="en-US" sz="1700" dirty="0">
                <a:effectLst/>
              </a:rPr>
              <a:t>, the wings are asymmetric – two types of asymmetry (</a:t>
            </a:r>
            <a:r>
              <a:rPr lang="el-GR" altLang="en-US" sz="1700" dirty="0">
                <a:solidFill>
                  <a:srgbClr val="FF6600"/>
                </a:solidFill>
                <a:effectLst/>
                <a:latin typeface="Cambria Math" panose="02040503050406030204" pitchFamily="18" charset="0"/>
                <a:ea typeface="Cambria Math" panose="02040503050406030204" pitchFamily="18" charset="0"/>
              </a:rPr>
              <a:t>σ</a:t>
            </a:r>
            <a:r>
              <a:rPr lang="en-GB" altLang="en-US" sz="800" dirty="0">
                <a:solidFill>
                  <a:srgbClr val="FF6600"/>
                </a:solidFill>
                <a:effectLst/>
                <a:latin typeface="Symbol" panose="05050102010706020507" pitchFamily="18" charset="2"/>
              </a:rPr>
              <a:t> </a:t>
            </a:r>
            <a:r>
              <a:rPr lang="en-GB" altLang="en-US" sz="1700" dirty="0">
                <a:solidFill>
                  <a:srgbClr val="FF6600"/>
                </a:solidFill>
                <a:effectLst/>
              </a:rPr>
              <a:t>-</a:t>
            </a:r>
            <a:r>
              <a:rPr lang="en-GB" altLang="en-US" sz="800" dirty="0">
                <a:solidFill>
                  <a:srgbClr val="FF6600"/>
                </a:solidFill>
                <a:effectLst/>
              </a:rPr>
              <a:t> </a:t>
            </a:r>
            <a:r>
              <a:rPr lang="en-GB" altLang="en-US" sz="1700" dirty="0">
                <a:solidFill>
                  <a:srgbClr val="FF6600"/>
                </a:solidFill>
                <a:effectLst/>
              </a:rPr>
              <a:t>type</a:t>
            </a:r>
            <a:r>
              <a:rPr lang="en-GB" altLang="en-US" sz="1700" dirty="0">
                <a:effectLst/>
              </a:rPr>
              <a:t> and </a:t>
            </a:r>
            <a:r>
              <a:rPr lang="el-GR" altLang="en-US" sz="1700" dirty="0">
                <a:solidFill>
                  <a:srgbClr val="FF6600"/>
                </a:solidFill>
                <a:effectLst/>
                <a:latin typeface="Cambria Math" panose="02040503050406030204" pitchFamily="18" charset="0"/>
                <a:ea typeface="Cambria Math" panose="02040503050406030204" pitchFamily="18" charset="0"/>
              </a:rPr>
              <a:t>δ</a:t>
            </a:r>
            <a:r>
              <a:rPr lang="en-GB" altLang="en-US" sz="800" dirty="0">
                <a:solidFill>
                  <a:srgbClr val="FF6600"/>
                </a:solidFill>
                <a:effectLst/>
                <a:latin typeface="Symbol" panose="05050102010706020507" pitchFamily="18" charset="2"/>
              </a:rPr>
              <a:t> </a:t>
            </a:r>
            <a:r>
              <a:rPr lang="en-GB" altLang="en-US" sz="1700" dirty="0">
                <a:solidFill>
                  <a:srgbClr val="FF6600"/>
                </a:solidFill>
                <a:effectLst/>
              </a:rPr>
              <a:t>-</a:t>
            </a:r>
            <a:r>
              <a:rPr lang="en-GB" altLang="en-US" sz="800" dirty="0">
                <a:solidFill>
                  <a:srgbClr val="FF6600"/>
                </a:solidFill>
                <a:effectLst/>
              </a:rPr>
              <a:t> </a:t>
            </a:r>
            <a:r>
              <a:rPr lang="en-GB" altLang="en-US" sz="1700" dirty="0">
                <a:solidFill>
                  <a:srgbClr val="FF6600"/>
                </a:solidFill>
                <a:effectLst/>
              </a:rPr>
              <a:t>type</a:t>
            </a:r>
            <a:r>
              <a:rPr lang="en-GB" altLang="en-US" sz="1700" dirty="0">
                <a:effectLst/>
              </a:rPr>
              <a:t>) allow shear sense to be inferred</a:t>
            </a:r>
          </a:p>
        </p:txBody>
      </p:sp>
      <p:pic>
        <p:nvPicPr>
          <p:cNvPr id="26630" name="Picture 6" descr="09a">
            <a:extLst>
              <a:ext uri="{FF2B5EF4-FFF2-40B4-BE49-F238E27FC236}">
                <a16:creationId xmlns:a16="http://schemas.microsoft.com/office/drawing/2014/main" id="{625DEEEB-2273-411F-ADB9-6EC616A6EB90}"/>
              </a:ext>
            </a:extLst>
          </p:cNvPr>
          <p:cNvPicPr>
            <a:picLocks noGrp="1" noChangeAspect="1" noChangeArrowheads="1"/>
          </p:cNvPicPr>
          <p:nvPr>
            <p:ph sz="quarter" idx="2"/>
          </p:nvPr>
        </p:nvPicPr>
        <p:blipFill>
          <a:blip r:embed="rId4">
            <a:extLst>
              <a:ext uri="{28A0092B-C50C-407E-A947-70E740481C1C}">
                <a14:useLocalDpi xmlns:a14="http://schemas.microsoft.com/office/drawing/2010/main" val="0"/>
              </a:ext>
            </a:extLst>
          </a:blip>
          <a:srcRect/>
          <a:stretch>
            <a:fillRect/>
          </a:stretch>
        </p:blipFill>
        <p:spPr>
          <a:xfrm>
            <a:off x="6834188" y="935038"/>
            <a:ext cx="2114550" cy="2787650"/>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6631" name="Text Box 8">
            <a:extLst>
              <a:ext uri="{FF2B5EF4-FFF2-40B4-BE49-F238E27FC236}">
                <a16:creationId xmlns:a16="http://schemas.microsoft.com/office/drawing/2014/main" id="{93AD65FF-F962-45B0-8E43-B042BDBA608E}"/>
              </a:ext>
            </a:extLst>
          </p:cNvPr>
          <p:cNvSpPr txBox="1">
            <a:spLocks noChangeArrowheads="1"/>
          </p:cNvSpPr>
          <p:nvPr/>
        </p:nvSpPr>
        <p:spPr bwMode="auto">
          <a:xfrm>
            <a:off x="8210550" y="1836738"/>
            <a:ext cx="781050" cy="730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spcBef>
                <a:spcPct val="100000"/>
              </a:spcBef>
            </a:pPr>
            <a:r>
              <a:rPr lang="en-GB" altLang="en-US" sz="1400">
                <a:solidFill>
                  <a:schemeClr val="bg2"/>
                </a:solidFill>
                <a:effectLst/>
                <a:latin typeface="Symbol" panose="05050102010706020507" pitchFamily="18" charset="2"/>
              </a:rPr>
              <a:t>s</a:t>
            </a:r>
            <a:r>
              <a:rPr lang="en-GB" altLang="en-US" sz="1400">
                <a:solidFill>
                  <a:schemeClr val="bg2"/>
                </a:solidFill>
                <a:effectLst/>
                <a:latin typeface="Arial" panose="020B0604020202020204" pitchFamily="34" charset="0"/>
              </a:rPr>
              <a:t>-type</a:t>
            </a:r>
          </a:p>
          <a:p>
            <a:pPr>
              <a:spcBef>
                <a:spcPct val="100000"/>
              </a:spcBef>
            </a:pPr>
            <a:r>
              <a:rPr lang="en-GB" altLang="en-US" sz="1400">
                <a:solidFill>
                  <a:schemeClr val="bg2"/>
                </a:solidFill>
                <a:effectLst/>
                <a:latin typeface="Symbol" panose="05050102010706020507" pitchFamily="18" charset="2"/>
              </a:rPr>
              <a:t>d</a:t>
            </a:r>
            <a:r>
              <a:rPr lang="en-GB" altLang="en-US" sz="1400">
                <a:solidFill>
                  <a:schemeClr val="bg2"/>
                </a:solidFill>
                <a:effectLst/>
                <a:latin typeface="Arial" panose="020B0604020202020204" pitchFamily="34" charset="0"/>
              </a:rPr>
              <a:t>-type</a:t>
            </a:r>
          </a:p>
        </p:txBody>
      </p:sp>
      <p:sp>
        <p:nvSpPr>
          <p:cNvPr id="26632" name="Text Box 9">
            <a:extLst>
              <a:ext uri="{FF2B5EF4-FFF2-40B4-BE49-F238E27FC236}">
                <a16:creationId xmlns:a16="http://schemas.microsoft.com/office/drawing/2014/main" id="{AA9E0DD5-F0FD-484F-8E10-636C8B94A2AA}"/>
              </a:ext>
            </a:extLst>
          </p:cNvPr>
          <p:cNvSpPr txBox="1">
            <a:spLocks noChangeArrowheads="1"/>
          </p:cNvSpPr>
          <p:nvPr/>
        </p:nvSpPr>
        <p:spPr bwMode="auto">
          <a:xfrm>
            <a:off x="7902575" y="4035425"/>
            <a:ext cx="8509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spcBef>
                <a:spcPct val="50000"/>
              </a:spcBef>
            </a:pPr>
            <a:r>
              <a:rPr lang="en-GB" altLang="en-US" b="1">
                <a:solidFill>
                  <a:srgbClr val="FF0000"/>
                </a:solidFill>
                <a:effectLst/>
                <a:latin typeface="Symbol" panose="05050102010706020507" pitchFamily="18" charset="2"/>
              </a:rPr>
              <a:t>s</a:t>
            </a:r>
            <a:r>
              <a:rPr lang="en-GB" altLang="en-US" b="1">
                <a:solidFill>
                  <a:srgbClr val="FF0000"/>
                </a:solidFill>
                <a:effectLst/>
                <a:latin typeface="Arial" panose="020B0604020202020204" pitchFamily="34" charset="0"/>
              </a:rPr>
              <a:t>-type</a:t>
            </a:r>
          </a:p>
        </p:txBody>
      </p:sp>
      <p:sp>
        <p:nvSpPr>
          <p:cNvPr id="388109" name="Freeform 13">
            <a:extLst>
              <a:ext uri="{FF2B5EF4-FFF2-40B4-BE49-F238E27FC236}">
                <a16:creationId xmlns:a16="http://schemas.microsoft.com/office/drawing/2014/main" id="{C6BEDB6A-32BC-4554-A893-39C1933162E9}"/>
              </a:ext>
            </a:extLst>
          </p:cNvPr>
          <p:cNvSpPr>
            <a:spLocks/>
          </p:cNvSpPr>
          <p:nvPr/>
        </p:nvSpPr>
        <p:spPr bwMode="auto">
          <a:xfrm rot="1121939">
            <a:off x="6683375" y="4187825"/>
            <a:ext cx="574675" cy="214313"/>
          </a:xfrm>
          <a:custGeom>
            <a:avLst/>
            <a:gdLst>
              <a:gd name="T0" fmla="*/ 0 w 362"/>
              <a:gd name="T1" fmla="*/ 135 h 135"/>
              <a:gd name="T2" fmla="*/ 362 w 362"/>
              <a:gd name="T3" fmla="*/ 28 h 135"/>
              <a:gd name="T4" fmla="*/ 249 w 362"/>
              <a:gd name="T5" fmla="*/ 0 h 135"/>
            </a:gdLst>
            <a:ahLst/>
            <a:cxnLst>
              <a:cxn ang="0">
                <a:pos x="T0" y="T1"/>
              </a:cxn>
              <a:cxn ang="0">
                <a:pos x="T2" y="T3"/>
              </a:cxn>
              <a:cxn ang="0">
                <a:pos x="T4" y="T5"/>
              </a:cxn>
            </a:cxnLst>
            <a:rect l="0" t="0" r="r" b="b"/>
            <a:pathLst>
              <a:path w="362" h="135">
                <a:moveTo>
                  <a:pt x="0" y="135"/>
                </a:moveTo>
                <a:lnTo>
                  <a:pt x="362" y="28"/>
                </a:lnTo>
                <a:lnTo>
                  <a:pt x="249" y="0"/>
                </a:lnTo>
              </a:path>
            </a:pathLst>
          </a:custGeom>
          <a:noFill/>
          <a:ln w="28575"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GB">
              <a:latin typeface="Helvetica" charset="0"/>
            </a:endParaRPr>
          </a:p>
        </p:txBody>
      </p:sp>
      <p:pic>
        <p:nvPicPr>
          <p:cNvPr id="26634" name="Picture 17" descr="Seine1a">
            <a:extLst>
              <a:ext uri="{FF2B5EF4-FFF2-40B4-BE49-F238E27FC236}">
                <a16:creationId xmlns:a16="http://schemas.microsoft.com/office/drawing/2014/main" id="{0A79B8F8-776A-469B-BE5E-3C15C006ED6B}"/>
              </a:ext>
            </a:extLst>
          </p:cNvPr>
          <p:cNvPicPr>
            <a:picLocks noGrp="1" noChangeAspect="1" noChangeArrowheads="1"/>
          </p:cNvPicPr>
          <p:nvPr>
            <p:ph sz="quarter" idx="3"/>
          </p:nvPr>
        </p:nvPicPr>
        <p:blipFill>
          <a:blip r:embed="rId5">
            <a:extLst>
              <a:ext uri="{28A0092B-C50C-407E-A947-70E740481C1C}">
                <a14:useLocalDpi xmlns:a14="http://schemas.microsoft.com/office/drawing/2010/main" val="0"/>
              </a:ext>
            </a:extLst>
          </a:blip>
          <a:srcRect/>
          <a:stretch>
            <a:fillRect/>
          </a:stretch>
        </p:blipFill>
        <p:spPr>
          <a:xfrm>
            <a:off x="306388" y="2095500"/>
            <a:ext cx="3716337" cy="2789238"/>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26635" name="Picture 19" descr="Seine1b">
            <a:extLst>
              <a:ext uri="{FF2B5EF4-FFF2-40B4-BE49-F238E27FC236}">
                <a16:creationId xmlns:a16="http://schemas.microsoft.com/office/drawing/2014/main" id="{951AE771-8EBF-42F3-90D3-FEF30C0C5F9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98938" y="2095500"/>
            <a:ext cx="1905000" cy="1428750"/>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388116" name="Text Box 20">
            <a:extLst>
              <a:ext uri="{FF2B5EF4-FFF2-40B4-BE49-F238E27FC236}">
                <a16:creationId xmlns:a16="http://schemas.microsoft.com/office/drawing/2014/main" id="{7D8A27A4-0140-4F3A-9251-59EC81F0BD55}"/>
              </a:ext>
            </a:extLst>
          </p:cNvPr>
          <p:cNvSpPr txBox="1">
            <a:spLocks noChangeArrowheads="1"/>
          </p:cNvSpPr>
          <p:nvPr/>
        </p:nvSpPr>
        <p:spPr bwMode="auto">
          <a:xfrm>
            <a:off x="128588" y="5143500"/>
            <a:ext cx="4651375" cy="1336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6213" indent="-176213">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50000"/>
              </a:spcBef>
              <a:buClr>
                <a:schemeClr val="tx1"/>
              </a:buClr>
              <a:buFontTx/>
              <a:buChar char="•"/>
            </a:pPr>
            <a:r>
              <a:rPr lang="en-GB" altLang="en-US" sz="1700">
                <a:effectLst>
                  <a:outerShdw blurRad="38100" dist="38100" dir="2700000" algn="tl">
                    <a:srgbClr val="000000"/>
                  </a:outerShdw>
                </a:effectLst>
                <a:latin typeface="Arial" panose="020B0604020202020204" pitchFamily="34" charset="0"/>
              </a:rPr>
              <a:t>In </a:t>
            </a:r>
            <a:r>
              <a:rPr lang="en-GB" altLang="en-US" sz="1700">
                <a:effectLst>
                  <a:outerShdw blurRad="38100" dist="38100" dir="2700000" algn="tl">
                    <a:srgbClr val="000000"/>
                  </a:outerShdw>
                </a:effectLst>
                <a:latin typeface="Symbol" panose="05050102010706020507" pitchFamily="18" charset="2"/>
              </a:rPr>
              <a:t>s</a:t>
            </a:r>
            <a:r>
              <a:rPr lang="en-GB" altLang="en-US" sz="800">
                <a:effectLst>
                  <a:outerShdw blurRad="38100" dist="38100" dir="2700000" algn="tl">
                    <a:srgbClr val="000000"/>
                  </a:outerShdw>
                </a:effectLst>
                <a:latin typeface="Symbol" panose="05050102010706020507" pitchFamily="18" charset="2"/>
              </a:rPr>
              <a:t> </a:t>
            </a:r>
            <a:r>
              <a:rPr lang="en-GB" altLang="en-US" sz="1700">
                <a:effectLst>
                  <a:outerShdw blurRad="38100" dist="38100" dir="2700000" algn="tl">
                    <a:srgbClr val="000000"/>
                  </a:outerShdw>
                </a:effectLst>
                <a:latin typeface="Arial" panose="020B0604020202020204" pitchFamily="34" charset="0"/>
              </a:rPr>
              <a:t>-</a:t>
            </a:r>
            <a:r>
              <a:rPr lang="en-GB" altLang="en-US" sz="800">
                <a:effectLst>
                  <a:outerShdw blurRad="38100" dist="38100" dir="2700000" algn="tl">
                    <a:srgbClr val="000000"/>
                  </a:outerShdw>
                </a:effectLst>
                <a:latin typeface="Arial" panose="020B0604020202020204" pitchFamily="34" charset="0"/>
              </a:rPr>
              <a:t> </a:t>
            </a:r>
            <a:r>
              <a:rPr lang="en-GB" altLang="en-US" sz="1700">
                <a:effectLst>
                  <a:outerShdw blurRad="38100" dist="38100" dir="2700000" algn="tl">
                    <a:srgbClr val="000000"/>
                  </a:outerShdw>
                </a:effectLst>
                <a:latin typeface="Arial" panose="020B0604020202020204" pitchFamily="34" charset="0"/>
              </a:rPr>
              <a:t>type porphyroclasts, the observation that the tips of the wings lie at different elevations on either side of the porphyroclast is described as </a:t>
            </a:r>
            <a:r>
              <a:rPr lang="en-GB" altLang="en-US" sz="1700">
                <a:solidFill>
                  <a:srgbClr val="FF66CC"/>
                </a:solidFill>
                <a:effectLst>
                  <a:outerShdw blurRad="38100" dist="38100" dir="2700000" algn="tl">
                    <a:srgbClr val="000000"/>
                  </a:outerShdw>
                </a:effectLst>
                <a:latin typeface="Arial" panose="020B0604020202020204" pitchFamily="34" charset="0"/>
              </a:rPr>
              <a:t>stair-stepping</a:t>
            </a:r>
          </a:p>
        </p:txBody>
      </p:sp>
    </p:spTree>
  </p:cSld>
  <p:clrMapOvr>
    <a:masterClrMapping/>
  </p:clrMapOvr>
  <p:transition spd="slow"/>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4">
            <a:extLst>
              <a:ext uri="{FF2B5EF4-FFF2-40B4-BE49-F238E27FC236}">
                <a16:creationId xmlns:a16="http://schemas.microsoft.com/office/drawing/2014/main" id="{680A51A5-8997-4F76-A100-2402C549C89A}"/>
              </a:ext>
            </a:extLst>
          </p:cNvPr>
          <p:cNvSpPr>
            <a:spLocks noGrp="1" noChangeArrowheads="1"/>
          </p:cNvSpPr>
          <p:nvPr>
            <p:ph type="title" sz="quarter"/>
          </p:nvPr>
        </p:nvSpPr>
        <p:spPr>
          <a:noFill/>
        </p:spPr>
        <p:txBody>
          <a:bodyPr/>
          <a:lstStyle/>
          <a:p>
            <a:r>
              <a:rPr lang="en-GB" altLang="en-US" dirty="0">
                <a:effectLst/>
              </a:rPr>
              <a:t>Mantled </a:t>
            </a:r>
            <a:r>
              <a:rPr lang="en-GB" altLang="en-US" dirty="0" err="1">
                <a:effectLst/>
              </a:rPr>
              <a:t>porphyroclasts</a:t>
            </a:r>
            <a:r>
              <a:rPr lang="en-GB" altLang="en-US" dirty="0">
                <a:effectLst/>
              </a:rPr>
              <a:t> (</a:t>
            </a:r>
            <a:r>
              <a:rPr lang="el-GR" altLang="en-US" dirty="0">
                <a:effectLst/>
                <a:latin typeface="Cambria Math" panose="02040503050406030204" pitchFamily="18" charset="0"/>
                <a:ea typeface="Cambria Math" panose="02040503050406030204" pitchFamily="18" charset="0"/>
                <a:cs typeface="Arial" panose="020B0604020202020204" pitchFamily="34" charset="0"/>
              </a:rPr>
              <a:t>δ</a:t>
            </a:r>
            <a:r>
              <a:rPr lang="en-GB" altLang="en-US" sz="1400" dirty="0">
                <a:effectLst/>
                <a:latin typeface="Symbol" panose="05050102010706020507" pitchFamily="18" charset="2"/>
                <a:cs typeface="Arial" panose="020B0604020202020204" pitchFamily="34" charset="0"/>
              </a:rPr>
              <a:t> </a:t>
            </a:r>
            <a:r>
              <a:rPr lang="en-GB" altLang="en-US" dirty="0">
                <a:effectLst/>
                <a:cs typeface="Arial" panose="020B0604020202020204" pitchFamily="34" charset="0"/>
              </a:rPr>
              <a:t>-</a:t>
            </a:r>
            <a:r>
              <a:rPr lang="en-GB" altLang="en-US" sz="1400" dirty="0">
                <a:effectLst/>
                <a:cs typeface="Arial" panose="020B0604020202020204" pitchFamily="34" charset="0"/>
              </a:rPr>
              <a:t> </a:t>
            </a:r>
            <a:r>
              <a:rPr lang="en-GB" altLang="en-US" dirty="0">
                <a:effectLst/>
                <a:cs typeface="Arial" panose="020B0604020202020204" pitchFamily="34" charset="0"/>
              </a:rPr>
              <a:t>type)</a:t>
            </a:r>
            <a:endParaRPr lang="el-GR" altLang="en-US" dirty="0">
              <a:effectLst/>
              <a:cs typeface="Arial" panose="020B0604020202020204" pitchFamily="34" charset="0"/>
            </a:endParaRPr>
          </a:p>
        </p:txBody>
      </p:sp>
      <p:pic>
        <p:nvPicPr>
          <p:cNvPr id="27651" name="Picture 16" descr="deltaporphclastlow1">
            <a:extLst>
              <a:ext uri="{FF2B5EF4-FFF2-40B4-BE49-F238E27FC236}">
                <a16:creationId xmlns:a16="http://schemas.microsoft.com/office/drawing/2014/main" id="{4EA5B335-F6D3-4ECE-A5B3-A5BE8A9307EC}"/>
              </a:ext>
            </a:extLst>
          </p:cNvPr>
          <p:cNvPicPr>
            <a:picLocks noGrp="1" noChangeAspect="1" noChangeArrowheads="1"/>
          </p:cNvPicPr>
          <p:nvPr>
            <p:ph sz="quarter" idx="1"/>
          </p:nvPr>
        </p:nvPicPr>
        <p:blipFill>
          <a:blip r:embed="rId3">
            <a:extLst>
              <a:ext uri="{28A0092B-C50C-407E-A947-70E740481C1C}">
                <a14:useLocalDpi xmlns:a14="http://schemas.microsoft.com/office/drawing/2010/main" val="0"/>
              </a:ext>
            </a:extLst>
          </a:blip>
          <a:srcRect/>
          <a:stretch>
            <a:fillRect/>
          </a:stretch>
        </p:blipFill>
        <p:spPr>
          <a:xfrm>
            <a:off x="434975" y="908050"/>
            <a:ext cx="6069013" cy="2781300"/>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27652" name="Picture 6" descr="09a">
            <a:extLst>
              <a:ext uri="{FF2B5EF4-FFF2-40B4-BE49-F238E27FC236}">
                <a16:creationId xmlns:a16="http://schemas.microsoft.com/office/drawing/2014/main" id="{8563A1A6-D36E-4A7A-8828-5AECB2465B0D}"/>
              </a:ext>
            </a:extLst>
          </p:cNvPr>
          <p:cNvPicPr>
            <a:picLocks noGrp="1" noChangeAspect="1" noChangeArrowheads="1"/>
          </p:cNvPicPr>
          <p:nvPr>
            <p:ph sz="quarter" idx="2"/>
          </p:nvPr>
        </p:nvPicPr>
        <p:blipFill>
          <a:blip r:embed="rId4">
            <a:extLst>
              <a:ext uri="{28A0092B-C50C-407E-A947-70E740481C1C}">
                <a14:useLocalDpi xmlns:a14="http://schemas.microsoft.com/office/drawing/2010/main" val="0"/>
              </a:ext>
            </a:extLst>
          </a:blip>
          <a:srcRect/>
          <a:stretch>
            <a:fillRect/>
          </a:stretch>
        </p:blipFill>
        <p:spPr>
          <a:xfrm>
            <a:off x="6981825" y="908050"/>
            <a:ext cx="1997075" cy="2787650"/>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27653" name="Picture 7" descr="09c-delta clast Grenville">
            <a:extLst>
              <a:ext uri="{FF2B5EF4-FFF2-40B4-BE49-F238E27FC236}">
                <a16:creationId xmlns:a16="http://schemas.microsoft.com/office/drawing/2014/main" id="{A1214BCA-5876-42C6-A56A-15059A12B6C0}"/>
              </a:ext>
            </a:extLst>
          </p:cNvPr>
          <p:cNvPicPr>
            <a:picLocks noGrp="1" noChangeAspect="1" noChangeArrowheads="1"/>
          </p:cNvPicPr>
          <p:nvPr>
            <p:ph sz="quarter" idx="3"/>
          </p:nvPr>
        </p:nvPicPr>
        <p:blipFill>
          <a:blip r:embed="rId5">
            <a:lum bright="-6000"/>
            <a:extLst>
              <a:ext uri="{28A0092B-C50C-407E-A947-70E740481C1C}">
                <a14:useLocalDpi xmlns:a14="http://schemas.microsoft.com/office/drawing/2010/main" val="0"/>
              </a:ext>
            </a:extLst>
          </a:blip>
          <a:srcRect/>
          <a:stretch>
            <a:fillRect/>
          </a:stretch>
        </p:blipFill>
        <p:spPr>
          <a:xfrm>
            <a:off x="4237038" y="3852863"/>
            <a:ext cx="4741862" cy="2806700"/>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7654" name="Text Box 8">
            <a:extLst>
              <a:ext uri="{FF2B5EF4-FFF2-40B4-BE49-F238E27FC236}">
                <a16:creationId xmlns:a16="http://schemas.microsoft.com/office/drawing/2014/main" id="{156EF98B-E33D-455B-938F-961814BD4970}"/>
              </a:ext>
            </a:extLst>
          </p:cNvPr>
          <p:cNvSpPr txBox="1">
            <a:spLocks noChangeArrowheads="1"/>
          </p:cNvSpPr>
          <p:nvPr/>
        </p:nvSpPr>
        <p:spPr bwMode="auto">
          <a:xfrm>
            <a:off x="8086725" y="1836738"/>
            <a:ext cx="781050" cy="730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spcBef>
                <a:spcPct val="100000"/>
              </a:spcBef>
            </a:pPr>
            <a:r>
              <a:rPr lang="en-GB" altLang="en-US" sz="1400">
                <a:solidFill>
                  <a:schemeClr val="bg2"/>
                </a:solidFill>
                <a:effectLst/>
                <a:latin typeface="Symbol" panose="05050102010706020507" pitchFamily="18" charset="2"/>
              </a:rPr>
              <a:t>s</a:t>
            </a:r>
            <a:r>
              <a:rPr lang="en-GB" altLang="en-US" sz="1400">
                <a:solidFill>
                  <a:schemeClr val="bg2"/>
                </a:solidFill>
                <a:effectLst/>
                <a:latin typeface="Arial" panose="020B0604020202020204" pitchFamily="34" charset="0"/>
              </a:rPr>
              <a:t>-type</a:t>
            </a:r>
          </a:p>
          <a:p>
            <a:pPr>
              <a:spcBef>
                <a:spcPct val="100000"/>
              </a:spcBef>
            </a:pPr>
            <a:r>
              <a:rPr lang="en-GB" altLang="en-US" sz="1400">
                <a:solidFill>
                  <a:schemeClr val="bg2"/>
                </a:solidFill>
                <a:effectLst/>
                <a:latin typeface="Symbol" panose="05050102010706020507" pitchFamily="18" charset="2"/>
              </a:rPr>
              <a:t>d</a:t>
            </a:r>
            <a:r>
              <a:rPr lang="en-GB" altLang="en-US" sz="1400">
                <a:solidFill>
                  <a:schemeClr val="bg2"/>
                </a:solidFill>
                <a:effectLst/>
                <a:latin typeface="Arial" panose="020B0604020202020204" pitchFamily="34" charset="0"/>
              </a:rPr>
              <a:t>-type</a:t>
            </a:r>
          </a:p>
        </p:txBody>
      </p:sp>
      <p:sp>
        <p:nvSpPr>
          <p:cNvPr id="390156" name="Freeform 12">
            <a:extLst>
              <a:ext uri="{FF2B5EF4-FFF2-40B4-BE49-F238E27FC236}">
                <a16:creationId xmlns:a16="http://schemas.microsoft.com/office/drawing/2014/main" id="{C900F22F-A490-4B8D-9DF3-6374A8CC2359}"/>
              </a:ext>
            </a:extLst>
          </p:cNvPr>
          <p:cNvSpPr>
            <a:spLocks/>
          </p:cNvSpPr>
          <p:nvPr/>
        </p:nvSpPr>
        <p:spPr bwMode="auto">
          <a:xfrm>
            <a:off x="5630863" y="4160838"/>
            <a:ext cx="574675" cy="214312"/>
          </a:xfrm>
          <a:custGeom>
            <a:avLst/>
            <a:gdLst>
              <a:gd name="T0" fmla="*/ 0 w 362"/>
              <a:gd name="T1" fmla="*/ 135 h 135"/>
              <a:gd name="T2" fmla="*/ 362 w 362"/>
              <a:gd name="T3" fmla="*/ 28 h 135"/>
              <a:gd name="T4" fmla="*/ 249 w 362"/>
              <a:gd name="T5" fmla="*/ 0 h 135"/>
            </a:gdLst>
            <a:ahLst/>
            <a:cxnLst>
              <a:cxn ang="0">
                <a:pos x="T0" y="T1"/>
              </a:cxn>
              <a:cxn ang="0">
                <a:pos x="T2" y="T3"/>
              </a:cxn>
              <a:cxn ang="0">
                <a:pos x="T4" y="T5"/>
              </a:cxn>
            </a:cxnLst>
            <a:rect l="0" t="0" r="r" b="b"/>
            <a:pathLst>
              <a:path w="362" h="135">
                <a:moveTo>
                  <a:pt x="0" y="135"/>
                </a:moveTo>
                <a:lnTo>
                  <a:pt x="362" y="28"/>
                </a:lnTo>
                <a:lnTo>
                  <a:pt x="249" y="0"/>
                </a:lnTo>
              </a:path>
            </a:pathLst>
          </a:custGeom>
          <a:noFill/>
          <a:ln w="28575"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GB">
              <a:latin typeface="Helvetica" charset="0"/>
            </a:endParaRPr>
          </a:p>
        </p:txBody>
      </p:sp>
      <p:sp>
        <p:nvSpPr>
          <p:cNvPr id="390162" name="Freeform 18">
            <a:extLst>
              <a:ext uri="{FF2B5EF4-FFF2-40B4-BE49-F238E27FC236}">
                <a16:creationId xmlns:a16="http://schemas.microsoft.com/office/drawing/2014/main" id="{5FF123FA-158D-4174-83B4-92FD3D167A1A}"/>
              </a:ext>
            </a:extLst>
          </p:cNvPr>
          <p:cNvSpPr>
            <a:spLocks/>
          </p:cNvSpPr>
          <p:nvPr/>
        </p:nvSpPr>
        <p:spPr bwMode="auto">
          <a:xfrm rot="20411980" flipH="1">
            <a:off x="3379788" y="955675"/>
            <a:ext cx="481012" cy="214313"/>
          </a:xfrm>
          <a:custGeom>
            <a:avLst/>
            <a:gdLst>
              <a:gd name="T0" fmla="*/ 0 w 362"/>
              <a:gd name="T1" fmla="*/ 135 h 135"/>
              <a:gd name="T2" fmla="*/ 362 w 362"/>
              <a:gd name="T3" fmla="*/ 28 h 135"/>
              <a:gd name="T4" fmla="*/ 249 w 362"/>
              <a:gd name="T5" fmla="*/ 0 h 135"/>
            </a:gdLst>
            <a:ahLst/>
            <a:cxnLst>
              <a:cxn ang="0">
                <a:pos x="T0" y="T1"/>
              </a:cxn>
              <a:cxn ang="0">
                <a:pos x="T2" y="T3"/>
              </a:cxn>
              <a:cxn ang="0">
                <a:pos x="T4" y="T5"/>
              </a:cxn>
            </a:cxnLst>
            <a:rect l="0" t="0" r="r" b="b"/>
            <a:pathLst>
              <a:path w="362" h="135">
                <a:moveTo>
                  <a:pt x="0" y="135"/>
                </a:moveTo>
                <a:lnTo>
                  <a:pt x="362" y="28"/>
                </a:lnTo>
                <a:lnTo>
                  <a:pt x="249" y="0"/>
                </a:lnTo>
              </a:path>
            </a:pathLst>
          </a:custGeom>
          <a:noFill/>
          <a:ln w="28575"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GB">
              <a:latin typeface="Helvetica" charset="0"/>
            </a:endParaRPr>
          </a:p>
        </p:txBody>
      </p:sp>
      <p:pic>
        <p:nvPicPr>
          <p:cNvPr id="27657" name="Picture 19" descr="11_7">
            <a:extLst>
              <a:ext uri="{FF2B5EF4-FFF2-40B4-BE49-F238E27FC236}">
                <a16:creationId xmlns:a16="http://schemas.microsoft.com/office/drawing/2014/main" id="{9B1505AC-E42F-4497-8BA0-B57B7A088041}"/>
              </a:ext>
            </a:extLst>
          </p:cNvPr>
          <p:cNvPicPr>
            <a:picLocks noGrp="1" noChangeAspect="1" noChangeArrowheads="1"/>
          </p:cNvPicPr>
          <p:nvPr>
            <p:ph sz="quarter" idx="4"/>
          </p:nvPr>
        </p:nvPicPr>
        <p:blipFill>
          <a:blip r:embed="rId6">
            <a:extLst>
              <a:ext uri="{28A0092B-C50C-407E-A947-70E740481C1C}">
                <a14:useLocalDpi xmlns:a14="http://schemas.microsoft.com/office/drawing/2010/main" val="0"/>
              </a:ext>
            </a:extLst>
          </a:blip>
          <a:srcRect/>
          <a:stretch>
            <a:fillRect/>
          </a:stretch>
        </p:blipFill>
        <p:spPr>
          <a:xfrm>
            <a:off x="431800" y="3857625"/>
            <a:ext cx="3617913" cy="2444750"/>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90166" name="Freeform 22">
            <a:extLst>
              <a:ext uri="{FF2B5EF4-FFF2-40B4-BE49-F238E27FC236}">
                <a16:creationId xmlns:a16="http://schemas.microsoft.com/office/drawing/2014/main" id="{8F5170AB-767C-41F3-B583-0D99640F45EC}"/>
              </a:ext>
            </a:extLst>
          </p:cNvPr>
          <p:cNvSpPr>
            <a:spLocks/>
          </p:cNvSpPr>
          <p:nvPr/>
        </p:nvSpPr>
        <p:spPr bwMode="auto">
          <a:xfrm rot="757159">
            <a:off x="1825625" y="4111625"/>
            <a:ext cx="574675" cy="214313"/>
          </a:xfrm>
          <a:custGeom>
            <a:avLst/>
            <a:gdLst>
              <a:gd name="T0" fmla="*/ 0 w 362"/>
              <a:gd name="T1" fmla="*/ 135 h 135"/>
              <a:gd name="T2" fmla="*/ 362 w 362"/>
              <a:gd name="T3" fmla="*/ 28 h 135"/>
              <a:gd name="T4" fmla="*/ 249 w 362"/>
              <a:gd name="T5" fmla="*/ 0 h 135"/>
            </a:gdLst>
            <a:ahLst/>
            <a:cxnLst>
              <a:cxn ang="0">
                <a:pos x="T0" y="T1"/>
              </a:cxn>
              <a:cxn ang="0">
                <a:pos x="T2" y="T3"/>
              </a:cxn>
              <a:cxn ang="0">
                <a:pos x="T4" y="T5"/>
              </a:cxn>
            </a:cxnLst>
            <a:rect l="0" t="0" r="r" b="b"/>
            <a:pathLst>
              <a:path w="362" h="135">
                <a:moveTo>
                  <a:pt x="0" y="135"/>
                </a:moveTo>
                <a:lnTo>
                  <a:pt x="362" y="28"/>
                </a:lnTo>
                <a:lnTo>
                  <a:pt x="249" y="0"/>
                </a:lnTo>
              </a:path>
            </a:pathLst>
          </a:custGeom>
          <a:noFill/>
          <a:ln w="28575"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GB">
              <a:latin typeface="Helvetica" charset="0"/>
            </a:endParaRPr>
          </a:p>
        </p:txBody>
      </p:sp>
    </p:spTree>
  </p:cSld>
  <p:clrMapOvr>
    <a:masterClrMapping/>
  </p:clrMapOvr>
  <p:transition spd="slow"/>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363BF102-A780-4CCF-B4B8-C918E3AC17F1}"/>
              </a:ext>
            </a:extLst>
          </p:cNvPr>
          <p:cNvSpPr>
            <a:spLocks noGrp="1" noChangeArrowheads="1"/>
          </p:cNvSpPr>
          <p:nvPr>
            <p:ph type="title"/>
          </p:nvPr>
        </p:nvSpPr>
        <p:spPr>
          <a:noFill/>
        </p:spPr>
        <p:txBody>
          <a:bodyPr/>
          <a:lstStyle/>
          <a:p>
            <a:r>
              <a:rPr lang="en-GB" altLang="en-US">
                <a:effectLst/>
              </a:rPr>
              <a:t>Sigmoids and quarter structures</a:t>
            </a:r>
          </a:p>
        </p:txBody>
      </p:sp>
      <p:sp>
        <p:nvSpPr>
          <p:cNvPr id="28675" name="Rectangle 3">
            <a:extLst>
              <a:ext uri="{FF2B5EF4-FFF2-40B4-BE49-F238E27FC236}">
                <a16:creationId xmlns:a16="http://schemas.microsoft.com/office/drawing/2014/main" id="{6BF130C2-326B-4E89-8C59-DAB5551539C7}"/>
              </a:ext>
            </a:extLst>
          </p:cNvPr>
          <p:cNvSpPr>
            <a:spLocks noGrp="1" noChangeArrowheads="1"/>
          </p:cNvSpPr>
          <p:nvPr>
            <p:ph type="body" sz="half" idx="1"/>
          </p:nvPr>
        </p:nvSpPr>
        <p:spPr>
          <a:xfrm>
            <a:off x="128587" y="5392763"/>
            <a:ext cx="3607071" cy="1342574"/>
          </a:xfrm>
          <a:noFill/>
        </p:spPr>
        <p:txBody>
          <a:bodyPr/>
          <a:lstStyle/>
          <a:p>
            <a:pPr marL="177800" indent="-177800">
              <a:spcBef>
                <a:spcPct val="75000"/>
              </a:spcBef>
            </a:pPr>
            <a:r>
              <a:rPr lang="en-GB" altLang="en-US" sz="1700" dirty="0">
                <a:effectLst/>
              </a:rPr>
              <a:t>The way in which the foliation wraps around the </a:t>
            </a:r>
            <a:r>
              <a:rPr lang="en-GB" altLang="en-US" sz="1700" dirty="0" err="1">
                <a:effectLst/>
              </a:rPr>
              <a:t>porphyroclast</a:t>
            </a:r>
            <a:r>
              <a:rPr lang="en-GB" altLang="en-US" sz="1700" dirty="0">
                <a:effectLst/>
              </a:rPr>
              <a:t> may be used to infer shear sense</a:t>
            </a:r>
            <a:r>
              <a:rPr lang="en-GB" altLang="en-US" sz="1700" dirty="0">
                <a:solidFill>
                  <a:srgbClr val="FF66CC"/>
                </a:solidFill>
                <a:effectLst/>
              </a:rPr>
              <a:t> </a:t>
            </a:r>
            <a:r>
              <a:rPr lang="en-GB" altLang="en-US" sz="1700" dirty="0">
                <a:effectLst/>
              </a:rPr>
              <a:t>(</a:t>
            </a:r>
            <a:r>
              <a:rPr lang="en-GB" altLang="en-US" sz="1700" dirty="0">
                <a:solidFill>
                  <a:srgbClr val="FF6600"/>
                </a:solidFill>
                <a:effectLst/>
              </a:rPr>
              <a:t>quarter structures</a:t>
            </a:r>
            <a:r>
              <a:rPr lang="en-GB" altLang="en-US" sz="1700" dirty="0">
                <a:effectLst/>
              </a:rPr>
              <a:t>)</a:t>
            </a:r>
          </a:p>
        </p:txBody>
      </p:sp>
      <p:sp>
        <p:nvSpPr>
          <p:cNvPr id="315401" name="Text Box 9">
            <a:extLst>
              <a:ext uri="{FF2B5EF4-FFF2-40B4-BE49-F238E27FC236}">
                <a16:creationId xmlns:a16="http://schemas.microsoft.com/office/drawing/2014/main" id="{9AD39FD7-C0BB-426A-BFFE-80538D8B86A3}"/>
              </a:ext>
            </a:extLst>
          </p:cNvPr>
          <p:cNvSpPr txBox="1">
            <a:spLocks noChangeArrowheads="1"/>
          </p:cNvSpPr>
          <p:nvPr/>
        </p:nvSpPr>
        <p:spPr bwMode="auto">
          <a:xfrm>
            <a:off x="128588" y="833438"/>
            <a:ext cx="5938771" cy="1025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179388" indent="-179388">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50000"/>
              </a:spcBef>
              <a:buClr>
                <a:schemeClr val="tx1"/>
              </a:buClr>
              <a:buFontTx/>
              <a:buChar char="•"/>
            </a:pPr>
            <a:r>
              <a:rPr lang="en-GB" altLang="en-US" sz="1700" dirty="0" err="1">
                <a:solidFill>
                  <a:srgbClr val="FF6600"/>
                </a:solidFill>
                <a:effectLst>
                  <a:outerShdw blurRad="38100" dist="38100" dir="2700000" algn="tl">
                    <a:srgbClr val="000000"/>
                  </a:outerShdw>
                </a:effectLst>
                <a:latin typeface="Arial" panose="020B0604020202020204" pitchFamily="34" charset="0"/>
              </a:rPr>
              <a:t>Sigmoids</a:t>
            </a:r>
            <a:r>
              <a:rPr lang="en-GB" altLang="en-US" sz="1700" dirty="0">
                <a:effectLst>
                  <a:outerShdw blurRad="38100" dist="38100" dir="2700000" algn="tl">
                    <a:srgbClr val="000000"/>
                  </a:outerShdw>
                </a:effectLst>
                <a:latin typeface="Arial" panose="020B0604020202020204" pitchFamily="34" charset="0"/>
              </a:rPr>
              <a:t> have similar geometry to </a:t>
            </a:r>
            <a:r>
              <a:rPr lang="el-GR" altLang="en-US" sz="1700" dirty="0">
                <a:effectLst>
                  <a:outerShdw blurRad="38100" dist="38100" dir="2700000" algn="tl">
                    <a:srgbClr val="000000"/>
                  </a:outerShdw>
                </a:effectLst>
                <a:latin typeface="Cambria Math" panose="02040503050406030204" pitchFamily="18" charset="0"/>
                <a:ea typeface="Cambria Math" panose="02040503050406030204" pitchFamily="18" charset="0"/>
              </a:rPr>
              <a:t>σ</a:t>
            </a:r>
            <a:r>
              <a:rPr lang="en-GB" altLang="en-US" sz="800" dirty="0">
                <a:effectLst>
                  <a:outerShdw blurRad="38100" dist="38100" dir="2700000" algn="tl">
                    <a:srgbClr val="000000"/>
                  </a:outerShdw>
                </a:effectLst>
                <a:latin typeface="Symbol" panose="05050102010706020507" pitchFamily="18" charset="2"/>
              </a:rPr>
              <a:t> </a:t>
            </a:r>
            <a:r>
              <a:rPr lang="en-GB" altLang="en-US" sz="1700" dirty="0">
                <a:effectLst>
                  <a:outerShdw blurRad="38100" dist="38100" dir="2700000" algn="tl">
                    <a:srgbClr val="000000"/>
                  </a:outerShdw>
                </a:effectLst>
                <a:latin typeface="Arial" panose="020B0604020202020204" pitchFamily="34" charset="0"/>
              </a:rPr>
              <a:t>-</a:t>
            </a:r>
            <a:r>
              <a:rPr lang="en-GB" altLang="en-US" sz="800" dirty="0">
                <a:effectLst>
                  <a:outerShdw blurRad="38100" dist="38100" dir="2700000" algn="tl">
                    <a:srgbClr val="000000"/>
                  </a:outerShdw>
                </a:effectLst>
                <a:latin typeface="Arial" panose="020B0604020202020204" pitchFamily="34" charset="0"/>
              </a:rPr>
              <a:t> </a:t>
            </a:r>
            <a:r>
              <a:rPr lang="en-GB" altLang="en-US" sz="1700" dirty="0">
                <a:effectLst>
                  <a:outerShdw blurRad="38100" dist="38100" dir="2700000" algn="tl">
                    <a:srgbClr val="000000"/>
                  </a:outerShdw>
                </a:effectLst>
                <a:latin typeface="Arial" panose="020B0604020202020204" pitchFamily="34" charset="0"/>
              </a:rPr>
              <a:t>type mantled </a:t>
            </a:r>
            <a:r>
              <a:rPr lang="en-GB" altLang="en-US" sz="1700" dirty="0" err="1">
                <a:effectLst>
                  <a:outerShdw blurRad="38100" dist="38100" dir="2700000" algn="tl">
                    <a:srgbClr val="000000"/>
                  </a:outerShdw>
                </a:effectLst>
                <a:latin typeface="Arial" panose="020B0604020202020204" pitchFamily="34" charset="0"/>
              </a:rPr>
              <a:t>porphyroclasts</a:t>
            </a:r>
            <a:r>
              <a:rPr lang="en-GB" altLang="en-US" sz="1700" dirty="0">
                <a:effectLst>
                  <a:outerShdw blurRad="38100" dist="38100" dir="2700000" algn="tl">
                    <a:srgbClr val="000000"/>
                  </a:outerShdw>
                </a:effectLst>
                <a:latin typeface="Arial" panose="020B0604020202020204" pitchFamily="34" charset="0"/>
              </a:rPr>
              <a:t> but they lack the central rigid clast, perhaps because it has been entirely recrystallized</a:t>
            </a:r>
          </a:p>
        </p:txBody>
      </p:sp>
      <p:pic>
        <p:nvPicPr>
          <p:cNvPr id="28677" name="Picture 2" descr="GR33.jpg">
            <a:extLst>
              <a:ext uri="{FF2B5EF4-FFF2-40B4-BE49-F238E27FC236}">
                <a16:creationId xmlns:a16="http://schemas.microsoft.com/office/drawing/2014/main" id="{0623FD21-59BF-44C9-B8F7-5523DEE1CC3B}"/>
              </a:ext>
            </a:extLst>
          </p:cNvPr>
          <p:cNvPicPr>
            <a:picLocks noGrp="1" noChangeAspect="1"/>
          </p:cNvPicPr>
          <p:nvPr>
            <p:ph sz="quarter" idx="2"/>
          </p:nvPr>
        </p:nvPicPr>
        <p:blipFill rotWithShape="1">
          <a:blip r:embed="rId3">
            <a:extLst>
              <a:ext uri="{28A0092B-C50C-407E-A947-70E740481C1C}">
                <a14:useLocalDpi xmlns:a14="http://schemas.microsoft.com/office/drawing/2010/main" val="0"/>
              </a:ext>
            </a:extLst>
          </a:blip>
          <a:srcRect b="2980"/>
          <a:stretch/>
        </p:blipFill>
        <p:spPr>
          <a:xfrm>
            <a:off x="357735" y="2070291"/>
            <a:ext cx="3112159" cy="3204235"/>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15398" name="Freeform 6">
            <a:extLst>
              <a:ext uri="{FF2B5EF4-FFF2-40B4-BE49-F238E27FC236}">
                <a16:creationId xmlns:a16="http://schemas.microsoft.com/office/drawing/2014/main" id="{1038A797-796A-4C6B-A1D1-A4C4011C0D89}"/>
              </a:ext>
            </a:extLst>
          </p:cNvPr>
          <p:cNvSpPr>
            <a:spLocks/>
          </p:cNvSpPr>
          <p:nvPr/>
        </p:nvSpPr>
        <p:spPr bwMode="auto">
          <a:xfrm>
            <a:off x="463583" y="2107261"/>
            <a:ext cx="912812" cy="1198562"/>
          </a:xfrm>
          <a:custGeom>
            <a:avLst/>
            <a:gdLst>
              <a:gd name="T0" fmla="*/ 695 w 785"/>
              <a:gd name="T1" fmla="*/ 0 h 875"/>
              <a:gd name="T2" fmla="*/ 243 w 785"/>
              <a:gd name="T3" fmla="*/ 311 h 875"/>
              <a:gd name="T4" fmla="*/ 0 w 785"/>
              <a:gd name="T5" fmla="*/ 751 h 875"/>
              <a:gd name="T6" fmla="*/ 0 w 785"/>
              <a:gd name="T7" fmla="*/ 875 h 875"/>
              <a:gd name="T8" fmla="*/ 85 w 785"/>
              <a:gd name="T9" fmla="*/ 870 h 875"/>
              <a:gd name="T10" fmla="*/ 175 w 785"/>
              <a:gd name="T11" fmla="*/ 706 h 875"/>
              <a:gd name="T12" fmla="*/ 305 w 785"/>
              <a:gd name="T13" fmla="*/ 491 h 875"/>
              <a:gd name="T14" fmla="*/ 571 w 785"/>
              <a:gd name="T15" fmla="*/ 226 h 875"/>
              <a:gd name="T16" fmla="*/ 785 w 785"/>
              <a:gd name="T17" fmla="*/ 90 h 875"/>
              <a:gd name="T18" fmla="*/ 763 w 785"/>
              <a:gd name="T19" fmla="*/ 17 h 875"/>
              <a:gd name="T20" fmla="*/ 695 w 785"/>
              <a:gd name="T21" fmla="*/ 0 h 8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85" h="875">
                <a:moveTo>
                  <a:pt x="695" y="0"/>
                </a:moveTo>
                <a:lnTo>
                  <a:pt x="243" y="311"/>
                </a:lnTo>
                <a:lnTo>
                  <a:pt x="0" y="751"/>
                </a:lnTo>
                <a:lnTo>
                  <a:pt x="0" y="875"/>
                </a:lnTo>
                <a:lnTo>
                  <a:pt x="85" y="870"/>
                </a:lnTo>
                <a:lnTo>
                  <a:pt x="175" y="706"/>
                </a:lnTo>
                <a:lnTo>
                  <a:pt x="305" y="491"/>
                </a:lnTo>
                <a:lnTo>
                  <a:pt x="571" y="226"/>
                </a:lnTo>
                <a:lnTo>
                  <a:pt x="785" y="90"/>
                </a:lnTo>
                <a:lnTo>
                  <a:pt x="763" y="17"/>
                </a:lnTo>
                <a:lnTo>
                  <a:pt x="695" y="0"/>
                </a:lnTo>
                <a:close/>
              </a:path>
            </a:pathLst>
          </a:custGeom>
          <a:solidFill>
            <a:schemeClr val="folHlink"/>
          </a:soli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GB">
              <a:latin typeface="Helvetica" charset="0"/>
            </a:endParaRPr>
          </a:p>
        </p:txBody>
      </p:sp>
      <p:sp>
        <p:nvSpPr>
          <p:cNvPr id="315399" name="Freeform 7">
            <a:extLst>
              <a:ext uri="{FF2B5EF4-FFF2-40B4-BE49-F238E27FC236}">
                <a16:creationId xmlns:a16="http://schemas.microsoft.com/office/drawing/2014/main" id="{6A84554C-DFC3-471E-A396-6D7BF2B75D6B}"/>
              </a:ext>
            </a:extLst>
          </p:cNvPr>
          <p:cNvSpPr>
            <a:spLocks/>
          </p:cNvSpPr>
          <p:nvPr/>
        </p:nvSpPr>
        <p:spPr bwMode="auto">
          <a:xfrm rot="463116">
            <a:off x="2227515" y="2184734"/>
            <a:ext cx="1220787" cy="995362"/>
          </a:xfrm>
          <a:custGeom>
            <a:avLst/>
            <a:gdLst>
              <a:gd name="T0" fmla="*/ 0 w 898"/>
              <a:gd name="T1" fmla="*/ 90 h 729"/>
              <a:gd name="T2" fmla="*/ 294 w 898"/>
              <a:gd name="T3" fmla="*/ 209 h 729"/>
              <a:gd name="T4" fmla="*/ 542 w 898"/>
              <a:gd name="T5" fmla="*/ 390 h 729"/>
              <a:gd name="T6" fmla="*/ 808 w 898"/>
              <a:gd name="T7" fmla="*/ 729 h 729"/>
              <a:gd name="T8" fmla="*/ 898 w 898"/>
              <a:gd name="T9" fmla="*/ 627 h 729"/>
              <a:gd name="T10" fmla="*/ 706 w 898"/>
              <a:gd name="T11" fmla="*/ 328 h 729"/>
              <a:gd name="T12" fmla="*/ 333 w 898"/>
              <a:gd name="T13" fmla="*/ 74 h 729"/>
              <a:gd name="T14" fmla="*/ 73 w 898"/>
              <a:gd name="T15" fmla="*/ 0 h 729"/>
              <a:gd name="T16" fmla="*/ 0 w 898"/>
              <a:gd name="T17" fmla="*/ 90 h 7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98" h="729">
                <a:moveTo>
                  <a:pt x="0" y="90"/>
                </a:moveTo>
                <a:lnTo>
                  <a:pt x="294" y="209"/>
                </a:lnTo>
                <a:lnTo>
                  <a:pt x="542" y="390"/>
                </a:lnTo>
                <a:lnTo>
                  <a:pt x="808" y="729"/>
                </a:lnTo>
                <a:lnTo>
                  <a:pt x="898" y="627"/>
                </a:lnTo>
                <a:lnTo>
                  <a:pt x="706" y="328"/>
                </a:lnTo>
                <a:lnTo>
                  <a:pt x="333" y="74"/>
                </a:lnTo>
                <a:lnTo>
                  <a:pt x="73" y="0"/>
                </a:lnTo>
                <a:lnTo>
                  <a:pt x="0" y="90"/>
                </a:lnTo>
                <a:close/>
              </a:path>
            </a:pathLst>
          </a:custGeom>
          <a:solidFill>
            <a:schemeClr val="folHlink"/>
          </a:soli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GB">
              <a:latin typeface="Helvetica" charset="0"/>
            </a:endParaRPr>
          </a:p>
        </p:txBody>
      </p:sp>
      <p:pic>
        <p:nvPicPr>
          <p:cNvPr id="28680" name="Picture 15" descr="09f3b">
            <a:extLst>
              <a:ext uri="{FF2B5EF4-FFF2-40B4-BE49-F238E27FC236}">
                <a16:creationId xmlns:a16="http://schemas.microsoft.com/office/drawing/2014/main" id="{F418ADA0-D00B-49A3-9946-C9BFB12C00EB}"/>
              </a:ext>
            </a:extLst>
          </p:cNvPr>
          <p:cNvPicPr>
            <a:picLocks noGrp="1" noChangeAspect="1" noChangeArrowheads="1"/>
          </p:cNvPicPr>
          <p:nvPr>
            <p:ph sz="quarter" idx="3"/>
          </p:nvPr>
        </p:nvPicPr>
        <p:blipFill>
          <a:blip r:embed="rId4">
            <a:extLst>
              <a:ext uri="{28A0092B-C50C-407E-A947-70E740481C1C}">
                <a14:useLocalDpi xmlns:a14="http://schemas.microsoft.com/office/drawing/2010/main" val="0"/>
              </a:ext>
            </a:extLst>
          </a:blip>
          <a:srcRect/>
          <a:stretch>
            <a:fillRect/>
          </a:stretch>
        </p:blipFill>
        <p:spPr>
          <a:xfrm>
            <a:off x="6136549" y="982662"/>
            <a:ext cx="1992694" cy="784358"/>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15411" name="Freeform 19">
            <a:extLst>
              <a:ext uri="{FF2B5EF4-FFF2-40B4-BE49-F238E27FC236}">
                <a16:creationId xmlns:a16="http://schemas.microsoft.com/office/drawing/2014/main" id="{FF68EDF3-69F8-4866-B4AE-8D74A22FEA8C}"/>
              </a:ext>
            </a:extLst>
          </p:cNvPr>
          <p:cNvSpPr>
            <a:spLocks/>
          </p:cNvSpPr>
          <p:nvPr/>
        </p:nvSpPr>
        <p:spPr bwMode="auto">
          <a:xfrm>
            <a:off x="6993799" y="798157"/>
            <a:ext cx="341313" cy="71438"/>
          </a:xfrm>
          <a:custGeom>
            <a:avLst/>
            <a:gdLst>
              <a:gd name="T0" fmla="*/ 215 w 215"/>
              <a:gd name="T1" fmla="*/ 45 h 45"/>
              <a:gd name="T2" fmla="*/ 0 w 215"/>
              <a:gd name="T3" fmla="*/ 45 h 45"/>
              <a:gd name="T4" fmla="*/ 51 w 215"/>
              <a:gd name="T5" fmla="*/ 0 h 45"/>
            </a:gdLst>
            <a:ahLst/>
            <a:cxnLst>
              <a:cxn ang="0">
                <a:pos x="T0" y="T1"/>
              </a:cxn>
              <a:cxn ang="0">
                <a:pos x="T2" y="T3"/>
              </a:cxn>
              <a:cxn ang="0">
                <a:pos x="T4" y="T5"/>
              </a:cxn>
            </a:cxnLst>
            <a:rect l="0" t="0" r="r" b="b"/>
            <a:pathLst>
              <a:path w="215" h="45">
                <a:moveTo>
                  <a:pt x="215" y="45"/>
                </a:moveTo>
                <a:lnTo>
                  <a:pt x="0" y="45"/>
                </a:lnTo>
                <a:lnTo>
                  <a:pt x="51" y="0"/>
                </a:lnTo>
              </a:path>
            </a:pathLst>
          </a:custGeom>
          <a:noFill/>
          <a:ln w="38100"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GB">
              <a:latin typeface="Helvetica" charset="0"/>
            </a:endParaRPr>
          </a:p>
        </p:txBody>
      </p:sp>
      <p:pic>
        <p:nvPicPr>
          <p:cNvPr id="28683" name="Picture 23">
            <a:extLst>
              <a:ext uri="{FF2B5EF4-FFF2-40B4-BE49-F238E27FC236}">
                <a16:creationId xmlns:a16="http://schemas.microsoft.com/office/drawing/2014/main" id="{DB82433C-6A94-4FCB-8449-1215A80EABE3}"/>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rot="2219125">
            <a:off x="2774052" y="2327644"/>
            <a:ext cx="604837" cy="504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15416" name="Freeform 24">
            <a:extLst>
              <a:ext uri="{FF2B5EF4-FFF2-40B4-BE49-F238E27FC236}">
                <a16:creationId xmlns:a16="http://schemas.microsoft.com/office/drawing/2014/main" id="{212931E8-2912-43DB-945F-F76CF5FF050B}"/>
              </a:ext>
            </a:extLst>
          </p:cNvPr>
          <p:cNvSpPr>
            <a:spLocks/>
          </p:cNvSpPr>
          <p:nvPr/>
        </p:nvSpPr>
        <p:spPr bwMode="auto">
          <a:xfrm rot="-4495078">
            <a:off x="3064564" y="2054594"/>
            <a:ext cx="95250" cy="266700"/>
          </a:xfrm>
          <a:custGeom>
            <a:avLst/>
            <a:gdLst>
              <a:gd name="T0" fmla="*/ 33 w 42"/>
              <a:gd name="T1" fmla="*/ 168 h 168"/>
              <a:gd name="T2" fmla="*/ 0 w 42"/>
              <a:gd name="T3" fmla="*/ 0 h 168"/>
              <a:gd name="T4" fmla="*/ 42 w 42"/>
              <a:gd name="T5" fmla="*/ 36 h 168"/>
            </a:gdLst>
            <a:ahLst/>
            <a:cxnLst>
              <a:cxn ang="0">
                <a:pos x="T0" y="T1"/>
              </a:cxn>
              <a:cxn ang="0">
                <a:pos x="T2" y="T3"/>
              </a:cxn>
              <a:cxn ang="0">
                <a:pos x="T4" y="T5"/>
              </a:cxn>
            </a:cxnLst>
            <a:rect l="0" t="0" r="r" b="b"/>
            <a:pathLst>
              <a:path w="42" h="168">
                <a:moveTo>
                  <a:pt x="33" y="168"/>
                </a:moveTo>
                <a:lnTo>
                  <a:pt x="0" y="0"/>
                </a:lnTo>
                <a:lnTo>
                  <a:pt x="42" y="36"/>
                </a:lnTo>
              </a:path>
            </a:pathLst>
          </a:custGeom>
          <a:noFill/>
          <a:ln w="28575"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GB">
              <a:latin typeface="Helvetica" charset="0"/>
            </a:endParaRPr>
          </a:p>
        </p:txBody>
      </p:sp>
      <p:sp>
        <p:nvSpPr>
          <p:cNvPr id="315417" name="Freeform 25">
            <a:extLst>
              <a:ext uri="{FF2B5EF4-FFF2-40B4-BE49-F238E27FC236}">
                <a16:creationId xmlns:a16="http://schemas.microsoft.com/office/drawing/2014/main" id="{D1C7CB5A-BC51-469C-9563-F15EC4AEE2B6}"/>
              </a:ext>
            </a:extLst>
          </p:cNvPr>
          <p:cNvSpPr>
            <a:spLocks/>
          </p:cNvSpPr>
          <p:nvPr/>
        </p:nvSpPr>
        <p:spPr bwMode="auto">
          <a:xfrm rot="6304922">
            <a:off x="3042339" y="2822944"/>
            <a:ext cx="95250" cy="266700"/>
          </a:xfrm>
          <a:custGeom>
            <a:avLst/>
            <a:gdLst>
              <a:gd name="T0" fmla="*/ 33 w 42"/>
              <a:gd name="T1" fmla="*/ 168 h 168"/>
              <a:gd name="T2" fmla="*/ 0 w 42"/>
              <a:gd name="T3" fmla="*/ 0 h 168"/>
              <a:gd name="T4" fmla="*/ 42 w 42"/>
              <a:gd name="T5" fmla="*/ 36 h 168"/>
            </a:gdLst>
            <a:ahLst/>
            <a:cxnLst>
              <a:cxn ang="0">
                <a:pos x="T0" y="T1"/>
              </a:cxn>
              <a:cxn ang="0">
                <a:pos x="T2" y="T3"/>
              </a:cxn>
              <a:cxn ang="0">
                <a:pos x="T4" y="T5"/>
              </a:cxn>
            </a:cxnLst>
            <a:rect l="0" t="0" r="r" b="b"/>
            <a:pathLst>
              <a:path w="42" h="168">
                <a:moveTo>
                  <a:pt x="33" y="168"/>
                </a:moveTo>
                <a:lnTo>
                  <a:pt x="0" y="0"/>
                </a:lnTo>
                <a:lnTo>
                  <a:pt x="42" y="36"/>
                </a:lnTo>
              </a:path>
            </a:pathLst>
          </a:custGeom>
          <a:noFill/>
          <a:ln w="28575"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GB">
              <a:latin typeface="Helvetica" charset="0"/>
            </a:endParaRPr>
          </a:p>
        </p:txBody>
      </p:sp>
      <p:pic>
        <p:nvPicPr>
          <p:cNvPr id="4" name="Picture 3">
            <a:extLst>
              <a:ext uri="{FF2B5EF4-FFF2-40B4-BE49-F238E27FC236}">
                <a16:creationId xmlns:a16="http://schemas.microsoft.com/office/drawing/2014/main" id="{683B5F5C-C113-4569-BB8E-37B09F6D8A80}"/>
              </a:ext>
            </a:extLst>
          </p:cNvPr>
          <p:cNvPicPr>
            <a:picLocks noChangeAspect="1"/>
          </p:cNvPicPr>
          <p:nvPr/>
        </p:nvPicPr>
        <p:blipFill rotWithShape="1">
          <a:blip r:embed="rId6">
            <a:extLst>
              <a:ext uri="{BEBA8EAE-BF5A-486C-A8C5-ECC9F3942E4B}">
                <a14:imgProps xmlns:a14="http://schemas.microsoft.com/office/drawing/2010/main">
                  <a14:imgLayer r:embed="rId7">
                    <a14:imgEffect>
                      <a14:brightnessContrast contrast="15000"/>
                    </a14:imgEffect>
                  </a14:imgLayer>
                </a14:imgProps>
              </a:ext>
              <a:ext uri="{28A0092B-C50C-407E-A947-70E740481C1C}">
                <a14:useLocalDpi xmlns:a14="http://schemas.microsoft.com/office/drawing/2010/main" val="0"/>
              </a:ext>
            </a:extLst>
          </a:blip>
          <a:srcRect/>
          <a:stretch/>
        </p:blipFill>
        <p:spPr>
          <a:xfrm>
            <a:off x="3886380" y="2003385"/>
            <a:ext cx="4838487" cy="4519536"/>
          </a:xfrm>
          <a:prstGeom prst="rect">
            <a:avLst/>
          </a:prstGeom>
          <a:ln w="38100">
            <a:solidFill>
              <a:schemeClr val="bg1"/>
            </a:solidFill>
          </a:ln>
        </p:spPr>
      </p:pic>
    </p:spTree>
    <p:extLst>
      <p:ext uri="{BB962C8B-B14F-4D97-AF65-F5344CB8AC3E}">
        <p14:creationId xmlns:p14="http://schemas.microsoft.com/office/powerpoint/2010/main" val="2151826039"/>
      </p:ext>
    </p:extLst>
  </p:cSld>
  <p:clrMapOvr>
    <a:masterClrMapping/>
  </p:clrMapOvr>
  <p:transition spd="slow"/>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ECB851A2-E1F7-4144-9E82-2DF71C9D2A28}"/>
              </a:ext>
            </a:extLst>
          </p:cNvPr>
          <p:cNvSpPr>
            <a:spLocks noGrp="1" noChangeArrowheads="1"/>
          </p:cNvSpPr>
          <p:nvPr>
            <p:ph type="title"/>
          </p:nvPr>
        </p:nvSpPr>
        <p:spPr>
          <a:noFill/>
        </p:spPr>
        <p:txBody>
          <a:bodyPr/>
          <a:lstStyle/>
          <a:p>
            <a:r>
              <a:rPr lang="en-GB" altLang="en-US">
                <a:effectLst/>
              </a:rPr>
              <a:t>Strain fringes</a:t>
            </a:r>
          </a:p>
        </p:txBody>
      </p:sp>
      <p:sp>
        <p:nvSpPr>
          <p:cNvPr id="29699" name="Rectangle 3">
            <a:extLst>
              <a:ext uri="{FF2B5EF4-FFF2-40B4-BE49-F238E27FC236}">
                <a16:creationId xmlns:a16="http://schemas.microsoft.com/office/drawing/2014/main" id="{09E603E7-E18D-4A55-9DD6-CEBAD071D298}"/>
              </a:ext>
            </a:extLst>
          </p:cNvPr>
          <p:cNvSpPr>
            <a:spLocks noGrp="1" noChangeArrowheads="1"/>
          </p:cNvSpPr>
          <p:nvPr>
            <p:ph type="body" sz="half" idx="1"/>
          </p:nvPr>
        </p:nvSpPr>
        <p:spPr>
          <a:xfrm>
            <a:off x="133350" y="962025"/>
            <a:ext cx="4433888" cy="2303463"/>
          </a:xfrm>
          <a:noFill/>
        </p:spPr>
        <p:txBody>
          <a:bodyPr/>
          <a:lstStyle/>
          <a:p>
            <a:pPr marL="177800" indent="-177800">
              <a:spcBef>
                <a:spcPct val="75000"/>
              </a:spcBef>
            </a:pPr>
            <a:r>
              <a:rPr lang="en-GB" altLang="en-US" sz="1700">
                <a:effectLst/>
              </a:rPr>
              <a:t>The </a:t>
            </a:r>
            <a:r>
              <a:rPr lang="en-GB" altLang="en-US" sz="1700">
                <a:solidFill>
                  <a:srgbClr val="FF66CC"/>
                </a:solidFill>
                <a:effectLst/>
              </a:rPr>
              <a:t>oblique orientation of the incremental strain ellipse</a:t>
            </a:r>
            <a:r>
              <a:rPr lang="en-GB" altLang="en-US" sz="1700">
                <a:effectLst/>
              </a:rPr>
              <a:t> to the margins of shear zones may also lead to asymmetry in the development of </a:t>
            </a:r>
            <a:r>
              <a:rPr lang="en-GB" altLang="en-US" sz="1700">
                <a:solidFill>
                  <a:srgbClr val="FF6600"/>
                </a:solidFill>
                <a:effectLst/>
              </a:rPr>
              <a:t>strain fringes</a:t>
            </a:r>
            <a:r>
              <a:rPr lang="en-GB" altLang="en-US" sz="1700">
                <a:effectLst/>
              </a:rPr>
              <a:t> around objects in shear zones because the fringes develop preferentially in the direction of maximum extension</a:t>
            </a:r>
          </a:p>
        </p:txBody>
      </p:sp>
      <p:pic>
        <p:nvPicPr>
          <p:cNvPr id="29700" name="Picture 4" descr="09f1">
            <a:extLst>
              <a:ext uri="{FF2B5EF4-FFF2-40B4-BE49-F238E27FC236}">
                <a16:creationId xmlns:a16="http://schemas.microsoft.com/office/drawing/2014/main" id="{A0AEDB04-1A3D-4609-AD65-2BEDC8DE6E50}"/>
              </a:ext>
            </a:extLst>
          </p:cNvPr>
          <p:cNvPicPr>
            <a:picLocks noGrp="1" noChangeAspect="1" noChangeArrowheads="1"/>
          </p:cNvPicPr>
          <p:nvPr>
            <p:ph sz="quarter" idx="2"/>
          </p:nvPr>
        </p:nvPicPr>
        <p:blipFill>
          <a:blip r:embed="rId3">
            <a:extLst>
              <a:ext uri="{28A0092B-C50C-407E-A947-70E740481C1C}">
                <a14:useLocalDpi xmlns:a14="http://schemas.microsoft.com/office/drawing/2010/main" val="0"/>
              </a:ext>
            </a:extLst>
          </a:blip>
          <a:srcRect/>
          <a:stretch>
            <a:fillRect/>
          </a:stretch>
        </p:blipFill>
        <p:spPr>
          <a:xfrm>
            <a:off x="293688" y="3676650"/>
            <a:ext cx="1281112" cy="2946400"/>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29701" name="Picture 6" descr="09f2">
            <a:extLst>
              <a:ext uri="{FF2B5EF4-FFF2-40B4-BE49-F238E27FC236}">
                <a16:creationId xmlns:a16="http://schemas.microsoft.com/office/drawing/2014/main" id="{C8204304-A150-43EB-BF6B-4B2684257734}"/>
              </a:ext>
            </a:extLst>
          </p:cNvPr>
          <p:cNvPicPr>
            <a:picLocks noGrp="1" noChangeAspect="1" noChangeArrowheads="1"/>
          </p:cNvPicPr>
          <p:nvPr>
            <p:ph sz="quarter" idx="3"/>
          </p:nvPr>
        </p:nvPicPr>
        <p:blipFill>
          <a:blip r:embed="rId4">
            <a:extLst>
              <a:ext uri="{28A0092B-C50C-407E-A947-70E740481C1C}">
                <a14:useLocalDpi xmlns:a14="http://schemas.microsoft.com/office/drawing/2010/main" val="0"/>
              </a:ext>
            </a:extLst>
          </a:blip>
          <a:srcRect/>
          <a:stretch>
            <a:fillRect/>
          </a:stretch>
        </p:blipFill>
        <p:spPr>
          <a:xfrm>
            <a:off x="1858963" y="3671888"/>
            <a:ext cx="4640262" cy="2951162"/>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07220" name="Freeform 20">
            <a:extLst>
              <a:ext uri="{FF2B5EF4-FFF2-40B4-BE49-F238E27FC236}">
                <a16:creationId xmlns:a16="http://schemas.microsoft.com/office/drawing/2014/main" id="{A804047D-D193-4F86-A180-A81A770FD832}"/>
              </a:ext>
            </a:extLst>
          </p:cNvPr>
          <p:cNvSpPr>
            <a:spLocks/>
          </p:cNvSpPr>
          <p:nvPr/>
        </p:nvSpPr>
        <p:spPr bwMode="auto">
          <a:xfrm>
            <a:off x="5040313" y="3981450"/>
            <a:ext cx="747712" cy="303213"/>
          </a:xfrm>
          <a:custGeom>
            <a:avLst/>
            <a:gdLst>
              <a:gd name="T0" fmla="*/ 0 w 469"/>
              <a:gd name="T1" fmla="*/ 0 h 175"/>
              <a:gd name="T2" fmla="*/ 469 w 469"/>
              <a:gd name="T3" fmla="*/ 175 h 175"/>
              <a:gd name="T4" fmla="*/ 413 w 469"/>
              <a:gd name="T5" fmla="*/ 62 h 175"/>
            </a:gdLst>
            <a:ahLst/>
            <a:cxnLst>
              <a:cxn ang="0">
                <a:pos x="T0" y="T1"/>
              </a:cxn>
              <a:cxn ang="0">
                <a:pos x="T2" y="T3"/>
              </a:cxn>
              <a:cxn ang="0">
                <a:pos x="T4" y="T5"/>
              </a:cxn>
            </a:cxnLst>
            <a:rect l="0" t="0" r="r" b="b"/>
            <a:pathLst>
              <a:path w="469" h="175">
                <a:moveTo>
                  <a:pt x="0" y="0"/>
                </a:moveTo>
                <a:lnTo>
                  <a:pt x="469" y="175"/>
                </a:lnTo>
                <a:lnTo>
                  <a:pt x="413" y="62"/>
                </a:lnTo>
              </a:path>
            </a:pathLst>
          </a:custGeom>
          <a:noFill/>
          <a:ln w="28575"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GB">
              <a:latin typeface="Helvetica" charset="0"/>
            </a:endParaRPr>
          </a:p>
        </p:txBody>
      </p:sp>
      <p:sp>
        <p:nvSpPr>
          <p:cNvPr id="29703" name="Text Box 28">
            <a:extLst>
              <a:ext uri="{FF2B5EF4-FFF2-40B4-BE49-F238E27FC236}">
                <a16:creationId xmlns:a16="http://schemas.microsoft.com/office/drawing/2014/main" id="{EF7F44C5-701E-43E0-8F49-5681A7046E41}"/>
              </a:ext>
            </a:extLst>
          </p:cNvPr>
          <p:cNvSpPr txBox="1">
            <a:spLocks noChangeArrowheads="1"/>
          </p:cNvSpPr>
          <p:nvPr/>
        </p:nvSpPr>
        <p:spPr bwMode="auto">
          <a:xfrm>
            <a:off x="6667500" y="4462463"/>
            <a:ext cx="2143125" cy="204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15000"/>
              </a:lnSpc>
              <a:spcBef>
                <a:spcPct val="50000"/>
              </a:spcBef>
            </a:pPr>
            <a:r>
              <a:rPr lang="en-GB" altLang="en-US" sz="1400">
                <a:solidFill>
                  <a:srgbClr val="FFFF00"/>
                </a:solidFill>
                <a:effectLst/>
                <a:latin typeface="Arial" panose="020B0604020202020204" pitchFamily="34" charset="0"/>
              </a:rPr>
              <a:t>If the strain fringe is fibrous, then the fibres may provide information about the reorientation of the rock relative to the incremental strain ellipse during progressive deformation</a:t>
            </a:r>
          </a:p>
        </p:txBody>
      </p:sp>
      <p:grpSp>
        <p:nvGrpSpPr>
          <p:cNvPr id="29704" name="Group 32">
            <a:extLst>
              <a:ext uri="{FF2B5EF4-FFF2-40B4-BE49-F238E27FC236}">
                <a16:creationId xmlns:a16="http://schemas.microsoft.com/office/drawing/2014/main" id="{C056CB65-E77F-463B-9BC4-CF79DEB672D9}"/>
              </a:ext>
            </a:extLst>
          </p:cNvPr>
          <p:cNvGrpSpPr>
            <a:grpSpLocks/>
          </p:cNvGrpSpPr>
          <p:nvPr/>
        </p:nvGrpSpPr>
        <p:grpSpPr bwMode="auto">
          <a:xfrm>
            <a:off x="4860925" y="1082675"/>
            <a:ext cx="4024313" cy="2465388"/>
            <a:chOff x="2953" y="514"/>
            <a:chExt cx="2739" cy="1705"/>
          </a:xfrm>
        </p:grpSpPr>
        <p:sp>
          <p:nvSpPr>
            <p:cNvPr id="307231" name="Rectangle 31">
              <a:extLst>
                <a:ext uri="{FF2B5EF4-FFF2-40B4-BE49-F238E27FC236}">
                  <a16:creationId xmlns:a16="http://schemas.microsoft.com/office/drawing/2014/main" id="{38CE1FE1-1494-40EC-BFB3-261BA2C8654F}"/>
                </a:ext>
              </a:extLst>
            </p:cNvPr>
            <p:cNvSpPr>
              <a:spLocks noChangeArrowheads="1"/>
            </p:cNvSpPr>
            <p:nvPr/>
          </p:nvSpPr>
          <p:spPr bwMode="auto">
            <a:xfrm>
              <a:off x="2953" y="514"/>
              <a:ext cx="2739" cy="1705"/>
            </a:xfrm>
            <a:prstGeom prst="rect">
              <a:avLst/>
            </a:prstGeom>
            <a:solidFill>
              <a:schemeClr val="folHlink"/>
            </a:solidFill>
            <a:ln w="381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GB">
                <a:latin typeface="Helvetica" charset="0"/>
              </a:endParaRPr>
            </a:p>
          </p:txBody>
        </p:sp>
        <p:pic>
          <p:nvPicPr>
            <p:cNvPr id="29711" name="Picture 2" descr="GR30.jpg">
              <a:extLst>
                <a:ext uri="{FF2B5EF4-FFF2-40B4-BE49-F238E27FC236}">
                  <a16:creationId xmlns:a16="http://schemas.microsoft.com/office/drawing/2014/main" id="{E839C051-5735-4C64-BAC7-8B89D5D54280}"/>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3004" y="566"/>
              <a:ext cx="2650" cy="15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307230" name="Freeform 30">
            <a:extLst>
              <a:ext uri="{FF2B5EF4-FFF2-40B4-BE49-F238E27FC236}">
                <a16:creationId xmlns:a16="http://schemas.microsoft.com/office/drawing/2014/main" id="{CF6C8354-032B-49B1-B603-177A1CA33D7E}"/>
              </a:ext>
            </a:extLst>
          </p:cNvPr>
          <p:cNvSpPr>
            <a:spLocks/>
          </p:cNvSpPr>
          <p:nvPr/>
        </p:nvSpPr>
        <p:spPr bwMode="auto">
          <a:xfrm>
            <a:off x="6072188" y="825500"/>
            <a:ext cx="1543050" cy="152400"/>
          </a:xfrm>
          <a:custGeom>
            <a:avLst/>
            <a:gdLst>
              <a:gd name="T0" fmla="*/ 972 w 972"/>
              <a:gd name="T1" fmla="*/ 96 h 96"/>
              <a:gd name="T2" fmla="*/ 0 w 972"/>
              <a:gd name="T3" fmla="*/ 96 h 96"/>
              <a:gd name="T4" fmla="*/ 175 w 972"/>
              <a:gd name="T5" fmla="*/ 0 h 96"/>
            </a:gdLst>
            <a:ahLst/>
            <a:cxnLst>
              <a:cxn ang="0">
                <a:pos x="T0" y="T1"/>
              </a:cxn>
              <a:cxn ang="0">
                <a:pos x="T2" y="T3"/>
              </a:cxn>
              <a:cxn ang="0">
                <a:pos x="T4" y="T5"/>
              </a:cxn>
            </a:cxnLst>
            <a:rect l="0" t="0" r="r" b="b"/>
            <a:pathLst>
              <a:path w="972" h="96">
                <a:moveTo>
                  <a:pt x="972" y="96"/>
                </a:moveTo>
                <a:lnTo>
                  <a:pt x="0" y="96"/>
                </a:lnTo>
                <a:lnTo>
                  <a:pt x="175" y="0"/>
                </a:lnTo>
              </a:path>
            </a:pathLst>
          </a:custGeom>
          <a:noFill/>
          <a:ln w="38100"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GB">
              <a:latin typeface="Helvetica" charset="0"/>
            </a:endParaRPr>
          </a:p>
        </p:txBody>
      </p:sp>
      <p:grpSp>
        <p:nvGrpSpPr>
          <p:cNvPr id="29706" name="Group 37">
            <a:extLst>
              <a:ext uri="{FF2B5EF4-FFF2-40B4-BE49-F238E27FC236}">
                <a16:creationId xmlns:a16="http://schemas.microsoft.com/office/drawing/2014/main" id="{289166F2-EC45-49BE-8B3C-755FF3620032}"/>
              </a:ext>
            </a:extLst>
          </p:cNvPr>
          <p:cNvGrpSpPr>
            <a:grpSpLocks/>
          </p:cNvGrpSpPr>
          <p:nvPr/>
        </p:nvGrpSpPr>
        <p:grpSpPr bwMode="auto">
          <a:xfrm rot="-133409">
            <a:off x="1978025" y="5845175"/>
            <a:ext cx="773113" cy="652463"/>
            <a:chOff x="1246" y="3601"/>
            <a:chExt cx="583" cy="492"/>
          </a:xfrm>
        </p:grpSpPr>
        <p:pic>
          <p:nvPicPr>
            <p:cNvPr id="29707" name="Picture 34">
              <a:extLst>
                <a:ext uri="{FF2B5EF4-FFF2-40B4-BE49-F238E27FC236}">
                  <a16:creationId xmlns:a16="http://schemas.microsoft.com/office/drawing/2014/main" id="{BBBC5551-FC09-4DC8-A5AD-5612ED607B78}"/>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rot="-663107">
              <a:off x="1246" y="3605"/>
              <a:ext cx="583" cy="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07235" name="Freeform 35">
              <a:extLst>
                <a:ext uri="{FF2B5EF4-FFF2-40B4-BE49-F238E27FC236}">
                  <a16:creationId xmlns:a16="http://schemas.microsoft.com/office/drawing/2014/main" id="{542E3C4F-8786-4170-B04F-51529704CDCC}"/>
                </a:ext>
              </a:extLst>
            </p:cNvPr>
            <p:cNvSpPr>
              <a:spLocks/>
            </p:cNvSpPr>
            <p:nvPr/>
          </p:nvSpPr>
          <p:spPr bwMode="auto">
            <a:xfrm rot="989581">
              <a:off x="1613" y="3601"/>
              <a:ext cx="159" cy="48"/>
            </a:xfrm>
            <a:custGeom>
              <a:avLst/>
              <a:gdLst>
                <a:gd name="T0" fmla="*/ 0 w 159"/>
                <a:gd name="T1" fmla="*/ 15 h 30"/>
                <a:gd name="T2" fmla="*/ 159 w 159"/>
                <a:gd name="T3" fmla="*/ 30 h 30"/>
                <a:gd name="T4" fmla="*/ 120 w 159"/>
                <a:gd name="T5" fmla="*/ 0 h 30"/>
              </a:gdLst>
              <a:ahLst/>
              <a:cxnLst>
                <a:cxn ang="0">
                  <a:pos x="T0" y="T1"/>
                </a:cxn>
                <a:cxn ang="0">
                  <a:pos x="T2" y="T3"/>
                </a:cxn>
                <a:cxn ang="0">
                  <a:pos x="T4" y="T5"/>
                </a:cxn>
              </a:cxnLst>
              <a:rect l="0" t="0" r="r" b="b"/>
              <a:pathLst>
                <a:path w="159" h="30">
                  <a:moveTo>
                    <a:pt x="0" y="15"/>
                  </a:moveTo>
                  <a:lnTo>
                    <a:pt x="159" y="30"/>
                  </a:lnTo>
                  <a:lnTo>
                    <a:pt x="120" y="0"/>
                  </a:lnTo>
                </a:path>
              </a:pathLst>
            </a:custGeom>
            <a:noFill/>
            <a:ln w="28575"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GB">
                <a:latin typeface="Helvetica" charset="0"/>
              </a:endParaRPr>
            </a:p>
          </p:txBody>
        </p:sp>
        <p:sp>
          <p:nvSpPr>
            <p:cNvPr id="307236" name="Freeform 36">
              <a:extLst>
                <a:ext uri="{FF2B5EF4-FFF2-40B4-BE49-F238E27FC236}">
                  <a16:creationId xmlns:a16="http://schemas.microsoft.com/office/drawing/2014/main" id="{FEFD6DC2-9797-4EC5-8C75-E3318AEE7ABF}"/>
                </a:ext>
              </a:extLst>
            </p:cNvPr>
            <p:cNvSpPr>
              <a:spLocks/>
            </p:cNvSpPr>
            <p:nvPr/>
          </p:nvSpPr>
          <p:spPr bwMode="auto">
            <a:xfrm rot="11527399">
              <a:off x="1288" y="4045"/>
              <a:ext cx="159" cy="48"/>
            </a:xfrm>
            <a:custGeom>
              <a:avLst/>
              <a:gdLst>
                <a:gd name="T0" fmla="*/ 0 w 159"/>
                <a:gd name="T1" fmla="*/ 15 h 30"/>
                <a:gd name="T2" fmla="*/ 159 w 159"/>
                <a:gd name="T3" fmla="*/ 30 h 30"/>
                <a:gd name="T4" fmla="*/ 120 w 159"/>
                <a:gd name="T5" fmla="*/ 0 h 30"/>
              </a:gdLst>
              <a:ahLst/>
              <a:cxnLst>
                <a:cxn ang="0">
                  <a:pos x="T0" y="T1"/>
                </a:cxn>
                <a:cxn ang="0">
                  <a:pos x="T2" y="T3"/>
                </a:cxn>
                <a:cxn ang="0">
                  <a:pos x="T4" y="T5"/>
                </a:cxn>
              </a:cxnLst>
              <a:rect l="0" t="0" r="r" b="b"/>
              <a:pathLst>
                <a:path w="159" h="30">
                  <a:moveTo>
                    <a:pt x="0" y="15"/>
                  </a:moveTo>
                  <a:lnTo>
                    <a:pt x="159" y="30"/>
                  </a:lnTo>
                  <a:lnTo>
                    <a:pt x="120" y="0"/>
                  </a:lnTo>
                </a:path>
              </a:pathLst>
            </a:custGeom>
            <a:noFill/>
            <a:ln w="28575"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GB">
                <a:latin typeface="Helvetica" charset="0"/>
              </a:endParaRPr>
            </a:p>
          </p:txBody>
        </p:sp>
      </p:grpSp>
    </p:spTree>
  </p:cSld>
  <p:clrMapOvr>
    <a:masterClrMapping/>
  </p:clrMapOvr>
  <p:transition spd="slow"/>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0FE3E11A-6007-45F0-A2C5-8AED9F579B33}"/>
              </a:ext>
            </a:extLst>
          </p:cNvPr>
          <p:cNvSpPr>
            <a:spLocks noGrp="1" noChangeArrowheads="1"/>
          </p:cNvSpPr>
          <p:nvPr>
            <p:ph type="title"/>
          </p:nvPr>
        </p:nvSpPr>
        <p:spPr>
          <a:noFill/>
        </p:spPr>
        <p:txBody>
          <a:bodyPr/>
          <a:lstStyle/>
          <a:p>
            <a:r>
              <a:rPr lang="en-GB" altLang="en-US" dirty="0">
                <a:effectLst/>
              </a:rPr>
              <a:t>Fracture</a:t>
            </a:r>
            <a:r>
              <a:rPr lang="en-GB" altLang="en-US" spc="500" dirty="0">
                <a:effectLst/>
              </a:rPr>
              <a:t>d/</a:t>
            </a:r>
            <a:r>
              <a:rPr lang="en-GB" altLang="en-US" dirty="0" err="1">
                <a:effectLst/>
              </a:rPr>
              <a:t>boudinaged</a:t>
            </a:r>
            <a:r>
              <a:rPr lang="en-GB" altLang="en-US" dirty="0">
                <a:effectLst/>
              </a:rPr>
              <a:t> </a:t>
            </a:r>
            <a:r>
              <a:rPr lang="en-GB" altLang="en-US" dirty="0" err="1">
                <a:effectLst/>
              </a:rPr>
              <a:t>porphyroclasts</a:t>
            </a:r>
            <a:endParaRPr lang="en-GB" altLang="en-US" dirty="0">
              <a:effectLst/>
            </a:endParaRPr>
          </a:p>
        </p:txBody>
      </p:sp>
      <p:sp>
        <p:nvSpPr>
          <p:cNvPr id="30723" name="Rectangle 3">
            <a:extLst>
              <a:ext uri="{FF2B5EF4-FFF2-40B4-BE49-F238E27FC236}">
                <a16:creationId xmlns:a16="http://schemas.microsoft.com/office/drawing/2014/main" id="{6B0C4DFA-D0B1-443B-9D8D-31E2475F2378}"/>
              </a:ext>
            </a:extLst>
          </p:cNvPr>
          <p:cNvSpPr>
            <a:spLocks noGrp="1" noChangeArrowheads="1"/>
          </p:cNvSpPr>
          <p:nvPr>
            <p:ph type="body" sz="half" idx="1"/>
          </p:nvPr>
        </p:nvSpPr>
        <p:spPr>
          <a:xfrm>
            <a:off x="112713" y="828675"/>
            <a:ext cx="8888412" cy="1525588"/>
          </a:xfrm>
          <a:noFill/>
        </p:spPr>
        <p:txBody>
          <a:bodyPr/>
          <a:lstStyle/>
          <a:p>
            <a:pPr marL="342900" indent="-342900">
              <a:spcBef>
                <a:spcPct val="50000"/>
              </a:spcBef>
            </a:pPr>
            <a:r>
              <a:rPr lang="en-GB" altLang="en-US" sz="1700">
                <a:effectLst/>
              </a:rPr>
              <a:t>Rigid (competent) objects within shear zones may be fractured and boudinaged</a:t>
            </a:r>
          </a:p>
          <a:p>
            <a:pPr marL="342900" indent="-342900">
              <a:spcBef>
                <a:spcPct val="50000"/>
              </a:spcBef>
              <a:buFont typeface="Times" panose="02020603050405020304" pitchFamily="18" charset="0"/>
              <a:buAutoNum type="arabicPeriod"/>
            </a:pPr>
            <a:r>
              <a:rPr lang="en-GB" altLang="en-US" sz="1700">
                <a:solidFill>
                  <a:srgbClr val="FF6600"/>
                </a:solidFill>
                <a:effectLst/>
              </a:rPr>
              <a:t>Low angle fractures</a:t>
            </a:r>
            <a:r>
              <a:rPr lang="en-GB" altLang="en-US" sz="1700">
                <a:effectLst/>
              </a:rPr>
              <a:t> (C´ orientation): slip </a:t>
            </a:r>
            <a:r>
              <a:rPr lang="en-GB" altLang="en-US" sz="1700">
                <a:solidFill>
                  <a:srgbClr val="FF66CC"/>
                </a:solidFill>
                <a:effectLst/>
              </a:rPr>
              <a:t>synthetic</a:t>
            </a:r>
            <a:r>
              <a:rPr lang="en-GB" altLang="en-US" sz="1700">
                <a:effectLst/>
              </a:rPr>
              <a:t> to shear sense; shear-band boudins</a:t>
            </a:r>
          </a:p>
          <a:p>
            <a:pPr marL="342900" indent="-342900">
              <a:spcBef>
                <a:spcPct val="50000"/>
              </a:spcBef>
              <a:buFont typeface="Times" panose="02020603050405020304" pitchFamily="18" charset="0"/>
              <a:buAutoNum type="arabicPeriod"/>
            </a:pPr>
            <a:r>
              <a:rPr lang="en-GB" altLang="en-US" sz="1700">
                <a:solidFill>
                  <a:srgbClr val="FF6600"/>
                </a:solidFill>
                <a:effectLst/>
              </a:rPr>
              <a:t>High angle fractures</a:t>
            </a:r>
            <a:r>
              <a:rPr lang="en-GB" altLang="en-US" sz="1700">
                <a:effectLst/>
              </a:rPr>
              <a:t>: slip </a:t>
            </a:r>
            <a:r>
              <a:rPr lang="en-GB" altLang="en-US" sz="1700">
                <a:solidFill>
                  <a:srgbClr val="FF66CC"/>
                </a:solidFill>
                <a:effectLst/>
              </a:rPr>
              <a:t>antithetic</a:t>
            </a:r>
            <a:r>
              <a:rPr lang="en-GB" altLang="en-US" sz="1700">
                <a:effectLst/>
              </a:rPr>
              <a:t> to shear sense with back-rotation; domino boudins</a:t>
            </a:r>
          </a:p>
        </p:txBody>
      </p:sp>
      <p:pic>
        <p:nvPicPr>
          <p:cNvPr id="30724" name="Picture 8" descr="10b2">
            <a:extLst>
              <a:ext uri="{FF2B5EF4-FFF2-40B4-BE49-F238E27FC236}">
                <a16:creationId xmlns:a16="http://schemas.microsoft.com/office/drawing/2014/main" id="{4EE4DCB0-34F9-417D-9B30-CECB4408B733}"/>
              </a:ext>
            </a:extLst>
          </p:cNvPr>
          <p:cNvPicPr>
            <a:picLocks noGrp="1" noChangeAspect="1" noChangeArrowheads="1"/>
          </p:cNvPicPr>
          <p:nvPr>
            <p:ph sz="quarter" idx="3"/>
          </p:nvPr>
        </p:nvPicPr>
        <p:blipFill>
          <a:blip r:embed="rId3">
            <a:extLst>
              <a:ext uri="{28A0092B-C50C-407E-A947-70E740481C1C}">
                <a14:useLocalDpi xmlns:a14="http://schemas.microsoft.com/office/drawing/2010/main" val="0"/>
              </a:ext>
            </a:extLst>
          </a:blip>
          <a:srcRect/>
          <a:stretch>
            <a:fillRect/>
          </a:stretch>
        </p:blipFill>
        <p:spPr>
          <a:xfrm>
            <a:off x="314325" y="5395913"/>
            <a:ext cx="2381250" cy="777875"/>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30725" name="Picture 6" descr="10b1">
            <a:extLst>
              <a:ext uri="{FF2B5EF4-FFF2-40B4-BE49-F238E27FC236}">
                <a16:creationId xmlns:a16="http://schemas.microsoft.com/office/drawing/2014/main" id="{37D17345-F134-49FD-A3C8-A41F42C98405}"/>
              </a:ext>
            </a:extLst>
          </p:cNvPr>
          <p:cNvPicPr>
            <a:picLocks noChangeAspect="1" noChangeArrowheads="1"/>
          </p:cNvPicPr>
          <p:nvPr/>
        </p:nvPicPr>
        <p:blipFill>
          <a:blip r:embed="rId4">
            <a:lum bright="-4000"/>
            <a:extLst>
              <a:ext uri="{28A0092B-C50C-407E-A947-70E740481C1C}">
                <a14:useLocalDpi xmlns:a14="http://schemas.microsoft.com/office/drawing/2010/main" val="0"/>
              </a:ext>
            </a:extLst>
          </a:blip>
          <a:srcRect/>
          <a:stretch>
            <a:fillRect/>
          </a:stretch>
        </p:blipFill>
        <p:spPr bwMode="auto">
          <a:xfrm>
            <a:off x="3073400" y="2605088"/>
            <a:ext cx="5811838" cy="3925887"/>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30726" name="Picture 10" descr="10b3">
            <a:extLst>
              <a:ext uri="{FF2B5EF4-FFF2-40B4-BE49-F238E27FC236}">
                <a16:creationId xmlns:a16="http://schemas.microsoft.com/office/drawing/2014/main" id="{7E537DF2-CCB3-4B10-8AFA-2091CE8DEA4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7975" y="4424363"/>
            <a:ext cx="2373313" cy="682625"/>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30727" name="Picture 15">
            <a:extLst>
              <a:ext uri="{FF2B5EF4-FFF2-40B4-BE49-F238E27FC236}">
                <a16:creationId xmlns:a16="http://schemas.microsoft.com/office/drawing/2014/main" id="{0F6CA010-FB94-44C9-AB2B-E474501A75BA}"/>
              </a:ext>
            </a:extLst>
          </p:cNvPr>
          <p:cNvPicPr>
            <a:picLocks noChangeAspect="1" noChangeArrowheads="1"/>
          </p:cNvPicPr>
          <p:nvPr/>
        </p:nvPicPr>
        <p:blipFill>
          <a:blip r:embed="rId6">
            <a:lum bright="-6000"/>
            <a:extLst>
              <a:ext uri="{28A0092B-C50C-407E-A947-70E740481C1C}">
                <a14:useLocalDpi xmlns:a14="http://schemas.microsoft.com/office/drawing/2010/main" val="0"/>
              </a:ext>
            </a:extLst>
          </a:blip>
          <a:srcRect/>
          <a:stretch>
            <a:fillRect/>
          </a:stretch>
        </p:blipFill>
        <p:spPr bwMode="auto">
          <a:xfrm>
            <a:off x="319088" y="2957513"/>
            <a:ext cx="2403475" cy="796925"/>
          </a:xfrm>
          <a:prstGeom prst="rect">
            <a:avLst/>
          </a:prstGeom>
          <a:noFill/>
          <a:ln w="38100">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24625" name="Freeform 17">
            <a:extLst>
              <a:ext uri="{FF2B5EF4-FFF2-40B4-BE49-F238E27FC236}">
                <a16:creationId xmlns:a16="http://schemas.microsoft.com/office/drawing/2014/main" id="{DC4B8CA2-7952-49A0-BF64-2D8F2E7C1FCB}"/>
              </a:ext>
            </a:extLst>
          </p:cNvPr>
          <p:cNvSpPr>
            <a:spLocks/>
          </p:cNvSpPr>
          <p:nvPr/>
        </p:nvSpPr>
        <p:spPr bwMode="auto">
          <a:xfrm>
            <a:off x="987425" y="2617788"/>
            <a:ext cx="1104900" cy="161925"/>
          </a:xfrm>
          <a:custGeom>
            <a:avLst/>
            <a:gdLst>
              <a:gd name="T0" fmla="*/ 0 w 565"/>
              <a:gd name="T1" fmla="*/ 79 h 79"/>
              <a:gd name="T2" fmla="*/ 565 w 565"/>
              <a:gd name="T3" fmla="*/ 79 h 79"/>
              <a:gd name="T4" fmla="*/ 452 w 565"/>
              <a:gd name="T5" fmla="*/ 0 h 79"/>
            </a:gdLst>
            <a:ahLst/>
            <a:cxnLst>
              <a:cxn ang="0">
                <a:pos x="T0" y="T1"/>
              </a:cxn>
              <a:cxn ang="0">
                <a:pos x="T2" y="T3"/>
              </a:cxn>
              <a:cxn ang="0">
                <a:pos x="T4" y="T5"/>
              </a:cxn>
            </a:cxnLst>
            <a:rect l="0" t="0" r="r" b="b"/>
            <a:pathLst>
              <a:path w="565" h="79">
                <a:moveTo>
                  <a:pt x="0" y="79"/>
                </a:moveTo>
                <a:lnTo>
                  <a:pt x="565" y="79"/>
                </a:lnTo>
                <a:lnTo>
                  <a:pt x="452" y="0"/>
                </a:lnTo>
              </a:path>
            </a:pathLst>
          </a:custGeom>
          <a:noFill/>
          <a:ln w="38100"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GB">
              <a:latin typeface="Helvetica" charset="0"/>
            </a:endParaRPr>
          </a:p>
        </p:txBody>
      </p:sp>
      <p:sp>
        <p:nvSpPr>
          <p:cNvPr id="324626" name="Text Box 18">
            <a:extLst>
              <a:ext uri="{FF2B5EF4-FFF2-40B4-BE49-F238E27FC236}">
                <a16:creationId xmlns:a16="http://schemas.microsoft.com/office/drawing/2014/main" id="{5711AF2C-A0BA-43A3-BE8D-43B71E51BE4B}"/>
              </a:ext>
            </a:extLst>
          </p:cNvPr>
          <p:cNvSpPr txBox="1">
            <a:spLocks noChangeArrowheads="1"/>
          </p:cNvSpPr>
          <p:nvPr/>
        </p:nvSpPr>
        <p:spPr bwMode="auto">
          <a:xfrm>
            <a:off x="496888" y="3825875"/>
            <a:ext cx="2135187"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spcBef>
                <a:spcPct val="50000"/>
              </a:spcBef>
            </a:pPr>
            <a:r>
              <a:rPr lang="en-GB" altLang="en-US" sz="1400">
                <a:solidFill>
                  <a:srgbClr val="FFFF00"/>
                </a:solidFill>
                <a:effectLst>
                  <a:outerShdw blurRad="38100" dist="38100" dir="2700000" algn="tl">
                    <a:srgbClr val="000000"/>
                  </a:outerShdw>
                </a:effectLst>
                <a:latin typeface="Arial" panose="020B0604020202020204" pitchFamily="34" charset="0"/>
              </a:rPr>
              <a:t>Antithetic    ;    Synthetic</a:t>
            </a:r>
          </a:p>
        </p:txBody>
      </p:sp>
      <p:sp>
        <p:nvSpPr>
          <p:cNvPr id="324627" name="Freeform 19">
            <a:extLst>
              <a:ext uri="{FF2B5EF4-FFF2-40B4-BE49-F238E27FC236}">
                <a16:creationId xmlns:a16="http://schemas.microsoft.com/office/drawing/2014/main" id="{1958A8B7-5B5B-4A9E-A98B-B1C7FB0ABE81}"/>
              </a:ext>
            </a:extLst>
          </p:cNvPr>
          <p:cNvSpPr>
            <a:spLocks/>
          </p:cNvSpPr>
          <p:nvPr/>
        </p:nvSpPr>
        <p:spPr bwMode="auto">
          <a:xfrm>
            <a:off x="5414963" y="2260600"/>
            <a:ext cx="1104900" cy="161925"/>
          </a:xfrm>
          <a:custGeom>
            <a:avLst/>
            <a:gdLst>
              <a:gd name="T0" fmla="*/ 0 w 565"/>
              <a:gd name="T1" fmla="*/ 79 h 79"/>
              <a:gd name="T2" fmla="*/ 565 w 565"/>
              <a:gd name="T3" fmla="*/ 79 h 79"/>
              <a:gd name="T4" fmla="*/ 452 w 565"/>
              <a:gd name="T5" fmla="*/ 0 h 79"/>
            </a:gdLst>
            <a:ahLst/>
            <a:cxnLst>
              <a:cxn ang="0">
                <a:pos x="T0" y="T1"/>
              </a:cxn>
              <a:cxn ang="0">
                <a:pos x="T2" y="T3"/>
              </a:cxn>
              <a:cxn ang="0">
                <a:pos x="T4" y="T5"/>
              </a:cxn>
            </a:cxnLst>
            <a:rect l="0" t="0" r="r" b="b"/>
            <a:pathLst>
              <a:path w="565" h="79">
                <a:moveTo>
                  <a:pt x="0" y="79"/>
                </a:moveTo>
                <a:lnTo>
                  <a:pt x="565" y="79"/>
                </a:lnTo>
                <a:lnTo>
                  <a:pt x="452" y="0"/>
                </a:lnTo>
              </a:path>
            </a:pathLst>
          </a:custGeom>
          <a:noFill/>
          <a:ln w="38100"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GB">
              <a:latin typeface="Helvetica" charset="0"/>
            </a:endParaRPr>
          </a:p>
        </p:txBody>
      </p:sp>
    </p:spTree>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79675996-F8F3-4FF3-9AFA-A29D0CCE5E0D}"/>
              </a:ext>
            </a:extLst>
          </p:cNvPr>
          <p:cNvSpPr>
            <a:spLocks noGrp="1" noChangeArrowheads="1"/>
          </p:cNvSpPr>
          <p:nvPr>
            <p:ph type="title"/>
          </p:nvPr>
        </p:nvSpPr>
        <p:spPr>
          <a:noFill/>
        </p:spPr>
        <p:txBody>
          <a:bodyPr/>
          <a:lstStyle/>
          <a:p>
            <a:r>
              <a:rPr lang="en-GB" altLang="en-US">
                <a:effectLst/>
              </a:rPr>
              <a:t>Mineral fish</a:t>
            </a:r>
          </a:p>
        </p:txBody>
      </p:sp>
      <p:sp>
        <p:nvSpPr>
          <p:cNvPr id="31747" name="Rectangle 3">
            <a:extLst>
              <a:ext uri="{FF2B5EF4-FFF2-40B4-BE49-F238E27FC236}">
                <a16:creationId xmlns:a16="http://schemas.microsoft.com/office/drawing/2014/main" id="{A9148FAA-A912-4FD2-8E88-52B86908140A}"/>
              </a:ext>
            </a:extLst>
          </p:cNvPr>
          <p:cNvSpPr>
            <a:spLocks noGrp="1" noChangeArrowheads="1"/>
          </p:cNvSpPr>
          <p:nvPr>
            <p:ph type="body" sz="half" idx="1"/>
          </p:nvPr>
        </p:nvSpPr>
        <p:spPr>
          <a:xfrm>
            <a:off x="139700" y="819150"/>
            <a:ext cx="8826500" cy="809625"/>
          </a:xfrm>
          <a:noFill/>
        </p:spPr>
        <p:txBody>
          <a:bodyPr/>
          <a:lstStyle/>
          <a:p>
            <a:pPr marL="177800" indent="-177800">
              <a:spcBef>
                <a:spcPct val="75000"/>
              </a:spcBef>
            </a:pPr>
            <a:r>
              <a:rPr lang="en-GB" altLang="en-US" sz="1700">
                <a:solidFill>
                  <a:srgbClr val="FF6600"/>
                </a:solidFill>
                <a:effectLst/>
              </a:rPr>
              <a:t>Mineral fish</a:t>
            </a:r>
            <a:r>
              <a:rPr lang="en-GB" altLang="en-US" sz="1700">
                <a:effectLst/>
              </a:rPr>
              <a:t> are elongate, lozenge-shaped single crystals mostly lying with their longest dimension at a small angle to the shear plane and </a:t>
            </a:r>
            <a:r>
              <a:rPr lang="en-GB" altLang="en-US" sz="1700">
                <a:solidFill>
                  <a:srgbClr val="FF66CC"/>
                </a:solidFill>
                <a:effectLst/>
              </a:rPr>
              <a:t>stepping up in the direction of shear</a:t>
            </a:r>
          </a:p>
        </p:txBody>
      </p:sp>
      <p:pic>
        <p:nvPicPr>
          <p:cNvPr id="31748" name="Picture 7" descr="11a1">
            <a:extLst>
              <a:ext uri="{FF2B5EF4-FFF2-40B4-BE49-F238E27FC236}">
                <a16:creationId xmlns:a16="http://schemas.microsoft.com/office/drawing/2014/main" id="{3A3481BD-4944-447B-B925-74A626104F82}"/>
              </a:ext>
            </a:extLst>
          </p:cNvPr>
          <p:cNvPicPr>
            <a:picLocks noGrp="1" noChangeAspect="1" noChangeArrowheads="1"/>
          </p:cNvPicPr>
          <p:nvPr>
            <p:ph sz="quarter" idx="2"/>
          </p:nvPr>
        </p:nvPicPr>
        <p:blipFill>
          <a:blip r:embed="rId3">
            <a:lum bright="-6000"/>
            <a:extLst>
              <a:ext uri="{28A0092B-C50C-407E-A947-70E740481C1C}">
                <a14:useLocalDpi xmlns:a14="http://schemas.microsoft.com/office/drawing/2010/main" val="0"/>
              </a:ext>
            </a:extLst>
          </a:blip>
          <a:srcRect/>
          <a:stretch>
            <a:fillRect/>
          </a:stretch>
        </p:blipFill>
        <p:spPr>
          <a:xfrm>
            <a:off x="4800600" y="3749675"/>
            <a:ext cx="4125913" cy="2787650"/>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31749" name="Picture 9" descr="11b">
            <a:extLst>
              <a:ext uri="{FF2B5EF4-FFF2-40B4-BE49-F238E27FC236}">
                <a16:creationId xmlns:a16="http://schemas.microsoft.com/office/drawing/2014/main" id="{87F9273D-C2BC-42F1-8935-A57203D1BAE4}"/>
              </a:ext>
            </a:extLst>
          </p:cNvPr>
          <p:cNvPicPr>
            <a:picLocks noGrp="1" noChangeAspect="1" noChangeArrowheads="1"/>
          </p:cNvPicPr>
          <p:nvPr>
            <p:ph sz="quarter" idx="3"/>
          </p:nvPr>
        </p:nvPicPr>
        <p:blipFill>
          <a:blip r:embed="rId4">
            <a:extLst>
              <a:ext uri="{28A0092B-C50C-407E-A947-70E740481C1C}">
                <a14:useLocalDpi xmlns:a14="http://schemas.microsoft.com/office/drawing/2010/main" val="0"/>
              </a:ext>
            </a:extLst>
          </a:blip>
          <a:srcRect/>
          <a:stretch>
            <a:fillRect/>
          </a:stretch>
        </p:blipFill>
        <p:spPr>
          <a:xfrm>
            <a:off x="263525" y="3767138"/>
            <a:ext cx="4127500" cy="2393950"/>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31750" name="Picture 11" descr="11c1">
            <a:extLst>
              <a:ext uri="{FF2B5EF4-FFF2-40B4-BE49-F238E27FC236}">
                <a16:creationId xmlns:a16="http://schemas.microsoft.com/office/drawing/2014/main" id="{E6438EE9-C506-4E35-814D-C6824B61EA3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000875" y="1819275"/>
            <a:ext cx="1895475" cy="1143000"/>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321548" name="Freeform 12">
            <a:extLst>
              <a:ext uri="{FF2B5EF4-FFF2-40B4-BE49-F238E27FC236}">
                <a16:creationId xmlns:a16="http://schemas.microsoft.com/office/drawing/2014/main" id="{CE0F1EFD-BA4B-41C0-94FE-80FCB5E9C962}"/>
              </a:ext>
            </a:extLst>
          </p:cNvPr>
          <p:cNvSpPr>
            <a:spLocks/>
          </p:cNvSpPr>
          <p:nvPr/>
        </p:nvSpPr>
        <p:spPr bwMode="auto">
          <a:xfrm>
            <a:off x="6373813" y="3443288"/>
            <a:ext cx="1104900" cy="161925"/>
          </a:xfrm>
          <a:custGeom>
            <a:avLst/>
            <a:gdLst>
              <a:gd name="T0" fmla="*/ 0 w 565"/>
              <a:gd name="T1" fmla="*/ 79 h 79"/>
              <a:gd name="T2" fmla="*/ 565 w 565"/>
              <a:gd name="T3" fmla="*/ 79 h 79"/>
              <a:gd name="T4" fmla="*/ 452 w 565"/>
              <a:gd name="T5" fmla="*/ 0 h 79"/>
            </a:gdLst>
            <a:ahLst/>
            <a:cxnLst>
              <a:cxn ang="0">
                <a:pos x="T0" y="T1"/>
              </a:cxn>
              <a:cxn ang="0">
                <a:pos x="T2" y="T3"/>
              </a:cxn>
              <a:cxn ang="0">
                <a:pos x="T4" y="T5"/>
              </a:cxn>
            </a:cxnLst>
            <a:rect l="0" t="0" r="r" b="b"/>
            <a:pathLst>
              <a:path w="565" h="79">
                <a:moveTo>
                  <a:pt x="0" y="79"/>
                </a:moveTo>
                <a:lnTo>
                  <a:pt x="565" y="79"/>
                </a:lnTo>
                <a:lnTo>
                  <a:pt x="452" y="0"/>
                </a:lnTo>
              </a:path>
            </a:pathLst>
          </a:custGeom>
          <a:noFill/>
          <a:ln w="38100"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GB">
              <a:latin typeface="Helvetica" charset="0"/>
            </a:endParaRPr>
          </a:p>
        </p:txBody>
      </p:sp>
      <p:sp>
        <p:nvSpPr>
          <p:cNvPr id="321549" name="Text Box 13">
            <a:extLst>
              <a:ext uri="{FF2B5EF4-FFF2-40B4-BE49-F238E27FC236}">
                <a16:creationId xmlns:a16="http://schemas.microsoft.com/office/drawing/2014/main" id="{3945AAAF-4853-4026-ABA0-A13E112C4CB3}"/>
              </a:ext>
            </a:extLst>
          </p:cNvPr>
          <p:cNvSpPr txBox="1">
            <a:spLocks noChangeArrowheads="1"/>
          </p:cNvSpPr>
          <p:nvPr/>
        </p:nvSpPr>
        <p:spPr bwMode="auto">
          <a:xfrm>
            <a:off x="152400" y="1639888"/>
            <a:ext cx="6211888" cy="177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9388" indent="-179388">
              <a:defRPr sz="1600">
                <a:solidFill>
                  <a:schemeClr val="tx1"/>
                </a:solidFill>
                <a:latin typeface="Helvetica" charset="0"/>
              </a:defRPr>
            </a:lvl1pPr>
            <a:lvl2pPr>
              <a:defRPr sz="1600">
                <a:solidFill>
                  <a:schemeClr val="tx1"/>
                </a:solidFill>
                <a:latin typeface="Helvetica" charset="0"/>
              </a:defRPr>
            </a:lvl2pPr>
            <a:lvl3pPr>
              <a:defRPr sz="1600">
                <a:solidFill>
                  <a:schemeClr val="tx1"/>
                </a:solidFill>
                <a:latin typeface="Helvetica" charset="0"/>
              </a:defRPr>
            </a:lvl3pPr>
            <a:lvl4pPr>
              <a:defRPr sz="1600">
                <a:solidFill>
                  <a:schemeClr val="tx1"/>
                </a:solidFill>
                <a:latin typeface="Helvetica" charset="0"/>
              </a:defRPr>
            </a:lvl4pPr>
            <a:lvl5pPr>
              <a:defRPr sz="1600">
                <a:solidFill>
                  <a:schemeClr val="tx1"/>
                </a:solidFill>
                <a:latin typeface="Helvetica" charset="0"/>
              </a:defRPr>
            </a:lvl5pPr>
            <a:lvl6pPr eaLnBrk="0" fontAlgn="base" hangingPunct="0">
              <a:spcBef>
                <a:spcPct val="20000"/>
              </a:spcBef>
              <a:spcAft>
                <a:spcPct val="0"/>
              </a:spcAft>
              <a:buClr>
                <a:schemeClr val="accent2"/>
              </a:buClr>
              <a:defRPr sz="1600">
                <a:solidFill>
                  <a:schemeClr val="tx1"/>
                </a:solidFill>
                <a:latin typeface="Helvetica" charset="0"/>
              </a:defRPr>
            </a:lvl6pPr>
            <a:lvl7pPr eaLnBrk="0" fontAlgn="base" hangingPunct="0">
              <a:spcBef>
                <a:spcPct val="20000"/>
              </a:spcBef>
              <a:spcAft>
                <a:spcPct val="0"/>
              </a:spcAft>
              <a:buClr>
                <a:schemeClr val="accent2"/>
              </a:buClr>
              <a:defRPr sz="1600">
                <a:solidFill>
                  <a:schemeClr val="tx1"/>
                </a:solidFill>
                <a:latin typeface="Helvetica" charset="0"/>
              </a:defRPr>
            </a:lvl7pPr>
            <a:lvl8pPr eaLnBrk="0" fontAlgn="base" hangingPunct="0">
              <a:spcBef>
                <a:spcPct val="20000"/>
              </a:spcBef>
              <a:spcAft>
                <a:spcPct val="0"/>
              </a:spcAft>
              <a:buClr>
                <a:schemeClr val="accent2"/>
              </a:buClr>
              <a:defRPr sz="1600">
                <a:solidFill>
                  <a:schemeClr val="tx1"/>
                </a:solidFill>
                <a:latin typeface="Helvetica" charset="0"/>
              </a:defRPr>
            </a:lvl8pPr>
            <a:lvl9pPr eaLnBrk="0" fontAlgn="base" hangingPunct="0">
              <a:spcBef>
                <a:spcPct val="20000"/>
              </a:spcBef>
              <a:spcAft>
                <a:spcPct val="0"/>
              </a:spcAft>
              <a:buClr>
                <a:schemeClr val="accent2"/>
              </a:buClr>
              <a:defRPr sz="1600">
                <a:solidFill>
                  <a:schemeClr val="tx1"/>
                </a:solidFill>
                <a:latin typeface="Helvetica" charset="0"/>
              </a:defRPr>
            </a:lvl9pPr>
          </a:lstStyle>
          <a:p>
            <a:pPr>
              <a:lnSpc>
                <a:spcPct val="120000"/>
              </a:lnSpc>
              <a:spcBef>
                <a:spcPct val="50000"/>
              </a:spcBef>
              <a:buClr>
                <a:schemeClr val="tx1"/>
              </a:buClr>
              <a:buFontTx/>
              <a:buChar char="•"/>
              <a:defRPr/>
            </a:pPr>
            <a:r>
              <a:rPr lang="en-GB" sz="1700" dirty="0">
                <a:effectLst>
                  <a:outerShdw blurRad="38100" dist="38100" dir="2700000" algn="tl">
                    <a:srgbClr val="000000"/>
                  </a:outerShdw>
                </a:effectLst>
                <a:latin typeface="Arial" charset="0"/>
              </a:rPr>
              <a:t>The most common mineral fish are </a:t>
            </a:r>
            <a:r>
              <a:rPr lang="en-GB" sz="1700" dirty="0">
                <a:solidFill>
                  <a:srgbClr val="FF66CC"/>
                </a:solidFill>
                <a:effectLst>
                  <a:outerShdw blurRad="38100" dist="38100" dir="2700000" algn="tl">
                    <a:srgbClr val="000000"/>
                  </a:outerShdw>
                </a:effectLst>
                <a:latin typeface="Arial" charset="0"/>
              </a:rPr>
              <a:t>white micas</a:t>
            </a:r>
            <a:endParaRPr lang="en-GB" sz="1700" dirty="0">
              <a:effectLst>
                <a:outerShdw blurRad="38100" dist="38100" dir="2700000" algn="tl">
                  <a:srgbClr val="000000"/>
                </a:outerShdw>
              </a:effectLst>
              <a:latin typeface="Arial" charset="0"/>
            </a:endParaRPr>
          </a:p>
          <a:p>
            <a:pPr>
              <a:lnSpc>
                <a:spcPct val="120000"/>
              </a:lnSpc>
              <a:spcBef>
                <a:spcPct val="50000"/>
              </a:spcBef>
              <a:buClr>
                <a:schemeClr val="tx1"/>
              </a:buClr>
              <a:buFontTx/>
              <a:buChar char="•"/>
              <a:defRPr/>
            </a:pPr>
            <a:r>
              <a:rPr lang="en-GB" sz="1700" dirty="0">
                <a:effectLst>
                  <a:outerShdw blurRad="38100" dist="38100" dir="2700000" algn="tl">
                    <a:srgbClr val="000000"/>
                  </a:outerShdw>
                </a:effectLst>
                <a:latin typeface="Arial" charset="0"/>
              </a:rPr>
              <a:t>Mica fish may be subdivided into </a:t>
            </a:r>
            <a:r>
              <a:rPr lang="en-GB" sz="1700" dirty="0">
                <a:solidFill>
                  <a:srgbClr val="FF66CC"/>
                </a:solidFill>
                <a:effectLst>
                  <a:outerShdw blurRad="38100" dist="38100" dir="2700000" algn="tl">
                    <a:srgbClr val="000000"/>
                  </a:outerShdw>
                </a:effectLst>
                <a:latin typeface="Arial" charset="0"/>
              </a:rPr>
              <a:t>six morphological categories</a:t>
            </a:r>
            <a:r>
              <a:rPr lang="en-GB" sz="1700" dirty="0">
                <a:effectLst>
                  <a:outerShdw blurRad="38100" dist="38100" dir="2700000" algn="tl">
                    <a:srgbClr val="000000"/>
                  </a:outerShdw>
                </a:effectLst>
                <a:latin typeface="Arial" charset="0"/>
              </a:rPr>
              <a:t>. The relationship of the cleavage to the external form of the crystal is important in coming to a secure interpretation of shear sense</a:t>
            </a:r>
          </a:p>
        </p:txBody>
      </p:sp>
    </p:spTree>
  </p:cSld>
  <p:clrMapOvr>
    <a:masterClrMapping/>
  </p:clrMapOvr>
  <p:transition spd="slow"/>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1791" name="Rectangle 15">
            <a:extLst>
              <a:ext uri="{FF2B5EF4-FFF2-40B4-BE49-F238E27FC236}">
                <a16:creationId xmlns:a16="http://schemas.microsoft.com/office/drawing/2014/main" id="{A63B6C55-FC70-464C-BA18-DC3105EB08FD}"/>
              </a:ext>
            </a:extLst>
          </p:cNvPr>
          <p:cNvSpPr>
            <a:spLocks noChangeArrowheads="1"/>
          </p:cNvSpPr>
          <p:nvPr/>
        </p:nvSpPr>
        <p:spPr bwMode="auto">
          <a:xfrm>
            <a:off x="500063" y="4329113"/>
            <a:ext cx="3476625" cy="2276475"/>
          </a:xfrm>
          <a:prstGeom prst="rect">
            <a:avLst/>
          </a:prstGeom>
          <a:solidFill>
            <a:schemeClr val="folHlink"/>
          </a:solidFill>
          <a:ln w="381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GB">
              <a:latin typeface="Helvetica" charset="0"/>
            </a:endParaRPr>
          </a:p>
        </p:txBody>
      </p:sp>
      <p:sp>
        <p:nvSpPr>
          <p:cNvPr id="32771" name="Rectangle 2">
            <a:extLst>
              <a:ext uri="{FF2B5EF4-FFF2-40B4-BE49-F238E27FC236}">
                <a16:creationId xmlns:a16="http://schemas.microsoft.com/office/drawing/2014/main" id="{74084195-B535-44DE-8162-153DF528B350}"/>
              </a:ext>
            </a:extLst>
          </p:cNvPr>
          <p:cNvSpPr>
            <a:spLocks noGrp="1" noChangeArrowheads="1"/>
          </p:cNvSpPr>
          <p:nvPr>
            <p:ph type="title"/>
          </p:nvPr>
        </p:nvSpPr>
        <p:spPr>
          <a:noFill/>
        </p:spPr>
        <p:txBody>
          <a:bodyPr/>
          <a:lstStyle/>
          <a:p>
            <a:r>
              <a:rPr lang="en-GB" altLang="en-US">
                <a:effectLst/>
              </a:rPr>
              <a:t>Shape fabric and lattice preferred orientations (LPO)</a:t>
            </a:r>
          </a:p>
        </p:txBody>
      </p:sp>
      <p:sp>
        <p:nvSpPr>
          <p:cNvPr id="32772" name="Rectangle 3">
            <a:extLst>
              <a:ext uri="{FF2B5EF4-FFF2-40B4-BE49-F238E27FC236}">
                <a16:creationId xmlns:a16="http://schemas.microsoft.com/office/drawing/2014/main" id="{03B66241-FFFB-456A-B855-5F1C7F683F9E}"/>
              </a:ext>
            </a:extLst>
          </p:cNvPr>
          <p:cNvSpPr>
            <a:spLocks noGrp="1" noChangeArrowheads="1"/>
          </p:cNvSpPr>
          <p:nvPr>
            <p:ph type="body" sz="half" idx="1"/>
          </p:nvPr>
        </p:nvSpPr>
        <p:spPr>
          <a:xfrm>
            <a:off x="119063" y="769938"/>
            <a:ext cx="4360862" cy="3386137"/>
          </a:xfrm>
          <a:noFill/>
        </p:spPr>
        <p:txBody>
          <a:bodyPr/>
          <a:lstStyle/>
          <a:p>
            <a:pPr marL="177800" indent="-177800">
              <a:spcBef>
                <a:spcPct val="75000"/>
              </a:spcBef>
            </a:pPr>
            <a:r>
              <a:rPr lang="en-GB" altLang="en-US" sz="1700">
                <a:effectLst/>
              </a:rPr>
              <a:t>The foliations in a mylonite may be defined (1) by a preferred orientation of micas, (2) by a mineralogical layering, and/or (3) by a </a:t>
            </a:r>
            <a:r>
              <a:rPr lang="en-GB" altLang="en-US" sz="1700">
                <a:solidFill>
                  <a:srgbClr val="FF6600"/>
                </a:solidFill>
                <a:effectLst/>
              </a:rPr>
              <a:t>grain shape preferred orientation</a:t>
            </a:r>
          </a:p>
          <a:p>
            <a:pPr marL="177800" indent="-177800">
              <a:spcBef>
                <a:spcPct val="50000"/>
              </a:spcBef>
            </a:pPr>
            <a:r>
              <a:rPr lang="en-GB" altLang="en-US" sz="1700">
                <a:effectLst/>
              </a:rPr>
              <a:t>The principal foliation (S-surfaces) tracks the orientation of the </a:t>
            </a:r>
            <a:r>
              <a:rPr lang="en-GB" altLang="en-US" sz="1700">
                <a:solidFill>
                  <a:srgbClr val="FF66CC"/>
                </a:solidFill>
                <a:effectLst/>
              </a:rPr>
              <a:t>finite strain ellipse</a:t>
            </a:r>
            <a:r>
              <a:rPr lang="en-GB" altLang="en-US" sz="1700">
                <a:effectLst/>
              </a:rPr>
              <a:t>, and so it follows that the grain shape preferred orientation does this too (hence the potential of Fry-type strain analyses)</a:t>
            </a:r>
          </a:p>
        </p:txBody>
      </p:sp>
      <p:grpSp>
        <p:nvGrpSpPr>
          <p:cNvPr id="32773" name="Group 11">
            <a:extLst>
              <a:ext uri="{FF2B5EF4-FFF2-40B4-BE49-F238E27FC236}">
                <a16:creationId xmlns:a16="http://schemas.microsoft.com/office/drawing/2014/main" id="{5C5AD1C9-4B56-4CCA-B4AE-0929E48B78BE}"/>
              </a:ext>
            </a:extLst>
          </p:cNvPr>
          <p:cNvGrpSpPr>
            <a:grpSpLocks/>
          </p:cNvGrpSpPr>
          <p:nvPr/>
        </p:nvGrpSpPr>
        <p:grpSpPr bwMode="auto">
          <a:xfrm flipH="1">
            <a:off x="4630738" y="877888"/>
            <a:ext cx="4319587" cy="2954337"/>
            <a:chOff x="193" y="1729"/>
            <a:chExt cx="3217" cy="2368"/>
          </a:xfrm>
        </p:grpSpPr>
        <p:pic>
          <p:nvPicPr>
            <p:cNvPr id="32777" name="Picture 6" descr="12a1">
              <a:extLst>
                <a:ext uri="{FF2B5EF4-FFF2-40B4-BE49-F238E27FC236}">
                  <a16:creationId xmlns:a16="http://schemas.microsoft.com/office/drawing/2014/main" id="{F172602E-3CA9-468D-89DB-90A0EBB4A36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 y="1924"/>
              <a:ext cx="3217" cy="2173"/>
            </a:xfrm>
            <a:prstGeom prst="rect">
              <a:avLst/>
            </a:prstGeom>
            <a:noFill/>
            <a:ln w="38100">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31784" name="Line 8">
              <a:extLst>
                <a:ext uri="{FF2B5EF4-FFF2-40B4-BE49-F238E27FC236}">
                  <a16:creationId xmlns:a16="http://schemas.microsoft.com/office/drawing/2014/main" id="{270FBF12-FBFA-43E9-AE75-64B2F7C631EC}"/>
                </a:ext>
              </a:extLst>
            </p:cNvPr>
            <p:cNvSpPr>
              <a:spLocks noChangeShapeType="1"/>
            </p:cNvSpPr>
            <p:nvPr/>
          </p:nvSpPr>
          <p:spPr bwMode="auto">
            <a:xfrm flipV="1">
              <a:off x="2936" y="3636"/>
              <a:ext cx="361" cy="333"/>
            </a:xfrm>
            <a:prstGeom prst="line">
              <a:avLst/>
            </a:prstGeom>
            <a:noFill/>
            <a:ln w="38100">
              <a:solidFill>
                <a:srgbClr val="FF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GB">
                <a:latin typeface="Helvetica" charset="0"/>
              </a:endParaRPr>
            </a:p>
          </p:txBody>
        </p:sp>
        <p:sp>
          <p:nvSpPr>
            <p:cNvPr id="331785" name="Freeform 9">
              <a:extLst>
                <a:ext uri="{FF2B5EF4-FFF2-40B4-BE49-F238E27FC236}">
                  <a16:creationId xmlns:a16="http://schemas.microsoft.com/office/drawing/2014/main" id="{6AA5EA64-F316-4B7F-A15B-AC8F43E312FE}"/>
                </a:ext>
              </a:extLst>
            </p:cNvPr>
            <p:cNvSpPr>
              <a:spLocks/>
            </p:cNvSpPr>
            <p:nvPr/>
          </p:nvSpPr>
          <p:spPr bwMode="auto">
            <a:xfrm>
              <a:off x="1502" y="1729"/>
              <a:ext cx="696" cy="102"/>
            </a:xfrm>
            <a:custGeom>
              <a:avLst/>
              <a:gdLst>
                <a:gd name="T0" fmla="*/ 0 w 565"/>
                <a:gd name="T1" fmla="*/ 79 h 79"/>
                <a:gd name="T2" fmla="*/ 565 w 565"/>
                <a:gd name="T3" fmla="*/ 79 h 79"/>
                <a:gd name="T4" fmla="*/ 452 w 565"/>
                <a:gd name="T5" fmla="*/ 0 h 79"/>
              </a:gdLst>
              <a:ahLst/>
              <a:cxnLst>
                <a:cxn ang="0">
                  <a:pos x="T0" y="T1"/>
                </a:cxn>
                <a:cxn ang="0">
                  <a:pos x="T2" y="T3"/>
                </a:cxn>
                <a:cxn ang="0">
                  <a:pos x="T4" y="T5"/>
                </a:cxn>
              </a:cxnLst>
              <a:rect l="0" t="0" r="r" b="b"/>
              <a:pathLst>
                <a:path w="565" h="79">
                  <a:moveTo>
                    <a:pt x="0" y="79"/>
                  </a:moveTo>
                  <a:lnTo>
                    <a:pt x="565" y="79"/>
                  </a:lnTo>
                  <a:lnTo>
                    <a:pt x="452" y="0"/>
                  </a:lnTo>
                </a:path>
              </a:pathLst>
            </a:custGeom>
            <a:noFill/>
            <a:ln w="38100"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GB">
                <a:latin typeface="Helvetica" charset="0"/>
              </a:endParaRPr>
            </a:p>
          </p:txBody>
        </p:sp>
      </p:grpSp>
      <p:sp>
        <p:nvSpPr>
          <p:cNvPr id="331786" name="Text Box 10">
            <a:extLst>
              <a:ext uri="{FF2B5EF4-FFF2-40B4-BE49-F238E27FC236}">
                <a16:creationId xmlns:a16="http://schemas.microsoft.com/office/drawing/2014/main" id="{4CD49815-7E56-4A3C-BFBA-4DD3DDE2E8D2}"/>
              </a:ext>
            </a:extLst>
          </p:cNvPr>
          <p:cNvSpPr txBox="1">
            <a:spLocks noChangeArrowheads="1"/>
          </p:cNvSpPr>
          <p:nvPr/>
        </p:nvSpPr>
        <p:spPr bwMode="auto">
          <a:xfrm>
            <a:off x="4533900" y="3971925"/>
            <a:ext cx="4462463" cy="2711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9388" indent="-179388">
              <a:defRPr sz="1600">
                <a:solidFill>
                  <a:schemeClr val="tx1"/>
                </a:solidFill>
                <a:latin typeface="Helvetica" charset="0"/>
              </a:defRPr>
            </a:lvl1pPr>
            <a:lvl2pPr>
              <a:defRPr sz="1600">
                <a:solidFill>
                  <a:schemeClr val="tx1"/>
                </a:solidFill>
                <a:latin typeface="Helvetica" charset="0"/>
              </a:defRPr>
            </a:lvl2pPr>
            <a:lvl3pPr>
              <a:defRPr sz="1600">
                <a:solidFill>
                  <a:schemeClr val="tx1"/>
                </a:solidFill>
                <a:latin typeface="Helvetica" charset="0"/>
              </a:defRPr>
            </a:lvl3pPr>
            <a:lvl4pPr>
              <a:defRPr sz="1600">
                <a:solidFill>
                  <a:schemeClr val="tx1"/>
                </a:solidFill>
                <a:latin typeface="Helvetica" charset="0"/>
              </a:defRPr>
            </a:lvl4pPr>
            <a:lvl5pPr>
              <a:defRPr sz="1600">
                <a:solidFill>
                  <a:schemeClr val="tx1"/>
                </a:solidFill>
                <a:latin typeface="Helvetica" charset="0"/>
              </a:defRPr>
            </a:lvl5pPr>
            <a:lvl6pPr eaLnBrk="0" fontAlgn="base" hangingPunct="0">
              <a:spcBef>
                <a:spcPct val="20000"/>
              </a:spcBef>
              <a:spcAft>
                <a:spcPct val="0"/>
              </a:spcAft>
              <a:buClr>
                <a:schemeClr val="accent2"/>
              </a:buClr>
              <a:defRPr sz="1600">
                <a:solidFill>
                  <a:schemeClr val="tx1"/>
                </a:solidFill>
                <a:latin typeface="Helvetica" charset="0"/>
              </a:defRPr>
            </a:lvl6pPr>
            <a:lvl7pPr eaLnBrk="0" fontAlgn="base" hangingPunct="0">
              <a:spcBef>
                <a:spcPct val="20000"/>
              </a:spcBef>
              <a:spcAft>
                <a:spcPct val="0"/>
              </a:spcAft>
              <a:buClr>
                <a:schemeClr val="accent2"/>
              </a:buClr>
              <a:defRPr sz="1600">
                <a:solidFill>
                  <a:schemeClr val="tx1"/>
                </a:solidFill>
                <a:latin typeface="Helvetica" charset="0"/>
              </a:defRPr>
            </a:lvl7pPr>
            <a:lvl8pPr eaLnBrk="0" fontAlgn="base" hangingPunct="0">
              <a:spcBef>
                <a:spcPct val="20000"/>
              </a:spcBef>
              <a:spcAft>
                <a:spcPct val="0"/>
              </a:spcAft>
              <a:buClr>
                <a:schemeClr val="accent2"/>
              </a:buClr>
              <a:defRPr sz="1600">
                <a:solidFill>
                  <a:schemeClr val="tx1"/>
                </a:solidFill>
                <a:latin typeface="Helvetica" charset="0"/>
              </a:defRPr>
            </a:lvl8pPr>
            <a:lvl9pPr eaLnBrk="0" fontAlgn="base" hangingPunct="0">
              <a:spcBef>
                <a:spcPct val="20000"/>
              </a:spcBef>
              <a:spcAft>
                <a:spcPct val="0"/>
              </a:spcAft>
              <a:buClr>
                <a:schemeClr val="accent2"/>
              </a:buClr>
              <a:defRPr sz="1600">
                <a:solidFill>
                  <a:schemeClr val="tx1"/>
                </a:solidFill>
                <a:latin typeface="Helvetica" charset="0"/>
              </a:defRPr>
            </a:lvl9pPr>
          </a:lstStyle>
          <a:p>
            <a:pPr>
              <a:lnSpc>
                <a:spcPct val="120000"/>
              </a:lnSpc>
              <a:spcBef>
                <a:spcPct val="50000"/>
              </a:spcBef>
              <a:buClr>
                <a:schemeClr val="tx1"/>
              </a:buClr>
              <a:buFontTx/>
              <a:buChar char="•"/>
              <a:defRPr/>
            </a:pPr>
            <a:r>
              <a:rPr lang="en-GB" sz="1700">
                <a:effectLst>
                  <a:outerShdw blurRad="38100" dist="38100" dir="2700000" algn="tl">
                    <a:srgbClr val="000000"/>
                  </a:outerShdw>
                </a:effectLst>
                <a:latin typeface="Arial" charset="0"/>
              </a:rPr>
              <a:t>At the deformation conditions in which ductile shear zones form, the grain shape fabric is usually accompanied by a </a:t>
            </a:r>
            <a:r>
              <a:rPr lang="en-GB" sz="1700">
                <a:solidFill>
                  <a:srgbClr val="FF6600"/>
                </a:solidFill>
                <a:effectLst>
                  <a:outerShdw blurRad="38100" dist="38100" dir="2700000" algn="tl">
                    <a:srgbClr val="000000"/>
                  </a:outerShdw>
                </a:effectLst>
                <a:latin typeface="Arial" charset="0"/>
              </a:rPr>
              <a:t>lattice preferred orientation</a:t>
            </a:r>
            <a:r>
              <a:rPr lang="en-GB" sz="1700">
                <a:effectLst>
                  <a:outerShdw blurRad="38100" dist="38100" dir="2700000" algn="tl">
                    <a:srgbClr val="000000"/>
                  </a:outerShdw>
                </a:effectLst>
                <a:latin typeface="Arial" charset="0"/>
              </a:rPr>
              <a:t> (LPO) of the individual grains (</a:t>
            </a:r>
            <a:r>
              <a:rPr lang="en-GB" sz="1700" i="1">
                <a:effectLst>
                  <a:outerShdw blurRad="38100" dist="38100" dir="2700000" algn="tl">
                    <a:srgbClr val="000000"/>
                  </a:outerShdw>
                </a:effectLst>
                <a:latin typeface="Arial" charset="0"/>
              </a:rPr>
              <a:t>e.g</a:t>
            </a:r>
            <a:r>
              <a:rPr lang="en-GB" sz="1700">
                <a:effectLst>
                  <a:outerShdw blurRad="38100" dist="38100" dir="2700000" algn="tl">
                    <a:srgbClr val="000000"/>
                  </a:outerShdw>
                </a:effectLst>
                <a:latin typeface="Arial" charset="0"/>
              </a:rPr>
              <a:t>., an alignment of the crystallographic </a:t>
            </a:r>
            <a:r>
              <a:rPr lang="en-GB" sz="1700" i="1">
                <a:effectLst>
                  <a:outerShdw blurRad="38100" dist="38100" dir="2700000" algn="tl">
                    <a:srgbClr val="000000"/>
                  </a:outerShdw>
                </a:effectLst>
                <a:latin typeface="Arial" charset="0"/>
              </a:rPr>
              <a:t>c</a:t>
            </a:r>
            <a:r>
              <a:rPr lang="en-GB" sz="1700">
                <a:effectLst>
                  <a:outerShdw blurRad="38100" dist="38100" dir="2700000" algn="tl">
                    <a:srgbClr val="000000"/>
                  </a:outerShdw>
                </a:effectLst>
                <a:latin typeface="Arial" charset="0"/>
              </a:rPr>
              <a:t>-axes)</a:t>
            </a:r>
          </a:p>
          <a:p>
            <a:pPr>
              <a:lnSpc>
                <a:spcPct val="120000"/>
              </a:lnSpc>
              <a:spcBef>
                <a:spcPct val="50000"/>
              </a:spcBef>
              <a:buClr>
                <a:schemeClr val="tx1"/>
              </a:buClr>
              <a:buFontTx/>
              <a:buChar char="•"/>
              <a:defRPr/>
            </a:pPr>
            <a:r>
              <a:rPr lang="en-GB" sz="1700">
                <a:effectLst>
                  <a:outerShdw blurRad="38100" dist="38100" dir="2700000" algn="tl">
                    <a:srgbClr val="000000"/>
                  </a:outerShdw>
                </a:effectLst>
                <a:latin typeface="Arial" charset="0"/>
              </a:rPr>
              <a:t>Shear sense may be inferred from the </a:t>
            </a:r>
            <a:r>
              <a:rPr lang="en-GB" sz="1700">
                <a:solidFill>
                  <a:srgbClr val="FF66CC"/>
                </a:solidFill>
                <a:effectLst>
                  <a:outerShdw blurRad="38100" dist="38100" dir="2700000" algn="tl">
                    <a:srgbClr val="000000"/>
                  </a:outerShdw>
                </a:effectLst>
                <a:latin typeface="Arial" charset="0"/>
              </a:rPr>
              <a:t>asymmetry of this LPO</a:t>
            </a:r>
          </a:p>
        </p:txBody>
      </p:sp>
      <p:pic>
        <p:nvPicPr>
          <p:cNvPr id="32775" name="Picture 2" descr="GR26.jpg">
            <a:extLst>
              <a:ext uri="{FF2B5EF4-FFF2-40B4-BE49-F238E27FC236}">
                <a16:creationId xmlns:a16="http://schemas.microsoft.com/office/drawing/2014/main" id="{096D416C-F644-413E-97CD-5F7EF83ACC08}"/>
              </a:ext>
            </a:extLst>
          </p:cNvPr>
          <p:cNvPicPr>
            <a:picLocks noGrp="1" noChangeAspect="1"/>
          </p:cNvPicPr>
          <p:nvPr>
            <p:ph sz="quarter" idx="3"/>
          </p:nvPr>
        </p:nvPicPr>
        <p:blipFill>
          <a:blip r:embed="rId4">
            <a:extLst>
              <a:ext uri="{28A0092B-C50C-407E-A947-70E740481C1C}">
                <a14:useLocalDpi xmlns:a14="http://schemas.microsoft.com/office/drawing/2010/main" val="0"/>
              </a:ext>
            </a:extLst>
          </a:blip>
          <a:srcRect/>
          <a:stretch>
            <a:fillRect/>
          </a:stretch>
        </p:blipFill>
        <p:spPr>
          <a:xfrm>
            <a:off x="581025" y="4391025"/>
            <a:ext cx="3359150" cy="21812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31790" name="Rectangle 14">
            <a:extLst>
              <a:ext uri="{FF2B5EF4-FFF2-40B4-BE49-F238E27FC236}">
                <a16:creationId xmlns:a16="http://schemas.microsoft.com/office/drawing/2014/main" id="{2165F393-6A80-479D-9311-E50E94D2BF28}"/>
              </a:ext>
            </a:extLst>
          </p:cNvPr>
          <p:cNvSpPr>
            <a:spLocks noChangeArrowheads="1"/>
          </p:cNvSpPr>
          <p:nvPr/>
        </p:nvSpPr>
        <p:spPr bwMode="auto">
          <a:xfrm>
            <a:off x="1866900" y="6462713"/>
            <a:ext cx="623888" cy="119062"/>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GB">
              <a:latin typeface="Helvetica" charset="0"/>
            </a:endParaRPr>
          </a:p>
        </p:txBody>
      </p:sp>
    </p:spTree>
  </p:cSld>
  <p:clrMapOvr>
    <a:masterClrMapping/>
  </p:clrMapOvr>
  <p:transition spd="slow"/>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Rectangle 2">
            <a:extLst>
              <a:ext uri="{FF2B5EF4-FFF2-40B4-BE49-F238E27FC236}">
                <a16:creationId xmlns:a16="http://schemas.microsoft.com/office/drawing/2014/main" id="{453B0ADE-A6F8-47BD-A199-08247C298FF6}"/>
              </a:ext>
            </a:extLst>
          </p:cNvPr>
          <p:cNvSpPr>
            <a:spLocks noGrp="1" noChangeArrowheads="1"/>
          </p:cNvSpPr>
          <p:nvPr>
            <p:ph type="title"/>
          </p:nvPr>
        </p:nvSpPr>
        <p:spPr>
          <a:noFill/>
        </p:spPr>
        <p:txBody>
          <a:bodyPr/>
          <a:lstStyle/>
          <a:p>
            <a:r>
              <a:rPr lang="en-GB" altLang="en-US">
                <a:effectLst/>
              </a:rPr>
              <a:t>Summary:  shear sense in ductile shear zones</a:t>
            </a:r>
          </a:p>
        </p:txBody>
      </p:sp>
      <p:grpSp>
        <p:nvGrpSpPr>
          <p:cNvPr id="33801" name="Group 9">
            <a:extLst>
              <a:ext uri="{FF2B5EF4-FFF2-40B4-BE49-F238E27FC236}">
                <a16:creationId xmlns:a16="http://schemas.microsoft.com/office/drawing/2014/main" id="{00844DAA-6AA8-4403-A4D9-7A1A66122A04}"/>
              </a:ext>
            </a:extLst>
          </p:cNvPr>
          <p:cNvGrpSpPr>
            <a:grpSpLocks/>
          </p:cNvGrpSpPr>
          <p:nvPr/>
        </p:nvGrpSpPr>
        <p:grpSpPr bwMode="auto">
          <a:xfrm>
            <a:off x="1757363" y="865188"/>
            <a:ext cx="5634037" cy="2498725"/>
            <a:chOff x="384" y="917"/>
            <a:chExt cx="5009" cy="2513"/>
          </a:xfrm>
        </p:grpSpPr>
        <p:sp>
          <p:nvSpPr>
            <p:cNvPr id="227334" name="Rectangle 6">
              <a:extLst>
                <a:ext uri="{FF2B5EF4-FFF2-40B4-BE49-F238E27FC236}">
                  <a16:creationId xmlns:a16="http://schemas.microsoft.com/office/drawing/2014/main" id="{422AABD9-BE00-4A64-901C-80FEDC786331}"/>
                </a:ext>
              </a:extLst>
            </p:cNvPr>
            <p:cNvSpPr>
              <a:spLocks noChangeArrowheads="1"/>
            </p:cNvSpPr>
            <p:nvPr/>
          </p:nvSpPr>
          <p:spPr bwMode="auto">
            <a:xfrm>
              <a:off x="384" y="917"/>
              <a:ext cx="5009" cy="2513"/>
            </a:xfrm>
            <a:prstGeom prst="rect">
              <a:avLst/>
            </a:prstGeom>
            <a:solidFill>
              <a:schemeClr val="folHlink"/>
            </a:solidFill>
            <a:ln w="381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GB">
                <a:latin typeface="Helvetica" charset="0"/>
              </a:endParaRPr>
            </a:p>
          </p:txBody>
        </p:sp>
        <p:pic>
          <p:nvPicPr>
            <p:cNvPr id="33796" name="Picture 2" descr="GR21.jpg">
              <a:extLst>
                <a:ext uri="{FF2B5EF4-FFF2-40B4-BE49-F238E27FC236}">
                  <a16:creationId xmlns:a16="http://schemas.microsoft.com/office/drawing/2014/main" id="{494A89D7-9665-46F1-AA03-55D0176A8F9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53" y="1005"/>
              <a:ext cx="4881" cy="235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grpSp>
      <p:pic>
        <p:nvPicPr>
          <p:cNvPr id="33799" name="Picture 7" descr="DSC_0016">
            <a:extLst>
              <a:ext uri="{FF2B5EF4-FFF2-40B4-BE49-F238E27FC236}">
                <a16:creationId xmlns:a16="http://schemas.microsoft.com/office/drawing/2014/main" id="{EEBD9B90-6A06-4062-94B6-DFA865F2DCA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5738" y="3529013"/>
            <a:ext cx="8704262" cy="3133725"/>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331785" name="Freeform 9">
            <a:extLst>
              <a:ext uri="{FF2B5EF4-FFF2-40B4-BE49-F238E27FC236}">
                <a16:creationId xmlns:a16="http://schemas.microsoft.com/office/drawing/2014/main" id="{F69FCCA8-509F-459A-AF1E-99892613B1ED}"/>
              </a:ext>
            </a:extLst>
          </p:cNvPr>
          <p:cNvSpPr>
            <a:spLocks/>
          </p:cNvSpPr>
          <p:nvPr/>
        </p:nvSpPr>
        <p:spPr bwMode="auto">
          <a:xfrm flipH="1">
            <a:off x="7869238" y="3262313"/>
            <a:ext cx="935037" cy="127000"/>
          </a:xfrm>
          <a:custGeom>
            <a:avLst/>
            <a:gdLst>
              <a:gd name="T0" fmla="*/ 0 w 565"/>
              <a:gd name="T1" fmla="*/ 102 h 79"/>
              <a:gd name="T2" fmla="*/ 696 w 565"/>
              <a:gd name="T3" fmla="*/ 102 h 79"/>
              <a:gd name="T4" fmla="*/ 557 w 565"/>
              <a:gd name="T5" fmla="*/ 0 h 79"/>
              <a:gd name="T6" fmla="*/ 0 60000 65536"/>
              <a:gd name="T7" fmla="*/ 0 60000 65536"/>
              <a:gd name="T8" fmla="*/ 0 60000 65536"/>
            </a:gdLst>
            <a:ahLst/>
            <a:cxnLst>
              <a:cxn ang="T6">
                <a:pos x="T0" y="T1"/>
              </a:cxn>
              <a:cxn ang="T7">
                <a:pos x="T2" y="T3"/>
              </a:cxn>
              <a:cxn ang="T8">
                <a:pos x="T4" y="T5"/>
              </a:cxn>
            </a:cxnLst>
            <a:rect l="0" t="0" r="r" b="b"/>
            <a:pathLst>
              <a:path w="565" h="79">
                <a:moveTo>
                  <a:pt x="0" y="79"/>
                </a:moveTo>
                <a:lnTo>
                  <a:pt x="565" y="79"/>
                </a:lnTo>
                <a:lnTo>
                  <a:pt x="452" y="0"/>
                </a:lnTo>
              </a:path>
            </a:pathLst>
          </a:custGeom>
          <a:noFill/>
          <a:ln w="38100"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Tree>
  </p:cSld>
  <p:clrMapOvr>
    <a:masterClrMapping/>
  </p:clrMapOvr>
  <p:transition spd="slow"/>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2" name="Rectangle 2">
            <a:extLst>
              <a:ext uri="{FF2B5EF4-FFF2-40B4-BE49-F238E27FC236}">
                <a16:creationId xmlns:a16="http://schemas.microsoft.com/office/drawing/2014/main" id="{EACC1F22-A305-4585-B9B4-F00D75675D06}"/>
              </a:ext>
            </a:extLst>
          </p:cNvPr>
          <p:cNvSpPr>
            <a:spLocks noGrp="1" noChangeArrowheads="1"/>
          </p:cNvSpPr>
          <p:nvPr>
            <p:ph type="ctrTitle" idx="4294967295"/>
          </p:nvPr>
        </p:nvSpPr>
        <p:spPr bwMode="black">
          <a:xfrm>
            <a:off x="239713" y="1622425"/>
            <a:ext cx="8705850" cy="1900238"/>
          </a:xfrm>
          <a:effectLst>
            <a:outerShdw dist="35921" dir="2700000" algn="ctr" rotWithShape="0">
              <a:schemeClr val="bg2"/>
            </a:outerShdw>
          </a:effectLst>
          <a:extLst>
            <a:ext uri="{909E8E84-426E-40DD-AFC4-6F175D3DCCD1}">
              <a14:hiddenFill xmlns:a14="http://schemas.microsoft.com/office/drawing/2010/main">
                <a:solidFill>
                  <a:schemeClr val="bg1"/>
                </a:solidFill>
              </a14:hiddenFill>
            </a:ext>
          </a:extLst>
        </p:spPr>
        <p:txBody>
          <a:bodyPr anchor="ctr">
            <a:spAutoFit/>
          </a:bodyPr>
          <a:lstStyle/>
          <a:p>
            <a:pPr algn="ctr">
              <a:lnSpc>
                <a:spcPct val="120000"/>
              </a:lnSpc>
              <a:defRPr/>
            </a:pPr>
            <a:br>
              <a:rPr lang="en-US" sz="3200"/>
            </a:br>
            <a:br>
              <a:rPr lang="en-US" sz="3500"/>
            </a:br>
            <a:r>
              <a:rPr lang="en-US" sz="3200">
                <a:solidFill>
                  <a:srgbClr val="FF6600"/>
                </a:solidFill>
              </a:rPr>
              <a:t>Semi-brittle shear zones</a:t>
            </a:r>
            <a:endParaRPr lang="en-US">
              <a:solidFill>
                <a:srgbClr val="FF6600"/>
              </a:solidFill>
            </a:endParaRPr>
          </a:p>
        </p:txBody>
      </p:sp>
    </p:spTree>
  </p:cSld>
  <p:clrMapOvr>
    <a:masterClrMapping/>
  </p:clrMapOvr>
  <p:transition spd="slow"/>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178F60F-D512-4794-A6A9-DDBA805806F1}"/>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75419" y="3611152"/>
            <a:ext cx="4520406" cy="3002360"/>
          </a:xfrm>
          <a:prstGeom prst="rect">
            <a:avLst/>
          </a:prstGeom>
          <a:ln w="38100">
            <a:solidFill>
              <a:schemeClr val="bg2"/>
            </a:solidFill>
          </a:ln>
        </p:spPr>
      </p:pic>
      <p:sp>
        <p:nvSpPr>
          <p:cNvPr id="35842" name="Rectangle 2">
            <a:extLst>
              <a:ext uri="{FF2B5EF4-FFF2-40B4-BE49-F238E27FC236}">
                <a16:creationId xmlns:a16="http://schemas.microsoft.com/office/drawing/2014/main" id="{40AA6229-3992-4DAA-8B36-DE6946B6C176}"/>
              </a:ext>
            </a:extLst>
          </p:cNvPr>
          <p:cNvSpPr>
            <a:spLocks noGrp="1" noChangeArrowheads="1"/>
          </p:cNvSpPr>
          <p:nvPr>
            <p:ph type="title"/>
          </p:nvPr>
        </p:nvSpPr>
        <p:spPr>
          <a:noFill/>
        </p:spPr>
        <p:txBody>
          <a:bodyPr/>
          <a:lstStyle/>
          <a:p>
            <a:r>
              <a:rPr lang="en-GB" altLang="en-US">
                <a:effectLst/>
              </a:rPr>
              <a:t>Combined ductile and brittle deformation</a:t>
            </a:r>
          </a:p>
        </p:txBody>
      </p:sp>
      <p:sp>
        <p:nvSpPr>
          <p:cNvPr id="35843" name="Rectangle 3">
            <a:extLst>
              <a:ext uri="{FF2B5EF4-FFF2-40B4-BE49-F238E27FC236}">
                <a16:creationId xmlns:a16="http://schemas.microsoft.com/office/drawing/2014/main" id="{918CD3BE-4F02-4363-8A9D-73B38CE14B75}"/>
              </a:ext>
            </a:extLst>
          </p:cNvPr>
          <p:cNvSpPr>
            <a:spLocks noGrp="1" noChangeArrowheads="1"/>
          </p:cNvSpPr>
          <p:nvPr>
            <p:ph type="body" sz="half" idx="1"/>
          </p:nvPr>
        </p:nvSpPr>
        <p:spPr>
          <a:xfrm>
            <a:off x="119063" y="827165"/>
            <a:ext cx="4505632" cy="2606675"/>
          </a:xfrm>
          <a:noFill/>
        </p:spPr>
        <p:txBody>
          <a:bodyPr/>
          <a:lstStyle/>
          <a:p>
            <a:pPr marL="177800" indent="-177800">
              <a:spcBef>
                <a:spcPct val="75000"/>
              </a:spcBef>
            </a:pPr>
            <a:r>
              <a:rPr lang="en-GB" altLang="en-US" sz="1700" dirty="0">
                <a:effectLst/>
              </a:rPr>
              <a:t>In upper crustal environments, particularly when fluids are present, shear zones commonly show many of the features of ductile deformation that we have been describing (</a:t>
            </a:r>
            <a:r>
              <a:rPr lang="en-GB" altLang="en-US" sz="1700" i="1" dirty="0">
                <a:effectLst/>
              </a:rPr>
              <a:t>e.g</a:t>
            </a:r>
            <a:r>
              <a:rPr lang="en-GB" altLang="en-US" sz="1700" dirty="0">
                <a:effectLst/>
              </a:rPr>
              <a:t>., </a:t>
            </a:r>
            <a:r>
              <a:rPr lang="en-GB" altLang="en-US" sz="1700" dirty="0">
                <a:solidFill>
                  <a:srgbClr val="FF66CC"/>
                </a:solidFill>
                <a:effectLst/>
              </a:rPr>
              <a:t>grain shape fabrics, LPOs, strain fringes</a:t>
            </a:r>
            <a:r>
              <a:rPr lang="en-GB" altLang="en-US" sz="1700" dirty="0">
                <a:effectLst/>
              </a:rPr>
              <a:t>) but they also show features indicating brittle deformation (</a:t>
            </a:r>
            <a:r>
              <a:rPr lang="en-GB" altLang="en-US" sz="1700" i="1" dirty="0">
                <a:effectLst/>
              </a:rPr>
              <a:t>e.g.</a:t>
            </a:r>
            <a:r>
              <a:rPr lang="en-GB" altLang="en-US" sz="1700" dirty="0">
                <a:effectLst/>
              </a:rPr>
              <a:t>, </a:t>
            </a:r>
            <a:r>
              <a:rPr lang="en-GB" altLang="en-US" sz="1700" dirty="0">
                <a:solidFill>
                  <a:srgbClr val="FF66CC"/>
                </a:solidFill>
                <a:effectLst/>
              </a:rPr>
              <a:t>fractures and veins</a:t>
            </a:r>
            <a:r>
              <a:rPr lang="en-GB" altLang="en-US" sz="1700" dirty="0">
                <a:effectLst/>
              </a:rPr>
              <a:t>)</a:t>
            </a:r>
          </a:p>
        </p:txBody>
      </p:sp>
      <p:pic>
        <p:nvPicPr>
          <p:cNvPr id="35844" name="Picture 20" descr="SCwaynesboro01">
            <a:extLst>
              <a:ext uri="{FF2B5EF4-FFF2-40B4-BE49-F238E27FC236}">
                <a16:creationId xmlns:a16="http://schemas.microsoft.com/office/drawing/2014/main" id="{F8F5EA33-8815-4163-9376-22A3228F527B}"/>
              </a:ext>
            </a:extLst>
          </p:cNvPr>
          <p:cNvPicPr>
            <a:picLocks noGrp="1" noChangeAspect="1" noChangeArrowheads="1"/>
          </p:cNvPicPr>
          <p:nvPr>
            <p:ph sz="quarter" idx="2"/>
          </p:nvPr>
        </p:nvPicPr>
        <p:blipFill>
          <a:blip r:embed="rId4">
            <a:extLst>
              <a:ext uri="{28A0092B-C50C-407E-A947-70E740481C1C}">
                <a14:useLocalDpi xmlns:a14="http://schemas.microsoft.com/office/drawing/2010/main" val="0"/>
              </a:ext>
            </a:extLst>
          </a:blip>
          <a:srcRect/>
          <a:stretch>
            <a:fillRect/>
          </a:stretch>
        </p:blipFill>
        <p:spPr>
          <a:xfrm>
            <a:off x="5077133" y="946150"/>
            <a:ext cx="3713163" cy="2787650"/>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28376" name="Text Box 24">
            <a:extLst>
              <a:ext uri="{FF2B5EF4-FFF2-40B4-BE49-F238E27FC236}">
                <a16:creationId xmlns:a16="http://schemas.microsoft.com/office/drawing/2014/main" id="{1A8F312A-6CB8-4697-9AB6-8D7F7295B038}"/>
              </a:ext>
            </a:extLst>
          </p:cNvPr>
          <p:cNvSpPr txBox="1">
            <a:spLocks noChangeArrowheads="1"/>
          </p:cNvSpPr>
          <p:nvPr/>
        </p:nvSpPr>
        <p:spPr bwMode="auto">
          <a:xfrm>
            <a:off x="4780271" y="3906838"/>
            <a:ext cx="4220970" cy="27057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176213" indent="-176213">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50000"/>
              </a:spcBef>
              <a:buClr>
                <a:schemeClr val="tx1"/>
              </a:buClr>
              <a:buFontTx/>
              <a:buChar char="•"/>
            </a:pPr>
            <a:r>
              <a:rPr lang="en-GB" altLang="en-US" sz="1700" dirty="0">
                <a:effectLst>
                  <a:outerShdw blurRad="38100" dist="38100" dir="2700000" algn="tl">
                    <a:srgbClr val="000000"/>
                  </a:outerShdw>
                </a:effectLst>
                <a:latin typeface="Arial" panose="020B0604020202020204" pitchFamily="34" charset="0"/>
              </a:rPr>
              <a:t>In semi-brittle shear zones the fractures commonly form </a:t>
            </a:r>
            <a:r>
              <a:rPr lang="en-GB" altLang="en-US" sz="1700" dirty="0" err="1">
                <a:solidFill>
                  <a:srgbClr val="FF66CC"/>
                </a:solidFill>
                <a:effectLst>
                  <a:outerShdw blurRad="38100" dist="38100" dir="2700000" algn="tl">
                    <a:srgbClr val="000000"/>
                  </a:outerShdw>
                </a:effectLst>
                <a:latin typeface="Arial" panose="020B0604020202020204" pitchFamily="34" charset="0"/>
              </a:rPr>
              <a:t>en</a:t>
            </a:r>
            <a:r>
              <a:rPr lang="en-GB" altLang="en-US" sz="1700" dirty="0">
                <a:solidFill>
                  <a:srgbClr val="FF66CC"/>
                </a:solidFill>
                <a:effectLst>
                  <a:outerShdw blurRad="38100" dist="38100" dir="2700000" algn="tl">
                    <a:srgbClr val="000000"/>
                  </a:outerShdw>
                </a:effectLst>
                <a:latin typeface="Arial" panose="020B0604020202020204" pitchFamily="34" charset="0"/>
              </a:rPr>
              <a:t> </a:t>
            </a:r>
            <a:r>
              <a:rPr lang="en-GB" altLang="en-US" sz="1700" dirty="0" err="1">
                <a:solidFill>
                  <a:srgbClr val="FF66CC"/>
                </a:solidFill>
                <a:effectLst>
                  <a:outerShdw blurRad="38100" dist="38100" dir="2700000" algn="tl">
                    <a:srgbClr val="000000"/>
                  </a:outerShdw>
                </a:effectLst>
                <a:latin typeface="Arial" panose="020B0604020202020204" pitchFamily="34" charset="0"/>
              </a:rPr>
              <a:t>échelon</a:t>
            </a:r>
            <a:r>
              <a:rPr lang="en-GB" altLang="en-US" sz="1700" dirty="0">
                <a:solidFill>
                  <a:srgbClr val="FF66CC"/>
                </a:solidFill>
                <a:effectLst>
                  <a:outerShdw blurRad="38100" dist="38100" dir="2700000" algn="tl">
                    <a:srgbClr val="000000"/>
                  </a:outerShdw>
                </a:effectLst>
                <a:latin typeface="Arial" panose="020B0604020202020204" pitchFamily="34" charset="0"/>
              </a:rPr>
              <a:t> arrays</a:t>
            </a:r>
          </a:p>
          <a:p>
            <a:pPr>
              <a:lnSpc>
                <a:spcPct val="120000"/>
              </a:lnSpc>
              <a:spcBef>
                <a:spcPct val="50000"/>
              </a:spcBef>
              <a:buClr>
                <a:schemeClr val="tx1"/>
              </a:buClr>
              <a:buFontTx/>
              <a:buChar char="•"/>
            </a:pPr>
            <a:r>
              <a:rPr lang="en-GB" altLang="en-US" sz="1700" dirty="0">
                <a:effectLst>
                  <a:outerShdw blurRad="38100" dist="38100" dir="2700000" algn="tl">
                    <a:srgbClr val="000000"/>
                  </a:outerShdw>
                </a:effectLst>
                <a:latin typeface="Arial" panose="020B0604020202020204" pitchFamily="34" charset="0"/>
              </a:rPr>
              <a:t>In simple shear, these fractures (</a:t>
            </a:r>
            <a:r>
              <a:rPr lang="en-GB" altLang="en-US" sz="1700" dirty="0">
                <a:solidFill>
                  <a:srgbClr val="FF6600"/>
                </a:solidFill>
                <a:effectLst>
                  <a:outerShdw blurRad="38100" dist="38100" dir="2700000" algn="tl">
                    <a:srgbClr val="000000"/>
                  </a:outerShdw>
                </a:effectLst>
                <a:latin typeface="Arial" panose="020B0604020202020204" pitchFamily="34" charset="0"/>
              </a:rPr>
              <a:t>tension gashes</a:t>
            </a:r>
            <a:r>
              <a:rPr lang="en-GB" altLang="en-US" sz="1700" dirty="0">
                <a:effectLst>
                  <a:outerShdw blurRad="38100" dist="38100" dir="2700000" algn="tl">
                    <a:srgbClr val="000000"/>
                  </a:outerShdw>
                </a:effectLst>
                <a:latin typeface="Arial" panose="020B0604020202020204" pitchFamily="34" charset="0"/>
              </a:rPr>
              <a:t>) </a:t>
            </a:r>
            <a:r>
              <a:rPr lang="en-GB" altLang="en-US" sz="1700" dirty="0">
                <a:effectLst/>
                <a:latin typeface="Arial" panose="020B0604020202020204" pitchFamily="34" charset="0"/>
              </a:rPr>
              <a:t>form at </a:t>
            </a:r>
            <a:r>
              <a:rPr lang="en-GB" altLang="en-US" sz="1700" dirty="0">
                <a:solidFill>
                  <a:srgbClr val="FF66CC"/>
                </a:solidFill>
                <a:effectLst/>
                <a:latin typeface="Arial" panose="020B0604020202020204" pitchFamily="34" charset="0"/>
              </a:rPr>
              <a:t>45° to the shear zone wall</a:t>
            </a:r>
            <a:r>
              <a:rPr lang="en-GB" altLang="en-US" sz="1700" dirty="0">
                <a:effectLst/>
                <a:latin typeface="Arial" panose="020B0604020202020204" pitchFamily="34" charset="0"/>
              </a:rPr>
              <a:t>, parallel with the maximum shortening direction of the incremental strain ellipse, and may therefore be used </a:t>
            </a:r>
            <a:r>
              <a:rPr lang="en-GB" altLang="en-US" sz="1700" dirty="0">
                <a:solidFill>
                  <a:srgbClr val="FF66CC"/>
                </a:solidFill>
                <a:effectLst/>
                <a:latin typeface="Arial" panose="020B0604020202020204" pitchFamily="34" charset="0"/>
              </a:rPr>
              <a:t>to infer shear sense</a:t>
            </a:r>
            <a:endParaRPr lang="en-GB" altLang="en-US" sz="1700" dirty="0">
              <a:solidFill>
                <a:srgbClr val="FF66CC"/>
              </a:solidFill>
              <a:effectLst>
                <a:outerShdw blurRad="38100" dist="38100" dir="2700000" algn="tl">
                  <a:srgbClr val="000000"/>
                </a:outerShdw>
              </a:effectLst>
              <a:latin typeface="Arial" panose="020B0604020202020204" pitchFamily="34" charset="0"/>
            </a:endParaRPr>
          </a:p>
        </p:txBody>
      </p:sp>
      <p:sp>
        <p:nvSpPr>
          <p:cNvPr id="228377" name="Freeform 25">
            <a:extLst>
              <a:ext uri="{FF2B5EF4-FFF2-40B4-BE49-F238E27FC236}">
                <a16:creationId xmlns:a16="http://schemas.microsoft.com/office/drawing/2014/main" id="{846C8655-030F-496C-8663-DFCE052889C3}"/>
              </a:ext>
            </a:extLst>
          </p:cNvPr>
          <p:cNvSpPr>
            <a:spLocks/>
          </p:cNvSpPr>
          <p:nvPr/>
        </p:nvSpPr>
        <p:spPr bwMode="auto">
          <a:xfrm>
            <a:off x="7856846" y="1062038"/>
            <a:ext cx="481012" cy="98425"/>
          </a:xfrm>
          <a:custGeom>
            <a:avLst/>
            <a:gdLst>
              <a:gd name="T0" fmla="*/ 303 w 303"/>
              <a:gd name="T1" fmla="*/ 62 h 62"/>
              <a:gd name="T2" fmla="*/ 0 w 303"/>
              <a:gd name="T3" fmla="*/ 62 h 62"/>
              <a:gd name="T4" fmla="*/ 62 w 303"/>
              <a:gd name="T5" fmla="*/ 0 h 62"/>
            </a:gdLst>
            <a:ahLst/>
            <a:cxnLst>
              <a:cxn ang="0">
                <a:pos x="T0" y="T1"/>
              </a:cxn>
              <a:cxn ang="0">
                <a:pos x="T2" y="T3"/>
              </a:cxn>
              <a:cxn ang="0">
                <a:pos x="T4" y="T5"/>
              </a:cxn>
            </a:cxnLst>
            <a:rect l="0" t="0" r="r" b="b"/>
            <a:pathLst>
              <a:path w="303" h="62">
                <a:moveTo>
                  <a:pt x="303" y="62"/>
                </a:moveTo>
                <a:lnTo>
                  <a:pt x="0" y="62"/>
                </a:lnTo>
                <a:lnTo>
                  <a:pt x="62" y="0"/>
                </a:lnTo>
              </a:path>
            </a:pathLst>
          </a:custGeom>
          <a:noFill/>
          <a:ln w="28575"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GB">
              <a:latin typeface="Helvetica" charset="0"/>
            </a:endParaRPr>
          </a:p>
        </p:txBody>
      </p:sp>
      <p:pic>
        <p:nvPicPr>
          <p:cNvPr id="35849" name="Picture 27">
            <a:extLst>
              <a:ext uri="{FF2B5EF4-FFF2-40B4-BE49-F238E27FC236}">
                <a16:creationId xmlns:a16="http://schemas.microsoft.com/office/drawing/2014/main" id="{5B2D9A1D-5412-4A7E-B253-837D7BFF5DB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18356994">
            <a:off x="542925" y="3909708"/>
            <a:ext cx="620713" cy="742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28380" name="Freeform 28">
            <a:extLst>
              <a:ext uri="{FF2B5EF4-FFF2-40B4-BE49-F238E27FC236}">
                <a16:creationId xmlns:a16="http://schemas.microsoft.com/office/drawing/2014/main" id="{731C11A7-93E8-466B-A9B0-25F848F7B456}"/>
              </a:ext>
            </a:extLst>
          </p:cNvPr>
          <p:cNvSpPr>
            <a:spLocks/>
          </p:cNvSpPr>
          <p:nvPr/>
        </p:nvSpPr>
        <p:spPr bwMode="auto">
          <a:xfrm rot="16991486">
            <a:off x="735013" y="3841018"/>
            <a:ext cx="76200" cy="212725"/>
          </a:xfrm>
          <a:custGeom>
            <a:avLst/>
            <a:gdLst>
              <a:gd name="T0" fmla="*/ 33 w 42"/>
              <a:gd name="T1" fmla="*/ 168 h 168"/>
              <a:gd name="T2" fmla="*/ 0 w 42"/>
              <a:gd name="T3" fmla="*/ 0 h 168"/>
              <a:gd name="T4" fmla="*/ 42 w 42"/>
              <a:gd name="T5" fmla="*/ 36 h 168"/>
            </a:gdLst>
            <a:ahLst/>
            <a:cxnLst>
              <a:cxn ang="0">
                <a:pos x="T0" y="T1"/>
              </a:cxn>
              <a:cxn ang="0">
                <a:pos x="T2" y="T3"/>
              </a:cxn>
              <a:cxn ang="0">
                <a:pos x="T4" y="T5"/>
              </a:cxn>
            </a:cxnLst>
            <a:rect l="0" t="0" r="r" b="b"/>
            <a:pathLst>
              <a:path w="42" h="168">
                <a:moveTo>
                  <a:pt x="33" y="168"/>
                </a:moveTo>
                <a:lnTo>
                  <a:pt x="0" y="0"/>
                </a:lnTo>
                <a:lnTo>
                  <a:pt x="42" y="36"/>
                </a:lnTo>
              </a:path>
            </a:pathLst>
          </a:custGeom>
          <a:noFill/>
          <a:ln w="19050"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GB">
              <a:latin typeface="Helvetica" charset="0"/>
            </a:endParaRPr>
          </a:p>
        </p:txBody>
      </p:sp>
      <p:sp>
        <p:nvSpPr>
          <p:cNvPr id="228381" name="Freeform 29">
            <a:extLst>
              <a:ext uri="{FF2B5EF4-FFF2-40B4-BE49-F238E27FC236}">
                <a16:creationId xmlns:a16="http://schemas.microsoft.com/office/drawing/2014/main" id="{0BD5D563-D578-4CEB-A0F8-7F0AFB830F82}"/>
              </a:ext>
            </a:extLst>
          </p:cNvPr>
          <p:cNvSpPr>
            <a:spLocks/>
          </p:cNvSpPr>
          <p:nvPr/>
        </p:nvSpPr>
        <p:spPr bwMode="auto">
          <a:xfrm rot="6191486">
            <a:off x="897386" y="4509551"/>
            <a:ext cx="76200" cy="212725"/>
          </a:xfrm>
          <a:custGeom>
            <a:avLst/>
            <a:gdLst>
              <a:gd name="T0" fmla="*/ 33 w 42"/>
              <a:gd name="T1" fmla="*/ 168 h 168"/>
              <a:gd name="T2" fmla="*/ 0 w 42"/>
              <a:gd name="T3" fmla="*/ 0 h 168"/>
              <a:gd name="T4" fmla="*/ 42 w 42"/>
              <a:gd name="T5" fmla="*/ 36 h 168"/>
            </a:gdLst>
            <a:ahLst/>
            <a:cxnLst>
              <a:cxn ang="0">
                <a:pos x="T0" y="T1"/>
              </a:cxn>
              <a:cxn ang="0">
                <a:pos x="T2" y="T3"/>
              </a:cxn>
              <a:cxn ang="0">
                <a:pos x="T4" y="T5"/>
              </a:cxn>
            </a:cxnLst>
            <a:rect l="0" t="0" r="r" b="b"/>
            <a:pathLst>
              <a:path w="42" h="168">
                <a:moveTo>
                  <a:pt x="33" y="168"/>
                </a:moveTo>
                <a:lnTo>
                  <a:pt x="0" y="0"/>
                </a:lnTo>
                <a:lnTo>
                  <a:pt x="42" y="36"/>
                </a:lnTo>
              </a:path>
            </a:pathLst>
          </a:custGeom>
          <a:noFill/>
          <a:ln w="19050"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GB">
              <a:latin typeface="Helvetica" charset="0"/>
            </a:endParaRPr>
          </a:p>
        </p:txBody>
      </p:sp>
      <p:sp>
        <p:nvSpPr>
          <p:cNvPr id="17" name="Freeform 25">
            <a:extLst>
              <a:ext uri="{FF2B5EF4-FFF2-40B4-BE49-F238E27FC236}">
                <a16:creationId xmlns:a16="http://schemas.microsoft.com/office/drawing/2014/main" id="{AA5AFFC5-8A47-43EF-83B5-242B7F1B99EE}"/>
              </a:ext>
            </a:extLst>
          </p:cNvPr>
          <p:cNvSpPr>
            <a:spLocks/>
          </p:cNvSpPr>
          <p:nvPr/>
        </p:nvSpPr>
        <p:spPr bwMode="auto">
          <a:xfrm>
            <a:off x="2293494" y="4810034"/>
            <a:ext cx="481012" cy="98425"/>
          </a:xfrm>
          <a:custGeom>
            <a:avLst/>
            <a:gdLst>
              <a:gd name="T0" fmla="*/ 303 w 303"/>
              <a:gd name="T1" fmla="*/ 62 h 62"/>
              <a:gd name="T2" fmla="*/ 0 w 303"/>
              <a:gd name="T3" fmla="*/ 62 h 62"/>
              <a:gd name="T4" fmla="*/ 62 w 303"/>
              <a:gd name="T5" fmla="*/ 0 h 62"/>
            </a:gdLst>
            <a:ahLst/>
            <a:cxnLst>
              <a:cxn ang="0">
                <a:pos x="T0" y="T1"/>
              </a:cxn>
              <a:cxn ang="0">
                <a:pos x="T2" y="T3"/>
              </a:cxn>
              <a:cxn ang="0">
                <a:pos x="T4" y="T5"/>
              </a:cxn>
            </a:cxnLst>
            <a:rect l="0" t="0" r="r" b="b"/>
            <a:pathLst>
              <a:path w="303" h="62">
                <a:moveTo>
                  <a:pt x="303" y="62"/>
                </a:moveTo>
                <a:lnTo>
                  <a:pt x="0" y="62"/>
                </a:lnTo>
                <a:lnTo>
                  <a:pt x="62" y="0"/>
                </a:lnTo>
              </a:path>
            </a:pathLst>
          </a:custGeom>
          <a:noFill/>
          <a:ln w="28575"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GB">
              <a:latin typeface="Helvetica" charset="0"/>
            </a:endParaRPr>
          </a:p>
        </p:txBody>
      </p:sp>
      <p:sp>
        <p:nvSpPr>
          <p:cNvPr id="18" name="Freeform 25">
            <a:extLst>
              <a:ext uri="{FF2B5EF4-FFF2-40B4-BE49-F238E27FC236}">
                <a16:creationId xmlns:a16="http://schemas.microsoft.com/office/drawing/2014/main" id="{F9345DE7-2865-472D-A43F-39AE2635D236}"/>
              </a:ext>
            </a:extLst>
          </p:cNvPr>
          <p:cNvSpPr>
            <a:spLocks/>
          </p:cNvSpPr>
          <p:nvPr/>
        </p:nvSpPr>
        <p:spPr bwMode="auto">
          <a:xfrm rot="10800000">
            <a:off x="2455942" y="5711773"/>
            <a:ext cx="481012" cy="98425"/>
          </a:xfrm>
          <a:custGeom>
            <a:avLst/>
            <a:gdLst>
              <a:gd name="T0" fmla="*/ 303 w 303"/>
              <a:gd name="T1" fmla="*/ 62 h 62"/>
              <a:gd name="T2" fmla="*/ 0 w 303"/>
              <a:gd name="T3" fmla="*/ 62 h 62"/>
              <a:gd name="T4" fmla="*/ 62 w 303"/>
              <a:gd name="T5" fmla="*/ 0 h 62"/>
            </a:gdLst>
            <a:ahLst/>
            <a:cxnLst>
              <a:cxn ang="0">
                <a:pos x="T0" y="T1"/>
              </a:cxn>
              <a:cxn ang="0">
                <a:pos x="T2" y="T3"/>
              </a:cxn>
              <a:cxn ang="0">
                <a:pos x="T4" y="T5"/>
              </a:cxn>
            </a:cxnLst>
            <a:rect l="0" t="0" r="r" b="b"/>
            <a:pathLst>
              <a:path w="303" h="62">
                <a:moveTo>
                  <a:pt x="303" y="62"/>
                </a:moveTo>
                <a:lnTo>
                  <a:pt x="0" y="62"/>
                </a:lnTo>
                <a:lnTo>
                  <a:pt x="62" y="0"/>
                </a:lnTo>
              </a:path>
            </a:pathLst>
          </a:custGeom>
          <a:noFill/>
          <a:ln w="28575"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GB">
              <a:latin typeface="Helvetica" charset="0"/>
            </a:endParaRPr>
          </a:p>
        </p:txBody>
      </p:sp>
    </p:spTree>
    <p:extLst>
      <p:ext uri="{BB962C8B-B14F-4D97-AF65-F5344CB8AC3E}">
        <p14:creationId xmlns:p14="http://schemas.microsoft.com/office/powerpoint/2010/main" val="3357687476"/>
      </p:ext>
    </p:extLst>
  </p:cSld>
  <p:clrMapOvr>
    <a:masterClrMapping/>
  </p:clrMapOvr>
  <p:transition spd="slow"/>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49CFA743-5C60-4300-97F2-DFCE2591DFC2}"/>
              </a:ext>
            </a:extLst>
          </p:cNvPr>
          <p:cNvSpPr>
            <a:spLocks noGrp="1" noChangeArrowheads="1"/>
          </p:cNvSpPr>
          <p:nvPr>
            <p:ph type="title"/>
          </p:nvPr>
        </p:nvSpPr>
        <p:spPr>
          <a:noFill/>
        </p:spPr>
        <p:txBody>
          <a:bodyPr/>
          <a:lstStyle/>
          <a:p>
            <a:r>
              <a:rPr lang="en-GB" altLang="en-US">
                <a:effectLst/>
              </a:rPr>
              <a:t>Tension gash arrays  1</a:t>
            </a:r>
          </a:p>
        </p:txBody>
      </p:sp>
      <p:pic>
        <p:nvPicPr>
          <p:cNvPr id="36869" name="Picture 5" descr="13b2">
            <a:extLst>
              <a:ext uri="{FF2B5EF4-FFF2-40B4-BE49-F238E27FC236}">
                <a16:creationId xmlns:a16="http://schemas.microsoft.com/office/drawing/2014/main" id="{E29C83A6-5F84-4DB3-91D9-F9342E85727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8913" y="874713"/>
            <a:ext cx="2549525" cy="1322387"/>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36879" name="Picture 15" descr="MarloesC">
            <a:extLst>
              <a:ext uri="{FF2B5EF4-FFF2-40B4-BE49-F238E27FC236}">
                <a16:creationId xmlns:a16="http://schemas.microsoft.com/office/drawing/2014/main" id="{E4AA0992-6318-4D5A-8645-DA8BF3BFD53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46688" y="874713"/>
            <a:ext cx="3698875" cy="5784850"/>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36868" name="Picture 4" descr="13b">
            <a:extLst>
              <a:ext uri="{FF2B5EF4-FFF2-40B4-BE49-F238E27FC236}">
                <a16:creationId xmlns:a16="http://schemas.microsoft.com/office/drawing/2014/main" id="{0D848F70-A822-4DBC-9BAF-129FD2B229E1}"/>
              </a:ext>
            </a:extLst>
          </p:cNvPr>
          <p:cNvPicPr>
            <a:picLocks noGrp="1" noChangeAspect="1" noChangeArrowheads="1"/>
          </p:cNvPicPr>
          <p:nvPr>
            <p:ph sz="quarter" idx="3"/>
          </p:nvPr>
        </p:nvPicPr>
        <p:blipFill>
          <a:blip r:embed="rId5">
            <a:extLst>
              <a:ext uri="{28A0092B-C50C-407E-A947-70E740481C1C}">
                <a14:useLocalDpi xmlns:a14="http://schemas.microsoft.com/office/drawing/2010/main" val="0"/>
              </a:ext>
            </a:extLst>
          </a:blip>
          <a:srcRect/>
          <a:stretch>
            <a:fillRect/>
          </a:stretch>
        </p:blipFill>
        <p:spPr>
          <a:xfrm>
            <a:off x="188913" y="2413000"/>
            <a:ext cx="4851400" cy="1524000"/>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99368" name="Freeform 8">
            <a:extLst>
              <a:ext uri="{FF2B5EF4-FFF2-40B4-BE49-F238E27FC236}">
                <a16:creationId xmlns:a16="http://schemas.microsoft.com/office/drawing/2014/main" id="{8179425C-BC8E-487E-B05F-DCE922DEB206}"/>
              </a:ext>
            </a:extLst>
          </p:cNvPr>
          <p:cNvSpPr>
            <a:spLocks/>
          </p:cNvSpPr>
          <p:nvPr/>
        </p:nvSpPr>
        <p:spPr bwMode="auto">
          <a:xfrm rot="1693703">
            <a:off x="7881938" y="2413000"/>
            <a:ext cx="100012" cy="277813"/>
          </a:xfrm>
          <a:custGeom>
            <a:avLst/>
            <a:gdLst>
              <a:gd name="T0" fmla="*/ 33 w 42"/>
              <a:gd name="T1" fmla="*/ 168 h 168"/>
              <a:gd name="T2" fmla="*/ 0 w 42"/>
              <a:gd name="T3" fmla="*/ 0 h 168"/>
              <a:gd name="T4" fmla="*/ 42 w 42"/>
              <a:gd name="T5" fmla="*/ 36 h 168"/>
            </a:gdLst>
            <a:ahLst/>
            <a:cxnLst>
              <a:cxn ang="0">
                <a:pos x="T0" y="T1"/>
              </a:cxn>
              <a:cxn ang="0">
                <a:pos x="T2" y="T3"/>
              </a:cxn>
              <a:cxn ang="0">
                <a:pos x="T4" y="T5"/>
              </a:cxn>
            </a:cxnLst>
            <a:rect l="0" t="0" r="r" b="b"/>
            <a:pathLst>
              <a:path w="42" h="168">
                <a:moveTo>
                  <a:pt x="33" y="168"/>
                </a:moveTo>
                <a:lnTo>
                  <a:pt x="0" y="0"/>
                </a:lnTo>
                <a:lnTo>
                  <a:pt x="42" y="36"/>
                </a:lnTo>
              </a:path>
            </a:pathLst>
          </a:custGeom>
          <a:noFill/>
          <a:ln w="28575"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GB">
              <a:latin typeface="Helvetica" charset="0"/>
            </a:endParaRPr>
          </a:p>
        </p:txBody>
      </p:sp>
      <p:sp>
        <p:nvSpPr>
          <p:cNvPr id="399369" name="Freeform 9">
            <a:extLst>
              <a:ext uri="{FF2B5EF4-FFF2-40B4-BE49-F238E27FC236}">
                <a16:creationId xmlns:a16="http://schemas.microsoft.com/office/drawing/2014/main" id="{6F8558DD-99F9-4404-AF78-8843C24762CA}"/>
              </a:ext>
            </a:extLst>
          </p:cNvPr>
          <p:cNvSpPr>
            <a:spLocks/>
          </p:cNvSpPr>
          <p:nvPr/>
        </p:nvSpPr>
        <p:spPr bwMode="auto">
          <a:xfrm rot="12493703">
            <a:off x="7323138" y="2001838"/>
            <a:ext cx="100012" cy="277812"/>
          </a:xfrm>
          <a:custGeom>
            <a:avLst/>
            <a:gdLst>
              <a:gd name="T0" fmla="*/ 33 w 42"/>
              <a:gd name="T1" fmla="*/ 168 h 168"/>
              <a:gd name="T2" fmla="*/ 0 w 42"/>
              <a:gd name="T3" fmla="*/ 0 h 168"/>
              <a:gd name="T4" fmla="*/ 42 w 42"/>
              <a:gd name="T5" fmla="*/ 36 h 168"/>
            </a:gdLst>
            <a:ahLst/>
            <a:cxnLst>
              <a:cxn ang="0">
                <a:pos x="T0" y="T1"/>
              </a:cxn>
              <a:cxn ang="0">
                <a:pos x="T2" y="T3"/>
              </a:cxn>
              <a:cxn ang="0">
                <a:pos x="T4" y="T5"/>
              </a:cxn>
            </a:cxnLst>
            <a:rect l="0" t="0" r="r" b="b"/>
            <a:pathLst>
              <a:path w="42" h="168">
                <a:moveTo>
                  <a:pt x="33" y="168"/>
                </a:moveTo>
                <a:lnTo>
                  <a:pt x="0" y="0"/>
                </a:lnTo>
                <a:lnTo>
                  <a:pt x="42" y="36"/>
                </a:lnTo>
              </a:path>
            </a:pathLst>
          </a:custGeom>
          <a:noFill/>
          <a:ln w="28575"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GB">
              <a:latin typeface="Helvetica" charset="0"/>
            </a:endParaRPr>
          </a:p>
        </p:txBody>
      </p:sp>
      <p:grpSp>
        <p:nvGrpSpPr>
          <p:cNvPr id="36874" name="Group 10">
            <a:extLst>
              <a:ext uri="{FF2B5EF4-FFF2-40B4-BE49-F238E27FC236}">
                <a16:creationId xmlns:a16="http://schemas.microsoft.com/office/drawing/2014/main" id="{505D2049-841B-493B-A6E8-FC77F34A27E9}"/>
              </a:ext>
            </a:extLst>
          </p:cNvPr>
          <p:cNvGrpSpPr>
            <a:grpSpLocks/>
          </p:cNvGrpSpPr>
          <p:nvPr/>
        </p:nvGrpSpPr>
        <p:grpSpPr bwMode="auto">
          <a:xfrm rot="-225320">
            <a:off x="5870575" y="2020888"/>
            <a:ext cx="569913" cy="855662"/>
            <a:chOff x="3900" y="1483"/>
            <a:chExt cx="344" cy="517"/>
          </a:xfrm>
        </p:grpSpPr>
        <p:sp>
          <p:nvSpPr>
            <p:cNvPr id="399371" name="Freeform 11">
              <a:extLst>
                <a:ext uri="{FF2B5EF4-FFF2-40B4-BE49-F238E27FC236}">
                  <a16:creationId xmlns:a16="http://schemas.microsoft.com/office/drawing/2014/main" id="{8160C891-8D89-409B-A30C-AEFB03D32A76}"/>
                </a:ext>
              </a:extLst>
            </p:cNvPr>
            <p:cNvSpPr>
              <a:spLocks/>
            </p:cNvSpPr>
            <p:nvPr/>
          </p:nvSpPr>
          <p:spPr bwMode="auto">
            <a:xfrm rot="3070697">
              <a:off x="4140" y="1538"/>
              <a:ext cx="159" cy="48"/>
            </a:xfrm>
            <a:custGeom>
              <a:avLst/>
              <a:gdLst>
                <a:gd name="T0" fmla="*/ 0 w 159"/>
                <a:gd name="T1" fmla="*/ 15 h 30"/>
                <a:gd name="T2" fmla="*/ 159 w 159"/>
                <a:gd name="T3" fmla="*/ 30 h 30"/>
                <a:gd name="T4" fmla="*/ 120 w 159"/>
                <a:gd name="T5" fmla="*/ 0 h 30"/>
              </a:gdLst>
              <a:ahLst/>
              <a:cxnLst>
                <a:cxn ang="0">
                  <a:pos x="T0" y="T1"/>
                </a:cxn>
                <a:cxn ang="0">
                  <a:pos x="T2" y="T3"/>
                </a:cxn>
                <a:cxn ang="0">
                  <a:pos x="T4" y="T5"/>
                </a:cxn>
              </a:cxnLst>
              <a:rect l="0" t="0" r="r" b="b"/>
              <a:pathLst>
                <a:path w="159" h="30">
                  <a:moveTo>
                    <a:pt x="0" y="15"/>
                  </a:moveTo>
                  <a:lnTo>
                    <a:pt x="159" y="30"/>
                  </a:lnTo>
                  <a:lnTo>
                    <a:pt x="120" y="0"/>
                  </a:lnTo>
                </a:path>
              </a:pathLst>
            </a:custGeom>
            <a:noFill/>
            <a:ln w="28575"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GB">
                <a:latin typeface="Helvetica" charset="0"/>
              </a:endParaRPr>
            </a:p>
          </p:txBody>
        </p:sp>
        <p:sp>
          <p:nvSpPr>
            <p:cNvPr id="399372" name="Freeform 12">
              <a:extLst>
                <a:ext uri="{FF2B5EF4-FFF2-40B4-BE49-F238E27FC236}">
                  <a16:creationId xmlns:a16="http://schemas.microsoft.com/office/drawing/2014/main" id="{2F0F0D11-3027-4A5A-BCFE-F226C2172677}"/>
                </a:ext>
              </a:extLst>
            </p:cNvPr>
            <p:cNvSpPr>
              <a:spLocks/>
            </p:cNvSpPr>
            <p:nvPr/>
          </p:nvSpPr>
          <p:spPr bwMode="auto">
            <a:xfrm rot="13870697">
              <a:off x="3844" y="1896"/>
              <a:ext cx="159" cy="48"/>
            </a:xfrm>
            <a:custGeom>
              <a:avLst/>
              <a:gdLst>
                <a:gd name="T0" fmla="*/ 0 w 159"/>
                <a:gd name="T1" fmla="*/ 15 h 30"/>
                <a:gd name="T2" fmla="*/ 159 w 159"/>
                <a:gd name="T3" fmla="*/ 30 h 30"/>
                <a:gd name="T4" fmla="*/ 120 w 159"/>
                <a:gd name="T5" fmla="*/ 0 h 30"/>
              </a:gdLst>
              <a:ahLst/>
              <a:cxnLst>
                <a:cxn ang="0">
                  <a:pos x="T0" y="T1"/>
                </a:cxn>
                <a:cxn ang="0">
                  <a:pos x="T2" y="T3"/>
                </a:cxn>
                <a:cxn ang="0">
                  <a:pos x="T4" y="T5"/>
                </a:cxn>
              </a:cxnLst>
              <a:rect l="0" t="0" r="r" b="b"/>
              <a:pathLst>
                <a:path w="159" h="30">
                  <a:moveTo>
                    <a:pt x="0" y="15"/>
                  </a:moveTo>
                  <a:lnTo>
                    <a:pt x="159" y="30"/>
                  </a:lnTo>
                  <a:lnTo>
                    <a:pt x="120" y="0"/>
                  </a:lnTo>
                </a:path>
              </a:pathLst>
            </a:custGeom>
            <a:noFill/>
            <a:ln w="28575"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GB">
                <a:latin typeface="Helvetica" charset="0"/>
              </a:endParaRPr>
            </a:p>
          </p:txBody>
        </p:sp>
      </p:grpSp>
      <p:sp>
        <p:nvSpPr>
          <p:cNvPr id="36881" name="Rectangle 3">
            <a:extLst>
              <a:ext uri="{FF2B5EF4-FFF2-40B4-BE49-F238E27FC236}">
                <a16:creationId xmlns:a16="http://schemas.microsoft.com/office/drawing/2014/main" id="{94F8C0C5-0B9E-4C64-A628-6B15D7DD54FC}"/>
              </a:ext>
            </a:extLst>
          </p:cNvPr>
          <p:cNvSpPr>
            <a:spLocks noChangeArrowheads="1"/>
          </p:cNvSpPr>
          <p:nvPr/>
        </p:nvSpPr>
        <p:spPr bwMode="auto">
          <a:xfrm>
            <a:off x="104775" y="4119563"/>
            <a:ext cx="5041900" cy="2536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7800" indent="-177800">
              <a:lnSpc>
                <a:spcPct val="120000"/>
              </a:lnSpc>
              <a:spcBef>
                <a:spcPct val="100000"/>
              </a:spcBef>
              <a:buClr>
                <a:schemeClr val="folHlink"/>
              </a:buClr>
              <a:buSzPct val="100000"/>
              <a:buFont typeface="Times" panose="02020603050405020304" pitchFamily="18" charset="0"/>
              <a:buChar char="•"/>
              <a:defRPr>
                <a:solidFill>
                  <a:schemeClr val="tx1"/>
                </a:solidFill>
                <a:latin typeface="Arial" panose="020B0604020202020204" pitchFamily="34" charset="0"/>
              </a:defRPr>
            </a:lvl1pPr>
            <a:lvl2pPr marL="742950" indent="-285750">
              <a:lnSpc>
                <a:spcPct val="120000"/>
              </a:lnSpc>
              <a:spcBef>
                <a:spcPct val="50000"/>
              </a:spcBef>
              <a:buClr>
                <a:schemeClr val="folHlink"/>
              </a:buClr>
              <a:buSzPct val="100000"/>
              <a:buFont typeface="Times" panose="02020603050405020304" pitchFamily="18" charset="0"/>
              <a:buChar char="•"/>
              <a:defRPr sz="1600">
                <a:solidFill>
                  <a:schemeClr val="tx1"/>
                </a:solidFill>
                <a:latin typeface="Arial" panose="020B0604020202020204" pitchFamily="34" charset="0"/>
              </a:defRPr>
            </a:lvl2pPr>
            <a:lvl3pPr marL="1143000" indent="-228600">
              <a:spcBef>
                <a:spcPct val="25000"/>
              </a:spcBef>
              <a:buClr>
                <a:schemeClr val="folHlink"/>
              </a:buClr>
              <a:buFont typeface="Times" panose="02020603050405020304" pitchFamily="18" charset="0"/>
              <a:buChar char="•"/>
              <a:defRPr sz="1400">
                <a:solidFill>
                  <a:schemeClr val="tx1"/>
                </a:solidFill>
                <a:latin typeface="Arial" panose="020B0604020202020204" pitchFamily="34" charset="0"/>
              </a:defRPr>
            </a:lvl3pPr>
            <a:lvl4pPr marL="1600200" indent="-228600">
              <a:spcBef>
                <a:spcPct val="25000"/>
              </a:spcBef>
              <a:buClr>
                <a:schemeClr val="folHlink"/>
              </a:buClr>
              <a:buFont typeface="Times" panose="02020603050405020304" pitchFamily="18" charset="0"/>
              <a:buChar char="•"/>
              <a:defRPr sz="1400">
                <a:solidFill>
                  <a:schemeClr val="tx1"/>
                </a:solidFill>
                <a:latin typeface="Arial" panose="020B0604020202020204" pitchFamily="34" charset="0"/>
              </a:defRPr>
            </a:lvl4pPr>
            <a:lvl5pPr marL="2057400" indent="-228600">
              <a:spcBef>
                <a:spcPct val="25000"/>
              </a:spcBef>
              <a:buClr>
                <a:schemeClr val="folHlink"/>
              </a:buClr>
              <a:buSzPct val="50000"/>
              <a:buFont typeface="Times" panose="02020603050405020304" pitchFamily="18" charset="0"/>
              <a:buChar char="•"/>
              <a:defRPr sz="1400">
                <a:solidFill>
                  <a:schemeClr val="tx1"/>
                </a:solidFill>
                <a:latin typeface="Arial" panose="020B0604020202020204" pitchFamily="34" charset="0"/>
              </a:defRPr>
            </a:lvl5pPr>
            <a:lvl6pPr marL="2514600" indent="-228600" eaLnBrk="0" fontAlgn="base" hangingPunct="0">
              <a:spcBef>
                <a:spcPct val="25000"/>
              </a:spcBef>
              <a:spcAft>
                <a:spcPct val="0"/>
              </a:spcAft>
              <a:buClr>
                <a:schemeClr val="folHlink"/>
              </a:buClr>
              <a:buSzPct val="50000"/>
              <a:buFont typeface="Times" panose="02020603050405020304" pitchFamily="18" charset="0"/>
              <a:buChar char="•"/>
              <a:defRPr sz="1400">
                <a:solidFill>
                  <a:schemeClr val="tx1"/>
                </a:solidFill>
                <a:latin typeface="Arial" panose="020B0604020202020204" pitchFamily="34" charset="0"/>
              </a:defRPr>
            </a:lvl6pPr>
            <a:lvl7pPr marL="2971800" indent="-228600" eaLnBrk="0" fontAlgn="base" hangingPunct="0">
              <a:spcBef>
                <a:spcPct val="25000"/>
              </a:spcBef>
              <a:spcAft>
                <a:spcPct val="0"/>
              </a:spcAft>
              <a:buClr>
                <a:schemeClr val="folHlink"/>
              </a:buClr>
              <a:buSzPct val="50000"/>
              <a:buFont typeface="Times" panose="02020603050405020304" pitchFamily="18" charset="0"/>
              <a:buChar char="•"/>
              <a:defRPr sz="1400">
                <a:solidFill>
                  <a:schemeClr val="tx1"/>
                </a:solidFill>
                <a:latin typeface="Arial" panose="020B0604020202020204" pitchFamily="34" charset="0"/>
              </a:defRPr>
            </a:lvl7pPr>
            <a:lvl8pPr marL="3429000" indent="-228600" eaLnBrk="0" fontAlgn="base" hangingPunct="0">
              <a:spcBef>
                <a:spcPct val="25000"/>
              </a:spcBef>
              <a:spcAft>
                <a:spcPct val="0"/>
              </a:spcAft>
              <a:buClr>
                <a:schemeClr val="folHlink"/>
              </a:buClr>
              <a:buSzPct val="50000"/>
              <a:buFont typeface="Times" panose="02020603050405020304" pitchFamily="18" charset="0"/>
              <a:buChar char="•"/>
              <a:defRPr sz="1400">
                <a:solidFill>
                  <a:schemeClr val="tx1"/>
                </a:solidFill>
                <a:latin typeface="Arial" panose="020B0604020202020204" pitchFamily="34" charset="0"/>
              </a:defRPr>
            </a:lvl8pPr>
            <a:lvl9pPr marL="3886200" indent="-228600" eaLnBrk="0" fontAlgn="base" hangingPunct="0">
              <a:spcBef>
                <a:spcPct val="25000"/>
              </a:spcBef>
              <a:spcAft>
                <a:spcPct val="0"/>
              </a:spcAft>
              <a:buClr>
                <a:schemeClr val="folHlink"/>
              </a:buClr>
              <a:buSzPct val="50000"/>
              <a:buFont typeface="Times" panose="02020603050405020304" pitchFamily="18" charset="0"/>
              <a:buChar char="•"/>
              <a:defRPr sz="1400">
                <a:solidFill>
                  <a:schemeClr val="tx1"/>
                </a:solidFill>
                <a:latin typeface="Arial" panose="020B0604020202020204" pitchFamily="34" charset="0"/>
              </a:defRPr>
            </a:lvl9pPr>
          </a:lstStyle>
          <a:p>
            <a:pPr>
              <a:spcBef>
                <a:spcPct val="50000"/>
              </a:spcBef>
            </a:pPr>
            <a:r>
              <a:rPr lang="en-GB" altLang="en-US" sz="1700" dirty="0">
                <a:effectLst/>
              </a:rPr>
              <a:t>A foliation (</a:t>
            </a:r>
            <a:r>
              <a:rPr lang="en-GB" altLang="en-US" sz="1700" dirty="0">
                <a:solidFill>
                  <a:srgbClr val="FF66CC"/>
                </a:solidFill>
                <a:effectLst/>
              </a:rPr>
              <a:t>pressure solution fabric</a:t>
            </a:r>
            <a:r>
              <a:rPr lang="en-GB" altLang="en-US" sz="1700" dirty="0">
                <a:effectLst/>
              </a:rPr>
              <a:t>) may form at </a:t>
            </a:r>
            <a:r>
              <a:rPr lang="en-GB" altLang="en-US" sz="1700" spc="300" dirty="0">
                <a:effectLst/>
              </a:rPr>
              <a:t>~</a:t>
            </a:r>
            <a:r>
              <a:rPr lang="en-GB" altLang="en-US" sz="1700" dirty="0">
                <a:effectLst/>
              </a:rPr>
              <a:t>90° to the tension gashes</a:t>
            </a:r>
          </a:p>
          <a:p>
            <a:pPr>
              <a:spcBef>
                <a:spcPct val="50000"/>
              </a:spcBef>
            </a:pPr>
            <a:r>
              <a:rPr lang="en-GB" altLang="en-US" sz="1700" dirty="0">
                <a:effectLst/>
              </a:rPr>
              <a:t>With continuing deformation, the veins widen and rotate becoming </a:t>
            </a:r>
            <a:r>
              <a:rPr lang="en-GB" altLang="en-US" sz="1700" dirty="0">
                <a:solidFill>
                  <a:srgbClr val="FF66CC"/>
                </a:solidFill>
                <a:effectLst/>
              </a:rPr>
              <a:t>sigmoidal</a:t>
            </a:r>
            <a:r>
              <a:rPr lang="en-GB" altLang="en-US" sz="1700" dirty="0">
                <a:effectLst/>
              </a:rPr>
              <a:t>, and a second generation of veins may develop that transects the initial set</a:t>
            </a:r>
          </a:p>
          <a:p>
            <a:pPr>
              <a:spcBef>
                <a:spcPct val="50000"/>
              </a:spcBef>
            </a:pPr>
            <a:r>
              <a:rPr lang="en-GB" altLang="en-US" sz="1700" dirty="0">
                <a:effectLst/>
              </a:rPr>
              <a:t>Tension gash arrays may form conjugate sets</a:t>
            </a:r>
          </a:p>
        </p:txBody>
      </p:sp>
      <p:grpSp>
        <p:nvGrpSpPr>
          <p:cNvPr id="36890" name="Group 37">
            <a:extLst>
              <a:ext uri="{FF2B5EF4-FFF2-40B4-BE49-F238E27FC236}">
                <a16:creationId xmlns:a16="http://schemas.microsoft.com/office/drawing/2014/main" id="{89D9B36E-004B-4C5D-826C-62939C7AC24B}"/>
              </a:ext>
            </a:extLst>
          </p:cNvPr>
          <p:cNvGrpSpPr>
            <a:grpSpLocks/>
          </p:cNvGrpSpPr>
          <p:nvPr/>
        </p:nvGrpSpPr>
        <p:grpSpPr bwMode="auto">
          <a:xfrm rot="-1489522">
            <a:off x="3632200" y="1239838"/>
            <a:ext cx="773113" cy="652462"/>
            <a:chOff x="1246" y="3601"/>
            <a:chExt cx="583" cy="492"/>
          </a:xfrm>
        </p:grpSpPr>
        <p:pic>
          <p:nvPicPr>
            <p:cNvPr id="36891" name="Picture 34">
              <a:extLst>
                <a:ext uri="{FF2B5EF4-FFF2-40B4-BE49-F238E27FC236}">
                  <a16:creationId xmlns:a16="http://schemas.microsoft.com/office/drawing/2014/main" id="{D7BE32C7-3366-4EAD-A4CF-8ADDA519A520}"/>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rot="-663107">
              <a:off x="1246" y="3605"/>
              <a:ext cx="583" cy="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07235" name="Freeform 35">
              <a:extLst>
                <a:ext uri="{FF2B5EF4-FFF2-40B4-BE49-F238E27FC236}">
                  <a16:creationId xmlns:a16="http://schemas.microsoft.com/office/drawing/2014/main" id="{C89AF453-26AF-4ED9-A4E6-A8D9019E0A66}"/>
                </a:ext>
              </a:extLst>
            </p:cNvPr>
            <p:cNvSpPr>
              <a:spLocks/>
            </p:cNvSpPr>
            <p:nvPr/>
          </p:nvSpPr>
          <p:spPr bwMode="auto">
            <a:xfrm rot="989581">
              <a:off x="1613" y="3600"/>
              <a:ext cx="159" cy="48"/>
            </a:xfrm>
            <a:custGeom>
              <a:avLst/>
              <a:gdLst>
                <a:gd name="T0" fmla="*/ 0 w 159"/>
                <a:gd name="T1" fmla="*/ 15 h 30"/>
                <a:gd name="T2" fmla="*/ 159 w 159"/>
                <a:gd name="T3" fmla="*/ 30 h 30"/>
                <a:gd name="T4" fmla="*/ 120 w 159"/>
                <a:gd name="T5" fmla="*/ 0 h 30"/>
              </a:gdLst>
              <a:ahLst/>
              <a:cxnLst>
                <a:cxn ang="0">
                  <a:pos x="T0" y="T1"/>
                </a:cxn>
                <a:cxn ang="0">
                  <a:pos x="T2" y="T3"/>
                </a:cxn>
                <a:cxn ang="0">
                  <a:pos x="T4" y="T5"/>
                </a:cxn>
              </a:cxnLst>
              <a:rect l="0" t="0" r="r" b="b"/>
              <a:pathLst>
                <a:path w="159" h="30">
                  <a:moveTo>
                    <a:pt x="0" y="15"/>
                  </a:moveTo>
                  <a:lnTo>
                    <a:pt x="159" y="30"/>
                  </a:lnTo>
                  <a:lnTo>
                    <a:pt x="120" y="0"/>
                  </a:lnTo>
                </a:path>
              </a:pathLst>
            </a:custGeom>
            <a:noFill/>
            <a:ln w="28575"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GB">
                <a:latin typeface="Helvetica" charset="0"/>
              </a:endParaRPr>
            </a:p>
          </p:txBody>
        </p:sp>
        <p:sp>
          <p:nvSpPr>
            <p:cNvPr id="307236" name="Freeform 36">
              <a:extLst>
                <a:ext uri="{FF2B5EF4-FFF2-40B4-BE49-F238E27FC236}">
                  <a16:creationId xmlns:a16="http://schemas.microsoft.com/office/drawing/2014/main" id="{F849C116-4FF3-45AB-B86A-0E255D790752}"/>
                </a:ext>
              </a:extLst>
            </p:cNvPr>
            <p:cNvSpPr>
              <a:spLocks/>
            </p:cNvSpPr>
            <p:nvPr/>
          </p:nvSpPr>
          <p:spPr bwMode="auto">
            <a:xfrm rot="11527399">
              <a:off x="1287" y="4044"/>
              <a:ext cx="159" cy="48"/>
            </a:xfrm>
            <a:custGeom>
              <a:avLst/>
              <a:gdLst>
                <a:gd name="T0" fmla="*/ 0 w 159"/>
                <a:gd name="T1" fmla="*/ 15 h 30"/>
                <a:gd name="T2" fmla="*/ 159 w 159"/>
                <a:gd name="T3" fmla="*/ 30 h 30"/>
                <a:gd name="T4" fmla="*/ 120 w 159"/>
                <a:gd name="T5" fmla="*/ 0 h 30"/>
              </a:gdLst>
              <a:ahLst/>
              <a:cxnLst>
                <a:cxn ang="0">
                  <a:pos x="T0" y="T1"/>
                </a:cxn>
                <a:cxn ang="0">
                  <a:pos x="T2" y="T3"/>
                </a:cxn>
                <a:cxn ang="0">
                  <a:pos x="T4" y="T5"/>
                </a:cxn>
              </a:cxnLst>
              <a:rect l="0" t="0" r="r" b="b"/>
              <a:pathLst>
                <a:path w="159" h="30">
                  <a:moveTo>
                    <a:pt x="0" y="15"/>
                  </a:moveTo>
                  <a:lnTo>
                    <a:pt x="159" y="30"/>
                  </a:lnTo>
                  <a:lnTo>
                    <a:pt x="120" y="0"/>
                  </a:lnTo>
                </a:path>
              </a:pathLst>
            </a:custGeom>
            <a:noFill/>
            <a:ln w="28575"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GB">
                <a:latin typeface="Helvetica" charset="0"/>
              </a:endParaRPr>
            </a:p>
          </p:txBody>
        </p:sp>
      </p:grpSp>
      <p:sp>
        <p:nvSpPr>
          <p:cNvPr id="36894" name="Line 30">
            <a:extLst>
              <a:ext uri="{FF2B5EF4-FFF2-40B4-BE49-F238E27FC236}">
                <a16:creationId xmlns:a16="http://schemas.microsoft.com/office/drawing/2014/main" id="{27F811B8-3F65-451E-A4A7-B354755C9095}"/>
              </a:ext>
            </a:extLst>
          </p:cNvPr>
          <p:cNvSpPr>
            <a:spLocks noChangeShapeType="1"/>
          </p:cNvSpPr>
          <p:nvPr/>
        </p:nvSpPr>
        <p:spPr bwMode="auto">
          <a:xfrm>
            <a:off x="3625850" y="981075"/>
            <a:ext cx="180975" cy="252413"/>
          </a:xfrm>
          <a:prstGeom prst="line">
            <a:avLst/>
          </a:prstGeom>
          <a:noFill/>
          <a:ln w="28575">
            <a:solidFill>
              <a:srgbClr val="FF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6895" name="Line 31">
            <a:extLst>
              <a:ext uri="{FF2B5EF4-FFF2-40B4-BE49-F238E27FC236}">
                <a16:creationId xmlns:a16="http://schemas.microsoft.com/office/drawing/2014/main" id="{28BF5F1D-A4B5-4025-8C18-63D8CA29E0EB}"/>
              </a:ext>
            </a:extLst>
          </p:cNvPr>
          <p:cNvSpPr>
            <a:spLocks noChangeShapeType="1"/>
          </p:cNvSpPr>
          <p:nvPr/>
        </p:nvSpPr>
        <p:spPr bwMode="auto">
          <a:xfrm rot="10800000">
            <a:off x="4227513" y="1892300"/>
            <a:ext cx="180975" cy="252413"/>
          </a:xfrm>
          <a:prstGeom prst="line">
            <a:avLst/>
          </a:prstGeom>
          <a:noFill/>
          <a:ln w="28575">
            <a:solidFill>
              <a:srgbClr val="FF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6896" name="Line 32">
            <a:extLst>
              <a:ext uri="{FF2B5EF4-FFF2-40B4-BE49-F238E27FC236}">
                <a16:creationId xmlns:a16="http://schemas.microsoft.com/office/drawing/2014/main" id="{5A51478F-BC0C-41F2-A00D-D4B6C066C64D}"/>
              </a:ext>
            </a:extLst>
          </p:cNvPr>
          <p:cNvSpPr>
            <a:spLocks noChangeShapeType="1"/>
          </p:cNvSpPr>
          <p:nvPr/>
        </p:nvSpPr>
        <p:spPr bwMode="auto">
          <a:xfrm rot="5400000">
            <a:off x="3407569" y="1807369"/>
            <a:ext cx="180975" cy="252413"/>
          </a:xfrm>
          <a:prstGeom prst="line">
            <a:avLst/>
          </a:prstGeom>
          <a:noFill/>
          <a:ln w="28575">
            <a:solidFill>
              <a:srgbClr val="FF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6897" name="Line 33">
            <a:extLst>
              <a:ext uri="{FF2B5EF4-FFF2-40B4-BE49-F238E27FC236}">
                <a16:creationId xmlns:a16="http://schemas.microsoft.com/office/drawing/2014/main" id="{A84AFAA3-CA80-4BA8-99F9-75ECD485C436}"/>
              </a:ext>
            </a:extLst>
          </p:cNvPr>
          <p:cNvSpPr>
            <a:spLocks noChangeShapeType="1"/>
          </p:cNvSpPr>
          <p:nvPr/>
        </p:nvSpPr>
        <p:spPr bwMode="auto">
          <a:xfrm rot="16200000">
            <a:off x="4437856" y="1056482"/>
            <a:ext cx="180975" cy="252412"/>
          </a:xfrm>
          <a:prstGeom prst="line">
            <a:avLst/>
          </a:prstGeom>
          <a:noFill/>
          <a:ln w="28575">
            <a:solidFill>
              <a:srgbClr val="FF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Tree>
  </p:cSld>
  <p:clrMapOvr>
    <a:masterClrMapping/>
  </p:clrMapOvr>
  <p:transition spd="slow"/>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904" name="Picture 16" descr="10c3-Marloes">
            <a:extLst>
              <a:ext uri="{FF2B5EF4-FFF2-40B4-BE49-F238E27FC236}">
                <a16:creationId xmlns:a16="http://schemas.microsoft.com/office/drawing/2014/main" id="{F1226566-732E-4784-9C76-58A5E0F5EF7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32338" y="3419475"/>
            <a:ext cx="3267075" cy="3248025"/>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37903" name="Picture 15" descr="10c2-NDevon">
            <a:extLst>
              <a:ext uri="{FF2B5EF4-FFF2-40B4-BE49-F238E27FC236}">
                <a16:creationId xmlns:a16="http://schemas.microsoft.com/office/drawing/2014/main" id="{8CA35BD0-1808-4BD1-BD2F-8921AB4367B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32338" y="912813"/>
            <a:ext cx="4233862" cy="2354262"/>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37890" name="Rectangle 2">
            <a:extLst>
              <a:ext uri="{FF2B5EF4-FFF2-40B4-BE49-F238E27FC236}">
                <a16:creationId xmlns:a16="http://schemas.microsoft.com/office/drawing/2014/main" id="{F759AA44-C4FB-4878-8554-249CE13B17E3}"/>
              </a:ext>
            </a:extLst>
          </p:cNvPr>
          <p:cNvSpPr>
            <a:spLocks noGrp="1" noChangeArrowheads="1"/>
          </p:cNvSpPr>
          <p:nvPr>
            <p:ph type="title"/>
          </p:nvPr>
        </p:nvSpPr>
        <p:spPr>
          <a:noFill/>
        </p:spPr>
        <p:txBody>
          <a:bodyPr/>
          <a:lstStyle/>
          <a:p>
            <a:r>
              <a:rPr lang="en-GB" altLang="en-US">
                <a:effectLst/>
              </a:rPr>
              <a:t>Tension gash arrays 2</a:t>
            </a:r>
          </a:p>
        </p:txBody>
      </p:sp>
      <p:sp>
        <p:nvSpPr>
          <p:cNvPr id="37891" name="Rectangle 3">
            <a:extLst>
              <a:ext uri="{FF2B5EF4-FFF2-40B4-BE49-F238E27FC236}">
                <a16:creationId xmlns:a16="http://schemas.microsoft.com/office/drawing/2014/main" id="{0CF1AC7E-2E92-4BDB-9841-52088B214F98}"/>
              </a:ext>
            </a:extLst>
          </p:cNvPr>
          <p:cNvSpPr>
            <a:spLocks noGrp="1" noChangeArrowheads="1"/>
          </p:cNvSpPr>
          <p:nvPr>
            <p:ph type="body" sz="half" idx="1"/>
          </p:nvPr>
        </p:nvSpPr>
        <p:spPr>
          <a:xfrm>
            <a:off x="160338" y="798513"/>
            <a:ext cx="1755775" cy="1630362"/>
          </a:xfrm>
          <a:noFill/>
        </p:spPr>
        <p:txBody>
          <a:bodyPr/>
          <a:lstStyle/>
          <a:p>
            <a:pPr marL="0" indent="0">
              <a:lnSpc>
                <a:spcPct val="115000"/>
              </a:lnSpc>
              <a:spcBef>
                <a:spcPct val="75000"/>
              </a:spcBef>
              <a:buFont typeface="Times" panose="02020603050405020304" pitchFamily="18" charset="0"/>
              <a:buNone/>
            </a:pPr>
            <a:r>
              <a:rPr lang="en-GB" altLang="en-US" sz="1400">
                <a:solidFill>
                  <a:srgbClr val="FFFF00"/>
                </a:solidFill>
                <a:effectLst/>
              </a:rPr>
              <a:t>Various stages in the development of a tension gash array – in each case there is a dextral shear sense</a:t>
            </a:r>
          </a:p>
        </p:txBody>
      </p:sp>
      <p:pic>
        <p:nvPicPr>
          <p:cNvPr id="37894" name="Picture 22" descr="13c5-Pike River Lake, MN">
            <a:extLst>
              <a:ext uri="{FF2B5EF4-FFF2-40B4-BE49-F238E27FC236}">
                <a16:creationId xmlns:a16="http://schemas.microsoft.com/office/drawing/2014/main" id="{26C96031-A351-4FD9-BDF2-0CD280E93B7A}"/>
              </a:ext>
            </a:extLst>
          </p:cNvPr>
          <p:cNvPicPr>
            <a:picLocks noGrp="1" noChangeAspect="1" noChangeArrowheads="1"/>
          </p:cNvPicPr>
          <p:nvPr>
            <p:ph sz="quarter" idx="2"/>
          </p:nvPr>
        </p:nvPicPr>
        <p:blipFill>
          <a:blip r:embed="rId5">
            <a:lum bright="-14000"/>
            <a:extLst>
              <a:ext uri="{28A0092B-C50C-407E-A947-70E740481C1C}">
                <a14:useLocalDpi xmlns:a14="http://schemas.microsoft.com/office/drawing/2010/main" val="0"/>
              </a:ext>
            </a:extLst>
          </a:blip>
          <a:srcRect/>
          <a:stretch>
            <a:fillRect/>
          </a:stretch>
        </p:blipFill>
        <p:spPr>
          <a:xfrm>
            <a:off x="2155825" y="917575"/>
            <a:ext cx="2370138" cy="5740400"/>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37945" name="Freeform 25">
            <a:extLst>
              <a:ext uri="{FF2B5EF4-FFF2-40B4-BE49-F238E27FC236}">
                <a16:creationId xmlns:a16="http://schemas.microsoft.com/office/drawing/2014/main" id="{AEC8C418-E91F-476A-9293-0A0DCFF3B2CF}"/>
              </a:ext>
            </a:extLst>
          </p:cNvPr>
          <p:cNvSpPr>
            <a:spLocks/>
          </p:cNvSpPr>
          <p:nvPr/>
        </p:nvSpPr>
        <p:spPr bwMode="auto">
          <a:xfrm>
            <a:off x="3992563" y="1435100"/>
            <a:ext cx="96837" cy="374650"/>
          </a:xfrm>
          <a:custGeom>
            <a:avLst/>
            <a:gdLst>
              <a:gd name="T0" fmla="*/ 0 w 61"/>
              <a:gd name="T1" fmla="*/ 0 h 236"/>
              <a:gd name="T2" fmla="*/ 12 w 61"/>
              <a:gd name="T3" fmla="*/ 236 h 236"/>
              <a:gd name="T4" fmla="*/ 61 w 61"/>
              <a:gd name="T5" fmla="*/ 149 h 236"/>
            </a:gdLst>
            <a:ahLst/>
            <a:cxnLst>
              <a:cxn ang="0">
                <a:pos x="T0" y="T1"/>
              </a:cxn>
              <a:cxn ang="0">
                <a:pos x="T2" y="T3"/>
              </a:cxn>
              <a:cxn ang="0">
                <a:pos x="T4" y="T5"/>
              </a:cxn>
            </a:cxnLst>
            <a:rect l="0" t="0" r="r" b="b"/>
            <a:pathLst>
              <a:path w="61" h="236">
                <a:moveTo>
                  <a:pt x="0" y="0"/>
                </a:moveTo>
                <a:lnTo>
                  <a:pt x="12" y="236"/>
                </a:lnTo>
                <a:lnTo>
                  <a:pt x="61" y="149"/>
                </a:lnTo>
              </a:path>
            </a:pathLst>
          </a:custGeom>
          <a:noFill/>
          <a:ln w="28575"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GB">
              <a:latin typeface="Helvetica" charset="0"/>
            </a:endParaRPr>
          </a:p>
        </p:txBody>
      </p:sp>
      <p:sp>
        <p:nvSpPr>
          <p:cNvPr id="337947" name="Freeform 27">
            <a:extLst>
              <a:ext uri="{FF2B5EF4-FFF2-40B4-BE49-F238E27FC236}">
                <a16:creationId xmlns:a16="http://schemas.microsoft.com/office/drawing/2014/main" id="{A0D3551D-98CC-43A4-A4C6-4F1746F7C762}"/>
              </a:ext>
            </a:extLst>
          </p:cNvPr>
          <p:cNvSpPr>
            <a:spLocks/>
          </p:cNvSpPr>
          <p:nvPr/>
        </p:nvSpPr>
        <p:spPr bwMode="auto">
          <a:xfrm rot="10800000">
            <a:off x="2695575" y="2389188"/>
            <a:ext cx="96838" cy="374650"/>
          </a:xfrm>
          <a:custGeom>
            <a:avLst/>
            <a:gdLst>
              <a:gd name="T0" fmla="*/ 0 w 61"/>
              <a:gd name="T1" fmla="*/ 0 h 236"/>
              <a:gd name="T2" fmla="*/ 12 w 61"/>
              <a:gd name="T3" fmla="*/ 236 h 236"/>
              <a:gd name="T4" fmla="*/ 61 w 61"/>
              <a:gd name="T5" fmla="*/ 149 h 236"/>
            </a:gdLst>
            <a:ahLst/>
            <a:cxnLst>
              <a:cxn ang="0">
                <a:pos x="T0" y="T1"/>
              </a:cxn>
              <a:cxn ang="0">
                <a:pos x="T2" y="T3"/>
              </a:cxn>
              <a:cxn ang="0">
                <a:pos x="T4" y="T5"/>
              </a:cxn>
            </a:cxnLst>
            <a:rect l="0" t="0" r="r" b="b"/>
            <a:pathLst>
              <a:path w="61" h="236">
                <a:moveTo>
                  <a:pt x="0" y="0"/>
                </a:moveTo>
                <a:lnTo>
                  <a:pt x="12" y="236"/>
                </a:lnTo>
                <a:lnTo>
                  <a:pt x="61" y="149"/>
                </a:lnTo>
              </a:path>
            </a:pathLst>
          </a:custGeom>
          <a:noFill/>
          <a:ln w="28575"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GB">
              <a:latin typeface="Helvetica" charset="0"/>
            </a:endParaRPr>
          </a:p>
        </p:txBody>
      </p:sp>
      <p:sp>
        <p:nvSpPr>
          <p:cNvPr id="337948" name="Freeform 28">
            <a:extLst>
              <a:ext uri="{FF2B5EF4-FFF2-40B4-BE49-F238E27FC236}">
                <a16:creationId xmlns:a16="http://schemas.microsoft.com/office/drawing/2014/main" id="{CC054781-A539-427B-9604-F9226C92460F}"/>
              </a:ext>
            </a:extLst>
          </p:cNvPr>
          <p:cNvSpPr>
            <a:spLocks/>
          </p:cNvSpPr>
          <p:nvPr/>
        </p:nvSpPr>
        <p:spPr bwMode="auto">
          <a:xfrm rot="17400000">
            <a:off x="6893719" y="1600994"/>
            <a:ext cx="96838" cy="374650"/>
          </a:xfrm>
          <a:custGeom>
            <a:avLst/>
            <a:gdLst>
              <a:gd name="T0" fmla="*/ 0 w 61"/>
              <a:gd name="T1" fmla="*/ 0 h 236"/>
              <a:gd name="T2" fmla="*/ 12 w 61"/>
              <a:gd name="T3" fmla="*/ 236 h 236"/>
              <a:gd name="T4" fmla="*/ 61 w 61"/>
              <a:gd name="T5" fmla="*/ 149 h 236"/>
            </a:gdLst>
            <a:ahLst/>
            <a:cxnLst>
              <a:cxn ang="0">
                <a:pos x="T0" y="T1"/>
              </a:cxn>
              <a:cxn ang="0">
                <a:pos x="T2" y="T3"/>
              </a:cxn>
              <a:cxn ang="0">
                <a:pos x="T4" y="T5"/>
              </a:cxn>
            </a:cxnLst>
            <a:rect l="0" t="0" r="r" b="b"/>
            <a:pathLst>
              <a:path w="61" h="236">
                <a:moveTo>
                  <a:pt x="0" y="0"/>
                </a:moveTo>
                <a:lnTo>
                  <a:pt x="12" y="236"/>
                </a:lnTo>
                <a:lnTo>
                  <a:pt x="61" y="149"/>
                </a:lnTo>
              </a:path>
            </a:pathLst>
          </a:custGeom>
          <a:noFill/>
          <a:ln w="28575"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GB">
              <a:latin typeface="Helvetica" charset="0"/>
            </a:endParaRPr>
          </a:p>
        </p:txBody>
      </p:sp>
      <p:sp>
        <p:nvSpPr>
          <p:cNvPr id="337949" name="Freeform 29">
            <a:extLst>
              <a:ext uri="{FF2B5EF4-FFF2-40B4-BE49-F238E27FC236}">
                <a16:creationId xmlns:a16="http://schemas.microsoft.com/office/drawing/2014/main" id="{4644D8ED-4D44-4067-A43A-993970649A8A}"/>
              </a:ext>
            </a:extLst>
          </p:cNvPr>
          <p:cNvSpPr>
            <a:spLocks/>
          </p:cNvSpPr>
          <p:nvPr/>
        </p:nvSpPr>
        <p:spPr bwMode="auto">
          <a:xfrm rot="6600000">
            <a:off x="6600031" y="2613819"/>
            <a:ext cx="96838" cy="374650"/>
          </a:xfrm>
          <a:custGeom>
            <a:avLst/>
            <a:gdLst>
              <a:gd name="T0" fmla="*/ 0 w 61"/>
              <a:gd name="T1" fmla="*/ 0 h 236"/>
              <a:gd name="T2" fmla="*/ 12 w 61"/>
              <a:gd name="T3" fmla="*/ 236 h 236"/>
              <a:gd name="T4" fmla="*/ 61 w 61"/>
              <a:gd name="T5" fmla="*/ 149 h 236"/>
            </a:gdLst>
            <a:ahLst/>
            <a:cxnLst>
              <a:cxn ang="0">
                <a:pos x="T0" y="T1"/>
              </a:cxn>
              <a:cxn ang="0">
                <a:pos x="T2" y="T3"/>
              </a:cxn>
              <a:cxn ang="0">
                <a:pos x="T4" y="T5"/>
              </a:cxn>
            </a:cxnLst>
            <a:rect l="0" t="0" r="r" b="b"/>
            <a:pathLst>
              <a:path w="61" h="236">
                <a:moveTo>
                  <a:pt x="0" y="0"/>
                </a:moveTo>
                <a:lnTo>
                  <a:pt x="12" y="236"/>
                </a:lnTo>
                <a:lnTo>
                  <a:pt x="61" y="149"/>
                </a:lnTo>
              </a:path>
            </a:pathLst>
          </a:custGeom>
          <a:noFill/>
          <a:ln w="28575"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GB">
              <a:latin typeface="Helvetica" charset="0"/>
            </a:endParaRPr>
          </a:p>
        </p:txBody>
      </p:sp>
      <p:sp>
        <p:nvSpPr>
          <p:cNvPr id="337950" name="Freeform 30">
            <a:extLst>
              <a:ext uri="{FF2B5EF4-FFF2-40B4-BE49-F238E27FC236}">
                <a16:creationId xmlns:a16="http://schemas.microsoft.com/office/drawing/2014/main" id="{4E9A695C-F069-4D78-82ED-50306D6E7E35}"/>
              </a:ext>
            </a:extLst>
          </p:cNvPr>
          <p:cNvSpPr>
            <a:spLocks/>
          </p:cNvSpPr>
          <p:nvPr/>
        </p:nvSpPr>
        <p:spPr bwMode="auto">
          <a:xfrm rot="19200000">
            <a:off x="6508750" y="3832225"/>
            <a:ext cx="96838" cy="374650"/>
          </a:xfrm>
          <a:custGeom>
            <a:avLst/>
            <a:gdLst>
              <a:gd name="T0" fmla="*/ 0 w 61"/>
              <a:gd name="T1" fmla="*/ 0 h 236"/>
              <a:gd name="T2" fmla="*/ 12 w 61"/>
              <a:gd name="T3" fmla="*/ 236 h 236"/>
              <a:gd name="T4" fmla="*/ 61 w 61"/>
              <a:gd name="T5" fmla="*/ 149 h 236"/>
            </a:gdLst>
            <a:ahLst/>
            <a:cxnLst>
              <a:cxn ang="0">
                <a:pos x="T0" y="T1"/>
              </a:cxn>
              <a:cxn ang="0">
                <a:pos x="T2" y="T3"/>
              </a:cxn>
              <a:cxn ang="0">
                <a:pos x="T4" y="T5"/>
              </a:cxn>
            </a:cxnLst>
            <a:rect l="0" t="0" r="r" b="b"/>
            <a:pathLst>
              <a:path w="61" h="236">
                <a:moveTo>
                  <a:pt x="0" y="0"/>
                </a:moveTo>
                <a:lnTo>
                  <a:pt x="12" y="236"/>
                </a:lnTo>
                <a:lnTo>
                  <a:pt x="61" y="149"/>
                </a:lnTo>
              </a:path>
            </a:pathLst>
          </a:custGeom>
          <a:noFill/>
          <a:ln w="28575"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GB">
              <a:latin typeface="Helvetica" charset="0"/>
            </a:endParaRPr>
          </a:p>
        </p:txBody>
      </p:sp>
      <p:sp>
        <p:nvSpPr>
          <p:cNvPr id="337951" name="Freeform 31">
            <a:extLst>
              <a:ext uri="{FF2B5EF4-FFF2-40B4-BE49-F238E27FC236}">
                <a16:creationId xmlns:a16="http://schemas.microsoft.com/office/drawing/2014/main" id="{FF589988-C7CF-49FC-85CE-5DF8B40D69AF}"/>
              </a:ext>
            </a:extLst>
          </p:cNvPr>
          <p:cNvSpPr>
            <a:spLocks/>
          </p:cNvSpPr>
          <p:nvPr/>
        </p:nvSpPr>
        <p:spPr bwMode="auto">
          <a:xfrm rot="8400000">
            <a:off x="5594350" y="5210175"/>
            <a:ext cx="96838" cy="374650"/>
          </a:xfrm>
          <a:custGeom>
            <a:avLst/>
            <a:gdLst>
              <a:gd name="T0" fmla="*/ 0 w 61"/>
              <a:gd name="T1" fmla="*/ 0 h 236"/>
              <a:gd name="T2" fmla="*/ 12 w 61"/>
              <a:gd name="T3" fmla="*/ 236 h 236"/>
              <a:gd name="T4" fmla="*/ 61 w 61"/>
              <a:gd name="T5" fmla="*/ 149 h 236"/>
            </a:gdLst>
            <a:ahLst/>
            <a:cxnLst>
              <a:cxn ang="0">
                <a:pos x="T0" y="T1"/>
              </a:cxn>
              <a:cxn ang="0">
                <a:pos x="T2" y="T3"/>
              </a:cxn>
              <a:cxn ang="0">
                <a:pos x="T4" y="T5"/>
              </a:cxn>
            </a:cxnLst>
            <a:rect l="0" t="0" r="r" b="b"/>
            <a:pathLst>
              <a:path w="61" h="236">
                <a:moveTo>
                  <a:pt x="0" y="0"/>
                </a:moveTo>
                <a:lnTo>
                  <a:pt x="12" y="236"/>
                </a:lnTo>
                <a:lnTo>
                  <a:pt x="61" y="149"/>
                </a:lnTo>
              </a:path>
            </a:pathLst>
          </a:custGeom>
          <a:noFill/>
          <a:ln w="28575"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GB">
              <a:latin typeface="Helvetica" charset="0"/>
            </a:endParaRPr>
          </a:p>
        </p:txBody>
      </p:sp>
    </p:spTree>
  </p:cSld>
  <p:clrMapOvr>
    <a:masterClrMapping/>
  </p:clrMapOvr>
  <p:transition spd="slow"/>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29" name="Picture 17" descr="10d2-MamTor">
            <a:extLst>
              <a:ext uri="{FF2B5EF4-FFF2-40B4-BE49-F238E27FC236}">
                <a16:creationId xmlns:a16="http://schemas.microsoft.com/office/drawing/2014/main" id="{C30A327F-96AB-43CB-8F04-982F5E14107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0825" y="2493963"/>
            <a:ext cx="4284663" cy="2116137"/>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38928" name="Picture 16" descr="10d1a">
            <a:extLst>
              <a:ext uri="{FF2B5EF4-FFF2-40B4-BE49-F238E27FC236}">
                <a16:creationId xmlns:a16="http://schemas.microsoft.com/office/drawing/2014/main" id="{68C3664E-FB31-4433-877D-614DDC790C8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0825" y="930275"/>
            <a:ext cx="4289425" cy="1411288"/>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38914" name="Rectangle 2">
            <a:extLst>
              <a:ext uri="{FF2B5EF4-FFF2-40B4-BE49-F238E27FC236}">
                <a16:creationId xmlns:a16="http://schemas.microsoft.com/office/drawing/2014/main" id="{40C2A5E9-696E-4072-9873-98CA370533BD}"/>
              </a:ext>
            </a:extLst>
          </p:cNvPr>
          <p:cNvSpPr>
            <a:spLocks noGrp="1" noChangeArrowheads="1"/>
          </p:cNvSpPr>
          <p:nvPr>
            <p:ph type="title"/>
          </p:nvPr>
        </p:nvSpPr>
        <p:spPr>
          <a:noFill/>
        </p:spPr>
        <p:txBody>
          <a:bodyPr/>
          <a:lstStyle/>
          <a:p>
            <a:r>
              <a:rPr lang="en-GB" altLang="en-US">
                <a:effectLst/>
              </a:rPr>
              <a:t>Tension gash arrays (transpression / transtension)</a:t>
            </a:r>
          </a:p>
        </p:txBody>
      </p:sp>
      <p:sp>
        <p:nvSpPr>
          <p:cNvPr id="38915" name="Rectangle 3">
            <a:extLst>
              <a:ext uri="{FF2B5EF4-FFF2-40B4-BE49-F238E27FC236}">
                <a16:creationId xmlns:a16="http://schemas.microsoft.com/office/drawing/2014/main" id="{809C3739-F2F9-429F-84FA-20EEFCA37301}"/>
              </a:ext>
            </a:extLst>
          </p:cNvPr>
          <p:cNvSpPr>
            <a:spLocks noGrp="1" noChangeArrowheads="1"/>
          </p:cNvSpPr>
          <p:nvPr>
            <p:ph type="body" sz="half" idx="1"/>
          </p:nvPr>
        </p:nvSpPr>
        <p:spPr>
          <a:xfrm>
            <a:off x="4738688" y="3230563"/>
            <a:ext cx="3990975" cy="1381125"/>
          </a:xfrm>
          <a:noFill/>
        </p:spPr>
        <p:txBody>
          <a:bodyPr/>
          <a:lstStyle/>
          <a:p>
            <a:pPr marL="0" indent="0">
              <a:lnSpc>
                <a:spcPct val="115000"/>
              </a:lnSpc>
              <a:spcBef>
                <a:spcPct val="75000"/>
              </a:spcBef>
              <a:buFont typeface="Times" panose="02020603050405020304" pitchFamily="18" charset="0"/>
              <a:buNone/>
            </a:pPr>
            <a:r>
              <a:rPr lang="en-GB" altLang="en-US" sz="1400">
                <a:solidFill>
                  <a:srgbClr val="FFFF00"/>
                </a:solidFill>
                <a:effectLst/>
              </a:rPr>
              <a:t>In these two examples from roads, note that the gashes initiate at &lt; 45° to the shear zone wall implying transtension, and that in each case there has been some clockwise rotation of the fracture in the middle of the shear zone</a:t>
            </a:r>
          </a:p>
        </p:txBody>
      </p:sp>
      <p:pic>
        <p:nvPicPr>
          <p:cNvPr id="38918" name="Picture 10" descr="13d1">
            <a:extLst>
              <a:ext uri="{FF2B5EF4-FFF2-40B4-BE49-F238E27FC236}">
                <a16:creationId xmlns:a16="http://schemas.microsoft.com/office/drawing/2014/main" id="{A0AA992F-EC84-4886-BA1B-E3072BD01F7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25513" y="4826000"/>
            <a:ext cx="3646487" cy="1876425"/>
          </a:xfrm>
          <a:prstGeom prst="rect">
            <a:avLst/>
          </a:prstGeom>
          <a:noFill/>
          <a:ln w="38100">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38919" name="Picture 11" descr="13d2">
            <a:extLst>
              <a:ext uri="{FF2B5EF4-FFF2-40B4-BE49-F238E27FC236}">
                <a16:creationId xmlns:a16="http://schemas.microsoft.com/office/drawing/2014/main" id="{4B3A800A-6C9B-4E2C-8695-68EDF5A16F22}"/>
              </a:ext>
            </a:extLst>
          </p:cNvPr>
          <p:cNvPicPr>
            <a:picLocks noGrp="1" noChangeAspect="1" noChangeArrowheads="1"/>
          </p:cNvPicPr>
          <p:nvPr>
            <p:ph sz="quarter" idx="3"/>
          </p:nvPr>
        </p:nvPicPr>
        <p:blipFill>
          <a:blip r:embed="rId6">
            <a:extLst>
              <a:ext uri="{28A0092B-C50C-407E-A947-70E740481C1C}">
                <a14:useLocalDpi xmlns:a14="http://schemas.microsoft.com/office/drawing/2010/main" val="0"/>
              </a:ext>
            </a:extLst>
          </a:blip>
          <a:srcRect/>
          <a:stretch>
            <a:fillRect/>
          </a:stretch>
        </p:blipFill>
        <p:spPr>
          <a:xfrm>
            <a:off x="4829175" y="4826000"/>
            <a:ext cx="3398838" cy="1860550"/>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8920" name="Text Box 12">
            <a:extLst>
              <a:ext uri="{FF2B5EF4-FFF2-40B4-BE49-F238E27FC236}">
                <a16:creationId xmlns:a16="http://schemas.microsoft.com/office/drawing/2014/main" id="{5EDBA5AF-6E17-4D99-A6EB-98B0976E7AED}"/>
              </a:ext>
            </a:extLst>
          </p:cNvPr>
          <p:cNvSpPr txBox="1">
            <a:spLocks noChangeArrowheads="1"/>
          </p:cNvSpPr>
          <p:nvPr/>
        </p:nvSpPr>
        <p:spPr bwMode="auto">
          <a:xfrm>
            <a:off x="1441450" y="4938713"/>
            <a:ext cx="5818188"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spcBef>
                <a:spcPct val="50000"/>
              </a:spcBef>
            </a:pPr>
            <a:r>
              <a:rPr lang="en-GB" altLang="en-US" sz="1400">
                <a:solidFill>
                  <a:srgbClr val="FF0000"/>
                </a:solidFill>
                <a:effectLst/>
                <a:latin typeface="Arial" panose="020B0604020202020204" pitchFamily="34" charset="0"/>
              </a:rPr>
              <a:t>Transpression                                                       Transtension</a:t>
            </a:r>
          </a:p>
        </p:txBody>
      </p:sp>
      <p:sp>
        <p:nvSpPr>
          <p:cNvPr id="38921" name="Text Box 13">
            <a:extLst>
              <a:ext uri="{FF2B5EF4-FFF2-40B4-BE49-F238E27FC236}">
                <a16:creationId xmlns:a16="http://schemas.microsoft.com/office/drawing/2014/main" id="{C67982A2-7FFE-4B50-8193-1BAF8EABC657}"/>
              </a:ext>
            </a:extLst>
          </p:cNvPr>
          <p:cNvSpPr txBox="1">
            <a:spLocks noChangeArrowheads="1"/>
          </p:cNvSpPr>
          <p:nvPr/>
        </p:nvSpPr>
        <p:spPr bwMode="auto">
          <a:xfrm>
            <a:off x="4751388" y="830263"/>
            <a:ext cx="4271962" cy="2054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9388" indent="-179388">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buClr>
                <a:schemeClr val="tx1"/>
              </a:buClr>
              <a:buFontTx/>
              <a:buChar char="•"/>
            </a:pPr>
            <a:r>
              <a:rPr lang="en-GB" altLang="en-US" sz="1700" dirty="0">
                <a:effectLst/>
                <a:latin typeface="Arial" panose="020B0604020202020204" pitchFamily="34" charset="0"/>
              </a:rPr>
              <a:t>If there is a component of </a:t>
            </a:r>
            <a:r>
              <a:rPr lang="en-GB" altLang="en-US" sz="1700" dirty="0">
                <a:solidFill>
                  <a:srgbClr val="FF66CC"/>
                </a:solidFill>
                <a:effectLst/>
                <a:latin typeface="Arial" panose="020B0604020202020204" pitchFamily="34" charset="0"/>
              </a:rPr>
              <a:t>layer-normal shortening </a:t>
            </a:r>
            <a:r>
              <a:rPr lang="en-GB" altLang="en-US" sz="1700" dirty="0">
                <a:effectLst/>
                <a:latin typeface="Arial" panose="020B0604020202020204" pitchFamily="34" charset="0"/>
              </a:rPr>
              <a:t>(</a:t>
            </a:r>
            <a:r>
              <a:rPr lang="en-GB" altLang="en-US" sz="1700" dirty="0" err="1">
                <a:solidFill>
                  <a:srgbClr val="FF6600"/>
                </a:solidFill>
                <a:effectLst/>
                <a:latin typeface="Arial" panose="020B0604020202020204" pitchFamily="34" charset="0"/>
              </a:rPr>
              <a:t>transpression</a:t>
            </a:r>
            <a:r>
              <a:rPr lang="en-GB" altLang="en-US" sz="1700" dirty="0">
                <a:effectLst/>
                <a:latin typeface="Arial" panose="020B0604020202020204" pitchFamily="34" charset="0"/>
              </a:rPr>
              <a:t>), the veins initiate at &gt; 45° to the shear zone walls</a:t>
            </a:r>
          </a:p>
          <a:p>
            <a:pPr>
              <a:lnSpc>
                <a:spcPct val="120000"/>
              </a:lnSpc>
              <a:spcBef>
                <a:spcPct val="50000"/>
              </a:spcBef>
              <a:buClr>
                <a:schemeClr val="tx1"/>
              </a:buClr>
              <a:buFontTx/>
              <a:buChar char="•"/>
            </a:pPr>
            <a:r>
              <a:rPr lang="en-GB" altLang="en-US" sz="1700" dirty="0">
                <a:effectLst/>
                <a:latin typeface="Arial" panose="020B0604020202020204" pitchFamily="34" charset="0"/>
              </a:rPr>
              <a:t>If there </a:t>
            </a:r>
            <a:r>
              <a:rPr lang="en-GB" altLang="en-US" dirty="0">
                <a:effectLst/>
              </a:rPr>
              <a:t>is a component of </a:t>
            </a:r>
            <a:r>
              <a:rPr lang="en-GB" altLang="en-US" dirty="0">
                <a:solidFill>
                  <a:srgbClr val="FF66CC"/>
                </a:solidFill>
                <a:effectLst/>
              </a:rPr>
              <a:t>layer-normal extension </a:t>
            </a:r>
            <a:r>
              <a:rPr lang="en-GB" altLang="en-US" dirty="0">
                <a:effectLst/>
              </a:rPr>
              <a:t>(</a:t>
            </a:r>
            <a:r>
              <a:rPr lang="en-GB" altLang="en-US" dirty="0" err="1">
                <a:solidFill>
                  <a:srgbClr val="FF6600"/>
                </a:solidFill>
                <a:effectLst/>
              </a:rPr>
              <a:t>transtension</a:t>
            </a:r>
            <a:r>
              <a:rPr lang="en-GB" altLang="en-US" dirty="0">
                <a:effectLst/>
              </a:rPr>
              <a:t>), the veins initiate at &lt; 45° to the shear zone walls</a:t>
            </a:r>
          </a:p>
        </p:txBody>
      </p:sp>
      <p:sp>
        <p:nvSpPr>
          <p:cNvPr id="348174" name="Freeform 14">
            <a:extLst>
              <a:ext uri="{FF2B5EF4-FFF2-40B4-BE49-F238E27FC236}">
                <a16:creationId xmlns:a16="http://schemas.microsoft.com/office/drawing/2014/main" id="{4EAFF319-0A8F-43A9-BB83-672CF70DA2BD}"/>
              </a:ext>
            </a:extLst>
          </p:cNvPr>
          <p:cNvSpPr>
            <a:spLocks/>
          </p:cNvSpPr>
          <p:nvPr/>
        </p:nvSpPr>
        <p:spPr bwMode="auto">
          <a:xfrm>
            <a:off x="609600" y="1357313"/>
            <a:ext cx="255588" cy="68262"/>
          </a:xfrm>
          <a:custGeom>
            <a:avLst/>
            <a:gdLst>
              <a:gd name="T0" fmla="*/ 0 w 161"/>
              <a:gd name="T1" fmla="*/ 24 h 43"/>
              <a:gd name="T2" fmla="*/ 161 w 161"/>
              <a:gd name="T3" fmla="*/ 43 h 43"/>
              <a:gd name="T4" fmla="*/ 118 w 161"/>
              <a:gd name="T5" fmla="*/ 0 h 43"/>
            </a:gdLst>
            <a:ahLst/>
            <a:cxnLst>
              <a:cxn ang="0">
                <a:pos x="T0" y="T1"/>
              </a:cxn>
              <a:cxn ang="0">
                <a:pos x="T2" y="T3"/>
              </a:cxn>
              <a:cxn ang="0">
                <a:pos x="T4" y="T5"/>
              </a:cxn>
            </a:cxnLst>
            <a:rect l="0" t="0" r="r" b="b"/>
            <a:pathLst>
              <a:path w="161" h="43">
                <a:moveTo>
                  <a:pt x="0" y="24"/>
                </a:moveTo>
                <a:lnTo>
                  <a:pt x="161" y="43"/>
                </a:lnTo>
                <a:lnTo>
                  <a:pt x="118" y="0"/>
                </a:lnTo>
              </a:path>
            </a:pathLst>
          </a:custGeom>
          <a:noFill/>
          <a:ln w="28575"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GB">
              <a:latin typeface="Helvetica" charset="0"/>
            </a:endParaRPr>
          </a:p>
        </p:txBody>
      </p:sp>
      <p:sp>
        <p:nvSpPr>
          <p:cNvPr id="348175" name="Freeform 15">
            <a:extLst>
              <a:ext uri="{FF2B5EF4-FFF2-40B4-BE49-F238E27FC236}">
                <a16:creationId xmlns:a16="http://schemas.microsoft.com/office/drawing/2014/main" id="{C03BB46B-0E3A-4808-9945-A679133297A6}"/>
              </a:ext>
            </a:extLst>
          </p:cNvPr>
          <p:cNvSpPr>
            <a:spLocks/>
          </p:cNvSpPr>
          <p:nvPr/>
        </p:nvSpPr>
        <p:spPr bwMode="auto">
          <a:xfrm rot="600000">
            <a:off x="825500" y="2890838"/>
            <a:ext cx="255588" cy="68262"/>
          </a:xfrm>
          <a:custGeom>
            <a:avLst/>
            <a:gdLst>
              <a:gd name="T0" fmla="*/ 0 w 161"/>
              <a:gd name="T1" fmla="*/ 24 h 43"/>
              <a:gd name="T2" fmla="*/ 161 w 161"/>
              <a:gd name="T3" fmla="*/ 43 h 43"/>
              <a:gd name="T4" fmla="*/ 118 w 161"/>
              <a:gd name="T5" fmla="*/ 0 h 43"/>
            </a:gdLst>
            <a:ahLst/>
            <a:cxnLst>
              <a:cxn ang="0">
                <a:pos x="T0" y="T1"/>
              </a:cxn>
              <a:cxn ang="0">
                <a:pos x="T2" y="T3"/>
              </a:cxn>
              <a:cxn ang="0">
                <a:pos x="T4" y="T5"/>
              </a:cxn>
            </a:cxnLst>
            <a:rect l="0" t="0" r="r" b="b"/>
            <a:pathLst>
              <a:path w="161" h="43">
                <a:moveTo>
                  <a:pt x="0" y="24"/>
                </a:moveTo>
                <a:lnTo>
                  <a:pt x="161" y="43"/>
                </a:lnTo>
                <a:lnTo>
                  <a:pt x="118" y="0"/>
                </a:lnTo>
              </a:path>
            </a:pathLst>
          </a:custGeom>
          <a:noFill/>
          <a:ln w="28575"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GB">
              <a:latin typeface="Helvetica" charset="0"/>
            </a:endParaRPr>
          </a:p>
        </p:txBody>
      </p:sp>
      <p:sp>
        <p:nvSpPr>
          <p:cNvPr id="348176" name="Line 16">
            <a:extLst>
              <a:ext uri="{FF2B5EF4-FFF2-40B4-BE49-F238E27FC236}">
                <a16:creationId xmlns:a16="http://schemas.microsoft.com/office/drawing/2014/main" id="{3B4C8618-4516-4B94-838E-85F7EBC9ECE4}"/>
              </a:ext>
            </a:extLst>
          </p:cNvPr>
          <p:cNvSpPr>
            <a:spLocks noChangeShapeType="1"/>
          </p:cNvSpPr>
          <p:nvPr/>
        </p:nvSpPr>
        <p:spPr bwMode="auto">
          <a:xfrm flipV="1">
            <a:off x="4030663" y="1160463"/>
            <a:ext cx="60325" cy="314325"/>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GB">
              <a:latin typeface="Helvetica" charset="0"/>
            </a:endParaRPr>
          </a:p>
        </p:txBody>
      </p:sp>
      <p:sp>
        <p:nvSpPr>
          <p:cNvPr id="348177" name="Line 17">
            <a:extLst>
              <a:ext uri="{FF2B5EF4-FFF2-40B4-BE49-F238E27FC236}">
                <a16:creationId xmlns:a16="http://schemas.microsoft.com/office/drawing/2014/main" id="{D6F9B393-8200-4039-8A5F-D57B83DFD40C}"/>
              </a:ext>
            </a:extLst>
          </p:cNvPr>
          <p:cNvSpPr>
            <a:spLocks noChangeShapeType="1"/>
          </p:cNvSpPr>
          <p:nvPr/>
        </p:nvSpPr>
        <p:spPr bwMode="auto">
          <a:xfrm flipV="1">
            <a:off x="3598863" y="2841625"/>
            <a:ext cx="166687" cy="255588"/>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GB">
              <a:latin typeface="Helvetica" charset="0"/>
            </a:endParaRPr>
          </a:p>
        </p:txBody>
      </p:sp>
    </p:spTree>
  </p:cSld>
  <p:clrMapOvr>
    <a:masterClrMapping/>
  </p:clrMapOvr>
  <p:transition spd="slow"/>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74DAC719-E720-4D82-AC37-4CE56BBB43BA}"/>
              </a:ext>
            </a:extLst>
          </p:cNvPr>
          <p:cNvSpPr>
            <a:spLocks noGrp="1" noChangeArrowheads="1"/>
          </p:cNvSpPr>
          <p:nvPr>
            <p:ph type="title"/>
          </p:nvPr>
        </p:nvSpPr>
        <p:spPr>
          <a:noFill/>
        </p:spPr>
        <p:txBody>
          <a:bodyPr/>
          <a:lstStyle/>
          <a:p>
            <a:r>
              <a:rPr lang="en-GB" altLang="en-US">
                <a:effectLst/>
              </a:rPr>
              <a:t>The vein infill</a:t>
            </a:r>
          </a:p>
        </p:txBody>
      </p:sp>
      <p:sp>
        <p:nvSpPr>
          <p:cNvPr id="39939" name="Rectangle 3">
            <a:extLst>
              <a:ext uri="{FF2B5EF4-FFF2-40B4-BE49-F238E27FC236}">
                <a16:creationId xmlns:a16="http://schemas.microsoft.com/office/drawing/2014/main" id="{E50A8BD2-71D8-4E8F-BF7C-835113C61547}"/>
              </a:ext>
            </a:extLst>
          </p:cNvPr>
          <p:cNvSpPr>
            <a:spLocks noGrp="1" noChangeArrowheads="1"/>
          </p:cNvSpPr>
          <p:nvPr>
            <p:ph type="body" sz="half" idx="1"/>
          </p:nvPr>
        </p:nvSpPr>
        <p:spPr>
          <a:xfrm>
            <a:off x="117475" y="779463"/>
            <a:ext cx="4762500" cy="3163887"/>
          </a:xfrm>
          <a:noFill/>
        </p:spPr>
        <p:txBody>
          <a:bodyPr/>
          <a:lstStyle/>
          <a:p>
            <a:pPr marL="177800" indent="-177800">
              <a:spcBef>
                <a:spcPct val="75000"/>
              </a:spcBef>
            </a:pPr>
            <a:r>
              <a:rPr lang="en-GB" altLang="en-US" sz="1700">
                <a:effectLst/>
              </a:rPr>
              <a:t>Fracturing in the presence of a </a:t>
            </a:r>
            <a:r>
              <a:rPr lang="en-GB" altLang="en-US" sz="1700">
                <a:solidFill>
                  <a:srgbClr val="FF66CC"/>
                </a:solidFill>
                <a:effectLst/>
              </a:rPr>
              <a:t>solute-rich fluid</a:t>
            </a:r>
            <a:r>
              <a:rPr lang="en-GB" altLang="en-US" sz="1700">
                <a:effectLst/>
              </a:rPr>
              <a:t> frequently leads to precipitation and the formation of a </a:t>
            </a:r>
            <a:r>
              <a:rPr lang="en-GB" altLang="en-US" sz="1700">
                <a:solidFill>
                  <a:srgbClr val="FF6600"/>
                </a:solidFill>
                <a:effectLst/>
              </a:rPr>
              <a:t>vein</a:t>
            </a:r>
          </a:p>
          <a:p>
            <a:pPr marL="177800" indent="-177800">
              <a:spcBef>
                <a:spcPct val="75000"/>
              </a:spcBef>
            </a:pPr>
            <a:r>
              <a:rPr lang="en-GB" altLang="en-US" sz="1700">
                <a:effectLst/>
              </a:rPr>
              <a:t>The crystals in such veins commonly have a </a:t>
            </a:r>
            <a:r>
              <a:rPr lang="en-GB" altLang="en-US" sz="1700">
                <a:solidFill>
                  <a:srgbClr val="FF6600"/>
                </a:solidFill>
                <a:effectLst/>
              </a:rPr>
              <a:t>fibrous morphology</a:t>
            </a:r>
            <a:r>
              <a:rPr lang="en-GB" altLang="en-US" sz="1700">
                <a:effectLst/>
              </a:rPr>
              <a:t> in which the fibres grow parallel to </a:t>
            </a:r>
            <a:r>
              <a:rPr lang="en-GB" altLang="en-US" sz="1700">
                <a:solidFill>
                  <a:srgbClr val="FF66CC"/>
                </a:solidFill>
                <a:effectLst/>
              </a:rPr>
              <a:t>maximum extension direction</a:t>
            </a:r>
            <a:r>
              <a:rPr lang="en-GB" altLang="en-US" sz="1700">
                <a:effectLst/>
              </a:rPr>
              <a:t> of the incremental strain ellipsoid, and become curved as the deforming rock progressively rotates with respect to that strain ellipsoid</a:t>
            </a:r>
          </a:p>
        </p:txBody>
      </p:sp>
      <p:pic>
        <p:nvPicPr>
          <p:cNvPr id="39940" name="Picture 35" descr="13d4">
            <a:extLst>
              <a:ext uri="{FF2B5EF4-FFF2-40B4-BE49-F238E27FC236}">
                <a16:creationId xmlns:a16="http://schemas.microsoft.com/office/drawing/2014/main" id="{BC11D6FB-5498-4488-9732-7F4B06F359A7}"/>
              </a:ext>
            </a:extLst>
          </p:cNvPr>
          <p:cNvPicPr>
            <a:picLocks noGrp="1" noChangeAspect="1" noChangeArrowheads="1"/>
          </p:cNvPicPr>
          <p:nvPr>
            <p:ph sz="quarter" idx="3"/>
          </p:nvPr>
        </p:nvPicPr>
        <p:blipFill>
          <a:blip r:embed="rId3">
            <a:extLst>
              <a:ext uri="{28A0092B-C50C-407E-A947-70E740481C1C}">
                <a14:useLocalDpi xmlns:a14="http://schemas.microsoft.com/office/drawing/2010/main" val="0"/>
              </a:ext>
            </a:extLst>
          </a:blip>
          <a:srcRect/>
          <a:stretch>
            <a:fillRect/>
          </a:stretch>
        </p:blipFill>
        <p:spPr>
          <a:xfrm>
            <a:off x="5053013" y="917575"/>
            <a:ext cx="3892550" cy="2632075"/>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39941" name="Picture 38" descr="13d7-syntaxial">
            <a:extLst>
              <a:ext uri="{FF2B5EF4-FFF2-40B4-BE49-F238E27FC236}">
                <a16:creationId xmlns:a16="http://schemas.microsoft.com/office/drawing/2014/main" id="{937BDF8F-A10E-4CC5-AFB9-539E6CE1A017}"/>
              </a:ext>
            </a:extLst>
          </p:cNvPr>
          <p:cNvPicPr>
            <a:picLocks noGrp="1" noChangeAspect="1" noChangeArrowheads="1"/>
          </p:cNvPicPr>
          <p:nvPr>
            <p:ph sz="quarter" idx="2"/>
          </p:nvPr>
        </p:nvPicPr>
        <p:blipFill>
          <a:blip r:embed="rId4">
            <a:extLst>
              <a:ext uri="{28A0092B-C50C-407E-A947-70E740481C1C}">
                <a14:useLocalDpi xmlns:a14="http://schemas.microsoft.com/office/drawing/2010/main" val="0"/>
              </a:ext>
            </a:extLst>
          </a:blip>
          <a:srcRect/>
          <a:stretch>
            <a:fillRect/>
          </a:stretch>
        </p:blipFill>
        <p:spPr>
          <a:xfrm>
            <a:off x="2743200" y="4041775"/>
            <a:ext cx="1935163" cy="2112963"/>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39942" name="Picture 40" descr="13d8-antitaxial">
            <a:extLst>
              <a:ext uri="{FF2B5EF4-FFF2-40B4-BE49-F238E27FC236}">
                <a16:creationId xmlns:a16="http://schemas.microsoft.com/office/drawing/2014/main" id="{2AF90A33-4FAC-45FC-9D5E-D985DB66241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43463" y="4046538"/>
            <a:ext cx="1935162" cy="2112962"/>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39943" name="Picture 41" descr="13d9-stretch">
            <a:extLst>
              <a:ext uri="{FF2B5EF4-FFF2-40B4-BE49-F238E27FC236}">
                <a16:creationId xmlns:a16="http://schemas.microsoft.com/office/drawing/2014/main" id="{2D8C7D9A-0590-4031-B084-ABBCDEA4F28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929438" y="4037013"/>
            <a:ext cx="1935162" cy="2112962"/>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343082" name="Text Box 42">
            <a:extLst>
              <a:ext uri="{FF2B5EF4-FFF2-40B4-BE49-F238E27FC236}">
                <a16:creationId xmlns:a16="http://schemas.microsoft.com/office/drawing/2014/main" id="{E3A9D611-0882-48D8-8432-5A4DB39A3177}"/>
              </a:ext>
            </a:extLst>
          </p:cNvPr>
          <p:cNvSpPr txBox="1">
            <a:spLocks noChangeArrowheads="1"/>
          </p:cNvSpPr>
          <p:nvPr/>
        </p:nvSpPr>
        <p:spPr bwMode="auto">
          <a:xfrm>
            <a:off x="119063" y="3956050"/>
            <a:ext cx="2262187" cy="2270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176213" indent="-176213">
              <a:defRPr sz="1600">
                <a:solidFill>
                  <a:schemeClr val="tx1"/>
                </a:solidFill>
                <a:latin typeface="Helvetica" charset="0"/>
              </a:defRPr>
            </a:lvl1pPr>
            <a:lvl2pPr>
              <a:defRPr sz="1600">
                <a:solidFill>
                  <a:schemeClr val="tx1"/>
                </a:solidFill>
                <a:latin typeface="Helvetica" charset="0"/>
              </a:defRPr>
            </a:lvl2pPr>
            <a:lvl3pPr>
              <a:defRPr sz="1600">
                <a:solidFill>
                  <a:schemeClr val="tx1"/>
                </a:solidFill>
                <a:latin typeface="Helvetica" charset="0"/>
              </a:defRPr>
            </a:lvl3pPr>
            <a:lvl4pPr>
              <a:defRPr sz="1600">
                <a:solidFill>
                  <a:schemeClr val="tx1"/>
                </a:solidFill>
                <a:latin typeface="Helvetica" charset="0"/>
              </a:defRPr>
            </a:lvl4pPr>
            <a:lvl5pPr>
              <a:defRPr sz="1600">
                <a:solidFill>
                  <a:schemeClr val="tx1"/>
                </a:solidFill>
                <a:latin typeface="Helvetica" charset="0"/>
              </a:defRPr>
            </a:lvl5pPr>
            <a:lvl6pPr eaLnBrk="0" fontAlgn="base" hangingPunct="0">
              <a:spcBef>
                <a:spcPct val="20000"/>
              </a:spcBef>
              <a:spcAft>
                <a:spcPct val="0"/>
              </a:spcAft>
              <a:buClr>
                <a:schemeClr val="accent2"/>
              </a:buClr>
              <a:defRPr sz="1600">
                <a:solidFill>
                  <a:schemeClr val="tx1"/>
                </a:solidFill>
                <a:latin typeface="Helvetica" charset="0"/>
              </a:defRPr>
            </a:lvl6pPr>
            <a:lvl7pPr eaLnBrk="0" fontAlgn="base" hangingPunct="0">
              <a:spcBef>
                <a:spcPct val="20000"/>
              </a:spcBef>
              <a:spcAft>
                <a:spcPct val="0"/>
              </a:spcAft>
              <a:buClr>
                <a:schemeClr val="accent2"/>
              </a:buClr>
              <a:defRPr sz="1600">
                <a:solidFill>
                  <a:schemeClr val="tx1"/>
                </a:solidFill>
                <a:latin typeface="Helvetica" charset="0"/>
              </a:defRPr>
            </a:lvl7pPr>
            <a:lvl8pPr eaLnBrk="0" fontAlgn="base" hangingPunct="0">
              <a:spcBef>
                <a:spcPct val="20000"/>
              </a:spcBef>
              <a:spcAft>
                <a:spcPct val="0"/>
              </a:spcAft>
              <a:buClr>
                <a:schemeClr val="accent2"/>
              </a:buClr>
              <a:defRPr sz="1600">
                <a:solidFill>
                  <a:schemeClr val="tx1"/>
                </a:solidFill>
                <a:latin typeface="Helvetica" charset="0"/>
              </a:defRPr>
            </a:lvl8pPr>
            <a:lvl9pPr eaLnBrk="0" fontAlgn="base" hangingPunct="0">
              <a:spcBef>
                <a:spcPct val="20000"/>
              </a:spcBef>
              <a:spcAft>
                <a:spcPct val="0"/>
              </a:spcAft>
              <a:buClr>
                <a:schemeClr val="accent2"/>
              </a:buClr>
              <a:defRPr sz="1600">
                <a:solidFill>
                  <a:schemeClr val="tx1"/>
                </a:solidFill>
                <a:latin typeface="Helvetica" charset="0"/>
              </a:defRPr>
            </a:lvl9pPr>
          </a:lstStyle>
          <a:p>
            <a:pPr>
              <a:lnSpc>
                <a:spcPct val="120000"/>
              </a:lnSpc>
              <a:spcBef>
                <a:spcPct val="50000"/>
              </a:spcBef>
              <a:buClr>
                <a:schemeClr val="folHlink"/>
              </a:buClr>
              <a:buSzPct val="100000"/>
              <a:buFont typeface="Times"/>
              <a:buChar char="•"/>
              <a:defRPr/>
            </a:pPr>
            <a:r>
              <a:rPr lang="en-GB" sz="1700" dirty="0">
                <a:effectLst/>
                <a:latin typeface="Arial" charset="0"/>
              </a:rPr>
              <a:t>The </a:t>
            </a:r>
            <a:r>
              <a:rPr lang="en-GB" sz="1700" dirty="0">
                <a:solidFill>
                  <a:srgbClr val="FF66CC"/>
                </a:solidFill>
                <a:effectLst/>
                <a:latin typeface="Arial" charset="0"/>
              </a:rPr>
              <a:t>sense of curvature</a:t>
            </a:r>
            <a:r>
              <a:rPr lang="en-GB" sz="1700" dirty="0">
                <a:effectLst/>
                <a:latin typeface="Arial" charset="0"/>
              </a:rPr>
              <a:t> depends upon the direction of crystal growth and hence upon the way in which the fracture opens</a:t>
            </a:r>
            <a:endParaRPr lang="en-GB" sz="1700" dirty="0">
              <a:effectLst>
                <a:outerShdw blurRad="38100" dist="38100" dir="2700000" algn="tl">
                  <a:srgbClr val="000000"/>
                </a:outerShdw>
              </a:effectLst>
              <a:latin typeface="Arial" charset="0"/>
            </a:endParaRPr>
          </a:p>
        </p:txBody>
      </p:sp>
      <p:sp>
        <p:nvSpPr>
          <p:cNvPr id="343083" name="Line 43">
            <a:extLst>
              <a:ext uri="{FF2B5EF4-FFF2-40B4-BE49-F238E27FC236}">
                <a16:creationId xmlns:a16="http://schemas.microsoft.com/office/drawing/2014/main" id="{73F68D03-9959-4932-9411-F46E13A219A1}"/>
              </a:ext>
            </a:extLst>
          </p:cNvPr>
          <p:cNvSpPr>
            <a:spLocks noChangeShapeType="1"/>
          </p:cNvSpPr>
          <p:nvPr/>
        </p:nvSpPr>
        <p:spPr bwMode="auto">
          <a:xfrm flipH="1">
            <a:off x="3787775" y="6296025"/>
            <a:ext cx="384175" cy="0"/>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GB">
              <a:latin typeface="Helvetica" charset="0"/>
            </a:endParaRPr>
          </a:p>
        </p:txBody>
      </p:sp>
      <p:sp>
        <p:nvSpPr>
          <p:cNvPr id="343084" name="Line 44">
            <a:extLst>
              <a:ext uri="{FF2B5EF4-FFF2-40B4-BE49-F238E27FC236}">
                <a16:creationId xmlns:a16="http://schemas.microsoft.com/office/drawing/2014/main" id="{4043C9C7-3459-45DF-AECF-6504F101DC7E}"/>
              </a:ext>
            </a:extLst>
          </p:cNvPr>
          <p:cNvSpPr>
            <a:spLocks noChangeShapeType="1"/>
          </p:cNvSpPr>
          <p:nvPr/>
        </p:nvSpPr>
        <p:spPr bwMode="auto">
          <a:xfrm rot="10800000" flipH="1">
            <a:off x="3295650" y="6292850"/>
            <a:ext cx="384175" cy="0"/>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GB">
              <a:latin typeface="Helvetica" charset="0"/>
            </a:endParaRPr>
          </a:p>
        </p:txBody>
      </p:sp>
      <p:sp>
        <p:nvSpPr>
          <p:cNvPr id="343085" name="Line 45">
            <a:extLst>
              <a:ext uri="{FF2B5EF4-FFF2-40B4-BE49-F238E27FC236}">
                <a16:creationId xmlns:a16="http://schemas.microsoft.com/office/drawing/2014/main" id="{4B5315AA-84DC-43A6-9CA5-506537C49A14}"/>
              </a:ext>
            </a:extLst>
          </p:cNvPr>
          <p:cNvSpPr>
            <a:spLocks noChangeShapeType="1"/>
          </p:cNvSpPr>
          <p:nvPr/>
        </p:nvSpPr>
        <p:spPr bwMode="auto">
          <a:xfrm rot="10800000" flipH="1">
            <a:off x="5791200" y="6292850"/>
            <a:ext cx="384175" cy="0"/>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GB">
              <a:latin typeface="Helvetica" charset="0"/>
            </a:endParaRPr>
          </a:p>
        </p:txBody>
      </p:sp>
      <p:sp>
        <p:nvSpPr>
          <p:cNvPr id="343086" name="Line 46">
            <a:extLst>
              <a:ext uri="{FF2B5EF4-FFF2-40B4-BE49-F238E27FC236}">
                <a16:creationId xmlns:a16="http://schemas.microsoft.com/office/drawing/2014/main" id="{9A713F7F-EF5A-40F3-AC29-FB6F5640E281}"/>
              </a:ext>
            </a:extLst>
          </p:cNvPr>
          <p:cNvSpPr>
            <a:spLocks noChangeShapeType="1"/>
          </p:cNvSpPr>
          <p:nvPr/>
        </p:nvSpPr>
        <p:spPr bwMode="auto">
          <a:xfrm flipH="1">
            <a:off x="5375275" y="6292850"/>
            <a:ext cx="384175" cy="0"/>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GB">
              <a:latin typeface="Helvetica" charset="0"/>
            </a:endParaRPr>
          </a:p>
        </p:txBody>
      </p:sp>
      <p:sp>
        <p:nvSpPr>
          <p:cNvPr id="343087" name="Line 47">
            <a:extLst>
              <a:ext uri="{FF2B5EF4-FFF2-40B4-BE49-F238E27FC236}">
                <a16:creationId xmlns:a16="http://schemas.microsoft.com/office/drawing/2014/main" id="{A63CA121-5262-4BFB-8F7B-E607BE84D370}"/>
              </a:ext>
            </a:extLst>
          </p:cNvPr>
          <p:cNvSpPr>
            <a:spLocks noChangeShapeType="1"/>
          </p:cNvSpPr>
          <p:nvPr/>
        </p:nvSpPr>
        <p:spPr bwMode="auto">
          <a:xfrm>
            <a:off x="7499350" y="4749800"/>
            <a:ext cx="762000" cy="320675"/>
          </a:xfrm>
          <a:prstGeom prst="line">
            <a:avLst/>
          </a:prstGeom>
          <a:noFill/>
          <a:ln w="28575">
            <a:solidFill>
              <a:srgbClr val="FF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GB">
              <a:latin typeface="Helvetica" charset="0"/>
            </a:endParaRPr>
          </a:p>
        </p:txBody>
      </p:sp>
      <p:sp>
        <p:nvSpPr>
          <p:cNvPr id="343089" name="Text Box 49">
            <a:extLst>
              <a:ext uri="{FF2B5EF4-FFF2-40B4-BE49-F238E27FC236}">
                <a16:creationId xmlns:a16="http://schemas.microsoft.com/office/drawing/2014/main" id="{6091A72D-EC70-410C-A2E4-5B529B61267D}"/>
              </a:ext>
            </a:extLst>
          </p:cNvPr>
          <p:cNvSpPr txBox="1">
            <a:spLocks noChangeArrowheads="1"/>
          </p:cNvSpPr>
          <p:nvPr/>
        </p:nvSpPr>
        <p:spPr bwMode="auto">
          <a:xfrm>
            <a:off x="3278188" y="6383338"/>
            <a:ext cx="9144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defRPr/>
            </a:pPr>
            <a:r>
              <a:rPr lang="en-GB" sz="1400">
                <a:solidFill>
                  <a:srgbClr val="FFFF00"/>
                </a:solidFill>
                <a:effectLst>
                  <a:outerShdw blurRad="38100" dist="38100" dir="2700000" algn="tl">
                    <a:srgbClr val="000000"/>
                  </a:outerShdw>
                </a:effectLst>
                <a:latin typeface="Arial" charset="0"/>
              </a:rPr>
              <a:t>syntaxial</a:t>
            </a:r>
          </a:p>
        </p:txBody>
      </p:sp>
      <p:sp>
        <p:nvSpPr>
          <p:cNvPr id="343090" name="Text Box 50">
            <a:extLst>
              <a:ext uri="{FF2B5EF4-FFF2-40B4-BE49-F238E27FC236}">
                <a16:creationId xmlns:a16="http://schemas.microsoft.com/office/drawing/2014/main" id="{7FE9472A-D814-4928-9B70-1DE29471114D}"/>
              </a:ext>
            </a:extLst>
          </p:cNvPr>
          <p:cNvSpPr txBox="1">
            <a:spLocks noChangeArrowheads="1"/>
          </p:cNvSpPr>
          <p:nvPr/>
        </p:nvSpPr>
        <p:spPr bwMode="auto">
          <a:xfrm>
            <a:off x="5353050" y="6383338"/>
            <a:ext cx="9144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defRPr/>
            </a:pPr>
            <a:r>
              <a:rPr lang="en-GB" sz="1400">
                <a:solidFill>
                  <a:srgbClr val="FFFF00"/>
                </a:solidFill>
                <a:effectLst>
                  <a:outerShdw blurRad="38100" dist="38100" dir="2700000" algn="tl">
                    <a:srgbClr val="000000"/>
                  </a:outerShdw>
                </a:effectLst>
                <a:latin typeface="Arial" charset="0"/>
              </a:rPr>
              <a:t>antitaxial</a:t>
            </a:r>
          </a:p>
        </p:txBody>
      </p:sp>
      <p:sp>
        <p:nvSpPr>
          <p:cNvPr id="343091" name="Text Box 51">
            <a:extLst>
              <a:ext uri="{FF2B5EF4-FFF2-40B4-BE49-F238E27FC236}">
                <a16:creationId xmlns:a16="http://schemas.microsoft.com/office/drawing/2014/main" id="{BF74EC33-269E-4788-B198-691A694E4869}"/>
              </a:ext>
            </a:extLst>
          </p:cNvPr>
          <p:cNvSpPr txBox="1">
            <a:spLocks noChangeArrowheads="1"/>
          </p:cNvSpPr>
          <p:nvPr/>
        </p:nvSpPr>
        <p:spPr bwMode="auto">
          <a:xfrm>
            <a:off x="7097713" y="6383338"/>
            <a:ext cx="17589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defRPr/>
            </a:pPr>
            <a:r>
              <a:rPr lang="en-GB" sz="1400">
                <a:solidFill>
                  <a:srgbClr val="FFFF00"/>
                </a:solidFill>
                <a:effectLst>
                  <a:outerShdw blurRad="38100" dist="38100" dir="2700000" algn="tl">
                    <a:srgbClr val="000000"/>
                  </a:outerShdw>
                </a:effectLst>
                <a:latin typeface="Arial" charset="0"/>
              </a:rPr>
              <a:t>stretching / ataxial</a:t>
            </a:r>
          </a:p>
        </p:txBody>
      </p:sp>
      <p:sp>
        <p:nvSpPr>
          <p:cNvPr id="17" name="Freeform 14">
            <a:extLst>
              <a:ext uri="{FF2B5EF4-FFF2-40B4-BE49-F238E27FC236}">
                <a16:creationId xmlns:a16="http://schemas.microsoft.com/office/drawing/2014/main" id="{4EAFF319-0A8F-43A9-BB83-672CF70DA2BD}"/>
              </a:ext>
            </a:extLst>
          </p:cNvPr>
          <p:cNvSpPr>
            <a:spLocks/>
          </p:cNvSpPr>
          <p:nvPr/>
        </p:nvSpPr>
        <p:spPr bwMode="auto">
          <a:xfrm rot="15780000">
            <a:off x="2501058" y="5112310"/>
            <a:ext cx="255588" cy="68262"/>
          </a:xfrm>
          <a:custGeom>
            <a:avLst/>
            <a:gdLst>
              <a:gd name="T0" fmla="*/ 0 w 161"/>
              <a:gd name="T1" fmla="*/ 24 h 43"/>
              <a:gd name="T2" fmla="*/ 161 w 161"/>
              <a:gd name="T3" fmla="*/ 43 h 43"/>
              <a:gd name="T4" fmla="*/ 118 w 161"/>
              <a:gd name="T5" fmla="*/ 0 h 43"/>
            </a:gdLst>
            <a:ahLst/>
            <a:cxnLst>
              <a:cxn ang="0">
                <a:pos x="T0" y="T1"/>
              </a:cxn>
              <a:cxn ang="0">
                <a:pos x="T2" y="T3"/>
              </a:cxn>
              <a:cxn ang="0">
                <a:pos x="T4" y="T5"/>
              </a:cxn>
            </a:cxnLst>
            <a:rect l="0" t="0" r="r" b="b"/>
            <a:pathLst>
              <a:path w="161" h="43">
                <a:moveTo>
                  <a:pt x="0" y="24"/>
                </a:moveTo>
                <a:lnTo>
                  <a:pt x="161" y="43"/>
                </a:lnTo>
                <a:lnTo>
                  <a:pt x="118" y="0"/>
                </a:lnTo>
              </a:path>
            </a:pathLst>
          </a:custGeom>
          <a:noFill/>
          <a:ln w="28575"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GB">
              <a:latin typeface="Helvetica" charset="0"/>
            </a:endParaRPr>
          </a:p>
        </p:txBody>
      </p:sp>
      <p:sp>
        <p:nvSpPr>
          <p:cNvPr id="18" name="Freeform 14">
            <a:extLst>
              <a:ext uri="{FF2B5EF4-FFF2-40B4-BE49-F238E27FC236}">
                <a16:creationId xmlns:a16="http://schemas.microsoft.com/office/drawing/2014/main" id="{4EAFF319-0A8F-43A9-BB83-672CF70DA2BD}"/>
              </a:ext>
            </a:extLst>
          </p:cNvPr>
          <p:cNvSpPr>
            <a:spLocks/>
          </p:cNvSpPr>
          <p:nvPr/>
        </p:nvSpPr>
        <p:spPr bwMode="auto">
          <a:xfrm rot="5000272">
            <a:off x="8852207" y="5068888"/>
            <a:ext cx="255588" cy="68262"/>
          </a:xfrm>
          <a:custGeom>
            <a:avLst/>
            <a:gdLst>
              <a:gd name="T0" fmla="*/ 0 w 161"/>
              <a:gd name="T1" fmla="*/ 24 h 43"/>
              <a:gd name="T2" fmla="*/ 161 w 161"/>
              <a:gd name="T3" fmla="*/ 43 h 43"/>
              <a:gd name="T4" fmla="*/ 118 w 161"/>
              <a:gd name="T5" fmla="*/ 0 h 43"/>
            </a:gdLst>
            <a:ahLst/>
            <a:cxnLst>
              <a:cxn ang="0">
                <a:pos x="T0" y="T1"/>
              </a:cxn>
              <a:cxn ang="0">
                <a:pos x="T2" y="T3"/>
              </a:cxn>
              <a:cxn ang="0">
                <a:pos x="T4" y="T5"/>
              </a:cxn>
            </a:cxnLst>
            <a:rect l="0" t="0" r="r" b="b"/>
            <a:pathLst>
              <a:path w="161" h="43">
                <a:moveTo>
                  <a:pt x="0" y="24"/>
                </a:moveTo>
                <a:lnTo>
                  <a:pt x="161" y="43"/>
                </a:lnTo>
                <a:lnTo>
                  <a:pt x="118" y="0"/>
                </a:lnTo>
              </a:path>
            </a:pathLst>
          </a:custGeom>
          <a:noFill/>
          <a:ln w="28575"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GB">
              <a:latin typeface="Helvetica" charset="0"/>
            </a:endParaRPr>
          </a:p>
        </p:txBody>
      </p:sp>
    </p:spTree>
  </p:cSld>
  <p:clrMapOvr>
    <a:masterClrMapping/>
  </p:clrMapOvr>
  <p:transition spd="slow"/>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5521" name="Rectangle 17">
            <a:extLst>
              <a:ext uri="{FF2B5EF4-FFF2-40B4-BE49-F238E27FC236}">
                <a16:creationId xmlns:a16="http://schemas.microsoft.com/office/drawing/2014/main" id="{5459F2DB-2703-4122-BC12-C53747B81459}"/>
              </a:ext>
            </a:extLst>
          </p:cNvPr>
          <p:cNvSpPr>
            <a:spLocks noChangeArrowheads="1"/>
          </p:cNvSpPr>
          <p:nvPr/>
        </p:nvSpPr>
        <p:spPr bwMode="auto">
          <a:xfrm>
            <a:off x="630238" y="5033963"/>
            <a:ext cx="3500437" cy="1543050"/>
          </a:xfrm>
          <a:prstGeom prst="rect">
            <a:avLst/>
          </a:prstGeom>
          <a:solidFill>
            <a:schemeClr val="folHlink"/>
          </a:solidFill>
          <a:ln w="381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GB">
              <a:latin typeface="Helvetica" charset="0"/>
            </a:endParaRPr>
          </a:p>
        </p:txBody>
      </p:sp>
      <p:sp>
        <p:nvSpPr>
          <p:cNvPr id="40963" name="Rectangle 2">
            <a:extLst>
              <a:ext uri="{FF2B5EF4-FFF2-40B4-BE49-F238E27FC236}">
                <a16:creationId xmlns:a16="http://schemas.microsoft.com/office/drawing/2014/main" id="{EFC384B7-1869-48A0-81AF-4B4F25F6810E}"/>
              </a:ext>
            </a:extLst>
          </p:cNvPr>
          <p:cNvSpPr>
            <a:spLocks noGrp="1" noChangeArrowheads="1"/>
          </p:cNvSpPr>
          <p:nvPr>
            <p:ph type="title"/>
          </p:nvPr>
        </p:nvSpPr>
        <p:spPr>
          <a:noFill/>
        </p:spPr>
        <p:txBody>
          <a:bodyPr/>
          <a:lstStyle/>
          <a:p>
            <a:r>
              <a:rPr lang="en-GB" altLang="en-US">
                <a:effectLst/>
              </a:rPr>
              <a:t>The vein infill  2</a:t>
            </a:r>
          </a:p>
        </p:txBody>
      </p:sp>
      <p:sp>
        <p:nvSpPr>
          <p:cNvPr id="40964" name="Rectangle 3">
            <a:extLst>
              <a:ext uri="{FF2B5EF4-FFF2-40B4-BE49-F238E27FC236}">
                <a16:creationId xmlns:a16="http://schemas.microsoft.com/office/drawing/2014/main" id="{E6AEC2F6-C901-43B7-8AB9-1B62660D2F61}"/>
              </a:ext>
            </a:extLst>
          </p:cNvPr>
          <p:cNvSpPr>
            <a:spLocks noGrp="1" noChangeArrowheads="1"/>
          </p:cNvSpPr>
          <p:nvPr>
            <p:ph type="body" sz="half" idx="1"/>
          </p:nvPr>
        </p:nvSpPr>
        <p:spPr>
          <a:xfrm>
            <a:off x="128588" y="771525"/>
            <a:ext cx="4692650" cy="4103688"/>
          </a:xfrm>
          <a:noFill/>
        </p:spPr>
        <p:txBody>
          <a:bodyPr/>
          <a:lstStyle/>
          <a:p>
            <a:pPr marL="177800" indent="-177800">
              <a:spcBef>
                <a:spcPct val="75000"/>
              </a:spcBef>
            </a:pPr>
            <a:r>
              <a:rPr lang="en-GB" altLang="en-US" sz="1700" dirty="0">
                <a:effectLst/>
              </a:rPr>
              <a:t>In </a:t>
            </a:r>
            <a:r>
              <a:rPr lang="en-GB" altLang="en-US" sz="1700" dirty="0">
                <a:solidFill>
                  <a:srgbClr val="FF6600"/>
                </a:solidFill>
                <a:effectLst/>
              </a:rPr>
              <a:t>syntaxial veins</a:t>
            </a:r>
            <a:r>
              <a:rPr lang="en-GB" altLang="en-US" sz="1700" dirty="0">
                <a:effectLst/>
              </a:rPr>
              <a:t> the fibres </a:t>
            </a:r>
            <a:r>
              <a:rPr lang="en-GB" altLang="en-US" sz="1700" dirty="0">
                <a:solidFill>
                  <a:srgbClr val="FF66CC"/>
                </a:solidFill>
                <a:effectLst/>
              </a:rPr>
              <a:t>grow inwards</a:t>
            </a:r>
            <a:r>
              <a:rPr lang="en-GB" altLang="en-US" sz="1700" dirty="0">
                <a:effectLst/>
              </a:rPr>
              <a:t>, often into an open crack</a:t>
            </a:r>
          </a:p>
          <a:p>
            <a:pPr marL="177800" indent="-177800">
              <a:spcBef>
                <a:spcPct val="50000"/>
              </a:spcBef>
            </a:pPr>
            <a:r>
              <a:rPr lang="en-GB" altLang="en-US" sz="1700" dirty="0">
                <a:effectLst/>
              </a:rPr>
              <a:t>In </a:t>
            </a:r>
            <a:r>
              <a:rPr lang="en-GB" altLang="en-US" sz="1700" dirty="0" err="1">
                <a:solidFill>
                  <a:srgbClr val="FF6600"/>
                </a:solidFill>
                <a:effectLst/>
              </a:rPr>
              <a:t>antitaxial</a:t>
            </a:r>
            <a:r>
              <a:rPr lang="en-GB" altLang="en-US" sz="1700" dirty="0">
                <a:solidFill>
                  <a:srgbClr val="FF6600"/>
                </a:solidFill>
                <a:effectLst/>
              </a:rPr>
              <a:t> veins</a:t>
            </a:r>
            <a:r>
              <a:rPr lang="en-GB" altLang="en-US" sz="1700" dirty="0">
                <a:effectLst/>
              </a:rPr>
              <a:t> a thin fracture forms and the fibres, seeded from this fracture surface (</a:t>
            </a:r>
            <a:r>
              <a:rPr lang="en-GB" altLang="en-US" sz="1700" dirty="0">
                <a:solidFill>
                  <a:srgbClr val="FF66CC"/>
                </a:solidFill>
                <a:effectLst/>
              </a:rPr>
              <a:t>median line</a:t>
            </a:r>
            <a:r>
              <a:rPr lang="en-GB" altLang="en-US" sz="1700" dirty="0">
                <a:effectLst/>
              </a:rPr>
              <a:t>), </a:t>
            </a:r>
            <a:r>
              <a:rPr lang="en-GB" altLang="en-US" sz="1700" dirty="0">
                <a:solidFill>
                  <a:srgbClr val="FF66CC"/>
                </a:solidFill>
                <a:effectLst/>
              </a:rPr>
              <a:t>grow outwards</a:t>
            </a:r>
            <a:r>
              <a:rPr lang="en-GB" altLang="en-US" sz="1700" dirty="0">
                <a:effectLst/>
              </a:rPr>
              <a:t> as the crack opens</a:t>
            </a:r>
          </a:p>
          <a:p>
            <a:pPr marL="177800" indent="-177800">
              <a:spcBef>
                <a:spcPct val="50000"/>
              </a:spcBef>
            </a:pPr>
            <a:r>
              <a:rPr lang="en-GB" altLang="en-US" sz="1700" dirty="0">
                <a:effectLst/>
              </a:rPr>
              <a:t>In </a:t>
            </a:r>
            <a:r>
              <a:rPr lang="en-GB" altLang="en-US" sz="1700" dirty="0">
                <a:solidFill>
                  <a:srgbClr val="FF6600"/>
                </a:solidFill>
                <a:effectLst/>
              </a:rPr>
              <a:t>stretching veins</a:t>
            </a:r>
            <a:r>
              <a:rPr lang="en-GB" altLang="en-US" sz="1700" dirty="0">
                <a:effectLst/>
              </a:rPr>
              <a:t> the fibres are built up by repeated small opening and cementation episodes – the location of the </a:t>
            </a:r>
            <a:r>
              <a:rPr lang="en-GB" altLang="en-US" sz="1700" dirty="0">
                <a:solidFill>
                  <a:srgbClr val="FF66CC"/>
                </a:solidFill>
                <a:effectLst/>
              </a:rPr>
              <a:t>crack-seal events</a:t>
            </a:r>
            <a:r>
              <a:rPr lang="en-GB" altLang="en-US" sz="1700" dirty="0">
                <a:effectLst/>
              </a:rPr>
              <a:t> is commonly haphazard and so the fibres do not track the strain increments, but they do indicate the overall opening direction</a:t>
            </a:r>
          </a:p>
        </p:txBody>
      </p:sp>
      <p:pic>
        <p:nvPicPr>
          <p:cNvPr id="40965" name="Picture 4" descr="Syntaxial">
            <a:extLst>
              <a:ext uri="{FF2B5EF4-FFF2-40B4-BE49-F238E27FC236}">
                <a16:creationId xmlns:a16="http://schemas.microsoft.com/office/drawing/2014/main" id="{01B9A681-A37A-4090-8F15-DC7944DF2A66}"/>
              </a:ext>
            </a:extLst>
          </p:cNvPr>
          <p:cNvPicPr>
            <a:picLocks noGrp="1" noChangeAspect="1" noChangeArrowheads="1"/>
          </p:cNvPicPr>
          <p:nvPr>
            <p:ph sz="quarter" idx="2"/>
          </p:nvPr>
        </p:nvPicPr>
        <p:blipFill>
          <a:blip r:embed="rId3">
            <a:extLst>
              <a:ext uri="{28A0092B-C50C-407E-A947-70E740481C1C}">
                <a14:useLocalDpi xmlns:a14="http://schemas.microsoft.com/office/drawing/2010/main" val="0"/>
              </a:ext>
            </a:extLst>
          </a:blip>
          <a:srcRect/>
          <a:stretch>
            <a:fillRect/>
          </a:stretch>
        </p:blipFill>
        <p:spPr>
          <a:xfrm>
            <a:off x="5008563" y="903288"/>
            <a:ext cx="3998912" cy="2487612"/>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405515" name="Text Box 11">
            <a:extLst>
              <a:ext uri="{FF2B5EF4-FFF2-40B4-BE49-F238E27FC236}">
                <a16:creationId xmlns:a16="http://schemas.microsoft.com/office/drawing/2014/main" id="{812423E7-9CCB-4277-A58F-5CAEA7E8676C}"/>
              </a:ext>
            </a:extLst>
          </p:cNvPr>
          <p:cNvSpPr txBox="1">
            <a:spLocks noChangeArrowheads="1"/>
          </p:cNvSpPr>
          <p:nvPr/>
        </p:nvSpPr>
        <p:spPr bwMode="auto">
          <a:xfrm>
            <a:off x="5329238" y="3471863"/>
            <a:ext cx="345122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defRPr/>
            </a:pPr>
            <a:r>
              <a:rPr lang="en-GB" sz="1400">
                <a:solidFill>
                  <a:srgbClr val="FFFF00"/>
                </a:solidFill>
                <a:effectLst>
                  <a:outerShdw blurRad="38100" dist="38100" dir="2700000" algn="tl">
                    <a:srgbClr val="000000"/>
                  </a:outerShdw>
                </a:effectLst>
                <a:latin typeface="Arial" charset="0"/>
              </a:rPr>
              <a:t>Syntaxial – fibres grow from wall inwards</a:t>
            </a:r>
            <a:r>
              <a:rPr lang="en-GB" sz="1200">
                <a:solidFill>
                  <a:srgbClr val="FFFF00"/>
                </a:solidFill>
                <a:effectLst>
                  <a:outerShdw blurRad="38100" dist="38100" dir="2700000" algn="tl">
                    <a:srgbClr val="000000"/>
                  </a:outerShdw>
                </a:effectLst>
                <a:latin typeface="Arial" charset="0"/>
              </a:rPr>
              <a:t> </a:t>
            </a:r>
          </a:p>
        </p:txBody>
      </p:sp>
      <p:pic>
        <p:nvPicPr>
          <p:cNvPr id="40967" name="Picture 14" descr="Antitaxial">
            <a:extLst>
              <a:ext uri="{FF2B5EF4-FFF2-40B4-BE49-F238E27FC236}">
                <a16:creationId xmlns:a16="http://schemas.microsoft.com/office/drawing/2014/main" id="{A7670BD6-AF96-4482-94AF-8B997223ACBB}"/>
              </a:ext>
            </a:extLst>
          </p:cNvPr>
          <p:cNvPicPr>
            <a:picLocks noGrp="1" noChangeAspect="1" noChangeArrowheads="1"/>
          </p:cNvPicPr>
          <p:nvPr>
            <p:ph sz="quarter" idx="3"/>
          </p:nvPr>
        </p:nvPicPr>
        <p:blipFill>
          <a:blip r:embed="rId4">
            <a:extLst>
              <a:ext uri="{28A0092B-C50C-407E-A947-70E740481C1C}">
                <a14:useLocalDpi xmlns:a14="http://schemas.microsoft.com/office/drawing/2010/main" val="0"/>
              </a:ext>
            </a:extLst>
          </a:blip>
          <a:srcRect/>
          <a:stretch>
            <a:fillRect/>
          </a:stretch>
        </p:blipFill>
        <p:spPr>
          <a:xfrm>
            <a:off x="5019675" y="3910013"/>
            <a:ext cx="3983038" cy="2451100"/>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405519" name="Text Box 15">
            <a:extLst>
              <a:ext uri="{FF2B5EF4-FFF2-40B4-BE49-F238E27FC236}">
                <a16:creationId xmlns:a16="http://schemas.microsoft.com/office/drawing/2014/main" id="{9B817F9B-274D-4F88-B579-040FC045B2EC}"/>
              </a:ext>
            </a:extLst>
          </p:cNvPr>
          <p:cNvSpPr txBox="1">
            <a:spLocks noChangeArrowheads="1"/>
          </p:cNvSpPr>
          <p:nvPr/>
        </p:nvSpPr>
        <p:spPr bwMode="auto">
          <a:xfrm>
            <a:off x="5045075" y="6459538"/>
            <a:ext cx="401002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defRPr/>
            </a:pPr>
            <a:r>
              <a:rPr lang="en-GB" sz="1400">
                <a:solidFill>
                  <a:srgbClr val="FFFF00"/>
                </a:solidFill>
                <a:effectLst>
                  <a:outerShdw blurRad="38100" dist="38100" dir="2700000" algn="tl">
                    <a:srgbClr val="000000"/>
                  </a:outerShdw>
                </a:effectLst>
                <a:latin typeface="Arial" charset="0"/>
              </a:rPr>
              <a:t>Antitaxial – fibres grow from centre towards wall</a:t>
            </a:r>
            <a:r>
              <a:rPr lang="en-GB" sz="1200">
                <a:solidFill>
                  <a:srgbClr val="FFFF00"/>
                </a:solidFill>
                <a:effectLst>
                  <a:outerShdw blurRad="38100" dist="38100" dir="2700000" algn="tl">
                    <a:srgbClr val="000000"/>
                  </a:outerShdw>
                </a:effectLst>
                <a:latin typeface="Arial" charset="0"/>
              </a:rPr>
              <a:t> </a:t>
            </a:r>
          </a:p>
        </p:txBody>
      </p:sp>
      <p:pic>
        <p:nvPicPr>
          <p:cNvPr id="40969" name="Picture 16" descr="13d6">
            <a:extLst>
              <a:ext uri="{FF2B5EF4-FFF2-40B4-BE49-F238E27FC236}">
                <a16:creationId xmlns:a16="http://schemas.microsoft.com/office/drawing/2014/main" id="{17E53CF3-0F6E-493E-9504-00FA84385FB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19138" y="5072063"/>
            <a:ext cx="3325812" cy="1458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1CE85766-FC35-467E-BDD3-7437B34E00A2}"/>
              </a:ext>
            </a:extLst>
          </p:cNvPr>
          <p:cNvSpPr>
            <a:spLocks noGrp="1" noChangeArrowheads="1"/>
          </p:cNvSpPr>
          <p:nvPr>
            <p:ph type="title"/>
          </p:nvPr>
        </p:nvSpPr>
        <p:spPr>
          <a:noFill/>
        </p:spPr>
        <p:txBody>
          <a:bodyPr/>
          <a:lstStyle/>
          <a:p>
            <a:r>
              <a:rPr lang="en-GB" altLang="en-US">
                <a:effectLst/>
              </a:rPr>
              <a:t>Fibrous veins as applied to tension gashes</a:t>
            </a:r>
          </a:p>
        </p:txBody>
      </p:sp>
      <p:sp>
        <p:nvSpPr>
          <p:cNvPr id="41987" name="Rectangle 3">
            <a:extLst>
              <a:ext uri="{FF2B5EF4-FFF2-40B4-BE49-F238E27FC236}">
                <a16:creationId xmlns:a16="http://schemas.microsoft.com/office/drawing/2014/main" id="{EFE1B497-8E95-4B2A-947C-F6E3EA670008}"/>
              </a:ext>
            </a:extLst>
          </p:cNvPr>
          <p:cNvSpPr>
            <a:spLocks noGrp="1" noChangeArrowheads="1"/>
          </p:cNvSpPr>
          <p:nvPr>
            <p:ph type="body" sz="half" idx="1"/>
          </p:nvPr>
        </p:nvSpPr>
        <p:spPr>
          <a:xfrm>
            <a:off x="128588" y="865188"/>
            <a:ext cx="4103687" cy="1403350"/>
          </a:xfrm>
          <a:noFill/>
        </p:spPr>
        <p:txBody>
          <a:bodyPr/>
          <a:lstStyle/>
          <a:p>
            <a:pPr marL="177800" indent="-177800">
              <a:spcBef>
                <a:spcPct val="75000"/>
              </a:spcBef>
            </a:pPr>
            <a:r>
              <a:rPr lang="en-GB" altLang="en-US" sz="1700">
                <a:effectLst/>
              </a:rPr>
              <a:t>The </a:t>
            </a:r>
            <a:r>
              <a:rPr lang="en-GB" altLang="en-US" sz="1700">
                <a:solidFill>
                  <a:srgbClr val="FF66CC"/>
                </a:solidFill>
                <a:effectLst/>
              </a:rPr>
              <a:t>curvature of the fibres</a:t>
            </a:r>
            <a:r>
              <a:rPr lang="en-GB" altLang="en-US" sz="1700">
                <a:effectLst/>
              </a:rPr>
              <a:t> within a developing sigmoidal tension gash is as shown by the curved lateral lines within the veins on the figure right</a:t>
            </a:r>
          </a:p>
        </p:txBody>
      </p:sp>
      <p:pic>
        <p:nvPicPr>
          <p:cNvPr id="41989" name="Picture 5" descr="13e">
            <a:extLst>
              <a:ext uri="{FF2B5EF4-FFF2-40B4-BE49-F238E27FC236}">
                <a16:creationId xmlns:a16="http://schemas.microsoft.com/office/drawing/2014/main" id="{F6C45C94-8FF9-4EDA-86A9-3A931783E35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32350" y="1035050"/>
            <a:ext cx="4087813" cy="3686175"/>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grpSp>
        <p:nvGrpSpPr>
          <p:cNvPr id="41990" name="Group 6">
            <a:extLst>
              <a:ext uri="{FF2B5EF4-FFF2-40B4-BE49-F238E27FC236}">
                <a16:creationId xmlns:a16="http://schemas.microsoft.com/office/drawing/2014/main" id="{5A7DADE9-A6C6-4577-B261-73941BC98025}"/>
              </a:ext>
            </a:extLst>
          </p:cNvPr>
          <p:cNvGrpSpPr>
            <a:grpSpLocks/>
          </p:cNvGrpSpPr>
          <p:nvPr/>
        </p:nvGrpSpPr>
        <p:grpSpPr bwMode="auto">
          <a:xfrm>
            <a:off x="6391275" y="2566988"/>
            <a:ext cx="555625" cy="595312"/>
            <a:chOff x="234" y="3800"/>
            <a:chExt cx="350" cy="375"/>
          </a:xfrm>
        </p:grpSpPr>
        <p:pic>
          <p:nvPicPr>
            <p:cNvPr id="41994" name="Picture 7">
              <a:extLst>
                <a:ext uri="{FF2B5EF4-FFF2-40B4-BE49-F238E27FC236}">
                  <a16:creationId xmlns:a16="http://schemas.microsoft.com/office/drawing/2014/main" id="{258558D3-FD11-452B-9BCB-B6F9A8630A6A}"/>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rot="-1864623">
              <a:off x="234" y="3830"/>
              <a:ext cx="350" cy="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03464" name="Freeform 8">
              <a:extLst>
                <a:ext uri="{FF2B5EF4-FFF2-40B4-BE49-F238E27FC236}">
                  <a16:creationId xmlns:a16="http://schemas.microsoft.com/office/drawing/2014/main" id="{044EC908-B557-4FA3-808F-83BDBA0D6043}"/>
                </a:ext>
              </a:extLst>
            </p:cNvPr>
            <p:cNvSpPr>
              <a:spLocks/>
            </p:cNvSpPr>
            <p:nvPr/>
          </p:nvSpPr>
          <p:spPr bwMode="auto">
            <a:xfrm rot="-585671">
              <a:off x="398" y="3800"/>
              <a:ext cx="95" cy="32"/>
            </a:xfrm>
            <a:custGeom>
              <a:avLst/>
              <a:gdLst>
                <a:gd name="T0" fmla="*/ 0 w 159"/>
                <a:gd name="T1" fmla="*/ 15 h 30"/>
                <a:gd name="T2" fmla="*/ 159 w 159"/>
                <a:gd name="T3" fmla="*/ 30 h 30"/>
                <a:gd name="T4" fmla="*/ 120 w 159"/>
                <a:gd name="T5" fmla="*/ 0 h 30"/>
              </a:gdLst>
              <a:ahLst/>
              <a:cxnLst>
                <a:cxn ang="0">
                  <a:pos x="T0" y="T1"/>
                </a:cxn>
                <a:cxn ang="0">
                  <a:pos x="T2" y="T3"/>
                </a:cxn>
                <a:cxn ang="0">
                  <a:pos x="T4" y="T5"/>
                </a:cxn>
              </a:cxnLst>
              <a:rect l="0" t="0" r="r" b="b"/>
              <a:pathLst>
                <a:path w="159" h="30">
                  <a:moveTo>
                    <a:pt x="0" y="15"/>
                  </a:moveTo>
                  <a:lnTo>
                    <a:pt x="159" y="30"/>
                  </a:lnTo>
                  <a:lnTo>
                    <a:pt x="120" y="0"/>
                  </a:lnTo>
                </a:path>
              </a:pathLst>
            </a:custGeom>
            <a:noFill/>
            <a:ln w="12700"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GB">
                <a:latin typeface="Helvetica" charset="0"/>
              </a:endParaRPr>
            </a:p>
          </p:txBody>
        </p:sp>
        <p:sp>
          <p:nvSpPr>
            <p:cNvPr id="403465" name="Freeform 9">
              <a:extLst>
                <a:ext uri="{FF2B5EF4-FFF2-40B4-BE49-F238E27FC236}">
                  <a16:creationId xmlns:a16="http://schemas.microsoft.com/office/drawing/2014/main" id="{02144AD5-284D-4300-BBBD-95E3638C513B}"/>
                </a:ext>
              </a:extLst>
            </p:cNvPr>
            <p:cNvSpPr>
              <a:spLocks/>
            </p:cNvSpPr>
            <p:nvPr/>
          </p:nvSpPr>
          <p:spPr bwMode="auto">
            <a:xfrm rot="10214329">
              <a:off x="328" y="4143"/>
              <a:ext cx="95" cy="32"/>
            </a:xfrm>
            <a:custGeom>
              <a:avLst/>
              <a:gdLst>
                <a:gd name="T0" fmla="*/ 0 w 159"/>
                <a:gd name="T1" fmla="*/ 15 h 30"/>
                <a:gd name="T2" fmla="*/ 159 w 159"/>
                <a:gd name="T3" fmla="*/ 30 h 30"/>
                <a:gd name="T4" fmla="*/ 120 w 159"/>
                <a:gd name="T5" fmla="*/ 0 h 30"/>
              </a:gdLst>
              <a:ahLst/>
              <a:cxnLst>
                <a:cxn ang="0">
                  <a:pos x="T0" y="T1"/>
                </a:cxn>
                <a:cxn ang="0">
                  <a:pos x="T2" y="T3"/>
                </a:cxn>
                <a:cxn ang="0">
                  <a:pos x="T4" y="T5"/>
                </a:cxn>
              </a:cxnLst>
              <a:rect l="0" t="0" r="r" b="b"/>
              <a:pathLst>
                <a:path w="159" h="30">
                  <a:moveTo>
                    <a:pt x="0" y="15"/>
                  </a:moveTo>
                  <a:lnTo>
                    <a:pt x="159" y="30"/>
                  </a:lnTo>
                  <a:lnTo>
                    <a:pt x="120" y="0"/>
                  </a:lnTo>
                </a:path>
              </a:pathLst>
            </a:custGeom>
            <a:noFill/>
            <a:ln w="12700"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GB">
                <a:latin typeface="Helvetica" charset="0"/>
              </a:endParaRPr>
            </a:p>
          </p:txBody>
        </p:sp>
      </p:grpSp>
      <p:pic>
        <p:nvPicPr>
          <p:cNvPr id="41999" name="Picture 15" descr="Antaxial-Artesa">
            <a:extLst>
              <a:ext uri="{FF2B5EF4-FFF2-40B4-BE49-F238E27FC236}">
                <a16:creationId xmlns:a16="http://schemas.microsoft.com/office/drawing/2014/main" id="{54988D1C-542A-47F4-8027-70BB33C4FFC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4625" y="2395538"/>
            <a:ext cx="4402138" cy="2687637"/>
          </a:xfrm>
          <a:prstGeom prst="rect">
            <a:avLst/>
          </a:prstGeom>
          <a:noFill/>
          <a:ln w="38100">
            <a:solidFill>
              <a:schemeClr val="bg2"/>
            </a:solidFill>
            <a:miter lim="800000"/>
            <a:headEnd/>
            <a:tailEnd/>
          </a:ln>
          <a:extLst>
            <a:ext uri="{909E8E84-426E-40DD-AFC4-6F175D3DCCD1}">
              <a14:hiddenFill xmlns:a14="http://schemas.microsoft.com/office/drawing/2010/main">
                <a:solidFill>
                  <a:srgbClr val="FFFFFF"/>
                </a:solidFill>
              </a14:hiddenFill>
            </a:ext>
          </a:extLst>
        </p:spPr>
      </p:pic>
      <p:sp>
        <p:nvSpPr>
          <p:cNvPr id="42001" name="Text Box 17">
            <a:extLst>
              <a:ext uri="{FF2B5EF4-FFF2-40B4-BE49-F238E27FC236}">
                <a16:creationId xmlns:a16="http://schemas.microsoft.com/office/drawing/2014/main" id="{E859C7D3-346B-48BB-A8BA-A0962FABE3EB}"/>
              </a:ext>
            </a:extLst>
          </p:cNvPr>
          <p:cNvSpPr txBox="1">
            <a:spLocks noChangeArrowheads="1"/>
          </p:cNvSpPr>
          <p:nvPr/>
        </p:nvSpPr>
        <p:spPr bwMode="auto">
          <a:xfrm>
            <a:off x="4735513" y="5246688"/>
            <a:ext cx="3897312" cy="1420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15000"/>
              </a:lnSpc>
              <a:spcBef>
                <a:spcPct val="50000"/>
              </a:spcBef>
            </a:pPr>
            <a:r>
              <a:rPr lang="en-GB" altLang="en-US" sz="1400">
                <a:solidFill>
                  <a:srgbClr val="FFFF00"/>
                </a:solidFill>
                <a:effectLst>
                  <a:outerShdw blurRad="38100" dist="38100" dir="2700000" algn="tl">
                    <a:srgbClr val="000000"/>
                  </a:outerShdw>
                </a:effectLst>
                <a:latin typeface="Arial" panose="020B0604020202020204" pitchFamily="34" charset="0"/>
              </a:rPr>
              <a:t>If the orientation of the shear couple in the photo was as shown in the diagram left, the curvature of the fibres implies syntaxial growth</a:t>
            </a:r>
          </a:p>
          <a:p>
            <a:pPr>
              <a:lnSpc>
                <a:spcPct val="115000"/>
              </a:lnSpc>
              <a:spcBef>
                <a:spcPct val="50000"/>
              </a:spcBef>
            </a:pPr>
            <a:r>
              <a:rPr lang="en-GB" altLang="en-US" sz="1400">
                <a:solidFill>
                  <a:srgbClr val="FFFF00"/>
                </a:solidFill>
                <a:effectLst>
                  <a:outerShdw blurRad="38100" dist="38100" dir="2700000" algn="tl">
                    <a:srgbClr val="000000"/>
                  </a:outerShdw>
                </a:effectLst>
                <a:latin typeface="Arial" panose="020B0604020202020204" pitchFamily="34" charset="0"/>
              </a:rPr>
              <a:t>(but this vein was not actually a tension gash and looks to me as if it grew antitaxially)</a:t>
            </a:r>
          </a:p>
        </p:txBody>
      </p:sp>
      <p:pic>
        <p:nvPicPr>
          <p:cNvPr id="42002" name="Picture 18">
            <a:extLst>
              <a:ext uri="{FF2B5EF4-FFF2-40B4-BE49-F238E27FC236}">
                <a16:creationId xmlns:a16="http://schemas.microsoft.com/office/drawing/2014/main" id="{80510047-63A9-424E-BDED-E5A00DED89A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4625" y="5246688"/>
            <a:ext cx="4395788" cy="1436687"/>
          </a:xfrm>
          <a:prstGeom prst="rect">
            <a:avLst/>
          </a:prstGeom>
          <a:noFill/>
          <a:ln w="38100">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2003" name="Line 19">
            <a:extLst>
              <a:ext uri="{FF2B5EF4-FFF2-40B4-BE49-F238E27FC236}">
                <a16:creationId xmlns:a16="http://schemas.microsoft.com/office/drawing/2014/main" id="{1DFD88AB-622B-4748-A48A-30FF3E3A62E9}"/>
              </a:ext>
            </a:extLst>
          </p:cNvPr>
          <p:cNvSpPr>
            <a:spLocks noChangeShapeType="1"/>
          </p:cNvSpPr>
          <p:nvPr/>
        </p:nvSpPr>
        <p:spPr bwMode="auto">
          <a:xfrm flipH="1" flipV="1">
            <a:off x="3646488" y="4811713"/>
            <a:ext cx="217487" cy="696912"/>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Tree>
  </p:cSld>
  <p:clrMapOvr>
    <a:masterClrMapping/>
  </p:clrMapOvr>
  <p:transition spd="slow"/>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2" name="Rectangle 2">
            <a:extLst>
              <a:ext uri="{FF2B5EF4-FFF2-40B4-BE49-F238E27FC236}">
                <a16:creationId xmlns:a16="http://schemas.microsoft.com/office/drawing/2014/main" id="{63E8E46C-6FE1-4F0C-B938-900A97C2E2F1}"/>
              </a:ext>
            </a:extLst>
          </p:cNvPr>
          <p:cNvSpPr>
            <a:spLocks noGrp="1" noChangeArrowheads="1"/>
          </p:cNvSpPr>
          <p:nvPr>
            <p:ph type="ctrTitle" idx="4294967295"/>
          </p:nvPr>
        </p:nvSpPr>
        <p:spPr bwMode="black">
          <a:xfrm>
            <a:off x="239713" y="1622425"/>
            <a:ext cx="8705850" cy="1900238"/>
          </a:xfrm>
          <a:effectLst>
            <a:outerShdw dist="35921" dir="2700000" algn="ctr" rotWithShape="0">
              <a:schemeClr val="bg2"/>
            </a:outerShdw>
          </a:effectLst>
          <a:extLst>
            <a:ext uri="{909E8E84-426E-40DD-AFC4-6F175D3DCCD1}">
              <a14:hiddenFill xmlns:a14="http://schemas.microsoft.com/office/drawing/2010/main">
                <a:solidFill>
                  <a:schemeClr val="bg1"/>
                </a:solidFill>
              </a14:hiddenFill>
            </a:ext>
          </a:extLst>
        </p:spPr>
        <p:txBody>
          <a:bodyPr anchor="ctr">
            <a:spAutoFit/>
          </a:bodyPr>
          <a:lstStyle/>
          <a:p>
            <a:pPr algn="ctr">
              <a:lnSpc>
                <a:spcPct val="120000"/>
              </a:lnSpc>
              <a:defRPr/>
            </a:pPr>
            <a:br>
              <a:rPr lang="en-US" sz="3200"/>
            </a:br>
            <a:br>
              <a:rPr lang="en-US" sz="3500"/>
            </a:br>
            <a:r>
              <a:rPr lang="en-US" sz="3200">
                <a:solidFill>
                  <a:srgbClr val="FF6600"/>
                </a:solidFill>
              </a:rPr>
              <a:t>Brittle shear zones</a:t>
            </a:r>
            <a:endParaRPr lang="en-US">
              <a:solidFill>
                <a:srgbClr val="FF6600"/>
              </a:solidFill>
            </a:endParaRPr>
          </a:p>
        </p:txBody>
      </p:sp>
    </p:spTree>
  </p:cSld>
  <p:clrMapOvr>
    <a:masterClrMapping/>
  </p:clrMapOvr>
  <p:transition spd="slow"/>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4045" name="Picture 13" descr="12a-Newgale">
            <a:extLst>
              <a:ext uri="{FF2B5EF4-FFF2-40B4-BE49-F238E27FC236}">
                <a16:creationId xmlns:a16="http://schemas.microsoft.com/office/drawing/2014/main" id="{D6B9D297-91DC-4160-97EC-47FA9FB9C4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7408" y="3078163"/>
            <a:ext cx="5062538" cy="3619500"/>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44034" name="Rectangle 2">
            <a:extLst>
              <a:ext uri="{FF2B5EF4-FFF2-40B4-BE49-F238E27FC236}">
                <a16:creationId xmlns:a16="http://schemas.microsoft.com/office/drawing/2014/main" id="{AC09A512-D3CF-40F6-AB2F-7A46D86E5DE4}"/>
              </a:ext>
            </a:extLst>
          </p:cNvPr>
          <p:cNvSpPr>
            <a:spLocks noGrp="1" noChangeArrowheads="1"/>
          </p:cNvSpPr>
          <p:nvPr>
            <p:ph type="title"/>
          </p:nvPr>
        </p:nvSpPr>
        <p:spPr>
          <a:noFill/>
        </p:spPr>
        <p:txBody>
          <a:bodyPr/>
          <a:lstStyle/>
          <a:p>
            <a:r>
              <a:rPr lang="en-GB" altLang="en-US">
                <a:effectLst/>
              </a:rPr>
              <a:t>Brittle fault rocks (breccias)</a:t>
            </a:r>
          </a:p>
        </p:txBody>
      </p:sp>
      <p:sp>
        <p:nvSpPr>
          <p:cNvPr id="44035" name="Rectangle 3">
            <a:extLst>
              <a:ext uri="{FF2B5EF4-FFF2-40B4-BE49-F238E27FC236}">
                <a16:creationId xmlns:a16="http://schemas.microsoft.com/office/drawing/2014/main" id="{5E3D7CA0-6D19-4AC2-A914-6CA7CA6CD38E}"/>
              </a:ext>
            </a:extLst>
          </p:cNvPr>
          <p:cNvSpPr>
            <a:spLocks noGrp="1" noChangeArrowheads="1"/>
          </p:cNvSpPr>
          <p:nvPr>
            <p:ph type="body" sz="half" idx="1"/>
          </p:nvPr>
        </p:nvSpPr>
        <p:spPr>
          <a:xfrm>
            <a:off x="90836" y="855663"/>
            <a:ext cx="6070621" cy="2036762"/>
          </a:xfrm>
          <a:noFill/>
        </p:spPr>
        <p:txBody>
          <a:bodyPr/>
          <a:lstStyle/>
          <a:p>
            <a:pPr marL="177800" indent="-177800">
              <a:spcBef>
                <a:spcPct val="75000"/>
              </a:spcBef>
            </a:pPr>
            <a:r>
              <a:rPr lang="en-GB" altLang="en-US" sz="1700" dirty="0">
                <a:solidFill>
                  <a:srgbClr val="FF6600"/>
                </a:solidFill>
                <a:effectLst/>
              </a:rPr>
              <a:t>Fault breccias</a:t>
            </a:r>
            <a:r>
              <a:rPr lang="en-GB" altLang="en-US" sz="1700" dirty="0">
                <a:effectLst/>
              </a:rPr>
              <a:t> contain </a:t>
            </a:r>
            <a:r>
              <a:rPr lang="en-GB" altLang="en-US" sz="1700" dirty="0">
                <a:solidFill>
                  <a:srgbClr val="FF66CC"/>
                </a:solidFill>
                <a:effectLst/>
              </a:rPr>
              <a:t>more than 30% clasts that are over 2 mm in size</a:t>
            </a:r>
            <a:endParaRPr lang="en-GB" altLang="en-US" sz="1700" dirty="0">
              <a:effectLst/>
            </a:endParaRPr>
          </a:p>
          <a:p>
            <a:pPr marL="177800" indent="-177800">
              <a:spcBef>
                <a:spcPct val="50000"/>
              </a:spcBef>
            </a:pPr>
            <a:r>
              <a:rPr lang="en-GB" altLang="en-US" sz="1700" dirty="0">
                <a:effectLst/>
              </a:rPr>
              <a:t>They may be subdivided into </a:t>
            </a:r>
            <a:r>
              <a:rPr lang="en-GB" altLang="en-US" sz="1700" dirty="0">
                <a:solidFill>
                  <a:srgbClr val="FF66CC"/>
                </a:solidFill>
                <a:effectLst/>
              </a:rPr>
              <a:t>crackle</a:t>
            </a:r>
            <a:r>
              <a:rPr lang="en-GB" altLang="en-US" sz="1700" dirty="0">
                <a:effectLst/>
              </a:rPr>
              <a:t>, </a:t>
            </a:r>
            <a:r>
              <a:rPr lang="en-GB" altLang="en-US" sz="1700" dirty="0">
                <a:solidFill>
                  <a:srgbClr val="FF66CC"/>
                </a:solidFill>
                <a:effectLst/>
              </a:rPr>
              <a:t>mosaic</a:t>
            </a:r>
            <a:r>
              <a:rPr lang="en-GB" altLang="en-US" sz="1700" dirty="0">
                <a:effectLst/>
              </a:rPr>
              <a:t> and </a:t>
            </a:r>
            <a:r>
              <a:rPr lang="en-GB" altLang="en-US" sz="1700" dirty="0">
                <a:solidFill>
                  <a:srgbClr val="FF66CC"/>
                </a:solidFill>
                <a:effectLst/>
              </a:rPr>
              <a:t>chaotic</a:t>
            </a:r>
            <a:r>
              <a:rPr lang="en-GB" altLang="en-US" sz="1700" dirty="0">
                <a:effectLst/>
              </a:rPr>
              <a:t> breccias depending upon how well the clasts fit together. This subdivision effectively equates to the % clasts over 2 mm (crackle 100-75%; mosaic 75-60%; chaotic 60-30%)</a:t>
            </a:r>
          </a:p>
        </p:txBody>
      </p:sp>
      <p:grpSp>
        <p:nvGrpSpPr>
          <p:cNvPr id="44037" name="Group 7">
            <a:extLst>
              <a:ext uri="{FF2B5EF4-FFF2-40B4-BE49-F238E27FC236}">
                <a16:creationId xmlns:a16="http://schemas.microsoft.com/office/drawing/2014/main" id="{D29B371F-93CF-47ED-BC64-C71B6FAD07F0}"/>
              </a:ext>
            </a:extLst>
          </p:cNvPr>
          <p:cNvGrpSpPr>
            <a:grpSpLocks/>
          </p:cNvGrpSpPr>
          <p:nvPr/>
        </p:nvGrpSpPr>
        <p:grpSpPr bwMode="auto">
          <a:xfrm>
            <a:off x="6220195" y="833438"/>
            <a:ext cx="2770187" cy="5889625"/>
            <a:chOff x="3863" y="525"/>
            <a:chExt cx="1745" cy="3710"/>
          </a:xfrm>
        </p:grpSpPr>
        <p:sp>
          <p:nvSpPr>
            <p:cNvPr id="233478" name="Rectangle 6">
              <a:extLst>
                <a:ext uri="{FF2B5EF4-FFF2-40B4-BE49-F238E27FC236}">
                  <a16:creationId xmlns:a16="http://schemas.microsoft.com/office/drawing/2014/main" id="{2449ADD9-1CB1-45EE-96CE-15AB0C7664F1}"/>
                </a:ext>
              </a:extLst>
            </p:cNvPr>
            <p:cNvSpPr>
              <a:spLocks noChangeArrowheads="1"/>
            </p:cNvSpPr>
            <p:nvPr/>
          </p:nvSpPr>
          <p:spPr bwMode="auto">
            <a:xfrm>
              <a:off x="3863" y="525"/>
              <a:ext cx="1745" cy="3710"/>
            </a:xfrm>
            <a:prstGeom prst="rect">
              <a:avLst/>
            </a:prstGeom>
            <a:solidFill>
              <a:schemeClr val="folHlink"/>
            </a:solidFill>
            <a:ln w="381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GB">
                <a:latin typeface="Helvetica" charset="0"/>
              </a:endParaRPr>
            </a:p>
          </p:txBody>
        </p:sp>
        <p:pic>
          <p:nvPicPr>
            <p:cNvPr id="44041" name="Picture 4">
              <a:extLst>
                <a:ext uri="{FF2B5EF4-FFF2-40B4-BE49-F238E27FC236}">
                  <a16:creationId xmlns:a16="http://schemas.microsoft.com/office/drawing/2014/main" id="{FAD7296A-99CE-4356-8759-7C9EB7D97CF1}"/>
                </a:ext>
              </a:extLst>
            </p:cNvPr>
            <p:cNvPicPr>
              <a:picLocks noChangeAspect="1" noChangeArrowheads="1"/>
            </p:cNvPicPr>
            <p:nvPr/>
          </p:nvPicPr>
          <p:blipFill>
            <a:blip r:embed="rId4" cstate="print">
              <a:lum bright="-10000" contrast="10000"/>
              <a:extLst>
                <a:ext uri="{28A0092B-C50C-407E-A947-70E740481C1C}">
                  <a14:useLocalDpi xmlns:a14="http://schemas.microsoft.com/office/drawing/2010/main" val="0"/>
                </a:ext>
              </a:extLst>
            </a:blip>
            <a:srcRect/>
            <a:stretch>
              <a:fillRect/>
            </a:stretch>
          </p:blipFill>
          <p:spPr bwMode="auto">
            <a:xfrm>
              <a:off x="3910" y="572"/>
              <a:ext cx="1661" cy="36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233484" name="Rectangle 12">
            <a:extLst>
              <a:ext uri="{FF2B5EF4-FFF2-40B4-BE49-F238E27FC236}">
                <a16:creationId xmlns:a16="http://schemas.microsoft.com/office/drawing/2014/main" id="{C7C02626-F19F-4BB3-8CF5-311F654E9002}"/>
              </a:ext>
            </a:extLst>
          </p:cNvPr>
          <p:cNvSpPr>
            <a:spLocks noChangeArrowheads="1"/>
          </p:cNvSpPr>
          <p:nvPr/>
        </p:nvSpPr>
        <p:spPr bwMode="auto">
          <a:xfrm>
            <a:off x="623888" y="6042025"/>
            <a:ext cx="2117725" cy="600075"/>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GB">
              <a:latin typeface="Helvetica" charset="0"/>
            </a:endParaRPr>
          </a:p>
        </p:txBody>
      </p:sp>
      <p:sp>
        <p:nvSpPr>
          <p:cNvPr id="44039" name="Text Box 11">
            <a:extLst>
              <a:ext uri="{FF2B5EF4-FFF2-40B4-BE49-F238E27FC236}">
                <a16:creationId xmlns:a16="http://schemas.microsoft.com/office/drawing/2014/main" id="{97F98796-183E-4FDA-89C7-EC99531EA83A}"/>
              </a:ext>
            </a:extLst>
          </p:cNvPr>
          <p:cNvSpPr txBox="1">
            <a:spLocks noChangeArrowheads="1"/>
          </p:cNvSpPr>
          <p:nvPr/>
        </p:nvSpPr>
        <p:spPr bwMode="auto">
          <a:xfrm>
            <a:off x="606425" y="5995988"/>
            <a:ext cx="2312988" cy="603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50000"/>
              </a:spcBef>
            </a:pPr>
            <a:r>
              <a:rPr lang="en-GB" altLang="en-US" sz="1400">
                <a:solidFill>
                  <a:srgbClr val="FF0000"/>
                </a:solidFill>
                <a:effectLst/>
                <a:latin typeface="Arial" panose="020B0604020202020204" pitchFamily="34" charset="0"/>
              </a:rPr>
              <a:t>All three types of fault breccia in close proximity</a:t>
            </a:r>
          </a:p>
        </p:txBody>
      </p:sp>
    </p:spTree>
  </p:cSld>
  <p:clrMapOvr>
    <a:masterClrMapping/>
  </p:clrMapOvr>
  <p:transition spd="slow"/>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D2FA9867-F2ED-475C-81F3-1709A98E4F6C}"/>
              </a:ext>
            </a:extLst>
          </p:cNvPr>
          <p:cNvSpPr>
            <a:spLocks noGrp="1" noChangeArrowheads="1"/>
          </p:cNvSpPr>
          <p:nvPr>
            <p:ph type="title"/>
          </p:nvPr>
        </p:nvSpPr>
        <p:spPr>
          <a:noFill/>
        </p:spPr>
        <p:txBody>
          <a:bodyPr/>
          <a:lstStyle/>
          <a:p>
            <a:r>
              <a:rPr lang="en-GB" altLang="en-US">
                <a:effectLst/>
              </a:rPr>
              <a:t>Brittle fault rocks (cataclasites)</a:t>
            </a:r>
          </a:p>
        </p:txBody>
      </p:sp>
      <p:sp>
        <p:nvSpPr>
          <p:cNvPr id="45059" name="Rectangle 3">
            <a:extLst>
              <a:ext uri="{FF2B5EF4-FFF2-40B4-BE49-F238E27FC236}">
                <a16:creationId xmlns:a16="http://schemas.microsoft.com/office/drawing/2014/main" id="{F6A525C8-1205-4880-B2F5-BAF5B8CEE04E}"/>
              </a:ext>
            </a:extLst>
          </p:cNvPr>
          <p:cNvSpPr>
            <a:spLocks noGrp="1" noChangeArrowheads="1"/>
          </p:cNvSpPr>
          <p:nvPr>
            <p:ph type="body" sz="half" idx="1"/>
          </p:nvPr>
        </p:nvSpPr>
        <p:spPr>
          <a:xfrm>
            <a:off x="115888" y="800100"/>
            <a:ext cx="6045200" cy="2816225"/>
          </a:xfrm>
          <a:noFill/>
        </p:spPr>
        <p:txBody>
          <a:bodyPr/>
          <a:lstStyle/>
          <a:p>
            <a:pPr marL="177800" indent="-177800">
              <a:spcBef>
                <a:spcPct val="75000"/>
              </a:spcBef>
            </a:pPr>
            <a:r>
              <a:rPr lang="en-GB" altLang="en-US" sz="1700" dirty="0" err="1">
                <a:solidFill>
                  <a:srgbClr val="FF6600"/>
                </a:solidFill>
                <a:effectLst/>
              </a:rPr>
              <a:t>Cataclasites</a:t>
            </a:r>
            <a:r>
              <a:rPr lang="en-GB" altLang="en-US" sz="1700" dirty="0">
                <a:effectLst/>
              </a:rPr>
              <a:t> are all </a:t>
            </a:r>
            <a:r>
              <a:rPr lang="en-GB" altLang="en-US" sz="1700" dirty="0">
                <a:solidFill>
                  <a:srgbClr val="FF66CC"/>
                </a:solidFill>
                <a:effectLst/>
              </a:rPr>
              <a:t>non-foliated fault rocks with less than 30% clasts over 2 mm</a:t>
            </a:r>
            <a:r>
              <a:rPr lang="en-GB" altLang="en-US" sz="1700" dirty="0">
                <a:effectLst/>
              </a:rPr>
              <a:t> that are not in the special categories of </a:t>
            </a:r>
            <a:r>
              <a:rPr lang="en-GB" altLang="en-US" sz="1700" dirty="0" err="1">
                <a:effectLst/>
              </a:rPr>
              <a:t>pseudotachylyte</a:t>
            </a:r>
            <a:r>
              <a:rPr lang="en-GB" altLang="en-US" sz="1700" dirty="0">
                <a:effectLst/>
              </a:rPr>
              <a:t> or fault gouge. [Foliated fault rocks of this clast size are </a:t>
            </a:r>
            <a:r>
              <a:rPr lang="en-GB" altLang="en-US" sz="1700" dirty="0" err="1">
                <a:effectLst/>
              </a:rPr>
              <a:t>mylonites</a:t>
            </a:r>
            <a:r>
              <a:rPr lang="en-GB" altLang="en-US" sz="1700" dirty="0">
                <a:effectLst/>
              </a:rPr>
              <a:t>.]</a:t>
            </a:r>
          </a:p>
          <a:p>
            <a:pPr marL="177800" indent="-177800">
              <a:spcBef>
                <a:spcPct val="50000"/>
              </a:spcBef>
            </a:pPr>
            <a:r>
              <a:rPr lang="en-GB" altLang="en-US" sz="1700" dirty="0">
                <a:effectLst/>
              </a:rPr>
              <a:t>They may be subdivided into </a:t>
            </a:r>
            <a:r>
              <a:rPr lang="en-GB" altLang="en-US" sz="1700" dirty="0" err="1">
                <a:solidFill>
                  <a:srgbClr val="FF66CC"/>
                </a:solidFill>
                <a:effectLst/>
              </a:rPr>
              <a:t>protocataclasites</a:t>
            </a:r>
            <a:r>
              <a:rPr lang="en-GB" altLang="en-US" sz="1700" dirty="0">
                <a:effectLst/>
              </a:rPr>
              <a:t> (</a:t>
            </a:r>
            <a:r>
              <a:rPr lang="en-GB" altLang="en-US" sz="1700" spc="150" dirty="0">
                <a:effectLst/>
              </a:rPr>
              <a:t>0-</a:t>
            </a:r>
            <a:r>
              <a:rPr lang="en-GB" altLang="en-US" sz="1700" dirty="0">
                <a:effectLst/>
              </a:rPr>
              <a:t>50% matrix), </a:t>
            </a:r>
            <a:r>
              <a:rPr lang="en-GB" altLang="en-US" sz="1700" dirty="0" err="1">
                <a:solidFill>
                  <a:srgbClr val="FF66CC"/>
                </a:solidFill>
                <a:effectLst/>
              </a:rPr>
              <a:t>mesocataclasites</a:t>
            </a:r>
            <a:r>
              <a:rPr lang="en-GB" altLang="en-US" sz="1700" dirty="0">
                <a:effectLst/>
              </a:rPr>
              <a:t> (5</a:t>
            </a:r>
            <a:r>
              <a:rPr lang="en-GB" altLang="en-US" sz="1700" spc="150" dirty="0">
                <a:effectLst/>
              </a:rPr>
              <a:t>0-</a:t>
            </a:r>
            <a:r>
              <a:rPr lang="en-GB" altLang="en-US" sz="1700" dirty="0">
                <a:effectLst/>
              </a:rPr>
              <a:t>90% matrix) and </a:t>
            </a:r>
            <a:r>
              <a:rPr lang="en-GB" altLang="en-US" sz="1700" dirty="0" err="1">
                <a:solidFill>
                  <a:srgbClr val="FF66CC"/>
                </a:solidFill>
                <a:effectLst/>
              </a:rPr>
              <a:t>ultracataclasites</a:t>
            </a:r>
            <a:r>
              <a:rPr lang="en-GB" altLang="en-US" sz="1700" dirty="0">
                <a:solidFill>
                  <a:srgbClr val="FF66CC"/>
                </a:solidFill>
                <a:effectLst/>
              </a:rPr>
              <a:t> </a:t>
            </a:r>
            <a:r>
              <a:rPr lang="en-GB" altLang="en-US" sz="1700" dirty="0">
                <a:effectLst/>
              </a:rPr>
              <a:t>(90%+ matrix) – in each case the matrix comprises any clast that is &lt; 100 µm</a:t>
            </a:r>
          </a:p>
        </p:txBody>
      </p:sp>
      <p:pic>
        <p:nvPicPr>
          <p:cNvPr id="45060" name="Picture 4" descr="14c-CRUSH">
            <a:extLst>
              <a:ext uri="{FF2B5EF4-FFF2-40B4-BE49-F238E27FC236}">
                <a16:creationId xmlns:a16="http://schemas.microsoft.com/office/drawing/2014/main" id="{D93DA194-AF0C-444A-89B8-EE865AB34FE9}"/>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6391275" y="906463"/>
            <a:ext cx="2620963" cy="4513262"/>
          </a:xfrm>
          <a:noFill/>
          <a:ln w="38100">
            <a:solidFill>
              <a:schemeClr val="bg2"/>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45061" name="Picture 6" descr="14d-FAULT">
            <a:extLst>
              <a:ext uri="{FF2B5EF4-FFF2-40B4-BE49-F238E27FC236}">
                <a16:creationId xmlns:a16="http://schemas.microsoft.com/office/drawing/2014/main" id="{BC85FECA-FDCC-4D15-B5CB-54CCF56AC68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27200" y="3686175"/>
            <a:ext cx="4489450" cy="3017838"/>
          </a:xfrm>
          <a:prstGeom prst="rect">
            <a:avLst/>
          </a:prstGeom>
          <a:noFill/>
          <a:ln w="38100">
            <a:solidFill>
              <a:schemeClr val="bg2"/>
            </a:solidFill>
            <a:miter lim="800000"/>
            <a:headEnd/>
            <a:tailEnd/>
          </a:ln>
          <a:extLst>
            <a:ext uri="{909E8E84-426E-40DD-AFC4-6F175D3DCCD1}">
              <a14:hiddenFill xmlns:a14="http://schemas.microsoft.com/office/drawing/2010/main">
                <a:solidFill>
                  <a:srgbClr val="FFFFFF"/>
                </a:solidFill>
              </a14:hiddenFill>
            </a:ext>
          </a:extLst>
        </p:spPr>
      </p:pic>
      <p:sp>
        <p:nvSpPr>
          <p:cNvPr id="347144" name="Text Box 8">
            <a:extLst>
              <a:ext uri="{FF2B5EF4-FFF2-40B4-BE49-F238E27FC236}">
                <a16:creationId xmlns:a16="http://schemas.microsoft.com/office/drawing/2014/main" id="{6B5F1F13-A697-44BC-A2DD-A6AD9125CB24}"/>
              </a:ext>
            </a:extLst>
          </p:cNvPr>
          <p:cNvSpPr txBox="1">
            <a:spLocks noChangeArrowheads="1"/>
          </p:cNvSpPr>
          <p:nvPr/>
        </p:nvSpPr>
        <p:spPr bwMode="auto">
          <a:xfrm>
            <a:off x="114300" y="3600450"/>
            <a:ext cx="1433513" cy="2581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9388" indent="-179388">
              <a:defRPr sz="1600">
                <a:solidFill>
                  <a:schemeClr val="tx1"/>
                </a:solidFill>
                <a:latin typeface="Helvetica" charset="0"/>
              </a:defRPr>
            </a:lvl1pPr>
            <a:lvl2pPr>
              <a:defRPr sz="1600">
                <a:solidFill>
                  <a:schemeClr val="tx1"/>
                </a:solidFill>
                <a:latin typeface="Helvetica" charset="0"/>
              </a:defRPr>
            </a:lvl2pPr>
            <a:lvl3pPr>
              <a:defRPr sz="1600">
                <a:solidFill>
                  <a:schemeClr val="tx1"/>
                </a:solidFill>
                <a:latin typeface="Helvetica" charset="0"/>
              </a:defRPr>
            </a:lvl3pPr>
            <a:lvl4pPr>
              <a:defRPr sz="1600">
                <a:solidFill>
                  <a:schemeClr val="tx1"/>
                </a:solidFill>
                <a:latin typeface="Helvetica" charset="0"/>
              </a:defRPr>
            </a:lvl4pPr>
            <a:lvl5pPr>
              <a:defRPr sz="1600">
                <a:solidFill>
                  <a:schemeClr val="tx1"/>
                </a:solidFill>
                <a:latin typeface="Helvetica" charset="0"/>
              </a:defRPr>
            </a:lvl5pPr>
            <a:lvl6pPr eaLnBrk="0" fontAlgn="base" hangingPunct="0">
              <a:spcBef>
                <a:spcPct val="20000"/>
              </a:spcBef>
              <a:spcAft>
                <a:spcPct val="0"/>
              </a:spcAft>
              <a:buClr>
                <a:schemeClr val="accent2"/>
              </a:buClr>
              <a:defRPr sz="1600">
                <a:solidFill>
                  <a:schemeClr val="tx1"/>
                </a:solidFill>
                <a:latin typeface="Helvetica" charset="0"/>
              </a:defRPr>
            </a:lvl6pPr>
            <a:lvl7pPr eaLnBrk="0" fontAlgn="base" hangingPunct="0">
              <a:spcBef>
                <a:spcPct val="20000"/>
              </a:spcBef>
              <a:spcAft>
                <a:spcPct val="0"/>
              </a:spcAft>
              <a:buClr>
                <a:schemeClr val="accent2"/>
              </a:buClr>
              <a:defRPr sz="1600">
                <a:solidFill>
                  <a:schemeClr val="tx1"/>
                </a:solidFill>
                <a:latin typeface="Helvetica" charset="0"/>
              </a:defRPr>
            </a:lvl7pPr>
            <a:lvl8pPr eaLnBrk="0" fontAlgn="base" hangingPunct="0">
              <a:spcBef>
                <a:spcPct val="20000"/>
              </a:spcBef>
              <a:spcAft>
                <a:spcPct val="0"/>
              </a:spcAft>
              <a:buClr>
                <a:schemeClr val="accent2"/>
              </a:buClr>
              <a:defRPr sz="1600">
                <a:solidFill>
                  <a:schemeClr val="tx1"/>
                </a:solidFill>
                <a:latin typeface="Helvetica" charset="0"/>
              </a:defRPr>
            </a:lvl8pPr>
            <a:lvl9pPr eaLnBrk="0" fontAlgn="base" hangingPunct="0">
              <a:spcBef>
                <a:spcPct val="20000"/>
              </a:spcBef>
              <a:spcAft>
                <a:spcPct val="0"/>
              </a:spcAft>
              <a:buClr>
                <a:schemeClr val="accent2"/>
              </a:buClr>
              <a:defRPr sz="1600">
                <a:solidFill>
                  <a:schemeClr val="tx1"/>
                </a:solidFill>
                <a:latin typeface="Helvetica" charset="0"/>
              </a:defRPr>
            </a:lvl9pPr>
          </a:lstStyle>
          <a:p>
            <a:pPr>
              <a:lnSpc>
                <a:spcPct val="120000"/>
              </a:lnSpc>
              <a:spcBef>
                <a:spcPct val="50000"/>
              </a:spcBef>
              <a:buClr>
                <a:schemeClr val="folHlink"/>
              </a:buClr>
              <a:buSzPct val="100000"/>
              <a:buFont typeface="Times"/>
              <a:buChar char="•"/>
              <a:defRPr/>
            </a:pPr>
            <a:r>
              <a:rPr lang="en-GB" sz="1700">
                <a:effectLst/>
                <a:latin typeface="Arial" charset="0"/>
              </a:rPr>
              <a:t>The matrix clasts are crushed fragments that form a cohesive, often flinty, rock</a:t>
            </a:r>
            <a:endParaRPr lang="en-GB" sz="1700">
              <a:effectLst>
                <a:outerShdw blurRad="38100" dist="38100" dir="2700000" algn="tl">
                  <a:srgbClr val="000000"/>
                </a:outerShdw>
              </a:effectLst>
              <a:latin typeface="Arial" charset="0"/>
            </a:endParaRPr>
          </a:p>
        </p:txBody>
      </p:sp>
      <p:sp>
        <p:nvSpPr>
          <p:cNvPr id="347145" name="Text Box 9">
            <a:extLst>
              <a:ext uri="{FF2B5EF4-FFF2-40B4-BE49-F238E27FC236}">
                <a16:creationId xmlns:a16="http://schemas.microsoft.com/office/drawing/2014/main" id="{4C7DEB48-61FA-4409-AF08-D8E1B6875A1D}"/>
              </a:ext>
            </a:extLst>
          </p:cNvPr>
          <p:cNvSpPr txBox="1">
            <a:spLocks noChangeArrowheads="1"/>
          </p:cNvSpPr>
          <p:nvPr/>
        </p:nvSpPr>
        <p:spPr bwMode="auto">
          <a:xfrm>
            <a:off x="6356350" y="5891213"/>
            <a:ext cx="2243138" cy="82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15000"/>
              </a:lnSpc>
              <a:spcBef>
                <a:spcPct val="50000"/>
              </a:spcBef>
            </a:pPr>
            <a:r>
              <a:rPr lang="en-GB" altLang="en-US" sz="1400">
                <a:solidFill>
                  <a:srgbClr val="FFFF00"/>
                </a:solidFill>
                <a:effectLst>
                  <a:outerShdw blurRad="38100" dist="38100" dir="2700000" algn="tl">
                    <a:srgbClr val="000000"/>
                  </a:outerShdw>
                </a:effectLst>
                <a:latin typeface="Arial" panose="020B0604020202020204" pitchFamily="34" charset="0"/>
              </a:rPr>
              <a:t>Left: experimentally produced ultracataclasite in a sandstone</a:t>
            </a:r>
          </a:p>
        </p:txBody>
      </p:sp>
    </p:spTree>
  </p:cSld>
  <p:clrMapOvr>
    <a:masterClrMapping/>
  </p:clrMapOvr>
  <p:transition spd="slow"/>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C7120914-940C-4C53-9E4F-3414F31D6F77}"/>
              </a:ext>
            </a:extLst>
          </p:cNvPr>
          <p:cNvSpPr>
            <a:spLocks noGrp="1" noChangeArrowheads="1"/>
          </p:cNvSpPr>
          <p:nvPr>
            <p:ph type="title"/>
          </p:nvPr>
        </p:nvSpPr>
        <p:spPr>
          <a:noFill/>
        </p:spPr>
        <p:txBody>
          <a:bodyPr/>
          <a:lstStyle/>
          <a:p>
            <a:r>
              <a:rPr lang="en-GB" altLang="en-US">
                <a:effectLst/>
              </a:rPr>
              <a:t>Brittle fault rocks (pseudotachylytes)</a:t>
            </a:r>
          </a:p>
        </p:txBody>
      </p:sp>
      <p:sp>
        <p:nvSpPr>
          <p:cNvPr id="46083" name="Rectangle 3">
            <a:extLst>
              <a:ext uri="{FF2B5EF4-FFF2-40B4-BE49-F238E27FC236}">
                <a16:creationId xmlns:a16="http://schemas.microsoft.com/office/drawing/2014/main" id="{9E1595A6-1130-4A0C-B71F-2ED5EA0B9E9F}"/>
              </a:ext>
            </a:extLst>
          </p:cNvPr>
          <p:cNvSpPr>
            <a:spLocks noGrp="1" noChangeArrowheads="1"/>
          </p:cNvSpPr>
          <p:nvPr>
            <p:ph type="body" sz="half" idx="1"/>
          </p:nvPr>
        </p:nvSpPr>
        <p:spPr>
          <a:xfrm>
            <a:off x="130175" y="838200"/>
            <a:ext cx="4748213" cy="2960688"/>
          </a:xfrm>
          <a:noFill/>
        </p:spPr>
        <p:txBody>
          <a:bodyPr/>
          <a:lstStyle/>
          <a:p>
            <a:pPr marL="177800" indent="-177800">
              <a:spcBef>
                <a:spcPct val="50000"/>
              </a:spcBef>
            </a:pPr>
            <a:r>
              <a:rPr lang="en-GB" altLang="en-US" sz="1700" dirty="0" err="1">
                <a:solidFill>
                  <a:srgbClr val="FF6600"/>
                </a:solidFill>
                <a:effectLst/>
              </a:rPr>
              <a:t>Pseudotachylytes</a:t>
            </a:r>
            <a:r>
              <a:rPr lang="en-GB" altLang="en-US" sz="1700" dirty="0">
                <a:effectLst/>
              </a:rPr>
              <a:t> are </a:t>
            </a:r>
            <a:r>
              <a:rPr lang="en-GB" altLang="en-US" sz="1700" dirty="0" err="1">
                <a:effectLst/>
              </a:rPr>
              <a:t>cataclasites</a:t>
            </a:r>
            <a:r>
              <a:rPr lang="en-GB" altLang="en-US" sz="1700" dirty="0">
                <a:effectLst/>
              </a:rPr>
              <a:t> that contain dark </a:t>
            </a:r>
            <a:r>
              <a:rPr lang="en-GB" altLang="en-US" sz="1700" dirty="0">
                <a:solidFill>
                  <a:srgbClr val="FF66CC"/>
                </a:solidFill>
                <a:effectLst/>
              </a:rPr>
              <a:t>glass</a:t>
            </a:r>
            <a:r>
              <a:rPr lang="en-GB" altLang="en-US" sz="1700" dirty="0">
                <a:effectLst/>
              </a:rPr>
              <a:t> (or its devitrified product)</a:t>
            </a:r>
          </a:p>
          <a:p>
            <a:pPr marL="177800" indent="-177800">
              <a:spcBef>
                <a:spcPct val="50000"/>
              </a:spcBef>
            </a:pPr>
            <a:r>
              <a:rPr lang="en-GB" altLang="en-US" sz="1700" dirty="0">
                <a:effectLst/>
              </a:rPr>
              <a:t>The glass forms by </a:t>
            </a:r>
            <a:r>
              <a:rPr lang="en-GB" altLang="en-US" sz="1700" dirty="0">
                <a:solidFill>
                  <a:srgbClr val="FF66CC"/>
                </a:solidFill>
                <a:effectLst/>
              </a:rPr>
              <a:t>localized melting</a:t>
            </a:r>
            <a:r>
              <a:rPr lang="en-GB" altLang="en-US" sz="1700" dirty="0">
                <a:effectLst/>
              </a:rPr>
              <a:t> during rapid sliding (earthquakes). This melt may be injected into the wall rock</a:t>
            </a:r>
          </a:p>
          <a:p>
            <a:pPr marL="177800" indent="-177800">
              <a:spcBef>
                <a:spcPct val="50000"/>
              </a:spcBef>
            </a:pPr>
            <a:r>
              <a:rPr lang="en-GB" altLang="en-US" sz="1700" dirty="0" err="1">
                <a:effectLst/>
              </a:rPr>
              <a:t>Pseudotachylytes</a:t>
            </a:r>
            <a:r>
              <a:rPr lang="en-GB" altLang="en-US" sz="1700" dirty="0">
                <a:effectLst/>
              </a:rPr>
              <a:t> typically occur as mm- to cm-wide zones that have sharp contacts with the host rock</a:t>
            </a:r>
          </a:p>
        </p:txBody>
      </p:sp>
      <p:pic>
        <p:nvPicPr>
          <p:cNvPr id="46084" name="Picture 4" descr="14e-GlenCoe">
            <a:extLst>
              <a:ext uri="{FF2B5EF4-FFF2-40B4-BE49-F238E27FC236}">
                <a16:creationId xmlns:a16="http://schemas.microsoft.com/office/drawing/2014/main" id="{74810035-25E0-4D2C-8D01-9F8BD4F5A267}"/>
              </a:ext>
            </a:extLst>
          </p:cNvPr>
          <p:cNvPicPr>
            <a:picLocks noGrp="1" noChangeAspect="1" noChangeArrowheads="1"/>
          </p:cNvPicPr>
          <p:nvPr>
            <p:ph sz="quarter" idx="2"/>
          </p:nvPr>
        </p:nvPicPr>
        <p:blipFill>
          <a:blip r:embed="rId3">
            <a:extLst>
              <a:ext uri="{28A0092B-C50C-407E-A947-70E740481C1C}">
                <a14:useLocalDpi xmlns:a14="http://schemas.microsoft.com/office/drawing/2010/main" val="0"/>
              </a:ext>
            </a:extLst>
          </a:blip>
          <a:srcRect/>
          <a:stretch>
            <a:fillRect/>
          </a:stretch>
        </p:blipFill>
        <p:spPr>
          <a:xfrm>
            <a:off x="5118100" y="944563"/>
            <a:ext cx="3767138" cy="5772150"/>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46085" name="Picture 2" descr="Box01photo.jpg">
            <a:extLst>
              <a:ext uri="{FF2B5EF4-FFF2-40B4-BE49-F238E27FC236}">
                <a16:creationId xmlns:a16="http://schemas.microsoft.com/office/drawing/2014/main" id="{C95DD18D-F2EF-4992-974F-DC7F8764FDCE}"/>
              </a:ext>
            </a:extLst>
          </p:cNvPr>
          <p:cNvPicPr>
            <a:picLocks noGrp="1" noChangeAspect="1"/>
          </p:cNvPicPr>
          <p:nvPr>
            <p:ph sz="quarter" idx="3"/>
          </p:nvPr>
        </p:nvPicPr>
        <p:blipFill>
          <a:blip r:embed="rId4">
            <a:extLst>
              <a:ext uri="{28A0092B-C50C-407E-A947-70E740481C1C}">
                <a14:useLocalDpi xmlns:a14="http://schemas.microsoft.com/office/drawing/2010/main" val="0"/>
              </a:ext>
            </a:extLst>
          </a:blip>
          <a:srcRect/>
          <a:stretch>
            <a:fillRect/>
          </a:stretch>
        </p:blipFill>
        <p:spPr>
          <a:xfrm>
            <a:off x="196850" y="3886200"/>
            <a:ext cx="4702175" cy="1143000"/>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53290" name="Text Box 10">
            <a:extLst>
              <a:ext uri="{FF2B5EF4-FFF2-40B4-BE49-F238E27FC236}">
                <a16:creationId xmlns:a16="http://schemas.microsoft.com/office/drawing/2014/main" id="{F52915DB-3ADC-4A74-93D4-AE1E2E6C14A0}"/>
              </a:ext>
            </a:extLst>
          </p:cNvPr>
          <p:cNvSpPr txBox="1">
            <a:spLocks noChangeArrowheads="1"/>
          </p:cNvSpPr>
          <p:nvPr/>
        </p:nvSpPr>
        <p:spPr bwMode="auto">
          <a:xfrm>
            <a:off x="179388" y="5145088"/>
            <a:ext cx="4697412" cy="347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spcBef>
                <a:spcPct val="50000"/>
              </a:spcBef>
              <a:defRPr/>
            </a:pPr>
            <a:r>
              <a:rPr lang="en-GB" sz="1400">
                <a:solidFill>
                  <a:srgbClr val="FFFF00"/>
                </a:solidFill>
                <a:effectLst>
                  <a:outerShdw blurRad="38100" dist="38100" dir="2700000" algn="tl">
                    <a:srgbClr val="000000"/>
                  </a:outerShdw>
                </a:effectLst>
                <a:latin typeface="Arial" charset="0"/>
              </a:rPr>
              <a:t>Pseudotachylyte injection veins in a protomylonitic gneiss</a:t>
            </a:r>
          </a:p>
        </p:txBody>
      </p:sp>
      <p:sp>
        <p:nvSpPr>
          <p:cNvPr id="353291" name="Text Box 11">
            <a:extLst>
              <a:ext uri="{FF2B5EF4-FFF2-40B4-BE49-F238E27FC236}">
                <a16:creationId xmlns:a16="http://schemas.microsoft.com/office/drawing/2014/main" id="{334A8DEE-235D-4964-9E6B-723B042B7266}"/>
              </a:ext>
            </a:extLst>
          </p:cNvPr>
          <p:cNvSpPr txBox="1">
            <a:spLocks noChangeArrowheads="1"/>
          </p:cNvSpPr>
          <p:nvPr/>
        </p:nvSpPr>
        <p:spPr bwMode="auto">
          <a:xfrm>
            <a:off x="1292225" y="6018213"/>
            <a:ext cx="3709988"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15000"/>
              </a:lnSpc>
              <a:spcBef>
                <a:spcPct val="50000"/>
              </a:spcBef>
            </a:pPr>
            <a:r>
              <a:rPr lang="en-GB" altLang="en-US" sz="1400">
                <a:solidFill>
                  <a:srgbClr val="FFFF00"/>
                </a:solidFill>
                <a:effectLst>
                  <a:outerShdw blurRad="38100" dist="38100" dir="2700000" algn="tl">
                    <a:srgbClr val="000000"/>
                  </a:outerShdw>
                </a:effectLst>
                <a:latin typeface="Arial" panose="020B0604020202020204" pitchFamily="34" charset="0"/>
              </a:rPr>
              <a:t>Pseudotachylyte (or is it an ultracataclasite?) at Stob Mhic Mhartuin, Glen Coe</a:t>
            </a:r>
          </a:p>
        </p:txBody>
      </p:sp>
    </p:spTree>
  </p:cSld>
  <p:clrMapOvr>
    <a:masterClrMapping/>
  </p:clrMapOvr>
  <p:transition spd="slow"/>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F08E6E95-209B-415E-80EB-CD36F672C761}"/>
              </a:ext>
            </a:extLst>
          </p:cNvPr>
          <p:cNvSpPr>
            <a:spLocks noGrp="1" noChangeArrowheads="1"/>
          </p:cNvSpPr>
          <p:nvPr>
            <p:ph type="title"/>
          </p:nvPr>
        </p:nvSpPr>
        <p:spPr>
          <a:noFill/>
        </p:spPr>
        <p:txBody>
          <a:bodyPr/>
          <a:lstStyle/>
          <a:p>
            <a:r>
              <a:rPr lang="en-GB" altLang="en-US">
                <a:effectLst/>
              </a:rPr>
              <a:t>Brittle fault rocks (gouges)</a:t>
            </a:r>
          </a:p>
        </p:txBody>
      </p:sp>
      <p:sp>
        <p:nvSpPr>
          <p:cNvPr id="47107" name="Rectangle 3">
            <a:extLst>
              <a:ext uri="{FF2B5EF4-FFF2-40B4-BE49-F238E27FC236}">
                <a16:creationId xmlns:a16="http://schemas.microsoft.com/office/drawing/2014/main" id="{9C7D8C3D-21EB-4A24-B1EF-D9021862CE6A}"/>
              </a:ext>
            </a:extLst>
          </p:cNvPr>
          <p:cNvSpPr>
            <a:spLocks noGrp="1" noChangeArrowheads="1"/>
          </p:cNvSpPr>
          <p:nvPr>
            <p:ph type="body" idx="1"/>
          </p:nvPr>
        </p:nvSpPr>
        <p:spPr>
          <a:xfrm>
            <a:off x="141288" y="854075"/>
            <a:ext cx="8734425" cy="1543050"/>
          </a:xfrm>
          <a:noFill/>
        </p:spPr>
        <p:txBody>
          <a:bodyPr/>
          <a:lstStyle/>
          <a:p>
            <a:pPr marL="177800" indent="-177800">
              <a:spcBef>
                <a:spcPct val="75000"/>
              </a:spcBef>
            </a:pPr>
            <a:r>
              <a:rPr lang="en-GB" altLang="en-US" sz="1700" dirty="0">
                <a:solidFill>
                  <a:srgbClr val="FF6600"/>
                </a:solidFill>
                <a:effectLst/>
              </a:rPr>
              <a:t>Fault gouges</a:t>
            </a:r>
            <a:r>
              <a:rPr lang="en-GB" altLang="en-US" sz="1700" dirty="0">
                <a:effectLst/>
              </a:rPr>
              <a:t> are </a:t>
            </a:r>
            <a:r>
              <a:rPr lang="en-GB" altLang="en-US" sz="1700" dirty="0">
                <a:solidFill>
                  <a:srgbClr val="FF66CC"/>
                </a:solidFill>
                <a:effectLst/>
              </a:rPr>
              <a:t>fault rocks with less than 30% clasts over 2 mm</a:t>
            </a:r>
            <a:r>
              <a:rPr lang="en-GB" altLang="en-US" sz="1700" dirty="0">
                <a:effectLst/>
              </a:rPr>
              <a:t> that are incohesive at the present outcrop</a:t>
            </a:r>
          </a:p>
          <a:p>
            <a:pPr marL="177800" indent="-177800">
              <a:spcBef>
                <a:spcPct val="50000"/>
              </a:spcBef>
            </a:pPr>
            <a:r>
              <a:rPr lang="en-GB" altLang="en-US" sz="1700" dirty="0">
                <a:effectLst/>
              </a:rPr>
              <a:t>They are a strongly </a:t>
            </a:r>
            <a:r>
              <a:rPr lang="en-GB" altLang="en-US" sz="1700" dirty="0" err="1">
                <a:effectLst/>
              </a:rPr>
              <a:t>comminuted</a:t>
            </a:r>
            <a:r>
              <a:rPr lang="en-GB" altLang="en-US" sz="1700" dirty="0">
                <a:effectLst/>
              </a:rPr>
              <a:t> version of the protolith and may or may not be foliated depending upon their mic</a:t>
            </a:r>
            <a:r>
              <a:rPr lang="en-GB" altLang="en-US" sz="1700" spc="300" dirty="0">
                <a:effectLst/>
              </a:rPr>
              <a:t>a/</a:t>
            </a:r>
            <a:r>
              <a:rPr lang="en-GB" altLang="en-US" sz="1700" dirty="0">
                <a:effectLst/>
              </a:rPr>
              <a:t>clay mineral content</a:t>
            </a:r>
          </a:p>
        </p:txBody>
      </p:sp>
      <p:pic>
        <p:nvPicPr>
          <p:cNvPr id="47108" name="Picture 4" descr="14b1-Carboneras">
            <a:extLst>
              <a:ext uri="{FF2B5EF4-FFF2-40B4-BE49-F238E27FC236}">
                <a16:creationId xmlns:a16="http://schemas.microsoft.com/office/drawing/2014/main" id="{AA26372A-CEE1-4B16-85B6-A2665275A32F}"/>
              </a:ext>
            </a:extLst>
          </p:cNvPr>
          <p:cNvPicPr>
            <a:picLocks noChangeAspect="1" noChangeArrowheads="1"/>
          </p:cNvPicPr>
          <p:nvPr/>
        </p:nvPicPr>
        <p:blipFill>
          <a:blip r:embed="rId3">
            <a:lum bright="-10000" contrast="-20000"/>
            <a:extLst>
              <a:ext uri="{28A0092B-C50C-407E-A947-70E740481C1C}">
                <a14:useLocalDpi xmlns:a14="http://schemas.microsoft.com/office/drawing/2010/main" val="0"/>
              </a:ext>
            </a:extLst>
          </a:blip>
          <a:srcRect/>
          <a:stretch>
            <a:fillRect/>
          </a:stretch>
        </p:blipFill>
        <p:spPr bwMode="auto">
          <a:xfrm>
            <a:off x="363538" y="2609850"/>
            <a:ext cx="6672262" cy="3851275"/>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239622" name="Text Box 6">
            <a:extLst>
              <a:ext uri="{FF2B5EF4-FFF2-40B4-BE49-F238E27FC236}">
                <a16:creationId xmlns:a16="http://schemas.microsoft.com/office/drawing/2014/main" id="{CEF37DD0-B9A6-4E78-BC60-552EB9F25224}"/>
              </a:ext>
            </a:extLst>
          </p:cNvPr>
          <p:cNvSpPr txBox="1">
            <a:spLocks noChangeArrowheads="1"/>
          </p:cNvSpPr>
          <p:nvPr/>
        </p:nvSpPr>
        <p:spPr bwMode="auto">
          <a:xfrm>
            <a:off x="7178675" y="5230813"/>
            <a:ext cx="1631950" cy="1314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15000"/>
              </a:lnSpc>
              <a:spcBef>
                <a:spcPct val="50000"/>
              </a:spcBef>
            </a:pPr>
            <a:r>
              <a:rPr lang="en-GB" altLang="en-US" sz="1400">
                <a:solidFill>
                  <a:srgbClr val="FFFF00"/>
                </a:solidFill>
                <a:effectLst>
                  <a:outerShdw blurRad="38100" dist="38100" dir="2700000" algn="tl">
                    <a:srgbClr val="000000"/>
                  </a:outerShdw>
                </a:effectLst>
                <a:latin typeface="Arial" panose="020B0604020202020204" pitchFamily="34" charset="0"/>
              </a:rPr>
              <a:t>Coloured, clay-bearing fault gouges in the Carboneras Fault Zone, SE Spain</a:t>
            </a:r>
          </a:p>
        </p:txBody>
      </p:sp>
    </p:spTree>
  </p:cSld>
  <p:clrMapOvr>
    <a:masterClrMapping/>
  </p:clrMapOvr>
  <p:transition spd="slow"/>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1A49117F-1445-433F-88E2-5439D53257D0}"/>
              </a:ext>
            </a:extLst>
          </p:cNvPr>
          <p:cNvSpPr>
            <a:spLocks noGrp="1" noChangeArrowheads="1"/>
          </p:cNvSpPr>
          <p:nvPr>
            <p:ph type="title"/>
          </p:nvPr>
        </p:nvSpPr>
        <p:spPr>
          <a:noFill/>
        </p:spPr>
        <p:txBody>
          <a:bodyPr/>
          <a:lstStyle/>
          <a:p>
            <a:r>
              <a:rPr lang="en-GB" altLang="en-US">
                <a:effectLst/>
              </a:rPr>
              <a:t>Fabrics in clay-bearing fault gouges</a:t>
            </a:r>
          </a:p>
        </p:txBody>
      </p:sp>
      <p:sp>
        <p:nvSpPr>
          <p:cNvPr id="48131" name="Rectangle 3">
            <a:extLst>
              <a:ext uri="{FF2B5EF4-FFF2-40B4-BE49-F238E27FC236}">
                <a16:creationId xmlns:a16="http://schemas.microsoft.com/office/drawing/2014/main" id="{019B33CA-CBF6-4F12-8D44-1176F312E1F4}"/>
              </a:ext>
            </a:extLst>
          </p:cNvPr>
          <p:cNvSpPr>
            <a:spLocks noGrp="1" noChangeArrowheads="1"/>
          </p:cNvSpPr>
          <p:nvPr>
            <p:ph type="body" sz="half" idx="1"/>
          </p:nvPr>
        </p:nvSpPr>
        <p:spPr>
          <a:xfrm>
            <a:off x="120650" y="809625"/>
            <a:ext cx="8901113" cy="708025"/>
          </a:xfrm>
          <a:noFill/>
        </p:spPr>
        <p:txBody>
          <a:bodyPr/>
          <a:lstStyle/>
          <a:p>
            <a:pPr marL="177800" indent="-177800">
              <a:spcBef>
                <a:spcPct val="75000"/>
              </a:spcBef>
            </a:pPr>
            <a:r>
              <a:rPr lang="en-GB" altLang="en-US" sz="1700">
                <a:effectLst/>
              </a:rPr>
              <a:t>Clay-bearing fault gouges have a range of fabric elements that can serve as shear sense indicators. The most important are:</a:t>
            </a:r>
          </a:p>
        </p:txBody>
      </p:sp>
      <p:pic>
        <p:nvPicPr>
          <p:cNvPr id="48132" name="Picture 10">
            <a:extLst>
              <a:ext uri="{FF2B5EF4-FFF2-40B4-BE49-F238E27FC236}">
                <a16:creationId xmlns:a16="http://schemas.microsoft.com/office/drawing/2014/main" id="{F921C37D-B417-4598-ADCA-292BB4DC59B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70575" y="1333500"/>
            <a:ext cx="2992438" cy="1619250"/>
          </a:xfrm>
          <a:prstGeom prst="rect">
            <a:avLst/>
          </a:prstGeom>
          <a:noFill/>
          <a:ln w="38100">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63532" name="Text Box 12">
            <a:extLst>
              <a:ext uri="{FF2B5EF4-FFF2-40B4-BE49-F238E27FC236}">
                <a16:creationId xmlns:a16="http://schemas.microsoft.com/office/drawing/2014/main" id="{9EBB969E-FC75-4E8E-A28D-B047CDF7CE3A}"/>
              </a:ext>
            </a:extLst>
          </p:cNvPr>
          <p:cNvSpPr txBox="1">
            <a:spLocks noChangeArrowheads="1"/>
          </p:cNvSpPr>
          <p:nvPr/>
        </p:nvSpPr>
        <p:spPr bwMode="auto">
          <a:xfrm>
            <a:off x="298450" y="1544442"/>
            <a:ext cx="5449888" cy="1531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268288" indent="-268288">
              <a:defRPr sz="1600">
                <a:solidFill>
                  <a:schemeClr val="tx1"/>
                </a:solidFill>
                <a:latin typeface="Helvetica" charset="0"/>
              </a:defRPr>
            </a:lvl1pPr>
            <a:lvl2pPr>
              <a:defRPr sz="1600">
                <a:solidFill>
                  <a:schemeClr val="tx1"/>
                </a:solidFill>
                <a:latin typeface="Helvetica" charset="0"/>
              </a:defRPr>
            </a:lvl2pPr>
            <a:lvl3pPr>
              <a:defRPr sz="1600">
                <a:solidFill>
                  <a:schemeClr val="tx1"/>
                </a:solidFill>
                <a:latin typeface="Helvetica" charset="0"/>
              </a:defRPr>
            </a:lvl3pPr>
            <a:lvl4pPr>
              <a:defRPr sz="1600">
                <a:solidFill>
                  <a:schemeClr val="tx1"/>
                </a:solidFill>
                <a:latin typeface="Helvetica" charset="0"/>
              </a:defRPr>
            </a:lvl4pPr>
            <a:lvl5pPr>
              <a:defRPr sz="1600">
                <a:solidFill>
                  <a:schemeClr val="tx1"/>
                </a:solidFill>
                <a:latin typeface="Helvetica" charset="0"/>
              </a:defRPr>
            </a:lvl5pPr>
            <a:lvl6pPr eaLnBrk="0" fontAlgn="base" hangingPunct="0">
              <a:spcBef>
                <a:spcPct val="20000"/>
              </a:spcBef>
              <a:spcAft>
                <a:spcPct val="0"/>
              </a:spcAft>
              <a:buClr>
                <a:schemeClr val="accent2"/>
              </a:buClr>
              <a:defRPr sz="1600">
                <a:solidFill>
                  <a:schemeClr val="tx1"/>
                </a:solidFill>
                <a:latin typeface="Helvetica" charset="0"/>
              </a:defRPr>
            </a:lvl6pPr>
            <a:lvl7pPr eaLnBrk="0" fontAlgn="base" hangingPunct="0">
              <a:spcBef>
                <a:spcPct val="20000"/>
              </a:spcBef>
              <a:spcAft>
                <a:spcPct val="0"/>
              </a:spcAft>
              <a:buClr>
                <a:schemeClr val="accent2"/>
              </a:buClr>
              <a:defRPr sz="1600">
                <a:solidFill>
                  <a:schemeClr val="tx1"/>
                </a:solidFill>
                <a:latin typeface="Helvetica" charset="0"/>
              </a:defRPr>
            </a:lvl7pPr>
            <a:lvl8pPr eaLnBrk="0" fontAlgn="base" hangingPunct="0">
              <a:spcBef>
                <a:spcPct val="20000"/>
              </a:spcBef>
              <a:spcAft>
                <a:spcPct val="0"/>
              </a:spcAft>
              <a:buClr>
                <a:schemeClr val="accent2"/>
              </a:buClr>
              <a:defRPr sz="1600">
                <a:solidFill>
                  <a:schemeClr val="tx1"/>
                </a:solidFill>
                <a:latin typeface="Helvetica" charset="0"/>
              </a:defRPr>
            </a:lvl8pPr>
            <a:lvl9pPr eaLnBrk="0" fontAlgn="base" hangingPunct="0">
              <a:spcBef>
                <a:spcPct val="20000"/>
              </a:spcBef>
              <a:spcAft>
                <a:spcPct val="0"/>
              </a:spcAft>
              <a:buClr>
                <a:schemeClr val="accent2"/>
              </a:buClr>
              <a:defRPr sz="1600">
                <a:solidFill>
                  <a:schemeClr val="tx1"/>
                </a:solidFill>
                <a:latin typeface="Helvetica" charset="0"/>
              </a:defRPr>
            </a:lvl9pPr>
          </a:lstStyle>
          <a:p>
            <a:pPr>
              <a:spcBef>
                <a:spcPct val="50000"/>
              </a:spcBef>
              <a:buClr>
                <a:schemeClr val="tx1"/>
              </a:buClr>
              <a:buFont typeface="Wingdings" pitchFamily="2" charset="2"/>
              <a:buChar char="Ø"/>
              <a:defRPr/>
            </a:pPr>
            <a:r>
              <a:rPr lang="en-GB" sz="1700" dirty="0">
                <a:solidFill>
                  <a:srgbClr val="FF6600"/>
                </a:solidFill>
                <a:effectLst>
                  <a:outerShdw blurRad="38100" dist="38100" dir="2700000" algn="tl">
                    <a:srgbClr val="000000"/>
                  </a:outerShdw>
                </a:effectLst>
                <a:latin typeface="Arial" charset="0"/>
              </a:rPr>
              <a:t>P-foliation</a:t>
            </a:r>
            <a:r>
              <a:rPr lang="en-GB" sz="1700" dirty="0">
                <a:effectLst>
                  <a:outerShdw blurRad="38100" dist="38100" dir="2700000" algn="tl">
                    <a:srgbClr val="000000"/>
                  </a:outerShdw>
                </a:effectLst>
                <a:latin typeface="Arial" charset="0"/>
              </a:rPr>
              <a:t> due to the alignment of platy minerals</a:t>
            </a:r>
          </a:p>
          <a:p>
            <a:pPr>
              <a:spcBef>
                <a:spcPct val="50000"/>
              </a:spcBef>
              <a:buClr>
                <a:schemeClr val="tx1"/>
              </a:buClr>
              <a:buFont typeface="Wingdings" pitchFamily="2" charset="2"/>
              <a:buChar char="Ø"/>
              <a:defRPr/>
            </a:pPr>
            <a:r>
              <a:rPr lang="en-GB" sz="1700" dirty="0">
                <a:solidFill>
                  <a:srgbClr val="FF6600"/>
                </a:solidFill>
                <a:effectLst>
                  <a:outerShdw blurRad="38100" dist="38100" dir="2700000" algn="tl">
                    <a:srgbClr val="000000"/>
                  </a:outerShdw>
                </a:effectLst>
                <a:latin typeface="Arial" charset="0"/>
              </a:rPr>
              <a:t>R</a:t>
            </a:r>
            <a:r>
              <a:rPr lang="en-GB" sz="1700" baseline="-25000" dirty="0">
                <a:solidFill>
                  <a:srgbClr val="FF6600"/>
                </a:solidFill>
                <a:effectLst>
                  <a:outerShdw blurRad="38100" dist="38100" dir="2700000" algn="tl">
                    <a:srgbClr val="000000"/>
                  </a:outerShdw>
                </a:effectLst>
                <a:latin typeface="Arial" charset="0"/>
              </a:rPr>
              <a:t>1</a:t>
            </a:r>
            <a:r>
              <a:rPr lang="en-GB" sz="1700" dirty="0">
                <a:solidFill>
                  <a:srgbClr val="FF6600"/>
                </a:solidFill>
                <a:effectLst>
                  <a:outerShdw blurRad="38100" dist="38100" dir="2700000" algn="tl">
                    <a:srgbClr val="000000"/>
                  </a:outerShdw>
                </a:effectLst>
                <a:latin typeface="Arial" charset="0"/>
              </a:rPr>
              <a:t> Riedel shears</a:t>
            </a:r>
            <a:r>
              <a:rPr lang="en-GB" sz="1700" dirty="0">
                <a:effectLst>
                  <a:outerShdw blurRad="38100" dist="38100" dir="2700000" algn="tl">
                    <a:srgbClr val="000000"/>
                  </a:outerShdw>
                </a:effectLst>
                <a:latin typeface="Arial" charset="0"/>
              </a:rPr>
              <a:t> with slip synthetic to shear sense</a:t>
            </a:r>
          </a:p>
          <a:p>
            <a:pPr>
              <a:spcBef>
                <a:spcPct val="50000"/>
              </a:spcBef>
              <a:buClr>
                <a:schemeClr val="tx1"/>
              </a:buClr>
              <a:buFont typeface="Wingdings" pitchFamily="2" charset="2"/>
              <a:buChar char="Ø"/>
              <a:defRPr/>
            </a:pPr>
            <a:r>
              <a:rPr lang="en-GB" sz="1700" dirty="0">
                <a:solidFill>
                  <a:srgbClr val="FF6600"/>
                </a:solidFill>
                <a:effectLst>
                  <a:outerShdw blurRad="38100" dist="38100" dir="2700000" algn="tl">
                    <a:srgbClr val="000000"/>
                  </a:outerShdw>
                </a:effectLst>
                <a:latin typeface="Arial" charset="0"/>
              </a:rPr>
              <a:t>Y-shears</a:t>
            </a:r>
            <a:r>
              <a:rPr lang="en-GB" sz="1700" dirty="0">
                <a:effectLst>
                  <a:outerShdw blurRad="38100" dist="38100" dir="2700000" algn="tl">
                    <a:srgbClr val="000000"/>
                  </a:outerShdw>
                </a:effectLst>
                <a:latin typeface="Arial" charset="0"/>
              </a:rPr>
              <a:t> parallel to the shear zone walls</a:t>
            </a:r>
          </a:p>
          <a:p>
            <a:pPr>
              <a:spcBef>
                <a:spcPct val="50000"/>
              </a:spcBef>
              <a:buClr>
                <a:schemeClr val="tx1"/>
              </a:buClr>
              <a:buFont typeface="Wingdings" pitchFamily="2" charset="2"/>
              <a:buChar char="Ø"/>
              <a:defRPr/>
            </a:pPr>
            <a:r>
              <a:rPr lang="en-GB" sz="1700" dirty="0">
                <a:solidFill>
                  <a:srgbClr val="FF6600"/>
                </a:solidFill>
                <a:effectLst>
                  <a:outerShdw blurRad="38100" dist="38100" dir="2700000" algn="tl">
                    <a:srgbClr val="000000"/>
                  </a:outerShdw>
                </a:effectLst>
                <a:latin typeface="Arial" charset="0"/>
              </a:rPr>
              <a:t>B-shears</a:t>
            </a:r>
            <a:r>
              <a:rPr lang="en-GB" sz="1700" dirty="0">
                <a:effectLst>
                  <a:outerShdw blurRad="38100" dist="38100" dir="2700000" algn="tl">
                    <a:srgbClr val="000000"/>
                  </a:outerShdw>
                </a:effectLst>
                <a:latin typeface="Arial" charset="0"/>
              </a:rPr>
              <a:t> that run along the shear zone walls</a:t>
            </a:r>
          </a:p>
        </p:txBody>
      </p:sp>
      <p:sp>
        <p:nvSpPr>
          <p:cNvPr id="363533" name="Text Box 13">
            <a:extLst>
              <a:ext uri="{FF2B5EF4-FFF2-40B4-BE49-F238E27FC236}">
                <a16:creationId xmlns:a16="http://schemas.microsoft.com/office/drawing/2014/main" id="{BBD69B03-A278-4568-A28A-39F615905D76}"/>
              </a:ext>
            </a:extLst>
          </p:cNvPr>
          <p:cNvSpPr txBox="1">
            <a:spLocks noChangeArrowheads="1"/>
          </p:cNvSpPr>
          <p:nvPr/>
        </p:nvSpPr>
        <p:spPr bwMode="auto">
          <a:xfrm>
            <a:off x="107950" y="3156146"/>
            <a:ext cx="8875713" cy="1025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9388" indent="-179388">
              <a:defRPr sz="1600">
                <a:solidFill>
                  <a:schemeClr val="tx1"/>
                </a:solidFill>
                <a:latin typeface="Helvetica" charset="0"/>
              </a:defRPr>
            </a:lvl1pPr>
            <a:lvl2pPr>
              <a:defRPr sz="1600">
                <a:solidFill>
                  <a:schemeClr val="tx1"/>
                </a:solidFill>
                <a:latin typeface="Helvetica" charset="0"/>
              </a:defRPr>
            </a:lvl2pPr>
            <a:lvl3pPr>
              <a:defRPr sz="1600">
                <a:solidFill>
                  <a:schemeClr val="tx1"/>
                </a:solidFill>
                <a:latin typeface="Helvetica" charset="0"/>
              </a:defRPr>
            </a:lvl3pPr>
            <a:lvl4pPr>
              <a:defRPr sz="1600">
                <a:solidFill>
                  <a:schemeClr val="tx1"/>
                </a:solidFill>
                <a:latin typeface="Helvetica" charset="0"/>
              </a:defRPr>
            </a:lvl4pPr>
            <a:lvl5pPr>
              <a:defRPr sz="1600">
                <a:solidFill>
                  <a:schemeClr val="tx1"/>
                </a:solidFill>
                <a:latin typeface="Helvetica" charset="0"/>
              </a:defRPr>
            </a:lvl5pPr>
            <a:lvl6pPr eaLnBrk="0" fontAlgn="base" hangingPunct="0">
              <a:spcBef>
                <a:spcPct val="20000"/>
              </a:spcBef>
              <a:spcAft>
                <a:spcPct val="0"/>
              </a:spcAft>
              <a:buClr>
                <a:schemeClr val="accent2"/>
              </a:buClr>
              <a:defRPr sz="1600">
                <a:solidFill>
                  <a:schemeClr val="tx1"/>
                </a:solidFill>
                <a:latin typeface="Helvetica" charset="0"/>
              </a:defRPr>
            </a:lvl6pPr>
            <a:lvl7pPr eaLnBrk="0" fontAlgn="base" hangingPunct="0">
              <a:spcBef>
                <a:spcPct val="20000"/>
              </a:spcBef>
              <a:spcAft>
                <a:spcPct val="0"/>
              </a:spcAft>
              <a:buClr>
                <a:schemeClr val="accent2"/>
              </a:buClr>
              <a:defRPr sz="1600">
                <a:solidFill>
                  <a:schemeClr val="tx1"/>
                </a:solidFill>
                <a:latin typeface="Helvetica" charset="0"/>
              </a:defRPr>
            </a:lvl7pPr>
            <a:lvl8pPr eaLnBrk="0" fontAlgn="base" hangingPunct="0">
              <a:spcBef>
                <a:spcPct val="20000"/>
              </a:spcBef>
              <a:spcAft>
                <a:spcPct val="0"/>
              </a:spcAft>
              <a:buClr>
                <a:schemeClr val="accent2"/>
              </a:buClr>
              <a:defRPr sz="1600">
                <a:solidFill>
                  <a:schemeClr val="tx1"/>
                </a:solidFill>
                <a:latin typeface="Helvetica" charset="0"/>
              </a:defRPr>
            </a:lvl8pPr>
            <a:lvl9pPr eaLnBrk="0" fontAlgn="base" hangingPunct="0">
              <a:spcBef>
                <a:spcPct val="20000"/>
              </a:spcBef>
              <a:spcAft>
                <a:spcPct val="0"/>
              </a:spcAft>
              <a:buClr>
                <a:schemeClr val="accent2"/>
              </a:buClr>
              <a:defRPr sz="1600">
                <a:solidFill>
                  <a:schemeClr val="tx1"/>
                </a:solidFill>
                <a:latin typeface="Helvetica" charset="0"/>
              </a:defRPr>
            </a:lvl9pPr>
          </a:lstStyle>
          <a:p>
            <a:pPr>
              <a:lnSpc>
                <a:spcPct val="120000"/>
              </a:lnSpc>
              <a:spcBef>
                <a:spcPct val="50000"/>
              </a:spcBef>
              <a:buClr>
                <a:schemeClr val="tx1"/>
              </a:buClr>
              <a:buFontTx/>
              <a:buChar char="•"/>
              <a:defRPr/>
            </a:pPr>
            <a:r>
              <a:rPr lang="en-GB" sz="1700" dirty="0">
                <a:effectLst>
                  <a:outerShdw blurRad="38100" dist="38100" dir="2700000" algn="tl">
                    <a:srgbClr val="000000"/>
                  </a:outerShdw>
                </a:effectLst>
                <a:latin typeface="Arial" charset="0"/>
              </a:rPr>
              <a:t>Other subsidiary shears (</a:t>
            </a:r>
            <a:r>
              <a:rPr lang="en-GB" sz="1700" dirty="0">
                <a:solidFill>
                  <a:srgbClr val="FF66CC"/>
                </a:solidFill>
                <a:effectLst>
                  <a:outerShdw blurRad="38100" dist="38100" dir="2700000" algn="tl">
                    <a:srgbClr val="000000"/>
                  </a:outerShdw>
                </a:effectLst>
                <a:latin typeface="Arial" charset="0"/>
              </a:rPr>
              <a:t>R</a:t>
            </a:r>
            <a:r>
              <a:rPr lang="en-GB" sz="1700" baseline="-25000" dirty="0">
                <a:solidFill>
                  <a:srgbClr val="FF66CC"/>
                </a:solidFill>
                <a:effectLst>
                  <a:outerShdw blurRad="38100" dist="38100" dir="2700000" algn="tl">
                    <a:srgbClr val="000000"/>
                  </a:outerShdw>
                </a:effectLst>
                <a:latin typeface="Arial" charset="0"/>
              </a:rPr>
              <a:t>2</a:t>
            </a:r>
            <a:r>
              <a:rPr lang="en-GB" sz="1700" dirty="0">
                <a:solidFill>
                  <a:srgbClr val="FF66CC"/>
                </a:solidFill>
                <a:effectLst>
                  <a:outerShdw blurRad="38100" dist="38100" dir="2700000" algn="tl">
                    <a:srgbClr val="000000"/>
                  </a:outerShdw>
                </a:effectLst>
                <a:latin typeface="Arial" charset="0"/>
              </a:rPr>
              <a:t> Riedel shears</a:t>
            </a:r>
            <a:r>
              <a:rPr lang="en-GB" sz="1700" dirty="0">
                <a:effectLst>
                  <a:outerShdw blurRad="38100" dist="38100" dir="2700000" algn="tl">
                    <a:srgbClr val="000000"/>
                  </a:outerShdw>
                </a:effectLst>
                <a:latin typeface="Arial" charset="0"/>
              </a:rPr>
              <a:t>; </a:t>
            </a:r>
            <a:r>
              <a:rPr lang="en-GB" sz="1700" dirty="0">
                <a:solidFill>
                  <a:srgbClr val="FF66CC"/>
                </a:solidFill>
                <a:effectLst>
                  <a:outerShdw blurRad="38100" dist="38100" dir="2700000" algn="tl">
                    <a:srgbClr val="000000"/>
                  </a:outerShdw>
                </a:effectLst>
                <a:latin typeface="Arial" charset="0"/>
              </a:rPr>
              <a:t>P-shears</a:t>
            </a:r>
            <a:r>
              <a:rPr lang="en-GB" sz="1700" dirty="0">
                <a:effectLst>
                  <a:outerShdw blurRad="38100" dist="38100" dir="2700000" algn="tl">
                    <a:srgbClr val="000000"/>
                  </a:outerShdw>
                </a:effectLst>
                <a:latin typeface="Arial" charset="0"/>
              </a:rPr>
              <a:t>; </a:t>
            </a:r>
            <a:r>
              <a:rPr lang="en-GB" sz="1700" dirty="0">
                <a:solidFill>
                  <a:srgbClr val="FF66CC"/>
                </a:solidFill>
                <a:effectLst>
                  <a:outerShdw blurRad="38100" dist="38100" dir="2700000" algn="tl">
                    <a:srgbClr val="000000"/>
                  </a:outerShdw>
                </a:effectLst>
                <a:latin typeface="Arial" charset="0"/>
              </a:rPr>
              <a:t>X-shears</a:t>
            </a:r>
            <a:r>
              <a:rPr lang="en-GB" sz="1700" dirty="0">
                <a:effectLst>
                  <a:outerShdw blurRad="38100" dist="38100" dir="2700000" algn="tl">
                    <a:srgbClr val="000000"/>
                  </a:outerShdw>
                </a:effectLst>
                <a:latin typeface="Arial" charset="0"/>
              </a:rPr>
              <a:t>), fractures in the tension gash orientation (</a:t>
            </a:r>
            <a:r>
              <a:rPr lang="en-GB" sz="1700" dirty="0">
                <a:solidFill>
                  <a:srgbClr val="FF66CC"/>
                </a:solidFill>
                <a:effectLst>
                  <a:outerShdw blurRad="38100" dist="38100" dir="2700000" algn="tl">
                    <a:srgbClr val="000000"/>
                  </a:outerShdw>
                </a:effectLst>
                <a:latin typeface="Arial" charset="0"/>
              </a:rPr>
              <a:t>T-fractures</a:t>
            </a:r>
            <a:r>
              <a:rPr lang="en-GB" sz="1700" dirty="0">
                <a:effectLst>
                  <a:outerShdw blurRad="38100" dist="38100" dir="2700000" algn="tl">
                    <a:srgbClr val="000000"/>
                  </a:outerShdw>
                </a:effectLst>
                <a:latin typeface="Arial" charset="0"/>
              </a:rPr>
              <a:t>), and fractured and </a:t>
            </a:r>
            <a:r>
              <a:rPr lang="en-GB" sz="1700" dirty="0" err="1">
                <a:effectLst>
                  <a:outerShdw blurRad="38100" dist="38100" dir="2700000" algn="tl">
                    <a:srgbClr val="000000"/>
                  </a:outerShdw>
                </a:effectLst>
                <a:latin typeface="Arial" charset="0"/>
              </a:rPr>
              <a:t>boudinaged</a:t>
            </a:r>
            <a:r>
              <a:rPr lang="en-GB" sz="1700" dirty="0">
                <a:effectLst>
                  <a:outerShdw blurRad="38100" dist="38100" dir="2700000" algn="tl">
                    <a:srgbClr val="000000"/>
                  </a:outerShdw>
                </a:effectLst>
                <a:latin typeface="Arial" charset="0"/>
              </a:rPr>
              <a:t> clasts with the same geometries as described for </a:t>
            </a:r>
            <a:r>
              <a:rPr lang="en-GB" sz="1700" dirty="0" err="1">
                <a:effectLst>
                  <a:outerShdw blurRad="38100" dist="38100" dir="2700000" algn="tl">
                    <a:srgbClr val="000000"/>
                  </a:outerShdw>
                </a:effectLst>
                <a:latin typeface="Arial" charset="0"/>
              </a:rPr>
              <a:t>mylonites</a:t>
            </a:r>
            <a:r>
              <a:rPr lang="en-GB" sz="1700" dirty="0">
                <a:effectLst>
                  <a:outerShdw blurRad="38100" dist="38100" dir="2700000" algn="tl">
                    <a:srgbClr val="000000"/>
                  </a:outerShdw>
                </a:effectLst>
                <a:latin typeface="Arial" charset="0"/>
              </a:rPr>
              <a:t>, may also be present</a:t>
            </a:r>
          </a:p>
        </p:txBody>
      </p:sp>
      <p:pic>
        <p:nvPicPr>
          <p:cNvPr id="48135" name="Picture 15">
            <a:extLst>
              <a:ext uri="{FF2B5EF4-FFF2-40B4-BE49-F238E27FC236}">
                <a16:creationId xmlns:a16="http://schemas.microsoft.com/office/drawing/2014/main" id="{11E43E89-A834-434C-9DC4-8B7467ABEE65}"/>
              </a:ext>
            </a:extLst>
          </p:cNvPr>
          <p:cNvPicPr>
            <a:picLocks noGrp="1" noChangeAspect="1" noChangeArrowheads="1"/>
          </p:cNvPicPr>
          <p:nvPr>
            <p:ph sz="quarter" idx="2"/>
          </p:nvPr>
        </p:nvPicPr>
        <p:blipFill>
          <a:blip r:embed="rId4">
            <a:extLst>
              <a:ext uri="{28A0092B-C50C-407E-A947-70E740481C1C}">
                <a14:useLocalDpi xmlns:a14="http://schemas.microsoft.com/office/drawing/2010/main" val="0"/>
              </a:ext>
            </a:extLst>
          </a:blip>
          <a:srcRect/>
          <a:stretch>
            <a:fillRect/>
          </a:stretch>
        </p:blipFill>
        <p:spPr>
          <a:xfrm>
            <a:off x="1579563" y="4343944"/>
            <a:ext cx="5008562" cy="2319337"/>
          </a:xfrm>
          <a:noFill/>
          <a:ln w="38100" cap="flat">
            <a:solidFill>
              <a:schemeClr val="bg2"/>
            </a:solidFill>
            <a:miter lim="800000"/>
            <a:headEnd/>
            <a:tailEnd/>
          </a:ln>
        </p:spPr>
      </p:pic>
      <p:sp>
        <p:nvSpPr>
          <p:cNvPr id="363542" name="Freeform 22">
            <a:extLst>
              <a:ext uri="{FF2B5EF4-FFF2-40B4-BE49-F238E27FC236}">
                <a16:creationId xmlns:a16="http://schemas.microsoft.com/office/drawing/2014/main" id="{7EC83DA4-3008-4751-AD2A-C2C175DF1CFC}"/>
              </a:ext>
            </a:extLst>
          </p:cNvPr>
          <p:cNvSpPr>
            <a:spLocks/>
          </p:cNvSpPr>
          <p:nvPr/>
        </p:nvSpPr>
        <p:spPr bwMode="auto">
          <a:xfrm>
            <a:off x="8324850" y="2473325"/>
            <a:ext cx="469900" cy="101600"/>
          </a:xfrm>
          <a:custGeom>
            <a:avLst/>
            <a:gdLst>
              <a:gd name="T0" fmla="*/ 260 w 260"/>
              <a:gd name="T1" fmla="*/ 0 h 56"/>
              <a:gd name="T2" fmla="*/ 0 w 260"/>
              <a:gd name="T3" fmla="*/ 0 h 56"/>
              <a:gd name="T4" fmla="*/ 52 w 260"/>
              <a:gd name="T5" fmla="*/ 56 h 56"/>
            </a:gdLst>
            <a:ahLst/>
            <a:cxnLst>
              <a:cxn ang="0">
                <a:pos x="T0" y="T1"/>
              </a:cxn>
              <a:cxn ang="0">
                <a:pos x="T2" y="T3"/>
              </a:cxn>
              <a:cxn ang="0">
                <a:pos x="T4" y="T5"/>
              </a:cxn>
            </a:cxnLst>
            <a:rect l="0" t="0" r="r" b="b"/>
            <a:pathLst>
              <a:path w="260" h="56">
                <a:moveTo>
                  <a:pt x="260" y="0"/>
                </a:moveTo>
                <a:lnTo>
                  <a:pt x="0" y="0"/>
                </a:lnTo>
                <a:lnTo>
                  <a:pt x="52" y="56"/>
                </a:lnTo>
              </a:path>
            </a:pathLst>
          </a:custGeom>
          <a:noFill/>
          <a:ln w="28575" cap="flat" cmpd="sng">
            <a:solidFill>
              <a:schemeClr val="bg2"/>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GB">
              <a:latin typeface="Helvetica" charset="0"/>
            </a:endParaRPr>
          </a:p>
        </p:txBody>
      </p:sp>
      <p:sp>
        <p:nvSpPr>
          <p:cNvPr id="363543" name="Freeform 23">
            <a:extLst>
              <a:ext uri="{FF2B5EF4-FFF2-40B4-BE49-F238E27FC236}">
                <a16:creationId xmlns:a16="http://schemas.microsoft.com/office/drawing/2014/main" id="{CE87ACEA-B4FE-4B4F-B9FD-F5671296A3E2}"/>
              </a:ext>
            </a:extLst>
          </p:cNvPr>
          <p:cNvSpPr>
            <a:spLocks/>
          </p:cNvSpPr>
          <p:nvPr/>
        </p:nvSpPr>
        <p:spPr bwMode="auto">
          <a:xfrm rot="10800000">
            <a:off x="8245475" y="1609725"/>
            <a:ext cx="517525" cy="98425"/>
          </a:xfrm>
          <a:custGeom>
            <a:avLst/>
            <a:gdLst>
              <a:gd name="T0" fmla="*/ 260 w 260"/>
              <a:gd name="T1" fmla="*/ 0 h 56"/>
              <a:gd name="T2" fmla="*/ 0 w 260"/>
              <a:gd name="T3" fmla="*/ 0 h 56"/>
              <a:gd name="T4" fmla="*/ 52 w 260"/>
              <a:gd name="T5" fmla="*/ 56 h 56"/>
            </a:gdLst>
            <a:ahLst/>
            <a:cxnLst>
              <a:cxn ang="0">
                <a:pos x="T0" y="T1"/>
              </a:cxn>
              <a:cxn ang="0">
                <a:pos x="T2" y="T3"/>
              </a:cxn>
              <a:cxn ang="0">
                <a:pos x="T4" y="T5"/>
              </a:cxn>
            </a:cxnLst>
            <a:rect l="0" t="0" r="r" b="b"/>
            <a:pathLst>
              <a:path w="260" h="56">
                <a:moveTo>
                  <a:pt x="260" y="0"/>
                </a:moveTo>
                <a:lnTo>
                  <a:pt x="0" y="0"/>
                </a:lnTo>
                <a:lnTo>
                  <a:pt x="52" y="56"/>
                </a:lnTo>
              </a:path>
            </a:pathLst>
          </a:custGeom>
          <a:noFill/>
          <a:ln w="28575" cap="flat" cmpd="sng">
            <a:solidFill>
              <a:schemeClr val="bg2"/>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GB">
              <a:latin typeface="Helvetica" charset="0"/>
            </a:endParaRPr>
          </a:p>
        </p:txBody>
      </p:sp>
      <p:sp>
        <p:nvSpPr>
          <p:cNvPr id="10" name="Text Box 21">
            <a:extLst>
              <a:ext uri="{FF2B5EF4-FFF2-40B4-BE49-F238E27FC236}">
                <a16:creationId xmlns:a16="http://schemas.microsoft.com/office/drawing/2014/main" id="{C59BC321-5DD1-4169-9AEF-D14FD7F89F65}"/>
              </a:ext>
            </a:extLst>
          </p:cNvPr>
          <p:cNvSpPr txBox="1">
            <a:spLocks noChangeArrowheads="1"/>
          </p:cNvSpPr>
          <p:nvPr/>
        </p:nvSpPr>
        <p:spPr bwMode="auto">
          <a:xfrm>
            <a:off x="6767513" y="4311650"/>
            <a:ext cx="903287"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defRPr/>
            </a:pPr>
            <a:r>
              <a:rPr lang="en-GB" sz="1400" dirty="0">
                <a:solidFill>
                  <a:srgbClr val="FFFF00"/>
                </a:solidFill>
                <a:latin typeface="Arial" charset="0"/>
              </a:rPr>
              <a:t>XZ plane</a:t>
            </a:r>
          </a:p>
        </p:txBody>
      </p:sp>
    </p:spTree>
  </p:cSld>
  <p:clrMapOvr>
    <a:masterClrMapping/>
  </p:clrMapOvr>
  <p:transition spd="slow"/>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C8D2A305-CF34-4729-83E5-235BE7A3FC19}"/>
              </a:ext>
            </a:extLst>
          </p:cNvPr>
          <p:cNvSpPr>
            <a:spLocks noGrp="1" noChangeArrowheads="1"/>
          </p:cNvSpPr>
          <p:nvPr>
            <p:ph type="title"/>
          </p:nvPr>
        </p:nvSpPr>
        <p:spPr>
          <a:noFill/>
        </p:spPr>
        <p:txBody>
          <a:bodyPr/>
          <a:lstStyle/>
          <a:p>
            <a:r>
              <a:rPr lang="en-GB" altLang="en-US">
                <a:effectLst/>
              </a:rPr>
              <a:t>Fabrics in clay-bearing fault gouges  2</a:t>
            </a:r>
          </a:p>
        </p:txBody>
      </p:sp>
      <p:pic>
        <p:nvPicPr>
          <p:cNvPr id="49155" name="Picture 13" descr="15a-Carboneras">
            <a:extLst>
              <a:ext uri="{FF2B5EF4-FFF2-40B4-BE49-F238E27FC236}">
                <a16:creationId xmlns:a16="http://schemas.microsoft.com/office/drawing/2014/main" id="{31C02CAE-C7BC-4541-900A-6BCCA849D53D}"/>
              </a:ext>
            </a:extLst>
          </p:cNvPr>
          <p:cNvPicPr>
            <a:picLocks noGrp="1" noChangeAspect="1" noChangeArrowheads="1"/>
          </p:cNvPicPr>
          <p:nvPr>
            <p:ph sz="half" idx="1"/>
          </p:nvPr>
        </p:nvPicPr>
        <p:blipFill>
          <a:blip r:embed="rId3">
            <a:lum bright="-6000"/>
            <a:extLst>
              <a:ext uri="{28A0092B-C50C-407E-A947-70E740481C1C}">
                <a14:useLocalDpi xmlns:a14="http://schemas.microsoft.com/office/drawing/2010/main" val="0"/>
              </a:ext>
            </a:extLst>
          </a:blip>
          <a:srcRect/>
          <a:stretch>
            <a:fillRect/>
          </a:stretch>
        </p:blipFill>
        <p:spPr>
          <a:xfrm>
            <a:off x="3244850" y="887413"/>
            <a:ext cx="5738813" cy="4084637"/>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412680" name="Text Box 8">
            <a:extLst>
              <a:ext uri="{FF2B5EF4-FFF2-40B4-BE49-F238E27FC236}">
                <a16:creationId xmlns:a16="http://schemas.microsoft.com/office/drawing/2014/main" id="{56E635B8-DC91-4CD2-AE13-6DD4C4E7CFB9}"/>
              </a:ext>
            </a:extLst>
          </p:cNvPr>
          <p:cNvSpPr txBox="1">
            <a:spLocks noChangeArrowheads="1"/>
          </p:cNvSpPr>
          <p:nvPr/>
        </p:nvSpPr>
        <p:spPr bwMode="auto">
          <a:xfrm>
            <a:off x="117475" y="757238"/>
            <a:ext cx="2979738" cy="3514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9388" indent="-179388">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50000"/>
              </a:spcBef>
              <a:buClr>
                <a:schemeClr val="tx1"/>
              </a:buClr>
              <a:buFontTx/>
              <a:buChar char="•"/>
            </a:pPr>
            <a:r>
              <a:rPr lang="en-GB" altLang="en-US" sz="1700" dirty="0">
                <a:effectLst>
                  <a:outerShdw blurRad="38100" dist="38100" dir="2700000" algn="tl">
                    <a:srgbClr val="000000"/>
                  </a:outerShdw>
                </a:effectLst>
                <a:latin typeface="Arial" panose="020B0604020202020204" pitchFamily="34" charset="0"/>
              </a:rPr>
              <a:t>The </a:t>
            </a:r>
            <a:r>
              <a:rPr lang="en-GB" altLang="en-US" sz="1700" dirty="0">
                <a:solidFill>
                  <a:srgbClr val="FF66CC"/>
                </a:solidFill>
                <a:effectLst>
                  <a:outerShdw blurRad="38100" dist="38100" dir="2700000" algn="tl">
                    <a:srgbClr val="000000"/>
                  </a:outerShdw>
                </a:effectLst>
                <a:latin typeface="Arial" panose="020B0604020202020204" pitchFamily="34" charset="0"/>
              </a:rPr>
              <a:t>intersection between any two of the planar fabrics</a:t>
            </a:r>
            <a:r>
              <a:rPr lang="en-GB" altLang="en-US" sz="1700" dirty="0">
                <a:effectLst>
                  <a:outerShdw blurRad="38100" dist="38100" dir="2700000" algn="tl">
                    <a:srgbClr val="000000"/>
                  </a:outerShdw>
                </a:effectLst>
                <a:latin typeface="Arial" panose="020B0604020202020204" pitchFamily="34" charset="0"/>
              </a:rPr>
              <a:t> (</a:t>
            </a:r>
            <a:r>
              <a:rPr lang="en-GB" altLang="en-US" sz="1700" i="1" dirty="0">
                <a:effectLst>
                  <a:outerShdw blurRad="38100" dist="38100" dir="2700000" algn="tl">
                    <a:srgbClr val="000000"/>
                  </a:outerShdw>
                </a:effectLst>
                <a:latin typeface="Arial" panose="020B0604020202020204" pitchFamily="34" charset="0"/>
              </a:rPr>
              <a:t>e.g.</a:t>
            </a:r>
            <a:r>
              <a:rPr lang="en-GB" altLang="en-US" sz="1700" dirty="0">
                <a:effectLst>
                  <a:outerShdw blurRad="38100" dist="38100" dir="2700000" algn="tl">
                    <a:srgbClr val="000000"/>
                  </a:outerShdw>
                </a:effectLst>
                <a:latin typeface="Arial" panose="020B0604020202020204" pitchFamily="34" charset="0"/>
              </a:rPr>
              <a:t>, the P-foliation and R</a:t>
            </a:r>
            <a:r>
              <a:rPr lang="en-GB" altLang="en-US" sz="1700" baseline="-25000" dirty="0">
                <a:effectLst>
                  <a:outerShdw blurRad="38100" dist="38100" dir="2700000" algn="tl">
                    <a:srgbClr val="000000"/>
                  </a:outerShdw>
                </a:effectLst>
                <a:latin typeface="Arial" panose="020B0604020202020204" pitchFamily="34" charset="0"/>
              </a:rPr>
              <a:t>1</a:t>
            </a:r>
            <a:r>
              <a:rPr lang="en-GB" altLang="en-US" sz="1700" dirty="0">
                <a:effectLst>
                  <a:outerShdw blurRad="38100" dist="38100" dir="2700000" algn="tl">
                    <a:srgbClr val="000000"/>
                  </a:outerShdw>
                </a:effectLst>
                <a:latin typeface="Arial" panose="020B0604020202020204" pitchFamily="34" charset="0"/>
              </a:rPr>
              <a:t> Riedel shears) is the Y-direction (it lies in the shear plane, at 90° to the slip vector) – given the strike</a:t>
            </a:r>
            <a:r>
              <a:rPr lang="en-GB" altLang="en-US" sz="800" dirty="0">
                <a:effectLst>
                  <a:outerShdw blurRad="38100" dist="38100" dir="2700000" algn="tl">
                    <a:srgbClr val="000000"/>
                  </a:outerShdw>
                </a:effectLst>
                <a:latin typeface="Arial" panose="020B0604020202020204" pitchFamily="34" charset="0"/>
              </a:rPr>
              <a:t> </a:t>
            </a:r>
            <a:r>
              <a:rPr lang="en-GB" altLang="en-US" sz="1700" dirty="0">
                <a:effectLst>
                  <a:outerShdw blurRad="38100" dist="38100" dir="2700000" algn="tl">
                    <a:srgbClr val="000000"/>
                  </a:outerShdw>
                </a:effectLst>
                <a:latin typeface="Arial" panose="020B0604020202020204" pitchFamily="34" charset="0"/>
              </a:rPr>
              <a:t>/</a:t>
            </a:r>
            <a:r>
              <a:rPr lang="en-GB" altLang="en-US" sz="800" dirty="0">
                <a:effectLst>
                  <a:outerShdw blurRad="38100" dist="38100" dir="2700000" algn="tl">
                    <a:srgbClr val="000000"/>
                  </a:outerShdw>
                </a:effectLst>
                <a:latin typeface="Arial" panose="020B0604020202020204" pitchFamily="34" charset="0"/>
              </a:rPr>
              <a:t> </a:t>
            </a:r>
            <a:r>
              <a:rPr lang="en-GB" altLang="en-US" sz="1700" dirty="0">
                <a:effectLst>
                  <a:outerShdw blurRad="38100" dist="38100" dir="2700000" algn="tl">
                    <a:srgbClr val="000000"/>
                  </a:outerShdw>
                </a:effectLst>
                <a:latin typeface="Arial" panose="020B0604020202020204" pitchFamily="34" charset="0"/>
              </a:rPr>
              <a:t>dip of these and the strike of the fault, the fault plane and slip vector may be found</a:t>
            </a:r>
          </a:p>
        </p:txBody>
      </p:sp>
      <p:pic>
        <p:nvPicPr>
          <p:cNvPr id="49157" name="Picture 15" descr="15b-Carboneras">
            <a:extLst>
              <a:ext uri="{FF2B5EF4-FFF2-40B4-BE49-F238E27FC236}">
                <a16:creationId xmlns:a16="http://schemas.microsoft.com/office/drawing/2014/main" id="{6053B69B-55F6-4065-B570-2D2C3AF9EFFF}"/>
              </a:ext>
            </a:extLst>
          </p:cNvPr>
          <p:cNvPicPr>
            <a:picLocks noGrp="1" noChangeAspect="1" noChangeArrowheads="1"/>
          </p:cNvPicPr>
          <p:nvPr>
            <p:ph sz="half" idx="2"/>
          </p:nvPr>
        </p:nvPicPr>
        <p:blipFill>
          <a:blip r:embed="rId4">
            <a:extLst>
              <a:ext uri="{28A0092B-C50C-407E-A947-70E740481C1C}">
                <a14:useLocalDpi xmlns:a14="http://schemas.microsoft.com/office/drawing/2010/main" val="0"/>
              </a:ext>
            </a:extLst>
          </a:blip>
          <a:srcRect/>
          <a:stretch>
            <a:fillRect/>
          </a:stretch>
        </p:blipFill>
        <p:spPr>
          <a:xfrm>
            <a:off x="2152650" y="4276725"/>
            <a:ext cx="2792413" cy="2359025"/>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412689" name="Line 17">
            <a:extLst>
              <a:ext uri="{FF2B5EF4-FFF2-40B4-BE49-F238E27FC236}">
                <a16:creationId xmlns:a16="http://schemas.microsoft.com/office/drawing/2014/main" id="{4B520873-8C47-4BAE-BB3D-C6225F0990BE}"/>
              </a:ext>
            </a:extLst>
          </p:cNvPr>
          <p:cNvSpPr>
            <a:spLocks noChangeShapeType="1"/>
          </p:cNvSpPr>
          <p:nvPr/>
        </p:nvSpPr>
        <p:spPr bwMode="auto">
          <a:xfrm>
            <a:off x="7427913" y="5611813"/>
            <a:ext cx="1249362" cy="492125"/>
          </a:xfrm>
          <a:prstGeom prst="line">
            <a:avLst/>
          </a:prstGeom>
          <a:noFill/>
          <a:ln w="28575">
            <a:solidFill>
              <a:srgbClr val="FF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GB">
              <a:latin typeface="Helvetica" charset="0"/>
            </a:endParaRPr>
          </a:p>
        </p:txBody>
      </p:sp>
      <p:sp>
        <p:nvSpPr>
          <p:cNvPr id="412691" name="Line 19">
            <a:extLst>
              <a:ext uri="{FF2B5EF4-FFF2-40B4-BE49-F238E27FC236}">
                <a16:creationId xmlns:a16="http://schemas.microsoft.com/office/drawing/2014/main" id="{253E4A56-D267-443E-AF6D-B172502828F7}"/>
              </a:ext>
            </a:extLst>
          </p:cNvPr>
          <p:cNvSpPr>
            <a:spLocks noChangeShapeType="1"/>
          </p:cNvSpPr>
          <p:nvPr/>
        </p:nvSpPr>
        <p:spPr bwMode="auto">
          <a:xfrm flipV="1">
            <a:off x="7477125" y="5729288"/>
            <a:ext cx="1160463" cy="304800"/>
          </a:xfrm>
          <a:prstGeom prst="line">
            <a:avLst/>
          </a:prstGeom>
          <a:noFill/>
          <a:ln w="28575">
            <a:solidFill>
              <a:srgbClr val="FF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GB">
              <a:latin typeface="Helvetica" charset="0"/>
            </a:endParaRPr>
          </a:p>
        </p:txBody>
      </p:sp>
      <p:sp>
        <p:nvSpPr>
          <p:cNvPr id="412692" name="Text Box 20">
            <a:extLst>
              <a:ext uri="{FF2B5EF4-FFF2-40B4-BE49-F238E27FC236}">
                <a16:creationId xmlns:a16="http://schemas.microsoft.com/office/drawing/2014/main" id="{41279178-686C-44A8-A445-73D84CFC008C}"/>
              </a:ext>
            </a:extLst>
          </p:cNvPr>
          <p:cNvSpPr txBox="1">
            <a:spLocks noChangeArrowheads="1"/>
          </p:cNvSpPr>
          <p:nvPr/>
        </p:nvSpPr>
        <p:spPr bwMode="auto">
          <a:xfrm>
            <a:off x="8667750" y="5965825"/>
            <a:ext cx="3365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defRPr/>
            </a:pPr>
            <a:r>
              <a:rPr lang="en-GB">
                <a:solidFill>
                  <a:srgbClr val="FF0000"/>
                </a:solidFill>
                <a:effectLst>
                  <a:outerShdw blurRad="38100" dist="38100" dir="2700000" algn="tl">
                    <a:srgbClr val="000000"/>
                  </a:outerShdw>
                </a:effectLst>
                <a:latin typeface="Arial" charset="0"/>
              </a:rPr>
              <a:t>P</a:t>
            </a:r>
          </a:p>
        </p:txBody>
      </p:sp>
      <p:sp>
        <p:nvSpPr>
          <p:cNvPr id="412694" name="Text Box 22">
            <a:extLst>
              <a:ext uri="{FF2B5EF4-FFF2-40B4-BE49-F238E27FC236}">
                <a16:creationId xmlns:a16="http://schemas.microsoft.com/office/drawing/2014/main" id="{9CCD27F9-6171-44B1-9197-F0777665E089}"/>
              </a:ext>
            </a:extLst>
          </p:cNvPr>
          <p:cNvSpPr txBox="1">
            <a:spLocks noChangeArrowheads="1"/>
          </p:cNvSpPr>
          <p:nvPr/>
        </p:nvSpPr>
        <p:spPr bwMode="auto">
          <a:xfrm>
            <a:off x="8610600" y="5532438"/>
            <a:ext cx="4540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defRPr/>
            </a:pPr>
            <a:r>
              <a:rPr lang="en-GB">
                <a:solidFill>
                  <a:srgbClr val="FF0000"/>
                </a:solidFill>
                <a:effectLst>
                  <a:outerShdw blurRad="38100" dist="38100" dir="2700000" algn="tl">
                    <a:srgbClr val="000000"/>
                  </a:outerShdw>
                </a:effectLst>
                <a:latin typeface="Arial" charset="0"/>
              </a:rPr>
              <a:t>R</a:t>
            </a:r>
            <a:r>
              <a:rPr lang="en-GB" baseline="-25000">
                <a:solidFill>
                  <a:srgbClr val="FF0000"/>
                </a:solidFill>
                <a:effectLst>
                  <a:outerShdw blurRad="38100" dist="38100" dir="2700000" algn="tl">
                    <a:srgbClr val="000000"/>
                  </a:outerShdw>
                </a:effectLst>
                <a:latin typeface="Arial" charset="0"/>
              </a:rPr>
              <a:t>1</a:t>
            </a:r>
            <a:endParaRPr lang="en-GB">
              <a:solidFill>
                <a:srgbClr val="FF0000"/>
              </a:solidFill>
              <a:effectLst>
                <a:outerShdw blurRad="38100" dist="38100" dir="2700000" algn="tl">
                  <a:srgbClr val="000000"/>
                </a:outerShdw>
              </a:effectLst>
              <a:latin typeface="Arial" charset="0"/>
            </a:endParaRPr>
          </a:p>
        </p:txBody>
      </p:sp>
      <p:sp>
        <p:nvSpPr>
          <p:cNvPr id="412695" name="Freeform 23">
            <a:extLst>
              <a:ext uri="{FF2B5EF4-FFF2-40B4-BE49-F238E27FC236}">
                <a16:creationId xmlns:a16="http://schemas.microsoft.com/office/drawing/2014/main" id="{A503A687-AB4B-4C40-8F25-95898706E8D6}"/>
              </a:ext>
            </a:extLst>
          </p:cNvPr>
          <p:cNvSpPr>
            <a:spLocks/>
          </p:cNvSpPr>
          <p:nvPr/>
        </p:nvSpPr>
        <p:spPr bwMode="auto">
          <a:xfrm>
            <a:off x="7664450" y="5227638"/>
            <a:ext cx="885825" cy="206375"/>
          </a:xfrm>
          <a:custGeom>
            <a:avLst/>
            <a:gdLst>
              <a:gd name="T0" fmla="*/ 558 w 558"/>
              <a:gd name="T1" fmla="*/ 130 h 130"/>
              <a:gd name="T2" fmla="*/ 0 w 558"/>
              <a:gd name="T3" fmla="*/ 56 h 130"/>
              <a:gd name="T4" fmla="*/ 124 w 558"/>
              <a:gd name="T5" fmla="*/ 0 h 130"/>
            </a:gdLst>
            <a:ahLst/>
            <a:cxnLst>
              <a:cxn ang="0">
                <a:pos x="T0" y="T1"/>
              </a:cxn>
              <a:cxn ang="0">
                <a:pos x="T2" y="T3"/>
              </a:cxn>
              <a:cxn ang="0">
                <a:pos x="T4" y="T5"/>
              </a:cxn>
            </a:cxnLst>
            <a:rect l="0" t="0" r="r" b="b"/>
            <a:pathLst>
              <a:path w="558" h="130">
                <a:moveTo>
                  <a:pt x="558" y="130"/>
                </a:moveTo>
                <a:lnTo>
                  <a:pt x="0" y="56"/>
                </a:lnTo>
                <a:lnTo>
                  <a:pt x="124" y="0"/>
                </a:lnTo>
              </a:path>
            </a:pathLst>
          </a:custGeom>
          <a:noFill/>
          <a:ln w="38100"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GB">
              <a:latin typeface="Helvetica" charset="0"/>
            </a:endParaRPr>
          </a:p>
        </p:txBody>
      </p:sp>
      <p:sp>
        <p:nvSpPr>
          <p:cNvPr id="412697" name="Freeform 25">
            <a:extLst>
              <a:ext uri="{FF2B5EF4-FFF2-40B4-BE49-F238E27FC236}">
                <a16:creationId xmlns:a16="http://schemas.microsoft.com/office/drawing/2014/main" id="{08D0C0CA-D6F5-4E23-BEFC-CF4DD5CA4F46}"/>
              </a:ext>
            </a:extLst>
          </p:cNvPr>
          <p:cNvSpPr>
            <a:spLocks/>
          </p:cNvSpPr>
          <p:nvPr/>
        </p:nvSpPr>
        <p:spPr bwMode="auto">
          <a:xfrm>
            <a:off x="8358188" y="5657850"/>
            <a:ext cx="166687" cy="61913"/>
          </a:xfrm>
          <a:custGeom>
            <a:avLst/>
            <a:gdLst>
              <a:gd name="T0" fmla="*/ 105 w 105"/>
              <a:gd name="T1" fmla="*/ 15 h 39"/>
              <a:gd name="T2" fmla="*/ 0 w 105"/>
              <a:gd name="T3" fmla="*/ 39 h 39"/>
              <a:gd name="T4" fmla="*/ 27 w 105"/>
              <a:gd name="T5" fmla="*/ 0 h 39"/>
            </a:gdLst>
            <a:ahLst/>
            <a:cxnLst>
              <a:cxn ang="0">
                <a:pos x="T0" y="T1"/>
              </a:cxn>
              <a:cxn ang="0">
                <a:pos x="T2" y="T3"/>
              </a:cxn>
              <a:cxn ang="0">
                <a:pos x="T4" y="T5"/>
              </a:cxn>
            </a:cxnLst>
            <a:rect l="0" t="0" r="r" b="b"/>
            <a:pathLst>
              <a:path w="105" h="39">
                <a:moveTo>
                  <a:pt x="105" y="15"/>
                </a:moveTo>
                <a:lnTo>
                  <a:pt x="0" y="39"/>
                </a:lnTo>
                <a:lnTo>
                  <a:pt x="27" y="0"/>
                </a:lnTo>
              </a:path>
            </a:pathLst>
          </a:custGeom>
          <a:noFill/>
          <a:ln w="19050"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GB">
              <a:latin typeface="Helvetica" charset="0"/>
            </a:endParaRPr>
          </a:p>
        </p:txBody>
      </p:sp>
      <p:sp>
        <p:nvSpPr>
          <p:cNvPr id="412698" name="Text Box 26">
            <a:extLst>
              <a:ext uri="{FF2B5EF4-FFF2-40B4-BE49-F238E27FC236}">
                <a16:creationId xmlns:a16="http://schemas.microsoft.com/office/drawing/2014/main" id="{DBC806D9-4501-47CE-8523-361C950A7873}"/>
              </a:ext>
            </a:extLst>
          </p:cNvPr>
          <p:cNvSpPr txBox="1">
            <a:spLocks noChangeArrowheads="1"/>
          </p:cNvSpPr>
          <p:nvPr/>
        </p:nvSpPr>
        <p:spPr bwMode="auto">
          <a:xfrm>
            <a:off x="193675" y="4541838"/>
            <a:ext cx="1889125" cy="180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15000"/>
              </a:lnSpc>
              <a:spcBef>
                <a:spcPct val="50000"/>
              </a:spcBef>
            </a:pPr>
            <a:r>
              <a:rPr lang="en-GB" altLang="en-US" sz="1400">
                <a:solidFill>
                  <a:srgbClr val="FFFF00"/>
                </a:solidFill>
                <a:effectLst>
                  <a:outerShdw blurRad="38100" dist="38100" dir="2700000" algn="tl">
                    <a:srgbClr val="000000"/>
                  </a:outerShdw>
                </a:effectLst>
                <a:latin typeface="Arial" panose="020B0604020202020204" pitchFamily="34" charset="0"/>
              </a:rPr>
              <a:t>Slip vectors in the Carboneras fault zone, SE Spain, obtained using P and R</a:t>
            </a:r>
            <a:r>
              <a:rPr lang="en-GB" altLang="en-US" sz="1400" baseline="-25000">
                <a:solidFill>
                  <a:srgbClr val="FFFF00"/>
                </a:solidFill>
                <a:effectLst>
                  <a:outerShdw blurRad="38100" dist="38100" dir="2700000" algn="tl">
                    <a:srgbClr val="000000"/>
                  </a:outerShdw>
                </a:effectLst>
                <a:latin typeface="Arial" panose="020B0604020202020204" pitchFamily="34" charset="0"/>
              </a:rPr>
              <a:t>1</a:t>
            </a:r>
            <a:r>
              <a:rPr lang="en-GB" altLang="en-US" sz="1400">
                <a:solidFill>
                  <a:srgbClr val="FFFF00"/>
                </a:solidFill>
                <a:effectLst>
                  <a:outerShdw blurRad="38100" dist="38100" dir="2700000" algn="tl">
                    <a:srgbClr val="000000"/>
                  </a:outerShdw>
                </a:effectLst>
                <a:latin typeface="Arial" panose="020B0604020202020204" pitchFamily="34" charset="0"/>
              </a:rPr>
              <a:t> measurements (supplemented with slickenside data)</a:t>
            </a:r>
          </a:p>
        </p:txBody>
      </p:sp>
      <p:grpSp>
        <p:nvGrpSpPr>
          <p:cNvPr id="49165" name="Group 6">
            <a:extLst>
              <a:ext uri="{FF2B5EF4-FFF2-40B4-BE49-F238E27FC236}">
                <a16:creationId xmlns:a16="http://schemas.microsoft.com/office/drawing/2014/main" id="{373698E7-AE58-4D28-9427-2A23F0D657D5}"/>
              </a:ext>
            </a:extLst>
          </p:cNvPr>
          <p:cNvGrpSpPr>
            <a:grpSpLocks/>
          </p:cNvGrpSpPr>
          <p:nvPr/>
        </p:nvGrpSpPr>
        <p:grpSpPr bwMode="auto">
          <a:xfrm>
            <a:off x="5192713" y="5143500"/>
            <a:ext cx="1917700" cy="1141413"/>
            <a:chOff x="4240" y="2159"/>
            <a:chExt cx="1442" cy="878"/>
          </a:xfrm>
        </p:grpSpPr>
        <p:sp>
          <p:nvSpPr>
            <p:cNvPr id="14" name="Rectangle 7">
              <a:extLst>
                <a:ext uri="{FF2B5EF4-FFF2-40B4-BE49-F238E27FC236}">
                  <a16:creationId xmlns:a16="http://schemas.microsoft.com/office/drawing/2014/main" id="{5B34572A-8413-4005-B92C-859E155E8EC9}"/>
                </a:ext>
              </a:extLst>
            </p:cNvPr>
            <p:cNvSpPr>
              <a:spLocks noChangeArrowheads="1"/>
            </p:cNvSpPr>
            <p:nvPr/>
          </p:nvSpPr>
          <p:spPr bwMode="auto">
            <a:xfrm>
              <a:off x="4240" y="2159"/>
              <a:ext cx="1442" cy="878"/>
            </a:xfrm>
            <a:prstGeom prst="rect">
              <a:avLst/>
            </a:prstGeom>
            <a:solidFill>
              <a:schemeClr val="folHlink"/>
            </a:solidFill>
            <a:ln w="381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GB">
                <a:latin typeface="Helvetica" charset="0"/>
              </a:endParaRPr>
            </a:p>
          </p:txBody>
        </p:sp>
        <p:pic>
          <p:nvPicPr>
            <p:cNvPr id="49167" name="Picture 8" descr="04a">
              <a:extLst>
                <a:ext uri="{FF2B5EF4-FFF2-40B4-BE49-F238E27FC236}">
                  <a16:creationId xmlns:a16="http://schemas.microsoft.com/office/drawing/2014/main" id="{68BA39E9-8074-43FB-AC13-622FD022487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81" y="2211"/>
              <a:ext cx="1362" cy="7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Tree>
  </p:cSld>
  <p:clrMapOvr>
    <a:masterClrMapping/>
  </p:clrMapOvr>
  <p:transition spd="slow"/>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a:extLst>
              <a:ext uri="{FF2B5EF4-FFF2-40B4-BE49-F238E27FC236}">
                <a16:creationId xmlns:a16="http://schemas.microsoft.com/office/drawing/2014/main" id="{C4423693-648B-4C4A-8D91-9B4D527A60B8}"/>
              </a:ext>
            </a:extLst>
          </p:cNvPr>
          <p:cNvSpPr>
            <a:spLocks noGrp="1" noChangeArrowheads="1"/>
          </p:cNvSpPr>
          <p:nvPr>
            <p:ph type="title" idx="4294967295"/>
          </p:nvPr>
        </p:nvSpPr>
        <p:spPr>
          <a:noFill/>
        </p:spPr>
        <p:txBody>
          <a:bodyPr/>
          <a:lstStyle/>
          <a:p>
            <a:r>
              <a:rPr lang="en-GB" altLang="en-US">
                <a:effectLst/>
              </a:rPr>
              <a:t>Fabrics in clay-bearing fault gouges  3</a:t>
            </a:r>
          </a:p>
        </p:txBody>
      </p:sp>
      <p:pic>
        <p:nvPicPr>
          <p:cNvPr id="99344" name="Picture 16" descr="16d-ColldeNargo">
            <a:extLst>
              <a:ext uri="{FF2B5EF4-FFF2-40B4-BE49-F238E27FC236}">
                <a16:creationId xmlns:a16="http://schemas.microsoft.com/office/drawing/2014/main" id="{75D160F2-A53E-4589-BB40-DFFCBF7F5767}"/>
              </a:ext>
            </a:extLst>
          </p:cNvPr>
          <p:cNvPicPr>
            <a:picLocks noChangeAspect="1" noChangeArrowheads="1"/>
          </p:cNvPicPr>
          <p:nvPr/>
        </p:nvPicPr>
        <p:blipFill>
          <a:blip r:embed="rId3">
            <a:lum bright="-4000"/>
            <a:extLst>
              <a:ext uri="{28A0092B-C50C-407E-A947-70E740481C1C}">
                <a14:useLocalDpi xmlns:a14="http://schemas.microsoft.com/office/drawing/2010/main" val="0"/>
              </a:ext>
            </a:extLst>
          </a:blip>
          <a:srcRect/>
          <a:stretch>
            <a:fillRect/>
          </a:stretch>
        </p:blipFill>
        <p:spPr bwMode="auto">
          <a:xfrm>
            <a:off x="292100" y="1136650"/>
            <a:ext cx="8575675" cy="5410200"/>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99345" name="Freeform 17">
            <a:extLst>
              <a:ext uri="{FF2B5EF4-FFF2-40B4-BE49-F238E27FC236}">
                <a16:creationId xmlns:a16="http://schemas.microsoft.com/office/drawing/2014/main" id="{418152AA-F391-418A-8CD3-DC1EABA0AAC7}"/>
              </a:ext>
            </a:extLst>
          </p:cNvPr>
          <p:cNvSpPr>
            <a:spLocks/>
          </p:cNvSpPr>
          <p:nvPr/>
        </p:nvSpPr>
        <p:spPr bwMode="auto">
          <a:xfrm>
            <a:off x="7805738" y="881063"/>
            <a:ext cx="619125" cy="98425"/>
          </a:xfrm>
          <a:custGeom>
            <a:avLst/>
            <a:gdLst>
              <a:gd name="T0" fmla="*/ 0 w 390"/>
              <a:gd name="T1" fmla="*/ 62 h 62"/>
              <a:gd name="T2" fmla="*/ 390 w 390"/>
              <a:gd name="T3" fmla="*/ 62 h 62"/>
              <a:gd name="T4" fmla="*/ 315 w 390"/>
              <a:gd name="T5" fmla="*/ 0 h 62"/>
            </a:gdLst>
            <a:ahLst/>
            <a:cxnLst>
              <a:cxn ang="0">
                <a:pos x="T0" y="T1"/>
              </a:cxn>
              <a:cxn ang="0">
                <a:pos x="T2" y="T3"/>
              </a:cxn>
              <a:cxn ang="0">
                <a:pos x="T4" y="T5"/>
              </a:cxn>
            </a:cxnLst>
            <a:rect l="0" t="0" r="r" b="b"/>
            <a:pathLst>
              <a:path w="390" h="62">
                <a:moveTo>
                  <a:pt x="0" y="62"/>
                </a:moveTo>
                <a:lnTo>
                  <a:pt x="390" y="62"/>
                </a:lnTo>
                <a:lnTo>
                  <a:pt x="315" y="0"/>
                </a:lnTo>
              </a:path>
            </a:pathLst>
          </a:custGeom>
          <a:noFill/>
          <a:ln w="28575"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Tree>
  </p:cSld>
  <p:clrMapOvr>
    <a:masterClrMapping/>
  </p:clrMapOvr>
  <p:transition spd="slow"/>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a:extLst>
              <a:ext uri="{FF2B5EF4-FFF2-40B4-BE49-F238E27FC236}">
                <a16:creationId xmlns:a16="http://schemas.microsoft.com/office/drawing/2014/main" id="{D19350D5-0B7C-4633-B69F-33FBD11578A4}"/>
              </a:ext>
            </a:extLst>
          </p:cNvPr>
          <p:cNvSpPr>
            <a:spLocks noGrp="1" noChangeArrowheads="1"/>
          </p:cNvSpPr>
          <p:nvPr>
            <p:ph type="title"/>
          </p:nvPr>
        </p:nvSpPr>
        <p:spPr>
          <a:noFill/>
        </p:spPr>
        <p:txBody>
          <a:bodyPr/>
          <a:lstStyle/>
          <a:p>
            <a:r>
              <a:rPr lang="en-GB" altLang="en-US">
                <a:effectLst/>
              </a:rPr>
              <a:t>Deformation bands</a:t>
            </a:r>
          </a:p>
        </p:txBody>
      </p:sp>
      <p:sp>
        <p:nvSpPr>
          <p:cNvPr id="50179" name="Rectangle 3">
            <a:extLst>
              <a:ext uri="{FF2B5EF4-FFF2-40B4-BE49-F238E27FC236}">
                <a16:creationId xmlns:a16="http://schemas.microsoft.com/office/drawing/2014/main" id="{7A6E3354-4D54-4C68-BD54-B462596C591C}"/>
              </a:ext>
            </a:extLst>
          </p:cNvPr>
          <p:cNvSpPr>
            <a:spLocks noGrp="1" noChangeArrowheads="1"/>
          </p:cNvSpPr>
          <p:nvPr>
            <p:ph type="body" sz="half" idx="1"/>
          </p:nvPr>
        </p:nvSpPr>
        <p:spPr>
          <a:xfrm>
            <a:off x="66675" y="774700"/>
            <a:ext cx="4597400" cy="3038475"/>
          </a:xfrm>
          <a:noFill/>
        </p:spPr>
        <p:txBody>
          <a:bodyPr/>
          <a:lstStyle/>
          <a:p>
            <a:pPr marL="177800" indent="-177800">
              <a:spcBef>
                <a:spcPct val="75000"/>
              </a:spcBef>
            </a:pPr>
            <a:r>
              <a:rPr lang="en-GB" altLang="en-US" sz="1700">
                <a:effectLst/>
              </a:rPr>
              <a:t>Almost all the preceding discussion has focused on shear zones formed dominantly by simple shear. However, in </a:t>
            </a:r>
            <a:r>
              <a:rPr lang="en-GB" altLang="en-US" sz="1700">
                <a:solidFill>
                  <a:srgbClr val="FF66CC"/>
                </a:solidFill>
                <a:effectLst/>
              </a:rPr>
              <a:t>very porous</a:t>
            </a:r>
            <a:r>
              <a:rPr lang="en-GB" altLang="en-US" sz="1700">
                <a:effectLst/>
              </a:rPr>
              <a:t> rocks, both pure and simple shear components of the deformation may be important in localizing strain</a:t>
            </a:r>
          </a:p>
          <a:p>
            <a:pPr marL="177800" indent="-177800">
              <a:spcBef>
                <a:spcPct val="50000"/>
              </a:spcBef>
            </a:pPr>
            <a:r>
              <a:rPr lang="en-GB" altLang="en-US" sz="1700">
                <a:effectLst/>
              </a:rPr>
              <a:t>The resulting mm- to cm-thick </a:t>
            </a:r>
            <a:r>
              <a:rPr lang="en-GB" altLang="en-US" sz="1700">
                <a:solidFill>
                  <a:srgbClr val="FF6600"/>
                </a:solidFill>
                <a:effectLst/>
              </a:rPr>
              <a:t>deformation bands</a:t>
            </a:r>
            <a:r>
              <a:rPr lang="en-GB" altLang="en-US" sz="1700">
                <a:effectLst/>
              </a:rPr>
              <a:t> may have a profound influence on fluid flow in oil, gas or water reservoirs</a:t>
            </a:r>
          </a:p>
        </p:txBody>
      </p:sp>
      <p:pic>
        <p:nvPicPr>
          <p:cNvPr id="50180" name="Picture 2" descr="GR41.jpg">
            <a:extLst>
              <a:ext uri="{FF2B5EF4-FFF2-40B4-BE49-F238E27FC236}">
                <a16:creationId xmlns:a16="http://schemas.microsoft.com/office/drawing/2014/main" id="{FF65A91C-D60F-4613-92BE-A409BCCD5B0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95325" y="4005263"/>
            <a:ext cx="3368675" cy="2622550"/>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50181" name="Picture 11">
            <a:extLst>
              <a:ext uri="{FF2B5EF4-FFF2-40B4-BE49-F238E27FC236}">
                <a16:creationId xmlns:a16="http://schemas.microsoft.com/office/drawing/2014/main" id="{C72F9265-BFD6-41BB-9359-461E4ABB5CF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51400" y="876300"/>
            <a:ext cx="4065588" cy="2919413"/>
          </a:xfrm>
          <a:prstGeom prst="rect">
            <a:avLst/>
          </a:prstGeom>
          <a:noFill/>
          <a:ln w="38100">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0182" name="Picture 14" descr="16-6 m Fault Goblin Valley UT">
            <a:extLst>
              <a:ext uri="{FF2B5EF4-FFF2-40B4-BE49-F238E27FC236}">
                <a16:creationId xmlns:a16="http://schemas.microsoft.com/office/drawing/2014/main" id="{3CE06B81-E28B-4421-9755-F0E2EB646C81}"/>
              </a:ext>
            </a:extLst>
          </p:cNvPr>
          <p:cNvPicPr>
            <a:picLocks noGrp="1" noChangeAspect="1" noChangeArrowheads="1"/>
          </p:cNvPicPr>
          <p:nvPr>
            <p:ph sz="half" idx="2"/>
          </p:nvPr>
        </p:nvPicPr>
        <p:blipFill>
          <a:blip r:embed="rId5">
            <a:extLst>
              <a:ext uri="{28A0092B-C50C-407E-A947-70E740481C1C}">
                <a14:useLocalDpi xmlns:a14="http://schemas.microsoft.com/office/drawing/2010/main" val="0"/>
              </a:ext>
            </a:extLst>
          </a:blip>
          <a:srcRect/>
          <a:stretch>
            <a:fillRect/>
          </a:stretch>
        </p:blipFill>
        <p:spPr>
          <a:xfrm>
            <a:off x="4502150" y="4010025"/>
            <a:ext cx="3895725" cy="2620963"/>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slow"/>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id="{41DCBE66-A3EA-4149-9700-D26612979D18}"/>
              </a:ext>
            </a:extLst>
          </p:cNvPr>
          <p:cNvSpPr>
            <a:spLocks noGrp="1" noChangeArrowheads="1"/>
          </p:cNvSpPr>
          <p:nvPr>
            <p:ph type="title"/>
          </p:nvPr>
        </p:nvSpPr>
        <p:spPr>
          <a:noFill/>
        </p:spPr>
        <p:txBody>
          <a:bodyPr/>
          <a:lstStyle/>
          <a:p>
            <a:r>
              <a:rPr lang="en-GB" altLang="en-US">
                <a:effectLst/>
              </a:rPr>
              <a:t>Reading</a:t>
            </a:r>
          </a:p>
        </p:txBody>
      </p:sp>
      <p:sp>
        <p:nvSpPr>
          <p:cNvPr id="51203" name="Rectangle 3">
            <a:extLst>
              <a:ext uri="{FF2B5EF4-FFF2-40B4-BE49-F238E27FC236}">
                <a16:creationId xmlns:a16="http://schemas.microsoft.com/office/drawing/2014/main" id="{D9AD9474-9DA7-4C7E-AB29-B32919648192}"/>
              </a:ext>
            </a:extLst>
          </p:cNvPr>
          <p:cNvSpPr>
            <a:spLocks noGrp="1" noChangeArrowheads="1"/>
          </p:cNvSpPr>
          <p:nvPr>
            <p:ph type="body" sz="half" idx="1"/>
          </p:nvPr>
        </p:nvSpPr>
        <p:spPr>
          <a:xfrm>
            <a:off x="120650" y="917575"/>
            <a:ext cx="8856663" cy="5082392"/>
          </a:xfrm>
          <a:noFill/>
        </p:spPr>
        <p:txBody>
          <a:bodyPr/>
          <a:lstStyle/>
          <a:p>
            <a:pPr marL="177800" indent="-177800">
              <a:lnSpc>
                <a:spcPct val="110000"/>
              </a:lnSpc>
            </a:pPr>
            <a:r>
              <a:rPr lang="en-GB" altLang="en-US" sz="1400" dirty="0">
                <a:effectLst/>
              </a:rPr>
              <a:t>Fossen H (2016) </a:t>
            </a:r>
            <a:r>
              <a:rPr lang="en-GB" altLang="en-US" sz="1400" i="1" dirty="0">
                <a:effectLst/>
              </a:rPr>
              <a:t>Structural Geology </a:t>
            </a:r>
            <a:r>
              <a:rPr lang="en-GB" altLang="en-US" sz="1400" dirty="0">
                <a:effectLst/>
              </a:rPr>
              <a:t>(2</a:t>
            </a:r>
            <a:r>
              <a:rPr lang="en-GB" altLang="en-US" sz="1400" baseline="30000" dirty="0">
                <a:effectLst/>
              </a:rPr>
              <a:t>nd</a:t>
            </a:r>
            <a:r>
              <a:rPr lang="en-GB" altLang="en-US" sz="1400" dirty="0">
                <a:effectLst/>
              </a:rPr>
              <a:t> edition).</a:t>
            </a:r>
            <a:r>
              <a:rPr lang="en-GB" altLang="en-US" sz="1400" i="1" dirty="0">
                <a:effectLst/>
              </a:rPr>
              <a:t> </a:t>
            </a:r>
            <a:r>
              <a:rPr lang="en-GB" altLang="en-US" sz="1400" dirty="0">
                <a:effectLst/>
              </a:rPr>
              <a:t>Cambridge University Press. </a:t>
            </a:r>
            <a:r>
              <a:rPr lang="en-GB" altLang="en-US" sz="1400" dirty="0">
                <a:solidFill>
                  <a:srgbClr val="FF66CC"/>
                </a:solidFill>
                <a:effectLst/>
              </a:rPr>
              <a:t>[Chapter 16]</a:t>
            </a:r>
          </a:p>
          <a:p>
            <a:pPr marL="177800" indent="-177800">
              <a:lnSpc>
                <a:spcPct val="110000"/>
              </a:lnSpc>
            </a:pPr>
            <a:r>
              <a:rPr lang="en-GB" altLang="en-US" sz="1400" dirty="0" err="1">
                <a:effectLst/>
              </a:rPr>
              <a:t>Passchier</a:t>
            </a:r>
            <a:r>
              <a:rPr lang="en-GB" altLang="en-US" sz="1400" dirty="0">
                <a:effectLst/>
              </a:rPr>
              <a:t> CW, </a:t>
            </a:r>
            <a:r>
              <a:rPr lang="en-GB" altLang="en-US" sz="1400" dirty="0" err="1">
                <a:effectLst/>
              </a:rPr>
              <a:t>Trouw</a:t>
            </a:r>
            <a:r>
              <a:rPr lang="en-GB" altLang="en-US" sz="1400" dirty="0">
                <a:effectLst/>
              </a:rPr>
              <a:t> RAJ (2005) </a:t>
            </a:r>
            <a:r>
              <a:rPr lang="en-GB" altLang="en-US" sz="1400" i="1" dirty="0" err="1">
                <a:effectLst/>
              </a:rPr>
              <a:t>Microtectonics</a:t>
            </a:r>
            <a:r>
              <a:rPr lang="en-GB" altLang="en-US" sz="1400" dirty="0">
                <a:effectLst/>
              </a:rPr>
              <a:t> (2</a:t>
            </a:r>
            <a:r>
              <a:rPr lang="en-GB" altLang="en-US" sz="1400" baseline="30000" dirty="0">
                <a:effectLst/>
              </a:rPr>
              <a:t>nd</a:t>
            </a:r>
            <a:r>
              <a:rPr lang="en-GB" altLang="en-US" sz="1400" dirty="0">
                <a:effectLst/>
              </a:rPr>
              <a:t> edition). Springer. </a:t>
            </a:r>
            <a:r>
              <a:rPr lang="en-GB" altLang="en-US" sz="1400" dirty="0">
                <a:solidFill>
                  <a:srgbClr val="FF66CC"/>
                </a:solidFill>
                <a:effectLst/>
              </a:rPr>
              <a:t>[Chapters 5, 6, 7 – excellent coverage of the thin section scale features; the text is good for the Metamorphic Geology course unit as well]</a:t>
            </a:r>
            <a:endParaRPr lang="en-GB" altLang="en-US" sz="1400" dirty="0">
              <a:effectLst/>
            </a:endParaRPr>
          </a:p>
          <a:p>
            <a:pPr marL="177800" indent="-177800">
              <a:lnSpc>
                <a:spcPct val="110000"/>
              </a:lnSpc>
            </a:pPr>
            <a:r>
              <a:rPr lang="en-GB" altLang="en-US" sz="1400" dirty="0">
                <a:effectLst/>
              </a:rPr>
              <a:t>Ramsay JG, Huber MI (1987) </a:t>
            </a:r>
            <a:r>
              <a:rPr lang="en-GB" altLang="en-US" sz="1400" i="1" dirty="0">
                <a:effectLst/>
              </a:rPr>
              <a:t>Techniques of Modern Structural Geology. Volume 2: Folds and Fractures.</a:t>
            </a:r>
            <a:r>
              <a:rPr lang="en-GB" altLang="en-US" sz="1400" dirty="0">
                <a:effectLst/>
              </a:rPr>
              <a:t> Academic Press. </a:t>
            </a:r>
            <a:r>
              <a:rPr lang="en-GB" altLang="en-US" sz="1400" dirty="0">
                <a:solidFill>
                  <a:srgbClr val="FF66CC"/>
                </a:solidFill>
                <a:effectLst/>
              </a:rPr>
              <a:t>[Session 26 – good for some practical exercises (with solutions)] </a:t>
            </a:r>
          </a:p>
          <a:p>
            <a:pPr marL="177800" indent="-177800">
              <a:lnSpc>
                <a:spcPct val="110000"/>
              </a:lnSpc>
            </a:pPr>
            <a:r>
              <a:rPr lang="en-GB" altLang="en-US" sz="1400" dirty="0">
                <a:effectLst/>
              </a:rPr>
              <a:t>Ramsay JG, Huber MI (1983) </a:t>
            </a:r>
            <a:r>
              <a:rPr lang="en-GB" altLang="en-US" sz="1400" i="1" dirty="0">
                <a:effectLst/>
              </a:rPr>
              <a:t>Techniques of Modern Structural Geology. Volume 1: Strain Analysis.</a:t>
            </a:r>
            <a:r>
              <a:rPr lang="en-GB" altLang="en-US" sz="1400" dirty="0">
                <a:effectLst/>
              </a:rPr>
              <a:t> Academic Press. </a:t>
            </a:r>
            <a:r>
              <a:rPr lang="en-GB" altLang="en-US" sz="1400" dirty="0">
                <a:solidFill>
                  <a:srgbClr val="FF66CC"/>
                </a:solidFill>
                <a:effectLst/>
              </a:rPr>
              <a:t>[Sessions 2 and 3 are good for strain aspects of shear zones; Sessions 13 and 14 are excellent on how to extract meaningful information from veins and fibrous strain fringes]</a:t>
            </a:r>
          </a:p>
          <a:p>
            <a:pPr marL="0" indent="0">
              <a:lnSpc>
                <a:spcPct val="110000"/>
              </a:lnSpc>
              <a:buNone/>
            </a:pPr>
            <a:endParaRPr lang="en-GB" altLang="en-US" sz="1400" dirty="0">
              <a:solidFill>
                <a:srgbClr val="FF66CC"/>
              </a:solidFill>
              <a:effectLst/>
            </a:endParaRPr>
          </a:p>
          <a:p>
            <a:pPr marL="177800" indent="-177800">
              <a:lnSpc>
                <a:spcPct val="110000"/>
              </a:lnSpc>
            </a:pPr>
            <a:r>
              <a:rPr lang="en-GB" altLang="en-US" sz="1400" dirty="0">
                <a:effectLst/>
              </a:rPr>
              <a:t>Fossen H, Cavalcante GCG, 2017, Shear zones – a review, </a:t>
            </a:r>
            <a:r>
              <a:rPr lang="en-GB" altLang="en-US" sz="1400" i="1" dirty="0">
                <a:effectLst/>
              </a:rPr>
              <a:t>Earth-Science Reviews</a:t>
            </a:r>
            <a:r>
              <a:rPr lang="en-GB" altLang="en-US" sz="1400" dirty="0">
                <a:effectLst/>
              </a:rPr>
              <a:t> 171: 434-455 (</a:t>
            </a:r>
            <a:r>
              <a:rPr lang="en-GB" sz="1400" b="0" i="0" u="none" strike="noStrike" baseline="0" dirty="0"/>
              <a:t>http://dx.doi.org/10.1016/j.earscirev.2017.05.002)</a:t>
            </a:r>
            <a:endParaRPr lang="en-GB" altLang="en-US" sz="1400" dirty="0">
              <a:effectLst/>
            </a:endParaRPr>
          </a:p>
        </p:txBody>
      </p:sp>
    </p:spTree>
  </p:cSld>
  <p:clrMapOvr>
    <a:masterClrMapping/>
  </p:clrMapOvr>
  <p:transition spd="slow"/>
</p:sld>
</file>

<file path=ppt/theme/theme1.xml><?xml version="1.0" encoding="utf-8"?>
<a:theme xmlns:a="http://schemas.openxmlformats.org/drawingml/2006/main" name="Basin Studies 2002">
  <a:themeElements>
    <a:clrScheme name="Basin Studies 2002 1">
      <a:dk1>
        <a:srgbClr val="000037"/>
      </a:dk1>
      <a:lt1>
        <a:srgbClr val="FFFFFF"/>
      </a:lt1>
      <a:dk2>
        <a:srgbClr val="000066"/>
      </a:dk2>
      <a:lt2>
        <a:srgbClr val="FFFFFF"/>
      </a:lt2>
      <a:accent1>
        <a:srgbClr val="D5790C"/>
      </a:accent1>
      <a:accent2>
        <a:srgbClr val="D5790C"/>
      </a:accent2>
      <a:accent3>
        <a:srgbClr val="AAAAB8"/>
      </a:accent3>
      <a:accent4>
        <a:srgbClr val="DADADA"/>
      </a:accent4>
      <a:accent5>
        <a:srgbClr val="E7BEAA"/>
      </a:accent5>
      <a:accent6>
        <a:srgbClr val="C16D0A"/>
      </a:accent6>
      <a:hlink>
        <a:srgbClr val="5858A2"/>
      </a:hlink>
      <a:folHlink>
        <a:srgbClr val="FFFFFF"/>
      </a:folHlink>
    </a:clrScheme>
    <a:fontScheme name="Basin Studies 2002">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20000"/>
          </a:spcBef>
          <a:spcAft>
            <a:spcPct val="0"/>
          </a:spcAft>
          <a:buClr>
            <a:schemeClr val="accent2"/>
          </a:buClr>
          <a:buSzTx/>
          <a:buFontTx/>
          <a:buNone/>
          <a:tabLst/>
          <a:defRPr kumimoji="0" lang="en-GB" sz="1600" b="0" i="0" u="none" strike="noStrike" cap="none" normalizeH="0" baseline="0" smtClean="0">
            <a:ln>
              <a:noFill/>
            </a:ln>
            <a:solidFill>
              <a:schemeClr val="tx1"/>
            </a:solidFill>
            <a:effectLst>
              <a:outerShdw blurRad="38100" dist="38100" dir="2700000" algn="tl">
                <a:srgbClr val="000000">
                  <a:alpha val="43137"/>
                </a:srgbClr>
              </a:outerShdw>
            </a:effectLst>
            <a:latin typeface="Helvetica" charset="0"/>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20000"/>
          </a:spcBef>
          <a:spcAft>
            <a:spcPct val="0"/>
          </a:spcAft>
          <a:buClr>
            <a:schemeClr val="accent2"/>
          </a:buClr>
          <a:buSzTx/>
          <a:buFontTx/>
          <a:buNone/>
          <a:tabLst/>
          <a:defRPr kumimoji="0" lang="en-GB" sz="1600" b="0" i="0" u="none" strike="noStrike" cap="none" normalizeH="0" baseline="0" smtClean="0">
            <a:ln>
              <a:noFill/>
            </a:ln>
            <a:solidFill>
              <a:schemeClr val="tx1"/>
            </a:solidFill>
            <a:effectLst>
              <a:outerShdw blurRad="38100" dist="38100" dir="2700000" algn="tl">
                <a:srgbClr val="000000">
                  <a:alpha val="43137"/>
                </a:srgbClr>
              </a:outerShdw>
            </a:effectLst>
            <a:latin typeface="Helvetica" charset="0"/>
          </a:defRPr>
        </a:defPPr>
      </a:lstStyle>
    </a:lnDef>
  </a:objectDefaults>
  <a:extraClrSchemeLst>
    <a:extraClrScheme>
      <a:clrScheme name="Basin Studies 2002 1">
        <a:dk1>
          <a:srgbClr val="000037"/>
        </a:dk1>
        <a:lt1>
          <a:srgbClr val="FFFFFF"/>
        </a:lt1>
        <a:dk2>
          <a:srgbClr val="000066"/>
        </a:dk2>
        <a:lt2>
          <a:srgbClr val="FFFFFF"/>
        </a:lt2>
        <a:accent1>
          <a:srgbClr val="D5790C"/>
        </a:accent1>
        <a:accent2>
          <a:srgbClr val="D5790C"/>
        </a:accent2>
        <a:accent3>
          <a:srgbClr val="AAAAB8"/>
        </a:accent3>
        <a:accent4>
          <a:srgbClr val="DADADA"/>
        </a:accent4>
        <a:accent5>
          <a:srgbClr val="E7BEAA"/>
        </a:accent5>
        <a:accent6>
          <a:srgbClr val="C16D0A"/>
        </a:accent6>
        <a:hlink>
          <a:srgbClr val="5858A2"/>
        </a:hlink>
        <a:folHlink>
          <a:srgbClr val="FFFFFF"/>
        </a:folHlink>
      </a:clrScheme>
      <a:clrMap bg1="dk2" tx1="lt1" bg2="dk1" tx2="lt2" accent1="accent1" accent2="accent2" accent3="accent3" accent4="accent4" accent5="accent5" accent6="accent6" hlink="hlink" folHlink="folHlink"/>
    </a:extraClrScheme>
    <a:extraClrScheme>
      <a:clrScheme name="Basin Studies 2002 2">
        <a:dk1>
          <a:srgbClr val="000066"/>
        </a:dk1>
        <a:lt1>
          <a:srgbClr val="FFFFFF"/>
        </a:lt1>
        <a:dk2>
          <a:srgbClr val="000066"/>
        </a:dk2>
        <a:lt2>
          <a:srgbClr val="000037"/>
        </a:lt2>
        <a:accent1>
          <a:srgbClr val="D5790C"/>
        </a:accent1>
        <a:accent2>
          <a:srgbClr val="D5790C"/>
        </a:accent2>
        <a:accent3>
          <a:srgbClr val="FFFFFF"/>
        </a:accent3>
        <a:accent4>
          <a:srgbClr val="000056"/>
        </a:accent4>
        <a:accent5>
          <a:srgbClr val="E7BEAA"/>
        </a:accent5>
        <a:accent6>
          <a:srgbClr val="C16D0A"/>
        </a:accent6>
        <a:hlink>
          <a:srgbClr val="5858A2"/>
        </a:hlink>
        <a:folHlink>
          <a:srgbClr val="FFFFFF"/>
        </a:folHlink>
      </a:clrScheme>
      <a:clrMap bg1="lt1" tx1="dk1" bg2="lt2" tx2="dk2" accent1="accent1" accent2="accent2" accent3="accent3" accent4="accent4" accent5="accent5" accent6="accent6" hlink="hlink" folHlink="folHlink"/>
    </a:extraClrScheme>
    <a:extraClrScheme>
      <a:clrScheme name="Basin Studies 2002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PowerBook HD:Users:robgawth:Documents:Eudora Folder:Attachments Folder:Basin Studies 2002.pot</Template>
  <TotalTime>11657</TotalTime>
  <Words>10416</Words>
  <Application>Microsoft Office PowerPoint</Application>
  <PresentationFormat>On-screen Show (4:3)</PresentationFormat>
  <Paragraphs>377</Paragraphs>
  <Slides>49</Slides>
  <Notes>49</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49</vt:i4>
      </vt:variant>
    </vt:vector>
  </HeadingPairs>
  <TitlesOfParts>
    <vt:vector size="58" baseType="lpstr">
      <vt:lpstr>Arial</vt:lpstr>
      <vt:lpstr>Cambria Math</vt:lpstr>
      <vt:lpstr>Charis SIL</vt:lpstr>
      <vt:lpstr>Helvetica</vt:lpstr>
      <vt:lpstr>Symbol</vt:lpstr>
      <vt:lpstr>Times</vt:lpstr>
      <vt:lpstr>Times New Roman</vt:lpstr>
      <vt:lpstr>Wingdings</vt:lpstr>
      <vt:lpstr>Basin Studies 2002</vt:lpstr>
      <vt:lpstr>EART 28202 :  Structural Geology    Class 4 :  Shear Zones</vt:lpstr>
      <vt:lpstr>Localization of deformation</vt:lpstr>
      <vt:lpstr>Brittle, semi-brittle, and ductile shear zones</vt:lpstr>
      <vt:lpstr>Brittle, semi-brittle, and ductile shear zones</vt:lpstr>
      <vt:lpstr>Description of shear zones</vt:lpstr>
      <vt:lpstr>Kinematic classification of shear zones</vt:lpstr>
      <vt:lpstr>Ideal shear zones formed by progressive simple shear</vt:lpstr>
      <vt:lpstr>Estimating displacements across shear zones</vt:lpstr>
      <vt:lpstr>  Ductile shear zones</vt:lpstr>
      <vt:lpstr>Shear zone rocks (fabrics)</vt:lpstr>
      <vt:lpstr>Shear zone rocks (mylonites)</vt:lpstr>
      <vt:lpstr>Relationship of shear zone fabrics to finite strain</vt:lpstr>
      <vt:lpstr>Shear zone fabrics (stereograms)</vt:lpstr>
      <vt:lpstr>Deflection and extension of markers</vt:lpstr>
      <vt:lpstr>Analysis of lines/planes deformed into a shear zone</vt:lpstr>
      <vt:lpstr>Folded markers</vt:lpstr>
      <vt:lpstr>Intrafolial folds</vt:lpstr>
      <vt:lpstr>Sheath folds</vt:lpstr>
      <vt:lpstr>Sheath folds</vt:lpstr>
      <vt:lpstr>S-C fabrics</vt:lpstr>
      <vt:lpstr>S-C fabrics (further examples)</vt:lpstr>
      <vt:lpstr>Shear sense from objects within mylonites</vt:lpstr>
      <vt:lpstr>Mantled porphyroclasts</vt:lpstr>
      <vt:lpstr>Mantled porphyroclasts (σ - type)</vt:lpstr>
      <vt:lpstr>Mantled porphyroclasts (δ - type)</vt:lpstr>
      <vt:lpstr>Sigmoids and quarter structures</vt:lpstr>
      <vt:lpstr>Strain fringes</vt:lpstr>
      <vt:lpstr>Fractured/boudinaged porphyroclasts</vt:lpstr>
      <vt:lpstr>Mineral fish</vt:lpstr>
      <vt:lpstr>Shape fabric and lattice preferred orientations (LPO)</vt:lpstr>
      <vt:lpstr>Summary:  shear sense in ductile shear zones</vt:lpstr>
      <vt:lpstr>  Semi-brittle shear zones</vt:lpstr>
      <vt:lpstr>Combined ductile and brittle deformation</vt:lpstr>
      <vt:lpstr>Tension gash arrays  1</vt:lpstr>
      <vt:lpstr>Tension gash arrays 2</vt:lpstr>
      <vt:lpstr>Tension gash arrays (transpression / transtension)</vt:lpstr>
      <vt:lpstr>The vein infill</vt:lpstr>
      <vt:lpstr>The vein infill  2</vt:lpstr>
      <vt:lpstr>Fibrous veins as applied to tension gashes</vt:lpstr>
      <vt:lpstr>  Brittle shear zones</vt:lpstr>
      <vt:lpstr>Brittle fault rocks (breccias)</vt:lpstr>
      <vt:lpstr>Brittle fault rocks (cataclasites)</vt:lpstr>
      <vt:lpstr>Brittle fault rocks (pseudotachylytes)</vt:lpstr>
      <vt:lpstr>Brittle fault rocks (gouges)</vt:lpstr>
      <vt:lpstr>Fabrics in clay-bearing fault gouges</vt:lpstr>
      <vt:lpstr>Fabrics in clay-bearing fault gouges  2</vt:lpstr>
      <vt:lpstr>Fabrics in clay-bearing fault gouges  3</vt:lpstr>
      <vt:lpstr>Deformation bands</vt:lpstr>
      <vt:lpstr>Reading</vt:lpstr>
    </vt:vector>
  </TitlesOfParts>
  <Company>University of Manchester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GY2141 Lecture 10</dc:subject>
  <dc:creator>Steve Covey-Crump</dc:creator>
  <cp:lastModifiedBy>Stephen Covey-crump</cp:lastModifiedBy>
  <cp:revision>427</cp:revision>
  <cp:lastPrinted>2002-03-22T07:32:28Z</cp:lastPrinted>
  <dcterms:created xsi:type="dcterms:W3CDTF">2002-10-21T14:42:49Z</dcterms:created>
  <dcterms:modified xsi:type="dcterms:W3CDTF">2026-02-26T11:45:15Z</dcterms:modified>
</cp:coreProperties>
</file>