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1" r:id="rId1"/>
  </p:sldMasterIdLst>
  <p:notesMasterIdLst>
    <p:notesMasterId r:id="rId54"/>
  </p:notesMasterIdLst>
  <p:handoutMasterIdLst>
    <p:handoutMasterId r:id="rId55"/>
  </p:handoutMasterIdLst>
  <p:sldIdLst>
    <p:sldId id="316" r:id="rId2"/>
    <p:sldId id="399" r:id="rId3"/>
    <p:sldId id="362" r:id="rId4"/>
    <p:sldId id="396" r:id="rId5"/>
    <p:sldId id="363" r:id="rId6"/>
    <p:sldId id="365" r:id="rId7"/>
    <p:sldId id="364" r:id="rId8"/>
    <p:sldId id="347" r:id="rId9"/>
    <p:sldId id="366" r:id="rId10"/>
    <p:sldId id="349" r:id="rId11"/>
    <p:sldId id="350" r:id="rId12"/>
    <p:sldId id="367" r:id="rId13"/>
    <p:sldId id="391" r:id="rId14"/>
    <p:sldId id="351" r:id="rId15"/>
    <p:sldId id="353" r:id="rId16"/>
    <p:sldId id="354" r:id="rId17"/>
    <p:sldId id="368" r:id="rId18"/>
    <p:sldId id="343" r:id="rId19"/>
    <p:sldId id="358" r:id="rId20"/>
    <p:sldId id="359" r:id="rId21"/>
    <p:sldId id="360" r:id="rId22"/>
    <p:sldId id="369" r:id="rId23"/>
    <p:sldId id="397" r:id="rId24"/>
    <p:sldId id="392" r:id="rId25"/>
    <p:sldId id="361" r:id="rId26"/>
    <p:sldId id="398" r:id="rId27"/>
    <p:sldId id="371" r:id="rId28"/>
    <p:sldId id="375" r:id="rId29"/>
    <p:sldId id="376" r:id="rId30"/>
    <p:sldId id="372" r:id="rId31"/>
    <p:sldId id="373" r:id="rId32"/>
    <p:sldId id="374" r:id="rId33"/>
    <p:sldId id="344" r:id="rId34"/>
    <p:sldId id="356" r:id="rId35"/>
    <p:sldId id="377" r:id="rId36"/>
    <p:sldId id="384" r:id="rId37"/>
    <p:sldId id="382" r:id="rId38"/>
    <p:sldId id="378" r:id="rId39"/>
    <p:sldId id="379" r:id="rId40"/>
    <p:sldId id="380" r:id="rId41"/>
    <p:sldId id="383" r:id="rId42"/>
    <p:sldId id="385" r:id="rId43"/>
    <p:sldId id="386" r:id="rId44"/>
    <p:sldId id="381" r:id="rId45"/>
    <p:sldId id="387" r:id="rId46"/>
    <p:sldId id="388" r:id="rId47"/>
    <p:sldId id="389" r:id="rId48"/>
    <p:sldId id="345" r:id="rId49"/>
    <p:sldId id="357" r:id="rId50"/>
    <p:sldId id="395" r:id="rId51"/>
    <p:sldId id="394" r:id="rId52"/>
    <p:sldId id="342" r:id="rId53"/>
  </p:sldIdLst>
  <p:sldSz cx="9144000" cy="6858000" type="screen4x3"/>
  <p:notesSz cx="6732588" cy="9855200"/>
  <p:defaultTextStyle>
    <a:defPPr>
      <a:defRPr lang="en-GB"/>
    </a:defPPr>
    <a:lvl1pPr algn="l" rtl="0" eaLnBrk="0" fontAlgn="base" hangingPunct="0">
      <a:spcBef>
        <a:spcPct val="20000"/>
      </a:spcBef>
      <a:spcAft>
        <a:spcPct val="0"/>
      </a:spcAft>
      <a:buClr>
        <a:schemeClr val="accent2"/>
      </a:buClr>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1pPr>
    <a:lvl2pPr marL="457200" algn="l" rtl="0" eaLnBrk="0" fontAlgn="base" hangingPunct="0">
      <a:spcBef>
        <a:spcPct val="20000"/>
      </a:spcBef>
      <a:spcAft>
        <a:spcPct val="0"/>
      </a:spcAft>
      <a:buClr>
        <a:schemeClr val="accent2"/>
      </a:buClr>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2pPr>
    <a:lvl3pPr marL="914400" algn="l" rtl="0" eaLnBrk="0" fontAlgn="base" hangingPunct="0">
      <a:spcBef>
        <a:spcPct val="20000"/>
      </a:spcBef>
      <a:spcAft>
        <a:spcPct val="0"/>
      </a:spcAft>
      <a:buClr>
        <a:schemeClr val="accent2"/>
      </a:buClr>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3pPr>
    <a:lvl4pPr marL="1371600" algn="l" rtl="0" eaLnBrk="0" fontAlgn="base" hangingPunct="0">
      <a:spcBef>
        <a:spcPct val="20000"/>
      </a:spcBef>
      <a:spcAft>
        <a:spcPct val="0"/>
      </a:spcAft>
      <a:buClr>
        <a:schemeClr val="accent2"/>
      </a:buClr>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4pPr>
    <a:lvl5pPr marL="1828800" algn="l" rtl="0" eaLnBrk="0" fontAlgn="base" hangingPunct="0">
      <a:spcBef>
        <a:spcPct val="20000"/>
      </a:spcBef>
      <a:spcAft>
        <a:spcPct val="0"/>
      </a:spcAft>
      <a:buClr>
        <a:schemeClr val="accent2"/>
      </a:buClr>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5pPr>
    <a:lvl6pPr marL="2286000" algn="l" defTabSz="914400" rtl="0" eaLnBrk="1" latinLnBrk="0" hangingPunct="1">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6pPr>
    <a:lvl7pPr marL="2743200" algn="l" defTabSz="914400" rtl="0" eaLnBrk="1" latinLnBrk="0" hangingPunct="1">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7pPr>
    <a:lvl8pPr marL="3200400" algn="l" defTabSz="914400" rtl="0" eaLnBrk="1" latinLnBrk="0" hangingPunct="1">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8pPr>
    <a:lvl9pPr marL="3657600" algn="l" defTabSz="914400" rtl="0" eaLnBrk="1" latinLnBrk="0" hangingPunct="1">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9pPr>
  </p:defaultTextStyle>
  <p:extLst>
    <p:ext uri="{EFAFB233-063F-42B5-8137-9DF3F51BA10A}">
      <p15:sldGuideLst xmlns:p15="http://schemas.microsoft.com/office/powerpoint/2012/main">
        <p15:guide id="1" orient="horz" pos="2914">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CC"/>
    <a:srgbClr val="FF6600"/>
    <a:srgbClr val="FFFF00"/>
    <a:srgbClr val="FF3300"/>
    <a:srgbClr val="FF0000"/>
    <a:srgbClr val="D3D3FF"/>
    <a:srgbClr val="B7B7FF"/>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046" autoAdjust="0"/>
    <p:restoredTop sz="70581" autoAdjust="0"/>
  </p:normalViewPr>
  <p:slideViewPr>
    <p:cSldViewPr snapToGrid="0">
      <p:cViewPr varScale="1">
        <p:scale>
          <a:sx n="78" d="100"/>
          <a:sy n="78" d="100"/>
        </p:scale>
        <p:origin x="3012" y="84"/>
      </p:cViewPr>
      <p:guideLst>
        <p:guide orient="horz" pos="2914"/>
        <p:guide pos="2880"/>
      </p:guideLst>
    </p:cSldViewPr>
  </p:slideViewPr>
  <p:outlineViewPr>
    <p:cViewPr>
      <p:scale>
        <a:sx n="33" d="100"/>
        <a:sy n="33" d="100"/>
      </p:scale>
      <p:origin x="0" y="0"/>
    </p:cViewPr>
    <p:sldLst>
      <p:sld r:id="rId1" collapse="1"/>
      <p:sld r:id="rId2" collapse="1"/>
      <p:sld r:id="rId3" collapse="1"/>
      <p:sld r:id="rId4" collapse="1"/>
      <p:sld r:id="rId5" collapse="1"/>
    </p:sldLst>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_rels/viewProps.xml.rels><?xml version="1.0" encoding="UTF-8" standalone="yes"?>
<Relationships xmlns="http://schemas.openxmlformats.org/package/2006/relationships"><Relationship Id="rId3" Type="http://schemas.openxmlformats.org/officeDocument/2006/relationships/slide" Target="slides/slide18.xml"/><Relationship Id="rId2" Type="http://schemas.openxmlformats.org/officeDocument/2006/relationships/slide" Target="slides/slide6.xml"/><Relationship Id="rId1" Type="http://schemas.openxmlformats.org/officeDocument/2006/relationships/slide" Target="slides/slide1.xml"/><Relationship Id="rId5" Type="http://schemas.openxmlformats.org/officeDocument/2006/relationships/slide" Target="slides/slide48.xml"/><Relationship Id="rId4" Type="http://schemas.openxmlformats.org/officeDocument/2006/relationships/slide" Target="slides/slide3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A2599D16-772F-4001-8A5E-0F0572D4B360}"/>
              </a:ext>
            </a:extLst>
          </p:cNvPr>
          <p:cNvSpPr>
            <a:spLocks noGrp="1" noChangeArrowheads="1"/>
          </p:cNvSpPr>
          <p:nvPr>
            <p:ph type="hdr" sz="quarter"/>
          </p:nvPr>
        </p:nvSpPr>
        <p:spPr bwMode="auto">
          <a:xfrm>
            <a:off x="0" y="0"/>
            <a:ext cx="2890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t" anchorCtr="0" compatLnSpc="1">
            <a:prstTxWarp prst="textNoShape">
              <a:avLst/>
            </a:prstTxWarp>
          </a:bodyPr>
          <a:lstStyle>
            <a:lvl1pPr defTabSz="912813">
              <a:spcBef>
                <a:spcPct val="0"/>
              </a:spcBef>
              <a:buClrTx/>
              <a:defRPr sz="1200" smtClean="0">
                <a:effectLst/>
                <a:latin typeface="Arial" charset="0"/>
              </a:defRPr>
            </a:lvl1pPr>
          </a:lstStyle>
          <a:p>
            <a:pPr>
              <a:defRPr/>
            </a:pPr>
            <a:endParaRPr lang="en-GB"/>
          </a:p>
        </p:txBody>
      </p:sp>
      <p:sp>
        <p:nvSpPr>
          <p:cNvPr id="87043" name="Rectangle 3">
            <a:extLst>
              <a:ext uri="{FF2B5EF4-FFF2-40B4-BE49-F238E27FC236}">
                <a16:creationId xmlns:a16="http://schemas.microsoft.com/office/drawing/2014/main" id="{8BD6B7BF-A546-462B-9BEA-316D12785089}"/>
              </a:ext>
            </a:extLst>
          </p:cNvPr>
          <p:cNvSpPr>
            <a:spLocks noGrp="1" noChangeArrowheads="1"/>
          </p:cNvSpPr>
          <p:nvPr>
            <p:ph type="dt" sz="quarter" idx="1"/>
          </p:nvPr>
        </p:nvSpPr>
        <p:spPr bwMode="auto">
          <a:xfrm>
            <a:off x="3803650" y="0"/>
            <a:ext cx="2890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t" anchorCtr="0" compatLnSpc="1">
            <a:prstTxWarp prst="textNoShape">
              <a:avLst/>
            </a:prstTxWarp>
          </a:bodyPr>
          <a:lstStyle>
            <a:lvl1pPr algn="r" defTabSz="912813">
              <a:spcBef>
                <a:spcPct val="0"/>
              </a:spcBef>
              <a:buClrTx/>
              <a:defRPr sz="1200" smtClean="0">
                <a:effectLst/>
                <a:latin typeface="Arial" charset="0"/>
              </a:defRPr>
            </a:lvl1pPr>
          </a:lstStyle>
          <a:p>
            <a:pPr>
              <a:defRPr/>
            </a:pPr>
            <a:endParaRPr lang="en-GB"/>
          </a:p>
        </p:txBody>
      </p:sp>
      <p:sp>
        <p:nvSpPr>
          <p:cNvPr id="87044" name="Rectangle 4">
            <a:extLst>
              <a:ext uri="{FF2B5EF4-FFF2-40B4-BE49-F238E27FC236}">
                <a16:creationId xmlns:a16="http://schemas.microsoft.com/office/drawing/2014/main" id="{A3AA6755-0D72-499C-8FE1-28F6B2CC918F}"/>
              </a:ext>
            </a:extLst>
          </p:cNvPr>
          <p:cNvSpPr>
            <a:spLocks noGrp="1" noChangeArrowheads="1"/>
          </p:cNvSpPr>
          <p:nvPr>
            <p:ph type="ftr" sz="quarter" idx="2"/>
          </p:nvPr>
        </p:nvSpPr>
        <p:spPr bwMode="auto">
          <a:xfrm>
            <a:off x="0" y="9347200"/>
            <a:ext cx="28908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b" anchorCtr="0" compatLnSpc="1">
            <a:prstTxWarp prst="textNoShape">
              <a:avLst/>
            </a:prstTxWarp>
          </a:bodyPr>
          <a:lstStyle>
            <a:lvl1pPr defTabSz="912813">
              <a:spcBef>
                <a:spcPct val="0"/>
              </a:spcBef>
              <a:buClrTx/>
              <a:defRPr sz="1200" smtClean="0">
                <a:effectLst/>
                <a:latin typeface="Arial" charset="0"/>
              </a:defRPr>
            </a:lvl1pPr>
          </a:lstStyle>
          <a:p>
            <a:pPr>
              <a:defRPr/>
            </a:pPr>
            <a:endParaRPr lang="en-GB"/>
          </a:p>
        </p:txBody>
      </p:sp>
      <p:sp>
        <p:nvSpPr>
          <p:cNvPr id="87045" name="Rectangle 5">
            <a:extLst>
              <a:ext uri="{FF2B5EF4-FFF2-40B4-BE49-F238E27FC236}">
                <a16:creationId xmlns:a16="http://schemas.microsoft.com/office/drawing/2014/main" id="{9426ECDA-6DEF-47A8-8972-C97217B6999C}"/>
              </a:ext>
            </a:extLst>
          </p:cNvPr>
          <p:cNvSpPr>
            <a:spLocks noGrp="1" noChangeArrowheads="1"/>
          </p:cNvSpPr>
          <p:nvPr>
            <p:ph type="sldNum" sz="quarter" idx="3"/>
          </p:nvPr>
        </p:nvSpPr>
        <p:spPr bwMode="auto">
          <a:xfrm>
            <a:off x="3803650" y="9347200"/>
            <a:ext cx="28908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b" anchorCtr="0" compatLnSpc="1">
            <a:prstTxWarp prst="textNoShape">
              <a:avLst/>
            </a:prstTxWarp>
          </a:bodyPr>
          <a:lstStyle>
            <a:lvl1pPr algn="r" defTabSz="912813">
              <a:spcBef>
                <a:spcPct val="0"/>
              </a:spcBef>
              <a:buClrTx/>
              <a:defRPr sz="1200">
                <a:effectLst/>
                <a:latin typeface="Arial" panose="020B0604020202020204" pitchFamily="34" charset="0"/>
              </a:defRPr>
            </a:lvl1pPr>
          </a:lstStyle>
          <a:p>
            <a:fld id="{0F8E2CB1-8CB9-4CF9-B20C-C84B03D16620}" type="slidenum">
              <a:rPr lang="en-GB" altLang="en-US"/>
              <a:pPr/>
              <a:t>‹#›</a:t>
            </a:fld>
            <a:endParaRPr lang="en-GB"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11E85D03-32FC-4417-9750-A0EF4B4CEEDC}"/>
              </a:ext>
            </a:extLst>
          </p:cNvPr>
          <p:cNvSpPr>
            <a:spLocks noGrp="1" noChangeArrowheads="1"/>
          </p:cNvSpPr>
          <p:nvPr>
            <p:ph type="hdr" sz="quarter"/>
          </p:nvPr>
        </p:nvSpPr>
        <p:spPr bwMode="auto">
          <a:xfrm>
            <a:off x="0" y="0"/>
            <a:ext cx="2890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t" anchorCtr="0" compatLnSpc="1">
            <a:prstTxWarp prst="textNoShape">
              <a:avLst/>
            </a:prstTxWarp>
          </a:bodyPr>
          <a:lstStyle>
            <a:lvl1pPr defTabSz="912813">
              <a:spcBef>
                <a:spcPct val="0"/>
              </a:spcBef>
              <a:buClrTx/>
              <a:defRPr sz="1200" smtClean="0">
                <a:effectLst/>
                <a:latin typeface="Arial" charset="0"/>
              </a:defRPr>
            </a:lvl1pPr>
          </a:lstStyle>
          <a:p>
            <a:pPr>
              <a:defRPr/>
            </a:pPr>
            <a:endParaRPr lang="en-GB"/>
          </a:p>
        </p:txBody>
      </p:sp>
      <p:sp>
        <p:nvSpPr>
          <p:cNvPr id="43011" name="Rectangle 3">
            <a:extLst>
              <a:ext uri="{FF2B5EF4-FFF2-40B4-BE49-F238E27FC236}">
                <a16:creationId xmlns:a16="http://schemas.microsoft.com/office/drawing/2014/main" id="{17C75D4B-AF9A-46D5-A814-C9044004F96D}"/>
              </a:ext>
            </a:extLst>
          </p:cNvPr>
          <p:cNvSpPr>
            <a:spLocks noGrp="1" noChangeArrowheads="1"/>
          </p:cNvSpPr>
          <p:nvPr>
            <p:ph type="dt" idx="1"/>
          </p:nvPr>
        </p:nvSpPr>
        <p:spPr bwMode="auto">
          <a:xfrm>
            <a:off x="3803650" y="0"/>
            <a:ext cx="2890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t" anchorCtr="0" compatLnSpc="1">
            <a:prstTxWarp prst="textNoShape">
              <a:avLst/>
            </a:prstTxWarp>
          </a:bodyPr>
          <a:lstStyle>
            <a:lvl1pPr algn="r" defTabSz="912813">
              <a:spcBef>
                <a:spcPct val="0"/>
              </a:spcBef>
              <a:buClrTx/>
              <a:defRPr sz="1200" smtClean="0">
                <a:effectLst/>
                <a:latin typeface="Arial" charset="0"/>
              </a:defRPr>
            </a:lvl1pPr>
          </a:lstStyle>
          <a:p>
            <a:pPr>
              <a:defRPr/>
            </a:pPr>
            <a:endParaRPr lang="en-GB"/>
          </a:p>
        </p:txBody>
      </p:sp>
      <p:sp>
        <p:nvSpPr>
          <p:cNvPr id="40964" name="Rectangle 4">
            <a:extLst>
              <a:ext uri="{FF2B5EF4-FFF2-40B4-BE49-F238E27FC236}">
                <a16:creationId xmlns:a16="http://schemas.microsoft.com/office/drawing/2014/main" id="{76ADA962-5ABD-41E9-95B4-65A1E0E8377F}"/>
              </a:ext>
            </a:extLst>
          </p:cNvPr>
          <p:cNvSpPr>
            <a:spLocks noGrp="1" noRot="1" noChangeAspect="1" noChangeArrowheads="1" noTextEdit="1"/>
          </p:cNvSpPr>
          <p:nvPr>
            <p:ph type="sldImg" idx="2"/>
          </p:nvPr>
        </p:nvSpPr>
        <p:spPr bwMode="auto">
          <a:xfrm>
            <a:off x="954088" y="758825"/>
            <a:ext cx="4864100" cy="364807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3013" name="Rectangle 5">
            <a:extLst>
              <a:ext uri="{FF2B5EF4-FFF2-40B4-BE49-F238E27FC236}">
                <a16:creationId xmlns:a16="http://schemas.microsoft.com/office/drawing/2014/main" id="{D36A97B8-6352-451B-B7A4-819405244535}"/>
              </a:ext>
            </a:extLst>
          </p:cNvPr>
          <p:cNvSpPr>
            <a:spLocks noGrp="1" noChangeArrowheads="1"/>
          </p:cNvSpPr>
          <p:nvPr>
            <p:ph type="body" sz="quarter" idx="3"/>
          </p:nvPr>
        </p:nvSpPr>
        <p:spPr bwMode="auto">
          <a:xfrm>
            <a:off x="912813" y="4711700"/>
            <a:ext cx="4945062" cy="441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43014" name="Rectangle 6">
            <a:extLst>
              <a:ext uri="{FF2B5EF4-FFF2-40B4-BE49-F238E27FC236}">
                <a16:creationId xmlns:a16="http://schemas.microsoft.com/office/drawing/2014/main" id="{E7F0C772-CC75-4E2B-B490-6300AC67661E}"/>
              </a:ext>
            </a:extLst>
          </p:cNvPr>
          <p:cNvSpPr>
            <a:spLocks noGrp="1" noChangeArrowheads="1"/>
          </p:cNvSpPr>
          <p:nvPr>
            <p:ph type="ftr" sz="quarter" idx="4"/>
          </p:nvPr>
        </p:nvSpPr>
        <p:spPr bwMode="auto">
          <a:xfrm>
            <a:off x="0" y="9347200"/>
            <a:ext cx="28908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b" anchorCtr="0" compatLnSpc="1">
            <a:prstTxWarp prst="textNoShape">
              <a:avLst/>
            </a:prstTxWarp>
          </a:bodyPr>
          <a:lstStyle>
            <a:lvl1pPr defTabSz="912813">
              <a:spcBef>
                <a:spcPct val="0"/>
              </a:spcBef>
              <a:buClrTx/>
              <a:defRPr sz="1200" smtClean="0">
                <a:effectLst/>
                <a:latin typeface="Arial" charset="0"/>
              </a:defRPr>
            </a:lvl1pPr>
          </a:lstStyle>
          <a:p>
            <a:pPr>
              <a:defRPr/>
            </a:pPr>
            <a:endParaRPr lang="en-GB"/>
          </a:p>
        </p:txBody>
      </p:sp>
      <p:sp>
        <p:nvSpPr>
          <p:cNvPr id="43015" name="Rectangle 7">
            <a:extLst>
              <a:ext uri="{FF2B5EF4-FFF2-40B4-BE49-F238E27FC236}">
                <a16:creationId xmlns:a16="http://schemas.microsoft.com/office/drawing/2014/main" id="{D14F04C3-6E72-48C3-958B-0193AC2CCEA1}"/>
              </a:ext>
            </a:extLst>
          </p:cNvPr>
          <p:cNvSpPr>
            <a:spLocks noGrp="1" noChangeArrowheads="1"/>
          </p:cNvSpPr>
          <p:nvPr>
            <p:ph type="sldNum" sz="quarter" idx="5"/>
          </p:nvPr>
        </p:nvSpPr>
        <p:spPr bwMode="auto">
          <a:xfrm>
            <a:off x="3803650" y="9347200"/>
            <a:ext cx="28908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b" anchorCtr="0" compatLnSpc="1">
            <a:prstTxWarp prst="textNoShape">
              <a:avLst/>
            </a:prstTxWarp>
          </a:bodyPr>
          <a:lstStyle>
            <a:lvl1pPr algn="r" defTabSz="912813">
              <a:spcBef>
                <a:spcPct val="0"/>
              </a:spcBef>
              <a:buClrTx/>
              <a:defRPr sz="1200">
                <a:effectLst/>
                <a:latin typeface="Arial" panose="020B0604020202020204" pitchFamily="34" charset="0"/>
              </a:defRPr>
            </a:lvl1pPr>
          </a:lstStyle>
          <a:p>
            <a:fld id="{7245E67F-AB97-464F-8455-AFB2E20C0940}" type="slidenum">
              <a:rPr lang="en-GB" altLang="en-US"/>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010" name="Rectangle 2">
            <a:extLst>
              <a:ext uri="{FF2B5EF4-FFF2-40B4-BE49-F238E27FC236}">
                <a16:creationId xmlns:a16="http://schemas.microsoft.com/office/drawing/2014/main" id="{8315E930-6791-4F07-929F-DAD6E4BF7CBF}"/>
              </a:ext>
            </a:extLst>
          </p:cNvPr>
          <p:cNvSpPr>
            <a:spLocks noGrp="1" noRot="1" noChangeAspect="1" noChangeArrowheads="1" noTextEdit="1"/>
          </p:cNvSpPr>
          <p:nvPr>
            <p:ph type="sldImg"/>
          </p:nvPr>
        </p:nvSpPr>
        <p:spPr>
          <a:ln/>
        </p:spPr>
      </p:sp>
      <p:sp>
        <p:nvSpPr>
          <p:cNvPr id="427011" name="Rectangle 3">
            <a:extLst>
              <a:ext uri="{FF2B5EF4-FFF2-40B4-BE49-F238E27FC236}">
                <a16:creationId xmlns:a16="http://schemas.microsoft.com/office/drawing/2014/main" id="{F37083C2-772E-4427-A7ED-9507F6301EDC}"/>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In the notes panes to these slides there are numerous references (figure credits and further reading). If the reference is incomplete it refers to the references stated in the reading list on the last slide</a:t>
            </a:r>
          </a:p>
          <a:p>
            <a:pPr marL="108000" indent="-108000">
              <a:spcBef>
                <a:spcPts val="300"/>
              </a:spcBef>
              <a:buFont typeface="Arial" panose="020B0604020202020204" pitchFamily="34" charset="0"/>
              <a:buChar char="•"/>
            </a:pPr>
            <a:r>
              <a:rPr lang="en-GB" altLang="en-US" sz="1000" dirty="0"/>
              <a:t>With regard to figures in this PowerPoint file, many will be subject to copyright restrictions. I don’t care about you using any of the figures/photos that are mine (Steve Covey-Crump), although a credit would be nice, but take care to comply with copyright restrictions if you reuse any that are not</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a:extLst>
              <a:ext uri="{FF2B5EF4-FFF2-40B4-BE49-F238E27FC236}">
                <a16:creationId xmlns:a16="http://schemas.microsoft.com/office/drawing/2014/main" id="{C2C8E43C-107F-4957-87F2-C136C41D5351}"/>
              </a:ext>
            </a:extLst>
          </p:cNvPr>
          <p:cNvSpPr>
            <a:spLocks noGrp="1" noRot="1" noChangeAspect="1" noChangeArrowheads="1" noTextEdit="1"/>
          </p:cNvSpPr>
          <p:nvPr>
            <p:ph type="sldImg"/>
          </p:nvPr>
        </p:nvSpPr>
        <p:spPr>
          <a:ln/>
        </p:spPr>
      </p:sp>
      <p:sp>
        <p:nvSpPr>
          <p:cNvPr id="221187" name="Rectangle 3">
            <a:extLst>
              <a:ext uri="{FF2B5EF4-FFF2-40B4-BE49-F238E27FC236}">
                <a16:creationId xmlns:a16="http://schemas.microsoft.com/office/drawing/2014/main" id="{1137D7FF-68FE-4A2F-8570-5C65890F3564}"/>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Photo left (from Fossen, p.129). This fissure is an open extension fracture, but the vertical displacement (right hand side down) suggests a connection with underlying normal faults</a:t>
            </a:r>
          </a:p>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a:t>Image right (from photojournal.jpl.nasa.gov/</a:t>
            </a:r>
            <a:r>
              <a:rPr lang="en-GB" altLang="en-US" sz="1000" dirty="0" err="1"/>
              <a:t>catalog</a:t>
            </a:r>
            <a:r>
              <a:rPr lang="en-GB" altLang="en-US" sz="1000" dirty="0"/>
              <a:t>/pia00085): Magellan radar image of the Lakshmi region at 30°N and 333.3°E between Sedna </a:t>
            </a:r>
            <a:r>
              <a:rPr lang="en-GB" altLang="en-US" sz="1000" dirty="0" err="1"/>
              <a:t>Planitia</a:t>
            </a:r>
            <a:r>
              <a:rPr lang="en-GB" altLang="en-US" sz="1000" dirty="0"/>
              <a:t> and Guinevere </a:t>
            </a:r>
            <a:r>
              <a:rPr lang="en-GB" altLang="en-US" sz="1000" dirty="0" err="1"/>
              <a:t>Planitia</a:t>
            </a:r>
            <a:r>
              <a:rPr lang="en-GB" altLang="en-US" sz="1000" dirty="0"/>
              <a:t>, west of </a:t>
            </a:r>
            <a:r>
              <a:rPr lang="en-GB" altLang="en-US" sz="1000" dirty="0" err="1"/>
              <a:t>Eistla</a:t>
            </a:r>
            <a:r>
              <a:rPr lang="en-GB" altLang="en-US" sz="1000" dirty="0"/>
              <a:t> Regio, Venus. This lava plain contains two sets of fractures at 90° to each other. The fainter and older fractures (NE/SW) are evenly spaced at </a:t>
            </a:r>
            <a:r>
              <a:rPr lang="en-GB" altLang="en-US" sz="1000" spc="100" baseline="0" dirty="0"/>
              <a:t>~</a:t>
            </a:r>
            <a:r>
              <a:rPr lang="en-GB" altLang="en-US" sz="1000" dirty="0"/>
              <a:t>1.0 km. The bright and younger fractures (NW/SE) are more irregular in shape and shorter in length than the NE/SW fractures. These particular fracture sets imply extensional deformation of the surface of Venus in this region. For further details, see Solomon </a:t>
            </a:r>
            <a:r>
              <a:rPr lang="en-GB" altLang="en-US" sz="1000" i="1" dirty="0"/>
              <a:t>et al.</a:t>
            </a:r>
            <a:r>
              <a:rPr lang="en-GB" altLang="en-US" sz="1000" dirty="0"/>
              <a:t>, 1991, </a:t>
            </a:r>
            <a:r>
              <a:rPr lang="en-GB" altLang="en-US" sz="1000" i="1" dirty="0"/>
              <a:t>Science</a:t>
            </a:r>
            <a:r>
              <a:rPr lang="en-GB" altLang="en-US" sz="1000" dirty="0"/>
              <a:t> 252: 297-312, https://doi.org/</a:t>
            </a:r>
            <a:r>
              <a:rPr lang="en-GB" sz="1000" dirty="0"/>
              <a:t>10.1126/science.252.5003.297</a:t>
            </a:r>
            <a:r>
              <a:rPr lang="en-GB" altLang="en-US" sz="1000" dirty="0"/>
              <a:t>; </a:t>
            </a:r>
            <a:r>
              <a:rPr lang="en-GB" altLang="en-US" sz="1000" dirty="0" err="1"/>
              <a:t>Banerdt</a:t>
            </a:r>
            <a:r>
              <a:rPr lang="en-GB" altLang="en-US" sz="1000" dirty="0"/>
              <a:t> &amp; </a:t>
            </a:r>
            <a:r>
              <a:rPr lang="en-GB" altLang="en-US" sz="1000" dirty="0" err="1"/>
              <a:t>Sammis</a:t>
            </a:r>
            <a:r>
              <a:rPr lang="en-GB" altLang="en-US" sz="1000" dirty="0"/>
              <a:t>, 1992, </a:t>
            </a:r>
            <a:r>
              <a:rPr lang="en-GB" altLang="en-US" sz="1000" i="1" dirty="0"/>
              <a:t>Journal of Geophysical Research</a:t>
            </a:r>
            <a:r>
              <a:rPr lang="en-GB" altLang="en-US" sz="1000" i="0" dirty="0"/>
              <a:t> 97: 16149-16166, </a:t>
            </a:r>
            <a:r>
              <a:rPr lang="en-GB" sz="1000" dirty="0"/>
              <a:t>https://doi.org/10.1029/92JE01892</a:t>
            </a:r>
            <a:endParaRPr lang="en-GB" altLang="en-US" sz="1000" i="0" dirty="0"/>
          </a:p>
          <a:p>
            <a:pPr marL="0" indent="0">
              <a:spcBef>
                <a:spcPts val="300"/>
              </a:spcBef>
              <a:buFont typeface="Arial" panose="020B0604020202020204" pitchFamily="34" charset="0"/>
              <a:buNone/>
            </a:pPr>
            <a:endParaRPr lang="en-GB" altLang="en-US" sz="1000" i="0" dirty="0"/>
          </a:p>
        </p:txBody>
      </p:sp>
    </p:spTree>
    <p:extLst>
      <p:ext uri="{BB962C8B-B14F-4D97-AF65-F5344CB8AC3E}">
        <p14:creationId xmlns:p14="http://schemas.microsoft.com/office/powerpoint/2010/main" val="19478811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Rectangle 2">
            <a:extLst>
              <a:ext uri="{FF2B5EF4-FFF2-40B4-BE49-F238E27FC236}">
                <a16:creationId xmlns:a16="http://schemas.microsoft.com/office/drawing/2014/main" id="{767AD853-FDA4-4FBD-B622-BAD191BB827D}"/>
              </a:ext>
            </a:extLst>
          </p:cNvPr>
          <p:cNvSpPr>
            <a:spLocks noGrp="1" noRot="1" noChangeAspect="1" noChangeArrowheads="1" noTextEdit="1"/>
          </p:cNvSpPr>
          <p:nvPr>
            <p:ph type="sldImg"/>
          </p:nvPr>
        </p:nvSpPr>
        <p:spPr>
          <a:ln/>
        </p:spPr>
      </p:sp>
      <p:sp>
        <p:nvSpPr>
          <p:cNvPr id="276483" name="Rectangle 3">
            <a:extLst>
              <a:ext uri="{FF2B5EF4-FFF2-40B4-BE49-F238E27FC236}">
                <a16:creationId xmlns:a16="http://schemas.microsoft.com/office/drawing/2014/main" id="{F092371F-4264-4CAB-B849-3021AAF97B4A}"/>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Photo (Steve Covey-Crump): the cliff section at </a:t>
            </a:r>
            <a:r>
              <a:rPr lang="en-GB" altLang="en-US" sz="1000" dirty="0" err="1"/>
              <a:t>Telpyn</a:t>
            </a:r>
            <a:r>
              <a:rPr lang="en-GB" altLang="en-US" sz="1000" dirty="0"/>
              <a:t> Point, </a:t>
            </a:r>
            <a:r>
              <a:rPr lang="en-GB" altLang="en-US" sz="1000" dirty="0" err="1"/>
              <a:t>Amroth</a:t>
            </a:r>
            <a:r>
              <a:rPr lang="en-GB" altLang="en-US" sz="1000" dirty="0"/>
              <a:t>, Pembrokeshire. The collapse of the cliff collapse, thanks to intersecting joints, occurred sometime between June 2009 and June 2010 and buried a superb exposure of the Amroth Granule Bed that we used to visit on a sedimentology techniques field course</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2" name="Rectangle 2">
            <a:extLst>
              <a:ext uri="{FF2B5EF4-FFF2-40B4-BE49-F238E27FC236}">
                <a16:creationId xmlns:a16="http://schemas.microsoft.com/office/drawing/2014/main" id="{323C18A7-4F8F-4BAE-B29E-351C00E789EA}"/>
              </a:ext>
            </a:extLst>
          </p:cNvPr>
          <p:cNvSpPr>
            <a:spLocks noGrp="1" noRot="1" noChangeAspect="1" noChangeArrowheads="1" noTextEdit="1"/>
          </p:cNvSpPr>
          <p:nvPr>
            <p:ph type="sldImg"/>
          </p:nvPr>
        </p:nvSpPr>
        <p:spPr>
          <a:ln/>
        </p:spPr>
      </p:sp>
      <p:sp>
        <p:nvSpPr>
          <p:cNvPr id="409603" name="Rectangle 3">
            <a:extLst>
              <a:ext uri="{FF2B5EF4-FFF2-40B4-BE49-F238E27FC236}">
                <a16:creationId xmlns:a16="http://schemas.microsoft.com/office/drawing/2014/main" id="{3A84A5E5-DABD-4A85-850C-D7B4F931FC2F}"/>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Photo top left (Steve Covey-Crump): the granites of Cape </a:t>
            </a:r>
            <a:r>
              <a:rPr lang="en-GB" altLang="en-US" sz="1000" dirty="0" err="1"/>
              <a:t>Woolamai</a:t>
            </a:r>
            <a:r>
              <a:rPr lang="en-GB" altLang="en-US" sz="1000" dirty="0"/>
              <a:t>, Phillip Island, SE Australia</a:t>
            </a:r>
          </a:p>
          <a:p>
            <a:pPr marL="108000" indent="-108000">
              <a:spcBef>
                <a:spcPts val="300"/>
              </a:spcBef>
              <a:buFont typeface="Arial" panose="020B0604020202020204" pitchFamily="34" charset="0"/>
              <a:buChar char="•"/>
            </a:pPr>
            <a:r>
              <a:rPr lang="en-GB" altLang="en-US" sz="1000" dirty="0"/>
              <a:t>Photo right (Steve Covey-Crump): the Three Sisters, </a:t>
            </a:r>
            <a:r>
              <a:rPr lang="en-GB" altLang="en-US" sz="1000" dirty="0" err="1"/>
              <a:t>Katoomba</a:t>
            </a:r>
            <a:r>
              <a:rPr lang="en-GB" altLang="en-US" sz="1000" dirty="0"/>
              <a:t>, Blue Mountains, Australia (located near Wentworth Falls on the section shown at the bottom of the slide). The canyonlands of the Blue Mountains reflect joint-controlled erosion of </a:t>
            </a:r>
            <a:r>
              <a:rPr lang="en-GB" altLang="en-US" sz="1000" dirty="0" err="1"/>
              <a:t>Permo</a:t>
            </a:r>
            <a:r>
              <a:rPr lang="en-GB" altLang="en-US" sz="1000" dirty="0"/>
              <a:t>-Triassic fluvial sandstones. One of several variants of the aboriginal legend describing how the Three Sisters were formed runs as follows. There were once three sisters named </a:t>
            </a:r>
            <a:r>
              <a:rPr lang="en-GB" altLang="en-US" sz="1000" dirty="0" err="1"/>
              <a:t>Meehni</a:t>
            </a:r>
            <a:r>
              <a:rPr lang="en-GB" altLang="en-US" sz="1000" dirty="0"/>
              <a:t>, </a:t>
            </a:r>
            <a:r>
              <a:rPr lang="en-GB" altLang="en-US" sz="1000" dirty="0" err="1"/>
              <a:t>Wimlah</a:t>
            </a:r>
            <a:r>
              <a:rPr lang="en-GB" altLang="en-US" sz="1000" dirty="0"/>
              <a:t> and Gunnedoo who lived with the </a:t>
            </a:r>
            <a:r>
              <a:rPr lang="en-GB" altLang="en-US" sz="1000" dirty="0" err="1"/>
              <a:t>Gundungurra</a:t>
            </a:r>
            <a:r>
              <a:rPr lang="en-GB" altLang="en-US" sz="1000" dirty="0"/>
              <a:t> people in the Jamison Valley. The sisters were in love with three brothers from the neighbouring </a:t>
            </a:r>
            <a:r>
              <a:rPr lang="en-GB" altLang="en-US" sz="1000" dirty="0" err="1"/>
              <a:t>Dharruk</a:t>
            </a:r>
            <a:r>
              <a:rPr lang="en-GB" altLang="en-US" sz="1000" dirty="0"/>
              <a:t> people, but marriage to them was forbidden by tribal law. The brothers decided to take the sisters by force. In the ensuing war, the </a:t>
            </a:r>
            <a:r>
              <a:rPr lang="en-GB" altLang="en-US" sz="1000" dirty="0" err="1"/>
              <a:t>Kuradjuri</a:t>
            </a:r>
            <a:r>
              <a:rPr lang="en-GB" altLang="en-US" sz="1000" dirty="0"/>
              <a:t> (clever man) of the </a:t>
            </a:r>
            <a:r>
              <a:rPr lang="en-GB" altLang="en-US" sz="1000" dirty="0" err="1"/>
              <a:t>Gundungurra</a:t>
            </a:r>
            <a:r>
              <a:rPr lang="en-GB" altLang="en-US" sz="1000" dirty="0"/>
              <a:t> people turned the sisters into stone, intending to restore them after the danger had passed. However, he was killed in the battle and since that time, no-one has been able to break the spell</a:t>
            </a:r>
          </a:p>
          <a:p>
            <a:pPr marL="108000" indent="-108000">
              <a:spcBef>
                <a:spcPts val="300"/>
              </a:spcBef>
              <a:buFont typeface="Arial" panose="020B0604020202020204" pitchFamily="34" charset="0"/>
              <a:buChar char="•"/>
            </a:pPr>
            <a:r>
              <a:rPr lang="en-GB" altLang="en-US" sz="1000" dirty="0"/>
              <a:t>Four small diagrams illustrating the formation of the Three Sisters from Pickett &amp; Alder, 1997, </a:t>
            </a:r>
            <a:r>
              <a:rPr lang="en-GB" altLang="en-US" sz="1000" i="1" dirty="0"/>
              <a:t>Layers of Time: the Blue Mountains and their Geology</a:t>
            </a:r>
            <a:r>
              <a:rPr lang="en-GB" altLang="en-US" sz="1000" dirty="0"/>
              <a:t>, New South Wales Department of Mineral Resources, p.19, https://search.geoscience.nsw.gov.au/product/1056</a:t>
            </a:r>
          </a:p>
          <a:p>
            <a:pPr marL="108000" indent="-108000">
              <a:spcBef>
                <a:spcPts val="300"/>
              </a:spcBef>
              <a:buFont typeface="Arial" panose="020B0604020202020204" pitchFamily="34" charset="0"/>
              <a:buChar char="•"/>
            </a:pPr>
            <a:r>
              <a:rPr lang="en-GB" altLang="en-US" sz="1000" dirty="0"/>
              <a:t>Diagram bottom right from Pickett &amp; Alder, 1997, </a:t>
            </a:r>
            <a:r>
              <a:rPr lang="en-GB" altLang="en-US" sz="1000" i="1" dirty="0"/>
              <a:t>Layers of Time: the Blue Mountains and their Geology</a:t>
            </a:r>
            <a:r>
              <a:rPr lang="en-GB" altLang="en-US" sz="1000" dirty="0"/>
              <a:t>, New South Wales Department of Mineral Resources, p.13, https://search.geoscience.nsw.gov.au/product/1056</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a:extLst>
              <a:ext uri="{FF2B5EF4-FFF2-40B4-BE49-F238E27FC236}">
                <a16:creationId xmlns:a16="http://schemas.microsoft.com/office/drawing/2014/main" id="{39B20B98-EFCB-4404-8F71-F30E7FBD9AC2}"/>
              </a:ext>
            </a:extLst>
          </p:cNvPr>
          <p:cNvSpPr>
            <a:spLocks noGrp="1" noRot="1" noChangeAspect="1" noChangeArrowheads="1" noTextEdit="1"/>
          </p:cNvSpPr>
          <p:nvPr>
            <p:ph type="sldImg"/>
          </p:nvPr>
        </p:nvSpPr>
        <p:spPr>
          <a:ln/>
        </p:spPr>
      </p:sp>
      <p:sp>
        <p:nvSpPr>
          <p:cNvPr id="278531" name="Rectangle 3">
            <a:extLst>
              <a:ext uri="{FF2B5EF4-FFF2-40B4-BE49-F238E27FC236}">
                <a16:creationId xmlns:a16="http://schemas.microsoft.com/office/drawing/2014/main" id="{98DD5CF1-BEF8-438E-A9C8-654FB124E33D}"/>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Just about anyone who does any geological fieldwork will encounter many of the features that I cover in this class. Don’t ignore them!</a:t>
            </a:r>
          </a:p>
          <a:p>
            <a:pPr marL="108000" indent="-108000">
              <a:spcBef>
                <a:spcPts val="300"/>
              </a:spcBef>
              <a:buFont typeface="Arial" panose="020B0604020202020204" pitchFamily="34" charset="0"/>
              <a:buChar char="•"/>
            </a:pPr>
            <a:r>
              <a:rPr lang="en-GB" altLang="en-US" sz="1000" dirty="0"/>
              <a:t>Photo (Steve Covey-Crump): heavily jointed </a:t>
            </a:r>
            <a:r>
              <a:rPr lang="en-GB" altLang="en-US" sz="1000" dirty="0" err="1"/>
              <a:t>Rawnsley</a:t>
            </a:r>
            <a:r>
              <a:rPr lang="en-GB" altLang="en-US" sz="1000" dirty="0"/>
              <a:t> Quartzite, </a:t>
            </a:r>
            <a:r>
              <a:rPr lang="en-GB" altLang="en-US" sz="1000" dirty="0" err="1"/>
              <a:t>Brachina</a:t>
            </a:r>
            <a:r>
              <a:rPr lang="en-GB" altLang="en-US" sz="1000" dirty="0"/>
              <a:t> Gorge, South Australia</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08000" indent="-108000">
              <a:spcBef>
                <a:spcPts val="300"/>
              </a:spcBef>
              <a:buFont typeface="Arial" panose="020B0604020202020204" pitchFamily="34" charset="0"/>
              <a:buChar char="•"/>
            </a:pPr>
            <a:endParaRPr lang="en-GB" sz="1000" dirty="0"/>
          </a:p>
        </p:txBody>
      </p:sp>
      <p:sp>
        <p:nvSpPr>
          <p:cNvPr id="4" name="Slide Number Placeholder 3"/>
          <p:cNvSpPr>
            <a:spLocks noGrp="1"/>
          </p:cNvSpPr>
          <p:nvPr>
            <p:ph type="sldNum" sz="quarter" idx="5"/>
          </p:nvPr>
        </p:nvSpPr>
        <p:spPr/>
        <p:txBody>
          <a:bodyPr/>
          <a:lstStyle/>
          <a:p>
            <a:fld id="{7245E67F-AB97-464F-8455-AFB2E20C0940}" type="slidenum">
              <a:rPr lang="en-GB" altLang="en-US" smtClean="0"/>
              <a:pPr/>
              <a:t>6</a:t>
            </a:fld>
            <a:endParaRPr lang="en-GB" altLang="en-US"/>
          </a:p>
        </p:txBody>
      </p:sp>
    </p:spTree>
    <p:extLst>
      <p:ext uri="{BB962C8B-B14F-4D97-AF65-F5344CB8AC3E}">
        <p14:creationId xmlns:p14="http://schemas.microsoft.com/office/powerpoint/2010/main" val="28180439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2">
            <a:extLst>
              <a:ext uri="{FF2B5EF4-FFF2-40B4-BE49-F238E27FC236}">
                <a16:creationId xmlns:a16="http://schemas.microsoft.com/office/drawing/2014/main" id="{EDA6D48A-4011-4C40-997B-7BA1A3177462}"/>
              </a:ext>
            </a:extLst>
          </p:cNvPr>
          <p:cNvSpPr>
            <a:spLocks noGrp="1" noRot="1" noChangeAspect="1" noChangeArrowheads="1" noTextEdit="1"/>
          </p:cNvSpPr>
          <p:nvPr>
            <p:ph type="sldImg"/>
          </p:nvPr>
        </p:nvSpPr>
        <p:spPr>
          <a:ln/>
        </p:spPr>
      </p:sp>
      <p:sp>
        <p:nvSpPr>
          <p:cNvPr id="281603" name="Rectangle 3">
            <a:extLst>
              <a:ext uri="{FF2B5EF4-FFF2-40B4-BE49-F238E27FC236}">
                <a16:creationId xmlns:a16="http://schemas.microsoft.com/office/drawing/2014/main" id="{16C8B57C-060D-4ACF-BF9C-E17FC8BB8E4B}"/>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from Fossen, p.127 (the Mode IV figure is an erratum to the figure published in the 1</a:t>
            </a:r>
            <a:r>
              <a:rPr lang="en-GB" altLang="en-US" sz="1000" baseline="30000" dirty="0"/>
              <a:t>st</a:t>
            </a:r>
            <a:r>
              <a:rPr lang="en-GB" altLang="en-US" sz="1000" dirty="0"/>
              <a:t> edition of his book, but this correction seems to have been overlooked when producing the 2</a:t>
            </a:r>
            <a:r>
              <a:rPr lang="en-GB" altLang="en-US" sz="1000" baseline="30000" dirty="0"/>
              <a:t>nd</a:t>
            </a:r>
            <a:r>
              <a:rPr lang="en-GB" altLang="en-US" sz="1000" dirty="0"/>
              <a:t> edition – the figure is correctly shown here but is not in the 2</a:t>
            </a:r>
            <a:r>
              <a:rPr lang="en-GB" altLang="en-US" sz="1000" baseline="30000" dirty="0"/>
              <a:t>nd</a:t>
            </a:r>
            <a:r>
              <a:rPr lang="en-GB" altLang="en-US" sz="1000" dirty="0"/>
              <a:t> edition of the book)</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a:extLst>
              <a:ext uri="{FF2B5EF4-FFF2-40B4-BE49-F238E27FC236}">
                <a16:creationId xmlns:a16="http://schemas.microsoft.com/office/drawing/2014/main" id="{17578310-32A7-498C-81B0-979BD0D5CD71}"/>
              </a:ext>
            </a:extLst>
          </p:cNvPr>
          <p:cNvSpPr>
            <a:spLocks noGrp="1" noRot="1" noChangeAspect="1" noChangeArrowheads="1" noTextEdit="1"/>
          </p:cNvSpPr>
          <p:nvPr>
            <p:ph type="sldImg"/>
          </p:nvPr>
        </p:nvSpPr>
        <p:spPr>
          <a:ln/>
        </p:spPr>
      </p:sp>
      <p:sp>
        <p:nvSpPr>
          <p:cNvPr id="227331" name="Rectangle 3">
            <a:extLst>
              <a:ext uri="{FF2B5EF4-FFF2-40B4-BE49-F238E27FC236}">
                <a16:creationId xmlns:a16="http://schemas.microsoft.com/office/drawing/2014/main" id="{F26F63F4-DFF1-4C03-BFFB-A18141F8CDDD}"/>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Photo top right (Steve Covey-Crump): fissure in the road at Mam Tor, Derbyshire. Note that the offset road marker line indicates that it is a pure extension fracture (displacement vector normal to the fracture walls)</a:t>
            </a:r>
          </a:p>
          <a:p>
            <a:pPr marL="108000" indent="-108000">
              <a:spcBef>
                <a:spcPts val="300"/>
              </a:spcBef>
              <a:buFont typeface="Arial" panose="020B0604020202020204" pitchFamily="34" charset="0"/>
              <a:buChar char="•"/>
            </a:pPr>
            <a:r>
              <a:rPr lang="en-GB" altLang="en-US" sz="1000" dirty="0"/>
              <a:t>Photo bottom left (Steve Covey-Crump): Cenozoic dyke at the Aird of Sleat, Skye (near </a:t>
            </a:r>
            <a:r>
              <a:rPr lang="en-GB" altLang="en-US" sz="1000" dirty="0" err="1"/>
              <a:t>Tarskavaig</a:t>
            </a:r>
            <a:r>
              <a:rPr lang="en-GB" altLang="en-US" sz="1000" dirty="0"/>
              <a:t>). Note its composite nature (thin central dyke intruding a wider earlier dyke). Note also the discoloured chilled margins on the outer contacts of the earlier wider dyke</a:t>
            </a:r>
          </a:p>
          <a:p>
            <a:pPr marL="108000" indent="-108000">
              <a:spcBef>
                <a:spcPts val="300"/>
              </a:spcBef>
              <a:buFont typeface="Arial" panose="020B0604020202020204" pitchFamily="34" charset="0"/>
              <a:buChar char="•"/>
            </a:pPr>
            <a:r>
              <a:rPr lang="en-GB" altLang="en-US" sz="1000" dirty="0"/>
              <a:t>Photo bottom right (Steve Covey-Crump): orthogonal joint sets, </a:t>
            </a:r>
            <a:r>
              <a:rPr lang="en-GB" altLang="en-US" sz="1000" dirty="0" err="1"/>
              <a:t>Eaglehawk</a:t>
            </a:r>
            <a:r>
              <a:rPr lang="en-GB" altLang="en-US" sz="1000" dirty="0"/>
              <a:t> Neck, Tasmania</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2">
            <a:extLst>
              <a:ext uri="{FF2B5EF4-FFF2-40B4-BE49-F238E27FC236}">
                <a16:creationId xmlns:a16="http://schemas.microsoft.com/office/drawing/2014/main" id="{F75AD0A5-3BAA-497E-80A1-815F24FC5B0B}"/>
              </a:ext>
            </a:extLst>
          </p:cNvPr>
          <p:cNvSpPr>
            <a:spLocks noGrp="1" noRot="1" noChangeAspect="1" noChangeArrowheads="1" noTextEdit="1"/>
          </p:cNvSpPr>
          <p:nvPr>
            <p:ph type="sldImg"/>
          </p:nvPr>
        </p:nvSpPr>
        <p:spPr>
          <a:ln/>
        </p:spPr>
      </p:sp>
      <p:sp>
        <p:nvSpPr>
          <p:cNvPr id="284675" name="Rectangle 3">
            <a:extLst>
              <a:ext uri="{FF2B5EF4-FFF2-40B4-BE49-F238E27FC236}">
                <a16:creationId xmlns:a16="http://schemas.microsoft.com/office/drawing/2014/main" id="{AC43EAEF-D2E9-4BE8-A7EF-ECB60C4EEE39}"/>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Photo top right (Steve Covey-Crump): gypsum (</a:t>
            </a:r>
            <a:r>
              <a:rPr lang="en-GB" altLang="en-US" sz="1000" dirty="0" err="1"/>
              <a:t>satinspar</a:t>
            </a:r>
            <a:r>
              <a:rPr lang="en-GB" altLang="en-US" sz="1000" dirty="0"/>
              <a:t>) filled extension fracture, </a:t>
            </a:r>
            <a:r>
              <a:rPr lang="en-GB" altLang="en-US" sz="1000" dirty="0" err="1"/>
              <a:t>Aust</a:t>
            </a:r>
            <a:r>
              <a:rPr lang="en-GB" altLang="en-US" sz="1000" dirty="0"/>
              <a:t> Cliff, under the Severn road bridge. The opening direction is indicated by the fibres in the vein</a:t>
            </a:r>
          </a:p>
          <a:p>
            <a:pPr marL="108000" indent="-108000">
              <a:spcBef>
                <a:spcPts val="300"/>
              </a:spcBef>
              <a:buFont typeface="Arial" panose="020B0604020202020204" pitchFamily="34" charset="0"/>
              <a:buChar char="•"/>
            </a:pPr>
            <a:r>
              <a:rPr lang="en-GB" altLang="en-US" sz="1000" dirty="0"/>
              <a:t>Photo middle right (from </a:t>
            </a:r>
            <a:r>
              <a:rPr lang="en-GB" altLang="en-US" sz="1000" dirty="0" err="1"/>
              <a:t>Belayneh</a:t>
            </a:r>
            <a:r>
              <a:rPr lang="en-GB" altLang="en-US" sz="1000" dirty="0"/>
              <a:t> &amp; Cosgrove, 2010, </a:t>
            </a:r>
            <a:r>
              <a:rPr lang="en-GB" altLang="en-US" sz="1000" i="1" dirty="0"/>
              <a:t>Journal of Structural Geology</a:t>
            </a:r>
            <a:r>
              <a:rPr lang="en-GB" altLang="en-US" sz="1000" dirty="0"/>
              <a:t> 32: 192-201, </a:t>
            </a:r>
            <a:r>
              <a:rPr lang="en-GB" sz="1000" dirty="0"/>
              <a:t>https://doi.org/10.1016/j.jsg.2009.11.010</a:t>
            </a:r>
            <a:r>
              <a:rPr lang="en-GB" altLang="en-US" sz="1000" dirty="0"/>
              <a:t>): calcite-filled hybrid fracture with opening direction indicated by the fibres (sinistral </a:t>
            </a:r>
            <a:r>
              <a:rPr lang="en-GB" altLang="en-US" sz="1000" dirty="0" err="1"/>
              <a:t>transtension</a:t>
            </a:r>
            <a:r>
              <a:rPr lang="en-GB" altLang="en-US" sz="1000" dirty="0"/>
              <a:t>), Somerset coast near </a:t>
            </a:r>
            <a:r>
              <a:rPr lang="en-GB" altLang="en-US" sz="1000" dirty="0" err="1"/>
              <a:t>Lilstock</a:t>
            </a:r>
            <a:r>
              <a:rPr lang="en-GB" altLang="en-US" sz="1000" dirty="0"/>
              <a:t>. I have put the red lazy arrows on the photo to indicate the sense of displacement indicated by the fibres. The fibres </a:t>
            </a:r>
            <a:r>
              <a:rPr lang="en-GB" altLang="en-US" sz="1000" dirty="0">
                <a:latin typeface="Times New Roman" panose="02020603050405020304" pitchFamily="18" charset="0"/>
                <a:cs typeface="Times New Roman" panose="02020603050405020304" pitchFamily="18" charset="0"/>
              </a:rPr>
              <a:t>grow parallel to </a:t>
            </a:r>
            <a:r>
              <a:rPr lang="el-GR" altLang="en-US" sz="1000" i="1" dirty="0">
                <a:latin typeface="Times New Roman" panose="02020603050405020304" pitchFamily="18" charset="0"/>
                <a:ea typeface="Calibri" panose="020F0502020204030204" pitchFamily="34" charset="0"/>
                <a:cs typeface="Times New Roman" panose="02020603050405020304" pitchFamily="18" charset="0"/>
              </a:rPr>
              <a:t>σ</a:t>
            </a:r>
            <a:r>
              <a:rPr lang="en-US" altLang="en-US" sz="1000" baseline="-25000" dirty="0">
                <a:latin typeface="Times New Roman" panose="02020603050405020304" pitchFamily="18" charset="0"/>
                <a:ea typeface="Calibri" panose="020F0502020204030204" pitchFamily="34" charset="0"/>
                <a:cs typeface="Times New Roman" panose="02020603050405020304" pitchFamily="18" charset="0"/>
              </a:rPr>
              <a:t>3</a:t>
            </a:r>
            <a:r>
              <a:rPr lang="en-US" altLang="en-US" sz="1000" baseline="0" dirty="0">
                <a:latin typeface="Times New Roman" panose="02020603050405020304" pitchFamily="18" charset="0"/>
                <a:ea typeface="Calibri" panose="020F0502020204030204" pitchFamily="34" charset="0"/>
                <a:cs typeface="Times New Roman" panose="02020603050405020304" pitchFamily="18" charset="0"/>
              </a:rPr>
              <a:t> – see Class 4 Slide 37. If I was being really accurate, I should say the </a:t>
            </a:r>
            <a:r>
              <a:rPr lang="en-US" altLang="en-US" sz="1000" baseline="0" dirty="0" err="1">
                <a:latin typeface="Times New Roman" panose="02020603050405020304" pitchFamily="18" charset="0"/>
                <a:ea typeface="Calibri" panose="020F0502020204030204" pitchFamily="34" charset="0"/>
                <a:cs typeface="Times New Roman" panose="02020603050405020304" pitchFamily="18" charset="0"/>
              </a:rPr>
              <a:t>fibres</a:t>
            </a:r>
            <a:r>
              <a:rPr lang="en-US" altLang="en-US" sz="1000" baseline="0" dirty="0">
                <a:latin typeface="Times New Roman" panose="02020603050405020304" pitchFamily="18" charset="0"/>
                <a:ea typeface="Calibri" panose="020F0502020204030204" pitchFamily="34" charset="0"/>
                <a:cs typeface="Times New Roman" panose="02020603050405020304" pitchFamily="18" charset="0"/>
              </a:rPr>
              <a:t> grow parallel with </a:t>
            </a:r>
            <a:r>
              <a:rPr lang="en-US" altLang="en-US" sz="1000" i="1" baseline="0" dirty="0">
                <a:latin typeface="Times New Roman" panose="02020603050405020304" pitchFamily="18" charset="0"/>
                <a:ea typeface="Calibri" panose="020F0502020204030204" pitchFamily="34" charset="0"/>
                <a:cs typeface="Times New Roman" panose="02020603050405020304" pitchFamily="18" charset="0"/>
              </a:rPr>
              <a:t>e</a:t>
            </a:r>
            <a:r>
              <a:rPr lang="en-US" altLang="en-US" sz="1000" baseline="-25000" dirty="0">
                <a:latin typeface="Times New Roman" panose="02020603050405020304" pitchFamily="18" charset="0"/>
                <a:ea typeface="Calibri" panose="020F0502020204030204" pitchFamily="34" charset="0"/>
                <a:cs typeface="Times New Roman" panose="02020603050405020304" pitchFamily="18" charset="0"/>
              </a:rPr>
              <a:t>1</a:t>
            </a:r>
            <a:r>
              <a:rPr lang="en-US" altLang="en-US" sz="1000" baseline="0" dirty="0">
                <a:latin typeface="Times New Roman" panose="02020603050405020304" pitchFamily="18" charset="0"/>
                <a:ea typeface="Calibri" panose="020F0502020204030204" pitchFamily="34" charset="0"/>
                <a:cs typeface="Times New Roman" panose="02020603050405020304" pitchFamily="18" charset="0"/>
              </a:rPr>
              <a:t>, the maximum extension direction, that is, in my first statement I am implicitly assuming that </a:t>
            </a:r>
            <a:r>
              <a:rPr lang="el-GR" altLang="en-US" sz="1000" i="1" dirty="0">
                <a:latin typeface="Times New Roman" panose="02020603050405020304" pitchFamily="18" charset="0"/>
                <a:ea typeface="Calibri" panose="020F0502020204030204" pitchFamily="34" charset="0"/>
                <a:cs typeface="Times New Roman" panose="02020603050405020304" pitchFamily="18" charset="0"/>
              </a:rPr>
              <a:t>σ</a:t>
            </a:r>
            <a:r>
              <a:rPr lang="en-US" altLang="en-US" sz="1000" baseline="-25000" dirty="0">
                <a:latin typeface="Times New Roman" panose="02020603050405020304" pitchFamily="18" charset="0"/>
                <a:ea typeface="Calibri" panose="020F0502020204030204" pitchFamily="34" charset="0"/>
                <a:cs typeface="Times New Roman" panose="02020603050405020304" pitchFamily="18" charset="0"/>
              </a:rPr>
              <a:t>3</a:t>
            </a:r>
            <a:r>
              <a:rPr lang="en-US" altLang="en-US" sz="1000" baseline="0" dirty="0">
                <a:latin typeface="Times New Roman" panose="02020603050405020304" pitchFamily="18" charset="0"/>
                <a:ea typeface="Calibri" panose="020F0502020204030204" pitchFamily="34" charset="0"/>
                <a:cs typeface="Times New Roman" panose="02020603050405020304" pitchFamily="18" charset="0"/>
              </a:rPr>
              <a:t> and </a:t>
            </a:r>
            <a:r>
              <a:rPr lang="en-US" altLang="en-US" sz="1000" i="1" baseline="0" dirty="0">
                <a:latin typeface="Times New Roman" panose="02020603050405020304" pitchFamily="18" charset="0"/>
                <a:ea typeface="Calibri" panose="020F0502020204030204" pitchFamily="34" charset="0"/>
                <a:cs typeface="Times New Roman" panose="02020603050405020304" pitchFamily="18" charset="0"/>
              </a:rPr>
              <a:t>e</a:t>
            </a:r>
            <a:r>
              <a:rPr lang="en-US" altLang="en-US" sz="1000" baseline="-25000" dirty="0">
                <a:latin typeface="Times New Roman" panose="02020603050405020304" pitchFamily="18" charset="0"/>
                <a:ea typeface="Calibri" panose="020F0502020204030204" pitchFamily="34" charset="0"/>
                <a:cs typeface="Times New Roman" panose="02020603050405020304" pitchFamily="18" charset="0"/>
              </a:rPr>
              <a:t>1</a:t>
            </a:r>
            <a:r>
              <a:rPr lang="en-US" altLang="en-US" sz="1000" baseline="0" dirty="0">
                <a:latin typeface="Times New Roman" panose="02020603050405020304" pitchFamily="18" charset="0"/>
                <a:ea typeface="Calibri" panose="020F0502020204030204" pitchFamily="34" charset="0"/>
                <a:cs typeface="Times New Roman" panose="02020603050405020304" pitchFamily="18" charset="0"/>
              </a:rPr>
              <a:t> are parallel.</a:t>
            </a:r>
            <a:endParaRPr lang="en-GB" altLang="en-US" sz="1000" baseline="0" dirty="0">
              <a:latin typeface="Times New Roman" panose="02020603050405020304" pitchFamily="18" charset="0"/>
              <a:cs typeface="Times New Roman" panose="02020603050405020304" pitchFamily="18" charset="0"/>
            </a:endParaRPr>
          </a:p>
          <a:p>
            <a:pPr marL="108000" indent="-108000">
              <a:spcBef>
                <a:spcPts val="300"/>
              </a:spcBef>
              <a:buFont typeface="Arial" panose="020B0604020202020204" pitchFamily="34" charset="0"/>
              <a:buChar char="•"/>
            </a:pPr>
            <a:r>
              <a:rPr lang="en-GB" altLang="en-US" sz="1000" dirty="0"/>
              <a:t>Photomicrograph bottom left (from Price &amp; Cosgrove, p.43): cross-cutting veins seen in thin section. Note that the </a:t>
            </a:r>
            <a:r>
              <a:rPr lang="en-GB" altLang="en-US" sz="1000" spc="100" baseline="0" dirty="0"/>
              <a:t>~</a:t>
            </a:r>
            <a:r>
              <a:rPr lang="en-GB" altLang="en-US" sz="1000" dirty="0"/>
              <a:t>10 µm dextral shear displacement across the later vein would not be visible in the field</a:t>
            </a:r>
          </a:p>
          <a:p>
            <a:pPr>
              <a:spcBef>
                <a:spcPts val="300"/>
              </a:spcBef>
              <a:buFontTx/>
              <a:buNone/>
            </a:pPr>
            <a:endParaRPr lang="en-GB" altLang="en-US" sz="1000"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a:extLst>
              <a:ext uri="{FF2B5EF4-FFF2-40B4-BE49-F238E27FC236}">
                <a16:creationId xmlns:a16="http://schemas.microsoft.com/office/drawing/2014/main" id="{712285C7-FCCF-438F-8E59-FAF6E74BA6C9}"/>
              </a:ext>
            </a:extLst>
          </p:cNvPr>
          <p:cNvSpPr>
            <a:spLocks noGrp="1" noRot="1" noChangeAspect="1" noChangeArrowheads="1" noTextEdit="1"/>
          </p:cNvSpPr>
          <p:nvPr>
            <p:ph type="sldImg"/>
          </p:nvPr>
        </p:nvSpPr>
        <p:spPr>
          <a:ln/>
        </p:spPr>
      </p:sp>
      <p:sp>
        <p:nvSpPr>
          <p:cNvPr id="233475" name="Rectangle 3">
            <a:extLst>
              <a:ext uri="{FF2B5EF4-FFF2-40B4-BE49-F238E27FC236}">
                <a16:creationId xmlns:a16="http://schemas.microsoft.com/office/drawing/2014/main" id="{6C678144-AED6-45FE-987A-1A34F2C19485}"/>
              </a:ext>
            </a:extLst>
          </p:cNvPr>
          <p:cNvSpPr>
            <a:spLocks noGrp="1" noChangeArrowheads="1"/>
          </p:cNvSpPr>
          <p:nvPr>
            <p:ph type="body" idx="1"/>
          </p:nvPr>
        </p:nvSpPr>
        <p:spPr>
          <a:noFill/>
        </p:spPr>
        <p:txBody>
          <a:bodyPr/>
          <a:lstStyle/>
          <a:p>
            <a:pPr marL="108000" indent="-108000" algn="l">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For a comprehensive review of the geometry of </a:t>
            </a:r>
            <a:r>
              <a:rPr lang="en-GB" altLang="en-US" sz="1000" dirty="0" err="1">
                <a:latin typeface="Times New Roman" panose="02020603050405020304" pitchFamily="18" charset="0"/>
                <a:cs typeface="Times New Roman" panose="02020603050405020304" pitchFamily="18" charset="0"/>
              </a:rPr>
              <a:t>stylolites</a:t>
            </a:r>
            <a:r>
              <a:rPr lang="en-GB" altLang="en-US" sz="1000" dirty="0">
                <a:latin typeface="Times New Roman" panose="02020603050405020304" pitchFamily="18" charset="0"/>
                <a:cs typeface="Times New Roman" panose="02020603050405020304" pitchFamily="18" charset="0"/>
              </a:rPr>
              <a:t>, how they form, and what may be deduced from them about the deformation conditions, see Toussaint </a:t>
            </a:r>
            <a:r>
              <a:rPr lang="en-GB" altLang="en-US" sz="1000" i="1" dirty="0">
                <a:latin typeface="Times New Roman" panose="02020603050405020304" pitchFamily="18" charset="0"/>
                <a:cs typeface="Times New Roman" panose="02020603050405020304" pitchFamily="18" charset="0"/>
              </a:rPr>
              <a:t>et al.</a:t>
            </a:r>
            <a:r>
              <a:rPr lang="en-GB" altLang="en-US" sz="1000" i="0" dirty="0">
                <a:latin typeface="Times New Roman" panose="02020603050405020304" pitchFamily="18" charset="0"/>
                <a:cs typeface="Times New Roman" panose="02020603050405020304" pitchFamily="18" charset="0"/>
              </a:rPr>
              <a:t>, 2018, </a:t>
            </a:r>
            <a:r>
              <a:rPr lang="en-GB" altLang="en-US" sz="1000" i="1" dirty="0">
                <a:latin typeface="Times New Roman" panose="02020603050405020304" pitchFamily="18" charset="0"/>
                <a:cs typeface="Times New Roman" panose="02020603050405020304" pitchFamily="18" charset="0"/>
              </a:rPr>
              <a:t>Journal of Structural Geology</a:t>
            </a:r>
            <a:r>
              <a:rPr lang="en-GB" altLang="en-US" sz="1000" i="0" dirty="0">
                <a:latin typeface="Times New Roman" panose="02020603050405020304" pitchFamily="18" charset="0"/>
                <a:cs typeface="Times New Roman" panose="02020603050405020304" pitchFamily="18" charset="0"/>
              </a:rPr>
              <a:t> 114: 163-195, </a:t>
            </a:r>
            <a:r>
              <a:rPr lang="en-GB" sz="1000" dirty="0">
                <a:latin typeface="Times New Roman" panose="02020603050405020304" pitchFamily="18" charset="0"/>
                <a:cs typeface="Times New Roman" panose="02020603050405020304" pitchFamily="18" charset="0"/>
              </a:rPr>
              <a:t>https://doi.org/10.1016/j.jsg.2018.05.003. Of particular interest is the fact that the roughness of </a:t>
            </a:r>
            <a:r>
              <a:rPr lang="en-GB" sz="1000" dirty="0" err="1">
                <a:latin typeface="Times New Roman" panose="02020603050405020304" pitchFamily="18" charset="0"/>
                <a:cs typeface="Times New Roman" panose="02020603050405020304" pitchFamily="18" charset="0"/>
              </a:rPr>
              <a:t>stylolites</a:t>
            </a:r>
            <a:r>
              <a:rPr lang="en-GB" sz="1000" dirty="0">
                <a:latin typeface="Times New Roman" panose="02020603050405020304" pitchFamily="18" charset="0"/>
                <a:cs typeface="Times New Roman" panose="02020603050405020304" pitchFamily="18" charset="0"/>
              </a:rPr>
              <a:t> can be used to infer stresses at the time they were formed (</a:t>
            </a:r>
            <a:r>
              <a:rPr lang="en-GB" sz="1000" i="1" dirty="0">
                <a:latin typeface="Times New Roman" panose="02020603050405020304" pitchFamily="18" charset="0"/>
                <a:cs typeface="Times New Roman" panose="02020603050405020304" pitchFamily="18" charset="0"/>
              </a:rPr>
              <a:t>e.g.</a:t>
            </a:r>
            <a:r>
              <a:rPr lang="en-GB" sz="1000" i="0" dirty="0">
                <a:latin typeface="Times New Roman" panose="02020603050405020304" pitchFamily="18" charset="0"/>
                <a:cs typeface="Times New Roman" panose="02020603050405020304" pitchFamily="18" charset="0"/>
              </a:rPr>
              <a:t>, Rolland </a:t>
            </a:r>
            <a:r>
              <a:rPr lang="en-GB" sz="1000" i="1" dirty="0">
                <a:latin typeface="Times New Roman" panose="02020603050405020304" pitchFamily="18" charset="0"/>
                <a:cs typeface="Times New Roman" panose="02020603050405020304" pitchFamily="18" charset="0"/>
              </a:rPr>
              <a:t>et al.</a:t>
            </a:r>
            <a:r>
              <a:rPr lang="en-GB" sz="1000" i="0" dirty="0">
                <a:latin typeface="Times New Roman" panose="02020603050405020304" pitchFamily="18" charset="0"/>
                <a:cs typeface="Times New Roman" panose="02020603050405020304" pitchFamily="18" charset="0"/>
              </a:rPr>
              <a:t>, 2014, </a:t>
            </a:r>
            <a:r>
              <a:rPr lang="en-GB" sz="1000" b="0" i="1" u="none" strike="noStrike" baseline="0" dirty="0">
                <a:solidFill>
                  <a:srgbClr val="0080AC"/>
                </a:solidFill>
                <a:latin typeface="Times New Roman" panose="02020603050405020304" pitchFamily="18" charset="0"/>
                <a:cs typeface="Times New Roman" panose="02020603050405020304" pitchFamily="18" charset="0"/>
              </a:rPr>
              <a:t>International Journal of Rock Mechanics &amp; Mining Sciences </a:t>
            </a:r>
            <a:r>
              <a:rPr lang="en-GB" sz="1000" b="0" i="0" u="none" strike="noStrike" baseline="0" dirty="0">
                <a:solidFill>
                  <a:srgbClr val="0080AC"/>
                </a:solidFill>
                <a:latin typeface="Times New Roman" panose="02020603050405020304" pitchFamily="18" charset="0"/>
                <a:cs typeface="Times New Roman" panose="02020603050405020304" pitchFamily="18" charset="0"/>
              </a:rPr>
              <a:t>67: 212–225, http://dx.doi.org/10.1016/j.ijrmms.2013.08.021</a:t>
            </a:r>
            <a:r>
              <a:rPr lang="en-GB" sz="1000" i="0" dirty="0">
                <a:latin typeface="Times New Roman" panose="02020603050405020304" pitchFamily="18" charset="0"/>
                <a:cs typeface="Times New Roman" panose="02020603050405020304" pitchFamily="18" charset="0"/>
              </a:rPr>
              <a:t>; Beaudoin </a:t>
            </a:r>
            <a:r>
              <a:rPr lang="en-GB" sz="1000" i="1" dirty="0">
                <a:latin typeface="Times New Roman" panose="02020603050405020304" pitchFamily="18" charset="0"/>
                <a:cs typeface="Times New Roman" panose="02020603050405020304" pitchFamily="18" charset="0"/>
              </a:rPr>
              <a:t>et al.</a:t>
            </a:r>
            <a:r>
              <a:rPr lang="en-GB" sz="1000" i="0" dirty="0">
                <a:latin typeface="Times New Roman" panose="02020603050405020304" pitchFamily="18" charset="0"/>
                <a:cs typeface="Times New Roman" panose="02020603050405020304" pitchFamily="18" charset="0"/>
              </a:rPr>
              <a:t>, 2016, </a:t>
            </a:r>
            <a:r>
              <a:rPr lang="en-GB" sz="1000" i="1" dirty="0">
                <a:latin typeface="Times New Roman" panose="02020603050405020304" pitchFamily="18" charset="0"/>
                <a:cs typeface="Times New Roman" panose="02020603050405020304" pitchFamily="18" charset="0"/>
              </a:rPr>
              <a:t>T</a:t>
            </a:r>
            <a:r>
              <a:rPr lang="en-GB" sz="1000" b="0" i="1" u="none" strike="noStrike" baseline="0" dirty="0">
                <a:latin typeface="Times New Roman" panose="02020603050405020304" pitchFamily="18" charset="0"/>
                <a:cs typeface="Times New Roman" panose="02020603050405020304" pitchFamily="18" charset="0"/>
              </a:rPr>
              <a:t>ectonics</a:t>
            </a:r>
            <a:r>
              <a:rPr lang="en-GB" sz="1000" b="0" i="0" u="none" strike="noStrike" baseline="0" dirty="0">
                <a:latin typeface="Times New Roman" panose="02020603050405020304" pitchFamily="18" charset="0"/>
                <a:cs typeface="Times New Roman" panose="02020603050405020304" pitchFamily="18" charset="0"/>
              </a:rPr>
              <a:t> 35: 1687–1712, </a:t>
            </a:r>
            <a:r>
              <a:rPr lang="en-GB" sz="1000" dirty="0">
                <a:latin typeface="Times New Roman" panose="02020603050405020304" pitchFamily="18" charset="0"/>
                <a:cs typeface="Times New Roman" panose="02020603050405020304" pitchFamily="18" charset="0"/>
              </a:rPr>
              <a:t>https://doi.org/</a:t>
            </a:r>
            <a:r>
              <a:rPr lang="en-GB" sz="1000" b="0" i="0" u="none" strike="noStrike" baseline="0" dirty="0">
                <a:latin typeface="Times New Roman" panose="02020603050405020304" pitchFamily="18" charset="0"/>
                <a:cs typeface="Times New Roman" panose="02020603050405020304" pitchFamily="18" charset="0"/>
              </a:rPr>
              <a:t>10.1002/2016TC004128).</a:t>
            </a:r>
            <a:r>
              <a:rPr lang="en-GB" sz="1000" dirty="0">
                <a:latin typeface="Times New Roman" panose="02020603050405020304" pitchFamily="18" charset="0"/>
                <a:cs typeface="Times New Roman" panose="02020603050405020304" pitchFamily="18" charset="0"/>
              </a:rPr>
              <a:t> This kind of stress analysis can, in principle, be used to place constraints on the growth of folds (</a:t>
            </a:r>
            <a:r>
              <a:rPr lang="en-GB" sz="1000" i="1" dirty="0">
                <a:latin typeface="Times New Roman" panose="02020603050405020304" pitchFamily="18" charset="0"/>
                <a:cs typeface="Times New Roman" panose="02020603050405020304" pitchFamily="18" charset="0"/>
              </a:rPr>
              <a:t>e.g.</a:t>
            </a:r>
            <a:r>
              <a:rPr lang="en-GB" sz="1000" i="0" dirty="0">
                <a:latin typeface="Times New Roman" panose="02020603050405020304" pitchFamily="18" charset="0"/>
                <a:cs typeface="Times New Roman" panose="02020603050405020304" pitchFamily="18" charset="0"/>
              </a:rPr>
              <a:t>, Lacombe </a:t>
            </a:r>
            <a:r>
              <a:rPr lang="en-GB" sz="1000" i="1" dirty="0">
                <a:latin typeface="Times New Roman" panose="02020603050405020304" pitchFamily="18" charset="0"/>
                <a:cs typeface="Times New Roman" panose="02020603050405020304" pitchFamily="18" charset="0"/>
              </a:rPr>
              <a:t>et al.</a:t>
            </a:r>
            <a:r>
              <a:rPr lang="en-GB" sz="1000" i="0" dirty="0">
                <a:latin typeface="Times New Roman" panose="02020603050405020304" pitchFamily="18" charset="0"/>
                <a:cs typeface="Times New Roman" panose="02020603050405020304" pitchFamily="18" charset="0"/>
              </a:rPr>
              <a:t>, 2021, </a:t>
            </a:r>
            <a:r>
              <a:rPr lang="en-GB" sz="1000" i="1" dirty="0">
                <a:latin typeface="Times New Roman" panose="02020603050405020304" pitchFamily="18" charset="0"/>
                <a:cs typeface="Times New Roman" panose="02020603050405020304" pitchFamily="18" charset="0"/>
              </a:rPr>
              <a:t>Solid Earth</a:t>
            </a:r>
            <a:r>
              <a:rPr lang="en-GB" sz="1000" i="0" dirty="0">
                <a:latin typeface="Times New Roman" panose="02020603050405020304" pitchFamily="18" charset="0"/>
                <a:cs typeface="Times New Roman" panose="02020603050405020304" pitchFamily="18" charset="0"/>
              </a:rPr>
              <a:t> </a:t>
            </a:r>
            <a:r>
              <a:rPr lang="en-GB" sz="1000" b="0" i="0" u="none" strike="noStrike" baseline="0" dirty="0">
                <a:latin typeface="Times New Roman" panose="02020603050405020304" pitchFamily="18" charset="0"/>
                <a:cs typeface="Times New Roman" panose="02020603050405020304" pitchFamily="18" charset="0"/>
              </a:rPr>
              <a:t>12, 2145–2157, https://doi.org/10.5194/se-12-2145-2021)</a:t>
            </a:r>
            <a:endParaRPr lang="en-GB" altLang="en-US" sz="1000" dirty="0">
              <a:latin typeface="Times New Roman" panose="02020603050405020304" pitchFamily="18" charset="0"/>
              <a:cs typeface="Times New Roman" panose="02020603050405020304" pitchFamily="18" charset="0"/>
            </a:endParaRPr>
          </a:p>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err="1">
                <a:latin typeface="Times New Roman" panose="02020603050405020304" pitchFamily="18" charset="0"/>
                <a:cs typeface="Times New Roman" panose="02020603050405020304" pitchFamily="18" charset="0"/>
              </a:rPr>
              <a:t>Stylolites</a:t>
            </a:r>
            <a:r>
              <a:rPr lang="en-GB" altLang="en-US" sz="1000" dirty="0">
                <a:latin typeface="Times New Roman" panose="02020603050405020304" pitchFamily="18" charset="0"/>
                <a:cs typeface="Times New Roman" panose="02020603050405020304" pitchFamily="18" charset="0"/>
              </a:rPr>
              <a:t> have commonly been treated as </a:t>
            </a:r>
            <a:r>
              <a:rPr lang="en-GB" altLang="en-US" sz="1000" dirty="0" err="1">
                <a:latin typeface="Times New Roman" panose="02020603050405020304" pitchFamily="18" charset="0"/>
                <a:cs typeface="Times New Roman" panose="02020603050405020304" pitchFamily="18" charset="0"/>
              </a:rPr>
              <a:t>anticracks</a:t>
            </a:r>
            <a:r>
              <a:rPr lang="en-GB" altLang="en-US" sz="1000" dirty="0">
                <a:latin typeface="Times New Roman" panose="02020603050405020304" pitchFamily="18" charset="0"/>
                <a:cs typeface="Times New Roman" panose="02020603050405020304" pitchFamily="18" charset="0"/>
              </a:rPr>
              <a:t> (see Fletcher &amp; Pollard, 1981, </a:t>
            </a:r>
            <a:r>
              <a:rPr lang="en-GB" altLang="en-US" sz="1000" i="1" dirty="0">
                <a:latin typeface="Times New Roman" panose="02020603050405020304" pitchFamily="18" charset="0"/>
                <a:cs typeface="Times New Roman" panose="02020603050405020304" pitchFamily="18" charset="0"/>
              </a:rPr>
              <a:t>Geology</a:t>
            </a:r>
            <a:r>
              <a:rPr lang="en-GB" altLang="en-US" sz="1000" dirty="0">
                <a:latin typeface="Times New Roman" panose="02020603050405020304" pitchFamily="18" charset="0"/>
                <a:cs typeface="Times New Roman" panose="02020603050405020304" pitchFamily="18" charset="0"/>
              </a:rPr>
              <a:t> 9: 419-424, </a:t>
            </a:r>
            <a:r>
              <a:rPr lang="en-GB" sz="1000" dirty="0">
                <a:latin typeface="Times New Roman" panose="02020603050405020304" pitchFamily="18" charset="0"/>
                <a:cs typeface="Times New Roman" panose="02020603050405020304" pitchFamily="18" charset="0"/>
              </a:rPr>
              <a:t>https://doi.org/10.1130/0091-7613(1981)9&lt;419:AMFPSS&gt;2.0.CO;2</a:t>
            </a:r>
            <a:r>
              <a:rPr lang="en-GB" altLang="en-US" sz="1000" dirty="0">
                <a:latin typeface="Times New Roman" panose="02020603050405020304" pitchFamily="18" charset="0"/>
                <a:cs typeface="Times New Roman" panose="02020603050405020304" pitchFamily="18" charset="0"/>
              </a:rPr>
              <a:t>). The idea is that dissolution on a stylolite produces an elliptical hole; as this hole closes under compressive stress, the stresses around the surface of the hole become more strongly compressive, thereby driving further dissolution; the stresses around the hole are taken simply as the reverse of the stresses around an elliptical hole that is subjected to tensile rather than compressive stresses – hence the term ‘</a:t>
            </a:r>
            <a:r>
              <a:rPr lang="en-GB" altLang="en-US" sz="1000" dirty="0" err="1">
                <a:latin typeface="Times New Roman" panose="02020603050405020304" pitchFamily="18" charset="0"/>
                <a:cs typeface="Times New Roman" panose="02020603050405020304" pitchFamily="18" charset="0"/>
              </a:rPr>
              <a:t>anticrack</a:t>
            </a:r>
            <a:r>
              <a:rPr lang="en-GB" altLang="en-US" sz="1000" dirty="0">
                <a:latin typeface="Times New Roman" panose="02020603050405020304" pitchFamily="18" charset="0"/>
                <a:cs typeface="Times New Roman" panose="02020603050405020304" pitchFamily="18" charset="0"/>
              </a:rPr>
              <a:t>’. More recent analyses of the stresses around </a:t>
            </a:r>
            <a:r>
              <a:rPr lang="en-GB" altLang="en-US" sz="1000" dirty="0" err="1">
                <a:latin typeface="Times New Roman" panose="02020603050405020304" pitchFamily="18" charset="0"/>
                <a:cs typeface="Times New Roman" panose="02020603050405020304" pitchFamily="18" charset="0"/>
              </a:rPr>
              <a:t>stylolites</a:t>
            </a:r>
            <a:r>
              <a:rPr lang="en-GB" altLang="en-US" sz="1000" dirty="0">
                <a:latin typeface="Times New Roman" panose="02020603050405020304" pitchFamily="18" charset="0"/>
                <a:cs typeface="Times New Roman" panose="02020603050405020304" pitchFamily="18" charset="0"/>
              </a:rPr>
              <a:t>, however, suggest that these are not well described using the </a:t>
            </a:r>
            <a:r>
              <a:rPr lang="en-GB" altLang="en-US" sz="1000" dirty="0" err="1">
                <a:latin typeface="Times New Roman" panose="02020603050405020304" pitchFamily="18" charset="0"/>
                <a:cs typeface="Times New Roman" panose="02020603050405020304" pitchFamily="18" charset="0"/>
              </a:rPr>
              <a:t>anticrack</a:t>
            </a:r>
            <a:r>
              <a:rPr lang="en-GB" altLang="en-US" sz="1000" dirty="0">
                <a:latin typeface="Times New Roman" panose="02020603050405020304" pitchFamily="18" charset="0"/>
                <a:cs typeface="Times New Roman" panose="02020603050405020304" pitchFamily="18" charset="0"/>
              </a:rPr>
              <a:t> model but rather that </a:t>
            </a:r>
            <a:r>
              <a:rPr lang="en-GB" altLang="en-US" sz="1000" dirty="0" err="1">
                <a:latin typeface="Times New Roman" panose="02020603050405020304" pitchFamily="18" charset="0"/>
                <a:cs typeface="Times New Roman" panose="02020603050405020304" pitchFamily="18" charset="0"/>
              </a:rPr>
              <a:t>stylolites</a:t>
            </a:r>
            <a:r>
              <a:rPr lang="en-GB" altLang="en-US" sz="1000" dirty="0">
                <a:latin typeface="Times New Roman" panose="02020603050405020304" pitchFamily="18" charset="0"/>
                <a:cs typeface="Times New Roman" panose="02020603050405020304" pitchFamily="18" charset="0"/>
              </a:rPr>
              <a:t> are better described as elliptical inclusions inside which some volume reduction has occurred. The analysis of the stress around such inclusions shows that in some regions around the inclusion, the stresses are indeed strongly compressive but in other regions they are strongly tensile and/or involve a significant component of shear. </a:t>
            </a:r>
            <a:r>
              <a:rPr lang="en-GB" altLang="en-US" sz="1000" i="0" dirty="0">
                <a:latin typeface="Times New Roman" panose="02020603050405020304" pitchFamily="18" charset="0"/>
                <a:cs typeface="Times New Roman" panose="02020603050405020304" pitchFamily="18" charset="0"/>
              </a:rPr>
              <a:t>This latter analysis does a much better job at accounting for the extension and shear fractures that are commonly seen around </a:t>
            </a:r>
            <a:r>
              <a:rPr lang="en-GB" altLang="en-US" sz="1000" i="0" dirty="0" err="1">
                <a:latin typeface="Times New Roman" panose="02020603050405020304" pitchFamily="18" charset="0"/>
                <a:cs typeface="Times New Roman" panose="02020603050405020304" pitchFamily="18" charset="0"/>
              </a:rPr>
              <a:t>stylolites</a:t>
            </a:r>
            <a:r>
              <a:rPr lang="en-GB" altLang="en-US" sz="1000" i="0" dirty="0">
                <a:latin typeface="Times New Roman" panose="02020603050405020304" pitchFamily="18" charset="0"/>
                <a:cs typeface="Times New Roman" panose="02020603050405020304" pitchFamily="18" charset="0"/>
              </a:rPr>
              <a:t> </a:t>
            </a:r>
            <a:r>
              <a:rPr lang="en-GB" altLang="en-US" sz="1000" dirty="0">
                <a:latin typeface="Times New Roman" panose="02020603050405020304" pitchFamily="18" charset="0"/>
                <a:cs typeface="Times New Roman" panose="02020603050405020304" pitchFamily="18" charset="0"/>
              </a:rPr>
              <a:t>(for a discussion, see </a:t>
            </a:r>
            <a:r>
              <a:rPr lang="en-GB" altLang="en-US" sz="1000" dirty="0" err="1">
                <a:latin typeface="Times New Roman" panose="02020603050405020304" pitchFamily="18" charset="0"/>
                <a:cs typeface="Times New Roman" panose="02020603050405020304" pitchFamily="18" charset="0"/>
              </a:rPr>
              <a:t>Aharanov</a:t>
            </a:r>
            <a:r>
              <a:rPr lang="en-GB" altLang="en-US" sz="1000" dirty="0">
                <a:latin typeface="Times New Roman" panose="02020603050405020304" pitchFamily="18" charset="0"/>
                <a:cs typeface="Times New Roman" panose="02020603050405020304" pitchFamily="18" charset="0"/>
              </a:rPr>
              <a:t> &amp; </a:t>
            </a:r>
            <a:r>
              <a:rPr lang="en-GB" altLang="en-US" sz="1000" dirty="0" err="1">
                <a:latin typeface="Times New Roman" panose="02020603050405020304" pitchFamily="18" charset="0"/>
                <a:cs typeface="Times New Roman" panose="02020603050405020304" pitchFamily="18" charset="0"/>
              </a:rPr>
              <a:t>Karcz</a:t>
            </a:r>
            <a:r>
              <a:rPr lang="en-GB" altLang="en-US" sz="1000" dirty="0">
                <a:latin typeface="Times New Roman" panose="02020603050405020304" pitchFamily="18" charset="0"/>
                <a:cs typeface="Times New Roman" panose="02020603050405020304" pitchFamily="18" charset="0"/>
              </a:rPr>
              <a:t>, 2019, </a:t>
            </a:r>
            <a:r>
              <a:rPr lang="en-GB" altLang="en-US" sz="1000" i="1" dirty="0">
                <a:latin typeface="Times New Roman" panose="02020603050405020304" pitchFamily="18" charset="0"/>
                <a:cs typeface="Times New Roman" panose="02020603050405020304" pitchFamily="18" charset="0"/>
              </a:rPr>
              <a:t>Journal of Structural Geology</a:t>
            </a:r>
            <a:r>
              <a:rPr lang="en-GB" altLang="en-US" sz="1000" i="0" dirty="0">
                <a:latin typeface="Times New Roman" panose="02020603050405020304" pitchFamily="18" charset="0"/>
                <a:cs typeface="Times New Roman" panose="02020603050405020304" pitchFamily="18" charset="0"/>
              </a:rPr>
              <a:t> 118: 299-307, </a:t>
            </a:r>
            <a:r>
              <a:rPr lang="en-GB" sz="1000" dirty="0">
                <a:latin typeface="Times New Roman" panose="02020603050405020304" pitchFamily="18" charset="0"/>
                <a:cs typeface="Times New Roman" panose="02020603050405020304" pitchFamily="18" charset="0"/>
              </a:rPr>
              <a:t>https://doi.org/10.1016/j.jsg</a:t>
            </a:r>
            <a:r>
              <a:rPr lang="en-GB" sz="1000" dirty="0"/>
              <a:t>.2018.11.002</a:t>
            </a:r>
            <a:r>
              <a:rPr lang="en-GB" altLang="en-US" sz="1000" i="0" dirty="0"/>
              <a:t>)</a:t>
            </a:r>
          </a:p>
          <a:p>
            <a:pPr marL="108000" indent="-108000">
              <a:spcBef>
                <a:spcPts val="300"/>
              </a:spcBef>
              <a:buFont typeface="Arial" panose="020B0604020202020204" pitchFamily="34" charset="0"/>
              <a:buChar char="•"/>
            </a:pPr>
            <a:r>
              <a:rPr lang="en-GB" altLang="en-US" sz="1000" i="0" dirty="0"/>
              <a:t>Establishing the nature of the stress field around </a:t>
            </a:r>
            <a:r>
              <a:rPr lang="en-GB" altLang="en-US" sz="1000" i="0" dirty="0" err="1"/>
              <a:t>stylolites</a:t>
            </a:r>
            <a:r>
              <a:rPr lang="en-GB" altLang="en-US" sz="1000" i="0" dirty="0"/>
              <a:t> is not as arcane as it might seem. Petroleum and aquifer geologists </a:t>
            </a:r>
            <a:r>
              <a:rPr lang="en-GB" altLang="en-US" sz="1000" dirty="0"/>
              <a:t>working in carbonate reservoirs are strongly interested in </a:t>
            </a:r>
            <a:r>
              <a:rPr lang="en-GB" altLang="en-US" sz="1000" dirty="0" err="1"/>
              <a:t>stylolites</a:t>
            </a:r>
            <a:r>
              <a:rPr lang="en-GB" altLang="en-US" sz="1000" dirty="0"/>
              <a:t> because of their potential impact on fluid permeability (</a:t>
            </a:r>
            <a:r>
              <a:rPr lang="en-GB" altLang="en-US" sz="1000" i="1" dirty="0"/>
              <a:t>e.g.</a:t>
            </a:r>
            <a:r>
              <a:rPr lang="en-GB" altLang="en-US" sz="1000" dirty="0"/>
              <a:t>, see Nelson, 1981, </a:t>
            </a:r>
            <a:r>
              <a:rPr lang="en-GB" altLang="en-US" sz="1000" i="1" dirty="0"/>
              <a:t>American Association of Petroleum Geologists Bulletin</a:t>
            </a:r>
            <a:r>
              <a:rPr lang="en-GB" altLang="en-US" sz="1000" dirty="0"/>
              <a:t> 65: 2417-2425, </a:t>
            </a:r>
            <a:r>
              <a:rPr lang="en-GB" sz="1000" dirty="0"/>
              <a:t>https://doi.org/10.1306/03B599AE-16D1-11D7-8645000102C1865D</a:t>
            </a:r>
            <a:r>
              <a:rPr lang="en-GB" altLang="en-US" sz="1000" dirty="0"/>
              <a:t>) – insoluble residues along </a:t>
            </a:r>
            <a:r>
              <a:rPr lang="en-GB" altLang="en-US" sz="1000" dirty="0" err="1"/>
              <a:t>stylolitic</a:t>
            </a:r>
            <a:r>
              <a:rPr lang="en-GB" altLang="en-US" sz="1000" dirty="0"/>
              <a:t> surfaces potentially impede the flow of fluids through the reservoir (although this effect on permeability may not always be as large as is generally thought – see Heap </a:t>
            </a:r>
            <a:r>
              <a:rPr lang="en-GB" altLang="en-US" sz="1000" i="1" dirty="0"/>
              <a:t>et al</a:t>
            </a:r>
            <a:r>
              <a:rPr lang="en-GB" altLang="en-US" sz="1000" dirty="0"/>
              <a:t>., 2014, </a:t>
            </a:r>
            <a:r>
              <a:rPr lang="en-GB" altLang="en-US" sz="1000" i="1" dirty="0"/>
              <a:t>Geology </a:t>
            </a:r>
            <a:r>
              <a:rPr lang="en-GB" altLang="en-US" sz="1000" dirty="0"/>
              <a:t>42: 51-54, </a:t>
            </a:r>
            <a:r>
              <a:rPr lang="en-GB" sz="1000" dirty="0"/>
              <a:t>https://doi.org/10.1130/G34900.1</a:t>
            </a:r>
            <a:r>
              <a:rPr lang="en-GB" altLang="en-US" sz="1000" dirty="0"/>
              <a:t>). If extension fractures can form around </a:t>
            </a:r>
            <a:r>
              <a:rPr lang="en-GB" altLang="en-US" sz="1000" dirty="0" err="1"/>
              <a:t>stylolites</a:t>
            </a:r>
            <a:r>
              <a:rPr lang="en-GB" altLang="en-US" sz="1000" dirty="0"/>
              <a:t>, their effect on permeability is potentially still less significant</a:t>
            </a:r>
          </a:p>
          <a:p>
            <a:pPr marL="108000" indent="-108000">
              <a:spcBef>
                <a:spcPts val="300"/>
              </a:spcBef>
              <a:buFont typeface="Arial" panose="020B0604020202020204" pitchFamily="34" charset="0"/>
              <a:buChar char="•"/>
            </a:pPr>
            <a:r>
              <a:rPr lang="en-GB" altLang="en-US" sz="1000" dirty="0" err="1"/>
              <a:t>Slickolites</a:t>
            </a:r>
            <a:r>
              <a:rPr lang="en-GB" altLang="en-US" sz="1000" dirty="0"/>
              <a:t> are commonly found around flexural slip folds</a:t>
            </a:r>
          </a:p>
          <a:p>
            <a:pPr marL="108000" indent="-108000">
              <a:spcBef>
                <a:spcPts val="300"/>
              </a:spcBef>
              <a:buFont typeface="Arial" panose="020B0604020202020204" pitchFamily="34" charset="0"/>
              <a:buChar char="•"/>
            </a:pPr>
            <a:r>
              <a:rPr lang="en-GB" altLang="en-US" sz="1000" dirty="0"/>
              <a:t>Photo top (Steve Covey-Crump): stylolite from Carboniferous limestones at West Angle Bay, Pembrokeshire</a:t>
            </a:r>
          </a:p>
          <a:p>
            <a:pPr marL="108000" indent="-108000">
              <a:spcBef>
                <a:spcPts val="300"/>
              </a:spcBef>
              <a:buFont typeface="Arial" panose="020B0604020202020204" pitchFamily="34" charset="0"/>
              <a:buChar char="•"/>
            </a:pPr>
            <a:r>
              <a:rPr lang="en-GB" altLang="en-US" sz="1000" dirty="0"/>
              <a:t>Photo bottom (from Ramsay &amp; Huber, p.656): </a:t>
            </a:r>
            <a:r>
              <a:rPr lang="en-GB" altLang="en-US" sz="1000" dirty="0" err="1"/>
              <a:t>slickolite</a:t>
            </a:r>
            <a:r>
              <a:rPr lang="en-GB" altLang="en-US" sz="1000" dirty="0"/>
              <a:t> from </a:t>
            </a:r>
            <a:r>
              <a:rPr lang="en-GB" altLang="en-US" sz="1000" dirty="0" err="1"/>
              <a:t>Holderbank</a:t>
            </a:r>
            <a:r>
              <a:rPr lang="en-GB" altLang="en-US" sz="1000" dirty="0"/>
              <a:t>, north Switzerland. The slip sense shown by the lazy arrows in red follows from the direction of maximum compression</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2">
            <a:extLst>
              <a:ext uri="{FF2B5EF4-FFF2-40B4-BE49-F238E27FC236}">
                <a16:creationId xmlns:a16="http://schemas.microsoft.com/office/drawing/2014/main" id="{BC00C632-6D79-4664-AAE6-7AF1B7C60909}"/>
              </a:ext>
            </a:extLst>
          </p:cNvPr>
          <p:cNvSpPr>
            <a:spLocks noGrp="1" noRot="1" noChangeAspect="1" noChangeArrowheads="1" noTextEdit="1"/>
          </p:cNvSpPr>
          <p:nvPr>
            <p:ph type="sldImg"/>
          </p:nvPr>
        </p:nvSpPr>
        <p:spPr>
          <a:ln/>
        </p:spPr>
      </p:sp>
      <p:sp>
        <p:nvSpPr>
          <p:cNvPr id="235523" name="Rectangle 3">
            <a:extLst>
              <a:ext uri="{FF2B5EF4-FFF2-40B4-BE49-F238E27FC236}">
                <a16:creationId xmlns:a16="http://schemas.microsoft.com/office/drawing/2014/main" id="{3EF94F37-96EC-41E4-B09F-6C2DECEE875B}"/>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To be strictly accurate, what we see when observing fractures is strain not stress and so in making the points on this slide, we are implicitly assuming that the axes of stress and strain coincide. This is OK in this class because we are considering fractures with very small displacements across them</a:t>
            </a:r>
          </a:p>
          <a:p>
            <a:pPr marL="108000" indent="-108000">
              <a:spcBef>
                <a:spcPts val="300"/>
              </a:spcBef>
              <a:buFont typeface="Arial" panose="020B0604020202020204" pitchFamily="34" charset="0"/>
              <a:buChar char="•"/>
            </a:pPr>
            <a:r>
              <a:rPr lang="en-GB" altLang="en-US" sz="1000" dirty="0"/>
              <a:t>Figure left adapted by Steve Covey-Crump from Jaeger </a:t>
            </a:r>
            <a:r>
              <a:rPr lang="en-GB" altLang="en-US" sz="1000" i="1" dirty="0"/>
              <a:t>et al</a:t>
            </a:r>
            <a:r>
              <a:rPr lang="en-GB" altLang="en-US" sz="1000" dirty="0"/>
              <a:t>., 2007,</a:t>
            </a:r>
            <a:r>
              <a:rPr lang="en-GB" altLang="en-US" sz="1000" i="1" dirty="0"/>
              <a:t> Fundamentals of Rock Mechanics</a:t>
            </a:r>
            <a:r>
              <a:rPr lang="en-GB" altLang="en-US" sz="1000" dirty="0"/>
              <a:t> (4</a:t>
            </a:r>
            <a:r>
              <a:rPr lang="en-GB" altLang="en-US" sz="1000" baseline="30000" dirty="0"/>
              <a:t>th</a:t>
            </a:r>
            <a:r>
              <a:rPr lang="en-GB" altLang="en-US" sz="1000" dirty="0"/>
              <a:t> edition), p.88</a:t>
            </a:r>
          </a:p>
          <a:p>
            <a:pPr marL="108000" indent="-108000">
              <a:spcBef>
                <a:spcPts val="300"/>
              </a:spcBef>
              <a:buFont typeface="Arial" panose="020B0604020202020204" pitchFamily="34" charset="0"/>
              <a:buChar char="•"/>
            </a:pPr>
            <a:r>
              <a:rPr lang="en-GB" altLang="en-US" sz="1000" dirty="0"/>
              <a:t>Figure right from Fossen, p.126</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 2">
            <a:extLst>
              <a:ext uri="{FF2B5EF4-FFF2-40B4-BE49-F238E27FC236}">
                <a16:creationId xmlns:a16="http://schemas.microsoft.com/office/drawing/2014/main" id="{6A6F9087-4273-493C-88F3-570A3C22BCEE}"/>
              </a:ext>
            </a:extLst>
          </p:cNvPr>
          <p:cNvSpPr>
            <a:spLocks noGrp="1" noRot="1" noChangeAspect="1" noChangeArrowheads="1" noTextEdit="1"/>
          </p:cNvSpPr>
          <p:nvPr>
            <p:ph type="sldImg"/>
          </p:nvPr>
        </p:nvSpPr>
        <p:spPr>
          <a:ln/>
        </p:spPr>
      </p:sp>
      <p:sp>
        <p:nvSpPr>
          <p:cNvPr id="288771" name="Rectangle 3">
            <a:extLst>
              <a:ext uri="{FF2B5EF4-FFF2-40B4-BE49-F238E27FC236}">
                <a16:creationId xmlns:a16="http://schemas.microsoft.com/office/drawing/2014/main" id="{E106F2DD-7C96-405E-BDC6-5801FF430C73}"/>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Photo top left (Steve Covey-Crump): pinnate fractures implying dextral shear displacement, Charnwood Forest, Leicestershire. Pinnate fractures are also known as feather fractures because their orientation indicates sense of movement as if they were flight feathers on an arrow. Note that they are in the same orientation as tension gashes</a:t>
            </a:r>
          </a:p>
          <a:p>
            <a:pPr marL="108000" indent="-108000">
              <a:spcBef>
                <a:spcPts val="300"/>
              </a:spcBef>
              <a:buFont typeface="Arial" panose="020B0604020202020204" pitchFamily="34" charset="0"/>
              <a:buChar char="•"/>
            </a:pPr>
            <a:r>
              <a:rPr lang="en-GB" altLang="en-US" sz="1000" dirty="0"/>
              <a:t>Figure top right from Price &amp; Cosgrove, p.45</a:t>
            </a:r>
          </a:p>
          <a:p>
            <a:pPr marL="108000" indent="-108000">
              <a:spcBef>
                <a:spcPts val="300"/>
              </a:spcBef>
              <a:buFont typeface="Arial" panose="020B0604020202020204" pitchFamily="34" charset="0"/>
              <a:buChar char="•"/>
            </a:pPr>
            <a:r>
              <a:rPr lang="en-GB" altLang="en-US" sz="1000" dirty="0"/>
              <a:t>Photo bottom left (Steve Covey-Crump): tension gashes and </a:t>
            </a:r>
            <a:r>
              <a:rPr lang="en-GB" altLang="en-US" sz="1000" dirty="0" err="1"/>
              <a:t>stylolites</a:t>
            </a:r>
            <a:r>
              <a:rPr lang="en-GB" altLang="en-US" sz="1000" dirty="0"/>
              <a:t>, Carboniferous limestones, West Angle Bay, Pembrokeshire. Note that the tension gashes are oriented normal to the </a:t>
            </a:r>
            <a:r>
              <a:rPr lang="en-GB" altLang="en-US" sz="1000" dirty="0" err="1"/>
              <a:t>stylolites</a:t>
            </a:r>
            <a:r>
              <a:rPr lang="en-GB" altLang="en-US" sz="1000" dirty="0"/>
              <a:t> implying that individually they are extension fractures (assuming that the </a:t>
            </a:r>
            <a:r>
              <a:rPr lang="en-GB" altLang="en-US" sz="1000" dirty="0" err="1"/>
              <a:t>stylolites</a:t>
            </a:r>
            <a:r>
              <a:rPr lang="en-GB" altLang="en-US" sz="1000" dirty="0"/>
              <a:t> and tension gashes formed at the same time). However, their </a:t>
            </a:r>
            <a:r>
              <a:rPr lang="en-GB" altLang="en-US" sz="1000" dirty="0" err="1"/>
              <a:t>en</a:t>
            </a:r>
            <a:r>
              <a:rPr lang="en-GB" altLang="en-US" sz="1000" dirty="0"/>
              <a:t> </a:t>
            </a:r>
            <a:r>
              <a:rPr lang="en-GB" altLang="en-US" sz="1000" dirty="0" err="1"/>
              <a:t>échelon</a:t>
            </a:r>
            <a:r>
              <a:rPr lang="en-GB" altLang="en-US" sz="1000" dirty="0"/>
              <a:t> arrangement implies a sinistral sense of shear for the array as a whole</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4" name="Rectangle 2">
            <a:extLst>
              <a:ext uri="{FF2B5EF4-FFF2-40B4-BE49-F238E27FC236}">
                <a16:creationId xmlns:a16="http://schemas.microsoft.com/office/drawing/2014/main" id="{69BEFA36-AE80-42D8-B64A-D926D23D7ADC}"/>
              </a:ext>
            </a:extLst>
          </p:cNvPr>
          <p:cNvSpPr>
            <a:spLocks noGrp="1" noRot="1" noChangeAspect="1" noChangeArrowheads="1" noTextEdit="1"/>
          </p:cNvSpPr>
          <p:nvPr>
            <p:ph type="sldImg"/>
          </p:nvPr>
        </p:nvSpPr>
        <p:spPr>
          <a:ln/>
        </p:spPr>
      </p:sp>
      <p:sp>
        <p:nvSpPr>
          <p:cNvPr id="376835" name="Rectangle 3">
            <a:extLst>
              <a:ext uri="{FF2B5EF4-FFF2-40B4-BE49-F238E27FC236}">
                <a16:creationId xmlns:a16="http://schemas.microsoft.com/office/drawing/2014/main" id="{7C68A93D-AAA9-4D8D-BB4F-553C15830A16}"/>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For further details on the classification of conjugate vein arrays, see Srivastava, 2000, </a:t>
            </a:r>
            <a:r>
              <a:rPr lang="en-GB" altLang="en-US" sz="1000" i="1" dirty="0">
                <a:latin typeface="Times New Roman" panose="02020603050405020304" pitchFamily="18" charset="0"/>
                <a:cs typeface="Times New Roman" panose="02020603050405020304" pitchFamily="18" charset="0"/>
              </a:rPr>
              <a:t>Journal of Structural Geology</a:t>
            </a:r>
            <a:r>
              <a:rPr lang="en-GB" altLang="en-US" sz="1000" dirty="0">
                <a:latin typeface="Times New Roman" panose="02020603050405020304" pitchFamily="18" charset="0"/>
                <a:cs typeface="Times New Roman" panose="02020603050405020304" pitchFamily="18" charset="0"/>
              </a:rPr>
              <a:t> 22: 713-722, </a:t>
            </a:r>
            <a:r>
              <a:rPr lang="en-GB" sz="1000" dirty="0"/>
              <a:t>https://doi.org/10.1016/S0191-8141(00)00005-5</a:t>
            </a:r>
            <a:r>
              <a:rPr lang="en-GB" altLang="en-US" sz="1000" dirty="0">
                <a:latin typeface="Times New Roman" panose="02020603050405020304" pitchFamily="18" charset="0"/>
                <a:cs typeface="Times New Roman" panose="02020603050405020304" pitchFamily="18" charset="0"/>
              </a:rPr>
              <a:t>. Note that Type 3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θ</a:t>
            </a:r>
            <a:r>
              <a:rPr lang="en-GB" altLang="en-US" sz="1000" dirty="0">
                <a:latin typeface="Times New Roman" panose="02020603050405020304" pitchFamily="18" charset="0"/>
                <a:cs typeface="Times New Roman" panose="02020603050405020304" pitchFamily="18" charset="0"/>
              </a:rPr>
              <a:t> = 0°) is simply specified as an end-member type – no conjugate array can have this geometry because it implies the opposite sense of shearing on two arrays that are conjugate and yet parallel to each other</a:t>
            </a: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For a brief discussion of theories on the formation of conjugate vein arrays, see Bons </a:t>
            </a:r>
            <a:r>
              <a:rPr lang="en-GB" altLang="en-US" sz="1000" i="1" dirty="0">
                <a:latin typeface="Times New Roman" panose="02020603050405020304" pitchFamily="18" charset="0"/>
                <a:cs typeface="Times New Roman" panose="02020603050405020304" pitchFamily="18" charset="0"/>
              </a:rPr>
              <a:t>et al.</a:t>
            </a:r>
            <a:r>
              <a:rPr lang="en-GB" altLang="en-US" sz="1000" dirty="0">
                <a:latin typeface="Times New Roman" panose="02020603050405020304" pitchFamily="18" charset="0"/>
                <a:cs typeface="Times New Roman" panose="02020603050405020304" pitchFamily="18" charset="0"/>
              </a:rPr>
              <a:t>, 2012, </a:t>
            </a:r>
            <a:r>
              <a:rPr lang="en-GB" altLang="en-US" sz="1000" i="1" dirty="0">
                <a:latin typeface="Times New Roman" panose="02020603050405020304" pitchFamily="18" charset="0"/>
                <a:cs typeface="Times New Roman" panose="02020603050405020304" pitchFamily="18" charset="0"/>
              </a:rPr>
              <a:t>Journal of Structural Geology</a:t>
            </a:r>
            <a:r>
              <a:rPr lang="en-GB" altLang="en-US" sz="1000" dirty="0">
                <a:latin typeface="Times New Roman" panose="02020603050405020304" pitchFamily="18" charset="0"/>
                <a:cs typeface="Times New Roman" panose="02020603050405020304" pitchFamily="18" charset="0"/>
              </a:rPr>
              <a:t> 43: 33-62, </a:t>
            </a:r>
            <a:r>
              <a:rPr lang="en-GB" sz="1000" dirty="0"/>
              <a:t>https://doi.org/10.1016/j.jsg.2012.07.005</a:t>
            </a:r>
            <a:endParaRPr lang="en-GB" altLang="en-US" sz="1000" dirty="0">
              <a:latin typeface="Times New Roman" panose="02020603050405020304" pitchFamily="18" charset="0"/>
              <a:cs typeface="Times New Roman" panose="02020603050405020304" pitchFamily="18" charset="0"/>
            </a:endParaRP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Figures top and bottom right from Srivastava, 2000, </a:t>
            </a:r>
            <a:r>
              <a:rPr lang="en-GB" altLang="en-US" sz="1000" i="1" dirty="0">
                <a:latin typeface="Times New Roman" panose="02020603050405020304" pitchFamily="18" charset="0"/>
                <a:cs typeface="Times New Roman" panose="02020603050405020304" pitchFamily="18" charset="0"/>
              </a:rPr>
              <a:t>Journal of Structural Geology</a:t>
            </a:r>
            <a:r>
              <a:rPr lang="en-GB" altLang="en-US" sz="1000" dirty="0">
                <a:latin typeface="Times New Roman" panose="02020603050405020304" pitchFamily="18" charset="0"/>
                <a:cs typeface="Times New Roman" panose="02020603050405020304" pitchFamily="18" charset="0"/>
              </a:rPr>
              <a:t> 22: 713-722, , </a:t>
            </a:r>
            <a:r>
              <a:rPr lang="en-GB" sz="1000" dirty="0"/>
              <a:t>https://doi.org/10.1016/S0191-8141(00)00005-5</a:t>
            </a:r>
            <a:endParaRPr lang="en-GB" altLang="en-US" sz="1000" dirty="0">
              <a:latin typeface="Times New Roman" panose="02020603050405020304" pitchFamily="18" charset="0"/>
              <a:cs typeface="Times New Roman" panose="02020603050405020304" pitchFamily="18" charset="0"/>
            </a:endParaRP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Photo bottom left (Steve Covey-Crump): convergent conjugate vein array, Freshwater West, Pembrokeshire. Note the pressure solution cleavage that is oriented left-right on the photo</a:t>
            </a:r>
          </a:p>
          <a:p>
            <a:pPr marL="0" indent="0">
              <a:spcBef>
                <a:spcPts val="300"/>
              </a:spcBef>
              <a:buFont typeface="Arial" panose="020B0604020202020204" pitchFamily="34" charset="0"/>
              <a:buNone/>
            </a:pPr>
            <a:endParaRPr lang="en-GB" altLang="en-US" sz="1000" dirty="0">
              <a:latin typeface="Times New Roman" panose="02020603050405020304" pitchFamily="18" charset="0"/>
              <a:cs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2">
            <a:extLst>
              <a:ext uri="{FF2B5EF4-FFF2-40B4-BE49-F238E27FC236}">
                <a16:creationId xmlns:a16="http://schemas.microsoft.com/office/drawing/2014/main" id="{7DE645B7-DE30-436C-A836-61DDD361C2EA}"/>
              </a:ext>
            </a:extLst>
          </p:cNvPr>
          <p:cNvSpPr>
            <a:spLocks noGrp="1" noRot="1" noChangeAspect="1" noChangeArrowheads="1" noTextEdit="1"/>
          </p:cNvSpPr>
          <p:nvPr>
            <p:ph type="sldImg"/>
          </p:nvPr>
        </p:nvSpPr>
        <p:spPr>
          <a:ln/>
        </p:spPr>
      </p:sp>
      <p:sp>
        <p:nvSpPr>
          <p:cNvPr id="241667" name="Rectangle 3">
            <a:extLst>
              <a:ext uri="{FF2B5EF4-FFF2-40B4-BE49-F238E27FC236}">
                <a16:creationId xmlns:a16="http://schemas.microsoft.com/office/drawing/2014/main" id="{BB80A60B-F53F-43F9-8F2D-958532407702}"/>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In Ex.1 of the Stress practical last week, we calculated the normal stress and shear stress on a plane oriented 30° anticlockwise to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latin typeface="Times New Roman" panose="02020603050405020304" pitchFamily="18" charset="0"/>
                <a:cs typeface="Times New Roman" panose="02020603050405020304" pitchFamily="18" charset="0"/>
              </a:rPr>
              <a:t>1</a:t>
            </a:r>
            <a:r>
              <a:rPr lang="en-GB" altLang="en-US" sz="1000" baseline="0" dirty="0">
                <a:latin typeface="Times New Roman" panose="02020603050405020304" pitchFamily="18" charset="0"/>
                <a:cs typeface="Times New Roman" panose="02020603050405020304" pitchFamily="18" charset="0"/>
              </a:rPr>
              <a:t>; on the figure on this slide this exercise is solved for a plane oriented 30° clockwise to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latin typeface="Times New Roman" panose="02020603050405020304" pitchFamily="18" charset="0"/>
                <a:cs typeface="Times New Roman" panose="02020603050405020304" pitchFamily="18" charset="0"/>
              </a:rPr>
              <a:t>1</a:t>
            </a:r>
            <a:r>
              <a:rPr lang="en-GB" altLang="en-US" sz="1000" dirty="0">
                <a:latin typeface="Times New Roman" panose="02020603050405020304" pitchFamily="18" charset="0"/>
                <a:cs typeface="Times New Roman" panose="02020603050405020304" pitchFamily="18" charset="0"/>
              </a:rPr>
              <a:t>. Remember from Ex.1 of the Stress practical last week that 2</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θ</a:t>
            </a:r>
            <a:r>
              <a:rPr lang="en-GB" altLang="en-US" sz="1000" dirty="0">
                <a:latin typeface="Times New Roman" panose="02020603050405020304" pitchFamily="18" charset="0"/>
                <a:cs typeface="Times New Roman" panose="02020603050405020304" pitchFamily="18" charset="0"/>
              </a:rPr>
              <a:t>  is 120° for a shear plane formed at 30° to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latin typeface="Times New Roman" panose="02020603050405020304" pitchFamily="18" charset="0"/>
                <a:cs typeface="Times New Roman" panose="02020603050405020304" pitchFamily="18" charset="0"/>
              </a:rPr>
              <a:t>1</a:t>
            </a:r>
            <a:r>
              <a:rPr lang="en-GB" altLang="en-US" sz="1000" dirty="0">
                <a:latin typeface="Times New Roman" panose="02020603050405020304" pitchFamily="18" charset="0"/>
                <a:cs typeface="Times New Roman" panose="02020603050405020304" pitchFamily="18" charset="0"/>
              </a:rPr>
              <a:t> because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θ</a:t>
            </a:r>
            <a:r>
              <a:rPr lang="en-GB" altLang="en-US" sz="1000" dirty="0">
                <a:latin typeface="Times New Roman" panose="02020603050405020304" pitchFamily="18" charset="0"/>
                <a:cs typeface="Times New Roman" panose="02020603050405020304" pitchFamily="18" charset="0"/>
              </a:rPr>
              <a:t> is the angle between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latin typeface="Times New Roman" panose="02020603050405020304" pitchFamily="18" charset="0"/>
                <a:cs typeface="Times New Roman" panose="02020603050405020304" pitchFamily="18" charset="0"/>
              </a:rPr>
              <a:t>1</a:t>
            </a:r>
            <a:r>
              <a:rPr lang="en-GB" altLang="en-US" sz="1000" dirty="0">
                <a:latin typeface="Times New Roman" panose="02020603050405020304" pitchFamily="18" charset="0"/>
                <a:cs typeface="Times New Roman" panose="02020603050405020304" pitchFamily="18" charset="0"/>
              </a:rPr>
              <a:t> and the normal to the plane (= 60°)</a:t>
            </a: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The normal stress acts to push the two sides of the fracture together. Since fracturing involves a volume increase, the normal stress on the fracture plane acts to suppress fracturing (fracturing becomes easier as normal stress is decreased)</a:t>
            </a: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Figure by Steve Covey-Crump</a:t>
            </a:r>
          </a:p>
          <a:p>
            <a:pPr marL="0" indent="0">
              <a:spcBef>
                <a:spcPts val="300"/>
              </a:spcBef>
              <a:buFont typeface="Arial" panose="020B0604020202020204" pitchFamily="34" charset="0"/>
              <a:buNone/>
            </a:pPr>
            <a:endParaRPr lang="en-GB" altLang="en-US" sz="1000" dirty="0">
              <a:latin typeface="Times New Roman" panose="02020603050405020304" pitchFamily="18" charset="0"/>
              <a:cs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2">
            <a:extLst>
              <a:ext uri="{FF2B5EF4-FFF2-40B4-BE49-F238E27FC236}">
                <a16:creationId xmlns:a16="http://schemas.microsoft.com/office/drawing/2014/main" id="{583EB40B-FE48-418C-A17B-9E34A33204AA}"/>
              </a:ext>
            </a:extLst>
          </p:cNvPr>
          <p:cNvSpPr>
            <a:spLocks noGrp="1" noRot="1" noChangeAspect="1" noChangeArrowheads="1" noTextEdit="1"/>
          </p:cNvSpPr>
          <p:nvPr>
            <p:ph type="sldImg"/>
          </p:nvPr>
        </p:nvSpPr>
        <p:spPr>
          <a:ln/>
        </p:spPr>
      </p:sp>
      <p:sp>
        <p:nvSpPr>
          <p:cNvPr id="247811" name="Rectangle 3">
            <a:extLst>
              <a:ext uri="{FF2B5EF4-FFF2-40B4-BE49-F238E27FC236}">
                <a16:creationId xmlns:a16="http://schemas.microsoft.com/office/drawing/2014/main" id="{552ED0AB-F015-4320-9BEB-E6E4A9F86DD3}"/>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In the figure, fractures form at the orientations given by the solid dots where the Mohr circle touches the failure envelope. Note the increasing diameter of the Mohr circle with increasing confining pressure. Confining pressure is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t>3</a:t>
            </a:r>
            <a:r>
              <a:rPr lang="en-GB" altLang="en-US" sz="1000" dirty="0"/>
              <a:t>, which, in each case, is where the left side of the circle cuts the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i="1" baseline="-25000" dirty="0"/>
              <a:t>n</a:t>
            </a:r>
            <a:r>
              <a:rPr lang="en-GB" altLang="en-US" sz="1000" dirty="0"/>
              <a:t> axis. Increasing confining pressure increases the normal stress across the fracture plane and hence suppresses fracture formation (see notes to the previous slide), that is, greater values of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i="0" baseline="-25000" dirty="0">
                <a:latin typeface="Cambria Math" panose="02040503050406030204" pitchFamily="18" charset="0"/>
                <a:ea typeface="Cambria Math" panose="02040503050406030204" pitchFamily="18" charset="0"/>
                <a:cs typeface="Times New Roman" panose="02020603050405020304" pitchFamily="18" charset="0"/>
              </a:rPr>
              <a:t>1</a:t>
            </a:r>
            <a:r>
              <a:rPr lang="en-GB" altLang="en-US" sz="1000" baseline="-25000" dirty="0"/>
              <a:t> </a:t>
            </a:r>
            <a:r>
              <a:rPr lang="en-GB" altLang="en-US" sz="1000" baseline="0" dirty="0"/>
              <a:t>-</a:t>
            </a:r>
            <a:r>
              <a:rPr lang="en-GB" altLang="en-US" sz="1000" baseline="-25000" dirty="0"/>
              <a:t>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t>3</a:t>
            </a:r>
            <a:r>
              <a:rPr lang="en-GB" altLang="en-US" sz="1000" baseline="0" dirty="0"/>
              <a:t>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i="0" baseline="-25000" dirty="0">
                <a:latin typeface="Cambria Math" panose="02040503050406030204" pitchFamily="18" charset="0"/>
                <a:ea typeface="Cambria Math" panose="02040503050406030204" pitchFamily="18" charset="0"/>
                <a:cs typeface="Times New Roman" panose="02020603050405020304" pitchFamily="18" charset="0"/>
              </a:rPr>
              <a:t>1</a:t>
            </a:r>
            <a:r>
              <a:rPr lang="en-GB" altLang="en-US" sz="1000" baseline="-25000" dirty="0"/>
              <a:t> </a:t>
            </a:r>
            <a:r>
              <a:rPr lang="en-GB" altLang="en-US" sz="1000" baseline="0" dirty="0"/>
              <a:t>-</a:t>
            </a:r>
            <a:r>
              <a:rPr lang="en-GB" altLang="en-US" sz="1000" baseline="-25000" dirty="0"/>
              <a:t>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t>3</a:t>
            </a:r>
            <a:r>
              <a:rPr lang="en-GB" altLang="en-US" sz="1000" baseline="0" dirty="0"/>
              <a:t> = diameter of the Mohr circle) are required to cause failure</a:t>
            </a:r>
          </a:p>
          <a:p>
            <a:pPr marL="108000" indent="-108000">
              <a:spcBef>
                <a:spcPts val="300"/>
              </a:spcBef>
              <a:buFont typeface="Arial" panose="020B0604020202020204" pitchFamily="34" charset="0"/>
              <a:buChar char="•"/>
            </a:pPr>
            <a:r>
              <a:rPr lang="en-GB" altLang="en-US" sz="1000" dirty="0"/>
              <a:t>The three green Mohr circles show three different modes of extensional failure – which one occurs depends upon the difference between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cs typeface="Times New Roman" panose="02020603050405020304" pitchFamily="18" charset="0"/>
              </a:rPr>
              <a:t>1</a:t>
            </a:r>
            <a:r>
              <a:rPr lang="en-GB" altLang="en-US" sz="1000" dirty="0">
                <a:cs typeface="Times New Roman" panose="02020603050405020304" pitchFamily="18" charset="0"/>
              </a:rPr>
              <a:t> and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cs typeface="Times New Roman" panose="02020603050405020304" pitchFamily="18" charset="0"/>
              </a:rPr>
              <a:t>3</a:t>
            </a:r>
            <a:r>
              <a:rPr lang="en-GB" altLang="en-US" sz="1000" baseline="0" dirty="0">
                <a:cs typeface="Times New Roman" panose="02020603050405020304" pitchFamily="18" charset="0"/>
              </a:rPr>
              <a:t>. Bullet point 1 on the slide refers to the failure mode depicted on the furthest right green extensional failure figure</a:t>
            </a:r>
            <a:endParaRPr lang="el-GR" altLang="en-US" sz="1000" dirty="0">
              <a:cs typeface="Times New Roman" panose="02020603050405020304" pitchFamily="18" charset="0"/>
            </a:endParaRPr>
          </a:p>
          <a:p>
            <a:pPr marL="108000" indent="-108000">
              <a:spcBef>
                <a:spcPts val="300"/>
              </a:spcBef>
              <a:buFont typeface="Arial" panose="020B0604020202020204" pitchFamily="34" charset="0"/>
              <a:buChar char="•"/>
            </a:pPr>
            <a:r>
              <a:rPr lang="en-GB" altLang="en-US" sz="1000" dirty="0"/>
              <a:t>For further information on the transition from extension to hybrid to shear fractures with increasing confining pressure, see the experiments of Ramsay &amp; Chester, 2004, </a:t>
            </a:r>
            <a:r>
              <a:rPr lang="en-GB" altLang="en-US" sz="1000" i="1" dirty="0"/>
              <a:t>Nature</a:t>
            </a:r>
            <a:r>
              <a:rPr lang="en-GB" altLang="en-US" sz="1000" dirty="0"/>
              <a:t> 428: 63-66, </a:t>
            </a:r>
            <a:r>
              <a:rPr lang="en-GB" sz="1000" dirty="0"/>
              <a:t>https://doi.org/10.1038/nature02333 </a:t>
            </a:r>
            <a:endParaRPr lang="en-GB" altLang="en-US" sz="1000" dirty="0"/>
          </a:p>
          <a:p>
            <a:pPr marL="108000" indent="-108000">
              <a:spcBef>
                <a:spcPts val="300"/>
              </a:spcBef>
              <a:buFont typeface="Arial" panose="020B0604020202020204" pitchFamily="34" charset="0"/>
              <a:buChar char="•"/>
            </a:pPr>
            <a:r>
              <a:rPr lang="en-GB" altLang="en-US" sz="1000" dirty="0"/>
              <a:t>Figure by Steve Covey-Crump based on an original in </a:t>
            </a:r>
            <a:r>
              <a:rPr lang="en-GB" altLang="en-US" sz="1000" dirty="0" err="1"/>
              <a:t>Belayneh</a:t>
            </a:r>
            <a:r>
              <a:rPr lang="en-GB" altLang="en-US" sz="1000" dirty="0"/>
              <a:t> &amp; Cosgrove, 2010, </a:t>
            </a:r>
            <a:r>
              <a:rPr lang="en-GB" altLang="en-US" sz="1000" i="1" dirty="0"/>
              <a:t>Journal of Structural Geology</a:t>
            </a:r>
            <a:r>
              <a:rPr lang="en-GB" altLang="en-US" sz="1000" dirty="0"/>
              <a:t> 32: 192-201, </a:t>
            </a:r>
            <a:r>
              <a:rPr lang="en-GB" sz="1000" dirty="0"/>
              <a:t>https://doi.org/10.1016/j.jsg.2009.11.010</a:t>
            </a:r>
            <a:endParaRPr lang="en-GB" altLang="en-US" sz="1000" dirty="0"/>
          </a:p>
          <a:p>
            <a:pPr>
              <a:spcBef>
                <a:spcPts val="300"/>
              </a:spcBef>
            </a:pPr>
            <a:endParaRPr lang="en-GB" altLang="en-US" sz="1000"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2">
            <a:extLst>
              <a:ext uri="{FF2B5EF4-FFF2-40B4-BE49-F238E27FC236}">
                <a16:creationId xmlns:a16="http://schemas.microsoft.com/office/drawing/2014/main" id="{D2B61DF9-D9B1-4144-84D6-651225DE7A1C}"/>
              </a:ext>
            </a:extLst>
          </p:cNvPr>
          <p:cNvSpPr>
            <a:spLocks noGrp="1" noRot="1" noChangeAspect="1" noChangeArrowheads="1" noTextEdit="1"/>
          </p:cNvSpPr>
          <p:nvPr>
            <p:ph type="sldImg"/>
          </p:nvPr>
        </p:nvSpPr>
        <p:spPr>
          <a:ln/>
        </p:spPr>
      </p:sp>
      <p:sp>
        <p:nvSpPr>
          <p:cNvPr id="252931" name="Rectangle 3">
            <a:extLst>
              <a:ext uri="{FF2B5EF4-FFF2-40B4-BE49-F238E27FC236}">
                <a16:creationId xmlns:a16="http://schemas.microsoft.com/office/drawing/2014/main" id="{40EE8B8C-C7EF-40CF-87E8-D0D16027B06D}"/>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Fluid pressure acts outwards in a direction everywhere normal to the pore surface. Hence it affects only the normal stresses</a:t>
            </a:r>
          </a:p>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a:t>Triggering of earthquakes under man-made lakes is a well-documented phenomena that is described using the principles outlined on this slide – water from the lake percolates down through fractures in the subsurface below, raising pore fluid pressures, which then ultimately leads to the earthquake. For a review see Gupta, 2002, </a:t>
            </a:r>
            <a:r>
              <a:rPr lang="en-GB" altLang="en-US" sz="1000" i="1" dirty="0"/>
              <a:t>Earth Science Reviews</a:t>
            </a:r>
            <a:r>
              <a:rPr lang="en-GB" altLang="en-US" sz="1000" dirty="0"/>
              <a:t> 58: 279-310, </a:t>
            </a:r>
            <a:r>
              <a:rPr lang="en-GB" sz="1000" dirty="0"/>
              <a:t>https://doi.org/10.1016/S0012-8252(02)00063-6</a:t>
            </a:r>
            <a:r>
              <a:rPr lang="en-GB" altLang="en-US" sz="1000" dirty="0"/>
              <a:t>. For an analysis of the earthquakes triggered in Egypt following construction of the Aswan Dam, see Adams, 1983, </a:t>
            </a:r>
            <a:r>
              <a:rPr lang="en-GB" altLang="en-US" sz="1000" i="1" dirty="0"/>
              <a:t>Nature</a:t>
            </a:r>
            <a:r>
              <a:rPr lang="en-GB" altLang="en-US" sz="1000" dirty="0"/>
              <a:t> 301: 14, </a:t>
            </a:r>
            <a:r>
              <a:rPr lang="en-GB" sz="1000" dirty="0"/>
              <a:t>https://doi.org/10.1038/301014a0;</a:t>
            </a:r>
            <a:r>
              <a:rPr lang="en-GB" altLang="en-US" sz="1000" dirty="0"/>
              <a:t> and </a:t>
            </a:r>
            <a:r>
              <a:rPr lang="en-GB" altLang="en-US" sz="1000" dirty="0" err="1"/>
              <a:t>Gahalaut</a:t>
            </a:r>
            <a:r>
              <a:rPr lang="en-GB" altLang="en-US" sz="1000" dirty="0"/>
              <a:t> &amp; </a:t>
            </a:r>
            <a:r>
              <a:rPr lang="en-GB" altLang="en-US" sz="1000" dirty="0" err="1"/>
              <a:t>Hassoup</a:t>
            </a:r>
            <a:r>
              <a:rPr lang="en-GB" altLang="en-US" sz="1000" dirty="0"/>
              <a:t>, 2012, </a:t>
            </a:r>
            <a:r>
              <a:rPr lang="en-GB" altLang="en-US" sz="1000" i="1" dirty="0"/>
              <a:t>Journal of Geophysical Research </a:t>
            </a:r>
            <a:r>
              <a:rPr lang="en-GB" altLang="en-US" sz="1000" dirty="0"/>
              <a:t>117(B2), article B02303, </a:t>
            </a:r>
            <a:r>
              <a:rPr lang="en-GB" sz="1000" dirty="0"/>
              <a:t>https://doi.org/10.1029/2011JB008796</a:t>
            </a:r>
            <a:endParaRPr lang="en-GB" altLang="en-US" sz="1000" dirty="0"/>
          </a:p>
          <a:p>
            <a:pPr marL="108000" indent="-108000">
              <a:spcBef>
                <a:spcPts val="300"/>
              </a:spcBef>
              <a:buFont typeface="Arial" panose="020B0604020202020204" pitchFamily="34" charset="0"/>
              <a:buChar char="•"/>
            </a:pPr>
            <a:r>
              <a:rPr lang="en-GB" altLang="en-US" sz="1000" dirty="0"/>
              <a:t>Figure left (by Steve Covey-Crump) showing the stresses acting on a fluid-filled pore</a:t>
            </a:r>
          </a:p>
          <a:p>
            <a:pPr marL="108000" indent="-108000">
              <a:spcBef>
                <a:spcPts val="300"/>
              </a:spcBef>
              <a:buFont typeface="Arial" panose="020B0604020202020204" pitchFamily="34" charset="0"/>
              <a:buChar char="•"/>
            </a:pPr>
            <a:r>
              <a:rPr lang="en-GB" altLang="en-US" sz="1000" dirty="0"/>
              <a:t>Figure right from Fossen, p.142</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2">
            <a:extLst>
              <a:ext uri="{FF2B5EF4-FFF2-40B4-BE49-F238E27FC236}">
                <a16:creationId xmlns:a16="http://schemas.microsoft.com/office/drawing/2014/main" id="{70CF908A-E3CC-4741-ACB7-58431421C7E8}"/>
              </a:ext>
            </a:extLst>
          </p:cNvPr>
          <p:cNvSpPr>
            <a:spLocks noGrp="1" noRot="1" noChangeAspect="1" noChangeArrowheads="1" noTextEdit="1"/>
          </p:cNvSpPr>
          <p:nvPr>
            <p:ph type="sldImg"/>
          </p:nvPr>
        </p:nvSpPr>
        <p:spPr>
          <a:ln/>
        </p:spPr>
      </p:sp>
      <p:sp>
        <p:nvSpPr>
          <p:cNvPr id="290819" name="Rectangle 3">
            <a:extLst>
              <a:ext uri="{FF2B5EF4-FFF2-40B4-BE49-F238E27FC236}">
                <a16:creationId xmlns:a16="http://schemas.microsoft.com/office/drawing/2014/main" id="{A32716E7-53AA-4CEF-9721-3C61BBF7AE8F}"/>
              </a:ext>
            </a:extLst>
          </p:cNvPr>
          <p:cNvSpPr>
            <a:spLocks noGrp="1" noChangeArrowheads="1"/>
          </p:cNvSpPr>
          <p:nvPr>
            <p:ph type="body" idx="1"/>
          </p:nvPr>
        </p:nvSpPr>
        <p:spPr>
          <a:noFill/>
        </p:spPr>
        <p:txBody>
          <a:bodyPr/>
          <a:lstStyle/>
          <a:p>
            <a:pPr marL="108000" indent="-108000">
              <a:spcBef>
                <a:spcPts val="300"/>
              </a:spcBef>
              <a:buFontTx/>
              <a:buChar char="•"/>
            </a:pPr>
            <a:endParaRPr lang="en-US" altLang="en-US" sz="1000"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08000" indent="-108000">
              <a:spcBef>
                <a:spcPts val="300"/>
              </a:spcBef>
              <a:buFont typeface="Arial" panose="020B0604020202020204" pitchFamily="34" charset="0"/>
              <a:buChar char="•"/>
            </a:pPr>
            <a:endParaRPr lang="en-GB" sz="1000" dirty="0"/>
          </a:p>
        </p:txBody>
      </p:sp>
      <p:sp>
        <p:nvSpPr>
          <p:cNvPr id="4" name="Slide Number Placeholder 3"/>
          <p:cNvSpPr>
            <a:spLocks noGrp="1"/>
          </p:cNvSpPr>
          <p:nvPr>
            <p:ph type="sldNum" sz="quarter" idx="5"/>
          </p:nvPr>
        </p:nvSpPr>
        <p:spPr/>
        <p:txBody>
          <a:bodyPr/>
          <a:lstStyle/>
          <a:p>
            <a:fld id="{7245E67F-AB97-464F-8455-AFB2E20C0940}" type="slidenum">
              <a:rPr lang="en-GB" altLang="en-US" smtClean="0"/>
              <a:pPr/>
              <a:t>18</a:t>
            </a:fld>
            <a:endParaRPr lang="en-GB" altLang="en-US"/>
          </a:p>
        </p:txBody>
      </p:sp>
    </p:spTree>
    <p:extLst>
      <p:ext uri="{BB962C8B-B14F-4D97-AF65-F5344CB8AC3E}">
        <p14:creationId xmlns:p14="http://schemas.microsoft.com/office/powerpoint/2010/main" val="32084838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2">
            <a:extLst>
              <a:ext uri="{FF2B5EF4-FFF2-40B4-BE49-F238E27FC236}">
                <a16:creationId xmlns:a16="http://schemas.microsoft.com/office/drawing/2014/main" id="{7C949FE4-568D-4EBA-B10D-81CD0FA9F02A}"/>
              </a:ext>
            </a:extLst>
          </p:cNvPr>
          <p:cNvSpPr>
            <a:spLocks noGrp="1" noRot="1" noChangeAspect="1" noChangeArrowheads="1" noTextEdit="1"/>
          </p:cNvSpPr>
          <p:nvPr>
            <p:ph type="sldImg"/>
          </p:nvPr>
        </p:nvSpPr>
        <p:spPr>
          <a:ln/>
        </p:spPr>
      </p:sp>
      <p:sp>
        <p:nvSpPr>
          <p:cNvPr id="266243" name="Rectangle 3">
            <a:extLst>
              <a:ext uri="{FF2B5EF4-FFF2-40B4-BE49-F238E27FC236}">
                <a16:creationId xmlns:a16="http://schemas.microsoft.com/office/drawing/2014/main" id="{295297E8-8065-4223-8B06-9E9E24CBBF7F}"/>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Ideally an extension fracture expands radially from some nucleation point in such a way that at any instant during propagation the propagation front has the shape of an ellipse. The rate of propagation increases as the fracture grows and so the fracture surface becomes rougher. Eventually propagation is so fast that stress oscillations or readjustments at the crack tip in response to meeting some interface (</a:t>
            </a:r>
            <a:r>
              <a:rPr lang="en-GB" altLang="en-US" sz="1000" i="1" dirty="0"/>
              <a:t>e.g.</a:t>
            </a:r>
            <a:r>
              <a:rPr lang="en-GB" altLang="en-US" sz="1000" dirty="0"/>
              <a:t>, a bedding plane) cause the fracture to bend / twist to form the hackle fringes</a:t>
            </a:r>
          </a:p>
          <a:p>
            <a:pPr marL="108000" indent="-108000">
              <a:spcBef>
                <a:spcPts val="300"/>
              </a:spcBef>
              <a:buFont typeface="Arial" panose="020B0604020202020204" pitchFamily="34" charset="0"/>
              <a:buChar char="•"/>
            </a:pPr>
            <a:r>
              <a:rPr lang="en-GB" altLang="en-US" sz="1000" dirty="0"/>
              <a:t>Figure bottom left from the 1</a:t>
            </a:r>
            <a:r>
              <a:rPr lang="en-GB" altLang="en-US" sz="1000" baseline="30000" dirty="0"/>
              <a:t>st</a:t>
            </a:r>
            <a:r>
              <a:rPr lang="en-GB" altLang="en-US" sz="1000" dirty="0"/>
              <a:t> edition of Fossen’s book, p.136. For a slightly modified version of the figure, see Fossen, p.165</a:t>
            </a:r>
          </a:p>
          <a:p>
            <a:pPr marL="108000" indent="-108000">
              <a:spcBef>
                <a:spcPts val="300"/>
              </a:spcBef>
              <a:buFont typeface="Arial" panose="020B0604020202020204" pitchFamily="34" charset="0"/>
              <a:buChar char="•"/>
            </a:pPr>
            <a:r>
              <a:rPr lang="en-GB" altLang="en-US" sz="1000" dirty="0"/>
              <a:t>Figure top right  from Fossen, p.166</a:t>
            </a:r>
          </a:p>
          <a:p>
            <a:pPr marL="108000" indent="-108000">
              <a:spcBef>
                <a:spcPts val="300"/>
              </a:spcBef>
              <a:buFont typeface="Arial" panose="020B0604020202020204" pitchFamily="34" charset="0"/>
              <a:buChar char="•"/>
            </a:pPr>
            <a:r>
              <a:rPr lang="en-GB" altLang="en-US" sz="1000" dirty="0"/>
              <a:t>Photo bottom right (Steve Covey-Crump): plumose structure with hackle fringes (bottom) on a joint face in sandstones at </a:t>
            </a:r>
            <a:r>
              <a:rPr lang="en-GB" altLang="en-US" sz="1000" dirty="0" err="1"/>
              <a:t>Telpyn</a:t>
            </a:r>
            <a:r>
              <a:rPr lang="en-GB" altLang="en-US" sz="1000" dirty="0"/>
              <a:t> Point, </a:t>
            </a:r>
            <a:r>
              <a:rPr lang="en-GB" altLang="en-US" sz="1000" dirty="0" err="1"/>
              <a:t>Amroth</a:t>
            </a:r>
            <a:r>
              <a:rPr lang="en-GB" altLang="en-US" sz="1000" dirty="0"/>
              <a:t>, Pembrokeshire. The direction of propagation of the fracture is right to left</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2">
            <a:extLst>
              <a:ext uri="{FF2B5EF4-FFF2-40B4-BE49-F238E27FC236}">
                <a16:creationId xmlns:a16="http://schemas.microsoft.com/office/drawing/2014/main" id="{3AE5FD7B-FCA8-4354-B878-5CC0F166AA10}"/>
              </a:ext>
            </a:extLst>
          </p:cNvPr>
          <p:cNvSpPr>
            <a:spLocks noGrp="1" noRot="1" noChangeAspect="1" noChangeArrowheads="1" noTextEdit="1"/>
          </p:cNvSpPr>
          <p:nvPr>
            <p:ph type="sldImg"/>
          </p:nvPr>
        </p:nvSpPr>
        <p:spPr>
          <a:ln/>
        </p:spPr>
      </p:sp>
      <p:sp>
        <p:nvSpPr>
          <p:cNvPr id="268291" name="Rectangle 3">
            <a:extLst>
              <a:ext uri="{FF2B5EF4-FFF2-40B4-BE49-F238E27FC236}">
                <a16:creationId xmlns:a16="http://schemas.microsoft.com/office/drawing/2014/main" id="{D73175C3-3131-4492-ACFD-FFC365777A8C}"/>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If you see a ripple mark on a fracture face, be careful to record in your notebook that this is not the sedimentary kind of ripple. Ripple marks on fracture surfaces are also known as </a:t>
            </a:r>
            <a:r>
              <a:rPr lang="en-GB" altLang="en-US" sz="1000" dirty="0" err="1"/>
              <a:t>Walner</a:t>
            </a:r>
            <a:r>
              <a:rPr lang="en-GB" altLang="en-US" sz="1000" dirty="0"/>
              <a:t> lines</a:t>
            </a:r>
          </a:p>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a:t>For an example of the analysis of fracture development using hackle marks, see </a:t>
            </a:r>
            <a:r>
              <a:rPr lang="en-GB" altLang="en-US" sz="1000" dirty="0" err="1"/>
              <a:t>Savalli</a:t>
            </a:r>
            <a:r>
              <a:rPr lang="en-GB" altLang="en-US" sz="1000" dirty="0"/>
              <a:t> &amp; </a:t>
            </a:r>
            <a:r>
              <a:rPr lang="en-GB" altLang="en-US" sz="1000" dirty="0" err="1"/>
              <a:t>Engelder</a:t>
            </a:r>
            <a:r>
              <a:rPr lang="en-GB" altLang="en-US" sz="1000" dirty="0"/>
              <a:t>, 2005, </a:t>
            </a:r>
            <a:r>
              <a:rPr lang="en-GB" altLang="en-US" sz="1000" i="1" dirty="0"/>
              <a:t>Geological Society of America Bulletin</a:t>
            </a:r>
            <a:r>
              <a:rPr lang="en-GB" altLang="en-US" sz="1000" dirty="0"/>
              <a:t> 117: 436-449, </a:t>
            </a:r>
            <a:r>
              <a:rPr lang="en-GB" sz="1000" dirty="0"/>
              <a:t>https://doi.org/10.1130/B25368.1</a:t>
            </a:r>
            <a:endParaRPr lang="en-GB" altLang="en-US" sz="1000" dirty="0"/>
          </a:p>
          <a:p>
            <a:pPr marL="108000" indent="-108000">
              <a:spcBef>
                <a:spcPts val="300"/>
              </a:spcBef>
              <a:buFont typeface="Arial" panose="020B0604020202020204" pitchFamily="34" charset="0"/>
              <a:buChar char="•"/>
            </a:pPr>
            <a:r>
              <a:rPr lang="en-GB" altLang="en-US" sz="1000" dirty="0"/>
              <a:t>Figure top right from Twiss &amp; </a:t>
            </a:r>
            <a:r>
              <a:rPr lang="en-GB" altLang="en-US" sz="1000" dirty="0" err="1"/>
              <a:t>Moores</a:t>
            </a:r>
            <a:r>
              <a:rPr lang="en-GB" altLang="en-US" sz="1000" dirty="0"/>
              <a:t>, p.53</a:t>
            </a:r>
          </a:p>
          <a:p>
            <a:pPr marL="108000" indent="-108000">
              <a:spcBef>
                <a:spcPts val="300"/>
              </a:spcBef>
              <a:buFont typeface="Arial" panose="020B0604020202020204" pitchFamily="34" charset="0"/>
              <a:buChar char="•"/>
            </a:pPr>
            <a:r>
              <a:rPr lang="en-GB" altLang="en-US" sz="1000" dirty="0"/>
              <a:t>Figure bottom left from Twiss &amp; </a:t>
            </a:r>
            <a:r>
              <a:rPr lang="en-GB" altLang="en-US" sz="1000" dirty="0" err="1"/>
              <a:t>Moores</a:t>
            </a:r>
            <a:r>
              <a:rPr lang="en-GB" altLang="en-US" sz="1000" dirty="0"/>
              <a:t>, p.56</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2">
            <a:extLst>
              <a:ext uri="{FF2B5EF4-FFF2-40B4-BE49-F238E27FC236}">
                <a16:creationId xmlns:a16="http://schemas.microsoft.com/office/drawing/2014/main" id="{F2F1AFBC-187E-4EBE-9810-AD13311539DE}"/>
              </a:ext>
            </a:extLst>
          </p:cNvPr>
          <p:cNvSpPr>
            <a:spLocks noGrp="1" noRot="1" noChangeAspect="1" noChangeArrowheads="1" noTextEdit="1"/>
          </p:cNvSpPr>
          <p:nvPr>
            <p:ph type="sldImg"/>
          </p:nvPr>
        </p:nvSpPr>
        <p:spPr>
          <a:ln/>
        </p:spPr>
      </p:sp>
      <p:sp>
        <p:nvSpPr>
          <p:cNvPr id="272387" name="Rectangle 3">
            <a:extLst>
              <a:ext uri="{FF2B5EF4-FFF2-40B4-BE49-F238E27FC236}">
                <a16:creationId xmlns:a16="http://schemas.microsoft.com/office/drawing/2014/main" id="{457BA68E-55E7-4952-AF18-743ED1ED53FC}"/>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top right (from Philipp </a:t>
            </a:r>
            <a:r>
              <a:rPr lang="en-GB" altLang="en-US" sz="1000" i="1" dirty="0"/>
              <a:t>et al</a:t>
            </a:r>
            <a:r>
              <a:rPr lang="en-GB" altLang="en-US" sz="1000" dirty="0"/>
              <a:t>., 2013, </a:t>
            </a:r>
            <a:r>
              <a:rPr lang="en-GB" altLang="en-US" sz="1000" i="1" dirty="0"/>
              <a:t>Frontiers in Earth Science</a:t>
            </a:r>
            <a:r>
              <a:rPr lang="en-GB" altLang="en-US" sz="1000" dirty="0"/>
              <a:t> 1, article 4, </a:t>
            </a:r>
            <a:r>
              <a:rPr lang="en-GB" sz="1000" dirty="0"/>
              <a:t>https://doi.org/10.3389/feart.2013.00004</a:t>
            </a:r>
            <a:r>
              <a:rPr lang="en-GB" altLang="en-US" sz="1000" dirty="0"/>
              <a:t>) showing the terms used to define the dimensions of a fracture</a:t>
            </a:r>
          </a:p>
          <a:p>
            <a:pPr marL="108000" indent="-108000">
              <a:spcBef>
                <a:spcPts val="300"/>
              </a:spcBef>
              <a:buFont typeface="Arial" panose="020B0604020202020204" pitchFamily="34" charset="0"/>
              <a:buChar char="•"/>
            </a:pPr>
            <a:r>
              <a:rPr lang="en-GB" altLang="en-US" sz="1000" dirty="0"/>
              <a:t>Photo left (Steve Covey-Crump): extension fractures </a:t>
            </a:r>
            <a:r>
              <a:rPr lang="en-US" altLang="en-US" sz="1000" dirty="0">
                <a:cs typeface="Times New Roman" panose="02020603050405020304" pitchFamily="18" charset="0"/>
              </a:rPr>
              <a:t>mostly confined to limestone units in an interbedded limeston</a:t>
            </a:r>
            <a:r>
              <a:rPr lang="en-US" altLang="en-US" sz="1000" spc="150" baseline="0" dirty="0">
                <a:cs typeface="Times New Roman" panose="02020603050405020304" pitchFamily="18" charset="0"/>
              </a:rPr>
              <a:t>e/</a:t>
            </a:r>
            <a:r>
              <a:rPr lang="en-US" altLang="en-US" sz="1000" dirty="0">
                <a:cs typeface="Times New Roman" panose="02020603050405020304" pitchFamily="18" charset="0"/>
              </a:rPr>
              <a:t>mudstone succession, </a:t>
            </a:r>
            <a:r>
              <a:rPr lang="en-GB" altLang="en-US" sz="1000" dirty="0" err="1"/>
              <a:t>Skrinkle</a:t>
            </a:r>
            <a:r>
              <a:rPr lang="en-GB" altLang="en-US" sz="1000" dirty="0"/>
              <a:t> Haven, near </a:t>
            </a:r>
            <a:r>
              <a:rPr lang="en-GB" altLang="en-US" sz="1000" dirty="0" err="1"/>
              <a:t>Manorbier</a:t>
            </a:r>
            <a:r>
              <a:rPr lang="en-GB" altLang="en-US" sz="1000" dirty="0"/>
              <a:t>, Pembrokeshire</a:t>
            </a:r>
            <a:endParaRPr lang="en-US" altLang="en-US" sz="1000" dirty="0">
              <a:cs typeface="Times New Roman" panose="02020603050405020304" pitchFamily="18" charset="0"/>
            </a:endParaRPr>
          </a:p>
          <a:p>
            <a:pPr marL="108000" indent="-108000">
              <a:spcBef>
                <a:spcPts val="300"/>
              </a:spcBef>
              <a:buFont typeface="Arial" panose="020B0604020202020204" pitchFamily="34" charset="0"/>
              <a:buChar char="•"/>
            </a:pPr>
            <a:r>
              <a:rPr lang="en-GB" altLang="en-US" sz="1000" dirty="0"/>
              <a:t>Photo middle (Steve Covey-Crump): joints in sandstone interbeds at </a:t>
            </a:r>
            <a:r>
              <a:rPr lang="en-GB" altLang="en-US" sz="1000" dirty="0" err="1"/>
              <a:t>Telpyn</a:t>
            </a:r>
            <a:r>
              <a:rPr lang="en-GB" altLang="en-US" sz="1000" dirty="0"/>
              <a:t> Point, </a:t>
            </a:r>
            <a:r>
              <a:rPr lang="en-GB" altLang="en-US" sz="1000" dirty="0" err="1"/>
              <a:t>Amroth</a:t>
            </a:r>
            <a:r>
              <a:rPr lang="en-GB" altLang="en-US" sz="1000" dirty="0"/>
              <a:t>, Pembrokeshire. Note that the fractures do not extend into the mudstones</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Rectangle 2">
            <a:extLst>
              <a:ext uri="{FF2B5EF4-FFF2-40B4-BE49-F238E27FC236}">
                <a16:creationId xmlns:a16="http://schemas.microsoft.com/office/drawing/2014/main" id="{41FC7DEE-7F57-4F4C-B463-08C7610811C4}"/>
              </a:ext>
            </a:extLst>
          </p:cNvPr>
          <p:cNvSpPr>
            <a:spLocks noGrp="1" noRot="1" noChangeAspect="1" noChangeArrowheads="1" noTextEdit="1"/>
          </p:cNvSpPr>
          <p:nvPr>
            <p:ph type="sldImg"/>
          </p:nvPr>
        </p:nvSpPr>
        <p:spPr>
          <a:ln/>
        </p:spPr>
      </p:sp>
      <p:sp>
        <p:nvSpPr>
          <p:cNvPr id="295939" name="Rectangle 3">
            <a:extLst>
              <a:ext uri="{FF2B5EF4-FFF2-40B4-BE49-F238E27FC236}">
                <a16:creationId xmlns:a16="http://schemas.microsoft.com/office/drawing/2014/main" id="{CBFC289B-8630-42D6-86EF-BC122E7F3FC0}"/>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The formation of wing cracks reflects the distribution of stresses around an elliptical hole (the crack) – see Twiss &amp; </a:t>
            </a:r>
            <a:r>
              <a:rPr lang="en-GB" altLang="en-US" sz="1000" dirty="0" err="1"/>
              <a:t>Moores</a:t>
            </a:r>
            <a:r>
              <a:rPr lang="en-GB" altLang="en-US" sz="1000" dirty="0"/>
              <a:t>, p.226-230. We shall come back to this next week when we consider how shear fractures coalesce via wing cracks to form a through-going fault</a:t>
            </a:r>
          </a:p>
          <a:p>
            <a:pPr marL="108000" indent="-108000">
              <a:spcBef>
                <a:spcPts val="300"/>
              </a:spcBef>
              <a:buFont typeface="Arial" panose="020B0604020202020204" pitchFamily="34" charset="0"/>
              <a:buChar char="•"/>
            </a:pPr>
            <a:r>
              <a:rPr lang="en-GB" altLang="en-US" sz="1000" dirty="0"/>
              <a:t>Note that faults commonly end in sets of splay, horsetail or antithetic shear fractures</a:t>
            </a:r>
          </a:p>
          <a:p>
            <a:pPr marL="108000" indent="-108000">
              <a:spcBef>
                <a:spcPts val="300"/>
              </a:spcBef>
              <a:buFont typeface="Arial" panose="020B0604020202020204" pitchFamily="34" charset="0"/>
              <a:buChar char="•"/>
            </a:pPr>
            <a:r>
              <a:rPr lang="en-GB" altLang="en-US" sz="1000" dirty="0"/>
              <a:t>Figure from Fossen, p.139</a:t>
            </a:r>
          </a:p>
          <a:p>
            <a:pPr marL="108000" indent="-108000">
              <a:spcBef>
                <a:spcPts val="300"/>
              </a:spcBef>
              <a:buFont typeface="Arial" panose="020B0604020202020204" pitchFamily="34" charset="0"/>
              <a:buChar char="•"/>
            </a:pPr>
            <a:r>
              <a:rPr lang="en-GB" altLang="en-US" sz="1000" dirty="0"/>
              <a:t>Photo from Fossen, p.139</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2" name="Rectangle 2">
            <a:extLst>
              <a:ext uri="{FF2B5EF4-FFF2-40B4-BE49-F238E27FC236}">
                <a16:creationId xmlns:a16="http://schemas.microsoft.com/office/drawing/2014/main" id="{8DA74D21-76D9-4896-BF19-EE9FDEBAA683}"/>
              </a:ext>
            </a:extLst>
          </p:cNvPr>
          <p:cNvSpPr>
            <a:spLocks noGrp="1" noRot="1" noChangeAspect="1" noChangeArrowheads="1" noTextEdit="1"/>
          </p:cNvSpPr>
          <p:nvPr>
            <p:ph type="sldImg"/>
          </p:nvPr>
        </p:nvSpPr>
        <p:spPr>
          <a:ln/>
        </p:spPr>
      </p:sp>
      <p:sp>
        <p:nvSpPr>
          <p:cNvPr id="414723" name="Rectangle 3">
            <a:extLst>
              <a:ext uri="{FF2B5EF4-FFF2-40B4-BE49-F238E27FC236}">
                <a16:creationId xmlns:a16="http://schemas.microsoft.com/office/drawing/2014/main" id="{BB6F3DF1-CB24-4DFA-A0C0-2E097F5BB5EE}"/>
              </a:ext>
            </a:extLst>
          </p:cNvPr>
          <p:cNvSpPr>
            <a:spLocks noGrp="1" noChangeArrowheads="1"/>
          </p:cNvSpPr>
          <p:nvPr>
            <p:ph type="body" idx="1"/>
          </p:nvPr>
        </p:nvSpPr>
        <p:spPr>
          <a:noFill/>
        </p:spPr>
        <p:txBody>
          <a:bodyPr/>
          <a:lstStyle/>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a:t>On the use of joint curvature to estimate </a:t>
            </a:r>
            <a:r>
              <a:rPr lang="en-GB" altLang="en-US" sz="1000" dirty="0" err="1"/>
              <a:t>palaeostresses</a:t>
            </a:r>
            <a:r>
              <a:rPr lang="en-GB" altLang="en-US" sz="1000" dirty="0"/>
              <a:t>, see Dyer, 1988, </a:t>
            </a:r>
            <a:r>
              <a:rPr lang="en-GB" altLang="en-US" sz="1000" i="1" dirty="0"/>
              <a:t>Journal of Structural Geology</a:t>
            </a:r>
            <a:r>
              <a:rPr lang="en-GB" altLang="en-US" sz="1000" dirty="0"/>
              <a:t> 10:685-699, </a:t>
            </a:r>
            <a:r>
              <a:rPr lang="en-GB" sz="1200" dirty="0"/>
              <a:t>https://doi.org/10.1016/0191-8141(88)90076-4;</a:t>
            </a:r>
            <a:r>
              <a:rPr lang="en-GB" altLang="en-US" sz="1000" dirty="0"/>
              <a:t> and Olson &amp; Pollard, 1989, </a:t>
            </a:r>
            <a:r>
              <a:rPr lang="en-GB" altLang="en-US" sz="1000" i="1" dirty="0"/>
              <a:t>Geology</a:t>
            </a:r>
            <a:r>
              <a:rPr lang="en-GB" altLang="en-US" sz="1000" dirty="0"/>
              <a:t> 17: 345-348, </a:t>
            </a:r>
            <a:r>
              <a:rPr lang="en-GB" sz="1200" dirty="0"/>
              <a:t>https://doi.org/10.1130/0091-7613(1989)017&lt;0345:IPFNFP&gt;2.3.CO;2</a:t>
            </a:r>
            <a:endParaRPr lang="en-GB" altLang="en-US" sz="1000" dirty="0"/>
          </a:p>
          <a:p>
            <a:pPr marL="108000" indent="-108000">
              <a:spcBef>
                <a:spcPts val="300"/>
              </a:spcBef>
              <a:buFont typeface="Arial" panose="020B0604020202020204" pitchFamily="34" charset="0"/>
              <a:buChar char="•"/>
            </a:pPr>
            <a:r>
              <a:rPr lang="en-GB" altLang="en-US" sz="1000" dirty="0"/>
              <a:t>Figure left (from Twiss &amp; </a:t>
            </a:r>
            <a:r>
              <a:rPr lang="en-GB" altLang="en-US" sz="1000" dirty="0" err="1"/>
              <a:t>Moores</a:t>
            </a:r>
            <a:r>
              <a:rPr lang="en-GB" altLang="en-US" sz="1000" dirty="0"/>
              <a:t>, p.250) is an example of the interactions between a propagating fracture as it encounters an open old fracture (one that cannot sustain a shear stress). The remote stress field is such that within the locally perturbed stress field a tensile stress acts along the old fracture. In this case the new fracture intersects the old one at 90°. If a compressive stress acted along the old fracture the intersection would be at 0°. If the old fracture is closed and can support a shear stress, any angle between 0° and 90° is conceivable depending upon the remote stresses. For further discussion, see Twiss &amp; </a:t>
            </a:r>
            <a:r>
              <a:rPr lang="en-GB" altLang="en-US" sz="1000" dirty="0" err="1"/>
              <a:t>Moores</a:t>
            </a:r>
            <a:r>
              <a:rPr lang="en-GB" altLang="en-US" sz="1000" dirty="0"/>
              <a:t>, p.248-250</a:t>
            </a:r>
          </a:p>
          <a:p>
            <a:pPr marL="108000" indent="-108000">
              <a:spcBef>
                <a:spcPts val="300"/>
              </a:spcBef>
              <a:buFont typeface="Arial" panose="020B0604020202020204" pitchFamily="34" charset="0"/>
              <a:buChar char="•"/>
            </a:pPr>
            <a:r>
              <a:rPr lang="en-GB" altLang="en-US" sz="1000" dirty="0"/>
              <a:t>Photo right (Steve Covey-Crump): </a:t>
            </a:r>
            <a:r>
              <a:rPr lang="en-GB" altLang="en-US" sz="1000" dirty="0" err="1"/>
              <a:t>mudcracks</a:t>
            </a:r>
            <a:r>
              <a:rPr lang="en-GB" altLang="en-US" sz="1000" dirty="0"/>
              <a:t> in the riverbed of </a:t>
            </a:r>
            <a:r>
              <a:rPr lang="en-GB" altLang="en-US" sz="1000" dirty="0" err="1"/>
              <a:t>L’Asse</a:t>
            </a:r>
            <a:r>
              <a:rPr lang="en-GB" altLang="en-US" sz="1000" dirty="0"/>
              <a:t> de </a:t>
            </a:r>
            <a:r>
              <a:rPr lang="en-GB" altLang="en-US" sz="1000" dirty="0" err="1"/>
              <a:t>Clumanc</a:t>
            </a:r>
            <a:r>
              <a:rPr lang="en-GB" altLang="en-US" sz="1000" dirty="0"/>
              <a:t>, </a:t>
            </a:r>
            <a:r>
              <a:rPr lang="en-GB" altLang="en-US" sz="1000" dirty="0" err="1"/>
              <a:t>Barrême</a:t>
            </a:r>
            <a:r>
              <a:rPr lang="en-GB" altLang="en-US" sz="1000" dirty="0"/>
              <a:t>, France. Note how the crack just to the right of the coin curves as it approaches the earlier crack</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2">
            <a:extLst>
              <a:ext uri="{FF2B5EF4-FFF2-40B4-BE49-F238E27FC236}">
                <a16:creationId xmlns:a16="http://schemas.microsoft.com/office/drawing/2014/main" id="{1FA9608F-E073-4011-896C-AE550607F093}"/>
              </a:ext>
            </a:extLst>
          </p:cNvPr>
          <p:cNvSpPr>
            <a:spLocks noGrp="1" noRot="1" noChangeAspect="1" noChangeArrowheads="1" noTextEdit="1"/>
          </p:cNvSpPr>
          <p:nvPr>
            <p:ph type="sldImg"/>
          </p:nvPr>
        </p:nvSpPr>
        <p:spPr>
          <a:ln/>
        </p:spPr>
      </p:sp>
      <p:sp>
        <p:nvSpPr>
          <p:cNvPr id="381955" name="Rectangle 3">
            <a:extLst>
              <a:ext uri="{FF2B5EF4-FFF2-40B4-BE49-F238E27FC236}">
                <a16:creationId xmlns:a16="http://schemas.microsoft.com/office/drawing/2014/main" id="{3FE78B9E-C28E-4B7B-A0B5-8A9612DECB80}"/>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Photo left (Steve Covey-Crump): fractures in the road at Senez, </a:t>
            </a:r>
            <a:r>
              <a:rPr lang="en-GB" altLang="en-US" sz="1000" dirty="0" err="1"/>
              <a:t>Barrême</a:t>
            </a:r>
            <a:r>
              <a:rPr lang="en-GB" altLang="en-US" sz="1000" dirty="0"/>
              <a:t>, France. This is an example of the case drawn second from the left in the figure shown on this slide, in which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i="1" baseline="-25000" dirty="0">
                <a:cs typeface="Times New Roman" panose="02020603050405020304" pitchFamily="18" charset="0"/>
              </a:rPr>
              <a:t>x</a:t>
            </a:r>
            <a:r>
              <a:rPr lang="en-GB" altLang="en-US" sz="1000" dirty="0">
                <a:cs typeface="Times New Roman" panose="02020603050405020304" pitchFamily="18" charset="0"/>
              </a:rPr>
              <a:t> -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i="1" baseline="-25000" dirty="0">
                <a:cs typeface="Times New Roman" panose="02020603050405020304" pitchFamily="18" charset="0"/>
              </a:rPr>
              <a:t>y</a:t>
            </a:r>
            <a:r>
              <a:rPr lang="en-GB" altLang="en-US" sz="1000" dirty="0">
                <a:cs typeface="Times New Roman" panose="02020603050405020304" pitchFamily="18" charset="0"/>
              </a:rPr>
              <a:t> &gt; 0 (</a:t>
            </a:r>
            <a:r>
              <a:rPr lang="el-GR" altLang="en-US" sz="1000" i="1" dirty="0">
                <a:cs typeface="Times New Roman" panose="02020603050405020304" pitchFamily="18" charset="0"/>
              </a:rPr>
              <a:t>σ</a:t>
            </a:r>
            <a:r>
              <a:rPr lang="en-GB" altLang="en-US" sz="1000" i="1" baseline="-25000" dirty="0">
                <a:cs typeface="Times New Roman" panose="02020603050405020304" pitchFamily="18" charset="0"/>
              </a:rPr>
              <a:t>x</a:t>
            </a:r>
            <a:r>
              <a:rPr lang="en-GB" altLang="en-US" sz="1000" dirty="0">
                <a:cs typeface="Times New Roman" panose="02020603050405020304" pitchFamily="18" charset="0"/>
              </a:rPr>
              <a:t> is parallel to the fracture). </a:t>
            </a:r>
            <a:r>
              <a:rPr lang="en-GB" altLang="en-US" sz="1000" dirty="0"/>
              <a:t>Whether or not the stresses parallel to the fracture are actually compressive as depicted by my red arrows is unclear </a:t>
            </a:r>
            <a:r>
              <a:rPr lang="en-GB" altLang="en-US" sz="1000" spc="100" baseline="0" dirty="0"/>
              <a:t>(</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i="1" baseline="-25000" dirty="0">
                <a:cs typeface="Times New Roman" panose="02020603050405020304" pitchFamily="18" charset="0"/>
              </a:rPr>
              <a:t>x</a:t>
            </a:r>
            <a:r>
              <a:rPr lang="en-GB" altLang="en-US" sz="1000" dirty="0">
                <a:cs typeface="Times New Roman" panose="02020603050405020304" pitchFamily="18" charset="0"/>
              </a:rPr>
              <a:t> might be tensile but less tensile than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i="1" spc="150" baseline="-25000" dirty="0">
                <a:cs typeface="Times New Roman" panose="02020603050405020304" pitchFamily="18" charset="0"/>
              </a:rPr>
              <a:t>y</a:t>
            </a:r>
            <a:r>
              <a:rPr lang="en-GB" altLang="en-US" sz="1000" i="0" baseline="0" dirty="0">
                <a:cs typeface="Times New Roman" panose="02020603050405020304" pitchFamily="18" charset="0"/>
              </a:rPr>
              <a:t>)</a:t>
            </a:r>
            <a:endParaRPr lang="en-GB" altLang="en-US" sz="1000" i="0" baseline="0" dirty="0"/>
          </a:p>
          <a:p>
            <a:pPr marL="108000" indent="-108000">
              <a:spcBef>
                <a:spcPts val="300"/>
              </a:spcBef>
              <a:buFont typeface="Arial" panose="020B0604020202020204" pitchFamily="34" charset="0"/>
              <a:buChar char="•"/>
            </a:pPr>
            <a:r>
              <a:rPr lang="en-GB" altLang="en-US" sz="1000" dirty="0"/>
              <a:t>Photo top right (Steve Covey-Crump): </a:t>
            </a:r>
            <a:r>
              <a:rPr lang="en-GB" altLang="en-US" sz="1000" dirty="0" err="1"/>
              <a:t>mudcracks</a:t>
            </a:r>
            <a:r>
              <a:rPr lang="en-GB" altLang="en-US" sz="1000" dirty="0"/>
              <a:t> in the riverbed of </a:t>
            </a:r>
            <a:r>
              <a:rPr lang="en-GB" altLang="en-US" sz="1000" dirty="0" err="1"/>
              <a:t>L’Asse</a:t>
            </a:r>
            <a:r>
              <a:rPr lang="en-GB" altLang="en-US" sz="1000" dirty="0"/>
              <a:t> de </a:t>
            </a:r>
            <a:r>
              <a:rPr lang="en-GB" altLang="en-US" sz="1000" dirty="0" err="1"/>
              <a:t>Clumanc</a:t>
            </a:r>
            <a:r>
              <a:rPr lang="en-GB" altLang="en-US" sz="1000" dirty="0"/>
              <a:t>, </a:t>
            </a:r>
            <a:r>
              <a:rPr lang="en-GB" altLang="en-US" sz="1000" dirty="0" err="1"/>
              <a:t>Barrême</a:t>
            </a:r>
            <a:r>
              <a:rPr lang="en-GB" altLang="en-US" sz="1000" dirty="0"/>
              <a:t>, France. Note the curvature of the cracks below right of my red arrows which implies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i="1" baseline="-25000" dirty="0">
                <a:cs typeface="Times New Roman" panose="02020603050405020304" pitchFamily="18" charset="0"/>
              </a:rPr>
              <a:t>x</a:t>
            </a:r>
            <a:r>
              <a:rPr lang="en-GB" altLang="en-US" sz="1000" dirty="0">
                <a:cs typeface="Times New Roman" panose="02020603050405020304" pitchFamily="18" charset="0"/>
              </a:rPr>
              <a:t> -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i="1" baseline="-25000" dirty="0">
                <a:cs typeface="Times New Roman" panose="02020603050405020304" pitchFamily="18" charset="0"/>
              </a:rPr>
              <a:t>y</a:t>
            </a:r>
            <a:r>
              <a:rPr lang="en-GB" altLang="en-US" sz="1000" dirty="0">
                <a:cs typeface="Times New Roman" panose="02020603050405020304" pitchFamily="18" charset="0"/>
              </a:rPr>
              <a:t> &lt; 0. In </a:t>
            </a:r>
            <a:r>
              <a:rPr lang="en-GB" altLang="en-US" sz="1000" dirty="0" err="1">
                <a:cs typeface="Times New Roman" panose="02020603050405020304" pitchFamily="18" charset="0"/>
              </a:rPr>
              <a:t>mudcracking</a:t>
            </a:r>
            <a:r>
              <a:rPr lang="en-GB" altLang="en-US" sz="1000" dirty="0">
                <a:cs typeface="Times New Roman" panose="02020603050405020304" pitchFamily="18" charset="0"/>
              </a:rPr>
              <a:t> the stresses are of course all tensile</a:t>
            </a:r>
          </a:p>
          <a:p>
            <a:pPr marL="108000" indent="-108000">
              <a:spcBef>
                <a:spcPts val="300"/>
              </a:spcBef>
              <a:buFont typeface="Arial" panose="020B0604020202020204" pitchFamily="34" charset="0"/>
              <a:buChar char="•"/>
            </a:pPr>
            <a:r>
              <a:rPr lang="en-GB" altLang="en-US" sz="1000" dirty="0"/>
              <a:t>Figure bottom right from the 1</a:t>
            </a:r>
            <a:r>
              <a:rPr lang="en-GB" altLang="en-US" sz="1000" baseline="30000" dirty="0"/>
              <a:t>st</a:t>
            </a:r>
            <a:r>
              <a:rPr lang="en-GB" altLang="en-US" sz="1000" dirty="0"/>
              <a:t> edition of Fossen’s book, p.138. For comments on the interaction of parallel fractures in the 2</a:t>
            </a:r>
            <a:r>
              <a:rPr lang="en-GB" altLang="en-US" sz="1000" baseline="30000" dirty="0"/>
              <a:t>nd</a:t>
            </a:r>
            <a:r>
              <a:rPr lang="en-GB" altLang="en-US" sz="1000" dirty="0"/>
              <a:t> edition of his book, see Fossen, p.166-167</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2">
            <a:extLst>
              <a:ext uri="{FF2B5EF4-FFF2-40B4-BE49-F238E27FC236}">
                <a16:creationId xmlns:a16="http://schemas.microsoft.com/office/drawing/2014/main" id="{E3A74650-037A-4F76-BA08-738251483D85}"/>
              </a:ext>
            </a:extLst>
          </p:cNvPr>
          <p:cNvSpPr>
            <a:spLocks noGrp="1" noRot="1" noChangeAspect="1" noChangeArrowheads="1" noTextEdit="1"/>
          </p:cNvSpPr>
          <p:nvPr>
            <p:ph type="sldImg"/>
          </p:nvPr>
        </p:nvSpPr>
        <p:spPr>
          <a:ln/>
        </p:spPr>
      </p:sp>
      <p:sp>
        <p:nvSpPr>
          <p:cNvPr id="274435" name="Rectangle 3">
            <a:extLst>
              <a:ext uri="{FF2B5EF4-FFF2-40B4-BE49-F238E27FC236}">
                <a16:creationId xmlns:a16="http://schemas.microsoft.com/office/drawing/2014/main" id="{657B2D40-E558-4F88-9E9E-074E5F32EA5F}"/>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For </a:t>
            </a:r>
            <a:r>
              <a:rPr lang="en-GB" altLang="en-US" sz="1000" b="1" i="1" dirty="0"/>
              <a:t>fracture traces </a:t>
            </a:r>
            <a:r>
              <a:rPr lang="en-GB" altLang="en-US" sz="1000" dirty="0"/>
              <a:t>= intersection of a fracture on a plane of measurement, we may define </a:t>
            </a:r>
            <a:r>
              <a:rPr lang="en-GB" altLang="en-US" sz="1000" b="1" i="1" dirty="0"/>
              <a:t>fracture trace intensity</a:t>
            </a:r>
            <a:r>
              <a:rPr lang="en-GB" altLang="en-US" sz="1000" dirty="0"/>
              <a:t> = mean total length of fractures per unit area; </a:t>
            </a:r>
            <a:r>
              <a:rPr lang="en-GB" altLang="en-US" sz="1000" b="1" i="1" dirty="0"/>
              <a:t>fracture trace density</a:t>
            </a:r>
            <a:r>
              <a:rPr lang="en-GB" altLang="en-US" sz="1000" dirty="0"/>
              <a:t> = mean number of fracture centres per unit area; </a:t>
            </a:r>
            <a:r>
              <a:rPr lang="en-GB" altLang="en-US" sz="1000" b="1" i="1" dirty="0"/>
              <a:t>mean fracture trace length</a:t>
            </a:r>
            <a:r>
              <a:rPr lang="en-GB" altLang="en-US" sz="1000" dirty="0"/>
              <a:t> = mean fracture length for the individual fractures of a fracture population. Note that correlating the statistics of fracture traces measured in 2d with those of their parent 3d fracture network is a further step in the analysis (</a:t>
            </a:r>
            <a:r>
              <a:rPr lang="en-GB" altLang="en-US" sz="1000" i="1" dirty="0"/>
              <a:t>e.g.</a:t>
            </a:r>
            <a:r>
              <a:rPr lang="en-GB" altLang="en-US" sz="1000" i="0" dirty="0"/>
              <a:t>, see Zhang </a:t>
            </a:r>
            <a:r>
              <a:rPr lang="en-GB" altLang="en-US" sz="1000" i="1" dirty="0"/>
              <a:t>et al.</a:t>
            </a:r>
            <a:r>
              <a:rPr lang="en-GB" altLang="en-US" sz="1000" i="0" dirty="0"/>
              <a:t>, 2002, </a:t>
            </a:r>
            <a:r>
              <a:rPr lang="en-GB" altLang="en-US" sz="1000" i="1" dirty="0" err="1"/>
              <a:t>Géotechnique</a:t>
            </a:r>
            <a:r>
              <a:rPr lang="en-GB" altLang="en-US" sz="1000" i="0" dirty="0"/>
              <a:t> 52: 419-433, </a:t>
            </a:r>
            <a:r>
              <a:rPr lang="en-GB" sz="1000" dirty="0"/>
              <a:t>https://doi.org/10.1680/geot.2002.52.6.419</a:t>
            </a:r>
            <a:r>
              <a:rPr lang="en-GB" altLang="en-US" sz="1000" i="0" dirty="0"/>
              <a:t>)</a:t>
            </a:r>
            <a:endParaRPr lang="en-GB" altLang="en-US" sz="1000" dirty="0"/>
          </a:p>
          <a:p>
            <a:pPr marL="108000" indent="-108000">
              <a:spcBef>
                <a:spcPts val="300"/>
              </a:spcBef>
              <a:buFont typeface="Arial" panose="020B0604020202020204" pitchFamily="34" charset="0"/>
              <a:buNone/>
            </a:pPr>
            <a:endParaRPr lang="en-GB" altLang="en-US" sz="1000" dirty="0"/>
          </a:p>
          <a:p>
            <a:pPr marL="108000" indent="-108000">
              <a:spcBef>
                <a:spcPts val="300"/>
              </a:spcBef>
              <a:buFont typeface="Arial" panose="020B0604020202020204" pitchFamily="34" charset="0"/>
              <a:buNone/>
            </a:pPr>
            <a:r>
              <a:rPr lang="en-GB" altLang="en-US" sz="1000" b="1" i="1" dirty="0"/>
              <a:t>Some important practical papers</a:t>
            </a:r>
          </a:p>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u="none" dirty="0">
                <a:solidFill>
                  <a:schemeClr val="bg1"/>
                </a:solidFill>
              </a:rPr>
              <a:t>A description of practical strategies for evaluating these fracture trace parameters is given by </a:t>
            </a:r>
            <a:r>
              <a:rPr lang="en-GB" altLang="en-US" sz="1000" u="none" dirty="0" err="1">
                <a:solidFill>
                  <a:schemeClr val="bg1"/>
                </a:solidFill>
              </a:rPr>
              <a:t>Rohrbaugh</a:t>
            </a:r>
            <a:r>
              <a:rPr lang="en-GB" altLang="en-US" sz="1000" u="none" dirty="0">
                <a:solidFill>
                  <a:schemeClr val="bg1"/>
                </a:solidFill>
              </a:rPr>
              <a:t> </a:t>
            </a:r>
            <a:r>
              <a:rPr lang="en-GB" altLang="en-US" sz="1000" i="1" u="none" dirty="0">
                <a:solidFill>
                  <a:schemeClr val="bg1"/>
                </a:solidFill>
              </a:rPr>
              <a:t>et al</a:t>
            </a:r>
            <a:r>
              <a:rPr lang="en-GB" altLang="en-US" sz="1000" u="none" dirty="0">
                <a:solidFill>
                  <a:schemeClr val="bg1"/>
                </a:solidFill>
              </a:rPr>
              <a:t>., 2002, </a:t>
            </a:r>
            <a:r>
              <a:rPr lang="en-GB" altLang="en-US" sz="1000" i="1" u="none" dirty="0">
                <a:solidFill>
                  <a:schemeClr val="bg1"/>
                </a:solidFill>
              </a:rPr>
              <a:t>American Association of Petroleum Geologists Bulletin</a:t>
            </a:r>
            <a:r>
              <a:rPr lang="en-GB" altLang="en-US" sz="1000" u="none" dirty="0">
                <a:solidFill>
                  <a:schemeClr val="bg1"/>
                </a:solidFill>
              </a:rPr>
              <a:t> 86: 2089-2104, </a:t>
            </a:r>
            <a:r>
              <a:rPr lang="en-GB" sz="1000" dirty="0"/>
              <a:t>https://doi.org/10.1306/61EEDE0E-173E-11D7-8645000102C1865D</a:t>
            </a:r>
            <a:endParaRPr lang="en-GB" sz="1000" u="none" dirty="0">
              <a:solidFill>
                <a:schemeClr val="bg1"/>
              </a:solidFill>
            </a:endParaRPr>
          </a:p>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u="none" dirty="0">
                <a:solidFill>
                  <a:schemeClr val="bg1"/>
                </a:solidFill>
              </a:rPr>
              <a:t>For an updated commentary on these strategies, see Watkins </a:t>
            </a:r>
            <a:r>
              <a:rPr lang="en-GB" altLang="en-US" sz="1000" i="1" u="none" dirty="0">
                <a:solidFill>
                  <a:schemeClr val="bg1"/>
                </a:solidFill>
              </a:rPr>
              <a:t>et al.</a:t>
            </a:r>
            <a:r>
              <a:rPr lang="en-GB" altLang="en-US" sz="1000" u="none" dirty="0">
                <a:solidFill>
                  <a:schemeClr val="bg1"/>
                </a:solidFill>
              </a:rPr>
              <a:t>, 2015, </a:t>
            </a:r>
            <a:r>
              <a:rPr lang="en-GB" altLang="en-US" sz="1000" i="1" u="none" dirty="0">
                <a:solidFill>
                  <a:schemeClr val="bg1"/>
                </a:solidFill>
              </a:rPr>
              <a:t>Journal of Structural Geology</a:t>
            </a:r>
            <a:r>
              <a:rPr lang="en-GB" altLang="en-US" sz="1000" u="none" dirty="0">
                <a:solidFill>
                  <a:schemeClr val="bg1"/>
                </a:solidFill>
              </a:rPr>
              <a:t> 72: 67-82, </a:t>
            </a:r>
            <a:r>
              <a:rPr lang="en-GB" sz="1000" dirty="0"/>
              <a:t>https://doi.org/10.1016/j.jsg.2015.02.001;</a:t>
            </a:r>
            <a:r>
              <a:rPr lang="en-GB" altLang="en-US" sz="1000" u="none" dirty="0">
                <a:solidFill>
                  <a:schemeClr val="bg1"/>
                </a:solidFill>
              </a:rPr>
              <a:t> and Sanderson &amp; Peacock, 2019, </a:t>
            </a:r>
            <a:r>
              <a:rPr lang="en-GB" altLang="en-US" sz="1000" i="1" u="none" dirty="0">
                <a:solidFill>
                  <a:schemeClr val="bg1"/>
                </a:solidFill>
              </a:rPr>
              <a:t>Journal of Structural Geology</a:t>
            </a:r>
            <a:r>
              <a:rPr lang="en-GB" altLang="en-US" sz="1000" i="0" u="none" dirty="0">
                <a:solidFill>
                  <a:schemeClr val="bg1"/>
                </a:solidFill>
              </a:rPr>
              <a:t> 122: 27-37, </a:t>
            </a:r>
            <a:r>
              <a:rPr lang="en-GB" sz="1000" dirty="0"/>
              <a:t>https://doi.org/10.1016/j.jsg.2019.02.006</a:t>
            </a:r>
            <a:r>
              <a:rPr lang="en-GB" altLang="en-US" sz="1000" i="0" u="none" dirty="0">
                <a:solidFill>
                  <a:schemeClr val="bg1"/>
                </a:solidFill>
              </a:rPr>
              <a:t>, with comments on the uncertainties arising in different methods of measuring fracture density given by </a:t>
            </a:r>
            <a:r>
              <a:rPr lang="en-GB" altLang="en-US" sz="1000" i="0" u="none" dirty="0" err="1">
                <a:solidFill>
                  <a:schemeClr val="bg1"/>
                </a:solidFill>
              </a:rPr>
              <a:t>Zeeb</a:t>
            </a:r>
            <a:r>
              <a:rPr lang="en-GB" altLang="en-US" sz="1000" i="0" u="none" dirty="0">
                <a:solidFill>
                  <a:schemeClr val="bg1"/>
                </a:solidFill>
              </a:rPr>
              <a:t> </a:t>
            </a:r>
            <a:r>
              <a:rPr lang="en-GB" altLang="en-US" sz="1000" i="1" u="none" dirty="0">
                <a:solidFill>
                  <a:schemeClr val="bg1"/>
                </a:solidFill>
              </a:rPr>
              <a:t>et</a:t>
            </a:r>
            <a:r>
              <a:rPr lang="en-GB" altLang="en-US" sz="1000" i="0" u="none" dirty="0">
                <a:solidFill>
                  <a:schemeClr val="bg1"/>
                </a:solidFill>
              </a:rPr>
              <a:t> </a:t>
            </a:r>
            <a:r>
              <a:rPr lang="en-GB" altLang="en-US" sz="1000" i="1" u="none" dirty="0">
                <a:solidFill>
                  <a:schemeClr val="bg1"/>
                </a:solidFill>
              </a:rPr>
              <a:t>al</a:t>
            </a:r>
            <a:r>
              <a:rPr lang="en-GB" altLang="en-US" sz="1000" i="0" u="none" dirty="0">
                <a:solidFill>
                  <a:schemeClr val="bg1"/>
                </a:solidFill>
              </a:rPr>
              <a:t>., 2013, </a:t>
            </a:r>
            <a:r>
              <a:rPr lang="en-GB" altLang="en-US" sz="1000" i="1" u="none" dirty="0">
                <a:solidFill>
                  <a:schemeClr val="bg1"/>
                </a:solidFill>
              </a:rPr>
              <a:t>American Association of Petroleum Geologists Bulletin</a:t>
            </a:r>
            <a:r>
              <a:rPr lang="en-GB" altLang="en-US" sz="1000" i="0" u="none" dirty="0">
                <a:solidFill>
                  <a:schemeClr val="bg1"/>
                </a:solidFill>
              </a:rPr>
              <a:t> 97: 1545-1566, </a:t>
            </a:r>
            <a:r>
              <a:rPr lang="en-GB" sz="1000" dirty="0"/>
              <a:t>https://doi.org/10.1306/02131312042</a:t>
            </a:r>
            <a:endParaRPr lang="en-GB" sz="1000" i="0" u="none" dirty="0">
              <a:solidFill>
                <a:schemeClr val="bg1"/>
              </a:solidFill>
            </a:endParaRPr>
          </a:p>
          <a:p>
            <a:pPr marL="108000" indent="-108000" algn="l">
              <a:spcBef>
                <a:spcPts val="300"/>
              </a:spcBef>
              <a:buFont typeface="Arial" panose="020B0604020202020204" pitchFamily="34" charset="0"/>
              <a:buChar char="•"/>
            </a:pPr>
            <a:r>
              <a:rPr lang="en-GB" altLang="en-US" sz="1000" u="none" dirty="0">
                <a:solidFill>
                  <a:schemeClr val="bg1"/>
                </a:solidFill>
                <a:latin typeface="Times New Roman" panose="02020603050405020304" pitchFamily="18" charset="0"/>
                <a:cs typeface="Times New Roman" panose="02020603050405020304" pitchFamily="18" charset="0"/>
              </a:rPr>
              <a:t>For an account of how these approaches may be combined with counts of fracture tips and fracture intersections to define the topology of the fracture network, see Sanderson &amp; Nixon, 2015, </a:t>
            </a:r>
            <a:r>
              <a:rPr lang="en-GB" altLang="en-US" sz="1000" i="1" u="none" dirty="0">
                <a:solidFill>
                  <a:schemeClr val="bg1"/>
                </a:solidFill>
                <a:latin typeface="Times New Roman" panose="02020603050405020304" pitchFamily="18" charset="0"/>
                <a:cs typeface="Times New Roman" panose="02020603050405020304" pitchFamily="18" charset="0"/>
              </a:rPr>
              <a:t>Journal of Structural Geology</a:t>
            </a:r>
            <a:r>
              <a:rPr lang="en-GB" altLang="en-US" sz="1000" u="none" dirty="0">
                <a:solidFill>
                  <a:schemeClr val="bg1"/>
                </a:solidFill>
                <a:latin typeface="Times New Roman" panose="02020603050405020304" pitchFamily="18" charset="0"/>
                <a:cs typeface="Times New Roman" panose="02020603050405020304" pitchFamily="18" charset="0"/>
              </a:rPr>
              <a:t> 72: 55-66, </a:t>
            </a:r>
            <a:r>
              <a:rPr lang="en-GB" sz="1000" dirty="0">
                <a:latin typeface="Times New Roman" panose="02020603050405020304" pitchFamily="18" charset="0"/>
                <a:cs typeface="Times New Roman" panose="02020603050405020304" pitchFamily="18" charset="0"/>
              </a:rPr>
              <a:t>https://doi.org/10.1016/j.jsg.2015.01.005; </a:t>
            </a:r>
            <a:r>
              <a:rPr lang="en-GB" altLang="en-US" sz="1000" u="none" dirty="0">
                <a:solidFill>
                  <a:schemeClr val="bg1"/>
                </a:solidFill>
                <a:latin typeface="Times New Roman" panose="02020603050405020304" pitchFamily="18" charset="0"/>
                <a:cs typeface="Times New Roman" panose="02020603050405020304" pitchFamily="18" charset="0"/>
              </a:rPr>
              <a:t>and Sanderson </a:t>
            </a:r>
            <a:r>
              <a:rPr lang="en-GB" altLang="en-US" sz="1000" i="1" u="none" dirty="0">
                <a:solidFill>
                  <a:schemeClr val="bg1"/>
                </a:solidFill>
                <a:latin typeface="Times New Roman" panose="02020603050405020304" pitchFamily="18" charset="0"/>
                <a:cs typeface="Times New Roman" panose="02020603050405020304" pitchFamily="18" charset="0"/>
              </a:rPr>
              <a:t>et al.</a:t>
            </a:r>
            <a:r>
              <a:rPr lang="en-GB" altLang="en-US" sz="1000" i="0" u="none" dirty="0">
                <a:solidFill>
                  <a:schemeClr val="bg1"/>
                </a:solidFill>
                <a:latin typeface="Times New Roman" panose="02020603050405020304" pitchFamily="18" charset="0"/>
                <a:cs typeface="Times New Roman" panose="02020603050405020304" pitchFamily="18" charset="0"/>
              </a:rPr>
              <a:t>, 2019, </a:t>
            </a:r>
            <a:r>
              <a:rPr lang="en-GB" altLang="en-US" sz="1000" i="1" u="none" dirty="0">
                <a:solidFill>
                  <a:schemeClr val="bg1"/>
                </a:solidFill>
                <a:latin typeface="Times New Roman" panose="02020603050405020304" pitchFamily="18" charset="0"/>
                <a:cs typeface="Times New Roman" panose="02020603050405020304" pitchFamily="18" charset="0"/>
              </a:rPr>
              <a:t>Journal of Structural Geology</a:t>
            </a:r>
            <a:r>
              <a:rPr lang="en-GB" altLang="en-US" sz="1000" i="0" u="none" dirty="0">
                <a:solidFill>
                  <a:schemeClr val="bg1"/>
                </a:solidFill>
                <a:latin typeface="Times New Roman" panose="02020603050405020304" pitchFamily="18" charset="0"/>
                <a:cs typeface="Times New Roman" panose="02020603050405020304" pitchFamily="18" charset="0"/>
              </a:rPr>
              <a:t> 125: 155-165, </a:t>
            </a:r>
            <a:r>
              <a:rPr lang="en-GB" sz="1000" dirty="0">
                <a:latin typeface="Times New Roman" panose="02020603050405020304" pitchFamily="18" charset="0"/>
                <a:cs typeface="Times New Roman" panose="02020603050405020304" pitchFamily="18" charset="0"/>
              </a:rPr>
              <a:t>https://doi.org/10.1016/j.jsg.2018.04.011.</a:t>
            </a:r>
          </a:p>
          <a:p>
            <a:pPr marL="108000" indent="-108000" algn="l">
              <a:spcBef>
                <a:spcPts val="300"/>
              </a:spcBef>
              <a:buFont typeface="Arial" panose="020B0604020202020204" pitchFamily="34" charset="0"/>
              <a:buChar char="•"/>
            </a:pPr>
            <a:r>
              <a:rPr lang="en-GB" sz="1000" dirty="0">
                <a:latin typeface="Times New Roman" panose="02020603050405020304" pitchFamily="18" charset="0"/>
                <a:cs typeface="Times New Roman" panose="02020603050405020304" pitchFamily="18" charset="0"/>
              </a:rPr>
              <a:t>Examples of how topological parameters may be used include (1) </a:t>
            </a:r>
            <a:r>
              <a:rPr lang="en-GB" altLang="en-US" sz="1000" dirty="0"/>
              <a:t>Duffy </a:t>
            </a:r>
            <a:r>
              <a:rPr lang="en-GB" altLang="en-US" sz="1000" i="1" dirty="0"/>
              <a:t>et al.</a:t>
            </a:r>
            <a:r>
              <a:rPr lang="en-GB" altLang="en-US" sz="1000" i="0" dirty="0"/>
              <a:t>, 2017, </a:t>
            </a:r>
            <a:r>
              <a:rPr lang="en-GB" altLang="en-US" sz="1000" i="1" dirty="0"/>
              <a:t>Journal of Structural Geology</a:t>
            </a:r>
            <a:r>
              <a:rPr lang="en-GB" altLang="en-US" sz="1000" i="0" dirty="0"/>
              <a:t> 96: 192-202, </a:t>
            </a:r>
            <a:r>
              <a:rPr lang="en-GB" sz="1000" dirty="0"/>
              <a:t>https://doi.org/10.1016/j.jsg.2017.02.001</a:t>
            </a:r>
            <a:r>
              <a:rPr lang="en-GB" altLang="en-US" sz="1000" i="0" dirty="0"/>
              <a:t>; (2) </a:t>
            </a:r>
            <a:r>
              <a:rPr lang="en-GB" altLang="en-US" sz="1000" dirty="0"/>
              <a:t>Procter &amp; Sanderson, 2018, </a:t>
            </a:r>
            <a:r>
              <a:rPr lang="en-GB" altLang="en-US" sz="1000" i="1" dirty="0"/>
              <a:t>Journal of Structural Geology </a:t>
            </a:r>
            <a:r>
              <a:rPr lang="en-GB" altLang="en-US" sz="1000" i="0" dirty="0"/>
              <a:t>108: 52-65, </a:t>
            </a:r>
            <a:r>
              <a:rPr lang="en-GB" sz="1000" dirty="0"/>
              <a:t>https://doi.org/10.1016/j.jsg.2017.07.008; </a:t>
            </a:r>
            <a:r>
              <a:rPr lang="en-GB" sz="1000" dirty="0">
                <a:latin typeface="Times New Roman" panose="02020603050405020304" pitchFamily="18" charset="0"/>
                <a:cs typeface="Times New Roman" panose="02020603050405020304" pitchFamily="18" charset="0"/>
              </a:rPr>
              <a:t>(3) Sanderson &amp; Nixon, 2018, </a:t>
            </a:r>
            <a:r>
              <a:rPr lang="en-US" sz="1000" b="0" i="1" u="none" strike="noStrike" baseline="0" dirty="0">
                <a:solidFill>
                  <a:srgbClr val="0080AC"/>
                </a:solidFill>
                <a:latin typeface="Times New Roman" panose="02020603050405020304" pitchFamily="18" charset="0"/>
                <a:cs typeface="Times New Roman" panose="02020603050405020304" pitchFamily="18" charset="0"/>
              </a:rPr>
              <a:t>Journal of Structural Geology</a:t>
            </a:r>
            <a:r>
              <a:rPr lang="en-US" sz="1000" b="0" i="0" u="none" strike="noStrike" baseline="0" dirty="0">
                <a:solidFill>
                  <a:srgbClr val="0080AC"/>
                </a:solidFill>
                <a:latin typeface="Times New Roman" panose="02020603050405020304" pitchFamily="18" charset="0"/>
                <a:cs typeface="Times New Roman" panose="02020603050405020304" pitchFamily="18" charset="0"/>
              </a:rPr>
              <a:t> 115: 167-177, </a:t>
            </a:r>
            <a:r>
              <a:rPr lang="en-GB" sz="1000" b="0" i="0" u="none" strike="noStrike" baseline="0" dirty="0">
                <a:latin typeface="Times New Roman" panose="02020603050405020304" pitchFamily="18" charset="0"/>
                <a:cs typeface="Times New Roman" panose="02020603050405020304" pitchFamily="18" charset="0"/>
              </a:rPr>
              <a:t>https://doi.org/10.1016/j.jsg.2018.07.011; (4) </a:t>
            </a:r>
            <a:r>
              <a:rPr lang="en-GB" sz="1000" b="0" i="0" u="none" strike="noStrike" baseline="0" dirty="0" err="1">
                <a:latin typeface="Times New Roman" panose="02020603050405020304" pitchFamily="18" charset="0"/>
                <a:cs typeface="Times New Roman" panose="02020603050405020304" pitchFamily="18" charset="0"/>
              </a:rPr>
              <a:t>Grodner</a:t>
            </a:r>
            <a:r>
              <a:rPr lang="en-GB" sz="1000" b="0" i="0" u="none" strike="noStrike" baseline="0" dirty="0">
                <a:latin typeface="Times New Roman" panose="02020603050405020304" pitchFamily="18" charset="0"/>
                <a:cs typeface="Times New Roman" panose="02020603050405020304" pitchFamily="18" charset="0"/>
              </a:rPr>
              <a:t> </a:t>
            </a:r>
            <a:r>
              <a:rPr lang="en-GB" sz="1000" b="0" i="1" u="none" strike="noStrike" baseline="0" dirty="0">
                <a:latin typeface="Times New Roman" panose="02020603050405020304" pitchFamily="18" charset="0"/>
                <a:cs typeface="Times New Roman" panose="02020603050405020304" pitchFamily="18" charset="0"/>
              </a:rPr>
              <a:t>et al.</a:t>
            </a:r>
            <a:r>
              <a:rPr lang="en-GB" sz="1000" b="0" i="0" u="none" strike="noStrike" baseline="0" dirty="0">
                <a:latin typeface="Times New Roman" panose="02020603050405020304" pitchFamily="18" charset="0"/>
                <a:cs typeface="Times New Roman" panose="02020603050405020304" pitchFamily="18" charset="0"/>
              </a:rPr>
              <a:t>, 2021, </a:t>
            </a:r>
            <a:r>
              <a:rPr lang="en-US" sz="1000" b="0" i="1" u="none" strike="noStrike" baseline="0" dirty="0">
                <a:solidFill>
                  <a:srgbClr val="0A80BB"/>
                </a:solidFill>
                <a:latin typeface="Times New Roman" panose="02020603050405020304" pitchFamily="18" charset="0"/>
                <a:cs typeface="Times New Roman" panose="02020603050405020304" pitchFamily="18" charset="0"/>
              </a:rPr>
              <a:t>Journal of Structural Geology </a:t>
            </a:r>
            <a:r>
              <a:rPr lang="en-US" sz="1000" b="0" i="0" u="none" strike="noStrike" baseline="0" dirty="0">
                <a:solidFill>
                  <a:srgbClr val="0A80BB"/>
                </a:solidFill>
                <a:latin typeface="Times New Roman" panose="02020603050405020304" pitchFamily="18" charset="0"/>
                <a:cs typeface="Times New Roman" panose="02020603050405020304" pitchFamily="18" charset="0"/>
              </a:rPr>
              <a:t>153, article 104468, </a:t>
            </a:r>
            <a:r>
              <a:rPr lang="en-GB" sz="1000" b="0" i="0" u="none" strike="noStrike" baseline="0" dirty="0">
                <a:solidFill>
                  <a:srgbClr val="2196D1"/>
                </a:solidFill>
                <a:latin typeface="Times New Roman" panose="02020603050405020304" pitchFamily="18" charset="0"/>
                <a:cs typeface="Times New Roman" panose="02020603050405020304" pitchFamily="18" charset="0"/>
              </a:rPr>
              <a:t>https://doi.org/10.1016/j.jsg.2021.104468; (5) </a:t>
            </a:r>
            <a:r>
              <a:rPr lang="en-GB" sz="1000" b="0" i="0" u="none" strike="noStrike" baseline="0" dirty="0" err="1">
                <a:solidFill>
                  <a:srgbClr val="2196D1"/>
                </a:solidFill>
                <a:latin typeface="Times New Roman" panose="02020603050405020304" pitchFamily="18" charset="0"/>
                <a:cs typeface="Times New Roman" panose="02020603050405020304" pitchFamily="18" charset="0"/>
              </a:rPr>
              <a:t>Forstner</a:t>
            </a:r>
            <a:r>
              <a:rPr lang="en-GB" sz="1000" b="0" i="0" u="none" strike="noStrike" baseline="0" dirty="0">
                <a:solidFill>
                  <a:srgbClr val="2196D1"/>
                </a:solidFill>
                <a:latin typeface="Times New Roman" panose="02020603050405020304" pitchFamily="18" charset="0"/>
                <a:cs typeface="Times New Roman" panose="02020603050405020304" pitchFamily="18" charset="0"/>
              </a:rPr>
              <a:t> &amp; Laubach, 2022, </a:t>
            </a:r>
            <a:r>
              <a:rPr lang="en-US" sz="1000" b="0" i="1" u="none" strike="noStrike" baseline="0" dirty="0">
                <a:solidFill>
                  <a:srgbClr val="0A80BB"/>
                </a:solidFill>
                <a:latin typeface="Times New Roman" panose="02020603050405020304" pitchFamily="18" charset="0"/>
                <a:cs typeface="Times New Roman" panose="02020603050405020304" pitchFamily="18" charset="0"/>
              </a:rPr>
              <a:t>Journal of Structural Geology </a:t>
            </a:r>
            <a:r>
              <a:rPr lang="en-US" sz="1000" b="0" i="0" u="none" strike="noStrike" baseline="0" dirty="0">
                <a:solidFill>
                  <a:srgbClr val="0A80BB"/>
                </a:solidFill>
                <a:latin typeface="Times New Roman" panose="02020603050405020304" pitchFamily="18" charset="0"/>
                <a:cs typeface="Times New Roman" panose="02020603050405020304" pitchFamily="18" charset="0"/>
              </a:rPr>
              <a:t>165: article 104748</a:t>
            </a:r>
            <a:r>
              <a:rPr lang="en-GB" sz="1000" b="0" i="0" u="none" strike="noStrike" baseline="0" dirty="0">
                <a:solidFill>
                  <a:srgbClr val="2196D1"/>
                </a:solidFill>
                <a:latin typeface="Times New Roman" panose="02020603050405020304" pitchFamily="18" charset="0"/>
                <a:cs typeface="Times New Roman" panose="02020603050405020304" pitchFamily="18" charset="0"/>
              </a:rPr>
              <a:t>, https://doi.org/10.1016/j.jsg.2022.104748; (6) </a:t>
            </a:r>
            <a:r>
              <a:rPr lang="en-GB" sz="1000" b="0" i="0" u="none" strike="noStrike" baseline="0" dirty="0" err="1">
                <a:solidFill>
                  <a:srgbClr val="2196D1"/>
                </a:solidFill>
                <a:latin typeface="Times New Roman" panose="02020603050405020304" pitchFamily="18" charset="0"/>
                <a:cs typeface="Times New Roman" panose="02020603050405020304" pitchFamily="18" charset="0"/>
              </a:rPr>
              <a:t>Ovaskainen</a:t>
            </a:r>
            <a:r>
              <a:rPr lang="en-GB" sz="1000" b="0" i="0" u="none" strike="noStrike" baseline="0" dirty="0">
                <a:solidFill>
                  <a:srgbClr val="2196D1"/>
                </a:solidFill>
                <a:latin typeface="Times New Roman" panose="02020603050405020304" pitchFamily="18" charset="0"/>
                <a:cs typeface="Times New Roman" panose="02020603050405020304" pitchFamily="18" charset="0"/>
              </a:rPr>
              <a:t> </a:t>
            </a:r>
            <a:r>
              <a:rPr lang="en-GB" sz="1000" b="0" i="1" u="none" strike="noStrike" baseline="0" dirty="0">
                <a:solidFill>
                  <a:srgbClr val="2196D1"/>
                </a:solidFill>
                <a:latin typeface="Times New Roman" panose="02020603050405020304" pitchFamily="18" charset="0"/>
                <a:cs typeface="Times New Roman" panose="02020603050405020304" pitchFamily="18" charset="0"/>
              </a:rPr>
              <a:t>et al.</a:t>
            </a:r>
            <a:r>
              <a:rPr lang="en-GB" sz="1000" b="0" i="0" u="none" strike="noStrike" baseline="0" dirty="0">
                <a:solidFill>
                  <a:srgbClr val="2196D1"/>
                </a:solidFill>
                <a:latin typeface="Times New Roman" panose="02020603050405020304" pitchFamily="18" charset="0"/>
                <a:cs typeface="Times New Roman" panose="02020603050405020304" pitchFamily="18" charset="0"/>
              </a:rPr>
              <a:t>, 2022, </a:t>
            </a:r>
            <a:r>
              <a:rPr lang="en-US" sz="1000" b="0" i="1" u="none" strike="noStrike" baseline="0" dirty="0">
                <a:solidFill>
                  <a:srgbClr val="0A80BB"/>
                </a:solidFill>
                <a:latin typeface="Times New Roman" panose="02020603050405020304" pitchFamily="18" charset="0"/>
                <a:cs typeface="Times New Roman" panose="02020603050405020304" pitchFamily="18" charset="0"/>
              </a:rPr>
              <a:t>Journal of Structural Geology </a:t>
            </a:r>
            <a:r>
              <a:rPr lang="en-US" sz="1000" b="0" i="0" u="none" strike="noStrike" baseline="0" dirty="0">
                <a:solidFill>
                  <a:srgbClr val="0A80BB"/>
                </a:solidFill>
                <a:latin typeface="Times New Roman" panose="02020603050405020304" pitchFamily="18" charset="0"/>
                <a:cs typeface="Times New Roman" panose="02020603050405020304" pitchFamily="18" charset="0"/>
              </a:rPr>
              <a:t>155, article 104528, </a:t>
            </a:r>
            <a:r>
              <a:rPr lang="en-GB" sz="1000" b="0" i="0" u="none" strike="noStrike" baseline="0" dirty="0">
                <a:solidFill>
                  <a:srgbClr val="2196D1"/>
                </a:solidFill>
                <a:latin typeface="Times New Roman" panose="02020603050405020304" pitchFamily="18" charset="0"/>
                <a:cs typeface="Times New Roman" panose="02020603050405020304" pitchFamily="18" charset="0"/>
              </a:rPr>
              <a:t>https://doi.org/10.1016/j.jsg.2022.104528 </a:t>
            </a:r>
            <a:endParaRPr lang="en-GB" altLang="en-US" sz="1000" i="0" u="none" dirty="0">
              <a:solidFill>
                <a:schemeClr val="bg1"/>
              </a:solidFill>
              <a:latin typeface="Times New Roman" panose="02020603050405020304" pitchFamily="18" charset="0"/>
              <a:cs typeface="Times New Roman" panose="02020603050405020304" pitchFamily="18" charset="0"/>
            </a:endParaRPr>
          </a:p>
          <a:p>
            <a:pPr marL="108000" indent="-108000">
              <a:spcBef>
                <a:spcPts val="300"/>
              </a:spcBef>
              <a:buFont typeface="Arial" panose="020B0604020202020204" pitchFamily="34" charset="0"/>
              <a:buNone/>
            </a:pPr>
            <a:endParaRPr lang="en-GB" altLang="en-US" sz="1000" u="none" dirty="0">
              <a:solidFill>
                <a:schemeClr val="bg1"/>
              </a:solidFill>
              <a:latin typeface="Times New Roman" panose="02020603050405020304" pitchFamily="18" charset="0"/>
              <a:cs typeface="Times New Roman" panose="02020603050405020304" pitchFamily="18" charset="0"/>
            </a:endParaRPr>
          </a:p>
          <a:p>
            <a:pPr marL="108000" indent="-108000">
              <a:spcBef>
                <a:spcPts val="300"/>
              </a:spcBef>
              <a:buFont typeface="Arial" panose="020B0604020202020204" pitchFamily="34" charset="0"/>
              <a:buChar char="•"/>
            </a:pPr>
            <a:r>
              <a:rPr lang="en-GB" altLang="en-US" sz="1000" u="none" dirty="0">
                <a:solidFill>
                  <a:schemeClr val="bg1"/>
                </a:solidFill>
                <a:latin typeface="Times New Roman" panose="02020603050405020304" pitchFamily="18" charset="0"/>
                <a:cs typeface="Times New Roman" panose="02020603050405020304" pitchFamily="18" charset="0"/>
              </a:rPr>
              <a:t>It quickly becomes apparent when one attempts to measure fracture parameters that deciding what is or is not a fracture in an image or indeed in real life, can have a heavy element of subjectivity.  For assessment of the significance of this, see Peacock </a:t>
            </a:r>
            <a:r>
              <a:rPr lang="en-GB" altLang="en-US" sz="1000" i="1" u="none" dirty="0">
                <a:solidFill>
                  <a:schemeClr val="bg1"/>
                </a:solidFill>
                <a:latin typeface="Times New Roman" panose="02020603050405020304" pitchFamily="18" charset="0"/>
                <a:cs typeface="Times New Roman" panose="02020603050405020304" pitchFamily="18" charset="0"/>
              </a:rPr>
              <a:t>et al.</a:t>
            </a:r>
            <a:r>
              <a:rPr lang="en-GB" altLang="en-US" sz="1000" i="0" u="none" dirty="0">
                <a:solidFill>
                  <a:schemeClr val="bg1"/>
                </a:solidFill>
                <a:latin typeface="Times New Roman" panose="02020603050405020304" pitchFamily="18" charset="0"/>
                <a:cs typeface="Times New Roman" panose="02020603050405020304" pitchFamily="18" charset="0"/>
              </a:rPr>
              <a:t>, 2019, </a:t>
            </a:r>
            <a:r>
              <a:rPr lang="en-GB" altLang="en-US" sz="1000" i="1" u="none" dirty="0">
                <a:solidFill>
                  <a:schemeClr val="bg1"/>
                </a:solidFill>
                <a:latin typeface="Times New Roman" panose="02020603050405020304" pitchFamily="18" charset="0"/>
                <a:cs typeface="Times New Roman" panose="02020603050405020304" pitchFamily="18" charset="0"/>
              </a:rPr>
              <a:t>Norwegian Journal of </a:t>
            </a:r>
            <a:r>
              <a:rPr lang="en-GB" altLang="en-US" sz="1000" i="0" u="none" dirty="0">
                <a:solidFill>
                  <a:schemeClr val="bg1"/>
                </a:solidFill>
                <a:latin typeface="Times New Roman" panose="02020603050405020304" pitchFamily="18" charset="0"/>
                <a:cs typeface="Times New Roman" panose="02020603050405020304" pitchFamily="18" charset="0"/>
              </a:rPr>
              <a:t>Geology 99: 113-128,</a:t>
            </a:r>
            <a:r>
              <a:rPr lang="en-GB" altLang="en-US" sz="1000" u="none" dirty="0">
                <a:solidFill>
                  <a:schemeClr val="bg1"/>
                </a:solidFill>
                <a:latin typeface="Times New Roman" panose="02020603050405020304" pitchFamily="18" charset="0"/>
                <a:cs typeface="Times New Roman" panose="02020603050405020304" pitchFamily="18" charset="0"/>
              </a:rPr>
              <a:t> </a:t>
            </a:r>
            <a:r>
              <a:rPr lang="en-GB" sz="1000" dirty="0">
                <a:solidFill>
                  <a:schemeClr val="bg1"/>
                </a:solidFill>
                <a:effectLst/>
                <a:latin typeface="Times New Roman" panose="02020603050405020304" pitchFamily="18" charset="0"/>
                <a:cs typeface="Times New Roman" panose="02020603050405020304" pitchFamily="18" charset="0"/>
              </a:rPr>
              <a:t>https://dx.doi.org/10.17850/njg99-1-06; and Andrews </a:t>
            </a:r>
            <a:r>
              <a:rPr lang="en-GB" sz="1000" i="1" dirty="0">
                <a:solidFill>
                  <a:schemeClr val="bg1"/>
                </a:solidFill>
                <a:effectLst/>
                <a:latin typeface="Times New Roman" panose="02020603050405020304" pitchFamily="18" charset="0"/>
                <a:cs typeface="Times New Roman" panose="02020603050405020304" pitchFamily="18" charset="0"/>
              </a:rPr>
              <a:t>et al</a:t>
            </a:r>
            <a:r>
              <a:rPr lang="en-GB" sz="1000" i="0" dirty="0">
                <a:solidFill>
                  <a:schemeClr val="bg1"/>
                </a:solidFill>
                <a:effectLst/>
                <a:latin typeface="Times New Roman" panose="02020603050405020304" pitchFamily="18" charset="0"/>
                <a:cs typeface="Times New Roman" panose="02020603050405020304" pitchFamily="18" charset="0"/>
              </a:rPr>
              <a:t>., 2019, </a:t>
            </a:r>
            <a:r>
              <a:rPr lang="en-GB" sz="1000" i="1" dirty="0">
                <a:solidFill>
                  <a:schemeClr val="bg1"/>
                </a:solidFill>
                <a:effectLst/>
                <a:latin typeface="Times New Roman" panose="02020603050405020304" pitchFamily="18" charset="0"/>
                <a:cs typeface="Times New Roman" panose="02020603050405020304" pitchFamily="18" charset="0"/>
              </a:rPr>
              <a:t>Solid Earth </a:t>
            </a:r>
            <a:r>
              <a:rPr lang="en-GB" sz="1000" i="0" dirty="0">
                <a:solidFill>
                  <a:schemeClr val="bg1"/>
                </a:solidFill>
                <a:effectLst/>
                <a:latin typeface="Times New Roman" panose="02020603050405020304" pitchFamily="18" charset="0"/>
                <a:cs typeface="Times New Roman" panose="02020603050405020304" pitchFamily="18" charset="0"/>
              </a:rPr>
              <a:t>10: 487-516, </a:t>
            </a:r>
            <a:r>
              <a:rPr lang="en-GB" sz="1000" dirty="0">
                <a:solidFill>
                  <a:schemeClr val="bg1"/>
                </a:solidFill>
                <a:latin typeface="Times New Roman" panose="02020603050405020304" pitchFamily="18" charset="0"/>
                <a:cs typeface="Times New Roman" panose="02020603050405020304" pitchFamily="18" charset="0"/>
              </a:rPr>
              <a:t>https://doi.org/10.5194/se-10-487-2019</a:t>
            </a: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Twiss </a:t>
            </a:r>
            <a:r>
              <a:rPr lang="en-GB" altLang="en-US" sz="1000" dirty="0"/>
              <a:t>&amp; </a:t>
            </a:r>
            <a:r>
              <a:rPr lang="en-GB" altLang="en-US" sz="1000" dirty="0" err="1"/>
              <a:t>Moores</a:t>
            </a:r>
            <a:r>
              <a:rPr lang="en-GB" altLang="en-US" sz="1000" dirty="0"/>
              <a:t> (p.46-52) describe a simple strategy for assessing if the spacing of fractures is fractal, that is, for establishing if there is a power law relationship between fracture frequency and fracture size</a:t>
            </a:r>
          </a:p>
          <a:p>
            <a:pPr marL="108000" indent="-108000">
              <a:spcBef>
                <a:spcPts val="300"/>
              </a:spcBef>
              <a:buFont typeface="Arial" panose="020B0604020202020204" pitchFamily="34" charset="0"/>
              <a:buChar char="•"/>
            </a:pPr>
            <a:r>
              <a:rPr lang="en-GB" altLang="en-US" sz="1000" dirty="0"/>
              <a:t>For a systematic classification of fracture networks based on fracture type (extension, contraction, shear, hybrid – see Slide 7) and fracture network topology, which also pays attention to the relative age relationships of the fractures in the network and whether or not they are kinematically related (formed in the same displacement field), see Peacock </a:t>
            </a:r>
            <a:r>
              <a:rPr lang="en-GB" altLang="en-US" sz="1000" i="1" dirty="0"/>
              <a:t>et al.</a:t>
            </a:r>
            <a:r>
              <a:rPr lang="en-GB" altLang="en-US" sz="1000" i="0" dirty="0"/>
              <a:t>, 2018, </a:t>
            </a:r>
            <a:r>
              <a:rPr lang="en-GB" altLang="en-US" sz="1000" i="1" dirty="0"/>
              <a:t>Journal of Structural Geology</a:t>
            </a:r>
            <a:r>
              <a:rPr lang="en-GB" altLang="en-US" sz="1000" i="0" dirty="0"/>
              <a:t> 106: 41-53, </a:t>
            </a:r>
            <a:r>
              <a:rPr lang="en-GB" sz="1000" dirty="0"/>
              <a:t>https://doi.org/10.1016/j.jsg.2017.11.010</a:t>
            </a:r>
          </a:p>
          <a:p>
            <a:pPr marL="0" indent="0">
              <a:spcBef>
                <a:spcPts val="300"/>
              </a:spcBef>
              <a:buFont typeface="Arial" panose="020B0604020202020204" pitchFamily="34" charset="0"/>
              <a:buNone/>
            </a:pPr>
            <a:endParaRPr lang="en-GB" altLang="en-US" sz="1000" dirty="0"/>
          </a:p>
          <a:p>
            <a:pPr marL="108000" indent="-108000">
              <a:spcBef>
                <a:spcPts val="300"/>
              </a:spcBef>
              <a:buFont typeface="Arial" panose="020B0604020202020204" pitchFamily="34" charset="0"/>
              <a:buChar char="•"/>
            </a:pPr>
            <a:r>
              <a:rPr lang="en-GB" altLang="en-US" sz="1000" dirty="0"/>
              <a:t>Figure top right (from Ramsay &amp; Huber, p.648) highlighting the fact that we get a different impression of fracture frequency and the number of differently oriented fracture sets on differently oriented planes. Using a circular count line minimizes these issues provided the plane on which the counting is performed is not parallel to one of the fracture sets</a:t>
            </a:r>
          </a:p>
          <a:p>
            <a:pPr marL="108000" indent="-108000">
              <a:spcBef>
                <a:spcPts val="300"/>
              </a:spcBef>
              <a:buFont typeface="Arial" panose="020B0604020202020204" pitchFamily="34" charset="0"/>
              <a:buChar char="•"/>
            </a:pPr>
            <a:r>
              <a:rPr lang="en-GB" altLang="en-US" sz="1000" dirty="0"/>
              <a:t>Figure bottom left (by Steve Covey-Crump): counting fractures using a circular count line (in red); the counted intersections are the black circles. An estimate of </a:t>
            </a:r>
            <a:r>
              <a:rPr lang="en-GB" altLang="en-US" sz="1000" b="1" i="1" dirty="0"/>
              <a:t>fracture trace intensity</a:t>
            </a:r>
            <a:r>
              <a:rPr lang="en-GB" altLang="en-US" sz="1000" dirty="0"/>
              <a:t> is then given by </a:t>
            </a:r>
            <a:r>
              <a:rPr lang="en-GB" altLang="en-US" sz="1000" i="1" dirty="0"/>
              <a:t>n</a:t>
            </a:r>
            <a:r>
              <a:rPr lang="en-GB" altLang="en-US" sz="1000" dirty="0"/>
              <a:t>/(4</a:t>
            </a:r>
            <a:r>
              <a:rPr lang="en-GB" altLang="en-US" sz="1000" i="1" dirty="0"/>
              <a:t>r</a:t>
            </a:r>
            <a:r>
              <a:rPr lang="en-GB" altLang="en-US" sz="1000" dirty="0"/>
              <a:t>) when </a:t>
            </a:r>
            <a:r>
              <a:rPr lang="en-GB" altLang="en-US" sz="1000" i="1" dirty="0"/>
              <a:t>n</a:t>
            </a:r>
            <a:r>
              <a:rPr lang="en-GB" altLang="en-US" sz="1000" dirty="0"/>
              <a:t> is the number of intersections and </a:t>
            </a:r>
            <a:r>
              <a:rPr lang="en-GB" altLang="en-US" sz="1000" i="1" dirty="0"/>
              <a:t>r</a:t>
            </a:r>
            <a:r>
              <a:rPr lang="en-GB" altLang="en-US" sz="1000" dirty="0"/>
              <a:t> is the radius of the circle. By counting fracture tips within the counting circle (orange circles) then an estimate of </a:t>
            </a:r>
            <a:r>
              <a:rPr lang="en-GB" altLang="en-US" sz="1000" b="1" i="1" dirty="0"/>
              <a:t>fracture trace density</a:t>
            </a:r>
            <a:r>
              <a:rPr lang="en-GB" altLang="en-US" sz="1000" dirty="0"/>
              <a:t> is given by </a:t>
            </a:r>
            <a:r>
              <a:rPr lang="en-GB" altLang="en-US" sz="1000" i="1" dirty="0"/>
              <a:t>m</a:t>
            </a:r>
            <a:r>
              <a:rPr lang="en-GB" altLang="en-US" sz="1000" dirty="0"/>
              <a:t>/(2</a:t>
            </a:r>
            <a:r>
              <a:rPr lang="el-GR" altLang="en-US" sz="1000" i="1" dirty="0">
                <a:cs typeface="Times New Roman" panose="02020603050405020304" pitchFamily="18" charset="0"/>
              </a:rPr>
              <a:t>π</a:t>
            </a:r>
            <a:r>
              <a:rPr lang="en-GB" altLang="en-US" sz="1000" i="1" dirty="0">
                <a:cs typeface="Times New Roman" panose="02020603050405020304" pitchFamily="18" charset="0"/>
              </a:rPr>
              <a:t>r</a:t>
            </a:r>
            <a:r>
              <a:rPr lang="en-GB" altLang="en-US" sz="1000" baseline="30000" dirty="0">
                <a:cs typeface="Times New Roman" panose="02020603050405020304" pitchFamily="18" charset="0"/>
              </a:rPr>
              <a:t>2</a:t>
            </a:r>
            <a:r>
              <a:rPr lang="en-GB" altLang="en-US" sz="1000" dirty="0">
                <a:cs typeface="Times New Roman" panose="02020603050405020304" pitchFamily="18" charset="0"/>
              </a:rPr>
              <a:t>) where </a:t>
            </a:r>
            <a:r>
              <a:rPr lang="en-GB" altLang="en-US" sz="1000" i="1" dirty="0">
                <a:cs typeface="Times New Roman" panose="02020603050405020304" pitchFamily="18" charset="0"/>
              </a:rPr>
              <a:t>m</a:t>
            </a:r>
            <a:r>
              <a:rPr lang="en-GB" altLang="en-US" sz="1000" dirty="0">
                <a:cs typeface="Times New Roman" panose="02020603050405020304" pitchFamily="18" charset="0"/>
              </a:rPr>
              <a:t> is the number of tips. An estimate of </a:t>
            </a:r>
            <a:r>
              <a:rPr lang="en-GB" altLang="en-US" sz="1000" b="1" i="1" dirty="0">
                <a:cs typeface="Times New Roman" panose="02020603050405020304" pitchFamily="18" charset="0"/>
              </a:rPr>
              <a:t>mean trace length</a:t>
            </a:r>
            <a:r>
              <a:rPr lang="en-GB" altLang="en-US" sz="1000" dirty="0">
                <a:cs typeface="Times New Roman" panose="02020603050405020304" pitchFamily="18" charset="0"/>
              </a:rPr>
              <a:t> is given by (</a:t>
            </a:r>
            <a:r>
              <a:rPr lang="en-GB" altLang="en-US" sz="1000" i="1" dirty="0">
                <a:cs typeface="Times New Roman" panose="02020603050405020304" pitchFamily="18" charset="0"/>
              </a:rPr>
              <a:t>n</a:t>
            </a:r>
            <a:r>
              <a:rPr lang="en-GB" altLang="en-US" sz="1000" dirty="0">
                <a:cs typeface="Times New Roman" panose="02020603050405020304" pitchFamily="18" charset="0"/>
              </a:rPr>
              <a:t>/</a:t>
            </a:r>
            <a:r>
              <a:rPr lang="en-GB" altLang="en-US" sz="1000" i="1" dirty="0">
                <a:cs typeface="Times New Roman" panose="02020603050405020304" pitchFamily="18" charset="0"/>
              </a:rPr>
              <a:t>m</a:t>
            </a:r>
            <a:r>
              <a:rPr lang="en-GB" altLang="en-US" sz="1000" dirty="0">
                <a:cs typeface="Times New Roman" panose="02020603050405020304" pitchFamily="18" charset="0"/>
              </a:rPr>
              <a:t>)</a:t>
            </a:r>
            <a:r>
              <a:rPr lang="el-GR" altLang="en-US" sz="1000" i="1" dirty="0">
                <a:cs typeface="Times New Roman" panose="02020603050405020304" pitchFamily="18" charset="0"/>
              </a:rPr>
              <a:t>π</a:t>
            </a:r>
            <a:r>
              <a:rPr lang="en-GB" altLang="en-US" sz="1000" i="1" dirty="0">
                <a:cs typeface="Times New Roman" panose="02020603050405020304" pitchFamily="18" charset="0"/>
              </a:rPr>
              <a:t>r</a:t>
            </a:r>
            <a:r>
              <a:rPr lang="en-GB" altLang="en-US" sz="1000" dirty="0">
                <a:cs typeface="Times New Roman" panose="02020603050405020304" pitchFamily="18" charset="0"/>
              </a:rPr>
              <a:t>/2. For derivations of these expressions, see </a:t>
            </a:r>
            <a:r>
              <a:rPr lang="en-GB" altLang="en-US" sz="1000" dirty="0" err="1">
                <a:cs typeface="Times New Roman" panose="02020603050405020304" pitchFamily="18" charset="0"/>
              </a:rPr>
              <a:t>Mauldon</a:t>
            </a:r>
            <a:r>
              <a:rPr lang="en-GB" altLang="en-US" sz="1000" dirty="0">
                <a:cs typeface="Times New Roman" panose="02020603050405020304" pitchFamily="18" charset="0"/>
              </a:rPr>
              <a:t> </a:t>
            </a:r>
            <a:r>
              <a:rPr lang="en-GB" altLang="en-US" sz="1000" i="1" dirty="0">
                <a:cs typeface="Times New Roman" panose="02020603050405020304" pitchFamily="18" charset="0"/>
              </a:rPr>
              <a:t>et al.</a:t>
            </a:r>
            <a:r>
              <a:rPr lang="en-GB" altLang="en-US" sz="1000" dirty="0">
                <a:cs typeface="Times New Roman" panose="02020603050405020304" pitchFamily="18" charset="0"/>
              </a:rPr>
              <a:t>, 2001, </a:t>
            </a:r>
            <a:r>
              <a:rPr lang="en-GB" altLang="en-US" sz="1000" i="1" dirty="0">
                <a:cs typeface="Times New Roman" panose="02020603050405020304" pitchFamily="18" charset="0"/>
              </a:rPr>
              <a:t>Journal of Structural Geology</a:t>
            </a:r>
            <a:r>
              <a:rPr lang="en-GB" altLang="en-US" sz="1000" dirty="0">
                <a:cs typeface="Times New Roman" panose="02020603050405020304" pitchFamily="18" charset="0"/>
              </a:rPr>
              <a:t> 23: 247-258, </a:t>
            </a:r>
            <a:r>
              <a:rPr lang="en-GB" sz="1000" dirty="0"/>
              <a:t>https://doi.org/10.1016/S0191-8141(00)00094-8</a:t>
            </a:r>
            <a:r>
              <a:rPr lang="en-GB" altLang="en-US" sz="1000" dirty="0">
                <a:cs typeface="Times New Roman" panose="02020603050405020304" pitchFamily="18" charset="0"/>
              </a:rPr>
              <a:t>. Reliable estimates of mean trace length require </a:t>
            </a:r>
            <a:r>
              <a:rPr lang="en-GB" altLang="en-US" sz="1000" i="1" dirty="0">
                <a:cs typeface="Times New Roman" panose="02020603050405020304" pitchFamily="18" charset="0"/>
              </a:rPr>
              <a:t>m</a:t>
            </a:r>
            <a:r>
              <a:rPr lang="en-GB" altLang="en-US" sz="1000" dirty="0">
                <a:cs typeface="Times New Roman" panose="02020603050405020304" pitchFamily="18" charset="0"/>
              </a:rPr>
              <a:t> &gt; 30. This can be achieved by combining the results from several circles in different locations at the sample site. To make these measurements in the field, take a metre long piece of string or rope and some chalk into the field. F</a:t>
            </a:r>
            <a:r>
              <a:rPr lang="en-GB" altLang="en-US" sz="1000" dirty="0"/>
              <a:t>or an example of the practicalities, see Procter &amp; Sanderson, 2018, </a:t>
            </a:r>
            <a:r>
              <a:rPr lang="en-GB" altLang="en-US" sz="1000" i="1" dirty="0"/>
              <a:t>Journal of Structural Geology </a:t>
            </a:r>
            <a:r>
              <a:rPr lang="en-GB" altLang="en-US" sz="1000" i="0" dirty="0"/>
              <a:t>108: 52-65, </a:t>
            </a:r>
            <a:r>
              <a:rPr lang="en-GB" sz="1000" dirty="0"/>
              <a:t>https://doi.org/10.1016/j.jsg.2017.07.008</a:t>
            </a:r>
            <a:endParaRPr lang="en-GB" altLang="en-US" sz="1000" dirty="0">
              <a:cs typeface="Times New Roman" panose="02020603050405020304" pitchFamily="18" charset="0"/>
            </a:endParaRPr>
          </a:p>
          <a:p>
            <a:pPr marL="108000" indent="-108000">
              <a:spcBef>
                <a:spcPts val="300"/>
              </a:spcBef>
              <a:buFont typeface="Arial" panose="020B0604020202020204" pitchFamily="34" charset="0"/>
              <a:buChar char="•"/>
            </a:pPr>
            <a:r>
              <a:rPr lang="en-GB" altLang="en-US" sz="1000" dirty="0">
                <a:cs typeface="Times New Roman" panose="02020603050405020304" pitchFamily="18" charset="0"/>
              </a:rPr>
              <a:t>Figure bottom right (modified by Steve Covey-Crump from </a:t>
            </a:r>
            <a:r>
              <a:rPr lang="en-GB" altLang="en-US" sz="1000" dirty="0"/>
              <a:t>Sanderson &amp; Nixon, 2015, </a:t>
            </a:r>
            <a:r>
              <a:rPr lang="en-GB" altLang="en-US" sz="1000" i="1" dirty="0"/>
              <a:t>Journal of Structural Geology</a:t>
            </a:r>
            <a:r>
              <a:rPr lang="en-GB" altLang="en-US" sz="1000" dirty="0"/>
              <a:t> 72: 55-66, </a:t>
            </a:r>
            <a:r>
              <a:rPr lang="en-GB" sz="1000" dirty="0"/>
              <a:t>https://doi.org/10.1016/j.jsg.2015.01.005</a:t>
            </a:r>
            <a:r>
              <a:rPr lang="en-GB" altLang="en-US" sz="1000" dirty="0"/>
              <a:t>): showing the different fracture network topologies obtained by comparing counts of fracture tips (orange circles in the figure to the left = node type I), fracture intersections where one fracture terminates against another (blue triangles in the figure to the left = node type Y), and fracture intersections where one fracture crosses another (green squares in the figure to the left = node type X). The triangular plot shows the proportions of node types for several different fracture networks</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58" name="Rectangle 2">
            <a:extLst>
              <a:ext uri="{FF2B5EF4-FFF2-40B4-BE49-F238E27FC236}">
                <a16:creationId xmlns:a16="http://schemas.microsoft.com/office/drawing/2014/main" id="{8370ACC5-9606-4C37-87B5-A09B91965D19}"/>
              </a:ext>
            </a:extLst>
          </p:cNvPr>
          <p:cNvSpPr>
            <a:spLocks noGrp="1" noRot="1" noChangeAspect="1" noChangeArrowheads="1" noTextEdit="1"/>
          </p:cNvSpPr>
          <p:nvPr>
            <p:ph type="sldImg"/>
          </p:nvPr>
        </p:nvSpPr>
        <p:spPr>
          <a:ln/>
        </p:spPr>
      </p:sp>
      <p:sp>
        <p:nvSpPr>
          <p:cNvPr id="429059" name="Rectangle 3">
            <a:extLst>
              <a:ext uri="{FF2B5EF4-FFF2-40B4-BE49-F238E27FC236}">
                <a16:creationId xmlns:a16="http://schemas.microsoft.com/office/drawing/2014/main" id="{ADB0CBC6-01FA-4471-9CDC-3DC3CCE50F75}"/>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Examples of fracture spacing studies include: </a:t>
            </a:r>
            <a:r>
              <a:rPr lang="en-GB" altLang="en-US" sz="1000" dirty="0" err="1"/>
              <a:t>Ladeira</a:t>
            </a:r>
            <a:r>
              <a:rPr lang="en-GB" altLang="en-US" sz="1000" dirty="0"/>
              <a:t> &amp; Price, 1981, </a:t>
            </a:r>
            <a:r>
              <a:rPr lang="en-GB" altLang="en-US" sz="1000" i="1" dirty="0"/>
              <a:t>Journal of Structural Geology</a:t>
            </a:r>
            <a:r>
              <a:rPr lang="en-GB" altLang="en-US" sz="1000" dirty="0"/>
              <a:t> 3: 179-183, </a:t>
            </a:r>
            <a:r>
              <a:rPr lang="en-GB" sz="1000" dirty="0"/>
              <a:t>https://doi.org/10.1016/0191-8141(81)90013-4;</a:t>
            </a:r>
            <a:r>
              <a:rPr lang="en-GB" altLang="en-US" sz="1000" dirty="0"/>
              <a:t> and </a:t>
            </a:r>
            <a:r>
              <a:rPr lang="en-GB" altLang="en-US" sz="1000" dirty="0" err="1"/>
              <a:t>Narr</a:t>
            </a:r>
            <a:r>
              <a:rPr lang="en-GB" altLang="en-US" sz="1000" dirty="0"/>
              <a:t> &amp; </a:t>
            </a:r>
            <a:r>
              <a:rPr lang="en-GB" altLang="en-US" sz="1000" dirty="0" err="1"/>
              <a:t>Suppe</a:t>
            </a:r>
            <a:r>
              <a:rPr lang="en-GB" altLang="en-US" sz="1000" dirty="0"/>
              <a:t>, 1991, </a:t>
            </a:r>
            <a:r>
              <a:rPr lang="en-GB" altLang="en-US" sz="1000" i="1" dirty="0"/>
              <a:t>Journal of Structural Geology</a:t>
            </a:r>
            <a:r>
              <a:rPr lang="en-GB" altLang="en-US" sz="1000" dirty="0"/>
              <a:t> 13: 1037-1048, </a:t>
            </a:r>
            <a:r>
              <a:rPr lang="en-GB" sz="1000" dirty="0"/>
              <a:t>https://doi.org/10.1016/0191-8141(91)90055-N</a:t>
            </a:r>
            <a:endParaRPr lang="en-GB" altLang="en-US" sz="1000" dirty="0"/>
          </a:p>
          <a:p>
            <a:pPr marL="108000" indent="-108000">
              <a:spcBef>
                <a:spcPts val="300"/>
              </a:spcBef>
              <a:buFont typeface="Arial" panose="020B0604020202020204" pitchFamily="34" charset="0"/>
              <a:buChar char="•"/>
            </a:pPr>
            <a:r>
              <a:rPr lang="en-GB" altLang="en-US" sz="1000" dirty="0"/>
              <a:t>A study of the effect of changing bed rigidity on joint spacing that was carried out at </a:t>
            </a:r>
            <a:r>
              <a:rPr lang="en-GB" altLang="en-US" sz="1000" dirty="0" err="1"/>
              <a:t>Oliana</a:t>
            </a:r>
            <a:r>
              <a:rPr lang="en-GB" altLang="en-US" sz="1000" dirty="0"/>
              <a:t> (NE Spain) is Shackleton </a:t>
            </a:r>
            <a:r>
              <a:rPr lang="en-GB" altLang="en-US" sz="1000" i="1" dirty="0"/>
              <a:t>et al.</a:t>
            </a:r>
            <a:r>
              <a:rPr lang="en-GB" altLang="en-US" sz="1000" dirty="0"/>
              <a:t>, 2005, </a:t>
            </a:r>
            <a:r>
              <a:rPr lang="en-GB" altLang="en-US" sz="1000" i="1" dirty="0"/>
              <a:t>Geology</a:t>
            </a:r>
            <a:r>
              <a:rPr lang="en-GB" altLang="en-US" sz="1000" dirty="0"/>
              <a:t> 33: 101-104, </a:t>
            </a:r>
            <a:r>
              <a:rPr lang="en-GB" sz="1000" dirty="0"/>
              <a:t>https://doi.org/</a:t>
            </a:r>
            <a:r>
              <a:rPr lang="en-GB" sz="1000" dirty="0">
                <a:effectLst/>
                <a:latin typeface="Times New Roman" panose="02020603050405020304" pitchFamily="18" charset="0"/>
              </a:rPr>
              <a:t>10.1130/G20930.1</a:t>
            </a:r>
            <a:endParaRPr lang="en-GB" altLang="en-US" sz="1000" dirty="0"/>
          </a:p>
          <a:p>
            <a:pPr marL="108000" indent="-108000">
              <a:spcBef>
                <a:spcPts val="300"/>
              </a:spcBef>
              <a:buFont typeface="Arial" panose="020B0604020202020204" pitchFamily="34" charset="0"/>
              <a:buChar char="•"/>
            </a:pPr>
            <a:r>
              <a:rPr lang="en-GB" altLang="en-US" sz="1000" dirty="0"/>
              <a:t>Theoretical studies of the controls on joint spacing (</a:t>
            </a:r>
            <a:r>
              <a:rPr lang="en-GB" altLang="en-US" sz="1000" i="1" dirty="0"/>
              <a:t>e.g.</a:t>
            </a:r>
            <a:r>
              <a:rPr lang="en-GB" altLang="en-US" sz="1000" dirty="0"/>
              <a:t>, Jain </a:t>
            </a:r>
            <a:r>
              <a:rPr lang="en-GB" altLang="en-US" sz="1000" i="1" dirty="0"/>
              <a:t>et al.</a:t>
            </a:r>
            <a:r>
              <a:rPr lang="en-GB" altLang="en-US" sz="1000" dirty="0"/>
              <a:t>, 2007, </a:t>
            </a:r>
            <a:r>
              <a:rPr lang="en-GB" altLang="en-US" sz="1000" i="1" dirty="0"/>
              <a:t>Journal of Structural Geology</a:t>
            </a:r>
            <a:r>
              <a:rPr lang="en-GB" altLang="en-US" sz="1000" dirty="0"/>
              <a:t> 29: 288-297, </a:t>
            </a:r>
            <a:r>
              <a:rPr lang="en-GB" sz="1000" dirty="0"/>
              <a:t>https://doi.org/</a:t>
            </a:r>
            <a:r>
              <a:rPr lang="pt-BR" sz="1000" dirty="0">
                <a:effectLst/>
                <a:latin typeface="Times New Roman" panose="02020603050405020304" pitchFamily="18" charset="0"/>
              </a:rPr>
              <a:t>10.1016/j.jsg.2006.08.010</a:t>
            </a:r>
            <a:r>
              <a:rPr lang="en-GB" altLang="en-US" sz="1000" dirty="0"/>
              <a:t>; </a:t>
            </a:r>
            <a:r>
              <a:rPr lang="en-GB" altLang="en-US" sz="1000" dirty="0" err="1"/>
              <a:t>Sch</a:t>
            </a:r>
            <a:r>
              <a:rPr lang="en-US" altLang="en-US" sz="1000" dirty="0" err="1">
                <a:cs typeface="Times New Roman" panose="02020603050405020304" pitchFamily="18" charset="0"/>
              </a:rPr>
              <a:t>öpfer</a:t>
            </a:r>
            <a:r>
              <a:rPr lang="en-US" altLang="en-US" sz="1000" dirty="0">
                <a:cs typeface="Times New Roman" panose="02020603050405020304" pitchFamily="18" charset="0"/>
              </a:rPr>
              <a:t> </a:t>
            </a:r>
            <a:r>
              <a:rPr lang="en-US" altLang="en-US" sz="1000" i="1" dirty="0">
                <a:cs typeface="Times New Roman" panose="02020603050405020304" pitchFamily="18" charset="0"/>
              </a:rPr>
              <a:t>et al.</a:t>
            </a:r>
            <a:r>
              <a:rPr lang="en-US" altLang="en-US" sz="1000" dirty="0">
                <a:cs typeface="Times New Roman" panose="02020603050405020304" pitchFamily="18" charset="0"/>
              </a:rPr>
              <a:t>, 2011, </a:t>
            </a:r>
            <a:r>
              <a:rPr lang="en-US" altLang="en-US" sz="1000" i="1" dirty="0">
                <a:cs typeface="Times New Roman" panose="02020603050405020304" pitchFamily="18" charset="0"/>
              </a:rPr>
              <a:t>Journal of Structural Geology</a:t>
            </a:r>
            <a:r>
              <a:rPr lang="en-US" altLang="en-US" sz="1000" dirty="0">
                <a:cs typeface="Times New Roman" panose="02020603050405020304" pitchFamily="18" charset="0"/>
              </a:rPr>
              <a:t> 33: 551-565, </a:t>
            </a:r>
            <a:r>
              <a:rPr lang="en-GB" sz="1000" dirty="0"/>
              <a:t>https://doi.org/</a:t>
            </a:r>
            <a:r>
              <a:rPr lang="en-GB" sz="1000" dirty="0">
                <a:latin typeface="Times New Roman" panose="02020603050405020304" pitchFamily="18" charset="0"/>
                <a:cs typeface="Times New Roman" panose="02020603050405020304" pitchFamily="18" charset="0"/>
              </a:rPr>
              <a:t>10.1016/j.jsg.2011.01.008</a:t>
            </a:r>
            <a:r>
              <a:rPr lang="en-US" altLang="en-US" sz="1000" dirty="0">
                <a:latin typeface="Times New Roman" panose="02020603050405020304" pitchFamily="18" charset="0"/>
                <a:cs typeface="Times New Roman" panose="02020603050405020304" pitchFamily="18" charset="0"/>
              </a:rPr>
              <a:t>; and references therein) </a:t>
            </a:r>
            <a:r>
              <a:rPr lang="en-GB" altLang="en-US" sz="1000" dirty="0"/>
              <a:t>are beyond the level of this course </a:t>
            </a:r>
            <a:r>
              <a:rPr lang="en-US" altLang="en-US" sz="1000" dirty="0">
                <a:latin typeface="Times New Roman" panose="02020603050405020304" pitchFamily="18" charset="0"/>
                <a:cs typeface="Times New Roman" panose="02020603050405020304" pitchFamily="18" charset="0"/>
              </a:rPr>
              <a:t>but see some introductory remarks in Twiss &amp; </a:t>
            </a:r>
            <a:r>
              <a:rPr lang="en-US" altLang="en-US" sz="1000" dirty="0" err="1">
                <a:latin typeface="Times New Roman" panose="02020603050405020304" pitchFamily="18" charset="0"/>
                <a:cs typeface="Times New Roman" panose="02020603050405020304" pitchFamily="18" charset="0"/>
              </a:rPr>
              <a:t>Moores</a:t>
            </a:r>
            <a:r>
              <a:rPr lang="en-US" altLang="en-US" sz="1000" dirty="0">
                <a:latin typeface="Times New Roman" panose="02020603050405020304" pitchFamily="18" charset="0"/>
                <a:cs typeface="Times New Roman" panose="02020603050405020304" pitchFamily="18" charset="0"/>
              </a:rPr>
              <a:t>, p.250-251</a:t>
            </a:r>
          </a:p>
          <a:p>
            <a:pPr marL="108000" indent="-108000">
              <a:spcBef>
                <a:spcPts val="300"/>
              </a:spcBef>
              <a:buFont typeface="Arial" panose="020B0604020202020204" pitchFamily="34" charset="0"/>
              <a:buChar char="•"/>
            </a:pPr>
            <a:endParaRPr lang="en-US" altLang="en-US" sz="1000" dirty="0">
              <a:latin typeface="Times New Roman" panose="02020603050405020304" pitchFamily="18" charset="0"/>
              <a:cs typeface="Times New Roman" panose="02020603050405020304" pitchFamily="18" charset="0"/>
            </a:endParaRPr>
          </a:p>
          <a:p>
            <a:pPr marL="108000" indent="-108000" algn="l">
              <a:spcBef>
                <a:spcPts val="300"/>
              </a:spcBef>
              <a:buFont typeface="Arial" panose="020B0604020202020204" pitchFamily="34" charset="0"/>
              <a:buChar char="•"/>
            </a:pPr>
            <a:r>
              <a:rPr lang="en-US" altLang="en-US" sz="1000" dirty="0">
                <a:latin typeface="Times New Roman" panose="02020603050405020304" pitchFamily="18" charset="0"/>
                <a:cs typeface="Times New Roman" panose="02020603050405020304" pitchFamily="18" charset="0"/>
              </a:rPr>
              <a:t>For comments on the statistics of fracture spacings, see Hobbs </a:t>
            </a:r>
            <a:r>
              <a:rPr lang="en-US" altLang="en-US" sz="1000" i="1" dirty="0">
                <a:latin typeface="Times New Roman" panose="02020603050405020304" pitchFamily="18" charset="0"/>
                <a:cs typeface="Times New Roman" panose="02020603050405020304" pitchFamily="18" charset="0"/>
              </a:rPr>
              <a:t>et al.</a:t>
            </a:r>
            <a:r>
              <a:rPr lang="en-US" altLang="en-US" sz="1000" i="0" dirty="0">
                <a:latin typeface="Times New Roman" panose="02020603050405020304" pitchFamily="18" charset="0"/>
                <a:cs typeface="Times New Roman" panose="02020603050405020304" pitchFamily="18" charset="0"/>
              </a:rPr>
              <a:t>, 2022, </a:t>
            </a:r>
            <a:r>
              <a:rPr lang="en-US" sz="1000" b="0" i="1" u="none" strike="noStrike" baseline="0" dirty="0">
                <a:solidFill>
                  <a:srgbClr val="0A80BB"/>
                </a:solidFill>
                <a:latin typeface="Times New Roman" panose="02020603050405020304" pitchFamily="18" charset="0"/>
                <a:cs typeface="Times New Roman" panose="02020603050405020304" pitchFamily="18" charset="0"/>
              </a:rPr>
              <a:t>Journal of Structural Geology </a:t>
            </a:r>
            <a:r>
              <a:rPr lang="en-US" sz="1000" b="0" i="0" u="none" strike="noStrike" baseline="0" dirty="0">
                <a:solidFill>
                  <a:srgbClr val="0A80BB"/>
                </a:solidFill>
                <a:latin typeface="Times New Roman" panose="02020603050405020304" pitchFamily="18" charset="0"/>
                <a:cs typeface="Times New Roman" panose="02020603050405020304" pitchFamily="18" charset="0"/>
              </a:rPr>
              <a:t>156, article 104529, </a:t>
            </a:r>
            <a:r>
              <a:rPr lang="en-GB" sz="1000" b="0" i="0" u="none" strike="noStrike" baseline="0" dirty="0">
                <a:solidFill>
                  <a:srgbClr val="2196D1"/>
                </a:solidFill>
                <a:latin typeface="Times New Roman" panose="02020603050405020304" pitchFamily="18" charset="0"/>
                <a:cs typeface="Times New Roman" panose="02020603050405020304" pitchFamily="18" charset="0"/>
              </a:rPr>
              <a:t>https://doi.org/10.1016/j.jsg.2022.104529</a:t>
            </a:r>
          </a:p>
          <a:p>
            <a:pPr algn="l"/>
            <a:endParaRPr lang="en-GB" altLang="en-US" sz="1000" dirty="0"/>
          </a:p>
          <a:p>
            <a:pPr marL="108000" indent="-108000">
              <a:spcBef>
                <a:spcPts val="300"/>
              </a:spcBef>
              <a:buFont typeface="Arial" panose="020B0604020202020204" pitchFamily="34" charset="0"/>
              <a:buChar char="•"/>
            </a:pPr>
            <a:r>
              <a:rPr lang="en-GB" altLang="en-US" sz="1000" dirty="0"/>
              <a:t>Photo left (from https://commons.wikimedia.org/wiki/File:Joint_spacing_varying_with_bed_thickness.jpg): variation of joint spacing with bed thickness, Jurassic units, </a:t>
            </a:r>
            <a:r>
              <a:rPr lang="en-GB" altLang="en-US" sz="1000" dirty="0" err="1"/>
              <a:t>Lilstock</a:t>
            </a:r>
            <a:r>
              <a:rPr lang="en-GB" altLang="en-US" sz="1000" dirty="0"/>
              <a:t> Bay, Somerset. Note that the thick beds have more widely spaced joints</a:t>
            </a:r>
          </a:p>
          <a:p>
            <a:pPr marL="108000" indent="-108000">
              <a:spcBef>
                <a:spcPts val="300"/>
              </a:spcBef>
              <a:buFont typeface="Arial" panose="020B0604020202020204" pitchFamily="34" charset="0"/>
              <a:buChar char="•"/>
            </a:pPr>
            <a:r>
              <a:rPr lang="en-GB" altLang="en-US" sz="1000" dirty="0"/>
              <a:t>Photo top right (from </a:t>
            </a:r>
            <a:r>
              <a:rPr lang="en-GB" altLang="en-US" sz="1000" dirty="0" err="1"/>
              <a:t>Sch</a:t>
            </a:r>
            <a:r>
              <a:rPr lang="en-US" altLang="en-US" sz="1000" dirty="0" err="1">
                <a:cs typeface="Times New Roman" panose="02020603050405020304" pitchFamily="18" charset="0"/>
              </a:rPr>
              <a:t>öpfer</a:t>
            </a:r>
            <a:r>
              <a:rPr lang="en-US" altLang="en-US" sz="1000" dirty="0">
                <a:cs typeface="Times New Roman" panose="02020603050405020304" pitchFamily="18" charset="0"/>
              </a:rPr>
              <a:t> </a:t>
            </a:r>
            <a:r>
              <a:rPr lang="en-US" altLang="en-US" sz="1000" i="1" dirty="0">
                <a:cs typeface="Times New Roman" panose="02020603050405020304" pitchFamily="18" charset="0"/>
              </a:rPr>
              <a:t>et al.</a:t>
            </a:r>
            <a:r>
              <a:rPr lang="en-US" altLang="en-US" sz="1000" dirty="0">
                <a:cs typeface="Times New Roman" panose="02020603050405020304" pitchFamily="18" charset="0"/>
              </a:rPr>
              <a:t>, 2011, </a:t>
            </a:r>
            <a:r>
              <a:rPr lang="en-US" altLang="en-US" sz="1000" i="1" dirty="0">
                <a:cs typeface="Times New Roman" panose="02020603050405020304" pitchFamily="18" charset="0"/>
              </a:rPr>
              <a:t>Journal of Structural Geology</a:t>
            </a:r>
            <a:r>
              <a:rPr lang="en-US" altLang="en-US" sz="1000" dirty="0">
                <a:cs typeface="Times New Roman" panose="02020603050405020304" pitchFamily="18" charset="0"/>
              </a:rPr>
              <a:t> 33: 551-565, </a:t>
            </a:r>
            <a:r>
              <a:rPr lang="en-GB" sz="1000" dirty="0"/>
              <a:t>https://doi.org/10.1016/j.jsg.2011.01.008</a:t>
            </a:r>
            <a:r>
              <a:rPr lang="en-US" altLang="en-US" sz="1000" dirty="0">
                <a:cs typeface="Times New Roman" panose="02020603050405020304" pitchFamily="18" charset="0"/>
              </a:rPr>
              <a:t>): joint spacing approximately equal to bed thickness, </a:t>
            </a:r>
            <a:r>
              <a:rPr lang="en-US" altLang="en-US" sz="1000" dirty="0" err="1">
                <a:cs typeface="Times New Roman" panose="02020603050405020304" pitchFamily="18" charset="0"/>
              </a:rPr>
              <a:t>Lilstock</a:t>
            </a:r>
            <a:r>
              <a:rPr lang="en-US" altLang="en-US" sz="1000" dirty="0">
                <a:cs typeface="Times New Roman" panose="02020603050405020304" pitchFamily="18" charset="0"/>
              </a:rPr>
              <a:t> Bay, Somerset</a:t>
            </a:r>
          </a:p>
          <a:p>
            <a:pPr marL="108000" indent="-108000">
              <a:spcBef>
                <a:spcPts val="300"/>
              </a:spcBef>
              <a:buFont typeface="Arial" panose="020B0604020202020204" pitchFamily="34" charset="0"/>
              <a:buChar char="•"/>
            </a:pPr>
            <a:r>
              <a:rPr lang="en-GB" altLang="en-US" sz="1000" dirty="0"/>
              <a:t>Figure middle (from Fossen, p.162): relationship between joint spacing and bed thickness from three studies</a:t>
            </a:r>
          </a:p>
          <a:p>
            <a:pPr marL="108000" indent="-108000">
              <a:spcBef>
                <a:spcPts val="300"/>
              </a:spcBef>
              <a:buFont typeface="Arial" panose="020B0604020202020204" pitchFamily="34" charset="0"/>
              <a:buChar char="•"/>
            </a:pPr>
            <a:r>
              <a:rPr lang="en-GB" altLang="en-US" sz="1000" dirty="0"/>
              <a:t>Figure bottom right (from J-P Burg’s 2016 lecture notes, www.files.ethz.ch/structuralgeology/JPB/files/English/4joints.pdf, p.132): relationship between joint spacing and bed rigidity</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2">
            <a:extLst>
              <a:ext uri="{FF2B5EF4-FFF2-40B4-BE49-F238E27FC236}">
                <a16:creationId xmlns:a16="http://schemas.microsoft.com/office/drawing/2014/main" id="{B7D79CAA-3BC5-465C-BCC7-6394E6AD3B3D}"/>
              </a:ext>
            </a:extLst>
          </p:cNvPr>
          <p:cNvSpPr>
            <a:spLocks noGrp="1" noRot="1" noChangeAspect="1" noChangeArrowheads="1" noTextEdit="1"/>
          </p:cNvSpPr>
          <p:nvPr>
            <p:ph type="sldImg"/>
          </p:nvPr>
        </p:nvSpPr>
        <p:spPr>
          <a:ln/>
        </p:spPr>
      </p:sp>
      <p:sp>
        <p:nvSpPr>
          <p:cNvPr id="303107" name="Rectangle 3">
            <a:extLst>
              <a:ext uri="{FF2B5EF4-FFF2-40B4-BE49-F238E27FC236}">
                <a16:creationId xmlns:a16="http://schemas.microsoft.com/office/drawing/2014/main" id="{71A1EAF6-8ABB-4D90-A4BD-4DD41FDA4E09}"/>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Photo (Steve Covey-Crump): fracture ‘refraction’ within metamorphosed sandstones, </a:t>
            </a:r>
            <a:r>
              <a:rPr lang="en-GB" altLang="en-US" sz="1000" dirty="0" err="1"/>
              <a:t>Moine</a:t>
            </a:r>
            <a:r>
              <a:rPr lang="en-GB" altLang="en-US" sz="1000" dirty="0"/>
              <a:t> metasedimentary units, Ross of Mull, Scotland</a:t>
            </a:r>
          </a:p>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a:t>Figure (from Twiss &amp; </a:t>
            </a:r>
            <a:r>
              <a:rPr lang="en-GB" altLang="en-US" sz="1000" dirty="0" err="1"/>
              <a:t>Moores</a:t>
            </a:r>
            <a:r>
              <a:rPr lang="en-GB" altLang="en-US" sz="1000" dirty="0"/>
              <a:t>, p.43, but deriving from </a:t>
            </a:r>
            <a:r>
              <a:rPr lang="en-GB" altLang="en-US" sz="1000" dirty="0" err="1"/>
              <a:t>Nichelsen</a:t>
            </a:r>
            <a:r>
              <a:rPr lang="en-GB" altLang="en-US" sz="1000" dirty="0"/>
              <a:t> &amp; Hough, 1967, </a:t>
            </a:r>
            <a:r>
              <a:rPr lang="en-GB" altLang="en-US" sz="1000" i="1" dirty="0"/>
              <a:t>Geological Society of America Bulletin</a:t>
            </a:r>
            <a:r>
              <a:rPr lang="en-GB" altLang="en-US" sz="1000" dirty="0"/>
              <a:t> 78: 609-630, </a:t>
            </a:r>
            <a:r>
              <a:rPr lang="en-GB" sz="1000" dirty="0"/>
              <a:t>https://doi.org/10.1130/0016-7606(1967)78[609:JITAPO]2.0.CO;2</a:t>
            </a:r>
            <a:r>
              <a:rPr lang="en-GB" altLang="en-US" sz="1000" dirty="0"/>
              <a:t>): rose diagram of joint data from the Houtzdale quadrangle on the Appalachian Plateau. Note the difference in orientation of the joints in the two lithologies</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Rectangle 2">
            <a:extLst>
              <a:ext uri="{FF2B5EF4-FFF2-40B4-BE49-F238E27FC236}">
                <a16:creationId xmlns:a16="http://schemas.microsoft.com/office/drawing/2014/main" id="{C69D762F-53DD-42AD-85E9-FCB689DC0425}"/>
              </a:ext>
            </a:extLst>
          </p:cNvPr>
          <p:cNvSpPr>
            <a:spLocks noGrp="1" noRot="1" noChangeAspect="1" noChangeArrowheads="1" noTextEdit="1"/>
          </p:cNvSpPr>
          <p:nvPr>
            <p:ph type="sldImg"/>
          </p:nvPr>
        </p:nvSpPr>
        <p:spPr>
          <a:ln/>
        </p:spPr>
      </p:sp>
      <p:sp>
        <p:nvSpPr>
          <p:cNvPr id="318467" name="Rectangle 3">
            <a:extLst>
              <a:ext uri="{FF2B5EF4-FFF2-40B4-BE49-F238E27FC236}">
                <a16:creationId xmlns:a16="http://schemas.microsoft.com/office/drawing/2014/main" id="{F333A21E-F5E0-4904-BB2B-79040F9B8AFE}"/>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The relevant bit of the last class was the discussion of the uniaxial strain reference state for horizontal stresses in the lithosphere (Class 5 Slide 29). In the uniaxial reference state, the horizontal stresses are about 0.33 to 0.5 times the vertical stress </a:t>
            </a:r>
          </a:p>
          <a:p>
            <a:pPr marL="108000" indent="-108000">
              <a:spcBef>
                <a:spcPts val="300"/>
              </a:spcBef>
              <a:buFont typeface="Arial" panose="020B0604020202020204" pitchFamily="34" charset="0"/>
              <a:buChar char="•"/>
            </a:pPr>
            <a:r>
              <a:rPr lang="en-GB" altLang="en-US" sz="1000" dirty="0"/>
              <a:t>Photo (from Fossen, p.91): joints in the Permian sandstones of the Colorado Plateau, exposed in the Colorado River</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2">
            <a:extLst>
              <a:ext uri="{FF2B5EF4-FFF2-40B4-BE49-F238E27FC236}">
                <a16:creationId xmlns:a16="http://schemas.microsoft.com/office/drawing/2014/main" id="{540D89A2-BFDC-4763-A027-53A962E48586}"/>
              </a:ext>
            </a:extLst>
          </p:cNvPr>
          <p:cNvSpPr>
            <a:spLocks noGrp="1" noRot="1" noChangeAspect="1" noChangeArrowheads="1" noTextEdit="1"/>
          </p:cNvSpPr>
          <p:nvPr>
            <p:ph type="sldImg"/>
          </p:nvPr>
        </p:nvSpPr>
        <p:spPr>
          <a:ln/>
        </p:spPr>
      </p:sp>
      <p:sp>
        <p:nvSpPr>
          <p:cNvPr id="320515" name="Rectangle 3">
            <a:extLst>
              <a:ext uri="{FF2B5EF4-FFF2-40B4-BE49-F238E27FC236}">
                <a16:creationId xmlns:a16="http://schemas.microsoft.com/office/drawing/2014/main" id="{22743DF0-8427-41A9-9F2D-435D18E3264E}"/>
              </a:ext>
            </a:extLst>
          </p:cNvPr>
          <p:cNvSpPr>
            <a:spLocks noGrp="1" noChangeArrowheads="1"/>
          </p:cNvSpPr>
          <p:nvPr>
            <p:ph type="body" idx="1"/>
          </p:nvPr>
        </p:nvSpPr>
        <p:spPr>
          <a:noFill/>
        </p:spPr>
        <p:txBody>
          <a:bodyPr/>
          <a:lstStyle/>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a:t>The model predicting the stresses within a rectangular block subjected to horizontal compressive loading was first presented by Hafner, 1951, </a:t>
            </a:r>
            <a:r>
              <a:rPr lang="en-GB" altLang="en-US" sz="1000" i="1" dirty="0"/>
              <a:t>Geological Society of America Bulletin</a:t>
            </a:r>
            <a:r>
              <a:rPr lang="en-GB" altLang="en-US" sz="1000" dirty="0"/>
              <a:t> 62: 373-398, </a:t>
            </a:r>
            <a:r>
              <a:rPr lang="en-GB" sz="1000" dirty="0"/>
              <a:t>https://doi.org/10.1130/0016-7606(1951)62[373:SDAF]2.0.CO;2</a:t>
            </a:r>
            <a:r>
              <a:rPr lang="en-GB" altLang="en-US" sz="1000" dirty="0"/>
              <a:t> (see also Twiss and </a:t>
            </a:r>
            <a:r>
              <a:rPr lang="en-GB" altLang="en-US" sz="1000" dirty="0" err="1"/>
              <a:t>Moores</a:t>
            </a:r>
            <a:r>
              <a:rPr lang="en-GB" altLang="en-US" sz="1000" dirty="0"/>
              <a:t>’ worked problem, p.201-208, although that does not consider the stresses within the block). The interpretation of the orientation of the fractures that Hafner’s model implies in foreland sediments is described in Price &amp; Cosgrove, p.212-213; their Chapter 9 contains much else that is of interest for interpreting regional vertical fracture sets</a:t>
            </a:r>
          </a:p>
          <a:p>
            <a:pPr marL="108000" indent="-108000">
              <a:spcBef>
                <a:spcPts val="300"/>
              </a:spcBef>
              <a:buFont typeface="Arial" panose="020B0604020202020204" pitchFamily="34" charset="0"/>
              <a:buChar char="•"/>
            </a:pPr>
            <a:r>
              <a:rPr lang="en-GB" altLang="en-US" sz="1000" dirty="0"/>
              <a:t>Figure from Price &amp; Cosgrove, p.213</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Rectangle 2">
            <a:extLst>
              <a:ext uri="{FF2B5EF4-FFF2-40B4-BE49-F238E27FC236}">
                <a16:creationId xmlns:a16="http://schemas.microsoft.com/office/drawing/2014/main" id="{6FD0DDE9-BE3E-4A96-AF15-646DA856C39B}"/>
              </a:ext>
            </a:extLst>
          </p:cNvPr>
          <p:cNvSpPr>
            <a:spLocks noGrp="1" noRot="1" noChangeAspect="1" noChangeArrowheads="1" noTextEdit="1"/>
          </p:cNvSpPr>
          <p:nvPr>
            <p:ph type="sldImg"/>
          </p:nvPr>
        </p:nvSpPr>
        <p:spPr>
          <a:ln/>
        </p:spPr>
      </p:sp>
      <p:sp>
        <p:nvSpPr>
          <p:cNvPr id="306179" name="Rectangle 3">
            <a:extLst>
              <a:ext uri="{FF2B5EF4-FFF2-40B4-BE49-F238E27FC236}">
                <a16:creationId xmlns:a16="http://schemas.microsoft.com/office/drawing/2014/main" id="{1469195A-C0B9-45CC-83F2-8BBBE632D49D}"/>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This rose diagram shows the virtue in being imaginative in selecting the plane for the diagram – it does not have to be the horizontal plane</a:t>
            </a:r>
          </a:p>
          <a:p>
            <a:pPr marL="108000" indent="-108000">
              <a:spcBef>
                <a:spcPts val="300"/>
              </a:spcBef>
              <a:buFont typeface="Arial" panose="020B0604020202020204" pitchFamily="34" charset="0"/>
              <a:buChar char="•"/>
            </a:pPr>
            <a:r>
              <a:rPr lang="en-GB" altLang="en-US" sz="1000" dirty="0"/>
              <a:t>Figure from Twiss &amp; </a:t>
            </a:r>
            <a:r>
              <a:rPr lang="en-GB" altLang="en-US" sz="1000" dirty="0" err="1"/>
              <a:t>Moores</a:t>
            </a:r>
            <a:r>
              <a:rPr lang="en-GB" altLang="en-US" sz="1000" dirty="0"/>
              <a:t>, p.57</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2">
            <a:extLst>
              <a:ext uri="{FF2B5EF4-FFF2-40B4-BE49-F238E27FC236}">
                <a16:creationId xmlns:a16="http://schemas.microsoft.com/office/drawing/2014/main" id="{482E5887-5E72-4597-AC2A-EC5184206F11}"/>
              </a:ext>
            </a:extLst>
          </p:cNvPr>
          <p:cNvSpPr>
            <a:spLocks noGrp="1" noRot="1" noChangeAspect="1" noChangeArrowheads="1" noTextEdit="1"/>
          </p:cNvSpPr>
          <p:nvPr>
            <p:ph type="sldImg"/>
          </p:nvPr>
        </p:nvSpPr>
        <p:spPr>
          <a:ln/>
        </p:spPr>
      </p:sp>
      <p:sp>
        <p:nvSpPr>
          <p:cNvPr id="308227" name="Rectangle 3">
            <a:extLst>
              <a:ext uri="{FF2B5EF4-FFF2-40B4-BE49-F238E27FC236}">
                <a16:creationId xmlns:a16="http://schemas.microsoft.com/office/drawing/2014/main" id="{BAA18240-B39C-4C19-B058-590FCC03787E}"/>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For an example of an analysis of fractures around a fold which concludes that they probably formed before buckling, see </a:t>
            </a:r>
            <a:r>
              <a:rPr lang="en-GB" altLang="en-US" sz="1000" dirty="0" err="1"/>
              <a:t>Silliphant</a:t>
            </a:r>
            <a:r>
              <a:rPr lang="en-GB" altLang="en-US" sz="1000" dirty="0"/>
              <a:t> </a:t>
            </a:r>
            <a:r>
              <a:rPr lang="en-GB" altLang="en-US" sz="1000" i="1" dirty="0"/>
              <a:t>et al.</a:t>
            </a:r>
            <a:r>
              <a:rPr lang="en-GB" altLang="en-US" sz="1000" dirty="0"/>
              <a:t>, 2002, </a:t>
            </a:r>
            <a:r>
              <a:rPr lang="en-GB" altLang="en-US" sz="1000" i="1" dirty="0"/>
              <a:t>Journal of Structural Geology</a:t>
            </a:r>
            <a:r>
              <a:rPr lang="en-GB" altLang="en-US" sz="1000" dirty="0"/>
              <a:t> 24: 155-172, </a:t>
            </a:r>
            <a:r>
              <a:rPr lang="en-GB" sz="1000" dirty="0"/>
              <a:t>https://doi.org/10.1016/S0191-8141(01)00055-4. For an example based on the </a:t>
            </a:r>
            <a:r>
              <a:rPr lang="en-GB" sz="1000" dirty="0" err="1"/>
              <a:t>Teton</a:t>
            </a:r>
            <a:r>
              <a:rPr lang="en-GB" sz="1000" dirty="0"/>
              <a:t> anticline in Montana, U.S.A., a structure that has several times been used to consider fold-fracture interrelationships, see Burberry </a:t>
            </a:r>
            <a:r>
              <a:rPr lang="en-GB" sz="1000" i="1" dirty="0"/>
              <a:t>et al.</a:t>
            </a:r>
            <a:r>
              <a:rPr lang="en-GB" sz="1000" i="0" dirty="0"/>
              <a:t>, 2020, </a:t>
            </a:r>
            <a:r>
              <a:rPr lang="en-GB" sz="1000" i="1" dirty="0"/>
              <a:t>Geological Society, London, </a:t>
            </a:r>
            <a:r>
              <a:rPr lang="en-GB" sz="1000" i="1"/>
              <a:t>Special Publications</a:t>
            </a:r>
            <a:r>
              <a:rPr lang="en-GB" sz="1000" i="0"/>
              <a:t> 487: 229-261, </a:t>
            </a:r>
            <a:r>
              <a:rPr lang="en-GB" sz="1800" b="0" i="0" u="none" strike="noStrike" baseline="0">
                <a:solidFill>
                  <a:srgbClr val="2E3093"/>
                </a:solidFill>
                <a:latin typeface="AdvOT3c2d9f11"/>
              </a:rPr>
              <a:t>https:</a:t>
            </a:r>
            <a:r>
              <a:rPr lang="en-GB" sz="1800" b="0" i="0" u="none" strike="noStrike" baseline="0">
                <a:solidFill>
                  <a:srgbClr val="2E3093"/>
                </a:solidFill>
                <a:latin typeface="AdvP4C4E59"/>
              </a:rPr>
              <a:t>//</a:t>
            </a:r>
            <a:r>
              <a:rPr lang="en-GB" sz="1800" b="0" i="0" u="none" strike="noStrike" baseline="0">
                <a:solidFill>
                  <a:srgbClr val="2E3093"/>
                </a:solidFill>
                <a:latin typeface="AdvOT3c2d9f11"/>
              </a:rPr>
              <a:t>doi.org</a:t>
            </a:r>
            <a:r>
              <a:rPr lang="en-GB" sz="1800" b="0" i="0" u="none" strike="noStrike" baseline="0">
                <a:solidFill>
                  <a:srgbClr val="2E3093"/>
                </a:solidFill>
                <a:latin typeface="AdvP4C4E59"/>
              </a:rPr>
              <a:t>/</a:t>
            </a:r>
            <a:r>
              <a:rPr lang="en-GB" sz="1800" b="0" i="0" u="none" strike="noStrike" baseline="0">
                <a:solidFill>
                  <a:srgbClr val="2E3093"/>
                </a:solidFill>
                <a:latin typeface="AdvOT3c2d9f11"/>
              </a:rPr>
              <a:t>10.1144</a:t>
            </a:r>
            <a:r>
              <a:rPr lang="en-GB" sz="1800" b="0" i="0" u="none" strike="noStrike" baseline="0">
                <a:solidFill>
                  <a:srgbClr val="2E3093"/>
                </a:solidFill>
                <a:latin typeface="AdvP4C4E59"/>
              </a:rPr>
              <a:t>/</a:t>
            </a:r>
            <a:r>
              <a:rPr lang="en-GB" sz="1800" b="0" i="0" u="none" strike="noStrike" baseline="0">
                <a:solidFill>
                  <a:srgbClr val="2E3093"/>
                </a:solidFill>
                <a:latin typeface="AdvOT3c2d9f11"/>
              </a:rPr>
              <a:t>SP487.12</a:t>
            </a:r>
            <a:endParaRPr lang="en-GB" altLang="en-US" sz="1000" dirty="0"/>
          </a:p>
          <a:p>
            <a:pPr marL="108000" indent="-108000">
              <a:spcBef>
                <a:spcPts val="300"/>
              </a:spcBef>
              <a:buFont typeface="Arial" panose="020B0604020202020204" pitchFamily="34" charset="0"/>
              <a:buChar char="•"/>
            </a:pPr>
            <a:r>
              <a:rPr lang="en-GB" altLang="en-US" sz="1000" dirty="0"/>
              <a:t>The important point to take home from this class is that when mapping do not ignore minor fractures. They have an important influence on rock properties even if their formation is not yet fully understood</a:t>
            </a:r>
          </a:p>
          <a:p>
            <a:pPr marL="108000" indent="-108000">
              <a:spcBef>
                <a:spcPts val="300"/>
              </a:spcBef>
              <a:buFont typeface="Arial" panose="020B0604020202020204" pitchFamily="34" charset="0"/>
              <a:buChar char="•"/>
            </a:pPr>
            <a:r>
              <a:rPr lang="en-GB" altLang="en-US" sz="1000" dirty="0"/>
              <a:t>Figure from Twiss &amp; </a:t>
            </a:r>
            <a:r>
              <a:rPr lang="en-GB" altLang="en-US" sz="1000" dirty="0" err="1"/>
              <a:t>Moores</a:t>
            </a:r>
            <a:r>
              <a:rPr lang="en-GB" altLang="en-US" sz="1000" dirty="0"/>
              <a:t>, p.58</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Rectangle 2">
            <a:extLst>
              <a:ext uri="{FF2B5EF4-FFF2-40B4-BE49-F238E27FC236}">
                <a16:creationId xmlns:a16="http://schemas.microsoft.com/office/drawing/2014/main" id="{C98F544F-13A5-4346-AA17-78EBE4B067E7}"/>
              </a:ext>
            </a:extLst>
          </p:cNvPr>
          <p:cNvSpPr>
            <a:spLocks noGrp="1" noRot="1" noChangeAspect="1" noChangeArrowheads="1" noTextEdit="1"/>
          </p:cNvSpPr>
          <p:nvPr>
            <p:ph type="sldImg"/>
          </p:nvPr>
        </p:nvSpPr>
        <p:spPr>
          <a:ln/>
        </p:spPr>
      </p:sp>
      <p:sp>
        <p:nvSpPr>
          <p:cNvPr id="313347" name="Rectangle 3">
            <a:extLst>
              <a:ext uri="{FF2B5EF4-FFF2-40B4-BE49-F238E27FC236}">
                <a16:creationId xmlns:a16="http://schemas.microsoft.com/office/drawing/2014/main" id="{E3244B3B-5BD4-49AC-8903-9E670CE099AA}"/>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For a review of exfoliation joints, see Martel, 2017, </a:t>
            </a:r>
            <a:r>
              <a:rPr lang="en-GB" altLang="en-US" sz="1000" i="1" dirty="0">
                <a:latin typeface="Times New Roman" panose="02020603050405020304" pitchFamily="18" charset="0"/>
                <a:cs typeface="Times New Roman" panose="02020603050405020304" pitchFamily="18" charset="0"/>
              </a:rPr>
              <a:t>Journal of Structural Geology</a:t>
            </a:r>
            <a:r>
              <a:rPr lang="en-GB" altLang="en-US" sz="1000" dirty="0">
                <a:latin typeface="Times New Roman" panose="02020603050405020304" pitchFamily="18" charset="0"/>
                <a:cs typeface="Times New Roman" panose="02020603050405020304" pitchFamily="18" charset="0"/>
              </a:rPr>
              <a:t> 94: 68-86, </a:t>
            </a:r>
            <a:r>
              <a:rPr lang="en-GB" sz="1000" dirty="0"/>
              <a:t>https://doi.org/10.1016/j.jsg.2016.11.003</a:t>
            </a:r>
            <a:r>
              <a:rPr lang="en-GB" altLang="en-US" sz="1000" dirty="0">
                <a:latin typeface="Times New Roman" panose="02020603050405020304" pitchFamily="18" charset="0"/>
                <a:cs typeface="Times New Roman" panose="02020603050405020304" pitchFamily="18" charset="0"/>
              </a:rPr>
              <a:t>. Exfoliation joints occur in a wide range of lithologies, not just large igneous intrusions</a:t>
            </a: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The stresses in a magma at depth are inferred to be lithostatic if we take the magma to be a fluid with no shear strength. The usual meaning of the symbols apply: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ρ</a:t>
            </a:r>
            <a:r>
              <a:rPr lang="en-GB" altLang="en-US" sz="1000" dirty="0">
                <a:latin typeface="Times New Roman" panose="02020603050405020304" pitchFamily="18" charset="0"/>
                <a:cs typeface="Times New Roman" panose="02020603050405020304" pitchFamily="18" charset="0"/>
              </a:rPr>
              <a:t> is density, </a:t>
            </a:r>
            <a:r>
              <a:rPr lang="en-GB" altLang="en-US" sz="1000" i="1" dirty="0">
                <a:latin typeface="Times New Roman" panose="02020603050405020304" pitchFamily="18" charset="0"/>
                <a:cs typeface="Times New Roman" panose="02020603050405020304" pitchFamily="18" charset="0"/>
              </a:rPr>
              <a:t>g</a:t>
            </a:r>
            <a:r>
              <a:rPr lang="en-GB" altLang="en-US" sz="1000" dirty="0">
                <a:latin typeface="Times New Roman" panose="02020603050405020304" pitchFamily="18" charset="0"/>
                <a:cs typeface="Times New Roman" panose="02020603050405020304" pitchFamily="18" charset="0"/>
              </a:rPr>
              <a:t> is the acceleration due to gravity, </a:t>
            </a:r>
            <a:r>
              <a:rPr lang="en-GB" altLang="en-US" sz="1000" i="1" dirty="0">
                <a:latin typeface="Times New Roman" panose="02020603050405020304" pitchFamily="18" charset="0"/>
                <a:cs typeface="Times New Roman" panose="02020603050405020304" pitchFamily="18" charset="0"/>
              </a:rPr>
              <a:t>h</a:t>
            </a:r>
            <a:r>
              <a:rPr lang="en-GB" altLang="en-US" sz="1000" dirty="0">
                <a:latin typeface="Times New Roman" panose="02020603050405020304" pitchFamily="18" charset="0"/>
                <a:cs typeface="Times New Roman" panose="02020603050405020304" pitchFamily="18" charset="0"/>
              </a:rPr>
              <a:t> is depth,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latin typeface="Times New Roman" panose="02020603050405020304" pitchFamily="18" charset="0"/>
                <a:cs typeface="Times New Roman" panose="02020603050405020304" pitchFamily="18" charset="0"/>
              </a:rPr>
              <a:t>v</a:t>
            </a:r>
            <a:r>
              <a:rPr lang="en-GB" altLang="en-US" sz="1000" dirty="0">
                <a:latin typeface="Times New Roman" panose="02020603050405020304" pitchFamily="18" charset="0"/>
                <a:cs typeface="Times New Roman" panose="02020603050405020304" pitchFamily="18" charset="0"/>
              </a:rPr>
              <a:t> is vertical stress,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latin typeface="Times New Roman" panose="02020603050405020304" pitchFamily="18" charset="0"/>
                <a:cs typeface="Times New Roman" panose="02020603050405020304" pitchFamily="18" charset="0"/>
              </a:rPr>
              <a:t>h</a:t>
            </a:r>
            <a:r>
              <a:rPr lang="en-GB" altLang="en-US" sz="1000" dirty="0">
                <a:latin typeface="Times New Roman" panose="02020603050405020304" pitchFamily="18" charset="0"/>
                <a:cs typeface="Times New Roman" panose="02020603050405020304" pitchFamily="18" charset="0"/>
              </a:rPr>
              <a:t> is horizontal stress, and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ν</a:t>
            </a:r>
            <a:r>
              <a:rPr lang="en-GB" altLang="en-US" sz="1000" dirty="0">
                <a:latin typeface="Times New Roman" panose="02020603050405020304" pitchFamily="18" charset="0"/>
                <a:cs typeface="Times New Roman" panose="02020603050405020304" pitchFamily="18" charset="0"/>
              </a:rPr>
              <a:t> is Poisson’s ratio. The expression, </a:t>
            </a:r>
            <a:r>
              <a:rPr lang="el-GR" altLang="en-US" sz="1000" i="1" spc="100" baseline="0"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latin typeface="Times New Roman" panose="02020603050405020304" pitchFamily="18" charset="0"/>
                <a:cs typeface="Times New Roman" panose="02020603050405020304" pitchFamily="18" charset="0"/>
              </a:rPr>
              <a:t>h</a:t>
            </a:r>
            <a:r>
              <a:rPr lang="en-GB" altLang="en-US" sz="1000" dirty="0">
                <a:latin typeface="Times New Roman" panose="02020603050405020304" pitchFamily="18" charset="0"/>
                <a:cs typeface="Times New Roman" panose="02020603050405020304" pitchFamily="18" charset="0"/>
              </a:rPr>
              <a:t> =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ν</a:t>
            </a:r>
            <a:r>
              <a:rPr lang="en-GB" altLang="en-US" sz="1000" dirty="0">
                <a:latin typeface="Times New Roman" panose="02020603050405020304" pitchFamily="18" charset="0"/>
                <a:cs typeface="Times New Roman" panose="02020603050405020304" pitchFamily="18" charset="0"/>
              </a:rPr>
              <a:t>/(1-</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ν</a:t>
            </a:r>
            <a:r>
              <a:rPr lang="en-GB" altLang="en-US" sz="1000" dirty="0">
                <a:latin typeface="Times New Roman" panose="02020603050405020304" pitchFamily="18" charset="0"/>
                <a:cs typeface="Times New Roman" panose="02020603050405020304" pitchFamily="18" charset="0"/>
              </a:rPr>
              <a:t>)]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ρ</a:t>
            </a:r>
            <a:r>
              <a:rPr lang="en-GB" altLang="en-US" sz="1000" i="1" dirty="0">
                <a:latin typeface="Times New Roman" panose="02020603050405020304" pitchFamily="18" charset="0"/>
                <a:cs typeface="Times New Roman" panose="02020603050405020304" pitchFamily="18" charset="0"/>
              </a:rPr>
              <a:t>g</a:t>
            </a:r>
            <a:r>
              <a:rPr lang="el-GR" altLang="en-US" sz="1000" i="1" spc="100" baseline="0"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GB" altLang="en-US" sz="1000" i="1" dirty="0">
                <a:latin typeface="Times New Roman" panose="02020603050405020304" pitchFamily="18" charset="0"/>
                <a:cs typeface="Times New Roman" panose="02020603050405020304" pitchFamily="18" charset="0"/>
              </a:rPr>
              <a:t>h</a:t>
            </a:r>
            <a:r>
              <a:rPr lang="en-GB" altLang="en-US" sz="1000" dirty="0">
                <a:latin typeface="Times New Roman" panose="02020603050405020304" pitchFamily="18" charset="0"/>
                <a:cs typeface="Times New Roman" panose="02020603050405020304" pitchFamily="18" charset="0"/>
              </a:rPr>
              <a:t>, is the change in horizontal stress assuming that the rock cannot expand sideways (see Class 5 Slide 29). Hence</a:t>
            </a:r>
          </a:p>
          <a:p>
            <a:pPr marL="108000" indent="-108000">
              <a:spcBef>
                <a:spcPts val="300"/>
              </a:spcBef>
              <a:buFont typeface="Arial" panose="020B0604020202020204" pitchFamily="34" charset="0"/>
              <a:buNone/>
            </a:pPr>
            <a:r>
              <a:rPr lang="en-GB" altLang="en-US" sz="1000" i="1" dirty="0">
                <a:latin typeface="Times New Roman" panose="02020603050405020304" pitchFamily="18" charset="0"/>
                <a:cs typeface="Times New Roman" panose="02020603050405020304" pitchFamily="18" charset="0"/>
              </a:rPr>
              <a:t>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latin typeface="Times New Roman" panose="02020603050405020304" pitchFamily="18" charset="0"/>
                <a:cs typeface="Times New Roman" panose="02020603050405020304" pitchFamily="18" charset="0"/>
              </a:rPr>
              <a:t>h</a:t>
            </a:r>
            <a:r>
              <a:rPr lang="en-GB" altLang="en-US" sz="1000" dirty="0">
                <a:latin typeface="Times New Roman" panose="02020603050405020304" pitchFamily="18" charset="0"/>
                <a:cs typeface="Times New Roman" panose="02020603050405020304" pitchFamily="18" charset="0"/>
              </a:rPr>
              <a:t>   =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latin typeface="Times New Roman" panose="02020603050405020304" pitchFamily="18" charset="0"/>
                <a:cs typeface="Times New Roman" panose="02020603050405020304" pitchFamily="18" charset="0"/>
              </a:rPr>
              <a:t>h , </a:t>
            </a:r>
            <a:r>
              <a:rPr lang="en-GB" altLang="en-US" sz="1000" i="1" baseline="-25000" dirty="0">
                <a:latin typeface="Times New Roman" panose="02020603050405020304" pitchFamily="18" charset="0"/>
                <a:cs typeface="Times New Roman" panose="02020603050405020304" pitchFamily="18" charset="0"/>
              </a:rPr>
              <a:t>initial</a:t>
            </a:r>
            <a:r>
              <a:rPr lang="en-GB" altLang="en-US" sz="1000" i="1" dirty="0">
                <a:latin typeface="Times New Roman" panose="02020603050405020304" pitchFamily="18" charset="0"/>
                <a:cs typeface="Times New Roman" panose="02020603050405020304" pitchFamily="18" charset="0"/>
              </a:rPr>
              <a:t> - </a:t>
            </a:r>
            <a:r>
              <a:rPr lang="el-GR" altLang="en-US" sz="1000" i="1" spc="100" baseline="0"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latin typeface="Times New Roman" panose="02020603050405020304" pitchFamily="18" charset="0"/>
                <a:cs typeface="Times New Roman" panose="02020603050405020304" pitchFamily="18" charset="0"/>
              </a:rPr>
              <a:t>h</a:t>
            </a:r>
            <a:r>
              <a:rPr lang="en-GB" altLang="en-US" sz="1000" dirty="0">
                <a:latin typeface="Times New Roman" panose="02020603050405020304" pitchFamily="18" charset="0"/>
                <a:cs typeface="Times New Roman" panose="02020603050405020304" pitchFamily="18" charset="0"/>
              </a:rPr>
              <a:t>   =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ρ</a:t>
            </a:r>
            <a:r>
              <a:rPr lang="en-GB" altLang="en-US" sz="1000" i="1" dirty="0" err="1">
                <a:latin typeface="Times New Roman" panose="02020603050405020304" pitchFamily="18" charset="0"/>
                <a:cs typeface="Times New Roman" panose="02020603050405020304" pitchFamily="18" charset="0"/>
              </a:rPr>
              <a:t>gh</a:t>
            </a:r>
            <a:r>
              <a:rPr lang="en-GB" altLang="en-US" sz="1000" i="1" dirty="0">
                <a:latin typeface="Times New Roman" panose="02020603050405020304" pitchFamily="18" charset="0"/>
                <a:cs typeface="Times New Roman" panose="02020603050405020304" pitchFamily="18" charset="0"/>
              </a:rPr>
              <a:t> - </a:t>
            </a:r>
            <a:r>
              <a:rPr lang="en-GB" altLang="en-US" sz="1000" dirty="0">
                <a:latin typeface="Times New Roman" panose="02020603050405020304" pitchFamily="18" charset="0"/>
                <a:cs typeface="Times New Roman" panose="02020603050405020304" pitchFamily="18" charset="0"/>
              </a:rPr>
              <a:t>[</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ν</a:t>
            </a:r>
            <a:r>
              <a:rPr lang="en-GB" altLang="en-US" sz="1000" dirty="0">
                <a:latin typeface="Times New Roman" panose="02020603050405020304" pitchFamily="18" charset="0"/>
                <a:cs typeface="Times New Roman" panose="02020603050405020304" pitchFamily="18" charset="0"/>
              </a:rPr>
              <a:t> / (1-</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ν</a:t>
            </a:r>
            <a:r>
              <a:rPr lang="en-GB" altLang="en-US" sz="1000" dirty="0">
                <a:latin typeface="Times New Roman" panose="02020603050405020304" pitchFamily="18" charset="0"/>
                <a:cs typeface="Times New Roman" panose="02020603050405020304" pitchFamily="18" charset="0"/>
              </a:rPr>
              <a:t>)]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ρ</a:t>
            </a:r>
            <a:r>
              <a:rPr lang="en-GB" altLang="en-US" sz="1000" i="1" dirty="0">
                <a:latin typeface="Times New Roman" panose="02020603050405020304" pitchFamily="18" charset="0"/>
                <a:cs typeface="Times New Roman" panose="02020603050405020304" pitchFamily="18" charset="0"/>
              </a:rPr>
              <a:t>g</a:t>
            </a:r>
            <a:r>
              <a:rPr lang="el-GR" altLang="en-US" sz="1000" i="1" spc="100" baseline="0"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GB" altLang="en-US" sz="1000" i="1" dirty="0">
                <a:latin typeface="Times New Roman" panose="02020603050405020304" pitchFamily="18" charset="0"/>
                <a:cs typeface="Times New Roman" panose="02020603050405020304" pitchFamily="18" charset="0"/>
              </a:rPr>
              <a:t>h   =   </a:t>
            </a:r>
            <a:r>
              <a:rPr lang="en-GB" altLang="en-US" sz="1000" dirty="0">
                <a:latin typeface="Times New Roman" panose="02020603050405020304" pitchFamily="18" charset="0"/>
                <a:cs typeface="Times New Roman" panose="02020603050405020304" pitchFamily="18" charset="0"/>
              </a:rPr>
              <a:t>[(1-2</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ν</a:t>
            </a:r>
            <a:r>
              <a:rPr lang="en-GB" altLang="en-US" sz="1000" dirty="0">
                <a:latin typeface="Times New Roman" panose="02020603050405020304" pitchFamily="18" charset="0"/>
                <a:cs typeface="Times New Roman" panose="02020603050405020304" pitchFamily="18" charset="0"/>
              </a:rPr>
              <a:t>)/(1-</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ν</a:t>
            </a:r>
            <a:r>
              <a:rPr lang="en-GB" altLang="en-US" sz="1000" dirty="0">
                <a:latin typeface="Times New Roman" panose="02020603050405020304" pitchFamily="18" charset="0"/>
                <a:cs typeface="Times New Roman" panose="02020603050405020304" pitchFamily="18" charset="0"/>
              </a:rPr>
              <a:t>)]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ρ</a:t>
            </a:r>
            <a:r>
              <a:rPr lang="en-GB" altLang="en-US" sz="1000" i="1" dirty="0">
                <a:latin typeface="Times New Roman" panose="02020603050405020304" pitchFamily="18" charset="0"/>
                <a:cs typeface="Times New Roman" panose="02020603050405020304" pitchFamily="18" charset="0"/>
              </a:rPr>
              <a:t>g</a:t>
            </a:r>
            <a:r>
              <a:rPr lang="el-GR" altLang="en-US" sz="1000" i="1" spc="100" baseline="0"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GB" altLang="en-US" sz="1000" i="1" dirty="0">
                <a:latin typeface="Times New Roman" panose="02020603050405020304" pitchFamily="18" charset="0"/>
                <a:cs typeface="Times New Roman" panose="02020603050405020304" pitchFamily="18" charset="0"/>
              </a:rPr>
              <a:t>h   </a:t>
            </a:r>
            <a:r>
              <a:rPr lang="en-GB" altLang="en-US" sz="1000" i="0" dirty="0">
                <a:latin typeface="Times New Roman" panose="02020603050405020304" pitchFamily="18" charset="0"/>
                <a:cs typeface="Times New Roman" panose="02020603050405020304" pitchFamily="18" charset="0"/>
              </a:rPr>
              <a:t>for </a:t>
            </a:r>
            <a:r>
              <a:rPr lang="en-GB" altLang="en-US" sz="1000" i="1" dirty="0">
                <a:latin typeface="Times New Roman" panose="02020603050405020304" pitchFamily="18" charset="0"/>
                <a:cs typeface="Times New Roman" panose="02020603050405020304" pitchFamily="18" charset="0"/>
              </a:rPr>
              <a:t>h = </a:t>
            </a:r>
            <a:r>
              <a:rPr lang="el-GR" altLang="en-US" sz="1000" i="1" spc="100" baseline="0"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GB" altLang="en-US" sz="1000" i="1" dirty="0">
                <a:latin typeface="Times New Roman" panose="02020603050405020304" pitchFamily="18" charset="0"/>
                <a:cs typeface="Times New Roman" panose="02020603050405020304" pitchFamily="18" charset="0"/>
              </a:rPr>
              <a:t>h</a:t>
            </a:r>
            <a:endParaRPr lang="en-GB" altLang="en-US" sz="1000" dirty="0">
              <a:latin typeface="Times New Roman" panose="02020603050405020304" pitchFamily="18" charset="0"/>
              <a:cs typeface="Times New Roman" panose="02020603050405020304" pitchFamily="18" charset="0"/>
            </a:endParaRP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This analysis is carried out in slightly more detail by Turcotte &amp; Schubert, 2002, </a:t>
            </a:r>
            <a:r>
              <a:rPr lang="en-GB" altLang="en-US" sz="1000" i="1" dirty="0">
                <a:latin typeface="Times New Roman" panose="02020603050405020304" pitchFamily="18" charset="0"/>
                <a:cs typeface="Times New Roman" panose="02020603050405020304" pitchFamily="18" charset="0"/>
              </a:rPr>
              <a:t>Geodynamics</a:t>
            </a:r>
            <a:r>
              <a:rPr lang="en-GB" altLang="en-US" sz="1000" dirty="0">
                <a:latin typeface="Times New Roman" panose="02020603050405020304" pitchFamily="18" charset="0"/>
                <a:cs typeface="Times New Roman" panose="02020603050405020304" pitchFamily="18" charset="0"/>
              </a:rPr>
              <a:t> (2</a:t>
            </a:r>
            <a:r>
              <a:rPr lang="en-GB" altLang="en-US" sz="1000" baseline="30000" dirty="0">
                <a:latin typeface="Times New Roman" panose="02020603050405020304" pitchFamily="18" charset="0"/>
                <a:cs typeface="Times New Roman" panose="02020603050405020304" pitchFamily="18" charset="0"/>
              </a:rPr>
              <a:t>nd</a:t>
            </a:r>
            <a:r>
              <a:rPr lang="en-GB" altLang="en-US" sz="1000" dirty="0">
                <a:latin typeface="Times New Roman" panose="02020603050405020304" pitchFamily="18" charset="0"/>
                <a:cs typeface="Times New Roman" panose="02020603050405020304" pitchFamily="18" charset="0"/>
              </a:rPr>
              <a:t> edition), p.109. Note that it ignores temperature changes during exhumation. Other mechanisms for exfoliation joint formation have been proposed (Twiss &amp; </a:t>
            </a:r>
            <a:r>
              <a:rPr lang="en-GB" altLang="en-US" sz="1000" dirty="0" err="1">
                <a:latin typeface="Times New Roman" panose="02020603050405020304" pitchFamily="18" charset="0"/>
                <a:cs typeface="Times New Roman" panose="02020603050405020304" pitchFamily="18" charset="0"/>
              </a:rPr>
              <a:t>Moores</a:t>
            </a:r>
            <a:r>
              <a:rPr lang="en-GB" altLang="en-US" sz="1000" dirty="0">
                <a:latin typeface="Times New Roman" panose="02020603050405020304" pitchFamily="18" charset="0"/>
                <a:cs typeface="Times New Roman" panose="02020603050405020304" pitchFamily="18" charset="0"/>
              </a:rPr>
              <a:t>, p.246; Price &amp; Cosgrove, p.105-110; Martel, 2017, </a:t>
            </a:r>
            <a:r>
              <a:rPr lang="en-GB" altLang="en-US" sz="1000" i="1" dirty="0">
                <a:latin typeface="Times New Roman" panose="02020603050405020304" pitchFamily="18" charset="0"/>
                <a:cs typeface="Times New Roman" panose="02020603050405020304" pitchFamily="18" charset="0"/>
              </a:rPr>
              <a:t>Journal of Structural Geology</a:t>
            </a:r>
            <a:r>
              <a:rPr lang="en-GB" altLang="en-US" sz="1000" dirty="0">
                <a:latin typeface="Times New Roman" panose="02020603050405020304" pitchFamily="18" charset="0"/>
                <a:cs typeface="Times New Roman" panose="02020603050405020304" pitchFamily="18" charset="0"/>
              </a:rPr>
              <a:t> 94: 68-86, </a:t>
            </a:r>
            <a:r>
              <a:rPr lang="en-GB" sz="1000" dirty="0"/>
              <a:t>https://doi.org/10.1016/j.jsg.2016.11.003</a:t>
            </a:r>
            <a:r>
              <a:rPr lang="en-GB" altLang="en-US" sz="1000" dirty="0">
                <a:latin typeface="Times New Roman" panose="02020603050405020304" pitchFamily="18" charset="0"/>
                <a:cs typeface="Times New Roman" panose="02020603050405020304" pitchFamily="18" charset="0"/>
              </a:rPr>
              <a:t>)</a:t>
            </a: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Photo top (Steve Covey-Crump): exfoliation joints on the </a:t>
            </a:r>
            <a:r>
              <a:rPr lang="en-GB" altLang="en-US" sz="1000" dirty="0" err="1">
                <a:latin typeface="Times New Roman" panose="02020603050405020304" pitchFamily="18" charset="0"/>
                <a:cs typeface="Times New Roman" panose="02020603050405020304" pitchFamily="18" charset="0"/>
              </a:rPr>
              <a:t>Bodmin</a:t>
            </a:r>
            <a:r>
              <a:rPr lang="en-GB" altLang="en-US" sz="1000" dirty="0">
                <a:latin typeface="Times New Roman" panose="02020603050405020304" pitchFamily="18" charset="0"/>
                <a:cs typeface="Times New Roman" panose="02020603050405020304" pitchFamily="18" charset="0"/>
              </a:rPr>
              <a:t> Moor granite</a:t>
            </a: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Photo bottom (from www.appstate.edu/~marshallst/photos/boone_photos/half_dome_3.html): exfoliation joints in a granite pluton, Half Dome, Yosemite National Park, California</a:t>
            </a:r>
          </a:p>
          <a:p>
            <a:pPr marL="108000" indent="-108000">
              <a:spcBef>
                <a:spcPts val="300"/>
              </a:spcBef>
              <a:buFont typeface="Arial" panose="020B0604020202020204" pitchFamily="34" charset="0"/>
              <a:buNone/>
            </a:pPr>
            <a:endParaRPr lang="en-GB" altLang="en-US" sz="1000" dirty="0">
              <a:latin typeface="Times New Roman" panose="02020603050405020304" pitchFamily="18" charset="0"/>
              <a:cs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08000" indent="-108000">
              <a:spcBef>
                <a:spcPts val="300"/>
              </a:spcBef>
              <a:buFont typeface="Arial" panose="020B0604020202020204" pitchFamily="34" charset="0"/>
              <a:buChar char="•"/>
            </a:pPr>
            <a:endParaRPr lang="en-GB" sz="1000" dirty="0"/>
          </a:p>
        </p:txBody>
      </p:sp>
      <p:sp>
        <p:nvSpPr>
          <p:cNvPr id="4" name="Slide Number Placeholder 3"/>
          <p:cNvSpPr>
            <a:spLocks noGrp="1"/>
          </p:cNvSpPr>
          <p:nvPr>
            <p:ph type="sldNum" sz="quarter" idx="5"/>
          </p:nvPr>
        </p:nvSpPr>
        <p:spPr/>
        <p:txBody>
          <a:bodyPr/>
          <a:lstStyle/>
          <a:p>
            <a:fld id="{7245E67F-AB97-464F-8455-AFB2E20C0940}" type="slidenum">
              <a:rPr lang="en-GB" altLang="en-US" smtClean="0"/>
              <a:pPr/>
              <a:t>33</a:t>
            </a:fld>
            <a:endParaRPr lang="en-GB" altLang="en-US"/>
          </a:p>
        </p:txBody>
      </p:sp>
    </p:spTree>
    <p:extLst>
      <p:ext uri="{BB962C8B-B14F-4D97-AF65-F5344CB8AC3E}">
        <p14:creationId xmlns:p14="http://schemas.microsoft.com/office/powerpoint/2010/main" val="335789817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2">
            <a:extLst>
              <a:ext uri="{FF2B5EF4-FFF2-40B4-BE49-F238E27FC236}">
                <a16:creationId xmlns:a16="http://schemas.microsoft.com/office/drawing/2014/main" id="{FAAEC1AF-335E-4492-B9F3-DD4104206572}"/>
              </a:ext>
            </a:extLst>
          </p:cNvPr>
          <p:cNvSpPr>
            <a:spLocks noGrp="1" noRot="1" noChangeAspect="1" noChangeArrowheads="1" noTextEdit="1"/>
          </p:cNvSpPr>
          <p:nvPr>
            <p:ph type="sldImg"/>
          </p:nvPr>
        </p:nvSpPr>
        <p:spPr>
          <a:ln/>
        </p:spPr>
      </p:sp>
      <p:sp>
        <p:nvSpPr>
          <p:cNvPr id="261123" name="Rectangle 3">
            <a:extLst>
              <a:ext uri="{FF2B5EF4-FFF2-40B4-BE49-F238E27FC236}">
                <a16:creationId xmlns:a16="http://schemas.microsoft.com/office/drawing/2014/main" id="{52C873A8-D925-45E3-B581-1360D27D825F}"/>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Since veins and joints are both extension fractures, it is tempting to treat them in the same way. However, they form at different times and under different conditions. For some cautionary notes on this matter, see Peacock, 2004, </a:t>
            </a:r>
            <a:r>
              <a:rPr lang="en-GB" altLang="en-US" sz="1000" i="1" dirty="0"/>
              <a:t>Geological Society, London, Special Publications</a:t>
            </a:r>
            <a:r>
              <a:rPr lang="en-GB" altLang="en-US" sz="1000" dirty="0"/>
              <a:t> 231: 209-221, </a:t>
            </a:r>
            <a:r>
              <a:rPr lang="en-GB" sz="1000" dirty="0"/>
              <a:t>https://doi.org/10.1144/GSL.SP.2004.231.01.12</a:t>
            </a:r>
            <a:endParaRPr lang="en-GB" altLang="en-US" sz="1000" dirty="0"/>
          </a:p>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a:t>Veins allow the possibility of measuring fracture aperture, that is, how much they have opened. For methods of carrying out such an analysis, see Hooker </a:t>
            </a:r>
            <a:r>
              <a:rPr lang="en-GB" altLang="en-US" sz="1000" i="1" dirty="0"/>
              <a:t>et al.</a:t>
            </a:r>
            <a:r>
              <a:rPr lang="en-GB" altLang="en-US" sz="1000" dirty="0"/>
              <a:t>, 2014, </a:t>
            </a:r>
            <a:r>
              <a:rPr lang="en-GB" altLang="en-US" sz="1000" i="1" dirty="0"/>
              <a:t>Geological Society of America Bulletin</a:t>
            </a:r>
            <a:r>
              <a:rPr lang="en-GB" altLang="en-US" sz="1000" dirty="0"/>
              <a:t> 126: 1340-1362, </a:t>
            </a:r>
            <a:r>
              <a:rPr lang="en-GB" sz="1000" dirty="0"/>
              <a:t>https://doi.org/10.1130/B30945.1</a:t>
            </a:r>
            <a:endParaRPr lang="en-GB" altLang="en-US" sz="1000" dirty="0"/>
          </a:p>
          <a:p>
            <a:pPr marL="108000" indent="-108000">
              <a:spcBef>
                <a:spcPts val="300"/>
              </a:spcBef>
              <a:buFont typeface="Arial" panose="020B0604020202020204" pitchFamily="34" charset="0"/>
              <a:buChar char="•"/>
            </a:pPr>
            <a:r>
              <a:rPr lang="en-GB" altLang="en-US" sz="1000" dirty="0"/>
              <a:t>Those going on the Easter field course to Scotland will see an example of brecciation induced by high fluid pressures in the country rock at the margins of the </a:t>
            </a:r>
            <a:r>
              <a:rPr lang="en-GB" altLang="en-US" sz="1000" dirty="0" err="1"/>
              <a:t>Kentallen</a:t>
            </a:r>
            <a:r>
              <a:rPr lang="en-GB" altLang="en-US" sz="1000" dirty="0"/>
              <a:t> pluton</a:t>
            </a:r>
          </a:p>
          <a:p>
            <a:pPr marL="108000" indent="-108000">
              <a:spcBef>
                <a:spcPts val="300"/>
              </a:spcBef>
              <a:buFont typeface="Arial" panose="020B0604020202020204" pitchFamily="34" charset="0"/>
              <a:buChar char="•"/>
            </a:pPr>
            <a:r>
              <a:rPr lang="en-GB" altLang="en-US" sz="1000" dirty="0"/>
              <a:t>In metamorphic complexes, quartz generated in metamorphic reactions is dissolved in pore fluids at depth and is then precipitated in veins as those fluids migrate upwards and coo</a:t>
            </a:r>
            <a:r>
              <a:rPr lang="en-GB" altLang="en-US" sz="1000" spc="200" baseline="0" dirty="0"/>
              <a:t>l/</a:t>
            </a:r>
            <a:r>
              <a:rPr lang="en-GB" altLang="en-US" sz="1000" dirty="0"/>
              <a:t>depressurize</a:t>
            </a:r>
          </a:p>
          <a:p>
            <a:pPr marL="108000" indent="-108000">
              <a:spcBef>
                <a:spcPts val="300"/>
              </a:spcBef>
              <a:buFont typeface="Arial" panose="020B0604020202020204" pitchFamily="34" charset="0"/>
              <a:buChar char="•"/>
            </a:pPr>
            <a:r>
              <a:rPr lang="en-GB" altLang="en-US" sz="1000" dirty="0"/>
              <a:t>Photo top (from Ramsay &amp; Huber, p.644): bleached joints in granitic gneiss, </a:t>
            </a:r>
            <a:r>
              <a:rPr lang="en-GB" altLang="en-US" sz="1000" dirty="0" err="1"/>
              <a:t>Lavertezzo</a:t>
            </a:r>
            <a:r>
              <a:rPr lang="en-GB" altLang="en-US" sz="1000" dirty="0"/>
              <a:t>, Switzerland</a:t>
            </a:r>
          </a:p>
          <a:p>
            <a:pPr marL="108000" indent="-108000">
              <a:spcBef>
                <a:spcPts val="300"/>
              </a:spcBef>
              <a:buFont typeface="Arial" panose="020B0604020202020204" pitchFamily="34" charset="0"/>
              <a:buChar char="•"/>
            </a:pPr>
            <a:r>
              <a:rPr lang="en-GB" altLang="en-US" sz="1000" dirty="0"/>
              <a:t>Photo bottom (Fossen, one of the extra figures on the web-site for the book, folk.uib.no/</a:t>
            </a:r>
            <a:r>
              <a:rPr lang="en-GB" altLang="en-US" sz="1000" dirty="0" err="1"/>
              <a:t>nglhe</a:t>
            </a:r>
            <a:r>
              <a:rPr lang="en-GB" altLang="en-US" sz="1000" dirty="0"/>
              <a:t>/StructuralGeoBook.html): brecciation in a sinistral shear fracture, Oslo</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Rectangle 2">
            <a:extLst>
              <a:ext uri="{FF2B5EF4-FFF2-40B4-BE49-F238E27FC236}">
                <a16:creationId xmlns:a16="http://schemas.microsoft.com/office/drawing/2014/main" id="{1EED9065-CDE6-4A26-9966-50593AD86637}"/>
              </a:ext>
            </a:extLst>
          </p:cNvPr>
          <p:cNvSpPr>
            <a:spLocks noGrp="1" noRot="1" noChangeAspect="1" noChangeArrowheads="1" noTextEdit="1"/>
          </p:cNvSpPr>
          <p:nvPr>
            <p:ph type="sldImg"/>
          </p:nvPr>
        </p:nvSpPr>
        <p:spPr>
          <a:ln/>
        </p:spPr>
      </p:sp>
      <p:sp>
        <p:nvSpPr>
          <p:cNvPr id="327683" name="Rectangle 3">
            <a:extLst>
              <a:ext uri="{FF2B5EF4-FFF2-40B4-BE49-F238E27FC236}">
                <a16:creationId xmlns:a16="http://schemas.microsoft.com/office/drawing/2014/main" id="{FD057975-19FD-440B-8D32-383F2C4801A6}"/>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Photo (from the BGS image database: geoscenic.bgs.ac.uk/asset-bank/action/</a:t>
            </a:r>
            <a:r>
              <a:rPr lang="en-GB" altLang="en-US" sz="1000" dirty="0" err="1"/>
              <a:t>viewHome</a:t>
            </a:r>
            <a:r>
              <a:rPr lang="en-GB" altLang="en-US" sz="1000" dirty="0"/>
              <a:t>, image P215114): base of a dolerite sill forcefully intruding Lower Carboniferous sandstones, Hound Point, South Queensferry, near Edinburgh</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Rectangle 2">
            <a:extLst>
              <a:ext uri="{FF2B5EF4-FFF2-40B4-BE49-F238E27FC236}">
                <a16:creationId xmlns:a16="http://schemas.microsoft.com/office/drawing/2014/main" id="{76EE6C72-DB72-47CB-84D1-EE9A43784D85}"/>
              </a:ext>
            </a:extLst>
          </p:cNvPr>
          <p:cNvSpPr>
            <a:spLocks noGrp="1" noRot="1" noChangeAspect="1" noChangeArrowheads="1" noTextEdit="1"/>
          </p:cNvSpPr>
          <p:nvPr>
            <p:ph type="sldImg"/>
          </p:nvPr>
        </p:nvSpPr>
        <p:spPr>
          <a:ln/>
        </p:spPr>
      </p:sp>
      <p:sp>
        <p:nvSpPr>
          <p:cNvPr id="347139" name="Rectangle 3">
            <a:extLst>
              <a:ext uri="{FF2B5EF4-FFF2-40B4-BE49-F238E27FC236}">
                <a16:creationId xmlns:a16="http://schemas.microsoft.com/office/drawing/2014/main" id="{4D1C1B98-5007-476B-AE79-44FEFE4E29CB}"/>
              </a:ext>
            </a:extLst>
          </p:cNvPr>
          <p:cNvSpPr>
            <a:spLocks noGrp="1" noChangeArrowheads="1"/>
          </p:cNvSpPr>
          <p:nvPr>
            <p:ph type="body" idx="1"/>
          </p:nvPr>
        </p:nvSpPr>
        <p:spPr>
          <a:noFill/>
        </p:spPr>
        <p:txBody>
          <a:bodyPr/>
          <a:lstStyle/>
          <a:p>
            <a:pPr marL="108000" indent="-108000">
              <a:lnSpc>
                <a:spcPct val="120000"/>
              </a:lnSpc>
              <a:spcBef>
                <a:spcPts val="300"/>
              </a:spcBef>
              <a:buClr>
                <a:schemeClr val="accent2"/>
              </a:buClr>
              <a:buFont typeface="Arial" panose="020B0604020202020204" pitchFamily="34" charset="0"/>
              <a:buChar char="•"/>
            </a:pPr>
            <a:r>
              <a:rPr lang="en-GB" altLang="en-US" sz="1000" dirty="0">
                <a:solidFill>
                  <a:srgbClr val="FFFF00"/>
                </a:solidFill>
              </a:rPr>
              <a:t>There is not enough time to consider the formation of systematically oriented minor intrusions around larger scale igneous bodies. The orientation of these depends upon the particular environment in which intrusion occurs. For remarks on this topic, see Price &amp; Cosgrove p.102-105 (general remarks), Price &amp; Cosgrove p.73-76 (radiating dykes), and Magee </a:t>
            </a:r>
            <a:r>
              <a:rPr lang="en-GB" altLang="en-US" sz="1000" i="1" dirty="0">
                <a:solidFill>
                  <a:srgbClr val="FFFF00"/>
                </a:solidFill>
              </a:rPr>
              <a:t>et al.</a:t>
            </a:r>
            <a:r>
              <a:rPr lang="en-GB" altLang="en-US" sz="1000" dirty="0">
                <a:solidFill>
                  <a:srgbClr val="FFFF00"/>
                </a:solidFill>
              </a:rPr>
              <a:t>, 2012, </a:t>
            </a:r>
            <a:r>
              <a:rPr lang="en-GB" altLang="en-US" sz="1000" i="1" dirty="0">
                <a:solidFill>
                  <a:srgbClr val="FFFF00"/>
                </a:solidFill>
              </a:rPr>
              <a:t>Journal of Structural Geology</a:t>
            </a:r>
            <a:r>
              <a:rPr lang="en-GB" altLang="en-US" sz="1000" dirty="0">
                <a:solidFill>
                  <a:srgbClr val="FFFF00"/>
                </a:solidFill>
              </a:rPr>
              <a:t> 43: 73-91, </a:t>
            </a:r>
            <a:r>
              <a:rPr lang="en-GB" sz="1000" dirty="0"/>
              <a:t>https://doi.org/10.1016/j.jsg.2012.08.004</a:t>
            </a:r>
            <a:r>
              <a:rPr lang="en-GB" altLang="en-US" sz="1000" dirty="0">
                <a:solidFill>
                  <a:srgbClr val="FFFF00"/>
                </a:solidFill>
              </a:rPr>
              <a:t> (inclined sheet</a:t>
            </a:r>
            <a:r>
              <a:rPr lang="en-GB" altLang="en-US" sz="1000" spc="150" baseline="0" dirty="0">
                <a:solidFill>
                  <a:srgbClr val="FFFF00"/>
                </a:solidFill>
              </a:rPr>
              <a:t>s/</a:t>
            </a:r>
            <a:r>
              <a:rPr lang="en-GB" altLang="en-US" sz="1000" dirty="0">
                <a:solidFill>
                  <a:srgbClr val="FFFF00"/>
                </a:solidFill>
              </a:rPr>
              <a:t>cone sheets)</a:t>
            </a:r>
          </a:p>
          <a:p>
            <a:pPr marL="108000" indent="-108000">
              <a:lnSpc>
                <a:spcPct val="120000"/>
              </a:lnSpc>
              <a:spcBef>
                <a:spcPts val="300"/>
              </a:spcBef>
              <a:buClr>
                <a:schemeClr val="accent2"/>
              </a:buClr>
              <a:buFont typeface="Arial" panose="020B0604020202020204" pitchFamily="34" charset="0"/>
              <a:buChar char="•"/>
            </a:pPr>
            <a:r>
              <a:rPr lang="en-GB" altLang="en-US" sz="1000" dirty="0">
                <a:solidFill>
                  <a:srgbClr val="FFFF00"/>
                </a:solidFill>
              </a:rPr>
              <a:t>Photo left (Steve Covey-Crump): flat-lying Tertiary sheets, Ross of Mull, Scotland</a:t>
            </a:r>
          </a:p>
          <a:p>
            <a:pPr marL="108000" indent="-108000">
              <a:lnSpc>
                <a:spcPct val="120000"/>
              </a:lnSpc>
              <a:spcBef>
                <a:spcPts val="300"/>
              </a:spcBef>
              <a:buClr>
                <a:schemeClr val="accent2"/>
              </a:buClr>
              <a:buFont typeface="Arial" panose="020B0604020202020204" pitchFamily="34" charset="0"/>
              <a:buChar char="•"/>
            </a:pPr>
            <a:r>
              <a:rPr lang="en-GB" altLang="en-US" sz="1000" dirty="0">
                <a:solidFill>
                  <a:srgbClr val="FFFF00"/>
                </a:solidFill>
              </a:rPr>
              <a:t>Photo right (Steve Covey-Crump): near vertical </a:t>
            </a:r>
            <a:r>
              <a:rPr lang="en-GB" altLang="en-US" sz="1000" dirty="0" err="1">
                <a:solidFill>
                  <a:srgbClr val="FFFF00"/>
                </a:solidFill>
              </a:rPr>
              <a:t>Permo</a:t>
            </a:r>
            <a:r>
              <a:rPr lang="en-GB" altLang="en-US" sz="1000" dirty="0">
                <a:solidFill>
                  <a:srgbClr val="FFFF00"/>
                </a:solidFill>
              </a:rPr>
              <a:t>-Carboniferous intrusion, Ross of Mull, Scotland</a:t>
            </a:r>
          </a:p>
          <a:p>
            <a:pPr marL="108000" indent="-108000">
              <a:lnSpc>
                <a:spcPct val="120000"/>
              </a:lnSpc>
              <a:spcBef>
                <a:spcPts val="300"/>
              </a:spcBef>
              <a:buClr>
                <a:schemeClr val="accent2"/>
              </a:buClr>
              <a:buFont typeface="Arial" panose="020B0604020202020204" pitchFamily="34" charset="0"/>
              <a:buChar char="•"/>
            </a:pPr>
            <a:r>
              <a:rPr lang="en-GB" altLang="en-US" sz="1000" dirty="0">
                <a:solidFill>
                  <a:srgbClr val="FFFF00"/>
                </a:solidFill>
              </a:rPr>
              <a:t>Figure (from </a:t>
            </a:r>
            <a:r>
              <a:rPr lang="en-GB" altLang="en-US" sz="1000" dirty="0"/>
              <a:t>J-P Burg’s 2016 lecture notes, www.files.ethz.ch/structuralgeology/JPB/files/English/4joints.pdf, p.151): some significant fracture types around a central intrusion with a caldera</a:t>
            </a:r>
          </a:p>
          <a:p>
            <a:pPr marL="0" indent="0">
              <a:lnSpc>
                <a:spcPct val="120000"/>
              </a:lnSpc>
              <a:spcBef>
                <a:spcPts val="300"/>
              </a:spcBef>
              <a:buClr>
                <a:schemeClr val="accent2"/>
              </a:buClr>
              <a:buFont typeface="Arial" panose="020B0604020202020204" pitchFamily="34" charset="0"/>
              <a:buNone/>
            </a:pPr>
            <a:endParaRPr lang="en-GB" altLang="en-US" sz="1000"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2">
            <a:extLst>
              <a:ext uri="{FF2B5EF4-FFF2-40B4-BE49-F238E27FC236}">
                <a16:creationId xmlns:a16="http://schemas.microsoft.com/office/drawing/2014/main" id="{C2BFAC60-539C-409C-B7BC-1AF259E98987}"/>
              </a:ext>
            </a:extLst>
          </p:cNvPr>
          <p:cNvSpPr>
            <a:spLocks noGrp="1" noRot="1" noChangeAspect="1" noChangeArrowheads="1" noTextEdit="1"/>
          </p:cNvSpPr>
          <p:nvPr>
            <p:ph type="sldImg"/>
          </p:nvPr>
        </p:nvSpPr>
        <p:spPr>
          <a:ln/>
        </p:spPr>
      </p:sp>
      <p:sp>
        <p:nvSpPr>
          <p:cNvPr id="338947" name="Rectangle 3">
            <a:extLst>
              <a:ext uri="{FF2B5EF4-FFF2-40B4-BE49-F238E27FC236}">
                <a16:creationId xmlns:a16="http://schemas.microsoft.com/office/drawing/2014/main" id="{A18E315C-C320-4C46-B2F4-04A690B4389E}"/>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by Steve Covey-Crump based on Price &amp; Cosgrove, p.61. </a:t>
            </a:r>
            <a:r>
              <a:rPr lang="en-GB" altLang="en-US" sz="1000" i="1" dirty="0" err="1"/>
              <a:t>p</a:t>
            </a:r>
            <a:r>
              <a:rPr lang="en-GB" altLang="en-US" sz="1000" i="1" baseline="-25000" dirty="0" err="1"/>
              <a:t>magma</a:t>
            </a:r>
            <a:r>
              <a:rPr lang="en-GB" altLang="en-US" sz="1000" dirty="0"/>
              <a:t> is the magma pressure which in the magma chamber is here given by the weight of the overlying column of rock</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Rectangle 2">
            <a:extLst>
              <a:ext uri="{FF2B5EF4-FFF2-40B4-BE49-F238E27FC236}">
                <a16:creationId xmlns:a16="http://schemas.microsoft.com/office/drawing/2014/main" id="{333C4F86-601F-4733-9DD5-4641A2C8FD3C}"/>
              </a:ext>
            </a:extLst>
          </p:cNvPr>
          <p:cNvSpPr>
            <a:spLocks noGrp="1" noRot="1" noChangeAspect="1" noChangeArrowheads="1" noTextEdit="1"/>
          </p:cNvSpPr>
          <p:nvPr>
            <p:ph type="sldImg"/>
          </p:nvPr>
        </p:nvSpPr>
        <p:spPr>
          <a:ln/>
        </p:spPr>
      </p:sp>
      <p:sp>
        <p:nvSpPr>
          <p:cNvPr id="329731" name="Rectangle 3">
            <a:extLst>
              <a:ext uri="{FF2B5EF4-FFF2-40B4-BE49-F238E27FC236}">
                <a16:creationId xmlns:a16="http://schemas.microsoft.com/office/drawing/2014/main" id="{B3814946-7EFD-487D-A38B-470EE3638C16}"/>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The equation for magma overpressure is Eq. 9.15 of Gudmundsson (who also derives it). For his original development of this equation, see Gudmundsson, 1983, </a:t>
            </a:r>
            <a:r>
              <a:rPr lang="en-GB" altLang="en-US" sz="1000" i="1" dirty="0">
                <a:latin typeface="Times New Roman" panose="02020603050405020304" pitchFamily="18" charset="0"/>
                <a:cs typeface="Times New Roman" panose="02020603050405020304" pitchFamily="18" charset="0"/>
              </a:rPr>
              <a:t>Journal of Structural Geology</a:t>
            </a:r>
            <a:r>
              <a:rPr lang="en-GB" altLang="en-US" sz="1000" i="0" dirty="0">
                <a:latin typeface="Times New Roman" panose="02020603050405020304" pitchFamily="18" charset="0"/>
                <a:cs typeface="Times New Roman" panose="02020603050405020304" pitchFamily="18" charset="0"/>
              </a:rPr>
              <a:t> 5: 623-626, https://doi.org/10.1016/0191-8141(83)90075-5</a:t>
            </a:r>
            <a:endParaRPr lang="en-GB" altLang="en-US" sz="1000" dirty="0">
              <a:latin typeface="Times New Roman" panose="02020603050405020304" pitchFamily="18" charset="0"/>
              <a:cs typeface="Times New Roman" panose="02020603050405020304" pitchFamily="18" charset="0"/>
            </a:endParaRP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If you could estimate the along strike length (</a:t>
            </a:r>
            <a:r>
              <a:rPr lang="en-GB" altLang="en-US" sz="1000" i="1" spc="150" baseline="0" dirty="0">
                <a:latin typeface="Times New Roman" panose="02020603050405020304" pitchFamily="18" charset="0"/>
                <a:cs typeface="Times New Roman" panose="02020603050405020304" pitchFamily="18" charset="0"/>
              </a:rPr>
              <a:t>W</a:t>
            </a:r>
            <a:r>
              <a:rPr lang="en-GB" altLang="en-US" sz="1000" dirty="0">
                <a:latin typeface="Times New Roman" panose="02020603050405020304" pitchFamily="18" charset="0"/>
                <a:cs typeface="Times New Roman" panose="02020603050405020304" pitchFamily="18" charset="0"/>
              </a:rPr>
              <a:t>) of a mapped dyke, then combined with a measurement of its thickness </a:t>
            </a:r>
            <a:r>
              <a:rPr lang="en-GB" altLang="en-US" sz="1000" spc="150" baseline="0" dirty="0">
                <a:latin typeface="Times New Roman" panose="02020603050405020304" pitchFamily="18" charset="0"/>
                <a:cs typeface="Times New Roman" panose="02020603050405020304" pitchFamily="18" charset="0"/>
              </a:rPr>
              <a:t>(</a:t>
            </a:r>
            <a:r>
              <a:rPr lang="en-GB" altLang="en-US" sz="1000" i="1" spc="150" baseline="0" dirty="0">
                <a:latin typeface="Times New Roman" panose="02020603050405020304" pitchFamily="18" charset="0"/>
                <a:cs typeface="Times New Roman" panose="02020603050405020304" pitchFamily="18" charset="0"/>
              </a:rPr>
              <a:t>A</a:t>
            </a:r>
            <a:r>
              <a:rPr lang="en-GB" altLang="en-US" sz="1000" dirty="0">
                <a:latin typeface="Times New Roman" panose="02020603050405020304" pitchFamily="18" charset="0"/>
                <a:cs typeface="Times New Roman" panose="02020603050405020304" pitchFamily="18" charset="0"/>
              </a:rPr>
              <a:t>)</a:t>
            </a:r>
            <a:r>
              <a:rPr lang="en-GB" altLang="en-US" sz="1000" i="1" dirty="0">
                <a:latin typeface="Times New Roman" panose="02020603050405020304" pitchFamily="18" charset="0"/>
                <a:cs typeface="Times New Roman" panose="02020603050405020304" pitchFamily="18" charset="0"/>
              </a:rPr>
              <a:t>,</a:t>
            </a:r>
            <a:r>
              <a:rPr lang="en-GB" altLang="en-US" sz="1000" dirty="0">
                <a:latin typeface="Times New Roman" panose="02020603050405020304" pitchFamily="18" charset="0"/>
                <a:cs typeface="Times New Roman" panose="02020603050405020304" pitchFamily="18" charset="0"/>
              </a:rPr>
              <a:t> you could evaluate the magma overpressure and hence the horizontal tensile strength of your country rocks (values of </a:t>
            </a:r>
            <a:r>
              <a:rPr lang="en-GB" altLang="en-US" sz="1000" i="1" dirty="0">
                <a:latin typeface="Times New Roman" panose="02020603050405020304" pitchFamily="18" charset="0"/>
                <a:cs typeface="Times New Roman" panose="02020603050405020304" pitchFamily="18" charset="0"/>
              </a:rPr>
              <a:t>E</a:t>
            </a:r>
            <a:r>
              <a:rPr lang="en-GB" altLang="en-US" sz="1000" dirty="0">
                <a:latin typeface="Times New Roman" panose="02020603050405020304" pitchFamily="18" charset="0"/>
                <a:cs typeface="Times New Roman" panose="02020603050405020304" pitchFamily="18" charset="0"/>
              </a:rPr>
              <a:t> and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ν</a:t>
            </a:r>
            <a:r>
              <a:rPr lang="en-GB" altLang="en-US" sz="1000" dirty="0">
                <a:latin typeface="Times New Roman" panose="02020603050405020304" pitchFamily="18" charset="0"/>
                <a:cs typeface="Times New Roman" panose="02020603050405020304" pitchFamily="18" charset="0"/>
              </a:rPr>
              <a:t> are easily obtained from the literature). When along strike length is not easily obtained, a value of </a:t>
            </a:r>
            <a:r>
              <a:rPr lang="en-GB" altLang="en-US" sz="1000" i="1" dirty="0">
                <a:latin typeface="Times New Roman" panose="02020603050405020304" pitchFamily="18" charset="0"/>
                <a:cs typeface="Times New Roman" panose="02020603050405020304" pitchFamily="18" charset="0"/>
              </a:rPr>
              <a:t>W</a:t>
            </a:r>
            <a:r>
              <a:rPr lang="en-GB" altLang="en-US" sz="1000" i="0" dirty="0">
                <a:latin typeface="Times New Roman" panose="02020603050405020304" pitchFamily="18" charset="0"/>
                <a:cs typeface="Times New Roman" panose="02020603050405020304" pitchFamily="18" charset="0"/>
              </a:rPr>
              <a:t>/</a:t>
            </a:r>
            <a:r>
              <a:rPr lang="en-GB" altLang="en-US" sz="1000" i="1" dirty="0">
                <a:latin typeface="Times New Roman" panose="02020603050405020304" pitchFamily="18" charset="0"/>
                <a:cs typeface="Times New Roman" panose="02020603050405020304" pitchFamily="18" charset="0"/>
              </a:rPr>
              <a:t>A</a:t>
            </a:r>
            <a:r>
              <a:rPr lang="en-GB" altLang="en-US" sz="1000" i="0" dirty="0">
                <a:latin typeface="Times New Roman" panose="02020603050405020304" pitchFamily="18" charset="0"/>
                <a:cs typeface="Times New Roman" panose="02020603050405020304" pitchFamily="18" charset="0"/>
              </a:rPr>
              <a:t> = 1500, based on dyke measurements worldwide, has been used, </a:t>
            </a:r>
            <a:r>
              <a:rPr lang="en-GB" altLang="en-US" sz="1000" i="1" dirty="0">
                <a:latin typeface="Times New Roman" panose="02020603050405020304" pitchFamily="18" charset="0"/>
                <a:cs typeface="Times New Roman" panose="02020603050405020304" pitchFamily="18" charset="0"/>
              </a:rPr>
              <a:t>e.g.</a:t>
            </a:r>
            <a:r>
              <a:rPr lang="en-GB" altLang="en-US" sz="1000" i="0" dirty="0">
                <a:latin typeface="Times New Roman" panose="02020603050405020304" pitchFamily="18" charset="0"/>
                <a:cs typeface="Times New Roman" panose="02020603050405020304" pitchFamily="18" charset="0"/>
              </a:rPr>
              <a:t>, Browning </a:t>
            </a:r>
            <a:r>
              <a:rPr lang="en-GB" altLang="en-US" sz="1000" i="1" dirty="0">
                <a:latin typeface="Times New Roman" panose="02020603050405020304" pitchFamily="18" charset="0"/>
                <a:cs typeface="Times New Roman" panose="02020603050405020304" pitchFamily="18" charset="0"/>
              </a:rPr>
              <a:t>et al.</a:t>
            </a:r>
            <a:r>
              <a:rPr lang="en-GB" altLang="en-US" sz="1000" i="0" dirty="0">
                <a:latin typeface="Times New Roman" panose="02020603050405020304" pitchFamily="18" charset="0"/>
                <a:cs typeface="Times New Roman" panose="02020603050405020304" pitchFamily="18" charset="0"/>
              </a:rPr>
              <a:t>, 2015, </a:t>
            </a:r>
            <a:r>
              <a:rPr lang="en-GB" altLang="en-US" sz="1000" i="1" dirty="0">
                <a:latin typeface="Times New Roman" panose="02020603050405020304" pitchFamily="18" charset="0"/>
                <a:cs typeface="Times New Roman" panose="02020603050405020304" pitchFamily="18" charset="0"/>
              </a:rPr>
              <a:t>Nature, Scientific Reports</a:t>
            </a:r>
            <a:r>
              <a:rPr lang="en-GB" altLang="en-US" sz="1000" i="0" dirty="0">
                <a:latin typeface="Times New Roman" panose="02020603050405020304" pitchFamily="18" charset="0"/>
                <a:cs typeface="Times New Roman" panose="02020603050405020304" pitchFamily="18" charset="0"/>
              </a:rPr>
              <a:t> 5, article 15785, </a:t>
            </a:r>
            <a:r>
              <a:rPr lang="en-GB" sz="1000" dirty="0"/>
              <a:t>https://doi.org/</a:t>
            </a:r>
            <a:r>
              <a:rPr lang="en-GB" altLang="en-US" sz="1000" i="0" dirty="0">
                <a:latin typeface="Times New Roman" panose="02020603050405020304" pitchFamily="18" charset="0"/>
                <a:cs typeface="Times New Roman" panose="02020603050405020304" pitchFamily="18" charset="0"/>
              </a:rPr>
              <a:t>10.1038/srep15785. Descriptions of fracture aperture (effectively </a:t>
            </a:r>
            <a:r>
              <a:rPr lang="en-GB" altLang="en-US" sz="1000" i="1" dirty="0">
                <a:latin typeface="Times New Roman" panose="02020603050405020304" pitchFamily="18" charset="0"/>
                <a:cs typeface="Times New Roman" panose="02020603050405020304" pitchFamily="18" charset="0"/>
              </a:rPr>
              <a:t>A</a:t>
            </a:r>
            <a:r>
              <a:rPr lang="en-GB" altLang="en-US" sz="1000" i="0" dirty="0">
                <a:latin typeface="Times New Roman" panose="02020603050405020304" pitchFamily="18" charset="0"/>
                <a:cs typeface="Times New Roman" panose="02020603050405020304" pitchFamily="18" charset="0"/>
              </a:rPr>
              <a:t>) are given by Hooker </a:t>
            </a:r>
            <a:r>
              <a:rPr lang="en-GB" altLang="en-US" sz="1000" i="1" dirty="0">
                <a:latin typeface="Times New Roman" panose="02020603050405020304" pitchFamily="18" charset="0"/>
                <a:cs typeface="Times New Roman" panose="02020603050405020304" pitchFamily="18" charset="0"/>
              </a:rPr>
              <a:t>et al.</a:t>
            </a:r>
            <a:r>
              <a:rPr lang="en-GB" altLang="en-US" sz="1000" i="0" dirty="0">
                <a:latin typeface="Times New Roman" panose="02020603050405020304" pitchFamily="18" charset="0"/>
                <a:cs typeface="Times New Roman" panose="02020603050405020304" pitchFamily="18" charset="0"/>
              </a:rPr>
              <a:t>, 2014, </a:t>
            </a:r>
            <a:r>
              <a:rPr lang="sv-SE" altLang="en-US" sz="1000" i="1" dirty="0" err="1">
                <a:latin typeface="Times New Roman" panose="02020603050405020304" pitchFamily="18" charset="0"/>
                <a:cs typeface="Times New Roman" panose="02020603050405020304" pitchFamily="18" charset="0"/>
              </a:rPr>
              <a:t>Geological</a:t>
            </a:r>
            <a:r>
              <a:rPr lang="sv-SE" altLang="en-US" sz="1000" i="1" dirty="0">
                <a:latin typeface="Times New Roman" panose="02020603050405020304" pitchFamily="18" charset="0"/>
                <a:cs typeface="Times New Roman" panose="02020603050405020304" pitchFamily="18" charset="0"/>
              </a:rPr>
              <a:t> </a:t>
            </a:r>
            <a:r>
              <a:rPr lang="sv-SE" altLang="en-US" sz="1000" i="1" dirty="0" err="1">
                <a:latin typeface="Times New Roman" panose="02020603050405020304" pitchFamily="18" charset="0"/>
                <a:cs typeface="Times New Roman" panose="02020603050405020304" pitchFamily="18" charset="0"/>
              </a:rPr>
              <a:t>Society</a:t>
            </a:r>
            <a:r>
              <a:rPr lang="sv-SE" altLang="en-US" sz="1000" i="1" dirty="0">
                <a:latin typeface="Times New Roman" panose="02020603050405020304" pitchFamily="18" charset="0"/>
                <a:cs typeface="Times New Roman" panose="02020603050405020304" pitchFamily="18" charset="0"/>
              </a:rPr>
              <a:t> </a:t>
            </a:r>
            <a:r>
              <a:rPr lang="sv-SE" altLang="en-US" sz="1000" i="1" dirty="0" err="1">
                <a:latin typeface="Times New Roman" panose="02020603050405020304" pitchFamily="18" charset="0"/>
                <a:cs typeface="Times New Roman" panose="02020603050405020304" pitchFamily="18" charset="0"/>
              </a:rPr>
              <a:t>of</a:t>
            </a:r>
            <a:r>
              <a:rPr lang="sv-SE" altLang="en-US" sz="1000" i="1" dirty="0">
                <a:latin typeface="Times New Roman" panose="02020603050405020304" pitchFamily="18" charset="0"/>
                <a:cs typeface="Times New Roman" panose="02020603050405020304" pitchFamily="18" charset="0"/>
              </a:rPr>
              <a:t> </a:t>
            </a:r>
            <a:r>
              <a:rPr lang="sv-SE" altLang="en-US" sz="1000" i="1" dirty="0" err="1">
                <a:latin typeface="Times New Roman" panose="02020603050405020304" pitchFamily="18" charset="0"/>
                <a:cs typeface="Times New Roman" panose="02020603050405020304" pitchFamily="18" charset="0"/>
              </a:rPr>
              <a:t>America</a:t>
            </a:r>
            <a:r>
              <a:rPr lang="sv-SE" altLang="en-US" sz="1000" i="1" dirty="0">
                <a:latin typeface="Times New Roman" panose="02020603050405020304" pitchFamily="18" charset="0"/>
                <a:cs typeface="Times New Roman" panose="02020603050405020304" pitchFamily="18" charset="0"/>
              </a:rPr>
              <a:t> Bulletin </a:t>
            </a:r>
            <a:r>
              <a:rPr lang="sv-SE" altLang="en-US" sz="1000" i="0" dirty="0">
                <a:latin typeface="Times New Roman" panose="02020603050405020304" pitchFamily="18" charset="0"/>
                <a:cs typeface="Times New Roman" panose="02020603050405020304" pitchFamily="18" charset="0"/>
              </a:rPr>
              <a:t>126: 1340-1362, </a:t>
            </a:r>
            <a:r>
              <a:rPr lang="en-GB" sz="1000" dirty="0"/>
              <a:t>https://doi.org/</a:t>
            </a:r>
            <a:r>
              <a:rPr lang="sv-SE" altLang="en-US" sz="1000" i="0" dirty="0">
                <a:latin typeface="Times New Roman" panose="02020603050405020304" pitchFamily="18" charset="0"/>
                <a:cs typeface="Times New Roman" panose="02020603050405020304" pitchFamily="18" charset="0"/>
              </a:rPr>
              <a:t>10.1130/B30945.1</a:t>
            </a:r>
            <a:endParaRPr lang="en-GB" altLang="en-US" sz="1000" dirty="0">
              <a:latin typeface="Times New Roman" panose="02020603050405020304" pitchFamily="18" charset="0"/>
              <a:cs typeface="Times New Roman" panose="02020603050405020304" pitchFamily="18" charset="0"/>
            </a:endParaRP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For a more detailed analysis which allows the orientation and magnitudes of the principal stresses to be obtained from dyke orientation and dimension data, see </a:t>
            </a:r>
            <a:r>
              <a:rPr lang="en-GB" altLang="en-US" sz="1000" dirty="0" err="1">
                <a:latin typeface="Times New Roman" panose="02020603050405020304" pitchFamily="18" charset="0"/>
                <a:cs typeface="Times New Roman" panose="02020603050405020304" pitchFamily="18" charset="0"/>
              </a:rPr>
              <a:t>Lahiri</a:t>
            </a:r>
            <a:r>
              <a:rPr lang="en-GB" altLang="en-US" sz="1000" dirty="0">
                <a:latin typeface="Times New Roman" panose="02020603050405020304" pitchFamily="18" charset="0"/>
                <a:cs typeface="Times New Roman" panose="02020603050405020304" pitchFamily="18" charset="0"/>
              </a:rPr>
              <a:t> </a:t>
            </a:r>
            <a:r>
              <a:rPr lang="en-GB" altLang="en-US" sz="1000" i="1" dirty="0">
                <a:latin typeface="Times New Roman" panose="02020603050405020304" pitchFamily="18" charset="0"/>
                <a:cs typeface="Times New Roman" panose="02020603050405020304" pitchFamily="18" charset="0"/>
              </a:rPr>
              <a:t>et al.</a:t>
            </a:r>
            <a:r>
              <a:rPr lang="en-GB" altLang="en-US" sz="1000" i="0" dirty="0">
                <a:latin typeface="Times New Roman" panose="02020603050405020304" pitchFamily="18" charset="0"/>
                <a:cs typeface="Times New Roman" panose="02020603050405020304" pitchFamily="18" charset="0"/>
              </a:rPr>
              <a:t>, 2019, </a:t>
            </a:r>
            <a:r>
              <a:rPr lang="en-GB" altLang="en-US" sz="1000" i="1" dirty="0">
                <a:latin typeface="Times New Roman" panose="02020603050405020304" pitchFamily="18" charset="0"/>
                <a:cs typeface="Times New Roman" panose="02020603050405020304" pitchFamily="18" charset="0"/>
              </a:rPr>
              <a:t>Journal of Structural Geology</a:t>
            </a:r>
            <a:r>
              <a:rPr lang="en-GB" altLang="en-US" sz="1000" i="0" dirty="0">
                <a:latin typeface="Times New Roman" panose="02020603050405020304" pitchFamily="18" charset="0"/>
                <a:cs typeface="Times New Roman" panose="02020603050405020304" pitchFamily="18" charset="0"/>
              </a:rPr>
              <a:t> 124: 23-34, </a:t>
            </a:r>
            <a:r>
              <a:rPr lang="en-GB" sz="1000" dirty="0"/>
              <a:t>https://doi.org/10.1016/j.jsg.2019.04.001</a:t>
            </a:r>
            <a:r>
              <a:rPr lang="en-GB" altLang="en-US" sz="1000" i="0" dirty="0">
                <a:latin typeface="Times New Roman" panose="02020603050405020304" pitchFamily="18" charset="0"/>
                <a:cs typeface="Times New Roman" panose="02020603050405020304" pitchFamily="18" charset="0"/>
              </a:rPr>
              <a:t>. This utilizes Mohr circle techniques presented by Jolly &amp; Sanderson, 1997, </a:t>
            </a:r>
            <a:r>
              <a:rPr lang="en-GB" altLang="en-US" sz="1000" i="1" dirty="0">
                <a:latin typeface="Times New Roman" panose="02020603050405020304" pitchFamily="18" charset="0"/>
                <a:cs typeface="Times New Roman" panose="02020603050405020304" pitchFamily="18" charset="0"/>
              </a:rPr>
              <a:t>Journal of Structural Geology</a:t>
            </a:r>
            <a:r>
              <a:rPr lang="en-GB" altLang="en-US" sz="1000" i="0" dirty="0">
                <a:latin typeface="Times New Roman" panose="02020603050405020304" pitchFamily="18" charset="0"/>
                <a:cs typeface="Times New Roman" panose="02020603050405020304" pitchFamily="18" charset="0"/>
              </a:rPr>
              <a:t> 19: 887-892, </a:t>
            </a:r>
            <a:r>
              <a:rPr lang="en-GB" sz="1000" dirty="0"/>
              <a:t>https://doi.org/10.1016/S0191-8141(97)00014-X</a:t>
            </a:r>
            <a:endParaRPr lang="en-GB" altLang="en-US" sz="1000" dirty="0">
              <a:latin typeface="Times New Roman" panose="02020603050405020304" pitchFamily="18" charset="0"/>
              <a:cs typeface="Times New Roman" panose="02020603050405020304" pitchFamily="18" charset="0"/>
            </a:endParaRP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Figure from Gudmundsson, p.271</a:t>
            </a:r>
          </a:p>
          <a:p>
            <a:pPr marL="0" indent="0">
              <a:spcBef>
                <a:spcPts val="300"/>
              </a:spcBef>
              <a:buFont typeface="Arial" panose="020B0604020202020204" pitchFamily="34" charset="0"/>
              <a:buNone/>
            </a:pPr>
            <a:endParaRPr lang="en-GB" altLang="en-US" sz="1000" dirty="0">
              <a:latin typeface="Times New Roman" panose="02020603050405020304" pitchFamily="18" charset="0"/>
              <a:cs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Rectangle 2">
            <a:extLst>
              <a:ext uri="{FF2B5EF4-FFF2-40B4-BE49-F238E27FC236}">
                <a16:creationId xmlns:a16="http://schemas.microsoft.com/office/drawing/2014/main" id="{05B20021-D8E7-49C4-9359-E8822CF90EE1}"/>
              </a:ext>
            </a:extLst>
          </p:cNvPr>
          <p:cNvSpPr>
            <a:spLocks noGrp="1" noRot="1" noChangeAspect="1" noChangeArrowheads="1" noTextEdit="1"/>
          </p:cNvSpPr>
          <p:nvPr>
            <p:ph type="sldImg"/>
          </p:nvPr>
        </p:nvSpPr>
        <p:spPr>
          <a:ln/>
        </p:spPr>
      </p:sp>
      <p:sp>
        <p:nvSpPr>
          <p:cNvPr id="331779" name="Rectangle 3">
            <a:extLst>
              <a:ext uri="{FF2B5EF4-FFF2-40B4-BE49-F238E27FC236}">
                <a16:creationId xmlns:a16="http://schemas.microsoft.com/office/drawing/2014/main" id="{526206F5-64A6-4625-AB0A-8D2F637257B0}"/>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For a review of the mechanics of dyke and sill emplacement, see Rivalta, 2015, </a:t>
            </a:r>
            <a:r>
              <a:rPr lang="en-GB" altLang="en-US" sz="1000" i="1" dirty="0"/>
              <a:t>Tectonophysics</a:t>
            </a:r>
            <a:r>
              <a:rPr lang="en-GB" altLang="en-US" sz="1000" dirty="0"/>
              <a:t> 638: 1-42, </a:t>
            </a:r>
            <a:r>
              <a:rPr lang="en-GB" sz="1000" dirty="0"/>
              <a:t>https://doi.org/10.1016/j.tecto.2014.10.003</a:t>
            </a:r>
            <a:r>
              <a:rPr lang="en-GB" altLang="en-US" sz="1000" dirty="0"/>
              <a:t>. For some experiments examining emplacement of more complexly shaped igneous bodies, see </a:t>
            </a:r>
            <a:r>
              <a:rPr lang="en-GB" altLang="en-US" sz="1000" dirty="0" err="1"/>
              <a:t>Bertelsen</a:t>
            </a:r>
            <a:r>
              <a:rPr lang="en-GB" altLang="en-US" sz="1000" dirty="0"/>
              <a:t> </a:t>
            </a:r>
            <a:r>
              <a:rPr lang="en-GB" altLang="en-US" sz="1000" i="1" dirty="0"/>
              <a:t>et al.</a:t>
            </a:r>
            <a:r>
              <a:rPr lang="en-GB" altLang="en-US" sz="1000" i="0" dirty="0"/>
              <a:t>, 2018, </a:t>
            </a:r>
            <a:r>
              <a:rPr lang="en-GB" altLang="en-US" sz="1000" i="1" dirty="0"/>
              <a:t>Frontiers in Earth Science</a:t>
            </a:r>
            <a:r>
              <a:rPr lang="en-GB" altLang="en-US" sz="1000" i="0" dirty="0"/>
              <a:t> 6, article 199, </a:t>
            </a:r>
            <a:r>
              <a:rPr lang="en-GB" sz="1000" dirty="0"/>
              <a:t>https://doi.org/10.3389/feart.2018.00199</a:t>
            </a:r>
            <a:endParaRPr lang="en-GB" altLang="en-US" sz="1000" dirty="0"/>
          </a:p>
          <a:p>
            <a:pPr marL="108000" indent="-108000">
              <a:spcBef>
                <a:spcPts val="300"/>
              </a:spcBef>
              <a:buFont typeface="Arial" panose="020B0604020202020204" pitchFamily="34" charset="0"/>
              <a:buChar char="•"/>
            </a:pPr>
            <a:r>
              <a:rPr lang="en-GB" altLang="en-US" sz="1000" dirty="0"/>
              <a:t>Figure by Steve Covey-Crump based on Price &amp; Cosgrove, p.77</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6" name="Rectangle 2">
            <a:extLst>
              <a:ext uri="{FF2B5EF4-FFF2-40B4-BE49-F238E27FC236}">
                <a16:creationId xmlns:a16="http://schemas.microsoft.com/office/drawing/2014/main" id="{F459EF61-C311-4D94-AD5C-C778331D16CE}"/>
              </a:ext>
            </a:extLst>
          </p:cNvPr>
          <p:cNvSpPr>
            <a:spLocks noGrp="1" noRot="1" noChangeAspect="1" noChangeArrowheads="1" noTextEdit="1"/>
          </p:cNvSpPr>
          <p:nvPr>
            <p:ph type="sldImg"/>
          </p:nvPr>
        </p:nvSpPr>
        <p:spPr>
          <a:ln/>
        </p:spPr>
      </p:sp>
      <p:sp>
        <p:nvSpPr>
          <p:cNvPr id="333827" name="Rectangle 3">
            <a:extLst>
              <a:ext uri="{FF2B5EF4-FFF2-40B4-BE49-F238E27FC236}">
                <a16:creationId xmlns:a16="http://schemas.microsoft.com/office/drawing/2014/main" id="{F32DDFC2-25C6-4238-98B1-58BF7279E41C}"/>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A field study of what happens when fractures meet interfaces is presented by Larsen </a:t>
            </a:r>
            <a:r>
              <a:rPr lang="en-GB" altLang="en-US" sz="1000" i="1" dirty="0"/>
              <a:t>et al.</a:t>
            </a:r>
            <a:r>
              <a:rPr lang="en-GB" altLang="en-US" sz="1000" dirty="0"/>
              <a:t>, 2010, </a:t>
            </a:r>
            <a:r>
              <a:rPr lang="en-GB" altLang="en-US" sz="1000" i="1" dirty="0"/>
              <a:t>Marine and Petroleum Geology</a:t>
            </a:r>
            <a:r>
              <a:rPr lang="en-GB" altLang="en-US" sz="1000" dirty="0"/>
              <a:t> 27: 1531-1550, </a:t>
            </a:r>
            <a:r>
              <a:rPr lang="en-GB" sz="1000" dirty="0"/>
              <a:t>https://doi.org/</a:t>
            </a:r>
            <a:r>
              <a:rPr lang="en-GB" sz="1000" dirty="0">
                <a:effectLst/>
                <a:latin typeface="Times New Roman" panose="02020603050405020304" pitchFamily="18" charset="0"/>
              </a:rPr>
              <a:t>10.1016/j.marpetgeo.2010.03.011</a:t>
            </a:r>
            <a:endParaRPr lang="en-GB" altLang="en-US" sz="1000" dirty="0"/>
          </a:p>
          <a:p>
            <a:pPr marL="108000" indent="-108000">
              <a:spcBef>
                <a:spcPts val="300"/>
              </a:spcBef>
              <a:buFont typeface="Arial" panose="020B0604020202020204" pitchFamily="34" charset="0"/>
              <a:buChar char="•"/>
            </a:pPr>
            <a:r>
              <a:rPr lang="en-GB" altLang="en-US" sz="1000" dirty="0"/>
              <a:t>Photo left (Steve Covey-Crump): deflected vein, Carboniferous limestones, West Angle Bay, Pembrokeshire</a:t>
            </a:r>
          </a:p>
          <a:p>
            <a:pPr marL="108000" indent="-108000">
              <a:spcBef>
                <a:spcPts val="300"/>
              </a:spcBef>
              <a:buFont typeface="Arial" panose="020B0604020202020204" pitchFamily="34" charset="0"/>
              <a:buChar char="•"/>
            </a:pPr>
            <a:r>
              <a:rPr lang="en-GB" altLang="en-US" sz="1000" dirty="0"/>
              <a:t>Photos right (Steve Covey-Crump): arrested hydraulic fractures in sandstone/mudstone interbeds, </a:t>
            </a:r>
            <a:r>
              <a:rPr lang="en-GB" altLang="en-US" sz="1000" dirty="0" err="1"/>
              <a:t>Marloes</a:t>
            </a:r>
            <a:r>
              <a:rPr lang="en-GB" altLang="en-US" sz="1000" dirty="0"/>
              <a:t> Sands, Pembrokeshire. The bottom right photo is an enlargement of part of the top right photo – note how the fractures start to propagate into the mudstones by attempting to open up cleavage surfaces</a:t>
            </a:r>
          </a:p>
          <a:p>
            <a:pPr marL="108000" indent="-108000">
              <a:spcBef>
                <a:spcPts val="300"/>
              </a:spcBef>
              <a:buFont typeface="Arial" panose="020B0604020202020204" pitchFamily="34" charset="0"/>
              <a:buChar char="•"/>
            </a:pPr>
            <a:r>
              <a:rPr lang="en-GB" altLang="en-US" sz="1000" dirty="0"/>
              <a:t>Figure from Gudmundsson, p.382</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Rectangle 2">
            <a:extLst>
              <a:ext uri="{FF2B5EF4-FFF2-40B4-BE49-F238E27FC236}">
                <a16:creationId xmlns:a16="http://schemas.microsoft.com/office/drawing/2014/main" id="{0E0E2AC3-2130-48E8-B424-FDB4C8E254B2}"/>
              </a:ext>
            </a:extLst>
          </p:cNvPr>
          <p:cNvSpPr>
            <a:spLocks noGrp="1" noRot="1" noChangeAspect="1" noChangeArrowheads="1" noTextEdit="1"/>
          </p:cNvSpPr>
          <p:nvPr>
            <p:ph type="sldImg"/>
          </p:nvPr>
        </p:nvSpPr>
        <p:spPr>
          <a:ln/>
        </p:spPr>
      </p:sp>
      <p:sp>
        <p:nvSpPr>
          <p:cNvPr id="344067" name="Rectangle 3">
            <a:extLst>
              <a:ext uri="{FF2B5EF4-FFF2-40B4-BE49-F238E27FC236}">
                <a16:creationId xmlns:a16="http://schemas.microsoft.com/office/drawing/2014/main" id="{744B8753-0531-4AC9-8D74-FCE8FD48A435}"/>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For “change in the local orientation of the principal stresses in the neighbourhood of a mechanical discontinuity”, see Slide 23</a:t>
            </a:r>
          </a:p>
          <a:p>
            <a:pPr marL="108000" indent="-108000">
              <a:spcBef>
                <a:spcPts val="300"/>
              </a:spcBef>
              <a:buFont typeface="Arial" panose="020B0604020202020204" pitchFamily="34" charset="0"/>
              <a:buChar char="•"/>
            </a:pPr>
            <a:r>
              <a:rPr lang="en-GB" altLang="en-US" sz="1000" dirty="0"/>
              <a:t>By ‘Poisson effect’, I am referring to the observation that stretching in one direction leads to contraction in the direction at right angles to this</a:t>
            </a:r>
          </a:p>
          <a:p>
            <a:pPr marL="108000" indent="-108000">
              <a:spcBef>
                <a:spcPts val="300"/>
              </a:spcBef>
              <a:buFont typeface="Arial" panose="020B0604020202020204" pitchFamily="34" charset="0"/>
              <a:buChar char="•"/>
            </a:pPr>
            <a:r>
              <a:rPr lang="en-GB" altLang="en-US" sz="1000" dirty="0"/>
              <a:t>Figure redrawn by Steve Covey-Crump from Price &amp; Cosgrove, p.77</a:t>
            </a:r>
          </a:p>
          <a:p>
            <a:pPr marL="108000" indent="-108000">
              <a:spcBef>
                <a:spcPts val="300"/>
              </a:spcBef>
              <a:buFont typeface="Arial" panose="020B0604020202020204" pitchFamily="34" charset="0"/>
              <a:buChar char="•"/>
            </a:pPr>
            <a:r>
              <a:rPr lang="en-GB" altLang="en-US" sz="1000" dirty="0"/>
              <a:t>Photo (Steve Covey-Crump): Tertiary sub-vertical dyke, Ross of Mull, Scotland</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10" name="Rectangle 2">
            <a:extLst>
              <a:ext uri="{FF2B5EF4-FFF2-40B4-BE49-F238E27FC236}">
                <a16:creationId xmlns:a16="http://schemas.microsoft.com/office/drawing/2014/main" id="{0C45C000-B9B5-4ADE-84BC-048CB6C8C40A}"/>
              </a:ext>
            </a:extLst>
          </p:cNvPr>
          <p:cNvSpPr>
            <a:spLocks noGrp="1" noRot="1" noChangeAspect="1" noChangeArrowheads="1" noTextEdit="1"/>
          </p:cNvSpPr>
          <p:nvPr>
            <p:ph type="sldImg"/>
          </p:nvPr>
        </p:nvSpPr>
        <p:spPr>
          <a:ln/>
        </p:spPr>
      </p:sp>
      <p:sp>
        <p:nvSpPr>
          <p:cNvPr id="350211" name="Rectangle 3">
            <a:extLst>
              <a:ext uri="{FF2B5EF4-FFF2-40B4-BE49-F238E27FC236}">
                <a16:creationId xmlns:a16="http://schemas.microsoft.com/office/drawing/2014/main" id="{C5C2AD1E-22B9-487B-A6E0-B0D27E5403F6}"/>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err="1"/>
              <a:t>Gudmundsson</a:t>
            </a:r>
            <a:r>
              <a:rPr lang="en-GB" altLang="en-US" sz="1000" dirty="0"/>
              <a:t> provides the analysis that shows this (p.384-388)</a:t>
            </a:r>
          </a:p>
          <a:p>
            <a:pPr marL="108000" indent="-108000">
              <a:spcBef>
                <a:spcPts val="300"/>
              </a:spcBef>
              <a:buFont typeface="Arial" panose="020B0604020202020204" pitchFamily="34" charset="0"/>
              <a:buChar char="•"/>
            </a:pPr>
            <a:r>
              <a:rPr lang="en-GB" altLang="en-US" sz="1000" dirty="0"/>
              <a:t>Photo left (Steve Covey-Crump): Devonian units at Pembrokeshire</a:t>
            </a:r>
          </a:p>
          <a:p>
            <a:pPr marL="108000" indent="-108000">
              <a:spcBef>
                <a:spcPts val="300"/>
              </a:spcBef>
              <a:buFont typeface="Arial" panose="020B0604020202020204" pitchFamily="34" charset="0"/>
              <a:buChar char="•"/>
            </a:pPr>
            <a:r>
              <a:rPr lang="en-GB" altLang="en-US" sz="1000" dirty="0"/>
              <a:t>Photo right (Steve Covey-Crump): Carboniferous limestones at West Angle Bay, Pembrokeshire</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Rectangle 2">
            <a:extLst>
              <a:ext uri="{FF2B5EF4-FFF2-40B4-BE49-F238E27FC236}">
                <a16:creationId xmlns:a16="http://schemas.microsoft.com/office/drawing/2014/main" id="{26655C03-A4F3-4C25-99D8-A6FD527B6C2F}"/>
              </a:ext>
            </a:extLst>
          </p:cNvPr>
          <p:cNvSpPr>
            <a:spLocks noGrp="1" noRot="1" noChangeAspect="1" noChangeArrowheads="1" noTextEdit="1"/>
          </p:cNvSpPr>
          <p:nvPr>
            <p:ph type="sldImg"/>
          </p:nvPr>
        </p:nvSpPr>
        <p:spPr>
          <a:ln/>
        </p:spPr>
      </p:sp>
      <p:sp>
        <p:nvSpPr>
          <p:cNvPr id="357379" name="Rectangle 3">
            <a:extLst>
              <a:ext uri="{FF2B5EF4-FFF2-40B4-BE49-F238E27FC236}">
                <a16:creationId xmlns:a16="http://schemas.microsoft.com/office/drawing/2014/main" id="{97D2C2BE-69F1-4F60-94A2-1B900D27216F}"/>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Photo bottom right (Steve Covey-Crump): a dyke within the </a:t>
            </a:r>
            <a:r>
              <a:rPr lang="en-GB" altLang="en-US" sz="1000" dirty="0" err="1"/>
              <a:t>Onich</a:t>
            </a:r>
            <a:r>
              <a:rPr lang="en-GB" altLang="en-US" sz="1000" dirty="0"/>
              <a:t> shore section, Scotland</a:t>
            </a:r>
          </a:p>
          <a:p>
            <a:pPr marL="108000" indent="-108000">
              <a:spcBef>
                <a:spcPts val="300"/>
              </a:spcBef>
              <a:buFont typeface="Arial" panose="020B0604020202020204" pitchFamily="34" charset="0"/>
              <a:buChar char="•"/>
            </a:pPr>
            <a:r>
              <a:rPr lang="en-GB" altLang="en-US" sz="1000" dirty="0"/>
              <a:t>Photo left (Steve Covey-Crump): a Tertiary dyke, Ross of Mull, Scotland</a:t>
            </a:r>
          </a:p>
          <a:p>
            <a:pPr marL="108000" indent="-108000">
              <a:spcBef>
                <a:spcPts val="300"/>
              </a:spcBef>
              <a:buFont typeface="Arial" panose="020B0604020202020204" pitchFamily="34" charset="0"/>
              <a:buChar char="•"/>
            </a:pPr>
            <a:r>
              <a:rPr lang="en-GB" altLang="en-US" sz="1000" dirty="0"/>
              <a:t>Figure top right from Price &amp; Cosgrove, p.60</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Rectangle 2">
            <a:extLst>
              <a:ext uri="{FF2B5EF4-FFF2-40B4-BE49-F238E27FC236}">
                <a16:creationId xmlns:a16="http://schemas.microsoft.com/office/drawing/2014/main" id="{EC889B21-6359-45B3-8218-C13498FB21CD}"/>
              </a:ext>
            </a:extLst>
          </p:cNvPr>
          <p:cNvSpPr>
            <a:spLocks noGrp="1" noRot="1" noChangeAspect="1" noChangeArrowheads="1" noTextEdit="1"/>
          </p:cNvSpPr>
          <p:nvPr>
            <p:ph type="sldImg"/>
          </p:nvPr>
        </p:nvSpPr>
        <p:spPr>
          <a:ln/>
        </p:spPr>
      </p:sp>
      <p:sp>
        <p:nvSpPr>
          <p:cNvPr id="335875" name="Rectangle 3">
            <a:extLst>
              <a:ext uri="{FF2B5EF4-FFF2-40B4-BE49-F238E27FC236}">
                <a16:creationId xmlns:a16="http://schemas.microsoft.com/office/drawing/2014/main" id="{AF5106DC-C000-469B-93D6-5C0A52BEF3C5}"/>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Photo (from the BGS image database: geoscenic.bgs.ac.uk/asset-bank/action/</a:t>
            </a:r>
            <a:r>
              <a:rPr lang="en-GB" altLang="en-US" sz="1000" dirty="0" err="1"/>
              <a:t>viewHome</a:t>
            </a:r>
            <a:r>
              <a:rPr lang="en-GB" altLang="en-US" sz="1000" dirty="0"/>
              <a:t>, image P215588): a dyke in Glen Coe at the foot of Stob nan </a:t>
            </a:r>
            <a:r>
              <a:rPr lang="en-GB" altLang="en-US" sz="1000" dirty="0" err="1"/>
              <a:t>Cabar</a:t>
            </a:r>
            <a:r>
              <a:rPr lang="en-GB" altLang="en-US" sz="1000" dirty="0"/>
              <a:t>. Those of you going on the Easter field course to Scotland will be making a compass-and-pace map of dykes nearby this one</a:t>
            </a:r>
          </a:p>
          <a:p>
            <a:pPr marL="108000" indent="-108000">
              <a:spcBef>
                <a:spcPts val="300"/>
              </a:spcBef>
              <a:buFont typeface="Arial" panose="020B0604020202020204" pitchFamily="34" charset="0"/>
              <a:buChar char="•"/>
            </a:pPr>
            <a:r>
              <a:rPr lang="en-GB" altLang="en-US" sz="1000" dirty="0"/>
              <a:t>Figure by Steve Covey-Crump</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 2">
            <a:extLst>
              <a:ext uri="{FF2B5EF4-FFF2-40B4-BE49-F238E27FC236}">
                <a16:creationId xmlns:a16="http://schemas.microsoft.com/office/drawing/2014/main" id="{F32A2840-B45F-4EDA-8832-3F2925E90793}"/>
              </a:ext>
            </a:extLst>
          </p:cNvPr>
          <p:cNvSpPr>
            <a:spLocks noGrp="1" noRot="1" noChangeAspect="1" noChangeArrowheads="1" noTextEdit="1"/>
          </p:cNvSpPr>
          <p:nvPr>
            <p:ph type="sldImg"/>
          </p:nvPr>
        </p:nvSpPr>
        <p:spPr>
          <a:ln/>
        </p:spPr>
      </p:sp>
      <p:sp>
        <p:nvSpPr>
          <p:cNvPr id="362499" name="Rectangle 3">
            <a:extLst>
              <a:ext uri="{FF2B5EF4-FFF2-40B4-BE49-F238E27FC236}">
                <a16:creationId xmlns:a16="http://schemas.microsoft.com/office/drawing/2014/main" id="{E3FFC086-A3B6-4766-8549-03A25374F23B}"/>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For a review of </a:t>
            </a:r>
            <a:r>
              <a:rPr lang="en-GB" altLang="en-US" sz="1000" dirty="0" err="1"/>
              <a:t>en</a:t>
            </a:r>
            <a:r>
              <a:rPr lang="en-GB" altLang="en-US" sz="1000" dirty="0"/>
              <a:t> </a:t>
            </a:r>
            <a:r>
              <a:rPr lang="en-GB" altLang="en-US" sz="1000" dirty="0" err="1"/>
              <a:t>échelon</a:t>
            </a:r>
            <a:r>
              <a:rPr lang="en-GB" altLang="en-US" sz="1000" dirty="0"/>
              <a:t> / segmented dyke arrays and what can be deduced about dyke emplacement from them, see Magee </a:t>
            </a:r>
            <a:r>
              <a:rPr lang="en-GB" altLang="en-US" sz="1000" i="1" dirty="0"/>
              <a:t>et al.</a:t>
            </a:r>
            <a:r>
              <a:rPr lang="en-GB" altLang="en-US" sz="1000" i="0" dirty="0"/>
              <a:t>, 2019, </a:t>
            </a:r>
            <a:r>
              <a:rPr lang="en-GB" altLang="en-US" sz="1000" i="1" dirty="0"/>
              <a:t>Journal of Structural Geology</a:t>
            </a:r>
            <a:r>
              <a:rPr lang="en-GB" altLang="en-US" sz="1000" i="0" dirty="0"/>
              <a:t> 125: 148-154, </a:t>
            </a:r>
            <a:r>
              <a:rPr lang="en-GB" sz="1000" dirty="0"/>
              <a:t>https://doi.org/10.1016/j.jsg.2018.07.010</a:t>
            </a:r>
            <a:endParaRPr lang="en-GB" altLang="en-US" sz="1000" dirty="0"/>
          </a:p>
          <a:p>
            <a:pPr marL="108000" indent="-108000">
              <a:spcBef>
                <a:spcPts val="300"/>
              </a:spcBef>
              <a:buFont typeface="Arial" panose="020B0604020202020204" pitchFamily="34" charset="0"/>
              <a:buChar char="•"/>
            </a:pPr>
            <a:r>
              <a:rPr lang="en-GB" altLang="en-US" sz="1000" dirty="0"/>
              <a:t>We noted hackle fringes on Slide 19</a:t>
            </a:r>
          </a:p>
          <a:p>
            <a:pPr marL="108000" indent="-108000">
              <a:spcBef>
                <a:spcPts val="300"/>
              </a:spcBef>
              <a:buFont typeface="Arial" panose="020B0604020202020204" pitchFamily="34" charset="0"/>
              <a:buChar char="•"/>
            </a:pPr>
            <a:r>
              <a:rPr lang="en-GB" altLang="en-US" sz="1000" dirty="0"/>
              <a:t>Figures left and right are from Price &amp; Cosgrove, p.77</a:t>
            </a:r>
          </a:p>
          <a:p>
            <a:pPr marL="108000" indent="-108000">
              <a:spcBef>
                <a:spcPts val="300"/>
              </a:spcBef>
              <a:buFont typeface="Arial" panose="020B0604020202020204" pitchFamily="34" charset="0"/>
              <a:buChar char="•"/>
            </a:pPr>
            <a:r>
              <a:rPr lang="en-GB" altLang="en-US" sz="1000" dirty="0"/>
              <a:t>Figure middle figure is from Fossen, p.166 (see also Fossen, p.230-231). In this model, in which the stress field rotates towards the surface, the angle between individual dykes and the boundaries of the </a:t>
            </a:r>
            <a:r>
              <a:rPr lang="en-GB" altLang="en-US" sz="1000" dirty="0" err="1"/>
              <a:t>en</a:t>
            </a:r>
            <a:r>
              <a:rPr lang="en-GB" altLang="en-US" sz="1000" dirty="0"/>
              <a:t> </a:t>
            </a:r>
            <a:r>
              <a:rPr lang="en-GB" altLang="en-US" sz="1000" dirty="0" err="1"/>
              <a:t>échelon</a:t>
            </a:r>
            <a:r>
              <a:rPr lang="en-GB" altLang="en-US" sz="1000" dirty="0"/>
              <a:t> array is small</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594" name="Rectangle 2">
            <a:extLst>
              <a:ext uri="{FF2B5EF4-FFF2-40B4-BE49-F238E27FC236}">
                <a16:creationId xmlns:a16="http://schemas.microsoft.com/office/drawing/2014/main" id="{E95B4A66-2AC0-422D-95E2-77CC22EE4C2E}"/>
              </a:ext>
            </a:extLst>
          </p:cNvPr>
          <p:cNvSpPr>
            <a:spLocks noGrp="1" noRot="1" noChangeAspect="1" noChangeArrowheads="1" noTextEdit="1"/>
          </p:cNvSpPr>
          <p:nvPr>
            <p:ph type="sldImg"/>
          </p:nvPr>
        </p:nvSpPr>
        <p:spPr>
          <a:ln/>
        </p:spPr>
      </p:sp>
      <p:sp>
        <p:nvSpPr>
          <p:cNvPr id="366595" name="Rectangle 3">
            <a:extLst>
              <a:ext uri="{FF2B5EF4-FFF2-40B4-BE49-F238E27FC236}">
                <a16:creationId xmlns:a16="http://schemas.microsoft.com/office/drawing/2014/main" id="{447685EE-041B-4CF6-AF95-950D0EBA92A1}"/>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The interactions between parallel fractures were noted on Slide 24</a:t>
            </a:r>
          </a:p>
          <a:p>
            <a:pPr marL="108000" indent="-108000">
              <a:spcBef>
                <a:spcPts val="300"/>
              </a:spcBef>
              <a:buFont typeface="Arial" panose="020B0604020202020204" pitchFamily="34" charset="0"/>
              <a:buChar char="•"/>
            </a:pPr>
            <a:r>
              <a:rPr lang="en-GB" altLang="en-US" sz="1000" dirty="0"/>
              <a:t>Figure redrawn by Steve Covey-Crump from Morris </a:t>
            </a:r>
            <a:r>
              <a:rPr lang="en-GB" altLang="en-US" sz="1000" i="1" dirty="0"/>
              <a:t>et al</a:t>
            </a:r>
            <a:r>
              <a:rPr lang="en-GB" altLang="en-US" sz="1000" dirty="0"/>
              <a:t>., 2008,</a:t>
            </a:r>
            <a:r>
              <a:rPr lang="en-GB" altLang="en-US" sz="1000" i="1" dirty="0"/>
              <a:t> Geological Society of London, Special Publication </a:t>
            </a:r>
            <a:r>
              <a:rPr lang="en-GB" altLang="en-US" sz="1000" dirty="0"/>
              <a:t>302: 149-158, </a:t>
            </a:r>
            <a:r>
              <a:rPr lang="en-GB" sz="1000" dirty="0"/>
              <a:t>https://doi.org/10.1144/SP302.11</a:t>
            </a:r>
            <a:endParaRPr lang="en-GB" altLang="en-US" sz="1000" dirty="0"/>
          </a:p>
          <a:p>
            <a:pPr marL="108000" indent="-108000">
              <a:spcBef>
                <a:spcPts val="300"/>
              </a:spcBef>
              <a:buFont typeface="Arial" panose="020B0604020202020204" pitchFamily="34" charset="0"/>
              <a:buChar char="•"/>
            </a:pPr>
            <a:r>
              <a:rPr lang="en-GB" altLang="en-US" sz="1000" dirty="0"/>
              <a:t>Photo (from Ramsay &amp; Lisle, 2000, </a:t>
            </a:r>
            <a:r>
              <a:rPr lang="en-GB" altLang="en-US" sz="1000" i="1" dirty="0"/>
              <a:t>The Techniques of Modern Structural Geology, Volume 3: Applications of Continuum Mechanics in Structural Geology</a:t>
            </a:r>
            <a:r>
              <a:rPr lang="en-GB" altLang="en-US" sz="1000" dirty="0"/>
              <a:t>, p.770): horn structures on dykes, </a:t>
            </a:r>
            <a:r>
              <a:rPr lang="en-GB" altLang="en-US" sz="1000" dirty="0" err="1"/>
              <a:t>Itivdleq</a:t>
            </a:r>
            <a:r>
              <a:rPr lang="en-GB" altLang="en-US" sz="1000" dirty="0"/>
              <a:t>, West Greenland</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2" name="Rectangle 2">
            <a:extLst>
              <a:ext uri="{FF2B5EF4-FFF2-40B4-BE49-F238E27FC236}">
                <a16:creationId xmlns:a16="http://schemas.microsoft.com/office/drawing/2014/main" id="{20875191-84A4-4E79-85F5-356D93209CEC}"/>
              </a:ext>
            </a:extLst>
          </p:cNvPr>
          <p:cNvSpPr>
            <a:spLocks noGrp="1" noRot="1" noChangeAspect="1" noChangeArrowheads="1" noTextEdit="1"/>
          </p:cNvSpPr>
          <p:nvPr>
            <p:ph type="sldImg"/>
          </p:nvPr>
        </p:nvSpPr>
        <p:spPr>
          <a:ln/>
        </p:spPr>
      </p:sp>
      <p:sp>
        <p:nvSpPr>
          <p:cNvPr id="368643" name="Rectangle 3">
            <a:extLst>
              <a:ext uri="{FF2B5EF4-FFF2-40B4-BE49-F238E27FC236}">
                <a16:creationId xmlns:a16="http://schemas.microsoft.com/office/drawing/2014/main" id="{FEEFAA26-939B-402F-B7DD-606F7AFB4491}"/>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Photo (Steve-Covey-Crump): andesitic dyke within the area in Glen Coe that those of you going on the Easter field course to Scotland will map using the compass-and-pace technique. Compare the geometry shown here with that on the left-hand side of the figure on the preceding slide. The implication is that emplacement of this dyke was influenced by far-field (tectonic) stresses rather than by stresses set up by the magma pressure</a:t>
            </a:r>
          </a:p>
          <a:p>
            <a:pPr marL="108000" indent="-108000">
              <a:spcBef>
                <a:spcPts val="300"/>
              </a:spcBef>
              <a:buFont typeface="Arial" panose="020B0604020202020204" pitchFamily="34" charset="0"/>
              <a:buChar char="•"/>
            </a:pPr>
            <a:r>
              <a:rPr lang="en-GB" altLang="en-US" sz="1000" dirty="0"/>
              <a:t>A protocol for systematically analysing how well linked veins within a vein array are, using measurements of vein length, width and orientation, is described by Sanderson &amp; Peacock, 2019, </a:t>
            </a:r>
            <a:r>
              <a:rPr lang="en-GB" altLang="en-US" sz="1000" i="1" dirty="0"/>
              <a:t>Journal of Structural Geology </a:t>
            </a:r>
            <a:r>
              <a:rPr lang="en-GB" altLang="en-US" sz="1000" i="0" dirty="0"/>
              <a:t>118: 104-113, </a:t>
            </a:r>
            <a:r>
              <a:rPr lang="en-GB" sz="1000" dirty="0"/>
              <a:t>https://doi.org/10.1016/j.jsg.2018.10.001</a:t>
            </a:r>
            <a:endParaRPr lang="en-GB" altLang="en-US" sz="1000" i="0" dirty="0"/>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08000" indent="-108000">
              <a:spcBef>
                <a:spcPts val="300"/>
              </a:spcBef>
              <a:buFont typeface="Arial" panose="020B0604020202020204" pitchFamily="34" charset="0"/>
              <a:buChar char="•"/>
            </a:pPr>
            <a:endParaRPr lang="en-GB" sz="1000" dirty="0"/>
          </a:p>
        </p:txBody>
      </p:sp>
      <p:sp>
        <p:nvSpPr>
          <p:cNvPr id="4" name="Slide Number Placeholder 3"/>
          <p:cNvSpPr>
            <a:spLocks noGrp="1"/>
          </p:cNvSpPr>
          <p:nvPr>
            <p:ph type="sldNum" sz="quarter" idx="5"/>
          </p:nvPr>
        </p:nvSpPr>
        <p:spPr/>
        <p:txBody>
          <a:bodyPr/>
          <a:lstStyle/>
          <a:p>
            <a:fld id="{7245E67F-AB97-464F-8455-AFB2E20C0940}" type="slidenum">
              <a:rPr lang="en-GB" altLang="en-US" smtClean="0"/>
              <a:pPr/>
              <a:t>48</a:t>
            </a:fld>
            <a:endParaRPr lang="en-GB" altLang="en-US"/>
          </a:p>
        </p:txBody>
      </p:sp>
    </p:spTree>
    <p:extLst>
      <p:ext uri="{BB962C8B-B14F-4D97-AF65-F5344CB8AC3E}">
        <p14:creationId xmlns:p14="http://schemas.microsoft.com/office/powerpoint/2010/main" val="394992422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2">
            <a:extLst>
              <a:ext uri="{FF2B5EF4-FFF2-40B4-BE49-F238E27FC236}">
                <a16:creationId xmlns:a16="http://schemas.microsoft.com/office/drawing/2014/main" id="{64E7D326-93C5-4FDD-BFD1-588ED36D39F4}"/>
              </a:ext>
            </a:extLst>
          </p:cNvPr>
          <p:cNvSpPr>
            <a:spLocks noGrp="1" noRot="1" noChangeAspect="1" noChangeArrowheads="1" noTextEdit="1"/>
          </p:cNvSpPr>
          <p:nvPr>
            <p:ph type="sldImg"/>
          </p:nvPr>
        </p:nvSpPr>
        <p:spPr>
          <a:ln/>
        </p:spPr>
      </p:sp>
      <p:sp>
        <p:nvSpPr>
          <p:cNvPr id="263171" name="Rectangle 3">
            <a:extLst>
              <a:ext uri="{FF2B5EF4-FFF2-40B4-BE49-F238E27FC236}">
                <a16:creationId xmlns:a16="http://schemas.microsoft.com/office/drawing/2014/main" id="{1E7C7576-2FE1-45E9-8238-E702DD57E301}"/>
              </a:ext>
            </a:extLst>
          </p:cNvPr>
          <p:cNvSpPr>
            <a:spLocks noGrp="1" noChangeArrowheads="1"/>
          </p:cNvSpPr>
          <p:nvPr>
            <p:ph type="body" idx="1"/>
          </p:nvPr>
        </p:nvSpPr>
        <p:spPr>
          <a:noFill/>
        </p:spPr>
        <p:txBody>
          <a:bodyPr/>
          <a:lstStyle/>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a:t>For a helpful summary of the formation of polygonal fracture networks see </a:t>
            </a:r>
            <a:r>
              <a:rPr lang="en-GB" altLang="en-US" sz="1000" dirty="0" err="1"/>
              <a:t>Chavdarian</a:t>
            </a:r>
            <a:r>
              <a:rPr lang="en-GB" altLang="en-US" sz="1000" dirty="0"/>
              <a:t> &amp; Sumner, 2011, </a:t>
            </a:r>
            <a:r>
              <a:rPr lang="en-GB" altLang="en-US" sz="1000" i="1" dirty="0"/>
              <a:t>Sedimentology</a:t>
            </a:r>
            <a:r>
              <a:rPr lang="en-GB" altLang="en-US" sz="1000" dirty="0"/>
              <a:t> 58: 407-423, </a:t>
            </a:r>
            <a:r>
              <a:rPr lang="en-GB" sz="1000" dirty="0"/>
              <a:t>https://doi.org/10.1111/j.1365-3091.2010.01169.x</a:t>
            </a:r>
            <a:r>
              <a:rPr lang="en-GB" altLang="en-US" sz="1000" dirty="0"/>
              <a:t>. For a more detailed account, see Goehring, 2013, </a:t>
            </a:r>
            <a:r>
              <a:rPr lang="en-GB" altLang="en-US" sz="1000" i="1" dirty="0"/>
              <a:t>Philosophical Transactions of the Royal Society A</a:t>
            </a:r>
            <a:r>
              <a:rPr lang="en-GB" altLang="en-US" sz="1000" dirty="0"/>
              <a:t> 371, article 20120353, </a:t>
            </a:r>
            <a:r>
              <a:rPr lang="en-GB" sz="1000" dirty="0"/>
              <a:t>https://doi.org/10.1098/rsta.2012.0353</a:t>
            </a:r>
            <a:endParaRPr lang="en-GB" altLang="en-US" sz="1000" dirty="0"/>
          </a:p>
          <a:p>
            <a:pPr marL="108000" indent="-108000">
              <a:spcBef>
                <a:spcPts val="300"/>
              </a:spcBef>
              <a:buFont typeface="Arial" panose="020B0604020202020204" pitchFamily="34" charset="0"/>
              <a:buChar char="•"/>
            </a:pPr>
            <a:r>
              <a:rPr lang="en-GB" altLang="en-US" sz="1000" dirty="0"/>
              <a:t>For a discussion of polygonal terranes on Mars see Mangold, 2005, </a:t>
            </a:r>
            <a:r>
              <a:rPr lang="en-GB" altLang="en-US" sz="1000" i="1" dirty="0"/>
              <a:t>Icarus</a:t>
            </a:r>
            <a:r>
              <a:rPr lang="en-GB" altLang="en-US" sz="1000" dirty="0"/>
              <a:t> 174: 336-359, </a:t>
            </a:r>
            <a:r>
              <a:rPr lang="en-GB" sz="1000" dirty="0"/>
              <a:t>https://doi.org/10.1016/j.icarus.2004.07.030;</a:t>
            </a:r>
            <a:r>
              <a:rPr lang="en-GB" altLang="en-US" sz="1000" dirty="0"/>
              <a:t> and Levy </a:t>
            </a:r>
            <a:r>
              <a:rPr lang="en-GB" altLang="en-US" sz="1000" i="1" dirty="0"/>
              <a:t>et al.</a:t>
            </a:r>
            <a:r>
              <a:rPr lang="en-GB" altLang="en-US" sz="1000" dirty="0"/>
              <a:t>, 2010, </a:t>
            </a:r>
            <a:r>
              <a:rPr lang="en-GB" altLang="en-US" sz="1000" i="1" dirty="0"/>
              <a:t>Icarus</a:t>
            </a:r>
            <a:r>
              <a:rPr lang="en-GB" altLang="en-US" sz="1000" dirty="0"/>
              <a:t> 206: 229-252, </a:t>
            </a:r>
            <a:r>
              <a:rPr lang="en-GB" sz="1000" dirty="0"/>
              <a:t>https://doi.org/10.1016/j.icarus.2009.09.005</a:t>
            </a:r>
            <a:endParaRPr lang="en-GB" altLang="en-US" sz="1000" dirty="0"/>
          </a:p>
          <a:p>
            <a:pPr marL="108000" indent="-108000">
              <a:spcBef>
                <a:spcPts val="300"/>
              </a:spcBef>
              <a:buFont typeface="Arial" panose="020B0604020202020204" pitchFamily="34" charset="0"/>
              <a:buChar char="•"/>
            </a:pPr>
            <a:r>
              <a:rPr lang="en-GB" altLang="en-US" sz="1000" dirty="0"/>
              <a:t>Photo top left (by Ralf Aalto, www.nsf.gov/od/lpa/news/03/pr03109.htm): </a:t>
            </a:r>
            <a:r>
              <a:rPr lang="en-GB" altLang="en-US" sz="1000" dirty="0" err="1"/>
              <a:t>mudcracks</a:t>
            </a:r>
            <a:r>
              <a:rPr lang="en-GB" altLang="en-US" sz="1000" dirty="0"/>
              <a:t> in the </a:t>
            </a:r>
            <a:r>
              <a:rPr lang="en-GB" altLang="en-US" sz="1000" dirty="0" err="1"/>
              <a:t>Mamoré</a:t>
            </a:r>
            <a:r>
              <a:rPr lang="en-GB" altLang="en-US" sz="1000" dirty="0"/>
              <a:t> River, Bolivia</a:t>
            </a:r>
          </a:p>
          <a:p>
            <a:pPr marL="108000" indent="-108000">
              <a:spcBef>
                <a:spcPts val="300"/>
              </a:spcBef>
              <a:buFont typeface="Arial" panose="020B0604020202020204" pitchFamily="34" charset="0"/>
              <a:buChar char="•"/>
            </a:pPr>
            <a:r>
              <a:rPr lang="en-GB" altLang="en-US" sz="1000" dirty="0"/>
              <a:t>Photo top right (Steve Covey-Crump): columnar jointing in basalts, ceiling of Fingal’s Cave, Staffa</a:t>
            </a:r>
          </a:p>
          <a:p>
            <a:pPr marL="108000" indent="-108000">
              <a:spcBef>
                <a:spcPts val="300"/>
              </a:spcBef>
              <a:buFont typeface="Arial" panose="020B0604020202020204" pitchFamily="34" charset="0"/>
              <a:buChar char="•"/>
            </a:pPr>
            <a:r>
              <a:rPr lang="en-GB" altLang="en-US" sz="1000" dirty="0"/>
              <a:t>Image bottom right (from hirise.lpl.arizona.edu/ ESP_016641_2500). I am not sure if the interpretation of this patterned ground as stated on the slide has stood the test of time</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18" name="Rectangle 2">
            <a:extLst>
              <a:ext uri="{FF2B5EF4-FFF2-40B4-BE49-F238E27FC236}">
                <a16:creationId xmlns:a16="http://schemas.microsoft.com/office/drawing/2014/main" id="{13295F73-72F4-4F7B-9DC7-130076CEF933}"/>
              </a:ext>
            </a:extLst>
          </p:cNvPr>
          <p:cNvSpPr>
            <a:spLocks noGrp="1" noRot="1" noChangeAspect="1" noChangeArrowheads="1" noTextEdit="1"/>
          </p:cNvSpPr>
          <p:nvPr>
            <p:ph type="sldImg"/>
          </p:nvPr>
        </p:nvSpPr>
        <p:spPr>
          <a:ln/>
        </p:spPr>
      </p:sp>
      <p:sp>
        <p:nvSpPr>
          <p:cNvPr id="393219" name="Rectangle 3">
            <a:extLst>
              <a:ext uri="{FF2B5EF4-FFF2-40B4-BE49-F238E27FC236}">
                <a16:creationId xmlns:a16="http://schemas.microsoft.com/office/drawing/2014/main" id="{71C286C4-A101-4B41-895B-75284F07F634}"/>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Note that the free surface of an open crack does not support a shear stress and so one principal stress direction must be orthogonal to it and the other parallel to it. Since the crack is open, the principal stress orthogonal to the crack must be approximately zero, and likewise, since the crack is on the ground surface, the vertical stress (also a principal stress) is also zero. This leaves the principal stress that is parallel to the crack. In a shrinking mud this stress is tensile and so since the other stresses are </a:t>
            </a:r>
            <a:r>
              <a:rPr lang="en-GB" altLang="en-US" sz="1000" spc="150" baseline="0" dirty="0">
                <a:latin typeface="Times New Roman" panose="02020603050405020304" pitchFamily="18" charset="0"/>
                <a:cs typeface="Times New Roman" panose="02020603050405020304" pitchFamily="18" charset="0"/>
              </a:rPr>
              <a:t>~</a:t>
            </a:r>
            <a:r>
              <a:rPr lang="en-GB" altLang="en-US" sz="1000" dirty="0">
                <a:latin typeface="Times New Roman" panose="02020603050405020304" pitchFamily="18" charset="0"/>
                <a:cs typeface="Times New Roman" panose="02020603050405020304" pitchFamily="18" charset="0"/>
              </a:rPr>
              <a:t>0, this stress must be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latin typeface="Times New Roman" panose="02020603050405020304" pitchFamily="18" charset="0"/>
                <a:cs typeface="Times New Roman" panose="02020603050405020304" pitchFamily="18" charset="0"/>
              </a:rPr>
              <a:t>3</a:t>
            </a:r>
            <a:r>
              <a:rPr lang="en-GB" altLang="en-US" sz="1000" dirty="0">
                <a:latin typeface="Times New Roman" panose="02020603050405020304" pitchFamily="18" charset="0"/>
                <a:cs typeface="Times New Roman" panose="02020603050405020304" pitchFamily="18" charset="0"/>
              </a:rPr>
              <a:t>. Hence as a propagating crack approaches this already open crack, it will do so at right angles to it. This leads to a rectilinear pattern of cracks (vertices 90°). The evolution of such a rectilinear pattern towards one with vertices nearer 120° is possible over many crack opening and healing cycles because while the cracks in any one cycle are influenced by the position of the cracks in previous cycles, they are still able to adjust their position slightly and to vary their order of opening (see Goehring, 2013, </a:t>
            </a:r>
            <a:r>
              <a:rPr lang="en-GB" altLang="en-US" sz="1000" i="1" dirty="0">
                <a:latin typeface="Times New Roman" panose="02020603050405020304" pitchFamily="18" charset="0"/>
                <a:cs typeface="Times New Roman" panose="02020603050405020304" pitchFamily="18" charset="0"/>
              </a:rPr>
              <a:t>Philosophical Transactions of the Royal Society A</a:t>
            </a:r>
            <a:r>
              <a:rPr lang="en-GB" altLang="en-US" sz="1000" dirty="0">
                <a:latin typeface="Times New Roman" panose="02020603050405020304" pitchFamily="18" charset="0"/>
                <a:cs typeface="Times New Roman" panose="02020603050405020304" pitchFamily="18" charset="0"/>
              </a:rPr>
              <a:t> 371, article 20120353, </a:t>
            </a:r>
            <a:r>
              <a:rPr lang="en-GB" sz="1000" dirty="0"/>
              <a:t>https://doi.org/10.1098/rsta.2012.0353</a:t>
            </a:r>
            <a:r>
              <a:rPr lang="en-GB" altLang="en-US" sz="1000" dirty="0">
                <a:latin typeface="Times New Roman" panose="02020603050405020304" pitchFamily="18" charset="0"/>
                <a:cs typeface="Times New Roman" panose="02020603050405020304" pitchFamily="18" charset="0"/>
              </a:rPr>
              <a:t>)</a:t>
            </a: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The formation of shrinkage cracks during </a:t>
            </a:r>
            <a:r>
              <a:rPr lang="en-GB" altLang="en-US" sz="1000" dirty="0" err="1">
                <a:latin typeface="Times New Roman" panose="02020603050405020304" pitchFamily="18" charset="0"/>
                <a:cs typeface="Times New Roman" panose="02020603050405020304" pitchFamily="18" charset="0"/>
              </a:rPr>
              <a:t>dessication</a:t>
            </a:r>
            <a:r>
              <a:rPr lang="en-GB" altLang="en-US" sz="1000" dirty="0">
                <a:latin typeface="Times New Roman" panose="02020603050405020304" pitchFamily="18" charset="0"/>
                <a:cs typeface="Times New Roman" panose="02020603050405020304" pitchFamily="18" charset="0"/>
              </a:rPr>
              <a:t> is not the only way to produce polygonal fractures in muds; polygonal fractures may be produced under water. Such fractures are described as syneresis cracks because a mud containing swelling clays (</a:t>
            </a:r>
            <a:r>
              <a:rPr lang="en-GB" altLang="en-US" sz="1000" i="1" dirty="0">
                <a:latin typeface="Times New Roman" panose="02020603050405020304" pitchFamily="18" charset="0"/>
                <a:cs typeface="Times New Roman" panose="02020603050405020304" pitchFamily="18" charset="0"/>
              </a:rPr>
              <a:t>e.g.</a:t>
            </a:r>
            <a:r>
              <a:rPr lang="en-GB" altLang="en-US" sz="1000" dirty="0">
                <a:latin typeface="Times New Roman" panose="02020603050405020304" pitchFamily="18" charset="0"/>
                <a:cs typeface="Times New Roman" panose="02020603050405020304" pitchFamily="18" charset="0"/>
              </a:rPr>
              <a:t>, montmorillonite) can shrink if the salinity of the water that it is in contact with increases (increased salinity deflocculates clay particles and contracts the lattice structure of swelling clays) – in chemistry syneresis is the expulsion of fluid from a gel. Syneresis cracks are observed in the geological record (particularly in shallow water marine or lacustrine environments where changes in surface run-off can alter water salinity), although it is not always clear that salinity-induced syneresis is the reason why shrinkage of the muds occurred. An alternative model appeals to seismically-induced dewatering of the muds within thinly interbedded muds and sands located in the shallow sub-surface in order to explain why some ‘syneresis’ cracks (a) appear to propagate upwards as well as downwards, and (b) are rather larger than experimentally produced syneresis cracks. For the general characteristics of ‘syneresis’ cracks and the seismic model, see Pratt, 1998, </a:t>
            </a:r>
            <a:r>
              <a:rPr lang="en-GB" altLang="en-US" sz="1000" i="1" dirty="0">
                <a:latin typeface="Times New Roman" panose="02020603050405020304" pitchFamily="18" charset="0"/>
                <a:cs typeface="Times New Roman" panose="02020603050405020304" pitchFamily="18" charset="0"/>
              </a:rPr>
              <a:t>Sedimentary Geology</a:t>
            </a:r>
            <a:r>
              <a:rPr lang="en-GB" altLang="en-US" sz="1000" dirty="0">
                <a:latin typeface="Times New Roman" panose="02020603050405020304" pitchFamily="18" charset="0"/>
                <a:cs typeface="Times New Roman" panose="02020603050405020304" pitchFamily="18" charset="0"/>
              </a:rPr>
              <a:t> 117: 1-10, </a:t>
            </a:r>
            <a:r>
              <a:rPr lang="en-GB" sz="1000" dirty="0"/>
              <a:t>https://doi.org/10.1016/S0037-0738(98)00023-2</a:t>
            </a:r>
            <a:endParaRPr lang="en-GB" altLang="en-US" sz="1000" dirty="0">
              <a:latin typeface="Times New Roman" panose="02020603050405020304" pitchFamily="18" charset="0"/>
              <a:cs typeface="Times New Roman" panose="02020603050405020304" pitchFamily="18" charset="0"/>
            </a:endParaRP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Photo top left (Steve Covey-Crump): </a:t>
            </a:r>
            <a:r>
              <a:rPr lang="en-GB" altLang="en-US" sz="1000" dirty="0" err="1">
                <a:latin typeface="Times New Roman" panose="02020603050405020304" pitchFamily="18" charset="0"/>
                <a:cs typeface="Times New Roman" panose="02020603050405020304" pitchFamily="18" charset="0"/>
              </a:rPr>
              <a:t>mudcracks</a:t>
            </a:r>
            <a:r>
              <a:rPr lang="en-GB" altLang="en-US" sz="1000" dirty="0">
                <a:latin typeface="Times New Roman" panose="02020603050405020304" pitchFamily="18" charset="0"/>
                <a:cs typeface="Times New Roman" panose="02020603050405020304" pitchFamily="18" charset="0"/>
              </a:rPr>
              <a:t> in a riverbed, Palm Valley, near Alice Springs, Australia. Note the ~120° triple junctions at the sites of the flaws about which the cracks nucleate</a:t>
            </a: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Photo top right (Steve Covey-Crump): </a:t>
            </a:r>
            <a:r>
              <a:rPr lang="en-GB" altLang="en-US" sz="1000" dirty="0" err="1">
                <a:latin typeface="Times New Roman" panose="02020603050405020304" pitchFamily="18" charset="0"/>
                <a:cs typeface="Times New Roman" panose="02020603050405020304" pitchFamily="18" charset="0"/>
              </a:rPr>
              <a:t>mudcracks</a:t>
            </a:r>
            <a:r>
              <a:rPr lang="en-GB" altLang="en-US" sz="1000" dirty="0">
                <a:latin typeface="Times New Roman" panose="02020603050405020304" pitchFamily="18" charset="0"/>
                <a:cs typeface="Times New Roman" panose="02020603050405020304" pitchFamily="18" charset="0"/>
              </a:rPr>
              <a:t> in a drying puddle in the stream under Le Ch</a:t>
            </a:r>
            <a:r>
              <a:rPr lang="en-US" altLang="en-US" sz="1000" dirty="0" err="1">
                <a:latin typeface="Times New Roman" panose="02020603050405020304" pitchFamily="18" charset="0"/>
                <a:cs typeface="Times New Roman" panose="02020603050405020304" pitchFamily="18" charset="0"/>
              </a:rPr>
              <a:t>âteau</a:t>
            </a:r>
            <a:r>
              <a:rPr lang="en-US" altLang="en-US" sz="1000" dirty="0">
                <a:latin typeface="Times New Roman" panose="02020603050405020304" pitchFamily="18" charset="0"/>
                <a:cs typeface="Times New Roman" panose="02020603050405020304" pitchFamily="18" charset="0"/>
              </a:rPr>
              <a:t>, </a:t>
            </a:r>
            <a:r>
              <a:rPr lang="en-US" altLang="en-US" sz="1000" dirty="0" err="1">
                <a:latin typeface="Times New Roman" panose="02020603050405020304" pitchFamily="18" charset="0"/>
                <a:cs typeface="Times New Roman" panose="02020603050405020304" pitchFamily="18" charset="0"/>
              </a:rPr>
              <a:t>Clumanc</a:t>
            </a:r>
            <a:r>
              <a:rPr lang="en-US" altLang="en-US" sz="1000" dirty="0">
                <a:latin typeface="Times New Roman" panose="02020603050405020304" pitchFamily="18" charset="0"/>
                <a:cs typeface="Times New Roman" panose="02020603050405020304" pitchFamily="18" charset="0"/>
              </a:rPr>
              <a:t>, </a:t>
            </a:r>
            <a:r>
              <a:rPr lang="en-US" altLang="en-US" sz="1000" dirty="0" err="1">
                <a:latin typeface="Times New Roman" panose="02020603050405020304" pitchFamily="18" charset="0"/>
                <a:cs typeface="Times New Roman" panose="02020603050405020304" pitchFamily="18" charset="0"/>
              </a:rPr>
              <a:t>Barrême</a:t>
            </a:r>
            <a:r>
              <a:rPr lang="en-US" altLang="en-US" sz="1000" dirty="0">
                <a:latin typeface="Times New Roman" panose="02020603050405020304" pitchFamily="18" charset="0"/>
                <a:cs typeface="Times New Roman" panose="02020603050405020304" pitchFamily="18" charset="0"/>
              </a:rPr>
              <a:t> Basin, France</a:t>
            </a:r>
          </a:p>
          <a:p>
            <a:pPr marL="108000" indent="-108000">
              <a:spcBef>
                <a:spcPts val="300"/>
              </a:spcBef>
              <a:buFont typeface="Arial" panose="020B0604020202020204" pitchFamily="34" charset="0"/>
              <a:buChar char="•"/>
            </a:pPr>
            <a:r>
              <a:rPr lang="en-US" altLang="en-US" sz="1000" dirty="0">
                <a:latin typeface="Times New Roman" panose="02020603050405020304" pitchFamily="18" charset="0"/>
                <a:cs typeface="Times New Roman" panose="02020603050405020304" pitchFamily="18" charset="0"/>
              </a:rPr>
              <a:t>Image bottom right (from Goehring </a:t>
            </a:r>
            <a:r>
              <a:rPr lang="en-US" altLang="en-US" sz="1000" i="1" dirty="0">
                <a:latin typeface="Times New Roman" panose="02020603050405020304" pitchFamily="18" charset="0"/>
                <a:cs typeface="Times New Roman" panose="02020603050405020304" pitchFamily="18" charset="0"/>
              </a:rPr>
              <a:t>et al.</a:t>
            </a:r>
            <a:r>
              <a:rPr lang="en-US" altLang="en-US" sz="1000" dirty="0">
                <a:latin typeface="Times New Roman" panose="02020603050405020304" pitchFamily="18" charset="0"/>
                <a:cs typeface="Times New Roman" panose="02020603050405020304" pitchFamily="18" charset="0"/>
              </a:rPr>
              <a:t>, 2010, </a:t>
            </a:r>
            <a:r>
              <a:rPr lang="en-US" altLang="en-US" sz="1000" i="1" dirty="0">
                <a:latin typeface="Times New Roman" panose="02020603050405020304" pitchFamily="18" charset="0"/>
                <a:cs typeface="Times New Roman" panose="02020603050405020304" pitchFamily="18" charset="0"/>
              </a:rPr>
              <a:t>Soft Matter</a:t>
            </a:r>
            <a:r>
              <a:rPr lang="en-US" altLang="en-US" sz="1000" dirty="0">
                <a:latin typeface="Times New Roman" panose="02020603050405020304" pitchFamily="18" charset="0"/>
                <a:cs typeface="Times New Roman" panose="02020603050405020304" pitchFamily="18" charset="0"/>
              </a:rPr>
              <a:t> 6: 3562-3567, </a:t>
            </a:r>
            <a:r>
              <a:rPr lang="en-GB" sz="1000" dirty="0"/>
              <a:t>https://doi.org/10.1039/B922206E</a:t>
            </a:r>
            <a:r>
              <a:rPr lang="en-US" altLang="en-US" sz="1000" dirty="0">
                <a:latin typeface="Times New Roman" panose="02020603050405020304" pitchFamily="18" charset="0"/>
                <a:cs typeface="Times New Roman" panose="02020603050405020304" pitchFamily="18" charset="0"/>
              </a:rPr>
              <a:t>): experimentally produced </a:t>
            </a:r>
            <a:r>
              <a:rPr lang="en-US" altLang="en-US" sz="1000" dirty="0" err="1">
                <a:latin typeface="Times New Roman" panose="02020603050405020304" pitchFamily="18" charset="0"/>
                <a:cs typeface="Times New Roman" panose="02020603050405020304" pitchFamily="18" charset="0"/>
              </a:rPr>
              <a:t>dessication</a:t>
            </a:r>
            <a:r>
              <a:rPr lang="en-US" altLang="en-US" sz="1000" dirty="0">
                <a:latin typeface="Times New Roman" panose="02020603050405020304" pitchFamily="18" charset="0"/>
                <a:cs typeface="Times New Roman" panose="02020603050405020304" pitchFamily="18" charset="0"/>
              </a:rPr>
              <a:t> cracks in a bentonite slurry after (a) 1, (b), 3, (c) 5, (d) 10, (e) 15, and (f) 25 wetting/drying cycles</a:t>
            </a:r>
          </a:p>
          <a:p>
            <a:pPr marL="0" indent="0">
              <a:spcBef>
                <a:spcPts val="300"/>
              </a:spcBef>
              <a:buFont typeface="Arial" panose="020B0604020202020204" pitchFamily="34" charset="0"/>
              <a:buNone/>
            </a:pPr>
            <a:endParaRPr lang="en-US" altLang="en-US" sz="1000" dirty="0">
              <a:latin typeface="Times New Roman" panose="02020603050405020304" pitchFamily="18" charset="0"/>
              <a:cs typeface="Times New Roman" panose="02020603050405020304" pitchFamily="18"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0" name="Rectangle 2">
            <a:extLst>
              <a:ext uri="{FF2B5EF4-FFF2-40B4-BE49-F238E27FC236}">
                <a16:creationId xmlns:a16="http://schemas.microsoft.com/office/drawing/2014/main" id="{AED8F2C0-174D-4065-9E6C-CDF9BD11881A}"/>
              </a:ext>
            </a:extLst>
          </p:cNvPr>
          <p:cNvSpPr>
            <a:spLocks noGrp="1" noRot="1" noChangeAspect="1" noChangeArrowheads="1" noTextEdit="1"/>
          </p:cNvSpPr>
          <p:nvPr>
            <p:ph type="sldImg"/>
          </p:nvPr>
        </p:nvSpPr>
        <p:spPr>
          <a:ln/>
        </p:spPr>
      </p:sp>
      <p:sp>
        <p:nvSpPr>
          <p:cNvPr id="391171" name="Rectangle 3">
            <a:extLst>
              <a:ext uri="{FF2B5EF4-FFF2-40B4-BE49-F238E27FC236}">
                <a16:creationId xmlns:a16="http://schemas.microsoft.com/office/drawing/2014/main" id="{83383CFF-19F4-4CEC-A478-F05D40D3E713}"/>
              </a:ext>
            </a:extLst>
          </p:cNvPr>
          <p:cNvSpPr>
            <a:spLocks noGrp="1" noChangeArrowheads="1"/>
          </p:cNvSpPr>
          <p:nvPr>
            <p:ph type="body" idx="1"/>
          </p:nvPr>
        </p:nvSpPr>
        <p:spPr>
          <a:noFill/>
        </p:spPr>
        <p:txBody>
          <a:bodyPr/>
          <a:lstStyle/>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a:t>More precisely, polygonal fracture patterns with ~120° vertices form rapidly from few nucleation sites when the contraction in a given plane is approximately the same in all directions within that plane. In a cooling magma this will be true within a surface of equal temperature. The fractures initiate where the cooling rates are fastest (</a:t>
            </a:r>
            <a:r>
              <a:rPr lang="en-GB" altLang="en-US" sz="1000" i="1" dirty="0"/>
              <a:t>e.g.</a:t>
            </a:r>
            <a:r>
              <a:rPr lang="en-GB" altLang="en-US" sz="1000" dirty="0"/>
              <a:t>, top and bottom of a lava flow) and propagate towards the slowest cooling part of the magma body. Classical studies of columnar joint formation in cooling igneous sheets are Peck &amp; </a:t>
            </a:r>
            <a:r>
              <a:rPr lang="en-GB" altLang="en-US" sz="1000" dirty="0" err="1"/>
              <a:t>Minakami</a:t>
            </a:r>
            <a:r>
              <a:rPr lang="en-GB" altLang="en-US" sz="1000" dirty="0"/>
              <a:t>, 1968, </a:t>
            </a:r>
            <a:r>
              <a:rPr lang="en-GB" altLang="en-US" sz="1000" i="1" dirty="0"/>
              <a:t>Geological Society of America Bulletin</a:t>
            </a:r>
            <a:r>
              <a:rPr lang="en-GB" altLang="en-US" sz="1000" dirty="0"/>
              <a:t> 79: 1151-1166, </a:t>
            </a:r>
            <a:r>
              <a:rPr lang="en-GB" sz="1000" dirty="0"/>
              <a:t>https://doi.org/10.1130/0016-7606(1968)79[1151:TFOCJI]2.0.CO;2;</a:t>
            </a:r>
            <a:r>
              <a:rPr lang="en-GB" altLang="en-US" sz="1000" dirty="0"/>
              <a:t> and DeGraff &amp; Aydin, 1987, </a:t>
            </a:r>
            <a:r>
              <a:rPr lang="en-GB" altLang="en-US" sz="1000" i="1" dirty="0"/>
              <a:t>Geological Society of America Bulletin</a:t>
            </a:r>
            <a:r>
              <a:rPr lang="en-GB" altLang="en-US" sz="1000" dirty="0"/>
              <a:t> 99: 605-617, </a:t>
            </a:r>
            <a:r>
              <a:rPr lang="en-GB" sz="1000" dirty="0"/>
              <a:t>https://doi.org/10.1130/0016-7606(1987)99&lt;605:SMOCJA&gt;2.0.CO;2</a:t>
            </a:r>
            <a:r>
              <a:rPr lang="en-GB" altLang="en-US" sz="1000" dirty="0"/>
              <a:t>. The latter study used hackle marks (see Slide 19) on the surface of the fractures to establish sequences and progression of fracture development</a:t>
            </a:r>
          </a:p>
          <a:p>
            <a:pPr marL="108000" indent="-108000">
              <a:spcBef>
                <a:spcPts val="300"/>
              </a:spcBef>
              <a:buFont typeface="Arial" panose="020B0604020202020204" pitchFamily="34" charset="0"/>
              <a:buChar char="•"/>
            </a:pPr>
            <a:r>
              <a:rPr lang="en-GB" altLang="en-US" sz="1000" dirty="0"/>
              <a:t>Photo top right (Steve Covey-Crump): columnar jointing in basalts, Fingal’s Cave, Staffa. For a detailed analysis of the columnar jointing on Staffa, see Phillips </a:t>
            </a:r>
            <a:r>
              <a:rPr lang="en-GB" altLang="en-US" sz="1000" i="1" dirty="0"/>
              <a:t>et al.</a:t>
            </a:r>
            <a:r>
              <a:rPr lang="en-GB" altLang="en-US" sz="1000" i="0" dirty="0"/>
              <a:t>, 2013, </a:t>
            </a:r>
            <a:r>
              <a:rPr lang="en-GB" altLang="en-US" sz="1000" i="1" dirty="0"/>
              <a:t>Bulletin of Volcanology </a:t>
            </a:r>
            <a:r>
              <a:rPr lang="en-GB" altLang="en-US" sz="1000" i="0" dirty="0"/>
              <a:t>75, article 715,</a:t>
            </a:r>
            <a:r>
              <a:rPr lang="en-GB" sz="1000" dirty="0"/>
              <a:t> https://doi.org/</a:t>
            </a:r>
            <a:r>
              <a:rPr lang="en-GB" altLang="en-US" sz="1000" i="0" dirty="0"/>
              <a:t>10.1007/s00445-013-0715-4 </a:t>
            </a:r>
            <a:endParaRPr lang="en-GB" altLang="en-US" sz="1000" dirty="0"/>
          </a:p>
          <a:p>
            <a:pPr marL="108000" indent="-108000">
              <a:spcBef>
                <a:spcPts val="300"/>
              </a:spcBef>
              <a:buFont typeface="Arial" panose="020B0604020202020204" pitchFamily="34" charset="0"/>
              <a:buChar char="•"/>
            </a:pPr>
            <a:r>
              <a:rPr lang="en-GB" altLang="en-US" sz="1000" dirty="0"/>
              <a:t>Photo bottom right (Steve Covey-Crump): columnar jointing (not vertical) in basalts on Staffa</a:t>
            </a:r>
          </a:p>
          <a:p>
            <a:pPr marL="108000" indent="-108000">
              <a:spcBef>
                <a:spcPts val="300"/>
              </a:spcBef>
              <a:buFont typeface="Arial" panose="020B0604020202020204" pitchFamily="34" charset="0"/>
              <a:buChar char="•"/>
            </a:pPr>
            <a:r>
              <a:rPr lang="en-GB" altLang="en-US" sz="1000" dirty="0"/>
              <a:t>Photo bottom left (from the BGS image database: geoscenic.bgs.ac.uk/asset-bank/action/</a:t>
            </a:r>
            <a:r>
              <a:rPr lang="en-GB" altLang="en-US" sz="1000" dirty="0" err="1"/>
              <a:t>viewHome</a:t>
            </a:r>
            <a:r>
              <a:rPr lang="en-GB" altLang="en-US" sz="1000" dirty="0"/>
              <a:t>, image P224972): columnar jointing in basalt, Giant’s Causeway looking north-west</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08000" indent="-108000">
              <a:spcBef>
                <a:spcPts val="300"/>
              </a:spcBef>
              <a:buFont typeface="Arial" panose="020B0604020202020204" pitchFamily="34" charset="0"/>
              <a:buChar char="•"/>
            </a:pPr>
            <a:endParaRPr lang="en-GB" sz="1000" dirty="0"/>
          </a:p>
        </p:txBody>
      </p:sp>
      <p:sp>
        <p:nvSpPr>
          <p:cNvPr id="4" name="Slide Number Placeholder 3"/>
          <p:cNvSpPr>
            <a:spLocks noGrp="1"/>
          </p:cNvSpPr>
          <p:nvPr>
            <p:ph type="sldNum" sz="quarter" idx="5"/>
          </p:nvPr>
        </p:nvSpPr>
        <p:spPr/>
        <p:txBody>
          <a:bodyPr/>
          <a:lstStyle/>
          <a:p>
            <a:fld id="{7245E67F-AB97-464F-8455-AFB2E20C0940}" type="slidenum">
              <a:rPr lang="en-GB" altLang="en-US" smtClean="0"/>
              <a:pPr/>
              <a:t>52</a:t>
            </a:fld>
            <a:endParaRPr lang="en-GB" altLang="en-US"/>
          </a:p>
        </p:txBody>
      </p:sp>
    </p:spTree>
    <p:extLst>
      <p:ext uri="{BB962C8B-B14F-4D97-AF65-F5344CB8AC3E}">
        <p14:creationId xmlns:p14="http://schemas.microsoft.com/office/powerpoint/2010/main" val="887124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2292" name="Title"/>
          <p:cNvSpPr>
            <a:spLocks noGrp="1" noChangeArrowheads="1"/>
          </p:cNvSpPr>
          <p:nvPr>
            <p:ph type="ctrTitle"/>
          </p:nvPr>
        </p:nvSpPr>
        <p:spPr bwMode="black">
          <a:xfrm>
            <a:off x="566738" y="2647950"/>
            <a:ext cx="8123237" cy="625475"/>
          </a:xfrm>
          <a:effectLst>
            <a:outerShdw dist="35921" dir="2700000" algn="ctr" rotWithShape="0">
              <a:schemeClr val="bg2"/>
            </a:outerShdw>
          </a:effectLst>
          <a:extLst>
            <a:ext uri="{909E8E84-426E-40DD-AFC4-6F175D3DCCD1}">
              <a14:hiddenFill xmlns:a14="http://schemas.microsoft.com/office/drawing/2010/main">
                <a:solidFill>
                  <a:schemeClr val="bg1"/>
                </a:solidFill>
              </a14:hiddenFill>
            </a:ext>
          </a:extLst>
        </p:spPr>
        <p:txBody>
          <a:bodyPr anchor="ctr">
            <a:spAutoFit/>
          </a:bodyPr>
          <a:lstStyle>
            <a:lvl1pPr algn="ctr">
              <a:defRPr sz="3500"/>
            </a:lvl1pPr>
          </a:lstStyle>
          <a:p>
            <a:pPr lvl="0"/>
            <a:r>
              <a:rPr lang="en-GB" noProof="0"/>
              <a:t>Click to edit Master title style</a:t>
            </a:r>
          </a:p>
        </p:txBody>
      </p:sp>
    </p:spTree>
    <p:extLst>
      <p:ext uri="{BB962C8B-B14F-4D97-AF65-F5344CB8AC3E}">
        <p14:creationId xmlns:p14="http://schemas.microsoft.com/office/powerpoint/2010/main" val="777931321"/>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857075388"/>
      </p:ext>
    </p:extLst>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156135105"/>
      </p:ext>
    </p:extLst>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255588" y="917575"/>
            <a:ext cx="4291012" cy="5729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99000" y="917575"/>
            <a:ext cx="4291013" cy="5729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670686523"/>
      </p:ext>
    </p:extLst>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457943677"/>
      </p:ext>
    </p:extLst>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496591174"/>
      </p:ext>
    </p:extLst>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3837961"/>
      </p:ext>
    </p:extLst>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30747325"/>
      </p:ext>
    </p:extLst>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34540715"/>
      </p:ext>
    </p:extLst>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50911953"/>
      </p:ext>
    </p:extLst>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10375" y="93663"/>
            <a:ext cx="2184400" cy="65532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252413" y="93663"/>
            <a:ext cx="6405562" cy="6553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310674259"/>
      </p:ext>
    </p:extLst>
  </p:cSld>
  <p:clrMapOvr>
    <a:masterClrMapping/>
  </p:clrMapOvr>
  <p:transition spd="slow"/>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2413" y="93663"/>
            <a:ext cx="8742362" cy="541337"/>
          </a:xfrm>
        </p:spPr>
        <p:txBody>
          <a:bodyPr/>
          <a:lstStyle/>
          <a:p>
            <a:r>
              <a:rPr lang="en-US"/>
              <a:t>Click to edit Master title style</a:t>
            </a:r>
            <a:endParaRPr lang="en-GB"/>
          </a:p>
        </p:txBody>
      </p:sp>
      <p:sp>
        <p:nvSpPr>
          <p:cNvPr id="3" name="Text Placeholder 2"/>
          <p:cNvSpPr>
            <a:spLocks noGrp="1"/>
          </p:cNvSpPr>
          <p:nvPr>
            <p:ph type="body" sz="half" idx="1"/>
          </p:nvPr>
        </p:nvSpPr>
        <p:spPr>
          <a:xfrm>
            <a:off x="255588" y="917575"/>
            <a:ext cx="4291012" cy="5729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99000" y="917575"/>
            <a:ext cx="4291013" cy="5729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925485482"/>
      </p:ext>
    </p:extLst>
  </p:cSld>
  <p:clrMapOvr>
    <a:masterClrMapping/>
  </p:clrMapOvr>
  <p:transition spd="slow"/>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9BE48-93F3-481A-9C7D-F4D694798093}"/>
              </a:ext>
            </a:extLst>
          </p:cNvPr>
          <p:cNvSpPr>
            <a:spLocks noGrp="1"/>
          </p:cNvSpPr>
          <p:nvPr>
            <p:ph type="title"/>
          </p:nvPr>
        </p:nvSpPr>
        <p:spPr>
          <a:xfrm>
            <a:off x="252413" y="93663"/>
            <a:ext cx="8742362" cy="541337"/>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C869B4F-EA9E-49C5-A0DC-8754CBC3F6B6}"/>
              </a:ext>
            </a:extLst>
          </p:cNvPr>
          <p:cNvSpPr>
            <a:spLocks noGrp="1"/>
          </p:cNvSpPr>
          <p:nvPr>
            <p:ph type="body" sz="half" idx="1"/>
          </p:nvPr>
        </p:nvSpPr>
        <p:spPr>
          <a:xfrm>
            <a:off x="255588" y="917575"/>
            <a:ext cx="4291012" cy="57292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BBC6480-B5AA-4944-ADA2-EE37CE23C29A}"/>
              </a:ext>
            </a:extLst>
          </p:cNvPr>
          <p:cNvSpPr>
            <a:spLocks noGrp="1"/>
          </p:cNvSpPr>
          <p:nvPr>
            <p:ph sz="quarter" idx="2"/>
          </p:nvPr>
        </p:nvSpPr>
        <p:spPr>
          <a:xfrm>
            <a:off x="4699000" y="917575"/>
            <a:ext cx="4291013" cy="27876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a:extLst>
              <a:ext uri="{FF2B5EF4-FFF2-40B4-BE49-F238E27FC236}">
                <a16:creationId xmlns:a16="http://schemas.microsoft.com/office/drawing/2014/main" id="{99FC03A8-7871-489E-9D4A-90F6212528D7}"/>
              </a:ext>
            </a:extLst>
          </p:cNvPr>
          <p:cNvSpPr>
            <a:spLocks noGrp="1"/>
          </p:cNvSpPr>
          <p:nvPr>
            <p:ph sz="quarter" idx="3"/>
          </p:nvPr>
        </p:nvSpPr>
        <p:spPr>
          <a:xfrm>
            <a:off x="4699000" y="3857625"/>
            <a:ext cx="4291013" cy="27892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917007424"/>
      </p:ext>
    </p:extLst>
  </p:cSld>
  <p:clrMapOvr>
    <a:masterClrMapping/>
  </p:clrMapOvr>
  <p:transition spd="slow"/>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1978F-A5A3-4DE0-BDA9-BAA9B4458726}"/>
              </a:ext>
            </a:extLst>
          </p:cNvPr>
          <p:cNvSpPr>
            <a:spLocks noGrp="1"/>
          </p:cNvSpPr>
          <p:nvPr>
            <p:ph type="title"/>
          </p:nvPr>
        </p:nvSpPr>
        <p:spPr>
          <a:xfrm>
            <a:off x="252413" y="93663"/>
            <a:ext cx="8742362" cy="54133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E7E2621-6264-4AF4-B738-DCDF44A64B10}"/>
              </a:ext>
            </a:extLst>
          </p:cNvPr>
          <p:cNvSpPr>
            <a:spLocks noGrp="1"/>
          </p:cNvSpPr>
          <p:nvPr>
            <p:ph sz="half" idx="1"/>
          </p:nvPr>
        </p:nvSpPr>
        <p:spPr>
          <a:xfrm>
            <a:off x="255588" y="917575"/>
            <a:ext cx="4291012" cy="57292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47BEEF7E-3C6D-49C5-A36C-5FA615B59606}"/>
              </a:ext>
            </a:extLst>
          </p:cNvPr>
          <p:cNvSpPr>
            <a:spLocks noGrp="1"/>
          </p:cNvSpPr>
          <p:nvPr>
            <p:ph sz="quarter" idx="2"/>
          </p:nvPr>
        </p:nvSpPr>
        <p:spPr>
          <a:xfrm>
            <a:off x="4699000" y="917575"/>
            <a:ext cx="4291013" cy="27876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a:extLst>
              <a:ext uri="{FF2B5EF4-FFF2-40B4-BE49-F238E27FC236}">
                <a16:creationId xmlns:a16="http://schemas.microsoft.com/office/drawing/2014/main" id="{78F2BE28-6EF8-4B88-9D4C-67630C834E60}"/>
              </a:ext>
            </a:extLst>
          </p:cNvPr>
          <p:cNvSpPr>
            <a:spLocks noGrp="1"/>
          </p:cNvSpPr>
          <p:nvPr>
            <p:ph sz="quarter" idx="3"/>
          </p:nvPr>
        </p:nvSpPr>
        <p:spPr>
          <a:xfrm>
            <a:off x="4699000" y="3857625"/>
            <a:ext cx="4291013" cy="27892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915739052"/>
      </p:ext>
    </p:extLst>
  </p:cSld>
  <p:clrMapOvr>
    <a:masterClrMapping/>
  </p:clrMapOvr>
  <p:transition spd="slow"/>
</p:sldLayout>
</file>

<file path=ppt/slideLayouts/slideLayout15.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350A4-3A74-40AD-9B51-AF2D8797E089}"/>
              </a:ext>
            </a:extLst>
          </p:cNvPr>
          <p:cNvSpPr>
            <a:spLocks noGrp="1"/>
          </p:cNvSpPr>
          <p:nvPr>
            <p:ph type="title" sz="quarter"/>
          </p:nvPr>
        </p:nvSpPr>
        <p:spPr>
          <a:xfrm>
            <a:off x="252413" y="93663"/>
            <a:ext cx="8742362" cy="54133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1DB3F83-1FB5-480A-9BD0-DFF751CADA80}"/>
              </a:ext>
            </a:extLst>
          </p:cNvPr>
          <p:cNvSpPr>
            <a:spLocks noGrp="1"/>
          </p:cNvSpPr>
          <p:nvPr>
            <p:ph sz="quarter" idx="1"/>
          </p:nvPr>
        </p:nvSpPr>
        <p:spPr>
          <a:xfrm>
            <a:off x="255588" y="917575"/>
            <a:ext cx="4291012" cy="27876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F23964FE-1D58-4F69-B53E-A0A2EDB3ACC7}"/>
              </a:ext>
            </a:extLst>
          </p:cNvPr>
          <p:cNvSpPr>
            <a:spLocks noGrp="1"/>
          </p:cNvSpPr>
          <p:nvPr>
            <p:ph sz="quarter" idx="2"/>
          </p:nvPr>
        </p:nvSpPr>
        <p:spPr>
          <a:xfrm>
            <a:off x="4699000" y="917575"/>
            <a:ext cx="4291013" cy="27876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a:extLst>
              <a:ext uri="{FF2B5EF4-FFF2-40B4-BE49-F238E27FC236}">
                <a16:creationId xmlns:a16="http://schemas.microsoft.com/office/drawing/2014/main" id="{F4B0F9CA-9E26-4E23-96D0-B043B77BAE74}"/>
              </a:ext>
            </a:extLst>
          </p:cNvPr>
          <p:cNvSpPr>
            <a:spLocks noGrp="1"/>
          </p:cNvSpPr>
          <p:nvPr>
            <p:ph sz="quarter" idx="3"/>
          </p:nvPr>
        </p:nvSpPr>
        <p:spPr>
          <a:xfrm>
            <a:off x="255588" y="3857625"/>
            <a:ext cx="4291012" cy="27892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Content Placeholder 5">
            <a:extLst>
              <a:ext uri="{FF2B5EF4-FFF2-40B4-BE49-F238E27FC236}">
                <a16:creationId xmlns:a16="http://schemas.microsoft.com/office/drawing/2014/main" id="{A52F4D6A-4D0F-4D2A-BE3E-AC171030E844}"/>
              </a:ext>
            </a:extLst>
          </p:cNvPr>
          <p:cNvSpPr>
            <a:spLocks noGrp="1"/>
          </p:cNvSpPr>
          <p:nvPr>
            <p:ph sz="quarter" idx="4"/>
          </p:nvPr>
        </p:nvSpPr>
        <p:spPr>
          <a:xfrm>
            <a:off x="4699000" y="3857625"/>
            <a:ext cx="4291013" cy="27892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157140226"/>
      </p:ext>
    </p:extLst>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7" name="Rectangle 3">
            <a:extLst>
              <a:ext uri="{FF2B5EF4-FFF2-40B4-BE49-F238E27FC236}">
                <a16:creationId xmlns:a16="http://schemas.microsoft.com/office/drawing/2014/main" id="{7406ED6B-7F52-4790-A764-C155BCEC5148}"/>
              </a:ext>
            </a:extLst>
          </p:cNvPr>
          <p:cNvSpPr>
            <a:spLocks noGrp="1" noChangeArrowheads="1"/>
          </p:cNvSpPr>
          <p:nvPr>
            <p:ph type="title"/>
          </p:nvPr>
        </p:nvSpPr>
        <p:spPr bwMode="auto">
          <a:xfrm>
            <a:off x="252413" y="93663"/>
            <a:ext cx="8742362" cy="541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GB"/>
              <a:t>Click to edit Master title style</a:t>
            </a:r>
          </a:p>
        </p:txBody>
      </p:sp>
      <p:sp>
        <p:nvSpPr>
          <p:cNvPr id="11268" name="Rectangle 4">
            <a:extLst>
              <a:ext uri="{FF2B5EF4-FFF2-40B4-BE49-F238E27FC236}">
                <a16:creationId xmlns:a16="http://schemas.microsoft.com/office/drawing/2014/main" id="{BF4176EA-90A3-4AE7-BC46-31B35BAF174D}"/>
              </a:ext>
            </a:extLst>
          </p:cNvPr>
          <p:cNvSpPr>
            <a:spLocks noGrp="1" noChangeArrowheads="1"/>
          </p:cNvSpPr>
          <p:nvPr>
            <p:ph type="body" idx="1"/>
          </p:nvPr>
        </p:nvSpPr>
        <p:spPr bwMode="auto">
          <a:xfrm>
            <a:off x="255588" y="917575"/>
            <a:ext cx="8734425" cy="572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288" name="Line 24">
            <a:extLst>
              <a:ext uri="{FF2B5EF4-FFF2-40B4-BE49-F238E27FC236}">
                <a16:creationId xmlns:a16="http://schemas.microsoft.com/office/drawing/2014/main" id="{EA335D38-4E76-4D49-BD51-09F2BA94B523}"/>
              </a:ext>
            </a:extLst>
          </p:cNvPr>
          <p:cNvSpPr>
            <a:spLocks noChangeShapeType="1"/>
          </p:cNvSpPr>
          <p:nvPr userDrawn="1"/>
        </p:nvSpPr>
        <p:spPr bwMode="auto">
          <a:xfrm>
            <a:off x="0" y="735013"/>
            <a:ext cx="91440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Tree>
  </p:cSld>
  <p:clrMap bg1="dk2" tx1="lt1" bg2="dk1" tx2="lt2" accent1="accent1" accent2="accent2" accent3="accent3" accent4="accent4" accent5="accent5" accent6="accent6" hlink="hlink" folHlink="folHlink"/>
  <p:sldLayoutIdLst>
    <p:sldLayoutId id="2147483679"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Lst>
  <p:transition spd="slow"/>
  <p:txStyles>
    <p:titleStyle>
      <a:lvl1pPr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2pPr>
      <a:lvl3pPr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3pPr>
      <a:lvl4pPr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4pPr>
      <a:lvl5pPr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5pPr>
      <a:lvl6pPr marL="457200"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6pPr>
      <a:lvl7pPr marL="914400"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7pPr>
      <a:lvl8pPr marL="1371600"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8pPr>
      <a:lvl9pPr marL="1828800"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9pPr>
    </p:titleStyle>
    <p:bodyStyle>
      <a:lvl1pPr marL="288925" indent="-288925" algn="l" rtl="0" eaLnBrk="0" fontAlgn="base" hangingPunct="0">
        <a:lnSpc>
          <a:spcPct val="120000"/>
        </a:lnSpc>
        <a:spcBef>
          <a:spcPct val="100000"/>
        </a:spcBef>
        <a:spcAft>
          <a:spcPct val="0"/>
        </a:spcAft>
        <a:buClr>
          <a:schemeClr val="folHlink"/>
        </a:buClr>
        <a:buSzPct val="100000"/>
        <a:buFont typeface="Times" panose="02020603050405020304" pitchFamily="18" charset="0"/>
        <a:buChar char="•"/>
        <a:defRPr sz="2000">
          <a:solidFill>
            <a:schemeClr val="tx1"/>
          </a:solidFill>
          <a:effectLst>
            <a:outerShdw blurRad="38100" dist="38100" dir="2700000" algn="tl">
              <a:srgbClr val="000000"/>
            </a:outerShdw>
          </a:effectLst>
          <a:latin typeface="+mn-lt"/>
          <a:ea typeface="+mn-ea"/>
          <a:cs typeface="+mn-cs"/>
        </a:defRPr>
      </a:lvl1pPr>
      <a:lvl2pPr marL="762000" indent="-187325" algn="l" rtl="0" eaLnBrk="0" fontAlgn="base" hangingPunct="0">
        <a:lnSpc>
          <a:spcPct val="120000"/>
        </a:lnSpc>
        <a:spcBef>
          <a:spcPct val="50000"/>
        </a:spcBef>
        <a:spcAft>
          <a:spcPct val="0"/>
        </a:spcAft>
        <a:buClr>
          <a:schemeClr val="folHlink"/>
        </a:buClr>
        <a:buSzPct val="100000"/>
        <a:buFont typeface="Times" panose="02020603050405020304" pitchFamily="18" charset="0"/>
        <a:buChar char="•"/>
        <a:defRPr>
          <a:solidFill>
            <a:schemeClr val="tx1"/>
          </a:solidFill>
          <a:effectLst>
            <a:outerShdw blurRad="38100" dist="38100" dir="2700000" algn="tl">
              <a:srgbClr val="000000"/>
            </a:outerShdw>
          </a:effectLst>
          <a:latin typeface="+mn-lt"/>
        </a:defRPr>
      </a:lvl2pPr>
      <a:lvl3pPr marL="1235075" indent="-184150" algn="l" rtl="0" eaLnBrk="0" fontAlgn="base" hangingPunct="0">
        <a:spcBef>
          <a:spcPct val="25000"/>
        </a:spcBef>
        <a:spcAft>
          <a:spcPct val="0"/>
        </a:spcAft>
        <a:buClr>
          <a:schemeClr val="folHlink"/>
        </a:buClr>
        <a:buFont typeface="Times" panose="02020603050405020304" pitchFamily="18" charset="0"/>
        <a:buChar char="•"/>
        <a:defRPr sz="1600">
          <a:solidFill>
            <a:schemeClr val="tx1"/>
          </a:solidFill>
          <a:effectLst>
            <a:outerShdw blurRad="38100" dist="38100" dir="2700000" algn="tl">
              <a:srgbClr val="000000"/>
            </a:outerShdw>
          </a:effectLst>
          <a:latin typeface="+mn-lt"/>
        </a:defRPr>
      </a:lvl3pPr>
      <a:lvl4pPr marL="1698625" indent="-228600" algn="l" rtl="0" eaLnBrk="0" fontAlgn="base" hangingPunct="0">
        <a:spcBef>
          <a:spcPct val="25000"/>
        </a:spcBef>
        <a:spcAft>
          <a:spcPct val="0"/>
        </a:spcAft>
        <a:buClr>
          <a:schemeClr val="folHlink"/>
        </a:buClr>
        <a:buFont typeface="Times" panose="02020603050405020304" pitchFamily="18" charset="0"/>
        <a:buChar char="•"/>
        <a:defRPr sz="1600">
          <a:solidFill>
            <a:schemeClr val="tx1"/>
          </a:solidFill>
          <a:effectLst>
            <a:outerShdw blurRad="38100" dist="38100" dir="2700000" algn="tl">
              <a:srgbClr val="000000"/>
            </a:outerShdw>
          </a:effectLst>
          <a:latin typeface="+mn-lt"/>
        </a:defRPr>
      </a:lvl4pPr>
      <a:lvl5pPr marL="2117725" indent="-228600" algn="l" rtl="0" eaLnBrk="0" fontAlgn="base" hangingPunct="0">
        <a:spcBef>
          <a:spcPct val="25000"/>
        </a:spcBef>
        <a:spcAft>
          <a:spcPct val="0"/>
        </a:spcAft>
        <a:buClr>
          <a:schemeClr val="folHlink"/>
        </a:buClr>
        <a:buSzPct val="50000"/>
        <a:buFont typeface="Times" panose="02020603050405020304" pitchFamily="18" charset="0"/>
        <a:buChar char="•"/>
        <a:defRPr sz="1600">
          <a:solidFill>
            <a:schemeClr val="tx1"/>
          </a:solidFill>
          <a:effectLst>
            <a:outerShdw blurRad="38100" dist="38100" dir="2700000" algn="tl">
              <a:srgbClr val="000000"/>
            </a:outerShdw>
          </a:effectLst>
          <a:latin typeface="+mn-lt"/>
        </a:defRPr>
      </a:lvl5pPr>
      <a:lvl6pPr marL="25749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6pPr>
      <a:lvl7pPr marL="30321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7pPr>
      <a:lvl8pPr marL="34893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8pPr>
      <a:lvl9pPr marL="39465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14.xml"/><Relationship Id="rId5" Type="http://schemas.openxmlformats.org/officeDocument/2006/relationships/image" Target="../media/image13.jpeg"/><Relationship Id="rId4" Type="http://schemas.openxmlformats.org/officeDocument/2006/relationships/image" Target="../media/image12.jpeg"/></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14.xml"/><Relationship Id="rId5" Type="http://schemas.openxmlformats.org/officeDocument/2006/relationships/image" Target="../media/image16.jpe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18.jpeg"/></Relationships>
</file>

<file path=ppt/slides/_rels/slide1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2.xml"/><Relationship Id="rId1" Type="http://schemas.openxmlformats.org/officeDocument/2006/relationships/slideLayout" Target="../slideLayouts/slideLayout13.xml"/><Relationship Id="rId5" Type="http://schemas.openxmlformats.org/officeDocument/2006/relationships/image" Target="../media/image23.jpeg"/><Relationship Id="rId4" Type="http://schemas.openxmlformats.org/officeDocument/2006/relationships/image" Target="../media/image22.jpeg"/></Relationships>
</file>

<file path=ppt/slides/_rels/slide1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3.xml"/><Relationship Id="rId1" Type="http://schemas.openxmlformats.org/officeDocument/2006/relationships/slideLayout" Target="../slideLayouts/slideLayout15.xml"/><Relationship Id="rId5" Type="http://schemas.openxmlformats.org/officeDocument/2006/relationships/image" Target="../media/image26.jpeg"/><Relationship Id="rId4" Type="http://schemas.openxmlformats.org/officeDocument/2006/relationships/image" Target="../media/image25.jpe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6.xml"/><Relationship Id="rId1" Type="http://schemas.openxmlformats.org/officeDocument/2006/relationships/slideLayout" Target="../slideLayouts/slideLayout13.xml"/><Relationship Id="rId5" Type="http://schemas.openxmlformats.org/officeDocument/2006/relationships/image" Target="../media/image31.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9.xml"/><Relationship Id="rId1" Type="http://schemas.openxmlformats.org/officeDocument/2006/relationships/slideLayout" Target="../slideLayouts/slideLayout13.xml"/><Relationship Id="rId5" Type="http://schemas.openxmlformats.org/officeDocument/2006/relationships/image" Target="../media/image34.jpeg"/><Relationship Id="rId4" Type="http://schemas.openxmlformats.org/officeDocument/2006/relationships/image" Target="../media/image33.jpeg"/></Relationships>
</file>

<file path=ppt/slides/_rels/slide20.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36.jpeg"/></Relationships>
</file>

<file path=ppt/slides/_rels/slide21.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21.xml"/><Relationship Id="rId1" Type="http://schemas.openxmlformats.org/officeDocument/2006/relationships/slideLayout" Target="../slideLayouts/slideLayout13.xml"/><Relationship Id="rId5" Type="http://schemas.openxmlformats.org/officeDocument/2006/relationships/image" Target="../media/image39.jpeg"/><Relationship Id="rId4" Type="http://schemas.openxmlformats.org/officeDocument/2006/relationships/image" Target="../media/image38.jpeg"/></Relationships>
</file>

<file path=ppt/slides/_rels/slide22.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22.xml"/><Relationship Id="rId1" Type="http://schemas.openxmlformats.org/officeDocument/2006/relationships/slideLayout" Target="../slideLayouts/slideLayout13.xml"/><Relationship Id="rId4" Type="http://schemas.openxmlformats.org/officeDocument/2006/relationships/image" Target="../media/image41.jpeg"/></Relationships>
</file>

<file path=ppt/slides/_rels/slide23.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image" Target="../media/image43.jpeg"/></Relationships>
</file>

<file path=ppt/slides/_rels/slide24.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24.xml"/><Relationship Id="rId1" Type="http://schemas.openxmlformats.org/officeDocument/2006/relationships/slideLayout" Target="../slideLayouts/slideLayout14.xml"/><Relationship Id="rId5" Type="http://schemas.openxmlformats.org/officeDocument/2006/relationships/image" Target="../media/image46.jpeg"/><Relationship Id="rId4" Type="http://schemas.openxmlformats.org/officeDocument/2006/relationships/image" Target="../media/image45.jpeg"/></Relationships>
</file>

<file path=ppt/slides/_rels/slide25.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25.xml"/><Relationship Id="rId1" Type="http://schemas.openxmlformats.org/officeDocument/2006/relationships/slideLayout" Target="../slideLayouts/slideLayout13.xml"/><Relationship Id="rId5" Type="http://schemas.openxmlformats.org/officeDocument/2006/relationships/image" Target="../media/image49.jpeg"/><Relationship Id="rId4" Type="http://schemas.openxmlformats.org/officeDocument/2006/relationships/image" Target="../media/image48.jpeg"/></Relationships>
</file>

<file path=ppt/slides/_rels/slide26.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26.xml"/><Relationship Id="rId1" Type="http://schemas.openxmlformats.org/officeDocument/2006/relationships/slideLayout" Target="../slideLayouts/slideLayout13.xml"/><Relationship Id="rId6" Type="http://schemas.openxmlformats.org/officeDocument/2006/relationships/image" Target="../media/image53.jpeg"/><Relationship Id="rId5" Type="http://schemas.openxmlformats.org/officeDocument/2006/relationships/image" Target="../media/image52.jpeg"/><Relationship Id="rId4" Type="http://schemas.openxmlformats.org/officeDocument/2006/relationships/image" Target="../media/image51.jpeg"/></Relationships>
</file>

<file path=ppt/slides/_rels/slide27.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27.xml"/><Relationship Id="rId1" Type="http://schemas.openxmlformats.org/officeDocument/2006/relationships/slideLayout" Target="../slideLayouts/slideLayout13.xml"/><Relationship Id="rId4" Type="http://schemas.openxmlformats.org/officeDocument/2006/relationships/image" Target="../media/image55.jpeg"/></Relationships>
</file>

<file path=ppt/slides/_rels/slide28.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32.xml"/><Relationship Id="rId1" Type="http://schemas.openxmlformats.org/officeDocument/2006/relationships/slideLayout" Target="../slideLayouts/slideLayout13.xml"/><Relationship Id="rId4" Type="http://schemas.openxmlformats.org/officeDocument/2006/relationships/image" Target="../media/image61.jpe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34.xml"/><Relationship Id="rId1" Type="http://schemas.openxmlformats.org/officeDocument/2006/relationships/slideLayout" Target="../slideLayouts/slideLayout13.xml"/><Relationship Id="rId4" Type="http://schemas.openxmlformats.org/officeDocument/2006/relationships/image" Target="../media/image63.jpeg"/></Relationships>
</file>

<file path=ppt/slides/_rels/slide35.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36.xml"/><Relationship Id="rId1" Type="http://schemas.openxmlformats.org/officeDocument/2006/relationships/slideLayout" Target="../slideLayouts/slideLayout13.xml"/><Relationship Id="rId5" Type="http://schemas.openxmlformats.org/officeDocument/2006/relationships/image" Target="../media/image67.jpeg"/><Relationship Id="rId4" Type="http://schemas.openxmlformats.org/officeDocument/2006/relationships/image" Target="../media/image66.jpeg"/></Relationships>
</file>

<file path=ppt/slides/_rels/slide3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38.xml"/><Relationship Id="rId1" Type="http://schemas.openxmlformats.org/officeDocument/2006/relationships/slideLayout" Target="../slideLayouts/slideLayout13.xml"/><Relationship Id="rId4" Type="http://schemas.openxmlformats.org/officeDocument/2006/relationships/image" Target="../media/image70.png"/></Relationships>
</file>

<file path=ppt/slides/_rels/slide3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40.xml"/><Relationship Id="rId1" Type="http://schemas.openxmlformats.org/officeDocument/2006/relationships/slideLayout" Target="../slideLayouts/slideLayout13.xml"/><Relationship Id="rId6" Type="http://schemas.openxmlformats.org/officeDocument/2006/relationships/image" Target="../media/image75.jpeg"/><Relationship Id="rId5" Type="http://schemas.openxmlformats.org/officeDocument/2006/relationships/image" Target="../media/image74.jpeg"/><Relationship Id="rId4" Type="http://schemas.openxmlformats.org/officeDocument/2006/relationships/image" Target="../media/image73.jpeg"/></Relationships>
</file>

<file path=ppt/slides/_rels/slide41.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41.xml"/><Relationship Id="rId1" Type="http://schemas.openxmlformats.org/officeDocument/2006/relationships/slideLayout" Target="../slideLayouts/slideLayout12.xml"/><Relationship Id="rId4" Type="http://schemas.openxmlformats.org/officeDocument/2006/relationships/image" Target="../media/image77.jpeg"/></Relationships>
</file>

<file path=ppt/slides/_rels/slide42.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79.jpeg"/></Relationships>
</file>

<file path=ppt/slides/_rels/slide43.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43.xml"/><Relationship Id="rId1" Type="http://schemas.openxmlformats.org/officeDocument/2006/relationships/slideLayout" Target="../slideLayouts/slideLayout4.xml"/><Relationship Id="rId5" Type="http://schemas.openxmlformats.org/officeDocument/2006/relationships/image" Target="../media/image82.jpeg"/><Relationship Id="rId4" Type="http://schemas.openxmlformats.org/officeDocument/2006/relationships/image" Target="../media/image81.jpeg"/></Relationships>
</file>

<file path=ppt/slides/_rels/slide44.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44.xml"/><Relationship Id="rId1" Type="http://schemas.openxmlformats.org/officeDocument/2006/relationships/slideLayout" Target="../slideLayouts/slideLayout13.xml"/><Relationship Id="rId4" Type="http://schemas.openxmlformats.org/officeDocument/2006/relationships/image" Target="../media/image84.png"/></Relationships>
</file>

<file path=ppt/slides/_rels/slide45.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45.xml"/><Relationship Id="rId1" Type="http://schemas.openxmlformats.org/officeDocument/2006/relationships/slideLayout" Target="../slideLayouts/slideLayout13.xml"/><Relationship Id="rId5" Type="http://schemas.openxmlformats.org/officeDocument/2006/relationships/image" Target="../media/image34.jpeg"/><Relationship Id="rId4" Type="http://schemas.openxmlformats.org/officeDocument/2006/relationships/image" Target="../media/image86.jpeg"/></Relationships>
</file>

<file path=ppt/slides/_rels/slide46.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46.xml"/><Relationship Id="rId1" Type="http://schemas.openxmlformats.org/officeDocument/2006/relationships/slideLayout" Target="../slideLayouts/slideLayout13.xml"/><Relationship Id="rId4" Type="http://schemas.openxmlformats.org/officeDocument/2006/relationships/image" Target="../media/image88.jpeg"/></Relationships>
</file>

<file path=ppt/slides/_rels/slide47.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49.xml"/><Relationship Id="rId1" Type="http://schemas.openxmlformats.org/officeDocument/2006/relationships/slideLayout" Target="../slideLayouts/slideLayout13.xml"/><Relationship Id="rId5" Type="http://schemas.openxmlformats.org/officeDocument/2006/relationships/image" Target="../media/image92.jpeg"/><Relationship Id="rId4" Type="http://schemas.openxmlformats.org/officeDocument/2006/relationships/image" Target="../media/image91.jpeg"/></Relationships>
</file>

<file path=ppt/slides/_rels/slide50.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50.xml"/><Relationship Id="rId1" Type="http://schemas.openxmlformats.org/officeDocument/2006/relationships/slideLayout" Target="../slideLayouts/slideLayout13.xml"/><Relationship Id="rId5" Type="http://schemas.openxmlformats.org/officeDocument/2006/relationships/image" Target="../media/image95.jpeg"/><Relationship Id="rId4" Type="http://schemas.openxmlformats.org/officeDocument/2006/relationships/image" Target="../media/image94.jpeg"/></Relationships>
</file>

<file path=ppt/slides/_rels/slide51.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51.xml"/><Relationship Id="rId1" Type="http://schemas.openxmlformats.org/officeDocument/2006/relationships/slideLayout" Target="../slideLayouts/slideLayout13.xml"/><Relationship Id="rId5" Type="http://schemas.openxmlformats.org/officeDocument/2006/relationships/image" Target="../media/image98.jpeg"/><Relationship Id="rId4" Type="http://schemas.openxmlformats.org/officeDocument/2006/relationships/image" Target="../media/image97.jpe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82D14921-B342-4CF1-954C-47297969A561}"/>
              </a:ext>
            </a:extLst>
          </p:cNvPr>
          <p:cNvSpPr>
            <a:spLocks noGrp="1" noChangeArrowheads="1"/>
          </p:cNvSpPr>
          <p:nvPr>
            <p:ph type="ctrTitle"/>
          </p:nvPr>
        </p:nvSpPr>
        <p:spPr>
          <a:xfrm>
            <a:off x="239713" y="672073"/>
            <a:ext cx="8705850" cy="3804118"/>
          </a:xfrm>
        </p:spPr>
        <p:txBody>
          <a:bodyPr/>
          <a:lstStyle/>
          <a:p>
            <a:pPr>
              <a:lnSpc>
                <a:spcPct val="120000"/>
              </a:lnSpc>
            </a:pPr>
            <a:r>
              <a:rPr lang="en-US" altLang="en-US" sz="3200" dirty="0"/>
              <a:t>EART 28202 :  Structural Geology</a:t>
            </a:r>
            <a:br>
              <a:rPr lang="en-US" altLang="en-US" sz="3200" dirty="0"/>
            </a:br>
            <a:br>
              <a:rPr lang="en-US" altLang="en-US" dirty="0"/>
            </a:br>
            <a:br>
              <a:rPr lang="en-US" altLang="en-US" dirty="0"/>
            </a:br>
            <a:br>
              <a:rPr lang="en-US" altLang="en-US" dirty="0"/>
            </a:br>
            <a:r>
              <a:rPr lang="en-US" altLang="en-US" sz="3200" dirty="0">
                <a:solidFill>
                  <a:srgbClr val="FF6600"/>
                </a:solidFill>
              </a:rPr>
              <a:t>Class 6 :  Fracturing and the emplacement of minor intrusions</a:t>
            </a:r>
            <a:endParaRPr lang="en-US" altLang="en-US" sz="2600" dirty="0">
              <a:solidFill>
                <a:srgbClr val="FF6600"/>
              </a:solidFill>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ACE7A691-37BD-4899-838D-63C4FE5EA2FC}"/>
              </a:ext>
            </a:extLst>
          </p:cNvPr>
          <p:cNvSpPr>
            <a:spLocks noGrp="1" noChangeArrowheads="1"/>
          </p:cNvSpPr>
          <p:nvPr>
            <p:ph type="title"/>
          </p:nvPr>
        </p:nvSpPr>
        <p:spPr>
          <a:noFill/>
        </p:spPr>
        <p:txBody>
          <a:bodyPr/>
          <a:lstStyle/>
          <a:p>
            <a:r>
              <a:rPr lang="en-GB" altLang="en-US">
                <a:effectLst/>
              </a:rPr>
              <a:t>Fractures</a:t>
            </a:r>
          </a:p>
        </p:txBody>
      </p:sp>
      <p:sp>
        <p:nvSpPr>
          <p:cNvPr id="100355" name="Rectangle 3">
            <a:extLst>
              <a:ext uri="{FF2B5EF4-FFF2-40B4-BE49-F238E27FC236}">
                <a16:creationId xmlns:a16="http://schemas.microsoft.com/office/drawing/2014/main" id="{AF9E7794-E42E-4BC7-8B54-E14B743CEB18}"/>
              </a:ext>
            </a:extLst>
          </p:cNvPr>
          <p:cNvSpPr>
            <a:spLocks noGrp="1" noChangeArrowheads="1"/>
          </p:cNvSpPr>
          <p:nvPr>
            <p:ph type="body" sz="half" idx="1"/>
          </p:nvPr>
        </p:nvSpPr>
        <p:spPr>
          <a:xfrm>
            <a:off x="122238" y="780167"/>
            <a:ext cx="8885237" cy="994709"/>
          </a:xfrm>
          <a:noFill/>
        </p:spPr>
        <p:txBody>
          <a:bodyPr/>
          <a:lstStyle/>
          <a:p>
            <a:pPr marL="177800" indent="-177800">
              <a:spcBef>
                <a:spcPct val="50000"/>
              </a:spcBef>
            </a:pPr>
            <a:r>
              <a:rPr lang="en-GB" altLang="en-US" sz="1700" dirty="0">
                <a:effectLst/>
              </a:rPr>
              <a:t>Fractures appear almost everywhere at the surface of the </a:t>
            </a:r>
            <a:r>
              <a:rPr lang="en-GB" altLang="en-US" sz="1700" dirty="0">
                <a:solidFill>
                  <a:srgbClr val="FF6600"/>
                </a:solidFill>
                <a:effectLst/>
              </a:rPr>
              <a:t>Earth</a:t>
            </a:r>
            <a:r>
              <a:rPr lang="en-GB" altLang="en-US" sz="1700" dirty="0">
                <a:effectLst/>
              </a:rPr>
              <a:t>, ranging in size from </a:t>
            </a:r>
            <a:r>
              <a:rPr lang="en-GB" altLang="en-US" sz="1700" dirty="0">
                <a:solidFill>
                  <a:srgbClr val="FF66CC"/>
                </a:solidFill>
                <a:effectLst/>
              </a:rPr>
              <a:t>microcracks</a:t>
            </a:r>
            <a:r>
              <a:rPr lang="en-GB" altLang="en-US" sz="1700" dirty="0">
                <a:effectLst/>
              </a:rPr>
              <a:t> within individual grains to </a:t>
            </a:r>
            <a:r>
              <a:rPr lang="en-GB" altLang="en-US" sz="1700" dirty="0">
                <a:solidFill>
                  <a:srgbClr val="FF66CC"/>
                </a:solidFill>
                <a:effectLst/>
              </a:rPr>
              <a:t>mid-ocean ridge segments</a:t>
            </a:r>
            <a:r>
              <a:rPr lang="en-GB" altLang="en-US" sz="1700" dirty="0">
                <a:effectLst/>
              </a:rPr>
              <a:t> and</a:t>
            </a:r>
            <a:r>
              <a:rPr lang="en-GB" altLang="en-US" sz="1700" dirty="0">
                <a:solidFill>
                  <a:srgbClr val="FF66CC"/>
                </a:solidFill>
                <a:effectLst/>
              </a:rPr>
              <a:t> transform faults</a:t>
            </a:r>
            <a:r>
              <a:rPr lang="en-GB" altLang="en-US" sz="1700" dirty="0">
                <a:effectLst/>
              </a:rPr>
              <a:t> that form parts of the boundaries of lithospheric plates</a:t>
            </a:r>
          </a:p>
        </p:txBody>
      </p:sp>
      <p:pic>
        <p:nvPicPr>
          <p:cNvPr id="100357" name="Picture 2" descr="GR07.jpg">
            <a:extLst>
              <a:ext uri="{FF2B5EF4-FFF2-40B4-BE49-F238E27FC236}">
                <a16:creationId xmlns:a16="http://schemas.microsoft.com/office/drawing/2014/main" id="{3CED04C7-796B-477D-A584-2ACE6E4B14AC}"/>
              </a:ext>
            </a:extLst>
          </p:cNvPr>
          <p:cNvPicPr>
            <a:picLocks noGrp="1" noChangeAspect="1"/>
          </p:cNvPicPr>
          <p:nvPr>
            <p:ph sz="quarter" idx="2"/>
          </p:nvPr>
        </p:nvPicPr>
        <p:blipFill>
          <a:blip r:embed="rId3">
            <a:extLst>
              <a:ext uri="{28A0092B-C50C-407E-A947-70E740481C1C}">
                <a14:useLocalDpi xmlns:a14="http://schemas.microsoft.com/office/drawing/2010/main" val="0"/>
              </a:ext>
            </a:extLst>
          </a:blip>
          <a:srcRect l="2472" r="4057"/>
          <a:stretch>
            <a:fillRect/>
          </a:stretch>
        </p:blipFill>
        <p:spPr>
          <a:xfrm>
            <a:off x="415752" y="2754769"/>
            <a:ext cx="4573938" cy="3250923"/>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0362" name="Text Box 10">
            <a:extLst>
              <a:ext uri="{FF2B5EF4-FFF2-40B4-BE49-F238E27FC236}">
                <a16:creationId xmlns:a16="http://schemas.microsoft.com/office/drawing/2014/main" id="{6174C391-349E-4492-BDD5-637658E205E0}"/>
              </a:ext>
            </a:extLst>
          </p:cNvPr>
          <p:cNvSpPr txBox="1">
            <a:spLocks noChangeArrowheads="1"/>
          </p:cNvSpPr>
          <p:nvPr/>
        </p:nvSpPr>
        <p:spPr bwMode="auto">
          <a:xfrm>
            <a:off x="641353" y="6118406"/>
            <a:ext cx="4122737" cy="60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spcBef>
                <a:spcPct val="50000"/>
              </a:spcBef>
            </a:pPr>
            <a:r>
              <a:rPr lang="en-GB" altLang="en-US" sz="1400" dirty="0">
                <a:solidFill>
                  <a:srgbClr val="FFFF00"/>
                </a:solidFill>
                <a:effectLst>
                  <a:outerShdw blurRad="38100" dist="38100" dir="2700000" algn="tl">
                    <a:srgbClr val="000000"/>
                  </a:outerShdw>
                </a:effectLst>
                <a:latin typeface="Arial" panose="020B0604020202020204" pitchFamily="34" charset="0"/>
              </a:rPr>
              <a:t>Fissures at Thingvellir, Iceland, along the rift axis between the Eurasian and Laurentian plates</a:t>
            </a:r>
          </a:p>
        </p:txBody>
      </p:sp>
      <p:sp>
        <p:nvSpPr>
          <p:cNvPr id="100368" name="Text Box 16">
            <a:extLst>
              <a:ext uri="{FF2B5EF4-FFF2-40B4-BE49-F238E27FC236}">
                <a16:creationId xmlns:a16="http://schemas.microsoft.com/office/drawing/2014/main" id="{8567E4D7-4C7E-4719-937F-28AA50EA5763}"/>
              </a:ext>
            </a:extLst>
          </p:cNvPr>
          <p:cNvSpPr txBox="1">
            <a:spLocks noChangeArrowheads="1"/>
          </p:cNvSpPr>
          <p:nvPr/>
        </p:nvSpPr>
        <p:spPr bwMode="auto">
          <a:xfrm>
            <a:off x="5768624" y="6356222"/>
            <a:ext cx="3226151" cy="350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spcBef>
                <a:spcPct val="50000"/>
              </a:spcBef>
            </a:pPr>
            <a:r>
              <a:rPr lang="en-GB" altLang="en-US" sz="1400" dirty="0">
                <a:solidFill>
                  <a:srgbClr val="FFFF00"/>
                </a:solidFill>
                <a:effectLst>
                  <a:outerShdw blurRad="38100" dist="38100" dir="2700000" algn="tl">
                    <a:srgbClr val="000000"/>
                  </a:outerShdw>
                </a:effectLst>
                <a:latin typeface="Arial" panose="020B0604020202020204" pitchFamily="34" charset="0"/>
              </a:rPr>
              <a:t>Orthogonal fractures, Lakshmi, Venus </a:t>
            </a:r>
          </a:p>
        </p:txBody>
      </p:sp>
      <p:pic>
        <p:nvPicPr>
          <p:cNvPr id="10" name="Picture 5" descr="pia00085_lakshmi">
            <a:extLst>
              <a:ext uri="{FF2B5EF4-FFF2-40B4-BE49-F238E27FC236}">
                <a16:creationId xmlns:a16="http://schemas.microsoft.com/office/drawing/2014/main" id="{401F510D-9900-46F2-999F-91231C7029D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6200000">
            <a:off x="5229753" y="2861784"/>
            <a:ext cx="4291013" cy="2452687"/>
          </a:xfrm>
          <a:prstGeom prst="rect">
            <a:avLst/>
          </a:prstGeom>
          <a:noFill/>
          <a:ln w="381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1" name="Rectangle 3">
            <a:extLst>
              <a:ext uri="{FF2B5EF4-FFF2-40B4-BE49-F238E27FC236}">
                <a16:creationId xmlns:a16="http://schemas.microsoft.com/office/drawing/2014/main" id="{14E83752-5BC5-4FC8-BE36-587DFBD6A258}"/>
              </a:ext>
            </a:extLst>
          </p:cNvPr>
          <p:cNvSpPr txBox="1">
            <a:spLocks noChangeArrowheads="1"/>
          </p:cNvSpPr>
          <p:nvPr/>
        </p:nvSpPr>
        <p:spPr bwMode="auto">
          <a:xfrm>
            <a:off x="122238" y="1841059"/>
            <a:ext cx="5646386" cy="766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288925" indent="-288925" algn="l" rtl="0" eaLnBrk="0" fontAlgn="base" hangingPunct="0">
              <a:lnSpc>
                <a:spcPct val="120000"/>
              </a:lnSpc>
              <a:spcBef>
                <a:spcPct val="100000"/>
              </a:spcBef>
              <a:spcAft>
                <a:spcPct val="0"/>
              </a:spcAft>
              <a:buClr>
                <a:schemeClr val="folHlink"/>
              </a:buClr>
              <a:buSzPct val="100000"/>
              <a:buFont typeface="Times" panose="02020603050405020304" pitchFamily="18" charset="0"/>
              <a:buChar char="•"/>
              <a:defRPr sz="2000">
                <a:solidFill>
                  <a:schemeClr val="tx1"/>
                </a:solidFill>
                <a:effectLst>
                  <a:outerShdw blurRad="38100" dist="38100" dir="2700000" algn="tl">
                    <a:srgbClr val="000000"/>
                  </a:outerShdw>
                </a:effectLst>
                <a:latin typeface="+mn-lt"/>
                <a:ea typeface="+mn-ea"/>
                <a:cs typeface="+mn-cs"/>
              </a:defRPr>
            </a:lvl1pPr>
            <a:lvl2pPr marL="762000" indent="-187325" algn="l" rtl="0" eaLnBrk="0" fontAlgn="base" hangingPunct="0">
              <a:lnSpc>
                <a:spcPct val="120000"/>
              </a:lnSpc>
              <a:spcBef>
                <a:spcPct val="50000"/>
              </a:spcBef>
              <a:spcAft>
                <a:spcPct val="0"/>
              </a:spcAft>
              <a:buClr>
                <a:schemeClr val="folHlink"/>
              </a:buClr>
              <a:buSzPct val="100000"/>
              <a:buFont typeface="Times" panose="02020603050405020304" pitchFamily="18" charset="0"/>
              <a:buChar char="•"/>
              <a:defRPr>
                <a:solidFill>
                  <a:schemeClr val="tx1"/>
                </a:solidFill>
                <a:effectLst>
                  <a:outerShdw blurRad="38100" dist="38100" dir="2700000" algn="tl">
                    <a:srgbClr val="000000"/>
                  </a:outerShdw>
                </a:effectLst>
                <a:latin typeface="+mn-lt"/>
              </a:defRPr>
            </a:lvl2pPr>
            <a:lvl3pPr marL="1235075" indent="-184150" algn="l" rtl="0" eaLnBrk="0" fontAlgn="base" hangingPunct="0">
              <a:spcBef>
                <a:spcPct val="25000"/>
              </a:spcBef>
              <a:spcAft>
                <a:spcPct val="0"/>
              </a:spcAft>
              <a:buClr>
                <a:schemeClr val="folHlink"/>
              </a:buClr>
              <a:buFont typeface="Times" panose="02020603050405020304" pitchFamily="18" charset="0"/>
              <a:buChar char="•"/>
              <a:defRPr sz="1600">
                <a:solidFill>
                  <a:schemeClr val="tx1"/>
                </a:solidFill>
                <a:effectLst>
                  <a:outerShdw blurRad="38100" dist="38100" dir="2700000" algn="tl">
                    <a:srgbClr val="000000"/>
                  </a:outerShdw>
                </a:effectLst>
                <a:latin typeface="+mn-lt"/>
              </a:defRPr>
            </a:lvl3pPr>
            <a:lvl4pPr marL="1698625" indent="-228600" algn="l" rtl="0" eaLnBrk="0" fontAlgn="base" hangingPunct="0">
              <a:spcBef>
                <a:spcPct val="25000"/>
              </a:spcBef>
              <a:spcAft>
                <a:spcPct val="0"/>
              </a:spcAft>
              <a:buClr>
                <a:schemeClr val="folHlink"/>
              </a:buClr>
              <a:buFont typeface="Times" panose="02020603050405020304" pitchFamily="18" charset="0"/>
              <a:buChar char="•"/>
              <a:defRPr sz="1600">
                <a:solidFill>
                  <a:schemeClr val="tx1"/>
                </a:solidFill>
                <a:effectLst>
                  <a:outerShdw blurRad="38100" dist="38100" dir="2700000" algn="tl">
                    <a:srgbClr val="000000"/>
                  </a:outerShdw>
                </a:effectLst>
                <a:latin typeface="+mn-lt"/>
              </a:defRPr>
            </a:lvl4pPr>
            <a:lvl5pPr marL="2117725" indent="-228600" algn="l" rtl="0" eaLnBrk="0" fontAlgn="base" hangingPunct="0">
              <a:spcBef>
                <a:spcPct val="25000"/>
              </a:spcBef>
              <a:spcAft>
                <a:spcPct val="0"/>
              </a:spcAft>
              <a:buClr>
                <a:schemeClr val="folHlink"/>
              </a:buClr>
              <a:buSzPct val="50000"/>
              <a:buFont typeface="Times" panose="02020603050405020304" pitchFamily="18" charset="0"/>
              <a:buChar char="•"/>
              <a:defRPr sz="1600">
                <a:solidFill>
                  <a:schemeClr val="tx1"/>
                </a:solidFill>
                <a:effectLst>
                  <a:outerShdw blurRad="38100" dist="38100" dir="2700000" algn="tl">
                    <a:srgbClr val="000000"/>
                  </a:outerShdw>
                </a:effectLst>
                <a:latin typeface="+mn-lt"/>
              </a:defRPr>
            </a:lvl5pPr>
            <a:lvl6pPr marL="25749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6pPr>
            <a:lvl7pPr marL="30321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7pPr>
            <a:lvl8pPr marL="34893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8pPr>
            <a:lvl9pPr marL="39465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9pPr>
          </a:lstStyle>
          <a:p>
            <a:pPr marL="177800" indent="-177800">
              <a:spcBef>
                <a:spcPct val="50000"/>
              </a:spcBef>
            </a:pPr>
            <a:r>
              <a:rPr lang="en-GB" altLang="en-US" sz="1700" kern="0" dirty="0">
                <a:effectLst/>
              </a:rPr>
              <a:t>Fractures are also a significant feature on the surfaces of </a:t>
            </a:r>
            <a:r>
              <a:rPr lang="en-GB" altLang="en-US" sz="1700" kern="0" dirty="0">
                <a:solidFill>
                  <a:srgbClr val="FF6600"/>
                </a:solidFill>
                <a:effectLst/>
              </a:rPr>
              <a:t>other planetary bodies</a:t>
            </a:r>
          </a:p>
        </p:txBody>
      </p:sp>
    </p:spTree>
    <p:extLst>
      <p:ext uri="{BB962C8B-B14F-4D97-AF65-F5344CB8AC3E}">
        <p14:creationId xmlns:p14="http://schemas.microsoft.com/office/powerpoint/2010/main" val="3227645099"/>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2">
            <a:extLst>
              <a:ext uri="{FF2B5EF4-FFF2-40B4-BE49-F238E27FC236}">
                <a16:creationId xmlns:a16="http://schemas.microsoft.com/office/drawing/2014/main" id="{DD5A9087-BC40-4621-AAE9-401B5177FB43}"/>
              </a:ext>
            </a:extLst>
          </p:cNvPr>
          <p:cNvSpPr>
            <a:spLocks noGrp="1" noChangeArrowheads="1"/>
          </p:cNvSpPr>
          <p:nvPr>
            <p:ph type="title"/>
          </p:nvPr>
        </p:nvSpPr>
        <p:spPr>
          <a:noFill/>
        </p:spPr>
        <p:txBody>
          <a:bodyPr/>
          <a:lstStyle/>
          <a:p>
            <a:r>
              <a:rPr lang="en-GB" altLang="en-US">
                <a:effectLst/>
              </a:rPr>
              <a:t>The importance of fractures</a:t>
            </a:r>
          </a:p>
        </p:txBody>
      </p:sp>
      <p:sp>
        <p:nvSpPr>
          <p:cNvPr id="275459" name="Rectangle 3">
            <a:extLst>
              <a:ext uri="{FF2B5EF4-FFF2-40B4-BE49-F238E27FC236}">
                <a16:creationId xmlns:a16="http://schemas.microsoft.com/office/drawing/2014/main" id="{1CF6F99D-4999-45E1-8AAF-04BA67256B16}"/>
              </a:ext>
            </a:extLst>
          </p:cNvPr>
          <p:cNvSpPr>
            <a:spLocks noGrp="1" noChangeArrowheads="1"/>
          </p:cNvSpPr>
          <p:nvPr>
            <p:ph type="body" sz="half" idx="1"/>
          </p:nvPr>
        </p:nvSpPr>
        <p:spPr>
          <a:xfrm>
            <a:off x="128588" y="785813"/>
            <a:ext cx="8872537" cy="1084262"/>
          </a:xfrm>
          <a:noFill/>
        </p:spPr>
        <p:txBody>
          <a:bodyPr/>
          <a:lstStyle/>
          <a:p>
            <a:pPr marL="177800" indent="-177800">
              <a:spcBef>
                <a:spcPct val="50000"/>
              </a:spcBef>
            </a:pPr>
            <a:r>
              <a:rPr lang="en-GB" altLang="en-US" sz="1700" dirty="0">
                <a:effectLst/>
              </a:rPr>
              <a:t>For the </a:t>
            </a:r>
            <a:r>
              <a:rPr lang="en-GB" altLang="en-US" sz="1700" dirty="0">
                <a:solidFill>
                  <a:srgbClr val="FF66CC"/>
                </a:solidFill>
                <a:effectLst/>
              </a:rPr>
              <a:t>hydrologist</a:t>
            </a:r>
            <a:r>
              <a:rPr lang="en-GB" altLang="en-US" sz="1700" dirty="0">
                <a:effectLst/>
              </a:rPr>
              <a:t>, and </a:t>
            </a:r>
            <a:r>
              <a:rPr lang="en-GB" altLang="en-US" sz="1700" dirty="0">
                <a:solidFill>
                  <a:srgbClr val="FF66CC"/>
                </a:solidFill>
                <a:effectLst/>
              </a:rPr>
              <a:t>petroleu</a:t>
            </a:r>
            <a:r>
              <a:rPr lang="en-GB" altLang="en-US" sz="1700" spc="300" dirty="0">
                <a:solidFill>
                  <a:srgbClr val="FF66CC"/>
                </a:solidFill>
                <a:effectLst/>
              </a:rPr>
              <a:t>m/</a:t>
            </a:r>
            <a:r>
              <a:rPr lang="en-GB" altLang="en-US" sz="1700" dirty="0">
                <a:solidFill>
                  <a:srgbClr val="FF66CC"/>
                </a:solidFill>
                <a:effectLst/>
              </a:rPr>
              <a:t>mining geologist</a:t>
            </a:r>
            <a:r>
              <a:rPr lang="en-GB" altLang="en-US" sz="1700" dirty="0">
                <a:effectLst/>
              </a:rPr>
              <a:t> the influence of fractures on </a:t>
            </a:r>
            <a:r>
              <a:rPr lang="en-GB" altLang="en-US" sz="1700" dirty="0">
                <a:solidFill>
                  <a:srgbClr val="FF6600"/>
                </a:solidFill>
                <a:effectLst/>
              </a:rPr>
              <a:t>fluid flow</a:t>
            </a:r>
            <a:r>
              <a:rPr lang="en-GB" altLang="en-US" sz="1700" dirty="0">
                <a:effectLst/>
              </a:rPr>
              <a:t> is critical, while for the </a:t>
            </a:r>
            <a:r>
              <a:rPr lang="en-GB" altLang="en-US" sz="1700" dirty="0">
                <a:solidFill>
                  <a:srgbClr val="FF66CC"/>
                </a:solidFill>
                <a:effectLst/>
              </a:rPr>
              <a:t>engineering geologist</a:t>
            </a:r>
            <a:r>
              <a:rPr lang="en-GB" altLang="en-US" sz="1700" dirty="0">
                <a:effectLst/>
              </a:rPr>
              <a:t> their influence on </a:t>
            </a:r>
            <a:r>
              <a:rPr lang="en-GB" altLang="en-US" sz="1700" dirty="0">
                <a:solidFill>
                  <a:srgbClr val="FF6600"/>
                </a:solidFill>
                <a:effectLst/>
              </a:rPr>
              <a:t>substrate and slope stability</a:t>
            </a:r>
            <a:r>
              <a:rPr lang="en-GB" altLang="en-US" sz="1700" dirty="0">
                <a:effectLst/>
              </a:rPr>
              <a:t> is of key importance</a:t>
            </a:r>
            <a:endParaRPr lang="en-GB" altLang="en-US" sz="1700" dirty="0">
              <a:solidFill>
                <a:srgbClr val="FF66CC"/>
              </a:solidFill>
              <a:effectLst/>
            </a:endParaRPr>
          </a:p>
        </p:txBody>
      </p:sp>
      <p:pic>
        <p:nvPicPr>
          <p:cNvPr id="275464" name="Picture 8" descr="04b-Amroth">
            <a:extLst>
              <a:ext uri="{FF2B5EF4-FFF2-40B4-BE49-F238E27FC236}">
                <a16:creationId xmlns:a16="http://schemas.microsoft.com/office/drawing/2014/main" id="{99E421B8-196C-44F8-A8B0-7D868656DB82}"/>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914400" y="2036763"/>
            <a:ext cx="7354888" cy="454342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595" name="Rectangle 19">
            <a:extLst>
              <a:ext uri="{FF2B5EF4-FFF2-40B4-BE49-F238E27FC236}">
                <a16:creationId xmlns:a16="http://schemas.microsoft.com/office/drawing/2014/main" id="{E76FD1CD-7C6B-4C22-8B10-EFDF41B33DA1}"/>
              </a:ext>
            </a:extLst>
          </p:cNvPr>
          <p:cNvSpPr>
            <a:spLocks noChangeArrowheads="1"/>
          </p:cNvSpPr>
          <p:nvPr/>
        </p:nvSpPr>
        <p:spPr bwMode="auto">
          <a:xfrm>
            <a:off x="2774950" y="5483225"/>
            <a:ext cx="6230938" cy="1149350"/>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8578" name="Rectangle 2">
            <a:extLst>
              <a:ext uri="{FF2B5EF4-FFF2-40B4-BE49-F238E27FC236}">
                <a16:creationId xmlns:a16="http://schemas.microsoft.com/office/drawing/2014/main" id="{888BBDCF-22CF-4410-9367-C86FFA6A7C55}"/>
              </a:ext>
            </a:extLst>
          </p:cNvPr>
          <p:cNvSpPr>
            <a:spLocks noGrp="1" noChangeArrowheads="1"/>
          </p:cNvSpPr>
          <p:nvPr>
            <p:ph type="title"/>
          </p:nvPr>
        </p:nvSpPr>
        <p:spPr>
          <a:noFill/>
        </p:spPr>
        <p:txBody>
          <a:bodyPr/>
          <a:lstStyle/>
          <a:p>
            <a:r>
              <a:rPr lang="en-GB" altLang="en-US">
                <a:effectLst/>
              </a:rPr>
              <a:t>The importance of fractures  2</a:t>
            </a:r>
          </a:p>
        </p:txBody>
      </p:sp>
      <p:sp>
        <p:nvSpPr>
          <p:cNvPr id="408579" name="Rectangle 3">
            <a:extLst>
              <a:ext uri="{FF2B5EF4-FFF2-40B4-BE49-F238E27FC236}">
                <a16:creationId xmlns:a16="http://schemas.microsoft.com/office/drawing/2014/main" id="{13C3C4CF-8F2B-4179-BEFD-532195375779}"/>
              </a:ext>
            </a:extLst>
          </p:cNvPr>
          <p:cNvSpPr>
            <a:spLocks noGrp="1" noChangeArrowheads="1"/>
          </p:cNvSpPr>
          <p:nvPr>
            <p:ph type="body" sz="half" idx="1"/>
          </p:nvPr>
        </p:nvSpPr>
        <p:spPr>
          <a:xfrm>
            <a:off x="4829175" y="852488"/>
            <a:ext cx="3675063" cy="806450"/>
          </a:xfrm>
          <a:noFill/>
        </p:spPr>
        <p:txBody>
          <a:bodyPr/>
          <a:lstStyle/>
          <a:p>
            <a:pPr marL="177800" indent="-177800">
              <a:spcBef>
                <a:spcPct val="50000"/>
              </a:spcBef>
              <a:buFont typeface="Times" panose="02020603050405020304" pitchFamily="18" charset="0"/>
              <a:buNone/>
            </a:pPr>
            <a:r>
              <a:rPr lang="en-GB" altLang="en-US" sz="1700">
                <a:effectLst/>
              </a:rPr>
              <a:t>	. . . and fractures exert a profound influence on </a:t>
            </a:r>
            <a:r>
              <a:rPr lang="en-GB" altLang="en-US" sz="1700">
                <a:solidFill>
                  <a:srgbClr val="FF66CC"/>
                </a:solidFill>
                <a:effectLst/>
              </a:rPr>
              <a:t>landscape evolution</a:t>
            </a:r>
          </a:p>
        </p:txBody>
      </p:sp>
      <p:pic>
        <p:nvPicPr>
          <p:cNvPr id="408582" name="Picture 6" descr="ThreeSisters">
            <a:extLst>
              <a:ext uri="{FF2B5EF4-FFF2-40B4-BE49-F238E27FC236}">
                <a16:creationId xmlns:a16="http://schemas.microsoft.com/office/drawing/2014/main" id="{13835FE0-359D-417A-BD65-3E34A23B791D}"/>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4914900" y="2773363"/>
            <a:ext cx="4025900" cy="2554287"/>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08584" name="Picture 8" descr="Woolamai">
            <a:extLst>
              <a:ext uri="{FF2B5EF4-FFF2-40B4-BE49-F238E27FC236}">
                <a16:creationId xmlns:a16="http://schemas.microsoft.com/office/drawing/2014/main" id="{27A914CA-A8B2-460C-8F6A-BCE488DFD89F}"/>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185738" y="917575"/>
            <a:ext cx="4476750" cy="283210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08586" name="Picture 10" descr="Form1ba">
            <a:extLst>
              <a:ext uri="{FF2B5EF4-FFF2-40B4-BE49-F238E27FC236}">
                <a16:creationId xmlns:a16="http://schemas.microsoft.com/office/drawing/2014/main" id="{064DA2AA-F4A1-4652-9933-A2A8F204E5E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00350" y="5551488"/>
            <a:ext cx="6161088" cy="1031875"/>
          </a:xfrm>
          <a:prstGeom prst="rect">
            <a:avLst/>
          </a:prstGeom>
          <a:noFill/>
          <a:extLst>
            <a:ext uri="{909E8E84-426E-40DD-AFC4-6F175D3DCCD1}">
              <a14:hiddenFill xmlns:a14="http://schemas.microsoft.com/office/drawing/2010/main">
                <a:solidFill>
                  <a:srgbClr val="FFFFFF"/>
                </a:solidFill>
              </a14:hiddenFill>
            </a:ext>
          </a:extLst>
        </p:spPr>
      </p:pic>
      <p:pic>
        <p:nvPicPr>
          <p:cNvPr id="408587" name="Picture 11" descr="Form1aa">
            <a:extLst>
              <a:ext uri="{FF2B5EF4-FFF2-40B4-BE49-F238E27FC236}">
                <a16:creationId xmlns:a16="http://schemas.microsoft.com/office/drawing/2014/main" id="{BC5DBBBE-7764-4E25-B02B-9FA458B0C1B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t="565" b="74364"/>
          <a:stretch>
            <a:fillRect/>
          </a:stretch>
        </p:blipFill>
        <p:spPr bwMode="auto">
          <a:xfrm>
            <a:off x="339725" y="4351338"/>
            <a:ext cx="1114425" cy="985837"/>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408588" name="Picture 12" descr="Form1aa">
            <a:extLst>
              <a:ext uri="{FF2B5EF4-FFF2-40B4-BE49-F238E27FC236}">
                <a16:creationId xmlns:a16="http://schemas.microsoft.com/office/drawing/2014/main" id="{8E7C0D93-FC2A-4E58-8E2E-09DAB4F62EE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t="25433" b="50021"/>
          <a:stretch>
            <a:fillRect/>
          </a:stretch>
        </p:blipFill>
        <p:spPr bwMode="auto">
          <a:xfrm>
            <a:off x="1633538" y="4343400"/>
            <a:ext cx="1138237" cy="985838"/>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408589" name="Picture 13" descr="Form1aa">
            <a:extLst>
              <a:ext uri="{FF2B5EF4-FFF2-40B4-BE49-F238E27FC236}">
                <a16:creationId xmlns:a16="http://schemas.microsoft.com/office/drawing/2014/main" id="{02C6A209-21F0-4C24-B6A6-2C27AF3E870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t="49495" b="25435"/>
          <a:stretch>
            <a:fillRect/>
          </a:stretch>
        </p:blipFill>
        <p:spPr bwMode="auto">
          <a:xfrm>
            <a:off x="2946400" y="4346575"/>
            <a:ext cx="1114425" cy="985838"/>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408590" name="Picture 14" descr="Form1aa">
            <a:extLst>
              <a:ext uri="{FF2B5EF4-FFF2-40B4-BE49-F238E27FC236}">
                <a16:creationId xmlns:a16="http://schemas.microsoft.com/office/drawing/2014/main" id="{CABFC366-3836-4D58-BDB3-69B8BD65221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t="74081" b="1089"/>
          <a:stretch>
            <a:fillRect/>
          </a:stretch>
        </p:blipFill>
        <p:spPr bwMode="auto">
          <a:xfrm>
            <a:off x="1168400" y="5510213"/>
            <a:ext cx="1114425" cy="97631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408591" name="Text Box 15">
            <a:extLst>
              <a:ext uri="{FF2B5EF4-FFF2-40B4-BE49-F238E27FC236}">
                <a16:creationId xmlns:a16="http://schemas.microsoft.com/office/drawing/2014/main" id="{63D6D8EA-75F7-403A-8B3E-0EF54C2FA35E}"/>
              </a:ext>
            </a:extLst>
          </p:cNvPr>
          <p:cNvSpPr txBox="1">
            <a:spLocks noChangeArrowheads="1"/>
          </p:cNvSpPr>
          <p:nvPr/>
        </p:nvSpPr>
        <p:spPr bwMode="auto">
          <a:xfrm>
            <a:off x="6356350" y="5951538"/>
            <a:ext cx="69056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200">
                <a:solidFill>
                  <a:srgbClr val="FF0000"/>
                </a:solidFill>
                <a:effectLst/>
                <a:latin typeface="Arial" panose="020B0604020202020204" pitchFamily="34" charset="0"/>
              </a:rPr>
              <a:t>eroded</a:t>
            </a:r>
          </a:p>
        </p:txBody>
      </p:sp>
      <p:sp>
        <p:nvSpPr>
          <p:cNvPr id="408592" name="Text Box 16">
            <a:extLst>
              <a:ext uri="{FF2B5EF4-FFF2-40B4-BE49-F238E27FC236}">
                <a16:creationId xmlns:a16="http://schemas.microsoft.com/office/drawing/2014/main" id="{D1E1F8F6-C332-464C-A443-0133267FBDF6}"/>
              </a:ext>
            </a:extLst>
          </p:cNvPr>
          <p:cNvSpPr txBox="1">
            <a:spLocks noChangeArrowheads="1"/>
          </p:cNvSpPr>
          <p:nvPr/>
        </p:nvSpPr>
        <p:spPr bwMode="auto">
          <a:xfrm>
            <a:off x="2997200" y="6078538"/>
            <a:ext cx="12319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200">
                <a:solidFill>
                  <a:srgbClr val="FF0000"/>
                </a:solidFill>
                <a:effectLst/>
                <a:latin typeface="Arial" panose="020B0604020202020204" pitchFamily="34" charset="0"/>
              </a:rPr>
              <a:t>Blue Mountains</a:t>
            </a:r>
          </a:p>
        </p:txBody>
      </p:sp>
      <p:sp>
        <p:nvSpPr>
          <p:cNvPr id="408593" name="Text Box 17">
            <a:extLst>
              <a:ext uri="{FF2B5EF4-FFF2-40B4-BE49-F238E27FC236}">
                <a16:creationId xmlns:a16="http://schemas.microsoft.com/office/drawing/2014/main" id="{4CA1B390-C5CE-469C-B126-4BD2620149C6}"/>
              </a:ext>
            </a:extLst>
          </p:cNvPr>
          <p:cNvSpPr txBox="1">
            <a:spLocks noChangeArrowheads="1"/>
          </p:cNvSpPr>
          <p:nvPr/>
        </p:nvSpPr>
        <p:spPr bwMode="auto">
          <a:xfrm>
            <a:off x="2751138" y="6367463"/>
            <a:ext cx="3937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200">
                <a:solidFill>
                  <a:schemeClr val="bg2"/>
                </a:solidFill>
                <a:effectLst/>
              </a:rPr>
              <a:t>W</a:t>
            </a:r>
          </a:p>
        </p:txBody>
      </p:sp>
      <p:sp>
        <p:nvSpPr>
          <p:cNvPr id="408594" name="Text Box 18">
            <a:extLst>
              <a:ext uri="{FF2B5EF4-FFF2-40B4-BE49-F238E27FC236}">
                <a16:creationId xmlns:a16="http://schemas.microsoft.com/office/drawing/2014/main" id="{281B4F3C-308A-4F0D-954F-668C1266931B}"/>
              </a:ext>
            </a:extLst>
          </p:cNvPr>
          <p:cNvSpPr txBox="1">
            <a:spLocks noChangeArrowheads="1"/>
          </p:cNvSpPr>
          <p:nvPr/>
        </p:nvSpPr>
        <p:spPr bwMode="auto">
          <a:xfrm>
            <a:off x="8516938" y="6367463"/>
            <a:ext cx="3937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200">
                <a:solidFill>
                  <a:schemeClr val="bg2"/>
                </a:solidFill>
                <a:effectLst/>
              </a:rPr>
              <a:t>E</a:t>
            </a:r>
          </a:p>
        </p:txBody>
      </p:sp>
      <p:sp>
        <p:nvSpPr>
          <p:cNvPr id="408596" name="Text Box 20">
            <a:extLst>
              <a:ext uri="{FF2B5EF4-FFF2-40B4-BE49-F238E27FC236}">
                <a16:creationId xmlns:a16="http://schemas.microsoft.com/office/drawing/2014/main" id="{28241FAE-46A8-4898-B6FD-6AC670863CFE}"/>
              </a:ext>
            </a:extLst>
          </p:cNvPr>
          <p:cNvSpPr txBox="1">
            <a:spLocks noChangeArrowheads="1"/>
          </p:cNvSpPr>
          <p:nvPr/>
        </p:nvSpPr>
        <p:spPr bwMode="auto">
          <a:xfrm>
            <a:off x="6073775" y="2371725"/>
            <a:ext cx="29448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Blue Mountains, New South Wales</a:t>
            </a:r>
          </a:p>
        </p:txBody>
      </p:sp>
      <p:sp>
        <p:nvSpPr>
          <p:cNvPr id="408597" name="Text Box 21">
            <a:extLst>
              <a:ext uri="{FF2B5EF4-FFF2-40B4-BE49-F238E27FC236}">
                <a16:creationId xmlns:a16="http://schemas.microsoft.com/office/drawing/2014/main" id="{FE10AD5B-A89C-4FCB-9D9F-D8ADFEAE2AAE}"/>
              </a:ext>
            </a:extLst>
          </p:cNvPr>
          <p:cNvSpPr txBox="1">
            <a:spLocks noChangeArrowheads="1"/>
          </p:cNvSpPr>
          <p:nvPr/>
        </p:nvSpPr>
        <p:spPr bwMode="auto">
          <a:xfrm>
            <a:off x="177800" y="3836988"/>
            <a:ext cx="29448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Fracture-controlled coastal erosion</a:t>
            </a:r>
          </a:p>
        </p:txBody>
      </p:sp>
      <p:sp>
        <p:nvSpPr>
          <p:cNvPr id="408598" name="Line 22">
            <a:extLst>
              <a:ext uri="{FF2B5EF4-FFF2-40B4-BE49-F238E27FC236}">
                <a16:creationId xmlns:a16="http://schemas.microsoft.com/office/drawing/2014/main" id="{860990E1-C80B-4F2C-973B-15D07E01728C}"/>
              </a:ext>
            </a:extLst>
          </p:cNvPr>
          <p:cNvSpPr>
            <a:spLocks noChangeShapeType="1"/>
          </p:cNvSpPr>
          <p:nvPr/>
        </p:nvSpPr>
        <p:spPr bwMode="auto">
          <a:xfrm>
            <a:off x="2846388" y="6327775"/>
            <a:ext cx="0"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08599" name="Line 23">
            <a:extLst>
              <a:ext uri="{FF2B5EF4-FFF2-40B4-BE49-F238E27FC236}">
                <a16:creationId xmlns:a16="http://schemas.microsoft.com/office/drawing/2014/main" id="{C2C25018-AAF8-4CD2-AFD7-78CDBFAE95B7}"/>
              </a:ext>
            </a:extLst>
          </p:cNvPr>
          <p:cNvSpPr>
            <a:spLocks noChangeAspect="1" noChangeShapeType="1"/>
          </p:cNvSpPr>
          <p:nvPr/>
        </p:nvSpPr>
        <p:spPr bwMode="auto">
          <a:xfrm>
            <a:off x="6253163" y="5719763"/>
            <a:ext cx="827087" cy="1587"/>
          </a:xfrm>
          <a:prstGeom prst="line">
            <a:avLst/>
          </a:prstGeom>
          <a:noFill/>
          <a:ln w="127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08600" name="Text Box 24">
            <a:extLst>
              <a:ext uri="{FF2B5EF4-FFF2-40B4-BE49-F238E27FC236}">
                <a16:creationId xmlns:a16="http://schemas.microsoft.com/office/drawing/2014/main" id="{83B8DA1C-236A-41C9-8913-6BA1E0744CC6}"/>
              </a:ext>
            </a:extLst>
          </p:cNvPr>
          <p:cNvSpPr txBox="1">
            <a:spLocks noChangeArrowheads="1"/>
          </p:cNvSpPr>
          <p:nvPr/>
        </p:nvSpPr>
        <p:spPr bwMode="auto">
          <a:xfrm>
            <a:off x="6394450" y="5503863"/>
            <a:ext cx="5588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000">
                <a:solidFill>
                  <a:srgbClr val="FF0000"/>
                </a:solidFill>
                <a:effectLst/>
                <a:latin typeface="Arial" panose="020B0604020202020204" pitchFamily="34" charset="0"/>
              </a:rPr>
              <a:t>10 km</a:t>
            </a: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2">
            <a:extLst>
              <a:ext uri="{FF2B5EF4-FFF2-40B4-BE49-F238E27FC236}">
                <a16:creationId xmlns:a16="http://schemas.microsoft.com/office/drawing/2014/main" id="{1E3666E7-7F9E-444D-9CF5-9853213F0EEE}"/>
              </a:ext>
            </a:extLst>
          </p:cNvPr>
          <p:cNvSpPr>
            <a:spLocks noGrp="1" noChangeArrowheads="1"/>
          </p:cNvSpPr>
          <p:nvPr>
            <p:ph type="title"/>
          </p:nvPr>
        </p:nvSpPr>
        <p:spPr>
          <a:noFill/>
        </p:spPr>
        <p:txBody>
          <a:bodyPr/>
          <a:lstStyle/>
          <a:p>
            <a:r>
              <a:rPr lang="en-GB" altLang="en-US">
                <a:effectLst/>
              </a:rPr>
              <a:t>Plan of action</a:t>
            </a:r>
          </a:p>
        </p:txBody>
      </p:sp>
      <p:sp>
        <p:nvSpPr>
          <p:cNvPr id="277507" name="Rectangle 3">
            <a:extLst>
              <a:ext uri="{FF2B5EF4-FFF2-40B4-BE49-F238E27FC236}">
                <a16:creationId xmlns:a16="http://schemas.microsoft.com/office/drawing/2014/main" id="{C9031545-BEBC-492D-8F36-19FE358C48AF}"/>
              </a:ext>
            </a:extLst>
          </p:cNvPr>
          <p:cNvSpPr>
            <a:spLocks noGrp="1" noChangeArrowheads="1"/>
          </p:cNvSpPr>
          <p:nvPr>
            <p:ph type="body" sz="half" idx="1"/>
          </p:nvPr>
        </p:nvSpPr>
        <p:spPr>
          <a:xfrm>
            <a:off x="103188" y="842963"/>
            <a:ext cx="3986212" cy="5755545"/>
          </a:xfrm>
          <a:noFill/>
        </p:spPr>
        <p:txBody>
          <a:bodyPr/>
          <a:lstStyle/>
          <a:p>
            <a:pPr marL="180000" indent="-180000">
              <a:spcBef>
                <a:spcPct val="50000"/>
              </a:spcBef>
            </a:pPr>
            <a:r>
              <a:rPr lang="en-GB" altLang="en-US" sz="1700" dirty="0">
                <a:effectLst/>
              </a:rPr>
              <a:t>In this class (Class 6) we will consider fractures across which displacements parallel to the fracture surface are too small to be </a:t>
            </a:r>
            <a:r>
              <a:rPr lang="en-GB" altLang="en-US" sz="1700" dirty="0">
                <a:solidFill>
                  <a:srgbClr val="FF66CC"/>
                </a:solidFill>
                <a:effectLst/>
              </a:rPr>
              <a:t>measurable</a:t>
            </a:r>
            <a:r>
              <a:rPr lang="en-GB" altLang="en-US" sz="1700" dirty="0">
                <a:effectLst/>
              </a:rPr>
              <a:t> at the exposure scale:</a:t>
            </a:r>
          </a:p>
          <a:p>
            <a:pPr marL="450000" lvl="1" indent="-270000">
              <a:buClr>
                <a:srgbClr val="FF6600"/>
              </a:buClr>
              <a:buFont typeface="Times" panose="02020603050405020304" pitchFamily="18" charset="0"/>
              <a:buAutoNum type="arabicPeriod"/>
            </a:pPr>
            <a:r>
              <a:rPr lang="en-GB" altLang="en-US" sz="1700" dirty="0">
                <a:solidFill>
                  <a:srgbClr val="FF6600"/>
                </a:solidFill>
                <a:effectLst/>
              </a:rPr>
              <a:t>Joints</a:t>
            </a:r>
            <a:r>
              <a:rPr lang="en-GB" altLang="en-US" sz="1700" dirty="0">
                <a:effectLst/>
              </a:rPr>
              <a:t> </a:t>
            </a:r>
            <a:r>
              <a:rPr lang="en-GB" altLang="en-US" sz="1700" dirty="0">
                <a:solidFill>
                  <a:srgbClr val="FF6600"/>
                </a:solidFill>
                <a:effectLst/>
              </a:rPr>
              <a:t>and shear fractures</a:t>
            </a:r>
            <a:r>
              <a:rPr lang="en-GB" altLang="en-US" sz="1700" dirty="0">
                <a:effectLst/>
              </a:rPr>
              <a:t> (the distinction is fuzzy)</a:t>
            </a:r>
          </a:p>
          <a:p>
            <a:pPr marL="450000" lvl="1" indent="-270000">
              <a:buClr>
                <a:srgbClr val="FF6600"/>
              </a:buClr>
              <a:buFont typeface="Times" panose="02020603050405020304" pitchFamily="18" charset="0"/>
              <a:buAutoNum type="arabicPeriod"/>
            </a:pPr>
            <a:r>
              <a:rPr lang="en-GB" altLang="en-US" sz="1700" dirty="0">
                <a:solidFill>
                  <a:srgbClr val="FF6600"/>
                </a:solidFill>
                <a:effectLst/>
              </a:rPr>
              <a:t>Vein</a:t>
            </a:r>
            <a:r>
              <a:rPr lang="en-GB" altLang="en-US" sz="1700" spc="300" dirty="0">
                <a:solidFill>
                  <a:srgbClr val="FF6600"/>
                </a:solidFill>
                <a:effectLst/>
              </a:rPr>
              <a:t>s/</a:t>
            </a:r>
            <a:r>
              <a:rPr lang="en-GB" altLang="en-US" sz="1700" dirty="0">
                <a:solidFill>
                  <a:srgbClr val="FF6600"/>
                </a:solidFill>
                <a:effectLst/>
              </a:rPr>
              <a:t>hypabyssal igneous intrusions</a:t>
            </a:r>
          </a:p>
          <a:p>
            <a:pPr marL="450000" lvl="1" indent="-270000">
              <a:buClr>
                <a:srgbClr val="FF6600"/>
              </a:buClr>
              <a:buFont typeface="Times" panose="02020603050405020304" pitchFamily="18" charset="0"/>
              <a:buAutoNum type="arabicPeriod"/>
            </a:pPr>
            <a:r>
              <a:rPr lang="en-GB" altLang="en-US" sz="1700" dirty="0">
                <a:solidFill>
                  <a:srgbClr val="FF6600"/>
                </a:solidFill>
                <a:effectLst/>
              </a:rPr>
              <a:t>Polygonal fracture sets</a:t>
            </a:r>
          </a:p>
          <a:p>
            <a:pPr marL="180000" indent="-180000">
              <a:spcBef>
                <a:spcPct val="75000"/>
              </a:spcBef>
            </a:pPr>
            <a:r>
              <a:rPr lang="en-GB" altLang="en-US" sz="1700" dirty="0">
                <a:effectLst/>
              </a:rPr>
              <a:t>In the next class (Class 7) we will consider fractures across which the displacement parallel to the fracture surface is </a:t>
            </a:r>
            <a:r>
              <a:rPr lang="en-GB" altLang="en-US" sz="1700" dirty="0">
                <a:solidFill>
                  <a:srgbClr val="FF66CC"/>
                </a:solidFill>
                <a:effectLst/>
              </a:rPr>
              <a:t>measurable</a:t>
            </a:r>
            <a:r>
              <a:rPr lang="en-GB" altLang="en-US" sz="1700" dirty="0">
                <a:effectLst/>
              </a:rPr>
              <a:t> at the exposure scale, that is, we will consider </a:t>
            </a:r>
            <a:r>
              <a:rPr lang="en-GB" altLang="en-US" sz="1700" dirty="0">
                <a:solidFill>
                  <a:srgbClr val="FF6600"/>
                </a:solidFill>
                <a:effectLst/>
              </a:rPr>
              <a:t>faults</a:t>
            </a:r>
          </a:p>
        </p:txBody>
      </p:sp>
      <p:sp>
        <p:nvSpPr>
          <p:cNvPr id="277508" name="Text Box 4">
            <a:extLst>
              <a:ext uri="{FF2B5EF4-FFF2-40B4-BE49-F238E27FC236}">
                <a16:creationId xmlns:a16="http://schemas.microsoft.com/office/drawing/2014/main" id="{0E83C6C7-4696-44D3-9B04-AC7BC60C5F17}"/>
              </a:ext>
            </a:extLst>
          </p:cNvPr>
          <p:cNvSpPr txBox="1">
            <a:spLocks noChangeArrowheads="1"/>
          </p:cNvSpPr>
          <p:nvPr/>
        </p:nvSpPr>
        <p:spPr bwMode="auto">
          <a:xfrm>
            <a:off x="4214813" y="5141913"/>
            <a:ext cx="4772025" cy="1336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9388" indent="-179388">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latin typeface="Arial" panose="020B0604020202020204" pitchFamily="34" charset="0"/>
              </a:rPr>
              <a:t>Minor fractures of the kind that we consider in this class are </a:t>
            </a:r>
            <a:r>
              <a:rPr lang="en-GB" altLang="en-US" sz="1700" dirty="0">
                <a:solidFill>
                  <a:srgbClr val="FF66CC"/>
                </a:solidFill>
                <a:effectLst/>
                <a:latin typeface="Arial" panose="020B0604020202020204" pitchFamily="34" charset="0"/>
              </a:rPr>
              <a:t>generally poorly described</a:t>
            </a:r>
            <a:r>
              <a:rPr lang="en-GB" altLang="en-US" sz="1700" dirty="0">
                <a:effectLst/>
                <a:latin typeface="Arial" panose="020B0604020202020204" pitchFamily="34" charset="0"/>
              </a:rPr>
              <a:t> by students in the field. Given their economic significance, this cannot be good</a:t>
            </a:r>
            <a:endParaRPr lang="en-GB" altLang="en-US" sz="1700" dirty="0">
              <a:effectLst>
                <a:outerShdw blurRad="38100" dist="38100" dir="2700000" algn="tl">
                  <a:srgbClr val="000000"/>
                </a:outerShdw>
              </a:effectLst>
              <a:latin typeface="Arial" panose="020B0604020202020204" pitchFamily="34" charset="0"/>
            </a:endParaRPr>
          </a:p>
        </p:txBody>
      </p:sp>
      <p:pic>
        <p:nvPicPr>
          <p:cNvPr id="277509" name="Picture 5" descr="14c-Rawnsley">
            <a:extLst>
              <a:ext uri="{FF2B5EF4-FFF2-40B4-BE49-F238E27FC236}">
                <a16:creationId xmlns:a16="http://schemas.microsoft.com/office/drawing/2014/main" id="{8F84A915-F364-448D-A0C6-6EEE39916432}"/>
              </a:ext>
            </a:extLst>
          </p:cNvPr>
          <p:cNvPicPr>
            <a:picLocks noGrp="1" noChangeAspect="1" noChangeArrowheads="1"/>
          </p:cNvPicPr>
          <p:nvPr>
            <p:ph sz="half" idx="2"/>
          </p:nvPr>
        </p:nvPicPr>
        <p:blipFill>
          <a:blip r:embed="rId3">
            <a:lum bright="-6000"/>
            <a:extLst>
              <a:ext uri="{28A0092B-C50C-407E-A947-70E740481C1C}">
                <a14:useLocalDpi xmlns:a14="http://schemas.microsoft.com/office/drawing/2010/main" val="0"/>
              </a:ext>
            </a:extLst>
          </a:blip>
          <a:srcRect/>
          <a:stretch>
            <a:fillRect/>
          </a:stretch>
        </p:blipFill>
        <p:spPr>
          <a:xfrm>
            <a:off x="4368800" y="995363"/>
            <a:ext cx="4506913" cy="3913187"/>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9C3F7431-0730-497B-BDBA-B1B9F593602A}"/>
              </a:ext>
            </a:extLst>
          </p:cNvPr>
          <p:cNvSpPr>
            <a:spLocks noGrp="1" noChangeArrowheads="1"/>
          </p:cNvSpPr>
          <p:nvPr>
            <p:ph type="ctrTitle" idx="4294967295"/>
          </p:nvPr>
        </p:nvSpPr>
        <p:spPr bwMode="black">
          <a:xfrm>
            <a:off x="125413" y="1595438"/>
            <a:ext cx="8909050" cy="1955800"/>
          </a:xfrm>
          <a:effectLst>
            <a:outerShdw dist="35921" dir="2700000" algn="ctr" rotWithShape="0">
              <a:schemeClr val="bg2"/>
            </a:outerShdw>
          </a:effectLst>
          <a:extLst>
            <a:ext uri="{909E8E84-426E-40DD-AFC4-6F175D3DCCD1}">
              <a14:hiddenFill xmlns:a14="http://schemas.microsoft.com/office/drawing/2010/main">
                <a:solidFill>
                  <a:schemeClr val="bg1"/>
                </a:solidFill>
              </a14:hiddenFill>
            </a:ext>
          </a:extLst>
        </p:spPr>
        <p:txBody>
          <a:bodyPr anchor="ctr">
            <a:spAutoFit/>
          </a:bodyPr>
          <a:lstStyle/>
          <a:p>
            <a:pPr algn="ctr">
              <a:lnSpc>
                <a:spcPct val="120000"/>
              </a:lnSpc>
            </a:pPr>
            <a:br>
              <a:rPr lang="en-US" altLang="en-US" sz="3500"/>
            </a:br>
            <a:br>
              <a:rPr lang="en-US" altLang="en-US" sz="3500"/>
            </a:br>
            <a:r>
              <a:rPr lang="en-US" altLang="en-US" sz="3200">
                <a:solidFill>
                  <a:srgbClr val="FF6600"/>
                </a:solidFill>
              </a:rPr>
              <a:t>Fracture types and formation</a:t>
            </a:r>
            <a:endParaRPr lang="en-US" altLang="en-US">
              <a:solidFill>
                <a:srgbClr val="FF6600"/>
              </a:solidFill>
            </a:endParaRP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0585" name="Picture 9" descr="02a">
            <a:extLst>
              <a:ext uri="{FF2B5EF4-FFF2-40B4-BE49-F238E27FC236}">
                <a16:creationId xmlns:a16="http://schemas.microsoft.com/office/drawing/2014/main" id="{0B9A269C-3B42-45BF-8E73-18E71E46897C}"/>
              </a:ext>
            </a:extLst>
          </p:cNvPr>
          <p:cNvPicPr>
            <a:picLocks noGrp="1" noChangeAspect="1" noChangeArrowheads="1"/>
          </p:cNvPicPr>
          <p:nvPr>
            <p:ph sz="quarter" idx="3"/>
          </p:nvPr>
        </p:nvPicPr>
        <p:blipFill>
          <a:blip r:embed="rId3">
            <a:lum bright="-6000" contrast="10000"/>
            <a:extLst>
              <a:ext uri="{28A0092B-C50C-407E-A947-70E740481C1C}">
                <a14:useLocalDpi xmlns:a14="http://schemas.microsoft.com/office/drawing/2010/main" val="0"/>
              </a:ext>
            </a:extLst>
          </a:blip>
          <a:srcRect/>
          <a:stretch>
            <a:fillRect/>
          </a:stretch>
        </p:blipFill>
        <p:spPr>
          <a:xfrm>
            <a:off x="5561013" y="2087563"/>
            <a:ext cx="3413125" cy="4487862"/>
          </a:xfrm>
          <a:noFill/>
          <a:ln w="38100">
            <a:solidFill>
              <a:schemeClr val="bg2"/>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80578" name="Rectangle 2">
            <a:extLst>
              <a:ext uri="{FF2B5EF4-FFF2-40B4-BE49-F238E27FC236}">
                <a16:creationId xmlns:a16="http://schemas.microsoft.com/office/drawing/2014/main" id="{5A0629D1-85DA-412F-8C6E-A10135BCCFC7}"/>
              </a:ext>
            </a:extLst>
          </p:cNvPr>
          <p:cNvSpPr>
            <a:spLocks noGrp="1" noChangeArrowheads="1"/>
          </p:cNvSpPr>
          <p:nvPr>
            <p:ph type="title"/>
          </p:nvPr>
        </p:nvSpPr>
        <p:spPr>
          <a:noFill/>
        </p:spPr>
        <p:txBody>
          <a:bodyPr/>
          <a:lstStyle/>
          <a:p>
            <a:r>
              <a:rPr lang="en-GB" altLang="en-US" dirty="0">
                <a:effectLst/>
              </a:rPr>
              <a:t>Classification of fractures</a:t>
            </a:r>
          </a:p>
        </p:txBody>
      </p:sp>
      <p:sp>
        <p:nvSpPr>
          <p:cNvPr id="280579" name="Rectangle 3">
            <a:extLst>
              <a:ext uri="{FF2B5EF4-FFF2-40B4-BE49-F238E27FC236}">
                <a16:creationId xmlns:a16="http://schemas.microsoft.com/office/drawing/2014/main" id="{52EA3259-9CED-4EC3-8CF9-8CA7539B3B39}"/>
              </a:ext>
            </a:extLst>
          </p:cNvPr>
          <p:cNvSpPr>
            <a:spLocks noGrp="1" noChangeArrowheads="1"/>
          </p:cNvSpPr>
          <p:nvPr>
            <p:ph type="body" sz="half" idx="1"/>
          </p:nvPr>
        </p:nvSpPr>
        <p:spPr>
          <a:xfrm>
            <a:off x="122238" y="790575"/>
            <a:ext cx="8869362" cy="1085850"/>
          </a:xfrm>
          <a:noFill/>
        </p:spPr>
        <p:txBody>
          <a:bodyPr/>
          <a:lstStyle/>
          <a:p>
            <a:pPr marL="180000" indent="-180000">
              <a:spcBef>
                <a:spcPct val="50000"/>
              </a:spcBef>
            </a:pPr>
            <a:r>
              <a:rPr lang="en-GB" altLang="en-US" sz="1700" dirty="0">
                <a:effectLst/>
              </a:rPr>
              <a:t>A </a:t>
            </a:r>
            <a:r>
              <a:rPr lang="en-GB" altLang="en-US" sz="1700" dirty="0">
                <a:solidFill>
                  <a:srgbClr val="FF6600"/>
                </a:solidFill>
                <a:effectLst/>
              </a:rPr>
              <a:t>fracture</a:t>
            </a:r>
            <a:r>
              <a:rPr lang="en-GB" altLang="en-US" sz="1700" dirty="0">
                <a:effectLst/>
              </a:rPr>
              <a:t> is a surface across which there is a </a:t>
            </a:r>
            <a:r>
              <a:rPr lang="en-GB" altLang="en-US" sz="1700" dirty="0">
                <a:solidFill>
                  <a:srgbClr val="FF66CC"/>
                </a:solidFill>
                <a:effectLst/>
              </a:rPr>
              <a:t>discontinuity</a:t>
            </a:r>
            <a:r>
              <a:rPr lang="en-GB" altLang="en-US" sz="1700" dirty="0">
                <a:effectLst/>
              </a:rPr>
              <a:t> in displacement and mechanical properties. Although described as </a:t>
            </a:r>
            <a:r>
              <a:rPr lang="en-GB" altLang="en-US" sz="1700" dirty="0">
                <a:solidFill>
                  <a:srgbClr val="FF66CC"/>
                </a:solidFill>
                <a:effectLst/>
              </a:rPr>
              <a:t>surfaces</a:t>
            </a:r>
            <a:r>
              <a:rPr lang="en-GB" altLang="en-US" sz="1700" dirty="0">
                <a:effectLst/>
              </a:rPr>
              <a:t> because they are very narrow in one dimension compared with the other two, at some scale they always have </a:t>
            </a:r>
            <a:r>
              <a:rPr lang="en-GB" altLang="en-US" sz="1700" dirty="0">
                <a:solidFill>
                  <a:srgbClr val="FF66CC"/>
                </a:solidFill>
                <a:effectLst/>
              </a:rPr>
              <a:t>thickness</a:t>
            </a:r>
          </a:p>
        </p:txBody>
      </p:sp>
      <p:sp>
        <p:nvSpPr>
          <p:cNvPr id="280584" name="Text Box 8">
            <a:extLst>
              <a:ext uri="{FF2B5EF4-FFF2-40B4-BE49-F238E27FC236}">
                <a16:creationId xmlns:a16="http://schemas.microsoft.com/office/drawing/2014/main" id="{4948AF50-DC20-4553-931E-0FDAB2B192C0}"/>
              </a:ext>
            </a:extLst>
          </p:cNvPr>
          <p:cNvSpPr txBox="1">
            <a:spLocks noChangeArrowheads="1"/>
          </p:cNvSpPr>
          <p:nvPr/>
        </p:nvSpPr>
        <p:spPr bwMode="auto">
          <a:xfrm>
            <a:off x="104775" y="1951038"/>
            <a:ext cx="5372100" cy="46966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66700" indent="-266700">
              <a:defRPr sz="1600">
                <a:solidFill>
                  <a:schemeClr val="tx1"/>
                </a:solidFill>
                <a:latin typeface="Helvetica" panose="020B0604020202020204" pitchFamily="34" charset="0"/>
              </a:defRPr>
            </a:lvl1pPr>
            <a:lvl2pPr marL="762000" indent="-304800">
              <a:defRPr sz="1600">
                <a:solidFill>
                  <a:schemeClr val="tx1"/>
                </a:solidFill>
                <a:latin typeface="Helvetica" panose="020B0604020202020204" pitchFamily="34" charset="0"/>
              </a:defRPr>
            </a:lvl2pPr>
            <a:lvl3pPr marL="1235075" indent="-304800">
              <a:defRPr sz="1600">
                <a:solidFill>
                  <a:schemeClr val="tx1"/>
                </a:solidFill>
                <a:latin typeface="Helvetica" panose="020B0604020202020204" pitchFamily="34" charset="0"/>
              </a:defRPr>
            </a:lvl3pPr>
            <a:lvl4pPr marL="1719263" indent="-304800">
              <a:defRPr sz="1600">
                <a:solidFill>
                  <a:schemeClr val="tx1"/>
                </a:solidFill>
                <a:latin typeface="Helvetica" panose="020B0604020202020204" pitchFamily="34" charset="0"/>
              </a:defRPr>
            </a:lvl4pPr>
            <a:lvl5pPr marL="2203450" indent="-304800">
              <a:defRPr sz="1600">
                <a:solidFill>
                  <a:schemeClr val="tx1"/>
                </a:solidFill>
                <a:latin typeface="Helvetica" panose="020B0604020202020204" pitchFamily="34" charset="0"/>
              </a:defRPr>
            </a:lvl5pPr>
            <a:lvl6pPr marL="2660650"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3117850"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575050"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4032250"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marL="180000" indent="-180000">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Fractures are classified</a:t>
            </a:r>
            <a:r>
              <a:rPr lang="en-GB" altLang="en-US" sz="1700" dirty="0">
                <a:solidFill>
                  <a:srgbClr val="FF6600"/>
                </a:solidFill>
                <a:effectLst>
                  <a:outerShdw blurRad="38100" dist="38100" dir="2700000" algn="tl">
                    <a:srgbClr val="000000"/>
                  </a:outerShdw>
                </a:effectLst>
                <a:latin typeface="Arial" panose="020B0604020202020204" pitchFamily="34" charset="0"/>
              </a:rPr>
              <a:t> </a:t>
            </a:r>
            <a:r>
              <a:rPr lang="en-GB" altLang="en-US" sz="1700" dirty="0">
                <a:effectLst/>
                <a:latin typeface="Arial" panose="020B0604020202020204" pitchFamily="34" charset="0"/>
              </a:rPr>
              <a:t>by the displacement across the fracture surface during their formation</a:t>
            </a:r>
            <a:endParaRPr lang="en-GB" altLang="en-US" sz="1700" dirty="0">
              <a:solidFill>
                <a:srgbClr val="FF6600"/>
              </a:solidFill>
              <a:effectLst>
                <a:outerShdw blurRad="38100" dist="38100" dir="2700000" algn="tl">
                  <a:srgbClr val="000000"/>
                </a:outerShdw>
              </a:effectLst>
              <a:latin typeface="Arial" panose="020B0604020202020204" pitchFamily="34" charset="0"/>
            </a:endParaRPr>
          </a:p>
          <a:p>
            <a:pPr marL="450000" indent="-270000">
              <a:lnSpc>
                <a:spcPct val="120000"/>
              </a:lnSpc>
              <a:spcBef>
                <a:spcPct val="50000"/>
              </a:spcBef>
              <a:buClr>
                <a:schemeClr val="tx1"/>
              </a:buClr>
              <a:buFontTx/>
              <a:buAutoNum type="arabicPeriod"/>
            </a:pPr>
            <a:r>
              <a:rPr lang="en-GB" altLang="en-US" sz="1700" dirty="0">
                <a:solidFill>
                  <a:srgbClr val="FF6600"/>
                </a:solidFill>
                <a:effectLst>
                  <a:outerShdw blurRad="38100" dist="38100" dir="2700000" algn="tl">
                    <a:srgbClr val="000000"/>
                  </a:outerShdw>
                </a:effectLst>
                <a:latin typeface="Arial" panose="020B0604020202020204" pitchFamily="34" charset="0"/>
              </a:rPr>
              <a:t>Extension fractures</a:t>
            </a:r>
            <a:r>
              <a:rPr lang="en-GB" altLang="en-US" sz="1700" dirty="0">
                <a:effectLst>
                  <a:outerShdw blurRad="38100" dist="38100" dir="2700000" algn="tl">
                    <a:srgbClr val="000000"/>
                  </a:outerShdw>
                </a:effectLst>
                <a:latin typeface="Arial" panose="020B0604020202020204" pitchFamily="34" charset="0"/>
              </a:rPr>
              <a:t> (</a:t>
            </a:r>
            <a:r>
              <a:rPr lang="en-GB" altLang="en-US" sz="1700" dirty="0">
                <a:solidFill>
                  <a:srgbClr val="FFFF00"/>
                </a:solidFill>
                <a:effectLst>
                  <a:outerShdw blurRad="38100" dist="38100" dir="2700000" algn="tl">
                    <a:srgbClr val="000000"/>
                  </a:outerShdw>
                </a:effectLst>
                <a:latin typeface="Arial" panose="020B0604020202020204" pitchFamily="34" charset="0"/>
              </a:rPr>
              <a:t>Mode I</a:t>
            </a:r>
            <a:r>
              <a:rPr lang="en-GB" altLang="en-US" sz="1700" dirty="0">
                <a:effectLst>
                  <a:outerShdw blurRad="38100" dist="38100" dir="2700000" algn="tl">
                    <a:srgbClr val="000000"/>
                  </a:outerShdw>
                </a:effectLst>
                <a:latin typeface="Arial" panose="020B0604020202020204" pitchFamily="34" charset="0"/>
              </a:rPr>
              <a:t>): displacement normal to the fracture walls in an opening sense</a:t>
            </a:r>
          </a:p>
          <a:p>
            <a:pPr marL="450000" indent="-270000">
              <a:lnSpc>
                <a:spcPct val="120000"/>
              </a:lnSpc>
              <a:spcBef>
                <a:spcPct val="50000"/>
              </a:spcBef>
              <a:buClr>
                <a:schemeClr val="tx1"/>
              </a:buClr>
              <a:buFontTx/>
              <a:buAutoNum type="arabicPeriod"/>
            </a:pPr>
            <a:r>
              <a:rPr lang="en-GB" altLang="en-US" sz="1700" dirty="0">
                <a:solidFill>
                  <a:srgbClr val="FF6600"/>
                </a:solidFill>
                <a:effectLst>
                  <a:outerShdw blurRad="38100" dist="38100" dir="2700000" algn="tl">
                    <a:srgbClr val="000000"/>
                  </a:outerShdw>
                </a:effectLst>
                <a:latin typeface="Arial" panose="020B0604020202020204" pitchFamily="34" charset="0"/>
              </a:rPr>
              <a:t>Shear fractures</a:t>
            </a:r>
            <a:r>
              <a:rPr lang="en-GB" altLang="en-US" sz="1700" dirty="0">
                <a:effectLst>
                  <a:outerShdw blurRad="38100" dist="38100" dir="2700000" algn="tl">
                    <a:srgbClr val="000000"/>
                  </a:outerShdw>
                </a:effectLst>
                <a:latin typeface="Arial" panose="020B0604020202020204" pitchFamily="34" charset="0"/>
              </a:rPr>
              <a:t> (</a:t>
            </a:r>
            <a:r>
              <a:rPr lang="en-GB" altLang="en-US" sz="1700" dirty="0">
                <a:solidFill>
                  <a:srgbClr val="FFFF00"/>
                </a:solidFill>
                <a:effectLst>
                  <a:outerShdw blurRad="38100" dist="38100" dir="2700000" algn="tl">
                    <a:srgbClr val="000000"/>
                  </a:outerShdw>
                </a:effectLst>
                <a:latin typeface="Arial" panose="020B0604020202020204" pitchFamily="34" charset="0"/>
              </a:rPr>
              <a:t>Mode II</a:t>
            </a:r>
            <a:r>
              <a:rPr lang="en-GB" altLang="en-US" sz="1700" dirty="0">
                <a:effectLst>
                  <a:outerShdw blurRad="38100" dist="38100" dir="2700000" algn="tl">
                    <a:srgbClr val="000000"/>
                  </a:outerShdw>
                </a:effectLst>
                <a:latin typeface="Arial" panose="020B0604020202020204" pitchFamily="34" charset="0"/>
              </a:rPr>
              <a:t>,</a:t>
            </a:r>
            <a:r>
              <a:rPr lang="en-GB" altLang="en-US" sz="1700" dirty="0">
                <a:solidFill>
                  <a:srgbClr val="FFFF00"/>
                </a:solidFill>
                <a:effectLst>
                  <a:outerShdw blurRad="38100" dist="38100" dir="2700000" algn="tl">
                    <a:srgbClr val="000000"/>
                  </a:outerShdw>
                </a:effectLst>
                <a:latin typeface="Arial" panose="020B0604020202020204" pitchFamily="34" charset="0"/>
              </a:rPr>
              <a:t> Mode III</a:t>
            </a:r>
            <a:r>
              <a:rPr lang="en-GB" altLang="en-US" sz="1700" dirty="0">
                <a:effectLst>
                  <a:outerShdw blurRad="38100" dist="38100" dir="2700000" algn="tl">
                    <a:srgbClr val="000000"/>
                  </a:outerShdw>
                </a:effectLst>
                <a:latin typeface="Arial" panose="020B0604020202020204" pitchFamily="34" charset="0"/>
              </a:rPr>
              <a:t>): displacement parallel to the fracture walls – the two modes distinguish two orthogonal slip directions</a:t>
            </a:r>
          </a:p>
          <a:p>
            <a:pPr marL="450000" indent="-270000">
              <a:lnSpc>
                <a:spcPct val="120000"/>
              </a:lnSpc>
              <a:spcBef>
                <a:spcPct val="50000"/>
              </a:spcBef>
              <a:buClr>
                <a:schemeClr val="tx1"/>
              </a:buClr>
              <a:buFontTx/>
              <a:buAutoNum type="arabicPeriod"/>
            </a:pPr>
            <a:r>
              <a:rPr lang="en-GB" altLang="en-US" sz="1700" dirty="0">
                <a:solidFill>
                  <a:srgbClr val="FF6600"/>
                </a:solidFill>
                <a:effectLst>
                  <a:outerShdw blurRad="38100" dist="38100" dir="2700000" algn="tl">
                    <a:srgbClr val="000000"/>
                  </a:outerShdw>
                </a:effectLst>
                <a:latin typeface="Arial" panose="020B0604020202020204" pitchFamily="34" charset="0"/>
              </a:rPr>
              <a:t>Contraction fractures</a:t>
            </a:r>
            <a:r>
              <a:rPr lang="en-GB" altLang="en-US" sz="1700" dirty="0">
                <a:effectLst>
                  <a:outerShdw blurRad="38100" dist="38100" dir="2700000" algn="tl">
                    <a:srgbClr val="000000"/>
                  </a:outerShdw>
                </a:effectLst>
                <a:latin typeface="Arial" panose="020B0604020202020204" pitchFamily="34" charset="0"/>
              </a:rPr>
              <a:t> (</a:t>
            </a:r>
            <a:r>
              <a:rPr lang="en-GB" altLang="en-US" sz="1700" dirty="0">
                <a:solidFill>
                  <a:srgbClr val="FFFF00"/>
                </a:solidFill>
                <a:effectLst>
                  <a:outerShdw blurRad="38100" dist="38100" dir="2700000" algn="tl">
                    <a:srgbClr val="000000"/>
                  </a:outerShdw>
                </a:effectLst>
                <a:latin typeface="Arial" panose="020B0604020202020204" pitchFamily="34" charset="0"/>
              </a:rPr>
              <a:t>Mode IV</a:t>
            </a:r>
            <a:r>
              <a:rPr lang="en-GB" altLang="en-US" sz="1700" dirty="0">
                <a:effectLst>
                  <a:outerShdw blurRad="38100" dist="38100" dir="2700000" algn="tl">
                    <a:srgbClr val="000000"/>
                  </a:outerShdw>
                </a:effectLst>
                <a:latin typeface="Arial" panose="020B0604020202020204" pitchFamily="34" charset="0"/>
              </a:rPr>
              <a:t>): displacement normal to the fracture walls in a closing sense (</a:t>
            </a:r>
            <a:r>
              <a:rPr lang="en-GB" altLang="en-US" sz="1700" dirty="0" err="1">
                <a:effectLst>
                  <a:outerShdw blurRad="38100" dist="38100" dir="2700000" algn="tl">
                    <a:srgbClr val="000000"/>
                  </a:outerShdw>
                </a:effectLst>
                <a:latin typeface="Arial" panose="020B0604020202020204" pitchFamily="34" charset="0"/>
              </a:rPr>
              <a:t>anticracks</a:t>
            </a:r>
            <a:r>
              <a:rPr lang="en-GB" altLang="en-US" sz="1700" dirty="0">
                <a:effectLst>
                  <a:outerShdw blurRad="38100" dist="38100" dir="2700000" algn="tl">
                    <a:srgbClr val="000000"/>
                  </a:outerShdw>
                </a:effectLst>
                <a:latin typeface="Arial" panose="020B0604020202020204" pitchFamily="34" charset="0"/>
              </a:rPr>
              <a:t>)</a:t>
            </a:r>
          </a:p>
          <a:p>
            <a:pPr marL="450000" indent="-270000">
              <a:lnSpc>
                <a:spcPct val="120000"/>
              </a:lnSpc>
              <a:spcBef>
                <a:spcPct val="50000"/>
              </a:spcBef>
              <a:buClr>
                <a:schemeClr val="tx1"/>
              </a:buClr>
              <a:buFontTx/>
              <a:buAutoNum type="arabicPeriod"/>
            </a:pPr>
            <a:r>
              <a:rPr lang="en-GB" altLang="en-US" sz="1700" dirty="0">
                <a:solidFill>
                  <a:srgbClr val="FF6600"/>
                </a:solidFill>
                <a:effectLst>
                  <a:outerShdw blurRad="38100" dist="38100" dir="2700000" algn="tl">
                    <a:srgbClr val="000000"/>
                  </a:outerShdw>
                </a:effectLst>
                <a:latin typeface="Arial" panose="020B0604020202020204" pitchFamily="34" charset="0"/>
              </a:rPr>
              <a:t>Hybrid fractures</a:t>
            </a:r>
            <a:r>
              <a:rPr lang="en-GB" altLang="en-US" sz="1700" dirty="0">
                <a:effectLst>
                  <a:outerShdw blurRad="38100" dist="38100" dir="2700000" algn="tl">
                    <a:srgbClr val="000000"/>
                  </a:outerShdw>
                </a:effectLst>
                <a:latin typeface="Arial" panose="020B0604020202020204" pitchFamily="34" charset="0"/>
              </a:rPr>
              <a:t> (</a:t>
            </a:r>
            <a:r>
              <a:rPr lang="en-GB" altLang="en-US" sz="1700" dirty="0">
                <a:solidFill>
                  <a:srgbClr val="FFFF00"/>
                </a:solidFill>
                <a:effectLst>
                  <a:outerShdw blurRad="38100" dist="38100" dir="2700000" algn="tl">
                    <a:srgbClr val="000000"/>
                  </a:outerShdw>
                </a:effectLst>
                <a:latin typeface="Arial" panose="020B0604020202020204" pitchFamily="34" charset="0"/>
              </a:rPr>
              <a:t>mixed mode</a:t>
            </a:r>
            <a:r>
              <a:rPr lang="en-GB" altLang="en-US" sz="1700" dirty="0">
                <a:effectLst>
                  <a:outerShdw blurRad="38100" dist="38100" dir="2700000" algn="tl">
                    <a:srgbClr val="000000"/>
                  </a:outerShdw>
                </a:effectLst>
                <a:latin typeface="Arial" panose="020B0604020202020204" pitchFamily="34" charset="0"/>
              </a:rPr>
              <a:t>): fractures that are some combination of the other types (usually extension + shear OR compression + shear)</a:t>
            </a: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6339" name="Picture 35" descr="DSC_0300">
            <a:extLst>
              <a:ext uri="{FF2B5EF4-FFF2-40B4-BE49-F238E27FC236}">
                <a16:creationId xmlns:a16="http://schemas.microsoft.com/office/drawing/2014/main" id="{1DF3CAC0-233D-458C-A6CC-490F7DD55C48}"/>
              </a:ext>
            </a:extLst>
          </p:cNvPr>
          <p:cNvPicPr>
            <a:picLocks noChangeAspect="1" noChangeArrowheads="1"/>
          </p:cNvPicPr>
          <p:nvPr/>
        </p:nvPicPr>
        <p:blipFill>
          <a:blip r:embed="rId3">
            <a:lum bright="-4000"/>
            <a:extLst>
              <a:ext uri="{28A0092B-C50C-407E-A947-70E740481C1C}">
                <a14:useLocalDpi xmlns:a14="http://schemas.microsoft.com/office/drawing/2010/main" val="0"/>
              </a:ext>
            </a:extLst>
          </a:blip>
          <a:srcRect/>
          <a:stretch>
            <a:fillRect/>
          </a:stretch>
        </p:blipFill>
        <p:spPr bwMode="auto">
          <a:xfrm>
            <a:off x="4981575" y="910696"/>
            <a:ext cx="3895725" cy="23685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226341" name="Picture 37" descr="12d1">
            <a:extLst>
              <a:ext uri="{FF2B5EF4-FFF2-40B4-BE49-F238E27FC236}">
                <a16:creationId xmlns:a16="http://schemas.microsoft.com/office/drawing/2014/main" id="{2021FF1F-6B58-4CD5-88BE-6D93208337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8450" y="3324225"/>
            <a:ext cx="4354513" cy="3243263"/>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26315" name="Text Box 11">
            <a:extLst>
              <a:ext uri="{FF2B5EF4-FFF2-40B4-BE49-F238E27FC236}">
                <a16:creationId xmlns:a16="http://schemas.microsoft.com/office/drawing/2014/main" id="{1C313C28-66B9-4606-8679-5D392899CE23}"/>
              </a:ext>
            </a:extLst>
          </p:cNvPr>
          <p:cNvSpPr txBox="1">
            <a:spLocks noChangeArrowheads="1"/>
          </p:cNvSpPr>
          <p:nvPr/>
        </p:nvSpPr>
        <p:spPr bwMode="auto">
          <a:xfrm>
            <a:off x="106363" y="790575"/>
            <a:ext cx="4705350" cy="2270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7800" indent="-177800">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marL="180000" indent="-180000">
              <a:lnSpc>
                <a:spcPct val="120000"/>
              </a:lnSpc>
              <a:spcBef>
                <a:spcPct val="50000"/>
              </a:spcBef>
              <a:buClr>
                <a:schemeClr val="tx1"/>
              </a:buClr>
              <a:buFontTx/>
              <a:buChar char="•"/>
            </a:pPr>
            <a:r>
              <a:rPr lang="en-GB" altLang="en-US" sz="1700" dirty="0">
                <a:solidFill>
                  <a:srgbClr val="FF6600"/>
                </a:solidFill>
                <a:effectLst>
                  <a:outerShdw blurRad="38100" dist="38100" dir="2700000" algn="tl">
                    <a:srgbClr val="000000"/>
                  </a:outerShdw>
                </a:effectLst>
                <a:latin typeface="Arial" panose="020B0604020202020204" pitchFamily="34" charset="0"/>
              </a:rPr>
              <a:t>Extension fractures</a:t>
            </a:r>
            <a:r>
              <a:rPr lang="en-GB" altLang="en-US" sz="1700" dirty="0">
                <a:effectLst>
                  <a:outerShdw blurRad="38100" dist="38100" dir="2700000" algn="tl">
                    <a:srgbClr val="000000"/>
                  </a:outerShdw>
                </a:effectLst>
                <a:latin typeface="Arial" panose="020B0604020202020204" pitchFamily="34" charset="0"/>
              </a:rPr>
              <a:t> filled with air or fluid are </a:t>
            </a:r>
            <a:r>
              <a:rPr lang="en-GB" altLang="en-US" sz="1700" dirty="0">
                <a:solidFill>
                  <a:srgbClr val="FF66CC"/>
                </a:solidFill>
                <a:effectLst>
                  <a:outerShdw blurRad="38100" dist="38100" dir="2700000" algn="tl">
                    <a:srgbClr val="000000"/>
                  </a:outerShdw>
                </a:effectLst>
                <a:latin typeface="Arial" panose="020B0604020202020204" pitchFamily="34" charset="0"/>
              </a:rPr>
              <a:t>fissures</a:t>
            </a:r>
            <a:r>
              <a:rPr lang="en-GB" altLang="en-US" sz="1700" dirty="0">
                <a:effectLst>
                  <a:outerShdw blurRad="38100" dist="38100" dir="2700000" algn="tl">
                    <a:srgbClr val="000000"/>
                  </a:outerShdw>
                </a:effectLst>
                <a:latin typeface="Arial" panose="020B0604020202020204" pitchFamily="34" charset="0"/>
              </a:rPr>
              <a:t>. </a:t>
            </a:r>
            <a:r>
              <a:rPr lang="en-GB" altLang="en-US" sz="1700" dirty="0">
                <a:solidFill>
                  <a:srgbClr val="FF66CC"/>
                </a:solidFill>
                <a:effectLst>
                  <a:outerShdw blurRad="38100" dist="38100" dir="2700000" algn="tl">
                    <a:srgbClr val="000000"/>
                  </a:outerShdw>
                </a:effectLst>
                <a:latin typeface="Arial" panose="020B0604020202020204" pitchFamily="34" charset="0"/>
              </a:rPr>
              <a:t>Veins</a:t>
            </a:r>
            <a:r>
              <a:rPr lang="en-GB" altLang="en-US" sz="1700" dirty="0">
                <a:effectLst>
                  <a:outerShdw blurRad="38100" dist="38100" dir="2700000" algn="tl">
                    <a:srgbClr val="000000"/>
                  </a:outerShdw>
                </a:effectLst>
                <a:latin typeface="Arial" panose="020B0604020202020204" pitchFamily="34" charset="0"/>
              </a:rPr>
              <a:t> are mineral-filled extension fractures; </a:t>
            </a:r>
            <a:r>
              <a:rPr lang="en-GB" altLang="en-US" sz="1700" dirty="0">
                <a:solidFill>
                  <a:srgbClr val="FF66CC"/>
                </a:solidFill>
                <a:effectLst>
                  <a:outerShdw blurRad="38100" dist="38100" dir="2700000" algn="tl">
                    <a:srgbClr val="000000"/>
                  </a:outerShdw>
                </a:effectLst>
                <a:latin typeface="Arial" panose="020B0604020202020204" pitchFamily="34" charset="0"/>
              </a:rPr>
              <a:t>dykes</a:t>
            </a:r>
            <a:r>
              <a:rPr lang="en-GB" altLang="en-US" sz="1700" dirty="0">
                <a:effectLst>
                  <a:outerShdw blurRad="38100" dist="38100" dir="2700000" algn="tl">
                    <a:srgbClr val="000000"/>
                  </a:outerShdw>
                </a:effectLst>
                <a:latin typeface="Arial" panose="020B0604020202020204" pitchFamily="34" charset="0"/>
              </a:rPr>
              <a:t> are magma-filled extension fractures; </a:t>
            </a:r>
            <a:r>
              <a:rPr lang="en-GB" altLang="en-US" sz="1700" dirty="0">
                <a:solidFill>
                  <a:srgbClr val="FF66CC"/>
                </a:solidFill>
                <a:effectLst>
                  <a:outerShdw blurRad="38100" dist="38100" dir="2700000" algn="tl">
                    <a:srgbClr val="000000"/>
                  </a:outerShdw>
                </a:effectLst>
                <a:latin typeface="Arial" panose="020B0604020202020204" pitchFamily="34" charset="0"/>
              </a:rPr>
              <a:t>joints</a:t>
            </a:r>
            <a:r>
              <a:rPr lang="en-GB" altLang="en-US" sz="1700" dirty="0">
                <a:effectLst>
                  <a:outerShdw blurRad="38100" dist="38100" dir="2700000" algn="tl">
                    <a:srgbClr val="000000"/>
                  </a:outerShdw>
                </a:effectLst>
                <a:latin typeface="Arial" panose="020B0604020202020204" pitchFamily="34" charset="0"/>
              </a:rPr>
              <a:t> are extension fractures with a very small opening displacement and no macroscopically observable fracture-parallel displacement</a:t>
            </a:r>
          </a:p>
        </p:txBody>
      </p:sp>
      <p:sp>
        <p:nvSpPr>
          <p:cNvPr id="226308" name="Rectangle 4">
            <a:extLst>
              <a:ext uri="{FF2B5EF4-FFF2-40B4-BE49-F238E27FC236}">
                <a16:creationId xmlns:a16="http://schemas.microsoft.com/office/drawing/2014/main" id="{9A8736CC-DCD0-4458-9792-A827B4F2A187}"/>
              </a:ext>
            </a:extLst>
          </p:cNvPr>
          <p:cNvSpPr>
            <a:spLocks noGrp="1" noChangeArrowheads="1"/>
          </p:cNvSpPr>
          <p:nvPr>
            <p:ph type="title"/>
          </p:nvPr>
        </p:nvSpPr>
        <p:spPr>
          <a:noFill/>
        </p:spPr>
        <p:txBody>
          <a:bodyPr/>
          <a:lstStyle/>
          <a:p>
            <a:r>
              <a:rPr lang="en-GB" altLang="en-US">
                <a:effectLst/>
              </a:rPr>
              <a:t>Extension fractures</a:t>
            </a:r>
          </a:p>
        </p:txBody>
      </p:sp>
      <p:sp>
        <p:nvSpPr>
          <p:cNvPr id="226337" name="Text Box 33">
            <a:extLst>
              <a:ext uri="{FF2B5EF4-FFF2-40B4-BE49-F238E27FC236}">
                <a16:creationId xmlns:a16="http://schemas.microsoft.com/office/drawing/2014/main" id="{DF55B1BB-7F77-4E58-B3C3-D6B5EF7C6599}"/>
              </a:ext>
            </a:extLst>
          </p:cNvPr>
          <p:cNvSpPr txBox="1">
            <a:spLocks noChangeArrowheads="1"/>
          </p:cNvSpPr>
          <p:nvPr/>
        </p:nvSpPr>
        <p:spPr bwMode="auto">
          <a:xfrm>
            <a:off x="5316538" y="6375578"/>
            <a:ext cx="32734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dirty="0">
                <a:solidFill>
                  <a:srgbClr val="FFFF00"/>
                </a:solidFill>
                <a:effectLst>
                  <a:outerShdw blurRad="38100" dist="38100" dir="2700000" algn="tl">
                    <a:srgbClr val="000000"/>
                  </a:outerShdw>
                </a:effectLst>
                <a:latin typeface="Arial" panose="020B0604020202020204" pitchFamily="34" charset="0"/>
              </a:rPr>
              <a:t>Fissure (top), dyke (left), joints (above)</a:t>
            </a:r>
          </a:p>
        </p:txBody>
      </p:sp>
      <p:pic>
        <p:nvPicPr>
          <p:cNvPr id="10" name="Picture 14" descr="08d1-Tasmania">
            <a:extLst>
              <a:ext uri="{FF2B5EF4-FFF2-40B4-BE49-F238E27FC236}">
                <a16:creationId xmlns:a16="http://schemas.microsoft.com/office/drawing/2014/main" id="{D90FA1EF-F0B7-4213-9DF2-C63AB3CEE7C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81575" y="3473450"/>
            <a:ext cx="3867150" cy="2789238"/>
          </a:xfrm>
          <a:prstGeom prst="rect">
            <a:avLst/>
          </a:prstGeom>
          <a:noFill/>
          <a:ln w="381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Text Box 2">
            <a:extLst>
              <a:ext uri="{FF2B5EF4-FFF2-40B4-BE49-F238E27FC236}">
                <a16:creationId xmlns:a16="http://schemas.microsoft.com/office/drawing/2014/main" id="{C7BE94D7-0EE0-4061-9785-7E81557987AC}"/>
              </a:ext>
            </a:extLst>
          </p:cNvPr>
          <p:cNvSpPr txBox="1">
            <a:spLocks noChangeArrowheads="1"/>
          </p:cNvSpPr>
          <p:nvPr/>
        </p:nvSpPr>
        <p:spPr bwMode="auto">
          <a:xfrm>
            <a:off x="106363" y="863600"/>
            <a:ext cx="4511675" cy="195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7800" indent="-177800">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a:effectLst>
                  <a:outerShdw blurRad="38100" dist="38100" dir="2700000" algn="tl">
                    <a:srgbClr val="000000"/>
                  </a:outerShdw>
                </a:effectLst>
                <a:latin typeface="Arial" panose="020B0604020202020204" pitchFamily="34" charset="0"/>
              </a:rPr>
              <a:t>Although fissures, veins, dykes, and joints are commonly viewed as extension fractures, </a:t>
            </a:r>
            <a:r>
              <a:rPr lang="en-GB" altLang="en-US" sz="1700">
                <a:solidFill>
                  <a:srgbClr val="FF66CC"/>
                </a:solidFill>
                <a:effectLst>
                  <a:outerShdw blurRad="38100" dist="38100" dir="2700000" algn="tl">
                    <a:srgbClr val="000000"/>
                  </a:outerShdw>
                </a:effectLst>
                <a:latin typeface="Arial" panose="020B0604020202020204" pitchFamily="34" charset="0"/>
              </a:rPr>
              <a:t>small fracture-parallel offsets</a:t>
            </a:r>
            <a:r>
              <a:rPr lang="en-GB" altLang="en-US" sz="1700">
                <a:effectLst>
                  <a:outerShdw blurRad="38100" dist="38100" dir="2700000" algn="tl">
                    <a:srgbClr val="000000"/>
                  </a:outerShdw>
                </a:effectLst>
                <a:latin typeface="Arial" panose="020B0604020202020204" pitchFamily="34" charset="0"/>
              </a:rPr>
              <a:t>, seen in thin section, or in the growth of </a:t>
            </a:r>
            <a:r>
              <a:rPr lang="en-GB" altLang="en-US" sz="1700">
                <a:solidFill>
                  <a:srgbClr val="FF66CC"/>
                </a:solidFill>
                <a:effectLst>
                  <a:outerShdw blurRad="38100" dist="38100" dir="2700000" algn="tl">
                    <a:srgbClr val="000000"/>
                  </a:outerShdw>
                </a:effectLst>
                <a:latin typeface="Arial" panose="020B0604020202020204" pitchFamily="34" charset="0"/>
              </a:rPr>
              <a:t>mineral fibres</a:t>
            </a:r>
            <a:r>
              <a:rPr lang="en-GB" altLang="en-US" sz="1700">
                <a:effectLst>
                  <a:outerShdw blurRad="38100" dist="38100" dir="2700000" algn="tl">
                    <a:srgbClr val="000000"/>
                  </a:outerShdw>
                </a:effectLst>
                <a:latin typeface="Arial" panose="020B0604020202020204" pitchFamily="34" charset="0"/>
              </a:rPr>
              <a:t> oblique to the fracture margins, often implies a </a:t>
            </a:r>
            <a:r>
              <a:rPr lang="en-GB" altLang="en-US" sz="1700">
                <a:solidFill>
                  <a:srgbClr val="FF6600"/>
                </a:solidFill>
                <a:effectLst>
                  <a:outerShdw blurRad="38100" dist="38100" dir="2700000" algn="tl">
                    <a:srgbClr val="000000"/>
                  </a:outerShdw>
                </a:effectLst>
                <a:latin typeface="Arial" panose="020B0604020202020204" pitchFamily="34" charset="0"/>
              </a:rPr>
              <a:t>hybrid</a:t>
            </a:r>
            <a:r>
              <a:rPr lang="en-GB" altLang="en-US" sz="1700">
                <a:effectLst>
                  <a:outerShdw blurRad="38100" dist="38100" dir="2700000" algn="tl">
                    <a:srgbClr val="000000"/>
                  </a:outerShdw>
                </a:effectLst>
                <a:latin typeface="Arial" panose="020B0604020202020204" pitchFamily="34" charset="0"/>
              </a:rPr>
              <a:t> character</a:t>
            </a:r>
          </a:p>
        </p:txBody>
      </p:sp>
      <p:sp>
        <p:nvSpPr>
          <p:cNvPr id="283651" name="Rectangle 3">
            <a:extLst>
              <a:ext uri="{FF2B5EF4-FFF2-40B4-BE49-F238E27FC236}">
                <a16:creationId xmlns:a16="http://schemas.microsoft.com/office/drawing/2014/main" id="{BDEDF9C7-A1C0-465C-8960-1FAE7899F729}"/>
              </a:ext>
            </a:extLst>
          </p:cNvPr>
          <p:cNvSpPr>
            <a:spLocks noGrp="1" noChangeArrowheads="1"/>
          </p:cNvSpPr>
          <p:nvPr>
            <p:ph type="title"/>
          </p:nvPr>
        </p:nvSpPr>
        <p:spPr>
          <a:noFill/>
        </p:spPr>
        <p:txBody>
          <a:bodyPr/>
          <a:lstStyle/>
          <a:p>
            <a:r>
              <a:rPr lang="en-GB" altLang="en-US">
                <a:effectLst/>
              </a:rPr>
              <a:t>Extension fractures but strictly hybrid</a:t>
            </a:r>
          </a:p>
        </p:txBody>
      </p:sp>
      <p:pic>
        <p:nvPicPr>
          <p:cNvPr id="283654" name="Picture 6" descr="02b">
            <a:extLst>
              <a:ext uri="{FF2B5EF4-FFF2-40B4-BE49-F238E27FC236}">
                <a16:creationId xmlns:a16="http://schemas.microsoft.com/office/drawing/2014/main" id="{C5046598-8417-47BE-97DD-2A8128624FCE}"/>
              </a:ext>
            </a:extLst>
          </p:cNvPr>
          <p:cNvPicPr>
            <a:picLocks noGrp="1" noChangeAspect="1" noChangeArrowheads="1"/>
          </p:cNvPicPr>
          <p:nvPr>
            <p:ph sz="quarter" idx="2"/>
          </p:nvPr>
        </p:nvPicPr>
        <p:blipFill>
          <a:blip r:embed="rId3">
            <a:lum bright="-4000" contrast="4000"/>
            <a:extLst>
              <a:ext uri="{28A0092B-C50C-407E-A947-70E740481C1C}">
                <a14:useLocalDpi xmlns:a14="http://schemas.microsoft.com/office/drawing/2010/main" val="0"/>
              </a:ext>
            </a:extLst>
          </a:blip>
          <a:srcRect/>
          <a:stretch>
            <a:fillRect/>
          </a:stretch>
        </p:blipFill>
        <p:spPr>
          <a:xfrm>
            <a:off x="260350" y="3208338"/>
            <a:ext cx="4376738" cy="331787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83655" name="Rectangle 7">
            <a:extLst>
              <a:ext uri="{FF2B5EF4-FFF2-40B4-BE49-F238E27FC236}">
                <a16:creationId xmlns:a16="http://schemas.microsoft.com/office/drawing/2014/main" id="{D588D7FE-DA2F-4DEE-AD2F-C915272A7BD2}"/>
              </a:ext>
            </a:extLst>
          </p:cNvPr>
          <p:cNvSpPr>
            <a:spLocks noChangeArrowheads="1"/>
          </p:cNvSpPr>
          <p:nvPr/>
        </p:nvSpPr>
        <p:spPr bwMode="auto">
          <a:xfrm>
            <a:off x="3444875" y="6078538"/>
            <a:ext cx="889000" cy="3810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83656" name="Text Box 8">
            <a:extLst>
              <a:ext uri="{FF2B5EF4-FFF2-40B4-BE49-F238E27FC236}">
                <a16:creationId xmlns:a16="http://schemas.microsoft.com/office/drawing/2014/main" id="{0E538AD3-AB3D-4B05-ADD1-2612A6CF4FD2}"/>
              </a:ext>
            </a:extLst>
          </p:cNvPr>
          <p:cNvSpPr txBox="1">
            <a:spLocks noChangeArrowheads="1"/>
          </p:cNvSpPr>
          <p:nvPr/>
        </p:nvSpPr>
        <p:spPr bwMode="auto">
          <a:xfrm>
            <a:off x="3554413" y="6081713"/>
            <a:ext cx="849312" cy="27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200">
                <a:solidFill>
                  <a:srgbClr val="FF0000"/>
                </a:solidFill>
                <a:effectLst/>
                <a:latin typeface="Arial" panose="020B0604020202020204" pitchFamily="34" charset="0"/>
              </a:rPr>
              <a:t>100µm</a:t>
            </a:r>
          </a:p>
        </p:txBody>
      </p:sp>
      <p:sp>
        <p:nvSpPr>
          <p:cNvPr id="283657" name="Line 9">
            <a:extLst>
              <a:ext uri="{FF2B5EF4-FFF2-40B4-BE49-F238E27FC236}">
                <a16:creationId xmlns:a16="http://schemas.microsoft.com/office/drawing/2014/main" id="{F38C0EFD-55D7-4724-BB4D-66C50532A029}"/>
              </a:ext>
            </a:extLst>
          </p:cNvPr>
          <p:cNvSpPr>
            <a:spLocks noChangeShapeType="1"/>
          </p:cNvSpPr>
          <p:nvPr/>
        </p:nvSpPr>
        <p:spPr bwMode="auto">
          <a:xfrm>
            <a:off x="3503613" y="6365875"/>
            <a:ext cx="76200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pic>
        <p:nvPicPr>
          <p:cNvPr id="283658" name="Picture 10">
            <a:extLst>
              <a:ext uri="{FF2B5EF4-FFF2-40B4-BE49-F238E27FC236}">
                <a16:creationId xmlns:a16="http://schemas.microsoft.com/office/drawing/2014/main" id="{DDCD7ABC-54E2-4A42-B470-1D07397BD993}"/>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4897438" y="3700463"/>
            <a:ext cx="4016375" cy="1265237"/>
          </a:xfrm>
          <a:noFill/>
          <a:ln w="38100" cap="flat">
            <a:solidFill>
              <a:schemeClr val="bg2"/>
            </a:solidFill>
            <a:miter lim="800000"/>
            <a:headEnd/>
            <a:tailEnd/>
          </a:ln>
        </p:spPr>
      </p:pic>
      <p:sp>
        <p:nvSpPr>
          <p:cNvPr id="283659" name="Text Box 11">
            <a:extLst>
              <a:ext uri="{FF2B5EF4-FFF2-40B4-BE49-F238E27FC236}">
                <a16:creationId xmlns:a16="http://schemas.microsoft.com/office/drawing/2014/main" id="{C9C99FB1-BFDE-44DA-9C24-C4C66896D2D4}"/>
              </a:ext>
            </a:extLst>
          </p:cNvPr>
          <p:cNvSpPr txBox="1">
            <a:spLocks noChangeArrowheads="1"/>
          </p:cNvSpPr>
          <p:nvPr/>
        </p:nvSpPr>
        <p:spPr bwMode="auto">
          <a:xfrm>
            <a:off x="4737100" y="5767388"/>
            <a:ext cx="3841750"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The hybrid character of the left-right trending calcite vein is indicated by the way that it offsets the up-down trending quartz veins</a:t>
            </a:r>
          </a:p>
        </p:txBody>
      </p:sp>
      <p:sp>
        <p:nvSpPr>
          <p:cNvPr id="283660" name="Text Box 12">
            <a:extLst>
              <a:ext uri="{FF2B5EF4-FFF2-40B4-BE49-F238E27FC236}">
                <a16:creationId xmlns:a16="http://schemas.microsoft.com/office/drawing/2014/main" id="{225C3676-53FB-4439-B0D8-73C42E9A016C}"/>
              </a:ext>
            </a:extLst>
          </p:cNvPr>
          <p:cNvSpPr txBox="1">
            <a:spLocks noChangeArrowheads="1"/>
          </p:cNvSpPr>
          <p:nvPr/>
        </p:nvSpPr>
        <p:spPr bwMode="auto">
          <a:xfrm>
            <a:off x="5446713" y="5068888"/>
            <a:ext cx="29067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Normal and oblique mineral fibres</a:t>
            </a:r>
          </a:p>
        </p:txBody>
      </p:sp>
      <p:sp>
        <p:nvSpPr>
          <p:cNvPr id="283661" name="Freeform 13">
            <a:extLst>
              <a:ext uri="{FF2B5EF4-FFF2-40B4-BE49-F238E27FC236}">
                <a16:creationId xmlns:a16="http://schemas.microsoft.com/office/drawing/2014/main" id="{45EA3B36-34AF-4DE3-BE5F-0DC854A388BA}"/>
              </a:ext>
            </a:extLst>
          </p:cNvPr>
          <p:cNvSpPr>
            <a:spLocks/>
          </p:cNvSpPr>
          <p:nvPr/>
        </p:nvSpPr>
        <p:spPr bwMode="auto">
          <a:xfrm rot="1322649" flipH="1">
            <a:off x="3354388" y="4949825"/>
            <a:ext cx="365125" cy="82550"/>
          </a:xfrm>
          <a:custGeom>
            <a:avLst/>
            <a:gdLst>
              <a:gd name="T0" fmla="*/ 230 w 230"/>
              <a:gd name="T1" fmla="*/ 52 h 52"/>
              <a:gd name="T2" fmla="*/ 0 w 230"/>
              <a:gd name="T3" fmla="*/ 52 h 52"/>
              <a:gd name="T4" fmla="*/ 75 w 230"/>
              <a:gd name="T5" fmla="*/ 0 h 52"/>
            </a:gdLst>
            <a:ahLst/>
            <a:cxnLst>
              <a:cxn ang="0">
                <a:pos x="T0" y="T1"/>
              </a:cxn>
              <a:cxn ang="0">
                <a:pos x="T2" y="T3"/>
              </a:cxn>
              <a:cxn ang="0">
                <a:pos x="T4" y="T5"/>
              </a:cxn>
            </a:cxnLst>
            <a:rect l="0" t="0" r="r" b="b"/>
            <a:pathLst>
              <a:path w="230" h="52">
                <a:moveTo>
                  <a:pt x="230" y="52"/>
                </a:moveTo>
                <a:lnTo>
                  <a:pt x="0" y="52"/>
                </a:lnTo>
                <a:lnTo>
                  <a:pt x="75" y="0"/>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83664" name="Freeform 16">
            <a:extLst>
              <a:ext uri="{FF2B5EF4-FFF2-40B4-BE49-F238E27FC236}">
                <a16:creationId xmlns:a16="http://schemas.microsoft.com/office/drawing/2014/main" id="{117931FE-F9F8-4078-B795-61F63BDF4D8F}"/>
              </a:ext>
            </a:extLst>
          </p:cNvPr>
          <p:cNvSpPr>
            <a:spLocks/>
          </p:cNvSpPr>
          <p:nvPr/>
        </p:nvSpPr>
        <p:spPr bwMode="auto">
          <a:xfrm rot="12122649" flipH="1">
            <a:off x="3127375" y="5518150"/>
            <a:ext cx="365125" cy="82550"/>
          </a:xfrm>
          <a:custGeom>
            <a:avLst/>
            <a:gdLst>
              <a:gd name="T0" fmla="*/ 230 w 230"/>
              <a:gd name="T1" fmla="*/ 52 h 52"/>
              <a:gd name="T2" fmla="*/ 0 w 230"/>
              <a:gd name="T3" fmla="*/ 52 h 52"/>
              <a:gd name="T4" fmla="*/ 75 w 230"/>
              <a:gd name="T5" fmla="*/ 0 h 52"/>
            </a:gdLst>
            <a:ahLst/>
            <a:cxnLst>
              <a:cxn ang="0">
                <a:pos x="T0" y="T1"/>
              </a:cxn>
              <a:cxn ang="0">
                <a:pos x="T2" y="T3"/>
              </a:cxn>
              <a:cxn ang="0">
                <a:pos x="T4" y="T5"/>
              </a:cxn>
            </a:cxnLst>
            <a:rect l="0" t="0" r="r" b="b"/>
            <a:pathLst>
              <a:path w="230" h="52">
                <a:moveTo>
                  <a:pt x="230" y="52"/>
                </a:moveTo>
                <a:lnTo>
                  <a:pt x="0" y="52"/>
                </a:lnTo>
                <a:lnTo>
                  <a:pt x="75" y="0"/>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pic>
        <p:nvPicPr>
          <p:cNvPr id="283665" name="Picture 17" descr="03b-Satinspar">
            <a:extLst>
              <a:ext uri="{FF2B5EF4-FFF2-40B4-BE49-F238E27FC236}">
                <a16:creationId xmlns:a16="http://schemas.microsoft.com/office/drawing/2014/main" id="{BFA43F2C-473D-48AD-A23A-8F5493F1DFB7}"/>
              </a:ext>
            </a:extLst>
          </p:cNvPr>
          <p:cNvPicPr>
            <a:picLocks noChangeAspect="1" noChangeArrowheads="1"/>
          </p:cNvPicPr>
          <p:nvPr/>
        </p:nvPicPr>
        <p:blipFill>
          <a:blip r:embed="rId5">
            <a:lum bright="-10000"/>
            <a:extLst>
              <a:ext uri="{28A0092B-C50C-407E-A947-70E740481C1C}">
                <a14:useLocalDpi xmlns:a14="http://schemas.microsoft.com/office/drawing/2010/main" val="0"/>
              </a:ext>
            </a:extLst>
          </a:blip>
          <a:srcRect/>
          <a:stretch>
            <a:fillRect/>
          </a:stretch>
        </p:blipFill>
        <p:spPr bwMode="auto">
          <a:xfrm>
            <a:off x="4899025" y="930275"/>
            <a:ext cx="3998913" cy="25717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grpSp>
        <p:nvGrpSpPr>
          <p:cNvPr id="2" name="Group 1">
            <a:extLst>
              <a:ext uri="{FF2B5EF4-FFF2-40B4-BE49-F238E27FC236}">
                <a16:creationId xmlns:a16="http://schemas.microsoft.com/office/drawing/2014/main" id="{0C75DB42-CF12-155C-8281-CB3FDD3D8E9B}"/>
              </a:ext>
            </a:extLst>
          </p:cNvPr>
          <p:cNvGrpSpPr/>
          <p:nvPr/>
        </p:nvGrpSpPr>
        <p:grpSpPr>
          <a:xfrm rot="20643272">
            <a:off x="8204200" y="4268788"/>
            <a:ext cx="206375" cy="271462"/>
            <a:chOff x="8204200" y="4268788"/>
            <a:chExt cx="206375" cy="271462"/>
          </a:xfrm>
        </p:grpSpPr>
        <p:sp>
          <p:nvSpPr>
            <p:cNvPr id="283668" name="Line 20">
              <a:extLst>
                <a:ext uri="{FF2B5EF4-FFF2-40B4-BE49-F238E27FC236}">
                  <a16:creationId xmlns:a16="http://schemas.microsoft.com/office/drawing/2014/main" id="{F6DBC07C-C436-4927-A490-0405EEC8438B}"/>
                </a:ext>
              </a:extLst>
            </p:cNvPr>
            <p:cNvSpPr>
              <a:spLocks noChangeShapeType="1"/>
            </p:cNvSpPr>
            <p:nvPr/>
          </p:nvSpPr>
          <p:spPr bwMode="auto">
            <a:xfrm rot="5400000" flipV="1">
              <a:off x="8314531" y="4444207"/>
              <a:ext cx="109537" cy="8255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83669" name="Line 21">
              <a:extLst>
                <a:ext uri="{FF2B5EF4-FFF2-40B4-BE49-F238E27FC236}">
                  <a16:creationId xmlns:a16="http://schemas.microsoft.com/office/drawing/2014/main" id="{CE3F3A2C-359A-4B24-B2E9-84B9BD0ABA57}"/>
                </a:ext>
              </a:extLst>
            </p:cNvPr>
            <p:cNvSpPr>
              <a:spLocks noChangeShapeType="1"/>
            </p:cNvSpPr>
            <p:nvPr/>
          </p:nvSpPr>
          <p:spPr bwMode="auto">
            <a:xfrm rot="16200000" flipV="1">
              <a:off x="8190706" y="4282282"/>
              <a:ext cx="109537" cy="8255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sp>
        <p:nvSpPr>
          <p:cNvPr id="283671" name="Freeform 23">
            <a:extLst>
              <a:ext uri="{FF2B5EF4-FFF2-40B4-BE49-F238E27FC236}">
                <a16:creationId xmlns:a16="http://schemas.microsoft.com/office/drawing/2014/main" id="{AF73C9B6-427B-408A-B417-407F3C2A03AD}"/>
              </a:ext>
            </a:extLst>
          </p:cNvPr>
          <p:cNvSpPr>
            <a:spLocks/>
          </p:cNvSpPr>
          <p:nvPr/>
        </p:nvSpPr>
        <p:spPr bwMode="auto">
          <a:xfrm>
            <a:off x="8129588" y="4092575"/>
            <a:ext cx="365125" cy="82550"/>
          </a:xfrm>
          <a:custGeom>
            <a:avLst/>
            <a:gdLst>
              <a:gd name="T0" fmla="*/ 230 w 230"/>
              <a:gd name="T1" fmla="*/ 52 h 52"/>
              <a:gd name="T2" fmla="*/ 0 w 230"/>
              <a:gd name="T3" fmla="*/ 52 h 52"/>
              <a:gd name="T4" fmla="*/ 75 w 230"/>
              <a:gd name="T5" fmla="*/ 0 h 52"/>
            </a:gdLst>
            <a:ahLst/>
            <a:cxnLst>
              <a:cxn ang="0">
                <a:pos x="T0" y="T1"/>
              </a:cxn>
              <a:cxn ang="0">
                <a:pos x="T2" y="T3"/>
              </a:cxn>
              <a:cxn ang="0">
                <a:pos x="T4" y="T5"/>
              </a:cxn>
            </a:cxnLst>
            <a:rect l="0" t="0" r="r" b="b"/>
            <a:pathLst>
              <a:path w="230" h="52">
                <a:moveTo>
                  <a:pt x="230" y="52"/>
                </a:moveTo>
                <a:lnTo>
                  <a:pt x="0" y="52"/>
                </a:lnTo>
                <a:lnTo>
                  <a:pt x="75" y="0"/>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83672" name="Freeform 24">
            <a:extLst>
              <a:ext uri="{FF2B5EF4-FFF2-40B4-BE49-F238E27FC236}">
                <a16:creationId xmlns:a16="http://schemas.microsoft.com/office/drawing/2014/main" id="{5EFD046D-2D3A-4E42-BBA5-8A95173F9850}"/>
              </a:ext>
            </a:extLst>
          </p:cNvPr>
          <p:cNvSpPr>
            <a:spLocks/>
          </p:cNvSpPr>
          <p:nvPr/>
        </p:nvSpPr>
        <p:spPr bwMode="auto">
          <a:xfrm rot="-10800000">
            <a:off x="8135938" y="4619625"/>
            <a:ext cx="365125" cy="82550"/>
          </a:xfrm>
          <a:custGeom>
            <a:avLst/>
            <a:gdLst>
              <a:gd name="T0" fmla="*/ 230 w 230"/>
              <a:gd name="T1" fmla="*/ 52 h 52"/>
              <a:gd name="T2" fmla="*/ 0 w 230"/>
              <a:gd name="T3" fmla="*/ 52 h 52"/>
              <a:gd name="T4" fmla="*/ 75 w 230"/>
              <a:gd name="T5" fmla="*/ 0 h 52"/>
            </a:gdLst>
            <a:ahLst/>
            <a:cxnLst>
              <a:cxn ang="0">
                <a:pos x="T0" y="T1"/>
              </a:cxn>
              <a:cxn ang="0">
                <a:pos x="T2" y="T3"/>
              </a:cxn>
              <a:cxn ang="0">
                <a:pos x="T4" y="T5"/>
              </a:cxn>
            </a:cxnLst>
            <a:rect l="0" t="0" r="r" b="b"/>
            <a:pathLst>
              <a:path w="230" h="52">
                <a:moveTo>
                  <a:pt x="230" y="52"/>
                </a:moveTo>
                <a:lnTo>
                  <a:pt x="0" y="52"/>
                </a:lnTo>
                <a:lnTo>
                  <a:pt x="75" y="0"/>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2">
            <a:extLst>
              <a:ext uri="{FF2B5EF4-FFF2-40B4-BE49-F238E27FC236}">
                <a16:creationId xmlns:a16="http://schemas.microsoft.com/office/drawing/2014/main" id="{2C3657ED-3106-4510-8F1F-C397D87A83EE}"/>
              </a:ext>
            </a:extLst>
          </p:cNvPr>
          <p:cNvSpPr>
            <a:spLocks noGrp="1" noChangeArrowheads="1"/>
          </p:cNvSpPr>
          <p:nvPr>
            <p:ph type="title"/>
          </p:nvPr>
        </p:nvSpPr>
        <p:spPr>
          <a:noFill/>
        </p:spPr>
        <p:txBody>
          <a:bodyPr/>
          <a:lstStyle/>
          <a:p>
            <a:r>
              <a:rPr lang="en-GB" altLang="en-US">
                <a:effectLst/>
              </a:rPr>
              <a:t>Contraction fractures (for completeness)</a:t>
            </a:r>
          </a:p>
        </p:txBody>
      </p:sp>
      <p:sp>
        <p:nvSpPr>
          <p:cNvPr id="232451" name="Rectangle 3">
            <a:extLst>
              <a:ext uri="{FF2B5EF4-FFF2-40B4-BE49-F238E27FC236}">
                <a16:creationId xmlns:a16="http://schemas.microsoft.com/office/drawing/2014/main" id="{E6F58F72-C943-43FE-8FF2-9808E2A464BA}"/>
              </a:ext>
            </a:extLst>
          </p:cNvPr>
          <p:cNvSpPr>
            <a:spLocks noGrp="1" noChangeArrowheads="1"/>
          </p:cNvSpPr>
          <p:nvPr>
            <p:ph type="body" sz="half" idx="1"/>
          </p:nvPr>
        </p:nvSpPr>
        <p:spPr>
          <a:xfrm>
            <a:off x="114300" y="3706813"/>
            <a:ext cx="4510088" cy="2862262"/>
          </a:xfrm>
          <a:noFill/>
        </p:spPr>
        <p:txBody>
          <a:bodyPr/>
          <a:lstStyle/>
          <a:p>
            <a:pPr marL="177800" indent="-177800">
              <a:spcBef>
                <a:spcPct val="75000"/>
              </a:spcBef>
            </a:pPr>
            <a:r>
              <a:rPr lang="en-GB" altLang="en-US" sz="1700" dirty="0">
                <a:solidFill>
                  <a:srgbClr val="FF6600"/>
                </a:solidFill>
                <a:effectLst/>
              </a:rPr>
              <a:t>Contraction fractures</a:t>
            </a:r>
            <a:r>
              <a:rPr lang="en-GB" altLang="en-US" sz="1700" dirty="0">
                <a:effectLst/>
              </a:rPr>
              <a:t> include </a:t>
            </a:r>
            <a:r>
              <a:rPr lang="en-GB" altLang="en-US" sz="1700" dirty="0" err="1">
                <a:solidFill>
                  <a:srgbClr val="FF66CC"/>
                </a:solidFill>
                <a:effectLst/>
              </a:rPr>
              <a:t>stylolites</a:t>
            </a:r>
            <a:r>
              <a:rPr lang="en-GB" altLang="en-US" sz="1700" dirty="0">
                <a:effectLst/>
              </a:rPr>
              <a:t>. These irregular surfaces have interlocking ‘teeth’ oriented normal to the surface – this implies ‘closing’ in this direction</a:t>
            </a:r>
          </a:p>
          <a:p>
            <a:pPr marL="177800" indent="-177800"/>
            <a:r>
              <a:rPr lang="en-GB" altLang="en-US" sz="1700" dirty="0" err="1">
                <a:effectLst/>
              </a:rPr>
              <a:t>Stylolites</a:t>
            </a:r>
            <a:r>
              <a:rPr lang="en-GB" altLang="en-US" sz="1700" dirty="0">
                <a:effectLst/>
              </a:rPr>
              <a:t> with teeth oblique to the surface (properly described as </a:t>
            </a:r>
            <a:r>
              <a:rPr lang="en-GB" altLang="en-US" sz="1700" dirty="0" err="1">
                <a:solidFill>
                  <a:srgbClr val="FF66CC"/>
                </a:solidFill>
                <a:effectLst/>
              </a:rPr>
              <a:t>slickolites</a:t>
            </a:r>
            <a:r>
              <a:rPr lang="en-GB" altLang="en-US" sz="1700" dirty="0">
                <a:effectLst/>
              </a:rPr>
              <a:t>) indicate that these contractional features can also be of hybrid character</a:t>
            </a:r>
          </a:p>
        </p:txBody>
      </p:sp>
      <p:pic>
        <p:nvPicPr>
          <p:cNvPr id="232456" name="Picture 8" descr="02c">
            <a:extLst>
              <a:ext uri="{FF2B5EF4-FFF2-40B4-BE49-F238E27FC236}">
                <a16:creationId xmlns:a16="http://schemas.microsoft.com/office/drawing/2014/main" id="{F2583748-1070-41C8-B325-8605EE19444C}"/>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4838700" y="3805238"/>
            <a:ext cx="4059238" cy="275272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32463" name="Line 15">
            <a:extLst>
              <a:ext uri="{FF2B5EF4-FFF2-40B4-BE49-F238E27FC236}">
                <a16:creationId xmlns:a16="http://schemas.microsoft.com/office/drawing/2014/main" id="{5FF6F228-B2B0-4AB1-B1C8-7283FAC7C15A}"/>
              </a:ext>
            </a:extLst>
          </p:cNvPr>
          <p:cNvSpPr>
            <a:spLocks noChangeShapeType="1"/>
          </p:cNvSpPr>
          <p:nvPr/>
        </p:nvSpPr>
        <p:spPr bwMode="auto">
          <a:xfrm rot="-229319">
            <a:off x="7316788" y="4991100"/>
            <a:ext cx="203200" cy="293688"/>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32464" name="Line 16">
            <a:extLst>
              <a:ext uri="{FF2B5EF4-FFF2-40B4-BE49-F238E27FC236}">
                <a16:creationId xmlns:a16="http://schemas.microsoft.com/office/drawing/2014/main" id="{F962E039-1894-430A-9F8A-203F092B4361}"/>
              </a:ext>
            </a:extLst>
          </p:cNvPr>
          <p:cNvSpPr>
            <a:spLocks noChangeShapeType="1"/>
          </p:cNvSpPr>
          <p:nvPr/>
        </p:nvSpPr>
        <p:spPr bwMode="auto">
          <a:xfrm rot="-11029319">
            <a:off x="8196263" y="6118225"/>
            <a:ext cx="203200" cy="293688"/>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32467" name="Freeform 19">
            <a:extLst>
              <a:ext uri="{FF2B5EF4-FFF2-40B4-BE49-F238E27FC236}">
                <a16:creationId xmlns:a16="http://schemas.microsoft.com/office/drawing/2014/main" id="{E2536208-503C-4AE4-B0D5-9FFD70401FFF}"/>
              </a:ext>
            </a:extLst>
          </p:cNvPr>
          <p:cNvSpPr>
            <a:spLocks/>
          </p:cNvSpPr>
          <p:nvPr/>
        </p:nvSpPr>
        <p:spPr bwMode="auto">
          <a:xfrm>
            <a:off x="7275513" y="5275263"/>
            <a:ext cx="612775" cy="98425"/>
          </a:xfrm>
          <a:custGeom>
            <a:avLst/>
            <a:gdLst>
              <a:gd name="T0" fmla="*/ 0 w 386"/>
              <a:gd name="T1" fmla="*/ 34 h 62"/>
              <a:gd name="T2" fmla="*/ 386 w 386"/>
              <a:gd name="T3" fmla="*/ 62 h 62"/>
              <a:gd name="T4" fmla="*/ 325 w 386"/>
              <a:gd name="T5" fmla="*/ 0 h 62"/>
            </a:gdLst>
            <a:ahLst/>
            <a:cxnLst>
              <a:cxn ang="0">
                <a:pos x="T0" y="T1"/>
              </a:cxn>
              <a:cxn ang="0">
                <a:pos x="T2" y="T3"/>
              </a:cxn>
              <a:cxn ang="0">
                <a:pos x="T4" y="T5"/>
              </a:cxn>
            </a:cxnLst>
            <a:rect l="0" t="0" r="r" b="b"/>
            <a:pathLst>
              <a:path w="386" h="62">
                <a:moveTo>
                  <a:pt x="0" y="34"/>
                </a:moveTo>
                <a:lnTo>
                  <a:pt x="386" y="62"/>
                </a:lnTo>
                <a:lnTo>
                  <a:pt x="325" y="0"/>
                </a:lnTo>
              </a:path>
            </a:pathLst>
          </a:custGeom>
          <a:noFill/>
          <a:ln w="190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32468" name="Freeform 20">
            <a:extLst>
              <a:ext uri="{FF2B5EF4-FFF2-40B4-BE49-F238E27FC236}">
                <a16:creationId xmlns:a16="http://schemas.microsoft.com/office/drawing/2014/main" id="{1112CC82-44C9-46F3-A4F7-986377818861}"/>
              </a:ext>
            </a:extLst>
          </p:cNvPr>
          <p:cNvSpPr>
            <a:spLocks/>
          </p:cNvSpPr>
          <p:nvPr/>
        </p:nvSpPr>
        <p:spPr bwMode="auto">
          <a:xfrm rot="-10800000">
            <a:off x="7854950" y="6022975"/>
            <a:ext cx="612775" cy="98425"/>
          </a:xfrm>
          <a:custGeom>
            <a:avLst/>
            <a:gdLst>
              <a:gd name="T0" fmla="*/ 0 w 386"/>
              <a:gd name="T1" fmla="*/ 34 h 62"/>
              <a:gd name="T2" fmla="*/ 386 w 386"/>
              <a:gd name="T3" fmla="*/ 62 h 62"/>
              <a:gd name="T4" fmla="*/ 325 w 386"/>
              <a:gd name="T5" fmla="*/ 0 h 62"/>
            </a:gdLst>
            <a:ahLst/>
            <a:cxnLst>
              <a:cxn ang="0">
                <a:pos x="T0" y="T1"/>
              </a:cxn>
              <a:cxn ang="0">
                <a:pos x="T2" y="T3"/>
              </a:cxn>
              <a:cxn ang="0">
                <a:pos x="T4" y="T5"/>
              </a:cxn>
            </a:cxnLst>
            <a:rect l="0" t="0" r="r" b="b"/>
            <a:pathLst>
              <a:path w="386" h="62">
                <a:moveTo>
                  <a:pt x="0" y="34"/>
                </a:moveTo>
                <a:lnTo>
                  <a:pt x="386" y="62"/>
                </a:lnTo>
                <a:lnTo>
                  <a:pt x="325" y="0"/>
                </a:lnTo>
              </a:path>
            </a:pathLst>
          </a:custGeom>
          <a:noFill/>
          <a:ln w="190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pic>
        <p:nvPicPr>
          <p:cNvPr id="232469" name="Picture 21" descr="04a2">
            <a:extLst>
              <a:ext uri="{FF2B5EF4-FFF2-40B4-BE49-F238E27FC236}">
                <a16:creationId xmlns:a16="http://schemas.microsoft.com/office/drawing/2014/main" id="{ACE157D0-B337-45E3-9501-5AD33BC5296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9238" y="952500"/>
            <a:ext cx="6807200" cy="251777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32471" name="Text Box 23">
            <a:extLst>
              <a:ext uri="{FF2B5EF4-FFF2-40B4-BE49-F238E27FC236}">
                <a16:creationId xmlns:a16="http://schemas.microsoft.com/office/drawing/2014/main" id="{FEA7094E-024E-4734-831A-19E02A1B7B48}"/>
              </a:ext>
            </a:extLst>
          </p:cNvPr>
          <p:cNvSpPr txBox="1">
            <a:spLocks noChangeArrowheads="1"/>
          </p:cNvSpPr>
          <p:nvPr/>
        </p:nvSpPr>
        <p:spPr bwMode="auto">
          <a:xfrm>
            <a:off x="7259638" y="1069975"/>
            <a:ext cx="1530350" cy="60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stylolite (left); slickolite (below)</a:t>
            </a:r>
          </a:p>
        </p:txBody>
      </p:sp>
      <p:sp>
        <p:nvSpPr>
          <p:cNvPr id="232472" name="Line 24">
            <a:extLst>
              <a:ext uri="{FF2B5EF4-FFF2-40B4-BE49-F238E27FC236}">
                <a16:creationId xmlns:a16="http://schemas.microsoft.com/office/drawing/2014/main" id="{6C768481-2D19-44B2-BCE6-29E27EF24F2A}"/>
              </a:ext>
            </a:extLst>
          </p:cNvPr>
          <p:cNvSpPr>
            <a:spLocks noChangeShapeType="1"/>
          </p:cNvSpPr>
          <p:nvPr/>
        </p:nvSpPr>
        <p:spPr bwMode="auto">
          <a:xfrm rot="1200000">
            <a:off x="1344613" y="1503363"/>
            <a:ext cx="203200" cy="293687"/>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32473" name="Line 25">
            <a:extLst>
              <a:ext uri="{FF2B5EF4-FFF2-40B4-BE49-F238E27FC236}">
                <a16:creationId xmlns:a16="http://schemas.microsoft.com/office/drawing/2014/main" id="{CFE2F00C-AFAF-424F-A553-537F896EB345}"/>
              </a:ext>
            </a:extLst>
          </p:cNvPr>
          <p:cNvSpPr>
            <a:spLocks noChangeShapeType="1"/>
          </p:cNvSpPr>
          <p:nvPr/>
        </p:nvSpPr>
        <p:spPr bwMode="auto">
          <a:xfrm rot="12000000">
            <a:off x="1674813" y="2886075"/>
            <a:ext cx="203200" cy="293688"/>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2">
            <a:extLst>
              <a:ext uri="{FF2B5EF4-FFF2-40B4-BE49-F238E27FC236}">
                <a16:creationId xmlns:a16="http://schemas.microsoft.com/office/drawing/2014/main" id="{82A0BEC8-F6D2-43E2-9B98-45BD9893D7DF}"/>
              </a:ext>
            </a:extLst>
          </p:cNvPr>
          <p:cNvSpPr>
            <a:spLocks noGrp="1" noChangeArrowheads="1"/>
          </p:cNvSpPr>
          <p:nvPr>
            <p:ph type="title"/>
          </p:nvPr>
        </p:nvSpPr>
        <p:spPr>
          <a:noFill/>
        </p:spPr>
        <p:txBody>
          <a:bodyPr/>
          <a:lstStyle/>
          <a:p>
            <a:r>
              <a:rPr lang="en-GB" altLang="en-US">
                <a:effectLst/>
              </a:rPr>
              <a:t>Relationship with the principal stress directions</a:t>
            </a:r>
          </a:p>
        </p:txBody>
      </p:sp>
      <p:sp>
        <p:nvSpPr>
          <p:cNvPr id="234499" name="Rectangle 3">
            <a:extLst>
              <a:ext uri="{FF2B5EF4-FFF2-40B4-BE49-F238E27FC236}">
                <a16:creationId xmlns:a16="http://schemas.microsoft.com/office/drawing/2014/main" id="{D5DF2D81-C689-4C48-A0DA-221DB0A438B2}"/>
              </a:ext>
            </a:extLst>
          </p:cNvPr>
          <p:cNvSpPr>
            <a:spLocks noGrp="1" noChangeArrowheads="1"/>
          </p:cNvSpPr>
          <p:nvPr>
            <p:ph type="body" sz="half" idx="1"/>
          </p:nvPr>
        </p:nvSpPr>
        <p:spPr>
          <a:xfrm>
            <a:off x="120650" y="855664"/>
            <a:ext cx="4449763" cy="1363662"/>
          </a:xfrm>
          <a:noFill/>
        </p:spPr>
        <p:txBody>
          <a:bodyPr/>
          <a:lstStyle/>
          <a:p>
            <a:pPr marL="177800" indent="-177800">
              <a:spcBef>
                <a:spcPct val="75000"/>
              </a:spcBef>
            </a:pPr>
            <a:r>
              <a:rPr lang="en-GB" altLang="en-US" sz="1700" dirty="0">
                <a:solidFill>
                  <a:srgbClr val="FF6600"/>
                </a:solidFill>
                <a:effectLst/>
              </a:rPr>
              <a:t>Extension fractures</a:t>
            </a:r>
            <a:r>
              <a:rPr lang="en-GB" altLang="en-US" sz="1700" dirty="0">
                <a:effectLst/>
              </a:rPr>
              <a:t> open parallel to the direction of minimum compressive stress, </a:t>
            </a:r>
            <a:r>
              <a:rPr lang="el-GR" altLang="en-US" sz="1700" i="1" dirty="0">
                <a:solidFill>
                  <a:srgbClr val="FFFF00"/>
                </a:solidFill>
                <a:latin typeface="Cambria Math" panose="02040503050406030204" pitchFamily="18" charset="0"/>
                <a:ea typeface="Cambria Math" panose="02040503050406030204" pitchFamily="18" charset="0"/>
              </a:rPr>
              <a:t>σ</a:t>
            </a:r>
            <a:r>
              <a:rPr lang="en-GB" altLang="en-US" sz="1700" baseline="-25000" dirty="0">
                <a:solidFill>
                  <a:srgbClr val="FFFF00"/>
                </a:solidFill>
                <a:effectLst/>
              </a:rPr>
              <a:t>3</a:t>
            </a:r>
            <a:r>
              <a:rPr lang="en-GB" altLang="en-US" sz="1700" dirty="0">
                <a:effectLst/>
              </a:rPr>
              <a:t> (direction of least resistance), and propagate within the </a:t>
            </a:r>
            <a:r>
              <a:rPr lang="el-GR" altLang="en-US" sz="1700" i="1" dirty="0">
                <a:solidFill>
                  <a:srgbClr val="FFFF00"/>
                </a:solidFill>
                <a:latin typeface="Cambria Math" panose="02040503050406030204" pitchFamily="18" charset="0"/>
                <a:ea typeface="Cambria Math" panose="02040503050406030204" pitchFamily="18" charset="0"/>
              </a:rPr>
              <a:t>σ</a:t>
            </a:r>
            <a:r>
              <a:rPr lang="en-GB" altLang="en-US" sz="1700" baseline="-25000" dirty="0">
                <a:solidFill>
                  <a:srgbClr val="FFFF00"/>
                </a:solidFill>
                <a:effectLst/>
              </a:rPr>
              <a:t>1</a:t>
            </a:r>
            <a:r>
              <a:rPr lang="en-GB" altLang="en-US" sz="800" dirty="0">
                <a:solidFill>
                  <a:srgbClr val="FFFF00"/>
                </a:solidFill>
                <a:effectLst/>
              </a:rPr>
              <a:t> </a:t>
            </a:r>
            <a:r>
              <a:rPr lang="en-GB" altLang="en-US" sz="1700" dirty="0">
                <a:solidFill>
                  <a:srgbClr val="FFFF00"/>
                </a:solidFill>
                <a:effectLst/>
              </a:rPr>
              <a:t>-</a:t>
            </a:r>
            <a:r>
              <a:rPr lang="en-GB" altLang="en-US" sz="800" dirty="0">
                <a:solidFill>
                  <a:srgbClr val="FFFF00"/>
                </a:solidFill>
                <a:effectLst/>
              </a:rPr>
              <a:t> </a:t>
            </a:r>
            <a:r>
              <a:rPr lang="el-GR" altLang="en-US" sz="1700" i="1" dirty="0">
                <a:solidFill>
                  <a:srgbClr val="FFFF00"/>
                </a:solidFill>
                <a:latin typeface="Cambria Math" panose="02040503050406030204" pitchFamily="18" charset="0"/>
                <a:ea typeface="Cambria Math" panose="02040503050406030204" pitchFamily="18" charset="0"/>
              </a:rPr>
              <a:t>σ</a:t>
            </a:r>
            <a:r>
              <a:rPr lang="en-GB" altLang="en-US" sz="1700" baseline="-25000" dirty="0">
                <a:solidFill>
                  <a:srgbClr val="FFFF00"/>
                </a:solidFill>
                <a:effectLst/>
              </a:rPr>
              <a:t>2</a:t>
            </a:r>
            <a:r>
              <a:rPr lang="en-GB" altLang="en-US" sz="1700" dirty="0">
                <a:effectLst/>
              </a:rPr>
              <a:t> plane</a:t>
            </a:r>
          </a:p>
        </p:txBody>
      </p:sp>
      <p:grpSp>
        <p:nvGrpSpPr>
          <p:cNvPr id="234500" name="Group 4">
            <a:extLst>
              <a:ext uri="{FF2B5EF4-FFF2-40B4-BE49-F238E27FC236}">
                <a16:creationId xmlns:a16="http://schemas.microsoft.com/office/drawing/2014/main" id="{2FDF2F95-6C23-40BF-AA89-EE58E3D17403}"/>
              </a:ext>
            </a:extLst>
          </p:cNvPr>
          <p:cNvGrpSpPr>
            <a:grpSpLocks/>
          </p:cNvGrpSpPr>
          <p:nvPr/>
        </p:nvGrpSpPr>
        <p:grpSpPr bwMode="auto">
          <a:xfrm>
            <a:off x="4981575" y="1028700"/>
            <a:ext cx="3984625" cy="5449888"/>
            <a:chOff x="3786" y="1996"/>
            <a:chExt cx="1767" cy="2249"/>
          </a:xfrm>
        </p:grpSpPr>
        <p:sp>
          <p:nvSpPr>
            <p:cNvPr id="234501" name="Rectangle 5">
              <a:extLst>
                <a:ext uri="{FF2B5EF4-FFF2-40B4-BE49-F238E27FC236}">
                  <a16:creationId xmlns:a16="http://schemas.microsoft.com/office/drawing/2014/main" id="{5477547B-EFB2-4BAC-AB9F-E85B2E814BD1}"/>
                </a:ext>
              </a:extLst>
            </p:cNvPr>
            <p:cNvSpPr>
              <a:spLocks noChangeArrowheads="1"/>
            </p:cNvSpPr>
            <p:nvPr/>
          </p:nvSpPr>
          <p:spPr bwMode="auto">
            <a:xfrm>
              <a:off x="3786" y="1996"/>
              <a:ext cx="1767" cy="2249"/>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234502" name="Picture 2" descr="GR04.jpg">
              <a:extLst>
                <a:ext uri="{FF2B5EF4-FFF2-40B4-BE49-F238E27FC236}">
                  <a16:creationId xmlns:a16="http://schemas.microsoft.com/office/drawing/2014/main" id="{6F941BD2-8BE0-4163-B419-32AEEB4A0772}"/>
                </a:ext>
              </a:extLst>
            </p:cNvPr>
            <p:cNvPicPr>
              <a:picLocks noChangeAspect="1"/>
            </p:cNvPicPr>
            <p:nvPr/>
          </p:nvPicPr>
          <p:blipFill>
            <a:blip r:embed="rId3">
              <a:lum bright="-6000" contrast="10000"/>
              <a:extLst>
                <a:ext uri="{28A0092B-C50C-407E-A947-70E740481C1C}">
                  <a14:useLocalDpi xmlns:a14="http://schemas.microsoft.com/office/drawing/2010/main" val="0"/>
                </a:ext>
              </a:extLst>
            </a:blip>
            <a:srcRect/>
            <a:stretch>
              <a:fillRect/>
            </a:stretch>
          </p:blipFill>
          <p:spPr bwMode="auto">
            <a:xfrm>
              <a:off x="3826" y="2021"/>
              <a:ext cx="1684" cy="21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pic>
        <p:nvPicPr>
          <p:cNvPr id="234503" name="Picture 7">
            <a:extLst>
              <a:ext uri="{FF2B5EF4-FFF2-40B4-BE49-F238E27FC236}">
                <a16:creationId xmlns:a16="http://schemas.microsoft.com/office/drawing/2014/main" id="{4130D222-98EA-4DEC-B803-3E36A1D0DA58}"/>
              </a:ext>
            </a:extLst>
          </p:cNvPr>
          <p:cNvPicPr>
            <a:picLocks noGrp="1" noChangeAspect="1" noChangeArrowheads="1"/>
          </p:cNvPicPr>
          <p:nvPr>
            <p:ph sz="quarter" idx="2"/>
          </p:nvPr>
        </p:nvPicPr>
        <p:blipFill>
          <a:blip r:embed="rId4">
            <a:extLst>
              <a:ext uri="{28A0092B-C50C-407E-A947-70E740481C1C}">
                <a14:useLocalDpi xmlns:a14="http://schemas.microsoft.com/office/drawing/2010/main" val="0"/>
              </a:ext>
            </a:extLst>
          </a:blip>
          <a:srcRect/>
          <a:stretch>
            <a:fillRect/>
          </a:stretch>
        </p:blipFill>
        <p:spPr>
          <a:xfrm>
            <a:off x="2879725" y="2401888"/>
            <a:ext cx="1736725" cy="2044700"/>
          </a:xfrm>
          <a:noFill/>
          <a:ln w="38100" cap="flat">
            <a:solidFill>
              <a:schemeClr val="bg2"/>
            </a:solidFill>
            <a:miter lim="800000"/>
            <a:headEnd/>
            <a:tailEnd/>
          </a:ln>
        </p:spPr>
      </p:pic>
      <p:sp>
        <p:nvSpPr>
          <p:cNvPr id="234505" name="Text Box 9">
            <a:extLst>
              <a:ext uri="{FF2B5EF4-FFF2-40B4-BE49-F238E27FC236}">
                <a16:creationId xmlns:a16="http://schemas.microsoft.com/office/drawing/2014/main" id="{775EC693-D3EB-4952-A39B-78A669ADB88A}"/>
              </a:ext>
            </a:extLst>
          </p:cNvPr>
          <p:cNvSpPr txBox="1">
            <a:spLocks noChangeArrowheads="1"/>
          </p:cNvSpPr>
          <p:nvPr/>
        </p:nvSpPr>
        <p:spPr bwMode="auto">
          <a:xfrm>
            <a:off x="133350" y="4638675"/>
            <a:ext cx="4751259" cy="18947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77800" indent="-177800">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solidFill>
                  <a:srgbClr val="FF6600"/>
                </a:solidFill>
                <a:effectLst>
                  <a:outerShdw blurRad="38100" dist="38100" dir="2700000" algn="tl">
                    <a:srgbClr val="000000"/>
                  </a:outerShdw>
                </a:effectLst>
                <a:latin typeface="Arial" panose="020B0604020202020204" pitchFamily="34" charset="0"/>
              </a:rPr>
              <a:t>Contraction fractures</a:t>
            </a:r>
            <a:r>
              <a:rPr lang="en-GB" altLang="en-US" sz="1700" dirty="0">
                <a:effectLst>
                  <a:outerShdw blurRad="38100" dist="38100" dir="2700000" algn="tl">
                    <a:srgbClr val="000000"/>
                  </a:outerShdw>
                </a:effectLst>
                <a:latin typeface="Arial" panose="020B0604020202020204" pitchFamily="34" charset="0"/>
              </a:rPr>
              <a:t> form perpendicular to the direction of maximum compressive stress,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rPr>
              <a:t>1</a:t>
            </a:r>
            <a:r>
              <a:rPr lang="en-GB" altLang="en-US" sz="1700" dirty="0">
                <a:effectLst/>
              </a:rPr>
              <a:t> (the </a:t>
            </a:r>
            <a:r>
              <a:rPr lang="el-GR" altLang="en-US" sz="1700" i="1" dirty="0">
                <a:solidFill>
                  <a:srgbClr val="FFFF00"/>
                </a:solidFill>
                <a:latin typeface="Cambria Math" panose="02040503050406030204" pitchFamily="18" charset="0"/>
                <a:ea typeface="Cambria Math" panose="02040503050406030204" pitchFamily="18" charset="0"/>
              </a:rPr>
              <a:t>σ</a:t>
            </a:r>
            <a:r>
              <a:rPr lang="en-GB" altLang="en-US" sz="1700" baseline="-25000" dirty="0">
                <a:solidFill>
                  <a:srgbClr val="FFFF00"/>
                </a:solidFill>
                <a:effectLst/>
              </a:rPr>
              <a:t>2</a:t>
            </a:r>
            <a:r>
              <a:rPr lang="en-GB" altLang="en-US" sz="800" dirty="0">
                <a:solidFill>
                  <a:srgbClr val="FFFF00"/>
                </a:solidFill>
                <a:effectLst/>
              </a:rPr>
              <a:t> </a:t>
            </a:r>
            <a:r>
              <a:rPr lang="en-GB" altLang="en-US" sz="1700" dirty="0">
                <a:solidFill>
                  <a:srgbClr val="FFFF00"/>
                </a:solidFill>
                <a:effectLst/>
              </a:rPr>
              <a:t>-</a:t>
            </a:r>
            <a:r>
              <a:rPr lang="en-GB" altLang="en-US" sz="800" dirty="0">
                <a:solidFill>
                  <a:srgbClr val="FFFF00"/>
                </a:solidFill>
                <a:effectLst/>
              </a:rPr>
              <a:t> </a:t>
            </a:r>
            <a:r>
              <a:rPr lang="el-GR" altLang="en-US" sz="1700" i="1" dirty="0">
                <a:solidFill>
                  <a:srgbClr val="FFFF00"/>
                </a:solidFill>
                <a:latin typeface="Cambria Math" panose="02040503050406030204" pitchFamily="18" charset="0"/>
                <a:ea typeface="Cambria Math" panose="02040503050406030204" pitchFamily="18" charset="0"/>
              </a:rPr>
              <a:t>σ</a:t>
            </a:r>
            <a:r>
              <a:rPr lang="en-GB" altLang="en-US" sz="1700" baseline="-25000" dirty="0">
                <a:solidFill>
                  <a:srgbClr val="FFFF00"/>
                </a:solidFill>
                <a:effectLst/>
              </a:rPr>
              <a:t>3</a:t>
            </a:r>
            <a:r>
              <a:rPr lang="en-GB" altLang="en-US" sz="1700" dirty="0">
                <a:effectLst/>
              </a:rPr>
              <a:t> plane)</a:t>
            </a:r>
            <a:endParaRPr lang="en-GB" altLang="en-US" sz="1700" dirty="0">
              <a:solidFill>
                <a:srgbClr val="FFFF00"/>
              </a:solidFill>
              <a:effectLst>
                <a:outerShdw blurRad="38100" dist="38100" dir="2700000" algn="tl">
                  <a:srgbClr val="000000"/>
                </a:outerShdw>
              </a:effectLst>
              <a:latin typeface="Arial" panose="020B0604020202020204" pitchFamily="34" charset="0"/>
            </a:endParaRPr>
          </a:p>
          <a:p>
            <a:pPr>
              <a:lnSpc>
                <a:spcPct val="120000"/>
              </a:lnSpc>
              <a:spcBef>
                <a:spcPct val="100000"/>
              </a:spcBef>
              <a:buClr>
                <a:schemeClr val="tx1"/>
              </a:buClr>
              <a:buFontTx/>
              <a:buChar char="•"/>
            </a:pPr>
            <a:r>
              <a:rPr lang="en-GB" altLang="en-US" sz="1700" dirty="0">
                <a:solidFill>
                  <a:srgbClr val="FF6600"/>
                </a:solidFill>
                <a:effectLst>
                  <a:outerShdw blurRad="38100" dist="38100" dir="2700000" algn="tl">
                    <a:srgbClr val="000000"/>
                  </a:outerShdw>
                </a:effectLst>
                <a:latin typeface="Arial" panose="020B0604020202020204" pitchFamily="34" charset="0"/>
              </a:rPr>
              <a:t>Shear fractures</a:t>
            </a:r>
            <a:r>
              <a:rPr lang="en-GB" altLang="en-US" sz="1700" dirty="0">
                <a:solidFill>
                  <a:srgbClr val="FFFF00"/>
                </a:solidFill>
                <a:effectLst>
                  <a:outerShdw blurRad="38100" dist="38100" dir="2700000" algn="tl">
                    <a:srgbClr val="000000"/>
                  </a:outerShdw>
                </a:effectLst>
                <a:latin typeface="Arial" panose="020B0604020202020204" pitchFamily="34" charset="0"/>
              </a:rPr>
              <a:t> </a:t>
            </a:r>
            <a:r>
              <a:rPr lang="en-GB" altLang="en-US" sz="1700" dirty="0">
                <a:effectLst>
                  <a:outerShdw blurRad="38100" dist="38100" dir="2700000" algn="tl">
                    <a:srgbClr val="000000"/>
                  </a:outerShdw>
                </a:effectLst>
                <a:latin typeface="Arial" panose="020B0604020202020204" pitchFamily="34" charset="0"/>
              </a:rPr>
              <a:t>form at an angle of less than 45° to</a:t>
            </a:r>
            <a:r>
              <a:rPr lang="en-GB" altLang="en-US" sz="1700" dirty="0">
                <a:solidFill>
                  <a:srgbClr val="FFFF00"/>
                </a:solidFill>
                <a:effectLst>
                  <a:outerShdw blurRad="38100" dist="38100" dir="2700000" algn="tl">
                    <a:srgbClr val="000000"/>
                  </a:outerShdw>
                </a:effectLst>
                <a:latin typeface="Arial" panose="020B0604020202020204" pitchFamily="34" charset="0"/>
              </a:rPr>
              <a:t>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rPr>
              <a:t>1</a:t>
            </a:r>
            <a:r>
              <a:rPr lang="en-GB" altLang="en-US" sz="1700" dirty="0">
                <a:solidFill>
                  <a:srgbClr val="FFFF00"/>
                </a:solidFill>
                <a:effectLst>
                  <a:outerShdw blurRad="38100" dist="38100" dir="2700000" algn="tl">
                    <a:srgbClr val="000000"/>
                  </a:outerShdw>
                </a:effectLst>
                <a:latin typeface="Arial" panose="020B0604020202020204" pitchFamily="34" charset="0"/>
              </a:rPr>
              <a:t> </a:t>
            </a:r>
            <a:r>
              <a:rPr lang="en-GB" altLang="en-US" sz="1700" dirty="0">
                <a:effectLst>
                  <a:outerShdw blurRad="38100" dist="38100" dir="2700000" algn="tl">
                    <a:srgbClr val="000000"/>
                  </a:outerShdw>
                </a:effectLst>
                <a:latin typeface="Arial" panose="020B0604020202020204" pitchFamily="34" charset="0"/>
              </a:rPr>
              <a:t>and ideally contain</a:t>
            </a:r>
            <a:r>
              <a:rPr lang="en-GB" altLang="en-US" sz="1700" dirty="0">
                <a:solidFill>
                  <a:srgbClr val="FFFF00"/>
                </a:solidFill>
                <a:effectLst>
                  <a:outerShdw blurRad="38100" dist="38100" dir="2700000" algn="tl">
                    <a:srgbClr val="000000"/>
                  </a:outerShdw>
                </a:effectLst>
                <a:latin typeface="Arial" panose="020B0604020202020204" pitchFamily="34" charset="0"/>
              </a:rPr>
              <a:t>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rPr>
              <a:t>2</a:t>
            </a:r>
            <a:endParaRPr lang="en-GB" altLang="en-US" sz="1700" dirty="0">
              <a:solidFill>
                <a:srgbClr val="FFFF00"/>
              </a:solidFill>
              <a:effectLst>
                <a:outerShdw blurRad="38100" dist="38100" dir="2700000" algn="tl">
                  <a:srgbClr val="000000"/>
                </a:outerShdw>
              </a:effectLst>
              <a:latin typeface="Arial" panose="020B0604020202020204" pitchFamily="34" charset="0"/>
            </a:endParaRPr>
          </a:p>
        </p:txBody>
      </p:sp>
      <p:sp>
        <p:nvSpPr>
          <p:cNvPr id="234507" name="Text Box 11">
            <a:extLst>
              <a:ext uri="{FF2B5EF4-FFF2-40B4-BE49-F238E27FC236}">
                <a16:creationId xmlns:a16="http://schemas.microsoft.com/office/drawing/2014/main" id="{C3F0D693-5AFC-45C1-B292-1E37A7D1FF87}"/>
              </a:ext>
            </a:extLst>
          </p:cNvPr>
          <p:cNvSpPr txBox="1">
            <a:spLocks noChangeArrowheads="1"/>
          </p:cNvSpPr>
          <p:nvPr/>
        </p:nvSpPr>
        <p:spPr bwMode="auto">
          <a:xfrm>
            <a:off x="122238" y="2560638"/>
            <a:ext cx="2668587" cy="1661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9388" indent="-179388">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folHlink"/>
              </a:buClr>
              <a:buSzPct val="100000"/>
              <a:buFont typeface="Times" panose="02020603050405020304" pitchFamily="18" charset="0"/>
              <a:buChar char="•"/>
            </a:pPr>
            <a:r>
              <a:rPr lang="en-GB" altLang="en-US" sz="1700" dirty="0">
                <a:effectLst/>
                <a:latin typeface="Arial" panose="020B0604020202020204" pitchFamily="34" charset="0"/>
              </a:rPr>
              <a:t>Under tensile conditions this means that the opening direction is parallel to the stretching direction</a:t>
            </a:r>
            <a:endParaRPr lang="en-GB" altLang="en-US" sz="1700" dirty="0">
              <a:effectLst>
                <a:outerShdw blurRad="38100" dist="38100" dir="2700000" algn="tl">
                  <a:srgbClr val="000000"/>
                </a:outerShdw>
              </a:effectLst>
              <a:latin typeface="Arial" panose="020B0604020202020204" pitchFamily="34" charset="0"/>
            </a:endParaRPr>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 2">
            <a:extLst>
              <a:ext uri="{FF2B5EF4-FFF2-40B4-BE49-F238E27FC236}">
                <a16:creationId xmlns:a16="http://schemas.microsoft.com/office/drawing/2014/main" id="{DF143873-E1D4-432E-8514-8A5D48ACD2DE}"/>
              </a:ext>
            </a:extLst>
          </p:cNvPr>
          <p:cNvSpPr>
            <a:spLocks noGrp="1" noChangeArrowheads="1"/>
          </p:cNvSpPr>
          <p:nvPr>
            <p:ph type="title"/>
          </p:nvPr>
        </p:nvSpPr>
        <p:spPr>
          <a:noFill/>
        </p:spPr>
        <p:txBody>
          <a:bodyPr/>
          <a:lstStyle/>
          <a:p>
            <a:r>
              <a:rPr lang="en-GB" altLang="en-US">
                <a:effectLst/>
              </a:rPr>
              <a:t>Shear fractures (in nature)</a:t>
            </a:r>
          </a:p>
        </p:txBody>
      </p:sp>
      <p:sp>
        <p:nvSpPr>
          <p:cNvPr id="287747" name="Rectangle 3">
            <a:extLst>
              <a:ext uri="{FF2B5EF4-FFF2-40B4-BE49-F238E27FC236}">
                <a16:creationId xmlns:a16="http://schemas.microsoft.com/office/drawing/2014/main" id="{396F5B7E-1A09-4F48-8EE5-5A93F2A05CE1}"/>
              </a:ext>
            </a:extLst>
          </p:cNvPr>
          <p:cNvSpPr>
            <a:spLocks noGrp="1" noChangeArrowheads="1"/>
          </p:cNvSpPr>
          <p:nvPr>
            <p:ph type="body" sz="half" idx="1"/>
          </p:nvPr>
        </p:nvSpPr>
        <p:spPr>
          <a:xfrm>
            <a:off x="123825" y="781050"/>
            <a:ext cx="8874125" cy="715963"/>
          </a:xfrm>
          <a:noFill/>
        </p:spPr>
        <p:txBody>
          <a:bodyPr/>
          <a:lstStyle/>
          <a:p>
            <a:pPr marL="177800" indent="-177800">
              <a:spcBef>
                <a:spcPct val="75000"/>
              </a:spcBef>
            </a:pPr>
            <a:r>
              <a:rPr lang="en-GB" altLang="en-US" sz="1700">
                <a:effectLst/>
              </a:rPr>
              <a:t>When displacements are small, shear displacement is implied by </a:t>
            </a:r>
            <a:r>
              <a:rPr lang="en-GB" altLang="en-US" sz="1700">
                <a:solidFill>
                  <a:srgbClr val="FF66CC"/>
                </a:solidFill>
                <a:effectLst/>
              </a:rPr>
              <a:t>en échelon arrays</a:t>
            </a:r>
            <a:r>
              <a:rPr lang="en-GB" altLang="en-US" sz="1700">
                <a:effectLst/>
              </a:rPr>
              <a:t> of </a:t>
            </a:r>
            <a:r>
              <a:rPr lang="en-GB" altLang="en-US" sz="1700">
                <a:solidFill>
                  <a:srgbClr val="FF6600"/>
                </a:solidFill>
                <a:effectLst/>
              </a:rPr>
              <a:t>tension gashes</a:t>
            </a:r>
            <a:r>
              <a:rPr lang="en-GB" altLang="en-US" sz="1700">
                <a:effectLst/>
              </a:rPr>
              <a:t> and </a:t>
            </a:r>
            <a:r>
              <a:rPr lang="en-GB" altLang="en-US" sz="1700">
                <a:solidFill>
                  <a:srgbClr val="FF6600"/>
                </a:solidFill>
                <a:effectLst/>
              </a:rPr>
              <a:t>pinnate fractures</a:t>
            </a:r>
            <a:endParaRPr lang="en-GB" altLang="en-US" sz="1700">
              <a:effectLst/>
            </a:endParaRPr>
          </a:p>
        </p:txBody>
      </p:sp>
      <p:pic>
        <p:nvPicPr>
          <p:cNvPr id="287773" name="Picture 29" descr="ram090">
            <a:extLst>
              <a:ext uri="{FF2B5EF4-FFF2-40B4-BE49-F238E27FC236}">
                <a16:creationId xmlns:a16="http://schemas.microsoft.com/office/drawing/2014/main" id="{F9C55CD9-9AC1-4827-B5E0-DD3D58C1DE39}"/>
              </a:ext>
            </a:extLst>
          </p:cNvPr>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5446713" y="1322388"/>
            <a:ext cx="3275012" cy="253682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87767" name="Text Box 23">
            <a:extLst>
              <a:ext uri="{FF2B5EF4-FFF2-40B4-BE49-F238E27FC236}">
                <a16:creationId xmlns:a16="http://schemas.microsoft.com/office/drawing/2014/main" id="{1CBDA2A0-9355-4392-A8F6-443E8409F1DD}"/>
              </a:ext>
            </a:extLst>
          </p:cNvPr>
          <p:cNvSpPr txBox="1">
            <a:spLocks noChangeArrowheads="1"/>
          </p:cNvSpPr>
          <p:nvPr/>
        </p:nvSpPr>
        <p:spPr bwMode="auto">
          <a:xfrm>
            <a:off x="4484688" y="4008438"/>
            <a:ext cx="4548187" cy="271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9388" indent="-179388">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These arrays often come in </a:t>
            </a:r>
            <a:r>
              <a:rPr lang="en-GB" altLang="en-US" sz="1700" dirty="0">
                <a:solidFill>
                  <a:srgbClr val="FF6600"/>
                </a:solidFill>
                <a:effectLst>
                  <a:outerShdw blurRad="38100" dist="38100" dir="2700000" algn="tl">
                    <a:srgbClr val="000000"/>
                  </a:outerShdw>
                </a:effectLst>
                <a:latin typeface="Arial" panose="020B0604020202020204" pitchFamily="34" charset="0"/>
              </a:rPr>
              <a:t>conjugate pairs</a:t>
            </a:r>
            <a:r>
              <a:rPr lang="en-GB" altLang="en-US" sz="1700" dirty="0">
                <a:effectLst>
                  <a:outerShdw blurRad="38100" dist="38100" dir="2700000" algn="tl">
                    <a:srgbClr val="000000"/>
                  </a:outerShdw>
                </a:effectLst>
                <a:latin typeface="Arial" panose="020B0604020202020204" pitchFamily="34" charset="0"/>
              </a:rPr>
              <a:t> at </a:t>
            </a:r>
            <a:r>
              <a:rPr lang="en-GB" altLang="en-US" sz="1700" dirty="0">
                <a:solidFill>
                  <a:srgbClr val="FF66CC"/>
                </a:solidFill>
                <a:effectLst>
                  <a:outerShdw blurRad="38100" dist="38100" dir="2700000" algn="tl">
                    <a:srgbClr val="000000"/>
                  </a:outerShdw>
                </a:effectLst>
                <a:latin typeface="Arial" panose="020B0604020202020204" pitchFamily="34" charset="0"/>
              </a:rPr>
              <a:t>40°</a:t>
            </a:r>
            <a:r>
              <a:rPr lang="en-GB" altLang="en-US" sz="800" dirty="0">
                <a:solidFill>
                  <a:srgbClr val="FF66CC"/>
                </a:solidFill>
                <a:effectLst>
                  <a:outerShdw blurRad="38100" dist="38100" dir="2700000" algn="tl">
                    <a:srgbClr val="000000"/>
                  </a:outerShdw>
                </a:effectLst>
                <a:latin typeface="Arial" panose="020B0604020202020204" pitchFamily="34" charset="0"/>
              </a:rPr>
              <a:t> </a:t>
            </a:r>
            <a:r>
              <a:rPr lang="en-GB" altLang="en-US" sz="1700" spc="150" dirty="0">
                <a:solidFill>
                  <a:srgbClr val="FF66CC"/>
                </a:solidFill>
                <a:effectLst>
                  <a:outerShdw blurRad="38100" dist="38100" dir="2700000" algn="tl">
                    <a:srgbClr val="000000"/>
                  </a:outerShdw>
                </a:effectLst>
                <a:latin typeface="Arial" panose="020B0604020202020204" pitchFamily="34" charset="0"/>
              </a:rPr>
              <a:t>-</a:t>
            </a:r>
            <a:r>
              <a:rPr lang="en-GB" altLang="en-US" sz="800" dirty="0">
                <a:solidFill>
                  <a:srgbClr val="FF66CC"/>
                </a:solidFill>
                <a:effectLst>
                  <a:outerShdw blurRad="38100" dist="38100" dir="2700000" algn="tl">
                    <a:srgbClr val="000000"/>
                  </a:outerShdw>
                </a:effectLst>
                <a:latin typeface="Arial" panose="020B0604020202020204" pitchFamily="34" charset="0"/>
              </a:rPr>
              <a:t> </a:t>
            </a:r>
            <a:r>
              <a:rPr lang="en-GB" altLang="en-US" sz="1700" dirty="0">
                <a:solidFill>
                  <a:srgbClr val="FF66CC"/>
                </a:solidFill>
                <a:effectLst>
                  <a:outerShdw blurRad="38100" dist="38100" dir="2700000" algn="tl">
                    <a:srgbClr val="000000"/>
                  </a:outerShdw>
                </a:effectLst>
                <a:latin typeface="Arial" panose="020B0604020202020204" pitchFamily="34" charset="0"/>
              </a:rPr>
              <a:t>60°</a:t>
            </a:r>
            <a:r>
              <a:rPr lang="en-GB" altLang="en-US" sz="1700" dirty="0">
                <a:effectLst>
                  <a:outerShdw blurRad="38100" dist="38100" dir="2700000" algn="tl">
                    <a:srgbClr val="000000"/>
                  </a:outerShdw>
                </a:effectLst>
                <a:latin typeface="Arial" panose="020B0604020202020204" pitchFamily="34" charset="0"/>
              </a:rPr>
              <a:t> to each other</a:t>
            </a:r>
          </a:p>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The </a:t>
            </a:r>
            <a:r>
              <a:rPr lang="en-GB" altLang="en-US" sz="1700" dirty="0">
                <a:solidFill>
                  <a:srgbClr val="FF66CC"/>
                </a:solidFill>
                <a:effectLst>
                  <a:outerShdw blurRad="38100" dist="38100" dir="2700000" algn="tl">
                    <a:srgbClr val="000000"/>
                  </a:outerShdw>
                </a:effectLst>
                <a:latin typeface="Arial" panose="020B0604020202020204" pitchFamily="34" charset="0"/>
              </a:rPr>
              <a:t>extensional </a:t>
            </a:r>
            <a:r>
              <a:rPr lang="en-GB" altLang="en-US" sz="1700" dirty="0">
                <a:effectLst>
                  <a:outerShdw blurRad="38100" dist="38100" dir="2700000" algn="tl">
                    <a:srgbClr val="000000"/>
                  </a:outerShdw>
                </a:effectLst>
                <a:latin typeface="Arial" panose="020B0604020202020204" pitchFamily="34" charset="0"/>
              </a:rPr>
              <a:t>nature of the</a:t>
            </a:r>
            <a:r>
              <a:rPr lang="en-GB" altLang="en-US" sz="1700" dirty="0">
                <a:solidFill>
                  <a:srgbClr val="FF66CC"/>
                </a:solidFill>
                <a:effectLst>
                  <a:outerShdw blurRad="38100" dist="38100" dir="2700000" algn="tl">
                    <a:srgbClr val="000000"/>
                  </a:outerShdw>
                </a:effectLst>
                <a:latin typeface="Arial" panose="020B0604020202020204" pitchFamily="34" charset="0"/>
              </a:rPr>
              <a:t> gashes</a:t>
            </a:r>
            <a:r>
              <a:rPr lang="en-GB" altLang="en-US" sz="1700" dirty="0">
                <a:effectLst>
                  <a:outerShdw blurRad="38100" dist="38100" dir="2700000" algn="tl">
                    <a:srgbClr val="000000"/>
                  </a:outerShdw>
                </a:effectLst>
                <a:latin typeface="Arial" panose="020B0604020202020204" pitchFamily="34" charset="0"/>
              </a:rPr>
              <a:t>, and the </a:t>
            </a:r>
            <a:r>
              <a:rPr lang="en-GB" altLang="en-US" sz="1700" dirty="0">
                <a:solidFill>
                  <a:srgbClr val="FF66CC"/>
                </a:solidFill>
                <a:effectLst>
                  <a:outerShdw blurRad="38100" dist="38100" dir="2700000" algn="tl">
                    <a:srgbClr val="000000"/>
                  </a:outerShdw>
                </a:effectLst>
                <a:latin typeface="Arial" panose="020B0604020202020204" pitchFamily="34" charset="0"/>
              </a:rPr>
              <a:t>contractional</a:t>
            </a:r>
            <a:r>
              <a:rPr lang="en-GB" altLang="en-US" sz="1700" dirty="0">
                <a:effectLst>
                  <a:outerShdw blurRad="38100" dist="38100" dir="2700000" algn="tl">
                    <a:srgbClr val="000000"/>
                  </a:outerShdw>
                </a:effectLst>
                <a:latin typeface="Arial" panose="020B0604020202020204" pitchFamily="34" charset="0"/>
              </a:rPr>
              <a:t> nature of the </a:t>
            </a:r>
            <a:r>
              <a:rPr lang="en-GB" altLang="en-US" sz="1700" dirty="0" err="1">
                <a:solidFill>
                  <a:srgbClr val="FF66CC"/>
                </a:solidFill>
                <a:effectLst>
                  <a:outerShdw blurRad="38100" dist="38100" dir="2700000" algn="tl">
                    <a:srgbClr val="000000"/>
                  </a:outerShdw>
                </a:effectLst>
                <a:latin typeface="Arial" panose="020B0604020202020204" pitchFamily="34" charset="0"/>
              </a:rPr>
              <a:t>stylolites</a:t>
            </a:r>
            <a:r>
              <a:rPr lang="en-GB" altLang="en-US" sz="1700" dirty="0">
                <a:solidFill>
                  <a:srgbClr val="FF66CC"/>
                </a:solidFill>
                <a:effectLst>
                  <a:outerShdw blurRad="38100" dist="38100" dir="2700000" algn="tl">
                    <a:srgbClr val="000000"/>
                  </a:outerShdw>
                </a:effectLst>
                <a:latin typeface="Arial" panose="020B0604020202020204" pitchFamily="34" charset="0"/>
              </a:rPr>
              <a:t> </a:t>
            </a:r>
            <a:r>
              <a:rPr lang="en-GB" altLang="en-US" sz="1700" dirty="0">
                <a:effectLst>
                  <a:outerShdw blurRad="38100" dist="38100" dir="2700000" algn="tl">
                    <a:srgbClr val="000000"/>
                  </a:outerShdw>
                </a:effectLst>
                <a:latin typeface="Arial" panose="020B0604020202020204" pitchFamily="34" charset="0"/>
              </a:rPr>
              <a:t>oriented normal to them  </a:t>
            </a:r>
            <a:r>
              <a:rPr lang="en-GB" altLang="en-US" sz="1700" dirty="0">
                <a:effectLst>
                  <a:outerShdw blurRad="38100" dist="38100" dir="2700000" algn="tl">
                    <a:srgbClr val="000000"/>
                  </a:outerShdw>
                </a:effectLst>
                <a:latin typeface="Arial" panose="020B0604020202020204" pitchFamily="34" charset="0"/>
                <a:cs typeface="Arial" panose="020B0604020202020204" pitchFamily="34" charset="0"/>
              </a:rPr>
              <a:t>→  </a:t>
            </a:r>
            <a:r>
              <a:rPr lang="en-GB" altLang="en-US" sz="1700" dirty="0">
                <a:effectLst>
                  <a:outerShdw blurRad="38100" dist="38100" dir="2700000" algn="tl">
                    <a:srgbClr val="000000"/>
                  </a:outerShdw>
                </a:effectLst>
                <a:latin typeface="Arial" panose="020B0604020202020204" pitchFamily="34" charset="0"/>
              </a:rPr>
              <a:t>direction of maximum compressive stress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rPr>
              <a:t>1</a:t>
            </a:r>
            <a:r>
              <a:rPr lang="en-GB" altLang="en-US" sz="800" baseline="-25000" dirty="0">
                <a:solidFill>
                  <a:srgbClr val="FFFF00"/>
                </a:solidFill>
                <a:effectLst>
                  <a:outerShdw blurRad="38100" dist="38100" dir="2700000" algn="tl">
                    <a:srgbClr val="000000"/>
                  </a:outerShdw>
                </a:effectLst>
                <a:latin typeface="Arial" panose="020B0604020202020204" pitchFamily="34" charset="0"/>
              </a:rPr>
              <a:t> </a:t>
            </a:r>
            <a:r>
              <a:rPr lang="en-GB" altLang="en-US" sz="1700" dirty="0">
                <a:effectLst>
                  <a:outerShdw blurRad="38100" dist="38100" dir="2700000" algn="tl">
                    <a:srgbClr val="000000"/>
                  </a:outerShdw>
                </a:effectLst>
                <a:latin typeface="Arial" panose="020B0604020202020204" pitchFamily="34" charset="0"/>
              </a:rPr>
              <a:t>) bisects the acute angle between the conjugate pair and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outerShdw blurRad="38100" dist="38100" dir="2700000" algn="tl">
                    <a:srgbClr val="000000"/>
                  </a:outerShdw>
                </a:effectLst>
                <a:latin typeface="Arial" panose="020B0604020202020204" pitchFamily="34" charset="0"/>
              </a:rPr>
              <a:t>3</a:t>
            </a:r>
            <a:r>
              <a:rPr lang="en-GB" altLang="en-US" sz="1700" dirty="0">
                <a:effectLst>
                  <a:outerShdw blurRad="38100" dist="38100" dir="2700000" algn="tl">
                    <a:srgbClr val="000000"/>
                  </a:outerShdw>
                </a:effectLst>
                <a:latin typeface="Arial" panose="020B0604020202020204" pitchFamily="34" charset="0"/>
              </a:rPr>
              <a:t> bisects the obtuse angle</a:t>
            </a:r>
          </a:p>
        </p:txBody>
      </p:sp>
      <p:sp>
        <p:nvSpPr>
          <p:cNvPr id="287775" name="Line 31">
            <a:extLst>
              <a:ext uri="{FF2B5EF4-FFF2-40B4-BE49-F238E27FC236}">
                <a16:creationId xmlns:a16="http://schemas.microsoft.com/office/drawing/2014/main" id="{69EE442C-FA26-4030-B448-03CFEA790B39}"/>
              </a:ext>
            </a:extLst>
          </p:cNvPr>
          <p:cNvSpPr>
            <a:spLocks noChangeShapeType="1"/>
          </p:cNvSpPr>
          <p:nvPr/>
        </p:nvSpPr>
        <p:spPr bwMode="auto">
          <a:xfrm flipV="1">
            <a:off x="1493838" y="4964113"/>
            <a:ext cx="222250" cy="141287"/>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pic>
        <p:nvPicPr>
          <p:cNvPr id="287779" name="Picture 35" descr="05a2-WAngle">
            <a:extLst>
              <a:ext uri="{FF2B5EF4-FFF2-40B4-BE49-F238E27FC236}">
                <a16:creationId xmlns:a16="http://schemas.microsoft.com/office/drawing/2014/main" id="{5B9755A9-3E29-4761-9FDC-772E7867FFF3}"/>
              </a:ext>
            </a:extLst>
          </p:cNvPr>
          <p:cNvPicPr>
            <a:picLocks noChangeAspect="1" noChangeArrowheads="1"/>
          </p:cNvPicPr>
          <p:nvPr/>
        </p:nvPicPr>
        <p:blipFill>
          <a:blip r:embed="rId4">
            <a:lum bright="-6000"/>
            <a:extLst>
              <a:ext uri="{28A0092B-C50C-407E-A947-70E740481C1C}">
                <a14:useLocalDpi xmlns:a14="http://schemas.microsoft.com/office/drawing/2010/main" val="0"/>
              </a:ext>
            </a:extLst>
          </a:blip>
          <a:srcRect l="7205" t="7704" r="7205" b="9340"/>
          <a:stretch>
            <a:fillRect/>
          </a:stretch>
        </p:blipFill>
        <p:spPr bwMode="auto">
          <a:xfrm>
            <a:off x="215900" y="3963988"/>
            <a:ext cx="4167188" cy="273526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87776" name="Line 32">
            <a:extLst>
              <a:ext uri="{FF2B5EF4-FFF2-40B4-BE49-F238E27FC236}">
                <a16:creationId xmlns:a16="http://schemas.microsoft.com/office/drawing/2014/main" id="{D8676147-E252-4071-905C-497675059CCD}"/>
              </a:ext>
            </a:extLst>
          </p:cNvPr>
          <p:cNvSpPr>
            <a:spLocks noChangeShapeType="1"/>
          </p:cNvSpPr>
          <p:nvPr/>
        </p:nvSpPr>
        <p:spPr bwMode="auto">
          <a:xfrm flipH="1">
            <a:off x="2214563" y="4313238"/>
            <a:ext cx="293687" cy="312737"/>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87777" name="Freeform 33">
            <a:extLst>
              <a:ext uri="{FF2B5EF4-FFF2-40B4-BE49-F238E27FC236}">
                <a16:creationId xmlns:a16="http://schemas.microsoft.com/office/drawing/2014/main" id="{E0D4C012-AB9B-412D-8971-809E3795394D}"/>
              </a:ext>
            </a:extLst>
          </p:cNvPr>
          <p:cNvSpPr>
            <a:spLocks/>
          </p:cNvSpPr>
          <p:nvPr/>
        </p:nvSpPr>
        <p:spPr bwMode="auto">
          <a:xfrm flipH="1">
            <a:off x="1222375" y="5078413"/>
            <a:ext cx="506413" cy="87312"/>
          </a:xfrm>
          <a:custGeom>
            <a:avLst/>
            <a:gdLst>
              <a:gd name="T0" fmla="*/ 0 w 386"/>
              <a:gd name="T1" fmla="*/ 34 h 62"/>
              <a:gd name="T2" fmla="*/ 386 w 386"/>
              <a:gd name="T3" fmla="*/ 62 h 62"/>
              <a:gd name="T4" fmla="*/ 325 w 386"/>
              <a:gd name="T5" fmla="*/ 0 h 62"/>
            </a:gdLst>
            <a:ahLst/>
            <a:cxnLst>
              <a:cxn ang="0">
                <a:pos x="T0" y="T1"/>
              </a:cxn>
              <a:cxn ang="0">
                <a:pos x="T2" y="T3"/>
              </a:cxn>
              <a:cxn ang="0">
                <a:pos x="T4" y="T5"/>
              </a:cxn>
            </a:cxnLst>
            <a:rect l="0" t="0" r="r" b="b"/>
            <a:pathLst>
              <a:path w="386" h="62">
                <a:moveTo>
                  <a:pt x="0" y="34"/>
                </a:moveTo>
                <a:lnTo>
                  <a:pt x="386" y="62"/>
                </a:lnTo>
                <a:lnTo>
                  <a:pt x="325" y="0"/>
                </a:lnTo>
              </a:path>
            </a:pathLst>
          </a:custGeom>
          <a:noFill/>
          <a:ln w="190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87778" name="Freeform 34">
            <a:extLst>
              <a:ext uri="{FF2B5EF4-FFF2-40B4-BE49-F238E27FC236}">
                <a16:creationId xmlns:a16="http://schemas.microsoft.com/office/drawing/2014/main" id="{BD0350D3-B6F7-4F16-BD5B-341BEDE48D6D}"/>
              </a:ext>
            </a:extLst>
          </p:cNvPr>
          <p:cNvSpPr>
            <a:spLocks/>
          </p:cNvSpPr>
          <p:nvPr/>
        </p:nvSpPr>
        <p:spPr bwMode="auto">
          <a:xfrm rot="10800000" flipH="1">
            <a:off x="2501900" y="6165850"/>
            <a:ext cx="506413" cy="87313"/>
          </a:xfrm>
          <a:custGeom>
            <a:avLst/>
            <a:gdLst>
              <a:gd name="T0" fmla="*/ 0 w 386"/>
              <a:gd name="T1" fmla="*/ 34 h 62"/>
              <a:gd name="T2" fmla="*/ 386 w 386"/>
              <a:gd name="T3" fmla="*/ 62 h 62"/>
              <a:gd name="T4" fmla="*/ 325 w 386"/>
              <a:gd name="T5" fmla="*/ 0 h 62"/>
            </a:gdLst>
            <a:ahLst/>
            <a:cxnLst>
              <a:cxn ang="0">
                <a:pos x="T0" y="T1"/>
              </a:cxn>
              <a:cxn ang="0">
                <a:pos x="T2" y="T3"/>
              </a:cxn>
              <a:cxn ang="0">
                <a:pos x="T4" y="T5"/>
              </a:cxn>
            </a:cxnLst>
            <a:rect l="0" t="0" r="r" b="b"/>
            <a:pathLst>
              <a:path w="386" h="62">
                <a:moveTo>
                  <a:pt x="0" y="34"/>
                </a:moveTo>
                <a:lnTo>
                  <a:pt x="386" y="62"/>
                </a:lnTo>
                <a:lnTo>
                  <a:pt x="325" y="0"/>
                </a:lnTo>
              </a:path>
            </a:pathLst>
          </a:custGeom>
          <a:noFill/>
          <a:ln w="190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pic>
        <p:nvPicPr>
          <p:cNvPr id="287781" name="Picture 37" descr="Charnwood">
            <a:extLst>
              <a:ext uri="{FF2B5EF4-FFF2-40B4-BE49-F238E27FC236}">
                <a16:creationId xmlns:a16="http://schemas.microsoft.com/office/drawing/2014/main" id="{C9BCCE6C-9037-406D-93F8-5FCD874D0DF3}"/>
              </a:ext>
            </a:extLst>
          </p:cNvPr>
          <p:cNvPicPr>
            <a:picLocks noGrp="1" noChangeAspect="1" noChangeArrowheads="1"/>
          </p:cNvPicPr>
          <p:nvPr>
            <p:ph sz="quarter" idx="2"/>
          </p:nvPr>
        </p:nvPicPr>
        <p:blipFill>
          <a:blip r:embed="rId5">
            <a:extLst>
              <a:ext uri="{28A0092B-C50C-407E-A947-70E740481C1C}">
                <a14:useLocalDpi xmlns:a14="http://schemas.microsoft.com/office/drawing/2010/main" val="0"/>
              </a:ext>
            </a:extLst>
          </a:blip>
          <a:srcRect/>
          <a:stretch>
            <a:fillRect/>
          </a:stretch>
        </p:blipFill>
        <p:spPr>
          <a:xfrm>
            <a:off x="219075" y="1622425"/>
            <a:ext cx="4830763" cy="211772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87774" name="Text Box 30">
            <a:extLst>
              <a:ext uri="{FF2B5EF4-FFF2-40B4-BE49-F238E27FC236}">
                <a16:creationId xmlns:a16="http://schemas.microsoft.com/office/drawing/2014/main" id="{77E2AD73-A538-4F6A-973D-48948D685B89}"/>
              </a:ext>
            </a:extLst>
          </p:cNvPr>
          <p:cNvSpPr txBox="1">
            <a:spLocks noChangeArrowheads="1"/>
          </p:cNvSpPr>
          <p:nvPr/>
        </p:nvSpPr>
        <p:spPr bwMode="auto">
          <a:xfrm>
            <a:off x="5537200" y="3565525"/>
            <a:ext cx="15621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a:solidFill>
                  <a:srgbClr val="FF0000"/>
                </a:solidFill>
                <a:effectLst/>
                <a:latin typeface="Arial" panose="020B0604020202020204" pitchFamily="34" charset="0"/>
              </a:rPr>
              <a:t>Pinnate fractures</a:t>
            </a:r>
          </a:p>
        </p:txBody>
      </p:sp>
      <p:grpSp>
        <p:nvGrpSpPr>
          <p:cNvPr id="287791" name="Group 47">
            <a:extLst>
              <a:ext uri="{FF2B5EF4-FFF2-40B4-BE49-F238E27FC236}">
                <a16:creationId xmlns:a16="http://schemas.microsoft.com/office/drawing/2014/main" id="{3772B285-B9DE-4190-A9A2-1BAE70873958}"/>
              </a:ext>
            </a:extLst>
          </p:cNvPr>
          <p:cNvGrpSpPr>
            <a:grpSpLocks/>
          </p:cNvGrpSpPr>
          <p:nvPr/>
        </p:nvGrpSpPr>
        <p:grpSpPr bwMode="auto">
          <a:xfrm rot="202024">
            <a:off x="3679825" y="6035675"/>
            <a:ext cx="354013" cy="484188"/>
            <a:chOff x="2283" y="3774"/>
            <a:chExt cx="223" cy="305"/>
          </a:xfrm>
        </p:grpSpPr>
        <p:sp>
          <p:nvSpPr>
            <p:cNvPr id="287785" name="Line 41">
              <a:extLst>
                <a:ext uri="{FF2B5EF4-FFF2-40B4-BE49-F238E27FC236}">
                  <a16:creationId xmlns:a16="http://schemas.microsoft.com/office/drawing/2014/main" id="{DAE2B19A-B23F-4F25-8C82-6338DF15F707}"/>
                </a:ext>
              </a:extLst>
            </p:cNvPr>
            <p:cNvSpPr>
              <a:spLocks noChangeShapeType="1"/>
            </p:cNvSpPr>
            <p:nvPr/>
          </p:nvSpPr>
          <p:spPr bwMode="auto">
            <a:xfrm rot="18480000">
              <a:off x="2259" y="4001"/>
              <a:ext cx="156" cy="0"/>
            </a:xfrm>
            <a:prstGeom prst="line">
              <a:avLst/>
            </a:prstGeom>
            <a:noFill/>
            <a:ln w="1905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87786" name="Line 42">
              <a:extLst>
                <a:ext uri="{FF2B5EF4-FFF2-40B4-BE49-F238E27FC236}">
                  <a16:creationId xmlns:a16="http://schemas.microsoft.com/office/drawing/2014/main" id="{E93055BC-4338-4360-AD59-554240395D13}"/>
                </a:ext>
              </a:extLst>
            </p:cNvPr>
            <p:cNvSpPr>
              <a:spLocks noChangeShapeType="1"/>
            </p:cNvSpPr>
            <p:nvPr/>
          </p:nvSpPr>
          <p:spPr bwMode="auto">
            <a:xfrm rot="2309702">
              <a:off x="2407" y="3975"/>
              <a:ext cx="99" cy="0"/>
            </a:xfrm>
            <a:prstGeom prst="line">
              <a:avLst/>
            </a:prstGeom>
            <a:noFill/>
            <a:ln w="1905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87787" name="Line 43">
              <a:extLst>
                <a:ext uri="{FF2B5EF4-FFF2-40B4-BE49-F238E27FC236}">
                  <a16:creationId xmlns:a16="http://schemas.microsoft.com/office/drawing/2014/main" id="{3E57226F-3DFC-49B1-B479-5C53C0C4A8A2}"/>
                </a:ext>
              </a:extLst>
            </p:cNvPr>
            <p:cNvSpPr>
              <a:spLocks noChangeShapeType="1"/>
            </p:cNvSpPr>
            <p:nvPr/>
          </p:nvSpPr>
          <p:spPr bwMode="auto">
            <a:xfrm rot="13109702">
              <a:off x="2283" y="3877"/>
              <a:ext cx="99" cy="0"/>
            </a:xfrm>
            <a:prstGeom prst="line">
              <a:avLst/>
            </a:prstGeom>
            <a:noFill/>
            <a:ln w="1905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87788" name="Line 44">
              <a:extLst>
                <a:ext uri="{FF2B5EF4-FFF2-40B4-BE49-F238E27FC236}">
                  <a16:creationId xmlns:a16="http://schemas.microsoft.com/office/drawing/2014/main" id="{25DC2C6C-A03C-44CE-8ECB-5AC48ABA1CDC}"/>
                </a:ext>
              </a:extLst>
            </p:cNvPr>
            <p:cNvSpPr>
              <a:spLocks noChangeShapeType="1"/>
            </p:cNvSpPr>
            <p:nvPr/>
          </p:nvSpPr>
          <p:spPr bwMode="auto">
            <a:xfrm rot="7680000">
              <a:off x="2377" y="3852"/>
              <a:ext cx="156" cy="0"/>
            </a:xfrm>
            <a:prstGeom prst="line">
              <a:avLst/>
            </a:prstGeom>
            <a:noFill/>
            <a:ln w="1905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sp>
        <p:nvSpPr>
          <p:cNvPr id="287789" name="Text Box 45">
            <a:extLst>
              <a:ext uri="{FF2B5EF4-FFF2-40B4-BE49-F238E27FC236}">
                <a16:creationId xmlns:a16="http://schemas.microsoft.com/office/drawing/2014/main" id="{3E1FED2E-3500-4499-9BB6-39FC64B78546}"/>
              </a:ext>
            </a:extLst>
          </p:cNvPr>
          <p:cNvSpPr txBox="1">
            <a:spLocks noChangeArrowheads="1"/>
          </p:cNvSpPr>
          <p:nvPr/>
        </p:nvSpPr>
        <p:spPr bwMode="auto">
          <a:xfrm>
            <a:off x="3944938" y="5740400"/>
            <a:ext cx="4683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l-GR" altLang="en-US" i="1" dirty="0">
                <a:solidFill>
                  <a:srgbClr val="FFFF00"/>
                </a:solidFill>
                <a:effectLst/>
                <a:latin typeface="Cambria Math" panose="02040503050406030204" pitchFamily="18" charset="0"/>
                <a:ea typeface="Cambria Math" panose="02040503050406030204" pitchFamily="18" charset="0"/>
              </a:rPr>
              <a:t>σ</a:t>
            </a:r>
            <a:r>
              <a:rPr lang="en-GB" altLang="en-US" baseline="-25000" dirty="0">
                <a:solidFill>
                  <a:srgbClr val="FFFF00"/>
                </a:solidFill>
                <a:effectLst/>
              </a:rPr>
              <a:t>1</a:t>
            </a:r>
            <a:endParaRPr lang="en-GB" altLang="en-US" dirty="0">
              <a:solidFill>
                <a:srgbClr val="FFFF00"/>
              </a:solidFill>
              <a:effectLst/>
            </a:endParaRPr>
          </a:p>
        </p:txBody>
      </p:sp>
      <p:sp>
        <p:nvSpPr>
          <p:cNvPr id="287790" name="Text Box 46">
            <a:extLst>
              <a:ext uri="{FF2B5EF4-FFF2-40B4-BE49-F238E27FC236}">
                <a16:creationId xmlns:a16="http://schemas.microsoft.com/office/drawing/2014/main" id="{C5DD3B8F-F6E8-495E-BA03-C0F2084497C3}"/>
              </a:ext>
            </a:extLst>
          </p:cNvPr>
          <p:cNvSpPr txBox="1">
            <a:spLocks noChangeArrowheads="1"/>
          </p:cNvSpPr>
          <p:nvPr/>
        </p:nvSpPr>
        <p:spPr bwMode="auto">
          <a:xfrm>
            <a:off x="3962400" y="6256338"/>
            <a:ext cx="4683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l-GR" altLang="en-US" i="1" dirty="0">
                <a:solidFill>
                  <a:srgbClr val="FFFF00"/>
                </a:solidFill>
                <a:effectLst/>
                <a:latin typeface="Cambria Math" panose="02040503050406030204" pitchFamily="18" charset="0"/>
                <a:ea typeface="Cambria Math" panose="02040503050406030204" pitchFamily="18" charset="0"/>
              </a:rPr>
              <a:t>σ</a:t>
            </a:r>
            <a:r>
              <a:rPr lang="en-GB" altLang="en-US" baseline="-25000" dirty="0">
                <a:solidFill>
                  <a:srgbClr val="FFFF00"/>
                </a:solidFill>
                <a:effectLst/>
              </a:rPr>
              <a:t>3</a:t>
            </a:r>
            <a:endParaRPr lang="en-GB" altLang="en-US" dirty="0">
              <a:solidFill>
                <a:srgbClr val="FFFF00"/>
              </a:solidFill>
              <a:effectLst/>
            </a:endParaRPr>
          </a:p>
        </p:txBody>
      </p:sp>
      <p:sp>
        <p:nvSpPr>
          <p:cNvPr id="287792" name="Freeform 48">
            <a:extLst>
              <a:ext uri="{FF2B5EF4-FFF2-40B4-BE49-F238E27FC236}">
                <a16:creationId xmlns:a16="http://schemas.microsoft.com/office/drawing/2014/main" id="{B60D7741-B870-4C24-A651-0BB4D1237C6C}"/>
              </a:ext>
            </a:extLst>
          </p:cNvPr>
          <p:cNvSpPr>
            <a:spLocks/>
          </p:cNvSpPr>
          <p:nvPr/>
        </p:nvSpPr>
        <p:spPr bwMode="auto">
          <a:xfrm>
            <a:off x="1328738" y="1933575"/>
            <a:ext cx="520700" cy="103188"/>
          </a:xfrm>
          <a:custGeom>
            <a:avLst/>
            <a:gdLst>
              <a:gd name="T0" fmla="*/ 0 w 328"/>
              <a:gd name="T1" fmla="*/ 65 h 65"/>
              <a:gd name="T2" fmla="*/ 328 w 328"/>
              <a:gd name="T3" fmla="*/ 65 h 65"/>
              <a:gd name="T4" fmla="*/ 256 w 328"/>
              <a:gd name="T5" fmla="*/ 0 h 65"/>
            </a:gdLst>
            <a:ahLst/>
            <a:cxnLst>
              <a:cxn ang="0">
                <a:pos x="T0" y="T1"/>
              </a:cxn>
              <a:cxn ang="0">
                <a:pos x="T2" y="T3"/>
              </a:cxn>
              <a:cxn ang="0">
                <a:pos x="T4" y="T5"/>
              </a:cxn>
            </a:cxnLst>
            <a:rect l="0" t="0" r="r" b="b"/>
            <a:pathLst>
              <a:path w="328" h="65">
                <a:moveTo>
                  <a:pt x="0" y="65"/>
                </a:moveTo>
                <a:cubicBezTo>
                  <a:pt x="109" y="65"/>
                  <a:pt x="219" y="65"/>
                  <a:pt x="328" y="65"/>
                </a:cubicBezTo>
                <a:lnTo>
                  <a:pt x="256" y="0"/>
                </a:lnTo>
              </a:path>
            </a:pathLst>
          </a:custGeom>
          <a:noFill/>
          <a:ln w="190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nvGrpSpPr>
          <p:cNvPr id="287793" name="Group 49">
            <a:extLst>
              <a:ext uri="{FF2B5EF4-FFF2-40B4-BE49-F238E27FC236}">
                <a16:creationId xmlns:a16="http://schemas.microsoft.com/office/drawing/2014/main" id="{8809B505-361E-42BA-B81D-6D7934068092}"/>
              </a:ext>
            </a:extLst>
          </p:cNvPr>
          <p:cNvGrpSpPr>
            <a:grpSpLocks/>
          </p:cNvGrpSpPr>
          <p:nvPr/>
        </p:nvGrpSpPr>
        <p:grpSpPr bwMode="auto">
          <a:xfrm rot="16200000">
            <a:off x="4298951" y="1844675"/>
            <a:ext cx="354012" cy="484187"/>
            <a:chOff x="2283" y="3774"/>
            <a:chExt cx="223" cy="305"/>
          </a:xfrm>
        </p:grpSpPr>
        <p:sp>
          <p:nvSpPr>
            <p:cNvPr id="287794" name="Line 50">
              <a:extLst>
                <a:ext uri="{FF2B5EF4-FFF2-40B4-BE49-F238E27FC236}">
                  <a16:creationId xmlns:a16="http://schemas.microsoft.com/office/drawing/2014/main" id="{723C7C0C-16E8-480D-86B7-CD1FF00B60F8}"/>
                </a:ext>
              </a:extLst>
            </p:cNvPr>
            <p:cNvSpPr>
              <a:spLocks noChangeShapeType="1"/>
            </p:cNvSpPr>
            <p:nvPr/>
          </p:nvSpPr>
          <p:spPr bwMode="auto">
            <a:xfrm rot="18480000">
              <a:off x="2259" y="4001"/>
              <a:ext cx="156" cy="0"/>
            </a:xfrm>
            <a:prstGeom prst="line">
              <a:avLst/>
            </a:prstGeom>
            <a:noFill/>
            <a:ln w="1905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87795" name="Line 51">
              <a:extLst>
                <a:ext uri="{FF2B5EF4-FFF2-40B4-BE49-F238E27FC236}">
                  <a16:creationId xmlns:a16="http://schemas.microsoft.com/office/drawing/2014/main" id="{A27BF6C2-D10C-4BC8-91FA-9B3DAA8325CB}"/>
                </a:ext>
              </a:extLst>
            </p:cNvPr>
            <p:cNvSpPr>
              <a:spLocks noChangeShapeType="1"/>
            </p:cNvSpPr>
            <p:nvPr/>
          </p:nvSpPr>
          <p:spPr bwMode="auto">
            <a:xfrm rot="2309702">
              <a:off x="2407" y="3975"/>
              <a:ext cx="99" cy="0"/>
            </a:xfrm>
            <a:prstGeom prst="line">
              <a:avLst/>
            </a:prstGeom>
            <a:noFill/>
            <a:ln w="1905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87796" name="Line 52">
              <a:extLst>
                <a:ext uri="{FF2B5EF4-FFF2-40B4-BE49-F238E27FC236}">
                  <a16:creationId xmlns:a16="http://schemas.microsoft.com/office/drawing/2014/main" id="{0A9CDCED-3633-4C6F-8BB8-E2A1DA807628}"/>
                </a:ext>
              </a:extLst>
            </p:cNvPr>
            <p:cNvSpPr>
              <a:spLocks noChangeShapeType="1"/>
            </p:cNvSpPr>
            <p:nvPr/>
          </p:nvSpPr>
          <p:spPr bwMode="auto">
            <a:xfrm rot="13109702">
              <a:off x="2283" y="3877"/>
              <a:ext cx="99" cy="0"/>
            </a:xfrm>
            <a:prstGeom prst="line">
              <a:avLst/>
            </a:prstGeom>
            <a:noFill/>
            <a:ln w="1905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87797" name="Line 53">
              <a:extLst>
                <a:ext uri="{FF2B5EF4-FFF2-40B4-BE49-F238E27FC236}">
                  <a16:creationId xmlns:a16="http://schemas.microsoft.com/office/drawing/2014/main" id="{65319200-1A2C-4B00-BE26-54583B09229C}"/>
                </a:ext>
              </a:extLst>
            </p:cNvPr>
            <p:cNvSpPr>
              <a:spLocks noChangeShapeType="1"/>
            </p:cNvSpPr>
            <p:nvPr/>
          </p:nvSpPr>
          <p:spPr bwMode="auto">
            <a:xfrm rot="7680000">
              <a:off x="2377" y="3852"/>
              <a:ext cx="156" cy="0"/>
            </a:xfrm>
            <a:prstGeom prst="line">
              <a:avLst/>
            </a:prstGeom>
            <a:noFill/>
            <a:ln w="1905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sp>
        <p:nvSpPr>
          <p:cNvPr id="287798" name="Text Box 54">
            <a:extLst>
              <a:ext uri="{FF2B5EF4-FFF2-40B4-BE49-F238E27FC236}">
                <a16:creationId xmlns:a16="http://schemas.microsoft.com/office/drawing/2014/main" id="{0BC3F952-7A90-4491-8E59-295802A02A59}"/>
              </a:ext>
            </a:extLst>
          </p:cNvPr>
          <p:cNvSpPr txBox="1">
            <a:spLocks noChangeArrowheads="1"/>
          </p:cNvSpPr>
          <p:nvPr/>
        </p:nvSpPr>
        <p:spPr bwMode="auto">
          <a:xfrm>
            <a:off x="4624388" y="2119313"/>
            <a:ext cx="4683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i="1">
                <a:solidFill>
                  <a:srgbClr val="FFFF00"/>
                </a:solidFill>
                <a:effectLst/>
                <a:latin typeface="Symbol" panose="05050102010706020507" pitchFamily="18" charset="2"/>
              </a:rPr>
              <a:t>s</a:t>
            </a:r>
            <a:r>
              <a:rPr lang="en-GB" altLang="en-US" baseline="-25000">
                <a:solidFill>
                  <a:srgbClr val="FFFF00"/>
                </a:solidFill>
                <a:effectLst/>
              </a:rPr>
              <a:t>1</a:t>
            </a:r>
            <a:endParaRPr lang="en-GB" altLang="en-US">
              <a:solidFill>
                <a:srgbClr val="FFFF00"/>
              </a:solidFill>
              <a:effectLst/>
            </a:endParaRPr>
          </a:p>
        </p:txBody>
      </p:sp>
      <p:sp>
        <p:nvSpPr>
          <p:cNvPr id="287799" name="Text Box 55">
            <a:extLst>
              <a:ext uri="{FF2B5EF4-FFF2-40B4-BE49-F238E27FC236}">
                <a16:creationId xmlns:a16="http://schemas.microsoft.com/office/drawing/2014/main" id="{F7F42E50-DD52-40BC-B181-E4001177F1A1}"/>
              </a:ext>
            </a:extLst>
          </p:cNvPr>
          <p:cNvSpPr txBox="1">
            <a:spLocks noChangeArrowheads="1"/>
          </p:cNvSpPr>
          <p:nvPr/>
        </p:nvSpPr>
        <p:spPr bwMode="auto">
          <a:xfrm>
            <a:off x="4467225" y="1617663"/>
            <a:ext cx="4683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i="1">
                <a:solidFill>
                  <a:srgbClr val="FFFF00"/>
                </a:solidFill>
                <a:effectLst/>
                <a:latin typeface="Symbol" panose="05050102010706020507" pitchFamily="18" charset="2"/>
              </a:rPr>
              <a:t>s</a:t>
            </a:r>
            <a:r>
              <a:rPr lang="en-GB" altLang="en-US" baseline="-25000">
                <a:solidFill>
                  <a:srgbClr val="FFFF00"/>
                </a:solidFill>
                <a:effectLst/>
              </a:rPr>
              <a:t>3</a:t>
            </a:r>
            <a:endParaRPr lang="en-GB" altLang="en-US">
              <a:solidFill>
                <a:srgbClr val="FFFF00"/>
              </a:solidFill>
              <a:effectLst/>
            </a:endParaRPr>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25" name="Rectangle 17">
            <a:extLst>
              <a:ext uri="{FF2B5EF4-FFF2-40B4-BE49-F238E27FC236}">
                <a16:creationId xmlns:a16="http://schemas.microsoft.com/office/drawing/2014/main" id="{1BB146C3-DDDB-4411-84F9-E54765067FC2}"/>
              </a:ext>
            </a:extLst>
          </p:cNvPr>
          <p:cNvSpPr>
            <a:spLocks noChangeArrowheads="1"/>
          </p:cNvSpPr>
          <p:nvPr/>
        </p:nvSpPr>
        <p:spPr bwMode="auto">
          <a:xfrm>
            <a:off x="5962650" y="895350"/>
            <a:ext cx="2792413" cy="3054350"/>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5810" name="Rectangle 2">
            <a:extLst>
              <a:ext uri="{FF2B5EF4-FFF2-40B4-BE49-F238E27FC236}">
                <a16:creationId xmlns:a16="http://schemas.microsoft.com/office/drawing/2014/main" id="{7553336E-CCE1-4678-BE43-83D8FC16AEED}"/>
              </a:ext>
            </a:extLst>
          </p:cNvPr>
          <p:cNvSpPr>
            <a:spLocks noGrp="1" noChangeArrowheads="1"/>
          </p:cNvSpPr>
          <p:nvPr>
            <p:ph type="title" sz="quarter"/>
          </p:nvPr>
        </p:nvSpPr>
        <p:spPr>
          <a:noFill/>
        </p:spPr>
        <p:txBody>
          <a:bodyPr/>
          <a:lstStyle/>
          <a:p>
            <a:r>
              <a:rPr lang="en-GB" altLang="en-US">
                <a:effectLst/>
              </a:rPr>
              <a:t>Shear fractures (in nature)  2</a:t>
            </a:r>
          </a:p>
        </p:txBody>
      </p:sp>
      <p:pic>
        <p:nvPicPr>
          <p:cNvPr id="375821" name="Picture 13" descr="05b3">
            <a:extLst>
              <a:ext uri="{FF2B5EF4-FFF2-40B4-BE49-F238E27FC236}">
                <a16:creationId xmlns:a16="http://schemas.microsoft.com/office/drawing/2014/main" id="{11520973-8927-4EA9-957C-DB8AA898AD01}"/>
              </a:ext>
            </a:extLst>
          </p:cNvPr>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6043613" y="960438"/>
            <a:ext cx="2584450" cy="2889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75816" name="Text Box 8">
            <a:extLst>
              <a:ext uri="{FF2B5EF4-FFF2-40B4-BE49-F238E27FC236}">
                <a16:creationId xmlns:a16="http://schemas.microsoft.com/office/drawing/2014/main" id="{4228BAC5-24EA-4178-A1F8-5EE48631865A}"/>
              </a:ext>
            </a:extLst>
          </p:cNvPr>
          <p:cNvSpPr txBox="1">
            <a:spLocks noChangeArrowheads="1"/>
          </p:cNvSpPr>
          <p:nvPr/>
        </p:nvSpPr>
        <p:spPr bwMode="auto">
          <a:xfrm>
            <a:off x="114300" y="793750"/>
            <a:ext cx="5611813" cy="2465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9388" indent="-179388">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In real conjugate vein arrays, the orientation of the veins </a:t>
            </a:r>
            <a:r>
              <a:rPr lang="en-GB" altLang="en-US" sz="1700" dirty="0">
                <a:solidFill>
                  <a:srgbClr val="FF66CC"/>
                </a:solidFill>
                <a:effectLst>
                  <a:outerShdw blurRad="38100" dist="38100" dir="2700000" algn="tl">
                    <a:srgbClr val="000000"/>
                  </a:outerShdw>
                </a:effectLst>
                <a:latin typeface="Arial" panose="020B0604020202020204" pitchFamily="34" charset="0"/>
              </a:rPr>
              <a:t>deviates from the ideal arrangement</a:t>
            </a:r>
            <a:r>
              <a:rPr lang="en-GB" altLang="en-US" sz="1700" dirty="0">
                <a:effectLst>
                  <a:outerShdw blurRad="38100" dist="38100" dir="2700000" algn="tl">
                    <a:srgbClr val="000000"/>
                  </a:outerShdw>
                </a:effectLst>
                <a:latin typeface="Arial" panose="020B0604020202020204" pitchFamily="34" charset="0"/>
              </a:rPr>
              <a:t> in which the veins in each array are parallel to each other and to the bisecting plane (Type 2)</a:t>
            </a:r>
          </a:p>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The geometry of arrays may be defined in terms of </a:t>
            </a:r>
            <a:r>
              <a:rPr lang="en-GB" altLang="en-US" sz="1700" dirty="0">
                <a:solidFill>
                  <a:srgbClr val="FF66CC"/>
                </a:solidFill>
                <a:effectLst>
                  <a:outerShdw blurRad="38100" dist="38100" dir="2700000" algn="tl">
                    <a:srgbClr val="000000"/>
                  </a:outerShdw>
                </a:effectLst>
                <a:latin typeface="Arial" panose="020B0604020202020204" pitchFamily="34" charset="0"/>
              </a:rPr>
              <a:t>three angles</a:t>
            </a:r>
            <a:r>
              <a:rPr lang="en-GB" altLang="en-US" sz="1700" dirty="0">
                <a:effectLst>
                  <a:outerShdw blurRad="38100" dist="38100" dir="2700000" algn="tl">
                    <a:srgbClr val="000000"/>
                  </a:outerShdw>
                </a:effectLst>
                <a:latin typeface="Arial" panose="020B0604020202020204" pitchFamily="34" charset="0"/>
              </a:rPr>
              <a:t>,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θ</a:t>
            </a:r>
            <a:r>
              <a:rPr lang="en-GB" altLang="en-US" sz="1700" dirty="0">
                <a:effectLst>
                  <a:outerShdw blurRad="38100" dist="38100" dir="2700000" algn="tl">
                    <a:srgbClr val="000000"/>
                  </a:outerShdw>
                </a:effectLst>
                <a:latin typeface="Arial" panose="020B0604020202020204" pitchFamily="34" charset="0"/>
              </a:rPr>
              <a:t>,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ψ</a:t>
            </a:r>
            <a:r>
              <a:rPr lang="en-GB" altLang="en-US" sz="1700" dirty="0">
                <a:effectLst>
                  <a:outerShdw blurRad="38100" dist="38100" dir="2700000" algn="tl">
                    <a:srgbClr val="000000"/>
                  </a:outerShdw>
                </a:effectLst>
                <a:latin typeface="Arial" panose="020B0604020202020204" pitchFamily="34" charset="0"/>
              </a:rPr>
              <a:t>, and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δ</a:t>
            </a:r>
            <a:r>
              <a:rPr lang="en-GB" altLang="en-US" sz="1700" dirty="0">
                <a:effectLst>
                  <a:outerShdw blurRad="38100" dist="38100" dir="2700000" algn="tl">
                    <a:srgbClr val="000000"/>
                  </a:outerShdw>
                </a:effectLst>
                <a:latin typeface="Arial" panose="020B0604020202020204" pitchFamily="34" charset="0"/>
              </a:rPr>
              <a:t>, where for convergent arrays</a:t>
            </a:r>
          </a:p>
          <a:p>
            <a:pPr algn="ctr">
              <a:lnSpc>
                <a:spcPct val="120000"/>
              </a:lnSpc>
              <a:spcBef>
                <a:spcPct val="25000"/>
              </a:spcBef>
              <a:buClr>
                <a:schemeClr val="tx1"/>
              </a:buClr>
            </a:pPr>
            <a:r>
              <a:rPr lang="en-GB" altLang="en-US" sz="1700" dirty="0">
                <a:solidFill>
                  <a:srgbClr val="FFFF00"/>
                </a:solidFill>
                <a:effectLst>
                  <a:outerShdw blurRad="38100" dist="38100" dir="2700000" algn="tl">
                    <a:srgbClr val="000000"/>
                  </a:outerShdw>
                </a:effectLst>
                <a:latin typeface="Arial" panose="020B0604020202020204" pitchFamily="34" charset="0"/>
              </a:rPr>
              <a:t>(</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θ</a:t>
            </a:r>
            <a:r>
              <a:rPr lang="en-GB" altLang="en-US" sz="1700" i="1" dirty="0">
                <a:solidFill>
                  <a:srgbClr val="FFFF00"/>
                </a:solidFill>
                <a:effectLst>
                  <a:outerShdw blurRad="38100" dist="38100" dir="2700000" algn="tl">
                    <a:srgbClr val="000000"/>
                  </a:outerShdw>
                </a:effectLst>
                <a:latin typeface="Symbol" panose="05050102010706020507" pitchFamily="18" charset="2"/>
              </a:rPr>
              <a:t> </a:t>
            </a:r>
            <a:r>
              <a:rPr lang="en-GB" altLang="en-US" sz="1700" dirty="0">
                <a:solidFill>
                  <a:srgbClr val="FFFF00"/>
                </a:solidFill>
                <a:effectLst>
                  <a:outerShdw blurRad="38100" dist="38100" dir="2700000" algn="tl">
                    <a:srgbClr val="000000"/>
                  </a:outerShdw>
                </a:effectLst>
                <a:latin typeface="Arial" panose="020B0604020202020204" pitchFamily="34" charset="0"/>
              </a:rPr>
              <a:t>/</a:t>
            </a:r>
            <a:r>
              <a:rPr lang="en-GB" altLang="en-US" sz="800" dirty="0">
                <a:solidFill>
                  <a:srgbClr val="FFFF00"/>
                </a:solidFill>
                <a:effectLst>
                  <a:outerShdw blurRad="38100" dist="38100" dir="2700000" algn="tl">
                    <a:srgbClr val="000000"/>
                  </a:outerShdw>
                </a:effectLst>
                <a:latin typeface="Arial" panose="020B0604020202020204" pitchFamily="34" charset="0"/>
              </a:rPr>
              <a:t> </a:t>
            </a:r>
            <a:r>
              <a:rPr lang="en-GB" altLang="en-US" sz="1700" dirty="0">
                <a:solidFill>
                  <a:srgbClr val="FFFF00"/>
                </a:solidFill>
                <a:effectLst>
                  <a:outerShdw blurRad="38100" dist="38100" dir="2700000" algn="tl">
                    <a:srgbClr val="000000"/>
                  </a:outerShdw>
                </a:effectLst>
                <a:latin typeface="Arial" panose="020B0604020202020204" pitchFamily="34" charset="0"/>
              </a:rPr>
              <a:t>2)  +  (</a:t>
            </a:r>
            <a:r>
              <a:rPr lang="en-GB" altLang="en-US" sz="800" dirty="0">
                <a:solidFill>
                  <a:srgbClr val="FFFF00"/>
                </a:solidFill>
                <a:effectLst>
                  <a:outerShdw blurRad="38100" dist="38100" dir="2700000" algn="tl">
                    <a:srgbClr val="000000"/>
                  </a:outerShdw>
                </a:effectLst>
                <a:latin typeface="Arial" panose="020B0604020202020204" pitchFamily="34" charset="0"/>
              </a:rPr>
              <a:t> </a:t>
            </a:r>
            <a:r>
              <a:rPr lang="en-GB" altLang="en-US" sz="1700" dirty="0">
                <a:solidFill>
                  <a:srgbClr val="FFFF00"/>
                </a:solidFill>
                <a:effectLst>
                  <a:outerShdw blurRad="38100" dist="38100" dir="2700000" algn="tl">
                    <a:srgbClr val="000000"/>
                  </a:outerShdw>
                </a:effectLst>
                <a:latin typeface="Arial" panose="020B0604020202020204" pitchFamily="34" charset="0"/>
              </a:rPr>
              <a:t>90° -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δ</a:t>
            </a:r>
            <a:r>
              <a:rPr lang="en-GB" altLang="en-US" sz="1700" i="1" dirty="0">
                <a:solidFill>
                  <a:srgbClr val="FFFF00"/>
                </a:solidFill>
                <a:effectLst>
                  <a:outerShdw blurRad="38100" dist="38100" dir="2700000" algn="tl">
                    <a:srgbClr val="000000"/>
                  </a:outerShdw>
                </a:effectLst>
                <a:latin typeface="Symbol" panose="05050102010706020507" pitchFamily="18" charset="2"/>
              </a:rPr>
              <a:t> </a:t>
            </a:r>
            <a:r>
              <a:rPr lang="en-GB" altLang="en-US" sz="1700" dirty="0">
                <a:solidFill>
                  <a:srgbClr val="FFFF00"/>
                </a:solidFill>
                <a:effectLst>
                  <a:outerShdw blurRad="38100" dist="38100" dir="2700000" algn="tl">
                    <a:srgbClr val="000000"/>
                  </a:outerShdw>
                </a:effectLst>
                <a:latin typeface="Arial" panose="020B0604020202020204" pitchFamily="34" charset="0"/>
              </a:rPr>
              <a:t>)  +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ψ</a:t>
            </a:r>
            <a:r>
              <a:rPr lang="en-GB" altLang="en-US" sz="1700" i="1" dirty="0">
                <a:solidFill>
                  <a:srgbClr val="FFFF00"/>
                </a:solidFill>
                <a:effectLst>
                  <a:outerShdw blurRad="38100" dist="38100" dir="2700000" algn="tl">
                    <a:srgbClr val="000000"/>
                  </a:outerShdw>
                </a:effectLst>
                <a:latin typeface="Symbol" panose="05050102010706020507" pitchFamily="18" charset="2"/>
              </a:rPr>
              <a:t> </a:t>
            </a:r>
            <a:r>
              <a:rPr lang="en-GB" altLang="en-US" sz="1700" dirty="0">
                <a:solidFill>
                  <a:srgbClr val="FFFF00"/>
                </a:solidFill>
                <a:effectLst>
                  <a:outerShdw blurRad="38100" dist="38100" dir="2700000" algn="tl">
                    <a:srgbClr val="000000"/>
                  </a:outerShdw>
                </a:effectLst>
                <a:latin typeface="Arial" panose="020B0604020202020204" pitchFamily="34" charset="0"/>
              </a:rPr>
              <a:t>/</a:t>
            </a:r>
            <a:r>
              <a:rPr lang="en-GB" altLang="en-US" sz="800" dirty="0">
                <a:solidFill>
                  <a:srgbClr val="FFFF00"/>
                </a:solidFill>
                <a:effectLst>
                  <a:outerShdw blurRad="38100" dist="38100" dir="2700000" algn="tl">
                    <a:srgbClr val="000000"/>
                  </a:outerShdw>
                </a:effectLst>
                <a:latin typeface="Arial" panose="020B0604020202020204" pitchFamily="34" charset="0"/>
              </a:rPr>
              <a:t> </a:t>
            </a:r>
            <a:r>
              <a:rPr lang="en-GB" altLang="en-US" sz="1700" dirty="0">
                <a:solidFill>
                  <a:srgbClr val="FFFF00"/>
                </a:solidFill>
                <a:effectLst>
                  <a:outerShdw blurRad="38100" dist="38100" dir="2700000" algn="tl">
                    <a:srgbClr val="000000"/>
                  </a:outerShdw>
                </a:effectLst>
                <a:latin typeface="Arial" panose="020B0604020202020204" pitchFamily="34" charset="0"/>
              </a:rPr>
              <a:t>2)  =  90°</a:t>
            </a:r>
            <a:endParaRPr lang="en-GB" altLang="en-US" sz="1700" dirty="0">
              <a:solidFill>
                <a:srgbClr val="FFFF00"/>
              </a:solidFill>
              <a:effectLst>
                <a:outerShdw blurRad="38100" dist="38100" dir="2700000" algn="tl">
                  <a:srgbClr val="000000"/>
                </a:outerShdw>
              </a:effectLst>
              <a:latin typeface="Arial" panose="020B0604020202020204" pitchFamily="34" charset="0"/>
              <a:cs typeface="Arial" panose="020B0604020202020204" pitchFamily="34" charset="0"/>
            </a:endParaRPr>
          </a:p>
        </p:txBody>
      </p:sp>
      <p:pic>
        <p:nvPicPr>
          <p:cNvPr id="375823" name="Picture 15" descr="05b4">
            <a:extLst>
              <a:ext uri="{FF2B5EF4-FFF2-40B4-BE49-F238E27FC236}">
                <a16:creationId xmlns:a16="http://schemas.microsoft.com/office/drawing/2014/main" id="{53FFE413-17B6-4DCE-B78C-5E48AE3FDFD3}"/>
              </a:ext>
            </a:extLst>
          </p:cNvPr>
          <p:cNvPicPr>
            <a:picLocks noGrp="1" noChangeAspect="1" noChangeArrowheads="1"/>
          </p:cNvPicPr>
          <p:nvPr>
            <p:ph sz="quarter" idx="4"/>
          </p:nvPr>
        </p:nvPicPr>
        <p:blipFill>
          <a:blip r:embed="rId4">
            <a:extLst>
              <a:ext uri="{28A0092B-C50C-407E-A947-70E740481C1C}">
                <a14:useLocalDpi xmlns:a14="http://schemas.microsoft.com/office/drawing/2010/main" val="0"/>
              </a:ext>
            </a:extLst>
          </a:blip>
          <a:srcRect/>
          <a:stretch>
            <a:fillRect/>
          </a:stretch>
        </p:blipFill>
        <p:spPr>
          <a:xfrm>
            <a:off x="5754688" y="4113213"/>
            <a:ext cx="3178175" cy="2563812"/>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75827" name="Text Box 19">
            <a:extLst>
              <a:ext uri="{FF2B5EF4-FFF2-40B4-BE49-F238E27FC236}">
                <a16:creationId xmlns:a16="http://schemas.microsoft.com/office/drawing/2014/main" id="{A5E47DB7-E290-4174-9684-B55026A9BA35}"/>
              </a:ext>
            </a:extLst>
          </p:cNvPr>
          <p:cNvSpPr txBox="1">
            <a:spLocks noChangeArrowheads="1"/>
          </p:cNvSpPr>
          <p:nvPr/>
        </p:nvSpPr>
        <p:spPr bwMode="auto">
          <a:xfrm>
            <a:off x="125413" y="3432175"/>
            <a:ext cx="2655887" cy="271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4625" indent="-174625">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solidFill>
                  <a:srgbClr val="FF66CC"/>
                </a:solidFill>
                <a:effectLst>
                  <a:outerShdw blurRad="38100" dist="38100" dir="2700000" algn="tl">
                    <a:srgbClr val="000000"/>
                  </a:outerShdw>
                </a:effectLst>
                <a:latin typeface="Arial" panose="020B0604020202020204" pitchFamily="34" charset="0"/>
              </a:rPr>
              <a:t>All natural arrays</a:t>
            </a:r>
            <a:r>
              <a:rPr lang="en-GB" altLang="en-US" sz="1700" dirty="0">
                <a:effectLst>
                  <a:outerShdw blurRad="38100" dist="38100" dir="2700000" algn="tl">
                    <a:srgbClr val="000000"/>
                  </a:outerShdw>
                </a:effectLst>
                <a:latin typeface="Arial" panose="020B0604020202020204" pitchFamily="34" charset="0"/>
              </a:rPr>
              <a:t> have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θ</a:t>
            </a:r>
            <a:r>
              <a:rPr lang="en-GB" altLang="en-US" sz="1700" dirty="0">
                <a:solidFill>
                  <a:srgbClr val="FFFF00"/>
                </a:solidFill>
                <a:effectLst>
                  <a:outerShdw blurRad="38100" dist="38100" dir="2700000" algn="tl">
                    <a:srgbClr val="000000"/>
                  </a:outerShdw>
                </a:effectLst>
                <a:latin typeface="Arial" panose="020B0604020202020204" pitchFamily="34" charset="0"/>
              </a:rPr>
              <a:t>  ≤ 90°</a:t>
            </a:r>
            <a:r>
              <a:rPr lang="en-GB" altLang="en-US" sz="1700" dirty="0">
                <a:effectLst>
                  <a:outerShdw blurRad="38100" dist="38100" dir="2700000" algn="tl">
                    <a:srgbClr val="000000"/>
                  </a:outerShdw>
                </a:effectLst>
                <a:latin typeface="Arial" panose="020B0604020202020204" pitchFamily="34" charset="0"/>
              </a:rPr>
              <a:t> and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ψ</a:t>
            </a:r>
            <a:r>
              <a:rPr lang="en-GB" altLang="en-US" sz="1700" i="1" dirty="0">
                <a:solidFill>
                  <a:srgbClr val="FFFF00"/>
                </a:solidFill>
                <a:effectLst>
                  <a:outerShdw blurRad="38100" dist="38100" dir="2700000" algn="tl">
                    <a:srgbClr val="000000"/>
                  </a:outerShdw>
                </a:effectLst>
                <a:latin typeface="Arial" panose="020B0604020202020204" pitchFamily="34" charset="0"/>
              </a:rPr>
              <a:t> </a:t>
            </a:r>
            <a:r>
              <a:rPr lang="en-GB" altLang="en-US" sz="1700" dirty="0">
                <a:solidFill>
                  <a:srgbClr val="FFFF00"/>
                </a:solidFill>
                <a:effectLst>
                  <a:outerShdw blurRad="38100" dist="38100" dir="2700000" algn="tl">
                    <a:srgbClr val="000000"/>
                  </a:outerShdw>
                </a:effectLst>
                <a:latin typeface="Arial" panose="020B0604020202020204" pitchFamily="34" charset="0"/>
              </a:rPr>
              <a:t> ≤ 90°</a:t>
            </a:r>
            <a:r>
              <a:rPr lang="en-GB" altLang="en-US" sz="1700" dirty="0">
                <a:effectLst>
                  <a:outerShdw blurRad="38100" dist="38100" dir="2700000" algn="tl">
                    <a:srgbClr val="000000"/>
                  </a:outerShdw>
                </a:effectLst>
                <a:latin typeface="Arial" panose="020B0604020202020204" pitchFamily="34" charset="0"/>
              </a:rPr>
              <a:t> and so lie within the </a:t>
            </a:r>
            <a:r>
              <a:rPr lang="en-GB" altLang="en-US" sz="1700" dirty="0">
                <a:solidFill>
                  <a:srgbClr val="FF66CC"/>
                </a:solidFill>
                <a:effectLst>
                  <a:outerShdw blurRad="38100" dist="38100" dir="2700000" algn="tl">
                    <a:srgbClr val="000000"/>
                  </a:outerShdw>
                </a:effectLst>
                <a:latin typeface="Arial" panose="020B0604020202020204" pitchFamily="34" charset="0"/>
              </a:rPr>
              <a:t>shaded area</a:t>
            </a:r>
            <a:r>
              <a:rPr lang="en-GB" altLang="en-US" sz="1700" dirty="0">
                <a:effectLst>
                  <a:outerShdw blurRad="38100" dist="38100" dir="2700000" algn="tl">
                    <a:srgbClr val="000000"/>
                  </a:outerShdw>
                </a:effectLst>
                <a:latin typeface="Arial" panose="020B0604020202020204" pitchFamily="34" charset="0"/>
              </a:rPr>
              <a:t> on the triangular diagram right</a:t>
            </a:r>
          </a:p>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No natural divergent arrays have yet been reported</a:t>
            </a:r>
          </a:p>
        </p:txBody>
      </p:sp>
      <p:sp>
        <p:nvSpPr>
          <p:cNvPr id="375828" name="Text Box 20">
            <a:extLst>
              <a:ext uri="{FF2B5EF4-FFF2-40B4-BE49-F238E27FC236}">
                <a16:creationId xmlns:a16="http://schemas.microsoft.com/office/drawing/2014/main" id="{B4B85DA4-84C8-4AD0-9BCF-6CA011732426}"/>
              </a:ext>
            </a:extLst>
          </p:cNvPr>
          <p:cNvSpPr txBox="1">
            <a:spLocks noChangeArrowheads="1"/>
          </p:cNvSpPr>
          <p:nvPr/>
        </p:nvSpPr>
        <p:spPr bwMode="auto">
          <a:xfrm>
            <a:off x="1312863" y="6180138"/>
            <a:ext cx="1622425"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Convergent array of tension gashes</a:t>
            </a:r>
          </a:p>
        </p:txBody>
      </p:sp>
      <p:pic>
        <p:nvPicPr>
          <p:cNvPr id="375832" name="Picture 24" descr="DSC_0069">
            <a:extLst>
              <a:ext uri="{FF2B5EF4-FFF2-40B4-BE49-F238E27FC236}">
                <a16:creationId xmlns:a16="http://schemas.microsoft.com/office/drawing/2014/main" id="{A2F69D60-FA13-4822-AD3A-F8868AACFAD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92450" y="3451225"/>
            <a:ext cx="2425700" cy="323850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A59F5A3E-DC89-4DDC-BE4F-A401738EEF5B}"/>
              </a:ext>
            </a:extLst>
          </p:cNvPr>
          <p:cNvSpPr>
            <a:spLocks noGrp="1" noChangeArrowheads="1"/>
          </p:cNvSpPr>
          <p:nvPr>
            <p:ph type="title"/>
          </p:nvPr>
        </p:nvSpPr>
        <p:spPr>
          <a:noFill/>
        </p:spPr>
        <p:txBody>
          <a:bodyPr/>
          <a:lstStyle/>
          <a:p>
            <a:r>
              <a:rPr lang="en-GB" altLang="en-US">
                <a:effectLst/>
              </a:rPr>
              <a:t>Shear fractures (in experiments)</a:t>
            </a:r>
          </a:p>
        </p:txBody>
      </p:sp>
      <p:sp>
        <p:nvSpPr>
          <p:cNvPr id="240643" name="Rectangle 3">
            <a:extLst>
              <a:ext uri="{FF2B5EF4-FFF2-40B4-BE49-F238E27FC236}">
                <a16:creationId xmlns:a16="http://schemas.microsoft.com/office/drawing/2014/main" id="{57497C0C-3030-4EEC-BD51-20F5273AB45D}"/>
              </a:ext>
            </a:extLst>
          </p:cNvPr>
          <p:cNvSpPr>
            <a:spLocks noGrp="1" noChangeArrowheads="1"/>
          </p:cNvSpPr>
          <p:nvPr>
            <p:ph type="body" sz="half" idx="1"/>
          </p:nvPr>
        </p:nvSpPr>
        <p:spPr>
          <a:xfrm>
            <a:off x="100013" y="773113"/>
            <a:ext cx="2263775" cy="5729287"/>
          </a:xfrm>
          <a:noFill/>
        </p:spPr>
        <p:txBody>
          <a:bodyPr/>
          <a:lstStyle/>
          <a:p>
            <a:pPr marL="177800" indent="-177800">
              <a:spcBef>
                <a:spcPct val="75000"/>
              </a:spcBef>
            </a:pPr>
            <a:r>
              <a:rPr lang="en-GB" altLang="en-US" sz="1700" dirty="0">
                <a:solidFill>
                  <a:srgbClr val="FF6600"/>
                </a:solidFill>
                <a:effectLst/>
              </a:rPr>
              <a:t>Samples deformed experimentally </a:t>
            </a:r>
            <a:r>
              <a:rPr lang="en-GB" altLang="en-US" sz="1700" dirty="0">
                <a:effectLst/>
              </a:rPr>
              <a:t>in axial compression at elevated confining pressure form shear fractures at </a:t>
            </a:r>
            <a:r>
              <a:rPr lang="en-GB" altLang="en-US" sz="1700" dirty="0">
                <a:solidFill>
                  <a:srgbClr val="FF66CC"/>
                </a:solidFill>
                <a:effectLst/>
              </a:rPr>
              <a:t>20°-</a:t>
            </a:r>
            <a:r>
              <a:rPr lang="en-GB" altLang="en-US" sz="800" dirty="0">
                <a:solidFill>
                  <a:srgbClr val="FF66CC"/>
                </a:solidFill>
                <a:effectLst/>
              </a:rPr>
              <a:t> </a:t>
            </a:r>
            <a:r>
              <a:rPr lang="en-GB" altLang="en-US" sz="1700" dirty="0">
                <a:solidFill>
                  <a:srgbClr val="FF66CC"/>
                </a:solidFill>
                <a:effectLst/>
              </a:rPr>
              <a:t>30°</a:t>
            </a:r>
            <a:r>
              <a:rPr lang="en-GB" altLang="en-US" sz="1700" dirty="0">
                <a:effectLst/>
              </a:rPr>
              <a:t> to the maximum compressive stress</a:t>
            </a:r>
          </a:p>
          <a:p>
            <a:pPr marL="177800" indent="-177800">
              <a:spcBef>
                <a:spcPct val="75000"/>
              </a:spcBef>
            </a:pPr>
            <a:r>
              <a:rPr lang="en-GB" altLang="en-US" sz="1700" dirty="0">
                <a:effectLst/>
              </a:rPr>
              <a:t>In such tests, </a:t>
            </a:r>
            <a:r>
              <a:rPr lang="el-GR" altLang="en-US" sz="1700" i="1" dirty="0">
                <a:solidFill>
                  <a:srgbClr val="FF66CC"/>
                </a:solidFill>
                <a:effectLst/>
                <a:latin typeface="Cambria Math" panose="02040503050406030204" pitchFamily="18" charset="0"/>
                <a:ea typeface="Cambria Math" panose="02040503050406030204" pitchFamily="18" charset="0"/>
              </a:rPr>
              <a:t>σ</a:t>
            </a:r>
            <a:r>
              <a:rPr lang="en-GB" altLang="en-US" sz="1700" baseline="-25000" dirty="0">
                <a:solidFill>
                  <a:srgbClr val="FF66CC"/>
                </a:solidFill>
                <a:effectLst/>
              </a:rPr>
              <a:t>1</a:t>
            </a:r>
            <a:r>
              <a:rPr lang="en-GB" altLang="en-US" sz="1700" dirty="0">
                <a:solidFill>
                  <a:srgbClr val="FF66CC"/>
                </a:solidFill>
                <a:effectLst/>
              </a:rPr>
              <a:t> is axial stress</a:t>
            </a:r>
            <a:r>
              <a:rPr lang="en-GB" altLang="en-US" sz="1700" dirty="0">
                <a:effectLst/>
              </a:rPr>
              <a:t> and</a:t>
            </a:r>
            <a:r>
              <a:rPr lang="en-GB" altLang="en-US" sz="1700" dirty="0">
                <a:solidFill>
                  <a:srgbClr val="FF66CC"/>
                </a:solidFill>
                <a:effectLst/>
              </a:rPr>
              <a:t> </a:t>
            </a:r>
            <a:endParaRPr lang="en-GB" altLang="en-US" sz="1700" dirty="0">
              <a:solidFill>
                <a:srgbClr val="FF6600"/>
              </a:solidFill>
              <a:effectLst/>
            </a:endParaRPr>
          </a:p>
        </p:txBody>
      </p:sp>
      <p:sp>
        <p:nvSpPr>
          <p:cNvPr id="240649" name="Text Box 9">
            <a:extLst>
              <a:ext uri="{FF2B5EF4-FFF2-40B4-BE49-F238E27FC236}">
                <a16:creationId xmlns:a16="http://schemas.microsoft.com/office/drawing/2014/main" id="{8A48912B-4EC3-4AC5-AB6E-F383065FB626}"/>
              </a:ext>
            </a:extLst>
          </p:cNvPr>
          <p:cNvSpPr txBox="1">
            <a:spLocks noChangeArrowheads="1"/>
          </p:cNvSpPr>
          <p:nvPr/>
        </p:nvSpPr>
        <p:spPr bwMode="auto">
          <a:xfrm>
            <a:off x="100013" y="4398963"/>
            <a:ext cx="8758237" cy="102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9388" indent="-179388">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pPr>
            <a:r>
              <a:rPr lang="en-GB" altLang="en-US" sz="1700" dirty="0">
                <a:effectLst>
                  <a:outerShdw blurRad="38100" dist="38100" dir="2700000" algn="tl">
                    <a:srgbClr val="000000"/>
                  </a:outerShdw>
                </a:effectLst>
                <a:latin typeface="Arial" panose="020B0604020202020204" pitchFamily="34" charset="0"/>
              </a:rPr>
              <a:t>	</a:t>
            </a:r>
            <a:r>
              <a:rPr lang="el-GR" altLang="en-US" sz="1700" i="1" dirty="0">
                <a:solidFill>
                  <a:srgbClr val="FF66CC"/>
                </a:solidFill>
                <a:effectLst/>
                <a:latin typeface="Cambria Math" panose="02040503050406030204" pitchFamily="18" charset="0"/>
                <a:ea typeface="Cambria Math" panose="02040503050406030204" pitchFamily="18" charset="0"/>
              </a:rPr>
              <a:t>σ</a:t>
            </a:r>
            <a:r>
              <a:rPr lang="en-GB" altLang="en-US" sz="1700" baseline="-25000" dirty="0">
                <a:solidFill>
                  <a:srgbClr val="FF66CC"/>
                </a:solidFill>
                <a:effectLst>
                  <a:outerShdw blurRad="38100" dist="38100" dir="2700000" algn="tl">
                    <a:srgbClr val="000000"/>
                  </a:outerShdw>
                </a:effectLst>
                <a:latin typeface="Arial" panose="020B0604020202020204" pitchFamily="34" charset="0"/>
              </a:rPr>
              <a:t>2</a:t>
            </a:r>
            <a:r>
              <a:rPr lang="en-GB" altLang="en-US" sz="1700" dirty="0">
                <a:solidFill>
                  <a:srgbClr val="FF66CC"/>
                </a:solidFill>
                <a:effectLst>
                  <a:outerShdw blurRad="38100" dist="38100" dir="2700000" algn="tl">
                    <a:srgbClr val="000000"/>
                  </a:outerShdw>
                </a:effectLst>
                <a:latin typeface="Arial" panose="020B0604020202020204" pitchFamily="34" charset="0"/>
              </a:rPr>
              <a:t> = </a:t>
            </a:r>
            <a:r>
              <a:rPr lang="el-GR" altLang="en-US" sz="1700" i="1" dirty="0">
                <a:solidFill>
                  <a:srgbClr val="FF66CC"/>
                </a:solidFill>
                <a:effectLst/>
                <a:latin typeface="Cambria Math" panose="02040503050406030204" pitchFamily="18" charset="0"/>
                <a:ea typeface="Cambria Math" panose="02040503050406030204" pitchFamily="18" charset="0"/>
              </a:rPr>
              <a:t>σ</a:t>
            </a:r>
            <a:r>
              <a:rPr lang="en-GB" altLang="en-US" sz="1700" baseline="-25000" dirty="0">
                <a:solidFill>
                  <a:srgbClr val="FF66CC"/>
                </a:solidFill>
                <a:effectLst>
                  <a:outerShdw blurRad="38100" dist="38100" dir="2700000" algn="tl">
                    <a:srgbClr val="000000"/>
                  </a:outerShdw>
                </a:effectLst>
                <a:latin typeface="Arial" panose="020B0604020202020204" pitchFamily="34" charset="0"/>
              </a:rPr>
              <a:t>3</a:t>
            </a:r>
            <a:r>
              <a:rPr lang="en-GB" altLang="en-US" sz="1700" dirty="0">
                <a:effectLst>
                  <a:outerShdw blurRad="38100" dist="38100" dir="2700000" algn="tl">
                    <a:srgbClr val="000000"/>
                  </a:outerShdw>
                </a:effectLst>
                <a:latin typeface="Arial" panose="020B0604020202020204" pitchFamily="34" charset="0"/>
              </a:rPr>
              <a:t> </a:t>
            </a:r>
            <a:r>
              <a:rPr lang="en-GB" altLang="en-US" sz="1700" dirty="0">
                <a:solidFill>
                  <a:srgbClr val="FF66CC"/>
                </a:solidFill>
                <a:effectLst>
                  <a:outerShdw blurRad="38100" dist="38100" dir="2700000" algn="tl">
                    <a:srgbClr val="000000"/>
                  </a:outerShdw>
                </a:effectLst>
                <a:latin typeface="Arial" panose="020B0604020202020204" pitchFamily="34" charset="0"/>
              </a:rPr>
              <a:t>is the confining pressure</a:t>
            </a:r>
            <a:r>
              <a:rPr lang="en-GB" altLang="en-US" sz="1700" dirty="0">
                <a:effectLst>
                  <a:outerShdw blurRad="38100" dist="38100" dir="2700000" algn="tl">
                    <a:srgbClr val="000000"/>
                  </a:outerShdw>
                </a:effectLst>
                <a:latin typeface="Arial" panose="020B0604020202020204" pitchFamily="34" charset="0"/>
              </a:rPr>
              <a:t>, and so the </a:t>
            </a:r>
            <a:r>
              <a:rPr lang="en-GB" altLang="en-US" sz="1700" dirty="0">
                <a:solidFill>
                  <a:srgbClr val="FF66CC"/>
                </a:solidFill>
                <a:effectLst>
                  <a:outerShdw blurRad="38100" dist="38100" dir="2700000" algn="tl">
                    <a:srgbClr val="000000"/>
                  </a:outerShdw>
                </a:effectLst>
                <a:latin typeface="Arial" panose="020B0604020202020204" pitchFamily="34" charset="0"/>
              </a:rPr>
              <a:t>normal stress</a:t>
            </a:r>
            <a:r>
              <a:rPr lang="en-GB" altLang="en-US" sz="1700" dirty="0">
                <a:effectLst>
                  <a:outerShdw blurRad="38100" dist="38100" dir="2700000" algn="tl">
                    <a:srgbClr val="000000"/>
                  </a:outerShdw>
                </a:effectLst>
                <a:latin typeface="Arial" panose="020B0604020202020204" pitchFamily="34" charset="0"/>
              </a:rPr>
              <a:t> and </a:t>
            </a:r>
            <a:r>
              <a:rPr lang="en-GB" altLang="en-US" sz="1700" dirty="0">
                <a:solidFill>
                  <a:srgbClr val="FF66CC"/>
                </a:solidFill>
                <a:effectLst>
                  <a:outerShdw blurRad="38100" dist="38100" dir="2700000" algn="tl">
                    <a:srgbClr val="000000"/>
                  </a:outerShdw>
                </a:effectLst>
                <a:latin typeface="Arial" panose="020B0604020202020204" pitchFamily="34" charset="0"/>
              </a:rPr>
              <a:t>shear stress</a:t>
            </a:r>
            <a:r>
              <a:rPr lang="en-GB" altLang="en-US" sz="1700" dirty="0">
                <a:effectLst>
                  <a:outerShdw blurRad="38100" dist="38100" dir="2700000" algn="tl">
                    <a:srgbClr val="000000"/>
                  </a:outerShdw>
                </a:effectLst>
                <a:latin typeface="Arial" panose="020B0604020202020204" pitchFamily="34" charset="0"/>
              </a:rPr>
              <a:t> on the fracture plane may be obtained from </a:t>
            </a:r>
            <a:r>
              <a:rPr lang="en-GB" altLang="en-US" sz="1700" dirty="0">
                <a:solidFill>
                  <a:srgbClr val="FF66CC"/>
                </a:solidFill>
                <a:effectLst>
                  <a:outerShdw blurRad="38100" dist="38100" dir="2700000" algn="tl">
                    <a:srgbClr val="000000"/>
                  </a:outerShdw>
                </a:effectLst>
                <a:latin typeface="Arial" panose="020B0604020202020204" pitchFamily="34" charset="0"/>
              </a:rPr>
              <a:t>the angle that the fracture plane makes with </a:t>
            </a:r>
            <a:r>
              <a:rPr lang="el-GR" altLang="en-US" sz="1700" i="1" dirty="0">
                <a:solidFill>
                  <a:srgbClr val="FF66CC"/>
                </a:solidFill>
                <a:effectLst/>
                <a:latin typeface="Cambria Math" panose="02040503050406030204" pitchFamily="18" charset="0"/>
                <a:ea typeface="Cambria Math" panose="02040503050406030204" pitchFamily="18" charset="0"/>
              </a:rPr>
              <a:t>σ</a:t>
            </a:r>
            <a:r>
              <a:rPr lang="en-GB" altLang="en-US" sz="1700" baseline="-25000" dirty="0">
                <a:solidFill>
                  <a:srgbClr val="FF66CC"/>
                </a:solidFill>
                <a:effectLst>
                  <a:outerShdw blurRad="38100" dist="38100" dir="2700000" algn="tl">
                    <a:srgbClr val="000000"/>
                  </a:outerShdw>
                </a:effectLst>
                <a:latin typeface="Arial" panose="020B0604020202020204" pitchFamily="34" charset="0"/>
              </a:rPr>
              <a:t>1</a:t>
            </a:r>
            <a:r>
              <a:rPr lang="en-GB" altLang="en-US" sz="1700" dirty="0">
                <a:solidFill>
                  <a:srgbClr val="FF66CC"/>
                </a:solidFill>
                <a:effectLst>
                  <a:outerShdw blurRad="38100" dist="38100" dir="2700000" algn="tl">
                    <a:srgbClr val="000000"/>
                  </a:outerShdw>
                </a:effectLst>
                <a:latin typeface="Arial" panose="020B0604020202020204" pitchFamily="34" charset="0"/>
              </a:rPr>
              <a:t> </a:t>
            </a:r>
            <a:r>
              <a:rPr lang="en-GB" altLang="en-US" sz="1700" dirty="0">
                <a:effectLst>
                  <a:outerShdw blurRad="38100" dist="38100" dir="2700000" algn="tl">
                    <a:srgbClr val="000000"/>
                  </a:outerShdw>
                </a:effectLst>
                <a:latin typeface="Arial" panose="020B0604020202020204" pitchFamily="34" charset="0"/>
              </a:rPr>
              <a:t>using a </a:t>
            </a:r>
            <a:r>
              <a:rPr lang="en-GB" altLang="en-US" sz="1700" dirty="0">
                <a:solidFill>
                  <a:srgbClr val="FF6600"/>
                </a:solidFill>
                <a:effectLst>
                  <a:outerShdw blurRad="38100" dist="38100" dir="2700000" algn="tl">
                    <a:srgbClr val="000000"/>
                  </a:outerShdw>
                </a:effectLst>
                <a:latin typeface="Arial" panose="020B0604020202020204" pitchFamily="34" charset="0"/>
              </a:rPr>
              <a:t>Mohr diagram</a:t>
            </a:r>
            <a:endParaRPr lang="en-GB" altLang="en-US" sz="1700" baseline="-25000" dirty="0">
              <a:solidFill>
                <a:srgbClr val="FF6600"/>
              </a:solidFill>
              <a:effectLst>
                <a:outerShdw blurRad="38100" dist="38100" dir="2700000" algn="tl">
                  <a:srgbClr val="000000"/>
                </a:outerShdw>
              </a:effectLst>
              <a:latin typeface="Arial" panose="020B0604020202020204" pitchFamily="34" charset="0"/>
            </a:endParaRPr>
          </a:p>
        </p:txBody>
      </p:sp>
      <p:sp>
        <p:nvSpPr>
          <p:cNvPr id="240661" name="Text Box 21">
            <a:extLst>
              <a:ext uri="{FF2B5EF4-FFF2-40B4-BE49-F238E27FC236}">
                <a16:creationId xmlns:a16="http://schemas.microsoft.com/office/drawing/2014/main" id="{EDFFE650-117B-40EC-843E-BCB86FADA5ED}"/>
              </a:ext>
            </a:extLst>
          </p:cNvPr>
          <p:cNvSpPr txBox="1">
            <a:spLocks noChangeArrowheads="1"/>
          </p:cNvSpPr>
          <p:nvPr/>
        </p:nvSpPr>
        <p:spPr bwMode="auto">
          <a:xfrm>
            <a:off x="100013" y="5511800"/>
            <a:ext cx="8918575" cy="102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9388" indent="-179388">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Why don’t </a:t>
            </a:r>
            <a:r>
              <a:rPr lang="en-GB" altLang="en-US" sz="1700" dirty="0">
                <a:solidFill>
                  <a:srgbClr val="FF66CC"/>
                </a:solidFill>
                <a:effectLst>
                  <a:outerShdw blurRad="38100" dist="38100" dir="2700000" algn="tl">
                    <a:srgbClr val="000000"/>
                  </a:outerShdw>
                </a:effectLst>
                <a:latin typeface="Arial" panose="020B0604020202020204" pitchFamily="34" charset="0"/>
              </a:rPr>
              <a:t>fractures form at the orientation</a:t>
            </a:r>
            <a:r>
              <a:rPr lang="en-GB" altLang="en-US" sz="1700" dirty="0">
                <a:effectLst>
                  <a:outerShdw blurRad="38100" dist="38100" dir="2700000" algn="tl">
                    <a:srgbClr val="000000"/>
                  </a:outerShdw>
                </a:effectLst>
                <a:latin typeface="Arial" panose="020B0604020202020204" pitchFamily="34" charset="0"/>
              </a:rPr>
              <a:t> for which the shear stress on the fracture plane is greatest = 45° to </a:t>
            </a:r>
            <a:r>
              <a:rPr lang="el-GR" altLang="en-US" sz="1700" i="1" dirty="0">
                <a:effectLst/>
                <a:latin typeface="Cambria Math" panose="02040503050406030204" pitchFamily="18" charset="0"/>
                <a:ea typeface="Cambria Math" panose="02040503050406030204" pitchFamily="18" charset="0"/>
              </a:rPr>
              <a:t>σ</a:t>
            </a:r>
            <a:r>
              <a:rPr lang="en-GB" altLang="en-US" sz="1700" baseline="-25000" dirty="0">
                <a:effectLst>
                  <a:outerShdw blurRad="38100" dist="38100" dir="2700000" algn="tl">
                    <a:srgbClr val="000000"/>
                  </a:outerShdw>
                </a:effectLst>
                <a:latin typeface="Arial" panose="020B0604020202020204" pitchFamily="34" charset="0"/>
              </a:rPr>
              <a:t>1</a:t>
            </a:r>
            <a:r>
              <a:rPr lang="en-GB" altLang="en-US" sz="1700" dirty="0">
                <a:effectLst>
                  <a:outerShdw blurRad="38100" dist="38100" dir="2700000" algn="tl">
                    <a:srgbClr val="000000"/>
                  </a:outerShdw>
                </a:effectLst>
                <a:latin typeface="Arial" panose="020B0604020202020204" pitchFamily="34" charset="0"/>
              </a:rPr>
              <a:t> (2</a:t>
            </a:r>
            <a:r>
              <a:rPr lang="el-GR" altLang="en-US" sz="1700" i="1" dirty="0">
                <a:effectLst>
                  <a:outerShdw blurRad="38100" dist="38100" dir="2700000" algn="tl">
                    <a:srgbClr val="000000"/>
                  </a:outerShdw>
                </a:effectLst>
                <a:latin typeface="Cambria Math" panose="02040503050406030204" pitchFamily="18" charset="0"/>
                <a:ea typeface="Cambria Math" panose="02040503050406030204" pitchFamily="18" charset="0"/>
              </a:rPr>
              <a:t>θ</a:t>
            </a:r>
            <a:r>
              <a:rPr lang="en-GB" altLang="en-US" sz="1700" i="1" dirty="0">
                <a:effectLst>
                  <a:outerShdw blurRad="38100" dist="38100" dir="2700000" algn="tl">
                    <a:srgbClr val="000000"/>
                  </a:outerShdw>
                </a:effectLst>
                <a:latin typeface="Symbol" panose="05050102010706020507" pitchFamily="18" charset="2"/>
              </a:rPr>
              <a:t> </a:t>
            </a:r>
            <a:r>
              <a:rPr lang="en-GB" altLang="en-US" sz="1700" dirty="0">
                <a:effectLst>
                  <a:outerShdw blurRad="38100" dist="38100" dir="2700000" algn="tl">
                    <a:srgbClr val="000000"/>
                  </a:outerShdw>
                </a:effectLst>
                <a:latin typeface="Arial" panose="020B0604020202020204" pitchFamily="34" charset="0"/>
              </a:rPr>
              <a:t>= 90°)?  On a fracture plane</a:t>
            </a:r>
            <a:r>
              <a:rPr lang="en-GB" altLang="en-US" sz="1700" dirty="0">
                <a:solidFill>
                  <a:srgbClr val="FF66CC"/>
                </a:solidFill>
                <a:effectLst>
                  <a:outerShdw blurRad="38100" dist="38100" dir="2700000" algn="tl">
                    <a:srgbClr val="000000"/>
                  </a:outerShdw>
                </a:effectLst>
                <a:latin typeface="Arial" panose="020B0604020202020204" pitchFamily="34" charset="0"/>
              </a:rPr>
              <a:t> at ~</a:t>
            </a:r>
            <a:r>
              <a:rPr lang="en-GB" altLang="en-US" sz="800" dirty="0">
                <a:solidFill>
                  <a:srgbClr val="FF66CC"/>
                </a:solidFill>
                <a:effectLst>
                  <a:outerShdw blurRad="38100" dist="38100" dir="2700000" algn="tl">
                    <a:srgbClr val="000000"/>
                  </a:outerShdw>
                </a:effectLst>
                <a:latin typeface="Arial" panose="020B0604020202020204" pitchFamily="34" charset="0"/>
              </a:rPr>
              <a:t> </a:t>
            </a:r>
            <a:r>
              <a:rPr lang="en-GB" altLang="en-US" sz="1700" dirty="0">
                <a:solidFill>
                  <a:srgbClr val="FF66CC"/>
                </a:solidFill>
                <a:effectLst>
                  <a:outerShdw blurRad="38100" dist="38100" dir="2700000" algn="tl">
                    <a:srgbClr val="000000"/>
                  </a:outerShdw>
                </a:effectLst>
                <a:latin typeface="Arial" panose="020B0604020202020204" pitchFamily="34" charset="0"/>
              </a:rPr>
              <a:t>30° to </a:t>
            </a:r>
            <a:r>
              <a:rPr lang="el-GR" altLang="en-US" sz="1700" i="1" dirty="0">
                <a:solidFill>
                  <a:srgbClr val="FF66CC"/>
                </a:solidFill>
                <a:effectLst/>
                <a:latin typeface="Cambria Math" panose="02040503050406030204" pitchFamily="18" charset="0"/>
                <a:ea typeface="Cambria Math" panose="02040503050406030204" pitchFamily="18" charset="0"/>
              </a:rPr>
              <a:t>σ</a:t>
            </a:r>
            <a:r>
              <a:rPr lang="en-GB" altLang="en-US" sz="1700" baseline="-25000" dirty="0">
                <a:solidFill>
                  <a:srgbClr val="FF66CC"/>
                </a:solidFill>
                <a:effectLst>
                  <a:outerShdw blurRad="38100" dist="38100" dir="2700000" algn="tl">
                    <a:srgbClr val="000000"/>
                  </a:outerShdw>
                </a:effectLst>
                <a:latin typeface="Arial" panose="020B0604020202020204" pitchFamily="34" charset="0"/>
              </a:rPr>
              <a:t>1</a:t>
            </a:r>
            <a:r>
              <a:rPr lang="en-GB" altLang="en-US" sz="1700" dirty="0">
                <a:effectLst>
                  <a:outerShdw blurRad="38100" dist="38100" dir="2700000" algn="tl">
                    <a:srgbClr val="000000"/>
                  </a:outerShdw>
                </a:effectLst>
                <a:latin typeface="Arial" panose="020B0604020202020204" pitchFamily="34" charset="0"/>
              </a:rPr>
              <a:t> (2</a:t>
            </a:r>
            <a:r>
              <a:rPr lang="el-GR" altLang="en-US" sz="1700" i="1" dirty="0">
                <a:effectLst>
                  <a:outerShdw blurRad="38100" dist="38100" dir="2700000" algn="tl">
                    <a:srgbClr val="000000"/>
                  </a:outerShdw>
                </a:effectLst>
                <a:latin typeface="Cambria Math" panose="02040503050406030204" pitchFamily="18" charset="0"/>
                <a:ea typeface="Cambria Math" panose="02040503050406030204" pitchFamily="18" charset="0"/>
              </a:rPr>
              <a:t>θ</a:t>
            </a:r>
            <a:r>
              <a:rPr lang="en-GB" altLang="en-US" sz="1700" i="1" dirty="0">
                <a:effectLst>
                  <a:outerShdw blurRad="38100" dist="38100" dir="2700000" algn="tl">
                    <a:srgbClr val="000000"/>
                  </a:outerShdw>
                </a:effectLst>
                <a:latin typeface="Symbol" panose="05050102010706020507" pitchFamily="18" charset="2"/>
              </a:rPr>
              <a:t> </a:t>
            </a:r>
            <a:r>
              <a:rPr lang="en-GB" altLang="en-US" sz="1700" dirty="0">
                <a:effectLst>
                  <a:outerShdw blurRad="38100" dist="38100" dir="2700000" algn="tl">
                    <a:srgbClr val="000000"/>
                  </a:outerShdw>
                </a:effectLst>
                <a:latin typeface="Arial" panose="020B0604020202020204" pitchFamily="34" charset="0"/>
              </a:rPr>
              <a:t>= 120°), although the shear stress is slightly smaller, the normal stress is much smaller</a:t>
            </a:r>
          </a:p>
        </p:txBody>
      </p:sp>
      <p:pic>
        <p:nvPicPr>
          <p:cNvPr id="240676" name="Picture 36">
            <a:extLst>
              <a:ext uri="{FF2B5EF4-FFF2-40B4-BE49-F238E27FC236}">
                <a16:creationId xmlns:a16="http://schemas.microsoft.com/office/drawing/2014/main" id="{EE25F681-994A-43D5-B4F9-0D2964FB26BA}"/>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2422525" y="911225"/>
            <a:ext cx="6492875" cy="3343275"/>
          </a:xfrm>
          <a:noFill/>
          <a:ln w="38100" cap="flat">
            <a:solidFill>
              <a:schemeClr val="bg2"/>
            </a:solidFill>
            <a:miter lim="800000"/>
            <a:headEnd/>
            <a:tailEnd/>
          </a:ln>
        </p:spPr>
      </p:pic>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a:extLst>
              <a:ext uri="{FF2B5EF4-FFF2-40B4-BE49-F238E27FC236}">
                <a16:creationId xmlns:a16="http://schemas.microsoft.com/office/drawing/2014/main" id="{D27F8D7C-6819-4C4B-9196-AB7E23530738}"/>
              </a:ext>
            </a:extLst>
          </p:cNvPr>
          <p:cNvSpPr>
            <a:spLocks noGrp="1" noChangeArrowheads="1"/>
          </p:cNvSpPr>
          <p:nvPr>
            <p:ph type="title"/>
          </p:nvPr>
        </p:nvSpPr>
        <p:spPr>
          <a:noFill/>
        </p:spPr>
        <p:txBody>
          <a:bodyPr/>
          <a:lstStyle/>
          <a:p>
            <a:r>
              <a:rPr lang="en-GB" altLang="en-US">
                <a:effectLst/>
              </a:rPr>
              <a:t>The effect of confining pressure on fracture </a:t>
            </a:r>
          </a:p>
        </p:txBody>
      </p:sp>
      <p:sp>
        <p:nvSpPr>
          <p:cNvPr id="246787" name="Rectangle 3">
            <a:extLst>
              <a:ext uri="{FF2B5EF4-FFF2-40B4-BE49-F238E27FC236}">
                <a16:creationId xmlns:a16="http://schemas.microsoft.com/office/drawing/2014/main" id="{AC3938CD-648F-45FB-8A77-EA17D168E9AD}"/>
              </a:ext>
            </a:extLst>
          </p:cNvPr>
          <p:cNvSpPr>
            <a:spLocks noGrp="1" noChangeArrowheads="1"/>
          </p:cNvSpPr>
          <p:nvPr>
            <p:ph type="body" sz="half" idx="1"/>
          </p:nvPr>
        </p:nvSpPr>
        <p:spPr>
          <a:xfrm>
            <a:off x="119063" y="800100"/>
            <a:ext cx="8829675" cy="1020763"/>
          </a:xfrm>
          <a:noFill/>
        </p:spPr>
        <p:txBody>
          <a:bodyPr/>
          <a:lstStyle/>
          <a:p>
            <a:pPr marL="177800" indent="-177800">
              <a:spcBef>
                <a:spcPct val="75000"/>
              </a:spcBef>
            </a:pPr>
            <a:r>
              <a:rPr lang="en-GB" altLang="en-US" sz="1700" dirty="0">
                <a:effectLst/>
              </a:rPr>
              <a:t>Plotting the normal stress (</a:t>
            </a:r>
            <a:r>
              <a:rPr lang="el-GR" altLang="en-US" sz="1700" i="1" dirty="0">
                <a:solidFill>
                  <a:srgbClr val="FFFF00"/>
                </a:solidFill>
                <a:effectLst/>
                <a:latin typeface="Cambria Math" panose="02040503050406030204" pitchFamily="18" charset="0"/>
                <a:ea typeface="Cambria Math" panose="02040503050406030204" pitchFamily="18" charset="0"/>
              </a:rPr>
              <a:t>σ</a:t>
            </a:r>
            <a:r>
              <a:rPr lang="en-GB" altLang="en-US" sz="1700" i="1" spc="200" baseline="-25000" dirty="0">
                <a:solidFill>
                  <a:srgbClr val="FFFF00"/>
                </a:solidFill>
                <a:effectLst/>
              </a:rPr>
              <a:t>n</a:t>
            </a:r>
            <a:r>
              <a:rPr lang="en-GB" altLang="en-US" sz="1700" dirty="0">
                <a:effectLst/>
              </a:rPr>
              <a:t>) and shear stress (</a:t>
            </a:r>
            <a:r>
              <a:rPr lang="el-GR" altLang="en-US" sz="1700" i="1" dirty="0">
                <a:solidFill>
                  <a:srgbClr val="FFFF00"/>
                </a:solidFill>
                <a:effectLst/>
                <a:latin typeface="Cambria Math" panose="02040503050406030204" pitchFamily="18" charset="0"/>
                <a:ea typeface="Cambria Math" panose="02040503050406030204" pitchFamily="18" charset="0"/>
              </a:rPr>
              <a:t>τ</a:t>
            </a:r>
            <a:r>
              <a:rPr lang="en-GB" altLang="en-US" sz="1700" dirty="0">
                <a:effectLst/>
              </a:rPr>
              <a:t> ) on the fracture plane at failure for samples deformed at different confining pressures, defines a </a:t>
            </a:r>
            <a:r>
              <a:rPr lang="en-GB" altLang="en-US" sz="1700" dirty="0">
                <a:solidFill>
                  <a:srgbClr val="FF6600"/>
                </a:solidFill>
                <a:effectLst/>
              </a:rPr>
              <a:t>failure envelope </a:t>
            </a:r>
            <a:r>
              <a:rPr lang="en-GB" altLang="en-US" sz="1700" dirty="0">
                <a:effectLst/>
              </a:rPr>
              <a:t>on a Mohr diagram</a:t>
            </a:r>
          </a:p>
        </p:txBody>
      </p:sp>
      <p:sp>
        <p:nvSpPr>
          <p:cNvPr id="246799" name="Text Box 15">
            <a:extLst>
              <a:ext uri="{FF2B5EF4-FFF2-40B4-BE49-F238E27FC236}">
                <a16:creationId xmlns:a16="http://schemas.microsoft.com/office/drawing/2014/main" id="{4F08A6E1-07CD-42E5-89A8-B0BD0B669629}"/>
              </a:ext>
            </a:extLst>
          </p:cNvPr>
          <p:cNvSpPr txBox="1">
            <a:spLocks noChangeArrowheads="1"/>
          </p:cNvSpPr>
          <p:nvPr/>
        </p:nvSpPr>
        <p:spPr bwMode="auto">
          <a:xfrm>
            <a:off x="119063" y="3219450"/>
            <a:ext cx="2763837" cy="3493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04800" indent="-304800">
              <a:defRPr sz="1600">
                <a:solidFill>
                  <a:schemeClr val="tx1"/>
                </a:solidFill>
                <a:latin typeface="Helvetica" panose="020B0604020202020204" pitchFamily="34" charset="0"/>
              </a:defRPr>
            </a:lvl1pPr>
            <a:lvl2pPr marL="762000" indent="-304800">
              <a:defRPr sz="1600">
                <a:solidFill>
                  <a:schemeClr val="tx1"/>
                </a:solidFill>
                <a:latin typeface="Helvetica" panose="020B0604020202020204" pitchFamily="34" charset="0"/>
              </a:defRPr>
            </a:lvl2pPr>
            <a:lvl3pPr marL="1233488" indent="-304800">
              <a:defRPr sz="1600">
                <a:solidFill>
                  <a:schemeClr val="tx1"/>
                </a:solidFill>
                <a:latin typeface="Helvetica" panose="020B0604020202020204" pitchFamily="34" charset="0"/>
              </a:defRPr>
            </a:lvl3pPr>
            <a:lvl4pPr marL="1717675" indent="-304800">
              <a:defRPr sz="1600">
                <a:solidFill>
                  <a:schemeClr val="tx1"/>
                </a:solidFill>
                <a:latin typeface="Helvetica" panose="020B0604020202020204" pitchFamily="34" charset="0"/>
              </a:defRPr>
            </a:lvl4pPr>
            <a:lvl5pPr marL="2201863" indent="-304800">
              <a:defRPr sz="1600">
                <a:solidFill>
                  <a:schemeClr val="tx1"/>
                </a:solidFill>
                <a:latin typeface="Helvetica" panose="020B0604020202020204" pitchFamily="34" charset="0"/>
              </a:defRPr>
            </a:lvl5pPr>
            <a:lvl6pPr marL="2659063"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3116263"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573463"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4030663"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AutoNum type="arabicPeriod"/>
            </a:pPr>
            <a:r>
              <a:rPr lang="en-GB" altLang="en-US" sz="1700" dirty="0">
                <a:solidFill>
                  <a:srgbClr val="FF6600"/>
                </a:solidFill>
                <a:effectLst>
                  <a:outerShdw blurRad="38100" dist="38100" dir="2700000" algn="tl">
                    <a:srgbClr val="000000"/>
                  </a:outerShdw>
                </a:effectLst>
                <a:latin typeface="Arial" panose="020B0604020202020204" pitchFamily="34" charset="0"/>
              </a:rPr>
              <a:t>Extension fractures</a:t>
            </a:r>
            <a:r>
              <a:rPr lang="en-GB" altLang="en-US" sz="1700" dirty="0">
                <a:effectLst>
                  <a:outerShdw blurRad="38100" dist="38100" dir="2700000" algn="tl">
                    <a:srgbClr val="000000"/>
                  </a:outerShdw>
                </a:effectLst>
                <a:latin typeface="Arial" panose="020B0604020202020204" pitchFamily="34" charset="0"/>
              </a:rPr>
              <a:t> with fracture planes parallel to </a:t>
            </a:r>
            <a:r>
              <a:rPr lang="el-GR" altLang="en-US" sz="1700" i="1" dirty="0">
                <a:effectLst/>
                <a:latin typeface="Cambria Math" panose="02040503050406030204" pitchFamily="18" charset="0"/>
                <a:ea typeface="Cambria Math" panose="02040503050406030204" pitchFamily="18" charset="0"/>
              </a:rPr>
              <a:t>σ</a:t>
            </a:r>
            <a:r>
              <a:rPr lang="en-GB" altLang="en-US" sz="1700" baseline="-25000" dirty="0">
                <a:effectLst>
                  <a:outerShdw blurRad="38100" dist="38100" dir="2700000" algn="tl">
                    <a:srgbClr val="000000"/>
                  </a:outerShdw>
                </a:effectLst>
                <a:latin typeface="Arial" panose="020B0604020202020204" pitchFamily="34" charset="0"/>
              </a:rPr>
              <a:t>1</a:t>
            </a:r>
            <a:r>
              <a:rPr lang="en-GB" altLang="en-US" sz="1700" dirty="0">
                <a:effectLst>
                  <a:outerShdw blurRad="38100" dist="38100" dir="2700000" algn="tl">
                    <a:srgbClr val="000000"/>
                  </a:outerShdw>
                </a:effectLst>
                <a:latin typeface="Arial" panose="020B0604020202020204" pitchFamily="34" charset="0"/>
              </a:rPr>
              <a:t>,</a:t>
            </a:r>
          </a:p>
          <a:p>
            <a:pPr>
              <a:lnSpc>
                <a:spcPct val="120000"/>
              </a:lnSpc>
              <a:spcBef>
                <a:spcPct val="50000"/>
              </a:spcBef>
              <a:buClr>
                <a:schemeClr val="tx1"/>
              </a:buClr>
              <a:buFontTx/>
              <a:buAutoNum type="arabicPeriod"/>
            </a:pPr>
            <a:r>
              <a:rPr lang="en-GB" altLang="en-US" sz="1700" dirty="0">
                <a:solidFill>
                  <a:srgbClr val="FF6600"/>
                </a:solidFill>
                <a:effectLst>
                  <a:outerShdw blurRad="38100" dist="38100" dir="2700000" algn="tl">
                    <a:srgbClr val="000000"/>
                  </a:outerShdw>
                </a:effectLst>
                <a:latin typeface="Arial" panose="020B0604020202020204" pitchFamily="34" charset="0"/>
              </a:rPr>
              <a:t>Hybrid extension</a:t>
            </a:r>
            <a:r>
              <a:rPr lang="en-GB" altLang="en-US" sz="800" dirty="0">
                <a:solidFill>
                  <a:srgbClr val="FF6600"/>
                </a:solidFill>
                <a:effectLst>
                  <a:outerShdw blurRad="38100" dist="38100" dir="2700000" algn="tl">
                    <a:srgbClr val="000000"/>
                  </a:outerShdw>
                </a:effectLst>
                <a:latin typeface="Arial" panose="020B0604020202020204" pitchFamily="34" charset="0"/>
              </a:rPr>
              <a:t> </a:t>
            </a:r>
            <a:r>
              <a:rPr lang="en-GB" altLang="en-US" sz="1700" dirty="0">
                <a:solidFill>
                  <a:srgbClr val="FF6600"/>
                </a:solidFill>
                <a:effectLst>
                  <a:outerShdw blurRad="38100" dist="38100" dir="2700000" algn="tl">
                    <a:srgbClr val="000000"/>
                  </a:outerShdw>
                </a:effectLst>
                <a:latin typeface="Arial" panose="020B0604020202020204" pitchFamily="34" charset="0"/>
              </a:rPr>
              <a:t>+</a:t>
            </a:r>
            <a:r>
              <a:rPr lang="en-GB" altLang="en-US" sz="800" dirty="0">
                <a:solidFill>
                  <a:srgbClr val="FF6600"/>
                </a:solidFill>
                <a:effectLst>
                  <a:outerShdw blurRad="38100" dist="38100" dir="2700000" algn="tl">
                    <a:srgbClr val="000000"/>
                  </a:outerShdw>
                </a:effectLst>
                <a:latin typeface="Arial" panose="020B0604020202020204" pitchFamily="34" charset="0"/>
              </a:rPr>
              <a:t> </a:t>
            </a:r>
            <a:r>
              <a:rPr lang="en-GB" altLang="en-US" sz="1700" dirty="0">
                <a:solidFill>
                  <a:srgbClr val="FF6600"/>
                </a:solidFill>
                <a:effectLst>
                  <a:outerShdw blurRad="38100" dist="38100" dir="2700000" algn="tl">
                    <a:srgbClr val="000000"/>
                  </a:outerShdw>
                </a:effectLst>
                <a:latin typeface="Arial" panose="020B0604020202020204" pitchFamily="34" charset="0"/>
              </a:rPr>
              <a:t>shear fractures</a:t>
            </a:r>
            <a:r>
              <a:rPr lang="en-GB" altLang="en-US" sz="1700" dirty="0">
                <a:effectLst>
                  <a:outerShdw blurRad="38100" dist="38100" dir="2700000" algn="tl">
                    <a:srgbClr val="000000"/>
                  </a:outerShdw>
                </a:effectLst>
                <a:latin typeface="Arial" panose="020B0604020202020204" pitchFamily="34" charset="0"/>
              </a:rPr>
              <a:t> with a fracture plane at &lt; 13° to </a:t>
            </a:r>
            <a:r>
              <a:rPr lang="el-GR" altLang="en-US" sz="1700" i="1" dirty="0">
                <a:effectLst/>
                <a:latin typeface="Cambria Math" panose="02040503050406030204" pitchFamily="18" charset="0"/>
                <a:ea typeface="Cambria Math" panose="02040503050406030204" pitchFamily="18" charset="0"/>
              </a:rPr>
              <a:t>σ</a:t>
            </a:r>
            <a:r>
              <a:rPr lang="en-GB" altLang="en-US" sz="1700" baseline="-25000" dirty="0">
                <a:effectLst>
                  <a:outerShdw blurRad="38100" dist="38100" dir="2700000" algn="tl">
                    <a:srgbClr val="000000"/>
                  </a:outerShdw>
                </a:effectLst>
                <a:latin typeface="Arial" panose="020B0604020202020204" pitchFamily="34" charset="0"/>
              </a:rPr>
              <a:t>1</a:t>
            </a:r>
            <a:r>
              <a:rPr lang="en-GB" altLang="en-US" sz="1700" dirty="0">
                <a:effectLst>
                  <a:outerShdw blurRad="38100" dist="38100" dir="2700000" algn="tl">
                    <a:srgbClr val="000000"/>
                  </a:outerShdw>
                </a:effectLst>
                <a:latin typeface="Arial" panose="020B0604020202020204" pitchFamily="34" charset="0"/>
              </a:rPr>
              <a:t>,</a:t>
            </a:r>
          </a:p>
          <a:p>
            <a:pPr>
              <a:lnSpc>
                <a:spcPct val="120000"/>
              </a:lnSpc>
              <a:spcBef>
                <a:spcPct val="50000"/>
              </a:spcBef>
              <a:buClr>
                <a:schemeClr val="tx1"/>
              </a:buClr>
              <a:buFontTx/>
              <a:buAutoNum type="arabicPeriod"/>
            </a:pPr>
            <a:r>
              <a:rPr lang="en-GB" altLang="en-US" sz="1700" dirty="0">
                <a:solidFill>
                  <a:srgbClr val="FF6600"/>
                </a:solidFill>
                <a:effectLst>
                  <a:outerShdw blurRad="38100" dist="38100" dir="2700000" algn="tl">
                    <a:srgbClr val="000000"/>
                  </a:outerShdw>
                </a:effectLst>
                <a:latin typeface="Arial" panose="020B0604020202020204" pitchFamily="34" charset="0"/>
              </a:rPr>
              <a:t>Contractional shear fractures</a:t>
            </a:r>
            <a:r>
              <a:rPr lang="en-GB" altLang="en-US" sz="1700" dirty="0">
                <a:effectLst>
                  <a:outerShdw blurRad="38100" dist="38100" dir="2700000" algn="tl">
                    <a:srgbClr val="000000"/>
                  </a:outerShdw>
                </a:effectLst>
                <a:latin typeface="Arial" panose="020B0604020202020204" pitchFamily="34" charset="0"/>
              </a:rPr>
              <a:t> with a fracture plane at &gt; 13° to </a:t>
            </a:r>
            <a:r>
              <a:rPr lang="el-GR" altLang="en-US" sz="1700" i="1" dirty="0">
                <a:effectLst/>
                <a:latin typeface="Cambria Math" panose="02040503050406030204" pitchFamily="18" charset="0"/>
                <a:ea typeface="Cambria Math" panose="02040503050406030204" pitchFamily="18" charset="0"/>
              </a:rPr>
              <a:t>σ</a:t>
            </a:r>
            <a:r>
              <a:rPr lang="en-GB" altLang="en-US" sz="1700" baseline="-25000" dirty="0">
                <a:effectLst>
                  <a:outerShdw blurRad="38100" dist="38100" dir="2700000" algn="tl">
                    <a:srgbClr val="000000"/>
                  </a:outerShdw>
                </a:effectLst>
                <a:latin typeface="Arial" panose="020B0604020202020204" pitchFamily="34" charset="0"/>
              </a:rPr>
              <a:t>1</a:t>
            </a:r>
          </a:p>
        </p:txBody>
      </p:sp>
      <p:sp>
        <p:nvSpPr>
          <p:cNvPr id="246807" name="Rectangle 23">
            <a:extLst>
              <a:ext uri="{FF2B5EF4-FFF2-40B4-BE49-F238E27FC236}">
                <a16:creationId xmlns:a16="http://schemas.microsoft.com/office/drawing/2014/main" id="{0C447F35-3962-46A3-ACED-EDE3DB376B50}"/>
              </a:ext>
            </a:extLst>
          </p:cNvPr>
          <p:cNvSpPr>
            <a:spLocks noChangeArrowheads="1"/>
          </p:cNvSpPr>
          <p:nvPr/>
        </p:nvSpPr>
        <p:spPr bwMode="auto">
          <a:xfrm>
            <a:off x="119063" y="1825625"/>
            <a:ext cx="2741612" cy="133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7800" indent="-177800">
              <a:lnSpc>
                <a:spcPct val="120000"/>
              </a:lnSpc>
              <a:spcBef>
                <a:spcPct val="100000"/>
              </a:spcBef>
              <a:buClr>
                <a:schemeClr val="folHlink"/>
              </a:buClr>
              <a:buSzPct val="100000"/>
              <a:buFont typeface="Times" panose="02020603050405020304" pitchFamily="18" charset="0"/>
              <a:buChar char="•"/>
              <a:defRPr>
                <a:solidFill>
                  <a:schemeClr val="tx1"/>
                </a:solidFill>
                <a:latin typeface="Arial" panose="020B0604020202020204" pitchFamily="34" charset="0"/>
              </a:defRPr>
            </a:lvl1pPr>
            <a:lvl2pPr marL="839788" indent="-304800">
              <a:lnSpc>
                <a:spcPct val="120000"/>
              </a:lnSpc>
              <a:spcBef>
                <a:spcPct val="50000"/>
              </a:spcBef>
              <a:buClr>
                <a:schemeClr val="folHlink"/>
              </a:buClr>
              <a:buSzPct val="100000"/>
              <a:buFont typeface="Times" panose="02020603050405020304" pitchFamily="18" charset="0"/>
              <a:buChar char="•"/>
              <a:defRPr sz="1600">
                <a:solidFill>
                  <a:schemeClr val="tx1"/>
                </a:solidFill>
                <a:latin typeface="Arial" panose="020B0604020202020204" pitchFamily="34" charset="0"/>
              </a:defRPr>
            </a:lvl2pPr>
            <a:lvl3pPr marL="1317625" indent="-26670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3pPr>
            <a:lvl4pPr marL="1736725" indent="-26670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4pPr>
            <a:lvl5pPr marL="2178050" indent="-266700">
              <a:spcBef>
                <a:spcPct val="25000"/>
              </a:spcBef>
              <a:buClr>
                <a:schemeClr val="folHlink"/>
              </a:buClr>
              <a:buSzPct val="50000"/>
              <a:buFont typeface="Times" panose="02020603050405020304" pitchFamily="18" charset="0"/>
              <a:buChar char="•"/>
              <a:defRPr sz="1400">
                <a:solidFill>
                  <a:schemeClr val="tx1"/>
                </a:solidFill>
                <a:latin typeface="Arial" panose="020B0604020202020204" pitchFamily="34" charset="0"/>
              </a:defRPr>
            </a:lvl5pPr>
            <a:lvl6pPr marL="2635250" indent="-2667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6pPr>
            <a:lvl7pPr marL="3092450" indent="-2667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7pPr>
            <a:lvl8pPr marL="3549650" indent="-2667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8pPr>
            <a:lvl9pPr marL="4006850" indent="-2667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9pPr>
          </a:lstStyle>
          <a:p>
            <a:pPr>
              <a:spcBef>
                <a:spcPct val="50000"/>
              </a:spcBef>
            </a:pPr>
            <a:r>
              <a:rPr lang="en-GB" altLang="en-US" sz="1700">
                <a:effectLst/>
              </a:rPr>
              <a:t>Experiments show a continuous gradation </a:t>
            </a:r>
            <a:r>
              <a:rPr lang="en-GB" altLang="en-US" sz="1700">
                <a:solidFill>
                  <a:srgbClr val="FF66CC"/>
                </a:solidFill>
                <a:effectLst/>
              </a:rPr>
              <a:t>with increasing confining pressure</a:t>
            </a:r>
            <a:r>
              <a:rPr lang="en-GB" altLang="en-US" sz="1700">
                <a:effectLst/>
              </a:rPr>
              <a:t> between</a:t>
            </a:r>
          </a:p>
        </p:txBody>
      </p:sp>
      <p:pic>
        <p:nvPicPr>
          <p:cNvPr id="246809" name="Picture 25">
            <a:extLst>
              <a:ext uri="{FF2B5EF4-FFF2-40B4-BE49-F238E27FC236}">
                <a16:creationId xmlns:a16="http://schemas.microsoft.com/office/drawing/2014/main" id="{A0A54FDD-3628-493E-B634-0104DFD1D1D1}"/>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2901950" y="1631950"/>
            <a:ext cx="6035675" cy="5029200"/>
          </a:xfrm>
          <a:noFill/>
          <a:ln w="38100" cap="flat">
            <a:solidFill>
              <a:schemeClr val="bg2"/>
            </a:solidFill>
            <a:miter lim="800000"/>
            <a:headEnd/>
            <a:tailEnd/>
          </a:ln>
        </p:spPr>
      </p:pic>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2">
            <a:extLst>
              <a:ext uri="{FF2B5EF4-FFF2-40B4-BE49-F238E27FC236}">
                <a16:creationId xmlns:a16="http://schemas.microsoft.com/office/drawing/2014/main" id="{862E664A-646A-4538-BB98-0DB36857E312}"/>
              </a:ext>
            </a:extLst>
          </p:cNvPr>
          <p:cNvSpPr>
            <a:spLocks noGrp="1" noChangeArrowheads="1"/>
          </p:cNvSpPr>
          <p:nvPr>
            <p:ph type="title"/>
          </p:nvPr>
        </p:nvSpPr>
        <p:spPr>
          <a:noFill/>
        </p:spPr>
        <p:txBody>
          <a:bodyPr/>
          <a:lstStyle/>
          <a:p>
            <a:r>
              <a:rPr lang="en-GB" altLang="en-US">
                <a:effectLst/>
              </a:rPr>
              <a:t>The effect of pore fluids </a:t>
            </a:r>
          </a:p>
        </p:txBody>
      </p:sp>
      <p:sp>
        <p:nvSpPr>
          <p:cNvPr id="251907" name="Rectangle 3">
            <a:extLst>
              <a:ext uri="{FF2B5EF4-FFF2-40B4-BE49-F238E27FC236}">
                <a16:creationId xmlns:a16="http://schemas.microsoft.com/office/drawing/2014/main" id="{F0AFC6F7-20BC-483C-95CE-DBCA038AFB3D}"/>
              </a:ext>
            </a:extLst>
          </p:cNvPr>
          <p:cNvSpPr>
            <a:spLocks noGrp="1" noChangeArrowheads="1"/>
          </p:cNvSpPr>
          <p:nvPr>
            <p:ph type="body" sz="half" idx="1"/>
          </p:nvPr>
        </p:nvSpPr>
        <p:spPr>
          <a:xfrm>
            <a:off x="111125" y="773113"/>
            <a:ext cx="8894763" cy="2071687"/>
          </a:xfrm>
          <a:noFill/>
        </p:spPr>
        <p:txBody>
          <a:bodyPr/>
          <a:lstStyle/>
          <a:p>
            <a:pPr marL="177800" indent="-177800">
              <a:spcBef>
                <a:spcPct val="75000"/>
              </a:spcBef>
            </a:pPr>
            <a:r>
              <a:rPr lang="en-GB" altLang="en-US" sz="1700" dirty="0">
                <a:effectLst/>
              </a:rPr>
              <a:t>Extension fractures open </a:t>
            </a:r>
            <a:r>
              <a:rPr lang="en-GB" altLang="en-US" sz="1700" dirty="0">
                <a:effectLst/>
                <a:cs typeface="Arial" panose="020B0604020202020204" pitchFamily="34" charset="0"/>
              </a:rPr>
              <a:t>→ they should be </a:t>
            </a:r>
            <a:r>
              <a:rPr lang="en-GB" altLang="en-US" sz="1700" dirty="0">
                <a:solidFill>
                  <a:srgbClr val="FF66CC"/>
                </a:solidFill>
                <a:effectLst/>
              </a:rPr>
              <a:t>restricted to shallow depths</a:t>
            </a:r>
            <a:r>
              <a:rPr lang="en-GB" altLang="en-US" sz="1700" dirty="0">
                <a:effectLst/>
              </a:rPr>
              <a:t> (small confining pressures). But dykes and veins are found to great depths (into the mantle), and the reason why this is possible relates to </a:t>
            </a:r>
            <a:r>
              <a:rPr lang="en-GB" altLang="en-US" sz="1700" dirty="0">
                <a:solidFill>
                  <a:srgbClr val="FF6600"/>
                </a:solidFill>
                <a:effectLst/>
              </a:rPr>
              <a:t>pore fluid pressure</a:t>
            </a:r>
          </a:p>
          <a:p>
            <a:pPr marL="177800" indent="-177800">
              <a:spcBef>
                <a:spcPct val="50000"/>
              </a:spcBef>
            </a:pPr>
            <a:r>
              <a:rPr lang="en-GB" altLang="en-US" sz="1700" dirty="0">
                <a:solidFill>
                  <a:srgbClr val="FF66CC"/>
                </a:solidFill>
                <a:effectLst/>
              </a:rPr>
              <a:t>Pore fluid pressure</a:t>
            </a:r>
            <a:r>
              <a:rPr lang="en-GB" altLang="en-US" sz="1700" dirty="0">
                <a:effectLst/>
              </a:rPr>
              <a:t> acts against the normal stresses, while leaving the shear stresses unaffected </a:t>
            </a:r>
            <a:r>
              <a:rPr lang="en-GB" altLang="en-US" sz="1700" dirty="0">
                <a:effectLst/>
                <a:cs typeface="Arial" panose="020B0604020202020204" pitchFamily="34" charset="0"/>
              </a:rPr>
              <a:t>→</a:t>
            </a:r>
            <a:r>
              <a:rPr lang="en-GB" altLang="en-US" sz="1700" dirty="0">
                <a:effectLst/>
              </a:rPr>
              <a:t> on a Mohr diagram pore fluid pressures shift the Mohr circle left without changing its diameter </a:t>
            </a:r>
            <a:r>
              <a:rPr lang="en-GB" altLang="en-US" sz="1700" dirty="0">
                <a:solidFill>
                  <a:srgbClr val="FFFF00"/>
                </a:solidFill>
                <a:effectLst/>
              </a:rPr>
              <a:t>(if the diagram is plotted with </a:t>
            </a:r>
            <a:r>
              <a:rPr lang="el-GR" altLang="en-US" sz="1700" i="1" dirty="0">
                <a:solidFill>
                  <a:srgbClr val="FFFF00"/>
                </a:solidFill>
                <a:effectLst/>
                <a:latin typeface="Cambria Math" panose="02040503050406030204" pitchFamily="18" charset="0"/>
                <a:ea typeface="Cambria Math" panose="02040503050406030204" pitchFamily="18" charset="0"/>
              </a:rPr>
              <a:t>σ</a:t>
            </a:r>
            <a:r>
              <a:rPr lang="en-GB" altLang="en-US" sz="1700" i="1" baseline="-25000" dirty="0">
                <a:solidFill>
                  <a:srgbClr val="FFFF00"/>
                </a:solidFill>
                <a:effectLst/>
                <a:latin typeface="Arial" panose="020B0604020202020204" pitchFamily="34" charset="0"/>
                <a:ea typeface="Cambria Math" panose="02040503050406030204" pitchFamily="18" charset="0"/>
              </a:rPr>
              <a:t>n</a:t>
            </a:r>
            <a:r>
              <a:rPr lang="en-GB" altLang="en-US" sz="1700" baseline="-25000" dirty="0">
                <a:solidFill>
                  <a:srgbClr val="FFFF00"/>
                </a:solidFill>
                <a:effectLst/>
                <a:latin typeface="Arial" panose="020B0604020202020204" pitchFamily="34" charset="0"/>
                <a:ea typeface="Cambria Math" panose="02040503050406030204" pitchFamily="18" charset="0"/>
              </a:rPr>
              <a:t>,</a:t>
            </a:r>
            <a:r>
              <a:rPr lang="en-GB" altLang="en-US" sz="500" baseline="-25000" dirty="0">
                <a:solidFill>
                  <a:srgbClr val="FFFF00"/>
                </a:solidFill>
                <a:effectLst/>
                <a:latin typeface="Arial" panose="020B0604020202020204" pitchFamily="34" charset="0"/>
                <a:ea typeface="Cambria Math" panose="02040503050406030204" pitchFamily="18" charset="0"/>
              </a:rPr>
              <a:t> </a:t>
            </a:r>
            <a:r>
              <a:rPr lang="en-GB" altLang="en-US" sz="1700" i="1" baseline="-25000" dirty="0">
                <a:solidFill>
                  <a:srgbClr val="FFFF00"/>
                </a:solidFill>
                <a:effectLst/>
                <a:latin typeface="Arial" panose="020B0604020202020204" pitchFamily="34" charset="0"/>
                <a:ea typeface="Cambria Math" panose="02040503050406030204" pitchFamily="18" charset="0"/>
              </a:rPr>
              <a:t>eff</a:t>
            </a:r>
            <a:r>
              <a:rPr lang="en-GB" altLang="en-US" sz="1700" dirty="0">
                <a:solidFill>
                  <a:srgbClr val="FFFF00"/>
                </a:solidFill>
                <a:effectLst/>
                <a:latin typeface="Arial" panose="020B0604020202020204" pitchFamily="34" charset="0"/>
                <a:ea typeface="Cambria Math" panose="02040503050406030204" pitchFamily="18" charset="0"/>
              </a:rPr>
              <a:t> not </a:t>
            </a:r>
            <a:r>
              <a:rPr lang="el-GR" altLang="en-US" sz="1700" i="1" dirty="0">
                <a:solidFill>
                  <a:srgbClr val="FFFF00"/>
                </a:solidFill>
                <a:effectLst/>
                <a:latin typeface="Cambria Math" panose="02040503050406030204" pitchFamily="18" charset="0"/>
                <a:ea typeface="Cambria Math" panose="02040503050406030204" pitchFamily="18" charset="0"/>
              </a:rPr>
              <a:t>σ</a:t>
            </a:r>
            <a:r>
              <a:rPr lang="en-GB" altLang="en-US" sz="1700" i="1" baseline="-25000" dirty="0">
                <a:solidFill>
                  <a:srgbClr val="FFFF00"/>
                </a:solidFill>
                <a:effectLst/>
                <a:latin typeface="Arial" panose="020B0604020202020204" pitchFamily="34" charset="0"/>
                <a:ea typeface="Cambria Math" panose="02040503050406030204" pitchFamily="18" charset="0"/>
              </a:rPr>
              <a:t>n</a:t>
            </a:r>
            <a:r>
              <a:rPr lang="en-GB" altLang="en-US" sz="1700" dirty="0">
                <a:solidFill>
                  <a:srgbClr val="FFFF00"/>
                </a:solidFill>
                <a:effectLst/>
                <a:latin typeface="Arial" panose="020B0604020202020204" pitchFamily="34" charset="0"/>
                <a:ea typeface="Cambria Math" panose="02040503050406030204" pitchFamily="18" charset="0"/>
              </a:rPr>
              <a:t> on the </a:t>
            </a:r>
            <a:r>
              <a:rPr lang="en-GB" altLang="en-US" sz="1700" i="1" dirty="0">
                <a:solidFill>
                  <a:srgbClr val="FFFF00"/>
                </a:solidFill>
                <a:effectLst/>
                <a:latin typeface="Arial" panose="020B0604020202020204" pitchFamily="34" charset="0"/>
                <a:ea typeface="Cambria Math" panose="02040503050406030204" pitchFamily="18" charset="0"/>
              </a:rPr>
              <a:t>x</a:t>
            </a:r>
            <a:r>
              <a:rPr lang="en-GB" altLang="en-US" sz="1700" dirty="0">
                <a:solidFill>
                  <a:srgbClr val="FFFF00"/>
                </a:solidFill>
                <a:effectLst/>
                <a:latin typeface="Arial" panose="020B0604020202020204" pitchFamily="34" charset="0"/>
                <a:ea typeface="Cambria Math" panose="02040503050406030204" pitchFamily="18" charset="0"/>
              </a:rPr>
              <a:t>-axis)</a:t>
            </a:r>
            <a:endParaRPr lang="en-GB" altLang="en-US" sz="1700" dirty="0">
              <a:solidFill>
                <a:srgbClr val="FFFF00"/>
              </a:solidFill>
              <a:effectLst/>
            </a:endParaRPr>
          </a:p>
        </p:txBody>
      </p:sp>
      <p:grpSp>
        <p:nvGrpSpPr>
          <p:cNvPr id="251922" name="Group 18">
            <a:extLst>
              <a:ext uri="{FF2B5EF4-FFF2-40B4-BE49-F238E27FC236}">
                <a16:creationId xmlns:a16="http://schemas.microsoft.com/office/drawing/2014/main" id="{E2335202-F1CD-4F13-94D7-679848E42EA6}"/>
              </a:ext>
            </a:extLst>
          </p:cNvPr>
          <p:cNvGrpSpPr>
            <a:grpSpLocks/>
          </p:cNvGrpSpPr>
          <p:nvPr/>
        </p:nvGrpSpPr>
        <p:grpSpPr bwMode="auto">
          <a:xfrm>
            <a:off x="3000375" y="3006725"/>
            <a:ext cx="5724525" cy="2503488"/>
            <a:chOff x="1511" y="1956"/>
            <a:chExt cx="4139" cy="1864"/>
          </a:xfrm>
        </p:grpSpPr>
        <p:sp>
          <p:nvSpPr>
            <p:cNvPr id="251919" name="Rectangle 15">
              <a:extLst>
                <a:ext uri="{FF2B5EF4-FFF2-40B4-BE49-F238E27FC236}">
                  <a16:creationId xmlns:a16="http://schemas.microsoft.com/office/drawing/2014/main" id="{8E23DB05-D3CA-4CAB-9DFC-52B23F260F1D}"/>
                </a:ext>
              </a:extLst>
            </p:cNvPr>
            <p:cNvSpPr>
              <a:spLocks noChangeArrowheads="1"/>
            </p:cNvSpPr>
            <p:nvPr/>
          </p:nvSpPr>
          <p:spPr bwMode="auto">
            <a:xfrm>
              <a:off x="1511" y="1956"/>
              <a:ext cx="4139" cy="1864"/>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251917" name="Picture 2" descr="GR33.jpg">
              <a:extLst>
                <a:ext uri="{FF2B5EF4-FFF2-40B4-BE49-F238E27FC236}">
                  <a16:creationId xmlns:a16="http://schemas.microsoft.com/office/drawing/2014/main" id="{426CF9CE-E2BF-4680-8709-97992CBA8FE0}"/>
                </a:ext>
              </a:extLst>
            </p:cNvPr>
            <p:cNvPicPr>
              <a:picLocks noChangeAspect="1"/>
            </p:cNvPicPr>
            <p:nvPr/>
          </p:nvPicPr>
          <p:blipFill>
            <a:blip r:embed="rId3">
              <a:lum bright="-6000" contrast="6000"/>
              <a:extLst>
                <a:ext uri="{28A0092B-C50C-407E-A947-70E740481C1C}">
                  <a14:useLocalDpi xmlns:a14="http://schemas.microsoft.com/office/drawing/2010/main" val="0"/>
                </a:ext>
              </a:extLst>
            </a:blip>
            <a:srcRect/>
            <a:stretch>
              <a:fillRect/>
            </a:stretch>
          </p:blipFill>
          <p:spPr bwMode="auto">
            <a:xfrm>
              <a:off x="1572" y="1999"/>
              <a:ext cx="4016" cy="17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
        <p:nvSpPr>
          <p:cNvPr id="251923" name="Text Box 19">
            <a:extLst>
              <a:ext uri="{FF2B5EF4-FFF2-40B4-BE49-F238E27FC236}">
                <a16:creationId xmlns:a16="http://schemas.microsoft.com/office/drawing/2014/main" id="{213F0DFA-8736-423C-8747-6927AE5301EE}"/>
              </a:ext>
            </a:extLst>
          </p:cNvPr>
          <p:cNvSpPr txBox="1">
            <a:spLocks noChangeArrowheads="1"/>
          </p:cNvSpPr>
          <p:nvPr/>
        </p:nvSpPr>
        <p:spPr bwMode="auto">
          <a:xfrm>
            <a:off x="103188" y="5665788"/>
            <a:ext cx="8897937" cy="102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9388" indent="-179388">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folHlink"/>
              </a:buClr>
              <a:buSzPct val="100000"/>
              <a:buFont typeface="Times" panose="02020603050405020304" pitchFamily="18" charset="0"/>
              <a:buChar char="•"/>
            </a:pPr>
            <a:r>
              <a:rPr lang="en-GB" altLang="en-US" sz="1700" dirty="0">
                <a:solidFill>
                  <a:srgbClr val="FF66CC"/>
                </a:solidFill>
                <a:effectLst/>
                <a:latin typeface="Arial" panose="020B0604020202020204" pitchFamily="34" charset="0"/>
              </a:rPr>
              <a:t>Increasing pore fluid pressure</a:t>
            </a:r>
            <a:r>
              <a:rPr lang="en-GB" altLang="en-US" sz="1700" dirty="0">
                <a:effectLst/>
                <a:latin typeface="Arial" panose="020B0604020202020204" pitchFamily="34" charset="0"/>
              </a:rPr>
              <a:t> leads to a shear fracture if the failure envelope is touched while the effective </a:t>
            </a:r>
            <a:r>
              <a:rPr lang="el-GR" altLang="en-US" sz="1700" i="1" dirty="0">
                <a:effectLst/>
                <a:latin typeface="Cambria Math" panose="02040503050406030204" pitchFamily="18" charset="0"/>
                <a:ea typeface="Cambria Math" panose="02040503050406030204" pitchFamily="18" charset="0"/>
              </a:rPr>
              <a:t>σ</a:t>
            </a:r>
            <a:r>
              <a:rPr lang="en-GB" altLang="en-US" sz="1700" baseline="-25000" dirty="0">
                <a:effectLst/>
                <a:latin typeface="Arial" panose="020B0604020202020204" pitchFamily="34" charset="0"/>
              </a:rPr>
              <a:t>3</a:t>
            </a:r>
            <a:r>
              <a:rPr lang="en-GB" altLang="en-US" sz="1700" dirty="0">
                <a:effectLst/>
                <a:latin typeface="Arial" panose="020B0604020202020204" pitchFamily="34" charset="0"/>
              </a:rPr>
              <a:t> </a:t>
            </a:r>
            <a:r>
              <a:rPr lang="en-GB" altLang="en-US" sz="1700" spc="200" dirty="0">
                <a:effectLst/>
                <a:latin typeface="Arial" panose="020B0604020202020204" pitchFamily="34" charset="0"/>
              </a:rPr>
              <a:t>(</a:t>
            </a:r>
            <a:r>
              <a:rPr lang="en-GB" altLang="en-US" sz="1700" dirty="0">
                <a:effectLst/>
                <a:latin typeface="Arial" panose="020B0604020202020204" pitchFamily="34" charset="0"/>
              </a:rPr>
              <a:t>= </a:t>
            </a:r>
            <a:r>
              <a:rPr lang="el-GR" altLang="en-US" sz="1700" i="1" dirty="0">
                <a:effectLst/>
                <a:latin typeface="Cambria Math" panose="02040503050406030204" pitchFamily="18" charset="0"/>
                <a:ea typeface="Cambria Math" panose="02040503050406030204" pitchFamily="18" charset="0"/>
              </a:rPr>
              <a:t>σ</a:t>
            </a:r>
            <a:r>
              <a:rPr lang="en-GB" altLang="en-US" sz="1700" baseline="-25000" dirty="0">
                <a:effectLst/>
                <a:latin typeface="Arial" panose="020B0604020202020204" pitchFamily="34" charset="0"/>
              </a:rPr>
              <a:t>3</a:t>
            </a:r>
            <a:r>
              <a:rPr lang="en-GB" altLang="en-US" sz="1700" dirty="0">
                <a:effectLst/>
                <a:latin typeface="Arial" panose="020B0604020202020204" pitchFamily="34" charset="0"/>
              </a:rPr>
              <a:t> - </a:t>
            </a:r>
            <a:r>
              <a:rPr lang="en-GB" altLang="en-US" sz="1700" i="1" dirty="0" err="1">
                <a:effectLst/>
                <a:latin typeface="Arial" panose="020B0604020202020204" pitchFamily="34" charset="0"/>
              </a:rPr>
              <a:t>p</a:t>
            </a:r>
            <a:r>
              <a:rPr lang="en-GB" altLang="en-US" sz="1700" i="1" baseline="-25000" dirty="0" err="1">
                <a:effectLst/>
                <a:latin typeface="Arial" panose="020B0604020202020204" pitchFamily="34" charset="0"/>
              </a:rPr>
              <a:t>flui</a:t>
            </a:r>
            <a:r>
              <a:rPr lang="en-GB" altLang="en-US" sz="1700" i="1" spc="200" baseline="-25000" dirty="0" err="1">
                <a:effectLst/>
                <a:latin typeface="Arial" panose="020B0604020202020204" pitchFamily="34" charset="0"/>
              </a:rPr>
              <a:t>d</a:t>
            </a:r>
            <a:r>
              <a:rPr lang="en-GB" altLang="en-US" sz="1700" dirty="0">
                <a:effectLst/>
                <a:latin typeface="Arial" panose="020B0604020202020204" pitchFamily="34" charset="0"/>
              </a:rPr>
              <a:t>) is still compressive (figure left) or to a hybrid or extension fracture if it is touched when the effective </a:t>
            </a:r>
            <a:r>
              <a:rPr lang="el-GR" altLang="en-US" sz="1700" i="1" dirty="0">
                <a:effectLst/>
                <a:latin typeface="Cambria Math" panose="02040503050406030204" pitchFamily="18" charset="0"/>
                <a:ea typeface="Cambria Math" panose="02040503050406030204" pitchFamily="18" charset="0"/>
              </a:rPr>
              <a:t>σ</a:t>
            </a:r>
            <a:r>
              <a:rPr lang="en-GB" altLang="en-US" sz="1700" baseline="-25000" dirty="0">
                <a:effectLst/>
                <a:latin typeface="Arial" panose="020B0604020202020204" pitchFamily="34" charset="0"/>
              </a:rPr>
              <a:t>3</a:t>
            </a:r>
            <a:r>
              <a:rPr lang="en-GB" altLang="en-US" sz="1700" dirty="0">
                <a:effectLst/>
                <a:latin typeface="Arial" panose="020B0604020202020204" pitchFamily="34" charset="0"/>
              </a:rPr>
              <a:t> is negative (figure right)</a:t>
            </a:r>
            <a:endParaRPr lang="en-GB" altLang="en-US" sz="1700" dirty="0">
              <a:effectLst>
                <a:outerShdw blurRad="38100" dist="38100" dir="2700000" algn="tl">
                  <a:srgbClr val="000000"/>
                </a:outerShdw>
              </a:effectLst>
              <a:latin typeface="Arial" panose="020B0604020202020204" pitchFamily="34" charset="0"/>
            </a:endParaRPr>
          </a:p>
        </p:txBody>
      </p:sp>
      <p:pic>
        <p:nvPicPr>
          <p:cNvPr id="251928" name="Picture 24">
            <a:extLst>
              <a:ext uri="{FF2B5EF4-FFF2-40B4-BE49-F238E27FC236}">
                <a16:creationId xmlns:a16="http://schemas.microsoft.com/office/drawing/2014/main" id="{AE4C2A53-33C2-4EE7-A7D2-BFCA41804B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4038" y="5124450"/>
            <a:ext cx="2189162" cy="361950"/>
          </a:xfrm>
          <a:prstGeom prst="rect">
            <a:avLst/>
          </a:prstGeom>
          <a:noFill/>
          <a:ln w="381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1929" name="Picture 25">
            <a:extLst>
              <a:ext uri="{FF2B5EF4-FFF2-40B4-BE49-F238E27FC236}">
                <a16:creationId xmlns:a16="http://schemas.microsoft.com/office/drawing/2014/main" id="{C0D3522F-64FF-44EB-A9D0-029D3E07CA0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0863" y="3024188"/>
            <a:ext cx="2192337" cy="1951037"/>
          </a:xfrm>
          <a:prstGeom prst="rect">
            <a:avLst/>
          </a:prstGeom>
          <a:noFill/>
          <a:ln w="381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Rectangle 2">
            <a:extLst>
              <a:ext uri="{FF2B5EF4-FFF2-40B4-BE49-F238E27FC236}">
                <a16:creationId xmlns:a16="http://schemas.microsoft.com/office/drawing/2014/main" id="{BB36C33C-620F-4A4E-9F8D-373BA3103163}"/>
              </a:ext>
            </a:extLst>
          </p:cNvPr>
          <p:cNvSpPr>
            <a:spLocks noGrp="1" noChangeArrowheads="1"/>
          </p:cNvSpPr>
          <p:nvPr>
            <p:ph type="title"/>
          </p:nvPr>
        </p:nvSpPr>
        <p:spPr>
          <a:noFill/>
        </p:spPr>
        <p:txBody>
          <a:bodyPr/>
          <a:lstStyle/>
          <a:p>
            <a:r>
              <a:rPr lang="en-GB" altLang="en-US" dirty="0">
                <a:effectLst/>
              </a:rPr>
              <a:t>Increasing the significance of fluid pressure </a:t>
            </a:r>
          </a:p>
        </p:txBody>
      </p:sp>
      <p:sp>
        <p:nvSpPr>
          <p:cNvPr id="289795" name="Rectangle 3">
            <a:extLst>
              <a:ext uri="{FF2B5EF4-FFF2-40B4-BE49-F238E27FC236}">
                <a16:creationId xmlns:a16="http://schemas.microsoft.com/office/drawing/2014/main" id="{A1377E8C-9F3D-45E2-A62D-965F1FEF050C}"/>
              </a:ext>
            </a:extLst>
          </p:cNvPr>
          <p:cNvSpPr>
            <a:spLocks noGrp="1" noChangeArrowheads="1"/>
          </p:cNvSpPr>
          <p:nvPr>
            <p:ph type="body" sz="half" idx="1"/>
          </p:nvPr>
        </p:nvSpPr>
        <p:spPr>
          <a:xfrm>
            <a:off x="119063" y="881063"/>
            <a:ext cx="8902700" cy="5700712"/>
          </a:xfrm>
          <a:noFill/>
        </p:spPr>
        <p:txBody>
          <a:bodyPr/>
          <a:lstStyle/>
          <a:p>
            <a:pPr marL="179388" indent="-179388">
              <a:spcBef>
                <a:spcPct val="75000"/>
              </a:spcBef>
            </a:pPr>
            <a:r>
              <a:rPr lang="en-GB" altLang="en-US" sz="1700" dirty="0">
                <a:effectLst/>
              </a:rPr>
              <a:t>Processes that increase pore fluid pressure relative to the confining pressure and may thereby lead to fracturing include:</a:t>
            </a:r>
          </a:p>
          <a:p>
            <a:pPr marL="631825" lvl="1" indent="-273050">
              <a:spcBef>
                <a:spcPct val="75000"/>
              </a:spcBef>
              <a:buClr>
                <a:srgbClr val="FF6600"/>
              </a:buClr>
              <a:buFont typeface="Times" panose="02020603050405020304" pitchFamily="18" charset="0"/>
              <a:buAutoNum type="arabicPeriod"/>
            </a:pPr>
            <a:r>
              <a:rPr lang="en-GB" altLang="en-US" sz="1700" dirty="0">
                <a:solidFill>
                  <a:srgbClr val="FF6600"/>
                </a:solidFill>
                <a:effectLst/>
              </a:rPr>
              <a:t>Compaction and cementation:</a:t>
            </a:r>
            <a:r>
              <a:rPr lang="en-GB" altLang="en-US" sz="1700" dirty="0">
                <a:effectLst/>
              </a:rPr>
              <a:t> reduces pore volume and so raises pore pressure</a:t>
            </a:r>
          </a:p>
          <a:p>
            <a:pPr marL="631825" lvl="1" indent="-273050">
              <a:spcBef>
                <a:spcPct val="75000"/>
              </a:spcBef>
              <a:buClr>
                <a:srgbClr val="FF6600"/>
              </a:buClr>
              <a:buFont typeface="Times" panose="02020603050405020304" pitchFamily="18" charset="0"/>
              <a:buAutoNum type="arabicPeriod"/>
            </a:pPr>
            <a:r>
              <a:rPr lang="en-GB" altLang="en-US" sz="1700" dirty="0">
                <a:solidFill>
                  <a:srgbClr val="FF6600"/>
                </a:solidFill>
                <a:effectLst/>
              </a:rPr>
              <a:t>Erosion:</a:t>
            </a:r>
            <a:r>
              <a:rPr lang="en-GB" altLang="en-US" sz="1700" dirty="0">
                <a:effectLst/>
              </a:rPr>
              <a:t> removes overburden (decreases confining pressure) and so, if the fluid cannot leak away, this increases the relative significance of the pore pressure</a:t>
            </a:r>
          </a:p>
          <a:p>
            <a:pPr marL="631825" lvl="1" indent="-273050">
              <a:spcBef>
                <a:spcPct val="75000"/>
              </a:spcBef>
              <a:buClr>
                <a:srgbClr val="FF6600"/>
              </a:buClr>
              <a:buFont typeface="Times" panose="02020603050405020304" pitchFamily="18" charset="0"/>
              <a:buAutoNum type="arabicPeriod"/>
            </a:pPr>
            <a:r>
              <a:rPr lang="en-GB" altLang="en-US" sz="1700" dirty="0">
                <a:solidFill>
                  <a:srgbClr val="FF6600"/>
                </a:solidFill>
                <a:effectLst/>
              </a:rPr>
              <a:t>Osmosis:</a:t>
            </a:r>
            <a:r>
              <a:rPr lang="en-GB" altLang="en-US" sz="1700" dirty="0">
                <a:effectLst/>
              </a:rPr>
              <a:t> separation of aqueous fluid reservoirs of different salinities by a semi-permeable membrane (</a:t>
            </a:r>
            <a:r>
              <a:rPr lang="en-GB" altLang="en-US" sz="1700" i="1" dirty="0">
                <a:effectLst/>
              </a:rPr>
              <a:t>e.g.</a:t>
            </a:r>
            <a:r>
              <a:rPr lang="en-GB" altLang="en-US" sz="1700" dirty="0">
                <a:effectLst/>
              </a:rPr>
              <a:t>, clay-rich layer) causes fluid diffusion from the less saline fluid to the more saline fluid</a:t>
            </a:r>
          </a:p>
          <a:p>
            <a:pPr marL="631825" lvl="1" indent="-273050">
              <a:spcBef>
                <a:spcPct val="75000"/>
              </a:spcBef>
              <a:buClr>
                <a:srgbClr val="FF6600"/>
              </a:buClr>
              <a:buFont typeface="Times" panose="02020603050405020304" pitchFamily="18" charset="0"/>
              <a:buAutoNum type="arabicPeriod"/>
            </a:pPr>
            <a:r>
              <a:rPr lang="en-GB" altLang="en-US" sz="1700" dirty="0">
                <a:solidFill>
                  <a:srgbClr val="FF6600"/>
                </a:solidFill>
                <a:effectLst/>
              </a:rPr>
              <a:t>Production of fluid through diagenetic or metamorphic reactions</a:t>
            </a:r>
            <a:r>
              <a:rPr lang="en-GB" altLang="en-US" sz="1700" dirty="0">
                <a:effectLst/>
              </a:rPr>
              <a:t> (dehydration of hydrous minerals, </a:t>
            </a:r>
            <a:r>
              <a:rPr lang="en-GB" altLang="en-US" sz="1700" i="1" dirty="0">
                <a:effectLst/>
              </a:rPr>
              <a:t>e.g.</a:t>
            </a:r>
            <a:r>
              <a:rPr lang="en-GB" altLang="en-US" sz="1700" dirty="0">
                <a:effectLst/>
              </a:rPr>
              <a:t>, clays, micas, amphiboles, and melting reactions)</a:t>
            </a:r>
          </a:p>
          <a:p>
            <a:pPr marL="631825" lvl="1" indent="-273050">
              <a:spcBef>
                <a:spcPct val="75000"/>
              </a:spcBef>
              <a:buClr>
                <a:srgbClr val="FF6600"/>
              </a:buClr>
              <a:buFont typeface="Times" panose="02020603050405020304" pitchFamily="18" charset="0"/>
              <a:buAutoNum type="arabicPeriod"/>
            </a:pPr>
            <a:r>
              <a:rPr lang="en-GB" altLang="en-US" sz="1700" dirty="0">
                <a:solidFill>
                  <a:srgbClr val="FF6600"/>
                </a:solidFill>
                <a:effectLst/>
              </a:rPr>
              <a:t>Differences in thermal expansion</a:t>
            </a:r>
            <a:r>
              <a:rPr lang="en-GB" altLang="en-US" sz="1700" dirty="0">
                <a:effectLst/>
              </a:rPr>
              <a:t> between the pore fluids and host rocks during heating</a:t>
            </a:r>
          </a:p>
          <a:p>
            <a:pPr marL="179388" indent="-179388">
              <a:spcBef>
                <a:spcPct val="75000"/>
              </a:spcBef>
              <a:buClr>
                <a:schemeClr val="tx1"/>
              </a:buClr>
            </a:pPr>
            <a:r>
              <a:rPr lang="en-GB" altLang="en-US" sz="1700" dirty="0">
                <a:effectLst/>
              </a:rPr>
              <a:t>An important first step in interpreting natural fractures is to consider the potential significance of each of these</a:t>
            </a: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0AAEB1F4-8308-4E7C-9560-C87626B9C80E}"/>
              </a:ext>
            </a:extLst>
          </p:cNvPr>
          <p:cNvSpPr>
            <a:spLocks noGrp="1" noChangeArrowheads="1"/>
          </p:cNvSpPr>
          <p:nvPr>
            <p:ph type="ctrTitle" idx="4294967295"/>
          </p:nvPr>
        </p:nvSpPr>
        <p:spPr bwMode="black">
          <a:xfrm>
            <a:off x="125413" y="1157288"/>
            <a:ext cx="8909050" cy="2833687"/>
          </a:xfrm>
          <a:effectLst>
            <a:outerShdw dist="35921" dir="2700000" algn="ctr" rotWithShape="0">
              <a:schemeClr val="bg2"/>
            </a:outerShdw>
          </a:effectLst>
          <a:extLst>
            <a:ext uri="{909E8E84-426E-40DD-AFC4-6F175D3DCCD1}">
              <a14:hiddenFill xmlns:a14="http://schemas.microsoft.com/office/drawing/2010/main">
                <a:solidFill>
                  <a:schemeClr val="bg1"/>
                </a:solidFill>
              </a14:hiddenFill>
            </a:ext>
          </a:extLst>
        </p:spPr>
        <p:txBody>
          <a:bodyPr anchor="ctr">
            <a:spAutoFit/>
          </a:bodyPr>
          <a:lstStyle/>
          <a:p>
            <a:pPr algn="ctr">
              <a:lnSpc>
                <a:spcPct val="120000"/>
              </a:lnSpc>
            </a:pPr>
            <a:br>
              <a:rPr lang="en-US" altLang="en-US" sz="3500"/>
            </a:br>
            <a:br>
              <a:rPr lang="en-US" altLang="en-US" sz="3500"/>
            </a:br>
            <a:br>
              <a:rPr lang="en-US" altLang="en-US" sz="1600"/>
            </a:br>
            <a:r>
              <a:rPr lang="en-US" altLang="en-US" sz="3200">
                <a:solidFill>
                  <a:srgbClr val="FF6600"/>
                </a:solidFill>
              </a:rPr>
              <a:t>Characterization of fractures</a:t>
            </a:r>
            <a:br>
              <a:rPr lang="en-US" altLang="en-US" sz="3200">
                <a:solidFill>
                  <a:srgbClr val="FF6600"/>
                </a:solidFill>
              </a:rPr>
            </a:br>
            <a:r>
              <a:rPr lang="en-US" altLang="en-US" sz="3200">
                <a:solidFill>
                  <a:srgbClr val="FF6600"/>
                </a:solidFill>
              </a:rPr>
              <a:t>(things to be aware of in the field)</a:t>
            </a:r>
            <a:endParaRPr lang="en-US" altLang="en-US">
              <a:solidFill>
                <a:srgbClr val="FF6600"/>
              </a:solidFill>
            </a:endParaRPr>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5230" name="Picture 14" descr="07a1-Amroth">
            <a:extLst>
              <a:ext uri="{FF2B5EF4-FFF2-40B4-BE49-F238E27FC236}">
                <a16:creationId xmlns:a16="http://schemas.microsoft.com/office/drawing/2014/main" id="{32A735AB-1F93-4031-8290-4B50B363F08B}"/>
              </a:ext>
            </a:extLst>
          </p:cNvPr>
          <p:cNvPicPr>
            <a:picLocks noChangeAspect="1" noChangeArrowheads="1"/>
          </p:cNvPicPr>
          <p:nvPr/>
        </p:nvPicPr>
        <p:blipFill>
          <a:blip r:embed="rId3">
            <a:lum bright="-4000" contrast="6000"/>
            <a:extLst>
              <a:ext uri="{28A0092B-C50C-407E-A947-70E740481C1C}">
                <a14:useLocalDpi xmlns:a14="http://schemas.microsoft.com/office/drawing/2010/main" val="0"/>
              </a:ext>
            </a:extLst>
          </a:blip>
          <a:srcRect/>
          <a:stretch>
            <a:fillRect/>
          </a:stretch>
        </p:blipFill>
        <p:spPr bwMode="auto">
          <a:xfrm>
            <a:off x="3776663" y="3619500"/>
            <a:ext cx="5240337" cy="298132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65229" name="Rectangle 13">
            <a:extLst>
              <a:ext uri="{FF2B5EF4-FFF2-40B4-BE49-F238E27FC236}">
                <a16:creationId xmlns:a16="http://schemas.microsoft.com/office/drawing/2014/main" id="{74B3F26C-2A95-4126-A173-A4401451908B}"/>
              </a:ext>
            </a:extLst>
          </p:cNvPr>
          <p:cNvSpPr>
            <a:spLocks noChangeArrowheads="1"/>
          </p:cNvSpPr>
          <p:nvPr/>
        </p:nvSpPr>
        <p:spPr bwMode="auto">
          <a:xfrm>
            <a:off x="6400800" y="1622425"/>
            <a:ext cx="2630488" cy="1762125"/>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65218" name="Rectangle 2">
            <a:extLst>
              <a:ext uri="{FF2B5EF4-FFF2-40B4-BE49-F238E27FC236}">
                <a16:creationId xmlns:a16="http://schemas.microsoft.com/office/drawing/2014/main" id="{EAB73049-9B31-4DA9-9487-EDAA93F56CB6}"/>
              </a:ext>
            </a:extLst>
          </p:cNvPr>
          <p:cNvSpPr>
            <a:spLocks noGrp="1" noChangeArrowheads="1"/>
          </p:cNvSpPr>
          <p:nvPr>
            <p:ph type="title"/>
          </p:nvPr>
        </p:nvSpPr>
        <p:spPr>
          <a:noFill/>
        </p:spPr>
        <p:txBody>
          <a:bodyPr/>
          <a:lstStyle/>
          <a:p>
            <a:r>
              <a:rPr lang="en-GB" altLang="en-US">
                <a:effectLst/>
              </a:rPr>
              <a:t>Surface morphology (extension fractures) </a:t>
            </a:r>
          </a:p>
        </p:txBody>
      </p:sp>
      <p:sp>
        <p:nvSpPr>
          <p:cNvPr id="265219" name="Rectangle 3">
            <a:extLst>
              <a:ext uri="{FF2B5EF4-FFF2-40B4-BE49-F238E27FC236}">
                <a16:creationId xmlns:a16="http://schemas.microsoft.com/office/drawing/2014/main" id="{DABE77EA-74F0-4F47-AA44-802419DF1704}"/>
              </a:ext>
            </a:extLst>
          </p:cNvPr>
          <p:cNvSpPr>
            <a:spLocks noGrp="1" noChangeArrowheads="1"/>
          </p:cNvSpPr>
          <p:nvPr>
            <p:ph type="body" sz="half" idx="1"/>
          </p:nvPr>
        </p:nvSpPr>
        <p:spPr>
          <a:xfrm>
            <a:off x="127000" y="779463"/>
            <a:ext cx="8832850" cy="1073150"/>
          </a:xfrm>
          <a:noFill/>
        </p:spPr>
        <p:txBody>
          <a:bodyPr/>
          <a:lstStyle/>
          <a:p>
            <a:pPr marL="177800" indent="-177800">
              <a:spcBef>
                <a:spcPct val="75000"/>
              </a:spcBef>
            </a:pPr>
            <a:r>
              <a:rPr lang="en-GB" altLang="en-US" sz="1700">
                <a:effectLst/>
              </a:rPr>
              <a:t>The surfaces of extension fractures commonly show a subtle pattern of ridges and grooves (</a:t>
            </a:r>
            <a:r>
              <a:rPr lang="en-GB" altLang="en-US" sz="1700">
                <a:solidFill>
                  <a:srgbClr val="FF6600"/>
                </a:solidFill>
                <a:effectLst/>
              </a:rPr>
              <a:t>hackle</a:t>
            </a:r>
            <a:r>
              <a:rPr lang="en-GB" altLang="en-US" sz="1700">
                <a:effectLst/>
              </a:rPr>
              <a:t>) diverging from a central axis (</a:t>
            </a:r>
            <a:r>
              <a:rPr lang="en-GB" altLang="en-US" sz="1700">
                <a:solidFill>
                  <a:srgbClr val="FF6600"/>
                </a:solidFill>
                <a:effectLst/>
              </a:rPr>
              <a:t>plumose structures</a:t>
            </a:r>
            <a:r>
              <a:rPr lang="en-GB" altLang="en-US" sz="1700">
                <a:effectLst/>
              </a:rPr>
              <a:t> or </a:t>
            </a:r>
            <a:r>
              <a:rPr lang="en-GB" altLang="en-US" sz="1700">
                <a:solidFill>
                  <a:srgbClr val="FF6600"/>
                </a:solidFill>
                <a:effectLst/>
              </a:rPr>
              <a:t>hackle plumes</a:t>
            </a:r>
            <a:r>
              <a:rPr lang="en-GB" altLang="en-US" sz="1700">
                <a:effectLst/>
              </a:rPr>
              <a:t>). These</a:t>
            </a:r>
            <a:r>
              <a:rPr lang="en-GB" altLang="en-US" sz="1700">
                <a:solidFill>
                  <a:srgbClr val="FF6600"/>
                </a:solidFill>
                <a:effectLst/>
              </a:rPr>
              <a:t> </a:t>
            </a:r>
            <a:r>
              <a:rPr lang="en-GB" altLang="en-US" sz="1700">
                <a:effectLst/>
              </a:rPr>
              <a:t>indicate the fracture propagation direction</a:t>
            </a:r>
          </a:p>
        </p:txBody>
      </p:sp>
      <p:grpSp>
        <p:nvGrpSpPr>
          <p:cNvPr id="265226" name="Group 10">
            <a:extLst>
              <a:ext uri="{FF2B5EF4-FFF2-40B4-BE49-F238E27FC236}">
                <a16:creationId xmlns:a16="http://schemas.microsoft.com/office/drawing/2014/main" id="{3868B28C-E0E9-49E1-8EDE-00D28DD44DE7}"/>
              </a:ext>
            </a:extLst>
          </p:cNvPr>
          <p:cNvGrpSpPr>
            <a:grpSpLocks/>
          </p:cNvGrpSpPr>
          <p:nvPr/>
        </p:nvGrpSpPr>
        <p:grpSpPr bwMode="auto">
          <a:xfrm>
            <a:off x="227013" y="3619500"/>
            <a:ext cx="3128962" cy="2989263"/>
            <a:chOff x="143" y="2280"/>
            <a:chExt cx="1971" cy="1883"/>
          </a:xfrm>
        </p:grpSpPr>
        <p:sp>
          <p:nvSpPr>
            <p:cNvPr id="265225" name="Rectangle 9">
              <a:extLst>
                <a:ext uri="{FF2B5EF4-FFF2-40B4-BE49-F238E27FC236}">
                  <a16:creationId xmlns:a16="http://schemas.microsoft.com/office/drawing/2014/main" id="{0AEEF59E-D1BC-4C81-B940-CE7D8A51F4CB}"/>
                </a:ext>
              </a:extLst>
            </p:cNvPr>
            <p:cNvSpPr>
              <a:spLocks noChangeArrowheads="1"/>
            </p:cNvSpPr>
            <p:nvPr/>
          </p:nvSpPr>
          <p:spPr bwMode="auto">
            <a:xfrm>
              <a:off x="143" y="2280"/>
              <a:ext cx="1971" cy="1883"/>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265220" name="Picture 2" descr="GR25.jpg">
              <a:extLst>
                <a:ext uri="{FF2B5EF4-FFF2-40B4-BE49-F238E27FC236}">
                  <a16:creationId xmlns:a16="http://schemas.microsoft.com/office/drawing/2014/main" id="{6CBFE3F9-D911-4B8D-AFEF-E5CBFAFDA093}"/>
                </a:ext>
              </a:extLst>
            </p:cNvPr>
            <p:cNvPicPr>
              <a:picLocks noChangeAspect="1"/>
            </p:cNvPicPr>
            <p:nvPr/>
          </p:nvPicPr>
          <p:blipFill>
            <a:blip r:embed="rId4">
              <a:lum bright="-6000" contrast="10000"/>
              <a:extLst>
                <a:ext uri="{28A0092B-C50C-407E-A947-70E740481C1C}">
                  <a14:useLocalDpi xmlns:a14="http://schemas.microsoft.com/office/drawing/2010/main" val="0"/>
                </a:ext>
              </a:extLst>
            </a:blip>
            <a:srcRect/>
            <a:stretch>
              <a:fillRect/>
            </a:stretch>
          </p:blipFill>
          <p:spPr bwMode="auto">
            <a:xfrm>
              <a:off x="198" y="2323"/>
              <a:ext cx="1868" cy="17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pic>
        <p:nvPicPr>
          <p:cNvPr id="265227" name="Picture 2" descr="GR26.jpg">
            <a:extLst>
              <a:ext uri="{FF2B5EF4-FFF2-40B4-BE49-F238E27FC236}">
                <a16:creationId xmlns:a16="http://schemas.microsoft.com/office/drawing/2014/main" id="{D6B93C3B-EC39-44B6-8554-BB5090D1B570}"/>
              </a:ext>
            </a:extLst>
          </p:cNvPr>
          <p:cNvPicPr>
            <a:picLocks noChangeAspect="1"/>
          </p:cNvPicPr>
          <p:nvPr/>
        </p:nvPicPr>
        <p:blipFill>
          <a:blip r:embed="rId5">
            <a:extLst>
              <a:ext uri="{28A0092B-C50C-407E-A947-70E740481C1C}">
                <a14:useLocalDpi xmlns:a14="http://schemas.microsoft.com/office/drawing/2010/main" val="0"/>
              </a:ext>
            </a:extLst>
          </a:blip>
          <a:srcRect l="7481" r="10643" b="18094"/>
          <a:stretch>
            <a:fillRect/>
          </a:stretch>
        </p:blipFill>
        <p:spPr bwMode="auto">
          <a:xfrm>
            <a:off x="6489700" y="1698625"/>
            <a:ext cx="2466975" cy="1624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65228" name="Text Box 12">
            <a:extLst>
              <a:ext uri="{FF2B5EF4-FFF2-40B4-BE49-F238E27FC236}">
                <a16:creationId xmlns:a16="http://schemas.microsoft.com/office/drawing/2014/main" id="{5943B9AE-4085-496F-A762-A1D467629EDC}"/>
              </a:ext>
            </a:extLst>
          </p:cNvPr>
          <p:cNvSpPr txBox="1">
            <a:spLocks noChangeArrowheads="1"/>
          </p:cNvSpPr>
          <p:nvPr/>
        </p:nvSpPr>
        <p:spPr bwMode="auto">
          <a:xfrm>
            <a:off x="122238" y="1865313"/>
            <a:ext cx="6137275" cy="1336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9388" indent="-179388">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folHlink"/>
              </a:buClr>
              <a:buSzPct val="100000"/>
              <a:buFont typeface="Times" panose="02020603050405020304" pitchFamily="18" charset="0"/>
              <a:buChar char="•"/>
            </a:pPr>
            <a:r>
              <a:rPr lang="en-GB" altLang="en-US" sz="1700">
                <a:effectLst/>
                <a:latin typeface="Arial" panose="020B0604020202020204" pitchFamily="34" charset="0"/>
              </a:rPr>
              <a:t>At the edge of the fracture face, the plane may segment into a series of planes slightly twisted from the main face to form a </a:t>
            </a:r>
            <a:r>
              <a:rPr lang="en-GB" altLang="en-US" sz="1700">
                <a:solidFill>
                  <a:srgbClr val="FF6600"/>
                </a:solidFill>
                <a:effectLst/>
                <a:latin typeface="Arial" panose="020B0604020202020204" pitchFamily="34" charset="0"/>
              </a:rPr>
              <a:t>hackle fringe</a:t>
            </a:r>
            <a:r>
              <a:rPr lang="en-GB" altLang="en-US" sz="1700">
                <a:effectLst/>
                <a:latin typeface="Arial" panose="020B0604020202020204" pitchFamily="34" charset="0"/>
              </a:rPr>
              <a:t> of en échelon extension fractures. </a:t>
            </a:r>
            <a:r>
              <a:rPr lang="en-GB" altLang="en-US" sz="1700">
                <a:solidFill>
                  <a:srgbClr val="FF66CC"/>
                </a:solidFill>
                <a:effectLst/>
                <a:latin typeface="Arial" panose="020B0604020202020204" pitchFamily="34" charset="0"/>
              </a:rPr>
              <a:t>Second order hackle plumes</a:t>
            </a:r>
            <a:r>
              <a:rPr lang="en-GB" altLang="en-US" sz="1700">
                <a:effectLst/>
                <a:latin typeface="Arial" panose="020B0604020202020204" pitchFamily="34" charset="0"/>
              </a:rPr>
              <a:t> may be developed on the fringe faces</a:t>
            </a:r>
            <a:endParaRPr lang="en-GB" altLang="en-US" sz="1700">
              <a:effectLst>
                <a:outerShdw blurRad="38100" dist="38100" dir="2700000" algn="tl">
                  <a:srgbClr val="000000"/>
                </a:outerShdw>
              </a:effectLst>
              <a:latin typeface="Arial" panose="020B0604020202020204" pitchFamily="34" charset="0"/>
            </a:endParaRPr>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7" name="Rectangle 3">
            <a:extLst>
              <a:ext uri="{FF2B5EF4-FFF2-40B4-BE49-F238E27FC236}">
                <a16:creationId xmlns:a16="http://schemas.microsoft.com/office/drawing/2014/main" id="{BEC96723-95D8-412C-972C-4E01323AB7A7}"/>
              </a:ext>
            </a:extLst>
          </p:cNvPr>
          <p:cNvSpPr>
            <a:spLocks noGrp="1" noChangeArrowheads="1"/>
          </p:cNvSpPr>
          <p:nvPr>
            <p:ph type="title"/>
          </p:nvPr>
        </p:nvSpPr>
        <p:spPr>
          <a:noFill/>
        </p:spPr>
        <p:txBody>
          <a:bodyPr/>
          <a:lstStyle/>
          <a:p>
            <a:r>
              <a:rPr lang="en-GB" altLang="en-US">
                <a:effectLst/>
              </a:rPr>
              <a:t>Surface morphology (extension fractures)  2 </a:t>
            </a:r>
          </a:p>
        </p:txBody>
      </p:sp>
      <p:sp>
        <p:nvSpPr>
          <p:cNvPr id="267268" name="Rectangle 4">
            <a:extLst>
              <a:ext uri="{FF2B5EF4-FFF2-40B4-BE49-F238E27FC236}">
                <a16:creationId xmlns:a16="http://schemas.microsoft.com/office/drawing/2014/main" id="{0023F07E-679E-4915-A140-D0BBFA7868EE}"/>
              </a:ext>
            </a:extLst>
          </p:cNvPr>
          <p:cNvSpPr>
            <a:spLocks noGrp="1" noChangeArrowheads="1"/>
          </p:cNvSpPr>
          <p:nvPr>
            <p:ph type="body" sz="half" idx="1"/>
          </p:nvPr>
        </p:nvSpPr>
        <p:spPr>
          <a:xfrm>
            <a:off x="114300" y="776288"/>
            <a:ext cx="5238750" cy="3495675"/>
          </a:xfrm>
          <a:noFill/>
        </p:spPr>
        <p:txBody>
          <a:bodyPr/>
          <a:lstStyle/>
          <a:p>
            <a:pPr marL="177800" indent="-177800">
              <a:spcBef>
                <a:spcPct val="50000"/>
              </a:spcBef>
            </a:pPr>
            <a:r>
              <a:rPr lang="en-GB" altLang="en-US" sz="1700" dirty="0">
                <a:effectLst/>
              </a:rPr>
              <a:t>Sometimes curvilinear </a:t>
            </a:r>
            <a:r>
              <a:rPr lang="en-GB" altLang="en-US" sz="1700" dirty="0">
                <a:solidFill>
                  <a:srgbClr val="FF6600"/>
                </a:solidFill>
                <a:effectLst/>
              </a:rPr>
              <a:t>rib marks</a:t>
            </a:r>
            <a:r>
              <a:rPr lang="en-GB" altLang="en-US" sz="1700" dirty="0">
                <a:effectLst/>
              </a:rPr>
              <a:t> and </a:t>
            </a:r>
            <a:r>
              <a:rPr lang="en-GB" altLang="en-US" sz="1700" dirty="0">
                <a:solidFill>
                  <a:srgbClr val="FF6600"/>
                </a:solidFill>
                <a:effectLst/>
              </a:rPr>
              <a:t>ripple marks</a:t>
            </a:r>
            <a:r>
              <a:rPr lang="en-GB" altLang="en-US" sz="1700" dirty="0">
                <a:effectLst/>
              </a:rPr>
              <a:t> cross the lines of the hackle</a:t>
            </a:r>
          </a:p>
          <a:p>
            <a:pPr marL="177800" indent="-177800">
              <a:spcBef>
                <a:spcPct val="50000"/>
              </a:spcBef>
            </a:pPr>
            <a:r>
              <a:rPr lang="en-GB" altLang="en-US" sz="1700" dirty="0">
                <a:solidFill>
                  <a:srgbClr val="FF66CC"/>
                </a:solidFill>
                <a:effectLst/>
              </a:rPr>
              <a:t>Rib marks</a:t>
            </a:r>
            <a:r>
              <a:rPr lang="en-GB" altLang="en-US" sz="1700" dirty="0">
                <a:effectLst/>
              </a:rPr>
              <a:t> are cuspate in section or are composed of smoothly curved ramps and are perpendicular to the hackle lines. They are interpreted as arrest lines formed when fracture propagation temporarily stopped</a:t>
            </a:r>
          </a:p>
          <a:p>
            <a:pPr marL="177800" indent="-177800">
              <a:spcBef>
                <a:spcPct val="50000"/>
              </a:spcBef>
            </a:pPr>
            <a:r>
              <a:rPr lang="en-GB" altLang="en-US" sz="1700" dirty="0">
                <a:solidFill>
                  <a:srgbClr val="FF66CC"/>
                </a:solidFill>
                <a:effectLst/>
              </a:rPr>
              <a:t>Ripple marks</a:t>
            </a:r>
            <a:r>
              <a:rPr lang="en-GB" altLang="en-US" sz="1700" dirty="0">
                <a:effectLst/>
              </a:rPr>
              <a:t> are rounded and oblique to the hackle lines and are thought to form during very fast fracture propagation</a:t>
            </a:r>
          </a:p>
        </p:txBody>
      </p:sp>
      <p:grpSp>
        <p:nvGrpSpPr>
          <p:cNvPr id="267285" name="Group 21">
            <a:extLst>
              <a:ext uri="{FF2B5EF4-FFF2-40B4-BE49-F238E27FC236}">
                <a16:creationId xmlns:a16="http://schemas.microsoft.com/office/drawing/2014/main" id="{42BADBA1-70AF-47F9-9468-A93607C358EA}"/>
              </a:ext>
            </a:extLst>
          </p:cNvPr>
          <p:cNvGrpSpPr>
            <a:grpSpLocks/>
          </p:cNvGrpSpPr>
          <p:nvPr/>
        </p:nvGrpSpPr>
        <p:grpSpPr bwMode="auto">
          <a:xfrm>
            <a:off x="5410200" y="895350"/>
            <a:ext cx="3376613" cy="3252788"/>
            <a:chOff x="3408" y="564"/>
            <a:chExt cx="2127" cy="2049"/>
          </a:xfrm>
        </p:grpSpPr>
        <p:sp>
          <p:nvSpPr>
            <p:cNvPr id="267280" name="Rectangle 16">
              <a:extLst>
                <a:ext uri="{FF2B5EF4-FFF2-40B4-BE49-F238E27FC236}">
                  <a16:creationId xmlns:a16="http://schemas.microsoft.com/office/drawing/2014/main" id="{5FB04B5F-2226-4F9E-A247-BD81CC5294F8}"/>
                </a:ext>
              </a:extLst>
            </p:cNvPr>
            <p:cNvSpPr>
              <a:spLocks noChangeArrowheads="1"/>
            </p:cNvSpPr>
            <p:nvPr/>
          </p:nvSpPr>
          <p:spPr bwMode="auto">
            <a:xfrm>
              <a:off x="3408" y="564"/>
              <a:ext cx="2127" cy="2049"/>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267275" name="Picture 11" descr="07b">
              <a:extLst>
                <a:ext uri="{FF2B5EF4-FFF2-40B4-BE49-F238E27FC236}">
                  <a16:creationId xmlns:a16="http://schemas.microsoft.com/office/drawing/2014/main" id="{9383A453-C216-40E5-912A-CF8AC84A4A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54" y="595"/>
              <a:ext cx="2045" cy="19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67277" name="Rectangle 13">
              <a:extLst>
                <a:ext uri="{FF2B5EF4-FFF2-40B4-BE49-F238E27FC236}">
                  <a16:creationId xmlns:a16="http://schemas.microsoft.com/office/drawing/2014/main" id="{344EEA9D-296F-4A9F-8368-7A021BFA84C4}"/>
                </a:ext>
              </a:extLst>
            </p:cNvPr>
            <p:cNvSpPr>
              <a:spLocks noChangeArrowheads="1"/>
            </p:cNvSpPr>
            <p:nvPr/>
          </p:nvSpPr>
          <p:spPr bwMode="auto">
            <a:xfrm>
              <a:off x="3447" y="1210"/>
              <a:ext cx="101" cy="206"/>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67278" name="Rectangle 14">
              <a:extLst>
                <a:ext uri="{FF2B5EF4-FFF2-40B4-BE49-F238E27FC236}">
                  <a16:creationId xmlns:a16="http://schemas.microsoft.com/office/drawing/2014/main" id="{6B206788-8057-4DE0-9387-086080335900}"/>
                </a:ext>
              </a:extLst>
            </p:cNvPr>
            <p:cNvSpPr>
              <a:spLocks noChangeArrowheads="1"/>
            </p:cNvSpPr>
            <p:nvPr/>
          </p:nvSpPr>
          <p:spPr bwMode="auto">
            <a:xfrm>
              <a:off x="3580" y="1889"/>
              <a:ext cx="129" cy="167"/>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67279" name="Rectangle 15">
              <a:extLst>
                <a:ext uri="{FF2B5EF4-FFF2-40B4-BE49-F238E27FC236}">
                  <a16:creationId xmlns:a16="http://schemas.microsoft.com/office/drawing/2014/main" id="{945F37ED-6E4B-4C9E-957B-07359BC63EAB}"/>
                </a:ext>
              </a:extLst>
            </p:cNvPr>
            <p:cNvSpPr>
              <a:spLocks noChangeArrowheads="1"/>
            </p:cNvSpPr>
            <p:nvPr/>
          </p:nvSpPr>
          <p:spPr bwMode="auto">
            <a:xfrm>
              <a:off x="3775" y="2429"/>
              <a:ext cx="146" cy="128"/>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pic>
        <p:nvPicPr>
          <p:cNvPr id="267281" name="Picture 17" descr="07c">
            <a:extLst>
              <a:ext uri="{FF2B5EF4-FFF2-40B4-BE49-F238E27FC236}">
                <a16:creationId xmlns:a16="http://schemas.microsoft.com/office/drawing/2014/main" id="{AF94FFBF-07B3-4F71-8F34-1D6D6F97B14F}"/>
              </a:ext>
            </a:extLst>
          </p:cNvPr>
          <p:cNvPicPr>
            <a:picLocks noChangeAspect="1" noChangeArrowheads="1"/>
          </p:cNvPicPr>
          <p:nvPr/>
        </p:nvPicPr>
        <p:blipFill>
          <a:blip r:embed="rId4">
            <a:lum bright="-10000" contrast="20000"/>
            <a:extLst>
              <a:ext uri="{28A0092B-C50C-407E-A947-70E740481C1C}">
                <a14:useLocalDpi xmlns:a14="http://schemas.microsoft.com/office/drawing/2010/main" val="0"/>
              </a:ext>
            </a:extLst>
          </a:blip>
          <a:srcRect/>
          <a:stretch>
            <a:fillRect/>
          </a:stretch>
        </p:blipFill>
        <p:spPr bwMode="auto">
          <a:xfrm>
            <a:off x="433388" y="4421188"/>
            <a:ext cx="6251575" cy="2090737"/>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67284" name="Text Box 20">
            <a:extLst>
              <a:ext uri="{FF2B5EF4-FFF2-40B4-BE49-F238E27FC236}">
                <a16:creationId xmlns:a16="http://schemas.microsoft.com/office/drawing/2014/main" id="{9671B6E7-5480-4D12-ACF0-1E637EE4E77E}"/>
              </a:ext>
            </a:extLst>
          </p:cNvPr>
          <p:cNvSpPr txBox="1">
            <a:spLocks noChangeArrowheads="1"/>
          </p:cNvSpPr>
          <p:nvPr/>
        </p:nvSpPr>
        <p:spPr bwMode="auto">
          <a:xfrm>
            <a:off x="6891338" y="4373563"/>
            <a:ext cx="1925637" cy="155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Hackle marks on intersecting fracture surfaces may allow the relative timing of fracture formation to be established</a:t>
            </a:r>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1371" name="Picture 11" descr="08a1a-Amroth">
            <a:extLst>
              <a:ext uri="{FF2B5EF4-FFF2-40B4-BE49-F238E27FC236}">
                <a16:creationId xmlns:a16="http://schemas.microsoft.com/office/drawing/2014/main" id="{2751714C-D5FA-47D6-BC0A-BB4F973165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354"/>
          <a:stretch>
            <a:fillRect/>
          </a:stretch>
        </p:blipFill>
        <p:spPr bwMode="auto">
          <a:xfrm>
            <a:off x="2913063" y="1981200"/>
            <a:ext cx="2835275" cy="4033838"/>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71363" name="Rectangle 3">
            <a:extLst>
              <a:ext uri="{FF2B5EF4-FFF2-40B4-BE49-F238E27FC236}">
                <a16:creationId xmlns:a16="http://schemas.microsoft.com/office/drawing/2014/main" id="{864EC3F2-44A8-4367-94EA-C4CE5C077C1A}"/>
              </a:ext>
            </a:extLst>
          </p:cNvPr>
          <p:cNvSpPr>
            <a:spLocks noGrp="1" noChangeArrowheads="1"/>
          </p:cNvSpPr>
          <p:nvPr>
            <p:ph type="title"/>
          </p:nvPr>
        </p:nvSpPr>
        <p:spPr>
          <a:noFill/>
        </p:spPr>
        <p:txBody>
          <a:bodyPr/>
          <a:lstStyle/>
          <a:p>
            <a:r>
              <a:rPr lang="en-GB" altLang="en-US" dirty="0">
                <a:effectLst/>
              </a:rPr>
              <a:t>Fracture shape and propagation (extension fractures) </a:t>
            </a:r>
          </a:p>
        </p:txBody>
      </p:sp>
      <p:sp>
        <p:nvSpPr>
          <p:cNvPr id="271364" name="Rectangle 4">
            <a:extLst>
              <a:ext uri="{FF2B5EF4-FFF2-40B4-BE49-F238E27FC236}">
                <a16:creationId xmlns:a16="http://schemas.microsoft.com/office/drawing/2014/main" id="{D4277AF3-61AB-4268-90FB-53B51650056F}"/>
              </a:ext>
            </a:extLst>
          </p:cNvPr>
          <p:cNvSpPr>
            <a:spLocks noGrp="1" noChangeArrowheads="1"/>
          </p:cNvSpPr>
          <p:nvPr>
            <p:ph type="body" sz="half" idx="1"/>
          </p:nvPr>
        </p:nvSpPr>
        <p:spPr>
          <a:xfrm>
            <a:off x="109538" y="798513"/>
            <a:ext cx="5830887" cy="1030287"/>
          </a:xfrm>
          <a:noFill/>
        </p:spPr>
        <p:txBody>
          <a:bodyPr/>
          <a:lstStyle/>
          <a:p>
            <a:pPr marL="177800" indent="-177800">
              <a:spcBef>
                <a:spcPct val="50000"/>
              </a:spcBef>
            </a:pPr>
            <a:r>
              <a:rPr lang="en-GB" altLang="en-US" sz="1700">
                <a:effectLst/>
              </a:rPr>
              <a:t>Fractures are generally approximated as </a:t>
            </a:r>
            <a:r>
              <a:rPr lang="en-GB" altLang="en-US" sz="1700">
                <a:solidFill>
                  <a:srgbClr val="FF66CC"/>
                </a:solidFill>
                <a:effectLst/>
              </a:rPr>
              <a:t>elliptical</a:t>
            </a:r>
            <a:r>
              <a:rPr lang="en-GB" altLang="en-US" sz="1700">
                <a:effectLst/>
              </a:rPr>
              <a:t>, and this is supported by systematic analyses of hackle and rib marks</a:t>
            </a:r>
            <a:endParaRPr lang="en-GB" altLang="en-US" sz="1700">
              <a:solidFill>
                <a:srgbClr val="FF66CC"/>
              </a:solidFill>
              <a:effectLst/>
            </a:endParaRPr>
          </a:p>
        </p:txBody>
      </p:sp>
      <p:pic>
        <p:nvPicPr>
          <p:cNvPr id="271374" name="Picture 14" descr="FractShape1">
            <a:extLst>
              <a:ext uri="{FF2B5EF4-FFF2-40B4-BE49-F238E27FC236}">
                <a16:creationId xmlns:a16="http://schemas.microsoft.com/office/drawing/2014/main" id="{314F97ED-017B-404D-AFE9-0AA48D2287A9}"/>
              </a:ext>
            </a:extLst>
          </p:cNvPr>
          <p:cNvPicPr>
            <a:picLocks noGrp="1" noChangeAspect="1" noChangeArrowheads="1"/>
          </p:cNvPicPr>
          <p:nvPr>
            <p:ph sz="quarter" idx="2"/>
          </p:nvPr>
        </p:nvPicPr>
        <p:blipFill>
          <a:blip r:embed="rId4">
            <a:extLst>
              <a:ext uri="{28A0092B-C50C-407E-A947-70E740481C1C}">
                <a14:useLocalDpi xmlns:a14="http://schemas.microsoft.com/office/drawing/2010/main" val="0"/>
              </a:ext>
            </a:extLst>
          </a:blip>
          <a:srcRect/>
          <a:stretch>
            <a:fillRect/>
          </a:stretch>
        </p:blipFill>
        <p:spPr>
          <a:xfrm>
            <a:off x="6154738" y="887413"/>
            <a:ext cx="2784475" cy="287020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71376" name="Rectangle 16">
            <a:extLst>
              <a:ext uri="{FF2B5EF4-FFF2-40B4-BE49-F238E27FC236}">
                <a16:creationId xmlns:a16="http://schemas.microsoft.com/office/drawing/2014/main" id="{177FE48A-3001-4D25-BF7E-98F2F483A953}"/>
              </a:ext>
            </a:extLst>
          </p:cNvPr>
          <p:cNvSpPr>
            <a:spLocks noChangeArrowheads="1"/>
          </p:cNvSpPr>
          <p:nvPr/>
        </p:nvSpPr>
        <p:spPr bwMode="auto">
          <a:xfrm>
            <a:off x="5969000" y="3902075"/>
            <a:ext cx="2925763" cy="2809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7800" indent="-177800">
              <a:lnSpc>
                <a:spcPct val="120000"/>
              </a:lnSpc>
              <a:spcBef>
                <a:spcPct val="100000"/>
              </a:spcBef>
              <a:buClr>
                <a:schemeClr val="folHlink"/>
              </a:buClr>
              <a:buSzPct val="100000"/>
              <a:buFont typeface="Times" panose="02020603050405020304" pitchFamily="18" charset="0"/>
              <a:buChar char="•"/>
              <a:defRPr>
                <a:solidFill>
                  <a:schemeClr val="tx1"/>
                </a:solidFill>
                <a:latin typeface="Arial" panose="020B0604020202020204" pitchFamily="34" charset="0"/>
              </a:defRPr>
            </a:lvl1pPr>
            <a:lvl2pPr marL="839788" indent="-304800">
              <a:lnSpc>
                <a:spcPct val="120000"/>
              </a:lnSpc>
              <a:spcBef>
                <a:spcPct val="50000"/>
              </a:spcBef>
              <a:buClr>
                <a:schemeClr val="folHlink"/>
              </a:buClr>
              <a:buSzPct val="100000"/>
              <a:buFont typeface="Times" panose="02020603050405020304" pitchFamily="18" charset="0"/>
              <a:buChar char="•"/>
              <a:defRPr sz="1600">
                <a:solidFill>
                  <a:schemeClr val="tx1"/>
                </a:solidFill>
                <a:latin typeface="Arial" panose="020B0604020202020204" pitchFamily="34" charset="0"/>
              </a:defRPr>
            </a:lvl2pPr>
            <a:lvl3pPr marL="1317625" indent="-26670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3pPr>
            <a:lvl4pPr marL="1736725" indent="-26670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4pPr>
            <a:lvl5pPr marL="2178050" indent="-266700">
              <a:spcBef>
                <a:spcPct val="25000"/>
              </a:spcBef>
              <a:buClr>
                <a:schemeClr val="folHlink"/>
              </a:buClr>
              <a:buSzPct val="50000"/>
              <a:buFont typeface="Times" panose="02020603050405020304" pitchFamily="18" charset="0"/>
              <a:buChar char="•"/>
              <a:defRPr sz="1400">
                <a:solidFill>
                  <a:schemeClr val="tx1"/>
                </a:solidFill>
                <a:latin typeface="Arial" panose="020B0604020202020204" pitchFamily="34" charset="0"/>
              </a:defRPr>
            </a:lvl5pPr>
            <a:lvl6pPr marL="2635250" indent="-2667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6pPr>
            <a:lvl7pPr marL="3092450" indent="-2667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7pPr>
            <a:lvl8pPr marL="3549650" indent="-2667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8pPr>
            <a:lvl9pPr marL="4006850" indent="-2667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9pPr>
          </a:lstStyle>
          <a:p>
            <a:pPr>
              <a:spcBef>
                <a:spcPct val="50000"/>
              </a:spcBef>
            </a:pPr>
            <a:r>
              <a:rPr lang="en-GB" altLang="en-US" sz="1700">
                <a:effectLst/>
              </a:rPr>
              <a:t>Extension fractures </a:t>
            </a:r>
            <a:r>
              <a:rPr lang="en-GB" altLang="en-US" sz="1700">
                <a:solidFill>
                  <a:srgbClr val="FF66CC"/>
                </a:solidFill>
                <a:effectLst/>
              </a:rPr>
              <a:t>propagate in their own plane</a:t>
            </a:r>
          </a:p>
          <a:p>
            <a:pPr>
              <a:spcBef>
                <a:spcPct val="60000"/>
              </a:spcBef>
            </a:pPr>
            <a:r>
              <a:rPr lang="en-GB" altLang="en-US" sz="1700">
                <a:effectLst/>
              </a:rPr>
              <a:t>Extension fractures that are 10s cm to 100s m long and have repeat distances of several cm to 10s m are known as </a:t>
            </a:r>
            <a:r>
              <a:rPr lang="en-GB" altLang="en-US" sz="1700">
                <a:solidFill>
                  <a:srgbClr val="FF66CC"/>
                </a:solidFill>
                <a:effectLst/>
              </a:rPr>
              <a:t>master joints</a:t>
            </a:r>
          </a:p>
        </p:txBody>
      </p:sp>
      <p:pic>
        <p:nvPicPr>
          <p:cNvPr id="271379" name="Picture 19" descr="Skrinkle1">
            <a:extLst>
              <a:ext uri="{FF2B5EF4-FFF2-40B4-BE49-F238E27FC236}">
                <a16:creationId xmlns:a16="http://schemas.microsoft.com/office/drawing/2014/main" id="{8C70DD71-176E-44A7-B048-641F0FB043FF}"/>
              </a:ext>
            </a:extLst>
          </p:cNvPr>
          <p:cNvPicPr>
            <a:picLocks noGrp="1" noChangeAspect="1" noChangeArrowheads="1"/>
          </p:cNvPicPr>
          <p:nvPr>
            <p:ph sz="quarter" idx="3"/>
          </p:nvPr>
        </p:nvPicPr>
        <p:blipFill>
          <a:blip r:embed="rId5">
            <a:extLst>
              <a:ext uri="{28A0092B-C50C-407E-A947-70E740481C1C}">
                <a14:useLocalDpi xmlns:a14="http://schemas.microsoft.com/office/drawing/2010/main" val="0"/>
              </a:ext>
            </a:extLst>
          </a:blip>
          <a:srcRect/>
          <a:stretch>
            <a:fillRect/>
          </a:stretch>
        </p:blipFill>
        <p:spPr>
          <a:xfrm>
            <a:off x="273050" y="1976438"/>
            <a:ext cx="2414588" cy="4027487"/>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71381" name="Text Box 21">
            <a:extLst>
              <a:ext uri="{FF2B5EF4-FFF2-40B4-BE49-F238E27FC236}">
                <a16:creationId xmlns:a16="http://schemas.microsoft.com/office/drawing/2014/main" id="{7734C7CA-2F8F-48FC-9F62-204E6ED3FF85}"/>
              </a:ext>
            </a:extLst>
          </p:cNvPr>
          <p:cNvSpPr txBox="1">
            <a:spLocks noChangeArrowheads="1"/>
          </p:cNvSpPr>
          <p:nvPr/>
        </p:nvSpPr>
        <p:spPr bwMode="auto">
          <a:xfrm>
            <a:off x="280988" y="6084888"/>
            <a:ext cx="5000625"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In interbedded successions, fracture dimension normal to the layering may be limited by bed thickness</a:t>
            </a: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Rectangle 2">
            <a:extLst>
              <a:ext uri="{FF2B5EF4-FFF2-40B4-BE49-F238E27FC236}">
                <a16:creationId xmlns:a16="http://schemas.microsoft.com/office/drawing/2014/main" id="{EDD603B0-58C3-4CC7-BC74-91CA2ADEF9A5}"/>
              </a:ext>
            </a:extLst>
          </p:cNvPr>
          <p:cNvSpPr>
            <a:spLocks noGrp="1" noChangeArrowheads="1"/>
          </p:cNvSpPr>
          <p:nvPr>
            <p:ph type="title"/>
          </p:nvPr>
        </p:nvSpPr>
        <p:spPr>
          <a:noFill/>
        </p:spPr>
        <p:txBody>
          <a:bodyPr/>
          <a:lstStyle/>
          <a:p>
            <a:r>
              <a:rPr lang="en-GB" altLang="en-US" dirty="0">
                <a:effectLst/>
              </a:rPr>
              <a:t>Fracture propagation (shear fractures) </a:t>
            </a:r>
          </a:p>
        </p:txBody>
      </p:sp>
      <p:sp>
        <p:nvSpPr>
          <p:cNvPr id="294915" name="Rectangle 3">
            <a:extLst>
              <a:ext uri="{FF2B5EF4-FFF2-40B4-BE49-F238E27FC236}">
                <a16:creationId xmlns:a16="http://schemas.microsoft.com/office/drawing/2014/main" id="{B4FBC6A1-EC95-45DA-A55A-612695C9E05A}"/>
              </a:ext>
            </a:extLst>
          </p:cNvPr>
          <p:cNvSpPr>
            <a:spLocks noGrp="1" noChangeArrowheads="1"/>
          </p:cNvSpPr>
          <p:nvPr>
            <p:ph type="body" sz="half" idx="1"/>
          </p:nvPr>
        </p:nvSpPr>
        <p:spPr>
          <a:xfrm>
            <a:off x="123825" y="785813"/>
            <a:ext cx="5514975" cy="3409950"/>
          </a:xfrm>
          <a:noFill/>
        </p:spPr>
        <p:txBody>
          <a:bodyPr/>
          <a:lstStyle/>
          <a:p>
            <a:pPr marL="177800" indent="-177800">
              <a:spcBef>
                <a:spcPct val="50000"/>
              </a:spcBef>
            </a:pPr>
            <a:r>
              <a:rPr lang="en-GB" altLang="en-US" sz="1700" dirty="0">
                <a:effectLst/>
              </a:rPr>
              <a:t>In contrast, </a:t>
            </a:r>
            <a:r>
              <a:rPr lang="en-GB" altLang="en-US" sz="1700" dirty="0">
                <a:solidFill>
                  <a:srgbClr val="FF66CC"/>
                </a:solidFill>
                <a:effectLst/>
              </a:rPr>
              <a:t>shear fractures cannot propagate in their own plane</a:t>
            </a:r>
            <a:r>
              <a:rPr lang="en-GB" altLang="en-US" sz="1700" dirty="0">
                <a:effectLst/>
              </a:rPr>
              <a:t> but instead propagate either by generating new extension cracks at their tips (</a:t>
            </a:r>
            <a:r>
              <a:rPr lang="en-GB" altLang="en-US" sz="1700" dirty="0">
                <a:solidFill>
                  <a:srgbClr val="FF6600"/>
                </a:solidFill>
                <a:effectLst/>
              </a:rPr>
              <a:t>wing cracks</a:t>
            </a:r>
            <a:r>
              <a:rPr lang="en-GB" altLang="en-US" sz="1700" dirty="0">
                <a:effectLst/>
              </a:rPr>
              <a:t>) or by linking up already existing extension cracks</a:t>
            </a:r>
          </a:p>
          <a:p>
            <a:pPr marL="177800" indent="-177800">
              <a:spcBef>
                <a:spcPct val="50000"/>
              </a:spcBef>
            </a:pPr>
            <a:r>
              <a:rPr lang="en-GB" altLang="en-US" sz="1700" dirty="0">
                <a:effectLst/>
              </a:rPr>
              <a:t>At the </a:t>
            </a:r>
            <a:r>
              <a:rPr lang="en-GB" altLang="en-US" sz="1700" dirty="0">
                <a:solidFill>
                  <a:srgbClr val="FF66CC"/>
                </a:solidFill>
                <a:effectLst/>
              </a:rPr>
              <a:t>terminations </a:t>
            </a:r>
            <a:r>
              <a:rPr lang="en-GB" altLang="en-US" sz="1700" dirty="0">
                <a:effectLst/>
              </a:rPr>
              <a:t>of shear fractures the displacement of the main fracture is distributed on many smaller fractures, arranged as synthetic shear fractures (</a:t>
            </a:r>
            <a:r>
              <a:rPr lang="en-GB" altLang="en-US" sz="1700" dirty="0">
                <a:solidFill>
                  <a:srgbClr val="FF6600"/>
                </a:solidFill>
                <a:effectLst/>
              </a:rPr>
              <a:t>splaying</a:t>
            </a:r>
            <a:r>
              <a:rPr lang="en-GB" altLang="en-US" sz="1700" dirty="0">
                <a:effectLst/>
              </a:rPr>
              <a:t>), as extension fractures on one side of the fracture (</a:t>
            </a:r>
            <a:r>
              <a:rPr lang="en-GB" altLang="en-US" sz="1700" dirty="0" err="1">
                <a:solidFill>
                  <a:srgbClr val="FF6600"/>
                </a:solidFill>
                <a:effectLst/>
              </a:rPr>
              <a:t>horsetailing</a:t>
            </a:r>
            <a:r>
              <a:rPr lang="en-GB" altLang="en-US" sz="1700" dirty="0">
                <a:effectLst/>
              </a:rPr>
              <a:t>), or as </a:t>
            </a:r>
            <a:r>
              <a:rPr lang="en-GB" altLang="en-US" sz="1700" dirty="0">
                <a:solidFill>
                  <a:srgbClr val="FF6600"/>
                </a:solidFill>
                <a:effectLst/>
              </a:rPr>
              <a:t>antithetic shear fractures</a:t>
            </a:r>
          </a:p>
        </p:txBody>
      </p:sp>
      <p:grpSp>
        <p:nvGrpSpPr>
          <p:cNvPr id="294927" name="Group 15">
            <a:extLst>
              <a:ext uri="{FF2B5EF4-FFF2-40B4-BE49-F238E27FC236}">
                <a16:creationId xmlns:a16="http://schemas.microsoft.com/office/drawing/2014/main" id="{C4F53FA8-71FA-4DFE-80A3-19B718AF021B}"/>
              </a:ext>
            </a:extLst>
          </p:cNvPr>
          <p:cNvGrpSpPr>
            <a:grpSpLocks/>
          </p:cNvGrpSpPr>
          <p:nvPr/>
        </p:nvGrpSpPr>
        <p:grpSpPr bwMode="auto">
          <a:xfrm>
            <a:off x="742950" y="4324350"/>
            <a:ext cx="4241800" cy="2222500"/>
            <a:chOff x="533" y="2896"/>
            <a:chExt cx="2446" cy="1282"/>
          </a:xfrm>
        </p:grpSpPr>
        <p:sp>
          <p:nvSpPr>
            <p:cNvPr id="294925" name="Rectangle 13">
              <a:extLst>
                <a:ext uri="{FF2B5EF4-FFF2-40B4-BE49-F238E27FC236}">
                  <a16:creationId xmlns:a16="http://schemas.microsoft.com/office/drawing/2014/main" id="{78A9B99F-35C8-4052-823C-C44EAD2AA080}"/>
                </a:ext>
              </a:extLst>
            </p:cNvPr>
            <p:cNvSpPr>
              <a:spLocks noChangeArrowheads="1"/>
            </p:cNvSpPr>
            <p:nvPr/>
          </p:nvSpPr>
          <p:spPr bwMode="auto">
            <a:xfrm>
              <a:off x="533" y="2896"/>
              <a:ext cx="2446" cy="1282"/>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294921" name="Picture 2" descr="GR27.jpg">
              <a:extLst>
                <a:ext uri="{FF2B5EF4-FFF2-40B4-BE49-F238E27FC236}">
                  <a16:creationId xmlns:a16="http://schemas.microsoft.com/office/drawing/2014/main" id="{55200BF3-2FEE-41F4-81A9-A96F6ACD0EB5}"/>
                </a:ext>
              </a:extLst>
            </p:cNvPr>
            <p:cNvPicPr>
              <a:picLocks noChangeAspect="1"/>
            </p:cNvPicPr>
            <p:nvPr/>
          </p:nvPicPr>
          <p:blipFill>
            <a:blip r:embed="rId3">
              <a:lum bright="-10000" contrast="20000"/>
              <a:extLst>
                <a:ext uri="{28A0092B-C50C-407E-A947-70E740481C1C}">
                  <a14:useLocalDpi xmlns:a14="http://schemas.microsoft.com/office/drawing/2010/main" val="0"/>
                </a:ext>
              </a:extLst>
            </a:blip>
            <a:srcRect/>
            <a:stretch>
              <a:fillRect/>
            </a:stretch>
          </p:blipFill>
          <p:spPr bwMode="auto">
            <a:xfrm>
              <a:off x="562" y="2932"/>
              <a:ext cx="2356" cy="11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pic>
        <p:nvPicPr>
          <p:cNvPr id="294923" name="Picture 2" descr="GR28.jpg">
            <a:extLst>
              <a:ext uri="{FF2B5EF4-FFF2-40B4-BE49-F238E27FC236}">
                <a16:creationId xmlns:a16="http://schemas.microsoft.com/office/drawing/2014/main" id="{11B9BD9F-1483-4487-8CC2-4BF5A4A8BF4A}"/>
              </a:ext>
            </a:extLst>
          </p:cNvPr>
          <p:cNvPicPr>
            <a:picLocks noGrp="1" noChangeAspect="1"/>
          </p:cNvPicPr>
          <p:nvPr>
            <p:ph sz="quarter" idx="3"/>
          </p:nvPr>
        </p:nvPicPr>
        <p:blipFill>
          <a:blip r:embed="rId4">
            <a:lum bright="-6000"/>
            <a:extLst>
              <a:ext uri="{28A0092B-C50C-407E-A947-70E740481C1C}">
                <a14:useLocalDpi xmlns:a14="http://schemas.microsoft.com/office/drawing/2010/main" val="0"/>
              </a:ext>
            </a:extLst>
          </a:blip>
          <a:srcRect/>
          <a:stretch>
            <a:fillRect/>
          </a:stretch>
        </p:blipFill>
        <p:spPr>
          <a:xfrm>
            <a:off x="5691188" y="971550"/>
            <a:ext cx="3162300" cy="476885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94926" name="Text Box 14">
            <a:extLst>
              <a:ext uri="{FF2B5EF4-FFF2-40B4-BE49-F238E27FC236}">
                <a16:creationId xmlns:a16="http://schemas.microsoft.com/office/drawing/2014/main" id="{2A331954-EE00-4B46-AF36-65030B336C93}"/>
              </a:ext>
            </a:extLst>
          </p:cNvPr>
          <p:cNvSpPr txBox="1">
            <a:spLocks noChangeArrowheads="1"/>
          </p:cNvSpPr>
          <p:nvPr/>
        </p:nvSpPr>
        <p:spPr bwMode="auto">
          <a:xfrm>
            <a:off x="6121400" y="5862638"/>
            <a:ext cx="26797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Horsetailing at the end of a shear fracture in gneiss</a:t>
            </a:r>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9" name="Rectangle 3">
            <a:extLst>
              <a:ext uri="{FF2B5EF4-FFF2-40B4-BE49-F238E27FC236}">
                <a16:creationId xmlns:a16="http://schemas.microsoft.com/office/drawing/2014/main" id="{F5689849-5338-41A2-8C22-8DED7853CA95}"/>
              </a:ext>
            </a:extLst>
          </p:cNvPr>
          <p:cNvSpPr>
            <a:spLocks noGrp="1" noChangeArrowheads="1"/>
          </p:cNvSpPr>
          <p:nvPr>
            <p:ph type="title"/>
          </p:nvPr>
        </p:nvSpPr>
        <p:spPr>
          <a:noFill/>
        </p:spPr>
        <p:txBody>
          <a:bodyPr/>
          <a:lstStyle/>
          <a:p>
            <a:r>
              <a:rPr lang="en-GB" altLang="en-US" dirty="0">
                <a:effectLst/>
              </a:rPr>
              <a:t>Fracture interaction </a:t>
            </a:r>
          </a:p>
        </p:txBody>
      </p:sp>
      <p:sp>
        <p:nvSpPr>
          <p:cNvPr id="413700" name="Rectangle 4">
            <a:extLst>
              <a:ext uri="{FF2B5EF4-FFF2-40B4-BE49-F238E27FC236}">
                <a16:creationId xmlns:a16="http://schemas.microsoft.com/office/drawing/2014/main" id="{F5A506C7-E36D-4AC6-BC20-10ACD04D4CC8}"/>
              </a:ext>
            </a:extLst>
          </p:cNvPr>
          <p:cNvSpPr>
            <a:spLocks noGrp="1" noChangeArrowheads="1"/>
          </p:cNvSpPr>
          <p:nvPr>
            <p:ph type="body" sz="half" idx="1"/>
          </p:nvPr>
        </p:nvSpPr>
        <p:spPr>
          <a:xfrm>
            <a:off x="114300" y="776288"/>
            <a:ext cx="8910638" cy="1090612"/>
          </a:xfrm>
          <a:noFill/>
        </p:spPr>
        <p:txBody>
          <a:bodyPr/>
          <a:lstStyle/>
          <a:p>
            <a:pPr marL="177800" indent="-177800">
              <a:spcBef>
                <a:spcPct val="75000"/>
              </a:spcBef>
            </a:pPr>
            <a:r>
              <a:rPr lang="en-GB" altLang="en-US" sz="1700" dirty="0">
                <a:effectLst/>
              </a:rPr>
              <a:t>The </a:t>
            </a:r>
            <a:r>
              <a:rPr lang="en-GB" altLang="en-US" sz="1700" dirty="0">
                <a:solidFill>
                  <a:srgbClr val="FF6600"/>
                </a:solidFill>
                <a:effectLst/>
              </a:rPr>
              <a:t>stress field is perturbed</a:t>
            </a:r>
            <a:r>
              <a:rPr lang="en-GB" altLang="en-US" sz="1700" dirty="0">
                <a:effectLst/>
              </a:rPr>
              <a:t> around fractures. If a new fracture grows towards another, it encounters the local perturbation of the remote stress field that has been set up by the other fracture and </a:t>
            </a:r>
            <a:r>
              <a:rPr lang="en-GB" altLang="en-US" sz="1700" dirty="0">
                <a:solidFill>
                  <a:srgbClr val="FF66CC"/>
                </a:solidFill>
                <a:effectLst/>
              </a:rPr>
              <a:t>curves</a:t>
            </a:r>
            <a:r>
              <a:rPr lang="en-GB" altLang="en-US" sz="1700" dirty="0">
                <a:effectLst/>
              </a:rPr>
              <a:t> so as to maintain a 90° angle to the local </a:t>
            </a:r>
            <a:r>
              <a:rPr lang="el-GR" altLang="en-US" sz="1700" i="1" dirty="0">
                <a:effectLst/>
                <a:latin typeface="Cambria Math" panose="02040503050406030204" pitchFamily="18" charset="0"/>
                <a:ea typeface="Cambria Math" panose="02040503050406030204" pitchFamily="18" charset="0"/>
              </a:rPr>
              <a:t>σ</a:t>
            </a:r>
            <a:r>
              <a:rPr lang="en-GB" altLang="en-US" sz="1700" baseline="-25000" dirty="0">
                <a:effectLst/>
              </a:rPr>
              <a:t>3</a:t>
            </a:r>
          </a:p>
        </p:txBody>
      </p:sp>
      <p:grpSp>
        <p:nvGrpSpPr>
          <p:cNvPr id="413708" name="Group 12">
            <a:extLst>
              <a:ext uri="{FF2B5EF4-FFF2-40B4-BE49-F238E27FC236}">
                <a16:creationId xmlns:a16="http://schemas.microsoft.com/office/drawing/2014/main" id="{54B52040-7CFA-424A-B39C-F28F327BD521}"/>
              </a:ext>
            </a:extLst>
          </p:cNvPr>
          <p:cNvGrpSpPr>
            <a:grpSpLocks/>
          </p:cNvGrpSpPr>
          <p:nvPr/>
        </p:nvGrpSpPr>
        <p:grpSpPr bwMode="auto">
          <a:xfrm>
            <a:off x="677863" y="3365500"/>
            <a:ext cx="3349625" cy="3298825"/>
            <a:chOff x="427" y="2231"/>
            <a:chExt cx="1997" cy="1967"/>
          </a:xfrm>
        </p:grpSpPr>
        <p:sp>
          <p:nvSpPr>
            <p:cNvPr id="413698" name="Rectangle 2">
              <a:extLst>
                <a:ext uri="{FF2B5EF4-FFF2-40B4-BE49-F238E27FC236}">
                  <a16:creationId xmlns:a16="http://schemas.microsoft.com/office/drawing/2014/main" id="{CD3C14C3-F56D-4E74-91D5-241A10B8A70B}"/>
                </a:ext>
              </a:extLst>
            </p:cNvPr>
            <p:cNvSpPr>
              <a:spLocks noChangeArrowheads="1"/>
            </p:cNvSpPr>
            <p:nvPr/>
          </p:nvSpPr>
          <p:spPr bwMode="auto">
            <a:xfrm>
              <a:off x="427" y="2231"/>
              <a:ext cx="1997" cy="1967"/>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413703" name="Picture 7" descr="08b">
              <a:extLst>
                <a:ext uri="{FF2B5EF4-FFF2-40B4-BE49-F238E27FC236}">
                  <a16:creationId xmlns:a16="http://schemas.microsoft.com/office/drawing/2014/main" id="{DAD8D6E7-6CE0-40BD-9B61-401362554B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 y="2285"/>
              <a:ext cx="1871" cy="18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sng">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pic>
        <p:nvPicPr>
          <p:cNvPr id="413705" name="Picture 9" descr="08b4">
            <a:extLst>
              <a:ext uri="{FF2B5EF4-FFF2-40B4-BE49-F238E27FC236}">
                <a16:creationId xmlns:a16="http://schemas.microsoft.com/office/drawing/2014/main" id="{81801E91-0EF3-4BB0-B7E4-75448C5B191C}"/>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5041900" y="1990725"/>
            <a:ext cx="3756025" cy="463232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13707" name="Rectangle 11">
            <a:extLst>
              <a:ext uri="{FF2B5EF4-FFF2-40B4-BE49-F238E27FC236}">
                <a16:creationId xmlns:a16="http://schemas.microsoft.com/office/drawing/2014/main" id="{7D17139A-AF73-4C82-BBA2-77B316C80450}"/>
              </a:ext>
            </a:extLst>
          </p:cNvPr>
          <p:cNvSpPr>
            <a:spLocks noChangeArrowheads="1"/>
          </p:cNvSpPr>
          <p:nvPr/>
        </p:nvSpPr>
        <p:spPr bwMode="auto">
          <a:xfrm>
            <a:off x="122238" y="1865313"/>
            <a:ext cx="4583112" cy="1370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7800" indent="-177800">
              <a:lnSpc>
                <a:spcPct val="120000"/>
              </a:lnSpc>
              <a:spcBef>
                <a:spcPct val="100000"/>
              </a:spcBef>
              <a:buClr>
                <a:schemeClr val="folHlink"/>
              </a:buClr>
              <a:buSzPct val="100000"/>
              <a:buFont typeface="Times" panose="02020603050405020304" pitchFamily="18" charset="0"/>
              <a:buChar char="•"/>
              <a:defRPr>
                <a:solidFill>
                  <a:schemeClr val="tx1"/>
                </a:solidFill>
                <a:latin typeface="Arial" panose="020B0604020202020204" pitchFamily="34" charset="0"/>
              </a:defRPr>
            </a:lvl1pPr>
            <a:lvl2pPr marL="839788" indent="-304800">
              <a:lnSpc>
                <a:spcPct val="120000"/>
              </a:lnSpc>
              <a:spcBef>
                <a:spcPct val="50000"/>
              </a:spcBef>
              <a:buClr>
                <a:schemeClr val="folHlink"/>
              </a:buClr>
              <a:buSzPct val="100000"/>
              <a:buFont typeface="Times" panose="02020603050405020304" pitchFamily="18" charset="0"/>
              <a:buChar char="•"/>
              <a:defRPr sz="1600">
                <a:solidFill>
                  <a:schemeClr val="tx1"/>
                </a:solidFill>
                <a:latin typeface="Arial" panose="020B0604020202020204" pitchFamily="34" charset="0"/>
              </a:defRPr>
            </a:lvl2pPr>
            <a:lvl3pPr marL="1317625" indent="-26670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3pPr>
            <a:lvl4pPr marL="1736725" indent="-26670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4pPr>
            <a:lvl5pPr marL="2178050" indent="-266700">
              <a:spcBef>
                <a:spcPct val="25000"/>
              </a:spcBef>
              <a:buClr>
                <a:schemeClr val="folHlink"/>
              </a:buClr>
              <a:buSzPct val="50000"/>
              <a:buFont typeface="Times" panose="02020603050405020304" pitchFamily="18" charset="0"/>
              <a:buChar char="•"/>
              <a:defRPr sz="1400">
                <a:solidFill>
                  <a:schemeClr val="tx1"/>
                </a:solidFill>
                <a:latin typeface="Arial" panose="020B0604020202020204" pitchFamily="34" charset="0"/>
              </a:defRPr>
            </a:lvl5pPr>
            <a:lvl6pPr marL="2635250" indent="-2667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6pPr>
            <a:lvl7pPr marL="3092450" indent="-2667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7pPr>
            <a:lvl8pPr marL="3549650" indent="-2667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8pPr>
            <a:lvl9pPr marL="4006850" indent="-2667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9pPr>
          </a:lstStyle>
          <a:p>
            <a:pPr>
              <a:spcBef>
                <a:spcPct val="75000"/>
              </a:spcBef>
            </a:pPr>
            <a:r>
              <a:rPr lang="en-GB" altLang="en-US" sz="1700" dirty="0">
                <a:effectLst/>
              </a:rPr>
              <a:t>The sense and extent of curvature depends upon the relative magnitude and orientation of the remote principal stresses and hence provides information about these stresses</a:t>
            </a:r>
            <a:endParaRPr lang="en-GB" altLang="en-US" sz="1700" dirty="0">
              <a:solidFill>
                <a:srgbClr val="FF6600"/>
              </a:solidFill>
              <a:effectLst/>
            </a:endParaRPr>
          </a:p>
        </p:txBody>
      </p:sp>
      <p:grpSp>
        <p:nvGrpSpPr>
          <p:cNvPr id="413709" name="Group 13">
            <a:extLst>
              <a:ext uri="{FF2B5EF4-FFF2-40B4-BE49-F238E27FC236}">
                <a16:creationId xmlns:a16="http://schemas.microsoft.com/office/drawing/2014/main" id="{B7CE7579-4954-46C3-BCBF-100AFD385748}"/>
              </a:ext>
            </a:extLst>
          </p:cNvPr>
          <p:cNvGrpSpPr>
            <a:grpSpLocks/>
          </p:cNvGrpSpPr>
          <p:nvPr/>
        </p:nvGrpSpPr>
        <p:grpSpPr bwMode="auto">
          <a:xfrm rot="-4681179">
            <a:off x="7672388" y="4168775"/>
            <a:ext cx="550862" cy="407988"/>
            <a:chOff x="4793" y="3627"/>
            <a:chExt cx="613" cy="454"/>
          </a:xfrm>
        </p:grpSpPr>
        <p:sp>
          <p:nvSpPr>
            <p:cNvPr id="413710" name="Line 14">
              <a:extLst>
                <a:ext uri="{FF2B5EF4-FFF2-40B4-BE49-F238E27FC236}">
                  <a16:creationId xmlns:a16="http://schemas.microsoft.com/office/drawing/2014/main" id="{B48DF9E0-4211-46B6-8E33-BD36E1A1DBF4}"/>
                </a:ext>
              </a:extLst>
            </p:cNvPr>
            <p:cNvSpPr>
              <a:spLocks noChangeShapeType="1"/>
            </p:cNvSpPr>
            <p:nvPr/>
          </p:nvSpPr>
          <p:spPr bwMode="auto">
            <a:xfrm rot="10800000">
              <a:off x="4793" y="3857"/>
              <a:ext cx="276" cy="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13711" name="Line 15">
              <a:extLst>
                <a:ext uri="{FF2B5EF4-FFF2-40B4-BE49-F238E27FC236}">
                  <a16:creationId xmlns:a16="http://schemas.microsoft.com/office/drawing/2014/main" id="{8D371FB1-97BE-416D-9D41-8653434C0670}"/>
                </a:ext>
              </a:extLst>
            </p:cNvPr>
            <p:cNvSpPr>
              <a:spLocks noChangeShapeType="1"/>
            </p:cNvSpPr>
            <p:nvPr/>
          </p:nvSpPr>
          <p:spPr bwMode="auto">
            <a:xfrm rot="5400000">
              <a:off x="5010" y="3994"/>
              <a:ext cx="175" cy="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13712" name="Line 16">
              <a:extLst>
                <a:ext uri="{FF2B5EF4-FFF2-40B4-BE49-F238E27FC236}">
                  <a16:creationId xmlns:a16="http://schemas.microsoft.com/office/drawing/2014/main" id="{B2E96745-AABB-474F-B089-EA8DD368EBE6}"/>
                </a:ext>
              </a:extLst>
            </p:cNvPr>
            <p:cNvSpPr>
              <a:spLocks noChangeShapeType="1"/>
            </p:cNvSpPr>
            <p:nvPr/>
          </p:nvSpPr>
          <p:spPr bwMode="auto">
            <a:xfrm rot="16200000">
              <a:off x="5010" y="3715"/>
              <a:ext cx="175" cy="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13713" name="Line 17">
              <a:extLst>
                <a:ext uri="{FF2B5EF4-FFF2-40B4-BE49-F238E27FC236}">
                  <a16:creationId xmlns:a16="http://schemas.microsoft.com/office/drawing/2014/main" id="{7EC69296-D1F6-4D24-9745-12BCB3AECE3F}"/>
                </a:ext>
              </a:extLst>
            </p:cNvPr>
            <p:cNvSpPr>
              <a:spLocks noChangeShapeType="1"/>
            </p:cNvSpPr>
            <p:nvPr/>
          </p:nvSpPr>
          <p:spPr bwMode="auto">
            <a:xfrm>
              <a:off x="5130" y="3857"/>
              <a:ext cx="276" cy="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0970" name="Picture 42" descr="08b2-Senez">
            <a:extLst>
              <a:ext uri="{FF2B5EF4-FFF2-40B4-BE49-F238E27FC236}">
                <a16:creationId xmlns:a16="http://schemas.microsoft.com/office/drawing/2014/main" id="{9FF88E48-857D-4B3C-941C-BB2DAF4BEA89}"/>
              </a:ext>
            </a:extLst>
          </p:cNvPr>
          <p:cNvPicPr>
            <a:picLocks noGrp="1" noChangeAspect="1" noChangeArrowheads="1"/>
          </p:cNvPicPr>
          <p:nvPr>
            <p:ph sz="quarter" idx="2"/>
          </p:nvPr>
        </p:nvPicPr>
        <p:blipFill>
          <a:blip r:embed="rId3">
            <a:lum bright="-6000" contrast="4000"/>
            <a:extLst>
              <a:ext uri="{28A0092B-C50C-407E-A947-70E740481C1C}">
                <a14:useLocalDpi xmlns:a14="http://schemas.microsoft.com/office/drawing/2010/main" val="0"/>
              </a:ext>
            </a:extLst>
          </a:blip>
          <a:srcRect/>
          <a:stretch>
            <a:fillRect/>
          </a:stretch>
        </p:blipFill>
        <p:spPr>
          <a:xfrm>
            <a:off x="255588" y="869950"/>
            <a:ext cx="3006725" cy="547687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80968" name="Rectangle 40">
            <a:extLst>
              <a:ext uri="{FF2B5EF4-FFF2-40B4-BE49-F238E27FC236}">
                <a16:creationId xmlns:a16="http://schemas.microsoft.com/office/drawing/2014/main" id="{D8E08772-7D70-4E9D-B571-D97D49AA42A3}"/>
              </a:ext>
            </a:extLst>
          </p:cNvPr>
          <p:cNvSpPr>
            <a:spLocks noChangeArrowheads="1"/>
          </p:cNvSpPr>
          <p:nvPr/>
        </p:nvSpPr>
        <p:spPr bwMode="auto">
          <a:xfrm>
            <a:off x="3511550" y="2854325"/>
            <a:ext cx="5349875" cy="3905250"/>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380969" name="Picture 2" descr="GR30.jpg">
            <a:extLst>
              <a:ext uri="{FF2B5EF4-FFF2-40B4-BE49-F238E27FC236}">
                <a16:creationId xmlns:a16="http://schemas.microsoft.com/office/drawing/2014/main" id="{91C8F718-1732-4160-8654-65603BFB01C6}"/>
              </a:ext>
            </a:extLst>
          </p:cNvPr>
          <p:cNvPicPr>
            <a:picLocks noChangeAspect="1"/>
          </p:cNvPicPr>
          <p:nvPr/>
        </p:nvPicPr>
        <p:blipFill>
          <a:blip r:embed="rId4">
            <a:lum bright="-10000" contrast="20000"/>
            <a:extLst>
              <a:ext uri="{28A0092B-C50C-407E-A947-70E740481C1C}">
                <a14:useLocalDpi xmlns:a14="http://schemas.microsoft.com/office/drawing/2010/main" val="0"/>
              </a:ext>
            </a:extLst>
          </a:blip>
          <a:srcRect/>
          <a:stretch>
            <a:fillRect/>
          </a:stretch>
        </p:blipFill>
        <p:spPr bwMode="auto">
          <a:xfrm>
            <a:off x="3619500" y="2968625"/>
            <a:ext cx="5145088" cy="368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80931" name="Rectangle 3">
            <a:extLst>
              <a:ext uri="{FF2B5EF4-FFF2-40B4-BE49-F238E27FC236}">
                <a16:creationId xmlns:a16="http://schemas.microsoft.com/office/drawing/2014/main" id="{DFF10ECF-B60D-4F43-9F7C-F90E8CC05C07}"/>
              </a:ext>
            </a:extLst>
          </p:cNvPr>
          <p:cNvSpPr>
            <a:spLocks noGrp="1" noChangeArrowheads="1"/>
          </p:cNvSpPr>
          <p:nvPr>
            <p:ph type="title"/>
          </p:nvPr>
        </p:nvSpPr>
        <p:spPr>
          <a:noFill/>
        </p:spPr>
        <p:txBody>
          <a:bodyPr/>
          <a:lstStyle/>
          <a:p>
            <a:r>
              <a:rPr lang="en-GB" altLang="en-US">
                <a:effectLst/>
              </a:rPr>
              <a:t>Interaction of parallel fractures </a:t>
            </a:r>
          </a:p>
        </p:txBody>
      </p:sp>
      <p:pic>
        <p:nvPicPr>
          <p:cNvPr id="380945" name="Picture 17" descr="DSC_0102">
            <a:extLst>
              <a:ext uri="{FF2B5EF4-FFF2-40B4-BE49-F238E27FC236}">
                <a16:creationId xmlns:a16="http://schemas.microsoft.com/office/drawing/2014/main" id="{E241EADF-97E5-41E5-A6C8-76C40C15306C}"/>
              </a:ext>
            </a:extLst>
          </p:cNvPr>
          <p:cNvPicPr>
            <a:picLocks noGrp="1" noChangeAspect="1" noChangeArrowheads="1"/>
          </p:cNvPicPr>
          <p:nvPr>
            <p:ph sz="quarter" idx="3"/>
          </p:nvPr>
        </p:nvPicPr>
        <p:blipFill>
          <a:blip r:embed="rId5">
            <a:extLst>
              <a:ext uri="{28A0092B-C50C-407E-A947-70E740481C1C}">
                <a14:useLocalDpi xmlns:a14="http://schemas.microsoft.com/office/drawing/2010/main" val="0"/>
              </a:ext>
            </a:extLst>
          </a:blip>
          <a:srcRect/>
          <a:stretch>
            <a:fillRect/>
          </a:stretch>
        </p:blipFill>
        <p:spPr>
          <a:xfrm>
            <a:off x="3540125" y="871538"/>
            <a:ext cx="5295900" cy="1817687"/>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grpSp>
        <p:nvGrpSpPr>
          <p:cNvPr id="380952" name="Group 24">
            <a:extLst>
              <a:ext uri="{FF2B5EF4-FFF2-40B4-BE49-F238E27FC236}">
                <a16:creationId xmlns:a16="http://schemas.microsoft.com/office/drawing/2014/main" id="{E5FFFB1D-C93D-4130-AD75-E5A61B63C5B4}"/>
              </a:ext>
            </a:extLst>
          </p:cNvPr>
          <p:cNvGrpSpPr>
            <a:grpSpLocks/>
          </p:cNvGrpSpPr>
          <p:nvPr/>
        </p:nvGrpSpPr>
        <p:grpSpPr bwMode="auto">
          <a:xfrm rot="-5218438">
            <a:off x="860425" y="1479550"/>
            <a:ext cx="644525" cy="720725"/>
            <a:chOff x="2388" y="711"/>
            <a:chExt cx="297" cy="332"/>
          </a:xfrm>
        </p:grpSpPr>
        <p:sp>
          <p:nvSpPr>
            <p:cNvPr id="380948" name="Line 20">
              <a:extLst>
                <a:ext uri="{FF2B5EF4-FFF2-40B4-BE49-F238E27FC236}">
                  <a16:creationId xmlns:a16="http://schemas.microsoft.com/office/drawing/2014/main" id="{CA41AC55-AC16-43B1-A839-6F5266707953}"/>
                </a:ext>
              </a:extLst>
            </p:cNvPr>
            <p:cNvSpPr>
              <a:spLocks noChangeShapeType="1"/>
            </p:cNvSpPr>
            <p:nvPr/>
          </p:nvSpPr>
          <p:spPr bwMode="auto">
            <a:xfrm>
              <a:off x="2388" y="879"/>
              <a:ext cx="128"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80949" name="Line 21">
              <a:extLst>
                <a:ext uri="{FF2B5EF4-FFF2-40B4-BE49-F238E27FC236}">
                  <a16:creationId xmlns:a16="http://schemas.microsoft.com/office/drawing/2014/main" id="{824A7943-D65C-46BF-9DC7-38C9712D6F3D}"/>
                </a:ext>
              </a:extLst>
            </p:cNvPr>
            <p:cNvSpPr>
              <a:spLocks noChangeShapeType="1"/>
            </p:cNvSpPr>
            <p:nvPr/>
          </p:nvSpPr>
          <p:spPr bwMode="auto">
            <a:xfrm rot="10800000">
              <a:off x="2557" y="879"/>
              <a:ext cx="128"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80950" name="Line 22">
              <a:extLst>
                <a:ext uri="{FF2B5EF4-FFF2-40B4-BE49-F238E27FC236}">
                  <a16:creationId xmlns:a16="http://schemas.microsoft.com/office/drawing/2014/main" id="{45D22D55-40BC-487C-ABF1-3D5F142F4181}"/>
                </a:ext>
              </a:extLst>
            </p:cNvPr>
            <p:cNvSpPr>
              <a:spLocks noChangeShapeType="1"/>
            </p:cNvSpPr>
            <p:nvPr/>
          </p:nvSpPr>
          <p:spPr bwMode="auto">
            <a:xfrm rot="5400000">
              <a:off x="2473" y="979"/>
              <a:ext cx="128"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80951" name="Line 23">
              <a:extLst>
                <a:ext uri="{FF2B5EF4-FFF2-40B4-BE49-F238E27FC236}">
                  <a16:creationId xmlns:a16="http://schemas.microsoft.com/office/drawing/2014/main" id="{FA81103F-042A-4124-91E1-D232400E88D0}"/>
                </a:ext>
              </a:extLst>
            </p:cNvPr>
            <p:cNvSpPr>
              <a:spLocks noChangeShapeType="1"/>
            </p:cNvSpPr>
            <p:nvPr/>
          </p:nvSpPr>
          <p:spPr bwMode="auto">
            <a:xfrm rot="16200000">
              <a:off x="2473" y="775"/>
              <a:ext cx="128"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grpSp>
        <p:nvGrpSpPr>
          <p:cNvPr id="380959" name="Group 31">
            <a:extLst>
              <a:ext uri="{FF2B5EF4-FFF2-40B4-BE49-F238E27FC236}">
                <a16:creationId xmlns:a16="http://schemas.microsoft.com/office/drawing/2014/main" id="{C6413E5D-C457-4C08-AF3C-A6D732DA1A87}"/>
              </a:ext>
            </a:extLst>
          </p:cNvPr>
          <p:cNvGrpSpPr>
            <a:grpSpLocks/>
          </p:cNvGrpSpPr>
          <p:nvPr/>
        </p:nvGrpSpPr>
        <p:grpSpPr bwMode="auto">
          <a:xfrm rot="-1646158">
            <a:off x="6035675" y="1301750"/>
            <a:ext cx="973138" cy="720725"/>
            <a:chOff x="4793" y="3627"/>
            <a:chExt cx="613" cy="454"/>
          </a:xfrm>
        </p:grpSpPr>
        <p:sp>
          <p:nvSpPr>
            <p:cNvPr id="380954" name="Line 26">
              <a:extLst>
                <a:ext uri="{FF2B5EF4-FFF2-40B4-BE49-F238E27FC236}">
                  <a16:creationId xmlns:a16="http://schemas.microsoft.com/office/drawing/2014/main" id="{7B2D8E34-4A9C-47E5-9DCC-CEDE929B7464}"/>
                </a:ext>
              </a:extLst>
            </p:cNvPr>
            <p:cNvSpPr>
              <a:spLocks noChangeShapeType="1"/>
            </p:cNvSpPr>
            <p:nvPr/>
          </p:nvSpPr>
          <p:spPr bwMode="auto">
            <a:xfrm rot="10800000">
              <a:off x="4793" y="3857"/>
              <a:ext cx="276"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80956" name="Line 28">
              <a:extLst>
                <a:ext uri="{FF2B5EF4-FFF2-40B4-BE49-F238E27FC236}">
                  <a16:creationId xmlns:a16="http://schemas.microsoft.com/office/drawing/2014/main" id="{86AC64A0-853F-4FB1-B04A-983F80860B17}"/>
                </a:ext>
              </a:extLst>
            </p:cNvPr>
            <p:cNvSpPr>
              <a:spLocks noChangeShapeType="1"/>
            </p:cNvSpPr>
            <p:nvPr/>
          </p:nvSpPr>
          <p:spPr bwMode="auto">
            <a:xfrm rot="5400000">
              <a:off x="5010" y="3994"/>
              <a:ext cx="175"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80957" name="Line 29">
              <a:extLst>
                <a:ext uri="{FF2B5EF4-FFF2-40B4-BE49-F238E27FC236}">
                  <a16:creationId xmlns:a16="http://schemas.microsoft.com/office/drawing/2014/main" id="{B50A0AA3-1EC3-472E-8239-4B382E9519CE}"/>
                </a:ext>
              </a:extLst>
            </p:cNvPr>
            <p:cNvSpPr>
              <a:spLocks noChangeShapeType="1"/>
            </p:cNvSpPr>
            <p:nvPr/>
          </p:nvSpPr>
          <p:spPr bwMode="auto">
            <a:xfrm rot="16200000">
              <a:off x="5010" y="3715"/>
              <a:ext cx="175"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80958" name="Line 30">
              <a:extLst>
                <a:ext uri="{FF2B5EF4-FFF2-40B4-BE49-F238E27FC236}">
                  <a16:creationId xmlns:a16="http://schemas.microsoft.com/office/drawing/2014/main" id="{44B981A0-0DDA-4934-A46F-8CA5A2D6AD01}"/>
                </a:ext>
              </a:extLst>
            </p:cNvPr>
            <p:cNvSpPr>
              <a:spLocks noChangeShapeType="1"/>
            </p:cNvSpPr>
            <p:nvPr/>
          </p:nvSpPr>
          <p:spPr bwMode="auto">
            <a:xfrm>
              <a:off x="5130" y="3857"/>
              <a:ext cx="276"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2">
            <a:extLst>
              <a:ext uri="{FF2B5EF4-FFF2-40B4-BE49-F238E27FC236}">
                <a16:creationId xmlns:a16="http://schemas.microsoft.com/office/drawing/2014/main" id="{3B9BD9CE-0FF1-4B60-BFC9-CF61906085B1}"/>
              </a:ext>
            </a:extLst>
          </p:cNvPr>
          <p:cNvSpPr>
            <a:spLocks noGrp="1" noChangeArrowheads="1"/>
          </p:cNvSpPr>
          <p:nvPr>
            <p:ph type="title"/>
          </p:nvPr>
        </p:nvSpPr>
        <p:spPr>
          <a:noFill/>
        </p:spPr>
        <p:txBody>
          <a:bodyPr/>
          <a:lstStyle/>
          <a:p>
            <a:r>
              <a:rPr lang="en-GB" altLang="en-US" dirty="0">
                <a:effectLst/>
              </a:rPr>
              <a:t>Measurements of fracture density </a:t>
            </a:r>
          </a:p>
        </p:txBody>
      </p:sp>
      <p:sp>
        <p:nvSpPr>
          <p:cNvPr id="273411" name="Rectangle 3">
            <a:extLst>
              <a:ext uri="{FF2B5EF4-FFF2-40B4-BE49-F238E27FC236}">
                <a16:creationId xmlns:a16="http://schemas.microsoft.com/office/drawing/2014/main" id="{0327E914-A7CF-4D8D-9A6C-F84131721A73}"/>
              </a:ext>
            </a:extLst>
          </p:cNvPr>
          <p:cNvSpPr>
            <a:spLocks noGrp="1" noChangeArrowheads="1"/>
          </p:cNvSpPr>
          <p:nvPr>
            <p:ph type="body" sz="half" idx="1"/>
          </p:nvPr>
        </p:nvSpPr>
        <p:spPr>
          <a:xfrm>
            <a:off x="114299" y="773113"/>
            <a:ext cx="6049433" cy="2855912"/>
          </a:xfrm>
          <a:noFill/>
        </p:spPr>
        <p:txBody>
          <a:bodyPr/>
          <a:lstStyle/>
          <a:p>
            <a:pPr marL="179388" indent="-179388">
              <a:spcBef>
                <a:spcPct val="50000"/>
              </a:spcBef>
            </a:pPr>
            <a:r>
              <a:rPr lang="en-GB" altLang="en-US" sz="1700" dirty="0">
                <a:effectLst/>
              </a:rPr>
              <a:t>Estimating </a:t>
            </a:r>
            <a:r>
              <a:rPr lang="en-GB" altLang="en-US" sz="1700" dirty="0">
                <a:solidFill>
                  <a:srgbClr val="FF6600"/>
                </a:solidFill>
                <a:effectLst/>
              </a:rPr>
              <a:t>fracture spacing</a:t>
            </a:r>
            <a:r>
              <a:rPr lang="en-GB" altLang="en-US" sz="1700" dirty="0">
                <a:effectLst/>
              </a:rPr>
              <a:t> </a:t>
            </a:r>
            <a:r>
              <a:rPr lang="en-GB" altLang="en-US" sz="1700" dirty="0">
                <a:solidFill>
                  <a:srgbClr val="FF6600"/>
                </a:solidFill>
                <a:effectLst/>
              </a:rPr>
              <a:t>and intensity</a:t>
            </a:r>
            <a:r>
              <a:rPr lang="en-GB" altLang="en-US" sz="1700" dirty="0">
                <a:effectLst/>
              </a:rPr>
              <a:t> is important for engineering and fluid flow applications</a:t>
            </a:r>
          </a:p>
          <a:p>
            <a:pPr marL="179388" indent="-179388">
              <a:spcBef>
                <a:spcPct val="50000"/>
              </a:spcBef>
            </a:pPr>
            <a:r>
              <a:rPr lang="en-GB" altLang="en-US" sz="1700" dirty="0">
                <a:effectLst/>
              </a:rPr>
              <a:t>Estimates are obtained by </a:t>
            </a:r>
            <a:r>
              <a:rPr lang="en-GB" altLang="en-US" sz="1700" dirty="0">
                <a:solidFill>
                  <a:srgbClr val="FF66CC"/>
                </a:solidFill>
                <a:effectLst/>
              </a:rPr>
              <a:t>counting the number of fractures</a:t>
            </a:r>
            <a:r>
              <a:rPr lang="en-GB" altLang="en-US" sz="1700" dirty="0">
                <a:effectLst/>
              </a:rPr>
              <a:t> intersecting a line (preferably circular to avoid ‘cut effects’ arising from the orientation of the sampling plane)</a:t>
            </a:r>
          </a:p>
          <a:p>
            <a:pPr marL="179388" indent="-179388">
              <a:spcBef>
                <a:spcPct val="50000"/>
              </a:spcBef>
            </a:pPr>
            <a:r>
              <a:rPr lang="en-GB" altLang="en-US" sz="1700" dirty="0">
                <a:effectLst/>
              </a:rPr>
              <a:t>If combined with </a:t>
            </a:r>
            <a:r>
              <a:rPr lang="en-GB" altLang="en-US" sz="1700" dirty="0">
                <a:solidFill>
                  <a:srgbClr val="FF66CC"/>
                </a:solidFill>
                <a:effectLst/>
              </a:rPr>
              <a:t>counts of fracture tips and fracture intersections</a:t>
            </a:r>
            <a:r>
              <a:rPr lang="en-GB" altLang="en-US" sz="1700" dirty="0">
                <a:effectLst/>
              </a:rPr>
              <a:t>, we can characterize the </a:t>
            </a:r>
            <a:r>
              <a:rPr lang="en-GB" altLang="en-US" sz="1700" dirty="0">
                <a:solidFill>
                  <a:srgbClr val="FF6600"/>
                </a:solidFill>
                <a:effectLst/>
              </a:rPr>
              <a:t>topology</a:t>
            </a:r>
            <a:r>
              <a:rPr lang="en-GB" altLang="en-US" sz="1700" dirty="0">
                <a:effectLst/>
              </a:rPr>
              <a:t> of fracture network and assess fracture connectivity </a:t>
            </a:r>
          </a:p>
        </p:txBody>
      </p:sp>
      <p:pic>
        <p:nvPicPr>
          <p:cNvPr id="273413" name="Picture 5" descr="08c">
            <a:extLst>
              <a:ext uri="{FF2B5EF4-FFF2-40B4-BE49-F238E27FC236}">
                <a16:creationId xmlns:a16="http://schemas.microsoft.com/office/drawing/2014/main" id="{9ED07C58-477D-404A-845B-F8C9BB525A99}"/>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6284913" y="920750"/>
            <a:ext cx="2667000" cy="215582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73415" name="Text Box 7">
            <a:extLst>
              <a:ext uri="{FF2B5EF4-FFF2-40B4-BE49-F238E27FC236}">
                <a16:creationId xmlns:a16="http://schemas.microsoft.com/office/drawing/2014/main" id="{8B494326-E400-40DE-B7F0-74DD81A908DF}"/>
              </a:ext>
            </a:extLst>
          </p:cNvPr>
          <p:cNvSpPr txBox="1">
            <a:spLocks noChangeArrowheads="1"/>
          </p:cNvSpPr>
          <p:nvPr/>
        </p:nvSpPr>
        <p:spPr bwMode="auto">
          <a:xfrm>
            <a:off x="6376988" y="3127375"/>
            <a:ext cx="2536825" cy="60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Different impressions of joint frequency on different planes</a:t>
            </a:r>
          </a:p>
        </p:txBody>
      </p:sp>
      <p:pic>
        <p:nvPicPr>
          <p:cNvPr id="273424" name="Picture 16" descr="08c2">
            <a:extLst>
              <a:ext uri="{FF2B5EF4-FFF2-40B4-BE49-F238E27FC236}">
                <a16:creationId xmlns:a16="http://schemas.microsoft.com/office/drawing/2014/main" id="{A4A79F1B-8E23-4BB1-8F80-A668FA5BEE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9975" y="3876675"/>
            <a:ext cx="4903788" cy="2768600"/>
          </a:xfrm>
          <a:prstGeom prst="rect">
            <a:avLst/>
          </a:prstGeom>
          <a:noFill/>
          <a:ln w="38100">
            <a:solidFill>
              <a:schemeClr val="bg2"/>
            </a:solidFill>
            <a:miter lim="800000"/>
            <a:headEnd/>
            <a:tailEnd/>
          </a:ln>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B236EBDA-AEFF-4BF7-B2A0-1678BA79B6D1}"/>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451556" y="3837716"/>
            <a:ext cx="2799796" cy="2807559"/>
          </a:xfrm>
          <a:prstGeom prst="rect">
            <a:avLst/>
          </a:prstGeom>
          <a:ln w="38100">
            <a:solidFill>
              <a:schemeClr val="bg2"/>
            </a:solidFill>
          </a:ln>
        </p:spPr>
      </p:pic>
      <p:sp>
        <p:nvSpPr>
          <p:cNvPr id="6" name="Isosceles Triangle 5">
            <a:extLst>
              <a:ext uri="{FF2B5EF4-FFF2-40B4-BE49-F238E27FC236}">
                <a16:creationId xmlns:a16="http://schemas.microsoft.com/office/drawing/2014/main" id="{48466151-02F0-4E17-A37A-592BFB77452F}"/>
              </a:ext>
            </a:extLst>
          </p:cNvPr>
          <p:cNvSpPr/>
          <p:nvPr/>
        </p:nvSpPr>
        <p:spPr bwMode="auto">
          <a:xfrm>
            <a:off x="4042786" y="6434294"/>
            <a:ext cx="171826" cy="148126"/>
          </a:xfrm>
          <a:prstGeom prst="triangle">
            <a:avLst/>
          </a:prstGeom>
          <a:solidFill>
            <a:srgbClr val="00B0F0"/>
          </a:solidFill>
          <a:ln w="12700">
            <a:solidFill>
              <a:schemeClr val="bg1"/>
            </a:solidFill>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20000"/>
              </a:spcBef>
              <a:spcAft>
                <a:spcPct val="0"/>
              </a:spcAft>
              <a:buClr>
                <a:schemeClr val="accent2"/>
              </a:buClr>
              <a:buSzTx/>
              <a:buFontTx/>
              <a:buNone/>
              <a:tabLst/>
            </a:pPr>
            <a:endParaRPr kumimoji="0" lang="en-GB" sz="1600" b="0" i="0" u="none" strike="noStrike" cap="none" normalizeH="0" baseline="0">
              <a:ln>
                <a:noFill/>
              </a:ln>
              <a:solidFill>
                <a:schemeClr val="tx1"/>
              </a:solidFill>
              <a:effectLst>
                <a:outerShdw blurRad="38100" dist="38100" dir="2700000" algn="tl">
                  <a:srgbClr val="000000">
                    <a:alpha val="43137"/>
                  </a:srgbClr>
                </a:outerShdw>
              </a:effectLst>
              <a:latin typeface="Helvetica" charset="0"/>
            </a:endParaRPr>
          </a:p>
        </p:txBody>
      </p:sp>
      <p:sp>
        <p:nvSpPr>
          <p:cNvPr id="7" name="Rectangle 6">
            <a:extLst>
              <a:ext uri="{FF2B5EF4-FFF2-40B4-BE49-F238E27FC236}">
                <a16:creationId xmlns:a16="http://schemas.microsoft.com/office/drawing/2014/main" id="{39A6202D-6B12-4A59-AB4E-11040325C6FF}"/>
              </a:ext>
            </a:extLst>
          </p:cNvPr>
          <p:cNvSpPr/>
          <p:nvPr/>
        </p:nvSpPr>
        <p:spPr bwMode="auto">
          <a:xfrm>
            <a:off x="7549113" y="6429269"/>
            <a:ext cx="159465" cy="159465"/>
          </a:xfrm>
          <a:prstGeom prst="rect">
            <a:avLst/>
          </a:prstGeom>
          <a:solidFill>
            <a:srgbClr val="92D050"/>
          </a:solidFill>
          <a:ln w="12700">
            <a:solidFill>
              <a:schemeClr val="bg1"/>
            </a:solidFill>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20000"/>
              </a:spcBef>
              <a:spcAft>
                <a:spcPct val="0"/>
              </a:spcAft>
              <a:buClr>
                <a:schemeClr val="accent2"/>
              </a:buClr>
              <a:buSzTx/>
              <a:buFontTx/>
              <a:buNone/>
              <a:tabLst/>
            </a:pPr>
            <a:endParaRPr kumimoji="0" lang="en-GB" sz="1600" b="0" i="0" u="none" strike="noStrike" cap="none" normalizeH="0" baseline="0">
              <a:ln>
                <a:noFill/>
              </a:ln>
              <a:solidFill>
                <a:schemeClr val="tx1"/>
              </a:solidFill>
              <a:effectLst>
                <a:outerShdw blurRad="38100" dist="38100" dir="2700000" algn="tl">
                  <a:srgbClr val="000000">
                    <a:alpha val="43137"/>
                  </a:srgbClr>
                </a:outerShdw>
              </a:effectLst>
              <a:latin typeface="Helvetica" charset="0"/>
            </a:endParaRPr>
          </a:p>
        </p:txBody>
      </p:sp>
      <p:sp>
        <p:nvSpPr>
          <p:cNvPr id="8" name="Oval 7">
            <a:extLst>
              <a:ext uri="{FF2B5EF4-FFF2-40B4-BE49-F238E27FC236}">
                <a16:creationId xmlns:a16="http://schemas.microsoft.com/office/drawing/2014/main" id="{816A2466-2EA6-4228-B467-BC6839278319}"/>
              </a:ext>
            </a:extLst>
          </p:cNvPr>
          <p:cNvSpPr/>
          <p:nvPr/>
        </p:nvSpPr>
        <p:spPr bwMode="auto">
          <a:xfrm>
            <a:off x="5606977" y="3972021"/>
            <a:ext cx="150727" cy="150727"/>
          </a:xfrm>
          <a:prstGeom prst="ellipse">
            <a:avLst/>
          </a:prstGeom>
          <a:solidFill>
            <a:srgbClr val="FFC000"/>
          </a:solidFill>
          <a:ln w="12700">
            <a:solidFill>
              <a:schemeClr val="bg1"/>
            </a:solidFill>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20000"/>
              </a:spcBef>
              <a:spcAft>
                <a:spcPct val="0"/>
              </a:spcAft>
              <a:buClr>
                <a:schemeClr val="accent2"/>
              </a:buClr>
              <a:buSzTx/>
              <a:buFontTx/>
              <a:buNone/>
              <a:tabLst/>
            </a:pPr>
            <a:endParaRPr kumimoji="0" lang="en-GB" sz="1600" b="0" i="0" u="none" strike="noStrike" cap="none" normalizeH="0" baseline="0">
              <a:ln>
                <a:noFill/>
              </a:ln>
              <a:solidFill>
                <a:schemeClr val="tx1"/>
              </a:solidFill>
              <a:effectLst>
                <a:outerShdw blurRad="38100" dist="38100" dir="2700000" algn="tl">
                  <a:srgbClr val="000000">
                    <a:alpha val="43137"/>
                  </a:srgbClr>
                </a:outerShdw>
              </a:effectLst>
              <a:latin typeface="Helvetica" charset="0"/>
            </a:endParaRPr>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035" name="Rectangle 3">
            <a:extLst>
              <a:ext uri="{FF2B5EF4-FFF2-40B4-BE49-F238E27FC236}">
                <a16:creationId xmlns:a16="http://schemas.microsoft.com/office/drawing/2014/main" id="{B0F49025-87EC-418A-960C-49A7BAC52BC1}"/>
              </a:ext>
            </a:extLst>
          </p:cNvPr>
          <p:cNvSpPr>
            <a:spLocks noGrp="1" noChangeArrowheads="1"/>
          </p:cNvSpPr>
          <p:nvPr>
            <p:ph type="title"/>
          </p:nvPr>
        </p:nvSpPr>
        <p:spPr>
          <a:noFill/>
        </p:spPr>
        <p:txBody>
          <a:bodyPr/>
          <a:lstStyle/>
          <a:p>
            <a:r>
              <a:rPr lang="en-GB" altLang="en-US">
                <a:effectLst/>
              </a:rPr>
              <a:t>Spacing of fractures  2 </a:t>
            </a:r>
          </a:p>
        </p:txBody>
      </p:sp>
      <p:pic>
        <p:nvPicPr>
          <p:cNvPr id="428037" name="Picture 5" descr="08a2">
            <a:extLst>
              <a:ext uri="{FF2B5EF4-FFF2-40B4-BE49-F238E27FC236}">
                <a16:creationId xmlns:a16="http://schemas.microsoft.com/office/drawing/2014/main" id="{4ED4439D-D208-4A40-9543-AAE4CA1CAB2D}"/>
              </a:ext>
            </a:extLst>
          </p:cNvPr>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3384550" y="881063"/>
            <a:ext cx="5556250" cy="1249362"/>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28043" name="Text Box 11">
            <a:extLst>
              <a:ext uri="{FF2B5EF4-FFF2-40B4-BE49-F238E27FC236}">
                <a16:creationId xmlns:a16="http://schemas.microsoft.com/office/drawing/2014/main" id="{21F7AEBA-38E9-433F-A20B-B721C02F3139}"/>
              </a:ext>
            </a:extLst>
          </p:cNvPr>
          <p:cNvSpPr txBox="1">
            <a:spLocks noChangeArrowheads="1"/>
          </p:cNvSpPr>
          <p:nvPr/>
        </p:nvSpPr>
        <p:spPr bwMode="auto">
          <a:xfrm>
            <a:off x="6938963" y="2224088"/>
            <a:ext cx="2070100" cy="3203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4625" indent="-174625">
              <a:defRPr sz="1600">
                <a:solidFill>
                  <a:schemeClr val="tx1"/>
                </a:solidFill>
                <a:latin typeface="Helvetica" panose="020B0604020202020204" pitchFamily="34" charset="0"/>
              </a:defRPr>
            </a:lvl1pPr>
            <a:lvl2pPr marL="622300" indent="-268288">
              <a:defRPr sz="1600">
                <a:solidFill>
                  <a:schemeClr val="tx1"/>
                </a:solidFill>
                <a:latin typeface="Helvetica" panose="020B0604020202020204" pitchFamily="34" charset="0"/>
              </a:defRPr>
            </a:lvl2pPr>
            <a:lvl3pPr marL="1327150" indent="-304800">
              <a:defRPr sz="1600">
                <a:solidFill>
                  <a:schemeClr val="tx1"/>
                </a:solidFill>
                <a:latin typeface="Helvetica" panose="020B0604020202020204" pitchFamily="34" charset="0"/>
              </a:defRPr>
            </a:lvl3pPr>
            <a:lvl4pPr marL="1811338" indent="-304800">
              <a:defRPr sz="1600">
                <a:solidFill>
                  <a:schemeClr val="tx1"/>
                </a:solidFill>
                <a:latin typeface="Helvetica" panose="020B0604020202020204" pitchFamily="34" charset="0"/>
              </a:defRPr>
            </a:lvl4pPr>
            <a:lvl5pPr marL="2295525" indent="-304800">
              <a:defRPr sz="1600">
                <a:solidFill>
                  <a:schemeClr val="tx1"/>
                </a:solidFill>
                <a:latin typeface="Helvetica" panose="020B0604020202020204" pitchFamily="34" charset="0"/>
              </a:defRPr>
            </a:lvl5pPr>
            <a:lvl6pPr marL="275272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320992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66712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412432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75000"/>
              </a:spcBef>
              <a:buClr>
                <a:schemeClr val="folHlink"/>
              </a:buClr>
              <a:buSzPct val="100000"/>
              <a:buFont typeface="Times" panose="02020603050405020304" pitchFamily="18" charset="0"/>
              <a:buChar char="•"/>
            </a:pPr>
            <a:r>
              <a:rPr lang="en-GB" altLang="en-US" sz="1700">
                <a:solidFill>
                  <a:srgbClr val="FF6600"/>
                </a:solidFill>
                <a:effectLst/>
                <a:latin typeface="Arial" panose="020B0604020202020204" pitchFamily="34" charset="0"/>
              </a:rPr>
              <a:t>Fracture spacing</a:t>
            </a:r>
            <a:r>
              <a:rPr lang="en-GB" altLang="en-US" sz="1700">
                <a:effectLst/>
                <a:latin typeface="Arial" panose="020B0604020202020204" pitchFamily="34" charset="0"/>
              </a:rPr>
              <a:t> changes with </a:t>
            </a:r>
            <a:r>
              <a:rPr lang="en-GB" altLang="en-US" sz="1700">
                <a:solidFill>
                  <a:srgbClr val="FF66CC"/>
                </a:solidFill>
                <a:effectLst/>
                <a:latin typeface="Arial" panose="020B0604020202020204" pitchFamily="34" charset="0"/>
              </a:rPr>
              <a:t>bed thickness</a:t>
            </a:r>
            <a:r>
              <a:rPr lang="en-GB" altLang="en-US" sz="1700">
                <a:effectLst/>
                <a:latin typeface="Arial" panose="020B0604020202020204" pitchFamily="34" charset="0"/>
              </a:rPr>
              <a:t> and </a:t>
            </a:r>
            <a:r>
              <a:rPr lang="en-GB" altLang="en-US" sz="1700">
                <a:solidFill>
                  <a:srgbClr val="FF66CC"/>
                </a:solidFill>
                <a:effectLst/>
                <a:latin typeface="Arial" panose="020B0604020202020204" pitchFamily="34" charset="0"/>
              </a:rPr>
              <a:t>bed rigidity</a:t>
            </a:r>
            <a:r>
              <a:rPr lang="en-GB" altLang="en-US" sz="1700">
                <a:effectLst/>
                <a:latin typeface="Arial" panose="020B0604020202020204" pitchFamily="34" charset="0"/>
              </a:rPr>
              <a:t>, and is influenced by the </a:t>
            </a:r>
            <a:r>
              <a:rPr lang="en-GB" altLang="en-US" sz="1700">
                <a:solidFill>
                  <a:srgbClr val="FF66CC"/>
                </a:solidFill>
                <a:effectLst/>
                <a:latin typeface="Arial" panose="020B0604020202020204" pitchFamily="34" charset="0"/>
              </a:rPr>
              <a:t>nature of the interfaces</a:t>
            </a:r>
            <a:r>
              <a:rPr lang="en-GB" altLang="en-US" sz="1700">
                <a:effectLst/>
                <a:latin typeface="Arial" panose="020B0604020202020204" pitchFamily="34" charset="0"/>
              </a:rPr>
              <a:t> between beds </a:t>
            </a:r>
            <a:r>
              <a:rPr lang="en-GB" altLang="en-US" sz="1700">
                <a:effectLst/>
                <a:latin typeface="Arial" panose="020B0604020202020204" pitchFamily="34" charset="0"/>
                <a:cs typeface="Arial" panose="020B0604020202020204" pitchFamily="34" charset="0"/>
              </a:rPr>
              <a:t>→ changes during diagenesis</a:t>
            </a:r>
          </a:p>
        </p:txBody>
      </p:sp>
      <p:pic>
        <p:nvPicPr>
          <p:cNvPr id="428044" name="Picture 12" descr="08d4">
            <a:extLst>
              <a:ext uri="{FF2B5EF4-FFF2-40B4-BE49-F238E27FC236}">
                <a16:creationId xmlns:a16="http://schemas.microsoft.com/office/drawing/2014/main" id="{51D930C4-F5B5-4109-8B75-43E86DBB21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67200" y="5610225"/>
            <a:ext cx="3692525" cy="1096963"/>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428046" name="Picture 14" descr="08d5">
            <a:extLst>
              <a:ext uri="{FF2B5EF4-FFF2-40B4-BE49-F238E27FC236}">
                <a16:creationId xmlns:a16="http://schemas.microsoft.com/office/drawing/2014/main" id="{B7A12106-874B-4EA2-A125-B68A4035579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84550" y="2306638"/>
            <a:ext cx="3433763" cy="315277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428050" name="Picture 18" descr="Joint_spacing_varying_with_bed_thickness">
            <a:extLst>
              <a:ext uri="{FF2B5EF4-FFF2-40B4-BE49-F238E27FC236}">
                <a16:creationId xmlns:a16="http://schemas.microsoft.com/office/drawing/2014/main" id="{C043ED0B-E3BF-4EBF-8C7C-0D1DEF9FFDB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6050" y="882650"/>
            <a:ext cx="3068638" cy="5802313"/>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2088" name="Picture 8" descr="09a1-Mull">
            <a:extLst>
              <a:ext uri="{FF2B5EF4-FFF2-40B4-BE49-F238E27FC236}">
                <a16:creationId xmlns:a16="http://schemas.microsoft.com/office/drawing/2014/main" id="{5E0DD3E4-BEC0-4B20-A05F-79B4CE8EEAA6}"/>
              </a:ext>
            </a:extLst>
          </p:cNvPr>
          <p:cNvPicPr>
            <a:picLocks noChangeAspect="1" noChangeArrowheads="1"/>
          </p:cNvPicPr>
          <p:nvPr/>
        </p:nvPicPr>
        <p:blipFill>
          <a:blip r:embed="rId3">
            <a:lum bright="4000" contrast="4000"/>
            <a:extLst>
              <a:ext uri="{28A0092B-C50C-407E-A947-70E740481C1C}">
                <a14:useLocalDpi xmlns:a14="http://schemas.microsoft.com/office/drawing/2010/main" val="0"/>
              </a:ext>
            </a:extLst>
          </a:blip>
          <a:srcRect/>
          <a:stretch>
            <a:fillRect/>
          </a:stretch>
        </p:blipFill>
        <p:spPr bwMode="auto">
          <a:xfrm>
            <a:off x="374650" y="3416300"/>
            <a:ext cx="4511675" cy="3182938"/>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302082" name="Rectangle 2">
            <a:extLst>
              <a:ext uri="{FF2B5EF4-FFF2-40B4-BE49-F238E27FC236}">
                <a16:creationId xmlns:a16="http://schemas.microsoft.com/office/drawing/2014/main" id="{EDE7EF80-FE0F-43ED-869E-5118C4D75A41}"/>
              </a:ext>
            </a:extLst>
          </p:cNvPr>
          <p:cNvSpPr>
            <a:spLocks noGrp="1" noChangeArrowheads="1"/>
          </p:cNvSpPr>
          <p:nvPr>
            <p:ph type="title"/>
          </p:nvPr>
        </p:nvSpPr>
        <p:spPr>
          <a:noFill/>
        </p:spPr>
        <p:txBody>
          <a:bodyPr/>
          <a:lstStyle/>
          <a:p>
            <a:r>
              <a:rPr lang="en-GB" altLang="en-US">
                <a:effectLst/>
              </a:rPr>
              <a:t>Fracture orientation </a:t>
            </a:r>
          </a:p>
        </p:txBody>
      </p:sp>
      <p:sp>
        <p:nvSpPr>
          <p:cNvPr id="302083" name="Rectangle 3">
            <a:extLst>
              <a:ext uri="{FF2B5EF4-FFF2-40B4-BE49-F238E27FC236}">
                <a16:creationId xmlns:a16="http://schemas.microsoft.com/office/drawing/2014/main" id="{00837B62-4A69-4319-96D8-F54DA57630A8}"/>
              </a:ext>
            </a:extLst>
          </p:cNvPr>
          <p:cNvSpPr>
            <a:spLocks noGrp="1" noChangeArrowheads="1"/>
          </p:cNvSpPr>
          <p:nvPr>
            <p:ph type="body" sz="half" idx="1"/>
          </p:nvPr>
        </p:nvSpPr>
        <p:spPr>
          <a:xfrm>
            <a:off x="114300" y="785813"/>
            <a:ext cx="8902700" cy="2519362"/>
          </a:xfrm>
          <a:noFill/>
        </p:spPr>
        <p:txBody>
          <a:bodyPr/>
          <a:lstStyle/>
          <a:p>
            <a:pPr marL="177800" indent="-177800">
              <a:spcBef>
                <a:spcPct val="75000"/>
              </a:spcBef>
            </a:pPr>
            <a:r>
              <a:rPr lang="en-GB" altLang="en-US" sz="1700" dirty="0">
                <a:effectLst/>
              </a:rPr>
              <a:t>A </a:t>
            </a:r>
            <a:r>
              <a:rPr lang="en-GB" altLang="en-US" sz="1700" dirty="0">
                <a:solidFill>
                  <a:srgbClr val="FF6600"/>
                </a:solidFill>
                <a:effectLst/>
              </a:rPr>
              <a:t>fracture set </a:t>
            </a:r>
            <a:r>
              <a:rPr lang="en-GB" altLang="en-US" sz="1700" dirty="0">
                <a:effectLst/>
              </a:rPr>
              <a:t>is a group of fractures of similar orientation (strik</a:t>
            </a:r>
            <a:r>
              <a:rPr lang="en-GB" altLang="en-US" sz="1700" spc="200" dirty="0">
                <a:effectLst/>
              </a:rPr>
              <a:t>e/</a:t>
            </a:r>
            <a:r>
              <a:rPr lang="en-GB" altLang="en-US" sz="1700" dirty="0">
                <a:effectLst/>
              </a:rPr>
              <a:t>dip)</a:t>
            </a:r>
          </a:p>
          <a:p>
            <a:pPr marL="177800" indent="-177800">
              <a:spcBef>
                <a:spcPct val="75000"/>
              </a:spcBef>
            </a:pPr>
            <a:r>
              <a:rPr lang="en-GB" altLang="en-US" sz="1700" dirty="0">
                <a:effectLst/>
              </a:rPr>
              <a:t>The orientations of near vertical fractures are conveniently presented in a </a:t>
            </a:r>
            <a:r>
              <a:rPr lang="en-GB" altLang="en-US" sz="1700" dirty="0">
                <a:solidFill>
                  <a:srgbClr val="FF66CC"/>
                </a:solidFill>
                <a:effectLst/>
              </a:rPr>
              <a:t>rose diagram</a:t>
            </a:r>
            <a:r>
              <a:rPr lang="en-GB" altLang="en-US" sz="1700" dirty="0">
                <a:effectLst/>
              </a:rPr>
              <a:t>; fractures that are not vertical are best presented on a </a:t>
            </a:r>
            <a:r>
              <a:rPr lang="en-GB" altLang="en-US" sz="1700" dirty="0">
                <a:solidFill>
                  <a:srgbClr val="FF66CC"/>
                </a:solidFill>
                <a:effectLst/>
              </a:rPr>
              <a:t>stereogram</a:t>
            </a:r>
          </a:p>
          <a:p>
            <a:pPr marL="177800" indent="-177800">
              <a:spcBef>
                <a:spcPct val="75000"/>
              </a:spcBef>
            </a:pPr>
            <a:r>
              <a:rPr lang="en-GB" altLang="en-US" sz="1700" dirty="0">
                <a:effectLst/>
              </a:rPr>
              <a:t>The orientation of genetically-related fractures may change from one lithology to another, and so it may be convenient to </a:t>
            </a:r>
            <a:r>
              <a:rPr lang="en-GB" altLang="en-US" sz="1700" dirty="0">
                <a:solidFill>
                  <a:srgbClr val="FF66CC"/>
                </a:solidFill>
                <a:effectLst/>
              </a:rPr>
              <a:t>separate the joints by lithology</a:t>
            </a:r>
            <a:r>
              <a:rPr lang="en-GB" altLang="en-US" sz="1700" dirty="0">
                <a:effectLst/>
              </a:rPr>
              <a:t> before plotting or to plot a </a:t>
            </a:r>
            <a:r>
              <a:rPr lang="en-GB" altLang="en-US" sz="1700" dirty="0">
                <a:solidFill>
                  <a:srgbClr val="FF66CC"/>
                </a:solidFill>
                <a:effectLst/>
              </a:rPr>
              <a:t>split rose diagram</a:t>
            </a:r>
          </a:p>
        </p:txBody>
      </p:sp>
      <p:pic>
        <p:nvPicPr>
          <p:cNvPr id="302086" name="Picture 6" descr="09b">
            <a:extLst>
              <a:ext uri="{FF2B5EF4-FFF2-40B4-BE49-F238E27FC236}">
                <a16:creationId xmlns:a16="http://schemas.microsoft.com/office/drawing/2014/main" id="{46BB0961-0A17-4469-A0F8-A95DBC676D6D}"/>
              </a:ext>
            </a:extLst>
          </p:cNvPr>
          <p:cNvPicPr>
            <a:picLocks noGrp="1" noChangeAspect="1" noChangeArrowheads="1"/>
          </p:cNvPicPr>
          <p:nvPr>
            <p:ph sz="quarter" idx="3"/>
          </p:nvPr>
        </p:nvPicPr>
        <p:blipFill>
          <a:blip r:embed="rId4">
            <a:lum bright="-6000" contrast="10000"/>
            <a:extLst>
              <a:ext uri="{28A0092B-C50C-407E-A947-70E740481C1C}">
                <a14:useLocalDpi xmlns:a14="http://schemas.microsoft.com/office/drawing/2010/main" val="0"/>
              </a:ext>
            </a:extLst>
          </a:blip>
          <a:srcRect/>
          <a:stretch>
            <a:fillRect/>
          </a:stretch>
        </p:blipFill>
        <p:spPr>
          <a:xfrm>
            <a:off x="5330825" y="3411538"/>
            <a:ext cx="3286125" cy="318770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Rectangle 2">
            <a:extLst>
              <a:ext uri="{FF2B5EF4-FFF2-40B4-BE49-F238E27FC236}">
                <a16:creationId xmlns:a16="http://schemas.microsoft.com/office/drawing/2014/main" id="{56500C23-7D3B-4080-8B69-FDC116818D1E}"/>
              </a:ext>
            </a:extLst>
          </p:cNvPr>
          <p:cNvSpPr>
            <a:spLocks noGrp="1" noChangeArrowheads="1"/>
          </p:cNvSpPr>
          <p:nvPr>
            <p:ph type="title"/>
          </p:nvPr>
        </p:nvSpPr>
        <p:spPr>
          <a:noFill/>
        </p:spPr>
        <p:txBody>
          <a:bodyPr/>
          <a:lstStyle/>
          <a:p>
            <a:r>
              <a:rPr lang="en-GB" altLang="en-US">
                <a:effectLst/>
              </a:rPr>
              <a:t>Fractures in slightly deformed sedimentary rocks</a:t>
            </a:r>
          </a:p>
        </p:txBody>
      </p:sp>
      <p:sp>
        <p:nvSpPr>
          <p:cNvPr id="317443" name="Rectangle 3">
            <a:extLst>
              <a:ext uri="{FF2B5EF4-FFF2-40B4-BE49-F238E27FC236}">
                <a16:creationId xmlns:a16="http://schemas.microsoft.com/office/drawing/2014/main" id="{75C6BCE2-38FE-4C41-8E7A-31EB76CE14F8}"/>
              </a:ext>
            </a:extLst>
          </p:cNvPr>
          <p:cNvSpPr>
            <a:spLocks noGrp="1" noChangeArrowheads="1"/>
          </p:cNvSpPr>
          <p:nvPr>
            <p:ph type="body" sz="half" idx="1"/>
          </p:nvPr>
        </p:nvSpPr>
        <p:spPr>
          <a:xfrm>
            <a:off x="123825" y="809625"/>
            <a:ext cx="3779838" cy="3173413"/>
          </a:xfrm>
          <a:noFill/>
        </p:spPr>
        <p:txBody>
          <a:bodyPr/>
          <a:lstStyle/>
          <a:p>
            <a:pPr marL="177800" indent="-177800">
              <a:spcBef>
                <a:spcPct val="75000"/>
              </a:spcBef>
            </a:pPr>
            <a:r>
              <a:rPr lang="en-GB" altLang="en-US" sz="1700">
                <a:effectLst/>
              </a:rPr>
              <a:t>One of the features of </a:t>
            </a:r>
            <a:r>
              <a:rPr lang="en-GB" altLang="en-US" sz="1700">
                <a:solidFill>
                  <a:srgbClr val="FF6600"/>
                </a:solidFill>
                <a:effectLst/>
              </a:rPr>
              <a:t>horizontally bedded sedimentary successions</a:t>
            </a:r>
            <a:r>
              <a:rPr lang="en-GB" altLang="en-US" sz="1700">
                <a:effectLst/>
              </a:rPr>
              <a:t> that have been subjected to little or no deformation is the presence of well-defined, </a:t>
            </a:r>
            <a:r>
              <a:rPr lang="en-GB" altLang="en-US" sz="1700">
                <a:solidFill>
                  <a:srgbClr val="FF66CC"/>
                </a:solidFill>
                <a:effectLst/>
              </a:rPr>
              <a:t>near vertical fracture sets</a:t>
            </a:r>
          </a:p>
          <a:p>
            <a:pPr marL="177800" indent="-177800">
              <a:spcBef>
                <a:spcPct val="75000"/>
              </a:spcBef>
            </a:pPr>
            <a:r>
              <a:rPr lang="en-GB" altLang="en-US" sz="1700">
                <a:effectLst/>
              </a:rPr>
              <a:t>These result from changes in horizontal stresses during erosion and uplift</a:t>
            </a:r>
          </a:p>
        </p:txBody>
      </p:sp>
      <p:pic>
        <p:nvPicPr>
          <p:cNvPr id="317444" name="Picture 2" descr="GR09.jpg">
            <a:extLst>
              <a:ext uri="{FF2B5EF4-FFF2-40B4-BE49-F238E27FC236}">
                <a16:creationId xmlns:a16="http://schemas.microsoft.com/office/drawing/2014/main" id="{2D473237-FF8F-49C5-B9A6-F2D00E49A69B}"/>
              </a:ext>
            </a:extLst>
          </p:cNvPr>
          <p:cNvPicPr>
            <a:picLocks noGrp="1" noChangeAspect="1"/>
          </p:cNvPicPr>
          <p:nvPr>
            <p:ph sz="half" idx="2"/>
          </p:nvPr>
        </p:nvPicPr>
        <p:blipFill>
          <a:blip r:embed="rId3">
            <a:lum bright="-6000"/>
            <a:extLst>
              <a:ext uri="{28A0092B-C50C-407E-A947-70E740481C1C}">
                <a14:useLocalDpi xmlns:a14="http://schemas.microsoft.com/office/drawing/2010/main" val="0"/>
              </a:ext>
            </a:extLst>
          </a:blip>
          <a:srcRect/>
          <a:stretch>
            <a:fillRect/>
          </a:stretch>
        </p:blipFill>
        <p:spPr>
          <a:xfrm>
            <a:off x="4084638" y="928688"/>
            <a:ext cx="4741862" cy="317500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17446" name="Text Box 6">
            <a:extLst>
              <a:ext uri="{FF2B5EF4-FFF2-40B4-BE49-F238E27FC236}">
                <a16:creationId xmlns:a16="http://schemas.microsoft.com/office/drawing/2014/main" id="{9ACC5BF1-FC8A-4A91-AB46-6DAACF3499F4}"/>
              </a:ext>
            </a:extLst>
          </p:cNvPr>
          <p:cNvSpPr txBox="1">
            <a:spLocks noChangeArrowheads="1"/>
          </p:cNvSpPr>
          <p:nvPr/>
        </p:nvSpPr>
        <p:spPr bwMode="auto">
          <a:xfrm>
            <a:off x="522288" y="4316413"/>
            <a:ext cx="8221662" cy="2376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9388" indent="-179388">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400" dirty="0">
                <a:effectLst>
                  <a:outerShdw blurRad="38100" dist="38100" dir="2700000" algn="tl">
                    <a:srgbClr val="000000"/>
                  </a:outerShdw>
                </a:effectLst>
                <a:latin typeface="Arial" panose="020B0604020202020204" pitchFamily="34" charset="0"/>
              </a:rPr>
              <a:t>We saw in the last class that in the absence of tectonic stresses </a:t>
            </a:r>
            <a:r>
              <a:rPr lang="en-GB" altLang="en-US" sz="1400" dirty="0">
                <a:solidFill>
                  <a:srgbClr val="FF66CC"/>
                </a:solidFill>
                <a:effectLst>
                  <a:outerShdw blurRad="38100" dist="38100" dir="2700000" algn="tl">
                    <a:srgbClr val="000000"/>
                  </a:outerShdw>
                </a:effectLst>
                <a:latin typeface="Arial" panose="020B0604020202020204" pitchFamily="34" charset="0"/>
              </a:rPr>
              <a:t>Poisson</a:t>
            </a:r>
            <a:r>
              <a:rPr lang="en-GB" altLang="en-US" sz="1400" dirty="0">
                <a:effectLst>
                  <a:outerShdw blurRad="38100" dist="38100" dir="2700000" algn="tl">
                    <a:srgbClr val="000000"/>
                  </a:outerShdw>
                </a:effectLst>
                <a:latin typeface="Arial" panose="020B0604020202020204" pitchFamily="34" charset="0"/>
              </a:rPr>
              <a:t> </a:t>
            </a:r>
            <a:r>
              <a:rPr lang="en-GB" altLang="en-US" sz="1400" dirty="0">
                <a:solidFill>
                  <a:srgbClr val="FF66CC"/>
                </a:solidFill>
                <a:effectLst>
                  <a:outerShdw blurRad="38100" dist="38100" dir="2700000" algn="tl">
                    <a:srgbClr val="000000"/>
                  </a:outerShdw>
                </a:effectLst>
                <a:latin typeface="Arial" panose="020B0604020202020204" pitchFamily="34" charset="0"/>
              </a:rPr>
              <a:t>effects and changes in temperature</a:t>
            </a:r>
            <a:r>
              <a:rPr lang="en-GB" altLang="en-US" sz="1400" dirty="0">
                <a:effectLst>
                  <a:outerShdw blurRad="38100" dist="38100" dir="2700000" algn="tl">
                    <a:srgbClr val="000000"/>
                  </a:outerShdw>
                </a:effectLst>
                <a:latin typeface="Arial" panose="020B0604020202020204" pitchFamily="34" charset="0"/>
              </a:rPr>
              <a:t> during burial and subsequent erosion</a:t>
            </a:r>
            <a:r>
              <a:rPr lang="en-GB" altLang="en-US" sz="800" dirty="0">
                <a:effectLst>
                  <a:outerShdw blurRad="38100" dist="38100" dir="2700000" algn="tl">
                    <a:srgbClr val="000000"/>
                  </a:outerShdw>
                </a:effectLst>
                <a:latin typeface="Arial" panose="020B0604020202020204" pitchFamily="34" charset="0"/>
              </a:rPr>
              <a:t> </a:t>
            </a:r>
            <a:r>
              <a:rPr lang="en-GB" altLang="en-US" sz="1400" dirty="0">
                <a:effectLst>
                  <a:outerShdw blurRad="38100" dist="38100" dir="2700000" algn="tl">
                    <a:srgbClr val="000000"/>
                  </a:outerShdw>
                </a:effectLst>
                <a:latin typeface="Arial" panose="020B0604020202020204" pitchFamily="34" charset="0"/>
              </a:rPr>
              <a:t>/</a:t>
            </a:r>
            <a:r>
              <a:rPr lang="en-GB" altLang="en-US" sz="800" dirty="0">
                <a:effectLst>
                  <a:outerShdw blurRad="38100" dist="38100" dir="2700000" algn="tl">
                    <a:srgbClr val="000000"/>
                  </a:outerShdw>
                </a:effectLst>
                <a:latin typeface="Arial" panose="020B0604020202020204" pitchFamily="34" charset="0"/>
              </a:rPr>
              <a:t> </a:t>
            </a:r>
            <a:r>
              <a:rPr lang="en-GB" altLang="en-US" sz="1400" dirty="0">
                <a:effectLst>
                  <a:outerShdw blurRad="38100" dist="38100" dir="2700000" algn="tl">
                    <a:srgbClr val="000000"/>
                  </a:outerShdw>
                </a:effectLst>
                <a:latin typeface="Arial" panose="020B0604020202020204" pitchFamily="34" charset="0"/>
              </a:rPr>
              <a:t>uplift lead to a stress state in which the maximum compressive stress </a:t>
            </a:r>
            <a:r>
              <a:rPr lang="en-GB" altLang="en-US" sz="1400" dirty="0">
                <a:solidFill>
                  <a:srgbClr val="FF66CC"/>
                </a:solidFill>
                <a:effectLst>
                  <a:outerShdw blurRad="38100" dist="38100" dir="2700000" algn="tl">
                    <a:srgbClr val="000000"/>
                  </a:outerShdw>
                </a:effectLst>
                <a:latin typeface="Arial" panose="020B0604020202020204" pitchFamily="34" charset="0"/>
              </a:rPr>
              <a:t>(</a:t>
            </a:r>
            <a:r>
              <a:rPr lang="el-GR" altLang="en-US" sz="1400" i="1" dirty="0">
                <a:solidFill>
                  <a:srgbClr val="FF66CC"/>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400" baseline="-25000" dirty="0">
                <a:solidFill>
                  <a:srgbClr val="FF66CC"/>
                </a:solidFill>
                <a:effectLst>
                  <a:outerShdw blurRad="38100" dist="38100" dir="2700000" algn="tl">
                    <a:srgbClr val="000000"/>
                  </a:outerShdw>
                </a:effectLst>
                <a:latin typeface="Arial" panose="020B0604020202020204" pitchFamily="34" charset="0"/>
              </a:rPr>
              <a:t>1</a:t>
            </a:r>
            <a:r>
              <a:rPr lang="en-GB" altLang="en-US" sz="1400" dirty="0">
                <a:solidFill>
                  <a:srgbClr val="FF66CC"/>
                </a:solidFill>
                <a:effectLst>
                  <a:outerShdw blurRad="38100" dist="38100" dir="2700000" algn="tl">
                    <a:srgbClr val="000000"/>
                  </a:outerShdw>
                </a:effectLst>
                <a:latin typeface="Arial" panose="020B0604020202020204" pitchFamily="34" charset="0"/>
              </a:rPr>
              <a:t>) is vertical</a:t>
            </a:r>
            <a:r>
              <a:rPr lang="en-GB" altLang="en-US" sz="1400" dirty="0">
                <a:effectLst>
                  <a:outerShdw blurRad="38100" dist="38100" dir="2700000" algn="tl">
                    <a:srgbClr val="000000"/>
                  </a:outerShdw>
                </a:effectLst>
                <a:latin typeface="Arial" panose="020B0604020202020204" pitchFamily="34" charset="0"/>
              </a:rPr>
              <a:t> and the least compressive stress </a:t>
            </a:r>
            <a:r>
              <a:rPr lang="en-GB" altLang="en-US" sz="1400" dirty="0">
                <a:solidFill>
                  <a:srgbClr val="FF66CC"/>
                </a:solidFill>
                <a:effectLst>
                  <a:outerShdw blurRad="38100" dist="38100" dir="2700000" algn="tl">
                    <a:srgbClr val="000000"/>
                  </a:outerShdw>
                </a:effectLst>
                <a:latin typeface="Arial" panose="020B0604020202020204" pitchFamily="34" charset="0"/>
              </a:rPr>
              <a:t>(</a:t>
            </a:r>
            <a:r>
              <a:rPr lang="el-GR" altLang="en-US" sz="1400" i="1" dirty="0">
                <a:solidFill>
                  <a:srgbClr val="FF66CC"/>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400" baseline="-25000" dirty="0">
                <a:solidFill>
                  <a:srgbClr val="FF66CC"/>
                </a:solidFill>
                <a:effectLst>
                  <a:outerShdw blurRad="38100" dist="38100" dir="2700000" algn="tl">
                    <a:srgbClr val="000000"/>
                  </a:outerShdw>
                </a:effectLst>
                <a:latin typeface="Arial" panose="020B0604020202020204" pitchFamily="34" charset="0"/>
              </a:rPr>
              <a:t>3</a:t>
            </a:r>
            <a:r>
              <a:rPr lang="en-GB" altLang="en-US" sz="1400" dirty="0">
                <a:solidFill>
                  <a:srgbClr val="FF66CC"/>
                </a:solidFill>
                <a:effectLst>
                  <a:outerShdw blurRad="38100" dist="38100" dir="2700000" algn="tl">
                    <a:srgbClr val="000000"/>
                  </a:outerShdw>
                </a:effectLst>
                <a:latin typeface="Arial" panose="020B0604020202020204" pitchFamily="34" charset="0"/>
              </a:rPr>
              <a:t>) is horizontal</a:t>
            </a:r>
            <a:endParaRPr lang="en-GB" altLang="en-US" sz="1400" dirty="0">
              <a:effectLst>
                <a:outerShdw blurRad="38100" dist="38100" dir="2700000" algn="tl">
                  <a:srgbClr val="000000"/>
                </a:outerShdw>
              </a:effectLst>
              <a:latin typeface="Arial" panose="020B0604020202020204" pitchFamily="34" charset="0"/>
            </a:endParaRPr>
          </a:p>
          <a:p>
            <a:pPr>
              <a:lnSpc>
                <a:spcPct val="120000"/>
              </a:lnSpc>
              <a:spcBef>
                <a:spcPct val="50000"/>
              </a:spcBef>
              <a:buClr>
                <a:schemeClr val="tx1"/>
              </a:buClr>
              <a:buFontTx/>
              <a:buChar char="•"/>
            </a:pPr>
            <a:r>
              <a:rPr lang="en-GB" altLang="en-US" sz="1400" dirty="0">
                <a:effectLst>
                  <a:outerShdw blurRad="38100" dist="38100" dir="2700000" algn="tl">
                    <a:srgbClr val="000000"/>
                  </a:outerShdw>
                </a:effectLst>
                <a:latin typeface="Arial" panose="020B0604020202020204" pitchFamily="34" charset="0"/>
              </a:rPr>
              <a:t>If there is sufficient pore fluid pressure to make the effective </a:t>
            </a:r>
            <a:r>
              <a:rPr lang="el-GR" altLang="en-US" sz="1400" i="1" dirty="0">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400" baseline="-25000" dirty="0">
                <a:effectLst>
                  <a:outerShdw blurRad="38100" dist="38100" dir="2700000" algn="tl">
                    <a:srgbClr val="000000"/>
                  </a:outerShdw>
                </a:effectLst>
                <a:latin typeface="Arial" panose="020B0604020202020204" pitchFamily="34" charset="0"/>
              </a:rPr>
              <a:t>3</a:t>
            </a:r>
            <a:r>
              <a:rPr lang="en-GB" altLang="en-US" sz="1400" dirty="0">
                <a:effectLst>
                  <a:outerShdw blurRad="38100" dist="38100" dir="2700000" algn="tl">
                    <a:srgbClr val="000000"/>
                  </a:outerShdw>
                </a:effectLst>
                <a:latin typeface="Arial" panose="020B0604020202020204" pitchFamily="34" charset="0"/>
              </a:rPr>
              <a:t> tensile then </a:t>
            </a:r>
            <a:r>
              <a:rPr lang="en-GB" altLang="en-US" sz="1400" dirty="0">
                <a:solidFill>
                  <a:srgbClr val="FF6600"/>
                </a:solidFill>
                <a:effectLst>
                  <a:outerShdw blurRad="38100" dist="38100" dir="2700000" algn="tl">
                    <a:srgbClr val="000000"/>
                  </a:outerShdw>
                </a:effectLst>
                <a:latin typeface="Arial" panose="020B0604020202020204" pitchFamily="34" charset="0"/>
              </a:rPr>
              <a:t>a vertical fracture set forms normal to </a:t>
            </a:r>
            <a:r>
              <a:rPr lang="el-GR" altLang="en-US" sz="1400" i="1" dirty="0">
                <a:solidFill>
                  <a:srgbClr val="FF66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400" baseline="-25000" dirty="0">
                <a:solidFill>
                  <a:srgbClr val="FF6600"/>
                </a:solidFill>
                <a:effectLst>
                  <a:outerShdw blurRad="38100" dist="38100" dir="2700000" algn="tl">
                    <a:srgbClr val="000000"/>
                  </a:outerShdw>
                </a:effectLst>
                <a:latin typeface="Arial" panose="020B0604020202020204" pitchFamily="34" charset="0"/>
              </a:rPr>
              <a:t>3</a:t>
            </a:r>
            <a:endParaRPr lang="en-GB" altLang="en-US" sz="1400" dirty="0">
              <a:effectLst>
                <a:outerShdw blurRad="38100" dist="38100" dir="2700000" algn="tl">
                  <a:srgbClr val="000000"/>
                </a:outerShdw>
              </a:effectLst>
              <a:latin typeface="Arial" panose="020B0604020202020204" pitchFamily="34" charset="0"/>
            </a:endParaRPr>
          </a:p>
          <a:p>
            <a:pPr>
              <a:lnSpc>
                <a:spcPct val="120000"/>
              </a:lnSpc>
              <a:spcBef>
                <a:spcPct val="50000"/>
              </a:spcBef>
              <a:buClr>
                <a:schemeClr val="tx1"/>
              </a:buClr>
              <a:buFontTx/>
              <a:buChar char="•"/>
            </a:pPr>
            <a:r>
              <a:rPr lang="en-GB" altLang="en-US" sz="1400" dirty="0">
                <a:effectLst>
                  <a:outerShdw blurRad="38100" dist="38100" dir="2700000" algn="tl">
                    <a:srgbClr val="000000"/>
                  </a:outerShdw>
                </a:effectLst>
                <a:latin typeface="Arial" panose="020B0604020202020204" pitchFamily="34" charset="0"/>
              </a:rPr>
              <a:t>This relieves the stress in that direction, and so if the other horizontal principal effective stress is also tensile, that becomes the maximum effective tensile stress, and a </a:t>
            </a:r>
            <a:r>
              <a:rPr lang="en-GB" altLang="en-US" sz="1400" dirty="0">
                <a:solidFill>
                  <a:srgbClr val="FF6600"/>
                </a:solidFill>
                <a:effectLst>
                  <a:outerShdw blurRad="38100" dist="38100" dir="2700000" algn="tl">
                    <a:srgbClr val="000000"/>
                  </a:outerShdw>
                </a:effectLst>
                <a:latin typeface="Arial" panose="020B0604020202020204" pitchFamily="34" charset="0"/>
              </a:rPr>
              <a:t>second set of vertical joints forms orthogonal to the first</a:t>
            </a:r>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Rectangle 2">
            <a:extLst>
              <a:ext uri="{FF2B5EF4-FFF2-40B4-BE49-F238E27FC236}">
                <a16:creationId xmlns:a16="http://schemas.microsoft.com/office/drawing/2014/main" id="{B1275A0A-DC5D-4208-8D76-ECB1367C0570}"/>
              </a:ext>
            </a:extLst>
          </p:cNvPr>
          <p:cNvSpPr>
            <a:spLocks noGrp="1" noChangeArrowheads="1"/>
          </p:cNvSpPr>
          <p:nvPr>
            <p:ph type="title"/>
          </p:nvPr>
        </p:nvSpPr>
        <p:spPr>
          <a:noFill/>
        </p:spPr>
        <p:txBody>
          <a:bodyPr/>
          <a:lstStyle/>
          <a:p>
            <a:r>
              <a:rPr lang="en-GB" altLang="en-US">
                <a:effectLst/>
              </a:rPr>
              <a:t>Fractures in slightly deformed sedimentary rocks</a:t>
            </a:r>
          </a:p>
        </p:txBody>
      </p:sp>
      <p:sp>
        <p:nvSpPr>
          <p:cNvPr id="319494" name="Rectangle 6">
            <a:extLst>
              <a:ext uri="{FF2B5EF4-FFF2-40B4-BE49-F238E27FC236}">
                <a16:creationId xmlns:a16="http://schemas.microsoft.com/office/drawing/2014/main" id="{5877D991-B19B-4445-A29D-9C30AFCE9A38}"/>
              </a:ext>
            </a:extLst>
          </p:cNvPr>
          <p:cNvSpPr>
            <a:spLocks noChangeArrowheads="1"/>
          </p:cNvSpPr>
          <p:nvPr/>
        </p:nvSpPr>
        <p:spPr bwMode="auto">
          <a:xfrm>
            <a:off x="112713" y="747713"/>
            <a:ext cx="8870950"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7800" indent="-177800">
              <a:lnSpc>
                <a:spcPct val="120000"/>
              </a:lnSpc>
              <a:spcBef>
                <a:spcPct val="100000"/>
              </a:spcBef>
              <a:buClr>
                <a:schemeClr val="folHlink"/>
              </a:buClr>
              <a:buSzPct val="100000"/>
              <a:buFont typeface="Times" panose="02020603050405020304" pitchFamily="18" charset="0"/>
              <a:buChar char="•"/>
              <a:defRPr>
                <a:solidFill>
                  <a:schemeClr val="tx1"/>
                </a:solidFill>
                <a:latin typeface="Arial" panose="020B0604020202020204" pitchFamily="34" charset="0"/>
              </a:defRPr>
            </a:lvl1pPr>
            <a:lvl2pPr marL="839788" indent="-304800">
              <a:lnSpc>
                <a:spcPct val="120000"/>
              </a:lnSpc>
              <a:spcBef>
                <a:spcPct val="50000"/>
              </a:spcBef>
              <a:buClr>
                <a:schemeClr val="folHlink"/>
              </a:buClr>
              <a:buSzPct val="100000"/>
              <a:buFont typeface="Times" panose="02020603050405020304" pitchFamily="18" charset="0"/>
              <a:buChar char="•"/>
              <a:defRPr sz="1600">
                <a:solidFill>
                  <a:schemeClr val="tx1"/>
                </a:solidFill>
                <a:latin typeface="Arial" panose="020B0604020202020204" pitchFamily="34" charset="0"/>
              </a:defRPr>
            </a:lvl2pPr>
            <a:lvl3pPr marL="1317625" indent="-26670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3pPr>
            <a:lvl4pPr marL="1736725" indent="-26670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4pPr>
            <a:lvl5pPr marL="2178050" indent="-266700">
              <a:spcBef>
                <a:spcPct val="25000"/>
              </a:spcBef>
              <a:buClr>
                <a:schemeClr val="folHlink"/>
              </a:buClr>
              <a:buSzPct val="50000"/>
              <a:buFont typeface="Times" panose="02020603050405020304" pitchFamily="18" charset="0"/>
              <a:buChar char="•"/>
              <a:defRPr sz="1400">
                <a:solidFill>
                  <a:schemeClr val="tx1"/>
                </a:solidFill>
                <a:latin typeface="Arial" panose="020B0604020202020204" pitchFamily="34" charset="0"/>
              </a:defRPr>
            </a:lvl5pPr>
            <a:lvl6pPr marL="2635250" indent="-2667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6pPr>
            <a:lvl7pPr marL="3092450" indent="-2667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7pPr>
            <a:lvl8pPr marL="3549650" indent="-2667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8pPr>
            <a:lvl9pPr marL="4006850" indent="-2667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9pPr>
          </a:lstStyle>
          <a:p>
            <a:pPr>
              <a:spcBef>
                <a:spcPct val="75000"/>
              </a:spcBef>
            </a:pPr>
            <a:r>
              <a:rPr lang="en-GB" altLang="en-US" sz="1700">
                <a:effectLst/>
              </a:rPr>
              <a:t>One may adapt simple models of this kind to include </a:t>
            </a:r>
            <a:r>
              <a:rPr lang="en-GB" altLang="en-US" sz="1700">
                <a:solidFill>
                  <a:srgbClr val="FF66CC"/>
                </a:solidFill>
                <a:effectLst/>
              </a:rPr>
              <a:t>stresses set up by lithospheric flexure</a:t>
            </a:r>
            <a:r>
              <a:rPr lang="en-GB" altLang="en-US" sz="1700">
                <a:effectLst/>
              </a:rPr>
              <a:t> during burial and uplift, or to include </a:t>
            </a:r>
            <a:r>
              <a:rPr lang="en-GB" altLang="en-US" sz="1700">
                <a:solidFill>
                  <a:srgbClr val="FF66CC"/>
                </a:solidFill>
                <a:effectLst/>
              </a:rPr>
              <a:t>far-field stresses</a:t>
            </a:r>
          </a:p>
        </p:txBody>
      </p:sp>
      <p:pic>
        <p:nvPicPr>
          <p:cNvPr id="319497" name="Picture 9" descr="09c">
            <a:extLst>
              <a:ext uri="{FF2B5EF4-FFF2-40B4-BE49-F238E27FC236}">
                <a16:creationId xmlns:a16="http://schemas.microsoft.com/office/drawing/2014/main" id="{0456A461-4DB8-4F06-9083-299490DA9AEB}"/>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412750" y="1762125"/>
            <a:ext cx="4991100" cy="362902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19499" name="Text Box 11">
            <a:extLst>
              <a:ext uri="{FF2B5EF4-FFF2-40B4-BE49-F238E27FC236}">
                <a16:creationId xmlns:a16="http://schemas.microsoft.com/office/drawing/2014/main" id="{653942C6-F7BA-44EF-9113-5ABB85D6021D}"/>
              </a:ext>
            </a:extLst>
          </p:cNvPr>
          <p:cNvSpPr txBox="1">
            <a:spLocks noChangeArrowheads="1"/>
          </p:cNvSpPr>
          <p:nvPr/>
        </p:nvSpPr>
        <p:spPr bwMode="auto">
          <a:xfrm>
            <a:off x="5683250" y="1662113"/>
            <a:ext cx="3324225" cy="3830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9388" indent="-179388">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400" i="1" dirty="0">
                <a:effectLst>
                  <a:outerShdw blurRad="38100" dist="38100" dir="2700000" algn="tl">
                    <a:srgbClr val="000000"/>
                  </a:outerShdw>
                </a:effectLst>
                <a:latin typeface="Arial" panose="020B0604020202020204" pitchFamily="34" charset="0"/>
              </a:rPr>
              <a:t>E.g.</a:t>
            </a:r>
            <a:r>
              <a:rPr lang="en-GB" altLang="en-US" sz="1400" dirty="0">
                <a:effectLst>
                  <a:outerShdw blurRad="38100" dist="38100" dir="2700000" algn="tl">
                    <a:srgbClr val="000000"/>
                  </a:outerShdw>
                </a:effectLst>
                <a:latin typeface="Arial" panose="020B0604020202020204" pitchFamily="34" charset="0"/>
              </a:rPr>
              <a:t>, analysis of the stresses in a rectangular slab subjected to </a:t>
            </a:r>
            <a:r>
              <a:rPr lang="en-GB" altLang="en-US" sz="1400" dirty="0">
                <a:solidFill>
                  <a:srgbClr val="FF66CC"/>
                </a:solidFill>
                <a:effectLst>
                  <a:outerShdw blurRad="38100" dist="38100" dir="2700000" algn="tl">
                    <a:srgbClr val="000000"/>
                  </a:outerShdw>
                </a:effectLst>
                <a:latin typeface="Arial" panose="020B0604020202020204" pitchFamily="34" charset="0"/>
              </a:rPr>
              <a:t>horizontal compression</a:t>
            </a:r>
            <a:r>
              <a:rPr lang="en-GB" altLang="en-US" sz="1400" dirty="0">
                <a:effectLst>
                  <a:outerShdw blurRad="38100" dist="38100" dir="2700000" algn="tl">
                    <a:srgbClr val="000000"/>
                  </a:outerShdw>
                </a:effectLst>
                <a:latin typeface="Arial" panose="020B0604020202020204" pitchFamily="34" charset="0"/>
              </a:rPr>
              <a:t>, allows the stresses within a </a:t>
            </a:r>
            <a:r>
              <a:rPr lang="en-GB" altLang="en-US" sz="1400" dirty="0">
                <a:solidFill>
                  <a:srgbClr val="FF66CC"/>
                </a:solidFill>
                <a:effectLst>
                  <a:outerShdw blurRad="38100" dist="38100" dir="2700000" algn="tl">
                    <a:srgbClr val="000000"/>
                  </a:outerShdw>
                </a:effectLst>
                <a:latin typeface="Arial" panose="020B0604020202020204" pitchFamily="34" charset="0"/>
              </a:rPr>
              <a:t>foreland sedimentary succession</a:t>
            </a:r>
            <a:r>
              <a:rPr lang="en-GB" altLang="en-US" sz="1400" dirty="0">
                <a:effectLst>
                  <a:outerShdw blurRad="38100" dist="38100" dir="2700000" algn="tl">
                    <a:srgbClr val="000000"/>
                  </a:outerShdw>
                </a:effectLst>
                <a:latin typeface="Arial" panose="020B0604020202020204" pitchFamily="34" charset="0"/>
              </a:rPr>
              <a:t> to be predicted: </a:t>
            </a:r>
            <a:r>
              <a:rPr lang="el-GR" altLang="en-US" sz="1400" i="1" dirty="0">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400" baseline="-25000" dirty="0">
                <a:effectLst>
                  <a:outerShdw blurRad="38100" dist="38100" dir="2700000" algn="tl">
                    <a:srgbClr val="000000"/>
                  </a:outerShdw>
                </a:effectLst>
                <a:latin typeface="Arial" panose="020B0604020202020204" pitchFamily="34" charset="0"/>
              </a:rPr>
              <a:t>1</a:t>
            </a:r>
            <a:r>
              <a:rPr lang="en-GB" altLang="en-US" sz="1400" dirty="0">
                <a:effectLst>
                  <a:outerShdw blurRad="38100" dist="38100" dir="2700000" algn="tl">
                    <a:srgbClr val="000000"/>
                  </a:outerShdw>
                </a:effectLst>
                <a:latin typeface="Arial" panose="020B0604020202020204" pitchFamily="34" charset="0"/>
              </a:rPr>
              <a:t> ~ horizontal and so since </a:t>
            </a:r>
            <a:r>
              <a:rPr lang="el-GR" altLang="en-US" sz="1400" i="1" dirty="0">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400" baseline="-25000" dirty="0">
                <a:effectLst>
                  <a:outerShdw blurRad="38100" dist="38100" dir="2700000" algn="tl">
                    <a:srgbClr val="000000"/>
                  </a:outerShdw>
                </a:effectLst>
                <a:latin typeface="Arial" panose="020B0604020202020204" pitchFamily="34" charset="0"/>
              </a:rPr>
              <a:t>2</a:t>
            </a:r>
            <a:r>
              <a:rPr lang="en-GB" altLang="en-US" sz="1400" dirty="0">
                <a:effectLst>
                  <a:outerShdw blurRad="38100" dist="38100" dir="2700000" algn="tl">
                    <a:srgbClr val="000000"/>
                  </a:outerShdw>
                </a:effectLst>
                <a:latin typeface="Arial" panose="020B0604020202020204" pitchFamily="34" charset="0"/>
              </a:rPr>
              <a:t> ~ </a:t>
            </a:r>
            <a:r>
              <a:rPr lang="el-GR" altLang="en-US" sz="1400" i="1" dirty="0">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400" baseline="-25000" dirty="0">
                <a:effectLst>
                  <a:outerShdw blurRad="38100" dist="38100" dir="2700000" algn="tl">
                    <a:srgbClr val="000000"/>
                  </a:outerShdw>
                </a:effectLst>
                <a:latin typeface="Arial" panose="020B0604020202020204" pitchFamily="34" charset="0"/>
              </a:rPr>
              <a:t>3</a:t>
            </a:r>
            <a:r>
              <a:rPr lang="en-GB" altLang="en-US" sz="1400" dirty="0">
                <a:effectLst>
                  <a:outerShdw blurRad="38100" dist="38100" dir="2700000" algn="tl">
                    <a:srgbClr val="000000"/>
                  </a:outerShdw>
                </a:effectLst>
                <a:latin typeface="Arial" panose="020B0604020202020204" pitchFamily="34" charset="0"/>
              </a:rPr>
              <a:t> one can make a case for </a:t>
            </a:r>
            <a:r>
              <a:rPr lang="el-GR" altLang="en-US" sz="1400" i="1" dirty="0">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400" baseline="-25000" dirty="0">
                <a:effectLst>
                  <a:outerShdw blurRad="38100" dist="38100" dir="2700000" algn="tl">
                    <a:srgbClr val="000000"/>
                  </a:outerShdw>
                </a:effectLst>
                <a:latin typeface="Arial" panose="020B0604020202020204" pitchFamily="34" charset="0"/>
              </a:rPr>
              <a:t>3</a:t>
            </a:r>
            <a:r>
              <a:rPr lang="en-GB" altLang="en-US" sz="1400" dirty="0">
                <a:effectLst>
                  <a:outerShdw blurRad="38100" dist="38100" dir="2700000" algn="tl">
                    <a:srgbClr val="000000"/>
                  </a:outerShdw>
                </a:effectLst>
                <a:latin typeface="Arial" panose="020B0604020202020204" pitchFamily="34" charset="0"/>
              </a:rPr>
              <a:t> being horizontal. Hence fractures should be vertical</a:t>
            </a:r>
          </a:p>
          <a:p>
            <a:pPr>
              <a:lnSpc>
                <a:spcPct val="120000"/>
              </a:lnSpc>
              <a:spcBef>
                <a:spcPct val="75000"/>
              </a:spcBef>
              <a:buClr>
                <a:schemeClr val="tx1"/>
              </a:buClr>
              <a:buFontTx/>
              <a:buChar char="•"/>
            </a:pPr>
            <a:r>
              <a:rPr lang="en-GB" altLang="en-US" sz="1400" dirty="0">
                <a:effectLst>
                  <a:outerShdw blurRad="38100" dist="38100" dir="2700000" algn="tl">
                    <a:srgbClr val="000000"/>
                  </a:outerShdw>
                </a:effectLst>
                <a:latin typeface="Arial" panose="020B0604020202020204" pitchFamily="34" charset="0"/>
              </a:rPr>
              <a:t>Near to the thrust front, where </a:t>
            </a:r>
            <a:r>
              <a:rPr lang="el-GR" altLang="en-US" sz="1400" i="1" dirty="0">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400" baseline="-25000" dirty="0">
                <a:effectLst>
                  <a:outerShdw blurRad="38100" dist="38100" dir="2700000" algn="tl">
                    <a:srgbClr val="000000"/>
                  </a:outerShdw>
                </a:effectLst>
                <a:latin typeface="Arial" panose="020B0604020202020204" pitchFamily="34" charset="0"/>
              </a:rPr>
              <a:t>1 </a:t>
            </a:r>
            <a:r>
              <a:rPr lang="en-GB" altLang="en-US" sz="1400" dirty="0">
                <a:effectLst>
                  <a:outerShdw blurRad="38100" dist="38100" dir="2700000" algn="tl">
                    <a:srgbClr val="000000"/>
                  </a:outerShdw>
                </a:effectLst>
                <a:latin typeface="Arial" panose="020B0604020202020204" pitchFamily="34" charset="0"/>
              </a:rPr>
              <a:t>is large,</a:t>
            </a:r>
            <a:r>
              <a:rPr lang="en-GB" altLang="en-US" sz="1400" baseline="-25000" dirty="0">
                <a:effectLst>
                  <a:outerShdw blurRad="38100" dist="38100" dir="2700000" algn="tl">
                    <a:srgbClr val="000000"/>
                  </a:outerShdw>
                </a:effectLst>
                <a:latin typeface="Arial" panose="020B0604020202020204" pitchFamily="34" charset="0"/>
              </a:rPr>
              <a:t>  </a:t>
            </a:r>
            <a:r>
              <a:rPr lang="en-GB" altLang="en-US" sz="1400" dirty="0">
                <a:effectLst>
                  <a:outerShdw blurRad="38100" dist="38100" dir="2700000" algn="tl">
                    <a:srgbClr val="000000"/>
                  </a:outerShdw>
                </a:effectLst>
                <a:latin typeface="Arial" panose="020B0604020202020204" pitchFamily="34" charset="0"/>
              </a:rPr>
              <a:t>these will be </a:t>
            </a:r>
            <a:r>
              <a:rPr lang="en-GB" altLang="en-US" sz="1400" dirty="0">
                <a:solidFill>
                  <a:srgbClr val="FF66CC"/>
                </a:solidFill>
                <a:effectLst>
                  <a:outerShdw blurRad="38100" dist="38100" dir="2700000" algn="tl">
                    <a:srgbClr val="000000"/>
                  </a:outerShdw>
                </a:effectLst>
                <a:latin typeface="Arial" panose="020B0604020202020204" pitchFamily="34" charset="0"/>
              </a:rPr>
              <a:t>conjugate vertical shear fractures</a:t>
            </a:r>
            <a:r>
              <a:rPr lang="en-GB" altLang="en-US" sz="1400" dirty="0">
                <a:effectLst>
                  <a:outerShdw blurRad="38100" dist="38100" dir="2700000" algn="tl">
                    <a:srgbClr val="000000"/>
                  </a:outerShdw>
                </a:effectLst>
                <a:latin typeface="Arial" panose="020B0604020202020204" pitchFamily="34" charset="0"/>
              </a:rPr>
              <a:t>, but as </a:t>
            </a:r>
            <a:r>
              <a:rPr lang="el-GR" altLang="en-US" sz="1400" i="1" dirty="0">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400" baseline="-25000" dirty="0">
                <a:effectLst>
                  <a:outerShdw blurRad="38100" dist="38100" dir="2700000" algn="tl">
                    <a:srgbClr val="000000"/>
                  </a:outerShdw>
                </a:effectLst>
                <a:latin typeface="Arial" panose="020B0604020202020204" pitchFamily="34" charset="0"/>
              </a:rPr>
              <a:t>1</a:t>
            </a:r>
            <a:r>
              <a:rPr lang="en-GB" altLang="en-US" sz="1400" dirty="0">
                <a:effectLst>
                  <a:outerShdw blurRad="38100" dist="38100" dir="2700000" algn="tl">
                    <a:srgbClr val="000000"/>
                  </a:outerShdw>
                </a:effectLst>
                <a:latin typeface="Arial" panose="020B0604020202020204" pitchFamily="34" charset="0"/>
              </a:rPr>
              <a:t> decreases away from the thrust front, </a:t>
            </a:r>
            <a:r>
              <a:rPr lang="en-GB" altLang="en-US" sz="1400" dirty="0">
                <a:solidFill>
                  <a:srgbClr val="FF66CC"/>
                </a:solidFill>
                <a:effectLst>
                  <a:outerShdw blurRad="38100" dist="38100" dir="2700000" algn="tl">
                    <a:srgbClr val="000000"/>
                  </a:outerShdw>
                </a:effectLst>
                <a:latin typeface="Arial" panose="020B0604020202020204" pitchFamily="34" charset="0"/>
              </a:rPr>
              <a:t>vertical extension fractures</a:t>
            </a:r>
            <a:r>
              <a:rPr lang="en-GB" altLang="en-US" sz="1400" dirty="0">
                <a:effectLst>
                  <a:outerShdw blurRad="38100" dist="38100" dir="2700000" algn="tl">
                    <a:srgbClr val="000000"/>
                  </a:outerShdw>
                </a:effectLst>
                <a:latin typeface="Arial" panose="020B0604020202020204" pitchFamily="34" charset="0"/>
              </a:rPr>
              <a:t> are expected</a:t>
            </a:r>
          </a:p>
        </p:txBody>
      </p:sp>
      <p:sp>
        <p:nvSpPr>
          <p:cNvPr id="319500" name="Text Box 12">
            <a:extLst>
              <a:ext uri="{FF2B5EF4-FFF2-40B4-BE49-F238E27FC236}">
                <a16:creationId xmlns:a16="http://schemas.microsoft.com/office/drawing/2014/main" id="{F2963D5E-7221-4C56-A5B0-A49DDC343D7F}"/>
              </a:ext>
            </a:extLst>
          </p:cNvPr>
          <p:cNvSpPr txBox="1">
            <a:spLocks noChangeArrowheads="1"/>
          </p:cNvSpPr>
          <p:nvPr/>
        </p:nvSpPr>
        <p:spPr bwMode="auto">
          <a:xfrm>
            <a:off x="117475" y="5800725"/>
            <a:ext cx="8434388"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9388" indent="-179388">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Such models help to explain why </a:t>
            </a:r>
            <a:r>
              <a:rPr lang="en-GB" altLang="en-US" sz="1700" dirty="0">
                <a:solidFill>
                  <a:srgbClr val="FF6600"/>
                </a:solidFill>
                <a:effectLst>
                  <a:outerShdw blurRad="38100" dist="38100" dir="2700000" algn="tl">
                    <a:srgbClr val="000000"/>
                  </a:outerShdw>
                </a:effectLst>
                <a:latin typeface="Arial" panose="020B0604020202020204" pitchFamily="34" charset="0"/>
              </a:rPr>
              <a:t>non-orthogonal vertical fracture sets</a:t>
            </a:r>
            <a:r>
              <a:rPr lang="en-GB" altLang="en-US" sz="1700" dirty="0">
                <a:effectLst>
                  <a:outerShdw blurRad="38100" dist="38100" dir="2700000" algn="tl">
                    <a:srgbClr val="000000"/>
                  </a:outerShdw>
                </a:effectLst>
                <a:latin typeface="Arial" panose="020B0604020202020204" pitchFamily="34" charset="0"/>
              </a:rPr>
              <a:t> are present in lightly deformed sedimentary successions</a:t>
            </a:r>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Rectangle 2">
            <a:extLst>
              <a:ext uri="{FF2B5EF4-FFF2-40B4-BE49-F238E27FC236}">
                <a16:creationId xmlns:a16="http://schemas.microsoft.com/office/drawing/2014/main" id="{ADF0523E-7E82-48ED-BA7B-6FA34004A040}"/>
              </a:ext>
            </a:extLst>
          </p:cNvPr>
          <p:cNvSpPr>
            <a:spLocks noGrp="1" noChangeArrowheads="1"/>
          </p:cNvSpPr>
          <p:nvPr>
            <p:ph type="title"/>
          </p:nvPr>
        </p:nvSpPr>
        <p:spPr>
          <a:noFill/>
        </p:spPr>
        <p:txBody>
          <a:bodyPr/>
          <a:lstStyle/>
          <a:p>
            <a:r>
              <a:rPr lang="en-GB" altLang="en-US">
                <a:effectLst/>
              </a:rPr>
              <a:t>Fractures associated with faults</a:t>
            </a:r>
          </a:p>
        </p:txBody>
      </p:sp>
      <p:sp>
        <p:nvSpPr>
          <p:cNvPr id="305155" name="Rectangle 3">
            <a:extLst>
              <a:ext uri="{FF2B5EF4-FFF2-40B4-BE49-F238E27FC236}">
                <a16:creationId xmlns:a16="http://schemas.microsoft.com/office/drawing/2014/main" id="{0DA7D37E-E890-4E66-838B-0309BDFA9217}"/>
              </a:ext>
            </a:extLst>
          </p:cNvPr>
          <p:cNvSpPr>
            <a:spLocks noGrp="1" noChangeArrowheads="1"/>
          </p:cNvSpPr>
          <p:nvPr>
            <p:ph type="body" sz="half" idx="1"/>
          </p:nvPr>
        </p:nvSpPr>
        <p:spPr>
          <a:xfrm>
            <a:off x="133350" y="800100"/>
            <a:ext cx="8645525" cy="1930400"/>
          </a:xfrm>
          <a:noFill/>
        </p:spPr>
        <p:txBody>
          <a:bodyPr/>
          <a:lstStyle/>
          <a:p>
            <a:pPr marL="177800" indent="-177800">
              <a:spcBef>
                <a:spcPct val="75000"/>
              </a:spcBef>
            </a:pPr>
            <a:r>
              <a:rPr lang="en-GB" altLang="en-US" sz="1700">
                <a:effectLst/>
              </a:rPr>
              <a:t>Apart from tension gashes and pinnate fractures, around </a:t>
            </a:r>
            <a:r>
              <a:rPr lang="en-GB" altLang="en-US" sz="1700">
                <a:solidFill>
                  <a:srgbClr val="FF6600"/>
                </a:solidFill>
                <a:effectLst/>
              </a:rPr>
              <a:t>faults</a:t>
            </a:r>
            <a:r>
              <a:rPr lang="en-GB" altLang="en-US" sz="1700">
                <a:effectLst/>
              </a:rPr>
              <a:t> there is frequently a closely spaced set of </a:t>
            </a:r>
            <a:r>
              <a:rPr lang="en-GB" altLang="en-US" sz="1700">
                <a:solidFill>
                  <a:srgbClr val="FF66CC"/>
                </a:solidFill>
                <a:effectLst/>
              </a:rPr>
              <a:t>fault-parallel fractures</a:t>
            </a:r>
            <a:r>
              <a:rPr lang="en-GB" altLang="en-US" sz="1700">
                <a:effectLst/>
              </a:rPr>
              <a:t>, and a more weakly developed set of shear fractures in the </a:t>
            </a:r>
            <a:r>
              <a:rPr lang="en-GB" altLang="en-US" sz="1700">
                <a:solidFill>
                  <a:srgbClr val="FF66CC"/>
                </a:solidFill>
                <a:effectLst/>
              </a:rPr>
              <a:t>conjugate orientation</a:t>
            </a:r>
            <a:r>
              <a:rPr lang="en-GB" altLang="en-US" sz="1700">
                <a:effectLst/>
              </a:rPr>
              <a:t> at about 60° to the fault</a:t>
            </a:r>
          </a:p>
          <a:p>
            <a:pPr marL="177800" indent="-177800">
              <a:spcBef>
                <a:spcPct val="75000"/>
              </a:spcBef>
            </a:pPr>
            <a:r>
              <a:rPr lang="en-GB" altLang="en-US" sz="1700">
                <a:effectLst/>
              </a:rPr>
              <a:t>For dip-slip faults these are conveniently visualized on a rose diagram constructed in the plane containing the </a:t>
            </a:r>
            <a:r>
              <a:rPr lang="en-GB" altLang="en-US" sz="1700">
                <a:solidFill>
                  <a:srgbClr val="FF66CC"/>
                </a:solidFill>
                <a:effectLst/>
              </a:rPr>
              <a:t>slip vector and the pole to the fault plane</a:t>
            </a:r>
          </a:p>
        </p:txBody>
      </p:sp>
      <p:pic>
        <p:nvPicPr>
          <p:cNvPr id="305156" name="Picture 4" descr="10a">
            <a:extLst>
              <a:ext uri="{FF2B5EF4-FFF2-40B4-BE49-F238E27FC236}">
                <a16:creationId xmlns:a16="http://schemas.microsoft.com/office/drawing/2014/main" id="{91DF0F6A-2048-4A3B-94EE-EF055982BFE8}"/>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903288" y="2965450"/>
            <a:ext cx="7427912" cy="3217863"/>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7" name="Rectangle 7">
            <a:extLst>
              <a:ext uri="{FF2B5EF4-FFF2-40B4-BE49-F238E27FC236}">
                <a16:creationId xmlns:a16="http://schemas.microsoft.com/office/drawing/2014/main" id="{09924BD9-AB5E-4DF7-ACA2-060F027488CC}"/>
              </a:ext>
            </a:extLst>
          </p:cNvPr>
          <p:cNvSpPr>
            <a:spLocks noChangeArrowheads="1"/>
          </p:cNvSpPr>
          <p:nvPr/>
        </p:nvSpPr>
        <p:spPr bwMode="auto">
          <a:xfrm>
            <a:off x="261938" y="3502025"/>
            <a:ext cx="5856287" cy="3160713"/>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07202" name="Rectangle 2">
            <a:extLst>
              <a:ext uri="{FF2B5EF4-FFF2-40B4-BE49-F238E27FC236}">
                <a16:creationId xmlns:a16="http://schemas.microsoft.com/office/drawing/2014/main" id="{7EE4C154-3340-496A-A050-B5EA21C500BF}"/>
              </a:ext>
            </a:extLst>
          </p:cNvPr>
          <p:cNvSpPr>
            <a:spLocks noGrp="1" noChangeArrowheads="1"/>
          </p:cNvSpPr>
          <p:nvPr>
            <p:ph type="title"/>
          </p:nvPr>
        </p:nvSpPr>
        <p:spPr>
          <a:noFill/>
        </p:spPr>
        <p:txBody>
          <a:bodyPr/>
          <a:lstStyle/>
          <a:p>
            <a:r>
              <a:rPr lang="en-GB" altLang="en-US">
                <a:effectLst/>
              </a:rPr>
              <a:t>Fractures associated with folds</a:t>
            </a:r>
          </a:p>
        </p:txBody>
      </p:sp>
      <p:sp>
        <p:nvSpPr>
          <p:cNvPr id="307203" name="Rectangle 3">
            <a:extLst>
              <a:ext uri="{FF2B5EF4-FFF2-40B4-BE49-F238E27FC236}">
                <a16:creationId xmlns:a16="http://schemas.microsoft.com/office/drawing/2014/main" id="{152A612C-8A30-401C-B8A1-3C204EA55CCA}"/>
              </a:ext>
            </a:extLst>
          </p:cNvPr>
          <p:cNvSpPr>
            <a:spLocks noGrp="1" noChangeArrowheads="1"/>
          </p:cNvSpPr>
          <p:nvPr>
            <p:ph type="body" sz="half" idx="1"/>
          </p:nvPr>
        </p:nvSpPr>
        <p:spPr>
          <a:xfrm>
            <a:off x="123825" y="747713"/>
            <a:ext cx="8758238" cy="2717800"/>
          </a:xfrm>
          <a:noFill/>
        </p:spPr>
        <p:txBody>
          <a:bodyPr/>
          <a:lstStyle/>
          <a:p>
            <a:pPr marL="179388" indent="-179388">
              <a:spcBef>
                <a:spcPct val="75000"/>
              </a:spcBef>
            </a:pPr>
            <a:r>
              <a:rPr lang="en-GB" altLang="en-US" sz="1700">
                <a:effectLst/>
              </a:rPr>
              <a:t>Fractures develop in a variety of orientations in association with </a:t>
            </a:r>
            <a:r>
              <a:rPr lang="en-GB" altLang="en-US" sz="1700">
                <a:solidFill>
                  <a:srgbClr val="FF6600"/>
                </a:solidFill>
                <a:effectLst/>
              </a:rPr>
              <a:t>folds</a:t>
            </a:r>
            <a:r>
              <a:rPr lang="en-GB" altLang="en-US" sz="1700">
                <a:effectLst/>
              </a:rPr>
              <a:t>:</a:t>
            </a:r>
          </a:p>
          <a:p>
            <a:pPr marL="631825" lvl="1" indent="-273050">
              <a:spcBef>
                <a:spcPct val="25000"/>
              </a:spcBef>
              <a:buFont typeface="Times" panose="02020603050405020304" pitchFamily="18" charset="0"/>
              <a:buAutoNum type="arabicPeriod"/>
            </a:pPr>
            <a:r>
              <a:rPr lang="en-GB" altLang="en-US" sz="1700">
                <a:solidFill>
                  <a:srgbClr val="FF66CC"/>
                </a:solidFill>
                <a:effectLst/>
              </a:rPr>
              <a:t>Longitudinal (bc) joints</a:t>
            </a:r>
            <a:r>
              <a:rPr lang="en-GB" altLang="en-US" sz="1700">
                <a:effectLst/>
              </a:rPr>
              <a:t>: parallel to the fold axis and orthogonal to bedding</a:t>
            </a:r>
          </a:p>
          <a:p>
            <a:pPr marL="631825" lvl="1" indent="-273050">
              <a:spcBef>
                <a:spcPct val="30000"/>
              </a:spcBef>
              <a:buFont typeface="Times" panose="02020603050405020304" pitchFamily="18" charset="0"/>
              <a:buAutoNum type="arabicPeriod"/>
            </a:pPr>
            <a:r>
              <a:rPr lang="en-GB" altLang="en-US" sz="1700">
                <a:solidFill>
                  <a:srgbClr val="FF66CC"/>
                </a:solidFill>
                <a:effectLst/>
              </a:rPr>
              <a:t>Cross (ac) joints</a:t>
            </a:r>
            <a:r>
              <a:rPr lang="en-GB" altLang="en-US" sz="1700">
                <a:effectLst/>
              </a:rPr>
              <a:t>: parallel to the profile plane</a:t>
            </a:r>
          </a:p>
          <a:p>
            <a:pPr marL="631825" lvl="1" indent="-273050">
              <a:spcBef>
                <a:spcPct val="30000"/>
              </a:spcBef>
              <a:buFont typeface="Times" panose="02020603050405020304" pitchFamily="18" charset="0"/>
              <a:buAutoNum type="arabicPeriod"/>
            </a:pPr>
            <a:r>
              <a:rPr lang="en-GB" altLang="en-US" sz="1700">
                <a:solidFill>
                  <a:srgbClr val="FF66CC"/>
                </a:solidFill>
                <a:effectLst/>
              </a:rPr>
              <a:t>Two conjugate sets of oblique joints</a:t>
            </a:r>
            <a:r>
              <a:rPr lang="en-GB" altLang="en-US" sz="1700">
                <a:effectLst/>
              </a:rPr>
              <a:t>: one conjugate pair bisected by bc joints (found in fold hinges) and the other bisected by ac joints (found in fold limbs)</a:t>
            </a:r>
          </a:p>
          <a:p>
            <a:pPr marL="179388" indent="-179388">
              <a:spcBef>
                <a:spcPct val="75000"/>
              </a:spcBef>
            </a:pPr>
            <a:r>
              <a:rPr lang="en-GB" altLang="en-US" sz="1700">
                <a:effectLst/>
              </a:rPr>
              <a:t>Other fracture sets may be found in the inner and outer arcs of fold hinges (stereograms C and E below)</a:t>
            </a:r>
          </a:p>
        </p:txBody>
      </p:sp>
      <p:pic>
        <p:nvPicPr>
          <p:cNvPr id="307204" name="Picture 4" descr="10b">
            <a:extLst>
              <a:ext uri="{FF2B5EF4-FFF2-40B4-BE49-F238E27FC236}">
                <a16:creationId xmlns:a16="http://schemas.microsoft.com/office/drawing/2014/main" id="{5D0381E8-1B23-49FC-9F46-D3BAF8CD746C}"/>
              </a:ext>
            </a:extLst>
          </p:cNvPr>
          <p:cNvPicPr>
            <a:picLocks noGrp="1" noChangeAspect="1" noChangeArrowheads="1"/>
          </p:cNvPicPr>
          <p:nvPr>
            <p:ph sz="half" idx="2"/>
          </p:nvPr>
        </p:nvPicPr>
        <p:blipFill>
          <a:blip r:embed="rId3">
            <a:lum contrast="20000"/>
            <a:extLst>
              <a:ext uri="{28A0092B-C50C-407E-A947-70E740481C1C}">
                <a14:useLocalDpi xmlns:a14="http://schemas.microsoft.com/office/drawing/2010/main" val="0"/>
              </a:ext>
            </a:extLst>
          </a:blip>
          <a:srcRect/>
          <a:stretch>
            <a:fillRect/>
          </a:stretch>
        </p:blipFill>
        <p:spPr>
          <a:xfrm>
            <a:off x="342900" y="3579813"/>
            <a:ext cx="5705475" cy="30146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07206" name="Text Box 6">
            <a:extLst>
              <a:ext uri="{FF2B5EF4-FFF2-40B4-BE49-F238E27FC236}">
                <a16:creationId xmlns:a16="http://schemas.microsoft.com/office/drawing/2014/main" id="{35385813-3D03-44DB-AB68-949712085DC7}"/>
              </a:ext>
            </a:extLst>
          </p:cNvPr>
          <p:cNvSpPr txBox="1">
            <a:spLocks noChangeArrowheads="1"/>
          </p:cNvSpPr>
          <p:nvPr/>
        </p:nvSpPr>
        <p:spPr bwMode="auto">
          <a:xfrm>
            <a:off x="6325576" y="3450371"/>
            <a:ext cx="2326054" cy="22898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79388" indent="-179388">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Considerable uncertainty exists over </a:t>
            </a:r>
            <a:r>
              <a:rPr lang="en-GB" altLang="en-US" sz="1700" dirty="0">
                <a:solidFill>
                  <a:srgbClr val="FF66CC"/>
                </a:solidFill>
                <a:effectLst>
                  <a:outerShdw blurRad="38100" dist="38100" dir="2700000" algn="tl">
                    <a:srgbClr val="000000"/>
                  </a:outerShdw>
                </a:effectLst>
                <a:latin typeface="Arial" panose="020B0604020202020204" pitchFamily="34" charset="0"/>
              </a:rPr>
              <a:t>how these fracture sets form</a:t>
            </a:r>
            <a:r>
              <a:rPr lang="en-GB" altLang="en-US" sz="1700" dirty="0">
                <a:effectLst>
                  <a:outerShdw blurRad="38100" dist="38100" dir="2700000" algn="tl">
                    <a:srgbClr val="000000"/>
                  </a:outerShdw>
                </a:effectLst>
                <a:latin typeface="Arial" panose="020B0604020202020204" pitchFamily="34" charset="0"/>
              </a:rPr>
              <a:t> and </a:t>
            </a:r>
            <a:r>
              <a:rPr lang="en-GB" altLang="en-US" sz="1700" dirty="0">
                <a:solidFill>
                  <a:srgbClr val="FF66CC"/>
                </a:solidFill>
                <a:effectLst>
                  <a:outerShdw blurRad="38100" dist="38100" dir="2700000" algn="tl">
                    <a:srgbClr val="000000"/>
                  </a:outerShdw>
                </a:effectLst>
                <a:latin typeface="Arial" panose="020B0604020202020204" pitchFamily="34" charset="0"/>
              </a:rPr>
              <a:t>when they form</a:t>
            </a:r>
            <a:r>
              <a:rPr lang="en-GB" altLang="en-US" sz="1700" dirty="0">
                <a:effectLst>
                  <a:outerShdw blurRad="38100" dist="38100" dir="2700000" algn="tl">
                    <a:srgbClr val="000000"/>
                  </a:outerShdw>
                </a:effectLst>
                <a:latin typeface="Arial" panose="020B0604020202020204" pitchFamily="34" charset="0"/>
              </a:rPr>
              <a:t> relative to the growth of the fold</a:t>
            </a:r>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Rectangle 2">
            <a:extLst>
              <a:ext uri="{FF2B5EF4-FFF2-40B4-BE49-F238E27FC236}">
                <a16:creationId xmlns:a16="http://schemas.microsoft.com/office/drawing/2014/main" id="{B4B20E6B-1767-4CDE-AE59-66EC0A887888}"/>
              </a:ext>
            </a:extLst>
          </p:cNvPr>
          <p:cNvSpPr>
            <a:spLocks noGrp="1" noChangeArrowheads="1"/>
          </p:cNvSpPr>
          <p:nvPr>
            <p:ph type="title"/>
          </p:nvPr>
        </p:nvSpPr>
        <p:spPr>
          <a:noFill/>
        </p:spPr>
        <p:txBody>
          <a:bodyPr/>
          <a:lstStyle/>
          <a:p>
            <a:r>
              <a:rPr lang="en-GB" altLang="en-US">
                <a:effectLst/>
              </a:rPr>
              <a:t>Exfoliation (sheet) joints</a:t>
            </a:r>
          </a:p>
        </p:txBody>
      </p:sp>
      <p:sp>
        <p:nvSpPr>
          <p:cNvPr id="312323" name="Rectangle 3">
            <a:extLst>
              <a:ext uri="{FF2B5EF4-FFF2-40B4-BE49-F238E27FC236}">
                <a16:creationId xmlns:a16="http://schemas.microsoft.com/office/drawing/2014/main" id="{E355A910-5162-4352-A8A9-15EC8942D3A0}"/>
              </a:ext>
            </a:extLst>
          </p:cNvPr>
          <p:cNvSpPr>
            <a:spLocks noGrp="1" noChangeArrowheads="1"/>
          </p:cNvSpPr>
          <p:nvPr>
            <p:ph type="body" sz="half" idx="1"/>
          </p:nvPr>
        </p:nvSpPr>
        <p:spPr>
          <a:xfrm>
            <a:off x="103188" y="2463800"/>
            <a:ext cx="5241925" cy="1414463"/>
          </a:xfrm>
          <a:noFill/>
        </p:spPr>
        <p:txBody>
          <a:bodyPr/>
          <a:lstStyle/>
          <a:p>
            <a:pPr marL="177800" indent="-177800">
              <a:spcBef>
                <a:spcPct val="75000"/>
              </a:spcBef>
            </a:pPr>
            <a:r>
              <a:rPr lang="en-GB" altLang="en-US" sz="1700">
                <a:solidFill>
                  <a:srgbClr val="FF66CC"/>
                </a:solidFill>
                <a:effectLst/>
              </a:rPr>
              <a:t>Exfoliation joints</a:t>
            </a:r>
            <a:r>
              <a:rPr lang="en-GB" altLang="en-US" sz="1700">
                <a:effectLst/>
              </a:rPr>
              <a:t> are extension fractures that are smoothly curved over 100s metres and sub-parallel to topography. They are best seen in plutonic rocks</a:t>
            </a:r>
          </a:p>
        </p:txBody>
      </p:sp>
      <p:pic>
        <p:nvPicPr>
          <p:cNvPr id="312326" name="Picture 6" descr="HalfDome-123">
            <a:extLst>
              <a:ext uri="{FF2B5EF4-FFF2-40B4-BE49-F238E27FC236}">
                <a16:creationId xmlns:a16="http://schemas.microsoft.com/office/drawing/2014/main" id="{0196ECE9-0988-432D-80CF-6D089E3F2177}"/>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5259388" y="2538413"/>
            <a:ext cx="3733800" cy="2801937"/>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12328" name="Picture 8" descr="10d1-Bodmin">
            <a:extLst>
              <a:ext uri="{FF2B5EF4-FFF2-40B4-BE49-F238E27FC236}">
                <a16:creationId xmlns:a16="http://schemas.microsoft.com/office/drawing/2014/main" id="{EA28BD35-5AE1-4415-89D5-D8CDA2505185}"/>
              </a:ext>
            </a:extLst>
          </p:cNvPr>
          <p:cNvPicPr>
            <a:picLocks noGrp="1" noChangeAspect="1" noChangeArrowheads="1"/>
          </p:cNvPicPr>
          <p:nvPr>
            <p:ph sz="quarter" idx="3"/>
          </p:nvPr>
        </p:nvPicPr>
        <p:blipFill>
          <a:blip r:embed="rId4">
            <a:lum bright="-10000"/>
            <a:extLst>
              <a:ext uri="{28A0092B-C50C-407E-A947-70E740481C1C}">
                <a14:useLocalDpi xmlns:a14="http://schemas.microsoft.com/office/drawing/2010/main" val="0"/>
              </a:ext>
            </a:extLst>
          </a:blip>
          <a:srcRect/>
          <a:stretch>
            <a:fillRect/>
          </a:stretch>
        </p:blipFill>
        <p:spPr>
          <a:xfrm>
            <a:off x="158750" y="923925"/>
            <a:ext cx="8853488" cy="141605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12330" name="Text Box 10">
            <a:extLst>
              <a:ext uri="{FF2B5EF4-FFF2-40B4-BE49-F238E27FC236}">
                <a16:creationId xmlns:a16="http://schemas.microsoft.com/office/drawing/2014/main" id="{1C6C5DB2-250F-4D97-9E43-2C535BFC16C7}"/>
              </a:ext>
            </a:extLst>
          </p:cNvPr>
          <p:cNvSpPr txBox="1">
            <a:spLocks noChangeArrowheads="1"/>
          </p:cNvSpPr>
          <p:nvPr/>
        </p:nvSpPr>
        <p:spPr bwMode="auto">
          <a:xfrm>
            <a:off x="5476875" y="5546725"/>
            <a:ext cx="3422650" cy="102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en-GB" altLang="en-US" sz="1700">
                <a:solidFill>
                  <a:srgbClr val="FF66CC"/>
                </a:solidFill>
                <a:effectLst>
                  <a:outerShdw blurRad="38100" dist="38100" dir="2700000" algn="tl">
                    <a:srgbClr val="000000"/>
                  </a:outerShdw>
                </a:effectLst>
                <a:latin typeface="Arial" panose="020B0604020202020204" pitchFamily="34" charset="0"/>
                <a:cs typeface="Arial" panose="020B0604020202020204" pitchFamily="34" charset="0"/>
              </a:rPr>
              <a:t>→</a:t>
            </a:r>
            <a:r>
              <a:rPr lang="en-GB" altLang="en-US" sz="1700">
                <a:solidFill>
                  <a:srgbClr val="FF66CC"/>
                </a:solidFill>
                <a:effectLst>
                  <a:outerShdw blurRad="38100" dist="38100" dir="2700000" algn="tl">
                    <a:srgbClr val="000000"/>
                  </a:outerShdw>
                </a:effectLst>
                <a:latin typeface="Arial" panose="020B0604020202020204" pitchFamily="34" charset="0"/>
              </a:rPr>
              <a:t> there is a large horizontal compressive stress available to cause surface-parallel fracturing</a:t>
            </a:r>
          </a:p>
        </p:txBody>
      </p:sp>
      <p:sp>
        <p:nvSpPr>
          <p:cNvPr id="312331" name="Rectangle 11">
            <a:extLst>
              <a:ext uri="{FF2B5EF4-FFF2-40B4-BE49-F238E27FC236}">
                <a16:creationId xmlns:a16="http://schemas.microsoft.com/office/drawing/2014/main" id="{D57A783B-1FB7-4A28-9CEC-AF37640944B8}"/>
              </a:ext>
            </a:extLst>
          </p:cNvPr>
          <p:cNvSpPr>
            <a:spLocks noChangeArrowheads="1"/>
          </p:cNvSpPr>
          <p:nvPr/>
        </p:nvSpPr>
        <p:spPr bwMode="auto">
          <a:xfrm>
            <a:off x="266700" y="4081463"/>
            <a:ext cx="4668838" cy="2360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7800" indent="-177800">
              <a:lnSpc>
                <a:spcPct val="120000"/>
              </a:lnSpc>
              <a:spcBef>
                <a:spcPct val="100000"/>
              </a:spcBef>
              <a:buClr>
                <a:schemeClr val="folHlink"/>
              </a:buClr>
              <a:buSzPct val="100000"/>
              <a:buFont typeface="Times" panose="02020603050405020304" pitchFamily="18" charset="0"/>
              <a:buChar char="•"/>
              <a:defRPr>
                <a:solidFill>
                  <a:schemeClr val="tx1"/>
                </a:solidFill>
                <a:latin typeface="Arial" panose="020B0604020202020204" pitchFamily="34" charset="0"/>
              </a:defRPr>
            </a:lvl1pPr>
            <a:lvl2pPr marL="839788" indent="-304800">
              <a:lnSpc>
                <a:spcPct val="120000"/>
              </a:lnSpc>
              <a:spcBef>
                <a:spcPct val="50000"/>
              </a:spcBef>
              <a:buClr>
                <a:schemeClr val="folHlink"/>
              </a:buClr>
              <a:buSzPct val="100000"/>
              <a:buFont typeface="Times" panose="02020603050405020304" pitchFamily="18" charset="0"/>
              <a:buChar char="•"/>
              <a:defRPr sz="1600">
                <a:solidFill>
                  <a:schemeClr val="tx1"/>
                </a:solidFill>
                <a:latin typeface="Arial" panose="020B0604020202020204" pitchFamily="34" charset="0"/>
              </a:defRPr>
            </a:lvl2pPr>
            <a:lvl3pPr marL="1317625" indent="-26670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3pPr>
            <a:lvl4pPr marL="1736725" indent="-26670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4pPr>
            <a:lvl5pPr marL="2178050" indent="-266700">
              <a:spcBef>
                <a:spcPct val="25000"/>
              </a:spcBef>
              <a:buClr>
                <a:schemeClr val="folHlink"/>
              </a:buClr>
              <a:buSzPct val="50000"/>
              <a:buFont typeface="Times" panose="02020603050405020304" pitchFamily="18" charset="0"/>
              <a:buChar char="•"/>
              <a:defRPr sz="1400">
                <a:solidFill>
                  <a:schemeClr val="tx1"/>
                </a:solidFill>
                <a:latin typeface="Arial" panose="020B0604020202020204" pitchFamily="34" charset="0"/>
              </a:defRPr>
            </a:lvl5pPr>
            <a:lvl6pPr marL="2635250" indent="-2667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6pPr>
            <a:lvl7pPr marL="3092450" indent="-2667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7pPr>
            <a:lvl8pPr marL="3549650" indent="-2667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8pPr>
            <a:lvl9pPr marL="4006850" indent="-2667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9pPr>
          </a:lstStyle>
          <a:p>
            <a:pPr>
              <a:spcBef>
                <a:spcPct val="200000"/>
              </a:spcBef>
              <a:buFont typeface="Times" panose="02020603050405020304" pitchFamily="18" charset="0"/>
              <a:buNone/>
            </a:pPr>
            <a:r>
              <a:rPr lang="en-GB" altLang="en-US" sz="1400" dirty="0">
                <a:effectLst/>
              </a:rPr>
              <a:t>	In a magma at depth the stresses are ~</a:t>
            </a:r>
            <a:r>
              <a:rPr lang="en-GB" altLang="en-US" sz="800" dirty="0">
                <a:effectLst/>
              </a:rPr>
              <a:t> </a:t>
            </a:r>
            <a:r>
              <a:rPr lang="en-GB" altLang="en-US" sz="1400" dirty="0">
                <a:effectLst/>
              </a:rPr>
              <a:t>lithostatic</a:t>
            </a:r>
          </a:p>
          <a:p>
            <a:pPr algn="ctr">
              <a:spcBef>
                <a:spcPct val="30000"/>
              </a:spcBef>
              <a:buNone/>
            </a:pPr>
            <a:r>
              <a:rPr lang="el-GR" altLang="en-US" sz="1400" i="1" dirty="0">
                <a:effectLst/>
                <a:latin typeface="Cambria Math" panose="02040503050406030204" pitchFamily="18" charset="0"/>
                <a:ea typeface="Cambria Math" panose="02040503050406030204" pitchFamily="18" charset="0"/>
              </a:rPr>
              <a:t>σ</a:t>
            </a:r>
            <a:r>
              <a:rPr lang="en-GB" altLang="en-US" sz="1400" baseline="-25000" dirty="0">
                <a:effectLst/>
              </a:rPr>
              <a:t>1</a:t>
            </a:r>
            <a:r>
              <a:rPr lang="en-GB" altLang="en-US" sz="1400" dirty="0">
                <a:effectLst/>
              </a:rPr>
              <a:t>  = </a:t>
            </a:r>
            <a:r>
              <a:rPr lang="el-GR" altLang="en-US" sz="1400" i="1" dirty="0">
                <a:effectLst/>
                <a:latin typeface="Cambria Math" panose="02040503050406030204" pitchFamily="18" charset="0"/>
                <a:ea typeface="Cambria Math" panose="02040503050406030204" pitchFamily="18" charset="0"/>
              </a:rPr>
              <a:t>σ</a:t>
            </a:r>
            <a:r>
              <a:rPr lang="en-GB" altLang="en-US" sz="1400" baseline="-25000" dirty="0">
                <a:effectLst/>
              </a:rPr>
              <a:t>2</a:t>
            </a:r>
            <a:r>
              <a:rPr lang="en-GB" altLang="en-US" sz="1400" dirty="0">
                <a:effectLst/>
              </a:rPr>
              <a:t>  = </a:t>
            </a:r>
            <a:r>
              <a:rPr lang="el-GR" altLang="en-US" sz="1400" i="1" dirty="0">
                <a:effectLst/>
                <a:latin typeface="Cambria Math" panose="02040503050406030204" pitchFamily="18" charset="0"/>
                <a:ea typeface="Cambria Math" panose="02040503050406030204" pitchFamily="18" charset="0"/>
              </a:rPr>
              <a:t>σ</a:t>
            </a:r>
            <a:r>
              <a:rPr lang="en-GB" altLang="en-US" sz="1400" baseline="-25000" dirty="0">
                <a:effectLst/>
              </a:rPr>
              <a:t>3</a:t>
            </a:r>
            <a:r>
              <a:rPr lang="en-GB" altLang="en-US" sz="1400" dirty="0">
                <a:effectLst/>
              </a:rPr>
              <a:t>  =  </a:t>
            </a:r>
            <a:r>
              <a:rPr lang="el-GR" altLang="en-US" sz="1400" i="1" dirty="0">
                <a:effectLst/>
                <a:latin typeface="Cambria Math" panose="02040503050406030204" pitchFamily="18" charset="0"/>
                <a:ea typeface="Cambria Math" panose="02040503050406030204" pitchFamily="18" charset="0"/>
                <a:cs typeface="Times New Roman" panose="02020603050405020304" pitchFamily="18" charset="0"/>
              </a:rPr>
              <a:t>ρ</a:t>
            </a:r>
            <a:r>
              <a:rPr lang="en-GB" altLang="en-US" sz="1400" i="1" dirty="0">
                <a:effectLst/>
                <a:latin typeface="Symbol" panose="05050102010706020507" pitchFamily="18" charset="2"/>
              </a:rPr>
              <a:t> </a:t>
            </a:r>
            <a:r>
              <a:rPr lang="en-GB" altLang="en-US" sz="1400" i="1" dirty="0">
                <a:effectLst/>
              </a:rPr>
              <a:t>g h</a:t>
            </a:r>
          </a:p>
          <a:p>
            <a:pPr>
              <a:spcBef>
                <a:spcPct val="30000"/>
              </a:spcBef>
              <a:buFont typeface="Times" panose="02020603050405020304" pitchFamily="18" charset="0"/>
              <a:buNone/>
            </a:pPr>
            <a:r>
              <a:rPr lang="en-GB" altLang="en-US" sz="1400" dirty="0">
                <a:effectLst/>
              </a:rPr>
              <a:t>	After unroofing to the surface then in the pluton</a:t>
            </a:r>
          </a:p>
          <a:p>
            <a:pPr algn="ctr">
              <a:spcBef>
                <a:spcPct val="30000"/>
              </a:spcBef>
              <a:buNone/>
            </a:pPr>
            <a:r>
              <a:rPr lang="en-GB" altLang="en-US" sz="1400" i="1" dirty="0">
                <a:effectLst/>
                <a:latin typeface="Cambria Math" panose="02040503050406030204" pitchFamily="18" charset="0"/>
                <a:ea typeface="Cambria Math" panose="02040503050406030204" pitchFamily="18" charset="0"/>
                <a:sym typeface="Symbol" panose="05050102010706020507" pitchFamily="18" charset="2"/>
              </a:rPr>
              <a:t></a:t>
            </a:r>
            <a:r>
              <a:rPr lang="el-GR" altLang="en-US" sz="1400" i="1" dirty="0">
                <a:effectLst/>
                <a:latin typeface="Cambria Math" panose="02040503050406030204" pitchFamily="18" charset="0"/>
                <a:ea typeface="Cambria Math" panose="02040503050406030204" pitchFamily="18" charset="0"/>
              </a:rPr>
              <a:t>σ</a:t>
            </a:r>
            <a:r>
              <a:rPr lang="en-GB" altLang="en-US" sz="1400" baseline="-25000" dirty="0">
                <a:effectLst/>
              </a:rPr>
              <a:t>v</a:t>
            </a:r>
            <a:r>
              <a:rPr lang="en-GB" altLang="en-US" sz="1400" dirty="0">
                <a:effectLst/>
              </a:rPr>
              <a:t> = - </a:t>
            </a:r>
            <a:r>
              <a:rPr lang="el-GR" altLang="en-US" sz="1400" i="1" dirty="0">
                <a:effectLst/>
                <a:latin typeface="Cambria Math" panose="02040503050406030204" pitchFamily="18" charset="0"/>
                <a:ea typeface="Cambria Math" panose="02040503050406030204" pitchFamily="18" charset="0"/>
                <a:cs typeface="Times New Roman" panose="02020603050405020304" pitchFamily="18" charset="0"/>
              </a:rPr>
              <a:t>ρ</a:t>
            </a:r>
            <a:r>
              <a:rPr lang="en-GB" altLang="en-US" sz="1400" i="1" dirty="0">
                <a:effectLst/>
                <a:latin typeface="Symbol" panose="05050102010706020507" pitchFamily="18" charset="2"/>
              </a:rPr>
              <a:t> </a:t>
            </a:r>
            <a:r>
              <a:rPr lang="en-GB" altLang="en-US" sz="1400" i="1" dirty="0">
                <a:effectLst/>
              </a:rPr>
              <a:t>g </a:t>
            </a:r>
            <a:r>
              <a:rPr lang="en-GB" altLang="en-US" sz="1400" i="1" spc="150" dirty="0">
                <a:effectLst/>
                <a:latin typeface="Cambria Math" panose="02040503050406030204" pitchFamily="18" charset="0"/>
                <a:ea typeface="Cambria Math" panose="02040503050406030204" pitchFamily="18" charset="0"/>
                <a:sym typeface="Symbol" panose="05050102010706020507" pitchFamily="18" charset="2"/>
              </a:rPr>
              <a:t></a:t>
            </a:r>
            <a:r>
              <a:rPr lang="en-GB" altLang="en-US" sz="1400" i="1" dirty="0">
                <a:effectLst/>
              </a:rPr>
              <a:t>h</a:t>
            </a:r>
            <a:r>
              <a:rPr lang="en-GB" altLang="en-US" sz="1400" dirty="0">
                <a:effectLst/>
              </a:rPr>
              <a:t>   ; </a:t>
            </a:r>
            <a:r>
              <a:rPr lang="en-GB" altLang="en-US" sz="1400" i="1" dirty="0">
                <a:effectLst/>
                <a:latin typeface="Cambria Math" panose="02040503050406030204" pitchFamily="18" charset="0"/>
                <a:ea typeface="Cambria Math" panose="02040503050406030204" pitchFamily="18" charset="0"/>
                <a:sym typeface="Symbol" panose="05050102010706020507" pitchFamily="18" charset="2"/>
              </a:rPr>
              <a:t></a:t>
            </a:r>
            <a:r>
              <a:rPr lang="el-GR" altLang="en-US" sz="1400" i="1" dirty="0">
                <a:effectLst/>
                <a:latin typeface="Cambria Math" panose="02040503050406030204" pitchFamily="18" charset="0"/>
                <a:ea typeface="Cambria Math" panose="02040503050406030204" pitchFamily="18" charset="0"/>
              </a:rPr>
              <a:t>σ</a:t>
            </a:r>
            <a:r>
              <a:rPr lang="en-GB" altLang="en-US" sz="1400" baseline="-25000" dirty="0">
                <a:effectLst/>
              </a:rPr>
              <a:t>h</a:t>
            </a:r>
            <a:r>
              <a:rPr lang="en-GB" altLang="en-US" sz="1400" dirty="0">
                <a:effectLst/>
              </a:rPr>
              <a:t> = [</a:t>
            </a:r>
            <a:r>
              <a:rPr lang="el-GR" altLang="en-US" sz="1400" i="1" dirty="0">
                <a:effectLst/>
                <a:latin typeface="Cambria Math" panose="02040503050406030204" pitchFamily="18" charset="0"/>
                <a:ea typeface="Cambria Math" panose="02040503050406030204" pitchFamily="18" charset="0"/>
              </a:rPr>
              <a:t>ν</a:t>
            </a:r>
            <a:r>
              <a:rPr lang="en-GB" altLang="en-US" sz="1400" i="1" dirty="0">
                <a:effectLst/>
                <a:latin typeface="Symbol" panose="05050102010706020507" pitchFamily="18" charset="2"/>
              </a:rPr>
              <a:t> </a:t>
            </a:r>
            <a:r>
              <a:rPr lang="en-GB" altLang="en-US" sz="1400" dirty="0">
                <a:effectLst/>
              </a:rPr>
              <a:t>/ (1-</a:t>
            </a:r>
            <a:r>
              <a:rPr lang="el-GR" altLang="en-US" sz="1400" i="1" dirty="0">
                <a:effectLst/>
                <a:latin typeface="Cambria Math" panose="02040503050406030204" pitchFamily="18" charset="0"/>
                <a:ea typeface="Cambria Math" panose="02040503050406030204" pitchFamily="18" charset="0"/>
              </a:rPr>
              <a:t> ν</a:t>
            </a:r>
            <a:r>
              <a:rPr lang="en-GB" altLang="en-US" sz="1400" i="1" dirty="0">
                <a:effectLst/>
                <a:latin typeface="Symbol" panose="05050102010706020507" pitchFamily="18" charset="2"/>
              </a:rPr>
              <a:t> </a:t>
            </a:r>
            <a:r>
              <a:rPr lang="en-GB" altLang="en-US" sz="1400" dirty="0">
                <a:effectLst/>
              </a:rPr>
              <a:t>) ] </a:t>
            </a:r>
            <a:r>
              <a:rPr lang="el-GR" altLang="en-US" sz="1400" i="1" dirty="0">
                <a:effectLst/>
                <a:latin typeface="Cambria Math" panose="02040503050406030204" pitchFamily="18" charset="0"/>
                <a:ea typeface="Cambria Math" panose="02040503050406030204" pitchFamily="18" charset="0"/>
                <a:cs typeface="Times New Roman" panose="02020603050405020304" pitchFamily="18" charset="0"/>
              </a:rPr>
              <a:t>ρ</a:t>
            </a:r>
            <a:r>
              <a:rPr lang="en-GB" altLang="en-US" sz="1400" i="1" dirty="0">
                <a:effectLst/>
                <a:latin typeface="Symbol" panose="05050102010706020507" pitchFamily="18" charset="2"/>
              </a:rPr>
              <a:t> </a:t>
            </a:r>
            <a:r>
              <a:rPr lang="en-GB" altLang="en-US" sz="1400" i="1" dirty="0">
                <a:effectLst/>
              </a:rPr>
              <a:t>g </a:t>
            </a:r>
            <a:r>
              <a:rPr lang="en-GB" altLang="en-US" sz="1400" i="1" spc="150" dirty="0">
                <a:effectLst/>
                <a:latin typeface="Cambria Math" panose="02040503050406030204" pitchFamily="18" charset="0"/>
                <a:ea typeface="Cambria Math" panose="02040503050406030204" pitchFamily="18" charset="0"/>
                <a:sym typeface="Symbol" panose="05050102010706020507" pitchFamily="18" charset="2"/>
              </a:rPr>
              <a:t></a:t>
            </a:r>
            <a:r>
              <a:rPr lang="en-GB" altLang="en-US" sz="1400" i="1" dirty="0">
                <a:effectLst/>
              </a:rPr>
              <a:t>h</a:t>
            </a:r>
          </a:p>
          <a:p>
            <a:pPr algn="ctr">
              <a:spcBef>
                <a:spcPct val="30000"/>
              </a:spcBef>
              <a:buNone/>
            </a:pPr>
            <a:r>
              <a:rPr lang="el-GR" altLang="en-US" sz="1400" i="1" dirty="0">
                <a:solidFill>
                  <a:srgbClr val="FF66CC"/>
                </a:solidFill>
                <a:effectLst/>
                <a:latin typeface="Cambria Math" panose="02040503050406030204" pitchFamily="18" charset="0"/>
                <a:ea typeface="Cambria Math" panose="02040503050406030204" pitchFamily="18" charset="0"/>
              </a:rPr>
              <a:t>σ</a:t>
            </a:r>
            <a:r>
              <a:rPr lang="en-GB" altLang="en-US" sz="1400" baseline="-25000" dirty="0">
                <a:solidFill>
                  <a:srgbClr val="FF66CC"/>
                </a:solidFill>
                <a:effectLst/>
              </a:rPr>
              <a:t>v</a:t>
            </a:r>
            <a:r>
              <a:rPr lang="en-GB" altLang="en-US" sz="1400" dirty="0">
                <a:solidFill>
                  <a:srgbClr val="FF66CC"/>
                </a:solidFill>
                <a:effectLst/>
              </a:rPr>
              <a:t> = </a:t>
            </a:r>
            <a:r>
              <a:rPr lang="el-GR" altLang="en-US" sz="1400" i="1" dirty="0">
                <a:solidFill>
                  <a:srgbClr val="FF66CC"/>
                </a:solidFill>
                <a:effectLst/>
                <a:latin typeface="Cambria Math" panose="02040503050406030204" pitchFamily="18" charset="0"/>
                <a:ea typeface="Cambria Math" panose="02040503050406030204" pitchFamily="18" charset="0"/>
              </a:rPr>
              <a:t>σ</a:t>
            </a:r>
            <a:r>
              <a:rPr lang="en-GB" altLang="en-US" sz="1400" baseline="-25000" dirty="0">
                <a:solidFill>
                  <a:srgbClr val="FF66CC"/>
                </a:solidFill>
                <a:effectLst/>
              </a:rPr>
              <a:t>3</a:t>
            </a:r>
            <a:r>
              <a:rPr lang="en-GB" altLang="en-US" sz="1400" dirty="0">
                <a:solidFill>
                  <a:srgbClr val="FF66CC"/>
                </a:solidFill>
                <a:effectLst/>
              </a:rPr>
              <a:t> = 0   ; </a:t>
            </a:r>
            <a:r>
              <a:rPr lang="el-GR" altLang="en-US" sz="1400" i="1" dirty="0">
                <a:solidFill>
                  <a:srgbClr val="FF66CC"/>
                </a:solidFill>
                <a:effectLst/>
                <a:latin typeface="Cambria Math" panose="02040503050406030204" pitchFamily="18" charset="0"/>
                <a:ea typeface="Cambria Math" panose="02040503050406030204" pitchFamily="18" charset="0"/>
              </a:rPr>
              <a:t>σ</a:t>
            </a:r>
            <a:r>
              <a:rPr lang="en-GB" altLang="en-US" sz="1400" baseline="-25000" dirty="0">
                <a:solidFill>
                  <a:srgbClr val="FF66CC"/>
                </a:solidFill>
                <a:effectLst/>
              </a:rPr>
              <a:t>h</a:t>
            </a:r>
            <a:r>
              <a:rPr lang="en-GB" altLang="en-US" sz="1400" dirty="0">
                <a:solidFill>
                  <a:srgbClr val="FF66CC"/>
                </a:solidFill>
                <a:effectLst/>
              </a:rPr>
              <a:t> = </a:t>
            </a:r>
            <a:r>
              <a:rPr lang="el-GR" altLang="en-US" sz="1400" i="1" dirty="0">
                <a:solidFill>
                  <a:srgbClr val="FF66CC"/>
                </a:solidFill>
                <a:effectLst/>
                <a:latin typeface="Cambria Math" panose="02040503050406030204" pitchFamily="18" charset="0"/>
                <a:ea typeface="Cambria Math" panose="02040503050406030204" pitchFamily="18" charset="0"/>
              </a:rPr>
              <a:t>σ</a:t>
            </a:r>
            <a:r>
              <a:rPr lang="en-GB" altLang="en-US" sz="1400" baseline="-25000" dirty="0">
                <a:solidFill>
                  <a:srgbClr val="FF66CC"/>
                </a:solidFill>
                <a:effectLst/>
              </a:rPr>
              <a:t>1</a:t>
            </a:r>
            <a:r>
              <a:rPr lang="en-GB" altLang="en-US" sz="1400" dirty="0">
                <a:solidFill>
                  <a:srgbClr val="FF66CC"/>
                </a:solidFill>
                <a:effectLst/>
              </a:rPr>
              <a:t> = [ (1-2</a:t>
            </a:r>
            <a:r>
              <a:rPr lang="el-GR" altLang="en-US" sz="1400" i="1" dirty="0">
                <a:solidFill>
                  <a:srgbClr val="FF66CC"/>
                </a:solidFill>
                <a:effectLst/>
                <a:latin typeface="Cambria Math" panose="02040503050406030204" pitchFamily="18" charset="0"/>
                <a:ea typeface="Cambria Math" panose="02040503050406030204" pitchFamily="18" charset="0"/>
              </a:rPr>
              <a:t>ν</a:t>
            </a:r>
            <a:r>
              <a:rPr lang="en-GB" altLang="en-US" sz="1400" i="1" dirty="0">
                <a:solidFill>
                  <a:srgbClr val="FF66CC"/>
                </a:solidFill>
                <a:effectLst/>
                <a:latin typeface="Symbol" panose="05050102010706020507" pitchFamily="18" charset="2"/>
              </a:rPr>
              <a:t> </a:t>
            </a:r>
            <a:r>
              <a:rPr lang="en-GB" altLang="en-US" sz="1400" dirty="0">
                <a:solidFill>
                  <a:srgbClr val="FF66CC"/>
                </a:solidFill>
                <a:effectLst/>
              </a:rPr>
              <a:t>) / (1-</a:t>
            </a:r>
            <a:r>
              <a:rPr lang="el-GR" altLang="en-US" sz="1400" i="1" dirty="0">
                <a:solidFill>
                  <a:srgbClr val="FF66CC"/>
                </a:solidFill>
                <a:effectLst/>
                <a:latin typeface="Cambria Math" panose="02040503050406030204" pitchFamily="18" charset="0"/>
                <a:ea typeface="Cambria Math" panose="02040503050406030204" pitchFamily="18" charset="0"/>
              </a:rPr>
              <a:t> ν</a:t>
            </a:r>
            <a:r>
              <a:rPr lang="en-GB" altLang="en-US" sz="1400" i="1" dirty="0">
                <a:solidFill>
                  <a:srgbClr val="FF66CC"/>
                </a:solidFill>
                <a:effectLst/>
                <a:latin typeface="Symbol" panose="05050102010706020507" pitchFamily="18" charset="2"/>
              </a:rPr>
              <a:t> </a:t>
            </a:r>
            <a:r>
              <a:rPr lang="en-GB" altLang="en-US" sz="1400" dirty="0">
                <a:solidFill>
                  <a:srgbClr val="FF66CC"/>
                </a:solidFill>
                <a:effectLst/>
              </a:rPr>
              <a:t>) ] </a:t>
            </a:r>
            <a:r>
              <a:rPr lang="el-GR" altLang="en-US" sz="1400" i="1" dirty="0">
                <a:solidFill>
                  <a:srgbClr val="FF66CC"/>
                </a:solidFill>
                <a:effectLst/>
                <a:latin typeface="Cambria Math" panose="02040503050406030204" pitchFamily="18" charset="0"/>
                <a:ea typeface="Cambria Math" panose="02040503050406030204" pitchFamily="18" charset="0"/>
                <a:cs typeface="Times New Roman" panose="02020603050405020304" pitchFamily="18" charset="0"/>
              </a:rPr>
              <a:t>ρ</a:t>
            </a:r>
            <a:r>
              <a:rPr lang="en-GB" altLang="en-US" sz="1400" i="1" dirty="0">
                <a:solidFill>
                  <a:srgbClr val="FF66CC"/>
                </a:solidFill>
                <a:effectLst/>
                <a:latin typeface="Symbol" panose="05050102010706020507" pitchFamily="18" charset="2"/>
              </a:rPr>
              <a:t> </a:t>
            </a:r>
            <a:r>
              <a:rPr lang="en-GB" altLang="en-US" sz="1400" i="1" dirty="0">
                <a:solidFill>
                  <a:srgbClr val="FF66CC"/>
                </a:solidFill>
                <a:effectLst/>
              </a:rPr>
              <a:t>g </a:t>
            </a:r>
            <a:r>
              <a:rPr lang="en-GB" altLang="en-US" sz="1400" i="1" spc="150" dirty="0">
                <a:solidFill>
                  <a:srgbClr val="FF66CC"/>
                </a:solidFill>
                <a:effectLst/>
                <a:latin typeface="Cambria Math" panose="02040503050406030204" pitchFamily="18" charset="0"/>
                <a:ea typeface="Cambria Math" panose="02040503050406030204" pitchFamily="18" charset="0"/>
                <a:sym typeface="Symbol" panose="05050102010706020507" pitchFamily="18" charset="2"/>
              </a:rPr>
              <a:t></a:t>
            </a:r>
            <a:r>
              <a:rPr lang="en-GB" altLang="en-US" sz="1400" i="1" dirty="0">
                <a:solidFill>
                  <a:srgbClr val="FF66CC"/>
                </a:solidFill>
                <a:effectLst/>
              </a:rPr>
              <a:t>h</a:t>
            </a:r>
          </a:p>
          <a:p>
            <a:pPr>
              <a:spcBef>
                <a:spcPct val="30000"/>
              </a:spcBef>
              <a:buFont typeface="Times" panose="02020603050405020304" pitchFamily="18" charset="0"/>
              <a:buNone/>
            </a:pPr>
            <a:r>
              <a:rPr lang="en-GB" altLang="en-US" sz="1400" dirty="0">
                <a:effectLst/>
              </a:rPr>
              <a:t>	assuming no lateral expansion</a:t>
            </a:r>
            <a:r>
              <a:rPr lang="en-GB" altLang="en-US" sz="800" dirty="0">
                <a:effectLst/>
              </a:rPr>
              <a:t> </a:t>
            </a:r>
            <a:r>
              <a:rPr lang="en-GB" altLang="en-US" sz="1400" dirty="0">
                <a:effectLst/>
              </a:rPr>
              <a:t>/</a:t>
            </a:r>
            <a:r>
              <a:rPr lang="en-GB" altLang="en-US" sz="800" dirty="0">
                <a:effectLst/>
              </a:rPr>
              <a:t> </a:t>
            </a:r>
            <a:r>
              <a:rPr lang="en-GB" altLang="en-US" sz="1400" dirty="0">
                <a:effectLst/>
              </a:rPr>
              <a:t>contraction. For</a:t>
            </a:r>
          </a:p>
          <a:p>
            <a:pPr>
              <a:spcBef>
                <a:spcPct val="30000"/>
              </a:spcBef>
              <a:buNone/>
            </a:pPr>
            <a:r>
              <a:rPr lang="en-GB" altLang="en-US" sz="1400" dirty="0">
                <a:effectLst/>
              </a:rPr>
              <a:t>	</a:t>
            </a:r>
            <a:r>
              <a:rPr lang="en-GB" altLang="en-US" sz="1400" i="1" dirty="0">
                <a:effectLst/>
                <a:latin typeface="Cambria Math" panose="02040503050406030204" pitchFamily="18" charset="0"/>
                <a:ea typeface="Cambria Math" panose="02040503050406030204" pitchFamily="18" charset="0"/>
                <a:sym typeface="Symbol" panose="05050102010706020507" pitchFamily="18" charset="2"/>
              </a:rPr>
              <a:t> </a:t>
            </a:r>
            <a:r>
              <a:rPr lang="en-GB" altLang="en-US" sz="1400" i="1" spc="150" dirty="0">
                <a:effectLst/>
                <a:latin typeface="Cambria Math" panose="02040503050406030204" pitchFamily="18" charset="0"/>
                <a:ea typeface="Cambria Math" panose="02040503050406030204" pitchFamily="18" charset="0"/>
                <a:sym typeface="Symbol" panose="05050102010706020507" pitchFamily="18" charset="2"/>
              </a:rPr>
              <a:t></a:t>
            </a:r>
            <a:r>
              <a:rPr lang="en-GB" altLang="en-US" sz="1400" i="1" dirty="0">
                <a:effectLst/>
              </a:rPr>
              <a:t>h</a:t>
            </a:r>
            <a:r>
              <a:rPr lang="en-GB" altLang="en-US" sz="1400" dirty="0">
                <a:effectLst/>
              </a:rPr>
              <a:t> = 5 km, </a:t>
            </a:r>
            <a:r>
              <a:rPr lang="el-GR" altLang="en-US" sz="1400" i="1" dirty="0">
                <a:effectLst/>
                <a:latin typeface="Cambria Math" panose="02040503050406030204" pitchFamily="18" charset="0"/>
                <a:ea typeface="Cambria Math" panose="02040503050406030204" pitchFamily="18" charset="0"/>
              </a:rPr>
              <a:t>ν</a:t>
            </a:r>
            <a:r>
              <a:rPr lang="en-GB" altLang="en-US" sz="1400" dirty="0">
                <a:effectLst/>
              </a:rPr>
              <a:t> = 0.25, </a:t>
            </a:r>
            <a:r>
              <a:rPr lang="el-GR" altLang="en-US" sz="1400" i="1" dirty="0">
                <a:effectLst/>
                <a:latin typeface="Cambria Math" panose="02040503050406030204" pitchFamily="18" charset="0"/>
                <a:ea typeface="Cambria Math" panose="02040503050406030204" pitchFamily="18" charset="0"/>
                <a:cs typeface="Times New Roman" panose="02020603050405020304" pitchFamily="18" charset="0"/>
              </a:rPr>
              <a:t>ρ</a:t>
            </a:r>
            <a:r>
              <a:rPr lang="en-GB" altLang="en-US" sz="1400" dirty="0">
                <a:effectLst/>
              </a:rPr>
              <a:t> = 3 gcm</a:t>
            </a:r>
            <a:r>
              <a:rPr lang="en-GB" altLang="en-US" sz="1400" baseline="30000" dirty="0">
                <a:effectLst/>
              </a:rPr>
              <a:t>-3</a:t>
            </a:r>
            <a:r>
              <a:rPr lang="en-GB" altLang="en-US" sz="1400" dirty="0">
                <a:effectLst/>
              </a:rPr>
              <a:t> then </a:t>
            </a:r>
            <a:r>
              <a:rPr lang="el-GR" altLang="en-US" sz="1400" i="1" dirty="0">
                <a:solidFill>
                  <a:srgbClr val="FF6600"/>
                </a:solidFill>
                <a:effectLst/>
                <a:latin typeface="Cambria Math" panose="02040503050406030204" pitchFamily="18" charset="0"/>
                <a:ea typeface="Cambria Math" panose="02040503050406030204" pitchFamily="18" charset="0"/>
              </a:rPr>
              <a:t>σ</a:t>
            </a:r>
            <a:r>
              <a:rPr lang="en-GB" altLang="en-US" sz="1400" baseline="-25000" dirty="0">
                <a:solidFill>
                  <a:srgbClr val="FF6600"/>
                </a:solidFill>
                <a:effectLst/>
              </a:rPr>
              <a:t>h</a:t>
            </a:r>
            <a:r>
              <a:rPr lang="en-GB" altLang="en-US" sz="1400" dirty="0">
                <a:solidFill>
                  <a:srgbClr val="FF6600"/>
                </a:solidFill>
                <a:effectLst/>
              </a:rPr>
              <a:t> = 100 </a:t>
            </a:r>
            <a:r>
              <a:rPr lang="en-GB" altLang="en-US" sz="1400" dirty="0" err="1">
                <a:solidFill>
                  <a:srgbClr val="FF6600"/>
                </a:solidFill>
                <a:effectLst/>
              </a:rPr>
              <a:t>MPa</a:t>
            </a:r>
            <a:endParaRPr lang="en-GB" altLang="en-US" sz="1400" dirty="0">
              <a:solidFill>
                <a:srgbClr val="FF6600"/>
              </a:solidFill>
              <a:effectLst/>
            </a:endParaRPr>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503CFA64-1790-461B-8AD6-6900AD210110}"/>
              </a:ext>
            </a:extLst>
          </p:cNvPr>
          <p:cNvSpPr>
            <a:spLocks noGrp="1" noChangeArrowheads="1"/>
          </p:cNvSpPr>
          <p:nvPr>
            <p:ph type="ctrTitle" idx="4294967295"/>
          </p:nvPr>
        </p:nvSpPr>
        <p:spPr bwMode="black">
          <a:xfrm>
            <a:off x="125413" y="1695450"/>
            <a:ext cx="8909050" cy="1955800"/>
          </a:xfrm>
          <a:effectLst>
            <a:outerShdw dist="35921" dir="2700000" algn="ctr" rotWithShape="0">
              <a:schemeClr val="bg2"/>
            </a:outerShdw>
          </a:effectLst>
          <a:extLst>
            <a:ext uri="{909E8E84-426E-40DD-AFC4-6F175D3DCCD1}">
              <a14:hiddenFill xmlns:a14="http://schemas.microsoft.com/office/drawing/2010/main">
                <a:solidFill>
                  <a:schemeClr val="bg1"/>
                </a:solidFill>
              </a14:hiddenFill>
            </a:ext>
          </a:extLst>
        </p:spPr>
        <p:txBody>
          <a:bodyPr anchor="ctr">
            <a:spAutoFit/>
          </a:bodyPr>
          <a:lstStyle/>
          <a:p>
            <a:pPr algn="ctr">
              <a:lnSpc>
                <a:spcPct val="120000"/>
              </a:lnSpc>
            </a:pPr>
            <a:br>
              <a:rPr lang="en-US" altLang="en-US" sz="3500" dirty="0"/>
            </a:br>
            <a:br>
              <a:rPr lang="en-US" altLang="en-US" sz="3500" dirty="0"/>
            </a:br>
            <a:r>
              <a:rPr lang="en-US" altLang="en-US" sz="3200" dirty="0">
                <a:solidFill>
                  <a:srgbClr val="FF6600"/>
                </a:solidFill>
              </a:rPr>
              <a:t>Veins and hypabyssal intrusions</a:t>
            </a:r>
            <a:endParaRPr lang="en-US" altLang="en-US" dirty="0">
              <a:solidFill>
                <a:srgbClr val="FF6600"/>
              </a:solidFill>
            </a:endParaRPr>
          </a:p>
        </p:txBody>
      </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2">
            <a:extLst>
              <a:ext uri="{FF2B5EF4-FFF2-40B4-BE49-F238E27FC236}">
                <a16:creationId xmlns:a16="http://schemas.microsoft.com/office/drawing/2014/main" id="{5A03EFA9-EAEB-42EB-BCE8-08E370EF5039}"/>
              </a:ext>
            </a:extLst>
          </p:cNvPr>
          <p:cNvSpPr>
            <a:spLocks noGrp="1" noChangeArrowheads="1"/>
          </p:cNvSpPr>
          <p:nvPr>
            <p:ph type="title"/>
          </p:nvPr>
        </p:nvSpPr>
        <p:spPr>
          <a:noFill/>
        </p:spPr>
        <p:txBody>
          <a:bodyPr/>
          <a:lstStyle/>
          <a:p>
            <a:r>
              <a:rPr lang="en-GB" altLang="en-US">
                <a:effectLst/>
              </a:rPr>
              <a:t>Joint infill, veins and hydraulic fracturing </a:t>
            </a:r>
          </a:p>
        </p:txBody>
      </p:sp>
      <p:sp>
        <p:nvSpPr>
          <p:cNvPr id="260099" name="Rectangle 3">
            <a:extLst>
              <a:ext uri="{FF2B5EF4-FFF2-40B4-BE49-F238E27FC236}">
                <a16:creationId xmlns:a16="http://schemas.microsoft.com/office/drawing/2014/main" id="{0C4038C0-462A-414C-98C7-EDB007707A2D}"/>
              </a:ext>
            </a:extLst>
          </p:cNvPr>
          <p:cNvSpPr>
            <a:spLocks noGrp="1" noChangeArrowheads="1"/>
          </p:cNvSpPr>
          <p:nvPr>
            <p:ph type="body" sz="half" idx="1"/>
          </p:nvPr>
        </p:nvSpPr>
        <p:spPr>
          <a:xfrm>
            <a:off x="123825" y="776288"/>
            <a:ext cx="4291013" cy="5729287"/>
          </a:xfrm>
          <a:noFill/>
        </p:spPr>
        <p:txBody>
          <a:bodyPr/>
          <a:lstStyle/>
          <a:p>
            <a:pPr marL="177800" indent="-177800">
              <a:spcBef>
                <a:spcPct val="75000"/>
              </a:spcBef>
            </a:pPr>
            <a:r>
              <a:rPr lang="en-GB" altLang="en-US" sz="1700" dirty="0">
                <a:effectLst/>
              </a:rPr>
              <a:t>Fracture surfaces may contain a </a:t>
            </a:r>
            <a:r>
              <a:rPr lang="en-GB" altLang="en-US" sz="1700" dirty="0">
                <a:solidFill>
                  <a:srgbClr val="FF6600"/>
                </a:solidFill>
                <a:effectLst/>
              </a:rPr>
              <a:t>thin mineral deposit</a:t>
            </a:r>
            <a:r>
              <a:rPr lang="en-GB" altLang="en-US" sz="1700" dirty="0">
                <a:effectLst/>
              </a:rPr>
              <a:t> (</a:t>
            </a:r>
            <a:r>
              <a:rPr lang="en-GB" altLang="en-US" sz="1700" i="1" dirty="0">
                <a:effectLst/>
              </a:rPr>
              <a:t>e.g.</a:t>
            </a:r>
            <a:r>
              <a:rPr lang="en-GB" altLang="en-US" sz="1700" dirty="0">
                <a:effectLst/>
              </a:rPr>
              <a:t>,</a:t>
            </a:r>
            <a:r>
              <a:rPr lang="en-GB" altLang="en-US" sz="1700" i="1" dirty="0">
                <a:effectLst/>
              </a:rPr>
              <a:t> </a:t>
            </a:r>
            <a:r>
              <a:rPr lang="en-GB" altLang="en-US" sz="1700" dirty="0">
                <a:effectLst/>
              </a:rPr>
              <a:t>quartz, feldspar, calcite, zeolites) that indicates the importance of fluids during their formation (assuming that the fluids did not come in later and use the fractures as conduits)</a:t>
            </a:r>
          </a:p>
          <a:p>
            <a:pPr marL="177800" indent="-177800">
              <a:spcBef>
                <a:spcPct val="75000"/>
              </a:spcBef>
            </a:pPr>
            <a:r>
              <a:rPr lang="en-GB" altLang="en-US" sz="1700" dirty="0">
                <a:effectLst/>
              </a:rPr>
              <a:t>Veins form when fluid pressure builds up sufficiently to generate extension fractures (</a:t>
            </a:r>
            <a:r>
              <a:rPr lang="en-GB" altLang="en-US" sz="1700" dirty="0">
                <a:solidFill>
                  <a:srgbClr val="FF6600"/>
                </a:solidFill>
                <a:effectLst/>
              </a:rPr>
              <a:t>hydraulic fracturing</a:t>
            </a:r>
            <a:r>
              <a:rPr lang="en-GB" altLang="en-US" sz="1700" dirty="0">
                <a:effectLst/>
              </a:rPr>
              <a:t>), and minerals are then precipitated out of solution – in most cases solubility decreases with decreasing fluid pressure (that is, as a fracture opens)</a:t>
            </a:r>
          </a:p>
          <a:p>
            <a:pPr marL="177800" indent="-177800">
              <a:spcBef>
                <a:spcPct val="75000"/>
              </a:spcBef>
            </a:pPr>
            <a:r>
              <a:rPr lang="en-GB" altLang="en-US" sz="1700" dirty="0">
                <a:effectLst/>
              </a:rPr>
              <a:t>In areas of very high fluid pressure </a:t>
            </a:r>
            <a:r>
              <a:rPr lang="en-GB" altLang="en-US" sz="1700" dirty="0">
                <a:solidFill>
                  <a:srgbClr val="FF6600"/>
                </a:solidFill>
                <a:effectLst/>
              </a:rPr>
              <a:t>tectonic brecciation</a:t>
            </a:r>
            <a:r>
              <a:rPr lang="en-GB" altLang="en-US" sz="1700" dirty="0">
                <a:effectLst/>
              </a:rPr>
              <a:t> may occur during hydraulic fracturing</a:t>
            </a:r>
          </a:p>
        </p:txBody>
      </p:sp>
      <p:pic>
        <p:nvPicPr>
          <p:cNvPr id="260100" name="Picture 4" descr="11b">
            <a:extLst>
              <a:ext uri="{FF2B5EF4-FFF2-40B4-BE49-F238E27FC236}">
                <a16:creationId xmlns:a16="http://schemas.microsoft.com/office/drawing/2014/main" id="{CEE3B36C-7D9E-46DB-8A0C-691576D44184}"/>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4814888" y="917575"/>
            <a:ext cx="4124325" cy="2744788"/>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60102" name="Picture 6" descr="11a-Oslo">
            <a:extLst>
              <a:ext uri="{FF2B5EF4-FFF2-40B4-BE49-F238E27FC236}">
                <a16:creationId xmlns:a16="http://schemas.microsoft.com/office/drawing/2014/main" id="{31A25A64-CE4F-46A3-8B5E-4A07066F6BB7}"/>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4821238" y="3802063"/>
            <a:ext cx="4119562" cy="285432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Rectangle 2">
            <a:extLst>
              <a:ext uri="{FF2B5EF4-FFF2-40B4-BE49-F238E27FC236}">
                <a16:creationId xmlns:a16="http://schemas.microsoft.com/office/drawing/2014/main" id="{F15A66A9-E6EC-4BA1-9B0D-929BE2BDFD6E}"/>
              </a:ext>
            </a:extLst>
          </p:cNvPr>
          <p:cNvSpPr>
            <a:spLocks noGrp="1" noChangeArrowheads="1"/>
          </p:cNvSpPr>
          <p:nvPr>
            <p:ph type="title"/>
          </p:nvPr>
        </p:nvSpPr>
        <p:spPr>
          <a:noFill/>
        </p:spPr>
        <p:txBody>
          <a:bodyPr/>
          <a:lstStyle/>
          <a:p>
            <a:r>
              <a:rPr lang="en-GB" altLang="en-US">
                <a:effectLst/>
              </a:rPr>
              <a:t>Emplacement of intrusions </a:t>
            </a:r>
          </a:p>
        </p:txBody>
      </p:sp>
      <p:sp>
        <p:nvSpPr>
          <p:cNvPr id="326659" name="Rectangle 3">
            <a:extLst>
              <a:ext uri="{FF2B5EF4-FFF2-40B4-BE49-F238E27FC236}">
                <a16:creationId xmlns:a16="http://schemas.microsoft.com/office/drawing/2014/main" id="{36038751-6C07-4D87-8DF6-B41FA7D01375}"/>
              </a:ext>
            </a:extLst>
          </p:cNvPr>
          <p:cNvSpPr>
            <a:spLocks noGrp="1" noChangeArrowheads="1"/>
          </p:cNvSpPr>
          <p:nvPr>
            <p:ph type="body" sz="half" idx="1"/>
          </p:nvPr>
        </p:nvSpPr>
        <p:spPr>
          <a:xfrm>
            <a:off x="133350" y="766763"/>
            <a:ext cx="8740775" cy="1438275"/>
          </a:xfrm>
          <a:noFill/>
        </p:spPr>
        <p:txBody>
          <a:bodyPr/>
          <a:lstStyle/>
          <a:p>
            <a:pPr marL="177800" indent="-177800">
              <a:spcBef>
                <a:spcPct val="75000"/>
              </a:spcBef>
            </a:pPr>
            <a:r>
              <a:rPr lang="en-GB" altLang="en-US" sz="1700">
                <a:effectLst/>
              </a:rPr>
              <a:t>Intrusion of magma as </a:t>
            </a:r>
            <a:r>
              <a:rPr lang="en-GB" altLang="en-US" sz="1700">
                <a:solidFill>
                  <a:srgbClr val="FF6600"/>
                </a:solidFill>
                <a:effectLst/>
              </a:rPr>
              <a:t>planar sheets</a:t>
            </a:r>
            <a:r>
              <a:rPr lang="en-GB" altLang="en-US" sz="1700">
                <a:effectLst/>
              </a:rPr>
              <a:t> requires the magma to flow into a pre-existing </a:t>
            </a:r>
            <a:r>
              <a:rPr lang="en-GB" altLang="en-US" sz="1700">
                <a:solidFill>
                  <a:srgbClr val="FF66CC"/>
                </a:solidFill>
                <a:effectLst/>
              </a:rPr>
              <a:t>open fissure</a:t>
            </a:r>
            <a:r>
              <a:rPr lang="en-GB" altLang="en-US" sz="1700">
                <a:effectLst/>
              </a:rPr>
              <a:t> or to be </a:t>
            </a:r>
            <a:r>
              <a:rPr lang="en-GB" altLang="en-US" sz="1700">
                <a:solidFill>
                  <a:srgbClr val="FF66CC"/>
                </a:solidFill>
                <a:effectLst/>
              </a:rPr>
              <a:t>forcefully injected</a:t>
            </a:r>
            <a:r>
              <a:rPr lang="en-GB" altLang="en-US" sz="1700">
                <a:effectLst/>
              </a:rPr>
              <a:t>. Since open fissures cannot exist at depth, the emplacement of such sheets must usually include at least a component of forceful injection, that is, of </a:t>
            </a:r>
            <a:r>
              <a:rPr lang="en-GB" altLang="en-US" sz="1700">
                <a:solidFill>
                  <a:srgbClr val="FF66CC"/>
                </a:solidFill>
                <a:effectLst/>
              </a:rPr>
              <a:t>hydraulic fracturing</a:t>
            </a:r>
          </a:p>
        </p:txBody>
      </p:sp>
      <p:pic>
        <p:nvPicPr>
          <p:cNvPr id="326680" name="Picture 24" descr="15c1-HoundPoint">
            <a:extLst>
              <a:ext uri="{FF2B5EF4-FFF2-40B4-BE49-F238E27FC236}">
                <a16:creationId xmlns:a16="http://schemas.microsoft.com/office/drawing/2014/main" id="{C5651B78-5829-4C58-AC20-63C0A0B4DE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6513" y="2289175"/>
            <a:ext cx="6226175" cy="439420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Rectangle 2">
            <a:extLst>
              <a:ext uri="{FF2B5EF4-FFF2-40B4-BE49-F238E27FC236}">
                <a16:creationId xmlns:a16="http://schemas.microsoft.com/office/drawing/2014/main" id="{292421E9-F337-46FF-B731-A9C2BAC30C01}"/>
              </a:ext>
            </a:extLst>
          </p:cNvPr>
          <p:cNvSpPr>
            <a:spLocks noGrp="1" noChangeArrowheads="1"/>
          </p:cNvSpPr>
          <p:nvPr>
            <p:ph type="title"/>
          </p:nvPr>
        </p:nvSpPr>
        <p:spPr>
          <a:noFill/>
        </p:spPr>
        <p:txBody>
          <a:bodyPr/>
          <a:lstStyle/>
          <a:p>
            <a:r>
              <a:rPr lang="en-GB" altLang="en-US">
                <a:effectLst/>
              </a:rPr>
              <a:t>Parallel-sided intrusions </a:t>
            </a:r>
          </a:p>
        </p:txBody>
      </p:sp>
      <p:sp>
        <p:nvSpPr>
          <p:cNvPr id="346115" name="Rectangle 3">
            <a:extLst>
              <a:ext uri="{FF2B5EF4-FFF2-40B4-BE49-F238E27FC236}">
                <a16:creationId xmlns:a16="http://schemas.microsoft.com/office/drawing/2014/main" id="{10FFF876-1C5E-4C9E-86A4-9E5A7A58F8E6}"/>
              </a:ext>
            </a:extLst>
          </p:cNvPr>
          <p:cNvSpPr>
            <a:spLocks noGrp="1" noChangeArrowheads="1"/>
          </p:cNvSpPr>
          <p:nvPr>
            <p:ph type="body" sz="half" idx="1"/>
          </p:nvPr>
        </p:nvSpPr>
        <p:spPr>
          <a:xfrm>
            <a:off x="138113" y="803275"/>
            <a:ext cx="5216525" cy="742950"/>
          </a:xfrm>
          <a:noFill/>
        </p:spPr>
        <p:txBody>
          <a:bodyPr/>
          <a:lstStyle/>
          <a:p>
            <a:pPr marL="177800" indent="-177800">
              <a:spcBef>
                <a:spcPct val="75000"/>
              </a:spcBef>
            </a:pPr>
            <a:r>
              <a:rPr lang="en-GB" altLang="en-US" sz="1700" dirty="0">
                <a:effectLst/>
              </a:rPr>
              <a:t>Here we focus on the emplacement of </a:t>
            </a:r>
            <a:r>
              <a:rPr lang="en-GB" altLang="en-US" sz="1700" dirty="0">
                <a:solidFill>
                  <a:srgbClr val="FF66CC"/>
                </a:solidFill>
                <a:effectLst/>
              </a:rPr>
              <a:t>sub-vertical</a:t>
            </a:r>
            <a:r>
              <a:rPr lang="en-GB" altLang="en-US" sz="1700" dirty="0">
                <a:effectLst/>
              </a:rPr>
              <a:t> sheets and </a:t>
            </a:r>
            <a:r>
              <a:rPr lang="en-GB" altLang="en-US" sz="1700" dirty="0">
                <a:solidFill>
                  <a:srgbClr val="FF66CC"/>
                </a:solidFill>
                <a:effectLst/>
              </a:rPr>
              <a:t>sub-horizontal</a:t>
            </a:r>
            <a:r>
              <a:rPr lang="en-GB" altLang="en-US" sz="1700" dirty="0">
                <a:effectLst/>
              </a:rPr>
              <a:t> sheets (dykes and sills)</a:t>
            </a:r>
            <a:endParaRPr lang="en-GB" altLang="en-US" sz="1700" dirty="0">
              <a:solidFill>
                <a:srgbClr val="FF66CC"/>
              </a:solidFill>
              <a:effectLst/>
            </a:endParaRPr>
          </a:p>
        </p:txBody>
      </p:sp>
      <p:sp>
        <p:nvSpPr>
          <p:cNvPr id="346118" name="Text Box 6">
            <a:extLst>
              <a:ext uri="{FF2B5EF4-FFF2-40B4-BE49-F238E27FC236}">
                <a16:creationId xmlns:a16="http://schemas.microsoft.com/office/drawing/2014/main" id="{AAE754C1-F315-4BE6-BA85-10DA5205DD12}"/>
              </a:ext>
            </a:extLst>
          </p:cNvPr>
          <p:cNvSpPr txBox="1">
            <a:spLocks noChangeArrowheads="1"/>
          </p:cNvSpPr>
          <p:nvPr/>
        </p:nvSpPr>
        <p:spPr bwMode="auto">
          <a:xfrm>
            <a:off x="5638800" y="5876925"/>
            <a:ext cx="3254375"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spcBef>
                <a:spcPct val="50000"/>
              </a:spcBef>
            </a:pPr>
            <a:r>
              <a:rPr lang="en-GB" altLang="en-US" sz="1400" dirty="0">
                <a:solidFill>
                  <a:srgbClr val="FFFF00"/>
                </a:solidFill>
                <a:effectLst>
                  <a:outerShdw blurRad="38100" dist="38100" dir="2700000" algn="tl">
                    <a:srgbClr val="000000"/>
                  </a:outerShdw>
                </a:effectLst>
                <a:latin typeface="Arial" panose="020B0604020202020204" pitchFamily="34" charset="0"/>
              </a:rPr>
              <a:t>Bedding is vertical in both these cases and so the ‘sill’ (left) is discordant, and the ‘dyke’ (right) is concordant</a:t>
            </a:r>
          </a:p>
        </p:txBody>
      </p:sp>
      <p:pic>
        <p:nvPicPr>
          <p:cNvPr id="346119" name="Picture 7" descr="11d1-TertSheet">
            <a:extLst>
              <a:ext uri="{FF2B5EF4-FFF2-40B4-BE49-F238E27FC236}">
                <a16:creationId xmlns:a16="http://schemas.microsoft.com/office/drawing/2014/main" id="{A80BD39F-1F1D-405D-87B4-5BE9C485BB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7039" b="3787"/>
          <a:stretch>
            <a:fillRect/>
          </a:stretch>
        </p:blipFill>
        <p:spPr bwMode="auto">
          <a:xfrm>
            <a:off x="198438" y="1679575"/>
            <a:ext cx="5146675" cy="265430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346120" name="Picture 8" descr="11d2-PermLamp">
            <a:extLst>
              <a:ext uri="{FF2B5EF4-FFF2-40B4-BE49-F238E27FC236}">
                <a16:creationId xmlns:a16="http://schemas.microsoft.com/office/drawing/2014/main" id="{029C83F6-0A7F-408E-82FF-5E567A7BE8D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10213" y="928688"/>
            <a:ext cx="3468687" cy="484346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346123" name="Picture 11" descr="Cone">
            <a:extLst>
              <a:ext uri="{FF2B5EF4-FFF2-40B4-BE49-F238E27FC236}">
                <a16:creationId xmlns:a16="http://schemas.microsoft.com/office/drawing/2014/main" id="{1687A605-D729-4175-8844-E75EDBEC127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6138" y="4541838"/>
            <a:ext cx="3730625" cy="213677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346125" name="Text Box 13">
            <a:extLst>
              <a:ext uri="{FF2B5EF4-FFF2-40B4-BE49-F238E27FC236}">
                <a16:creationId xmlns:a16="http://schemas.microsoft.com/office/drawing/2014/main" id="{33945268-CDBD-47A0-AC0C-45E7B1C16F3E}"/>
              </a:ext>
            </a:extLst>
          </p:cNvPr>
          <p:cNvSpPr txBox="1">
            <a:spLocks noChangeArrowheads="1"/>
          </p:cNvSpPr>
          <p:nvPr/>
        </p:nvSpPr>
        <p:spPr bwMode="auto">
          <a:xfrm>
            <a:off x="882650" y="6348413"/>
            <a:ext cx="16208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a:solidFill>
                  <a:srgbClr val="FF0000"/>
                </a:solidFill>
                <a:effectLst/>
                <a:latin typeface="Arial" panose="020B0604020202020204" pitchFamily="34" charset="0"/>
              </a:rPr>
              <a:t>not considered</a:t>
            </a:r>
          </a:p>
        </p:txBody>
      </p:sp>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2" name="Rectangle 2">
            <a:extLst>
              <a:ext uri="{FF2B5EF4-FFF2-40B4-BE49-F238E27FC236}">
                <a16:creationId xmlns:a16="http://schemas.microsoft.com/office/drawing/2014/main" id="{893F4504-5D02-4682-B77B-EEB29EB975F5}"/>
              </a:ext>
            </a:extLst>
          </p:cNvPr>
          <p:cNvSpPr>
            <a:spLocks noGrp="1" noChangeArrowheads="1"/>
          </p:cNvSpPr>
          <p:nvPr>
            <p:ph type="title"/>
          </p:nvPr>
        </p:nvSpPr>
        <p:spPr>
          <a:noFill/>
        </p:spPr>
        <p:txBody>
          <a:bodyPr/>
          <a:lstStyle/>
          <a:p>
            <a:r>
              <a:rPr lang="en-GB" altLang="en-US">
                <a:effectLst/>
              </a:rPr>
              <a:t>Buoyancy</a:t>
            </a:r>
          </a:p>
        </p:txBody>
      </p:sp>
      <p:pic>
        <p:nvPicPr>
          <p:cNvPr id="337924" name="Picture 4">
            <a:extLst>
              <a:ext uri="{FF2B5EF4-FFF2-40B4-BE49-F238E27FC236}">
                <a16:creationId xmlns:a16="http://schemas.microsoft.com/office/drawing/2014/main" id="{4B51960C-A663-460B-B5BD-5F9F83D5242A}"/>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3567113" y="1725613"/>
            <a:ext cx="5407025" cy="4656137"/>
          </a:xfrm>
          <a:noFill/>
          <a:ln w="38100" cap="flat">
            <a:solidFill>
              <a:schemeClr val="bg2"/>
            </a:solidFill>
            <a:miter lim="800000"/>
            <a:headEnd/>
            <a:tailEnd/>
          </a:ln>
        </p:spPr>
      </p:pic>
      <p:sp>
        <p:nvSpPr>
          <p:cNvPr id="337925" name="Text Box 5">
            <a:extLst>
              <a:ext uri="{FF2B5EF4-FFF2-40B4-BE49-F238E27FC236}">
                <a16:creationId xmlns:a16="http://schemas.microsoft.com/office/drawing/2014/main" id="{CBADAA9D-5A3A-4FD7-88DE-42BF72D117BA}"/>
              </a:ext>
            </a:extLst>
          </p:cNvPr>
          <p:cNvSpPr txBox="1">
            <a:spLocks noChangeArrowheads="1"/>
          </p:cNvSpPr>
          <p:nvPr/>
        </p:nvSpPr>
        <p:spPr bwMode="auto">
          <a:xfrm>
            <a:off x="122238" y="801688"/>
            <a:ext cx="3187700" cy="364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9388" indent="-179388">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The force driving hydraulic fracturing during emplacement of intrusions comes from the </a:t>
            </a:r>
            <a:r>
              <a:rPr lang="en-GB" altLang="en-US" sz="1700" dirty="0">
                <a:solidFill>
                  <a:srgbClr val="FF6600"/>
                </a:solidFill>
                <a:effectLst>
                  <a:outerShdw blurRad="38100" dist="38100" dir="2700000" algn="tl">
                    <a:srgbClr val="000000"/>
                  </a:outerShdw>
                </a:effectLst>
                <a:latin typeface="Arial" panose="020B0604020202020204" pitchFamily="34" charset="0"/>
              </a:rPr>
              <a:t>buoyancy force</a:t>
            </a:r>
            <a:r>
              <a:rPr lang="en-GB" altLang="en-US" sz="1700" dirty="0">
                <a:effectLst>
                  <a:outerShdw blurRad="38100" dist="38100" dir="2700000" algn="tl">
                    <a:srgbClr val="000000"/>
                  </a:outerShdw>
                </a:effectLst>
                <a:latin typeface="Arial" panose="020B0604020202020204" pitchFamily="34" charset="0"/>
              </a:rPr>
              <a:t> of the magma</a:t>
            </a:r>
          </a:p>
          <a:p>
            <a:pPr>
              <a:lnSpc>
                <a:spcPct val="120000"/>
              </a:lnSpc>
              <a:spcBef>
                <a:spcPct val="50000"/>
              </a:spcBef>
              <a:buClr>
                <a:schemeClr val="tx1"/>
              </a:buClr>
              <a:buFontTx/>
              <a:buChar char="•"/>
            </a:pPr>
            <a:r>
              <a:rPr lang="en-GB" altLang="en-US" sz="1700" dirty="0">
                <a:solidFill>
                  <a:srgbClr val="FF66CC"/>
                </a:solidFill>
                <a:effectLst>
                  <a:outerShdw blurRad="38100" dist="38100" dir="2700000" algn="tl">
                    <a:srgbClr val="000000"/>
                  </a:outerShdw>
                </a:effectLst>
                <a:latin typeface="Arial" panose="020B0604020202020204" pitchFamily="34" charset="0"/>
              </a:rPr>
              <a:t>Buoyancy </a:t>
            </a:r>
            <a:r>
              <a:rPr lang="en-GB" altLang="en-US" sz="1700" dirty="0">
                <a:effectLst>
                  <a:outerShdw blurRad="38100" dist="38100" dir="2700000" algn="tl">
                    <a:srgbClr val="000000"/>
                  </a:outerShdw>
                </a:effectLst>
                <a:latin typeface="Arial" panose="020B0604020202020204" pitchFamily="34" charset="0"/>
              </a:rPr>
              <a:t>=</a:t>
            </a:r>
            <a:r>
              <a:rPr lang="en-GB" altLang="en-US" sz="1700" dirty="0">
                <a:solidFill>
                  <a:srgbClr val="FF66CC"/>
                </a:solidFill>
                <a:effectLst>
                  <a:outerShdw blurRad="38100" dist="38100" dir="2700000" algn="tl">
                    <a:srgbClr val="000000"/>
                  </a:outerShdw>
                </a:effectLst>
                <a:latin typeface="Arial" panose="020B0604020202020204" pitchFamily="34" charset="0"/>
              </a:rPr>
              <a:t> magma pressure </a:t>
            </a:r>
            <a:r>
              <a:rPr lang="en-GB" altLang="en-US" sz="1700" dirty="0">
                <a:effectLst>
                  <a:outerShdw blurRad="38100" dist="38100" dir="2700000" algn="tl">
                    <a:srgbClr val="000000"/>
                  </a:outerShdw>
                </a:effectLst>
                <a:latin typeface="Arial" panose="020B0604020202020204" pitchFamily="34" charset="0"/>
              </a:rPr>
              <a:t>minus</a:t>
            </a:r>
            <a:r>
              <a:rPr lang="en-GB" altLang="en-US" sz="1700" dirty="0">
                <a:solidFill>
                  <a:srgbClr val="FF66CC"/>
                </a:solidFill>
                <a:effectLst>
                  <a:outerShdw blurRad="38100" dist="38100" dir="2700000" algn="tl">
                    <a:srgbClr val="000000"/>
                  </a:outerShdw>
                </a:effectLst>
                <a:latin typeface="Arial" panose="020B0604020202020204" pitchFamily="34" charset="0"/>
              </a:rPr>
              <a:t> vertical stress in the surrounding rock</a:t>
            </a:r>
            <a:r>
              <a:rPr lang="en-GB" altLang="en-US" sz="1700" dirty="0">
                <a:effectLst>
                  <a:outerShdw blurRad="38100" dist="38100" dir="2700000" algn="tl">
                    <a:srgbClr val="000000"/>
                  </a:outerShdw>
                </a:effectLst>
                <a:latin typeface="Arial" panose="020B0604020202020204" pitchFamily="34" charset="0"/>
              </a:rPr>
              <a:t>, and so it arises from the lower density of the magma compared with its host rock</a:t>
            </a:r>
          </a:p>
        </p:txBody>
      </p:sp>
      <p:sp>
        <p:nvSpPr>
          <p:cNvPr id="337926" name="Text Box 6">
            <a:extLst>
              <a:ext uri="{FF2B5EF4-FFF2-40B4-BE49-F238E27FC236}">
                <a16:creationId xmlns:a16="http://schemas.microsoft.com/office/drawing/2014/main" id="{EA6CE570-1F03-4EFA-9B4D-E99CEEBD9C0C}"/>
              </a:ext>
            </a:extLst>
          </p:cNvPr>
          <p:cNvSpPr txBox="1">
            <a:spLocks noChangeArrowheads="1"/>
          </p:cNvSpPr>
          <p:nvPr/>
        </p:nvSpPr>
        <p:spPr bwMode="auto">
          <a:xfrm>
            <a:off x="877888" y="5006975"/>
            <a:ext cx="2525712" cy="1314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Derivation of the buoyancy equation. Note that it is assumed that the pressure in the magma chamber is lithostatic</a:t>
            </a:r>
          </a:p>
        </p:txBody>
      </p:sp>
      <p:sp>
        <p:nvSpPr>
          <p:cNvPr id="337928" name="Text Box 8">
            <a:extLst>
              <a:ext uri="{FF2B5EF4-FFF2-40B4-BE49-F238E27FC236}">
                <a16:creationId xmlns:a16="http://schemas.microsoft.com/office/drawing/2014/main" id="{CCB59A2A-BBB2-4F55-8212-8B52CC503978}"/>
              </a:ext>
            </a:extLst>
          </p:cNvPr>
          <p:cNvSpPr txBox="1">
            <a:spLocks noChangeArrowheads="1"/>
          </p:cNvSpPr>
          <p:nvPr/>
        </p:nvSpPr>
        <p:spPr bwMode="auto">
          <a:xfrm>
            <a:off x="5118100" y="2695575"/>
            <a:ext cx="3952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b="1">
                <a:solidFill>
                  <a:schemeClr val="bg2"/>
                </a:solidFill>
                <a:effectLst/>
                <a:latin typeface="Arial" panose="020B0604020202020204" pitchFamily="34" charset="0"/>
              </a:rPr>
              <a:t>A</a:t>
            </a:r>
          </a:p>
        </p:txBody>
      </p:sp>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Rectangle 2">
            <a:extLst>
              <a:ext uri="{FF2B5EF4-FFF2-40B4-BE49-F238E27FC236}">
                <a16:creationId xmlns:a16="http://schemas.microsoft.com/office/drawing/2014/main" id="{EACA4DB2-A160-40CD-8B10-B5638B589C67}"/>
              </a:ext>
            </a:extLst>
          </p:cNvPr>
          <p:cNvSpPr>
            <a:spLocks noGrp="1" noChangeArrowheads="1"/>
          </p:cNvSpPr>
          <p:nvPr>
            <p:ph type="title"/>
          </p:nvPr>
        </p:nvSpPr>
        <p:spPr>
          <a:noFill/>
        </p:spPr>
        <p:txBody>
          <a:bodyPr/>
          <a:lstStyle/>
          <a:p>
            <a:r>
              <a:rPr lang="en-GB" altLang="en-US">
                <a:effectLst/>
              </a:rPr>
              <a:t>Formation of dykes </a:t>
            </a:r>
          </a:p>
        </p:txBody>
      </p:sp>
      <p:sp>
        <p:nvSpPr>
          <p:cNvPr id="328707" name="Rectangle 3">
            <a:extLst>
              <a:ext uri="{FF2B5EF4-FFF2-40B4-BE49-F238E27FC236}">
                <a16:creationId xmlns:a16="http://schemas.microsoft.com/office/drawing/2014/main" id="{C3181E42-052B-43B4-A615-F15B3F3552CE}"/>
              </a:ext>
            </a:extLst>
          </p:cNvPr>
          <p:cNvSpPr>
            <a:spLocks noGrp="1" noChangeArrowheads="1"/>
          </p:cNvSpPr>
          <p:nvPr>
            <p:ph type="body" sz="half" idx="1"/>
          </p:nvPr>
        </p:nvSpPr>
        <p:spPr>
          <a:xfrm>
            <a:off x="123825" y="768350"/>
            <a:ext cx="5205413" cy="2420938"/>
          </a:xfrm>
          <a:noFill/>
        </p:spPr>
        <p:txBody>
          <a:bodyPr/>
          <a:lstStyle/>
          <a:p>
            <a:pPr marL="177800" indent="-177800">
              <a:spcBef>
                <a:spcPct val="75000"/>
              </a:spcBef>
            </a:pPr>
            <a:r>
              <a:rPr lang="en-GB" altLang="en-US" sz="1700" dirty="0">
                <a:effectLst/>
              </a:rPr>
              <a:t>The intrusion of a vertical dyke requires that</a:t>
            </a:r>
          </a:p>
          <a:p>
            <a:pPr marL="177800" indent="-177800" algn="ctr">
              <a:spcBef>
                <a:spcPct val="50000"/>
              </a:spcBef>
              <a:buFont typeface="Times" panose="02020603050405020304" pitchFamily="18" charset="0"/>
              <a:buNone/>
            </a:pPr>
            <a:r>
              <a:rPr lang="en-GB" altLang="en-US" sz="1700" i="1" dirty="0" err="1">
                <a:solidFill>
                  <a:srgbClr val="FF6600"/>
                </a:solidFill>
                <a:effectLst/>
              </a:rPr>
              <a:t>p</a:t>
            </a:r>
            <a:r>
              <a:rPr lang="en-GB" altLang="en-US" sz="1700" i="1" baseline="-25000" dirty="0" err="1">
                <a:solidFill>
                  <a:srgbClr val="FF6600"/>
                </a:solidFill>
                <a:effectLst/>
              </a:rPr>
              <a:t>magma</a:t>
            </a:r>
            <a:r>
              <a:rPr lang="en-GB" altLang="en-US" sz="1700" dirty="0">
                <a:solidFill>
                  <a:srgbClr val="FF6600"/>
                </a:solidFill>
                <a:effectLst/>
              </a:rPr>
              <a:t>  - </a:t>
            </a:r>
            <a:r>
              <a:rPr lang="el-GR" altLang="en-US" sz="1700" i="1" dirty="0">
                <a:solidFill>
                  <a:srgbClr val="FF6600"/>
                </a:solidFill>
                <a:effectLst/>
                <a:latin typeface="Cambria Math" panose="02040503050406030204" pitchFamily="18" charset="0"/>
                <a:ea typeface="Cambria Math" panose="02040503050406030204" pitchFamily="18" charset="0"/>
              </a:rPr>
              <a:t>σ</a:t>
            </a:r>
            <a:r>
              <a:rPr lang="en-GB" altLang="en-US" sz="1700" baseline="-25000" dirty="0">
                <a:solidFill>
                  <a:srgbClr val="FF6600"/>
                </a:solidFill>
                <a:effectLst/>
              </a:rPr>
              <a:t>h</a:t>
            </a:r>
            <a:r>
              <a:rPr lang="en-GB" altLang="en-US" sz="1700" dirty="0">
                <a:solidFill>
                  <a:srgbClr val="FF6600"/>
                </a:solidFill>
                <a:effectLst/>
              </a:rPr>
              <a:t>  &gt;  </a:t>
            </a:r>
            <a:r>
              <a:rPr lang="en-GB" altLang="en-US" sz="1700" i="1" dirty="0">
                <a:solidFill>
                  <a:srgbClr val="FF6600"/>
                </a:solidFill>
                <a:effectLst/>
              </a:rPr>
              <a:t>T</a:t>
            </a:r>
            <a:r>
              <a:rPr lang="en-GB" altLang="en-US" sz="1700" baseline="-25000" dirty="0">
                <a:solidFill>
                  <a:srgbClr val="FF6600"/>
                </a:solidFill>
                <a:effectLst/>
              </a:rPr>
              <a:t>h</a:t>
            </a:r>
          </a:p>
          <a:p>
            <a:pPr marL="177800" indent="-177800">
              <a:spcBef>
                <a:spcPct val="50000"/>
              </a:spcBef>
              <a:buFont typeface="Times" panose="02020603050405020304" pitchFamily="18" charset="0"/>
              <a:buNone/>
            </a:pPr>
            <a:r>
              <a:rPr lang="en-GB" altLang="en-US" sz="1700" dirty="0">
                <a:effectLst/>
              </a:rPr>
              <a:t>	where </a:t>
            </a:r>
            <a:r>
              <a:rPr lang="en-GB" altLang="en-US" sz="1700" i="1" dirty="0">
                <a:solidFill>
                  <a:srgbClr val="FFFF00"/>
                </a:solidFill>
                <a:effectLst/>
              </a:rPr>
              <a:t>T</a:t>
            </a:r>
            <a:r>
              <a:rPr lang="en-GB" altLang="en-US" sz="1700" baseline="-25000" dirty="0">
                <a:solidFill>
                  <a:srgbClr val="FFFF00"/>
                </a:solidFill>
                <a:effectLst/>
              </a:rPr>
              <a:t>h</a:t>
            </a:r>
            <a:r>
              <a:rPr lang="en-GB" altLang="en-US" sz="1700" dirty="0">
                <a:effectLst/>
              </a:rPr>
              <a:t> is the tensile strength of the rock in the </a:t>
            </a:r>
            <a:r>
              <a:rPr lang="en-GB" altLang="en-US" sz="1700" dirty="0">
                <a:solidFill>
                  <a:srgbClr val="FF66CC"/>
                </a:solidFill>
                <a:effectLst/>
              </a:rPr>
              <a:t>horizontal </a:t>
            </a:r>
            <a:r>
              <a:rPr lang="en-GB" altLang="en-US" sz="1700" dirty="0">
                <a:effectLst/>
              </a:rPr>
              <a:t>direction</a:t>
            </a:r>
          </a:p>
          <a:p>
            <a:pPr marL="177800" indent="-177800">
              <a:spcBef>
                <a:spcPct val="50000"/>
              </a:spcBef>
            </a:pPr>
            <a:r>
              <a:rPr lang="en-GB" altLang="en-US" sz="1700" dirty="0">
                <a:effectLst/>
              </a:rPr>
              <a:t>With some simplifying assumptions one can show the </a:t>
            </a:r>
            <a:r>
              <a:rPr lang="en-GB" altLang="en-US" sz="1700" dirty="0">
                <a:solidFill>
                  <a:srgbClr val="FF66CC"/>
                </a:solidFill>
                <a:effectLst/>
              </a:rPr>
              <a:t>magma overpressure</a:t>
            </a:r>
            <a:r>
              <a:rPr lang="en-GB" altLang="en-US" sz="1700" dirty="0">
                <a:effectLst/>
              </a:rPr>
              <a:t> </a:t>
            </a:r>
            <a:r>
              <a:rPr lang="en-GB" altLang="en-US" sz="1700" spc="200" dirty="0">
                <a:effectLst/>
              </a:rPr>
              <a:t>(</a:t>
            </a:r>
            <a:r>
              <a:rPr lang="en-GB" altLang="en-US" sz="1700" i="1" dirty="0" err="1">
                <a:solidFill>
                  <a:srgbClr val="FFFF00"/>
                </a:solidFill>
                <a:effectLst/>
              </a:rPr>
              <a:t>p</a:t>
            </a:r>
            <a:r>
              <a:rPr lang="en-GB" altLang="en-US" sz="1700" i="1" baseline="-25000" dirty="0" err="1">
                <a:solidFill>
                  <a:srgbClr val="FFFF00"/>
                </a:solidFill>
                <a:effectLst/>
              </a:rPr>
              <a:t>magma</a:t>
            </a:r>
            <a:r>
              <a:rPr lang="en-GB" altLang="en-US" sz="1700" i="1" dirty="0">
                <a:solidFill>
                  <a:srgbClr val="FFFF00"/>
                </a:solidFill>
                <a:effectLst/>
              </a:rPr>
              <a:t> - </a:t>
            </a:r>
            <a:r>
              <a:rPr lang="el-GR" altLang="en-US" sz="1700" i="1" dirty="0">
                <a:solidFill>
                  <a:srgbClr val="FFFF00"/>
                </a:solidFill>
                <a:effectLst/>
                <a:latin typeface="Cambria Math" panose="02040503050406030204" pitchFamily="18" charset="0"/>
                <a:ea typeface="Cambria Math" panose="02040503050406030204" pitchFamily="18" charset="0"/>
              </a:rPr>
              <a:t>σ</a:t>
            </a:r>
            <a:r>
              <a:rPr lang="en-GB" altLang="en-US" sz="1700" spc="200" baseline="-25000" dirty="0">
                <a:solidFill>
                  <a:srgbClr val="FFFF00"/>
                </a:solidFill>
                <a:effectLst/>
              </a:rPr>
              <a:t>h</a:t>
            </a:r>
            <a:r>
              <a:rPr lang="en-GB" altLang="en-US" sz="1700" dirty="0">
                <a:effectLst/>
              </a:rPr>
              <a:t>) is given by</a:t>
            </a:r>
            <a:endParaRPr lang="en-GB" altLang="en-US" sz="1700" i="1" dirty="0">
              <a:effectLst/>
            </a:endParaRPr>
          </a:p>
        </p:txBody>
      </p:sp>
      <p:grpSp>
        <p:nvGrpSpPr>
          <p:cNvPr id="328728" name="Group 24">
            <a:extLst>
              <a:ext uri="{FF2B5EF4-FFF2-40B4-BE49-F238E27FC236}">
                <a16:creationId xmlns:a16="http://schemas.microsoft.com/office/drawing/2014/main" id="{5E5A82F2-BD13-4DD5-A971-AA7F8C45F2B5}"/>
              </a:ext>
            </a:extLst>
          </p:cNvPr>
          <p:cNvGrpSpPr>
            <a:grpSpLocks/>
          </p:cNvGrpSpPr>
          <p:nvPr/>
        </p:nvGrpSpPr>
        <p:grpSpPr bwMode="auto">
          <a:xfrm>
            <a:off x="5389563" y="938213"/>
            <a:ext cx="3509962" cy="3135312"/>
            <a:chOff x="3395" y="591"/>
            <a:chExt cx="2211" cy="1975"/>
          </a:xfrm>
        </p:grpSpPr>
        <p:sp>
          <p:nvSpPr>
            <p:cNvPr id="328715" name="Rectangle 11">
              <a:extLst>
                <a:ext uri="{FF2B5EF4-FFF2-40B4-BE49-F238E27FC236}">
                  <a16:creationId xmlns:a16="http://schemas.microsoft.com/office/drawing/2014/main" id="{53706BCF-633D-4B39-B88F-8CEAA80D0E68}"/>
                </a:ext>
              </a:extLst>
            </p:cNvPr>
            <p:cNvSpPr>
              <a:spLocks noChangeArrowheads="1"/>
            </p:cNvSpPr>
            <p:nvPr/>
          </p:nvSpPr>
          <p:spPr bwMode="auto">
            <a:xfrm>
              <a:off x="3395" y="610"/>
              <a:ext cx="2211" cy="1956"/>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328713" name="Picture 9" descr="12b">
              <a:extLst>
                <a:ext uri="{FF2B5EF4-FFF2-40B4-BE49-F238E27FC236}">
                  <a16:creationId xmlns:a16="http://schemas.microsoft.com/office/drawing/2014/main" id="{00B309F9-2E22-4E6E-9289-D673DFC531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34" y="672"/>
              <a:ext cx="2119" cy="17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28716" name="Line 12">
              <a:extLst>
                <a:ext uri="{FF2B5EF4-FFF2-40B4-BE49-F238E27FC236}">
                  <a16:creationId xmlns:a16="http://schemas.microsoft.com/office/drawing/2014/main" id="{E5AD8FF6-F0C7-480A-BFA1-48060933EE47}"/>
                </a:ext>
              </a:extLst>
            </p:cNvPr>
            <p:cNvSpPr>
              <a:spLocks noChangeShapeType="1"/>
            </p:cNvSpPr>
            <p:nvPr/>
          </p:nvSpPr>
          <p:spPr bwMode="auto">
            <a:xfrm>
              <a:off x="4572" y="758"/>
              <a:ext cx="218" cy="3"/>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8717" name="Line 13">
              <a:extLst>
                <a:ext uri="{FF2B5EF4-FFF2-40B4-BE49-F238E27FC236}">
                  <a16:creationId xmlns:a16="http://schemas.microsoft.com/office/drawing/2014/main" id="{1DD9E517-799B-4C6D-BF73-42433DDEC658}"/>
                </a:ext>
              </a:extLst>
            </p:cNvPr>
            <p:cNvSpPr>
              <a:spLocks noChangeShapeType="1"/>
            </p:cNvSpPr>
            <p:nvPr/>
          </p:nvSpPr>
          <p:spPr bwMode="auto">
            <a:xfrm flipV="1">
              <a:off x="4661" y="741"/>
              <a:ext cx="31" cy="34"/>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8718" name="Text Box 14">
              <a:extLst>
                <a:ext uri="{FF2B5EF4-FFF2-40B4-BE49-F238E27FC236}">
                  <a16:creationId xmlns:a16="http://schemas.microsoft.com/office/drawing/2014/main" id="{C73C466E-83E1-4273-B0D0-588749466FE0}"/>
                </a:ext>
              </a:extLst>
            </p:cNvPr>
            <p:cNvSpPr txBox="1">
              <a:spLocks noChangeArrowheads="1"/>
            </p:cNvSpPr>
            <p:nvPr/>
          </p:nvSpPr>
          <p:spPr bwMode="auto">
            <a:xfrm>
              <a:off x="4766" y="667"/>
              <a:ext cx="23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200" i="1">
                  <a:solidFill>
                    <a:srgbClr val="FF0000"/>
                  </a:solidFill>
                  <a:effectLst/>
                  <a:latin typeface="Arial" panose="020B0604020202020204" pitchFamily="34" charset="0"/>
                </a:rPr>
                <a:t>W</a:t>
              </a:r>
            </a:p>
          </p:txBody>
        </p:sp>
        <p:sp>
          <p:nvSpPr>
            <p:cNvPr id="328720" name="Rectangle 16">
              <a:extLst>
                <a:ext uri="{FF2B5EF4-FFF2-40B4-BE49-F238E27FC236}">
                  <a16:creationId xmlns:a16="http://schemas.microsoft.com/office/drawing/2014/main" id="{17C46DCB-BB9D-433C-9EE9-8341BAA84E3B}"/>
                </a:ext>
              </a:extLst>
            </p:cNvPr>
            <p:cNvSpPr>
              <a:spLocks noChangeArrowheads="1"/>
            </p:cNvSpPr>
            <p:nvPr/>
          </p:nvSpPr>
          <p:spPr bwMode="auto">
            <a:xfrm>
              <a:off x="4651" y="662"/>
              <a:ext cx="118" cy="3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8719" name="Text Box 15">
              <a:extLst>
                <a:ext uri="{FF2B5EF4-FFF2-40B4-BE49-F238E27FC236}">
                  <a16:creationId xmlns:a16="http://schemas.microsoft.com/office/drawing/2014/main" id="{847A5735-72E8-4056-B045-B6AF1AD32754}"/>
                </a:ext>
              </a:extLst>
            </p:cNvPr>
            <p:cNvSpPr txBox="1">
              <a:spLocks noChangeArrowheads="1"/>
            </p:cNvSpPr>
            <p:nvPr/>
          </p:nvSpPr>
          <p:spPr bwMode="auto">
            <a:xfrm>
              <a:off x="4615" y="591"/>
              <a:ext cx="189"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200" i="1">
                  <a:solidFill>
                    <a:srgbClr val="FF0000"/>
                  </a:solidFill>
                  <a:effectLst/>
                  <a:latin typeface="Arial" panose="020B0604020202020204" pitchFamily="34" charset="0"/>
                </a:rPr>
                <a:t>A</a:t>
              </a:r>
            </a:p>
          </p:txBody>
        </p:sp>
      </p:grpSp>
      <p:sp>
        <p:nvSpPr>
          <p:cNvPr id="328724" name="Text Box 20">
            <a:extLst>
              <a:ext uri="{FF2B5EF4-FFF2-40B4-BE49-F238E27FC236}">
                <a16:creationId xmlns:a16="http://schemas.microsoft.com/office/drawing/2014/main" id="{EE54C91E-6B87-4EDD-953D-027EAC4A02EE}"/>
              </a:ext>
            </a:extLst>
          </p:cNvPr>
          <p:cNvSpPr txBox="1">
            <a:spLocks noChangeArrowheads="1"/>
          </p:cNvSpPr>
          <p:nvPr/>
        </p:nvSpPr>
        <p:spPr bwMode="auto">
          <a:xfrm>
            <a:off x="141288" y="4156075"/>
            <a:ext cx="8851900" cy="253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9388" indent="-179388">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pPr>
            <a:r>
              <a:rPr lang="en-GB" altLang="en-US" sz="1700" dirty="0">
                <a:effectLst>
                  <a:outerShdw blurRad="38100" dist="38100" dir="2700000" algn="tl">
                    <a:srgbClr val="000000"/>
                  </a:outerShdw>
                </a:effectLst>
                <a:latin typeface="Arial" panose="020B0604020202020204" pitchFamily="34" charset="0"/>
              </a:rPr>
              <a:t>	where </a:t>
            </a:r>
            <a:r>
              <a:rPr lang="en-GB" altLang="en-US" sz="1700" i="1" dirty="0">
                <a:solidFill>
                  <a:srgbClr val="FFFF00"/>
                </a:solidFill>
                <a:effectLst>
                  <a:outerShdw blurRad="38100" dist="38100" dir="2700000" algn="tl">
                    <a:srgbClr val="000000"/>
                  </a:outerShdw>
                </a:effectLst>
                <a:latin typeface="Arial" panose="020B0604020202020204" pitchFamily="34" charset="0"/>
              </a:rPr>
              <a:t>E</a:t>
            </a:r>
            <a:r>
              <a:rPr lang="en-GB" altLang="en-US" sz="1700" i="1" dirty="0">
                <a:effectLst>
                  <a:outerShdw blurRad="38100" dist="38100" dir="2700000" algn="tl">
                    <a:srgbClr val="000000"/>
                  </a:outerShdw>
                </a:effectLst>
                <a:latin typeface="Arial" panose="020B0604020202020204" pitchFamily="34" charset="0"/>
              </a:rPr>
              <a:t> </a:t>
            </a:r>
            <a:r>
              <a:rPr lang="en-GB" altLang="en-US" sz="1700" dirty="0">
                <a:effectLst>
                  <a:outerShdw blurRad="38100" dist="38100" dir="2700000" algn="tl">
                    <a:srgbClr val="000000"/>
                  </a:outerShdw>
                </a:effectLst>
                <a:latin typeface="Arial" panose="020B0604020202020204" pitchFamily="34" charset="0"/>
              </a:rPr>
              <a:t>and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ν</a:t>
            </a:r>
            <a:r>
              <a:rPr lang="en-GB" altLang="en-US" sz="1700" dirty="0">
                <a:solidFill>
                  <a:srgbClr val="FFFF00"/>
                </a:solidFill>
                <a:effectLst>
                  <a:outerShdw blurRad="38100" dist="38100" dir="2700000" algn="tl">
                    <a:srgbClr val="000000"/>
                  </a:outerShdw>
                </a:effectLst>
                <a:latin typeface="Arial" panose="020B0604020202020204" pitchFamily="34" charset="0"/>
              </a:rPr>
              <a:t> </a:t>
            </a:r>
            <a:r>
              <a:rPr lang="en-GB" altLang="en-US" sz="1700" dirty="0">
                <a:effectLst>
                  <a:outerShdw blurRad="38100" dist="38100" dir="2700000" algn="tl">
                    <a:srgbClr val="000000"/>
                  </a:outerShdw>
                </a:effectLst>
                <a:latin typeface="Arial" panose="020B0604020202020204" pitchFamily="34" charset="0"/>
              </a:rPr>
              <a:t> are Young’s modulus and Poisson’s ratio for the crust, and </a:t>
            </a:r>
            <a:r>
              <a:rPr lang="en-GB" altLang="en-US" sz="1700" i="1" dirty="0">
                <a:solidFill>
                  <a:srgbClr val="FFFF00"/>
                </a:solidFill>
                <a:effectLst>
                  <a:outerShdw blurRad="38100" dist="38100" dir="2700000" algn="tl">
                    <a:srgbClr val="000000"/>
                  </a:outerShdw>
                </a:effectLst>
                <a:latin typeface="Arial" panose="020B0604020202020204" pitchFamily="34" charset="0"/>
              </a:rPr>
              <a:t>A</a:t>
            </a:r>
            <a:r>
              <a:rPr lang="en-GB" altLang="en-US" sz="1700" dirty="0">
                <a:effectLst>
                  <a:outerShdw blurRad="38100" dist="38100" dir="2700000" algn="tl">
                    <a:srgbClr val="000000"/>
                  </a:outerShdw>
                </a:effectLst>
                <a:latin typeface="Arial" panose="020B0604020202020204" pitchFamily="34" charset="0"/>
              </a:rPr>
              <a:t> and </a:t>
            </a:r>
            <a:r>
              <a:rPr lang="en-GB" altLang="en-US" sz="1700" i="1" dirty="0">
                <a:solidFill>
                  <a:srgbClr val="FFFF00"/>
                </a:solidFill>
                <a:effectLst>
                  <a:outerShdw blurRad="38100" dist="38100" dir="2700000" algn="tl">
                    <a:srgbClr val="000000"/>
                  </a:outerShdw>
                </a:effectLst>
                <a:latin typeface="Arial" panose="020B0604020202020204" pitchFamily="34" charset="0"/>
              </a:rPr>
              <a:t>W</a:t>
            </a:r>
            <a:r>
              <a:rPr lang="en-GB" altLang="en-US" sz="1700" dirty="0">
                <a:effectLst>
                  <a:outerShdw blurRad="38100" dist="38100" dir="2700000" algn="tl">
                    <a:srgbClr val="000000"/>
                  </a:outerShdw>
                </a:effectLst>
                <a:latin typeface="Arial" panose="020B0604020202020204" pitchFamily="34" charset="0"/>
              </a:rPr>
              <a:t> are the dyke aperture and width. </a:t>
            </a:r>
            <a:r>
              <a:rPr lang="en-GB" altLang="en-US" sz="1700" dirty="0">
                <a:solidFill>
                  <a:srgbClr val="FF66CC"/>
                </a:solidFill>
                <a:effectLst>
                  <a:outerShdw blurRad="38100" dist="38100" dir="2700000" algn="tl">
                    <a:srgbClr val="000000"/>
                  </a:outerShdw>
                </a:effectLst>
                <a:latin typeface="Arial" panose="020B0604020202020204" pitchFamily="34" charset="0"/>
              </a:rPr>
              <a:t>Dyke injection will occur when </a:t>
            </a:r>
            <a:r>
              <a:rPr lang="en-GB" altLang="en-US" sz="1700" i="1" dirty="0" err="1">
                <a:solidFill>
                  <a:srgbClr val="FFFF00"/>
                </a:solidFill>
                <a:effectLst>
                  <a:outerShdw blurRad="38100" dist="38100" dir="2700000" algn="tl">
                    <a:srgbClr val="000000"/>
                  </a:outerShdw>
                </a:effectLst>
                <a:latin typeface="Arial" panose="020B0604020202020204" pitchFamily="34" charset="0"/>
              </a:rPr>
              <a:t>p</a:t>
            </a:r>
            <a:r>
              <a:rPr lang="en-GB" altLang="en-US" sz="1700" i="1" baseline="-25000" dirty="0" err="1">
                <a:solidFill>
                  <a:srgbClr val="FFFF00"/>
                </a:solidFill>
                <a:effectLst>
                  <a:outerShdw blurRad="38100" dist="38100" dir="2700000" algn="tl">
                    <a:srgbClr val="000000"/>
                  </a:outerShdw>
                </a:effectLst>
                <a:latin typeface="Arial" panose="020B0604020202020204" pitchFamily="34" charset="0"/>
              </a:rPr>
              <a:t>over</a:t>
            </a:r>
            <a:r>
              <a:rPr lang="en-GB" altLang="en-US" sz="1700" dirty="0">
                <a:solidFill>
                  <a:srgbClr val="FFFF00"/>
                </a:solidFill>
                <a:effectLst>
                  <a:outerShdw blurRad="38100" dist="38100" dir="2700000" algn="tl">
                    <a:srgbClr val="000000"/>
                  </a:outerShdw>
                </a:effectLst>
                <a:latin typeface="Arial" panose="020B0604020202020204" pitchFamily="34" charset="0"/>
              </a:rPr>
              <a:t> = </a:t>
            </a:r>
            <a:r>
              <a:rPr lang="en-GB" altLang="en-US" sz="1700" i="1" dirty="0">
                <a:solidFill>
                  <a:srgbClr val="FFFF00"/>
                </a:solidFill>
                <a:effectLst>
                  <a:outerShdw blurRad="38100" dist="38100" dir="2700000" algn="tl">
                    <a:srgbClr val="000000"/>
                  </a:outerShdw>
                </a:effectLst>
                <a:latin typeface="Arial" panose="020B0604020202020204" pitchFamily="34" charset="0"/>
              </a:rPr>
              <a:t>T</a:t>
            </a:r>
            <a:r>
              <a:rPr lang="en-GB" altLang="en-US" sz="1700" i="1" baseline="-25000" dirty="0">
                <a:solidFill>
                  <a:srgbClr val="FFFF00"/>
                </a:solidFill>
                <a:effectLst>
                  <a:outerShdw blurRad="38100" dist="38100" dir="2700000" algn="tl">
                    <a:srgbClr val="000000"/>
                  </a:outerShdw>
                </a:effectLst>
                <a:latin typeface="Arial" panose="020B0604020202020204" pitchFamily="34" charset="0"/>
              </a:rPr>
              <a:t>h</a:t>
            </a:r>
            <a:endParaRPr lang="en-GB" altLang="en-US" sz="1700" dirty="0">
              <a:solidFill>
                <a:srgbClr val="FFFF00"/>
              </a:solidFill>
              <a:effectLst>
                <a:outerShdw blurRad="38100" dist="38100" dir="2700000" algn="tl">
                  <a:srgbClr val="000000"/>
                </a:outerShdw>
              </a:effectLst>
              <a:latin typeface="Arial" panose="020B0604020202020204" pitchFamily="34" charset="0"/>
            </a:endParaRPr>
          </a:p>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Field measurement of dyke dimensions from the </a:t>
            </a:r>
            <a:r>
              <a:rPr lang="en-GB" altLang="en-US" sz="1700" dirty="0" err="1">
                <a:effectLst>
                  <a:outerShdw blurRad="38100" dist="38100" dir="2700000" algn="tl">
                    <a:srgbClr val="000000"/>
                  </a:outerShdw>
                </a:effectLst>
                <a:latin typeface="Arial" panose="020B0604020202020204" pitchFamily="34" charset="0"/>
              </a:rPr>
              <a:t>Vogar</a:t>
            </a:r>
            <a:r>
              <a:rPr lang="en-GB" altLang="en-US" sz="1700" dirty="0">
                <a:effectLst>
                  <a:outerShdw blurRad="38100" dist="38100" dir="2700000" algn="tl">
                    <a:srgbClr val="000000"/>
                  </a:outerShdw>
                </a:effectLst>
                <a:latin typeface="Arial" panose="020B0604020202020204" pitchFamily="34" charset="0"/>
              </a:rPr>
              <a:t> swarm, Reykjanes Peninsula, Iceland, and realistic values of </a:t>
            </a:r>
            <a:r>
              <a:rPr lang="en-GB" altLang="en-US" sz="1700" i="1" dirty="0">
                <a:solidFill>
                  <a:srgbClr val="FFFF00"/>
                </a:solidFill>
                <a:effectLst>
                  <a:outerShdw blurRad="38100" dist="38100" dir="2700000" algn="tl">
                    <a:srgbClr val="000000"/>
                  </a:outerShdw>
                </a:effectLst>
                <a:latin typeface="Arial" panose="020B0604020202020204" pitchFamily="34" charset="0"/>
              </a:rPr>
              <a:t>E</a:t>
            </a:r>
            <a:r>
              <a:rPr lang="en-GB" altLang="en-US" sz="1700" dirty="0">
                <a:effectLst>
                  <a:outerShdw blurRad="38100" dist="38100" dir="2700000" algn="tl">
                    <a:srgbClr val="000000"/>
                  </a:outerShdw>
                </a:effectLst>
                <a:latin typeface="Arial" panose="020B0604020202020204" pitchFamily="34" charset="0"/>
              </a:rPr>
              <a:t> and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ν</a:t>
            </a:r>
            <a:r>
              <a:rPr lang="en-GB" altLang="en-US" sz="1700" dirty="0">
                <a:effectLst>
                  <a:outerShdw blurRad="38100" dist="38100" dir="2700000" algn="tl">
                    <a:srgbClr val="000000"/>
                  </a:outerShdw>
                </a:effectLst>
                <a:latin typeface="Arial" panose="020B0604020202020204" pitchFamily="34" charset="0"/>
              </a:rPr>
              <a:t> , gives </a:t>
            </a:r>
            <a:r>
              <a:rPr lang="en-GB" altLang="en-US" sz="1700" i="1" dirty="0" err="1">
                <a:solidFill>
                  <a:srgbClr val="FFFF00"/>
                </a:solidFill>
                <a:effectLst>
                  <a:outerShdw blurRad="38100" dist="38100" dir="2700000" algn="tl">
                    <a:srgbClr val="000000"/>
                  </a:outerShdw>
                </a:effectLst>
                <a:latin typeface="Arial" panose="020B0604020202020204" pitchFamily="34" charset="0"/>
              </a:rPr>
              <a:t>p</a:t>
            </a:r>
            <a:r>
              <a:rPr lang="en-GB" altLang="en-US" sz="1700" i="1" baseline="-25000" dirty="0" err="1">
                <a:solidFill>
                  <a:srgbClr val="FFFF00"/>
                </a:solidFill>
                <a:effectLst>
                  <a:outerShdw blurRad="38100" dist="38100" dir="2700000" algn="tl">
                    <a:srgbClr val="000000"/>
                  </a:outerShdw>
                </a:effectLst>
                <a:latin typeface="Arial" panose="020B0604020202020204" pitchFamily="34" charset="0"/>
              </a:rPr>
              <a:t>over</a:t>
            </a:r>
            <a:r>
              <a:rPr lang="en-GB" altLang="en-US" sz="1700" dirty="0">
                <a:solidFill>
                  <a:srgbClr val="FFFF00"/>
                </a:solidFill>
                <a:effectLst>
                  <a:outerShdw blurRad="38100" dist="38100" dir="2700000" algn="tl">
                    <a:srgbClr val="000000"/>
                  </a:outerShdw>
                </a:effectLst>
                <a:latin typeface="Arial" panose="020B0604020202020204" pitchFamily="34" charset="0"/>
              </a:rPr>
              <a:t> = 4 </a:t>
            </a:r>
            <a:r>
              <a:rPr lang="en-GB" altLang="en-US" sz="1700" dirty="0" err="1">
                <a:solidFill>
                  <a:srgbClr val="FFFF00"/>
                </a:solidFill>
                <a:effectLst>
                  <a:outerShdw blurRad="38100" dist="38100" dir="2700000" algn="tl">
                    <a:srgbClr val="000000"/>
                  </a:outerShdw>
                </a:effectLst>
                <a:latin typeface="Arial" panose="020B0604020202020204" pitchFamily="34" charset="0"/>
              </a:rPr>
              <a:t>MPa</a:t>
            </a:r>
            <a:r>
              <a:rPr lang="en-GB" altLang="en-US" sz="1700" dirty="0">
                <a:effectLst>
                  <a:outerShdw blurRad="38100" dist="38100" dir="2700000" algn="tl">
                    <a:srgbClr val="000000"/>
                  </a:outerShdw>
                </a:effectLst>
                <a:latin typeface="Arial" panose="020B0604020202020204" pitchFamily="34" charset="0"/>
              </a:rPr>
              <a:t>. This </a:t>
            </a:r>
            <a:r>
              <a:rPr lang="en-GB" altLang="en-US" sz="1700" dirty="0">
                <a:solidFill>
                  <a:srgbClr val="FF66CC"/>
                </a:solidFill>
                <a:effectLst>
                  <a:outerShdw blurRad="38100" dist="38100" dir="2700000" algn="tl">
                    <a:srgbClr val="000000"/>
                  </a:outerShdw>
                </a:effectLst>
                <a:latin typeface="Arial" panose="020B0604020202020204" pitchFamily="34" charset="0"/>
              </a:rPr>
              <a:t>very small value for the horizontal tensile strength</a:t>
            </a:r>
            <a:r>
              <a:rPr lang="en-GB" altLang="en-US" sz="1700" dirty="0">
                <a:effectLst>
                  <a:outerShdw blurRad="38100" dist="38100" dir="2700000" algn="tl">
                    <a:srgbClr val="000000"/>
                  </a:outerShdw>
                </a:effectLst>
                <a:latin typeface="Arial" panose="020B0604020202020204" pitchFamily="34" charset="0"/>
              </a:rPr>
              <a:t> of the rock perhaps reflects its already fractured state</a:t>
            </a:r>
          </a:p>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With such small magma overpressures required, </a:t>
            </a:r>
            <a:r>
              <a:rPr lang="en-GB" altLang="en-US" sz="1700" dirty="0">
                <a:solidFill>
                  <a:srgbClr val="FF66CC"/>
                </a:solidFill>
                <a:effectLst>
                  <a:outerShdw blurRad="38100" dist="38100" dir="2700000" algn="tl">
                    <a:srgbClr val="000000"/>
                  </a:outerShdw>
                </a:effectLst>
                <a:latin typeface="Arial" panose="020B0604020202020204" pitchFamily="34" charset="0"/>
              </a:rPr>
              <a:t>minor changes in horizontal rock strength</a:t>
            </a:r>
            <a:r>
              <a:rPr lang="en-GB" altLang="en-US" sz="1700" dirty="0">
                <a:effectLst>
                  <a:outerShdw blurRad="38100" dist="38100" dir="2700000" algn="tl">
                    <a:srgbClr val="000000"/>
                  </a:outerShdw>
                </a:effectLst>
                <a:latin typeface="Arial" panose="020B0604020202020204" pitchFamily="34" charset="0"/>
              </a:rPr>
              <a:t> can have a profound effect on the extent and orientation of dykes</a:t>
            </a:r>
          </a:p>
        </p:txBody>
      </p:sp>
      <p:pic>
        <p:nvPicPr>
          <p:cNvPr id="328726" name="Picture 22">
            <a:extLst>
              <a:ext uri="{FF2B5EF4-FFF2-40B4-BE49-F238E27FC236}">
                <a16:creationId xmlns:a16="http://schemas.microsoft.com/office/drawing/2014/main" id="{39556E9F-CFDB-4DA5-A8A2-B145400C71F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14463" y="3279775"/>
            <a:ext cx="214153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Rectangle 2">
            <a:extLst>
              <a:ext uri="{FF2B5EF4-FFF2-40B4-BE49-F238E27FC236}">
                <a16:creationId xmlns:a16="http://schemas.microsoft.com/office/drawing/2014/main" id="{AEC6C325-B04E-466F-B051-1EE81CF18830}"/>
              </a:ext>
            </a:extLst>
          </p:cNvPr>
          <p:cNvSpPr>
            <a:spLocks noGrp="1" noChangeArrowheads="1"/>
          </p:cNvSpPr>
          <p:nvPr>
            <p:ph type="title"/>
          </p:nvPr>
        </p:nvSpPr>
        <p:spPr>
          <a:noFill/>
        </p:spPr>
        <p:txBody>
          <a:bodyPr/>
          <a:lstStyle/>
          <a:p>
            <a:r>
              <a:rPr lang="en-GB" altLang="en-US">
                <a:effectLst/>
              </a:rPr>
              <a:t>Formation of sills </a:t>
            </a:r>
          </a:p>
        </p:txBody>
      </p:sp>
      <p:sp>
        <p:nvSpPr>
          <p:cNvPr id="330756" name="Rectangle 4">
            <a:extLst>
              <a:ext uri="{FF2B5EF4-FFF2-40B4-BE49-F238E27FC236}">
                <a16:creationId xmlns:a16="http://schemas.microsoft.com/office/drawing/2014/main" id="{689014C0-4B30-4EB8-B3EF-829C92312F3F}"/>
              </a:ext>
            </a:extLst>
          </p:cNvPr>
          <p:cNvSpPr>
            <a:spLocks noChangeArrowheads="1"/>
          </p:cNvSpPr>
          <p:nvPr/>
        </p:nvSpPr>
        <p:spPr bwMode="auto">
          <a:xfrm>
            <a:off x="114300" y="825500"/>
            <a:ext cx="4743450" cy="2986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7800" indent="-177800">
              <a:lnSpc>
                <a:spcPct val="120000"/>
              </a:lnSpc>
              <a:spcBef>
                <a:spcPct val="100000"/>
              </a:spcBef>
              <a:buClr>
                <a:schemeClr val="folHlink"/>
              </a:buClr>
              <a:buSzPct val="100000"/>
              <a:buFont typeface="Times" panose="02020603050405020304" pitchFamily="18" charset="0"/>
              <a:buChar char="•"/>
              <a:defRPr>
                <a:solidFill>
                  <a:schemeClr val="tx1"/>
                </a:solidFill>
                <a:latin typeface="Arial" panose="020B0604020202020204" pitchFamily="34" charset="0"/>
              </a:defRPr>
            </a:lvl1pPr>
            <a:lvl2pPr marL="839788" indent="-304800">
              <a:lnSpc>
                <a:spcPct val="120000"/>
              </a:lnSpc>
              <a:spcBef>
                <a:spcPct val="50000"/>
              </a:spcBef>
              <a:buClr>
                <a:schemeClr val="folHlink"/>
              </a:buClr>
              <a:buSzPct val="100000"/>
              <a:buFont typeface="Times" panose="02020603050405020304" pitchFamily="18" charset="0"/>
              <a:buChar char="•"/>
              <a:defRPr sz="1600">
                <a:solidFill>
                  <a:schemeClr val="tx1"/>
                </a:solidFill>
                <a:latin typeface="Arial" panose="020B0604020202020204" pitchFamily="34" charset="0"/>
              </a:defRPr>
            </a:lvl2pPr>
            <a:lvl3pPr marL="1317625" indent="-26670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3pPr>
            <a:lvl4pPr marL="1736725" indent="-26670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4pPr>
            <a:lvl5pPr marL="2178050" indent="-266700">
              <a:spcBef>
                <a:spcPct val="25000"/>
              </a:spcBef>
              <a:buClr>
                <a:schemeClr val="folHlink"/>
              </a:buClr>
              <a:buSzPct val="50000"/>
              <a:buFont typeface="Times" panose="02020603050405020304" pitchFamily="18" charset="0"/>
              <a:buChar char="•"/>
              <a:defRPr sz="1400">
                <a:solidFill>
                  <a:schemeClr val="tx1"/>
                </a:solidFill>
                <a:latin typeface="Arial" panose="020B0604020202020204" pitchFamily="34" charset="0"/>
              </a:defRPr>
            </a:lvl5pPr>
            <a:lvl6pPr marL="2635250" indent="-2667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6pPr>
            <a:lvl7pPr marL="3092450" indent="-2667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7pPr>
            <a:lvl8pPr marL="3549650" indent="-2667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8pPr>
            <a:lvl9pPr marL="4006850" indent="-2667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9pPr>
          </a:lstStyle>
          <a:p>
            <a:pPr>
              <a:spcBef>
                <a:spcPct val="75000"/>
              </a:spcBef>
            </a:pPr>
            <a:r>
              <a:rPr lang="en-GB" altLang="en-US" sz="1700" dirty="0">
                <a:effectLst/>
              </a:rPr>
              <a:t>Intrusion of a horizontal sill (sheet) requires</a:t>
            </a:r>
          </a:p>
          <a:p>
            <a:pPr algn="ctr">
              <a:spcBef>
                <a:spcPct val="50000"/>
              </a:spcBef>
              <a:buNone/>
            </a:pPr>
            <a:r>
              <a:rPr lang="en-GB" altLang="en-US" sz="1700" i="1" dirty="0" err="1">
                <a:solidFill>
                  <a:srgbClr val="FF6600"/>
                </a:solidFill>
                <a:effectLst/>
              </a:rPr>
              <a:t>p</a:t>
            </a:r>
            <a:r>
              <a:rPr lang="en-GB" altLang="en-US" sz="1700" i="1" baseline="-25000" dirty="0" err="1">
                <a:solidFill>
                  <a:srgbClr val="FF6600"/>
                </a:solidFill>
                <a:effectLst/>
              </a:rPr>
              <a:t>magma</a:t>
            </a:r>
            <a:r>
              <a:rPr lang="en-GB" altLang="en-US" sz="1700" dirty="0">
                <a:solidFill>
                  <a:srgbClr val="FF6600"/>
                </a:solidFill>
                <a:effectLst/>
              </a:rPr>
              <a:t>  - </a:t>
            </a:r>
            <a:r>
              <a:rPr lang="el-GR" altLang="en-US" sz="1700" i="1" dirty="0">
                <a:solidFill>
                  <a:srgbClr val="FF6600"/>
                </a:solidFill>
                <a:effectLst/>
                <a:latin typeface="Cambria Math" panose="02040503050406030204" pitchFamily="18" charset="0"/>
                <a:ea typeface="Cambria Math" panose="02040503050406030204" pitchFamily="18" charset="0"/>
              </a:rPr>
              <a:t>σ</a:t>
            </a:r>
            <a:r>
              <a:rPr lang="en-GB" altLang="en-US" sz="1700" baseline="-25000" dirty="0">
                <a:solidFill>
                  <a:srgbClr val="FF6600"/>
                </a:solidFill>
                <a:effectLst/>
              </a:rPr>
              <a:t>v</a:t>
            </a:r>
            <a:r>
              <a:rPr lang="en-GB" altLang="en-US" sz="1700" dirty="0">
                <a:solidFill>
                  <a:srgbClr val="FF6600"/>
                </a:solidFill>
                <a:effectLst/>
              </a:rPr>
              <a:t>  &gt;  </a:t>
            </a:r>
            <a:r>
              <a:rPr lang="en-GB" altLang="en-US" sz="1700" i="1" dirty="0">
                <a:solidFill>
                  <a:srgbClr val="FF6600"/>
                </a:solidFill>
                <a:effectLst/>
              </a:rPr>
              <a:t>T</a:t>
            </a:r>
            <a:r>
              <a:rPr lang="en-GB" altLang="en-US" sz="1700" baseline="-25000" dirty="0">
                <a:solidFill>
                  <a:srgbClr val="FF6600"/>
                </a:solidFill>
                <a:effectLst/>
              </a:rPr>
              <a:t>v</a:t>
            </a:r>
          </a:p>
          <a:p>
            <a:pPr>
              <a:spcBef>
                <a:spcPct val="50000"/>
              </a:spcBef>
              <a:buFont typeface="Times" panose="02020603050405020304" pitchFamily="18" charset="0"/>
              <a:buNone/>
            </a:pPr>
            <a:r>
              <a:rPr lang="en-GB" altLang="en-US" sz="1700" dirty="0">
                <a:effectLst/>
              </a:rPr>
              <a:t>	where </a:t>
            </a:r>
            <a:r>
              <a:rPr lang="en-GB" altLang="en-US" sz="1700" i="1" dirty="0">
                <a:solidFill>
                  <a:srgbClr val="FFFF00"/>
                </a:solidFill>
                <a:effectLst/>
              </a:rPr>
              <a:t>T</a:t>
            </a:r>
            <a:r>
              <a:rPr lang="en-GB" altLang="en-US" sz="1700" baseline="-25000" dirty="0">
                <a:solidFill>
                  <a:srgbClr val="FFFF00"/>
                </a:solidFill>
                <a:effectLst/>
              </a:rPr>
              <a:t>v</a:t>
            </a:r>
            <a:r>
              <a:rPr lang="en-GB" altLang="en-US" sz="1700" dirty="0">
                <a:effectLst/>
              </a:rPr>
              <a:t> is the tensile strength of the rock in the </a:t>
            </a:r>
            <a:r>
              <a:rPr lang="en-GB" altLang="en-US" sz="1700" dirty="0">
                <a:solidFill>
                  <a:srgbClr val="FF66CC"/>
                </a:solidFill>
                <a:effectLst/>
              </a:rPr>
              <a:t>vertical</a:t>
            </a:r>
            <a:r>
              <a:rPr lang="en-GB" altLang="en-US" sz="1700" dirty="0">
                <a:effectLst/>
              </a:rPr>
              <a:t> direction</a:t>
            </a:r>
          </a:p>
          <a:p>
            <a:pPr>
              <a:spcBef>
                <a:spcPct val="75000"/>
              </a:spcBef>
            </a:pPr>
            <a:r>
              <a:rPr lang="en-GB" altLang="en-US" sz="1700" dirty="0">
                <a:effectLst/>
              </a:rPr>
              <a:t>Sills must be fed by a feeder ‘dyke’, and so at the junction of sill and dyke (see figure right)</a:t>
            </a:r>
          </a:p>
          <a:p>
            <a:pPr algn="ctr">
              <a:spcBef>
                <a:spcPct val="50000"/>
              </a:spcBef>
              <a:buNone/>
            </a:pPr>
            <a:r>
              <a:rPr lang="el-GR" altLang="en-US" sz="1700" i="1" dirty="0">
                <a:solidFill>
                  <a:srgbClr val="FFFF00"/>
                </a:solidFill>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rPr>
              <a:t>v</a:t>
            </a:r>
            <a:r>
              <a:rPr lang="en-GB" altLang="en-US" sz="1700" dirty="0">
                <a:solidFill>
                  <a:srgbClr val="FFFF00"/>
                </a:solidFill>
                <a:effectLst/>
              </a:rPr>
              <a:t> - </a:t>
            </a:r>
            <a:r>
              <a:rPr lang="el-GR" altLang="en-US" sz="1700" i="1" dirty="0">
                <a:solidFill>
                  <a:srgbClr val="FFFF00"/>
                </a:solidFill>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rPr>
              <a:t>h</a:t>
            </a:r>
            <a:r>
              <a:rPr lang="en-GB" altLang="en-US" sz="1700" dirty="0">
                <a:solidFill>
                  <a:srgbClr val="FFFF00"/>
                </a:solidFill>
                <a:effectLst/>
              </a:rPr>
              <a:t>   =   </a:t>
            </a:r>
            <a:r>
              <a:rPr lang="en-GB" altLang="en-US" sz="1700" i="1" dirty="0">
                <a:solidFill>
                  <a:srgbClr val="FFFF00"/>
                </a:solidFill>
                <a:effectLst/>
              </a:rPr>
              <a:t>T</a:t>
            </a:r>
            <a:r>
              <a:rPr lang="en-GB" altLang="en-US" sz="1700" baseline="-25000" dirty="0">
                <a:solidFill>
                  <a:srgbClr val="FFFF00"/>
                </a:solidFill>
                <a:effectLst/>
              </a:rPr>
              <a:t>h</a:t>
            </a:r>
            <a:r>
              <a:rPr lang="en-GB" altLang="en-US" sz="1700" dirty="0">
                <a:solidFill>
                  <a:srgbClr val="FFFF00"/>
                </a:solidFill>
                <a:effectLst/>
              </a:rPr>
              <a:t> - </a:t>
            </a:r>
            <a:r>
              <a:rPr lang="en-GB" altLang="en-US" sz="1700" i="1" dirty="0">
                <a:solidFill>
                  <a:srgbClr val="FFFF00"/>
                </a:solidFill>
                <a:effectLst/>
              </a:rPr>
              <a:t>T</a:t>
            </a:r>
            <a:r>
              <a:rPr lang="en-GB" altLang="en-US" sz="1700" baseline="-25000" dirty="0">
                <a:solidFill>
                  <a:srgbClr val="FFFF00"/>
                </a:solidFill>
                <a:effectLst/>
              </a:rPr>
              <a:t>v</a:t>
            </a:r>
            <a:endParaRPr lang="en-GB" altLang="en-US" sz="1700" i="1" dirty="0">
              <a:solidFill>
                <a:srgbClr val="FFFF00"/>
              </a:solidFill>
              <a:effectLst/>
            </a:endParaRPr>
          </a:p>
        </p:txBody>
      </p:sp>
      <p:sp>
        <p:nvSpPr>
          <p:cNvPr id="330758" name="Text Box 6">
            <a:extLst>
              <a:ext uri="{FF2B5EF4-FFF2-40B4-BE49-F238E27FC236}">
                <a16:creationId xmlns:a16="http://schemas.microsoft.com/office/drawing/2014/main" id="{21BC4EDC-A03A-4A68-9E8A-EC00AF2C4011}"/>
              </a:ext>
            </a:extLst>
          </p:cNvPr>
          <p:cNvSpPr txBox="1">
            <a:spLocks noChangeArrowheads="1"/>
          </p:cNvSpPr>
          <p:nvPr/>
        </p:nvSpPr>
        <p:spPr bwMode="auto">
          <a:xfrm>
            <a:off x="122238" y="3995738"/>
            <a:ext cx="8851900" cy="184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9388" indent="-179388">
              <a:defRPr sz="1600">
                <a:solidFill>
                  <a:schemeClr val="tx1"/>
                </a:solidFill>
                <a:latin typeface="Helvetica" panose="020B0604020202020204" pitchFamily="34" charset="0"/>
              </a:defRPr>
            </a:lvl1pPr>
            <a:lvl2pPr marL="627063" indent="-268288">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Since </a:t>
            </a:r>
            <a:r>
              <a:rPr lang="en-GB" altLang="en-US" sz="1700" dirty="0">
                <a:solidFill>
                  <a:srgbClr val="FF66CC"/>
                </a:solidFill>
                <a:effectLst>
                  <a:outerShdw blurRad="38100" dist="38100" dir="2700000" algn="tl">
                    <a:srgbClr val="000000"/>
                  </a:outerShdw>
                </a:effectLst>
                <a:latin typeface="Arial" panose="020B0604020202020204" pitchFamily="34" charset="0"/>
              </a:rPr>
              <a:t>both </a:t>
            </a:r>
            <a:r>
              <a:rPr lang="en-GB" altLang="en-US" sz="1700" i="1" dirty="0">
                <a:solidFill>
                  <a:srgbClr val="FF66CC"/>
                </a:solidFill>
                <a:effectLst>
                  <a:outerShdw blurRad="38100" dist="38100" dir="2700000" algn="tl">
                    <a:srgbClr val="000000"/>
                  </a:outerShdw>
                </a:effectLst>
                <a:latin typeface="Arial" panose="020B0604020202020204" pitchFamily="34" charset="0"/>
              </a:rPr>
              <a:t>T</a:t>
            </a:r>
            <a:r>
              <a:rPr lang="en-GB" altLang="en-US" sz="1700" baseline="-25000" dirty="0">
                <a:solidFill>
                  <a:srgbClr val="FF66CC"/>
                </a:solidFill>
                <a:effectLst>
                  <a:outerShdw blurRad="38100" dist="38100" dir="2700000" algn="tl">
                    <a:srgbClr val="000000"/>
                  </a:outerShdw>
                </a:effectLst>
                <a:latin typeface="Arial" panose="020B0604020202020204" pitchFamily="34" charset="0"/>
              </a:rPr>
              <a:t>v</a:t>
            </a:r>
            <a:r>
              <a:rPr lang="en-GB" altLang="en-US" sz="1700" dirty="0">
                <a:solidFill>
                  <a:srgbClr val="FF66CC"/>
                </a:solidFill>
                <a:effectLst>
                  <a:outerShdw blurRad="38100" dist="38100" dir="2700000" algn="tl">
                    <a:srgbClr val="000000"/>
                  </a:outerShdw>
                </a:effectLst>
                <a:latin typeface="Arial" panose="020B0604020202020204" pitchFamily="34" charset="0"/>
              </a:rPr>
              <a:t> and </a:t>
            </a:r>
            <a:r>
              <a:rPr lang="en-GB" altLang="en-US" sz="1700" i="1" dirty="0">
                <a:solidFill>
                  <a:srgbClr val="FF66CC"/>
                </a:solidFill>
                <a:effectLst>
                  <a:outerShdw blurRad="38100" dist="38100" dir="2700000" algn="tl">
                    <a:srgbClr val="000000"/>
                  </a:outerShdw>
                </a:effectLst>
                <a:latin typeface="Arial" panose="020B0604020202020204" pitchFamily="34" charset="0"/>
              </a:rPr>
              <a:t>T</a:t>
            </a:r>
            <a:r>
              <a:rPr lang="en-GB" altLang="en-US" sz="1700" baseline="-25000" dirty="0">
                <a:solidFill>
                  <a:srgbClr val="FF66CC"/>
                </a:solidFill>
                <a:effectLst>
                  <a:outerShdw blurRad="38100" dist="38100" dir="2700000" algn="tl">
                    <a:srgbClr val="000000"/>
                  </a:outerShdw>
                </a:effectLst>
                <a:latin typeface="Arial" panose="020B0604020202020204" pitchFamily="34" charset="0"/>
              </a:rPr>
              <a:t>h</a:t>
            </a:r>
            <a:r>
              <a:rPr lang="en-GB" altLang="en-US" sz="1700" dirty="0">
                <a:solidFill>
                  <a:srgbClr val="FF66CC"/>
                </a:solidFill>
                <a:effectLst>
                  <a:outerShdw blurRad="38100" dist="38100" dir="2700000" algn="tl">
                    <a:srgbClr val="000000"/>
                  </a:outerShdw>
                </a:effectLst>
                <a:latin typeface="Arial" panose="020B0604020202020204" pitchFamily="34" charset="0"/>
              </a:rPr>
              <a:t> are small</a:t>
            </a:r>
            <a:r>
              <a:rPr lang="en-GB" altLang="en-US" sz="1700" dirty="0">
                <a:effectLst>
                  <a:outerShdw blurRad="38100" dist="38100" dir="2700000" algn="tl">
                    <a:srgbClr val="000000"/>
                  </a:outerShdw>
                </a:effectLst>
                <a:latin typeface="Arial" panose="020B0604020202020204" pitchFamily="34" charset="0"/>
              </a:rPr>
              <a:t> (the tensile strength of rocks is small), this means that the </a:t>
            </a:r>
            <a:r>
              <a:rPr lang="en-GB" altLang="en-US" sz="1700" dirty="0">
                <a:solidFill>
                  <a:srgbClr val="FF6600"/>
                </a:solidFill>
                <a:effectLst>
                  <a:outerShdw blurRad="38100" dist="38100" dir="2700000" algn="tl">
                    <a:srgbClr val="000000"/>
                  </a:outerShdw>
                </a:effectLst>
                <a:latin typeface="Arial" panose="020B0604020202020204" pitchFamily="34" charset="0"/>
              </a:rPr>
              <a:t>condition for the intrusion of a sill</a:t>
            </a:r>
            <a:r>
              <a:rPr lang="en-GB" altLang="en-US" sz="1700" dirty="0">
                <a:effectLst>
                  <a:outerShdw blurRad="38100" dist="38100" dir="2700000" algn="tl">
                    <a:srgbClr val="000000"/>
                  </a:outerShdw>
                </a:effectLst>
                <a:latin typeface="Arial" panose="020B0604020202020204" pitchFamily="34" charset="0"/>
              </a:rPr>
              <a:t> is that </a:t>
            </a:r>
            <a:r>
              <a:rPr lang="el-GR" altLang="en-US" sz="1700" i="1" dirty="0">
                <a:solidFill>
                  <a:srgbClr val="FF66CC"/>
                </a:solidFill>
                <a:effectLst/>
                <a:latin typeface="Cambria Math" panose="02040503050406030204" pitchFamily="18" charset="0"/>
                <a:ea typeface="Cambria Math" panose="02040503050406030204" pitchFamily="18" charset="0"/>
              </a:rPr>
              <a:t>σ</a:t>
            </a:r>
            <a:r>
              <a:rPr lang="en-GB" altLang="en-US" sz="1700" baseline="-25000" dirty="0">
                <a:solidFill>
                  <a:srgbClr val="FF66CC"/>
                </a:solidFill>
                <a:effectLst>
                  <a:outerShdw blurRad="38100" dist="38100" dir="2700000" algn="tl">
                    <a:srgbClr val="000000"/>
                  </a:outerShdw>
                </a:effectLst>
                <a:latin typeface="Arial" panose="020B0604020202020204" pitchFamily="34" charset="0"/>
                <a:cs typeface="Arial" panose="020B0604020202020204" pitchFamily="34" charset="0"/>
              </a:rPr>
              <a:t>v</a:t>
            </a:r>
            <a:r>
              <a:rPr lang="en-GB" altLang="en-US" sz="1700" dirty="0">
                <a:solidFill>
                  <a:srgbClr val="FF66CC"/>
                </a:solidFill>
                <a:effectLst>
                  <a:outerShdw blurRad="38100" dist="38100" dir="2700000" algn="tl">
                    <a:srgbClr val="000000"/>
                  </a:outerShdw>
                </a:effectLst>
                <a:latin typeface="Arial" panose="020B0604020202020204" pitchFamily="34" charset="0"/>
                <a:cs typeface="Arial" panose="020B0604020202020204" pitchFamily="34" charset="0"/>
              </a:rPr>
              <a:t> - </a:t>
            </a:r>
            <a:r>
              <a:rPr lang="el-GR" altLang="en-US" sz="1700" i="1" dirty="0">
                <a:solidFill>
                  <a:srgbClr val="FF66CC"/>
                </a:solidFill>
                <a:effectLst/>
                <a:latin typeface="Cambria Math" panose="02040503050406030204" pitchFamily="18" charset="0"/>
                <a:ea typeface="Cambria Math" panose="02040503050406030204" pitchFamily="18" charset="0"/>
              </a:rPr>
              <a:t>σ</a:t>
            </a:r>
            <a:r>
              <a:rPr lang="en-GB" altLang="en-US" sz="1700" baseline="-25000" dirty="0">
                <a:solidFill>
                  <a:srgbClr val="FF66CC"/>
                </a:solidFill>
                <a:effectLst>
                  <a:outerShdw blurRad="38100" dist="38100" dir="2700000" algn="tl">
                    <a:srgbClr val="000000"/>
                  </a:outerShdw>
                </a:effectLst>
                <a:latin typeface="Arial" panose="020B0604020202020204" pitchFamily="34" charset="0"/>
                <a:cs typeface="Arial" panose="020B0604020202020204" pitchFamily="34" charset="0"/>
              </a:rPr>
              <a:t>h</a:t>
            </a:r>
            <a:r>
              <a:rPr lang="en-GB" altLang="en-US" sz="1700" dirty="0">
                <a:solidFill>
                  <a:srgbClr val="FF66CC"/>
                </a:solidFill>
                <a:effectLst>
                  <a:outerShdw blurRad="38100" dist="38100" dir="2700000" algn="tl">
                    <a:srgbClr val="000000"/>
                  </a:outerShdw>
                </a:effectLst>
                <a:latin typeface="Arial" panose="020B0604020202020204" pitchFamily="34" charset="0"/>
                <a:cs typeface="Arial" panose="020B0604020202020204" pitchFamily="34" charset="0"/>
              </a:rPr>
              <a:t> ~ 0</a:t>
            </a:r>
          </a:p>
          <a:p>
            <a:pPr>
              <a:lnSpc>
                <a:spcPct val="120000"/>
              </a:lnSpc>
              <a:spcBef>
                <a:spcPct val="75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cs typeface="Arial" panose="020B0604020202020204" pitchFamily="34" charset="0"/>
              </a:rPr>
              <a:t>Magma will rise as a </a:t>
            </a:r>
            <a:r>
              <a:rPr lang="en-GB" altLang="en-US" sz="1700" dirty="0">
                <a:solidFill>
                  <a:srgbClr val="FF66CC"/>
                </a:solidFill>
                <a:effectLst>
                  <a:outerShdw blurRad="38100" dist="38100" dir="2700000" algn="tl">
                    <a:srgbClr val="000000"/>
                  </a:outerShdw>
                </a:effectLst>
                <a:latin typeface="Arial" panose="020B0604020202020204" pitchFamily="34" charset="0"/>
                <a:cs typeface="Arial" panose="020B0604020202020204" pitchFamily="34" charset="0"/>
              </a:rPr>
              <a:t>dyke while </a:t>
            </a:r>
            <a:r>
              <a:rPr lang="el-GR" altLang="en-US" sz="1700" i="1" dirty="0">
                <a:solidFill>
                  <a:srgbClr val="FF66CC"/>
                </a:solidFill>
                <a:effectLst/>
                <a:latin typeface="Cambria Math" panose="02040503050406030204" pitchFamily="18" charset="0"/>
                <a:ea typeface="Cambria Math" panose="02040503050406030204" pitchFamily="18" charset="0"/>
              </a:rPr>
              <a:t>σ</a:t>
            </a:r>
            <a:r>
              <a:rPr lang="en-GB" altLang="en-US" sz="1700" baseline="-25000" dirty="0">
                <a:solidFill>
                  <a:srgbClr val="FF66CC"/>
                </a:solidFill>
                <a:effectLst>
                  <a:outerShdw blurRad="38100" dist="38100" dir="2700000" algn="tl">
                    <a:srgbClr val="000000"/>
                  </a:outerShdw>
                </a:effectLst>
                <a:latin typeface="Arial" panose="020B0604020202020204" pitchFamily="34" charset="0"/>
                <a:cs typeface="Arial" panose="020B0604020202020204" pitchFamily="34" charset="0"/>
              </a:rPr>
              <a:t>v</a:t>
            </a:r>
            <a:r>
              <a:rPr lang="en-GB" altLang="en-US" sz="1700" dirty="0">
                <a:solidFill>
                  <a:srgbClr val="FF66CC"/>
                </a:solidFill>
                <a:effectLst>
                  <a:outerShdw blurRad="38100" dist="38100" dir="2700000" algn="tl">
                    <a:srgbClr val="000000"/>
                  </a:outerShdw>
                </a:effectLst>
                <a:latin typeface="Arial" panose="020B0604020202020204" pitchFamily="34" charset="0"/>
                <a:cs typeface="Arial" panose="020B0604020202020204" pitchFamily="34" charset="0"/>
              </a:rPr>
              <a:t> &gt; </a:t>
            </a:r>
            <a:r>
              <a:rPr lang="el-GR" altLang="en-US" sz="1700" i="1" dirty="0">
                <a:solidFill>
                  <a:srgbClr val="FF66CC"/>
                </a:solidFill>
                <a:effectLst/>
                <a:latin typeface="Cambria Math" panose="02040503050406030204" pitchFamily="18" charset="0"/>
                <a:ea typeface="Cambria Math" panose="02040503050406030204" pitchFamily="18" charset="0"/>
              </a:rPr>
              <a:t>σ</a:t>
            </a:r>
            <a:r>
              <a:rPr lang="en-GB" altLang="en-US" sz="1700" baseline="-25000" dirty="0">
                <a:solidFill>
                  <a:srgbClr val="FF66CC"/>
                </a:solidFill>
                <a:effectLst>
                  <a:outerShdw blurRad="38100" dist="38100" dir="2700000" algn="tl">
                    <a:srgbClr val="000000"/>
                  </a:outerShdw>
                </a:effectLst>
                <a:latin typeface="Arial" panose="020B0604020202020204" pitchFamily="34" charset="0"/>
                <a:cs typeface="Arial" panose="020B0604020202020204" pitchFamily="34" charset="0"/>
              </a:rPr>
              <a:t>h</a:t>
            </a:r>
            <a:r>
              <a:rPr lang="en-GB" altLang="en-US" sz="1700" dirty="0">
                <a:solidFill>
                  <a:srgbClr val="FF66CC"/>
                </a:solidFill>
                <a:effectLst>
                  <a:outerShdw blurRad="38100" dist="38100" dir="2700000" algn="tl">
                    <a:srgbClr val="000000"/>
                  </a:outerShdw>
                </a:effectLst>
                <a:latin typeface="Arial" panose="020B0604020202020204" pitchFamily="34" charset="0"/>
                <a:cs typeface="Arial" panose="020B0604020202020204" pitchFamily="34" charset="0"/>
              </a:rPr>
              <a:t> </a:t>
            </a:r>
            <a:r>
              <a:rPr lang="en-GB" altLang="en-US" sz="1700" dirty="0">
                <a:effectLst>
                  <a:outerShdw blurRad="38100" dist="38100" dir="2700000" algn="tl">
                    <a:srgbClr val="000000"/>
                  </a:outerShdw>
                </a:effectLst>
                <a:latin typeface="Arial" panose="020B0604020202020204" pitchFamily="34" charset="0"/>
                <a:cs typeface="Arial" panose="020B0604020202020204" pitchFamily="34" charset="0"/>
              </a:rPr>
              <a:t>but </a:t>
            </a:r>
            <a:r>
              <a:rPr lang="el-GR" altLang="en-US" sz="1700" i="1" dirty="0">
                <a:effectLst/>
                <a:latin typeface="Cambria Math" panose="02040503050406030204" pitchFamily="18" charset="0"/>
                <a:ea typeface="Cambria Math" panose="02040503050406030204" pitchFamily="18" charset="0"/>
              </a:rPr>
              <a:t>σ</a:t>
            </a:r>
            <a:r>
              <a:rPr lang="en-GB" altLang="en-US" sz="1700" baseline="-25000" dirty="0">
                <a:effectLst>
                  <a:outerShdw blurRad="38100" dist="38100" dir="2700000" algn="tl">
                    <a:srgbClr val="000000"/>
                  </a:outerShdw>
                </a:effectLst>
                <a:latin typeface="Arial" panose="020B0604020202020204" pitchFamily="34" charset="0"/>
                <a:cs typeface="Arial" panose="020B0604020202020204" pitchFamily="34" charset="0"/>
              </a:rPr>
              <a:t>v</a:t>
            </a:r>
            <a:r>
              <a:rPr lang="en-GB" altLang="en-US" sz="1700" dirty="0">
                <a:effectLst>
                  <a:outerShdw blurRad="38100" dist="38100" dir="2700000" algn="tl">
                    <a:srgbClr val="000000"/>
                  </a:outerShdw>
                </a:effectLst>
                <a:latin typeface="Arial" panose="020B0604020202020204" pitchFamily="34" charset="0"/>
                <a:cs typeface="Arial" panose="020B0604020202020204" pitchFamily="34" charset="0"/>
              </a:rPr>
              <a:t> decreases towards the surface, and so there eventually comes a point where </a:t>
            </a:r>
            <a:r>
              <a:rPr lang="el-GR" altLang="en-US" sz="1700" i="1" dirty="0">
                <a:solidFill>
                  <a:srgbClr val="FF66CC"/>
                </a:solidFill>
                <a:effectLst/>
                <a:latin typeface="Cambria Math" panose="02040503050406030204" pitchFamily="18" charset="0"/>
                <a:ea typeface="Cambria Math" panose="02040503050406030204" pitchFamily="18" charset="0"/>
              </a:rPr>
              <a:t>σ</a:t>
            </a:r>
            <a:r>
              <a:rPr lang="en-GB" altLang="en-US" sz="1700" baseline="-25000" dirty="0">
                <a:solidFill>
                  <a:srgbClr val="FF66CC"/>
                </a:solidFill>
                <a:effectLst>
                  <a:outerShdw blurRad="38100" dist="38100" dir="2700000" algn="tl">
                    <a:srgbClr val="000000"/>
                  </a:outerShdw>
                </a:effectLst>
                <a:latin typeface="Arial" panose="020B0604020202020204" pitchFamily="34" charset="0"/>
                <a:cs typeface="Arial" panose="020B0604020202020204" pitchFamily="34" charset="0"/>
              </a:rPr>
              <a:t>v</a:t>
            </a:r>
            <a:r>
              <a:rPr lang="en-GB" altLang="en-US" sz="1700" dirty="0">
                <a:solidFill>
                  <a:srgbClr val="FF66CC"/>
                </a:solidFill>
                <a:effectLst>
                  <a:outerShdw blurRad="38100" dist="38100" dir="2700000" algn="tl">
                    <a:srgbClr val="000000"/>
                  </a:outerShdw>
                </a:effectLst>
                <a:latin typeface="Arial" panose="020B0604020202020204" pitchFamily="34" charset="0"/>
                <a:cs typeface="Arial" panose="020B0604020202020204" pitchFamily="34" charset="0"/>
              </a:rPr>
              <a:t> - </a:t>
            </a:r>
            <a:r>
              <a:rPr lang="el-GR" altLang="en-US" sz="1700" i="1" dirty="0">
                <a:solidFill>
                  <a:srgbClr val="FF66CC"/>
                </a:solidFill>
                <a:effectLst/>
                <a:latin typeface="Cambria Math" panose="02040503050406030204" pitchFamily="18" charset="0"/>
                <a:ea typeface="Cambria Math" panose="02040503050406030204" pitchFamily="18" charset="0"/>
              </a:rPr>
              <a:t>σ</a:t>
            </a:r>
            <a:r>
              <a:rPr lang="en-GB" altLang="en-US" sz="1700" baseline="-25000" dirty="0">
                <a:solidFill>
                  <a:srgbClr val="FF66CC"/>
                </a:solidFill>
                <a:effectLst>
                  <a:outerShdw blurRad="38100" dist="38100" dir="2700000" algn="tl">
                    <a:srgbClr val="000000"/>
                  </a:outerShdw>
                </a:effectLst>
                <a:latin typeface="Arial" panose="020B0604020202020204" pitchFamily="34" charset="0"/>
                <a:cs typeface="Arial" panose="020B0604020202020204" pitchFamily="34" charset="0"/>
              </a:rPr>
              <a:t>h</a:t>
            </a:r>
            <a:r>
              <a:rPr lang="en-GB" altLang="en-US" sz="1700" dirty="0">
                <a:solidFill>
                  <a:srgbClr val="FF66CC"/>
                </a:solidFill>
                <a:effectLst>
                  <a:outerShdw blurRad="38100" dist="38100" dir="2700000" algn="tl">
                    <a:srgbClr val="000000"/>
                  </a:outerShdw>
                </a:effectLst>
                <a:latin typeface="Arial" panose="020B0604020202020204" pitchFamily="34" charset="0"/>
                <a:cs typeface="Arial" panose="020B0604020202020204" pitchFamily="34" charset="0"/>
              </a:rPr>
              <a:t> ~ 0  and a sill becomes possible</a:t>
            </a:r>
            <a:r>
              <a:rPr lang="en-GB" altLang="en-US" sz="1700" dirty="0">
                <a:effectLst>
                  <a:outerShdw blurRad="38100" dist="38100" dir="2700000" algn="tl">
                    <a:srgbClr val="000000"/>
                  </a:outerShdw>
                </a:effectLst>
                <a:latin typeface="Arial" panose="020B0604020202020204" pitchFamily="34" charset="0"/>
                <a:cs typeface="Arial" panose="020B0604020202020204" pitchFamily="34" charset="0"/>
              </a:rPr>
              <a:t>; </a:t>
            </a:r>
            <a:r>
              <a:rPr lang="en-GB" altLang="en-US" sz="1700" dirty="0">
                <a:solidFill>
                  <a:srgbClr val="FF66CC"/>
                </a:solidFill>
                <a:effectLst>
                  <a:outerShdw blurRad="38100" dist="38100" dir="2700000" algn="tl">
                    <a:srgbClr val="000000"/>
                  </a:outerShdw>
                </a:effectLst>
                <a:latin typeface="Arial" panose="020B0604020202020204" pitchFamily="34" charset="0"/>
                <a:cs typeface="Arial" panose="020B0604020202020204" pitchFamily="34" charset="0"/>
              </a:rPr>
              <a:t>a sill is then favoured if </a:t>
            </a:r>
            <a:r>
              <a:rPr lang="en-GB" altLang="en-US" sz="1700" i="1" dirty="0">
                <a:solidFill>
                  <a:srgbClr val="FF66CC"/>
                </a:solidFill>
                <a:effectLst>
                  <a:outerShdw blurRad="38100" dist="38100" dir="2700000" algn="tl">
                    <a:srgbClr val="000000"/>
                  </a:outerShdw>
                </a:effectLst>
                <a:latin typeface="Arial" panose="020B0604020202020204" pitchFamily="34" charset="0"/>
                <a:cs typeface="Arial" panose="020B0604020202020204" pitchFamily="34" charset="0"/>
              </a:rPr>
              <a:t>T</a:t>
            </a:r>
            <a:r>
              <a:rPr lang="en-GB" altLang="en-US" sz="1700" baseline="-25000" dirty="0">
                <a:solidFill>
                  <a:srgbClr val="FF66CC"/>
                </a:solidFill>
                <a:effectLst>
                  <a:outerShdw blurRad="38100" dist="38100" dir="2700000" algn="tl">
                    <a:srgbClr val="000000"/>
                  </a:outerShdw>
                </a:effectLst>
                <a:latin typeface="Arial" panose="020B0604020202020204" pitchFamily="34" charset="0"/>
                <a:cs typeface="Arial" panose="020B0604020202020204" pitchFamily="34" charset="0"/>
              </a:rPr>
              <a:t>h</a:t>
            </a:r>
            <a:r>
              <a:rPr lang="en-GB" altLang="en-US" sz="1700" dirty="0">
                <a:solidFill>
                  <a:srgbClr val="FF66CC"/>
                </a:solidFill>
                <a:effectLst>
                  <a:outerShdw blurRad="38100" dist="38100" dir="2700000" algn="tl">
                    <a:srgbClr val="000000"/>
                  </a:outerShdw>
                </a:effectLst>
                <a:latin typeface="Arial" panose="020B0604020202020204" pitchFamily="34" charset="0"/>
                <a:cs typeface="Arial" panose="020B0604020202020204" pitchFamily="34" charset="0"/>
              </a:rPr>
              <a:t> - </a:t>
            </a:r>
            <a:r>
              <a:rPr lang="en-GB" altLang="en-US" sz="1700" i="1" dirty="0">
                <a:solidFill>
                  <a:srgbClr val="FF66CC"/>
                </a:solidFill>
                <a:effectLst>
                  <a:outerShdw blurRad="38100" dist="38100" dir="2700000" algn="tl">
                    <a:srgbClr val="000000"/>
                  </a:outerShdw>
                </a:effectLst>
                <a:latin typeface="Arial" panose="020B0604020202020204" pitchFamily="34" charset="0"/>
                <a:cs typeface="Arial" panose="020B0604020202020204" pitchFamily="34" charset="0"/>
              </a:rPr>
              <a:t>T</a:t>
            </a:r>
            <a:r>
              <a:rPr lang="en-GB" altLang="en-US" sz="1700" baseline="-25000" dirty="0">
                <a:solidFill>
                  <a:srgbClr val="FF66CC"/>
                </a:solidFill>
                <a:effectLst>
                  <a:outerShdw blurRad="38100" dist="38100" dir="2700000" algn="tl">
                    <a:srgbClr val="000000"/>
                  </a:outerShdw>
                </a:effectLst>
                <a:latin typeface="Arial" panose="020B0604020202020204" pitchFamily="34" charset="0"/>
                <a:cs typeface="Arial" panose="020B0604020202020204" pitchFamily="34" charset="0"/>
              </a:rPr>
              <a:t>v</a:t>
            </a:r>
            <a:r>
              <a:rPr lang="en-GB" altLang="en-US" sz="1700" i="1" baseline="-25000" dirty="0">
                <a:solidFill>
                  <a:srgbClr val="FF66CC"/>
                </a:solidFill>
                <a:effectLst>
                  <a:outerShdw blurRad="38100" dist="38100" dir="2700000" algn="tl">
                    <a:srgbClr val="000000"/>
                  </a:outerShdw>
                </a:effectLst>
                <a:latin typeface="Arial" panose="020B0604020202020204" pitchFamily="34" charset="0"/>
                <a:cs typeface="Arial" panose="020B0604020202020204" pitchFamily="34" charset="0"/>
              </a:rPr>
              <a:t> </a:t>
            </a:r>
            <a:r>
              <a:rPr lang="en-GB" altLang="en-US" sz="1700" dirty="0">
                <a:solidFill>
                  <a:srgbClr val="FF66CC"/>
                </a:solidFill>
                <a:effectLst>
                  <a:outerShdw blurRad="38100" dist="38100" dir="2700000" algn="tl">
                    <a:srgbClr val="000000"/>
                  </a:outerShdw>
                </a:effectLst>
                <a:latin typeface="Arial" panose="020B0604020202020204" pitchFamily="34" charset="0"/>
                <a:cs typeface="Arial" panose="020B0604020202020204" pitchFamily="34" charset="0"/>
              </a:rPr>
              <a:t>&gt; 0</a:t>
            </a:r>
            <a:r>
              <a:rPr lang="en-GB" altLang="en-US" sz="1700" dirty="0">
                <a:effectLst>
                  <a:outerShdw blurRad="38100" dist="38100" dir="2700000" algn="tl">
                    <a:srgbClr val="000000"/>
                  </a:outerShdw>
                </a:effectLst>
                <a:latin typeface="Arial" panose="020B0604020202020204" pitchFamily="34" charset="0"/>
                <a:cs typeface="Arial" panose="020B0604020202020204" pitchFamily="34" charset="0"/>
              </a:rPr>
              <a:t> (as it commonly is in horizontally layered successions)</a:t>
            </a:r>
            <a:endParaRPr lang="el-GR" altLang="en-US" sz="1700" dirty="0">
              <a:effectLst>
                <a:outerShdw blurRad="38100" dist="38100" dir="2700000" algn="tl">
                  <a:srgbClr val="000000"/>
                </a:outerShdw>
              </a:effectLst>
              <a:latin typeface="Arial" panose="020B0604020202020204" pitchFamily="34" charset="0"/>
              <a:cs typeface="Arial" panose="020B0604020202020204" pitchFamily="34" charset="0"/>
            </a:endParaRPr>
          </a:p>
        </p:txBody>
      </p:sp>
      <p:pic>
        <p:nvPicPr>
          <p:cNvPr id="330759" name="Picture 7">
            <a:extLst>
              <a:ext uri="{FF2B5EF4-FFF2-40B4-BE49-F238E27FC236}">
                <a16:creationId xmlns:a16="http://schemas.microsoft.com/office/drawing/2014/main" id="{846D708E-8CB2-41E5-A2DE-CFA8CBBE70DD}"/>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5102225" y="973138"/>
            <a:ext cx="3675063" cy="2484437"/>
          </a:xfrm>
          <a:noFill/>
          <a:ln w="38100" cap="flat">
            <a:solidFill>
              <a:schemeClr val="bg2"/>
            </a:solidFill>
            <a:miter lim="800000"/>
            <a:headEnd/>
            <a:tailEnd/>
          </a:ln>
        </p:spPr>
      </p:pic>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2813" name="Picture 13" descr="15a2a">
            <a:extLst>
              <a:ext uri="{FF2B5EF4-FFF2-40B4-BE49-F238E27FC236}">
                <a16:creationId xmlns:a16="http://schemas.microsoft.com/office/drawing/2014/main" id="{1D1C71B5-8A18-48AF-94F1-F049DA9952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33850" y="4106863"/>
            <a:ext cx="4743450" cy="254000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332814" name="Picture 14" descr="15a3a">
            <a:extLst>
              <a:ext uri="{FF2B5EF4-FFF2-40B4-BE49-F238E27FC236}">
                <a16:creationId xmlns:a16="http://schemas.microsoft.com/office/drawing/2014/main" id="{3611EB7D-BDB4-45CD-B8DC-E02577D75CE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9725" y="3471863"/>
            <a:ext cx="3579813" cy="317500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332802" name="Rectangle 2">
            <a:extLst>
              <a:ext uri="{FF2B5EF4-FFF2-40B4-BE49-F238E27FC236}">
                <a16:creationId xmlns:a16="http://schemas.microsoft.com/office/drawing/2014/main" id="{20D19842-D7A1-4C84-BC64-A4D3F9509037}"/>
              </a:ext>
            </a:extLst>
          </p:cNvPr>
          <p:cNvSpPr>
            <a:spLocks noGrp="1" noChangeArrowheads="1"/>
          </p:cNvSpPr>
          <p:nvPr>
            <p:ph type="title"/>
          </p:nvPr>
        </p:nvSpPr>
        <p:spPr>
          <a:noFill/>
        </p:spPr>
        <p:txBody>
          <a:bodyPr/>
          <a:lstStyle/>
          <a:p>
            <a:r>
              <a:rPr lang="en-GB" altLang="en-US">
                <a:effectLst/>
              </a:rPr>
              <a:t>Deflection and arrest of hydraulic fractures </a:t>
            </a:r>
          </a:p>
        </p:txBody>
      </p:sp>
      <p:sp>
        <p:nvSpPr>
          <p:cNvPr id="332803" name="Rectangle 3">
            <a:extLst>
              <a:ext uri="{FF2B5EF4-FFF2-40B4-BE49-F238E27FC236}">
                <a16:creationId xmlns:a16="http://schemas.microsoft.com/office/drawing/2014/main" id="{20B13973-F1A1-49B6-BD99-925A47ADCA6B}"/>
              </a:ext>
            </a:extLst>
          </p:cNvPr>
          <p:cNvSpPr>
            <a:spLocks noGrp="1" noChangeArrowheads="1"/>
          </p:cNvSpPr>
          <p:nvPr>
            <p:ph type="body" sz="half" idx="1"/>
          </p:nvPr>
        </p:nvSpPr>
        <p:spPr>
          <a:xfrm>
            <a:off x="112713" y="784225"/>
            <a:ext cx="5330825" cy="2541588"/>
          </a:xfrm>
          <a:noFill/>
        </p:spPr>
        <p:txBody>
          <a:bodyPr/>
          <a:lstStyle/>
          <a:p>
            <a:pPr marL="179388" indent="-179388">
              <a:spcBef>
                <a:spcPct val="75000"/>
              </a:spcBef>
            </a:pPr>
            <a:r>
              <a:rPr lang="en-GB" altLang="en-US" sz="1700">
                <a:effectLst/>
              </a:rPr>
              <a:t>When a propagating hydraulic fracture meets a layer with local stresses that are unfavourable for continued propagation, it may </a:t>
            </a:r>
          </a:p>
          <a:p>
            <a:pPr marL="631825" lvl="1" indent="-273050">
              <a:spcBef>
                <a:spcPct val="25000"/>
              </a:spcBef>
              <a:buFont typeface="Times" panose="02020603050405020304" pitchFamily="18" charset="0"/>
              <a:buAutoNum type="alphaLcParenR"/>
            </a:pPr>
            <a:r>
              <a:rPr lang="en-GB" altLang="en-US" sz="1700">
                <a:solidFill>
                  <a:srgbClr val="FF6600"/>
                </a:solidFill>
                <a:effectLst/>
              </a:rPr>
              <a:t>arrest</a:t>
            </a:r>
            <a:r>
              <a:rPr lang="en-GB" altLang="en-US" sz="1700">
                <a:effectLst/>
              </a:rPr>
              <a:t>, </a:t>
            </a:r>
          </a:p>
          <a:p>
            <a:pPr marL="631825" lvl="1" indent="-273050">
              <a:spcBef>
                <a:spcPct val="25000"/>
              </a:spcBef>
              <a:buFont typeface="Times" panose="02020603050405020304" pitchFamily="18" charset="0"/>
              <a:buAutoNum type="alphaLcParenR"/>
            </a:pPr>
            <a:r>
              <a:rPr lang="en-GB" altLang="en-US" sz="1700">
                <a:solidFill>
                  <a:srgbClr val="FF6600"/>
                </a:solidFill>
                <a:effectLst/>
              </a:rPr>
              <a:t>penetrate the contact</a:t>
            </a:r>
            <a:r>
              <a:rPr lang="en-GB" altLang="en-US" sz="1700">
                <a:effectLst/>
              </a:rPr>
              <a:t>, or </a:t>
            </a:r>
          </a:p>
          <a:p>
            <a:pPr marL="631825" lvl="1" indent="-273050">
              <a:spcBef>
                <a:spcPct val="25000"/>
              </a:spcBef>
              <a:buFont typeface="Times" panose="02020603050405020304" pitchFamily="18" charset="0"/>
              <a:buAutoNum type="alphaLcParenR"/>
            </a:pPr>
            <a:r>
              <a:rPr lang="en-GB" altLang="en-US" sz="1700">
                <a:solidFill>
                  <a:srgbClr val="FF6600"/>
                </a:solidFill>
                <a:effectLst/>
              </a:rPr>
              <a:t>deflect along the contact</a:t>
            </a:r>
            <a:r>
              <a:rPr lang="en-GB" altLang="en-US" sz="1700">
                <a:effectLst/>
              </a:rPr>
              <a:t> in</a:t>
            </a:r>
          </a:p>
          <a:p>
            <a:pPr marL="631825" lvl="1" indent="-273050">
              <a:spcBef>
                <a:spcPct val="0"/>
              </a:spcBef>
              <a:buFont typeface="Times" panose="02020603050405020304" pitchFamily="18" charset="0"/>
              <a:buNone/>
            </a:pPr>
            <a:r>
              <a:rPr lang="en-GB" altLang="en-US" sz="1700">
                <a:effectLst/>
              </a:rPr>
              <a:t>	one or two directions</a:t>
            </a:r>
          </a:p>
        </p:txBody>
      </p:sp>
      <p:grpSp>
        <p:nvGrpSpPr>
          <p:cNvPr id="332807" name="Group 7">
            <a:extLst>
              <a:ext uri="{FF2B5EF4-FFF2-40B4-BE49-F238E27FC236}">
                <a16:creationId xmlns:a16="http://schemas.microsoft.com/office/drawing/2014/main" id="{9F95C4EF-A689-47A8-94E9-F236F9D091BA}"/>
              </a:ext>
            </a:extLst>
          </p:cNvPr>
          <p:cNvGrpSpPr>
            <a:grpSpLocks/>
          </p:cNvGrpSpPr>
          <p:nvPr/>
        </p:nvGrpSpPr>
        <p:grpSpPr bwMode="auto">
          <a:xfrm>
            <a:off x="5734050" y="871538"/>
            <a:ext cx="3271838" cy="2381250"/>
            <a:chOff x="2838" y="2126"/>
            <a:chExt cx="2809" cy="2049"/>
          </a:xfrm>
        </p:grpSpPr>
        <p:sp>
          <p:nvSpPr>
            <p:cNvPr id="332806" name="Rectangle 6">
              <a:extLst>
                <a:ext uri="{FF2B5EF4-FFF2-40B4-BE49-F238E27FC236}">
                  <a16:creationId xmlns:a16="http://schemas.microsoft.com/office/drawing/2014/main" id="{BC872D14-1DF8-4240-B8EB-81134E3C6766}"/>
                </a:ext>
              </a:extLst>
            </p:cNvPr>
            <p:cNvSpPr>
              <a:spLocks noChangeArrowheads="1"/>
            </p:cNvSpPr>
            <p:nvPr/>
          </p:nvSpPr>
          <p:spPr bwMode="auto">
            <a:xfrm>
              <a:off x="2838" y="2126"/>
              <a:ext cx="2809" cy="2049"/>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332804" name="Picture 4" descr="14-">
              <a:extLst>
                <a:ext uri="{FF2B5EF4-FFF2-40B4-BE49-F238E27FC236}">
                  <a16:creationId xmlns:a16="http://schemas.microsoft.com/office/drawing/2014/main" id="{70FAB09F-F8B4-4032-A0EA-49A2759F89B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89" y="2184"/>
              <a:ext cx="2703" cy="19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pic>
        <p:nvPicPr>
          <p:cNvPr id="332812" name="Picture 12" descr="15a1a">
            <a:extLst>
              <a:ext uri="{FF2B5EF4-FFF2-40B4-BE49-F238E27FC236}">
                <a16:creationId xmlns:a16="http://schemas.microsoft.com/office/drawing/2014/main" id="{6EE2C26E-3189-480F-A051-5745FFF32E2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33850" y="2444750"/>
            <a:ext cx="2689225" cy="148272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2">
            <a:extLst>
              <a:ext uri="{FF2B5EF4-FFF2-40B4-BE49-F238E27FC236}">
                <a16:creationId xmlns:a16="http://schemas.microsoft.com/office/drawing/2014/main" id="{C060DC9A-D219-4F55-B82E-E46EB27E9228}"/>
              </a:ext>
            </a:extLst>
          </p:cNvPr>
          <p:cNvSpPr>
            <a:spLocks noGrp="1" noChangeArrowheads="1"/>
          </p:cNvSpPr>
          <p:nvPr>
            <p:ph type="title"/>
          </p:nvPr>
        </p:nvSpPr>
        <p:spPr>
          <a:noFill/>
        </p:spPr>
        <p:txBody>
          <a:bodyPr/>
          <a:lstStyle/>
          <a:p>
            <a:r>
              <a:rPr lang="en-GB" altLang="en-US">
                <a:effectLst/>
              </a:rPr>
              <a:t>Deflection and arrest of hydraulic fractures  2 </a:t>
            </a:r>
          </a:p>
        </p:txBody>
      </p:sp>
      <p:sp>
        <p:nvSpPr>
          <p:cNvPr id="343043" name="Rectangle 3">
            <a:extLst>
              <a:ext uri="{FF2B5EF4-FFF2-40B4-BE49-F238E27FC236}">
                <a16:creationId xmlns:a16="http://schemas.microsoft.com/office/drawing/2014/main" id="{47FD345F-9A3E-4A45-A23E-FB7755152468}"/>
              </a:ext>
            </a:extLst>
          </p:cNvPr>
          <p:cNvSpPr>
            <a:spLocks noGrp="1" noChangeArrowheads="1"/>
          </p:cNvSpPr>
          <p:nvPr>
            <p:ph type="body" sz="half" idx="1"/>
          </p:nvPr>
        </p:nvSpPr>
        <p:spPr>
          <a:xfrm>
            <a:off x="123825" y="766763"/>
            <a:ext cx="8864600" cy="1087437"/>
          </a:xfrm>
          <a:noFill/>
        </p:spPr>
        <p:txBody>
          <a:bodyPr/>
          <a:lstStyle/>
          <a:p>
            <a:pPr marL="179388" indent="-179388">
              <a:spcBef>
                <a:spcPct val="75000"/>
              </a:spcBef>
            </a:pPr>
            <a:r>
              <a:rPr lang="en-GB" altLang="en-US" sz="1700">
                <a:effectLst/>
              </a:rPr>
              <a:t>In part these responses reflect the change in </a:t>
            </a:r>
            <a:r>
              <a:rPr lang="en-GB" altLang="en-US" sz="1700">
                <a:solidFill>
                  <a:srgbClr val="FF66CC"/>
                </a:solidFill>
                <a:effectLst/>
              </a:rPr>
              <a:t>local orientation of the principal stresses</a:t>
            </a:r>
            <a:r>
              <a:rPr lang="en-GB" altLang="en-US" sz="1700">
                <a:effectLst/>
              </a:rPr>
              <a:t> in the neighbourhood of a mechanical discontinuity (</a:t>
            </a:r>
            <a:r>
              <a:rPr lang="en-GB" altLang="en-US" sz="1700" i="1">
                <a:effectLst/>
              </a:rPr>
              <a:t>e.g.</a:t>
            </a:r>
            <a:r>
              <a:rPr lang="en-GB" altLang="en-US" sz="1700">
                <a:effectLst/>
              </a:rPr>
              <a:t>, bedding surface) but two other factors play a part:</a:t>
            </a:r>
          </a:p>
        </p:txBody>
      </p:sp>
      <p:pic>
        <p:nvPicPr>
          <p:cNvPr id="343050" name="Picture 10">
            <a:extLst>
              <a:ext uri="{FF2B5EF4-FFF2-40B4-BE49-F238E27FC236}">
                <a16:creationId xmlns:a16="http://schemas.microsoft.com/office/drawing/2014/main" id="{F54C39D5-2BC4-484A-A786-9A14B2079F83}"/>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430213" y="3457575"/>
            <a:ext cx="3714750" cy="1703388"/>
          </a:xfrm>
          <a:noFill/>
          <a:ln w="38100" cap="flat">
            <a:solidFill>
              <a:schemeClr val="bg2"/>
            </a:solidFill>
            <a:miter lim="800000"/>
            <a:headEnd/>
            <a:tailEnd/>
          </a:ln>
        </p:spPr>
      </p:pic>
      <p:sp>
        <p:nvSpPr>
          <p:cNvPr id="343052" name="Text Box 12">
            <a:extLst>
              <a:ext uri="{FF2B5EF4-FFF2-40B4-BE49-F238E27FC236}">
                <a16:creationId xmlns:a16="http://schemas.microsoft.com/office/drawing/2014/main" id="{60D6B36E-5370-408A-8AF9-7B6CAE429991}"/>
              </a:ext>
            </a:extLst>
          </p:cNvPr>
          <p:cNvSpPr txBox="1">
            <a:spLocks noChangeArrowheads="1"/>
          </p:cNvSpPr>
          <p:nvPr/>
        </p:nvSpPr>
        <p:spPr bwMode="auto">
          <a:xfrm>
            <a:off x="112713" y="1866900"/>
            <a:ext cx="8804275" cy="1336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63525" indent="-263525">
              <a:defRPr sz="1600">
                <a:solidFill>
                  <a:schemeClr val="tx1"/>
                </a:solidFill>
                <a:latin typeface="Helvetica" panose="020B0604020202020204" pitchFamily="34" charset="0"/>
              </a:defRPr>
            </a:lvl1pPr>
            <a:lvl2pPr marL="762000" indent="-304800">
              <a:defRPr sz="1600">
                <a:solidFill>
                  <a:schemeClr val="tx1"/>
                </a:solidFill>
                <a:latin typeface="Helvetica" panose="020B0604020202020204" pitchFamily="34" charset="0"/>
              </a:defRPr>
            </a:lvl2pPr>
            <a:lvl3pPr marL="1231900" indent="-304800">
              <a:defRPr sz="1600">
                <a:solidFill>
                  <a:schemeClr val="tx1"/>
                </a:solidFill>
                <a:latin typeface="Helvetica" panose="020B0604020202020204" pitchFamily="34" charset="0"/>
              </a:defRPr>
            </a:lvl3pPr>
            <a:lvl4pPr marL="1716088" indent="-304800">
              <a:defRPr sz="1600">
                <a:solidFill>
                  <a:schemeClr val="tx1"/>
                </a:solidFill>
                <a:latin typeface="Helvetica" panose="020B0604020202020204" pitchFamily="34" charset="0"/>
              </a:defRPr>
            </a:lvl4pPr>
            <a:lvl5pPr marL="2200275" indent="-304800">
              <a:defRPr sz="1600">
                <a:solidFill>
                  <a:schemeClr val="tx1"/>
                </a:solidFill>
                <a:latin typeface="Helvetica" panose="020B0604020202020204" pitchFamily="34" charset="0"/>
              </a:defRPr>
            </a:lvl5pPr>
            <a:lvl6pPr marL="265747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311467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57187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402907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75000"/>
              </a:spcBef>
              <a:buClr>
                <a:srgbClr val="FF6600"/>
              </a:buClr>
              <a:buSzPct val="100000"/>
              <a:buFont typeface="Times" panose="02020603050405020304" pitchFamily="18" charset="0"/>
              <a:buAutoNum type="arabicPeriod"/>
            </a:pPr>
            <a:r>
              <a:rPr lang="en-GB" altLang="en-US" sz="1700" dirty="0">
                <a:solidFill>
                  <a:srgbClr val="FF6600"/>
                </a:solidFill>
                <a:effectLst/>
                <a:latin typeface="Arial" panose="020B0604020202020204" pitchFamily="34" charset="0"/>
              </a:rPr>
              <a:t>Delamination</a:t>
            </a:r>
            <a:r>
              <a:rPr lang="en-GB" altLang="en-US" sz="1700" dirty="0">
                <a:effectLst/>
                <a:latin typeface="Arial" panose="020B0604020202020204" pitchFamily="34" charset="0"/>
              </a:rPr>
              <a:t>: the tensile stresses generated normal to the tip of a propagating hydraulic fracture </a:t>
            </a:r>
            <a:r>
              <a:rPr lang="en-GB" altLang="en-US" sz="1700" dirty="0">
                <a:solidFill>
                  <a:srgbClr val="FF66CC"/>
                </a:solidFill>
                <a:effectLst/>
                <a:latin typeface="Arial" panose="020B0604020202020204" pitchFamily="34" charset="0"/>
              </a:rPr>
              <a:t>induce tensile stresses parallel to the fracture</a:t>
            </a:r>
            <a:r>
              <a:rPr lang="en-GB" altLang="en-US" sz="1700" dirty="0">
                <a:effectLst/>
                <a:latin typeface="Arial" panose="020B0604020202020204" pitchFamily="34" charset="0"/>
              </a:rPr>
              <a:t> through the Poisson effect. If the tensile strength is small in this direction (</a:t>
            </a:r>
            <a:r>
              <a:rPr lang="en-GB" altLang="en-US" sz="1700" i="1" dirty="0">
                <a:effectLst/>
                <a:latin typeface="Arial" panose="020B0604020202020204" pitchFamily="34" charset="0"/>
              </a:rPr>
              <a:t>e.g.</a:t>
            </a:r>
            <a:r>
              <a:rPr lang="en-GB" altLang="en-US" sz="1700" dirty="0">
                <a:effectLst/>
                <a:latin typeface="Arial" panose="020B0604020202020204" pitchFamily="34" charset="0"/>
              </a:rPr>
              <a:t>, because of an interface), a crack will open up, and the intrusion will propagate sideways</a:t>
            </a:r>
            <a:endParaRPr lang="en-GB" altLang="en-US" sz="1700" dirty="0">
              <a:effectLst>
                <a:outerShdw blurRad="38100" dist="38100" dir="2700000" algn="tl">
                  <a:srgbClr val="000000"/>
                </a:outerShdw>
              </a:effectLst>
              <a:latin typeface="Arial" panose="020B0604020202020204" pitchFamily="34" charset="0"/>
            </a:endParaRPr>
          </a:p>
        </p:txBody>
      </p:sp>
      <p:sp>
        <p:nvSpPr>
          <p:cNvPr id="343057" name="Text Box 17">
            <a:extLst>
              <a:ext uri="{FF2B5EF4-FFF2-40B4-BE49-F238E27FC236}">
                <a16:creationId xmlns:a16="http://schemas.microsoft.com/office/drawing/2014/main" id="{49778D0A-F0DF-4722-84A7-D242DA9E49DC}"/>
              </a:ext>
            </a:extLst>
          </p:cNvPr>
          <p:cNvSpPr txBox="1">
            <a:spLocks noChangeArrowheads="1"/>
          </p:cNvSpPr>
          <p:nvPr/>
        </p:nvSpPr>
        <p:spPr bwMode="auto">
          <a:xfrm>
            <a:off x="841375" y="5870575"/>
            <a:ext cx="3513138" cy="858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Right-left trending dyke deflected along a mechanical discontinuity and sending off-shoots along it</a:t>
            </a:r>
          </a:p>
        </p:txBody>
      </p:sp>
      <p:pic>
        <p:nvPicPr>
          <p:cNvPr id="343058" name="Picture 18" descr="16a1-Mull">
            <a:extLst>
              <a:ext uri="{FF2B5EF4-FFF2-40B4-BE49-F238E27FC236}">
                <a16:creationId xmlns:a16="http://schemas.microsoft.com/office/drawing/2014/main" id="{2BFFF46A-B02D-44BF-86BD-B6946C4B28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65625" y="3457575"/>
            <a:ext cx="4543425" cy="320992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343060" name="Text Box 20">
            <a:extLst>
              <a:ext uri="{FF2B5EF4-FFF2-40B4-BE49-F238E27FC236}">
                <a16:creationId xmlns:a16="http://schemas.microsoft.com/office/drawing/2014/main" id="{EF9CF9FC-FADE-47A0-AF99-8D36126C058E}"/>
              </a:ext>
            </a:extLst>
          </p:cNvPr>
          <p:cNvSpPr txBox="1">
            <a:spLocks noChangeArrowheads="1"/>
          </p:cNvSpPr>
          <p:nvPr/>
        </p:nvSpPr>
        <p:spPr bwMode="auto">
          <a:xfrm>
            <a:off x="649288" y="5210175"/>
            <a:ext cx="3322637"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Cook-Gordon debonding (delamination)</a:t>
            </a:r>
          </a:p>
        </p:txBody>
      </p:sp>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Rectangle 2">
            <a:extLst>
              <a:ext uri="{FF2B5EF4-FFF2-40B4-BE49-F238E27FC236}">
                <a16:creationId xmlns:a16="http://schemas.microsoft.com/office/drawing/2014/main" id="{598F7DF0-1E40-4307-A088-CCF97B8E5BA5}"/>
              </a:ext>
            </a:extLst>
          </p:cNvPr>
          <p:cNvSpPr>
            <a:spLocks noGrp="1" noChangeArrowheads="1"/>
          </p:cNvSpPr>
          <p:nvPr>
            <p:ph type="title"/>
          </p:nvPr>
        </p:nvSpPr>
        <p:spPr>
          <a:noFill/>
        </p:spPr>
        <p:txBody>
          <a:bodyPr/>
          <a:lstStyle/>
          <a:p>
            <a:r>
              <a:rPr lang="en-GB" altLang="en-US">
                <a:effectLst/>
              </a:rPr>
              <a:t>Deflection and arrest of hydraulic fractures  3 </a:t>
            </a:r>
          </a:p>
        </p:txBody>
      </p:sp>
      <p:sp>
        <p:nvSpPr>
          <p:cNvPr id="349190" name="Text Box 6">
            <a:extLst>
              <a:ext uri="{FF2B5EF4-FFF2-40B4-BE49-F238E27FC236}">
                <a16:creationId xmlns:a16="http://schemas.microsoft.com/office/drawing/2014/main" id="{1E9EDCFB-A993-4513-A8B2-1B5CDCF47E26}"/>
              </a:ext>
            </a:extLst>
          </p:cNvPr>
          <p:cNvSpPr txBox="1">
            <a:spLocks noChangeArrowheads="1"/>
          </p:cNvSpPr>
          <p:nvPr/>
        </p:nvSpPr>
        <p:spPr bwMode="auto">
          <a:xfrm>
            <a:off x="122238" y="849313"/>
            <a:ext cx="5345112" cy="164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63525" indent="-263525">
              <a:defRPr sz="1600">
                <a:solidFill>
                  <a:schemeClr val="tx1"/>
                </a:solidFill>
                <a:latin typeface="Helvetica" panose="020B0604020202020204" pitchFamily="34" charset="0"/>
              </a:defRPr>
            </a:lvl1pPr>
            <a:lvl2pPr marL="762000" indent="-304800">
              <a:defRPr sz="1600">
                <a:solidFill>
                  <a:schemeClr val="tx1"/>
                </a:solidFill>
                <a:latin typeface="Helvetica" panose="020B0604020202020204" pitchFamily="34" charset="0"/>
              </a:defRPr>
            </a:lvl2pPr>
            <a:lvl3pPr marL="1231900" indent="-304800">
              <a:defRPr sz="1600">
                <a:solidFill>
                  <a:schemeClr val="tx1"/>
                </a:solidFill>
                <a:latin typeface="Helvetica" panose="020B0604020202020204" pitchFamily="34" charset="0"/>
              </a:defRPr>
            </a:lvl3pPr>
            <a:lvl4pPr marL="1716088" indent="-304800">
              <a:defRPr sz="1600">
                <a:solidFill>
                  <a:schemeClr val="tx1"/>
                </a:solidFill>
                <a:latin typeface="Helvetica" panose="020B0604020202020204" pitchFamily="34" charset="0"/>
              </a:defRPr>
            </a:lvl4pPr>
            <a:lvl5pPr marL="2200275" indent="-304800">
              <a:defRPr sz="1600">
                <a:solidFill>
                  <a:schemeClr val="tx1"/>
                </a:solidFill>
                <a:latin typeface="Helvetica" panose="020B0604020202020204" pitchFamily="34" charset="0"/>
              </a:defRPr>
            </a:lvl5pPr>
            <a:lvl6pPr marL="265747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311467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57187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402907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rgbClr val="FF6600"/>
              </a:buClr>
              <a:buFontTx/>
              <a:buAutoNum type="arabicPeriod" startAt="2"/>
            </a:pPr>
            <a:r>
              <a:rPr lang="en-GB" altLang="en-US" sz="1700">
                <a:solidFill>
                  <a:srgbClr val="FF6600"/>
                </a:solidFill>
                <a:effectLst>
                  <a:outerShdw blurRad="38100" dist="38100" dir="2700000" algn="tl">
                    <a:srgbClr val="000000"/>
                  </a:outerShdw>
                </a:effectLst>
                <a:latin typeface="Arial" panose="020B0604020202020204" pitchFamily="34" charset="0"/>
              </a:rPr>
              <a:t>Material property mismatch</a:t>
            </a:r>
            <a:r>
              <a:rPr lang="en-GB" altLang="en-US" sz="1700">
                <a:effectLst>
                  <a:outerShdw blurRad="38100" dist="38100" dir="2700000" algn="tl">
                    <a:srgbClr val="000000"/>
                  </a:outerShdw>
                </a:effectLst>
                <a:latin typeface="Arial" panose="020B0604020202020204" pitchFamily="34" charset="0"/>
              </a:rPr>
              <a:t>: when a propagating fracture meets an interface with </a:t>
            </a:r>
            <a:r>
              <a:rPr lang="en-GB" altLang="en-US" sz="1700">
                <a:solidFill>
                  <a:srgbClr val="FF66CC"/>
                </a:solidFill>
                <a:effectLst>
                  <a:outerShdw blurRad="38100" dist="38100" dir="2700000" algn="tl">
                    <a:srgbClr val="000000"/>
                  </a:outerShdw>
                </a:effectLst>
                <a:latin typeface="Arial" panose="020B0604020202020204" pitchFamily="34" charset="0"/>
              </a:rPr>
              <a:t>a layer that is elastically stiffer than the one it has been propagating through</a:t>
            </a:r>
            <a:r>
              <a:rPr lang="en-GB" altLang="en-US" sz="1700">
                <a:effectLst>
                  <a:outerShdw blurRad="38100" dist="38100" dir="2700000" algn="tl">
                    <a:srgbClr val="000000"/>
                  </a:outerShdw>
                </a:effectLst>
                <a:latin typeface="Arial" panose="020B0604020202020204" pitchFamily="34" charset="0"/>
              </a:rPr>
              <a:t>, it is energetically favourable for the crack to deflect along the interface</a:t>
            </a:r>
          </a:p>
        </p:txBody>
      </p:sp>
      <p:pic>
        <p:nvPicPr>
          <p:cNvPr id="349202" name="Picture 18" descr="WAngle2">
            <a:extLst>
              <a:ext uri="{FF2B5EF4-FFF2-40B4-BE49-F238E27FC236}">
                <a16:creationId xmlns:a16="http://schemas.microsoft.com/office/drawing/2014/main" id="{924A3C1D-EF3D-4515-96DD-7BADFED323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3225" y="992188"/>
            <a:ext cx="3490913" cy="525780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349209" name="Text Box 25">
            <a:extLst>
              <a:ext uri="{FF2B5EF4-FFF2-40B4-BE49-F238E27FC236}">
                <a16:creationId xmlns:a16="http://schemas.microsoft.com/office/drawing/2014/main" id="{7580DA61-8383-4572-BD60-CF9D703C8947}"/>
              </a:ext>
            </a:extLst>
          </p:cNvPr>
          <p:cNvSpPr txBox="1">
            <a:spLocks noChangeArrowheads="1"/>
          </p:cNvSpPr>
          <p:nvPr/>
        </p:nvSpPr>
        <p:spPr bwMode="auto">
          <a:xfrm>
            <a:off x="298450" y="6070600"/>
            <a:ext cx="2147888"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Vein propagation clearly influenced by interfaces</a:t>
            </a:r>
          </a:p>
        </p:txBody>
      </p:sp>
      <p:pic>
        <p:nvPicPr>
          <p:cNvPr id="349210" name="Picture 26" descr="15c1a-Pembroke">
            <a:extLst>
              <a:ext uri="{FF2B5EF4-FFF2-40B4-BE49-F238E27FC236}">
                <a16:creationId xmlns:a16="http://schemas.microsoft.com/office/drawing/2014/main" id="{A2AF35EC-DBFE-45D7-803B-A282937869DD}"/>
              </a:ext>
            </a:extLst>
          </p:cNvPr>
          <p:cNvPicPr>
            <a:picLocks noChangeAspect="1" noChangeArrowheads="1"/>
          </p:cNvPicPr>
          <p:nvPr/>
        </p:nvPicPr>
        <p:blipFill>
          <a:blip r:embed="rId4">
            <a:lum bright="-10000"/>
            <a:extLst>
              <a:ext uri="{28A0092B-C50C-407E-A947-70E740481C1C}">
                <a14:useLocalDpi xmlns:a14="http://schemas.microsoft.com/office/drawing/2010/main" val="0"/>
              </a:ext>
            </a:extLst>
          </a:blip>
          <a:srcRect/>
          <a:stretch>
            <a:fillRect/>
          </a:stretch>
        </p:blipFill>
        <p:spPr bwMode="auto">
          <a:xfrm>
            <a:off x="2478088" y="2706688"/>
            <a:ext cx="2822575" cy="394652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349213" name="Text Box 29">
            <a:extLst>
              <a:ext uri="{FF2B5EF4-FFF2-40B4-BE49-F238E27FC236}">
                <a16:creationId xmlns:a16="http://schemas.microsoft.com/office/drawing/2014/main" id="{C1ABC13B-1E9B-44C7-AC07-D03EE9F91F35}"/>
              </a:ext>
            </a:extLst>
          </p:cNvPr>
          <p:cNvSpPr txBox="1">
            <a:spLocks noChangeArrowheads="1"/>
          </p:cNvSpPr>
          <p:nvPr/>
        </p:nvSpPr>
        <p:spPr bwMode="auto">
          <a:xfrm>
            <a:off x="122238" y="2560638"/>
            <a:ext cx="2038350" cy="164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66700" indent="-266700">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pPr>
            <a:r>
              <a:rPr lang="en-GB" altLang="en-US" sz="1700">
                <a:effectLst>
                  <a:outerShdw blurRad="38100" dist="38100" dir="2700000" algn="tl">
                    <a:srgbClr val="000000"/>
                  </a:outerShdw>
                </a:effectLst>
                <a:latin typeface="Arial" panose="020B0604020202020204" pitchFamily="34" charset="0"/>
              </a:rPr>
              <a:t>	This is not true when it meets a layer that is elastically more compliant</a:t>
            </a:r>
          </a:p>
        </p:txBody>
      </p:sp>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354" name="Rectangle 2">
            <a:extLst>
              <a:ext uri="{FF2B5EF4-FFF2-40B4-BE49-F238E27FC236}">
                <a16:creationId xmlns:a16="http://schemas.microsoft.com/office/drawing/2014/main" id="{FB8CDE87-FC89-410D-9C8D-90C8C06204FB}"/>
              </a:ext>
            </a:extLst>
          </p:cNvPr>
          <p:cNvSpPr>
            <a:spLocks noGrp="1" noChangeArrowheads="1"/>
          </p:cNvSpPr>
          <p:nvPr>
            <p:ph type="title"/>
          </p:nvPr>
        </p:nvSpPr>
        <p:spPr>
          <a:noFill/>
        </p:spPr>
        <p:txBody>
          <a:bodyPr/>
          <a:lstStyle/>
          <a:p>
            <a:r>
              <a:rPr lang="en-GB" altLang="en-US">
                <a:effectLst/>
              </a:rPr>
              <a:t>Fracture-controlled emplacement </a:t>
            </a:r>
          </a:p>
        </p:txBody>
      </p:sp>
      <p:pic>
        <p:nvPicPr>
          <p:cNvPr id="356359" name="Picture 7" descr="17b2">
            <a:extLst>
              <a:ext uri="{FF2B5EF4-FFF2-40B4-BE49-F238E27FC236}">
                <a16:creationId xmlns:a16="http://schemas.microsoft.com/office/drawing/2014/main" id="{81CB3A5A-7694-4788-971A-51184182D0E4}"/>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6002338" y="904875"/>
            <a:ext cx="2752725" cy="194945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56355" name="Text Box 3">
            <a:extLst>
              <a:ext uri="{FF2B5EF4-FFF2-40B4-BE49-F238E27FC236}">
                <a16:creationId xmlns:a16="http://schemas.microsoft.com/office/drawing/2014/main" id="{5ECCD0EF-5152-4FB9-A22A-8ACB5E367E3D}"/>
              </a:ext>
            </a:extLst>
          </p:cNvPr>
          <p:cNvSpPr txBox="1">
            <a:spLocks noChangeArrowheads="1"/>
          </p:cNvSpPr>
          <p:nvPr/>
        </p:nvSpPr>
        <p:spPr bwMode="auto">
          <a:xfrm>
            <a:off x="122238" y="782638"/>
            <a:ext cx="5581650" cy="1336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9388" indent="-179388">
              <a:defRPr sz="1600">
                <a:solidFill>
                  <a:schemeClr val="tx1"/>
                </a:solidFill>
                <a:latin typeface="Helvetica" panose="020B0604020202020204" pitchFamily="34" charset="0"/>
              </a:defRPr>
            </a:lvl1pPr>
            <a:lvl2pPr marL="762000" indent="-304800">
              <a:defRPr sz="1600">
                <a:solidFill>
                  <a:schemeClr val="tx1"/>
                </a:solidFill>
                <a:latin typeface="Helvetica" panose="020B0604020202020204" pitchFamily="34" charset="0"/>
              </a:defRPr>
            </a:lvl2pPr>
            <a:lvl3pPr marL="1231900" indent="-304800">
              <a:defRPr sz="1600">
                <a:solidFill>
                  <a:schemeClr val="tx1"/>
                </a:solidFill>
                <a:latin typeface="Helvetica" panose="020B0604020202020204" pitchFamily="34" charset="0"/>
              </a:defRPr>
            </a:lvl3pPr>
            <a:lvl4pPr marL="1716088" indent="-304800">
              <a:defRPr sz="1600">
                <a:solidFill>
                  <a:schemeClr val="tx1"/>
                </a:solidFill>
                <a:latin typeface="Helvetica" panose="020B0604020202020204" pitchFamily="34" charset="0"/>
              </a:defRPr>
            </a:lvl4pPr>
            <a:lvl5pPr marL="2200275" indent="-304800">
              <a:defRPr sz="1600">
                <a:solidFill>
                  <a:schemeClr val="tx1"/>
                </a:solidFill>
                <a:latin typeface="Helvetica" panose="020B0604020202020204" pitchFamily="34" charset="0"/>
              </a:defRPr>
            </a:lvl5pPr>
            <a:lvl6pPr marL="265747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311467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57187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4029075"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a:effectLst>
                  <a:outerShdw blurRad="38100" dist="38100" dir="2700000" algn="tl">
                    <a:srgbClr val="000000"/>
                  </a:outerShdw>
                </a:effectLst>
                <a:latin typeface="Arial" panose="020B0604020202020204" pitchFamily="34" charset="0"/>
              </a:rPr>
              <a:t>Deflection of intrusions along fractures may lead to interpretative challenges: </a:t>
            </a:r>
            <a:r>
              <a:rPr lang="en-GB" altLang="en-US" sz="1700">
                <a:solidFill>
                  <a:srgbClr val="FF66CC"/>
                </a:solidFill>
                <a:effectLst>
                  <a:outerShdw blurRad="38100" dist="38100" dir="2700000" algn="tl">
                    <a:srgbClr val="000000"/>
                  </a:outerShdw>
                </a:effectLst>
                <a:latin typeface="Arial" panose="020B0604020202020204" pitchFamily="34" charset="0"/>
              </a:rPr>
              <a:t>on the map to the right,</a:t>
            </a:r>
            <a:r>
              <a:rPr lang="en-GB" altLang="en-US" sz="1700">
                <a:effectLst>
                  <a:outerShdw blurRad="38100" dist="38100" dir="2700000" algn="tl">
                    <a:srgbClr val="000000"/>
                  </a:outerShdw>
                </a:effectLst>
                <a:latin typeface="Arial" panose="020B0604020202020204" pitchFamily="34" charset="0"/>
              </a:rPr>
              <a:t> </a:t>
            </a:r>
            <a:r>
              <a:rPr lang="en-GB" altLang="en-US" sz="1700">
                <a:solidFill>
                  <a:srgbClr val="FF66CC"/>
                </a:solidFill>
                <a:effectLst>
                  <a:outerShdw blurRad="38100" dist="38100" dir="2700000" algn="tl">
                    <a:srgbClr val="000000"/>
                  </a:outerShdw>
                </a:effectLst>
                <a:latin typeface="Arial" panose="020B0604020202020204" pitchFamily="34" charset="0"/>
              </a:rPr>
              <a:t>has the dolerite dyke been offset by a fault in the gully or has it exploited a fracture?</a:t>
            </a:r>
          </a:p>
        </p:txBody>
      </p:sp>
      <p:sp>
        <p:nvSpPr>
          <p:cNvPr id="356365" name="Text Box 13">
            <a:extLst>
              <a:ext uri="{FF2B5EF4-FFF2-40B4-BE49-F238E27FC236}">
                <a16:creationId xmlns:a16="http://schemas.microsoft.com/office/drawing/2014/main" id="{2F7652AE-56E4-4196-9BF2-D2F67C835A6F}"/>
              </a:ext>
            </a:extLst>
          </p:cNvPr>
          <p:cNvSpPr txBox="1">
            <a:spLocks noChangeArrowheads="1"/>
          </p:cNvSpPr>
          <p:nvPr/>
        </p:nvSpPr>
        <p:spPr bwMode="auto">
          <a:xfrm>
            <a:off x="555625" y="5751513"/>
            <a:ext cx="5554663"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(Above) the dyke above looks sinistrally offset but has probably just exploited a pre-existing fracture. (Right) the dyke is unambiguously interpreted</a:t>
            </a:r>
          </a:p>
        </p:txBody>
      </p:sp>
      <p:pic>
        <p:nvPicPr>
          <p:cNvPr id="356366" name="Picture 14" descr="15d1a-Mull">
            <a:extLst>
              <a:ext uri="{FF2B5EF4-FFF2-40B4-BE49-F238E27FC236}">
                <a16:creationId xmlns:a16="http://schemas.microsoft.com/office/drawing/2014/main" id="{174BD3E4-DFEB-4014-9649-C800180B5A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8988" y="2287588"/>
            <a:ext cx="4822825" cy="331311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356368" name="Picture 16" descr="15d2a-Onich">
            <a:extLst>
              <a:ext uri="{FF2B5EF4-FFF2-40B4-BE49-F238E27FC236}">
                <a16:creationId xmlns:a16="http://schemas.microsoft.com/office/drawing/2014/main" id="{87693676-39C5-43F6-8D77-50A4C84CD09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45213" y="3062288"/>
            <a:ext cx="2481262" cy="3659187"/>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0" name="Rectangle 2">
            <a:extLst>
              <a:ext uri="{FF2B5EF4-FFF2-40B4-BE49-F238E27FC236}">
                <a16:creationId xmlns:a16="http://schemas.microsoft.com/office/drawing/2014/main" id="{BB89D516-DBA6-4157-93EC-4C70A5C5E411}"/>
              </a:ext>
            </a:extLst>
          </p:cNvPr>
          <p:cNvSpPr>
            <a:spLocks noGrp="1" noChangeArrowheads="1"/>
          </p:cNvSpPr>
          <p:nvPr>
            <p:ph type="title"/>
          </p:nvPr>
        </p:nvSpPr>
        <p:spPr>
          <a:noFill/>
        </p:spPr>
        <p:txBody>
          <a:bodyPr/>
          <a:lstStyle/>
          <a:p>
            <a:r>
              <a:rPr lang="en-GB" altLang="en-US">
                <a:effectLst/>
              </a:rPr>
              <a:t>Fracture controlled emplacement  2 </a:t>
            </a:r>
          </a:p>
        </p:txBody>
      </p:sp>
      <p:sp>
        <p:nvSpPr>
          <p:cNvPr id="334851" name="Rectangle 3">
            <a:extLst>
              <a:ext uri="{FF2B5EF4-FFF2-40B4-BE49-F238E27FC236}">
                <a16:creationId xmlns:a16="http://schemas.microsoft.com/office/drawing/2014/main" id="{573BF30E-57DC-43F4-9844-2501DB3BF73B}"/>
              </a:ext>
            </a:extLst>
          </p:cNvPr>
          <p:cNvSpPr>
            <a:spLocks noGrp="1" noChangeArrowheads="1"/>
          </p:cNvSpPr>
          <p:nvPr>
            <p:ph type="body" sz="half" idx="1"/>
          </p:nvPr>
        </p:nvSpPr>
        <p:spPr>
          <a:xfrm>
            <a:off x="133350" y="795338"/>
            <a:ext cx="2282825" cy="1638300"/>
          </a:xfrm>
          <a:noFill/>
        </p:spPr>
        <p:txBody>
          <a:bodyPr/>
          <a:lstStyle/>
          <a:p>
            <a:pPr marL="177800" indent="-177800">
              <a:spcBef>
                <a:spcPct val="75000"/>
              </a:spcBef>
            </a:pPr>
            <a:r>
              <a:rPr lang="en-GB" altLang="en-US" sz="1700">
                <a:effectLst/>
              </a:rPr>
              <a:t>The walls of this dyke have clearly been influenced by a </a:t>
            </a:r>
            <a:r>
              <a:rPr lang="en-GB" altLang="en-US" sz="1700">
                <a:solidFill>
                  <a:srgbClr val="FF66CC"/>
                </a:solidFill>
                <a:effectLst/>
              </a:rPr>
              <a:t>pre-existing joint set</a:t>
            </a:r>
            <a:endParaRPr lang="en-GB" altLang="en-US" sz="1700">
              <a:effectLst/>
            </a:endParaRPr>
          </a:p>
        </p:txBody>
      </p:sp>
      <p:pic>
        <p:nvPicPr>
          <p:cNvPr id="334852" name="Picture 4" descr="16b-GlenCoe">
            <a:extLst>
              <a:ext uri="{FF2B5EF4-FFF2-40B4-BE49-F238E27FC236}">
                <a16:creationId xmlns:a16="http://schemas.microsoft.com/office/drawing/2014/main" id="{5DA020E1-FB7F-4978-87AD-AB1E5CB177FC}"/>
              </a:ext>
            </a:extLst>
          </p:cNvPr>
          <p:cNvPicPr>
            <a:picLocks noGrp="1" noChangeAspect="1" noChangeArrowheads="1"/>
          </p:cNvPicPr>
          <p:nvPr>
            <p:ph sz="quarter" idx="2"/>
          </p:nvPr>
        </p:nvPicPr>
        <p:blipFill>
          <a:blip r:embed="rId3">
            <a:lum bright="-4000"/>
            <a:extLst>
              <a:ext uri="{28A0092B-C50C-407E-A947-70E740481C1C}">
                <a14:useLocalDpi xmlns:a14="http://schemas.microsoft.com/office/drawing/2010/main" val="0"/>
              </a:ext>
            </a:extLst>
          </a:blip>
          <a:srcRect/>
          <a:stretch>
            <a:fillRect/>
          </a:stretch>
        </p:blipFill>
        <p:spPr>
          <a:xfrm>
            <a:off x="2630488" y="973138"/>
            <a:ext cx="6227762" cy="461327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34854" name="Line 6">
            <a:extLst>
              <a:ext uri="{FF2B5EF4-FFF2-40B4-BE49-F238E27FC236}">
                <a16:creationId xmlns:a16="http://schemas.microsoft.com/office/drawing/2014/main" id="{AB7A42CA-3657-47AA-AA82-5A37D532757E}"/>
              </a:ext>
            </a:extLst>
          </p:cNvPr>
          <p:cNvSpPr>
            <a:spLocks noChangeShapeType="1"/>
          </p:cNvSpPr>
          <p:nvPr/>
        </p:nvSpPr>
        <p:spPr bwMode="auto">
          <a:xfrm flipV="1">
            <a:off x="5100638" y="2214563"/>
            <a:ext cx="622300" cy="160337"/>
          </a:xfrm>
          <a:prstGeom prst="line">
            <a:avLst/>
          </a:prstGeom>
          <a:noFill/>
          <a:ln w="19050">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34855" name="Freeform 7">
            <a:extLst>
              <a:ext uri="{FF2B5EF4-FFF2-40B4-BE49-F238E27FC236}">
                <a16:creationId xmlns:a16="http://schemas.microsoft.com/office/drawing/2014/main" id="{136CE34E-DAB8-44EF-A01A-E50C1EFC29F4}"/>
              </a:ext>
            </a:extLst>
          </p:cNvPr>
          <p:cNvSpPr>
            <a:spLocks/>
          </p:cNvSpPr>
          <p:nvPr/>
        </p:nvSpPr>
        <p:spPr bwMode="auto">
          <a:xfrm rot="336446">
            <a:off x="6640513" y="1965325"/>
            <a:ext cx="179387" cy="612775"/>
          </a:xfrm>
          <a:custGeom>
            <a:avLst/>
            <a:gdLst>
              <a:gd name="T0" fmla="*/ 113 w 113"/>
              <a:gd name="T1" fmla="*/ 386 h 386"/>
              <a:gd name="T2" fmla="*/ 0 w 113"/>
              <a:gd name="T3" fmla="*/ 0 h 386"/>
              <a:gd name="T4" fmla="*/ 84 w 113"/>
              <a:gd name="T5" fmla="*/ 59 h 386"/>
            </a:gdLst>
            <a:ahLst/>
            <a:cxnLst>
              <a:cxn ang="0">
                <a:pos x="T0" y="T1"/>
              </a:cxn>
              <a:cxn ang="0">
                <a:pos x="T2" y="T3"/>
              </a:cxn>
              <a:cxn ang="0">
                <a:pos x="T4" y="T5"/>
              </a:cxn>
            </a:cxnLst>
            <a:rect l="0" t="0" r="r" b="b"/>
            <a:pathLst>
              <a:path w="113" h="386">
                <a:moveTo>
                  <a:pt x="113" y="386"/>
                </a:moveTo>
                <a:lnTo>
                  <a:pt x="0" y="0"/>
                </a:lnTo>
                <a:lnTo>
                  <a:pt x="84" y="59"/>
                </a:lnTo>
              </a:path>
            </a:pathLst>
          </a:custGeom>
          <a:noFill/>
          <a:ln w="190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34858" name="Freeform 10">
            <a:extLst>
              <a:ext uri="{FF2B5EF4-FFF2-40B4-BE49-F238E27FC236}">
                <a16:creationId xmlns:a16="http://schemas.microsoft.com/office/drawing/2014/main" id="{69C07FA3-6767-4E84-B84F-DD21756E4C90}"/>
              </a:ext>
            </a:extLst>
          </p:cNvPr>
          <p:cNvSpPr>
            <a:spLocks/>
          </p:cNvSpPr>
          <p:nvPr/>
        </p:nvSpPr>
        <p:spPr bwMode="auto">
          <a:xfrm rot="-10463554">
            <a:off x="3698875" y="2295525"/>
            <a:ext cx="179388" cy="612775"/>
          </a:xfrm>
          <a:custGeom>
            <a:avLst/>
            <a:gdLst>
              <a:gd name="T0" fmla="*/ 113 w 113"/>
              <a:gd name="T1" fmla="*/ 386 h 386"/>
              <a:gd name="T2" fmla="*/ 0 w 113"/>
              <a:gd name="T3" fmla="*/ 0 h 386"/>
              <a:gd name="T4" fmla="*/ 84 w 113"/>
              <a:gd name="T5" fmla="*/ 59 h 386"/>
            </a:gdLst>
            <a:ahLst/>
            <a:cxnLst>
              <a:cxn ang="0">
                <a:pos x="T0" y="T1"/>
              </a:cxn>
              <a:cxn ang="0">
                <a:pos x="T2" y="T3"/>
              </a:cxn>
              <a:cxn ang="0">
                <a:pos x="T4" y="T5"/>
              </a:cxn>
            </a:cxnLst>
            <a:rect l="0" t="0" r="r" b="b"/>
            <a:pathLst>
              <a:path w="113" h="386">
                <a:moveTo>
                  <a:pt x="113" y="386"/>
                </a:moveTo>
                <a:lnTo>
                  <a:pt x="0" y="0"/>
                </a:lnTo>
                <a:lnTo>
                  <a:pt x="84" y="59"/>
                </a:lnTo>
              </a:path>
            </a:pathLst>
          </a:custGeom>
          <a:noFill/>
          <a:ln w="190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pic>
        <p:nvPicPr>
          <p:cNvPr id="334863" name="Picture 15">
            <a:extLst>
              <a:ext uri="{FF2B5EF4-FFF2-40B4-BE49-F238E27FC236}">
                <a16:creationId xmlns:a16="http://schemas.microsoft.com/office/drawing/2014/main" id="{20644320-7565-4B79-90FC-E39B9565284B}"/>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rot="1060134">
            <a:off x="627063" y="4154488"/>
            <a:ext cx="1122362" cy="1801812"/>
          </a:xfrm>
          <a:noFill/>
          <a:ln w="38100" cap="flat">
            <a:solidFill>
              <a:schemeClr val="bg2"/>
            </a:solidFill>
            <a:miter lim="800000"/>
            <a:headEnd/>
            <a:tailEnd/>
          </a:ln>
        </p:spPr>
      </p:pic>
      <p:sp>
        <p:nvSpPr>
          <p:cNvPr id="334865" name="Text Box 17">
            <a:extLst>
              <a:ext uri="{FF2B5EF4-FFF2-40B4-BE49-F238E27FC236}">
                <a16:creationId xmlns:a16="http://schemas.microsoft.com/office/drawing/2014/main" id="{47F20F02-E55F-4DE0-9B46-25E1D1E16FC3}"/>
              </a:ext>
            </a:extLst>
          </p:cNvPr>
          <p:cNvSpPr txBox="1">
            <a:spLocks noChangeArrowheads="1"/>
          </p:cNvSpPr>
          <p:nvPr/>
        </p:nvSpPr>
        <p:spPr bwMode="auto">
          <a:xfrm>
            <a:off x="3121025" y="5730875"/>
            <a:ext cx="5154613"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The </a:t>
            </a:r>
            <a:r>
              <a:rPr lang="en-GB" altLang="en-US" sz="1400">
                <a:solidFill>
                  <a:srgbClr val="FFFF00"/>
                </a:solidFill>
                <a:effectLst/>
                <a:latin typeface="Arial" panose="020B0604020202020204" pitchFamily="34" charset="0"/>
              </a:rPr>
              <a:t>steps in the dyke walls can be matched up across the dyke to indicate that the fracture hosting the dyke was hybrid (sinistral transtension)</a:t>
            </a:r>
            <a:r>
              <a:rPr lang="en-GB" altLang="en-US" sz="1400">
                <a:effectLst>
                  <a:outerShdw blurRad="38100" dist="38100" dir="2700000" algn="tl">
                    <a:srgbClr val="000000"/>
                  </a:outerShdw>
                </a:effectLst>
                <a:latin typeface="Arial" panose="020B0604020202020204" pitchFamily="34" charset="0"/>
              </a:rPr>
              <a:t> </a:t>
            </a:r>
          </a:p>
        </p:txBody>
      </p:sp>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74" name="Rectangle 2">
            <a:extLst>
              <a:ext uri="{FF2B5EF4-FFF2-40B4-BE49-F238E27FC236}">
                <a16:creationId xmlns:a16="http://schemas.microsoft.com/office/drawing/2014/main" id="{0198FFC4-773E-49CA-B0B6-0F07DC5FE59E}"/>
              </a:ext>
            </a:extLst>
          </p:cNvPr>
          <p:cNvSpPr>
            <a:spLocks noGrp="1" noChangeArrowheads="1"/>
          </p:cNvSpPr>
          <p:nvPr>
            <p:ph type="title"/>
          </p:nvPr>
        </p:nvSpPr>
        <p:spPr>
          <a:noFill/>
        </p:spPr>
        <p:txBody>
          <a:bodyPr/>
          <a:lstStyle/>
          <a:p>
            <a:r>
              <a:rPr lang="en-GB" altLang="en-US">
                <a:effectLst/>
              </a:rPr>
              <a:t>En échelon dykes </a:t>
            </a:r>
          </a:p>
        </p:txBody>
      </p:sp>
      <p:sp>
        <p:nvSpPr>
          <p:cNvPr id="361475" name="Rectangle 3">
            <a:extLst>
              <a:ext uri="{FF2B5EF4-FFF2-40B4-BE49-F238E27FC236}">
                <a16:creationId xmlns:a16="http://schemas.microsoft.com/office/drawing/2014/main" id="{2AFE538C-2DD2-4992-863E-157A8D9A5FD9}"/>
              </a:ext>
            </a:extLst>
          </p:cNvPr>
          <p:cNvSpPr>
            <a:spLocks noGrp="1" noChangeArrowheads="1"/>
          </p:cNvSpPr>
          <p:nvPr>
            <p:ph type="body" sz="half" idx="1"/>
          </p:nvPr>
        </p:nvSpPr>
        <p:spPr>
          <a:xfrm>
            <a:off x="104775" y="785813"/>
            <a:ext cx="8731250" cy="1468437"/>
          </a:xfrm>
          <a:noFill/>
        </p:spPr>
        <p:txBody>
          <a:bodyPr/>
          <a:lstStyle/>
          <a:p>
            <a:pPr marL="177800" indent="-177800">
              <a:spcBef>
                <a:spcPct val="75000"/>
              </a:spcBef>
            </a:pPr>
            <a:r>
              <a:rPr lang="en-GB" altLang="en-US" sz="1700">
                <a:effectLst/>
              </a:rPr>
              <a:t>Rotation of the stress field as the fracture propagates towards the surface (in a manner similar to the formation of </a:t>
            </a:r>
            <a:r>
              <a:rPr lang="en-GB" altLang="en-US" sz="1700">
                <a:solidFill>
                  <a:srgbClr val="FF66CC"/>
                </a:solidFill>
                <a:effectLst/>
              </a:rPr>
              <a:t>hackle fringes</a:t>
            </a:r>
            <a:r>
              <a:rPr lang="en-GB" altLang="en-US" sz="1700">
                <a:effectLst/>
              </a:rPr>
              <a:t>) may lead to the formation of </a:t>
            </a:r>
            <a:r>
              <a:rPr lang="en-GB" altLang="en-US" sz="1700">
                <a:solidFill>
                  <a:srgbClr val="FF6600"/>
                </a:solidFill>
                <a:effectLst/>
              </a:rPr>
              <a:t>en échelon dyke</a:t>
            </a:r>
            <a:r>
              <a:rPr lang="en-GB" altLang="en-US" sz="1700">
                <a:effectLst/>
              </a:rPr>
              <a:t> arrays. The extent to which this formation mechanism can be distinguished from genuine </a:t>
            </a:r>
            <a:r>
              <a:rPr lang="en-GB" altLang="en-US" sz="1700">
                <a:solidFill>
                  <a:srgbClr val="FF66CC"/>
                </a:solidFill>
                <a:effectLst/>
              </a:rPr>
              <a:t>transtension</a:t>
            </a:r>
            <a:r>
              <a:rPr lang="en-GB" altLang="en-US" sz="1700">
                <a:effectLst/>
              </a:rPr>
              <a:t> is not clear</a:t>
            </a:r>
          </a:p>
        </p:txBody>
      </p:sp>
      <p:pic>
        <p:nvPicPr>
          <p:cNvPr id="361476" name="Picture 4" descr="19c">
            <a:extLst>
              <a:ext uri="{FF2B5EF4-FFF2-40B4-BE49-F238E27FC236}">
                <a16:creationId xmlns:a16="http://schemas.microsoft.com/office/drawing/2014/main" id="{AFA430A7-F8D9-4232-8040-F9FCE34646FD}"/>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336550" y="2435225"/>
            <a:ext cx="3116263" cy="352107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61478" name="Picture 6" descr="19c">
            <a:extLst>
              <a:ext uri="{FF2B5EF4-FFF2-40B4-BE49-F238E27FC236}">
                <a16:creationId xmlns:a16="http://schemas.microsoft.com/office/drawing/2014/main" id="{B20A8C8B-7BD4-45E0-827D-067D6C6DD882}"/>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5853113" y="2359025"/>
            <a:ext cx="2951162" cy="2884488"/>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grpSp>
        <p:nvGrpSpPr>
          <p:cNvPr id="361483" name="Group 11">
            <a:extLst>
              <a:ext uri="{FF2B5EF4-FFF2-40B4-BE49-F238E27FC236}">
                <a16:creationId xmlns:a16="http://schemas.microsoft.com/office/drawing/2014/main" id="{37C6D978-914E-4675-921D-EED8356CB808}"/>
              </a:ext>
            </a:extLst>
          </p:cNvPr>
          <p:cNvGrpSpPr>
            <a:grpSpLocks/>
          </p:cNvGrpSpPr>
          <p:nvPr/>
        </p:nvGrpSpPr>
        <p:grpSpPr bwMode="auto">
          <a:xfrm>
            <a:off x="3781425" y="4752975"/>
            <a:ext cx="2630488" cy="1762125"/>
            <a:chOff x="2518" y="3178"/>
            <a:chExt cx="1657" cy="1110"/>
          </a:xfrm>
        </p:grpSpPr>
        <p:sp>
          <p:nvSpPr>
            <p:cNvPr id="361481" name="Rectangle 9">
              <a:extLst>
                <a:ext uri="{FF2B5EF4-FFF2-40B4-BE49-F238E27FC236}">
                  <a16:creationId xmlns:a16="http://schemas.microsoft.com/office/drawing/2014/main" id="{F46DAB9B-A06F-40DA-8FA8-FBE24881B5DB}"/>
                </a:ext>
              </a:extLst>
            </p:cNvPr>
            <p:cNvSpPr>
              <a:spLocks noChangeArrowheads="1"/>
            </p:cNvSpPr>
            <p:nvPr/>
          </p:nvSpPr>
          <p:spPr bwMode="auto">
            <a:xfrm>
              <a:off x="2518" y="3178"/>
              <a:ext cx="1657" cy="1110"/>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361482" name="Picture 2" descr="GR26.jpg">
              <a:extLst>
                <a:ext uri="{FF2B5EF4-FFF2-40B4-BE49-F238E27FC236}">
                  <a16:creationId xmlns:a16="http://schemas.microsoft.com/office/drawing/2014/main" id="{AEC5A48A-CD6E-44D2-9758-DBC8ACC7855E}"/>
                </a:ext>
              </a:extLst>
            </p:cNvPr>
            <p:cNvPicPr>
              <a:picLocks noChangeAspect="1"/>
            </p:cNvPicPr>
            <p:nvPr/>
          </p:nvPicPr>
          <p:blipFill>
            <a:blip r:embed="rId5">
              <a:extLst>
                <a:ext uri="{28A0092B-C50C-407E-A947-70E740481C1C}">
                  <a14:useLocalDpi xmlns:a14="http://schemas.microsoft.com/office/drawing/2010/main" val="0"/>
                </a:ext>
              </a:extLst>
            </a:blip>
            <a:srcRect l="7481" r="10643" b="18094"/>
            <a:stretch>
              <a:fillRect/>
            </a:stretch>
          </p:blipFill>
          <p:spPr bwMode="auto">
            <a:xfrm>
              <a:off x="2574" y="3226"/>
              <a:ext cx="1554" cy="10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
        <p:nvSpPr>
          <p:cNvPr id="361484" name="Text Box 12">
            <a:extLst>
              <a:ext uri="{FF2B5EF4-FFF2-40B4-BE49-F238E27FC236}">
                <a16:creationId xmlns:a16="http://schemas.microsoft.com/office/drawing/2014/main" id="{AFB70571-950A-4ECF-88A9-278808C5E0B6}"/>
              </a:ext>
            </a:extLst>
          </p:cNvPr>
          <p:cNvSpPr txBox="1">
            <a:spLocks noChangeArrowheads="1"/>
          </p:cNvSpPr>
          <p:nvPr/>
        </p:nvSpPr>
        <p:spPr bwMode="auto">
          <a:xfrm>
            <a:off x="3619500" y="2414588"/>
            <a:ext cx="1801813" cy="1069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En échelon dyke arrays introduce a world of new jargon (bridge, horn, </a:t>
            </a:r>
            <a:r>
              <a:rPr lang="en-GB" altLang="en-US" sz="1400" i="1">
                <a:solidFill>
                  <a:srgbClr val="FFFF00"/>
                </a:solidFill>
                <a:effectLst>
                  <a:outerShdw blurRad="38100" dist="38100" dir="2700000" algn="tl">
                    <a:srgbClr val="000000"/>
                  </a:outerShdw>
                </a:effectLst>
                <a:latin typeface="Arial" panose="020B0604020202020204" pitchFamily="34" charset="0"/>
              </a:rPr>
              <a:t>etc.</a:t>
            </a:r>
            <a:r>
              <a:rPr lang="en-GB" altLang="en-US" sz="1400">
                <a:solidFill>
                  <a:srgbClr val="FFFF00"/>
                </a:solidFill>
                <a:effectLst>
                  <a:outerShdw blurRad="38100" dist="38100" dir="2700000" algn="tl">
                    <a:srgbClr val="000000"/>
                  </a:outerShdw>
                </a:effectLst>
                <a:latin typeface="Arial" panose="020B0604020202020204" pitchFamily="34" charset="0"/>
              </a:rPr>
              <a:t>)</a:t>
            </a:r>
          </a:p>
        </p:txBody>
      </p:sp>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570" name="Rectangle 2">
            <a:extLst>
              <a:ext uri="{FF2B5EF4-FFF2-40B4-BE49-F238E27FC236}">
                <a16:creationId xmlns:a16="http://schemas.microsoft.com/office/drawing/2014/main" id="{D26C5462-9268-4D1A-A58D-7F14FBA0E625}"/>
              </a:ext>
            </a:extLst>
          </p:cNvPr>
          <p:cNvSpPr>
            <a:spLocks noGrp="1" noChangeArrowheads="1"/>
          </p:cNvSpPr>
          <p:nvPr>
            <p:ph type="title"/>
          </p:nvPr>
        </p:nvSpPr>
        <p:spPr>
          <a:noFill/>
        </p:spPr>
        <p:txBody>
          <a:bodyPr/>
          <a:lstStyle/>
          <a:p>
            <a:r>
              <a:rPr lang="en-GB" altLang="en-US">
                <a:effectLst/>
              </a:rPr>
              <a:t>En échelon dykes </a:t>
            </a:r>
          </a:p>
        </p:txBody>
      </p:sp>
      <p:sp>
        <p:nvSpPr>
          <p:cNvPr id="365571" name="Rectangle 3">
            <a:extLst>
              <a:ext uri="{FF2B5EF4-FFF2-40B4-BE49-F238E27FC236}">
                <a16:creationId xmlns:a16="http://schemas.microsoft.com/office/drawing/2014/main" id="{11170B45-5B91-4CDF-8DC9-A5C01B13F34A}"/>
              </a:ext>
            </a:extLst>
          </p:cNvPr>
          <p:cNvSpPr>
            <a:spLocks noGrp="1" noChangeArrowheads="1"/>
          </p:cNvSpPr>
          <p:nvPr>
            <p:ph type="body" sz="half" idx="1"/>
          </p:nvPr>
        </p:nvSpPr>
        <p:spPr>
          <a:xfrm>
            <a:off x="128588" y="797169"/>
            <a:ext cx="8888412" cy="1381125"/>
          </a:xfrm>
          <a:noFill/>
        </p:spPr>
        <p:txBody>
          <a:bodyPr/>
          <a:lstStyle/>
          <a:p>
            <a:pPr marL="177800" indent="-177800">
              <a:spcBef>
                <a:spcPct val="75000"/>
              </a:spcBef>
            </a:pPr>
            <a:r>
              <a:rPr lang="en-GB" altLang="en-US" sz="1700" dirty="0">
                <a:effectLst/>
              </a:rPr>
              <a:t>As the individual fractures in an </a:t>
            </a:r>
            <a:r>
              <a:rPr lang="en-GB" altLang="en-US" sz="1700" dirty="0" err="1">
                <a:effectLst/>
              </a:rPr>
              <a:t>en</a:t>
            </a:r>
            <a:r>
              <a:rPr lang="en-GB" altLang="en-US" sz="1700" dirty="0">
                <a:effectLst/>
              </a:rPr>
              <a:t> </a:t>
            </a:r>
            <a:r>
              <a:rPr lang="en-GB" altLang="en-US" sz="1700" dirty="0" err="1">
                <a:effectLst/>
              </a:rPr>
              <a:t>échelon</a:t>
            </a:r>
            <a:r>
              <a:rPr lang="en-GB" altLang="en-US" sz="1700" dirty="0">
                <a:effectLst/>
              </a:rPr>
              <a:t> array propagate and enter each other’s stress field </a:t>
            </a:r>
            <a:r>
              <a:rPr lang="en-GB" altLang="en-US" sz="1700" dirty="0">
                <a:solidFill>
                  <a:srgbClr val="FF66CC"/>
                </a:solidFill>
                <a:effectLst/>
              </a:rPr>
              <a:t>they curve</a:t>
            </a:r>
            <a:r>
              <a:rPr lang="en-GB" altLang="en-US" sz="1700" dirty="0">
                <a:effectLst/>
              </a:rPr>
              <a:t> in the manner described previously for ‘dry’ fractures. The nature of that curvature is sensitive to whether fracture propagation is controlled by the </a:t>
            </a:r>
            <a:r>
              <a:rPr lang="en-GB" altLang="en-US" sz="1700" dirty="0">
                <a:solidFill>
                  <a:srgbClr val="FF66CC"/>
                </a:solidFill>
                <a:effectLst/>
              </a:rPr>
              <a:t>remote stresses</a:t>
            </a:r>
            <a:r>
              <a:rPr lang="en-GB" altLang="en-US" sz="1700" dirty="0">
                <a:effectLst/>
              </a:rPr>
              <a:t> or by the </a:t>
            </a:r>
            <a:r>
              <a:rPr lang="en-GB" altLang="en-US" sz="1700" dirty="0">
                <a:solidFill>
                  <a:srgbClr val="FF66CC"/>
                </a:solidFill>
                <a:effectLst/>
              </a:rPr>
              <a:t>magma pressure</a:t>
            </a:r>
          </a:p>
        </p:txBody>
      </p:sp>
      <p:pic>
        <p:nvPicPr>
          <p:cNvPr id="365572" name="Picture 4">
            <a:extLst>
              <a:ext uri="{FF2B5EF4-FFF2-40B4-BE49-F238E27FC236}">
                <a16:creationId xmlns:a16="http://schemas.microsoft.com/office/drawing/2014/main" id="{C91E5D43-0F9D-4848-8A40-FEF6789679CE}"/>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244475" y="2336067"/>
            <a:ext cx="6294438" cy="3797300"/>
          </a:xfrm>
          <a:noFill/>
          <a:ln w="38100" cap="flat">
            <a:solidFill>
              <a:schemeClr val="bg2"/>
            </a:solidFill>
            <a:miter lim="800000"/>
            <a:headEnd/>
            <a:tailEnd/>
          </a:ln>
        </p:spPr>
      </p:pic>
      <p:pic>
        <p:nvPicPr>
          <p:cNvPr id="365574" name="Picture 6" descr="19d">
            <a:extLst>
              <a:ext uri="{FF2B5EF4-FFF2-40B4-BE49-F238E27FC236}">
                <a16:creationId xmlns:a16="http://schemas.microsoft.com/office/drawing/2014/main" id="{A9388EB3-1290-41CE-B0FD-9917A1AF1331}"/>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6723063" y="2873375"/>
            <a:ext cx="2211387" cy="3605213"/>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Rectangle 2">
            <a:extLst>
              <a:ext uri="{FF2B5EF4-FFF2-40B4-BE49-F238E27FC236}">
                <a16:creationId xmlns:a16="http://schemas.microsoft.com/office/drawing/2014/main" id="{17CC66EE-B896-46AB-BF30-EB71E791B221}"/>
              </a:ext>
            </a:extLst>
          </p:cNvPr>
          <p:cNvSpPr>
            <a:spLocks noGrp="1" noChangeArrowheads="1"/>
          </p:cNvSpPr>
          <p:nvPr>
            <p:ph type="title"/>
          </p:nvPr>
        </p:nvSpPr>
        <p:spPr>
          <a:noFill/>
        </p:spPr>
        <p:txBody>
          <a:bodyPr/>
          <a:lstStyle/>
          <a:p>
            <a:r>
              <a:rPr lang="en-GB" altLang="en-US">
                <a:effectLst/>
              </a:rPr>
              <a:t>En échelon dykes </a:t>
            </a:r>
          </a:p>
        </p:txBody>
      </p:sp>
      <p:sp>
        <p:nvSpPr>
          <p:cNvPr id="367619" name="Rectangle 3">
            <a:extLst>
              <a:ext uri="{FF2B5EF4-FFF2-40B4-BE49-F238E27FC236}">
                <a16:creationId xmlns:a16="http://schemas.microsoft.com/office/drawing/2014/main" id="{0EF973B1-7983-4A72-8050-1D93A292A1AE}"/>
              </a:ext>
            </a:extLst>
          </p:cNvPr>
          <p:cNvSpPr>
            <a:spLocks noGrp="1" noChangeArrowheads="1"/>
          </p:cNvSpPr>
          <p:nvPr>
            <p:ph type="body" sz="half" idx="1"/>
          </p:nvPr>
        </p:nvSpPr>
        <p:spPr>
          <a:xfrm>
            <a:off x="119063" y="895350"/>
            <a:ext cx="8829675" cy="812800"/>
          </a:xfrm>
          <a:noFill/>
        </p:spPr>
        <p:txBody>
          <a:bodyPr/>
          <a:lstStyle/>
          <a:p>
            <a:pPr marL="177800" indent="-177800">
              <a:spcBef>
                <a:spcPct val="75000"/>
              </a:spcBef>
            </a:pPr>
            <a:r>
              <a:rPr lang="en-GB" altLang="en-US" sz="1700">
                <a:effectLst/>
              </a:rPr>
              <a:t>This en échelon pair of dykes have exploited a </a:t>
            </a:r>
            <a:r>
              <a:rPr lang="en-GB" altLang="en-US" sz="1700">
                <a:solidFill>
                  <a:srgbClr val="FF66CC"/>
                </a:solidFill>
                <a:effectLst/>
              </a:rPr>
              <a:t>cross-joint</a:t>
            </a:r>
            <a:r>
              <a:rPr lang="en-GB" altLang="en-US" sz="1700">
                <a:effectLst/>
              </a:rPr>
              <a:t> to join up (note the flow banding in the dyke); fracture propagation was probably controlled by </a:t>
            </a:r>
            <a:r>
              <a:rPr lang="en-GB" altLang="en-US" sz="1700">
                <a:solidFill>
                  <a:srgbClr val="FF66CC"/>
                </a:solidFill>
                <a:effectLst/>
              </a:rPr>
              <a:t>remote stresses</a:t>
            </a:r>
          </a:p>
        </p:txBody>
      </p:sp>
      <p:pic>
        <p:nvPicPr>
          <p:cNvPr id="367624" name="Picture 8" descr="17b3-GlenCoe">
            <a:extLst>
              <a:ext uri="{FF2B5EF4-FFF2-40B4-BE49-F238E27FC236}">
                <a16:creationId xmlns:a16="http://schemas.microsoft.com/office/drawing/2014/main" id="{833E1CFC-22C2-4000-B7D6-779838FC82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300" y="1789113"/>
            <a:ext cx="8666163" cy="4833937"/>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2EFD52E3-98A2-4B3C-AB33-54E96932BC33}"/>
              </a:ext>
            </a:extLst>
          </p:cNvPr>
          <p:cNvSpPr>
            <a:spLocks noGrp="1" noChangeArrowheads="1"/>
          </p:cNvSpPr>
          <p:nvPr>
            <p:ph type="ctrTitle" idx="4294967295"/>
          </p:nvPr>
        </p:nvSpPr>
        <p:spPr bwMode="black">
          <a:xfrm>
            <a:off x="125413" y="1595438"/>
            <a:ext cx="8909050" cy="1955800"/>
          </a:xfrm>
          <a:effectLst>
            <a:outerShdw dist="35921" dir="2700000" algn="ctr" rotWithShape="0">
              <a:schemeClr val="bg2"/>
            </a:outerShdw>
          </a:effectLst>
          <a:extLst>
            <a:ext uri="{909E8E84-426E-40DD-AFC4-6F175D3DCCD1}">
              <a14:hiddenFill xmlns:a14="http://schemas.microsoft.com/office/drawing/2010/main">
                <a:solidFill>
                  <a:schemeClr val="bg1"/>
                </a:solidFill>
              </a14:hiddenFill>
            </a:ext>
          </a:extLst>
        </p:spPr>
        <p:txBody>
          <a:bodyPr anchor="ctr">
            <a:spAutoFit/>
          </a:bodyPr>
          <a:lstStyle/>
          <a:p>
            <a:pPr algn="ctr">
              <a:lnSpc>
                <a:spcPct val="120000"/>
              </a:lnSpc>
            </a:pPr>
            <a:br>
              <a:rPr lang="en-US" altLang="en-US" sz="3500"/>
            </a:br>
            <a:br>
              <a:rPr lang="en-US" altLang="en-US" sz="3500"/>
            </a:br>
            <a:r>
              <a:rPr lang="en-US" altLang="en-US" sz="3200">
                <a:solidFill>
                  <a:srgbClr val="FF6600"/>
                </a:solidFill>
              </a:rPr>
              <a:t>Polygonal fractures</a:t>
            </a:r>
            <a:endParaRPr lang="en-US" altLang="en-US">
              <a:solidFill>
                <a:srgbClr val="FF6600"/>
              </a:solidFill>
            </a:endParaRPr>
          </a:p>
        </p:txBody>
      </p:sp>
    </p:spTree>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2">
            <a:extLst>
              <a:ext uri="{FF2B5EF4-FFF2-40B4-BE49-F238E27FC236}">
                <a16:creationId xmlns:a16="http://schemas.microsoft.com/office/drawing/2014/main" id="{ED8E3690-D5D4-4679-8981-3A752F0D2CFA}"/>
              </a:ext>
            </a:extLst>
          </p:cNvPr>
          <p:cNvSpPr>
            <a:spLocks noGrp="1" noChangeArrowheads="1"/>
          </p:cNvSpPr>
          <p:nvPr>
            <p:ph type="title"/>
          </p:nvPr>
        </p:nvSpPr>
        <p:spPr>
          <a:noFill/>
        </p:spPr>
        <p:txBody>
          <a:bodyPr/>
          <a:lstStyle/>
          <a:p>
            <a:r>
              <a:rPr lang="en-GB" altLang="en-US">
                <a:effectLst/>
              </a:rPr>
              <a:t>Polygonal fracture networks </a:t>
            </a:r>
          </a:p>
        </p:txBody>
      </p:sp>
      <p:sp>
        <p:nvSpPr>
          <p:cNvPr id="262147" name="Rectangle 3">
            <a:extLst>
              <a:ext uri="{FF2B5EF4-FFF2-40B4-BE49-F238E27FC236}">
                <a16:creationId xmlns:a16="http://schemas.microsoft.com/office/drawing/2014/main" id="{3BF83347-8841-4C1F-8AD7-02EFCDB3D4B5}"/>
              </a:ext>
            </a:extLst>
          </p:cNvPr>
          <p:cNvSpPr>
            <a:spLocks noGrp="1" noChangeArrowheads="1"/>
          </p:cNvSpPr>
          <p:nvPr>
            <p:ph type="body" sz="half" idx="1"/>
          </p:nvPr>
        </p:nvSpPr>
        <p:spPr>
          <a:xfrm>
            <a:off x="203200" y="3900488"/>
            <a:ext cx="4264025" cy="1390650"/>
          </a:xfrm>
          <a:noFill/>
        </p:spPr>
        <p:txBody>
          <a:bodyPr/>
          <a:lstStyle/>
          <a:p>
            <a:pPr marL="177800" indent="-177800">
              <a:spcBef>
                <a:spcPct val="75000"/>
              </a:spcBef>
            </a:pPr>
            <a:r>
              <a:rPr lang="en-GB" altLang="en-US" sz="1700">
                <a:solidFill>
                  <a:srgbClr val="FF6600"/>
                </a:solidFill>
                <a:effectLst/>
              </a:rPr>
              <a:t>Contraction due to cooling or to dessication</a:t>
            </a:r>
            <a:r>
              <a:rPr lang="en-GB" altLang="en-US" sz="1700">
                <a:effectLst/>
              </a:rPr>
              <a:t> leads to the formation of networks of </a:t>
            </a:r>
            <a:r>
              <a:rPr lang="en-GB" altLang="en-US" sz="1700">
                <a:solidFill>
                  <a:srgbClr val="FF66CC"/>
                </a:solidFill>
                <a:effectLst/>
              </a:rPr>
              <a:t>orthogonal</a:t>
            </a:r>
            <a:r>
              <a:rPr lang="en-GB" altLang="en-US" sz="1700">
                <a:effectLst/>
              </a:rPr>
              <a:t> (top left) or </a:t>
            </a:r>
            <a:r>
              <a:rPr lang="en-GB" altLang="en-US" sz="1700">
                <a:solidFill>
                  <a:srgbClr val="FF66CC"/>
                </a:solidFill>
                <a:effectLst/>
              </a:rPr>
              <a:t>polygonal</a:t>
            </a:r>
            <a:r>
              <a:rPr lang="en-GB" altLang="en-US" sz="1700">
                <a:effectLst/>
              </a:rPr>
              <a:t> (top right) fractures</a:t>
            </a:r>
          </a:p>
        </p:txBody>
      </p:sp>
      <p:pic>
        <p:nvPicPr>
          <p:cNvPr id="262162" name="Picture 18" descr="mud2">
            <a:extLst>
              <a:ext uri="{FF2B5EF4-FFF2-40B4-BE49-F238E27FC236}">
                <a16:creationId xmlns:a16="http://schemas.microsoft.com/office/drawing/2014/main" id="{A78E9EA0-E799-4ACF-B250-F1E2D8419F1C}"/>
              </a:ext>
            </a:extLst>
          </p:cNvPr>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622300" y="917575"/>
            <a:ext cx="4130675" cy="2789238"/>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62165" name="Picture 21" descr="21a2-FingalsCave">
            <a:extLst>
              <a:ext uri="{FF2B5EF4-FFF2-40B4-BE49-F238E27FC236}">
                <a16:creationId xmlns:a16="http://schemas.microsoft.com/office/drawing/2014/main" id="{C9D1474D-DFE5-40AD-8A96-97CCD0911715}"/>
              </a:ext>
            </a:extLst>
          </p:cNvPr>
          <p:cNvPicPr>
            <a:picLocks noGrp="1" noChangeAspect="1" noChangeArrowheads="1"/>
          </p:cNvPicPr>
          <p:nvPr>
            <p:ph sz="quarter" idx="2"/>
          </p:nvPr>
        </p:nvPicPr>
        <p:blipFill>
          <a:blip r:embed="rId4">
            <a:extLst>
              <a:ext uri="{28A0092B-C50C-407E-A947-70E740481C1C}">
                <a14:useLocalDpi xmlns:a14="http://schemas.microsoft.com/office/drawing/2010/main" val="0"/>
              </a:ext>
            </a:extLst>
          </a:blip>
          <a:srcRect/>
          <a:stretch>
            <a:fillRect/>
          </a:stretch>
        </p:blipFill>
        <p:spPr>
          <a:xfrm>
            <a:off x="5008563" y="917575"/>
            <a:ext cx="3492500" cy="278765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62167" name="Picture 23" descr="mud4">
            <a:extLst>
              <a:ext uri="{FF2B5EF4-FFF2-40B4-BE49-F238E27FC236}">
                <a16:creationId xmlns:a16="http://schemas.microsoft.com/office/drawing/2014/main" id="{9BFF7F0E-CF1D-4228-816F-8D79DF120F7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05350" y="4064000"/>
            <a:ext cx="4191000" cy="2592388"/>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62168" name="Text Box 24">
            <a:extLst>
              <a:ext uri="{FF2B5EF4-FFF2-40B4-BE49-F238E27FC236}">
                <a16:creationId xmlns:a16="http://schemas.microsoft.com/office/drawing/2014/main" id="{60E7A680-FE7F-4962-9C5D-2407CF4AB342}"/>
              </a:ext>
            </a:extLst>
          </p:cNvPr>
          <p:cNvSpPr txBox="1">
            <a:spLocks noChangeArrowheads="1"/>
          </p:cNvSpPr>
          <p:nvPr/>
        </p:nvSpPr>
        <p:spPr bwMode="auto">
          <a:xfrm>
            <a:off x="165100" y="5535613"/>
            <a:ext cx="4443413" cy="1083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spcBef>
                <a:spcPct val="50000"/>
              </a:spcBef>
            </a:pPr>
            <a:r>
              <a:rPr lang="en-GB" altLang="en-US" sz="1400" dirty="0">
                <a:solidFill>
                  <a:srgbClr val="FFFF00"/>
                </a:solidFill>
                <a:effectLst>
                  <a:outerShdw blurRad="38100" dist="38100" dir="2700000" algn="tl">
                    <a:srgbClr val="000000"/>
                  </a:outerShdw>
                </a:effectLst>
                <a:latin typeface="Arial" panose="020B0604020202020204" pitchFamily="34" charset="0"/>
              </a:rPr>
              <a:t>Patterned ground on Mars: the larger orthogonal array is interpreted as </a:t>
            </a:r>
            <a:r>
              <a:rPr lang="en-GB" altLang="en-US" sz="1400" dirty="0" err="1">
                <a:solidFill>
                  <a:srgbClr val="FFFF00"/>
                </a:solidFill>
                <a:effectLst>
                  <a:outerShdw blurRad="38100" dist="38100" dir="2700000" algn="tl">
                    <a:srgbClr val="000000"/>
                  </a:outerShdw>
                </a:effectLst>
                <a:latin typeface="Arial" panose="020B0604020202020204" pitchFamily="34" charset="0"/>
              </a:rPr>
              <a:t>dessication</a:t>
            </a:r>
            <a:r>
              <a:rPr lang="en-GB" altLang="en-US" sz="1400" dirty="0">
                <a:solidFill>
                  <a:srgbClr val="FFFF00"/>
                </a:solidFill>
                <a:effectLst>
                  <a:outerShdw blurRad="38100" dist="38100" dir="2700000" algn="tl">
                    <a:srgbClr val="000000"/>
                  </a:outerShdw>
                </a:effectLst>
                <a:latin typeface="Arial" panose="020B0604020202020204" pitchFamily="34" charset="0"/>
              </a:rPr>
              <a:t> cracks formed during the drying of a lake; the smaller scale polygonal network as due to cyclic thermal expansio</a:t>
            </a:r>
            <a:r>
              <a:rPr lang="en-GB" altLang="en-US" sz="1400" spc="150" dirty="0">
                <a:solidFill>
                  <a:srgbClr val="FFFF00"/>
                </a:solidFill>
                <a:effectLst>
                  <a:outerShdw blurRad="38100" dist="38100" dir="2700000" algn="tl">
                    <a:srgbClr val="000000"/>
                  </a:outerShdw>
                </a:effectLst>
                <a:latin typeface="Arial" panose="020B0604020202020204" pitchFamily="34" charset="0"/>
              </a:rPr>
              <a:t>n-</a:t>
            </a:r>
            <a:r>
              <a:rPr lang="en-GB" altLang="en-US" sz="1400" dirty="0">
                <a:solidFill>
                  <a:srgbClr val="FFFF00"/>
                </a:solidFill>
                <a:effectLst>
                  <a:outerShdw blurRad="38100" dist="38100" dir="2700000" algn="tl">
                    <a:srgbClr val="000000"/>
                  </a:outerShdw>
                </a:effectLst>
                <a:latin typeface="Arial" panose="020B0604020202020204" pitchFamily="34" charset="0"/>
              </a:rPr>
              <a:t>contraction</a:t>
            </a:r>
          </a:p>
        </p:txBody>
      </p:sp>
    </p:spTree>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4" name="Rectangle 2">
            <a:extLst>
              <a:ext uri="{FF2B5EF4-FFF2-40B4-BE49-F238E27FC236}">
                <a16:creationId xmlns:a16="http://schemas.microsoft.com/office/drawing/2014/main" id="{290914FE-AE0A-498D-A6AF-E39ED386E9AE}"/>
              </a:ext>
            </a:extLst>
          </p:cNvPr>
          <p:cNvSpPr>
            <a:spLocks noGrp="1" noChangeArrowheads="1"/>
          </p:cNvSpPr>
          <p:nvPr>
            <p:ph type="title"/>
          </p:nvPr>
        </p:nvSpPr>
        <p:spPr>
          <a:noFill/>
        </p:spPr>
        <p:txBody>
          <a:bodyPr/>
          <a:lstStyle/>
          <a:p>
            <a:r>
              <a:rPr lang="en-GB" altLang="en-US">
                <a:effectLst/>
              </a:rPr>
              <a:t>Evolution of polygonal fractures </a:t>
            </a:r>
          </a:p>
        </p:txBody>
      </p:sp>
      <p:sp>
        <p:nvSpPr>
          <p:cNvPr id="392195" name="Rectangle 3">
            <a:extLst>
              <a:ext uri="{FF2B5EF4-FFF2-40B4-BE49-F238E27FC236}">
                <a16:creationId xmlns:a16="http://schemas.microsoft.com/office/drawing/2014/main" id="{2698A53C-A1E1-4B60-8B7C-63F435F215E7}"/>
              </a:ext>
            </a:extLst>
          </p:cNvPr>
          <p:cNvSpPr>
            <a:spLocks noGrp="1" noChangeArrowheads="1"/>
          </p:cNvSpPr>
          <p:nvPr>
            <p:ph type="body" sz="half" idx="1"/>
          </p:nvPr>
        </p:nvSpPr>
        <p:spPr>
          <a:xfrm>
            <a:off x="130175" y="4227513"/>
            <a:ext cx="5516563" cy="2401887"/>
          </a:xfrm>
          <a:noFill/>
        </p:spPr>
        <p:txBody>
          <a:bodyPr/>
          <a:lstStyle/>
          <a:p>
            <a:pPr marL="177800" indent="-177800">
              <a:spcBef>
                <a:spcPct val="75000"/>
              </a:spcBef>
            </a:pPr>
            <a:r>
              <a:rPr lang="en-GB" altLang="en-US" sz="1700" dirty="0">
                <a:effectLst/>
              </a:rPr>
              <a:t>The cracks </a:t>
            </a:r>
            <a:r>
              <a:rPr lang="en-GB" altLang="en-US" sz="1700" dirty="0">
                <a:solidFill>
                  <a:srgbClr val="FF66CC"/>
                </a:solidFill>
                <a:effectLst/>
              </a:rPr>
              <a:t>nucleate at flaws</a:t>
            </a:r>
            <a:r>
              <a:rPr lang="en-GB" altLang="en-US" sz="1700" dirty="0">
                <a:effectLst/>
              </a:rPr>
              <a:t>; as they propagate towards earlier formed cracks, they </a:t>
            </a:r>
            <a:r>
              <a:rPr lang="en-GB" altLang="en-US" sz="1700" dirty="0">
                <a:solidFill>
                  <a:srgbClr val="FF66CC"/>
                </a:solidFill>
                <a:effectLst/>
              </a:rPr>
              <a:t>curve to meet them orthogonally</a:t>
            </a:r>
            <a:r>
              <a:rPr lang="en-GB" altLang="en-US" sz="1700" dirty="0">
                <a:effectLst/>
              </a:rPr>
              <a:t> (the minimum principal stress is parallel to the free surface of the earlier crack)</a:t>
            </a:r>
          </a:p>
          <a:p>
            <a:pPr marL="177800" indent="-177800">
              <a:spcBef>
                <a:spcPct val="50000"/>
              </a:spcBef>
            </a:pPr>
            <a:r>
              <a:rPr lang="en-GB" altLang="en-US" sz="1700" dirty="0">
                <a:effectLst/>
              </a:rPr>
              <a:t>In repeated openin</a:t>
            </a:r>
            <a:r>
              <a:rPr lang="en-GB" altLang="en-US" sz="1700" spc="300" dirty="0">
                <a:effectLst/>
              </a:rPr>
              <a:t>g/</a:t>
            </a:r>
            <a:r>
              <a:rPr lang="en-GB" altLang="en-US" sz="1700" dirty="0">
                <a:effectLst/>
              </a:rPr>
              <a:t>closing cycles, previously open cracks define lines of weakness that lead to an </a:t>
            </a:r>
            <a:r>
              <a:rPr lang="en-GB" altLang="en-US" sz="1700" dirty="0">
                <a:solidFill>
                  <a:srgbClr val="FF66CC"/>
                </a:solidFill>
                <a:effectLst/>
              </a:rPr>
              <a:t>adjustment of the crack network</a:t>
            </a:r>
            <a:r>
              <a:rPr lang="en-GB" altLang="en-US" sz="1700" dirty="0">
                <a:effectLst/>
              </a:rPr>
              <a:t> to a polygonal shape</a:t>
            </a:r>
          </a:p>
        </p:txBody>
      </p:sp>
      <p:pic>
        <p:nvPicPr>
          <p:cNvPr id="392201" name="Picture 9" descr="21c">
            <a:extLst>
              <a:ext uri="{FF2B5EF4-FFF2-40B4-BE49-F238E27FC236}">
                <a16:creationId xmlns:a16="http://schemas.microsoft.com/office/drawing/2014/main" id="{C2613324-88BD-4922-973A-E9897717D60D}"/>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5813425" y="4383088"/>
            <a:ext cx="3197225" cy="2132012"/>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92205" name="Picture 13" descr="21d">
            <a:extLst>
              <a:ext uri="{FF2B5EF4-FFF2-40B4-BE49-F238E27FC236}">
                <a16:creationId xmlns:a16="http://schemas.microsoft.com/office/drawing/2014/main" id="{B1CF6D8D-6CEC-464C-ACBE-A29EA1AF6B96}"/>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4056063" y="882650"/>
            <a:ext cx="4868862" cy="320357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92207" name="Picture 15" descr="21d2">
            <a:extLst>
              <a:ext uri="{FF2B5EF4-FFF2-40B4-BE49-F238E27FC236}">
                <a16:creationId xmlns:a16="http://schemas.microsoft.com/office/drawing/2014/main" id="{1D298C6E-0E3E-4DE5-AD6B-AAD05238D6F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6063" y="896938"/>
            <a:ext cx="3562350" cy="319246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2">
            <a:extLst>
              <a:ext uri="{FF2B5EF4-FFF2-40B4-BE49-F238E27FC236}">
                <a16:creationId xmlns:a16="http://schemas.microsoft.com/office/drawing/2014/main" id="{427D4994-5FD9-4964-86FB-47116B167DD6}"/>
              </a:ext>
            </a:extLst>
          </p:cNvPr>
          <p:cNvSpPr>
            <a:spLocks noGrp="1" noChangeArrowheads="1"/>
          </p:cNvSpPr>
          <p:nvPr>
            <p:ph type="title"/>
          </p:nvPr>
        </p:nvSpPr>
        <p:spPr>
          <a:noFill/>
        </p:spPr>
        <p:txBody>
          <a:bodyPr/>
          <a:lstStyle/>
          <a:p>
            <a:r>
              <a:rPr lang="en-GB" altLang="en-US">
                <a:effectLst/>
              </a:rPr>
              <a:t>Columnar jointing </a:t>
            </a:r>
          </a:p>
        </p:txBody>
      </p:sp>
      <p:sp>
        <p:nvSpPr>
          <p:cNvPr id="390147" name="Rectangle 3">
            <a:extLst>
              <a:ext uri="{FF2B5EF4-FFF2-40B4-BE49-F238E27FC236}">
                <a16:creationId xmlns:a16="http://schemas.microsoft.com/office/drawing/2014/main" id="{93F48903-F27F-4581-BD9B-BC54DD278268}"/>
              </a:ext>
            </a:extLst>
          </p:cNvPr>
          <p:cNvSpPr>
            <a:spLocks noGrp="1" noChangeArrowheads="1"/>
          </p:cNvSpPr>
          <p:nvPr>
            <p:ph type="body" sz="half" idx="1"/>
          </p:nvPr>
        </p:nvSpPr>
        <p:spPr>
          <a:xfrm>
            <a:off x="85725" y="765175"/>
            <a:ext cx="4217988" cy="3689350"/>
          </a:xfrm>
          <a:noFill/>
        </p:spPr>
        <p:txBody>
          <a:bodyPr/>
          <a:lstStyle/>
          <a:p>
            <a:pPr marL="177800" indent="-177800">
              <a:spcBef>
                <a:spcPct val="50000"/>
              </a:spcBef>
            </a:pPr>
            <a:r>
              <a:rPr lang="en-GB" altLang="en-US" sz="1700">
                <a:effectLst/>
              </a:rPr>
              <a:t>For </a:t>
            </a:r>
            <a:r>
              <a:rPr lang="en-GB" altLang="en-US" sz="1700">
                <a:solidFill>
                  <a:srgbClr val="FF6600"/>
                </a:solidFill>
                <a:effectLst/>
              </a:rPr>
              <a:t>homogeneous media containing few flaws</a:t>
            </a:r>
            <a:r>
              <a:rPr lang="en-GB" altLang="en-US" sz="1700">
                <a:effectLst/>
              </a:rPr>
              <a:t> (</a:t>
            </a:r>
            <a:r>
              <a:rPr lang="en-GB" altLang="en-US" sz="1700" i="1">
                <a:effectLst/>
              </a:rPr>
              <a:t>e.g.</a:t>
            </a:r>
            <a:r>
              <a:rPr lang="en-GB" altLang="en-US" sz="1700">
                <a:effectLst/>
              </a:rPr>
              <a:t>, crystallizing melts), rapid nucleation and propagation of multiple cracks from a few points of initiation </a:t>
            </a:r>
            <a:r>
              <a:rPr lang="en-GB" altLang="en-US" sz="1700">
                <a:effectLst/>
                <a:cs typeface="Arial" panose="020B0604020202020204" pitchFamily="34" charset="0"/>
              </a:rPr>
              <a:t>→</a:t>
            </a:r>
            <a:r>
              <a:rPr lang="en-GB" altLang="en-US" sz="1700">
                <a:effectLst/>
              </a:rPr>
              <a:t> </a:t>
            </a:r>
            <a:r>
              <a:rPr lang="en-GB" altLang="en-US" sz="1700">
                <a:solidFill>
                  <a:srgbClr val="FF66CC"/>
                </a:solidFill>
                <a:effectLst/>
              </a:rPr>
              <a:t>polygonal</a:t>
            </a:r>
            <a:r>
              <a:rPr lang="en-GB" altLang="en-US" sz="1700">
                <a:effectLst/>
              </a:rPr>
              <a:t> fracture patterns – this is the geometry that releases maximum strain energy per unit crack area</a:t>
            </a:r>
          </a:p>
          <a:p>
            <a:pPr marL="177800" indent="-177800">
              <a:spcBef>
                <a:spcPct val="50000"/>
              </a:spcBef>
            </a:pPr>
            <a:r>
              <a:rPr lang="en-GB" altLang="en-US" sz="1700">
                <a:effectLst/>
              </a:rPr>
              <a:t>These extension fractures (</a:t>
            </a:r>
            <a:r>
              <a:rPr lang="en-GB" altLang="en-US" sz="1700">
                <a:solidFill>
                  <a:srgbClr val="FF6600"/>
                </a:solidFill>
                <a:effectLst/>
              </a:rPr>
              <a:t>columnar joints</a:t>
            </a:r>
            <a:r>
              <a:rPr lang="en-GB" altLang="en-US" sz="1700">
                <a:effectLst/>
              </a:rPr>
              <a:t>) form </a:t>
            </a:r>
            <a:r>
              <a:rPr lang="en-GB" altLang="en-US" sz="1700">
                <a:solidFill>
                  <a:srgbClr val="FF66CC"/>
                </a:solidFill>
                <a:effectLst/>
              </a:rPr>
              <a:t>perpendicular to surfaces of equal temperature</a:t>
            </a:r>
            <a:r>
              <a:rPr lang="en-GB" altLang="en-US" sz="1700">
                <a:effectLst/>
              </a:rPr>
              <a:t> (often perpendicular to the interface with the country rock)</a:t>
            </a:r>
          </a:p>
        </p:txBody>
      </p:sp>
      <p:pic>
        <p:nvPicPr>
          <p:cNvPr id="390151" name="Picture 7" descr="18c1a">
            <a:extLst>
              <a:ext uri="{FF2B5EF4-FFF2-40B4-BE49-F238E27FC236}">
                <a16:creationId xmlns:a16="http://schemas.microsoft.com/office/drawing/2014/main" id="{0F8A2813-0F53-4A57-8F9B-2A41F7AE8C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4657"/>
          <a:stretch>
            <a:fillRect/>
          </a:stretch>
        </p:blipFill>
        <p:spPr bwMode="auto">
          <a:xfrm>
            <a:off x="574675" y="4575175"/>
            <a:ext cx="3294063" cy="2112963"/>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390152" name="Picture 8" descr="18c2a-Staffa">
            <a:extLst>
              <a:ext uri="{FF2B5EF4-FFF2-40B4-BE49-F238E27FC236}">
                <a16:creationId xmlns:a16="http://schemas.microsoft.com/office/drawing/2014/main" id="{C9669071-BF41-4D95-B4D3-9A7AE5CD8C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60875" y="909638"/>
            <a:ext cx="4503738" cy="2884487"/>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390156" name="Picture 12" descr="18c3-Staffa">
            <a:extLst>
              <a:ext uri="{FF2B5EF4-FFF2-40B4-BE49-F238E27FC236}">
                <a16:creationId xmlns:a16="http://schemas.microsoft.com/office/drawing/2014/main" id="{120FD779-BE75-419E-931F-C3BBA8C168E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57700" y="4013200"/>
            <a:ext cx="4510088" cy="2678113"/>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a:extLst>
              <a:ext uri="{FF2B5EF4-FFF2-40B4-BE49-F238E27FC236}">
                <a16:creationId xmlns:a16="http://schemas.microsoft.com/office/drawing/2014/main" id="{C5D7A6EE-081D-46C9-BE3E-F4B6AAEDA82D}"/>
              </a:ext>
            </a:extLst>
          </p:cNvPr>
          <p:cNvSpPr>
            <a:spLocks noGrp="1" noChangeArrowheads="1"/>
          </p:cNvSpPr>
          <p:nvPr>
            <p:ph type="title"/>
          </p:nvPr>
        </p:nvSpPr>
        <p:spPr>
          <a:noFill/>
        </p:spPr>
        <p:txBody>
          <a:bodyPr/>
          <a:lstStyle/>
          <a:p>
            <a:r>
              <a:rPr lang="en-GB" altLang="en-US">
                <a:effectLst/>
              </a:rPr>
              <a:t>Reading</a:t>
            </a:r>
          </a:p>
        </p:txBody>
      </p:sp>
      <p:sp>
        <p:nvSpPr>
          <p:cNvPr id="215043" name="Rectangle 3">
            <a:extLst>
              <a:ext uri="{FF2B5EF4-FFF2-40B4-BE49-F238E27FC236}">
                <a16:creationId xmlns:a16="http://schemas.microsoft.com/office/drawing/2014/main" id="{2701A779-9460-4C01-B2CF-550E348A6AEE}"/>
              </a:ext>
            </a:extLst>
          </p:cNvPr>
          <p:cNvSpPr>
            <a:spLocks noGrp="1" noChangeArrowheads="1"/>
          </p:cNvSpPr>
          <p:nvPr>
            <p:ph type="body" sz="half" idx="1"/>
          </p:nvPr>
        </p:nvSpPr>
        <p:spPr>
          <a:xfrm>
            <a:off x="133350" y="833438"/>
            <a:ext cx="8721725" cy="5791200"/>
          </a:xfrm>
          <a:noFill/>
        </p:spPr>
        <p:txBody>
          <a:bodyPr/>
          <a:lstStyle/>
          <a:p>
            <a:pPr marL="177800" indent="-177800"/>
            <a:r>
              <a:rPr lang="en-GB" altLang="en-US" sz="1400">
                <a:effectLst/>
              </a:rPr>
              <a:t>Fossen H (2016) </a:t>
            </a:r>
            <a:r>
              <a:rPr lang="en-GB" altLang="en-US" sz="1400" i="1">
                <a:effectLst/>
              </a:rPr>
              <a:t>Structural Geology </a:t>
            </a:r>
            <a:r>
              <a:rPr lang="en-GB" altLang="en-US" sz="1400">
                <a:effectLst/>
              </a:rPr>
              <a:t>(2</a:t>
            </a:r>
            <a:r>
              <a:rPr lang="en-GB" altLang="en-US" sz="1400" baseline="30000">
                <a:effectLst/>
              </a:rPr>
              <a:t>nd</a:t>
            </a:r>
            <a:r>
              <a:rPr lang="en-GB" altLang="en-US" sz="1400">
                <a:effectLst/>
              </a:rPr>
              <a:t> edition).</a:t>
            </a:r>
            <a:r>
              <a:rPr lang="en-GB" altLang="en-US" sz="1400" i="1">
                <a:effectLst/>
              </a:rPr>
              <a:t> </a:t>
            </a:r>
            <a:r>
              <a:rPr lang="en-GB" altLang="en-US" sz="1400">
                <a:effectLst/>
              </a:rPr>
              <a:t>Cambridge University Press. </a:t>
            </a:r>
            <a:r>
              <a:rPr lang="en-GB" altLang="en-US" sz="1400">
                <a:solidFill>
                  <a:srgbClr val="FF66CC"/>
                </a:solidFill>
                <a:effectLst/>
              </a:rPr>
              <a:t>[Chapters 7, 8]</a:t>
            </a:r>
          </a:p>
          <a:p>
            <a:pPr marL="177800" indent="-177800"/>
            <a:r>
              <a:rPr lang="en-GB" altLang="en-US" sz="1400">
                <a:effectLst/>
              </a:rPr>
              <a:t>Twiss RJ, Moores EM (2007) </a:t>
            </a:r>
            <a:r>
              <a:rPr lang="en-GB" altLang="en-US" sz="1400" i="1">
                <a:effectLst/>
              </a:rPr>
              <a:t>Structural Geology</a:t>
            </a:r>
            <a:r>
              <a:rPr lang="en-GB" altLang="en-US" sz="1400">
                <a:effectLst/>
              </a:rPr>
              <a:t> (2</a:t>
            </a:r>
            <a:r>
              <a:rPr lang="en-GB" altLang="en-US" sz="1400" baseline="30000">
                <a:effectLst/>
              </a:rPr>
              <a:t>nd</a:t>
            </a:r>
            <a:r>
              <a:rPr lang="en-GB" altLang="en-US" sz="1400">
                <a:effectLst/>
              </a:rPr>
              <a:t> edition). WH Freeman and Co. </a:t>
            </a:r>
            <a:r>
              <a:rPr lang="en-GB" altLang="en-US" sz="1400">
                <a:solidFill>
                  <a:srgbClr val="FF66CC"/>
                </a:solidFill>
                <a:effectLst/>
              </a:rPr>
              <a:t>[Chapters 2, 9] </a:t>
            </a:r>
          </a:p>
          <a:p>
            <a:pPr marL="177800" indent="-177800"/>
            <a:r>
              <a:rPr lang="en-GB" altLang="en-US" sz="1400">
                <a:effectLst/>
              </a:rPr>
              <a:t>Price NJ, Cosgrove JW (1990) </a:t>
            </a:r>
            <a:r>
              <a:rPr lang="en-GB" altLang="en-US" sz="1400" i="1">
                <a:effectLst/>
              </a:rPr>
              <a:t>Analysis of Geological Structures.</a:t>
            </a:r>
            <a:r>
              <a:rPr lang="en-GB" altLang="en-US" sz="1400">
                <a:effectLst/>
              </a:rPr>
              <a:t> Cambridge University Press. </a:t>
            </a:r>
            <a:r>
              <a:rPr lang="en-GB" altLang="en-US" sz="1400">
                <a:solidFill>
                  <a:srgbClr val="FF66CC"/>
                </a:solidFill>
                <a:effectLst/>
              </a:rPr>
              <a:t>[Chapters 3, 4, 9]</a:t>
            </a:r>
          </a:p>
          <a:p>
            <a:pPr marL="177800" indent="-177800"/>
            <a:r>
              <a:rPr lang="en-GB" altLang="en-US" sz="1400">
                <a:effectLst/>
              </a:rPr>
              <a:t>Gudmundsson A (2011) </a:t>
            </a:r>
            <a:r>
              <a:rPr lang="en-GB" altLang="en-US" sz="1400" i="1">
                <a:effectLst/>
              </a:rPr>
              <a:t>Rock Fractures in Geological Processes. </a:t>
            </a:r>
            <a:r>
              <a:rPr lang="en-GB" altLang="en-US" sz="1400">
                <a:effectLst/>
              </a:rPr>
              <a:t>Cambridge University Press. </a:t>
            </a:r>
            <a:r>
              <a:rPr lang="en-GB" altLang="en-US" sz="1400">
                <a:solidFill>
                  <a:srgbClr val="FF66CC"/>
                </a:solidFill>
                <a:effectLst/>
              </a:rPr>
              <a:t>[Chapters 8, 9, 11, 13]</a:t>
            </a:r>
          </a:p>
          <a:p>
            <a:pPr marL="177800" indent="-177800"/>
            <a:r>
              <a:rPr lang="en-GB" altLang="en-US" sz="1400">
                <a:effectLst/>
              </a:rPr>
              <a:t>Ramsay JG, Huber MI (1987) </a:t>
            </a:r>
            <a:r>
              <a:rPr lang="en-GB" altLang="en-US" sz="1400" i="1">
                <a:effectLst/>
              </a:rPr>
              <a:t>Techniques of Modern Structural Geology. Volume 2: Folds and Fractures.</a:t>
            </a:r>
            <a:r>
              <a:rPr lang="en-GB" altLang="en-US" sz="1400">
                <a:effectLst/>
              </a:rPr>
              <a:t> Academic Press. </a:t>
            </a:r>
            <a:r>
              <a:rPr lang="en-GB" altLang="en-US" sz="1400">
                <a:solidFill>
                  <a:srgbClr val="FF66CC"/>
                </a:solidFill>
                <a:effectLst/>
              </a:rPr>
              <a:t>[Session 27]</a:t>
            </a:r>
          </a:p>
          <a:p>
            <a:pPr marL="177800" indent="-177800"/>
            <a:endParaRPr lang="en-GB" altLang="en-US" sz="1400">
              <a:effectLst/>
            </a:endParaRPr>
          </a:p>
        </p:txBody>
      </p:sp>
    </p:spTree>
  </p:cSld>
  <p:clrMapOvr>
    <a:masterClrMapping/>
  </p:clrMapOvr>
  <p:transition spd="slow"/>
</p:sld>
</file>

<file path=ppt/theme/theme1.xml><?xml version="1.0" encoding="utf-8"?>
<a:theme xmlns:a="http://schemas.openxmlformats.org/drawingml/2006/main" name="Basin Studies 2002">
  <a:themeElements>
    <a:clrScheme name="Basin Studies 2002 1">
      <a:dk1>
        <a:srgbClr val="000037"/>
      </a:dk1>
      <a:lt1>
        <a:srgbClr val="FFFFFF"/>
      </a:lt1>
      <a:dk2>
        <a:srgbClr val="000066"/>
      </a:dk2>
      <a:lt2>
        <a:srgbClr val="FFFFFF"/>
      </a:lt2>
      <a:accent1>
        <a:srgbClr val="D5790C"/>
      </a:accent1>
      <a:accent2>
        <a:srgbClr val="D5790C"/>
      </a:accent2>
      <a:accent3>
        <a:srgbClr val="AAAAB8"/>
      </a:accent3>
      <a:accent4>
        <a:srgbClr val="DADADA"/>
      </a:accent4>
      <a:accent5>
        <a:srgbClr val="E7BEAA"/>
      </a:accent5>
      <a:accent6>
        <a:srgbClr val="C16D0A"/>
      </a:accent6>
      <a:hlink>
        <a:srgbClr val="5858A2"/>
      </a:hlink>
      <a:folHlink>
        <a:srgbClr val="FFFFFF"/>
      </a:folHlink>
    </a:clrScheme>
    <a:fontScheme name="Basin Studies 200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20000"/>
          </a:spcBef>
          <a:spcAft>
            <a:spcPct val="0"/>
          </a:spcAft>
          <a:buClr>
            <a:schemeClr val="accent2"/>
          </a:buClr>
          <a:buSzTx/>
          <a:buFontTx/>
          <a:buNone/>
          <a:tabLst/>
          <a:defRPr kumimoji="0" lang="en-GB" sz="1600" b="0" i="0" u="none" strike="noStrike" cap="none" normalizeH="0" baseline="0" smtClean="0">
            <a:ln>
              <a:noFill/>
            </a:ln>
            <a:solidFill>
              <a:schemeClr val="tx1"/>
            </a:solidFill>
            <a:effectLst>
              <a:outerShdw blurRad="38100" dist="38100" dir="2700000" algn="tl">
                <a:srgbClr val="000000">
                  <a:alpha val="43137"/>
                </a:srgbClr>
              </a:outerShdw>
            </a:effectLst>
            <a:latin typeface="Helvetica"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20000"/>
          </a:spcBef>
          <a:spcAft>
            <a:spcPct val="0"/>
          </a:spcAft>
          <a:buClr>
            <a:schemeClr val="accent2"/>
          </a:buClr>
          <a:buSzTx/>
          <a:buFontTx/>
          <a:buNone/>
          <a:tabLst/>
          <a:defRPr kumimoji="0" lang="en-GB" sz="1600" b="0" i="0" u="none" strike="noStrike" cap="none" normalizeH="0" baseline="0" smtClean="0">
            <a:ln>
              <a:noFill/>
            </a:ln>
            <a:solidFill>
              <a:schemeClr val="tx1"/>
            </a:solidFill>
            <a:effectLst>
              <a:outerShdw blurRad="38100" dist="38100" dir="2700000" algn="tl">
                <a:srgbClr val="000000">
                  <a:alpha val="43137"/>
                </a:srgbClr>
              </a:outerShdw>
            </a:effectLst>
            <a:latin typeface="Helvetica" charset="0"/>
          </a:defRPr>
        </a:defPPr>
      </a:lstStyle>
    </a:lnDef>
  </a:objectDefaults>
  <a:extraClrSchemeLst>
    <a:extraClrScheme>
      <a:clrScheme name="Basin Studies 2002 1">
        <a:dk1>
          <a:srgbClr val="000037"/>
        </a:dk1>
        <a:lt1>
          <a:srgbClr val="FFFFFF"/>
        </a:lt1>
        <a:dk2>
          <a:srgbClr val="000066"/>
        </a:dk2>
        <a:lt2>
          <a:srgbClr val="FFFFFF"/>
        </a:lt2>
        <a:accent1>
          <a:srgbClr val="D5790C"/>
        </a:accent1>
        <a:accent2>
          <a:srgbClr val="D5790C"/>
        </a:accent2>
        <a:accent3>
          <a:srgbClr val="AAAAB8"/>
        </a:accent3>
        <a:accent4>
          <a:srgbClr val="DADADA"/>
        </a:accent4>
        <a:accent5>
          <a:srgbClr val="E7BEAA"/>
        </a:accent5>
        <a:accent6>
          <a:srgbClr val="C16D0A"/>
        </a:accent6>
        <a:hlink>
          <a:srgbClr val="5858A2"/>
        </a:hlink>
        <a:folHlink>
          <a:srgbClr val="FFFFFF"/>
        </a:folHlink>
      </a:clrScheme>
      <a:clrMap bg1="dk2" tx1="lt1" bg2="dk1" tx2="lt2" accent1="accent1" accent2="accent2" accent3="accent3" accent4="accent4" accent5="accent5" accent6="accent6" hlink="hlink" folHlink="folHlink"/>
    </a:extraClrScheme>
    <a:extraClrScheme>
      <a:clrScheme name="Basin Studies 2002 2">
        <a:dk1>
          <a:srgbClr val="000066"/>
        </a:dk1>
        <a:lt1>
          <a:srgbClr val="FFFFFF"/>
        </a:lt1>
        <a:dk2>
          <a:srgbClr val="000066"/>
        </a:dk2>
        <a:lt2>
          <a:srgbClr val="000037"/>
        </a:lt2>
        <a:accent1>
          <a:srgbClr val="D5790C"/>
        </a:accent1>
        <a:accent2>
          <a:srgbClr val="D5790C"/>
        </a:accent2>
        <a:accent3>
          <a:srgbClr val="FFFFFF"/>
        </a:accent3>
        <a:accent4>
          <a:srgbClr val="000056"/>
        </a:accent4>
        <a:accent5>
          <a:srgbClr val="E7BEAA"/>
        </a:accent5>
        <a:accent6>
          <a:srgbClr val="C16D0A"/>
        </a:accent6>
        <a:hlink>
          <a:srgbClr val="5858A2"/>
        </a:hlink>
        <a:folHlink>
          <a:srgbClr val="FFFFFF"/>
        </a:folHlink>
      </a:clrScheme>
      <a:clrMap bg1="lt1" tx1="dk1" bg2="lt2" tx2="dk2" accent1="accent1" accent2="accent2" accent3="accent3" accent4="accent4" accent5="accent5" accent6="accent6" hlink="hlink" folHlink="folHlink"/>
    </a:extraClrScheme>
    <a:extraClrScheme>
      <a:clrScheme name="Basin Studies 2002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PowerBook HD:Users:robgawth:Documents:Eudora Folder:Attachments Folder:Basin Studies 2002.pot</Template>
  <TotalTime>11497</TotalTime>
  <Words>12699</Words>
  <Application>Microsoft Office PowerPoint</Application>
  <PresentationFormat>On-screen Show (4:3)</PresentationFormat>
  <Paragraphs>400</Paragraphs>
  <Slides>52</Slides>
  <Notes>52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52</vt:i4>
      </vt:variant>
    </vt:vector>
  </HeadingPairs>
  <TitlesOfParts>
    <vt:vector size="61" baseType="lpstr">
      <vt:lpstr>AdvOT3c2d9f11</vt:lpstr>
      <vt:lpstr>AdvP4C4E59</vt:lpstr>
      <vt:lpstr>Arial</vt:lpstr>
      <vt:lpstr>Cambria Math</vt:lpstr>
      <vt:lpstr>Helvetica</vt:lpstr>
      <vt:lpstr>Symbol</vt:lpstr>
      <vt:lpstr>Times</vt:lpstr>
      <vt:lpstr>Times New Roman</vt:lpstr>
      <vt:lpstr>Basin Studies 2002</vt:lpstr>
      <vt:lpstr>EART 28202 :  Structural Geology    Class 6 :  Fracturing and the emplacement of minor intrusions</vt:lpstr>
      <vt:lpstr>Fractures</vt:lpstr>
      <vt:lpstr>The importance of fractures</vt:lpstr>
      <vt:lpstr>The importance of fractures  2</vt:lpstr>
      <vt:lpstr>Plan of action</vt:lpstr>
      <vt:lpstr>  Fracture types and formation</vt:lpstr>
      <vt:lpstr>Classification of fractures</vt:lpstr>
      <vt:lpstr>Extension fractures</vt:lpstr>
      <vt:lpstr>Extension fractures but strictly hybrid</vt:lpstr>
      <vt:lpstr>Contraction fractures (for completeness)</vt:lpstr>
      <vt:lpstr>Relationship with the principal stress directions</vt:lpstr>
      <vt:lpstr>Shear fractures (in nature)</vt:lpstr>
      <vt:lpstr>Shear fractures (in nature)  2</vt:lpstr>
      <vt:lpstr>Shear fractures (in experiments)</vt:lpstr>
      <vt:lpstr>The effect of confining pressure on fracture </vt:lpstr>
      <vt:lpstr>The effect of pore fluids </vt:lpstr>
      <vt:lpstr>Increasing the significance of fluid pressure </vt:lpstr>
      <vt:lpstr>   Characterization of fractures (things to be aware of in the field)</vt:lpstr>
      <vt:lpstr>Surface morphology (extension fractures) </vt:lpstr>
      <vt:lpstr>Surface morphology (extension fractures)  2 </vt:lpstr>
      <vt:lpstr>Fracture shape and propagation (extension fractures) </vt:lpstr>
      <vt:lpstr>Fracture propagation (shear fractures) </vt:lpstr>
      <vt:lpstr>Fracture interaction </vt:lpstr>
      <vt:lpstr>Interaction of parallel fractures </vt:lpstr>
      <vt:lpstr>Measurements of fracture density </vt:lpstr>
      <vt:lpstr>Spacing of fractures  2 </vt:lpstr>
      <vt:lpstr>Fracture orientation </vt:lpstr>
      <vt:lpstr>Fractures in slightly deformed sedimentary rocks</vt:lpstr>
      <vt:lpstr>Fractures in slightly deformed sedimentary rocks</vt:lpstr>
      <vt:lpstr>Fractures associated with faults</vt:lpstr>
      <vt:lpstr>Fractures associated with folds</vt:lpstr>
      <vt:lpstr>Exfoliation (sheet) joints</vt:lpstr>
      <vt:lpstr>  Veins and hypabyssal intrusions</vt:lpstr>
      <vt:lpstr>Joint infill, veins and hydraulic fracturing </vt:lpstr>
      <vt:lpstr>Emplacement of intrusions </vt:lpstr>
      <vt:lpstr>Parallel-sided intrusions </vt:lpstr>
      <vt:lpstr>Buoyancy</vt:lpstr>
      <vt:lpstr>Formation of dykes </vt:lpstr>
      <vt:lpstr>Formation of sills </vt:lpstr>
      <vt:lpstr>Deflection and arrest of hydraulic fractures </vt:lpstr>
      <vt:lpstr>Deflection and arrest of hydraulic fractures  2 </vt:lpstr>
      <vt:lpstr>Deflection and arrest of hydraulic fractures  3 </vt:lpstr>
      <vt:lpstr>Fracture-controlled emplacement </vt:lpstr>
      <vt:lpstr>Fracture controlled emplacement  2 </vt:lpstr>
      <vt:lpstr>En échelon dykes </vt:lpstr>
      <vt:lpstr>En échelon dykes </vt:lpstr>
      <vt:lpstr>En échelon dykes </vt:lpstr>
      <vt:lpstr>  Polygonal fractures</vt:lpstr>
      <vt:lpstr>Polygonal fracture networks </vt:lpstr>
      <vt:lpstr>Evolution of polygonal fractures </vt:lpstr>
      <vt:lpstr>Columnar jointing </vt:lpstr>
      <vt:lpstr>Reading</vt:lpstr>
    </vt:vector>
  </TitlesOfParts>
  <Company>University of Manchester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GY2141 Lecture 10</dc:subject>
  <dc:creator>Steve Covey-Crump</dc:creator>
  <cp:lastModifiedBy>Stephen Covey-crump</cp:lastModifiedBy>
  <cp:revision>481</cp:revision>
  <cp:lastPrinted>2002-03-22T07:32:28Z</cp:lastPrinted>
  <dcterms:created xsi:type="dcterms:W3CDTF">2002-10-21T14:42:49Z</dcterms:created>
  <dcterms:modified xsi:type="dcterms:W3CDTF">2026-03-11T11:29:53Z</dcterms:modified>
</cp:coreProperties>
</file>