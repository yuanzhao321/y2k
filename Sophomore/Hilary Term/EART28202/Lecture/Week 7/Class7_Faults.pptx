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53"/>
  </p:notesMasterIdLst>
  <p:handoutMasterIdLst>
    <p:handoutMasterId r:id="rId54"/>
  </p:handoutMasterIdLst>
  <p:sldIdLst>
    <p:sldId id="316" r:id="rId2"/>
    <p:sldId id="340" r:id="rId3"/>
    <p:sldId id="342" r:id="rId4"/>
    <p:sldId id="346" r:id="rId5"/>
    <p:sldId id="350" r:id="rId6"/>
    <p:sldId id="374" r:id="rId7"/>
    <p:sldId id="352" r:id="rId8"/>
    <p:sldId id="351" r:id="rId9"/>
    <p:sldId id="343" r:id="rId10"/>
    <p:sldId id="347" r:id="rId11"/>
    <p:sldId id="353" r:id="rId12"/>
    <p:sldId id="392" r:id="rId13"/>
    <p:sldId id="354" r:id="rId14"/>
    <p:sldId id="384" r:id="rId15"/>
    <p:sldId id="355" r:id="rId16"/>
    <p:sldId id="356" r:id="rId17"/>
    <p:sldId id="357" r:id="rId18"/>
    <p:sldId id="358" r:id="rId19"/>
    <p:sldId id="378" r:id="rId20"/>
    <p:sldId id="359" r:id="rId21"/>
    <p:sldId id="344" r:id="rId22"/>
    <p:sldId id="348" r:id="rId23"/>
    <p:sldId id="390" r:id="rId24"/>
    <p:sldId id="391" r:id="rId25"/>
    <p:sldId id="360" r:id="rId26"/>
    <p:sldId id="361" r:id="rId27"/>
    <p:sldId id="365" r:id="rId28"/>
    <p:sldId id="395" r:id="rId29"/>
    <p:sldId id="386" r:id="rId30"/>
    <p:sldId id="393" r:id="rId31"/>
    <p:sldId id="362" r:id="rId32"/>
    <p:sldId id="363" r:id="rId33"/>
    <p:sldId id="367" r:id="rId34"/>
    <p:sldId id="345" r:id="rId35"/>
    <p:sldId id="349" r:id="rId36"/>
    <p:sldId id="368" r:id="rId37"/>
    <p:sldId id="373" r:id="rId38"/>
    <p:sldId id="383" r:id="rId39"/>
    <p:sldId id="370" r:id="rId40"/>
    <p:sldId id="379" r:id="rId41"/>
    <p:sldId id="387" r:id="rId42"/>
    <p:sldId id="372" r:id="rId43"/>
    <p:sldId id="371" r:id="rId44"/>
    <p:sldId id="376" r:id="rId45"/>
    <p:sldId id="385" r:id="rId46"/>
    <p:sldId id="380" r:id="rId47"/>
    <p:sldId id="382" r:id="rId48"/>
    <p:sldId id="375" r:id="rId49"/>
    <p:sldId id="377" r:id="rId50"/>
    <p:sldId id="394" r:id="rId51"/>
    <p:sldId id="341" r:id="rId52"/>
  </p:sldIdLst>
  <p:sldSz cx="9144000" cy="6858000" type="screen4x3"/>
  <p:notesSz cx="6732588" cy="9855200"/>
  <p:defaultTextStyle>
    <a:defPPr>
      <a:defRPr lang="en-GB"/>
    </a:defPPr>
    <a:lvl1pPr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1pPr>
    <a:lvl2pPr marL="4572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2pPr>
    <a:lvl3pPr marL="9144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3pPr>
    <a:lvl4pPr marL="13716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4pPr>
    <a:lvl5pPr marL="1828800" algn="l" rtl="0" eaLnBrk="0" fontAlgn="base" hangingPunct="0">
      <a:spcBef>
        <a:spcPct val="20000"/>
      </a:spcBef>
      <a:spcAft>
        <a:spcPct val="0"/>
      </a:spcAft>
      <a:buClr>
        <a:schemeClr val="accent2"/>
      </a:buClr>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5pPr>
    <a:lvl6pPr marL="22860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6pPr>
    <a:lvl7pPr marL="27432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7pPr>
    <a:lvl8pPr marL="32004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8pPr>
    <a:lvl9pPr marL="3657600" algn="l" defTabSz="914400" rtl="0" eaLnBrk="1" latinLnBrk="0" hangingPunct="1">
      <a:defRPr sz="1600" kern="1200">
        <a:solidFill>
          <a:schemeClr val="tx1"/>
        </a:solidFill>
        <a:effectLst>
          <a:outerShdw blurRad="38100" dist="38100" dir="2700000" algn="tl">
            <a:srgbClr val="000000">
              <a:alpha val="43137"/>
            </a:srgbClr>
          </a:outerShdw>
        </a:effectLst>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0000"/>
    <a:srgbClr val="FF3300"/>
    <a:srgbClr val="FF66CC"/>
    <a:srgbClr val="FFFF00"/>
    <a:srgbClr val="D3D3FF"/>
    <a:srgbClr val="B7B7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89" autoAdjust="0"/>
    <p:restoredTop sz="70218" autoAdjust="0"/>
  </p:normalViewPr>
  <p:slideViewPr>
    <p:cSldViewPr snapToGrid="0">
      <p:cViewPr varScale="1">
        <p:scale>
          <a:sx n="77" d="100"/>
          <a:sy n="77" d="100"/>
        </p:scale>
        <p:origin x="3048" y="96"/>
      </p:cViewPr>
      <p:guideLst>
        <p:guide orient="horz" pos="2914"/>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_rels/viewProps.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slide" Target="slides/slide3.xml"/><Relationship Id="rId1" Type="http://schemas.openxmlformats.org/officeDocument/2006/relationships/slide" Target="slides/slide1.xml"/><Relationship Id="rId5" Type="http://schemas.openxmlformats.org/officeDocument/2006/relationships/slide" Target="slides/slide34.xml"/><Relationship Id="rId4"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FEB4B16B-2231-4E6E-9335-D7D0814D2FC9}"/>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BB16C596-782E-4468-859C-A221D73F7D8C}"/>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2E3FE7E5-3C5F-46A1-900B-10F94AE54D4E}"/>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453CE72E-DBA9-4F9B-A517-B2D2BE495A8D}"/>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C8FD9139-EEC4-4073-A3BD-EE82B5EE4B1E}"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5E2D68E-2497-43D7-B45E-30C0FB421924}"/>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D4B734C4-F116-47DA-BF96-B9E85A92BE94}"/>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a:effectLst/>
                <a:latin typeface="Arial" charset="0"/>
              </a:defRPr>
            </a:lvl1pPr>
          </a:lstStyle>
          <a:p>
            <a:pPr>
              <a:defRPr/>
            </a:pPr>
            <a:endParaRPr lang="en-GB"/>
          </a:p>
        </p:txBody>
      </p:sp>
      <p:sp>
        <p:nvSpPr>
          <p:cNvPr id="48132" name="Rectangle 4">
            <a:extLst>
              <a:ext uri="{FF2B5EF4-FFF2-40B4-BE49-F238E27FC236}">
                <a16:creationId xmlns:a16="http://schemas.microsoft.com/office/drawing/2014/main" id="{9119DF26-2690-4456-BB4C-13939C21CB07}"/>
              </a:ext>
            </a:extLst>
          </p:cNvPr>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9E74DB64-DC6E-4428-9824-100FBC3F5D07}"/>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A87FCF09-9549-48C4-8ADB-948B09D6FE5D}"/>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BA64B2A0-8690-4EFB-B5C4-35C5244CEF95}"/>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spcBef>
                <a:spcPct val="0"/>
              </a:spcBef>
              <a:buClrTx/>
              <a:defRPr sz="1200">
                <a:effectLst/>
                <a:latin typeface="Arial" panose="020B0604020202020204" pitchFamily="34" charset="0"/>
              </a:defRPr>
            </a:lvl1pPr>
          </a:lstStyle>
          <a:p>
            <a:fld id="{E5A220B2-77F6-4496-A8D4-A26145FA118B}"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03B14ECB-9492-47DF-9B89-EA6EC9BDA749}"/>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C5070FCA-2109-4C69-A984-D3DE756499F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 typeface="Arial" panose="020B0604020202020204" pitchFamily="34" charset="0"/>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a:spcBef>
                <a:spcPts val="300"/>
              </a:spcBef>
            </a:pPr>
            <a:endParaRPr lang="en-GB"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771CA3B-5091-43D4-85FA-B0FEB7015877}"/>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233F4343-3304-4D43-96CF-DB329FB3BB1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On Slide 28 there is a diagram of what I mean by a tabular volume of rock with a central core and a surrounding damage zone</a:t>
            </a:r>
          </a:p>
          <a:p>
            <a:pPr marL="108000" indent="-108000">
              <a:spcBef>
                <a:spcPts val="300"/>
              </a:spcBef>
              <a:buFont typeface="Arial" panose="020B0604020202020204" pitchFamily="34" charset="0"/>
              <a:buChar char="•"/>
            </a:pPr>
            <a:r>
              <a:rPr lang="en-GB" altLang="en-US" sz="1000" dirty="0"/>
              <a:t>Photo (Steve Covey-Crump): fault at </a:t>
            </a:r>
            <a:r>
              <a:rPr lang="en-GB" altLang="en-US" sz="1000" dirty="0" err="1"/>
              <a:t>Porth</a:t>
            </a:r>
            <a:r>
              <a:rPr lang="en-GB" altLang="en-US" sz="1000" dirty="0"/>
              <a:t> Saint, near </a:t>
            </a:r>
            <a:r>
              <a:rPr lang="en-GB" altLang="en-US" sz="1000" dirty="0" err="1"/>
              <a:t>Rhoscolyn</a:t>
            </a:r>
            <a:r>
              <a:rPr lang="en-GB" altLang="en-US" sz="1000" dirty="0"/>
              <a:t>, Holy Island, Anglesey. Note that although the fault appears as a sharp surface, the rocks either side of this surface are heavily fractured</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E5A220B2-77F6-4496-A8D4-A26145FA118B}" type="slidenum">
              <a:rPr lang="en-GB" altLang="en-US" smtClean="0"/>
              <a:pPr/>
              <a:t>3</a:t>
            </a:fld>
            <a:endParaRPr lang="en-GB" altLang="en-US"/>
          </a:p>
        </p:txBody>
      </p:sp>
    </p:spTree>
    <p:extLst>
      <p:ext uri="{BB962C8B-B14F-4D97-AF65-F5344CB8AC3E}">
        <p14:creationId xmlns:p14="http://schemas.microsoft.com/office/powerpoint/2010/main" val="157570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3700C46-923E-4B14-B02F-2911463F1258}"/>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D891C950-C86D-425C-92A2-7912BB5E099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vertical faults there isn’t a side that is below the fault and a side that is above it, that is, there is no footwall and hanging wall. Hence, in this case we have to refer to west side, east side, </a:t>
            </a:r>
            <a:r>
              <a:rPr lang="en-GB" altLang="en-US" sz="1000" i="1" dirty="0"/>
              <a:t>etc.</a:t>
            </a:r>
          </a:p>
          <a:p>
            <a:pPr marL="108000" indent="-108000">
              <a:spcBef>
                <a:spcPts val="300"/>
              </a:spcBef>
              <a:buFont typeface="Arial" panose="020B0604020202020204" pitchFamily="34" charset="0"/>
              <a:buChar char="•"/>
            </a:pPr>
            <a:r>
              <a:rPr lang="en-GB" altLang="en-US" sz="1000" i="0" dirty="0" err="1"/>
              <a:t>Listric</a:t>
            </a:r>
            <a:r>
              <a:rPr lang="en-GB" altLang="en-US" sz="1000" i="0" dirty="0"/>
              <a:t> and anti-</a:t>
            </a:r>
            <a:r>
              <a:rPr lang="en-GB" altLang="en-US" sz="1000" i="0" dirty="0" err="1"/>
              <a:t>listric</a:t>
            </a:r>
            <a:r>
              <a:rPr lang="en-GB" altLang="en-US" sz="1000" i="0" dirty="0"/>
              <a:t> faults are curved faults</a:t>
            </a:r>
          </a:p>
          <a:p>
            <a:pPr marL="108000" indent="-108000">
              <a:spcBef>
                <a:spcPts val="300"/>
              </a:spcBef>
              <a:buFont typeface="Arial" panose="020B0604020202020204" pitchFamily="34" charset="0"/>
              <a:buChar char="•"/>
            </a:pPr>
            <a:r>
              <a:rPr lang="en-GB" altLang="en-US" sz="1000" dirty="0"/>
              <a:t>Figure top right by Steve Covey-Crump</a:t>
            </a:r>
          </a:p>
          <a:p>
            <a:pPr marL="108000" indent="-108000">
              <a:spcBef>
                <a:spcPts val="300"/>
              </a:spcBef>
              <a:buFont typeface="Arial" panose="020B0604020202020204" pitchFamily="34" charset="0"/>
              <a:buChar char="•"/>
            </a:pPr>
            <a:r>
              <a:rPr lang="en-GB" altLang="en-US" sz="1000" dirty="0"/>
              <a:t>Figure bottom left from Fossen, p.179</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992B1CB4-25A0-4AA3-90EA-B54BF9B2C1B8}"/>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063C302F-0C30-4868-8DE4-459898ECE56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Remember that to define the sense of strike-slip displacement, stand on one side of the fault (it doesn’t matter which) and see which direction the other side has moved: if it is to the left it is </a:t>
            </a:r>
            <a:r>
              <a:rPr lang="en-GB" altLang="en-US" sz="1000" i="1" dirty="0" err="1"/>
              <a:t>sinistral</a:t>
            </a:r>
            <a:r>
              <a:rPr lang="en-GB" altLang="en-US" sz="1000" i="0" dirty="0"/>
              <a:t> and if it is to the right it is </a:t>
            </a:r>
            <a:r>
              <a:rPr lang="en-GB" altLang="en-US" sz="1000" i="1" dirty="0"/>
              <a:t>dextral</a:t>
            </a:r>
            <a:r>
              <a:rPr lang="en-GB" altLang="en-US" sz="1000" i="0" dirty="0"/>
              <a:t>. Sinistral and dextral derive from the Latin, ‘sinister’ and ‘dexter’ – the Romans were suspicious of left-handed people</a:t>
            </a:r>
          </a:p>
          <a:p>
            <a:pPr marL="108000" indent="-108000">
              <a:spcBef>
                <a:spcPts val="300"/>
              </a:spcBef>
              <a:buFont typeface="Arial" panose="020B0604020202020204" pitchFamily="34" charset="0"/>
              <a:buChar char="•"/>
            </a:pPr>
            <a:r>
              <a:rPr lang="en-GB" altLang="en-US" sz="1000" i="0" dirty="0"/>
              <a:t>Remember that to define the sense of dip-slip displacement, look at the direction that the hanging wall has moved: if it has moved down the fault plane it is </a:t>
            </a:r>
            <a:r>
              <a:rPr lang="en-GB" altLang="en-US" sz="1000" i="1" dirty="0"/>
              <a:t>normal</a:t>
            </a:r>
            <a:r>
              <a:rPr lang="en-GB" altLang="en-US" sz="1000" i="0" dirty="0"/>
              <a:t> and if it has moved up the fault plane it is </a:t>
            </a:r>
            <a:r>
              <a:rPr lang="en-GB" altLang="en-US" sz="1000" i="1" dirty="0"/>
              <a:t>reverse</a:t>
            </a:r>
            <a:r>
              <a:rPr lang="en-GB" altLang="en-US" sz="1000" i="0" dirty="0"/>
              <a:t>. This terminology comes from the Welsh coal miners – they mostly encountered normal faults</a:t>
            </a:r>
            <a:endParaRPr lang="en-GB" altLang="en-US" sz="1000" dirty="0"/>
          </a:p>
          <a:p>
            <a:pPr marL="108000" indent="-108000">
              <a:spcBef>
                <a:spcPts val="300"/>
              </a:spcBef>
              <a:buFont typeface="Arial" panose="020B0604020202020204" pitchFamily="34" charset="0"/>
              <a:buChar char="•"/>
            </a:pPr>
            <a:r>
              <a:rPr lang="en-GB" altLang="en-US" sz="1000" dirty="0"/>
              <a:t>The figure top right which defines the slip vector shows a dextral-normal oblique-slip fault</a:t>
            </a:r>
          </a:p>
          <a:p>
            <a:pPr marL="108000" indent="-108000">
              <a:spcBef>
                <a:spcPts val="300"/>
              </a:spcBef>
              <a:buFont typeface="Arial" panose="020B0604020202020204" pitchFamily="34" charset="0"/>
              <a:buChar char="•"/>
            </a:pPr>
            <a:r>
              <a:rPr lang="en-GB" altLang="en-US" sz="1000" dirty="0"/>
              <a:t>Figures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40D670C-E5A5-4756-BDFF-C5A8CCEF375D}"/>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6F6B1222-127E-4A34-B547-268EF4E23AA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(Steve Covey-Crump): view to the north from the Panorama du </a:t>
            </a:r>
            <a:r>
              <a:rPr lang="en-GB" altLang="en-US" sz="1000" dirty="0" err="1"/>
              <a:t>Vélodrome</a:t>
            </a:r>
            <a:r>
              <a:rPr lang="en-GB" altLang="en-US" sz="1000" dirty="0"/>
              <a:t>, near </a:t>
            </a:r>
            <a:r>
              <a:rPr lang="en-GB" altLang="en-US" sz="1000" dirty="0" err="1"/>
              <a:t>Digne</a:t>
            </a:r>
            <a:r>
              <a:rPr lang="en-GB" altLang="en-US" sz="1000" dirty="0"/>
              <a:t>-les-Bains, SE France</a:t>
            </a:r>
          </a:p>
          <a:p>
            <a:pPr marL="108000" indent="-108000">
              <a:spcBef>
                <a:spcPts val="300"/>
              </a:spcBef>
              <a:buFont typeface="Arial" panose="020B0604020202020204" pitchFamily="34" charset="0"/>
              <a:buChar char="•"/>
            </a:pPr>
            <a:r>
              <a:rPr lang="en-GB" altLang="en-US" sz="1000" dirty="0"/>
              <a:t>Photo bottom (Steve Covey-Crump): cliffs at The Twelve Apostles, Victoria, Australia</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A8EAE3C5-5FB3-4C77-88DC-055273C9EB9B}"/>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F9CFA7FD-ADBB-4159-9722-A579F18C499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by Steve Covey-Crump</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DFE85EF-1DF9-4D5F-9BEA-F8EAD296CEF9}"/>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E2D2E2B3-8F9C-4188-B209-AEE22ABF3C1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When you are mapping faults, it is commonly the case that you have some knowledge of the strike/dip of the fault (perhaps obtainable using stratum contours), and you have the apparent offset of some contact of known dip. In this situation you do not have enough information to determine the slip vector, but you can evaluate the separation terms using trigonometry. This strategy is widely employed within the petroleum and mining industries so that something quantitative can be said about the magnitude of slip</a:t>
            </a:r>
          </a:p>
          <a:p>
            <a:pPr marL="108000" indent="-108000">
              <a:spcBef>
                <a:spcPts val="300"/>
              </a:spcBef>
              <a:buFont typeface="Arial" panose="020B0604020202020204" pitchFamily="34" charset="0"/>
              <a:buChar char="•"/>
            </a:pPr>
            <a:r>
              <a:rPr lang="en-GB" altLang="en-US" sz="1000" dirty="0"/>
              <a:t>The spacing between the footwall and hanging wall cut-off lines when plotted on a map is the heave (see figure top right)</a:t>
            </a:r>
          </a:p>
          <a:p>
            <a:pPr marL="108000" indent="-108000">
              <a:spcBef>
                <a:spcPts val="300"/>
              </a:spcBef>
              <a:buFont typeface="Arial" panose="020B0604020202020204" pitchFamily="34" charset="0"/>
              <a:buChar char="•"/>
            </a:pPr>
            <a:r>
              <a:rPr lang="en-GB" altLang="en-US" sz="1000" dirty="0"/>
              <a:t>Figures left and bottom right by Steve Covey-Crump</a:t>
            </a:r>
          </a:p>
          <a:p>
            <a:pPr marL="108000" indent="-108000">
              <a:spcBef>
                <a:spcPts val="300"/>
              </a:spcBef>
              <a:buFont typeface="Arial" panose="020B0604020202020204" pitchFamily="34" charset="0"/>
              <a:buChar char="•"/>
            </a:pPr>
            <a:r>
              <a:rPr lang="en-GB" altLang="en-US" sz="1000" dirty="0"/>
              <a:t>Figure top right from Fossen, p.182</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E5A220B2-77F6-4496-A8D4-A26145FA118B}" type="slidenum">
              <a:rPr lang="en-GB" altLang="en-US" smtClean="0"/>
              <a:pPr/>
              <a:t>9</a:t>
            </a:fld>
            <a:endParaRPr lang="en-GB" altLang="en-US"/>
          </a:p>
        </p:txBody>
      </p:sp>
    </p:spTree>
    <p:extLst>
      <p:ext uri="{BB962C8B-B14F-4D97-AF65-F5344CB8AC3E}">
        <p14:creationId xmlns:p14="http://schemas.microsoft.com/office/powerpoint/2010/main" val="1345191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D2FD15AC-F73C-4F54-9F43-4EB35CAEAC31}"/>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AAF356FE-964B-4909-844B-974083AF8384}"/>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Photo left (from the BGS image database: geoscenic.bgs.ac.uk/asset-bank/action/</a:t>
            </a:r>
            <a:r>
              <a:rPr lang="en-GB" altLang="en-US" sz="1000" dirty="0" err="1"/>
              <a:t>viewHome</a:t>
            </a:r>
            <a:r>
              <a:rPr lang="en-GB" altLang="en-US" sz="1000" dirty="0"/>
              <a:t>, image P211325): drag folds in the footwall of a reverse fault, Blue </a:t>
            </a:r>
            <a:r>
              <a:rPr lang="en-GB" altLang="en-US" sz="1000" dirty="0" err="1"/>
              <a:t>Lias</a:t>
            </a:r>
            <a:r>
              <a:rPr lang="en-GB" altLang="en-US" sz="1000" dirty="0"/>
              <a:t> (Jurassic) units at Blue Ben, </a:t>
            </a:r>
            <a:r>
              <a:rPr lang="en-GB" altLang="en-US" sz="1000" dirty="0" err="1"/>
              <a:t>Watchet</a:t>
            </a:r>
            <a:r>
              <a:rPr lang="en-GB" altLang="en-US" sz="1000" dirty="0"/>
              <a:t>, Somerset. This fault is actually a reactivated normal fault, that is, initially it was a normal fault (evidence not apparent in the photo) formed during extension but during subsequent shortening the sense of movement was reversed. For comments on this fault, see Peacock, 2009, </a:t>
            </a:r>
            <a:r>
              <a:rPr lang="en-GB" altLang="en-US" sz="1000" i="1" dirty="0"/>
              <a:t>Italian Journal of Geosciences</a:t>
            </a:r>
            <a:r>
              <a:rPr lang="en-GB" altLang="en-US" sz="1000" dirty="0"/>
              <a:t> 128: 307-316, </a:t>
            </a:r>
            <a:r>
              <a:rPr lang="en-GB" sz="1000" dirty="0"/>
              <a:t>https://doi.org/10.3301/IJG.2009.128.2.307</a:t>
            </a:r>
            <a:endParaRPr lang="en-GB" altLang="en-US" sz="1000" dirty="0"/>
          </a:p>
          <a:p>
            <a:pPr marL="108000" indent="-108000">
              <a:spcBef>
                <a:spcPts val="300"/>
              </a:spcBef>
              <a:buFont typeface="Arial" panose="020B0604020202020204" pitchFamily="34" charset="0"/>
              <a:buChar char="•"/>
            </a:pPr>
            <a:r>
              <a:rPr lang="en-GB" altLang="en-US" sz="1000" dirty="0"/>
              <a:t>Photo right (from the BGS image database: geoscenic.bgs.ac.uk/asset-bank/action/</a:t>
            </a:r>
            <a:r>
              <a:rPr lang="en-GB" altLang="en-US" sz="1000" dirty="0" err="1"/>
              <a:t>viewHome</a:t>
            </a:r>
            <a:r>
              <a:rPr lang="en-GB" altLang="en-US" sz="1000" dirty="0"/>
              <a:t>, image P212144): drag folds on a normal fault, Lower </a:t>
            </a:r>
            <a:r>
              <a:rPr lang="en-GB" altLang="en-US" sz="1000" dirty="0" err="1"/>
              <a:t>Lias</a:t>
            </a:r>
            <a:r>
              <a:rPr lang="en-GB" altLang="en-US" sz="1000" dirty="0"/>
              <a:t> (Jurassic) sandstones and mudstones in the cliffs east of Dams Bay, </a:t>
            </a:r>
            <a:r>
              <a:rPr lang="en-GB" altLang="en-US" sz="1000" dirty="0" err="1"/>
              <a:t>Rhoose</a:t>
            </a:r>
            <a:r>
              <a:rPr lang="en-GB" altLang="en-US" sz="1000" dirty="0"/>
              <a:t>, near Barry, South Wales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09BDCC8D-3A29-4365-A20F-55711C20BEF5}"/>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9FAED588-3FB9-4037-B167-946476BE995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by Steve Covey-Crump</a:t>
            </a:r>
          </a:p>
          <a:p>
            <a:pPr marL="108000" indent="-108000">
              <a:spcBef>
                <a:spcPts val="300"/>
              </a:spcBef>
              <a:buFont typeface="Arial" panose="020B0604020202020204" pitchFamily="34" charset="0"/>
              <a:buChar char="•"/>
            </a:pPr>
            <a:r>
              <a:rPr lang="en-GB" altLang="en-US" sz="1000" dirty="0"/>
              <a:t>Photo top right (Steve Covey-Crump): small-scale </a:t>
            </a:r>
            <a:r>
              <a:rPr lang="en-GB" altLang="en-US" sz="1000" dirty="0" err="1"/>
              <a:t>unbreached</a:t>
            </a:r>
            <a:r>
              <a:rPr lang="en-GB" altLang="en-US" sz="1000" dirty="0"/>
              <a:t> </a:t>
            </a:r>
            <a:r>
              <a:rPr lang="en-GB" altLang="en-US" sz="1000" dirty="0" err="1"/>
              <a:t>antiform-synform</a:t>
            </a:r>
            <a:r>
              <a:rPr lang="en-GB" altLang="en-US" sz="1000" dirty="0"/>
              <a:t> pair, south side of </a:t>
            </a:r>
            <a:r>
              <a:rPr lang="en-GB" altLang="en-US" sz="1000" dirty="0" err="1"/>
              <a:t>Crantock</a:t>
            </a:r>
            <a:r>
              <a:rPr lang="en-GB" altLang="en-US" sz="1000" dirty="0"/>
              <a:t> Beach, north Cornwall (image is </a:t>
            </a:r>
            <a:r>
              <a:rPr lang="en-GB" altLang="en-US" sz="1000" spc="150" baseline="0" dirty="0"/>
              <a:t>~</a:t>
            </a:r>
            <a:r>
              <a:rPr lang="en-GB" altLang="en-US" sz="1000" dirty="0"/>
              <a:t>6 cm across). Note the attenuated middle limb near where I have placed the lazy arrow</a:t>
            </a:r>
          </a:p>
          <a:p>
            <a:pPr marL="108000" indent="-108000">
              <a:spcBef>
                <a:spcPts val="300"/>
              </a:spcBef>
              <a:buFont typeface="Arial" panose="020B0604020202020204" pitchFamily="34" charset="0"/>
              <a:buChar char="•"/>
            </a:pPr>
            <a:r>
              <a:rPr lang="en-GB" altLang="en-US" sz="1000" dirty="0"/>
              <a:t>Photo bottom right (from the BGS image database: geoscenic.bgs.ac.uk/asset-bank/action/</a:t>
            </a:r>
            <a:r>
              <a:rPr lang="en-GB" altLang="en-US" sz="1000" dirty="0" err="1"/>
              <a:t>viewHome</a:t>
            </a:r>
            <a:r>
              <a:rPr lang="en-GB" altLang="en-US" sz="1000" dirty="0"/>
              <a:t>, image P211445): hanging wall </a:t>
            </a:r>
            <a:r>
              <a:rPr lang="en-GB" altLang="en-US" sz="1000" dirty="0" err="1"/>
              <a:t>antiform</a:t>
            </a:r>
            <a:r>
              <a:rPr lang="en-GB" altLang="en-US" sz="1000" dirty="0"/>
              <a:t> – footwall </a:t>
            </a:r>
            <a:r>
              <a:rPr lang="en-GB" altLang="en-US" sz="1000" dirty="0" err="1"/>
              <a:t>synform</a:t>
            </a:r>
            <a:r>
              <a:rPr lang="en-GB" altLang="en-US" sz="1000" dirty="0"/>
              <a:t> pair on a thrust fault in interbedded Carboniferous sandstones and mudstones, near Broadhaven, St. Brides Bay, Pembrokeshire. This fold, which may be considered as a breached fault propagation fold, is analysed in Williams &amp; Chapman, 1983, </a:t>
            </a:r>
            <a:r>
              <a:rPr lang="en-GB" altLang="en-US" sz="1000" i="1" dirty="0"/>
              <a:t>Journal of Structural Geology</a:t>
            </a:r>
            <a:r>
              <a:rPr lang="en-GB" altLang="en-US" sz="1000" dirty="0"/>
              <a:t> 5: 563-571,</a:t>
            </a:r>
            <a:r>
              <a:rPr lang="en-GB" sz="1000" dirty="0"/>
              <a:t> https://doi.org/10.1016/0191-8141(83)90068-8</a:t>
            </a:r>
            <a:endParaRPr lang="en-GB" altLang="en-US" sz="1000" dirty="0"/>
          </a:p>
          <a:p>
            <a:pPr marL="108000" indent="-108000">
              <a:spcBef>
                <a:spcPts val="300"/>
              </a:spcBef>
              <a:buFont typeface="Arial" panose="020B0604020202020204" pitchFamily="34" charset="0"/>
              <a:buChar char="•"/>
            </a:pPr>
            <a:r>
              <a:rPr lang="en-GB" altLang="en-US" sz="1000" dirty="0"/>
              <a:t>We will return to the relationship between folding and thrusting in the next class on contractional tectonic regimes (Class 8)</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76982E6F-9444-49D9-A807-028FAB806338}"/>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98C5D35B-6127-4E75-AAD9-DEC3921568D8}"/>
              </a:ext>
            </a:extLst>
          </p:cNvPr>
          <p:cNvSpPr>
            <a:spLocks noGrp="1" noChangeArrowheads="1"/>
          </p:cNvSpPr>
          <p:nvPr>
            <p:ph type="body" idx="1"/>
          </p:nvPr>
        </p:nvSpPr>
        <p:spPr>
          <a:noFill/>
        </p:spPr>
        <p:txBody>
          <a:bodyPr/>
          <a:lstStyle/>
          <a:p>
            <a:pPr marL="108000" indent="-108000">
              <a:buFont typeface="Arial" panose="020B0604020202020204" pitchFamily="34" charset="0"/>
              <a:buChar char="•"/>
            </a:pPr>
            <a:r>
              <a:rPr lang="en-GB" altLang="en-US" sz="1000" dirty="0"/>
              <a:t>Attempts to model the formation and geometry of fault propagation folds mostly fall into the two categories that are illustrated on this slide. For an overview, see Hughes &amp; Shaw, 2015, </a:t>
            </a:r>
            <a:r>
              <a:rPr lang="en-GB" altLang="en-US" sz="1000" i="1" dirty="0"/>
              <a:t>Geological Society of America Bulletin</a:t>
            </a:r>
            <a:r>
              <a:rPr lang="en-GB" altLang="en-US" sz="1000" dirty="0"/>
              <a:t> 127: 1752-1765, </a:t>
            </a:r>
            <a:r>
              <a:rPr lang="en-GB" sz="1000" dirty="0"/>
              <a:t>https://doi.org/10.1130/B31215.1</a:t>
            </a:r>
            <a:r>
              <a:rPr lang="en-GB" altLang="en-US" sz="1000" dirty="0"/>
              <a:t>. There are also helpful descriptions given in Rick Allmendinger’s Structural Geology </a:t>
            </a:r>
            <a:r>
              <a:rPr lang="en-GB" altLang="en-US" sz="1000" i="1" dirty="0"/>
              <a:t>Lab Manual</a:t>
            </a:r>
            <a:r>
              <a:rPr lang="en-GB" altLang="en-US" sz="1000" i="0" dirty="0"/>
              <a:t>, p.213-218 (available at </a:t>
            </a:r>
            <a:r>
              <a:rPr lang="en-GB" altLang="en-US" sz="1000" dirty="0"/>
              <a:t>https://www.rickallmendinger.net/)</a:t>
            </a:r>
          </a:p>
          <a:p>
            <a:pPr marL="108000" indent="-108000">
              <a:buFont typeface="Arial" panose="020B0604020202020204" pitchFamily="34" charset="0"/>
              <a:buChar char="•"/>
            </a:pPr>
            <a:endParaRPr lang="en-GB" altLang="en-US" sz="1000" dirty="0"/>
          </a:p>
          <a:p>
            <a:pPr marL="108000" indent="-108000">
              <a:buFont typeface="Arial" panose="020B0604020202020204" pitchFamily="34" charset="0"/>
              <a:buChar char="•"/>
            </a:pPr>
            <a:r>
              <a:rPr lang="en-GB" altLang="en-US" sz="1000" dirty="0"/>
              <a:t>For an account of how fault-propagation folding may be modelled using the kink-like fold approach, see </a:t>
            </a:r>
            <a:r>
              <a:rPr lang="en-GB" altLang="en-US" sz="1000" dirty="0" err="1"/>
              <a:t>Suppe</a:t>
            </a:r>
            <a:r>
              <a:rPr lang="en-GB" altLang="en-US" sz="1000" dirty="0"/>
              <a:t> &amp; </a:t>
            </a:r>
            <a:r>
              <a:rPr lang="en-GB" altLang="en-US" sz="1000" dirty="0" err="1"/>
              <a:t>Medwedeff</a:t>
            </a:r>
            <a:r>
              <a:rPr lang="en-GB" altLang="en-US" sz="1000" dirty="0"/>
              <a:t>, 1990, </a:t>
            </a:r>
            <a:r>
              <a:rPr lang="en-GB" altLang="en-US" sz="1000" i="1" dirty="0" err="1"/>
              <a:t>Eclogae</a:t>
            </a:r>
            <a:r>
              <a:rPr lang="en-GB" altLang="en-US" sz="1000" i="1" dirty="0"/>
              <a:t> </a:t>
            </a:r>
            <a:r>
              <a:rPr lang="en-GB" altLang="en-US" sz="1000" i="1" dirty="0" err="1"/>
              <a:t>Geologicae</a:t>
            </a:r>
            <a:r>
              <a:rPr lang="en-GB" altLang="en-US" sz="1000" i="1" dirty="0"/>
              <a:t> </a:t>
            </a:r>
            <a:r>
              <a:rPr lang="en-GB" altLang="en-US" sz="1000" i="1" dirty="0" err="1"/>
              <a:t>Helvetiae</a:t>
            </a:r>
            <a:r>
              <a:rPr lang="en-GB" altLang="en-US" sz="1000" dirty="0"/>
              <a:t> 83: 409-454, https://www.e-periodica.ch/digbib/view?pid=egh-001%3A1990%3A83%3A%3A230#418</a:t>
            </a:r>
          </a:p>
          <a:p>
            <a:pPr marL="108000" indent="-108000">
              <a:buFont typeface="Arial" panose="020B0604020202020204" pitchFamily="34" charset="0"/>
              <a:buChar char="•"/>
            </a:pPr>
            <a:r>
              <a:rPr lang="en-GB" altLang="en-US" sz="1000" dirty="0"/>
              <a:t>For a summary of the development and use of the </a:t>
            </a:r>
            <a:r>
              <a:rPr lang="en-GB" altLang="en-US" sz="1000" dirty="0" err="1"/>
              <a:t>trishear</a:t>
            </a:r>
            <a:r>
              <a:rPr lang="en-GB" altLang="en-US" sz="1000" dirty="0"/>
              <a:t> model, see Hardy &amp; Allmendinger, 2011, </a:t>
            </a:r>
            <a:r>
              <a:rPr lang="en-GB" altLang="en-US" sz="1000" i="1" dirty="0"/>
              <a:t>American Association of Petroleum Geologists Memoir </a:t>
            </a:r>
            <a:r>
              <a:rPr lang="en-GB" altLang="en-US" sz="1000" dirty="0"/>
              <a:t>94: 95-119, </a:t>
            </a:r>
            <a:r>
              <a:rPr lang="en-GB" sz="1000" dirty="0"/>
              <a:t>https://doi.org/10.1306/13251334M943429</a:t>
            </a:r>
          </a:p>
          <a:p>
            <a:pPr marL="0" indent="0">
              <a:buFont typeface="Arial" panose="020B0604020202020204" pitchFamily="34" charset="0"/>
              <a:buNone/>
            </a:pPr>
            <a:endParaRPr lang="en-GB" altLang="en-US" sz="1000" dirty="0"/>
          </a:p>
          <a:p>
            <a:pPr marL="108000" indent="-108000">
              <a:buFont typeface="Arial" panose="020B0604020202020204" pitchFamily="34" charset="0"/>
              <a:buChar char="•"/>
            </a:pPr>
            <a:r>
              <a:rPr lang="en-GB" altLang="en-US" sz="1000" dirty="0"/>
              <a:t>In the </a:t>
            </a:r>
            <a:r>
              <a:rPr lang="en-GB" altLang="en-US" sz="1000" dirty="0" err="1"/>
              <a:t>trishear</a:t>
            </a:r>
            <a:r>
              <a:rPr lang="en-GB" altLang="en-US" sz="1000" dirty="0"/>
              <a:t> model strain is distributed in a triangular zone ahead of the fault tip. The hanging wall side of the triangle moves at constant velocity above a fixed footwall, the triangular zone is symmetrical with respect to the fault, and the velocity vector is the same for all points located along any ray originating from the fault tip. Hence across the triangle zone the velocity increases towards the hanging wall and the velocity vector gradually changes orientation accordingly (see top diagram of middle figure on the slide). This generates the folding. The triangular zone moves through the layers as the fault tip propagates and no further folding occurs once the fault has cut through it. The precise geometry of the folding depends upon the choice of the apical angle, the fault dip and magnitude of slip, and the ratio of how fast the fault tip propagates relative to the slip on the fault. Trial and error is used to vary these parameters until the results match the geometry obtained from field observations. For downloadable software that implements </a:t>
            </a:r>
            <a:r>
              <a:rPr lang="en-GB" altLang="en-US" sz="1000" dirty="0" err="1"/>
              <a:t>trishear</a:t>
            </a:r>
            <a:r>
              <a:rPr lang="en-GB" altLang="en-US" sz="1000" dirty="0"/>
              <a:t> modelling, see program </a:t>
            </a:r>
            <a:r>
              <a:rPr lang="en-GB" altLang="en-US" sz="1000" i="1" dirty="0" err="1"/>
              <a:t>FaultFold</a:t>
            </a:r>
            <a:r>
              <a:rPr lang="en-GB" altLang="en-US" sz="1000" i="0" dirty="0"/>
              <a:t> on </a:t>
            </a:r>
            <a:r>
              <a:rPr lang="en-GB" altLang="en-US" sz="1000" dirty="0"/>
              <a:t>Rick Allmendinger’s site (https://www.rickallmendinger.net/)</a:t>
            </a:r>
          </a:p>
          <a:p>
            <a:pPr marL="108000" indent="-108000">
              <a:buFont typeface="Arial" panose="020B0604020202020204" pitchFamily="34" charset="0"/>
              <a:buChar char="•"/>
            </a:pPr>
            <a:r>
              <a:rPr lang="en-GB" altLang="en-US" sz="1000" dirty="0"/>
              <a:t>Figure left from Fossen, p.366</a:t>
            </a:r>
          </a:p>
          <a:p>
            <a:pPr marL="108000" indent="-108000">
              <a:buFont typeface="Arial" panose="020B0604020202020204" pitchFamily="34" charset="0"/>
              <a:buChar char="•"/>
            </a:pPr>
            <a:r>
              <a:rPr lang="en-GB" altLang="en-US" sz="1000" dirty="0"/>
              <a:t>Figure middle (from Fossen, p.200) showing the parameters used in </a:t>
            </a:r>
            <a:r>
              <a:rPr lang="en-GB" altLang="en-US" sz="1000" dirty="0" err="1"/>
              <a:t>trishear</a:t>
            </a:r>
            <a:r>
              <a:rPr lang="en-GB" altLang="en-US" sz="1000" dirty="0"/>
              <a:t> modelling and an example of its implementation for folds developed ahead of the tip of a reverse fault</a:t>
            </a:r>
          </a:p>
          <a:p>
            <a:pPr marL="108000" indent="-108000">
              <a:buFont typeface="Arial" panose="020B0604020202020204" pitchFamily="34" charset="0"/>
              <a:buChar char="•"/>
            </a:pPr>
            <a:r>
              <a:rPr lang="en-GB" altLang="en-US" sz="1000" dirty="0"/>
              <a:t>Figure right (from Fossen, p.199) showing </a:t>
            </a:r>
            <a:r>
              <a:rPr lang="en-GB" altLang="en-US" sz="1000" dirty="0" err="1"/>
              <a:t>trishear</a:t>
            </a:r>
            <a:r>
              <a:rPr lang="en-GB" altLang="en-US" sz="1000" dirty="0"/>
              <a:t> modelling of folds ahead of an upward propagating normal fault</a:t>
            </a:r>
          </a:p>
          <a:p>
            <a:pPr marL="0" indent="0">
              <a:buFont typeface="Arial" panose="020B0604020202020204" pitchFamily="34" charset="0"/>
              <a:buNone/>
            </a:pPr>
            <a:endParaRPr lang="en-GB" altLang="en-US" sz="10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F5CAA20-3F32-47AE-A955-7B638BE8733F}"/>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9E41BD18-F041-46DA-B1E2-EA5954CF962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Fault overlap leads to a wide range of structures that are noted in the discussion of transfer zones below (Slides 42-43). Clay smears are important because they can seal the faults within a fluid reservoir (see Fossen, p.213-214). For a comprehensive review of the formation of clay smears and their influence on fluid flow, see </a:t>
            </a:r>
            <a:r>
              <a:rPr lang="en-GB" altLang="en-US" sz="1000" dirty="0" err="1"/>
              <a:t>Vrolijk</a:t>
            </a:r>
            <a:r>
              <a:rPr lang="en-GB" altLang="en-US" sz="1000" dirty="0"/>
              <a:t> </a:t>
            </a:r>
            <a:r>
              <a:rPr lang="en-GB" altLang="en-US" sz="1000" i="1" dirty="0"/>
              <a:t>et al.</a:t>
            </a:r>
            <a:r>
              <a:rPr lang="en-GB" altLang="en-US" sz="1000" dirty="0"/>
              <a:t>, 2016, </a:t>
            </a:r>
            <a:r>
              <a:rPr lang="en-GB" altLang="en-US" sz="1000" i="1" dirty="0"/>
              <a:t>Journal of Structural Geology</a:t>
            </a:r>
            <a:r>
              <a:rPr lang="en-GB" altLang="en-US" sz="1000" dirty="0"/>
              <a:t> 86: 95-152, </a:t>
            </a:r>
            <a:r>
              <a:rPr lang="en-GB" sz="1000" dirty="0"/>
              <a:t>https://doi.org/10.1016/j.jsg.2015.09.006</a:t>
            </a:r>
            <a:endParaRPr lang="en-GB" altLang="en-US" sz="1000" dirty="0"/>
          </a:p>
          <a:p>
            <a:pPr marL="108000" indent="-108000">
              <a:spcBef>
                <a:spcPts val="300"/>
              </a:spcBef>
              <a:buFont typeface="Arial" panose="020B0604020202020204" pitchFamily="34" charset="0"/>
              <a:buChar char="•"/>
            </a:pPr>
            <a:r>
              <a:rPr lang="en-GB" altLang="en-US" sz="1000" dirty="0"/>
              <a:t>Photo left (Fossen, one of the extra figures on the web-site for the book, folk.uib.no/</a:t>
            </a:r>
            <a:r>
              <a:rPr lang="en-GB" altLang="en-US" sz="1000" dirty="0" err="1"/>
              <a:t>nglhe</a:t>
            </a:r>
            <a:r>
              <a:rPr lang="en-GB" altLang="en-US" sz="1000" dirty="0"/>
              <a:t>/StructuralGeoBook.html; see Fossen, p.213): clay smear developed on a normal fault within interbedded fluvial sandstone and mudstone units, </a:t>
            </a:r>
            <a:r>
              <a:rPr lang="en-GB" altLang="en-US" sz="1000" dirty="0" err="1"/>
              <a:t>Castlegate</a:t>
            </a:r>
            <a:r>
              <a:rPr lang="en-GB" altLang="en-US" sz="1000" dirty="0"/>
              <a:t> Formation, Salina, Utah. In this case a centimetre-thick clay smear along the fault separates porous sandstone units that are of reservoir quality</a:t>
            </a:r>
          </a:p>
          <a:p>
            <a:pPr marL="108000" indent="-108000">
              <a:spcBef>
                <a:spcPts val="300"/>
              </a:spcBef>
              <a:buFont typeface="Arial" panose="020B0604020202020204" pitchFamily="34" charset="0"/>
              <a:buChar char="•"/>
            </a:pPr>
            <a:r>
              <a:rPr lang="en-GB" altLang="en-US" sz="1000" dirty="0"/>
              <a:t>Photo right (from Fossen, p.209): clay smear formed where a muddier layer has been caught between two overlapping faults (Moab, Utah)</a:t>
            </a:r>
          </a:p>
          <a:p>
            <a:pPr marL="108000" indent="-108000">
              <a:spcBef>
                <a:spcPts val="300"/>
              </a:spcBef>
              <a:buFont typeface="Arial" panose="020B0604020202020204" pitchFamily="34" charset="0"/>
              <a:buChar char="•"/>
            </a:pPr>
            <a:r>
              <a:rPr lang="en-GB" altLang="en-US" sz="1000" dirty="0"/>
              <a:t>Figures top right are from Fossen, p.201</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083F9A42-4964-4698-9A7C-B05921DD4E69}"/>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159043CE-C427-4A17-9257-06B170358BBB}"/>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Fault bends (changes in fault strike) are considered below (Slide 44) and will be revisited in more detail in the lecture on strike-slip tectonic regimes (Class 10). We will also look in more detail at roll-over </a:t>
            </a:r>
            <a:r>
              <a:rPr lang="en-GB" altLang="en-US" sz="1000" dirty="0" err="1"/>
              <a:t>antiforms</a:t>
            </a:r>
            <a:r>
              <a:rPr lang="en-GB" altLang="en-US" sz="1000" dirty="0"/>
              <a:t> and the structures associated with normal faults in the lecture on extensional tectonic regimes (Class 9)</a:t>
            </a:r>
          </a:p>
          <a:p>
            <a:pPr marL="108000" indent="-108000">
              <a:spcBef>
                <a:spcPts val="300"/>
              </a:spcBef>
              <a:buFont typeface="Arial" panose="020B0604020202020204" pitchFamily="34" charset="0"/>
              <a:buChar char="•"/>
            </a:pPr>
            <a:r>
              <a:rPr lang="en-GB" altLang="en-US" sz="1000" dirty="0"/>
              <a:t>Figure left from Ramsay &amp; Huber, p.518</a:t>
            </a:r>
          </a:p>
          <a:p>
            <a:pPr marL="108000" indent="-108000">
              <a:spcBef>
                <a:spcPts val="300"/>
              </a:spcBef>
              <a:buFont typeface="Arial" panose="020B0604020202020204" pitchFamily="34" charset="0"/>
              <a:buChar char="•"/>
            </a:pPr>
            <a:r>
              <a:rPr lang="en-GB" altLang="en-US" sz="1000" dirty="0"/>
              <a:t>Figure right (Fossen, one of the extra figures on the web-site for the book, folk.uib.no/</a:t>
            </a:r>
            <a:r>
              <a:rPr lang="en-GB" altLang="en-US" sz="1000" dirty="0" err="1"/>
              <a:t>nglhe</a:t>
            </a:r>
            <a:r>
              <a:rPr lang="en-GB" altLang="en-US" sz="1000" dirty="0"/>
              <a:t>/StructuralGeoBook.html; see Fossen, p.197): a rollover </a:t>
            </a:r>
            <a:r>
              <a:rPr lang="en-GB" altLang="en-US" sz="1000" dirty="0" err="1"/>
              <a:t>antiform</a:t>
            </a:r>
            <a:r>
              <a:rPr lang="en-GB" altLang="en-US" sz="1000" dirty="0"/>
              <a:t> developed over a bend in a normal fault, </a:t>
            </a:r>
            <a:r>
              <a:rPr lang="en-GB" altLang="en-US" sz="1000" dirty="0" err="1"/>
              <a:t>Matulla</a:t>
            </a:r>
            <a:r>
              <a:rPr lang="en-GB" altLang="en-US" sz="1000" dirty="0"/>
              <a:t> Formation, Wadi </a:t>
            </a:r>
            <a:r>
              <a:rPr lang="en-GB" altLang="en-US" sz="1000" dirty="0" err="1"/>
              <a:t>Matulla</a:t>
            </a:r>
            <a:r>
              <a:rPr lang="en-GB" altLang="en-US" sz="1000" dirty="0"/>
              <a:t>, Sinai</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04DA693C-7DBA-4254-8DC8-AF47C9A9F025}"/>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4CE2D5C2-975B-4E81-AF50-3497D91C3965}"/>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Note that “slickensides” is not always used in accordance with its precise definition. Strictly, “slickensides” refers to the polished surface. However, it is often used in a more general sense to refer to the </a:t>
            </a:r>
            <a:r>
              <a:rPr lang="en-GB" altLang="en-US" sz="1000" dirty="0" err="1"/>
              <a:t>lineations</a:t>
            </a:r>
            <a:r>
              <a:rPr lang="en-GB" altLang="en-US" sz="1000" dirty="0"/>
              <a:t> (variously described as </a:t>
            </a:r>
            <a:r>
              <a:rPr lang="en-GB" altLang="en-US" sz="1000" dirty="0" err="1"/>
              <a:t>slickenlines</a:t>
            </a:r>
            <a:r>
              <a:rPr lang="en-GB" altLang="en-US" sz="1000" dirty="0"/>
              <a:t>, slickenside </a:t>
            </a:r>
            <a:r>
              <a:rPr lang="en-GB" altLang="en-US" sz="1000" dirty="0" err="1"/>
              <a:t>lineations</a:t>
            </a:r>
            <a:r>
              <a:rPr lang="en-GB" altLang="en-US" sz="1000" dirty="0"/>
              <a:t>, striations, </a:t>
            </a:r>
            <a:r>
              <a:rPr lang="en-GB" altLang="en-US" sz="1000" dirty="0" err="1"/>
              <a:t>slickenfibres</a:t>
            </a:r>
            <a:r>
              <a:rPr lang="en-GB" altLang="en-US" sz="1000" dirty="0"/>
              <a:t>) on a fault surface</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Highly polished (mirror-like) fault surfaces are commonly observed on faults formed at shallow crustal depths. In carbonate-rich lithologies they arise from decomposition (chemical breakdown) of the carbonates during seismic ruptures – the solid reaction products of the decomposition (for dolomite = MgO + Mg-calcite) are nanometric-size particles that form thin (10-100 µm) layers on the fault surface. As such, they are indicators of fast (seismic) slip-rates (see Slide 30). For further discussion, see </a:t>
            </a:r>
            <a:r>
              <a:rPr lang="en-GB" altLang="en-US" sz="1000" dirty="0" err="1"/>
              <a:t>Fondriest</a:t>
            </a:r>
            <a:r>
              <a:rPr lang="en-GB" altLang="en-US" sz="1000" dirty="0"/>
              <a:t> </a:t>
            </a:r>
            <a:r>
              <a:rPr lang="en-GB" altLang="en-US" sz="1000" i="1" dirty="0"/>
              <a:t>et al.</a:t>
            </a:r>
            <a:r>
              <a:rPr lang="en-GB" altLang="en-US" sz="1000" dirty="0"/>
              <a:t>, 2013, </a:t>
            </a:r>
            <a:r>
              <a:rPr lang="en-GB" altLang="en-US" sz="1000" i="1" dirty="0"/>
              <a:t>Geology</a:t>
            </a:r>
            <a:r>
              <a:rPr lang="en-GB" altLang="en-US" sz="1000" dirty="0"/>
              <a:t> 41: 1175-1178, </a:t>
            </a:r>
            <a:r>
              <a:rPr lang="en-GB" sz="1000" dirty="0"/>
              <a:t>https://doi.org/10.1130/G34641.1</a:t>
            </a:r>
            <a:endParaRPr lang="en-GB" altLang="en-US" sz="1000" dirty="0"/>
          </a:p>
          <a:p>
            <a:pPr marL="108000" indent="-108000">
              <a:spcBef>
                <a:spcPts val="300"/>
              </a:spcBef>
              <a:buFont typeface="Arial" panose="020B0604020202020204" pitchFamily="34" charset="0"/>
              <a:buChar char="•"/>
            </a:pPr>
            <a:r>
              <a:rPr lang="en-GB" altLang="en-US" sz="1000" dirty="0"/>
              <a:t>Photo (from a PowerPoint presentation by Richard Lisle): a highly polished and lineated fault surface, </a:t>
            </a:r>
            <a:r>
              <a:rPr lang="en-GB" altLang="en-US" sz="1000" dirty="0" err="1"/>
              <a:t>Comillas</a:t>
            </a:r>
            <a:r>
              <a:rPr lang="en-GB" altLang="en-US" sz="1000" dirty="0"/>
              <a:t>, northern Spain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4D93E75F-9442-45E0-A6BB-7BC4BEF36150}"/>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4C7043-C984-4571-9819-CA36C5F5218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 reminder of what </a:t>
            </a:r>
            <a:r>
              <a:rPr lang="en-GB" altLang="en-US" sz="1000" dirty="0" err="1"/>
              <a:t>slickolites</a:t>
            </a:r>
            <a:r>
              <a:rPr lang="en-GB" altLang="en-US" sz="1000" dirty="0"/>
              <a:t> are, see Class 6 Slide 10</a:t>
            </a:r>
          </a:p>
          <a:p>
            <a:pPr marL="108000" indent="-108000">
              <a:spcBef>
                <a:spcPts val="300"/>
              </a:spcBef>
              <a:buFont typeface="Arial" panose="020B0604020202020204" pitchFamily="34" charset="0"/>
              <a:buChar char="•"/>
            </a:pPr>
            <a:r>
              <a:rPr lang="en-GB" altLang="en-US" sz="1000" dirty="0"/>
              <a:t>In the figures on this and the following few slides, a step on a fault surface is described as </a:t>
            </a:r>
            <a:r>
              <a:rPr lang="en-GB" altLang="en-US" sz="1000" b="1" i="1" dirty="0"/>
              <a:t>incongruous</a:t>
            </a:r>
            <a:r>
              <a:rPr lang="en-GB" altLang="en-US" sz="1000" dirty="0"/>
              <a:t> if it faces against the movement of the overlying block, and as </a:t>
            </a:r>
            <a:r>
              <a:rPr lang="en-GB" altLang="en-US" sz="1000" b="1" i="1" dirty="0"/>
              <a:t>congruous</a:t>
            </a:r>
            <a:r>
              <a:rPr lang="en-GB" altLang="en-US" sz="1000" dirty="0"/>
              <a:t> if it faces in the direction of movement of the overlying block. Incongruous steps are therefore regions of compression (like a thrust ramp), and congruous steps are regions of dilatancy (like a low angle normal fault)</a:t>
            </a:r>
          </a:p>
          <a:p>
            <a:pPr marL="108000" indent="-108000">
              <a:spcBef>
                <a:spcPts val="300"/>
              </a:spcBef>
              <a:buFont typeface="Arial" panose="020B0604020202020204" pitchFamily="34" charset="0"/>
              <a:buChar char="•"/>
            </a:pPr>
            <a:r>
              <a:rPr lang="en-GB" altLang="en-US" sz="1000" dirty="0"/>
              <a:t>Figure left by Steve Covey-Crump</a:t>
            </a:r>
          </a:p>
          <a:p>
            <a:pPr marL="108000" indent="-108000">
              <a:spcBef>
                <a:spcPts val="300"/>
              </a:spcBef>
              <a:buFont typeface="Arial" panose="020B0604020202020204" pitchFamily="34" charset="0"/>
              <a:buChar char="•"/>
            </a:pPr>
            <a:r>
              <a:rPr lang="en-GB" altLang="en-US" sz="1000" dirty="0"/>
              <a:t>Figures middle and right from Twiss &amp; </a:t>
            </a:r>
            <a:r>
              <a:rPr lang="en-GB" altLang="en-US" sz="1000" dirty="0" err="1"/>
              <a:t>Moores</a:t>
            </a:r>
            <a:r>
              <a:rPr lang="en-GB" altLang="en-US" sz="1000" dirty="0"/>
              <a:t>, p.73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2476DB6-7A82-413A-85F0-45D198215D23}"/>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21A5F328-D2D2-42B4-BAB5-908058BBAFC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To get the movement sense for the photo on the right: the smooth direction requires you to move your hand to the right and therefore the other side of the fault (the side we can see) has moved to the left (</a:t>
            </a:r>
            <a:r>
              <a:rPr lang="en-GB" altLang="en-US" sz="1000" dirty="0" err="1"/>
              <a:t>sinistral</a:t>
            </a:r>
            <a:r>
              <a:rPr lang="en-GB" altLang="en-US" sz="1000" dirty="0"/>
              <a:t>)</a:t>
            </a:r>
          </a:p>
          <a:p>
            <a:pPr marL="108000" indent="-108000">
              <a:spcBef>
                <a:spcPts val="300"/>
              </a:spcBef>
              <a:buFont typeface="Arial" panose="020B0604020202020204" pitchFamily="34" charset="0"/>
              <a:buChar char="•"/>
            </a:pPr>
            <a:r>
              <a:rPr lang="en-GB" altLang="en-US" sz="1000" dirty="0"/>
              <a:t>Figure top right is from Twiss &amp; </a:t>
            </a:r>
            <a:r>
              <a:rPr lang="en-GB" altLang="en-US" sz="1000" dirty="0" err="1"/>
              <a:t>Moores</a:t>
            </a:r>
            <a:r>
              <a:rPr lang="en-GB" altLang="en-US" sz="1000" dirty="0"/>
              <a:t>, p.73</a:t>
            </a:r>
          </a:p>
          <a:p>
            <a:pPr marL="108000" indent="-108000">
              <a:spcBef>
                <a:spcPts val="300"/>
              </a:spcBef>
              <a:buFont typeface="Arial" panose="020B0604020202020204" pitchFamily="34" charset="0"/>
              <a:buChar char="•"/>
            </a:pPr>
            <a:r>
              <a:rPr lang="en-GB" altLang="en-US" sz="1000" dirty="0"/>
              <a:t>Photo left (Steve Covey-Crump): gypsum </a:t>
            </a:r>
            <a:r>
              <a:rPr lang="en-GB" altLang="en-US" sz="1000" dirty="0" err="1"/>
              <a:t>slickenfibres</a:t>
            </a:r>
            <a:r>
              <a:rPr lang="en-GB" altLang="en-US" sz="1000" dirty="0"/>
              <a:t> on the St. Lion’s Thrust, </a:t>
            </a:r>
            <a:r>
              <a:rPr lang="en-GB" altLang="en-US" sz="1000" dirty="0" err="1"/>
              <a:t>Barrême</a:t>
            </a:r>
            <a:r>
              <a:rPr lang="en-GB" altLang="en-US" sz="1000" dirty="0"/>
              <a:t> Basin, SE France</a:t>
            </a:r>
          </a:p>
          <a:p>
            <a:pPr marL="108000" indent="-108000">
              <a:spcBef>
                <a:spcPts val="300"/>
              </a:spcBef>
              <a:buFont typeface="Arial" panose="020B0604020202020204" pitchFamily="34" charset="0"/>
              <a:buChar char="•"/>
            </a:pPr>
            <a:r>
              <a:rPr lang="en-GB" altLang="en-US" sz="1000" dirty="0"/>
              <a:t>Photo right (Steve Covey-Crump): calcite </a:t>
            </a:r>
            <a:r>
              <a:rPr lang="en-GB" altLang="en-US" sz="1000" dirty="0" err="1"/>
              <a:t>slickenfibres</a:t>
            </a:r>
            <a:r>
              <a:rPr lang="en-GB" altLang="en-US" sz="1000" dirty="0"/>
              <a:t> in La Condamine Formation, near </a:t>
            </a:r>
            <a:r>
              <a:rPr lang="en-GB" altLang="en-US" sz="1000" dirty="0" err="1"/>
              <a:t>Barrême</a:t>
            </a:r>
            <a:r>
              <a:rPr lang="en-GB" altLang="en-US" sz="1000" dirty="0"/>
              <a:t>, SE France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A67FD4F-0809-467A-AD46-D1404832E6A9}"/>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C2ED03E9-FF57-4A49-BC12-15A21072C91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p.75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AE629DE-43B1-4DEE-A11E-9030D5635F45}"/>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51585515-8740-4385-B6C3-D93FA70F779B}"/>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Although at the field observation scale nearly all fault surfaces contain ridges and grooves, at the sub-millimetre scale (typically less than </a:t>
            </a:r>
            <a:r>
              <a:rPr lang="en-GB" altLang="en-US" sz="1000" spc="150" baseline="0" dirty="0"/>
              <a:t>4-</a:t>
            </a:r>
            <a:r>
              <a:rPr lang="en-GB" altLang="en-US" sz="1000" dirty="0"/>
              <a:t>500 µm) the surface roughness of the fault plane becomes isotropic (</a:t>
            </a:r>
            <a:r>
              <a:rPr lang="en-GB" altLang="en-US" sz="1000" dirty="0" err="1"/>
              <a:t>ungrooved</a:t>
            </a:r>
            <a:r>
              <a:rPr lang="en-GB" altLang="en-US" sz="1000" dirty="0"/>
              <a:t>). This transition from grooved to </a:t>
            </a:r>
            <a:r>
              <a:rPr lang="en-GB" altLang="en-US" sz="1000" dirty="0" err="1"/>
              <a:t>ungrooved</a:t>
            </a:r>
            <a:r>
              <a:rPr lang="en-GB" altLang="en-US" sz="1000" dirty="0"/>
              <a:t> reflects the deformation of the asperities that generate the grooves – at large scales they behave as hard indenters, but at very small scales they yield plastically. For details, see Candela &amp; Brodsky, 2016, </a:t>
            </a:r>
            <a:r>
              <a:rPr lang="en-GB" altLang="en-US" sz="1000" i="1" dirty="0"/>
              <a:t>Geology</a:t>
            </a:r>
            <a:r>
              <a:rPr lang="en-GB" altLang="en-US" sz="1000" dirty="0"/>
              <a:t> 44: 603-606, </a:t>
            </a:r>
            <a:r>
              <a:rPr lang="en-GB" sz="1000" dirty="0"/>
              <a:t>https://doi.org/10.1130/G37934.1</a:t>
            </a:r>
            <a:endParaRPr lang="en-GB" altLang="en-US" sz="1000" dirty="0"/>
          </a:p>
          <a:p>
            <a:pPr marL="108000" indent="-108000">
              <a:spcBef>
                <a:spcPts val="300"/>
              </a:spcBef>
              <a:buFont typeface="Arial" panose="020B0604020202020204" pitchFamily="34" charset="0"/>
              <a:buChar char="•"/>
            </a:pPr>
            <a:r>
              <a:rPr lang="en-GB" altLang="en-US" sz="1000" dirty="0"/>
              <a:t>Photo (by José Miguel Martínez: www.ugr.es/~jmmm/Fotos_Eng.htm)</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768869C-FA9A-4EB2-92B7-0868A0A2C489}"/>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6971999E-8377-4B52-9932-4FD5B8AE9E6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US" altLang="en-US" sz="1000" dirty="0"/>
              <a:t>For a reminder about tension gashes, see Class 4 Slides 33-36; for pinnate fractures, see Class 6 Slide 12; for Riedel shears, see Class 4 Slide 45</a:t>
            </a:r>
          </a:p>
          <a:p>
            <a:pPr marL="108000" indent="-108000">
              <a:spcBef>
                <a:spcPts val="300"/>
              </a:spcBef>
              <a:buFont typeface="Arial" panose="020B0604020202020204" pitchFamily="34" charset="0"/>
              <a:buChar char="•"/>
            </a:pPr>
            <a:r>
              <a:rPr lang="en-US" altLang="en-US" sz="1000" dirty="0"/>
              <a:t>There are many other sense of shear indicators, although all the significant ones have been described in these slides. For further information, see </a:t>
            </a:r>
            <a:r>
              <a:rPr lang="en-US" altLang="en-US" sz="1000" dirty="0" err="1"/>
              <a:t>Doblas</a:t>
            </a:r>
            <a:r>
              <a:rPr lang="en-US" altLang="en-US" sz="1000" dirty="0"/>
              <a:t>, 1998, </a:t>
            </a:r>
            <a:r>
              <a:rPr lang="en-US" altLang="en-US" sz="1000" i="1" dirty="0"/>
              <a:t>Tectonophysics</a:t>
            </a:r>
            <a:r>
              <a:rPr lang="en-US" altLang="en-US" sz="1000" dirty="0"/>
              <a:t> 295: 187-197, </a:t>
            </a:r>
            <a:r>
              <a:rPr lang="en-GB" sz="1000" dirty="0"/>
              <a:t>https://doi.org/10.1016/S0040-1951(98)00120-6</a:t>
            </a:r>
            <a:endParaRPr lang="en-US" altLang="en-US" sz="1000" dirty="0"/>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p.74</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E5A220B2-77F6-4496-A8D4-A26145FA118B}" type="slidenum">
              <a:rPr lang="en-GB" altLang="en-US" smtClean="0"/>
              <a:pPr/>
              <a:t>21</a:t>
            </a:fld>
            <a:endParaRPr lang="en-GB" altLang="en-US"/>
          </a:p>
        </p:txBody>
      </p:sp>
    </p:spTree>
    <p:extLst>
      <p:ext uri="{BB962C8B-B14F-4D97-AF65-F5344CB8AC3E}">
        <p14:creationId xmlns:p14="http://schemas.microsoft.com/office/powerpoint/2010/main" val="720248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016A392F-0727-425B-B58B-F381382BD051}"/>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F869973E-F464-4F20-84BF-14C356DD09D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figures show the stress at failure for experiments at three different confining pressures plotted as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vs.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3</a:t>
            </a:r>
            <a:r>
              <a:rPr lang="en-GB" altLang="en-US" sz="1000" dirty="0">
                <a:latin typeface="Times New Roman" panose="02020603050405020304" pitchFamily="18" charset="0"/>
                <a:cs typeface="Times New Roman" panose="02020603050405020304" pitchFamily="18" charset="0"/>
              </a:rPr>
              <a:t>, and the same data plotted on a Mohr diagram. In the Mohr diagram the red dots show the stresses on the fault plane that formed when the sample failed; the red line is the failure envelope. Because the failure envelope is a straight line, the angle between the fault plane and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is the same in all three tests. [Note that when we described Mohr diagrams in Class 5 Slide 9, we specified the orientation of a plane by the angle </a:t>
            </a:r>
            <a:r>
              <a:rPr lang="en-GB" altLang="en-US" sz="1000" spc="100" baseline="0" dirty="0">
                <a:latin typeface="Times New Roman" panose="02020603050405020304" pitchFamily="18" charset="0"/>
                <a:cs typeface="Times New Roman" panose="02020603050405020304" pitchFamily="18" charset="0"/>
              </a:rPr>
              <a:t>(</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between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 </a:t>
            </a:r>
            <a:r>
              <a:rPr lang="en-GB" altLang="en-US" sz="1000" dirty="0">
                <a:latin typeface="Times New Roman" panose="02020603050405020304" pitchFamily="18" charset="0"/>
                <a:cs typeface="Times New Roman" panose="02020603050405020304" pitchFamily="18" charset="0"/>
              </a:rPr>
              <a:t>and the normal to the plane, not the angle </a:t>
            </a:r>
            <a:r>
              <a:rPr lang="en-GB" altLang="en-US" sz="1000" spc="100" baseline="0" dirty="0">
                <a:latin typeface="Times New Roman" panose="02020603050405020304" pitchFamily="18" charset="0"/>
                <a:cs typeface="Times New Roman" panose="02020603050405020304" pitchFamily="18" charset="0"/>
              </a:rPr>
              <a:t>(</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between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latin typeface="Times New Roman" panose="02020603050405020304" pitchFamily="18" charset="0"/>
                <a:cs typeface="Times New Roman" panose="02020603050405020304" pitchFamily="18" charset="0"/>
              </a:rPr>
              <a:t>1</a:t>
            </a:r>
            <a:r>
              <a:rPr lang="en-GB" altLang="en-US" sz="1000" dirty="0">
                <a:latin typeface="Times New Roman" panose="02020603050405020304" pitchFamily="18" charset="0"/>
                <a:cs typeface="Times New Roman" panose="02020603050405020304" pitchFamily="18" charset="0"/>
              </a:rPr>
              <a:t> and the plane. However, note that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 90°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I showed the Mohr circle construction using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i="1" dirty="0">
                <a:latin typeface="Times New Roman" panose="02020603050405020304" pitchFamily="18" charset="0"/>
                <a:cs typeface="Times New Roman" panose="02020603050405020304" pitchFamily="18" charset="0"/>
              </a:rPr>
              <a:t> </a:t>
            </a:r>
            <a:r>
              <a:rPr lang="en-GB" altLang="en-US" sz="1000" i="0" dirty="0">
                <a:latin typeface="Times New Roman" panose="02020603050405020304" pitchFamily="18" charset="0"/>
                <a:cs typeface="Times New Roman" panose="02020603050405020304" pitchFamily="18" charset="0"/>
              </a:rPr>
              <a:t>instead of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θ</a:t>
            </a:r>
            <a:r>
              <a:rPr lang="en-GB" altLang="en-US" sz="1000" dirty="0">
                <a:latin typeface="Times New Roman" panose="02020603050405020304" pitchFamily="18" charset="0"/>
                <a:cs typeface="Times New Roman" panose="02020603050405020304" pitchFamily="18" charset="0"/>
              </a:rPr>
              <a:t> in Class 5 Slide 10</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By looking at the Mohr diagram on this slide, it is apparent from the fact that the internal angles of a triangle add up to 180°, that for a linear failure envelope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 45° - </a:t>
            </a:r>
            <a:r>
              <a:rPr lang="en-GB" altLang="en-US" sz="1000" spc="150" baseline="0" dirty="0">
                <a:latin typeface="Times New Roman" panose="02020603050405020304" pitchFamily="18" charset="0"/>
                <a:cs typeface="Times New Roman" panose="02020603050405020304" pitchFamily="18" charset="0"/>
              </a:rPr>
              <a:t>(</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spc="150" baseline="0" dirty="0">
                <a:latin typeface="Times New Roman" panose="02020603050405020304" pitchFamily="18" charset="0"/>
                <a:cs typeface="Times New Roman" panose="02020603050405020304" pitchFamily="18" charset="0"/>
              </a:rPr>
              <a:t>/2</a:t>
            </a:r>
            <a:r>
              <a:rPr lang="en-GB" altLang="en-US" sz="1000" dirty="0">
                <a:latin typeface="Times New Roman" panose="02020603050405020304" pitchFamily="18" charset="0"/>
                <a:cs typeface="Times New Roman" panose="02020603050405020304" pitchFamily="18" charset="0"/>
              </a:rPr>
              <a:t>). Since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dirty="0">
                <a:latin typeface="Times New Roman" panose="02020603050405020304" pitchFamily="18" charset="0"/>
                <a:cs typeface="Times New Roman" panose="02020603050405020304" pitchFamily="18" charset="0"/>
              </a:rPr>
              <a:t> ~ 30° then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α</a:t>
            </a:r>
            <a:r>
              <a:rPr lang="en-GB" altLang="en-US" sz="1000" dirty="0">
                <a:latin typeface="Times New Roman" panose="02020603050405020304" pitchFamily="18" charset="0"/>
                <a:cs typeface="Times New Roman" panose="02020603050405020304" pitchFamily="18" charset="0"/>
              </a:rPr>
              <a:t> ~ 30°</a:t>
            </a:r>
            <a:endParaRPr lang="el-GR" altLang="en-US" sz="100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 equation </a:t>
            </a:r>
            <a:r>
              <a:rPr lang="el-GR" altLang="en-US" sz="1000" i="1" dirty="0">
                <a:latin typeface="Times New Roman" panose="02020603050405020304" pitchFamily="18" charset="0"/>
                <a:ea typeface="Cambria Math" panose="02040503050406030204" pitchFamily="18" charset="0"/>
                <a:cs typeface="Times New Roman" panose="02020603050405020304" pitchFamily="18" charset="0"/>
              </a:rPr>
              <a:t>τ</a:t>
            </a:r>
            <a:r>
              <a:rPr lang="en-GB" altLang="en-US" sz="1000" dirty="0">
                <a:latin typeface="Times New Roman" panose="02020603050405020304" pitchFamily="18" charset="0"/>
                <a:ea typeface="Cambria Math" panose="02040503050406030204" pitchFamily="18" charset="0"/>
                <a:cs typeface="Times New Roman" panose="02020603050405020304" pitchFamily="18" charset="0"/>
              </a:rPr>
              <a:t> =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τ</a:t>
            </a:r>
            <a:r>
              <a:rPr lang="en-GB" altLang="en-US" sz="1000" i="0" baseline="-25000" dirty="0">
                <a:latin typeface="Times New Roman" panose="02020603050405020304" pitchFamily="18" charset="0"/>
                <a:ea typeface="Cambria Math" panose="02040503050406030204" pitchFamily="18" charset="0"/>
                <a:cs typeface="Times New Roman" panose="02020603050405020304" pitchFamily="18" charset="0"/>
              </a:rPr>
              <a:t>0</a:t>
            </a:r>
            <a:r>
              <a:rPr lang="en-GB" altLang="en-US" sz="1000" i="0" baseline="0" dirty="0">
                <a:latin typeface="Times New Roman" panose="02020603050405020304" pitchFamily="18" charset="0"/>
                <a:ea typeface="Cambria Math" panose="02040503050406030204" pitchFamily="18" charset="0"/>
                <a:cs typeface="Times New Roman" panose="02020603050405020304" pitchFamily="18" charset="0"/>
              </a:rPr>
              <a:t> + </a:t>
            </a:r>
            <a:r>
              <a:rPr lang="el-GR" altLang="en-US" sz="1000" i="1" baseline="0"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baseline="-25000" dirty="0">
                <a:latin typeface="Times New Roman" panose="02020603050405020304" pitchFamily="18" charset="0"/>
                <a:ea typeface="Cambria Math" panose="02040503050406030204" pitchFamily="18" charset="0"/>
                <a:cs typeface="Times New Roman" panose="02020603050405020304" pitchFamily="18" charset="0"/>
              </a:rPr>
              <a:t>n </a:t>
            </a:r>
            <a:r>
              <a:rPr lang="en-GB" altLang="en-US" sz="1000" i="0" baseline="0" dirty="0">
                <a:latin typeface="Times New Roman" panose="02020603050405020304" pitchFamily="18" charset="0"/>
                <a:ea typeface="Cambria Math" panose="02040503050406030204" pitchFamily="18" charset="0"/>
                <a:cs typeface="Times New Roman" panose="02020603050405020304" pitchFamily="18" charset="0"/>
              </a:rPr>
              <a:t>tan </a:t>
            </a:r>
            <a:r>
              <a:rPr lang="el-GR" altLang="en-US" sz="1000" i="1" baseline="0"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i="0" baseline="0" dirty="0">
                <a:latin typeface="Times New Roman" panose="02020603050405020304" pitchFamily="18" charset="0"/>
                <a:ea typeface="Cambria Math" panose="02040503050406030204" pitchFamily="18" charset="0"/>
                <a:cs typeface="Times New Roman" panose="02020603050405020304" pitchFamily="18" charset="0"/>
              </a:rPr>
              <a:t>, which </a:t>
            </a:r>
            <a:r>
              <a:rPr lang="en-GB" altLang="en-US" sz="1000" dirty="0">
                <a:latin typeface="Times New Roman" panose="02020603050405020304" pitchFamily="18" charset="0"/>
                <a:cs typeface="Times New Roman" panose="02020603050405020304" pitchFamily="18" charset="0"/>
              </a:rPr>
              <a:t>describes a linear failure envelope, is known as the Coulomb failure criterion</a:t>
            </a:r>
            <a:r>
              <a:rPr lang="en-GB" altLang="en-US" sz="1000" i="0" baseline="0" dirty="0">
                <a:latin typeface="Times New Roman" panose="02020603050405020304" pitchFamily="18" charset="0"/>
                <a:ea typeface="Cambria Math" panose="02040503050406030204" pitchFamily="18" charset="0"/>
                <a:cs typeface="Times New Roman" panose="02020603050405020304" pitchFamily="18" charset="0"/>
              </a:rPr>
              <a:t>. R</a:t>
            </a:r>
            <a:r>
              <a:rPr lang="en-GB" altLang="en-US" sz="1000" dirty="0">
                <a:latin typeface="Times New Roman" panose="02020603050405020304" pitchFamily="18" charset="0"/>
                <a:cs typeface="Times New Roman" panose="02020603050405020304" pitchFamily="18" charset="0"/>
              </a:rPr>
              <a:t>ocks actually tend to have slightly non-linear failure envelopes. When this is the case, the equation describing the failure envelope, written as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τ </a:t>
            </a:r>
            <a:r>
              <a:rPr lang="en-GB" altLang="en-US" sz="1000" dirty="0">
                <a:latin typeface="Times New Roman" panose="02020603050405020304" pitchFamily="18" charset="0"/>
                <a:ea typeface="Cambria Math" panose="02040503050406030204" pitchFamily="18" charset="0"/>
                <a:cs typeface="Times New Roman" panose="02020603050405020304" pitchFamily="18" charset="0"/>
              </a:rPr>
              <a:t>= </a:t>
            </a:r>
            <a:r>
              <a:rPr lang="en-GB" altLang="en-US" sz="1000" i="1" spc="150" baseline="0" dirty="0">
                <a:latin typeface="Times New Roman" panose="02020603050405020304" pitchFamily="18" charset="0"/>
                <a:ea typeface="Cambria Math" panose="02040503050406030204" pitchFamily="18" charset="0"/>
                <a:cs typeface="Times New Roman" panose="02020603050405020304" pitchFamily="18" charset="0"/>
              </a:rPr>
              <a:t>f</a:t>
            </a:r>
            <a:r>
              <a:rPr lang="en-GB" altLang="en-US" sz="1000" i="0" spc="150" baseline="0" dirty="0">
                <a:latin typeface="Times New Roman" panose="02020603050405020304" pitchFamily="18" charset="0"/>
                <a:ea typeface="Cambria Math" panose="02040503050406030204" pitchFamily="18" charset="0"/>
                <a:cs typeface="Times New Roman" panose="02020603050405020304" pitchFamily="18" charset="0"/>
              </a:rPr>
              <a:t>(</a:t>
            </a:r>
            <a:r>
              <a:rPr lang="el-GR" altLang="en-US" sz="1000" i="1" baseline="0"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i="1" spc="150" baseline="-25000" dirty="0">
                <a:latin typeface="Times New Roman" panose="02020603050405020304" pitchFamily="18" charset="0"/>
                <a:ea typeface="Cambria Math" panose="02040503050406030204" pitchFamily="18" charset="0"/>
                <a:cs typeface="Times New Roman" panose="02020603050405020304" pitchFamily="18" charset="0"/>
              </a:rPr>
              <a:t>n</a:t>
            </a:r>
            <a:r>
              <a:rPr lang="en-GB" altLang="en-US" sz="1000" i="0" baseline="0" dirty="0">
                <a:latin typeface="Times New Roman" panose="02020603050405020304" pitchFamily="18" charset="0"/>
                <a:ea typeface="Cambria Math" panose="02040503050406030204" pitchFamily="18" charset="0"/>
                <a:cs typeface="Times New Roman" panose="02020603050405020304" pitchFamily="18" charset="0"/>
              </a:rPr>
              <a:t>), </a:t>
            </a:r>
            <a:r>
              <a:rPr lang="en-GB" altLang="en-US" sz="1000" dirty="0">
                <a:latin typeface="Times New Roman" panose="02020603050405020304" pitchFamily="18" charset="0"/>
                <a:cs typeface="Times New Roman" panose="02020603050405020304" pitchFamily="18" charset="0"/>
              </a:rPr>
              <a:t>is known as the Mohr-Coulomb failure criterion</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Figures by Steve Covey-Crump</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6468E58B-1917-4EB9-AEBE-BCA9CE7EC57E}"/>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B598093A-7086-4FB8-8BC6-9D5C41B2BD6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the reasoning behind the approximation that one of the principal stresses is vertical, see Class 5 Slide 27</a:t>
            </a:r>
          </a:p>
          <a:p>
            <a:pPr marL="108000" indent="-108000">
              <a:spcBef>
                <a:spcPts val="300"/>
              </a:spcBef>
              <a:buFont typeface="Arial" panose="020B0604020202020204" pitchFamily="34" charset="0"/>
              <a:buChar char="•"/>
            </a:pPr>
            <a:r>
              <a:rPr lang="en-GB" altLang="en-US" sz="1000" dirty="0"/>
              <a:t>This slide describes the </a:t>
            </a:r>
            <a:r>
              <a:rPr lang="en-GB" altLang="en-US" sz="1000" dirty="0" err="1"/>
              <a:t>Andersonian</a:t>
            </a:r>
            <a:r>
              <a:rPr lang="en-GB" altLang="en-US" sz="1000" dirty="0"/>
              <a:t> classification of faults – see Anderson, 1905, </a:t>
            </a:r>
            <a:r>
              <a:rPr lang="en-GB" altLang="en-US" sz="1000" i="1" dirty="0"/>
              <a:t>Transactions of the Edinburgh Geological Society</a:t>
            </a:r>
            <a:r>
              <a:rPr lang="en-GB" altLang="en-US" sz="1000" dirty="0"/>
              <a:t> 8: 387-402, </a:t>
            </a:r>
            <a:r>
              <a:rPr lang="en-GB" sz="1000" dirty="0"/>
              <a:t>https://doi.org/10.1144/transed.8.3.387</a:t>
            </a:r>
            <a:r>
              <a:rPr lang="en-GB" altLang="en-US" sz="1000" dirty="0"/>
              <a:t>, and Anderson, 1951, </a:t>
            </a:r>
            <a:r>
              <a:rPr lang="en-GB" altLang="en-US" sz="1000" i="1" dirty="0"/>
              <a:t>The Dynamics of Faulting and Dyke Formation With Application to Britain</a:t>
            </a:r>
            <a:r>
              <a:rPr lang="en-GB" altLang="en-US" sz="1000" dirty="0"/>
              <a:t> (2</a:t>
            </a:r>
            <a:r>
              <a:rPr lang="en-GB" altLang="en-US" sz="1000" baseline="30000" dirty="0"/>
              <a:t>nd</a:t>
            </a:r>
            <a:r>
              <a:rPr lang="en-GB" altLang="en-US" sz="1000" dirty="0"/>
              <a:t> edition). We briefly noted this classification in Class 5 Slide 32. The classification adopts the idealization that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t>2</a:t>
            </a:r>
            <a:r>
              <a:rPr lang="en-GB" altLang="en-US" sz="1000" dirty="0"/>
              <a:t> lies in the plane of the fault, and hence leads to the notion that faults have a tendency to form conjugate pairs at </a:t>
            </a:r>
            <a:r>
              <a:rPr lang="en-GB" altLang="en-US" sz="1000" spc="150" baseline="0" dirty="0"/>
              <a:t>±</a:t>
            </a:r>
            <a:r>
              <a:rPr lang="en-GB" altLang="en-US" sz="1000" dirty="0"/>
              <a:t>30° to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cs typeface="Times New Roman" panose="02020603050405020304" pitchFamily="18" charset="0"/>
              </a:rPr>
              <a:t>1</a:t>
            </a:r>
            <a:r>
              <a:rPr lang="en-GB" altLang="en-US" sz="1000" dirty="0"/>
              <a:t> (with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baseline="-25000" dirty="0"/>
              <a:t>2</a:t>
            </a:r>
            <a:r>
              <a:rPr lang="en-GB" altLang="en-US" sz="1000" dirty="0"/>
              <a:t> being parallel to the line of intersection of the two faults). This classification is extremely widely used. However, it is commonly found, both in nature and experiment, that three or more differently oriented faults are simultaneously active, not just two conjugate faults. In such cases </a:t>
            </a:r>
            <a:r>
              <a:rPr lang="el-GR" altLang="en-US" sz="1000" i="1" dirty="0">
                <a:cs typeface="Times New Roman" panose="02020603050405020304" pitchFamily="18" charset="0"/>
              </a:rPr>
              <a:t>σ</a:t>
            </a:r>
            <a:r>
              <a:rPr lang="en-GB" altLang="en-US" sz="1000" baseline="-25000" dirty="0"/>
              <a:t>2</a:t>
            </a:r>
            <a:r>
              <a:rPr lang="en-GB" altLang="en-US" sz="1000" dirty="0"/>
              <a:t> cannot be in the plane of the active faults unless they all share a common line of intersection. The significance of this reality, and the consequent limitations of the </a:t>
            </a:r>
            <a:r>
              <a:rPr lang="en-GB" altLang="en-US" sz="1000" dirty="0" err="1"/>
              <a:t>Andersonian</a:t>
            </a:r>
            <a:r>
              <a:rPr lang="en-GB" altLang="en-US" sz="1000" dirty="0"/>
              <a:t> fault classification scheme, are discussed by Healy </a:t>
            </a:r>
            <a:r>
              <a:rPr lang="en-GB" altLang="en-US" sz="1000" i="1" dirty="0"/>
              <a:t>et al.</a:t>
            </a:r>
            <a:r>
              <a:rPr lang="en-GB" altLang="en-US" sz="1000" dirty="0"/>
              <a:t>, 2015, </a:t>
            </a:r>
            <a:r>
              <a:rPr lang="en-GB" altLang="en-US" sz="1000" i="1" dirty="0"/>
              <a:t>Journal of Structural Geology</a:t>
            </a:r>
            <a:r>
              <a:rPr lang="en-GB" altLang="en-US" sz="1000" dirty="0"/>
              <a:t> 80: 57-71, </a:t>
            </a:r>
            <a:r>
              <a:rPr lang="en-GB" sz="1000" dirty="0"/>
              <a:t>https://doi.org/10.1016/j.jsg.2015.08.013</a:t>
            </a:r>
            <a:endParaRPr lang="en-GB" altLang="en-US" sz="1000" dirty="0"/>
          </a:p>
          <a:p>
            <a:pPr marL="108000" indent="-108000">
              <a:spcBef>
                <a:spcPts val="300"/>
              </a:spcBef>
              <a:buFont typeface="Arial" panose="020B0604020202020204" pitchFamily="34" charset="0"/>
              <a:buChar char="•"/>
            </a:pPr>
            <a:r>
              <a:rPr lang="en-GB" altLang="en-US" sz="1000" dirty="0"/>
              <a:t>Figure top by Steve Covey-Crump</a:t>
            </a:r>
          </a:p>
          <a:p>
            <a:pPr marL="108000" indent="-108000">
              <a:spcBef>
                <a:spcPts val="300"/>
              </a:spcBef>
              <a:buFont typeface="Arial" panose="020B0604020202020204" pitchFamily="34" charset="0"/>
              <a:buChar char="•"/>
            </a:pPr>
            <a:r>
              <a:rPr lang="en-GB" altLang="en-US" sz="1000" dirty="0"/>
              <a:t>Three figures bottom from Fossen, p.93</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273F88A9-A211-4977-84C0-5AB1A8147973}"/>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2C52210E-652B-4515-A353-46E3CC7B5C18}"/>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These plots may be used to place limits (small and large) on the magnitude of the horizontal stress, </a:t>
            </a:r>
            <a:r>
              <a:rPr lang="en-GB" altLang="en-US" sz="1000" i="1" dirty="0">
                <a:latin typeface="Times New Roman" panose="02020603050405020304" pitchFamily="18" charset="0"/>
                <a:cs typeface="Times New Roman" panose="02020603050405020304" pitchFamily="18" charset="0"/>
              </a:rPr>
              <a:t>e.g.</a:t>
            </a:r>
            <a:r>
              <a:rPr lang="en-GB" altLang="en-US" sz="1000" i="0" dirty="0">
                <a:latin typeface="Times New Roman" panose="02020603050405020304" pitchFamily="18" charset="0"/>
                <a:cs typeface="Times New Roman" panose="02020603050405020304" pitchFamily="18" charset="0"/>
              </a:rPr>
              <a:t>, if </a:t>
            </a:r>
            <a:r>
              <a:rPr lang="el-GR" altLang="en-US" sz="1000" i="1" dirty="0">
                <a:latin typeface="Times New Roman" panose="02020603050405020304" pitchFamily="18" charset="0"/>
                <a:cs typeface="Times New Roman" panose="02020603050405020304" pitchFamily="18" charset="0"/>
              </a:rPr>
              <a:t>σ</a:t>
            </a:r>
            <a:r>
              <a:rPr lang="en-GB" altLang="en-US" sz="1000" i="1" baseline="-25000" dirty="0">
                <a:latin typeface="Times New Roman" panose="02020603050405020304" pitchFamily="18" charset="0"/>
                <a:cs typeface="Times New Roman" panose="02020603050405020304" pitchFamily="18" charset="0"/>
              </a:rPr>
              <a:t>V</a:t>
            </a:r>
            <a:r>
              <a:rPr lang="en-GB" altLang="en-US" sz="1000" i="0" baseline="0" dirty="0">
                <a:latin typeface="Times New Roman" panose="02020603050405020304" pitchFamily="18" charset="0"/>
                <a:cs typeface="Times New Roman" panose="02020603050405020304" pitchFamily="18" charset="0"/>
              </a:rPr>
              <a:t> is a principal stress then the horizontal stresses cannot be smaller than </a:t>
            </a:r>
            <a:r>
              <a:rPr lang="el-GR" altLang="en-US" sz="1000" i="1" baseline="0" dirty="0">
                <a:latin typeface="Times New Roman" panose="02020603050405020304" pitchFamily="18" charset="0"/>
                <a:cs typeface="Times New Roman" panose="02020603050405020304" pitchFamily="18" charset="0"/>
              </a:rPr>
              <a:t>σ</a:t>
            </a:r>
            <a:r>
              <a:rPr lang="en-GB" altLang="en-US" sz="1000" i="0" baseline="-25000" dirty="0">
                <a:latin typeface="Times New Roman" panose="02020603050405020304" pitchFamily="18" charset="0"/>
                <a:cs typeface="Times New Roman" panose="02020603050405020304" pitchFamily="18" charset="0"/>
              </a:rPr>
              <a:t>3</a:t>
            </a:r>
            <a:r>
              <a:rPr lang="en-GB" altLang="en-US" sz="1000" i="0" baseline="0" dirty="0">
                <a:latin typeface="Times New Roman" panose="02020603050405020304" pitchFamily="18" charset="0"/>
                <a:cs typeface="Times New Roman" panose="02020603050405020304" pitchFamily="18" charset="0"/>
              </a:rPr>
              <a:t> as shown on the normal fault Mohr diagram on this slide, or greater than </a:t>
            </a:r>
            <a:r>
              <a:rPr lang="el-GR" altLang="en-US" sz="1000" i="1" baseline="0" dirty="0">
                <a:latin typeface="Times New Roman" panose="02020603050405020304" pitchFamily="18" charset="0"/>
                <a:cs typeface="Times New Roman" panose="02020603050405020304" pitchFamily="18" charset="0"/>
              </a:rPr>
              <a:t>σ</a:t>
            </a:r>
            <a:r>
              <a:rPr lang="en-GB" altLang="en-US" sz="1000" i="0" baseline="-25000" dirty="0">
                <a:latin typeface="Times New Roman" panose="02020603050405020304" pitchFamily="18" charset="0"/>
                <a:cs typeface="Times New Roman" panose="02020603050405020304" pitchFamily="18" charset="0"/>
              </a:rPr>
              <a:t>1</a:t>
            </a:r>
            <a:r>
              <a:rPr lang="en-GB" altLang="en-US" sz="1000" i="0" baseline="0" dirty="0">
                <a:latin typeface="Times New Roman" panose="02020603050405020304" pitchFamily="18" charset="0"/>
                <a:cs typeface="Times New Roman" panose="02020603050405020304" pitchFamily="18" charset="0"/>
              </a:rPr>
              <a:t> as shown in the reverse fault Mohr diagram on this slide. If you know whether you are in an extensional, strike-slip or contractional tectonic terrain then tighter limits on the horizontal stresses apply, </a:t>
            </a:r>
            <a:r>
              <a:rPr lang="en-GB" altLang="en-US" sz="1000" i="1" baseline="0" dirty="0">
                <a:latin typeface="Times New Roman" panose="02020603050405020304" pitchFamily="18" charset="0"/>
                <a:cs typeface="Times New Roman" panose="02020603050405020304" pitchFamily="18" charset="0"/>
              </a:rPr>
              <a:t>e.g.</a:t>
            </a:r>
            <a:r>
              <a:rPr lang="en-GB" altLang="en-US" sz="1000" i="0" baseline="0" dirty="0">
                <a:latin typeface="Times New Roman" panose="02020603050405020304" pitchFamily="18" charset="0"/>
                <a:cs typeface="Times New Roman" panose="02020603050405020304" pitchFamily="18" charset="0"/>
              </a:rPr>
              <a:t>, in an extensional terrain the horizontal stresses cannot be greater than </a:t>
            </a:r>
            <a:r>
              <a:rPr lang="el-GR" altLang="en-US" sz="1000" i="1" baseline="0" dirty="0">
                <a:latin typeface="Times New Roman" panose="02020603050405020304" pitchFamily="18" charset="0"/>
                <a:cs typeface="Times New Roman" panose="02020603050405020304" pitchFamily="18" charset="0"/>
              </a:rPr>
              <a:t>σ</a:t>
            </a:r>
            <a:r>
              <a:rPr lang="en-GB" altLang="en-US" sz="1000" i="1" baseline="-25000" dirty="0">
                <a:latin typeface="Times New Roman" panose="02020603050405020304" pitchFamily="18" charset="0"/>
                <a:cs typeface="Times New Roman" panose="02020603050405020304" pitchFamily="18" charset="0"/>
              </a:rPr>
              <a:t>V</a:t>
            </a:r>
            <a:r>
              <a:rPr lang="en-GB" altLang="en-US" sz="1000" i="0" baseline="0" dirty="0">
                <a:latin typeface="Times New Roman" panose="02020603050405020304" pitchFamily="18" charset="0"/>
                <a:cs typeface="Times New Roman" panose="02020603050405020304" pitchFamily="18" charset="0"/>
              </a:rPr>
              <a:t>, while in a contractional terrain the horizontal stresses cannot be less than </a:t>
            </a:r>
            <a:r>
              <a:rPr lang="el-GR" altLang="en-US" sz="1000" i="1" baseline="0" dirty="0">
                <a:latin typeface="Times New Roman" panose="02020603050405020304" pitchFamily="18" charset="0"/>
                <a:cs typeface="Times New Roman" panose="02020603050405020304" pitchFamily="18" charset="0"/>
              </a:rPr>
              <a:t>σ</a:t>
            </a:r>
            <a:r>
              <a:rPr lang="en-GB" altLang="en-US" sz="1000" i="1" baseline="-25000" dirty="0">
                <a:latin typeface="Times New Roman" panose="02020603050405020304" pitchFamily="18" charset="0"/>
                <a:cs typeface="Times New Roman" panose="02020603050405020304" pitchFamily="18" charset="0"/>
              </a:rPr>
              <a:t>V</a:t>
            </a:r>
            <a:endParaRPr lang="en-GB" altLang="en-US" sz="1000" i="0" baseline="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i="0" baseline="0" dirty="0">
                <a:latin typeface="Times New Roman" panose="02020603050405020304" pitchFamily="18" charset="0"/>
                <a:cs typeface="Times New Roman" panose="02020603050405020304" pitchFamily="18" charset="0"/>
              </a:rPr>
              <a:t>These stress limits may be depicted graphically on a “stress polygon” </a:t>
            </a:r>
            <a:r>
              <a:rPr lang="en-GB" altLang="en-US" sz="1000" i="1" baseline="0" dirty="0">
                <a:latin typeface="Times New Roman" panose="02020603050405020304" pitchFamily="18" charset="0"/>
                <a:cs typeface="Times New Roman" panose="02020603050405020304" pitchFamily="18" charset="0"/>
              </a:rPr>
              <a:t>(e.g</a:t>
            </a:r>
            <a:r>
              <a:rPr lang="en-GB" altLang="en-US" sz="1000" i="0" baseline="0" dirty="0">
                <a:latin typeface="Times New Roman" panose="02020603050405020304" pitchFamily="18" charset="0"/>
                <a:cs typeface="Times New Roman" panose="02020603050405020304" pitchFamily="18" charset="0"/>
              </a:rPr>
              <a:t>., Moos &amp; Zoback, 1990, </a:t>
            </a:r>
            <a:r>
              <a:rPr lang="en-GB" altLang="en-US" sz="1000" i="1" baseline="0" dirty="0">
                <a:latin typeface="Times New Roman" panose="02020603050405020304" pitchFamily="18" charset="0"/>
                <a:cs typeface="Times New Roman" panose="02020603050405020304" pitchFamily="18" charset="0"/>
              </a:rPr>
              <a:t>Journal of Geophysical Research</a:t>
            </a:r>
            <a:r>
              <a:rPr lang="en-GB" altLang="en-US" sz="1000" i="0" baseline="0" dirty="0">
                <a:latin typeface="Times New Roman" panose="02020603050405020304" pitchFamily="18" charset="0"/>
                <a:cs typeface="Times New Roman" panose="02020603050405020304" pitchFamily="18" charset="0"/>
              </a:rPr>
              <a:t> 95: 9305-9325, </a:t>
            </a:r>
            <a:r>
              <a:rPr lang="en-GB" sz="1000" dirty="0"/>
              <a:t>https://doi.org/10.1029/JB095iB06p09305</a:t>
            </a:r>
            <a:r>
              <a:rPr lang="en-GB" altLang="en-US" sz="1000" i="0" baseline="0" dirty="0">
                <a:latin typeface="Times New Roman" panose="02020603050405020304" pitchFamily="18" charset="0"/>
                <a:cs typeface="Times New Roman" panose="02020603050405020304" pitchFamily="18" charset="0"/>
              </a:rPr>
              <a:t>; Zoback </a:t>
            </a:r>
            <a:r>
              <a:rPr lang="en-GB" altLang="en-US" sz="1000" i="1" baseline="0" dirty="0">
                <a:latin typeface="Times New Roman" panose="02020603050405020304" pitchFamily="18" charset="0"/>
                <a:cs typeface="Times New Roman" panose="02020603050405020304" pitchFamily="18" charset="0"/>
              </a:rPr>
              <a:t>et al</a:t>
            </a:r>
            <a:r>
              <a:rPr lang="en-GB" altLang="en-US" sz="1000" i="0" baseline="0" dirty="0">
                <a:latin typeface="Times New Roman" panose="02020603050405020304" pitchFamily="18" charset="0"/>
                <a:cs typeface="Times New Roman" panose="02020603050405020304" pitchFamily="18" charset="0"/>
              </a:rPr>
              <a:t>., 2003, </a:t>
            </a:r>
            <a:r>
              <a:rPr lang="en-GB" altLang="en-US" sz="1000" i="1" baseline="0" dirty="0">
                <a:latin typeface="Times New Roman" panose="02020603050405020304" pitchFamily="18" charset="0"/>
                <a:cs typeface="Times New Roman" panose="02020603050405020304" pitchFamily="18" charset="0"/>
              </a:rPr>
              <a:t>International Journal of Rock Mechanics &amp; Mining Sciences</a:t>
            </a:r>
            <a:r>
              <a:rPr lang="en-GB" altLang="en-US" sz="1000" i="0" baseline="0" dirty="0">
                <a:latin typeface="Times New Roman" panose="02020603050405020304" pitchFamily="18" charset="0"/>
                <a:cs typeface="Times New Roman" panose="02020603050405020304" pitchFamily="18" charset="0"/>
              </a:rPr>
              <a:t> 40: 1049-1076, </a:t>
            </a:r>
            <a:r>
              <a:rPr lang="en-GB" sz="1000" dirty="0"/>
              <a:t>https://doi.org/10.1016/j.ijrmms.2003.07.001</a:t>
            </a:r>
            <a:r>
              <a:rPr lang="en-GB" altLang="en-US" sz="1000" i="0" baseline="0" dirty="0">
                <a:latin typeface="Times New Roman" panose="02020603050405020304" pitchFamily="18" charset="0"/>
                <a:cs typeface="Times New Roman" panose="02020603050405020304" pitchFamily="18" charset="0"/>
              </a:rPr>
              <a:t>)</a:t>
            </a:r>
            <a:endParaRPr lang="en-GB" altLang="en-US" sz="1000" i="0" dirty="0">
              <a:latin typeface="Times New Roman" panose="02020603050405020304" pitchFamily="18" charset="0"/>
              <a:cs typeface="Times New Roman" panose="02020603050405020304" pitchFamily="18" charset="0"/>
            </a:endParaRP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Figures (by Steve Covey-Crump) showing the geometry of the Mohr Circle for the three </a:t>
            </a:r>
            <a:r>
              <a:rPr lang="en-GB" altLang="en-US" sz="1000" dirty="0" err="1">
                <a:latin typeface="Times New Roman" panose="02020603050405020304" pitchFamily="18" charset="0"/>
                <a:cs typeface="Times New Roman" panose="02020603050405020304" pitchFamily="18" charset="0"/>
              </a:rPr>
              <a:t>Andersonian</a:t>
            </a:r>
            <a:r>
              <a:rPr lang="en-GB" altLang="en-US" sz="1000" dirty="0">
                <a:latin typeface="Times New Roman" panose="02020603050405020304" pitchFamily="18" charset="0"/>
                <a:cs typeface="Times New Roman" panose="02020603050405020304" pitchFamily="18" charset="0"/>
              </a:rPr>
              <a:t> faulting regimes. Note that, in principle,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dirty="0">
                <a:latin typeface="Times New Roman" panose="02020603050405020304" pitchFamily="18" charset="0"/>
                <a:cs typeface="Times New Roman" panose="02020603050405020304" pitchFamily="18" charset="0"/>
              </a:rPr>
              <a:t> is a rock property that varies with rock type, but, in practice, for most rocks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ϕ</a:t>
            </a:r>
            <a:r>
              <a:rPr lang="en-GB" altLang="en-US" sz="1000" dirty="0">
                <a:latin typeface="Times New Roman" panose="02020603050405020304" pitchFamily="18" charset="0"/>
                <a:cs typeface="Times New Roman" panose="02020603050405020304" pitchFamily="18" charset="0"/>
              </a:rPr>
              <a:t> ~ 30° (see next slide)</a:t>
            </a:r>
          </a:p>
          <a:p>
            <a:pPr marL="0" indent="0">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EE8DFF56-B022-4FF4-B7F0-F7824BB63AA5}"/>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EFC0AB90-186C-4CDC-AF89-A5CD5C1C56EF}"/>
              </a:ext>
            </a:extLst>
          </p:cNvPr>
          <p:cNvSpPr>
            <a:spLocks noGrp="1" noChangeArrowheads="1"/>
          </p:cNvSpPr>
          <p:nvPr>
            <p:ph type="body" idx="1"/>
          </p:nvPr>
        </p:nvSpPr>
        <p:spPr>
          <a:noFill/>
        </p:spPr>
        <p:txBody>
          <a:bodyPr/>
          <a:lstStyle/>
          <a:p>
            <a:pPr marL="108000" indent="-108000">
              <a:lnSpc>
                <a:spcPct val="100000"/>
              </a:lnSpc>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(redrawn by Steve Covey-Crump from </a:t>
            </a:r>
            <a:r>
              <a:rPr lang="en-GB" altLang="en-US" sz="1000" dirty="0" err="1">
                <a:latin typeface="Times New Roman" panose="02020603050405020304" pitchFamily="18" charset="0"/>
                <a:cs typeface="Times New Roman" panose="02020603050405020304" pitchFamily="18" charset="0"/>
              </a:rPr>
              <a:t>Byerlee</a:t>
            </a:r>
            <a:r>
              <a:rPr lang="en-GB" altLang="en-US" sz="1000" dirty="0">
                <a:latin typeface="Times New Roman" panose="02020603050405020304" pitchFamily="18" charset="0"/>
                <a:cs typeface="Times New Roman" panose="02020603050405020304" pitchFamily="18" charset="0"/>
              </a:rPr>
              <a:t>, 1978, </a:t>
            </a:r>
            <a:r>
              <a:rPr lang="en-GB" altLang="en-US" sz="1000" i="1" dirty="0">
                <a:latin typeface="Times New Roman" panose="02020603050405020304" pitchFamily="18" charset="0"/>
                <a:cs typeface="Times New Roman" panose="02020603050405020304" pitchFamily="18" charset="0"/>
              </a:rPr>
              <a:t>Pure and Applied Geophysics</a:t>
            </a:r>
            <a:r>
              <a:rPr lang="en-GB" altLang="en-US" sz="1000" dirty="0">
                <a:latin typeface="Times New Roman" panose="02020603050405020304" pitchFamily="18" charset="0"/>
                <a:cs typeface="Times New Roman" panose="02020603050405020304" pitchFamily="18" charset="0"/>
              </a:rPr>
              <a:t> 116: 615-626, </a:t>
            </a:r>
            <a:r>
              <a:rPr lang="en-GB" sz="1000" dirty="0"/>
              <a:t>https://doi.org/10.1007/BF00876528</a:t>
            </a:r>
            <a:r>
              <a:rPr lang="en-GB" altLang="en-US" sz="1000" dirty="0">
                <a:latin typeface="Times New Roman" panose="02020603050405020304" pitchFamily="18" charset="0"/>
                <a:cs typeface="Times New Roman" panose="02020603050405020304" pitchFamily="18" charset="0"/>
              </a:rPr>
              <a:t>) showing the stresses on the fault plane that are required to produce frictional sliding. The figure incorporates data from a wide range of different lithologies</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err="1">
                <a:latin typeface="Times New Roman" panose="02020603050405020304" pitchFamily="18" charset="0"/>
                <a:cs typeface="Times New Roman" panose="02020603050405020304" pitchFamily="18" charset="0"/>
              </a:rPr>
              <a:t>Byerlee’s</a:t>
            </a:r>
            <a:r>
              <a:rPr lang="en-GB" altLang="en-US" sz="1000" dirty="0">
                <a:latin typeface="Times New Roman" panose="02020603050405020304" pitchFamily="18" charset="0"/>
                <a:cs typeface="Times New Roman" panose="02020603050405020304" pitchFamily="18" charset="0"/>
              </a:rPr>
              <a:t> law (the equations stated in the figure) is widely used to describe the strength of the upper crust. Conversely, by making the assumption that the crust is on the verge of failure (that is, that the crust is “critically stressed”), </a:t>
            </a:r>
            <a:r>
              <a:rPr lang="en-GB" altLang="en-US" sz="1000" dirty="0" err="1">
                <a:latin typeface="Times New Roman" panose="02020603050405020304" pitchFamily="18" charset="0"/>
                <a:cs typeface="Times New Roman" panose="02020603050405020304" pitchFamily="18" charset="0"/>
              </a:rPr>
              <a:t>Byerlee’s</a:t>
            </a:r>
            <a:r>
              <a:rPr lang="en-GB" altLang="en-US" sz="1000" dirty="0">
                <a:latin typeface="Times New Roman" panose="02020603050405020304" pitchFamily="18" charset="0"/>
                <a:cs typeface="Times New Roman" panose="02020603050405020304" pitchFamily="18" charset="0"/>
              </a:rPr>
              <a:t> law may be used to estimate the state of stress in the crust. The critically-stressed condition of the crust is discussed by Townend &amp; Zoback, 2000, </a:t>
            </a:r>
            <a:r>
              <a:rPr lang="en-GB" altLang="en-US" sz="1000" i="1" dirty="0">
                <a:latin typeface="Times New Roman" panose="02020603050405020304" pitchFamily="18" charset="0"/>
                <a:cs typeface="Times New Roman" panose="02020603050405020304" pitchFamily="18" charset="0"/>
              </a:rPr>
              <a:t>Geology</a:t>
            </a:r>
            <a:r>
              <a:rPr lang="en-GB" altLang="en-US" sz="1000" dirty="0">
                <a:latin typeface="Times New Roman" panose="02020603050405020304" pitchFamily="18" charset="0"/>
                <a:cs typeface="Times New Roman" panose="02020603050405020304" pitchFamily="18" charset="0"/>
              </a:rPr>
              <a:t> 28: 399-402, </a:t>
            </a:r>
            <a:r>
              <a:rPr lang="en-GB" sz="1000" dirty="0"/>
              <a:t>https://doi.org/10.1130/0091-7613(2000)28&lt;399:HFKTCS&gt;2.0.CO;2</a:t>
            </a:r>
            <a:r>
              <a:rPr lang="en-GB" altLang="en-US" sz="1000" dirty="0">
                <a:latin typeface="Times New Roman" panose="02020603050405020304" pitchFamily="18" charset="0"/>
                <a:cs typeface="Times New Roman" panose="02020603050405020304" pitchFamily="18" charset="0"/>
              </a:rPr>
              <a:t>, and by Zoback &amp; Townend, 2001, </a:t>
            </a:r>
            <a:r>
              <a:rPr lang="en-GB" altLang="en-US" sz="1000" i="1" dirty="0">
                <a:latin typeface="Times New Roman" panose="02020603050405020304" pitchFamily="18" charset="0"/>
                <a:cs typeface="Times New Roman" panose="02020603050405020304" pitchFamily="18" charset="0"/>
              </a:rPr>
              <a:t>Tectonophysics</a:t>
            </a:r>
            <a:r>
              <a:rPr lang="en-GB" altLang="en-US" sz="1000" dirty="0">
                <a:latin typeface="Times New Roman" panose="02020603050405020304" pitchFamily="18" charset="0"/>
                <a:cs typeface="Times New Roman" panose="02020603050405020304" pitchFamily="18" charset="0"/>
              </a:rPr>
              <a:t> 336: 19-30, </a:t>
            </a:r>
            <a:r>
              <a:rPr lang="en-GB" sz="1000" dirty="0"/>
              <a:t>https://doi.org/10.1016/S0040-1951(01)00091-9</a:t>
            </a:r>
            <a:r>
              <a:rPr lang="en-GB" altLang="en-US" sz="1000" dirty="0">
                <a:latin typeface="Times New Roman" panose="02020603050405020304" pitchFamily="18" charset="0"/>
                <a:cs typeface="Times New Roman" panose="02020603050405020304" pitchFamily="18" charset="0"/>
              </a:rPr>
              <a:t> (see also Class 5 Slide 37)</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latin typeface="Times New Roman" panose="02020603050405020304" pitchFamily="18" charset="0"/>
                <a:cs typeface="Times New Roman" panose="02020603050405020304" pitchFamily="18" charset="0"/>
              </a:rPr>
              <a:t>At </a:t>
            </a:r>
            <a:r>
              <a:rPr lang="el-GR" altLang="en-US" sz="1000" i="1" dirty="0">
                <a:latin typeface="Times New Roman" panose="02020603050405020304" pitchFamily="18" charset="0"/>
                <a:cs typeface="Times New Roman" panose="02020603050405020304" pitchFamily="18" charset="0"/>
              </a:rPr>
              <a:t>σ</a:t>
            </a:r>
            <a:r>
              <a:rPr lang="en-US" altLang="en-US" sz="1000" i="1" baseline="-25000" dirty="0">
                <a:latin typeface="Times New Roman" panose="02020603050405020304" pitchFamily="18" charset="0"/>
                <a:cs typeface="Times New Roman" panose="02020603050405020304" pitchFamily="18" charset="0"/>
              </a:rPr>
              <a:t>n</a:t>
            </a:r>
            <a:r>
              <a:rPr lang="en-US" altLang="en-US" sz="1000" baseline="0" dirty="0">
                <a:latin typeface="Times New Roman" panose="02020603050405020304" pitchFamily="18" charset="0"/>
                <a:cs typeface="Times New Roman" panose="02020603050405020304" pitchFamily="18" charset="0"/>
              </a:rPr>
              <a:t> = </a:t>
            </a:r>
            <a:r>
              <a:rPr lang="en-GB" altLang="en-US" sz="1000" dirty="0">
                <a:latin typeface="Times New Roman" panose="02020603050405020304" pitchFamily="18" charset="0"/>
                <a:cs typeface="Times New Roman" panose="02020603050405020304" pitchFamily="18" charset="0"/>
              </a:rPr>
              <a:t>200 MPa the value of </a:t>
            </a:r>
            <a:r>
              <a:rPr lang="el-GR" altLang="en-US" sz="1000" i="1" dirty="0">
                <a:latin typeface="Times New Roman" panose="02020603050405020304" pitchFamily="18" charset="0"/>
                <a:cs typeface="Times New Roman" panose="02020603050405020304" pitchFamily="18" charset="0"/>
              </a:rPr>
              <a:t>τ</a:t>
            </a:r>
            <a:r>
              <a:rPr lang="en-US" altLang="en-US" sz="1000" dirty="0">
                <a:latin typeface="Times New Roman" panose="02020603050405020304" pitchFamily="18" charset="0"/>
                <a:cs typeface="Times New Roman" panose="02020603050405020304" pitchFamily="18" charset="0"/>
              </a:rPr>
              <a:t> given by the two parts of </a:t>
            </a:r>
            <a:r>
              <a:rPr lang="en-US" altLang="en-US" sz="1000" dirty="0" err="1">
                <a:latin typeface="Times New Roman" panose="02020603050405020304" pitchFamily="18" charset="0"/>
                <a:cs typeface="Times New Roman" panose="02020603050405020304" pitchFamily="18" charset="0"/>
              </a:rPr>
              <a:t>Byerlee’s</a:t>
            </a:r>
            <a:r>
              <a:rPr lang="en-US" altLang="en-US" sz="1000" dirty="0">
                <a:latin typeface="Times New Roman" panose="02020603050405020304" pitchFamily="18" charset="0"/>
                <a:cs typeface="Times New Roman" panose="02020603050405020304" pitchFamily="18" charset="0"/>
              </a:rPr>
              <a:t> law is the same:  0.85</a:t>
            </a:r>
            <a:r>
              <a:rPr lang="el-GR" altLang="en-US" sz="1000" i="1" dirty="0">
                <a:latin typeface="Times New Roman" panose="02020603050405020304" pitchFamily="18" charset="0"/>
                <a:cs typeface="Times New Roman" panose="02020603050405020304" pitchFamily="18" charset="0"/>
              </a:rPr>
              <a:t>σ</a:t>
            </a:r>
            <a:r>
              <a:rPr lang="en-US" altLang="en-US" sz="1000" i="1" baseline="-25000" dirty="0">
                <a:latin typeface="Times New Roman" panose="02020603050405020304" pitchFamily="18" charset="0"/>
                <a:cs typeface="Times New Roman" panose="02020603050405020304" pitchFamily="18" charset="0"/>
              </a:rPr>
              <a:t>n</a:t>
            </a:r>
            <a:r>
              <a:rPr lang="en-US" altLang="en-US" sz="1000" baseline="0" dirty="0">
                <a:latin typeface="Times New Roman" panose="02020603050405020304" pitchFamily="18" charset="0"/>
                <a:cs typeface="Times New Roman" panose="02020603050405020304" pitchFamily="18" charset="0"/>
              </a:rPr>
              <a:t> = 50 + 0.6</a:t>
            </a:r>
            <a:r>
              <a:rPr lang="el-GR" altLang="en-US" sz="1000" i="1" dirty="0">
                <a:latin typeface="Times New Roman" panose="02020603050405020304" pitchFamily="18" charset="0"/>
                <a:cs typeface="Times New Roman" panose="02020603050405020304" pitchFamily="18" charset="0"/>
              </a:rPr>
              <a:t>σ</a:t>
            </a:r>
            <a:r>
              <a:rPr lang="en-US" altLang="en-US" sz="1000" i="1" baseline="-25000" dirty="0">
                <a:latin typeface="Times New Roman" panose="02020603050405020304" pitchFamily="18" charset="0"/>
                <a:cs typeface="Times New Roman" panose="02020603050405020304" pitchFamily="18" charset="0"/>
              </a:rPr>
              <a:t>n</a:t>
            </a:r>
            <a:r>
              <a:rPr lang="en-US" altLang="en-US" sz="1000" baseline="0" dirty="0">
                <a:latin typeface="Times New Roman" panose="02020603050405020304" pitchFamily="18" charset="0"/>
                <a:cs typeface="Times New Roman" panose="02020603050405020304" pitchFamily="18" charset="0"/>
              </a:rPr>
              <a:t>  →  0.25</a:t>
            </a:r>
            <a:r>
              <a:rPr lang="el-GR" altLang="en-US" sz="1000" i="1" dirty="0">
                <a:latin typeface="Times New Roman" panose="02020603050405020304" pitchFamily="18" charset="0"/>
                <a:cs typeface="Times New Roman" panose="02020603050405020304" pitchFamily="18" charset="0"/>
              </a:rPr>
              <a:t>σ</a:t>
            </a:r>
            <a:r>
              <a:rPr lang="en-US" altLang="en-US" sz="1000" i="1" baseline="-25000" dirty="0">
                <a:latin typeface="Times New Roman" panose="02020603050405020304" pitchFamily="18" charset="0"/>
                <a:cs typeface="Times New Roman" panose="02020603050405020304" pitchFamily="18" charset="0"/>
              </a:rPr>
              <a:t>n</a:t>
            </a:r>
            <a:r>
              <a:rPr lang="en-US" altLang="en-US" sz="1000" baseline="0" dirty="0">
                <a:latin typeface="Times New Roman" panose="02020603050405020304" pitchFamily="18" charset="0"/>
                <a:cs typeface="Times New Roman" panose="02020603050405020304" pitchFamily="18" charset="0"/>
              </a:rPr>
              <a:t> = 50  →  </a:t>
            </a:r>
            <a:r>
              <a:rPr lang="el-GR" altLang="en-US" sz="1000" i="1" dirty="0">
                <a:latin typeface="Times New Roman" panose="02020603050405020304" pitchFamily="18" charset="0"/>
                <a:cs typeface="Times New Roman" panose="02020603050405020304" pitchFamily="18" charset="0"/>
              </a:rPr>
              <a:t>σ</a:t>
            </a:r>
            <a:r>
              <a:rPr lang="en-US" altLang="en-US" sz="1000" i="1" baseline="-25000" dirty="0">
                <a:latin typeface="Times New Roman" panose="02020603050405020304" pitchFamily="18" charset="0"/>
                <a:cs typeface="Times New Roman" panose="02020603050405020304" pitchFamily="18" charset="0"/>
              </a:rPr>
              <a:t>n</a:t>
            </a:r>
            <a:r>
              <a:rPr lang="en-US" altLang="en-US" sz="1000" baseline="0" dirty="0">
                <a:latin typeface="Times New Roman" panose="02020603050405020304" pitchFamily="18" charset="0"/>
                <a:cs typeface="Times New Roman" panose="02020603050405020304" pitchFamily="18" charset="0"/>
              </a:rPr>
              <a:t> = 200</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US" altLang="en-US" sz="1000" baseline="0" dirty="0">
                <a:latin typeface="Times New Roman" panose="02020603050405020304" pitchFamily="18" charset="0"/>
                <a:cs typeface="Times New Roman" panose="02020603050405020304" pitchFamily="18" charset="0"/>
              </a:rPr>
              <a:t>Note that </a:t>
            </a:r>
            <a:r>
              <a:rPr lang="en-US" altLang="en-US" sz="1000" baseline="0" dirty="0" err="1">
                <a:latin typeface="Times New Roman" panose="02020603050405020304" pitchFamily="18" charset="0"/>
                <a:cs typeface="Times New Roman" panose="02020603050405020304" pitchFamily="18" charset="0"/>
              </a:rPr>
              <a:t>Byerlee’s</a:t>
            </a:r>
            <a:r>
              <a:rPr lang="en-US" altLang="en-US" sz="1000" baseline="0" dirty="0">
                <a:latin typeface="Times New Roman" panose="02020603050405020304" pitchFamily="18" charset="0"/>
                <a:cs typeface="Times New Roman" panose="02020603050405020304" pitchFamily="18" charset="0"/>
              </a:rPr>
              <a:t> law is not really a ‘law’ but rather it is an empirical observation</a:t>
            </a:r>
            <a:endParaRPr lang="en-GB" altLang="en-US" sz="1000" dirty="0">
              <a:latin typeface="Times New Roman" panose="02020603050405020304" pitchFamily="18" charset="0"/>
              <a:cs typeface="Times New Roman" panose="02020603050405020304" pitchFamily="18" charset="0"/>
            </a:endParaRPr>
          </a:p>
          <a:p>
            <a:pPr marL="0" indent="0">
              <a:lnSpc>
                <a:spcPct val="100000"/>
              </a:lnSpc>
              <a:spcBef>
                <a:spcPts val="300"/>
              </a:spcBef>
              <a:buFont typeface="Arial" panose="020B0604020202020204" pitchFamily="34" charset="0"/>
              <a:buNone/>
            </a:pPr>
            <a:endParaRPr lang="en-GB" altLang="en-US" sz="1000"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41BCF811-C984-48AF-8905-8C1923F623D7}"/>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5C698DDF-190A-4E12-8303-AD5AD843557E}"/>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points made on this slide were noted in the last class (see Class 6 Slide 16). The fact that pore fluid pressure only affects normal stresses not shear stresses (so that the Mohr circle shifts left without changing its diameter) was also noted in Class 5 Slide 16</a:t>
            </a:r>
          </a:p>
          <a:p>
            <a:pPr marL="108000" indent="-108000">
              <a:spcBef>
                <a:spcPts val="300"/>
              </a:spcBef>
              <a:buFont typeface="Arial" panose="020B0604020202020204" pitchFamily="34" charset="0"/>
              <a:buChar char="•"/>
            </a:pPr>
            <a:r>
              <a:rPr lang="en-GB" altLang="en-US" sz="1000" dirty="0"/>
              <a:t>Figure by Steve Covey-Crump. In the presence of pore fluids, the normal stress (</a:t>
            </a:r>
            <a:r>
              <a:rPr lang="en-GB" altLang="en-US" sz="1000" i="1" dirty="0"/>
              <a:t>x</a:t>
            </a:r>
            <a:r>
              <a:rPr lang="en-GB" altLang="en-US" sz="1000" i="0" dirty="0"/>
              <a:t>-axis) becomes the effective normal stress (= normal stress </a:t>
            </a:r>
            <a:r>
              <a:rPr lang="en-GB" altLang="en-US" sz="1000" b="1" i="1" dirty="0"/>
              <a:t>minus</a:t>
            </a:r>
            <a:r>
              <a:rPr lang="en-GB" altLang="en-US" sz="1000" i="0" dirty="0"/>
              <a:t> pore fluid pressure) – the failure envelope is a relationship between shear stress and effective normal stress at failure (on the previous slides, it is implicitly assumed that the rocks are dry, that is, pore fluid pressure is zero, and so the effective normal stress = the normal stress)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8402116-9E80-4BEF-BDDA-805412B9CA88}"/>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695EE264-8427-40DE-84FB-C79387DF861A}"/>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Stresses around cracks may be analysed by treating the crack as having an elliptical shape (in 2D). The stresses around elliptical holes (flaws) within an externally loaded plate may be calculated to determine (a) where around the flaw they are at a maximum (this will be the point at which the crack will grow), and (b) at what externally applied load crack propagation will occur. This forms the foundation of one of the most important theories of brittle failure (that of Griffith)</a:t>
            </a:r>
          </a:p>
          <a:p>
            <a:pPr marL="108000" indent="-108000">
              <a:spcBef>
                <a:spcPts val="300"/>
              </a:spcBef>
              <a:buFont typeface="Arial" panose="020B0604020202020204" pitchFamily="34" charset="0"/>
              <a:buChar char="•"/>
            </a:pPr>
            <a:r>
              <a:rPr lang="en-GB" altLang="en-US" sz="1000" dirty="0"/>
              <a:t>Figure (from Mayr </a:t>
            </a:r>
            <a:r>
              <a:rPr lang="en-GB" altLang="en-US" sz="1000" i="1" dirty="0"/>
              <a:t>et al.</a:t>
            </a:r>
            <a:r>
              <a:rPr lang="en-GB" altLang="en-US" sz="1000" dirty="0"/>
              <a:t>, 2011, </a:t>
            </a:r>
            <a:r>
              <a:rPr lang="en-GB" altLang="en-US" sz="1000" i="1" dirty="0"/>
              <a:t>Geophysics</a:t>
            </a:r>
            <a:r>
              <a:rPr lang="en-GB" altLang="en-US" sz="1000" dirty="0"/>
              <a:t> 76(3): MA21-MA32, </a:t>
            </a:r>
            <a:r>
              <a:rPr lang="en-GB" sz="1000" dirty="0"/>
              <a:t>https://doi.org/10.1190/1.3569579</a:t>
            </a:r>
            <a:r>
              <a:rPr lang="en-GB" altLang="en-US" sz="1000" dirty="0"/>
              <a:t>) showing the location of microcrack events at different times in an axially compressed sandstone sample as it was being loaded to failure. The colour coding in the two middle diagrams represents two different sub-intervals of time (black before green, and blue before red)</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FDA90D50-D825-4E76-BAD4-1EEFA3D1C764}"/>
              </a:ext>
            </a:extLst>
          </p:cNvPr>
          <p:cNvSpPr>
            <a:spLocks noGrp="1" noRot="1" noChangeAspect="1" noChangeArrowheads="1" noTextEdit="1"/>
          </p:cNvSpPr>
          <p:nvPr>
            <p:ph type="sldImg"/>
          </p:nvPr>
        </p:nvSpPr>
        <p:spPr>
          <a:ln/>
        </p:spPr>
      </p:sp>
      <p:sp>
        <p:nvSpPr>
          <p:cNvPr id="69635" name="Rectangle 3">
            <a:extLst>
              <a:ext uri="{FF2B5EF4-FFF2-40B4-BE49-F238E27FC236}">
                <a16:creationId xmlns:a16="http://schemas.microsoft.com/office/drawing/2014/main" id="{4D795655-B165-4897-BEED-C532EE165CA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right (from </a:t>
            </a:r>
            <a:r>
              <a:rPr lang="en-GB" altLang="en-US" sz="1000" dirty="0">
                <a:latin typeface="Times New Roman" panose="02020603050405020304" pitchFamily="18" charset="0"/>
                <a:cs typeface="Times New Roman" panose="02020603050405020304" pitchFamily="18" charset="0"/>
              </a:rPr>
              <a:t>Pollard &amp; Fletcher, p.355, but originally from Hoagland </a:t>
            </a:r>
            <a:r>
              <a:rPr lang="en-GB" altLang="en-US" sz="1000" i="1" dirty="0">
                <a:latin typeface="Times New Roman" panose="02020603050405020304" pitchFamily="18" charset="0"/>
                <a:cs typeface="Times New Roman" panose="02020603050405020304" pitchFamily="18" charset="0"/>
              </a:rPr>
              <a:t>et al.</a:t>
            </a:r>
            <a:r>
              <a:rPr lang="en-GB" altLang="en-US" sz="1000" dirty="0">
                <a:latin typeface="Times New Roman" panose="02020603050405020304" pitchFamily="18" charset="0"/>
                <a:cs typeface="Times New Roman" panose="02020603050405020304" pitchFamily="18" charset="0"/>
              </a:rPr>
              <a:t>, 1973, </a:t>
            </a:r>
            <a:r>
              <a:rPr lang="en-GB" altLang="en-US" sz="1000" i="1" dirty="0">
                <a:latin typeface="Times New Roman" panose="02020603050405020304" pitchFamily="18" charset="0"/>
                <a:cs typeface="Times New Roman" panose="02020603050405020304" pitchFamily="18" charset="0"/>
              </a:rPr>
              <a:t>Rock Mechanics</a:t>
            </a:r>
            <a:r>
              <a:rPr lang="en-GB" altLang="en-US" sz="1000" dirty="0">
                <a:latin typeface="Times New Roman" panose="02020603050405020304" pitchFamily="18" charset="0"/>
                <a:cs typeface="Times New Roman" panose="02020603050405020304" pitchFamily="18" charset="0"/>
              </a:rPr>
              <a:t> 5: 77-106, </a:t>
            </a:r>
            <a:r>
              <a:rPr lang="en-GB" sz="1000" dirty="0">
                <a:latin typeface="Times New Roman" panose="02020603050405020304" pitchFamily="18" charset="0"/>
                <a:cs typeface="Times New Roman" panose="02020603050405020304" pitchFamily="18" charset="0"/>
              </a:rPr>
              <a:t>https://doi.org/10.1007/BF01240160</a:t>
            </a:r>
            <a:r>
              <a:rPr lang="en-GB" altLang="en-US" sz="1000" dirty="0">
                <a:latin typeface="Times New Roman" panose="02020603050405020304" pitchFamily="18" charset="0"/>
                <a:cs typeface="Times New Roman" panose="02020603050405020304" pitchFamily="18" charset="0"/>
              </a:rPr>
              <a:t>) showing the distribution of flaws around a crack at three moments as it is being prised apart</a:t>
            </a:r>
          </a:p>
          <a:p>
            <a:pPr marL="108000" indent="-108000">
              <a:spcBef>
                <a:spcPts val="300"/>
              </a:spcBef>
              <a:buFont typeface="Arial" panose="020B0604020202020204" pitchFamily="34" charset="0"/>
              <a:buChar char="•"/>
            </a:pPr>
            <a:r>
              <a:rPr lang="en-GB" altLang="en-US" sz="1000" dirty="0">
                <a:latin typeface="Times New Roman" panose="02020603050405020304" pitchFamily="18" charset="0"/>
                <a:cs typeface="Times New Roman" panose="02020603050405020304" pitchFamily="18" charset="0"/>
              </a:rPr>
              <a:t>Figure left from Choi </a:t>
            </a:r>
            <a:r>
              <a:rPr lang="en-GB" altLang="en-US" sz="1000" i="1" dirty="0">
                <a:latin typeface="Times New Roman" panose="02020603050405020304" pitchFamily="18" charset="0"/>
                <a:cs typeface="Times New Roman" panose="02020603050405020304" pitchFamily="18" charset="0"/>
              </a:rPr>
              <a:t>et al.</a:t>
            </a:r>
            <a:r>
              <a:rPr lang="en-GB" altLang="en-US" sz="1000" i="0" dirty="0">
                <a:latin typeface="Times New Roman" panose="02020603050405020304" pitchFamily="18" charset="0"/>
                <a:cs typeface="Times New Roman" panose="02020603050405020304" pitchFamily="18" charset="0"/>
              </a:rPr>
              <a:t>, 2016, </a:t>
            </a:r>
            <a:r>
              <a:rPr lang="en-GB" altLang="en-US" sz="1000" i="1" dirty="0">
                <a:latin typeface="Times New Roman" panose="02020603050405020304" pitchFamily="18" charset="0"/>
                <a:cs typeface="Times New Roman" panose="02020603050405020304" pitchFamily="18" charset="0"/>
              </a:rPr>
              <a:t>Earth-Science Reviews</a:t>
            </a:r>
            <a:r>
              <a:rPr lang="en-GB" altLang="en-US" sz="1000" i="0" dirty="0">
                <a:latin typeface="Times New Roman" panose="02020603050405020304" pitchFamily="18" charset="0"/>
                <a:cs typeface="Times New Roman" panose="02020603050405020304" pitchFamily="18" charset="0"/>
              </a:rPr>
              <a:t> 152: 70-87, </a:t>
            </a:r>
            <a:r>
              <a:rPr lang="en-GB" sz="1000" b="0" i="0" u="none" strike="noStrike" baseline="0" dirty="0">
                <a:solidFill>
                  <a:srgbClr val="0000FF"/>
                </a:solidFill>
                <a:latin typeface="Times New Roman" panose="02020603050405020304" pitchFamily="18" charset="0"/>
                <a:cs typeface="Times New Roman" panose="02020603050405020304" pitchFamily="18" charset="0"/>
              </a:rPr>
              <a:t>http://dx.doi.org/10.1016/j.earscirev.2015.11.006</a:t>
            </a:r>
            <a:endParaRPr lang="en-GB" altLang="en-US" sz="1000" dirty="0">
              <a:latin typeface="Times New Roman" panose="02020603050405020304" pitchFamily="18" charset="0"/>
              <a:cs typeface="Times New Roman" panose="02020603050405020304" pitchFamily="18" charset="0"/>
            </a:endParaRPr>
          </a:p>
          <a:p>
            <a:pPr marL="0" indent="0">
              <a:spcBef>
                <a:spcPts val="300"/>
              </a:spcBef>
              <a:buFont typeface="Arial" panose="020B0604020202020204" pitchFamily="34" charset="0"/>
              <a:buNone/>
            </a:pPr>
            <a:endParaRPr lang="en-GB" altLang="en-US" sz="1000" dirty="0"/>
          </a:p>
        </p:txBody>
      </p:sp>
    </p:spTree>
    <p:extLst>
      <p:ext uri="{BB962C8B-B14F-4D97-AF65-F5344CB8AC3E}">
        <p14:creationId xmlns:p14="http://schemas.microsoft.com/office/powerpoint/2010/main" val="1112214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C5C2C84F-44CB-420B-A18A-A7F422CD4B2B}"/>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0565537F-8841-4605-941E-5F37AD8C2E35}"/>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US" altLang="en-US" sz="1000" dirty="0"/>
              <a:t>The width of a fault damage zone is commonly defined subjectively – the figures on this slide show one scheme that attempts to be more quantitative. For an attempt to define this width more rigorously, see </a:t>
            </a:r>
            <a:r>
              <a:rPr lang="en-GB" altLang="en-US" sz="1000" dirty="0">
                <a:latin typeface="Times New Roman" panose="02020603050405020304" pitchFamily="18" charset="0"/>
                <a:cs typeface="Times New Roman" panose="02020603050405020304" pitchFamily="18" charset="0"/>
              </a:rPr>
              <a:t>Choi </a:t>
            </a:r>
            <a:r>
              <a:rPr lang="en-GB" altLang="en-US" sz="1000" i="1" dirty="0">
                <a:latin typeface="Times New Roman" panose="02020603050405020304" pitchFamily="18" charset="0"/>
                <a:cs typeface="Times New Roman" panose="02020603050405020304" pitchFamily="18" charset="0"/>
              </a:rPr>
              <a:t>et al.</a:t>
            </a:r>
            <a:r>
              <a:rPr lang="en-GB" altLang="en-US" sz="1000" i="0" dirty="0">
                <a:latin typeface="Times New Roman" panose="02020603050405020304" pitchFamily="18" charset="0"/>
                <a:cs typeface="Times New Roman" panose="02020603050405020304" pitchFamily="18" charset="0"/>
              </a:rPr>
              <a:t>, 2016, </a:t>
            </a:r>
            <a:r>
              <a:rPr lang="en-GB" altLang="en-US" sz="1000" i="1" dirty="0">
                <a:latin typeface="Times New Roman" panose="02020603050405020304" pitchFamily="18" charset="0"/>
                <a:cs typeface="Times New Roman" panose="02020603050405020304" pitchFamily="18" charset="0"/>
              </a:rPr>
              <a:t>Earth-Science Reviews</a:t>
            </a:r>
            <a:r>
              <a:rPr lang="en-GB" altLang="en-US" sz="1000" i="0" dirty="0">
                <a:latin typeface="Times New Roman" panose="02020603050405020304" pitchFamily="18" charset="0"/>
                <a:cs typeface="Times New Roman" panose="02020603050405020304" pitchFamily="18" charset="0"/>
              </a:rPr>
              <a:t> 152: 70-87, </a:t>
            </a:r>
            <a:r>
              <a:rPr lang="en-GB" sz="1000" b="0" i="0" u="none" strike="noStrike" baseline="0" dirty="0">
                <a:solidFill>
                  <a:srgbClr val="0000FF"/>
                </a:solidFill>
                <a:latin typeface="Times New Roman" panose="02020603050405020304" pitchFamily="18" charset="0"/>
                <a:cs typeface="Times New Roman" panose="02020603050405020304" pitchFamily="18" charset="0"/>
              </a:rPr>
              <a:t>http://dx.doi.org/10.1016/j.earscirev.2015.11.006</a:t>
            </a:r>
            <a:endParaRPr lang="en-US" altLang="en-US" sz="100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US" altLang="en-US" sz="1000" dirty="0"/>
              <a:t>In the approach illustrated on this slide, simply count fractures at different locations along a line parallel to the dip direction of the fault (in an ideal world, one would count fractures at several locations along a line oriented parallel to the pole of the fault plane). Then in the top right figure on the slide, three different widths are defined (W1, W5, W10): W5 is the average of W5</a:t>
            </a:r>
            <a:r>
              <a:rPr lang="en-US" altLang="en-US" sz="1000" baseline="-25000" dirty="0"/>
              <a:t>min</a:t>
            </a:r>
            <a:r>
              <a:rPr lang="en-US" altLang="en-US" sz="1000" dirty="0"/>
              <a:t> the distance below which all measurements of the number of fractures per </a:t>
            </a:r>
            <a:r>
              <a:rPr lang="en-US" altLang="en-US" sz="1000" dirty="0" err="1"/>
              <a:t>metre</a:t>
            </a:r>
            <a:r>
              <a:rPr lang="en-US" altLang="en-US" sz="1000" dirty="0"/>
              <a:t> are greater than 5 and W5</a:t>
            </a:r>
            <a:r>
              <a:rPr lang="en-US" altLang="en-US" sz="1000" baseline="-25000" dirty="0"/>
              <a:t>max</a:t>
            </a:r>
            <a:r>
              <a:rPr lang="en-US" altLang="en-US" sz="1000" dirty="0"/>
              <a:t> the distance beyond which all measurements of the number of fractures per </a:t>
            </a:r>
            <a:r>
              <a:rPr lang="en-US" altLang="en-US" sz="1000" dirty="0" err="1"/>
              <a:t>metre</a:t>
            </a:r>
            <a:r>
              <a:rPr lang="en-US" altLang="en-US" sz="1000" dirty="0"/>
              <a:t> are less than 5 (likewise for W1 and W10 but with 1 fracture per </a:t>
            </a:r>
            <a:r>
              <a:rPr lang="en-US" altLang="en-US" sz="1000" dirty="0" err="1"/>
              <a:t>metre</a:t>
            </a:r>
            <a:r>
              <a:rPr lang="en-US" altLang="en-US" sz="1000" dirty="0"/>
              <a:t> and 10 fractures per </a:t>
            </a:r>
            <a:r>
              <a:rPr lang="en-US" altLang="en-US" sz="1000" dirty="0" err="1"/>
              <a:t>metre</a:t>
            </a:r>
            <a:r>
              <a:rPr lang="en-US" altLang="en-US" sz="1000" dirty="0"/>
              <a:t> respectively). The correlation of W5 with fault displacement is shown for many faults in a particular field area in the figure bottom right, </a:t>
            </a:r>
            <a:r>
              <a:rPr lang="en-GB" altLang="en-US" sz="1000" dirty="0"/>
              <a:t>Note that in the dataset shown</a:t>
            </a:r>
            <a:r>
              <a:rPr lang="en-US" altLang="en-US" sz="1000" dirty="0"/>
              <a:t>, the damage zone is wider in the hanging wall compared with the footwall (the red data sit higher in the figure than the black data)</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endParaRPr lang="en-US" altLang="en-US" sz="100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US" altLang="en-US" sz="1000" dirty="0"/>
              <a:t>For different methods of estimating fracture density (if one felt the need to quantify these), see the notes to Class 6 Slide 25</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For a field study focusing on the analysis of fractures within damage zones (the sorts of things you could do in the field), see Mitchell &amp; Faulkner, 2009, </a:t>
            </a:r>
            <a:r>
              <a:rPr lang="en-GB" altLang="en-US" sz="1000" i="1" dirty="0"/>
              <a:t>Journal of Structural Geology</a:t>
            </a:r>
            <a:r>
              <a:rPr lang="en-GB" altLang="en-US" sz="1000" dirty="0"/>
              <a:t> 31: 802-816, </a:t>
            </a:r>
            <a:r>
              <a:rPr lang="en-GB" sz="1000" dirty="0"/>
              <a:t>https://doi.org/10.1016/j.jsg.2009.05.002</a:t>
            </a:r>
            <a:r>
              <a:rPr lang="en-GB" altLang="en-US" sz="1000" dirty="0"/>
              <a:t>. For a more detailed analysis attempting to correlate damage zone width and the spacing of deformation bands within it, with fault displacement (for the case of normal faults in porous rocks), see </a:t>
            </a:r>
            <a:r>
              <a:rPr lang="en-GB" altLang="en-US" sz="1000" dirty="0" err="1"/>
              <a:t>Schueller</a:t>
            </a:r>
            <a:r>
              <a:rPr lang="en-GB" altLang="en-US" sz="1000" dirty="0"/>
              <a:t> </a:t>
            </a:r>
            <a:r>
              <a:rPr lang="en-GB" altLang="en-US" sz="1000" i="1" dirty="0"/>
              <a:t>et al.</a:t>
            </a:r>
            <a:r>
              <a:rPr lang="en-GB" altLang="en-US" sz="1000" dirty="0"/>
              <a:t>, 2013, </a:t>
            </a:r>
            <a:r>
              <a:rPr lang="en-GB" altLang="en-US" sz="1000" i="1" dirty="0"/>
              <a:t>Journal of Structural Geology</a:t>
            </a:r>
            <a:r>
              <a:rPr lang="en-GB" altLang="en-US" sz="1000" dirty="0"/>
              <a:t> 52: 148-162, </a:t>
            </a:r>
            <a:r>
              <a:rPr lang="en-GB" sz="1000" dirty="0"/>
              <a:t>https://doi.org/10.1016/j.jsg.2013.03.013</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endParaRPr lang="en-GB" altLang="en-US" sz="1000" dirty="0"/>
          </a:p>
          <a:p>
            <a:pPr marL="108000" indent="-108000">
              <a:spcBef>
                <a:spcPts val="300"/>
              </a:spcBef>
              <a:buFont typeface="Arial" panose="020B0604020202020204" pitchFamily="34" charset="0"/>
              <a:buChar char="•"/>
            </a:pPr>
            <a:r>
              <a:rPr lang="en-GB" altLang="en-US" sz="1000" dirty="0"/>
              <a:t>All the figures come from </a:t>
            </a:r>
            <a:r>
              <a:rPr lang="en-GB" altLang="en-US" sz="1000" dirty="0" err="1"/>
              <a:t>Schueller</a:t>
            </a:r>
            <a:r>
              <a:rPr lang="en-GB" altLang="en-US" sz="1000" dirty="0"/>
              <a:t> </a:t>
            </a:r>
            <a:r>
              <a:rPr lang="en-GB" altLang="en-US" sz="1000" i="1" dirty="0"/>
              <a:t>et al.</a:t>
            </a:r>
            <a:r>
              <a:rPr lang="en-GB" altLang="en-US" sz="1000" dirty="0"/>
              <a:t>, 2013, </a:t>
            </a:r>
            <a:r>
              <a:rPr lang="en-GB" altLang="en-US" sz="1000" i="1" dirty="0"/>
              <a:t>Journal of Structural Geology</a:t>
            </a:r>
            <a:r>
              <a:rPr lang="en-GB" altLang="en-US" sz="1000" dirty="0"/>
              <a:t> 52: 148-162, </a:t>
            </a:r>
            <a:r>
              <a:rPr lang="en-GB" sz="1000" dirty="0"/>
              <a:t>https://doi.org/10.1016/j.jsg.2013.03.013</a:t>
            </a:r>
            <a:endParaRPr lang="en-GB" altLang="en-US" sz="1000" dirty="0"/>
          </a:p>
          <a:p>
            <a:pPr>
              <a:spcBef>
                <a:spcPts val="300"/>
              </a:spcBef>
              <a:buFontTx/>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8EA62E7D-9B04-435C-B428-A225840D6827}"/>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50253A01-B28D-42F2-8764-7DAA0B0FB25A}"/>
              </a:ext>
            </a:extLst>
          </p:cNvPr>
          <p:cNvSpPr>
            <a:spLocks noGrp="1" noChangeArrowheads="1"/>
          </p:cNvSpPr>
          <p:nvPr>
            <p:ph type="body" idx="1"/>
          </p:nvPr>
        </p:nvSpPr>
        <p:spPr>
          <a:noFill/>
        </p:spPr>
        <p:txBody>
          <a:bodyPr/>
          <a:lstStyle/>
          <a:p>
            <a:pPr marL="108000" indent="-108000">
              <a:lnSpc>
                <a:spcPct val="100000"/>
              </a:lnSpc>
              <a:spcBef>
                <a:spcPts val="300"/>
              </a:spcBef>
              <a:buFont typeface="Arial" panose="020B0604020202020204" pitchFamily="34" charset="0"/>
              <a:buChar char="•"/>
            </a:pPr>
            <a:r>
              <a:rPr lang="en-GB" altLang="en-US" sz="1000" dirty="0"/>
              <a:t>Damage that occurs during the transient stress conditions arising during fast fracture propagation is commonly described as ‘</a:t>
            </a:r>
            <a:r>
              <a:rPr lang="en-GB" altLang="en-US" sz="1000" dirty="0" err="1"/>
              <a:t>coseismic</a:t>
            </a:r>
            <a:r>
              <a:rPr lang="en-GB" altLang="en-US" sz="1000" dirty="0"/>
              <a:t>’. These stresses arise because the slip velocity rises from zero behind the tail of the rupture up to a maximum and then back down to zero ahead of the rupture tip, that is, because the slip-rate varies along the rupture. Dynamic fracturing occurs for fault slip rates of &gt; 1 ms</a:t>
            </a:r>
            <a:r>
              <a:rPr lang="en-GB" altLang="en-US" sz="1000" baseline="30000" dirty="0"/>
              <a:t>-1</a:t>
            </a:r>
            <a:r>
              <a:rPr lang="en-GB" altLang="en-US" sz="1000" dirty="0"/>
              <a:t> (or perhaps even at slip rates &gt; 0.1 mms</a:t>
            </a:r>
            <a:r>
              <a:rPr lang="en-GB" altLang="en-US" sz="1000" baseline="30000" dirty="0"/>
              <a:t>-1</a:t>
            </a:r>
            <a:r>
              <a:rPr lang="en-GB" altLang="en-US" sz="1000" baseline="0" dirty="0"/>
              <a:t>)</a:t>
            </a:r>
            <a:endParaRPr lang="en-GB" altLang="en-US" sz="1000" dirty="0"/>
          </a:p>
          <a:p>
            <a:pPr marL="108000" indent="-108000">
              <a:lnSpc>
                <a:spcPct val="100000"/>
              </a:lnSpc>
              <a:spcBef>
                <a:spcPts val="300"/>
              </a:spcBef>
              <a:buFont typeface="Arial" panose="020B0604020202020204" pitchFamily="34" charset="0"/>
              <a:buChar char="•"/>
            </a:pPr>
            <a:r>
              <a:rPr lang="en-GB" altLang="en-US" sz="1000" dirty="0"/>
              <a:t>During dynamic fracture, loading is so fast that inertial terms need to be included in the equations of motion that are used to determine the deformation response. Theoretically, the terminal velocity of a fast-propagating fracture is the Rayleigh wave velocity (</a:t>
            </a:r>
            <a:r>
              <a:rPr lang="en-GB" altLang="en-US" sz="1000" i="1" dirty="0"/>
              <a:t>V</a:t>
            </a:r>
            <a:r>
              <a:rPr lang="en-GB" altLang="en-US" sz="1000" i="1" spc="100" baseline="-25000" dirty="0"/>
              <a:t>R</a:t>
            </a:r>
            <a:r>
              <a:rPr lang="en-GB" altLang="en-US" sz="1000" dirty="0"/>
              <a:t>)</a:t>
            </a:r>
            <a:r>
              <a:rPr lang="en-GB" altLang="en-US" sz="1000" i="1" dirty="0"/>
              <a:t>.</a:t>
            </a:r>
            <a:r>
              <a:rPr lang="en-GB" altLang="en-US" sz="1000" dirty="0"/>
              <a:t> This is about 0.92 × shear wave velocity (</a:t>
            </a:r>
            <a:r>
              <a:rPr lang="en-GB" altLang="en-US" sz="1000" i="1" dirty="0"/>
              <a:t>V</a:t>
            </a:r>
            <a:r>
              <a:rPr lang="en-GB" altLang="en-US" sz="1000" i="1" spc="100" baseline="-25000" dirty="0"/>
              <a:t>s</a:t>
            </a:r>
            <a:r>
              <a:rPr lang="en-GB" altLang="en-US" sz="1000" dirty="0"/>
              <a:t>), or more precisely,   </a:t>
            </a:r>
            <a:r>
              <a:rPr lang="en-GB" altLang="en-US" sz="1000" i="1" dirty="0"/>
              <a:t>V</a:t>
            </a:r>
            <a:r>
              <a:rPr lang="en-GB" altLang="en-US" sz="1000" i="1" spc="250" baseline="-25000" dirty="0"/>
              <a:t>R</a:t>
            </a:r>
            <a:r>
              <a:rPr lang="en-GB" altLang="en-US" sz="1000" spc="150" dirty="0"/>
              <a:t>/</a:t>
            </a:r>
            <a:r>
              <a:rPr lang="en-GB" altLang="en-US" sz="1000" i="1" dirty="0"/>
              <a:t>V</a:t>
            </a:r>
            <a:r>
              <a:rPr lang="en-GB" altLang="en-US" sz="1000" i="1" baseline="-25000" dirty="0"/>
              <a:t>s</a:t>
            </a:r>
            <a:r>
              <a:rPr lang="en-GB" altLang="en-US" sz="1000" dirty="0"/>
              <a:t>  ~  </a:t>
            </a:r>
            <a:r>
              <a:rPr lang="en-GB" altLang="en-US" sz="1000" spc="100" baseline="0" dirty="0"/>
              <a:t>[</a:t>
            </a:r>
            <a:r>
              <a:rPr lang="en-GB" altLang="en-US" sz="1000" dirty="0"/>
              <a:t>0.862 + (1.1</a:t>
            </a:r>
            <a:r>
              <a:rPr lang="en-GB" altLang="en-US" sz="1000" spc="150" baseline="0" dirty="0"/>
              <a:t>4</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spc="150" baseline="0" dirty="0">
                <a:cs typeface="Times New Roman" panose="02020603050405020304" pitchFamily="18" charset="0"/>
              </a:rPr>
              <a:t>)</a:t>
            </a:r>
            <a:r>
              <a:rPr lang="en-GB" altLang="en-US" sz="1000" dirty="0">
                <a:cs typeface="Times New Roman" panose="02020603050405020304" pitchFamily="18" charset="0"/>
              </a:rPr>
              <a:t>] / (</a:t>
            </a:r>
            <a:r>
              <a:rPr lang="en-GB" altLang="en-US" sz="1000" spc="200" baseline="0" dirty="0">
                <a:cs typeface="Times New Roman" panose="02020603050405020304" pitchFamily="18" charset="0"/>
              </a:rPr>
              <a:t>1+</a:t>
            </a:r>
            <a:r>
              <a:rPr lang="el-GR" altLang="en-US" sz="1000" i="1" spc="150" baseline="0"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cs typeface="Times New Roman" panose="02020603050405020304" pitchFamily="18" charset="0"/>
              </a:rPr>
              <a:t>)  where </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ν</a:t>
            </a:r>
            <a:r>
              <a:rPr lang="en-GB" altLang="en-US" sz="1000" dirty="0">
                <a:cs typeface="Times New Roman" panose="02020603050405020304" pitchFamily="18" charset="0"/>
              </a:rPr>
              <a:t> ~ 0.25 for rocks = Poisson’s ratio</a:t>
            </a:r>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cs typeface="Times New Roman" panose="02020603050405020304" pitchFamily="18" charset="0"/>
              </a:rPr>
              <a:t>For a review of features that may indicate seismic slip-rates (</a:t>
            </a:r>
            <a:r>
              <a:rPr lang="en-GB" altLang="en-US" sz="1000" dirty="0" err="1">
                <a:cs typeface="Times New Roman" panose="02020603050405020304" pitchFamily="18" charset="0"/>
              </a:rPr>
              <a:t>palaeo</a:t>
            </a:r>
            <a:r>
              <a:rPr lang="en-GB" altLang="en-US" sz="1000" dirty="0">
                <a:cs typeface="Times New Roman" panose="02020603050405020304" pitchFamily="18" charset="0"/>
              </a:rPr>
              <a:t>-earthquakes) rather than slower slip, see </a:t>
            </a:r>
            <a:r>
              <a:rPr lang="en-GB" altLang="en-US" sz="1000" dirty="0"/>
              <a:t>Rowe &amp; Griffith, 2015, </a:t>
            </a:r>
            <a:r>
              <a:rPr lang="en-GB" altLang="en-US" sz="1000" i="1" dirty="0"/>
              <a:t>Journal of Structural Geology </a:t>
            </a:r>
            <a:r>
              <a:rPr lang="en-GB" altLang="en-US" sz="1000" dirty="0"/>
              <a:t>78: 1-26, </a:t>
            </a:r>
            <a:r>
              <a:rPr lang="en-GB" sz="1000" dirty="0"/>
              <a:t>https://doi.org/10.1016/j.jsg.2015.06.006</a:t>
            </a:r>
            <a:r>
              <a:rPr lang="en-GB" altLang="en-US" sz="1000" dirty="0"/>
              <a:t>. For such features in limestones, see </a:t>
            </a:r>
            <a:r>
              <a:rPr lang="en-GB" altLang="en-US" sz="1000" i="1" dirty="0"/>
              <a:t>e.g.</a:t>
            </a:r>
            <a:r>
              <a:rPr lang="en-GB" altLang="en-US" sz="1000" i="0" dirty="0"/>
              <a:t>, </a:t>
            </a:r>
            <a:r>
              <a:rPr lang="en-GB" altLang="en-US" sz="1000" i="0" dirty="0" err="1"/>
              <a:t>Delle</a:t>
            </a:r>
            <a:r>
              <a:rPr lang="en-GB" altLang="en-US" sz="1000" i="0" dirty="0"/>
              <a:t> </a:t>
            </a:r>
            <a:r>
              <a:rPr lang="en-GB" altLang="en-US" sz="1000" i="0" dirty="0" err="1"/>
              <a:t>Piane</a:t>
            </a:r>
            <a:r>
              <a:rPr lang="en-GB" altLang="en-US" sz="1000" i="0" dirty="0"/>
              <a:t> </a:t>
            </a:r>
            <a:r>
              <a:rPr lang="en-GB" altLang="en-US" sz="1000" i="1" dirty="0"/>
              <a:t>et al.</a:t>
            </a:r>
            <a:r>
              <a:rPr lang="en-GB" altLang="en-US" sz="1000" i="0" dirty="0"/>
              <a:t>, 2017, </a:t>
            </a:r>
            <a:r>
              <a:rPr lang="en-GB" altLang="en-US" sz="1000" i="1" dirty="0"/>
              <a:t>Journal of Structural Geology</a:t>
            </a:r>
            <a:r>
              <a:rPr lang="en-GB" altLang="en-US" sz="1000" i="0" dirty="0"/>
              <a:t> 103: 17-36, </a:t>
            </a:r>
            <a:r>
              <a:rPr lang="en-GB" sz="1000" dirty="0"/>
              <a:t>https://doi.org/10.1016/j.jsg.2017.09.003</a:t>
            </a:r>
            <a:r>
              <a:rPr lang="en-GB" altLang="en-US" sz="1000" i="0" dirty="0"/>
              <a:t>; </a:t>
            </a:r>
            <a:r>
              <a:rPr lang="en-GB" altLang="en-US" sz="1000" i="0" dirty="0" err="1"/>
              <a:t>Delle</a:t>
            </a:r>
            <a:r>
              <a:rPr lang="en-GB" altLang="en-US" sz="1000" i="0" dirty="0"/>
              <a:t> </a:t>
            </a:r>
            <a:r>
              <a:rPr lang="en-GB" altLang="en-US" sz="1000" i="0" dirty="0" err="1"/>
              <a:t>Piane</a:t>
            </a:r>
            <a:r>
              <a:rPr lang="en-GB" altLang="en-US" sz="1000" i="0" dirty="0"/>
              <a:t> </a:t>
            </a:r>
            <a:r>
              <a:rPr lang="en-GB" altLang="en-US" sz="1000" i="1" dirty="0"/>
              <a:t>et al.</a:t>
            </a:r>
            <a:r>
              <a:rPr lang="en-GB" altLang="en-US" sz="1000" i="0" dirty="0"/>
              <a:t>, 2018, </a:t>
            </a:r>
            <a:r>
              <a:rPr lang="en-GB" altLang="en-US" sz="1000" i="1" dirty="0"/>
              <a:t>Geology</a:t>
            </a:r>
            <a:r>
              <a:rPr lang="en-GB" altLang="en-US" sz="1000" i="0" dirty="0"/>
              <a:t> 46: 163-166, </a:t>
            </a:r>
            <a:r>
              <a:rPr lang="en-GB" sz="1000" dirty="0"/>
              <a:t>https://doi.org/10.1130/G39584.1</a:t>
            </a:r>
            <a:r>
              <a:rPr lang="en-GB" altLang="en-US" sz="1000" i="0" dirty="0"/>
              <a:t>. For an analysis of quartz deformation microstructures that was used to infer an interval of </a:t>
            </a:r>
            <a:r>
              <a:rPr lang="en-GB" altLang="en-US" sz="1000" i="0" dirty="0" err="1"/>
              <a:t>coseismic</a:t>
            </a:r>
            <a:r>
              <a:rPr lang="en-GB" altLang="en-US" sz="1000" i="0" dirty="0"/>
              <a:t> deformation within a period of much slower deformation, see </a:t>
            </a:r>
            <a:r>
              <a:rPr lang="en-GB" altLang="en-US" sz="1000" i="0" dirty="0" err="1"/>
              <a:t>Trepmann</a:t>
            </a:r>
            <a:r>
              <a:rPr lang="en-GB" altLang="en-US" sz="1000" i="0" dirty="0"/>
              <a:t> &amp; Seybold, 2019, </a:t>
            </a:r>
            <a:r>
              <a:rPr lang="en-GB" altLang="en-US" sz="1000" i="1" dirty="0"/>
              <a:t>Geoscience Frontiers</a:t>
            </a:r>
            <a:r>
              <a:rPr lang="en-GB" altLang="en-US" sz="1000" i="0" dirty="0"/>
              <a:t> 10: 43-54, </a:t>
            </a:r>
            <a:r>
              <a:rPr lang="en-GB" sz="1000" dirty="0"/>
              <a:t>https://doi.org/10.1016/j.gsf.2018.05.002</a:t>
            </a:r>
            <a:endParaRPr lang="el-GR" altLang="en-US" sz="1000" dirty="0">
              <a:cs typeface="Times New Roman" panose="02020603050405020304" pitchFamily="18" charset="0"/>
            </a:endParaRPr>
          </a:p>
          <a:p>
            <a:pPr marL="108000" indent="-108000">
              <a:lnSpc>
                <a:spcPct val="100000"/>
              </a:lnSpc>
              <a:spcBef>
                <a:spcPts val="300"/>
              </a:spcBef>
              <a:buFont typeface="Arial" panose="020B0604020202020204" pitchFamily="34" charset="0"/>
              <a:buChar char="•"/>
            </a:pPr>
            <a:r>
              <a:rPr lang="en-GB" altLang="en-US" sz="1000" dirty="0"/>
              <a:t>Figure top right (from Di Toro </a:t>
            </a:r>
            <a:r>
              <a:rPr lang="en-GB" altLang="en-US" sz="1000" i="1" dirty="0"/>
              <a:t>et al.</a:t>
            </a:r>
            <a:r>
              <a:rPr lang="en-GB" altLang="en-US" sz="1000" dirty="0"/>
              <a:t>, 2005, </a:t>
            </a:r>
            <a:r>
              <a:rPr lang="en-GB" altLang="en-US" sz="1000" i="1" dirty="0"/>
              <a:t>Nature </a:t>
            </a:r>
            <a:r>
              <a:rPr lang="en-GB" altLang="en-US" sz="1000" dirty="0"/>
              <a:t>436: 1009-1012, </a:t>
            </a:r>
            <a:r>
              <a:rPr lang="en-GB" sz="1000" dirty="0"/>
              <a:t>https://doi.org/10.1038/nature03910</a:t>
            </a:r>
            <a:r>
              <a:rPr lang="en-GB" altLang="en-US" sz="1000" dirty="0"/>
              <a:t>) showing the calculated maximum principal stress magnitude (colour coding) and orientation (black lines) around a fracture propagating to the right at a speed of 0.9 × shear wave velocity (</a:t>
            </a:r>
            <a:r>
              <a:rPr lang="en-GB" altLang="en-US" sz="1000" spc="150" baseline="0" dirty="0"/>
              <a:t>~</a:t>
            </a:r>
            <a:r>
              <a:rPr lang="en-GB" altLang="en-US" sz="1000" dirty="0"/>
              <a:t>0.98 of the Rayleigh wave velocity). Stresses in the top half of the figure are compressive; those in the bottom half are tensile. Since rocks are generally weaker in tension than in compression, fractures will develop preferentially in the tensile areas and have an orientation locally parallel to the black lines. Di Toro </a:t>
            </a:r>
            <a:r>
              <a:rPr lang="en-GB" altLang="en-US" sz="1000" i="1" dirty="0"/>
              <a:t>et al.</a:t>
            </a:r>
            <a:r>
              <a:rPr lang="en-GB" altLang="en-US" sz="1000" dirty="0"/>
              <a:t> observed melt filled fractures (</a:t>
            </a:r>
            <a:r>
              <a:rPr lang="en-GB" altLang="en-US" sz="1000" dirty="0" err="1"/>
              <a:t>pseudotachylytes</a:t>
            </a:r>
            <a:r>
              <a:rPr lang="en-GB" altLang="en-US" sz="1000" dirty="0"/>
              <a:t>) in this orientation around the </a:t>
            </a:r>
            <a:r>
              <a:rPr lang="en-GB" altLang="en-US" sz="1000" dirty="0" err="1"/>
              <a:t>Gole</a:t>
            </a:r>
            <a:r>
              <a:rPr lang="en-GB" altLang="en-US" sz="1000" dirty="0"/>
              <a:t> </a:t>
            </a:r>
            <a:r>
              <a:rPr lang="en-GB" altLang="en-US" sz="1000" dirty="0" err="1"/>
              <a:t>Larghe</a:t>
            </a:r>
            <a:r>
              <a:rPr lang="en-GB" altLang="en-US" sz="1000" dirty="0"/>
              <a:t> Fault in northern Italy</a:t>
            </a:r>
          </a:p>
          <a:p>
            <a:pPr marL="108000" indent="-108000">
              <a:lnSpc>
                <a:spcPct val="100000"/>
              </a:lnSpc>
              <a:spcBef>
                <a:spcPts val="300"/>
              </a:spcBef>
              <a:buFont typeface="Arial" panose="020B0604020202020204" pitchFamily="34" charset="0"/>
              <a:buChar char="•"/>
            </a:pPr>
            <a:r>
              <a:rPr lang="en-GB" altLang="en-US" sz="1000" dirty="0"/>
              <a:t>Figure bottom left (from </a:t>
            </a:r>
            <a:r>
              <a:rPr lang="en-GB" altLang="en-US" sz="1000" dirty="0" err="1"/>
              <a:t>Fondriest</a:t>
            </a:r>
            <a:r>
              <a:rPr lang="en-GB" altLang="en-US" sz="1000" dirty="0"/>
              <a:t> </a:t>
            </a:r>
            <a:r>
              <a:rPr lang="en-GB" altLang="en-US" sz="1000" i="1" dirty="0"/>
              <a:t>et al.</a:t>
            </a:r>
            <a:r>
              <a:rPr lang="en-GB" altLang="en-US" sz="1000" dirty="0"/>
              <a:t>, 2017, </a:t>
            </a:r>
            <a:r>
              <a:rPr lang="en-GB" altLang="en-US" sz="1000" i="1" dirty="0"/>
              <a:t>Earth and Planetary Science Letters</a:t>
            </a:r>
            <a:r>
              <a:rPr lang="en-GB" altLang="en-US" sz="1000" dirty="0"/>
              <a:t> 461: 8-19, </a:t>
            </a:r>
            <a:r>
              <a:rPr lang="en-GB" sz="1000" dirty="0"/>
              <a:t>https://doi.org/10.1016/j.epsl.2016.12.024</a:t>
            </a:r>
            <a:r>
              <a:rPr lang="en-GB" altLang="en-US" sz="1000" dirty="0"/>
              <a:t>) showing the relationship between fault zone thickness and fault displacement observed for normal/reverse/strike-slip faults (a relationship noted in Class 4 Slide 5) with, in red, observations made on a fault within dolomites in the </a:t>
            </a:r>
            <a:r>
              <a:rPr lang="en-GB" altLang="en-US" sz="1000" dirty="0" err="1"/>
              <a:t>Foiana</a:t>
            </a:r>
            <a:r>
              <a:rPr lang="en-GB" altLang="en-US" sz="1000" dirty="0"/>
              <a:t> Fault Zone, northern Italy. The larger red star shows the thickness/displacement ratio in a region of suspected </a:t>
            </a:r>
            <a:r>
              <a:rPr lang="en-GB" altLang="en-US" sz="1000" dirty="0" err="1"/>
              <a:t>coseismic</a:t>
            </a:r>
            <a:r>
              <a:rPr lang="en-GB" altLang="en-US" sz="1000" dirty="0"/>
              <a:t> damage – note that it lies well above the trend of the other data, that is, at given fault displacement the thickness of the damage zone was much larger</a:t>
            </a:r>
          </a:p>
          <a:p>
            <a:pPr marL="0" indent="0">
              <a:lnSpc>
                <a:spcPct val="100000"/>
              </a:lnSpc>
              <a:spcBef>
                <a:spcPts val="300"/>
              </a:spcBef>
              <a:buFont typeface="Arial" panose="020B0604020202020204" pitchFamily="34" charset="0"/>
              <a:buNone/>
            </a:pPr>
            <a:endParaRPr lang="en-GB" altLang="en-US" sz="10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4A6ADE8-3A5D-4CAB-BC42-FF80A807A4D3}"/>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477C9560-EE2F-4EFB-B7E0-B999A50005A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(from Fossen, p.135) showing, on the left, extension fractures linking up and, on the right, shear fractures (the red lines) linking up</a:t>
            </a:r>
          </a:p>
          <a:p>
            <a:pPr marL="108000" indent="-108000">
              <a:spcBef>
                <a:spcPts val="300"/>
              </a:spcBef>
              <a:buFont typeface="Arial" panose="020B0604020202020204" pitchFamily="34" charset="0"/>
              <a:buChar char="•"/>
            </a:pPr>
            <a:r>
              <a:rPr lang="en-GB" altLang="en-US" sz="1000" dirty="0"/>
              <a:t>Photo (Pollard &amp; Fletcher, p.369, but originally from Brace &amp; </a:t>
            </a:r>
            <a:r>
              <a:rPr lang="en-GB" altLang="en-US" sz="1000" dirty="0" err="1"/>
              <a:t>Bombalakis</a:t>
            </a:r>
            <a:r>
              <a:rPr lang="en-GB" altLang="en-US" sz="1000" dirty="0"/>
              <a:t>, 1963, </a:t>
            </a:r>
            <a:r>
              <a:rPr lang="en-GB" altLang="en-US" sz="1000" i="1" dirty="0"/>
              <a:t>Journal of Geophysical Research</a:t>
            </a:r>
            <a:r>
              <a:rPr lang="en-GB" altLang="en-US" sz="1000" dirty="0"/>
              <a:t> 68: 3709-3713, </a:t>
            </a:r>
            <a:r>
              <a:rPr lang="en-GB" sz="1000" dirty="0"/>
              <a:t>https://doi.org/10.1029/JZ068i012p03709</a:t>
            </a:r>
            <a:r>
              <a:rPr lang="en-GB" altLang="en-US" sz="1000" dirty="0"/>
              <a:t>): wing cracks developing under compressive loading on the ends of three </a:t>
            </a:r>
            <a:r>
              <a:rPr lang="en-GB" altLang="en-US" sz="1000" dirty="0" err="1"/>
              <a:t>en</a:t>
            </a:r>
            <a:r>
              <a:rPr lang="en-GB" altLang="en-US" sz="1000" dirty="0"/>
              <a:t> </a:t>
            </a:r>
            <a:r>
              <a:rPr lang="en-GB" altLang="en-US" sz="1000" dirty="0" err="1"/>
              <a:t>échelon</a:t>
            </a:r>
            <a:r>
              <a:rPr lang="en-GB" altLang="en-US" sz="1000" dirty="0"/>
              <a:t> shear fractures (in glass). Note how the wing cracks curve into alignment with the loading direction </a:t>
            </a:r>
            <a:r>
              <a:rPr lang="en-GB" altLang="en-US" sz="1000" spc="100" baseline="0" dirty="0"/>
              <a:t>(</a:t>
            </a:r>
            <a:r>
              <a:rPr lang="el-GR" altLang="en-US" sz="1000" i="1" dirty="0">
                <a:latin typeface="Cambria Math" panose="02040503050406030204" pitchFamily="18" charset="0"/>
                <a:ea typeface="Cambria Math" panose="02040503050406030204" pitchFamily="18" charset="0"/>
                <a:cs typeface="Times New Roman" panose="02020603050405020304" pitchFamily="18" charset="0"/>
              </a:rPr>
              <a:t>σ</a:t>
            </a:r>
            <a:r>
              <a:rPr lang="en-GB" altLang="en-US" sz="1000" spc="150" baseline="-25000" dirty="0"/>
              <a:t>1</a:t>
            </a:r>
            <a:r>
              <a:rPr lang="en-GB" altLang="en-US" sz="1000" baseline="0" dirty="0"/>
              <a:t>)</a:t>
            </a:r>
          </a:p>
          <a:p>
            <a:pPr marL="0" indent="0">
              <a:spcBef>
                <a:spcPts val="300"/>
              </a:spcBef>
              <a:buFont typeface="Arial" panose="020B0604020202020204" pitchFamily="34" charset="0"/>
              <a:buNone/>
            </a:pPr>
            <a:endParaRPr lang="en-GB" altLang="en-US" sz="1000" baseline="-250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58FEBDF3-04F4-4978-8376-B5639E9F7BE5}"/>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238BD96C-4348-43BC-AC58-870496007B1F}"/>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and figure (from </a:t>
            </a:r>
            <a:r>
              <a:rPr lang="en-GB" altLang="en-US" sz="1000" dirty="0" err="1"/>
              <a:t>Gudmundsson</a:t>
            </a:r>
            <a:r>
              <a:rPr lang="en-GB" altLang="en-US" sz="1000" dirty="0"/>
              <a:t>, p.423): </a:t>
            </a:r>
            <a:r>
              <a:rPr lang="en-GB" altLang="en-US" sz="1000" dirty="0" err="1"/>
              <a:t>en</a:t>
            </a:r>
            <a:r>
              <a:rPr lang="en-GB" altLang="en-US" sz="1000" dirty="0"/>
              <a:t> </a:t>
            </a:r>
            <a:r>
              <a:rPr lang="en-GB" altLang="en-US" sz="1000" dirty="0" err="1"/>
              <a:t>échelon</a:t>
            </a:r>
            <a:r>
              <a:rPr lang="en-GB" altLang="en-US" sz="1000" dirty="0"/>
              <a:t> array of joints forming an incipient fault (parallel to one that has already formed below it) in a bedded chalk succession. Note the combination of photo and line-drawing. An initial line-drawing in your field notebook is a big help, even if the final line-drawing comes from the photo, because you can see more in the field (moving around changes the lighting conditions)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D000393-F7ED-41CB-A28D-577A99D9BF9E}"/>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B29CA344-B5F1-4577-B11B-9555D8C1691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The linking of fractures within a layered sequence is influenced by the variation of rock unit properties, layer thickness, and layer interface properties through the sequence, that is, by the </a:t>
            </a:r>
            <a:r>
              <a:rPr lang="en-GB" altLang="en-US" sz="1000" b="1" i="1" dirty="0"/>
              <a:t>mechanical stratigraphy</a:t>
            </a:r>
            <a:r>
              <a:rPr lang="en-GB" altLang="en-US" sz="1000" dirty="0"/>
              <a:t>. For a review of the key concepts of mechanical stratigraphy, see </a:t>
            </a:r>
            <a:r>
              <a:rPr lang="en-GB" altLang="en-US" sz="1000" dirty="0" err="1"/>
              <a:t>Ferrill</a:t>
            </a:r>
            <a:r>
              <a:rPr lang="en-GB" altLang="en-US" sz="1000" dirty="0"/>
              <a:t> </a:t>
            </a:r>
            <a:r>
              <a:rPr lang="en-GB" altLang="en-US" sz="1000" i="1" dirty="0"/>
              <a:t>et al.</a:t>
            </a:r>
            <a:r>
              <a:rPr lang="en-GB" altLang="en-US" sz="1000" dirty="0"/>
              <a:t>, 2017, </a:t>
            </a:r>
            <a:r>
              <a:rPr lang="en-GB" altLang="en-US" sz="1000" i="1" dirty="0"/>
              <a:t>Journal of Structural Geology</a:t>
            </a:r>
            <a:r>
              <a:rPr lang="en-GB" altLang="en-US" sz="1000" dirty="0"/>
              <a:t> 94: 275-302, </a:t>
            </a:r>
            <a:r>
              <a:rPr lang="en-GB" sz="1000" dirty="0"/>
              <a:t>https://doi.org/10.1016/j.jsg.2016.11.010</a:t>
            </a:r>
            <a:endParaRPr lang="en-GB" altLang="en-US" sz="1000" dirty="0"/>
          </a:p>
          <a:p>
            <a:pPr marL="108000" indent="-108000">
              <a:spcBef>
                <a:spcPts val="300"/>
              </a:spcBef>
              <a:buFont typeface="Arial" panose="020B0604020202020204" pitchFamily="34" charset="0"/>
              <a:buChar char="•"/>
            </a:pPr>
            <a:r>
              <a:rPr lang="en-GB" altLang="en-US" sz="1000" dirty="0"/>
              <a:t>Photo left (Steve Covey-Crump): an </a:t>
            </a:r>
            <a:r>
              <a:rPr lang="en-GB" altLang="en-US" sz="1000" dirty="0" err="1"/>
              <a:t>en</a:t>
            </a:r>
            <a:r>
              <a:rPr lang="en-GB" altLang="en-US" sz="1000" dirty="0"/>
              <a:t> </a:t>
            </a:r>
            <a:r>
              <a:rPr lang="en-GB" altLang="en-US" sz="1000" dirty="0" err="1"/>
              <a:t>échelon</a:t>
            </a:r>
            <a:r>
              <a:rPr lang="en-GB" altLang="en-US" sz="1000" dirty="0"/>
              <a:t> array of extension fractures – an incipient fault? A later left-right trending dyke crosscuts the </a:t>
            </a:r>
            <a:r>
              <a:rPr lang="en-GB" altLang="en-US" sz="1000" dirty="0" err="1"/>
              <a:t>en</a:t>
            </a:r>
            <a:r>
              <a:rPr lang="en-GB" altLang="en-US" sz="1000" dirty="0"/>
              <a:t> </a:t>
            </a:r>
            <a:r>
              <a:rPr lang="en-GB" altLang="en-US" sz="1000" dirty="0" err="1"/>
              <a:t>échelon</a:t>
            </a:r>
            <a:r>
              <a:rPr lang="en-GB" altLang="en-US" sz="1000" dirty="0"/>
              <a:t> array just above the middle of the photo, Ross of Mull, Scotland</a:t>
            </a:r>
          </a:p>
          <a:p>
            <a:pPr marL="108000" indent="-108000">
              <a:spcBef>
                <a:spcPts val="300"/>
              </a:spcBef>
              <a:buFont typeface="Arial" panose="020B0604020202020204" pitchFamily="34" charset="0"/>
              <a:buChar char="•"/>
            </a:pPr>
            <a:r>
              <a:rPr lang="en-GB" altLang="en-US" sz="1000" dirty="0"/>
              <a:t>Photo middle (Steve Covey-Crump): an </a:t>
            </a:r>
            <a:r>
              <a:rPr lang="en-GB" altLang="en-US" sz="1000" dirty="0" err="1"/>
              <a:t>en</a:t>
            </a:r>
            <a:r>
              <a:rPr lang="en-GB" altLang="en-US" sz="1000" dirty="0"/>
              <a:t> </a:t>
            </a:r>
            <a:r>
              <a:rPr lang="en-GB" altLang="en-US" sz="1000" dirty="0" err="1"/>
              <a:t>échelon</a:t>
            </a:r>
            <a:r>
              <a:rPr lang="en-GB" altLang="en-US" sz="1000" dirty="0"/>
              <a:t> array of </a:t>
            </a:r>
            <a:r>
              <a:rPr lang="en-GB" altLang="en-US" sz="1000" dirty="0" err="1"/>
              <a:t>transtensional</a:t>
            </a:r>
            <a:r>
              <a:rPr lang="en-GB" altLang="en-US" sz="1000" dirty="0"/>
              <a:t> fractures (dextral sense of shear + simultaneous extension) that are in the process of linking, West Angle Bay, Pembrokeshire</a:t>
            </a:r>
          </a:p>
          <a:p>
            <a:pPr marL="108000" indent="-108000">
              <a:spcBef>
                <a:spcPts val="300"/>
              </a:spcBef>
              <a:buFont typeface="Arial" panose="020B0604020202020204" pitchFamily="34" charset="0"/>
              <a:buChar char="•"/>
            </a:pPr>
            <a:r>
              <a:rPr lang="en-GB" altLang="en-US" sz="1000" dirty="0"/>
              <a:t>Photo right (from Larsen </a:t>
            </a:r>
            <a:r>
              <a:rPr lang="en-GB" altLang="en-US" sz="1000" i="1" dirty="0"/>
              <a:t>et al.</a:t>
            </a:r>
            <a:r>
              <a:rPr lang="en-GB" altLang="en-US" sz="1000" dirty="0"/>
              <a:t>, 2010, </a:t>
            </a:r>
            <a:r>
              <a:rPr lang="en-GB" altLang="en-US" sz="1000" i="1" dirty="0"/>
              <a:t>Marine and Petroleum Geology</a:t>
            </a:r>
            <a:r>
              <a:rPr lang="en-GB" altLang="en-US" sz="1000" dirty="0"/>
              <a:t> 27:1531-1550, </a:t>
            </a:r>
            <a:r>
              <a:rPr lang="en-GB" sz="1000" dirty="0"/>
              <a:t>https://doi.org/10.1016/j.marpetgeo.2010.03.011</a:t>
            </a:r>
            <a:r>
              <a:rPr lang="en-GB" altLang="en-US" sz="1000" dirty="0"/>
              <a:t>): fractures in bedded carbonates that are linked by a fracture running along the contact between the beds, </a:t>
            </a:r>
            <a:r>
              <a:rPr lang="en-GB" altLang="en-US" sz="1000" dirty="0" err="1"/>
              <a:t>Pizzicoli</a:t>
            </a:r>
            <a:r>
              <a:rPr lang="en-GB" altLang="en-US" sz="1000" dirty="0"/>
              <a:t> Quarry, Gargano Promontory, southern Italy</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E5A220B2-77F6-4496-A8D4-A26145FA118B}" type="slidenum">
              <a:rPr lang="en-GB" altLang="en-US" smtClean="0"/>
              <a:pPr/>
              <a:t>34</a:t>
            </a:fld>
            <a:endParaRPr lang="en-GB" altLang="en-US"/>
          </a:p>
        </p:txBody>
      </p:sp>
    </p:spTree>
    <p:extLst>
      <p:ext uri="{BB962C8B-B14F-4D97-AF65-F5344CB8AC3E}">
        <p14:creationId xmlns:p14="http://schemas.microsoft.com/office/powerpoint/2010/main" val="15901102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A5892381-7E3E-44C8-B284-7407CB697865}"/>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8F4A810B-CCED-4DBD-A8FF-04552C3418D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Recall that a power law relationship produces a straight line on a log-log plot:  </a:t>
            </a:r>
            <a:r>
              <a:rPr lang="en-GB" altLang="en-US" sz="1000" i="1" dirty="0"/>
              <a:t>y</a:t>
            </a:r>
            <a:r>
              <a:rPr lang="en-GB" altLang="en-US" sz="1000" i="0" dirty="0"/>
              <a:t> = </a:t>
            </a:r>
            <a:r>
              <a:rPr lang="en-GB" altLang="en-US" sz="1000" i="1" spc="100" baseline="0" dirty="0" err="1"/>
              <a:t>Ax</a:t>
            </a:r>
            <a:r>
              <a:rPr lang="en-GB" altLang="en-US" sz="1000" i="1" baseline="30000" dirty="0" err="1"/>
              <a:t>n</a:t>
            </a:r>
            <a:r>
              <a:rPr lang="en-GB" altLang="en-US" sz="1000" i="0" baseline="0" dirty="0"/>
              <a:t>  →  lo</a:t>
            </a:r>
            <a:r>
              <a:rPr lang="en-GB" altLang="en-US" sz="1000" i="0" spc="200" baseline="0" dirty="0"/>
              <a:t>g</a:t>
            </a:r>
            <a:r>
              <a:rPr lang="en-GB" altLang="en-US" sz="1000" i="1" baseline="0" dirty="0"/>
              <a:t>y</a:t>
            </a:r>
            <a:r>
              <a:rPr lang="en-GB" altLang="en-US" sz="1000" i="0" baseline="0" dirty="0"/>
              <a:t> = </a:t>
            </a:r>
            <a:r>
              <a:rPr lang="en-GB" altLang="en-US" sz="1000" i="0" baseline="0" dirty="0" err="1"/>
              <a:t>lo</a:t>
            </a:r>
            <a:r>
              <a:rPr lang="en-GB" altLang="en-US" sz="1000" i="0" spc="200" baseline="0" dirty="0" err="1"/>
              <a:t>g</a:t>
            </a:r>
            <a:r>
              <a:rPr lang="en-GB" altLang="en-US" sz="1000" i="1" baseline="0" dirty="0" err="1"/>
              <a:t>A</a:t>
            </a:r>
            <a:r>
              <a:rPr lang="en-GB" altLang="en-US" sz="1000" i="0" baseline="0" dirty="0"/>
              <a:t> + </a:t>
            </a:r>
            <a:r>
              <a:rPr lang="en-GB" altLang="en-US" sz="1000" i="1" spc="150" baseline="0" dirty="0" err="1"/>
              <a:t>n</a:t>
            </a:r>
            <a:r>
              <a:rPr lang="en-GB" altLang="en-US" sz="1000" i="0" baseline="0" dirty="0" err="1"/>
              <a:t>lo</a:t>
            </a:r>
            <a:r>
              <a:rPr lang="en-GB" altLang="en-US" sz="1000" i="0" spc="200" baseline="0" dirty="0" err="1"/>
              <a:t>g</a:t>
            </a:r>
            <a:r>
              <a:rPr lang="en-GB" altLang="en-US" sz="1000" i="1" baseline="0" dirty="0" err="1"/>
              <a:t>x</a:t>
            </a:r>
            <a:endParaRPr lang="en-GB" altLang="en-US" sz="1000" dirty="0"/>
          </a:p>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A review of the measurement and significance of power law relationships in fractured systems is given by Bonnet </a:t>
            </a:r>
            <a:r>
              <a:rPr lang="en-GB" altLang="en-US" sz="1000" i="1" dirty="0"/>
              <a:t>et al</a:t>
            </a:r>
            <a:r>
              <a:rPr lang="en-GB" altLang="en-US" sz="1000" dirty="0"/>
              <a:t>., 2001, </a:t>
            </a:r>
            <a:r>
              <a:rPr lang="en-GB" altLang="en-US" sz="1000" i="1" dirty="0"/>
              <a:t>Reviews of Geophysics</a:t>
            </a:r>
            <a:r>
              <a:rPr lang="en-GB" altLang="en-US" sz="1000" dirty="0"/>
              <a:t> 39: 347-383, </a:t>
            </a:r>
            <a:r>
              <a:rPr lang="en-GB" sz="1000" dirty="0"/>
              <a:t>https://doi.org/10.1029/1999RG000074</a:t>
            </a:r>
            <a:endParaRPr lang="en-GB" altLang="en-US" sz="1000" dirty="0"/>
          </a:p>
          <a:p>
            <a:pPr marL="108000" indent="-108000">
              <a:spcBef>
                <a:spcPts val="300"/>
              </a:spcBef>
              <a:buFont typeface="Arial" panose="020B0604020202020204" pitchFamily="34" charset="0"/>
              <a:buChar char="•"/>
            </a:pPr>
            <a:r>
              <a:rPr lang="en-GB" altLang="en-US" sz="1000" dirty="0"/>
              <a:t>Figure top right from Schultz, 2000, </a:t>
            </a:r>
            <a:r>
              <a:rPr lang="en-GB" altLang="en-US" sz="1000" i="1" dirty="0"/>
              <a:t>Tectonophysics </a:t>
            </a:r>
            <a:r>
              <a:rPr lang="en-GB" altLang="en-US" sz="1000" dirty="0"/>
              <a:t>316: 169-193, </a:t>
            </a:r>
            <a:r>
              <a:rPr lang="en-GB" sz="1000" dirty="0"/>
              <a:t>https://doi.org/10.1016/S0040-1951(99)00228-0</a:t>
            </a:r>
            <a:r>
              <a:rPr lang="en-GB" altLang="en-US" sz="1000" dirty="0"/>
              <a:t> − note that the straight-line relationship breaks down at small </a:t>
            </a:r>
            <a:r>
              <a:rPr lang="en-GB" altLang="en-US" sz="1000" i="1" dirty="0"/>
              <a:t>L</a:t>
            </a:r>
            <a:r>
              <a:rPr lang="en-GB" altLang="en-US" sz="1000" i="0" dirty="0"/>
              <a:t> and at large </a:t>
            </a:r>
            <a:r>
              <a:rPr lang="en-GB" altLang="en-US" sz="1000" i="1" dirty="0"/>
              <a:t>L</a:t>
            </a:r>
            <a:endParaRPr lang="en-GB" altLang="en-US" sz="1000" dirty="0"/>
          </a:p>
          <a:p>
            <a:pPr marL="108000" indent="-108000">
              <a:spcBef>
                <a:spcPts val="300"/>
              </a:spcBef>
              <a:buFont typeface="Arial" panose="020B0604020202020204" pitchFamily="34" charset="0"/>
              <a:buChar char="•"/>
            </a:pPr>
            <a:r>
              <a:rPr lang="en-GB" altLang="en-US" sz="1000" dirty="0"/>
              <a:t>Image bottom (from lasp.colorado.edu/home/mariner9/): Mariner 9 image of Mars with Valles </a:t>
            </a:r>
            <a:r>
              <a:rPr lang="en-GB" altLang="en-US" sz="1000" dirty="0" err="1"/>
              <a:t>Marineris</a:t>
            </a:r>
            <a:r>
              <a:rPr lang="en-GB" altLang="en-US" sz="1000" dirty="0"/>
              <a:t> running across the equatorial regions. This valley system is over 4000 km long, 200 km wide and up to 10 km deep. However, its precise origins remain uncertain (</a:t>
            </a:r>
            <a:r>
              <a:rPr lang="en-GB" altLang="en-US" sz="1000" i="1" dirty="0"/>
              <a:t>e.g.</a:t>
            </a:r>
            <a:r>
              <a:rPr lang="en-GB" altLang="en-US" sz="1000" dirty="0"/>
              <a:t>, see </a:t>
            </a:r>
            <a:r>
              <a:rPr lang="en-GB" altLang="en-US" sz="1000" dirty="0" err="1"/>
              <a:t>Dohm</a:t>
            </a:r>
            <a:r>
              <a:rPr lang="en-GB" altLang="en-US" sz="1000" dirty="0"/>
              <a:t> </a:t>
            </a:r>
            <a:r>
              <a:rPr lang="en-GB" altLang="en-US" sz="1000" i="1" dirty="0"/>
              <a:t>et al.</a:t>
            </a:r>
            <a:r>
              <a:rPr lang="en-GB" altLang="en-US" sz="1000" dirty="0"/>
              <a:t>, 2009, </a:t>
            </a:r>
            <a:r>
              <a:rPr lang="en-GB" altLang="en-US" sz="1000" i="1" dirty="0"/>
              <a:t>Journal of Volcanology and Geothermal Research</a:t>
            </a:r>
            <a:r>
              <a:rPr lang="en-GB" altLang="en-US" sz="1000" dirty="0"/>
              <a:t> 185: 12-27, </a:t>
            </a:r>
            <a:r>
              <a:rPr lang="en-GB" sz="1000" dirty="0"/>
              <a:t>https://doi.org/10.1016/j.jvolgeores.2008.11.029</a:t>
            </a:r>
            <a:r>
              <a:rPr lang="en-GB" altLang="en-US" sz="1000" dirty="0"/>
              <a:t>)</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7FAC0693-6F71-48E3-9CC9-560B9BBB4458}"/>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6988D553-B8A8-40B2-8113-AE9466B4C26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top left from Twiss &amp; </a:t>
            </a:r>
            <a:r>
              <a:rPr lang="en-GB" altLang="en-US" sz="1000" dirty="0" err="1"/>
              <a:t>Moores</a:t>
            </a:r>
            <a:r>
              <a:rPr lang="en-GB" altLang="en-US" sz="1000" dirty="0"/>
              <a:t>, p.84</a:t>
            </a:r>
          </a:p>
          <a:p>
            <a:pPr marL="108000" indent="-108000">
              <a:spcBef>
                <a:spcPts val="300"/>
              </a:spcBef>
              <a:buFont typeface="Arial" panose="020B0604020202020204" pitchFamily="34" charset="0"/>
              <a:buChar char="•"/>
            </a:pPr>
            <a:r>
              <a:rPr lang="en-GB" altLang="en-US" sz="1000" dirty="0"/>
              <a:t>Figure bottom left from Fossen, p.188</a:t>
            </a:r>
          </a:p>
          <a:p>
            <a:pPr marL="108000" indent="-108000">
              <a:spcBef>
                <a:spcPts val="300"/>
              </a:spcBef>
              <a:buFont typeface="Arial" panose="020B0604020202020204" pitchFamily="34" charset="0"/>
              <a:buChar char="•"/>
            </a:pPr>
            <a:r>
              <a:rPr lang="en-GB" altLang="en-US" sz="1000" dirty="0"/>
              <a:t>Photo right (from Fossen, p.207): relay ramp (see Slide 39), Arches National Park, Utah</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D283EB10-9FFA-416B-A13F-E8516C232892}"/>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40C6EBF2-C81E-49DE-B25B-28CC0EFEECD9}"/>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For an example of the analysis of fault displacement profiles, see Xu </a:t>
            </a:r>
            <a:r>
              <a:rPr lang="en-GB" altLang="en-US" sz="1000" i="1" dirty="0"/>
              <a:t>et al.</a:t>
            </a:r>
            <a:r>
              <a:rPr lang="en-GB" altLang="en-US" sz="1000" dirty="0"/>
              <a:t>, 2014, </a:t>
            </a:r>
            <a:r>
              <a:rPr lang="en-GB" altLang="en-US" sz="1000" i="1" dirty="0"/>
              <a:t>Tectonophysics</a:t>
            </a:r>
            <a:r>
              <a:rPr lang="en-GB" altLang="en-US" sz="1000" dirty="0"/>
              <a:t> 636: 190-200, </a:t>
            </a:r>
            <a:r>
              <a:rPr lang="en-GB" sz="1000" dirty="0"/>
              <a:t>https://doi.org/10.1016/j.tecto.2014.08.023</a:t>
            </a:r>
            <a:r>
              <a:rPr lang="en-GB" altLang="en-US" sz="1000" dirty="0"/>
              <a:t>. For a nice analysis where time is added by dating lava flows that have been offset by the faulting, see </a:t>
            </a:r>
            <a:r>
              <a:rPr lang="en-GB" altLang="en-US" sz="1000" dirty="0" err="1"/>
              <a:t>Iezzi</a:t>
            </a:r>
            <a:r>
              <a:rPr lang="en-GB" altLang="en-US" sz="1000" dirty="0"/>
              <a:t> </a:t>
            </a:r>
            <a:r>
              <a:rPr lang="en-GB" altLang="en-US" sz="1000" i="1" dirty="0"/>
              <a:t>et al.</a:t>
            </a:r>
            <a:r>
              <a:rPr lang="en-GB" altLang="en-US" sz="1000" dirty="0"/>
              <a:t>, 2020, </a:t>
            </a:r>
            <a:r>
              <a:rPr lang="en-GB" altLang="en-US" sz="1000" i="1" dirty="0"/>
              <a:t>Journal of Structural Geology</a:t>
            </a:r>
            <a:r>
              <a:rPr lang="en-GB" altLang="en-US" sz="1000" i="0" dirty="0"/>
              <a:t> 133, article 103976, </a:t>
            </a:r>
            <a:r>
              <a:rPr lang="en-GB" sz="1000" dirty="0"/>
              <a:t>https://doi.org/10.1016/j.jsg.2020.103976</a:t>
            </a:r>
            <a:r>
              <a:rPr lang="en-GB" altLang="en-US" sz="1000" i="0" dirty="0"/>
              <a:t>. The latter is a development of work of this kind in the Apennines of central Italy (</a:t>
            </a:r>
            <a:r>
              <a:rPr lang="en-GB" altLang="en-US" sz="1000" i="1" dirty="0"/>
              <a:t>e.g.</a:t>
            </a:r>
            <a:r>
              <a:rPr lang="en-GB" altLang="en-US" sz="1000" i="0" dirty="0"/>
              <a:t>, Roberts &amp; </a:t>
            </a:r>
            <a:r>
              <a:rPr lang="en-GB" altLang="en-US" sz="1000" i="0" dirty="0" err="1"/>
              <a:t>Michetti</a:t>
            </a:r>
            <a:r>
              <a:rPr lang="en-GB" altLang="en-US" sz="1000" i="0" dirty="0"/>
              <a:t>, 2004, </a:t>
            </a:r>
            <a:r>
              <a:rPr lang="en-GB" altLang="en-US" sz="1000" i="1" dirty="0"/>
              <a:t>Journal of Structural Geology</a:t>
            </a:r>
            <a:r>
              <a:rPr lang="en-GB" altLang="en-US" sz="1000" i="0" dirty="0"/>
              <a:t> 26, 339-376, </a:t>
            </a:r>
            <a:r>
              <a:rPr lang="en-GB" sz="1000" dirty="0"/>
              <a:t>https://doi.org/10.1016/S0191-8141(03)00103-2</a:t>
            </a:r>
            <a:r>
              <a:rPr lang="en-GB" altLang="en-US" sz="1000" i="0" dirty="0"/>
              <a:t>) which has ultimately allowed fault slip at the surface in central Italy to be interpreted as the consequence of viscous flow in the deep crust and upper mantle (Cowie </a:t>
            </a:r>
            <a:r>
              <a:rPr lang="en-GB" altLang="en-US" sz="1000" i="1" dirty="0"/>
              <a:t>et al.</a:t>
            </a:r>
            <a:r>
              <a:rPr lang="en-GB" altLang="en-US" sz="1000" i="0" dirty="0"/>
              <a:t>, 2013, </a:t>
            </a:r>
            <a:r>
              <a:rPr lang="en-GB" altLang="en-US" sz="1000" i="1" dirty="0"/>
              <a:t>Nature Geoscience</a:t>
            </a:r>
            <a:r>
              <a:rPr lang="en-GB" altLang="en-US" sz="1000" i="0" dirty="0"/>
              <a:t> 6, 1036-1040, </a:t>
            </a:r>
            <a:r>
              <a:rPr lang="en-GB" sz="1000" dirty="0"/>
              <a:t>https://doi.org/10.1038/ngeo1991</a:t>
            </a:r>
            <a:r>
              <a:rPr lang="en-GB" altLang="en-US" sz="1000" i="0" dirty="0"/>
              <a:t>)</a:t>
            </a:r>
            <a:endParaRPr lang="en-GB" altLang="en-US" sz="1000" dirty="0"/>
          </a:p>
          <a:p>
            <a:pPr marL="108000" indent="-108000">
              <a:spcBef>
                <a:spcPts val="300"/>
              </a:spcBef>
              <a:buFont typeface="Arial" panose="020B0604020202020204" pitchFamily="34" charset="0"/>
              <a:buChar char="•"/>
            </a:pPr>
            <a:r>
              <a:rPr lang="en-GB" altLang="en-US" sz="1000" dirty="0"/>
              <a:t>Figure bottom left from Fossen, p.204</a:t>
            </a:r>
          </a:p>
          <a:p>
            <a:pPr marL="108000" indent="-108000">
              <a:spcBef>
                <a:spcPts val="300"/>
              </a:spcBef>
              <a:buFont typeface="Arial" panose="020B0604020202020204" pitchFamily="34" charset="0"/>
              <a:buChar char="•"/>
            </a:pPr>
            <a:r>
              <a:rPr lang="en-GB" altLang="en-US" sz="1000" dirty="0"/>
              <a:t>Figure top right from Fossen (1</a:t>
            </a:r>
            <a:r>
              <a:rPr lang="en-GB" altLang="en-US" sz="1000" baseline="30000" dirty="0"/>
              <a:t>st</a:t>
            </a:r>
            <a:r>
              <a:rPr lang="en-GB" altLang="en-US" sz="1000" dirty="0"/>
              <a:t> edition), p.160</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9C213E64-7627-4C74-B527-A578D4F338F9}"/>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70E30FF2-C475-4148-8F07-F11539D6AEE8}"/>
              </a:ext>
            </a:extLst>
          </p:cNvPr>
          <p:cNvSpPr>
            <a:spLocks noGrp="1" noChangeArrowheads="1"/>
          </p:cNvSpPr>
          <p:nvPr>
            <p:ph type="body" idx="1"/>
          </p:nvPr>
        </p:nvSpPr>
        <p:spPr>
          <a:noFill/>
        </p:spPr>
        <p:txBody>
          <a:bodyPr/>
          <a:lstStyle/>
          <a:p>
            <a:pPr marL="108000" marR="0" lvl="0" indent="-108000" algn="l" defTabSz="914400" rtl="0" eaLnBrk="0" fontAlgn="base" latinLnBrk="0" hangingPunct="0">
              <a:lnSpc>
                <a:spcPct val="100000"/>
              </a:lnSpc>
              <a:spcBef>
                <a:spcPts val="300"/>
              </a:spcBef>
              <a:spcAft>
                <a:spcPct val="0"/>
              </a:spcAft>
              <a:buClrTx/>
              <a:buSzTx/>
              <a:buFont typeface="Arial" panose="020B0604020202020204" pitchFamily="34" charset="0"/>
              <a:buChar char="•"/>
              <a:tabLst/>
              <a:defRPr/>
            </a:pPr>
            <a:r>
              <a:rPr lang="en-GB" altLang="en-US" sz="1000" dirty="0"/>
              <a:t>For a review of the fault displacement – length systematics, see Kim &amp; Sanderson, 2005, </a:t>
            </a:r>
            <a:r>
              <a:rPr lang="en-GB" altLang="en-US" sz="1000" i="1" dirty="0"/>
              <a:t>Earth Science Reviews</a:t>
            </a:r>
            <a:r>
              <a:rPr lang="en-GB" altLang="en-US" sz="1000" dirty="0"/>
              <a:t> 68: 317-334, </a:t>
            </a:r>
            <a:r>
              <a:rPr lang="en-GB" sz="1000" dirty="0"/>
              <a:t>https://doi.org/10.1016/j.earscirev.2004.06.003</a:t>
            </a:r>
            <a:r>
              <a:rPr lang="en-GB" altLang="en-US" sz="1000" dirty="0"/>
              <a:t>. Similar displacement – length relationships also apply for extension fractures and deformation bands, see Schultz </a:t>
            </a:r>
            <a:r>
              <a:rPr lang="en-GB" altLang="en-US" sz="1000" i="1" dirty="0"/>
              <a:t>et al.</a:t>
            </a:r>
            <a:r>
              <a:rPr lang="en-GB" altLang="en-US" sz="1000" dirty="0"/>
              <a:t>, 2013, </a:t>
            </a:r>
            <a:r>
              <a:rPr lang="en-GB" altLang="en-US" sz="1000" i="1" dirty="0"/>
              <a:t>Journal of Structural Geology</a:t>
            </a:r>
            <a:r>
              <a:rPr lang="en-GB" altLang="en-US" sz="1000" dirty="0"/>
              <a:t> 48: 85-94, </a:t>
            </a:r>
            <a:r>
              <a:rPr lang="en-GB" sz="1000" dirty="0"/>
              <a:t>https://doi.org/10.1016/j.jsg.2012.12.005</a:t>
            </a:r>
            <a:r>
              <a:rPr lang="en-GB" altLang="en-US" sz="1000" dirty="0"/>
              <a:t>. The explanation of why this displacement – length relationship exists remains an area of active research. For recent developments, see Stanton-Yonge </a:t>
            </a:r>
            <a:r>
              <a:rPr lang="en-GB" altLang="en-US" sz="1000" i="1" dirty="0"/>
              <a:t>et al.</a:t>
            </a:r>
            <a:r>
              <a:rPr lang="en-GB" altLang="en-US" sz="1000" i="0" dirty="0"/>
              <a:t>, 2020, </a:t>
            </a:r>
            <a:r>
              <a:rPr lang="en-GB" altLang="en-US" sz="1000" i="1" dirty="0"/>
              <a:t>Journal of Structural Geology</a:t>
            </a:r>
            <a:r>
              <a:rPr lang="en-GB" altLang="en-US" sz="1000" i="0" dirty="0"/>
              <a:t> 133, article 103993, </a:t>
            </a:r>
            <a:r>
              <a:rPr lang="en-GB" sz="1000" dirty="0"/>
              <a:t>https://doi.org/10.1016/j.jsg.2020.103993</a:t>
            </a:r>
            <a:endParaRPr lang="en-GB" altLang="en-US" sz="1000" dirty="0"/>
          </a:p>
          <a:p>
            <a:pPr marL="108000" indent="-108000">
              <a:lnSpc>
                <a:spcPct val="100000"/>
              </a:lnSpc>
              <a:spcBef>
                <a:spcPts val="300"/>
              </a:spcBef>
              <a:buFont typeface="Arial" panose="020B0604020202020204" pitchFamily="34" charset="0"/>
              <a:buChar char="•"/>
            </a:pPr>
            <a:r>
              <a:rPr lang="en-GB" altLang="en-US" sz="1000" dirty="0"/>
              <a:t>Figure from Burbank &amp; Anderson, 2012, </a:t>
            </a:r>
            <a:r>
              <a:rPr lang="en-GB" altLang="en-US" sz="1000" i="1" dirty="0"/>
              <a:t>Tectonic Geomorphology </a:t>
            </a:r>
            <a:r>
              <a:rPr lang="en-GB" altLang="en-US" sz="1000" dirty="0"/>
              <a:t>(2</a:t>
            </a:r>
            <a:r>
              <a:rPr lang="en-GB" altLang="en-US" sz="1000" baseline="30000" dirty="0"/>
              <a:t>nd</a:t>
            </a:r>
            <a:r>
              <a:rPr lang="en-GB" altLang="en-US" sz="1000" dirty="0"/>
              <a:t> edition), Wiley-Blackwell, p.86. Note the change in scaling relationship at a fault length of ~100 m. The scatter on plots of this kind can be attributed in part to the difficulty in determining where on the fault </a:t>
            </a:r>
            <a:r>
              <a:rPr lang="en-GB" altLang="en-US" sz="1000" i="1" dirty="0" err="1"/>
              <a:t>D</a:t>
            </a:r>
            <a:r>
              <a:rPr lang="en-GB" altLang="en-US" sz="1000" i="1" baseline="-25000" dirty="0" err="1"/>
              <a:t>max</a:t>
            </a:r>
            <a:r>
              <a:rPr lang="en-GB" altLang="en-US" sz="1000" dirty="0"/>
              <a:t> (the maximum height of the displacement profile) should be measured, and also in determining fault length </a:t>
            </a:r>
            <a:r>
              <a:rPr lang="en-GB" altLang="en-US" sz="1000" i="1" dirty="0"/>
              <a:t>L</a:t>
            </a:r>
            <a:r>
              <a:rPr lang="en-GB" altLang="en-US" sz="1000" dirty="0"/>
              <a:t> – if the fault is an elliptical area of slip, the length of the fault on a topographic surface depends upon where that topographic surface cuts the ellipse</a:t>
            </a:r>
          </a:p>
          <a:p>
            <a:pPr marL="108000" indent="-108000">
              <a:lnSpc>
                <a:spcPct val="100000"/>
              </a:lnSpc>
              <a:spcBef>
                <a:spcPts val="300"/>
              </a:spcBef>
              <a:buFont typeface="Arial" panose="020B0604020202020204" pitchFamily="34" charset="0"/>
              <a:buChar char="•"/>
            </a:pPr>
            <a:r>
              <a:rPr lang="en-GB" altLang="en-US" sz="1000" dirty="0"/>
              <a:t>For comments on fault displacement – length characteristics in a planetary context, see Schultz </a:t>
            </a:r>
            <a:r>
              <a:rPr lang="en-GB" altLang="en-US" sz="1000" i="1" dirty="0"/>
              <a:t>et al.</a:t>
            </a:r>
            <a:r>
              <a:rPr lang="en-GB" altLang="en-US" sz="1000" dirty="0"/>
              <a:t>, 2010, </a:t>
            </a:r>
            <a:r>
              <a:rPr lang="en-GB" altLang="en-US" sz="1000" i="1" dirty="0"/>
              <a:t>Journal of Structural Geology</a:t>
            </a:r>
            <a:r>
              <a:rPr lang="en-GB" altLang="en-US" sz="1000" dirty="0"/>
              <a:t> 32: 855-875, </a:t>
            </a:r>
            <a:r>
              <a:rPr lang="en-GB" sz="1000" dirty="0"/>
              <a:t>https://doi.org/10.1016/j.jsg.2009.09.005</a:t>
            </a:r>
            <a:endParaRPr lang="en-GB" altLang="en-US" sz="1000" dirty="0"/>
          </a:p>
          <a:p>
            <a:pPr marL="0" indent="0">
              <a:lnSpc>
                <a:spcPct val="100000"/>
              </a:lnSpc>
              <a:spcBef>
                <a:spcPts val="300"/>
              </a:spcBef>
              <a:buFont typeface="Arial" panose="020B0604020202020204" pitchFamily="34" charset="0"/>
              <a:buNone/>
            </a:pPr>
            <a:endParaRPr lang="en-GB" altLang="en-US" sz="10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787EC234-9A33-4BAC-AE9F-802CABA4AB11}"/>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CA2EAF75-864C-4013-89A9-1C3CB9C479E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Consider two faults whose tips approach each other. Before the tips reach each other but after their strain fields have started to interfere, they are said to </a:t>
            </a:r>
            <a:r>
              <a:rPr lang="en-GB" altLang="en-US" sz="1000" b="1" i="1" dirty="0"/>
              <a:t>underlap</a:t>
            </a:r>
            <a:r>
              <a:rPr lang="en-GB" altLang="en-US" sz="1000" dirty="0"/>
              <a:t>. Once the tips have passed each other, they are said to </a:t>
            </a:r>
            <a:r>
              <a:rPr lang="en-GB" altLang="en-US" sz="1000" b="1" i="1" dirty="0"/>
              <a:t>overlap</a:t>
            </a:r>
            <a:r>
              <a:rPr lang="en-GB" altLang="en-US" sz="1000" dirty="0"/>
              <a:t>. The zone of overlapping (</a:t>
            </a:r>
            <a:r>
              <a:rPr lang="en-GB" altLang="en-US" sz="1000" b="1" i="1" dirty="0"/>
              <a:t>relay ramp</a:t>
            </a:r>
            <a:r>
              <a:rPr lang="en-GB" altLang="en-US" sz="1000" dirty="0"/>
              <a:t>) becomes deformed as the result of displacement transfer from one fault to the other. Eventually this relay structure fails (</a:t>
            </a:r>
            <a:r>
              <a:rPr lang="en-GB" altLang="en-US" sz="1000" b="1" i="1" dirty="0"/>
              <a:t>breached relay ramp</a:t>
            </a:r>
            <a:r>
              <a:rPr lang="en-GB" altLang="en-US" sz="1000" dirty="0"/>
              <a:t>), and the two faults become connected. Typically, there is a </a:t>
            </a:r>
            <a:r>
              <a:rPr lang="en-GB" altLang="en-US" sz="1000" b="1" i="1" dirty="0"/>
              <a:t>fault bend</a:t>
            </a:r>
            <a:r>
              <a:rPr lang="en-GB" altLang="en-US" sz="1000" dirty="0"/>
              <a:t> at the connection point</a:t>
            </a:r>
          </a:p>
          <a:p>
            <a:pPr marL="108000" indent="-108000">
              <a:spcBef>
                <a:spcPts val="300"/>
              </a:spcBef>
              <a:buFont typeface="Arial" panose="020B0604020202020204" pitchFamily="34" charset="0"/>
              <a:buChar char="•"/>
            </a:pPr>
            <a:r>
              <a:rPr lang="en-GB" altLang="en-US" sz="1000" dirty="0"/>
              <a:t>For an example of a study that seeks to use measurements of underlap and overlap to establish criteria for whether or not fractures will link in this way, see Lamarche </a:t>
            </a:r>
            <a:r>
              <a:rPr lang="en-GB" altLang="en-US" sz="1000" i="1" dirty="0"/>
              <a:t>et al.</a:t>
            </a:r>
            <a:r>
              <a:rPr lang="en-GB" altLang="en-US" sz="1000" i="0" dirty="0"/>
              <a:t>, 2018, </a:t>
            </a:r>
            <a:r>
              <a:rPr lang="en-GB" altLang="en-US" sz="1000" i="1" dirty="0"/>
              <a:t>Journal of Structural Geology</a:t>
            </a:r>
            <a:r>
              <a:rPr lang="en-GB" altLang="en-US" sz="1000" i="0" dirty="0"/>
              <a:t> 108: 171-179, </a:t>
            </a:r>
            <a:r>
              <a:rPr lang="en-GB" sz="1000" dirty="0"/>
              <a:t>https://doi.org/10.1016/j.jsg.2017.11.016</a:t>
            </a:r>
            <a:r>
              <a:rPr lang="en-GB" altLang="en-US" sz="1000" i="0" dirty="0"/>
              <a:t>. Linking of fractures is significant because fracture connectivity controls rock permeability</a:t>
            </a:r>
            <a:endParaRPr lang="en-GB" altLang="en-US" sz="1000" dirty="0"/>
          </a:p>
          <a:p>
            <a:pPr marL="108000" indent="-108000">
              <a:spcBef>
                <a:spcPts val="300"/>
              </a:spcBef>
              <a:buFont typeface="Arial" panose="020B0604020202020204" pitchFamily="34" charset="0"/>
              <a:buChar char="•"/>
            </a:pPr>
            <a:r>
              <a:rPr lang="en-GB" altLang="en-US" sz="1000" dirty="0"/>
              <a:t>Photos (from Fossen, p.206): faults induced by splashing water on to the beach sand of a lake in Colorado</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19412CE-86B3-4E69-80F7-C38E29DD13D5}"/>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925E49FD-A566-4D45-AEE6-6769878E6F71}"/>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Photos (Steve Covey-Crump): relay ramps on the collapsing road surface at Mam Tor landslip in 2012</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4245BF9-19F0-487F-9574-6AC8A8F21ACA}"/>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3F564A69-860C-4443-AE31-81DBDCE68474}"/>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err="1"/>
              <a:t>Rupes</a:t>
            </a:r>
            <a:r>
              <a:rPr lang="en-GB" altLang="en-US" sz="1000" dirty="0"/>
              <a:t> Recta </a:t>
            </a:r>
            <a:r>
              <a:rPr lang="en-GB" altLang="en-US" sz="1000" dirty="0" err="1"/>
              <a:t>i</a:t>
            </a:r>
            <a:r>
              <a:rPr lang="en-US" altLang="en-US" sz="1000" dirty="0"/>
              <a:t>s a normal fault in the eastern part of Mare </a:t>
            </a:r>
            <a:r>
              <a:rPr lang="en-US" altLang="en-US" sz="1000" dirty="0" err="1"/>
              <a:t>Nubium</a:t>
            </a:r>
            <a:r>
              <a:rPr lang="en-US" altLang="en-US" sz="1000" dirty="0"/>
              <a:t>. It is </a:t>
            </a:r>
            <a:r>
              <a:rPr lang="en-GB" altLang="en-US" sz="1000" dirty="0"/>
              <a:t>made up of several </a:t>
            </a:r>
            <a:r>
              <a:rPr lang="en-GB" altLang="en-US" sz="1000" dirty="0" err="1"/>
              <a:t>en</a:t>
            </a:r>
            <a:r>
              <a:rPr lang="en-GB" altLang="en-US" sz="1000" dirty="0"/>
              <a:t> </a:t>
            </a:r>
            <a:r>
              <a:rPr lang="en-GB" altLang="en-US" sz="1000" dirty="0" err="1"/>
              <a:t>échelon</a:t>
            </a:r>
            <a:r>
              <a:rPr lang="en-GB" altLang="en-US" sz="1000" dirty="0"/>
              <a:t> segments (separated by relay ramps), making a total length of ~110 km. The </a:t>
            </a:r>
            <a:r>
              <a:rPr lang="en-US" altLang="en-US" sz="1000" dirty="0"/>
              <a:t>geometry</a:t>
            </a:r>
            <a:r>
              <a:rPr lang="en-GB" altLang="en-US" sz="1000" dirty="0"/>
              <a:t> and possible formation of the fault is </a:t>
            </a:r>
            <a:r>
              <a:rPr lang="en-US" altLang="en-US" sz="1000" dirty="0"/>
              <a:t>described by </a:t>
            </a:r>
            <a:r>
              <a:rPr lang="en-GB" altLang="en-US" sz="1000" dirty="0" err="1"/>
              <a:t>Nahm</a:t>
            </a:r>
            <a:r>
              <a:rPr lang="en-GB" altLang="en-US" sz="1000" dirty="0"/>
              <a:t> &amp; Schultz, 201</a:t>
            </a:r>
            <a:r>
              <a:rPr lang="en-US" altLang="en-US" sz="1000" dirty="0"/>
              <a:t>5</a:t>
            </a:r>
            <a:r>
              <a:rPr lang="en-GB" altLang="en-US" sz="1000" dirty="0"/>
              <a:t>, </a:t>
            </a:r>
            <a:r>
              <a:rPr lang="en-GB" altLang="en-US" sz="1000" i="1" dirty="0"/>
              <a:t>Geological Society, London, Special Publications</a:t>
            </a:r>
            <a:r>
              <a:rPr lang="en-GB" altLang="en-US" sz="1000" dirty="0"/>
              <a:t> 401</a:t>
            </a:r>
            <a:r>
              <a:rPr lang="en-US" altLang="en-US" sz="1000" dirty="0"/>
              <a:t>: 377-394, </a:t>
            </a:r>
            <a:r>
              <a:rPr lang="en-GB" sz="1000" dirty="0"/>
              <a:t>https://doi.org/10.1144/SP401.4</a:t>
            </a:r>
            <a:endParaRPr lang="en-GB" altLang="en-US" sz="1000" dirty="0"/>
          </a:p>
          <a:p>
            <a:pPr marL="108000" indent="-108000">
              <a:spcBef>
                <a:spcPts val="300"/>
              </a:spcBef>
              <a:buFont typeface="Arial" panose="020B0604020202020204" pitchFamily="34" charset="0"/>
              <a:buChar char="•"/>
            </a:pPr>
            <a:r>
              <a:rPr lang="en-GB" altLang="en-US" sz="1000" dirty="0"/>
              <a:t>Photo left (from </a:t>
            </a:r>
            <a:r>
              <a:rPr lang="en-GB" altLang="en-US" sz="1000" dirty="0" err="1"/>
              <a:t>Shirao</a:t>
            </a:r>
            <a:r>
              <a:rPr lang="en-GB" altLang="en-US" sz="1000" dirty="0"/>
              <a:t> &amp; Wood, 2011, </a:t>
            </a:r>
            <a:r>
              <a:rPr lang="en-GB" altLang="en-US" sz="1000" i="1" dirty="0"/>
              <a:t>The </a:t>
            </a:r>
            <a:r>
              <a:rPr lang="en-GB" altLang="en-US" sz="1000" i="1" dirty="0" err="1"/>
              <a:t>Kaguya</a:t>
            </a:r>
            <a:r>
              <a:rPr lang="en-GB" altLang="en-US" sz="1000" i="1" dirty="0"/>
              <a:t> Lunar Atlas</a:t>
            </a:r>
            <a:r>
              <a:rPr lang="en-GB" altLang="en-US" sz="1000" i="0" dirty="0"/>
              <a:t>, </a:t>
            </a:r>
            <a:r>
              <a:rPr lang="en-GB" sz="1000" dirty="0"/>
              <a:t>https://doi.org/10.1007/978-1-4419-7285-9</a:t>
            </a:r>
            <a:r>
              <a:rPr lang="en-GB" altLang="en-US" sz="1000" dirty="0"/>
              <a:t>)</a:t>
            </a:r>
          </a:p>
          <a:p>
            <a:pPr marL="108000" indent="-108000">
              <a:spcBef>
                <a:spcPts val="300"/>
              </a:spcBef>
              <a:buFont typeface="Arial" panose="020B0604020202020204" pitchFamily="34" charset="0"/>
              <a:buChar char="•"/>
            </a:pPr>
            <a:r>
              <a:rPr lang="en-GB" altLang="en-US" sz="1000" dirty="0"/>
              <a:t>Figure right (from </a:t>
            </a:r>
            <a:r>
              <a:rPr lang="en-GB" altLang="en-US" sz="1000" dirty="0" err="1"/>
              <a:t>Nahm</a:t>
            </a:r>
            <a:r>
              <a:rPr lang="en-GB" altLang="en-US" sz="1000" dirty="0"/>
              <a:t> &amp; Schultz, 201</a:t>
            </a:r>
            <a:r>
              <a:rPr lang="en-US" altLang="en-US" sz="1000" dirty="0"/>
              <a:t>5</a:t>
            </a:r>
            <a:r>
              <a:rPr lang="en-GB" altLang="en-US" sz="1000" dirty="0"/>
              <a:t>, </a:t>
            </a:r>
            <a:r>
              <a:rPr lang="en-GB" altLang="en-US" sz="1000" i="1" dirty="0"/>
              <a:t>Geological Society, London, Special Publications</a:t>
            </a:r>
            <a:r>
              <a:rPr lang="en-GB" altLang="en-US" sz="1000" dirty="0"/>
              <a:t> 401, </a:t>
            </a:r>
            <a:r>
              <a:rPr lang="en-US" altLang="en-US" sz="1000" dirty="0"/>
              <a:t>377-394, </a:t>
            </a:r>
            <a:r>
              <a:rPr lang="en-GB" sz="1000" dirty="0"/>
              <a:t>https://doi.org/10.1144/SP401.4</a:t>
            </a:r>
            <a:r>
              <a:rPr lang="en-GB" altLang="en-US" sz="1000" dirty="0"/>
              <a:t>)</a:t>
            </a:r>
          </a:p>
          <a:p>
            <a:pPr>
              <a:spcBef>
                <a:spcPts val="300"/>
              </a:spcBef>
              <a:buFontTx/>
              <a:buNone/>
            </a:pPr>
            <a:endParaRPr lang="en-GB" altLang="en-US" sz="10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0D1CD603-776F-480B-B490-C2BA2C41571F}"/>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1E1A7484-CB12-429C-9EDF-0C19479D9013}"/>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Figures left (from Twiss and </a:t>
            </a:r>
            <a:r>
              <a:rPr lang="en-GB" altLang="en-US" sz="1000" dirty="0" err="1"/>
              <a:t>Moores</a:t>
            </a:r>
            <a:r>
              <a:rPr lang="en-GB" altLang="en-US" sz="1000" dirty="0"/>
              <a:t>, p.87): note that in the extensional case, the two middle lazy arrows of the four are directed away from each other, whereas in the contractional case, they are directed towards each other – let your intuitions do the rest of the thinking</a:t>
            </a:r>
          </a:p>
          <a:p>
            <a:pPr marL="108000" indent="-108000">
              <a:spcBef>
                <a:spcPts val="300"/>
              </a:spcBef>
              <a:buFont typeface="Arial" panose="020B0604020202020204" pitchFamily="34" charset="0"/>
              <a:buChar char="•"/>
            </a:pPr>
            <a:r>
              <a:rPr lang="en-GB" altLang="en-US" sz="1000" dirty="0"/>
              <a:t>Photo (Fossen, one of the extra figures on the web-site for the book, folk.uib.no/</a:t>
            </a:r>
            <a:r>
              <a:rPr lang="en-GB" altLang="en-US" sz="1000" dirty="0" err="1"/>
              <a:t>nglhe</a:t>
            </a:r>
            <a:r>
              <a:rPr lang="en-GB" altLang="en-US" sz="1000" dirty="0"/>
              <a:t>/StructuralGeoBook.html): Mosaic Canyon, Death Valley, California. The sense of movement indicated by the lazy arrows follows from the presence of extensional fractures (veins) within the transfer zone. Note the drag folding just below the middle of the photo which supports the sense of movement indicated by the lazy arrows</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D1C11813-C111-4195-BB6D-2BEB6A0388A8}"/>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12C335E1-8EFE-4B30-A672-AA2831ECD91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top (Steve Covey-Crump): La </a:t>
            </a:r>
            <a:r>
              <a:rPr lang="en-GB" altLang="en-US" sz="1000" dirty="0" err="1"/>
              <a:t>Dalle</a:t>
            </a:r>
            <a:r>
              <a:rPr lang="en-GB" altLang="en-US" sz="1000" dirty="0"/>
              <a:t> à Ammonites des </a:t>
            </a:r>
            <a:r>
              <a:rPr lang="en-GB" altLang="en-US" sz="1000" dirty="0" err="1"/>
              <a:t>Isnards</a:t>
            </a:r>
            <a:r>
              <a:rPr lang="en-GB" altLang="en-US" sz="1000" dirty="0"/>
              <a:t>, </a:t>
            </a:r>
            <a:r>
              <a:rPr lang="en-GB" altLang="en-US" sz="1000" dirty="0" err="1"/>
              <a:t>Digne</a:t>
            </a:r>
            <a:r>
              <a:rPr lang="en-GB" altLang="en-US" sz="1000" dirty="0"/>
              <a:t>-les-Bains, SE France. The sense of movement indicated by the lazy arrows follows from the presence of extensional fractures within the transfer zone</a:t>
            </a:r>
          </a:p>
          <a:p>
            <a:pPr marL="108000" indent="-108000">
              <a:spcBef>
                <a:spcPts val="300"/>
              </a:spcBef>
              <a:buFont typeface="Arial" panose="020B0604020202020204" pitchFamily="34" charset="0"/>
              <a:buChar char="•"/>
            </a:pPr>
            <a:r>
              <a:rPr lang="en-GB" altLang="en-US" sz="1000" dirty="0"/>
              <a:t>Photo bottom (Steve Covey-Crump): veins at </a:t>
            </a:r>
            <a:r>
              <a:rPr lang="en-GB" altLang="en-US" sz="1000" dirty="0" err="1"/>
              <a:t>Kentallen</a:t>
            </a:r>
            <a:r>
              <a:rPr lang="en-GB" altLang="en-US" sz="1000" dirty="0"/>
              <a:t> Pier, Scotland. Again, the sense of movement indicated by the lazy arrows follows from the presence of extensional fractures (veins) within the transfer zone. Those of you going on the Easter field course to Scotland will visit this locality, although I don’t always manage to find the spot where I took this picture. The </a:t>
            </a:r>
            <a:r>
              <a:rPr lang="en-GB" altLang="en-US" sz="1000" dirty="0" err="1"/>
              <a:t>ovoids</a:t>
            </a:r>
            <a:r>
              <a:rPr lang="en-GB" altLang="en-US" sz="1000" dirty="0"/>
              <a:t> in the host rock are weathered-out cordierite </a:t>
            </a:r>
            <a:r>
              <a:rPr lang="en-GB" altLang="en-US" sz="1000" dirty="0" err="1"/>
              <a:t>porphyroblasts</a:t>
            </a:r>
            <a:r>
              <a:rPr lang="en-GB" altLang="en-US" sz="1000" dirty="0"/>
              <a:t> (the locality is in the metamorphic aureole around the </a:t>
            </a:r>
            <a:r>
              <a:rPr lang="en-GB" altLang="en-US" sz="1000" dirty="0" err="1"/>
              <a:t>Ballachulish</a:t>
            </a:r>
            <a:r>
              <a:rPr lang="en-GB" altLang="en-US" sz="1000" dirty="0"/>
              <a:t> plutonic complex)</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0B85F440-A20F-42F5-BE04-4F011DB95C38}"/>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983F5608-769E-4282-88CE-51350944EF2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Photo from Gudmundsson, p.430</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52897010-819B-4745-A6CD-A4BE11F8DEA5}"/>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8E125311-206F-420A-99C0-0F57D32FC5E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left from Ramsay &amp; Huber, p.518</a:t>
            </a:r>
          </a:p>
          <a:p>
            <a:pPr marL="108000" indent="-108000">
              <a:spcBef>
                <a:spcPts val="300"/>
              </a:spcBef>
              <a:buFont typeface="Arial" panose="020B0604020202020204" pitchFamily="34" charset="0"/>
              <a:buChar char="•"/>
            </a:pPr>
            <a:r>
              <a:rPr lang="en-GB" altLang="en-US" sz="1000" dirty="0"/>
              <a:t>Figure right (from </a:t>
            </a:r>
            <a:r>
              <a:rPr lang="en-GB" altLang="en-US" sz="1000" dirty="0" err="1"/>
              <a:t>Kokelaar</a:t>
            </a:r>
            <a:r>
              <a:rPr lang="en-GB" altLang="en-US" sz="1000" dirty="0"/>
              <a:t> &amp; Moore, 2006, </a:t>
            </a:r>
            <a:r>
              <a:rPr lang="en-GB" altLang="en-US" sz="1000" i="1" dirty="0"/>
              <a:t>Classical Areas of British Geology: Glencoe Caldera Volcano, Scotland, </a:t>
            </a:r>
            <a:r>
              <a:rPr lang="en-GB" altLang="en-US" sz="1000" dirty="0"/>
              <a:t>British Geological Survey, p.96) shows a model for the formation of the </a:t>
            </a:r>
            <a:r>
              <a:rPr lang="en-GB" altLang="en-US" sz="1000" dirty="0" err="1"/>
              <a:t>pseudotachylytes</a:t>
            </a:r>
            <a:r>
              <a:rPr lang="en-GB" altLang="en-US" sz="1000" dirty="0"/>
              <a:t> on the ring fault that runs around the Glen Coe caldera (those going on the Easter field course to Scotland will do an exercise inside the Glen Coe caldera, although you probably won’t visit the ring fault). The incipient caldera fault, with a bend, intersected a hydrothermal system at several hundred metres depth. Rapid collapse on the fault led to a correspondingly rapid dilation at the fault bend. This caused the hydrothermal system to explode. Decompressed and fragmented frictional melts formed during the fault slip were then blasted upwards into the cavity, plastering its sides, and lithic breccias were swept up-conduit. Fragmented rhyolitic magma then invaded the fault cavity, and then magma from depth arrived (the latter forms the Glen Coe Ring Fault intrusion)</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6B069A24-DEF5-4C37-85AC-6492196F03B7}"/>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C4A7F5DF-0515-408E-A6AB-3453CD43B7C7}"/>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Two photos at top (Steve Covey-Crump): the road surface on the Mam Tor landslip (in 2012), showing the development of fault bends by the linking of fault segments</a:t>
            </a:r>
          </a:p>
          <a:p>
            <a:pPr marL="108000" indent="-108000">
              <a:spcBef>
                <a:spcPts val="300"/>
              </a:spcBef>
              <a:buFont typeface="Arial" panose="020B0604020202020204" pitchFamily="34" charset="0"/>
              <a:buChar char="•"/>
            </a:pPr>
            <a:r>
              <a:rPr lang="en-GB" altLang="en-US" sz="1000" dirty="0"/>
              <a:t>Photo bottom (Steve Covey-Crump): segmented fracture in the road surface, </a:t>
            </a:r>
            <a:r>
              <a:rPr lang="en-GB" altLang="en-US" sz="1000" dirty="0" err="1"/>
              <a:t>Senez</a:t>
            </a:r>
            <a:r>
              <a:rPr lang="en-GB" altLang="en-US" sz="1000" dirty="0"/>
              <a:t>, France</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F54C12DE-F34D-4AD8-B3C6-A02ABBFAE352}"/>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0F9CDEB6-A1B0-4656-86DA-0C9EDA097AF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solidFill>
                  <a:srgbClr val="FFFF00"/>
                </a:solidFill>
              </a:rPr>
              <a:t>The curved geometry of the </a:t>
            </a:r>
            <a:r>
              <a:rPr lang="en-GB" altLang="en-US" sz="1000" dirty="0" err="1">
                <a:solidFill>
                  <a:srgbClr val="FFFF00"/>
                </a:solidFill>
              </a:rPr>
              <a:t>Wasatch</a:t>
            </a:r>
            <a:r>
              <a:rPr lang="en-GB" altLang="en-US" sz="1000" dirty="0">
                <a:solidFill>
                  <a:srgbClr val="FFFF00"/>
                </a:solidFill>
              </a:rPr>
              <a:t> fault zone (Utah) suggests a history of fault segment linking</a:t>
            </a:r>
          </a:p>
          <a:p>
            <a:pPr marL="108000" indent="-108000">
              <a:spcBef>
                <a:spcPts val="300"/>
              </a:spcBef>
              <a:buFont typeface="Arial" panose="020B0604020202020204" pitchFamily="34" charset="0"/>
              <a:buChar char="•"/>
            </a:pPr>
            <a:r>
              <a:rPr lang="en-GB" altLang="en-US" sz="1000" dirty="0"/>
              <a:t>Figure left from Burbank &amp; Anderson, 2012, </a:t>
            </a:r>
            <a:r>
              <a:rPr lang="en-GB" altLang="en-US" sz="1000" i="1" dirty="0"/>
              <a:t>Tectonic Geomorphology </a:t>
            </a:r>
            <a:r>
              <a:rPr lang="en-GB" altLang="en-US" sz="1000" dirty="0"/>
              <a:t>(2</a:t>
            </a:r>
            <a:r>
              <a:rPr lang="en-GB" altLang="en-US" sz="1000" baseline="30000" dirty="0"/>
              <a:t>nd</a:t>
            </a:r>
            <a:r>
              <a:rPr lang="en-GB" altLang="en-US" sz="1000" dirty="0"/>
              <a:t> edition), Wiley-Blackwell, p.91</a:t>
            </a:r>
          </a:p>
          <a:p>
            <a:pPr marL="108000" indent="-108000">
              <a:spcBef>
                <a:spcPts val="300"/>
              </a:spcBef>
              <a:buFont typeface="Arial" panose="020B0604020202020204" pitchFamily="34" charset="0"/>
              <a:buChar char="•"/>
            </a:pPr>
            <a:r>
              <a:rPr lang="en-GB" altLang="en-US" sz="1000" dirty="0"/>
              <a:t>Figure right from Fossen, p.208. </a:t>
            </a:r>
            <a:r>
              <a:rPr lang="en-GB" altLang="en-US" sz="1000" dirty="0">
                <a:solidFill>
                  <a:srgbClr val="FFFF00"/>
                </a:solidFill>
              </a:rPr>
              <a:t>The sketches show the various stages of an experiment in which a plaster slab was stretched</a:t>
            </a:r>
            <a:endParaRPr lang="en-GB" altLang="en-US" sz="1000" dirty="0"/>
          </a:p>
          <a:p>
            <a:pPr>
              <a:spcBef>
                <a:spcPts val="300"/>
              </a:spcBef>
              <a:buFontTx/>
              <a:buNone/>
            </a:pPr>
            <a:endParaRPr lang="en-GB"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11DEF5FE-968D-4CC7-87BF-B2FF8F85B98E}"/>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8E89BC23-68C2-4C3E-AE43-272FE499CF62}"/>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In the remaining classes we will attempt to make sense of these remarks since they go to the heart of the task of creating a self-consistent structural interpretation</a:t>
            </a:r>
          </a:p>
          <a:p>
            <a:pPr marL="108000" indent="-108000">
              <a:spcBef>
                <a:spcPts val="300"/>
              </a:spcBef>
              <a:buFont typeface="Arial" panose="020B0604020202020204" pitchFamily="34" charset="0"/>
              <a:buChar char="•"/>
            </a:pPr>
            <a:r>
              <a:rPr lang="en-GB" altLang="en-US" sz="1000" dirty="0"/>
              <a:t>A restorable cross-section is one that can be </a:t>
            </a:r>
            <a:r>
              <a:rPr lang="en-GB" altLang="en-US" sz="1000" dirty="0" err="1"/>
              <a:t>undeformed</a:t>
            </a:r>
            <a:r>
              <a:rPr lang="en-GB" altLang="en-US" sz="1000" dirty="0"/>
              <a:t> to reproduce the original stratigraphy before deformation. A section that does not restore is one that leaves gaps or locates two bits of section in the same space when one attempts to reverse the deformation – such a cross-section is WRONG unless it arises from something ignored in the method used to restore the section</a:t>
            </a:r>
          </a:p>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p.85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44D06F9-F90A-4363-A5E5-81203E510241}"/>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C37B976E-F1EE-4AF1-AEF7-CDEE5E908E7D}"/>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Twiss &amp; </a:t>
            </a:r>
            <a:r>
              <a:rPr lang="en-GB" altLang="en-US" sz="1000" dirty="0" err="1"/>
              <a:t>Moores</a:t>
            </a:r>
            <a:r>
              <a:rPr lang="en-GB" altLang="en-US" sz="1000" dirty="0"/>
              <a:t>, p.85</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1023D9EB-2511-49CA-8EFD-A5307E47AC36}"/>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21F233A6-D670-48F9-9E7D-943F2D249C20}"/>
              </a:ext>
            </a:extLst>
          </p:cNvPr>
          <p:cNvSpPr>
            <a:spLocks noGrp="1" noChangeArrowheads="1"/>
          </p:cNvSpPr>
          <p:nvPr>
            <p:ph type="body" idx="1"/>
          </p:nvPr>
        </p:nvSpPr>
        <p:spPr>
          <a:noFill/>
        </p:spPr>
        <p:txBody>
          <a:bodyPr/>
          <a:lstStyle/>
          <a:p>
            <a:pPr marL="108000" indent="-108000">
              <a:spcBef>
                <a:spcPts val="300"/>
              </a:spcBef>
              <a:buFont typeface="Arial" panose="020B0604020202020204" pitchFamily="34" charset="0"/>
              <a:buChar char="•"/>
            </a:pPr>
            <a:r>
              <a:rPr lang="en-GB" altLang="en-US" sz="1000" dirty="0"/>
              <a:t>Figure from Peacock </a:t>
            </a:r>
            <a:r>
              <a:rPr lang="en-GB" altLang="en-US" sz="1000" i="1" dirty="0"/>
              <a:t>et al.</a:t>
            </a:r>
            <a:r>
              <a:rPr lang="en-GB" altLang="en-US" sz="1000" dirty="0"/>
              <a:t>, 2016, </a:t>
            </a:r>
            <a:r>
              <a:rPr lang="en-GB" altLang="en-US" sz="1000" i="1" dirty="0"/>
              <a:t>Journal of Structural Geology</a:t>
            </a:r>
            <a:r>
              <a:rPr lang="en-GB" altLang="en-US" sz="1000" dirty="0"/>
              <a:t> 92: 12-29, </a:t>
            </a:r>
            <a:r>
              <a:rPr lang="en-GB" sz="1200" dirty="0"/>
              <a:t>https://doi.org/10.1016/j.jsg.2016.09.008</a:t>
            </a:r>
          </a:p>
          <a:p>
            <a:pPr marL="0" indent="0">
              <a:spcBef>
                <a:spcPts val="300"/>
              </a:spcBef>
              <a:buFont typeface="Arial" panose="020B0604020202020204" pitchFamily="34" charset="0"/>
              <a:buNone/>
            </a:pPr>
            <a:endParaRPr lang="en-GB" altLang="en-US" sz="10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E5A220B2-77F6-4496-A8D4-A26145FA118B}" type="slidenum">
              <a:rPr lang="en-GB" altLang="en-US" smtClean="0"/>
              <a:pPr/>
              <a:t>51</a:t>
            </a:fld>
            <a:endParaRPr lang="en-GB" altLang="en-US"/>
          </a:p>
        </p:txBody>
      </p:sp>
    </p:spTree>
    <p:extLst>
      <p:ext uri="{BB962C8B-B14F-4D97-AF65-F5344CB8AC3E}">
        <p14:creationId xmlns:p14="http://schemas.microsoft.com/office/powerpoint/2010/main" val="2744856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128527829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21233760"/>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68944164"/>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5534115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44113639"/>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08804370"/>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615264"/>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476068961"/>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41261761"/>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53711925"/>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8034635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61672117"/>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90804673"/>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646483668"/>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52413" y="93663"/>
            <a:ext cx="8742362" cy="541337"/>
          </a:xfrm>
        </p:spPr>
        <p:txBody>
          <a:bodyPr/>
          <a:lstStyle/>
          <a:p>
            <a:r>
              <a:rPr lang="en-US"/>
              <a:t>Click to edit Master title style</a:t>
            </a:r>
            <a:endParaRPr lang="en-GB"/>
          </a:p>
        </p:txBody>
      </p:sp>
      <p:sp>
        <p:nvSpPr>
          <p:cNvPr id="3" name="Content Placeholder 2"/>
          <p:cNvSpPr>
            <a:spLocks noGrp="1"/>
          </p:cNvSpPr>
          <p:nvPr>
            <p:ph sz="quarter" idx="1"/>
          </p:nvPr>
        </p:nvSpPr>
        <p:spPr>
          <a:xfrm>
            <a:off x="255588" y="917575"/>
            <a:ext cx="4291012"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4699000" y="917575"/>
            <a:ext cx="4291013" cy="278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255588" y="3857625"/>
            <a:ext cx="4291012"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4699000" y="3857625"/>
            <a:ext cx="4291013" cy="2789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74094934"/>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4094A180-2CE1-4964-B0A3-441677D928D4}"/>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658CF900-A31A-4226-8182-0E0447B4D86E}"/>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F79C62FF-BADF-4ACD-955A-CC590F2F6BE1}"/>
              </a:ext>
            </a:extLst>
          </p:cNvPr>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 bg1="dk2" tx1="lt1" bg2="dk1" tx2="lt2" accent1="accent1" accent2="accent2" accent3="accent3" accent4="accent4" accent5="accent5" accent6="accent6" hlink="hlink" folHlink="folHlink"/>
  <p:sldLayoutIdLst>
    <p:sldLayoutId id="2147483727" r:id="rId1"/>
    <p:sldLayoutId id="2147483726" r:id="rId2"/>
    <p:sldLayoutId id="2147483725" r:id="rId3"/>
    <p:sldLayoutId id="2147483724" r:id="rId4"/>
    <p:sldLayoutId id="2147483723" r:id="rId5"/>
    <p:sldLayoutId id="2147483722" r:id="rId6"/>
    <p:sldLayoutId id="2147483721" r:id="rId7"/>
    <p:sldLayoutId id="2147483720" r:id="rId8"/>
    <p:sldLayoutId id="2147483719" r:id="rId9"/>
    <p:sldLayoutId id="2147483718" r:id="rId10"/>
    <p:sldLayoutId id="2147483717" r:id="rId11"/>
    <p:sldLayoutId id="2147483716" r:id="rId12"/>
    <p:sldLayoutId id="2147483715" r:id="rId13"/>
    <p:sldLayoutId id="2147483714" r:id="rId14"/>
    <p:sldLayoutId id="2147483713" r:id="rId15"/>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1.jpe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29.jpeg"/><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32.jpeg"/><Relationship Id="rId4" Type="http://schemas.openxmlformats.org/officeDocument/2006/relationships/image" Target="../media/image31.jpeg"/></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4.xml"/><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49.jpg"/><Relationship Id="rId4" Type="http://schemas.openxmlformats.org/officeDocument/2006/relationships/image" Target="../media/image48.jpeg"/></Relationships>
</file>

<file path=ppt/slides/_rels/slide2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52.jpeg"/><Relationship Id="rId4" Type="http://schemas.openxmlformats.org/officeDocument/2006/relationships/image" Target="../media/image51.jpeg"/></Relationships>
</file>

<file path=ppt/slides/_rels/slide3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4.jpeg"/></Relationships>
</file>

<file path=ppt/slides/_rels/slide3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56.jpeg"/></Relationships>
</file>

<file path=ppt/slides/_rels/slide3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60.jpeg"/><Relationship Id="rId4" Type="http://schemas.openxmlformats.org/officeDocument/2006/relationships/image" Target="../media/image5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62.jpeg"/></Relationships>
</file>

<file path=ppt/slides/_rels/slide36.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65.jpeg"/><Relationship Id="rId4" Type="http://schemas.openxmlformats.org/officeDocument/2006/relationships/image" Target="../media/image64.jpeg"/></Relationships>
</file>

<file path=ppt/slides/_rels/slide3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67.jpeg"/></Relationships>
</file>

<file path=ppt/slides/_rels/slide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0.xml"/><Relationship Id="rId1" Type="http://schemas.openxmlformats.org/officeDocument/2006/relationships/slideLayout" Target="../slideLayouts/slideLayout15.xml"/><Relationship Id="rId6" Type="http://schemas.openxmlformats.org/officeDocument/2006/relationships/image" Target="../media/image73.jpeg"/><Relationship Id="rId5" Type="http://schemas.openxmlformats.org/officeDocument/2006/relationships/image" Target="../media/image72.jpeg"/><Relationship Id="rId4" Type="http://schemas.openxmlformats.org/officeDocument/2006/relationships/image" Target="../media/image71.jpeg"/></Relationships>
</file>

<file path=ppt/slides/_rels/slide4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75.jpeg"/></Relationships>
</file>

<file path=ppt/slides/_rels/slide4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42.xml"/><Relationship Id="rId1" Type="http://schemas.openxmlformats.org/officeDocument/2006/relationships/slideLayout" Target="../slideLayouts/slideLayout14.xml"/><Relationship Id="rId4" Type="http://schemas.openxmlformats.org/officeDocument/2006/relationships/image" Target="../media/image77.jpeg"/></Relationships>
</file>

<file path=ppt/slides/_rels/slide4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79.jpeg"/></Relationships>
</file>

<file path=ppt/slides/_rels/slide4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82.jpeg"/></Relationships>
</file>

<file path=ppt/slides/_rels/slide4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46.xml"/><Relationship Id="rId1" Type="http://schemas.openxmlformats.org/officeDocument/2006/relationships/slideLayout" Target="../slideLayouts/slideLayout4.xml"/><Relationship Id="rId5" Type="http://schemas.openxmlformats.org/officeDocument/2006/relationships/image" Target="../media/image85.jpeg"/><Relationship Id="rId4" Type="http://schemas.openxmlformats.org/officeDocument/2006/relationships/image" Target="../media/image84.jpeg"/></Relationships>
</file>

<file path=ppt/slides/_rels/slide4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87.jpeg"/></Relationships>
</file>

<file path=ppt/slides/_rels/slide48.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91.jp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6B59C657-D15E-47CF-AAE6-55CDAC68761F}"/>
              </a:ext>
            </a:extLst>
          </p:cNvPr>
          <p:cNvSpPr>
            <a:spLocks noGrp="1" noChangeArrowheads="1"/>
          </p:cNvSpPr>
          <p:nvPr>
            <p:ph type="ctrTitle"/>
          </p:nvPr>
        </p:nvSpPr>
        <p:spPr>
          <a:xfrm>
            <a:off x="239713" y="967538"/>
            <a:ext cx="8705850" cy="3213187"/>
          </a:xfrm>
        </p:spPr>
        <p:txBody>
          <a:bodyPr/>
          <a:lstStyle/>
          <a:p>
            <a:pPr>
              <a:lnSpc>
                <a:spcPct val="120000"/>
              </a:lnSpc>
              <a:defRPr/>
            </a:pPr>
            <a:r>
              <a:rPr lang="en-US" sz="3200" dirty="0"/>
              <a:t>EART 28202 :  Structural Geology</a:t>
            </a:r>
            <a:br>
              <a:rPr lang="en-US" sz="3200" dirty="0"/>
            </a:br>
            <a:br>
              <a:rPr lang="en-US" dirty="0"/>
            </a:br>
            <a:br>
              <a:rPr lang="en-US" dirty="0"/>
            </a:br>
            <a:br>
              <a:rPr lang="en-US" dirty="0"/>
            </a:br>
            <a:r>
              <a:rPr lang="en-US" sz="3200" dirty="0">
                <a:solidFill>
                  <a:srgbClr val="FF6600"/>
                </a:solidFill>
              </a:rPr>
              <a:t>Class 7 :  Faulting</a:t>
            </a:r>
            <a:endParaRPr 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C8FA7FD-D944-4510-B428-47360592528B}"/>
              </a:ext>
            </a:extLst>
          </p:cNvPr>
          <p:cNvSpPr>
            <a:spLocks noGrp="1" noChangeArrowheads="1"/>
          </p:cNvSpPr>
          <p:nvPr>
            <p:ph type="title"/>
          </p:nvPr>
        </p:nvSpPr>
        <p:spPr>
          <a:noFill/>
        </p:spPr>
        <p:txBody>
          <a:bodyPr/>
          <a:lstStyle/>
          <a:p>
            <a:r>
              <a:rPr lang="en-GB" altLang="en-US">
                <a:effectLst/>
              </a:rPr>
              <a:t>Faults</a:t>
            </a:r>
          </a:p>
        </p:txBody>
      </p:sp>
      <p:sp>
        <p:nvSpPr>
          <p:cNvPr id="100355" name="Rectangle 3">
            <a:extLst>
              <a:ext uri="{FF2B5EF4-FFF2-40B4-BE49-F238E27FC236}">
                <a16:creationId xmlns:a16="http://schemas.microsoft.com/office/drawing/2014/main" id="{11EE9290-8872-4E2B-B61E-CA286BD9C74A}"/>
              </a:ext>
            </a:extLst>
          </p:cNvPr>
          <p:cNvSpPr>
            <a:spLocks noGrp="1" noChangeArrowheads="1"/>
          </p:cNvSpPr>
          <p:nvPr>
            <p:ph type="body" sz="half" idx="1"/>
          </p:nvPr>
        </p:nvSpPr>
        <p:spPr>
          <a:xfrm>
            <a:off x="160214" y="835025"/>
            <a:ext cx="4423660" cy="5695950"/>
          </a:xfrm>
        </p:spPr>
        <p:txBody>
          <a:bodyPr/>
          <a:lstStyle/>
          <a:p>
            <a:pPr marL="177800" indent="-177800">
              <a:spcBef>
                <a:spcPct val="75000"/>
              </a:spcBef>
            </a:pPr>
            <a:r>
              <a:rPr lang="en-GB" altLang="en-US" sz="1700" dirty="0">
                <a:effectLst/>
              </a:rPr>
              <a:t>A </a:t>
            </a:r>
            <a:r>
              <a:rPr lang="en-GB" altLang="en-US" sz="1700" dirty="0">
                <a:solidFill>
                  <a:srgbClr val="FF6600"/>
                </a:solidFill>
                <a:effectLst/>
              </a:rPr>
              <a:t>fault</a:t>
            </a:r>
            <a:r>
              <a:rPr lang="en-GB" altLang="en-US" sz="1700" dirty="0">
                <a:effectLst/>
              </a:rPr>
              <a:t> is a surface or narrow zone along which there is measurable (at the exposure scale) surface-parallel displacement</a:t>
            </a:r>
          </a:p>
          <a:p>
            <a:pPr marL="177800" indent="-177800">
              <a:spcBef>
                <a:spcPct val="75000"/>
              </a:spcBef>
            </a:pPr>
            <a:r>
              <a:rPr lang="en-GB" altLang="en-US" sz="1700" dirty="0">
                <a:effectLst/>
              </a:rPr>
              <a:t>This definition is identical to that of a </a:t>
            </a:r>
            <a:r>
              <a:rPr lang="en-GB" altLang="en-US" sz="1700" dirty="0">
                <a:solidFill>
                  <a:srgbClr val="FF66CC"/>
                </a:solidFill>
                <a:effectLst/>
              </a:rPr>
              <a:t>shear fracture</a:t>
            </a:r>
            <a:r>
              <a:rPr lang="en-GB" altLang="en-US" sz="1700" dirty="0">
                <a:effectLst/>
              </a:rPr>
              <a:t> except for the scale of the displacement</a:t>
            </a:r>
          </a:p>
          <a:p>
            <a:pPr marL="177800" indent="-177800">
              <a:spcBef>
                <a:spcPct val="75000"/>
              </a:spcBef>
            </a:pPr>
            <a:r>
              <a:rPr lang="en-GB" altLang="en-US" sz="1700" dirty="0">
                <a:effectLst/>
              </a:rPr>
              <a:t>Although described as a surface, faults have </a:t>
            </a:r>
            <a:r>
              <a:rPr lang="en-GB" altLang="en-US" sz="1700" dirty="0">
                <a:solidFill>
                  <a:srgbClr val="FF66CC"/>
                </a:solidFill>
                <a:effectLst/>
              </a:rPr>
              <a:t>thickness </a:t>
            </a:r>
            <a:r>
              <a:rPr lang="en-GB" altLang="en-US" sz="1700" dirty="0">
                <a:effectLst/>
              </a:rPr>
              <a:t>(they are zones of deformation)</a:t>
            </a:r>
          </a:p>
          <a:p>
            <a:pPr marL="177800" indent="-177800">
              <a:spcBef>
                <a:spcPct val="75000"/>
              </a:spcBef>
              <a:buClr>
                <a:schemeClr val="tx1"/>
              </a:buClr>
              <a:buSzTx/>
              <a:buFontTx/>
              <a:buChar char="•"/>
            </a:pPr>
            <a:r>
              <a:rPr lang="en-GB" altLang="en-US" sz="1700" dirty="0">
                <a:effectLst/>
              </a:rPr>
              <a:t>A fault may therefore be considered as a </a:t>
            </a:r>
            <a:r>
              <a:rPr lang="en-GB" altLang="en-US" sz="1700" dirty="0">
                <a:solidFill>
                  <a:srgbClr val="FF66CC"/>
                </a:solidFill>
                <a:effectLst/>
              </a:rPr>
              <a:t>tabular volume of rock </a:t>
            </a:r>
            <a:r>
              <a:rPr lang="en-GB" altLang="en-US" sz="1700" dirty="0">
                <a:effectLst/>
              </a:rPr>
              <a:t>comprising a </a:t>
            </a:r>
            <a:r>
              <a:rPr lang="en-GB" altLang="en-US" sz="1700" dirty="0">
                <a:solidFill>
                  <a:srgbClr val="FF6600"/>
                </a:solidFill>
                <a:effectLst/>
              </a:rPr>
              <a:t>central core</a:t>
            </a:r>
            <a:r>
              <a:rPr lang="en-GB" altLang="en-US" sz="1700" dirty="0">
                <a:solidFill>
                  <a:srgbClr val="FF66CC"/>
                </a:solidFill>
                <a:effectLst/>
              </a:rPr>
              <a:t> </a:t>
            </a:r>
            <a:r>
              <a:rPr lang="en-GB" altLang="en-US" sz="1700" dirty="0"/>
              <a:t>formed by intense shearing, together with a surrounding volume of rock (</a:t>
            </a:r>
            <a:r>
              <a:rPr lang="en-GB" altLang="en-US" sz="1700" dirty="0">
                <a:solidFill>
                  <a:srgbClr val="FF6600"/>
                </a:solidFill>
              </a:rPr>
              <a:t>damage zone</a:t>
            </a:r>
            <a:r>
              <a:rPr lang="en-GB" altLang="en-US" sz="1700" dirty="0"/>
              <a:t>) that has been less intensely affected by brittle deformation</a:t>
            </a:r>
            <a:endParaRPr lang="en-GB" altLang="en-US" sz="1700" dirty="0">
              <a:effectLst/>
            </a:endParaRPr>
          </a:p>
        </p:txBody>
      </p:sp>
      <p:pic>
        <p:nvPicPr>
          <p:cNvPr id="4103" name="Picture 7" descr="01a1-PSaintFlt">
            <a:extLst>
              <a:ext uri="{FF2B5EF4-FFF2-40B4-BE49-F238E27FC236}">
                <a16:creationId xmlns:a16="http://schemas.microsoft.com/office/drawing/2014/main" id="{AEF9A846-03A4-4871-8549-44230BA53A01}"/>
              </a:ext>
            </a:extLst>
          </p:cNvPr>
          <p:cNvPicPr>
            <a:picLocks noChangeAspect="1" noChangeArrowheads="1"/>
          </p:cNvPicPr>
          <p:nvPr/>
        </p:nvPicPr>
        <p:blipFill>
          <a:blip r:embed="rId3">
            <a:lum bright="6000"/>
            <a:extLst>
              <a:ext uri="{28A0092B-C50C-407E-A947-70E740481C1C}">
                <a14:useLocalDpi xmlns:a14="http://schemas.microsoft.com/office/drawing/2010/main" val="0"/>
              </a:ext>
            </a:extLst>
          </a:blip>
          <a:srcRect/>
          <a:stretch>
            <a:fillRect/>
          </a:stretch>
        </p:blipFill>
        <p:spPr bwMode="auto">
          <a:xfrm>
            <a:off x="4923088" y="908050"/>
            <a:ext cx="3840162" cy="57927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EE03B6CF-1B0C-4119-857D-0AC7DD7641C8}"/>
              </a:ext>
            </a:extLst>
          </p:cNvPr>
          <p:cNvSpPr>
            <a:spLocks noGrp="1" noChangeArrowheads="1"/>
          </p:cNvSpPr>
          <p:nvPr>
            <p:ph type="ctrTitle" idx="4294967295"/>
          </p:nvPr>
        </p:nvSpPr>
        <p:spPr bwMode="black">
          <a:xfrm>
            <a:off x="184150" y="1668463"/>
            <a:ext cx="8705850" cy="2011362"/>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500"/>
            </a:br>
            <a:br>
              <a:rPr lang="en-US" sz="3500"/>
            </a:br>
            <a:r>
              <a:rPr lang="en-US" sz="3500">
                <a:solidFill>
                  <a:srgbClr val="FF6600"/>
                </a:solidFill>
              </a:rPr>
              <a:t>Fault geometry</a:t>
            </a:r>
            <a:endParaRPr lang="en-US">
              <a:solidFill>
                <a:srgbClr val="FF6600"/>
              </a:solidFill>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D4BC72B-4E0E-4B1E-A70F-81542C4F935C}"/>
              </a:ext>
            </a:extLst>
          </p:cNvPr>
          <p:cNvSpPr>
            <a:spLocks noGrp="1" noChangeArrowheads="1"/>
          </p:cNvSpPr>
          <p:nvPr>
            <p:ph type="title"/>
          </p:nvPr>
        </p:nvSpPr>
        <p:spPr>
          <a:noFill/>
        </p:spPr>
        <p:txBody>
          <a:bodyPr/>
          <a:lstStyle/>
          <a:p>
            <a:r>
              <a:rPr lang="en-GB" altLang="en-US">
                <a:effectLst/>
              </a:rPr>
              <a:t>Fault surface dip</a:t>
            </a:r>
          </a:p>
        </p:txBody>
      </p:sp>
      <p:sp>
        <p:nvSpPr>
          <p:cNvPr id="6147" name="Rectangle 3">
            <a:extLst>
              <a:ext uri="{FF2B5EF4-FFF2-40B4-BE49-F238E27FC236}">
                <a16:creationId xmlns:a16="http://schemas.microsoft.com/office/drawing/2014/main" id="{E83A15DD-6EFA-42FB-B179-138D3036BB79}"/>
              </a:ext>
            </a:extLst>
          </p:cNvPr>
          <p:cNvSpPr>
            <a:spLocks noGrp="1" noChangeArrowheads="1"/>
          </p:cNvSpPr>
          <p:nvPr>
            <p:ph type="body" sz="half" idx="1"/>
          </p:nvPr>
        </p:nvSpPr>
        <p:spPr>
          <a:xfrm>
            <a:off x="122238" y="774700"/>
            <a:ext cx="5648325" cy="2020888"/>
          </a:xfrm>
          <a:noFill/>
        </p:spPr>
        <p:txBody>
          <a:bodyPr/>
          <a:lstStyle/>
          <a:p>
            <a:pPr marL="177800" indent="-177800"/>
            <a:r>
              <a:rPr lang="en-GB" altLang="en-US" sz="1700" dirty="0">
                <a:effectLst/>
              </a:rPr>
              <a:t>A fault divides the rocks that it cuts into two blocks. For faults that are </a:t>
            </a:r>
            <a:r>
              <a:rPr lang="en-GB" altLang="en-US" sz="1700" dirty="0">
                <a:solidFill>
                  <a:srgbClr val="FF66CC"/>
                </a:solidFill>
                <a:effectLst/>
              </a:rPr>
              <a:t>not vertical</a:t>
            </a:r>
            <a:r>
              <a:rPr lang="en-GB" altLang="en-US" sz="1700" dirty="0">
                <a:effectLst/>
              </a:rPr>
              <a:t>, the block below the fault is the </a:t>
            </a:r>
            <a:r>
              <a:rPr lang="en-GB" altLang="en-US" sz="1700" dirty="0">
                <a:solidFill>
                  <a:srgbClr val="FF6600"/>
                </a:solidFill>
                <a:effectLst/>
              </a:rPr>
              <a:t>footwall</a:t>
            </a:r>
            <a:r>
              <a:rPr lang="en-GB" altLang="en-US" sz="1700" dirty="0">
                <a:effectLst/>
              </a:rPr>
              <a:t> and the block above the fault is the </a:t>
            </a:r>
            <a:r>
              <a:rPr lang="en-GB" altLang="en-US" sz="1700" dirty="0">
                <a:solidFill>
                  <a:srgbClr val="FF6600"/>
                </a:solidFill>
                <a:effectLst/>
              </a:rPr>
              <a:t>hanging wall</a:t>
            </a:r>
            <a:r>
              <a:rPr lang="en-GB" altLang="en-US" sz="1700" dirty="0">
                <a:effectLst/>
              </a:rPr>
              <a:t>. For </a:t>
            </a:r>
            <a:r>
              <a:rPr lang="en-GB" altLang="en-US" sz="1700" dirty="0">
                <a:solidFill>
                  <a:srgbClr val="FF66CC"/>
                </a:solidFill>
                <a:effectLst/>
              </a:rPr>
              <a:t>vertical faults</a:t>
            </a:r>
            <a:r>
              <a:rPr lang="en-GB" altLang="en-US" sz="1700" dirty="0">
                <a:effectLst/>
              </a:rPr>
              <a:t> the sides of the fault are named by their geographical location, </a:t>
            </a:r>
            <a:r>
              <a:rPr lang="en-GB" altLang="en-US" sz="1700" i="1" dirty="0">
                <a:effectLst/>
              </a:rPr>
              <a:t>e.g.</a:t>
            </a:r>
            <a:r>
              <a:rPr lang="en-GB" altLang="en-US" sz="1700" dirty="0">
                <a:effectLst/>
              </a:rPr>
              <a:t>, west side</a:t>
            </a:r>
          </a:p>
        </p:txBody>
      </p:sp>
      <p:pic>
        <p:nvPicPr>
          <p:cNvPr id="6148" name="Picture 4">
            <a:extLst>
              <a:ext uri="{FF2B5EF4-FFF2-40B4-BE49-F238E27FC236}">
                <a16:creationId xmlns:a16="http://schemas.microsoft.com/office/drawing/2014/main" id="{99F80DCD-6009-44EB-AE4B-27C7E71A2103}"/>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057900" y="890588"/>
            <a:ext cx="2870200" cy="2620962"/>
          </a:xfrm>
          <a:noFill/>
          <a:ln w="38100" cap="flat">
            <a:solidFill>
              <a:schemeClr val="bg2"/>
            </a:solidFill>
            <a:miter lim="800000"/>
            <a:headEnd/>
            <a:tailEnd/>
          </a:ln>
        </p:spPr>
      </p:pic>
      <p:grpSp>
        <p:nvGrpSpPr>
          <p:cNvPr id="6149" name="Group 9">
            <a:extLst>
              <a:ext uri="{FF2B5EF4-FFF2-40B4-BE49-F238E27FC236}">
                <a16:creationId xmlns:a16="http://schemas.microsoft.com/office/drawing/2014/main" id="{2D0F76D2-8F5C-491B-AD54-57407078F584}"/>
              </a:ext>
            </a:extLst>
          </p:cNvPr>
          <p:cNvGrpSpPr>
            <a:grpSpLocks/>
          </p:cNvGrpSpPr>
          <p:nvPr/>
        </p:nvGrpSpPr>
        <p:grpSpPr bwMode="auto">
          <a:xfrm>
            <a:off x="323850" y="2981325"/>
            <a:ext cx="3654425" cy="2317750"/>
            <a:chOff x="3501" y="2477"/>
            <a:chExt cx="2002" cy="1270"/>
          </a:xfrm>
        </p:grpSpPr>
        <p:sp>
          <p:nvSpPr>
            <p:cNvPr id="219144" name="Rectangle 8">
              <a:extLst>
                <a:ext uri="{FF2B5EF4-FFF2-40B4-BE49-F238E27FC236}">
                  <a16:creationId xmlns:a16="http://schemas.microsoft.com/office/drawing/2014/main" id="{C6D09AB3-D097-4CB2-B7B1-3B7E405AF2B9}"/>
                </a:ext>
              </a:extLst>
            </p:cNvPr>
            <p:cNvSpPr>
              <a:spLocks noChangeArrowheads="1"/>
            </p:cNvSpPr>
            <p:nvPr/>
          </p:nvSpPr>
          <p:spPr bwMode="auto">
            <a:xfrm>
              <a:off x="3501" y="2477"/>
              <a:ext cx="2002" cy="127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6153" name="Picture 2" descr="GR03.jpg">
              <a:extLst>
                <a:ext uri="{FF2B5EF4-FFF2-40B4-BE49-F238E27FC236}">
                  <a16:creationId xmlns:a16="http://schemas.microsoft.com/office/drawing/2014/main" id="{F0015CD3-1E69-454B-A380-2812E4279A4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42" y="2535"/>
              <a:ext cx="1909" cy="11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6150" name="Text Box 10">
            <a:extLst>
              <a:ext uri="{FF2B5EF4-FFF2-40B4-BE49-F238E27FC236}">
                <a16:creationId xmlns:a16="http://schemas.microsoft.com/office/drawing/2014/main" id="{35D9D0EC-96B6-4B63-9CF7-01125CF2FCD8}"/>
              </a:ext>
            </a:extLst>
          </p:cNvPr>
          <p:cNvSpPr txBox="1">
            <a:spLocks noChangeArrowheads="1"/>
          </p:cNvSpPr>
          <p:nvPr/>
        </p:nvSpPr>
        <p:spPr bwMode="auto">
          <a:xfrm>
            <a:off x="4173538" y="3609975"/>
            <a:ext cx="4819650" cy="177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solidFill>
                  <a:srgbClr val="FF6600"/>
                </a:solidFill>
                <a:effectLst/>
                <a:latin typeface="Arial" panose="020B0604020202020204" pitchFamily="34" charset="0"/>
              </a:rPr>
              <a:t>Faults are described by their dip</a:t>
            </a:r>
            <a:r>
              <a:rPr lang="en-GB" altLang="en-US" sz="1700" dirty="0">
                <a:solidFill>
                  <a:srgbClr val="FF66CC"/>
                </a:solidFill>
                <a:effectLst/>
                <a:latin typeface="Arial" panose="020B0604020202020204" pitchFamily="34" charset="0"/>
              </a:rPr>
              <a:t>:</a:t>
            </a:r>
            <a:r>
              <a:rPr lang="en-GB" altLang="en-US" sz="1700" dirty="0">
                <a:effectLst/>
                <a:latin typeface="Arial" panose="020B0604020202020204" pitchFamily="34" charset="0"/>
              </a:rPr>
              <a:t> </a:t>
            </a:r>
            <a:r>
              <a:rPr lang="en-GB" altLang="en-US" sz="1700" dirty="0">
                <a:solidFill>
                  <a:srgbClr val="FF66CC"/>
                </a:solidFill>
                <a:effectLst/>
                <a:latin typeface="Arial" panose="020B0604020202020204" pitchFamily="34" charset="0"/>
              </a:rPr>
              <a:t>low-angle faults</a:t>
            </a:r>
            <a:r>
              <a:rPr lang="en-GB" altLang="en-US" sz="1700" dirty="0">
                <a:solidFill>
                  <a:srgbClr val="FF6600"/>
                </a:solidFill>
                <a:effectLst/>
                <a:latin typeface="Arial" panose="020B0604020202020204" pitchFamily="34" charset="0"/>
              </a:rPr>
              <a:t> </a:t>
            </a:r>
            <a:r>
              <a:rPr lang="en-GB" altLang="en-US" sz="1700" dirty="0">
                <a:effectLst/>
                <a:latin typeface="Arial" panose="020B0604020202020204" pitchFamily="34" charset="0"/>
              </a:rPr>
              <a:t>dip less than </a:t>
            </a:r>
            <a:r>
              <a:rPr lang="en-GB" altLang="en-US" sz="1700" spc="300" dirty="0">
                <a:effectLst/>
                <a:latin typeface="Arial" panose="020B0604020202020204" pitchFamily="34" charset="0"/>
              </a:rPr>
              <a:t>~</a:t>
            </a:r>
            <a:r>
              <a:rPr lang="en-GB" altLang="en-US" sz="1700" dirty="0">
                <a:effectLst/>
                <a:latin typeface="Arial" panose="020B0604020202020204" pitchFamily="34" charset="0"/>
              </a:rPr>
              <a:t>30°; </a:t>
            </a:r>
            <a:r>
              <a:rPr lang="en-GB" altLang="en-US" sz="1700" dirty="0">
                <a:solidFill>
                  <a:srgbClr val="FF66CC"/>
                </a:solidFill>
                <a:effectLst/>
                <a:latin typeface="Arial" panose="020B0604020202020204" pitchFamily="34" charset="0"/>
              </a:rPr>
              <a:t>high-angle faults</a:t>
            </a:r>
            <a:r>
              <a:rPr lang="en-GB" altLang="en-US" sz="1700" dirty="0">
                <a:solidFill>
                  <a:srgbClr val="FF6600"/>
                </a:solidFill>
                <a:effectLst/>
                <a:latin typeface="Arial" panose="020B0604020202020204" pitchFamily="34" charset="0"/>
              </a:rPr>
              <a:t> </a:t>
            </a:r>
            <a:r>
              <a:rPr lang="en-GB" altLang="en-US" sz="1700" dirty="0">
                <a:effectLst/>
                <a:latin typeface="Arial" panose="020B0604020202020204" pitchFamily="34" charset="0"/>
              </a:rPr>
              <a:t>dip more than </a:t>
            </a:r>
            <a:r>
              <a:rPr lang="en-GB" altLang="en-US" sz="1700" spc="300" dirty="0">
                <a:effectLst/>
                <a:latin typeface="Arial" panose="020B0604020202020204" pitchFamily="34" charset="0"/>
              </a:rPr>
              <a:t>~</a:t>
            </a:r>
            <a:r>
              <a:rPr lang="en-GB" altLang="en-US" sz="1700" dirty="0">
                <a:effectLst/>
                <a:latin typeface="Arial" panose="020B0604020202020204" pitchFamily="34" charset="0"/>
              </a:rPr>
              <a:t>60°</a:t>
            </a:r>
          </a:p>
          <a:p>
            <a:pPr>
              <a:lnSpc>
                <a:spcPct val="120000"/>
              </a:lnSpc>
              <a:spcBef>
                <a:spcPct val="50000"/>
              </a:spcBef>
              <a:buClr>
                <a:schemeClr val="tx1"/>
              </a:buClr>
              <a:buFontTx/>
              <a:buChar char="•"/>
            </a:pPr>
            <a:r>
              <a:rPr lang="en-GB" altLang="en-US" sz="1700" dirty="0" err="1">
                <a:solidFill>
                  <a:srgbClr val="FF66CC"/>
                </a:solidFill>
                <a:effectLst/>
                <a:latin typeface="Arial" panose="020B0604020202020204" pitchFamily="34" charset="0"/>
              </a:rPr>
              <a:t>Listric</a:t>
            </a:r>
            <a:r>
              <a:rPr lang="en-GB" altLang="en-US" sz="1700" dirty="0">
                <a:solidFill>
                  <a:srgbClr val="FF66CC"/>
                </a:solidFill>
                <a:effectLst/>
                <a:latin typeface="Arial" panose="020B0604020202020204" pitchFamily="34" charset="0"/>
              </a:rPr>
              <a:t> faults</a:t>
            </a:r>
            <a:r>
              <a:rPr lang="en-GB" altLang="en-US" sz="1700" dirty="0">
                <a:effectLst/>
                <a:latin typeface="Arial" panose="020B0604020202020204" pitchFamily="34" charset="0"/>
              </a:rPr>
              <a:t> flatten downwards (common); </a:t>
            </a:r>
            <a:r>
              <a:rPr lang="en-GB" altLang="en-US" sz="1700" dirty="0">
                <a:solidFill>
                  <a:srgbClr val="FF66CC"/>
                </a:solidFill>
                <a:effectLst/>
                <a:latin typeface="Arial" panose="020B0604020202020204" pitchFamily="34" charset="0"/>
              </a:rPr>
              <a:t>anti-</a:t>
            </a:r>
            <a:r>
              <a:rPr lang="en-GB" altLang="en-US" sz="1700" dirty="0" err="1">
                <a:solidFill>
                  <a:srgbClr val="FF66CC"/>
                </a:solidFill>
                <a:effectLst/>
                <a:latin typeface="Arial" panose="020B0604020202020204" pitchFamily="34" charset="0"/>
              </a:rPr>
              <a:t>listric</a:t>
            </a:r>
            <a:r>
              <a:rPr lang="en-GB" altLang="en-US" sz="1700" dirty="0">
                <a:solidFill>
                  <a:srgbClr val="FF66CC"/>
                </a:solidFill>
                <a:effectLst/>
                <a:latin typeface="Arial" panose="020B0604020202020204" pitchFamily="34" charset="0"/>
              </a:rPr>
              <a:t> faults</a:t>
            </a:r>
            <a:r>
              <a:rPr lang="en-GB" altLang="en-US" sz="1700" dirty="0">
                <a:solidFill>
                  <a:srgbClr val="FF6600"/>
                </a:solidFill>
                <a:effectLst/>
                <a:latin typeface="Arial" panose="020B0604020202020204" pitchFamily="34" charset="0"/>
              </a:rPr>
              <a:t> </a:t>
            </a:r>
            <a:r>
              <a:rPr lang="en-GB" altLang="en-US" sz="1700" dirty="0">
                <a:effectLst/>
                <a:latin typeface="Arial" panose="020B0604020202020204" pitchFamily="34" charset="0"/>
              </a:rPr>
              <a:t>steepen downwards (unusual)</a:t>
            </a:r>
          </a:p>
        </p:txBody>
      </p:sp>
      <p:sp>
        <p:nvSpPr>
          <p:cNvPr id="219147" name="Text Box 11">
            <a:extLst>
              <a:ext uri="{FF2B5EF4-FFF2-40B4-BE49-F238E27FC236}">
                <a16:creationId xmlns:a16="http://schemas.microsoft.com/office/drawing/2014/main" id="{988D59AD-74A8-4DD4-B999-6EDB2ACEAC22}"/>
              </a:ext>
            </a:extLst>
          </p:cNvPr>
          <p:cNvSpPr txBox="1">
            <a:spLocks noChangeArrowheads="1"/>
          </p:cNvSpPr>
          <p:nvPr/>
        </p:nvSpPr>
        <p:spPr bwMode="auto">
          <a:xfrm>
            <a:off x="115888" y="5567363"/>
            <a:ext cx="8815387"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latin typeface="Arial" panose="020B0604020202020204" pitchFamily="34" charset="0"/>
              </a:rPr>
              <a:t>For faults with a </a:t>
            </a:r>
            <a:r>
              <a:rPr lang="en-GB" altLang="en-US" sz="1700" dirty="0">
                <a:solidFill>
                  <a:srgbClr val="FF66CC"/>
                </a:solidFill>
                <a:effectLst/>
                <a:latin typeface="Arial" panose="020B0604020202020204" pitchFamily="34" charset="0"/>
              </a:rPr>
              <a:t>staircase geometry</a:t>
            </a:r>
            <a:r>
              <a:rPr lang="en-GB" altLang="en-US" sz="1700" dirty="0">
                <a:effectLst/>
                <a:latin typeface="Arial" panose="020B0604020202020204" pitchFamily="34" charset="0"/>
              </a:rPr>
              <a:t> in cross section, the parts that are at a relatively high angle to the layering are </a:t>
            </a:r>
            <a:r>
              <a:rPr lang="en-GB" altLang="en-US" sz="1700" dirty="0">
                <a:solidFill>
                  <a:srgbClr val="FF66CC"/>
                </a:solidFill>
                <a:effectLst/>
                <a:latin typeface="Arial" panose="020B0604020202020204" pitchFamily="34" charset="0"/>
              </a:rPr>
              <a:t>ramps</a:t>
            </a:r>
            <a:r>
              <a:rPr lang="en-GB" altLang="en-US" sz="1700" dirty="0">
                <a:effectLst/>
                <a:latin typeface="Arial" panose="020B0604020202020204" pitchFamily="34" charset="0"/>
              </a:rPr>
              <a:t> and the parts that are sub-parallel to the layering are </a:t>
            </a:r>
            <a:r>
              <a:rPr lang="en-GB" altLang="en-US" sz="1700" dirty="0">
                <a:solidFill>
                  <a:srgbClr val="FF66CC"/>
                </a:solidFill>
                <a:effectLst/>
                <a:latin typeface="Arial" panose="020B0604020202020204" pitchFamily="34" charset="0"/>
              </a:rPr>
              <a:t>flats</a:t>
            </a:r>
            <a:r>
              <a:rPr lang="en-GB" altLang="en-US" sz="1700" dirty="0">
                <a:effectLst/>
                <a:latin typeface="Arial" panose="020B0604020202020204" pitchFamily="34" charset="0"/>
              </a:rPr>
              <a:t>. We will refine the ramp-flat terminology in Classes </a:t>
            </a:r>
            <a:r>
              <a:rPr lang="en-GB" altLang="en-US" sz="1700" spc="300" dirty="0">
                <a:effectLst/>
                <a:latin typeface="Arial" panose="020B0604020202020204" pitchFamily="34" charset="0"/>
              </a:rPr>
              <a:t>8-</a:t>
            </a:r>
            <a:r>
              <a:rPr lang="en-GB" altLang="en-US" sz="1700" dirty="0">
                <a:effectLst/>
                <a:latin typeface="Arial" panose="020B0604020202020204" pitchFamily="34" charset="0"/>
              </a:rPr>
              <a:t>10</a:t>
            </a:r>
            <a:endParaRPr lang="en-GB" altLang="en-US" sz="1700" dirty="0">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DC55453-E6A6-496F-BB54-956CB0917CC4}"/>
              </a:ext>
            </a:extLst>
          </p:cNvPr>
          <p:cNvSpPr>
            <a:spLocks noGrp="1" noChangeArrowheads="1"/>
          </p:cNvSpPr>
          <p:nvPr>
            <p:ph type="title"/>
          </p:nvPr>
        </p:nvSpPr>
        <p:spPr>
          <a:noFill/>
        </p:spPr>
        <p:txBody>
          <a:bodyPr/>
          <a:lstStyle/>
          <a:p>
            <a:r>
              <a:rPr lang="en-GB" altLang="en-US">
                <a:effectLst/>
              </a:rPr>
              <a:t>Slip vector</a:t>
            </a:r>
          </a:p>
        </p:txBody>
      </p:sp>
      <p:sp>
        <p:nvSpPr>
          <p:cNvPr id="7171" name="Rectangle 3">
            <a:extLst>
              <a:ext uri="{FF2B5EF4-FFF2-40B4-BE49-F238E27FC236}">
                <a16:creationId xmlns:a16="http://schemas.microsoft.com/office/drawing/2014/main" id="{A101965F-52ED-469A-B995-2730ACBE3310}"/>
              </a:ext>
            </a:extLst>
          </p:cNvPr>
          <p:cNvSpPr>
            <a:spLocks noGrp="1" noChangeArrowheads="1"/>
          </p:cNvSpPr>
          <p:nvPr>
            <p:ph type="body" sz="half" idx="1"/>
          </p:nvPr>
        </p:nvSpPr>
        <p:spPr>
          <a:xfrm>
            <a:off x="114300" y="784163"/>
            <a:ext cx="5327650" cy="3490953"/>
          </a:xfrm>
          <a:noFill/>
        </p:spPr>
        <p:txBody>
          <a:bodyPr/>
          <a:lstStyle/>
          <a:p>
            <a:pPr marL="177800" indent="-177800">
              <a:spcBef>
                <a:spcPct val="75000"/>
              </a:spcBef>
            </a:pPr>
            <a:r>
              <a:rPr lang="en-GB" altLang="en-US" sz="1700" dirty="0">
                <a:effectLst/>
              </a:rPr>
              <a:t>The </a:t>
            </a:r>
            <a:r>
              <a:rPr lang="en-GB" altLang="en-US" sz="1700" dirty="0">
                <a:solidFill>
                  <a:srgbClr val="FF66CC"/>
                </a:solidFill>
                <a:effectLst/>
              </a:rPr>
              <a:t>vector</a:t>
            </a:r>
            <a:r>
              <a:rPr lang="en-GB" altLang="en-US" sz="1700" dirty="0">
                <a:effectLst/>
              </a:rPr>
              <a:t> connecting the location of a point on the fault plane before and after faulting is the </a:t>
            </a:r>
            <a:r>
              <a:rPr lang="en-GB" altLang="en-US" sz="1700" dirty="0">
                <a:solidFill>
                  <a:srgbClr val="FF6600"/>
                </a:solidFill>
                <a:effectLst/>
              </a:rPr>
              <a:t>slip vector</a:t>
            </a:r>
          </a:p>
          <a:p>
            <a:pPr marL="177800" indent="-177800">
              <a:spcBef>
                <a:spcPct val="75000"/>
              </a:spcBef>
            </a:pPr>
            <a:r>
              <a:rPr lang="en-GB" altLang="en-US" sz="1700" dirty="0">
                <a:effectLst/>
              </a:rPr>
              <a:t>The slip vector may be separated into:</a:t>
            </a:r>
          </a:p>
          <a:p>
            <a:pPr marL="360000" lvl="1" indent="-184150">
              <a:spcBef>
                <a:spcPct val="25000"/>
              </a:spcBef>
            </a:pPr>
            <a:r>
              <a:rPr lang="en-GB" altLang="en-US" sz="1700" dirty="0">
                <a:solidFill>
                  <a:srgbClr val="FF6600"/>
                </a:solidFill>
                <a:effectLst/>
              </a:rPr>
              <a:t>strike-slip component</a:t>
            </a:r>
            <a:r>
              <a:rPr lang="en-GB" altLang="en-US" sz="1700" dirty="0">
                <a:effectLst/>
              </a:rPr>
              <a:t> (parallel to the strike of the fault) and which has </a:t>
            </a:r>
            <a:r>
              <a:rPr lang="en-GB" altLang="en-US" sz="1700" dirty="0">
                <a:solidFill>
                  <a:srgbClr val="FF66CC"/>
                </a:solidFill>
                <a:effectLst/>
              </a:rPr>
              <a:t>dextral</a:t>
            </a:r>
            <a:r>
              <a:rPr lang="en-GB" altLang="en-US" sz="1700" dirty="0">
                <a:effectLst/>
              </a:rPr>
              <a:t> or </a:t>
            </a:r>
            <a:r>
              <a:rPr lang="en-GB" altLang="en-US" sz="1700" dirty="0" err="1">
                <a:solidFill>
                  <a:srgbClr val="FF66CC"/>
                </a:solidFill>
                <a:effectLst/>
              </a:rPr>
              <a:t>sinistral</a:t>
            </a:r>
            <a:r>
              <a:rPr lang="en-GB" altLang="en-US" sz="1700" dirty="0">
                <a:solidFill>
                  <a:srgbClr val="FF66CC"/>
                </a:solidFill>
                <a:effectLst/>
              </a:rPr>
              <a:t> </a:t>
            </a:r>
            <a:r>
              <a:rPr lang="en-GB" altLang="en-US" sz="1700" dirty="0">
                <a:effectLst/>
              </a:rPr>
              <a:t>sense</a:t>
            </a:r>
          </a:p>
          <a:p>
            <a:pPr marL="360000" lvl="1" indent="-184150">
              <a:spcBef>
                <a:spcPts val="600"/>
              </a:spcBef>
            </a:pPr>
            <a:r>
              <a:rPr lang="en-GB" altLang="en-US" sz="1700" dirty="0">
                <a:solidFill>
                  <a:srgbClr val="FF6600"/>
                </a:solidFill>
                <a:effectLst/>
              </a:rPr>
              <a:t>dip-slip component</a:t>
            </a:r>
            <a:r>
              <a:rPr lang="en-GB" altLang="en-US" sz="1700" dirty="0">
                <a:effectLst/>
              </a:rPr>
              <a:t> (parallel to the true dip of the fault) and which has </a:t>
            </a:r>
            <a:r>
              <a:rPr lang="en-GB" altLang="en-US" sz="1700" dirty="0">
                <a:solidFill>
                  <a:srgbClr val="FF66CC"/>
                </a:solidFill>
                <a:effectLst/>
              </a:rPr>
              <a:t>normal</a:t>
            </a:r>
            <a:r>
              <a:rPr lang="en-GB" altLang="en-US" sz="1700" dirty="0">
                <a:effectLst/>
              </a:rPr>
              <a:t> or </a:t>
            </a:r>
            <a:r>
              <a:rPr lang="en-GB" altLang="en-US" sz="1700" dirty="0">
                <a:solidFill>
                  <a:srgbClr val="FF66CC"/>
                </a:solidFill>
                <a:effectLst/>
              </a:rPr>
              <a:t>reverse</a:t>
            </a:r>
            <a:r>
              <a:rPr lang="en-GB" altLang="en-US" sz="1700" dirty="0">
                <a:effectLst/>
              </a:rPr>
              <a:t> sense </a:t>
            </a:r>
          </a:p>
          <a:p>
            <a:pPr marL="177800" indent="-177800">
              <a:spcBef>
                <a:spcPct val="75000"/>
              </a:spcBef>
            </a:pPr>
            <a:r>
              <a:rPr lang="en-GB" altLang="en-US" sz="1700" dirty="0">
                <a:effectLst/>
              </a:rPr>
              <a:t>Hence, we have </a:t>
            </a:r>
            <a:r>
              <a:rPr lang="en-GB" altLang="en-US" sz="1700" dirty="0">
                <a:solidFill>
                  <a:srgbClr val="FF66CC"/>
                </a:solidFill>
                <a:effectLst/>
              </a:rPr>
              <a:t>pure</a:t>
            </a:r>
            <a:r>
              <a:rPr lang="en-GB" altLang="en-US" sz="1700" dirty="0">
                <a:effectLst/>
              </a:rPr>
              <a:t> </a:t>
            </a:r>
            <a:r>
              <a:rPr lang="en-GB" altLang="en-US" sz="1700" dirty="0">
                <a:solidFill>
                  <a:srgbClr val="FF66CC"/>
                </a:solidFill>
                <a:effectLst/>
              </a:rPr>
              <a:t>dip-slip</a:t>
            </a:r>
            <a:r>
              <a:rPr lang="en-GB" altLang="en-US" sz="1700" dirty="0">
                <a:effectLst/>
              </a:rPr>
              <a:t>, </a:t>
            </a:r>
            <a:r>
              <a:rPr lang="en-GB" altLang="en-US" sz="1700" dirty="0">
                <a:solidFill>
                  <a:srgbClr val="FF66CC"/>
                </a:solidFill>
                <a:effectLst/>
              </a:rPr>
              <a:t>pure</a:t>
            </a:r>
            <a:r>
              <a:rPr lang="en-GB" altLang="en-US" sz="1700" dirty="0">
                <a:effectLst/>
              </a:rPr>
              <a:t> </a:t>
            </a:r>
            <a:r>
              <a:rPr lang="en-GB" altLang="en-US" sz="1700" dirty="0">
                <a:solidFill>
                  <a:srgbClr val="FF66CC"/>
                </a:solidFill>
                <a:effectLst/>
              </a:rPr>
              <a:t>strike-slip</a:t>
            </a:r>
            <a:r>
              <a:rPr lang="en-GB" altLang="en-US" sz="1700" dirty="0">
                <a:effectLst/>
              </a:rPr>
              <a:t>, or more generally, </a:t>
            </a:r>
            <a:r>
              <a:rPr lang="en-GB" altLang="en-US" sz="1700" dirty="0">
                <a:solidFill>
                  <a:srgbClr val="FF66CC"/>
                </a:solidFill>
                <a:effectLst/>
              </a:rPr>
              <a:t>oblique-slip</a:t>
            </a:r>
            <a:r>
              <a:rPr lang="en-GB" altLang="en-US" sz="1700" dirty="0">
                <a:effectLst/>
              </a:rPr>
              <a:t> faults</a:t>
            </a:r>
          </a:p>
        </p:txBody>
      </p:sp>
      <p:pic>
        <p:nvPicPr>
          <p:cNvPr id="7172" name="Picture 9">
            <a:extLst>
              <a:ext uri="{FF2B5EF4-FFF2-40B4-BE49-F238E27FC236}">
                <a16:creationId xmlns:a16="http://schemas.microsoft.com/office/drawing/2014/main" id="{2CBE0F4B-5EC7-47F8-ADA9-8D839325BF1B}"/>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549900" y="917575"/>
            <a:ext cx="3286125" cy="3190875"/>
          </a:xfrm>
          <a:noFill/>
          <a:ln w="38100">
            <a:solidFill>
              <a:schemeClr val="bg2"/>
            </a:solidFill>
            <a:miter lim="800000"/>
            <a:headEnd/>
            <a:tailEnd/>
          </a:ln>
        </p:spPr>
      </p:pic>
      <p:pic>
        <p:nvPicPr>
          <p:cNvPr id="7173" name="Picture 11">
            <a:extLst>
              <a:ext uri="{FF2B5EF4-FFF2-40B4-BE49-F238E27FC236}">
                <a16:creationId xmlns:a16="http://schemas.microsoft.com/office/drawing/2014/main" id="{29392891-3E86-497D-8543-A676942EF70E}"/>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73063" y="4508500"/>
            <a:ext cx="6288087" cy="2087563"/>
          </a:xfrm>
          <a:noFill/>
          <a:ln w="38100">
            <a:solidFill>
              <a:schemeClr val="bg2"/>
            </a:solidFill>
            <a:miter lim="800000"/>
            <a:headEnd/>
            <a:tailEnd/>
          </a:ln>
        </p:spPr>
      </p:pic>
      <p:sp>
        <p:nvSpPr>
          <p:cNvPr id="227343" name="Text Box 15">
            <a:extLst>
              <a:ext uri="{FF2B5EF4-FFF2-40B4-BE49-F238E27FC236}">
                <a16:creationId xmlns:a16="http://schemas.microsoft.com/office/drawing/2014/main" id="{AE979C40-DE70-488E-B45C-9E62E63045C0}"/>
              </a:ext>
            </a:extLst>
          </p:cNvPr>
          <p:cNvSpPr txBox="1">
            <a:spLocks noChangeArrowheads="1"/>
          </p:cNvSpPr>
          <p:nvPr/>
        </p:nvSpPr>
        <p:spPr bwMode="auto">
          <a:xfrm>
            <a:off x="6788150" y="4495800"/>
            <a:ext cx="2143125" cy="195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If the slip vector changes orientation along strike, the fault is described as a </a:t>
            </a:r>
            <a:r>
              <a:rPr lang="en-GB" altLang="en-US" sz="1700" dirty="0">
                <a:solidFill>
                  <a:srgbClr val="FF66CC"/>
                </a:solidFill>
                <a:effectLst>
                  <a:outerShdw blurRad="38100" dist="38100" dir="2700000" algn="tl">
                    <a:srgbClr val="000000"/>
                  </a:outerShdw>
                </a:effectLst>
                <a:latin typeface="Arial" panose="020B0604020202020204" pitchFamily="34" charset="0"/>
              </a:rPr>
              <a:t>rotational</a:t>
            </a:r>
            <a:r>
              <a:rPr lang="en-GB" altLang="en-US" sz="1700" dirty="0">
                <a:effectLst>
                  <a:outerShdw blurRad="38100" dist="38100" dir="2700000" algn="tl">
                    <a:srgbClr val="000000"/>
                  </a:outerShdw>
                </a:effectLst>
                <a:latin typeface="Arial" panose="020B0604020202020204" pitchFamily="34" charset="0"/>
              </a:rPr>
              <a:t> fault</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C3BDBD8F-A173-4842-95E0-AEF1C54897E3}"/>
              </a:ext>
            </a:extLst>
          </p:cNvPr>
          <p:cNvSpPr>
            <a:spLocks noGrp="1" noChangeArrowheads="1"/>
          </p:cNvSpPr>
          <p:nvPr>
            <p:ph type="title"/>
          </p:nvPr>
        </p:nvSpPr>
        <p:spPr>
          <a:noFill/>
        </p:spPr>
        <p:txBody>
          <a:bodyPr/>
          <a:lstStyle/>
          <a:p>
            <a:r>
              <a:rPr lang="en-GB" altLang="en-US">
                <a:effectLst/>
              </a:rPr>
              <a:t>Some examples</a:t>
            </a:r>
          </a:p>
        </p:txBody>
      </p:sp>
      <p:sp>
        <p:nvSpPr>
          <p:cNvPr id="8195" name="Rectangle 3">
            <a:extLst>
              <a:ext uri="{FF2B5EF4-FFF2-40B4-BE49-F238E27FC236}">
                <a16:creationId xmlns:a16="http://schemas.microsoft.com/office/drawing/2014/main" id="{00CFF56C-AFF5-4C69-B566-013E025AF7D5}"/>
              </a:ext>
            </a:extLst>
          </p:cNvPr>
          <p:cNvSpPr>
            <a:spLocks noGrp="1" noChangeArrowheads="1"/>
          </p:cNvSpPr>
          <p:nvPr>
            <p:ph type="body" sz="half" idx="1"/>
          </p:nvPr>
        </p:nvSpPr>
        <p:spPr>
          <a:xfrm>
            <a:off x="4837113" y="6419850"/>
            <a:ext cx="2700337" cy="323850"/>
          </a:xfrm>
          <a:noFill/>
        </p:spPr>
        <p:txBody>
          <a:bodyPr/>
          <a:lstStyle/>
          <a:p>
            <a:pPr marL="177800" indent="-177800">
              <a:lnSpc>
                <a:spcPct val="100000"/>
              </a:lnSpc>
              <a:spcBef>
                <a:spcPct val="75000"/>
              </a:spcBef>
              <a:buFont typeface="Times" panose="02020603050405020304" pitchFamily="18" charset="0"/>
              <a:buNone/>
            </a:pPr>
            <a:r>
              <a:rPr lang="en-GB" altLang="en-US" sz="1400">
                <a:solidFill>
                  <a:srgbClr val="FFFF00"/>
                </a:solidFill>
                <a:effectLst/>
              </a:rPr>
              <a:t>Low angle reverse fault (thrust)</a:t>
            </a:r>
          </a:p>
        </p:txBody>
      </p:sp>
      <p:sp>
        <p:nvSpPr>
          <p:cNvPr id="8198" name="Rectangle 13">
            <a:extLst>
              <a:ext uri="{FF2B5EF4-FFF2-40B4-BE49-F238E27FC236}">
                <a16:creationId xmlns:a16="http://schemas.microsoft.com/office/drawing/2014/main" id="{C3E56A70-D73E-4988-801C-44CA34B49588}"/>
              </a:ext>
            </a:extLst>
          </p:cNvPr>
          <p:cNvSpPr>
            <a:spLocks noChangeArrowheads="1"/>
          </p:cNvSpPr>
          <p:nvPr/>
        </p:nvSpPr>
        <p:spPr bwMode="auto">
          <a:xfrm>
            <a:off x="5308600" y="3903663"/>
            <a:ext cx="327977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0000"/>
              </a:lnSpc>
              <a:spcBef>
                <a:spcPct val="75000"/>
              </a:spcBef>
              <a:buClr>
                <a:schemeClr val="folHlink"/>
              </a:buClr>
              <a:buSzPct val="100000"/>
              <a:buFont typeface="Times" panose="02020603050405020304" pitchFamily="18" charset="0"/>
              <a:buNone/>
            </a:pPr>
            <a:r>
              <a:rPr lang="en-GB" altLang="en-US" sz="1400">
                <a:solidFill>
                  <a:srgbClr val="FFFF00"/>
                </a:solidFill>
                <a:effectLst/>
                <a:latin typeface="Arial" panose="020B0604020202020204" pitchFamily="34" charset="0"/>
              </a:rPr>
              <a:t>Low angle normal faults, slightly listric</a:t>
            </a:r>
          </a:p>
        </p:txBody>
      </p:sp>
      <p:pic>
        <p:nvPicPr>
          <p:cNvPr id="8201" name="Picture 9" descr="02b">
            <a:extLst>
              <a:ext uri="{FF2B5EF4-FFF2-40B4-BE49-F238E27FC236}">
                <a16:creationId xmlns:a16="http://schemas.microsoft.com/office/drawing/2014/main" id="{4E6E49C7-C5C8-456A-9CC1-81296E62E3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38" y="4022725"/>
            <a:ext cx="4398962" cy="26558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200" name="Picture 8" descr="02c">
            <a:extLst>
              <a:ext uri="{FF2B5EF4-FFF2-40B4-BE49-F238E27FC236}">
                <a16:creationId xmlns:a16="http://schemas.microsoft.com/office/drawing/2014/main" id="{7FA23CE6-31B5-4B0E-8183-F4FB69B5C156}"/>
              </a:ext>
            </a:extLst>
          </p:cNvPr>
          <p:cNvPicPr>
            <a:picLocks noChangeAspect="1" noChangeArrowheads="1"/>
          </p:cNvPicPr>
          <p:nvPr/>
        </p:nvPicPr>
        <p:blipFill>
          <a:blip r:embed="rId4">
            <a:lum contrast="-10000"/>
            <a:extLst>
              <a:ext uri="{28A0092B-C50C-407E-A947-70E740481C1C}">
                <a14:useLocalDpi xmlns:a14="http://schemas.microsoft.com/office/drawing/2010/main" val="0"/>
              </a:ext>
            </a:extLst>
          </a:blip>
          <a:srcRect/>
          <a:stretch>
            <a:fillRect/>
          </a:stretch>
        </p:blipFill>
        <p:spPr bwMode="auto">
          <a:xfrm>
            <a:off x="363538" y="876300"/>
            <a:ext cx="8347075" cy="29591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A63B55D-EE39-4982-B4BB-5613D5FB87C4}"/>
              </a:ext>
            </a:extLst>
          </p:cNvPr>
          <p:cNvSpPr>
            <a:spLocks noGrp="1" noChangeArrowheads="1"/>
          </p:cNvSpPr>
          <p:nvPr>
            <p:ph type="title"/>
          </p:nvPr>
        </p:nvSpPr>
        <p:spPr>
          <a:noFill/>
        </p:spPr>
        <p:txBody>
          <a:bodyPr/>
          <a:lstStyle/>
          <a:p>
            <a:r>
              <a:rPr lang="en-GB" altLang="en-US">
                <a:effectLst/>
              </a:rPr>
              <a:t>The orientation and magnitude of the slip vector</a:t>
            </a:r>
          </a:p>
        </p:txBody>
      </p:sp>
      <p:sp>
        <p:nvSpPr>
          <p:cNvPr id="9219" name="Rectangle 3">
            <a:extLst>
              <a:ext uri="{FF2B5EF4-FFF2-40B4-BE49-F238E27FC236}">
                <a16:creationId xmlns:a16="http://schemas.microsoft.com/office/drawing/2014/main" id="{54C33CA8-1393-441B-8796-D7BA6971B327}"/>
              </a:ext>
            </a:extLst>
          </p:cNvPr>
          <p:cNvSpPr>
            <a:spLocks noGrp="1" noChangeArrowheads="1"/>
          </p:cNvSpPr>
          <p:nvPr>
            <p:ph type="body" sz="half" idx="1"/>
          </p:nvPr>
        </p:nvSpPr>
        <p:spPr>
          <a:xfrm>
            <a:off x="125413" y="769938"/>
            <a:ext cx="8715375" cy="2743200"/>
          </a:xfrm>
          <a:noFill/>
        </p:spPr>
        <p:txBody>
          <a:bodyPr/>
          <a:lstStyle/>
          <a:p>
            <a:pPr marL="180000" indent="-180000">
              <a:spcBef>
                <a:spcPct val="75000"/>
              </a:spcBef>
            </a:pPr>
            <a:r>
              <a:rPr lang="en-GB" altLang="en-US" sz="1700" dirty="0">
                <a:effectLst/>
              </a:rPr>
              <a:t>The </a:t>
            </a:r>
            <a:r>
              <a:rPr lang="en-GB" altLang="en-US" sz="1700" dirty="0">
                <a:solidFill>
                  <a:srgbClr val="FF6600"/>
                </a:solidFill>
                <a:effectLst/>
              </a:rPr>
              <a:t>orientation and magnitude of the slip vector</a:t>
            </a:r>
            <a:r>
              <a:rPr lang="en-GB" altLang="en-US" sz="1700" dirty="0">
                <a:effectLst/>
              </a:rPr>
              <a:t> may be determined if we have </a:t>
            </a:r>
          </a:p>
          <a:p>
            <a:pPr marL="360000" lvl="1" indent="0">
              <a:spcBef>
                <a:spcPct val="30000"/>
              </a:spcBef>
              <a:buClr>
                <a:srgbClr val="FF66CC"/>
              </a:buClr>
              <a:buNone/>
            </a:pPr>
            <a:r>
              <a:rPr lang="en-GB" altLang="en-US" sz="1700" dirty="0">
                <a:solidFill>
                  <a:srgbClr val="FF66CC"/>
                </a:solidFill>
                <a:effectLst/>
              </a:rPr>
              <a:t>the strik</a:t>
            </a:r>
            <a:r>
              <a:rPr lang="en-GB" altLang="en-US" sz="1700" spc="300" dirty="0">
                <a:solidFill>
                  <a:srgbClr val="FF66CC"/>
                </a:solidFill>
                <a:effectLst/>
              </a:rPr>
              <a:t>e/</a:t>
            </a:r>
            <a:r>
              <a:rPr lang="en-GB" altLang="en-US" sz="1700" dirty="0">
                <a:solidFill>
                  <a:srgbClr val="FF66CC"/>
                </a:solidFill>
                <a:effectLst/>
              </a:rPr>
              <a:t>dip of the fault</a:t>
            </a:r>
          </a:p>
          <a:p>
            <a:pPr marL="360000" lvl="1" indent="-304800">
              <a:spcBef>
                <a:spcPct val="30000"/>
              </a:spcBef>
              <a:buFont typeface="Times" panose="02020603050405020304" pitchFamily="18" charset="0"/>
              <a:buNone/>
            </a:pPr>
            <a:r>
              <a:rPr lang="en-GB" altLang="en-US" sz="1700" dirty="0">
                <a:effectLst/>
              </a:rPr>
              <a:t>	and either</a:t>
            </a:r>
          </a:p>
          <a:p>
            <a:pPr marL="630000" lvl="1" indent="-270000">
              <a:spcBef>
                <a:spcPct val="30000"/>
              </a:spcBef>
              <a:buClr>
                <a:srgbClr val="FF6600"/>
              </a:buClr>
              <a:buFont typeface="Times" panose="02020603050405020304" pitchFamily="18" charset="0"/>
              <a:buAutoNum type="alphaUcPeriod"/>
            </a:pPr>
            <a:r>
              <a:rPr lang="en-GB" altLang="en-US" sz="1700" dirty="0">
                <a:solidFill>
                  <a:srgbClr val="FF66CC"/>
                </a:solidFill>
                <a:effectLst/>
              </a:rPr>
              <a:t>the direction of slip on the fault plane (typically from slickensides) and one apparent offset of a surface with known strik</a:t>
            </a:r>
            <a:r>
              <a:rPr lang="en-GB" altLang="en-US" sz="1700" spc="300" dirty="0">
                <a:solidFill>
                  <a:srgbClr val="FF66CC"/>
                </a:solidFill>
                <a:effectLst/>
              </a:rPr>
              <a:t>e/</a:t>
            </a:r>
            <a:r>
              <a:rPr lang="en-GB" altLang="en-US" sz="1700" dirty="0">
                <a:solidFill>
                  <a:srgbClr val="FF66CC"/>
                </a:solidFill>
                <a:effectLst/>
              </a:rPr>
              <a:t>dip</a:t>
            </a:r>
          </a:p>
          <a:p>
            <a:pPr marL="666000" lvl="1" indent="-304800">
              <a:spcBef>
                <a:spcPts val="400"/>
              </a:spcBef>
              <a:buFont typeface="Times" panose="02020603050405020304" pitchFamily="18" charset="0"/>
              <a:buNone/>
            </a:pPr>
            <a:r>
              <a:rPr lang="en-GB" altLang="en-US" sz="1700" dirty="0">
                <a:effectLst/>
              </a:rPr>
              <a:t>or</a:t>
            </a:r>
          </a:p>
          <a:p>
            <a:pPr marL="630000" lvl="1" indent="-270000">
              <a:spcBef>
                <a:spcPct val="30000"/>
              </a:spcBef>
              <a:buClr>
                <a:srgbClr val="FF6600"/>
              </a:buClr>
              <a:buFont typeface="Times" panose="02020603050405020304" pitchFamily="18" charset="0"/>
              <a:buAutoNum type="alphaUcPeriod" startAt="2"/>
            </a:pPr>
            <a:r>
              <a:rPr lang="en-GB" altLang="en-US" sz="1700" dirty="0">
                <a:solidFill>
                  <a:srgbClr val="FF66CC"/>
                </a:solidFill>
                <a:effectLst/>
              </a:rPr>
              <a:t>two apparent offsets of surfaces with known (and different) strik</a:t>
            </a:r>
            <a:r>
              <a:rPr lang="en-GB" altLang="en-US" sz="1700" spc="300" dirty="0">
                <a:solidFill>
                  <a:srgbClr val="FF66CC"/>
                </a:solidFill>
                <a:effectLst/>
              </a:rPr>
              <a:t>e/</a:t>
            </a:r>
            <a:r>
              <a:rPr lang="en-GB" altLang="en-US" sz="1700" dirty="0">
                <a:solidFill>
                  <a:srgbClr val="FF66CC"/>
                </a:solidFill>
                <a:effectLst/>
              </a:rPr>
              <a:t>dips</a:t>
            </a:r>
          </a:p>
        </p:txBody>
      </p:sp>
      <p:pic>
        <p:nvPicPr>
          <p:cNvPr id="9220" name="Picture 9">
            <a:extLst>
              <a:ext uri="{FF2B5EF4-FFF2-40B4-BE49-F238E27FC236}">
                <a16:creationId xmlns:a16="http://schemas.microsoft.com/office/drawing/2014/main" id="{77AC2307-0C92-4A97-9B73-DAE91B981AF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36575" y="3592513"/>
            <a:ext cx="5429250" cy="3044825"/>
          </a:xfrm>
          <a:noFill/>
          <a:ln w="38100" cap="flat">
            <a:solidFill>
              <a:schemeClr val="bg2"/>
            </a:solidFill>
            <a:miter lim="800000"/>
            <a:headEnd/>
            <a:tailEnd/>
          </a:ln>
        </p:spPr>
      </p:pic>
      <p:sp>
        <p:nvSpPr>
          <p:cNvPr id="235531" name="Text Box 11">
            <a:extLst>
              <a:ext uri="{FF2B5EF4-FFF2-40B4-BE49-F238E27FC236}">
                <a16:creationId xmlns:a16="http://schemas.microsoft.com/office/drawing/2014/main" id="{65C2C206-77F0-415B-94A6-84BAC69DFA70}"/>
              </a:ext>
            </a:extLst>
          </p:cNvPr>
          <p:cNvSpPr txBox="1">
            <a:spLocks noChangeArrowheads="1"/>
          </p:cNvSpPr>
          <p:nvPr/>
        </p:nvSpPr>
        <p:spPr bwMode="auto">
          <a:xfrm>
            <a:off x="6142038" y="3611563"/>
            <a:ext cx="2400300" cy="3097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None/>
            </a:pPr>
            <a:r>
              <a:rPr lang="en-GB" altLang="en-US" sz="1400" dirty="0">
                <a:solidFill>
                  <a:srgbClr val="FFFF00"/>
                </a:solidFill>
                <a:effectLst/>
                <a:latin typeface="Arial" panose="020B0604020202020204" pitchFamily="34" charset="0"/>
              </a:rPr>
              <a:t>The orientation and magnitude of the slip vector may be found by constructing a fault plane section with the aid of a stereogram (as we did in Practical 4)</a:t>
            </a:r>
          </a:p>
          <a:p>
            <a:pPr>
              <a:lnSpc>
                <a:spcPct val="120000"/>
              </a:lnSpc>
              <a:spcBef>
                <a:spcPct val="75000"/>
              </a:spcBef>
              <a:buClr>
                <a:schemeClr val="folHlink"/>
              </a:buClr>
              <a:buSzPct val="100000"/>
              <a:buFont typeface="Times" panose="02020603050405020304" pitchFamily="18" charset="0"/>
              <a:buNone/>
            </a:pPr>
            <a:r>
              <a:rPr lang="en-GB" altLang="en-US" sz="1400" dirty="0">
                <a:solidFill>
                  <a:srgbClr val="FFFF00"/>
                </a:solidFill>
                <a:effectLst/>
                <a:latin typeface="Arial" panose="020B0604020202020204" pitchFamily="34" charset="0"/>
              </a:rPr>
              <a:t>In areas with topography, the fault plane section may be constructed using stratum contours</a:t>
            </a:r>
            <a:endParaRPr lang="en-GB" altLang="en-US" sz="1400" dirty="0">
              <a:solidFill>
                <a:srgbClr val="FFFF00"/>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55F2B69-7B77-4B2A-85E9-866ABC3699B3}"/>
              </a:ext>
            </a:extLst>
          </p:cNvPr>
          <p:cNvSpPr>
            <a:spLocks noGrp="1" noChangeArrowheads="1"/>
          </p:cNvSpPr>
          <p:nvPr>
            <p:ph type="title"/>
          </p:nvPr>
        </p:nvSpPr>
        <p:spPr>
          <a:noFill/>
        </p:spPr>
        <p:txBody>
          <a:bodyPr/>
          <a:lstStyle/>
          <a:p>
            <a:r>
              <a:rPr lang="en-GB" altLang="en-US">
                <a:effectLst/>
              </a:rPr>
              <a:t>Separation of layers</a:t>
            </a:r>
          </a:p>
        </p:txBody>
      </p:sp>
      <p:sp>
        <p:nvSpPr>
          <p:cNvPr id="10243" name="Rectangle 3">
            <a:extLst>
              <a:ext uri="{FF2B5EF4-FFF2-40B4-BE49-F238E27FC236}">
                <a16:creationId xmlns:a16="http://schemas.microsoft.com/office/drawing/2014/main" id="{A25DAFC3-8B8E-4F52-9B37-00EDE9005A4D}"/>
              </a:ext>
            </a:extLst>
          </p:cNvPr>
          <p:cNvSpPr>
            <a:spLocks noGrp="1" noChangeArrowheads="1"/>
          </p:cNvSpPr>
          <p:nvPr>
            <p:ph type="body" sz="half" idx="1"/>
          </p:nvPr>
        </p:nvSpPr>
        <p:spPr>
          <a:xfrm>
            <a:off x="146050" y="755650"/>
            <a:ext cx="6718300" cy="965200"/>
          </a:xfrm>
          <a:noFill/>
        </p:spPr>
        <p:txBody>
          <a:bodyPr/>
          <a:lstStyle/>
          <a:p>
            <a:pPr marL="177800" indent="-177800">
              <a:lnSpc>
                <a:spcPct val="110000"/>
              </a:lnSpc>
              <a:spcBef>
                <a:spcPct val="75000"/>
              </a:spcBef>
            </a:pPr>
            <a:r>
              <a:rPr lang="en-GB" altLang="en-US" sz="1700" dirty="0">
                <a:effectLst/>
              </a:rPr>
              <a:t>When we have the </a:t>
            </a:r>
            <a:r>
              <a:rPr lang="en-GB" altLang="en-US" sz="1700" dirty="0">
                <a:solidFill>
                  <a:srgbClr val="FF66CC"/>
                </a:solidFill>
                <a:effectLst/>
              </a:rPr>
              <a:t>strik</a:t>
            </a:r>
            <a:r>
              <a:rPr lang="en-GB" altLang="en-US" sz="1700" spc="300" dirty="0">
                <a:solidFill>
                  <a:srgbClr val="FF66CC"/>
                </a:solidFill>
                <a:effectLst/>
              </a:rPr>
              <a:t>e/</a:t>
            </a:r>
            <a:r>
              <a:rPr lang="en-GB" altLang="en-US" sz="1700" dirty="0">
                <a:solidFill>
                  <a:srgbClr val="FF66CC"/>
                </a:solidFill>
                <a:effectLst/>
              </a:rPr>
              <a:t>dip of the fault</a:t>
            </a:r>
            <a:r>
              <a:rPr lang="en-GB" altLang="en-US" sz="1700" dirty="0">
                <a:effectLst/>
              </a:rPr>
              <a:t> and the </a:t>
            </a:r>
            <a:r>
              <a:rPr lang="en-GB" altLang="en-US" sz="1700" dirty="0">
                <a:solidFill>
                  <a:srgbClr val="FF66CC"/>
                </a:solidFill>
                <a:effectLst/>
              </a:rPr>
              <a:t>offset of only one planar feature</a:t>
            </a:r>
            <a:r>
              <a:rPr lang="en-GB" altLang="en-US" sz="1700" dirty="0">
                <a:effectLst/>
              </a:rPr>
              <a:t> (</a:t>
            </a:r>
            <a:r>
              <a:rPr lang="en-GB" altLang="en-US" sz="1700" i="1" dirty="0">
                <a:effectLst/>
              </a:rPr>
              <a:t>e.g.</a:t>
            </a:r>
            <a:r>
              <a:rPr lang="en-GB" altLang="en-US" sz="1700" dirty="0">
                <a:effectLst/>
              </a:rPr>
              <a:t>, a lithological contact), the term </a:t>
            </a:r>
            <a:r>
              <a:rPr lang="en-GB" altLang="en-US" sz="1700" dirty="0">
                <a:solidFill>
                  <a:srgbClr val="FF6600"/>
                </a:solidFill>
                <a:effectLst/>
              </a:rPr>
              <a:t>separation</a:t>
            </a:r>
            <a:r>
              <a:rPr lang="en-GB" altLang="en-US" sz="1700" dirty="0">
                <a:effectLst/>
              </a:rPr>
              <a:t> is used</a:t>
            </a:r>
          </a:p>
        </p:txBody>
      </p:sp>
      <p:pic>
        <p:nvPicPr>
          <p:cNvPr id="10244" name="Picture 8">
            <a:extLst>
              <a:ext uri="{FF2B5EF4-FFF2-40B4-BE49-F238E27FC236}">
                <a16:creationId xmlns:a16="http://schemas.microsoft.com/office/drawing/2014/main" id="{D73D1FAC-23FF-4618-9EE7-5F2A2F01CAB3}"/>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73050" y="1876425"/>
            <a:ext cx="3967163" cy="3579813"/>
          </a:xfrm>
          <a:noFill/>
          <a:ln w="38100" cap="flat">
            <a:solidFill>
              <a:schemeClr val="bg2"/>
            </a:solidFill>
            <a:miter lim="800000"/>
            <a:headEnd/>
            <a:tailEnd/>
          </a:ln>
        </p:spPr>
      </p:pic>
      <p:pic>
        <p:nvPicPr>
          <p:cNvPr id="10245" name="Picture 10">
            <a:extLst>
              <a:ext uri="{FF2B5EF4-FFF2-40B4-BE49-F238E27FC236}">
                <a16:creationId xmlns:a16="http://schemas.microsoft.com/office/drawing/2014/main" id="{D146D585-7AA2-4C71-914E-3DC421E7C34C}"/>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421188" y="3914775"/>
            <a:ext cx="4452937" cy="2792413"/>
          </a:xfrm>
          <a:noFill/>
          <a:ln w="38100" cap="flat">
            <a:solidFill>
              <a:schemeClr val="bg2"/>
            </a:solidFill>
            <a:miter lim="800000"/>
            <a:headEnd/>
            <a:tailEnd/>
          </a:ln>
        </p:spPr>
      </p:pic>
      <p:sp>
        <p:nvSpPr>
          <p:cNvPr id="231436" name="Text Box 12">
            <a:extLst>
              <a:ext uri="{FF2B5EF4-FFF2-40B4-BE49-F238E27FC236}">
                <a16:creationId xmlns:a16="http://schemas.microsoft.com/office/drawing/2014/main" id="{0CEE2535-B3A4-4A23-B6C5-550C283C15E6}"/>
              </a:ext>
            </a:extLst>
          </p:cNvPr>
          <p:cNvSpPr txBox="1">
            <a:spLocks noChangeArrowheads="1"/>
          </p:cNvSpPr>
          <p:nvPr/>
        </p:nvSpPr>
        <p:spPr bwMode="auto">
          <a:xfrm>
            <a:off x="7256463" y="859650"/>
            <a:ext cx="1730375" cy="293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pPr>
            <a:r>
              <a:rPr lang="en-GB" altLang="en-US" sz="1400" dirty="0">
                <a:solidFill>
                  <a:srgbClr val="FFFF00"/>
                </a:solidFill>
                <a:effectLst>
                  <a:outerShdw blurRad="38100" dist="38100" dir="2700000" algn="tl">
                    <a:srgbClr val="000000"/>
                  </a:outerShdw>
                </a:effectLst>
                <a:latin typeface="Arial" panose="020B0604020202020204" pitchFamily="34" charset="0"/>
              </a:rPr>
              <a:t>Evaluating separation terms commonly utilizes </a:t>
            </a:r>
            <a:r>
              <a:rPr lang="en-GB" altLang="en-US" sz="1400" dirty="0">
                <a:solidFill>
                  <a:srgbClr val="FF66CC"/>
                </a:solidFill>
                <a:effectLst>
                  <a:outerShdw blurRad="38100" dist="38100" dir="2700000" algn="tl">
                    <a:srgbClr val="000000"/>
                  </a:outerShdw>
                </a:effectLst>
                <a:latin typeface="Arial" panose="020B0604020202020204" pitchFamily="34" charset="0"/>
              </a:rPr>
              <a:t>cut-off lines</a:t>
            </a:r>
            <a:r>
              <a:rPr lang="en-GB" altLang="en-US" sz="1400" dirty="0">
                <a:solidFill>
                  <a:srgbClr val="FFFF00"/>
                </a:solidFill>
                <a:effectLst>
                  <a:outerShdw blurRad="38100" dist="38100" dir="2700000" algn="tl">
                    <a:srgbClr val="000000"/>
                  </a:outerShdw>
                </a:effectLst>
                <a:latin typeface="Arial" panose="020B0604020202020204" pitchFamily="34" charset="0"/>
              </a:rPr>
              <a:t> = the intersection of a surface of interest with the fault plane. There are two of these – one for the footwall and one for the hanging wall</a:t>
            </a:r>
          </a:p>
        </p:txBody>
      </p:sp>
      <p:grpSp>
        <p:nvGrpSpPr>
          <p:cNvPr id="10251" name="Group 11">
            <a:extLst>
              <a:ext uri="{FF2B5EF4-FFF2-40B4-BE49-F238E27FC236}">
                <a16:creationId xmlns:a16="http://schemas.microsoft.com/office/drawing/2014/main" id="{F2DB8B1F-B19B-4A22-9392-460AA8EE80DE}"/>
              </a:ext>
            </a:extLst>
          </p:cNvPr>
          <p:cNvGrpSpPr>
            <a:grpSpLocks/>
          </p:cNvGrpSpPr>
          <p:nvPr/>
        </p:nvGrpSpPr>
        <p:grpSpPr bwMode="auto">
          <a:xfrm>
            <a:off x="4421188" y="1509713"/>
            <a:ext cx="2654300" cy="2262187"/>
            <a:chOff x="2757" y="965"/>
            <a:chExt cx="1672" cy="1425"/>
          </a:xfrm>
        </p:grpSpPr>
        <p:sp>
          <p:nvSpPr>
            <p:cNvPr id="10250" name="Rectangle 10">
              <a:extLst>
                <a:ext uri="{FF2B5EF4-FFF2-40B4-BE49-F238E27FC236}">
                  <a16:creationId xmlns:a16="http://schemas.microsoft.com/office/drawing/2014/main" id="{FCD73E32-917C-4237-A291-C66BE3C04B31}"/>
                </a:ext>
              </a:extLst>
            </p:cNvPr>
            <p:cNvSpPr>
              <a:spLocks noChangeArrowheads="1"/>
            </p:cNvSpPr>
            <p:nvPr/>
          </p:nvSpPr>
          <p:spPr bwMode="auto">
            <a:xfrm>
              <a:off x="2757" y="965"/>
              <a:ext cx="1672" cy="142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248" name="Picture 2" descr="GR08.jpg">
              <a:extLst>
                <a:ext uri="{FF2B5EF4-FFF2-40B4-BE49-F238E27FC236}">
                  <a16:creationId xmlns:a16="http://schemas.microsoft.com/office/drawing/2014/main" id="{B04D4548-BC4B-4279-A702-3E685E1AE44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795" y="1003"/>
              <a:ext cx="1598" cy="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grpSp>
      <p:sp>
        <p:nvSpPr>
          <p:cNvPr id="10249" name="Rectangle 3">
            <a:extLst>
              <a:ext uri="{FF2B5EF4-FFF2-40B4-BE49-F238E27FC236}">
                <a16:creationId xmlns:a16="http://schemas.microsoft.com/office/drawing/2014/main" id="{C25EE7BB-E8EA-4C11-9D9E-4DD13FFF9C53}"/>
              </a:ext>
            </a:extLst>
          </p:cNvPr>
          <p:cNvSpPr>
            <a:spLocks noChangeArrowheads="1"/>
          </p:cNvSpPr>
          <p:nvPr/>
        </p:nvSpPr>
        <p:spPr bwMode="auto">
          <a:xfrm>
            <a:off x="273051" y="5586413"/>
            <a:ext cx="3835811"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42950" indent="-2857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1430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002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057400"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146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29718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290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8862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buFont typeface="Times" panose="02020603050405020304" pitchFamily="18" charset="0"/>
              <a:buNone/>
            </a:pPr>
            <a:r>
              <a:rPr lang="en-GB" altLang="en-US" sz="1400" dirty="0">
                <a:solidFill>
                  <a:srgbClr val="FF66CC"/>
                </a:solidFill>
                <a:effectLst/>
              </a:rPr>
              <a:t>Strike separation</a:t>
            </a:r>
            <a:r>
              <a:rPr lang="en-GB" altLang="en-US" sz="1400" dirty="0">
                <a:solidFill>
                  <a:srgbClr val="FFFF00"/>
                </a:solidFill>
                <a:effectLst/>
              </a:rPr>
              <a:t> is the apparent offset parallel to the strike of the fault; </a:t>
            </a:r>
            <a:r>
              <a:rPr lang="en-GB" altLang="en-US" sz="1400" dirty="0">
                <a:solidFill>
                  <a:srgbClr val="FF66CC"/>
                </a:solidFill>
                <a:effectLst/>
              </a:rPr>
              <a:t>all other separation terms</a:t>
            </a:r>
            <a:r>
              <a:rPr lang="en-GB" altLang="en-US" sz="1400" dirty="0">
                <a:solidFill>
                  <a:srgbClr val="FFFF00"/>
                </a:solidFill>
                <a:effectLst/>
              </a:rPr>
              <a:t> are defined in the vertical plane that contains the dip direction of the fault</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8245C478-3E3C-4E3B-BBC9-FEE979022BFA}"/>
              </a:ext>
            </a:extLst>
          </p:cNvPr>
          <p:cNvSpPr>
            <a:spLocks noGrp="1" noChangeArrowheads="1"/>
          </p:cNvSpPr>
          <p:nvPr>
            <p:ph type="ctrTitle" idx="4294967295"/>
          </p:nvPr>
        </p:nvSpPr>
        <p:spPr bwMode="black">
          <a:xfrm>
            <a:off x="239713" y="1493838"/>
            <a:ext cx="8705850" cy="265112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pPr>
            <a:br>
              <a:rPr lang="en-US" altLang="en-US" sz="3500"/>
            </a:br>
            <a:br>
              <a:rPr lang="en-US" altLang="en-US" sz="3500"/>
            </a:br>
            <a:r>
              <a:rPr lang="en-US" altLang="en-US" sz="3500">
                <a:solidFill>
                  <a:srgbClr val="FF6600"/>
                </a:solidFill>
              </a:rPr>
              <a:t>Structures indicating</a:t>
            </a:r>
            <a:r>
              <a:rPr lang="en-US" altLang="en-US" sz="3500"/>
              <a:t> </a:t>
            </a:r>
            <a:r>
              <a:rPr lang="en-US" altLang="en-US" sz="3500">
                <a:solidFill>
                  <a:srgbClr val="FF6600"/>
                </a:solidFill>
              </a:rPr>
              <a:t>slip vector movement sense and orientation</a:t>
            </a:r>
            <a:endParaRPr lang="en-US" altLang="en-US">
              <a:solidFill>
                <a:srgbClr val="FF6600"/>
              </a:solidFill>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28E73FF-972D-4106-8908-F501197F5E03}"/>
              </a:ext>
            </a:extLst>
          </p:cNvPr>
          <p:cNvSpPr>
            <a:spLocks noGrp="1" noChangeArrowheads="1"/>
          </p:cNvSpPr>
          <p:nvPr>
            <p:ph type="title"/>
          </p:nvPr>
        </p:nvSpPr>
        <p:spPr>
          <a:noFill/>
        </p:spPr>
        <p:txBody>
          <a:bodyPr/>
          <a:lstStyle/>
          <a:p>
            <a:r>
              <a:rPr lang="en-GB" altLang="en-US">
                <a:effectLst/>
              </a:rPr>
              <a:t>Folded surfaces near faults</a:t>
            </a:r>
          </a:p>
        </p:txBody>
      </p:sp>
      <p:sp>
        <p:nvSpPr>
          <p:cNvPr id="12291" name="Rectangle 3">
            <a:extLst>
              <a:ext uri="{FF2B5EF4-FFF2-40B4-BE49-F238E27FC236}">
                <a16:creationId xmlns:a16="http://schemas.microsoft.com/office/drawing/2014/main" id="{FFAA6DC1-69F5-4B69-A97C-24547750927A}"/>
              </a:ext>
            </a:extLst>
          </p:cNvPr>
          <p:cNvSpPr>
            <a:spLocks noGrp="1" noChangeArrowheads="1"/>
          </p:cNvSpPr>
          <p:nvPr>
            <p:ph type="body" sz="half" idx="1"/>
          </p:nvPr>
        </p:nvSpPr>
        <p:spPr>
          <a:xfrm>
            <a:off x="136525" y="808038"/>
            <a:ext cx="8770938" cy="1887537"/>
          </a:xfrm>
          <a:noFill/>
        </p:spPr>
        <p:txBody>
          <a:bodyPr/>
          <a:lstStyle/>
          <a:p>
            <a:pPr marL="177800" indent="-177800"/>
            <a:r>
              <a:rPr lang="en-GB" altLang="en-US" sz="1700" dirty="0">
                <a:effectLst/>
              </a:rPr>
              <a:t>The layering cut by faults often bends in a way that allows the movement sense to be determined. These structures are described as </a:t>
            </a:r>
            <a:r>
              <a:rPr lang="en-GB" altLang="en-US" sz="1700" dirty="0">
                <a:solidFill>
                  <a:srgbClr val="FF6600"/>
                </a:solidFill>
                <a:effectLst/>
              </a:rPr>
              <a:t>drag folds</a:t>
            </a:r>
          </a:p>
          <a:p>
            <a:pPr marL="177800" indent="-177800"/>
            <a:r>
              <a:rPr lang="en-GB" altLang="en-US" sz="1700" dirty="0">
                <a:effectLst/>
              </a:rPr>
              <a:t>Drag folds form most easily when the cut-off lines are at a high angle to the slip vector, and so in sub-horizontal sedimentary rocks they are most commonly seen on high angle </a:t>
            </a:r>
            <a:r>
              <a:rPr lang="en-GB" altLang="en-US" sz="1700" dirty="0">
                <a:solidFill>
                  <a:srgbClr val="FF66CC"/>
                </a:solidFill>
                <a:effectLst/>
              </a:rPr>
              <a:t>normal and reverse faults</a:t>
            </a:r>
          </a:p>
        </p:txBody>
      </p:sp>
      <p:pic>
        <p:nvPicPr>
          <p:cNvPr id="12292" name="Picture 4" descr="04b-Rhoose">
            <a:extLst>
              <a:ext uri="{FF2B5EF4-FFF2-40B4-BE49-F238E27FC236}">
                <a16:creationId xmlns:a16="http://schemas.microsoft.com/office/drawing/2014/main" id="{D5FE7330-4E10-422E-8BB1-72FF3C808EDC}"/>
              </a:ext>
            </a:extLst>
          </p:cNvPr>
          <p:cNvPicPr>
            <a:picLocks noGrp="1" noChangeAspect="1" noChangeArrowheads="1"/>
          </p:cNvPicPr>
          <p:nvPr>
            <p:ph sz="quarter" idx="2"/>
          </p:nvPr>
        </p:nvPicPr>
        <p:blipFill>
          <a:blip r:embed="rId3">
            <a:lum bright="4000"/>
            <a:extLst>
              <a:ext uri="{28A0092B-C50C-407E-A947-70E740481C1C}">
                <a14:useLocalDpi xmlns:a14="http://schemas.microsoft.com/office/drawing/2010/main" val="0"/>
              </a:ext>
            </a:extLst>
          </a:blip>
          <a:srcRect/>
          <a:stretch>
            <a:fillRect/>
          </a:stretch>
        </p:blipFill>
        <p:spPr>
          <a:xfrm>
            <a:off x="4229100" y="2986088"/>
            <a:ext cx="4702175" cy="35306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293" name="Picture 8" descr="04a2-BlueBen">
            <a:extLst>
              <a:ext uri="{FF2B5EF4-FFF2-40B4-BE49-F238E27FC236}">
                <a16:creationId xmlns:a16="http://schemas.microsoft.com/office/drawing/2014/main" id="{20FC1B86-D1BC-415B-874B-A0139039EA73}"/>
              </a:ext>
            </a:extLst>
          </p:cNvPr>
          <p:cNvPicPr>
            <a:picLocks noChangeAspect="1" noChangeArrowheads="1"/>
          </p:cNvPicPr>
          <p:nvPr/>
        </p:nvPicPr>
        <p:blipFill>
          <a:blip r:embed="rId4">
            <a:lum bright="4000"/>
            <a:extLst>
              <a:ext uri="{28A0092B-C50C-407E-A947-70E740481C1C}">
                <a14:useLocalDpi xmlns:a14="http://schemas.microsoft.com/office/drawing/2010/main" val="0"/>
              </a:ext>
            </a:extLst>
          </a:blip>
          <a:srcRect/>
          <a:stretch>
            <a:fillRect/>
          </a:stretch>
        </p:blipFill>
        <p:spPr bwMode="auto">
          <a:xfrm>
            <a:off x="222250" y="2990850"/>
            <a:ext cx="3786188" cy="35242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20172" name="Freeform 12">
            <a:extLst>
              <a:ext uri="{FF2B5EF4-FFF2-40B4-BE49-F238E27FC236}">
                <a16:creationId xmlns:a16="http://schemas.microsoft.com/office/drawing/2014/main" id="{938CE0ED-1E03-4617-AB9D-931ED0F9119E}"/>
              </a:ext>
            </a:extLst>
          </p:cNvPr>
          <p:cNvSpPr>
            <a:spLocks/>
          </p:cNvSpPr>
          <p:nvPr/>
        </p:nvSpPr>
        <p:spPr bwMode="auto">
          <a:xfrm>
            <a:off x="2300288" y="4017963"/>
            <a:ext cx="203200" cy="276225"/>
          </a:xfrm>
          <a:custGeom>
            <a:avLst/>
            <a:gdLst>
              <a:gd name="T0" fmla="*/ 0 w 128"/>
              <a:gd name="T1" fmla="*/ 174 h 174"/>
              <a:gd name="T2" fmla="*/ 128 w 128"/>
              <a:gd name="T3" fmla="*/ 0 h 174"/>
              <a:gd name="T4" fmla="*/ 58 w 128"/>
              <a:gd name="T5" fmla="*/ 17 h 174"/>
            </a:gdLst>
            <a:ahLst/>
            <a:cxnLst>
              <a:cxn ang="0">
                <a:pos x="T0" y="T1"/>
              </a:cxn>
              <a:cxn ang="0">
                <a:pos x="T2" y="T3"/>
              </a:cxn>
              <a:cxn ang="0">
                <a:pos x="T4" y="T5"/>
              </a:cxn>
            </a:cxnLst>
            <a:rect l="0" t="0" r="r" b="b"/>
            <a:pathLst>
              <a:path w="128" h="174">
                <a:moveTo>
                  <a:pt x="0" y="174"/>
                </a:moveTo>
                <a:lnTo>
                  <a:pt x="128" y="0"/>
                </a:lnTo>
                <a:lnTo>
                  <a:pt x="58" y="17"/>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20173" name="Freeform 13">
            <a:extLst>
              <a:ext uri="{FF2B5EF4-FFF2-40B4-BE49-F238E27FC236}">
                <a16:creationId xmlns:a16="http://schemas.microsoft.com/office/drawing/2014/main" id="{65E6E32F-2706-4044-829C-8179E54C78D7}"/>
              </a:ext>
            </a:extLst>
          </p:cNvPr>
          <p:cNvSpPr>
            <a:spLocks/>
          </p:cNvSpPr>
          <p:nvPr/>
        </p:nvSpPr>
        <p:spPr bwMode="auto">
          <a:xfrm rot="6367655">
            <a:off x="6191251" y="4344987"/>
            <a:ext cx="203200" cy="276225"/>
          </a:xfrm>
          <a:custGeom>
            <a:avLst/>
            <a:gdLst>
              <a:gd name="T0" fmla="*/ 0 w 128"/>
              <a:gd name="T1" fmla="*/ 174 h 174"/>
              <a:gd name="T2" fmla="*/ 128 w 128"/>
              <a:gd name="T3" fmla="*/ 0 h 174"/>
              <a:gd name="T4" fmla="*/ 58 w 128"/>
              <a:gd name="T5" fmla="*/ 17 h 174"/>
            </a:gdLst>
            <a:ahLst/>
            <a:cxnLst>
              <a:cxn ang="0">
                <a:pos x="T0" y="T1"/>
              </a:cxn>
              <a:cxn ang="0">
                <a:pos x="T2" y="T3"/>
              </a:cxn>
              <a:cxn ang="0">
                <a:pos x="T4" y="T5"/>
              </a:cxn>
            </a:cxnLst>
            <a:rect l="0" t="0" r="r" b="b"/>
            <a:pathLst>
              <a:path w="128" h="174">
                <a:moveTo>
                  <a:pt x="0" y="174"/>
                </a:moveTo>
                <a:lnTo>
                  <a:pt x="128" y="0"/>
                </a:lnTo>
                <a:lnTo>
                  <a:pt x="58" y="17"/>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a:extLst>
              <a:ext uri="{FF2B5EF4-FFF2-40B4-BE49-F238E27FC236}">
                <a16:creationId xmlns:a16="http://schemas.microsoft.com/office/drawing/2014/main" id="{9D380AB1-ECA8-4532-BF27-E9E413884841}"/>
              </a:ext>
            </a:extLst>
          </p:cNvPr>
          <p:cNvSpPr>
            <a:spLocks noGrp="1" noChangeArrowheads="1"/>
          </p:cNvSpPr>
          <p:nvPr>
            <p:ph type="title"/>
          </p:nvPr>
        </p:nvSpPr>
        <p:spPr>
          <a:noFill/>
        </p:spPr>
        <p:txBody>
          <a:bodyPr/>
          <a:lstStyle/>
          <a:p>
            <a:r>
              <a:rPr lang="en-GB" altLang="en-US">
                <a:effectLst/>
              </a:rPr>
              <a:t>Folded surfaces near faults: fault propagation folds</a:t>
            </a:r>
          </a:p>
        </p:txBody>
      </p:sp>
      <p:sp>
        <p:nvSpPr>
          <p:cNvPr id="13317" name="Rectangle 3">
            <a:extLst>
              <a:ext uri="{FF2B5EF4-FFF2-40B4-BE49-F238E27FC236}">
                <a16:creationId xmlns:a16="http://schemas.microsoft.com/office/drawing/2014/main" id="{57F30D80-D94C-4A6A-A290-BA23B7CBCF6E}"/>
              </a:ext>
            </a:extLst>
          </p:cNvPr>
          <p:cNvSpPr>
            <a:spLocks noGrp="1" noChangeArrowheads="1"/>
          </p:cNvSpPr>
          <p:nvPr>
            <p:ph type="body" sz="half" idx="1"/>
          </p:nvPr>
        </p:nvSpPr>
        <p:spPr>
          <a:xfrm>
            <a:off x="100013" y="736600"/>
            <a:ext cx="4459287" cy="1366838"/>
          </a:xfrm>
          <a:noFill/>
        </p:spPr>
        <p:txBody>
          <a:bodyPr/>
          <a:lstStyle/>
          <a:p>
            <a:pPr marL="177800" indent="-177800"/>
            <a:r>
              <a:rPr lang="en-GB" altLang="en-US" sz="1700" dirty="0">
                <a:effectLst/>
              </a:rPr>
              <a:t>Many drag folds result from</a:t>
            </a:r>
            <a:r>
              <a:rPr lang="en-GB" altLang="en-US" sz="1700" dirty="0">
                <a:solidFill>
                  <a:srgbClr val="FF66CC"/>
                </a:solidFill>
                <a:effectLst/>
              </a:rPr>
              <a:t> bending of layers ahead of propagating fault tips</a:t>
            </a:r>
            <a:r>
              <a:rPr lang="en-GB" altLang="en-US" sz="1700" dirty="0">
                <a:effectLst/>
              </a:rPr>
              <a:t> – folding precedes the passage of the fault; they are </a:t>
            </a:r>
            <a:r>
              <a:rPr lang="en-GB" altLang="en-US" sz="1700" dirty="0">
                <a:solidFill>
                  <a:srgbClr val="FF6600"/>
                </a:solidFill>
                <a:effectLst/>
              </a:rPr>
              <a:t>breached</a:t>
            </a:r>
            <a:r>
              <a:rPr lang="en-GB" altLang="en-US" sz="1700" dirty="0">
                <a:effectLst/>
              </a:rPr>
              <a:t> </a:t>
            </a:r>
            <a:r>
              <a:rPr lang="en-GB" altLang="en-US" sz="1700" dirty="0">
                <a:solidFill>
                  <a:srgbClr val="FF6600"/>
                </a:solidFill>
                <a:effectLst/>
              </a:rPr>
              <a:t>fault propagation folds</a:t>
            </a:r>
          </a:p>
        </p:txBody>
      </p:sp>
      <p:pic>
        <p:nvPicPr>
          <p:cNvPr id="13318" name="Picture 7" descr="04a-BroadHaven">
            <a:extLst>
              <a:ext uri="{FF2B5EF4-FFF2-40B4-BE49-F238E27FC236}">
                <a16:creationId xmlns:a16="http://schemas.microsoft.com/office/drawing/2014/main" id="{3576AE5F-0654-4743-AE38-80E9B2A08F0E}"/>
              </a:ext>
            </a:extLst>
          </p:cNvPr>
          <p:cNvPicPr>
            <a:picLocks noGrp="1" noChangeAspect="1" noChangeArrowheads="1"/>
          </p:cNvPicPr>
          <p:nvPr>
            <p:ph sz="quarter" idx="2"/>
          </p:nvPr>
        </p:nvPicPr>
        <p:blipFill>
          <a:blip r:embed="rId3">
            <a:lum bright="4000"/>
            <a:extLst>
              <a:ext uri="{28A0092B-C50C-407E-A947-70E740481C1C}">
                <a14:useLocalDpi xmlns:a14="http://schemas.microsoft.com/office/drawing/2010/main" val="0"/>
              </a:ext>
            </a:extLst>
          </a:blip>
          <a:srcRect/>
          <a:stretch>
            <a:fillRect/>
          </a:stretch>
        </p:blipFill>
        <p:spPr>
          <a:xfrm>
            <a:off x="4737100" y="3590925"/>
            <a:ext cx="4244975" cy="31178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8603" name="Freeform 11">
            <a:extLst>
              <a:ext uri="{FF2B5EF4-FFF2-40B4-BE49-F238E27FC236}">
                <a16:creationId xmlns:a16="http://schemas.microsoft.com/office/drawing/2014/main" id="{F572F89C-F190-4BD0-8B91-C2A93FDC8EA9}"/>
              </a:ext>
            </a:extLst>
          </p:cNvPr>
          <p:cNvSpPr>
            <a:spLocks/>
          </p:cNvSpPr>
          <p:nvPr/>
        </p:nvSpPr>
        <p:spPr bwMode="auto">
          <a:xfrm>
            <a:off x="5640388" y="4772025"/>
            <a:ext cx="287337" cy="138113"/>
          </a:xfrm>
          <a:custGeom>
            <a:avLst/>
            <a:gdLst>
              <a:gd name="T0" fmla="*/ 181 w 181"/>
              <a:gd name="T1" fmla="*/ 75 h 75"/>
              <a:gd name="T2" fmla="*/ 0 w 181"/>
              <a:gd name="T3" fmla="*/ 17 h 75"/>
              <a:gd name="T4" fmla="*/ 70 w 181"/>
              <a:gd name="T5" fmla="*/ 0 h 75"/>
            </a:gdLst>
            <a:ahLst/>
            <a:cxnLst>
              <a:cxn ang="0">
                <a:pos x="T0" y="T1"/>
              </a:cxn>
              <a:cxn ang="0">
                <a:pos x="T2" y="T3"/>
              </a:cxn>
              <a:cxn ang="0">
                <a:pos x="T4" y="T5"/>
              </a:cxn>
            </a:cxnLst>
            <a:rect l="0" t="0" r="r" b="b"/>
            <a:pathLst>
              <a:path w="181" h="75">
                <a:moveTo>
                  <a:pt x="181" y="75"/>
                </a:moveTo>
                <a:lnTo>
                  <a:pt x="0" y="17"/>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13327" name="Picture 15" descr="04b2-Crantock">
            <a:extLst>
              <a:ext uri="{FF2B5EF4-FFF2-40B4-BE49-F238E27FC236}">
                <a16:creationId xmlns:a16="http://schemas.microsoft.com/office/drawing/2014/main" id="{AF04E691-3E1D-448E-82BA-A2CFD81B4C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2338" y="835025"/>
            <a:ext cx="4264025" cy="25860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3328" name="Rectangle 3">
            <a:extLst>
              <a:ext uri="{FF2B5EF4-FFF2-40B4-BE49-F238E27FC236}">
                <a16:creationId xmlns:a16="http://schemas.microsoft.com/office/drawing/2014/main" id="{3E352BAF-84CB-40AE-AE5A-D1966A30AE09}"/>
              </a:ext>
            </a:extLst>
          </p:cNvPr>
          <p:cNvSpPr>
            <a:spLocks noChangeArrowheads="1"/>
          </p:cNvSpPr>
          <p:nvPr/>
        </p:nvSpPr>
        <p:spPr bwMode="auto">
          <a:xfrm>
            <a:off x="100013" y="5654859"/>
            <a:ext cx="4511675" cy="109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42950" indent="-2857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1430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002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057400"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146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29718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290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8862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spcBef>
                <a:spcPct val="75000"/>
              </a:spcBef>
            </a:pPr>
            <a:r>
              <a:rPr lang="en-GB" altLang="en-US" sz="1700" dirty="0">
                <a:effectLst/>
              </a:rPr>
              <a:t>A </a:t>
            </a:r>
            <a:r>
              <a:rPr lang="en-GB" altLang="en-US" sz="1700" dirty="0">
                <a:solidFill>
                  <a:srgbClr val="FF66CC"/>
                </a:solidFill>
                <a:effectLst/>
              </a:rPr>
              <a:t>hanging wall </a:t>
            </a:r>
            <a:r>
              <a:rPr lang="en-GB" altLang="en-US" sz="1700" dirty="0" err="1">
                <a:solidFill>
                  <a:srgbClr val="FF66CC"/>
                </a:solidFill>
                <a:effectLst/>
              </a:rPr>
              <a:t>antiform</a:t>
            </a:r>
            <a:r>
              <a:rPr lang="en-GB" altLang="en-US" sz="1700" dirty="0">
                <a:solidFill>
                  <a:srgbClr val="FF66CC"/>
                </a:solidFill>
                <a:effectLst/>
              </a:rPr>
              <a:t> – footwall </a:t>
            </a:r>
            <a:r>
              <a:rPr lang="en-GB" altLang="en-US" sz="1700" dirty="0" err="1">
                <a:solidFill>
                  <a:srgbClr val="FF66CC"/>
                </a:solidFill>
                <a:effectLst/>
              </a:rPr>
              <a:t>synform</a:t>
            </a:r>
            <a:r>
              <a:rPr lang="en-GB" altLang="en-US" sz="1700" dirty="0">
                <a:solidFill>
                  <a:srgbClr val="FF66CC"/>
                </a:solidFill>
                <a:effectLst/>
              </a:rPr>
              <a:t> pair </a:t>
            </a:r>
            <a:r>
              <a:rPr lang="en-GB" altLang="en-US" sz="1700" dirty="0">
                <a:effectLst/>
              </a:rPr>
              <a:t>may be formed when a thrust fault breaches the fault propagation fold</a:t>
            </a:r>
          </a:p>
        </p:txBody>
      </p:sp>
      <p:sp>
        <p:nvSpPr>
          <p:cNvPr id="2" name="Freeform 11">
            <a:extLst>
              <a:ext uri="{FF2B5EF4-FFF2-40B4-BE49-F238E27FC236}">
                <a16:creationId xmlns:a16="http://schemas.microsoft.com/office/drawing/2014/main" id="{CA4BE165-35ED-43CA-B402-8B43528FA192}"/>
              </a:ext>
            </a:extLst>
          </p:cNvPr>
          <p:cNvSpPr>
            <a:spLocks/>
          </p:cNvSpPr>
          <p:nvPr/>
        </p:nvSpPr>
        <p:spPr bwMode="auto">
          <a:xfrm rot="20387926" flipH="1">
            <a:off x="5670550" y="2352675"/>
            <a:ext cx="290513" cy="138113"/>
          </a:xfrm>
          <a:custGeom>
            <a:avLst/>
            <a:gdLst>
              <a:gd name="T0" fmla="*/ 287338 w 181"/>
              <a:gd name="T1" fmla="*/ 138113 h 75"/>
              <a:gd name="T2" fmla="*/ 0 w 181"/>
              <a:gd name="T3" fmla="*/ 31306 h 75"/>
              <a:gd name="T4" fmla="*/ 111125 w 181"/>
              <a:gd name="T5" fmla="*/ 0 h 75"/>
              <a:gd name="T6" fmla="*/ 0 60000 65536"/>
              <a:gd name="T7" fmla="*/ 0 60000 65536"/>
              <a:gd name="T8" fmla="*/ 0 60000 65536"/>
            </a:gdLst>
            <a:ahLst/>
            <a:cxnLst>
              <a:cxn ang="T6">
                <a:pos x="T0" y="T1"/>
              </a:cxn>
              <a:cxn ang="T7">
                <a:pos x="T2" y="T3"/>
              </a:cxn>
              <a:cxn ang="T8">
                <a:pos x="T4" y="T5"/>
              </a:cxn>
            </a:cxnLst>
            <a:rect l="0" t="0" r="r" b="b"/>
            <a:pathLst>
              <a:path w="181" h="75">
                <a:moveTo>
                  <a:pt x="181" y="75"/>
                </a:moveTo>
                <a:lnTo>
                  <a:pt x="0" y="17"/>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pic>
        <p:nvPicPr>
          <p:cNvPr id="13331" name="Picture 19" descr="04b3">
            <a:extLst>
              <a:ext uri="{FF2B5EF4-FFF2-40B4-BE49-F238E27FC236}">
                <a16:creationId xmlns:a16="http://schemas.microsoft.com/office/drawing/2014/main" id="{2D11A403-DF34-436A-9667-4ED910EF38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175" y="2259966"/>
            <a:ext cx="3824288" cy="31797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610" name="Rectangle 18">
            <a:extLst>
              <a:ext uri="{FF2B5EF4-FFF2-40B4-BE49-F238E27FC236}">
                <a16:creationId xmlns:a16="http://schemas.microsoft.com/office/drawing/2014/main" id="{27A832BD-7741-47A2-9AB3-4D97A513493D}"/>
              </a:ext>
            </a:extLst>
          </p:cNvPr>
          <p:cNvSpPr>
            <a:spLocks noChangeArrowheads="1"/>
          </p:cNvSpPr>
          <p:nvPr/>
        </p:nvSpPr>
        <p:spPr bwMode="auto">
          <a:xfrm>
            <a:off x="7375525" y="873125"/>
            <a:ext cx="1573213" cy="584358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238608" name="Rectangle 16">
            <a:extLst>
              <a:ext uri="{FF2B5EF4-FFF2-40B4-BE49-F238E27FC236}">
                <a16:creationId xmlns:a16="http://schemas.microsoft.com/office/drawing/2014/main" id="{79C9404A-3762-4C1C-A215-E4145013472B}"/>
              </a:ext>
            </a:extLst>
          </p:cNvPr>
          <p:cNvSpPr>
            <a:spLocks noChangeArrowheads="1"/>
          </p:cNvSpPr>
          <p:nvPr/>
        </p:nvSpPr>
        <p:spPr bwMode="auto">
          <a:xfrm>
            <a:off x="5321300" y="866775"/>
            <a:ext cx="1878013" cy="584676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104452" name="Rectangle 2">
            <a:extLst>
              <a:ext uri="{FF2B5EF4-FFF2-40B4-BE49-F238E27FC236}">
                <a16:creationId xmlns:a16="http://schemas.microsoft.com/office/drawing/2014/main" id="{F8D3E008-930B-4EF8-87F2-CDF5DDCA6066}"/>
              </a:ext>
            </a:extLst>
          </p:cNvPr>
          <p:cNvSpPr>
            <a:spLocks noGrp="1" noChangeArrowheads="1"/>
          </p:cNvSpPr>
          <p:nvPr>
            <p:ph type="title" idx="4294967295"/>
          </p:nvPr>
        </p:nvSpPr>
        <p:spPr>
          <a:noFill/>
        </p:spPr>
        <p:txBody>
          <a:bodyPr/>
          <a:lstStyle/>
          <a:p>
            <a:r>
              <a:rPr lang="en-GB" altLang="en-US" dirty="0">
                <a:effectLst/>
              </a:rPr>
              <a:t>Modelling the geometry of fault propagation folds</a:t>
            </a:r>
          </a:p>
        </p:txBody>
      </p:sp>
      <p:pic>
        <p:nvPicPr>
          <p:cNvPr id="104456" name="Picture 2" descr="Box03.jpg">
            <a:extLst>
              <a:ext uri="{FF2B5EF4-FFF2-40B4-BE49-F238E27FC236}">
                <a16:creationId xmlns:a16="http://schemas.microsoft.com/office/drawing/2014/main" id="{ACA31965-04F7-4A30-A1DF-9182354E1510}"/>
              </a:ext>
            </a:extLst>
          </p:cNvPr>
          <p:cNvPicPr>
            <a:picLocks noGrp="1" noChangeAspect="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5421313" y="931863"/>
            <a:ext cx="1679575" cy="56880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4457" name="Picture 2" descr="GR30.jpg">
            <a:extLst>
              <a:ext uri="{FF2B5EF4-FFF2-40B4-BE49-F238E27FC236}">
                <a16:creationId xmlns:a16="http://schemas.microsoft.com/office/drawing/2014/main" id="{727D2DAA-590B-41AC-862E-FCFCF631242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89825" y="985838"/>
            <a:ext cx="1376363" cy="563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F3946A17-7A1E-4B60-B2D8-E960A4C12A51}"/>
              </a:ext>
            </a:extLst>
          </p:cNvPr>
          <p:cNvSpPr txBox="1"/>
          <p:nvPr/>
        </p:nvSpPr>
        <p:spPr>
          <a:xfrm>
            <a:off x="3579018" y="4627534"/>
            <a:ext cx="1692275" cy="2136803"/>
          </a:xfrm>
          <a:prstGeom prst="rect">
            <a:avLst/>
          </a:prstGeom>
          <a:noFill/>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pPr>
            <a:r>
              <a:rPr lang="en-GB" altLang="en-US" sz="1400" dirty="0" err="1">
                <a:solidFill>
                  <a:srgbClr val="FFFF00"/>
                </a:solidFill>
                <a:effectLst>
                  <a:outerShdw blurRad="38100" dist="38100" dir="2700000" algn="tl">
                    <a:srgbClr val="000000"/>
                  </a:outerShdw>
                </a:effectLst>
                <a:latin typeface="Arial" panose="020B0604020202020204" pitchFamily="34" charset="0"/>
              </a:rPr>
              <a:t>Trishear</a:t>
            </a:r>
            <a:r>
              <a:rPr lang="en-GB" altLang="en-US" sz="1400" dirty="0">
                <a:solidFill>
                  <a:srgbClr val="FFFF00"/>
                </a:solidFill>
                <a:effectLst>
                  <a:outerShdw blurRad="38100" dist="38100" dir="2700000" algn="tl">
                    <a:srgbClr val="000000"/>
                  </a:outerShdw>
                </a:effectLst>
                <a:latin typeface="Arial" panose="020B0604020202020204" pitchFamily="34" charset="0"/>
              </a:rPr>
              <a:t> approach: loss of slip ahead of the fault-tip is accommodated in a triangular zone of shear planes that radiate from the fault tip</a:t>
            </a:r>
          </a:p>
        </p:txBody>
      </p:sp>
      <p:grpSp>
        <p:nvGrpSpPr>
          <p:cNvPr id="104459" name="Group 11">
            <a:extLst>
              <a:ext uri="{FF2B5EF4-FFF2-40B4-BE49-F238E27FC236}">
                <a16:creationId xmlns:a16="http://schemas.microsoft.com/office/drawing/2014/main" id="{5C575FDA-FD23-4D5F-BE56-8D223182E006}"/>
              </a:ext>
            </a:extLst>
          </p:cNvPr>
          <p:cNvGrpSpPr>
            <a:grpSpLocks/>
          </p:cNvGrpSpPr>
          <p:nvPr/>
        </p:nvGrpSpPr>
        <p:grpSpPr bwMode="auto">
          <a:xfrm>
            <a:off x="246063" y="860425"/>
            <a:ext cx="2943225" cy="5821363"/>
            <a:chOff x="3582" y="492"/>
            <a:chExt cx="1890" cy="3738"/>
          </a:xfrm>
        </p:grpSpPr>
        <p:sp>
          <p:nvSpPr>
            <p:cNvPr id="104460" name="Rectangle 12">
              <a:extLst>
                <a:ext uri="{FF2B5EF4-FFF2-40B4-BE49-F238E27FC236}">
                  <a16:creationId xmlns:a16="http://schemas.microsoft.com/office/drawing/2014/main" id="{80D081E3-2982-4F82-B97A-18D22D6B2440}"/>
                </a:ext>
              </a:extLst>
            </p:cNvPr>
            <p:cNvSpPr>
              <a:spLocks noChangeArrowheads="1"/>
            </p:cNvSpPr>
            <p:nvPr/>
          </p:nvSpPr>
          <p:spPr bwMode="auto">
            <a:xfrm>
              <a:off x="3582" y="492"/>
              <a:ext cx="1890" cy="373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4461" name="Picture 2" descr="GR18.jpg">
              <a:extLst>
                <a:ext uri="{FF2B5EF4-FFF2-40B4-BE49-F238E27FC236}">
                  <a16:creationId xmlns:a16="http://schemas.microsoft.com/office/drawing/2014/main" id="{1BB6DD04-C732-4C3B-9B1C-07DEF246E45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642" y="552"/>
              <a:ext cx="1776" cy="36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 name="TextBox 1">
            <a:extLst>
              <a:ext uri="{FF2B5EF4-FFF2-40B4-BE49-F238E27FC236}">
                <a16:creationId xmlns:a16="http://schemas.microsoft.com/office/drawing/2014/main" id="{88C425D9-6357-4405-93B0-02693D5B3416}"/>
              </a:ext>
            </a:extLst>
          </p:cNvPr>
          <p:cNvSpPr txBox="1"/>
          <p:nvPr/>
        </p:nvSpPr>
        <p:spPr>
          <a:xfrm>
            <a:off x="3206750" y="804863"/>
            <a:ext cx="1849438" cy="1878271"/>
          </a:xfrm>
          <a:prstGeom prst="rect">
            <a:avLst/>
          </a:prstGeom>
          <a:noFill/>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pPr>
            <a:r>
              <a:rPr lang="en-GB" altLang="en-US" sz="1400" dirty="0">
                <a:solidFill>
                  <a:srgbClr val="FFFF00"/>
                </a:solidFill>
                <a:effectLst>
                  <a:outerShdw blurRad="38100" dist="38100" dir="2700000" algn="tl">
                    <a:srgbClr val="000000"/>
                  </a:outerShdw>
                </a:effectLst>
                <a:latin typeface="Arial" panose="020B0604020202020204" pitchFamily="34" charset="0"/>
              </a:rPr>
              <a:t>Growth of parallel kink-like folds: loss of slip ahead of the fault-tip is accommodated by growth of the crest of the fold </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4" descr="04d-Normal Fault with smear, Salina, UT">
            <a:extLst>
              <a:ext uri="{FF2B5EF4-FFF2-40B4-BE49-F238E27FC236}">
                <a16:creationId xmlns:a16="http://schemas.microsoft.com/office/drawing/2014/main" id="{0A500D22-A6A4-463E-86CE-2A3AA8A36D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 y="2686488"/>
            <a:ext cx="5229225" cy="37353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45776" name="Rectangle 16">
            <a:extLst>
              <a:ext uri="{FF2B5EF4-FFF2-40B4-BE49-F238E27FC236}">
                <a16:creationId xmlns:a16="http://schemas.microsoft.com/office/drawing/2014/main" id="{58BC11CF-98C2-478A-9F67-D8A2D26EC0C3}"/>
              </a:ext>
            </a:extLst>
          </p:cNvPr>
          <p:cNvSpPr>
            <a:spLocks noChangeArrowheads="1"/>
          </p:cNvSpPr>
          <p:nvPr/>
        </p:nvSpPr>
        <p:spPr bwMode="auto">
          <a:xfrm>
            <a:off x="2513013" y="2975413"/>
            <a:ext cx="1042987" cy="26828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14340" name="Rectangle 2">
            <a:extLst>
              <a:ext uri="{FF2B5EF4-FFF2-40B4-BE49-F238E27FC236}">
                <a16:creationId xmlns:a16="http://schemas.microsoft.com/office/drawing/2014/main" id="{EEAB5073-EFCA-4B9F-80A7-D2DF3FDD5160}"/>
              </a:ext>
            </a:extLst>
          </p:cNvPr>
          <p:cNvSpPr>
            <a:spLocks noGrp="1" noChangeArrowheads="1"/>
          </p:cNvSpPr>
          <p:nvPr>
            <p:ph type="title"/>
          </p:nvPr>
        </p:nvSpPr>
        <p:spPr>
          <a:noFill/>
        </p:spPr>
        <p:txBody>
          <a:bodyPr/>
          <a:lstStyle/>
          <a:p>
            <a:r>
              <a:rPr lang="en-GB" altLang="en-US">
                <a:effectLst/>
              </a:rPr>
              <a:t>Folded surfaces near faults: clay smears</a:t>
            </a:r>
          </a:p>
        </p:txBody>
      </p:sp>
      <p:sp>
        <p:nvSpPr>
          <p:cNvPr id="14341" name="Rectangle 3">
            <a:extLst>
              <a:ext uri="{FF2B5EF4-FFF2-40B4-BE49-F238E27FC236}">
                <a16:creationId xmlns:a16="http://schemas.microsoft.com/office/drawing/2014/main" id="{BDD179DE-2CF6-41C4-8E11-BF5934DEFC91}"/>
              </a:ext>
            </a:extLst>
          </p:cNvPr>
          <p:cNvSpPr>
            <a:spLocks noGrp="1" noChangeArrowheads="1"/>
          </p:cNvSpPr>
          <p:nvPr>
            <p:ph type="body" sz="half" idx="1"/>
          </p:nvPr>
        </p:nvSpPr>
        <p:spPr>
          <a:xfrm>
            <a:off x="88900" y="813500"/>
            <a:ext cx="8870950" cy="1502187"/>
          </a:xfrm>
          <a:noFill/>
        </p:spPr>
        <p:txBody>
          <a:bodyPr/>
          <a:lstStyle/>
          <a:p>
            <a:pPr marL="177800" indent="-177800"/>
            <a:r>
              <a:rPr lang="en-GB" altLang="en-US" sz="1700" dirty="0">
                <a:effectLst/>
              </a:rPr>
              <a:t>While many drag folds are breached (faulted) fault propagation folds, </a:t>
            </a:r>
            <a:r>
              <a:rPr lang="en-GB" altLang="en-US" sz="1700" dirty="0">
                <a:solidFill>
                  <a:srgbClr val="FF6600"/>
                </a:solidFill>
                <a:effectLst/>
              </a:rPr>
              <a:t>drag folding can also develop in the zone of interaction between two overlapping </a:t>
            </a:r>
            <a:r>
              <a:rPr lang="en-GB" altLang="en-US" sz="1700" dirty="0" err="1">
                <a:solidFill>
                  <a:srgbClr val="FF6600"/>
                </a:solidFill>
                <a:effectLst/>
              </a:rPr>
              <a:t>en</a:t>
            </a:r>
            <a:r>
              <a:rPr lang="en-GB" altLang="en-US" sz="1700" dirty="0">
                <a:solidFill>
                  <a:srgbClr val="FF6600"/>
                </a:solidFill>
                <a:effectLst/>
              </a:rPr>
              <a:t> </a:t>
            </a:r>
            <a:r>
              <a:rPr lang="en-GB" altLang="en-US" sz="1700" dirty="0" err="1">
                <a:solidFill>
                  <a:srgbClr val="FF6600"/>
                </a:solidFill>
                <a:effectLst/>
              </a:rPr>
              <a:t>échelon</a:t>
            </a:r>
            <a:r>
              <a:rPr lang="en-GB" altLang="en-US" sz="1700" dirty="0">
                <a:solidFill>
                  <a:srgbClr val="FF6600"/>
                </a:solidFill>
                <a:effectLst/>
              </a:rPr>
              <a:t> faults</a:t>
            </a:r>
          </a:p>
          <a:p>
            <a:pPr marL="177800" indent="-177800">
              <a:spcBef>
                <a:spcPct val="75000"/>
              </a:spcBef>
            </a:pPr>
            <a:r>
              <a:rPr lang="en-GB" altLang="en-US" sz="1700" dirty="0">
                <a:effectLst/>
              </a:rPr>
              <a:t>In this case, if the folded layer is weak (mudstone) then it may be taken to the point of forming a </a:t>
            </a:r>
            <a:r>
              <a:rPr lang="en-GB" altLang="en-US" sz="1700" dirty="0">
                <a:solidFill>
                  <a:srgbClr val="FF6600"/>
                </a:solidFill>
                <a:effectLst/>
              </a:rPr>
              <a:t>smear</a:t>
            </a:r>
            <a:r>
              <a:rPr lang="en-GB" altLang="en-US" sz="1700" dirty="0">
                <a:effectLst/>
              </a:rPr>
              <a:t> along the fault</a:t>
            </a:r>
          </a:p>
        </p:txBody>
      </p:sp>
      <p:pic>
        <p:nvPicPr>
          <p:cNvPr id="14342" name="Picture 2" descr="GR47.jpg">
            <a:extLst>
              <a:ext uri="{FF2B5EF4-FFF2-40B4-BE49-F238E27FC236}">
                <a16:creationId xmlns:a16="http://schemas.microsoft.com/office/drawing/2014/main" id="{7BF97B83-CD21-4E64-9983-F6B8DE5E4323}"/>
              </a:ext>
            </a:extLst>
          </p:cNvPr>
          <p:cNvPicPr>
            <a:picLocks noGrp="1" noChangeAspect="1"/>
          </p:cNvPicPr>
          <p:nvPr>
            <p:ph sz="quarter" idx="3"/>
          </p:nvPr>
        </p:nvPicPr>
        <p:blipFill>
          <a:blip r:embed="rId4">
            <a:lum bright="-6000"/>
            <a:extLst>
              <a:ext uri="{28A0092B-C50C-407E-A947-70E740481C1C}">
                <a14:useLocalDpi xmlns:a14="http://schemas.microsoft.com/office/drawing/2010/main" val="0"/>
              </a:ext>
            </a:extLst>
          </a:blip>
          <a:srcRect/>
          <a:stretch>
            <a:fillRect/>
          </a:stretch>
        </p:blipFill>
        <p:spPr>
          <a:xfrm>
            <a:off x="5607050" y="4034275"/>
            <a:ext cx="3367088" cy="23891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343" name="Picture 2" descr="GR31.jpg">
            <a:extLst>
              <a:ext uri="{FF2B5EF4-FFF2-40B4-BE49-F238E27FC236}">
                <a16:creationId xmlns:a16="http://schemas.microsoft.com/office/drawing/2014/main" id="{DFBB3099-5385-46ED-8969-7328E730DEFA}"/>
              </a:ext>
            </a:extLst>
          </p:cNvPr>
          <p:cNvPicPr>
            <a:picLocks noGrp="1" noChangeAspect="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5599113" y="2748400"/>
            <a:ext cx="1598612" cy="10366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4344" name="Text Box 15">
            <a:extLst>
              <a:ext uri="{FF2B5EF4-FFF2-40B4-BE49-F238E27FC236}">
                <a16:creationId xmlns:a16="http://schemas.microsoft.com/office/drawing/2014/main" id="{F45CFEE9-E6A6-4D5D-B233-57DA6EC14FC8}"/>
              </a:ext>
            </a:extLst>
          </p:cNvPr>
          <p:cNvSpPr txBox="1">
            <a:spLocks noChangeArrowheads="1"/>
          </p:cNvSpPr>
          <p:nvPr/>
        </p:nvSpPr>
        <p:spPr bwMode="auto">
          <a:xfrm>
            <a:off x="2476500" y="2948425"/>
            <a:ext cx="12636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a:solidFill>
                  <a:srgbClr val="FF0000"/>
                </a:solidFill>
                <a:effectLst/>
                <a:latin typeface="Arial" panose="020B0604020202020204" pitchFamily="34" charset="0"/>
              </a:rPr>
              <a:t>Clay smear</a:t>
            </a:r>
          </a:p>
        </p:txBody>
      </p:sp>
      <p:sp>
        <p:nvSpPr>
          <p:cNvPr id="245777" name="Line 17">
            <a:extLst>
              <a:ext uri="{FF2B5EF4-FFF2-40B4-BE49-F238E27FC236}">
                <a16:creationId xmlns:a16="http://schemas.microsoft.com/office/drawing/2014/main" id="{57D40E22-D3AA-4BAF-A97F-0F158A5B5645}"/>
              </a:ext>
            </a:extLst>
          </p:cNvPr>
          <p:cNvSpPr>
            <a:spLocks noChangeShapeType="1"/>
          </p:cNvSpPr>
          <p:nvPr/>
        </p:nvSpPr>
        <p:spPr bwMode="auto">
          <a:xfrm flipH="1">
            <a:off x="2254250" y="3345300"/>
            <a:ext cx="304800" cy="43338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45778" name="Freeform 18">
            <a:extLst>
              <a:ext uri="{FF2B5EF4-FFF2-40B4-BE49-F238E27FC236}">
                <a16:creationId xmlns:a16="http://schemas.microsoft.com/office/drawing/2014/main" id="{EA67A430-E732-41D0-870F-83A5B6785A67}"/>
              </a:ext>
            </a:extLst>
          </p:cNvPr>
          <p:cNvSpPr>
            <a:spLocks/>
          </p:cNvSpPr>
          <p:nvPr/>
        </p:nvSpPr>
        <p:spPr bwMode="auto">
          <a:xfrm rot="6367655">
            <a:off x="1749426" y="3007162"/>
            <a:ext cx="203200" cy="276225"/>
          </a:xfrm>
          <a:custGeom>
            <a:avLst/>
            <a:gdLst>
              <a:gd name="T0" fmla="*/ 0 w 128"/>
              <a:gd name="T1" fmla="*/ 174 h 174"/>
              <a:gd name="T2" fmla="*/ 128 w 128"/>
              <a:gd name="T3" fmla="*/ 0 h 174"/>
              <a:gd name="T4" fmla="*/ 58 w 128"/>
              <a:gd name="T5" fmla="*/ 17 h 174"/>
            </a:gdLst>
            <a:ahLst/>
            <a:cxnLst>
              <a:cxn ang="0">
                <a:pos x="T0" y="T1"/>
              </a:cxn>
              <a:cxn ang="0">
                <a:pos x="T2" y="T3"/>
              </a:cxn>
              <a:cxn ang="0">
                <a:pos x="T4" y="T5"/>
              </a:cxn>
            </a:cxnLst>
            <a:rect l="0" t="0" r="r" b="b"/>
            <a:pathLst>
              <a:path w="128" h="174">
                <a:moveTo>
                  <a:pt x="0" y="174"/>
                </a:moveTo>
                <a:lnTo>
                  <a:pt x="128" y="0"/>
                </a:lnTo>
                <a:lnTo>
                  <a:pt x="58" y="17"/>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pic>
        <p:nvPicPr>
          <p:cNvPr id="14347" name="Picture 2" descr="GR31.jpg">
            <a:extLst>
              <a:ext uri="{FF2B5EF4-FFF2-40B4-BE49-F238E27FC236}">
                <a16:creationId xmlns:a16="http://schemas.microsoft.com/office/drawing/2014/main" id="{206E8A30-EC68-4762-8EBB-5DE8345DC46B}"/>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324725" y="2748400"/>
            <a:ext cx="1635125" cy="1033463"/>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D93FB58-C5FF-4712-85F5-583C1D0ACB9C}"/>
              </a:ext>
            </a:extLst>
          </p:cNvPr>
          <p:cNvSpPr>
            <a:spLocks noGrp="1" noChangeArrowheads="1"/>
          </p:cNvSpPr>
          <p:nvPr>
            <p:ph type="title"/>
          </p:nvPr>
        </p:nvSpPr>
        <p:spPr>
          <a:noFill/>
        </p:spPr>
        <p:txBody>
          <a:bodyPr/>
          <a:lstStyle/>
          <a:p>
            <a:r>
              <a:rPr lang="en-GB" altLang="en-US">
                <a:effectLst/>
              </a:rPr>
              <a:t>Folded surfaces near faults: rollover antiforms</a:t>
            </a:r>
          </a:p>
        </p:txBody>
      </p:sp>
      <p:sp>
        <p:nvSpPr>
          <p:cNvPr id="359427" name="Rectangle 3">
            <a:extLst>
              <a:ext uri="{FF2B5EF4-FFF2-40B4-BE49-F238E27FC236}">
                <a16:creationId xmlns:a16="http://schemas.microsoft.com/office/drawing/2014/main" id="{C5475B80-C626-426D-9702-FC0A8FA779BD}"/>
              </a:ext>
            </a:extLst>
          </p:cNvPr>
          <p:cNvSpPr>
            <a:spLocks noGrp="1" noChangeArrowheads="1"/>
          </p:cNvSpPr>
          <p:nvPr>
            <p:ph type="body" sz="half" idx="1"/>
          </p:nvPr>
        </p:nvSpPr>
        <p:spPr>
          <a:xfrm>
            <a:off x="134938" y="803976"/>
            <a:ext cx="8890000" cy="1832346"/>
          </a:xfrm>
        </p:spPr>
        <p:txBody>
          <a:bodyPr/>
          <a:lstStyle/>
          <a:p>
            <a:pPr marL="177800" indent="-177800"/>
            <a:r>
              <a:rPr lang="en-GB" altLang="en-US" sz="1700" dirty="0"/>
              <a:t>Alternatively, folding may occur where </a:t>
            </a:r>
            <a:r>
              <a:rPr lang="en-GB" altLang="en-US" sz="1700" dirty="0">
                <a:solidFill>
                  <a:srgbClr val="FF6600"/>
                </a:solidFill>
              </a:rPr>
              <a:t>faults change orientation </a:t>
            </a:r>
            <a:r>
              <a:rPr lang="en-GB" altLang="en-US" sz="1700" dirty="0"/>
              <a:t>along their length – either in map view (change in fault strike) or in section (change in fault dip)</a:t>
            </a:r>
          </a:p>
          <a:p>
            <a:pPr marL="177800" indent="-177800">
              <a:spcBef>
                <a:spcPts val="1525"/>
              </a:spcBef>
            </a:pPr>
            <a:r>
              <a:rPr lang="en-GB" altLang="en-US" sz="1700" dirty="0"/>
              <a:t>Changes in fault dip require internal deformation within the hanging wall to avoid space problems – in normal faults if the fault steepens downwards a </a:t>
            </a:r>
            <a:r>
              <a:rPr lang="en-GB" altLang="en-US" sz="1700" dirty="0">
                <a:solidFill>
                  <a:srgbClr val="FF66CC"/>
                </a:solidFill>
              </a:rPr>
              <a:t>hanging wall </a:t>
            </a:r>
            <a:r>
              <a:rPr lang="en-GB" altLang="en-US" sz="1700" dirty="0" err="1">
                <a:solidFill>
                  <a:srgbClr val="FF66CC"/>
                </a:solidFill>
              </a:rPr>
              <a:t>synform</a:t>
            </a:r>
            <a:r>
              <a:rPr lang="en-GB" altLang="en-US" sz="1700" dirty="0">
                <a:solidFill>
                  <a:srgbClr val="FF66CC"/>
                </a:solidFill>
              </a:rPr>
              <a:t> </a:t>
            </a:r>
            <a:r>
              <a:rPr lang="en-GB" altLang="en-US" sz="1700" dirty="0"/>
              <a:t>is required whereas if it shallows a </a:t>
            </a:r>
            <a:r>
              <a:rPr lang="en-GB" altLang="en-US" sz="1700" dirty="0">
                <a:solidFill>
                  <a:srgbClr val="FF66CC"/>
                </a:solidFill>
              </a:rPr>
              <a:t>hanging wall </a:t>
            </a:r>
            <a:r>
              <a:rPr lang="en-GB" altLang="en-US" sz="1700" dirty="0" err="1">
                <a:solidFill>
                  <a:srgbClr val="FF66CC"/>
                </a:solidFill>
              </a:rPr>
              <a:t>antiform</a:t>
            </a:r>
            <a:r>
              <a:rPr lang="en-GB" altLang="en-US" sz="1700" dirty="0">
                <a:solidFill>
                  <a:srgbClr val="FF66CC"/>
                </a:solidFill>
              </a:rPr>
              <a:t> </a:t>
            </a:r>
            <a:r>
              <a:rPr lang="en-GB" altLang="en-US" sz="1700" dirty="0"/>
              <a:t>is needed</a:t>
            </a:r>
          </a:p>
        </p:txBody>
      </p:sp>
      <p:pic>
        <p:nvPicPr>
          <p:cNvPr id="15364" name="Picture 5" descr="04c1-Sinai">
            <a:extLst>
              <a:ext uri="{FF2B5EF4-FFF2-40B4-BE49-F238E27FC236}">
                <a16:creationId xmlns:a16="http://schemas.microsoft.com/office/drawing/2014/main" id="{E0F5176E-EDF6-471A-9A24-154449679CD3}"/>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662488" y="2915913"/>
            <a:ext cx="4271962" cy="35210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9431" name="Freeform 7">
            <a:extLst>
              <a:ext uri="{FF2B5EF4-FFF2-40B4-BE49-F238E27FC236}">
                <a16:creationId xmlns:a16="http://schemas.microsoft.com/office/drawing/2014/main" id="{344FE3BD-00B2-4C43-8374-996E2DF3840F}"/>
              </a:ext>
            </a:extLst>
          </p:cNvPr>
          <p:cNvSpPr>
            <a:spLocks/>
          </p:cNvSpPr>
          <p:nvPr/>
        </p:nvSpPr>
        <p:spPr bwMode="auto">
          <a:xfrm rot="16820487">
            <a:off x="7867650" y="4058913"/>
            <a:ext cx="287338" cy="138112"/>
          </a:xfrm>
          <a:custGeom>
            <a:avLst/>
            <a:gdLst>
              <a:gd name="T0" fmla="*/ 181 w 181"/>
              <a:gd name="T1" fmla="*/ 75 h 75"/>
              <a:gd name="T2" fmla="*/ 0 w 181"/>
              <a:gd name="T3" fmla="*/ 17 h 75"/>
              <a:gd name="T4" fmla="*/ 70 w 181"/>
              <a:gd name="T5" fmla="*/ 0 h 75"/>
            </a:gdLst>
            <a:ahLst/>
            <a:cxnLst>
              <a:cxn ang="0">
                <a:pos x="T0" y="T1"/>
              </a:cxn>
              <a:cxn ang="0">
                <a:pos x="T2" y="T3"/>
              </a:cxn>
              <a:cxn ang="0">
                <a:pos x="T4" y="T5"/>
              </a:cxn>
            </a:cxnLst>
            <a:rect l="0" t="0" r="r" b="b"/>
            <a:pathLst>
              <a:path w="181" h="75">
                <a:moveTo>
                  <a:pt x="181" y="75"/>
                </a:moveTo>
                <a:lnTo>
                  <a:pt x="0" y="17"/>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6" name="Rectangle 3">
            <a:extLst>
              <a:ext uri="{FF2B5EF4-FFF2-40B4-BE49-F238E27FC236}">
                <a16:creationId xmlns:a16="http://schemas.microsoft.com/office/drawing/2014/main" id="{5D22779B-3896-4887-945F-719BFBE4FABF}"/>
              </a:ext>
            </a:extLst>
          </p:cNvPr>
          <p:cNvSpPr txBox="1">
            <a:spLocks noChangeArrowheads="1"/>
          </p:cNvSpPr>
          <p:nvPr/>
        </p:nvSpPr>
        <p:spPr bwMode="auto">
          <a:xfrm>
            <a:off x="130176" y="4598663"/>
            <a:ext cx="4251820" cy="194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100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On a </a:t>
            </a:r>
            <a:r>
              <a:rPr lang="en-GB" altLang="en-US" sz="1700" dirty="0" err="1">
                <a:solidFill>
                  <a:srgbClr val="FF66CC"/>
                </a:solidFill>
                <a:effectLst/>
                <a:latin typeface="Arial" panose="020B0604020202020204" pitchFamily="34" charset="0"/>
              </a:rPr>
              <a:t>listric</a:t>
            </a:r>
            <a:r>
              <a:rPr lang="en-GB" altLang="en-US" sz="1700" dirty="0">
                <a:solidFill>
                  <a:srgbClr val="FF66CC"/>
                </a:solidFill>
                <a:effectLst/>
                <a:latin typeface="Arial" panose="020B0604020202020204" pitchFamily="34" charset="0"/>
              </a:rPr>
              <a:t> normal fault </a:t>
            </a:r>
            <a:r>
              <a:rPr lang="en-GB" altLang="en-US" sz="1700" dirty="0">
                <a:effectLst/>
                <a:latin typeface="Arial" panose="020B0604020202020204" pitchFamily="34" charset="0"/>
              </a:rPr>
              <a:t>the downwardly decreasing dip commonly leads to a</a:t>
            </a:r>
            <a:r>
              <a:rPr lang="en-GB" altLang="en-US" sz="1700" dirty="0">
                <a:effectLst/>
                <a:latin typeface="Arial" panose="020B0604020202020204" pitchFamily="34" charset="0"/>
                <a:cs typeface="Arial" panose="020B0604020202020204" pitchFamily="34" charset="0"/>
              </a:rPr>
              <a:t>  </a:t>
            </a:r>
            <a:r>
              <a:rPr lang="en-GB" altLang="en-US" sz="1700" dirty="0">
                <a:solidFill>
                  <a:srgbClr val="FF66CC"/>
                </a:solidFill>
                <a:effectLst/>
                <a:latin typeface="Arial" panose="020B0604020202020204" pitchFamily="34" charset="0"/>
              </a:rPr>
              <a:t>roll-over </a:t>
            </a:r>
            <a:r>
              <a:rPr lang="en-GB" altLang="en-US" sz="1700" dirty="0" err="1">
                <a:solidFill>
                  <a:srgbClr val="FF66CC"/>
                </a:solidFill>
                <a:effectLst/>
                <a:latin typeface="Arial" panose="020B0604020202020204" pitchFamily="34" charset="0"/>
              </a:rPr>
              <a:t>antiform</a:t>
            </a:r>
            <a:r>
              <a:rPr lang="en-GB" altLang="en-US" sz="1700" dirty="0">
                <a:effectLst/>
                <a:latin typeface="Arial" panose="020B0604020202020204" pitchFamily="34" charset="0"/>
              </a:rPr>
              <a:t> within the hanging wall</a:t>
            </a:r>
          </a:p>
          <a:p>
            <a:pPr>
              <a:lnSpc>
                <a:spcPct val="120000"/>
              </a:lnSpc>
              <a:spcBef>
                <a:spcPct val="50000"/>
              </a:spcBef>
              <a:buClr>
                <a:schemeClr val="folHlink"/>
              </a:buClr>
              <a:buSzPct val="100000"/>
              <a:buFont typeface="Times" panose="02020603050405020304" pitchFamily="18" charset="0"/>
              <a:buNone/>
            </a:pPr>
            <a:r>
              <a:rPr lang="en-GB" altLang="en-US" sz="1400" dirty="0">
                <a:effectLst/>
                <a:latin typeface="Arial" panose="020B0604020202020204" pitchFamily="34" charset="0"/>
              </a:rPr>
              <a:t>	</a:t>
            </a:r>
            <a:r>
              <a:rPr lang="en-GB" altLang="en-US" sz="1400" dirty="0">
                <a:solidFill>
                  <a:srgbClr val="FFFF00"/>
                </a:solidFill>
                <a:effectLst/>
                <a:latin typeface="Arial" panose="020B0604020202020204" pitchFamily="34" charset="0"/>
              </a:rPr>
              <a:t>Note that in this case the direction of bending is opposite to that in drag folds and so this is sometimes described as</a:t>
            </a:r>
            <a:r>
              <a:rPr lang="en-GB" altLang="en-US" sz="1400" dirty="0">
                <a:effectLst/>
                <a:latin typeface="Arial" panose="020B0604020202020204" pitchFamily="34" charset="0"/>
              </a:rPr>
              <a:t> </a:t>
            </a:r>
            <a:r>
              <a:rPr lang="en-GB" altLang="en-US" sz="1400" dirty="0">
                <a:solidFill>
                  <a:srgbClr val="FF6600"/>
                </a:solidFill>
                <a:effectLst/>
                <a:latin typeface="Arial" panose="020B0604020202020204" pitchFamily="34" charset="0"/>
              </a:rPr>
              <a:t>reverse drag</a:t>
            </a:r>
          </a:p>
        </p:txBody>
      </p:sp>
      <p:pic>
        <p:nvPicPr>
          <p:cNvPr id="15367" name="Picture 1">
            <a:extLst>
              <a:ext uri="{FF2B5EF4-FFF2-40B4-BE49-F238E27FC236}">
                <a16:creationId xmlns:a16="http://schemas.microsoft.com/office/drawing/2014/main" id="{2F5125DC-C7DA-4419-8A17-3DA4725C70C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74675" y="2917500"/>
            <a:ext cx="3311525" cy="1528763"/>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E7CF509E-4BDE-44E0-9394-AD6DA2A5D44B}"/>
              </a:ext>
            </a:extLst>
          </p:cNvPr>
          <p:cNvSpPr>
            <a:spLocks noGrp="1" noChangeArrowheads="1"/>
          </p:cNvSpPr>
          <p:nvPr>
            <p:ph type="title"/>
          </p:nvPr>
        </p:nvSpPr>
        <p:spPr>
          <a:noFill/>
        </p:spPr>
        <p:txBody>
          <a:bodyPr/>
          <a:lstStyle/>
          <a:p>
            <a:r>
              <a:rPr lang="en-GB" altLang="en-US">
                <a:effectLst/>
              </a:rPr>
              <a:t>Slickensides</a:t>
            </a:r>
          </a:p>
        </p:txBody>
      </p:sp>
      <p:sp>
        <p:nvSpPr>
          <p:cNvPr id="16387" name="Rectangle 5">
            <a:extLst>
              <a:ext uri="{FF2B5EF4-FFF2-40B4-BE49-F238E27FC236}">
                <a16:creationId xmlns:a16="http://schemas.microsoft.com/office/drawing/2014/main" id="{E1A097F5-45BD-4F1B-97A9-1903A3153DF1}"/>
              </a:ext>
            </a:extLst>
          </p:cNvPr>
          <p:cNvSpPr>
            <a:spLocks noGrp="1" noChangeArrowheads="1"/>
          </p:cNvSpPr>
          <p:nvPr>
            <p:ph type="body" sz="half" idx="1"/>
          </p:nvPr>
        </p:nvSpPr>
        <p:spPr>
          <a:xfrm>
            <a:off x="106363" y="779463"/>
            <a:ext cx="8926512" cy="1887537"/>
          </a:xfrm>
          <a:noFill/>
        </p:spPr>
        <p:txBody>
          <a:bodyPr/>
          <a:lstStyle/>
          <a:p>
            <a:pPr marL="177800" indent="-177800"/>
            <a:r>
              <a:rPr lang="en-GB" altLang="en-US" sz="1700" dirty="0">
                <a:effectLst/>
              </a:rPr>
              <a:t>In response to movement, fault surfaces commonly become smooth and polished and are then described as </a:t>
            </a:r>
            <a:r>
              <a:rPr lang="en-GB" altLang="en-US" sz="1700" dirty="0">
                <a:solidFill>
                  <a:srgbClr val="FF6600"/>
                </a:solidFill>
                <a:effectLst/>
              </a:rPr>
              <a:t>slickensides</a:t>
            </a:r>
            <a:r>
              <a:rPr lang="en-GB" altLang="en-US" sz="1700" dirty="0">
                <a:effectLst/>
              </a:rPr>
              <a:t> (</a:t>
            </a:r>
            <a:r>
              <a:rPr lang="en-GB" altLang="en-US" sz="1700" i="1" dirty="0" err="1">
                <a:effectLst/>
              </a:rPr>
              <a:t>sensu</a:t>
            </a:r>
            <a:r>
              <a:rPr lang="en-GB" altLang="en-US" sz="1700" i="1" dirty="0">
                <a:effectLst/>
              </a:rPr>
              <a:t> </a:t>
            </a:r>
            <a:r>
              <a:rPr lang="en-GB" altLang="en-US" sz="1700" i="1" dirty="0" err="1">
                <a:effectLst/>
              </a:rPr>
              <a:t>stricto</a:t>
            </a:r>
            <a:r>
              <a:rPr lang="en-GB" altLang="en-US" sz="1700" dirty="0">
                <a:effectLst/>
              </a:rPr>
              <a:t>)</a:t>
            </a:r>
          </a:p>
          <a:p>
            <a:pPr marL="177800" indent="-177800">
              <a:spcBef>
                <a:spcPct val="75000"/>
              </a:spcBef>
            </a:pPr>
            <a:r>
              <a:rPr lang="en-GB" altLang="en-US" sz="1700" dirty="0">
                <a:effectLst/>
              </a:rPr>
              <a:t>Fault surfaces (including slickensides), particularly where they are not perfectly planar, commonly develop three types of </a:t>
            </a:r>
            <a:r>
              <a:rPr lang="en-GB" altLang="en-US" sz="1700" dirty="0">
                <a:solidFill>
                  <a:srgbClr val="FF6600"/>
                </a:solidFill>
                <a:effectLst/>
              </a:rPr>
              <a:t>strongly oriented </a:t>
            </a:r>
            <a:r>
              <a:rPr lang="en-GB" altLang="en-US" sz="1700" dirty="0" err="1">
                <a:solidFill>
                  <a:srgbClr val="FF6600"/>
                </a:solidFill>
                <a:effectLst/>
              </a:rPr>
              <a:t>lineations</a:t>
            </a:r>
            <a:r>
              <a:rPr lang="en-GB" altLang="en-US" sz="1700" dirty="0">
                <a:effectLst/>
              </a:rPr>
              <a:t>, that are also described as slickensides (</a:t>
            </a:r>
            <a:r>
              <a:rPr lang="en-GB" altLang="en-US" sz="1700" i="1" dirty="0" err="1">
                <a:effectLst/>
              </a:rPr>
              <a:t>sensu</a:t>
            </a:r>
            <a:r>
              <a:rPr lang="en-GB" altLang="en-US" sz="1700" i="1" dirty="0">
                <a:effectLst/>
              </a:rPr>
              <a:t> </a:t>
            </a:r>
            <a:r>
              <a:rPr lang="en-GB" altLang="en-US" sz="1700" i="1" dirty="0" err="1">
                <a:effectLst/>
              </a:rPr>
              <a:t>lato</a:t>
            </a:r>
            <a:r>
              <a:rPr lang="en-GB" altLang="en-US" sz="1700" dirty="0">
                <a:effectLst/>
              </a:rPr>
              <a:t>)</a:t>
            </a:r>
          </a:p>
        </p:txBody>
      </p:sp>
      <p:pic>
        <p:nvPicPr>
          <p:cNvPr id="16388" name="Picture 14">
            <a:extLst>
              <a:ext uri="{FF2B5EF4-FFF2-40B4-BE49-F238E27FC236}">
                <a16:creationId xmlns:a16="http://schemas.microsoft.com/office/drawing/2014/main" id="{F7593856-6332-4F2B-ACEA-254A9A376E38}"/>
              </a:ext>
            </a:extLst>
          </p:cNvPr>
          <p:cNvPicPr>
            <a:picLocks noGrp="1" noChangeAspect="1" noChangeArrowheads="1"/>
          </p:cNvPicPr>
          <p:nvPr>
            <p:ph sz="half" idx="2"/>
          </p:nvPr>
        </p:nvPicPr>
        <p:blipFill>
          <a:blip r:embed="rId3">
            <a:lum bright="-6000"/>
            <a:extLst>
              <a:ext uri="{28A0092B-C50C-407E-A947-70E740481C1C}">
                <a14:useLocalDpi xmlns:a14="http://schemas.microsoft.com/office/drawing/2010/main" val="0"/>
              </a:ext>
            </a:extLst>
          </a:blip>
          <a:srcRect/>
          <a:stretch>
            <a:fillRect/>
          </a:stretch>
        </p:blipFill>
        <p:spPr>
          <a:xfrm>
            <a:off x="3540125" y="2609850"/>
            <a:ext cx="5430838" cy="4071938"/>
          </a:xfrm>
          <a:noFill/>
          <a:ln w="38100" cap="flat">
            <a:solidFill>
              <a:schemeClr val="bg2"/>
            </a:solidFill>
            <a:miter lim="800000"/>
            <a:headEnd/>
            <a:tailEnd/>
          </a:ln>
        </p:spPr>
      </p:pic>
      <p:sp>
        <p:nvSpPr>
          <p:cNvPr id="250896" name="Text Box 16">
            <a:extLst>
              <a:ext uri="{FF2B5EF4-FFF2-40B4-BE49-F238E27FC236}">
                <a16:creationId xmlns:a16="http://schemas.microsoft.com/office/drawing/2014/main" id="{873F8B05-C424-45BC-854F-911BFE39F1AB}"/>
              </a:ext>
            </a:extLst>
          </p:cNvPr>
          <p:cNvSpPr txBox="1">
            <a:spLocks noChangeArrowheads="1"/>
          </p:cNvSpPr>
          <p:nvPr/>
        </p:nvSpPr>
        <p:spPr bwMode="auto">
          <a:xfrm>
            <a:off x="111125" y="2733675"/>
            <a:ext cx="3343275" cy="3807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8288" indent="-268288">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AutoNum type="arabicPeriod"/>
            </a:pPr>
            <a:r>
              <a:rPr lang="en-GB" altLang="en-US" sz="1700" dirty="0">
                <a:solidFill>
                  <a:srgbClr val="FF66CC"/>
                </a:solidFill>
                <a:effectLst>
                  <a:outerShdw blurRad="38100" dist="38100" dir="2700000" algn="tl">
                    <a:srgbClr val="000000"/>
                  </a:outerShdw>
                </a:effectLst>
                <a:latin typeface="Arial" panose="020B0604020202020204" pitchFamily="34" charset="0"/>
              </a:rPr>
              <a:t>Ridges and grooves</a:t>
            </a:r>
            <a:r>
              <a:rPr lang="en-GB" altLang="en-US" sz="1700" dirty="0">
                <a:effectLst>
                  <a:outerShdw blurRad="38100" dist="38100" dir="2700000" algn="tl">
                    <a:srgbClr val="000000"/>
                  </a:outerShdw>
                </a:effectLst>
                <a:latin typeface="Arial" panose="020B0604020202020204" pitchFamily="34" charset="0"/>
              </a:rPr>
              <a:t> formed by gouging of the fault surface and by accumulation of debris behind asperities</a:t>
            </a:r>
          </a:p>
          <a:p>
            <a:pPr>
              <a:lnSpc>
                <a:spcPct val="120000"/>
              </a:lnSpc>
              <a:spcBef>
                <a:spcPct val="50000"/>
              </a:spcBef>
              <a:buClr>
                <a:schemeClr val="tx1"/>
              </a:buClr>
              <a:buFontTx/>
              <a:buAutoNum type="arabicPeriod"/>
            </a:pPr>
            <a:r>
              <a:rPr lang="en-GB" altLang="en-US" sz="1700" dirty="0" err="1">
                <a:solidFill>
                  <a:srgbClr val="FF66CC"/>
                </a:solidFill>
                <a:effectLst>
                  <a:outerShdw blurRad="38100" dist="38100" dir="2700000" algn="tl">
                    <a:srgbClr val="000000"/>
                  </a:outerShdw>
                </a:effectLst>
                <a:latin typeface="Arial" panose="020B0604020202020204" pitchFamily="34" charset="0"/>
              </a:rPr>
              <a:t>Slickenfibres</a:t>
            </a:r>
            <a:r>
              <a:rPr lang="en-GB" altLang="en-US" sz="1700" dirty="0">
                <a:effectLst>
                  <a:outerShdw blurRad="38100" dist="38100" dir="2700000" algn="tl">
                    <a:srgbClr val="000000"/>
                  </a:outerShdw>
                </a:effectLst>
                <a:latin typeface="Arial" panose="020B0604020202020204" pitchFamily="34" charset="0"/>
              </a:rPr>
              <a:t> formed by growth of minerals parallel to fault slip vector during slow shearing</a:t>
            </a:r>
          </a:p>
          <a:p>
            <a:pPr>
              <a:lnSpc>
                <a:spcPct val="120000"/>
              </a:lnSpc>
              <a:spcBef>
                <a:spcPct val="50000"/>
              </a:spcBef>
              <a:buClr>
                <a:schemeClr val="tx1"/>
              </a:buClr>
              <a:buFontTx/>
              <a:buAutoNum type="arabicPeriod"/>
            </a:pPr>
            <a:r>
              <a:rPr lang="en-GB" altLang="en-US" sz="1700" dirty="0">
                <a:solidFill>
                  <a:srgbClr val="FF66CC"/>
                </a:solidFill>
                <a:effectLst>
                  <a:outerShdw blurRad="38100" dist="38100" dir="2700000" algn="tl">
                    <a:srgbClr val="000000"/>
                  </a:outerShdw>
                </a:effectLst>
                <a:latin typeface="Arial" panose="020B0604020202020204" pitchFamily="34" charset="0"/>
              </a:rPr>
              <a:t>Mineral streaks</a:t>
            </a:r>
            <a:r>
              <a:rPr lang="en-GB" altLang="en-US" sz="1700" dirty="0">
                <a:effectLst>
                  <a:outerShdw blurRad="38100" dist="38100" dir="2700000" algn="tl">
                    <a:srgbClr val="000000"/>
                  </a:outerShdw>
                </a:effectLst>
                <a:latin typeface="Arial" panose="020B0604020202020204" pitchFamily="34" charset="0"/>
              </a:rPr>
              <a:t> formed from pulverized and streaked out mineral debris</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20" name="Picture 12">
            <a:extLst>
              <a:ext uri="{FF2B5EF4-FFF2-40B4-BE49-F238E27FC236}">
                <a16:creationId xmlns:a16="http://schemas.microsoft.com/office/drawing/2014/main" id="{6E8153D1-2D26-43B7-8517-0FBE3C6A16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88" y="2459038"/>
            <a:ext cx="1865312" cy="114458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0" name="Rectangle 2">
            <a:extLst>
              <a:ext uri="{FF2B5EF4-FFF2-40B4-BE49-F238E27FC236}">
                <a16:creationId xmlns:a16="http://schemas.microsoft.com/office/drawing/2014/main" id="{7FAE9F63-11F2-4A21-9107-27722ADDAB24}"/>
              </a:ext>
            </a:extLst>
          </p:cNvPr>
          <p:cNvSpPr>
            <a:spLocks noGrp="1" noChangeArrowheads="1"/>
          </p:cNvSpPr>
          <p:nvPr>
            <p:ph type="title"/>
          </p:nvPr>
        </p:nvSpPr>
        <p:spPr>
          <a:noFill/>
        </p:spPr>
        <p:txBody>
          <a:bodyPr/>
          <a:lstStyle/>
          <a:p>
            <a:r>
              <a:rPr lang="en-GB" altLang="en-US">
                <a:effectLst/>
              </a:rPr>
              <a:t>Slickensides  2</a:t>
            </a:r>
          </a:p>
        </p:txBody>
      </p:sp>
      <p:sp>
        <p:nvSpPr>
          <p:cNvPr id="17411" name="Rectangle 3">
            <a:extLst>
              <a:ext uri="{FF2B5EF4-FFF2-40B4-BE49-F238E27FC236}">
                <a16:creationId xmlns:a16="http://schemas.microsoft.com/office/drawing/2014/main" id="{6A52ACD2-FFF0-4391-834F-18A2ECBC15F7}"/>
              </a:ext>
            </a:extLst>
          </p:cNvPr>
          <p:cNvSpPr>
            <a:spLocks noGrp="1" noChangeArrowheads="1"/>
          </p:cNvSpPr>
          <p:nvPr>
            <p:ph type="body" sz="half" idx="1"/>
          </p:nvPr>
        </p:nvSpPr>
        <p:spPr>
          <a:xfrm>
            <a:off x="117475" y="762000"/>
            <a:ext cx="8883650" cy="1497013"/>
          </a:xfrm>
          <a:noFill/>
        </p:spPr>
        <p:txBody>
          <a:bodyPr/>
          <a:lstStyle/>
          <a:p>
            <a:pPr marL="177800" indent="-177800"/>
            <a:r>
              <a:rPr lang="en-GB" altLang="en-US" sz="1700">
                <a:effectLst/>
              </a:rPr>
              <a:t>Shearing on non-planar surfaces leads to regions of compression and dilatancy</a:t>
            </a:r>
          </a:p>
          <a:p>
            <a:pPr marL="177800" indent="-177800">
              <a:spcBef>
                <a:spcPct val="50000"/>
              </a:spcBef>
            </a:pPr>
            <a:r>
              <a:rPr lang="en-GB" altLang="en-US" sz="1700">
                <a:effectLst/>
              </a:rPr>
              <a:t>On surfaces under compression </a:t>
            </a:r>
            <a:r>
              <a:rPr lang="en-GB" altLang="en-US" sz="1700">
                <a:solidFill>
                  <a:srgbClr val="FF66CC"/>
                </a:solidFill>
                <a:effectLst/>
              </a:rPr>
              <a:t>slickolites</a:t>
            </a:r>
            <a:r>
              <a:rPr lang="en-GB" altLang="en-US" sz="1700">
                <a:effectLst/>
              </a:rPr>
              <a:t> may develop, or there may be </a:t>
            </a:r>
            <a:r>
              <a:rPr lang="en-GB" altLang="en-US" sz="1700">
                <a:solidFill>
                  <a:srgbClr val="FF66CC"/>
                </a:solidFill>
                <a:effectLst/>
              </a:rPr>
              <a:t>enhanced damage</a:t>
            </a:r>
            <a:r>
              <a:rPr lang="en-GB" altLang="en-US" sz="1700">
                <a:effectLst/>
              </a:rPr>
              <a:t> such as crushing and fracturing; on dilatant surfaces there may be mineral precipitation to form </a:t>
            </a:r>
            <a:r>
              <a:rPr lang="en-GB" altLang="en-US" sz="1700">
                <a:solidFill>
                  <a:srgbClr val="FF66CC"/>
                </a:solidFill>
                <a:effectLst/>
              </a:rPr>
              <a:t>slickenfibres</a:t>
            </a:r>
            <a:endParaRPr lang="en-GB" altLang="en-US" sz="1700">
              <a:effectLst/>
            </a:endParaRPr>
          </a:p>
        </p:txBody>
      </p:sp>
      <p:sp>
        <p:nvSpPr>
          <p:cNvPr id="253966" name="Text Box 14">
            <a:extLst>
              <a:ext uri="{FF2B5EF4-FFF2-40B4-BE49-F238E27FC236}">
                <a16:creationId xmlns:a16="http://schemas.microsoft.com/office/drawing/2014/main" id="{D010BB81-1647-4705-B371-6B02A1D9EE6A}"/>
              </a:ext>
            </a:extLst>
          </p:cNvPr>
          <p:cNvSpPr txBox="1">
            <a:spLocks noChangeArrowheads="1"/>
          </p:cNvSpPr>
          <p:nvPr/>
        </p:nvSpPr>
        <p:spPr bwMode="auto">
          <a:xfrm>
            <a:off x="119063" y="5516563"/>
            <a:ext cx="4916487"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With care such features may be used to indicate </a:t>
            </a:r>
            <a:r>
              <a:rPr lang="en-GB" altLang="en-US" sz="1700">
                <a:solidFill>
                  <a:srgbClr val="FF6600"/>
                </a:solidFill>
                <a:effectLst>
                  <a:outerShdw blurRad="38100" dist="38100" dir="2700000" algn="tl">
                    <a:srgbClr val="000000"/>
                  </a:outerShdw>
                </a:effectLst>
                <a:latin typeface="Arial" panose="020B0604020202020204" pitchFamily="34" charset="0"/>
              </a:rPr>
              <a:t>slip sense</a:t>
            </a:r>
            <a:r>
              <a:rPr lang="en-GB" altLang="en-US" sz="1700">
                <a:effectLst>
                  <a:outerShdw blurRad="38100" dist="38100" dir="2700000" algn="tl">
                    <a:srgbClr val="000000"/>
                  </a:outerShdw>
                </a:effectLst>
                <a:latin typeface="Arial" panose="020B0604020202020204" pitchFamily="34" charset="0"/>
              </a:rPr>
              <a:t>, the lineation itself providing the </a:t>
            </a:r>
            <a:r>
              <a:rPr lang="en-GB" altLang="en-US" sz="1700">
                <a:solidFill>
                  <a:srgbClr val="FF66CC"/>
                </a:solidFill>
                <a:effectLst>
                  <a:outerShdw blurRad="38100" dist="38100" dir="2700000" algn="tl">
                    <a:srgbClr val="000000"/>
                  </a:outerShdw>
                </a:effectLst>
                <a:latin typeface="Arial" panose="020B0604020202020204" pitchFamily="34" charset="0"/>
              </a:rPr>
              <a:t>line of slip</a:t>
            </a:r>
          </a:p>
        </p:txBody>
      </p:sp>
      <p:pic>
        <p:nvPicPr>
          <p:cNvPr id="17421" name="Picture 13" descr="05a1">
            <a:extLst>
              <a:ext uri="{FF2B5EF4-FFF2-40B4-BE49-F238E27FC236}">
                <a16:creationId xmlns:a16="http://schemas.microsoft.com/office/drawing/2014/main" id="{CE5C0283-6988-4242-B612-76B289A2C8E0}"/>
              </a:ext>
            </a:extLst>
          </p:cNvPr>
          <p:cNvPicPr>
            <a:picLocks noChangeAspect="1" noChangeArrowheads="1"/>
          </p:cNvPicPr>
          <p:nvPr/>
        </p:nvPicPr>
        <p:blipFill>
          <a:blip r:embed="rId4">
            <a:lum contrast="10000"/>
            <a:extLst>
              <a:ext uri="{28A0092B-C50C-407E-A947-70E740481C1C}">
                <a14:useLocalDpi xmlns:a14="http://schemas.microsoft.com/office/drawing/2010/main" val="0"/>
              </a:ext>
            </a:extLst>
          </a:blip>
          <a:srcRect/>
          <a:stretch>
            <a:fillRect/>
          </a:stretch>
        </p:blipFill>
        <p:spPr bwMode="auto">
          <a:xfrm>
            <a:off x="5448300" y="2459038"/>
            <a:ext cx="3538538" cy="40576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7422" name="Picture 14" descr="05a3">
            <a:extLst>
              <a:ext uri="{FF2B5EF4-FFF2-40B4-BE49-F238E27FC236}">
                <a16:creationId xmlns:a16="http://schemas.microsoft.com/office/drawing/2014/main" id="{E1D1FB85-48B8-4785-B38D-631C62FC421A}"/>
              </a:ext>
            </a:extLst>
          </p:cNvPr>
          <p:cNvPicPr>
            <a:picLocks noChangeAspect="1" noChangeArrowheads="1"/>
          </p:cNvPicPr>
          <p:nvPr/>
        </p:nvPicPr>
        <p:blipFill>
          <a:blip r:embed="rId5">
            <a:lum contrast="10000"/>
            <a:extLst>
              <a:ext uri="{28A0092B-C50C-407E-A947-70E740481C1C}">
                <a14:useLocalDpi xmlns:a14="http://schemas.microsoft.com/office/drawing/2010/main" val="0"/>
              </a:ext>
            </a:extLst>
          </a:blip>
          <a:srcRect/>
          <a:stretch>
            <a:fillRect/>
          </a:stretch>
        </p:blipFill>
        <p:spPr bwMode="auto">
          <a:xfrm>
            <a:off x="2185988" y="2459038"/>
            <a:ext cx="3071812" cy="28432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45" name="Picture 13" descr="05b2a">
            <a:extLst>
              <a:ext uri="{FF2B5EF4-FFF2-40B4-BE49-F238E27FC236}">
                <a16:creationId xmlns:a16="http://schemas.microsoft.com/office/drawing/2014/main" id="{7279D4BD-F3A5-4778-ACCE-000E12AFB1B6}"/>
              </a:ext>
            </a:extLst>
          </p:cNvPr>
          <p:cNvPicPr>
            <a:picLocks noChangeAspect="1" noChangeArrowheads="1"/>
          </p:cNvPicPr>
          <p:nvPr/>
        </p:nvPicPr>
        <p:blipFill>
          <a:blip r:embed="rId3">
            <a:lum bright="-4000" contrast="-10000"/>
            <a:extLst>
              <a:ext uri="{28A0092B-C50C-407E-A947-70E740481C1C}">
                <a14:useLocalDpi xmlns:a14="http://schemas.microsoft.com/office/drawing/2010/main" val="0"/>
              </a:ext>
            </a:extLst>
          </a:blip>
          <a:srcRect/>
          <a:stretch>
            <a:fillRect/>
          </a:stretch>
        </p:blipFill>
        <p:spPr bwMode="auto">
          <a:xfrm>
            <a:off x="366713" y="1593850"/>
            <a:ext cx="3538537" cy="50927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8446" name="Picture 14" descr="05b1a">
            <a:extLst>
              <a:ext uri="{FF2B5EF4-FFF2-40B4-BE49-F238E27FC236}">
                <a16:creationId xmlns:a16="http://schemas.microsoft.com/office/drawing/2014/main" id="{A1076378-44AD-4C58-8D31-4245EC1E56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6750" y="4276725"/>
            <a:ext cx="4105275" cy="24098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7042" name="Rectangle 18">
            <a:extLst>
              <a:ext uri="{FF2B5EF4-FFF2-40B4-BE49-F238E27FC236}">
                <a16:creationId xmlns:a16="http://schemas.microsoft.com/office/drawing/2014/main" id="{2AED3C69-F5F5-4554-A7E7-5788A77169E4}"/>
              </a:ext>
            </a:extLst>
          </p:cNvPr>
          <p:cNvSpPr>
            <a:spLocks noChangeArrowheads="1"/>
          </p:cNvSpPr>
          <p:nvPr/>
        </p:nvSpPr>
        <p:spPr bwMode="auto">
          <a:xfrm>
            <a:off x="498475" y="6270625"/>
            <a:ext cx="757238" cy="27781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18436" name="Rectangle 2">
            <a:extLst>
              <a:ext uri="{FF2B5EF4-FFF2-40B4-BE49-F238E27FC236}">
                <a16:creationId xmlns:a16="http://schemas.microsoft.com/office/drawing/2014/main" id="{67674A4A-F1D3-449D-861F-9ADBFCF7A422}"/>
              </a:ext>
            </a:extLst>
          </p:cNvPr>
          <p:cNvSpPr>
            <a:spLocks noGrp="1" noChangeArrowheads="1"/>
          </p:cNvSpPr>
          <p:nvPr>
            <p:ph type="title"/>
          </p:nvPr>
        </p:nvSpPr>
        <p:spPr>
          <a:noFill/>
        </p:spPr>
        <p:txBody>
          <a:bodyPr/>
          <a:lstStyle/>
          <a:p>
            <a:r>
              <a:rPr lang="en-GB" altLang="en-US">
                <a:effectLst/>
              </a:rPr>
              <a:t>Slickenfibres</a:t>
            </a:r>
          </a:p>
        </p:txBody>
      </p:sp>
      <p:sp>
        <p:nvSpPr>
          <p:cNvPr id="18437" name="Rectangle 3">
            <a:extLst>
              <a:ext uri="{FF2B5EF4-FFF2-40B4-BE49-F238E27FC236}">
                <a16:creationId xmlns:a16="http://schemas.microsoft.com/office/drawing/2014/main" id="{A37261F1-ECCD-4CAE-B287-516CD5C6519D}"/>
              </a:ext>
            </a:extLst>
          </p:cNvPr>
          <p:cNvSpPr>
            <a:spLocks noGrp="1" noChangeArrowheads="1"/>
          </p:cNvSpPr>
          <p:nvPr>
            <p:ph type="body" sz="half" idx="1"/>
          </p:nvPr>
        </p:nvSpPr>
        <p:spPr>
          <a:xfrm>
            <a:off x="136525" y="760413"/>
            <a:ext cx="5100493" cy="760412"/>
          </a:xfrm>
          <a:noFill/>
        </p:spPr>
        <p:txBody>
          <a:bodyPr/>
          <a:lstStyle/>
          <a:p>
            <a:pPr marL="177800" indent="-177800"/>
            <a:r>
              <a:rPr lang="en-GB" altLang="en-US" sz="1700" dirty="0" err="1">
                <a:effectLst/>
              </a:rPr>
              <a:t>Slickenfibres</a:t>
            </a:r>
            <a:r>
              <a:rPr lang="en-GB" altLang="en-US" sz="1700" dirty="0">
                <a:effectLst/>
              </a:rPr>
              <a:t> form during </a:t>
            </a:r>
            <a:r>
              <a:rPr lang="en-GB" altLang="en-US" sz="1700" dirty="0">
                <a:solidFill>
                  <a:srgbClr val="FF66CC"/>
                </a:solidFill>
                <a:effectLst/>
              </a:rPr>
              <a:t>slow aseismic slip</a:t>
            </a:r>
            <a:r>
              <a:rPr lang="en-GB" altLang="en-US" sz="1700" dirty="0">
                <a:effectLst/>
              </a:rPr>
              <a:t> (fibre growth is slow) as dilatant surfaces separate</a:t>
            </a:r>
          </a:p>
        </p:txBody>
      </p:sp>
      <p:sp>
        <p:nvSpPr>
          <p:cNvPr id="257039" name="Text Box 15">
            <a:extLst>
              <a:ext uri="{FF2B5EF4-FFF2-40B4-BE49-F238E27FC236}">
                <a16:creationId xmlns:a16="http://schemas.microsoft.com/office/drawing/2014/main" id="{99D71BEB-806D-44ED-8261-9292D120D105}"/>
              </a:ext>
            </a:extLst>
          </p:cNvPr>
          <p:cNvSpPr txBox="1">
            <a:spLocks noChangeArrowheads="1"/>
          </p:cNvSpPr>
          <p:nvPr/>
        </p:nvSpPr>
        <p:spPr bwMode="auto">
          <a:xfrm>
            <a:off x="4046538" y="2196950"/>
            <a:ext cx="4976812" cy="10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75000"/>
              </a:spcBef>
              <a:buClr>
                <a:schemeClr val="folHlink"/>
              </a:buClr>
              <a:buSzPct val="100000"/>
              <a:buFont typeface="Times" charset="0"/>
              <a:buChar char="•"/>
              <a:defRPr/>
            </a:pPr>
            <a:r>
              <a:rPr lang="en-GB" sz="1700" dirty="0">
                <a:effectLst/>
                <a:latin typeface="Arial" charset="0"/>
              </a:rPr>
              <a:t>They are exposed by the removal of part of one of the fault blocks – when the block is removed the fibres break to form steps</a:t>
            </a:r>
          </a:p>
        </p:txBody>
      </p:sp>
      <p:sp>
        <p:nvSpPr>
          <p:cNvPr id="18441" name="Text Box 17">
            <a:extLst>
              <a:ext uri="{FF2B5EF4-FFF2-40B4-BE49-F238E27FC236}">
                <a16:creationId xmlns:a16="http://schemas.microsoft.com/office/drawing/2014/main" id="{951C9A6A-3B81-4A14-B3B0-789933A90BB7}"/>
              </a:ext>
            </a:extLst>
          </p:cNvPr>
          <p:cNvSpPr txBox="1">
            <a:spLocks noChangeArrowheads="1"/>
          </p:cNvSpPr>
          <p:nvPr/>
        </p:nvSpPr>
        <p:spPr bwMode="auto">
          <a:xfrm>
            <a:off x="471488" y="6224588"/>
            <a:ext cx="13573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dirty="0">
                <a:solidFill>
                  <a:srgbClr val="FF0000"/>
                </a:solidFill>
                <a:effectLst/>
                <a:latin typeface="Arial" panose="020B0604020202020204" pitchFamily="34" charset="0"/>
              </a:rPr>
              <a:t>dextral</a:t>
            </a:r>
          </a:p>
        </p:txBody>
      </p:sp>
      <p:sp>
        <p:nvSpPr>
          <p:cNvPr id="257043" name="Rectangle 19">
            <a:extLst>
              <a:ext uri="{FF2B5EF4-FFF2-40B4-BE49-F238E27FC236}">
                <a16:creationId xmlns:a16="http://schemas.microsoft.com/office/drawing/2014/main" id="{E644EAAE-A8BF-47CC-947D-DBF1F10F1058}"/>
              </a:ext>
            </a:extLst>
          </p:cNvPr>
          <p:cNvSpPr>
            <a:spLocks noChangeArrowheads="1"/>
          </p:cNvSpPr>
          <p:nvPr/>
        </p:nvSpPr>
        <p:spPr bwMode="auto">
          <a:xfrm>
            <a:off x="4649788" y="6292850"/>
            <a:ext cx="812800" cy="27781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18443" name="Text Box 20">
            <a:extLst>
              <a:ext uri="{FF2B5EF4-FFF2-40B4-BE49-F238E27FC236}">
                <a16:creationId xmlns:a16="http://schemas.microsoft.com/office/drawing/2014/main" id="{CF1B030E-4CA3-4D81-914C-A81719A079AA}"/>
              </a:ext>
            </a:extLst>
          </p:cNvPr>
          <p:cNvSpPr txBox="1">
            <a:spLocks noChangeArrowheads="1"/>
          </p:cNvSpPr>
          <p:nvPr/>
        </p:nvSpPr>
        <p:spPr bwMode="auto">
          <a:xfrm>
            <a:off x="4622800" y="6246813"/>
            <a:ext cx="13573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a:solidFill>
                  <a:srgbClr val="FF0000"/>
                </a:solidFill>
                <a:effectLst/>
                <a:latin typeface="Arial" panose="020B0604020202020204" pitchFamily="34" charset="0"/>
              </a:rPr>
              <a:t>sinistral</a:t>
            </a:r>
          </a:p>
        </p:txBody>
      </p:sp>
      <p:pic>
        <p:nvPicPr>
          <p:cNvPr id="18447" name="Picture 15" descr="05b3">
            <a:extLst>
              <a:ext uri="{FF2B5EF4-FFF2-40B4-BE49-F238E27FC236}">
                <a16:creationId xmlns:a16="http://schemas.microsoft.com/office/drawing/2014/main" id="{4E47A864-DA84-4EB6-A847-02FA8E6D20BC}"/>
              </a:ext>
            </a:extLst>
          </p:cNvPr>
          <p:cNvPicPr>
            <a:picLocks noChangeAspect="1" noChangeArrowheads="1"/>
          </p:cNvPicPr>
          <p:nvPr/>
        </p:nvPicPr>
        <p:blipFill>
          <a:blip r:embed="rId5">
            <a:lum contrast="20000"/>
            <a:extLst>
              <a:ext uri="{28A0092B-C50C-407E-A947-70E740481C1C}">
                <a14:useLocalDpi xmlns:a14="http://schemas.microsoft.com/office/drawing/2010/main" val="0"/>
              </a:ext>
            </a:extLst>
          </a:blip>
          <a:srcRect/>
          <a:stretch>
            <a:fillRect/>
          </a:stretch>
        </p:blipFill>
        <p:spPr bwMode="auto">
          <a:xfrm>
            <a:off x="5679807" y="921637"/>
            <a:ext cx="3214687" cy="11271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2" name="Text Box 15">
            <a:extLst>
              <a:ext uri="{FF2B5EF4-FFF2-40B4-BE49-F238E27FC236}">
                <a16:creationId xmlns:a16="http://schemas.microsoft.com/office/drawing/2014/main" id="{96430051-7528-4CB5-B98A-A8ADFFD442BE}"/>
              </a:ext>
            </a:extLst>
          </p:cNvPr>
          <p:cNvSpPr txBox="1">
            <a:spLocks noChangeArrowheads="1"/>
          </p:cNvSpPr>
          <p:nvPr/>
        </p:nvSpPr>
        <p:spPr bwMode="auto">
          <a:xfrm>
            <a:off x="4353956" y="3314788"/>
            <a:ext cx="4362532"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6213" indent="-17621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marL="0" indent="0">
              <a:lnSpc>
                <a:spcPct val="120000"/>
              </a:lnSpc>
              <a:spcBef>
                <a:spcPct val="75000"/>
              </a:spcBef>
              <a:buClr>
                <a:schemeClr val="folHlink"/>
              </a:buClr>
              <a:buSzPct val="100000"/>
              <a:defRPr/>
            </a:pPr>
            <a:r>
              <a:rPr lang="en-GB" sz="1400" dirty="0">
                <a:solidFill>
                  <a:srgbClr val="FFFF00"/>
                </a:solidFill>
                <a:effectLst/>
                <a:latin typeface="Arial" charset="0"/>
              </a:rPr>
              <a:t>Your hand when rubbed on the surface in the </a:t>
            </a:r>
            <a:r>
              <a:rPr lang="en-GB" sz="1400" dirty="0">
                <a:solidFill>
                  <a:srgbClr val="FF66CC"/>
                </a:solidFill>
                <a:effectLst/>
                <a:latin typeface="Arial" charset="0"/>
              </a:rPr>
              <a:t>smooth direction </a:t>
            </a:r>
            <a:r>
              <a:rPr lang="en-GB" sz="1400" dirty="0">
                <a:solidFill>
                  <a:srgbClr val="FFFF00"/>
                </a:solidFill>
                <a:effectLst/>
                <a:latin typeface="Arial" charset="0"/>
              </a:rPr>
              <a:t>(down the steps) is moving in the direction of the missing block</a:t>
            </a:r>
            <a:endParaRPr lang="en-GB" sz="1400" dirty="0">
              <a:solidFill>
                <a:srgbClr val="FFFF00"/>
              </a:solidFill>
              <a:effectLst>
                <a:outerShdw blurRad="38100" dist="38100" dir="2700000" algn="tl">
                  <a:srgbClr val="000000"/>
                </a:outerShdw>
              </a:effectLst>
              <a:latin typeface="Arial"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07871CC-176B-477E-BF43-7C535E59074E}"/>
              </a:ext>
            </a:extLst>
          </p:cNvPr>
          <p:cNvSpPr>
            <a:spLocks noGrp="1" noChangeArrowheads="1"/>
          </p:cNvSpPr>
          <p:nvPr>
            <p:ph type="title"/>
          </p:nvPr>
        </p:nvSpPr>
        <p:spPr>
          <a:noFill/>
        </p:spPr>
        <p:txBody>
          <a:bodyPr/>
          <a:lstStyle/>
          <a:p>
            <a:r>
              <a:rPr lang="en-GB" altLang="en-US">
                <a:effectLst/>
              </a:rPr>
              <a:t>Ridges and grooves (gouging and plucking)</a:t>
            </a:r>
          </a:p>
        </p:txBody>
      </p:sp>
      <p:sp>
        <p:nvSpPr>
          <p:cNvPr id="19459" name="Rectangle 3">
            <a:extLst>
              <a:ext uri="{FF2B5EF4-FFF2-40B4-BE49-F238E27FC236}">
                <a16:creationId xmlns:a16="http://schemas.microsoft.com/office/drawing/2014/main" id="{D3AAC541-295C-4537-9399-D52B0082C11E}"/>
              </a:ext>
            </a:extLst>
          </p:cNvPr>
          <p:cNvSpPr>
            <a:spLocks noGrp="1" noChangeArrowheads="1"/>
          </p:cNvSpPr>
          <p:nvPr>
            <p:ph type="body" sz="half" idx="1"/>
          </p:nvPr>
        </p:nvSpPr>
        <p:spPr>
          <a:xfrm>
            <a:off x="127000" y="752475"/>
            <a:ext cx="8788400" cy="785813"/>
          </a:xfrm>
          <a:noFill/>
        </p:spPr>
        <p:txBody>
          <a:bodyPr/>
          <a:lstStyle/>
          <a:p>
            <a:pPr marL="177800" indent="-177800"/>
            <a:r>
              <a:rPr lang="en-GB" altLang="en-US" sz="1700" dirty="0">
                <a:solidFill>
                  <a:srgbClr val="FF66CC"/>
                </a:solidFill>
                <a:effectLst/>
              </a:rPr>
              <a:t>Tool marks</a:t>
            </a:r>
            <a:r>
              <a:rPr lang="en-GB" altLang="en-US" sz="1700" dirty="0">
                <a:effectLst/>
              </a:rPr>
              <a:t> created by asperities (hard mineral grains) and </a:t>
            </a:r>
            <a:r>
              <a:rPr lang="en-GB" altLang="en-US" sz="1700" dirty="0">
                <a:solidFill>
                  <a:srgbClr val="FF66CC"/>
                </a:solidFill>
                <a:effectLst/>
              </a:rPr>
              <a:t>pluck holes</a:t>
            </a:r>
            <a:r>
              <a:rPr lang="en-GB" altLang="en-US" sz="1700" dirty="0">
                <a:effectLst/>
              </a:rPr>
              <a:t> may be used to support evaluations of slip sense, but they can be difficult to use on their own</a:t>
            </a:r>
          </a:p>
        </p:txBody>
      </p:sp>
      <p:grpSp>
        <p:nvGrpSpPr>
          <p:cNvPr id="19460" name="Group 15">
            <a:extLst>
              <a:ext uri="{FF2B5EF4-FFF2-40B4-BE49-F238E27FC236}">
                <a16:creationId xmlns:a16="http://schemas.microsoft.com/office/drawing/2014/main" id="{3FBD4EE3-5579-400D-AF30-A8304936E16D}"/>
              </a:ext>
            </a:extLst>
          </p:cNvPr>
          <p:cNvGrpSpPr>
            <a:grpSpLocks/>
          </p:cNvGrpSpPr>
          <p:nvPr/>
        </p:nvGrpSpPr>
        <p:grpSpPr bwMode="auto">
          <a:xfrm>
            <a:off x="928688" y="1644650"/>
            <a:ext cx="7439025" cy="3684588"/>
            <a:chOff x="401" y="1786"/>
            <a:chExt cx="4946" cy="2450"/>
          </a:xfrm>
        </p:grpSpPr>
        <p:sp>
          <p:nvSpPr>
            <p:cNvPr id="261134" name="Rectangle 14">
              <a:extLst>
                <a:ext uri="{FF2B5EF4-FFF2-40B4-BE49-F238E27FC236}">
                  <a16:creationId xmlns:a16="http://schemas.microsoft.com/office/drawing/2014/main" id="{DE7930DB-02EE-4A0B-9918-041A2AE14F74}"/>
                </a:ext>
              </a:extLst>
            </p:cNvPr>
            <p:cNvSpPr>
              <a:spLocks noChangeArrowheads="1"/>
            </p:cNvSpPr>
            <p:nvPr/>
          </p:nvSpPr>
          <p:spPr bwMode="auto">
            <a:xfrm>
              <a:off x="401" y="1786"/>
              <a:ext cx="4946" cy="24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19463" name="Picture 12" descr="05c">
              <a:extLst>
                <a:ext uri="{FF2B5EF4-FFF2-40B4-BE49-F238E27FC236}">
                  <a16:creationId xmlns:a16="http://schemas.microsoft.com/office/drawing/2014/main" id="{DE2B863E-1677-47AF-BC26-605074C80C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 y="1841"/>
              <a:ext cx="4853" cy="2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261136" name="Text Box 16">
            <a:extLst>
              <a:ext uri="{FF2B5EF4-FFF2-40B4-BE49-F238E27FC236}">
                <a16:creationId xmlns:a16="http://schemas.microsoft.com/office/drawing/2014/main" id="{FC588ED2-0275-4F11-981E-D13E9AB41DFF}"/>
              </a:ext>
            </a:extLst>
          </p:cNvPr>
          <p:cNvSpPr txBox="1">
            <a:spLocks noChangeArrowheads="1"/>
          </p:cNvSpPr>
          <p:nvPr/>
        </p:nvSpPr>
        <p:spPr bwMode="auto">
          <a:xfrm>
            <a:off x="1027113" y="5402263"/>
            <a:ext cx="7337425"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04800" indent="-304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25000"/>
              </a:spcBef>
              <a:buClr>
                <a:srgbClr val="FFFF00"/>
              </a:buClr>
              <a:buFontTx/>
              <a:buAutoNum type="alphaUcPeriod"/>
            </a:pPr>
            <a:r>
              <a:rPr lang="en-GB" altLang="en-US" sz="1400">
                <a:solidFill>
                  <a:srgbClr val="FFFF00"/>
                </a:solidFill>
                <a:effectLst>
                  <a:outerShdw blurRad="38100" dist="38100" dir="2700000" algn="tl">
                    <a:srgbClr val="000000"/>
                  </a:outerShdw>
                </a:effectLst>
                <a:latin typeface="Arial" panose="020B0604020202020204" pitchFamily="34" charset="0"/>
              </a:rPr>
              <a:t>Tool mark gouged out by an asperity in the opposite wall</a:t>
            </a:r>
          </a:p>
          <a:p>
            <a:pPr>
              <a:lnSpc>
                <a:spcPct val="120000"/>
              </a:lnSpc>
              <a:spcBef>
                <a:spcPct val="25000"/>
              </a:spcBef>
              <a:buClr>
                <a:srgbClr val="FFFF00"/>
              </a:buClr>
              <a:buFontTx/>
              <a:buAutoNum type="alphaUcPeriod"/>
            </a:pPr>
            <a:r>
              <a:rPr lang="en-GB" altLang="en-US" sz="1400">
                <a:solidFill>
                  <a:srgbClr val="FFFF00"/>
                </a:solidFill>
                <a:effectLst>
                  <a:outerShdw blurRad="38100" dist="38100" dir="2700000" algn="tl">
                    <a:srgbClr val="000000"/>
                  </a:outerShdw>
                </a:effectLst>
                <a:latin typeface="Arial" panose="020B0604020202020204" pitchFamily="34" charset="0"/>
              </a:rPr>
              <a:t>Tool mark created by an asperity that is being ploughed deeper into the fault surface</a:t>
            </a:r>
          </a:p>
          <a:p>
            <a:pPr>
              <a:lnSpc>
                <a:spcPct val="120000"/>
              </a:lnSpc>
              <a:spcBef>
                <a:spcPct val="25000"/>
              </a:spcBef>
              <a:buClr>
                <a:srgbClr val="FFFF00"/>
              </a:buClr>
              <a:buFontTx/>
              <a:buAutoNum type="alphaUcPeriod"/>
            </a:pPr>
            <a:r>
              <a:rPr lang="en-GB" altLang="en-US" sz="1400">
                <a:solidFill>
                  <a:srgbClr val="FFFF00"/>
                </a:solidFill>
                <a:effectLst>
                  <a:outerShdw blurRad="38100" dist="38100" dir="2700000" algn="tl">
                    <a:srgbClr val="000000"/>
                  </a:outerShdw>
                </a:effectLst>
                <a:latin typeface="Arial" panose="020B0604020202020204" pitchFamily="34" charset="0"/>
              </a:rPr>
              <a:t>Tool mark created by an asperity that is being progressively destroyed during shearing</a:t>
            </a:r>
          </a:p>
          <a:p>
            <a:pPr>
              <a:lnSpc>
                <a:spcPct val="120000"/>
              </a:lnSpc>
              <a:spcBef>
                <a:spcPct val="25000"/>
              </a:spcBef>
              <a:buClr>
                <a:srgbClr val="FFFF00"/>
              </a:buClr>
              <a:buFontTx/>
              <a:buAutoNum type="alphaUcPeriod"/>
            </a:pPr>
            <a:r>
              <a:rPr lang="en-GB" altLang="en-US" sz="1400">
                <a:solidFill>
                  <a:srgbClr val="FFFF00"/>
                </a:solidFill>
                <a:effectLst>
                  <a:outerShdw blurRad="38100" dist="38100" dir="2700000" algn="tl">
                    <a:srgbClr val="000000"/>
                  </a:outerShdw>
                </a:effectLst>
                <a:latin typeface="Arial" panose="020B0604020202020204" pitchFamily="34" charset="0"/>
              </a:rPr>
              <a:t>Asymmetric pluck hole</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9EC0A33-0884-4AA6-998C-0A14F47CEE61}"/>
              </a:ext>
            </a:extLst>
          </p:cNvPr>
          <p:cNvSpPr>
            <a:spLocks noGrp="1" noChangeArrowheads="1"/>
          </p:cNvSpPr>
          <p:nvPr>
            <p:ph type="title"/>
          </p:nvPr>
        </p:nvSpPr>
        <p:spPr>
          <a:noFill/>
        </p:spPr>
        <p:txBody>
          <a:bodyPr/>
          <a:lstStyle/>
          <a:p>
            <a:r>
              <a:rPr lang="en-GB" altLang="en-US">
                <a:effectLst/>
              </a:rPr>
              <a:t>Ridges and grooves (gouging and plucking)</a:t>
            </a:r>
          </a:p>
        </p:txBody>
      </p:sp>
      <p:sp>
        <p:nvSpPr>
          <p:cNvPr id="334855" name="Text Box 7">
            <a:extLst>
              <a:ext uri="{FF2B5EF4-FFF2-40B4-BE49-F238E27FC236}">
                <a16:creationId xmlns:a16="http://schemas.microsoft.com/office/drawing/2014/main" id="{44C89E9E-38DF-4688-B72B-6663179A565E}"/>
              </a:ext>
            </a:extLst>
          </p:cNvPr>
          <p:cNvSpPr txBox="1">
            <a:spLocks noChangeArrowheads="1"/>
          </p:cNvSpPr>
          <p:nvPr/>
        </p:nvSpPr>
        <p:spPr bwMode="auto">
          <a:xfrm>
            <a:off x="869950" y="6186488"/>
            <a:ext cx="7656513"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charset="0"/>
              </a:defRPr>
            </a:lvl1pPr>
            <a:lvl2pPr marL="762000" indent="-304800">
              <a:defRPr sz="1600">
                <a:solidFill>
                  <a:schemeClr val="tx1"/>
                </a:solidFill>
                <a:latin typeface="Helvetica" charset="0"/>
              </a:defRPr>
            </a:lvl2pPr>
            <a:lvl3pPr marL="1236663" indent="-304800">
              <a:defRPr sz="1600">
                <a:solidFill>
                  <a:schemeClr val="tx1"/>
                </a:solidFill>
                <a:latin typeface="Helvetica" charset="0"/>
              </a:defRPr>
            </a:lvl3pPr>
            <a:lvl4pPr marL="1720850" indent="-304800">
              <a:defRPr sz="1600">
                <a:solidFill>
                  <a:schemeClr val="tx1"/>
                </a:solidFill>
                <a:latin typeface="Helvetica" charset="0"/>
              </a:defRPr>
            </a:lvl4pPr>
            <a:lvl5pPr marL="2205038" indent="-304800">
              <a:defRPr sz="1600">
                <a:solidFill>
                  <a:schemeClr val="tx1"/>
                </a:solidFill>
                <a:latin typeface="Helvetica" charset="0"/>
              </a:defRPr>
            </a:lvl5pPr>
            <a:lvl6pPr marL="2662238" indent="-304800" eaLnBrk="0" fontAlgn="base" hangingPunct="0">
              <a:spcBef>
                <a:spcPct val="20000"/>
              </a:spcBef>
              <a:spcAft>
                <a:spcPct val="0"/>
              </a:spcAft>
              <a:buClr>
                <a:schemeClr val="accent2"/>
              </a:buClr>
              <a:defRPr sz="1600">
                <a:solidFill>
                  <a:schemeClr val="tx1"/>
                </a:solidFill>
                <a:latin typeface="Helvetica" charset="0"/>
              </a:defRPr>
            </a:lvl6pPr>
            <a:lvl7pPr marL="3119438" indent="-304800" eaLnBrk="0" fontAlgn="base" hangingPunct="0">
              <a:spcBef>
                <a:spcPct val="20000"/>
              </a:spcBef>
              <a:spcAft>
                <a:spcPct val="0"/>
              </a:spcAft>
              <a:buClr>
                <a:schemeClr val="accent2"/>
              </a:buClr>
              <a:defRPr sz="1600">
                <a:solidFill>
                  <a:schemeClr val="tx1"/>
                </a:solidFill>
                <a:latin typeface="Helvetica" charset="0"/>
              </a:defRPr>
            </a:lvl7pPr>
            <a:lvl8pPr marL="3576638" indent="-304800" eaLnBrk="0" fontAlgn="base" hangingPunct="0">
              <a:spcBef>
                <a:spcPct val="20000"/>
              </a:spcBef>
              <a:spcAft>
                <a:spcPct val="0"/>
              </a:spcAft>
              <a:buClr>
                <a:schemeClr val="accent2"/>
              </a:buClr>
              <a:defRPr sz="1600">
                <a:solidFill>
                  <a:schemeClr val="tx1"/>
                </a:solidFill>
                <a:latin typeface="Helvetica" charset="0"/>
              </a:defRPr>
            </a:lvl8pPr>
            <a:lvl9pPr marL="4033838" indent="-304800"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0"/>
              </a:spcBef>
              <a:buClr>
                <a:srgbClr val="FFFF00"/>
              </a:buClr>
              <a:defRPr/>
            </a:pPr>
            <a:r>
              <a:rPr lang="en-GB" sz="1400">
                <a:solidFill>
                  <a:srgbClr val="FFFF00"/>
                </a:solidFill>
                <a:effectLst>
                  <a:outerShdw blurRad="38100" dist="38100" dir="2700000" algn="tl">
                    <a:srgbClr val="000000"/>
                  </a:outerShdw>
                </a:effectLst>
                <a:latin typeface="Arial" charset="0"/>
              </a:rPr>
              <a:t>Ridges and grooves on the footwall of a high angle normal fault, Sierra Nevada, Betics (Spain)</a:t>
            </a:r>
          </a:p>
        </p:txBody>
      </p:sp>
      <p:pic>
        <p:nvPicPr>
          <p:cNvPr id="20484" name="Picture 9" descr="05c2-SierraNevadaBetics">
            <a:extLst>
              <a:ext uri="{FF2B5EF4-FFF2-40B4-BE49-F238E27FC236}">
                <a16:creationId xmlns:a16="http://schemas.microsoft.com/office/drawing/2014/main" id="{9CEFCCC7-53BC-4FDC-A21C-1BF4089BA981}"/>
              </a:ext>
            </a:extLst>
          </p:cNvPr>
          <p:cNvPicPr>
            <a:picLocks noGrp="1" noChangeAspect="1" noChangeArrowheads="1"/>
          </p:cNvPicPr>
          <p:nvPr>
            <p:ph idx="1"/>
          </p:nvPr>
        </p:nvPicPr>
        <p:blipFill>
          <a:blip r:embed="rId3">
            <a:lum bright="-6000"/>
            <a:extLst>
              <a:ext uri="{28A0092B-C50C-407E-A947-70E740481C1C}">
                <a14:useLocalDpi xmlns:a14="http://schemas.microsoft.com/office/drawing/2010/main" val="0"/>
              </a:ext>
            </a:extLst>
          </a:blip>
          <a:srcRect/>
          <a:stretch>
            <a:fillRect/>
          </a:stretch>
        </p:blipFill>
        <p:spPr>
          <a:xfrm>
            <a:off x="1223963" y="1035050"/>
            <a:ext cx="6723062" cy="50434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83D9721-314D-4F7A-B115-68909A31A1F7}"/>
              </a:ext>
            </a:extLst>
          </p:cNvPr>
          <p:cNvSpPr>
            <a:spLocks noGrp="1" noChangeArrowheads="1"/>
          </p:cNvSpPr>
          <p:nvPr>
            <p:ph type="title"/>
          </p:nvPr>
        </p:nvSpPr>
        <p:spPr>
          <a:noFill/>
        </p:spPr>
        <p:txBody>
          <a:bodyPr/>
          <a:lstStyle/>
          <a:p>
            <a:r>
              <a:rPr lang="en-GB" altLang="en-US">
                <a:effectLst/>
              </a:rPr>
              <a:t>Secondary fractures</a:t>
            </a:r>
          </a:p>
        </p:txBody>
      </p:sp>
      <p:sp>
        <p:nvSpPr>
          <p:cNvPr id="21507" name="Rectangle 3">
            <a:extLst>
              <a:ext uri="{FF2B5EF4-FFF2-40B4-BE49-F238E27FC236}">
                <a16:creationId xmlns:a16="http://schemas.microsoft.com/office/drawing/2014/main" id="{F55B56EA-DE23-4303-97B0-BEE32D585467}"/>
              </a:ext>
            </a:extLst>
          </p:cNvPr>
          <p:cNvSpPr>
            <a:spLocks noGrp="1" noChangeArrowheads="1"/>
          </p:cNvSpPr>
          <p:nvPr>
            <p:ph type="body" sz="half" idx="1"/>
          </p:nvPr>
        </p:nvSpPr>
        <p:spPr>
          <a:xfrm>
            <a:off x="117475" y="769938"/>
            <a:ext cx="8872538" cy="1425575"/>
          </a:xfrm>
          <a:noFill/>
        </p:spPr>
        <p:txBody>
          <a:bodyPr/>
          <a:lstStyle/>
          <a:p>
            <a:pPr marL="177800" indent="-177800"/>
            <a:r>
              <a:rPr lang="en-GB" altLang="en-US" sz="1700">
                <a:effectLst/>
              </a:rPr>
              <a:t>A wide range of </a:t>
            </a:r>
            <a:r>
              <a:rPr lang="en-GB" altLang="en-US" sz="1700">
                <a:solidFill>
                  <a:srgbClr val="FF6600"/>
                </a:solidFill>
                <a:effectLst/>
              </a:rPr>
              <a:t>extension and shear fractures</a:t>
            </a:r>
            <a:r>
              <a:rPr lang="en-GB" altLang="en-US" sz="1700">
                <a:effectLst/>
              </a:rPr>
              <a:t> develop during slip. These mostly cut into the fault surfaces with the same general obliquity as </a:t>
            </a:r>
            <a:r>
              <a:rPr lang="en-GB" altLang="en-US" sz="1700">
                <a:solidFill>
                  <a:srgbClr val="FF66CC"/>
                </a:solidFill>
                <a:effectLst/>
              </a:rPr>
              <a:t>tension gashes</a:t>
            </a:r>
            <a:r>
              <a:rPr lang="en-GB" altLang="en-US" sz="1700">
                <a:effectLst/>
              </a:rPr>
              <a:t>, </a:t>
            </a:r>
            <a:r>
              <a:rPr lang="en-GB" altLang="en-US" sz="1700">
                <a:solidFill>
                  <a:srgbClr val="FF66CC"/>
                </a:solidFill>
                <a:effectLst/>
              </a:rPr>
              <a:t>Riedel shears</a:t>
            </a:r>
            <a:r>
              <a:rPr lang="en-GB" altLang="en-US" sz="1700">
                <a:effectLst/>
              </a:rPr>
              <a:t> and </a:t>
            </a:r>
            <a:r>
              <a:rPr lang="en-GB" altLang="en-US" sz="1700">
                <a:solidFill>
                  <a:srgbClr val="FF66CC"/>
                </a:solidFill>
                <a:effectLst/>
              </a:rPr>
              <a:t>pinnate fractures</a:t>
            </a:r>
            <a:r>
              <a:rPr lang="en-GB" altLang="en-US" sz="1700">
                <a:effectLst/>
              </a:rPr>
              <a:t>. If they are crescent-shaped their sense of curvature is the same as crescent-shaped aeolian ripples with the missing block moving in the “wind direction”</a:t>
            </a:r>
          </a:p>
        </p:txBody>
      </p:sp>
      <p:pic>
        <p:nvPicPr>
          <p:cNvPr id="21508" name="Picture 6" descr="05d">
            <a:extLst>
              <a:ext uri="{FF2B5EF4-FFF2-40B4-BE49-F238E27FC236}">
                <a16:creationId xmlns:a16="http://schemas.microsoft.com/office/drawing/2014/main" id="{FE27BC10-01D2-4A71-A39B-3C18069F06E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20725" y="2289175"/>
            <a:ext cx="7816850" cy="31591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64200" name="Text Box 8">
            <a:extLst>
              <a:ext uri="{FF2B5EF4-FFF2-40B4-BE49-F238E27FC236}">
                <a16:creationId xmlns:a16="http://schemas.microsoft.com/office/drawing/2014/main" id="{9D81A4B8-1CEF-412E-9C61-8BD86C4F0F76}"/>
              </a:ext>
            </a:extLst>
          </p:cNvPr>
          <p:cNvSpPr txBox="1">
            <a:spLocks noChangeArrowheads="1"/>
          </p:cNvSpPr>
          <p:nvPr/>
        </p:nvSpPr>
        <p:spPr bwMode="auto">
          <a:xfrm>
            <a:off x="128588" y="5653088"/>
            <a:ext cx="888682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The reference to tension gashes, Riedel shears and pinnate fractures highlights the fact that </a:t>
            </a:r>
            <a:r>
              <a:rPr lang="en-GB" altLang="en-US" sz="1700">
                <a:solidFill>
                  <a:srgbClr val="FF66CC"/>
                </a:solidFill>
                <a:effectLst>
                  <a:outerShdw blurRad="38100" dist="38100" dir="2700000" algn="tl">
                    <a:srgbClr val="000000"/>
                  </a:outerShdw>
                </a:effectLst>
                <a:latin typeface="Arial" panose="020B0604020202020204" pitchFamily="34" charset="0"/>
              </a:rPr>
              <a:t>many of the shear sense indicators</a:t>
            </a:r>
            <a:r>
              <a:rPr lang="en-GB" altLang="en-US" sz="1700">
                <a:effectLst>
                  <a:outerShdw blurRad="38100" dist="38100" dir="2700000" algn="tl">
                    <a:srgbClr val="000000"/>
                  </a:outerShdw>
                </a:effectLst>
                <a:latin typeface="Arial" panose="020B0604020202020204" pitchFamily="34" charset="0"/>
              </a:rPr>
              <a:t> discussed in previous classes can also be used to help establish slip sense</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99E69274-170D-4870-B794-5C5FE8B8C5AD}"/>
              </a:ext>
            </a:extLst>
          </p:cNvPr>
          <p:cNvSpPr>
            <a:spLocks noGrp="1" noChangeArrowheads="1"/>
          </p:cNvSpPr>
          <p:nvPr>
            <p:ph type="ctrTitle" idx="4294967295"/>
          </p:nvPr>
        </p:nvSpPr>
        <p:spPr bwMode="black">
          <a:xfrm>
            <a:off x="239713" y="1735138"/>
            <a:ext cx="8705850" cy="2011362"/>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500"/>
            </a:br>
            <a:br>
              <a:rPr lang="en-US" sz="3500"/>
            </a:br>
            <a:r>
              <a:rPr lang="en-US" sz="3500">
                <a:solidFill>
                  <a:srgbClr val="FF6600"/>
                </a:solidFill>
              </a:rPr>
              <a:t>Formation of faults</a:t>
            </a:r>
            <a:endParaRPr lang="en-US">
              <a:solidFill>
                <a:srgbClr val="FF6600"/>
              </a:solidFill>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98BE9BB-6080-42EA-A997-D6A9C24368A7}"/>
              </a:ext>
            </a:extLst>
          </p:cNvPr>
          <p:cNvSpPr>
            <a:spLocks noGrp="1" noChangeArrowheads="1"/>
          </p:cNvSpPr>
          <p:nvPr>
            <p:ph type="title"/>
          </p:nvPr>
        </p:nvSpPr>
        <p:spPr>
          <a:noFill/>
        </p:spPr>
        <p:txBody>
          <a:bodyPr/>
          <a:lstStyle/>
          <a:p>
            <a:r>
              <a:rPr lang="en-GB" altLang="en-US">
                <a:effectLst/>
              </a:rPr>
              <a:t>Failure criteria – intact rocks</a:t>
            </a:r>
          </a:p>
        </p:txBody>
      </p:sp>
      <p:sp>
        <p:nvSpPr>
          <p:cNvPr id="23555" name="Rectangle 3">
            <a:extLst>
              <a:ext uri="{FF2B5EF4-FFF2-40B4-BE49-F238E27FC236}">
                <a16:creationId xmlns:a16="http://schemas.microsoft.com/office/drawing/2014/main" id="{53C6DC75-5B38-40D3-AFEA-4EB1C0E5D061}"/>
              </a:ext>
            </a:extLst>
          </p:cNvPr>
          <p:cNvSpPr>
            <a:spLocks noGrp="1" noChangeArrowheads="1"/>
          </p:cNvSpPr>
          <p:nvPr>
            <p:ph type="body" sz="half" idx="1"/>
          </p:nvPr>
        </p:nvSpPr>
        <p:spPr>
          <a:xfrm>
            <a:off x="98425" y="769938"/>
            <a:ext cx="8918575" cy="2738437"/>
          </a:xfrm>
          <a:noFill/>
        </p:spPr>
        <p:txBody>
          <a:bodyPr/>
          <a:lstStyle/>
          <a:p>
            <a:pPr marL="177800" indent="-177800"/>
            <a:r>
              <a:rPr lang="en-GB" altLang="en-US" sz="1700" dirty="0">
                <a:effectLst/>
              </a:rPr>
              <a:t>In the brittle regime rocks become </a:t>
            </a:r>
            <a:r>
              <a:rPr lang="en-GB" altLang="en-US" sz="1700" dirty="0">
                <a:solidFill>
                  <a:srgbClr val="FF66CC"/>
                </a:solidFill>
                <a:effectLst/>
              </a:rPr>
              <a:t>stronger with increasing confining pressure</a:t>
            </a:r>
            <a:r>
              <a:rPr lang="en-GB" altLang="en-US" sz="1700" dirty="0">
                <a:effectLst/>
              </a:rPr>
              <a:t>. We may show this graphically by plotting the maximum principal stress at failure against confining pressure (in axial compression experiments these are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1</a:t>
            </a:r>
            <a:r>
              <a:rPr lang="en-GB" altLang="en-US" sz="1700" dirty="0">
                <a:effectLst/>
              </a:rPr>
              <a:t> and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3</a:t>
            </a:r>
            <a:r>
              <a:rPr lang="en-GB" altLang="en-US" sz="1700" dirty="0">
                <a:effectLst/>
              </a:rPr>
              <a:t> respectively)</a:t>
            </a:r>
          </a:p>
          <a:p>
            <a:pPr marL="177800" indent="-177800">
              <a:spcBef>
                <a:spcPct val="50000"/>
              </a:spcBef>
            </a:pPr>
            <a:r>
              <a:rPr lang="en-GB" altLang="en-US" sz="1700" dirty="0">
                <a:effectLst/>
              </a:rPr>
              <a:t>Alternatively, we may plot a Mohr diagram of the values of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i="1" baseline="-25000" dirty="0">
                <a:solidFill>
                  <a:srgbClr val="FFFF00"/>
                </a:solidFill>
                <a:effectLst/>
              </a:rPr>
              <a:t>n</a:t>
            </a:r>
            <a:r>
              <a:rPr lang="en-GB" altLang="en-US" sz="1700" i="1" baseline="-25000" dirty="0">
                <a:effectLst/>
              </a:rPr>
              <a:t>  </a:t>
            </a:r>
            <a:r>
              <a:rPr lang="en-GB" altLang="en-US" sz="1700" dirty="0">
                <a:effectLst/>
              </a:rPr>
              <a:t>and </a:t>
            </a:r>
            <a:r>
              <a:rPr lang="el-GR" altLang="en-US" sz="1700" i="1" dirty="0">
                <a:solidFill>
                  <a:srgbClr val="FFFF00"/>
                </a:solidFill>
                <a:effectLst/>
                <a:latin typeface="Cambria Math" panose="02040503050406030204" pitchFamily="18" charset="0"/>
                <a:ea typeface="Cambria Math" panose="02040503050406030204" pitchFamily="18" charset="0"/>
              </a:rPr>
              <a:t>τ</a:t>
            </a:r>
            <a:r>
              <a:rPr lang="en-GB" altLang="en-US" sz="1700" i="1" dirty="0">
                <a:effectLst/>
                <a:latin typeface="Symbol" panose="05050102010706020507" pitchFamily="18" charset="2"/>
              </a:rPr>
              <a:t> </a:t>
            </a:r>
            <a:r>
              <a:rPr lang="en-GB" altLang="en-US" sz="1700" dirty="0">
                <a:effectLst/>
              </a:rPr>
              <a:t> on the fault plane at failure for each confining pressure – if the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1</a:t>
            </a:r>
            <a:r>
              <a:rPr lang="en-GB" altLang="en-US" sz="1700" dirty="0">
                <a:solidFill>
                  <a:srgbClr val="FFFF00"/>
                </a:solidFill>
                <a:effectLst/>
              </a:rPr>
              <a:t> vs. </a:t>
            </a:r>
            <a:r>
              <a:rPr lang="el-GR" altLang="en-US" sz="1700" i="1" dirty="0">
                <a:solidFill>
                  <a:srgbClr val="FFFF00"/>
                </a:solidFill>
                <a:effectLst/>
                <a:latin typeface="Cambria Math" panose="02040503050406030204" pitchFamily="18" charset="0"/>
                <a:ea typeface="Cambria Math" panose="02040503050406030204" pitchFamily="18" charset="0"/>
              </a:rPr>
              <a:t>σ</a:t>
            </a:r>
            <a:r>
              <a:rPr lang="en-GB" altLang="en-US" sz="1700" baseline="-25000" dirty="0">
                <a:solidFill>
                  <a:srgbClr val="FFFF00"/>
                </a:solidFill>
                <a:effectLst/>
              </a:rPr>
              <a:t>3</a:t>
            </a:r>
            <a:r>
              <a:rPr lang="en-GB" altLang="en-US" sz="1700" dirty="0">
                <a:solidFill>
                  <a:srgbClr val="FFFF00"/>
                </a:solidFill>
                <a:effectLst/>
              </a:rPr>
              <a:t> </a:t>
            </a:r>
            <a:r>
              <a:rPr lang="en-GB" altLang="en-US" sz="1700" dirty="0">
                <a:effectLst/>
              </a:rPr>
              <a:t>plot is a straight line, so is the </a:t>
            </a:r>
            <a:r>
              <a:rPr lang="en-GB" altLang="en-US" sz="1700" dirty="0">
                <a:solidFill>
                  <a:srgbClr val="FF6600"/>
                </a:solidFill>
                <a:effectLst/>
              </a:rPr>
              <a:t>failure envelope </a:t>
            </a:r>
            <a:r>
              <a:rPr lang="en-GB" altLang="en-US" sz="1700" dirty="0">
                <a:effectLst/>
              </a:rPr>
              <a:t>on a Mohr diagram</a:t>
            </a:r>
          </a:p>
          <a:p>
            <a:pPr marL="177800" indent="-177800">
              <a:lnSpc>
                <a:spcPct val="110000"/>
              </a:lnSpc>
              <a:spcBef>
                <a:spcPct val="50000"/>
              </a:spcBef>
              <a:buFont typeface="Times" panose="02020603050405020304" pitchFamily="18" charset="0"/>
              <a:buNone/>
            </a:pPr>
            <a:r>
              <a:rPr lang="en-GB" altLang="en-US" sz="1400" dirty="0">
                <a:effectLst/>
              </a:rPr>
              <a:t>	          intercept (</a:t>
            </a:r>
            <a:r>
              <a:rPr lang="el-GR" altLang="en-US" sz="1400" i="1" dirty="0">
                <a:solidFill>
                  <a:srgbClr val="FFFF00"/>
                </a:solidFill>
                <a:effectLst/>
                <a:latin typeface="Cambria Math" panose="02040503050406030204" pitchFamily="18" charset="0"/>
                <a:ea typeface="Cambria Math" panose="02040503050406030204" pitchFamily="18" charset="0"/>
              </a:rPr>
              <a:t>τ</a:t>
            </a:r>
            <a:r>
              <a:rPr lang="en-GB" altLang="en-US" sz="1400" spc="250" baseline="-25000" dirty="0">
                <a:solidFill>
                  <a:srgbClr val="FFFF00"/>
                </a:solidFill>
                <a:effectLst/>
              </a:rPr>
              <a:t>0</a:t>
            </a:r>
            <a:r>
              <a:rPr lang="en-GB" altLang="en-US" sz="1400" dirty="0">
                <a:effectLst/>
              </a:rPr>
              <a:t>) = </a:t>
            </a:r>
            <a:r>
              <a:rPr lang="en-GB" altLang="en-US" sz="1400" dirty="0">
                <a:solidFill>
                  <a:srgbClr val="FF66CC"/>
                </a:solidFill>
                <a:effectLst/>
              </a:rPr>
              <a:t>cohesive strength</a:t>
            </a:r>
            <a:r>
              <a:rPr lang="en-GB" altLang="en-US" sz="1400" dirty="0">
                <a:effectLst/>
              </a:rPr>
              <a:t>     ;     slope </a:t>
            </a:r>
            <a:r>
              <a:rPr lang="en-GB" altLang="en-US" sz="1400" spc="300" dirty="0">
                <a:effectLst/>
              </a:rPr>
              <a:t>(</a:t>
            </a:r>
            <a:r>
              <a:rPr lang="el-GR" altLang="en-US" sz="1400" i="1" dirty="0">
                <a:solidFill>
                  <a:srgbClr val="FFFF00"/>
                </a:solidFill>
                <a:effectLst/>
                <a:latin typeface="Cambria Math" panose="02040503050406030204" pitchFamily="18" charset="0"/>
                <a:ea typeface="Cambria Math" panose="02040503050406030204" pitchFamily="18" charset="0"/>
              </a:rPr>
              <a:t>μ</a:t>
            </a:r>
            <a:r>
              <a:rPr lang="en-GB" altLang="en-US" sz="1400" dirty="0">
                <a:solidFill>
                  <a:srgbClr val="FFFF00"/>
                </a:solidFill>
                <a:effectLst/>
              </a:rPr>
              <a:t> = tan </a:t>
            </a:r>
            <a:r>
              <a:rPr lang="el-GR" altLang="en-US" sz="1400" i="1" dirty="0">
                <a:solidFill>
                  <a:srgbClr val="FFFF00"/>
                </a:solidFill>
                <a:effectLst/>
                <a:latin typeface="Cambria Math" panose="02040503050406030204" pitchFamily="18" charset="0"/>
                <a:ea typeface="Cambria Math" panose="02040503050406030204" pitchFamily="18" charset="0"/>
              </a:rPr>
              <a:t>ϕ</a:t>
            </a:r>
            <a:r>
              <a:rPr lang="en-GB" altLang="en-US" sz="1400" i="1" dirty="0">
                <a:solidFill>
                  <a:srgbClr val="FFFF00"/>
                </a:solidFill>
                <a:effectLst/>
                <a:latin typeface="Symbol" panose="05050102010706020507" pitchFamily="18" charset="2"/>
              </a:rPr>
              <a:t>  </a:t>
            </a:r>
            <a:r>
              <a:rPr lang="en-GB" altLang="en-US" sz="1400" dirty="0">
                <a:solidFill>
                  <a:srgbClr val="FFFF00"/>
                </a:solidFill>
                <a:effectLst/>
              </a:rPr>
              <a:t>~ 0.</a:t>
            </a:r>
            <a:r>
              <a:rPr lang="en-GB" altLang="en-US" sz="1400" spc="250" dirty="0">
                <a:solidFill>
                  <a:srgbClr val="FFFF00"/>
                </a:solidFill>
                <a:effectLst/>
              </a:rPr>
              <a:t>6</a:t>
            </a:r>
            <a:r>
              <a:rPr lang="en-GB" altLang="en-US" sz="1400" dirty="0">
                <a:effectLst/>
              </a:rPr>
              <a:t>) = </a:t>
            </a:r>
            <a:r>
              <a:rPr lang="en-GB" altLang="en-US" sz="1400" dirty="0">
                <a:solidFill>
                  <a:srgbClr val="FF66CC"/>
                </a:solidFill>
                <a:effectLst/>
              </a:rPr>
              <a:t>coefficient of internal friction</a:t>
            </a:r>
          </a:p>
          <a:p>
            <a:pPr marL="177800" indent="-177800">
              <a:lnSpc>
                <a:spcPct val="110000"/>
              </a:lnSpc>
              <a:spcBef>
                <a:spcPct val="25000"/>
              </a:spcBef>
              <a:buFont typeface="Times" panose="02020603050405020304" pitchFamily="18" charset="0"/>
              <a:buNone/>
            </a:pPr>
            <a:r>
              <a:rPr lang="en-GB" altLang="en-US" sz="1400" dirty="0">
                <a:effectLst/>
              </a:rPr>
              <a:t>	          the angle (</a:t>
            </a:r>
            <a:r>
              <a:rPr lang="el-GR" altLang="en-US" sz="1400" i="1" spc="250" dirty="0">
                <a:solidFill>
                  <a:srgbClr val="FFFF00"/>
                </a:solidFill>
                <a:effectLst/>
                <a:latin typeface="Cambria Math" panose="02040503050406030204" pitchFamily="18" charset="0"/>
                <a:ea typeface="Cambria Math" panose="02040503050406030204" pitchFamily="18" charset="0"/>
              </a:rPr>
              <a:t>α</a:t>
            </a:r>
            <a:r>
              <a:rPr lang="en-GB" altLang="en-US" sz="1400" dirty="0">
                <a:effectLst/>
              </a:rPr>
              <a:t>) between the fault plane and </a:t>
            </a:r>
            <a:r>
              <a:rPr lang="el-GR" altLang="en-US" sz="1400" i="1" dirty="0">
                <a:solidFill>
                  <a:srgbClr val="FFFF00"/>
                </a:solidFill>
                <a:effectLst/>
                <a:latin typeface="Cambria Math" panose="02040503050406030204" pitchFamily="18" charset="0"/>
                <a:ea typeface="Cambria Math" panose="02040503050406030204" pitchFamily="18" charset="0"/>
              </a:rPr>
              <a:t>σ</a:t>
            </a:r>
            <a:r>
              <a:rPr lang="en-GB" altLang="en-US" sz="1400" baseline="-25000" dirty="0">
                <a:solidFill>
                  <a:srgbClr val="FFFF00"/>
                </a:solidFill>
                <a:effectLst/>
              </a:rPr>
              <a:t>1</a:t>
            </a:r>
            <a:r>
              <a:rPr lang="en-GB" altLang="en-US" sz="1400" dirty="0">
                <a:effectLst/>
              </a:rPr>
              <a:t> follows from the slope and is typically </a:t>
            </a:r>
            <a:r>
              <a:rPr lang="en-GB" altLang="en-US" sz="1400" spc="250" dirty="0">
                <a:effectLst/>
              </a:rPr>
              <a:t>~</a:t>
            </a:r>
            <a:r>
              <a:rPr lang="en-GB" altLang="en-US" sz="1400" dirty="0">
                <a:effectLst/>
              </a:rPr>
              <a:t>30° </a:t>
            </a:r>
          </a:p>
        </p:txBody>
      </p:sp>
      <p:pic>
        <p:nvPicPr>
          <p:cNvPr id="23556" name="Picture 4">
            <a:extLst>
              <a:ext uri="{FF2B5EF4-FFF2-40B4-BE49-F238E27FC236}">
                <a16:creationId xmlns:a16="http://schemas.microsoft.com/office/drawing/2014/main" id="{6E108B23-8D8D-4A61-9007-446609F0F075}"/>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3654425"/>
            <a:ext cx="2066925" cy="2354263"/>
          </a:xfrm>
          <a:noFill/>
          <a:ln w="38100" cap="flat">
            <a:solidFill>
              <a:schemeClr val="bg2"/>
            </a:solidFill>
            <a:miter lim="800000"/>
            <a:headEnd/>
            <a:tailEnd/>
          </a:ln>
        </p:spPr>
      </p:pic>
      <p:pic>
        <p:nvPicPr>
          <p:cNvPr id="23557" name="Picture 9">
            <a:extLst>
              <a:ext uri="{FF2B5EF4-FFF2-40B4-BE49-F238E27FC236}">
                <a16:creationId xmlns:a16="http://schemas.microsoft.com/office/drawing/2014/main" id="{33919A8B-55B9-4CE7-AD02-93AE8A1C8AD7}"/>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895600" y="3644900"/>
            <a:ext cx="5800725" cy="3017838"/>
          </a:xfrm>
          <a:noFill/>
          <a:ln w="38100" cap="flat">
            <a:solidFill>
              <a:schemeClr val="bg2"/>
            </a:solidFill>
            <a:miter lim="800000"/>
            <a:headEnd/>
            <a:tailEnd/>
          </a:ln>
        </p:spPr>
      </p:pic>
      <p:pic>
        <p:nvPicPr>
          <p:cNvPr id="23558" name="Picture 11">
            <a:extLst>
              <a:ext uri="{FF2B5EF4-FFF2-40B4-BE49-F238E27FC236}">
                <a16:creationId xmlns:a16="http://schemas.microsoft.com/office/drawing/2014/main" id="{6AED45FF-B3CC-4FBC-B32D-BB02BF131A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750" y="6110288"/>
            <a:ext cx="2139950" cy="55403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9" name="Text Box 12">
            <a:extLst>
              <a:ext uri="{FF2B5EF4-FFF2-40B4-BE49-F238E27FC236}">
                <a16:creationId xmlns:a16="http://schemas.microsoft.com/office/drawing/2014/main" id="{95AB34D2-0FDD-4C08-B13E-F43E28BD0163}"/>
              </a:ext>
            </a:extLst>
          </p:cNvPr>
          <p:cNvSpPr txBox="1">
            <a:spLocks noChangeArrowheads="1"/>
          </p:cNvSpPr>
          <p:nvPr/>
        </p:nvSpPr>
        <p:spPr bwMode="auto">
          <a:xfrm>
            <a:off x="3017838" y="5756275"/>
            <a:ext cx="4524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i="1">
                <a:solidFill>
                  <a:srgbClr val="FF0000"/>
                </a:solidFill>
                <a:effectLst/>
                <a:latin typeface="Symbol" panose="05050102010706020507" pitchFamily="18" charset="2"/>
              </a:rPr>
              <a:t>t</a:t>
            </a:r>
            <a:r>
              <a:rPr lang="en-GB" altLang="en-US" baseline="-25000">
                <a:solidFill>
                  <a:srgbClr val="FF0000"/>
                </a:solidFill>
                <a:effectLst/>
                <a:latin typeface="Arial" panose="020B0604020202020204" pitchFamily="34" charset="0"/>
              </a:rPr>
              <a:t>0</a:t>
            </a:r>
          </a:p>
        </p:txBody>
      </p:sp>
      <p:sp>
        <p:nvSpPr>
          <p:cNvPr id="221198" name="Line 14">
            <a:extLst>
              <a:ext uri="{FF2B5EF4-FFF2-40B4-BE49-F238E27FC236}">
                <a16:creationId xmlns:a16="http://schemas.microsoft.com/office/drawing/2014/main" id="{3D2EBB14-DB0C-4FBD-A8DD-066D8A45196E}"/>
              </a:ext>
            </a:extLst>
          </p:cNvPr>
          <p:cNvSpPr>
            <a:spLocks noChangeShapeType="1"/>
          </p:cNvSpPr>
          <p:nvPr/>
        </p:nvSpPr>
        <p:spPr bwMode="auto">
          <a:xfrm flipV="1">
            <a:off x="3321050" y="5916613"/>
            <a:ext cx="220663" cy="3810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23561" name="Text Box 15">
            <a:extLst>
              <a:ext uri="{FF2B5EF4-FFF2-40B4-BE49-F238E27FC236}">
                <a16:creationId xmlns:a16="http://schemas.microsoft.com/office/drawing/2014/main" id="{949C6EBD-F747-4072-B0BA-95F134FAD478}"/>
              </a:ext>
            </a:extLst>
          </p:cNvPr>
          <p:cNvSpPr txBox="1">
            <a:spLocks noChangeArrowheads="1"/>
          </p:cNvSpPr>
          <p:nvPr/>
        </p:nvSpPr>
        <p:spPr bwMode="auto">
          <a:xfrm>
            <a:off x="5872163" y="4035425"/>
            <a:ext cx="3508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i="1">
                <a:solidFill>
                  <a:srgbClr val="FF0000"/>
                </a:solidFill>
                <a:effectLst/>
                <a:latin typeface="Symbol" panose="05050102010706020507" pitchFamily="18" charset="2"/>
              </a:rPr>
              <a:t>f</a:t>
            </a:r>
            <a:endParaRPr lang="en-GB" altLang="en-US" sz="1400" baseline="-25000">
              <a:solidFill>
                <a:srgbClr val="FF0000"/>
              </a:solidFill>
              <a:effectLst/>
              <a:latin typeface="Arial" panose="020B0604020202020204" pitchFamily="34" charset="0"/>
            </a:endParaRPr>
          </a:p>
        </p:txBody>
      </p:sp>
      <p:sp>
        <p:nvSpPr>
          <p:cNvPr id="221200" name="Line 16">
            <a:extLst>
              <a:ext uri="{FF2B5EF4-FFF2-40B4-BE49-F238E27FC236}">
                <a16:creationId xmlns:a16="http://schemas.microsoft.com/office/drawing/2014/main" id="{F36EEB93-F71C-40A7-B87E-F92D6020287D}"/>
              </a:ext>
            </a:extLst>
          </p:cNvPr>
          <p:cNvSpPr>
            <a:spLocks noChangeShapeType="1"/>
          </p:cNvSpPr>
          <p:nvPr/>
        </p:nvSpPr>
        <p:spPr bwMode="auto">
          <a:xfrm>
            <a:off x="5645150" y="4343400"/>
            <a:ext cx="333375"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3EF09930-F628-446E-ABA9-BF886ACE9816}"/>
              </a:ext>
            </a:extLst>
          </p:cNvPr>
          <p:cNvSpPr>
            <a:spLocks noGrp="1" noChangeArrowheads="1"/>
          </p:cNvSpPr>
          <p:nvPr>
            <p:ph type="title" sz="quarter"/>
          </p:nvPr>
        </p:nvSpPr>
        <p:spPr>
          <a:noFill/>
        </p:spPr>
        <p:txBody>
          <a:bodyPr/>
          <a:lstStyle/>
          <a:p>
            <a:r>
              <a:rPr lang="en-GB" altLang="en-US">
                <a:effectLst/>
              </a:rPr>
              <a:t>Andersonian classification of faults</a:t>
            </a:r>
          </a:p>
        </p:txBody>
      </p:sp>
      <p:pic>
        <p:nvPicPr>
          <p:cNvPr id="100355" name="Picture 2" descr="GR12.jpg">
            <a:extLst>
              <a:ext uri="{FF2B5EF4-FFF2-40B4-BE49-F238E27FC236}">
                <a16:creationId xmlns:a16="http://schemas.microsoft.com/office/drawing/2014/main" id="{16956CAB-0F9D-418F-9C4F-6230582B6F28}"/>
              </a:ext>
            </a:extLst>
          </p:cNvPr>
          <p:cNvPicPr>
            <a:picLocks noGrp="1" noChangeAspect="1"/>
          </p:cNvPicPr>
          <p:nvPr>
            <p:ph sz="quarter" idx="1"/>
          </p:nvPr>
        </p:nvPicPr>
        <p:blipFill>
          <a:blip r:embed="rId3">
            <a:extLst>
              <a:ext uri="{28A0092B-C50C-407E-A947-70E740481C1C}">
                <a14:useLocalDpi xmlns:a14="http://schemas.microsoft.com/office/drawing/2010/main" val="0"/>
              </a:ext>
            </a:extLst>
          </a:blip>
          <a:srcRect l="33961" t="25383" r="36404" b="27353"/>
          <a:stretch>
            <a:fillRect/>
          </a:stretch>
        </p:blipFill>
        <p:spPr>
          <a:xfrm>
            <a:off x="3532188" y="5140325"/>
            <a:ext cx="1941512" cy="15716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100356" name="Group 4">
            <a:extLst>
              <a:ext uri="{FF2B5EF4-FFF2-40B4-BE49-F238E27FC236}">
                <a16:creationId xmlns:a16="http://schemas.microsoft.com/office/drawing/2014/main" id="{672E4DFB-414B-4833-86D8-429DDB024D9A}"/>
              </a:ext>
            </a:extLst>
          </p:cNvPr>
          <p:cNvGrpSpPr>
            <a:grpSpLocks/>
          </p:cNvGrpSpPr>
          <p:nvPr/>
        </p:nvGrpSpPr>
        <p:grpSpPr bwMode="auto">
          <a:xfrm>
            <a:off x="671513" y="5140325"/>
            <a:ext cx="1893887" cy="1597025"/>
            <a:chOff x="423" y="3282"/>
            <a:chExt cx="1146" cy="966"/>
          </a:xfrm>
        </p:grpSpPr>
        <p:sp>
          <p:nvSpPr>
            <p:cNvPr id="100357" name="Rectangle 5">
              <a:extLst>
                <a:ext uri="{FF2B5EF4-FFF2-40B4-BE49-F238E27FC236}">
                  <a16:creationId xmlns:a16="http://schemas.microsoft.com/office/drawing/2014/main" id="{A02273FC-C8D5-40F5-9CAF-67EBB765D643}"/>
                </a:ext>
              </a:extLst>
            </p:cNvPr>
            <p:cNvSpPr>
              <a:spLocks noChangeArrowheads="1"/>
            </p:cNvSpPr>
            <p:nvPr/>
          </p:nvSpPr>
          <p:spPr bwMode="auto">
            <a:xfrm>
              <a:off x="423" y="3282"/>
              <a:ext cx="1146" cy="96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0358" name="Picture 2" descr="GR12.jpg">
              <a:extLst>
                <a:ext uri="{FF2B5EF4-FFF2-40B4-BE49-F238E27FC236}">
                  <a16:creationId xmlns:a16="http://schemas.microsoft.com/office/drawing/2014/main" id="{05746DAF-7E76-4FAD-8CFB-860E328ADF28}"/>
                </a:ext>
              </a:extLst>
            </p:cNvPr>
            <p:cNvPicPr>
              <a:picLocks noChangeAspect="1"/>
            </p:cNvPicPr>
            <p:nvPr/>
          </p:nvPicPr>
          <p:blipFill>
            <a:blip r:embed="rId3">
              <a:extLst>
                <a:ext uri="{28A0092B-C50C-407E-A947-70E740481C1C}">
                  <a14:useLocalDpi xmlns:a14="http://schemas.microsoft.com/office/drawing/2010/main" val="0"/>
                </a:ext>
              </a:extLst>
            </a:blip>
            <a:srcRect r="66667" b="44420"/>
            <a:stretch>
              <a:fillRect/>
            </a:stretch>
          </p:blipFill>
          <p:spPr bwMode="auto">
            <a:xfrm>
              <a:off x="468" y="3319"/>
              <a:ext cx="1076" cy="9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00359" name="Text Box 7">
            <a:extLst>
              <a:ext uri="{FF2B5EF4-FFF2-40B4-BE49-F238E27FC236}">
                <a16:creationId xmlns:a16="http://schemas.microsoft.com/office/drawing/2014/main" id="{7D0EDE04-901F-4852-96E8-6CF801A80DF8}"/>
              </a:ext>
            </a:extLst>
          </p:cNvPr>
          <p:cNvSpPr txBox="1">
            <a:spLocks noChangeArrowheads="1"/>
          </p:cNvSpPr>
          <p:nvPr/>
        </p:nvSpPr>
        <p:spPr bwMode="auto">
          <a:xfrm>
            <a:off x="111125" y="769938"/>
            <a:ext cx="8964613"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indent="-182563">
              <a:defRPr sz="1600">
                <a:solidFill>
                  <a:schemeClr val="tx1"/>
                </a:solidFill>
                <a:latin typeface="Helvetica" panose="020B0604020202020204" pitchFamily="34" charset="0"/>
              </a:defRPr>
            </a:lvl1pPr>
            <a:lvl2pPr marL="630238" indent="-268288">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If one of the principal stresses is vertical and </a:t>
            </a:r>
            <a:r>
              <a:rPr lang="el-GR" altLang="en-US" sz="1700" i="1" spc="300" dirty="0">
                <a:effectLst>
                  <a:outerShdw blurRad="38100" dist="38100" dir="2700000" algn="tl">
                    <a:srgbClr val="000000"/>
                  </a:outerShdw>
                </a:effectLst>
                <a:latin typeface="Cambria Math" panose="02040503050406030204" pitchFamily="18" charset="0"/>
                <a:ea typeface="Cambria Math" panose="02040503050406030204" pitchFamily="18" charset="0"/>
              </a:rPr>
              <a:t>α</a:t>
            </a:r>
            <a:r>
              <a:rPr lang="en-GB" altLang="en-US" sz="1700" dirty="0">
                <a:effectLst>
                  <a:outerShdw blurRad="38100" dist="38100" dir="2700000" algn="tl">
                    <a:srgbClr val="000000"/>
                  </a:outerShdw>
                </a:effectLst>
                <a:latin typeface="Arial" panose="020B0604020202020204" pitchFamily="34" charset="0"/>
              </a:rPr>
              <a:t> ~ 30°, then</a:t>
            </a:r>
          </a:p>
          <a:p>
            <a:pPr lvl="1">
              <a:lnSpc>
                <a:spcPct val="120000"/>
              </a:lnSpc>
              <a:spcBef>
                <a:spcPct val="0"/>
              </a:spcBef>
              <a:buClr>
                <a:schemeClr val="tx1"/>
              </a:buClr>
              <a:buFont typeface="Wingdings" panose="05000000000000000000" pitchFamily="2" charset="2"/>
              <a:buChar char="Ø"/>
            </a:pPr>
            <a:r>
              <a:rPr lang="en-GB" altLang="en-US" sz="1700" dirty="0">
                <a:effectLst>
                  <a:outerShdw blurRad="38100" dist="38100" dir="2700000" algn="tl">
                    <a:srgbClr val="000000"/>
                  </a:outerShdw>
                </a:effectLst>
                <a:latin typeface="Arial" panose="020B0604020202020204" pitchFamily="34" charset="0"/>
              </a:rPr>
              <a:t>when </a:t>
            </a:r>
            <a:r>
              <a:rPr lang="el-GR" altLang="en-US" sz="1700" i="1" dirty="0">
                <a:solidFill>
                  <a:srgbClr val="FF66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6600"/>
                </a:solidFill>
                <a:effectLst>
                  <a:outerShdw blurRad="38100" dist="38100" dir="2700000" algn="tl">
                    <a:srgbClr val="000000"/>
                  </a:outerShdw>
                </a:effectLst>
                <a:latin typeface="Arial" panose="020B0604020202020204" pitchFamily="34" charset="0"/>
              </a:rPr>
              <a:t>1</a:t>
            </a:r>
            <a:r>
              <a:rPr lang="en-GB" altLang="en-US" sz="1700" baseline="-25000" dirty="0">
                <a:effectLst>
                  <a:outerShdw blurRad="38100" dist="38100" dir="2700000" algn="tl">
                    <a:srgbClr val="000000"/>
                  </a:outerShdw>
                </a:effectLst>
                <a:latin typeface="Arial" panose="020B0604020202020204" pitchFamily="34" charset="0"/>
              </a:rPr>
              <a:t> </a:t>
            </a:r>
            <a:r>
              <a:rPr lang="en-GB" altLang="en-US" sz="1700" dirty="0">
                <a:effectLst>
                  <a:outerShdw blurRad="38100" dist="38100" dir="2700000" algn="tl">
                    <a:srgbClr val="000000"/>
                  </a:outerShdw>
                </a:effectLst>
                <a:latin typeface="Arial" panose="020B0604020202020204" pitchFamily="34" charset="0"/>
              </a:rPr>
              <a:t>is vertical  </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we have </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normal faults</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dipping at </a:t>
            </a:r>
            <a:r>
              <a:rPr lang="en-GB" altLang="en-US" sz="1700" spc="300" dirty="0">
                <a:effectLst>
                  <a:outerShdw blurRad="38100" dist="38100" dir="2700000" algn="tl">
                    <a:srgbClr val="000000"/>
                  </a:outerShdw>
                </a:effectLst>
                <a:latin typeface="Arial" panose="020B0604020202020204" pitchFamily="34" charset="0"/>
                <a:cs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60°</a:t>
            </a:r>
          </a:p>
          <a:p>
            <a:pPr lvl="1">
              <a:lnSpc>
                <a:spcPct val="120000"/>
              </a:lnSpc>
              <a:spcBef>
                <a:spcPct val="0"/>
              </a:spcBef>
              <a:buClr>
                <a:schemeClr val="tx1"/>
              </a:buClr>
              <a:buFont typeface="Wingdings" panose="05000000000000000000" pitchFamily="2" charset="2"/>
              <a:buChar char="Ø"/>
            </a:pPr>
            <a:r>
              <a:rPr lang="en-GB" altLang="en-US" sz="1700" dirty="0">
                <a:effectLst>
                  <a:outerShdw blurRad="38100" dist="38100" dir="2700000" algn="tl">
                    <a:srgbClr val="000000"/>
                  </a:outerShdw>
                </a:effectLst>
                <a:latin typeface="Arial" panose="020B0604020202020204" pitchFamily="34" charset="0"/>
              </a:rPr>
              <a:t>when </a:t>
            </a:r>
            <a:r>
              <a:rPr lang="el-GR" altLang="en-US" sz="1700" i="1" dirty="0">
                <a:solidFill>
                  <a:srgbClr val="FF66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6600"/>
                </a:solidFill>
                <a:effectLst>
                  <a:outerShdw blurRad="38100" dist="38100" dir="2700000" algn="tl">
                    <a:srgbClr val="000000"/>
                  </a:outerShdw>
                </a:effectLst>
                <a:latin typeface="Arial" panose="020B0604020202020204" pitchFamily="34" charset="0"/>
              </a:rPr>
              <a:t>2</a:t>
            </a:r>
            <a:r>
              <a:rPr lang="en-GB" altLang="en-US" sz="1700" dirty="0">
                <a:effectLst>
                  <a:outerShdw blurRad="38100" dist="38100" dir="2700000" algn="tl">
                    <a:srgbClr val="000000"/>
                  </a:outerShdw>
                </a:effectLst>
                <a:latin typeface="Arial" panose="020B0604020202020204" pitchFamily="34" charset="0"/>
              </a:rPr>
              <a:t> is vertical  </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we have vertical </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strike-slip faults</a:t>
            </a:r>
          </a:p>
          <a:p>
            <a:pPr lvl="1">
              <a:lnSpc>
                <a:spcPct val="120000"/>
              </a:lnSpc>
              <a:spcBef>
                <a:spcPct val="0"/>
              </a:spcBef>
              <a:buClr>
                <a:schemeClr val="tx1"/>
              </a:buClr>
              <a:buFont typeface="Wingdings" panose="05000000000000000000" pitchFamily="2" charset="2"/>
              <a:buChar char="Ø"/>
            </a:pPr>
            <a:r>
              <a:rPr lang="en-GB" altLang="en-US" sz="1700" dirty="0">
                <a:effectLst>
                  <a:outerShdw blurRad="38100" dist="38100" dir="2700000" algn="tl">
                    <a:srgbClr val="000000"/>
                  </a:outerShdw>
                </a:effectLst>
                <a:latin typeface="Arial" panose="020B0604020202020204" pitchFamily="34" charset="0"/>
              </a:rPr>
              <a:t>when </a:t>
            </a:r>
            <a:r>
              <a:rPr lang="el-GR" altLang="en-US" sz="1700" i="1" dirty="0">
                <a:solidFill>
                  <a:srgbClr val="FF66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sz="1700" baseline="-25000" dirty="0">
                <a:solidFill>
                  <a:srgbClr val="FF6600"/>
                </a:solidFill>
                <a:effectLst>
                  <a:outerShdw blurRad="38100" dist="38100" dir="2700000" algn="tl">
                    <a:srgbClr val="000000"/>
                  </a:outerShdw>
                </a:effectLst>
                <a:latin typeface="Arial" panose="020B0604020202020204" pitchFamily="34" charset="0"/>
              </a:rPr>
              <a:t>3</a:t>
            </a:r>
            <a:r>
              <a:rPr lang="en-GB" altLang="en-US" sz="1700" dirty="0">
                <a:effectLst>
                  <a:outerShdw blurRad="38100" dist="38100" dir="2700000" algn="tl">
                    <a:srgbClr val="000000"/>
                  </a:outerShdw>
                </a:effectLst>
                <a:latin typeface="Arial" panose="020B0604020202020204" pitchFamily="34" charset="0"/>
              </a:rPr>
              <a:t> is vertical  </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we have </a:t>
            </a:r>
            <a:r>
              <a:rPr lang="en-GB" altLang="en-US" sz="1700" dirty="0">
                <a:solidFill>
                  <a:srgbClr val="FF66CC"/>
                </a:solidFill>
                <a:effectLst>
                  <a:outerShdw blurRad="38100" dist="38100" dir="2700000" algn="tl">
                    <a:srgbClr val="000000"/>
                  </a:outerShdw>
                </a:effectLst>
                <a:latin typeface="Arial" panose="020B0604020202020204" pitchFamily="34" charset="0"/>
                <a:cs typeface="Arial" panose="020B0604020202020204" pitchFamily="34" charset="0"/>
              </a:rPr>
              <a:t>reverse faults</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 dipping at </a:t>
            </a:r>
            <a:r>
              <a:rPr lang="en-GB" altLang="en-US" sz="1700" spc="300" dirty="0">
                <a:effectLst>
                  <a:outerShdw blurRad="38100" dist="38100" dir="2700000" algn="tl">
                    <a:srgbClr val="000000"/>
                  </a:outerShdw>
                </a:effectLst>
                <a:latin typeface="Arial" panose="020B0604020202020204" pitchFamily="34" charset="0"/>
                <a:cs typeface="Arial" panose="020B0604020202020204" pitchFamily="34" charset="0"/>
              </a:rPr>
              <a:t>~</a:t>
            </a:r>
            <a:r>
              <a:rPr lang="en-GB" altLang="en-US" sz="1700" dirty="0">
                <a:effectLst>
                  <a:outerShdw blurRad="38100" dist="38100" dir="2700000" algn="tl">
                    <a:srgbClr val="000000"/>
                  </a:outerShdw>
                </a:effectLst>
                <a:latin typeface="Arial" panose="020B0604020202020204" pitchFamily="34" charset="0"/>
                <a:cs typeface="Arial" panose="020B0604020202020204" pitchFamily="34" charset="0"/>
              </a:rPr>
              <a:t>30°</a:t>
            </a:r>
          </a:p>
        </p:txBody>
      </p:sp>
      <p:grpSp>
        <p:nvGrpSpPr>
          <p:cNvPr id="100360" name="Group 8">
            <a:extLst>
              <a:ext uri="{FF2B5EF4-FFF2-40B4-BE49-F238E27FC236}">
                <a16:creationId xmlns:a16="http://schemas.microsoft.com/office/drawing/2014/main" id="{E9625231-AF21-4833-B24A-C457D796FF2A}"/>
              </a:ext>
            </a:extLst>
          </p:cNvPr>
          <p:cNvGrpSpPr>
            <a:grpSpLocks/>
          </p:cNvGrpSpPr>
          <p:nvPr/>
        </p:nvGrpSpPr>
        <p:grpSpPr bwMode="auto">
          <a:xfrm>
            <a:off x="6538913" y="5140325"/>
            <a:ext cx="2044700" cy="1579563"/>
            <a:chOff x="4119" y="3294"/>
            <a:chExt cx="1215" cy="939"/>
          </a:xfrm>
        </p:grpSpPr>
        <p:sp>
          <p:nvSpPr>
            <p:cNvPr id="100361" name="Rectangle 9">
              <a:extLst>
                <a:ext uri="{FF2B5EF4-FFF2-40B4-BE49-F238E27FC236}">
                  <a16:creationId xmlns:a16="http://schemas.microsoft.com/office/drawing/2014/main" id="{E6C850BE-ABA5-4574-86BE-AB260B0A5B8F}"/>
                </a:ext>
              </a:extLst>
            </p:cNvPr>
            <p:cNvSpPr>
              <a:spLocks noChangeArrowheads="1"/>
            </p:cNvSpPr>
            <p:nvPr/>
          </p:nvSpPr>
          <p:spPr bwMode="auto">
            <a:xfrm>
              <a:off x="4119" y="3294"/>
              <a:ext cx="1215" cy="939"/>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pic>
          <p:nvPicPr>
            <p:cNvPr id="100362" name="Picture 2" descr="GR12.jpg">
              <a:extLst>
                <a:ext uri="{FF2B5EF4-FFF2-40B4-BE49-F238E27FC236}">
                  <a16:creationId xmlns:a16="http://schemas.microsoft.com/office/drawing/2014/main" id="{CA71BE43-D8B3-4349-A4C3-649887D93ADA}"/>
                </a:ext>
              </a:extLst>
            </p:cNvPr>
            <p:cNvPicPr>
              <a:picLocks noChangeAspect="1"/>
            </p:cNvPicPr>
            <p:nvPr/>
          </p:nvPicPr>
          <p:blipFill>
            <a:blip r:embed="rId3">
              <a:extLst>
                <a:ext uri="{28A0092B-C50C-407E-A947-70E740481C1C}">
                  <a14:useLocalDpi xmlns:a14="http://schemas.microsoft.com/office/drawing/2010/main" val="0"/>
                </a:ext>
              </a:extLst>
            </a:blip>
            <a:srcRect l="67407" t="1970" b="47922"/>
            <a:stretch>
              <a:fillRect/>
            </a:stretch>
          </p:blipFill>
          <p:spPr bwMode="auto">
            <a:xfrm>
              <a:off x="4139" y="3319"/>
              <a:ext cx="1149" cy="8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100363" name="Picture 11">
            <a:extLst>
              <a:ext uri="{FF2B5EF4-FFF2-40B4-BE49-F238E27FC236}">
                <a16:creationId xmlns:a16="http://schemas.microsoft.com/office/drawing/2014/main" id="{6FAE4DEE-E84F-4D5D-873E-52F560C5D5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338" y="2279650"/>
            <a:ext cx="8594725" cy="27114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C44F375-33FB-4E97-ACB4-858126A76BFC}"/>
              </a:ext>
            </a:extLst>
          </p:cNvPr>
          <p:cNvSpPr>
            <a:spLocks noGrp="1" noChangeArrowheads="1"/>
          </p:cNvSpPr>
          <p:nvPr>
            <p:ph type="title"/>
          </p:nvPr>
        </p:nvSpPr>
        <p:spPr>
          <a:noFill/>
        </p:spPr>
        <p:txBody>
          <a:bodyPr/>
          <a:lstStyle/>
          <a:p>
            <a:r>
              <a:rPr lang="en-GB" altLang="en-US">
                <a:effectLst/>
              </a:rPr>
              <a:t>Andersonian classification of faults  2</a:t>
            </a:r>
          </a:p>
        </p:txBody>
      </p:sp>
      <p:pic>
        <p:nvPicPr>
          <p:cNvPr id="102403" name="Picture 3">
            <a:extLst>
              <a:ext uri="{FF2B5EF4-FFF2-40B4-BE49-F238E27FC236}">
                <a16:creationId xmlns:a16="http://schemas.microsoft.com/office/drawing/2014/main" id="{DF6CD140-5EE3-4EF0-B517-7AE4D3CC6F32}"/>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03200" y="987425"/>
            <a:ext cx="4681538" cy="2351088"/>
          </a:xfrm>
          <a:noFill/>
          <a:ln w="38100" cap="flat">
            <a:solidFill>
              <a:schemeClr val="bg2"/>
            </a:solidFill>
            <a:miter lim="800000"/>
            <a:headEnd/>
            <a:tailEnd/>
          </a:ln>
        </p:spPr>
      </p:pic>
      <p:pic>
        <p:nvPicPr>
          <p:cNvPr id="102404" name="Picture 4">
            <a:extLst>
              <a:ext uri="{FF2B5EF4-FFF2-40B4-BE49-F238E27FC236}">
                <a16:creationId xmlns:a16="http://schemas.microsoft.com/office/drawing/2014/main" id="{03482F19-5546-45F2-B93B-D6B6EEF535BA}"/>
              </a:ext>
            </a:extLst>
          </p:cNvPr>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1314450" y="4297363"/>
            <a:ext cx="6675438" cy="2324100"/>
          </a:xfrm>
          <a:noFill/>
          <a:ln w="38100" cap="flat">
            <a:solidFill>
              <a:schemeClr val="bg2"/>
            </a:solidFill>
            <a:miter lim="800000"/>
            <a:headEnd/>
            <a:tailEnd/>
          </a:ln>
        </p:spPr>
      </p:pic>
      <p:pic>
        <p:nvPicPr>
          <p:cNvPr id="102405" name="Picture 5">
            <a:extLst>
              <a:ext uri="{FF2B5EF4-FFF2-40B4-BE49-F238E27FC236}">
                <a16:creationId xmlns:a16="http://schemas.microsoft.com/office/drawing/2014/main" id="{1D773064-6426-4C53-AB3A-EDF0A4F00867}"/>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5108575" y="1804988"/>
            <a:ext cx="3813175" cy="2268537"/>
          </a:xfrm>
          <a:noFill/>
          <a:ln w="38100" cap="flat">
            <a:solidFill>
              <a:schemeClr val="bg2"/>
            </a:solidFill>
            <a:miter lim="800000"/>
            <a:headEnd/>
            <a:tailEnd/>
          </a:ln>
        </p:spPr>
      </p:pic>
      <p:sp>
        <p:nvSpPr>
          <p:cNvPr id="102406" name="Text Box 6">
            <a:extLst>
              <a:ext uri="{FF2B5EF4-FFF2-40B4-BE49-F238E27FC236}">
                <a16:creationId xmlns:a16="http://schemas.microsoft.com/office/drawing/2014/main" id="{C81FCB8D-53E9-4D9D-9778-B7D1A224DC6A}"/>
              </a:ext>
            </a:extLst>
          </p:cNvPr>
          <p:cNvSpPr txBox="1">
            <a:spLocks noChangeArrowheads="1"/>
          </p:cNvSpPr>
          <p:nvPr/>
        </p:nvSpPr>
        <p:spPr bwMode="auto">
          <a:xfrm>
            <a:off x="212725" y="3403600"/>
            <a:ext cx="1158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dirty="0">
                <a:solidFill>
                  <a:srgbClr val="FFFF00"/>
                </a:solidFill>
                <a:effectLst>
                  <a:outerShdw blurRad="38100" dist="38100" dir="2700000" algn="tl">
                    <a:srgbClr val="000000"/>
                  </a:outerShdw>
                </a:effectLst>
                <a:latin typeface="Arial" panose="020B0604020202020204" pitchFamily="34" charset="0"/>
              </a:rPr>
              <a:t> vertical</a:t>
            </a:r>
            <a:endParaRPr lang="el-GR" altLang="en-US" dirty="0">
              <a:solidFill>
                <a:srgbClr val="FFFF00"/>
              </a:solidFill>
              <a:effectLst>
                <a:outerShdw blurRad="38100" dist="38100" dir="2700000" algn="tl">
                  <a:srgbClr val="000000"/>
                </a:outerShdw>
              </a:effectLst>
              <a:latin typeface="Arial" panose="020B0604020202020204" pitchFamily="34" charset="0"/>
            </a:endParaRPr>
          </a:p>
        </p:txBody>
      </p:sp>
      <p:sp>
        <p:nvSpPr>
          <p:cNvPr id="102407" name="Text Box 7">
            <a:extLst>
              <a:ext uri="{FF2B5EF4-FFF2-40B4-BE49-F238E27FC236}">
                <a16:creationId xmlns:a16="http://schemas.microsoft.com/office/drawing/2014/main" id="{9430DDA9-7619-4098-939A-D10D09AF80F5}"/>
              </a:ext>
            </a:extLst>
          </p:cNvPr>
          <p:cNvSpPr txBox="1">
            <a:spLocks noChangeArrowheads="1"/>
          </p:cNvSpPr>
          <p:nvPr/>
        </p:nvSpPr>
        <p:spPr bwMode="auto">
          <a:xfrm>
            <a:off x="7743825" y="1395413"/>
            <a:ext cx="1158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baseline="-25000" dirty="0">
                <a:solidFill>
                  <a:srgbClr val="FFFF00"/>
                </a:solidFill>
                <a:effectLst>
                  <a:outerShdw blurRad="38100" dist="38100" dir="2700000" algn="tl">
                    <a:srgbClr val="000000"/>
                  </a:outerShdw>
                </a:effectLst>
                <a:latin typeface="Arial" panose="020B0604020202020204" pitchFamily="34" charset="0"/>
              </a:rPr>
              <a:t>2</a:t>
            </a:r>
            <a:r>
              <a:rPr lang="en-GB" altLang="en-US" dirty="0">
                <a:solidFill>
                  <a:srgbClr val="FFFF00"/>
                </a:solidFill>
                <a:effectLst>
                  <a:outerShdw blurRad="38100" dist="38100" dir="2700000" algn="tl">
                    <a:srgbClr val="000000"/>
                  </a:outerShdw>
                </a:effectLst>
                <a:latin typeface="Arial" panose="020B0604020202020204" pitchFamily="34" charset="0"/>
              </a:rPr>
              <a:t> vertical</a:t>
            </a:r>
            <a:endParaRPr lang="el-GR" altLang="en-US" dirty="0">
              <a:solidFill>
                <a:srgbClr val="FFFF00"/>
              </a:solidFill>
              <a:effectLst>
                <a:outerShdw blurRad="38100" dist="38100" dir="2700000" algn="tl">
                  <a:srgbClr val="000000"/>
                </a:outerShdw>
              </a:effectLst>
              <a:latin typeface="Arial" panose="020B0604020202020204" pitchFamily="34" charset="0"/>
            </a:endParaRPr>
          </a:p>
        </p:txBody>
      </p:sp>
      <p:sp>
        <p:nvSpPr>
          <p:cNvPr id="102408" name="Text Box 8">
            <a:extLst>
              <a:ext uri="{FF2B5EF4-FFF2-40B4-BE49-F238E27FC236}">
                <a16:creationId xmlns:a16="http://schemas.microsoft.com/office/drawing/2014/main" id="{0407F1AC-4F4E-4A7B-831E-9594649E6D47}"/>
              </a:ext>
            </a:extLst>
          </p:cNvPr>
          <p:cNvSpPr txBox="1">
            <a:spLocks noChangeArrowheads="1"/>
          </p:cNvSpPr>
          <p:nvPr/>
        </p:nvSpPr>
        <p:spPr bwMode="auto">
          <a:xfrm>
            <a:off x="2576513" y="3871913"/>
            <a:ext cx="11588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l-GR" altLang="en-US"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baseline="-25000" dirty="0">
                <a:solidFill>
                  <a:srgbClr val="FFFF00"/>
                </a:solidFill>
                <a:effectLst>
                  <a:outerShdw blurRad="38100" dist="38100" dir="2700000" algn="tl">
                    <a:srgbClr val="000000"/>
                  </a:outerShdw>
                </a:effectLst>
                <a:latin typeface="Arial" panose="020B0604020202020204" pitchFamily="34" charset="0"/>
              </a:rPr>
              <a:t>3</a:t>
            </a:r>
            <a:r>
              <a:rPr lang="en-GB" altLang="en-US" dirty="0">
                <a:solidFill>
                  <a:srgbClr val="FFFF00"/>
                </a:solidFill>
                <a:effectLst>
                  <a:outerShdw blurRad="38100" dist="38100" dir="2700000" algn="tl">
                    <a:srgbClr val="000000"/>
                  </a:outerShdw>
                </a:effectLst>
                <a:latin typeface="Arial" panose="020B0604020202020204" pitchFamily="34" charset="0"/>
              </a:rPr>
              <a:t> vertical</a:t>
            </a:r>
            <a:endParaRPr lang="el-GR" altLang="en-US" dirty="0">
              <a:solidFill>
                <a:srgbClr val="FFFF00"/>
              </a:solidFill>
              <a:effectLst>
                <a:outerShdw blurRad="38100" dist="38100" dir="2700000" algn="tl">
                  <a:srgbClr val="000000"/>
                </a:outerShdw>
              </a:effectLst>
              <a:latin typeface="Arial" panose="020B0604020202020204" pitchFamily="34" charset="0"/>
            </a:endParaRPr>
          </a:p>
        </p:txBody>
      </p:sp>
      <p:sp>
        <p:nvSpPr>
          <p:cNvPr id="2" name="TextBox 1">
            <a:extLst>
              <a:ext uri="{FF2B5EF4-FFF2-40B4-BE49-F238E27FC236}">
                <a16:creationId xmlns:a16="http://schemas.microsoft.com/office/drawing/2014/main" id="{D2C7D3E7-C2D1-46A7-96D7-01B6BEDFCA5D}"/>
              </a:ext>
            </a:extLst>
          </p:cNvPr>
          <p:cNvSpPr txBox="1"/>
          <p:nvPr/>
        </p:nvSpPr>
        <p:spPr>
          <a:xfrm>
            <a:off x="5793818" y="925552"/>
            <a:ext cx="2529444" cy="338554"/>
          </a:xfrm>
          <a:prstGeom prst="rect">
            <a:avLst/>
          </a:prstGeom>
          <a:noFill/>
        </p:spPr>
        <p:txBody>
          <a:bodyPr wrap="square" rtlCol="0">
            <a:spAutoFit/>
          </a:bodyPr>
          <a:lstStyle/>
          <a:p>
            <a:r>
              <a:rPr lang="en-GB" altLang="en-US" i="1" dirty="0">
                <a:effectLst>
                  <a:outerShdw blurRad="38100" dist="38100" dir="2700000" algn="tl">
                    <a:srgbClr val="000000"/>
                  </a:outerShdw>
                </a:effectLst>
                <a:latin typeface="+mn-lt"/>
                <a:ea typeface="Cambria Math" panose="02040503050406030204" pitchFamily="18" charset="0"/>
                <a:cs typeface="Times New Roman" panose="02020603050405020304" pitchFamily="18" charset="0"/>
              </a:rPr>
              <a:t>Recall that  </a:t>
            </a:r>
            <a:r>
              <a:rPr lang="el-GR" altLang="en-US" i="1" dirty="0">
                <a:effectLst>
                  <a:outerShdw blurRad="38100" dist="38100" dir="2700000" algn="tl">
                    <a:srgbClr val="000000"/>
                  </a:outerShdw>
                </a:effectLst>
                <a:latin typeface="Cambria Math" panose="02040503050406030204" pitchFamily="18" charset="0"/>
                <a:ea typeface="Cambria Math" panose="02040503050406030204" pitchFamily="18" charset="0"/>
              </a:rPr>
              <a:t>σ</a:t>
            </a:r>
            <a:r>
              <a:rPr lang="en-GB" altLang="en-US" baseline="-25000" dirty="0">
                <a:effectLst>
                  <a:outerShdw blurRad="38100" dist="38100" dir="2700000" algn="tl">
                    <a:srgbClr val="000000"/>
                  </a:outerShdw>
                </a:effectLst>
                <a:latin typeface="Arial" panose="020B0604020202020204" pitchFamily="34" charset="0"/>
              </a:rPr>
              <a:t>v</a:t>
            </a:r>
            <a:r>
              <a:rPr lang="en-GB" altLang="en-US" dirty="0">
                <a:effectLst>
                  <a:outerShdw blurRad="38100" dist="38100" dir="2700000" algn="tl">
                    <a:srgbClr val="000000"/>
                  </a:outerShdw>
                </a:effectLst>
                <a:latin typeface="Arial" panose="020B0604020202020204" pitchFamily="34" charset="0"/>
              </a:rPr>
              <a:t>  =  </a:t>
            </a:r>
            <a:r>
              <a:rPr lang="el-GR" altLang="en-US" i="1" dirty="0">
                <a:effectLst>
                  <a:outerShdw blurRad="38100" dist="38100" dir="2700000" algn="tl">
                    <a:srgbClr val="000000"/>
                  </a:outerShdw>
                </a:effectLst>
                <a:latin typeface="Cambria Math" panose="02040503050406030204" pitchFamily="18" charset="0"/>
                <a:ea typeface="Cambria Math" panose="02040503050406030204" pitchFamily="18" charset="0"/>
              </a:rPr>
              <a:t>ρ</a:t>
            </a:r>
            <a:r>
              <a:rPr lang="en-GB" altLang="en-US" baseline="-25000" dirty="0" err="1">
                <a:effectLst>
                  <a:outerShdw blurRad="38100" dist="38100" dir="2700000" algn="tl">
                    <a:srgbClr val="000000"/>
                  </a:outerShdw>
                </a:effectLst>
                <a:latin typeface="Arial" panose="020B0604020202020204" pitchFamily="34" charset="0"/>
              </a:rPr>
              <a:t>roc</a:t>
            </a:r>
            <a:r>
              <a:rPr lang="en-GB" altLang="en-US" spc="300" baseline="-25000" dirty="0" err="1">
                <a:effectLst>
                  <a:outerShdw blurRad="38100" dist="38100" dir="2700000" algn="tl">
                    <a:srgbClr val="000000"/>
                  </a:outerShdw>
                </a:effectLst>
                <a:latin typeface="Arial" panose="020B0604020202020204" pitchFamily="34" charset="0"/>
              </a:rPr>
              <a:t>k</a:t>
            </a:r>
            <a:r>
              <a:rPr lang="en-GB" altLang="en-US" i="1" spc="250" dirty="0" err="1">
                <a:effectLst>
                  <a:outerShdw blurRad="38100" dist="38100" dir="2700000" algn="tl">
                    <a:srgbClr val="000000"/>
                  </a:outerShdw>
                </a:effectLst>
                <a:latin typeface="Arial" panose="020B0604020202020204" pitchFamily="34" charset="0"/>
              </a:rPr>
              <a:t>g</a:t>
            </a:r>
            <a:r>
              <a:rPr lang="en-GB" altLang="en-US" i="1" dirty="0" err="1">
                <a:effectLst>
                  <a:outerShdw blurRad="38100" dist="38100" dir="2700000" algn="tl">
                    <a:srgbClr val="000000"/>
                  </a:outerShdw>
                </a:effectLst>
                <a:latin typeface="Arial" panose="020B0604020202020204" pitchFamily="34" charset="0"/>
              </a:rPr>
              <a:t>z</a:t>
            </a:r>
            <a:endParaRPr lang="en-GB" altLang="en-US" i="1" dirty="0">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E26E63A-F2A6-4F39-9015-2012F735B7F8}"/>
              </a:ext>
            </a:extLst>
          </p:cNvPr>
          <p:cNvSpPr>
            <a:spLocks noGrp="1" noChangeArrowheads="1"/>
          </p:cNvSpPr>
          <p:nvPr>
            <p:ph type="title"/>
          </p:nvPr>
        </p:nvSpPr>
        <p:spPr>
          <a:noFill/>
        </p:spPr>
        <p:txBody>
          <a:bodyPr/>
          <a:lstStyle/>
          <a:p>
            <a:r>
              <a:rPr lang="en-GB" altLang="en-US">
                <a:effectLst/>
              </a:rPr>
              <a:t>Failure criteria – previously faulted rocks</a:t>
            </a:r>
          </a:p>
        </p:txBody>
      </p:sp>
      <p:sp>
        <p:nvSpPr>
          <p:cNvPr id="24579" name="Rectangle 3">
            <a:extLst>
              <a:ext uri="{FF2B5EF4-FFF2-40B4-BE49-F238E27FC236}">
                <a16:creationId xmlns:a16="http://schemas.microsoft.com/office/drawing/2014/main" id="{38CDF1F8-0A80-4415-A458-7310692E6684}"/>
              </a:ext>
            </a:extLst>
          </p:cNvPr>
          <p:cNvSpPr>
            <a:spLocks noGrp="1" noChangeArrowheads="1"/>
          </p:cNvSpPr>
          <p:nvPr>
            <p:ph type="body" sz="half" idx="1"/>
          </p:nvPr>
        </p:nvSpPr>
        <p:spPr>
          <a:xfrm>
            <a:off x="134938" y="771525"/>
            <a:ext cx="8851900" cy="1381125"/>
          </a:xfrm>
          <a:noFill/>
        </p:spPr>
        <p:txBody>
          <a:bodyPr/>
          <a:lstStyle/>
          <a:p>
            <a:pPr marL="177800" indent="-177800"/>
            <a:r>
              <a:rPr lang="en-GB" altLang="en-US" sz="1700" dirty="0">
                <a:effectLst/>
              </a:rPr>
              <a:t>Natural faulting does not generally take place in “intact” rocks but rather it occurs in rocks that contain pre-existing fractures. In the case of major faults, faulting occurs by reactivating old faults. </a:t>
            </a:r>
            <a:r>
              <a:rPr lang="en-GB" altLang="en-US" sz="1700" dirty="0">
                <a:solidFill>
                  <a:srgbClr val="FF66CC"/>
                </a:solidFill>
                <a:effectLst/>
              </a:rPr>
              <a:t>Faulting, therefore, is a matter of attaining the stresses required for </a:t>
            </a:r>
            <a:r>
              <a:rPr lang="en-GB" altLang="en-US" sz="1700" dirty="0">
                <a:solidFill>
                  <a:srgbClr val="FF6600"/>
                </a:solidFill>
                <a:effectLst/>
              </a:rPr>
              <a:t>frictional sliding</a:t>
            </a:r>
          </a:p>
        </p:txBody>
      </p:sp>
      <p:sp>
        <p:nvSpPr>
          <p:cNvPr id="269327" name="Text Box 15">
            <a:extLst>
              <a:ext uri="{FF2B5EF4-FFF2-40B4-BE49-F238E27FC236}">
                <a16:creationId xmlns:a16="http://schemas.microsoft.com/office/drawing/2014/main" id="{21F3BA88-8E9C-4A2E-8984-166059F9BA7F}"/>
              </a:ext>
            </a:extLst>
          </p:cNvPr>
          <p:cNvSpPr txBox="1">
            <a:spLocks noChangeArrowheads="1"/>
          </p:cNvSpPr>
          <p:nvPr/>
        </p:nvSpPr>
        <p:spPr bwMode="auto">
          <a:xfrm>
            <a:off x="147638" y="2236788"/>
            <a:ext cx="3222625" cy="421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00"/>
                </a:solidFill>
                <a:effectLst>
                  <a:outerShdw blurRad="38100" dist="38100" dir="2700000" algn="tl">
                    <a:srgbClr val="000000"/>
                  </a:outerShdw>
                </a:effectLst>
                <a:latin typeface="Arial" panose="020B0604020202020204" pitchFamily="34" charset="0"/>
              </a:rPr>
              <a:t>failure envelope for frictional sliding</a:t>
            </a:r>
            <a:r>
              <a:rPr lang="en-GB" altLang="en-US" sz="1700" dirty="0">
                <a:effectLst>
                  <a:outerShdw blurRad="38100" dist="38100" dir="2700000" algn="tl">
                    <a:srgbClr val="000000"/>
                  </a:outerShdw>
                </a:effectLst>
                <a:latin typeface="Arial" panose="020B0604020202020204" pitchFamily="34" charset="0"/>
              </a:rPr>
              <a:t> has a similar slope (coefficient of internal friction) to that for intact rocks, but the cohesive strength (</a:t>
            </a:r>
            <a:r>
              <a:rPr lang="el-GR" altLang="en-US" sz="17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τ</a:t>
            </a:r>
            <a:r>
              <a:rPr lang="en-GB" altLang="en-US" sz="1700" spc="300" baseline="-25000" dirty="0">
                <a:solidFill>
                  <a:srgbClr val="FFFF00"/>
                </a:solidFill>
                <a:effectLst>
                  <a:outerShdw blurRad="38100" dist="38100" dir="2700000" algn="tl">
                    <a:srgbClr val="000000"/>
                  </a:outerShdw>
                </a:effectLst>
                <a:latin typeface="Arial" panose="020B0604020202020204" pitchFamily="34" charset="0"/>
              </a:rPr>
              <a:t>0</a:t>
            </a:r>
            <a:r>
              <a:rPr lang="en-GB" altLang="en-US" sz="1700" dirty="0">
                <a:effectLst>
                  <a:outerShdw blurRad="38100" dist="38100" dir="2700000" algn="tl">
                    <a:srgbClr val="000000"/>
                  </a:outerShdw>
                </a:effectLst>
                <a:latin typeface="Arial" panose="020B0604020202020204" pitchFamily="34" charset="0"/>
              </a:rPr>
              <a:t>) is smaller</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Almost all lithologies (except those rich in sheet silicates) have a </a:t>
            </a:r>
            <a:r>
              <a:rPr lang="en-GB" altLang="en-US" sz="1700" dirty="0">
                <a:solidFill>
                  <a:srgbClr val="FF66CC"/>
                </a:solidFill>
                <a:effectLst>
                  <a:outerShdw blurRad="38100" dist="38100" dir="2700000" algn="tl">
                    <a:srgbClr val="000000"/>
                  </a:outerShdw>
                </a:effectLst>
                <a:latin typeface="Arial" panose="020B0604020202020204" pitchFamily="34" charset="0"/>
              </a:rPr>
              <a:t>similar coefficient of frictional sliding</a:t>
            </a:r>
            <a:endParaRPr lang="en-GB" altLang="en-US" sz="1700" dirty="0">
              <a:effectLst>
                <a:outerShdw blurRad="38100" dist="38100" dir="2700000" algn="tl">
                  <a:srgbClr val="000000"/>
                </a:outerShdw>
              </a:effectLst>
              <a:latin typeface="Arial" panose="020B0604020202020204" pitchFamily="34" charset="0"/>
            </a:endParaRPr>
          </a:p>
          <a:p>
            <a:pPr>
              <a:lnSpc>
                <a:spcPct val="120000"/>
              </a:lnSpc>
              <a:spcBef>
                <a:spcPct val="0"/>
              </a:spcBef>
              <a:buClr>
                <a:schemeClr val="tx1"/>
              </a:buClr>
            </a:pPr>
            <a:r>
              <a:rPr lang="en-GB" altLang="en-US" sz="17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rPr>
              <a:t>at large stresses,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rPr>
              <a:t>μ</a:t>
            </a:r>
            <a:r>
              <a:rPr lang="en-GB" altLang="en-US" sz="1400" dirty="0">
                <a:solidFill>
                  <a:srgbClr val="FFFF00"/>
                </a:solidFill>
                <a:effectLst>
                  <a:outerShdw blurRad="38100" dist="38100" dir="2700000" algn="tl">
                    <a:srgbClr val="000000"/>
                  </a:outerShdw>
                </a:effectLst>
                <a:latin typeface="Arial" panose="020B0604020202020204" pitchFamily="34" charset="0"/>
              </a:rPr>
              <a:t> ~ 0.6</a:t>
            </a:r>
            <a:r>
              <a:rPr lang="en-GB" altLang="en-US" sz="1400" dirty="0">
                <a:effectLst>
                  <a:outerShdw blurRad="38100" dist="38100" dir="2700000" algn="tl">
                    <a:srgbClr val="000000"/>
                  </a:outerShdw>
                </a:effectLst>
                <a:latin typeface="Arial" panose="020B0604020202020204" pitchFamily="34" charset="0"/>
              </a:rPr>
              <a:t> </a:t>
            </a:r>
            <a:r>
              <a:rPr lang="en-GB" altLang="en-US" sz="1400" dirty="0">
                <a:effectLst>
                  <a:outerShdw blurRad="38100" dist="38100" dir="2700000" algn="tl">
                    <a:srgbClr val="000000"/>
                  </a:outerShdw>
                </a:effectLst>
                <a:latin typeface="Arial" panose="020B0604020202020204" pitchFamily="34" charset="0"/>
                <a:cs typeface="Arial" panose="020B0604020202020204" pitchFamily="34" charset="0"/>
              </a:rPr>
              <a:t>→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cs typeface="Arial" panose="020B0604020202020204" pitchFamily="34" charset="0"/>
              </a:rPr>
              <a:t>ϕ</a:t>
            </a:r>
            <a:r>
              <a:rPr lang="en-GB" altLang="en-US" sz="1400" dirty="0">
                <a:solidFill>
                  <a:srgbClr val="FFFF00"/>
                </a:solidFill>
                <a:effectLst>
                  <a:outerShdw blurRad="38100" dist="38100" dir="2700000" algn="tl">
                    <a:srgbClr val="000000"/>
                  </a:outerShdw>
                </a:effectLst>
                <a:latin typeface="Arial" panose="020B0604020202020204" pitchFamily="34" charset="0"/>
                <a:cs typeface="Arial" panose="020B0604020202020204" pitchFamily="34" charset="0"/>
              </a:rPr>
              <a:t> ~ 30°</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This is </a:t>
            </a:r>
            <a:r>
              <a:rPr lang="en-GB" altLang="en-US" sz="1700" dirty="0" err="1">
                <a:solidFill>
                  <a:srgbClr val="FF6600"/>
                </a:solidFill>
                <a:effectLst>
                  <a:outerShdw blurRad="38100" dist="38100" dir="2700000" algn="tl">
                    <a:srgbClr val="000000"/>
                  </a:outerShdw>
                </a:effectLst>
                <a:latin typeface="Arial" panose="020B0604020202020204" pitchFamily="34" charset="0"/>
              </a:rPr>
              <a:t>Byerlee’s</a:t>
            </a:r>
            <a:r>
              <a:rPr lang="en-GB" altLang="en-US" sz="1700" dirty="0">
                <a:solidFill>
                  <a:srgbClr val="FF6600"/>
                </a:solidFill>
                <a:effectLst>
                  <a:outerShdw blurRad="38100" dist="38100" dir="2700000" algn="tl">
                    <a:srgbClr val="000000"/>
                  </a:outerShdw>
                </a:effectLst>
                <a:latin typeface="Arial" panose="020B0604020202020204" pitchFamily="34" charset="0"/>
              </a:rPr>
              <a:t> law</a:t>
            </a:r>
            <a:endParaRPr lang="en-GB" altLang="en-US" sz="1700" dirty="0">
              <a:effectLst>
                <a:outerShdw blurRad="38100" dist="38100" dir="2700000" algn="tl">
                  <a:srgbClr val="000000"/>
                </a:outerShdw>
              </a:effectLst>
              <a:latin typeface="Arial" panose="020B0604020202020204" pitchFamily="34" charset="0"/>
            </a:endParaRPr>
          </a:p>
        </p:txBody>
      </p:sp>
      <p:pic>
        <p:nvPicPr>
          <p:cNvPr id="24581" name="Picture 17">
            <a:extLst>
              <a:ext uri="{FF2B5EF4-FFF2-40B4-BE49-F238E27FC236}">
                <a16:creationId xmlns:a16="http://schemas.microsoft.com/office/drawing/2014/main" id="{F1925B48-473E-4BC0-B759-2322C6D1C1A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617913" y="2106613"/>
            <a:ext cx="5224462" cy="4325937"/>
          </a:xfrm>
          <a:noFill/>
          <a:ln w="38100" cap="flat">
            <a:solidFill>
              <a:schemeClr val="bg2"/>
            </a:solidFill>
            <a:miter lim="800000"/>
            <a:headEnd/>
            <a:tailEnd/>
          </a:ln>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1D7575-8AE3-45CB-B67A-E1AFD5B8E550}"/>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485899" y="2390775"/>
            <a:ext cx="6175375" cy="3136900"/>
          </a:xfrm>
          <a:prstGeom prst="rect">
            <a:avLst/>
          </a:prstGeom>
          <a:ln w="38100">
            <a:solidFill>
              <a:schemeClr val="bg2"/>
            </a:solidFill>
          </a:ln>
        </p:spPr>
      </p:pic>
      <p:sp>
        <p:nvSpPr>
          <p:cNvPr id="25602" name="Rectangle 2">
            <a:extLst>
              <a:ext uri="{FF2B5EF4-FFF2-40B4-BE49-F238E27FC236}">
                <a16:creationId xmlns:a16="http://schemas.microsoft.com/office/drawing/2014/main" id="{F9704310-231D-49CD-AD75-1DD073D9D48A}"/>
              </a:ext>
            </a:extLst>
          </p:cNvPr>
          <p:cNvSpPr>
            <a:spLocks noGrp="1" noChangeArrowheads="1"/>
          </p:cNvSpPr>
          <p:nvPr>
            <p:ph type="title"/>
          </p:nvPr>
        </p:nvSpPr>
        <p:spPr>
          <a:noFill/>
        </p:spPr>
        <p:txBody>
          <a:bodyPr/>
          <a:lstStyle/>
          <a:p>
            <a:r>
              <a:rPr lang="en-GB" altLang="en-US">
                <a:effectLst/>
              </a:rPr>
              <a:t>Failure criteria – the effect of pore fluid pressure</a:t>
            </a:r>
          </a:p>
        </p:txBody>
      </p:sp>
      <p:sp>
        <p:nvSpPr>
          <p:cNvPr id="25603" name="Rectangle 3">
            <a:extLst>
              <a:ext uri="{FF2B5EF4-FFF2-40B4-BE49-F238E27FC236}">
                <a16:creationId xmlns:a16="http://schemas.microsoft.com/office/drawing/2014/main" id="{F9C7759A-B398-4A11-9231-CC7CF90082A4}"/>
              </a:ext>
            </a:extLst>
          </p:cNvPr>
          <p:cNvSpPr>
            <a:spLocks noGrp="1" noChangeArrowheads="1"/>
          </p:cNvSpPr>
          <p:nvPr>
            <p:ph type="body" sz="half" idx="1"/>
          </p:nvPr>
        </p:nvSpPr>
        <p:spPr>
          <a:xfrm>
            <a:off x="134938" y="808038"/>
            <a:ext cx="8851900" cy="1435100"/>
          </a:xfrm>
          <a:noFill/>
        </p:spPr>
        <p:txBody>
          <a:bodyPr/>
          <a:lstStyle/>
          <a:p>
            <a:pPr marL="177800" indent="-177800"/>
            <a:r>
              <a:rPr lang="en-GB" altLang="en-US" sz="1700" dirty="0">
                <a:solidFill>
                  <a:srgbClr val="FF6600"/>
                </a:solidFill>
                <a:effectLst/>
              </a:rPr>
              <a:t>Pore fluid pressure</a:t>
            </a:r>
            <a:r>
              <a:rPr lang="en-GB" altLang="en-US" sz="1700" dirty="0">
                <a:effectLst/>
              </a:rPr>
              <a:t> promotes brittle failure – on a Mohr diagram, if we increase pore fluid pressure, </a:t>
            </a:r>
            <a:r>
              <a:rPr lang="en-GB" altLang="en-US" sz="1700" dirty="0">
                <a:solidFill>
                  <a:srgbClr val="FF66CC"/>
                </a:solidFill>
                <a:effectLst/>
              </a:rPr>
              <a:t>we shift the Mohr circle</a:t>
            </a:r>
            <a:r>
              <a:rPr lang="en-GB" altLang="en-US" sz="1700" dirty="0">
                <a:effectLst/>
              </a:rPr>
              <a:t> describing a stable state of stress (one below the failure envelope) to the left; if the pore fluid pressure is large enough, the failure envelope is intersected and failure occurs</a:t>
            </a:r>
          </a:p>
        </p:txBody>
      </p:sp>
      <p:sp>
        <p:nvSpPr>
          <p:cNvPr id="273416" name="Text Box 8">
            <a:extLst>
              <a:ext uri="{FF2B5EF4-FFF2-40B4-BE49-F238E27FC236}">
                <a16:creationId xmlns:a16="http://schemas.microsoft.com/office/drawing/2014/main" id="{9DE417DE-40FF-4511-A226-A08DD6CAF090}"/>
              </a:ext>
            </a:extLst>
          </p:cNvPr>
          <p:cNvSpPr txBox="1">
            <a:spLocks noChangeArrowheads="1"/>
          </p:cNvSpPr>
          <p:nvPr/>
        </p:nvSpPr>
        <p:spPr bwMode="auto">
          <a:xfrm>
            <a:off x="157163" y="5810250"/>
            <a:ext cx="874712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Note that the effect of pore fluids is </a:t>
            </a:r>
            <a:r>
              <a:rPr lang="en-GB" sz="1700" dirty="0">
                <a:solidFill>
                  <a:srgbClr val="FF6600"/>
                </a:solidFill>
                <a:effectLst>
                  <a:outerShdw blurRad="38100" dist="38100" dir="2700000" algn="tl">
                    <a:srgbClr val="000000"/>
                  </a:outerShdw>
                </a:effectLst>
                <a:latin typeface="Arial" charset="0"/>
              </a:rPr>
              <a:t>NOT</a:t>
            </a:r>
            <a:r>
              <a:rPr lang="en-GB" sz="1700" dirty="0">
                <a:effectLst>
                  <a:outerShdw blurRad="38100" dist="38100" dir="2700000" algn="tl">
                    <a:srgbClr val="000000"/>
                  </a:outerShdw>
                </a:effectLst>
                <a:latin typeface="Arial" charset="0"/>
              </a:rPr>
              <a:t> to lubricate the fault, but rather to jack the fault apart so that there is less normal stress pushing the fault walls together</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29D5AFD-D54F-46D1-9F07-EC6142B40339}"/>
              </a:ext>
            </a:extLst>
          </p:cNvPr>
          <p:cNvSpPr>
            <a:spLocks noGrp="1" noChangeArrowheads="1"/>
          </p:cNvSpPr>
          <p:nvPr>
            <p:ph type="title"/>
          </p:nvPr>
        </p:nvSpPr>
        <p:spPr>
          <a:noFill/>
        </p:spPr>
        <p:txBody>
          <a:bodyPr/>
          <a:lstStyle/>
          <a:p>
            <a:r>
              <a:rPr lang="en-GB" altLang="en-US">
                <a:effectLst/>
              </a:rPr>
              <a:t>From microcracking to failure</a:t>
            </a:r>
          </a:p>
        </p:txBody>
      </p:sp>
      <p:sp>
        <p:nvSpPr>
          <p:cNvPr id="26627" name="Rectangle 3">
            <a:extLst>
              <a:ext uri="{FF2B5EF4-FFF2-40B4-BE49-F238E27FC236}">
                <a16:creationId xmlns:a16="http://schemas.microsoft.com/office/drawing/2014/main" id="{A712FA12-1B8B-426A-9512-EDAE97C5F20D}"/>
              </a:ext>
            </a:extLst>
          </p:cNvPr>
          <p:cNvSpPr>
            <a:spLocks noGrp="1" noChangeArrowheads="1"/>
          </p:cNvSpPr>
          <p:nvPr>
            <p:ph type="body" sz="half" idx="1"/>
          </p:nvPr>
        </p:nvSpPr>
        <p:spPr>
          <a:xfrm>
            <a:off x="125413" y="752475"/>
            <a:ext cx="8863012" cy="2843213"/>
          </a:xfrm>
          <a:noFill/>
        </p:spPr>
        <p:txBody>
          <a:bodyPr/>
          <a:lstStyle/>
          <a:p>
            <a:pPr marL="177800" indent="-177800">
              <a:spcBef>
                <a:spcPct val="50000"/>
              </a:spcBef>
            </a:pPr>
            <a:r>
              <a:rPr lang="en-GB" altLang="en-US" sz="1700" dirty="0">
                <a:effectLst/>
              </a:rPr>
              <a:t>Brittle failure occurs through the </a:t>
            </a:r>
            <a:r>
              <a:rPr lang="en-GB" altLang="en-US" sz="1700" dirty="0">
                <a:solidFill>
                  <a:srgbClr val="FF6600"/>
                </a:solidFill>
                <a:effectLst/>
              </a:rPr>
              <a:t>formation and coalescence of microcracks</a:t>
            </a:r>
            <a:r>
              <a:rPr lang="en-GB" altLang="en-US" sz="1700" dirty="0">
                <a:effectLst/>
              </a:rPr>
              <a:t>; these develop around flaws in the material</a:t>
            </a:r>
          </a:p>
          <a:p>
            <a:pPr marL="177800" indent="-177800">
              <a:spcBef>
                <a:spcPct val="50000"/>
              </a:spcBef>
            </a:pPr>
            <a:r>
              <a:rPr lang="en-GB" altLang="en-US" sz="1700" dirty="0">
                <a:effectLst/>
              </a:rPr>
              <a:t>The formation of a new crack </a:t>
            </a:r>
            <a:r>
              <a:rPr lang="en-GB" altLang="en-US" sz="1700" dirty="0">
                <a:solidFill>
                  <a:srgbClr val="FF66CC"/>
                </a:solidFill>
                <a:effectLst/>
              </a:rPr>
              <a:t>relieves the local stresses</a:t>
            </a:r>
            <a:r>
              <a:rPr lang="en-GB" altLang="en-US" sz="1700" dirty="0">
                <a:effectLst/>
              </a:rPr>
              <a:t> and so the next crack forms elsewhere in the sample</a:t>
            </a:r>
          </a:p>
          <a:p>
            <a:pPr marL="177800" indent="-177800">
              <a:spcBef>
                <a:spcPct val="50000"/>
              </a:spcBef>
            </a:pPr>
            <a:r>
              <a:rPr lang="en-GB" altLang="en-US" sz="1700" dirty="0">
                <a:effectLst/>
              </a:rPr>
              <a:t>However, stresses are </a:t>
            </a:r>
            <a:r>
              <a:rPr lang="en-GB" altLang="en-US" sz="1700" dirty="0">
                <a:solidFill>
                  <a:srgbClr val="FF66CC"/>
                </a:solidFill>
                <a:effectLst/>
              </a:rPr>
              <a:t>concentrated around crack tips</a:t>
            </a:r>
            <a:r>
              <a:rPr lang="en-GB" altLang="en-US" sz="1700" dirty="0">
                <a:effectLst/>
              </a:rPr>
              <a:t> </a:t>
            </a:r>
            <a:r>
              <a:rPr lang="en-GB" altLang="en-US" sz="1700" dirty="0">
                <a:effectLst/>
                <a:cs typeface="Arial" panose="020B0604020202020204" pitchFamily="34" charset="0"/>
              </a:rPr>
              <a:t>→</a:t>
            </a:r>
            <a:r>
              <a:rPr lang="en-GB" altLang="en-US" sz="1700" dirty="0">
                <a:effectLst/>
              </a:rPr>
              <a:t> regions with high crack density (and hence </a:t>
            </a:r>
            <a:r>
              <a:rPr lang="en-GB" altLang="en-US" sz="1700" dirty="0">
                <a:solidFill>
                  <a:srgbClr val="FF66CC"/>
                </a:solidFill>
                <a:effectLst/>
              </a:rPr>
              <a:t>more crack tips</a:t>
            </a:r>
            <a:r>
              <a:rPr lang="en-GB" altLang="en-US" sz="1700" dirty="0">
                <a:effectLst/>
              </a:rPr>
              <a:t>) come to be more highly stressed </a:t>
            </a:r>
            <a:r>
              <a:rPr lang="en-GB" altLang="en-US" sz="1700" dirty="0">
                <a:effectLst/>
                <a:cs typeface="Arial" panose="020B0604020202020204" pitchFamily="34" charset="0"/>
              </a:rPr>
              <a:t>→</a:t>
            </a:r>
            <a:r>
              <a:rPr lang="en-GB" altLang="en-US" sz="1700" dirty="0">
                <a:effectLst/>
              </a:rPr>
              <a:t> when there are sufficient cracks to make this effect significant, </a:t>
            </a:r>
            <a:r>
              <a:rPr lang="en-GB" altLang="en-US" sz="1700" dirty="0" err="1">
                <a:effectLst/>
              </a:rPr>
              <a:t>microfracturing</a:t>
            </a:r>
            <a:r>
              <a:rPr lang="en-GB" altLang="en-US" sz="1700" dirty="0">
                <a:effectLst/>
              </a:rPr>
              <a:t> </a:t>
            </a:r>
            <a:r>
              <a:rPr lang="en-GB" altLang="en-US" sz="1700" dirty="0">
                <a:solidFill>
                  <a:srgbClr val="FF66CC"/>
                </a:solidFill>
                <a:effectLst/>
              </a:rPr>
              <a:t>focuses</a:t>
            </a:r>
            <a:r>
              <a:rPr lang="en-GB" altLang="en-US" sz="1700" dirty="0">
                <a:effectLst/>
              </a:rPr>
              <a:t> in these regions </a:t>
            </a:r>
            <a:r>
              <a:rPr lang="en-GB" altLang="en-US" sz="1700" dirty="0">
                <a:effectLst/>
                <a:cs typeface="Arial" panose="020B0604020202020204" pitchFamily="34" charset="0"/>
              </a:rPr>
              <a:t>→</a:t>
            </a:r>
            <a:r>
              <a:rPr lang="en-GB" altLang="en-US" sz="1700" dirty="0">
                <a:effectLst/>
              </a:rPr>
              <a:t> coalescence of cracks and localization of the deformation on a </a:t>
            </a:r>
            <a:r>
              <a:rPr lang="en-GB" altLang="en-US" sz="1700" dirty="0">
                <a:solidFill>
                  <a:srgbClr val="FF66CC"/>
                </a:solidFill>
                <a:effectLst/>
              </a:rPr>
              <a:t>through-going fracture</a:t>
            </a:r>
          </a:p>
        </p:txBody>
      </p:sp>
      <p:grpSp>
        <p:nvGrpSpPr>
          <p:cNvPr id="26635" name="Group 11">
            <a:extLst>
              <a:ext uri="{FF2B5EF4-FFF2-40B4-BE49-F238E27FC236}">
                <a16:creationId xmlns:a16="http://schemas.microsoft.com/office/drawing/2014/main" id="{9EE6AC2F-1A61-4DA2-9B61-AD079428807F}"/>
              </a:ext>
            </a:extLst>
          </p:cNvPr>
          <p:cNvGrpSpPr>
            <a:grpSpLocks/>
          </p:cNvGrpSpPr>
          <p:nvPr/>
        </p:nvGrpSpPr>
        <p:grpSpPr bwMode="auto">
          <a:xfrm>
            <a:off x="573088" y="3757613"/>
            <a:ext cx="7953375" cy="2914650"/>
            <a:chOff x="361" y="2367"/>
            <a:chExt cx="5010" cy="1836"/>
          </a:xfrm>
        </p:grpSpPr>
        <p:grpSp>
          <p:nvGrpSpPr>
            <p:cNvPr id="26628" name="Group 15">
              <a:extLst>
                <a:ext uri="{FF2B5EF4-FFF2-40B4-BE49-F238E27FC236}">
                  <a16:creationId xmlns:a16="http://schemas.microsoft.com/office/drawing/2014/main" id="{AADEFAA9-BEB6-4942-B113-C65C77DB5E86}"/>
                </a:ext>
              </a:extLst>
            </p:cNvPr>
            <p:cNvGrpSpPr>
              <a:grpSpLocks/>
            </p:cNvGrpSpPr>
            <p:nvPr/>
          </p:nvGrpSpPr>
          <p:grpSpPr bwMode="auto">
            <a:xfrm>
              <a:off x="361" y="2367"/>
              <a:ext cx="5010" cy="1836"/>
              <a:chOff x="140" y="2531"/>
              <a:chExt cx="4654" cy="1705"/>
            </a:xfrm>
          </p:grpSpPr>
          <p:sp>
            <p:nvSpPr>
              <p:cNvPr id="283661" name="Rectangle 13">
                <a:extLst>
                  <a:ext uri="{FF2B5EF4-FFF2-40B4-BE49-F238E27FC236}">
                    <a16:creationId xmlns:a16="http://schemas.microsoft.com/office/drawing/2014/main" id="{CB2CBBDF-55FA-4D4F-BBDA-53F0B8DD72E7}"/>
                  </a:ext>
                </a:extLst>
              </p:cNvPr>
              <p:cNvSpPr>
                <a:spLocks noChangeArrowheads="1"/>
              </p:cNvSpPr>
              <p:nvPr/>
            </p:nvSpPr>
            <p:spPr bwMode="auto">
              <a:xfrm>
                <a:off x="140" y="2531"/>
                <a:ext cx="4654" cy="1705"/>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26630" name="Picture 10">
                <a:extLst>
                  <a:ext uri="{FF2B5EF4-FFF2-40B4-BE49-F238E27FC236}">
                    <a16:creationId xmlns:a16="http://schemas.microsoft.com/office/drawing/2014/main" id="{7ED2C2A9-3EF0-4308-9C61-E21F296EE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248" t="6639" b="23753"/>
              <a:stretch>
                <a:fillRect/>
              </a:stretch>
            </p:blipFill>
            <p:spPr bwMode="auto">
              <a:xfrm>
                <a:off x="184" y="2581"/>
                <a:ext cx="4548" cy="1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3660" name="Rectangle 12">
                <a:extLst>
                  <a:ext uri="{FF2B5EF4-FFF2-40B4-BE49-F238E27FC236}">
                    <a16:creationId xmlns:a16="http://schemas.microsoft.com/office/drawing/2014/main" id="{21F04256-9A51-49EE-A904-9F05DA37BDE8}"/>
                  </a:ext>
                </a:extLst>
              </p:cNvPr>
              <p:cNvSpPr>
                <a:spLocks noChangeArrowheads="1"/>
              </p:cNvSpPr>
              <p:nvPr/>
            </p:nvSpPr>
            <p:spPr bwMode="auto">
              <a:xfrm>
                <a:off x="3747" y="2601"/>
                <a:ext cx="291" cy="1554"/>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grpSp>
        <p:sp>
          <p:nvSpPr>
            <p:cNvPr id="26633" name="Rectangle 9">
              <a:extLst>
                <a:ext uri="{FF2B5EF4-FFF2-40B4-BE49-F238E27FC236}">
                  <a16:creationId xmlns:a16="http://schemas.microsoft.com/office/drawing/2014/main" id="{D72C50B8-40D5-456B-9994-6B49582DD8D6}"/>
                </a:ext>
              </a:extLst>
            </p:cNvPr>
            <p:cNvSpPr>
              <a:spLocks noChangeArrowheads="1"/>
            </p:cNvSpPr>
            <p:nvPr/>
          </p:nvSpPr>
          <p:spPr bwMode="auto">
            <a:xfrm>
              <a:off x="426" y="4112"/>
              <a:ext cx="3858" cy="7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5A3FDE1-A1DF-489B-9766-F3D94AEDDE8C}"/>
              </a:ext>
            </a:extLst>
          </p:cNvPr>
          <p:cNvSpPr>
            <a:spLocks noGrp="1" noChangeArrowheads="1"/>
          </p:cNvSpPr>
          <p:nvPr>
            <p:ph type="title"/>
          </p:nvPr>
        </p:nvSpPr>
        <p:spPr>
          <a:noFill/>
        </p:spPr>
        <p:txBody>
          <a:bodyPr/>
          <a:lstStyle/>
          <a:p>
            <a:r>
              <a:rPr lang="en-GB" altLang="en-US">
                <a:effectLst/>
              </a:rPr>
              <a:t>From microcracking to fracture propagation</a:t>
            </a:r>
          </a:p>
        </p:txBody>
      </p:sp>
      <p:sp>
        <p:nvSpPr>
          <p:cNvPr id="27651" name="Rectangle 3">
            <a:extLst>
              <a:ext uri="{FF2B5EF4-FFF2-40B4-BE49-F238E27FC236}">
                <a16:creationId xmlns:a16="http://schemas.microsoft.com/office/drawing/2014/main" id="{5DE7D60B-8B8E-4DEC-A619-30E3EE2366AA}"/>
              </a:ext>
            </a:extLst>
          </p:cNvPr>
          <p:cNvSpPr>
            <a:spLocks noGrp="1" noChangeArrowheads="1"/>
          </p:cNvSpPr>
          <p:nvPr>
            <p:ph type="body" sz="half" idx="1"/>
          </p:nvPr>
        </p:nvSpPr>
        <p:spPr>
          <a:xfrm>
            <a:off x="125413" y="752475"/>
            <a:ext cx="5840412" cy="2782888"/>
          </a:xfrm>
          <a:noFill/>
        </p:spPr>
        <p:txBody>
          <a:bodyPr/>
          <a:lstStyle/>
          <a:p>
            <a:pPr marL="177800" indent="-177800"/>
            <a:r>
              <a:rPr lang="en-GB" altLang="en-US" sz="1700" dirty="0">
                <a:effectLst/>
              </a:rPr>
              <a:t>If a macroscopic fracture already exists, microcracking is focused in the region </a:t>
            </a:r>
            <a:r>
              <a:rPr lang="en-GB" altLang="en-US" sz="1700" dirty="0">
                <a:solidFill>
                  <a:srgbClr val="FF66CC"/>
                </a:solidFill>
                <a:effectLst/>
              </a:rPr>
              <a:t>just ahead of the fracture tip </a:t>
            </a:r>
            <a:r>
              <a:rPr lang="en-GB" altLang="en-US" sz="1700" dirty="0">
                <a:effectLst/>
              </a:rPr>
              <a:t>where the stresses are greatest. This complex region of deformation is called the </a:t>
            </a:r>
            <a:r>
              <a:rPr lang="en-GB" altLang="en-US" sz="1700" dirty="0">
                <a:solidFill>
                  <a:srgbClr val="FF6600"/>
                </a:solidFill>
                <a:effectLst/>
              </a:rPr>
              <a:t>process zone</a:t>
            </a:r>
          </a:p>
          <a:p>
            <a:pPr marL="177800" indent="-177800">
              <a:spcBef>
                <a:spcPct val="50000"/>
              </a:spcBef>
            </a:pPr>
            <a:r>
              <a:rPr lang="en-GB" altLang="en-US" sz="1700" dirty="0">
                <a:effectLst/>
              </a:rPr>
              <a:t>This concentration of microcracking activity is why most faults have a well-defined </a:t>
            </a:r>
            <a:r>
              <a:rPr lang="en-GB" altLang="en-US" sz="1700" dirty="0">
                <a:solidFill>
                  <a:srgbClr val="FF6600"/>
                </a:solidFill>
                <a:effectLst/>
              </a:rPr>
              <a:t>core</a:t>
            </a:r>
            <a:r>
              <a:rPr lang="en-GB" altLang="en-US" sz="1700" dirty="0">
                <a:effectLst/>
              </a:rPr>
              <a:t> of intense </a:t>
            </a:r>
            <a:r>
              <a:rPr lang="en-GB" altLang="en-US" sz="1700" dirty="0" err="1">
                <a:effectLst/>
              </a:rPr>
              <a:t>cataclastic</a:t>
            </a:r>
            <a:r>
              <a:rPr lang="en-GB" altLang="en-US" sz="1700" dirty="0">
                <a:effectLst/>
              </a:rPr>
              <a:t> deformation and a surrounding </a:t>
            </a:r>
            <a:r>
              <a:rPr lang="en-GB" altLang="en-US" sz="1700" dirty="0">
                <a:solidFill>
                  <a:srgbClr val="FF6600"/>
                </a:solidFill>
                <a:effectLst/>
              </a:rPr>
              <a:t>damage zone</a:t>
            </a:r>
            <a:r>
              <a:rPr lang="en-GB" altLang="en-US" sz="1700" dirty="0">
                <a:effectLst/>
              </a:rPr>
              <a:t> of less intense fracturing</a:t>
            </a:r>
          </a:p>
        </p:txBody>
      </p:sp>
      <p:pic>
        <p:nvPicPr>
          <p:cNvPr id="27652" name="Picture 8" descr="08b">
            <a:extLst>
              <a:ext uri="{FF2B5EF4-FFF2-40B4-BE49-F238E27FC236}">
                <a16:creationId xmlns:a16="http://schemas.microsoft.com/office/drawing/2014/main" id="{7D3D1EA1-460E-4F82-B36F-5AA6713D813A}"/>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630487" y="2387495"/>
            <a:ext cx="2314576" cy="3853876"/>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7653" name="Picture 10" descr="08b">
            <a:extLst>
              <a:ext uri="{FF2B5EF4-FFF2-40B4-BE49-F238E27FC236}">
                <a16:creationId xmlns:a16="http://schemas.microsoft.com/office/drawing/2014/main" id="{8AC72A73-07BB-45AC-95CE-94BC2DD61D2C}"/>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630487" y="982610"/>
            <a:ext cx="2314575" cy="10572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2">
            <a:extLst>
              <a:ext uri="{FF2B5EF4-FFF2-40B4-BE49-F238E27FC236}">
                <a16:creationId xmlns:a16="http://schemas.microsoft.com/office/drawing/2014/main" id="{E6B00832-2D0A-031E-FB9E-2E2B75457C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097" y="3535363"/>
            <a:ext cx="6231172" cy="3126693"/>
          </a:xfrm>
          <a:prstGeom prst="rect">
            <a:avLst/>
          </a:prstGeom>
          <a:ln w="38100">
            <a:solidFill>
              <a:schemeClr val="bg1"/>
            </a:solidFill>
          </a:ln>
        </p:spPr>
      </p:pic>
    </p:spTree>
    <p:extLst>
      <p:ext uri="{BB962C8B-B14F-4D97-AF65-F5344CB8AC3E}">
        <p14:creationId xmlns:p14="http://schemas.microsoft.com/office/powerpoint/2010/main" val="1775649037"/>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422C7AAA-1B2D-41CE-85E4-08EF29EE4A17}"/>
              </a:ext>
            </a:extLst>
          </p:cNvPr>
          <p:cNvSpPr>
            <a:spLocks noGrp="1" noChangeArrowheads="1"/>
          </p:cNvSpPr>
          <p:nvPr>
            <p:ph type="title" idx="4294967295"/>
          </p:nvPr>
        </p:nvSpPr>
        <p:spPr>
          <a:noFill/>
        </p:spPr>
        <p:txBody>
          <a:bodyPr/>
          <a:lstStyle/>
          <a:p>
            <a:r>
              <a:rPr lang="en-GB" altLang="en-US">
                <a:effectLst/>
              </a:rPr>
              <a:t>Characterizing fault damage zones</a:t>
            </a:r>
          </a:p>
        </p:txBody>
      </p:sp>
      <p:pic>
        <p:nvPicPr>
          <p:cNvPr id="91145" name="Picture 9" descr="08c2">
            <a:extLst>
              <a:ext uri="{FF2B5EF4-FFF2-40B4-BE49-F238E27FC236}">
                <a16:creationId xmlns:a16="http://schemas.microsoft.com/office/drawing/2014/main" id="{3A573E51-3A04-4195-AD6E-F12922744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89000"/>
            <a:ext cx="3967163" cy="57292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91147" name="Picture 11" descr="08c3">
            <a:extLst>
              <a:ext uri="{FF2B5EF4-FFF2-40B4-BE49-F238E27FC236}">
                <a16:creationId xmlns:a16="http://schemas.microsoft.com/office/drawing/2014/main" id="{11BAAA42-6040-42E1-86D7-913A8ADA15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0" y="874713"/>
            <a:ext cx="3240088" cy="21463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91148" name="Picture 12" descr="08c4">
            <a:extLst>
              <a:ext uri="{FF2B5EF4-FFF2-40B4-BE49-F238E27FC236}">
                <a16:creationId xmlns:a16="http://schemas.microsoft.com/office/drawing/2014/main" id="{2FC6D472-AAAD-4DBB-A67C-415A12EDB6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9325" y="3143250"/>
            <a:ext cx="3806825" cy="29400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91149" name="Text Box 13">
            <a:extLst>
              <a:ext uri="{FF2B5EF4-FFF2-40B4-BE49-F238E27FC236}">
                <a16:creationId xmlns:a16="http://schemas.microsoft.com/office/drawing/2014/main" id="{9A29869D-ACE5-4ACD-90AF-3B52CEB3F00E}"/>
              </a:ext>
            </a:extLst>
          </p:cNvPr>
          <p:cNvSpPr txBox="1">
            <a:spLocks noChangeArrowheads="1"/>
          </p:cNvSpPr>
          <p:nvPr/>
        </p:nvSpPr>
        <p:spPr bwMode="auto">
          <a:xfrm>
            <a:off x="4349750" y="6161088"/>
            <a:ext cx="46672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Fracture density with distance from the fault core (top), damage zone width as a function of fault throw (bottom)</a:t>
            </a:r>
          </a:p>
        </p:txBody>
      </p:sp>
      <p:sp>
        <p:nvSpPr>
          <p:cNvPr id="2" name="TextBox 1">
            <a:extLst>
              <a:ext uri="{FF2B5EF4-FFF2-40B4-BE49-F238E27FC236}">
                <a16:creationId xmlns:a16="http://schemas.microsoft.com/office/drawing/2014/main" id="{7B7F94D0-3AD2-42A4-A0BE-3C353F439980}"/>
              </a:ext>
            </a:extLst>
          </p:cNvPr>
          <p:cNvSpPr txBox="1"/>
          <p:nvPr/>
        </p:nvSpPr>
        <p:spPr>
          <a:xfrm>
            <a:off x="6314127" y="2805569"/>
            <a:ext cx="511372" cy="215444"/>
          </a:xfrm>
          <a:prstGeom prst="rect">
            <a:avLst/>
          </a:prstGeom>
          <a:noFill/>
        </p:spPr>
        <p:txBody>
          <a:bodyPr wrap="square" rtlCol="0">
            <a:spAutoFit/>
          </a:bodyPr>
          <a:lstStyle/>
          <a:p>
            <a:r>
              <a:rPr lang="en-GB" sz="800" dirty="0">
                <a:solidFill>
                  <a:srgbClr val="FF3300"/>
                </a:solidFill>
                <a:effectLst/>
                <a:latin typeface="+mn-lt"/>
              </a:rPr>
              <a:t>W5min</a:t>
            </a:r>
          </a:p>
        </p:txBody>
      </p:sp>
      <p:sp>
        <p:nvSpPr>
          <p:cNvPr id="8" name="TextBox 7">
            <a:extLst>
              <a:ext uri="{FF2B5EF4-FFF2-40B4-BE49-F238E27FC236}">
                <a16:creationId xmlns:a16="http://schemas.microsoft.com/office/drawing/2014/main" id="{8EDB426D-595B-480F-9B3E-98DFD3F875A3}"/>
              </a:ext>
            </a:extLst>
          </p:cNvPr>
          <p:cNvSpPr txBox="1"/>
          <p:nvPr/>
        </p:nvSpPr>
        <p:spPr>
          <a:xfrm>
            <a:off x="6969229" y="2805569"/>
            <a:ext cx="527983" cy="215444"/>
          </a:xfrm>
          <a:prstGeom prst="rect">
            <a:avLst/>
          </a:prstGeom>
          <a:noFill/>
        </p:spPr>
        <p:txBody>
          <a:bodyPr wrap="square" rtlCol="0">
            <a:spAutoFit/>
          </a:bodyPr>
          <a:lstStyle/>
          <a:p>
            <a:r>
              <a:rPr lang="en-GB" sz="800" dirty="0">
                <a:solidFill>
                  <a:srgbClr val="FF3300"/>
                </a:solidFill>
                <a:effectLst/>
                <a:latin typeface="+mn-lt"/>
              </a:rPr>
              <a:t>W5max</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8A1B8F4B-C145-4EAC-9E67-43874FB21559}"/>
              </a:ext>
            </a:extLst>
          </p:cNvPr>
          <p:cNvSpPr>
            <a:spLocks noGrp="1" noChangeArrowheads="1"/>
          </p:cNvSpPr>
          <p:nvPr>
            <p:ph type="title" idx="4294967295"/>
          </p:nvPr>
        </p:nvSpPr>
        <p:spPr>
          <a:noFill/>
        </p:spPr>
        <p:txBody>
          <a:bodyPr/>
          <a:lstStyle/>
          <a:p>
            <a:r>
              <a:rPr lang="en-GB" altLang="en-US">
                <a:effectLst/>
              </a:rPr>
              <a:t>Dynamic fracturing</a:t>
            </a:r>
          </a:p>
        </p:txBody>
      </p:sp>
      <p:pic>
        <p:nvPicPr>
          <p:cNvPr id="106505" name="Picture 9" descr="DyFract2">
            <a:extLst>
              <a:ext uri="{FF2B5EF4-FFF2-40B4-BE49-F238E27FC236}">
                <a16:creationId xmlns:a16="http://schemas.microsoft.com/office/drawing/2014/main" id="{8F8B0958-BC5D-4B8D-854C-F26413905B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546" y="3346615"/>
            <a:ext cx="4357688" cy="32781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106506" name="Picture 10" descr="DyFract1">
            <a:extLst>
              <a:ext uri="{FF2B5EF4-FFF2-40B4-BE49-F238E27FC236}">
                <a16:creationId xmlns:a16="http://schemas.microsoft.com/office/drawing/2014/main" id="{155E8714-DA47-4E4B-A440-747FD62E9B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4563" y="917575"/>
            <a:ext cx="4216400" cy="26209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06507" name="Rectangle 3">
            <a:extLst>
              <a:ext uri="{FF2B5EF4-FFF2-40B4-BE49-F238E27FC236}">
                <a16:creationId xmlns:a16="http://schemas.microsoft.com/office/drawing/2014/main" id="{BE1EFD00-ADA1-4D9A-B80C-5D0453B0C665}"/>
              </a:ext>
            </a:extLst>
          </p:cNvPr>
          <p:cNvSpPr>
            <a:spLocks noChangeArrowheads="1"/>
          </p:cNvSpPr>
          <p:nvPr/>
        </p:nvSpPr>
        <p:spPr bwMode="auto">
          <a:xfrm>
            <a:off x="125413" y="752475"/>
            <a:ext cx="4439821"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42950" indent="-2857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1430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002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057400"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146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29718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290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8862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r>
              <a:rPr lang="en-GB" altLang="en-US" sz="1700" dirty="0">
                <a:effectLst/>
              </a:rPr>
              <a:t>When </a:t>
            </a:r>
            <a:r>
              <a:rPr lang="en-GB" altLang="en-US" sz="1700" dirty="0">
                <a:solidFill>
                  <a:srgbClr val="FF66CC"/>
                </a:solidFill>
                <a:effectLst/>
              </a:rPr>
              <a:t>fracture propagation is fast</a:t>
            </a:r>
            <a:r>
              <a:rPr lang="en-GB" altLang="en-US" sz="1700" dirty="0">
                <a:effectLst/>
              </a:rPr>
              <a:t> (as in earthquakes), damage around the fault is linked to the </a:t>
            </a:r>
            <a:r>
              <a:rPr lang="en-GB" altLang="en-US" sz="1700" dirty="0">
                <a:solidFill>
                  <a:srgbClr val="FF66CC"/>
                </a:solidFill>
                <a:effectLst/>
              </a:rPr>
              <a:t>transient stress</a:t>
            </a:r>
            <a:r>
              <a:rPr lang="en-GB" altLang="en-US" sz="1700" dirty="0">
                <a:effectLst/>
              </a:rPr>
              <a:t> conditions at the fracture tip (</a:t>
            </a:r>
            <a:r>
              <a:rPr lang="en-GB" altLang="en-US" sz="1700" dirty="0">
                <a:solidFill>
                  <a:srgbClr val="FF6600"/>
                </a:solidFill>
                <a:effectLst/>
              </a:rPr>
              <a:t>dynamic fracturing</a:t>
            </a:r>
            <a:r>
              <a:rPr lang="en-GB" altLang="en-US" sz="1700" dirty="0">
                <a:effectLst/>
              </a:rPr>
              <a:t>)</a:t>
            </a:r>
          </a:p>
          <a:p>
            <a:pPr>
              <a:spcBef>
                <a:spcPct val="50000"/>
              </a:spcBef>
            </a:pPr>
            <a:r>
              <a:rPr lang="en-GB" altLang="en-US" sz="1700" dirty="0">
                <a:solidFill>
                  <a:srgbClr val="FF66CC"/>
                </a:solidFill>
                <a:effectLst/>
              </a:rPr>
              <a:t>Pervasive fracturing</a:t>
            </a:r>
            <a:r>
              <a:rPr lang="en-GB" altLang="en-US" sz="1700" dirty="0">
                <a:effectLst/>
              </a:rPr>
              <a:t> occurs, particularly on the side of the fault where the transient stresses are tensile</a:t>
            </a:r>
          </a:p>
        </p:txBody>
      </p:sp>
      <p:sp>
        <p:nvSpPr>
          <p:cNvPr id="106508" name="Text Box 12">
            <a:extLst>
              <a:ext uri="{FF2B5EF4-FFF2-40B4-BE49-F238E27FC236}">
                <a16:creationId xmlns:a16="http://schemas.microsoft.com/office/drawing/2014/main" id="{48297358-CFEA-4308-80E3-03E4A0955271}"/>
              </a:ext>
            </a:extLst>
          </p:cNvPr>
          <p:cNvSpPr txBox="1">
            <a:spLocks noChangeArrowheads="1"/>
          </p:cNvSpPr>
          <p:nvPr/>
        </p:nvSpPr>
        <p:spPr bwMode="auto">
          <a:xfrm>
            <a:off x="4926013" y="3644900"/>
            <a:ext cx="39830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pPr>
            <a:r>
              <a:rPr lang="en-GB" altLang="en-US" sz="1400" dirty="0">
                <a:solidFill>
                  <a:srgbClr val="FFFF00"/>
                </a:solidFill>
                <a:effectLst>
                  <a:outerShdw blurRad="38100" dist="38100" dir="2700000" algn="tl">
                    <a:srgbClr val="000000"/>
                  </a:outerShdw>
                </a:effectLst>
                <a:latin typeface="Arial" panose="020B0604020202020204" pitchFamily="34" charset="0"/>
              </a:rPr>
              <a:t>Magnitude and orientation of </a:t>
            </a:r>
            <a:r>
              <a:rPr lang="el-GR" altLang="en-US" sz="1400" i="1" dirty="0">
                <a:solidFill>
                  <a:srgbClr val="FFFF00"/>
                </a:solidFill>
                <a:effectLst>
                  <a:outerShdw blurRad="38100" dist="38100" dir="2700000" algn="tl">
                    <a:srgbClr val="000000"/>
                  </a:outerShdw>
                </a:effectLst>
                <a:latin typeface="Cambria Math" panose="02040503050406030204" pitchFamily="18" charset="0"/>
                <a:ea typeface="Cambria Math" panose="02040503050406030204" pitchFamily="18" charset="0"/>
                <a:cs typeface="Arial" panose="020B0604020202020204" pitchFamily="34" charset="0"/>
              </a:rPr>
              <a:t>σ</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400" dirty="0">
                <a:solidFill>
                  <a:srgbClr val="FFFF00"/>
                </a:solidFill>
                <a:effectLst>
                  <a:outerShdw blurRad="38100" dist="38100" dir="2700000" algn="tl">
                    <a:srgbClr val="000000"/>
                  </a:outerShdw>
                </a:effectLst>
                <a:latin typeface="Arial" panose="020B0604020202020204" pitchFamily="34" charset="0"/>
              </a:rPr>
              <a:t> at the tip of a shear fracture propagating to the right at 0.9</a:t>
            </a:r>
            <a:r>
              <a:rPr lang="en-GB" altLang="en-US" sz="1400" i="1" dirty="0">
                <a:solidFill>
                  <a:srgbClr val="FFFF00"/>
                </a:solidFill>
                <a:effectLst>
                  <a:outerShdw blurRad="38100" dist="38100" dir="2700000" algn="tl">
                    <a:srgbClr val="000000"/>
                  </a:outerShdw>
                </a:effectLst>
                <a:latin typeface="Arial" panose="020B0604020202020204" pitchFamily="34" charset="0"/>
              </a:rPr>
              <a:t>V</a:t>
            </a:r>
            <a:r>
              <a:rPr lang="en-GB" altLang="en-US" sz="1400" i="1" baseline="-25000" dirty="0">
                <a:solidFill>
                  <a:srgbClr val="FFFF00"/>
                </a:solidFill>
                <a:effectLst>
                  <a:outerShdw blurRad="38100" dist="38100" dir="2700000" algn="tl">
                    <a:srgbClr val="000000"/>
                  </a:outerShdw>
                </a:effectLst>
                <a:latin typeface="Arial" panose="020B0604020202020204" pitchFamily="34" charset="0"/>
              </a:rPr>
              <a:t>s</a:t>
            </a:r>
            <a:endParaRPr lang="en-GB" altLang="en-US" sz="1400" dirty="0">
              <a:solidFill>
                <a:srgbClr val="FFFF00"/>
              </a:solidFill>
              <a:effectLst>
                <a:outerShdw blurRad="38100" dist="38100" dir="2700000" algn="tl">
                  <a:srgbClr val="000000"/>
                </a:outerShdw>
              </a:effectLst>
              <a:latin typeface="Arial" panose="020B0604020202020204" pitchFamily="34" charset="0"/>
            </a:endParaRPr>
          </a:p>
        </p:txBody>
      </p:sp>
      <p:sp>
        <p:nvSpPr>
          <p:cNvPr id="106509" name="Rectangle 3">
            <a:extLst>
              <a:ext uri="{FF2B5EF4-FFF2-40B4-BE49-F238E27FC236}">
                <a16:creationId xmlns:a16="http://schemas.microsoft.com/office/drawing/2014/main" id="{32176A29-14AF-4D49-BAF0-28662EC8ACC8}"/>
              </a:ext>
            </a:extLst>
          </p:cNvPr>
          <p:cNvSpPr>
            <a:spLocks noChangeArrowheads="1"/>
          </p:cNvSpPr>
          <p:nvPr/>
        </p:nvSpPr>
        <p:spPr bwMode="auto">
          <a:xfrm>
            <a:off x="4668253" y="4340225"/>
            <a:ext cx="4290010" cy="235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42950" indent="-2857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1430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002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057400"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146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29718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290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8862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r>
              <a:rPr lang="en-GB" altLang="en-US" sz="1700" dirty="0">
                <a:effectLst/>
              </a:rPr>
              <a:t>Microstructural features that are unique to </a:t>
            </a:r>
            <a:r>
              <a:rPr lang="en-GB" altLang="en-US" sz="1700" dirty="0">
                <a:solidFill>
                  <a:srgbClr val="FF66CC"/>
                </a:solidFill>
                <a:effectLst/>
              </a:rPr>
              <a:t>seismic rates of slip</a:t>
            </a:r>
            <a:r>
              <a:rPr lang="en-GB" altLang="en-US" sz="1700" dirty="0">
                <a:effectLst/>
              </a:rPr>
              <a:t> (</a:t>
            </a:r>
            <a:r>
              <a:rPr lang="en-GB" altLang="en-US" sz="1700" i="1" dirty="0">
                <a:effectLst/>
              </a:rPr>
              <a:t>e.g.</a:t>
            </a:r>
            <a:r>
              <a:rPr lang="en-GB" altLang="en-US" sz="1700" dirty="0">
                <a:effectLst/>
              </a:rPr>
              <a:t>, friction melts, particular fracture patterns) provide evidence for </a:t>
            </a:r>
            <a:r>
              <a:rPr lang="en-GB" altLang="en-US" sz="1700" dirty="0" err="1">
                <a:solidFill>
                  <a:srgbClr val="FF6600"/>
                </a:solidFill>
                <a:effectLst/>
              </a:rPr>
              <a:t>palaeo</a:t>
            </a:r>
            <a:r>
              <a:rPr lang="en-GB" altLang="en-US" sz="1700" dirty="0">
                <a:solidFill>
                  <a:srgbClr val="FF6600"/>
                </a:solidFill>
                <a:effectLst/>
              </a:rPr>
              <a:t>-earthquakes</a:t>
            </a:r>
            <a:r>
              <a:rPr lang="en-GB" altLang="en-US" sz="1700" dirty="0">
                <a:effectLst/>
              </a:rPr>
              <a:t> </a:t>
            </a:r>
          </a:p>
          <a:p>
            <a:pPr>
              <a:spcBef>
                <a:spcPts val="1020"/>
              </a:spcBef>
            </a:pPr>
            <a:r>
              <a:rPr lang="en-GB" altLang="en-US" sz="1700" dirty="0">
                <a:solidFill>
                  <a:srgbClr val="FF66CC"/>
                </a:solidFill>
                <a:effectLst/>
              </a:rPr>
              <a:t>Fault zone thickness </a:t>
            </a:r>
            <a:r>
              <a:rPr lang="en-GB" altLang="en-US" sz="1700" dirty="0">
                <a:effectLst/>
              </a:rPr>
              <a:t>is greater at </a:t>
            </a:r>
            <a:r>
              <a:rPr lang="en-GB" altLang="en-US" sz="1700" dirty="0">
                <a:solidFill>
                  <a:srgbClr val="FF66CC"/>
                </a:solidFill>
                <a:effectLst/>
              </a:rPr>
              <a:t>given fault displacement</a:t>
            </a:r>
            <a:r>
              <a:rPr lang="en-GB" altLang="en-US" sz="1700" dirty="0">
                <a:effectLst/>
              </a:rPr>
              <a:t> than in fault core-damage zone scenarios</a:t>
            </a:r>
          </a:p>
        </p:txBody>
      </p:sp>
      <p:sp>
        <p:nvSpPr>
          <p:cNvPr id="106510" name="Text Box 14">
            <a:extLst>
              <a:ext uri="{FF2B5EF4-FFF2-40B4-BE49-F238E27FC236}">
                <a16:creationId xmlns:a16="http://schemas.microsoft.com/office/drawing/2014/main" id="{7A01B4C2-0EA1-45D0-AA52-6EEA65D6A47A}"/>
              </a:ext>
            </a:extLst>
          </p:cNvPr>
          <p:cNvSpPr txBox="1">
            <a:spLocks noChangeArrowheads="1"/>
          </p:cNvSpPr>
          <p:nvPr/>
        </p:nvSpPr>
        <p:spPr bwMode="auto">
          <a:xfrm>
            <a:off x="2160588" y="3475038"/>
            <a:ext cx="800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i="1">
                <a:solidFill>
                  <a:srgbClr val="FF0000"/>
                </a:solidFill>
                <a:effectLst/>
                <a:latin typeface="Arial" panose="020B0604020202020204" pitchFamily="34" charset="0"/>
              </a:rPr>
              <a:t>t</a:t>
            </a:r>
            <a:r>
              <a:rPr lang="en-GB" altLang="en-US" sz="800" i="1">
                <a:solidFill>
                  <a:srgbClr val="FF0000"/>
                </a:solidFill>
                <a:effectLst/>
                <a:latin typeface="Arial" panose="020B0604020202020204" pitchFamily="34" charset="0"/>
              </a:rPr>
              <a:t> </a:t>
            </a:r>
            <a:r>
              <a:rPr lang="en-GB" altLang="en-US" sz="1400">
                <a:solidFill>
                  <a:srgbClr val="FF0000"/>
                </a:solidFill>
                <a:effectLst/>
                <a:latin typeface="Arial" panose="020B0604020202020204" pitchFamily="34" charset="0"/>
              </a:rPr>
              <a:t>/</a:t>
            </a:r>
            <a:r>
              <a:rPr lang="en-GB" altLang="en-US" sz="400">
                <a:solidFill>
                  <a:srgbClr val="FF0000"/>
                </a:solidFill>
                <a:effectLst/>
                <a:latin typeface="Arial" panose="020B0604020202020204" pitchFamily="34" charset="0"/>
              </a:rPr>
              <a:t> </a:t>
            </a:r>
            <a:r>
              <a:rPr lang="en-GB" altLang="en-US" sz="1400" i="1">
                <a:solidFill>
                  <a:srgbClr val="FF0000"/>
                </a:solidFill>
                <a:effectLst/>
                <a:latin typeface="Arial" panose="020B0604020202020204" pitchFamily="34" charset="0"/>
              </a:rPr>
              <a:t>d</a:t>
            </a:r>
            <a:r>
              <a:rPr lang="en-GB" altLang="en-US" sz="1400">
                <a:solidFill>
                  <a:srgbClr val="FF0000"/>
                </a:solidFill>
                <a:effectLst/>
                <a:latin typeface="Arial" panose="020B0604020202020204" pitchFamily="34" charset="0"/>
              </a:rPr>
              <a:t> ~ 1</a:t>
            </a:r>
          </a:p>
        </p:txBody>
      </p:sp>
      <p:sp>
        <p:nvSpPr>
          <p:cNvPr id="106511" name="Text Box 15">
            <a:extLst>
              <a:ext uri="{FF2B5EF4-FFF2-40B4-BE49-F238E27FC236}">
                <a16:creationId xmlns:a16="http://schemas.microsoft.com/office/drawing/2014/main" id="{42055C6F-2FDA-4CD3-9E95-A3D4B3C655F9}"/>
              </a:ext>
            </a:extLst>
          </p:cNvPr>
          <p:cNvSpPr txBox="1">
            <a:spLocks noChangeArrowheads="1"/>
          </p:cNvSpPr>
          <p:nvPr/>
        </p:nvSpPr>
        <p:spPr bwMode="auto">
          <a:xfrm>
            <a:off x="1176338" y="4251325"/>
            <a:ext cx="9493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altLang="en-US" sz="1400" i="1">
                <a:solidFill>
                  <a:srgbClr val="FF0000"/>
                </a:solidFill>
                <a:effectLst/>
                <a:latin typeface="Arial" panose="020B0604020202020204" pitchFamily="34" charset="0"/>
              </a:rPr>
              <a:t>t</a:t>
            </a:r>
            <a:r>
              <a:rPr lang="en-GB" altLang="en-US" sz="800" i="1">
                <a:solidFill>
                  <a:srgbClr val="FF0000"/>
                </a:solidFill>
                <a:effectLst/>
                <a:latin typeface="Arial" panose="020B0604020202020204" pitchFamily="34" charset="0"/>
              </a:rPr>
              <a:t> </a:t>
            </a:r>
            <a:r>
              <a:rPr lang="en-GB" altLang="en-US" sz="1400">
                <a:solidFill>
                  <a:srgbClr val="FF0000"/>
                </a:solidFill>
                <a:effectLst/>
                <a:latin typeface="Arial" panose="020B0604020202020204" pitchFamily="34" charset="0"/>
              </a:rPr>
              <a:t>/</a:t>
            </a:r>
            <a:r>
              <a:rPr lang="en-GB" altLang="en-US" sz="400">
                <a:solidFill>
                  <a:srgbClr val="FF0000"/>
                </a:solidFill>
                <a:effectLst/>
                <a:latin typeface="Arial" panose="020B0604020202020204" pitchFamily="34" charset="0"/>
              </a:rPr>
              <a:t> </a:t>
            </a:r>
            <a:r>
              <a:rPr lang="en-GB" altLang="en-US" sz="1400" i="1">
                <a:solidFill>
                  <a:srgbClr val="FF0000"/>
                </a:solidFill>
                <a:effectLst/>
                <a:latin typeface="Arial" panose="020B0604020202020204" pitchFamily="34" charset="0"/>
              </a:rPr>
              <a:t>d</a:t>
            </a:r>
            <a:r>
              <a:rPr lang="en-GB" altLang="en-US" sz="1400">
                <a:solidFill>
                  <a:srgbClr val="FF0000"/>
                </a:solidFill>
                <a:effectLst/>
                <a:latin typeface="Arial" panose="020B0604020202020204" pitchFamily="34" charset="0"/>
              </a:rPr>
              <a:t> ~ 0.1</a:t>
            </a:r>
          </a:p>
        </p:txBody>
      </p:sp>
      <p:sp>
        <p:nvSpPr>
          <p:cNvPr id="106512" name="Line 16">
            <a:extLst>
              <a:ext uri="{FF2B5EF4-FFF2-40B4-BE49-F238E27FC236}">
                <a16:creationId xmlns:a16="http://schemas.microsoft.com/office/drawing/2014/main" id="{C752DB50-E557-46BF-9C41-417546098A5D}"/>
              </a:ext>
            </a:extLst>
          </p:cNvPr>
          <p:cNvSpPr>
            <a:spLocks noChangeShapeType="1"/>
          </p:cNvSpPr>
          <p:nvPr/>
        </p:nvSpPr>
        <p:spPr bwMode="auto">
          <a:xfrm>
            <a:off x="2914650" y="3646488"/>
            <a:ext cx="285750" cy="34925"/>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6513" name="Line 17">
            <a:extLst>
              <a:ext uri="{FF2B5EF4-FFF2-40B4-BE49-F238E27FC236}">
                <a16:creationId xmlns:a16="http://schemas.microsoft.com/office/drawing/2014/main" id="{5D513A7E-42CC-440A-A93A-219B169687F6}"/>
              </a:ext>
            </a:extLst>
          </p:cNvPr>
          <p:cNvSpPr>
            <a:spLocks noChangeShapeType="1"/>
          </p:cNvSpPr>
          <p:nvPr/>
        </p:nvSpPr>
        <p:spPr bwMode="auto">
          <a:xfrm>
            <a:off x="1635125" y="4537075"/>
            <a:ext cx="354013" cy="40005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99014E6C-A8F8-4A6E-AFFD-BE8A4B2857BA}"/>
              </a:ext>
            </a:extLst>
          </p:cNvPr>
          <p:cNvSpPr>
            <a:spLocks noGrp="1" noChangeArrowheads="1"/>
          </p:cNvSpPr>
          <p:nvPr>
            <p:ph type="title"/>
          </p:nvPr>
        </p:nvSpPr>
        <p:spPr>
          <a:noFill/>
        </p:spPr>
        <p:txBody>
          <a:bodyPr/>
          <a:lstStyle/>
          <a:p>
            <a:r>
              <a:rPr lang="en-GB" altLang="en-US">
                <a:effectLst/>
              </a:rPr>
              <a:t>Coalescence of microcracks</a:t>
            </a:r>
          </a:p>
        </p:txBody>
      </p:sp>
      <p:sp>
        <p:nvSpPr>
          <p:cNvPr id="28675" name="Rectangle 3">
            <a:extLst>
              <a:ext uri="{FF2B5EF4-FFF2-40B4-BE49-F238E27FC236}">
                <a16:creationId xmlns:a16="http://schemas.microsoft.com/office/drawing/2014/main" id="{CB4A9AC3-48DB-4291-B599-E0AE1482FD47}"/>
              </a:ext>
            </a:extLst>
          </p:cNvPr>
          <p:cNvSpPr>
            <a:spLocks noGrp="1" noChangeArrowheads="1"/>
          </p:cNvSpPr>
          <p:nvPr>
            <p:ph type="body" sz="half" idx="1"/>
          </p:nvPr>
        </p:nvSpPr>
        <p:spPr>
          <a:xfrm>
            <a:off x="127000" y="769938"/>
            <a:ext cx="5233988" cy="2425700"/>
          </a:xfrm>
          <a:noFill/>
        </p:spPr>
        <p:txBody>
          <a:bodyPr/>
          <a:lstStyle/>
          <a:p>
            <a:pPr marL="177800" indent="-177800">
              <a:spcBef>
                <a:spcPct val="50000"/>
              </a:spcBef>
            </a:pPr>
            <a:r>
              <a:rPr lang="en-GB" altLang="en-US" sz="1700" dirty="0">
                <a:effectLst/>
              </a:rPr>
              <a:t>A key step in </a:t>
            </a:r>
            <a:r>
              <a:rPr lang="en-GB" altLang="en-US" sz="1700" dirty="0" err="1">
                <a:effectLst/>
              </a:rPr>
              <a:t>macrofracture</a:t>
            </a:r>
            <a:r>
              <a:rPr lang="en-GB" altLang="en-US" sz="1700" dirty="0">
                <a:effectLst/>
              </a:rPr>
              <a:t> formation and propagation is the </a:t>
            </a:r>
            <a:r>
              <a:rPr lang="en-GB" altLang="en-US" sz="1700" dirty="0">
                <a:solidFill>
                  <a:srgbClr val="FF66CC"/>
                </a:solidFill>
                <a:effectLst/>
              </a:rPr>
              <a:t>linking</a:t>
            </a:r>
            <a:r>
              <a:rPr lang="en-GB" altLang="en-US" sz="1700" dirty="0">
                <a:effectLst/>
              </a:rPr>
              <a:t> of favourably oriented microcracks</a:t>
            </a:r>
          </a:p>
          <a:p>
            <a:pPr marL="177800" indent="-177800">
              <a:spcBef>
                <a:spcPct val="50000"/>
              </a:spcBef>
            </a:pPr>
            <a:r>
              <a:rPr lang="en-GB" altLang="en-US" sz="1700" dirty="0">
                <a:effectLst/>
              </a:rPr>
              <a:t>Extension fractures and shear fractures do this differently – </a:t>
            </a:r>
            <a:r>
              <a:rPr lang="en-GB" altLang="en-US" sz="1700" dirty="0">
                <a:solidFill>
                  <a:srgbClr val="FF66CC"/>
                </a:solidFill>
                <a:effectLst/>
              </a:rPr>
              <a:t>extension fractures can propagate in their own plane, but shear fractures cannot </a:t>
            </a:r>
            <a:r>
              <a:rPr lang="en-GB" altLang="en-US" sz="1700" dirty="0">
                <a:effectLst/>
              </a:rPr>
              <a:t>and instead link up via extension fractures</a:t>
            </a:r>
          </a:p>
        </p:txBody>
      </p:sp>
      <p:grpSp>
        <p:nvGrpSpPr>
          <p:cNvPr id="28676" name="Group 10">
            <a:extLst>
              <a:ext uri="{FF2B5EF4-FFF2-40B4-BE49-F238E27FC236}">
                <a16:creationId xmlns:a16="http://schemas.microsoft.com/office/drawing/2014/main" id="{1CF7747C-D972-49D1-87E4-059D7A851DAB}"/>
              </a:ext>
            </a:extLst>
          </p:cNvPr>
          <p:cNvGrpSpPr>
            <a:grpSpLocks/>
          </p:cNvGrpSpPr>
          <p:nvPr/>
        </p:nvGrpSpPr>
        <p:grpSpPr bwMode="auto">
          <a:xfrm>
            <a:off x="573088" y="3306763"/>
            <a:ext cx="4140200" cy="3382962"/>
            <a:chOff x="122" y="1886"/>
            <a:chExt cx="2746" cy="2326"/>
          </a:xfrm>
        </p:grpSpPr>
        <p:sp>
          <p:nvSpPr>
            <p:cNvPr id="275465" name="Rectangle 9">
              <a:extLst>
                <a:ext uri="{FF2B5EF4-FFF2-40B4-BE49-F238E27FC236}">
                  <a16:creationId xmlns:a16="http://schemas.microsoft.com/office/drawing/2014/main" id="{A1567A8B-CEF6-4D6B-8D85-03FA2F007CFD}"/>
                </a:ext>
              </a:extLst>
            </p:cNvPr>
            <p:cNvSpPr>
              <a:spLocks noChangeArrowheads="1"/>
            </p:cNvSpPr>
            <p:nvPr/>
          </p:nvSpPr>
          <p:spPr bwMode="auto">
            <a:xfrm>
              <a:off x="122" y="1886"/>
              <a:ext cx="2746" cy="2326"/>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28680" name="Picture 2" descr="GR18.jpg">
              <a:extLst>
                <a:ext uri="{FF2B5EF4-FFF2-40B4-BE49-F238E27FC236}">
                  <a16:creationId xmlns:a16="http://schemas.microsoft.com/office/drawing/2014/main" id="{21D73C7C-0136-4E87-86BA-8B2922444577}"/>
                </a:ext>
              </a:extLst>
            </p:cNvPr>
            <p:cNvPicPr>
              <a:picLocks noChangeAspect="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187" y="1944"/>
              <a:ext cx="2627" cy="2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8677" name="Picture 24" descr="08d">
            <a:extLst>
              <a:ext uri="{FF2B5EF4-FFF2-40B4-BE49-F238E27FC236}">
                <a16:creationId xmlns:a16="http://schemas.microsoft.com/office/drawing/2014/main" id="{26EB2D7B-1FA1-4AE5-9CF3-607D83EC54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0888" y="912813"/>
            <a:ext cx="2970212" cy="49847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75481" name="Text Box 25">
            <a:extLst>
              <a:ext uri="{FF2B5EF4-FFF2-40B4-BE49-F238E27FC236}">
                <a16:creationId xmlns:a16="http://schemas.microsoft.com/office/drawing/2014/main" id="{3FC96D65-7EFA-439B-86D2-C551DFA739AD}"/>
              </a:ext>
            </a:extLst>
          </p:cNvPr>
          <p:cNvSpPr txBox="1">
            <a:spLocks noChangeArrowheads="1"/>
          </p:cNvSpPr>
          <p:nvPr/>
        </p:nvSpPr>
        <p:spPr bwMode="auto">
          <a:xfrm>
            <a:off x="5724525" y="5994400"/>
            <a:ext cx="3224213"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Linking of shear fractures by extension fractures (wing cracks)</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904B97E-295A-4320-A73B-996272020465}"/>
              </a:ext>
            </a:extLst>
          </p:cNvPr>
          <p:cNvSpPr>
            <a:spLocks noGrp="1" noChangeArrowheads="1"/>
          </p:cNvSpPr>
          <p:nvPr>
            <p:ph type="title"/>
          </p:nvPr>
        </p:nvSpPr>
        <p:spPr>
          <a:noFill/>
        </p:spPr>
        <p:txBody>
          <a:bodyPr/>
          <a:lstStyle/>
          <a:p>
            <a:r>
              <a:rPr lang="en-GB" altLang="en-US">
                <a:effectLst/>
              </a:rPr>
              <a:t>Linking fractures within an en échelon array</a:t>
            </a:r>
          </a:p>
        </p:txBody>
      </p:sp>
      <p:pic>
        <p:nvPicPr>
          <p:cNvPr id="29699" name="Picture 8" descr="Figure14">
            <a:extLst>
              <a:ext uri="{FF2B5EF4-FFF2-40B4-BE49-F238E27FC236}">
                <a16:creationId xmlns:a16="http://schemas.microsoft.com/office/drawing/2014/main" id="{72FCE4BD-CD20-464E-9030-2984D841D4A3}"/>
              </a:ext>
            </a:extLst>
          </p:cNvPr>
          <p:cNvPicPr>
            <a:picLocks noGrp="1" noChangeAspect="1" noChangeArrowheads="1"/>
          </p:cNvPicPr>
          <p:nvPr>
            <p:ph sz="quarter" idx="2"/>
          </p:nvPr>
        </p:nvPicPr>
        <p:blipFill>
          <a:blip r:embed="rId3">
            <a:lum bright="-10000" contrast="10000"/>
            <a:extLst>
              <a:ext uri="{28A0092B-C50C-407E-A947-70E740481C1C}">
                <a14:useLocalDpi xmlns:a14="http://schemas.microsoft.com/office/drawing/2010/main" val="0"/>
              </a:ext>
            </a:extLst>
          </a:blip>
          <a:srcRect l="11848" r="5923" b="51292"/>
          <a:stretch>
            <a:fillRect/>
          </a:stretch>
        </p:blipFill>
        <p:spPr>
          <a:xfrm>
            <a:off x="149225" y="868363"/>
            <a:ext cx="6294438" cy="57118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700" name="Picture 11" descr="Figure14">
            <a:extLst>
              <a:ext uri="{FF2B5EF4-FFF2-40B4-BE49-F238E27FC236}">
                <a16:creationId xmlns:a16="http://schemas.microsoft.com/office/drawing/2014/main" id="{66FEDD16-DAEF-4528-AED4-F3A5E2518381}"/>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l="11823" t="50900" r="5933" b="497"/>
          <a:stretch>
            <a:fillRect/>
          </a:stretch>
        </p:blipFill>
        <p:spPr>
          <a:xfrm>
            <a:off x="6629400" y="876300"/>
            <a:ext cx="2378075" cy="2146300"/>
          </a:xfr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01" name="Text Box 16">
            <a:extLst>
              <a:ext uri="{FF2B5EF4-FFF2-40B4-BE49-F238E27FC236}">
                <a16:creationId xmlns:a16="http://schemas.microsoft.com/office/drawing/2014/main" id="{9345DB52-F353-47DB-963E-3E2345BEA5F8}"/>
              </a:ext>
            </a:extLst>
          </p:cNvPr>
          <p:cNvSpPr txBox="1">
            <a:spLocks noChangeArrowheads="1"/>
          </p:cNvSpPr>
          <p:nvPr/>
        </p:nvSpPr>
        <p:spPr bwMode="auto">
          <a:xfrm>
            <a:off x="6584950" y="3160713"/>
            <a:ext cx="2336800" cy="289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latin typeface="Arial" panose="020B0604020202020204" pitchFamily="34" charset="0"/>
              </a:rPr>
              <a:t>At the exposure scale it is not uncommon to find incipient faults developing through the </a:t>
            </a:r>
            <a:r>
              <a:rPr lang="en-GB" altLang="en-US" sz="1700" dirty="0">
                <a:solidFill>
                  <a:srgbClr val="FF66CC"/>
                </a:solidFill>
                <a:effectLst/>
                <a:latin typeface="Arial" panose="020B0604020202020204" pitchFamily="34" charset="0"/>
              </a:rPr>
              <a:t>linking of the components of an </a:t>
            </a:r>
            <a:r>
              <a:rPr lang="en-GB" altLang="en-US" sz="1700" dirty="0" err="1">
                <a:solidFill>
                  <a:srgbClr val="FF66CC"/>
                </a:solidFill>
                <a:effectLst/>
                <a:latin typeface="Arial" panose="020B0604020202020204" pitchFamily="34" charset="0"/>
              </a:rPr>
              <a:t>en</a:t>
            </a:r>
            <a:r>
              <a:rPr lang="en-GB" altLang="en-US" sz="1700" dirty="0">
                <a:solidFill>
                  <a:srgbClr val="FF66CC"/>
                </a:solidFill>
                <a:effectLst/>
                <a:latin typeface="Arial" panose="020B0604020202020204" pitchFamily="34" charset="0"/>
              </a:rPr>
              <a:t> </a:t>
            </a:r>
            <a:r>
              <a:rPr lang="en-GB" altLang="en-US" sz="1700" dirty="0" err="1">
                <a:solidFill>
                  <a:srgbClr val="FF66CC"/>
                </a:solidFill>
                <a:effectLst/>
                <a:latin typeface="Arial" panose="020B0604020202020204" pitchFamily="34" charset="0"/>
              </a:rPr>
              <a:t>échelon</a:t>
            </a:r>
            <a:r>
              <a:rPr lang="en-GB" altLang="en-US" sz="1700" dirty="0">
                <a:solidFill>
                  <a:srgbClr val="FF66CC"/>
                </a:solidFill>
                <a:effectLst/>
                <a:latin typeface="Arial" panose="020B0604020202020204" pitchFamily="34" charset="0"/>
              </a:rPr>
              <a:t> array</a:t>
            </a:r>
            <a:r>
              <a:rPr lang="en-GB" altLang="en-US" sz="1700" dirty="0">
                <a:effectLst/>
                <a:latin typeface="Arial" panose="020B0604020202020204" pitchFamily="34" charset="0"/>
              </a:rPr>
              <a:t> of extension fractures</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2BA3A01-7E01-4113-8E4C-B868EBD18987}"/>
              </a:ext>
            </a:extLst>
          </p:cNvPr>
          <p:cNvSpPr>
            <a:spLocks noGrp="1" noChangeArrowheads="1"/>
          </p:cNvSpPr>
          <p:nvPr>
            <p:ph type="title"/>
          </p:nvPr>
        </p:nvSpPr>
        <p:spPr>
          <a:noFill/>
        </p:spPr>
        <p:txBody>
          <a:bodyPr/>
          <a:lstStyle/>
          <a:p>
            <a:r>
              <a:rPr lang="en-GB" altLang="en-US">
                <a:effectLst/>
              </a:rPr>
              <a:t>Linking fractures within an en échelon array  2</a:t>
            </a:r>
          </a:p>
        </p:txBody>
      </p:sp>
      <p:sp>
        <p:nvSpPr>
          <p:cNvPr id="288771" name="Rectangle 3">
            <a:extLst>
              <a:ext uri="{FF2B5EF4-FFF2-40B4-BE49-F238E27FC236}">
                <a16:creationId xmlns:a16="http://schemas.microsoft.com/office/drawing/2014/main" id="{9F39FA49-F83D-4B6A-B8EF-14B310CB845E}"/>
              </a:ext>
            </a:extLst>
          </p:cNvPr>
          <p:cNvSpPr>
            <a:spLocks noGrp="1" noChangeArrowheads="1"/>
          </p:cNvSpPr>
          <p:nvPr>
            <p:ph type="body" sz="half" idx="1"/>
          </p:nvPr>
        </p:nvSpPr>
        <p:spPr>
          <a:xfrm>
            <a:off x="1493838" y="5767388"/>
            <a:ext cx="4246562" cy="896937"/>
          </a:xfrm>
        </p:spPr>
        <p:txBody>
          <a:bodyPr/>
          <a:lstStyle/>
          <a:p>
            <a:pPr marL="0" indent="0">
              <a:spcBef>
                <a:spcPct val="50000"/>
              </a:spcBef>
              <a:buFont typeface="Times" panose="02020603050405020304" pitchFamily="18" charset="0"/>
              <a:buNone/>
            </a:pPr>
            <a:r>
              <a:rPr lang="en-GB" altLang="en-US" sz="1400">
                <a:solidFill>
                  <a:srgbClr val="FFFF00"/>
                </a:solidFill>
              </a:rPr>
              <a:t>At this scale, fracture coalescence can be profitably considered in terms of the factors influencing the deflection of fractures at interfaces (see last class)</a:t>
            </a:r>
            <a:endParaRPr lang="en-GB" altLang="en-US" sz="1400">
              <a:solidFill>
                <a:srgbClr val="FFFF00"/>
              </a:solidFill>
              <a:effectLst/>
            </a:endParaRPr>
          </a:p>
        </p:txBody>
      </p:sp>
      <p:pic>
        <p:nvPicPr>
          <p:cNvPr id="30725" name="Picture 12">
            <a:extLst>
              <a:ext uri="{FF2B5EF4-FFF2-40B4-BE49-F238E27FC236}">
                <a16:creationId xmlns:a16="http://schemas.microsoft.com/office/drawing/2014/main" id="{9C939E69-C313-4C01-ABF4-21F3D31F1A2C}"/>
              </a:ext>
            </a:extLst>
          </p:cNvPr>
          <p:cNvPicPr>
            <a:picLocks noGrp="1" noChangeAspect="1" noChangeArrowheads="1"/>
          </p:cNvPicPr>
          <p:nvPr>
            <p:ph sz="quarter" idx="2"/>
          </p:nvPr>
        </p:nvPicPr>
        <p:blipFill>
          <a:blip r:embed="rId3">
            <a:lum bright="4000"/>
            <a:extLst>
              <a:ext uri="{28A0092B-C50C-407E-A947-70E740481C1C}">
                <a14:useLocalDpi xmlns:a14="http://schemas.microsoft.com/office/drawing/2010/main" val="0"/>
              </a:ext>
            </a:extLst>
          </a:blip>
          <a:srcRect l="24767"/>
          <a:stretch>
            <a:fillRect/>
          </a:stretch>
        </p:blipFill>
        <p:spPr>
          <a:xfrm>
            <a:off x="5797550" y="919163"/>
            <a:ext cx="3213100" cy="5661025"/>
          </a:xfrm>
          <a:noFill/>
          <a:ln w="38100" cap="flat">
            <a:solidFill>
              <a:schemeClr val="bg2"/>
            </a:solidFill>
            <a:miter lim="800000"/>
            <a:headEnd/>
            <a:tailEnd/>
          </a:ln>
        </p:spPr>
      </p:pic>
      <p:pic>
        <p:nvPicPr>
          <p:cNvPr id="30727" name="Picture 7" descr="09a1-Mull">
            <a:extLst>
              <a:ext uri="{FF2B5EF4-FFF2-40B4-BE49-F238E27FC236}">
                <a16:creationId xmlns:a16="http://schemas.microsoft.com/office/drawing/2014/main" id="{E20B2322-074A-4E9E-84AF-FB16655857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513" y="919163"/>
            <a:ext cx="2662237" cy="43322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0728" name="Picture 8" descr="09a2-WAngle">
            <a:extLst>
              <a:ext uri="{FF2B5EF4-FFF2-40B4-BE49-F238E27FC236}">
                <a16:creationId xmlns:a16="http://schemas.microsoft.com/office/drawing/2014/main" id="{66B9882E-EC25-415E-84EF-2831280675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0063" y="919163"/>
            <a:ext cx="2551112" cy="43275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72737982-12E8-416A-9077-8AB50F51832F}"/>
              </a:ext>
            </a:extLst>
          </p:cNvPr>
          <p:cNvSpPr>
            <a:spLocks noGrp="1" noChangeArrowheads="1"/>
          </p:cNvSpPr>
          <p:nvPr>
            <p:ph type="ctrTitle" idx="4294967295"/>
          </p:nvPr>
        </p:nvSpPr>
        <p:spPr bwMode="black">
          <a:xfrm>
            <a:off x="173038" y="1635125"/>
            <a:ext cx="8705850" cy="2011363"/>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lnSpc>
                <a:spcPct val="120000"/>
              </a:lnSpc>
              <a:defRPr/>
            </a:pPr>
            <a:br>
              <a:rPr lang="en-US" sz="3500"/>
            </a:br>
            <a:br>
              <a:rPr lang="en-US" sz="3500"/>
            </a:br>
            <a:r>
              <a:rPr lang="en-US" sz="3500">
                <a:solidFill>
                  <a:srgbClr val="FF6600"/>
                </a:solidFill>
              </a:rPr>
              <a:t>Growth of faults</a:t>
            </a:r>
            <a:endParaRPr lang="en-US">
              <a:solidFill>
                <a:srgbClr val="FF6600"/>
              </a:solidFill>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C343E90-53D5-4DB3-A006-FE2A16D86EC0}"/>
              </a:ext>
            </a:extLst>
          </p:cNvPr>
          <p:cNvSpPr>
            <a:spLocks noGrp="1" noChangeArrowheads="1"/>
          </p:cNvSpPr>
          <p:nvPr>
            <p:ph type="title"/>
          </p:nvPr>
        </p:nvSpPr>
        <p:spPr>
          <a:noFill/>
        </p:spPr>
        <p:txBody>
          <a:bodyPr/>
          <a:lstStyle/>
          <a:p>
            <a:r>
              <a:rPr lang="en-GB" altLang="en-US">
                <a:effectLst/>
              </a:rPr>
              <a:t>Fault length frequency </a:t>
            </a:r>
          </a:p>
        </p:txBody>
      </p:sp>
      <p:sp>
        <p:nvSpPr>
          <p:cNvPr id="32771" name="Rectangle 3">
            <a:extLst>
              <a:ext uri="{FF2B5EF4-FFF2-40B4-BE49-F238E27FC236}">
                <a16:creationId xmlns:a16="http://schemas.microsoft.com/office/drawing/2014/main" id="{BDCF03AE-B081-438D-8931-BB89BD8E2EFD}"/>
              </a:ext>
            </a:extLst>
          </p:cNvPr>
          <p:cNvSpPr>
            <a:spLocks noGrp="1" noChangeArrowheads="1"/>
          </p:cNvSpPr>
          <p:nvPr>
            <p:ph type="body" sz="half" idx="1"/>
          </p:nvPr>
        </p:nvSpPr>
        <p:spPr>
          <a:xfrm>
            <a:off x="125413" y="790575"/>
            <a:ext cx="4759325" cy="3417888"/>
          </a:xfrm>
          <a:noFill/>
        </p:spPr>
        <p:txBody>
          <a:bodyPr/>
          <a:lstStyle/>
          <a:p>
            <a:pPr marL="177800" indent="-177800"/>
            <a:r>
              <a:rPr lang="en-GB" altLang="en-US" sz="1700" dirty="0">
                <a:effectLst/>
              </a:rPr>
              <a:t>When faults and associated fractures are mapped over a wide range of scales, it is commonly found that plots of </a:t>
            </a:r>
            <a:r>
              <a:rPr lang="en-GB" altLang="en-US" sz="1700" dirty="0">
                <a:solidFill>
                  <a:srgbClr val="FF6600"/>
                </a:solidFill>
                <a:effectLst/>
              </a:rPr>
              <a:t>cumulative frequency vs. fault trace length</a:t>
            </a:r>
            <a:r>
              <a:rPr lang="en-GB" altLang="en-US" sz="1700" dirty="0">
                <a:effectLst/>
              </a:rPr>
              <a:t> show a power law relationship</a:t>
            </a:r>
          </a:p>
          <a:p>
            <a:pPr marL="177800" indent="-177800">
              <a:spcBef>
                <a:spcPct val="75000"/>
              </a:spcBef>
            </a:pPr>
            <a:r>
              <a:rPr lang="en-GB" altLang="en-US" sz="1700" dirty="0">
                <a:effectLst/>
              </a:rPr>
              <a:t>The relationship appears to break down at </a:t>
            </a:r>
            <a:r>
              <a:rPr lang="en-GB" altLang="en-US" sz="1700" dirty="0">
                <a:solidFill>
                  <a:srgbClr val="FF66CC"/>
                </a:solidFill>
                <a:effectLst/>
              </a:rPr>
              <a:t>small lengths</a:t>
            </a:r>
            <a:r>
              <a:rPr lang="en-GB" altLang="en-US" sz="1700" dirty="0">
                <a:effectLst/>
              </a:rPr>
              <a:t> because small fractures are more easily overlooked; it also appears to break down at </a:t>
            </a:r>
            <a:r>
              <a:rPr lang="en-GB" altLang="en-US" sz="1700" dirty="0">
                <a:solidFill>
                  <a:srgbClr val="FF66CC"/>
                </a:solidFill>
                <a:effectLst/>
              </a:rPr>
              <a:t>long lengths</a:t>
            </a:r>
            <a:r>
              <a:rPr lang="en-GB" altLang="en-US" sz="1700" dirty="0">
                <a:effectLst/>
              </a:rPr>
              <a:t> when the faults are longer than the map</a:t>
            </a:r>
          </a:p>
        </p:txBody>
      </p:sp>
      <p:pic>
        <p:nvPicPr>
          <p:cNvPr id="32772" name="Picture 6">
            <a:extLst>
              <a:ext uri="{FF2B5EF4-FFF2-40B4-BE49-F238E27FC236}">
                <a16:creationId xmlns:a16="http://schemas.microsoft.com/office/drawing/2014/main" id="{18006FA7-0C63-4A09-BB3F-BC47A16753A0}"/>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278438" y="922338"/>
            <a:ext cx="3459162" cy="3289300"/>
          </a:xfrm>
          <a:noFill/>
          <a:ln w="38100" cap="flat">
            <a:solidFill>
              <a:schemeClr val="bg2"/>
            </a:solidFill>
            <a:miter lim="800000"/>
            <a:headEnd/>
            <a:tailEnd/>
          </a:ln>
        </p:spPr>
      </p:pic>
      <p:sp>
        <p:nvSpPr>
          <p:cNvPr id="222217" name="Text Box 9">
            <a:extLst>
              <a:ext uri="{FF2B5EF4-FFF2-40B4-BE49-F238E27FC236}">
                <a16:creationId xmlns:a16="http://schemas.microsoft.com/office/drawing/2014/main" id="{8A0BE59F-9A94-471E-82B6-AF90C2DC85BE}"/>
              </a:ext>
            </a:extLst>
          </p:cNvPr>
          <p:cNvSpPr txBox="1">
            <a:spLocks noChangeArrowheads="1"/>
          </p:cNvSpPr>
          <p:nvPr/>
        </p:nvSpPr>
        <p:spPr bwMode="auto">
          <a:xfrm>
            <a:off x="6792913" y="4341813"/>
            <a:ext cx="2220912" cy="2136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dirty="0">
                <a:solidFill>
                  <a:srgbClr val="FFFF00"/>
                </a:solidFill>
                <a:effectLst>
                  <a:outerShdw blurRad="38100" dist="38100" dir="2700000" algn="tl">
                    <a:srgbClr val="000000"/>
                  </a:outerShdw>
                </a:effectLst>
                <a:latin typeface="Arial" charset="0"/>
              </a:rPr>
              <a:t>Fault population data for Valles </a:t>
            </a:r>
            <a:r>
              <a:rPr lang="en-GB" sz="1400" dirty="0" err="1">
                <a:solidFill>
                  <a:srgbClr val="FFFF00"/>
                </a:solidFill>
                <a:effectLst>
                  <a:outerShdw blurRad="38100" dist="38100" dir="2700000" algn="tl">
                    <a:srgbClr val="000000"/>
                  </a:outerShdw>
                </a:effectLst>
                <a:latin typeface="Arial" charset="0"/>
              </a:rPr>
              <a:t>Marineris</a:t>
            </a:r>
            <a:r>
              <a:rPr lang="en-GB" sz="1400" dirty="0">
                <a:solidFill>
                  <a:srgbClr val="FFFF00"/>
                </a:solidFill>
                <a:effectLst>
                  <a:outerShdw blurRad="38100" dist="38100" dir="2700000" algn="tl">
                    <a:srgbClr val="000000"/>
                  </a:outerShdw>
                </a:effectLst>
                <a:latin typeface="Arial" charset="0"/>
              </a:rPr>
              <a:t> on Mars. Two sets of data are shown: individual faults (open symbols) and faults that are made up of linked segments (filled symbols)</a:t>
            </a:r>
          </a:p>
        </p:txBody>
      </p:sp>
      <p:pic>
        <p:nvPicPr>
          <p:cNvPr id="32774" name="Picture 1">
            <a:extLst>
              <a:ext uri="{FF2B5EF4-FFF2-40B4-BE49-F238E27FC236}">
                <a16:creationId xmlns:a16="http://schemas.microsoft.com/office/drawing/2014/main" id="{A319C082-2FD2-4A63-B8FB-691556246BB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73563" y="4378325"/>
            <a:ext cx="2251075" cy="2251075"/>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EA29BB5B-1C17-49D7-BCDF-025A28FDDEB7}"/>
              </a:ext>
            </a:extLst>
          </p:cNvPr>
          <p:cNvSpPr txBox="1">
            <a:spLocks noChangeArrowheads="1"/>
          </p:cNvSpPr>
          <p:nvPr/>
        </p:nvSpPr>
        <p:spPr bwMode="auto">
          <a:xfrm>
            <a:off x="134938" y="4316413"/>
            <a:ext cx="3957637"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dirty="0">
                <a:effectLst/>
                <a:latin typeface="Arial" panose="020B0604020202020204" pitchFamily="34" charset="0"/>
              </a:rPr>
              <a:t>The </a:t>
            </a:r>
            <a:r>
              <a:rPr lang="en-GB" altLang="en-US" sz="1700" dirty="0">
                <a:solidFill>
                  <a:srgbClr val="FF66CC"/>
                </a:solidFill>
                <a:effectLst/>
                <a:latin typeface="Arial" panose="020B0604020202020204" pitchFamily="34" charset="0"/>
              </a:rPr>
              <a:t>slope of the power law</a:t>
            </a:r>
            <a:r>
              <a:rPr lang="en-GB" altLang="en-US" sz="1700" dirty="0">
                <a:effectLst/>
                <a:latin typeface="Arial" panose="020B0604020202020204" pitchFamily="34" charset="0"/>
              </a:rPr>
              <a:t> relationship </a:t>
            </a:r>
            <a:r>
              <a:rPr lang="en-GB" altLang="en-US" sz="1700" dirty="0">
                <a:solidFill>
                  <a:srgbClr val="FF66CC"/>
                </a:solidFill>
                <a:effectLst/>
                <a:latin typeface="Arial" panose="020B0604020202020204" pitchFamily="34" charset="0"/>
              </a:rPr>
              <a:t>decreases with increasing deformation</a:t>
            </a:r>
            <a:r>
              <a:rPr lang="en-GB" altLang="en-US" sz="1700" dirty="0">
                <a:effectLst/>
                <a:latin typeface="Arial" panose="020B0604020202020204" pitchFamily="34" charset="0"/>
              </a:rPr>
              <a:t> (more long faults) but the significance of the actual value of the slope remains poorly understood</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1901DFE-3769-41AB-A276-4ED625B73F6D}"/>
              </a:ext>
            </a:extLst>
          </p:cNvPr>
          <p:cNvSpPr>
            <a:spLocks noGrp="1" noChangeArrowheads="1"/>
          </p:cNvSpPr>
          <p:nvPr>
            <p:ph type="title"/>
          </p:nvPr>
        </p:nvSpPr>
        <p:spPr>
          <a:noFill/>
        </p:spPr>
        <p:txBody>
          <a:bodyPr/>
          <a:lstStyle/>
          <a:p>
            <a:r>
              <a:rPr lang="en-GB" altLang="en-US">
                <a:effectLst/>
              </a:rPr>
              <a:t>Displacement variation along a fault </a:t>
            </a:r>
          </a:p>
        </p:txBody>
      </p:sp>
      <p:sp>
        <p:nvSpPr>
          <p:cNvPr id="33795" name="Rectangle 3">
            <a:extLst>
              <a:ext uri="{FF2B5EF4-FFF2-40B4-BE49-F238E27FC236}">
                <a16:creationId xmlns:a16="http://schemas.microsoft.com/office/drawing/2014/main" id="{0C7BFD1B-2BAF-424D-82C5-77220D1B0CB2}"/>
              </a:ext>
            </a:extLst>
          </p:cNvPr>
          <p:cNvSpPr>
            <a:spLocks noGrp="1" noChangeArrowheads="1"/>
          </p:cNvSpPr>
          <p:nvPr>
            <p:ph type="body" sz="half" idx="1"/>
          </p:nvPr>
        </p:nvSpPr>
        <p:spPr>
          <a:xfrm>
            <a:off x="117475" y="769938"/>
            <a:ext cx="8855075" cy="762000"/>
          </a:xfrm>
          <a:noFill/>
        </p:spPr>
        <p:txBody>
          <a:bodyPr/>
          <a:lstStyle/>
          <a:p>
            <a:pPr marL="177800" indent="-177800"/>
            <a:r>
              <a:rPr lang="en-GB" altLang="en-US" sz="1700" dirty="0">
                <a:effectLst/>
              </a:rPr>
              <a:t>The displacement on a fault cannot be constant over the whole fault surface because it must decrease to zero at the end (</a:t>
            </a:r>
            <a:r>
              <a:rPr lang="en-GB" altLang="en-US" sz="1700" dirty="0">
                <a:solidFill>
                  <a:srgbClr val="FF6600"/>
                </a:solidFill>
                <a:effectLst/>
              </a:rPr>
              <a:t>tip</a:t>
            </a:r>
            <a:r>
              <a:rPr lang="en-GB" altLang="en-US" sz="1700" dirty="0">
                <a:effectLst/>
              </a:rPr>
              <a:t>) of the fault</a:t>
            </a:r>
          </a:p>
        </p:txBody>
      </p:sp>
      <p:grpSp>
        <p:nvGrpSpPr>
          <p:cNvPr id="33796" name="Group 22">
            <a:extLst>
              <a:ext uri="{FF2B5EF4-FFF2-40B4-BE49-F238E27FC236}">
                <a16:creationId xmlns:a16="http://schemas.microsoft.com/office/drawing/2014/main" id="{820F8CAE-9D3C-430E-9CDA-5866FEA5D2B6}"/>
              </a:ext>
            </a:extLst>
          </p:cNvPr>
          <p:cNvGrpSpPr>
            <a:grpSpLocks/>
          </p:cNvGrpSpPr>
          <p:nvPr/>
        </p:nvGrpSpPr>
        <p:grpSpPr bwMode="auto">
          <a:xfrm>
            <a:off x="303213" y="4618038"/>
            <a:ext cx="2644775" cy="2046287"/>
            <a:chOff x="3931" y="2889"/>
            <a:chExt cx="1736" cy="1343"/>
          </a:xfrm>
        </p:grpSpPr>
        <p:sp>
          <p:nvSpPr>
            <p:cNvPr id="295946" name="Rectangle 10">
              <a:extLst>
                <a:ext uri="{FF2B5EF4-FFF2-40B4-BE49-F238E27FC236}">
                  <a16:creationId xmlns:a16="http://schemas.microsoft.com/office/drawing/2014/main" id="{A6D6B3E0-DD77-4CFA-A3CD-8CC2F86F92FC}"/>
                </a:ext>
              </a:extLst>
            </p:cNvPr>
            <p:cNvSpPr>
              <a:spLocks noChangeArrowheads="1"/>
            </p:cNvSpPr>
            <p:nvPr/>
          </p:nvSpPr>
          <p:spPr bwMode="auto">
            <a:xfrm>
              <a:off x="3931" y="2889"/>
              <a:ext cx="1736" cy="134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33801" name="Picture 2" descr="GR16.jpg">
              <a:extLst>
                <a:ext uri="{FF2B5EF4-FFF2-40B4-BE49-F238E27FC236}">
                  <a16:creationId xmlns:a16="http://schemas.microsoft.com/office/drawing/2014/main" id="{081DB655-BB04-4A84-9A53-D1E163FCA8D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67" y="2939"/>
              <a:ext cx="1652" cy="1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5947" name="Rectangle 11">
              <a:extLst>
                <a:ext uri="{FF2B5EF4-FFF2-40B4-BE49-F238E27FC236}">
                  <a16:creationId xmlns:a16="http://schemas.microsoft.com/office/drawing/2014/main" id="{BDD3FBA0-55A5-4A80-95A0-244F3AF5853A}"/>
                </a:ext>
              </a:extLst>
            </p:cNvPr>
            <p:cNvSpPr>
              <a:spLocks noChangeArrowheads="1"/>
            </p:cNvSpPr>
            <p:nvPr/>
          </p:nvSpPr>
          <p:spPr bwMode="auto">
            <a:xfrm>
              <a:off x="4897" y="4164"/>
              <a:ext cx="228" cy="5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grpSp>
      <p:pic>
        <p:nvPicPr>
          <p:cNvPr id="33797" name="Picture 2" descr="GR41.jpg">
            <a:extLst>
              <a:ext uri="{FF2B5EF4-FFF2-40B4-BE49-F238E27FC236}">
                <a16:creationId xmlns:a16="http://schemas.microsoft.com/office/drawing/2014/main" id="{5DDAB3B5-CE62-4AF2-98BB-161CB3F7A4EC}"/>
              </a:ext>
            </a:extLst>
          </p:cNvPr>
          <p:cNvPicPr>
            <a:picLocks noChangeAspect="1"/>
          </p:cNvPicPr>
          <p:nvPr/>
        </p:nvPicPr>
        <p:blipFill>
          <a:blip r:embed="rId4">
            <a:lum bright="-10000"/>
            <a:extLst>
              <a:ext uri="{28A0092B-C50C-407E-A947-70E740481C1C}">
                <a14:useLocalDpi xmlns:a14="http://schemas.microsoft.com/office/drawing/2010/main" val="0"/>
              </a:ext>
            </a:extLst>
          </a:blip>
          <a:srcRect/>
          <a:stretch>
            <a:fillRect/>
          </a:stretch>
        </p:blipFill>
        <p:spPr bwMode="auto">
          <a:xfrm>
            <a:off x="3165475" y="1711325"/>
            <a:ext cx="5846763" cy="28082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3798" name="Picture 29" descr="11a">
            <a:extLst>
              <a:ext uri="{FF2B5EF4-FFF2-40B4-BE49-F238E27FC236}">
                <a16:creationId xmlns:a16="http://schemas.microsoft.com/office/drawing/2014/main" id="{5C77B6CA-DD67-4D2C-A8BD-358DC32B40E2}"/>
              </a:ext>
            </a:extLst>
          </p:cNvPr>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331788" y="1711325"/>
            <a:ext cx="2584450" cy="26606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5970" name="Text Box 34">
            <a:extLst>
              <a:ext uri="{FF2B5EF4-FFF2-40B4-BE49-F238E27FC236}">
                <a16:creationId xmlns:a16="http://schemas.microsoft.com/office/drawing/2014/main" id="{3F606BC3-0B89-4F1D-A758-07AA517477E1}"/>
              </a:ext>
            </a:extLst>
          </p:cNvPr>
          <p:cNvSpPr txBox="1">
            <a:spLocks noChangeArrowheads="1"/>
          </p:cNvSpPr>
          <p:nvPr/>
        </p:nvSpPr>
        <p:spPr bwMode="auto">
          <a:xfrm>
            <a:off x="3351213" y="4902200"/>
            <a:ext cx="5365750"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outerShdw blurRad="38100" dist="38100" dir="2700000" algn="tl">
                    <a:srgbClr val="000000"/>
                  </a:outerShdw>
                </a:effectLst>
                <a:latin typeface="Arial" panose="020B0604020202020204" pitchFamily="34" charset="0"/>
              </a:rPr>
              <a:t>Displacement variations along or across a fault may occasionally be mapped, but the best datasets come from high quality </a:t>
            </a:r>
            <a:r>
              <a:rPr lang="en-GB" altLang="en-US" sz="1700">
                <a:solidFill>
                  <a:srgbClr val="FF66CC"/>
                </a:solidFill>
                <a:effectLst>
                  <a:outerShdw blurRad="38100" dist="38100" dir="2700000" algn="tl">
                    <a:srgbClr val="000000"/>
                  </a:outerShdw>
                </a:effectLst>
                <a:latin typeface="Arial" panose="020B0604020202020204" pitchFamily="34" charset="0"/>
              </a:rPr>
              <a:t>3D seismic surveys</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F98C3CB-3573-43EC-AEC2-F94D054EF207}"/>
              </a:ext>
            </a:extLst>
          </p:cNvPr>
          <p:cNvSpPr>
            <a:spLocks noGrp="1" noChangeArrowheads="1"/>
          </p:cNvSpPr>
          <p:nvPr>
            <p:ph type="title"/>
          </p:nvPr>
        </p:nvSpPr>
        <p:spPr>
          <a:noFill/>
        </p:spPr>
        <p:txBody>
          <a:bodyPr/>
          <a:lstStyle/>
          <a:p>
            <a:r>
              <a:rPr lang="en-GB" altLang="en-US">
                <a:effectLst/>
              </a:rPr>
              <a:t>Displacement variation along a fault  2 </a:t>
            </a:r>
          </a:p>
        </p:txBody>
      </p:sp>
      <p:sp>
        <p:nvSpPr>
          <p:cNvPr id="34819" name="Rectangle 3">
            <a:extLst>
              <a:ext uri="{FF2B5EF4-FFF2-40B4-BE49-F238E27FC236}">
                <a16:creationId xmlns:a16="http://schemas.microsoft.com/office/drawing/2014/main" id="{5CE15E43-DBAD-4204-9B8C-B9A41F7F059A}"/>
              </a:ext>
            </a:extLst>
          </p:cNvPr>
          <p:cNvSpPr>
            <a:spLocks noGrp="1" noChangeArrowheads="1"/>
          </p:cNvSpPr>
          <p:nvPr>
            <p:ph type="body" sz="half" idx="1"/>
          </p:nvPr>
        </p:nvSpPr>
        <p:spPr>
          <a:xfrm>
            <a:off x="117475" y="769938"/>
            <a:ext cx="8855075" cy="862013"/>
          </a:xfrm>
          <a:noFill/>
        </p:spPr>
        <p:txBody>
          <a:bodyPr/>
          <a:lstStyle/>
          <a:p>
            <a:pPr marL="177800" indent="-177800">
              <a:spcBef>
                <a:spcPct val="50000"/>
              </a:spcBef>
            </a:pPr>
            <a:r>
              <a:rPr lang="en-GB" altLang="en-US" sz="1700" dirty="0">
                <a:effectLst/>
              </a:rPr>
              <a:t>Given adequate data, </a:t>
            </a:r>
            <a:r>
              <a:rPr lang="en-GB" altLang="en-US" sz="1700" dirty="0">
                <a:solidFill>
                  <a:srgbClr val="FF6600"/>
                </a:solidFill>
                <a:effectLst/>
              </a:rPr>
              <a:t>displacement profiles</a:t>
            </a:r>
            <a:r>
              <a:rPr lang="en-GB" altLang="en-US" sz="1700" dirty="0">
                <a:effectLst/>
              </a:rPr>
              <a:t> showing displacement vs. distance along a fault, may be constructed. These are classified as </a:t>
            </a:r>
            <a:r>
              <a:rPr lang="en-GB" altLang="en-US" sz="1700" dirty="0">
                <a:solidFill>
                  <a:srgbClr val="FF66CC"/>
                </a:solidFill>
                <a:effectLst/>
              </a:rPr>
              <a:t>peak, bell-shaped, and plateau types</a:t>
            </a:r>
          </a:p>
        </p:txBody>
      </p:sp>
      <p:grpSp>
        <p:nvGrpSpPr>
          <p:cNvPr id="34820" name="Group 20">
            <a:extLst>
              <a:ext uri="{FF2B5EF4-FFF2-40B4-BE49-F238E27FC236}">
                <a16:creationId xmlns:a16="http://schemas.microsoft.com/office/drawing/2014/main" id="{472DF32A-517A-400C-962C-3E9C19469C88}"/>
              </a:ext>
            </a:extLst>
          </p:cNvPr>
          <p:cNvGrpSpPr>
            <a:grpSpLocks/>
          </p:cNvGrpSpPr>
          <p:nvPr/>
        </p:nvGrpSpPr>
        <p:grpSpPr bwMode="auto">
          <a:xfrm>
            <a:off x="304800" y="3517445"/>
            <a:ext cx="5292725" cy="3032125"/>
            <a:chOff x="1250" y="2216"/>
            <a:chExt cx="3334" cy="1910"/>
          </a:xfrm>
        </p:grpSpPr>
        <p:sp>
          <p:nvSpPr>
            <p:cNvPr id="313356" name="Rectangle 12">
              <a:extLst>
                <a:ext uri="{FF2B5EF4-FFF2-40B4-BE49-F238E27FC236}">
                  <a16:creationId xmlns:a16="http://schemas.microsoft.com/office/drawing/2014/main" id="{D93BEAC7-62EA-4D8E-BA03-71B223B7E9D8}"/>
                </a:ext>
              </a:extLst>
            </p:cNvPr>
            <p:cNvSpPr>
              <a:spLocks noChangeArrowheads="1"/>
            </p:cNvSpPr>
            <p:nvPr/>
          </p:nvSpPr>
          <p:spPr bwMode="auto">
            <a:xfrm>
              <a:off x="1250" y="2216"/>
              <a:ext cx="3334" cy="191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34826" name="Picture 2" descr="GR36.jpg">
              <a:extLst>
                <a:ext uri="{FF2B5EF4-FFF2-40B4-BE49-F238E27FC236}">
                  <a16:creationId xmlns:a16="http://schemas.microsoft.com/office/drawing/2014/main" id="{11A55E7F-AC73-4E8B-B37B-71385492C518}"/>
                </a:ext>
              </a:extLst>
            </p:cNvPr>
            <p:cNvPicPr>
              <a:picLocks noChangeAspect="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1314" y="2252"/>
              <a:ext cx="3203" cy="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3360" name="Rectangle 16">
              <a:extLst>
                <a:ext uri="{FF2B5EF4-FFF2-40B4-BE49-F238E27FC236}">
                  <a16:creationId xmlns:a16="http://schemas.microsoft.com/office/drawing/2014/main" id="{EBF51FB4-06B1-4D50-9A59-EABCE680A7F2}"/>
                </a:ext>
              </a:extLst>
            </p:cNvPr>
            <p:cNvSpPr>
              <a:spLocks noChangeArrowheads="1"/>
            </p:cNvSpPr>
            <p:nvPr/>
          </p:nvSpPr>
          <p:spPr bwMode="auto">
            <a:xfrm>
              <a:off x="1681" y="2240"/>
              <a:ext cx="1205" cy="15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grpSp>
      <p:grpSp>
        <p:nvGrpSpPr>
          <p:cNvPr id="34821" name="Group 17">
            <a:extLst>
              <a:ext uri="{FF2B5EF4-FFF2-40B4-BE49-F238E27FC236}">
                <a16:creationId xmlns:a16="http://schemas.microsoft.com/office/drawing/2014/main" id="{B245155E-4B52-4A36-BC75-4CCB1D51E015}"/>
              </a:ext>
            </a:extLst>
          </p:cNvPr>
          <p:cNvGrpSpPr>
            <a:grpSpLocks/>
          </p:cNvGrpSpPr>
          <p:nvPr/>
        </p:nvGrpSpPr>
        <p:grpSpPr bwMode="auto">
          <a:xfrm>
            <a:off x="5865813" y="1694134"/>
            <a:ext cx="3046412" cy="2679700"/>
            <a:chOff x="4077" y="3099"/>
            <a:chExt cx="1277" cy="1124"/>
          </a:xfrm>
        </p:grpSpPr>
        <p:sp>
          <p:nvSpPr>
            <p:cNvPr id="313362" name="Rectangle 18">
              <a:extLst>
                <a:ext uri="{FF2B5EF4-FFF2-40B4-BE49-F238E27FC236}">
                  <a16:creationId xmlns:a16="http://schemas.microsoft.com/office/drawing/2014/main" id="{7B1C2916-DE9C-470C-AF04-A25E6A582952}"/>
                </a:ext>
              </a:extLst>
            </p:cNvPr>
            <p:cNvSpPr>
              <a:spLocks noChangeArrowheads="1"/>
            </p:cNvSpPr>
            <p:nvPr/>
          </p:nvSpPr>
          <p:spPr bwMode="auto">
            <a:xfrm>
              <a:off x="4077" y="3099"/>
              <a:ext cx="1277" cy="1124"/>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pic>
          <p:nvPicPr>
            <p:cNvPr id="34824" name="Picture 2" descr="GR14.jpg">
              <a:extLst>
                <a:ext uri="{FF2B5EF4-FFF2-40B4-BE49-F238E27FC236}">
                  <a16:creationId xmlns:a16="http://schemas.microsoft.com/office/drawing/2014/main" id="{71703FF4-1815-46D9-A6B5-FB8018780558}"/>
                </a:ext>
              </a:extLst>
            </p:cNvPr>
            <p:cNvPicPr>
              <a:picLocks noChangeAspect="1"/>
            </p:cNvPicPr>
            <p:nvPr/>
          </p:nvPicPr>
          <p:blipFill>
            <a:blip r:embed="rId4">
              <a:lum bright="-10000" contrast="20000"/>
              <a:extLst>
                <a:ext uri="{28A0092B-C50C-407E-A947-70E740481C1C}">
                  <a14:useLocalDpi xmlns:a14="http://schemas.microsoft.com/office/drawing/2010/main" val="0"/>
                </a:ext>
              </a:extLst>
            </a:blip>
            <a:srcRect/>
            <a:stretch>
              <a:fillRect/>
            </a:stretch>
          </p:blipFill>
          <p:spPr bwMode="auto">
            <a:xfrm>
              <a:off x="4102" y="3121"/>
              <a:ext cx="1221" cy="10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313366" name="Text Box 22">
            <a:extLst>
              <a:ext uri="{FF2B5EF4-FFF2-40B4-BE49-F238E27FC236}">
                <a16:creationId xmlns:a16="http://schemas.microsoft.com/office/drawing/2014/main" id="{B395CDEE-3CFE-425B-A4E3-12CF0C6E3339}"/>
              </a:ext>
            </a:extLst>
          </p:cNvPr>
          <p:cNvSpPr txBox="1">
            <a:spLocks noChangeArrowheads="1"/>
          </p:cNvSpPr>
          <p:nvPr/>
        </p:nvSpPr>
        <p:spPr bwMode="auto">
          <a:xfrm>
            <a:off x="107950" y="1600515"/>
            <a:ext cx="5451475"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folHlink"/>
              </a:buClr>
              <a:buSzPct val="100000"/>
              <a:buFont typeface="Times" panose="02020603050405020304" pitchFamily="18" charset="0"/>
              <a:buChar char="•"/>
            </a:pPr>
            <a:r>
              <a:rPr lang="en-GB" altLang="en-US" sz="1700" dirty="0">
                <a:effectLst/>
                <a:latin typeface="+mn-lt"/>
              </a:rPr>
              <a:t>Large faults slip along a limited portion of their surface and so the total displacement is the sum of displacements from many individual events. The shape of the </a:t>
            </a:r>
            <a:r>
              <a:rPr lang="en-GB" altLang="en-US" sz="1700" dirty="0">
                <a:solidFill>
                  <a:srgbClr val="FF66CC"/>
                </a:solidFill>
                <a:effectLst/>
                <a:latin typeface="+mn-lt"/>
              </a:rPr>
              <a:t>displacement profile</a:t>
            </a:r>
            <a:r>
              <a:rPr lang="en-GB" altLang="en-US" sz="1700" dirty="0">
                <a:effectLst/>
                <a:latin typeface="+mn-lt"/>
              </a:rPr>
              <a:t> therefore depends upon the size and location of the individual events</a:t>
            </a:r>
            <a:endParaRPr lang="en-GB" altLang="en-US" sz="1700" dirty="0">
              <a:effectLst>
                <a:outerShdw blurRad="38100" dist="38100" dir="2700000" algn="tl">
                  <a:srgbClr val="000000"/>
                </a:outerShdw>
              </a:effectLst>
              <a:latin typeface="+mn-lt"/>
            </a:endParaRPr>
          </a:p>
        </p:txBody>
      </p:sp>
      <p:sp>
        <p:nvSpPr>
          <p:cNvPr id="34829" name="Text Box 13">
            <a:extLst>
              <a:ext uri="{FF2B5EF4-FFF2-40B4-BE49-F238E27FC236}">
                <a16:creationId xmlns:a16="http://schemas.microsoft.com/office/drawing/2014/main" id="{EBF6055C-23A3-4823-BCEB-9087ACA75B00}"/>
              </a:ext>
            </a:extLst>
          </p:cNvPr>
          <p:cNvSpPr txBox="1">
            <a:spLocks noChangeArrowheads="1"/>
          </p:cNvSpPr>
          <p:nvPr/>
        </p:nvSpPr>
        <p:spPr bwMode="auto">
          <a:xfrm>
            <a:off x="5795381" y="4605836"/>
            <a:ext cx="3167063" cy="197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9388" indent="-179388">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Hence fault displacement profiles can provide information about the </a:t>
            </a:r>
            <a:r>
              <a:rPr lang="en-GB" altLang="en-US" sz="1700" dirty="0">
                <a:solidFill>
                  <a:srgbClr val="FF66CC"/>
                </a:solidFill>
                <a:effectLst>
                  <a:outerShdw blurRad="38100" dist="38100" dir="2700000" algn="tl">
                    <a:srgbClr val="000000"/>
                  </a:outerShdw>
                </a:effectLst>
                <a:latin typeface="Arial" panose="020B0604020202020204" pitchFamily="34" charset="0"/>
              </a:rPr>
              <a:t>growth history of the fault</a:t>
            </a:r>
            <a:r>
              <a:rPr lang="en-GB" altLang="en-US" sz="1700" dirty="0">
                <a:effectLst>
                  <a:outerShdw blurRad="38100" dist="38100" dir="2700000" algn="tl">
                    <a:srgbClr val="000000"/>
                  </a:outerShdw>
                </a:effectLst>
                <a:latin typeface="Arial" panose="020B0604020202020204" pitchFamily="34" charset="0"/>
              </a:rPr>
              <a:t> and the nature of </a:t>
            </a:r>
            <a:r>
              <a:rPr lang="en-GB" altLang="en-US" sz="1700" dirty="0">
                <a:solidFill>
                  <a:srgbClr val="FF66CC"/>
                </a:solidFill>
                <a:effectLst>
                  <a:outerShdw blurRad="38100" dist="38100" dir="2700000" algn="tl">
                    <a:srgbClr val="000000"/>
                  </a:outerShdw>
                </a:effectLst>
                <a:latin typeface="Arial" panose="020B0604020202020204" pitchFamily="34" charset="0"/>
              </a:rPr>
              <a:t>interactions with other faults</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94" name="Rectangle 14">
            <a:extLst>
              <a:ext uri="{FF2B5EF4-FFF2-40B4-BE49-F238E27FC236}">
                <a16:creationId xmlns:a16="http://schemas.microsoft.com/office/drawing/2014/main" id="{2074B446-ECC8-4A50-AE79-6AA815F77A08}"/>
              </a:ext>
            </a:extLst>
          </p:cNvPr>
          <p:cNvSpPr>
            <a:spLocks noChangeArrowheads="1"/>
          </p:cNvSpPr>
          <p:nvPr/>
        </p:nvSpPr>
        <p:spPr bwMode="auto">
          <a:xfrm>
            <a:off x="1219200" y="1681163"/>
            <a:ext cx="6862763" cy="4906962"/>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35843" name="Rectangle 2">
            <a:extLst>
              <a:ext uri="{FF2B5EF4-FFF2-40B4-BE49-F238E27FC236}">
                <a16:creationId xmlns:a16="http://schemas.microsoft.com/office/drawing/2014/main" id="{086432AA-BF88-4C69-B0CC-BF5D893ADFE9}"/>
              </a:ext>
            </a:extLst>
          </p:cNvPr>
          <p:cNvSpPr>
            <a:spLocks noGrp="1" noChangeArrowheads="1"/>
          </p:cNvSpPr>
          <p:nvPr>
            <p:ph type="title"/>
          </p:nvPr>
        </p:nvSpPr>
        <p:spPr>
          <a:noFill/>
        </p:spPr>
        <p:txBody>
          <a:bodyPr/>
          <a:lstStyle/>
          <a:p>
            <a:r>
              <a:rPr lang="en-GB" altLang="en-US">
                <a:effectLst/>
              </a:rPr>
              <a:t>Fault length – displacement relationships </a:t>
            </a:r>
          </a:p>
        </p:txBody>
      </p:sp>
      <p:sp>
        <p:nvSpPr>
          <p:cNvPr id="35844" name="Rectangle 3">
            <a:extLst>
              <a:ext uri="{FF2B5EF4-FFF2-40B4-BE49-F238E27FC236}">
                <a16:creationId xmlns:a16="http://schemas.microsoft.com/office/drawing/2014/main" id="{07297B68-A5B0-459B-80DC-E637614E994A}"/>
              </a:ext>
            </a:extLst>
          </p:cNvPr>
          <p:cNvSpPr>
            <a:spLocks noGrp="1" noChangeArrowheads="1"/>
          </p:cNvSpPr>
          <p:nvPr>
            <p:ph type="body" sz="half" idx="1"/>
          </p:nvPr>
        </p:nvSpPr>
        <p:spPr>
          <a:xfrm>
            <a:off x="133350" y="790575"/>
            <a:ext cx="8883650" cy="814388"/>
          </a:xfrm>
          <a:noFill/>
        </p:spPr>
        <p:txBody>
          <a:bodyPr/>
          <a:lstStyle/>
          <a:p>
            <a:pPr marL="177800" indent="-177800"/>
            <a:r>
              <a:rPr lang="en-GB" altLang="en-US" sz="1700">
                <a:effectLst/>
              </a:rPr>
              <a:t>The </a:t>
            </a:r>
            <a:r>
              <a:rPr lang="en-GB" altLang="en-US" sz="1700">
                <a:solidFill>
                  <a:srgbClr val="FF6600"/>
                </a:solidFill>
                <a:effectLst/>
              </a:rPr>
              <a:t>maximum displacement</a:t>
            </a:r>
            <a:r>
              <a:rPr lang="en-GB" altLang="en-US" sz="1700">
                <a:effectLst/>
              </a:rPr>
              <a:t> (</a:t>
            </a:r>
            <a:r>
              <a:rPr lang="en-GB" altLang="en-US" sz="1700" i="1">
                <a:solidFill>
                  <a:srgbClr val="FFFF00"/>
                </a:solidFill>
                <a:effectLst/>
              </a:rPr>
              <a:t>D</a:t>
            </a:r>
            <a:r>
              <a:rPr lang="en-GB" altLang="en-US" sz="1700" i="1" baseline="-25000">
                <a:solidFill>
                  <a:srgbClr val="FFFF00"/>
                </a:solidFill>
                <a:effectLst/>
              </a:rPr>
              <a:t>max</a:t>
            </a:r>
            <a:r>
              <a:rPr lang="en-GB" altLang="en-US" sz="1700">
                <a:effectLst/>
              </a:rPr>
              <a:t>) on a fault is commonly observed to have a </a:t>
            </a:r>
            <a:r>
              <a:rPr lang="en-GB" altLang="en-US" sz="1700">
                <a:solidFill>
                  <a:srgbClr val="FF66CC"/>
                </a:solidFill>
                <a:effectLst/>
              </a:rPr>
              <a:t>power law relationship</a:t>
            </a:r>
            <a:r>
              <a:rPr lang="en-GB" altLang="en-US" sz="1700">
                <a:effectLst/>
              </a:rPr>
              <a:t> with </a:t>
            </a:r>
            <a:r>
              <a:rPr lang="en-GB" altLang="en-US" sz="1700">
                <a:solidFill>
                  <a:srgbClr val="FF6600"/>
                </a:solidFill>
                <a:effectLst/>
              </a:rPr>
              <a:t>fault length</a:t>
            </a:r>
            <a:r>
              <a:rPr lang="en-GB" altLang="en-US" sz="1700">
                <a:effectLst/>
              </a:rPr>
              <a:t> (</a:t>
            </a:r>
            <a:r>
              <a:rPr lang="en-GB" altLang="en-US" sz="1700" i="1">
                <a:solidFill>
                  <a:srgbClr val="FFFF00"/>
                </a:solidFill>
                <a:effectLst/>
              </a:rPr>
              <a:t>L</a:t>
            </a:r>
            <a:r>
              <a:rPr lang="en-GB" altLang="en-US" sz="1700">
                <a:effectLst/>
              </a:rPr>
              <a:t>)</a:t>
            </a:r>
          </a:p>
        </p:txBody>
      </p:sp>
      <p:pic>
        <p:nvPicPr>
          <p:cNvPr id="35845" name="Picture 3" descr="4.11 length-displacement compilation Scholtz 2009color.png">
            <a:extLst>
              <a:ext uri="{FF2B5EF4-FFF2-40B4-BE49-F238E27FC236}">
                <a16:creationId xmlns:a16="http://schemas.microsoft.com/office/drawing/2014/main" id="{65945023-648B-46FD-9034-F7F24D9F335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317625" y="1803400"/>
            <a:ext cx="6670675" cy="4699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4E5E805-7408-473C-8279-8B16DD1E77AD}"/>
              </a:ext>
            </a:extLst>
          </p:cNvPr>
          <p:cNvSpPr>
            <a:spLocks noGrp="1" noChangeArrowheads="1"/>
          </p:cNvSpPr>
          <p:nvPr>
            <p:ph type="title"/>
          </p:nvPr>
        </p:nvSpPr>
        <p:spPr>
          <a:noFill/>
        </p:spPr>
        <p:txBody>
          <a:bodyPr/>
          <a:lstStyle/>
          <a:p>
            <a:r>
              <a:rPr lang="en-GB" altLang="en-US">
                <a:effectLst/>
              </a:rPr>
              <a:t>Fault linking – relay ramps</a:t>
            </a:r>
          </a:p>
        </p:txBody>
      </p:sp>
      <p:sp>
        <p:nvSpPr>
          <p:cNvPr id="36867" name="Rectangle 3">
            <a:extLst>
              <a:ext uri="{FF2B5EF4-FFF2-40B4-BE49-F238E27FC236}">
                <a16:creationId xmlns:a16="http://schemas.microsoft.com/office/drawing/2014/main" id="{BED27F8D-7F5F-4C62-BEC5-3C7262E9B373}"/>
              </a:ext>
            </a:extLst>
          </p:cNvPr>
          <p:cNvSpPr>
            <a:spLocks noGrp="1" noChangeArrowheads="1"/>
          </p:cNvSpPr>
          <p:nvPr>
            <p:ph type="body" sz="half" idx="1"/>
          </p:nvPr>
        </p:nvSpPr>
        <p:spPr>
          <a:xfrm>
            <a:off x="4621213" y="854075"/>
            <a:ext cx="4291012" cy="1679575"/>
          </a:xfrm>
          <a:noFill/>
        </p:spPr>
        <p:txBody>
          <a:bodyPr/>
          <a:lstStyle/>
          <a:p>
            <a:pPr marL="177800" indent="-177800"/>
            <a:r>
              <a:rPr lang="en-GB" altLang="en-US" sz="1700" dirty="0">
                <a:effectLst/>
              </a:rPr>
              <a:t>As faults grow, they become more likely to interact with nearby faults. </a:t>
            </a:r>
            <a:r>
              <a:rPr lang="en-GB" altLang="en-US" sz="1700" dirty="0">
                <a:solidFill>
                  <a:srgbClr val="FF66CC"/>
                </a:solidFill>
                <a:effectLst/>
              </a:rPr>
              <a:t>Two faults may join to form a single much longer fault</a:t>
            </a:r>
            <a:r>
              <a:rPr lang="en-GB" altLang="en-US" sz="1700" dirty="0">
                <a:effectLst/>
              </a:rPr>
              <a:t>. Growth in this manner gives rise to a number of important structures</a:t>
            </a:r>
          </a:p>
        </p:txBody>
      </p:sp>
      <p:pic>
        <p:nvPicPr>
          <p:cNvPr id="36868" name="Picture 2" descr="GR39.jpg">
            <a:extLst>
              <a:ext uri="{FF2B5EF4-FFF2-40B4-BE49-F238E27FC236}">
                <a16:creationId xmlns:a16="http://schemas.microsoft.com/office/drawing/2014/main" id="{B4587365-3EA2-4174-B7C6-84B2CA5FD575}"/>
              </a:ext>
            </a:extLst>
          </p:cNvPr>
          <p:cNvPicPr>
            <a:picLocks noGrp="1" noChangeAspect="1"/>
          </p:cNvPicPr>
          <p:nvPr>
            <p:ph sz="quarter" idx="2"/>
          </p:nvPr>
        </p:nvPicPr>
        <p:blipFill>
          <a:blip r:embed="rId3">
            <a:lum bright="-10000"/>
            <a:extLst>
              <a:ext uri="{28A0092B-C50C-407E-A947-70E740481C1C}">
                <a14:useLocalDpi xmlns:a14="http://schemas.microsoft.com/office/drawing/2010/main" val="0"/>
              </a:ext>
            </a:extLst>
          </a:blip>
          <a:srcRect t="2983" b="81245"/>
          <a:stretch>
            <a:fillRect/>
          </a:stretch>
        </p:blipFill>
        <p:spPr>
          <a:xfrm>
            <a:off x="233363" y="901700"/>
            <a:ext cx="4246562" cy="17335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869" name="Picture 2" descr="GR39.jpg">
            <a:extLst>
              <a:ext uri="{FF2B5EF4-FFF2-40B4-BE49-F238E27FC236}">
                <a16:creationId xmlns:a16="http://schemas.microsoft.com/office/drawing/2014/main" id="{E7B0A658-729C-4423-824A-CD27B8C9AAC4}"/>
              </a:ext>
            </a:extLst>
          </p:cNvPr>
          <p:cNvPicPr>
            <a:picLocks noGrp="1" noChangeAspect="1"/>
          </p:cNvPicPr>
          <p:nvPr>
            <p:ph sz="quarter" idx="3"/>
          </p:nvPr>
        </p:nvPicPr>
        <p:blipFill>
          <a:blip r:embed="rId3">
            <a:lum bright="-10000"/>
            <a:extLst>
              <a:ext uri="{28A0092B-C50C-407E-A947-70E740481C1C}">
                <a14:useLocalDpi xmlns:a14="http://schemas.microsoft.com/office/drawing/2010/main" val="0"/>
              </a:ext>
            </a:extLst>
          </a:blip>
          <a:srcRect t="63438" b="20183"/>
          <a:stretch>
            <a:fillRect/>
          </a:stretch>
        </p:blipFill>
        <p:spPr>
          <a:xfrm>
            <a:off x="4643438" y="2855913"/>
            <a:ext cx="4254500" cy="18034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870" name="Picture 2" descr="GR39.jpg">
            <a:extLst>
              <a:ext uri="{FF2B5EF4-FFF2-40B4-BE49-F238E27FC236}">
                <a16:creationId xmlns:a16="http://schemas.microsoft.com/office/drawing/2014/main" id="{0C0B666A-7DE0-449C-80F7-BA3D943269FD}"/>
              </a:ext>
            </a:extLst>
          </p:cNvPr>
          <p:cNvPicPr>
            <a:picLocks noChangeAspect="1"/>
          </p:cNvPicPr>
          <p:nvPr/>
        </p:nvPicPr>
        <p:blipFill>
          <a:blip r:embed="rId3">
            <a:lum bright="-10000"/>
            <a:extLst>
              <a:ext uri="{28A0092B-C50C-407E-A947-70E740481C1C}">
                <a14:useLocalDpi xmlns:a14="http://schemas.microsoft.com/office/drawing/2010/main" val="0"/>
              </a:ext>
            </a:extLst>
          </a:blip>
          <a:srcRect t="83032" b="867"/>
          <a:stretch>
            <a:fillRect/>
          </a:stretch>
        </p:blipFill>
        <p:spPr bwMode="auto">
          <a:xfrm>
            <a:off x="4646613" y="4899025"/>
            <a:ext cx="4251325" cy="177165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871" name="Picture 2" descr="GR39.jpg">
            <a:extLst>
              <a:ext uri="{FF2B5EF4-FFF2-40B4-BE49-F238E27FC236}">
                <a16:creationId xmlns:a16="http://schemas.microsoft.com/office/drawing/2014/main" id="{C3C5D0E6-2364-4A7E-A488-EF8F494E47A3}"/>
              </a:ext>
            </a:extLst>
          </p:cNvPr>
          <p:cNvPicPr>
            <a:picLocks noChangeAspect="1"/>
          </p:cNvPicPr>
          <p:nvPr/>
        </p:nvPicPr>
        <p:blipFill>
          <a:blip r:embed="rId3">
            <a:lum bright="-10000"/>
            <a:extLst>
              <a:ext uri="{28A0092B-C50C-407E-A947-70E740481C1C}">
                <a14:useLocalDpi xmlns:a14="http://schemas.microsoft.com/office/drawing/2010/main" val="0"/>
              </a:ext>
            </a:extLst>
          </a:blip>
          <a:srcRect t="22862" b="60771"/>
          <a:stretch>
            <a:fillRect/>
          </a:stretch>
        </p:blipFill>
        <p:spPr bwMode="auto">
          <a:xfrm>
            <a:off x="233363" y="2859088"/>
            <a:ext cx="4246562" cy="1800225"/>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872" name="Picture 2" descr="GR39.jpg">
            <a:extLst>
              <a:ext uri="{FF2B5EF4-FFF2-40B4-BE49-F238E27FC236}">
                <a16:creationId xmlns:a16="http://schemas.microsoft.com/office/drawing/2014/main" id="{05A0B352-C775-485F-AEFD-15F24AEBB68E}"/>
              </a:ext>
            </a:extLst>
          </p:cNvPr>
          <p:cNvPicPr>
            <a:picLocks noChangeAspect="1"/>
          </p:cNvPicPr>
          <p:nvPr/>
        </p:nvPicPr>
        <p:blipFill>
          <a:blip r:embed="rId3">
            <a:lum bright="-10000"/>
            <a:extLst>
              <a:ext uri="{28A0092B-C50C-407E-A947-70E740481C1C}">
                <a14:useLocalDpi xmlns:a14="http://schemas.microsoft.com/office/drawing/2010/main" val="0"/>
              </a:ext>
            </a:extLst>
          </a:blip>
          <a:srcRect t="42792" b="40947"/>
          <a:stretch>
            <a:fillRect/>
          </a:stretch>
        </p:blipFill>
        <p:spPr bwMode="auto">
          <a:xfrm>
            <a:off x="233363" y="4887913"/>
            <a:ext cx="4246562" cy="1789112"/>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6873" name="Text Box 19">
            <a:extLst>
              <a:ext uri="{FF2B5EF4-FFF2-40B4-BE49-F238E27FC236}">
                <a16:creationId xmlns:a16="http://schemas.microsoft.com/office/drawing/2014/main" id="{BC6F60CF-E229-458A-AE6D-C9AC4C2A5D4A}"/>
              </a:ext>
            </a:extLst>
          </p:cNvPr>
          <p:cNvSpPr txBox="1">
            <a:spLocks noChangeArrowheads="1"/>
          </p:cNvSpPr>
          <p:nvPr/>
        </p:nvSpPr>
        <p:spPr bwMode="auto">
          <a:xfrm>
            <a:off x="277813" y="906463"/>
            <a:ext cx="481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800" b="1">
                <a:solidFill>
                  <a:srgbClr val="0000FF"/>
                </a:solidFill>
                <a:effectLst/>
                <a:latin typeface="Arial" panose="020B0604020202020204" pitchFamily="34" charset="0"/>
              </a:rPr>
              <a:t>A</a:t>
            </a:r>
          </a:p>
        </p:txBody>
      </p:sp>
      <p:sp>
        <p:nvSpPr>
          <p:cNvPr id="36874" name="Text Box 20">
            <a:extLst>
              <a:ext uri="{FF2B5EF4-FFF2-40B4-BE49-F238E27FC236}">
                <a16:creationId xmlns:a16="http://schemas.microsoft.com/office/drawing/2014/main" id="{34E10DF5-54A9-4F17-B0DE-6089AFA52BF0}"/>
              </a:ext>
            </a:extLst>
          </p:cNvPr>
          <p:cNvSpPr txBox="1">
            <a:spLocks noChangeArrowheads="1"/>
          </p:cNvSpPr>
          <p:nvPr/>
        </p:nvSpPr>
        <p:spPr bwMode="auto">
          <a:xfrm>
            <a:off x="246063" y="2886075"/>
            <a:ext cx="48101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800" b="1">
                <a:solidFill>
                  <a:srgbClr val="0000FF"/>
                </a:solidFill>
                <a:effectLst/>
                <a:latin typeface="Arial" panose="020B0604020202020204" pitchFamily="34" charset="0"/>
              </a:rPr>
              <a:t>B</a:t>
            </a:r>
          </a:p>
        </p:txBody>
      </p:sp>
      <p:sp>
        <p:nvSpPr>
          <p:cNvPr id="36875" name="Text Box 21">
            <a:extLst>
              <a:ext uri="{FF2B5EF4-FFF2-40B4-BE49-F238E27FC236}">
                <a16:creationId xmlns:a16="http://schemas.microsoft.com/office/drawing/2014/main" id="{5EA80D09-6402-4E5E-8340-48F16AF43223}"/>
              </a:ext>
            </a:extLst>
          </p:cNvPr>
          <p:cNvSpPr txBox="1">
            <a:spLocks noChangeArrowheads="1"/>
          </p:cNvSpPr>
          <p:nvPr/>
        </p:nvSpPr>
        <p:spPr bwMode="auto">
          <a:xfrm>
            <a:off x="234950" y="4889500"/>
            <a:ext cx="4810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800" b="1">
                <a:solidFill>
                  <a:srgbClr val="0000FF"/>
                </a:solidFill>
                <a:effectLst/>
                <a:latin typeface="Arial" panose="020B0604020202020204" pitchFamily="34" charset="0"/>
              </a:rPr>
              <a:t>C</a:t>
            </a:r>
          </a:p>
        </p:txBody>
      </p:sp>
      <p:sp>
        <p:nvSpPr>
          <p:cNvPr id="36876" name="Text Box 22">
            <a:extLst>
              <a:ext uri="{FF2B5EF4-FFF2-40B4-BE49-F238E27FC236}">
                <a16:creationId xmlns:a16="http://schemas.microsoft.com/office/drawing/2014/main" id="{1F359C1E-5AA8-47A0-ADD5-F4A0E64FC545}"/>
              </a:ext>
            </a:extLst>
          </p:cNvPr>
          <p:cNvSpPr txBox="1">
            <a:spLocks noChangeArrowheads="1"/>
          </p:cNvSpPr>
          <p:nvPr/>
        </p:nvSpPr>
        <p:spPr bwMode="auto">
          <a:xfrm>
            <a:off x="4649788" y="2859088"/>
            <a:ext cx="481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800" b="1">
                <a:solidFill>
                  <a:srgbClr val="0000FF"/>
                </a:solidFill>
                <a:effectLst/>
                <a:latin typeface="Arial" panose="020B0604020202020204" pitchFamily="34" charset="0"/>
              </a:rPr>
              <a:t>D</a:t>
            </a:r>
          </a:p>
        </p:txBody>
      </p:sp>
      <p:sp>
        <p:nvSpPr>
          <p:cNvPr id="36877" name="Text Box 23">
            <a:extLst>
              <a:ext uri="{FF2B5EF4-FFF2-40B4-BE49-F238E27FC236}">
                <a16:creationId xmlns:a16="http://schemas.microsoft.com/office/drawing/2014/main" id="{9664A8DF-9687-487E-ABAC-767C9CEC31B3}"/>
              </a:ext>
            </a:extLst>
          </p:cNvPr>
          <p:cNvSpPr txBox="1">
            <a:spLocks noChangeArrowheads="1"/>
          </p:cNvSpPr>
          <p:nvPr/>
        </p:nvSpPr>
        <p:spPr bwMode="auto">
          <a:xfrm>
            <a:off x="4649788" y="4891088"/>
            <a:ext cx="4810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800" b="1">
                <a:solidFill>
                  <a:srgbClr val="0000FF"/>
                </a:solidFill>
                <a:effectLst/>
                <a:latin typeface="Arial" panose="020B0604020202020204" pitchFamily="34" charset="0"/>
              </a:rPr>
              <a:t>E</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7" name="Picture 9" descr="10d1-13Apr2012">
            <a:extLst>
              <a:ext uri="{FF2B5EF4-FFF2-40B4-BE49-F238E27FC236}">
                <a16:creationId xmlns:a16="http://schemas.microsoft.com/office/drawing/2014/main" id="{A2B15D04-B38D-4929-B266-724F9E62FDBE}"/>
              </a:ext>
            </a:extLst>
          </p:cNvPr>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214313" y="1073150"/>
            <a:ext cx="4910137" cy="41846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7890" name="Rectangle 2">
            <a:extLst>
              <a:ext uri="{FF2B5EF4-FFF2-40B4-BE49-F238E27FC236}">
                <a16:creationId xmlns:a16="http://schemas.microsoft.com/office/drawing/2014/main" id="{263020B2-85A7-4059-9B44-672413E3D4EC}"/>
              </a:ext>
            </a:extLst>
          </p:cNvPr>
          <p:cNvSpPr>
            <a:spLocks noGrp="1" noChangeArrowheads="1"/>
          </p:cNvSpPr>
          <p:nvPr>
            <p:ph type="title" sz="quarter"/>
          </p:nvPr>
        </p:nvSpPr>
        <p:spPr>
          <a:noFill/>
        </p:spPr>
        <p:txBody>
          <a:bodyPr/>
          <a:lstStyle/>
          <a:p>
            <a:r>
              <a:rPr lang="en-GB" altLang="en-US">
                <a:effectLst/>
              </a:rPr>
              <a:t>Fault linking – relay ramps  2</a:t>
            </a:r>
          </a:p>
        </p:txBody>
      </p:sp>
      <p:sp>
        <p:nvSpPr>
          <p:cNvPr id="338969" name="Text Box 25">
            <a:extLst>
              <a:ext uri="{FF2B5EF4-FFF2-40B4-BE49-F238E27FC236}">
                <a16:creationId xmlns:a16="http://schemas.microsoft.com/office/drawing/2014/main" id="{313D4402-EE99-4D9A-A7AA-2234BFB56F48}"/>
              </a:ext>
            </a:extLst>
          </p:cNvPr>
          <p:cNvSpPr txBox="1">
            <a:spLocks noChangeArrowheads="1"/>
          </p:cNvSpPr>
          <p:nvPr/>
        </p:nvSpPr>
        <p:spPr bwMode="auto">
          <a:xfrm>
            <a:off x="327025" y="5394325"/>
            <a:ext cx="462121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75000"/>
              </a:spcBef>
              <a:defRPr/>
            </a:pPr>
            <a:r>
              <a:rPr lang="en-GB" sz="1400">
                <a:solidFill>
                  <a:srgbClr val="FFFF00"/>
                </a:solidFill>
                <a:effectLst>
                  <a:outerShdw blurRad="38100" dist="38100" dir="2700000" algn="tl">
                    <a:srgbClr val="000000"/>
                  </a:outerShdw>
                </a:effectLst>
                <a:latin typeface="Arial" charset="0"/>
              </a:rPr>
              <a:t>Relay ramps intact (above) and during breaching (right)</a:t>
            </a:r>
          </a:p>
        </p:txBody>
      </p:sp>
      <p:pic>
        <p:nvPicPr>
          <p:cNvPr id="37898" name="Picture 10" descr="10e1-2012">
            <a:extLst>
              <a:ext uri="{FF2B5EF4-FFF2-40B4-BE49-F238E27FC236}">
                <a16:creationId xmlns:a16="http://schemas.microsoft.com/office/drawing/2014/main" id="{D97557DF-8BC5-420C-806B-3A923BB46A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8450" y="1073150"/>
            <a:ext cx="3590925" cy="16859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7899" name="Picture 11" descr="10e2-2012">
            <a:extLst>
              <a:ext uri="{FF2B5EF4-FFF2-40B4-BE49-F238E27FC236}">
                <a16:creationId xmlns:a16="http://schemas.microsoft.com/office/drawing/2014/main" id="{02EF743B-6568-46B5-9F69-C1D25519AE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2100" y="3065463"/>
            <a:ext cx="3602038" cy="14033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7900" name="Picture 12" descr="10e3-2012">
            <a:extLst>
              <a:ext uri="{FF2B5EF4-FFF2-40B4-BE49-F238E27FC236}">
                <a16:creationId xmlns:a16="http://schemas.microsoft.com/office/drawing/2014/main" id="{D7206C3F-9D7F-406A-BBC1-3C1C1E6B08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5750" y="4764088"/>
            <a:ext cx="3606800" cy="15081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1C153CE4-CB6E-4A77-A641-20C20501F314}"/>
              </a:ext>
            </a:extLst>
          </p:cNvPr>
          <p:cNvSpPr>
            <a:spLocks noGrp="1" noChangeArrowheads="1"/>
          </p:cNvSpPr>
          <p:nvPr>
            <p:ph type="title" sz="quarter" idx="4294967295"/>
          </p:nvPr>
        </p:nvSpPr>
        <p:spPr>
          <a:noFill/>
        </p:spPr>
        <p:txBody>
          <a:bodyPr/>
          <a:lstStyle/>
          <a:p>
            <a:r>
              <a:rPr lang="en-GB" altLang="en-US">
                <a:effectLst/>
              </a:rPr>
              <a:t>Fault linking – relay ramps  3</a:t>
            </a:r>
          </a:p>
        </p:txBody>
      </p:sp>
      <p:sp>
        <p:nvSpPr>
          <p:cNvPr id="338969" name="Text Box 25">
            <a:extLst>
              <a:ext uri="{FF2B5EF4-FFF2-40B4-BE49-F238E27FC236}">
                <a16:creationId xmlns:a16="http://schemas.microsoft.com/office/drawing/2014/main" id="{822E8E60-5AC7-4A3B-AA83-98C64267F60D}"/>
              </a:ext>
            </a:extLst>
          </p:cNvPr>
          <p:cNvSpPr txBox="1">
            <a:spLocks noChangeArrowheads="1"/>
          </p:cNvSpPr>
          <p:nvPr/>
        </p:nvSpPr>
        <p:spPr bwMode="auto">
          <a:xfrm>
            <a:off x="276225" y="5373688"/>
            <a:ext cx="3348038" cy="98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75000"/>
              </a:spcBef>
            </a:pPr>
            <a:r>
              <a:rPr lang="en-GB" altLang="en-US" sz="1400">
                <a:solidFill>
                  <a:srgbClr val="FFFF00"/>
                </a:solidFill>
                <a:effectLst>
                  <a:outerShdw blurRad="38100" dist="38100" dir="2700000" algn="tl">
                    <a:srgbClr val="000000"/>
                  </a:outerShdw>
                </a:effectLst>
                <a:latin typeface="Arial" panose="020B0604020202020204" pitchFamily="34" charset="0"/>
              </a:rPr>
              <a:t>(Above) relay ramps on the Moon along Rupes Recta</a:t>
            </a:r>
          </a:p>
          <a:p>
            <a:pPr>
              <a:lnSpc>
                <a:spcPct val="115000"/>
              </a:lnSpc>
              <a:spcBef>
                <a:spcPct val="75000"/>
              </a:spcBef>
            </a:pPr>
            <a:r>
              <a:rPr lang="en-GB" altLang="en-US" sz="1400">
                <a:solidFill>
                  <a:srgbClr val="FFFF00"/>
                </a:solidFill>
                <a:effectLst>
                  <a:outerShdw blurRad="38100" dist="38100" dir="2700000" algn="tl">
                    <a:srgbClr val="000000"/>
                  </a:outerShdw>
                </a:effectLst>
                <a:latin typeface="Arial" panose="020B0604020202020204" pitchFamily="34" charset="0"/>
              </a:rPr>
              <a:t>(Right) The fault displacement profile</a:t>
            </a:r>
          </a:p>
        </p:txBody>
      </p:sp>
      <p:pic>
        <p:nvPicPr>
          <p:cNvPr id="93192" name="Picture 8" descr="RupesRecta2">
            <a:extLst>
              <a:ext uri="{FF2B5EF4-FFF2-40B4-BE49-F238E27FC236}">
                <a16:creationId xmlns:a16="http://schemas.microsoft.com/office/drawing/2014/main" id="{5AAB4413-85CA-4273-BA79-0BA92F2BD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3" y="852488"/>
            <a:ext cx="3427412" cy="44021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93193" name="Picture 9" descr="10f2">
            <a:extLst>
              <a:ext uri="{FF2B5EF4-FFF2-40B4-BE49-F238E27FC236}">
                <a16:creationId xmlns:a16="http://schemas.microsoft.com/office/drawing/2014/main" id="{E82D69D2-DEBE-4AB7-B409-594B1FF361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5250" y="852488"/>
            <a:ext cx="5086350" cy="56388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309" name="Rectangle 13">
            <a:extLst>
              <a:ext uri="{FF2B5EF4-FFF2-40B4-BE49-F238E27FC236}">
                <a16:creationId xmlns:a16="http://schemas.microsoft.com/office/drawing/2014/main" id="{D6DDF90F-A57C-4E23-B7CA-3B8D03108ACA}"/>
              </a:ext>
            </a:extLst>
          </p:cNvPr>
          <p:cNvSpPr>
            <a:spLocks noChangeArrowheads="1"/>
          </p:cNvSpPr>
          <p:nvPr/>
        </p:nvSpPr>
        <p:spPr bwMode="auto">
          <a:xfrm>
            <a:off x="193675" y="812800"/>
            <a:ext cx="2798763" cy="592931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38915" name="Rectangle 2">
            <a:extLst>
              <a:ext uri="{FF2B5EF4-FFF2-40B4-BE49-F238E27FC236}">
                <a16:creationId xmlns:a16="http://schemas.microsoft.com/office/drawing/2014/main" id="{0B095B9E-1C73-4F4B-B2D2-D95572AC3A69}"/>
              </a:ext>
            </a:extLst>
          </p:cNvPr>
          <p:cNvSpPr>
            <a:spLocks noGrp="1" noChangeArrowheads="1"/>
          </p:cNvSpPr>
          <p:nvPr>
            <p:ph type="title"/>
          </p:nvPr>
        </p:nvSpPr>
        <p:spPr>
          <a:noFill/>
        </p:spPr>
        <p:txBody>
          <a:bodyPr/>
          <a:lstStyle/>
          <a:p>
            <a:r>
              <a:rPr lang="en-GB" altLang="en-US">
                <a:effectLst/>
              </a:rPr>
              <a:t>Transfer zones</a:t>
            </a:r>
          </a:p>
        </p:txBody>
      </p:sp>
      <p:pic>
        <p:nvPicPr>
          <p:cNvPr id="38916" name="Picture 4" descr="12a-Fault overlap, Mosaic Canyon, Death Valley">
            <a:extLst>
              <a:ext uri="{FF2B5EF4-FFF2-40B4-BE49-F238E27FC236}">
                <a16:creationId xmlns:a16="http://schemas.microsoft.com/office/drawing/2014/main" id="{9A5A7722-20F8-4F2E-A293-169DC656D5A6}"/>
              </a:ext>
            </a:extLst>
          </p:cNvPr>
          <p:cNvPicPr>
            <a:picLocks noGrp="1" noChangeAspect="1" noChangeArrowheads="1"/>
          </p:cNvPicPr>
          <p:nvPr>
            <p:ph sz="quarter" idx="2"/>
          </p:nvPr>
        </p:nvPicPr>
        <p:blipFill>
          <a:blip r:embed="rId3">
            <a:lum bright="-6000"/>
            <a:extLst>
              <a:ext uri="{28A0092B-C50C-407E-A947-70E740481C1C}">
                <a14:useLocalDpi xmlns:a14="http://schemas.microsoft.com/office/drawing/2010/main" val="0"/>
              </a:ext>
            </a:extLst>
          </a:blip>
          <a:srcRect/>
          <a:stretch>
            <a:fillRect/>
          </a:stretch>
        </p:blipFill>
        <p:spPr>
          <a:xfrm>
            <a:off x="5624513" y="889000"/>
            <a:ext cx="3302000" cy="53736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8917" name="Picture 9" descr="12d">
            <a:extLst>
              <a:ext uri="{FF2B5EF4-FFF2-40B4-BE49-F238E27FC236}">
                <a16:creationId xmlns:a16="http://schemas.microsoft.com/office/drawing/2014/main" id="{F64E7CC2-944A-4906-A464-5E71ADD36985}"/>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239713" y="866775"/>
            <a:ext cx="2674937" cy="5813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8918" name="Text Box 12">
            <a:extLst>
              <a:ext uri="{FF2B5EF4-FFF2-40B4-BE49-F238E27FC236}">
                <a16:creationId xmlns:a16="http://schemas.microsoft.com/office/drawing/2014/main" id="{1447B853-B715-412A-830E-C68E17B2266C}"/>
              </a:ext>
            </a:extLst>
          </p:cNvPr>
          <p:cNvSpPr txBox="1">
            <a:spLocks noChangeArrowheads="1"/>
          </p:cNvSpPr>
          <p:nvPr/>
        </p:nvSpPr>
        <p:spPr bwMode="auto">
          <a:xfrm>
            <a:off x="3128963" y="812800"/>
            <a:ext cx="2265362" cy="444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effectLst/>
                <a:latin typeface="Arial" panose="020B0604020202020204" pitchFamily="34" charset="0"/>
              </a:rPr>
              <a:t>The structures that form in the zone of overlapping between two faults (</a:t>
            </a:r>
            <a:r>
              <a:rPr lang="en-GB" altLang="en-US" sz="1700">
                <a:solidFill>
                  <a:srgbClr val="FF6600"/>
                </a:solidFill>
                <a:effectLst/>
                <a:latin typeface="Arial" panose="020B0604020202020204" pitchFamily="34" charset="0"/>
              </a:rPr>
              <a:t>transfer zone</a:t>
            </a:r>
            <a:r>
              <a:rPr lang="en-GB" altLang="en-US" sz="1700">
                <a:effectLst/>
                <a:latin typeface="Arial" panose="020B0604020202020204" pitchFamily="34" charset="0"/>
              </a:rPr>
              <a:t>) depend upon whether the deformation there is </a:t>
            </a:r>
            <a:r>
              <a:rPr lang="en-GB" altLang="en-US" sz="1700">
                <a:solidFill>
                  <a:srgbClr val="FF66CC"/>
                </a:solidFill>
                <a:effectLst/>
                <a:latin typeface="Arial" panose="020B0604020202020204" pitchFamily="34" charset="0"/>
              </a:rPr>
              <a:t>extensional</a:t>
            </a:r>
            <a:r>
              <a:rPr lang="en-GB" altLang="en-US" sz="1700">
                <a:effectLst/>
                <a:latin typeface="Arial" panose="020B0604020202020204" pitchFamily="34" charset="0"/>
              </a:rPr>
              <a:t> (</a:t>
            </a:r>
            <a:r>
              <a:rPr lang="en-GB" altLang="en-US" sz="1700">
                <a:solidFill>
                  <a:srgbClr val="FF6600"/>
                </a:solidFill>
                <a:effectLst/>
                <a:latin typeface="Arial" panose="020B0604020202020204" pitchFamily="34" charset="0"/>
              </a:rPr>
              <a:t>releasing overlap zones</a:t>
            </a:r>
            <a:r>
              <a:rPr lang="en-GB" altLang="en-US" sz="1700">
                <a:effectLst/>
                <a:latin typeface="Arial" panose="020B0604020202020204" pitchFamily="34" charset="0"/>
              </a:rPr>
              <a:t>) or </a:t>
            </a:r>
            <a:r>
              <a:rPr lang="en-GB" altLang="en-US" sz="1700">
                <a:solidFill>
                  <a:srgbClr val="FF66CC"/>
                </a:solidFill>
                <a:effectLst/>
                <a:latin typeface="Arial" panose="020B0604020202020204" pitchFamily="34" charset="0"/>
              </a:rPr>
              <a:t>contractional </a:t>
            </a:r>
            <a:r>
              <a:rPr lang="en-GB" altLang="en-US" sz="1700">
                <a:effectLst/>
                <a:latin typeface="Arial" panose="020B0604020202020204" pitchFamily="34" charset="0"/>
              </a:rPr>
              <a:t>(</a:t>
            </a:r>
            <a:r>
              <a:rPr lang="en-GB" altLang="en-US" sz="1700">
                <a:solidFill>
                  <a:srgbClr val="FF6600"/>
                </a:solidFill>
                <a:effectLst/>
                <a:latin typeface="Arial" panose="020B0604020202020204" pitchFamily="34" charset="0"/>
              </a:rPr>
              <a:t>restraining overlap zones</a:t>
            </a:r>
            <a:r>
              <a:rPr lang="en-GB" altLang="en-US" sz="1700">
                <a:effectLst/>
                <a:latin typeface="Arial" panose="020B0604020202020204" pitchFamily="34" charset="0"/>
              </a:rPr>
              <a:t>)</a:t>
            </a:r>
          </a:p>
        </p:txBody>
      </p:sp>
      <p:sp>
        <p:nvSpPr>
          <p:cNvPr id="311310" name="Freeform 14">
            <a:extLst>
              <a:ext uri="{FF2B5EF4-FFF2-40B4-BE49-F238E27FC236}">
                <a16:creationId xmlns:a16="http://schemas.microsoft.com/office/drawing/2014/main" id="{7A28D02F-B4D7-497C-B2AB-67726B3EAF3A}"/>
              </a:ext>
            </a:extLst>
          </p:cNvPr>
          <p:cNvSpPr>
            <a:spLocks/>
          </p:cNvSpPr>
          <p:nvPr/>
        </p:nvSpPr>
        <p:spPr bwMode="auto">
          <a:xfrm rot="40152880">
            <a:off x="7676357" y="1883569"/>
            <a:ext cx="433387" cy="9207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11311" name="Freeform 15">
            <a:extLst>
              <a:ext uri="{FF2B5EF4-FFF2-40B4-BE49-F238E27FC236}">
                <a16:creationId xmlns:a16="http://schemas.microsoft.com/office/drawing/2014/main" id="{1EFB486B-DE68-4ED5-A609-871B86EDDDDA}"/>
              </a:ext>
            </a:extLst>
          </p:cNvPr>
          <p:cNvSpPr>
            <a:spLocks/>
          </p:cNvSpPr>
          <p:nvPr/>
        </p:nvSpPr>
        <p:spPr bwMode="auto">
          <a:xfrm rot="-13855487">
            <a:off x="6358732" y="5553869"/>
            <a:ext cx="433387" cy="9207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11312" name="Line 16">
            <a:extLst>
              <a:ext uri="{FF2B5EF4-FFF2-40B4-BE49-F238E27FC236}">
                <a16:creationId xmlns:a16="http://schemas.microsoft.com/office/drawing/2014/main" id="{38E183A2-0647-4CC0-B4FE-712A6F46FA7F}"/>
              </a:ext>
            </a:extLst>
          </p:cNvPr>
          <p:cNvSpPr>
            <a:spLocks noChangeShapeType="1"/>
          </p:cNvSpPr>
          <p:nvPr/>
        </p:nvSpPr>
        <p:spPr bwMode="auto">
          <a:xfrm>
            <a:off x="203200" y="4202113"/>
            <a:ext cx="2798763"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11313" name="Text Box 17">
            <a:extLst>
              <a:ext uri="{FF2B5EF4-FFF2-40B4-BE49-F238E27FC236}">
                <a16:creationId xmlns:a16="http://schemas.microsoft.com/office/drawing/2014/main" id="{454C5AA7-60A5-4342-8A2B-7C827983473C}"/>
              </a:ext>
            </a:extLst>
          </p:cNvPr>
          <p:cNvSpPr txBox="1">
            <a:spLocks noChangeArrowheads="1"/>
          </p:cNvSpPr>
          <p:nvPr/>
        </p:nvSpPr>
        <p:spPr bwMode="auto">
          <a:xfrm>
            <a:off x="5795963" y="6372225"/>
            <a:ext cx="29352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sz="1400">
                <a:solidFill>
                  <a:srgbClr val="FFFF00"/>
                </a:solidFill>
                <a:effectLst>
                  <a:outerShdw blurRad="38100" dist="38100" dir="2700000" algn="tl">
                    <a:srgbClr val="000000"/>
                  </a:outerShdw>
                </a:effectLst>
                <a:latin typeface="Arial" panose="020B0604020202020204" pitchFamily="34" charset="0"/>
              </a:rPr>
              <a:t>Extensional fracture transfer zone</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9" name="Picture 13" descr="12b1-Kentallen">
            <a:extLst>
              <a:ext uri="{FF2B5EF4-FFF2-40B4-BE49-F238E27FC236}">
                <a16:creationId xmlns:a16="http://schemas.microsoft.com/office/drawing/2014/main" id="{6E95881C-C1FF-40C9-B26E-BCAC57B5C0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2288" y="4175125"/>
            <a:ext cx="5589587" cy="24050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9950" name="Picture 14" descr="12c1-Digne">
            <a:extLst>
              <a:ext uri="{FF2B5EF4-FFF2-40B4-BE49-F238E27FC236}">
                <a16:creationId xmlns:a16="http://schemas.microsoft.com/office/drawing/2014/main" id="{ACB16D59-EA6E-466E-A48A-BCE31E98E4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 y="931863"/>
            <a:ext cx="8361363" cy="30400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39938" name="Rectangle 2">
            <a:extLst>
              <a:ext uri="{FF2B5EF4-FFF2-40B4-BE49-F238E27FC236}">
                <a16:creationId xmlns:a16="http://schemas.microsoft.com/office/drawing/2014/main" id="{9FD66054-ACDB-4B2A-9B31-A2E03C992F80}"/>
              </a:ext>
            </a:extLst>
          </p:cNvPr>
          <p:cNvSpPr>
            <a:spLocks noGrp="1" noChangeArrowheads="1"/>
          </p:cNvSpPr>
          <p:nvPr>
            <p:ph type="title"/>
          </p:nvPr>
        </p:nvSpPr>
        <p:spPr>
          <a:noFill/>
        </p:spPr>
        <p:txBody>
          <a:bodyPr/>
          <a:lstStyle/>
          <a:p>
            <a:r>
              <a:rPr lang="en-GB" altLang="en-US">
                <a:effectLst/>
              </a:rPr>
              <a:t>Further examples of extensional transfer zones</a:t>
            </a:r>
          </a:p>
        </p:txBody>
      </p:sp>
      <p:sp>
        <p:nvSpPr>
          <p:cNvPr id="309271" name="Freeform 23">
            <a:extLst>
              <a:ext uri="{FF2B5EF4-FFF2-40B4-BE49-F238E27FC236}">
                <a16:creationId xmlns:a16="http://schemas.microsoft.com/office/drawing/2014/main" id="{C9DE2D4C-AC57-4D4A-B377-DE7C45E059E1}"/>
              </a:ext>
            </a:extLst>
          </p:cNvPr>
          <p:cNvSpPr>
            <a:spLocks/>
          </p:cNvSpPr>
          <p:nvPr/>
        </p:nvSpPr>
        <p:spPr bwMode="auto">
          <a:xfrm>
            <a:off x="7121525" y="1589088"/>
            <a:ext cx="433388" cy="9207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09272" name="Freeform 24">
            <a:extLst>
              <a:ext uri="{FF2B5EF4-FFF2-40B4-BE49-F238E27FC236}">
                <a16:creationId xmlns:a16="http://schemas.microsoft.com/office/drawing/2014/main" id="{609C51BF-27FA-40A7-B28E-01FB6CC392F7}"/>
              </a:ext>
            </a:extLst>
          </p:cNvPr>
          <p:cNvSpPr>
            <a:spLocks/>
          </p:cNvSpPr>
          <p:nvPr/>
        </p:nvSpPr>
        <p:spPr bwMode="auto">
          <a:xfrm rot="-11036992">
            <a:off x="1112838" y="3076575"/>
            <a:ext cx="433387" cy="9207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09277" name="Freeform 29">
            <a:extLst>
              <a:ext uri="{FF2B5EF4-FFF2-40B4-BE49-F238E27FC236}">
                <a16:creationId xmlns:a16="http://schemas.microsoft.com/office/drawing/2014/main" id="{4862CAC5-8193-4524-8FB8-C46D09F5BBC4}"/>
              </a:ext>
            </a:extLst>
          </p:cNvPr>
          <p:cNvSpPr>
            <a:spLocks/>
          </p:cNvSpPr>
          <p:nvPr/>
        </p:nvSpPr>
        <p:spPr bwMode="auto">
          <a:xfrm>
            <a:off x="6673850" y="4548188"/>
            <a:ext cx="433388" cy="9207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
        <p:nvSpPr>
          <p:cNvPr id="309278" name="Freeform 30">
            <a:extLst>
              <a:ext uri="{FF2B5EF4-FFF2-40B4-BE49-F238E27FC236}">
                <a16:creationId xmlns:a16="http://schemas.microsoft.com/office/drawing/2014/main" id="{89CF6992-F4C9-4DAF-96A2-D6F925545475}"/>
              </a:ext>
            </a:extLst>
          </p:cNvPr>
          <p:cNvSpPr>
            <a:spLocks/>
          </p:cNvSpPr>
          <p:nvPr/>
        </p:nvSpPr>
        <p:spPr bwMode="auto">
          <a:xfrm rot="-11400624">
            <a:off x="2214563" y="5808663"/>
            <a:ext cx="433387" cy="92075"/>
          </a:xfrm>
          <a:custGeom>
            <a:avLst/>
            <a:gdLst>
              <a:gd name="T0" fmla="*/ 273 w 273"/>
              <a:gd name="T1" fmla="*/ 52 h 58"/>
              <a:gd name="T2" fmla="*/ 0 w 273"/>
              <a:gd name="T3" fmla="*/ 58 h 58"/>
              <a:gd name="T4" fmla="*/ 70 w 273"/>
              <a:gd name="T5" fmla="*/ 0 h 58"/>
            </a:gdLst>
            <a:ahLst/>
            <a:cxnLst>
              <a:cxn ang="0">
                <a:pos x="T0" y="T1"/>
              </a:cxn>
              <a:cxn ang="0">
                <a:pos x="T2" y="T3"/>
              </a:cxn>
              <a:cxn ang="0">
                <a:pos x="T4" y="T5"/>
              </a:cxn>
            </a:cxnLst>
            <a:rect l="0" t="0" r="r" b="b"/>
            <a:pathLst>
              <a:path w="273" h="58">
                <a:moveTo>
                  <a:pt x="273" y="52"/>
                </a:moveTo>
                <a:lnTo>
                  <a:pt x="0" y="58"/>
                </a:lnTo>
                <a:lnTo>
                  <a:pt x="70" y="0"/>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GB">
              <a:latin typeface="Helvetica" charset="0"/>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EE4DE59-81E6-4D49-BBDF-8CB6668CBD53}"/>
              </a:ext>
            </a:extLst>
          </p:cNvPr>
          <p:cNvSpPr>
            <a:spLocks noGrp="1" noChangeArrowheads="1"/>
          </p:cNvSpPr>
          <p:nvPr>
            <p:ph type="title"/>
          </p:nvPr>
        </p:nvSpPr>
        <p:spPr>
          <a:noFill/>
        </p:spPr>
        <p:txBody>
          <a:bodyPr/>
          <a:lstStyle/>
          <a:p>
            <a:r>
              <a:rPr lang="en-GB" altLang="en-US">
                <a:effectLst/>
              </a:rPr>
              <a:t>Fault bends (changes in strike)</a:t>
            </a:r>
          </a:p>
        </p:txBody>
      </p:sp>
      <p:sp>
        <p:nvSpPr>
          <p:cNvPr id="327689" name="Text Box 9">
            <a:extLst>
              <a:ext uri="{FF2B5EF4-FFF2-40B4-BE49-F238E27FC236}">
                <a16:creationId xmlns:a16="http://schemas.microsoft.com/office/drawing/2014/main" id="{AF8201D7-6BD8-444A-A950-D3CEE390DA81}"/>
              </a:ext>
            </a:extLst>
          </p:cNvPr>
          <p:cNvSpPr txBox="1">
            <a:spLocks noChangeArrowheads="1"/>
          </p:cNvSpPr>
          <p:nvPr/>
        </p:nvSpPr>
        <p:spPr bwMode="auto">
          <a:xfrm>
            <a:off x="82550" y="863600"/>
            <a:ext cx="9042400"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a:solidFill>
                  <a:srgbClr val="FF6600"/>
                </a:solidFill>
                <a:effectLst>
                  <a:outerShdw blurRad="38100" dist="38100" dir="2700000" algn="tl">
                    <a:srgbClr val="000000"/>
                  </a:outerShdw>
                </a:effectLst>
                <a:latin typeface="Arial" panose="020B0604020202020204" pitchFamily="34" charset="0"/>
              </a:rPr>
              <a:t>Bends and jogs</a:t>
            </a:r>
            <a:r>
              <a:rPr lang="en-GB" altLang="en-US" sz="1700">
                <a:effectLst>
                  <a:outerShdw blurRad="38100" dist="38100" dir="2700000" algn="tl">
                    <a:srgbClr val="000000"/>
                  </a:outerShdw>
                </a:effectLst>
                <a:latin typeface="Arial" panose="020B0604020202020204" pitchFamily="34" charset="0"/>
              </a:rPr>
              <a:t> in faults in map view are common and result from fault segments that have linked via the creation and breaching of relay ramps</a:t>
            </a:r>
          </a:p>
        </p:txBody>
      </p:sp>
      <p:pic>
        <p:nvPicPr>
          <p:cNvPr id="40964" name="Picture 12" descr="13a-Krafla">
            <a:extLst>
              <a:ext uri="{FF2B5EF4-FFF2-40B4-BE49-F238E27FC236}">
                <a16:creationId xmlns:a16="http://schemas.microsoft.com/office/drawing/2014/main" id="{E19B34AC-F247-4EE7-B6B9-A7A138C181A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04838" y="1851025"/>
            <a:ext cx="7923212" cy="40132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7694" name="Text Box 14">
            <a:extLst>
              <a:ext uri="{FF2B5EF4-FFF2-40B4-BE49-F238E27FC236}">
                <a16:creationId xmlns:a16="http://schemas.microsoft.com/office/drawing/2014/main" id="{7A15FC74-5E1F-4924-A24F-200D5805B104}"/>
              </a:ext>
            </a:extLst>
          </p:cNvPr>
          <p:cNvSpPr txBox="1">
            <a:spLocks noChangeArrowheads="1"/>
          </p:cNvSpPr>
          <p:nvPr/>
        </p:nvSpPr>
        <p:spPr bwMode="auto">
          <a:xfrm>
            <a:off x="2114550" y="5983288"/>
            <a:ext cx="497522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defRPr/>
            </a:pPr>
            <a:r>
              <a:rPr lang="en-GB" sz="1400">
                <a:solidFill>
                  <a:srgbClr val="FFFF00"/>
                </a:solidFill>
                <a:effectLst>
                  <a:outerShdw blurRad="38100" dist="38100" dir="2700000" algn="tl">
                    <a:srgbClr val="000000"/>
                  </a:outerShdw>
                </a:effectLst>
                <a:latin typeface="Arial" charset="0"/>
              </a:rPr>
              <a:t>Bend in a normal fault, Krafla Fissure Swarm, North Iceland</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03C065F-3B1D-4DD7-8710-2DA5A7289D4C}"/>
              </a:ext>
            </a:extLst>
          </p:cNvPr>
          <p:cNvSpPr>
            <a:spLocks noGrp="1" noChangeArrowheads="1"/>
          </p:cNvSpPr>
          <p:nvPr>
            <p:ph type="title"/>
          </p:nvPr>
        </p:nvSpPr>
        <p:spPr>
          <a:noFill/>
        </p:spPr>
        <p:txBody>
          <a:bodyPr/>
          <a:lstStyle/>
          <a:p>
            <a:r>
              <a:rPr lang="en-GB" altLang="en-US">
                <a:effectLst/>
              </a:rPr>
              <a:t>Fault bends (changes in dip)</a:t>
            </a:r>
          </a:p>
        </p:txBody>
      </p:sp>
      <p:sp>
        <p:nvSpPr>
          <p:cNvPr id="327689" name="Text Box 9">
            <a:extLst>
              <a:ext uri="{FF2B5EF4-FFF2-40B4-BE49-F238E27FC236}">
                <a16:creationId xmlns:a16="http://schemas.microsoft.com/office/drawing/2014/main" id="{17C4B699-9EEE-4ED1-93A7-165645F80E82}"/>
              </a:ext>
            </a:extLst>
          </p:cNvPr>
          <p:cNvSpPr txBox="1">
            <a:spLocks noChangeArrowheads="1"/>
          </p:cNvSpPr>
          <p:nvPr/>
        </p:nvSpPr>
        <p:spPr bwMode="auto">
          <a:xfrm>
            <a:off x="82550" y="785813"/>
            <a:ext cx="4811713" cy="28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charset="0"/>
              </a:defRPr>
            </a:lvl1pPr>
            <a:lvl2pPr>
              <a:defRPr sz="1600">
                <a:solidFill>
                  <a:schemeClr val="tx1"/>
                </a:solidFill>
                <a:latin typeface="Helvetica" charset="0"/>
              </a:defRPr>
            </a:lvl2pPr>
            <a:lvl3pPr>
              <a:defRPr sz="1600">
                <a:solidFill>
                  <a:schemeClr val="tx1"/>
                </a:solidFill>
                <a:latin typeface="Helvetica" charset="0"/>
              </a:defRPr>
            </a:lvl3pPr>
            <a:lvl4pPr>
              <a:defRPr sz="1600">
                <a:solidFill>
                  <a:schemeClr val="tx1"/>
                </a:solidFill>
                <a:latin typeface="Helvetica" charset="0"/>
              </a:defRPr>
            </a:lvl4pPr>
            <a:lvl5pPr>
              <a:defRPr sz="1600">
                <a:solidFill>
                  <a:schemeClr val="tx1"/>
                </a:solidFill>
                <a:latin typeface="Helvetica" charset="0"/>
              </a:defRPr>
            </a:lvl5pPr>
            <a:lvl6pPr eaLnBrk="0" fontAlgn="base" hangingPunct="0">
              <a:spcBef>
                <a:spcPct val="20000"/>
              </a:spcBef>
              <a:spcAft>
                <a:spcPct val="0"/>
              </a:spcAft>
              <a:buClr>
                <a:schemeClr val="accent2"/>
              </a:buClr>
              <a:defRPr sz="1600">
                <a:solidFill>
                  <a:schemeClr val="tx1"/>
                </a:solidFill>
                <a:latin typeface="Helvetica" charset="0"/>
              </a:defRPr>
            </a:lvl6pPr>
            <a:lvl7pPr eaLnBrk="0" fontAlgn="base" hangingPunct="0">
              <a:spcBef>
                <a:spcPct val="20000"/>
              </a:spcBef>
              <a:spcAft>
                <a:spcPct val="0"/>
              </a:spcAft>
              <a:buClr>
                <a:schemeClr val="accent2"/>
              </a:buClr>
              <a:defRPr sz="1600">
                <a:solidFill>
                  <a:schemeClr val="tx1"/>
                </a:solidFill>
                <a:latin typeface="Helvetica" charset="0"/>
              </a:defRPr>
            </a:lvl7pPr>
            <a:lvl8pPr eaLnBrk="0" fontAlgn="base" hangingPunct="0">
              <a:spcBef>
                <a:spcPct val="20000"/>
              </a:spcBef>
              <a:spcAft>
                <a:spcPct val="0"/>
              </a:spcAft>
              <a:buClr>
                <a:schemeClr val="accent2"/>
              </a:buClr>
              <a:defRPr sz="1600">
                <a:solidFill>
                  <a:schemeClr val="tx1"/>
                </a:solidFill>
                <a:latin typeface="Helvetica" charset="0"/>
              </a:defRPr>
            </a:lvl8pPr>
            <a:lvl9pPr eaLnBrk="0" fontAlgn="base" hangingPunct="0">
              <a:spcBef>
                <a:spcPct val="20000"/>
              </a:spcBef>
              <a:spcAft>
                <a:spcPct val="0"/>
              </a:spcAft>
              <a:buClr>
                <a:schemeClr val="accent2"/>
              </a:buClr>
              <a:defRPr sz="1600">
                <a:solidFill>
                  <a:schemeClr val="tx1"/>
                </a:solidFill>
                <a:latin typeface="Helvetica" charset="0"/>
              </a:defRPr>
            </a:lvl9pPr>
          </a:lstStyle>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Similar features may also be found with depth – linking of </a:t>
            </a:r>
            <a:r>
              <a:rPr lang="en-GB" sz="1700" dirty="0" err="1">
                <a:effectLst>
                  <a:outerShdw blurRad="38100" dist="38100" dir="2700000" algn="tl">
                    <a:srgbClr val="000000"/>
                  </a:outerShdw>
                </a:effectLst>
                <a:latin typeface="Arial" charset="0"/>
              </a:rPr>
              <a:t>en</a:t>
            </a:r>
            <a:r>
              <a:rPr lang="en-GB" sz="1700" dirty="0">
                <a:effectLst>
                  <a:outerShdw blurRad="38100" dist="38100" dir="2700000" algn="tl">
                    <a:srgbClr val="000000"/>
                  </a:outerShdw>
                </a:effectLst>
                <a:latin typeface="Arial" charset="0"/>
              </a:rPr>
              <a:t> </a:t>
            </a:r>
            <a:r>
              <a:rPr lang="en-GB" sz="1700" dirty="0" err="1">
                <a:effectLst>
                  <a:outerShdw blurRad="38100" dist="38100" dir="2700000" algn="tl">
                    <a:srgbClr val="000000"/>
                  </a:outerShdw>
                </a:effectLst>
                <a:latin typeface="Arial" charset="0"/>
              </a:rPr>
              <a:t>échelon</a:t>
            </a:r>
            <a:r>
              <a:rPr lang="en-GB" sz="1700" dirty="0">
                <a:effectLst>
                  <a:outerShdw blurRad="38100" dist="38100" dir="2700000" algn="tl">
                    <a:srgbClr val="000000"/>
                  </a:outerShdw>
                </a:effectLst>
                <a:latin typeface="Arial" charset="0"/>
              </a:rPr>
              <a:t> fractures to produce a </a:t>
            </a:r>
            <a:r>
              <a:rPr lang="en-GB" sz="1700">
                <a:effectLst>
                  <a:outerShdw blurRad="38100" dist="38100" dir="2700000" algn="tl">
                    <a:srgbClr val="000000"/>
                  </a:outerShdw>
                </a:effectLst>
                <a:latin typeface="Arial" charset="0"/>
              </a:rPr>
              <a:t>fault that </a:t>
            </a:r>
            <a:r>
              <a:rPr lang="en-GB" sz="1700" dirty="0">
                <a:effectLst>
                  <a:outerShdw blurRad="38100" dist="38100" dir="2700000" algn="tl">
                    <a:srgbClr val="000000"/>
                  </a:outerShdw>
                </a:effectLst>
                <a:latin typeface="Arial" charset="0"/>
              </a:rPr>
              <a:t>steepens with depth may result in dilation during slip</a:t>
            </a:r>
          </a:p>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If pore fluids are present, this leads to </a:t>
            </a:r>
            <a:r>
              <a:rPr lang="en-GB" sz="1700" dirty="0">
                <a:solidFill>
                  <a:srgbClr val="FF66CC"/>
                </a:solidFill>
                <a:effectLst>
                  <a:outerShdw blurRad="38100" dist="38100" dir="2700000" algn="tl">
                    <a:srgbClr val="000000"/>
                  </a:outerShdw>
                </a:effectLst>
                <a:latin typeface="Arial" charset="0"/>
              </a:rPr>
              <a:t>decompression and precipitation</a:t>
            </a:r>
          </a:p>
          <a:p>
            <a:pPr>
              <a:lnSpc>
                <a:spcPct val="120000"/>
              </a:lnSpc>
              <a:spcBef>
                <a:spcPct val="50000"/>
              </a:spcBef>
              <a:buClr>
                <a:schemeClr val="tx1"/>
              </a:buClr>
              <a:buFontTx/>
              <a:buChar char="•"/>
              <a:defRPr/>
            </a:pPr>
            <a:r>
              <a:rPr lang="en-GB" sz="1700" dirty="0">
                <a:effectLst>
                  <a:outerShdw blurRad="38100" dist="38100" dir="2700000" algn="tl">
                    <a:srgbClr val="000000"/>
                  </a:outerShdw>
                </a:effectLst>
                <a:latin typeface="Arial" charset="0"/>
              </a:rPr>
              <a:t>If fault slip is fast, the decompression may be explosive, leading to </a:t>
            </a:r>
            <a:r>
              <a:rPr lang="en-GB" sz="1700" dirty="0" err="1">
                <a:solidFill>
                  <a:srgbClr val="FF66CC"/>
                </a:solidFill>
                <a:effectLst>
                  <a:outerShdw blurRad="38100" dist="38100" dir="2700000" algn="tl">
                    <a:srgbClr val="000000"/>
                  </a:outerShdw>
                </a:effectLst>
                <a:latin typeface="Arial" charset="0"/>
              </a:rPr>
              <a:t>brecciation</a:t>
            </a:r>
            <a:endParaRPr lang="en-GB" sz="1700" dirty="0">
              <a:solidFill>
                <a:srgbClr val="FF66CC"/>
              </a:solidFill>
              <a:effectLst>
                <a:outerShdw blurRad="38100" dist="38100" dir="2700000" algn="tl">
                  <a:srgbClr val="000000"/>
                </a:outerShdw>
              </a:effectLst>
              <a:latin typeface="Arial" charset="0"/>
            </a:endParaRPr>
          </a:p>
        </p:txBody>
      </p:sp>
      <p:pic>
        <p:nvPicPr>
          <p:cNvPr id="41988" name="Picture 2">
            <a:extLst>
              <a:ext uri="{FF2B5EF4-FFF2-40B4-BE49-F238E27FC236}">
                <a16:creationId xmlns:a16="http://schemas.microsoft.com/office/drawing/2014/main" id="{994C66B1-A108-48A5-B9B9-11BFCA0EC09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64138" y="862013"/>
            <a:ext cx="3729037" cy="5845175"/>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41989" name="Picture 3" descr="12b1">
            <a:extLst>
              <a:ext uri="{FF2B5EF4-FFF2-40B4-BE49-F238E27FC236}">
                <a16:creationId xmlns:a16="http://schemas.microsoft.com/office/drawing/2014/main" id="{DEBEE09B-F7F9-46B0-B207-2E53D72AA6B2}"/>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342899" y="3946117"/>
            <a:ext cx="4291013" cy="18081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8871D82-8C2A-456D-9A65-89C379CD752B}"/>
              </a:ext>
            </a:extLst>
          </p:cNvPr>
          <p:cNvSpPr>
            <a:spLocks noGrp="1" noChangeArrowheads="1"/>
          </p:cNvSpPr>
          <p:nvPr>
            <p:ph type="title"/>
          </p:nvPr>
        </p:nvSpPr>
        <p:spPr>
          <a:noFill/>
        </p:spPr>
        <p:txBody>
          <a:bodyPr/>
          <a:lstStyle/>
          <a:p>
            <a:r>
              <a:rPr lang="en-GB" altLang="en-US">
                <a:effectLst/>
              </a:rPr>
              <a:t>Fault segmentation</a:t>
            </a:r>
          </a:p>
        </p:txBody>
      </p:sp>
      <p:pic>
        <p:nvPicPr>
          <p:cNvPr id="43014" name="Picture 6" descr="DSC_0100">
            <a:extLst>
              <a:ext uri="{FF2B5EF4-FFF2-40B4-BE49-F238E27FC236}">
                <a16:creationId xmlns:a16="http://schemas.microsoft.com/office/drawing/2014/main" id="{6CEC4A29-AED2-4C4F-A6B5-516868660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138" y="4862513"/>
            <a:ext cx="8721725" cy="18192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3016" name="Picture 8" descr="13b1-2012">
            <a:extLst>
              <a:ext uri="{FF2B5EF4-FFF2-40B4-BE49-F238E27FC236}">
                <a16:creationId xmlns:a16="http://schemas.microsoft.com/office/drawing/2014/main" id="{167D2890-AAC7-4E15-8C10-28B944DED0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3725" y="857250"/>
            <a:ext cx="2538413" cy="3852863"/>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3017" name="Picture 9" descr="13b2-2012">
            <a:extLst>
              <a:ext uri="{FF2B5EF4-FFF2-40B4-BE49-F238E27FC236}">
                <a16:creationId xmlns:a16="http://schemas.microsoft.com/office/drawing/2014/main" id="{E4CCF38A-C823-4D38-941A-7C5CF4FEF4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6613" y="857250"/>
            <a:ext cx="2571750" cy="38576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04AC8C9-685D-4E17-BBCE-DC13E38B444E}"/>
              </a:ext>
            </a:extLst>
          </p:cNvPr>
          <p:cNvSpPr>
            <a:spLocks noGrp="1" noChangeArrowheads="1"/>
          </p:cNvSpPr>
          <p:nvPr>
            <p:ph type="title"/>
          </p:nvPr>
        </p:nvSpPr>
        <p:spPr>
          <a:noFill/>
        </p:spPr>
        <p:txBody>
          <a:bodyPr/>
          <a:lstStyle/>
          <a:p>
            <a:r>
              <a:rPr lang="en-GB" altLang="en-US">
                <a:effectLst/>
              </a:rPr>
              <a:t>Fault segmentation  2</a:t>
            </a:r>
          </a:p>
        </p:txBody>
      </p:sp>
      <p:pic>
        <p:nvPicPr>
          <p:cNvPr id="44035" name="Picture 3" descr="4.16 Wasatch segmentation&amp;types2011V2color.png">
            <a:extLst>
              <a:ext uri="{FF2B5EF4-FFF2-40B4-BE49-F238E27FC236}">
                <a16:creationId xmlns:a16="http://schemas.microsoft.com/office/drawing/2014/main" id="{54BE41EA-C3D5-4866-A253-5A7144805C8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04800" y="947738"/>
            <a:ext cx="4179888" cy="56610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4036" name="Picture 2" descr="GR44.jpg">
            <a:extLst>
              <a:ext uri="{FF2B5EF4-FFF2-40B4-BE49-F238E27FC236}">
                <a16:creationId xmlns:a16="http://schemas.microsoft.com/office/drawing/2014/main" id="{1E54CF0A-91BD-4A6D-B18C-3EE64B51AA22}"/>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837113" y="960438"/>
            <a:ext cx="4013200" cy="56642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BDD7EE91-0FB3-4AE6-BDFC-0AAA90B48E2A}"/>
              </a:ext>
            </a:extLst>
          </p:cNvPr>
          <p:cNvSpPr>
            <a:spLocks noGrp="1" noChangeArrowheads="1"/>
          </p:cNvSpPr>
          <p:nvPr>
            <p:ph type="title"/>
          </p:nvPr>
        </p:nvSpPr>
        <p:spPr>
          <a:noFill/>
        </p:spPr>
        <p:txBody>
          <a:bodyPr/>
          <a:lstStyle/>
          <a:p>
            <a:r>
              <a:rPr lang="en-GB" altLang="en-US">
                <a:effectLst/>
              </a:rPr>
              <a:t>When faults end</a:t>
            </a:r>
          </a:p>
        </p:txBody>
      </p:sp>
      <p:sp>
        <p:nvSpPr>
          <p:cNvPr id="45059" name="Rectangle 3">
            <a:extLst>
              <a:ext uri="{FF2B5EF4-FFF2-40B4-BE49-F238E27FC236}">
                <a16:creationId xmlns:a16="http://schemas.microsoft.com/office/drawing/2014/main" id="{6F5AD1B0-CA40-442B-912F-68C508553F1F}"/>
              </a:ext>
            </a:extLst>
          </p:cNvPr>
          <p:cNvSpPr>
            <a:spLocks noGrp="1" noChangeArrowheads="1"/>
          </p:cNvSpPr>
          <p:nvPr>
            <p:ph type="body" sz="half" idx="1"/>
          </p:nvPr>
        </p:nvSpPr>
        <p:spPr>
          <a:xfrm>
            <a:off x="115888" y="781050"/>
            <a:ext cx="8770937" cy="1346200"/>
          </a:xfrm>
          <a:noFill/>
        </p:spPr>
        <p:txBody>
          <a:bodyPr/>
          <a:lstStyle/>
          <a:p>
            <a:pPr marL="177800" indent="-177800"/>
            <a:r>
              <a:rPr lang="en-GB" altLang="en-US" sz="1700" dirty="0">
                <a:effectLst/>
              </a:rPr>
              <a:t>The end of a fault (where the discontinuity in displacement goes to zero) is the </a:t>
            </a:r>
            <a:r>
              <a:rPr lang="en-GB" altLang="en-US" sz="1700" dirty="0">
                <a:solidFill>
                  <a:srgbClr val="FF6600"/>
                </a:solidFill>
                <a:effectLst/>
              </a:rPr>
              <a:t>tip-line</a:t>
            </a:r>
            <a:r>
              <a:rPr lang="en-GB" altLang="en-US" sz="1700" dirty="0">
                <a:effectLst/>
              </a:rPr>
              <a:t>. </a:t>
            </a:r>
            <a:r>
              <a:rPr lang="en-GB" altLang="en-US" sz="1700" dirty="0">
                <a:solidFill>
                  <a:srgbClr val="FF66CC"/>
                </a:solidFill>
                <a:effectLst/>
              </a:rPr>
              <a:t>A tip-line must form a</a:t>
            </a:r>
            <a:r>
              <a:rPr lang="en-GB" altLang="en-US" sz="1700" dirty="0">
                <a:effectLst/>
              </a:rPr>
              <a:t> </a:t>
            </a:r>
            <a:r>
              <a:rPr lang="en-GB" altLang="en-US" sz="1700" dirty="0">
                <a:solidFill>
                  <a:srgbClr val="FF66CC"/>
                </a:solidFill>
                <a:effectLst/>
              </a:rPr>
              <a:t>closed loop</a:t>
            </a:r>
            <a:r>
              <a:rPr lang="en-GB" altLang="en-US" sz="1700" dirty="0">
                <a:effectLst/>
              </a:rPr>
              <a:t> – it cannot simply end. For faults that break the surface (faults that do not are described as </a:t>
            </a:r>
            <a:r>
              <a:rPr lang="en-GB" altLang="en-US" sz="1700" dirty="0">
                <a:solidFill>
                  <a:srgbClr val="FF66CC"/>
                </a:solidFill>
                <a:effectLst/>
              </a:rPr>
              <a:t>blind faults</a:t>
            </a:r>
            <a:r>
              <a:rPr lang="en-GB" altLang="en-US" sz="1700" dirty="0">
                <a:effectLst/>
              </a:rPr>
              <a:t>), the tip-line connects the </a:t>
            </a:r>
            <a:r>
              <a:rPr lang="en-GB" altLang="en-US" sz="1700" dirty="0">
                <a:solidFill>
                  <a:srgbClr val="FF66CC"/>
                </a:solidFill>
                <a:effectLst/>
              </a:rPr>
              <a:t>ends of the trace of the fault </a:t>
            </a:r>
            <a:r>
              <a:rPr lang="en-GB" altLang="en-US" sz="1700" dirty="0">
                <a:effectLst/>
              </a:rPr>
              <a:t>in a line</a:t>
            </a:r>
            <a:r>
              <a:rPr lang="en-GB" altLang="en-US" sz="1700" dirty="0">
                <a:solidFill>
                  <a:srgbClr val="FF66CC"/>
                </a:solidFill>
                <a:effectLst/>
              </a:rPr>
              <a:t> </a:t>
            </a:r>
            <a:r>
              <a:rPr lang="en-GB" altLang="en-US" sz="1700" dirty="0">
                <a:effectLst/>
              </a:rPr>
              <a:t>that loops around below the surface</a:t>
            </a:r>
          </a:p>
        </p:txBody>
      </p:sp>
      <p:sp>
        <p:nvSpPr>
          <p:cNvPr id="322566" name="Text Box 6">
            <a:extLst>
              <a:ext uri="{FF2B5EF4-FFF2-40B4-BE49-F238E27FC236}">
                <a16:creationId xmlns:a16="http://schemas.microsoft.com/office/drawing/2014/main" id="{56E268EF-22DF-4F5D-B790-86F8FDFE5804}"/>
              </a:ext>
            </a:extLst>
          </p:cNvPr>
          <p:cNvSpPr txBox="1">
            <a:spLocks noChangeArrowheads="1"/>
          </p:cNvSpPr>
          <p:nvPr/>
        </p:nvSpPr>
        <p:spPr bwMode="auto">
          <a:xfrm>
            <a:off x="120649" y="2239963"/>
            <a:ext cx="4190094" cy="4251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The only variant on this geometrical necessity occurs if a fault ends by joining another</a:t>
            </a:r>
            <a:r>
              <a:rPr lang="en-GB" altLang="en-US" sz="1700" dirty="0">
                <a:solidFill>
                  <a:srgbClr val="FF66CC"/>
                </a:solidFill>
                <a:effectLst>
                  <a:outerShdw blurRad="38100" dist="38100" dir="2700000" algn="tl">
                    <a:srgbClr val="000000"/>
                  </a:outerShdw>
                </a:effectLst>
                <a:latin typeface="Arial" panose="020B0604020202020204" pitchFamily="34" charset="0"/>
              </a:rPr>
              <a:t> fault of the same type</a:t>
            </a:r>
            <a:r>
              <a:rPr lang="en-GB" altLang="en-US" sz="1700" dirty="0">
                <a:effectLst>
                  <a:outerShdw blurRad="38100" dist="38100" dir="2700000" algn="tl">
                    <a:srgbClr val="000000"/>
                  </a:outerShdw>
                </a:effectLst>
                <a:latin typeface="Arial" panose="020B0604020202020204" pitchFamily="34" charset="0"/>
              </a:rPr>
              <a:t>. The line of intersection between two faults is then described as a </a:t>
            </a:r>
            <a:r>
              <a:rPr lang="en-GB" altLang="en-US" sz="1700" dirty="0">
                <a:solidFill>
                  <a:srgbClr val="FF6600"/>
                </a:solidFill>
                <a:effectLst>
                  <a:outerShdw blurRad="38100" dist="38100" dir="2700000" algn="tl">
                    <a:srgbClr val="000000"/>
                  </a:outerShdw>
                </a:effectLst>
                <a:latin typeface="Arial" panose="020B0604020202020204" pitchFamily="34" charset="0"/>
              </a:rPr>
              <a:t>branch-line</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In some cases, a fault block is completely surrounded by faults and is then described as a </a:t>
            </a:r>
            <a:r>
              <a:rPr lang="en-GB" altLang="en-US" sz="1700" dirty="0">
                <a:solidFill>
                  <a:srgbClr val="FF6600"/>
                </a:solidFill>
                <a:effectLst>
                  <a:outerShdw blurRad="38100" dist="38100" dir="2700000" algn="tl">
                    <a:srgbClr val="000000"/>
                  </a:outerShdw>
                </a:effectLst>
                <a:latin typeface="Arial" panose="020B0604020202020204" pitchFamily="34" charset="0"/>
              </a:rPr>
              <a:t>horse</a:t>
            </a:r>
          </a:p>
          <a:p>
            <a:pPr>
              <a:lnSpc>
                <a:spcPct val="120000"/>
              </a:lnSpc>
              <a:spcBef>
                <a:spcPct val="75000"/>
              </a:spcBef>
              <a:buClr>
                <a:schemeClr val="tx1"/>
              </a:buClr>
              <a:buFontTx/>
              <a:buChar char="•"/>
            </a:pPr>
            <a:r>
              <a:rPr lang="en-GB" altLang="en-US" sz="1700" dirty="0">
                <a:effectLst>
                  <a:outerShdw blurRad="38100" dist="38100" dir="2700000" algn="tl">
                    <a:srgbClr val="000000"/>
                  </a:outerShdw>
                </a:effectLst>
                <a:latin typeface="Arial" panose="020B0604020202020204" pitchFamily="34" charset="0"/>
              </a:rPr>
              <a:t>A full understanding of these geometric aspects is critical when </a:t>
            </a:r>
            <a:r>
              <a:rPr lang="en-GB" altLang="en-US" sz="1700" dirty="0">
                <a:solidFill>
                  <a:srgbClr val="FF66CC"/>
                </a:solidFill>
                <a:effectLst>
                  <a:outerShdw blurRad="38100" dist="38100" dir="2700000" algn="tl">
                    <a:srgbClr val="000000"/>
                  </a:outerShdw>
                </a:effectLst>
                <a:latin typeface="Arial" panose="020B0604020202020204" pitchFamily="34" charset="0"/>
              </a:rPr>
              <a:t>mapping faulted terranes</a:t>
            </a:r>
            <a:r>
              <a:rPr lang="en-GB" altLang="en-US" sz="1700" dirty="0">
                <a:effectLst>
                  <a:outerShdw blurRad="38100" dist="38100" dir="2700000" algn="tl">
                    <a:srgbClr val="000000"/>
                  </a:outerShdw>
                </a:effectLst>
                <a:latin typeface="Arial" panose="020B0604020202020204" pitchFamily="34" charset="0"/>
              </a:rPr>
              <a:t> if a </a:t>
            </a:r>
            <a:r>
              <a:rPr lang="en-GB" altLang="en-US" sz="1700" dirty="0">
                <a:solidFill>
                  <a:srgbClr val="FF6600"/>
                </a:solidFill>
                <a:effectLst>
                  <a:outerShdw blurRad="38100" dist="38100" dir="2700000" algn="tl">
                    <a:srgbClr val="000000"/>
                  </a:outerShdw>
                </a:effectLst>
                <a:latin typeface="Arial" panose="020B0604020202020204" pitchFamily="34" charset="0"/>
              </a:rPr>
              <a:t>restorable cross-section </a:t>
            </a:r>
            <a:r>
              <a:rPr lang="en-GB" altLang="en-US" sz="1700" dirty="0">
                <a:effectLst>
                  <a:outerShdw blurRad="38100" dist="38100" dir="2700000" algn="tl">
                    <a:srgbClr val="000000"/>
                  </a:outerShdw>
                </a:effectLst>
                <a:latin typeface="Arial" panose="020B0604020202020204" pitchFamily="34" charset="0"/>
              </a:rPr>
              <a:t>is to be constructed</a:t>
            </a:r>
          </a:p>
        </p:txBody>
      </p:sp>
      <p:grpSp>
        <p:nvGrpSpPr>
          <p:cNvPr id="45061" name="Group 8">
            <a:extLst>
              <a:ext uri="{FF2B5EF4-FFF2-40B4-BE49-F238E27FC236}">
                <a16:creationId xmlns:a16="http://schemas.microsoft.com/office/drawing/2014/main" id="{DC6C8836-049F-4719-8ED2-F861AB1F3EB0}"/>
              </a:ext>
            </a:extLst>
          </p:cNvPr>
          <p:cNvGrpSpPr>
            <a:grpSpLocks/>
          </p:cNvGrpSpPr>
          <p:nvPr/>
        </p:nvGrpSpPr>
        <p:grpSpPr bwMode="auto">
          <a:xfrm>
            <a:off x="4408488" y="2451100"/>
            <a:ext cx="4446587" cy="3595688"/>
            <a:chOff x="2715" y="1468"/>
            <a:chExt cx="2929" cy="2368"/>
          </a:xfrm>
        </p:grpSpPr>
        <p:pic>
          <p:nvPicPr>
            <p:cNvPr id="45062" name="Picture 4" descr="14a">
              <a:extLst>
                <a:ext uri="{FF2B5EF4-FFF2-40B4-BE49-F238E27FC236}">
                  <a16:creationId xmlns:a16="http://schemas.microsoft.com/office/drawing/2014/main" id="{643A612A-25EE-41F9-8ECD-3625677C2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5" y="1468"/>
              <a:ext cx="2929" cy="2368"/>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22567" name="Rectangle 7">
              <a:extLst>
                <a:ext uri="{FF2B5EF4-FFF2-40B4-BE49-F238E27FC236}">
                  <a16:creationId xmlns:a16="http://schemas.microsoft.com/office/drawing/2014/main" id="{382AB398-B609-4E11-A599-D9207393B236}"/>
                </a:ext>
              </a:extLst>
            </p:cNvPr>
            <p:cNvSpPr>
              <a:spLocks noChangeArrowheads="1"/>
            </p:cNvSpPr>
            <p:nvPr/>
          </p:nvSpPr>
          <p:spPr bwMode="auto">
            <a:xfrm>
              <a:off x="2740" y="3700"/>
              <a:ext cx="181" cy="111"/>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gr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060A76F8-3FF3-43E8-A9F2-0835E79526D6}"/>
              </a:ext>
            </a:extLst>
          </p:cNvPr>
          <p:cNvSpPr>
            <a:spLocks noGrp="1" noChangeArrowheads="1"/>
          </p:cNvSpPr>
          <p:nvPr>
            <p:ph type="title"/>
          </p:nvPr>
        </p:nvSpPr>
        <p:spPr>
          <a:noFill/>
        </p:spPr>
        <p:txBody>
          <a:bodyPr/>
          <a:lstStyle/>
          <a:p>
            <a:r>
              <a:rPr lang="en-GB" altLang="en-US">
                <a:effectLst/>
              </a:rPr>
              <a:t>When faults end  2</a:t>
            </a:r>
          </a:p>
        </p:txBody>
      </p:sp>
      <p:sp>
        <p:nvSpPr>
          <p:cNvPr id="46083" name="Rectangle 3">
            <a:extLst>
              <a:ext uri="{FF2B5EF4-FFF2-40B4-BE49-F238E27FC236}">
                <a16:creationId xmlns:a16="http://schemas.microsoft.com/office/drawing/2014/main" id="{E8BCA16E-2A9D-4821-A072-C81BCAD51833}"/>
              </a:ext>
            </a:extLst>
          </p:cNvPr>
          <p:cNvSpPr>
            <a:spLocks noGrp="1" noChangeArrowheads="1"/>
          </p:cNvSpPr>
          <p:nvPr>
            <p:ph type="body" sz="half" idx="1"/>
          </p:nvPr>
        </p:nvSpPr>
        <p:spPr>
          <a:xfrm>
            <a:off x="115888" y="771525"/>
            <a:ext cx="8770937" cy="1128713"/>
          </a:xfrm>
          <a:noFill/>
        </p:spPr>
        <p:txBody>
          <a:bodyPr/>
          <a:lstStyle/>
          <a:p>
            <a:pPr marL="177800" indent="-177800"/>
            <a:r>
              <a:rPr lang="en-GB" altLang="en-US" sz="1700">
                <a:effectLst/>
              </a:rPr>
              <a:t>Faults of all types commonly die out in a set of </a:t>
            </a:r>
            <a:r>
              <a:rPr lang="en-GB" altLang="en-US" sz="1700">
                <a:solidFill>
                  <a:srgbClr val="FF6600"/>
                </a:solidFill>
                <a:effectLst/>
              </a:rPr>
              <a:t>splay faults</a:t>
            </a:r>
            <a:r>
              <a:rPr lang="en-GB" altLang="en-US" sz="1700">
                <a:effectLst/>
              </a:rPr>
              <a:t> – smaller, subsidiary faults that branch off from the main fault. If these branch off at regular intervals and have similar geometries, they form an </a:t>
            </a:r>
            <a:r>
              <a:rPr lang="en-GB" altLang="en-US" sz="1700">
                <a:solidFill>
                  <a:srgbClr val="FF6600"/>
                </a:solidFill>
                <a:effectLst/>
              </a:rPr>
              <a:t>imbricate fan</a:t>
            </a:r>
          </a:p>
        </p:txBody>
      </p:sp>
      <p:sp>
        <p:nvSpPr>
          <p:cNvPr id="332811" name="Text Box 11">
            <a:extLst>
              <a:ext uri="{FF2B5EF4-FFF2-40B4-BE49-F238E27FC236}">
                <a16:creationId xmlns:a16="http://schemas.microsoft.com/office/drawing/2014/main" id="{CEE1EDBC-AE09-4012-9C97-C552AFEE2F71}"/>
              </a:ext>
            </a:extLst>
          </p:cNvPr>
          <p:cNvSpPr txBox="1">
            <a:spLocks noChangeArrowheads="1"/>
          </p:cNvSpPr>
          <p:nvPr/>
        </p:nvSpPr>
        <p:spPr bwMode="auto">
          <a:xfrm>
            <a:off x="5902325" y="2032000"/>
            <a:ext cx="2946400" cy="44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6213" indent="-176213">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Imbricate fans may be </a:t>
            </a:r>
            <a:r>
              <a:rPr lang="en-GB" altLang="en-US" sz="1700">
                <a:solidFill>
                  <a:srgbClr val="FF66CC"/>
                </a:solidFill>
                <a:effectLst/>
                <a:latin typeface="Arial" panose="020B0604020202020204" pitchFamily="34" charset="0"/>
              </a:rPr>
              <a:t>extensional</a:t>
            </a:r>
            <a:r>
              <a:rPr lang="en-GB" altLang="en-US" sz="1700">
                <a:effectLst/>
                <a:latin typeface="Arial" panose="020B0604020202020204" pitchFamily="34" charset="0"/>
              </a:rPr>
              <a:t> or </a:t>
            </a:r>
            <a:r>
              <a:rPr lang="en-GB" altLang="en-US" sz="1700">
                <a:solidFill>
                  <a:srgbClr val="FF66CC"/>
                </a:solidFill>
                <a:effectLst/>
                <a:latin typeface="Arial" panose="020B0604020202020204" pitchFamily="34" charset="0"/>
              </a:rPr>
              <a:t>contractional</a:t>
            </a:r>
            <a:endParaRPr lang="en-GB" altLang="en-US" sz="1700">
              <a:effectLst/>
              <a:latin typeface="Arial" panose="020B0604020202020204" pitchFamily="34" charset="0"/>
            </a:endParaRPr>
          </a:p>
          <a:p>
            <a:pPr>
              <a:lnSpc>
                <a:spcPct val="120000"/>
              </a:lnSpc>
              <a:spcBef>
                <a:spcPct val="75000"/>
              </a:spcBef>
              <a:buClr>
                <a:schemeClr val="folHlink"/>
              </a:buClr>
              <a:buSzPct val="100000"/>
              <a:buFont typeface="Times" panose="02020603050405020304" pitchFamily="18" charset="0"/>
              <a:buChar char="•"/>
            </a:pPr>
            <a:r>
              <a:rPr lang="en-GB" altLang="en-US" sz="1700">
                <a:effectLst/>
                <a:latin typeface="Arial" panose="020B0604020202020204" pitchFamily="34" charset="0"/>
              </a:rPr>
              <a:t>We will consider these within different tectonic contexts over the final three classes, as we examine the interrelationships of structures in contractional, extensional and strike-slip terranes</a:t>
            </a:r>
          </a:p>
          <a:p>
            <a:pPr>
              <a:spcBef>
                <a:spcPct val="50000"/>
              </a:spcBef>
            </a:pPr>
            <a:endParaRPr lang="en-GB" altLang="en-US" sz="1700">
              <a:effectLst>
                <a:outerShdw blurRad="38100" dist="38100" dir="2700000" algn="tl">
                  <a:srgbClr val="000000"/>
                </a:outerShdw>
              </a:effectLst>
              <a:latin typeface="Arial" panose="020B0604020202020204" pitchFamily="34" charset="0"/>
            </a:endParaRPr>
          </a:p>
        </p:txBody>
      </p:sp>
      <p:grpSp>
        <p:nvGrpSpPr>
          <p:cNvPr id="46085" name="Group 14">
            <a:extLst>
              <a:ext uri="{FF2B5EF4-FFF2-40B4-BE49-F238E27FC236}">
                <a16:creationId xmlns:a16="http://schemas.microsoft.com/office/drawing/2014/main" id="{6F09E406-8753-423E-8E69-832BC8B3AAED}"/>
              </a:ext>
            </a:extLst>
          </p:cNvPr>
          <p:cNvGrpSpPr>
            <a:grpSpLocks/>
          </p:cNvGrpSpPr>
          <p:nvPr/>
        </p:nvGrpSpPr>
        <p:grpSpPr bwMode="auto">
          <a:xfrm>
            <a:off x="336550" y="2057400"/>
            <a:ext cx="5408613" cy="4368800"/>
            <a:chOff x="207" y="1267"/>
            <a:chExt cx="3407" cy="2752"/>
          </a:xfrm>
        </p:grpSpPr>
        <p:pic>
          <p:nvPicPr>
            <p:cNvPr id="46088" name="Picture 8" descr="14b">
              <a:extLst>
                <a:ext uri="{FF2B5EF4-FFF2-40B4-BE49-F238E27FC236}">
                  <a16:creationId xmlns:a16="http://schemas.microsoft.com/office/drawing/2014/main" id="{1718316E-85AE-4FCD-85A9-962F50590D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 y="1267"/>
              <a:ext cx="3407" cy="2752"/>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2812" name="Rectangle 12">
              <a:extLst>
                <a:ext uri="{FF2B5EF4-FFF2-40B4-BE49-F238E27FC236}">
                  <a16:creationId xmlns:a16="http://schemas.microsoft.com/office/drawing/2014/main" id="{181943C8-85BB-4BA6-BD66-1C6F488A9410}"/>
                </a:ext>
              </a:extLst>
            </p:cNvPr>
            <p:cNvSpPr>
              <a:spLocks noChangeArrowheads="1"/>
            </p:cNvSpPr>
            <p:nvPr/>
          </p:nvSpPr>
          <p:spPr bwMode="auto">
            <a:xfrm>
              <a:off x="273" y="3782"/>
              <a:ext cx="227" cy="18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sp>
          <p:nvSpPr>
            <p:cNvPr id="332813" name="Rectangle 13">
              <a:extLst>
                <a:ext uri="{FF2B5EF4-FFF2-40B4-BE49-F238E27FC236}">
                  <a16:creationId xmlns:a16="http://schemas.microsoft.com/office/drawing/2014/main" id="{FEC59E74-9A49-4BB0-B98C-0A5F312333BD}"/>
                </a:ext>
              </a:extLst>
            </p:cNvPr>
            <p:cNvSpPr>
              <a:spLocks noChangeArrowheads="1"/>
            </p:cNvSpPr>
            <p:nvPr/>
          </p:nvSpPr>
          <p:spPr bwMode="auto">
            <a:xfrm>
              <a:off x="297" y="2327"/>
              <a:ext cx="262" cy="25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GB">
                <a:latin typeface="Helvetica" charset="0"/>
              </a:endParaRPr>
            </a:p>
          </p:txBody>
        </p:sp>
      </p:grpSp>
      <p:sp>
        <p:nvSpPr>
          <p:cNvPr id="46086" name="Text Box 15">
            <a:extLst>
              <a:ext uri="{FF2B5EF4-FFF2-40B4-BE49-F238E27FC236}">
                <a16:creationId xmlns:a16="http://schemas.microsoft.com/office/drawing/2014/main" id="{7771C96E-F07F-4FFD-B86C-84998215FE1B}"/>
              </a:ext>
            </a:extLst>
          </p:cNvPr>
          <p:cNvSpPr txBox="1">
            <a:spLocks noChangeArrowheads="1"/>
          </p:cNvSpPr>
          <p:nvPr/>
        </p:nvSpPr>
        <p:spPr bwMode="auto">
          <a:xfrm>
            <a:off x="600075" y="2392363"/>
            <a:ext cx="1497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a:solidFill>
                  <a:srgbClr val="FF0000"/>
                </a:solidFill>
                <a:effectLst/>
                <a:latin typeface="Arial" panose="020B0604020202020204" pitchFamily="34" charset="0"/>
              </a:rPr>
              <a:t>extensional</a:t>
            </a:r>
          </a:p>
        </p:txBody>
      </p:sp>
      <p:sp>
        <p:nvSpPr>
          <p:cNvPr id="46087" name="Text Box 16">
            <a:extLst>
              <a:ext uri="{FF2B5EF4-FFF2-40B4-BE49-F238E27FC236}">
                <a16:creationId xmlns:a16="http://schemas.microsoft.com/office/drawing/2014/main" id="{5EE1603D-F59C-4AE8-B7DA-C2394EBC57FE}"/>
              </a:ext>
            </a:extLst>
          </p:cNvPr>
          <p:cNvSpPr txBox="1">
            <a:spLocks noChangeArrowheads="1"/>
          </p:cNvSpPr>
          <p:nvPr/>
        </p:nvSpPr>
        <p:spPr bwMode="auto">
          <a:xfrm>
            <a:off x="565150" y="4770438"/>
            <a:ext cx="14970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29718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4290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886200" indent="-2286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spcBef>
                <a:spcPct val="50000"/>
              </a:spcBef>
            </a:pPr>
            <a:r>
              <a:rPr lang="en-GB" altLang="en-US">
                <a:solidFill>
                  <a:srgbClr val="FF0000"/>
                </a:solidFill>
                <a:effectLst/>
                <a:latin typeface="Arial" panose="020B0604020202020204" pitchFamily="34" charset="0"/>
              </a:rPr>
              <a:t>contractional</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A63AA48-EE35-42E8-B082-16962C7B1E77}"/>
              </a:ext>
            </a:extLst>
          </p:cNvPr>
          <p:cNvSpPr>
            <a:spLocks noGrp="1" noChangeArrowheads="1"/>
          </p:cNvSpPr>
          <p:nvPr>
            <p:ph type="title" idx="4294967295"/>
          </p:nvPr>
        </p:nvSpPr>
        <p:spPr>
          <a:noFill/>
        </p:spPr>
        <p:txBody>
          <a:bodyPr/>
          <a:lstStyle/>
          <a:p>
            <a:r>
              <a:rPr lang="en-GB" altLang="en-US">
                <a:effectLst/>
              </a:rPr>
              <a:t>Summary of fault and fracture terms</a:t>
            </a:r>
          </a:p>
        </p:txBody>
      </p:sp>
      <p:pic>
        <p:nvPicPr>
          <p:cNvPr id="108555" name="Picture 11" descr="terms">
            <a:extLst>
              <a:ext uri="{FF2B5EF4-FFF2-40B4-BE49-F238E27FC236}">
                <a16:creationId xmlns:a16="http://schemas.microsoft.com/office/drawing/2014/main" id="{A707E791-7F10-41C7-A187-DA11BB5553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63" y="1370013"/>
            <a:ext cx="8729662" cy="386556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08557" name="Rectangle 3">
            <a:extLst>
              <a:ext uri="{FF2B5EF4-FFF2-40B4-BE49-F238E27FC236}">
                <a16:creationId xmlns:a16="http://schemas.microsoft.com/office/drawing/2014/main" id="{A4EA5FC1-2BE9-4D25-A03D-A20B3F3BA3B9}"/>
              </a:ext>
            </a:extLst>
          </p:cNvPr>
          <p:cNvSpPr>
            <a:spLocks noChangeArrowheads="1"/>
          </p:cNvSpPr>
          <p:nvPr/>
        </p:nvSpPr>
        <p:spPr bwMode="auto">
          <a:xfrm>
            <a:off x="271463" y="5400675"/>
            <a:ext cx="8656637"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panose="02020603050405020304" pitchFamily="18" charset="0"/>
              <a:buChar char="•"/>
              <a:defRPr>
                <a:solidFill>
                  <a:schemeClr val="tx1"/>
                </a:solidFill>
                <a:latin typeface="Arial" panose="020B0604020202020204" pitchFamily="34" charset="0"/>
              </a:defRPr>
            </a:lvl1pPr>
            <a:lvl2pPr marL="742950" indent="-285750">
              <a:lnSpc>
                <a:spcPct val="120000"/>
              </a:lnSpc>
              <a:spcBef>
                <a:spcPct val="50000"/>
              </a:spcBef>
              <a:buClr>
                <a:schemeClr val="folHlink"/>
              </a:buClr>
              <a:buSzPct val="100000"/>
              <a:buFont typeface="Times" panose="02020603050405020304" pitchFamily="18" charset="0"/>
              <a:buChar char="•"/>
              <a:defRPr sz="1600">
                <a:solidFill>
                  <a:schemeClr val="tx1"/>
                </a:solidFill>
                <a:latin typeface="Arial" panose="020B0604020202020204" pitchFamily="34" charset="0"/>
              </a:defRPr>
            </a:lvl2pPr>
            <a:lvl3pPr marL="11430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3pPr>
            <a:lvl4pPr marL="1600200" indent="-228600">
              <a:spcBef>
                <a:spcPct val="25000"/>
              </a:spcBef>
              <a:buClr>
                <a:schemeClr val="folHlink"/>
              </a:buClr>
              <a:buFont typeface="Times" panose="02020603050405020304" pitchFamily="18" charset="0"/>
              <a:buChar char="•"/>
              <a:defRPr sz="1400">
                <a:solidFill>
                  <a:schemeClr val="tx1"/>
                </a:solidFill>
                <a:latin typeface="Arial" panose="020B0604020202020204" pitchFamily="34" charset="0"/>
              </a:defRPr>
            </a:lvl4pPr>
            <a:lvl5pPr marL="2057400" indent="-228600">
              <a:spcBef>
                <a:spcPct val="25000"/>
              </a:spcBef>
              <a:buClr>
                <a:schemeClr val="folHlink"/>
              </a:buClr>
              <a:buSzPct val="50000"/>
              <a:buFont typeface="Times" panose="02020603050405020304" pitchFamily="18" charset="0"/>
              <a:buChar char="•"/>
              <a:defRPr sz="1400">
                <a:solidFill>
                  <a:schemeClr val="tx1"/>
                </a:solidFill>
                <a:latin typeface="Arial" panose="020B0604020202020204" pitchFamily="34" charset="0"/>
              </a:defRPr>
            </a:lvl5pPr>
            <a:lvl6pPr marL="25146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6pPr>
            <a:lvl7pPr marL="29718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7pPr>
            <a:lvl8pPr marL="34290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8pPr>
            <a:lvl9pPr marL="3886200" indent="-228600" eaLnBrk="0" fontAlgn="base" hangingPunct="0">
              <a:spcBef>
                <a:spcPct val="25000"/>
              </a:spcBef>
              <a:spcAft>
                <a:spcPct val="0"/>
              </a:spcAft>
              <a:buClr>
                <a:schemeClr val="folHlink"/>
              </a:buClr>
              <a:buSzPct val="50000"/>
              <a:buFont typeface="Times" panose="02020603050405020304" pitchFamily="18" charset="0"/>
              <a:buChar char="•"/>
              <a:defRPr sz="1400">
                <a:solidFill>
                  <a:schemeClr val="tx1"/>
                </a:solidFill>
                <a:latin typeface="Arial" panose="020B0604020202020204" pitchFamily="34" charset="0"/>
              </a:defRPr>
            </a:lvl9pPr>
          </a:lstStyle>
          <a:p>
            <a:pPr>
              <a:buFont typeface="Times" panose="02020603050405020304" pitchFamily="18" charset="0"/>
              <a:buNone/>
            </a:pPr>
            <a:r>
              <a:rPr lang="en-GB" altLang="en-US" sz="1400">
                <a:solidFill>
                  <a:srgbClr val="FFFF00"/>
                </a:solidFill>
                <a:effectLst/>
              </a:rPr>
              <a:t>For a glossary of fault and fracture terms, see Peacock </a:t>
            </a:r>
            <a:r>
              <a:rPr lang="en-GB" altLang="en-US" sz="1400" i="1">
                <a:solidFill>
                  <a:srgbClr val="FFFF00"/>
                </a:solidFill>
                <a:effectLst/>
              </a:rPr>
              <a:t>et al.</a:t>
            </a:r>
            <a:r>
              <a:rPr lang="en-GB" altLang="en-US" sz="1400">
                <a:solidFill>
                  <a:srgbClr val="FFFF00"/>
                </a:solidFill>
                <a:effectLst/>
              </a:rPr>
              <a:t>, 2016, </a:t>
            </a:r>
            <a:r>
              <a:rPr lang="en-GB" altLang="en-US" sz="1400" i="1">
                <a:solidFill>
                  <a:srgbClr val="FFFF00"/>
                </a:solidFill>
                <a:effectLst/>
              </a:rPr>
              <a:t>Journal of Structural Geology</a:t>
            </a:r>
            <a:r>
              <a:rPr lang="en-GB" altLang="en-US" sz="1400">
                <a:solidFill>
                  <a:srgbClr val="FFFF00"/>
                </a:solidFill>
                <a:effectLst/>
              </a:rPr>
              <a:t> 92: 12-29</a:t>
            </a: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19E669A-C824-42C6-B9E3-8EEC5166ADB8}"/>
              </a:ext>
            </a:extLst>
          </p:cNvPr>
          <p:cNvSpPr>
            <a:spLocks noGrp="1" noChangeArrowheads="1"/>
          </p:cNvSpPr>
          <p:nvPr>
            <p:ph type="title"/>
          </p:nvPr>
        </p:nvSpPr>
        <p:spPr>
          <a:noFill/>
        </p:spPr>
        <p:txBody>
          <a:bodyPr/>
          <a:lstStyle/>
          <a:p>
            <a:r>
              <a:rPr lang="en-GB" altLang="en-US">
                <a:effectLst/>
              </a:rPr>
              <a:t>Reading</a:t>
            </a:r>
          </a:p>
        </p:txBody>
      </p:sp>
      <p:sp>
        <p:nvSpPr>
          <p:cNvPr id="47107" name="Rectangle 3">
            <a:extLst>
              <a:ext uri="{FF2B5EF4-FFF2-40B4-BE49-F238E27FC236}">
                <a16:creationId xmlns:a16="http://schemas.microsoft.com/office/drawing/2014/main" id="{6328DCC6-B6BB-4805-A520-E864AAC9683A}"/>
              </a:ext>
            </a:extLst>
          </p:cNvPr>
          <p:cNvSpPr>
            <a:spLocks noGrp="1" noChangeArrowheads="1"/>
          </p:cNvSpPr>
          <p:nvPr>
            <p:ph type="body" sz="half" idx="1"/>
          </p:nvPr>
        </p:nvSpPr>
        <p:spPr>
          <a:xfrm>
            <a:off x="128588" y="809625"/>
            <a:ext cx="8759825" cy="1416271"/>
          </a:xfrm>
          <a:noFill/>
        </p:spPr>
        <p:txBody>
          <a:bodyPr/>
          <a:lstStyle/>
          <a:p>
            <a:pPr marL="177800" indent="-177800"/>
            <a:r>
              <a:rPr lang="en-GB" altLang="en-US" sz="1400" dirty="0">
                <a:effectLst/>
              </a:rPr>
              <a:t>Fossen H (2016) </a:t>
            </a:r>
            <a:r>
              <a:rPr lang="en-GB" altLang="en-US" sz="1400" i="1" dirty="0">
                <a:effectLst/>
              </a:rPr>
              <a:t>Structural Geology </a:t>
            </a:r>
            <a:r>
              <a:rPr lang="en-GB" altLang="en-US" sz="1400" dirty="0">
                <a:effectLst/>
              </a:rPr>
              <a:t>(2</a:t>
            </a:r>
            <a:r>
              <a:rPr lang="en-GB" altLang="en-US" sz="1400" baseline="30000" dirty="0">
                <a:effectLst/>
              </a:rPr>
              <a:t>nd</a:t>
            </a:r>
            <a:r>
              <a:rPr lang="en-GB" altLang="en-US" sz="1400" dirty="0">
                <a:effectLst/>
              </a:rPr>
              <a:t> edition).</a:t>
            </a:r>
            <a:r>
              <a:rPr lang="en-GB" altLang="en-US" sz="1400" i="1" dirty="0">
                <a:effectLst/>
              </a:rPr>
              <a:t> </a:t>
            </a:r>
            <a:r>
              <a:rPr lang="en-GB" altLang="en-US" sz="1400" dirty="0">
                <a:effectLst/>
              </a:rPr>
              <a:t>Cambridge University Press. </a:t>
            </a:r>
            <a:r>
              <a:rPr lang="en-GB" altLang="en-US" sz="1400" dirty="0">
                <a:solidFill>
                  <a:srgbClr val="FF66CC"/>
                </a:solidFill>
                <a:effectLst/>
              </a:rPr>
              <a:t>[Chapter 9]</a:t>
            </a:r>
          </a:p>
          <a:p>
            <a:pPr marL="177800" indent="-177800">
              <a:spcBef>
                <a:spcPts val="1200"/>
              </a:spcBef>
            </a:pPr>
            <a:r>
              <a:rPr lang="en-GB" altLang="en-US" sz="1400" dirty="0">
                <a:effectLst/>
              </a:rPr>
              <a:t>Twiss RJ, </a:t>
            </a:r>
            <a:r>
              <a:rPr lang="en-GB" altLang="en-US" sz="1400" dirty="0" err="1">
                <a:effectLst/>
              </a:rPr>
              <a:t>Moores</a:t>
            </a:r>
            <a:r>
              <a:rPr lang="en-GB" altLang="en-US" sz="1400" dirty="0">
                <a:effectLst/>
              </a:rPr>
              <a:t> EM (2007) </a:t>
            </a:r>
            <a:r>
              <a:rPr lang="en-GB" altLang="en-US" sz="1400" i="1" dirty="0">
                <a:effectLst/>
              </a:rPr>
              <a:t>Structural Geology</a:t>
            </a:r>
            <a:r>
              <a:rPr lang="en-GB" altLang="en-US" sz="1400" dirty="0">
                <a:effectLst/>
              </a:rPr>
              <a:t> (2</a:t>
            </a:r>
            <a:r>
              <a:rPr lang="en-GB" altLang="en-US" sz="1400" baseline="30000" dirty="0">
                <a:effectLst/>
              </a:rPr>
              <a:t>nd</a:t>
            </a:r>
            <a:r>
              <a:rPr lang="en-GB" altLang="en-US" sz="1400" dirty="0">
                <a:effectLst/>
              </a:rPr>
              <a:t> edition). WH Freeman and Co. </a:t>
            </a:r>
            <a:r>
              <a:rPr lang="en-GB" altLang="en-US" sz="1400" dirty="0">
                <a:solidFill>
                  <a:srgbClr val="FF66CC"/>
                </a:solidFill>
                <a:effectLst/>
              </a:rPr>
              <a:t>[Chapter 3] </a:t>
            </a:r>
          </a:p>
          <a:p>
            <a:pPr marL="177800" indent="-177800">
              <a:spcBef>
                <a:spcPts val="1200"/>
              </a:spcBef>
            </a:pPr>
            <a:r>
              <a:rPr lang="en-GB" altLang="en-US" sz="1400" dirty="0">
                <a:effectLst/>
              </a:rPr>
              <a:t>Gudmundsson A (2011) </a:t>
            </a:r>
            <a:r>
              <a:rPr lang="en-GB" altLang="en-US" sz="1400" i="1" dirty="0">
                <a:effectLst/>
              </a:rPr>
              <a:t>Rock Fractures in Geological Processes. </a:t>
            </a:r>
            <a:r>
              <a:rPr lang="en-GB" altLang="en-US" sz="1400" dirty="0">
                <a:effectLst/>
              </a:rPr>
              <a:t>Cambridge University Press. </a:t>
            </a:r>
            <a:r>
              <a:rPr lang="en-GB" altLang="en-US" sz="1400" dirty="0">
                <a:solidFill>
                  <a:srgbClr val="FF66CC"/>
                </a:solidFill>
                <a:effectLst/>
              </a:rPr>
              <a:t>[Chapters 10, 12, 14] </a:t>
            </a:r>
          </a:p>
        </p:txBody>
      </p:sp>
      <p:pic>
        <p:nvPicPr>
          <p:cNvPr id="3" name="Picture 2">
            <a:extLst>
              <a:ext uri="{FF2B5EF4-FFF2-40B4-BE49-F238E27FC236}">
                <a16:creationId xmlns:a16="http://schemas.microsoft.com/office/drawing/2014/main" id="{2819F1BF-4EA7-0705-826B-CA274E44C138}"/>
              </a:ext>
            </a:extLst>
          </p:cNvPr>
          <p:cNvPicPr>
            <a:picLocks noChangeAspect="1"/>
          </p:cNvPicPr>
          <p:nvPr/>
        </p:nvPicPr>
        <p:blipFill rotWithShape="1">
          <a:blip r:embed="rId3">
            <a:extLst>
              <a:ext uri="{28A0092B-C50C-407E-A947-70E740481C1C}">
                <a14:useLocalDpi xmlns:a14="http://schemas.microsoft.com/office/drawing/2010/main" val="0"/>
              </a:ext>
            </a:extLst>
          </a:blip>
          <a:srcRect l="16130" t="11807" r="10952" b="20763"/>
          <a:stretch/>
        </p:blipFill>
        <p:spPr>
          <a:xfrm>
            <a:off x="4454434" y="2225896"/>
            <a:ext cx="4368007" cy="4225042"/>
          </a:xfrm>
          <a:prstGeom prst="rect">
            <a:avLst/>
          </a:prstGeom>
          <a:ln w="38100">
            <a:solidFill>
              <a:schemeClr val="bg2"/>
            </a:solidFill>
          </a:ln>
        </p:spPr>
      </p:pic>
      <p:sp>
        <p:nvSpPr>
          <p:cNvPr id="5" name="Rectangle 3">
            <a:extLst>
              <a:ext uri="{FF2B5EF4-FFF2-40B4-BE49-F238E27FC236}">
                <a16:creationId xmlns:a16="http://schemas.microsoft.com/office/drawing/2014/main" id="{9B8FC7DD-4EEA-AEF2-4CD7-B154B8325039}"/>
              </a:ext>
            </a:extLst>
          </p:cNvPr>
          <p:cNvSpPr txBox="1">
            <a:spLocks noChangeArrowheads="1"/>
          </p:cNvSpPr>
          <p:nvPr/>
        </p:nvSpPr>
        <p:spPr bwMode="auto">
          <a:xfrm>
            <a:off x="140495" y="2335206"/>
            <a:ext cx="4065745" cy="270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88925" indent="-288925" algn="l" rtl="0" eaLnBrk="0" fontAlgn="base" hangingPunct="0">
              <a:lnSpc>
                <a:spcPct val="120000"/>
              </a:lnSpc>
              <a:spcBef>
                <a:spcPct val="100000"/>
              </a:spcBef>
              <a:spcAft>
                <a:spcPct val="0"/>
              </a:spcAft>
              <a:buClr>
                <a:schemeClr val="folHlink"/>
              </a:buClr>
              <a:buSzPct val="100000"/>
              <a:buFont typeface="Times" panose="02020603050405020304" pitchFamily="18" charset="0"/>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panose="02020603050405020304" pitchFamily="18" charset="0"/>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panose="02020603050405020304" pitchFamily="18" charset="0"/>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panose="02020603050405020304" pitchFamily="18" charset="0"/>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a:lstStyle>
          <a:p>
            <a:pPr marL="177800" indent="-177800">
              <a:spcBef>
                <a:spcPts val="1200"/>
              </a:spcBef>
            </a:pPr>
            <a:r>
              <a:rPr lang="en-GB" altLang="en-US" sz="1400" dirty="0">
                <a:effectLst/>
                <a:latin typeface="+mn-lt"/>
                <a:ea typeface="Adobe Fan Heiti Std B" panose="020B0700000000000000" pitchFamily="34" charset="-128"/>
              </a:rPr>
              <a:t>Price NJ, Cosgrove JW (1990) </a:t>
            </a:r>
            <a:r>
              <a:rPr lang="en-GB" altLang="en-US" sz="1400" i="1" dirty="0">
                <a:effectLst/>
                <a:latin typeface="+mn-lt"/>
                <a:ea typeface="Adobe Fan Heiti Std B" panose="020B0700000000000000" pitchFamily="34" charset="-128"/>
              </a:rPr>
              <a:t>Analysis of Geological Structures.</a:t>
            </a:r>
            <a:r>
              <a:rPr lang="en-GB" altLang="en-US" sz="1400" dirty="0">
                <a:effectLst/>
                <a:latin typeface="+mn-lt"/>
                <a:ea typeface="Adobe Fan Heiti Std B" panose="020B0700000000000000" pitchFamily="34" charset="-128"/>
              </a:rPr>
              <a:t> Cambridge University Press. </a:t>
            </a:r>
            <a:r>
              <a:rPr lang="en-GB" altLang="en-US" sz="1400" dirty="0">
                <a:solidFill>
                  <a:srgbClr val="FF66CC"/>
                </a:solidFill>
                <a:effectLst/>
                <a:latin typeface="+mn-lt"/>
                <a:ea typeface="Adobe Fan Heiti Std B" panose="020B0700000000000000" pitchFamily="34" charset="-128"/>
              </a:rPr>
              <a:t>[Chapter 5]</a:t>
            </a:r>
          </a:p>
          <a:p>
            <a:pPr marL="177800" indent="-177800">
              <a:spcBef>
                <a:spcPts val="1200"/>
              </a:spcBef>
            </a:pPr>
            <a:r>
              <a:rPr lang="en-GB" altLang="en-US" sz="1400" dirty="0">
                <a:effectLst/>
                <a:latin typeface="+mn-lt"/>
                <a:ea typeface="Adobe Fan Heiti Std B" panose="020B0700000000000000" pitchFamily="34" charset="-128"/>
              </a:rPr>
              <a:t>Ramsay JG, Huber MI (1987) </a:t>
            </a:r>
            <a:r>
              <a:rPr lang="en-GB" altLang="en-US" sz="1400" i="1" dirty="0">
                <a:effectLst/>
                <a:latin typeface="+mn-lt"/>
                <a:ea typeface="Adobe Fan Heiti Std B" panose="020B0700000000000000" pitchFamily="34" charset="-128"/>
              </a:rPr>
              <a:t>Techniques of Modern Structural Geology. Volume 2: Folds and Fractures.</a:t>
            </a:r>
            <a:r>
              <a:rPr lang="en-GB" altLang="en-US" sz="1400" dirty="0">
                <a:effectLst/>
                <a:latin typeface="+mn-lt"/>
                <a:ea typeface="Adobe Fan Heiti Std B" panose="020B0700000000000000" pitchFamily="34" charset="-128"/>
              </a:rPr>
              <a:t> Academic Press. </a:t>
            </a:r>
            <a:r>
              <a:rPr lang="en-GB" altLang="en-US" sz="1400" dirty="0">
                <a:solidFill>
                  <a:srgbClr val="FF66CC"/>
                </a:solidFill>
                <a:effectLst/>
                <a:latin typeface="+mn-lt"/>
                <a:ea typeface="Adobe Fan Heiti Std B" panose="020B0700000000000000" pitchFamily="34" charset="-128"/>
              </a:rPr>
              <a:t>[Session 23]</a:t>
            </a:r>
          </a:p>
          <a:p>
            <a:pPr marL="177800" indent="-177800">
              <a:spcBef>
                <a:spcPts val="1200"/>
              </a:spcBef>
            </a:pPr>
            <a:r>
              <a:rPr lang="en-GB" altLang="en-US" sz="1400" dirty="0">
                <a:effectLst/>
                <a:latin typeface="+mn-lt"/>
                <a:ea typeface="Adobe Fan Heiti Std B" panose="020B0700000000000000" pitchFamily="34" charset="-128"/>
              </a:rPr>
              <a:t>Pollard DD, Fletcher RC (2005) </a:t>
            </a:r>
            <a:r>
              <a:rPr lang="en-GB" altLang="en-US" sz="1400" i="1" dirty="0">
                <a:effectLst/>
                <a:latin typeface="+mn-lt"/>
                <a:ea typeface="Adobe Fan Heiti Std B" panose="020B0700000000000000" pitchFamily="34" charset="-128"/>
              </a:rPr>
              <a:t>Fundamentals of Structural Geology</a:t>
            </a:r>
            <a:r>
              <a:rPr lang="en-GB" altLang="en-US" sz="1400" dirty="0">
                <a:effectLst/>
                <a:latin typeface="+mn-lt"/>
                <a:ea typeface="Adobe Fan Heiti Std B" panose="020B0700000000000000" pitchFamily="34" charset="-128"/>
              </a:rPr>
              <a:t>. Cambridge University Press.</a:t>
            </a:r>
            <a:r>
              <a:rPr lang="en-GB" altLang="en-US" sz="1400" dirty="0">
                <a:solidFill>
                  <a:srgbClr val="FF66CC"/>
                </a:solidFill>
                <a:effectLst/>
                <a:latin typeface="+mn-lt"/>
                <a:ea typeface="Adobe Fan Heiti Std B" panose="020B0700000000000000" pitchFamily="34" charset="-128"/>
              </a:rPr>
              <a:t> [Chapter 9]</a:t>
            </a:r>
          </a:p>
          <a:p>
            <a:pPr marL="177800" indent="-177800">
              <a:spcBef>
                <a:spcPts val="1200"/>
              </a:spcBef>
            </a:pPr>
            <a:endParaRPr lang="en-GB" altLang="en-US" sz="1400" kern="0" dirty="0">
              <a:solidFill>
                <a:srgbClr val="FF66CC"/>
              </a:solidFill>
              <a:effectLst/>
            </a:endParaRP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10485</TotalTime>
  <Words>10185</Words>
  <Application>Microsoft Office PowerPoint</Application>
  <PresentationFormat>On-screen Show (4:3)</PresentationFormat>
  <Paragraphs>335</Paragraphs>
  <Slides>51</Slides>
  <Notes>51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Cambria Math</vt:lpstr>
      <vt:lpstr>Helvetica</vt:lpstr>
      <vt:lpstr>Symbol</vt:lpstr>
      <vt:lpstr>Times</vt:lpstr>
      <vt:lpstr>Times New Roman</vt:lpstr>
      <vt:lpstr>Wingdings</vt:lpstr>
      <vt:lpstr>Basin Studies 2002</vt:lpstr>
      <vt:lpstr>EART 28202 :  Structural Geology    Class 7 :  Faulting</vt:lpstr>
      <vt:lpstr>Faults</vt:lpstr>
      <vt:lpstr>  Fault geometry</vt:lpstr>
      <vt:lpstr>Fault surface dip</vt:lpstr>
      <vt:lpstr>Slip vector</vt:lpstr>
      <vt:lpstr>Some examples</vt:lpstr>
      <vt:lpstr>The orientation and magnitude of the slip vector</vt:lpstr>
      <vt:lpstr>Separation of layers</vt:lpstr>
      <vt:lpstr>  Structures indicating slip vector movement sense and orientation</vt:lpstr>
      <vt:lpstr>Folded surfaces near faults</vt:lpstr>
      <vt:lpstr>Folded surfaces near faults: fault propagation folds</vt:lpstr>
      <vt:lpstr>Modelling the geometry of fault propagation folds</vt:lpstr>
      <vt:lpstr>Folded surfaces near faults: clay smears</vt:lpstr>
      <vt:lpstr>Folded surfaces near faults: rollover antiforms</vt:lpstr>
      <vt:lpstr>Slickensides</vt:lpstr>
      <vt:lpstr>Slickensides  2</vt:lpstr>
      <vt:lpstr>Slickenfibres</vt:lpstr>
      <vt:lpstr>Ridges and grooves (gouging and plucking)</vt:lpstr>
      <vt:lpstr>Ridges and grooves (gouging and plucking)</vt:lpstr>
      <vt:lpstr>Secondary fractures</vt:lpstr>
      <vt:lpstr>  Formation of faults</vt:lpstr>
      <vt:lpstr>Failure criteria – intact rocks</vt:lpstr>
      <vt:lpstr>Andersonian classification of faults</vt:lpstr>
      <vt:lpstr>Andersonian classification of faults  2</vt:lpstr>
      <vt:lpstr>Failure criteria – previously faulted rocks</vt:lpstr>
      <vt:lpstr>Failure criteria – the effect of pore fluid pressure</vt:lpstr>
      <vt:lpstr>From microcracking to failure</vt:lpstr>
      <vt:lpstr>From microcracking to fracture propagation</vt:lpstr>
      <vt:lpstr>Characterizing fault damage zones</vt:lpstr>
      <vt:lpstr>Dynamic fracturing</vt:lpstr>
      <vt:lpstr>Coalescence of microcracks</vt:lpstr>
      <vt:lpstr>Linking fractures within an en échelon array</vt:lpstr>
      <vt:lpstr>Linking fractures within an en échelon array  2</vt:lpstr>
      <vt:lpstr>  Growth of faults</vt:lpstr>
      <vt:lpstr>Fault length frequency </vt:lpstr>
      <vt:lpstr>Displacement variation along a fault </vt:lpstr>
      <vt:lpstr>Displacement variation along a fault  2 </vt:lpstr>
      <vt:lpstr>Fault length – displacement relationships </vt:lpstr>
      <vt:lpstr>Fault linking – relay ramps</vt:lpstr>
      <vt:lpstr>Fault linking – relay ramps  2</vt:lpstr>
      <vt:lpstr>Fault linking – relay ramps  3</vt:lpstr>
      <vt:lpstr>Transfer zones</vt:lpstr>
      <vt:lpstr>Further examples of extensional transfer zones</vt:lpstr>
      <vt:lpstr>Fault bends (changes in strike)</vt:lpstr>
      <vt:lpstr>Fault bends (changes in dip)</vt:lpstr>
      <vt:lpstr>Fault segmentation</vt:lpstr>
      <vt:lpstr>Fault segmentation  2</vt:lpstr>
      <vt:lpstr>When faults end</vt:lpstr>
      <vt:lpstr>When faults end  2</vt:lpstr>
      <vt:lpstr>Summary of fault and fracture terms</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445</cp:revision>
  <cp:lastPrinted>2002-03-22T07:32:28Z</cp:lastPrinted>
  <dcterms:created xsi:type="dcterms:W3CDTF">2002-10-21T14:42:49Z</dcterms:created>
  <dcterms:modified xsi:type="dcterms:W3CDTF">2026-03-18T13:24:22Z</dcterms:modified>
</cp:coreProperties>
</file>