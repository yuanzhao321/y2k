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59"/>
  </p:notesMasterIdLst>
  <p:handoutMasterIdLst>
    <p:handoutMasterId r:id="rId60"/>
  </p:handoutMasterIdLst>
  <p:sldIdLst>
    <p:sldId id="316" r:id="rId2"/>
    <p:sldId id="363" r:id="rId3"/>
    <p:sldId id="364" r:id="rId4"/>
    <p:sldId id="361" r:id="rId5"/>
    <p:sldId id="362" r:id="rId6"/>
    <p:sldId id="360" r:id="rId7"/>
    <p:sldId id="365" r:id="rId8"/>
    <p:sldId id="403" r:id="rId9"/>
    <p:sldId id="404" r:id="rId10"/>
    <p:sldId id="381" r:id="rId11"/>
    <p:sldId id="341" r:id="rId12"/>
    <p:sldId id="349" r:id="rId13"/>
    <p:sldId id="397" r:id="rId14"/>
    <p:sldId id="366" r:id="rId15"/>
    <p:sldId id="367" r:id="rId16"/>
    <p:sldId id="368" r:id="rId17"/>
    <p:sldId id="370" r:id="rId18"/>
    <p:sldId id="351" r:id="rId19"/>
    <p:sldId id="352" r:id="rId20"/>
    <p:sldId id="371" r:id="rId21"/>
    <p:sldId id="378" r:id="rId22"/>
    <p:sldId id="374" r:id="rId23"/>
    <p:sldId id="375" r:id="rId24"/>
    <p:sldId id="376" r:id="rId25"/>
    <p:sldId id="377" r:id="rId26"/>
    <p:sldId id="386" r:id="rId27"/>
    <p:sldId id="379" r:id="rId28"/>
    <p:sldId id="382" r:id="rId29"/>
    <p:sldId id="380" r:id="rId30"/>
    <p:sldId id="346" r:id="rId31"/>
    <p:sldId id="348" r:id="rId32"/>
    <p:sldId id="400" r:id="rId33"/>
    <p:sldId id="353" r:id="rId34"/>
    <p:sldId id="394" r:id="rId35"/>
    <p:sldId id="369" r:id="rId36"/>
    <p:sldId id="398" r:id="rId37"/>
    <p:sldId id="383" r:id="rId38"/>
    <p:sldId id="372" r:id="rId39"/>
    <p:sldId id="395" r:id="rId40"/>
    <p:sldId id="354" r:id="rId41"/>
    <p:sldId id="405" r:id="rId42"/>
    <p:sldId id="345" r:id="rId43"/>
    <p:sldId id="356" r:id="rId44"/>
    <p:sldId id="385" r:id="rId45"/>
    <p:sldId id="357" r:id="rId46"/>
    <p:sldId id="401" r:id="rId47"/>
    <p:sldId id="402" r:id="rId48"/>
    <p:sldId id="384" r:id="rId49"/>
    <p:sldId id="344" r:id="rId50"/>
    <p:sldId id="359" r:id="rId51"/>
    <p:sldId id="387" r:id="rId52"/>
    <p:sldId id="388" r:id="rId53"/>
    <p:sldId id="389" r:id="rId54"/>
    <p:sldId id="396" r:id="rId55"/>
    <p:sldId id="391" r:id="rId56"/>
    <p:sldId id="392" r:id="rId57"/>
    <p:sldId id="343" r:id="rId58"/>
  </p:sldIdLst>
  <p:sldSz cx="9144000" cy="6858000" type="screen4x3"/>
  <p:notesSz cx="6732588" cy="9855200"/>
  <p:defaultTextStyle>
    <a:defPPr>
      <a:defRPr lang="en-GB"/>
    </a:defPPr>
    <a:lvl1pPr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1pPr>
    <a:lvl2pPr marL="4572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2pPr>
    <a:lvl3pPr marL="9144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3pPr>
    <a:lvl4pPr marL="13716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4pPr>
    <a:lvl5pPr marL="18288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5pPr>
    <a:lvl6pPr marL="22860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6pPr>
    <a:lvl7pPr marL="27432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7pPr>
    <a:lvl8pPr marL="32004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8pPr>
    <a:lvl9pPr marL="36576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3300"/>
    <a:srgbClr val="FF0000"/>
    <a:srgbClr val="D3D3FF"/>
    <a:srgbClr val="B7B7FF"/>
    <a:srgbClr val="FF6600"/>
    <a:srgbClr val="FF66FF"/>
    <a:srgbClr val="FFFF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55" autoAdjust="0"/>
    <p:restoredTop sz="71074" autoAdjust="0"/>
  </p:normalViewPr>
  <p:slideViewPr>
    <p:cSldViewPr snapToGrid="0">
      <p:cViewPr varScale="1">
        <p:scale>
          <a:sx n="78" d="100"/>
          <a:sy n="78" d="100"/>
        </p:scale>
        <p:origin x="3012" y="96"/>
      </p:cViewPr>
      <p:guideLst>
        <p:guide orient="horz" pos="2914"/>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slide" Target="slides/slide11.xml"/><Relationship Id="rId1" Type="http://schemas.openxmlformats.org/officeDocument/2006/relationships/slide" Target="slides/slide1.xml"/><Relationship Id="rId5" Type="http://schemas.openxmlformats.org/officeDocument/2006/relationships/slide" Target="slides/slide49.xml"/><Relationship Id="rId4" Type="http://schemas.openxmlformats.org/officeDocument/2006/relationships/slide" Target="slides/slide4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6CA851F9-649E-433C-A519-8A354CADA055}"/>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3" name="Rectangle 3">
            <a:extLst>
              <a:ext uri="{FF2B5EF4-FFF2-40B4-BE49-F238E27FC236}">
                <a16:creationId xmlns:a16="http://schemas.microsoft.com/office/drawing/2014/main" id="{A15D73ED-1815-4338-964B-4FA12998A295}"/>
              </a:ext>
            </a:extLst>
          </p:cNvPr>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87044" name="Rectangle 4">
            <a:extLst>
              <a:ext uri="{FF2B5EF4-FFF2-40B4-BE49-F238E27FC236}">
                <a16:creationId xmlns:a16="http://schemas.microsoft.com/office/drawing/2014/main" id="{0584A645-8C4D-4F64-BE77-0530F0B6D1A4}"/>
              </a:ext>
            </a:extLst>
          </p:cNvPr>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5" name="Rectangle 5">
            <a:extLst>
              <a:ext uri="{FF2B5EF4-FFF2-40B4-BE49-F238E27FC236}">
                <a16:creationId xmlns:a16="http://schemas.microsoft.com/office/drawing/2014/main" id="{BB538E1C-36B6-4D34-B1F0-BD99119A9C76}"/>
              </a:ext>
            </a:extLst>
          </p:cNvPr>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157915AD-369F-4A23-8FF3-C6C80E9905AF}"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403291F-6461-495A-B124-FE6D89E8500A}"/>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1" name="Rectangle 3">
            <a:extLst>
              <a:ext uri="{FF2B5EF4-FFF2-40B4-BE49-F238E27FC236}">
                <a16:creationId xmlns:a16="http://schemas.microsoft.com/office/drawing/2014/main" id="{29E8722C-1DD8-4944-9647-54E22F09913E}"/>
              </a:ext>
            </a:extLst>
          </p:cNvPr>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40964" name="Rectangle 4">
            <a:extLst>
              <a:ext uri="{FF2B5EF4-FFF2-40B4-BE49-F238E27FC236}">
                <a16:creationId xmlns:a16="http://schemas.microsoft.com/office/drawing/2014/main" id="{55040146-CEE9-4F83-BCC3-3B88B6253D2E}"/>
              </a:ext>
            </a:extLst>
          </p:cNvPr>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a:extLst>
              <a:ext uri="{FF2B5EF4-FFF2-40B4-BE49-F238E27FC236}">
                <a16:creationId xmlns:a16="http://schemas.microsoft.com/office/drawing/2014/main" id="{EEF1B7F0-94E6-43DB-8D35-9C57D0560DA7}"/>
              </a:ext>
            </a:extLst>
          </p:cNvPr>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a:extLst>
              <a:ext uri="{FF2B5EF4-FFF2-40B4-BE49-F238E27FC236}">
                <a16:creationId xmlns:a16="http://schemas.microsoft.com/office/drawing/2014/main" id="{25E9A770-3A55-491C-9595-CF0B5C3906D9}"/>
              </a:ext>
            </a:extLst>
          </p:cNvPr>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5" name="Rectangle 7">
            <a:extLst>
              <a:ext uri="{FF2B5EF4-FFF2-40B4-BE49-F238E27FC236}">
                <a16:creationId xmlns:a16="http://schemas.microsoft.com/office/drawing/2014/main" id="{69BB7F6A-81AD-4938-85C2-A3A2F78914E2}"/>
              </a:ext>
            </a:extLst>
          </p:cNvPr>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4F5CB795-A2B3-4CCA-90EA-0E4A546E56C4}"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a:extLst>
              <a:ext uri="{FF2B5EF4-FFF2-40B4-BE49-F238E27FC236}">
                <a16:creationId xmlns:a16="http://schemas.microsoft.com/office/drawing/2014/main" id="{A31497DD-3978-40B3-803A-97B0CC9E4CC8}"/>
              </a:ext>
            </a:extLst>
          </p:cNvPr>
          <p:cNvSpPr>
            <a:spLocks noGrp="1" noRot="1" noChangeAspect="1" noChangeArrowheads="1" noTextEdit="1"/>
          </p:cNvSpPr>
          <p:nvPr>
            <p:ph type="sldImg"/>
          </p:nvPr>
        </p:nvSpPr>
        <p:spPr>
          <a:ln/>
        </p:spPr>
      </p:sp>
      <p:sp>
        <p:nvSpPr>
          <p:cNvPr id="432131" name="Rectangle 3">
            <a:extLst>
              <a:ext uri="{FF2B5EF4-FFF2-40B4-BE49-F238E27FC236}">
                <a16:creationId xmlns:a16="http://schemas.microsoft.com/office/drawing/2014/main" id="{AE410E93-D1A4-4C2A-916C-F3839B3C931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 typeface="Arial" panose="020B0604020202020204" pitchFamily="34" charset="0"/>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marL="108000" indent="-108000">
              <a:spcBef>
                <a:spcPts val="300"/>
              </a:spcBef>
            </a:pPr>
            <a:endParaRPr lang="en-GB" altLang="en-US" sz="1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B606156A-889B-4ED1-B5E3-E8350CA4767F}"/>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51A4CC18-E19D-434D-B2FB-9774FD5E4C4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Pressure solution as a deformation process is described in the optional PowerPoint presentation on Rock Deformation Mechanisms, pure shear was described in Class 3 (Strain), and buckling in Class 2 (How Folds Form). In a crude sense, one may think of the first three shortening mechanisms simply as ways of accommodating movement on thrust faults. From this perspective, when one sees a fold the question to ask is ‘Where is the fault that led to its formation?’ If you start to think along these lines whenever you are looking at structures in the field, you will automatically find yourself a long way down the path of integrating the structures with the regional geology</a:t>
            </a:r>
          </a:p>
          <a:p>
            <a:pPr marL="108000" indent="-108000">
              <a:spcBef>
                <a:spcPts val="300"/>
              </a:spcBef>
              <a:buFont typeface="Arial" panose="020B0604020202020204" pitchFamily="34" charset="0"/>
              <a:buChar char="•"/>
            </a:pPr>
            <a:r>
              <a:rPr lang="en-GB" altLang="en-US" sz="1000" dirty="0"/>
              <a:t>Figure right from Fossen, p.356</a:t>
            </a:r>
          </a:p>
          <a:p>
            <a:pPr marL="108000" indent="-108000">
              <a:spcBef>
                <a:spcPts val="300"/>
              </a:spcBef>
              <a:buFont typeface="Arial" panose="020B0604020202020204" pitchFamily="34" charset="0"/>
              <a:buChar char="•"/>
            </a:pPr>
            <a:r>
              <a:rPr lang="en-GB" altLang="en-US" sz="1000" dirty="0"/>
              <a:t>Photo (Steve Covey-Crump): a Devonian sandstone unit that has been shortened by the formation of thrusts, St. Brides Haven, St. Brides, Pembrokeshire. Note the associated fault-bend folding (fault-bend folds are described on Slide 31)</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a:extLst>
              <a:ext uri="{FF2B5EF4-FFF2-40B4-BE49-F238E27FC236}">
                <a16:creationId xmlns:a16="http://schemas.microsoft.com/office/drawing/2014/main" id="{2680E5E7-CB73-4444-BE4C-33195599BD5F}"/>
              </a:ext>
            </a:extLst>
          </p:cNvPr>
          <p:cNvSpPr>
            <a:spLocks noGrp="1" noRot="1" noChangeAspect="1" noChangeArrowheads="1" noTextEdit="1"/>
          </p:cNvSpPr>
          <p:nvPr>
            <p:ph type="sldImg"/>
          </p:nvPr>
        </p:nvSpPr>
        <p:spPr>
          <a:ln/>
        </p:spPr>
      </p:sp>
      <p:sp>
        <p:nvSpPr>
          <p:cNvPr id="244739" name="Rectangle 3">
            <a:extLst>
              <a:ext uri="{FF2B5EF4-FFF2-40B4-BE49-F238E27FC236}">
                <a16:creationId xmlns:a16="http://schemas.microsoft.com/office/drawing/2014/main" id="{F682B7C4-F0DF-49CF-8DAC-4554BF31DA7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Fossen, p.362) showing a simplified cross-section across the Alpine orogenic belt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04C78A28-467B-4BBB-B8DB-A2595301A185}"/>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5671BE71-1927-4DFB-83C7-73956919358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solidFill>
                  <a:schemeClr val="bg2"/>
                </a:solidFill>
              </a:rPr>
              <a:t>When orogenic belts were re-analysed in this way it was frequently found that the existing geological maps were of such high quality that the maps themselves needed no modification – only the structural interpretation changed (Bailey’s map of the Loch Leven area that those going on the Easter field course will visit is a case in point). This provides a reminder of the importance of separating data (results) from interpretation</a:t>
            </a:r>
          </a:p>
          <a:p>
            <a:pPr marL="108000" indent="-108000">
              <a:spcBef>
                <a:spcPts val="300"/>
              </a:spcBef>
              <a:buFont typeface="Arial" panose="020B0604020202020204" pitchFamily="34" charset="0"/>
              <a:buChar char="•"/>
            </a:pPr>
            <a:r>
              <a:rPr lang="en-GB" altLang="en-US" sz="1000" dirty="0">
                <a:solidFill>
                  <a:schemeClr val="bg2"/>
                </a:solidFill>
              </a:rPr>
              <a:t>Figure top from </a:t>
            </a:r>
            <a:r>
              <a:rPr lang="en-GB" altLang="en-US" sz="1000" dirty="0" err="1">
                <a:solidFill>
                  <a:schemeClr val="bg2"/>
                </a:solidFill>
              </a:rPr>
              <a:t>Poblet</a:t>
            </a:r>
            <a:r>
              <a:rPr lang="en-GB" altLang="en-US" sz="1000" dirty="0">
                <a:solidFill>
                  <a:schemeClr val="bg2"/>
                </a:solidFill>
              </a:rPr>
              <a:t> &amp; Lisle, 2011, </a:t>
            </a:r>
            <a:r>
              <a:rPr lang="en-GB" altLang="en-US" sz="1000" i="1" dirty="0">
                <a:solidFill>
                  <a:schemeClr val="bg2"/>
                </a:solidFill>
              </a:rPr>
              <a:t>Geological Society, London, Special Publications</a:t>
            </a:r>
            <a:r>
              <a:rPr lang="en-GB" altLang="en-US" sz="1000" dirty="0">
                <a:solidFill>
                  <a:schemeClr val="bg2"/>
                </a:solidFill>
              </a:rPr>
              <a:t> 349: 1-24, </a:t>
            </a:r>
            <a:r>
              <a:rPr lang="en-GB" sz="1000" dirty="0">
                <a:solidFill>
                  <a:schemeClr val="bg2"/>
                </a:solidFill>
              </a:rPr>
              <a:t>https://doi.org/10.1144/SP349.1</a:t>
            </a:r>
            <a:endParaRPr lang="en-GB" altLang="en-US" sz="1000" dirty="0">
              <a:solidFill>
                <a:schemeClr val="bg2"/>
              </a:solidFill>
            </a:endParaRPr>
          </a:p>
          <a:p>
            <a:pPr marL="108000" indent="-108000">
              <a:spcBef>
                <a:spcPts val="300"/>
              </a:spcBef>
              <a:buFont typeface="Arial" panose="020B0604020202020204" pitchFamily="34" charset="0"/>
              <a:buChar char="•"/>
            </a:pPr>
            <a:r>
              <a:rPr lang="en-GB" altLang="en-US" sz="1000" dirty="0">
                <a:solidFill>
                  <a:schemeClr val="bg2"/>
                </a:solidFill>
              </a:rPr>
              <a:t>Figure bottom from </a:t>
            </a:r>
            <a:r>
              <a:rPr lang="en-GB" altLang="en-US" sz="1000" dirty="0" err="1">
                <a:solidFill>
                  <a:schemeClr val="bg2"/>
                </a:solidFill>
              </a:rPr>
              <a:t>Duerto</a:t>
            </a:r>
            <a:r>
              <a:rPr lang="en-GB" altLang="en-US" sz="1000" dirty="0">
                <a:solidFill>
                  <a:schemeClr val="bg2"/>
                </a:solidFill>
              </a:rPr>
              <a:t> &amp; McClay, 2009, </a:t>
            </a:r>
            <a:r>
              <a:rPr lang="en-GB" altLang="en-US" sz="1000" i="1" dirty="0">
                <a:solidFill>
                  <a:schemeClr val="bg2"/>
                </a:solidFill>
              </a:rPr>
              <a:t>Marine and Petroleum Geology</a:t>
            </a:r>
            <a:r>
              <a:rPr lang="en-GB" altLang="en-US" sz="1000" dirty="0">
                <a:solidFill>
                  <a:schemeClr val="bg2"/>
                </a:solidFill>
              </a:rPr>
              <a:t> 26: 1051-1069, </a:t>
            </a:r>
            <a:r>
              <a:rPr lang="en-GB" sz="1000" dirty="0">
                <a:solidFill>
                  <a:schemeClr val="bg2"/>
                </a:solidFill>
              </a:rPr>
              <a:t>https://doi.org/10.1016/j.marpetgeo.2008.07.004</a:t>
            </a:r>
            <a:endParaRPr lang="en-GB" altLang="en-US" sz="1000" dirty="0">
              <a:solidFill>
                <a:schemeClr val="bg2"/>
              </a:solidFill>
            </a:endParaRPr>
          </a:p>
          <a:p>
            <a:pPr marL="0" indent="0">
              <a:spcBef>
                <a:spcPts val="300"/>
              </a:spcBef>
              <a:buFont typeface="Arial" panose="020B0604020202020204" pitchFamily="34" charset="0"/>
              <a:buNone/>
            </a:pPr>
            <a:endParaRPr lang="en-GB" altLang="en-US" sz="1000" dirty="0">
              <a:solidFill>
                <a:schemeClr val="bg2"/>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a:extLst>
              <a:ext uri="{FF2B5EF4-FFF2-40B4-BE49-F238E27FC236}">
                <a16:creationId xmlns:a16="http://schemas.microsoft.com/office/drawing/2014/main" id="{8374A064-A295-402E-9CDB-5C8D5E983694}"/>
              </a:ext>
            </a:extLst>
          </p:cNvPr>
          <p:cNvSpPr>
            <a:spLocks noGrp="1" noRot="1" noChangeAspect="1" noChangeArrowheads="1" noTextEdit="1"/>
          </p:cNvSpPr>
          <p:nvPr>
            <p:ph type="sldImg"/>
          </p:nvPr>
        </p:nvSpPr>
        <p:spPr>
          <a:ln/>
        </p:spPr>
      </p:sp>
      <p:sp>
        <p:nvSpPr>
          <p:cNvPr id="399363" name="Rectangle 3">
            <a:extLst>
              <a:ext uri="{FF2B5EF4-FFF2-40B4-BE49-F238E27FC236}">
                <a16:creationId xmlns:a16="http://schemas.microsoft.com/office/drawing/2014/main" id="{2703E9B4-9D3E-4127-8350-AB15B840729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Evans &amp; Elliott, 1999, </a:t>
            </a:r>
            <a:r>
              <a:rPr lang="en-GB" altLang="en-US" sz="1000" i="1" dirty="0"/>
              <a:t>Geological Society of America Bulletin</a:t>
            </a:r>
            <a:r>
              <a:rPr lang="en-GB" altLang="en-US" sz="1000" dirty="0"/>
              <a:t> 111: 1617-1643, </a:t>
            </a:r>
            <a:r>
              <a:rPr lang="en-GB" sz="1000" dirty="0"/>
              <a:t>https://doi.org/10.1130/0016-7606(1999)111&lt;1617:EOATST&gt;2.3.CO;2</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F90909CC-4848-416A-A255-0417E1D4A3E6}"/>
              </a:ext>
            </a:extLst>
          </p:cNvPr>
          <p:cNvSpPr>
            <a:spLocks noGrp="1" noRot="1" noChangeAspect="1" noChangeArrowheads="1" noTextEdit="1"/>
          </p:cNvSpPr>
          <p:nvPr>
            <p:ph type="sldImg"/>
          </p:nvPr>
        </p:nvSpPr>
        <p:spPr>
          <a:ln/>
        </p:spPr>
      </p:sp>
      <p:sp>
        <p:nvSpPr>
          <p:cNvPr id="398339" name="Rectangle 3">
            <a:extLst>
              <a:ext uri="{FF2B5EF4-FFF2-40B4-BE49-F238E27FC236}">
                <a16:creationId xmlns:a16="http://schemas.microsoft.com/office/drawing/2014/main" id="{72327804-0EE3-4051-91D5-676CA74BDF2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Map and section from </a:t>
            </a:r>
            <a:r>
              <a:rPr lang="en-GB" altLang="en-US" sz="1000" dirty="0" err="1"/>
              <a:t>Poblet</a:t>
            </a:r>
            <a:r>
              <a:rPr lang="en-GB" altLang="en-US" sz="1000" dirty="0"/>
              <a:t> &amp; Lisle, 2011, </a:t>
            </a:r>
            <a:r>
              <a:rPr lang="en-GB" altLang="en-US" sz="1000" i="1" dirty="0"/>
              <a:t>Geological Society, London, Special Publications</a:t>
            </a:r>
            <a:r>
              <a:rPr lang="en-GB" altLang="en-US" sz="1000" dirty="0"/>
              <a:t> 349: 1-24,</a:t>
            </a:r>
            <a:r>
              <a:rPr lang="en-GB" altLang="en-US" sz="1000" dirty="0">
                <a:solidFill>
                  <a:schemeClr val="bg2"/>
                </a:solidFill>
              </a:rPr>
              <a:t> </a:t>
            </a:r>
            <a:r>
              <a:rPr lang="en-GB" sz="1000" dirty="0">
                <a:solidFill>
                  <a:schemeClr val="bg2"/>
                </a:solidFill>
              </a:rPr>
              <a:t>https://doi.org/10.1144/SP349.1</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1BF5CBA3-9EA6-4E5F-A63D-97F517942418}"/>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47006803-E7EE-42E9-8C14-B59333C5F1F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 beautifully illustrated description of thrust-related, soft-sediment deformation is given by Alsop &amp; Marco, 2011, </a:t>
            </a:r>
            <a:r>
              <a:rPr lang="en-GB" altLang="en-US" sz="1000" i="1" dirty="0"/>
              <a:t>Journal of Structural Geology </a:t>
            </a:r>
            <a:r>
              <a:rPr lang="en-GB" altLang="en-US" sz="1000" dirty="0"/>
              <a:t>33: 433-457, </a:t>
            </a:r>
            <a:r>
              <a:rPr lang="en-GB" sz="1000" dirty="0"/>
              <a:t>https://doi.org/10.1016/j.jsg.2011.02.003</a:t>
            </a:r>
            <a:r>
              <a:rPr lang="en-GB" altLang="en-US" sz="1000" dirty="0"/>
              <a:t>. Detailed comparisons of the geometry of thrust-related structures in unlithified and lithified successions are given by Alsop </a:t>
            </a:r>
            <a:r>
              <a:rPr lang="en-GB" altLang="en-US" sz="1000" i="1" dirty="0"/>
              <a:t>et al.</a:t>
            </a:r>
            <a:r>
              <a:rPr lang="en-GB" altLang="en-US" sz="1000" dirty="0"/>
              <a:t>, 2017, </a:t>
            </a:r>
            <a:r>
              <a:rPr lang="en-GB" altLang="en-US" sz="1000" i="1" dirty="0"/>
              <a:t>Journal of Structural Geology</a:t>
            </a:r>
            <a:r>
              <a:rPr lang="en-GB" altLang="en-US" sz="1000" dirty="0"/>
              <a:t> 94: 98-115, </a:t>
            </a:r>
            <a:r>
              <a:rPr lang="en-GB" sz="1000" dirty="0"/>
              <a:t>https://doi.org/10.1016/j.jsg.2016.11.008</a:t>
            </a:r>
            <a:endParaRPr lang="en-GB" altLang="en-US" sz="1000" dirty="0"/>
          </a:p>
          <a:p>
            <a:pPr marL="108000" indent="-108000">
              <a:spcBef>
                <a:spcPts val="300"/>
              </a:spcBef>
              <a:buFont typeface="Arial" panose="020B0604020202020204" pitchFamily="34" charset="0"/>
              <a:buChar char="•"/>
            </a:pPr>
            <a:r>
              <a:rPr lang="en-GB" altLang="en-US" sz="1000" dirty="0"/>
              <a:t>Many other contractional scenarios, such as the deformation around the margins of diapiric structures or in fault bends, could be added here. Examples could be given down to the scale of the thin section</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 top left (from </a:t>
            </a:r>
            <a:r>
              <a:rPr lang="en-GB" altLang="en-US" sz="1000" dirty="0" err="1"/>
              <a:t>Poblet</a:t>
            </a:r>
            <a:r>
              <a:rPr lang="en-GB" altLang="en-US" sz="1000" dirty="0"/>
              <a:t> &amp; Lisle, 2011, </a:t>
            </a:r>
            <a:r>
              <a:rPr lang="en-GB" altLang="en-US" sz="1000" i="1" dirty="0"/>
              <a:t>Geological Society, London, Special Publications</a:t>
            </a:r>
            <a:r>
              <a:rPr lang="en-GB" altLang="en-US" sz="1000" dirty="0"/>
              <a:t> 349: 1-24, </a:t>
            </a:r>
            <a:r>
              <a:rPr lang="en-GB" sz="1000" dirty="0">
                <a:solidFill>
                  <a:schemeClr val="bg2"/>
                </a:solidFill>
              </a:rPr>
              <a:t>https://doi.org/10.1144/SP349.1,</a:t>
            </a:r>
            <a:r>
              <a:rPr lang="en-GB" altLang="en-US" sz="1000" dirty="0"/>
              <a:t> but deriving from McClay </a:t>
            </a:r>
            <a:r>
              <a:rPr lang="en-GB" altLang="en-US" sz="1000" i="1" dirty="0"/>
              <a:t>et al</a:t>
            </a:r>
            <a:r>
              <a:rPr lang="en-GB" altLang="en-US" sz="1000" dirty="0"/>
              <a:t>., 2000, </a:t>
            </a:r>
            <a:r>
              <a:rPr lang="en-GB" altLang="en-US" sz="1000" i="1" dirty="0"/>
              <a:t>American Association of Petroleum Geologists Bulletin </a:t>
            </a:r>
            <a:r>
              <a:rPr lang="en-GB" altLang="en-US" sz="1000" dirty="0"/>
              <a:t>84: 765-786, </a:t>
            </a:r>
            <a:r>
              <a:rPr lang="en-GB" sz="1000" dirty="0"/>
              <a:t>https://doi.org/10.1306/A96733EC-1738-11D7-8645000102C1865D</a:t>
            </a:r>
            <a:r>
              <a:rPr lang="en-GB" altLang="en-US" sz="1000" dirty="0"/>
              <a:t>): experimental sand-box model designed to simulate deformation within a delta system that is </a:t>
            </a:r>
            <a:r>
              <a:rPr lang="en-GB" altLang="en-US" sz="1000" dirty="0" err="1"/>
              <a:t>prograding</a:t>
            </a:r>
            <a:r>
              <a:rPr lang="en-GB" altLang="en-US" sz="1000" dirty="0"/>
              <a:t> over a mobile substrate. The weight of the sediments on top of the mobile substrate (in the real world, typically, over-pressured mudstones) drives folding and thrusting in the toe of the delta. The Niger delta is a particularly well-documented example. For further details, see McClay </a:t>
            </a:r>
            <a:r>
              <a:rPr lang="en-GB" altLang="en-US" sz="1000" i="1" dirty="0"/>
              <a:t>et al.</a:t>
            </a:r>
            <a:r>
              <a:rPr lang="en-GB" altLang="en-US" sz="1000" dirty="0"/>
              <a:t>, 2003, </a:t>
            </a:r>
            <a:r>
              <a:rPr lang="en-GB" altLang="en-US" sz="1000" i="1" dirty="0"/>
              <a:t>Geological Society of London Special Publications</a:t>
            </a:r>
            <a:r>
              <a:rPr lang="en-GB" altLang="en-US" sz="1000" dirty="0"/>
              <a:t> 216: 411-428, </a:t>
            </a:r>
            <a:r>
              <a:rPr lang="en-GB" sz="1000" dirty="0"/>
              <a:t>https://doi.org/10.1144/GSL.SP.2003.216.01.27</a:t>
            </a:r>
            <a:endParaRPr lang="en-GB" altLang="en-US" sz="1000" dirty="0"/>
          </a:p>
          <a:p>
            <a:pPr marL="108000" indent="-108000">
              <a:spcBef>
                <a:spcPts val="300"/>
              </a:spcBef>
              <a:buFont typeface="Arial" panose="020B0604020202020204" pitchFamily="34" charset="0"/>
              <a:buChar char="•"/>
            </a:pPr>
            <a:r>
              <a:rPr lang="en-GB" altLang="en-US" sz="1000" dirty="0"/>
              <a:t>Figure top right from Alsop &amp; Marco, 2011, </a:t>
            </a:r>
            <a:r>
              <a:rPr lang="en-GB" altLang="en-US" sz="1000" i="1" dirty="0"/>
              <a:t>Journal of Structural Geology </a:t>
            </a:r>
            <a:r>
              <a:rPr lang="en-GB" altLang="en-US" sz="1000" dirty="0"/>
              <a:t>33: 433-457, </a:t>
            </a:r>
            <a:r>
              <a:rPr lang="en-GB" sz="1000" dirty="0"/>
              <a:t>https://doi.org/10.1016/j.jsg.2011.02.003</a:t>
            </a:r>
            <a:endParaRPr lang="en-GB" altLang="en-US" sz="1000" dirty="0"/>
          </a:p>
          <a:p>
            <a:pPr marL="108000" indent="-108000">
              <a:spcBef>
                <a:spcPts val="300"/>
              </a:spcBef>
              <a:buFont typeface="Arial" panose="020B0604020202020204" pitchFamily="34" charset="0"/>
              <a:buChar char="•"/>
            </a:pPr>
            <a:r>
              <a:rPr lang="en-GB" altLang="en-US" sz="1000" dirty="0"/>
              <a:t>Photo bottom right (from Alsop &amp; Marco, 2011, </a:t>
            </a:r>
            <a:r>
              <a:rPr lang="en-GB" altLang="en-US" sz="1000" i="1" dirty="0"/>
              <a:t>Journal of Structural Geology </a:t>
            </a:r>
            <a:r>
              <a:rPr lang="en-GB" altLang="en-US" sz="1000" dirty="0"/>
              <a:t>33: 433-457, </a:t>
            </a:r>
            <a:r>
              <a:rPr lang="en-GB" sz="1000" dirty="0"/>
              <a:t>https://doi.org/10.1016/j.jsg.2011.02.003</a:t>
            </a:r>
            <a:r>
              <a:rPr lang="en-GB" altLang="en-US" sz="1000" dirty="0"/>
              <a:t>): </a:t>
            </a:r>
            <a:r>
              <a:rPr lang="en-GB" altLang="en-US" sz="1000" dirty="0" err="1"/>
              <a:t>seismogenic</a:t>
            </a:r>
            <a:r>
              <a:rPr lang="en-GB" altLang="en-US" sz="1000" dirty="0"/>
              <a:t> slumps in the Dead Sea basin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a:extLst>
              <a:ext uri="{FF2B5EF4-FFF2-40B4-BE49-F238E27FC236}">
                <a16:creationId xmlns:a16="http://schemas.microsoft.com/office/drawing/2014/main" id="{2483761F-2FE3-4232-BE51-071A446506E5}"/>
              </a:ext>
            </a:extLst>
          </p:cNvPr>
          <p:cNvSpPr>
            <a:spLocks noGrp="1" noRot="1" noChangeAspect="1" noChangeArrowheads="1" noTextEdit="1"/>
          </p:cNvSpPr>
          <p:nvPr>
            <p:ph type="sldImg"/>
          </p:nvPr>
        </p:nvSpPr>
        <p:spPr>
          <a:ln/>
        </p:spPr>
      </p:sp>
      <p:sp>
        <p:nvSpPr>
          <p:cNvPr id="423939" name="Rectangle 3">
            <a:extLst>
              <a:ext uri="{FF2B5EF4-FFF2-40B4-BE49-F238E27FC236}">
                <a16:creationId xmlns:a16="http://schemas.microsoft.com/office/drawing/2014/main" id="{7D1AB583-FFA6-424B-BBBE-35216E500FA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discussion of lunar wrinkle ridges within mare interiors, see Solomon &amp; Head, 1980, </a:t>
            </a:r>
            <a:r>
              <a:rPr lang="en-GB" altLang="en-US" sz="1000" i="1" dirty="0"/>
              <a:t>Reviews in Geophysics </a:t>
            </a:r>
            <a:r>
              <a:rPr lang="en-GB" altLang="en-US" sz="1000" dirty="0"/>
              <a:t>18: 107-141, </a:t>
            </a:r>
            <a:r>
              <a:rPr lang="en-GB" sz="1000" dirty="0"/>
              <a:t>https://doi.org/10.1029/RG018i001p00107</a:t>
            </a:r>
            <a:r>
              <a:rPr lang="en-GB" altLang="en-US" sz="1000" dirty="0"/>
              <a:t>. The interpretation of how they form has some complexity in the details – see Freed </a:t>
            </a:r>
            <a:r>
              <a:rPr lang="en-GB" altLang="en-US" sz="1000" i="1" dirty="0"/>
              <a:t>et al.</a:t>
            </a:r>
            <a:r>
              <a:rPr lang="en-GB" altLang="en-US" sz="1000" dirty="0"/>
              <a:t>, 2001, </a:t>
            </a:r>
            <a:r>
              <a:rPr lang="en-GB" altLang="en-US" sz="1000" i="1" dirty="0"/>
              <a:t>Journal of Geophysical Research</a:t>
            </a:r>
            <a:r>
              <a:rPr lang="en-GB" altLang="en-US" sz="1000" dirty="0"/>
              <a:t> 106: 20603-20620, </a:t>
            </a:r>
            <a:r>
              <a:rPr lang="en-GB" sz="1000" dirty="0"/>
              <a:t>https://doi.org/10.1029/2000JE001347</a:t>
            </a:r>
            <a:r>
              <a:rPr lang="en-GB" altLang="en-US" sz="1000" dirty="0"/>
              <a:t>. For a detailed account, see Watters &amp; Schultz (editors), 2010, </a:t>
            </a:r>
            <a:r>
              <a:rPr lang="en-GB" altLang="en-US" sz="1000" i="1" dirty="0"/>
              <a:t>Planetary Tectonics</a:t>
            </a:r>
            <a:r>
              <a:rPr lang="en-GB" altLang="en-US" sz="1000" dirty="0"/>
              <a:t>, Chapter 4. For an example of the analysis of lunar wrinkle ridges, and in particular of the relationship between the maximum height of these ridges and their length, see Li </a:t>
            </a:r>
            <a:r>
              <a:rPr lang="en-GB" altLang="en-US" sz="1000" i="1" dirty="0"/>
              <a:t>et al.</a:t>
            </a:r>
            <a:r>
              <a:rPr lang="en-GB" altLang="en-US" sz="1000" i="0" dirty="0"/>
              <a:t>, 2018, </a:t>
            </a:r>
            <a:r>
              <a:rPr lang="en-GB" altLang="en-US" sz="1000" i="1" dirty="0"/>
              <a:t>Journal of Structural Geology</a:t>
            </a:r>
            <a:r>
              <a:rPr lang="en-GB" altLang="en-US" sz="1000" i="0" dirty="0"/>
              <a:t> 109: 27-37, </a:t>
            </a:r>
            <a:r>
              <a:rPr lang="en-GB" sz="1000" dirty="0"/>
              <a:t>https://doi.org/10.1016/j.jsg.2018.01.003</a:t>
            </a:r>
            <a:r>
              <a:rPr lang="en-GB" altLang="en-US" sz="1000" i="0" dirty="0"/>
              <a:t> – that study makes use of the kind of fault displacement vs. length relationships that were noted in Class 7 Slide 38</a:t>
            </a:r>
            <a:endParaRPr lang="en-GB" altLang="en-US" sz="1000" dirty="0"/>
          </a:p>
          <a:p>
            <a:pPr marL="108000" indent="-108000">
              <a:spcBef>
                <a:spcPts val="300"/>
              </a:spcBef>
              <a:buFont typeface="Arial" panose="020B0604020202020204" pitchFamily="34" charset="0"/>
              <a:buChar char="•"/>
            </a:pPr>
            <a:r>
              <a:rPr lang="en-GB" altLang="en-US" sz="1000" dirty="0"/>
              <a:t>Image top right (from www.lpi.usra.edu/resources/apollo/frame/?AS17-M-0451): Apollo 17 image of the south-eastern part of Mare Serenitatis showing wrinkle ridges and </a:t>
            </a:r>
            <a:r>
              <a:rPr lang="en-GB" altLang="en-US" sz="1000" dirty="0" err="1"/>
              <a:t>rilles</a:t>
            </a:r>
            <a:endParaRPr lang="en-GB" altLang="en-US" sz="1000" dirty="0"/>
          </a:p>
          <a:p>
            <a:pPr marL="108000" indent="-108000">
              <a:spcBef>
                <a:spcPts val="300"/>
              </a:spcBef>
              <a:buFont typeface="Arial" panose="020B0604020202020204" pitchFamily="34" charset="0"/>
              <a:buChar char="•"/>
            </a:pPr>
            <a:r>
              <a:rPr lang="en-GB" altLang="en-US" sz="1000" dirty="0"/>
              <a:t>Figure left (from </a:t>
            </a:r>
            <a:r>
              <a:rPr lang="en-GB" altLang="en-US" sz="1000" dirty="0" err="1"/>
              <a:t>Yamaji</a:t>
            </a:r>
            <a:r>
              <a:rPr lang="en-GB" altLang="en-US" sz="1000" dirty="0"/>
              <a:t>, 2007, </a:t>
            </a:r>
            <a:r>
              <a:rPr lang="en-GB" altLang="en-US" sz="1000" i="1" dirty="0"/>
              <a:t>An Introduction to Tectonophysics: Theoretical Aspects of Structural Geology</a:t>
            </a:r>
            <a:r>
              <a:rPr lang="en-GB" altLang="en-US" sz="1000" dirty="0"/>
              <a:t>, p.201): map of the whole of Mare Serenitatis showing the distribution of wrinkle ridges and </a:t>
            </a:r>
            <a:r>
              <a:rPr lang="en-GB" altLang="en-US" sz="1000" dirty="0" err="1"/>
              <a:t>rilles</a:t>
            </a:r>
            <a:endParaRPr lang="en-GB" altLang="en-US" sz="1000" dirty="0"/>
          </a:p>
          <a:p>
            <a:pPr marL="108000" indent="-108000">
              <a:spcBef>
                <a:spcPts val="300"/>
              </a:spcBef>
              <a:buFont typeface="Arial" panose="020B0604020202020204" pitchFamily="34" charset="0"/>
              <a:buChar char="•"/>
            </a:pPr>
            <a:r>
              <a:rPr lang="en-GB" altLang="en-US" sz="1000" dirty="0"/>
              <a:t>Figure right (by </a:t>
            </a:r>
            <a:r>
              <a:rPr lang="en-GB" altLang="en-US" sz="1000" dirty="0" err="1"/>
              <a:t>Hiesinger</a:t>
            </a:r>
            <a:r>
              <a:rPr lang="en-GB" altLang="en-US" sz="1000" dirty="0"/>
              <a:t> – http://www.nasa.gov/mission_pages/LRO/news/lro-20100428-tranquilitatis.html): schematic diagram showing the marginal tensile stresses and interior compressive stresses that are set up during flexural subsidence of lunar crust under the weight of a composite mare basalt sequence (units I, II, III)</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a:extLst>
              <a:ext uri="{FF2B5EF4-FFF2-40B4-BE49-F238E27FC236}">
                <a16:creationId xmlns:a16="http://schemas.microsoft.com/office/drawing/2014/main" id="{380522A5-5C1E-46F6-9307-73ABF36706FA}"/>
              </a:ext>
            </a:extLst>
          </p:cNvPr>
          <p:cNvSpPr>
            <a:spLocks noGrp="1" noRot="1" noChangeAspect="1" noChangeArrowheads="1" noTextEdit="1"/>
          </p:cNvSpPr>
          <p:nvPr>
            <p:ph type="sldImg"/>
          </p:nvPr>
        </p:nvSpPr>
        <p:spPr>
          <a:ln/>
        </p:spPr>
      </p:sp>
      <p:sp>
        <p:nvSpPr>
          <p:cNvPr id="425987" name="Rectangle 3">
            <a:extLst>
              <a:ext uri="{FF2B5EF4-FFF2-40B4-BE49-F238E27FC236}">
                <a16:creationId xmlns:a16="http://schemas.microsoft.com/office/drawing/2014/main" id="{47701B7C-829E-4649-8274-F3C5949899E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features produced by global contraction, see: Mercury – Watters </a:t>
            </a:r>
            <a:r>
              <a:rPr lang="en-GB" altLang="en-US" sz="1000" i="1" dirty="0"/>
              <a:t>et al</a:t>
            </a:r>
            <a:r>
              <a:rPr lang="en-GB" altLang="en-US" sz="1000" dirty="0"/>
              <a:t>., 2009, </a:t>
            </a:r>
            <a:r>
              <a:rPr lang="en-GB" altLang="en-US" sz="1000" i="1" dirty="0"/>
              <a:t>Earth &amp; Planetary Science Letters</a:t>
            </a:r>
            <a:r>
              <a:rPr lang="en-GB" altLang="en-US" sz="1000" dirty="0"/>
              <a:t> 285: 309-319, </a:t>
            </a:r>
            <a:r>
              <a:rPr lang="en-GB" sz="1000" dirty="0"/>
              <a:t>https://doi.org/10.1016/j.epsl.2009.03.040</a:t>
            </a:r>
            <a:r>
              <a:rPr lang="en-GB" altLang="en-US" sz="1000" dirty="0"/>
              <a:t>; Moon – Watters </a:t>
            </a:r>
            <a:r>
              <a:rPr lang="en-GB" altLang="en-US" sz="1000" i="1" dirty="0"/>
              <a:t>et al</a:t>
            </a:r>
            <a:r>
              <a:rPr lang="en-GB" altLang="en-US" sz="1000" dirty="0"/>
              <a:t>., 2010, </a:t>
            </a:r>
            <a:r>
              <a:rPr lang="en-GB" altLang="en-US" sz="1000" i="1" dirty="0"/>
              <a:t>Science</a:t>
            </a:r>
            <a:r>
              <a:rPr lang="en-GB" altLang="en-US" sz="1000" dirty="0"/>
              <a:t> 329: 936-940, </a:t>
            </a:r>
            <a:r>
              <a:rPr lang="en-GB" sz="1000" dirty="0"/>
              <a:t>https://doi.org/10.1126/science.1189590</a:t>
            </a:r>
            <a:r>
              <a:rPr lang="en-GB" altLang="en-US" sz="1000" dirty="0"/>
              <a:t>; Mars – </a:t>
            </a:r>
            <a:r>
              <a:rPr lang="en-GB" altLang="en-US" sz="1000" dirty="0" err="1"/>
              <a:t>Nahm</a:t>
            </a:r>
            <a:r>
              <a:rPr lang="en-GB" altLang="en-US" sz="1000" dirty="0"/>
              <a:t> &amp; Schultz, 2011, </a:t>
            </a:r>
            <a:r>
              <a:rPr lang="en-GB" altLang="en-US" sz="1000" i="1" dirty="0"/>
              <a:t>Icarus</a:t>
            </a:r>
            <a:r>
              <a:rPr lang="en-GB" altLang="en-US" sz="1000" dirty="0"/>
              <a:t> 211: 389-400, </a:t>
            </a:r>
            <a:r>
              <a:rPr lang="en-GB" sz="1000" dirty="0"/>
              <a:t>https://doi.org/10.1016/j.icarus.2010.11.003</a:t>
            </a:r>
            <a:endParaRPr lang="en-GB" altLang="en-US" sz="1000" dirty="0"/>
          </a:p>
          <a:p>
            <a:pPr marL="108000" indent="-108000">
              <a:spcBef>
                <a:spcPts val="300"/>
              </a:spcBef>
              <a:buFont typeface="Arial" panose="020B0604020202020204" pitchFamily="34" charset="0"/>
              <a:buChar char="•"/>
            </a:pPr>
            <a:r>
              <a:rPr lang="en-GB" altLang="en-US" sz="1000" dirty="0"/>
              <a:t>For fault analyses of these contractional features, see Schultz, 2000, </a:t>
            </a:r>
            <a:r>
              <a:rPr lang="en-GB" altLang="en-US" sz="1000" i="1" dirty="0"/>
              <a:t>Journal of Geophysical Research </a:t>
            </a:r>
            <a:r>
              <a:rPr lang="en-GB" altLang="en-US" sz="1000" dirty="0"/>
              <a:t>105: 12035-12052, </a:t>
            </a:r>
            <a:r>
              <a:rPr lang="en-GB" sz="1000" dirty="0"/>
              <a:t>https://doi.org/10.1029/1999JE001212</a:t>
            </a:r>
            <a:r>
              <a:rPr lang="en-GB" altLang="en-US" sz="1000" dirty="0"/>
              <a:t>; </a:t>
            </a:r>
            <a:r>
              <a:rPr lang="en-GB" altLang="en-US" sz="1000" dirty="0" err="1"/>
              <a:t>Galluzzi</a:t>
            </a:r>
            <a:r>
              <a:rPr lang="en-GB" altLang="en-US" sz="1000" dirty="0"/>
              <a:t> </a:t>
            </a:r>
            <a:r>
              <a:rPr lang="en-GB" altLang="en-US" sz="1000" i="1" dirty="0"/>
              <a:t>et al.</a:t>
            </a:r>
            <a:r>
              <a:rPr lang="en-GB" altLang="en-US" sz="1000" dirty="0"/>
              <a:t>, 2015, </a:t>
            </a:r>
            <a:r>
              <a:rPr lang="en-GB" altLang="en-US" sz="1000" i="1" dirty="0"/>
              <a:t>Geological Society, London, Special Publications</a:t>
            </a:r>
            <a:r>
              <a:rPr lang="en-GB" altLang="en-US" sz="1000" dirty="0"/>
              <a:t> 401: 313-325, </a:t>
            </a:r>
            <a:r>
              <a:rPr lang="en-GB" sz="1000" dirty="0"/>
              <a:t>https://doi.org/10.1144/SP401.17</a:t>
            </a:r>
            <a:r>
              <a:rPr lang="en-GB" altLang="en-US" sz="1000" dirty="0"/>
              <a:t>. A particularly well studied contractional fault system on Mercury is Beagle </a:t>
            </a:r>
            <a:r>
              <a:rPr lang="en-GB" altLang="en-US" sz="1000" dirty="0" err="1"/>
              <a:t>Rupes</a:t>
            </a:r>
            <a:r>
              <a:rPr lang="en-GB" altLang="en-US" sz="1000" dirty="0"/>
              <a:t> (see </a:t>
            </a:r>
            <a:r>
              <a:rPr lang="en-GB" altLang="en-US" sz="1000" dirty="0" err="1"/>
              <a:t>Rothery</a:t>
            </a:r>
            <a:r>
              <a:rPr lang="en-GB" altLang="en-US" sz="1000" dirty="0"/>
              <a:t> &amp; </a:t>
            </a:r>
            <a:r>
              <a:rPr lang="en-GB" altLang="en-US" sz="1000" dirty="0" err="1"/>
              <a:t>Massironi</a:t>
            </a:r>
            <a:r>
              <a:rPr lang="en-GB" altLang="en-US" sz="1000" dirty="0"/>
              <a:t>, 2010, </a:t>
            </a:r>
            <a:r>
              <a:rPr lang="en-GB" altLang="en-US" sz="1000" i="1" dirty="0"/>
              <a:t>Icarus</a:t>
            </a:r>
            <a:r>
              <a:rPr lang="en-GB" altLang="en-US" sz="1000" dirty="0"/>
              <a:t> 209: 256-261, </a:t>
            </a:r>
            <a:r>
              <a:rPr lang="en-GB" sz="1000" dirty="0"/>
              <a:t>https://doi.org/10.1016/j.icarus.2009.12.009</a:t>
            </a:r>
            <a:r>
              <a:rPr lang="en-GB" altLang="en-US" sz="1000" dirty="0"/>
              <a:t>)</a:t>
            </a:r>
          </a:p>
          <a:p>
            <a:pPr marL="108000" indent="-108000">
              <a:spcBef>
                <a:spcPts val="300"/>
              </a:spcBef>
              <a:buFont typeface="Arial" panose="020B0604020202020204" pitchFamily="34" charset="0"/>
              <a:buChar char="•"/>
            </a:pPr>
            <a:r>
              <a:rPr lang="en-GB" altLang="en-US" sz="1000" dirty="0"/>
              <a:t>On the surface of the Moon, over 3200 lobate scarps have been mapped and interpreted as the surface expression of thrust faulting. These are distinguished from wrinkle ridges (see previous slide) which are more complex contractional features. The lobate scarps occur predominantly in the lunar highlands and are relatively young features (&lt; 50 Ma) – some may be actively forming today. Their global distribution suggests that tidal stresses, superimposed on global contraction, play a part in their formation (see Watters </a:t>
            </a:r>
            <a:r>
              <a:rPr lang="en-GB" altLang="en-US" sz="1000" i="1" dirty="0"/>
              <a:t>et al.</a:t>
            </a:r>
            <a:r>
              <a:rPr lang="en-GB" altLang="en-US" sz="1000" dirty="0"/>
              <a:t>, 2015, </a:t>
            </a:r>
            <a:r>
              <a:rPr lang="en-GB" altLang="en-US" sz="1000" i="1" dirty="0"/>
              <a:t>Geology</a:t>
            </a:r>
            <a:r>
              <a:rPr lang="en-GB" altLang="en-US" sz="1000" dirty="0"/>
              <a:t> 43: 851-854, </a:t>
            </a:r>
            <a:r>
              <a:rPr lang="en-GB" sz="1000" dirty="0"/>
              <a:t>https://doi.org/10.1130/G37120.1</a:t>
            </a:r>
            <a:r>
              <a:rPr lang="en-GB" altLang="en-US" sz="1000" dirty="0"/>
              <a:t>) </a:t>
            </a:r>
          </a:p>
          <a:p>
            <a:pPr marL="108000" indent="-108000">
              <a:spcBef>
                <a:spcPts val="300"/>
              </a:spcBef>
              <a:buFont typeface="Arial" panose="020B0604020202020204" pitchFamily="34" charset="0"/>
              <a:buChar char="•"/>
            </a:pPr>
            <a:r>
              <a:rPr lang="en-GB" altLang="en-US" sz="1000" dirty="0"/>
              <a:t>Figure top right from Beatty </a:t>
            </a:r>
            <a:r>
              <a:rPr lang="en-GB" altLang="en-US" sz="1000" i="1" dirty="0"/>
              <a:t>et al.</a:t>
            </a:r>
            <a:r>
              <a:rPr lang="en-GB" altLang="en-US" sz="1000" dirty="0"/>
              <a:t> (editors), 1999, </a:t>
            </a:r>
            <a:r>
              <a:rPr lang="en-GB" altLang="en-US" sz="1000" i="1" dirty="0"/>
              <a:t>The New Solar System</a:t>
            </a:r>
            <a:r>
              <a:rPr lang="en-GB" altLang="en-US" sz="1000" dirty="0"/>
              <a:t> (4</a:t>
            </a:r>
            <a:r>
              <a:rPr lang="en-GB" altLang="en-US" sz="1000" baseline="30000" dirty="0"/>
              <a:t>th</a:t>
            </a:r>
            <a:r>
              <a:rPr lang="en-GB" altLang="en-US" sz="1000" dirty="0"/>
              <a:t> edition), p.93</a:t>
            </a:r>
          </a:p>
          <a:p>
            <a:pPr marL="108000" indent="-108000">
              <a:spcBef>
                <a:spcPts val="300"/>
              </a:spcBef>
              <a:buFont typeface="Arial" panose="020B0604020202020204" pitchFamily="34" charset="0"/>
              <a:buChar char="•"/>
            </a:pPr>
            <a:r>
              <a:rPr lang="en-GB" altLang="en-US" sz="1000" dirty="0"/>
              <a:t>Figure centre top from http://www.explanet.info/Chapter05.htm</a:t>
            </a:r>
          </a:p>
          <a:p>
            <a:pPr marL="108000" indent="-108000">
              <a:spcBef>
                <a:spcPts val="300"/>
              </a:spcBef>
              <a:buFont typeface="Arial" panose="020B0604020202020204" pitchFamily="34" charset="0"/>
              <a:buChar char="•"/>
            </a:pPr>
            <a:r>
              <a:rPr lang="en-GB" altLang="en-US" sz="1000" dirty="0"/>
              <a:t>Image left from http://airandspace.si.edu/research/ceps/etp/mercury/mercimg/discovery_rupes.jpg</a:t>
            </a:r>
          </a:p>
          <a:p>
            <a:pPr marL="108000" indent="-108000">
              <a:spcBef>
                <a:spcPts val="300"/>
              </a:spcBef>
              <a:buFont typeface="Arial" panose="020B0604020202020204" pitchFamily="34" charset="0"/>
              <a:buChar char="•"/>
            </a:pPr>
            <a:r>
              <a:rPr lang="en-GB" altLang="en-US" sz="1000" dirty="0"/>
              <a:t>Image right from www.nasa.gov/images/content/629356main_messenger_orbit_image20120312_1_full_full.jpg</a:t>
            </a:r>
          </a:p>
          <a:p>
            <a:pPr marL="108000" indent="-10800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2788E737-FF46-4D27-AA2B-EB8ADD025B06}"/>
              </a:ext>
            </a:extLst>
          </p:cNvPr>
          <p:cNvSpPr>
            <a:spLocks noGrp="1" noRot="1" noChangeAspect="1" noChangeArrowheads="1" noTextEdit="1"/>
          </p:cNvSpPr>
          <p:nvPr>
            <p:ph type="sldImg"/>
          </p:nvPr>
        </p:nvSpPr>
        <p:spPr>
          <a:ln/>
        </p:spPr>
      </p:sp>
      <p:sp>
        <p:nvSpPr>
          <p:cNvPr id="306179" name="Rectangle 3">
            <a:extLst>
              <a:ext uri="{FF2B5EF4-FFF2-40B4-BE49-F238E27FC236}">
                <a16:creationId xmlns:a16="http://schemas.microsoft.com/office/drawing/2014/main" id="{3CB4486D-C783-4D8B-9604-0B0546D0FEA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historical review of approaches to analogue modelling of contractional tectonic structures, see </a:t>
            </a:r>
            <a:r>
              <a:rPr lang="en-GB" altLang="en-US" sz="1000" dirty="0" err="1"/>
              <a:t>Graveleau</a:t>
            </a:r>
            <a:r>
              <a:rPr lang="en-GB" altLang="en-US" sz="1000" dirty="0"/>
              <a:t> </a:t>
            </a:r>
            <a:r>
              <a:rPr lang="en-GB" altLang="en-US" sz="1000" i="1" dirty="0"/>
              <a:t>et al.</a:t>
            </a:r>
            <a:r>
              <a:rPr lang="en-GB" altLang="en-US" sz="1000" dirty="0"/>
              <a:t>, 2012, </a:t>
            </a:r>
            <a:r>
              <a:rPr lang="en-GB" altLang="en-US" sz="1000" i="1" dirty="0"/>
              <a:t>Tectonophysics</a:t>
            </a:r>
            <a:r>
              <a:rPr lang="en-GB" altLang="en-US" sz="1000" dirty="0"/>
              <a:t> 538-540: 1-66, </a:t>
            </a:r>
            <a:r>
              <a:rPr lang="en-GB" sz="1000" dirty="0"/>
              <a:t>https://doi.org/10.1016/j.tecto.2012.01.027</a:t>
            </a:r>
            <a:r>
              <a:rPr lang="en-GB" altLang="en-US" sz="1000" dirty="0"/>
              <a:t>. Twiss &amp; </a:t>
            </a:r>
            <a:r>
              <a:rPr lang="en-GB" altLang="en-US" sz="1000" dirty="0" err="1"/>
              <a:t>Moores</a:t>
            </a:r>
            <a:r>
              <a:rPr lang="en-GB" altLang="en-US" sz="1000" dirty="0"/>
              <a:t> (Chapter 18) provide an introductory account of scaling issues that arise in such modelling. A commentary on the reliability of analogue models of contractional tectonic structures is given by </a:t>
            </a:r>
            <a:r>
              <a:rPr lang="en-GB" altLang="en-US" sz="1000" dirty="0" err="1"/>
              <a:t>Schreurs</a:t>
            </a:r>
            <a:r>
              <a:rPr lang="en-GB" altLang="en-US" sz="1000" dirty="0"/>
              <a:t> </a:t>
            </a:r>
            <a:r>
              <a:rPr lang="en-GB" altLang="en-US" sz="1000" i="1" dirty="0"/>
              <a:t>et al.</a:t>
            </a:r>
            <a:r>
              <a:rPr lang="en-GB" altLang="en-US" sz="1000" dirty="0"/>
              <a:t>, 2016, </a:t>
            </a:r>
            <a:r>
              <a:rPr lang="en-GB" altLang="en-US" sz="1000" i="1" dirty="0"/>
              <a:t>Journal of Structural Geology</a:t>
            </a:r>
            <a:r>
              <a:rPr lang="en-GB" altLang="en-US" sz="1000" dirty="0"/>
              <a:t> 92: 116-139, </a:t>
            </a:r>
            <a:r>
              <a:rPr lang="en-GB" sz="1000" dirty="0"/>
              <a:t>https://doi.org/10.1016/j.jsg.2016.03.005</a:t>
            </a:r>
            <a:endParaRPr lang="en-GB" altLang="en-US" sz="1000" dirty="0"/>
          </a:p>
          <a:p>
            <a:pPr marL="108000" indent="-108000">
              <a:spcBef>
                <a:spcPts val="300"/>
              </a:spcBef>
              <a:buFont typeface="Arial" panose="020B0604020202020204" pitchFamily="34" charset="0"/>
              <a:buChar char="•"/>
            </a:pPr>
            <a:r>
              <a:rPr lang="en-GB" altLang="en-US" sz="1000" dirty="0"/>
              <a:t>The development of contractional tectonic structures can also be modelled numerically. A comparison of numerical models that were designed to mimic particular analogue experiments is given by </a:t>
            </a:r>
            <a:r>
              <a:rPr lang="en-GB" altLang="en-US" sz="1000" dirty="0" err="1"/>
              <a:t>Buiter</a:t>
            </a:r>
            <a:r>
              <a:rPr lang="en-GB" altLang="en-US" sz="1000" dirty="0"/>
              <a:t> </a:t>
            </a:r>
            <a:r>
              <a:rPr lang="en-GB" altLang="en-US" sz="1000" i="1" dirty="0"/>
              <a:t>et al.</a:t>
            </a:r>
            <a:r>
              <a:rPr lang="en-GB" altLang="en-US" sz="1000" dirty="0"/>
              <a:t>, 2016, </a:t>
            </a:r>
            <a:r>
              <a:rPr lang="en-GB" altLang="en-US" sz="1000" i="1" dirty="0"/>
              <a:t>Journal of Structural Geology</a:t>
            </a:r>
            <a:r>
              <a:rPr lang="en-GB" altLang="en-US" sz="1000" dirty="0"/>
              <a:t> 92: 140-177, </a:t>
            </a:r>
            <a:r>
              <a:rPr lang="en-GB" sz="1000" dirty="0"/>
              <a:t>https://doi.org/10.1016/j.jsg.2016.03.003</a:t>
            </a:r>
            <a:endParaRPr lang="en-GB" altLang="en-US" sz="1000" dirty="0"/>
          </a:p>
          <a:p>
            <a:pPr marL="108000" indent="-108000">
              <a:spcBef>
                <a:spcPts val="300"/>
              </a:spcBef>
              <a:buFont typeface="Arial" panose="020B0604020202020204" pitchFamily="34" charset="0"/>
              <a:buChar char="•"/>
            </a:pPr>
            <a:r>
              <a:rPr lang="en-GB" altLang="en-US" sz="1000" dirty="0"/>
              <a:t>Photo top (from Fossen (1</a:t>
            </a:r>
            <a:r>
              <a:rPr lang="en-GB" altLang="en-US" sz="1000" baseline="30000" dirty="0"/>
              <a:t>st</a:t>
            </a:r>
            <a:r>
              <a:rPr lang="en-GB" altLang="en-US" sz="1000" dirty="0"/>
              <a:t> edition), p.11): clay experiments performed by Henry Cadell in 1887 to illustrate the formation of the structures then being mapped for the first time in the north-western Scottish Highlands. For a description of Cadell’s experiments and an assessment of some of their strengths and limitations, see Butler </a:t>
            </a:r>
            <a:r>
              <a:rPr lang="en-GB" altLang="en-US" sz="1000" i="1" dirty="0"/>
              <a:t>et al.</a:t>
            </a:r>
            <a:r>
              <a:rPr lang="en-GB" altLang="en-US" sz="1000" i="0" dirty="0"/>
              <a:t>, 2020, </a:t>
            </a:r>
            <a:r>
              <a:rPr lang="en-GB" altLang="en-US" sz="1000" i="1" dirty="0"/>
              <a:t>Geological Society, London, Special Publications</a:t>
            </a:r>
            <a:r>
              <a:rPr lang="en-GB" altLang="en-US" sz="1000" i="0" dirty="0"/>
              <a:t> 420: 9-31, </a:t>
            </a:r>
            <a:r>
              <a:rPr lang="en-GB" sz="1000" dirty="0"/>
              <a:t>https://doi.org/10.1144/SP490-2019-142</a:t>
            </a:r>
            <a:r>
              <a:rPr lang="en-GB" sz="1000" i="0" dirty="0"/>
              <a:t>. </a:t>
            </a:r>
            <a:r>
              <a:rPr lang="en-GB" altLang="en-US" sz="1000" dirty="0"/>
              <a:t>For a short biography of Cadell, see http://www.edinburghgeolsoc.org/eg_pdfs/issue48_03_articlebymendum.pdf</a:t>
            </a:r>
          </a:p>
          <a:p>
            <a:pPr marL="108000" indent="-108000">
              <a:spcBef>
                <a:spcPts val="300"/>
              </a:spcBef>
              <a:buFont typeface="Arial" panose="020B0604020202020204" pitchFamily="34" charset="0"/>
              <a:buChar char="•"/>
            </a:pPr>
            <a:r>
              <a:rPr lang="en-GB" altLang="en-US" sz="1000" dirty="0"/>
              <a:t>Photo bottom (from </a:t>
            </a:r>
            <a:r>
              <a:rPr lang="en-GB" altLang="en-US" sz="1000" dirty="0" err="1"/>
              <a:t>Couzens</a:t>
            </a:r>
            <a:r>
              <a:rPr lang="en-GB" altLang="en-US" sz="1000" dirty="0"/>
              <a:t>-Schultz </a:t>
            </a:r>
            <a:r>
              <a:rPr lang="en-GB" altLang="en-US" sz="1000" i="1" dirty="0"/>
              <a:t>et al.</a:t>
            </a:r>
            <a:r>
              <a:rPr lang="en-GB" altLang="en-US" sz="1000" dirty="0"/>
              <a:t>, 2003, </a:t>
            </a:r>
            <a:r>
              <a:rPr lang="en-GB" altLang="en-US" sz="1000" i="1" dirty="0"/>
              <a:t>Journal of Structural Geology </a:t>
            </a:r>
            <a:r>
              <a:rPr lang="en-GB" altLang="en-US" sz="1000" dirty="0"/>
              <a:t>25: 1623-1644, </a:t>
            </a:r>
            <a:r>
              <a:rPr lang="en-GB" sz="1000" dirty="0"/>
              <a:t>https://doi.org/10.1016/S0191-8141(03)00004-X</a:t>
            </a:r>
            <a:r>
              <a:rPr lang="en-GB" altLang="en-US" sz="1000" dirty="0"/>
              <a:t>): results of a quartz sand/viscous silicone polymer model</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4F5CB795-A2B3-4CCA-90EA-0E4A546E56C4}" type="slidenum">
              <a:rPr lang="en-GB" altLang="en-US" smtClean="0"/>
              <a:pPr/>
              <a:t>11</a:t>
            </a:fld>
            <a:endParaRPr lang="en-GB" altLang="en-US"/>
          </a:p>
        </p:txBody>
      </p:sp>
    </p:spTree>
    <p:extLst>
      <p:ext uri="{BB962C8B-B14F-4D97-AF65-F5344CB8AC3E}">
        <p14:creationId xmlns:p14="http://schemas.microsoft.com/office/powerpoint/2010/main" val="1457650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a:extLst>
              <a:ext uri="{FF2B5EF4-FFF2-40B4-BE49-F238E27FC236}">
                <a16:creationId xmlns:a16="http://schemas.microsoft.com/office/drawing/2014/main" id="{18037ED5-2DC2-40F3-9F7F-B394C708E67D}"/>
              </a:ext>
            </a:extLst>
          </p:cNvPr>
          <p:cNvSpPr>
            <a:spLocks noGrp="1" noRot="1" noChangeAspect="1" noChangeArrowheads="1" noTextEdit="1"/>
          </p:cNvSpPr>
          <p:nvPr>
            <p:ph type="sldImg"/>
          </p:nvPr>
        </p:nvSpPr>
        <p:spPr>
          <a:ln/>
        </p:spPr>
      </p:sp>
      <p:sp>
        <p:nvSpPr>
          <p:cNvPr id="254979" name="Rectangle 3">
            <a:extLst>
              <a:ext uri="{FF2B5EF4-FFF2-40B4-BE49-F238E27FC236}">
                <a16:creationId xmlns:a16="http://schemas.microsoft.com/office/drawing/2014/main" id="{F952E904-3AAC-4C60-A0A9-F8C89022F27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(from Fossen, one of the extra figures on the web-site for the book, folk.uib.no/</a:t>
            </a:r>
            <a:r>
              <a:rPr lang="en-GB" altLang="en-US" sz="1000" dirty="0" err="1"/>
              <a:t>nglhe</a:t>
            </a:r>
            <a:r>
              <a:rPr lang="en-GB" altLang="en-US" sz="1000" dirty="0"/>
              <a:t>/StructuralGeoBook.html): the thrust is marked by the thin, sub-horizontal darker band running midway across the rock face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DFA06A6D-C9F1-4355-8E75-BF87FE678748}"/>
              </a:ext>
            </a:extLst>
          </p:cNvPr>
          <p:cNvSpPr>
            <a:spLocks noGrp="1" noRot="1" noChangeAspect="1" noChangeArrowheads="1" noTextEdit="1"/>
          </p:cNvSpPr>
          <p:nvPr>
            <p:ph type="sldImg"/>
          </p:nvPr>
        </p:nvSpPr>
        <p:spPr>
          <a:ln/>
        </p:spPr>
      </p:sp>
      <p:sp>
        <p:nvSpPr>
          <p:cNvPr id="406531" name="Rectangle 3">
            <a:extLst>
              <a:ext uri="{FF2B5EF4-FFF2-40B4-BE49-F238E27FC236}">
                <a16:creationId xmlns:a16="http://schemas.microsoft.com/office/drawing/2014/main" id="{B392C5C2-7276-406B-B4A4-E590ECD22AC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‘Nappe’ is French for ‘tablecloth’ </a:t>
            </a:r>
          </a:p>
          <a:p>
            <a:pPr marL="108000" indent="-108000">
              <a:spcBef>
                <a:spcPts val="300"/>
              </a:spcBef>
              <a:buFont typeface="Arial" panose="020B0604020202020204" pitchFamily="34" charset="0"/>
              <a:buChar char="•"/>
            </a:pPr>
            <a:r>
              <a:rPr lang="en-GB" altLang="en-US" sz="1000" dirty="0"/>
              <a:t>Photo (from www.marlimillerphoto.com/ChiefMtnPan.html): the Lewis Thrust, Glacier National Park, Montana, in the Rocky Mountains. Chief Mountain on the right is the classic example of a </a:t>
            </a:r>
            <a:r>
              <a:rPr lang="en-GB" altLang="en-US" sz="1000" dirty="0" err="1"/>
              <a:t>klippe</a:t>
            </a:r>
            <a:r>
              <a:rPr lang="en-GB" altLang="en-US" sz="1000" dirty="0"/>
              <a:t> (see Boyer &amp; Elliott, p.1205)</a:t>
            </a:r>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p.118</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C08A9E26-7D15-453C-97B7-7CC6F8540E36}"/>
              </a:ext>
            </a:extLst>
          </p:cNvPr>
          <p:cNvSpPr>
            <a:spLocks noGrp="1" noRot="1" noChangeAspect="1" noChangeArrowheads="1" noTextEdit="1"/>
          </p:cNvSpPr>
          <p:nvPr>
            <p:ph type="sldImg"/>
          </p:nvPr>
        </p:nvSpPr>
        <p:spPr>
          <a:ln/>
        </p:spPr>
      </p:sp>
      <p:sp>
        <p:nvSpPr>
          <p:cNvPr id="263171" name="Rectangle 3">
            <a:extLst>
              <a:ext uri="{FF2B5EF4-FFF2-40B4-BE49-F238E27FC236}">
                <a16:creationId xmlns:a16="http://schemas.microsoft.com/office/drawing/2014/main" id="{6AE2E050-FCBF-4015-AA7D-1196EE8F8F0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Some care is needed in interpreting this sharpness – the fault surface exposed in the field may just be a fracture formed in the last stage of movement. Nevertheless, it is true that given the large displacements that have occurred on them, thrusts are often remarkably narrow zones of deformation</a:t>
            </a:r>
          </a:p>
          <a:p>
            <a:pPr marL="108000" indent="-108000">
              <a:spcBef>
                <a:spcPts val="300"/>
              </a:spcBef>
              <a:buFont typeface="Arial" panose="020B0604020202020204" pitchFamily="34" charset="0"/>
              <a:buChar char="•"/>
            </a:pPr>
            <a:r>
              <a:rPr lang="en-GB" altLang="en-US" sz="1000" dirty="0"/>
              <a:t>Photo top left (from Fossen, one of the extra figures on the web-site for the book, folk.uib.no/</a:t>
            </a:r>
            <a:r>
              <a:rPr lang="en-GB" altLang="en-US" sz="1000" dirty="0" err="1"/>
              <a:t>nglhe</a:t>
            </a:r>
            <a:r>
              <a:rPr lang="en-GB" altLang="en-US" sz="1000" dirty="0"/>
              <a:t>/StructuralGeoBook.html): the Muddy Mountains Thrust (SE Nevada, USA) brings Palaeozoic carbonates over Jurassic sandstones</a:t>
            </a:r>
          </a:p>
          <a:p>
            <a:pPr marL="108000" indent="-108000">
              <a:spcBef>
                <a:spcPts val="300"/>
              </a:spcBef>
              <a:buFont typeface="Arial" panose="020B0604020202020204" pitchFamily="34" charset="0"/>
              <a:buChar char="•"/>
            </a:pPr>
            <a:r>
              <a:rPr lang="en-GB" altLang="en-US" sz="1000" dirty="0"/>
              <a:t>Photo top right (Steve Covey-Crump): the </a:t>
            </a:r>
            <a:r>
              <a:rPr lang="en-GB" altLang="en-US" sz="1000" dirty="0" err="1"/>
              <a:t>Glencoul</a:t>
            </a:r>
            <a:r>
              <a:rPr lang="en-GB" altLang="en-US" sz="1000" dirty="0"/>
              <a:t> Thrust is part of the </a:t>
            </a:r>
            <a:r>
              <a:rPr lang="en-GB" altLang="en-US" sz="1000" dirty="0" err="1"/>
              <a:t>Moine</a:t>
            </a:r>
            <a:r>
              <a:rPr lang="en-GB" altLang="en-US" sz="1000" dirty="0"/>
              <a:t> Thrust Zone in NW Scotland and in the photo brings Precambrian Lewisian gneisses over limestones of Cambrian-Ordovician age. Fossen p.358 shows his version of this photo together with some structural context</a:t>
            </a:r>
          </a:p>
          <a:p>
            <a:pPr marL="108000" indent="-108000">
              <a:spcBef>
                <a:spcPts val="300"/>
              </a:spcBef>
              <a:buFont typeface="Arial" panose="020B0604020202020204" pitchFamily="34" charset="0"/>
              <a:buChar char="•"/>
            </a:pPr>
            <a:r>
              <a:rPr lang="en-GB" altLang="en-US" sz="1000" dirty="0"/>
              <a:t>Photo bottom (from Fossen, one of the extra figures on the web-site for the book, folk.uib.no/</a:t>
            </a:r>
            <a:r>
              <a:rPr lang="en-GB" altLang="en-US" sz="1000" dirty="0" err="1"/>
              <a:t>nglhe</a:t>
            </a:r>
            <a:r>
              <a:rPr lang="en-GB" altLang="en-US" sz="1000" dirty="0"/>
              <a:t>/StructuralGeoBook.html): the Glarus Thrust (</a:t>
            </a:r>
            <a:r>
              <a:rPr lang="en-GB" altLang="en-US" sz="1000" dirty="0" err="1"/>
              <a:t>Lochsite</a:t>
            </a:r>
            <a:r>
              <a:rPr lang="en-GB" altLang="en-US" sz="1000" dirty="0"/>
              <a:t>, Switzerland) here brings Permian units over Cenozoic flysch</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F6407B06-20D3-4EAC-8D10-FE6E4BCB39CF}"/>
              </a:ext>
            </a:extLst>
          </p:cNvPr>
          <p:cNvSpPr>
            <a:spLocks noGrp="1" noRot="1" noChangeAspect="1" noChangeArrowheads="1" noTextEdit="1"/>
          </p:cNvSpPr>
          <p:nvPr>
            <p:ph type="sldImg"/>
          </p:nvPr>
        </p:nvSpPr>
        <p:spPr>
          <a:ln/>
        </p:spPr>
      </p:sp>
      <p:sp>
        <p:nvSpPr>
          <p:cNvPr id="400387" name="Rectangle 3">
            <a:extLst>
              <a:ext uri="{FF2B5EF4-FFF2-40B4-BE49-F238E27FC236}">
                <a16:creationId xmlns:a16="http://schemas.microsoft.com/office/drawing/2014/main" id="{1DC2EF81-F249-438A-845F-51A524EF166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Fossen, p.364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4F6AD2E2-E8A7-4FDC-B8C5-4A9517263571}"/>
              </a:ext>
            </a:extLst>
          </p:cNvPr>
          <p:cNvSpPr>
            <a:spLocks noGrp="1" noRot="1" noChangeAspect="1" noChangeArrowheads="1" noTextEdit="1"/>
          </p:cNvSpPr>
          <p:nvPr>
            <p:ph type="sldImg"/>
          </p:nvPr>
        </p:nvSpPr>
        <p:spPr>
          <a:ln/>
        </p:spPr>
      </p:sp>
      <p:sp>
        <p:nvSpPr>
          <p:cNvPr id="401411" name="Rectangle 3">
            <a:extLst>
              <a:ext uri="{FF2B5EF4-FFF2-40B4-BE49-F238E27FC236}">
                <a16:creationId xmlns:a16="http://schemas.microsoft.com/office/drawing/2014/main" id="{432E3122-0EFA-498F-A63D-BD49608A4FC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a:t>
            </a:r>
            <a:r>
              <a:rPr lang="en-GB" altLang="en-US" sz="1000" dirty="0" err="1"/>
              <a:t>Poblet</a:t>
            </a:r>
            <a:r>
              <a:rPr lang="en-GB" altLang="en-US" sz="1000" dirty="0"/>
              <a:t> &amp; Lisle, 2011, </a:t>
            </a:r>
            <a:r>
              <a:rPr lang="en-GB" altLang="en-US" sz="1000" i="1" dirty="0"/>
              <a:t>Geological Society, London, Special Publications</a:t>
            </a:r>
            <a:r>
              <a:rPr lang="en-GB" altLang="en-US" sz="1000" dirty="0"/>
              <a:t> 349: 1-24</a:t>
            </a:r>
            <a:r>
              <a:rPr lang="en-GB" altLang="en-US" sz="1000" dirty="0">
                <a:solidFill>
                  <a:schemeClr val="bg2"/>
                </a:solidFill>
              </a:rPr>
              <a:t>, </a:t>
            </a:r>
            <a:r>
              <a:rPr lang="en-GB" sz="1000" dirty="0">
                <a:solidFill>
                  <a:schemeClr val="bg2"/>
                </a:solidFill>
              </a:rPr>
              <a:t>https://doi.org/10.1144/SP349.1</a:t>
            </a:r>
            <a:endParaRPr lang="en-GB" altLang="en-US" sz="1000" dirty="0"/>
          </a:p>
          <a:p>
            <a:pPr>
              <a:spcBef>
                <a:spcPts val="300"/>
              </a:spcBef>
              <a:buFontTx/>
              <a:buNone/>
            </a:pPr>
            <a:endParaRPr lang="en-GB" altLang="en-US" sz="10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a:extLst>
              <a:ext uri="{FF2B5EF4-FFF2-40B4-BE49-F238E27FC236}">
                <a16:creationId xmlns:a16="http://schemas.microsoft.com/office/drawing/2014/main" id="{83101168-80E4-45DC-9521-1375AF98D334}"/>
              </a:ext>
            </a:extLst>
          </p:cNvPr>
          <p:cNvSpPr>
            <a:spLocks noGrp="1" noRot="1" noChangeAspect="1" noChangeArrowheads="1" noTextEdit="1"/>
          </p:cNvSpPr>
          <p:nvPr>
            <p:ph type="sldImg"/>
          </p:nvPr>
        </p:nvSpPr>
        <p:spPr>
          <a:ln/>
        </p:spPr>
      </p:sp>
      <p:sp>
        <p:nvSpPr>
          <p:cNvPr id="380931" name="Rectangle 3">
            <a:extLst>
              <a:ext uri="{FF2B5EF4-FFF2-40B4-BE49-F238E27FC236}">
                <a16:creationId xmlns:a16="http://schemas.microsoft.com/office/drawing/2014/main" id="{EFC6CD30-A66F-49BC-B861-1029129DC44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We will return to the ‘transfer fault’ and ‘tear fault’ terminology in the final class (Strike-slip tectonic regimes)</a:t>
            </a:r>
          </a:p>
          <a:p>
            <a:pPr marL="108000" indent="-108000">
              <a:spcBef>
                <a:spcPts val="300"/>
              </a:spcBef>
              <a:buFont typeface="Arial" panose="020B0604020202020204" pitchFamily="34" charset="0"/>
              <a:buChar char="•"/>
            </a:pPr>
            <a:r>
              <a:rPr lang="en-GB" altLang="en-US" sz="1000" dirty="0"/>
              <a:t>Figure top from </a:t>
            </a:r>
            <a:r>
              <a:rPr lang="en-GB" altLang="en-US" sz="1000" dirty="0" err="1"/>
              <a:t>Poblet</a:t>
            </a:r>
            <a:r>
              <a:rPr lang="en-GB" altLang="en-US" sz="1000" dirty="0"/>
              <a:t> &amp; Lisle, 2011, </a:t>
            </a:r>
            <a:r>
              <a:rPr lang="en-GB" altLang="en-US" sz="1000" i="1" dirty="0"/>
              <a:t>Geological Society, London, Special Publications</a:t>
            </a:r>
            <a:r>
              <a:rPr lang="en-GB" altLang="en-US" sz="1000" dirty="0"/>
              <a:t> 349: 1-24</a:t>
            </a:r>
            <a:r>
              <a:rPr lang="en-GB" altLang="en-US" sz="1000" dirty="0">
                <a:solidFill>
                  <a:schemeClr val="bg2"/>
                </a:solidFill>
              </a:rPr>
              <a:t>, </a:t>
            </a:r>
            <a:r>
              <a:rPr lang="en-GB" sz="1000" dirty="0">
                <a:solidFill>
                  <a:schemeClr val="bg2"/>
                </a:solidFill>
              </a:rPr>
              <a:t>https://doi.org/10.1144/SP349.1</a:t>
            </a:r>
            <a:r>
              <a:rPr lang="en-GB" altLang="en-US" sz="1000" dirty="0"/>
              <a:t>. The hanging wall has been removed to show the shape of the fault surface beneath</a:t>
            </a:r>
          </a:p>
          <a:p>
            <a:pPr marL="108000" indent="-108000">
              <a:spcBef>
                <a:spcPts val="300"/>
              </a:spcBef>
              <a:buFont typeface="Arial" panose="020B0604020202020204" pitchFamily="34" charset="0"/>
              <a:buChar char="•"/>
            </a:pPr>
            <a:r>
              <a:rPr lang="en-GB" altLang="en-US" sz="1000" dirty="0"/>
              <a:t>Figure bottom from Twiss &amp; </a:t>
            </a:r>
            <a:r>
              <a:rPr lang="en-GB" altLang="en-US" sz="1000" dirty="0" err="1"/>
              <a:t>Moores</a:t>
            </a:r>
            <a:r>
              <a:rPr lang="en-GB" altLang="en-US" sz="1000" dirty="0"/>
              <a:t>, p.124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9D18AC6F-057B-40C5-8358-26A021F6F68E}"/>
              </a:ext>
            </a:extLst>
          </p:cNvPr>
          <p:cNvSpPr>
            <a:spLocks noGrp="1" noRot="1" noChangeAspect="1" noChangeArrowheads="1" noTextEdit="1"/>
          </p:cNvSpPr>
          <p:nvPr>
            <p:ph type="sldImg"/>
          </p:nvPr>
        </p:nvSpPr>
        <p:spPr>
          <a:ln/>
        </p:spPr>
      </p:sp>
      <p:sp>
        <p:nvSpPr>
          <p:cNvPr id="402435" name="Rectangle 3">
            <a:extLst>
              <a:ext uri="{FF2B5EF4-FFF2-40B4-BE49-F238E27FC236}">
                <a16:creationId xmlns:a16="http://schemas.microsoft.com/office/drawing/2014/main" id="{43845E4A-73C9-463A-A44C-D1AD2BF1478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Recall (Class 7 Slide 4) that a </a:t>
            </a:r>
            <a:r>
              <a:rPr lang="en-GB" altLang="en-US" sz="1000" dirty="0" err="1"/>
              <a:t>listric</a:t>
            </a:r>
            <a:r>
              <a:rPr lang="en-GB" altLang="en-US" sz="1000" dirty="0"/>
              <a:t> fault is a (curved) fault that gradually decreases in dip downwards</a:t>
            </a:r>
          </a:p>
          <a:p>
            <a:pPr marL="108000" indent="-108000">
              <a:spcBef>
                <a:spcPts val="300"/>
              </a:spcBef>
              <a:buFont typeface="Arial" panose="020B0604020202020204" pitchFamily="34" charset="0"/>
              <a:buChar char="•"/>
            </a:pPr>
            <a:r>
              <a:rPr lang="en-GB" altLang="en-US" sz="1000" dirty="0"/>
              <a:t>Figure from Ramsay &amp; Huber, 1987, </a:t>
            </a:r>
            <a:r>
              <a:rPr lang="en-GB" altLang="en-US" sz="1000" i="1" dirty="0"/>
              <a:t>The Techniques of Modern Structural Geology, Volume 2: Folds and Fractures</a:t>
            </a:r>
            <a:r>
              <a:rPr lang="en-GB" altLang="en-US" sz="1000" dirty="0"/>
              <a:t>, p.526</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a:extLst>
              <a:ext uri="{FF2B5EF4-FFF2-40B4-BE49-F238E27FC236}">
                <a16:creationId xmlns:a16="http://schemas.microsoft.com/office/drawing/2014/main" id="{16B0DCF8-B7D7-462E-AB06-062E051161D7}"/>
              </a:ext>
            </a:extLst>
          </p:cNvPr>
          <p:cNvSpPr>
            <a:spLocks noGrp="1" noRot="1" noChangeAspect="1" noChangeArrowheads="1" noTextEdit="1"/>
          </p:cNvSpPr>
          <p:nvPr>
            <p:ph type="sldImg"/>
          </p:nvPr>
        </p:nvSpPr>
        <p:spPr>
          <a:ln/>
        </p:spPr>
      </p:sp>
      <p:sp>
        <p:nvSpPr>
          <p:cNvPr id="403459" name="Rectangle 3">
            <a:extLst>
              <a:ext uri="{FF2B5EF4-FFF2-40B4-BE49-F238E27FC236}">
                <a16:creationId xmlns:a16="http://schemas.microsoft.com/office/drawing/2014/main" id="{134DFBFE-879B-4B15-B484-1D8EE2FA797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(Steve Covey-Crump)</a:t>
            </a:r>
          </a:p>
          <a:p>
            <a:pPr marL="108000" indent="-108000">
              <a:spcBef>
                <a:spcPts val="300"/>
              </a:spcBef>
              <a:buFont typeface="Arial" panose="020B0604020202020204" pitchFamily="34" charset="0"/>
              <a:buChar char="•"/>
            </a:pPr>
            <a:r>
              <a:rPr lang="en-GB" altLang="en-US" sz="1000" dirty="0"/>
              <a:t>Field sketch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a:extLst>
              <a:ext uri="{FF2B5EF4-FFF2-40B4-BE49-F238E27FC236}">
                <a16:creationId xmlns:a16="http://schemas.microsoft.com/office/drawing/2014/main" id="{D1B71731-49DB-499C-8105-8023D4801942}"/>
              </a:ext>
            </a:extLst>
          </p:cNvPr>
          <p:cNvSpPr>
            <a:spLocks noGrp="1" noRot="1" noChangeAspect="1" noChangeArrowheads="1" noTextEdit="1"/>
          </p:cNvSpPr>
          <p:nvPr>
            <p:ph type="sldImg"/>
          </p:nvPr>
        </p:nvSpPr>
        <p:spPr>
          <a:ln/>
        </p:spPr>
      </p:sp>
      <p:sp>
        <p:nvSpPr>
          <p:cNvPr id="295939" name="Rectangle 3">
            <a:extLst>
              <a:ext uri="{FF2B5EF4-FFF2-40B4-BE49-F238E27FC236}">
                <a16:creationId xmlns:a16="http://schemas.microsoft.com/office/drawing/2014/main" id="{F9460C98-7634-43AD-B966-5A36845A2D9A}"/>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latin typeface="Times New Roman" panose="02020603050405020304" pitchFamily="18" charset="0"/>
                <a:cs typeface="Times New Roman" panose="02020603050405020304" pitchFamily="18" charset="0"/>
              </a:rPr>
              <a:t>In each figure the horses are formed in the order 1, 2, 3, 4. The movies </a:t>
            </a:r>
            <a:r>
              <a:rPr lang="en-GB" altLang="en-US" sz="1000" i="1" dirty="0">
                <a:latin typeface="Times New Roman" panose="02020603050405020304" pitchFamily="18" charset="0"/>
                <a:cs typeface="Times New Roman" panose="02020603050405020304" pitchFamily="18" charset="0"/>
              </a:rPr>
              <a:t>AntStack.m4v</a:t>
            </a:r>
            <a:r>
              <a:rPr lang="en-GB" altLang="en-US" sz="1000" dirty="0">
                <a:latin typeface="Times New Roman" panose="02020603050405020304" pitchFamily="18" charset="0"/>
                <a:cs typeface="Times New Roman" panose="02020603050405020304" pitchFamily="18" charset="0"/>
              </a:rPr>
              <a:t> and </a:t>
            </a:r>
            <a:r>
              <a:rPr lang="en-GB" altLang="en-US" sz="1000" i="1" dirty="0">
                <a:latin typeface="Times New Roman" panose="02020603050405020304" pitchFamily="18" charset="0"/>
                <a:cs typeface="Times New Roman" panose="02020603050405020304" pitchFamily="18" charset="0"/>
              </a:rPr>
              <a:t>OOSDuplex.m4v</a:t>
            </a:r>
            <a:r>
              <a:rPr lang="en-GB" altLang="en-US" sz="1000" dirty="0">
                <a:latin typeface="Times New Roman" panose="02020603050405020304" pitchFamily="18" charset="0"/>
                <a:cs typeface="Times New Roman" panose="02020603050405020304" pitchFamily="18" charset="0"/>
              </a:rPr>
              <a:t> that accompany this lecture show the development of a foreland-propagating and a hinterland-propagating duplex respectively. These movies come from Rick Allmendinger’s website, http://www.geo.cornell.edu/geology/faculty/RWA/movies/ OR look in the videos tab at https://www.rickallmendinger.net/)</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latin typeface="Times New Roman" panose="02020603050405020304" pitchFamily="18" charset="0"/>
                <a:cs typeface="Times New Roman" panose="02020603050405020304" pitchFamily="18" charset="0"/>
              </a:rPr>
              <a:t>Figure top left from Ramsay &amp; Huber, 1987, </a:t>
            </a:r>
            <a:r>
              <a:rPr lang="en-GB" altLang="en-US" sz="1000" i="1" dirty="0">
                <a:latin typeface="Times New Roman" panose="02020603050405020304" pitchFamily="18" charset="0"/>
                <a:cs typeface="Times New Roman" panose="02020603050405020304" pitchFamily="18" charset="0"/>
              </a:rPr>
              <a:t>The Techniques of Modern Structural Geology, Volume 2: Folds and Fractures</a:t>
            </a:r>
            <a:r>
              <a:rPr lang="en-GB" altLang="en-US" sz="1000" dirty="0">
                <a:latin typeface="Times New Roman" panose="02020603050405020304" pitchFamily="18" charset="0"/>
                <a:cs typeface="Times New Roman" panose="02020603050405020304" pitchFamily="18" charset="0"/>
              </a:rPr>
              <a:t>, p.526</a:t>
            </a:r>
          </a:p>
          <a:p>
            <a:pPr marL="108000" indent="-108000">
              <a:lnSpc>
                <a:spcPct val="100000"/>
              </a:lnSpc>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bottom right from McClay, p.431</a:t>
            </a:r>
          </a:p>
          <a:p>
            <a:pPr>
              <a:lnSpc>
                <a:spcPct val="100000"/>
              </a:lnSpc>
              <a:spcBef>
                <a:spcPts val="300"/>
              </a:spcBef>
              <a:buFontTx/>
              <a:buNone/>
            </a:pPr>
            <a:endParaRPr lang="en-GB" altLang="en-US"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13DCCBCB-7864-4189-9DA2-B9C64D469373}"/>
              </a:ext>
            </a:extLst>
          </p:cNvPr>
          <p:cNvSpPr>
            <a:spLocks noGrp="1" noRot="1" noChangeAspect="1" noChangeArrowheads="1" noTextEdit="1"/>
          </p:cNvSpPr>
          <p:nvPr>
            <p:ph type="sldImg"/>
          </p:nvPr>
        </p:nvSpPr>
        <p:spPr>
          <a:ln/>
        </p:spPr>
      </p:sp>
      <p:sp>
        <p:nvSpPr>
          <p:cNvPr id="404483" name="Rectangle 3">
            <a:extLst>
              <a:ext uri="{FF2B5EF4-FFF2-40B4-BE49-F238E27FC236}">
                <a16:creationId xmlns:a16="http://schemas.microsoft.com/office/drawing/2014/main" id="{68938B2F-1895-47F4-9951-1C4B13F3027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right from McClay, p.431</a:t>
            </a:r>
          </a:p>
          <a:p>
            <a:pPr marL="108000" indent="-108000">
              <a:spcBef>
                <a:spcPts val="300"/>
              </a:spcBef>
              <a:buFont typeface="Arial" panose="020B0604020202020204" pitchFamily="34" charset="0"/>
              <a:buChar char="•"/>
            </a:pPr>
            <a:r>
              <a:rPr lang="en-GB" altLang="en-US" sz="1000" dirty="0"/>
              <a:t>Figure bottom left from J-P Burg’s 2015 lecture notes (www.files.ethz.ch/structuralgeology/JPB/files/English/4thrustsyst.pdf), p.117</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a:extLst>
              <a:ext uri="{FF2B5EF4-FFF2-40B4-BE49-F238E27FC236}">
                <a16:creationId xmlns:a16="http://schemas.microsoft.com/office/drawing/2014/main" id="{4953CA8E-0DC5-4472-AF97-04B3C185629D}"/>
              </a:ext>
            </a:extLst>
          </p:cNvPr>
          <p:cNvSpPr>
            <a:spLocks noGrp="1" noRot="1" noChangeAspect="1" noChangeArrowheads="1" noTextEdit="1"/>
          </p:cNvSpPr>
          <p:nvPr>
            <p:ph type="sldImg"/>
          </p:nvPr>
        </p:nvSpPr>
        <p:spPr>
          <a:ln/>
        </p:spPr>
      </p:sp>
      <p:sp>
        <p:nvSpPr>
          <p:cNvPr id="283651" name="Rectangle 3">
            <a:extLst>
              <a:ext uri="{FF2B5EF4-FFF2-40B4-BE49-F238E27FC236}">
                <a16:creationId xmlns:a16="http://schemas.microsoft.com/office/drawing/2014/main" id="{70B083D7-5B44-4589-8796-A971A3AA6DB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right from Twiss &amp; </a:t>
            </a:r>
            <a:r>
              <a:rPr lang="en-GB" altLang="en-US" sz="1000" dirty="0" err="1"/>
              <a:t>Moores</a:t>
            </a:r>
            <a:r>
              <a:rPr lang="en-GB" altLang="en-US" sz="1000" dirty="0"/>
              <a:t>, p.125</a:t>
            </a:r>
          </a:p>
          <a:p>
            <a:pPr marL="108000" indent="-108000">
              <a:spcBef>
                <a:spcPts val="300"/>
              </a:spcBef>
              <a:buFont typeface="Arial" panose="020B0604020202020204" pitchFamily="34" charset="0"/>
              <a:buChar char="•"/>
            </a:pPr>
            <a:r>
              <a:rPr lang="en-GB" altLang="en-US" sz="1000" dirty="0"/>
              <a:t>Photo (Steve Covey-Crump): an antiformal stack exposed in a road cut on the north side of Route 23, near Catskill, New York State. For an account of this section, see </a:t>
            </a:r>
            <a:r>
              <a:rPr lang="en-GB" altLang="en-US" sz="1000" dirty="0" err="1"/>
              <a:t>Pazzaglia</a:t>
            </a:r>
            <a:r>
              <a:rPr lang="en-GB" altLang="en-US" sz="1000" dirty="0"/>
              <a:t> (editor), 2006, </a:t>
            </a:r>
            <a:r>
              <a:rPr lang="en-GB" altLang="en-US" sz="1000" i="1" dirty="0"/>
              <a:t>Excursions in Geology and History: Field Trips in the Middle Atlantic States</a:t>
            </a:r>
            <a:r>
              <a:rPr lang="en-GB" altLang="en-US" sz="1000" dirty="0"/>
              <a:t>, Geological Society of America Field Guide 8: 199-216, </a:t>
            </a:r>
            <a:r>
              <a:rPr lang="en-GB" sz="1000" dirty="0"/>
              <a:t>https://doi.org/10.1130/2006.fld008(10)</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a:extLst>
              <a:ext uri="{FF2B5EF4-FFF2-40B4-BE49-F238E27FC236}">
                <a16:creationId xmlns:a16="http://schemas.microsoft.com/office/drawing/2014/main" id="{DCA55053-CBB5-4B01-80ED-6A2D31FBD6FA}"/>
              </a:ext>
            </a:extLst>
          </p:cNvPr>
          <p:cNvSpPr>
            <a:spLocks noGrp="1" noRot="1" noChangeAspect="1" noChangeArrowheads="1" noTextEdit="1"/>
          </p:cNvSpPr>
          <p:nvPr>
            <p:ph type="sldImg"/>
          </p:nvPr>
        </p:nvSpPr>
        <p:spPr>
          <a:ln/>
        </p:spPr>
      </p:sp>
      <p:sp>
        <p:nvSpPr>
          <p:cNvPr id="285699" name="Rectangle 3">
            <a:extLst>
              <a:ext uri="{FF2B5EF4-FFF2-40B4-BE49-F238E27FC236}">
                <a16:creationId xmlns:a16="http://schemas.microsoft.com/office/drawing/2014/main" id="{646A8247-EAFA-46AA-8578-11BDFC41542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from Ramsay &amp; Huber, 1987, </a:t>
            </a:r>
            <a:r>
              <a:rPr lang="en-GB" altLang="en-US" sz="1000" i="1" dirty="0"/>
              <a:t>The Techniques of Modern Structural Geology, Volume 2: Folds and Fractures</a:t>
            </a:r>
            <a:r>
              <a:rPr lang="en-GB" altLang="en-US" sz="1000" dirty="0"/>
              <a:t>, p.526</a:t>
            </a:r>
          </a:p>
          <a:p>
            <a:pPr marL="108000" indent="-108000">
              <a:spcBef>
                <a:spcPts val="300"/>
              </a:spcBef>
              <a:buFont typeface="Arial" panose="020B0604020202020204" pitchFamily="34" charset="0"/>
              <a:buChar char="•"/>
            </a:pPr>
            <a:r>
              <a:rPr lang="en-GB" altLang="en-US" sz="1000" dirty="0"/>
              <a:t>Figure bottom from Twiss &amp; </a:t>
            </a:r>
            <a:r>
              <a:rPr lang="en-GB" altLang="en-US" sz="1000" dirty="0" err="1"/>
              <a:t>Moores</a:t>
            </a:r>
            <a:r>
              <a:rPr lang="en-GB" altLang="en-US" sz="1000" dirty="0"/>
              <a:t>, p.125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C1A3D93B-E72C-455F-A91E-FB0D004B96E1}"/>
              </a:ext>
            </a:extLst>
          </p:cNvPr>
          <p:cNvSpPr>
            <a:spLocks noGrp="1" noRot="1" noChangeAspect="1" noChangeArrowheads="1" noTextEdit="1"/>
          </p:cNvSpPr>
          <p:nvPr>
            <p:ph type="sldImg"/>
          </p:nvPr>
        </p:nvSpPr>
        <p:spPr>
          <a:ln/>
        </p:spPr>
      </p:sp>
      <p:sp>
        <p:nvSpPr>
          <p:cNvPr id="289795" name="Rectangle 3">
            <a:extLst>
              <a:ext uri="{FF2B5EF4-FFF2-40B4-BE49-F238E27FC236}">
                <a16:creationId xmlns:a16="http://schemas.microsoft.com/office/drawing/2014/main" id="{42EDA96B-B233-4B04-B0FC-DBCDEE9D5A8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right from Fossen, p.361</a:t>
            </a:r>
          </a:p>
          <a:p>
            <a:pPr marL="108000" indent="-108000">
              <a:spcBef>
                <a:spcPts val="300"/>
              </a:spcBef>
              <a:buFont typeface="Arial" panose="020B0604020202020204" pitchFamily="34" charset="0"/>
              <a:buChar char="•"/>
            </a:pPr>
            <a:r>
              <a:rPr lang="en-GB" altLang="en-US" sz="1000" dirty="0"/>
              <a:t>Figure left middle from McClay, p.422</a:t>
            </a:r>
          </a:p>
          <a:p>
            <a:pPr marL="108000" indent="-108000">
              <a:spcBef>
                <a:spcPts val="300"/>
              </a:spcBef>
              <a:buFont typeface="Arial" panose="020B0604020202020204" pitchFamily="34" charset="0"/>
              <a:buChar char="•"/>
            </a:pPr>
            <a:r>
              <a:rPr lang="en-GB" altLang="en-US" sz="1000" dirty="0"/>
              <a:t>Figure right middle from McClay, p.424</a:t>
            </a:r>
          </a:p>
          <a:p>
            <a:pPr marL="108000" indent="-108000">
              <a:spcBef>
                <a:spcPts val="300"/>
              </a:spcBef>
              <a:buFont typeface="Arial" panose="020B0604020202020204" pitchFamily="34" charset="0"/>
              <a:buChar char="•"/>
            </a:pPr>
            <a:r>
              <a:rPr lang="en-GB" altLang="en-US" sz="1000" dirty="0"/>
              <a:t>Figure bottom from Fossen, p.361</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a:extLst>
              <a:ext uri="{FF2B5EF4-FFF2-40B4-BE49-F238E27FC236}">
                <a16:creationId xmlns:a16="http://schemas.microsoft.com/office/drawing/2014/main" id="{63132F92-3A35-476A-A850-D35EB9617025}"/>
              </a:ext>
            </a:extLst>
          </p:cNvPr>
          <p:cNvSpPr>
            <a:spLocks noGrp="1" noRot="1" noChangeAspect="1" noChangeArrowheads="1" noTextEdit="1"/>
          </p:cNvSpPr>
          <p:nvPr>
            <p:ph type="sldImg"/>
          </p:nvPr>
        </p:nvSpPr>
        <p:spPr>
          <a:ln/>
        </p:spPr>
      </p:sp>
      <p:sp>
        <p:nvSpPr>
          <p:cNvPr id="291843" name="Rectangle 3">
            <a:extLst>
              <a:ext uri="{FF2B5EF4-FFF2-40B4-BE49-F238E27FC236}">
                <a16:creationId xmlns:a16="http://schemas.microsoft.com/office/drawing/2014/main" id="{1418345C-23A5-4586-997F-63B8CE00D61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On passive roof duplexes, see Banks &amp; Warburton, 1986, </a:t>
            </a:r>
            <a:r>
              <a:rPr lang="en-GB" altLang="en-US" sz="1000" i="1" dirty="0"/>
              <a:t>Journal of Structural Geology</a:t>
            </a:r>
            <a:r>
              <a:rPr lang="en-GB" altLang="en-US" sz="1000" dirty="0"/>
              <a:t> 8: 229-237, </a:t>
            </a:r>
            <a:r>
              <a:rPr lang="en-GB" sz="1000" dirty="0"/>
              <a:t>https://doi.org/10.1016/0191-8141(86)90045-3</a:t>
            </a:r>
            <a:r>
              <a:rPr lang="en-GB" altLang="en-US" sz="1000" dirty="0"/>
              <a:t>. Note that the area under the passive roof thrust that lies above the foreland-propagating sole thrust is a triangle zone. Passive roof duplexes can provide excellent traps in petroleum-rich provinces</a:t>
            </a:r>
          </a:p>
          <a:p>
            <a:pPr marL="108000" indent="-108000">
              <a:spcBef>
                <a:spcPts val="300"/>
              </a:spcBef>
              <a:buFont typeface="Arial" panose="020B0604020202020204" pitchFamily="34" charset="0"/>
              <a:buChar char="•"/>
            </a:pPr>
            <a:r>
              <a:rPr lang="en-GB" altLang="en-US" sz="1000" dirty="0"/>
              <a:t>Figures from Banks &amp; Warburton, 1986, </a:t>
            </a:r>
            <a:r>
              <a:rPr lang="en-GB" altLang="en-US" sz="1000" i="1" dirty="0"/>
              <a:t>Journal of Structural Geology</a:t>
            </a:r>
            <a:r>
              <a:rPr lang="en-GB" altLang="en-US" sz="1000" dirty="0"/>
              <a:t> 8: 229-237, </a:t>
            </a:r>
            <a:r>
              <a:rPr lang="en-GB" sz="1000" dirty="0"/>
              <a:t>https://doi.org/10.1016/0191-8141(86)90045-3</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a:extLst>
              <a:ext uri="{FF2B5EF4-FFF2-40B4-BE49-F238E27FC236}">
                <a16:creationId xmlns:a16="http://schemas.microsoft.com/office/drawing/2014/main" id="{FB7C8939-2483-42BA-8077-1C7DD1CBEEF5}"/>
              </a:ext>
            </a:extLst>
          </p:cNvPr>
          <p:cNvSpPr>
            <a:spLocks noGrp="1" noRot="1" noChangeAspect="1" noChangeArrowheads="1" noTextEdit="1"/>
          </p:cNvSpPr>
          <p:nvPr>
            <p:ph type="sldImg"/>
          </p:nvPr>
        </p:nvSpPr>
        <p:spPr>
          <a:ln/>
        </p:spPr>
      </p:sp>
      <p:sp>
        <p:nvSpPr>
          <p:cNvPr id="353283" name="Rectangle 3">
            <a:extLst>
              <a:ext uri="{FF2B5EF4-FFF2-40B4-BE49-F238E27FC236}">
                <a16:creationId xmlns:a16="http://schemas.microsoft.com/office/drawing/2014/main" id="{1A731913-9C37-44FD-A275-AA4CFE94EE9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from J-P Burg’s 2015 lecture notes (www.files.ethz.ch/structuralgeology/JPB/files/English/4thrustsyst.pdf), p.112</a:t>
            </a:r>
          </a:p>
          <a:p>
            <a:pPr marL="108000" indent="-108000">
              <a:spcBef>
                <a:spcPts val="300"/>
              </a:spcBef>
              <a:buFont typeface="Arial" panose="020B0604020202020204" pitchFamily="34" charset="0"/>
              <a:buChar char="•"/>
            </a:pPr>
            <a:r>
              <a:rPr lang="en-GB" altLang="en-US" sz="1000" dirty="0"/>
              <a:t>Figure bottom from J-P Burg’s 2015 lecture notes (www.files.ethz.ch/structuralgeology/JPB/files/English/4thrustsyst.pdf), p.114, but ultimately from Boyer &amp; Elliott, p.1200</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a:extLst>
              <a:ext uri="{FF2B5EF4-FFF2-40B4-BE49-F238E27FC236}">
                <a16:creationId xmlns:a16="http://schemas.microsoft.com/office/drawing/2014/main" id="{08152350-A5BC-4337-BEF4-B2D8C0FAA552}"/>
              </a:ext>
            </a:extLst>
          </p:cNvPr>
          <p:cNvSpPr>
            <a:spLocks noGrp="1" noRot="1" noChangeAspect="1" noChangeArrowheads="1" noTextEdit="1"/>
          </p:cNvSpPr>
          <p:nvPr>
            <p:ph type="sldImg"/>
          </p:nvPr>
        </p:nvSpPr>
        <p:spPr>
          <a:ln/>
        </p:spPr>
      </p:sp>
      <p:sp>
        <p:nvSpPr>
          <p:cNvPr id="300035" name="Rectangle 3">
            <a:extLst>
              <a:ext uri="{FF2B5EF4-FFF2-40B4-BE49-F238E27FC236}">
                <a16:creationId xmlns:a16="http://schemas.microsoft.com/office/drawing/2014/main" id="{A12A138B-5679-4A8C-8839-59530C3288C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Distinguishing whether the sequence of thrusts is a foreland-propagating sequence (generally assumed to be more common) or a break-back sequence (see Slide 20 for an explanation of these terms) is not always easy. For an analysis of criteria that may be used as evidence for a break-back sequence of thrusting, see Alsop </a:t>
            </a:r>
            <a:r>
              <a:rPr lang="en-GB" altLang="en-US" sz="1000" i="1" dirty="0"/>
              <a:t>et al.</a:t>
            </a:r>
            <a:r>
              <a:rPr lang="en-GB" altLang="en-US" sz="1000" i="0" dirty="0"/>
              <a:t>, 2018, </a:t>
            </a:r>
            <a:r>
              <a:rPr lang="en-GB" altLang="en-US" sz="1000" i="1" dirty="0"/>
              <a:t>Journal of Structural Geology</a:t>
            </a:r>
            <a:r>
              <a:rPr lang="en-GB" altLang="en-US" sz="1000" i="0" dirty="0"/>
              <a:t> 109: 99-119, </a:t>
            </a:r>
            <a:r>
              <a:rPr lang="en-GB" sz="1000" dirty="0"/>
              <a:t>https://doi.org/10.1016/j.jsg.2018.01.005</a:t>
            </a:r>
            <a:endParaRPr lang="en-GB" altLang="en-US" sz="1000" dirty="0"/>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p.125, but ultimately from Boyer &amp; Elliott, p.1206 (Boyer &amp; Elliott balance this section – for what I mean by balancing sections, see Slides 49ff.)</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a:extLst>
              <a:ext uri="{FF2B5EF4-FFF2-40B4-BE49-F238E27FC236}">
                <a16:creationId xmlns:a16="http://schemas.microsoft.com/office/drawing/2014/main" id="{3AC042CD-A5FE-46F1-B149-BD6DC4288660}"/>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1278B13B-8699-4281-90FC-34BD801B3C2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Bhattacharyya &amp; Mitra, 2009, </a:t>
            </a:r>
            <a:r>
              <a:rPr lang="en-GB" altLang="en-US" sz="1000" i="1" dirty="0"/>
              <a:t>Gondwana Research</a:t>
            </a:r>
            <a:r>
              <a:rPr lang="en-GB" altLang="en-US" sz="1000" dirty="0"/>
              <a:t> 16: 697-715, </a:t>
            </a:r>
            <a:r>
              <a:rPr lang="en-GB" sz="1000" dirty="0"/>
              <a:t>https://doi.org/10.1016/j.gr.2009.07.006</a:t>
            </a:r>
            <a:r>
              <a:rPr lang="en-GB" altLang="en-US" sz="1000" dirty="0"/>
              <a:t>) showing a model for the kinematic evolution of the </a:t>
            </a:r>
            <a:r>
              <a:rPr lang="en-GB" altLang="en-US" sz="1000" dirty="0" err="1"/>
              <a:t>Rangit</a:t>
            </a:r>
            <a:r>
              <a:rPr lang="en-GB" altLang="en-US" sz="1000" dirty="0"/>
              <a:t> duplex which is exposed in the Darjeeling-Sikkim Himalaya. The development of the Lesser Himalayan duplex, of which the </a:t>
            </a:r>
            <a:r>
              <a:rPr lang="en-GB" altLang="en-US" sz="1000" dirty="0" err="1"/>
              <a:t>Rangit</a:t>
            </a:r>
            <a:r>
              <a:rPr lang="en-GB" altLang="en-US" sz="1000" dirty="0"/>
              <a:t> duplex is a part, is a prominent component in the evolution of the Lesser Himalayan Fold and Thrust Belt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a:extLst>
              <a:ext uri="{FF2B5EF4-FFF2-40B4-BE49-F238E27FC236}">
                <a16:creationId xmlns:a16="http://schemas.microsoft.com/office/drawing/2014/main" id="{CF97051B-D958-4D89-98A7-40E4F0D4A0DB}"/>
              </a:ext>
            </a:extLst>
          </p:cNvPr>
          <p:cNvSpPr>
            <a:spLocks noGrp="1" noRot="1" noChangeAspect="1" noChangeArrowheads="1" noTextEdit="1"/>
          </p:cNvSpPr>
          <p:nvPr>
            <p:ph type="sldImg"/>
          </p:nvPr>
        </p:nvSpPr>
        <p:spPr>
          <a:ln/>
        </p:spPr>
      </p:sp>
      <p:sp>
        <p:nvSpPr>
          <p:cNvPr id="304131" name="Rectangle 3">
            <a:extLst>
              <a:ext uri="{FF2B5EF4-FFF2-40B4-BE49-F238E27FC236}">
                <a16:creationId xmlns:a16="http://schemas.microsoft.com/office/drawing/2014/main" id="{00C8E011-465B-49E7-8BC6-15BE78E4C37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around a horse a branch-line forms a closed loop with leading and trailing segments; around an imbricate splay, the branch-line connects the ends of the tip-line so that the tip-line can form a closed loop</a:t>
            </a:r>
          </a:p>
          <a:p>
            <a:pPr marL="108000" indent="-108000">
              <a:spcBef>
                <a:spcPts val="300"/>
              </a:spcBef>
              <a:buFont typeface="Arial" panose="020B0604020202020204" pitchFamily="34" charset="0"/>
              <a:buChar char="•"/>
            </a:pPr>
            <a:r>
              <a:rPr lang="en-GB" altLang="en-US" sz="1000" dirty="0"/>
              <a:t>It is beyond the scope of this class to consider how we may apply the topological constraints noted on this slide – you just need to be aware that such constraints exist. For an account, see </a:t>
            </a:r>
            <a:r>
              <a:rPr lang="en-GB" altLang="en-US" sz="1000" dirty="0" err="1"/>
              <a:t>Diegel</a:t>
            </a:r>
            <a:r>
              <a:rPr lang="en-GB" altLang="en-US" sz="1000" dirty="0"/>
              <a:t>, 1986, </a:t>
            </a:r>
            <a:r>
              <a:rPr lang="en-GB" altLang="en-US" sz="1000" i="1" dirty="0"/>
              <a:t>Journal of Structural Geology</a:t>
            </a:r>
            <a:r>
              <a:rPr lang="en-GB" altLang="en-US" sz="1000" dirty="0"/>
              <a:t> 8: 269-279, </a:t>
            </a:r>
            <a:r>
              <a:rPr lang="en-GB" sz="1000" dirty="0"/>
              <a:t>https://doi.org/10.1016/0191-8141(86)90048-9</a:t>
            </a:r>
            <a:endParaRPr lang="en-GB" altLang="en-US" sz="1000" dirty="0"/>
          </a:p>
          <a:p>
            <a:pPr marL="108000" indent="-108000">
              <a:spcBef>
                <a:spcPts val="300"/>
              </a:spcBef>
              <a:buFont typeface="Arial" panose="020B0604020202020204" pitchFamily="34" charset="0"/>
              <a:buChar char="•"/>
            </a:pPr>
            <a:r>
              <a:rPr lang="en-GB" altLang="en-US" sz="1000" dirty="0"/>
              <a:t>Whenever you map a fault, think about how it connects with other faults to produce a consistent slip displacement story – then you will be well on the way to incorporating these matters intuitively</a:t>
            </a:r>
          </a:p>
          <a:p>
            <a:pPr marL="108000" indent="-108000">
              <a:spcBef>
                <a:spcPts val="300"/>
              </a:spcBef>
              <a:buFont typeface="Arial" panose="020B0604020202020204" pitchFamily="34" charset="0"/>
              <a:buChar char="•"/>
            </a:pPr>
            <a:r>
              <a:rPr lang="en-GB" altLang="en-US" sz="1000" dirty="0"/>
              <a:t>Figures from </a:t>
            </a:r>
            <a:r>
              <a:rPr lang="en-GB" altLang="en-US" sz="1000" dirty="0" err="1"/>
              <a:t>Diegel</a:t>
            </a:r>
            <a:r>
              <a:rPr lang="en-GB" altLang="en-US" sz="1000" dirty="0"/>
              <a:t>, 1986, </a:t>
            </a:r>
            <a:r>
              <a:rPr lang="en-GB" altLang="en-US" sz="1000" i="1" dirty="0"/>
              <a:t>Journal of Structural Geology</a:t>
            </a:r>
            <a:r>
              <a:rPr lang="en-GB" altLang="en-US" sz="1000" dirty="0"/>
              <a:t> 8: 269-279, </a:t>
            </a:r>
            <a:r>
              <a:rPr lang="en-GB" sz="1000" dirty="0"/>
              <a:t>https://doi.org/10.1016/0191-8141(86)90048-9</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4F5CB795-A2B3-4CCA-90EA-0E4A546E56C4}" type="slidenum">
              <a:rPr lang="en-GB" altLang="en-US" smtClean="0"/>
              <a:pPr/>
              <a:t>30</a:t>
            </a:fld>
            <a:endParaRPr lang="en-GB" altLang="en-US"/>
          </a:p>
        </p:txBody>
      </p:sp>
    </p:spTree>
    <p:extLst>
      <p:ext uri="{BB962C8B-B14F-4D97-AF65-F5344CB8AC3E}">
        <p14:creationId xmlns:p14="http://schemas.microsoft.com/office/powerpoint/2010/main" val="13776711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2F9F3579-43AC-4088-9ABF-CF3BD7E28C79}"/>
              </a:ext>
            </a:extLst>
          </p:cNvPr>
          <p:cNvSpPr>
            <a:spLocks noGrp="1" noRot="1" noChangeAspect="1" noChangeArrowheads="1" noTextEdit="1"/>
          </p:cNvSpPr>
          <p:nvPr>
            <p:ph type="sldImg"/>
          </p:nvPr>
        </p:nvSpPr>
        <p:spPr>
          <a:ln/>
        </p:spPr>
      </p:sp>
      <p:sp>
        <p:nvSpPr>
          <p:cNvPr id="317443" name="Rectangle 3">
            <a:extLst>
              <a:ext uri="{FF2B5EF4-FFF2-40B4-BE49-F238E27FC236}">
                <a16:creationId xmlns:a16="http://schemas.microsoft.com/office/drawing/2014/main" id="{EF6C806D-E3FA-4FAA-BACF-E098365A66B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geometric analysis of fault-bend folding has been championed by John </a:t>
            </a:r>
            <a:r>
              <a:rPr lang="en-GB" altLang="en-US" sz="1000" dirty="0" err="1"/>
              <a:t>Suppe</a:t>
            </a:r>
            <a:r>
              <a:rPr lang="en-GB" altLang="en-US" sz="1000" dirty="0"/>
              <a:t> – see </a:t>
            </a:r>
            <a:r>
              <a:rPr lang="en-GB" altLang="en-US" sz="1000" dirty="0" err="1"/>
              <a:t>Suppe</a:t>
            </a:r>
            <a:r>
              <a:rPr lang="en-GB" altLang="en-US" sz="1000" dirty="0"/>
              <a:t>, 1983, </a:t>
            </a:r>
            <a:r>
              <a:rPr lang="en-GB" altLang="en-US" sz="1000" i="1" dirty="0"/>
              <a:t>American Journal of Science</a:t>
            </a:r>
            <a:r>
              <a:rPr lang="en-GB" altLang="en-US" sz="1000" dirty="0"/>
              <a:t> 283: 684-721, </a:t>
            </a:r>
            <a:r>
              <a:rPr lang="en-GB" sz="1000" dirty="0"/>
              <a:t>https://doi.org/10.2475/ajs.283.7.684</a:t>
            </a:r>
            <a:endParaRPr lang="en-GB" altLang="en-US" sz="1000" dirty="0"/>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The movie </a:t>
            </a:r>
            <a:r>
              <a:rPr lang="en-GB" altLang="en-US" sz="1000" i="1" dirty="0"/>
              <a:t>FBFsm.m4v</a:t>
            </a:r>
            <a:r>
              <a:rPr lang="en-GB" altLang="en-US" sz="1000" dirty="0"/>
              <a:t> that accompanies this lecture shows the development of fault-bend folds. </a:t>
            </a:r>
            <a:r>
              <a:rPr lang="en-GB" altLang="en-US" sz="1000" dirty="0">
                <a:latin typeface="Times New Roman" panose="02020603050405020304" pitchFamily="18" charset="0"/>
                <a:cs typeface="Times New Roman" panose="02020603050405020304" pitchFamily="18" charset="0"/>
              </a:rPr>
              <a:t>This comes from Rick Allmendinger’s website, http://www.geo.cornell.edu/geology/faculty/RWA/movies/ OR look in the videos tab at https://www.rickallmendinger.net/)</a:t>
            </a:r>
          </a:p>
          <a:p>
            <a:pPr marL="108000" indent="-108000">
              <a:spcBef>
                <a:spcPts val="300"/>
              </a:spcBef>
              <a:buFont typeface="Arial" panose="020B0604020202020204" pitchFamily="34" charset="0"/>
              <a:buChar char="•"/>
            </a:pPr>
            <a:r>
              <a:rPr lang="en-GB" altLang="en-US" sz="1000" dirty="0"/>
              <a:t>Figures from Fossen, p.364, 365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A8DFA711-B908-4BA0-99EE-7487FC9E51EF}"/>
              </a:ext>
            </a:extLst>
          </p:cNvPr>
          <p:cNvSpPr>
            <a:spLocks noGrp="1" noRot="1" noChangeAspect="1" noChangeArrowheads="1" noTextEdit="1"/>
          </p:cNvSpPr>
          <p:nvPr>
            <p:ph type="sldImg"/>
          </p:nvPr>
        </p:nvSpPr>
        <p:spPr>
          <a:ln/>
        </p:spPr>
      </p:sp>
      <p:sp>
        <p:nvSpPr>
          <p:cNvPr id="414723" name="Rectangle 3">
            <a:extLst>
              <a:ext uri="{FF2B5EF4-FFF2-40B4-BE49-F238E27FC236}">
                <a16:creationId xmlns:a16="http://schemas.microsoft.com/office/drawing/2014/main" id="{0586C8F3-55B1-4B24-B75A-D7BA7C3B94E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 am not aware of actual examples of crenulations that have been interpreted as having being formed in this way, but this does not mean that there aren’t any. A candidate place to look for them would be within relatively incompetent units (mudstones) in interbedded successions</a:t>
            </a:r>
          </a:p>
          <a:p>
            <a:pPr marL="108000" indent="-108000">
              <a:spcBef>
                <a:spcPts val="300"/>
              </a:spcBef>
              <a:buFont typeface="Arial" panose="020B0604020202020204" pitchFamily="34" charset="0"/>
              <a:buChar char="•"/>
            </a:pPr>
            <a:r>
              <a:rPr lang="en-GB" altLang="en-US" sz="1000" dirty="0"/>
              <a:t>Figure from Sanderson, 1982, </a:t>
            </a:r>
            <a:r>
              <a:rPr lang="en-GB" altLang="en-US" sz="1000" i="1" dirty="0"/>
              <a:t>Tectonophysics</a:t>
            </a:r>
            <a:r>
              <a:rPr lang="en-GB" altLang="en-US" sz="1000" dirty="0"/>
              <a:t> 88: 201-233, </a:t>
            </a:r>
            <a:r>
              <a:rPr lang="en-GB" sz="1000" dirty="0"/>
              <a:t>https://doi.org/10.1016/0040-1951(82)90237-2</a:t>
            </a:r>
            <a:r>
              <a:rPr lang="en-GB" altLang="en-US" sz="1000" dirty="0"/>
              <a:t>. The mechanism of folding is assumed to be flexural flow (with no deformation in the toe of the thrust sheet); other mechanisms of folding (see Class 2) modify the strain variations shown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3401944C-7700-4D51-8B88-45C72AA189BD}"/>
              </a:ext>
            </a:extLst>
          </p:cNvPr>
          <p:cNvSpPr>
            <a:spLocks noGrp="1" noRot="1" noChangeAspect="1" noChangeArrowheads="1" noTextEdit="1"/>
          </p:cNvSpPr>
          <p:nvPr>
            <p:ph type="sldImg"/>
          </p:nvPr>
        </p:nvSpPr>
        <p:spPr>
          <a:ln/>
        </p:spPr>
      </p:sp>
      <p:sp>
        <p:nvSpPr>
          <p:cNvPr id="319491" name="Rectangle 3">
            <a:extLst>
              <a:ext uri="{FF2B5EF4-FFF2-40B4-BE49-F238E27FC236}">
                <a16:creationId xmlns:a16="http://schemas.microsoft.com/office/drawing/2014/main" id="{26DFBEAF-DE7F-41C5-83A3-B5BAB615E60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We noted fault propagation folds and how their development may be modelled in the last class (Class 7 Slides 11-12). Modelling usually proceeds either by assuming predominantly layer parallel slip and the subsequent growth of kink-like folds (as pictured on this slide), or through distributed shearing in a triangular zone ahead of the fault tip (</a:t>
            </a:r>
            <a:r>
              <a:rPr lang="en-GB" altLang="en-US" sz="1000" dirty="0" err="1"/>
              <a:t>trishear</a:t>
            </a:r>
            <a:r>
              <a:rPr lang="en-GB" altLang="en-US" sz="1000" dirty="0"/>
              <a:t> model). Both types of approach are remarkably successful at modelling the geometry of naturally produced folds associated with thrust faults, with kink-like models being better at modelling deformation in systems that have a strong mechanical anisotropy, and </a:t>
            </a:r>
            <a:r>
              <a:rPr lang="en-GB" altLang="en-US" sz="1000" dirty="0" err="1"/>
              <a:t>trishear</a:t>
            </a:r>
            <a:r>
              <a:rPr lang="en-GB" altLang="en-US" sz="1000" dirty="0"/>
              <a:t> models being better when the mechanical anisotropy is less strong (see Hughes &amp; Shaw, 2015, </a:t>
            </a:r>
            <a:r>
              <a:rPr lang="en-GB" altLang="en-US" sz="1000" i="1" dirty="0"/>
              <a:t>Geological Society of America Bulletin</a:t>
            </a:r>
            <a:r>
              <a:rPr lang="en-GB" altLang="en-US" sz="1000" dirty="0"/>
              <a:t> 127: 1752-1765, </a:t>
            </a:r>
            <a:r>
              <a:rPr lang="en-GB" sz="1000" dirty="0"/>
              <a:t>https://doi.org/10.1130/B31215.1</a:t>
            </a:r>
            <a:r>
              <a:rPr lang="en-GB" altLang="en-US" sz="1000" dirty="0"/>
              <a:t>)</a:t>
            </a:r>
          </a:p>
          <a:p>
            <a:pPr marL="108000" indent="-108000">
              <a:spcBef>
                <a:spcPts val="300"/>
              </a:spcBef>
              <a:buFont typeface="Arial" panose="020B0604020202020204" pitchFamily="34" charset="0"/>
              <a:buChar char="•"/>
            </a:pPr>
            <a:r>
              <a:rPr lang="en-GB" altLang="en-US" sz="1000" dirty="0"/>
              <a:t>Figure from Fossen, p.366</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a:extLst>
              <a:ext uri="{FF2B5EF4-FFF2-40B4-BE49-F238E27FC236}">
                <a16:creationId xmlns:a16="http://schemas.microsoft.com/office/drawing/2014/main" id="{5D8013BE-A86F-4186-A5DF-9D7E9D08CEC0}"/>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93B75E99-0106-42DA-9069-87907DB0EF3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(from Fossen, one of the extra figures on the web-site for the book, folk.uib.no/</a:t>
            </a:r>
            <a:r>
              <a:rPr lang="en-GB" altLang="en-US" sz="1000" dirty="0" err="1"/>
              <a:t>nglhe</a:t>
            </a:r>
            <a:r>
              <a:rPr lang="en-GB" altLang="en-US" sz="1000" dirty="0"/>
              <a:t>/StructuralGeoBook.html, but see p.367 of Fossen for a larger panorama): fault-propagation folds at the northern termination of the Lewis Thrust, Mount Kidd, Alberta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a:extLst>
              <a:ext uri="{FF2B5EF4-FFF2-40B4-BE49-F238E27FC236}">
                <a16:creationId xmlns:a16="http://schemas.microsoft.com/office/drawing/2014/main" id="{774F5AFA-F206-4E8D-AE30-C17D89F2B7E4}"/>
              </a:ext>
            </a:extLst>
          </p:cNvPr>
          <p:cNvSpPr>
            <a:spLocks noGrp="1" noRot="1" noChangeAspect="1" noChangeArrowheads="1" noTextEdit="1"/>
          </p:cNvSpPr>
          <p:nvPr>
            <p:ph type="sldImg"/>
          </p:nvPr>
        </p:nvSpPr>
        <p:spPr>
          <a:ln/>
        </p:spPr>
      </p:sp>
      <p:sp>
        <p:nvSpPr>
          <p:cNvPr id="323587" name="Rectangle 3">
            <a:extLst>
              <a:ext uri="{FF2B5EF4-FFF2-40B4-BE49-F238E27FC236}">
                <a16:creationId xmlns:a16="http://schemas.microsoft.com/office/drawing/2014/main" id="{AB14EEDD-119C-4E11-8928-AAAE5CF44C2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(Steve Covey-Crump): hanging wall </a:t>
            </a:r>
            <a:r>
              <a:rPr lang="en-GB" altLang="en-US" sz="1000" dirty="0" err="1"/>
              <a:t>antiform</a:t>
            </a:r>
            <a:r>
              <a:rPr lang="en-GB" altLang="en-US" sz="1000" dirty="0"/>
              <a:t> / footwall </a:t>
            </a:r>
            <a:r>
              <a:rPr lang="en-GB" altLang="en-US" sz="1000" dirty="0" err="1"/>
              <a:t>synform</a:t>
            </a:r>
            <a:r>
              <a:rPr lang="en-GB" altLang="en-US" sz="1000" dirty="0"/>
              <a:t> pair in Lewisian units, </a:t>
            </a:r>
            <a:r>
              <a:rPr lang="en-GB" altLang="en-US" sz="1000" dirty="0" err="1"/>
              <a:t>Moine</a:t>
            </a:r>
            <a:r>
              <a:rPr lang="en-GB" altLang="en-US" sz="1000" dirty="0"/>
              <a:t> Thrust zone near Ullapool, Scotland</a:t>
            </a:r>
          </a:p>
          <a:p>
            <a:pPr marL="108000" indent="-108000">
              <a:spcBef>
                <a:spcPts val="300"/>
              </a:spcBef>
              <a:buFont typeface="Arial" panose="020B0604020202020204" pitchFamily="34" charset="0"/>
              <a:buChar char="•"/>
            </a:pPr>
            <a:r>
              <a:rPr lang="en-GB" altLang="en-US" sz="1000" dirty="0"/>
              <a:t>Photo right (from the BGS image database: geoscenic.bgs.ac.uk/asset-bank/action/</a:t>
            </a:r>
            <a:r>
              <a:rPr lang="en-GB" altLang="en-US" sz="1000" dirty="0" err="1"/>
              <a:t>viewHome</a:t>
            </a:r>
            <a:r>
              <a:rPr lang="en-GB" altLang="en-US" sz="1000" dirty="0"/>
              <a:t>, image P211445): hanging wall </a:t>
            </a:r>
            <a:r>
              <a:rPr lang="en-GB" altLang="en-US" sz="1000" dirty="0" err="1"/>
              <a:t>antiform</a:t>
            </a:r>
            <a:r>
              <a:rPr lang="en-GB" altLang="en-US" sz="1000" dirty="0"/>
              <a:t> / footwall </a:t>
            </a:r>
            <a:r>
              <a:rPr lang="en-GB" altLang="en-US" sz="1000" dirty="0" err="1"/>
              <a:t>synform</a:t>
            </a:r>
            <a:r>
              <a:rPr lang="en-GB" altLang="en-US" sz="1000" dirty="0"/>
              <a:t> pair on a thrust fault in interbedded Carboniferous sandstones and mudstones, near Broadhaven, St. Brides Bay, Pembrokeshire. This fold is analysed in Williams &amp; Chapman, 1983, </a:t>
            </a:r>
            <a:r>
              <a:rPr lang="en-GB" altLang="en-US" sz="1000" i="1" dirty="0"/>
              <a:t>Journal of Structural Geology</a:t>
            </a:r>
            <a:r>
              <a:rPr lang="en-GB" altLang="en-US" sz="1000" dirty="0"/>
              <a:t> 5: 563-571, </a:t>
            </a:r>
            <a:r>
              <a:rPr lang="en-GB" sz="1000" dirty="0"/>
              <a:t>https://doi.org/10.1016/0191-8141(83)90068-8</a:t>
            </a:r>
            <a:endParaRPr lang="en-GB" altLang="en-US" sz="1000" dirty="0"/>
          </a:p>
          <a:p>
            <a:pPr marL="108000" indent="-108000">
              <a:spcBef>
                <a:spcPts val="300"/>
              </a:spcBef>
              <a:buFont typeface="Arial" panose="020B0604020202020204" pitchFamily="34" charset="0"/>
              <a:buChar char="•"/>
            </a:pPr>
            <a:r>
              <a:rPr lang="en-GB" altLang="en-US" sz="1000" dirty="0"/>
              <a:t>Figure (from Butler, 1982, </a:t>
            </a:r>
            <a:r>
              <a:rPr lang="en-GB" altLang="en-US" sz="1000" i="1" dirty="0"/>
              <a:t>Journal of Structural Geology</a:t>
            </a:r>
            <a:r>
              <a:rPr lang="en-GB" altLang="en-US" sz="1000" dirty="0"/>
              <a:t> 4: 239-245, </a:t>
            </a:r>
            <a:r>
              <a:rPr lang="en-GB" sz="1000" dirty="0"/>
              <a:t>https://doi.org/10.1016/0191-8141(82)90011-6</a:t>
            </a:r>
            <a:r>
              <a:rPr lang="en-GB" altLang="en-US" sz="1000" dirty="0"/>
              <a:t>) showing a fault arising in the core of a fault-propagation </a:t>
            </a:r>
            <a:r>
              <a:rPr lang="en-GB" altLang="en-US" sz="1000" dirty="0" err="1"/>
              <a:t>synform</a:t>
            </a:r>
            <a:r>
              <a:rPr lang="en-GB" altLang="en-US" sz="1000" dirty="0"/>
              <a:t> (an “out-of-the syncline thrust”) – if the ramp segment of the main fault links up with this, the </a:t>
            </a:r>
            <a:r>
              <a:rPr lang="en-GB" altLang="en-US" sz="1000" dirty="0" err="1"/>
              <a:t>synform</a:t>
            </a:r>
            <a:r>
              <a:rPr lang="en-GB" altLang="en-US" sz="1000" dirty="0"/>
              <a:t> is breached. Note that the space problems (too much rock being forced into too small a space) also arise in the cores of </a:t>
            </a:r>
            <a:r>
              <a:rPr lang="en-GB" altLang="en-US" sz="1000" dirty="0" err="1"/>
              <a:t>antiforms</a:t>
            </a:r>
            <a:r>
              <a:rPr lang="en-GB" altLang="en-US" sz="1000" dirty="0"/>
              <a:t> as well as </a:t>
            </a:r>
            <a:r>
              <a:rPr lang="en-GB" altLang="en-US" sz="1000" dirty="0" err="1"/>
              <a:t>synforms</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1F2087A1-27B5-40D5-80CA-9B737219216B}"/>
              </a:ext>
            </a:extLst>
          </p:cNvPr>
          <p:cNvSpPr>
            <a:spLocks noGrp="1" noRot="1" noChangeAspect="1" noChangeArrowheads="1" noTextEdit="1"/>
          </p:cNvSpPr>
          <p:nvPr>
            <p:ph type="sldImg"/>
          </p:nvPr>
        </p:nvSpPr>
        <p:spPr>
          <a:ln/>
        </p:spPr>
      </p:sp>
      <p:sp>
        <p:nvSpPr>
          <p:cNvPr id="410627" name="Rectangle 3">
            <a:extLst>
              <a:ext uri="{FF2B5EF4-FFF2-40B4-BE49-F238E27FC236}">
                <a16:creationId xmlns:a16="http://schemas.microsoft.com/office/drawing/2014/main" id="{A06053DC-87D1-482E-A8B4-9EB752B647E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(from Fossen, one of the extra figures on the web-site for the book, folk.uib.no/</a:t>
            </a:r>
            <a:r>
              <a:rPr lang="en-GB" altLang="en-US" sz="1000" dirty="0" err="1"/>
              <a:t>nglhe</a:t>
            </a:r>
            <a:r>
              <a:rPr lang="en-GB" altLang="en-US" sz="1000" dirty="0"/>
              <a:t>/StructuralGeoBook.html): </a:t>
            </a:r>
            <a:r>
              <a:rPr lang="en-GB" altLang="en-US" sz="1000" dirty="0" err="1"/>
              <a:t>Ketobe</a:t>
            </a:r>
            <a:r>
              <a:rPr lang="en-GB" altLang="en-US" sz="1000" dirty="0"/>
              <a:t> Knob (San Rafael Swell), Utah. For a panned back view of this fault that shows the offset, see Fossen p.356</a:t>
            </a:r>
          </a:p>
          <a:p>
            <a:pPr marL="108000" indent="-108000">
              <a:spcBef>
                <a:spcPts val="300"/>
              </a:spcBef>
              <a:buFont typeface="Arial" panose="020B0604020202020204" pitchFamily="34" charset="0"/>
              <a:buChar char="•"/>
            </a:pPr>
            <a:r>
              <a:rPr lang="en-GB" altLang="en-US" sz="1000" dirty="0"/>
              <a:t>Photo bottom (from Fossen, one of the extra figures on the web-site for the book, folk.uib.no/</a:t>
            </a:r>
            <a:r>
              <a:rPr lang="en-GB" altLang="en-US" sz="1000" dirty="0" err="1"/>
              <a:t>nglhe</a:t>
            </a:r>
            <a:r>
              <a:rPr lang="en-GB" altLang="en-US" sz="1000" dirty="0"/>
              <a:t>/StructuralGeoBook.html): Jotun nappe, Norwegian </a:t>
            </a:r>
            <a:r>
              <a:rPr lang="en-GB" altLang="en-US" sz="1000" dirty="0" err="1"/>
              <a:t>Caledonides</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6664ADA8-5620-4256-A2A2-B75B8AE9B9DF}"/>
              </a:ext>
            </a:extLst>
          </p:cNvPr>
          <p:cNvSpPr>
            <a:spLocks noGrp="1" noRot="1" noChangeAspect="1" noChangeArrowheads="1" noTextEdit="1"/>
          </p:cNvSpPr>
          <p:nvPr>
            <p:ph type="sldImg"/>
          </p:nvPr>
        </p:nvSpPr>
        <p:spPr>
          <a:ln/>
        </p:spPr>
      </p:sp>
      <p:sp>
        <p:nvSpPr>
          <p:cNvPr id="326659" name="Rectangle 3">
            <a:extLst>
              <a:ext uri="{FF2B5EF4-FFF2-40B4-BE49-F238E27FC236}">
                <a16:creationId xmlns:a16="http://schemas.microsoft.com/office/drawing/2014/main" id="{2EF5E63E-F81E-4831-ADAE-229585DE708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left (from http://www.geol-alp.com/h_verdon/_general_Verdon/general_Barreme.html): the antiformal traces are the thin lenticular black lines; thrust fronts are marked by the lines with teeth; the black arrow indicates the overall transport direction (from the NE)</a:t>
            </a:r>
          </a:p>
          <a:p>
            <a:pPr marL="108000" indent="-108000">
              <a:spcBef>
                <a:spcPts val="300"/>
              </a:spcBef>
              <a:buFont typeface="Arial" panose="020B0604020202020204" pitchFamily="34" charset="0"/>
              <a:buChar char="•"/>
            </a:pPr>
            <a:r>
              <a:rPr lang="en-GB" altLang="en-US" sz="1000" dirty="0"/>
              <a:t>Figure top right (from www.geol-alp.com/gap_digne/_general_gap_digne/0_nappe_digne.html): </a:t>
            </a:r>
            <a:r>
              <a:rPr lang="en-GB" altLang="en-US" sz="1000" dirty="0" err="1"/>
              <a:t>en</a:t>
            </a:r>
            <a:r>
              <a:rPr lang="en-GB" altLang="en-US" sz="1000" dirty="0"/>
              <a:t> </a:t>
            </a:r>
            <a:r>
              <a:rPr lang="en-GB" altLang="en-US" sz="1000" dirty="0" err="1"/>
              <a:t>échelon</a:t>
            </a:r>
            <a:r>
              <a:rPr lang="en-GB" altLang="en-US" sz="1000" dirty="0"/>
              <a:t> folds forming in a thrust sheet passing over an oblique ramp</a:t>
            </a:r>
          </a:p>
          <a:p>
            <a:pPr marL="108000" indent="-108000">
              <a:spcBef>
                <a:spcPts val="300"/>
              </a:spcBef>
              <a:buFont typeface="Arial" panose="020B0604020202020204" pitchFamily="34" charset="0"/>
              <a:buChar char="•"/>
            </a:pPr>
            <a:r>
              <a:rPr lang="en-GB" altLang="en-US" sz="1000" dirty="0"/>
              <a:t>Figure bottom right (redrawn by Steve Covey-Crump from Fischer &amp; Coward, 1982, </a:t>
            </a:r>
            <a:r>
              <a:rPr lang="en-GB" altLang="en-US" sz="1000" i="1" dirty="0"/>
              <a:t>Tectonophysics</a:t>
            </a:r>
            <a:r>
              <a:rPr lang="en-GB" altLang="en-US" sz="1000" dirty="0"/>
              <a:t> 88: 291-312, </a:t>
            </a:r>
            <a:r>
              <a:rPr lang="en-GB" sz="1000" dirty="0"/>
              <a:t>https://doi.org/10.1016/0040-1951(82)90241-4</a:t>
            </a:r>
            <a:r>
              <a:rPr lang="en-GB" altLang="en-US" sz="1000" dirty="0"/>
              <a:t>): the changing orientation of fold traces (red lines) in a thrust sheet depending upon whether the underlying ramps are frontal, oblique or lateral</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a:extLst>
              <a:ext uri="{FF2B5EF4-FFF2-40B4-BE49-F238E27FC236}">
                <a16:creationId xmlns:a16="http://schemas.microsoft.com/office/drawing/2014/main" id="{FC0A723D-BCEE-4FB4-BDC7-1D6541521956}"/>
              </a:ext>
            </a:extLst>
          </p:cNvPr>
          <p:cNvSpPr>
            <a:spLocks noGrp="1" noRot="1" noChangeAspect="1" noChangeArrowheads="1" noTextEdit="1"/>
          </p:cNvSpPr>
          <p:nvPr>
            <p:ph type="sldImg"/>
          </p:nvPr>
        </p:nvSpPr>
        <p:spPr>
          <a:ln/>
        </p:spPr>
      </p:sp>
      <p:sp>
        <p:nvSpPr>
          <p:cNvPr id="330755" name="Rectangle 3">
            <a:extLst>
              <a:ext uri="{FF2B5EF4-FFF2-40B4-BE49-F238E27FC236}">
                <a16:creationId xmlns:a16="http://schemas.microsoft.com/office/drawing/2014/main" id="{015179E2-C43E-47EC-9410-B06DE8780E7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left from Fossen, p.367</a:t>
            </a:r>
          </a:p>
          <a:p>
            <a:pPr marL="108000" indent="-108000">
              <a:spcBef>
                <a:spcPts val="300"/>
              </a:spcBef>
              <a:buFont typeface="Arial" panose="020B0604020202020204" pitchFamily="34" charset="0"/>
              <a:buChar char="•"/>
            </a:pPr>
            <a:r>
              <a:rPr lang="en-GB" altLang="en-US" sz="1000" dirty="0"/>
              <a:t>Figure bottom left (from Price &amp; Cosgrove, p.261): cross section through the Jura Mountains between </a:t>
            </a:r>
            <a:r>
              <a:rPr lang="en-GB" altLang="en-US" sz="1000" dirty="0" err="1"/>
              <a:t>Blochmontkette</a:t>
            </a:r>
            <a:r>
              <a:rPr lang="en-GB" altLang="en-US" sz="1000" dirty="0"/>
              <a:t> and </a:t>
            </a:r>
            <a:r>
              <a:rPr lang="en-GB" altLang="en-US" sz="1000" dirty="0" err="1"/>
              <a:t>Delsberg</a:t>
            </a:r>
            <a:r>
              <a:rPr lang="en-GB" altLang="en-US" sz="1000" dirty="0"/>
              <a:t> (taken from Buxtorf, 1916, </a:t>
            </a:r>
            <a:r>
              <a:rPr lang="en-GB" altLang="en-US" sz="1000" i="1" dirty="0" err="1"/>
              <a:t>Verhandlungen</a:t>
            </a:r>
            <a:r>
              <a:rPr lang="en-GB" altLang="en-US" sz="1000" i="1" dirty="0"/>
              <a:t> der </a:t>
            </a:r>
            <a:r>
              <a:rPr lang="en-GB" altLang="en-US" sz="1000" i="1" dirty="0" err="1"/>
              <a:t>Naturforschenden</a:t>
            </a:r>
            <a:r>
              <a:rPr lang="en-GB" altLang="en-US" sz="1000" i="1" dirty="0"/>
              <a:t> Gesellschaft in Basel</a:t>
            </a:r>
            <a:r>
              <a:rPr lang="en-GB" altLang="en-US" sz="1000" dirty="0"/>
              <a:t> 27: 184-254, https://www.biodiversitylibrary.org/item/100726#page/1/mode/1up) and below it, detachment folds formed in a wax multilayer. In the Jura Mountains (Alpine foreland) the folded layers are limestones, and the décollement is along evaporites</a:t>
            </a:r>
          </a:p>
          <a:p>
            <a:pPr marL="108000" indent="-108000">
              <a:spcBef>
                <a:spcPts val="300"/>
              </a:spcBef>
              <a:buFont typeface="Arial" panose="020B0604020202020204" pitchFamily="34" charset="0"/>
              <a:buChar char="•"/>
            </a:pPr>
            <a:r>
              <a:rPr lang="en-GB" altLang="en-US" sz="1000" dirty="0"/>
              <a:t>Photo right (Blay </a:t>
            </a:r>
            <a:r>
              <a:rPr lang="en-GB" altLang="en-US" sz="1000" i="1" dirty="0"/>
              <a:t>et al</a:t>
            </a:r>
            <a:r>
              <a:rPr lang="en-GB" altLang="en-US" sz="1000" dirty="0"/>
              <a:t>., 1977, </a:t>
            </a:r>
            <a:r>
              <a:rPr lang="en-GB" altLang="en-US" sz="1000" i="1" dirty="0"/>
              <a:t>Journal of the Geological Society, London</a:t>
            </a:r>
            <a:r>
              <a:rPr lang="en-GB" altLang="en-US" sz="1000" dirty="0"/>
              <a:t> 133: 329-342, </a:t>
            </a:r>
            <a:r>
              <a:rPr lang="en-GB" sz="1000" dirty="0"/>
              <a:t>https://doi.org/10.1144/gsjgs.133.4.0329</a:t>
            </a:r>
            <a:r>
              <a:rPr lang="en-GB" altLang="en-US" sz="1000" dirty="0"/>
              <a:t>): development of detachment folds in a gelatine multilayer</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a:extLst>
              <a:ext uri="{FF2B5EF4-FFF2-40B4-BE49-F238E27FC236}">
                <a16:creationId xmlns:a16="http://schemas.microsoft.com/office/drawing/2014/main" id="{28B3D7BD-4845-4884-8BFE-C575FB551010}"/>
              </a:ext>
            </a:extLst>
          </p:cNvPr>
          <p:cNvSpPr>
            <a:spLocks noGrp="1" noRot="1" noChangeAspect="1" noChangeArrowheads="1" noTextEdit="1"/>
          </p:cNvSpPr>
          <p:nvPr>
            <p:ph type="sldImg"/>
          </p:nvPr>
        </p:nvSpPr>
        <p:spPr>
          <a:ln/>
        </p:spPr>
      </p:sp>
      <p:sp>
        <p:nvSpPr>
          <p:cNvPr id="389123" name="Rectangle 3">
            <a:extLst>
              <a:ext uri="{FF2B5EF4-FFF2-40B4-BE49-F238E27FC236}">
                <a16:creationId xmlns:a16="http://schemas.microsoft.com/office/drawing/2014/main" id="{D842AFDF-BB95-4F08-8C4E-E7E28576E4B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Area methods of this kind are described in detail by Mitra &amp; </a:t>
            </a:r>
            <a:r>
              <a:rPr lang="en-GB" altLang="en-US" sz="1000" dirty="0" err="1"/>
              <a:t>Namson</a:t>
            </a:r>
            <a:r>
              <a:rPr lang="en-GB" altLang="en-US" sz="1000" dirty="0"/>
              <a:t>, 1989, </a:t>
            </a:r>
            <a:r>
              <a:rPr lang="en-GB" altLang="en-US" sz="1000" i="1" dirty="0"/>
              <a:t>American Journal of Science</a:t>
            </a:r>
            <a:r>
              <a:rPr lang="en-GB" altLang="en-US" sz="1000" dirty="0"/>
              <a:t> 289: 563-599, </a:t>
            </a:r>
            <a:r>
              <a:rPr lang="en-GB" sz="1000" dirty="0"/>
              <a:t>https://doi.org/10.2475/ajs.289.5.563</a:t>
            </a:r>
            <a:r>
              <a:rPr lang="en-GB" altLang="en-US" sz="1000" dirty="0"/>
              <a:t>. For comments on the practical difficulties, see </a:t>
            </a:r>
            <a:r>
              <a:rPr lang="en-GB" altLang="en-US" sz="1000" dirty="0" err="1"/>
              <a:t>Wiltschko</a:t>
            </a:r>
            <a:r>
              <a:rPr lang="en-GB" altLang="en-US" sz="1000" dirty="0"/>
              <a:t> &amp; </a:t>
            </a:r>
            <a:r>
              <a:rPr lang="en-GB" altLang="en-US" sz="1000" dirty="0" err="1"/>
              <a:t>Groshong</a:t>
            </a:r>
            <a:r>
              <a:rPr lang="en-GB" altLang="en-US" sz="1000" dirty="0"/>
              <a:t>, 2012, </a:t>
            </a:r>
            <a:r>
              <a:rPr lang="en-GB" altLang="en-US" sz="1000" i="1" dirty="0"/>
              <a:t>Journal of Structural Geology</a:t>
            </a:r>
            <a:r>
              <a:rPr lang="en-GB" altLang="en-US" sz="1000" dirty="0"/>
              <a:t> 41: 7-23, </a:t>
            </a:r>
            <a:r>
              <a:rPr lang="en-GB" sz="1000" dirty="0"/>
              <a:t>https://doi.org/10.1016/j.jsg.2012.01.019</a:t>
            </a:r>
            <a:endParaRPr lang="en-GB" altLang="en-US" sz="1000" dirty="0"/>
          </a:p>
          <a:p>
            <a:pPr marL="108000" indent="-108000">
              <a:spcBef>
                <a:spcPts val="300"/>
              </a:spcBef>
              <a:buFont typeface="Arial" panose="020B0604020202020204" pitchFamily="34" charset="0"/>
              <a:buChar char="•"/>
            </a:pPr>
            <a:r>
              <a:rPr lang="en-GB" altLang="en-US" sz="1000" dirty="0"/>
              <a:t>Figure from Price &amp; Cosgrove, p.166</a:t>
            </a:r>
          </a:p>
          <a:p>
            <a:pPr marL="108000" indent="-108000">
              <a:spcBef>
                <a:spcPts val="300"/>
              </a:spcBef>
              <a:buFont typeface="Arial" panose="020B0604020202020204" pitchFamily="34" charset="0"/>
              <a:buChar char="•"/>
            </a:pPr>
            <a:r>
              <a:rPr lang="en-GB" altLang="en-US" sz="1000" dirty="0"/>
              <a:t>Photo (from Fossen, one of the extra figures on the web-site for the book, folk.uib.no/</a:t>
            </a:r>
            <a:r>
              <a:rPr lang="en-GB" altLang="en-US" sz="1000" dirty="0" err="1"/>
              <a:t>nglhe</a:t>
            </a:r>
            <a:r>
              <a:rPr lang="en-GB" altLang="en-US" sz="1000" dirty="0"/>
              <a:t>/StructuralGeoBook.html): </a:t>
            </a:r>
            <a:r>
              <a:rPr lang="en-GB" altLang="en-US" sz="1000" dirty="0" err="1"/>
              <a:t>Etne</a:t>
            </a:r>
            <a:r>
              <a:rPr lang="en-GB" altLang="en-US" sz="1000" dirty="0"/>
              <a:t>, south of Bergen, Norway</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a:extLst>
              <a:ext uri="{FF2B5EF4-FFF2-40B4-BE49-F238E27FC236}">
                <a16:creationId xmlns:a16="http://schemas.microsoft.com/office/drawing/2014/main" id="{360BF42C-0B4E-45BF-B1D8-3776A62EAAA4}"/>
              </a:ext>
            </a:extLst>
          </p:cNvPr>
          <p:cNvSpPr>
            <a:spLocks noGrp="1" noRot="1" noChangeAspect="1" noChangeArrowheads="1" noTextEdit="1"/>
          </p:cNvSpPr>
          <p:nvPr>
            <p:ph type="sldImg"/>
          </p:nvPr>
        </p:nvSpPr>
        <p:spPr>
          <a:ln/>
        </p:spPr>
      </p:sp>
      <p:sp>
        <p:nvSpPr>
          <p:cNvPr id="334851" name="Rectangle 3">
            <a:extLst>
              <a:ext uri="{FF2B5EF4-FFF2-40B4-BE49-F238E27FC236}">
                <a16:creationId xmlns:a16="http://schemas.microsoft.com/office/drawing/2014/main" id="{3B69C49F-61C8-40DA-BDEE-9AC72FF3434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according to this section, the growth of the </a:t>
            </a:r>
            <a:r>
              <a:rPr lang="en-GB" altLang="en-US" sz="1000" dirty="0" err="1"/>
              <a:t>antiform</a:t>
            </a:r>
            <a:r>
              <a:rPr lang="en-GB" altLang="en-US" sz="1000" dirty="0"/>
              <a:t> occurred while some units (those annotated with dots and circles) were being deposited, and that some of these units are cut by thrusts and some are overlying thrusts. Consequently, tight timing constraints on the formation of the structures may be obtained</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 from </a:t>
            </a:r>
            <a:r>
              <a:rPr lang="en-GB" altLang="en-US" sz="1000" dirty="0" err="1"/>
              <a:t>Vergés</a:t>
            </a:r>
            <a:r>
              <a:rPr lang="en-GB" altLang="en-US" sz="1000" dirty="0"/>
              <a:t> &amp; Mu</a:t>
            </a:r>
            <a:r>
              <a:rPr lang="en-US" altLang="en-US" sz="1000" dirty="0">
                <a:cs typeface="Times New Roman" panose="02020603050405020304" pitchFamily="18" charset="0"/>
              </a:rPr>
              <a:t>ñ</a:t>
            </a:r>
            <a:r>
              <a:rPr lang="en-GB" altLang="en-US" sz="1000" dirty="0"/>
              <a:t>oz, 1990, </a:t>
            </a:r>
            <a:r>
              <a:rPr lang="en-GB" altLang="en-US" sz="1000" i="1" dirty="0"/>
              <a:t>Bulletin de la Société </a:t>
            </a:r>
            <a:r>
              <a:rPr lang="en-GB" altLang="en-US" sz="1000" i="1" dirty="0" err="1"/>
              <a:t>Géologique</a:t>
            </a:r>
            <a:r>
              <a:rPr lang="en-GB" altLang="en-US" sz="1000" i="1" dirty="0"/>
              <a:t> de France</a:t>
            </a:r>
            <a:r>
              <a:rPr lang="en-GB" altLang="en-US" sz="1000" dirty="0"/>
              <a:t> 6: 265-271, </a:t>
            </a:r>
            <a:r>
              <a:rPr lang="en-GB" sz="1000" dirty="0"/>
              <a:t>https://doi.org/10.2113/gssgfbull.VI.2.265</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a:extLst>
              <a:ext uri="{FF2B5EF4-FFF2-40B4-BE49-F238E27FC236}">
                <a16:creationId xmlns:a16="http://schemas.microsoft.com/office/drawing/2014/main" id="{2F78F3FB-8109-4E43-8048-4F47733DB68A}"/>
              </a:ext>
            </a:extLst>
          </p:cNvPr>
          <p:cNvSpPr>
            <a:spLocks noGrp="1" noRot="1" noChangeAspect="1" noChangeArrowheads="1" noTextEdit="1"/>
          </p:cNvSpPr>
          <p:nvPr>
            <p:ph type="sldImg"/>
          </p:nvPr>
        </p:nvSpPr>
        <p:spPr>
          <a:ln/>
        </p:spPr>
      </p:sp>
      <p:sp>
        <p:nvSpPr>
          <p:cNvPr id="448515" name="Rectangle 3">
            <a:extLst>
              <a:ext uri="{FF2B5EF4-FFF2-40B4-BE49-F238E27FC236}">
                <a16:creationId xmlns:a16="http://schemas.microsoft.com/office/drawing/2014/main" id="{22385045-6317-4243-B265-D9EAD73DBD7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Tight constraints upon when particular structures formed may be obtained by dating the sediments that were deposited as the structure was growing. Similar information may be gleaned by examining, for example, conglomerate clast composition in </a:t>
            </a:r>
            <a:r>
              <a:rPr lang="en-GB" altLang="en-US" sz="1000" dirty="0" err="1"/>
              <a:t>syntectonic</a:t>
            </a:r>
            <a:r>
              <a:rPr lang="en-GB" altLang="en-US" sz="1000" dirty="0"/>
              <a:t> sediments to determine which parts of the mountain belt were being uplifted and eroded at any given time (</a:t>
            </a:r>
            <a:r>
              <a:rPr lang="en-GB" altLang="en-US" sz="1000" i="1" dirty="0"/>
              <a:t>e.g.</a:t>
            </a:r>
            <a:r>
              <a:rPr lang="en-GB" altLang="en-US" sz="1000" dirty="0"/>
              <a:t>, Jones </a:t>
            </a:r>
            <a:r>
              <a:rPr lang="en-GB" altLang="en-US" sz="1000" i="1" dirty="0"/>
              <a:t>et al.</a:t>
            </a:r>
            <a:r>
              <a:rPr lang="en-GB" altLang="en-US" sz="1000" dirty="0"/>
              <a:t>, 2004, </a:t>
            </a:r>
            <a:r>
              <a:rPr lang="en-GB" altLang="en-US" sz="1000" i="1" dirty="0"/>
              <a:t>Basin Research</a:t>
            </a:r>
            <a:r>
              <a:rPr lang="en-GB" altLang="en-US" sz="1000" dirty="0"/>
              <a:t> 16: 489-506, </a:t>
            </a:r>
            <a:r>
              <a:rPr lang="en-GB" sz="1000" dirty="0"/>
              <a:t>https://doi.org/10.1111/j.1365-2117.2004.00244.x</a:t>
            </a:r>
            <a:r>
              <a:rPr lang="en-GB" altLang="en-US" sz="1000" dirty="0"/>
              <a:t>) – one might expect, because of uplift and erosion of the orogenic belt, that younger conglomerates will contain clasts from deeper (older, more highly metamorphosed) parts of the orogen</a:t>
            </a:r>
          </a:p>
          <a:p>
            <a:pPr marL="108000" indent="-108000">
              <a:spcBef>
                <a:spcPts val="300"/>
              </a:spcBef>
              <a:buFont typeface="Arial" panose="020B0604020202020204" pitchFamily="34" charset="0"/>
              <a:buChar char="•"/>
            </a:pPr>
            <a:r>
              <a:rPr lang="en-GB" altLang="en-US" sz="1000" dirty="0"/>
              <a:t>Figure top left (adapted by Steve Covey-Crump from http://www.geol-alp.com/gap_digne/_general_gap_digne/0_nappe_digne.html): the development of a basin ahead of a thrust that was subsequently over-ridden by that thrust (the Digne thrust, SE France) as the deformation progressed – this shows the interpretation for the folded units of the </a:t>
            </a:r>
            <a:r>
              <a:rPr lang="en-GB" altLang="en-US" sz="1000" dirty="0" err="1"/>
              <a:t>Vélodrome</a:t>
            </a:r>
            <a:r>
              <a:rPr lang="en-GB" altLang="en-US" sz="1000" dirty="0"/>
              <a:t>, near Digne-les-Bains, SE France (see photo on Class 1 Slide 2 PowerPoint)</a:t>
            </a:r>
          </a:p>
          <a:p>
            <a:pPr marL="108000" indent="-108000">
              <a:spcBef>
                <a:spcPts val="300"/>
              </a:spcBef>
              <a:buFont typeface="Arial" panose="020B0604020202020204" pitchFamily="34" charset="0"/>
              <a:buChar char="•"/>
            </a:pPr>
            <a:r>
              <a:rPr lang="en-GB" altLang="en-US" sz="1000" dirty="0"/>
              <a:t>Figure bottom left (adapted by Steve Covey-Crump from www.geol-alp.com/gap_digne/_general_gap_digne/barles_demi_fen.html): the end result of the deformation illustrated in the figure immediately above. A photo of the </a:t>
            </a:r>
            <a:r>
              <a:rPr lang="en-GB" altLang="en-US" sz="1000" dirty="0" err="1"/>
              <a:t>Vélodrome</a:t>
            </a:r>
            <a:r>
              <a:rPr lang="en-GB" altLang="en-US" sz="1000" dirty="0"/>
              <a:t> (mountain-scale folds) in the part of the section indicated by the red square is given in Class 1 Slide 2. For a discussion of the evolution of these folds, see Fournier </a:t>
            </a:r>
            <a:r>
              <a:rPr lang="en-GB" altLang="en-US" sz="1000" i="1" dirty="0"/>
              <a:t>et al</a:t>
            </a:r>
            <a:r>
              <a:rPr lang="en-GB" altLang="en-US" sz="1000" dirty="0"/>
              <a:t>., 2008, </a:t>
            </a:r>
            <a:r>
              <a:rPr lang="en-GB" altLang="en-US" sz="1000" i="1" dirty="0"/>
              <a:t>Bulletin de la Société </a:t>
            </a:r>
            <a:r>
              <a:rPr lang="en-GB" altLang="en-US" sz="1000" i="1" dirty="0" err="1"/>
              <a:t>Géologique</a:t>
            </a:r>
            <a:r>
              <a:rPr lang="en-GB" altLang="en-US" sz="1000" i="1" dirty="0"/>
              <a:t> de France</a:t>
            </a:r>
            <a:r>
              <a:rPr lang="en-GB" altLang="en-US" sz="1000" dirty="0"/>
              <a:t> 179: 551-568, </a:t>
            </a:r>
            <a:r>
              <a:rPr lang="en-GB" sz="1000" dirty="0"/>
              <a:t>https://doi.org/10.2113/gssgfbull.179.6.551</a:t>
            </a:r>
            <a:endParaRPr lang="en-GB" altLang="en-US" sz="1000" dirty="0"/>
          </a:p>
          <a:p>
            <a:pPr marL="108000" indent="-108000">
              <a:spcBef>
                <a:spcPts val="300"/>
              </a:spcBef>
              <a:buFont typeface="Arial" panose="020B0604020202020204" pitchFamily="34" charset="0"/>
              <a:buChar char="•"/>
            </a:pPr>
            <a:r>
              <a:rPr lang="en-GB" altLang="en-US" sz="1000" dirty="0"/>
              <a:t>Photo top right (Steve Covey-Crump): Horta de San Juan, Tarragona, NE Spain. These beds were being progressively tilted as they were being deposited</a:t>
            </a:r>
          </a:p>
          <a:p>
            <a:pPr marL="108000" indent="-108000">
              <a:spcBef>
                <a:spcPts val="300"/>
              </a:spcBef>
              <a:buFont typeface="Arial" panose="020B0604020202020204" pitchFamily="34" charset="0"/>
              <a:buChar char="•"/>
            </a:pPr>
            <a:r>
              <a:rPr lang="en-GB" altLang="en-US" sz="1000" dirty="0"/>
              <a:t>Photo bottom right (Steve Covey-Crump): growth fold at </a:t>
            </a:r>
            <a:r>
              <a:rPr lang="en-GB" altLang="en-US" sz="1000" dirty="0" err="1"/>
              <a:t>Senez</a:t>
            </a:r>
            <a:r>
              <a:rPr lang="en-GB" altLang="en-US" sz="1000" dirty="0"/>
              <a:t>, near </a:t>
            </a:r>
            <a:r>
              <a:rPr lang="en-GB" altLang="en-US" sz="1000" dirty="0" err="1"/>
              <a:t>Barrême</a:t>
            </a:r>
            <a:r>
              <a:rPr lang="en-GB" altLang="en-US" sz="1000" dirty="0"/>
              <a:t>, France. Note the </a:t>
            </a:r>
            <a:r>
              <a:rPr lang="en-GB" altLang="en-US" sz="1000" dirty="0" err="1"/>
              <a:t>antiform</a:t>
            </a:r>
            <a:r>
              <a:rPr lang="en-GB" altLang="en-US" sz="1000" dirty="0"/>
              <a:t> in the middle of the photo and how the units thicken on the left limb – this limb thickness variation was because the fold was growing as the units were being deposited. The nearly horizontal beds above the fold onlap on to it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4F5CB795-A2B3-4CCA-90EA-0E4A546E56C4}" type="slidenum">
              <a:rPr lang="en-GB" altLang="en-US" smtClean="0"/>
              <a:pPr/>
              <a:t>42</a:t>
            </a:fld>
            <a:endParaRPr lang="en-GB" altLang="en-US"/>
          </a:p>
        </p:txBody>
      </p:sp>
    </p:spTree>
    <p:extLst>
      <p:ext uri="{BB962C8B-B14F-4D97-AF65-F5344CB8AC3E}">
        <p14:creationId xmlns:p14="http://schemas.microsoft.com/office/powerpoint/2010/main" val="15104025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a:extLst>
              <a:ext uri="{FF2B5EF4-FFF2-40B4-BE49-F238E27FC236}">
                <a16:creationId xmlns:a16="http://schemas.microsoft.com/office/drawing/2014/main" id="{AA4B67BA-A524-4FE2-BBE3-C8A57D67812B}"/>
              </a:ext>
            </a:extLst>
          </p:cNvPr>
          <p:cNvSpPr>
            <a:spLocks noGrp="1" noRot="1" noChangeAspect="1" noChangeArrowheads="1" noTextEdit="1"/>
          </p:cNvSpPr>
          <p:nvPr>
            <p:ph type="sldImg"/>
          </p:nvPr>
        </p:nvSpPr>
        <p:spPr>
          <a:ln/>
        </p:spPr>
      </p:sp>
      <p:sp>
        <p:nvSpPr>
          <p:cNvPr id="339971" name="Rectangle 3">
            <a:extLst>
              <a:ext uri="{FF2B5EF4-FFF2-40B4-BE49-F238E27FC236}">
                <a16:creationId xmlns:a16="http://schemas.microsoft.com/office/drawing/2014/main" id="{207FEB22-5D74-41EF-B986-8EE48C35E79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emplacement of large thrust sheets was the subject of a landmark mechanical analysis by Hubbert and </a:t>
            </a:r>
            <a:r>
              <a:rPr lang="en-GB" altLang="en-US" sz="1000" dirty="0" err="1"/>
              <a:t>Rubey</a:t>
            </a:r>
            <a:r>
              <a:rPr lang="en-GB" altLang="en-US" sz="1000" dirty="0"/>
              <a:t> who modelled a thrust sheet as thin rectangular slab (Hubbert &amp; </a:t>
            </a:r>
            <a:r>
              <a:rPr lang="en-GB" altLang="en-US" sz="1000" dirty="0" err="1"/>
              <a:t>Rubey</a:t>
            </a:r>
            <a:r>
              <a:rPr lang="en-GB" altLang="en-US" sz="1000" dirty="0"/>
              <a:t>, 1959, </a:t>
            </a:r>
            <a:r>
              <a:rPr lang="en-GB" altLang="en-US" sz="1000" i="1" dirty="0"/>
              <a:t>Geological Society of America Bulletin</a:t>
            </a:r>
            <a:r>
              <a:rPr lang="en-GB" altLang="en-US" sz="1000" dirty="0"/>
              <a:t> 70: 115-206, </a:t>
            </a:r>
            <a:r>
              <a:rPr lang="en-GB" sz="1000" dirty="0"/>
              <a:t>https://doi.org/10.1130/0016-7606(1959)70[115:ROFPIM]2.0.CO;2</a:t>
            </a:r>
            <a:r>
              <a:rPr lang="en-GB" altLang="en-US" sz="1000" dirty="0"/>
              <a:t>). This analysis emphasized the point that rocks are far too weak for a thin sheet of rock to be pushed over other rocks for 100s km without the sheet deforming internally (it is like trying to push a wet napkin across a tabletop – the napkin will not move as a single rigid unit). Yet thrust sheets that have moved this far are observed. Various ways of resolving this paradox, while retaining the rectangular slab geometry, have been proposed but none are entirely satisfactory (for a discussion see Twiss &amp; </a:t>
            </a:r>
            <a:r>
              <a:rPr lang="en-GB" altLang="en-US" sz="1000" dirty="0" err="1"/>
              <a:t>Moores</a:t>
            </a:r>
            <a:r>
              <a:rPr lang="en-GB" altLang="en-US" sz="1000" dirty="0"/>
              <a:t>, p.258-267). Much greater success has been obtained with the critical wedge model. Details of how thrust sheets may be modelled as wedges are given by Dahlen, 1990, </a:t>
            </a:r>
            <a:r>
              <a:rPr lang="en-GB" altLang="en-US" sz="1000" i="1" dirty="0"/>
              <a:t>Annual Reviews of Earth and Planetary Sciences</a:t>
            </a:r>
            <a:r>
              <a:rPr lang="en-GB" altLang="en-US" sz="1000" dirty="0"/>
              <a:t> 18: 55-99, </a:t>
            </a:r>
            <a:r>
              <a:rPr lang="en-GB" sz="1000" dirty="0"/>
              <a:t>https://doi.org/10.1146/annurev.ea.18.050190.000415</a:t>
            </a:r>
            <a:endParaRPr lang="en-GB" altLang="en-US" sz="1000" dirty="0"/>
          </a:p>
          <a:p>
            <a:pPr marL="108000" indent="-108000">
              <a:spcBef>
                <a:spcPts val="300"/>
              </a:spcBef>
              <a:buFont typeface="Arial" panose="020B0604020202020204" pitchFamily="34" charset="0"/>
              <a:buChar char="•"/>
            </a:pPr>
            <a:r>
              <a:rPr lang="en-GB" altLang="en-US" sz="1000" dirty="0"/>
              <a:t>Figures from Fossen, p.369</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7242FD2E-2CC3-45A8-8E45-4A8E4CCD5487}"/>
              </a:ext>
            </a:extLst>
          </p:cNvPr>
          <p:cNvSpPr>
            <a:spLocks noGrp="1" noRot="1" noChangeAspect="1" noChangeArrowheads="1" noTextEdit="1"/>
          </p:cNvSpPr>
          <p:nvPr>
            <p:ph type="sldImg"/>
          </p:nvPr>
        </p:nvSpPr>
        <p:spPr>
          <a:ln/>
        </p:spPr>
      </p:sp>
      <p:sp>
        <p:nvSpPr>
          <p:cNvPr id="343043" name="Rectangle 3">
            <a:extLst>
              <a:ext uri="{FF2B5EF4-FFF2-40B4-BE49-F238E27FC236}">
                <a16:creationId xmlns:a16="http://schemas.microsoft.com/office/drawing/2014/main" id="{504AC91A-576C-402C-839A-D68B7A00FC2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Fossen, p.369</a:t>
            </a:r>
          </a:p>
          <a:p>
            <a:pPr marL="108000" indent="-108000">
              <a:spcBef>
                <a:spcPts val="300"/>
              </a:spcBef>
              <a:buFont typeface="Arial" panose="020B0604020202020204" pitchFamily="34" charset="0"/>
              <a:buChar char="•"/>
            </a:pPr>
            <a:r>
              <a:rPr lang="en-GB" altLang="en-US" sz="1000" dirty="0"/>
              <a:t>For an influential model describing these compensating deformation features of thrust wedges as they develop, see Platt, 1986, </a:t>
            </a:r>
            <a:r>
              <a:rPr lang="en-GB" altLang="en-US" sz="1000" i="1" dirty="0"/>
              <a:t>Geological Society of America Bulletin</a:t>
            </a:r>
            <a:r>
              <a:rPr lang="en-GB" altLang="en-US" sz="1000" dirty="0"/>
              <a:t> 97: 1037-1053, </a:t>
            </a:r>
            <a:r>
              <a:rPr lang="en-GB" sz="1000" dirty="0"/>
              <a:t>https://doi.org/10.1130/0016-7606(1986)97&lt;1037:DOOWAT&gt;2.0.CO;2</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12E233BA-C882-49BC-B7C0-E98336B8B902}"/>
              </a:ext>
            </a:extLst>
          </p:cNvPr>
          <p:cNvSpPr>
            <a:spLocks noGrp="1" noRot="1" noChangeAspect="1" noChangeArrowheads="1" noTextEdit="1"/>
          </p:cNvSpPr>
          <p:nvPr>
            <p:ph type="sldImg"/>
          </p:nvPr>
        </p:nvSpPr>
        <p:spPr>
          <a:ln/>
        </p:spPr>
      </p:sp>
      <p:sp>
        <p:nvSpPr>
          <p:cNvPr id="349187" name="Rectangle 3">
            <a:extLst>
              <a:ext uri="{FF2B5EF4-FFF2-40B4-BE49-F238E27FC236}">
                <a16:creationId xmlns:a16="http://schemas.microsoft.com/office/drawing/2014/main" id="{7F82D544-7CE9-45CF-8E29-A6D6025B0CD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the gliding model is perhaps only important at local scales since at the regional scale, the basal décollement in active orogenic belts generally dips towards the hinterland (and hence the flow would have to be up-slope). Gliding has similarities with land-slips. At scales of up to a few 10s km, gravitational collapse systems of this kind are called surge zones (see Coward, 1982, </a:t>
            </a:r>
            <a:r>
              <a:rPr lang="en-GB" altLang="en-US" sz="1000" i="1" dirty="0"/>
              <a:t>Journal of Structural Geology</a:t>
            </a:r>
            <a:r>
              <a:rPr lang="en-GB" altLang="en-US" sz="1000" dirty="0"/>
              <a:t> 4: 247-256, </a:t>
            </a:r>
            <a:r>
              <a:rPr lang="en-GB" sz="1000" dirty="0"/>
              <a:t>https://doi.org/10.1016/0191-8141(82)90012-8</a:t>
            </a:r>
            <a:r>
              <a:rPr lang="en-GB" altLang="en-US" sz="1000" dirty="0"/>
              <a:t>)</a:t>
            </a:r>
          </a:p>
          <a:p>
            <a:pPr marL="108000" indent="-108000">
              <a:spcBef>
                <a:spcPts val="300"/>
              </a:spcBef>
              <a:buFont typeface="Arial" panose="020B0604020202020204" pitchFamily="34" charset="0"/>
              <a:buChar char="•"/>
            </a:pPr>
            <a:r>
              <a:rPr lang="en-GB" altLang="en-US" sz="1000" dirty="0"/>
              <a:t>In contrast, the spreading model allows up-slope flow because it is the surface slope that counts. This has similarities with the flow of glaciers</a:t>
            </a:r>
          </a:p>
          <a:p>
            <a:pPr marL="108000" indent="-108000">
              <a:spcBef>
                <a:spcPts val="300"/>
              </a:spcBef>
              <a:buFont typeface="Arial" panose="020B0604020202020204" pitchFamily="34" charset="0"/>
              <a:buChar char="•"/>
            </a:pPr>
            <a:r>
              <a:rPr lang="en-GB" altLang="en-US" sz="1000" dirty="0"/>
              <a:t>For a more detailed account of gravity models and their implications for strain history, see Merle, 1989, </a:t>
            </a:r>
            <a:r>
              <a:rPr lang="en-GB" altLang="en-US" sz="1000" i="1" dirty="0"/>
              <a:t>Tectonophysics</a:t>
            </a:r>
            <a:r>
              <a:rPr lang="en-GB" altLang="en-US" sz="1000" dirty="0"/>
              <a:t> 165: 57-71, </a:t>
            </a:r>
            <a:r>
              <a:rPr lang="en-GB" sz="1000" dirty="0"/>
              <a:t>https://doi.org/10.1016/0040-1951(89)90035-8</a:t>
            </a:r>
            <a:endParaRPr lang="en-GB" altLang="en-US" sz="1000" dirty="0"/>
          </a:p>
          <a:p>
            <a:pPr marL="108000" indent="-108000">
              <a:spcBef>
                <a:spcPts val="300"/>
              </a:spcBef>
              <a:buFont typeface="Arial" panose="020B0604020202020204" pitchFamily="34" charset="0"/>
              <a:buChar char="•"/>
            </a:pPr>
            <a:r>
              <a:rPr lang="en-GB" altLang="en-US" sz="1000" dirty="0"/>
              <a:t>Figure left adapted by Steve Covey-Crump from Merle, 1989, </a:t>
            </a:r>
            <a:r>
              <a:rPr lang="en-GB" altLang="en-US" sz="1000" i="1" dirty="0"/>
              <a:t>Tectonophysics</a:t>
            </a:r>
            <a:r>
              <a:rPr lang="en-GB" altLang="en-US" sz="1000" dirty="0"/>
              <a:t> 165: 57-71, </a:t>
            </a:r>
            <a:r>
              <a:rPr lang="en-GB" sz="1000" dirty="0"/>
              <a:t>https://doi.org/10.1016/0040-1951(89)90035-8</a:t>
            </a:r>
            <a:endParaRPr lang="en-GB" altLang="en-US" sz="1000" dirty="0"/>
          </a:p>
          <a:p>
            <a:pPr marL="108000" indent="-108000">
              <a:spcBef>
                <a:spcPts val="300"/>
              </a:spcBef>
              <a:buFont typeface="Arial" panose="020B0604020202020204" pitchFamily="34" charset="0"/>
              <a:buChar char="•"/>
            </a:pPr>
            <a:r>
              <a:rPr lang="en-GB" altLang="en-US" sz="1000" dirty="0"/>
              <a:t>Figure right from Fossen, p.372</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a:extLst>
              <a:ext uri="{FF2B5EF4-FFF2-40B4-BE49-F238E27FC236}">
                <a16:creationId xmlns:a16="http://schemas.microsoft.com/office/drawing/2014/main" id="{8B2CD417-C723-4FE7-AF73-C0571319D641}"/>
              </a:ext>
            </a:extLst>
          </p:cNvPr>
          <p:cNvSpPr>
            <a:spLocks noGrp="1" noRot="1" noChangeAspect="1" noChangeArrowheads="1" noTextEdit="1"/>
          </p:cNvSpPr>
          <p:nvPr>
            <p:ph type="sldImg"/>
          </p:nvPr>
        </p:nvSpPr>
        <p:spPr>
          <a:ln/>
        </p:spPr>
      </p:sp>
      <p:sp>
        <p:nvSpPr>
          <p:cNvPr id="417795" name="Rectangle 3">
            <a:extLst>
              <a:ext uri="{FF2B5EF4-FFF2-40B4-BE49-F238E27FC236}">
                <a16:creationId xmlns:a16="http://schemas.microsoft.com/office/drawing/2014/main" id="{21882137-0179-417F-9160-FB234C8C4B0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X on this slide refers to the orientation of the greatest principal strain (the long axis of the strain ellipsoid, see Class 3), </a:t>
            </a:r>
            <a:r>
              <a:rPr lang="en-GB" altLang="en-US" sz="1000" i="1" dirty="0"/>
              <a:t>e.g.</a:t>
            </a:r>
            <a:r>
              <a:rPr lang="en-GB" altLang="en-US" sz="1000" dirty="0"/>
              <a:t>, the direction of a stretching lineation</a:t>
            </a:r>
          </a:p>
          <a:p>
            <a:pPr marL="108000" indent="-108000">
              <a:spcBef>
                <a:spcPts val="300"/>
              </a:spcBef>
              <a:buFont typeface="Arial" panose="020B0604020202020204" pitchFamily="34" charset="0"/>
              <a:buChar char="•"/>
            </a:pPr>
            <a:r>
              <a:rPr lang="en-GB" altLang="en-US" sz="1000" dirty="0"/>
              <a:t>Twiss &amp; </a:t>
            </a:r>
            <a:r>
              <a:rPr lang="en-GB" altLang="en-US" sz="1000" dirty="0" err="1"/>
              <a:t>Moores</a:t>
            </a:r>
            <a:r>
              <a:rPr lang="en-GB" altLang="en-US" sz="1000" dirty="0"/>
              <a:t> (p.675-676) provide a concise discussion of these different models of strain through thrust sheets. Interesting examples of attempts to split strains in thrust sheets into pure shear (shortening or extension) </a:t>
            </a:r>
            <a:r>
              <a:rPr lang="en-GB" altLang="en-US" sz="1000" dirty="0">
                <a:cs typeface="Times New Roman" panose="02020603050405020304" pitchFamily="18" charset="0"/>
              </a:rPr>
              <a:t>and </a:t>
            </a:r>
            <a:r>
              <a:rPr lang="en-GB" altLang="en-US" sz="1000" dirty="0"/>
              <a:t>simple shear components include Coward &amp; Kim, 1981, </a:t>
            </a:r>
            <a:r>
              <a:rPr lang="en-GB" altLang="en-US" sz="1000" i="1" dirty="0"/>
              <a:t>Geological Society, London, Special Publications</a:t>
            </a:r>
            <a:r>
              <a:rPr lang="en-GB" altLang="en-US" sz="1000" dirty="0"/>
              <a:t> 9: 275-292, </a:t>
            </a:r>
            <a:r>
              <a:rPr lang="en-GB" sz="1000" dirty="0"/>
              <a:t>https://doi.org/10.1144/GSL.SP.1981.009.01.25</a:t>
            </a:r>
            <a:r>
              <a:rPr lang="en-GB" altLang="en-US" sz="1000" dirty="0"/>
              <a:t>, and Fischer &amp; Coward, 1982, </a:t>
            </a:r>
            <a:r>
              <a:rPr lang="en-GB" altLang="en-US" sz="1000" i="1" dirty="0"/>
              <a:t>Tectonophysics</a:t>
            </a:r>
            <a:r>
              <a:rPr lang="en-GB" altLang="en-US" sz="1000" dirty="0"/>
              <a:t> 88: 291-312, </a:t>
            </a:r>
            <a:r>
              <a:rPr lang="en-GB" sz="1000" dirty="0"/>
              <a:t>https://doi.org/10.1016/0040-1951(82)90241-4</a:t>
            </a:r>
            <a:endParaRPr lang="en-GB" altLang="en-US" sz="1000" dirty="0"/>
          </a:p>
          <a:p>
            <a:pPr marL="108000" indent="-108000">
              <a:spcBef>
                <a:spcPts val="300"/>
              </a:spcBef>
              <a:buFont typeface="Arial" panose="020B0604020202020204" pitchFamily="34" charset="0"/>
              <a:buChar char="•"/>
            </a:pPr>
            <a:r>
              <a:rPr lang="en-GB" altLang="en-US" sz="1000" dirty="0"/>
              <a:t>Figure (adapted by Steve Covey-Crump from Sanderson, 1982, </a:t>
            </a:r>
            <a:r>
              <a:rPr lang="en-GB" altLang="en-US" sz="1000" i="1" dirty="0"/>
              <a:t>Tectonophysics</a:t>
            </a:r>
            <a:r>
              <a:rPr lang="en-GB" altLang="en-US" sz="1000" dirty="0"/>
              <a:t> 88: 201-233, </a:t>
            </a:r>
            <a:r>
              <a:rPr lang="en-GB" sz="1000" dirty="0"/>
              <a:t>https://doi.org/10.1016/0040-1951(82)90237-2</a:t>
            </a:r>
            <a:r>
              <a:rPr lang="en-GB" altLang="en-US" sz="1000" dirty="0"/>
              <a:t>) showing the orientation of the long axis of the strain ellipsoid through a thrust sheet for the cases of simple shear</a:t>
            </a:r>
            <a:r>
              <a:rPr lang="en-GB" altLang="en-US" sz="1000" dirty="0">
                <a:cs typeface="Times New Roman" panose="02020603050405020304" pitchFamily="18" charset="0"/>
              </a:rPr>
              <a:t>, simple </a:t>
            </a:r>
            <a:r>
              <a:rPr lang="en-GB" altLang="en-US" sz="1000" dirty="0" err="1">
                <a:cs typeface="Times New Roman" panose="02020603050405020304" pitchFamily="18" charset="0"/>
              </a:rPr>
              <a:t>shear+shortening</a:t>
            </a:r>
            <a:r>
              <a:rPr lang="en-GB" altLang="en-US" sz="1000" dirty="0">
                <a:cs typeface="Times New Roman" panose="02020603050405020304" pitchFamily="18" charset="0"/>
              </a:rPr>
              <a:t>, and simple </a:t>
            </a:r>
            <a:r>
              <a:rPr lang="en-GB" altLang="en-US" sz="1000" dirty="0" err="1">
                <a:cs typeface="Times New Roman" panose="02020603050405020304" pitchFamily="18" charset="0"/>
              </a:rPr>
              <a:t>shear+extension</a:t>
            </a:r>
            <a:endParaRPr lang="en-GB" altLang="en-US" sz="1000" dirty="0">
              <a:cs typeface="Times New Roman" panose="02020603050405020304" pitchFamily="18" charset="0"/>
            </a:endParaRPr>
          </a:p>
          <a:p>
            <a:pPr marL="0" indent="0">
              <a:spcBef>
                <a:spcPts val="300"/>
              </a:spcBef>
              <a:buFont typeface="Arial" panose="020B0604020202020204" pitchFamily="34" charset="0"/>
              <a:buNone/>
            </a:pPr>
            <a:endParaRPr lang="en-GB" altLang="en-US" sz="1000" dirty="0">
              <a:cs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a:extLst>
              <a:ext uri="{FF2B5EF4-FFF2-40B4-BE49-F238E27FC236}">
                <a16:creationId xmlns:a16="http://schemas.microsoft.com/office/drawing/2014/main" id="{A6B3D396-A68F-4923-9FEA-F9A869B8E4A0}"/>
              </a:ext>
            </a:extLst>
          </p:cNvPr>
          <p:cNvSpPr>
            <a:spLocks noGrp="1" noRot="1" noChangeAspect="1" noChangeArrowheads="1" noTextEdit="1"/>
          </p:cNvSpPr>
          <p:nvPr>
            <p:ph type="sldImg"/>
          </p:nvPr>
        </p:nvSpPr>
        <p:spPr>
          <a:ln/>
        </p:spPr>
      </p:sp>
      <p:sp>
        <p:nvSpPr>
          <p:cNvPr id="421891" name="Rectangle 3">
            <a:extLst>
              <a:ext uri="{FF2B5EF4-FFF2-40B4-BE49-F238E27FC236}">
                <a16:creationId xmlns:a16="http://schemas.microsoft.com/office/drawing/2014/main" id="{C3DB8C18-A769-48A3-9CD1-E198EFC6857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right from Ramsay &amp; Huber, 1983, </a:t>
            </a:r>
            <a:r>
              <a:rPr lang="en-GB" altLang="en-US" sz="1000" i="1" dirty="0"/>
              <a:t>The Techniques of Modern Structural Geology, Volume 1: Strain Analysis</a:t>
            </a:r>
            <a:r>
              <a:rPr lang="en-GB" altLang="en-US" sz="1000" dirty="0"/>
              <a:t>, p.205</a:t>
            </a:r>
          </a:p>
          <a:p>
            <a:pPr marL="108000" indent="-108000">
              <a:spcBef>
                <a:spcPts val="300"/>
              </a:spcBef>
              <a:buFont typeface="Arial" panose="020B0604020202020204" pitchFamily="34" charset="0"/>
              <a:buChar char="•"/>
            </a:pPr>
            <a:r>
              <a:rPr lang="en-GB" altLang="en-US" sz="1000" dirty="0"/>
              <a:t>Figure bottom left from Gray &amp; Willman, 1991, </a:t>
            </a:r>
            <a:r>
              <a:rPr lang="en-GB" altLang="en-US" sz="1000" i="1" dirty="0"/>
              <a:t>Journal of Structural Geology</a:t>
            </a:r>
            <a:r>
              <a:rPr lang="en-GB" altLang="en-US" sz="1000" dirty="0"/>
              <a:t> 13: 691-710, </a:t>
            </a:r>
            <a:r>
              <a:rPr lang="en-GB" sz="1000" dirty="0"/>
              <a:t>https://doi.org/10.1016/0191-8141(91)90031-D</a:t>
            </a:r>
            <a:r>
              <a:rPr lang="en-GB" altLang="en-US" sz="1000" dirty="0"/>
              <a:t>. The Bendigo fold and thrust belt is economically important because of the large gold deposits (saddle reefs) that are present in the antiformal hinges</a:t>
            </a:r>
          </a:p>
          <a:p>
            <a:pPr>
              <a:spcBef>
                <a:spcPts val="300"/>
              </a:spcBef>
              <a:buFontTx/>
              <a:buNone/>
            </a:pPr>
            <a:endParaRPr lang="en-GB" altLang="en-US" sz="1000"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a:extLst>
              <a:ext uri="{FF2B5EF4-FFF2-40B4-BE49-F238E27FC236}">
                <a16:creationId xmlns:a16="http://schemas.microsoft.com/office/drawing/2014/main" id="{9AFDE5B1-74FC-4B65-B610-23EE28A17F2E}"/>
              </a:ext>
            </a:extLst>
          </p:cNvPr>
          <p:cNvSpPr>
            <a:spLocks noGrp="1" noRot="1" noChangeAspect="1" noChangeArrowheads="1" noTextEdit="1"/>
          </p:cNvSpPr>
          <p:nvPr>
            <p:ph type="sldImg"/>
          </p:nvPr>
        </p:nvSpPr>
        <p:spPr>
          <a:ln/>
        </p:spPr>
      </p:sp>
      <p:sp>
        <p:nvSpPr>
          <p:cNvPr id="338947" name="Rectangle 3">
            <a:extLst>
              <a:ext uri="{FF2B5EF4-FFF2-40B4-BE49-F238E27FC236}">
                <a16:creationId xmlns:a16="http://schemas.microsoft.com/office/drawing/2014/main" id="{62515A3F-3662-4204-A03D-DEC210D4E62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shortening observed at the scale of a whole foreland fold and thrust belt is too large for it to be easily paired with an area of comparable extension. Consequently, attractive as it is, Option A probably only applies at smaller scales</a:t>
            </a:r>
          </a:p>
          <a:p>
            <a:pPr marL="108000" indent="-108000">
              <a:spcBef>
                <a:spcPts val="300"/>
              </a:spcBef>
              <a:buFont typeface="Arial" panose="020B0604020202020204" pitchFamily="34" charset="0"/>
              <a:buChar char="•"/>
            </a:pPr>
            <a:r>
              <a:rPr lang="en-GB" altLang="en-US" sz="1000" dirty="0"/>
              <a:t>Option B replaces thrust-accommodated shortening in the foreland by other processes of shortening in the root zone. In this scenario, it may be that the gravitational collapse of the topographic high created by the shortening and thickening of the root zone drives the subsequent shortening within the fold and thrust belt</a:t>
            </a:r>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p.129</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r>
              <a:rPr lang="en-GB" sz="1000" dirty="0"/>
              <a:t>The following slides describe techniques widely used for constructing cross-sections across thrust belts</a:t>
            </a:r>
          </a:p>
          <a:p>
            <a:pPr marL="0" indent="0">
              <a:spcBef>
                <a:spcPts val="300"/>
              </a:spcBef>
              <a:buFont typeface="Arial" panose="020B0604020202020204" pitchFamily="34" charset="0"/>
              <a:buNone/>
            </a:pPr>
            <a:endParaRPr lang="en-GB" sz="1000" dirty="0"/>
          </a:p>
        </p:txBody>
      </p:sp>
      <p:sp>
        <p:nvSpPr>
          <p:cNvPr id="4" name="Slide Number Placeholder 3"/>
          <p:cNvSpPr>
            <a:spLocks noGrp="1"/>
          </p:cNvSpPr>
          <p:nvPr>
            <p:ph type="sldNum" sz="quarter" idx="10"/>
          </p:nvPr>
        </p:nvSpPr>
        <p:spPr/>
        <p:txBody>
          <a:bodyPr/>
          <a:lstStyle/>
          <a:p>
            <a:fld id="{4F5CB795-A2B3-4CCA-90EA-0E4A546E56C4}" type="slidenum">
              <a:rPr lang="en-GB" altLang="en-US" smtClean="0"/>
              <a:pPr/>
              <a:t>49</a:t>
            </a:fld>
            <a:endParaRPr lang="en-GB" altLang="en-US"/>
          </a:p>
        </p:txBody>
      </p:sp>
    </p:spTree>
    <p:extLst>
      <p:ext uri="{BB962C8B-B14F-4D97-AF65-F5344CB8AC3E}">
        <p14:creationId xmlns:p14="http://schemas.microsoft.com/office/powerpoint/2010/main" val="10338483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96AEBA16-F009-4825-9516-C12E51AB2235}"/>
              </a:ext>
            </a:extLst>
          </p:cNvPr>
          <p:cNvSpPr>
            <a:spLocks noGrp="1" noRot="1" noChangeAspect="1" noChangeArrowheads="1" noTextEdit="1"/>
          </p:cNvSpPr>
          <p:nvPr>
            <p:ph type="sldImg"/>
          </p:nvPr>
        </p:nvSpPr>
        <p:spPr>
          <a:ln/>
        </p:spPr>
      </p:sp>
      <p:sp>
        <p:nvSpPr>
          <p:cNvPr id="355331" name="Rectangle 3">
            <a:extLst>
              <a:ext uri="{FF2B5EF4-FFF2-40B4-BE49-F238E27FC236}">
                <a16:creationId xmlns:a16="http://schemas.microsoft.com/office/drawing/2014/main" id="{F4269FA2-B411-4AEB-9001-ED835B1A7BC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Explanations of what techniques 1-4 are, and illustrations of their usefulness, are given in (1) Elliott &amp; Johnson, 1980, </a:t>
            </a:r>
            <a:r>
              <a:rPr lang="en-GB" altLang="en-US" sz="1000" i="1" dirty="0"/>
              <a:t>Transactions of the Royal Society, Edinburgh (Earth Sciences)</a:t>
            </a:r>
            <a:r>
              <a:rPr lang="en-GB" altLang="en-US" sz="1000" dirty="0"/>
              <a:t> 71: 69-96, </a:t>
            </a:r>
            <a:r>
              <a:rPr lang="en-GB" sz="1000" dirty="0"/>
              <a:t>https://doi.org/10.1017/S0263593300013523</a:t>
            </a:r>
            <a:r>
              <a:rPr lang="en-GB" altLang="en-US" sz="1000" dirty="0"/>
              <a:t>, and (2) Coward, 1985, </a:t>
            </a:r>
            <a:r>
              <a:rPr lang="en-GB" altLang="en-US" sz="1000" i="1" dirty="0"/>
              <a:t>Geological Magazine</a:t>
            </a:r>
            <a:r>
              <a:rPr lang="en-GB" altLang="en-US" sz="1000" dirty="0"/>
              <a:t> 122: 595-607, </a:t>
            </a:r>
            <a:r>
              <a:rPr lang="en-GB" sz="1000" dirty="0"/>
              <a:t>https://doi.org/10.1017/S0016756800032015</a:t>
            </a:r>
            <a:endParaRPr lang="en-GB" altLang="en-US" sz="1000" dirty="0"/>
          </a:p>
          <a:p>
            <a:pPr marL="108000" indent="-108000">
              <a:spcBef>
                <a:spcPts val="300"/>
              </a:spcBef>
              <a:buFont typeface="Arial" panose="020B0604020202020204" pitchFamily="34" charset="0"/>
              <a:buChar char="•"/>
            </a:pPr>
            <a:r>
              <a:rPr lang="en-GB" altLang="en-US" sz="1000" dirty="0"/>
              <a:t>Figure from J-P Burg’s 2015 lecture notes (www.files.ethz.ch/structuralgeology/JPB/files/English/4thrustsyst.pdf), p.113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a:extLst>
              <a:ext uri="{FF2B5EF4-FFF2-40B4-BE49-F238E27FC236}">
                <a16:creationId xmlns:a16="http://schemas.microsoft.com/office/drawing/2014/main" id="{89FD8CF3-B98D-438C-B14C-CF9CCEAAF0DE}"/>
              </a:ext>
            </a:extLst>
          </p:cNvPr>
          <p:cNvSpPr>
            <a:spLocks noGrp="1" noRot="1" noChangeAspect="1" noChangeArrowheads="1" noTextEdit="1"/>
          </p:cNvSpPr>
          <p:nvPr>
            <p:ph type="sldImg"/>
          </p:nvPr>
        </p:nvSpPr>
        <p:spPr>
          <a:ln/>
        </p:spPr>
      </p:sp>
      <p:sp>
        <p:nvSpPr>
          <p:cNvPr id="359427" name="Rectangle 3">
            <a:extLst>
              <a:ext uri="{FF2B5EF4-FFF2-40B4-BE49-F238E27FC236}">
                <a16:creationId xmlns:a16="http://schemas.microsoft.com/office/drawing/2014/main" id="{B0A4DFB8-98D4-4DFA-9E57-5B28559BC04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basic approach to balancing a section is to start from a point on the foreland that has not been thrusted and to restore the layering to its original length by sequentially removing the displacement on each fault</a:t>
            </a:r>
          </a:p>
          <a:p>
            <a:pPr marL="108000" indent="-108000">
              <a:spcBef>
                <a:spcPts val="300"/>
              </a:spcBef>
              <a:buFont typeface="Arial" panose="020B0604020202020204" pitchFamily="34" charset="0"/>
              <a:buChar char="•"/>
            </a:pPr>
            <a:r>
              <a:rPr lang="en-GB" altLang="en-US" sz="1000" dirty="0"/>
              <a:t>Figure from Fossen, p.444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08F4C08E-DEC7-4812-AED4-FF0E24840CFF}"/>
              </a:ext>
            </a:extLst>
          </p:cNvPr>
          <p:cNvSpPr>
            <a:spLocks noGrp="1" noRot="1" noChangeAspect="1" noChangeArrowheads="1" noTextEdit="1"/>
          </p:cNvSpPr>
          <p:nvPr>
            <p:ph type="sldImg"/>
          </p:nvPr>
        </p:nvSpPr>
        <p:spPr>
          <a:ln/>
        </p:spPr>
      </p:sp>
      <p:sp>
        <p:nvSpPr>
          <p:cNvPr id="362499" name="Rectangle 3">
            <a:extLst>
              <a:ext uri="{FF2B5EF4-FFF2-40B4-BE49-F238E27FC236}">
                <a16:creationId xmlns:a16="http://schemas.microsoft.com/office/drawing/2014/main" id="{38D95673-0A89-4ED4-B329-18A0536A7D9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if flexural slip is true then there is no strain in the bedding plane – see Class 2 Slides 26-27. This may be tested in the field by examining fossils on bedding surfaces to check that they appear </a:t>
            </a:r>
            <a:r>
              <a:rPr lang="en-GB" altLang="en-US" sz="1000" dirty="0" err="1"/>
              <a:t>undeformed</a:t>
            </a:r>
            <a:endParaRPr lang="en-GB" altLang="en-US" sz="1000" dirty="0"/>
          </a:p>
          <a:p>
            <a:pPr marL="108000" indent="-108000">
              <a:spcBef>
                <a:spcPts val="300"/>
              </a:spcBef>
              <a:buFont typeface="Arial" panose="020B0604020202020204" pitchFamily="34" charset="0"/>
              <a:buChar char="•"/>
            </a:pPr>
            <a:r>
              <a:rPr lang="en-GB" altLang="en-US" sz="1000" dirty="0"/>
              <a:t>A commentary on the assumptions used in balanced section construction is given by Moretti &amp; </a:t>
            </a:r>
            <a:r>
              <a:rPr lang="en-GB" altLang="en-US" sz="1000" dirty="0" err="1"/>
              <a:t>Callot</a:t>
            </a:r>
            <a:r>
              <a:rPr lang="en-GB" altLang="en-US" sz="1000" dirty="0"/>
              <a:t>, 2012, </a:t>
            </a:r>
            <a:r>
              <a:rPr lang="en-GB" altLang="en-US" sz="1000" i="1" dirty="0"/>
              <a:t>Journal of Structural Geology</a:t>
            </a:r>
            <a:r>
              <a:rPr lang="en-GB" altLang="en-US" sz="1000" dirty="0"/>
              <a:t> 41: 64-75, </a:t>
            </a:r>
            <a:r>
              <a:rPr lang="en-GB" sz="1000" dirty="0"/>
              <a:t>https://doi.org/10.1016/j.jsg.2012.02.014</a:t>
            </a:r>
            <a:endParaRPr lang="en-GB" altLang="en-US" sz="1000" dirty="0"/>
          </a:p>
          <a:p>
            <a:pPr marL="108000" indent="-108000">
              <a:spcBef>
                <a:spcPts val="300"/>
              </a:spcBef>
              <a:buFont typeface="Arial" panose="020B0604020202020204" pitchFamily="34" charset="0"/>
              <a:buChar char="•"/>
            </a:pPr>
            <a:r>
              <a:rPr lang="en-GB" altLang="en-US" sz="1000" dirty="0"/>
              <a:t>Figures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27A56F5A-8F5A-4A56-8472-526ABBFDDA78}"/>
              </a:ext>
            </a:extLst>
          </p:cNvPr>
          <p:cNvSpPr>
            <a:spLocks noGrp="1" noRot="1" noChangeAspect="1" noChangeArrowheads="1" noTextEdit="1"/>
          </p:cNvSpPr>
          <p:nvPr>
            <p:ph type="sldImg"/>
          </p:nvPr>
        </p:nvSpPr>
        <p:spPr>
          <a:ln/>
        </p:spPr>
      </p:sp>
      <p:sp>
        <p:nvSpPr>
          <p:cNvPr id="369667" name="Rectangle 3">
            <a:extLst>
              <a:ext uri="{FF2B5EF4-FFF2-40B4-BE49-F238E27FC236}">
                <a16:creationId xmlns:a16="http://schemas.microsoft.com/office/drawing/2014/main" id="{E827B14A-FA20-40C7-8622-A955AFB217F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adapted by Steve Covey-Crump from Wilkerson &amp; Dicken, 2001, </a:t>
            </a:r>
            <a:r>
              <a:rPr lang="en-GB" altLang="en-US" sz="1000" i="1" dirty="0"/>
              <a:t>American Association of Petroleum Geologists Bulletin</a:t>
            </a:r>
            <a:r>
              <a:rPr lang="en-GB" altLang="en-US" sz="1000" dirty="0"/>
              <a:t> 85: 1759-1770, </a:t>
            </a:r>
            <a:r>
              <a:rPr lang="en-GB" sz="1000" dirty="0"/>
              <a:t>https://doi.org/10.1306/8626D063-173B-11D7-8645000102C1865D</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a:extLst>
              <a:ext uri="{FF2B5EF4-FFF2-40B4-BE49-F238E27FC236}">
                <a16:creationId xmlns:a16="http://schemas.microsoft.com/office/drawing/2014/main" id="{09BFBD08-6FEE-4418-B04F-CEA0BF3575DF}"/>
              </a:ext>
            </a:extLst>
          </p:cNvPr>
          <p:cNvSpPr>
            <a:spLocks noGrp="1" noRot="1" noChangeAspect="1" noChangeArrowheads="1" noTextEdit="1"/>
          </p:cNvSpPr>
          <p:nvPr>
            <p:ph type="sldImg"/>
          </p:nvPr>
        </p:nvSpPr>
        <p:spPr>
          <a:ln/>
        </p:spPr>
      </p:sp>
      <p:sp>
        <p:nvSpPr>
          <p:cNvPr id="393219" name="Rectangle 3">
            <a:extLst>
              <a:ext uri="{FF2B5EF4-FFF2-40B4-BE49-F238E27FC236}">
                <a16:creationId xmlns:a16="http://schemas.microsoft.com/office/drawing/2014/main" id="{B345D084-6687-4B08-BFB9-CB497E51732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a:extLst>
              <a:ext uri="{FF2B5EF4-FFF2-40B4-BE49-F238E27FC236}">
                <a16:creationId xmlns:a16="http://schemas.microsoft.com/office/drawing/2014/main" id="{EE1CFA33-BBFF-4C58-9830-6D61E45581E3}"/>
              </a:ext>
            </a:extLst>
          </p:cNvPr>
          <p:cNvSpPr>
            <a:spLocks noGrp="1" noRot="1" noChangeAspect="1" noChangeArrowheads="1" noTextEdit="1"/>
          </p:cNvSpPr>
          <p:nvPr>
            <p:ph type="sldImg"/>
          </p:nvPr>
        </p:nvSpPr>
        <p:spPr>
          <a:ln/>
        </p:spPr>
      </p:sp>
      <p:sp>
        <p:nvSpPr>
          <p:cNvPr id="375811" name="Rectangle 3">
            <a:extLst>
              <a:ext uri="{FF2B5EF4-FFF2-40B4-BE49-F238E27FC236}">
                <a16:creationId xmlns:a16="http://schemas.microsoft.com/office/drawing/2014/main" id="{462B96E7-6BB9-4CC7-953D-1C72784E59A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Methods for evaluating balanced sections in contractional settings are discussed by Wilkerson &amp; Dicken, 2001, </a:t>
            </a:r>
            <a:r>
              <a:rPr lang="en-GB" altLang="en-US" sz="1000" i="1" dirty="0"/>
              <a:t>American Association of Petroleum Geologists Bulletin</a:t>
            </a:r>
            <a:r>
              <a:rPr lang="en-GB" altLang="en-US" sz="1000" dirty="0"/>
              <a:t> 85: 1759-1770, </a:t>
            </a:r>
            <a:r>
              <a:rPr lang="en-GB" sz="1000" dirty="0"/>
              <a:t>https://doi.org/10.1306/8626D063-173B-11D7-8645000102C1865D</a:t>
            </a:r>
            <a:endParaRPr lang="en-GB" altLang="en-US" sz="1000" dirty="0"/>
          </a:p>
          <a:p>
            <a:pPr marL="108000" indent="-108000">
              <a:spcBef>
                <a:spcPts val="300"/>
              </a:spcBef>
              <a:buFont typeface="Arial" panose="020B0604020202020204" pitchFamily="34" charset="0"/>
              <a:buChar char="•"/>
            </a:pPr>
            <a:r>
              <a:rPr lang="en-GB" altLang="en-US" sz="1000" dirty="0"/>
              <a:t>Figure top from </a:t>
            </a:r>
            <a:r>
              <a:rPr lang="en-GB" altLang="en-US" sz="1000" dirty="0" err="1"/>
              <a:t>Marshak</a:t>
            </a:r>
            <a:r>
              <a:rPr lang="en-GB" altLang="en-US" sz="1000" dirty="0"/>
              <a:t> &amp; Woodward, in: </a:t>
            </a:r>
            <a:r>
              <a:rPr lang="en-GB" altLang="en-US" sz="1000" dirty="0" err="1"/>
              <a:t>Marshak</a:t>
            </a:r>
            <a:r>
              <a:rPr lang="en-GB" altLang="en-US" sz="1000" dirty="0"/>
              <a:t> &amp; </a:t>
            </a:r>
            <a:r>
              <a:rPr lang="en-GB" altLang="en-US" sz="1000" dirty="0" err="1"/>
              <a:t>Mitra</a:t>
            </a:r>
            <a:r>
              <a:rPr lang="en-GB" altLang="en-US" sz="1000" dirty="0"/>
              <a:t>, 1988, </a:t>
            </a:r>
            <a:r>
              <a:rPr lang="en-GB" altLang="en-US" sz="1000" i="1" dirty="0"/>
              <a:t>Basic Methods of Structural Geology</a:t>
            </a:r>
            <a:r>
              <a:rPr lang="en-GB" altLang="en-US" sz="1000" dirty="0"/>
              <a:t>, p.303-332 (Fig.14.10)</a:t>
            </a:r>
          </a:p>
          <a:p>
            <a:pPr marL="108000" indent="-108000">
              <a:spcBef>
                <a:spcPts val="300"/>
              </a:spcBef>
              <a:buFont typeface="Arial" panose="020B0604020202020204" pitchFamily="34" charset="0"/>
              <a:buChar char="•"/>
            </a:pPr>
            <a:r>
              <a:rPr lang="en-GB" altLang="en-US" sz="1000" dirty="0"/>
              <a:t>Figure bottom from </a:t>
            </a:r>
            <a:r>
              <a:rPr lang="en-GB" altLang="en-US" sz="1000" dirty="0" err="1"/>
              <a:t>Marshak</a:t>
            </a:r>
            <a:r>
              <a:rPr lang="en-GB" altLang="en-US" sz="1000" dirty="0"/>
              <a:t> &amp; Woodward, in: </a:t>
            </a:r>
            <a:r>
              <a:rPr lang="en-GB" altLang="en-US" sz="1000" dirty="0" err="1"/>
              <a:t>Marshak</a:t>
            </a:r>
            <a:r>
              <a:rPr lang="en-GB" altLang="en-US" sz="1000" dirty="0"/>
              <a:t> &amp; Mitra, 1988, </a:t>
            </a:r>
            <a:r>
              <a:rPr lang="en-GB" altLang="en-US" sz="1000" i="1" dirty="0"/>
              <a:t>Basic Methods of Structural Geology</a:t>
            </a:r>
            <a:r>
              <a:rPr lang="en-GB" altLang="en-US" sz="1000" dirty="0"/>
              <a:t>, p.303-332 (Fig.14.23)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61B04DF1-D4A2-4139-98E3-4C998A077A17}"/>
              </a:ext>
            </a:extLst>
          </p:cNvPr>
          <p:cNvSpPr>
            <a:spLocks noGrp="1" noRot="1" noChangeAspect="1" noChangeArrowheads="1" noTextEdit="1"/>
          </p:cNvSpPr>
          <p:nvPr>
            <p:ph type="sldImg"/>
          </p:nvPr>
        </p:nvSpPr>
        <p:spPr>
          <a:ln/>
        </p:spPr>
      </p:sp>
      <p:sp>
        <p:nvSpPr>
          <p:cNvPr id="379907" name="Rectangle 3">
            <a:extLst>
              <a:ext uri="{FF2B5EF4-FFF2-40B4-BE49-F238E27FC236}">
                <a16:creationId xmlns:a16="http://schemas.microsoft.com/office/drawing/2014/main" id="{5FB7F3CE-CDED-4E44-B3E1-16C99D6E0F0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formula on this slide follows because in plane strain the area (</a:t>
            </a:r>
            <a:r>
              <a:rPr lang="en-GB" altLang="en-US" sz="1000" i="1" dirty="0"/>
              <a:t>A </a:t>
            </a:r>
            <a:r>
              <a:rPr lang="en-GB" altLang="en-US" sz="1000" dirty="0"/>
              <a:t>= </a:t>
            </a:r>
            <a:r>
              <a:rPr lang="en-GB" altLang="en-US" sz="1000" i="1" dirty="0"/>
              <a:t>L</a:t>
            </a:r>
            <a:r>
              <a:rPr lang="en-GB" altLang="en-US" sz="1000" baseline="-25000" dirty="0"/>
              <a:t>0</a:t>
            </a:r>
            <a:r>
              <a:rPr lang="en-GB" altLang="en-US" sz="1000" i="1" dirty="0"/>
              <a:t>t</a:t>
            </a:r>
            <a:r>
              <a:rPr lang="en-GB" altLang="en-US" sz="1000" baseline="-25000" dirty="0"/>
              <a:t>0</a:t>
            </a:r>
            <a:r>
              <a:rPr lang="en-GB" altLang="en-US" sz="1000" dirty="0"/>
              <a:t>) remains constant during shortening</a:t>
            </a:r>
          </a:p>
          <a:p>
            <a:pPr marL="108000" indent="-108000">
              <a:spcBef>
                <a:spcPts val="300"/>
              </a:spcBef>
              <a:buFont typeface="Arial" panose="020B0604020202020204" pitchFamily="34" charset="0"/>
              <a:buChar char="•"/>
            </a:pPr>
            <a:r>
              <a:rPr lang="en-GB" altLang="en-US" sz="1000" dirty="0"/>
              <a:t>An easy approach to determining the area of a unit on a section is by drawing the section on graph paper and counting the squares that the unit covers. Alternatively, the unit may be cut out from the section (using scissors) and the piece of paper weighed. These days, computer drawing packages generally include a function that calculates areas of objects on diagrams</a:t>
            </a:r>
          </a:p>
          <a:p>
            <a:pPr marL="108000" indent="-108000">
              <a:spcBef>
                <a:spcPts val="300"/>
              </a:spcBef>
              <a:buFont typeface="Arial" panose="020B0604020202020204" pitchFamily="34" charset="0"/>
              <a:buChar char="•"/>
            </a:pPr>
            <a:r>
              <a:rPr lang="en-GB" altLang="en-US" sz="1000" dirty="0"/>
              <a:t>For comments on area balancing, see Mitra &amp; </a:t>
            </a:r>
            <a:r>
              <a:rPr lang="en-GB" altLang="en-US" sz="1000" dirty="0" err="1"/>
              <a:t>Namson</a:t>
            </a:r>
            <a:r>
              <a:rPr lang="en-GB" altLang="en-US" sz="1000" dirty="0"/>
              <a:t>, 1989, </a:t>
            </a:r>
            <a:r>
              <a:rPr lang="en-GB" altLang="en-US" sz="1000" i="1" dirty="0"/>
              <a:t>American Journal of Science</a:t>
            </a:r>
            <a:r>
              <a:rPr lang="en-GB" altLang="en-US" sz="1000" dirty="0"/>
              <a:t> 289: 563-599, </a:t>
            </a:r>
            <a:r>
              <a:rPr lang="en-GB" sz="1000" dirty="0"/>
              <a:t>https://doi.org/10.2475/ajs.289.5.563</a:t>
            </a:r>
            <a:r>
              <a:rPr lang="en-GB" altLang="en-US" sz="1000" dirty="0"/>
              <a:t>. For area balancing across whole orogenic belts and a consideration of how to interpret the results, see Butler, 2013, </a:t>
            </a:r>
            <a:r>
              <a:rPr lang="en-GB" altLang="en-US" sz="1000" i="1" dirty="0"/>
              <a:t>Journal of Structural Geology </a:t>
            </a:r>
            <a:r>
              <a:rPr lang="en-GB" altLang="en-US" sz="1000" dirty="0"/>
              <a:t>52: 2-16, </a:t>
            </a:r>
            <a:r>
              <a:rPr lang="en-GB" sz="1000" dirty="0"/>
              <a:t>https://doi.org/10.1016/j.jsg.2013.03.009</a:t>
            </a:r>
            <a:endParaRPr lang="en-GB" altLang="en-US" sz="1000" dirty="0"/>
          </a:p>
          <a:p>
            <a:pPr marL="108000" indent="-108000">
              <a:spcBef>
                <a:spcPts val="300"/>
              </a:spcBef>
              <a:buFont typeface="Arial" panose="020B0604020202020204" pitchFamily="34" charset="0"/>
              <a:buChar char="•"/>
            </a:pPr>
            <a:r>
              <a:rPr lang="en-GB" altLang="en-US" sz="1000" dirty="0"/>
              <a:t>Figure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4F5CB795-A2B3-4CCA-90EA-0E4A546E56C4}" type="slidenum">
              <a:rPr lang="en-GB" altLang="en-US" smtClean="0"/>
              <a:pPr/>
              <a:t>57</a:t>
            </a:fld>
            <a:endParaRPr lang="en-GB" altLang="en-US"/>
          </a:p>
        </p:txBody>
      </p:sp>
    </p:spTree>
    <p:extLst>
      <p:ext uri="{BB962C8B-B14F-4D97-AF65-F5344CB8AC3E}">
        <p14:creationId xmlns:p14="http://schemas.microsoft.com/office/powerpoint/2010/main" val="1271044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3863648728"/>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031079505"/>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539269"/>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76470051"/>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84010850"/>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155345780"/>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9722318"/>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34126718"/>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91033464"/>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47330125"/>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88930178"/>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30871384"/>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52C7-9ECF-4055-B9F0-6AAE53FE6695}"/>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FC0D8C3-E28D-4B54-809E-C9FCA2C0730E}"/>
              </a:ext>
            </a:extLst>
          </p:cNvPr>
          <p:cNvSpPr>
            <a:spLocks noGrp="1"/>
          </p:cNvSpPr>
          <p:nvPr>
            <p:ph type="body"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BDC71D0-FD97-468A-A1C7-640ED1651B9C}"/>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980CDC3D-B0AD-43B6-9256-2BE243B985F3}"/>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6260549"/>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12495-B2BF-46D6-8A9A-250A5A7EEE37}"/>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4B9782-7127-4D8E-9FD2-2A0C9DB03701}"/>
              </a:ext>
            </a:extLst>
          </p:cNvPr>
          <p:cNvSpPr>
            <a:spLocks noGrp="1"/>
          </p:cNvSpPr>
          <p:nvPr>
            <p:ph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9044D56-F172-45D2-8B13-8A2F062954EE}"/>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D8CBC3FD-489B-4701-8223-A7301F6A5E78}"/>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06605750"/>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2F50CD9F-B519-4B05-8961-D623AC555D3F}"/>
              </a:ext>
            </a:extLst>
          </p:cNvPr>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a:extLst>
              <a:ext uri="{FF2B5EF4-FFF2-40B4-BE49-F238E27FC236}">
                <a16:creationId xmlns:a16="http://schemas.microsoft.com/office/drawing/2014/main" id="{DD3E7032-FA85-4AD9-AFA8-919839E82B9E}"/>
              </a:ext>
            </a:extLst>
          </p:cNvPr>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a:extLst>
              <a:ext uri="{FF2B5EF4-FFF2-40B4-BE49-F238E27FC236}">
                <a16:creationId xmlns:a16="http://schemas.microsoft.com/office/drawing/2014/main" id="{C0AE0307-246E-4BB4-AF94-ED251D599E01}"/>
              </a:ext>
            </a:extLst>
          </p:cNvPr>
          <p:cNvSpPr>
            <a:spLocks noChangeShapeType="1"/>
          </p:cNvSpPr>
          <p:nvPr userDrawn="1"/>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 bg1="dk2" tx1="lt1" bg2="dk1" tx2="lt2" accent1="accent1" accent2="accent2" accent3="accent3" accent4="accent4" accent5="accent5" accent6="accent6" hlink="hlink" folHlink="folHlink"/>
  <p:sldLayoutIdLst>
    <p:sldLayoutId id="2147483678" r:id="rId1"/>
    <p:sldLayoutId id="2147483675" r:id="rId2"/>
    <p:sldLayoutId id="2147483674" r:id="rId3"/>
    <p:sldLayoutId id="2147483673" r:id="rId4"/>
    <p:sldLayoutId id="2147483672" r:id="rId5"/>
    <p:sldLayoutId id="2147483671" r:id="rId6"/>
    <p:sldLayoutId id="2147483670" r:id="rId7"/>
    <p:sldLayoutId id="2147483669" r:id="rId8"/>
    <p:sldLayoutId id="2147483668" r:id="rId9"/>
    <p:sldLayoutId id="2147483667" r:id="rId10"/>
    <p:sldLayoutId id="2147483666" r:id="rId11"/>
    <p:sldLayoutId id="2147483665" r:id="rId12"/>
    <p:sldLayoutId id="2147483676" r:id="rId13"/>
    <p:sldLayoutId id="2147483677" r:id="rId14"/>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1.jpe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6.jpeg"/><Relationship Id="rId4" Type="http://schemas.openxmlformats.org/officeDocument/2006/relationships/image" Target="../media/image25.jpeg"/></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30.jpeg"/></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3.jpeg"/></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37.jpeg"/></Relationships>
</file>

<file path=ppt/slides/_rels/slide2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9.jpeg"/></Relationships>
</file>

<file path=ppt/slides/_rels/slide2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41.jpeg"/></Relationships>
</file>

<file path=ppt/slides/_rels/slide2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46.jpeg"/></Relationships>
</file>

<file path=ppt/slides/_rels/slide2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48.jpeg"/></Relationships>
</file>

<file path=ppt/slides/_rels/slide2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27.jpeg"/></Relationships>
</file>

<file path=ppt/slides/_rels/slide3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5.xml"/><Relationship Id="rId1" Type="http://schemas.openxmlformats.org/officeDocument/2006/relationships/slideLayout" Target="../slideLayouts/slideLayout13.xml"/><Relationship Id="rId5" Type="http://schemas.openxmlformats.org/officeDocument/2006/relationships/image" Target="../media/image61.jpeg"/><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63.jpeg"/></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66.jpeg"/><Relationship Id="rId4" Type="http://schemas.openxmlformats.org/officeDocument/2006/relationships/image" Target="../media/image65.jpeg"/></Relationships>
</file>

<file path=ppt/slides/_rels/slide38.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38.xml"/><Relationship Id="rId1" Type="http://schemas.openxmlformats.org/officeDocument/2006/relationships/slideLayout" Target="../slideLayouts/slideLayout13.xml"/><Relationship Id="rId5" Type="http://schemas.openxmlformats.org/officeDocument/2006/relationships/image" Target="../media/image69.jpeg"/><Relationship Id="rId4" Type="http://schemas.openxmlformats.org/officeDocument/2006/relationships/image" Target="../media/image68.jpeg"/></Relationships>
</file>

<file path=ppt/slides/_rels/slide3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71.jpeg"/></Relationships>
</file>

<file path=ppt/slides/_rels/slide4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41.xml"/><Relationship Id="rId1" Type="http://schemas.openxmlformats.org/officeDocument/2006/relationships/slideLayout" Target="../slideLayouts/slideLayout13.xml"/><Relationship Id="rId6" Type="http://schemas.openxmlformats.org/officeDocument/2006/relationships/image" Target="../media/image76.jpeg"/><Relationship Id="rId5" Type="http://schemas.openxmlformats.org/officeDocument/2006/relationships/image" Target="../media/image75.jpeg"/><Relationship Id="rId4" Type="http://schemas.openxmlformats.org/officeDocument/2006/relationships/image" Target="../media/image74.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78.jpeg"/></Relationships>
</file>

<file path=ppt/slides/_rels/slide44.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80.jpeg"/></Relationships>
</file>

<file path=ppt/slides/_rels/slide46.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83.jpeg"/></Relationships>
</file>

<file path=ppt/slides/_rels/slide4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88.png"/></Relationships>
</file>

<file path=ppt/slides/_rels/slide53.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90.jpeg"/></Relationships>
</file>

<file path=ppt/slides/_rels/slide5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93.jpeg"/></Relationships>
</file>

<file path=ppt/slides/_rels/slide5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0D161A7C-B9C8-43AB-A31D-642D37F3DC0B}"/>
              </a:ext>
            </a:extLst>
          </p:cNvPr>
          <p:cNvSpPr>
            <a:spLocks noGrp="1" noChangeArrowheads="1"/>
          </p:cNvSpPr>
          <p:nvPr>
            <p:ph type="ctrTitle"/>
          </p:nvPr>
        </p:nvSpPr>
        <p:spPr>
          <a:xfrm>
            <a:off x="239713" y="967538"/>
            <a:ext cx="8705850" cy="3213187"/>
          </a:xfrm>
        </p:spPr>
        <p:txBody>
          <a:bodyPr/>
          <a:lstStyle/>
          <a:p>
            <a:pPr>
              <a:lnSpc>
                <a:spcPct val="120000"/>
              </a:lnSpc>
            </a:pPr>
            <a:r>
              <a:rPr lang="en-US" altLang="en-US" sz="3200" dirty="0"/>
              <a:t>EART 28202 :  Structural Geology</a:t>
            </a:r>
            <a:br>
              <a:rPr lang="en-US" altLang="en-US" sz="3200" dirty="0"/>
            </a:br>
            <a:br>
              <a:rPr lang="en-US" altLang="en-US" dirty="0"/>
            </a:br>
            <a:br>
              <a:rPr lang="en-US" altLang="en-US" dirty="0"/>
            </a:br>
            <a:br>
              <a:rPr lang="en-US" altLang="en-US" dirty="0"/>
            </a:br>
            <a:r>
              <a:rPr lang="en-US" altLang="en-US" sz="3200" dirty="0">
                <a:solidFill>
                  <a:srgbClr val="FF6600"/>
                </a:solidFill>
              </a:rPr>
              <a:t>Class 8 :  Contractional Tectonic Regimes</a:t>
            </a:r>
            <a:endParaRPr lang="en-US" alt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600" name="Rectangle 8">
            <a:extLst>
              <a:ext uri="{FF2B5EF4-FFF2-40B4-BE49-F238E27FC236}">
                <a16:creationId xmlns:a16="http://schemas.microsoft.com/office/drawing/2014/main" id="{24A5B23C-C6D6-4EF1-8BD5-D3BD1CE71A31}"/>
              </a:ext>
            </a:extLst>
          </p:cNvPr>
          <p:cNvSpPr>
            <a:spLocks noChangeArrowheads="1"/>
          </p:cNvSpPr>
          <p:nvPr/>
        </p:nvSpPr>
        <p:spPr bwMode="auto">
          <a:xfrm>
            <a:off x="5791200" y="923925"/>
            <a:ext cx="3162300" cy="401955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594" name="Rectangle 2">
            <a:extLst>
              <a:ext uri="{FF2B5EF4-FFF2-40B4-BE49-F238E27FC236}">
                <a16:creationId xmlns:a16="http://schemas.microsoft.com/office/drawing/2014/main" id="{D7DE711D-6FCA-4BFD-A7E2-76B9CC544C6F}"/>
              </a:ext>
            </a:extLst>
          </p:cNvPr>
          <p:cNvSpPr>
            <a:spLocks noGrp="1" noChangeArrowheads="1"/>
          </p:cNvSpPr>
          <p:nvPr>
            <p:ph type="title"/>
          </p:nvPr>
        </p:nvSpPr>
        <p:spPr>
          <a:noFill/>
        </p:spPr>
        <p:txBody>
          <a:bodyPr/>
          <a:lstStyle/>
          <a:p>
            <a:r>
              <a:rPr lang="en-GB" altLang="en-US">
                <a:effectLst/>
              </a:rPr>
              <a:t>Contractional tectonic regimes</a:t>
            </a:r>
          </a:p>
        </p:txBody>
      </p:sp>
      <p:sp>
        <p:nvSpPr>
          <p:cNvPr id="238595" name="Rectangle 3">
            <a:extLst>
              <a:ext uri="{FF2B5EF4-FFF2-40B4-BE49-F238E27FC236}">
                <a16:creationId xmlns:a16="http://schemas.microsoft.com/office/drawing/2014/main" id="{EE2F613A-C950-4DB9-AEC6-F7AE969E1D8C}"/>
              </a:ext>
            </a:extLst>
          </p:cNvPr>
          <p:cNvSpPr>
            <a:spLocks noGrp="1" noChangeArrowheads="1"/>
          </p:cNvSpPr>
          <p:nvPr>
            <p:ph type="body" sz="half" idx="1"/>
          </p:nvPr>
        </p:nvSpPr>
        <p:spPr>
          <a:xfrm>
            <a:off x="141288" y="784225"/>
            <a:ext cx="5549900" cy="781050"/>
          </a:xfrm>
          <a:noFill/>
        </p:spPr>
        <p:txBody>
          <a:bodyPr/>
          <a:lstStyle/>
          <a:p>
            <a:pPr marL="180975" indent="-180975"/>
            <a:r>
              <a:rPr lang="en-GB" altLang="en-US" sz="1700" dirty="0">
                <a:effectLst/>
              </a:rPr>
              <a:t>In </a:t>
            </a:r>
            <a:r>
              <a:rPr lang="en-GB" altLang="en-US" sz="1700" dirty="0">
                <a:solidFill>
                  <a:srgbClr val="FF66CC"/>
                </a:solidFill>
                <a:effectLst/>
              </a:rPr>
              <a:t>contractional tectonic regimes</a:t>
            </a:r>
            <a:r>
              <a:rPr lang="en-GB" altLang="en-US" sz="1700" dirty="0">
                <a:effectLst/>
              </a:rPr>
              <a:t> shortening is achieved by some combination of</a:t>
            </a:r>
          </a:p>
        </p:txBody>
      </p:sp>
      <p:pic>
        <p:nvPicPr>
          <p:cNvPr id="238596" name="Picture 3" descr="GR01.jpg">
            <a:extLst>
              <a:ext uri="{FF2B5EF4-FFF2-40B4-BE49-F238E27FC236}">
                <a16:creationId xmlns:a16="http://schemas.microsoft.com/office/drawing/2014/main" id="{63B1C611-91AF-4471-B918-17449CAAE25A}"/>
              </a:ext>
            </a:extLst>
          </p:cNvPr>
          <p:cNvPicPr>
            <a:picLocks noGrp="1" noChangeAspect="1"/>
          </p:cNvPicPr>
          <p:nvPr>
            <p:ph sz="quarter" idx="2"/>
          </p:nvPr>
        </p:nvPicPr>
        <p:blipFill>
          <a:blip r:embed="rId3">
            <a:lum bright="-10000" contrast="20000"/>
            <a:extLst>
              <a:ext uri="{28A0092B-C50C-407E-A947-70E740481C1C}">
                <a14:useLocalDpi xmlns:a14="http://schemas.microsoft.com/office/drawing/2010/main" val="0"/>
              </a:ext>
            </a:extLst>
          </a:blip>
          <a:srcRect/>
          <a:stretch>
            <a:fillRect/>
          </a:stretch>
        </p:blipFill>
        <p:spPr>
          <a:xfrm>
            <a:off x="5867400" y="993775"/>
            <a:ext cx="3024188" cy="38814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8601" name="Text Box 9">
            <a:extLst>
              <a:ext uri="{FF2B5EF4-FFF2-40B4-BE49-F238E27FC236}">
                <a16:creationId xmlns:a16="http://schemas.microsoft.com/office/drawing/2014/main" id="{AFFDAA81-C1D2-416C-A7A7-E30C76AFD7D0}"/>
              </a:ext>
            </a:extLst>
          </p:cNvPr>
          <p:cNvSpPr txBox="1">
            <a:spLocks noChangeArrowheads="1"/>
          </p:cNvSpPr>
          <p:nvPr/>
        </p:nvSpPr>
        <p:spPr bwMode="auto">
          <a:xfrm>
            <a:off x="5791200" y="5172075"/>
            <a:ext cx="3181350"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essential features of the first three of these have been already been covered; </a:t>
            </a:r>
            <a:r>
              <a:rPr lang="en-GB" altLang="en-US" sz="1700" dirty="0">
                <a:solidFill>
                  <a:srgbClr val="FFFF00"/>
                </a:solidFill>
                <a:effectLst>
                  <a:outerShdw blurRad="38100" dist="38100" dir="2700000" algn="tl">
                    <a:srgbClr val="000000"/>
                  </a:outerShdw>
                </a:effectLst>
                <a:latin typeface="Arial" panose="020B0604020202020204" pitchFamily="34" charset="0"/>
              </a:rPr>
              <a:t>this class focuses on number 4</a:t>
            </a:r>
          </a:p>
        </p:txBody>
      </p:sp>
      <p:pic>
        <p:nvPicPr>
          <p:cNvPr id="238602" name="Picture 10" descr="DSC_0241b">
            <a:extLst>
              <a:ext uri="{FF2B5EF4-FFF2-40B4-BE49-F238E27FC236}">
                <a16:creationId xmlns:a16="http://schemas.microsoft.com/office/drawing/2014/main" id="{029C1135-E4C8-4F65-9D68-BD70FD0D2B1B}"/>
              </a:ext>
            </a:extLst>
          </p:cNvPr>
          <p:cNvPicPr>
            <a:picLocks noChangeAspect="1" noChangeArrowheads="1"/>
          </p:cNvPicPr>
          <p:nvPr/>
        </p:nvPicPr>
        <p:blipFill>
          <a:blip r:embed="rId4">
            <a:lum bright="20000" contrast="4000"/>
            <a:extLst>
              <a:ext uri="{28A0092B-C50C-407E-A947-70E740481C1C}">
                <a14:useLocalDpi xmlns:a14="http://schemas.microsoft.com/office/drawing/2010/main" val="0"/>
              </a:ext>
            </a:extLst>
          </a:blip>
          <a:srcRect/>
          <a:stretch>
            <a:fillRect/>
          </a:stretch>
        </p:blipFill>
        <p:spPr bwMode="auto">
          <a:xfrm>
            <a:off x="203200" y="4124325"/>
            <a:ext cx="5430838" cy="25177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38604" name="Rectangle 12">
            <a:extLst>
              <a:ext uri="{FF2B5EF4-FFF2-40B4-BE49-F238E27FC236}">
                <a16:creationId xmlns:a16="http://schemas.microsoft.com/office/drawing/2014/main" id="{BBF6AEFA-42CC-4118-9EEC-5DF2AEAD6127}"/>
              </a:ext>
            </a:extLst>
          </p:cNvPr>
          <p:cNvSpPr>
            <a:spLocks noChangeArrowheads="1"/>
          </p:cNvSpPr>
          <p:nvPr/>
        </p:nvSpPr>
        <p:spPr bwMode="auto">
          <a:xfrm>
            <a:off x="304800" y="1546225"/>
            <a:ext cx="5386388" cy="233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6700" indent="-2667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14375" indent="-268288">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176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738313"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84400" indent="-2667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64160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9880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55600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01320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50000"/>
              </a:spcBef>
              <a:buFont typeface="Times" panose="02020603050405020304" pitchFamily="18" charset="0"/>
              <a:buAutoNum type="arabicPeriod"/>
            </a:pPr>
            <a:r>
              <a:rPr lang="en-GB" altLang="en-US" sz="1700" dirty="0">
                <a:solidFill>
                  <a:srgbClr val="FF6600"/>
                </a:solidFill>
                <a:effectLst/>
              </a:rPr>
              <a:t>Volume loss</a:t>
            </a:r>
            <a:r>
              <a:rPr lang="en-GB" altLang="en-US" sz="1700" dirty="0">
                <a:effectLst/>
              </a:rPr>
              <a:t> (pressure solutio</a:t>
            </a:r>
            <a:r>
              <a:rPr lang="en-GB" altLang="en-US" sz="1700" spc="300" dirty="0">
                <a:effectLst/>
              </a:rPr>
              <a:t>n/</a:t>
            </a:r>
            <a:r>
              <a:rPr lang="en-GB" altLang="en-US" sz="1700" dirty="0">
                <a:effectLst/>
              </a:rPr>
              <a:t>compaction)</a:t>
            </a:r>
          </a:p>
          <a:p>
            <a:pPr>
              <a:spcBef>
                <a:spcPct val="50000"/>
              </a:spcBef>
              <a:buFont typeface="Times" panose="02020603050405020304" pitchFamily="18" charset="0"/>
              <a:buAutoNum type="arabicPeriod"/>
            </a:pPr>
            <a:r>
              <a:rPr lang="en-GB" altLang="en-US" sz="1700" dirty="0">
                <a:solidFill>
                  <a:srgbClr val="FF6600"/>
                </a:solidFill>
                <a:effectLst/>
              </a:rPr>
              <a:t>Pure shear</a:t>
            </a:r>
            <a:r>
              <a:rPr lang="en-GB" altLang="en-US" sz="1700" dirty="0">
                <a:effectLst/>
              </a:rPr>
              <a:t> (horizontal shortening with accompanying vertical thickening)</a:t>
            </a:r>
          </a:p>
          <a:p>
            <a:pPr>
              <a:spcBef>
                <a:spcPct val="50000"/>
              </a:spcBef>
              <a:buFont typeface="Times" panose="02020603050405020304" pitchFamily="18" charset="0"/>
              <a:buAutoNum type="arabicPeriod"/>
            </a:pPr>
            <a:r>
              <a:rPr lang="en-GB" altLang="en-US" sz="1700" dirty="0">
                <a:solidFill>
                  <a:srgbClr val="FF6600"/>
                </a:solidFill>
                <a:effectLst/>
              </a:rPr>
              <a:t>Buckling</a:t>
            </a:r>
          </a:p>
          <a:p>
            <a:pPr>
              <a:spcBef>
                <a:spcPct val="50000"/>
              </a:spcBef>
              <a:buFont typeface="Times" panose="02020603050405020304" pitchFamily="18" charset="0"/>
              <a:buAutoNum type="arabicPeriod"/>
            </a:pPr>
            <a:r>
              <a:rPr lang="en-GB" altLang="en-US" sz="1700" dirty="0">
                <a:effectLst/>
              </a:rPr>
              <a:t>Movement on </a:t>
            </a:r>
            <a:r>
              <a:rPr lang="en-GB" altLang="en-US" sz="1700" dirty="0">
                <a:solidFill>
                  <a:srgbClr val="FF6600"/>
                </a:solidFill>
                <a:effectLst/>
              </a:rPr>
              <a:t>contractional faults with folding related to that movement</a:t>
            </a:r>
            <a:endParaRPr lang="en-GB" altLang="en-US" sz="1700" dirty="0">
              <a:effectLst/>
            </a:endParaRPr>
          </a:p>
        </p:txBody>
      </p:sp>
      <p:sp>
        <p:nvSpPr>
          <p:cNvPr id="238605" name="Line 13">
            <a:extLst>
              <a:ext uri="{FF2B5EF4-FFF2-40B4-BE49-F238E27FC236}">
                <a16:creationId xmlns:a16="http://schemas.microsoft.com/office/drawing/2014/main" id="{D8AA0EC1-ED8B-40B7-B53B-6FE59BE7A0DC}"/>
              </a:ext>
            </a:extLst>
          </p:cNvPr>
          <p:cNvSpPr>
            <a:spLocks noChangeShapeType="1"/>
          </p:cNvSpPr>
          <p:nvPr/>
        </p:nvSpPr>
        <p:spPr bwMode="auto">
          <a:xfrm rot="10800000" flipV="1">
            <a:off x="5284788" y="5240338"/>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4" name="Rectangle 6">
            <a:extLst>
              <a:ext uri="{FF2B5EF4-FFF2-40B4-BE49-F238E27FC236}">
                <a16:creationId xmlns:a16="http://schemas.microsoft.com/office/drawing/2014/main" id="{A57898C1-5E18-499D-84FC-8D6E5036D1E0}"/>
              </a:ext>
            </a:extLst>
          </p:cNvPr>
          <p:cNvSpPr>
            <a:spLocks noChangeArrowheads="1"/>
          </p:cNvSpPr>
          <p:nvPr/>
        </p:nvSpPr>
        <p:spPr bwMode="auto">
          <a:xfrm>
            <a:off x="190500" y="3933825"/>
            <a:ext cx="8782050" cy="266700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2690" name="Rectangle 2">
            <a:extLst>
              <a:ext uri="{FF2B5EF4-FFF2-40B4-BE49-F238E27FC236}">
                <a16:creationId xmlns:a16="http://schemas.microsoft.com/office/drawing/2014/main" id="{7D093CF2-8857-4A9F-A911-76F1D61B27C4}"/>
              </a:ext>
            </a:extLst>
          </p:cNvPr>
          <p:cNvSpPr>
            <a:spLocks noGrp="1" noChangeArrowheads="1"/>
          </p:cNvSpPr>
          <p:nvPr>
            <p:ph type="title"/>
          </p:nvPr>
        </p:nvSpPr>
        <p:spPr>
          <a:noFill/>
        </p:spPr>
        <p:txBody>
          <a:bodyPr/>
          <a:lstStyle/>
          <a:p>
            <a:r>
              <a:rPr lang="en-GB" altLang="en-US">
                <a:effectLst/>
              </a:rPr>
              <a:t>Thin-skinned and thick-skinned tectonics</a:t>
            </a:r>
          </a:p>
        </p:txBody>
      </p:sp>
      <p:sp>
        <p:nvSpPr>
          <p:cNvPr id="242691" name="Rectangle 3">
            <a:extLst>
              <a:ext uri="{FF2B5EF4-FFF2-40B4-BE49-F238E27FC236}">
                <a16:creationId xmlns:a16="http://schemas.microsoft.com/office/drawing/2014/main" id="{1E187455-B598-48FA-A714-3A9A78D77CB6}"/>
              </a:ext>
            </a:extLst>
          </p:cNvPr>
          <p:cNvSpPr>
            <a:spLocks noGrp="1" noChangeArrowheads="1"/>
          </p:cNvSpPr>
          <p:nvPr>
            <p:ph type="body" sz="half" idx="1"/>
          </p:nvPr>
        </p:nvSpPr>
        <p:spPr>
          <a:xfrm>
            <a:off x="131763" y="803275"/>
            <a:ext cx="8872537" cy="2936875"/>
          </a:xfrm>
          <a:noFill/>
        </p:spPr>
        <p:txBody>
          <a:bodyPr/>
          <a:lstStyle/>
          <a:p>
            <a:pPr marL="177800" indent="-177800"/>
            <a:r>
              <a:rPr lang="en-GB" altLang="en-US" sz="1700" dirty="0">
                <a:effectLst/>
              </a:rPr>
              <a:t>Although the basic geometry of contractional fault systems was established over 100 </a:t>
            </a:r>
            <a:r>
              <a:rPr lang="en-GB" altLang="en-US" sz="1700" dirty="0" err="1">
                <a:effectLst/>
              </a:rPr>
              <a:t>yr</a:t>
            </a:r>
            <a:r>
              <a:rPr lang="en-GB" altLang="en-US" sz="1700" dirty="0">
                <a:effectLst/>
              </a:rPr>
              <a:t> ago, the subject was set on a much more systematic footing in the 1980s when it was realized that the </a:t>
            </a:r>
            <a:r>
              <a:rPr lang="en-GB" altLang="en-US" sz="1700" dirty="0">
                <a:solidFill>
                  <a:srgbClr val="FF66CC"/>
                </a:solidFill>
                <a:effectLst/>
              </a:rPr>
              <a:t>bulk of the shortening in contractional orogenic belts</a:t>
            </a:r>
            <a:r>
              <a:rPr lang="en-GB" altLang="en-US" sz="1700" dirty="0">
                <a:effectLst/>
              </a:rPr>
              <a:t> is localized on to thrust faults</a:t>
            </a:r>
          </a:p>
          <a:p>
            <a:pPr marL="177800" indent="-177800">
              <a:spcBef>
                <a:spcPct val="75000"/>
              </a:spcBef>
            </a:pPr>
            <a:r>
              <a:rPr lang="en-GB" altLang="en-US" sz="1700" dirty="0">
                <a:effectLst/>
              </a:rPr>
              <a:t>In the </a:t>
            </a:r>
            <a:r>
              <a:rPr lang="en-GB" altLang="en-US" sz="1700" dirty="0">
                <a:solidFill>
                  <a:srgbClr val="FF66CC"/>
                </a:solidFill>
                <a:effectLst/>
              </a:rPr>
              <a:t>foreland</a:t>
            </a:r>
            <a:r>
              <a:rPr lang="en-GB" altLang="en-US" sz="1700" dirty="0">
                <a:effectLst/>
              </a:rPr>
              <a:t> these thrust systems are typically restricted to the cover rocks (the basement is not involved), and so the style of deformation is described as </a:t>
            </a:r>
            <a:r>
              <a:rPr lang="en-GB" altLang="en-US" sz="1700" dirty="0">
                <a:solidFill>
                  <a:srgbClr val="FF6600"/>
                </a:solidFill>
                <a:effectLst/>
              </a:rPr>
              <a:t>thin-skinned</a:t>
            </a:r>
          </a:p>
          <a:p>
            <a:pPr marL="177800" indent="-177800">
              <a:spcBef>
                <a:spcPct val="50000"/>
              </a:spcBef>
            </a:pPr>
            <a:r>
              <a:rPr lang="en-GB" altLang="en-US" sz="1700" dirty="0">
                <a:effectLst/>
              </a:rPr>
              <a:t>In the higher metamorphic grade </a:t>
            </a:r>
            <a:r>
              <a:rPr lang="en-GB" altLang="en-US" sz="1700" dirty="0">
                <a:solidFill>
                  <a:srgbClr val="FF66CC"/>
                </a:solidFill>
                <a:effectLst/>
              </a:rPr>
              <a:t>hinterland</a:t>
            </a:r>
            <a:r>
              <a:rPr lang="en-GB" altLang="en-US" sz="1700" dirty="0">
                <a:effectLst/>
              </a:rPr>
              <a:t>, the thrust systems are thicker and the basement is involved, and so this style of deformation is described as </a:t>
            </a:r>
            <a:r>
              <a:rPr lang="en-GB" altLang="en-US" sz="1700" dirty="0">
                <a:solidFill>
                  <a:srgbClr val="FF6600"/>
                </a:solidFill>
                <a:effectLst/>
              </a:rPr>
              <a:t>thick-skinned</a:t>
            </a:r>
          </a:p>
        </p:txBody>
      </p:sp>
      <p:pic>
        <p:nvPicPr>
          <p:cNvPr id="242692" name="Picture 2" descr="GR14.jpg">
            <a:extLst>
              <a:ext uri="{FF2B5EF4-FFF2-40B4-BE49-F238E27FC236}">
                <a16:creationId xmlns:a16="http://schemas.microsoft.com/office/drawing/2014/main" id="{B13F431F-B6A7-465C-8952-475AAEB1B94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69875" y="4010025"/>
            <a:ext cx="8621713" cy="2528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2695" name="Text Box 7">
            <a:extLst>
              <a:ext uri="{FF2B5EF4-FFF2-40B4-BE49-F238E27FC236}">
                <a16:creationId xmlns:a16="http://schemas.microsoft.com/office/drawing/2014/main" id="{3B1FA6A8-A4AF-482C-A0A6-69383B3C809C}"/>
              </a:ext>
            </a:extLst>
          </p:cNvPr>
          <p:cNvSpPr txBox="1">
            <a:spLocks noChangeArrowheads="1"/>
          </p:cNvSpPr>
          <p:nvPr/>
        </p:nvSpPr>
        <p:spPr bwMode="auto">
          <a:xfrm>
            <a:off x="6238875" y="6086475"/>
            <a:ext cx="2590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rPr>
              <a:t>A section across the Alps</a:t>
            </a:r>
          </a:p>
        </p:txBody>
      </p:sp>
      <p:sp>
        <p:nvSpPr>
          <p:cNvPr id="242696" name="Line 8">
            <a:extLst>
              <a:ext uri="{FF2B5EF4-FFF2-40B4-BE49-F238E27FC236}">
                <a16:creationId xmlns:a16="http://schemas.microsoft.com/office/drawing/2014/main" id="{28CED3F0-B595-4E9F-9C20-7A4424F02C0D}"/>
              </a:ext>
            </a:extLst>
          </p:cNvPr>
          <p:cNvSpPr>
            <a:spLocks noChangeShapeType="1"/>
          </p:cNvSpPr>
          <p:nvPr/>
        </p:nvSpPr>
        <p:spPr bwMode="auto">
          <a:xfrm flipV="1">
            <a:off x="796925" y="5219700"/>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3" name="Picture 13" descr="02a2">
            <a:extLst>
              <a:ext uri="{FF2B5EF4-FFF2-40B4-BE49-F238E27FC236}">
                <a16:creationId xmlns:a16="http://schemas.microsoft.com/office/drawing/2014/main" id="{71A0B57C-CCB7-4C18-914A-04E7535B9264}"/>
              </a:ext>
            </a:extLst>
          </p:cNvPr>
          <p:cNvPicPr>
            <a:picLocks noChangeAspect="1" noChangeArrowheads="1"/>
          </p:cNvPicPr>
          <p:nvPr/>
        </p:nvPicPr>
        <p:blipFill>
          <a:blip r:embed="rId3">
            <a:lum bright="-6000" contrast="10000"/>
            <a:extLst>
              <a:ext uri="{28A0092B-C50C-407E-A947-70E740481C1C}">
                <a14:useLocalDpi xmlns:a14="http://schemas.microsoft.com/office/drawing/2010/main" val="0"/>
              </a:ext>
            </a:extLst>
          </a:blip>
          <a:srcRect/>
          <a:stretch>
            <a:fillRect/>
          </a:stretch>
        </p:blipFill>
        <p:spPr bwMode="auto">
          <a:xfrm>
            <a:off x="282575" y="1081088"/>
            <a:ext cx="8740775" cy="1527175"/>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35522" name="Rectangle 2">
            <a:extLst>
              <a:ext uri="{FF2B5EF4-FFF2-40B4-BE49-F238E27FC236}">
                <a16:creationId xmlns:a16="http://schemas.microsoft.com/office/drawing/2014/main" id="{8C4A1502-D4D7-40E7-B0E7-13E578449197}"/>
              </a:ext>
            </a:extLst>
          </p:cNvPr>
          <p:cNvSpPr>
            <a:spLocks noGrp="1" noChangeArrowheads="1"/>
          </p:cNvSpPr>
          <p:nvPr>
            <p:ph type="title"/>
          </p:nvPr>
        </p:nvSpPr>
        <p:spPr>
          <a:noFill/>
        </p:spPr>
        <p:txBody>
          <a:bodyPr/>
          <a:lstStyle/>
          <a:p>
            <a:r>
              <a:rPr lang="en-GB" altLang="en-US">
                <a:effectLst/>
              </a:rPr>
              <a:t>Thrust system interpretations of orogenic belts</a:t>
            </a:r>
          </a:p>
        </p:txBody>
      </p:sp>
      <p:sp>
        <p:nvSpPr>
          <p:cNvPr id="235523" name="Rectangle 3">
            <a:extLst>
              <a:ext uri="{FF2B5EF4-FFF2-40B4-BE49-F238E27FC236}">
                <a16:creationId xmlns:a16="http://schemas.microsoft.com/office/drawing/2014/main" id="{50CD3E9D-B1EC-456C-A43C-4F4DEAD851EE}"/>
              </a:ext>
            </a:extLst>
          </p:cNvPr>
          <p:cNvSpPr>
            <a:spLocks noGrp="1" noChangeArrowheads="1"/>
          </p:cNvSpPr>
          <p:nvPr>
            <p:ph type="body" sz="half" idx="1"/>
          </p:nvPr>
        </p:nvSpPr>
        <p:spPr>
          <a:xfrm>
            <a:off x="122238" y="5148263"/>
            <a:ext cx="6345237" cy="1481137"/>
          </a:xfrm>
          <a:noFill/>
        </p:spPr>
        <p:txBody>
          <a:bodyPr/>
          <a:lstStyle/>
          <a:p>
            <a:pPr marL="177800" indent="-177800"/>
            <a:r>
              <a:rPr lang="en-GB" altLang="en-US" sz="1700" dirty="0">
                <a:effectLst/>
              </a:rPr>
              <a:t>Once the </a:t>
            </a:r>
            <a:r>
              <a:rPr lang="en-GB" altLang="en-US" sz="1700" dirty="0">
                <a:solidFill>
                  <a:srgbClr val="FF66FF"/>
                </a:solidFill>
                <a:effectLst/>
              </a:rPr>
              <a:t>explanatory power</a:t>
            </a:r>
            <a:r>
              <a:rPr lang="en-GB" altLang="en-US" sz="1700" dirty="0">
                <a:effectLst/>
              </a:rPr>
              <a:t> of the thrust system interpretation of contractional orogenic belts was appreciated there was an exciting period in structural geology when orogenic belts all around the world were re-analysed</a:t>
            </a:r>
          </a:p>
        </p:txBody>
      </p:sp>
      <p:sp>
        <p:nvSpPr>
          <p:cNvPr id="235531" name="Text Box 11">
            <a:extLst>
              <a:ext uri="{FF2B5EF4-FFF2-40B4-BE49-F238E27FC236}">
                <a16:creationId xmlns:a16="http://schemas.microsoft.com/office/drawing/2014/main" id="{8B1C2F05-B468-4F67-B0FD-CC4FDC314CDD}"/>
              </a:ext>
            </a:extLst>
          </p:cNvPr>
          <p:cNvSpPr txBox="1">
            <a:spLocks noChangeArrowheads="1"/>
          </p:cNvSpPr>
          <p:nvPr/>
        </p:nvSpPr>
        <p:spPr bwMode="auto">
          <a:xfrm>
            <a:off x="6705600" y="2695575"/>
            <a:ext cx="2247900" cy="3494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1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Above: cross section across the Rocky Mountains</a:t>
            </a:r>
          </a:p>
          <a:p>
            <a:pPr>
              <a:lnSpc>
                <a:spcPct val="120000"/>
              </a:lnSpc>
              <a:spcBef>
                <a:spcPct val="1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Left: conceptual model of a doubly-</a:t>
            </a:r>
            <a:r>
              <a:rPr lang="en-GB" altLang="en-US" sz="1400" dirty="0" err="1">
                <a:solidFill>
                  <a:srgbClr val="FFFF00"/>
                </a:solidFill>
                <a:effectLst>
                  <a:outerShdw blurRad="38100" dist="38100" dir="2700000" algn="tl">
                    <a:srgbClr val="000000"/>
                  </a:outerShdw>
                </a:effectLst>
                <a:latin typeface="Arial" panose="020B0604020202020204" pitchFamily="34" charset="0"/>
              </a:rPr>
              <a:t>vergent</a:t>
            </a:r>
            <a:r>
              <a:rPr lang="en-GB" altLang="en-US" sz="1400" dirty="0">
                <a:solidFill>
                  <a:srgbClr val="FFFF00"/>
                </a:solidFill>
                <a:effectLst>
                  <a:outerShdw blurRad="38100" dist="38100" dir="2700000" algn="tl">
                    <a:srgbClr val="000000"/>
                  </a:outerShdw>
                </a:effectLst>
                <a:latin typeface="Arial" panose="020B0604020202020204" pitchFamily="34" charset="0"/>
              </a:rPr>
              <a:t> orogenic belt produced in a continen</a:t>
            </a:r>
            <a:r>
              <a:rPr lang="en-GB" altLang="en-US" sz="1400" spc="150" dirty="0">
                <a:solidFill>
                  <a:srgbClr val="FFFF00"/>
                </a:solidFill>
                <a:effectLst>
                  <a:outerShdw blurRad="38100" dist="38100" dir="2700000" algn="tl">
                    <a:srgbClr val="000000"/>
                  </a:outerShdw>
                </a:effectLst>
                <a:latin typeface="Arial" panose="020B0604020202020204" pitchFamily="34" charset="0"/>
              </a:rPr>
              <a:t>t-</a:t>
            </a:r>
            <a:r>
              <a:rPr lang="en-GB" altLang="en-US" sz="1400" dirty="0">
                <a:solidFill>
                  <a:srgbClr val="FFFF00"/>
                </a:solidFill>
                <a:effectLst>
                  <a:outerShdw blurRad="38100" dist="38100" dir="2700000" algn="tl">
                    <a:srgbClr val="000000"/>
                  </a:outerShdw>
                </a:effectLst>
                <a:latin typeface="Arial" panose="020B0604020202020204" pitchFamily="34" charset="0"/>
              </a:rPr>
              <a:t>continent collision. This looks much like a schematic version of a N-S section across the Pyrenees (Spain left; France right)</a:t>
            </a:r>
          </a:p>
        </p:txBody>
      </p:sp>
      <p:sp>
        <p:nvSpPr>
          <p:cNvPr id="235532" name="Line 12">
            <a:extLst>
              <a:ext uri="{FF2B5EF4-FFF2-40B4-BE49-F238E27FC236}">
                <a16:creationId xmlns:a16="http://schemas.microsoft.com/office/drawing/2014/main" id="{066C4D5C-B30D-49D8-9474-9D4A3708AE24}"/>
              </a:ext>
            </a:extLst>
          </p:cNvPr>
          <p:cNvSpPr>
            <a:spLocks noChangeShapeType="1"/>
          </p:cNvSpPr>
          <p:nvPr/>
        </p:nvSpPr>
        <p:spPr bwMode="auto">
          <a:xfrm flipV="1">
            <a:off x="38100" y="1901825"/>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35535" name="Picture 15" descr="02c1">
            <a:extLst>
              <a:ext uri="{FF2B5EF4-FFF2-40B4-BE49-F238E27FC236}">
                <a16:creationId xmlns:a16="http://schemas.microsoft.com/office/drawing/2014/main" id="{227BF206-B172-40CB-9FB2-813698171121}"/>
              </a:ext>
            </a:extLst>
          </p:cNvPr>
          <p:cNvPicPr>
            <a:picLocks noGrp="1" noChangeAspect="1" noChangeArrowheads="1"/>
          </p:cNvPicPr>
          <p:nvPr>
            <p:ph sz="quarter" idx="2"/>
          </p:nvPr>
        </p:nvPicPr>
        <p:blipFill>
          <a:blip r:embed="rId4">
            <a:lum bright="-6000" contrast="10000"/>
            <a:extLst>
              <a:ext uri="{28A0092B-C50C-407E-A947-70E740481C1C}">
                <a14:useLocalDpi xmlns:a14="http://schemas.microsoft.com/office/drawing/2010/main" val="0"/>
              </a:ext>
            </a:extLst>
          </a:blip>
          <a:srcRect/>
          <a:stretch>
            <a:fillRect/>
          </a:stretch>
        </p:blipFill>
        <p:spPr>
          <a:xfrm>
            <a:off x="187325" y="2930525"/>
            <a:ext cx="6378575" cy="19161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562" name="Picture 18" descr="02d1-Barreme">
            <a:extLst>
              <a:ext uri="{FF2B5EF4-FFF2-40B4-BE49-F238E27FC236}">
                <a16:creationId xmlns:a16="http://schemas.microsoft.com/office/drawing/2014/main" id="{699FE02C-092E-4CD9-93C2-8D8794CBDD2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27000" y="949325"/>
            <a:ext cx="8848725" cy="41084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6546" name="Rectangle 2">
            <a:extLst>
              <a:ext uri="{FF2B5EF4-FFF2-40B4-BE49-F238E27FC236}">
                <a16:creationId xmlns:a16="http://schemas.microsoft.com/office/drawing/2014/main" id="{C35E9E7C-6497-439A-9066-F56D2FB748E1}"/>
              </a:ext>
            </a:extLst>
          </p:cNvPr>
          <p:cNvSpPr>
            <a:spLocks noGrp="1" noChangeArrowheads="1"/>
          </p:cNvSpPr>
          <p:nvPr>
            <p:ph type="title"/>
          </p:nvPr>
        </p:nvSpPr>
        <p:spPr>
          <a:noFill/>
        </p:spPr>
        <p:txBody>
          <a:bodyPr/>
          <a:lstStyle/>
          <a:p>
            <a:r>
              <a:rPr lang="en-GB" altLang="en-US">
                <a:effectLst/>
              </a:rPr>
              <a:t>Thrust system interpretations (2) – Barrême</a:t>
            </a:r>
          </a:p>
        </p:txBody>
      </p:sp>
      <p:sp>
        <p:nvSpPr>
          <p:cNvPr id="236547" name="Rectangle 3">
            <a:extLst>
              <a:ext uri="{FF2B5EF4-FFF2-40B4-BE49-F238E27FC236}">
                <a16:creationId xmlns:a16="http://schemas.microsoft.com/office/drawing/2014/main" id="{29B34CA5-6C7B-4E2E-9856-79F86C989E0F}"/>
              </a:ext>
            </a:extLst>
          </p:cNvPr>
          <p:cNvSpPr>
            <a:spLocks noGrp="1" noChangeArrowheads="1"/>
          </p:cNvSpPr>
          <p:nvPr>
            <p:ph type="body" sz="half" idx="1"/>
          </p:nvPr>
        </p:nvSpPr>
        <p:spPr>
          <a:xfrm>
            <a:off x="596900" y="5219700"/>
            <a:ext cx="8013699" cy="688975"/>
          </a:xfrm>
          <a:noFill/>
        </p:spPr>
        <p:txBody>
          <a:bodyPr/>
          <a:lstStyle/>
          <a:p>
            <a:pPr marL="0" indent="0">
              <a:buFont typeface="Times" panose="02020603050405020304" pitchFamily="18" charset="0"/>
              <a:buNone/>
            </a:pPr>
            <a:r>
              <a:rPr lang="en-GB" altLang="en-US" sz="1400" dirty="0">
                <a:solidFill>
                  <a:srgbClr val="FFFF00"/>
                </a:solidFill>
                <a:effectLst/>
              </a:rPr>
              <a:t>Thrust system interpretation of the region around </a:t>
            </a:r>
            <a:r>
              <a:rPr lang="en-GB" altLang="en-US" sz="1400" dirty="0" err="1">
                <a:solidFill>
                  <a:srgbClr val="FFFF00"/>
                </a:solidFill>
                <a:effectLst/>
              </a:rPr>
              <a:t>Barrême</a:t>
            </a:r>
            <a:r>
              <a:rPr lang="en-GB" altLang="en-US" sz="1400" dirty="0">
                <a:solidFill>
                  <a:srgbClr val="FFFF00"/>
                </a:solidFill>
                <a:effectLst/>
              </a:rPr>
              <a:t>, SE France. The thrusts verge to the SW, that is, the dominant transport direction is from right to left on this figure</a:t>
            </a:r>
          </a:p>
        </p:txBody>
      </p:sp>
      <p:sp>
        <p:nvSpPr>
          <p:cNvPr id="236552" name="Line 8">
            <a:extLst>
              <a:ext uri="{FF2B5EF4-FFF2-40B4-BE49-F238E27FC236}">
                <a16:creationId xmlns:a16="http://schemas.microsoft.com/office/drawing/2014/main" id="{FD7A6AEF-AD8D-481C-B59A-92530561D802}"/>
              </a:ext>
            </a:extLst>
          </p:cNvPr>
          <p:cNvSpPr>
            <a:spLocks noChangeShapeType="1"/>
          </p:cNvSpPr>
          <p:nvPr/>
        </p:nvSpPr>
        <p:spPr bwMode="auto">
          <a:xfrm rot="10800000" flipV="1">
            <a:off x="8747811" y="1714500"/>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C18C970D-2831-4609-957D-9CE00A44FC18}"/>
              </a:ext>
            </a:extLst>
          </p:cNvPr>
          <p:cNvSpPr>
            <a:spLocks noGrp="1" noChangeArrowheads="1"/>
          </p:cNvSpPr>
          <p:nvPr>
            <p:ph type="title"/>
          </p:nvPr>
        </p:nvSpPr>
        <p:spPr>
          <a:noFill/>
        </p:spPr>
        <p:txBody>
          <a:bodyPr/>
          <a:lstStyle/>
          <a:p>
            <a:r>
              <a:rPr lang="en-GB" altLang="en-US">
                <a:effectLst/>
              </a:rPr>
              <a:t>Thrust system interpretations (3) – NW Spain</a:t>
            </a:r>
          </a:p>
        </p:txBody>
      </p:sp>
      <p:pic>
        <p:nvPicPr>
          <p:cNvPr id="232465" name="Picture 17" descr="02e1-Cantabria">
            <a:extLst>
              <a:ext uri="{FF2B5EF4-FFF2-40B4-BE49-F238E27FC236}">
                <a16:creationId xmlns:a16="http://schemas.microsoft.com/office/drawing/2014/main" id="{974B68C6-5AB4-4EB1-95ED-1E94D6FADB92}"/>
              </a:ext>
            </a:extLst>
          </p:cNvPr>
          <p:cNvPicPr>
            <a:picLocks noGrp="1" noChangeAspect="1" noChangeArrowheads="1"/>
          </p:cNvPicPr>
          <p:nvPr>
            <p:ph sz="half" idx="1"/>
          </p:nvPr>
        </p:nvPicPr>
        <p:blipFill>
          <a:blip r:embed="rId3">
            <a:lum bright="-6000" contrast="10000"/>
            <a:extLst>
              <a:ext uri="{28A0092B-C50C-407E-A947-70E740481C1C}">
                <a14:useLocalDpi xmlns:a14="http://schemas.microsoft.com/office/drawing/2010/main" val="0"/>
              </a:ext>
            </a:extLst>
          </a:blip>
          <a:srcRect/>
          <a:stretch>
            <a:fillRect/>
          </a:stretch>
        </p:blipFill>
        <p:spPr>
          <a:xfrm>
            <a:off x="2214563" y="863600"/>
            <a:ext cx="5184775" cy="35036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2459" name="Rectangle 11">
            <a:extLst>
              <a:ext uri="{FF2B5EF4-FFF2-40B4-BE49-F238E27FC236}">
                <a16:creationId xmlns:a16="http://schemas.microsoft.com/office/drawing/2014/main" id="{15E51380-7E50-49F0-A5EA-86BD3943C871}"/>
              </a:ext>
            </a:extLst>
          </p:cNvPr>
          <p:cNvSpPr>
            <a:spLocks noChangeArrowheads="1"/>
          </p:cNvSpPr>
          <p:nvPr/>
        </p:nvSpPr>
        <p:spPr bwMode="auto">
          <a:xfrm>
            <a:off x="290513" y="823913"/>
            <a:ext cx="1576387" cy="269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panose="02020603050405020304" pitchFamily="18" charset="0"/>
              <a:buChar char="•"/>
              <a:tabLst>
                <a:tab pos="180975" algn="l"/>
              </a:tabLst>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tabLst>
                <a:tab pos="180975" algn="l"/>
              </a:tabLst>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tabLst>
                <a:tab pos="180975" algn="l"/>
              </a:tabLst>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tabLst>
                <a:tab pos="180975" algn="l"/>
              </a:tabLst>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tabLst>
                <a:tab pos="180975" algn="l"/>
              </a:tabLst>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tabLst>
                <a:tab pos="180975" algn="l"/>
              </a:tabLst>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tabLst>
                <a:tab pos="180975" algn="l"/>
              </a:tabLst>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tabLst>
                <a:tab pos="180975" algn="l"/>
              </a:tabLst>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tabLst>
                <a:tab pos="180975" algn="l"/>
              </a:tabLst>
              <a:defRPr sz="1400">
                <a:solidFill>
                  <a:schemeClr val="tx1"/>
                </a:solidFill>
                <a:latin typeface="Arial" panose="020B0604020202020204" pitchFamily="34" charset="0"/>
              </a:defRPr>
            </a:lvl9pPr>
          </a:lstStyle>
          <a:p>
            <a:pPr>
              <a:buFont typeface="Times" panose="02020603050405020304" pitchFamily="18" charset="0"/>
              <a:buNone/>
            </a:pPr>
            <a:r>
              <a:rPr lang="en-GB" altLang="en-US" sz="1400">
                <a:solidFill>
                  <a:srgbClr val="FFFF00"/>
                </a:solidFill>
                <a:effectLst/>
              </a:rPr>
              <a:t>Thrust system interpretation of the Cantabrian mountains and adjacent areas. The dominant transport direction is from left to right on this figure</a:t>
            </a:r>
          </a:p>
        </p:txBody>
      </p:sp>
      <p:pic>
        <p:nvPicPr>
          <p:cNvPr id="232467" name="Picture 19" descr="02e2-Cantabria">
            <a:extLst>
              <a:ext uri="{FF2B5EF4-FFF2-40B4-BE49-F238E27FC236}">
                <a16:creationId xmlns:a16="http://schemas.microsoft.com/office/drawing/2014/main" id="{A4503973-BD16-47B4-AEDE-C57A55BBE25E}"/>
              </a:ext>
            </a:extLst>
          </p:cNvPr>
          <p:cNvPicPr>
            <a:picLocks noGrp="1" noChangeAspect="1" noChangeArrowheads="1"/>
          </p:cNvPicPr>
          <p:nvPr>
            <p:ph sz="half" idx="2"/>
          </p:nvPr>
        </p:nvPicPr>
        <p:blipFill>
          <a:blip r:embed="rId4">
            <a:lum bright="-6000" contrast="10000"/>
            <a:extLst>
              <a:ext uri="{28A0092B-C50C-407E-A947-70E740481C1C}">
                <a14:useLocalDpi xmlns:a14="http://schemas.microsoft.com/office/drawing/2010/main" val="0"/>
              </a:ext>
            </a:extLst>
          </a:blip>
          <a:srcRect/>
          <a:stretch>
            <a:fillRect/>
          </a:stretch>
        </p:blipFill>
        <p:spPr>
          <a:xfrm>
            <a:off x="180975" y="4494213"/>
            <a:ext cx="8769350" cy="21224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2463" name="Line 15">
            <a:extLst>
              <a:ext uri="{FF2B5EF4-FFF2-40B4-BE49-F238E27FC236}">
                <a16:creationId xmlns:a16="http://schemas.microsoft.com/office/drawing/2014/main" id="{8839E710-F349-4E93-AADC-2967403ED9FD}"/>
              </a:ext>
            </a:extLst>
          </p:cNvPr>
          <p:cNvSpPr>
            <a:spLocks noChangeShapeType="1"/>
          </p:cNvSpPr>
          <p:nvPr/>
        </p:nvSpPr>
        <p:spPr bwMode="auto">
          <a:xfrm flipV="1">
            <a:off x="541338" y="5734050"/>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FF3BC331-4AA4-4240-A676-6D9500CD1641}"/>
              </a:ext>
            </a:extLst>
          </p:cNvPr>
          <p:cNvSpPr>
            <a:spLocks noGrp="1" noChangeArrowheads="1"/>
          </p:cNvSpPr>
          <p:nvPr>
            <p:ph type="title"/>
          </p:nvPr>
        </p:nvSpPr>
        <p:spPr>
          <a:noFill/>
        </p:spPr>
        <p:txBody>
          <a:bodyPr/>
          <a:lstStyle/>
          <a:p>
            <a:r>
              <a:rPr lang="en-GB" altLang="en-US">
                <a:effectLst/>
              </a:rPr>
              <a:t>Local contractional regimes</a:t>
            </a:r>
          </a:p>
        </p:txBody>
      </p:sp>
      <p:sp>
        <p:nvSpPr>
          <p:cNvPr id="246787" name="Rectangle 3">
            <a:extLst>
              <a:ext uri="{FF2B5EF4-FFF2-40B4-BE49-F238E27FC236}">
                <a16:creationId xmlns:a16="http://schemas.microsoft.com/office/drawing/2014/main" id="{ED37EA61-DBD9-4705-9B75-6D1D53A3497D}"/>
              </a:ext>
            </a:extLst>
          </p:cNvPr>
          <p:cNvSpPr>
            <a:spLocks noGrp="1" noChangeArrowheads="1"/>
          </p:cNvSpPr>
          <p:nvPr>
            <p:ph type="body" sz="half" idx="1"/>
          </p:nvPr>
        </p:nvSpPr>
        <p:spPr>
          <a:xfrm>
            <a:off x="103188" y="774700"/>
            <a:ext cx="5854700" cy="1062038"/>
          </a:xfrm>
          <a:noFill/>
        </p:spPr>
        <p:txBody>
          <a:bodyPr/>
          <a:lstStyle/>
          <a:p>
            <a:pPr marL="180975" indent="-180975"/>
            <a:r>
              <a:rPr lang="en-GB" altLang="en-US" sz="1700">
                <a:effectLst/>
              </a:rPr>
              <a:t>Contractional fault systems with similar geometrical features occur at </a:t>
            </a:r>
            <a:r>
              <a:rPr lang="en-GB" altLang="en-US" sz="1700">
                <a:solidFill>
                  <a:srgbClr val="FF66CC"/>
                </a:solidFill>
                <a:effectLst/>
              </a:rPr>
              <a:t>all scales</a:t>
            </a:r>
            <a:r>
              <a:rPr lang="en-GB" altLang="en-US" sz="1700">
                <a:effectLst/>
              </a:rPr>
              <a:t>, and not just at the scale of the orogenic belt</a:t>
            </a:r>
          </a:p>
        </p:txBody>
      </p:sp>
      <p:pic>
        <p:nvPicPr>
          <p:cNvPr id="246790" name="Picture 6">
            <a:extLst>
              <a:ext uri="{FF2B5EF4-FFF2-40B4-BE49-F238E27FC236}">
                <a16:creationId xmlns:a16="http://schemas.microsoft.com/office/drawing/2014/main" id="{7B4D126D-8DDE-40EF-A359-EAD5A9B320F9}"/>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560638" y="3319463"/>
            <a:ext cx="6440487" cy="3311525"/>
          </a:xfrm>
          <a:noFill/>
          <a:ln w="38100" cap="flat">
            <a:solidFill>
              <a:schemeClr val="bg2"/>
            </a:solidFill>
            <a:miter lim="800000"/>
            <a:headEnd/>
            <a:tailEnd/>
          </a:ln>
        </p:spPr>
      </p:pic>
      <p:sp>
        <p:nvSpPr>
          <p:cNvPr id="246793" name="Text Box 9">
            <a:extLst>
              <a:ext uri="{FF2B5EF4-FFF2-40B4-BE49-F238E27FC236}">
                <a16:creationId xmlns:a16="http://schemas.microsoft.com/office/drawing/2014/main" id="{DF08BCD7-5EB2-4569-A823-D1A6F94136A2}"/>
              </a:ext>
            </a:extLst>
          </p:cNvPr>
          <p:cNvSpPr txBox="1">
            <a:spLocks noChangeArrowheads="1"/>
          </p:cNvSpPr>
          <p:nvPr/>
        </p:nvSpPr>
        <p:spPr bwMode="auto">
          <a:xfrm>
            <a:off x="114300" y="3200400"/>
            <a:ext cx="1995488"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i="1">
                <a:effectLst>
                  <a:outerShdw blurRad="38100" dist="38100" dir="2700000" algn="tl">
                    <a:srgbClr val="000000"/>
                  </a:outerShdw>
                </a:effectLst>
                <a:latin typeface="Arial" panose="020B0604020202020204" pitchFamily="34" charset="0"/>
              </a:rPr>
              <a:t>E.g.</a:t>
            </a:r>
            <a:r>
              <a:rPr lang="en-GB" altLang="en-US" sz="1700">
                <a:effectLst>
                  <a:outerShdw blurRad="38100" dist="38100" dir="2700000" algn="tl">
                    <a:srgbClr val="000000"/>
                  </a:outerShdw>
                </a:effectLst>
                <a:latin typeface="Arial" panose="020B0604020202020204" pitchFamily="34" charset="0"/>
              </a:rPr>
              <a:t>, thrust fault systems may be found at the toe of a</a:t>
            </a:r>
            <a:r>
              <a:rPr lang="en-GB" altLang="en-US" sz="1700">
                <a:solidFill>
                  <a:srgbClr val="FF6600"/>
                </a:solidFill>
                <a:effectLst>
                  <a:outerShdw blurRad="38100" dist="38100" dir="2700000" algn="tl">
                    <a:srgbClr val="000000"/>
                  </a:outerShdw>
                </a:effectLst>
                <a:latin typeface="Arial" panose="020B0604020202020204" pitchFamily="34" charset="0"/>
              </a:rPr>
              <a:t> landslip</a:t>
            </a:r>
            <a:r>
              <a:rPr lang="en-GB" altLang="en-US" sz="1700">
                <a:solidFill>
                  <a:srgbClr val="FF66CC"/>
                </a:solidFill>
                <a:effectLst>
                  <a:outerShdw blurRad="38100" dist="38100" dir="2700000" algn="tl">
                    <a:srgbClr val="000000"/>
                  </a:outerShdw>
                </a:effectLst>
                <a:latin typeface="Arial" panose="020B0604020202020204" pitchFamily="34" charset="0"/>
              </a:rPr>
              <a:t> </a:t>
            </a:r>
            <a:r>
              <a:rPr lang="en-GB" altLang="en-US" sz="1700">
                <a:effectLst>
                  <a:outerShdw blurRad="38100" dist="38100" dir="2700000" algn="tl">
                    <a:srgbClr val="000000"/>
                  </a:outerShdw>
                </a:effectLst>
                <a:latin typeface="Arial" panose="020B0604020202020204" pitchFamily="34" charset="0"/>
              </a:rPr>
              <a:t>or</a:t>
            </a:r>
            <a:r>
              <a:rPr lang="en-GB" altLang="en-US" sz="1700">
                <a:solidFill>
                  <a:srgbClr val="FF66CC"/>
                </a:solidFill>
                <a:effectLst>
                  <a:outerShdw blurRad="38100" dist="38100" dir="2700000" algn="tl">
                    <a:srgbClr val="000000"/>
                  </a:outerShdw>
                </a:effectLst>
                <a:latin typeface="Arial" panose="020B0604020202020204" pitchFamily="34" charset="0"/>
              </a:rPr>
              <a:t> </a:t>
            </a:r>
            <a:r>
              <a:rPr lang="en-GB" altLang="en-US" sz="1700">
                <a:effectLst>
                  <a:outerShdw blurRad="38100" dist="38100" dir="2700000" algn="tl">
                    <a:srgbClr val="000000"/>
                  </a:outerShdw>
                </a:effectLst>
                <a:latin typeface="Arial" panose="020B0604020202020204" pitchFamily="34" charset="0"/>
              </a:rPr>
              <a:t>at the toe of a </a:t>
            </a:r>
            <a:r>
              <a:rPr lang="en-GB" altLang="en-US" sz="1700">
                <a:solidFill>
                  <a:srgbClr val="FF6600"/>
                </a:solidFill>
                <a:effectLst>
                  <a:outerShdw blurRad="38100" dist="38100" dir="2700000" algn="tl">
                    <a:srgbClr val="000000"/>
                  </a:outerShdw>
                </a:effectLst>
                <a:latin typeface="Arial" panose="020B0604020202020204" pitchFamily="34" charset="0"/>
              </a:rPr>
              <a:t>delta slope</a:t>
            </a:r>
            <a:r>
              <a:rPr lang="en-GB" altLang="en-US" sz="1700">
                <a:effectLst>
                  <a:outerShdw blurRad="38100" dist="38100" dir="2700000" algn="tl">
                    <a:srgbClr val="000000"/>
                  </a:outerShdw>
                </a:effectLst>
                <a:latin typeface="Arial" panose="020B0604020202020204" pitchFamily="34" charset="0"/>
              </a:rPr>
              <a:t> or within </a:t>
            </a:r>
            <a:r>
              <a:rPr lang="en-GB" altLang="en-US" sz="1700">
                <a:solidFill>
                  <a:srgbClr val="FF66FF"/>
                </a:solidFill>
                <a:effectLst>
                  <a:outerShdw blurRad="38100" dist="38100" dir="2700000" algn="tl">
                    <a:srgbClr val="000000"/>
                  </a:outerShdw>
                </a:effectLst>
                <a:latin typeface="Arial" panose="020B0604020202020204" pitchFamily="34" charset="0"/>
              </a:rPr>
              <a:t>other gravity-driven soft sediment deformation</a:t>
            </a:r>
            <a:r>
              <a:rPr lang="en-GB" altLang="en-US" sz="1700">
                <a:effectLst>
                  <a:outerShdw blurRad="38100" dist="38100" dir="2700000" algn="tl">
                    <a:srgbClr val="000000"/>
                  </a:outerShdw>
                </a:effectLst>
                <a:latin typeface="Arial" panose="020B0604020202020204" pitchFamily="34" charset="0"/>
              </a:rPr>
              <a:t> scenarios</a:t>
            </a:r>
          </a:p>
        </p:txBody>
      </p:sp>
      <p:sp>
        <p:nvSpPr>
          <p:cNvPr id="246798" name="Line 14">
            <a:extLst>
              <a:ext uri="{FF2B5EF4-FFF2-40B4-BE49-F238E27FC236}">
                <a16:creationId xmlns:a16="http://schemas.microsoft.com/office/drawing/2014/main" id="{49076460-8D21-42EA-997C-949AD0FF4C37}"/>
              </a:ext>
            </a:extLst>
          </p:cNvPr>
          <p:cNvSpPr>
            <a:spLocks noChangeShapeType="1"/>
          </p:cNvSpPr>
          <p:nvPr/>
        </p:nvSpPr>
        <p:spPr bwMode="auto">
          <a:xfrm flipV="1">
            <a:off x="2120900" y="5302250"/>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46799" name="Picture 15" descr="03a1">
            <a:extLst>
              <a:ext uri="{FF2B5EF4-FFF2-40B4-BE49-F238E27FC236}">
                <a16:creationId xmlns:a16="http://schemas.microsoft.com/office/drawing/2014/main" id="{3E2824E5-455F-4EBC-AAA7-8152CF988F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3913" y="957263"/>
            <a:ext cx="3097212" cy="21939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46801" name="Picture 17" descr="03b1">
            <a:extLst>
              <a:ext uri="{FF2B5EF4-FFF2-40B4-BE49-F238E27FC236}">
                <a16:creationId xmlns:a16="http://schemas.microsoft.com/office/drawing/2014/main" id="{0D991586-5B54-4CDD-A708-E6227E37B0FE}"/>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147638" y="2070100"/>
            <a:ext cx="5630862" cy="10810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a:extLst>
              <a:ext uri="{FF2B5EF4-FFF2-40B4-BE49-F238E27FC236}">
                <a16:creationId xmlns:a16="http://schemas.microsoft.com/office/drawing/2014/main" id="{D3117D5B-1F33-4C2E-98C8-48B2BD7B96B9}"/>
              </a:ext>
            </a:extLst>
          </p:cNvPr>
          <p:cNvSpPr>
            <a:spLocks noGrp="1" noChangeArrowheads="1"/>
          </p:cNvSpPr>
          <p:nvPr>
            <p:ph type="title"/>
          </p:nvPr>
        </p:nvSpPr>
        <p:spPr>
          <a:noFill/>
        </p:spPr>
        <p:txBody>
          <a:bodyPr/>
          <a:lstStyle/>
          <a:p>
            <a:r>
              <a:rPr lang="en-GB" altLang="en-US">
                <a:effectLst/>
              </a:rPr>
              <a:t>Wrinkle ridges (local contraction) on the Moon</a:t>
            </a:r>
          </a:p>
        </p:txBody>
      </p:sp>
      <p:sp>
        <p:nvSpPr>
          <p:cNvPr id="422915" name="Rectangle 3">
            <a:extLst>
              <a:ext uri="{FF2B5EF4-FFF2-40B4-BE49-F238E27FC236}">
                <a16:creationId xmlns:a16="http://schemas.microsoft.com/office/drawing/2014/main" id="{9C52681A-7953-4FAD-82B7-2D6A789706B6}"/>
              </a:ext>
            </a:extLst>
          </p:cNvPr>
          <p:cNvSpPr>
            <a:spLocks noGrp="1" noChangeArrowheads="1"/>
          </p:cNvSpPr>
          <p:nvPr>
            <p:ph type="body" sz="half" idx="1"/>
          </p:nvPr>
        </p:nvSpPr>
        <p:spPr>
          <a:xfrm>
            <a:off x="107950" y="758825"/>
            <a:ext cx="4829175" cy="2835275"/>
          </a:xfrm>
          <a:noFill/>
        </p:spPr>
        <p:txBody>
          <a:bodyPr/>
          <a:lstStyle/>
          <a:p>
            <a:pPr marL="180975" indent="-180975"/>
            <a:r>
              <a:rPr lang="en-GB" altLang="en-US" sz="1700">
                <a:effectLst/>
              </a:rPr>
              <a:t>“Local” contractional features (</a:t>
            </a:r>
            <a:r>
              <a:rPr lang="en-GB" altLang="en-US" sz="1700">
                <a:solidFill>
                  <a:srgbClr val="FF6600"/>
                </a:solidFill>
                <a:effectLst/>
              </a:rPr>
              <a:t>wrinkle ridges</a:t>
            </a:r>
            <a:r>
              <a:rPr lang="en-GB" altLang="en-US" sz="1700">
                <a:effectLst/>
              </a:rPr>
              <a:t>) occur on the Moon within the </a:t>
            </a:r>
            <a:r>
              <a:rPr lang="en-GB" altLang="en-US" sz="1700">
                <a:solidFill>
                  <a:srgbClr val="FF66FF"/>
                </a:solidFill>
                <a:effectLst/>
              </a:rPr>
              <a:t>interior of mare</a:t>
            </a:r>
            <a:r>
              <a:rPr lang="en-GB" altLang="en-US" sz="1700">
                <a:effectLst/>
              </a:rPr>
              <a:t> and are accompanied by extensional fractures (rilles) around the mare margins</a:t>
            </a:r>
          </a:p>
          <a:p>
            <a:pPr marL="180975" indent="-180975">
              <a:spcBef>
                <a:spcPct val="50000"/>
              </a:spcBef>
            </a:pPr>
            <a:r>
              <a:rPr lang="en-GB" altLang="en-US" sz="1700">
                <a:effectLst/>
              </a:rPr>
              <a:t>These fractures were formed during </a:t>
            </a:r>
            <a:r>
              <a:rPr lang="en-GB" altLang="en-US" sz="1700">
                <a:solidFill>
                  <a:srgbClr val="FF66FF"/>
                </a:solidFill>
                <a:effectLst/>
              </a:rPr>
              <a:t>basin-localized flexure</a:t>
            </a:r>
            <a:r>
              <a:rPr lang="en-GB" altLang="en-US" sz="1700">
                <a:effectLst/>
              </a:rPr>
              <a:t> of the lunar crust under the weight of the mare basalts </a:t>
            </a:r>
          </a:p>
        </p:txBody>
      </p:sp>
      <p:pic>
        <p:nvPicPr>
          <p:cNvPr id="422924" name="Picture 12" descr="MareSerentatis2">
            <a:extLst>
              <a:ext uri="{FF2B5EF4-FFF2-40B4-BE49-F238E27FC236}">
                <a16:creationId xmlns:a16="http://schemas.microsoft.com/office/drawing/2014/main" id="{1319DAC3-853A-4426-B16A-3DBBF71DB2CA}"/>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084763" y="885825"/>
            <a:ext cx="3779837" cy="3752850"/>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22928" name="Picture 16" descr="MoonWrinkle2">
            <a:extLst>
              <a:ext uri="{FF2B5EF4-FFF2-40B4-BE49-F238E27FC236}">
                <a16:creationId xmlns:a16="http://schemas.microsoft.com/office/drawing/2014/main" id="{72F0CF59-C55C-4CAC-899F-4ACF906824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2700" y="4779963"/>
            <a:ext cx="2943225" cy="1935162"/>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422929" name="Picture 17">
            <a:extLst>
              <a:ext uri="{FF2B5EF4-FFF2-40B4-BE49-F238E27FC236}">
                <a16:creationId xmlns:a16="http://schemas.microsoft.com/office/drawing/2014/main" id="{33447114-09FE-49F3-8931-1C62743A90F9}"/>
              </a:ext>
            </a:extLst>
          </p:cNvPr>
          <p:cNvPicPr>
            <a:picLocks noChangeAspect="1" noChangeArrowheads="1"/>
          </p:cNvPicPr>
          <p:nvPr/>
        </p:nvPicPr>
        <p:blipFill>
          <a:blip r:embed="rId5">
            <a:lum bright="-6000" contrast="10000"/>
            <a:extLst>
              <a:ext uri="{28A0092B-C50C-407E-A947-70E740481C1C}">
                <a14:useLocalDpi xmlns:a14="http://schemas.microsoft.com/office/drawing/2010/main" val="0"/>
              </a:ext>
            </a:extLst>
          </a:blip>
          <a:srcRect/>
          <a:stretch>
            <a:fillRect/>
          </a:stretch>
        </p:blipFill>
        <p:spPr bwMode="auto">
          <a:xfrm>
            <a:off x="1652588" y="3781425"/>
            <a:ext cx="3268662" cy="29400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22935" name="Group 23">
            <a:extLst>
              <a:ext uri="{FF2B5EF4-FFF2-40B4-BE49-F238E27FC236}">
                <a16:creationId xmlns:a16="http://schemas.microsoft.com/office/drawing/2014/main" id="{880B8623-18EE-4241-A47E-7E336F73771B}"/>
              </a:ext>
            </a:extLst>
          </p:cNvPr>
          <p:cNvGrpSpPr>
            <a:grpSpLocks/>
          </p:cNvGrpSpPr>
          <p:nvPr/>
        </p:nvGrpSpPr>
        <p:grpSpPr bwMode="auto">
          <a:xfrm rot="21300000">
            <a:off x="7188200" y="5400675"/>
            <a:ext cx="742950" cy="0"/>
            <a:chOff x="4492" y="3406"/>
            <a:chExt cx="468" cy="0"/>
          </a:xfrm>
        </p:grpSpPr>
        <p:sp>
          <p:nvSpPr>
            <p:cNvPr id="422932" name="Line 20">
              <a:extLst>
                <a:ext uri="{FF2B5EF4-FFF2-40B4-BE49-F238E27FC236}">
                  <a16:creationId xmlns:a16="http://schemas.microsoft.com/office/drawing/2014/main" id="{A6918787-8860-4C86-A1E4-C9A1AE7697B3}"/>
                </a:ext>
              </a:extLst>
            </p:cNvPr>
            <p:cNvSpPr>
              <a:spLocks noChangeShapeType="1"/>
            </p:cNvSpPr>
            <p:nvPr/>
          </p:nvSpPr>
          <p:spPr bwMode="auto">
            <a:xfrm rot="10800000">
              <a:off x="4492" y="3406"/>
              <a:ext cx="132"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2933" name="Line 21">
              <a:extLst>
                <a:ext uri="{FF2B5EF4-FFF2-40B4-BE49-F238E27FC236}">
                  <a16:creationId xmlns:a16="http://schemas.microsoft.com/office/drawing/2014/main" id="{CD6379F5-183C-4155-97EC-A3B784488310}"/>
                </a:ext>
              </a:extLst>
            </p:cNvPr>
            <p:cNvSpPr>
              <a:spLocks noChangeShapeType="1"/>
            </p:cNvSpPr>
            <p:nvPr/>
          </p:nvSpPr>
          <p:spPr bwMode="auto">
            <a:xfrm>
              <a:off x="4828" y="3406"/>
              <a:ext cx="132"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422931" name="Line 19">
            <a:extLst>
              <a:ext uri="{FF2B5EF4-FFF2-40B4-BE49-F238E27FC236}">
                <a16:creationId xmlns:a16="http://schemas.microsoft.com/office/drawing/2014/main" id="{123B8BC0-B052-467D-AD4E-251D351FA58E}"/>
              </a:ext>
            </a:extLst>
          </p:cNvPr>
          <p:cNvSpPr>
            <a:spLocks noChangeShapeType="1"/>
          </p:cNvSpPr>
          <p:nvPr/>
        </p:nvSpPr>
        <p:spPr bwMode="auto">
          <a:xfrm rot="300000">
            <a:off x="5565775" y="5414963"/>
            <a:ext cx="20955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2934" name="Line 22">
            <a:extLst>
              <a:ext uri="{FF2B5EF4-FFF2-40B4-BE49-F238E27FC236}">
                <a16:creationId xmlns:a16="http://schemas.microsoft.com/office/drawing/2014/main" id="{CA41352E-048B-4B56-96DE-9F9EDEB2E619}"/>
              </a:ext>
            </a:extLst>
          </p:cNvPr>
          <p:cNvSpPr>
            <a:spLocks noChangeShapeType="1"/>
          </p:cNvSpPr>
          <p:nvPr/>
        </p:nvSpPr>
        <p:spPr bwMode="auto">
          <a:xfrm rot="11100000">
            <a:off x="5118100" y="5378450"/>
            <a:ext cx="20955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2937" name="Line 25">
            <a:extLst>
              <a:ext uri="{FF2B5EF4-FFF2-40B4-BE49-F238E27FC236}">
                <a16:creationId xmlns:a16="http://schemas.microsoft.com/office/drawing/2014/main" id="{2C49940A-EB7A-4343-8EA8-B727B20CD01D}"/>
              </a:ext>
            </a:extLst>
          </p:cNvPr>
          <p:cNvSpPr>
            <a:spLocks noChangeShapeType="1"/>
          </p:cNvSpPr>
          <p:nvPr/>
        </p:nvSpPr>
        <p:spPr bwMode="auto">
          <a:xfrm>
            <a:off x="6562725" y="5876925"/>
            <a:ext cx="0" cy="19526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2938" name="Text Box 26">
            <a:extLst>
              <a:ext uri="{FF2B5EF4-FFF2-40B4-BE49-F238E27FC236}">
                <a16:creationId xmlns:a16="http://schemas.microsoft.com/office/drawing/2014/main" id="{5C30B76C-6616-4BCF-85BA-E77C72F082AA}"/>
              </a:ext>
            </a:extLst>
          </p:cNvPr>
          <p:cNvSpPr txBox="1">
            <a:spLocks noChangeArrowheads="1"/>
          </p:cNvSpPr>
          <p:nvPr/>
        </p:nvSpPr>
        <p:spPr bwMode="auto">
          <a:xfrm>
            <a:off x="1560513" y="3378200"/>
            <a:ext cx="1571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Mare Serenitatis</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a:extLst>
              <a:ext uri="{FF2B5EF4-FFF2-40B4-BE49-F238E27FC236}">
                <a16:creationId xmlns:a16="http://schemas.microsoft.com/office/drawing/2014/main" id="{F4F0D625-72B5-4960-ACD2-9940E064295E}"/>
              </a:ext>
            </a:extLst>
          </p:cNvPr>
          <p:cNvSpPr>
            <a:spLocks noGrp="1" noChangeArrowheads="1"/>
          </p:cNvSpPr>
          <p:nvPr>
            <p:ph type="title"/>
          </p:nvPr>
        </p:nvSpPr>
        <p:spPr>
          <a:noFill/>
        </p:spPr>
        <p:txBody>
          <a:bodyPr/>
          <a:lstStyle/>
          <a:p>
            <a:r>
              <a:rPr lang="en-GB" altLang="en-US">
                <a:effectLst/>
              </a:rPr>
              <a:t>Lobate scarps produced by global contraction</a:t>
            </a:r>
          </a:p>
        </p:txBody>
      </p:sp>
      <p:sp>
        <p:nvSpPr>
          <p:cNvPr id="424963" name="Rectangle 3">
            <a:extLst>
              <a:ext uri="{FF2B5EF4-FFF2-40B4-BE49-F238E27FC236}">
                <a16:creationId xmlns:a16="http://schemas.microsoft.com/office/drawing/2014/main" id="{45D66A20-7D7F-4AD9-A578-C5A73B891953}"/>
              </a:ext>
            </a:extLst>
          </p:cNvPr>
          <p:cNvSpPr>
            <a:spLocks noGrp="1" noChangeArrowheads="1"/>
          </p:cNvSpPr>
          <p:nvPr>
            <p:ph type="body" sz="half" idx="1"/>
          </p:nvPr>
        </p:nvSpPr>
        <p:spPr>
          <a:xfrm>
            <a:off x="107950" y="779463"/>
            <a:ext cx="9036050" cy="731837"/>
          </a:xfrm>
          <a:noFill/>
        </p:spPr>
        <p:txBody>
          <a:bodyPr/>
          <a:lstStyle/>
          <a:p>
            <a:pPr marL="180975" indent="-180975"/>
            <a:r>
              <a:rPr lang="en-GB" altLang="en-US" sz="1700">
                <a:effectLst/>
              </a:rPr>
              <a:t>Global distributions of </a:t>
            </a:r>
            <a:r>
              <a:rPr lang="en-GB" altLang="en-US" sz="1700">
                <a:solidFill>
                  <a:srgbClr val="FF6600"/>
                </a:solidFill>
                <a:effectLst/>
              </a:rPr>
              <a:t>lobate scarps</a:t>
            </a:r>
            <a:r>
              <a:rPr lang="en-GB" altLang="en-US" sz="1700">
                <a:effectLst/>
              </a:rPr>
              <a:t> are common on many planetary bodies and reflect </a:t>
            </a:r>
            <a:r>
              <a:rPr lang="en-GB" altLang="en-US" sz="1700">
                <a:solidFill>
                  <a:srgbClr val="FF66FF"/>
                </a:solidFill>
                <a:effectLst/>
              </a:rPr>
              <a:t>global contraction</a:t>
            </a:r>
            <a:r>
              <a:rPr lang="en-GB" altLang="en-US" sz="1700">
                <a:effectLst/>
              </a:rPr>
              <a:t> due to net </a:t>
            </a:r>
            <a:r>
              <a:rPr lang="en-GB" altLang="en-US" sz="1700">
                <a:solidFill>
                  <a:srgbClr val="FF66FF"/>
                </a:solidFill>
                <a:effectLst/>
              </a:rPr>
              <a:t>cooling of the planetary interior</a:t>
            </a:r>
          </a:p>
        </p:txBody>
      </p:sp>
      <p:pic>
        <p:nvPicPr>
          <p:cNvPr id="424968" name="Picture 8" descr="pl004">
            <a:extLst>
              <a:ext uri="{FF2B5EF4-FFF2-40B4-BE49-F238E27FC236}">
                <a16:creationId xmlns:a16="http://schemas.microsoft.com/office/drawing/2014/main" id="{DBF4249B-1D7C-43B6-8CD5-B33737819AD1}"/>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6602413" y="1587500"/>
            <a:ext cx="2314575" cy="21764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24971" name="Picture 11" descr="DiscRupes4">
            <a:extLst>
              <a:ext uri="{FF2B5EF4-FFF2-40B4-BE49-F238E27FC236}">
                <a16:creationId xmlns:a16="http://schemas.microsoft.com/office/drawing/2014/main" id="{BD65F79D-BA21-4364-8C22-FC743AD64D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2932113"/>
            <a:ext cx="3667125" cy="35814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24973" name="Picture 13" descr="MercWrinkle1">
            <a:extLst>
              <a:ext uri="{FF2B5EF4-FFF2-40B4-BE49-F238E27FC236}">
                <a16:creationId xmlns:a16="http://schemas.microsoft.com/office/drawing/2014/main" id="{53CAAAEB-0508-4111-8CC9-3D249C93CD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5713" y="3951288"/>
            <a:ext cx="2606675" cy="26193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24974" name="Text Box 14">
            <a:extLst>
              <a:ext uri="{FF2B5EF4-FFF2-40B4-BE49-F238E27FC236}">
                <a16:creationId xmlns:a16="http://schemas.microsoft.com/office/drawing/2014/main" id="{E3AEC13F-A444-4CFA-B32B-566BDAF1B09E}"/>
              </a:ext>
            </a:extLst>
          </p:cNvPr>
          <p:cNvSpPr txBox="1">
            <a:spLocks noChangeArrowheads="1"/>
          </p:cNvSpPr>
          <p:nvPr/>
        </p:nvSpPr>
        <p:spPr bwMode="auto">
          <a:xfrm>
            <a:off x="120650" y="1570038"/>
            <a:ext cx="6319838"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Analysis of the geometry of these features indicates that they are the surface expression of </a:t>
            </a:r>
            <a:r>
              <a:rPr lang="en-GB" altLang="en-US" sz="1700">
                <a:solidFill>
                  <a:srgbClr val="FF66FF"/>
                </a:solidFill>
                <a:effectLst/>
                <a:latin typeface="Arial" panose="020B0604020202020204" pitchFamily="34" charset="0"/>
              </a:rPr>
              <a:t>antiforms formed above the tips of reverse faults</a:t>
            </a:r>
            <a:r>
              <a:rPr lang="en-GB" altLang="en-US" sz="1700">
                <a:effectLst/>
                <a:latin typeface="Arial" panose="020B0604020202020204" pitchFamily="34" charset="0"/>
              </a:rPr>
              <a:t> that break the surface </a:t>
            </a:r>
            <a:endParaRPr lang="en-GB" altLang="en-US" sz="1700">
              <a:effectLst>
                <a:outerShdw blurRad="38100" dist="38100" dir="2700000" algn="tl">
                  <a:srgbClr val="000000"/>
                </a:outerShdw>
              </a:effectLst>
              <a:latin typeface="Arial" panose="020B0604020202020204" pitchFamily="34" charset="0"/>
            </a:endParaRPr>
          </a:p>
        </p:txBody>
      </p:sp>
      <p:sp>
        <p:nvSpPr>
          <p:cNvPr id="424975" name="Text Box 15">
            <a:extLst>
              <a:ext uri="{FF2B5EF4-FFF2-40B4-BE49-F238E27FC236}">
                <a16:creationId xmlns:a16="http://schemas.microsoft.com/office/drawing/2014/main" id="{C360FBAE-4CBD-40BE-A5B1-1CFE945A4944}"/>
              </a:ext>
            </a:extLst>
          </p:cNvPr>
          <p:cNvSpPr txBox="1">
            <a:spLocks noChangeArrowheads="1"/>
          </p:cNvSpPr>
          <p:nvPr/>
        </p:nvSpPr>
        <p:spPr bwMode="auto">
          <a:xfrm>
            <a:off x="4003675" y="3968750"/>
            <a:ext cx="1970088"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Left: Discovery Rupes, which at 500 km+, is the longest lobate scarp on Mercury</a:t>
            </a:r>
          </a:p>
        </p:txBody>
      </p:sp>
      <p:sp>
        <p:nvSpPr>
          <p:cNvPr id="424976" name="Text Box 16">
            <a:extLst>
              <a:ext uri="{FF2B5EF4-FFF2-40B4-BE49-F238E27FC236}">
                <a16:creationId xmlns:a16="http://schemas.microsoft.com/office/drawing/2014/main" id="{BE7C397B-7DEA-4959-9661-A1623BEF9CBB}"/>
              </a:ext>
            </a:extLst>
          </p:cNvPr>
          <p:cNvSpPr txBox="1">
            <a:spLocks noChangeArrowheads="1"/>
          </p:cNvSpPr>
          <p:nvPr/>
        </p:nvSpPr>
        <p:spPr bwMode="auto">
          <a:xfrm>
            <a:off x="4457700" y="5545138"/>
            <a:ext cx="1820863"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Right: detail of a lobate scarp in the northern hemisphere of Mercury</a:t>
            </a:r>
          </a:p>
        </p:txBody>
      </p:sp>
      <p:pic>
        <p:nvPicPr>
          <p:cNvPr id="424977" name="Picture 17" descr="04b2">
            <a:extLst>
              <a:ext uri="{FF2B5EF4-FFF2-40B4-BE49-F238E27FC236}">
                <a16:creationId xmlns:a16="http://schemas.microsoft.com/office/drawing/2014/main" id="{C7A21C49-D262-4B7F-8D75-44D5F7FB370E}"/>
              </a:ext>
            </a:extLst>
          </p:cNvPr>
          <p:cNvPicPr>
            <a:picLocks noChangeAspect="1" noChangeArrowheads="1"/>
          </p:cNvPicPr>
          <p:nvPr/>
        </p:nvPicPr>
        <p:blipFill>
          <a:blip r:embed="rId6">
            <a:lum bright="-6000" contrast="10000"/>
            <a:extLst>
              <a:ext uri="{28A0092B-C50C-407E-A947-70E740481C1C}">
                <a14:useLocalDpi xmlns:a14="http://schemas.microsoft.com/office/drawing/2010/main" val="0"/>
              </a:ext>
            </a:extLst>
          </a:blip>
          <a:srcRect/>
          <a:stretch>
            <a:fillRect/>
          </a:stretch>
        </p:blipFill>
        <p:spPr bwMode="auto">
          <a:xfrm>
            <a:off x="4038600" y="2751138"/>
            <a:ext cx="2409825" cy="10128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a:extLst>
              <a:ext uri="{FF2B5EF4-FFF2-40B4-BE49-F238E27FC236}">
                <a16:creationId xmlns:a16="http://schemas.microsoft.com/office/drawing/2014/main" id="{1B9DBC3C-011D-4D80-B195-9FDE4757FFCE}"/>
              </a:ext>
            </a:extLst>
          </p:cNvPr>
          <p:cNvSpPr>
            <a:spLocks noGrp="1" noChangeArrowheads="1"/>
          </p:cNvSpPr>
          <p:nvPr>
            <p:ph type="title"/>
          </p:nvPr>
        </p:nvSpPr>
        <p:spPr>
          <a:noFill/>
        </p:spPr>
        <p:txBody>
          <a:bodyPr/>
          <a:lstStyle/>
          <a:p>
            <a:r>
              <a:rPr lang="en-GB" altLang="en-US">
                <a:effectLst/>
              </a:rPr>
              <a:t>Developing our understanding of thrust systems</a:t>
            </a:r>
          </a:p>
        </p:txBody>
      </p:sp>
      <p:sp>
        <p:nvSpPr>
          <p:cNvPr id="305155" name="Rectangle 3">
            <a:extLst>
              <a:ext uri="{FF2B5EF4-FFF2-40B4-BE49-F238E27FC236}">
                <a16:creationId xmlns:a16="http://schemas.microsoft.com/office/drawing/2014/main" id="{6C259F95-C810-4161-8D71-62ED94D90D60}"/>
              </a:ext>
            </a:extLst>
          </p:cNvPr>
          <p:cNvSpPr>
            <a:spLocks noGrp="1" noChangeArrowheads="1"/>
          </p:cNvSpPr>
          <p:nvPr>
            <p:ph type="body" sz="half" idx="1"/>
          </p:nvPr>
        </p:nvSpPr>
        <p:spPr>
          <a:xfrm>
            <a:off x="131763" y="831850"/>
            <a:ext cx="3641725" cy="3309938"/>
          </a:xfrm>
          <a:noFill/>
        </p:spPr>
        <p:txBody>
          <a:bodyPr/>
          <a:lstStyle/>
          <a:p>
            <a:pPr marL="180975" indent="-180975">
              <a:spcBef>
                <a:spcPct val="50000"/>
              </a:spcBef>
            </a:pPr>
            <a:r>
              <a:rPr lang="en-GB" altLang="en-US" sz="1700" dirty="0">
                <a:effectLst/>
              </a:rPr>
              <a:t>Most of our understanding of the geometry of thrust systems and the factors that influence how they develop comes from careful </a:t>
            </a:r>
            <a:r>
              <a:rPr lang="en-GB" altLang="en-US" sz="1700" dirty="0">
                <a:solidFill>
                  <a:srgbClr val="FF66CC"/>
                </a:solidFill>
                <a:effectLst/>
              </a:rPr>
              <a:t>field observations</a:t>
            </a:r>
            <a:r>
              <a:rPr lang="en-GB" altLang="en-US" sz="1700" dirty="0">
                <a:effectLst/>
              </a:rPr>
              <a:t>, but an important contribution has also been made by </a:t>
            </a:r>
            <a:r>
              <a:rPr lang="en-GB" altLang="en-US" sz="1700" dirty="0">
                <a:solidFill>
                  <a:srgbClr val="FF66CC"/>
                </a:solidFill>
                <a:effectLst/>
              </a:rPr>
              <a:t>physical modelling</a:t>
            </a:r>
            <a:r>
              <a:rPr lang="en-GB" altLang="en-US" sz="1700" dirty="0">
                <a:effectLst/>
              </a:rPr>
              <a:t> using carefully scaled analogue materials</a:t>
            </a:r>
          </a:p>
          <a:p>
            <a:pPr marL="180975" indent="-180975">
              <a:spcBef>
                <a:spcPct val="50000"/>
              </a:spcBef>
              <a:buFont typeface="Times" panose="02020603050405020304" pitchFamily="18" charset="0"/>
              <a:buNone/>
            </a:pPr>
            <a:r>
              <a:rPr lang="en-GB" altLang="en-US" sz="1700" dirty="0">
                <a:effectLst/>
              </a:rPr>
              <a:t>	       (and also, numerical models)</a:t>
            </a:r>
          </a:p>
        </p:txBody>
      </p:sp>
      <p:pic>
        <p:nvPicPr>
          <p:cNvPr id="305164" name="Picture 2" descr="GR07.jpg">
            <a:extLst>
              <a:ext uri="{FF2B5EF4-FFF2-40B4-BE49-F238E27FC236}">
                <a16:creationId xmlns:a16="http://schemas.microsoft.com/office/drawing/2014/main" id="{C8204C01-86AD-44C9-B4A8-98C156497CF9}"/>
              </a:ext>
            </a:extLst>
          </p:cNvPr>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079875" y="917575"/>
            <a:ext cx="4679950" cy="3405188"/>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5166" name="Picture 14">
            <a:extLst>
              <a:ext uri="{FF2B5EF4-FFF2-40B4-BE49-F238E27FC236}">
                <a16:creationId xmlns:a16="http://schemas.microsoft.com/office/drawing/2014/main" id="{0AE23D6C-0C2F-47B8-90D6-7111ECD35D78}"/>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057275" y="4573588"/>
            <a:ext cx="7224713" cy="2079625"/>
          </a:xfrm>
          <a:noFill/>
          <a:ln w="38100">
            <a:solidFill>
              <a:schemeClr val="bg2"/>
            </a:solidFill>
            <a:miter lim="800000"/>
            <a:headEnd/>
            <a:tailEnd/>
          </a:ln>
        </p:spPr>
      </p:pic>
      <p:sp>
        <p:nvSpPr>
          <p:cNvPr id="305168" name="Line 16">
            <a:extLst>
              <a:ext uri="{FF2B5EF4-FFF2-40B4-BE49-F238E27FC236}">
                <a16:creationId xmlns:a16="http://schemas.microsoft.com/office/drawing/2014/main" id="{D101AF63-24F6-4F5B-88C8-7DE8F4F7F448}"/>
              </a:ext>
            </a:extLst>
          </p:cNvPr>
          <p:cNvSpPr>
            <a:spLocks noChangeShapeType="1"/>
          </p:cNvSpPr>
          <p:nvPr/>
        </p:nvSpPr>
        <p:spPr bwMode="auto">
          <a:xfrm flipV="1">
            <a:off x="587375" y="6102350"/>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39868F7E-6923-49D1-8CF2-6AF39775E8D2}"/>
              </a:ext>
            </a:extLst>
          </p:cNvPr>
          <p:cNvSpPr>
            <a:spLocks noGrp="1" noChangeArrowheads="1"/>
          </p:cNvSpPr>
          <p:nvPr>
            <p:ph type="ctrTitle" idx="4294967295"/>
          </p:nvPr>
        </p:nvSpPr>
        <p:spPr bwMode="black">
          <a:xfrm>
            <a:off x="201613" y="1717675"/>
            <a:ext cx="8705850" cy="18446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200">
                <a:solidFill>
                  <a:srgbClr val="FF6600"/>
                </a:solidFill>
              </a:rPr>
            </a:br>
            <a:br>
              <a:rPr lang="en-US" altLang="en-US" sz="3200">
                <a:solidFill>
                  <a:srgbClr val="FF6600"/>
                </a:solidFill>
              </a:rPr>
            </a:br>
            <a:r>
              <a:rPr lang="en-US" altLang="en-US" sz="3200">
                <a:solidFill>
                  <a:srgbClr val="FF6600"/>
                </a:solidFill>
              </a:rPr>
              <a:t>Terminology</a:t>
            </a:r>
            <a:endParaRPr lang="en-US" altLang="en-US">
              <a:solidFill>
                <a:srgbClr val="FF6600"/>
              </a:solidFill>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68484720-45E8-403F-BB00-7EC40FEC946C}"/>
              </a:ext>
            </a:extLst>
          </p:cNvPr>
          <p:cNvSpPr>
            <a:spLocks noGrp="1" noChangeArrowheads="1"/>
          </p:cNvSpPr>
          <p:nvPr>
            <p:ph type="title"/>
          </p:nvPr>
        </p:nvSpPr>
        <p:spPr>
          <a:noFill/>
        </p:spPr>
        <p:txBody>
          <a:bodyPr/>
          <a:lstStyle/>
          <a:p>
            <a:r>
              <a:rPr lang="en-GB" altLang="en-US">
                <a:effectLst/>
              </a:rPr>
              <a:t>Thrusts</a:t>
            </a:r>
          </a:p>
        </p:txBody>
      </p:sp>
      <p:sp>
        <p:nvSpPr>
          <p:cNvPr id="221187" name="Rectangle 3">
            <a:extLst>
              <a:ext uri="{FF2B5EF4-FFF2-40B4-BE49-F238E27FC236}">
                <a16:creationId xmlns:a16="http://schemas.microsoft.com/office/drawing/2014/main" id="{7A7CADFD-2B38-40A1-80CA-BF4ADA64A3E4}"/>
              </a:ext>
            </a:extLst>
          </p:cNvPr>
          <p:cNvSpPr>
            <a:spLocks noGrp="1" noChangeArrowheads="1"/>
          </p:cNvSpPr>
          <p:nvPr>
            <p:ph type="body" sz="half" idx="1"/>
          </p:nvPr>
        </p:nvSpPr>
        <p:spPr>
          <a:xfrm>
            <a:off x="112713" y="793750"/>
            <a:ext cx="8758237" cy="1814513"/>
          </a:xfrm>
          <a:noFill/>
        </p:spPr>
        <p:txBody>
          <a:bodyPr/>
          <a:lstStyle/>
          <a:p>
            <a:pPr marL="177800" indent="-177800"/>
            <a:r>
              <a:rPr lang="en-GB" altLang="en-US" sz="1700" dirty="0">
                <a:effectLst/>
              </a:rPr>
              <a:t>A </a:t>
            </a:r>
            <a:r>
              <a:rPr lang="en-GB" altLang="en-US" sz="1700" dirty="0">
                <a:solidFill>
                  <a:srgbClr val="FF6600"/>
                </a:solidFill>
                <a:effectLst/>
              </a:rPr>
              <a:t>thrust</a:t>
            </a:r>
            <a:r>
              <a:rPr lang="en-GB" altLang="en-US" sz="1700" dirty="0">
                <a:effectLst/>
              </a:rPr>
              <a:t> is a predominantly</a:t>
            </a:r>
            <a:r>
              <a:rPr lang="en-GB" altLang="en-US" sz="1700" dirty="0">
                <a:solidFill>
                  <a:srgbClr val="FF66CC"/>
                </a:solidFill>
                <a:effectLst/>
              </a:rPr>
              <a:t> low angle fault or shear zone</a:t>
            </a:r>
            <a:r>
              <a:rPr lang="en-GB" altLang="en-US" sz="1700" dirty="0">
                <a:effectLst/>
              </a:rPr>
              <a:t> with a predominantly</a:t>
            </a:r>
            <a:r>
              <a:rPr lang="en-GB" altLang="en-US" sz="1700" dirty="0">
                <a:solidFill>
                  <a:srgbClr val="FF66CC"/>
                </a:solidFill>
                <a:effectLst/>
              </a:rPr>
              <a:t> reverse dip-slip sense of movement</a:t>
            </a:r>
            <a:endParaRPr lang="en-GB" altLang="en-US" sz="1700" dirty="0">
              <a:effectLst/>
            </a:endParaRPr>
          </a:p>
          <a:p>
            <a:pPr marL="177800" indent="-177800">
              <a:spcBef>
                <a:spcPct val="50000"/>
              </a:spcBef>
              <a:buFont typeface="Times" panose="02020603050405020304" pitchFamily="18" charset="0"/>
              <a:buNone/>
            </a:pPr>
            <a:r>
              <a:rPr lang="en-GB" altLang="en-US" sz="1700" dirty="0">
                <a:effectLst/>
              </a:rPr>
              <a:t>	In rocks that </a:t>
            </a:r>
            <a:r>
              <a:rPr lang="en-GB" altLang="en-US" sz="1700" dirty="0">
                <a:solidFill>
                  <a:srgbClr val="FFFF00"/>
                </a:solidFill>
                <a:effectLst/>
              </a:rPr>
              <a:t>young upwards, thrusts bring older rocks over younger rocks</a:t>
            </a:r>
            <a:r>
              <a:rPr lang="en-GB" altLang="en-US" sz="1700" dirty="0">
                <a:effectLst/>
              </a:rPr>
              <a:t>, or if the </a:t>
            </a:r>
            <a:r>
              <a:rPr lang="en-GB" altLang="en-US" sz="1700" dirty="0">
                <a:solidFill>
                  <a:srgbClr val="FF66FF"/>
                </a:solidFill>
                <a:effectLst/>
              </a:rPr>
              <a:t>metamorphic grade decreases upwards, thrusts bring rocks of higher metamorphic grade over rocks of lower metamorphic grade</a:t>
            </a:r>
          </a:p>
        </p:txBody>
      </p:sp>
      <p:pic>
        <p:nvPicPr>
          <p:cNvPr id="221188" name="Picture 4" descr="2a-Glarus thrust, Switzerland">
            <a:extLst>
              <a:ext uri="{FF2B5EF4-FFF2-40B4-BE49-F238E27FC236}">
                <a16:creationId xmlns:a16="http://schemas.microsoft.com/office/drawing/2014/main" id="{C6766B00-D410-49F4-8656-AC958086E91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279775" y="2805113"/>
            <a:ext cx="5653088" cy="37544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1190" name="Text Box 6">
            <a:extLst>
              <a:ext uri="{FF2B5EF4-FFF2-40B4-BE49-F238E27FC236}">
                <a16:creationId xmlns:a16="http://schemas.microsoft.com/office/drawing/2014/main" id="{99437E48-2C38-43AA-9651-FB3E25FE227D}"/>
              </a:ext>
            </a:extLst>
          </p:cNvPr>
          <p:cNvSpPr txBox="1">
            <a:spLocks noChangeArrowheads="1"/>
          </p:cNvSpPr>
          <p:nvPr/>
        </p:nvSpPr>
        <p:spPr bwMode="auto">
          <a:xfrm>
            <a:off x="123825" y="2714625"/>
            <a:ext cx="2943225"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Thrusts exist at all </a:t>
            </a:r>
            <a:r>
              <a:rPr lang="en-GB" altLang="en-US" sz="1700">
                <a:solidFill>
                  <a:srgbClr val="FF66CC"/>
                </a:solidFill>
                <a:effectLst>
                  <a:outerShdw blurRad="38100" dist="38100" dir="2700000" algn="tl">
                    <a:srgbClr val="000000"/>
                  </a:outerShdw>
                </a:effectLst>
                <a:latin typeface="Arial" panose="020B0604020202020204" pitchFamily="34" charset="0"/>
              </a:rPr>
              <a:t>scales</a:t>
            </a:r>
            <a:r>
              <a:rPr lang="en-GB" altLang="en-US" sz="1700">
                <a:effectLst>
                  <a:outerShdw blurRad="38100" dist="38100" dir="2700000" algn="tl">
                    <a:srgbClr val="000000"/>
                  </a:outerShdw>
                </a:effectLst>
                <a:latin typeface="Arial" panose="020B0604020202020204" pitchFamily="34" charset="0"/>
              </a:rPr>
              <a:t>, from those with extents and displacements of millimetres, through to those on the scale of mountain ranges with displacements of 10s or 100s of kilometres</a:t>
            </a:r>
          </a:p>
        </p:txBody>
      </p:sp>
      <p:sp>
        <p:nvSpPr>
          <p:cNvPr id="221191" name="Text Box 7">
            <a:extLst>
              <a:ext uri="{FF2B5EF4-FFF2-40B4-BE49-F238E27FC236}">
                <a16:creationId xmlns:a16="http://schemas.microsoft.com/office/drawing/2014/main" id="{924697C3-46D4-48A3-83D8-A4256B0ACAF8}"/>
              </a:ext>
            </a:extLst>
          </p:cNvPr>
          <p:cNvSpPr txBox="1">
            <a:spLocks noChangeArrowheads="1"/>
          </p:cNvSpPr>
          <p:nvPr/>
        </p:nvSpPr>
        <p:spPr bwMode="auto">
          <a:xfrm>
            <a:off x="647700" y="6305550"/>
            <a:ext cx="24812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Glarus Thrust in Switzerland</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a:extLst>
              <a:ext uri="{FF2B5EF4-FFF2-40B4-BE49-F238E27FC236}">
                <a16:creationId xmlns:a16="http://schemas.microsoft.com/office/drawing/2014/main" id="{4E29F6B0-043B-4EBC-BA4B-1AFF374EBA16}"/>
              </a:ext>
            </a:extLst>
          </p:cNvPr>
          <p:cNvSpPr>
            <a:spLocks noGrp="1" noChangeArrowheads="1"/>
          </p:cNvSpPr>
          <p:nvPr>
            <p:ph type="title"/>
          </p:nvPr>
        </p:nvSpPr>
        <p:spPr>
          <a:noFill/>
        </p:spPr>
        <p:txBody>
          <a:bodyPr/>
          <a:lstStyle/>
          <a:p>
            <a:r>
              <a:rPr lang="en-GB" altLang="en-US" dirty="0">
                <a:effectLst/>
              </a:rPr>
              <a:t>Nappe,  klipp</a:t>
            </a:r>
            <a:r>
              <a:rPr lang="en-GB" altLang="en-US" spc="500" dirty="0">
                <a:effectLst/>
              </a:rPr>
              <a:t>e/</a:t>
            </a:r>
            <a:r>
              <a:rPr lang="en-GB" altLang="en-US" dirty="0">
                <a:effectLst/>
              </a:rPr>
              <a:t>window,  allochtho</a:t>
            </a:r>
            <a:r>
              <a:rPr lang="en-GB" altLang="en-US" spc="500" dirty="0">
                <a:effectLst/>
              </a:rPr>
              <a:t>n/</a:t>
            </a:r>
            <a:r>
              <a:rPr lang="en-GB" altLang="en-US" dirty="0">
                <a:effectLst/>
              </a:rPr>
              <a:t>autochthon</a:t>
            </a:r>
          </a:p>
        </p:txBody>
      </p:sp>
      <p:sp>
        <p:nvSpPr>
          <p:cNvPr id="405507" name="Rectangle 3">
            <a:extLst>
              <a:ext uri="{FF2B5EF4-FFF2-40B4-BE49-F238E27FC236}">
                <a16:creationId xmlns:a16="http://schemas.microsoft.com/office/drawing/2014/main" id="{7E2287EC-57EF-4FD9-819E-0CE876483C80}"/>
              </a:ext>
            </a:extLst>
          </p:cNvPr>
          <p:cNvSpPr>
            <a:spLocks noGrp="1" noChangeArrowheads="1"/>
          </p:cNvSpPr>
          <p:nvPr>
            <p:ph type="body" sz="half" idx="1"/>
          </p:nvPr>
        </p:nvSpPr>
        <p:spPr>
          <a:xfrm>
            <a:off x="112713" y="3176588"/>
            <a:ext cx="4041775" cy="3414712"/>
          </a:xfrm>
          <a:noFill/>
        </p:spPr>
        <p:txBody>
          <a:bodyPr/>
          <a:lstStyle/>
          <a:p>
            <a:pPr marL="177800" indent="-177800"/>
            <a:r>
              <a:rPr lang="en-GB" altLang="en-US" sz="1700" dirty="0">
                <a:effectLst/>
              </a:rPr>
              <a:t>The hanging wall of a low angle, large displacement thrust is wide compared with its thickness and so is described as a </a:t>
            </a:r>
            <a:r>
              <a:rPr lang="en-GB" altLang="en-US" sz="1700" dirty="0">
                <a:solidFill>
                  <a:srgbClr val="FF6600"/>
                </a:solidFill>
                <a:effectLst/>
              </a:rPr>
              <a:t>thrust nappe</a:t>
            </a:r>
            <a:r>
              <a:rPr lang="en-GB" altLang="en-US" sz="1700" dirty="0">
                <a:effectLst/>
              </a:rPr>
              <a:t> or </a:t>
            </a:r>
            <a:r>
              <a:rPr lang="en-GB" altLang="en-US" sz="1700" dirty="0">
                <a:solidFill>
                  <a:srgbClr val="FF6600"/>
                </a:solidFill>
                <a:effectLst/>
              </a:rPr>
              <a:t>thrust sheet</a:t>
            </a:r>
          </a:p>
          <a:p>
            <a:pPr marL="177800" indent="-177800">
              <a:spcBef>
                <a:spcPct val="75000"/>
              </a:spcBef>
            </a:pPr>
            <a:r>
              <a:rPr lang="en-GB" altLang="en-US" sz="1700" dirty="0">
                <a:effectLst/>
              </a:rPr>
              <a:t>Erosion through a thrust sheet may mean that it is discontinuously exposed: an erosional remnant of a nappe is a </a:t>
            </a:r>
            <a:r>
              <a:rPr lang="en-GB" altLang="en-US" sz="1700" dirty="0" err="1">
                <a:solidFill>
                  <a:srgbClr val="FF6600"/>
                </a:solidFill>
                <a:effectLst/>
              </a:rPr>
              <a:t>klippe</a:t>
            </a:r>
            <a:r>
              <a:rPr lang="en-GB" altLang="en-US" sz="1700" dirty="0">
                <a:effectLst/>
              </a:rPr>
              <a:t>; an erosional hole exposing the units beneath the thrust is a (tectonic) </a:t>
            </a:r>
            <a:r>
              <a:rPr lang="en-GB" altLang="en-US" sz="1700" dirty="0">
                <a:solidFill>
                  <a:srgbClr val="FF6600"/>
                </a:solidFill>
                <a:effectLst/>
              </a:rPr>
              <a:t>window</a:t>
            </a:r>
            <a:r>
              <a:rPr lang="en-GB" altLang="en-US" sz="1700" dirty="0">
                <a:effectLst/>
              </a:rPr>
              <a:t> </a:t>
            </a:r>
          </a:p>
        </p:txBody>
      </p:sp>
      <p:pic>
        <p:nvPicPr>
          <p:cNvPr id="405509" name="Picture 5" descr="2c">
            <a:extLst>
              <a:ext uri="{FF2B5EF4-FFF2-40B4-BE49-F238E27FC236}">
                <a16:creationId xmlns:a16="http://schemas.microsoft.com/office/drawing/2014/main" id="{8374B588-10E5-41FC-B95D-6653AEC1A838}"/>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260850" y="3213100"/>
            <a:ext cx="4700588" cy="2332038"/>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05511" name="Picture 7" descr="ChiefMtnPan">
            <a:extLst>
              <a:ext uri="{FF2B5EF4-FFF2-40B4-BE49-F238E27FC236}">
                <a16:creationId xmlns:a16="http://schemas.microsoft.com/office/drawing/2014/main" id="{A5FF15F4-E242-4EA0-9C60-9062DF612473}"/>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339725" y="879475"/>
            <a:ext cx="8467725" cy="21240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5516" name="Text Box 12">
            <a:extLst>
              <a:ext uri="{FF2B5EF4-FFF2-40B4-BE49-F238E27FC236}">
                <a16:creationId xmlns:a16="http://schemas.microsoft.com/office/drawing/2014/main" id="{D3C2F1AA-FBA0-4060-9BD8-EE8D41626A40}"/>
              </a:ext>
            </a:extLst>
          </p:cNvPr>
          <p:cNvSpPr txBox="1">
            <a:spLocks noChangeArrowheads="1"/>
          </p:cNvSpPr>
          <p:nvPr/>
        </p:nvSpPr>
        <p:spPr bwMode="auto">
          <a:xfrm>
            <a:off x="4273550" y="5619750"/>
            <a:ext cx="4740275"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8288" indent="-2682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Thrust sheet is transported (</a:t>
            </a:r>
            <a:r>
              <a:rPr lang="en-GB" altLang="en-US" sz="1400" dirty="0">
                <a:solidFill>
                  <a:srgbClr val="FF66FF"/>
                </a:solidFill>
                <a:effectLst/>
                <a:latin typeface="Arial" panose="020B0604020202020204" pitchFamily="34" charset="0"/>
              </a:rPr>
              <a:t>allochthon</a:t>
            </a:r>
            <a:r>
              <a:rPr lang="en-GB" altLang="en-US" sz="1400" dirty="0">
                <a:effectLst/>
                <a:latin typeface="Arial" panose="020B0604020202020204" pitchFamily="34" charset="0"/>
              </a:rPr>
              <a:t>);</a:t>
            </a:r>
          </a:p>
          <a:p>
            <a:pPr>
              <a:lnSpc>
                <a:spcPct val="120000"/>
              </a:lnSpc>
              <a:spcBef>
                <a:spcPct val="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Footwall is close to its original location (</a:t>
            </a:r>
            <a:r>
              <a:rPr lang="en-GB" altLang="en-US" sz="1400" dirty="0">
                <a:solidFill>
                  <a:srgbClr val="FF66FF"/>
                </a:solidFill>
                <a:effectLst/>
                <a:latin typeface="Arial" panose="020B0604020202020204" pitchFamily="34" charset="0"/>
              </a:rPr>
              <a:t>autochthon</a:t>
            </a:r>
            <a:r>
              <a:rPr lang="en-GB" altLang="en-US" sz="1400" dirty="0">
                <a:effectLst/>
                <a:latin typeface="Arial" panose="020B0604020202020204" pitchFamily="34" charset="0"/>
              </a:rPr>
              <a:t>);</a:t>
            </a:r>
          </a:p>
          <a:p>
            <a:pPr>
              <a:lnSpc>
                <a:spcPct val="120000"/>
              </a:lnSpc>
              <a:spcBef>
                <a:spcPct val="0"/>
              </a:spcBef>
              <a:buClr>
                <a:schemeClr val="folHlink"/>
              </a:buClr>
              <a:buSzPct val="100000"/>
              <a:buFont typeface="Wingdings" panose="05000000000000000000" pitchFamily="2" charset="2"/>
              <a:buChar char="Ø"/>
            </a:pPr>
            <a:r>
              <a:rPr lang="en-GB" altLang="en-US" sz="1400" dirty="0">
                <a:effectLst/>
                <a:latin typeface="Arial" panose="020B0604020202020204" pitchFamily="34" charset="0"/>
              </a:rPr>
              <a:t>Slices of basemen</a:t>
            </a:r>
            <a:r>
              <a:rPr lang="en-GB" altLang="en-US" sz="1400" spc="250" dirty="0">
                <a:effectLst/>
                <a:latin typeface="Arial" panose="020B0604020202020204" pitchFamily="34" charset="0"/>
              </a:rPr>
              <a:t>t/</a:t>
            </a:r>
            <a:r>
              <a:rPr lang="en-GB" altLang="en-US" sz="1400" dirty="0">
                <a:effectLst/>
                <a:latin typeface="Arial" panose="020B0604020202020204" pitchFamily="34" charset="0"/>
              </a:rPr>
              <a:t>cover caught up in the thrusting and moved relatively short distances (</a:t>
            </a:r>
            <a:r>
              <a:rPr lang="en-GB" altLang="en-US" sz="1400" dirty="0" err="1">
                <a:solidFill>
                  <a:srgbClr val="FF66FF"/>
                </a:solidFill>
                <a:effectLst/>
                <a:latin typeface="Arial" panose="020B0604020202020204" pitchFamily="34" charset="0"/>
              </a:rPr>
              <a:t>parautochthon</a:t>
            </a:r>
            <a:r>
              <a:rPr lang="en-GB" altLang="en-US" sz="1400" dirty="0">
                <a:effectLst/>
                <a:latin typeface="Arial" panose="020B0604020202020204" pitchFamily="34" charset="0"/>
              </a:rPr>
              <a:t>)</a:t>
            </a:r>
            <a:endParaRPr lang="en-GB" altLang="en-US" sz="1400" dirty="0">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84F69949-E32B-4E4A-848F-90C1866C16DE}"/>
              </a:ext>
            </a:extLst>
          </p:cNvPr>
          <p:cNvSpPr>
            <a:spLocks noGrp="1" noChangeArrowheads="1"/>
          </p:cNvSpPr>
          <p:nvPr>
            <p:ph type="title"/>
          </p:nvPr>
        </p:nvSpPr>
        <p:spPr>
          <a:noFill/>
        </p:spPr>
        <p:txBody>
          <a:bodyPr/>
          <a:lstStyle/>
          <a:p>
            <a:r>
              <a:rPr lang="en-GB" altLang="en-US">
                <a:effectLst/>
              </a:rPr>
              <a:t>The fault surface</a:t>
            </a:r>
          </a:p>
        </p:txBody>
      </p:sp>
      <p:sp>
        <p:nvSpPr>
          <p:cNvPr id="256003" name="Rectangle 3">
            <a:extLst>
              <a:ext uri="{FF2B5EF4-FFF2-40B4-BE49-F238E27FC236}">
                <a16:creationId xmlns:a16="http://schemas.microsoft.com/office/drawing/2014/main" id="{46D5812A-D96A-4D7F-B3F8-19C5348217D0}"/>
              </a:ext>
            </a:extLst>
          </p:cNvPr>
          <p:cNvSpPr>
            <a:spLocks noGrp="1" noChangeArrowheads="1"/>
          </p:cNvSpPr>
          <p:nvPr>
            <p:ph type="body" sz="half" idx="1"/>
          </p:nvPr>
        </p:nvSpPr>
        <p:spPr>
          <a:xfrm>
            <a:off x="131763" y="774700"/>
            <a:ext cx="8701087" cy="763588"/>
          </a:xfrm>
          <a:noFill/>
        </p:spPr>
        <p:txBody>
          <a:bodyPr/>
          <a:lstStyle/>
          <a:p>
            <a:pPr marL="177800" indent="-177800"/>
            <a:r>
              <a:rPr lang="en-GB" altLang="en-US" sz="1700" dirty="0">
                <a:effectLst/>
              </a:rPr>
              <a:t>The fault surface on thrusts with large displacements may be remarkably </a:t>
            </a:r>
            <a:r>
              <a:rPr lang="en-GB" altLang="en-US" sz="1700" dirty="0">
                <a:solidFill>
                  <a:srgbClr val="FF6600"/>
                </a:solidFill>
                <a:effectLst/>
              </a:rPr>
              <a:t>sharp</a:t>
            </a:r>
            <a:r>
              <a:rPr lang="en-GB" altLang="en-US" sz="1700" dirty="0">
                <a:effectLst/>
              </a:rPr>
              <a:t> </a:t>
            </a:r>
            <a:r>
              <a:rPr lang="en-GB" altLang="en-US" sz="1700" dirty="0">
                <a:effectLst/>
                <a:cs typeface="Arial" panose="020B0604020202020204" pitchFamily="34" charset="0"/>
              </a:rPr>
              <a:t>→ this is a</a:t>
            </a:r>
            <a:r>
              <a:rPr lang="en-GB" altLang="en-US" sz="1700" dirty="0">
                <a:effectLst/>
              </a:rPr>
              <a:t> testament to the efficiency of strain localization once the thrust has formed</a:t>
            </a:r>
          </a:p>
        </p:txBody>
      </p:sp>
      <p:pic>
        <p:nvPicPr>
          <p:cNvPr id="256004" name="Picture 4" descr="2d1-Muddy Mtns Thrust, limestone over Aztec sst">
            <a:extLst>
              <a:ext uri="{FF2B5EF4-FFF2-40B4-BE49-F238E27FC236}">
                <a16:creationId xmlns:a16="http://schemas.microsoft.com/office/drawing/2014/main" id="{8D17FF20-CC27-46C8-B8A1-E22FCF65BEF3}"/>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09550" y="1612900"/>
            <a:ext cx="4233863" cy="3016250"/>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56008" name="Picture 8" descr="02d3-Glarus thrust, Lochsite loc, Switzerland">
            <a:extLst>
              <a:ext uri="{FF2B5EF4-FFF2-40B4-BE49-F238E27FC236}">
                <a16:creationId xmlns:a16="http://schemas.microsoft.com/office/drawing/2014/main" id="{C56A0378-42D8-4B1F-B5C2-3944F14EC9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50" y="4819650"/>
            <a:ext cx="6021388" cy="1905000"/>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56009" name="Text Box 9">
            <a:extLst>
              <a:ext uri="{FF2B5EF4-FFF2-40B4-BE49-F238E27FC236}">
                <a16:creationId xmlns:a16="http://schemas.microsoft.com/office/drawing/2014/main" id="{4014FEC5-FDC4-4297-99B7-A478122F5926}"/>
              </a:ext>
            </a:extLst>
          </p:cNvPr>
          <p:cNvSpPr txBox="1">
            <a:spLocks noChangeArrowheads="1"/>
          </p:cNvSpPr>
          <p:nvPr/>
        </p:nvSpPr>
        <p:spPr bwMode="auto">
          <a:xfrm>
            <a:off x="6381750" y="4895850"/>
            <a:ext cx="2619375" cy="85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Muddy Mountains Thrust (top left), Glencoul Thrust (above) and Glarus Thrust (left)</a:t>
            </a:r>
          </a:p>
        </p:txBody>
      </p:sp>
      <p:pic>
        <p:nvPicPr>
          <p:cNvPr id="256013" name="Picture 13" descr="06c2-GlenCoul">
            <a:extLst>
              <a:ext uri="{FF2B5EF4-FFF2-40B4-BE49-F238E27FC236}">
                <a16:creationId xmlns:a16="http://schemas.microsoft.com/office/drawing/2014/main" id="{309ED48D-F00A-4C0D-AA19-F1F6B10D9E1C}"/>
              </a:ext>
            </a:extLst>
          </p:cNvPr>
          <p:cNvPicPr>
            <a:picLocks noGrp="1" noChangeAspect="1" noChangeArrowheads="1"/>
          </p:cNvPicPr>
          <p:nvPr>
            <p:ph sz="quarter" idx="3"/>
          </p:nvPr>
        </p:nvPicPr>
        <p:blipFill>
          <a:blip r:embed="rId5">
            <a:lum bright="4000"/>
            <a:extLst>
              <a:ext uri="{28A0092B-C50C-407E-A947-70E740481C1C}">
                <a14:useLocalDpi xmlns:a14="http://schemas.microsoft.com/office/drawing/2010/main" val="0"/>
              </a:ext>
            </a:extLst>
          </a:blip>
          <a:srcRect/>
          <a:stretch>
            <a:fillRect/>
          </a:stretch>
        </p:blipFill>
        <p:spPr>
          <a:xfrm>
            <a:off x="4705350" y="1612900"/>
            <a:ext cx="4248150" cy="30162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105" name="Rectangle 9">
            <a:extLst>
              <a:ext uri="{FF2B5EF4-FFF2-40B4-BE49-F238E27FC236}">
                <a16:creationId xmlns:a16="http://schemas.microsoft.com/office/drawing/2014/main" id="{AF8E5573-0577-46DE-9CD7-5E596414C0EA}"/>
              </a:ext>
            </a:extLst>
          </p:cNvPr>
          <p:cNvSpPr>
            <a:spLocks noChangeArrowheads="1"/>
          </p:cNvSpPr>
          <p:nvPr/>
        </p:nvSpPr>
        <p:spPr bwMode="auto">
          <a:xfrm>
            <a:off x="1838325" y="3314700"/>
            <a:ext cx="5086350" cy="212407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0098" name="Rectangle 2">
            <a:extLst>
              <a:ext uri="{FF2B5EF4-FFF2-40B4-BE49-F238E27FC236}">
                <a16:creationId xmlns:a16="http://schemas.microsoft.com/office/drawing/2014/main" id="{67598C78-227E-41DE-939A-99DCFDE79CA0}"/>
              </a:ext>
            </a:extLst>
          </p:cNvPr>
          <p:cNvSpPr>
            <a:spLocks noGrp="1" noChangeArrowheads="1"/>
          </p:cNvSpPr>
          <p:nvPr>
            <p:ph type="title"/>
          </p:nvPr>
        </p:nvSpPr>
        <p:spPr>
          <a:noFill/>
        </p:spPr>
        <p:txBody>
          <a:bodyPr/>
          <a:lstStyle/>
          <a:p>
            <a:r>
              <a:rPr lang="en-GB" altLang="en-US" dirty="0">
                <a:effectLst/>
              </a:rPr>
              <a:t>Shape of the thrust surface: ramp</a:t>
            </a:r>
            <a:r>
              <a:rPr lang="en-GB" altLang="en-US" spc="500" dirty="0">
                <a:effectLst/>
              </a:rPr>
              <a:t>s/</a:t>
            </a:r>
            <a:r>
              <a:rPr lang="en-GB" altLang="en-US" dirty="0">
                <a:effectLst/>
              </a:rPr>
              <a:t>flats</a:t>
            </a:r>
          </a:p>
        </p:txBody>
      </p:sp>
      <p:sp>
        <p:nvSpPr>
          <p:cNvPr id="260099" name="Rectangle 3">
            <a:extLst>
              <a:ext uri="{FF2B5EF4-FFF2-40B4-BE49-F238E27FC236}">
                <a16:creationId xmlns:a16="http://schemas.microsoft.com/office/drawing/2014/main" id="{4750131E-C55E-48E5-9BCE-FB29CBF25597}"/>
              </a:ext>
            </a:extLst>
          </p:cNvPr>
          <p:cNvSpPr>
            <a:spLocks noGrp="1" noChangeArrowheads="1"/>
          </p:cNvSpPr>
          <p:nvPr>
            <p:ph type="body" sz="half" idx="1"/>
          </p:nvPr>
        </p:nvSpPr>
        <p:spPr>
          <a:xfrm>
            <a:off x="131763" y="793750"/>
            <a:ext cx="8815387" cy="2252663"/>
          </a:xfrm>
          <a:noFill/>
        </p:spPr>
        <p:txBody>
          <a:bodyPr/>
          <a:lstStyle/>
          <a:p>
            <a:pPr marL="177800" indent="-177800"/>
            <a:r>
              <a:rPr lang="en-GB" altLang="en-US" sz="1700" dirty="0">
                <a:effectLst/>
              </a:rPr>
              <a:t>A low angle thrust fault typically passes up stratigraphy in a </a:t>
            </a:r>
            <a:r>
              <a:rPr lang="en-GB" altLang="en-US" sz="1700" dirty="0">
                <a:solidFill>
                  <a:srgbClr val="FF66CC"/>
                </a:solidFill>
                <a:effectLst/>
              </a:rPr>
              <a:t>series of steps</a:t>
            </a:r>
            <a:r>
              <a:rPr lang="en-GB" altLang="en-US" sz="1700" dirty="0">
                <a:effectLst/>
              </a:rPr>
              <a:t> in which it alternately follows weak horizons and cuts up section across more competent layers</a:t>
            </a:r>
          </a:p>
          <a:p>
            <a:pPr marL="177800" indent="-177800">
              <a:spcBef>
                <a:spcPct val="75000"/>
              </a:spcBef>
            </a:pPr>
            <a:r>
              <a:rPr lang="en-GB" altLang="en-US" sz="1700" dirty="0">
                <a:effectLst/>
              </a:rPr>
              <a:t>Where the fault runs parallel to layering it is described as a </a:t>
            </a:r>
            <a:r>
              <a:rPr lang="en-GB" altLang="en-US" sz="1700" dirty="0">
                <a:solidFill>
                  <a:srgbClr val="FF6600"/>
                </a:solidFill>
                <a:effectLst/>
              </a:rPr>
              <a:t>flat</a:t>
            </a:r>
            <a:r>
              <a:rPr lang="en-GB" altLang="en-US" sz="1700" dirty="0">
                <a:effectLst/>
              </a:rPr>
              <a:t>; where it cross-cuts and truncates the layering it is described as a </a:t>
            </a:r>
            <a:r>
              <a:rPr lang="en-GB" altLang="en-US" sz="1700" dirty="0">
                <a:solidFill>
                  <a:srgbClr val="FF6600"/>
                </a:solidFill>
                <a:effectLst/>
              </a:rPr>
              <a:t>ramp</a:t>
            </a:r>
          </a:p>
          <a:p>
            <a:pPr marL="177800" indent="-177800">
              <a:spcBef>
                <a:spcPct val="75000"/>
              </a:spcBef>
            </a:pPr>
            <a:r>
              <a:rPr lang="en-GB" altLang="en-US" sz="1700" dirty="0">
                <a:effectLst/>
              </a:rPr>
              <a:t>Note that the </a:t>
            </a:r>
            <a:r>
              <a:rPr lang="en-GB" altLang="en-US" sz="1700" dirty="0">
                <a:solidFill>
                  <a:srgbClr val="FF66CC"/>
                </a:solidFill>
                <a:effectLst/>
              </a:rPr>
              <a:t>position of flats and ramps</a:t>
            </a:r>
            <a:r>
              <a:rPr lang="en-GB" altLang="en-US" sz="1700" dirty="0">
                <a:effectLst/>
              </a:rPr>
              <a:t> </a:t>
            </a:r>
            <a:r>
              <a:rPr lang="en-GB" altLang="en-US" sz="1700" dirty="0">
                <a:solidFill>
                  <a:srgbClr val="FF66CC"/>
                </a:solidFill>
                <a:effectLst/>
              </a:rPr>
              <a:t>may</a:t>
            </a:r>
            <a:r>
              <a:rPr lang="en-GB" altLang="en-US" sz="1700" dirty="0">
                <a:effectLst/>
              </a:rPr>
              <a:t> </a:t>
            </a:r>
            <a:r>
              <a:rPr lang="en-GB" altLang="en-US" sz="1700" dirty="0">
                <a:solidFill>
                  <a:srgbClr val="FF66CC"/>
                </a:solidFill>
                <a:effectLst/>
              </a:rPr>
              <a:t>differ on footwall and hanging wall</a:t>
            </a:r>
            <a:endParaRPr lang="en-GB" altLang="en-US" sz="1700" dirty="0">
              <a:effectLst/>
            </a:endParaRPr>
          </a:p>
        </p:txBody>
      </p:sp>
      <p:pic>
        <p:nvPicPr>
          <p:cNvPr id="260100" name="Picture 2" descr="GR16.jpg">
            <a:extLst>
              <a:ext uri="{FF2B5EF4-FFF2-40B4-BE49-F238E27FC236}">
                <a16:creationId xmlns:a16="http://schemas.microsoft.com/office/drawing/2014/main" id="{D3789B09-5D4F-47F9-845F-CEABB214957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t="5482" b="48338"/>
          <a:stretch>
            <a:fillRect/>
          </a:stretch>
        </p:blipFill>
        <p:spPr>
          <a:xfrm>
            <a:off x="1914525" y="3406775"/>
            <a:ext cx="4908550" cy="1930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0102" name="Text Box 6">
            <a:extLst>
              <a:ext uri="{FF2B5EF4-FFF2-40B4-BE49-F238E27FC236}">
                <a16:creationId xmlns:a16="http://schemas.microsoft.com/office/drawing/2014/main" id="{57519F7D-5F6A-46C2-B388-730224113C63}"/>
              </a:ext>
            </a:extLst>
          </p:cNvPr>
          <p:cNvSpPr txBox="1">
            <a:spLocks noChangeArrowheads="1"/>
          </p:cNvSpPr>
          <p:nvPr/>
        </p:nvSpPr>
        <p:spPr bwMode="auto">
          <a:xfrm>
            <a:off x="1390650" y="5661025"/>
            <a:ext cx="165735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0"/>
              </a:spcBef>
            </a:pPr>
            <a:r>
              <a:rPr lang="en-GB" altLang="en-US">
                <a:solidFill>
                  <a:srgbClr val="FFFF00"/>
                </a:solidFill>
                <a:effectLst>
                  <a:outerShdw blurRad="38100" dist="38100" dir="2700000" algn="tl">
                    <a:srgbClr val="000000"/>
                  </a:outerShdw>
                </a:effectLst>
                <a:latin typeface="Arial" panose="020B0604020202020204" pitchFamily="34" charset="0"/>
              </a:rPr>
              <a:t>footwall flat</a:t>
            </a:r>
          </a:p>
          <a:p>
            <a:pPr>
              <a:lnSpc>
                <a:spcPct val="120000"/>
              </a:lnSpc>
              <a:spcBef>
                <a:spcPct val="0"/>
              </a:spcBef>
            </a:pPr>
            <a:r>
              <a:rPr lang="en-GB" altLang="en-US">
                <a:solidFill>
                  <a:srgbClr val="FFFF00"/>
                </a:solidFill>
                <a:effectLst>
                  <a:outerShdw blurRad="38100" dist="38100" dir="2700000" algn="tl">
                    <a:srgbClr val="000000"/>
                  </a:outerShdw>
                </a:effectLst>
                <a:latin typeface="Arial" panose="020B0604020202020204" pitchFamily="34" charset="0"/>
              </a:rPr>
              <a:t>hanging wall flat</a:t>
            </a:r>
          </a:p>
        </p:txBody>
      </p:sp>
      <p:sp>
        <p:nvSpPr>
          <p:cNvPr id="260103" name="Text Box 7">
            <a:extLst>
              <a:ext uri="{FF2B5EF4-FFF2-40B4-BE49-F238E27FC236}">
                <a16:creationId xmlns:a16="http://schemas.microsoft.com/office/drawing/2014/main" id="{B9605B37-9709-42B3-8A3D-F237DD3D093C}"/>
              </a:ext>
            </a:extLst>
          </p:cNvPr>
          <p:cNvSpPr txBox="1">
            <a:spLocks noChangeArrowheads="1"/>
          </p:cNvSpPr>
          <p:nvPr/>
        </p:nvSpPr>
        <p:spPr bwMode="auto">
          <a:xfrm>
            <a:off x="3673475" y="5661025"/>
            <a:ext cx="165735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0"/>
              </a:spcBef>
            </a:pPr>
            <a:r>
              <a:rPr lang="en-GB" altLang="en-US">
                <a:solidFill>
                  <a:srgbClr val="FFFF00"/>
                </a:solidFill>
                <a:effectLst>
                  <a:outerShdw blurRad="38100" dist="38100" dir="2700000" algn="tl">
                    <a:srgbClr val="000000"/>
                  </a:outerShdw>
                </a:effectLst>
                <a:latin typeface="Arial" panose="020B0604020202020204" pitchFamily="34" charset="0"/>
              </a:rPr>
              <a:t>footwall ramp</a:t>
            </a:r>
          </a:p>
          <a:p>
            <a:pPr>
              <a:lnSpc>
                <a:spcPct val="120000"/>
              </a:lnSpc>
              <a:spcBef>
                <a:spcPct val="0"/>
              </a:spcBef>
            </a:pPr>
            <a:r>
              <a:rPr lang="en-GB" altLang="en-US">
                <a:solidFill>
                  <a:srgbClr val="FFFF00"/>
                </a:solidFill>
                <a:effectLst>
                  <a:outerShdw blurRad="38100" dist="38100" dir="2700000" algn="tl">
                    <a:srgbClr val="000000"/>
                  </a:outerShdw>
                </a:effectLst>
                <a:latin typeface="Arial" panose="020B0604020202020204" pitchFamily="34" charset="0"/>
              </a:rPr>
              <a:t>hanging wall flat</a:t>
            </a:r>
          </a:p>
        </p:txBody>
      </p:sp>
      <p:sp>
        <p:nvSpPr>
          <p:cNvPr id="260104" name="Text Box 8">
            <a:extLst>
              <a:ext uri="{FF2B5EF4-FFF2-40B4-BE49-F238E27FC236}">
                <a16:creationId xmlns:a16="http://schemas.microsoft.com/office/drawing/2014/main" id="{8B0BE053-3C35-4616-87BD-4BC1AF835C53}"/>
              </a:ext>
            </a:extLst>
          </p:cNvPr>
          <p:cNvSpPr txBox="1">
            <a:spLocks noChangeArrowheads="1"/>
          </p:cNvSpPr>
          <p:nvPr/>
        </p:nvSpPr>
        <p:spPr bwMode="auto">
          <a:xfrm>
            <a:off x="5851525" y="5661025"/>
            <a:ext cx="196215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0"/>
              </a:spcBef>
            </a:pPr>
            <a:r>
              <a:rPr lang="en-GB" altLang="en-US">
                <a:solidFill>
                  <a:srgbClr val="FFFF00"/>
                </a:solidFill>
                <a:effectLst>
                  <a:outerShdw blurRad="38100" dist="38100" dir="2700000" algn="tl">
                    <a:srgbClr val="000000"/>
                  </a:outerShdw>
                </a:effectLst>
                <a:latin typeface="Arial" panose="020B0604020202020204" pitchFamily="34" charset="0"/>
              </a:rPr>
              <a:t>footwall flat</a:t>
            </a:r>
          </a:p>
          <a:p>
            <a:pPr>
              <a:lnSpc>
                <a:spcPct val="120000"/>
              </a:lnSpc>
              <a:spcBef>
                <a:spcPct val="0"/>
              </a:spcBef>
            </a:pPr>
            <a:r>
              <a:rPr lang="en-GB" altLang="en-US">
                <a:solidFill>
                  <a:srgbClr val="FFFF00"/>
                </a:solidFill>
                <a:effectLst>
                  <a:outerShdw blurRad="38100" dist="38100" dir="2700000" algn="tl">
                    <a:srgbClr val="000000"/>
                  </a:outerShdw>
                </a:effectLst>
                <a:latin typeface="Arial" panose="020B0604020202020204" pitchFamily="34" charset="0"/>
              </a:rPr>
              <a:t>hanging wall ramp</a:t>
            </a:r>
          </a:p>
        </p:txBody>
      </p:sp>
      <p:sp>
        <p:nvSpPr>
          <p:cNvPr id="260106" name="Line 10">
            <a:extLst>
              <a:ext uri="{FF2B5EF4-FFF2-40B4-BE49-F238E27FC236}">
                <a16:creationId xmlns:a16="http://schemas.microsoft.com/office/drawing/2014/main" id="{74F4F7B3-A2F8-4A1F-8610-58CB7EA3C0F6}"/>
              </a:ext>
            </a:extLst>
          </p:cNvPr>
          <p:cNvSpPr>
            <a:spLocks noChangeShapeType="1"/>
          </p:cNvSpPr>
          <p:nvPr/>
        </p:nvSpPr>
        <p:spPr bwMode="auto">
          <a:xfrm flipH="1" flipV="1">
            <a:off x="4191000" y="4867275"/>
            <a:ext cx="114300" cy="7334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0107" name="Line 11">
            <a:extLst>
              <a:ext uri="{FF2B5EF4-FFF2-40B4-BE49-F238E27FC236}">
                <a16:creationId xmlns:a16="http://schemas.microsoft.com/office/drawing/2014/main" id="{38C1C072-5726-43A4-B251-49B480A4563D}"/>
              </a:ext>
            </a:extLst>
          </p:cNvPr>
          <p:cNvSpPr>
            <a:spLocks noChangeShapeType="1"/>
          </p:cNvSpPr>
          <p:nvPr/>
        </p:nvSpPr>
        <p:spPr bwMode="auto">
          <a:xfrm flipV="1">
            <a:off x="2266950" y="5181600"/>
            <a:ext cx="190500" cy="4095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0108" name="Line 12">
            <a:extLst>
              <a:ext uri="{FF2B5EF4-FFF2-40B4-BE49-F238E27FC236}">
                <a16:creationId xmlns:a16="http://schemas.microsoft.com/office/drawing/2014/main" id="{03B2D771-DA69-4652-88C3-F2385D4139E7}"/>
              </a:ext>
            </a:extLst>
          </p:cNvPr>
          <p:cNvSpPr>
            <a:spLocks noChangeShapeType="1"/>
          </p:cNvSpPr>
          <p:nvPr/>
        </p:nvSpPr>
        <p:spPr bwMode="auto">
          <a:xfrm flipH="1" flipV="1">
            <a:off x="5686425" y="4543425"/>
            <a:ext cx="504825" cy="10858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0110" name="Line 14">
            <a:extLst>
              <a:ext uri="{FF2B5EF4-FFF2-40B4-BE49-F238E27FC236}">
                <a16:creationId xmlns:a16="http://schemas.microsoft.com/office/drawing/2014/main" id="{5B11FB69-871E-4E12-A60C-CD1182067762}"/>
              </a:ext>
            </a:extLst>
          </p:cNvPr>
          <p:cNvSpPr>
            <a:spLocks noChangeShapeType="1"/>
          </p:cNvSpPr>
          <p:nvPr/>
        </p:nvSpPr>
        <p:spPr bwMode="auto">
          <a:xfrm>
            <a:off x="5186363" y="4495800"/>
            <a:ext cx="881062" cy="0"/>
          </a:xfrm>
          <a:prstGeom prst="line">
            <a:avLst/>
          </a:prstGeom>
          <a:noFill/>
          <a:ln w="1905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0111" name="Line 15">
            <a:extLst>
              <a:ext uri="{FF2B5EF4-FFF2-40B4-BE49-F238E27FC236}">
                <a16:creationId xmlns:a16="http://schemas.microsoft.com/office/drawing/2014/main" id="{B71FE835-7D50-436A-BC10-056088078C24}"/>
              </a:ext>
            </a:extLst>
          </p:cNvPr>
          <p:cNvSpPr>
            <a:spLocks noChangeShapeType="1"/>
          </p:cNvSpPr>
          <p:nvPr/>
        </p:nvSpPr>
        <p:spPr bwMode="auto">
          <a:xfrm flipV="1">
            <a:off x="1289050" y="4725988"/>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235" name="Picture 19" descr="07a2">
            <a:extLst>
              <a:ext uri="{FF2B5EF4-FFF2-40B4-BE49-F238E27FC236}">
                <a16:creationId xmlns:a16="http://schemas.microsoft.com/office/drawing/2014/main" id="{90B64B7C-C228-4A17-B7F8-D2F521EA063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98438" y="1190625"/>
            <a:ext cx="8616950" cy="32226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5219" name="Rectangle 3">
            <a:extLst>
              <a:ext uri="{FF2B5EF4-FFF2-40B4-BE49-F238E27FC236}">
                <a16:creationId xmlns:a16="http://schemas.microsoft.com/office/drawing/2014/main" id="{5C4B58EC-35E5-405A-A796-733E70356801}"/>
              </a:ext>
            </a:extLst>
          </p:cNvPr>
          <p:cNvSpPr>
            <a:spLocks noGrp="1" noChangeArrowheads="1"/>
          </p:cNvSpPr>
          <p:nvPr>
            <p:ph type="title"/>
          </p:nvPr>
        </p:nvSpPr>
        <p:spPr>
          <a:noFill/>
        </p:spPr>
        <p:txBody>
          <a:bodyPr/>
          <a:lstStyle/>
          <a:p>
            <a:r>
              <a:rPr lang="en-GB" altLang="en-US" dirty="0">
                <a:effectLst/>
              </a:rPr>
              <a:t>Shape of the thrust surface: ramp</a:t>
            </a:r>
            <a:r>
              <a:rPr lang="en-GB" altLang="en-US" spc="500" dirty="0">
                <a:effectLst/>
              </a:rPr>
              <a:t>s/</a:t>
            </a:r>
            <a:r>
              <a:rPr lang="en-GB" altLang="en-US" dirty="0">
                <a:effectLst/>
              </a:rPr>
              <a:t>flats  2</a:t>
            </a:r>
          </a:p>
        </p:txBody>
      </p:sp>
      <p:sp>
        <p:nvSpPr>
          <p:cNvPr id="265220" name="Rectangle 4">
            <a:extLst>
              <a:ext uri="{FF2B5EF4-FFF2-40B4-BE49-F238E27FC236}">
                <a16:creationId xmlns:a16="http://schemas.microsoft.com/office/drawing/2014/main" id="{3E9028CB-0CE3-4ECD-B410-F75D298D5E5D}"/>
              </a:ext>
            </a:extLst>
          </p:cNvPr>
          <p:cNvSpPr>
            <a:spLocks noGrp="1" noChangeArrowheads="1"/>
          </p:cNvSpPr>
          <p:nvPr>
            <p:ph type="body" sz="half" idx="1"/>
          </p:nvPr>
        </p:nvSpPr>
        <p:spPr>
          <a:xfrm>
            <a:off x="1712913" y="4575175"/>
            <a:ext cx="5524500" cy="471488"/>
          </a:xfrm>
          <a:noFill/>
        </p:spPr>
        <p:txBody>
          <a:bodyPr/>
          <a:lstStyle/>
          <a:p>
            <a:pPr marL="177800" indent="-177800">
              <a:buFont typeface="Times" panose="02020603050405020304" pitchFamily="18" charset="0"/>
              <a:buNone/>
            </a:pPr>
            <a:r>
              <a:rPr lang="en-GB" altLang="en-US" sz="1400">
                <a:solidFill>
                  <a:srgbClr val="FFFF00"/>
                </a:solidFill>
                <a:effectLst/>
              </a:rPr>
              <a:t>A real example from the Nittany anticlinorium, Central Appalachians</a:t>
            </a:r>
          </a:p>
        </p:txBody>
      </p:sp>
      <p:sp>
        <p:nvSpPr>
          <p:cNvPr id="265231" name="Text Box 15">
            <a:extLst>
              <a:ext uri="{FF2B5EF4-FFF2-40B4-BE49-F238E27FC236}">
                <a16:creationId xmlns:a16="http://schemas.microsoft.com/office/drawing/2014/main" id="{E57710E7-700F-4094-9752-41765C7AFBC9}"/>
              </a:ext>
            </a:extLst>
          </p:cNvPr>
          <p:cNvSpPr txBox="1">
            <a:spLocks noChangeArrowheads="1"/>
          </p:cNvSpPr>
          <p:nvPr/>
        </p:nvSpPr>
        <p:spPr bwMode="auto">
          <a:xfrm>
            <a:off x="219075" y="5800725"/>
            <a:ext cx="874395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Note that </a:t>
            </a:r>
            <a:r>
              <a:rPr lang="en-GB" altLang="en-US" sz="1700">
                <a:effectLst/>
                <a:latin typeface="Arial" panose="020B0604020202020204" pitchFamily="34" charset="0"/>
              </a:rPr>
              <a:t>for </a:t>
            </a:r>
            <a:r>
              <a:rPr lang="en-GB" altLang="en-US" sz="1700">
                <a:solidFill>
                  <a:srgbClr val="FF66FF"/>
                </a:solidFill>
                <a:effectLst/>
                <a:latin typeface="Arial" panose="020B0604020202020204" pitchFamily="34" charset="0"/>
              </a:rPr>
              <a:t>each hanging wall ramp </a:t>
            </a:r>
            <a:r>
              <a:rPr lang="en-GB" altLang="en-US" sz="1700">
                <a:effectLst/>
                <a:latin typeface="Arial" panose="020B0604020202020204" pitchFamily="34" charset="0"/>
              </a:rPr>
              <a:t>there must be a</a:t>
            </a:r>
            <a:r>
              <a:rPr lang="en-GB" altLang="en-US" sz="1700">
                <a:solidFill>
                  <a:srgbClr val="FF66FF"/>
                </a:solidFill>
                <a:effectLst/>
                <a:latin typeface="Arial" panose="020B0604020202020204" pitchFamily="34" charset="0"/>
              </a:rPr>
              <a:t> corresponding footwall ramp</a:t>
            </a:r>
            <a:endParaRPr lang="en-GB" altLang="en-US" sz="1700">
              <a:solidFill>
                <a:srgbClr val="FF66FF"/>
              </a:solidFill>
              <a:effectLst>
                <a:outerShdw blurRad="38100" dist="38100" dir="2700000" algn="tl">
                  <a:srgbClr val="000000"/>
                </a:outerShdw>
              </a:effectLst>
              <a:latin typeface="Arial" panose="020B0604020202020204" pitchFamily="34" charset="0"/>
            </a:endParaRPr>
          </a:p>
        </p:txBody>
      </p:sp>
      <p:sp>
        <p:nvSpPr>
          <p:cNvPr id="265233" name="Line 17">
            <a:extLst>
              <a:ext uri="{FF2B5EF4-FFF2-40B4-BE49-F238E27FC236}">
                <a16:creationId xmlns:a16="http://schemas.microsoft.com/office/drawing/2014/main" id="{FC8D278B-FF76-44B3-AC3A-266221C2B0FF}"/>
              </a:ext>
            </a:extLst>
          </p:cNvPr>
          <p:cNvSpPr>
            <a:spLocks noChangeShapeType="1"/>
          </p:cNvSpPr>
          <p:nvPr/>
        </p:nvSpPr>
        <p:spPr bwMode="auto">
          <a:xfrm rot="10800000" flipV="1">
            <a:off x="8555038" y="3586163"/>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a:extLst>
              <a:ext uri="{FF2B5EF4-FFF2-40B4-BE49-F238E27FC236}">
                <a16:creationId xmlns:a16="http://schemas.microsoft.com/office/drawing/2014/main" id="{5B5C1667-6384-4776-8674-EFBD40F646A8}"/>
              </a:ext>
            </a:extLst>
          </p:cNvPr>
          <p:cNvSpPr>
            <a:spLocks noGrp="1" noChangeArrowheads="1"/>
          </p:cNvSpPr>
          <p:nvPr>
            <p:ph type="title"/>
          </p:nvPr>
        </p:nvSpPr>
        <p:spPr>
          <a:noFill/>
        </p:spPr>
        <p:txBody>
          <a:bodyPr/>
          <a:lstStyle/>
          <a:p>
            <a:r>
              <a:rPr lang="en-GB" altLang="en-US" dirty="0">
                <a:effectLst/>
              </a:rPr>
              <a:t>Fronta</a:t>
            </a:r>
            <a:r>
              <a:rPr lang="en-GB" altLang="en-US" spc="500" dirty="0">
                <a:effectLst/>
              </a:rPr>
              <a:t>l/</a:t>
            </a:r>
            <a:r>
              <a:rPr lang="en-GB" altLang="en-US" dirty="0">
                <a:effectLst/>
              </a:rPr>
              <a:t>obliqu</a:t>
            </a:r>
            <a:r>
              <a:rPr lang="en-GB" altLang="en-US" spc="500" dirty="0">
                <a:effectLst/>
              </a:rPr>
              <a:t>e/</a:t>
            </a:r>
            <a:r>
              <a:rPr lang="en-GB" altLang="en-US" dirty="0">
                <a:effectLst/>
              </a:rPr>
              <a:t>lateral ramps</a:t>
            </a:r>
          </a:p>
        </p:txBody>
      </p:sp>
      <p:pic>
        <p:nvPicPr>
          <p:cNvPr id="270347" name="Picture 11" descr="03a">
            <a:extLst>
              <a:ext uri="{FF2B5EF4-FFF2-40B4-BE49-F238E27FC236}">
                <a16:creationId xmlns:a16="http://schemas.microsoft.com/office/drawing/2014/main" id="{4F9D0407-C611-42AD-997E-26EE4BB050C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4214813" y="4176713"/>
            <a:ext cx="4208462" cy="2387600"/>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0341" name="Text Box 5">
            <a:extLst>
              <a:ext uri="{FF2B5EF4-FFF2-40B4-BE49-F238E27FC236}">
                <a16:creationId xmlns:a16="http://schemas.microsoft.com/office/drawing/2014/main" id="{491733B1-BBE7-4A88-BDDD-FC3E1CD16073}"/>
              </a:ext>
            </a:extLst>
          </p:cNvPr>
          <p:cNvSpPr txBox="1">
            <a:spLocks noChangeArrowheads="1"/>
          </p:cNvSpPr>
          <p:nvPr/>
        </p:nvSpPr>
        <p:spPr bwMode="auto">
          <a:xfrm>
            <a:off x="104775" y="873125"/>
            <a:ext cx="3479800" cy="576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Ramps that form perpendicular to the main thrust transport direction are </a:t>
            </a:r>
            <a:r>
              <a:rPr lang="en-GB" altLang="en-US" sz="1700" dirty="0">
                <a:solidFill>
                  <a:srgbClr val="FF6600"/>
                </a:solidFill>
                <a:effectLst>
                  <a:outerShdw blurRad="38100" dist="38100" dir="2700000" algn="tl">
                    <a:srgbClr val="000000"/>
                  </a:outerShdw>
                </a:effectLst>
                <a:latin typeface="Arial" panose="020B0604020202020204" pitchFamily="34" charset="0"/>
              </a:rPr>
              <a:t>frontal ramps</a:t>
            </a:r>
            <a:r>
              <a:rPr lang="en-GB" altLang="en-US" sz="1700" dirty="0">
                <a:effectLst>
                  <a:outerShdw blurRad="38100" dist="38100" dir="2700000" algn="tl">
                    <a:srgbClr val="000000"/>
                  </a:outerShdw>
                </a:effectLst>
                <a:latin typeface="Arial" panose="020B0604020202020204" pitchFamily="34" charset="0"/>
              </a:rPr>
              <a:t>. These ramps are </a:t>
            </a:r>
            <a:r>
              <a:rPr lang="en-GB" altLang="en-US" sz="1700" dirty="0">
                <a:solidFill>
                  <a:srgbClr val="FF66CC"/>
                </a:solidFill>
                <a:effectLst>
                  <a:outerShdw blurRad="38100" dist="38100" dir="2700000" algn="tl">
                    <a:srgbClr val="000000"/>
                  </a:outerShdw>
                </a:effectLst>
                <a:latin typeface="Arial" panose="020B0604020202020204" pitchFamily="34" charset="0"/>
              </a:rPr>
              <a:t>pure dip-slip</a:t>
            </a:r>
            <a:r>
              <a:rPr lang="en-GB" altLang="en-US" sz="1700" dirty="0">
                <a:effectLst>
                  <a:outerShdw blurRad="38100" dist="38100" dir="2700000" algn="tl">
                    <a:srgbClr val="000000"/>
                  </a:outerShdw>
                </a:effectLst>
                <a:latin typeface="Arial" panose="020B0604020202020204" pitchFamily="34" charset="0"/>
              </a:rPr>
              <a:t> reverse faults</a:t>
            </a:r>
          </a:p>
          <a:p>
            <a:pPr>
              <a:lnSpc>
                <a:spcPct val="120000"/>
              </a:lnSpc>
              <a:spcBef>
                <a:spcPct val="75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Oblique ramps</a:t>
            </a:r>
            <a:r>
              <a:rPr lang="en-GB" altLang="en-US" sz="1700" dirty="0">
                <a:effectLst>
                  <a:outerShdw blurRad="38100" dist="38100" dir="2700000" algn="tl">
                    <a:srgbClr val="000000"/>
                  </a:outerShdw>
                </a:effectLst>
                <a:latin typeface="Arial" panose="020B0604020202020204" pitchFamily="34" charset="0"/>
              </a:rPr>
              <a:t> are oblique to the transport direction and are </a:t>
            </a:r>
            <a:r>
              <a:rPr lang="en-GB" altLang="en-US" sz="1700" dirty="0">
                <a:solidFill>
                  <a:srgbClr val="FF66CC"/>
                </a:solidFill>
                <a:effectLst>
                  <a:outerShdw blurRad="38100" dist="38100" dir="2700000" algn="tl">
                    <a:srgbClr val="000000"/>
                  </a:outerShdw>
                </a:effectLst>
                <a:latin typeface="Arial" panose="020B0604020202020204" pitchFamily="34" charset="0"/>
              </a:rPr>
              <a:t>oblique-slip</a:t>
            </a:r>
            <a:r>
              <a:rPr lang="en-GB" altLang="en-US" sz="1700" dirty="0">
                <a:effectLst>
                  <a:outerShdw blurRad="38100" dist="38100" dir="2700000" algn="tl">
                    <a:srgbClr val="000000"/>
                  </a:outerShdw>
                </a:effectLst>
                <a:latin typeface="Arial" panose="020B0604020202020204" pitchFamily="34" charset="0"/>
              </a:rPr>
              <a:t> reverse faults</a:t>
            </a:r>
          </a:p>
          <a:p>
            <a:pPr>
              <a:lnSpc>
                <a:spcPct val="120000"/>
              </a:lnSpc>
              <a:spcBef>
                <a:spcPct val="75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Lateral ramps</a:t>
            </a:r>
            <a:r>
              <a:rPr lang="en-GB" altLang="en-US" sz="1700" dirty="0">
                <a:effectLst>
                  <a:outerShdw blurRad="38100" dist="38100" dir="2700000" algn="tl">
                    <a:srgbClr val="000000"/>
                  </a:outerShdw>
                </a:effectLst>
                <a:latin typeface="Arial" panose="020B0604020202020204" pitchFamily="34" charset="0"/>
              </a:rPr>
              <a:t> are parallel to the movement direction and are </a:t>
            </a:r>
            <a:r>
              <a:rPr lang="en-GB" altLang="en-US" sz="1700" dirty="0">
                <a:solidFill>
                  <a:srgbClr val="FF66CC"/>
                </a:solidFill>
                <a:effectLst>
                  <a:outerShdw blurRad="38100" dist="38100" dir="2700000" algn="tl">
                    <a:srgbClr val="000000"/>
                  </a:outerShdw>
                </a:effectLst>
                <a:latin typeface="Arial" panose="020B0604020202020204" pitchFamily="34" charset="0"/>
              </a:rPr>
              <a:t>strike-slip </a:t>
            </a:r>
            <a:r>
              <a:rPr lang="en-GB" altLang="en-US" sz="1700" dirty="0">
                <a:effectLst>
                  <a:outerShdw blurRad="38100" dist="38100" dir="2700000" algn="tl">
                    <a:srgbClr val="000000"/>
                  </a:outerShdw>
                </a:effectLst>
                <a:latin typeface="Arial" panose="020B0604020202020204" pitchFamily="34" charset="0"/>
              </a:rPr>
              <a:t>faults. Effectively, they transfer slip from one frontal ramp on to another and so are described as </a:t>
            </a:r>
            <a:r>
              <a:rPr lang="en-GB" altLang="en-US" sz="1700" dirty="0">
                <a:solidFill>
                  <a:srgbClr val="FF66CC"/>
                </a:solidFill>
                <a:effectLst>
                  <a:outerShdw blurRad="38100" dist="38100" dir="2700000" algn="tl">
                    <a:srgbClr val="000000"/>
                  </a:outerShdw>
                </a:effectLst>
                <a:latin typeface="Arial" panose="020B0604020202020204" pitchFamily="34" charset="0"/>
              </a:rPr>
              <a:t>transfer faults</a:t>
            </a:r>
            <a:r>
              <a:rPr lang="en-GB" altLang="en-US" sz="1700" dirty="0">
                <a:effectLst>
                  <a:outerShdw blurRad="38100" dist="38100" dir="2700000" algn="tl">
                    <a:srgbClr val="000000"/>
                  </a:outerShdw>
                </a:effectLst>
                <a:latin typeface="Arial" panose="020B0604020202020204" pitchFamily="34" charset="0"/>
              </a:rPr>
              <a:t>, or, if sub-vertical and cutting through the hanging wall, as </a:t>
            </a:r>
            <a:r>
              <a:rPr lang="en-GB" altLang="en-US" sz="1700" dirty="0">
                <a:solidFill>
                  <a:srgbClr val="FF66CC"/>
                </a:solidFill>
                <a:effectLst>
                  <a:outerShdw blurRad="38100" dist="38100" dir="2700000" algn="tl">
                    <a:srgbClr val="000000"/>
                  </a:outerShdw>
                </a:effectLst>
                <a:latin typeface="Arial" panose="020B0604020202020204" pitchFamily="34" charset="0"/>
              </a:rPr>
              <a:t>tear faults</a:t>
            </a:r>
          </a:p>
        </p:txBody>
      </p:sp>
      <p:sp>
        <p:nvSpPr>
          <p:cNvPr id="270350" name="Rectangle 14">
            <a:extLst>
              <a:ext uri="{FF2B5EF4-FFF2-40B4-BE49-F238E27FC236}">
                <a16:creationId xmlns:a16="http://schemas.microsoft.com/office/drawing/2014/main" id="{7522535D-B9D6-4EDD-85AD-75411E89CD80}"/>
              </a:ext>
            </a:extLst>
          </p:cNvPr>
          <p:cNvSpPr>
            <a:spLocks noChangeArrowheads="1"/>
          </p:cNvSpPr>
          <p:nvPr/>
        </p:nvSpPr>
        <p:spPr bwMode="auto">
          <a:xfrm>
            <a:off x="4260850" y="6232525"/>
            <a:ext cx="219075" cy="26511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70351" name="Picture 15" descr="07b1">
            <a:extLst>
              <a:ext uri="{FF2B5EF4-FFF2-40B4-BE49-F238E27FC236}">
                <a16:creationId xmlns:a16="http://schemas.microsoft.com/office/drawing/2014/main" id="{2C18A5FB-EEC1-4F92-9465-99BAA20F1F4C}"/>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3813175" y="1033463"/>
            <a:ext cx="5146675" cy="29337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8E987543-A8BC-4AB4-B548-56644479E13E}"/>
              </a:ext>
            </a:extLst>
          </p:cNvPr>
          <p:cNvSpPr>
            <a:spLocks noGrp="1" noChangeArrowheads="1"/>
          </p:cNvSpPr>
          <p:nvPr>
            <p:ph type="title"/>
          </p:nvPr>
        </p:nvSpPr>
        <p:spPr>
          <a:noFill/>
        </p:spPr>
        <p:txBody>
          <a:bodyPr/>
          <a:lstStyle/>
          <a:p>
            <a:r>
              <a:rPr lang="en-GB" altLang="en-US">
                <a:effectLst/>
              </a:rPr>
              <a:t>Thrust systems: fault imbrication and duplexes</a:t>
            </a:r>
          </a:p>
        </p:txBody>
      </p:sp>
      <p:sp>
        <p:nvSpPr>
          <p:cNvPr id="223235" name="Rectangle 3">
            <a:extLst>
              <a:ext uri="{FF2B5EF4-FFF2-40B4-BE49-F238E27FC236}">
                <a16:creationId xmlns:a16="http://schemas.microsoft.com/office/drawing/2014/main" id="{A7BB0A55-1BC9-4C8E-BE77-84D7B1FAC9EB}"/>
              </a:ext>
            </a:extLst>
          </p:cNvPr>
          <p:cNvSpPr>
            <a:spLocks noGrp="1" noChangeArrowheads="1"/>
          </p:cNvSpPr>
          <p:nvPr>
            <p:ph type="body" sz="half" idx="1"/>
          </p:nvPr>
        </p:nvSpPr>
        <p:spPr>
          <a:xfrm>
            <a:off x="122238" y="793750"/>
            <a:ext cx="8805862" cy="2547938"/>
          </a:xfrm>
          <a:noFill/>
        </p:spPr>
        <p:txBody>
          <a:bodyPr/>
          <a:lstStyle/>
          <a:p>
            <a:pPr marL="177800" indent="-177800"/>
            <a:r>
              <a:rPr lang="en-GB" altLang="en-US" sz="1700">
                <a:effectLst/>
              </a:rPr>
              <a:t>Thrusts often come as sets of </a:t>
            </a:r>
            <a:r>
              <a:rPr lang="en-GB" altLang="en-US" sz="1700">
                <a:solidFill>
                  <a:srgbClr val="FF6600"/>
                </a:solidFill>
                <a:effectLst/>
              </a:rPr>
              <a:t>listric faults</a:t>
            </a:r>
            <a:r>
              <a:rPr lang="en-GB" altLang="en-US" sz="1700">
                <a:effectLst/>
              </a:rPr>
              <a:t>, each fault with the same sense of slip, so that the individual thrust sheets overlap like a set of roofing tiles. This situation is described as an </a:t>
            </a:r>
            <a:r>
              <a:rPr lang="en-GB" altLang="en-US" sz="1700">
                <a:solidFill>
                  <a:srgbClr val="FF6600"/>
                </a:solidFill>
                <a:effectLst/>
              </a:rPr>
              <a:t>imbricate fan</a:t>
            </a:r>
            <a:r>
              <a:rPr lang="en-GB" altLang="en-US" sz="1700">
                <a:effectLst/>
              </a:rPr>
              <a:t>. </a:t>
            </a:r>
            <a:r>
              <a:rPr lang="en-GB" altLang="en-US" sz="1700">
                <a:solidFill>
                  <a:srgbClr val="FF66CC"/>
                </a:solidFill>
                <a:effectLst/>
              </a:rPr>
              <a:t>Leading imbricate fans</a:t>
            </a:r>
            <a:r>
              <a:rPr lang="en-GB" altLang="en-US" sz="1700">
                <a:effectLst/>
              </a:rPr>
              <a:t> have maximum slip on the frontal fault; </a:t>
            </a:r>
            <a:r>
              <a:rPr lang="en-GB" altLang="en-US" sz="1700">
                <a:solidFill>
                  <a:srgbClr val="FF66CC"/>
                </a:solidFill>
                <a:effectLst/>
              </a:rPr>
              <a:t>trailing imbricate fans</a:t>
            </a:r>
            <a:r>
              <a:rPr lang="en-GB" altLang="en-US" sz="1700">
                <a:effectLst/>
              </a:rPr>
              <a:t> have maximum slip on the most internal fault</a:t>
            </a:r>
          </a:p>
          <a:p>
            <a:pPr marL="177800" indent="-177800">
              <a:spcBef>
                <a:spcPct val="75000"/>
              </a:spcBef>
            </a:pPr>
            <a:r>
              <a:rPr lang="en-GB" altLang="en-US" sz="1700">
                <a:effectLst/>
              </a:rPr>
              <a:t>Imbricate faults merge down on to a </a:t>
            </a:r>
            <a:r>
              <a:rPr lang="en-GB" altLang="en-US" sz="1700">
                <a:solidFill>
                  <a:srgbClr val="FF6600"/>
                </a:solidFill>
                <a:effectLst/>
              </a:rPr>
              <a:t>sole or floor thrust</a:t>
            </a:r>
            <a:r>
              <a:rPr lang="en-GB" altLang="en-US" sz="1700">
                <a:effectLst/>
              </a:rPr>
              <a:t>. They may also merge up on to a </a:t>
            </a:r>
            <a:r>
              <a:rPr lang="en-GB" altLang="en-US" sz="1700">
                <a:solidFill>
                  <a:srgbClr val="FF6600"/>
                </a:solidFill>
                <a:effectLst/>
              </a:rPr>
              <a:t>roof thrust</a:t>
            </a:r>
            <a:r>
              <a:rPr lang="en-GB" altLang="en-US" sz="1700">
                <a:effectLst/>
              </a:rPr>
              <a:t>. An imbricate system that is bounded by a floor and a roof thrust is known as a </a:t>
            </a:r>
            <a:r>
              <a:rPr lang="en-GB" altLang="en-US" sz="1700">
                <a:solidFill>
                  <a:srgbClr val="FF6600"/>
                </a:solidFill>
                <a:effectLst/>
              </a:rPr>
              <a:t>duplex</a:t>
            </a:r>
            <a:r>
              <a:rPr lang="en-GB" altLang="en-US" sz="1700">
                <a:effectLst/>
              </a:rPr>
              <a:t>, and the internal blocks (which are bounded completely by faults) as </a:t>
            </a:r>
            <a:r>
              <a:rPr lang="en-GB" altLang="en-US" sz="1700">
                <a:solidFill>
                  <a:srgbClr val="FF6600"/>
                </a:solidFill>
                <a:effectLst/>
              </a:rPr>
              <a:t>horses</a:t>
            </a:r>
          </a:p>
        </p:txBody>
      </p:sp>
      <p:pic>
        <p:nvPicPr>
          <p:cNvPr id="223236" name="Picture 4" descr="04a">
            <a:extLst>
              <a:ext uri="{FF2B5EF4-FFF2-40B4-BE49-F238E27FC236}">
                <a16:creationId xmlns:a16="http://schemas.microsoft.com/office/drawing/2014/main" id="{74C2BCAB-D9FB-4BF1-8E71-ECAB9504117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41300" y="3497263"/>
            <a:ext cx="8594725" cy="21685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3238" name="Text Box 6">
            <a:extLst>
              <a:ext uri="{FF2B5EF4-FFF2-40B4-BE49-F238E27FC236}">
                <a16:creationId xmlns:a16="http://schemas.microsoft.com/office/drawing/2014/main" id="{4B10D4C4-BB32-433F-BBA3-14C9980D2A6D}"/>
              </a:ext>
            </a:extLst>
          </p:cNvPr>
          <p:cNvSpPr txBox="1">
            <a:spLocks noChangeArrowheads="1"/>
          </p:cNvSpPr>
          <p:nvPr/>
        </p:nvSpPr>
        <p:spPr bwMode="auto">
          <a:xfrm>
            <a:off x="114300" y="5886450"/>
            <a:ext cx="89058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major floor thrust at the base of a stack of thrust nappes and/or imbricate system is described as a </a:t>
            </a:r>
            <a:r>
              <a:rPr lang="en-GB" altLang="en-US" sz="1700">
                <a:solidFill>
                  <a:srgbClr val="FF6600"/>
                </a:solidFill>
                <a:effectLst>
                  <a:outerShdw blurRad="38100" dist="38100" dir="2700000" algn="tl">
                    <a:srgbClr val="000000"/>
                  </a:outerShdw>
                </a:effectLst>
                <a:latin typeface="Arial" panose="020B0604020202020204" pitchFamily="34" charset="0"/>
              </a:rPr>
              <a:t>décollement</a:t>
            </a:r>
            <a:r>
              <a:rPr lang="en-GB" altLang="en-US" sz="1700">
                <a:effectLst>
                  <a:outerShdw blurRad="38100" dist="38100" dir="2700000" algn="tl">
                    <a:srgbClr val="000000"/>
                  </a:outerShdw>
                </a:effectLst>
                <a:latin typeface="Arial" panose="020B0604020202020204" pitchFamily="34" charset="0"/>
              </a:rPr>
              <a:t> or </a:t>
            </a:r>
            <a:r>
              <a:rPr lang="en-GB" altLang="en-US" sz="1700">
                <a:solidFill>
                  <a:srgbClr val="FF6600"/>
                </a:solidFill>
                <a:effectLst>
                  <a:outerShdw blurRad="38100" dist="38100" dir="2700000" algn="tl">
                    <a:srgbClr val="000000"/>
                  </a:outerShdw>
                </a:effectLst>
                <a:latin typeface="Arial" panose="020B0604020202020204" pitchFamily="34" charset="0"/>
              </a:rPr>
              <a:t>basal detachment</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BD5B4DBE-A602-43FB-B303-430E1771A56D}"/>
              </a:ext>
            </a:extLst>
          </p:cNvPr>
          <p:cNvSpPr>
            <a:spLocks noGrp="1" noChangeArrowheads="1"/>
          </p:cNvSpPr>
          <p:nvPr>
            <p:ph type="title"/>
          </p:nvPr>
        </p:nvSpPr>
        <p:spPr>
          <a:noFill/>
        </p:spPr>
        <p:txBody>
          <a:bodyPr/>
          <a:lstStyle/>
          <a:p>
            <a:r>
              <a:rPr lang="en-GB" altLang="en-US">
                <a:effectLst/>
              </a:rPr>
              <a:t>Thrust duplexes</a:t>
            </a:r>
          </a:p>
        </p:txBody>
      </p:sp>
      <p:sp>
        <p:nvSpPr>
          <p:cNvPr id="224259" name="Rectangle 3">
            <a:extLst>
              <a:ext uri="{FF2B5EF4-FFF2-40B4-BE49-F238E27FC236}">
                <a16:creationId xmlns:a16="http://schemas.microsoft.com/office/drawing/2014/main" id="{77B13CC5-A867-412F-A9D9-639A3EFB9CA1}"/>
              </a:ext>
            </a:extLst>
          </p:cNvPr>
          <p:cNvSpPr>
            <a:spLocks noGrp="1" noChangeArrowheads="1"/>
          </p:cNvSpPr>
          <p:nvPr>
            <p:ph type="body" sz="half" idx="1"/>
          </p:nvPr>
        </p:nvSpPr>
        <p:spPr>
          <a:xfrm>
            <a:off x="5675313" y="5165725"/>
            <a:ext cx="2627312" cy="1441450"/>
          </a:xfrm>
          <a:noFill/>
        </p:spPr>
        <p:txBody>
          <a:bodyPr/>
          <a:lstStyle/>
          <a:p>
            <a:pPr marL="0" indent="0">
              <a:spcBef>
                <a:spcPct val="75000"/>
              </a:spcBef>
              <a:buFont typeface="Times" panose="02020603050405020304" pitchFamily="18" charset="0"/>
              <a:buNone/>
            </a:pPr>
            <a:r>
              <a:rPr lang="en-GB" altLang="en-US" sz="1400" dirty="0">
                <a:solidFill>
                  <a:srgbClr val="FFFF00"/>
                </a:solidFill>
                <a:effectLst/>
              </a:rPr>
              <a:t>Small-scale thrust duplex at Widemouth Bay, Cornwall, with illustrative field sketch (not the same field of view as the photo)</a:t>
            </a:r>
          </a:p>
        </p:txBody>
      </p:sp>
      <p:grpSp>
        <p:nvGrpSpPr>
          <p:cNvPr id="224275" name="Group 19">
            <a:extLst>
              <a:ext uri="{FF2B5EF4-FFF2-40B4-BE49-F238E27FC236}">
                <a16:creationId xmlns:a16="http://schemas.microsoft.com/office/drawing/2014/main" id="{83E576D7-E06E-4FA3-89B2-6B7B5FC991ED}"/>
              </a:ext>
            </a:extLst>
          </p:cNvPr>
          <p:cNvGrpSpPr>
            <a:grpSpLocks/>
          </p:cNvGrpSpPr>
          <p:nvPr/>
        </p:nvGrpSpPr>
        <p:grpSpPr bwMode="auto">
          <a:xfrm>
            <a:off x="1173163" y="5160963"/>
            <a:ext cx="4291012" cy="1539875"/>
            <a:chOff x="206" y="3251"/>
            <a:chExt cx="2703" cy="970"/>
          </a:xfrm>
        </p:grpSpPr>
        <p:pic>
          <p:nvPicPr>
            <p:cNvPr id="224260" name="Picture 4" descr="04b2">
              <a:extLst>
                <a:ext uri="{FF2B5EF4-FFF2-40B4-BE49-F238E27FC236}">
                  <a16:creationId xmlns:a16="http://schemas.microsoft.com/office/drawing/2014/main" id="{88D2AECA-DDD0-4509-9DE5-D6735A59CF97}"/>
                </a:ext>
              </a:extLst>
            </p:cNvPr>
            <p:cNvPicPr>
              <a:picLocks noChangeAspect="1" noChangeArrowheads="1"/>
            </p:cNvPicPr>
            <p:nvPr/>
          </p:nvPicPr>
          <p:blipFill>
            <a:blip r:embed="rId3">
              <a:lum bright="-10000" contrast="10000"/>
              <a:extLst>
                <a:ext uri="{28A0092B-C50C-407E-A947-70E740481C1C}">
                  <a14:useLocalDpi xmlns:a14="http://schemas.microsoft.com/office/drawing/2010/main" val="0"/>
                </a:ext>
              </a:extLst>
            </a:blip>
            <a:srcRect/>
            <a:stretch>
              <a:fillRect/>
            </a:stretch>
          </p:blipFill>
          <p:spPr bwMode="auto">
            <a:xfrm>
              <a:off x="206" y="3251"/>
              <a:ext cx="2703" cy="970"/>
            </a:xfrm>
            <a:prstGeom prst="rect">
              <a:avLst/>
            </a:prstGeom>
            <a:noFill/>
            <a:ln w="38100" cmpd="sng">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4268" name="Freeform 12">
              <a:extLst>
                <a:ext uri="{FF2B5EF4-FFF2-40B4-BE49-F238E27FC236}">
                  <a16:creationId xmlns:a16="http://schemas.microsoft.com/office/drawing/2014/main" id="{07CE2E8D-81A6-4347-B2BC-85417C578677}"/>
                </a:ext>
              </a:extLst>
            </p:cNvPr>
            <p:cNvSpPr>
              <a:spLocks/>
            </p:cNvSpPr>
            <p:nvPr/>
          </p:nvSpPr>
          <p:spPr bwMode="auto">
            <a:xfrm>
              <a:off x="902" y="3480"/>
              <a:ext cx="62" cy="40"/>
            </a:xfrm>
            <a:custGeom>
              <a:avLst/>
              <a:gdLst>
                <a:gd name="T0" fmla="*/ 0 w 62"/>
                <a:gd name="T1" fmla="*/ 40 h 40"/>
                <a:gd name="T2" fmla="*/ 62 w 62"/>
                <a:gd name="T3" fmla="*/ 0 h 40"/>
                <a:gd name="T4" fmla="*/ 32 w 62"/>
                <a:gd name="T5" fmla="*/ 0 h 40"/>
              </a:gdLst>
              <a:ahLst/>
              <a:cxnLst>
                <a:cxn ang="0">
                  <a:pos x="T0" y="T1"/>
                </a:cxn>
                <a:cxn ang="0">
                  <a:pos x="T2" y="T3"/>
                </a:cxn>
                <a:cxn ang="0">
                  <a:pos x="T4" y="T5"/>
                </a:cxn>
              </a:cxnLst>
              <a:rect l="0" t="0" r="r" b="b"/>
              <a:pathLst>
                <a:path w="62" h="40">
                  <a:moveTo>
                    <a:pt x="0" y="40"/>
                  </a:moveTo>
                  <a:lnTo>
                    <a:pt x="62" y="0"/>
                  </a:lnTo>
                  <a:lnTo>
                    <a:pt x="32" y="0"/>
                  </a:lnTo>
                </a:path>
              </a:pathLst>
            </a:custGeom>
            <a:noFill/>
            <a:ln w="952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4269" name="Freeform 13">
              <a:extLst>
                <a:ext uri="{FF2B5EF4-FFF2-40B4-BE49-F238E27FC236}">
                  <a16:creationId xmlns:a16="http://schemas.microsoft.com/office/drawing/2014/main" id="{D4431396-C69A-428B-A8D5-248E358D77BF}"/>
                </a:ext>
              </a:extLst>
            </p:cNvPr>
            <p:cNvSpPr>
              <a:spLocks/>
            </p:cNvSpPr>
            <p:nvPr/>
          </p:nvSpPr>
          <p:spPr bwMode="auto">
            <a:xfrm rot="-1974315">
              <a:off x="1746" y="3480"/>
              <a:ext cx="62" cy="40"/>
            </a:xfrm>
            <a:custGeom>
              <a:avLst/>
              <a:gdLst>
                <a:gd name="T0" fmla="*/ 0 w 62"/>
                <a:gd name="T1" fmla="*/ 40 h 40"/>
                <a:gd name="T2" fmla="*/ 62 w 62"/>
                <a:gd name="T3" fmla="*/ 0 h 40"/>
                <a:gd name="T4" fmla="*/ 32 w 62"/>
                <a:gd name="T5" fmla="*/ 0 h 40"/>
              </a:gdLst>
              <a:ahLst/>
              <a:cxnLst>
                <a:cxn ang="0">
                  <a:pos x="T0" y="T1"/>
                </a:cxn>
                <a:cxn ang="0">
                  <a:pos x="T2" y="T3"/>
                </a:cxn>
                <a:cxn ang="0">
                  <a:pos x="T4" y="T5"/>
                </a:cxn>
              </a:cxnLst>
              <a:rect l="0" t="0" r="r" b="b"/>
              <a:pathLst>
                <a:path w="62" h="40">
                  <a:moveTo>
                    <a:pt x="0" y="40"/>
                  </a:moveTo>
                  <a:lnTo>
                    <a:pt x="62" y="0"/>
                  </a:lnTo>
                  <a:lnTo>
                    <a:pt x="32" y="0"/>
                  </a:lnTo>
                </a:path>
              </a:pathLst>
            </a:custGeom>
            <a:noFill/>
            <a:ln w="952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4270" name="Freeform 14">
              <a:extLst>
                <a:ext uri="{FF2B5EF4-FFF2-40B4-BE49-F238E27FC236}">
                  <a16:creationId xmlns:a16="http://schemas.microsoft.com/office/drawing/2014/main" id="{B8778F4F-3F90-488E-A2FF-4599D1E4AE6E}"/>
                </a:ext>
              </a:extLst>
            </p:cNvPr>
            <p:cNvSpPr>
              <a:spLocks/>
            </p:cNvSpPr>
            <p:nvPr/>
          </p:nvSpPr>
          <p:spPr bwMode="auto">
            <a:xfrm rot="-170891">
              <a:off x="2290" y="3470"/>
              <a:ext cx="62" cy="40"/>
            </a:xfrm>
            <a:custGeom>
              <a:avLst/>
              <a:gdLst>
                <a:gd name="T0" fmla="*/ 0 w 62"/>
                <a:gd name="T1" fmla="*/ 40 h 40"/>
                <a:gd name="T2" fmla="*/ 62 w 62"/>
                <a:gd name="T3" fmla="*/ 0 h 40"/>
                <a:gd name="T4" fmla="*/ 32 w 62"/>
                <a:gd name="T5" fmla="*/ 0 h 40"/>
              </a:gdLst>
              <a:ahLst/>
              <a:cxnLst>
                <a:cxn ang="0">
                  <a:pos x="T0" y="T1"/>
                </a:cxn>
                <a:cxn ang="0">
                  <a:pos x="T2" y="T3"/>
                </a:cxn>
                <a:cxn ang="0">
                  <a:pos x="T4" y="T5"/>
                </a:cxn>
              </a:cxnLst>
              <a:rect l="0" t="0" r="r" b="b"/>
              <a:pathLst>
                <a:path w="62" h="40">
                  <a:moveTo>
                    <a:pt x="0" y="40"/>
                  </a:moveTo>
                  <a:lnTo>
                    <a:pt x="62" y="0"/>
                  </a:lnTo>
                  <a:lnTo>
                    <a:pt x="32" y="0"/>
                  </a:lnTo>
                </a:path>
              </a:pathLst>
            </a:custGeom>
            <a:noFill/>
            <a:ln w="952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4271" name="Freeform 15">
              <a:extLst>
                <a:ext uri="{FF2B5EF4-FFF2-40B4-BE49-F238E27FC236}">
                  <a16:creationId xmlns:a16="http://schemas.microsoft.com/office/drawing/2014/main" id="{80C08B25-A730-4E05-A7A0-F728302385EC}"/>
                </a:ext>
              </a:extLst>
            </p:cNvPr>
            <p:cNvSpPr>
              <a:spLocks/>
            </p:cNvSpPr>
            <p:nvPr/>
          </p:nvSpPr>
          <p:spPr bwMode="auto">
            <a:xfrm rot="-1638354">
              <a:off x="1946" y="3606"/>
              <a:ext cx="62" cy="40"/>
            </a:xfrm>
            <a:custGeom>
              <a:avLst/>
              <a:gdLst>
                <a:gd name="T0" fmla="*/ 0 w 62"/>
                <a:gd name="T1" fmla="*/ 40 h 40"/>
                <a:gd name="T2" fmla="*/ 62 w 62"/>
                <a:gd name="T3" fmla="*/ 0 h 40"/>
                <a:gd name="T4" fmla="*/ 32 w 62"/>
                <a:gd name="T5" fmla="*/ 0 h 40"/>
              </a:gdLst>
              <a:ahLst/>
              <a:cxnLst>
                <a:cxn ang="0">
                  <a:pos x="T0" y="T1"/>
                </a:cxn>
                <a:cxn ang="0">
                  <a:pos x="T2" y="T3"/>
                </a:cxn>
                <a:cxn ang="0">
                  <a:pos x="T4" y="T5"/>
                </a:cxn>
              </a:cxnLst>
              <a:rect l="0" t="0" r="r" b="b"/>
              <a:pathLst>
                <a:path w="62" h="40">
                  <a:moveTo>
                    <a:pt x="0" y="40"/>
                  </a:moveTo>
                  <a:lnTo>
                    <a:pt x="62" y="0"/>
                  </a:lnTo>
                  <a:lnTo>
                    <a:pt x="32" y="0"/>
                  </a:lnTo>
                </a:path>
              </a:pathLst>
            </a:custGeom>
            <a:noFill/>
            <a:ln w="952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4272" name="Freeform 16">
              <a:extLst>
                <a:ext uri="{FF2B5EF4-FFF2-40B4-BE49-F238E27FC236}">
                  <a16:creationId xmlns:a16="http://schemas.microsoft.com/office/drawing/2014/main" id="{570BE040-E1F4-422E-A86E-CB5FBF0925D1}"/>
                </a:ext>
              </a:extLst>
            </p:cNvPr>
            <p:cNvSpPr>
              <a:spLocks/>
            </p:cNvSpPr>
            <p:nvPr/>
          </p:nvSpPr>
          <p:spPr bwMode="auto">
            <a:xfrm rot="342635">
              <a:off x="1538" y="3470"/>
              <a:ext cx="62" cy="40"/>
            </a:xfrm>
            <a:custGeom>
              <a:avLst/>
              <a:gdLst>
                <a:gd name="T0" fmla="*/ 0 w 62"/>
                <a:gd name="T1" fmla="*/ 40 h 40"/>
                <a:gd name="T2" fmla="*/ 62 w 62"/>
                <a:gd name="T3" fmla="*/ 0 h 40"/>
                <a:gd name="T4" fmla="*/ 32 w 62"/>
                <a:gd name="T5" fmla="*/ 0 h 40"/>
              </a:gdLst>
              <a:ahLst/>
              <a:cxnLst>
                <a:cxn ang="0">
                  <a:pos x="T0" y="T1"/>
                </a:cxn>
                <a:cxn ang="0">
                  <a:pos x="T2" y="T3"/>
                </a:cxn>
                <a:cxn ang="0">
                  <a:pos x="T4" y="T5"/>
                </a:cxn>
              </a:cxnLst>
              <a:rect l="0" t="0" r="r" b="b"/>
              <a:pathLst>
                <a:path w="62" h="40">
                  <a:moveTo>
                    <a:pt x="0" y="40"/>
                  </a:moveTo>
                  <a:lnTo>
                    <a:pt x="62" y="0"/>
                  </a:lnTo>
                  <a:lnTo>
                    <a:pt x="32" y="0"/>
                  </a:lnTo>
                </a:path>
              </a:pathLst>
            </a:custGeom>
            <a:noFill/>
            <a:ln w="952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4273" name="Freeform 17">
              <a:extLst>
                <a:ext uri="{FF2B5EF4-FFF2-40B4-BE49-F238E27FC236}">
                  <a16:creationId xmlns:a16="http://schemas.microsoft.com/office/drawing/2014/main" id="{EB2700A0-CB8E-4BC9-B051-7F3DBDBF401B}"/>
                </a:ext>
              </a:extLst>
            </p:cNvPr>
            <p:cNvSpPr>
              <a:spLocks/>
            </p:cNvSpPr>
            <p:nvPr/>
          </p:nvSpPr>
          <p:spPr bwMode="auto">
            <a:xfrm rot="1827933">
              <a:off x="1516" y="3274"/>
              <a:ext cx="62" cy="40"/>
            </a:xfrm>
            <a:custGeom>
              <a:avLst/>
              <a:gdLst>
                <a:gd name="T0" fmla="*/ 0 w 62"/>
                <a:gd name="T1" fmla="*/ 40 h 40"/>
                <a:gd name="T2" fmla="*/ 62 w 62"/>
                <a:gd name="T3" fmla="*/ 0 h 40"/>
                <a:gd name="T4" fmla="*/ 32 w 62"/>
                <a:gd name="T5" fmla="*/ 0 h 40"/>
              </a:gdLst>
              <a:ahLst/>
              <a:cxnLst>
                <a:cxn ang="0">
                  <a:pos x="T0" y="T1"/>
                </a:cxn>
                <a:cxn ang="0">
                  <a:pos x="T2" y="T3"/>
                </a:cxn>
                <a:cxn ang="0">
                  <a:pos x="T4" y="T5"/>
                </a:cxn>
              </a:cxnLst>
              <a:rect l="0" t="0" r="r" b="b"/>
              <a:pathLst>
                <a:path w="62" h="40">
                  <a:moveTo>
                    <a:pt x="0" y="40"/>
                  </a:moveTo>
                  <a:lnTo>
                    <a:pt x="62" y="0"/>
                  </a:lnTo>
                  <a:lnTo>
                    <a:pt x="32" y="0"/>
                  </a:lnTo>
                </a:path>
              </a:pathLst>
            </a:custGeom>
            <a:noFill/>
            <a:ln w="952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4274" name="Freeform 18">
              <a:extLst>
                <a:ext uri="{FF2B5EF4-FFF2-40B4-BE49-F238E27FC236}">
                  <a16:creationId xmlns:a16="http://schemas.microsoft.com/office/drawing/2014/main" id="{C09E8946-236B-4867-9E1B-454D7CDEFC80}"/>
                </a:ext>
              </a:extLst>
            </p:cNvPr>
            <p:cNvSpPr>
              <a:spLocks/>
            </p:cNvSpPr>
            <p:nvPr/>
          </p:nvSpPr>
          <p:spPr bwMode="auto">
            <a:xfrm rot="2170568">
              <a:off x="1316" y="3724"/>
              <a:ext cx="62" cy="40"/>
            </a:xfrm>
            <a:custGeom>
              <a:avLst/>
              <a:gdLst>
                <a:gd name="T0" fmla="*/ 0 w 62"/>
                <a:gd name="T1" fmla="*/ 40 h 40"/>
                <a:gd name="T2" fmla="*/ 62 w 62"/>
                <a:gd name="T3" fmla="*/ 0 h 40"/>
                <a:gd name="T4" fmla="*/ 32 w 62"/>
                <a:gd name="T5" fmla="*/ 0 h 40"/>
              </a:gdLst>
              <a:ahLst/>
              <a:cxnLst>
                <a:cxn ang="0">
                  <a:pos x="T0" y="T1"/>
                </a:cxn>
                <a:cxn ang="0">
                  <a:pos x="T2" y="T3"/>
                </a:cxn>
                <a:cxn ang="0">
                  <a:pos x="T4" y="T5"/>
                </a:cxn>
              </a:cxnLst>
              <a:rect l="0" t="0" r="r" b="b"/>
              <a:pathLst>
                <a:path w="62" h="40">
                  <a:moveTo>
                    <a:pt x="0" y="40"/>
                  </a:moveTo>
                  <a:lnTo>
                    <a:pt x="62" y="0"/>
                  </a:lnTo>
                  <a:lnTo>
                    <a:pt x="32" y="0"/>
                  </a:lnTo>
                </a:path>
              </a:pathLst>
            </a:custGeom>
            <a:noFill/>
            <a:ln w="952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24276" name="Text Box 20">
            <a:extLst>
              <a:ext uri="{FF2B5EF4-FFF2-40B4-BE49-F238E27FC236}">
                <a16:creationId xmlns:a16="http://schemas.microsoft.com/office/drawing/2014/main" id="{F2919DE1-A093-47F7-A9F1-B20DD568463B}"/>
              </a:ext>
            </a:extLst>
          </p:cNvPr>
          <p:cNvSpPr txBox="1">
            <a:spLocks noChangeArrowheads="1"/>
          </p:cNvSpPr>
          <p:nvPr/>
        </p:nvSpPr>
        <p:spPr bwMode="auto">
          <a:xfrm>
            <a:off x="1266825" y="5429250"/>
            <a:ext cx="885825"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800">
                <a:solidFill>
                  <a:srgbClr val="FF0000"/>
                </a:solidFill>
                <a:effectLst/>
                <a:latin typeface="Arial" panose="020B0604020202020204" pitchFamily="34" charset="0"/>
              </a:rPr>
              <a:t>Roof thrust</a:t>
            </a:r>
          </a:p>
          <a:p>
            <a:pPr>
              <a:spcBef>
                <a:spcPct val="50000"/>
              </a:spcBef>
            </a:pPr>
            <a:r>
              <a:rPr lang="en-GB" altLang="en-US" sz="800">
                <a:solidFill>
                  <a:srgbClr val="FF0000"/>
                </a:solidFill>
                <a:effectLst/>
                <a:latin typeface="Arial" panose="020B0604020202020204" pitchFamily="34" charset="0"/>
              </a:rPr>
              <a:t>Floor thrust</a:t>
            </a:r>
          </a:p>
        </p:txBody>
      </p:sp>
      <p:sp>
        <p:nvSpPr>
          <p:cNvPr id="224277" name="Line 21">
            <a:extLst>
              <a:ext uri="{FF2B5EF4-FFF2-40B4-BE49-F238E27FC236}">
                <a16:creationId xmlns:a16="http://schemas.microsoft.com/office/drawing/2014/main" id="{C4203B98-E500-4A08-AF5C-4B5448A7A5CB}"/>
              </a:ext>
            </a:extLst>
          </p:cNvPr>
          <p:cNvSpPr>
            <a:spLocks noChangeShapeType="1"/>
          </p:cNvSpPr>
          <p:nvPr/>
        </p:nvSpPr>
        <p:spPr bwMode="auto">
          <a:xfrm>
            <a:off x="1654175" y="5797550"/>
            <a:ext cx="130175" cy="13335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4279" name="Line 23">
            <a:extLst>
              <a:ext uri="{FF2B5EF4-FFF2-40B4-BE49-F238E27FC236}">
                <a16:creationId xmlns:a16="http://schemas.microsoft.com/office/drawing/2014/main" id="{6D5544E2-73DF-4B64-91D8-63DD3B55183E}"/>
              </a:ext>
            </a:extLst>
          </p:cNvPr>
          <p:cNvSpPr>
            <a:spLocks noChangeShapeType="1"/>
          </p:cNvSpPr>
          <p:nvPr/>
        </p:nvSpPr>
        <p:spPr bwMode="auto">
          <a:xfrm flipV="1">
            <a:off x="1873250" y="5394325"/>
            <a:ext cx="127000" cy="92075"/>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24280" name="Picture 24" descr="04b1-NDevon">
            <a:extLst>
              <a:ext uri="{FF2B5EF4-FFF2-40B4-BE49-F238E27FC236}">
                <a16:creationId xmlns:a16="http://schemas.microsoft.com/office/drawing/2014/main" id="{D9E23849-9F45-4711-99BA-94F2138202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3163" y="871538"/>
            <a:ext cx="6962775" cy="40957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4282" name="Line 26">
            <a:extLst>
              <a:ext uri="{FF2B5EF4-FFF2-40B4-BE49-F238E27FC236}">
                <a16:creationId xmlns:a16="http://schemas.microsoft.com/office/drawing/2014/main" id="{5868F2E1-1C00-451D-ADFD-AD863B0000AE}"/>
              </a:ext>
            </a:extLst>
          </p:cNvPr>
          <p:cNvSpPr>
            <a:spLocks noChangeShapeType="1"/>
          </p:cNvSpPr>
          <p:nvPr/>
        </p:nvSpPr>
        <p:spPr bwMode="auto">
          <a:xfrm flipV="1">
            <a:off x="725488" y="3278188"/>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66A08A39-461C-412C-8947-2C6781C2CE29}"/>
              </a:ext>
            </a:extLst>
          </p:cNvPr>
          <p:cNvSpPr>
            <a:spLocks noGrp="1" noChangeArrowheads="1"/>
          </p:cNvSpPr>
          <p:nvPr>
            <p:ph type="title"/>
          </p:nvPr>
        </p:nvSpPr>
        <p:spPr>
          <a:noFill/>
        </p:spPr>
        <p:txBody>
          <a:bodyPr/>
          <a:lstStyle/>
          <a:p>
            <a:r>
              <a:rPr lang="en-GB" altLang="en-US">
                <a:effectLst/>
              </a:rPr>
              <a:t>Formation of hinterland-dipping thrust duplexes</a:t>
            </a:r>
          </a:p>
        </p:txBody>
      </p:sp>
      <p:sp>
        <p:nvSpPr>
          <p:cNvPr id="273411" name="Rectangle 3">
            <a:extLst>
              <a:ext uri="{FF2B5EF4-FFF2-40B4-BE49-F238E27FC236}">
                <a16:creationId xmlns:a16="http://schemas.microsoft.com/office/drawing/2014/main" id="{E8F81BAB-3CBE-4E7F-B805-F49ED9763F98}"/>
              </a:ext>
            </a:extLst>
          </p:cNvPr>
          <p:cNvSpPr>
            <a:spLocks noGrp="1" noChangeArrowheads="1"/>
          </p:cNvSpPr>
          <p:nvPr>
            <p:ph type="body" sz="half" idx="1"/>
          </p:nvPr>
        </p:nvSpPr>
        <p:spPr>
          <a:xfrm>
            <a:off x="5730875" y="831850"/>
            <a:ext cx="3205163" cy="3786188"/>
          </a:xfrm>
          <a:noFill/>
        </p:spPr>
        <p:txBody>
          <a:bodyPr/>
          <a:lstStyle/>
          <a:p>
            <a:pPr marL="177800" indent="-177800">
              <a:spcBef>
                <a:spcPct val="75000"/>
              </a:spcBef>
            </a:pPr>
            <a:r>
              <a:rPr lang="en-GB" altLang="en-US" sz="1700">
                <a:effectLst/>
              </a:rPr>
              <a:t>Thrust duplexes form </a:t>
            </a:r>
            <a:r>
              <a:rPr lang="en-GB" altLang="en-US" sz="1700">
                <a:solidFill>
                  <a:srgbClr val="FF66CC"/>
                </a:solidFill>
                <a:effectLst/>
              </a:rPr>
              <a:t>sequentially</a:t>
            </a:r>
            <a:r>
              <a:rPr lang="en-GB" altLang="en-US" sz="1700">
                <a:effectLst/>
              </a:rPr>
              <a:t>, usually </a:t>
            </a:r>
            <a:r>
              <a:rPr lang="en-GB" altLang="en-US" sz="1700">
                <a:solidFill>
                  <a:srgbClr val="FF6600"/>
                </a:solidFill>
                <a:effectLst/>
              </a:rPr>
              <a:t>propagating towards the foreland</a:t>
            </a:r>
            <a:r>
              <a:rPr lang="en-GB" altLang="en-US" sz="1700">
                <a:effectLst/>
              </a:rPr>
              <a:t>: a horse is formed in the footwall, is displaced forwards, and becomes inactive; a new horse is then formed in the footwall . . .</a:t>
            </a:r>
          </a:p>
          <a:p>
            <a:pPr marL="177800" indent="-177800">
              <a:spcBef>
                <a:spcPct val="75000"/>
              </a:spcBef>
            </a:pPr>
            <a:r>
              <a:rPr lang="en-GB" altLang="en-US" sz="1700">
                <a:effectLst/>
              </a:rPr>
              <a:t>The ramps bounding the horses dip towards the hinterland</a:t>
            </a:r>
          </a:p>
        </p:txBody>
      </p:sp>
      <p:pic>
        <p:nvPicPr>
          <p:cNvPr id="273417" name="Picture 9" descr="04c2">
            <a:extLst>
              <a:ext uri="{FF2B5EF4-FFF2-40B4-BE49-F238E27FC236}">
                <a16:creationId xmlns:a16="http://schemas.microsoft.com/office/drawing/2014/main" id="{E0B4F394-0E35-495B-8A5E-21B85FBF8398}"/>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180975" y="906463"/>
            <a:ext cx="5281613" cy="39497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3422" name="Rectangle 14">
            <a:extLst>
              <a:ext uri="{FF2B5EF4-FFF2-40B4-BE49-F238E27FC236}">
                <a16:creationId xmlns:a16="http://schemas.microsoft.com/office/drawing/2014/main" id="{B17A6603-C058-4207-BEC4-C6A200725FD8}"/>
              </a:ext>
            </a:extLst>
          </p:cNvPr>
          <p:cNvSpPr>
            <a:spLocks noChangeArrowheads="1"/>
          </p:cNvSpPr>
          <p:nvPr/>
        </p:nvSpPr>
        <p:spPr bwMode="auto">
          <a:xfrm>
            <a:off x="133350" y="5137150"/>
            <a:ext cx="4291013" cy="149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a:effectLst/>
              </a:rPr>
              <a:t>Less commonly, the horses nucleate in the hanging wall so that they propagate towards the hinterland. This is described as a </a:t>
            </a:r>
            <a:r>
              <a:rPr lang="en-GB" altLang="en-US" sz="1700">
                <a:solidFill>
                  <a:srgbClr val="FF6600"/>
                </a:solidFill>
                <a:effectLst/>
              </a:rPr>
              <a:t>break-back sequence</a:t>
            </a:r>
          </a:p>
        </p:txBody>
      </p:sp>
      <p:pic>
        <p:nvPicPr>
          <p:cNvPr id="273423" name="Picture 15">
            <a:extLst>
              <a:ext uri="{FF2B5EF4-FFF2-40B4-BE49-F238E27FC236}">
                <a16:creationId xmlns:a16="http://schemas.microsoft.com/office/drawing/2014/main" id="{DD54548C-68FC-417D-9F2B-D2BC640268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2013" y="5260975"/>
            <a:ext cx="4291012" cy="13525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3424" name="Line 16">
            <a:extLst>
              <a:ext uri="{FF2B5EF4-FFF2-40B4-BE49-F238E27FC236}">
                <a16:creationId xmlns:a16="http://schemas.microsoft.com/office/drawing/2014/main" id="{8AF0CE54-8F75-4DFD-8BC9-4778E7EE031A}"/>
              </a:ext>
            </a:extLst>
          </p:cNvPr>
          <p:cNvSpPr>
            <a:spLocks noChangeShapeType="1"/>
          </p:cNvSpPr>
          <p:nvPr/>
        </p:nvSpPr>
        <p:spPr bwMode="auto">
          <a:xfrm flipV="1">
            <a:off x="374650" y="2928938"/>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3425" name="Line 17">
            <a:extLst>
              <a:ext uri="{FF2B5EF4-FFF2-40B4-BE49-F238E27FC236}">
                <a16:creationId xmlns:a16="http://schemas.microsoft.com/office/drawing/2014/main" id="{4D63C408-1FC6-4B12-B51E-C614D4C57B47}"/>
              </a:ext>
            </a:extLst>
          </p:cNvPr>
          <p:cNvSpPr>
            <a:spLocks noChangeShapeType="1"/>
          </p:cNvSpPr>
          <p:nvPr/>
        </p:nvSpPr>
        <p:spPr bwMode="auto">
          <a:xfrm flipV="1">
            <a:off x="5902325" y="5097463"/>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5B2FC27A-4DBF-4C3A-B5EF-735E93535ABA}"/>
              </a:ext>
            </a:extLst>
          </p:cNvPr>
          <p:cNvSpPr>
            <a:spLocks noGrp="1" noChangeArrowheads="1"/>
          </p:cNvSpPr>
          <p:nvPr>
            <p:ph type="title"/>
          </p:nvPr>
        </p:nvSpPr>
        <p:spPr>
          <a:noFill/>
        </p:spPr>
        <p:txBody>
          <a:bodyPr/>
          <a:lstStyle/>
          <a:p>
            <a:r>
              <a:rPr lang="en-GB" altLang="en-US">
                <a:effectLst/>
              </a:rPr>
              <a:t>Out-of-sequence thrusts</a:t>
            </a:r>
          </a:p>
        </p:txBody>
      </p:sp>
      <p:pic>
        <p:nvPicPr>
          <p:cNvPr id="292899" name="Picture 35" descr="08c4">
            <a:extLst>
              <a:ext uri="{FF2B5EF4-FFF2-40B4-BE49-F238E27FC236}">
                <a16:creationId xmlns:a16="http://schemas.microsoft.com/office/drawing/2014/main" id="{CB5E2999-5F57-4DE4-95B6-29AF81AA4982}"/>
              </a:ext>
            </a:extLst>
          </p:cNvPr>
          <p:cNvPicPr>
            <a:picLocks noGrp="1" noChangeAspect="1" noChangeArrowheads="1"/>
          </p:cNvPicPr>
          <p:nvPr>
            <p:ph sz="quarter" idx="3"/>
          </p:nvPr>
        </p:nvPicPr>
        <p:blipFill>
          <a:blip r:embed="rId3">
            <a:lum bright="-6000" contrast="10000"/>
            <a:extLst>
              <a:ext uri="{28A0092B-C50C-407E-A947-70E740481C1C}">
                <a14:useLocalDpi xmlns:a14="http://schemas.microsoft.com/office/drawing/2010/main" val="0"/>
              </a:ext>
            </a:extLst>
          </a:blip>
          <a:srcRect/>
          <a:stretch>
            <a:fillRect/>
          </a:stretch>
        </p:blipFill>
        <p:spPr>
          <a:xfrm>
            <a:off x="306388" y="3244850"/>
            <a:ext cx="5607050" cy="34178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2879" name="Rectangle 15">
            <a:extLst>
              <a:ext uri="{FF2B5EF4-FFF2-40B4-BE49-F238E27FC236}">
                <a16:creationId xmlns:a16="http://schemas.microsoft.com/office/drawing/2014/main" id="{E9592340-7B90-407E-884E-F1ECD34FEFA4}"/>
              </a:ext>
            </a:extLst>
          </p:cNvPr>
          <p:cNvSpPr>
            <a:spLocks noChangeArrowheads="1"/>
          </p:cNvSpPr>
          <p:nvPr/>
        </p:nvSpPr>
        <p:spPr bwMode="auto">
          <a:xfrm>
            <a:off x="119063" y="809625"/>
            <a:ext cx="8891587"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a:effectLst/>
              </a:rPr>
              <a:t>Although thrusts usually propagate towards the foreland, it is not uncommon for an </a:t>
            </a:r>
            <a:r>
              <a:rPr lang="en-GB" altLang="en-US" sz="1700">
                <a:solidFill>
                  <a:srgbClr val="FF6600"/>
                </a:solidFill>
                <a:effectLst/>
              </a:rPr>
              <a:t>out-of-sequence thrust</a:t>
            </a:r>
            <a:r>
              <a:rPr lang="en-GB" altLang="en-US" sz="1700">
                <a:effectLst/>
              </a:rPr>
              <a:t> to develop at a position behind the thrust front</a:t>
            </a:r>
            <a:endParaRPr lang="en-GB" altLang="en-US" sz="1700">
              <a:solidFill>
                <a:srgbClr val="FF6600"/>
              </a:solidFill>
              <a:effectLst/>
            </a:endParaRPr>
          </a:p>
        </p:txBody>
      </p:sp>
      <p:sp>
        <p:nvSpPr>
          <p:cNvPr id="292897" name="Text Box 33">
            <a:extLst>
              <a:ext uri="{FF2B5EF4-FFF2-40B4-BE49-F238E27FC236}">
                <a16:creationId xmlns:a16="http://schemas.microsoft.com/office/drawing/2014/main" id="{0518D6C6-9AEB-402E-A626-55B235797D3F}"/>
              </a:ext>
            </a:extLst>
          </p:cNvPr>
          <p:cNvSpPr txBox="1">
            <a:spLocks noChangeArrowheads="1"/>
          </p:cNvSpPr>
          <p:nvPr/>
        </p:nvSpPr>
        <p:spPr bwMode="auto">
          <a:xfrm>
            <a:off x="114300" y="1638300"/>
            <a:ext cx="4476750"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Such thrusts may be </a:t>
            </a:r>
            <a:r>
              <a:rPr lang="en-GB" altLang="en-US" sz="1700" dirty="0">
                <a:solidFill>
                  <a:srgbClr val="FF66FF"/>
                </a:solidFill>
                <a:effectLst>
                  <a:outerShdw blurRad="38100" dist="38100" dir="2700000" algn="tl">
                    <a:srgbClr val="000000"/>
                  </a:outerShdw>
                </a:effectLst>
                <a:latin typeface="Arial" panose="020B0604020202020204" pitchFamily="34" charset="0"/>
              </a:rPr>
              <a:t>newly initiated</a:t>
            </a:r>
            <a:r>
              <a:rPr lang="en-GB" altLang="en-US" sz="1700" dirty="0">
                <a:effectLst>
                  <a:outerShdw blurRad="38100" dist="38100" dir="2700000" algn="tl">
                    <a:srgbClr val="000000"/>
                  </a:outerShdw>
                </a:effectLst>
                <a:latin typeface="Arial" panose="020B0604020202020204" pitchFamily="34" charset="0"/>
              </a:rPr>
              <a:t> faults, or they may </a:t>
            </a:r>
            <a:r>
              <a:rPr lang="en-GB" altLang="en-US" sz="1700" dirty="0">
                <a:solidFill>
                  <a:srgbClr val="FF66FF"/>
                </a:solidFill>
                <a:effectLst>
                  <a:outerShdw blurRad="38100" dist="38100" dir="2700000" algn="tl">
                    <a:srgbClr val="000000"/>
                  </a:outerShdw>
                </a:effectLst>
                <a:latin typeface="Arial" panose="020B0604020202020204" pitchFamily="34" charset="0"/>
              </a:rPr>
              <a:t>reactivate</a:t>
            </a:r>
            <a:r>
              <a:rPr lang="en-GB" altLang="en-US" sz="1700" dirty="0">
                <a:effectLst>
                  <a:outerShdw blurRad="38100" dist="38100" dir="2700000" algn="tl">
                    <a:srgbClr val="000000"/>
                  </a:outerShdw>
                </a:effectLst>
                <a:latin typeface="Arial" panose="020B0604020202020204" pitchFamily="34" charset="0"/>
              </a:rPr>
              <a:t> an earlier formed fault</a:t>
            </a:r>
          </a:p>
        </p:txBody>
      </p:sp>
      <p:sp>
        <p:nvSpPr>
          <p:cNvPr id="292898" name="Line 34">
            <a:extLst>
              <a:ext uri="{FF2B5EF4-FFF2-40B4-BE49-F238E27FC236}">
                <a16:creationId xmlns:a16="http://schemas.microsoft.com/office/drawing/2014/main" id="{36C8D538-5AC0-4A9B-9355-391DDBB4B95B}"/>
              </a:ext>
            </a:extLst>
          </p:cNvPr>
          <p:cNvSpPr>
            <a:spLocks noChangeShapeType="1"/>
          </p:cNvSpPr>
          <p:nvPr/>
        </p:nvSpPr>
        <p:spPr bwMode="auto">
          <a:xfrm flipV="1">
            <a:off x="4322763" y="2609850"/>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92901" name="Picture 37" descr="08c3">
            <a:extLst>
              <a:ext uri="{FF2B5EF4-FFF2-40B4-BE49-F238E27FC236}">
                <a16:creationId xmlns:a16="http://schemas.microsoft.com/office/drawing/2014/main" id="{3648BABD-F584-4A7F-9277-CBD31F243B52}"/>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a:xfrm>
            <a:off x="4718050" y="1812925"/>
            <a:ext cx="4291013" cy="12176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a:extLst>
              <a:ext uri="{FF2B5EF4-FFF2-40B4-BE49-F238E27FC236}">
                <a16:creationId xmlns:a16="http://schemas.microsoft.com/office/drawing/2014/main" id="{4D18D0D7-B277-4538-8983-79E1CB8F73C5}"/>
              </a:ext>
            </a:extLst>
          </p:cNvPr>
          <p:cNvSpPr>
            <a:spLocks noGrp="1" noChangeArrowheads="1"/>
          </p:cNvSpPr>
          <p:nvPr>
            <p:ph type="title"/>
          </p:nvPr>
        </p:nvSpPr>
        <p:spPr>
          <a:noFill/>
        </p:spPr>
        <p:txBody>
          <a:bodyPr/>
          <a:lstStyle/>
          <a:p>
            <a:r>
              <a:rPr lang="en-GB" altLang="en-US">
                <a:effectLst/>
              </a:rPr>
              <a:t>Antiformal stacks</a:t>
            </a:r>
          </a:p>
        </p:txBody>
      </p:sp>
      <p:sp>
        <p:nvSpPr>
          <p:cNvPr id="280579" name="Rectangle 3">
            <a:extLst>
              <a:ext uri="{FF2B5EF4-FFF2-40B4-BE49-F238E27FC236}">
                <a16:creationId xmlns:a16="http://schemas.microsoft.com/office/drawing/2014/main" id="{147FB34E-84FD-48FA-913D-3C47F6E3981C}"/>
              </a:ext>
            </a:extLst>
          </p:cNvPr>
          <p:cNvSpPr>
            <a:spLocks noGrp="1" noChangeArrowheads="1"/>
          </p:cNvSpPr>
          <p:nvPr>
            <p:ph type="body" sz="half" idx="1"/>
          </p:nvPr>
        </p:nvSpPr>
        <p:spPr>
          <a:xfrm>
            <a:off x="112713" y="765175"/>
            <a:ext cx="5273675" cy="2185988"/>
          </a:xfrm>
          <a:noFill/>
        </p:spPr>
        <p:txBody>
          <a:bodyPr/>
          <a:lstStyle/>
          <a:p>
            <a:pPr marL="177800" indent="-177800">
              <a:spcBef>
                <a:spcPct val="75000"/>
              </a:spcBef>
            </a:pPr>
            <a:r>
              <a:rPr lang="en-GB" altLang="en-US" sz="1700" dirty="0">
                <a:effectLst/>
              </a:rPr>
              <a:t>When there is greater drive on the roof thrust than on the floor thrust, foreland-propagating thrust duplexes develop such that the horses are stacked, resulting in an </a:t>
            </a:r>
            <a:r>
              <a:rPr lang="en-GB" altLang="en-US" sz="1700" dirty="0" err="1">
                <a:solidFill>
                  <a:srgbClr val="FF66FF"/>
                </a:solidFill>
                <a:effectLst/>
              </a:rPr>
              <a:t>antiform</a:t>
            </a:r>
            <a:r>
              <a:rPr lang="en-GB" altLang="en-US" sz="1700" dirty="0">
                <a:effectLst/>
              </a:rPr>
              <a:t> in the overlying thrust sheet</a:t>
            </a:r>
          </a:p>
          <a:p>
            <a:pPr marL="177800" indent="-177800">
              <a:spcBef>
                <a:spcPct val="75000"/>
              </a:spcBef>
            </a:pPr>
            <a:r>
              <a:rPr lang="en-GB" altLang="en-US" sz="1700" dirty="0">
                <a:effectLst/>
              </a:rPr>
              <a:t>Such structures are described as </a:t>
            </a:r>
            <a:r>
              <a:rPr lang="en-GB" altLang="en-US" sz="1700" dirty="0">
                <a:solidFill>
                  <a:srgbClr val="FF6600"/>
                </a:solidFill>
                <a:effectLst/>
              </a:rPr>
              <a:t>antiformal stacks</a:t>
            </a:r>
          </a:p>
        </p:txBody>
      </p:sp>
      <p:sp>
        <p:nvSpPr>
          <p:cNvPr id="280595" name="Line 19">
            <a:extLst>
              <a:ext uri="{FF2B5EF4-FFF2-40B4-BE49-F238E27FC236}">
                <a16:creationId xmlns:a16="http://schemas.microsoft.com/office/drawing/2014/main" id="{A1E03701-5F41-42C5-9E69-04D4C51924AA}"/>
              </a:ext>
            </a:extLst>
          </p:cNvPr>
          <p:cNvSpPr>
            <a:spLocks noChangeShapeType="1"/>
          </p:cNvSpPr>
          <p:nvPr/>
        </p:nvSpPr>
        <p:spPr bwMode="auto">
          <a:xfrm flipV="1">
            <a:off x="5453063" y="2247900"/>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0596" name="Line 20">
            <a:extLst>
              <a:ext uri="{FF2B5EF4-FFF2-40B4-BE49-F238E27FC236}">
                <a16:creationId xmlns:a16="http://schemas.microsoft.com/office/drawing/2014/main" id="{0F95C5F6-E905-4F2F-92CF-32F462BC5792}"/>
              </a:ext>
            </a:extLst>
          </p:cNvPr>
          <p:cNvSpPr>
            <a:spLocks noChangeShapeType="1"/>
          </p:cNvSpPr>
          <p:nvPr/>
        </p:nvSpPr>
        <p:spPr bwMode="auto">
          <a:xfrm rot="10800000" flipV="1">
            <a:off x="8645525" y="5589588"/>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0597" name="Picture 21" descr="08d1">
            <a:extLst>
              <a:ext uri="{FF2B5EF4-FFF2-40B4-BE49-F238E27FC236}">
                <a16:creationId xmlns:a16="http://schemas.microsoft.com/office/drawing/2014/main" id="{95CFFB88-7953-4818-AF5C-1AB8CFA5210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848350" y="839788"/>
            <a:ext cx="3144838" cy="20526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0599" name="Picture 23" descr="08d2-Catskills">
            <a:extLst>
              <a:ext uri="{FF2B5EF4-FFF2-40B4-BE49-F238E27FC236}">
                <a16:creationId xmlns:a16="http://schemas.microsoft.com/office/drawing/2014/main" id="{C7CA8781-4225-4C97-9B8F-C2647A858950}"/>
              </a:ext>
            </a:extLst>
          </p:cNvPr>
          <p:cNvPicPr>
            <a:picLocks noChangeAspect="1" noChangeArrowheads="1"/>
          </p:cNvPicPr>
          <p:nvPr/>
        </p:nvPicPr>
        <p:blipFill>
          <a:blip r:embed="rId4">
            <a:lum bright="4000"/>
            <a:extLst>
              <a:ext uri="{28A0092B-C50C-407E-A947-70E740481C1C}">
                <a14:useLocalDpi xmlns:a14="http://schemas.microsoft.com/office/drawing/2010/main" val="0"/>
              </a:ext>
            </a:extLst>
          </a:blip>
          <a:srcRect/>
          <a:stretch>
            <a:fillRect/>
          </a:stretch>
        </p:blipFill>
        <p:spPr bwMode="auto">
          <a:xfrm>
            <a:off x="303213" y="3105150"/>
            <a:ext cx="8283575" cy="35782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7727701C-6665-4408-AA2E-D55C25CD5331}"/>
              </a:ext>
            </a:extLst>
          </p:cNvPr>
          <p:cNvSpPr>
            <a:spLocks noGrp="1" noChangeArrowheads="1"/>
          </p:cNvSpPr>
          <p:nvPr>
            <p:ph type="title"/>
          </p:nvPr>
        </p:nvSpPr>
        <p:spPr>
          <a:noFill/>
        </p:spPr>
        <p:txBody>
          <a:bodyPr/>
          <a:lstStyle/>
          <a:p>
            <a:r>
              <a:rPr lang="en-GB" altLang="en-US">
                <a:effectLst/>
              </a:rPr>
              <a:t>Foreland-dipping thrust duplexes</a:t>
            </a:r>
          </a:p>
        </p:txBody>
      </p:sp>
      <p:sp>
        <p:nvSpPr>
          <p:cNvPr id="284675" name="Rectangle 3">
            <a:extLst>
              <a:ext uri="{FF2B5EF4-FFF2-40B4-BE49-F238E27FC236}">
                <a16:creationId xmlns:a16="http://schemas.microsoft.com/office/drawing/2014/main" id="{6454E20A-8B1E-4B2A-909E-543267BB2102}"/>
              </a:ext>
            </a:extLst>
          </p:cNvPr>
          <p:cNvSpPr>
            <a:spLocks noGrp="1" noChangeArrowheads="1"/>
          </p:cNvSpPr>
          <p:nvPr>
            <p:ph type="body" sz="half" idx="1"/>
          </p:nvPr>
        </p:nvSpPr>
        <p:spPr>
          <a:xfrm>
            <a:off x="131763" y="889000"/>
            <a:ext cx="8767762" cy="871538"/>
          </a:xfrm>
          <a:noFill/>
        </p:spPr>
        <p:txBody>
          <a:bodyPr/>
          <a:lstStyle/>
          <a:p>
            <a:pPr marL="177800" indent="-177800">
              <a:spcBef>
                <a:spcPct val="75000"/>
              </a:spcBef>
            </a:pPr>
            <a:r>
              <a:rPr lang="en-GB" altLang="en-US" sz="1700">
                <a:effectLst/>
              </a:rPr>
              <a:t>Less commonly, thrust duplexes develop such that individual horses are added to the </a:t>
            </a:r>
            <a:r>
              <a:rPr lang="en-GB" altLang="en-US" sz="1700">
                <a:solidFill>
                  <a:srgbClr val="FF66FF"/>
                </a:solidFill>
                <a:effectLst/>
              </a:rPr>
              <a:t>back of the duplex</a:t>
            </a:r>
            <a:r>
              <a:rPr lang="en-GB" altLang="en-US" sz="1700">
                <a:effectLst/>
              </a:rPr>
              <a:t> and the ramps bounding the horses dip </a:t>
            </a:r>
            <a:r>
              <a:rPr lang="en-GB" altLang="en-US" sz="1700">
                <a:solidFill>
                  <a:srgbClr val="FF66FF"/>
                </a:solidFill>
                <a:effectLst/>
              </a:rPr>
              <a:t>towards the foreland</a:t>
            </a:r>
            <a:endParaRPr lang="en-GB" altLang="en-US" sz="1700">
              <a:solidFill>
                <a:srgbClr val="FF66CC"/>
              </a:solidFill>
              <a:effectLst/>
            </a:endParaRPr>
          </a:p>
        </p:txBody>
      </p:sp>
      <p:sp>
        <p:nvSpPr>
          <p:cNvPr id="284690" name="Line 18">
            <a:extLst>
              <a:ext uri="{FF2B5EF4-FFF2-40B4-BE49-F238E27FC236}">
                <a16:creationId xmlns:a16="http://schemas.microsoft.com/office/drawing/2014/main" id="{E054D25C-1E31-4568-8C40-BB278EFA8D11}"/>
              </a:ext>
            </a:extLst>
          </p:cNvPr>
          <p:cNvSpPr>
            <a:spLocks noChangeShapeType="1"/>
          </p:cNvSpPr>
          <p:nvPr/>
        </p:nvSpPr>
        <p:spPr bwMode="auto">
          <a:xfrm flipV="1">
            <a:off x="271463" y="3259138"/>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4691" name="Line 19">
            <a:extLst>
              <a:ext uri="{FF2B5EF4-FFF2-40B4-BE49-F238E27FC236}">
                <a16:creationId xmlns:a16="http://schemas.microsoft.com/office/drawing/2014/main" id="{A7428915-C7C7-4AA2-919B-E20C08F9A73D}"/>
              </a:ext>
            </a:extLst>
          </p:cNvPr>
          <p:cNvSpPr>
            <a:spLocks noChangeShapeType="1"/>
          </p:cNvSpPr>
          <p:nvPr/>
        </p:nvSpPr>
        <p:spPr bwMode="auto">
          <a:xfrm flipV="1">
            <a:off x="1511300" y="5321300"/>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4692" name="Picture 20" descr="08e2">
            <a:extLst>
              <a:ext uri="{FF2B5EF4-FFF2-40B4-BE49-F238E27FC236}">
                <a16:creationId xmlns:a16="http://schemas.microsoft.com/office/drawing/2014/main" id="{1F9DDB4F-E3E9-404E-9EB5-71714C7B7F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3938588"/>
            <a:ext cx="5757863" cy="20939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4693" name="Picture 21" descr="08e1">
            <a:extLst>
              <a:ext uri="{FF2B5EF4-FFF2-40B4-BE49-F238E27FC236}">
                <a16:creationId xmlns:a16="http://schemas.microsoft.com/office/drawing/2014/main" id="{9B468839-B04F-4032-AE2E-4391052C8318}"/>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779463" y="1960563"/>
            <a:ext cx="7929562" cy="16002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93" name="Rectangle 25">
            <a:extLst>
              <a:ext uri="{FF2B5EF4-FFF2-40B4-BE49-F238E27FC236}">
                <a16:creationId xmlns:a16="http://schemas.microsoft.com/office/drawing/2014/main" id="{D41385BB-5CD5-4F4C-88AE-F40A7DE5FB22}"/>
              </a:ext>
            </a:extLst>
          </p:cNvPr>
          <p:cNvSpPr>
            <a:spLocks noChangeArrowheads="1"/>
          </p:cNvSpPr>
          <p:nvPr/>
        </p:nvSpPr>
        <p:spPr bwMode="auto">
          <a:xfrm>
            <a:off x="5675313" y="874713"/>
            <a:ext cx="3190875" cy="120332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8791" name="Rectangle 23">
            <a:extLst>
              <a:ext uri="{FF2B5EF4-FFF2-40B4-BE49-F238E27FC236}">
                <a16:creationId xmlns:a16="http://schemas.microsoft.com/office/drawing/2014/main" id="{3568BF76-46F6-4BBD-99B2-A27D8CA231A3}"/>
              </a:ext>
            </a:extLst>
          </p:cNvPr>
          <p:cNvSpPr>
            <a:spLocks noChangeArrowheads="1"/>
          </p:cNvSpPr>
          <p:nvPr/>
        </p:nvSpPr>
        <p:spPr bwMode="auto">
          <a:xfrm>
            <a:off x="542925" y="4467225"/>
            <a:ext cx="6229350" cy="187642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8770" name="Rectangle 2">
            <a:extLst>
              <a:ext uri="{FF2B5EF4-FFF2-40B4-BE49-F238E27FC236}">
                <a16:creationId xmlns:a16="http://schemas.microsoft.com/office/drawing/2014/main" id="{CC2B2524-CE70-4AA5-955E-A7BC9AF33F03}"/>
              </a:ext>
            </a:extLst>
          </p:cNvPr>
          <p:cNvSpPr>
            <a:spLocks noGrp="1" noChangeArrowheads="1"/>
          </p:cNvSpPr>
          <p:nvPr>
            <p:ph type="title"/>
          </p:nvPr>
        </p:nvSpPr>
        <p:spPr>
          <a:noFill/>
        </p:spPr>
        <p:txBody>
          <a:bodyPr/>
          <a:lstStyle/>
          <a:p>
            <a:r>
              <a:rPr lang="en-GB" altLang="en-US" dirty="0">
                <a:effectLst/>
              </a:rPr>
              <a:t>Back thrust</a:t>
            </a:r>
            <a:r>
              <a:rPr lang="en-GB" altLang="en-US" spc="500" dirty="0">
                <a:effectLst/>
              </a:rPr>
              <a:t>s/</a:t>
            </a:r>
            <a:r>
              <a:rPr lang="en-GB" altLang="en-US" dirty="0">
                <a:effectLst/>
              </a:rPr>
              <a:t>pop-up</a:t>
            </a:r>
            <a:r>
              <a:rPr lang="en-GB" altLang="en-US" spc="500" dirty="0">
                <a:effectLst/>
              </a:rPr>
              <a:t>s/</a:t>
            </a:r>
            <a:r>
              <a:rPr lang="en-GB" altLang="en-US" dirty="0">
                <a:effectLst/>
              </a:rPr>
              <a:t>triangle zones</a:t>
            </a:r>
          </a:p>
        </p:txBody>
      </p:sp>
      <p:sp>
        <p:nvSpPr>
          <p:cNvPr id="288771" name="Rectangle 3">
            <a:extLst>
              <a:ext uri="{FF2B5EF4-FFF2-40B4-BE49-F238E27FC236}">
                <a16:creationId xmlns:a16="http://schemas.microsoft.com/office/drawing/2014/main" id="{C409CE16-CD14-4B4A-808B-924F908837D1}"/>
              </a:ext>
            </a:extLst>
          </p:cNvPr>
          <p:cNvSpPr>
            <a:spLocks noGrp="1" noChangeArrowheads="1"/>
          </p:cNvSpPr>
          <p:nvPr>
            <p:ph type="body" sz="half" idx="1"/>
          </p:nvPr>
        </p:nvSpPr>
        <p:spPr>
          <a:xfrm>
            <a:off x="122238" y="822325"/>
            <a:ext cx="5310187" cy="1109663"/>
          </a:xfrm>
          <a:noFill/>
        </p:spPr>
        <p:txBody>
          <a:bodyPr/>
          <a:lstStyle/>
          <a:p>
            <a:pPr marL="177800" indent="-177800">
              <a:spcBef>
                <a:spcPct val="75000"/>
              </a:spcBef>
            </a:pPr>
            <a:r>
              <a:rPr lang="en-GB" altLang="en-US" sz="1700">
                <a:effectLst/>
              </a:rPr>
              <a:t>As thrust sheets climb over ramps, thrusts with the opposite vergence may form (effectively in the </a:t>
            </a:r>
            <a:r>
              <a:rPr lang="en-GB" altLang="en-US" sz="1700">
                <a:solidFill>
                  <a:srgbClr val="FF66FF"/>
                </a:solidFill>
                <a:effectLst/>
              </a:rPr>
              <a:t>conjugate fault</a:t>
            </a:r>
            <a:r>
              <a:rPr lang="en-GB" altLang="en-US" sz="1700">
                <a:effectLst/>
              </a:rPr>
              <a:t> orientation). These are </a:t>
            </a:r>
            <a:r>
              <a:rPr lang="en-GB" altLang="en-US" sz="1700">
                <a:solidFill>
                  <a:srgbClr val="FF6600"/>
                </a:solidFill>
                <a:effectLst/>
              </a:rPr>
              <a:t>back-thrusts</a:t>
            </a:r>
          </a:p>
        </p:txBody>
      </p:sp>
      <p:pic>
        <p:nvPicPr>
          <p:cNvPr id="288778" name="Picture 2" descr="GR10.jpg">
            <a:extLst>
              <a:ext uri="{FF2B5EF4-FFF2-40B4-BE49-F238E27FC236}">
                <a16:creationId xmlns:a16="http://schemas.microsoft.com/office/drawing/2014/main" id="{47EF68C2-21C6-4411-BBAD-704E62F7C9DC}"/>
              </a:ext>
            </a:extLst>
          </p:cNvPr>
          <p:cNvPicPr>
            <a:picLocks noGrp="1" noChangeAspect="1"/>
          </p:cNvPicPr>
          <p:nvPr>
            <p:ph sz="quarter" idx="2"/>
          </p:nvPr>
        </p:nvPicPr>
        <p:blipFill>
          <a:blip r:embed="rId3">
            <a:extLst>
              <a:ext uri="{28A0092B-C50C-407E-A947-70E740481C1C}">
                <a14:useLocalDpi xmlns:a14="http://schemas.microsoft.com/office/drawing/2010/main" val="0"/>
              </a:ext>
            </a:extLst>
          </a:blip>
          <a:srcRect t="42398" r="69681"/>
          <a:stretch>
            <a:fillRect/>
          </a:stretch>
        </p:blipFill>
        <p:spPr>
          <a:xfrm>
            <a:off x="5730875" y="922338"/>
            <a:ext cx="3098800" cy="1092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8780" name="Picture 2" descr="GR10.jpg">
            <a:extLst>
              <a:ext uri="{FF2B5EF4-FFF2-40B4-BE49-F238E27FC236}">
                <a16:creationId xmlns:a16="http://schemas.microsoft.com/office/drawing/2014/main" id="{CD6EA5DF-57A7-4227-AAC0-AE49BCCCE7BA}"/>
              </a:ext>
            </a:extLst>
          </p:cNvPr>
          <p:cNvPicPr>
            <a:picLocks noGrp="1" noChangeAspect="1"/>
          </p:cNvPicPr>
          <p:nvPr>
            <p:ph sz="quarter" idx="3"/>
          </p:nvPr>
        </p:nvPicPr>
        <p:blipFill>
          <a:blip r:embed="rId3">
            <a:extLst>
              <a:ext uri="{28A0092B-C50C-407E-A947-70E740481C1C}">
                <a14:useLocalDpi xmlns:a14="http://schemas.microsoft.com/office/drawing/2010/main" val="0"/>
              </a:ext>
            </a:extLst>
          </a:blip>
          <a:srcRect l="35245"/>
          <a:stretch>
            <a:fillRect/>
          </a:stretch>
        </p:blipFill>
        <p:spPr>
          <a:xfrm>
            <a:off x="596900" y="4529138"/>
            <a:ext cx="6107113" cy="17510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8782" name="Picture 14">
            <a:extLst>
              <a:ext uri="{FF2B5EF4-FFF2-40B4-BE49-F238E27FC236}">
                <a16:creationId xmlns:a16="http://schemas.microsoft.com/office/drawing/2014/main" id="{D2E794AE-3920-4ACE-89B5-0452BE1341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9788" y="3054350"/>
            <a:ext cx="3789362" cy="1160463"/>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8783" name="Text Box 15">
            <a:extLst>
              <a:ext uri="{FF2B5EF4-FFF2-40B4-BE49-F238E27FC236}">
                <a16:creationId xmlns:a16="http://schemas.microsoft.com/office/drawing/2014/main" id="{055AAD9B-A19B-4334-B67C-4281AAE791FF}"/>
              </a:ext>
            </a:extLst>
          </p:cNvPr>
          <p:cNvSpPr txBox="1">
            <a:spLocks noChangeArrowheads="1"/>
          </p:cNvSpPr>
          <p:nvPr/>
        </p:nvSpPr>
        <p:spPr bwMode="auto">
          <a:xfrm>
            <a:off x="114300" y="2209800"/>
            <a:ext cx="885825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Combinations of thrusts and back-thrusts with the same floor thrust delimit </a:t>
            </a:r>
            <a:r>
              <a:rPr lang="en-GB" altLang="en-US" sz="1700">
                <a:solidFill>
                  <a:srgbClr val="FF6600"/>
                </a:solidFill>
                <a:effectLst>
                  <a:outerShdw blurRad="38100" dist="38100" dir="2700000" algn="tl">
                    <a:srgbClr val="000000"/>
                  </a:outerShdw>
                </a:effectLst>
                <a:latin typeface="Arial" panose="020B0604020202020204" pitchFamily="34" charset="0"/>
              </a:rPr>
              <a:t>pop-ups</a:t>
            </a:r>
            <a:r>
              <a:rPr lang="en-GB" altLang="en-US" sz="1700">
                <a:effectLst>
                  <a:outerShdw blurRad="38100" dist="38100" dir="2700000" algn="tl">
                    <a:srgbClr val="000000"/>
                  </a:outerShdw>
                </a:effectLst>
                <a:latin typeface="Arial" panose="020B0604020202020204" pitchFamily="34" charset="0"/>
              </a:rPr>
              <a:t> (left) and </a:t>
            </a:r>
            <a:r>
              <a:rPr lang="en-GB" altLang="en-US" sz="1700">
                <a:solidFill>
                  <a:srgbClr val="FF6600"/>
                </a:solidFill>
                <a:effectLst>
                  <a:outerShdw blurRad="38100" dist="38100" dir="2700000" algn="tl">
                    <a:srgbClr val="000000"/>
                  </a:outerShdw>
                </a:effectLst>
                <a:latin typeface="Arial" panose="020B0604020202020204" pitchFamily="34" charset="0"/>
              </a:rPr>
              <a:t>triangle zones</a:t>
            </a:r>
            <a:r>
              <a:rPr lang="en-GB" altLang="en-US" sz="1700">
                <a:effectLst>
                  <a:outerShdw blurRad="38100" dist="38100" dir="2700000" algn="tl">
                    <a:srgbClr val="000000"/>
                  </a:outerShdw>
                </a:effectLst>
                <a:latin typeface="Arial" panose="020B0604020202020204" pitchFamily="34" charset="0"/>
              </a:rPr>
              <a:t> (right)</a:t>
            </a:r>
          </a:p>
        </p:txBody>
      </p:sp>
      <p:pic>
        <p:nvPicPr>
          <p:cNvPr id="288784" name="Picture 16">
            <a:extLst>
              <a:ext uri="{FF2B5EF4-FFF2-40B4-BE49-F238E27FC236}">
                <a16:creationId xmlns:a16="http://schemas.microsoft.com/office/drawing/2014/main" id="{E476B0E1-5C95-491A-AC77-6138F626C6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5188" y="3054350"/>
            <a:ext cx="2982912" cy="113982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8785" name="Text Box 17">
            <a:extLst>
              <a:ext uri="{FF2B5EF4-FFF2-40B4-BE49-F238E27FC236}">
                <a16:creationId xmlns:a16="http://schemas.microsoft.com/office/drawing/2014/main" id="{A372E767-2309-4A26-B055-FE37FE1E3410}"/>
              </a:ext>
            </a:extLst>
          </p:cNvPr>
          <p:cNvSpPr txBox="1">
            <a:spLocks noChangeArrowheads="1"/>
          </p:cNvSpPr>
          <p:nvPr/>
        </p:nvSpPr>
        <p:spPr bwMode="auto">
          <a:xfrm>
            <a:off x="723900" y="6348413"/>
            <a:ext cx="16573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0"/>
              </a:spcBef>
            </a:pPr>
            <a:r>
              <a:rPr lang="en-GB" altLang="en-US">
                <a:solidFill>
                  <a:srgbClr val="FFFF00"/>
                </a:solidFill>
                <a:effectLst>
                  <a:outerShdw blurRad="38100" dist="38100" dir="2700000" algn="tl">
                    <a:srgbClr val="000000"/>
                  </a:outerShdw>
                </a:effectLst>
                <a:latin typeface="Arial" panose="020B0604020202020204" pitchFamily="34" charset="0"/>
              </a:rPr>
              <a:t>triangle zone</a:t>
            </a:r>
          </a:p>
        </p:txBody>
      </p:sp>
      <p:sp>
        <p:nvSpPr>
          <p:cNvPr id="288786" name="Text Box 18">
            <a:extLst>
              <a:ext uri="{FF2B5EF4-FFF2-40B4-BE49-F238E27FC236}">
                <a16:creationId xmlns:a16="http://schemas.microsoft.com/office/drawing/2014/main" id="{5527C169-07B9-49CC-99B2-29FC4315700E}"/>
              </a:ext>
            </a:extLst>
          </p:cNvPr>
          <p:cNvSpPr txBox="1">
            <a:spLocks noChangeArrowheads="1"/>
          </p:cNvSpPr>
          <p:nvPr/>
        </p:nvSpPr>
        <p:spPr bwMode="auto">
          <a:xfrm>
            <a:off x="3292475" y="6348413"/>
            <a:ext cx="8953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0"/>
              </a:spcBef>
            </a:pPr>
            <a:r>
              <a:rPr lang="en-GB" altLang="en-US">
                <a:solidFill>
                  <a:srgbClr val="FFFF00"/>
                </a:solidFill>
                <a:effectLst>
                  <a:outerShdw blurRad="38100" dist="38100" dir="2700000" algn="tl">
                    <a:srgbClr val="000000"/>
                  </a:outerShdw>
                </a:effectLst>
                <a:latin typeface="Arial" panose="020B0604020202020204" pitchFamily="34" charset="0"/>
              </a:rPr>
              <a:t>pop-up</a:t>
            </a:r>
          </a:p>
        </p:txBody>
      </p:sp>
      <p:sp>
        <p:nvSpPr>
          <p:cNvPr id="288788" name="Line 20">
            <a:extLst>
              <a:ext uri="{FF2B5EF4-FFF2-40B4-BE49-F238E27FC236}">
                <a16:creationId xmlns:a16="http://schemas.microsoft.com/office/drawing/2014/main" id="{73847058-2BF7-4EA0-9769-33B8D80D058F}"/>
              </a:ext>
            </a:extLst>
          </p:cNvPr>
          <p:cNvSpPr>
            <a:spLocks noChangeShapeType="1"/>
          </p:cNvSpPr>
          <p:nvPr/>
        </p:nvSpPr>
        <p:spPr bwMode="auto">
          <a:xfrm flipH="1" flipV="1">
            <a:off x="3543300" y="5554663"/>
            <a:ext cx="142875" cy="8572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8789" name="Line 21">
            <a:extLst>
              <a:ext uri="{FF2B5EF4-FFF2-40B4-BE49-F238E27FC236}">
                <a16:creationId xmlns:a16="http://schemas.microsoft.com/office/drawing/2014/main" id="{3A15FBFB-F828-4DD3-99E2-5456377CA01B}"/>
              </a:ext>
            </a:extLst>
          </p:cNvPr>
          <p:cNvSpPr>
            <a:spLocks noChangeShapeType="1"/>
          </p:cNvSpPr>
          <p:nvPr/>
        </p:nvSpPr>
        <p:spPr bwMode="auto">
          <a:xfrm flipV="1">
            <a:off x="1562100" y="5916613"/>
            <a:ext cx="247650" cy="4953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8792" name="Text Box 24">
            <a:extLst>
              <a:ext uri="{FF2B5EF4-FFF2-40B4-BE49-F238E27FC236}">
                <a16:creationId xmlns:a16="http://schemas.microsoft.com/office/drawing/2014/main" id="{970F51BA-C978-4CA8-977E-33214BCF9E7D}"/>
              </a:ext>
            </a:extLst>
          </p:cNvPr>
          <p:cNvSpPr txBox="1">
            <a:spLocks noChangeArrowheads="1"/>
          </p:cNvSpPr>
          <p:nvPr/>
        </p:nvSpPr>
        <p:spPr bwMode="auto">
          <a:xfrm>
            <a:off x="6905625" y="5095875"/>
            <a:ext cx="1933575"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Back thrusts above a ramp in a section from north of Oslo, Norway</a:t>
            </a:r>
          </a:p>
        </p:txBody>
      </p:sp>
      <p:sp>
        <p:nvSpPr>
          <p:cNvPr id="288794" name="Line 26">
            <a:extLst>
              <a:ext uri="{FF2B5EF4-FFF2-40B4-BE49-F238E27FC236}">
                <a16:creationId xmlns:a16="http://schemas.microsoft.com/office/drawing/2014/main" id="{625183A7-7AA1-4726-906B-802CBDCF9387}"/>
              </a:ext>
            </a:extLst>
          </p:cNvPr>
          <p:cNvSpPr>
            <a:spLocks noChangeShapeType="1"/>
          </p:cNvSpPr>
          <p:nvPr/>
        </p:nvSpPr>
        <p:spPr bwMode="auto">
          <a:xfrm flipV="1">
            <a:off x="5797550" y="1674813"/>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8795" name="Line 27">
            <a:extLst>
              <a:ext uri="{FF2B5EF4-FFF2-40B4-BE49-F238E27FC236}">
                <a16:creationId xmlns:a16="http://schemas.microsoft.com/office/drawing/2014/main" id="{74376988-F767-4326-B500-69F50CB91120}"/>
              </a:ext>
            </a:extLst>
          </p:cNvPr>
          <p:cNvSpPr>
            <a:spLocks noChangeShapeType="1"/>
          </p:cNvSpPr>
          <p:nvPr/>
        </p:nvSpPr>
        <p:spPr bwMode="auto">
          <a:xfrm flipV="1">
            <a:off x="447675" y="3678238"/>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8796" name="Line 28">
            <a:extLst>
              <a:ext uri="{FF2B5EF4-FFF2-40B4-BE49-F238E27FC236}">
                <a16:creationId xmlns:a16="http://schemas.microsoft.com/office/drawing/2014/main" id="{1D3AC0A3-1C0D-4936-A745-9F2FB7D392FD}"/>
              </a:ext>
            </a:extLst>
          </p:cNvPr>
          <p:cNvSpPr>
            <a:spLocks noChangeShapeType="1"/>
          </p:cNvSpPr>
          <p:nvPr/>
        </p:nvSpPr>
        <p:spPr bwMode="auto">
          <a:xfrm flipV="1">
            <a:off x="4240213" y="3616325"/>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8797" name="Line 29">
            <a:extLst>
              <a:ext uri="{FF2B5EF4-FFF2-40B4-BE49-F238E27FC236}">
                <a16:creationId xmlns:a16="http://schemas.microsoft.com/office/drawing/2014/main" id="{BA20F3CA-D0B1-4F3A-A192-47909214C212}"/>
              </a:ext>
            </a:extLst>
          </p:cNvPr>
          <p:cNvSpPr>
            <a:spLocks noChangeShapeType="1"/>
          </p:cNvSpPr>
          <p:nvPr/>
        </p:nvSpPr>
        <p:spPr bwMode="auto">
          <a:xfrm flipV="1">
            <a:off x="139700" y="5815013"/>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0829" name="Picture 13" descr="10a1">
            <a:extLst>
              <a:ext uri="{FF2B5EF4-FFF2-40B4-BE49-F238E27FC236}">
                <a16:creationId xmlns:a16="http://schemas.microsoft.com/office/drawing/2014/main" id="{CB469B5B-0424-430E-9A86-591A5C056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 y="938213"/>
            <a:ext cx="3494088" cy="39766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90830" name="Picture 14" descr="10a2">
            <a:extLst>
              <a:ext uri="{FF2B5EF4-FFF2-40B4-BE49-F238E27FC236}">
                <a16:creationId xmlns:a16="http://schemas.microsoft.com/office/drawing/2014/main" id="{48137604-6835-497B-8C0A-F1838ECDED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4925" y="3736975"/>
            <a:ext cx="5175250" cy="18827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90818" name="Rectangle 2">
            <a:extLst>
              <a:ext uri="{FF2B5EF4-FFF2-40B4-BE49-F238E27FC236}">
                <a16:creationId xmlns:a16="http://schemas.microsoft.com/office/drawing/2014/main" id="{385260D0-1D82-4DD6-8E48-C6267517CF61}"/>
              </a:ext>
            </a:extLst>
          </p:cNvPr>
          <p:cNvSpPr>
            <a:spLocks noGrp="1" noChangeArrowheads="1"/>
          </p:cNvSpPr>
          <p:nvPr>
            <p:ph type="title"/>
          </p:nvPr>
        </p:nvSpPr>
        <p:spPr>
          <a:noFill/>
        </p:spPr>
        <p:txBody>
          <a:bodyPr/>
          <a:lstStyle/>
          <a:p>
            <a:r>
              <a:rPr lang="en-GB" altLang="en-US">
                <a:effectLst/>
              </a:rPr>
              <a:t>Passive roof duplexes</a:t>
            </a:r>
          </a:p>
        </p:txBody>
      </p:sp>
      <p:sp>
        <p:nvSpPr>
          <p:cNvPr id="290819" name="Rectangle 3">
            <a:extLst>
              <a:ext uri="{FF2B5EF4-FFF2-40B4-BE49-F238E27FC236}">
                <a16:creationId xmlns:a16="http://schemas.microsoft.com/office/drawing/2014/main" id="{AB7CC67C-2131-455A-A259-94186C90CD45}"/>
              </a:ext>
            </a:extLst>
          </p:cNvPr>
          <p:cNvSpPr>
            <a:spLocks noGrp="1" noChangeArrowheads="1"/>
          </p:cNvSpPr>
          <p:nvPr>
            <p:ph type="body" sz="half" idx="1"/>
          </p:nvPr>
        </p:nvSpPr>
        <p:spPr>
          <a:xfrm>
            <a:off x="3979863" y="860425"/>
            <a:ext cx="4976812" cy="2547938"/>
          </a:xfrm>
          <a:noFill/>
        </p:spPr>
        <p:txBody>
          <a:bodyPr/>
          <a:lstStyle/>
          <a:p>
            <a:pPr marL="177800" indent="-177800">
              <a:spcBef>
                <a:spcPct val="75000"/>
              </a:spcBef>
            </a:pPr>
            <a:r>
              <a:rPr lang="en-GB" altLang="en-US" sz="1700" dirty="0">
                <a:effectLst/>
              </a:rPr>
              <a:t>In circumstances where a duplex </a:t>
            </a:r>
            <a:r>
              <a:rPr lang="en-GB" altLang="en-US" sz="1700" dirty="0">
                <a:solidFill>
                  <a:srgbClr val="FF66CC"/>
                </a:solidFill>
                <a:effectLst/>
              </a:rPr>
              <a:t>underthrusts</a:t>
            </a:r>
            <a:r>
              <a:rPr lang="en-GB" altLang="en-US" sz="1700" dirty="0">
                <a:effectLst/>
              </a:rPr>
              <a:t> the foreland so that the overlying units are not themselves displaced laterally, the roof thrust is described as a </a:t>
            </a:r>
            <a:r>
              <a:rPr lang="en-GB" altLang="en-US" sz="1700" dirty="0">
                <a:solidFill>
                  <a:srgbClr val="FF6600"/>
                </a:solidFill>
                <a:effectLst/>
              </a:rPr>
              <a:t>passive roof thrust</a:t>
            </a:r>
            <a:r>
              <a:rPr lang="en-GB" altLang="en-US" sz="1700" dirty="0">
                <a:effectLst/>
              </a:rPr>
              <a:t>, and the duplex as a </a:t>
            </a:r>
            <a:r>
              <a:rPr lang="en-GB" altLang="en-US" sz="1700" dirty="0">
                <a:solidFill>
                  <a:srgbClr val="FF6600"/>
                </a:solidFill>
                <a:effectLst/>
              </a:rPr>
              <a:t>passive roof duplex</a:t>
            </a:r>
          </a:p>
          <a:p>
            <a:pPr marL="177800" indent="-177800">
              <a:spcBef>
                <a:spcPct val="75000"/>
              </a:spcBef>
            </a:pPr>
            <a:r>
              <a:rPr lang="en-GB" altLang="en-US" sz="1700" dirty="0">
                <a:effectLst/>
              </a:rPr>
              <a:t>This is effectively a </a:t>
            </a:r>
            <a:r>
              <a:rPr lang="en-GB" altLang="en-US" sz="1700" dirty="0">
                <a:solidFill>
                  <a:srgbClr val="FF66CC"/>
                </a:solidFill>
                <a:effectLst/>
              </a:rPr>
              <a:t>tectonic delamination</a:t>
            </a:r>
            <a:r>
              <a:rPr lang="en-GB" altLang="en-US" sz="1700" dirty="0">
                <a:effectLst/>
              </a:rPr>
              <a:t> process</a:t>
            </a:r>
            <a:endParaRPr lang="en-GB" altLang="en-US" sz="1700" dirty="0">
              <a:solidFill>
                <a:srgbClr val="FF66CC"/>
              </a:solidFill>
              <a:effectLst/>
            </a:endParaRPr>
          </a:p>
        </p:txBody>
      </p:sp>
      <p:sp>
        <p:nvSpPr>
          <p:cNvPr id="290824" name="Text Box 8">
            <a:extLst>
              <a:ext uri="{FF2B5EF4-FFF2-40B4-BE49-F238E27FC236}">
                <a16:creationId xmlns:a16="http://schemas.microsoft.com/office/drawing/2014/main" id="{0606BBF3-4FBB-42D6-B2BD-99C29913AFDC}"/>
              </a:ext>
            </a:extLst>
          </p:cNvPr>
          <p:cNvSpPr txBox="1">
            <a:spLocks noChangeArrowheads="1"/>
          </p:cNvSpPr>
          <p:nvPr/>
        </p:nvSpPr>
        <p:spPr bwMode="auto">
          <a:xfrm>
            <a:off x="438150" y="4924425"/>
            <a:ext cx="2962275"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Development of a sequence of passive back-thrusts</a:t>
            </a:r>
          </a:p>
        </p:txBody>
      </p:sp>
      <p:sp>
        <p:nvSpPr>
          <p:cNvPr id="290825" name="Text Box 9">
            <a:extLst>
              <a:ext uri="{FF2B5EF4-FFF2-40B4-BE49-F238E27FC236}">
                <a16:creationId xmlns:a16="http://schemas.microsoft.com/office/drawing/2014/main" id="{C69BF5B4-C2A8-40FA-B8E7-6EABCC5083C2}"/>
              </a:ext>
            </a:extLst>
          </p:cNvPr>
          <p:cNvSpPr txBox="1">
            <a:spLocks noChangeArrowheads="1"/>
          </p:cNvSpPr>
          <p:nvPr/>
        </p:nvSpPr>
        <p:spPr bwMode="auto">
          <a:xfrm>
            <a:off x="4159250" y="5740400"/>
            <a:ext cx="45720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An example from the Athabasca Valley foothills, eastern Rocky Mountains</a:t>
            </a:r>
          </a:p>
        </p:txBody>
      </p:sp>
      <p:sp>
        <p:nvSpPr>
          <p:cNvPr id="290827" name="Line 11">
            <a:extLst>
              <a:ext uri="{FF2B5EF4-FFF2-40B4-BE49-F238E27FC236}">
                <a16:creationId xmlns:a16="http://schemas.microsoft.com/office/drawing/2014/main" id="{1EDC7E59-1A41-4A32-97AF-F303F5ED8994}"/>
              </a:ext>
            </a:extLst>
          </p:cNvPr>
          <p:cNvSpPr>
            <a:spLocks noChangeShapeType="1"/>
          </p:cNvSpPr>
          <p:nvPr/>
        </p:nvSpPr>
        <p:spPr bwMode="auto">
          <a:xfrm flipV="1">
            <a:off x="282575" y="2446338"/>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0828" name="Line 12">
            <a:extLst>
              <a:ext uri="{FF2B5EF4-FFF2-40B4-BE49-F238E27FC236}">
                <a16:creationId xmlns:a16="http://schemas.microsoft.com/office/drawing/2014/main" id="{B8DEC37D-6CF1-4778-ABC2-39AD452E743F}"/>
              </a:ext>
            </a:extLst>
          </p:cNvPr>
          <p:cNvSpPr>
            <a:spLocks noChangeShapeType="1"/>
          </p:cNvSpPr>
          <p:nvPr/>
        </p:nvSpPr>
        <p:spPr bwMode="auto">
          <a:xfrm flipV="1">
            <a:off x="4319588" y="3935413"/>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a:extLst>
              <a:ext uri="{FF2B5EF4-FFF2-40B4-BE49-F238E27FC236}">
                <a16:creationId xmlns:a16="http://schemas.microsoft.com/office/drawing/2014/main" id="{FB77F98D-C72C-44D1-B542-689824603735}"/>
              </a:ext>
            </a:extLst>
          </p:cNvPr>
          <p:cNvSpPr>
            <a:spLocks noGrp="1" noChangeArrowheads="1"/>
          </p:cNvSpPr>
          <p:nvPr>
            <p:ph type="title"/>
          </p:nvPr>
        </p:nvSpPr>
        <p:spPr>
          <a:noFill/>
        </p:spPr>
        <p:txBody>
          <a:bodyPr/>
          <a:lstStyle/>
          <a:p>
            <a:r>
              <a:rPr lang="en-GB" altLang="en-US">
                <a:effectLst/>
              </a:rPr>
              <a:t>Summary of some of the key terms</a:t>
            </a:r>
          </a:p>
        </p:txBody>
      </p:sp>
      <p:pic>
        <p:nvPicPr>
          <p:cNvPr id="352274" name="Picture 18" descr="11a1">
            <a:extLst>
              <a:ext uri="{FF2B5EF4-FFF2-40B4-BE49-F238E27FC236}">
                <a16:creationId xmlns:a16="http://schemas.microsoft.com/office/drawing/2014/main" id="{389E1CE7-78C3-4627-A4AB-72DF8C0AEAEE}"/>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95275" y="1090613"/>
            <a:ext cx="8586788" cy="29987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52276" name="Picture 20" descr="11a2">
            <a:extLst>
              <a:ext uri="{FF2B5EF4-FFF2-40B4-BE49-F238E27FC236}">
                <a16:creationId xmlns:a16="http://schemas.microsoft.com/office/drawing/2014/main" id="{A3DCF9AA-D9F4-48F4-8063-ED1542E17937}"/>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147638" y="4552950"/>
            <a:ext cx="8845550" cy="15049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a:extLst>
              <a:ext uri="{FF2B5EF4-FFF2-40B4-BE49-F238E27FC236}">
                <a16:creationId xmlns:a16="http://schemas.microsoft.com/office/drawing/2014/main" id="{4B14CC00-82FA-484B-990E-AE2D2890E19F}"/>
              </a:ext>
            </a:extLst>
          </p:cNvPr>
          <p:cNvSpPr>
            <a:spLocks noGrp="1" noChangeArrowheads="1"/>
          </p:cNvSpPr>
          <p:nvPr>
            <p:ph type="title"/>
          </p:nvPr>
        </p:nvSpPr>
        <p:spPr>
          <a:noFill/>
        </p:spPr>
        <p:txBody>
          <a:bodyPr/>
          <a:lstStyle/>
          <a:p>
            <a:r>
              <a:rPr lang="en-GB" altLang="en-US">
                <a:effectLst/>
              </a:rPr>
              <a:t>Unravelling sequences</a:t>
            </a:r>
          </a:p>
        </p:txBody>
      </p:sp>
      <p:sp>
        <p:nvSpPr>
          <p:cNvPr id="299011" name="Rectangle 3">
            <a:extLst>
              <a:ext uri="{FF2B5EF4-FFF2-40B4-BE49-F238E27FC236}">
                <a16:creationId xmlns:a16="http://schemas.microsoft.com/office/drawing/2014/main" id="{A22B6965-675B-4A60-A902-5F754C5D3C26}"/>
              </a:ext>
            </a:extLst>
          </p:cNvPr>
          <p:cNvSpPr>
            <a:spLocks noGrp="1" noChangeArrowheads="1"/>
          </p:cNvSpPr>
          <p:nvPr>
            <p:ph type="body" sz="half" idx="1"/>
          </p:nvPr>
        </p:nvSpPr>
        <p:spPr>
          <a:xfrm>
            <a:off x="417513" y="3965575"/>
            <a:ext cx="8310562" cy="2681288"/>
          </a:xfrm>
          <a:noFill/>
        </p:spPr>
        <p:txBody>
          <a:bodyPr/>
          <a:lstStyle/>
          <a:p>
            <a:pPr marL="177800" indent="-177800">
              <a:spcBef>
                <a:spcPct val="75000"/>
              </a:spcBef>
            </a:pPr>
            <a:r>
              <a:rPr lang="en-GB" altLang="en-US" sz="1700" dirty="0">
                <a:effectLst/>
              </a:rPr>
              <a:t>With care, the </a:t>
            </a:r>
            <a:r>
              <a:rPr lang="en-GB" altLang="en-US" sz="1700" dirty="0">
                <a:solidFill>
                  <a:srgbClr val="FF6600"/>
                </a:solidFill>
                <a:effectLst/>
              </a:rPr>
              <a:t>sequence of thrusting</a:t>
            </a:r>
            <a:r>
              <a:rPr lang="en-GB" altLang="en-US" sz="1700" dirty="0">
                <a:effectLst/>
              </a:rPr>
              <a:t> may be determined. In the section shown here of the </a:t>
            </a:r>
            <a:r>
              <a:rPr lang="en-GB" altLang="en-US" sz="1700" dirty="0" err="1">
                <a:effectLst/>
              </a:rPr>
              <a:t>Waterton</a:t>
            </a:r>
            <a:r>
              <a:rPr lang="en-GB" altLang="en-US" sz="1700" dirty="0">
                <a:effectLst/>
              </a:rPr>
              <a:t> oil field (southern Alberta, Canada), the Lewis thrust is the floor thrust and the Mount Crandell thrust the roof thrust to a hinterland-dipping duplex cum antiformal stack</a:t>
            </a:r>
          </a:p>
          <a:p>
            <a:pPr marL="177800" indent="-177800">
              <a:spcBef>
                <a:spcPct val="50000"/>
              </a:spcBef>
            </a:pPr>
            <a:r>
              <a:rPr lang="en-GB" altLang="en-US" sz="1700" dirty="0">
                <a:effectLst/>
              </a:rPr>
              <a:t>Foreland propagation (here to the right) is implied by the fact that higher thrust</a:t>
            </a:r>
            <a:r>
              <a:rPr lang="en-GB" altLang="en-US" sz="1700" spc="300" dirty="0">
                <a:effectLst/>
              </a:rPr>
              <a:t>s</a:t>
            </a:r>
            <a:r>
              <a:rPr lang="en-GB" altLang="en-US" sz="1700" dirty="0">
                <a:effectLst/>
              </a:rPr>
              <a:t>/</a:t>
            </a:r>
            <a:r>
              <a:rPr lang="en-GB" altLang="en-US" sz="800" dirty="0">
                <a:effectLst/>
              </a:rPr>
              <a:t> </a:t>
            </a:r>
            <a:r>
              <a:rPr lang="en-GB" altLang="en-US" sz="1700" dirty="0">
                <a:effectLst/>
              </a:rPr>
              <a:t>horses in the duplex are </a:t>
            </a:r>
            <a:r>
              <a:rPr lang="en-GB" altLang="en-US" sz="1700" dirty="0">
                <a:solidFill>
                  <a:srgbClr val="FF66FF"/>
                </a:solidFill>
                <a:effectLst/>
              </a:rPr>
              <a:t>folded over the ramps</a:t>
            </a:r>
            <a:r>
              <a:rPr lang="en-GB" altLang="en-US" sz="1700" dirty="0">
                <a:effectLst/>
              </a:rPr>
              <a:t> </a:t>
            </a:r>
            <a:r>
              <a:rPr lang="en-GB" altLang="en-US" sz="1700" dirty="0">
                <a:solidFill>
                  <a:srgbClr val="FF66FF"/>
                </a:solidFill>
                <a:effectLst/>
              </a:rPr>
              <a:t>and horses</a:t>
            </a:r>
            <a:r>
              <a:rPr lang="en-GB" altLang="en-US" sz="1700" dirty="0">
                <a:effectLst/>
              </a:rPr>
              <a:t> in the lower part of the section and so must be earlier</a:t>
            </a:r>
            <a:endParaRPr lang="en-GB" altLang="en-US" sz="1700" dirty="0">
              <a:solidFill>
                <a:srgbClr val="FF66CC"/>
              </a:solidFill>
              <a:effectLst/>
            </a:endParaRPr>
          </a:p>
        </p:txBody>
      </p:sp>
      <p:pic>
        <p:nvPicPr>
          <p:cNvPr id="299015" name="Picture 7" descr="05a">
            <a:extLst>
              <a:ext uri="{FF2B5EF4-FFF2-40B4-BE49-F238E27FC236}">
                <a16:creationId xmlns:a16="http://schemas.microsoft.com/office/drawing/2014/main" id="{79D40FE7-9658-4554-827A-C34DD1F4424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12750" y="1177925"/>
            <a:ext cx="8482013" cy="25384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9017" name="Line 9">
            <a:extLst>
              <a:ext uri="{FF2B5EF4-FFF2-40B4-BE49-F238E27FC236}">
                <a16:creationId xmlns:a16="http://schemas.microsoft.com/office/drawing/2014/main" id="{7201E3BF-E475-4A80-A0C8-98E020485913}"/>
              </a:ext>
            </a:extLst>
          </p:cNvPr>
          <p:cNvSpPr>
            <a:spLocks noChangeShapeType="1"/>
          </p:cNvSpPr>
          <p:nvPr/>
        </p:nvSpPr>
        <p:spPr bwMode="auto">
          <a:xfrm flipV="1">
            <a:off x="754063" y="2743200"/>
            <a:ext cx="328612"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6828501A-514D-411C-B49B-CED59E3A7378}"/>
              </a:ext>
            </a:extLst>
          </p:cNvPr>
          <p:cNvSpPr>
            <a:spLocks noGrp="1" noChangeArrowheads="1"/>
          </p:cNvSpPr>
          <p:nvPr>
            <p:ph type="title"/>
          </p:nvPr>
        </p:nvSpPr>
        <p:spPr>
          <a:noFill/>
        </p:spPr>
        <p:txBody>
          <a:bodyPr/>
          <a:lstStyle/>
          <a:p>
            <a:r>
              <a:rPr lang="en-GB" altLang="en-US">
                <a:effectLst/>
              </a:rPr>
              <a:t>Unravelling sequences  2</a:t>
            </a:r>
          </a:p>
        </p:txBody>
      </p:sp>
      <p:sp>
        <p:nvSpPr>
          <p:cNvPr id="310275" name="Rectangle 3">
            <a:extLst>
              <a:ext uri="{FF2B5EF4-FFF2-40B4-BE49-F238E27FC236}">
                <a16:creationId xmlns:a16="http://schemas.microsoft.com/office/drawing/2014/main" id="{B70ACE0E-5B48-4294-AE36-41A25F55ACB7}"/>
              </a:ext>
            </a:extLst>
          </p:cNvPr>
          <p:cNvSpPr>
            <a:spLocks noGrp="1" noChangeArrowheads="1"/>
          </p:cNvSpPr>
          <p:nvPr>
            <p:ph type="body" sz="half" idx="1"/>
          </p:nvPr>
        </p:nvSpPr>
        <p:spPr>
          <a:xfrm>
            <a:off x="6548438" y="936625"/>
            <a:ext cx="2414587" cy="5700713"/>
          </a:xfrm>
          <a:noFill/>
        </p:spPr>
        <p:txBody>
          <a:bodyPr/>
          <a:lstStyle/>
          <a:p>
            <a:pPr marL="177800" indent="-177800">
              <a:spcBef>
                <a:spcPct val="75000"/>
              </a:spcBef>
            </a:pPr>
            <a:r>
              <a:rPr lang="en-GB" altLang="en-US" sz="1700">
                <a:effectLst/>
              </a:rPr>
              <a:t>In other cases, where horses are squeezed out of position like a pip (</a:t>
            </a:r>
            <a:r>
              <a:rPr lang="en-GB" altLang="en-US" sz="1700">
                <a:solidFill>
                  <a:srgbClr val="FF66CC"/>
                </a:solidFill>
                <a:effectLst/>
              </a:rPr>
              <a:t>far-travelled horses</a:t>
            </a:r>
            <a:r>
              <a:rPr lang="en-GB" altLang="en-US" sz="1700">
                <a:effectLst/>
              </a:rPr>
              <a:t>), reconstructing the thrust sequence may be a considerable challenge (perhaps the most difficult mapping challenge there is)</a:t>
            </a:r>
            <a:endParaRPr lang="en-GB" altLang="en-US" sz="1700">
              <a:solidFill>
                <a:srgbClr val="FF66CC"/>
              </a:solidFill>
              <a:effectLst/>
            </a:endParaRPr>
          </a:p>
        </p:txBody>
      </p:sp>
      <p:pic>
        <p:nvPicPr>
          <p:cNvPr id="310278" name="Picture 6" descr="05b">
            <a:extLst>
              <a:ext uri="{FF2B5EF4-FFF2-40B4-BE49-F238E27FC236}">
                <a16:creationId xmlns:a16="http://schemas.microsoft.com/office/drawing/2014/main" id="{23ED3652-F6A0-47A1-B24E-8945A6F3241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28613" y="939800"/>
            <a:ext cx="6086475" cy="56578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0280" name="Line 8">
            <a:extLst>
              <a:ext uri="{FF2B5EF4-FFF2-40B4-BE49-F238E27FC236}">
                <a16:creationId xmlns:a16="http://schemas.microsoft.com/office/drawing/2014/main" id="{768DA74E-E0E8-4DAD-9871-CD4AE7918F1A}"/>
              </a:ext>
            </a:extLst>
          </p:cNvPr>
          <p:cNvSpPr>
            <a:spLocks noChangeShapeType="1"/>
          </p:cNvSpPr>
          <p:nvPr/>
        </p:nvSpPr>
        <p:spPr bwMode="auto">
          <a:xfrm rot="10800000" flipV="1">
            <a:off x="6559550" y="5435600"/>
            <a:ext cx="328613" cy="95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0281" name="Text Box 9">
            <a:extLst>
              <a:ext uri="{FF2B5EF4-FFF2-40B4-BE49-F238E27FC236}">
                <a16:creationId xmlns:a16="http://schemas.microsoft.com/office/drawing/2014/main" id="{A77A8C81-3E72-4D6C-BEFC-4950E891A985}"/>
              </a:ext>
            </a:extLst>
          </p:cNvPr>
          <p:cNvSpPr txBox="1">
            <a:spLocks noChangeArrowheads="1"/>
          </p:cNvSpPr>
          <p:nvPr/>
        </p:nvSpPr>
        <p:spPr bwMode="auto">
          <a:xfrm>
            <a:off x="6554788" y="5784850"/>
            <a:ext cx="2241550" cy="85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Evolution of the ten horse Rangit duplex, part of the Lesser Himalayan duplex</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a:extLst>
              <a:ext uri="{FF2B5EF4-FFF2-40B4-BE49-F238E27FC236}">
                <a16:creationId xmlns:a16="http://schemas.microsoft.com/office/drawing/2014/main" id="{12DBCC6A-FBF6-4CA6-B513-4747A5BD06D1}"/>
              </a:ext>
            </a:extLst>
          </p:cNvPr>
          <p:cNvSpPr>
            <a:spLocks noGrp="1" noChangeArrowheads="1"/>
          </p:cNvSpPr>
          <p:nvPr>
            <p:ph type="title"/>
          </p:nvPr>
        </p:nvSpPr>
        <p:spPr>
          <a:noFill/>
        </p:spPr>
        <p:txBody>
          <a:bodyPr/>
          <a:lstStyle/>
          <a:p>
            <a:r>
              <a:rPr lang="en-GB" altLang="en-US" dirty="0">
                <a:effectLst/>
              </a:rPr>
              <a:t>Branch-lines</a:t>
            </a:r>
          </a:p>
        </p:txBody>
      </p:sp>
      <p:sp>
        <p:nvSpPr>
          <p:cNvPr id="303107" name="Rectangle 3">
            <a:extLst>
              <a:ext uri="{FF2B5EF4-FFF2-40B4-BE49-F238E27FC236}">
                <a16:creationId xmlns:a16="http://schemas.microsoft.com/office/drawing/2014/main" id="{74D3E571-487F-4389-9777-F5649E556C8B}"/>
              </a:ext>
            </a:extLst>
          </p:cNvPr>
          <p:cNvSpPr>
            <a:spLocks noGrp="1" noChangeArrowheads="1"/>
          </p:cNvSpPr>
          <p:nvPr>
            <p:ph type="body" sz="half" idx="1"/>
          </p:nvPr>
        </p:nvSpPr>
        <p:spPr>
          <a:xfrm>
            <a:off x="112713" y="784225"/>
            <a:ext cx="8805862" cy="804863"/>
          </a:xfrm>
          <a:noFill/>
        </p:spPr>
        <p:txBody>
          <a:bodyPr/>
          <a:lstStyle/>
          <a:p>
            <a:pPr marL="177800" indent="-177800">
              <a:spcBef>
                <a:spcPct val="75000"/>
              </a:spcBef>
            </a:pPr>
            <a:r>
              <a:rPr lang="en-GB" altLang="en-US" sz="1700" dirty="0">
                <a:effectLst/>
              </a:rPr>
              <a:t>No cross section though a thrust system should be constructed without considering how the individual faults link up to </a:t>
            </a:r>
            <a:r>
              <a:rPr lang="en-GB" altLang="en-US" sz="1700" dirty="0">
                <a:solidFill>
                  <a:srgbClr val="FF66CC"/>
                </a:solidFill>
                <a:effectLst/>
              </a:rPr>
              <a:t>form three-dimensional networks </a:t>
            </a:r>
            <a:r>
              <a:rPr lang="en-GB" altLang="en-US" sz="1700" dirty="0">
                <a:effectLst/>
              </a:rPr>
              <a:t>of faults</a:t>
            </a:r>
          </a:p>
        </p:txBody>
      </p:sp>
      <p:sp>
        <p:nvSpPr>
          <p:cNvPr id="303116" name="Text Box 12">
            <a:extLst>
              <a:ext uri="{FF2B5EF4-FFF2-40B4-BE49-F238E27FC236}">
                <a16:creationId xmlns:a16="http://schemas.microsoft.com/office/drawing/2014/main" id="{B764366E-8DBA-4A32-B44F-18367B6B9DB3}"/>
              </a:ext>
            </a:extLst>
          </p:cNvPr>
          <p:cNvSpPr txBox="1">
            <a:spLocks noChangeArrowheads="1"/>
          </p:cNvSpPr>
          <p:nvPr/>
        </p:nvSpPr>
        <p:spPr bwMode="auto">
          <a:xfrm>
            <a:off x="114300" y="1543050"/>
            <a:ext cx="3657600" cy="346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04800" indent="-304800">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5075" indent="-304800">
              <a:defRPr sz="1600">
                <a:solidFill>
                  <a:schemeClr val="tx1"/>
                </a:solidFill>
                <a:latin typeface="Helvetica" panose="020B0604020202020204" pitchFamily="34" charset="0"/>
              </a:defRPr>
            </a:lvl3pPr>
            <a:lvl4pPr marL="1719263" indent="-304800">
              <a:defRPr sz="1600">
                <a:solidFill>
                  <a:schemeClr val="tx1"/>
                </a:solidFill>
                <a:latin typeface="Helvetica" panose="020B0604020202020204" pitchFamily="34" charset="0"/>
              </a:defRPr>
            </a:lvl4pPr>
            <a:lvl5pPr marL="2203450" indent="-304800">
              <a:defRPr sz="1600">
                <a:solidFill>
                  <a:schemeClr val="tx1"/>
                </a:solidFill>
                <a:latin typeface="Helvetica" panose="020B0604020202020204" pitchFamily="34" charset="0"/>
              </a:defRPr>
            </a:lvl5pPr>
            <a:lvl6pPr marL="26606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78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50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322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Tip-lines</a:t>
            </a:r>
            <a:r>
              <a:rPr lang="en-GB" altLang="en-US" sz="1700" dirty="0">
                <a:effectLst>
                  <a:outerShdw blurRad="38100" dist="38100" dir="2700000" algn="tl">
                    <a:srgbClr val="000000"/>
                  </a:outerShdw>
                </a:effectLst>
                <a:latin typeface="Arial" panose="020B0604020202020204" pitchFamily="34" charset="0"/>
              </a:rPr>
              <a:t>: the line marking where fault displacement dies out</a:t>
            </a:r>
          </a:p>
          <a:p>
            <a:pPr>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Branch-lines</a:t>
            </a:r>
            <a:r>
              <a:rPr lang="en-GB" altLang="en-US" sz="1700" dirty="0">
                <a:effectLst>
                  <a:outerShdw blurRad="38100" dist="38100" dir="2700000" algn="tl">
                    <a:srgbClr val="000000"/>
                  </a:outerShdw>
                </a:effectLst>
                <a:latin typeface="Arial" panose="020B0604020202020204" pitchFamily="34" charset="0"/>
              </a:rPr>
              <a:t>: the line marking where a fault splits in two (</a:t>
            </a:r>
            <a:r>
              <a:rPr lang="en-GB" altLang="en-US" sz="1700" dirty="0">
                <a:solidFill>
                  <a:srgbClr val="FF66CC"/>
                </a:solidFill>
                <a:effectLst>
                  <a:outerShdw blurRad="38100" dist="38100" dir="2700000" algn="tl">
                    <a:srgbClr val="000000"/>
                  </a:outerShdw>
                </a:effectLst>
                <a:latin typeface="Arial" panose="020B0604020202020204" pitchFamily="34" charset="0"/>
              </a:rPr>
              <a:t>trailing branch-line</a:t>
            </a:r>
            <a:r>
              <a:rPr lang="en-GB" altLang="en-US" sz="1700" dirty="0">
                <a:effectLst>
                  <a:outerShdw blurRad="38100" dist="38100" dir="2700000" algn="tl">
                    <a:srgbClr val="000000"/>
                  </a:outerShdw>
                </a:effectLst>
                <a:latin typeface="Arial" panose="020B0604020202020204" pitchFamily="34" charset="0"/>
              </a:rPr>
              <a:t>) or where two faults merge (</a:t>
            </a:r>
            <a:r>
              <a:rPr lang="en-GB" altLang="en-US" sz="1700" dirty="0">
                <a:solidFill>
                  <a:srgbClr val="FF66CC"/>
                </a:solidFill>
                <a:effectLst>
                  <a:outerShdw blurRad="38100" dist="38100" dir="2700000" algn="tl">
                    <a:srgbClr val="000000"/>
                  </a:outerShdw>
                </a:effectLst>
                <a:latin typeface="Arial" panose="020B0604020202020204" pitchFamily="34" charset="0"/>
              </a:rPr>
              <a:t>leading branch-line</a:t>
            </a:r>
            <a:r>
              <a:rPr lang="en-GB" altLang="en-US" sz="1700" dirty="0">
                <a:effectLst>
                  <a:outerShdw blurRad="38100" dist="38100" dir="2700000" algn="tl">
                    <a:srgbClr val="000000"/>
                  </a:outerShdw>
                </a:effectLst>
                <a:latin typeface="Arial" panose="020B0604020202020204" pitchFamily="34" charset="0"/>
              </a:rPr>
              <a:t>)</a:t>
            </a:r>
          </a:p>
          <a:p>
            <a:pPr>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Cut-off lines</a:t>
            </a:r>
            <a:r>
              <a:rPr lang="en-GB" altLang="en-US" sz="1700" dirty="0">
                <a:effectLst>
                  <a:outerShdw blurRad="38100" dist="38100" dir="2700000" algn="tl">
                    <a:srgbClr val="000000"/>
                  </a:outerShdw>
                </a:effectLst>
                <a:latin typeface="Arial" panose="020B0604020202020204" pitchFamily="34" charset="0"/>
              </a:rPr>
              <a:t>: the line marking the intersection of some contact with the fault surface</a:t>
            </a:r>
          </a:p>
        </p:txBody>
      </p:sp>
      <p:sp>
        <p:nvSpPr>
          <p:cNvPr id="303117" name="Text Box 13">
            <a:extLst>
              <a:ext uri="{FF2B5EF4-FFF2-40B4-BE49-F238E27FC236}">
                <a16:creationId xmlns:a16="http://schemas.microsoft.com/office/drawing/2014/main" id="{1DCB9981-FEFA-4D45-AE84-EDB48EEB4BAD}"/>
              </a:ext>
            </a:extLst>
          </p:cNvPr>
          <p:cNvSpPr txBox="1">
            <a:spLocks noChangeArrowheads="1"/>
          </p:cNvSpPr>
          <p:nvPr/>
        </p:nvSpPr>
        <p:spPr bwMode="auto">
          <a:xfrm>
            <a:off x="114300" y="5029200"/>
            <a:ext cx="3571875"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There are </a:t>
            </a:r>
            <a:r>
              <a:rPr lang="en-GB" altLang="en-US" sz="1700">
                <a:solidFill>
                  <a:srgbClr val="FF66CC"/>
                </a:solidFill>
                <a:effectLst>
                  <a:outerShdw blurRad="38100" dist="38100" dir="2700000" algn="tl">
                    <a:srgbClr val="000000"/>
                  </a:outerShdw>
                </a:effectLst>
                <a:latin typeface="Arial" panose="020B0604020202020204" pitchFamily="34" charset="0"/>
              </a:rPr>
              <a:t>topological constraints</a:t>
            </a:r>
            <a:r>
              <a:rPr lang="en-GB" altLang="en-US" sz="1700">
                <a:effectLst>
                  <a:outerShdw blurRad="38100" dist="38100" dir="2700000" algn="tl">
                    <a:srgbClr val="000000"/>
                  </a:outerShdw>
                </a:effectLst>
                <a:latin typeface="Arial" panose="020B0604020202020204" pitchFamily="34" charset="0"/>
              </a:rPr>
              <a:t> on the interrelationship of these lines, and these may be particularly useful in regions with large topography</a:t>
            </a:r>
          </a:p>
        </p:txBody>
      </p:sp>
      <p:sp>
        <p:nvSpPr>
          <p:cNvPr id="303118" name="Text Box 14">
            <a:extLst>
              <a:ext uri="{FF2B5EF4-FFF2-40B4-BE49-F238E27FC236}">
                <a16:creationId xmlns:a16="http://schemas.microsoft.com/office/drawing/2014/main" id="{2E51C193-219A-4292-8F4F-D77580A0D339}"/>
              </a:ext>
            </a:extLst>
          </p:cNvPr>
          <p:cNvSpPr txBox="1">
            <a:spLocks noChangeArrowheads="1"/>
          </p:cNvSpPr>
          <p:nvPr/>
        </p:nvSpPr>
        <p:spPr bwMode="auto">
          <a:xfrm>
            <a:off x="3990975" y="6305550"/>
            <a:ext cx="2295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FF00"/>
                </a:solidFill>
                <a:effectLst>
                  <a:outerShdw blurRad="38100" dist="38100" dir="2700000" algn="tl">
                    <a:srgbClr val="000000"/>
                  </a:outerShdw>
                </a:effectLst>
                <a:latin typeface="Arial" panose="020B0604020202020204" pitchFamily="34" charset="0"/>
              </a:rPr>
              <a:t>Simple imbricate splay</a:t>
            </a:r>
          </a:p>
        </p:txBody>
      </p:sp>
      <p:sp>
        <p:nvSpPr>
          <p:cNvPr id="303119" name="Text Box 15">
            <a:extLst>
              <a:ext uri="{FF2B5EF4-FFF2-40B4-BE49-F238E27FC236}">
                <a16:creationId xmlns:a16="http://schemas.microsoft.com/office/drawing/2014/main" id="{FEE43C57-26B3-4657-A8E9-35210065DABA}"/>
              </a:ext>
            </a:extLst>
          </p:cNvPr>
          <p:cNvSpPr txBox="1">
            <a:spLocks noChangeArrowheads="1"/>
          </p:cNvSpPr>
          <p:nvPr/>
        </p:nvSpPr>
        <p:spPr bwMode="auto">
          <a:xfrm>
            <a:off x="6902450" y="6305550"/>
            <a:ext cx="1581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FF00"/>
                </a:solidFill>
                <a:effectLst>
                  <a:outerShdw blurRad="38100" dist="38100" dir="2700000" algn="tl">
                    <a:srgbClr val="000000"/>
                  </a:outerShdw>
                </a:effectLst>
                <a:latin typeface="Arial" panose="020B0604020202020204" pitchFamily="34" charset="0"/>
              </a:rPr>
              <a:t>Around a horse</a:t>
            </a:r>
          </a:p>
        </p:txBody>
      </p:sp>
      <p:pic>
        <p:nvPicPr>
          <p:cNvPr id="303120" name="Picture 16" descr="13a1">
            <a:extLst>
              <a:ext uri="{FF2B5EF4-FFF2-40B4-BE49-F238E27FC236}">
                <a16:creationId xmlns:a16="http://schemas.microsoft.com/office/drawing/2014/main" id="{3FD1E86A-9643-401E-A6A4-DF1D526240B3}"/>
              </a:ext>
            </a:extLst>
          </p:cNvPr>
          <p:cNvPicPr>
            <a:picLocks noGrp="1" noChangeAspect="1" noChangeArrowheads="1"/>
          </p:cNvPicPr>
          <p:nvPr>
            <p:ph sz="quarter" idx="3"/>
          </p:nvPr>
        </p:nvPicPr>
        <p:blipFill>
          <a:blip r:embed="rId3">
            <a:lum bright="-6000" contrast="10000"/>
            <a:extLst>
              <a:ext uri="{28A0092B-C50C-407E-A947-70E740481C1C}">
                <a14:useLocalDpi xmlns:a14="http://schemas.microsoft.com/office/drawing/2010/main" val="0"/>
              </a:ext>
            </a:extLst>
          </a:blip>
          <a:srcRect/>
          <a:stretch>
            <a:fillRect/>
          </a:stretch>
        </p:blipFill>
        <p:spPr>
          <a:xfrm>
            <a:off x="3857625" y="1657350"/>
            <a:ext cx="2506663" cy="22844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3122" name="Picture 18" descr="13a2">
            <a:extLst>
              <a:ext uri="{FF2B5EF4-FFF2-40B4-BE49-F238E27FC236}">
                <a16:creationId xmlns:a16="http://schemas.microsoft.com/office/drawing/2014/main" id="{4FC72939-AB72-41C8-8AC1-0CC20FF0E7D6}"/>
              </a:ext>
            </a:extLst>
          </p:cNvPr>
          <p:cNvPicPr>
            <a:picLocks noChangeAspect="1" noChangeArrowheads="1"/>
          </p:cNvPicPr>
          <p:nvPr/>
        </p:nvPicPr>
        <p:blipFill>
          <a:blip r:embed="rId4">
            <a:lum bright="-6000" contrast="10000"/>
            <a:extLst>
              <a:ext uri="{28A0092B-C50C-407E-A947-70E740481C1C}">
                <a14:useLocalDpi xmlns:a14="http://schemas.microsoft.com/office/drawing/2010/main" val="0"/>
              </a:ext>
            </a:extLst>
          </a:blip>
          <a:srcRect/>
          <a:stretch>
            <a:fillRect/>
          </a:stretch>
        </p:blipFill>
        <p:spPr bwMode="auto">
          <a:xfrm>
            <a:off x="6537325" y="1657350"/>
            <a:ext cx="2436813" cy="22606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03123" name="Picture 19" descr="13a3">
            <a:extLst>
              <a:ext uri="{FF2B5EF4-FFF2-40B4-BE49-F238E27FC236}">
                <a16:creationId xmlns:a16="http://schemas.microsoft.com/office/drawing/2014/main" id="{F8FC0E30-BC8B-4B06-8462-67F4B0ADD898}"/>
              </a:ext>
            </a:extLst>
          </p:cNvPr>
          <p:cNvPicPr>
            <a:picLocks noChangeAspect="1" noChangeArrowheads="1"/>
          </p:cNvPicPr>
          <p:nvPr/>
        </p:nvPicPr>
        <p:blipFill>
          <a:blip r:embed="rId5">
            <a:lum bright="-6000" contrast="10000"/>
            <a:extLst>
              <a:ext uri="{28A0092B-C50C-407E-A947-70E740481C1C}">
                <a14:useLocalDpi xmlns:a14="http://schemas.microsoft.com/office/drawing/2010/main" val="0"/>
              </a:ext>
            </a:extLst>
          </a:blip>
          <a:srcRect/>
          <a:stretch>
            <a:fillRect/>
          </a:stretch>
        </p:blipFill>
        <p:spPr bwMode="auto">
          <a:xfrm>
            <a:off x="3857625" y="4100513"/>
            <a:ext cx="2513013" cy="21590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03124" name="Picture 20" descr="13a4">
            <a:extLst>
              <a:ext uri="{FF2B5EF4-FFF2-40B4-BE49-F238E27FC236}">
                <a16:creationId xmlns:a16="http://schemas.microsoft.com/office/drawing/2014/main" id="{DAB50D33-A3B3-4735-B47B-148FA15CD40B}"/>
              </a:ext>
            </a:extLst>
          </p:cNvPr>
          <p:cNvPicPr>
            <a:picLocks noChangeAspect="1" noChangeArrowheads="1"/>
          </p:cNvPicPr>
          <p:nvPr/>
        </p:nvPicPr>
        <p:blipFill>
          <a:blip r:embed="rId6">
            <a:lum bright="-6000" contrast="10000"/>
            <a:extLst>
              <a:ext uri="{28A0092B-C50C-407E-A947-70E740481C1C}">
                <a14:useLocalDpi xmlns:a14="http://schemas.microsoft.com/office/drawing/2010/main" val="0"/>
              </a:ext>
            </a:extLst>
          </a:blip>
          <a:srcRect/>
          <a:stretch>
            <a:fillRect/>
          </a:stretch>
        </p:blipFill>
        <p:spPr bwMode="auto">
          <a:xfrm>
            <a:off x="6575425" y="4102100"/>
            <a:ext cx="2398713" cy="21574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7F315EF9-2352-4F78-88FE-95377633B721}"/>
              </a:ext>
            </a:extLst>
          </p:cNvPr>
          <p:cNvSpPr>
            <a:spLocks noGrp="1" noChangeArrowheads="1"/>
          </p:cNvSpPr>
          <p:nvPr>
            <p:ph type="ctrTitle" idx="4294967295"/>
          </p:nvPr>
        </p:nvSpPr>
        <p:spPr bwMode="black">
          <a:xfrm>
            <a:off x="239713" y="1834063"/>
            <a:ext cx="8705850" cy="18446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200" dirty="0">
                <a:solidFill>
                  <a:srgbClr val="FF6600"/>
                </a:solidFill>
              </a:rPr>
            </a:br>
            <a:br>
              <a:rPr lang="en-US" altLang="en-US" sz="3200" dirty="0">
                <a:solidFill>
                  <a:srgbClr val="FF6600"/>
                </a:solidFill>
              </a:rPr>
            </a:br>
            <a:r>
              <a:rPr lang="en-US" altLang="en-US" sz="3200" dirty="0">
                <a:solidFill>
                  <a:srgbClr val="FF6600"/>
                </a:solidFill>
              </a:rPr>
              <a:t>Relationship between folding and faulting</a:t>
            </a:r>
            <a:endParaRPr lang="en-US" altLang="en-US" dirty="0">
              <a:solidFill>
                <a:srgbClr val="FF6600"/>
              </a:solidFill>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79" name="Rectangle 19">
            <a:extLst>
              <a:ext uri="{FF2B5EF4-FFF2-40B4-BE49-F238E27FC236}">
                <a16:creationId xmlns:a16="http://schemas.microsoft.com/office/drawing/2014/main" id="{8B2DC642-A765-40DA-ACBA-98D92A71B635}"/>
              </a:ext>
            </a:extLst>
          </p:cNvPr>
          <p:cNvSpPr>
            <a:spLocks noChangeArrowheads="1"/>
          </p:cNvSpPr>
          <p:nvPr/>
        </p:nvSpPr>
        <p:spPr bwMode="auto">
          <a:xfrm>
            <a:off x="319088" y="3138488"/>
            <a:ext cx="2552700" cy="1100137"/>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0180" name="Rectangle 20">
            <a:extLst>
              <a:ext uri="{FF2B5EF4-FFF2-40B4-BE49-F238E27FC236}">
                <a16:creationId xmlns:a16="http://schemas.microsoft.com/office/drawing/2014/main" id="{931720FA-AC96-4AB9-8C18-4BA3BEE28785}"/>
              </a:ext>
            </a:extLst>
          </p:cNvPr>
          <p:cNvSpPr>
            <a:spLocks noChangeArrowheads="1"/>
          </p:cNvSpPr>
          <p:nvPr/>
        </p:nvSpPr>
        <p:spPr bwMode="auto">
          <a:xfrm>
            <a:off x="3016250" y="3140075"/>
            <a:ext cx="2700338" cy="110013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0162" name="Rectangle 2">
            <a:extLst>
              <a:ext uri="{FF2B5EF4-FFF2-40B4-BE49-F238E27FC236}">
                <a16:creationId xmlns:a16="http://schemas.microsoft.com/office/drawing/2014/main" id="{1A7B5ED3-AB25-47C3-A62F-91028431641C}"/>
              </a:ext>
            </a:extLst>
          </p:cNvPr>
          <p:cNvSpPr>
            <a:spLocks noGrp="1" noChangeArrowheads="1"/>
          </p:cNvSpPr>
          <p:nvPr>
            <p:ph type="title"/>
          </p:nvPr>
        </p:nvSpPr>
        <p:spPr>
          <a:noFill/>
        </p:spPr>
        <p:txBody>
          <a:bodyPr/>
          <a:lstStyle/>
          <a:p>
            <a:r>
              <a:rPr lang="en-GB" altLang="en-US">
                <a:effectLst/>
              </a:rPr>
              <a:t>Fault-bend folds</a:t>
            </a:r>
          </a:p>
        </p:txBody>
      </p:sp>
      <p:sp>
        <p:nvSpPr>
          <p:cNvPr id="220163" name="Rectangle 3">
            <a:extLst>
              <a:ext uri="{FF2B5EF4-FFF2-40B4-BE49-F238E27FC236}">
                <a16:creationId xmlns:a16="http://schemas.microsoft.com/office/drawing/2014/main" id="{137029A0-7E09-411A-95D9-7CB3561166BF}"/>
              </a:ext>
            </a:extLst>
          </p:cNvPr>
          <p:cNvSpPr>
            <a:spLocks noGrp="1" noChangeArrowheads="1"/>
          </p:cNvSpPr>
          <p:nvPr>
            <p:ph type="body" sz="half" idx="1"/>
          </p:nvPr>
        </p:nvSpPr>
        <p:spPr>
          <a:xfrm>
            <a:off x="112713" y="774700"/>
            <a:ext cx="5643562" cy="2241550"/>
          </a:xfrm>
          <a:noFill/>
        </p:spPr>
        <p:txBody>
          <a:bodyPr/>
          <a:lstStyle/>
          <a:p>
            <a:pPr marL="177800" indent="-177800"/>
            <a:r>
              <a:rPr lang="en-GB" altLang="en-US" sz="1700" dirty="0">
                <a:effectLst/>
              </a:rPr>
              <a:t>From the moment that a ramp is formed and the hanging wall starts climbing over it, the hanging wall is deformed into a </a:t>
            </a:r>
            <a:r>
              <a:rPr lang="en-GB" altLang="en-US" sz="1700" dirty="0">
                <a:solidFill>
                  <a:srgbClr val="FF6600"/>
                </a:solidFill>
                <a:effectLst/>
              </a:rPr>
              <a:t>fault-bend fold</a:t>
            </a:r>
          </a:p>
          <a:p>
            <a:pPr marL="177800" indent="-177800"/>
            <a:r>
              <a:rPr lang="en-GB" altLang="en-US" sz="1700" dirty="0">
                <a:effectLst/>
              </a:rPr>
              <a:t>The shape of fault-bend folds is determined by the geometry of the ramp because they are </a:t>
            </a:r>
            <a:r>
              <a:rPr lang="en-GB" altLang="en-US" sz="1700" dirty="0">
                <a:solidFill>
                  <a:srgbClr val="FF66CC"/>
                </a:solidFill>
                <a:effectLst/>
              </a:rPr>
              <a:t>geometrically-necessary </a:t>
            </a:r>
            <a:r>
              <a:rPr lang="en-GB" altLang="en-US" sz="1700" dirty="0">
                <a:effectLst/>
              </a:rPr>
              <a:t>folds</a:t>
            </a:r>
          </a:p>
        </p:txBody>
      </p:sp>
      <p:grpSp>
        <p:nvGrpSpPr>
          <p:cNvPr id="220169" name="Group 9">
            <a:extLst>
              <a:ext uri="{FF2B5EF4-FFF2-40B4-BE49-F238E27FC236}">
                <a16:creationId xmlns:a16="http://schemas.microsoft.com/office/drawing/2014/main" id="{0ABC4531-5CED-4506-97C4-A4B658880BFE}"/>
              </a:ext>
            </a:extLst>
          </p:cNvPr>
          <p:cNvGrpSpPr>
            <a:grpSpLocks/>
          </p:cNvGrpSpPr>
          <p:nvPr/>
        </p:nvGrpSpPr>
        <p:grpSpPr bwMode="auto">
          <a:xfrm>
            <a:off x="5943600" y="850900"/>
            <a:ext cx="3028950" cy="5872163"/>
            <a:chOff x="3684" y="528"/>
            <a:chExt cx="1968" cy="3666"/>
          </a:xfrm>
        </p:grpSpPr>
        <p:sp>
          <p:nvSpPr>
            <p:cNvPr id="220166" name="Rectangle 6">
              <a:extLst>
                <a:ext uri="{FF2B5EF4-FFF2-40B4-BE49-F238E27FC236}">
                  <a16:creationId xmlns:a16="http://schemas.microsoft.com/office/drawing/2014/main" id="{2F4E1A17-CB2F-43F9-B6D5-1C9B43B1FF6F}"/>
                </a:ext>
              </a:extLst>
            </p:cNvPr>
            <p:cNvSpPr>
              <a:spLocks noChangeArrowheads="1"/>
            </p:cNvSpPr>
            <p:nvPr/>
          </p:nvSpPr>
          <p:spPr bwMode="auto">
            <a:xfrm>
              <a:off x="3684" y="528"/>
              <a:ext cx="1968" cy="3666"/>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20164" name="Picture 2" descr="GR17.jpg">
              <a:extLst>
                <a:ext uri="{FF2B5EF4-FFF2-40B4-BE49-F238E27FC236}">
                  <a16:creationId xmlns:a16="http://schemas.microsoft.com/office/drawing/2014/main" id="{CEC91611-5C40-4467-AECE-9F5D9D7891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80" y="573"/>
              <a:ext cx="1843" cy="35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20172" name="Picture 2" descr="GR16.jpg">
            <a:extLst>
              <a:ext uri="{FF2B5EF4-FFF2-40B4-BE49-F238E27FC236}">
                <a16:creationId xmlns:a16="http://schemas.microsoft.com/office/drawing/2014/main" id="{BF3AC24A-E42C-42DA-A994-52488B97A9AC}"/>
              </a:ext>
            </a:extLst>
          </p:cNvPr>
          <p:cNvPicPr>
            <a:picLocks noChangeAspect="1"/>
          </p:cNvPicPr>
          <p:nvPr/>
        </p:nvPicPr>
        <p:blipFill>
          <a:blip r:embed="rId4">
            <a:extLst>
              <a:ext uri="{28A0092B-C50C-407E-A947-70E740481C1C}">
                <a14:useLocalDpi xmlns:a14="http://schemas.microsoft.com/office/drawing/2010/main" val="0"/>
              </a:ext>
            </a:extLst>
          </a:blip>
          <a:srcRect b="51016"/>
          <a:stretch>
            <a:fillRect/>
          </a:stretch>
        </p:blipFill>
        <p:spPr bwMode="auto">
          <a:xfrm>
            <a:off x="368300" y="3171825"/>
            <a:ext cx="2455863" cy="102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0173" name="Picture 2" descr="GR16.jpg">
            <a:extLst>
              <a:ext uri="{FF2B5EF4-FFF2-40B4-BE49-F238E27FC236}">
                <a16:creationId xmlns:a16="http://schemas.microsoft.com/office/drawing/2014/main" id="{F47982DB-DB25-4EA0-84C9-F9B69D1E638C}"/>
              </a:ext>
            </a:extLst>
          </p:cNvPr>
          <p:cNvPicPr>
            <a:picLocks noChangeAspect="1"/>
          </p:cNvPicPr>
          <p:nvPr/>
        </p:nvPicPr>
        <p:blipFill>
          <a:blip r:embed="rId4">
            <a:extLst>
              <a:ext uri="{28A0092B-C50C-407E-A947-70E740481C1C}">
                <a14:useLocalDpi xmlns:a14="http://schemas.microsoft.com/office/drawing/2010/main" val="0"/>
              </a:ext>
            </a:extLst>
          </a:blip>
          <a:srcRect t="54115"/>
          <a:stretch>
            <a:fillRect/>
          </a:stretch>
        </p:blipFill>
        <p:spPr bwMode="auto">
          <a:xfrm>
            <a:off x="3063875" y="3182938"/>
            <a:ext cx="2600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181" name="Rectangle 21">
            <a:extLst>
              <a:ext uri="{FF2B5EF4-FFF2-40B4-BE49-F238E27FC236}">
                <a16:creationId xmlns:a16="http://schemas.microsoft.com/office/drawing/2014/main" id="{8BD51D71-DFBD-493D-BC15-9B18FABD1BE5}"/>
              </a:ext>
            </a:extLst>
          </p:cNvPr>
          <p:cNvSpPr>
            <a:spLocks noChangeArrowheads="1"/>
          </p:cNvSpPr>
          <p:nvPr/>
        </p:nvSpPr>
        <p:spPr bwMode="auto">
          <a:xfrm>
            <a:off x="119063" y="4419600"/>
            <a:ext cx="5643562" cy="81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541338" indent="-1841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235075" indent="-18415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98625"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17725"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749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321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893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946525"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r>
              <a:rPr lang="en-GB" altLang="en-US" sz="1700">
                <a:effectLst/>
              </a:rPr>
              <a:t>This means that fold geometry can be</a:t>
            </a:r>
            <a:r>
              <a:rPr lang="en-GB" altLang="en-US" sz="1700">
                <a:solidFill>
                  <a:srgbClr val="FF66CC"/>
                </a:solidFill>
                <a:effectLst/>
              </a:rPr>
              <a:t> predicted</a:t>
            </a:r>
            <a:r>
              <a:rPr lang="en-GB" altLang="en-US" sz="1700">
                <a:effectLst/>
              </a:rPr>
              <a:t> from ramp geometry and </a:t>
            </a:r>
            <a:r>
              <a:rPr lang="en-GB" altLang="en-US" sz="1700" i="1">
                <a:effectLst/>
              </a:rPr>
              <a:t>vice versa</a:t>
            </a:r>
            <a:endParaRPr lang="en-GB" altLang="en-US" sz="1700">
              <a:effectLst/>
            </a:endParaRPr>
          </a:p>
        </p:txBody>
      </p:sp>
      <p:sp>
        <p:nvSpPr>
          <p:cNvPr id="220182" name="Text Box 22">
            <a:extLst>
              <a:ext uri="{FF2B5EF4-FFF2-40B4-BE49-F238E27FC236}">
                <a16:creationId xmlns:a16="http://schemas.microsoft.com/office/drawing/2014/main" id="{81B04A61-4DDC-4264-8470-3EFE108BF68C}"/>
              </a:ext>
            </a:extLst>
          </p:cNvPr>
          <p:cNvSpPr txBox="1">
            <a:spLocks noChangeArrowheads="1"/>
          </p:cNvSpPr>
          <p:nvPr/>
        </p:nvSpPr>
        <p:spPr bwMode="auto">
          <a:xfrm>
            <a:off x="1089025" y="5724525"/>
            <a:ext cx="4778375"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Development of a fault-bend fold. Notice how the hanging wall units are rotated one way and then the other as they climb up and over the ramp</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700" name="Rectangle 4">
            <a:extLst>
              <a:ext uri="{FF2B5EF4-FFF2-40B4-BE49-F238E27FC236}">
                <a16:creationId xmlns:a16="http://schemas.microsoft.com/office/drawing/2014/main" id="{81DC1D7B-B317-49E9-8ACD-D7AFCA84A5C0}"/>
              </a:ext>
            </a:extLst>
          </p:cNvPr>
          <p:cNvSpPr>
            <a:spLocks noGrp="1" noChangeArrowheads="1"/>
          </p:cNvSpPr>
          <p:nvPr>
            <p:ph type="title"/>
          </p:nvPr>
        </p:nvSpPr>
        <p:spPr>
          <a:noFill/>
        </p:spPr>
        <p:txBody>
          <a:bodyPr/>
          <a:lstStyle/>
          <a:p>
            <a:r>
              <a:rPr lang="en-GB" altLang="en-US">
                <a:effectLst/>
              </a:rPr>
              <a:t>Strains during fault-bend folding</a:t>
            </a:r>
          </a:p>
        </p:txBody>
      </p:sp>
      <p:sp>
        <p:nvSpPr>
          <p:cNvPr id="413701" name="Rectangle 5">
            <a:extLst>
              <a:ext uri="{FF2B5EF4-FFF2-40B4-BE49-F238E27FC236}">
                <a16:creationId xmlns:a16="http://schemas.microsoft.com/office/drawing/2014/main" id="{6EC365FC-8D26-427F-A777-0745AD61B328}"/>
              </a:ext>
            </a:extLst>
          </p:cNvPr>
          <p:cNvSpPr>
            <a:spLocks noGrp="1" noChangeArrowheads="1"/>
          </p:cNvSpPr>
          <p:nvPr>
            <p:ph type="body" sz="half" idx="1"/>
          </p:nvPr>
        </p:nvSpPr>
        <p:spPr>
          <a:xfrm>
            <a:off x="106363" y="817563"/>
            <a:ext cx="3925887" cy="5081587"/>
          </a:xfrm>
          <a:noFill/>
        </p:spPr>
        <p:txBody>
          <a:bodyPr/>
          <a:lstStyle/>
          <a:p>
            <a:pPr marL="268288" indent="-268288"/>
            <a:r>
              <a:rPr lang="en-GB" altLang="en-US" sz="1700">
                <a:effectLst/>
              </a:rPr>
              <a:t>The rotation of the hanging wall, first one way and then the other, has implications for the development of </a:t>
            </a:r>
            <a:r>
              <a:rPr lang="en-GB" altLang="en-US" sz="1700">
                <a:solidFill>
                  <a:srgbClr val="FF6600"/>
                </a:solidFill>
                <a:effectLst/>
              </a:rPr>
              <a:t>strain in the hanging wall rocks</a:t>
            </a:r>
          </a:p>
          <a:p>
            <a:pPr marL="268288" indent="-268288">
              <a:spcBef>
                <a:spcPct val="75000"/>
              </a:spcBef>
              <a:buFont typeface="Wingdings" panose="05000000000000000000" pitchFamily="2" charset="2"/>
              <a:buChar char="Ø"/>
            </a:pPr>
            <a:r>
              <a:rPr lang="en-GB" altLang="en-US" sz="1700">
                <a:solidFill>
                  <a:srgbClr val="FF66FF"/>
                </a:solidFill>
                <a:effectLst/>
              </a:rPr>
              <a:t>Lower flat:</a:t>
            </a:r>
            <a:r>
              <a:rPr lang="en-GB" altLang="en-US" sz="1700">
                <a:effectLst/>
              </a:rPr>
              <a:t> shear coupled with drag on the fault plane leads to cleavage (S</a:t>
            </a:r>
            <a:r>
              <a:rPr lang="en-GB" altLang="en-US" sz="1700" baseline="-25000">
                <a:effectLst/>
              </a:rPr>
              <a:t>1</a:t>
            </a:r>
            <a:r>
              <a:rPr lang="en-GB" altLang="en-US" sz="1700">
                <a:effectLst/>
              </a:rPr>
              <a:t>) </a:t>
            </a:r>
          </a:p>
          <a:p>
            <a:pPr marL="268288" indent="-268288">
              <a:spcBef>
                <a:spcPct val="50000"/>
              </a:spcBef>
              <a:buFont typeface="Wingdings" panose="05000000000000000000" pitchFamily="2" charset="2"/>
              <a:buChar char="Ø"/>
            </a:pPr>
            <a:r>
              <a:rPr lang="en-GB" altLang="en-US" sz="1700">
                <a:solidFill>
                  <a:srgbClr val="FF66FF"/>
                </a:solidFill>
                <a:effectLst/>
              </a:rPr>
              <a:t>Ramp:</a:t>
            </a:r>
            <a:r>
              <a:rPr lang="en-GB" altLang="en-US" sz="1700">
                <a:effectLst/>
              </a:rPr>
              <a:t> cleavage steepens and intensifies</a:t>
            </a:r>
          </a:p>
          <a:p>
            <a:pPr marL="268288" indent="-268288">
              <a:spcBef>
                <a:spcPct val="50000"/>
              </a:spcBef>
              <a:buFont typeface="Wingdings" panose="05000000000000000000" pitchFamily="2" charset="2"/>
              <a:buChar char="Ø"/>
            </a:pPr>
            <a:r>
              <a:rPr lang="en-GB" altLang="en-US" sz="1700">
                <a:solidFill>
                  <a:srgbClr val="FF66FF"/>
                </a:solidFill>
                <a:effectLst/>
              </a:rPr>
              <a:t>Upper flat:</a:t>
            </a:r>
            <a:r>
              <a:rPr lang="en-GB" altLang="en-US" sz="1700">
                <a:effectLst/>
              </a:rPr>
              <a:t> reversal of shear sense in unbending leads to shortening of the cleavage and, in principle, to the development of a crenulation (S</a:t>
            </a:r>
            <a:r>
              <a:rPr lang="en-GB" altLang="en-US" sz="1700" baseline="-25000">
                <a:effectLst/>
              </a:rPr>
              <a:t>2</a:t>
            </a:r>
            <a:r>
              <a:rPr lang="en-GB" altLang="en-US" sz="1700">
                <a:effectLst/>
              </a:rPr>
              <a:t>)</a:t>
            </a:r>
          </a:p>
        </p:txBody>
      </p:sp>
      <p:sp>
        <p:nvSpPr>
          <p:cNvPr id="413714" name="Text Box 18">
            <a:extLst>
              <a:ext uri="{FF2B5EF4-FFF2-40B4-BE49-F238E27FC236}">
                <a16:creationId xmlns:a16="http://schemas.microsoft.com/office/drawing/2014/main" id="{09909682-0D75-45F5-9FFB-373B4FEE5956}"/>
              </a:ext>
            </a:extLst>
          </p:cNvPr>
          <p:cNvSpPr txBox="1">
            <a:spLocks noChangeArrowheads="1"/>
          </p:cNvSpPr>
          <p:nvPr/>
        </p:nvSpPr>
        <p:spPr bwMode="auto">
          <a:xfrm>
            <a:off x="120650" y="5870575"/>
            <a:ext cx="88169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8288" indent="-2682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Whether a cleavage (and a crenulation) is observed, depends upon the </a:t>
            </a:r>
            <a:r>
              <a:rPr lang="en-GB" altLang="en-US" sz="1700" dirty="0">
                <a:solidFill>
                  <a:srgbClr val="FF66FF"/>
                </a:solidFill>
                <a:effectLst>
                  <a:outerShdw blurRad="38100" dist="38100" dir="2700000" algn="tl">
                    <a:srgbClr val="000000"/>
                  </a:outerShdw>
                </a:effectLst>
                <a:latin typeface="Arial" panose="020B0604020202020204" pitchFamily="34" charset="0"/>
              </a:rPr>
              <a:t>ramp angle</a:t>
            </a:r>
            <a:r>
              <a:rPr lang="en-GB" altLang="en-US" sz="1700" dirty="0">
                <a:effectLst>
                  <a:outerShdw blurRad="38100" dist="38100" dir="2700000" algn="tl">
                    <a:srgbClr val="000000"/>
                  </a:outerShdw>
                </a:effectLst>
                <a:latin typeface="Arial" panose="020B0604020202020204" pitchFamily="34" charset="0"/>
              </a:rPr>
              <a:t> and the </a:t>
            </a:r>
            <a:r>
              <a:rPr lang="en-GB" altLang="en-US" sz="1700" dirty="0">
                <a:solidFill>
                  <a:srgbClr val="FF66FF"/>
                </a:solidFill>
                <a:effectLst>
                  <a:outerShdw blurRad="38100" dist="38100" dir="2700000" algn="tl">
                    <a:srgbClr val="000000"/>
                  </a:outerShdw>
                </a:effectLst>
                <a:latin typeface="Arial" panose="020B0604020202020204" pitchFamily="34" charset="0"/>
              </a:rPr>
              <a:t>mechanical propertie</a:t>
            </a:r>
            <a:r>
              <a:rPr lang="en-GB" altLang="en-US" sz="1700" spc="300" dirty="0">
                <a:solidFill>
                  <a:srgbClr val="FF66FF"/>
                </a:solidFill>
                <a:effectLst>
                  <a:outerShdw blurRad="38100" dist="38100" dir="2700000" algn="tl">
                    <a:srgbClr val="000000"/>
                  </a:outerShdw>
                </a:effectLst>
                <a:latin typeface="Arial" panose="020B0604020202020204" pitchFamily="34" charset="0"/>
              </a:rPr>
              <a:t>s/</a:t>
            </a:r>
            <a:r>
              <a:rPr lang="en-GB" altLang="en-US" sz="1700" dirty="0">
                <a:solidFill>
                  <a:srgbClr val="FF66FF"/>
                </a:solidFill>
                <a:effectLst>
                  <a:outerShdw blurRad="38100" dist="38100" dir="2700000" algn="tl">
                    <a:srgbClr val="000000"/>
                  </a:outerShdw>
                </a:effectLst>
                <a:latin typeface="Arial" panose="020B0604020202020204" pitchFamily="34" charset="0"/>
              </a:rPr>
              <a:t>behaviour</a:t>
            </a:r>
            <a:r>
              <a:rPr lang="en-GB" altLang="en-US" sz="1700" dirty="0">
                <a:effectLst>
                  <a:outerShdw blurRad="38100" dist="38100" dir="2700000" algn="tl">
                    <a:srgbClr val="000000"/>
                  </a:outerShdw>
                </a:effectLst>
                <a:latin typeface="Arial" panose="020B0604020202020204" pitchFamily="34" charset="0"/>
              </a:rPr>
              <a:t> of the hanging wall rocks</a:t>
            </a:r>
          </a:p>
        </p:txBody>
      </p:sp>
      <p:pic>
        <p:nvPicPr>
          <p:cNvPr id="413715" name="Picture 19" descr="14b1">
            <a:extLst>
              <a:ext uri="{FF2B5EF4-FFF2-40B4-BE49-F238E27FC236}">
                <a16:creationId xmlns:a16="http://schemas.microsoft.com/office/drawing/2014/main" id="{2AC21E49-32E8-4B11-82B5-236C17DA0E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2900" y="954088"/>
            <a:ext cx="4594225" cy="46593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13722" name="AutoShape 26">
            <a:extLst>
              <a:ext uri="{FF2B5EF4-FFF2-40B4-BE49-F238E27FC236}">
                <a16:creationId xmlns:a16="http://schemas.microsoft.com/office/drawing/2014/main" id="{93E66232-D702-4E8C-BD7D-10EE2867A5E4}"/>
              </a:ext>
            </a:extLst>
          </p:cNvPr>
          <p:cNvSpPr>
            <a:spLocks noChangeAspect="1" noChangeArrowheads="1"/>
          </p:cNvSpPr>
          <p:nvPr/>
        </p:nvSpPr>
        <p:spPr bwMode="auto">
          <a:xfrm rot="12053958">
            <a:off x="7232650" y="2284413"/>
            <a:ext cx="352425" cy="360362"/>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800 w 21600"/>
              <a:gd name="T5" fmla="*/ 0 h 21600"/>
              <a:gd name="T6" fmla="*/ 2700 w 21600"/>
              <a:gd name="T7" fmla="*/ 10799 h 21600"/>
              <a:gd name="T8" fmla="*/ 10800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799"/>
                </a:lnTo>
                <a:cubicBezTo>
                  <a:pt x="0" y="4835"/>
                  <a:pt x="4835" y="0"/>
                  <a:pt x="10800" y="0"/>
                </a:cubicBezTo>
                <a:cubicBezTo>
                  <a:pt x="16764" y="0"/>
                  <a:pt x="21600" y="4835"/>
                  <a:pt x="21600" y="10800"/>
                </a:cubicBezTo>
                <a:lnTo>
                  <a:pt x="24300" y="10800"/>
                </a:lnTo>
                <a:lnTo>
                  <a:pt x="18900" y="16200"/>
                </a:lnTo>
                <a:lnTo>
                  <a:pt x="13500" y="10800"/>
                </a:lnTo>
                <a:lnTo>
                  <a:pt x="16200" y="10800"/>
                </a:lnTo>
                <a:close/>
              </a:path>
            </a:pathLst>
          </a:cu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724" name="AutoShape 28">
            <a:extLst>
              <a:ext uri="{FF2B5EF4-FFF2-40B4-BE49-F238E27FC236}">
                <a16:creationId xmlns:a16="http://schemas.microsoft.com/office/drawing/2014/main" id="{08E7E3F8-9E7F-4B77-9FE0-31AA24D10C94}"/>
              </a:ext>
            </a:extLst>
          </p:cNvPr>
          <p:cNvSpPr>
            <a:spLocks noChangeAspect="1" noChangeArrowheads="1"/>
          </p:cNvSpPr>
          <p:nvPr/>
        </p:nvSpPr>
        <p:spPr bwMode="auto">
          <a:xfrm rot="12033616" flipV="1">
            <a:off x="6335713" y="1300163"/>
            <a:ext cx="352425" cy="360362"/>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800 w 21600"/>
              <a:gd name="T5" fmla="*/ 0 h 21600"/>
              <a:gd name="T6" fmla="*/ 2700 w 21600"/>
              <a:gd name="T7" fmla="*/ 10799 h 21600"/>
              <a:gd name="T8" fmla="*/ 10800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799"/>
                </a:lnTo>
                <a:cubicBezTo>
                  <a:pt x="0" y="4835"/>
                  <a:pt x="4835" y="0"/>
                  <a:pt x="10800" y="0"/>
                </a:cubicBezTo>
                <a:cubicBezTo>
                  <a:pt x="16764" y="0"/>
                  <a:pt x="21600" y="4835"/>
                  <a:pt x="21600" y="10800"/>
                </a:cubicBezTo>
                <a:lnTo>
                  <a:pt x="24300" y="10800"/>
                </a:lnTo>
                <a:lnTo>
                  <a:pt x="18900" y="16200"/>
                </a:lnTo>
                <a:lnTo>
                  <a:pt x="13500" y="10800"/>
                </a:lnTo>
                <a:lnTo>
                  <a:pt x="16200" y="10800"/>
                </a:lnTo>
                <a:close/>
              </a:path>
            </a:pathLst>
          </a:cu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59471393-95E2-4EBC-B4CB-1A57801CBF13}"/>
              </a:ext>
            </a:extLst>
          </p:cNvPr>
          <p:cNvSpPr>
            <a:spLocks noGrp="1" noChangeArrowheads="1"/>
          </p:cNvSpPr>
          <p:nvPr>
            <p:ph type="title"/>
          </p:nvPr>
        </p:nvSpPr>
        <p:spPr>
          <a:noFill/>
        </p:spPr>
        <p:txBody>
          <a:bodyPr/>
          <a:lstStyle/>
          <a:p>
            <a:r>
              <a:rPr lang="en-GB" altLang="en-US">
                <a:effectLst/>
              </a:rPr>
              <a:t>Fault-propagation folds</a:t>
            </a:r>
          </a:p>
        </p:txBody>
      </p:sp>
      <p:sp>
        <p:nvSpPr>
          <p:cNvPr id="225283" name="Rectangle 3">
            <a:extLst>
              <a:ext uri="{FF2B5EF4-FFF2-40B4-BE49-F238E27FC236}">
                <a16:creationId xmlns:a16="http://schemas.microsoft.com/office/drawing/2014/main" id="{D25C9D42-BF94-4B34-9F00-ECE97F64452D}"/>
              </a:ext>
            </a:extLst>
          </p:cNvPr>
          <p:cNvSpPr>
            <a:spLocks noGrp="1" noChangeArrowheads="1"/>
          </p:cNvSpPr>
          <p:nvPr>
            <p:ph type="body" sz="half" idx="1"/>
          </p:nvPr>
        </p:nvSpPr>
        <p:spPr>
          <a:xfrm>
            <a:off x="122238" y="784225"/>
            <a:ext cx="5586412" cy="4138613"/>
          </a:xfrm>
          <a:noFill/>
        </p:spPr>
        <p:txBody>
          <a:bodyPr/>
          <a:lstStyle/>
          <a:p>
            <a:pPr marL="177800" indent="-177800"/>
            <a:r>
              <a:rPr lang="en-GB" altLang="en-US" sz="1700">
                <a:effectLst/>
              </a:rPr>
              <a:t>Ahead of a </a:t>
            </a:r>
            <a:r>
              <a:rPr lang="en-GB" altLang="en-US" sz="1700">
                <a:solidFill>
                  <a:srgbClr val="FF66CC"/>
                </a:solidFill>
                <a:effectLst/>
              </a:rPr>
              <a:t>thrust tip</a:t>
            </a:r>
            <a:r>
              <a:rPr lang="en-GB" altLang="en-US" sz="1700">
                <a:effectLst/>
              </a:rPr>
              <a:t> the deformation is often accommodated in more ductile fashion through the formation of an asymmetric antiform-synform pair that verges towards the foreland. These are described as </a:t>
            </a:r>
            <a:r>
              <a:rPr lang="en-GB" altLang="en-US" sz="1700">
                <a:solidFill>
                  <a:srgbClr val="FF6600"/>
                </a:solidFill>
                <a:effectLst/>
              </a:rPr>
              <a:t>fault-propagation folds</a:t>
            </a:r>
          </a:p>
          <a:p>
            <a:pPr marL="177800" indent="-177800"/>
            <a:r>
              <a:rPr lang="en-GB" altLang="en-US" sz="1700">
                <a:effectLst/>
              </a:rPr>
              <a:t>Fault-propagation folds differ from fault-bend folds in that they </a:t>
            </a:r>
            <a:r>
              <a:rPr lang="en-GB" altLang="en-US" sz="1700">
                <a:solidFill>
                  <a:srgbClr val="FF66CC"/>
                </a:solidFill>
                <a:effectLst/>
              </a:rPr>
              <a:t>move with the propagating fault tip</a:t>
            </a:r>
            <a:r>
              <a:rPr lang="en-GB" altLang="en-US" sz="1700">
                <a:effectLst/>
              </a:rPr>
              <a:t> rather than being stationary at the location of the ramp</a:t>
            </a:r>
          </a:p>
          <a:p>
            <a:pPr marL="177800" indent="-177800"/>
            <a:r>
              <a:rPr lang="en-GB" altLang="en-US" sz="1700">
                <a:effectLst/>
              </a:rPr>
              <a:t>With some assumptions about layer thickness changes, the fold geometry may be modelled as a function of displacement gradient and fault dip</a:t>
            </a:r>
          </a:p>
        </p:txBody>
      </p:sp>
      <p:grpSp>
        <p:nvGrpSpPr>
          <p:cNvPr id="225287" name="Group 7">
            <a:extLst>
              <a:ext uri="{FF2B5EF4-FFF2-40B4-BE49-F238E27FC236}">
                <a16:creationId xmlns:a16="http://schemas.microsoft.com/office/drawing/2014/main" id="{AEC8AD40-63B4-43DC-B89D-975C8765EEB3}"/>
              </a:ext>
            </a:extLst>
          </p:cNvPr>
          <p:cNvGrpSpPr>
            <a:grpSpLocks/>
          </p:cNvGrpSpPr>
          <p:nvPr/>
        </p:nvGrpSpPr>
        <p:grpSpPr bwMode="auto">
          <a:xfrm>
            <a:off x="5953125" y="912813"/>
            <a:ext cx="2943225" cy="5821362"/>
            <a:chOff x="3582" y="492"/>
            <a:chExt cx="1890" cy="3738"/>
          </a:xfrm>
        </p:grpSpPr>
        <p:sp>
          <p:nvSpPr>
            <p:cNvPr id="225286" name="Rectangle 6">
              <a:extLst>
                <a:ext uri="{FF2B5EF4-FFF2-40B4-BE49-F238E27FC236}">
                  <a16:creationId xmlns:a16="http://schemas.microsoft.com/office/drawing/2014/main" id="{48EBEAB5-95CD-478D-8CC9-17BA12A8E13E}"/>
                </a:ext>
              </a:extLst>
            </p:cNvPr>
            <p:cNvSpPr>
              <a:spLocks noChangeArrowheads="1"/>
            </p:cNvSpPr>
            <p:nvPr/>
          </p:nvSpPr>
          <p:spPr bwMode="auto">
            <a:xfrm>
              <a:off x="3582" y="492"/>
              <a:ext cx="1890" cy="373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25284" name="Picture 2" descr="GR18.jpg">
              <a:extLst>
                <a:ext uri="{FF2B5EF4-FFF2-40B4-BE49-F238E27FC236}">
                  <a16:creationId xmlns:a16="http://schemas.microsoft.com/office/drawing/2014/main" id="{FEAE0F5D-5CFF-42E1-B558-EE727B7E1C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42" y="552"/>
              <a:ext cx="1776" cy="36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25288" name="Text Box 8">
            <a:extLst>
              <a:ext uri="{FF2B5EF4-FFF2-40B4-BE49-F238E27FC236}">
                <a16:creationId xmlns:a16="http://schemas.microsoft.com/office/drawing/2014/main" id="{7723A344-9088-4BC6-AC8B-E2D6DDC1B776}"/>
              </a:ext>
            </a:extLst>
          </p:cNvPr>
          <p:cNvSpPr txBox="1">
            <a:spLocks noChangeArrowheads="1"/>
          </p:cNvSpPr>
          <p:nvPr/>
        </p:nvSpPr>
        <p:spPr bwMode="auto">
          <a:xfrm>
            <a:off x="1774825" y="5581650"/>
            <a:ext cx="4092575"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Progressive development of a fault-propagation fold. Displacement on the fault goes to zero at the tip and continued shortening is accommodated by growth of a fold pair ahead of the tip</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DB838E52-6266-40B8-AC7D-EE7494C7CBF3}"/>
              </a:ext>
            </a:extLst>
          </p:cNvPr>
          <p:cNvSpPr>
            <a:spLocks noGrp="1" noChangeArrowheads="1"/>
          </p:cNvSpPr>
          <p:nvPr>
            <p:ph type="title"/>
          </p:nvPr>
        </p:nvSpPr>
        <p:spPr>
          <a:noFill/>
        </p:spPr>
        <p:txBody>
          <a:bodyPr/>
          <a:lstStyle/>
          <a:p>
            <a:r>
              <a:rPr lang="en-GB" altLang="en-US">
                <a:effectLst/>
              </a:rPr>
              <a:t>Fault-propagation folds  2</a:t>
            </a:r>
          </a:p>
        </p:txBody>
      </p:sp>
      <p:sp>
        <p:nvSpPr>
          <p:cNvPr id="384003" name="Rectangle 3">
            <a:extLst>
              <a:ext uri="{FF2B5EF4-FFF2-40B4-BE49-F238E27FC236}">
                <a16:creationId xmlns:a16="http://schemas.microsoft.com/office/drawing/2014/main" id="{713BA3B2-945C-43C6-BBFD-D7BD89B06DD4}"/>
              </a:ext>
            </a:extLst>
          </p:cNvPr>
          <p:cNvSpPr>
            <a:spLocks noGrp="1" noChangeArrowheads="1"/>
          </p:cNvSpPr>
          <p:nvPr>
            <p:ph type="body" sz="half" idx="1"/>
          </p:nvPr>
        </p:nvSpPr>
        <p:spPr>
          <a:xfrm>
            <a:off x="1541463" y="5965825"/>
            <a:ext cx="6223000" cy="642938"/>
          </a:xfrm>
          <a:noFill/>
        </p:spPr>
        <p:txBody>
          <a:bodyPr/>
          <a:lstStyle/>
          <a:p>
            <a:pPr marL="0" indent="0">
              <a:lnSpc>
                <a:spcPct val="115000"/>
              </a:lnSpc>
              <a:buFont typeface="Times" panose="02020603050405020304" pitchFamily="18" charset="0"/>
              <a:buNone/>
            </a:pPr>
            <a:r>
              <a:rPr lang="en-GB" altLang="en-US" sz="1400">
                <a:solidFill>
                  <a:srgbClr val="FFFF00"/>
                </a:solidFill>
                <a:effectLst/>
              </a:rPr>
              <a:t>An example of a fault-propagation fold at the termination of the Lewis Thrust, Rocky Mountains</a:t>
            </a:r>
          </a:p>
        </p:txBody>
      </p:sp>
      <p:pic>
        <p:nvPicPr>
          <p:cNvPr id="384008" name="Picture 8" descr="06b-Mt Kidd fault propagation fold">
            <a:extLst>
              <a:ext uri="{FF2B5EF4-FFF2-40B4-BE49-F238E27FC236}">
                <a16:creationId xmlns:a16="http://schemas.microsoft.com/office/drawing/2014/main" id="{BAE45F31-BD2B-4706-86ED-6BE1CF589DA7}"/>
              </a:ext>
            </a:extLst>
          </p:cNvPr>
          <p:cNvPicPr>
            <a:picLocks noGrp="1" noChangeAspect="1" noChangeArrowheads="1"/>
          </p:cNvPicPr>
          <p:nvPr>
            <p:ph sz="half" idx="2"/>
          </p:nvPr>
        </p:nvPicPr>
        <p:blipFill>
          <a:blip r:embed="rId3">
            <a:lum bright="-4000"/>
            <a:extLst>
              <a:ext uri="{28A0092B-C50C-407E-A947-70E740481C1C}">
                <a14:useLocalDpi xmlns:a14="http://schemas.microsoft.com/office/drawing/2010/main" val="0"/>
              </a:ext>
            </a:extLst>
          </a:blip>
          <a:srcRect/>
          <a:stretch>
            <a:fillRect/>
          </a:stretch>
        </p:blipFill>
        <p:spPr>
          <a:xfrm>
            <a:off x="889000" y="957263"/>
            <a:ext cx="7345363" cy="48783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1" name="Picture 21" descr="14d1-NWScotland">
            <a:extLst>
              <a:ext uri="{FF2B5EF4-FFF2-40B4-BE49-F238E27FC236}">
                <a16:creationId xmlns:a16="http://schemas.microsoft.com/office/drawing/2014/main" id="{8833C3FB-F6C5-42B4-9ED6-8137FD799CF3}"/>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l="11050" t="250"/>
          <a:stretch>
            <a:fillRect/>
          </a:stretch>
        </p:blipFill>
        <p:spPr>
          <a:xfrm>
            <a:off x="144463" y="1655763"/>
            <a:ext cx="5497512" cy="40735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242" name="Rectangle 2">
            <a:extLst>
              <a:ext uri="{FF2B5EF4-FFF2-40B4-BE49-F238E27FC236}">
                <a16:creationId xmlns:a16="http://schemas.microsoft.com/office/drawing/2014/main" id="{5EB37DC1-8812-4B8E-B337-3709BBA0BF56}"/>
              </a:ext>
            </a:extLst>
          </p:cNvPr>
          <p:cNvSpPr>
            <a:spLocks noGrp="1" noChangeArrowheads="1"/>
          </p:cNvSpPr>
          <p:nvPr>
            <p:ph type="title"/>
          </p:nvPr>
        </p:nvSpPr>
        <p:spPr>
          <a:noFill/>
        </p:spPr>
        <p:txBody>
          <a:bodyPr/>
          <a:lstStyle/>
          <a:p>
            <a:r>
              <a:rPr lang="en-GB" altLang="en-US">
                <a:effectLst/>
              </a:rPr>
              <a:t>Breached fault-propagation folds</a:t>
            </a:r>
          </a:p>
        </p:txBody>
      </p:sp>
      <p:sp>
        <p:nvSpPr>
          <p:cNvPr id="266243" name="Rectangle 3">
            <a:extLst>
              <a:ext uri="{FF2B5EF4-FFF2-40B4-BE49-F238E27FC236}">
                <a16:creationId xmlns:a16="http://schemas.microsoft.com/office/drawing/2014/main" id="{59C0B918-1E89-47BF-8FBB-FB893E5D85DF}"/>
              </a:ext>
            </a:extLst>
          </p:cNvPr>
          <p:cNvSpPr>
            <a:spLocks noGrp="1" noChangeArrowheads="1"/>
          </p:cNvSpPr>
          <p:nvPr>
            <p:ph type="body" sz="half" idx="1"/>
          </p:nvPr>
        </p:nvSpPr>
        <p:spPr>
          <a:xfrm>
            <a:off x="103188" y="830263"/>
            <a:ext cx="8840787" cy="728662"/>
          </a:xfrm>
          <a:noFill/>
        </p:spPr>
        <p:txBody>
          <a:bodyPr/>
          <a:lstStyle/>
          <a:p>
            <a:pPr marL="177800" indent="-177800">
              <a:lnSpc>
                <a:spcPct val="110000"/>
              </a:lnSpc>
            </a:pPr>
            <a:r>
              <a:rPr lang="en-GB" altLang="en-US" sz="1700" dirty="0">
                <a:effectLst/>
              </a:rPr>
              <a:t>Thrusts may </a:t>
            </a:r>
            <a:r>
              <a:rPr lang="en-GB" altLang="en-US" sz="1700" dirty="0">
                <a:solidFill>
                  <a:srgbClr val="FF66CC"/>
                </a:solidFill>
                <a:effectLst/>
              </a:rPr>
              <a:t>breach</a:t>
            </a:r>
            <a:r>
              <a:rPr lang="en-GB" altLang="en-US" sz="1700" dirty="0">
                <a:effectLst/>
              </a:rPr>
              <a:t> a fault-propagation fold, usually cutting through the steeply dipping intermediate limb to form a </a:t>
            </a:r>
            <a:r>
              <a:rPr lang="en-GB" altLang="en-US" sz="1700" dirty="0">
                <a:solidFill>
                  <a:srgbClr val="FF6600"/>
                </a:solidFill>
                <a:effectLst/>
              </a:rPr>
              <a:t>hanging wall </a:t>
            </a:r>
            <a:r>
              <a:rPr lang="en-GB" altLang="en-US" sz="1700" dirty="0" err="1">
                <a:solidFill>
                  <a:srgbClr val="FF6600"/>
                </a:solidFill>
                <a:effectLst/>
              </a:rPr>
              <a:t>antiform</a:t>
            </a:r>
            <a:r>
              <a:rPr lang="en-GB" altLang="en-US" sz="1700" dirty="0">
                <a:effectLst/>
              </a:rPr>
              <a:t> and a </a:t>
            </a:r>
            <a:r>
              <a:rPr lang="en-GB" altLang="en-US" sz="1700" dirty="0">
                <a:solidFill>
                  <a:srgbClr val="FF6600"/>
                </a:solidFill>
                <a:effectLst/>
              </a:rPr>
              <a:t>footwall </a:t>
            </a:r>
            <a:r>
              <a:rPr lang="en-GB" altLang="en-US" sz="1700" dirty="0" err="1">
                <a:solidFill>
                  <a:srgbClr val="FF6600"/>
                </a:solidFill>
                <a:effectLst/>
              </a:rPr>
              <a:t>synform</a:t>
            </a:r>
            <a:endParaRPr lang="en-GB" altLang="en-US" sz="1700" dirty="0">
              <a:solidFill>
                <a:srgbClr val="FF6600"/>
              </a:solidFill>
              <a:effectLst/>
            </a:endParaRPr>
          </a:p>
        </p:txBody>
      </p:sp>
      <p:pic>
        <p:nvPicPr>
          <p:cNvPr id="266258" name="Picture 18">
            <a:extLst>
              <a:ext uri="{FF2B5EF4-FFF2-40B4-BE49-F238E27FC236}">
                <a16:creationId xmlns:a16="http://schemas.microsoft.com/office/drawing/2014/main" id="{719E2644-8C97-4CFD-93FC-7856829816FC}"/>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846763" y="4113213"/>
            <a:ext cx="3076575" cy="1616075"/>
          </a:xfrm>
          <a:noFill/>
          <a:ln w="38100" cap="flat">
            <a:solidFill>
              <a:schemeClr val="bg2"/>
            </a:solidFill>
            <a:miter lim="800000"/>
            <a:headEnd/>
            <a:tailEnd/>
          </a:ln>
        </p:spPr>
      </p:pic>
      <p:sp>
        <p:nvSpPr>
          <p:cNvPr id="266249" name="Text Box 9">
            <a:extLst>
              <a:ext uri="{FF2B5EF4-FFF2-40B4-BE49-F238E27FC236}">
                <a16:creationId xmlns:a16="http://schemas.microsoft.com/office/drawing/2014/main" id="{E3096EC2-48D1-4D81-86B3-2739E12068B4}"/>
              </a:ext>
            </a:extLst>
          </p:cNvPr>
          <p:cNvSpPr txBox="1">
            <a:spLocks noChangeArrowheads="1"/>
          </p:cNvSpPr>
          <p:nvPr/>
        </p:nvSpPr>
        <p:spPr bwMode="auto">
          <a:xfrm>
            <a:off x="114300" y="5907088"/>
            <a:ext cx="88487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a:t>
            </a:r>
            <a:r>
              <a:rPr lang="en-GB" altLang="en-US" sz="1700">
                <a:solidFill>
                  <a:srgbClr val="FF66FF"/>
                </a:solidFill>
                <a:effectLst>
                  <a:outerShdw blurRad="38100" dist="38100" dir="2700000" algn="tl">
                    <a:srgbClr val="000000"/>
                  </a:outerShdw>
                </a:effectLst>
                <a:latin typeface="Arial" panose="020B0604020202020204" pitchFamily="34" charset="0"/>
              </a:rPr>
              <a:t>space problem</a:t>
            </a:r>
            <a:r>
              <a:rPr lang="en-GB" altLang="en-US" sz="1700">
                <a:effectLst>
                  <a:outerShdw blurRad="38100" dist="38100" dir="2700000" algn="tl">
                    <a:srgbClr val="000000"/>
                  </a:outerShdw>
                </a:effectLst>
                <a:latin typeface="Arial" panose="020B0604020202020204" pitchFamily="34" charset="0"/>
              </a:rPr>
              <a:t> arising in the cores of folds may lead to the formation of </a:t>
            </a:r>
            <a:r>
              <a:rPr lang="en-GB" altLang="en-US" sz="1700">
                <a:solidFill>
                  <a:srgbClr val="FF6600"/>
                </a:solidFill>
                <a:effectLst>
                  <a:outerShdw blurRad="38100" dist="38100" dir="2700000" algn="tl">
                    <a:srgbClr val="000000"/>
                  </a:outerShdw>
                </a:effectLst>
                <a:latin typeface="Arial" panose="020B0604020202020204" pitchFamily="34" charset="0"/>
              </a:rPr>
              <a:t>out-of-the-syncline thrusts</a:t>
            </a:r>
            <a:r>
              <a:rPr lang="en-GB" altLang="en-US" sz="1700">
                <a:effectLst>
                  <a:outerShdw blurRad="38100" dist="38100" dir="2700000" algn="tl">
                    <a:srgbClr val="000000"/>
                  </a:outerShdw>
                </a:effectLst>
                <a:latin typeface="Arial" panose="020B0604020202020204" pitchFamily="34" charset="0"/>
              </a:rPr>
              <a:t>, and breaching may be assisted if the main thrust connects with these</a:t>
            </a:r>
          </a:p>
        </p:txBody>
      </p:sp>
      <p:grpSp>
        <p:nvGrpSpPr>
          <p:cNvPr id="266256" name="Group 16">
            <a:extLst>
              <a:ext uri="{FF2B5EF4-FFF2-40B4-BE49-F238E27FC236}">
                <a16:creationId xmlns:a16="http://schemas.microsoft.com/office/drawing/2014/main" id="{0CBA3311-EDDA-4D2D-B2D5-181B1EAF90A8}"/>
              </a:ext>
            </a:extLst>
          </p:cNvPr>
          <p:cNvGrpSpPr>
            <a:grpSpLocks/>
          </p:cNvGrpSpPr>
          <p:nvPr/>
        </p:nvGrpSpPr>
        <p:grpSpPr bwMode="auto">
          <a:xfrm>
            <a:off x="5807075" y="1646238"/>
            <a:ext cx="3148013" cy="2289175"/>
            <a:chOff x="226" y="2288"/>
            <a:chExt cx="2288" cy="1856"/>
          </a:xfrm>
        </p:grpSpPr>
        <p:pic>
          <p:nvPicPr>
            <p:cNvPr id="266248" name="Picture 8" descr="06a1-BroadHaven">
              <a:extLst>
                <a:ext uri="{FF2B5EF4-FFF2-40B4-BE49-F238E27FC236}">
                  <a16:creationId xmlns:a16="http://schemas.microsoft.com/office/drawing/2014/main" id="{E86776E0-68A9-42F9-95FD-2E473F4CFE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 y="2288"/>
              <a:ext cx="2288" cy="1856"/>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66250" name="Freeform 10">
              <a:extLst>
                <a:ext uri="{FF2B5EF4-FFF2-40B4-BE49-F238E27FC236}">
                  <a16:creationId xmlns:a16="http://schemas.microsoft.com/office/drawing/2014/main" id="{789F9321-6051-43DC-BA31-B6C5FB507C40}"/>
                </a:ext>
              </a:extLst>
            </p:cNvPr>
            <p:cNvSpPr>
              <a:spLocks/>
            </p:cNvSpPr>
            <p:nvPr/>
          </p:nvSpPr>
          <p:spPr bwMode="auto">
            <a:xfrm rot="-233548">
              <a:off x="738" y="3050"/>
              <a:ext cx="181" cy="87"/>
            </a:xfrm>
            <a:custGeom>
              <a:avLst/>
              <a:gdLst>
                <a:gd name="T0" fmla="*/ 181 w 181"/>
                <a:gd name="T1" fmla="*/ 75 h 75"/>
                <a:gd name="T2" fmla="*/ 0 w 181"/>
                <a:gd name="T3" fmla="*/ 17 h 75"/>
                <a:gd name="T4" fmla="*/ 70 w 181"/>
                <a:gd name="T5" fmla="*/ 0 h 75"/>
              </a:gdLst>
              <a:ahLst/>
              <a:cxnLst>
                <a:cxn ang="0">
                  <a:pos x="T0" y="T1"/>
                </a:cxn>
                <a:cxn ang="0">
                  <a:pos x="T2" y="T3"/>
                </a:cxn>
                <a:cxn ang="0">
                  <a:pos x="T4" y="T5"/>
                </a:cxn>
              </a:cxnLst>
              <a:rect l="0" t="0" r="r" b="b"/>
              <a:pathLst>
                <a:path w="181" h="75">
                  <a:moveTo>
                    <a:pt x="181" y="75"/>
                  </a:moveTo>
                  <a:lnTo>
                    <a:pt x="0" y="17"/>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66260" name="Freeform 20">
            <a:extLst>
              <a:ext uri="{FF2B5EF4-FFF2-40B4-BE49-F238E27FC236}">
                <a16:creationId xmlns:a16="http://schemas.microsoft.com/office/drawing/2014/main" id="{22794361-15AB-4F16-950F-3D3EFEAA4EBE}"/>
              </a:ext>
            </a:extLst>
          </p:cNvPr>
          <p:cNvSpPr>
            <a:spLocks/>
          </p:cNvSpPr>
          <p:nvPr/>
        </p:nvSpPr>
        <p:spPr bwMode="auto">
          <a:xfrm rot="-247699">
            <a:off x="341313" y="3157538"/>
            <a:ext cx="420687" cy="174625"/>
          </a:xfrm>
          <a:custGeom>
            <a:avLst/>
            <a:gdLst>
              <a:gd name="T0" fmla="*/ 265 w 265"/>
              <a:gd name="T1" fmla="*/ 110 h 110"/>
              <a:gd name="T2" fmla="*/ 0 w 265"/>
              <a:gd name="T3" fmla="*/ 32 h 110"/>
              <a:gd name="T4" fmla="*/ 97 w 265"/>
              <a:gd name="T5" fmla="*/ 0 h 110"/>
            </a:gdLst>
            <a:ahLst/>
            <a:cxnLst>
              <a:cxn ang="0">
                <a:pos x="T0" y="T1"/>
              </a:cxn>
              <a:cxn ang="0">
                <a:pos x="T2" y="T3"/>
              </a:cxn>
              <a:cxn ang="0">
                <a:pos x="T4" y="T5"/>
              </a:cxn>
            </a:cxnLst>
            <a:rect l="0" t="0" r="r" b="b"/>
            <a:pathLst>
              <a:path w="265" h="110">
                <a:moveTo>
                  <a:pt x="265" y="110"/>
                </a:moveTo>
                <a:lnTo>
                  <a:pt x="0" y="32"/>
                </a:lnTo>
                <a:lnTo>
                  <a:pt x="97"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a:extLst>
              <a:ext uri="{FF2B5EF4-FFF2-40B4-BE49-F238E27FC236}">
                <a16:creationId xmlns:a16="http://schemas.microsoft.com/office/drawing/2014/main" id="{6923C0BA-2E81-4F19-8B0F-9174A5A491E7}"/>
              </a:ext>
            </a:extLst>
          </p:cNvPr>
          <p:cNvSpPr>
            <a:spLocks noGrp="1" noChangeArrowheads="1"/>
          </p:cNvSpPr>
          <p:nvPr>
            <p:ph type="title"/>
          </p:nvPr>
        </p:nvSpPr>
        <p:spPr>
          <a:noFill/>
        </p:spPr>
        <p:txBody>
          <a:bodyPr/>
          <a:lstStyle/>
          <a:p>
            <a:r>
              <a:rPr lang="en-GB" altLang="en-US">
                <a:effectLst/>
              </a:rPr>
              <a:t>Breached fault-propagation folds  2</a:t>
            </a:r>
          </a:p>
        </p:txBody>
      </p:sp>
      <p:pic>
        <p:nvPicPr>
          <p:cNvPr id="409603" name="Picture 3" descr="06d-Reverse drag, Ketobe Knob, UT">
            <a:extLst>
              <a:ext uri="{FF2B5EF4-FFF2-40B4-BE49-F238E27FC236}">
                <a16:creationId xmlns:a16="http://schemas.microsoft.com/office/drawing/2014/main" id="{D375D9DC-8682-4507-9F5B-2919ACAB5061}"/>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69863" y="946150"/>
            <a:ext cx="4291012" cy="28702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605" name="Text Box 5">
            <a:extLst>
              <a:ext uri="{FF2B5EF4-FFF2-40B4-BE49-F238E27FC236}">
                <a16:creationId xmlns:a16="http://schemas.microsoft.com/office/drawing/2014/main" id="{B8CF7352-6449-4C44-AA32-5C2BFC84939F}"/>
              </a:ext>
            </a:extLst>
          </p:cNvPr>
          <p:cNvSpPr txBox="1">
            <a:spLocks noChangeArrowheads="1"/>
          </p:cNvSpPr>
          <p:nvPr/>
        </p:nvSpPr>
        <p:spPr bwMode="auto">
          <a:xfrm>
            <a:off x="4667250" y="895350"/>
            <a:ext cx="4219575"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tabLst>
                <a:tab pos="542925" algn="l"/>
              </a:tabLst>
              <a:defRPr sz="1600">
                <a:solidFill>
                  <a:schemeClr val="tx1"/>
                </a:solidFill>
                <a:latin typeface="Helvetica" panose="020B0604020202020204" pitchFamily="34" charset="0"/>
              </a:defRPr>
            </a:lvl1pPr>
            <a:lvl2pPr marL="541338">
              <a:tabLst>
                <a:tab pos="542925" algn="l"/>
              </a:tabLst>
              <a:defRPr sz="1600">
                <a:solidFill>
                  <a:schemeClr val="tx1"/>
                </a:solidFill>
                <a:latin typeface="Helvetica" panose="020B0604020202020204" pitchFamily="34" charset="0"/>
              </a:defRPr>
            </a:lvl2pPr>
            <a:lvl3pPr>
              <a:tabLst>
                <a:tab pos="542925" algn="l"/>
              </a:tabLst>
              <a:defRPr sz="1600">
                <a:solidFill>
                  <a:schemeClr val="tx1"/>
                </a:solidFill>
                <a:latin typeface="Helvetica" panose="020B0604020202020204" pitchFamily="34" charset="0"/>
              </a:defRPr>
            </a:lvl3pPr>
            <a:lvl4pPr>
              <a:tabLst>
                <a:tab pos="542925" algn="l"/>
              </a:tabLst>
              <a:defRPr sz="1600">
                <a:solidFill>
                  <a:schemeClr val="tx1"/>
                </a:solidFill>
                <a:latin typeface="Helvetica" panose="020B0604020202020204" pitchFamily="34" charset="0"/>
              </a:defRPr>
            </a:lvl4pPr>
            <a:lvl5pPr>
              <a:tabLst>
                <a:tab pos="542925" algn="l"/>
              </a:tabLst>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tabLst>
                <a:tab pos="542925" algn="l"/>
              </a:tabLst>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tabLst>
                <a:tab pos="542925" algn="l"/>
              </a:tabLst>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tabLst>
                <a:tab pos="542925" algn="l"/>
              </a:tabLst>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tabLst>
                <a:tab pos="542925" algn="l"/>
              </a:tabLst>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Hanging wall </a:t>
            </a:r>
            <a:r>
              <a:rPr lang="en-GB" altLang="en-US" sz="1700" dirty="0" err="1">
                <a:effectLst>
                  <a:outerShdw blurRad="38100" dist="38100" dir="2700000" algn="tl">
                    <a:srgbClr val="000000"/>
                  </a:outerShdw>
                </a:effectLst>
                <a:latin typeface="Arial" panose="020B0604020202020204" pitchFamily="34" charset="0"/>
              </a:rPr>
              <a:t>antifor</a:t>
            </a:r>
            <a:r>
              <a:rPr lang="en-GB" altLang="en-US" sz="1700" spc="300" dirty="0" err="1">
                <a:effectLst>
                  <a:outerShdw blurRad="38100" dist="38100" dir="2700000" algn="tl">
                    <a:srgbClr val="000000"/>
                  </a:outerShdw>
                </a:effectLst>
                <a:latin typeface="Arial" panose="020B0604020202020204" pitchFamily="34" charset="0"/>
              </a:rPr>
              <a:t>m</a:t>
            </a:r>
            <a:r>
              <a:rPr lang="en-GB" altLang="en-US" sz="1700" spc="300" dirty="0">
                <a:effectLst>
                  <a:outerShdw blurRad="38100" dist="38100" dir="2700000" algn="tl">
                    <a:srgbClr val="000000"/>
                  </a:outerShdw>
                </a:effectLst>
                <a:latin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rPr>
              <a:t>footwall </a:t>
            </a:r>
            <a:r>
              <a:rPr lang="en-GB" altLang="en-US" sz="1700" dirty="0" err="1">
                <a:effectLst>
                  <a:outerShdw blurRad="38100" dist="38100" dir="2700000" algn="tl">
                    <a:srgbClr val="000000"/>
                  </a:outerShdw>
                </a:effectLst>
                <a:latin typeface="Arial" panose="020B0604020202020204" pitchFamily="34" charset="0"/>
              </a:rPr>
              <a:t>synform</a:t>
            </a:r>
            <a:r>
              <a:rPr lang="en-GB" altLang="en-US" sz="1700" dirty="0">
                <a:effectLst>
                  <a:outerShdw blurRad="38100" dist="38100" dir="2700000" algn="tl">
                    <a:srgbClr val="000000"/>
                  </a:outerShdw>
                </a:effectLst>
                <a:latin typeface="Arial" panose="020B0604020202020204" pitchFamily="34" charset="0"/>
              </a:rPr>
              <a:t> pairs may also arise from </a:t>
            </a:r>
          </a:p>
          <a:p>
            <a:pPr>
              <a:lnSpc>
                <a:spcPct val="120000"/>
              </a:lnSpc>
              <a:spcBef>
                <a:spcPct val="30000"/>
              </a:spcBef>
            </a:pPr>
            <a:r>
              <a:rPr lang="en-GB" altLang="en-US" sz="1700" dirty="0">
                <a:effectLst>
                  <a:outerShdw blurRad="38100" dist="38100" dir="2700000" algn="tl">
                    <a:srgbClr val="000000"/>
                  </a:outerShdw>
                </a:effectLst>
                <a:latin typeface="Arial" panose="020B0604020202020204" pitchFamily="34" charset="0"/>
              </a:rPr>
              <a:t>	(a) 	</a:t>
            </a:r>
            <a:r>
              <a:rPr lang="en-GB" altLang="en-US" sz="1700" dirty="0">
                <a:solidFill>
                  <a:srgbClr val="FF6600"/>
                </a:solidFill>
                <a:effectLst>
                  <a:outerShdw blurRad="38100" dist="38100" dir="2700000" algn="tl">
                    <a:srgbClr val="000000"/>
                  </a:outerShdw>
                </a:effectLst>
                <a:latin typeface="Arial" panose="020B0604020202020204" pitchFamily="34" charset="0"/>
              </a:rPr>
              <a:t>drag</a:t>
            </a:r>
            <a:r>
              <a:rPr lang="en-GB" altLang="en-US" sz="1700" dirty="0">
                <a:effectLst>
                  <a:outerShdw blurRad="38100" dist="38100" dir="2700000" algn="tl">
                    <a:srgbClr val="000000"/>
                  </a:outerShdw>
                </a:effectLst>
                <a:latin typeface="Arial" panose="020B0604020202020204" pitchFamily="34" charset="0"/>
              </a:rPr>
              <a:t> </a:t>
            </a:r>
          </a:p>
          <a:p>
            <a:pPr>
              <a:lnSpc>
                <a:spcPct val="120000"/>
              </a:lnSpc>
              <a:spcBef>
                <a:spcPct val="30000"/>
              </a:spcBef>
            </a:pPr>
            <a:r>
              <a:rPr lang="en-GB" altLang="en-US" sz="1700" dirty="0">
                <a:effectLst>
                  <a:outerShdw blurRad="38100" dist="38100" dir="2700000" algn="tl">
                    <a:srgbClr val="000000"/>
                  </a:outerShdw>
                </a:effectLst>
                <a:latin typeface="Arial" panose="020B0604020202020204" pitchFamily="34" charset="0"/>
              </a:rPr>
              <a:t>	(b) 	</a:t>
            </a:r>
            <a:r>
              <a:rPr lang="en-GB" altLang="en-US" sz="1700" dirty="0">
                <a:solidFill>
                  <a:srgbClr val="FF6600"/>
                </a:solidFill>
                <a:effectLst>
                  <a:outerShdw blurRad="38100" dist="38100" dir="2700000" algn="tl">
                    <a:srgbClr val="000000"/>
                  </a:outerShdw>
                </a:effectLst>
                <a:latin typeface="Arial" panose="020B0604020202020204" pitchFamily="34" charset="0"/>
              </a:rPr>
              <a:t>progressive shearin</a:t>
            </a:r>
            <a:r>
              <a:rPr lang="en-GB" altLang="en-US" sz="1700" spc="300" dirty="0">
                <a:solidFill>
                  <a:srgbClr val="FF6600"/>
                </a:solidFill>
                <a:effectLst>
                  <a:outerShdw blurRad="38100" dist="38100" dir="2700000" algn="tl">
                    <a:srgbClr val="000000"/>
                  </a:outerShdw>
                </a:effectLst>
                <a:latin typeface="Arial" panose="020B0604020202020204" pitchFamily="34" charset="0"/>
              </a:rPr>
              <a:t>g</a:t>
            </a:r>
            <a:r>
              <a:rPr lang="en-GB" altLang="en-US" sz="1700" spc="300" dirty="0">
                <a:effectLst>
                  <a:outerShdw blurRad="38100" dist="38100" dir="2700000" algn="tl">
                    <a:srgbClr val="000000"/>
                  </a:outerShdw>
                </a:effectLst>
                <a:latin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rPr>
              <a:t>thinning of 	the connecting limb</a:t>
            </a:r>
          </a:p>
        </p:txBody>
      </p:sp>
      <p:sp>
        <p:nvSpPr>
          <p:cNvPr id="409606" name="Text Box 6">
            <a:extLst>
              <a:ext uri="{FF2B5EF4-FFF2-40B4-BE49-F238E27FC236}">
                <a16:creationId xmlns:a16="http://schemas.microsoft.com/office/drawing/2014/main" id="{707A100D-E279-4019-9AA8-35F12B6524A1}"/>
              </a:ext>
            </a:extLst>
          </p:cNvPr>
          <p:cNvSpPr txBox="1">
            <a:spLocks noChangeArrowheads="1"/>
          </p:cNvSpPr>
          <p:nvPr/>
        </p:nvSpPr>
        <p:spPr bwMode="auto">
          <a:xfrm>
            <a:off x="85725" y="3914775"/>
            <a:ext cx="10287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Drag fold</a:t>
            </a:r>
          </a:p>
        </p:txBody>
      </p:sp>
      <p:sp>
        <p:nvSpPr>
          <p:cNvPr id="409607" name="Text Box 7">
            <a:extLst>
              <a:ext uri="{FF2B5EF4-FFF2-40B4-BE49-F238E27FC236}">
                <a16:creationId xmlns:a16="http://schemas.microsoft.com/office/drawing/2014/main" id="{98AC7C19-42C2-4A87-B463-4BF06E5E792F}"/>
              </a:ext>
            </a:extLst>
          </p:cNvPr>
          <p:cNvSpPr txBox="1">
            <a:spLocks noChangeArrowheads="1"/>
          </p:cNvSpPr>
          <p:nvPr/>
        </p:nvSpPr>
        <p:spPr bwMode="auto">
          <a:xfrm>
            <a:off x="2354263" y="6302375"/>
            <a:ext cx="2185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Sheared connecting limb</a:t>
            </a:r>
          </a:p>
        </p:txBody>
      </p:sp>
      <p:pic>
        <p:nvPicPr>
          <p:cNvPr id="409609" name="Picture 9" descr="Flowfolds, Jotun Nappe">
            <a:extLst>
              <a:ext uri="{FF2B5EF4-FFF2-40B4-BE49-F238E27FC236}">
                <a16:creationId xmlns:a16="http://schemas.microsoft.com/office/drawing/2014/main" id="{BF0C508A-DF0C-4492-B6D6-7263BA6A0743}"/>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0263" y="3703638"/>
            <a:ext cx="4291012" cy="28702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611" name="Text Box 11">
            <a:extLst>
              <a:ext uri="{FF2B5EF4-FFF2-40B4-BE49-F238E27FC236}">
                <a16:creationId xmlns:a16="http://schemas.microsoft.com/office/drawing/2014/main" id="{99D3553B-3BF1-4697-9760-1DDA23D4DC3B}"/>
              </a:ext>
            </a:extLst>
          </p:cNvPr>
          <p:cNvSpPr txBox="1">
            <a:spLocks noChangeArrowheads="1"/>
          </p:cNvSpPr>
          <p:nvPr/>
        </p:nvSpPr>
        <p:spPr bwMode="auto">
          <a:xfrm>
            <a:off x="147638" y="4594225"/>
            <a:ext cx="4233862"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Distinguishing between these two cases and that of breached fault-propagation folds may not always be easy</a:t>
            </a:r>
          </a:p>
        </p:txBody>
      </p:sp>
      <p:sp>
        <p:nvSpPr>
          <p:cNvPr id="409613" name="Freeform 13">
            <a:extLst>
              <a:ext uri="{FF2B5EF4-FFF2-40B4-BE49-F238E27FC236}">
                <a16:creationId xmlns:a16="http://schemas.microsoft.com/office/drawing/2014/main" id="{CAF47B08-495B-4855-8340-B01746E0245E}"/>
              </a:ext>
            </a:extLst>
          </p:cNvPr>
          <p:cNvSpPr>
            <a:spLocks/>
          </p:cNvSpPr>
          <p:nvPr/>
        </p:nvSpPr>
        <p:spPr bwMode="auto">
          <a:xfrm>
            <a:off x="1968500" y="2371725"/>
            <a:ext cx="228600" cy="119063"/>
          </a:xfrm>
          <a:custGeom>
            <a:avLst/>
            <a:gdLst>
              <a:gd name="T0" fmla="*/ 0 w 144"/>
              <a:gd name="T1" fmla="*/ 75 h 75"/>
              <a:gd name="T2" fmla="*/ 144 w 144"/>
              <a:gd name="T3" fmla="*/ 25 h 75"/>
              <a:gd name="T4" fmla="*/ 87 w 144"/>
              <a:gd name="T5" fmla="*/ 0 h 75"/>
            </a:gdLst>
            <a:ahLst/>
            <a:cxnLst>
              <a:cxn ang="0">
                <a:pos x="T0" y="T1"/>
              </a:cxn>
              <a:cxn ang="0">
                <a:pos x="T2" y="T3"/>
              </a:cxn>
              <a:cxn ang="0">
                <a:pos x="T4" y="T5"/>
              </a:cxn>
            </a:cxnLst>
            <a:rect l="0" t="0" r="r" b="b"/>
            <a:pathLst>
              <a:path w="144" h="75">
                <a:moveTo>
                  <a:pt x="0" y="75"/>
                </a:moveTo>
                <a:lnTo>
                  <a:pt x="144" y="25"/>
                </a:lnTo>
                <a:lnTo>
                  <a:pt x="87"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09614" name="Freeform 14">
            <a:extLst>
              <a:ext uri="{FF2B5EF4-FFF2-40B4-BE49-F238E27FC236}">
                <a16:creationId xmlns:a16="http://schemas.microsoft.com/office/drawing/2014/main" id="{16DFD1D3-1C57-47B6-A38C-9F5655B33D3B}"/>
              </a:ext>
            </a:extLst>
          </p:cNvPr>
          <p:cNvSpPr>
            <a:spLocks/>
          </p:cNvSpPr>
          <p:nvPr/>
        </p:nvSpPr>
        <p:spPr bwMode="auto">
          <a:xfrm>
            <a:off x="7354888" y="5808663"/>
            <a:ext cx="198437" cy="119062"/>
          </a:xfrm>
          <a:custGeom>
            <a:avLst/>
            <a:gdLst>
              <a:gd name="T0" fmla="*/ 125 w 125"/>
              <a:gd name="T1" fmla="*/ 75 h 75"/>
              <a:gd name="T2" fmla="*/ 0 w 125"/>
              <a:gd name="T3" fmla="*/ 6 h 75"/>
              <a:gd name="T4" fmla="*/ 69 w 125"/>
              <a:gd name="T5" fmla="*/ 0 h 75"/>
            </a:gdLst>
            <a:ahLst/>
            <a:cxnLst>
              <a:cxn ang="0">
                <a:pos x="T0" y="T1"/>
              </a:cxn>
              <a:cxn ang="0">
                <a:pos x="T2" y="T3"/>
              </a:cxn>
              <a:cxn ang="0">
                <a:pos x="T4" y="T5"/>
              </a:cxn>
            </a:cxnLst>
            <a:rect l="0" t="0" r="r" b="b"/>
            <a:pathLst>
              <a:path w="125" h="75">
                <a:moveTo>
                  <a:pt x="125" y="75"/>
                </a:moveTo>
                <a:lnTo>
                  <a:pt x="0" y="6"/>
                </a:lnTo>
                <a:lnTo>
                  <a:pt x="69"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a:extLst>
              <a:ext uri="{FF2B5EF4-FFF2-40B4-BE49-F238E27FC236}">
                <a16:creationId xmlns:a16="http://schemas.microsoft.com/office/drawing/2014/main" id="{9F0D899D-DC85-4CDF-94CC-0619651FED5B}"/>
              </a:ext>
            </a:extLst>
          </p:cNvPr>
          <p:cNvSpPr>
            <a:spLocks noGrp="1" noChangeArrowheads="1"/>
          </p:cNvSpPr>
          <p:nvPr>
            <p:ph type="title"/>
          </p:nvPr>
        </p:nvSpPr>
        <p:spPr>
          <a:noFill/>
        </p:spPr>
        <p:txBody>
          <a:bodyPr/>
          <a:lstStyle/>
          <a:p>
            <a:r>
              <a:rPr lang="en-GB" altLang="en-US">
                <a:effectLst/>
              </a:rPr>
              <a:t>Folds around the margins of thrust sheets</a:t>
            </a:r>
          </a:p>
        </p:txBody>
      </p:sp>
      <p:sp>
        <p:nvSpPr>
          <p:cNvPr id="320515" name="Rectangle 3">
            <a:extLst>
              <a:ext uri="{FF2B5EF4-FFF2-40B4-BE49-F238E27FC236}">
                <a16:creationId xmlns:a16="http://schemas.microsoft.com/office/drawing/2014/main" id="{883D9EAF-5C49-4A36-A3AC-9F713054FCA5}"/>
              </a:ext>
            </a:extLst>
          </p:cNvPr>
          <p:cNvSpPr>
            <a:spLocks noGrp="1" noChangeArrowheads="1"/>
          </p:cNvSpPr>
          <p:nvPr>
            <p:ph type="body" sz="half" idx="1"/>
          </p:nvPr>
        </p:nvSpPr>
        <p:spPr>
          <a:xfrm>
            <a:off x="122238" y="760413"/>
            <a:ext cx="6119812" cy="1866900"/>
          </a:xfrm>
          <a:noFill/>
        </p:spPr>
        <p:txBody>
          <a:bodyPr/>
          <a:lstStyle/>
          <a:p>
            <a:pPr marL="177800" indent="-177800"/>
            <a:r>
              <a:rPr lang="en-GB" altLang="en-US" sz="1700" dirty="0">
                <a:effectLst/>
              </a:rPr>
              <a:t>The orientation of</a:t>
            </a:r>
            <a:r>
              <a:rPr lang="en-GB" altLang="en-US" sz="1700" dirty="0">
                <a:solidFill>
                  <a:srgbClr val="FF6600"/>
                </a:solidFill>
                <a:effectLst/>
              </a:rPr>
              <a:t> folds</a:t>
            </a:r>
            <a:r>
              <a:rPr lang="en-GB" altLang="en-US" sz="1700" dirty="0">
                <a:effectLst/>
              </a:rPr>
              <a:t> developed around the margins of a thrust sheet are determined by the </a:t>
            </a:r>
            <a:r>
              <a:rPr lang="en-GB" altLang="en-US" sz="1700" dirty="0">
                <a:solidFill>
                  <a:srgbClr val="FF66CC"/>
                </a:solidFill>
                <a:effectLst/>
              </a:rPr>
              <a:t>orientation of the ramps</a:t>
            </a:r>
            <a:r>
              <a:rPr lang="en-GB" altLang="en-US" sz="1700" dirty="0">
                <a:effectLst/>
              </a:rPr>
              <a:t> in the underlying footwall</a:t>
            </a:r>
          </a:p>
          <a:p>
            <a:pPr marL="177800" indent="-177800">
              <a:spcBef>
                <a:spcPct val="65000"/>
              </a:spcBef>
            </a:pPr>
            <a:r>
              <a:rPr lang="en-GB" altLang="en-US" sz="1700" dirty="0">
                <a:effectLst/>
              </a:rPr>
              <a:t>Over lateral and oblique ramps they form </a:t>
            </a:r>
            <a:r>
              <a:rPr lang="en-GB" altLang="en-US" sz="1700" dirty="0" err="1">
                <a:solidFill>
                  <a:srgbClr val="FF66CC"/>
                </a:solidFill>
                <a:effectLst/>
              </a:rPr>
              <a:t>en</a:t>
            </a:r>
            <a:r>
              <a:rPr lang="en-GB" altLang="en-US" sz="1700" dirty="0">
                <a:solidFill>
                  <a:srgbClr val="FF66CC"/>
                </a:solidFill>
                <a:effectLst/>
              </a:rPr>
              <a:t> </a:t>
            </a:r>
            <a:r>
              <a:rPr lang="en-GB" altLang="en-US" sz="1700" dirty="0" err="1">
                <a:solidFill>
                  <a:srgbClr val="FF66CC"/>
                </a:solidFill>
                <a:effectLst/>
              </a:rPr>
              <a:t>échelon</a:t>
            </a:r>
            <a:r>
              <a:rPr lang="en-GB" altLang="en-US" sz="1700" dirty="0">
                <a:solidFill>
                  <a:srgbClr val="FF66CC"/>
                </a:solidFill>
                <a:effectLst/>
              </a:rPr>
              <a:t> arrays </a:t>
            </a:r>
            <a:r>
              <a:rPr lang="en-GB" altLang="en-US" sz="1700" dirty="0">
                <a:effectLst/>
              </a:rPr>
              <a:t>(the sense of obliquity indicates the transport direction)</a:t>
            </a:r>
          </a:p>
        </p:txBody>
      </p:sp>
      <p:pic>
        <p:nvPicPr>
          <p:cNvPr id="320516" name="Picture 4">
            <a:extLst>
              <a:ext uri="{FF2B5EF4-FFF2-40B4-BE49-F238E27FC236}">
                <a16:creationId xmlns:a16="http://schemas.microsoft.com/office/drawing/2014/main" id="{EAD728B0-A764-457A-B9EB-D1723C765375}"/>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522913" y="2995613"/>
            <a:ext cx="3400425" cy="2925762"/>
          </a:xfrm>
          <a:noFill/>
          <a:ln w="38100" cap="flat">
            <a:solidFill>
              <a:schemeClr val="bg2"/>
            </a:solidFill>
            <a:miter lim="800000"/>
            <a:headEnd/>
            <a:tailEnd/>
          </a:ln>
        </p:spPr>
      </p:pic>
      <p:sp>
        <p:nvSpPr>
          <p:cNvPr id="320527" name="Text Box 15">
            <a:extLst>
              <a:ext uri="{FF2B5EF4-FFF2-40B4-BE49-F238E27FC236}">
                <a16:creationId xmlns:a16="http://schemas.microsoft.com/office/drawing/2014/main" id="{2F4A5B6C-C700-462C-AECA-E3668C2E0BB7}"/>
              </a:ext>
            </a:extLst>
          </p:cNvPr>
          <p:cNvSpPr txBox="1">
            <a:spLocks noChangeArrowheads="1"/>
          </p:cNvSpPr>
          <p:nvPr/>
        </p:nvSpPr>
        <p:spPr bwMode="auto">
          <a:xfrm>
            <a:off x="5276850" y="6115050"/>
            <a:ext cx="31242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Antiformal traces in the Digne nappe, SE France</a:t>
            </a:r>
          </a:p>
        </p:txBody>
      </p:sp>
      <p:pic>
        <p:nvPicPr>
          <p:cNvPr id="320528" name="Picture 16" descr="15a3">
            <a:extLst>
              <a:ext uri="{FF2B5EF4-FFF2-40B4-BE49-F238E27FC236}">
                <a16:creationId xmlns:a16="http://schemas.microsoft.com/office/drawing/2014/main" id="{5AA92822-6F40-4271-8E0E-A822577184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113" y="2754313"/>
            <a:ext cx="4965700" cy="38909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20530" name="Picture 18" descr="15a1">
            <a:extLst>
              <a:ext uri="{FF2B5EF4-FFF2-40B4-BE49-F238E27FC236}">
                <a16:creationId xmlns:a16="http://schemas.microsoft.com/office/drawing/2014/main" id="{A2925F71-1FB7-4BD2-93E0-440DAF1B6877}"/>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6392863" y="869950"/>
            <a:ext cx="2341562" cy="1900238"/>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42" name="Rectangle 10">
            <a:extLst>
              <a:ext uri="{FF2B5EF4-FFF2-40B4-BE49-F238E27FC236}">
                <a16:creationId xmlns:a16="http://schemas.microsoft.com/office/drawing/2014/main" id="{C29C9575-85C4-434E-9ACD-7468638FC813}"/>
              </a:ext>
            </a:extLst>
          </p:cNvPr>
          <p:cNvSpPr>
            <a:spLocks noChangeArrowheads="1"/>
          </p:cNvSpPr>
          <p:nvPr/>
        </p:nvSpPr>
        <p:spPr bwMode="auto">
          <a:xfrm>
            <a:off x="708025" y="2971800"/>
            <a:ext cx="3216275" cy="88582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4434" name="Rectangle 2">
            <a:extLst>
              <a:ext uri="{FF2B5EF4-FFF2-40B4-BE49-F238E27FC236}">
                <a16:creationId xmlns:a16="http://schemas.microsoft.com/office/drawing/2014/main" id="{4AE53CD5-B1B1-48F7-8A6E-698A952FAB88}"/>
              </a:ext>
            </a:extLst>
          </p:cNvPr>
          <p:cNvSpPr>
            <a:spLocks noGrp="1" noChangeArrowheads="1"/>
          </p:cNvSpPr>
          <p:nvPr>
            <p:ph type="title"/>
          </p:nvPr>
        </p:nvSpPr>
        <p:spPr>
          <a:noFill/>
        </p:spPr>
        <p:txBody>
          <a:bodyPr/>
          <a:lstStyle/>
          <a:p>
            <a:r>
              <a:rPr lang="en-GB" altLang="en-US">
                <a:effectLst/>
              </a:rPr>
              <a:t>Folds on flats (detachment folds)</a:t>
            </a:r>
          </a:p>
        </p:txBody>
      </p:sp>
      <p:sp>
        <p:nvSpPr>
          <p:cNvPr id="274435" name="Rectangle 3">
            <a:extLst>
              <a:ext uri="{FF2B5EF4-FFF2-40B4-BE49-F238E27FC236}">
                <a16:creationId xmlns:a16="http://schemas.microsoft.com/office/drawing/2014/main" id="{182AB7E5-4428-431A-89A9-86B9217CA726}"/>
              </a:ext>
            </a:extLst>
          </p:cNvPr>
          <p:cNvSpPr>
            <a:spLocks noGrp="1" noChangeArrowheads="1"/>
          </p:cNvSpPr>
          <p:nvPr>
            <p:ph type="body" sz="half" idx="1"/>
          </p:nvPr>
        </p:nvSpPr>
        <p:spPr>
          <a:xfrm>
            <a:off x="112713" y="774700"/>
            <a:ext cx="4443412" cy="2101850"/>
          </a:xfrm>
          <a:noFill/>
        </p:spPr>
        <p:txBody>
          <a:bodyPr/>
          <a:lstStyle/>
          <a:p>
            <a:pPr marL="177800" indent="-177800"/>
            <a:r>
              <a:rPr lang="en-GB" altLang="en-US" sz="1700" dirty="0">
                <a:solidFill>
                  <a:srgbClr val="FF6600"/>
                </a:solidFill>
                <a:effectLst/>
              </a:rPr>
              <a:t>Detachment folds</a:t>
            </a:r>
            <a:r>
              <a:rPr lang="en-GB" altLang="en-US" sz="1700" dirty="0">
                <a:effectLst/>
              </a:rPr>
              <a:t> form when layers above a décollement shorten more than their substrate (classic example: Jura Mts.)</a:t>
            </a:r>
          </a:p>
          <a:p>
            <a:pPr marL="177800" indent="-177800">
              <a:spcBef>
                <a:spcPct val="50000"/>
              </a:spcBef>
            </a:pPr>
            <a:r>
              <a:rPr lang="en-GB" altLang="en-US" sz="1700" dirty="0">
                <a:effectLst/>
              </a:rPr>
              <a:t>They tend to be </a:t>
            </a:r>
            <a:r>
              <a:rPr lang="en-GB" altLang="en-US" sz="1700" dirty="0">
                <a:solidFill>
                  <a:srgbClr val="FF66CC"/>
                </a:solidFill>
                <a:effectLst/>
              </a:rPr>
              <a:t>upright</a:t>
            </a:r>
            <a:r>
              <a:rPr lang="en-GB" altLang="en-US" sz="1700" dirty="0">
                <a:effectLst/>
              </a:rPr>
              <a:t> and to form over </a:t>
            </a:r>
            <a:r>
              <a:rPr lang="en-GB" altLang="en-US" sz="1700" dirty="0">
                <a:solidFill>
                  <a:srgbClr val="FF66CC"/>
                </a:solidFill>
                <a:effectLst/>
              </a:rPr>
              <a:t>very weak layers</a:t>
            </a:r>
            <a:r>
              <a:rPr lang="en-GB" altLang="en-US" sz="1700" dirty="0">
                <a:effectLst/>
              </a:rPr>
              <a:t> (over-pressured mudstones or evaporites)</a:t>
            </a:r>
          </a:p>
        </p:txBody>
      </p:sp>
      <p:pic>
        <p:nvPicPr>
          <p:cNvPr id="274436" name="Picture 2" descr="GR21.jpg">
            <a:extLst>
              <a:ext uri="{FF2B5EF4-FFF2-40B4-BE49-F238E27FC236}">
                <a16:creationId xmlns:a16="http://schemas.microsoft.com/office/drawing/2014/main" id="{2617A41E-1F2E-4A09-85F3-BEB86BA5F1A7}"/>
              </a:ext>
            </a:extLst>
          </p:cNvPr>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752475" y="3035300"/>
            <a:ext cx="3121025" cy="774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4441" name="Rectangle 9">
            <a:extLst>
              <a:ext uri="{FF2B5EF4-FFF2-40B4-BE49-F238E27FC236}">
                <a16:creationId xmlns:a16="http://schemas.microsoft.com/office/drawing/2014/main" id="{2C43BCCA-DB70-49C9-8B38-D4326AC723DC}"/>
              </a:ext>
            </a:extLst>
          </p:cNvPr>
          <p:cNvSpPr>
            <a:spLocks noChangeArrowheads="1"/>
          </p:cNvSpPr>
          <p:nvPr/>
        </p:nvSpPr>
        <p:spPr bwMode="auto">
          <a:xfrm>
            <a:off x="749300" y="3032125"/>
            <a:ext cx="193675" cy="1651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4443" name="Text Box 11">
            <a:extLst>
              <a:ext uri="{FF2B5EF4-FFF2-40B4-BE49-F238E27FC236}">
                <a16:creationId xmlns:a16="http://schemas.microsoft.com/office/drawing/2014/main" id="{29C5C8A3-D129-4F55-A212-D317BF0E94AD}"/>
              </a:ext>
            </a:extLst>
          </p:cNvPr>
          <p:cNvSpPr txBox="1">
            <a:spLocks noChangeArrowheads="1"/>
          </p:cNvSpPr>
          <p:nvPr/>
        </p:nvSpPr>
        <p:spPr bwMode="auto">
          <a:xfrm>
            <a:off x="4772025" y="6108700"/>
            <a:ext cx="4124325" cy="587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Analogue models of detachment folds compared with part of the Jura Mountains</a:t>
            </a:r>
          </a:p>
        </p:txBody>
      </p:sp>
      <p:pic>
        <p:nvPicPr>
          <p:cNvPr id="274444" name="Picture 12" descr="16a3">
            <a:extLst>
              <a:ext uri="{FF2B5EF4-FFF2-40B4-BE49-F238E27FC236}">
                <a16:creationId xmlns:a16="http://schemas.microsoft.com/office/drawing/2014/main" id="{6478937D-A7D5-47C5-80F5-20AA9A1D80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8988" y="887413"/>
            <a:ext cx="4402137" cy="51546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74446" name="Picture 14" descr="16a2">
            <a:extLst>
              <a:ext uri="{FF2B5EF4-FFF2-40B4-BE49-F238E27FC236}">
                <a16:creationId xmlns:a16="http://schemas.microsoft.com/office/drawing/2014/main" id="{9F51BFEC-878B-4D98-946C-2B5B116FDB11}"/>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214313" y="3995738"/>
            <a:ext cx="4189412" cy="27082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9" name="Rectangle 3">
            <a:extLst>
              <a:ext uri="{FF2B5EF4-FFF2-40B4-BE49-F238E27FC236}">
                <a16:creationId xmlns:a16="http://schemas.microsoft.com/office/drawing/2014/main" id="{1DDE7984-8451-4FAA-A1C4-137ADB2F692B}"/>
              </a:ext>
            </a:extLst>
          </p:cNvPr>
          <p:cNvSpPr>
            <a:spLocks noGrp="1" noChangeArrowheads="1"/>
          </p:cNvSpPr>
          <p:nvPr>
            <p:ph type="title"/>
          </p:nvPr>
        </p:nvSpPr>
        <p:spPr>
          <a:noFill/>
        </p:spPr>
        <p:txBody>
          <a:bodyPr/>
          <a:lstStyle/>
          <a:p>
            <a:r>
              <a:rPr lang="en-GB" altLang="en-US">
                <a:effectLst/>
              </a:rPr>
              <a:t>Detachment folds</a:t>
            </a:r>
          </a:p>
        </p:txBody>
      </p:sp>
      <p:sp>
        <p:nvSpPr>
          <p:cNvPr id="388100" name="Rectangle 4">
            <a:extLst>
              <a:ext uri="{FF2B5EF4-FFF2-40B4-BE49-F238E27FC236}">
                <a16:creationId xmlns:a16="http://schemas.microsoft.com/office/drawing/2014/main" id="{2BF6E329-B458-485C-89F4-BF3D39D05067}"/>
              </a:ext>
            </a:extLst>
          </p:cNvPr>
          <p:cNvSpPr>
            <a:spLocks noGrp="1" noChangeArrowheads="1"/>
          </p:cNvSpPr>
          <p:nvPr>
            <p:ph type="body" sz="half" idx="1"/>
          </p:nvPr>
        </p:nvSpPr>
        <p:spPr>
          <a:xfrm>
            <a:off x="112713" y="831850"/>
            <a:ext cx="4152900" cy="2752725"/>
          </a:xfrm>
          <a:noFill/>
        </p:spPr>
        <p:txBody>
          <a:bodyPr/>
          <a:lstStyle/>
          <a:p>
            <a:pPr marL="177800" indent="-177800"/>
            <a:r>
              <a:rPr lang="en-GB" altLang="en-US" sz="1700">
                <a:effectLst/>
              </a:rPr>
              <a:t>If the depth to the detachment (</a:t>
            </a:r>
            <a:r>
              <a:rPr lang="en-GB" altLang="en-US" sz="800">
                <a:effectLst/>
              </a:rPr>
              <a:t> </a:t>
            </a:r>
            <a:r>
              <a:rPr lang="en-GB" altLang="en-US" sz="1700" i="1">
                <a:solidFill>
                  <a:srgbClr val="FFFF00"/>
                </a:solidFill>
                <a:effectLst/>
              </a:rPr>
              <a:t>t</a:t>
            </a:r>
            <a:r>
              <a:rPr lang="en-GB" altLang="en-US" sz="1700" baseline="-25000">
                <a:solidFill>
                  <a:srgbClr val="FFFF00"/>
                </a:solidFill>
                <a:effectLst/>
              </a:rPr>
              <a:t>1</a:t>
            </a:r>
            <a:r>
              <a:rPr lang="en-GB" altLang="en-US" sz="800" baseline="-25000">
                <a:solidFill>
                  <a:srgbClr val="FFFF00"/>
                </a:solidFill>
                <a:effectLst/>
              </a:rPr>
              <a:t> </a:t>
            </a:r>
            <a:r>
              <a:rPr lang="en-GB" altLang="en-US" sz="1700">
                <a:effectLst/>
              </a:rPr>
              <a:t>) is known, together with the initial stratigraphic thickness (</a:t>
            </a:r>
            <a:r>
              <a:rPr lang="en-GB" altLang="en-US" sz="800">
                <a:effectLst/>
              </a:rPr>
              <a:t> </a:t>
            </a:r>
            <a:r>
              <a:rPr lang="en-GB" altLang="en-US" sz="1700" i="1">
                <a:solidFill>
                  <a:srgbClr val="FFFF00"/>
                </a:solidFill>
                <a:effectLst/>
              </a:rPr>
              <a:t>t</a:t>
            </a:r>
            <a:r>
              <a:rPr lang="en-GB" altLang="en-US" sz="1700" baseline="-25000">
                <a:solidFill>
                  <a:srgbClr val="FFFF00"/>
                </a:solidFill>
                <a:effectLst/>
              </a:rPr>
              <a:t>0</a:t>
            </a:r>
            <a:r>
              <a:rPr lang="en-GB" altLang="en-US" sz="800" baseline="-25000">
                <a:solidFill>
                  <a:srgbClr val="FFFF00"/>
                </a:solidFill>
                <a:effectLst/>
              </a:rPr>
              <a:t> </a:t>
            </a:r>
            <a:r>
              <a:rPr lang="en-GB" altLang="en-US" sz="1700">
                <a:effectLst/>
              </a:rPr>
              <a:t>), then assuming no volume change in the plane of section we can find the</a:t>
            </a:r>
            <a:r>
              <a:rPr lang="en-GB" altLang="en-US" sz="1700">
                <a:solidFill>
                  <a:srgbClr val="FF6600"/>
                </a:solidFill>
                <a:effectLst/>
              </a:rPr>
              <a:t> amount of shortening </a:t>
            </a:r>
            <a:r>
              <a:rPr lang="en-GB" altLang="en-US" sz="1700">
                <a:effectLst/>
              </a:rPr>
              <a:t>(</a:t>
            </a:r>
            <a:r>
              <a:rPr lang="en-GB" altLang="en-US" sz="800">
                <a:effectLst/>
              </a:rPr>
              <a:t> </a:t>
            </a:r>
            <a:r>
              <a:rPr lang="en-GB" altLang="en-US" sz="1700" i="1">
                <a:solidFill>
                  <a:srgbClr val="FFFF00"/>
                </a:solidFill>
                <a:effectLst/>
                <a:latin typeface="Symbol" panose="05050102010706020507" pitchFamily="18" charset="2"/>
              </a:rPr>
              <a:t>D</a:t>
            </a:r>
            <a:r>
              <a:rPr lang="en-GB" altLang="en-US" sz="800" i="1">
                <a:solidFill>
                  <a:srgbClr val="FFFF00"/>
                </a:solidFill>
                <a:effectLst/>
                <a:latin typeface="Symbol" panose="05050102010706020507" pitchFamily="18" charset="2"/>
              </a:rPr>
              <a:t> </a:t>
            </a:r>
            <a:r>
              <a:rPr lang="en-GB" altLang="en-US" sz="1700" i="1">
                <a:solidFill>
                  <a:srgbClr val="FFFF00"/>
                </a:solidFill>
                <a:effectLst/>
              </a:rPr>
              <a:t>L</a:t>
            </a:r>
            <a:r>
              <a:rPr lang="en-GB" altLang="en-US" sz="800" i="1">
                <a:effectLst/>
              </a:rPr>
              <a:t> </a:t>
            </a:r>
            <a:r>
              <a:rPr lang="en-GB" altLang="en-US" sz="1700">
                <a:effectLst/>
              </a:rPr>
              <a:t>)</a:t>
            </a:r>
            <a:r>
              <a:rPr lang="en-GB" altLang="en-US" sz="1700">
                <a:solidFill>
                  <a:srgbClr val="FF6600"/>
                </a:solidFill>
                <a:effectLst/>
              </a:rPr>
              <a:t> </a:t>
            </a:r>
            <a:r>
              <a:rPr lang="en-GB" altLang="en-US" sz="1700">
                <a:effectLst/>
              </a:rPr>
              <a:t>responsible for the folding by measuring area </a:t>
            </a:r>
            <a:r>
              <a:rPr lang="en-GB" altLang="en-US" sz="1700" i="1">
                <a:solidFill>
                  <a:srgbClr val="FFFF00"/>
                </a:solidFill>
                <a:effectLst/>
              </a:rPr>
              <a:t>A</a:t>
            </a:r>
            <a:r>
              <a:rPr lang="en-GB" altLang="en-US" sz="1700" i="1" baseline="-25000">
                <a:solidFill>
                  <a:srgbClr val="FFFF00"/>
                </a:solidFill>
                <a:effectLst/>
              </a:rPr>
              <a:t>x</a:t>
            </a:r>
            <a:r>
              <a:rPr lang="en-GB" altLang="en-US" sz="800" i="1" baseline="-25000">
                <a:solidFill>
                  <a:srgbClr val="FFFF00"/>
                </a:solidFill>
                <a:effectLst/>
              </a:rPr>
              <a:t> </a:t>
            </a:r>
            <a:r>
              <a:rPr lang="en-GB" altLang="en-US" sz="1700">
                <a:effectLst/>
              </a:rPr>
              <a:t>:</a:t>
            </a:r>
          </a:p>
          <a:p>
            <a:pPr marL="177800" indent="-177800">
              <a:lnSpc>
                <a:spcPct val="110000"/>
              </a:lnSpc>
              <a:spcBef>
                <a:spcPct val="50000"/>
              </a:spcBef>
              <a:buFont typeface="Times" panose="02020603050405020304" pitchFamily="18" charset="0"/>
              <a:buNone/>
            </a:pPr>
            <a:r>
              <a:rPr lang="en-GB" altLang="en-US" sz="1700">
                <a:effectLst/>
              </a:rPr>
              <a:t>	                  </a:t>
            </a:r>
            <a:r>
              <a:rPr lang="en-GB" altLang="en-US" sz="1700" i="1">
                <a:solidFill>
                  <a:srgbClr val="FFFF00"/>
                </a:solidFill>
                <a:effectLst/>
              </a:rPr>
              <a:t>A</a:t>
            </a:r>
            <a:r>
              <a:rPr lang="en-GB" altLang="en-US" sz="1700" i="1" baseline="-25000">
                <a:solidFill>
                  <a:srgbClr val="FFFF00"/>
                </a:solidFill>
                <a:effectLst/>
              </a:rPr>
              <a:t>x</a:t>
            </a:r>
            <a:r>
              <a:rPr lang="en-GB" altLang="en-US" sz="1700">
                <a:solidFill>
                  <a:srgbClr val="FFFF00"/>
                </a:solidFill>
                <a:effectLst/>
              </a:rPr>
              <a:t> = </a:t>
            </a:r>
            <a:r>
              <a:rPr lang="en-GB" altLang="en-US" sz="1700" i="1">
                <a:solidFill>
                  <a:srgbClr val="FFFF00"/>
                </a:solidFill>
                <a:effectLst/>
              </a:rPr>
              <a:t>A</a:t>
            </a:r>
            <a:r>
              <a:rPr lang="en-GB" altLang="en-US" sz="1700">
                <a:solidFill>
                  <a:srgbClr val="FFFF00"/>
                </a:solidFill>
                <a:effectLst/>
              </a:rPr>
              <a:t> = </a:t>
            </a:r>
            <a:r>
              <a:rPr lang="en-GB" altLang="en-US" sz="1700" i="1">
                <a:solidFill>
                  <a:srgbClr val="FFFF00"/>
                </a:solidFill>
                <a:effectLst/>
              </a:rPr>
              <a:t>t</a:t>
            </a:r>
            <a:r>
              <a:rPr lang="en-GB" altLang="en-US" sz="1700" baseline="-25000">
                <a:solidFill>
                  <a:srgbClr val="FFFF00"/>
                </a:solidFill>
                <a:effectLst/>
              </a:rPr>
              <a:t>0</a:t>
            </a:r>
            <a:r>
              <a:rPr lang="en-GB" altLang="en-US" sz="1700" i="1">
                <a:solidFill>
                  <a:srgbClr val="FFFF00"/>
                </a:solidFill>
                <a:effectLst/>
              </a:rPr>
              <a:t> </a:t>
            </a:r>
            <a:r>
              <a:rPr lang="en-GB" altLang="en-US" sz="1700" i="1">
                <a:solidFill>
                  <a:srgbClr val="FFFF00"/>
                </a:solidFill>
                <a:effectLst/>
                <a:latin typeface="Symbol" panose="05050102010706020507" pitchFamily="18" charset="2"/>
              </a:rPr>
              <a:t>D</a:t>
            </a:r>
            <a:r>
              <a:rPr lang="en-GB" altLang="en-US" sz="800" i="1">
                <a:solidFill>
                  <a:srgbClr val="FFFF00"/>
                </a:solidFill>
                <a:effectLst/>
                <a:latin typeface="Symbol" panose="05050102010706020507" pitchFamily="18" charset="2"/>
              </a:rPr>
              <a:t> </a:t>
            </a:r>
            <a:r>
              <a:rPr lang="en-GB" altLang="en-US" sz="1700" i="1">
                <a:solidFill>
                  <a:srgbClr val="FFFF00"/>
                </a:solidFill>
                <a:effectLst/>
              </a:rPr>
              <a:t>L</a:t>
            </a:r>
          </a:p>
        </p:txBody>
      </p:sp>
      <p:pic>
        <p:nvPicPr>
          <p:cNvPr id="388108" name="Picture 12" descr="08b-Decollement folds in 10 ky glacifluvial sediment, Etne">
            <a:extLst>
              <a:ext uri="{FF2B5EF4-FFF2-40B4-BE49-F238E27FC236}">
                <a16:creationId xmlns:a16="http://schemas.microsoft.com/office/drawing/2014/main" id="{6C16B3A7-CC09-41D0-BCD2-FC7A30B78CA1}"/>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27025" y="4048125"/>
            <a:ext cx="6777038" cy="26146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8105" name="Text Box 9">
            <a:extLst>
              <a:ext uri="{FF2B5EF4-FFF2-40B4-BE49-F238E27FC236}">
                <a16:creationId xmlns:a16="http://schemas.microsoft.com/office/drawing/2014/main" id="{1BE72C89-54BD-49A2-B9B4-C630934B3EAF}"/>
              </a:ext>
            </a:extLst>
          </p:cNvPr>
          <p:cNvSpPr txBox="1">
            <a:spLocks noChangeArrowheads="1"/>
          </p:cNvSpPr>
          <p:nvPr/>
        </p:nvSpPr>
        <p:spPr bwMode="auto">
          <a:xfrm>
            <a:off x="7281863" y="5381625"/>
            <a:ext cx="11779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Detachment folds in Holocene glaciofluvial sediments</a:t>
            </a:r>
          </a:p>
        </p:txBody>
      </p:sp>
      <p:pic>
        <p:nvPicPr>
          <p:cNvPr id="388110" name="Picture 14" descr="08c">
            <a:extLst>
              <a:ext uri="{FF2B5EF4-FFF2-40B4-BE49-F238E27FC236}">
                <a16:creationId xmlns:a16="http://schemas.microsoft.com/office/drawing/2014/main" id="{442CF9AB-CB15-43C7-A751-560FD396B30E}"/>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562475" y="920750"/>
            <a:ext cx="4330700" cy="29194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8112" name="Line 16">
            <a:extLst>
              <a:ext uri="{FF2B5EF4-FFF2-40B4-BE49-F238E27FC236}">
                <a16:creationId xmlns:a16="http://schemas.microsoft.com/office/drawing/2014/main" id="{36AEF91F-EE87-4B5E-A167-1701B05939FE}"/>
              </a:ext>
            </a:extLst>
          </p:cNvPr>
          <p:cNvSpPr>
            <a:spLocks noChangeShapeType="1"/>
          </p:cNvSpPr>
          <p:nvPr/>
        </p:nvSpPr>
        <p:spPr bwMode="auto">
          <a:xfrm flipV="1">
            <a:off x="8172450" y="1603375"/>
            <a:ext cx="0" cy="15557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8113" name="Line 17">
            <a:extLst>
              <a:ext uri="{FF2B5EF4-FFF2-40B4-BE49-F238E27FC236}">
                <a16:creationId xmlns:a16="http://schemas.microsoft.com/office/drawing/2014/main" id="{60B5EF31-D567-4974-A5A9-6031500A9231}"/>
              </a:ext>
            </a:extLst>
          </p:cNvPr>
          <p:cNvSpPr>
            <a:spLocks noChangeShapeType="1"/>
          </p:cNvSpPr>
          <p:nvPr/>
        </p:nvSpPr>
        <p:spPr bwMode="auto">
          <a:xfrm flipH="1">
            <a:off x="7635875" y="1682750"/>
            <a:ext cx="536575"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8114" name="Text Box 18">
            <a:extLst>
              <a:ext uri="{FF2B5EF4-FFF2-40B4-BE49-F238E27FC236}">
                <a16:creationId xmlns:a16="http://schemas.microsoft.com/office/drawing/2014/main" id="{A63BE67D-A65B-40A3-BD98-F0A16B8E3AFF}"/>
              </a:ext>
            </a:extLst>
          </p:cNvPr>
          <p:cNvSpPr txBox="1">
            <a:spLocks noChangeArrowheads="1"/>
          </p:cNvSpPr>
          <p:nvPr/>
        </p:nvSpPr>
        <p:spPr bwMode="auto">
          <a:xfrm>
            <a:off x="7759700" y="1431925"/>
            <a:ext cx="4191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i="1">
                <a:solidFill>
                  <a:srgbClr val="FF0000"/>
                </a:solidFill>
                <a:effectLst/>
                <a:latin typeface="Symbol" panose="05050102010706020507" pitchFamily="18" charset="2"/>
              </a:rPr>
              <a:t>D</a:t>
            </a:r>
            <a:r>
              <a:rPr lang="en-GB" altLang="en-US" sz="1200" i="1">
                <a:solidFill>
                  <a:srgbClr val="FF0000"/>
                </a:solidFill>
                <a:effectLst/>
              </a:rPr>
              <a:t>L</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2D31D22D-37EC-4EE6-A04D-73DF9B6CB98B}"/>
              </a:ext>
            </a:extLst>
          </p:cNvPr>
          <p:cNvSpPr>
            <a:spLocks noGrp="1" noChangeArrowheads="1"/>
          </p:cNvSpPr>
          <p:nvPr>
            <p:ph type="title"/>
          </p:nvPr>
        </p:nvSpPr>
        <p:spPr>
          <a:noFill/>
        </p:spPr>
        <p:txBody>
          <a:bodyPr/>
          <a:lstStyle/>
          <a:p>
            <a:r>
              <a:rPr lang="en-GB" altLang="en-US">
                <a:effectLst/>
              </a:rPr>
              <a:t>Folds over antiformal stacks</a:t>
            </a:r>
          </a:p>
        </p:txBody>
      </p:sp>
      <p:sp>
        <p:nvSpPr>
          <p:cNvPr id="226307" name="Rectangle 3">
            <a:extLst>
              <a:ext uri="{FF2B5EF4-FFF2-40B4-BE49-F238E27FC236}">
                <a16:creationId xmlns:a16="http://schemas.microsoft.com/office/drawing/2014/main" id="{BA68DB01-DD25-472A-B586-8018DE0BF17B}"/>
              </a:ext>
            </a:extLst>
          </p:cNvPr>
          <p:cNvSpPr>
            <a:spLocks noGrp="1" noChangeArrowheads="1"/>
          </p:cNvSpPr>
          <p:nvPr>
            <p:ph type="body" sz="half" idx="1"/>
          </p:nvPr>
        </p:nvSpPr>
        <p:spPr>
          <a:xfrm>
            <a:off x="731838" y="5222875"/>
            <a:ext cx="7615237" cy="1062038"/>
          </a:xfrm>
          <a:noFill/>
        </p:spPr>
        <p:txBody>
          <a:bodyPr/>
          <a:lstStyle/>
          <a:p>
            <a:pPr marL="0" indent="0">
              <a:buFont typeface="Times" panose="02020603050405020304" pitchFamily="18" charset="0"/>
              <a:buNone/>
            </a:pPr>
            <a:r>
              <a:rPr lang="en-GB" altLang="en-US" sz="1400" dirty="0">
                <a:solidFill>
                  <a:srgbClr val="FFFF00"/>
                </a:solidFill>
                <a:effectLst/>
              </a:rPr>
              <a:t>In thrust systems the fold core may be an antiformal stack. The </a:t>
            </a:r>
            <a:r>
              <a:rPr lang="en-GB" altLang="en-US" sz="1400" dirty="0" err="1">
                <a:solidFill>
                  <a:srgbClr val="FFFF00"/>
                </a:solidFill>
                <a:effectLst/>
              </a:rPr>
              <a:t>Oliana</a:t>
            </a:r>
            <a:r>
              <a:rPr lang="en-GB" altLang="en-US" sz="1400" dirty="0">
                <a:solidFill>
                  <a:srgbClr val="FFFF00"/>
                </a:solidFill>
                <a:effectLst/>
              </a:rPr>
              <a:t> </a:t>
            </a:r>
            <a:r>
              <a:rPr lang="en-GB" altLang="en-US" sz="1400" dirty="0" err="1">
                <a:solidFill>
                  <a:srgbClr val="FFFF00"/>
                </a:solidFill>
                <a:effectLst/>
              </a:rPr>
              <a:t>antiform</a:t>
            </a:r>
            <a:r>
              <a:rPr lang="en-GB" altLang="en-US" sz="1400" dirty="0">
                <a:solidFill>
                  <a:srgbClr val="FFFF00"/>
                </a:solidFill>
                <a:effectLst/>
              </a:rPr>
              <a:t> is an example, in this case formed in Eocen</a:t>
            </a:r>
            <a:r>
              <a:rPr lang="en-GB" altLang="en-US" sz="1400" spc="300" dirty="0">
                <a:solidFill>
                  <a:srgbClr val="FFFF00"/>
                </a:solidFill>
                <a:effectLst/>
              </a:rPr>
              <a:t>e/</a:t>
            </a:r>
            <a:r>
              <a:rPr lang="en-GB" altLang="en-US" sz="1400" dirty="0">
                <a:solidFill>
                  <a:srgbClr val="FFFF00"/>
                </a:solidFill>
                <a:effectLst/>
              </a:rPr>
              <a:t>Oligocene units in front of the Pyrenean thrust sheets</a:t>
            </a:r>
          </a:p>
        </p:txBody>
      </p:sp>
      <p:pic>
        <p:nvPicPr>
          <p:cNvPr id="226312" name="Picture 8" descr="17a1">
            <a:extLst>
              <a:ext uri="{FF2B5EF4-FFF2-40B4-BE49-F238E27FC236}">
                <a16:creationId xmlns:a16="http://schemas.microsoft.com/office/drawing/2014/main" id="{AFD521D2-DB9A-4D4C-B6EE-8969237669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8" y="1154113"/>
            <a:ext cx="8793162" cy="38703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7490" name="Picture 2" descr="Slide41">
            <a:extLst>
              <a:ext uri="{FF2B5EF4-FFF2-40B4-BE49-F238E27FC236}">
                <a16:creationId xmlns:a16="http://schemas.microsoft.com/office/drawing/2014/main" id="{59218F29-2207-4367-8EFA-FED6E1A357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3" y="5181600"/>
            <a:ext cx="5051425" cy="14795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47493" name="Rectangle 5">
            <a:extLst>
              <a:ext uri="{FF2B5EF4-FFF2-40B4-BE49-F238E27FC236}">
                <a16:creationId xmlns:a16="http://schemas.microsoft.com/office/drawing/2014/main" id="{9942B248-D266-40CD-9A3C-B73428EDD805}"/>
              </a:ext>
            </a:extLst>
          </p:cNvPr>
          <p:cNvSpPr>
            <a:spLocks noGrp="1" noChangeArrowheads="1"/>
          </p:cNvSpPr>
          <p:nvPr>
            <p:ph type="title"/>
          </p:nvPr>
        </p:nvSpPr>
        <p:spPr>
          <a:noFill/>
        </p:spPr>
        <p:txBody>
          <a:bodyPr/>
          <a:lstStyle/>
          <a:p>
            <a:r>
              <a:rPr lang="en-GB" altLang="en-US">
                <a:effectLst/>
              </a:rPr>
              <a:t>Folds in syntectonic sedimentary sequences</a:t>
            </a:r>
          </a:p>
        </p:txBody>
      </p:sp>
      <p:sp>
        <p:nvSpPr>
          <p:cNvPr id="447494" name="Rectangle 6">
            <a:extLst>
              <a:ext uri="{FF2B5EF4-FFF2-40B4-BE49-F238E27FC236}">
                <a16:creationId xmlns:a16="http://schemas.microsoft.com/office/drawing/2014/main" id="{3950BD6E-9A03-4C46-A745-D22B7BAA228E}"/>
              </a:ext>
            </a:extLst>
          </p:cNvPr>
          <p:cNvSpPr>
            <a:spLocks noGrp="1" noChangeArrowheads="1"/>
          </p:cNvSpPr>
          <p:nvPr>
            <p:ph type="body" sz="half" idx="1"/>
          </p:nvPr>
        </p:nvSpPr>
        <p:spPr>
          <a:xfrm>
            <a:off x="112713" y="771525"/>
            <a:ext cx="8885237" cy="695325"/>
          </a:xfrm>
          <a:noFill/>
        </p:spPr>
        <p:txBody>
          <a:bodyPr/>
          <a:lstStyle/>
          <a:p>
            <a:pPr marL="174625" indent="-174625"/>
            <a:r>
              <a:rPr lang="en-GB" altLang="en-US" sz="1700">
                <a:effectLst/>
              </a:rPr>
              <a:t>Examining and dating the sedimentary record in units deposited as the structures were forming  </a:t>
            </a:r>
            <a:r>
              <a:rPr lang="en-GB" altLang="en-US" sz="1700">
                <a:effectLst/>
                <a:cs typeface="Arial" panose="020B0604020202020204" pitchFamily="34" charset="0"/>
              </a:rPr>
              <a:t>→ </a:t>
            </a:r>
            <a:r>
              <a:rPr lang="en-GB" altLang="en-US" sz="1700">
                <a:effectLst/>
              </a:rPr>
              <a:t> </a:t>
            </a:r>
            <a:r>
              <a:rPr lang="en-GB" altLang="en-US" sz="1700">
                <a:solidFill>
                  <a:srgbClr val="FF66FF"/>
                </a:solidFill>
                <a:effectLst/>
              </a:rPr>
              <a:t>natural experiments</a:t>
            </a:r>
          </a:p>
        </p:txBody>
      </p:sp>
      <p:sp>
        <p:nvSpPr>
          <p:cNvPr id="447497" name="Freeform 9">
            <a:extLst>
              <a:ext uri="{FF2B5EF4-FFF2-40B4-BE49-F238E27FC236}">
                <a16:creationId xmlns:a16="http://schemas.microsoft.com/office/drawing/2014/main" id="{CB13126C-55E3-4941-8CF4-0DF60B02A948}"/>
              </a:ext>
            </a:extLst>
          </p:cNvPr>
          <p:cNvSpPr>
            <a:spLocks/>
          </p:cNvSpPr>
          <p:nvPr/>
        </p:nvSpPr>
        <p:spPr bwMode="auto">
          <a:xfrm rot="201987">
            <a:off x="3346450" y="5599113"/>
            <a:ext cx="184150" cy="53975"/>
          </a:xfrm>
          <a:custGeom>
            <a:avLst/>
            <a:gdLst>
              <a:gd name="T0" fmla="*/ 116 w 116"/>
              <a:gd name="T1" fmla="*/ 12 h 34"/>
              <a:gd name="T2" fmla="*/ 0 w 116"/>
              <a:gd name="T3" fmla="*/ 34 h 34"/>
              <a:gd name="T4" fmla="*/ 26 w 116"/>
              <a:gd name="T5" fmla="*/ 0 h 34"/>
            </a:gdLst>
            <a:ahLst/>
            <a:cxnLst>
              <a:cxn ang="0">
                <a:pos x="T0" y="T1"/>
              </a:cxn>
              <a:cxn ang="0">
                <a:pos x="T2" y="T3"/>
              </a:cxn>
              <a:cxn ang="0">
                <a:pos x="T4" y="T5"/>
              </a:cxn>
            </a:cxnLst>
            <a:rect l="0" t="0" r="r" b="b"/>
            <a:pathLst>
              <a:path w="116" h="34">
                <a:moveTo>
                  <a:pt x="116" y="12"/>
                </a:moveTo>
                <a:lnTo>
                  <a:pt x="0" y="34"/>
                </a:lnTo>
                <a:lnTo>
                  <a:pt x="26"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447498" name="Picture 10" descr="Velo1">
            <a:extLst>
              <a:ext uri="{FF2B5EF4-FFF2-40B4-BE49-F238E27FC236}">
                <a16:creationId xmlns:a16="http://schemas.microsoft.com/office/drawing/2014/main" id="{FF200E1C-944B-432B-A39B-D0DEF35A70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275" y="1563688"/>
            <a:ext cx="5048250" cy="34829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47502" name="Text Box 14">
            <a:extLst>
              <a:ext uri="{FF2B5EF4-FFF2-40B4-BE49-F238E27FC236}">
                <a16:creationId xmlns:a16="http://schemas.microsoft.com/office/drawing/2014/main" id="{BADD81E5-DAC3-4443-8BDC-7DEB83AE4413}"/>
              </a:ext>
            </a:extLst>
          </p:cNvPr>
          <p:cNvSpPr txBox="1">
            <a:spLocks noChangeArrowheads="1"/>
          </p:cNvSpPr>
          <p:nvPr/>
        </p:nvSpPr>
        <p:spPr bwMode="auto">
          <a:xfrm>
            <a:off x="5284788" y="6162675"/>
            <a:ext cx="385921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150000"/>
              </a:spcBef>
            </a:pPr>
            <a:r>
              <a:rPr lang="en-GB" altLang="en-US" sz="1400">
                <a:solidFill>
                  <a:srgbClr val="FFFF00"/>
                </a:solidFill>
                <a:effectLst>
                  <a:outerShdw blurRad="38100" dist="38100" dir="2700000" algn="tl">
                    <a:srgbClr val="000000"/>
                  </a:outerShdw>
                </a:effectLst>
                <a:latin typeface="Arial" panose="020B0604020202020204" pitchFamily="34" charset="0"/>
              </a:rPr>
              <a:t>Development of the Vélodrome structure during emplacement of the Digne nappe</a:t>
            </a:r>
          </a:p>
        </p:txBody>
      </p:sp>
      <p:pic>
        <p:nvPicPr>
          <p:cNvPr id="447503" name="Picture 15" descr="09b">
            <a:extLst>
              <a:ext uri="{FF2B5EF4-FFF2-40B4-BE49-F238E27FC236}">
                <a16:creationId xmlns:a16="http://schemas.microsoft.com/office/drawing/2014/main" id="{A1C08603-6A3F-4F64-8549-865623428F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10507"/>
          <a:stretch>
            <a:fillRect/>
          </a:stretch>
        </p:blipFill>
        <p:spPr bwMode="auto">
          <a:xfrm>
            <a:off x="5416550" y="1376363"/>
            <a:ext cx="3587750" cy="20145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47504" name="Freeform 16">
            <a:extLst>
              <a:ext uri="{FF2B5EF4-FFF2-40B4-BE49-F238E27FC236}">
                <a16:creationId xmlns:a16="http://schemas.microsoft.com/office/drawing/2014/main" id="{13A3AA6D-66D1-4751-8EE3-902C5CE5FC9C}"/>
              </a:ext>
            </a:extLst>
          </p:cNvPr>
          <p:cNvSpPr>
            <a:spLocks/>
          </p:cNvSpPr>
          <p:nvPr/>
        </p:nvSpPr>
        <p:spPr bwMode="auto">
          <a:xfrm rot="-880583">
            <a:off x="8186738" y="1657350"/>
            <a:ext cx="342900" cy="209550"/>
          </a:xfrm>
          <a:custGeom>
            <a:avLst/>
            <a:gdLst>
              <a:gd name="T0" fmla="*/ 216 w 216"/>
              <a:gd name="T1" fmla="*/ 132 h 132"/>
              <a:gd name="T2" fmla="*/ 0 w 216"/>
              <a:gd name="T3" fmla="*/ 0 h 132"/>
              <a:gd name="T4" fmla="*/ 96 w 216"/>
              <a:gd name="T5" fmla="*/ 0 h 132"/>
            </a:gdLst>
            <a:ahLst/>
            <a:cxnLst>
              <a:cxn ang="0">
                <a:pos x="T0" y="T1"/>
              </a:cxn>
              <a:cxn ang="0">
                <a:pos x="T2" y="T3"/>
              </a:cxn>
              <a:cxn ang="0">
                <a:pos x="T4" y="T5"/>
              </a:cxn>
            </a:cxnLst>
            <a:rect l="0" t="0" r="r" b="b"/>
            <a:pathLst>
              <a:path w="216" h="132">
                <a:moveTo>
                  <a:pt x="216" y="132"/>
                </a:moveTo>
                <a:lnTo>
                  <a:pt x="0" y="0"/>
                </a:lnTo>
                <a:lnTo>
                  <a:pt x="96"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447507" name="Picture 19" descr="09a-Senez">
            <a:extLst>
              <a:ext uri="{FF2B5EF4-FFF2-40B4-BE49-F238E27FC236}">
                <a16:creationId xmlns:a16="http://schemas.microsoft.com/office/drawing/2014/main" id="{99665D89-2E3B-468A-B2B8-4621A6F0654D}"/>
              </a:ext>
            </a:extLst>
          </p:cNvPr>
          <p:cNvPicPr>
            <a:picLocks noGrp="1" noChangeAspect="1" noChangeArrowheads="1"/>
          </p:cNvPicPr>
          <p:nvPr>
            <p:ph sz="quarter" idx="3"/>
          </p:nvPr>
        </p:nvPicPr>
        <p:blipFill>
          <a:blip r:embed="rId6">
            <a:extLst>
              <a:ext uri="{28A0092B-C50C-407E-A947-70E740481C1C}">
                <a14:useLocalDpi xmlns:a14="http://schemas.microsoft.com/office/drawing/2010/main" val="0"/>
              </a:ext>
            </a:extLst>
          </a:blip>
          <a:srcRect r="9456" b="8517"/>
          <a:stretch>
            <a:fillRect/>
          </a:stretch>
        </p:blipFill>
        <p:spPr>
          <a:xfrm>
            <a:off x="5408613" y="3546475"/>
            <a:ext cx="3587750" cy="23129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7509" name="Text Box 21">
            <a:extLst>
              <a:ext uri="{FF2B5EF4-FFF2-40B4-BE49-F238E27FC236}">
                <a16:creationId xmlns:a16="http://schemas.microsoft.com/office/drawing/2014/main" id="{EDEC95B8-396E-498E-8177-93C20B884585}"/>
              </a:ext>
            </a:extLst>
          </p:cNvPr>
          <p:cNvSpPr txBox="1">
            <a:spLocks noChangeArrowheads="1"/>
          </p:cNvSpPr>
          <p:nvPr/>
        </p:nvSpPr>
        <p:spPr bwMode="auto">
          <a:xfrm>
            <a:off x="5424488" y="1363663"/>
            <a:ext cx="15795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150000"/>
              </a:spcBef>
            </a:pPr>
            <a:r>
              <a:rPr lang="en-GB" altLang="en-US" sz="1400">
                <a:solidFill>
                  <a:srgbClr val="FFFF00"/>
                </a:solidFill>
                <a:effectLst>
                  <a:outerShdw blurRad="38100" dist="38100" dir="2700000" algn="tl">
                    <a:srgbClr val="000000"/>
                  </a:outerShdw>
                </a:effectLst>
                <a:latin typeface="Arial" panose="020B0604020202020204" pitchFamily="34" charset="0"/>
              </a:rPr>
              <a:t>Horta, NW Spain</a:t>
            </a:r>
          </a:p>
        </p:txBody>
      </p:sp>
      <p:sp>
        <p:nvSpPr>
          <p:cNvPr id="447510" name="Text Box 22">
            <a:extLst>
              <a:ext uri="{FF2B5EF4-FFF2-40B4-BE49-F238E27FC236}">
                <a16:creationId xmlns:a16="http://schemas.microsoft.com/office/drawing/2014/main" id="{09B411AD-396B-427B-9249-B83DC66BB36D}"/>
              </a:ext>
            </a:extLst>
          </p:cNvPr>
          <p:cNvSpPr txBox="1">
            <a:spLocks noChangeArrowheads="1"/>
          </p:cNvSpPr>
          <p:nvPr/>
        </p:nvSpPr>
        <p:spPr bwMode="auto">
          <a:xfrm>
            <a:off x="7951788" y="3540125"/>
            <a:ext cx="10572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5000"/>
              </a:lnSpc>
              <a:spcBef>
                <a:spcPct val="150000"/>
              </a:spcBef>
            </a:pPr>
            <a:r>
              <a:rPr lang="en-GB" altLang="en-US" sz="1400">
                <a:solidFill>
                  <a:srgbClr val="FFFF00"/>
                </a:solidFill>
                <a:effectLst/>
                <a:latin typeface="Arial" panose="020B0604020202020204" pitchFamily="34" charset="0"/>
              </a:rPr>
              <a:t>Senez growth fold</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CDFE0801-F374-40BB-9941-7FAE6FAAF810}"/>
              </a:ext>
            </a:extLst>
          </p:cNvPr>
          <p:cNvSpPr>
            <a:spLocks noGrp="1" noChangeArrowheads="1"/>
          </p:cNvSpPr>
          <p:nvPr>
            <p:ph type="ctrTitle" idx="4294967295"/>
          </p:nvPr>
        </p:nvSpPr>
        <p:spPr bwMode="black">
          <a:xfrm>
            <a:off x="201613" y="1793875"/>
            <a:ext cx="8705850" cy="18446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200">
                <a:solidFill>
                  <a:srgbClr val="FF6600"/>
                </a:solidFill>
              </a:rPr>
            </a:br>
            <a:br>
              <a:rPr lang="en-US" altLang="en-US" sz="3200">
                <a:solidFill>
                  <a:srgbClr val="FF6600"/>
                </a:solidFill>
              </a:rPr>
            </a:br>
            <a:r>
              <a:rPr lang="en-US" altLang="en-US" sz="3200">
                <a:solidFill>
                  <a:srgbClr val="FF6600"/>
                </a:solidFill>
              </a:rPr>
              <a:t>Models for fold and thrust belts</a:t>
            </a:r>
            <a:endParaRPr lang="en-US" altLang="en-US">
              <a:solidFill>
                <a:srgbClr val="FF6600"/>
              </a:solidFill>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98F9A7C8-512D-45BF-B56D-2D325AB0E357}"/>
              </a:ext>
            </a:extLst>
          </p:cNvPr>
          <p:cNvSpPr>
            <a:spLocks noGrp="1" noChangeArrowheads="1"/>
          </p:cNvSpPr>
          <p:nvPr>
            <p:ph type="title"/>
          </p:nvPr>
        </p:nvSpPr>
        <p:spPr>
          <a:noFill/>
        </p:spPr>
        <p:txBody>
          <a:bodyPr/>
          <a:lstStyle/>
          <a:p>
            <a:r>
              <a:rPr lang="en-GB" altLang="en-US">
                <a:effectLst/>
              </a:rPr>
              <a:t>Wedge models</a:t>
            </a:r>
          </a:p>
        </p:txBody>
      </p:sp>
      <p:sp>
        <p:nvSpPr>
          <p:cNvPr id="228355" name="Rectangle 3">
            <a:extLst>
              <a:ext uri="{FF2B5EF4-FFF2-40B4-BE49-F238E27FC236}">
                <a16:creationId xmlns:a16="http://schemas.microsoft.com/office/drawing/2014/main" id="{4D42B7AD-8A6D-4B6D-8F15-634C738DF0BA}"/>
              </a:ext>
            </a:extLst>
          </p:cNvPr>
          <p:cNvSpPr>
            <a:spLocks noGrp="1" noChangeArrowheads="1"/>
          </p:cNvSpPr>
          <p:nvPr>
            <p:ph type="body" sz="half" idx="1"/>
          </p:nvPr>
        </p:nvSpPr>
        <p:spPr>
          <a:xfrm>
            <a:off x="103188" y="803275"/>
            <a:ext cx="4291012" cy="2509838"/>
          </a:xfrm>
          <a:noFill/>
        </p:spPr>
        <p:txBody>
          <a:bodyPr/>
          <a:lstStyle/>
          <a:p>
            <a:pPr marL="177800" indent="-177800"/>
            <a:r>
              <a:rPr lang="en-GB" altLang="en-US" sz="1700">
                <a:effectLst/>
              </a:rPr>
              <a:t>Fold and thrust belts show an overall </a:t>
            </a:r>
            <a:r>
              <a:rPr lang="en-GB" altLang="en-US" sz="1700">
                <a:solidFill>
                  <a:srgbClr val="FF6600"/>
                </a:solidFill>
                <a:effectLst/>
              </a:rPr>
              <a:t>wedge-shaped</a:t>
            </a:r>
            <a:r>
              <a:rPr lang="en-GB" altLang="en-US" sz="1700">
                <a:effectLst/>
              </a:rPr>
              <a:t> geometry in cross-section, thinning towards the foreland</a:t>
            </a:r>
          </a:p>
          <a:p>
            <a:pPr marL="177800" indent="-177800">
              <a:spcBef>
                <a:spcPct val="75000"/>
              </a:spcBef>
            </a:pPr>
            <a:r>
              <a:rPr lang="en-GB" altLang="en-US" sz="1700">
                <a:effectLst/>
              </a:rPr>
              <a:t>Mechanically, such a wedge is analogous to a wedge of sand in front of a moving bulldozer – the sand deforms until it reaches a </a:t>
            </a:r>
            <a:r>
              <a:rPr lang="en-GB" altLang="en-US" sz="1700">
                <a:solidFill>
                  <a:srgbClr val="FF66CC"/>
                </a:solidFill>
                <a:effectLst/>
              </a:rPr>
              <a:t>constant critical taper</a:t>
            </a:r>
          </a:p>
        </p:txBody>
      </p:sp>
      <p:grpSp>
        <p:nvGrpSpPr>
          <p:cNvPr id="228359" name="Group 7">
            <a:extLst>
              <a:ext uri="{FF2B5EF4-FFF2-40B4-BE49-F238E27FC236}">
                <a16:creationId xmlns:a16="http://schemas.microsoft.com/office/drawing/2014/main" id="{9C2D19D2-BF96-4B02-9410-9F04350039C8}"/>
              </a:ext>
            </a:extLst>
          </p:cNvPr>
          <p:cNvGrpSpPr>
            <a:grpSpLocks/>
          </p:cNvGrpSpPr>
          <p:nvPr/>
        </p:nvGrpSpPr>
        <p:grpSpPr bwMode="auto">
          <a:xfrm>
            <a:off x="4997450" y="890588"/>
            <a:ext cx="3702050" cy="1993900"/>
            <a:chOff x="2790" y="546"/>
            <a:chExt cx="2898" cy="1788"/>
          </a:xfrm>
        </p:grpSpPr>
        <p:sp>
          <p:nvSpPr>
            <p:cNvPr id="228358" name="Rectangle 6">
              <a:extLst>
                <a:ext uri="{FF2B5EF4-FFF2-40B4-BE49-F238E27FC236}">
                  <a16:creationId xmlns:a16="http://schemas.microsoft.com/office/drawing/2014/main" id="{F8EDAFE8-A8B2-48D2-AE46-5F9560447028}"/>
                </a:ext>
              </a:extLst>
            </p:cNvPr>
            <p:cNvSpPr>
              <a:spLocks noChangeArrowheads="1"/>
            </p:cNvSpPr>
            <p:nvPr/>
          </p:nvSpPr>
          <p:spPr bwMode="auto">
            <a:xfrm>
              <a:off x="2790" y="546"/>
              <a:ext cx="2898" cy="178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28356" name="Picture 2" descr="GR24.jpg">
              <a:extLst>
                <a:ext uri="{FF2B5EF4-FFF2-40B4-BE49-F238E27FC236}">
                  <a16:creationId xmlns:a16="http://schemas.microsoft.com/office/drawing/2014/main" id="{907D7505-4007-40C8-8B8A-C296EC5166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36" y="593"/>
              <a:ext cx="2774" cy="16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28361" name="Text Box 9">
            <a:extLst>
              <a:ext uri="{FF2B5EF4-FFF2-40B4-BE49-F238E27FC236}">
                <a16:creationId xmlns:a16="http://schemas.microsoft.com/office/drawing/2014/main" id="{10CFE6D8-2C82-4FAD-B3EA-4485C1C53E60}"/>
              </a:ext>
            </a:extLst>
          </p:cNvPr>
          <p:cNvSpPr txBox="1">
            <a:spLocks noChangeArrowheads="1"/>
          </p:cNvSpPr>
          <p:nvPr/>
        </p:nvSpPr>
        <p:spPr bwMode="auto">
          <a:xfrm>
            <a:off x="4533900" y="3019425"/>
            <a:ext cx="4495800" cy="208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forces applied are </a:t>
            </a:r>
            <a:r>
              <a:rPr lang="en-GB" altLang="en-US" sz="1700">
                <a:solidFill>
                  <a:srgbClr val="FFFF00"/>
                </a:solidFill>
                <a:effectLst>
                  <a:outerShdw blurRad="38100" dist="38100" dir="2700000" algn="tl">
                    <a:srgbClr val="000000"/>
                  </a:outerShdw>
                </a:effectLst>
                <a:latin typeface="Arial" panose="020B0604020202020204" pitchFamily="34" charset="0"/>
              </a:rPr>
              <a:t>(a) push from behind</a:t>
            </a:r>
            <a:r>
              <a:rPr lang="en-GB" altLang="en-US" sz="1700">
                <a:effectLst>
                  <a:outerShdw blurRad="38100" dist="38100" dir="2700000" algn="tl">
                    <a:srgbClr val="000000"/>
                  </a:outerShdw>
                </a:effectLst>
                <a:latin typeface="Arial" panose="020B0604020202020204" pitchFamily="34" charset="0"/>
              </a:rPr>
              <a:t> and </a:t>
            </a:r>
            <a:r>
              <a:rPr lang="en-GB" altLang="en-US" sz="1700">
                <a:solidFill>
                  <a:srgbClr val="FFFF00"/>
                </a:solidFill>
                <a:effectLst>
                  <a:outerShdw blurRad="38100" dist="38100" dir="2700000" algn="tl">
                    <a:srgbClr val="000000"/>
                  </a:outerShdw>
                </a:effectLst>
                <a:latin typeface="Arial" panose="020B0604020202020204" pitchFamily="34" charset="0"/>
              </a:rPr>
              <a:t>(b) gravity</a:t>
            </a:r>
          </a:p>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resulting </a:t>
            </a:r>
            <a:r>
              <a:rPr lang="en-GB" altLang="en-US" sz="1700">
                <a:solidFill>
                  <a:srgbClr val="FF6600"/>
                </a:solidFill>
                <a:effectLst>
                  <a:outerShdw blurRad="38100" dist="38100" dir="2700000" algn="tl">
                    <a:srgbClr val="000000"/>
                  </a:outerShdw>
                </a:effectLst>
                <a:latin typeface="Arial" panose="020B0604020202020204" pitchFamily="34" charset="0"/>
              </a:rPr>
              <a:t>angle of taper</a:t>
            </a:r>
            <a:r>
              <a:rPr lang="en-GB" altLang="en-US" sz="1700">
                <a:effectLst>
                  <a:outerShdw blurRad="38100" dist="38100" dir="2700000" algn="tl">
                    <a:srgbClr val="000000"/>
                  </a:outerShdw>
                </a:effectLst>
                <a:latin typeface="Arial" panose="020B0604020202020204" pitchFamily="34" charset="0"/>
              </a:rPr>
              <a:t> (</a:t>
            </a:r>
            <a:r>
              <a:rPr lang="en-GB" altLang="en-US" sz="1700" i="1">
                <a:effectLst>
                  <a:outerShdw blurRad="38100" dist="38100" dir="2700000" algn="tl">
                    <a:srgbClr val="000000"/>
                  </a:outerShdw>
                </a:effectLst>
                <a:latin typeface="Symbol" panose="05050102010706020507" pitchFamily="18" charset="2"/>
              </a:rPr>
              <a:t>a</a:t>
            </a:r>
            <a:r>
              <a:rPr lang="en-GB" altLang="en-US" sz="1700">
                <a:effectLst>
                  <a:outerShdw blurRad="38100" dist="38100" dir="2700000" algn="tl">
                    <a:srgbClr val="000000"/>
                  </a:outerShdw>
                </a:effectLst>
                <a:latin typeface="Arial" panose="020B0604020202020204" pitchFamily="34" charset="0"/>
              </a:rPr>
              <a:t> + </a:t>
            </a:r>
            <a:r>
              <a:rPr lang="en-GB" altLang="en-US" sz="1700" i="1">
                <a:effectLst>
                  <a:outerShdw blurRad="38100" dist="38100" dir="2700000" algn="tl">
                    <a:srgbClr val="000000"/>
                  </a:outerShdw>
                </a:effectLst>
                <a:latin typeface="Symbol" panose="05050102010706020507" pitchFamily="18" charset="2"/>
              </a:rPr>
              <a:t>b</a:t>
            </a:r>
            <a:r>
              <a:rPr lang="en-GB" altLang="en-US" sz="800" i="1">
                <a:effectLst>
                  <a:outerShdw blurRad="38100" dist="38100" dir="2700000" algn="tl">
                    <a:srgbClr val="000000"/>
                  </a:outerShdw>
                </a:effectLst>
                <a:latin typeface="Symbol" panose="05050102010706020507" pitchFamily="18" charset="2"/>
              </a:rPr>
              <a:t> </a:t>
            </a:r>
            <a:r>
              <a:rPr lang="en-GB" altLang="en-US" sz="1700">
                <a:effectLst>
                  <a:outerShdw blurRad="38100" dist="38100" dir="2700000" algn="tl">
                    <a:srgbClr val="000000"/>
                  </a:outerShdw>
                </a:effectLst>
                <a:latin typeface="Arial" panose="020B0604020202020204" pitchFamily="34" charset="0"/>
              </a:rPr>
              <a:t>) depends upon the relative magnitudes of the </a:t>
            </a:r>
            <a:r>
              <a:rPr lang="en-GB" altLang="en-US" sz="1700">
                <a:solidFill>
                  <a:srgbClr val="FF66CC"/>
                </a:solidFill>
                <a:effectLst>
                  <a:outerShdw blurRad="38100" dist="38100" dir="2700000" algn="tl">
                    <a:srgbClr val="000000"/>
                  </a:outerShdw>
                </a:effectLst>
                <a:latin typeface="Arial" panose="020B0604020202020204" pitchFamily="34" charset="0"/>
              </a:rPr>
              <a:t>frictional resistance</a:t>
            </a:r>
            <a:r>
              <a:rPr lang="en-GB" altLang="en-US" sz="1700">
                <a:effectLst>
                  <a:outerShdw blurRad="38100" dist="38100" dir="2700000" algn="tl">
                    <a:srgbClr val="000000"/>
                  </a:outerShdw>
                </a:effectLst>
                <a:latin typeface="Arial" panose="020B0604020202020204" pitchFamily="34" charset="0"/>
              </a:rPr>
              <a:t> at the base and the </a:t>
            </a:r>
            <a:r>
              <a:rPr lang="en-GB" altLang="en-US" sz="1700">
                <a:solidFill>
                  <a:srgbClr val="FF66CC"/>
                </a:solidFill>
                <a:effectLst>
                  <a:outerShdw blurRad="38100" dist="38100" dir="2700000" algn="tl">
                    <a:srgbClr val="000000"/>
                  </a:outerShdw>
                </a:effectLst>
                <a:latin typeface="Arial" panose="020B0604020202020204" pitchFamily="34" charset="0"/>
              </a:rPr>
              <a:t>strength of the wedge material</a:t>
            </a:r>
          </a:p>
        </p:txBody>
      </p:sp>
      <p:grpSp>
        <p:nvGrpSpPr>
          <p:cNvPr id="228366" name="Group 14">
            <a:extLst>
              <a:ext uri="{FF2B5EF4-FFF2-40B4-BE49-F238E27FC236}">
                <a16:creationId xmlns:a16="http://schemas.microsoft.com/office/drawing/2014/main" id="{A97CB72D-261E-4AB5-9629-231895042211}"/>
              </a:ext>
            </a:extLst>
          </p:cNvPr>
          <p:cNvGrpSpPr>
            <a:grpSpLocks/>
          </p:cNvGrpSpPr>
          <p:nvPr/>
        </p:nvGrpSpPr>
        <p:grpSpPr bwMode="auto">
          <a:xfrm>
            <a:off x="171450" y="3490913"/>
            <a:ext cx="4210050" cy="1528762"/>
            <a:chOff x="84" y="2427"/>
            <a:chExt cx="2652" cy="963"/>
          </a:xfrm>
        </p:grpSpPr>
        <p:sp>
          <p:nvSpPr>
            <p:cNvPr id="228365" name="Rectangle 13">
              <a:extLst>
                <a:ext uri="{FF2B5EF4-FFF2-40B4-BE49-F238E27FC236}">
                  <a16:creationId xmlns:a16="http://schemas.microsoft.com/office/drawing/2014/main" id="{995C282E-B525-405E-8CF4-0041395D6A03}"/>
                </a:ext>
              </a:extLst>
            </p:cNvPr>
            <p:cNvSpPr>
              <a:spLocks noChangeArrowheads="1"/>
            </p:cNvSpPr>
            <p:nvPr/>
          </p:nvSpPr>
          <p:spPr bwMode="auto">
            <a:xfrm>
              <a:off x="84" y="2427"/>
              <a:ext cx="2652" cy="96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28362" name="Picture 2" descr="GR25.jpg">
              <a:extLst>
                <a:ext uri="{FF2B5EF4-FFF2-40B4-BE49-F238E27FC236}">
                  <a16:creationId xmlns:a16="http://schemas.microsoft.com/office/drawing/2014/main" id="{964293F2-349E-4B60-BE63-73E236C5748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5" y="2460"/>
              <a:ext cx="2587" cy="9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8364" name="Rectangle 12">
              <a:extLst>
                <a:ext uri="{FF2B5EF4-FFF2-40B4-BE49-F238E27FC236}">
                  <a16:creationId xmlns:a16="http://schemas.microsoft.com/office/drawing/2014/main" id="{51564269-84CE-486B-8E34-2E30AC0B7ABE}"/>
                </a:ext>
              </a:extLst>
            </p:cNvPr>
            <p:cNvSpPr>
              <a:spLocks noChangeArrowheads="1"/>
            </p:cNvSpPr>
            <p:nvPr/>
          </p:nvSpPr>
          <p:spPr bwMode="auto">
            <a:xfrm>
              <a:off x="114" y="2457"/>
              <a:ext cx="120" cy="9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28368" name="Text Box 16">
            <a:extLst>
              <a:ext uri="{FF2B5EF4-FFF2-40B4-BE49-F238E27FC236}">
                <a16:creationId xmlns:a16="http://schemas.microsoft.com/office/drawing/2014/main" id="{C01BCB84-8D82-4DD7-B091-17541565F235}"/>
              </a:ext>
            </a:extLst>
          </p:cNvPr>
          <p:cNvSpPr txBox="1">
            <a:spLocks noChangeArrowheads="1"/>
          </p:cNvSpPr>
          <p:nvPr/>
        </p:nvSpPr>
        <p:spPr bwMode="auto">
          <a:xfrm>
            <a:off x="114300" y="5222875"/>
            <a:ext cx="89154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a:solidFill>
                  <a:srgbClr val="FF66CC"/>
                </a:solidFill>
                <a:effectLst>
                  <a:outerShdw blurRad="38100" dist="38100" dir="2700000" algn="tl">
                    <a:srgbClr val="000000"/>
                  </a:outerShdw>
                </a:effectLst>
                <a:latin typeface="Arial" panose="020B0604020202020204" pitchFamily="34" charset="0"/>
              </a:rPr>
              <a:t>Increasing friction increases the angle of taper </a:t>
            </a:r>
            <a:r>
              <a:rPr lang="en-GB" altLang="en-US" sz="1700">
                <a:effectLst>
                  <a:outerShdw blurRad="38100" dist="38100" dir="2700000" algn="tl">
                    <a:srgbClr val="000000"/>
                  </a:outerShdw>
                </a:effectLst>
                <a:latin typeface="Arial" panose="020B0604020202020204" pitchFamily="34" charset="0"/>
              </a:rPr>
              <a:t>(more push is required from behind and so the material piles up higher) – low friction means smaller angles of taper</a:t>
            </a:r>
          </a:p>
          <a:p>
            <a:pPr>
              <a:lnSpc>
                <a:spcPct val="120000"/>
              </a:lnSpc>
              <a:spcBef>
                <a:spcPct val="50000"/>
              </a:spcBef>
              <a:buClr>
                <a:schemeClr val="tx1"/>
              </a:buClr>
              <a:buFontTx/>
              <a:buChar char="•"/>
            </a:pPr>
            <a:r>
              <a:rPr lang="en-GB" altLang="en-US" sz="1700">
                <a:solidFill>
                  <a:srgbClr val="FF66CC"/>
                </a:solidFill>
                <a:effectLst>
                  <a:outerShdw blurRad="38100" dist="38100" dir="2700000" algn="tl">
                    <a:srgbClr val="000000"/>
                  </a:outerShdw>
                </a:effectLst>
                <a:latin typeface="Arial" panose="020B0604020202020204" pitchFamily="34" charset="0"/>
              </a:rPr>
              <a:t>Increasing wedge material strength decreases the angle of taper </a:t>
            </a:r>
            <a:r>
              <a:rPr lang="en-GB" altLang="en-US" sz="1700">
                <a:effectLst>
                  <a:outerShdw blurRad="38100" dist="38100" dir="2700000" algn="tl">
                    <a:srgbClr val="000000"/>
                  </a:outerShdw>
                </a:effectLst>
                <a:latin typeface="Arial" panose="020B0604020202020204" pitchFamily="34" charset="0"/>
              </a:rPr>
              <a:t>(a stronger wedge can be thinner and still slide)</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a:extLst>
              <a:ext uri="{FF2B5EF4-FFF2-40B4-BE49-F238E27FC236}">
                <a16:creationId xmlns:a16="http://schemas.microsoft.com/office/drawing/2014/main" id="{543D8C4E-CA8E-4E87-BB1B-E6E83025EF59}"/>
              </a:ext>
            </a:extLst>
          </p:cNvPr>
          <p:cNvSpPr>
            <a:spLocks noGrp="1" noChangeArrowheads="1"/>
          </p:cNvSpPr>
          <p:nvPr>
            <p:ph type="title"/>
          </p:nvPr>
        </p:nvSpPr>
        <p:spPr>
          <a:noFill/>
        </p:spPr>
        <p:txBody>
          <a:bodyPr/>
          <a:lstStyle/>
          <a:p>
            <a:r>
              <a:rPr lang="en-GB" altLang="en-US">
                <a:effectLst/>
              </a:rPr>
              <a:t>Wedge models  2</a:t>
            </a:r>
          </a:p>
        </p:txBody>
      </p:sp>
      <p:sp>
        <p:nvSpPr>
          <p:cNvPr id="342019" name="Rectangle 3">
            <a:extLst>
              <a:ext uri="{FF2B5EF4-FFF2-40B4-BE49-F238E27FC236}">
                <a16:creationId xmlns:a16="http://schemas.microsoft.com/office/drawing/2014/main" id="{2B56DC74-B7EA-4E80-89BF-4EAE9663BC7C}"/>
              </a:ext>
            </a:extLst>
          </p:cNvPr>
          <p:cNvSpPr>
            <a:spLocks noGrp="1" noChangeArrowheads="1"/>
          </p:cNvSpPr>
          <p:nvPr>
            <p:ph type="body" sz="half" idx="1"/>
          </p:nvPr>
        </p:nvSpPr>
        <p:spPr>
          <a:xfrm>
            <a:off x="103188" y="3508375"/>
            <a:ext cx="8882062" cy="3063875"/>
          </a:xfrm>
          <a:noFill/>
        </p:spPr>
        <p:txBody>
          <a:bodyPr/>
          <a:lstStyle/>
          <a:p>
            <a:pPr marL="177800" indent="-177800">
              <a:spcBef>
                <a:spcPct val="75000"/>
              </a:spcBef>
            </a:pPr>
            <a:r>
              <a:rPr lang="en-GB" altLang="en-US" sz="1700" dirty="0">
                <a:solidFill>
                  <a:srgbClr val="FF6600"/>
                </a:solidFill>
                <a:effectLst/>
              </a:rPr>
              <a:t>As the wedge thickens</a:t>
            </a:r>
            <a:r>
              <a:rPr lang="en-GB" altLang="en-US" sz="1700" dirty="0">
                <a:effectLst/>
              </a:rPr>
              <a:t>, the surface slope (</a:t>
            </a:r>
            <a:r>
              <a:rPr lang="en-GB" altLang="en-US" sz="1700" i="1" dirty="0">
                <a:solidFill>
                  <a:srgbClr val="FFFF00"/>
                </a:solidFill>
                <a:effectLst/>
                <a:latin typeface="Symbol" panose="05050102010706020507" pitchFamily="18" charset="2"/>
              </a:rPr>
              <a:t>a</a:t>
            </a:r>
            <a:r>
              <a:rPr lang="en-GB" altLang="en-US" sz="800" dirty="0">
                <a:effectLst/>
              </a:rPr>
              <a:t> </a:t>
            </a:r>
            <a:r>
              <a:rPr lang="en-GB" altLang="en-US" sz="1700" dirty="0">
                <a:effectLst/>
              </a:rPr>
              <a:t>) increases but so does the basal slope (</a:t>
            </a:r>
            <a:r>
              <a:rPr lang="en-GB" altLang="en-US" sz="1700" i="1" dirty="0">
                <a:solidFill>
                  <a:srgbClr val="FFFF00"/>
                </a:solidFill>
                <a:effectLst/>
                <a:latin typeface="Symbol" panose="05050102010706020507" pitchFamily="18" charset="2"/>
              </a:rPr>
              <a:t>b</a:t>
            </a:r>
            <a:r>
              <a:rPr lang="en-GB" altLang="en-US" sz="800" dirty="0">
                <a:effectLst/>
              </a:rPr>
              <a:t> </a:t>
            </a:r>
            <a:r>
              <a:rPr lang="en-GB" altLang="en-US" sz="1700" dirty="0">
                <a:effectLst/>
              </a:rPr>
              <a:t>) because the weight of the wedge depresses the lithosphere. The wedge adjusts either by </a:t>
            </a:r>
            <a:r>
              <a:rPr lang="en-GB" altLang="en-US" sz="1700" dirty="0">
                <a:solidFill>
                  <a:srgbClr val="FF66CC"/>
                </a:solidFill>
                <a:effectLst/>
              </a:rPr>
              <a:t>lengthening</a:t>
            </a:r>
            <a:r>
              <a:rPr lang="en-GB" altLang="en-US" sz="1700" dirty="0">
                <a:effectLst/>
              </a:rPr>
              <a:t> (imbrication and duplex formation at its toe), or by </a:t>
            </a:r>
            <a:r>
              <a:rPr lang="en-GB" altLang="en-US" sz="1700" dirty="0">
                <a:solidFill>
                  <a:srgbClr val="FF66CC"/>
                </a:solidFill>
                <a:effectLst/>
              </a:rPr>
              <a:t>thinning</a:t>
            </a:r>
            <a:r>
              <a:rPr lang="en-GB" altLang="en-US" sz="1700" dirty="0">
                <a:effectLst/>
              </a:rPr>
              <a:t> (gravitational collapse of its surface an</a:t>
            </a:r>
            <a:r>
              <a:rPr lang="en-GB" altLang="en-US" sz="1700" spc="150" dirty="0">
                <a:effectLst/>
              </a:rPr>
              <a:t>d/</a:t>
            </a:r>
            <a:r>
              <a:rPr lang="en-GB" altLang="en-US" sz="1700" dirty="0">
                <a:effectLst/>
              </a:rPr>
              <a:t>or internal extensional deformation)</a:t>
            </a:r>
          </a:p>
          <a:p>
            <a:pPr marL="177800" indent="-177800">
              <a:spcBef>
                <a:spcPct val="75000"/>
              </a:spcBef>
            </a:pPr>
            <a:r>
              <a:rPr lang="en-GB" altLang="en-US" sz="1700" dirty="0">
                <a:solidFill>
                  <a:srgbClr val="FF6600"/>
                </a:solidFill>
                <a:effectLst/>
              </a:rPr>
              <a:t>As the wedge thins</a:t>
            </a:r>
            <a:r>
              <a:rPr lang="en-GB" altLang="en-US" sz="1700" dirty="0">
                <a:effectLst/>
              </a:rPr>
              <a:t> (</a:t>
            </a:r>
            <a:r>
              <a:rPr lang="en-GB" altLang="en-US" sz="1700" i="1" dirty="0">
                <a:effectLst/>
              </a:rPr>
              <a:t>e.g</a:t>
            </a:r>
            <a:r>
              <a:rPr lang="en-GB" altLang="en-US" sz="1700" dirty="0">
                <a:effectLst/>
              </a:rPr>
              <a:t>., by erosion), the surface slope is maintained by uplift through </a:t>
            </a:r>
            <a:r>
              <a:rPr lang="en-GB" altLang="en-US" sz="1700" dirty="0">
                <a:solidFill>
                  <a:srgbClr val="FF66CC"/>
                </a:solidFill>
                <a:effectLst/>
              </a:rPr>
              <a:t>internal shortening</a:t>
            </a:r>
            <a:r>
              <a:rPr lang="en-GB" altLang="en-US" sz="1700" dirty="0">
                <a:effectLst/>
              </a:rPr>
              <a:t> (reverse faults, folding)</a:t>
            </a:r>
          </a:p>
          <a:p>
            <a:pPr marL="177800" indent="-177800">
              <a:spcBef>
                <a:spcPct val="75000"/>
              </a:spcBef>
            </a:pPr>
            <a:r>
              <a:rPr lang="en-GB" altLang="en-US" sz="1700" dirty="0">
                <a:effectLst/>
              </a:rPr>
              <a:t>Such adjustments are accompanied by </a:t>
            </a:r>
            <a:r>
              <a:rPr lang="en-GB" altLang="en-US" sz="1700" dirty="0" err="1">
                <a:solidFill>
                  <a:srgbClr val="FF6600"/>
                </a:solidFill>
                <a:effectLst/>
              </a:rPr>
              <a:t>syntectonic</a:t>
            </a:r>
            <a:r>
              <a:rPr lang="en-GB" altLang="en-US" sz="1700" dirty="0">
                <a:solidFill>
                  <a:srgbClr val="FF6600"/>
                </a:solidFill>
                <a:effectLst/>
              </a:rPr>
              <a:t> sedimentation</a:t>
            </a:r>
            <a:r>
              <a:rPr lang="en-GB" altLang="en-US" sz="1700" dirty="0">
                <a:effectLst/>
              </a:rPr>
              <a:t> (</a:t>
            </a:r>
            <a:r>
              <a:rPr lang="en-GB" altLang="en-US" sz="1700" dirty="0">
                <a:solidFill>
                  <a:srgbClr val="FF66FF"/>
                </a:solidFill>
                <a:effectLst/>
              </a:rPr>
              <a:t>flysch</a:t>
            </a:r>
            <a:r>
              <a:rPr lang="en-GB" altLang="en-US" sz="1700" dirty="0">
                <a:effectLst/>
              </a:rPr>
              <a:t>) which redistributes matter on the surface of the wedge so as to maintain a stable surface slope</a:t>
            </a:r>
          </a:p>
        </p:txBody>
      </p:sp>
      <p:grpSp>
        <p:nvGrpSpPr>
          <p:cNvPr id="342020" name="Group 4">
            <a:extLst>
              <a:ext uri="{FF2B5EF4-FFF2-40B4-BE49-F238E27FC236}">
                <a16:creationId xmlns:a16="http://schemas.microsoft.com/office/drawing/2014/main" id="{6CECB87F-77B5-4C5E-B823-34D4F9DE6AB3}"/>
              </a:ext>
            </a:extLst>
          </p:cNvPr>
          <p:cNvGrpSpPr>
            <a:grpSpLocks/>
          </p:cNvGrpSpPr>
          <p:nvPr/>
        </p:nvGrpSpPr>
        <p:grpSpPr bwMode="auto">
          <a:xfrm>
            <a:off x="4625975" y="909638"/>
            <a:ext cx="4225925" cy="2346325"/>
            <a:chOff x="2790" y="546"/>
            <a:chExt cx="2898" cy="1788"/>
          </a:xfrm>
        </p:grpSpPr>
        <p:sp>
          <p:nvSpPr>
            <p:cNvPr id="342021" name="Rectangle 5">
              <a:extLst>
                <a:ext uri="{FF2B5EF4-FFF2-40B4-BE49-F238E27FC236}">
                  <a16:creationId xmlns:a16="http://schemas.microsoft.com/office/drawing/2014/main" id="{21EB802D-2E30-4781-B592-DFC82A1D758F}"/>
                </a:ext>
              </a:extLst>
            </p:cNvPr>
            <p:cNvSpPr>
              <a:spLocks noChangeArrowheads="1"/>
            </p:cNvSpPr>
            <p:nvPr/>
          </p:nvSpPr>
          <p:spPr bwMode="auto">
            <a:xfrm>
              <a:off x="2790" y="546"/>
              <a:ext cx="2898" cy="178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42022" name="Picture 2" descr="GR24.jpg">
              <a:extLst>
                <a:ext uri="{FF2B5EF4-FFF2-40B4-BE49-F238E27FC236}">
                  <a16:creationId xmlns:a16="http://schemas.microsoft.com/office/drawing/2014/main" id="{0D0CA702-8719-449E-8DA7-B942028F61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36" y="593"/>
              <a:ext cx="2774" cy="16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42029" name="Text Box 13">
            <a:extLst>
              <a:ext uri="{FF2B5EF4-FFF2-40B4-BE49-F238E27FC236}">
                <a16:creationId xmlns:a16="http://schemas.microsoft.com/office/drawing/2014/main" id="{87BFDCBB-2276-47C1-BBDD-8918DF8F0C78}"/>
              </a:ext>
            </a:extLst>
          </p:cNvPr>
          <p:cNvSpPr txBox="1">
            <a:spLocks noChangeArrowheads="1"/>
          </p:cNvSpPr>
          <p:nvPr/>
        </p:nvSpPr>
        <p:spPr bwMode="auto">
          <a:xfrm>
            <a:off x="114300" y="962025"/>
            <a:ext cx="4229100"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Assuming friction and strength remain approximately constant, the shape of the </a:t>
            </a:r>
            <a:r>
              <a:rPr lang="en-GB" altLang="en-US" sz="1700" dirty="0">
                <a:solidFill>
                  <a:srgbClr val="FF6600"/>
                </a:solidFill>
                <a:effectLst>
                  <a:outerShdw blurRad="38100" dist="38100" dir="2700000" algn="tl">
                    <a:srgbClr val="000000"/>
                  </a:outerShdw>
                </a:effectLst>
                <a:latin typeface="Arial" panose="020B0604020202020204" pitchFamily="34" charset="0"/>
              </a:rPr>
              <a:t>wedge is scale invariant</a:t>
            </a:r>
            <a:r>
              <a:rPr lang="en-GB" altLang="en-US" sz="1700" dirty="0">
                <a:effectLst>
                  <a:outerShdw blurRad="38100" dist="38100" dir="2700000" algn="tl">
                    <a:srgbClr val="000000"/>
                  </a:outerShdw>
                </a:effectLst>
                <a:latin typeface="Arial" panose="020B0604020202020204" pitchFamily="34" charset="0"/>
              </a:rPr>
              <a:t> – consequently, any process that acts to change the angle of taper during movement must be compensated</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5503AF4E-75E7-403B-BA7F-0BC6C6716C96}"/>
              </a:ext>
            </a:extLst>
          </p:cNvPr>
          <p:cNvSpPr>
            <a:spLocks noGrp="1" noChangeArrowheads="1"/>
          </p:cNvSpPr>
          <p:nvPr>
            <p:ph type="title"/>
          </p:nvPr>
        </p:nvSpPr>
        <p:spPr>
          <a:noFill/>
        </p:spPr>
        <p:txBody>
          <a:bodyPr/>
          <a:lstStyle/>
          <a:p>
            <a:r>
              <a:rPr lang="en-GB" altLang="en-US">
                <a:effectLst/>
              </a:rPr>
              <a:t>The role of gravity</a:t>
            </a:r>
          </a:p>
        </p:txBody>
      </p:sp>
      <p:sp>
        <p:nvSpPr>
          <p:cNvPr id="229379" name="Rectangle 3">
            <a:extLst>
              <a:ext uri="{FF2B5EF4-FFF2-40B4-BE49-F238E27FC236}">
                <a16:creationId xmlns:a16="http://schemas.microsoft.com/office/drawing/2014/main" id="{FE3E4F77-7DDE-4089-B924-D85F6E74A575}"/>
              </a:ext>
            </a:extLst>
          </p:cNvPr>
          <p:cNvSpPr>
            <a:spLocks noGrp="1" noChangeArrowheads="1"/>
          </p:cNvSpPr>
          <p:nvPr>
            <p:ph type="body" sz="half" idx="1"/>
          </p:nvPr>
        </p:nvSpPr>
        <p:spPr>
          <a:xfrm>
            <a:off x="112713" y="784225"/>
            <a:ext cx="8888412" cy="1966913"/>
          </a:xfrm>
          <a:noFill/>
        </p:spPr>
        <p:txBody>
          <a:bodyPr/>
          <a:lstStyle/>
          <a:p>
            <a:pPr marL="177800" indent="-177800"/>
            <a:r>
              <a:rPr lang="en-GB" altLang="en-US" sz="1700" dirty="0">
                <a:solidFill>
                  <a:srgbClr val="FF6600"/>
                </a:solidFill>
                <a:effectLst/>
              </a:rPr>
              <a:t>Gravity</a:t>
            </a:r>
            <a:r>
              <a:rPr lang="en-GB" altLang="en-US" sz="1700" dirty="0">
                <a:effectLst/>
              </a:rPr>
              <a:t> plays a prominent part in the development of contractional orogenic belts – the dominant driving force?</a:t>
            </a:r>
          </a:p>
          <a:p>
            <a:pPr marL="177800" indent="-177800">
              <a:spcBef>
                <a:spcPct val="75000"/>
              </a:spcBef>
            </a:pPr>
            <a:r>
              <a:rPr lang="en-GB" altLang="en-US" sz="1700" dirty="0">
                <a:effectLst/>
              </a:rPr>
              <a:t>As an orogenic belt develops, crustal thickening is greatest in the centre of the orogen – </a:t>
            </a:r>
            <a:r>
              <a:rPr lang="en-GB" altLang="en-US" sz="1700" dirty="0">
                <a:solidFill>
                  <a:srgbClr val="FF66FF"/>
                </a:solidFill>
                <a:effectLst/>
              </a:rPr>
              <a:t>i</a:t>
            </a:r>
            <a:r>
              <a:rPr lang="en-GB" altLang="en-US" sz="1700" dirty="0">
                <a:solidFill>
                  <a:srgbClr val="FF66CC"/>
                </a:solidFill>
                <a:effectLst/>
              </a:rPr>
              <a:t>f weak enough</a:t>
            </a:r>
            <a:r>
              <a:rPr lang="en-GB" altLang="en-US" sz="1700" dirty="0">
                <a:effectLst/>
              </a:rPr>
              <a:t> (perhaps because of heating), this thickened and elevated crust collapses under its own weight, and </a:t>
            </a:r>
            <a:r>
              <a:rPr lang="en-GB" altLang="en-US" sz="1700" dirty="0">
                <a:solidFill>
                  <a:srgbClr val="FF66CC"/>
                </a:solidFill>
                <a:effectLst/>
              </a:rPr>
              <a:t>thrust nappes are pushed out</a:t>
            </a:r>
            <a:r>
              <a:rPr lang="en-GB" altLang="en-US" sz="1700" dirty="0">
                <a:effectLst/>
              </a:rPr>
              <a:t> on to the foreland</a:t>
            </a:r>
          </a:p>
        </p:txBody>
      </p:sp>
      <p:grpSp>
        <p:nvGrpSpPr>
          <p:cNvPr id="229384" name="Group 8">
            <a:extLst>
              <a:ext uri="{FF2B5EF4-FFF2-40B4-BE49-F238E27FC236}">
                <a16:creationId xmlns:a16="http://schemas.microsoft.com/office/drawing/2014/main" id="{3027CD31-B567-408A-9A1D-D25AAECFD42A}"/>
              </a:ext>
            </a:extLst>
          </p:cNvPr>
          <p:cNvGrpSpPr>
            <a:grpSpLocks/>
          </p:cNvGrpSpPr>
          <p:nvPr/>
        </p:nvGrpSpPr>
        <p:grpSpPr bwMode="auto">
          <a:xfrm>
            <a:off x="4937125" y="4664075"/>
            <a:ext cx="4062413" cy="1892300"/>
            <a:chOff x="210" y="1986"/>
            <a:chExt cx="2904" cy="1410"/>
          </a:xfrm>
        </p:grpSpPr>
        <p:sp>
          <p:nvSpPr>
            <p:cNvPr id="229382" name="Rectangle 6">
              <a:extLst>
                <a:ext uri="{FF2B5EF4-FFF2-40B4-BE49-F238E27FC236}">
                  <a16:creationId xmlns:a16="http://schemas.microsoft.com/office/drawing/2014/main" id="{44C6E16D-BD1E-4816-872F-7531FEE37C5E}"/>
                </a:ext>
              </a:extLst>
            </p:cNvPr>
            <p:cNvSpPr>
              <a:spLocks noChangeArrowheads="1"/>
            </p:cNvSpPr>
            <p:nvPr/>
          </p:nvSpPr>
          <p:spPr bwMode="auto">
            <a:xfrm>
              <a:off x="210" y="1986"/>
              <a:ext cx="2904" cy="141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29380" name="Picture 2" descr="GR29.jpg">
              <a:extLst>
                <a:ext uri="{FF2B5EF4-FFF2-40B4-BE49-F238E27FC236}">
                  <a16:creationId xmlns:a16="http://schemas.microsoft.com/office/drawing/2014/main" id="{688E934F-BAAD-422C-990B-A7463018A56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7" y="2045"/>
              <a:ext cx="2774" cy="1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29383" name="Text Box 7">
            <a:extLst>
              <a:ext uri="{FF2B5EF4-FFF2-40B4-BE49-F238E27FC236}">
                <a16:creationId xmlns:a16="http://schemas.microsoft.com/office/drawing/2014/main" id="{8D7E68AC-B3A3-4951-B693-810010936A02}"/>
              </a:ext>
            </a:extLst>
          </p:cNvPr>
          <p:cNvSpPr txBox="1">
            <a:spLocks noChangeArrowheads="1"/>
          </p:cNvSpPr>
          <p:nvPr/>
        </p:nvSpPr>
        <p:spPr bwMode="auto">
          <a:xfrm>
            <a:off x="114300" y="4600575"/>
            <a:ext cx="4657725"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In such gravity-driven deformation one might expect a significant component of </a:t>
            </a:r>
            <a:r>
              <a:rPr lang="en-GB" altLang="en-US" sz="1700">
                <a:solidFill>
                  <a:srgbClr val="FF6600"/>
                </a:solidFill>
                <a:effectLst>
                  <a:outerShdw blurRad="38100" dist="38100" dir="2700000" algn="tl">
                    <a:srgbClr val="000000"/>
                  </a:outerShdw>
                </a:effectLst>
                <a:latin typeface="Arial" panose="020B0604020202020204" pitchFamily="34" charset="0"/>
              </a:rPr>
              <a:t>pure shear coaxial deformation</a:t>
            </a:r>
            <a:r>
              <a:rPr lang="en-GB" altLang="en-US" sz="1700">
                <a:effectLst>
                  <a:outerShdw blurRad="38100" dist="38100" dir="2700000" algn="tl">
                    <a:srgbClr val="000000"/>
                  </a:outerShdw>
                </a:effectLst>
                <a:latin typeface="Arial" panose="020B0604020202020204" pitchFamily="34" charset="0"/>
              </a:rPr>
              <a:t> throughout much of the wedge, the orientation of the strain ellipsoid reflecting the extent of any </a:t>
            </a:r>
            <a:r>
              <a:rPr lang="en-GB" altLang="en-US" sz="1700">
                <a:solidFill>
                  <a:srgbClr val="FF66CC"/>
                </a:solidFill>
                <a:effectLst>
                  <a:outerShdw blurRad="38100" dist="38100" dir="2700000" algn="tl">
                    <a:srgbClr val="000000"/>
                  </a:outerShdw>
                </a:effectLst>
                <a:latin typeface="Arial" panose="020B0604020202020204" pitchFamily="34" charset="0"/>
              </a:rPr>
              <a:t>lateral constraints</a:t>
            </a:r>
          </a:p>
        </p:txBody>
      </p:sp>
      <p:sp>
        <p:nvSpPr>
          <p:cNvPr id="229387" name="Text Box 11">
            <a:extLst>
              <a:ext uri="{FF2B5EF4-FFF2-40B4-BE49-F238E27FC236}">
                <a16:creationId xmlns:a16="http://schemas.microsoft.com/office/drawing/2014/main" id="{2FE0E991-B78A-4FB6-A12F-67BDB88BF7E3}"/>
              </a:ext>
            </a:extLst>
          </p:cNvPr>
          <p:cNvSpPr txBox="1">
            <a:spLocks noChangeArrowheads="1"/>
          </p:cNvSpPr>
          <p:nvPr/>
        </p:nvSpPr>
        <p:spPr bwMode="auto">
          <a:xfrm>
            <a:off x="5000625" y="2752725"/>
            <a:ext cx="40386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Different cases may be considered depending upon whether flow is in the direction of surface slope (</a:t>
            </a:r>
            <a:r>
              <a:rPr lang="en-GB" altLang="en-US" sz="1700" dirty="0">
                <a:solidFill>
                  <a:srgbClr val="FF6600"/>
                </a:solidFill>
                <a:effectLst>
                  <a:outerShdw blurRad="38100" dist="38100" dir="2700000" algn="tl">
                    <a:srgbClr val="000000"/>
                  </a:outerShdw>
                </a:effectLst>
                <a:latin typeface="Arial" panose="020B0604020202020204" pitchFamily="34" charset="0"/>
              </a:rPr>
              <a:t>spreading</a:t>
            </a:r>
            <a:r>
              <a:rPr lang="en-GB" altLang="en-US" sz="1700" dirty="0">
                <a:effectLst>
                  <a:outerShdw blurRad="38100" dist="38100" dir="2700000" algn="tl">
                    <a:srgbClr val="000000"/>
                  </a:outerShdw>
                </a:effectLst>
                <a:latin typeface="Arial" panose="020B0604020202020204" pitchFamily="34" charset="0"/>
              </a:rPr>
              <a:t>), or basal slope (</a:t>
            </a:r>
            <a:r>
              <a:rPr lang="en-GB" altLang="en-US" sz="1700" dirty="0">
                <a:solidFill>
                  <a:srgbClr val="FF6600"/>
                </a:solidFill>
                <a:effectLst>
                  <a:outerShdw blurRad="38100" dist="38100" dir="2700000" algn="tl">
                    <a:srgbClr val="000000"/>
                  </a:outerShdw>
                </a:effectLst>
                <a:latin typeface="Arial" panose="020B0604020202020204" pitchFamily="34" charset="0"/>
              </a:rPr>
              <a:t>gliding</a:t>
            </a:r>
            <a:r>
              <a:rPr lang="en-GB" altLang="en-US" sz="1700" dirty="0">
                <a:effectLst>
                  <a:outerShdw blurRad="38100" dist="38100" dir="2700000" algn="tl">
                    <a:srgbClr val="000000"/>
                  </a:outerShdw>
                </a:effectLst>
                <a:latin typeface="Arial" panose="020B0604020202020204" pitchFamily="34" charset="0"/>
              </a:rPr>
              <a:t>) or is an </a:t>
            </a:r>
            <a:r>
              <a:rPr lang="en-GB" altLang="en-US" sz="1700" dirty="0">
                <a:solidFill>
                  <a:srgbClr val="FF6600"/>
                </a:solidFill>
                <a:effectLst>
                  <a:outerShdw blurRad="38100" dist="38100" dir="2700000" algn="tl">
                    <a:srgbClr val="000000"/>
                  </a:outerShdw>
                </a:effectLst>
                <a:latin typeface="Arial" panose="020B0604020202020204" pitchFamily="34" charset="0"/>
              </a:rPr>
              <a:t>extrusion</a:t>
            </a:r>
            <a:r>
              <a:rPr lang="en-GB" altLang="en-US" sz="1700" dirty="0">
                <a:effectLst>
                  <a:outerShdw blurRad="38100" dist="38100" dir="2700000" algn="tl">
                    <a:srgbClr val="000000"/>
                  </a:outerShdw>
                </a:effectLst>
                <a:latin typeface="Arial" panose="020B0604020202020204" pitchFamily="34" charset="0"/>
              </a:rPr>
              <a:t> between constraints</a:t>
            </a:r>
          </a:p>
        </p:txBody>
      </p:sp>
      <p:pic>
        <p:nvPicPr>
          <p:cNvPr id="229388" name="Picture 12" descr="19b1">
            <a:extLst>
              <a:ext uri="{FF2B5EF4-FFF2-40B4-BE49-F238E27FC236}">
                <a16:creationId xmlns:a16="http://schemas.microsoft.com/office/drawing/2014/main" id="{B1AA8787-631C-4B3C-B999-6C8442F4F0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878138"/>
            <a:ext cx="4745038" cy="13319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E1235AA0-AD1C-4EFF-99E8-8A9094FD3632}"/>
              </a:ext>
            </a:extLst>
          </p:cNvPr>
          <p:cNvSpPr>
            <a:spLocks noGrp="1" noChangeArrowheads="1"/>
          </p:cNvSpPr>
          <p:nvPr>
            <p:ph type="title"/>
          </p:nvPr>
        </p:nvSpPr>
        <p:spPr>
          <a:noFill/>
        </p:spPr>
        <p:txBody>
          <a:bodyPr/>
          <a:lstStyle/>
          <a:p>
            <a:r>
              <a:rPr lang="en-GB" altLang="en-US">
                <a:effectLst/>
              </a:rPr>
              <a:t>Strain through thrust sheets</a:t>
            </a:r>
          </a:p>
        </p:txBody>
      </p:sp>
      <p:sp>
        <p:nvSpPr>
          <p:cNvPr id="416771" name="Rectangle 3">
            <a:extLst>
              <a:ext uri="{FF2B5EF4-FFF2-40B4-BE49-F238E27FC236}">
                <a16:creationId xmlns:a16="http://schemas.microsoft.com/office/drawing/2014/main" id="{04633B7A-4C36-48F1-BDD7-F2F5A579B477}"/>
              </a:ext>
            </a:extLst>
          </p:cNvPr>
          <p:cNvSpPr>
            <a:spLocks noGrp="1" noChangeArrowheads="1"/>
          </p:cNvSpPr>
          <p:nvPr>
            <p:ph type="body" sz="half" idx="1"/>
          </p:nvPr>
        </p:nvSpPr>
        <p:spPr>
          <a:xfrm>
            <a:off x="130175" y="768350"/>
            <a:ext cx="3911600" cy="1406525"/>
          </a:xfrm>
          <a:noFill/>
        </p:spPr>
        <p:txBody>
          <a:bodyPr/>
          <a:lstStyle/>
          <a:p>
            <a:pPr marL="177800" indent="-177800"/>
            <a:r>
              <a:rPr lang="en-GB" altLang="en-US" sz="1700">
                <a:effectLst/>
              </a:rPr>
              <a:t>The relative significance of </a:t>
            </a:r>
            <a:r>
              <a:rPr lang="en-GB" altLang="en-US" sz="1700">
                <a:solidFill>
                  <a:srgbClr val="FF66FF"/>
                </a:solidFill>
                <a:effectLst/>
              </a:rPr>
              <a:t>“push from behind”</a:t>
            </a:r>
            <a:r>
              <a:rPr lang="en-GB" altLang="en-US" sz="1700">
                <a:effectLst/>
              </a:rPr>
              <a:t> and </a:t>
            </a:r>
            <a:r>
              <a:rPr lang="en-GB" altLang="en-US" sz="1700">
                <a:solidFill>
                  <a:srgbClr val="FF66FF"/>
                </a:solidFill>
                <a:effectLst/>
              </a:rPr>
              <a:t>gravitational effects</a:t>
            </a:r>
            <a:r>
              <a:rPr lang="en-GB" altLang="en-US" sz="1700">
                <a:effectLst/>
              </a:rPr>
              <a:t> is reflected in the distribution of </a:t>
            </a:r>
            <a:r>
              <a:rPr lang="en-GB" altLang="en-US" sz="1700">
                <a:solidFill>
                  <a:srgbClr val="FF6600"/>
                </a:solidFill>
                <a:effectLst/>
              </a:rPr>
              <a:t>strains</a:t>
            </a:r>
            <a:r>
              <a:rPr lang="en-GB" altLang="en-US" sz="1700">
                <a:effectLst/>
              </a:rPr>
              <a:t> through a thrust sheet</a:t>
            </a:r>
          </a:p>
        </p:txBody>
      </p:sp>
      <p:sp>
        <p:nvSpPr>
          <p:cNvPr id="416784" name="Rectangle 16">
            <a:extLst>
              <a:ext uri="{FF2B5EF4-FFF2-40B4-BE49-F238E27FC236}">
                <a16:creationId xmlns:a16="http://schemas.microsoft.com/office/drawing/2014/main" id="{E046DB31-BB33-47E5-BB76-67FDEFD953BF}"/>
              </a:ext>
            </a:extLst>
          </p:cNvPr>
          <p:cNvSpPr>
            <a:spLocks noChangeArrowheads="1"/>
          </p:cNvSpPr>
          <p:nvPr/>
        </p:nvSpPr>
        <p:spPr bwMode="auto">
          <a:xfrm>
            <a:off x="130175" y="2162175"/>
            <a:ext cx="3754438" cy="449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57188" indent="-357188">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841375" indent="-30480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176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7367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79638" indent="-2667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636838"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94038"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551238"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008438"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50000"/>
              </a:spcBef>
              <a:buClr>
                <a:srgbClr val="FF6600"/>
              </a:buClr>
              <a:buFont typeface="Times" panose="02020603050405020304" pitchFamily="18" charset="0"/>
              <a:buAutoNum type="alphaUcPeriod"/>
            </a:pPr>
            <a:r>
              <a:rPr lang="en-GB" altLang="en-US" sz="1700" dirty="0">
                <a:solidFill>
                  <a:srgbClr val="FF6600"/>
                </a:solidFill>
                <a:effectLst/>
              </a:rPr>
              <a:t>Gravity-gliding:</a:t>
            </a:r>
            <a:r>
              <a:rPr lang="en-GB" altLang="en-US" sz="1700" dirty="0">
                <a:effectLst/>
              </a:rPr>
              <a:t> thrust sheet does not shorten or lengthen in the slip direction (simple shear)</a:t>
            </a:r>
          </a:p>
          <a:p>
            <a:pPr>
              <a:spcBef>
                <a:spcPct val="75000"/>
              </a:spcBef>
              <a:buClr>
                <a:srgbClr val="FF6600"/>
              </a:buClr>
              <a:buFont typeface="Times" panose="02020603050405020304" pitchFamily="18" charset="0"/>
              <a:buAutoNum type="alphaUcPeriod"/>
            </a:pPr>
            <a:r>
              <a:rPr lang="en-GB" altLang="en-US" sz="1700" dirty="0">
                <a:solidFill>
                  <a:srgbClr val="FF6600"/>
                </a:solidFill>
                <a:effectLst/>
              </a:rPr>
              <a:t>Push-from-behind:</a:t>
            </a:r>
            <a:r>
              <a:rPr lang="en-GB" altLang="en-US" sz="1700" dirty="0">
                <a:effectLst/>
              </a:rPr>
              <a:t> thrust sheet </a:t>
            </a:r>
            <a:r>
              <a:rPr lang="en-GB" altLang="en-US" sz="1700" dirty="0">
                <a:solidFill>
                  <a:srgbClr val="FF66FF"/>
                </a:solidFill>
                <a:effectLst/>
              </a:rPr>
              <a:t>shortens</a:t>
            </a:r>
            <a:r>
              <a:rPr lang="en-GB" altLang="en-US" sz="1700" dirty="0">
                <a:effectLst/>
              </a:rPr>
              <a:t> in the slip direction (X is oriented at a steeper angle to the shear plane than in simple shear)</a:t>
            </a:r>
          </a:p>
          <a:p>
            <a:pPr>
              <a:spcBef>
                <a:spcPct val="75000"/>
              </a:spcBef>
              <a:buClr>
                <a:srgbClr val="FF6600"/>
              </a:buClr>
              <a:buFont typeface="Times" panose="02020603050405020304" pitchFamily="18" charset="0"/>
              <a:buAutoNum type="alphaUcPeriod"/>
            </a:pPr>
            <a:r>
              <a:rPr lang="en-GB" altLang="en-US" sz="1700" dirty="0">
                <a:solidFill>
                  <a:srgbClr val="FF6600"/>
                </a:solidFill>
                <a:effectLst/>
              </a:rPr>
              <a:t>Gravity-spreading:</a:t>
            </a:r>
            <a:r>
              <a:rPr lang="en-GB" altLang="en-US" sz="1700" dirty="0">
                <a:effectLst/>
              </a:rPr>
              <a:t> thrust sheet </a:t>
            </a:r>
            <a:r>
              <a:rPr lang="en-GB" altLang="en-US" sz="1700" dirty="0">
                <a:solidFill>
                  <a:srgbClr val="FF66FF"/>
                </a:solidFill>
                <a:effectLst/>
              </a:rPr>
              <a:t>extends (and thins)</a:t>
            </a:r>
            <a:r>
              <a:rPr lang="en-GB" altLang="en-US" sz="1700" dirty="0">
                <a:effectLst/>
              </a:rPr>
              <a:t> in the slip direction (X has a sigmoidal variation reflecting the tendency for the surface slope to flatten out to the horizontal)</a:t>
            </a:r>
          </a:p>
        </p:txBody>
      </p:sp>
      <p:sp>
        <p:nvSpPr>
          <p:cNvPr id="416785" name="Text Box 17">
            <a:extLst>
              <a:ext uri="{FF2B5EF4-FFF2-40B4-BE49-F238E27FC236}">
                <a16:creationId xmlns:a16="http://schemas.microsoft.com/office/drawing/2014/main" id="{88017E78-6F3B-420E-AD49-3637FB4D294B}"/>
              </a:ext>
            </a:extLst>
          </p:cNvPr>
          <p:cNvSpPr txBox="1">
            <a:spLocks noChangeArrowheads="1"/>
          </p:cNvSpPr>
          <p:nvPr/>
        </p:nvSpPr>
        <p:spPr bwMode="auto">
          <a:xfrm>
            <a:off x="4162425" y="4813300"/>
            <a:ext cx="4827588"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Such models of strain variation are simplified but may be used as a framework within which to</a:t>
            </a:r>
            <a:r>
              <a:rPr lang="en-GB" altLang="en-US" sz="1700" dirty="0">
                <a:solidFill>
                  <a:srgbClr val="FF66FF"/>
                </a:solidFill>
                <a:effectLst>
                  <a:outerShdw blurRad="38100" dist="38100" dir="2700000" algn="tl">
                    <a:srgbClr val="000000"/>
                  </a:outerShdw>
                </a:effectLst>
                <a:latin typeface="Arial" panose="020B0604020202020204" pitchFamily="34" charset="0"/>
              </a:rPr>
              <a:t> interpret real strain measurements</a:t>
            </a:r>
            <a:r>
              <a:rPr lang="en-GB" altLang="en-US" sz="1700" dirty="0">
                <a:effectLst>
                  <a:outerShdw blurRad="38100" dist="38100" dir="2700000" algn="tl">
                    <a:srgbClr val="000000"/>
                  </a:outerShdw>
                </a:effectLst>
                <a:latin typeface="Arial" panose="020B0604020202020204" pitchFamily="34" charset="0"/>
              </a:rPr>
              <a:t> through thrust sheets, and thereby to say something about thrust sheet emplacement mechanisms</a:t>
            </a:r>
            <a:endParaRPr lang="en-GB" altLang="en-US" sz="1700" dirty="0">
              <a:solidFill>
                <a:srgbClr val="FF66FF"/>
              </a:solidFill>
              <a:effectLst>
                <a:outerShdw blurRad="38100" dist="38100" dir="2700000" algn="tl">
                  <a:srgbClr val="000000"/>
                </a:outerShdw>
              </a:effectLst>
              <a:latin typeface="Arial" panose="020B0604020202020204" pitchFamily="34" charset="0"/>
            </a:endParaRPr>
          </a:p>
        </p:txBody>
      </p:sp>
      <p:sp>
        <p:nvSpPr>
          <p:cNvPr id="416786" name="Text Box 18">
            <a:extLst>
              <a:ext uri="{FF2B5EF4-FFF2-40B4-BE49-F238E27FC236}">
                <a16:creationId xmlns:a16="http://schemas.microsoft.com/office/drawing/2014/main" id="{2BD4C059-1373-439D-9487-6FA71848B05B}"/>
              </a:ext>
            </a:extLst>
          </p:cNvPr>
          <p:cNvSpPr txBox="1">
            <a:spLocks noChangeArrowheads="1"/>
          </p:cNvSpPr>
          <p:nvPr/>
        </p:nvSpPr>
        <p:spPr bwMode="auto">
          <a:xfrm>
            <a:off x="4392613" y="3736975"/>
            <a:ext cx="4373562"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Orientation of the long axis of the strain ellipsoid (X) through thrust sheets</a:t>
            </a:r>
          </a:p>
        </p:txBody>
      </p:sp>
      <p:pic>
        <p:nvPicPr>
          <p:cNvPr id="416787" name="Picture 19" descr="19c1">
            <a:extLst>
              <a:ext uri="{FF2B5EF4-FFF2-40B4-BE49-F238E27FC236}">
                <a16:creationId xmlns:a16="http://schemas.microsoft.com/office/drawing/2014/main" id="{83B291D0-6D9C-4448-961C-B7A5A2B308D7}"/>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052888" y="893763"/>
            <a:ext cx="4948237" cy="27622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a:extLst>
              <a:ext uri="{FF2B5EF4-FFF2-40B4-BE49-F238E27FC236}">
                <a16:creationId xmlns:a16="http://schemas.microsoft.com/office/drawing/2014/main" id="{61D9F98F-AAA4-4607-9019-ECA90F67891B}"/>
              </a:ext>
            </a:extLst>
          </p:cNvPr>
          <p:cNvSpPr>
            <a:spLocks noGrp="1" noChangeArrowheads="1"/>
          </p:cNvSpPr>
          <p:nvPr>
            <p:ph type="title"/>
          </p:nvPr>
        </p:nvSpPr>
        <p:spPr>
          <a:noFill/>
        </p:spPr>
        <p:txBody>
          <a:bodyPr/>
          <a:lstStyle/>
          <a:p>
            <a:r>
              <a:rPr lang="en-GB" altLang="en-US">
                <a:effectLst/>
              </a:rPr>
              <a:t>Strain through thrust sheets  2</a:t>
            </a:r>
          </a:p>
        </p:txBody>
      </p:sp>
      <p:sp>
        <p:nvSpPr>
          <p:cNvPr id="420867" name="Rectangle 3">
            <a:extLst>
              <a:ext uri="{FF2B5EF4-FFF2-40B4-BE49-F238E27FC236}">
                <a16:creationId xmlns:a16="http://schemas.microsoft.com/office/drawing/2014/main" id="{B4224200-259E-4846-9322-785D97BF0BCC}"/>
              </a:ext>
            </a:extLst>
          </p:cNvPr>
          <p:cNvSpPr>
            <a:spLocks noGrp="1" noChangeArrowheads="1"/>
          </p:cNvSpPr>
          <p:nvPr>
            <p:ph type="body" sz="half" idx="1"/>
          </p:nvPr>
        </p:nvSpPr>
        <p:spPr>
          <a:xfrm>
            <a:off x="3890963" y="4857750"/>
            <a:ext cx="4835348" cy="1781175"/>
          </a:xfrm>
          <a:noFill/>
        </p:spPr>
        <p:txBody>
          <a:bodyPr/>
          <a:lstStyle/>
          <a:p>
            <a:pPr marL="0" indent="0">
              <a:buFont typeface="Times" panose="02020603050405020304" pitchFamily="18" charset="0"/>
              <a:buNone/>
            </a:pPr>
            <a:r>
              <a:rPr lang="en-GB" altLang="en-US" sz="1400" dirty="0">
                <a:solidFill>
                  <a:srgbClr val="FFFF00"/>
                </a:solidFill>
                <a:effectLst/>
              </a:rPr>
              <a:t>Left: strain variation within the Bendigo fold and thrust belt, Australia – an example of a </a:t>
            </a:r>
            <a:r>
              <a:rPr lang="en-GB" altLang="en-US" sz="1400" dirty="0">
                <a:solidFill>
                  <a:srgbClr val="FF6600"/>
                </a:solidFill>
                <a:effectLst/>
              </a:rPr>
              <a:t>push-from-behind </a:t>
            </a:r>
            <a:r>
              <a:rPr lang="en-GB" altLang="en-US" sz="1400" dirty="0">
                <a:solidFill>
                  <a:srgbClr val="FFFF00"/>
                </a:solidFill>
                <a:effectLst/>
              </a:rPr>
              <a:t>case</a:t>
            </a:r>
          </a:p>
          <a:p>
            <a:pPr marL="0" indent="0">
              <a:spcBef>
                <a:spcPct val="50000"/>
              </a:spcBef>
              <a:buFont typeface="Times" panose="02020603050405020304" pitchFamily="18" charset="0"/>
              <a:buNone/>
            </a:pPr>
            <a:r>
              <a:rPr lang="en-GB" altLang="en-US" sz="1400" dirty="0">
                <a:solidFill>
                  <a:srgbClr val="FFFF00"/>
                </a:solidFill>
                <a:effectLst/>
              </a:rPr>
              <a:t>In this case strain variation through the thrust sheet has been obtained from the fold interlimb angles (ILA) and from the dips of fold axial plane</a:t>
            </a:r>
            <a:r>
              <a:rPr lang="en-GB" altLang="en-US" sz="1400" spc="250" dirty="0">
                <a:solidFill>
                  <a:srgbClr val="FFFF00"/>
                </a:solidFill>
                <a:effectLst/>
              </a:rPr>
              <a:t>s/</a:t>
            </a:r>
            <a:r>
              <a:rPr lang="en-GB" altLang="en-US" sz="1400" dirty="0">
                <a:solidFill>
                  <a:srgbClr val="FFFF00"/>
                </a:solidFill>
                <a:effectLst/>
              </a:rPr>
              <a:t>orientations of the fibres within strain fringes around </a:t>
            </a:r>
            <a:r>
              <a:rPr lang="en-GB" altLang="en-US" sz="1400" dirty="0" err="1">
                <a:solidFill>
                  <a:srgbClr val="FFFF00"/>
                </a:solidFill>
                <a:effectLst/>
              </a:rPr>
              <a:t>porphyroblasts</a:t>
            </a:r>
            <a:r>
              <a:rPr lang="en-GB" altLang="en-US" sz="1400" dirty="0">
                <a:solidFill>
                  <a:srgbClr val="FFFF00"/>
                </a:solidFill>
                <a:effectLst/>
              </a:rPr>
              <a:t> (see Class 4)</a:t>
            </a:r>
            <a:endParaRPr lang="en-GB" altLang="en-US" sz="1900" dirty="0">
              <a:solidFill>
                <a:srgbClr val="FFFF00"/>
              </a:solidFill>
              <a:effectLst/>
            </a:endParaRPr>
          </a:p>
        </p:txBody>
      </p:sp>
      <p:pic>
        <p:nvPicPr>
          <p:cNvPr id="420869" name="Picture 5" descr="17b">
            <a:extLst>
              <a:ext uri="{FF2B5EF4-FFF2-40B4-BE49-F238E27FC236}">
                <a16:creationId xmlns:a16="http://schemas.microsoft.com/office/drawing/2014/main" id="{90071170-8816-4EDC-B0E2-C3F23F25E193}"/>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3870325" y="912813"/>
            <a:ext cx="5110163" cy="291941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20873" name="Text Box 9">
            <a:extLst>
              <a:ext uri="{FF2B5EF4-FFF2-40B4-BE49-F238E27FC236}">
                <a16:creationId xmlns:a16="http://schemas.microsoft.com/office/drawing/2014/main" id="{C786CF52-0172-4C28-AD86-795028BDC408}"/>
              </a:ext>
            </a:extLst>
          </p:cNvPr>
          <p:cNvSpPr txBox="1">
            <a:spLocks noChangeArrowheads="1"/>
          </p:cNvSpPr>
          <p:nvPr/>
        </p:nvSpPr>
        <p:spPr bwMode="auto">
          <a:xfrm>
            <a:off x="130175" y="790575"/>
            <a:ext cx="36068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Right: strain variation within the </a:t>
            </a:r>
            <a:r>
              <a:rPr lang="en-GB" altLang="en-US" sz="1400" dirty="0" err="1">
                <a:solidFill>
                  <a:srgbClr val="FFFF00"/>
                </a:solidFill>
                <a:effectLst>
                  <a:outerShdw blurRad="38100" dist="38100" dir="2700000" algn="tl">
                    <a:srgbClr val="000000"/>
                  </a:outerShdw>
                </a:effectLst>
                <a:latin typeface="Arial" panose="020B0604020202020204" pitchFamily="34" charset="0"/>
              </a:rPr>
              <a:t>Morcles</a:t>
            </a:r>
            <a:r>
              <a:rPr lang="en-GB" altLang="en-US" sz="1400" dirty="0">
                <a:solidFill>
                  <a:srgbClr val="FFFF00"/>
                </a:solidFill>
                <a:effectLst>
                  <a:outerShdw blurRad="38100" dist="38100" dir="2700000" algn="tl">
                    <a:srgbClr val="000000"/>
                  </a:outerShdw>
                </a:effectLst>
                <a:latin typeface="Arial" panose="020B0604020202020204" pitchFamily="34" charset="0"/>
              </a:rPr>
              <a:t> nappe, Swiss Alps – an example of </a:t>
            </a:r>
            <a:r>
              <a:rPr lang="en-GB" altLang="en-US" sz="1400" dirty="0">
                <a:solidFill>
                  <a:srgbClr val="FF6600"/>
                </a:solidFill>
                <a:effectLst>
                  <a:outerShdw blurRad="38100" dist="38100" dir="2700000" algn="tl">
                    <a:srgbClr val="000000"/>
                  </a:outerShdw>
                </a:effectLst>
                <a:latin typeface="Arial" panose="020B0604020202020204" pitchFamily="34" charset="0"/>
              </a:rPr>
              <a:t>gravity- glide </a:t>
            </a:r>
            <a:r>
              <a:rPr lang="en-GB" altLang="en-US" sz="1400" dirty="0">
                <a:solidFill>
                  <a:srgbClr val="FFFF00"/>
                </a:solidFill>
                <a:effectLst>
                  <a:outerShdw blurRad="38100" dist="38100" dir="2700000" algn="tl">
                    <a:srgbClr val="000000"/>
                  </a:outerShdw>
                </a:effectLst>
                <a:latin typeface="Arial" panose="020B0604020202020204" pitchFamily="34" charset="0"/>
              </a:rPr>
              <a:t>or possibly</a:t>
            </a:r>
            <a:r>
              <a:rPr lang="en-GB" altLang="en-US" sz="1400" dirty="0">
                <a:solidFill>
                  <a:srgbClr val="FF6600"/>
                </a:solidFill>
                <a:effectLst>
                  <a:outerShdw blurRad="38100" dist="38100" dir="2700000" algn="tl">
                    <a:srgbClr val="000000"/>
                  </a:outerShdw>
                </a:effectLst>
                <a:latin typeface="Arial" panose="020B0604020202020204" pitchFamily="34" charset="0"/>
              </a:rPr>
              <a:t> gravity-spreading</a:t>
            </a:r>
            <a:r>
              <a:rPr lang="en-GB" altLang="en-US" sz="1400" dirty="0">
                <a:solidFill>
                  <a:srgbClr val="FFFF00"/>
                </a:solidFill>
                <a:effectLst>
                  <a:outerShdw blurRad="38100" dist="38100" dir="2700000" algn="tl">
                    <a:srgbClr val="000000"/>
                  </a:outerShdw>
                </a:effectLst>
                <a:latin typeface="Arial" panose="020B0604020202020204" pitchFamily="34" charset="0"/>
              </a:rPr>
              <a:t> (matters are complicated by an element of extrusion late in the emplacement story)</a:t>
            </a:r>
          </a:p>
        </p:txBody>
      </p:sp>
      <p:pic>
        <p:nvPicPr>
          <p:cNvPr id="420875" name="Picture 11" descr="038">
            <a:extLst>
              <a:ext uri="{FF2B5EF4-FFF2-40B4-BE49-F238E27FC236}">
                <a16:creationId xmlns:a16="http://schemas.microsoft.com/office/drawing/2014/main" id="{10EC66AB-21CC-4A27-BF46-63F81ED4AA5B}"/>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163513" y="2616200"/>
            <a:ext cx="3524250" cy="3979863"/>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6695FB1A-226D-4EFE-8F0F-9ED8C89AF7FF}"/>
              </a:ext>
            </a:extLst>
          </p:cNvPr>
          <p:cNvSpPr>
            <a:spLocks noGrp="1" noChangeArrowheads="1"/>
          </p:cNvSpPr>
          <p:nvPr>
            <p:ph type="title"/>
          </p:nvPr>
        </p:nvSpPr>
        <p:spPr>
          <a:noFill/>
        </p:spPr>
        <p:txBody>
          <a:bodyPr/>
          <a:lstStyle/>
          <a:p>
            <a:r>
              <a:rPr lang="en-GB" altLang="en-US">
                <a:effectLst/>
              </a:rPr>
              <a:t>Hinterland perspective</a:t>
            </a:r>
          </a:p>
        </p:txBody>
      </p:sp>
      <p:sp>
        <p:nvSpPr>
          <p:cNvPr id="336899" name="Rectangle 3">
            <a:extLst>
              <a:ext uri="{FF2B5EF4-FFF2-40B4-BE49-F238E27FC236}">
                <a16:creationId xmlns:a16="http://schemas.microsoft.com/office/drawing/2014/main" id="{325A614C-785E-4B5F-9126-499AE3DEB057}"/>
              </a:ext>
            </a:extLst>
          </p:cNvPr>
          <p:cNvSpPr>
            <a:spLocks noGrp="1" noChangeArrowheads="1"/>
          </p:cNvSpPr>
          <p:nvPr>
            <p:ph type="body" sz="half" idx="1"/>
          </p:nvPr>
        </p:nvSpPr>
        <p:spPr>
          <a:xfrm>
            <a:off x="93663" y="793750"/>
            <a:ext cx="3014662" cy="1719263"/>
          </a:xfrm>
          <a:noFill/>
        </p:spPr>
        <p:txBody>
          <a:bodyPr/>
          <a:lstStyle/>
          <a:p>
            <a:pPr marL="177800" indent="-177800"/>
            <a:r>
              <a:rPr lang="en-GB" altLang="en-US" sz="1700" dirty="0">
                <a:effectLst/>
              </a:rPr>
              <a:t>For a complete picture of thrust systems, it is necessary to consider what happens to the </a:t>
            </a:r>
            <a:r>
              <a:rPr lang="en-GB" altLang="en-US" sz="1700" dirty="0">
                <a:solidFill>
                  <a:srgbClr val="FF66CC"/>
                </a:solidFill>
                <a:effectLst/>
              </a:rPr>
              <a:t>sole fault in the</a:t>
            </a:r>
            <a:r>
              <a:rPr lang="en-GB" altLang="en-US" sz="1700" dirty="0">
                <a:effectLst/>
              </a:rPr>
              <a:t> </a:t>
            </a:r>
            <a:r>
              <a:rPr lang="en-GB" altLang="en-US" sz="1700" dirty="0">
                <a:solidFill>
                  <a:srgbClr val="FF66CC"/>
                </a:solidFill>
                <a:effectLst/>
              </a:rPr>
              <a:t>hinterland</a:t>
            </a:r>
          </a:p>
        </p:txBody>
      </p:sp>
      <p:pic>
        <p:nvPicPr>
          <p:cNvPr id="336900" name="Picture 4" descr="10">
            <a:extLst>
              <a:ext uri="{FF2B5EF4-FFF2-40B4-BE49-F238E27FC236}">
                <a16:creationId xmlns:a16="http://schemas.microsoft.com/office/drawing/2014/main" id="{62234680-4292-412D-8762-F2BA3449417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222625" y="971550"/>
            <a:ext cx="5691188" cy="41433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6902" name="Rectangle 6">
            <a:extLst>
              <a:ext uri="{FF2B5EF4-FFF2-40B4-BE49-F238E27FC236}">
                <a16:creationId xmlns:a16="http://schemas.microsoft.com/office/drawing/2014/main" id="{9DE6C8DD-4911-4CC3-BB4C-4D6F9CBCB9CB}"/>
              </a:ext>
            </a:extLst>
          </p:cNvPr>
          <p:cNvSpPr>
            <a:spLocks noChangeArrowheads="1"/>
          </p:cNvSpPr>
          <p:nvPr/>
        </p:nvSpPr>
        <p:spPr bwMode="auto">
          <a:xfrm>
            <a:off x="119063" y="2581275"/>
            <a:ext cx="3014662" cy="2728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8288" indent="-268288">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846138" indent="-30480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176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738313"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84400" indent="-2667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64160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9880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55600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01320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buFont typeface="Times" panose="02020603050405020304" pitchFamily="18" charset="0"/>
              <a:buAutoNum type="alphaUcPeriod"/>
            </a:pPr>
            <a:r>
              <a:rPr lang="en-GB" altLang="en-US" sz="1700">
                <a:effectLst/>
              </a:rPr>
              <a:t>The sole fault may return to the surface so that horizontal shortening in one part of the crust is </a:t>
            </a:r>
            <a:r>
              <a:rPr lang="en-GB" altLang="en-US" sz="1700">
                <a:solidFill>
                  <a:srgbClr val="FF6600"/>
                </a:solidFill>
                <a:effectLst/>
              </a:rPr>
              <a:t>balanced by extension</a:t>
            </a:r>
            <a:r>
              <a:rPr lang="en-GB" altLang="en-US" sz="1700">
                <a:effectLst/>
              </a:rPr>
              <a:t> in another</a:t>
            </a:r>
          </a:p>
          <a:p>
            <a:pPr>
              <a:spcBef>
                <a:spcPct val="75000"/>
              </a:spcBef>
              <a:buFont typeface="Times" panose="02020603050405020304" pitchFamily="18" charset="0"/>
              <a:buAutoNum type="alphaUcPeriod"/>
            </a:pPr>
            <a:r>
              <a:rPr lang="en-GB" altLang="en-US" sz="1700">
                <a:effectLst/>
              </a:rPr>
              <a:t>The sole fault merges into a high grade metamorphic</a:t>
            </a:r>
          </a:p>
        </p:txBody>
      </p:sp>
      <p:sp>
        <p:nvSpPr>
          <p:cNvPr id="336903" name="Text Box 7">
            <a:extLst>
              <a:ext uri="{FF2B5EF4-FFF2-40B4-BE49-F238E27FC236}">
                <a16:creationId xmlns:a16="http://schemas.microsoft.com/office/drawing/2014/main" id="{15001BC3-E1B2-4DFC-A2B7-EB0A4172D798}"/>
              </a:ext>
            </a:extLst>
          </p:cNvPr>
          <p:cNvSpPr txBox="1">
            <a:spLocks noChangeArrowheads="1"/>
          </p:cNvSpPr>
          <p:nvPr/>
        </p:nvSpPr>
        <p:spPr bwMode="auto">
          <a:xfrm>
            <a:off x="114300" y="5313186"/>
            <a:ext cx="8943975"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8288" indent="-268288">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6663" indent="-304800">
              <a:defRPr sz="1600">
                <a:solidFill>
                  <a:schemeClr val="tx1"/>
                </a:solidFill>
                <a:latin typeface="Helvetica" panose="020B0604020202020204" pitchFamily="34" charset="0"/>
              </a:defRPr>
            </a:lvl3pPr>
            <a:lvl4pPr marL="1720850" indent="-304800">
              <a:defRPr sz="1600">
                <a:solidFill>
                  <a:schemeClr val="tx1"/>
                </a:solidFill>
                <a:latin typeface="Helvetica" panose="020B0604020202020204" pitchFamily="34" charset="0"/>
              </a:defRPr>
            </a:lvl4pPr>
            <a:lvl5pPr marL="2205038" indent="-304800">
              <a:defRPr sz="1600">
                <a:solidFill>
                  <a:schemeClr val="tx1"/>
                </a:solidFill>
                <a:latin typeface="Helvetica" panose="020B0604020202020204" pitchFamily="34" charset="0"/>
              </a:defRPr>
            </a:lvl5pPr>
            <a:lvl6pPr marL="2662238"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9438"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6638"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33838"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00"/>
                </a:solidFill>
                <a:effectLst>
                  <a:outerShdw blurRad="38100" dist="38100" dir="2700000" algn="tl">
                    <a:srgbClr val="000000"/>
                  </a:outerShdw>
                </a:effectLst>
                <a:latin typeface="Arial" panose="020B0604020202020204" pitchFamily="34" charset="0"/>
              </a:rPr>
              <a:t>root zone of ductile deformation</a:t>
            </a:r>
          </a:p>
          <a:p>
            <a:pPr>
              <a:lnSpc>
                <a:spcPct val="120000"/>
              </a:lnSpc>
              <a:spcBef>
                <a:spcPct val="75000"/>
              </a:spcBef>
              <a:buClr>
                <a:schemeClr val="tx1"/>
              </a:buClr>
              <a:buFontTx/>
              <a:buAutoNum type="alphaUcPeriod" startAt="3"/>
            </a:pPr>
            <a:r>
              <a:rPr lang="en-GB" altLang="en-US" sz="1700" dirty="0">
                <a:effectLst>
                  <a:outerShdw blurRad="38100" dist="38100" dir="2700000" algn="tl">
                    <a:srgbClr val="000000"/>
                  </a:outerShdw>
                </a:effectLst>
                <a:latin typeface="Arial" panose="020B0604020202020204" pitchFamily="34" charset="0"/>
              </a:rPr>
              <a:t>The ultimate sole fault to a fold and thrust belt is a</a:t>
            </a:r>
            <a:r>
              <a:rPr lang="en-GB" altLang="en-US" sz="1700" dirty="0">
                <a:solidFill>
                  <a:srgbClr val="FF6600"/>
                </a:solidFill>
                <a:effectLst>
                  <a:outerShdw blurRad="38100" dist="38100" dir="2700000" algn="tl">
                    <a:srgbClr val="000000"/>
                  </a:outerShdw>
                </a:effectLst>
                <a:latin typeface="Arial" panose="020B0604020202020204" pitchFamily="34" charset="0"/>
              </a:rPr>
              <a:t> subduction zone</a:t>
            </a:r>
            <a:r>
              <a:rPr lang="en-GB" altLang="en-US" sz="1700" dirty="0">
                <a:effectLst>
                  <a:outerShdw blurRad="38100" dist="38100" dir="2700000" algn="tl">
                    <a:srgbClr val="000000"/>
                  </a:outerShdw>
                </a:effectLst>
                <a:latin typeface="Arial" panose="020B0604020202020204" pitchFamily="34" charset="0"/>
              </a:rPr>
              <a:t> – the thrust belt is a series of splays off a convergent plate boundary fault</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7F58EF49-3D3B-401F-97D5-5244B61B7A95}"/>
              </a:ext>
            </a:extLst>
          </p:cNvPr>
          <p:cNvSpPr>
            <a:spLocks noGrp="1" noChangeArrowheads="1"/>
          </p:cNvSpPr>
          <p:nvPr>
            <p:ph type="ctrTitle" idx="4294967295"/>
          </p:nvPr>
        </p:nvSpPr>
        <p:spPr bwMode="black">
          <a:xfrm>
            <a:off x="239713" y="1358900"/>
            <a:ext cx="8705850" cy="24288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200">
                <a:solidFill>
                  <a:srgbClr val="FF6600"/>
                </a:solidFill>
              </a:rPr>
            </a:br>
            <a:br>
              <a:rPr lang="en-US" altLang="en-US" sz="3200">
                <a:solidFill>
                  <a:srgbClr val="FF6600"/>
                </a:solidFill>
              </a:rPr>
            </a:br>
            <a:r>
              <a:rPr lang="en-US" altLang="en-US" sz="3200">
                <a:solidFill>
                  <a:srgbClr val="FF6600"/>
                </a:solidFill>
              </a:rPr>
              <a:t>Section balancing</a:t>
            </a:r>
            <a:br>
              <a:rPr lang="en-US" altLang="en-US" sz="3200">
                <a:solidFill>
                  <a:srgbClr val="FF6600"/>
                </a:solidFill>
              </a:rPr>
            </a:br>
            <a:r>
              <a:rPr lang="en-US" altLang="en-US" sz="3200">
                <a:solidFill>
                  <a:srgbClr val="FF6600"/>
                </a:solidFill>
              </a:rPr>
              <a:t>(fold and thrust belts)</a:t>
            </a:r>
            <a:endParaRPr lang="en-US" altLang="en-US">
              <a:solidFill>
                <a:srgbClr val="FF6600"/>
              </a:solidFill>
            </a:endParaRPr>
          </a:p>
        </p:txBody>
      </p:sp>
      <p:sp>
        <p:nvSpPr>
          <p:cNvPr id="216067" name="Text Box 3">
            <a:extLst>
              <a:ext uri="{FF2B5EF4-FFF2-40B4-BE49-F238E27FC236}">
                <a16:creationId xmlns:a16="http://schemas.microsoft.com/office/drawing/2014/main" id="{BF7871DE-D6C0-4216-8773-DE321173C197}"/>
              </a:ext>
            </a:extLst>
          </p:cNvPr>
          <p:cNvSpPr txBox="1">
            <a:spLocks noChangeArrowheads="1"/>
          </p:cNvSpPr>
          <p:nvPr/>
        </p:nvSpPr>
        <p:spPr bwMode="auto">
          <a:xfrm>
            <a:off x="266700" y="361950"/>
            <a:ext cx="3362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400" dirty="0">
                <a:solidFill>
                  <a:srgbClr val="FFFF66"/>
                </a:solidFill>
                <a:effectLst>
                  <a:outerShdw blurRad="38100" dist="38100" dir="2700000" algn="tl">
                    <a:srgbClr val="000000"/>
                  </a:outerShdw>
                </a:effectLst>
                <a:latin typeface="Arial" panose="020B0604020202020204" pitchFamily="34" charset="0"/>
              </a:rPr>
              <a:t>Some additional notes</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A04A6D62-FDD8-4CDB-B547-F92F50742F6B}"/>
              </a:ext>
            </a:extLst>
          </p:cNvPr>
          <p:cNvSpPr>
            <a:spLocks noGrp="1" noChangeArrowheads="1"/>
          </p:cNvSpPr>
          <p:nvPr>
            <p:ph type="title"/>
          </p:nvPr>
        </p:nvSpPr>
        <p:spPr>
          <a:noFill/>
        </p:spPr>
        <p:txBody>
          <a:bodyPr/>
          <a:lstStyle/>
          <a:p>
            <a:r>
              <a:rPr lang="en-GB" altLang="en-US">
                <a:effectLst/>
              </a:rPr>
              <a:t>Techniques for analysing fold and thrust terrains</a:t>
            </a:r>
          </a:p>
        </p:txBody>
      </p:sp>
      <p:sp>
        <p:nvSpPr>
          <p:cNvPr id="231427" name="Rectangle 3">
            <a:extLst>
              <a:ext uri="{FF2B5EF4-FFF2-40B4-BE49-F238E27FC236}">
                <a16:creationId xmlns:a16="http://schemas.microsoft.com/office/drawing/2014/main" id="{EAA4F0C0-EF73-4C34-9566-972FB5753EB6}"/>
              </a:ext>
            </a:extLst>
          </p:cNvPr>
          <p:cNvSpPr>
            <a:spLocks noGrp="1" noChangeArrowheads="1"/>
          </p:cNvSpPr>
          <p:nvPr>
            <p:ph type="body" sz="half" idx="1"/>
          </p:nvPr>
        </p:nvSpPr>
        <p:spPr>
          <a:xfrm>
            <a:off x="122238" y="850900"/>
            <a:ext cx="6157912" cy="4205288"/>
          </a:xfrm>
          <a:noFill/>
        </p:spPr>
        <p:txBody>
          <a:bodyPr/>
          <a:lstStyle/>
          <a:p>
            <a:pPr marL="180975" indent="-180975"/>
            <a:r>
              <a:rPr lang="en-GB" altLang="en-US" sz="1700" dirty="0">
                <a:effectLst/>
              </a:rPr>
              <a:t>Several map techniques have been developed to establish the locations of ramps and flats, the sequence of thrust propagation, and other geometric features of thrust systems:</a:t>
            </a:r>
          </a:p>
          <a:p>
            <a:pPr marL="628650" lvl="1" indent="-266700">
              <a:buClr>
                <a:srgbClr val="FF6600"/>
              </a:buClr>
              <a:buFont typeface="Times" panose="02020603050405020304" pitchFamily="18" charset="0"/>
              <a:buAutoNum type="arabicPeriod"/>
            </a:pPr>
            <a:r>
              <a:rPr lang="en-GB" altLang="en-US" sz="1700" dirty="0">
                <a:solidFill>
                  <a:srgbClr val="FF6600"/>
                </a:solidFill>
                <a:effectLst/>
              </a:rPr>
              <a:t>Stratum contouring of thrust surfaces to produce</a:t>
            </a:r>
            <a:r>
              <a:rPr lang="en-GB" altLang="en-US" sz="1700" dirty="0">
                <a:effectLst/>
              </a:rPr>
              <a:t> </a:t>
            </a:r>
            <a:r>
              <a:rPr lang="en-GB" altLang="en-US" sz="1700" dirty="0" err="1">
                <a:solidFill>
                  <a:srgbClr val="FF6600"/>
                </a:solidFill>
                <a:effectLst/>
              </a:rPr>
              <a:t>isopach</a:t>
            </a:r>
            <a:r>
              <a:rPr lang="en-GB" altLang="en-US" sz="1700" dirty="0">
                <a:solidFill>
                  <a:srgbClr val="FF6600"/>
                </a:solidFill>
                <a:effectLst/>
              </a:rPr>
              <a:t> maps</a:t>
            </a:r>
            <a:r>
              <a:rPr lang="en-GB" altLang="en-US" sz="1700" dirty="0">
                <a:effectLst/>
              </a:rPr>
              <a:t> (maps of thrust sheet thickness)</a:t>
            </a:r>
          </a:p>
          <a:p>
            <a:pPr marL="628650" lvl="1" indent="-266700">
              <a:buClr>
                <a:srgbClr val="FF6600"/>
              </a:buClr>
              <a:buFont typeface="Times" panose="02020603050405020304" pitchFamily="18" charset="0"/>
              <a:buAutoNum type="arabicPeriod"/>
            </a:pPr>
            <a:r>
              <a:rPr lang="en-GB" altLang="en-US" sz="1700" dirty="0">
                <a:solidFill>
                  <a:srgbClr val="FF6600"/>
                </a:solidFill>
                <a:effectLst/>
              </a:rPr>
              <a:t>Branch-line and cut-off line maps</a:t>
            </a:r>
          </a:p>
          <a:p>
            <a:pPr marL="628650" lvl="1" indent="-266700">
              <a:buClr>
                <a:srgbClr val="FF6600"/>
              </a:buClr>
              <a:buFont typeface="Times" panose="02020603050405020304" pitchFamily="18" charset="0"/>
              <a:buAutoNum type="arabicPeriod"/>
            </a:pPr>
            <a:r>
              <a:rPr lang="en-GB" altLang="en-US" sz="1700" dirty="0">
                <a:solidFill>
                  <a:srgbClr val="FF6600"/>
                </a:solidFill>
                <a:effectLst/>
              </a:rPr>
              <a:t>Stratigraphic separation diagrams</a:t>
            </a:r>
          </a:p>
          <a:p>
            <a:pPr marL="628650" lvl="1" indent="-266700">
              <a:buClr>
                <a:srgbClr val="FF6600"/>
              </a:buClr>
              <a:buFont typeface="Times" panose="02020603050405020304" pitchFamily="18" charset="0"/>
              <a:buAutoNum type="arabicPeriod"/>
            </a:pPr>
            <a:r>
              <a:rPr lang="en-GB" altLang="en-US" sz="1700" dirty="0">
                <a:solidFill>
                  <a:srgbClr val="FF6600"/>
                </a:solidFill>
                <a:effectLst/>
              </a:rPr>
              <a:t>Hanging wall sequence diagrams</a:t>
            </a:r>
          </a:p>
          <a:p>
            <a:pPr marL="180975" indent="-180975">
              <a:spcBef>
                <a:spcPct val="75000"/>
              </a:spcBef>
            </a:pPr>
            <a:r>
              <a:rPr lang="en-GB" altLang="en-US" sz="1700" dirty="0">
                <a:effectLst/>
              </a:rPr>
              <a:t>There is no time to consider these techniques in this course unit, but another technique (</a:t>
            </a:r>
            <a:r>
              <a:rPr lang="en-GB" altLang="en-US" sz="1700" dirty="0">
                <a:solidFill>
                  <a:srgbClr val="FF6600"/>
                </a:solidFill>
                <a:effectLst/>
              </a:rPr>
              <a:t>balanced cross sections</a:t>
            </a:r>
            <a:r>
              <a:rPr lang="en-GB" altLang="en-US" sz="1700" dirty="0">
                <a:effectLst/>
              </a:rPr>
              <a:t>) is important to be aware of</a:t>
            </a:r>
          </a:p>
        </p:txBody>
      </p:sp>
      <p:pic>
        <p:nvPicPr>
          <p:cNvPr id="231434" name="Picture 10" descr="11">
            <a:extLst>
              <a:ext uri="{FF2B5EF4-FFF2-40B4-BE49-F238E27FC236}">
                <a16:creationId xmlns:a16="http://schemas.microsoft.com/office/drawing/2014/main" id="{66BB2181-C4E6-4D6E-9822-1FFB87E3D415}"/>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6896100" y="1008063"/>
            <a:ext cx="2125663" cy="56562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1436" name="Text Box 12">
            <a:extLst>
              <a:ext uri="{FF2B5EF4-FFF2-40B4-BE49-F238E27FC236}">
                <a16:creationId xmlns:a16="http://schemas.microsoft.com/office/drawing/2014/main" id="{5701F202-3F04-4027-B21F-130C6D30A054}"/>
              </a:ext>
            </a:extLst>
          </p:cNvPr>
          <p:cNvSpPr txBox="1">
            <a:spLocks noChangeArrowheads="1"/>
          </p:cNvSpPr>
          <p:nvPr/>
        </p:nvSpPr>
        <p:spPr bwMode="auto">
          <a:xfrm>
            <a:off x="2082800" y="5268913"/>
            <a:ext cx="4699000"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The bow-and-arrow rule for estimating thrust movement direction: large thrusts are typically convex towards the movement direction in map view, and as a rule-of-thumb this movement direction is at 90° to the line connecting the two tip points of the thrust</a:t>
            </a: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69FAE3B1-A623-4BB7-9A2B-792412208349}"/>
              </a:ext>
            </a:extLst>
          </p:cNvPr>
          <p:cNvSpPr>
            <a:spLocks noGrp="1" noChangeArrowheads="1"/>
          </p:cNvSpPr>
          <p:nvPr>
            <p:ph type="title"/>
          </p:nvPr>
        </p:nvSpPr>
        <p:spPr>
          <a:noFill/>
        </p:spPr>
        <p:txBody>
          <a:bodyPr/>
          <a:lstStyle/>
          <a:p>
            <a:r>
              <a:rPr lang="en-GB" altLang="en-US">
                <a:effectLst/>
              </a:rPr>
              <a:t>Balanced sections</a:t>
            </a:r>
          </a:p>
        </p:txBody>
      </p:sp>
      <p:sp>
        <p:nvSpPr>
          <p:cNvPr id="358403" name="Rectangle 3">
            <a:extLst>
              <a:ext uri="{FF2B5EF4-FFF2-40B4-BE49-F238E27FC236}">
                <a16:creationId xmlns:a16="http://schemas.microsoft.com/office/drawing/2014/main" id="{5F5A0406-8758-419A-AFC5-6BB11134312D}"/>
              </a:ext>
            </a:extLst>
          </p:cNvPr>
          <p:cNvSpPr>
            <a:spLocks noGrp="1" noChangeArrowheads="1"/>
          </p:cNvSpPr>
          <p:nvPr>
            <p:ph type="body" sz="half" idx="1"/>
          </p:nvPr>
        </p:nvSpPr>
        <p:spPr>
          <a:xfrm>
            <a:off x="103188" y="793750"/>
            <a:ext cx="8872537" cy="2586038"/>
          </a:xfrm>
          <a:noFill/>
        </p:spPr>
        <p:txBody>
          <a:bodyPr/>
          <a:lstStyle/>
          <a:p>
            <a:pPr marL="180975" indent="-180975">
              <a:spcBef>
                <a:spcPct val="75000"/>
              </a:spcBef>
            </a:pPr>
            <a:r>
              <a:rPr lang="en-GB" altLang="en-US" sz="1700" dirty="0">
                <a:effectLst/>
              </a:rPr>
              <a:t>A balanced cross-section is one that is</a:t>
            </a:r>
          </a:p>
          <a:p>
            <a:pPr marL="450000" lvl="1" indent="-268288">
              <a:spcBef>
                <a:spcPct val="25000"/>
              </a:spcBef>
              <a:buClr>
                <a:srgbClr val="FF6600"/>
              </a:buClr>
              <a:buFont typeface="Times" panose="02020603050405020304" pitchFamily="18" charset="0"/>
              <a:buAutoNum type="arabicPeriod"/>
            </a:pPr>
            <a:r>
              <a:rPr lang="en-GB" altLang="en-US" sz="1700" dirty="0">
                <a:solidFill>
                  <a:srgbClr val="FF6600"/>
                </a:solidFill>
                <a:effectLst/>
              </a:rPr>
              <a:t>Admissible:</a:t>
            </a:r>
            <a:r>
              <a:rPr lang="en-GB" altLang="en-US" sz="1700" dirty="0">
                <a:effectLst/>
              </a:rPr>
              <a:t> the structures that it contains are geologically reasonable with respect to each other and for the tectonic context</a:t>
            </a:r>
          </a:p>
          <a:p>
            <a:pPr marL="450000" lvl="1" indent="-268288">
              <a:spcBef>
                <a:spcPct val="75000"/>
              </a:spcBef>
              <a:buClr>
                <a:srgbClr val="FF6600"/>
              </a:buClr>
              <a:buFont typeface="Times" panose="02020603050405020304" pitchFamily="18" charset="0"/>
              <a:buAutoNum type="arabicPeriod"/>
            </a:pPr>
            <a:r>
              <a:rPr lang="en-GB" altLang="en-US" sz="1700" dirty="0">
                <a:solidFill>
                  <a:srgbClr val="FF6600"/>
                </a:solidFill>
                <a:effectLst/>
              </a:rPr>
              <a:t>Restorable (retro-deformable):</a:t>
            </a:r>
            <a:r>
              <a:rPr lang="en-GB" altLang="en-US" sz="1700" dirty="0">
                <a:effectLst/>
              </a:rPr>
              <a:t> the section can be </a:t>
            </a:r>
            <a:r>
              <a:rPr lang="en-GB" altLang="en-US" sz="1700" dirty="0" err="1">
                <a:effectLst/>
              </a:rPr>
              <a:t>undeformed</a:t>
            </a:r>
            <a:r>
              <a:rPr lang="en-GB" altLang="en-US" sz="1700" dirty="0">
                <a:effectLst/>
              </a:rPr>
              <a:t> (working back in time) such that no significant gaps or overlaps are left</a:t>
            </a:r>
          </a:p>
          <a:p>
            <a:pPr marL="180975" indent="-180975"/>
            <a:r>
              <a:rPr lang="en-GB" altLang="en-US" sz="1700" dirty="0"/>
              <a:t>A balanced section may be used to estimate the amount of </a:t>
            </a:r>
            <a:r>
              <a:rPr lang="en-GB" altLang="en-US" sz="1700" dirty="0">
                <a:solidFill>
                  <a:srgbClr val="FF66FF"/>
                </a:solidFill>
              </a:rPr>
              <a:t>shortening</a:t>
            </a:r>
            <a:r>
              <a:rPr lang="en-GB" altLang="en-US" sz="1700" dirty="0"/>
              <a:t> (or extension)</a:t>
            </a:r>
          </a:p>
        </p:txBody>
      </p:sp>
      <p:grpSp>
        <p:nvGrpSpPr>
          <p:cNvPr id="358410" name="Group 10">
            <a:extLst>
              <a:ext uri="{FF2B5EF4-FFF2-40B4-BE49-F238E27FC236}">
                <a16:creationId xmlns:a16="http://schemas.microsoft.com/office/drawing/2014/main" id="{A8E3849A-9141-43BC-8A40-B7609D9F633F}"/>
              </a:ext>
            </a:extLst>
          </p:cNvPr>
          <p:cNvGrpSpPr>
            <a:grpSpLocks/>
          </p:cNvGrpSpPr>
          <p:nvPr/>
        </p:nvGrpSpPr>
        <p:grpSpPr bwMode="auto">
          <a:xfrm>
            <a:off x="152400" y="3538538"/>
            <a:ext cx="8867775" cy="2114550"/>
            <a:chOff x="78" y="2796"/>
            <a:chExt cx="5682" cy="1386"/>
          </a:xfrm>
        </p:grpSpPr>
        <p:sp>
          <p:nvSpPr>
            <p:cNvPr id="358409" name="Rectangle 9">
              <a:extLst>
                <a:ext uri="{FF2B5EF4-FFF2-40B4-BE49-F238E27FC236}">
                  <a16:creationId xmlns:a16="http://schemas.microsoft.com/office/drawing/2014/main" id="{A1296F27-3672-432F-B42B-434C305D63C4}"/>
                </a:ext>
              </a:extLst>
            </p:cNvPr>
            <p:cNvSpPr>
              <a:spLocks noChangeArrowheads="1"/>
            </p:cNvSpPr>
            <p:nvPr/>
          </p:nvSpPr>
          <p:spPr bwMode="auto">
            <a:xfrm>
              <a:off x="78" y="2796"/>
              <a:ext cx="5682" cy="1386"/>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58407" name="Picture 2" descr="GR03.jpg">
              <a:extLst>
                <a:ext uri="{FF2B5EF4-FFF2-40B4-BE49-F238E27FC236}">
                  <a16:creationId xmlns:a16="http://schemas.microsoft.com/office/drawing/2014/main" id="{77FD00FE-4693-4C55-8E83-365DD3C3E4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9" y="2856"/>
              <a:ext cx="5562" cy="1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58411" name="Text Box 11">
            <a:extLst>
              <a:ext uri="{FF2B5EF4-FFF2-40B4-BE49-F238E27FC236}">
                <a16:creationId xmlns:a16="http://schemas.microsoft.com/office/drawing/2014/main" id="{7E71BB57-3C9D-424E-ACAC-F7E1C12DFCC7}"/>
              </a:ext>
            </a:extLst>
          </p:cNvPr>
          <p:cNvSpPr txBox="1">
            <a:spLocks noChangeArrowheads="1"/>
          </p:cNvSpPr>
          <p:nvPr/>
        </p:nvSpPr>
        <p:spPr bwMode="auto">
          <a:xfrm>
            <a:off x="200025" y="3548063"/>
            <a:ext cx="226695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pPr>
            <a:r>
              <a:rPr lang="en-GB" altLang="en-US" sz="1400">
                <a:solidFill>
                  <a:srgbClr val="FF0000"/>
                </a:solidFill>
                <a:effectLst/>
                <a:latin typeface="Arial" panose="020B0604020202020204" pitchFamily="34" charset="0"/>
              </a:rPr>
              <a:t>Zagros fold and thrust belt</a:t>
            </a:r>
          </a:p>
        </p:txBody>
      </p:sp>
      <p:sp>
        <p:nvSpPr>
          <p:cNvPr id="358412" name="Text Box 12">
            <a:extLst>
              <a:ext uri="{FF2B5EF4-FFF2-40B4-BE49-F238E27FC236}">
                <a16:creationId xmlns:a16="http://schemas.microsoft.com/office/drawing/2014/main" id="{8A1F05FC-5C88-46F6-B598-83009BB7C72C}"/>
              </a:ext>
            </a:extLst>
          </p:cNvPr>
          <p:cNvSpPr txBox="1">
            <a:spLocks noChangeArrowheads="1"/>
          </p:cNvSpPr>
          <p:nvPr/>
        </p:nvSpPr>
        <p:spPr bwMode="auto">
          <a:xfrm>
            <a:off x="180975" y="5861050"/>
            <a:ext cx="88296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solidFill>
                  <a:srgbClr val="FF66FF"/>
                </a:solidFill>
                <a:effectLst/>
                <a:latin typeface="Arial" panose="020B0604020202020204" pitchFamily="34" charset="0"/>
              </a:rPr>
              <a:t>All </a:t>
            </a:r>
            <a:r>
              <a:rPr lang="en-GB" altLang="en-US" sz="1700">
                <a:solidFill>
                  <a:srgbClr val="FF66FF"/>
                </a:solidFill>
                <a:effectLst>
                  <a:outerShdw blurRad="38100" dist="38100" dir="2700000" algn="tl">
                    <a:srgbClr val="000000"/>
                  </a:outerShdw>
                </a:effectLst>
                <a:latin typeface="Arial" panose="020B0604020202020204" pitchFamily="34" charset="0"/>
              </a:rPr>
              <a:t>cross-sections should be balanced</a:t>
            </a:r>
            <a:r>
              <a:rPr lang="en-GB" altLang="en-US" sz="1700">
                <a:effectLst>
                  <a:outerShdw blurRad="38100" dist="38100" dir="2700000" algn="tl">
                    <a:srgbClr val="000000"/>
                  </a:outerShdw>
                </a:effectLst>
                <a:latin typeface="Arial" panose="020B0604020202020204" pitchFamily="34" charset="0"/>
              </a:rPr>
              <a:t> to check the self-consistency of the interpretation but note that a balanced section is not necessarily a </a:t>
            </a:r>
            <a:r>
              <a:rPr lang="en-GB" altLang="en-US" sz="1700">
                <a:solidFill>
                  <a:srgbClr val="FF66FF"/>
                </a:solidFill>
                <a:effectLst>
                  <a:outerShdw blurRad="38100" dist="38100" dir="2700000" algn="tl">
                    <a:srgbClr val="000000"/>
                  </a:outerShdw>
                </a:effectLst>
                <a:latin typeface="Arial" panose="020B0604020202020204" pitchFamily="34" charset="0"/>
              </a:rPr>
              <a:t>unique solution</a:t>
            </a:r>
            <a:r>
              <a:rPr lang="en-GB" altLang="en-US" sz="1700">
                <a:effectLst>
                  <a:outerShdw blurRad="38100" dist="38100" dir="2700000" algn="tl">
                    <a:srgbClr val="000000"/>
                  </a:outerShdw>
                </a:effectLst>
                <a:latin typeface="Arial" panose="020B0604020202020204" pitchFamily="34" charset="0"/>
              </a:rPr>
              <a:t> to the data</a:t>
            </a: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a:extLst>
              <a:ext uri="{FF2B5EF4-FFF2-40B4-BE49-F238E27FC236}">
                <a16:creationId xmlns:a16="http://schemas.microsoft.com/office/drawing/2014/main" id="{32C66192-3E68-46C5-B36D-FC53D1C0506C}"/>
              </a:ext>
            </a:extLst>
          </p:cNvPr>
          <p:cNvSpPr>
            <a:spLocks noGrp="1" noChangeArrowheads="1"/>
          </p:cNvSpPr>
          <p:nvPr>
            <p:ph type="title"/>
          </p:nvPr>
        </p:nvSpPr>
        <p:spPr>
          <a:noFill/>
        </p:spPr>
        <p:txBody>
          <a:bodyPr/>
          <a:lstStyle/>
          <a:p>
            <a:r>
              <a:rPr lang="en-GB" altLang="en-US">
                <a:effectLst/>
              </a:rPr>
              <a:t>Balanced sections: assumptions</a:t>
            </a:r>
          </a:p>
        </p:txBody>
      </p:sp>
      <p:sp>
        <p:nvSpPr>
          <p:cNvPr id="361475" name="Rectangle 3">
            <a:extLst>
              <a:ext uri="{FF2B5EF4-FFF2-40B4-BE49-F238E27FC236}">
                <a16:creationId xmlns:a16="http://schemas.microsoft.com/office/drawing/2014/main" id="{5A9358C3-0635-4087-82EA-D82BCD96088A}"/>
              </a:ext>
            </a:extLst>
          </p:cNvPr>
          <p:cNvSpPr>
            <a:spLocks noGrp="1" noChangeArrowheads="1"/>
          </p:cNvSpPr>
          <p:nvPr>
            <p:ph type="body" sz="half" idx="1"/>
          </p:nvPr>
        </p:nvSpPr>
        <p:spPr>
          <a:xfrm>
            <a:off x="122238" y="784225"/>
            <a:ext cx="5567362" cy="4776788"/>
          </a:xfrm>
          <a:noFill/>
        </p:spPr>
        <p:txBody>
          <a:bodyPr/>
          <a:lstStyle/>
          <a:p>
            <a:pPr marL="180975" indent="-180975">
              <a:spcBef>
                <a:spcPct val="75000"/>
              </a:spcBef>
            </a:pPr>
            <a:r>
              <a:rPr lang="en-GB" altLang="en-US" sz="1700" dirty="0">
                <a:effectLst/>
              </a:rPr>
              <a:t>In constructing a balanced section, the following initial assumptions are usually made:</a:t>
            </a:r>
          </a:p>
          <a:p>
            <a:pPr marL="450000" lvl="1" indent="-268288">
              <a:buClr>
                <a:srgbClr val="FF66FF"/>
              </a:buClr>
              <a:buFont typeface="Times" panose="02020603050405020304" pitchFamily="18" charset="0"/>
              <a:buAutoNum type="arabicPeriod"/>
            </a:pPr>
            <a:r>
              <a:rPr lang="en-GB" altLang="en-US" sz="1700" dirty="0">
                <a:solidFill>
                  <a:srgbClr val="FF66FF"/>
                </a:solidFill>
                <a:effectLst/>
              </a:rPr>
              <a:t>No volume change</a:t>
            </a:r>
          </a:p>
          <a:p>
            <a:pPr marL="450000" lvl="1" indent="-268288">
              <a:buClr>
                <a:srgbClr val="FF66FF"/>
              </a:buClr>
              <a:buFont typeface="Times" panose="02020603050405020304" pitchFamily="18" charset="0"/>
              <a:buAutoNum type="arabicPeriod"/>
            </a:pPr>
            <a:r>
              <a:rPr lang="en-GB" altLang="en-US" sz="1700" dirty="0">
                <a:solidFill>
                  <a:srgbClr val="FF66FF"/>
                </a:solidFill>
                <a:effectLst/>
              </a:rPr>
              <a:t>Plane strain</a:t>
            </a:r>
            <a:r>
              <a:rPr lang="en-GB" altLang="en-US" sz="1700" dirty="0">
                <a:effectLst/>
              </a:rPr>
              <a:t> (all deformation is in the plane of the section)</a:t>
            </a:r>
          </a:p>
          <a:p>
            <a:pPr marL="450000" lvl="1" indent="-268288">
              <a:buClr>
                <a:srgbClr val="FF66FF"/>
              </a:buClr>
              <a:buFont typeface="Times" panose="02020603050405020304" pitchFamily="18" charset="0"/>
              <a:buAutoNum type="arabicPeriod"/>
            </a:pPr>
            <a:r>
              <a:rPr lang="en-GB" altLang="en-US" sz="1700" dirty="0">
                <a:effectLst/>
              </a:rPr>
              <a:t>(If the line-length balancing technique is used) all folds are parallel folds formed by flexural slip so that </a:t>
            </a:r>
            <a:r>
              <a:rPr lang="en-GB" altLang="en-US" sz="1700" dirty="0">
                <a:solidFill>
                  <a:srgbClr val="FF66FF"/>
                </a:solidFill>
                <a:effectLst/>
              </a:rPr>
              <a:t>layer thickness is preserved</a:t>
            </a:r>
          </a:p>
          <a:p>
            <a:pPr marL="180975" indent="-180975">
              <a:spcBef>
                <a:spcPct val="75000"/>
              </a:spcBef>
            </a:pPr>
            <a:r>
              <a:rPr lang="en-GB" altLang="en-US" sz="1700" dirty="0">
                <a:effectLst/>
              </a:rPr>
              <a:t>To some extent these assumptions may be relaxed by more sophisticated 2D- and 3D-balancing techniques (including </a:t>
            </a:r>
            <a:r>
              <a:rPr lang="en-GB" altLang="en-US" sz="1700" dirty="0" err="1">
                <a:effectLst/>
              </a:rPr>
              <a:t>unstraining</a:t>
            </a:r>
            <a:r>
              <a:rPr lang="en-GB" altLang="en-US" sz="1700" dirty="0">
                <a:effectLst/>
              </a:rPr>
              <a:t> the units), although to be properly constrained such techniques may require a formidable amount of extra information</a:t>
            </a:r>
          </a:p>
        </p:txBody>
      </p:sp>
      <p:pic>
        <p:nvPicPr>
          <p:cNvPr id="361480" name="Picture 8">
            <a:extLst>
              <a:ext uri="{FF2B5EF4-FFF2-40B4-BE49-F238E27FC236}">
                <a16:creationId xmlns:a16="http://schemas.microsoft.com/office/drawing/2014/main" id="{76595E21-2E25-4A39-AF71-8556CC1BA856}"/>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100763" y="908050"/>
            <a:ext cx="2806700" cy="2006600"/>
          </a:xfrm>
          <a:noFill/>
          <a:ln w="38100" cap="flat">
            <a:solidFill>
              <a:schemeClr val="bg2"/>
            </a:solidFill>
            <a:miter lim="800000"/>
            <a:headEnd/>
            <a:tailEnd/>
          </a:ln>
        </p:spPr>
      </p:pic>
      <p:pic>
        <p:nvPicPr>
          <p:cNvPr id="361481" name="Picture 9">
            <a:extLst>
              <a:ext uri="{FF2B5EF4-FFF2-40B4-BE49-F238E27FC236}">
                <a16:creationId xmlns:a16="http://schemas.microsoft.com/office/drawing/2014/main" id="{B82EE8EB-EB57-4E7C-9A69-BD2BF30EF5A3}"/>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505575" y="3159125"/>
            <a:ext cx="1960563" cy="1871663"/>
          </a:xfrm>
          <a:noFill/>
          <a:ln w="38100">
            <a:solidFill>
              <a:schemeClr val="bg2"/>
            </a:solidFill>
            <a:miter lim="800000"/>
            <a:headEnd/>
            <a:tailEnd/>
          </a:ln>
        </p:spPr>
      </p:pic>
      <p:sp>
        <p:nvSpPr>
          <p:cNvPr id="361483" name="Text Box 11">
            <a:extLst>
              <a:ext uri="{FF2B5EF4-FFF2-40B4-BE49-F238E27FC236}">
                <a16:creationId xmlns:a16="http://schemas.microsoft.com/office/drawing/2014/main" id="{B1A46093-2437-434E-90B2-3905DFF0F516}"/>
              </a:ext>
            </a:extLst>
          </p:cNvPr>
          <p:cNvSpPr txBox="1">
            <a:spLocks noChangeArrowheads="1"/>
          </p:cNvSpPr>
          <p:nvPr/>
        </p:nvSpPr>
        <p:spPr bwMode="auto">
          <a:xfrm>
            <a:off x="142875" y="5772150"/>
            <a:ext cx="885825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It follows that a balanced section through a thrust system should be constructed </a:t>
            </a:r>
            <a:r>
              <a:rPr lang="en-GB" altLang="en-US" sz="1700">
                <a:solidFill>
                  <a:srgbClr val="FF6600"/>
                </a:solidFill>
                <a:effectLst>
                  <a:outerShdw blurRad="38100" dist="38100" dir="2700000" algn="tl">
                    <a:srgbClr val="000000"/>
                  </a:outerShdw>
                </a:effectLst>
                <a:latin typeface="Arial" panose="020B0604020202020204" pitchFamily="34" charset="0"/>
              </a:rPr>
              <a:t>parallel to the transport direction</a:t>
            </a: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F6410BDC-C484-4A6C-89A0-921E62F501EB}"/>
              </a:ext>
            </a:extLst>
          </p:cNvPr>
          <p:cNvSpPr>
            <a:spLocks noGrp="1" noChangeArrowheads="1"/>
          </p:cNvSpPr>
          <p:nvPr>
            <p:ph type="title"/>
          </p:nvPr>
        </p:nvSpPr>
        <p:spPr>
          <a:noFill/>
        </p:spPr>
        <p:txBody>
          <a:bodyPr/>
          <a:lstStyle/>
          <a:p>
            <a:r>
              <a:rPr lang="en-GB" altLang="en-US">
                <a:effectLst/>
              </a:rPr>
              <a:t>Initial steps: setting up a template / defining pin-lines</a:t>
            </a:r>
          </a:p>
        </p:txBody>
      </p:sp>
      <p:sp>
        <p:nvSpPr>
          <p:cNvPr id="368643" name="Rectangle 3">
            <a:extLst>
              <a:ext uri="{FF2B5EF4-FFF2-40B4-BE49-F238E27FC236}">
                <a16:creationId xmlns:a16="http://schemas.microsoft.com/office/drawing/2014/main" id="{B32BAF4F-F5EE-4A1B-8F5A-AD75E3DBC8C0}"/>
              </a:ext>
            </a:extLst>
          </p:cNvPr>
          <p:cNvSpPr>
            <a:spLocks noGrp="1" noChangeArrowheads="1"/>
          </p:cNvSpPr>
          <p:nvPr>
            <p:ph type="body" sz="half" idx="1"/>
          </p:nvPr>
        </p:nvSpPr>
        <p:spPr>
          <a:xfrm>
            <a:off x="112713" y="2778125"/>
            <a:ext cx="8796337" cy="2300288"/>
          </a:xfrm>
          <a:noFill/>
        </p:spPr>
        <p:txBody>
          <a:bodyPr/>
          <a:lstStyle/>
          <a:p>
            <a:pPr marL="266700" indent="-266700">
              <a:spcBef>
                <a:spcPct val="75000"/>
              </a:spcBef>
              <a:buFont typeface="Times" panose="02020603050405020304" pitchFamily="18" charset="0"/>
              <a:buAutoNum type="arabicPeriod"/>
            </a:pPr>
            <a:r>
              <a:rPr lang="en-GB" altLang="en-US" sz="1400">
                <a:effectLst/>
              </a:rPr>
              <a:t>By inspecting the stratigraphy in the foreland ahead of the frontal thrust, draw a </a:t>
            </a:r>
            <a:r>
              <a:rPr lang="en-GB" altLang="en-US" sz="1400">
                <a:solidFill>
                  <a:srgbClr val="FF6600"/>
                </a:solidFill>
                <a:effectLst/>
              </a:rPr>
              <a:t>template</a:t>
            </a:r>
            <a:r>
              <a:rPr lang="en-GB" altLang="en-US" sz="1400">
                <a:effectLst/>
              </a:rPr>
              <a:t> showing the stratigraphic thickness of each layer prior to deformation. This template will usually be a </a:t>
            </a:r>
            <a:r>
              <a:rPr lang="en-GB" altLang="en-US" sz="1400">
                <a:solidFill>
                  <a:srgbClr val="FF66FF"/>
                </a:solidFill>
                <a:effectLst/>
              </a:rPr>
              <a:t>layer-cake</a:t>
            </a:r>
            <a:r>
              <a:rPr lang="en-GB" altLang="en-US" sz="1400">
                <a:effectLst/>
              </a:rPr>
              <a:t> but </a:t>
            </a:r>
            <a:r>
              <a:rPr lang="en-GB" altLang="en-US" sz="1400">
                <a:solidFill>
                  <a:srgbClr val="FF66FF"/>
                </a:solidFill>
                <a:effectLst/>
              </a:rPr>
              <a:t>wedge-shaped units</a:t>
            </a:r>
            <a:r>
              <a:rPr lang="en-GB" altLang="en-US" sz="1400">
                <a:effectLst/>
              </a:rPr>
              <a:t> can be accommodated if the change of layer thickness with distance along the line of section is known</a:t>
            </a:r>
          </a:p>
          <a:p>
            <a:pPr marL="266700" indent="-266700">
              <a:spcBef>
                <a:spcPct val="75000"/>
              </a:spcBef>
              <a:buFont typeface="Times" panose="02020603050405020304" pitchFamily="18" charset="0"/>
              <a:buAutoNum type="arabicPeriod"/>
            </a:pPr>
            <a:r>
              <a:rPr lang="en-GB" altLang="en-US" sz="1400">
                <a:effectLst/>
              </a:rPr>
              <a:t>Define a reference line in the undeformed part of the section (</a:t>
            </a:r>
            <a:r>
              <a:rPr lang="en-GB" altLang="en-US" sz="1400">
                <a:solidFill>
                  <a:srgbClr val="FF6600"/>
                </a:solidFill>
                <a:effectLst/>
              </a:rPr>
              <a:t>pin-line</a:t>
            </a:r>
            <a:r>
              <a:rPr lang="en-GB" altLang="en-US" sz="1400">
                <a:effectLst/>
              </a:rPr>
              <a:t>), and a second line at the other end of the section (</a:t>
            </a:r>
            <a:r>
              <a:rPr lang="en-GB" altLang="en-US" sz="1400">
                <a:solidFill>
                  <a:srgbClr val="FF6600"/>
                </a:solidFill>
                <a:effectLst/>
              </a:rPr>
              <a:t>loose-line</a:t>
            </a:r>
            <a:r>
              <a:rPr lang="en-GB" altLang="en-US" sz="1400">
                <a:effectLst/>
              </a:rPr>
              <a:t>) which you will measure to. The pin-line (a) should be perpendicular to the layering, (b) should transect as much of the stratigraphy as possible, and (c) must not cross a fault. The position of the frontal fault may be added to the template </a:t>
            </a:r>
          </a:p>
        </p:txBody>
      </p:sp>
      <p:pic>
        <p:nvPicPr>
          <p:cNvPr id="368656" name="Picture 16" descr="20d1">
            <a:extLst>
              <a:ext uri="{FF2B5EF4-FFF2-40B4-BE49-F238E27FC236}">
                <a16:creationId xmlns:a16="http://schemas.microsoft.com/office/drawing/2014/main" id="{11609913-3CD9-45B1-881D-6ADDBB359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930275"/>
            <a:ext cx="6475413" cy="16954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68662" name="Picture 22" descr="20d2">
            <a:extLst>
              <a:ext uri="{FF2B5EF4-FFF2-40B4-BE49-F238E27FC236}">
                <a16:creationId xmlns:a16="http://schemas.microsoft.com/office/drawing/2014/main" id="{F3AD7DDC-C6CA-41FF-941E-F48CFB3B66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1275" y="5249863"/>
            <a:ext cx="6678613" cy="14081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a:extLst>
              <a:ext uri="{FF2B5EF4-FFF2-40B4-BE49-F238E27FC236}">
                <a16:creationId xmlns:a16="http://schemas.microsoft.com/office/drawing/2014/main" id="{27BAC9DC-508A-4884-A487-56F480CFF5CA}"/>
              </a:ext>
            </a:extLst>
          </p:cNvPr>
          <p:cNvSpPr>
            <a:spLocks noGrp="1" noChangeArrowheads="1"/>
          </p:cNvSpPr>
          <p:nvPr>
            <p:ph type="title"/>
          </p:nvPr>
        </p:nvSpPr>
        <p:spPr>
          <a:noFill/>
        </p:spPr>
        <p:txBody>
          <a:bodyPr/>
          <a:lstStyle/>
          <a:p>
            <a:r>
              <a:rPr lang="en-GB" altLang="en-US">
                <a:effectLst/>
              </a:rPr>
              <a:t>Line-length balancing</a:t>
            </a:r>
          </a:p>
        </p:txBody>
      </p:sp>
      <p:sp>
        <p:nvSpPr>
          <p:cNvPr id="392195" name="Rectangle 3">
            <a:extLst>
              <a:ext uri="{FF2B5EF4-FFF2-40B4-BE49-F238E27FC236}">
                <a16:creationId xmlns:a16="http://schemas.microsoft.com/office/drawing/2014/main" id="{30959A2B-10C6-4768-9CF5-DAFEEBC746CD}"/>
              </a:ext>
            </a:extLst>
          </p:cNvPr>
          <p:cNvSpPr>
            <a:spLocks noGrp="1" noChangeArrowheads="1"/>
          </p:cNvSpPr>
          <p:nvPr>
            <p:ph type="body" sz="half" idx="1"/>
          </p:nvPr>
        </p:nvSpPr>
        <p:spPr>
          <a:xfrm>
            <a:off x="93663" y="793749"/>
            <a:ext cx="8929687" cy="1317625"/>
          </a:xfrm>
          <a:noFill/>
        </p:spPr>
        <p:txBody>
          <a:bodyPr/>
          <a:lstStyle/>
          <a:p>
            <a:pPr marL="180975" indent="-180975">
              <a:spcBef>
                <a:spcPct val="75000"/>
              </a:spcBef>
            </a:pPr>
            <a:r>
              <a:rPr lang="en-GB" altLang="en-US" sz="1700" dirty="0">
                <a:effectLst/>
              </a:rPr>
              <a:t>Measure the </a:t>
            </a:r>
            <a:r>
              <a:rPr lang="en-GB" altLang="en-US" sz="1700" dirty="0">
                <a:solidFill>
                  <a:srgbClr val="FF6600"/>
                </a:solidFill>
                <a:effectLst/>
              </a:rPr>
              <a:t>length of a stratigraphic marker</a:t>
            </a:r>
            <a:r>
              <a:rPr lang="en-GB" altLang="en-US" sz="1700" dirty="0">
                <a:effectLst/>
              </a:rPr>
              <a:t> (</a:t>
            </a:r>
            <a:r>
              <a:rPr lang="en-GB" altLang="en-US" sz="1700" i="1" dirty="0">
                <a:effectLst/>
              </a:rPr>
              <a:t>e.g</a:t>
            </a:r>
            <a:r>
              <a:rPr lang="en-GB" altLang="en-US" sz="1700" dirty="0">
                <a:effectLst/>
              </a:rPr>
              <a:t>., contact between two units) on the original section and add this length to the template. Prior to modern computer drawing packages, measurement was conveniently done with a piece of string. The measurements should be done sequentially within each fault slice, younger to older</a:t>
            </a:r>
          </a:p>
        </p:txBody>
      </p:sp>
      <p:pic>
        <p:nvPicPr>
          <p:cNvPr id="392200" name="Picture 8">
            <a:extLst>
              <a:ext uri="{FF2B5EF4-FFF2-40B4-BE49-F238E27FC236}">
                <a16:creationId xmlns:a16="http://schemas.microsoft.com/office/drawing/2014/main" id="{B944EDA8-F1EF-417B-939B-4EBF1A01E61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43693" y="2270123"/>
            <a:ext cx="8456613" cy="4329366"/>
          </a:xfrm>
          <a:noFill/>
          <a:ln w="38100" cap="flat">
            <a:solidFill>
              <a:schemeClr val="bg2"/>
            </a:solidFill>
            <a:miter lim="800000"/>
            <a:headEnd/>
            <a:tailEnd/>
          </a:ln>
        </p:spPr>
      </p:pic>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a:extLst>
              <a:ext uri="{FF2B5EF4-FFF2-40B4-BE49-F238E27FC236}">
                <a16:creationId xmlns:a16="http://schemas.microsoft.com/office/drawing/2014/main" id="{33977CB7-6473-4972-B1E2-553B9459A351}"/>
              </a:ext>
            </a:extLst>
          </p:cNvPr>
          <p:cNvSpPr>
            <a:spLocks noGrp="1" noChangeArrowheads="1"/>
          </p:cNvSpPr>
          <p:nvPr>
            <p:ph type="title"/>
          </p:nvPr>
        </p:nvSpPr>
        <p:spPr>
          <a:noFill/>
        </p:spPr>
        <p:txBody>
          <a:bodyPr/>
          <a:lstStyle/>
          <a:p>
            <a:r>
              <a:rPr lang="en-GB" altLang="en-US">
                <a:effectLst/>
              </a:rPr>
              <a:t>Line-length balancing – assessing the restoration</a:t>
            </a:r>
          </a:p>
        </p:txBody>
      </p:sp>
      <p:sp>
        <p:nvSpPr>
          <p:cNvPr id="374787" name="Rectangle 3">
            <a:extLst>
              <a:ext uri="{FF2B5EF4-FFF2-40B4-BE49-F238E27FC236}">
                <a16:creationId xmlns:a16="http://schemas.microsoft.com/office/drawing/2014/main" id="{CCE1AAEE-837C-4AC8-87AE-0C618AA4EBB8}"/>
              </a:ext>
            </a:extLst>
          </p:cNvPr>
          <p:cNvSpPr>
            <a:spLocks noGrp="1" noChangeArrowheads="1"/>
          </p:cNvSpPr>
          <p:nvPr>
            <p:ph type="body" sz="half" idx="1"/>
          </p:nvPr>
        </p:nvSpPr>
        <p:spPr>
          <a:xfrm>
            <a:off x="131763" y="774700"/>
            <a:ext cx="6910387" cy="2224088"/>
          </a:xfrm>
          <a:noFill/>
        </p:spPr>
        <p:txBody>
          <a:bodyPr/>
          <a:lstStyle/>
          <a:p>
            <a:pPr marL="180975" indent="-180975">
              <a:spcBef>
                <a:spcPct val="75000"/>
              </a:spcBef>
            </a:pPr>
            <a:r>
              <a:rPr lang="en-GB" altLang="en-US" sz="1700">
                <a:effectLst/>
              </a:rPr>
              <a:t>The section is </a:t>
            </a:r>
            <a:r>
              <a:rPr lang="en-GB" altLang="en-US" sz="1700">
                <a:solidFill>
                  <a:srgbClr val="FF6600"/>
                </a:solidFill>
                <a:effectLst/>
              </a:rPr>
              <a:t>admissible</a:t>
            </a:r>
            <a:r>
              <a:rPr lang="en-GB" altLang="en-US" sz="1700">
                <a:effectLst/>
              </a:rPr>
              <a:t> if the restored angles between </a:t>
            </a:r>
            <a:r>
              <a:rPr lang="en-GB" altLang="en-US" sz="1700">
                <a:solidFill>
                  <a:srgbClr val="FF66FF"/>
                </a:solidFill>
                <a:effectLst/>
              </a:rPr>
              <a:t>flats and ramps do not exceed ~</a:t>
            </a:r>
            <a:r>
              <a:rPr lang="en-GB" altLang="en-US" sz="800">
                <a:solidFill>
                  <a:srgbClr val="FF66FF"/>
                </a:solidFill>
                <a:effectLst/>
              </a:rPr>
              <a:t> </a:t>
            </a:r>
            <a:r>
              <a:rPr lang="en-GB" altLang="en-US" sz="1700">
                <a:solidFill>
                  <a:srgbClr val="FF66FF"/>
                </a:solidFill>
                <a:effectLst/>
              </a:rPr>
              <a:t>35°</a:t>
            </a:r>
            <a:r>
              <a:rPr lang="en-GB" altLang="en-US" sz="1700">
                <a:effectLst/>
              </a:rPr>
              <a:t>, and the restored faults do not </a:t>
            </a:r>
            <a:r>
              <a:rPr lang="en-GB" altLang="en-US" sz="1700">
                <a:solidFill>
                  <a:srgbClr val="FF66FF"/>
                </a:solidFill>
                <a:effectLst/>
              </a:rPr>
              <a:t>cut back on themselves</a:t>
            </a:r>
            <a:r>
              <a:rPr lang="en-GB" altLang="en-US" sz="1700">
                <a:effectLst/>
              </a:rPr>
              <a:t> or </a:t>
            </a:r>
            <a:r>
              <a:rPr lang="en-GB" altLang="en-US" sz="1700">
                <a:solidFill>
                  <a:srgbClr val="FF66FF"/>
                </a:solidFill>
                <a:effectLst/>
              </a:rPr>
              <a:t>cut down section</a:t>
            </a:r>
          </a:p>
          <a:p>
            <a:pPr marL="180975" indent="-180975">
              <a:spcBef>
                <a:spcPct val="75000"/>
              </a:spcBef>
            </a:pPr>
            <a:r>
              <a:rPr lang="en-GB" altLang="en-US" sz="1700">
                <a:effectLst/>
              </a:rPr>
              <a:t>The section is deemed </a:t>
            </a:r>
            <a:r>
              <a:rPr lang="en-GB" altLang="en-US" sz="1700">
                <a:solidFill>
                  <a:srgbClr val="FF6600"/>
                </a:solidFill>
                <a:effectLst/>
              </a:rPr>
              <a:t>restorable</a:t>
            </a:r>
            <a:r>
              <a:rPr lang="en-GB" altLang="en-US" sz="1700">
                <a:effectLst/>
              </a:rPr>
              <a:t> if the loose line in the restored section is </a:t>
            </a:r>
            <a:r>
              <a:rPr lang="en-GB" altLang="en-US" sz="1700">
                <a:solidFill>
                  <a:srgbClr val="FF66FF"/>
                </a:solidFill>
                <a:effectLst/>
              </a:rPr>
              <a:t>straight (a)</a:t>
            </a:r>
            <a:r>
              <a:rPr lang="en-GB" altLang="en-US" sz="1700">
                <a:effectLst/>
              </a:rPr>
              <a:t> or </a:t>
            </a:r>
            <a:r>
              <a:rPr lang="en-GB" altLang="en-US" sz="1700">
                <a:solidFill>
                  <a:srgbClr val="FF66FF"/>
                </a:solidFill>
                <a:effectLst/>
              </a:rPr>
              <a:t>smoothly varying (b and c);</a:t>
            </a:r>
            <a:r>
              <a:rPr lang="en-GB" altLang="en-US" sz="1700">
                <a:effectLst/>
              </a:rPr>
              <a:t> it is </a:t>
            </a:r>
            <a:r>
              <a:rPr lang="en-GB" altLang="en-US" sz="1700">
                <a:solidFill>
                  <a:srgbClr val="FF6600"/>
                </a:solidFill>
                <a:effectLst/>
              </a:rPr>
              <a:t>not restorable</a:t>
            </a:r>
            <a:r>
              <a:rPr lang="en-GB" altLang="en-US" sz="1700">
                <a:effectLst/>
              </a:rPr>
              <a:t> if it is </a:t>
            </a:r>
            <a:r>
              <a:rPr lang="en-GB" altLang="en-US" sz="1700">
                <a:solidFill>
                  <a:srgbClr val="FF66FF"/>
                </a:solidFill>
                <a:effectLst/>
              </a:rPr>
              <a:t>jagged (d) </a:t>
            </a:r>
            <a:r>
              <a:rPr lang="en-GB" altLang="en-US" sz="1700">
                <a:effectLst/>
              </a:rPr>
              <a:t>or</a:t>
            </a:r>
            <a:r>
              <a:rPr lang="en-GB" altLang="en-US" sz="1700">
                <a:solidFill>
                  <a:srgbClr val="FF66FF"/>
                </a:solidFill>
                <a:effectLst/>
              </a:rPr>
              <a:t> stepped (e)</a:t>
            </a:r>
            <a:endParaRPr lang="en-GB" altLang="en-US" sz="1700">
              <a:effectLst/>
            </a:endParaRPr>
          </a:p>
        </p:txBody>
      </p:sp>
      <p:pic>
        <p:nvPicPr>
          <p:cNvPr id="374790" name="Picture 6" descr="12b">
            <a:extLst>
              <a:ext uri="{FF2B5EF4-FFF2-40B4-BE49-F238E27FC236}">
                <a16:creationId xmlns:a16="http://schemas.microsoft.com/office/drawing/2014/main" id="{470DFF37-888B-4685-BDD5-BEDBA525B513}"/>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46075" y="3530600"/>
            <a:ext cx="8491538" cy="31638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74792" name="Picture 8" descr="12c">
            <a:extLst>
              <a:ext uri="{FF2B5EF4-FFF2-40B4-BE49-F238E27FC236}">
                <a16:creationId xmlns:a16="http://schemas.microsoft.com/office/drawing/2014/main" id="{F1E1C95F-6407-4DEB-B224-8385E7A99353}"/>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7256463" y="876300"/>
            <a:ext cx="1562100" cy="25034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4795" name="Text Box 11">
            <a:extLst>
              <a:ext uri="{FF2B5EF4-FFF2-40B4-BE49-F238E27FC236}">
                <a16:creationId xmlns:a16="http://schemas.microsoft.com/office/drawing/2014/main" id="{35F9744C-7763-4319-9E6C-10980AF91398}"/>
              </a:ext>
            </a:extLst>
          </p:cNvPr>
          <p:cNvSpPr txBox="1">
            <a:spLocks noChangeArrowheads="1"/>
          </p:cNvSpPr>
          <p:nvPr/>
        </p:nvSpPr>
        <p:spPr bwMode="auto">
          <a:xfrm>
            <a:off x="3149600" y="5291138"/>
            <a:ext cx="2584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latin typeface="Arial" panose="020B0604020202020204" pitchFamily="34" charset="0"/>
              </a:rPr>
              <a:t>faults cut back on themselves</a:t>
            </a:r>
          </a:p>
        </p:txBody>
      </p:sp>
      <p:sp>
        <p:nvSpPr>
          <p:cNvPr id="374796" name="Text Box 12">
            <a:extLst>
              <a:ext uri="{FF2B5EF4-FFF2-40B4-BE49-F238E27FC236}">
                <a16:creationId xmlns:a16="http://schemas.microsoft.com/office/drawing/2014/main" id="{FAAD9162-F073-477C-86F7-FF32B27C5ECD}"/>
              </a:ext>
            </a:extLst>
          </p:cNvPr>
          <p:cNvSpPr txBox="1">
            <a:spLocks noChangeArrowheads="1"/>
          </p:cNvSpPr>
          <p:nvPr/>
        </p:nvSpPr>
        <p:spPr bwMode="auto">
          <a:xfrm>
            <a:off x="506413" y="3816350"/>
            <a:ext cx="20875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latin typeface="Arial" panose="020B0604020202020204" pitchFamily="34" charset="0"/>
              </a:rPr>
              <a:t>inadmissable section</a:t>
            </a: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a:extLst>
              <a:ext uri="{FF2B5EF4-FFF2-40B4-BE49-F238E27FC236}">
                <a16:creationId xmlns:a16="http://schemas.microsoft.com/office/drawing/2014/main" id="{8F63F251-C9C4-4E17-A66A-109743DA02C0}"/>
              </a:ext>
            </a:extLst>
          </p:cNvPr>
          <p:cNvSpPr>
            <a:spLocks noGrp="1" noChangeArrowheads="1"/>
          </p:cNvSpPr>
          <p:nvPr>
            <p:ph type="title"/>
          </p:nvPr>
        </p:nvSpPr>
        <p:spPr>
          <a:noFill/>
        </p:spPr>
        <p:txBody>
          <a:bodyPr/>
          <a:lstStyle/>
          <a:p>
            <a:r>
              <a:rPr lang="en-GB" altLang="en-US">
                <a:effectLst/>
              </a:rPr>
              <a:t>Area balancing</a:t>
            </a:r>
          </a:p>
        </p:txBody>
      </p:sp>
      <p:sp>
        <p:nvSpPr>
          <p:cNvPr id="378883" name="Rectangle 3">
            <a:extLst>
              <a:ext uri="{FF2B5EF4-FFF2-40B4-BE49-F238E27FC236}">
                <a16:creationId xmlns:a16="http://schemas.microsoft.com/office/drawing/2014/main" id="{E5DFF658-73AA-448C-BA54-1F736DE47271}"/>
              </a:ext>
            </a:extLst>
          </p:cNvPr>
          <p:cNvSpPr>
            <a:spLocks noGrp="1" noChangeArrowheads="1"/>
          </p:cNvSpPr>
          <p:nvPr>
            <p:ph type="body" sz="half" idx="1"/>
          </p:nvPr>
        </p:nvSpPr>
        <p:spPr>
          <a:xfrm>
            <a:off x="122238" y="774700"/>
            <a:ext cx="2312987" cy="5957888"/>
          </a:xfrm>
          <a:noFill/>
        </p:spPr>
        <p:txBody>
          <a:bodyPr/>
          <a:lstStyle/>
          <a:p>
            <a:pPr marL="180975" indent="-180975">
              <a:spcBef>
                <a:spcPct val="50000"/>
              </a:spcBef>
            </a:pPr>
            <a:r>
              <a:rPr lang="en-GB" altLang="en-US" sz="1700" dirty="0">
                <a:effectLst/>
              </a:rPr>
              <a:t>When layers </a:t>
            </a:r>
            <a:r>
              <a:rPr lang="en-GB" altLang="en-US" sz="1700" dirty="0">
                <a:solidFill>
                  <a:srgbClr val="FF66FF"/>
                </a:solidFill>
                <a:effectLst/>
              </a:rPr>
              <a:t>do not remain constant in thickness</a:t>
            </a:r>
            <a:r>
              <a:rPr lang="en-GB" altLang="en-US" sz="1700" dirty="0">
                <a:effectLst/>
              </a:rPr>
              <a:t> the area (</a:t>
            </a:r>
            <a:r>
              <a:rPr lang="en-GB" altLang="en-US" sz="1700" i="1" dirty="0">
                <a:solidFill>
                  <a:srgbClr val="FFFF00"/>
                </a:solidFill>
                <a:effectLst/>
              </a:rPr>
              <a:t>A</a:t>
            </a:r>
            <a:r>
              <a:rPr lang="en-GB" altLang="en-US" sz="1700" dirty="0">
                <a:effectLst/>
              </a:rPr>
              <a:t>) of a given unit between faults may be measured instead of its length</a:t>
            </a:r>
            <a:r>
              <a:rPr lang="en-GB" altLang="en-US" sz="1700" i="1" dirty="0">
                <a:effectLst/>
              </a:rPr>
              <a:t>.</a:t>
            </a:r>
            <a:r>
              <a:rPr lang="en-GB" altLang="en-US" sz="1700" dirty="0">
                <a:effectLst/>
              </a:rPr>
              <a:t> Since the original thickness (</a:t>
            </a:r>
            <a:r>
              <a:rPr lang="en-GB" altLang="en-US" sz="800" dirty="0">
                <a:effectLst/>
              </a:rPr>
              <a:t> </a:t>
            </a:r>
            <a:r>
              <a:rPr lang="en-GB" altLang="en-US" sz="1700" i="1" dirty="0">
                <a:solidFill>
                  <a:srgbClr val="FFFF00"/>
                </a:solidFill>
                <a:effectLst/>
              </a:rPr>
              <a:t>t</a:t>
            </a:r>
            <a:r>
              <a:rPr lang="en-GB" altLang="en-US" sz="1700" baseline="-25000" dirty="0">
                <a:solidFill>
                  <a:srgbClr val="FFFF00"/>
                </a:solidFill>
                <a:effectLst/>
              </a:rPr>
              <a:t>0</a:t>
            </a:r>
            <a:r>
              <a:rPr lang="en-GB" altLang="en-US" sz="800" baseline="-25000" dirty="0">
                <a:solidFill>
                  <a:srgbClr val="FFFF00"/>
                </a:solidFill>
                <a:effectLst/>
              </a:rPr>
              <a:t> </a:t>
            </a:r>
            <a:r>
              <a:rPr lang="en-GB" altLang="en-US" sz="1700" dirty="0">
                <a:effectLst/>
              </a:rPr>
              <a:t>)</a:t>
            </a:r>
            <a:r>
              <a:rPr lang="en-GB" altLang="en-US" sz="1700" baseline="-25000" dirty="0">
                <a:effectLst/>
              </a:rPr>
              <a:t> </a:t>
            </a:r>
            <a:r>
              <a:rPr lang="en-GB" altLang="en-US" sz="1700" dirty="0">
                <a:effectLst/>
              </a:rPr>
              <a:t>of the unit is known from the template, then assuming plane strain, the original length (</a:t>
            </a:r>
            <a:r>
              <a:rPr lang="en-GB" altLang="en-US" sz="800" dirty="0">
                <a:effectLst/>
              </a:rPr>
              <a:t> </a:t>
            </a:r>
            <a:r>
              <a:rPr lang="en-GB" altLang="en-US" sz="1700" i="1" dirty="0">
                <a:solidFill>
                  <a:srgbClr val="FFFF00"/>
                </a:solidFill>
                <a:effectLst/>
              </a:rPr>
              <a:t>L</a:t>
            </a:r>
            <a:r>
              <a:rPr lang="en-GB" altLang="en-US" sz="1700" baseline="-25000" dirty="0">
                <a:solidFill>
                  <a:srgbClr val="FFFF00"/>
                </a:solidFill>
                <a:effectLst/>
              </a:rPr>
              <a:t>0</a:t>
            </a:r>
            <a:r>
              <a:rPr lang="en-GB" altLang="en-US" sz="800" i="1" dirty="0">
                <a:solidFill>
                  <a:srgbClr val="FFFF00"/>
                </a:solidFill>
                <a:effectLst/>
              </a:rPr>
              <a:t> </a:t>
            </a:r>
            <a:r>
              <a:rPr lang="en-GB" altLang="en-US" sz="1700" dirty="0">
                <a:effectLst/>
              </a:rPr>
              <a:t>) may be determined from</a:t>
            </a:r>
          </a:p>
          <a:p>
            <a:pPr marL="180975" indent="-180975">
              <a:spcBef>
                <a:spcPct val="40000"/>
              </a:spcBef>
              <a:buFont typeface="Times" panose="02020603050405020304" pitchFamily="18" charset="0"/>
              <a:buNone/>
            </a:pPr>
            <a:r>
              <a:rPr lang="en-GB" altLang="en-US" sz="1700" i="1" dirty="0">
                <a:solidFill>
                  <a:srgbClr val="FFFF00"/>
                </a:solidFill>
                <a:effectLst/>
              </a:rPr>
              <a:t>	     L</a:t>
            </a:r>
            <a:r>
              <a:rPr lang="en-GB" altLang="en-US" sz="1700" baseline="-25000" dirty="0">
                <a:solidFill>
                  <a:srgbClr val="FFFF00"/>
                </a:solidFill>
                <a:effectLst/>
              </a:rPr>
              <a:t>0</a:t>
            </a:r>
            <a:r>
              <a:rPr lang="en-GB" altLang="en-US" sz="1700" dirty="0">
                <a:solidFill>
                  <a:srgbClr val="FFFF00"/>
                </a:solidFill>
                <a:effectLst/>
              </a:rPr>
              <a:t>  =  </a:t>
            </a:r>
            <a:r>
              <a:rPr lang="en-GB" altLang="en-US" sz="1700" i="1" dirty="0">
                <a:solidFill>
                  <a:srgbClr val="FFFF00"/>
                </a:solidFill>
                <a:effectLst/>
              </a:rPr>
              <a:t>A</a:t>
            </a:r>
            <a:r>
              <a:rPr lang="en-GB" altLang="en-US" sz="800" i="1"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t</a:t>
            </a:r>
            <a:r>
              <a:rPr lang="en-GB" altLang="en-US" sz="1700" baseline="-25000" dirty="0">
                <a:solidFill>
                  <a:srgbClr val="FFFF00"/>
                </a:solidFill>
                <a:effectLst/>
              </a:rPr>
              <a:t>0</a:t>
            </a:r>
            <a:endParaRPr lang="en-GB" altLang="en-US" sz="1700" dirty="0">
              <a:solidFill>
                <a:srgbClr val="FFFF00"/>
              </a:solidFill>
              <a:effectLst/>
            </a:endParaRPr>
          </a:p>
          <a:p>
            <a:pPr marL="180975" indent="-180975">
              <a:spcBef>
                <a:spcPct val="40000"/>
              </a:spcBef>
              <a:buFont typeface="Times" panose="02020603050405020304" pitchFamily="18" charset="0"/>
              <a:buNone/>
            </a:pPr>
            <a:r>
              <a:rPr lang="en-GB" altLang="en-US" sz="1700" dirty="0">
                <a:effectLst/>
              </a:rPr>
              <a:t>	and added to the restoration</a:t>
            </a:r>
          </a:p>
        </p:txBody>
      </p:sp>
      <p:sp>
        <p:nvSpPr>
          <p:cNvPr id="378890" name="Text Box 10">
            <a:extLst>
              <a:ext uri="{FF2B5EF4-FFF2-40B4-BE49-F238E27FC236}">
                <a16:creationId xmlns:a16="http://schemas.microsoft.com/office/drawing/2014/main" id="{14A06D07-E6E5-4ABD-ACE7-CE7A8F7B30D9}"/>
              </a:ext>
            </a:extLst>
          </p:cNvPr>
          <p:cNvSpPr txBox="1">
            <a:spLocks noChangeArrowheads="1"/>
          </p:cNvSpPr>
          <p:nvPr/>
        </p:nvSpPr>
        <p:spPr bwMode="auto">
          <a:xfrm>
            <a:off x="2549525" y="5237163"/>
            <a:ext cx="6361113"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a:solidFill>
                  <a:srgbClr val="FF66FF"/>
                </a:solidFill>
                <a:effectLst/>
              </a:rPr>
              <a:t>Area balancing may be used independently of line-length balancing</a:t>
            </a:r>
            <a:r>
              <a:rPr lang="en-GB" altLang="en-US">
                <a:effectLst/>
              </a:rPr>
              <a:t> and so can be used to check line-length restorations</a:t>
            </a:r>
            <a:endParaRPr lang="en-GB" altLang="en-US" sz="1700">
              <a:solidFill>
                <a:srgbClr val="FF6600"/>
              </a:solidFill>
              <a:effectLst/>
              <a:latin typeface="Arial" panose="020B0604020202020204" pitchFamily="34" charset="0"/>
            </a:endParaRPr>
          </a:p>
          <a:p>
            <a:pPr>
              <a:lnSpc>
                <a:spcPct val="120000"/>
              </a:lnSpc>
              <a:spcBef>
                <a:spcPct val="75000"/>
              </a:spcBef>
              <a:buClr>
                <a:schemeClr val="tx1"/>
              </a:buClr>
              <a:buFontTx/>
              <a:buChar char="•"/>
            </a:pPr>
            <a:r>
              <a:rPr lang="en-GB" altLang="en-US" sz="1700">
                <a:solidFill>
                  <a:srgbClr val="FF6600"/>
                </a:solidFill>
                <a:effectLst/>
                <a:latin typeface="Arial" panose="020B0604020202020204" pitchFamily="34" charset="0"/>
              </a:rPr>
              <a:t>Sections that do not balance</a:t>
            </a:r>
            <a:r>
              <a:rPr lang="en-GB" altLang="en-US" sz="1700">
                <a:effectLst/>
                <a:latin typeface="Arial" panose="020B0604020202020204" pitchFamily="34" charset="0"/>
              </a:rPr>
              <a:t> need modifying – this may involve changing the ramp angle or adding</a:t>
            </a:r>
            <a:r>
              <a:rPr lang="en-GB" altLang="en-US" sz="800">
                <a:effectLst/>
                <a:latin typeface="Arial" panose="020B0604020202020204" pitchFamily="34" charset="0"/>
              </a:rPr>
              <a:t> </a:t>
            </a:r>
            <a:r>
              <a:rPr lang="en-GB" altLang="en-US" sz="1700">
                <a:effectLst/>
                <a:latin typeface="Arial" panose="020B0604020202020204" pitchFamily="34" charset="0"/>
              </a:rPr>
              <a:t>/</a:t>
            </a:r>
            <a:r>
              <a:rPr lang="en-GB" altLang="en-US" sz="800">
                <a:effectLst/>
                <a:latin typeface="Arial" panose="020B0604020202020204" pitchFamily="34" charset="0"/>
              </a:rPr>
              <a:t> </a:t>
            </a:r>
            <a:r>
              <a:rPr lang="en-GB" altLang="en-US" sz="1700">
                <a:effectLst/>
                <a:latin typeface="Arial" panose="020B0604020202020204" pitchFamily="34" charset="0"/>
              </a:rPr>
              <a:t>removing horses</a:t>
            </a:r>
          </a:p>
        </p:txBody>
      </p:sp>
      <p:pic>
        <p:nvPicPr>
          <p:cNvPr id="378894" name="Picture 14">
            <a:extLst>
              <a:ext uri="{FF2B5EF4-FFF2-40B4-BE49-F238E27FC236}">
                <a16:creationId xmlns:a16="http://schemas.microsoft.com/office/drawing/2014/main" id="{FCC9BCB1-0796-4A84-9D39-0824DD21597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619375" y="908050"/>
            <a:ext cx="6330950" cy="4176713"/>
          </a:xfrm>
          <a:noFill/>
          <a:ln w="38100" cap="flat">
            <a:solidFill>
              <a:schemeClr val="bg2"/>
            </a:solidFill>
            <a:miter lim="800000"/>
            <a:headEnd/>
            <a:tailEnd/>
          </a:ln>
        </p:spPr>
      </p:pic>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B18418D3-BF57-45C9-BC9B-FF5FB55563A6}"/>
              </a:ext>
            </a:extLst>
          </p:cNvPr>
          <p:cNvSpPr>
            <a:spLocks noGrp="1" noChangeArrowheads="1"/>
          </p:cNvSpPr>
          <p:nvPr>
            <p:ph type="title"/>
          </p:nvPr>
        </p:nvSpPr>
        <p:spPr>
          <a:noFill/>
        </p:spPr>
        <p:txBody>
          <a:bodyPr/>
          <a:lstStyle/>
          <a:p>
            <a:r>
              <a:rPr lang="en-GB" altLang="en-US">
                <a:effectLst/>
              </a:rPr>
              <a:t>Reading</a:t>
            </a:r>
          </a:p>
        </p:txBody>
      </p:sp>
      <p:sp>
        <p:nvSpPr>
          <p:cNvPr id="215043" name="Rectangle 3">
            <a:extLst>
              <a:ext uri="{FF2B5EF4-FFF2-40B4-BE49-F238E27FC236}">
                <a16:creationId xmlns:a16="http://schemas.microsoft.com/office/drawing/2014/main" id="{2D1E974B-2798-4EDC-BDB4-56CFECC467AB}"/>
              </a:ext>
            </a:extLst>
          </p:cNvPr>
          <p:cNvSpPr>
            <a:spLocks noGrp="1" noChangeArrowheads="1"/>
          </p:cNvSpPr>
          <p:nvPr>
            <p:ph type="body" sz="half" idx="1"/>
          </p:nvPr>
        </p:nvSpPr>
        <p:spPr>
          <a:xfrm>
            <a:off x="255588" y="917575"/>
            <a:ext cx="8721725" cy="5791200"/>
          </a:xfrm>
          <a:noFill/>
        </p:spPr>
        <p:txBody>
          <a:bodyPr/>
          <a:lstStyle/>
          <a:p>
            <a:pPr marL="177800" indent="-177800">
              <a:lnSpc>
                <a:spcPct val="110000"/>
              </a:lnSpc>
            </a:pPr>
            <a:r>
              <a:rPr lang="en-GB" altLang="en-US" sz="1400" dirty="0">
                <a:effectLst/>
              </a:rPr>
              <a:t>Fossen H (2016) </a:t>
            </a:r>
            <a:r>
              <a:rPr lang="en-GB" altLang="en-US" sz="1400" i="1" dirty="0">
                <a:effectLst/>
              </a:rPr>
              <a:t>Structural Geology </a:t>
            </a:r>
            <a:r>
              <a:rPr lang="en-GB" altLang="en-US" sz="1400" dirty="0">
                <a:effectLst/>
              </a:rPr>
              <a:t>(2</a:t>
            </a:r>
            <a:r>
              <a:rPr lang="en-GB" altLang="en-US" sz="1400" baseline="30000" dirty="0">
                <a:effectLst/>
              </a:rPr>
              <a:t>nd</a:t>
            </a:r>
            <a:r>
              <a:rPr lang="en-GB" altLang="en-US" sz="1400" dirty="0">
                <a:effectLst/>
              </a:rPr>
              <a:t> edition).</a:t>
            </a:r>
            <a:r>
              <a:rPr lang="en-GB" altLang="en-US" sz="1400" i="1" dirty="0">
                <a:effectLst/>
              </a:rPr>
              <a:t> </a:t>
            </a:r>
            <a:r>
              <a:rPr lang="en-GB" altLang="en-US" sz="1400" dirty="0">
                <a:effectLst/>
              </a:rPr>
              <a:t>Cambridge University Press. </a:t>
            </a:r>
            <a:r>
              <a:rPr lang="en-GB" altLang="en-US" sz="1400" dirty="0">
                <a:solidFill>
                  <a:srgbClr val="FF66CC"/>
                </a:solidFill>
                <a:effectLst/>
              </a:rPr>
              <a:t>[Chapter 17]</a:t>
            </a:r>
          </a:p>
          <a:p>
            <a:pPr marL="177800" indent="-177800">
              <a:lnSpc>
                <a:spcPct val="110000"/>
              </a:lnSpc>
            </a:pPr>
            <a:r>
              <a:rPr lang="en-GB" altLang="en-US" sz="1400" dirty="0">
                <a:effectLst/>
              </a:rPr>
              <a:t>Twiss RJ, </a:t>
            </a:r>
            <a:r>
              <a:rPr lang="en-GB" altLang="en-US" sz="1400" dirty="0" err="1">
                <a:effectLst/>
              </a:rPr>
              <a:t>Moores</a:t>
            </a:r>
            <a:r>
              <a:rPr lang="en-GB" altLang="en-US" sz="1400" dirty="0">
                <a:effectLst/>
              </a:rPr>
              <a:t> EM (2007) </a:t>
            </a:r>
            <a:r>
              <a:rPr lang="en-GB" altLang="en-US" sz="1400" i="1" dirty="0">
                <a:effectLst/>
              </a:rPr>
              <a:t>Structural Geology</a:t>
            </a:r>
            <a:r>
              <a:rPr lang="en-GB" altLang="en-US" sz="1400" dirty="0">
                <a:effectLst/>
              </a:rPr>
              <a:t> (2</a:t>
            </a:r>
            <a:r>
              <a:rPr lang="en-GB" altLang="en-US" sz="1400" baseline="30000" dirty="0">
                <a:effectLst/>
              </a:rPr>
              <a:t>nd</a:t>
            </a:r>
            <a:r>
              <a:rPr lang="en-GB" altLang="en-US" sz="1400" dirty="0">
                <a:effectLst/>
              </a:rPr>
              <a:t> edition). WH Freeman and Co. </a:t>
            </a:r>
            <a:r>
              <a:rPr lang="en-GB" altLang="en-US" sz="1400" dirty="0">
                <a:solidFill>
                  <a:srgbClr val="FF66CC"/>
                </a:solidFill>
                <a:effectLst/>
              </a:rPr>
              <a:t>[Chapter 5] </a:t>
            </a:r>
          </a:p>
          <a:p>
            <a:pPr marL="177800" indent="-177800">
              <a:lnSpc>
                <a:spcPct val="110000"/>
              </a:lnSpc>
            </a:pPr>
            <a:r>
              <a:rPr lang="en-GB" altLang="en-US" sz="1400" dirty="0">
                <a:effectLst/>
              </a:rPr>
              <a:t>Price NJ, Cosgrove JW (1990) </a:t>
            </a:r>
            <a:r>
              <a:rPr lang="en-GB" altLang="en-US" sz="1400" i="1" dirty="0">
                <a:effectLst/>
              </a:rPr>
              <a:t>Analysis of Geological Structures.</a:t>
            </a:r>
            <a:r>
              <a:rPr lang="en-GB" altLang="en-US" sz="1400" dirty="0">
                <a:effectLst/>
              </a:rPr>
              <a:t> Cambridge University Press. </a:t>
            </a:r>
            <a:r>
              <a:rPr lang="en-GB" altLang="en-US" sz="1400" dirty="0">
                <a:solidFill>
                  <a:srgbClr val="FF66CC"/>
                </a:solidFill>
                <a:effectLst/>
              </a:rPr>
              <a:t>[Chapter 7]</a:t>
            </a:r>
          </a:p>
          <a:p>
            <a:pPr marL="177800" indent="-177800">
              <a:lnSpc>
                <a:spcPct val="110000"/>
              </a:lnSpc>
            </a:pPr>
            <a:r>
              <a:rPr lang="en-GB" altLang="en-US" sz="1400" dirty="0">
                <a:effectLst/>
              </a:rPr>
              <a:t>McClay KR (1992) Glossary of thrust tectonics terms. In: McClay KR (ed) </a:t>
            </a:r>
            <a:r>
              <a:rPr lang="en-GB" altLang="en-US" sz="1400" i="1" dirty="0">
                <a:effectLst/>
              </a:rPr>
              <a:t>Thrust Tectonics</a:t>
            </a:r>
            <a:r>
              <a:rPr lang="en-GB" altLang="en-US" sz="1400" dirty="0">
                <a:effectLst/>
              </a:rPr>
              <a:t>, Chapman &amp; Hall, p.419-433</a:t>
            </a:r>
          </a:p>
          <a:p>
            <a:pPr marL="177800" indent="-177800">
              <a:lnSpc>
                <a:spcPct val="110000"/>
              </a:lnSpc>
            </a:pPr>
            <a:r>
              <a:rPr lang="en-GB" altLang="en-US" sz="1400" dirty="0">
                <a:effectLst/>
              </a:rPr>
              <a:t>Boyer SE, Elliott D (1982) Thrust systems. </a:t>
            </a:r>
            <a:r>
              <a:rPr lang="en-GB" altLang="en-US" sz="1400" i="1" dirty="0">
                <a:effectLst/>
              </a:rPr>
              <a:t>American Association of Petroleum Geologists Bulletin</a:t>
            </a:r>
            <a:r>
              <a:rPr lang="en-GB" altLang="en-US" sz="1400" dirty="0">
                <a:effectLst/>
              </a:rPr>
              <a:t> 66: 1196-1230, </a:t>
            </a:r>
            <a:r>
              <a:rPr lang="en-GB" sz="1400" dirty="0"/>
              <a:t>https://doi.org/10.1306/03B5A77D-16D1-11D7-8645000102C1865D</a:t>
            </a:r>
            <a:endParaRPr lang="en-GB" altLang="en-US" sz="1400" dirty="0">
              <a:effectLst/>
            </a:endParaRPr>
          </a:p>
          <a:p>
            <a:pPr marL="177800" indent="-177800">
              <a:lnSpc>
                <a:spcPct val="110000"/>
              </a:lnSpc>
            </a:pPr>
            <a:endParaRPr lang="en-GB" altLang="en-US" sz="1400" dirty="0">
              <a:effectLst/>
            </a:endParaRPr>
          </a:p>
          <a:p>
            <a:pPr marL="177800" indent="-177800">
              <a:lnSpc>
                <a:spcPct val="110000"/>
              </a:lnSpc>
              <a:buFont typeface="Times" panose="02020603050405020304" pitchFamily="18" charset="0"/>
              <a:buNone/>
            </a:pPr>
            <a:r>
              <a:rPr lang="en-GB" altLang="en-US" sz="1600" dirty="0">
                <a:solidFill>
                  <a:srgbClr val="FF6600"/>
                </a:solidFill>
                <a:effectLst/>
              </a:rPr>
              <a:t>On section balancing</a:t>
            </a:r>
          </a:p>
          <a:p>
            <a:pPr marL="177800" indent="-177800">
              <a:lnSpc>
                <a:spcPct val="110000"/>
              </a:lnSpc>
            </a:pPr>
            <a:r>
              <a:rPr lang="en-GB" altLang="en-US" sz="1400" dirty="0">
                <a:effectLst/>
              </a:rPr>
              <a:t>Price NJ, Cosgrove JW (1990) </a:t>
            </a:r>
            <a:r>
              <a:rPr lang="en-GB" altLang="en-US" sz="1400" i="1" dirty="0">
                <a:effectLst/>
              </a:rPr>
              <a:t>Analysis of Geological Structures.</a:t>
            </a:r>
            <a:r>
              <a:rPr lang="en-GB" altLang="en-US" sz="1400" dirty="0">
                <a:effectLst/>
              </a:rPr>
              <a:t> Cambridge University Press. </a:t>
            </a:r>
            <a:r>
              <a:rPr lang="en-GB" altLang="en-US" sz="1400" dirty="0">
                <a:solidFill>
                  <a:srgbClr val="FF66CC"/>
                </a:solidFill>
                <a:effectLst/>
              </a:rPr>
              <a:t>[p.163-167]</a:t>
            </a:r>
            <a:endParaRPr lang="en-GB" altLang="en-US" sz="1400" dirty="0">
              <a:effectLst/>
            </a:endParaRPr>
          </a:p>
          <a:p>
            <a:pPr marL="177800" indent="-177800">
              <a:lnSpc>
                <a:spcPct val="110000"/>
              </a:lnSpc>
            </a:pPr>
            <a:r>
              <a:rPr lang="en-GB" altLang="en-US" sz="1400" dirty="0">
                <a:effectLst/>
              </a:rPr>
              <a:t>Ramsay JG, Huber MI (1987) </a:t>
            </a:r>
            <a:r>
              <a:rPr lang="en-GB" altLang="en-US" sz="1400" i="1" dirty="0">
                <a:effectLst/>
              </a:rPr>
              <a:t>Techniques of Modern Structural Geology. Volume 2: Folds and Fractures.</a:t>
            </a:r>
            <a:r>
              <a:rPr lang="en-GB" altLang="en-US" sz="1400" dirty="0">
                <a:effectLst/>
              </a:rPr>
              <a:t> Academic Press. </a:t>
            </a:r>
            <a:r>
              <a:rPr lang="en-GB" altLang="en-US" sz="1400" dirty="0">
                <a:solidFill>
                  <a:srgbClr val="FF66CC"/>
                </a:solidFill>
                <a:effectLst/>
              </a:rPr>
              <a:t>[Session 24] </a:t>
            </a:r>
          </a:p>
          <a:p>
            <a:pPr marL="177800" indent="-177800">
              <a:lnSpc>
                <a:spcPct val="110000"/>
              </a:lnSpc>
            </a:pPr>
            <a:r>
              <a:rPr lang="en-GB" altLang="en-US" sz="1400" dirty="0">
                <a:effectLst/>
              </a:rPr>
              <a:t>Fossen H (2016) </a:t>
            </a:r>
            <a:r>
              <a:rPr lang="en-GB" altLang="en-US" sz="1400" i="1" dirty="0">
                <a:effectLst/>
              </a:rPr>
              <a:t>Structural Geology </a:t>
            </a:r>
            <a:r>
              <a:rPr lang="en-GB" altLang="en-US" sz="1400" dirty="0">
                <a:effectLst/>
              </a:rPr>
              <a:t>(2</a:t>
            </a:r>
            <a:r>
              <a:rPr lang="en-GB" altLang="en-US" sz="1400" baseline="30000" dirty="0">
                <a:effectLst/>
              </a:rPr>
              <a:t>nd</a:t>
            </a:r>
            <a:r>
              <a:rPr lang="en-GB" altLang="en-US" sz="1400" dirty="0">
                <a:effectLst/>
              </a:rPr>
              <a:t> edition).</a:t>
            </a:r>
            <a:r>
              <a:rPr lang="en-GB" altLang="en-US" sz="1400" i="1" dirty="0">
                <a:effectLst/>
              </a:rPr>
              <a:t> </a:t>
            </a:r>
            <a:r>
              <a:rPr lang="en-GB" altLang="en-US" sz="1400" dirty="0">
                <a:effectLst/>
              </a:rPr>
              <a:t>Cambridge University Press. </a:t>
            </a:r>
            <a:r>
              <a:rPr lang="en-GB" altLang="en-US" sz="1400" dirty="0">
                <a:solidFill>
                  <a:srgbClr val="FF66CC"/>
                </a:solidFill>
                <a:effectLst/>
              </a:rPr>
              <a:t>[Chapter 21]</a:t>
            </a:r>
          </a:p>
        </p:txBody>
      </p:sp>
    </p:spTree>
  </p:cSld>
  <p:clrMapOvr>
    <a:masterClrMapping/>
  </p:clrMapOvr>
  <p:transition spd="slow"/>
</p:sld>
</file>

<file path=ppt/theme/theme1.xml><?xml version="1.0" encoding="utf-8"?>
<a:theme xmlns:a="http://schemas.openxmlformats.org/drawingml/2006/main" name="Basin Studies 200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PowerBook HD:Users:robgawth:Documents:Eudora Folder:Attachments Folder:Basin Studies 2002.pot</Template>
  <TotalTime>11324</TotalTime>
  <Words>10442</Words>
  <Application>Microsoft Office PowerPoint</Application>
  <PresentationFormat>On-screen Show (4:3)</PresentationFormat>
  <Paragraphs>389</Paragraphs>
  <Slides>57</Slides>
  <Notes>57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Helvetica</vt:lpstr>
      <vt:lpstr>Symbol</vt:lpstr>
      <vt:lpstr>Times</vt:lpstr>
      <vt:lpstr>Times New Roman</vt:lpstr>
      <vt:lpstr>Wingdings</vt:lpstr>
      <vt:lpstr>Basin Studies 2002</vt:lpstr>
      <vt:lpstr>EART 28202 :  Structural Geology    Class 8 :  Contractional Tectonic Regimes</vt:lpstr>
      <vt:lpstr>Contractional tectonic regimes</vt:lpstr>
      <vt:lpstr>Thin-skinned and thick-skinned tectonics</vt:lpstr>
      <vt:lpstr>Thrust system interpretations of orogenic belts</vt:lpstr>
      <vt:lpstr>Thrust system interpretations (2) – Barrême</vt:lpstr>
      <vt:lpstr>Thrust system interpretations (3) – NW Spain</vt:lpstr>
      <vt:lpstr>Local contractional regimes</vt:lpstr>
      <vt:lpstr>Wrinkle ridges (local contraction) on the Moon</vt:lpstr>
      <vt:lpstr>Lobate scarps produced by global contraction</vt:lpstr>
      <vt:lpstr>Developing our understanding of thrust systems</vt:lpstr>
      <vt:lpstr>  Terminology</vt:lpstr>
      <vt:lpstr>Thrusts</vt:lpstr>
      <vt:lpstr>Nappe,  klippe/window,  allochthon/autochthon</vt:lpstr>
      <vt:lpstr>The fault surface</vt:lpstr>
      <vt:lpstr>Shape of the thrust surface: ramps/flats</vt:lpstr>
      <vt:lpstr>Shape of the thrust surface: ramps/flats  2</vt:lpstr>
      <vt:lpstr>Frontal/oblique/lateral ramps</vt:lpstr>
      <vt:lpstr>Thrust systems: fault imbrication and duplexes</vt:lpstr>
      <vt:lpstr>Thrust duplexes</vt:lpstr>
      <vt:lpstr>Formation of hinterland-dipping thrust duplexes</vt:lpstr>
      <vt:lpstr>Out-of-sequence thrusts</vt:lpstr>
      <vt:lpstr>Antiformal stacks</vt:lpstr>
      <vt:lpstr>Foreland-dipping thrust duplexes</vt:lpstr>
      <vt:lpstr>Back thrusts/pop-ups/triangle zones</vt:lpstr>
      <vt:lpstr>Passive roof duplexes</vt:lpstr>
      <vt:lpstr>Summary of some of the key terms</vt:lpstr>
      <vt:lpstr>Unravelling sequences</vt:lpstr>
      <vt:lpstr>Unravelling sequences  2</vt:lpstr>
      <vt:lpstr>Branch-lines</vt:lpstr>
      <vt:lpstr>  Relationship between folding and faulting</vt:lpstr>
      <vt:lpstr>Fault-bend folds</vt:lpstr>
      <vt:lpstr>Strains during fault-bend folding</vt:lpstr>
      <vt:lpstr>Fault-propagation folds</vt:lpstr>
      <vt:lpstr>Fault-propagation folds  2</vt:lpstr>
      <vt:lpstr>Breached fault-propagation folds</vt:lpstr>
      <vt:lpstr>Breached fault-propagation folds  2</vt:lpstr>
      <vt:lpstr>Folds around the margins of thrust sheets</vt:lpstr>
      <vt:lpstr>Folds on flats (detachment folds)</vt:lpstr>
      <vt:lpstr>Detachment folds</vt:lpstr>
      <vt:lpstr>Folds over antiformal stacks</vt:lpstr>
      <vt:lpstr>Folds in syntectonic sedimentary sequences</vt:lpstr>
      <vt:lpstr>  Models for fold and thrust belts</vt:lpstr>
      <vt:lpstr>Wedge models</vt:lpstr>
      <vt:lpstr>Wedge models  2</vt:lpstr>
      <vt:lpstr>The role of gravity</vt:lpstr>
      <vt:lpstr>Strain through thrust sheets</vt:lpstr>
      <vt:lpstr>Strain through thrust sheets  2</vt:lpstr>
      <vt:lpstr>Hinterland perspective</vt:lpstr>
      <vt:lpstr>  Section balancing (fold and thrust belts)</vt:lpstr>
      <vt:lpstr>Techniques for analysing fold and thrust terrains</vt:lpstr>
      <vt:lpstr>Balanced sections</vt:lpstr>
      <vt:lpstr>Balanced sections: assumptions</vt:lpstr>
      <vt:lpstr>Initial steps: setting up a template / defining pin-lines</vt:lpstr>
      <vt:lpstr>Line-length balancing</vt:lpstr>
      <vt:lpstr>Line-length balancing – assessing the restoration</vt:lpstr>
      <vt:lpstr>Area balancing</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411</cp:revision>
  <cp:lastPrinted>2002-03-22T07:32:28Z</cp:lastPrinted>
  <dcterms:created xsi:type="dcterms:W3CDTF">2002-10-21T14:42:49Z</dcterms:created>
  <dcterms:modified xsi:type="dcterms:W3CDTF">2026-03-26T10:59:30Z</dcterms:modified>
</cp:coreProperties>
</file>