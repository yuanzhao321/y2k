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Lst>
  <p:notesMasterIdLst>
    <p:notesMasterId r:id="rId61"/>
  </p:notesMasterIdLst>
  <p:handoutMasterIdLst>
    <p:handoutMasterId r:id="rId62"/>
  </p:handoutMasterIdLst>
  <p:sldIdLst>
    <p:sldId id="316" r:id="rId2"/>
    <p:sldId id="358" r:id="rId3"/>
    <p:sldId id="360" r:id="rId4"/>
    <p:sldId id="361" r:id="rId5"/>
    <p:sldId id="362" r:id="rId6"/>
    <p:sldId id="400" r:id="rId7"/>
    <p:sldId id="364" r:id="rId8"/>
    <p:sldId id="365" r:id="rId9"/>
    <p:sldId id="366" r:id="rId10"/>
    <p:sldId id="363" r:id="rId11"/>
    <p:sldId id="344" r:id="rId12"/>
    <p:sldId id="394" r:id="rId13"/>
    <p:sldId id="395" r:id="rId14"/>
    <p:sldId id="399" r:id="rId15"/>
    <p:sldId id="396" r:id="rId16"/>
    <p:sldId id="401" r:id="rId17"/>
    <p:sldId id="398" r:id="rId18"/>
    <p:sldId id="402" r:id="rId19"/>
    <p:sldId id="403" r:id="rId20"/>
    <p:sldId id="359" r:id="rId21"/>
    <p:sldId id="346" r:id="rId22"/>
    <p:sldId id="342" r:id="rId23"/>
    <p:sldId id="347" r:id="rId24"/>
    <p:sldId id="367" r:id="rId25"/>
    <p:sldId id="348" r:id="rId26"/>
    <p:sldId id="349" r:id="rId27"/>
    <p:sldId id="368" r:id="rId28"/>
    <p:sldId id="350" r:id="rId29"/>
    <p:sldId id="404" r:id="rId30"/>
    <p:sldId id="393" r:id="rId31"/>
    <p:sldId id="373" r:id="rId32"/>
    <p:sldId id="351" r:id="rId33"/>
    <p:sldId id="352" r:id="rId34"/>
    <p:sldId id="353" r:id="rId35"/>
    <p:sldId id="354" r:id="rId36"/>
    <p:sldId id="376" r:id="rId37"/>
    <p:sldId id="380" r:id="rId38"/>
    <p:sldId id="378" r:id="rId39"/>
    <p:sldId id="379" r:id="rId40"/>
    <p:sldId id="372" r:id="rId41"/>
    <p:sldId id="382" r:id="rId42"/>
    <p:sldId id="383" r:id="rId43"/>
    <p:sldId id="384" r:id="rId44"/>
    <p:sldId id="385" r:id="rId45"/>
    <p:sldId id="387" r:id="rId46"/>
    <p:sldId id="386" r:id="rId47"/>
    <p:sldId id="397" r:id="rId48"/>
    <p:sldId id="374" r:id="rId49"/>
    <p:sldId id="389" r:id="rId50"/>
    <p:sldId id="388" r:id="rId51"/>
    <p:sldId id="390" r:id="rId52"/>
    <p:sldId id="371" r:id="rId53"/>
    <p:sldId id="369" r:id="rId54"/>
    <p:sldId id="355" r:id="rId55"/>
    <p:sldId id="356" r:id="rId56"/>
    <p:sldId id="391" r:id="rId57"/>
    <p:sldId id="377" r:id="rId58"/>
    <p:sldId id="357" r:id="rId59"/>
    <p:sldId id="343" r:id="rId60"/>
  </p:sldIdLst>
  <p:sldSz cx="9144000" cy="6858000" type="screen4x3"/>
  <p:notesSz cx="6732588" cy="9855200"/>
  <p:defaultTextStyle>
    <a:defPPr>
      <a:defRPr lang="en-GB"/>
    </a:defPPr>
    <a:lvl1pPr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1pPr>
    <a:lvl2pPr marL="4572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2pPr>
    <a:lvl3pPr marL="9144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3pPr>
    <a:lvl4pPr marL="13716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4pPr>
    <a:lvl5pPr marL="18288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5pPr>
    <a:lvl6pPr marL="22860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6pPr>
    <a:lvl7pPr marL="27432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7pPr>
    <a:lvl8pPr marL="32004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8pPr>
    <a:lvl9pPr marL="36576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291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a:srgbClr val="FF6600"/>
    <a:srgbClr val="FF3300"/>
    <a:srgbClr val="FF0000"/>
    <a:srgbClr val="D3D3FF"/>
    <a:srgbClr val="B7B7FF"/>
    <a:srgbClr val="FFFF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46" autoAdjust="0"/>
    <p:restoredTop sz="68772" autoAdjust="0"/>
  </p:normalViewPr>
  <p:slideViewPr>
    <p:cSldViewPr snapToGrid="0">
      <p:cViewPr varScale="1">
        <p:scale>
          <a:sx n="76" d="100"/>
          <a:sy n="76" d="100"/>
        </p:scale>
        <p:origin x="3072" y="84"/>
      </p:cViewPr>
      <p:guideLst>
        <p:guide orient="horz" pos="2914"/>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_rels/viewProps.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slide" Target="slides/slide21.xml"/><Relationship Id="rId1" Type="http://schemas.openxmlformats.org/officeDocument/2006/relationships/slide" Target="slides/slide1.xml"/><Relationship Id="rId6" Type="http://schemas.openxmlformats.org/officeDocument/2006/relationships/slide" Target="slides/slide54.xml"/><Relationship Id="rId5" Type="http://schemas.openxmlformats.org/officeDocument/2006/relationships/slide" Target="slides/slide52.xml"/><Relationship Id="rId4" Type="http://schemas.openxmlformats.org/officeDocument/2006/relationships/slide" Target="slides/slide4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E8AB3556-FC6F-486F-941F-AB018575E46C}"/>
              </a:ext>
            </a:extLst>
          </p:cNvPr>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a:effectLst/>
                <a:latin typeface="Arial" charset="0"/>
              </a:defRPr>
            </a:lvl1pPr>
          </a:lstStyle>
          <a:p>
            <a:pPr>
              <a:defRPr/>
            </a:pPr>
            <a:endParaRPr lang="en-GB"/>
          </a:p>
        </p:txBody>
      </p:sp>
      <p:sp>
        <p:nvSpPr>
          <p:cNvPr id="87043" name="Rectangle 3">
            <a:extLst>
              <a:ext uri="{FF2B5EF4-FFF2-40B4-BE49-F238E27FC236}">
                <a16:creationId xmlns:a16="http://schemas.microsoft.com/office/drawing/2014/main" id="{B7A3CAF7-E9C6-478C-BBE0-B9AADD2C7600}"/>
              </a:ext>
            </a:extLst>
          </p:cNvPr>
          <p:cNvSpPr>
            <a:spLocks noGrp="1" noChangeArrowheads="1"/>
          </p:cNvSpPr>
          <p:nvPr>
            <p:ph type="dt" sz="quarter"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a:effectLst/>
                <a:latin typeface="Arial" charset="0"/>
              </a:defRPr>
            </a:lvl1pPr>
          </a:lstStyle>
          <a:p>
            <a:pPr>
              <a:defRPr/>
            </a:pPr>
            <a:endParaRPr lang="en-GB"/>
          </a:p>
        </p:txBody>
      </p:sp>
      <p:sp>
        <p:nvSpPr>
          <p:cNvPr id="87044" name="Rectangle 4">
            <a:extLst>
              <a:ext uri="{FF2B5EF4-FFF2-40B4-BE49-F238E27FC236}">
                <a16:creationId xmlns:a16="http://schemas.microsoft.com/office/drawing/2014/main" id="{E03E2ACE-C19F-4C86-838D-8F81E17CC3D5}"/>
              </a:ext>
            </a:extLst>
          </p:cNvPr>
          <p:cNvSpPr>
            <a:spLocks noGrp="1" noChangeArrowheads="1"/>
          </p:cNvSpPr>
          <p:nvPr>
            <p:ph type="ftr" sz="quarter" idx="2"/>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a:effectLst/>
                <a:latin typeface="Arial" charset="0"/>
              </a:defRPr>
            </a:lvl1pPr>
          </a:lstStyle>
          <a:p>
            <a:pPr>
              <a:defRPr/>
            </a:pPr>
            <a:endParaRPr lang="en-GB"/>
          </a:p>
        </p:txBody>
      </p:sp>
      <p:sp>
        <p:nvSpPr>
          <p:cNvPr id="87045" name="Rectangle 5">
            <a:extLst>
              <a:ext uri="{FF2B5EF4-FFF2-40B4-BE49-F238E27FC236}">
                <a16:creationId xmlns:a16="http://schemas.microsoft.com/office/drawing/2014/main" id="{B7DC6D48-38C4-44BC-BCB0-D89868F9E78D}"/>
              </a:ext>
            </a:extLst>
          </p:cNvPr>
          <p:cNvSpPr>
            <a:spLocks noGrp="1" noChangeArrowheads="1"/>
          </p:cNvSpPr>
          <p:nvPr>
            <p:ph type="sldNum" sz="quarter" idx="3"/>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spcBef>
                <a:spcPct val="0"/>
              </a:spcBef>
              <a:buClrTx/>
              <a:defRPr sz="1200">
                <a:effectLst/>
                <a:latin typeface="Arial" panose="020B0604020202020204" pitchFamily="34" charset="0"/>
              </a:defRPr>
            </a:lvl1pPr>
          </a:lstStyle>
          <a:p>
            <a:fld id="{51DA7671-CAE5-4241-9824-EB2475819A8B}"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316789CD-2EA5-4958-B60F-642BB1C75C0F}"/>
              </a:ext>
            </a:extLst>
          </p:cNvPr>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a:effectLst/>
                <a:latin typeface="Arial" charset="0"/>
              </a:defRPr>
            </a:lvl1pPr>
          </a:lstStyle>
          <a:p>
            <a:pPr>
              <a:defRPr/>
            </a:pPr>
            <a:endParaRPr lang="en-GB"/>
          </a:p>
        </p:txBody>
      </p:sp>
      <p:sp>
        <p:nvSpPr>
          <p:cNvPr id="43011" name="Rectangle 3">
            <a:extLst>
              <a:ext uri="{FF2B5EF4-FFF2-40B4-BE49-F238E27FC236}">
                <a16:creationId xmlns:a16="http://schemas.microsoft.com/office/drawing/2014/main" id="{18B4BB9D-58A8-4788-A884-7C41D2BD9522}"/>
              </a:ext>
            </a:extLst>
          </p:cNvPr>
          <p:cNvSpPr>
            <a:spLocks noGrp="1" noChangeArrowheads="1"/>
          </p:cNvSpPr>
          <p:nvPr>
            <p:ph type="dt"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a:effectLst/>
                <a:latin typeface="Arial" charset="0"/>
              </a:defRPr>
            </a:lvl1pPr>
          </a:lstStyle>
          <a:p>
            <a:pPr>
              <a:defRPr/>
            </a:pPr>
            <a:endParaRPr lang="en-GB"/>
          </a:p>
        </p:txBody>
      </p:sp>
      <p:sp>
        <p:nvSpPr>
          <p:cNvPr id="59396" name="Rectangle 4">
            <a:extLst>
              <a:ext uri="{FF2B5EF4-FFF2-40B4-BE49-F238E27FC236}">
                <a16:creationId xmlns:a16="http://schemas.microsoft.com/office/drawing/2014/main" id="{DC4076D3-571F-42C0-A131-DC587FF2B3A3}"/>
              </a:ext>
            </a:extLst>
          </p:cNvPr>
          <p:cNvSpPr>
            <a:spLocks noGrp="1" noRot="1" noChangeAspect="1" noChangeArrowheads="1" noTextEdit="1"/>
          </p:cNvSpPr>
          <p:nvPr>
            <p:ph type="sldImg" idx="2"/>
          </p:nvPr>
        </p:nvSpPr>
        <p:spPr bwMode="auto">
          <a:xfrm>
            <a:off x="954088" y="758825"/>
            <a:ext cx="4864100" cy="36480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013" name="Rectangle 5">
            <a:extLst>
              <a:ext uri="{FF2B5EF4-FFF2-40B4-BE49-F238E27FC236}">
                <a16:creationId xmlns:a16="http://schemas.microsoft.com/office/drawing/2014/main" id="{FCE187AD-F16D-4AEF-972D-4593C2DDDA53}"/>
              </a:ext>
            </a:extLst>
          </p:cNvPr>
          <p:cNvSpPr>
            <a:spLocks noGrp="1" noChangeArrowheads="1"/>
          </p:cNvSpPr>
          <p:nvPr>
            <p:ph type="body" sz="quarter" idx="3"/>
          </p:nvPr>
        </p:nvSpPr>
        <p:spPr bwMode="auto">
          <a:xfrm>
            <a:off x="912813" y="4711700"/>
            <a:ext cx="4945062"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3014" name="Rectangle 6">
            <a:extLst>
              <a:ext uri="{FF2B5EF4-FFF2-40B4-BE49-F238E27FC236}">
                <a16:creationId xmlns:a16="http://schemas.microsoft.com/office/drawing/2014/main" id="{81510225-846B-4B8A-AF7B-21DBBC00CB05}"/>
              </a:ext>
            </a:extLst>
          </p:cNvPr>
          <p:cNvSpPr>
            <a:spLocks noGrp="1" noChangeArrowheads="1"/>
          </p:cNvSpPr>
          <p:nvPr>
            <p:ph type="ftr" sz="quarter" idx="4"/>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a:effectLst/>
                <a:latin typeface="Arial" charset="0"/>
              </a:defRPr>
            </a:lvl1pPr>
          </a:lstStyle>
          <a:p>
            <a:pPr>
              <a:defRPr/>
            </a:pPr>
            <a:endParaRPr lang="en-GB"/>
          </a:p>
        </p:txBody>
      </p:sp>
      <p:sp>
        <p:nvSpPr>
          <p:cNvPr id="43015" name="Rectangle 7">
            <a:extLst>
              <a:ext uri="{FF2B5EF4-FFF2-40B4-BE49-F238E27FC236}">
                <a16:creationId xmlns:a16="http://schemas.microsoft.com/office/drawing/2014/main" id="{ED8F3024-F936-4E2E-B347-5045EB32080D}"/>
              </a:ext>
            </a:extLst>
          </p:cNvPr>
          <p:cNvSpPr>
            <a:spLocks noGrp="1" noChangeArrowheads="1"/>
          </p:cNvSpPr>
          <p:nvPr>
            <p:ph type="sldNum" sz="quarter" idx="5"/>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spcBef>
                <a:spcPct val="0"/>
              </a:spcBef>
              <a:buClrTx/>
              <a:defRPr sz="1200">
                <a:effectLst/>
                <a:latin typeface="Arial" panose="020B0604020202020204" pitchFamily="34" charset="0"/>
              </a:defRPr>
            </a:lvl1pPr>
          </a:lstStyle>
          <a:p>
            <a:fld id="{A6569DA3-97C3-4AA1-912C-905E8072F60A}"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1BBF249B-0107-4747-A7C4-91536BC734D0}"/>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6084B615-3895-4FD7-93C9-9DA070B8CA4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In the notes panes to these slides there are numerous references (figure credits and further reading). If the reference is incomplete it refers to the references stated in the reading list on the last slide</a:t>
            </a:r>
          </a:p>
          <a:p>
            <a:pPr marL="108000" indent="-108000">
              <a:spcBef>
                <a:spcPts val="300"/>
              </a:spcBef>
              <a:buFont typeface="Arial" panose="020B0604020202020204" pitchFamily="34" charset="0"/>
              <a:buChar char="•"/>
            </a:pPr>
            <a:r>
              <a:rPr lang="en-GB" altLang="en-US" sz="1000" dirty="0"/>
              <a:t>With regard to figures in this PowerPoint file, many will be subject to copyright restrictions. I don’t care about you using any of the figures/photos that are mine (Steve Covey-Crump), although a credit would be nice, but take care to comply with copyright restrictions if you reuse any that are not</a:t>
            </a:r>
          </a:p>
          <a:p>
            <a:pPr>
              <a:spcBef>
                <a:spcPts val="300"/>
              </a:spcBef>
            </a:pPr>
            <a:endParaRPr lang="en-GB"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DA767F56-F821-4969-8BED-1547D40678BC}"/>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4E38EA88-4084-4877-AE23-951E3E57211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Extensional deformation = stretching</a:t>
            </a:r>
          </a:p>
          <a:p>
            <a:pPr marL="108000" indent="-108000">
              <a:spcBef>
                <a:spcPts val="300"/>
              </a:spcBef>
              <a:buFont typeface="Arial" panose="020B0604020202020204" pitchFamily="34" charset="0"/>
              <a:buChar char="•"/>
            </a:pPr>
            <a:r>
              <a:rPr lang="en-GB" altLang="en-US" sz="1000" dirty="0"/>
              <a:t>Photo from Fossen (one of the extra figures on the web-site for the book, folk.uib.no/</a:t>
            </a:r>
            <a:r>
              <a:rPr lang="en-GB" altLang="en-US" sz="1000" dirty="0" err="1"/>
              <a:t>nglhe</a:t>
            </a:r>
            <a:r>
              <a:rPr lang="en-GB" altLang="en-US" sz="1000" dirty="0"/>
              <a:t>/StructuralGeoBook.html)</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D11B02F0-E024-4C4C-9BCA-756E19698D5F}"/>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862531BD-CF68-46E3-A89F-2733876011D5}"/>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Active rifting arises from stretching over the top of a growing dome induced by, for example, an underlying thermal plume. Passive rifting arises from the tensional stresses that are set up by plates moving apart (such stresses can also arise locally in both contractional and strike-slip tectonic settings). The distinction between active and passive rifting is conceptually significant in setting up geophysical models of extension, but it is rather forced because there are active and passive elements within each rifting environment, </a:t>
            </a:r>
            <a:r>
              <a:rPr lang="en-GB" altLang="en-US" sz="1000" i="1" dirty="0"/>
              <a:t>e.g.</a:t>
            </a:r>
            <a:r>
              <a:rPr lang="en-GB" altLang="en-US" sz="1000" i="0" dirty="0"/>
              <a:t>, in</a:t>
            </a:r>
            <a:r>
              <a:rPr lang="en-GB" altLang="en-US" sz="1000" dirty="0"/>
              <a:t> passive rifting, extension may lead to doming as relatively hot, deep rocks are brought nearer to the surface, but this doming is assigned as a secondary process. For this reason, some favour a classification of rifting that is tied more closely to the tectonic setting (see Merle, 2011, </a:t>
            </a:r>
            <a:r>
              <a:rPr lang="en-GB" altLang="en-US" sz="1000" i="1" dirty="0"/>
              <a:t>Tectonophysics</a:t>
            </a:r>
            <a:r>
              <a:rPr lang="en-GB" altLang="en-US" sz="1000" i="0" dirty="0"/>
              <a:t> 513: 88-95, </a:t>
            </a:r>
            <a:r>
              <a:rPr lang="en-GB" sz="1000" dirty="0"/>
              <a:t>https://doi.org/10.1016/j.tecto.2011.10.004</a:t>
            </a:r>
            <a:r>
              <a:rPr lang="en-GB" altLang="en-US" sz="1000" i="0" dirty="0"/>
              <a:t>)</a:t>
            </a:r>
            <a:endParaRPr lang="en-GB" altLang="en-US" sz="1000" dirty="0"/>
          </a:p>
          <a:p>
            <a:pPr marL="108000" indent="-108000">
              <a:lnSpc>
                <a:spcPct val="100000"/>
              </a:lnSpc>
              <a:spcBef>
                <a:spcPts val="300"/>
              </a:spcBef>
              <a:buFont typeface="Arial" panose="020B0604020202020204" pitchFamily="34" charset="0"/>
              <a:buChar char="•"/>
            </a:pPr>
            <a:r>
              <a:rPr lang="en-GB" altLang="en-US" sz="1000" dirty="0"/>
              <a:t>Figure left (from Fossen, p.390, but derived from </a:t>
            </a:r>
            <a:r>
              <a:rPr lang="en-GB" altLang="en-US" sz="1000" dirty="0" err="1"/>
              <a:t>Odinsen</a:t>
            </a:r>
            <a:r>
              <a:rPr lang="en-GB" altLang="en-US" sz="1000" dirty="0"/>
              <a:t> </a:t>
            </a:r>
            <a:r>
              <a:rPr lang="en-GB" altLang="en-US" sz="1000" i="1" dirty="0"/>
              <a:t>et al</a:t>
            </a:r>
            <a:r>
              <a:rPr lang="en-GB" altLang="en-US" sz="1000" dirty="0"/>
              <a:t>., 2000, </a:t>
            </a:r>
            <a:r>
              <a:rPr lang="en-GB" altLang="en-US" sz="1000" i="1" dirty="0"/>
              <a:t>Geological Society, London, Special Publications</a:t>
            </a:r>
            <a:r>
              <a:rPr lang="en-GB" altLang="en-US" sz="1000" dirty="0"/>
              <a:t> 167: 41-57, Fig.2, </a:t>
            </a:r>
            <a:r>
              <a:rPr lang="en-GB" sz="1000" dirty="0"/>
              <a:t>https://doi.org/10.1144/GSL.SP.2000.167.01.03</a:t>
            </a:r>
            <a:r>
              <a:rPr lang="en-GB" altLang="en-US" sz="1000" dirty="0"/>
              <a:t>): a WNW-ESE section across the Viking Graben. The orange-coloured units are </a:t>
            </a:r>
            <a:r>
              <a:rPr lang="en-GB" altLang="en-US" sz="1000" dirty="0" err="1"/>
              <a:t>Permo</a:t>
            </a:r>
            <a:r>
              <a:rPr lang="en-GB" altLang="en-US" sz="1000" dirty="0"/>
              <a:t>-Triassic, the yellow is Jurassic, the black and deep blue is Cretaceous, and the light blue is Cenozoic. Note the preponderance of </a:t>
            </a:r>
            <a:r>
              <a:rPr lang="en-GB" altLang="en-US" sz="1000" dirty="0" err="1"/>
              <a:t>listric</a:t>
            </a:r>
            <a:r>
              <a:rPr lang="en-GB" altLang="en-US" sz="1000" dirty="0"/>
              <a:t> faults (ones that dip more shallowly with increasing depth), and the thickening of the sedimentary packages towards the faults in the hanging walls</a:t>
            </a:r>
          </a:p>
          <a:p>
            <a:pPr marL="108000" indent="-108000">
              <a:lnSpc>
                <a:spcPct val="100000"/>
              </a:lnSpc>
              <a:spcBef>
                <a:spcPts val="300"/>
              </a:spcBef>
              <a:buFont typeface="Arial" panose="020B0604020202020204" pitchFamily="34" charset="0"/>
              <a:buChar char="•"/>
            </a:pPr>
            <a:r>
              <a:rPr lang="en-GB" altLang="en-US" sz="1000" dirty="0"/>
              <a:t>Figure right from Cowie </a:t>
            </a:r>
            <a:r>
              <a:rPr lang="en-GB" altLang="en-US" sz="1000" i="1" dirty="0"/>
              <a:t>et al.</a:t>
            </a:r>
            <a:r>
              <a:rPr lang="en-GB" altLang="en-US" sz="1000" dirty="0"/>
              <a:t>, 2005, </a:t>
            </a:r>
            <a:r>
              <a:rPr lang="en-GB" altLang="en-US" sz="1000" i="1" dirty="0"/>
              <a:t>Earth &amp; Planetary Science Letters</a:t>
            </a:r>
            <a:r>
              <a:rPr lang="en-GB" altLang="en-US" sz="1000" dirty="0"/>
              <a:t> 234: 401-419, </a:t>
            </a:r>
            <a:r>
              <a:rPr lang="en-GB" sz="1000" dirty="0"/>
              <a:t>https://doi.org/10.1016/j.epsl.2005.01.039</a:t>
            </a:r>
            <a:endParaRPr lang="en-GB" altLang="en-US" sz="1000" dirty="0"/>
          </a:p>
          <a:p>
            <a:pPr marL="0" indent="0">
              <a:lnSpc>
                <a:spcPct val="100000"/>
              </a:lnSpc>
              <a:spcBef>
                <a:spcPts val="300"/>
              </a:spcBef>
              <a:buFont typeface="Arial" panose="020B0604020202020204" pitchFamily="34" charset="0"/>
              <a:buNone/>
            </a:pPr>
            <a:endParaRPr lang="en-GB" altLang="en-US" sz="10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CA4CE479-DA39-4511-A53C-DEA22F73D0C6}"/>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7D23C41F-E97F-4DF9-8EF1-6B912BF632C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(from Fossen, p.388) showing the development of a rift system</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5FB6ECB9-248C-4FF4-B3BD-C3F5912D1719}"/>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C30DC74C-948D-42B0-8A94-A1DEBEFC4C6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figures illustrate current understanding of how crustal thinning proceeds to the point where oceanic crust forms. (A) Thinning is initially accommodated by slip along conjugate shear zones that cut through the upper crust and lower crust with the middle crust between them deforming by ductile flow. (B) The upper mantle is thinned and replaced by deeper, hotter mantle that is intruded by mafic magmas. (C) Faults cut from the surface into the mantle, and seawater infiltrates these faults thereby initiating serpentinization. </a:t>
            </a:r>
            <a:r>
              <a:rPr lang="en-GB" altLang="en-US" sz="1000" dirty="0" err="1"/>
              <a:t>Serpentinization</a:t>
            </a:r>
            <a:r>
              <a:rPr lang="en-GB" altLang="en-US" sz="1000" dirty="0"/>
              <a:t> weakens the upper mantle layer promoting strain localization and allowing the normal faults to root at low angle. Ongoing extension leads to buoyant flow of the partially </a:t>
            </a:r>
            <a:r>
              <a:rPr lang="en-GB" altLang="en-US" sz="1000" dirty="0" err="1"/>
              <a:t>serpentinized</a:t>
            </a:r>
            <a:r>
              <a:rPr lang="en-GB" altLang="en-US" sz="1000" dirty="0"/>
              <a:t> mantle along the low angle detachment faults (see Slide 10), resulting (D) in horizontal stretching of the subcontinental mantle at the seafloor</a:t>
            </a:r>
          </a:p>
          <a:p>
            <a:pPr marL="108000" indent="-108000">
              <a:spcBef>
                <a:spcPts val="300"/>
              </a:spcBef>
              <a:buFont typeface="Arial" panose="020B0604020202020204" pitchFamily="34" charset="0"/>
              <a:buChar char="•"/>
            </a:pPr>
            <a:r>
              <a:rPr lang="en-GB" altLang="en-US" sz="1000" dirty="0"/>
              <a:t>Figures from </a:t>
            </a:r>
            <a:r>
              <a:rPr lang="en-GB" altLang="en-US" sz="1000" dirty="0" err="1"/>
              <a:t>Hirth</a:t>
            </a:r>
            <a:r>
              <a:rPr lang="en-GB" altLang="en-US" sz="1000" dirty="0"/>
              <a:t> &amp; Guillot, 2013, </a:t>
            </a:r>
            <a:r>
              <a:rPr lang="en-GB" altLang="en-US" sz="1000" i="1" dirty="0"/>
              <a:t>Elements</a:t>
            </a:r>
            <a:r>
              <a:rPr lang="en-GB" altLang="en-US" sz="1000" dirty="0"/>
              <a:t> 9: 107-113, </a:t>
            </a:r>
            <a:r>
              <a:rPr lang="en-GB" sz="1000" dirty="0"/>
              <a:t>https://doi.org/10.2113/gselements.9.2.107</a:t>
            </a:r>
            <a:endParaRPr lang="en-GB" altLang="en-US" sz="100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56D9A208-D426-4510-B819-40B0E8E07135}"/>
              </a:ext>
            </a:extLst>
          </p:cNvPr>
          <p:cNvSpPr>
            <a:spLocks noGrp="1" noRot="1" noChangeAspect="1" noChangeArrowheads="1" noTextEdit="1"/>
          </p:cNvSpPr>
          <p:nvPr>
            <p:ph type="sldImg"/>
          </p:nvPr>
        </p:nvSpPr>
        <p:spPr>
          <a:ln/>
        </p:spPr>
      </p:sp>
      <p:sp>
        <p:nvSpPr>
          <p:cNvPr id="111619" name="Rectangle 3">
            <a:extLst>
              <a:ext uri="{FF2B5EF4-FFF2-40B4-BE49-F238E27FC236}">
                <a16:creationId xmlns:a16="http://schemas.microsoft.com/office/drawing/2014/main" id="{8A5E926F-7CD5-4B0C-A3C9-66D24458EB3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 have positioned the schematic section above so that it approximately matches the equivalent structures in the real section from the Texas continental shelf below</a:t>
            </a:r>
          </a:p>
          <a:p>
            <a:pPr marL="108000" indent="-108000">
              <a:spcBef>
                <a:spcPts val="300"/>
              </a:spcBef>
              <a:buFont typeface="Arial" panose="020B0604020202020204" pitchFamily="34" charset="0"/>
              <a:buChar char="•"/>
            </a:pPr>
            <a:r>
              <a:rPr lang="en-GB" altLang="en-US" sz="1000" dirty="0"/>
              <a:t>Figure top from Fossen, p.436</a:t>
            </a:r>
          </a:p>
          <a:p>
            <a:pPr marL="108000" indent="-108000">
              <a:spcBef>
                <a:spcPts val="300"/>
              </a:spcBef>
              <a:buFont typeface="Arial" panose="020B0604020202020204" pitchFamily="34" charset="0"/>
              <a:buChar char="•"/>
            </a:pPr>
            <a:r>
              <a:rPr lang="en-GB" altLang="en-US" sz="1000" dirty="0"/>
              <a:t>Figure bottom from Twiss &amp; </a:t>
            </a:r>
            <a:r>
              <a:rPr lang="en-GB" altLang="en-US" sz="1000" dirty="0" err="1"/>
              <a:t>Moores</a:t>
            </a:r>
            <a:r>
              <a:rPr lang="en-GB" altLang="en-US" sz="1000" dirty="0"/>
              <a:t>, p.106</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A9CA0D95-1FC9-4755-B97D-D55A3D4CCDCC}"/>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20223708-2D4C-4FCF-A949-ADFC0934F0A3}"/>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On unstable (over-thickened) wedges see Class 8 Slide 44</a:t>
            </a:r>
          </a:p>
          <a:p>
            <a:pPr marL="108000" indent="-108000">
              <a:spcBef>
                <a:spcPts val="300"/>
              </a:spcBef>
              <a:buFont typeface="Arial" panose="020B0604020202020204" pitchFamily="34" charset="0"/>
              <a:buChar char="•"/>
            </a:pPr>
            <a:r>
              <a:rPr lang="en-GB" altLang="en-US" sz="1000" dirty="0"/>
              <a:t>Figure from Fossen, p.393</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8507A6CF-2E98-448B-969C-A1EB2FE389DE}"/>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AD0EFB2C-9F76-4321-B714-EE3176F74200}"/>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(redrawn by Steve Covey-Crump from Molnar </a:t>
            </a:r>
            <a:r>
              <a:rPr lang="en-GB" altLang="en-US" sz="1000" i="1" dirty="0"/>
              <a:t>et al</a:t>
            </a:r>
            <a:r>
              <a:rPr lang="en-GB" altLang="en-US" sz="1000" dirty="0"/>
              <a:t>., 1998, </a:t>
            </a:r>
            <a:r>
              <a:rPr lang="en-GB" altLang="en-US" sz="1000" i="1" dirty="0"/>
              <a:t>Geophysical Journal International</a:t>
            </a:r>
            <a:r>
              <a:rPr lang="en-GB" altLang="en-US" sz="1000" dirty="0"/>
              <a:t> 133: 568-584, </a:t>
            </a:r>
            <a:r>
              <a:rPr lang="en-GB" sz="1000" dirty="0"/>
              <a:t>https://doi.org/10.1046/j.1365-246X.1998.00510.x</a:t>
            </a:r>
            <a:r>
              <a:rPr lang="en-GB" altLang="en-US" sz="1000" dirty="0"/>
              <a:t>): a cartoon representing the life and times of a contractional orogenic belt: (1) initial lithospheric thickening during collision of relatively cool, strong lithosphere, (2) delamination of the lithospheric root occurs because it is denser than the underlying asthenosphere, (3) uplift ensues as warm asthenosphere replaces the cool lithospheric root, (4) the crust heats up and eventually becomes too weak to support its own weight, and so undergoes gravitational collapse</a:t>
            </a:r>
          </a:p>
          <a:p>
            <a:pPr marL="108000" indent="-108000">
              <a:spcBef>
                <a:spcPts val="300"/>
              </a:spcBef>
              <a:buFont typeface="Arial" panose="020B0604020202020204" pitchFamily="34" charset="0"/>
              <a:buChar char="•"/>
            </a:pPr>
            <a:r>
              <a:rPr lang="en-GB" altLang="en-US" sz="1000" dirty="0"/>
              <a:t>Delamination of this kind is an example of a Rayleigh-Taylor convective instability (an instability that occurs in a </a:t>
            </a:r>
            <a:r>
              <a:rPr lang="en-GB" altLang="en-US" sz="1000" dirty="0" err="1"/>
              <a:t>convecting</a:t>
            </a:r>
            <a:r>
              <a:rPr lang="en-GB" altLang="en-US" sz="1000" dirty="0"/>
              <a:t> system when a dense layer overlies a less dense layer). The switch from dominantly contractional to dominantly extensional deformation at the end of a collisional orogeny has been successfully modelled as a Rayleigh-Taylor instability by geophysicists (see Houseman &amp; Molnar, 1997, </a:t>
            </a:r>
            <a:r>
              <a:rPr lang="en-GB" altLang="en-US" sz="1000" i="1" dirty="0"/>
              <a:t>Geophysical Journal International</a:t>
            </a:r>
            <a:r>
              <a:rPr lang="en-GB" altLang="en-US" sz="1000" dirty="0"/>
              <a:t> 128: 125-150, </a:t>
            </a:r>
            <a:r>
              <a:rPr lang="en-GB" sz="1000" dirty="0"/>
              <a:t>https://doi.org/10.1111/j.1365-246X.1997.tb04075.x</a:t>
            </a:r>
            <a:r>
              <a:rPr lang="en-GB" altLang="en-US" sz="1000" dirty="0"/>
              <a:t>; Molnar </a:t>
            </a:r>
            <a:r>
              <a:rPr lang="en-GB" altLang="en-US" sz="1000" i="1" dirty="0"/>
              <a:t>et al.</a:t>
            </a:r>
            <a:r>
              <a:rPr lang="en-GB" altLang="en-US" sz="1000" dirty="0"/>
              <a:t>, 1998, </a:t>
            </a:r>
            <a:r>
              <a:rPr lang="en-GB" altLang="en-US" sz="1000" i="1" dirty="0"/>
              <a:t>Geophysical Journal International</a:t>
            </a:r>
            <a:r>
              <a:rPr lang="en-GB" altLang="en-US" sz="1000" dirty="0"/>
              <a:t> 133: 568-584, </a:t>
            </a:r>
            <a:r>
              <a:rPr lang="en-GB" sz="1000" dirty="0"/>
              <a:t>https://doi.org/10.1046/j.1365-246X.1998.00510.x</a:t>
            </a:r>
            <a:r>
              <a:rPr lang="en-GB" altLang="en-US" sz="1000" dirty="0"/>
              <a:t>; Neil &amp; Houseman, 1999, </a:t>
            </a:r>
            <a:r>
              <a:rPr lang="en-GB" altLang="en-US" sz="1000" i="1" dirty="0"/>
              <a:t>Geophysical Journal International</a:t>
            </a:r>
            <a:r>
              <a:rPr lang="en-GB" altLang="en-US" sz="1000" dirty="0"/>
              <a:t> 138: 89-107, </a:t>
            </a:r>
            <a:r>
              <a:rPr lang="en-GB" sz="1000" dirty="0"/>
              <a:t>https://doi.org/10.1046/j.1365-246x.1999.00841.x</a:t>
            </a:r>
            <a:r>
              <a:rPr lang="en-GB" altLang="en-US" sz="1000" dirty="0"/>
              <a:t>)</a:t>
            </a:r>
          </a:p>
          <a:p>
            <a:pPr marL="108000" indent="-108000">
              <a:spcBef>
                <a:spcPts val="300"/>
              </a:spcBef>
              <a:buFont typeface="Arial" panose="020B0604020202020204" pitchFamily="34" charset="0"/>
              <a:buChar char="•"/>
            </a:pPr>
            <a:r>
              <a:rPr lang="en-GB" altLang="en-US" sz="1000" dirty="0"/>
              <a:t>The word ‘inversion’ arises because thrusts formed during contraction are reactivated as normal faults, that is, the sense of movement on the fault system is reversed. On ‘inversion’ in the opposite sense (thrusts using pre-existing extensional faults rather than extensional faults using pre-existing thrusts), see Slide 20</a:t>
            </a:r>
          </a:p>
          <a:p>
            <a:pPr marL="108000" indent="-108000">
              <a:spcBef>
                <a:spcPts val="300"/>
              </a:spcBef>
              <a:buFont typeface="Arial" panose="020B0604020202020204" pitchFamily="34" charset="0"/>
              <a:buChar char="•"/>
            </a:pPr>
            <a:r>
              <a:rPr lang="en-GB" altLang="en-US" sz="1000" dirty="0"/>
              <a:t>Lamprophyre is a field term used to describe hypabyssal igneous rocks of wide-ranging composition that are typically alkali-rich and hydrous. They are commonly the crystallization products of very deeply derived magmas. Those who went on the Scotland Easter field course saw examples of post-orogenic </a:t>
            </a:r>
            <a:r>
              <a:rPr lang="en-GB" altLang="en-US" sz="1000" dirty="0" err="1"/>
              <a:t>lamprophyric</a:t>
            </a:r>
            <a:r>
              <a:rPr lang="en-GB" altLang="en-US" sz="1000" dirty="0"/>
              <a:t> intrusions</a:t>
            </a:r>
            <a:r>
              <a:rPr lang="en-GB" altLang="en-US" sz="1000" i="0" dirty="0"/>
              <a:t>.</a:t>
            </a:r>
            <a:r>
              <a:rPr lang="en-GB" altLang="en-US" sz="1000" dirty="0"/>
              <a:t> In the Scottish </a:t>
            </a:r>
            <a:r>
              <a:rPr lang="en-GB" altLang="en-US" sz="1000" dirty="0" err="1"/>
              <a:t>Caledonides</a:t>
            </a:r>
            <a:r>
              <a:rPr lang="en-GB" altLang="en-US" sz="1000" dirty="0"/>
              <a:t>, these lamprophyres, often ignored because they are only small intrusions, actually collectively account for 10-20% of the total Caledonian magmatism</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AFCE263E-213C-4887-98D1-8BAE2E31EDB0}"/>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D10C09BD-246B-48C6-966B-A201AD2196A6}"/>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The role of isostasy in the development of metamorphic core complexes is discussed by Wernicke &amp; </a:t>
            </a:r>
            <a:r>
              <a:rPr lang="en-GB" altLang="en-US" sz="1000" dirty="0" err="1"/>
              <a:t>Axen</a:t>
            </a:r>
            <a:r>
              <a:rPr lang="en-GB" altLang="en-US" sz="1000" dirty="0"/>
              <a:t>, 1988, </a:t>
            </a:r>
            <a:r>
              <a:rPr lang="en-GB" altLang="en-US" sz="1000" i="1" dirty="0"/>
              <a:t>Geology</a:t>
            </a:r>
            <a:r>
              <a:rPr lang="en-GB" altLang="en-US" sz="1000" dirty="0"/>
              <a:t> 16: 848-851, </a:t>
            </a:r>
            <a:r>
              <a:rPr lang="en-GB" sz="1000" dirty="0"/>
              <a:t>https://doi.org/10.1130/0091-7613(1988)016&lt;0848:OTROII&gt;2.3.CO;2</a:t>
            </a:r>
            <a:r>
              <a:rPr lang="en-GB" altLang="en-US" sz="1000" dirty="0"/>
              <a:t>. For reviews of the formation of metamorphic core complexes, see Whitney </a:t>
            </a:r>
            <a:r>
              <a:rPr lang="en-GB" altLang="en-US" sz="1000" i="1" dirty="0"/>
              <a:t>et al</a:t>
            </a:r>
            <a:r>
              <a:rPr lang="en-GB" altLang="en-US" sz="1000" dirty="0"/>
              <a:t>., 2013, </a:t>
            </a:r>
            <a:r>
              <a:rPr lang="en-GB" altLang="en-US" sz="1000" i="1" dirty="0"/>
              <a:t>Geological Society of America Bulletin</a:t>
            </a:r>
            <a:r>
              <a:rPr lang="en-GB" altLang="en-US" sz="1000" dirty="0"/>
              <a:t> 125: 273-298, </a:t>
            </a:r>
            <a:r>
              <a:rPr lang="en-GB" sz="1000" dirty="0"/>
              <a:t>https://doi.org/10.1130/B30754.1</a:t>
            </a:r>
            <a:r>
              <a:rPr lang="en-GB" altLang="en-US" sz="1000" dirty="0"/>
              <a:t>, and Platt </a:t>
            </a:r>
            <a:r>
              <a:rPr lang="en-GB" altLang="en-US" sz="1000" i="1" dirty="0"/>
              <a:t>et al.</a:t>
            </a:r>
            <a:r>
              <a:rPr lang="en-GB" altLang="en-US" sz="1000" dirty="0"/>
              <a:t>, 2015, </a:t>
            </a:r>
            <a:r>
              <a:rPr lang="en-GB" altLang="en-US" sz="1000" i="1" dirty="0"/>
              <a:t>Journal of the Geological Society, London</a:t>
            </a:r>
            <a:r>
              <a:rPr lang="en-GB" altLang="en-US" sz="1000" dirty="0"/>
              <a:t> 172: 9-27, </a:t>
            </a:r>
            <a:r>
              <a:rPr lang="en-GB" sz="1000" dirty="0"/>
              <a:t>https://doi.org/10.1144/jgs2014-036</a:t>
            </a:r>
            <a:endParaRPr lang="en-GB" altLang="en-US" sz="1000" dirty="0"/>
          </a:p>
          <a:p>
            <a:pPr marL="108000" indent="-108000">
              <a:lnSpc>
                <a:spcPct val="100000"/>
              </a:lnSpc>
              <a:spcBef>
                <a:spcPts val="300"/>
              </a:spcBef>
              <a:buFont typeface="Arial" panose="020B0604020202020204" pitchFamily="34" charset="0"/>
              <a:buChar char="•"/>
            </a:pPr>
            <a:r>
              <a:rPr lang="en-GB" altLang="en-US" sz="1000" dirty="0"/>
              <a:t>The overprinting of ductile fabrics by brittle ones is because deeper, high temperature deformation in the shear zones is replaced by brittle fault displacement as the fault is unroofed (brought closer to the surface)</a:t>
            </a:r>
          </a:p>
          <a:p>
            <a:pPr marL="108000" indent="-108000">
              <a:lnSpc>
                <a:spcPct val="100000"/>
              </a:lnSpc>
              <a:spcBef>
                <a:spcPts val="300"/>
              </a:spcBef>
              <a:buFont typeface="Arial" panose="020B0604020202020204" pitchFamily="34" charset="0"/>
              <a:buChar char="•"/>
            </a:pPr>
            <a:r>
              <a:rPr lang="en-GB" altLang="en-US" sz="1000" dirty="0"/>
              <a:t>Photo bottom left (by Brennan Jordan, www.pbase.com/image/41768715): the </a:t>
            </a:r>
            <a:r>
              <a:rPr lang="en-GB" altLang="en-US" sz="1000" dirty="0" err="1"/>
              <a:t>Badwater</a:t>
            </a:r>
            <a:r>
              <a:rPr lang="en-GB" altLang="en-US" sz="1000" dirty="0"/>
              <a:t> fault separates Neogene and Quaternary volcanics and </a:t>
            </a:r>
            <a:r>
              <a:rPr lang="en-GB" altLang="en-US" sz="1000" dirty="0">
                <a:solidFill>
                  <a:schemeClr val="bg2"/>
                </a:solidFill>
              </a:rPr>
              <a:t>sediments above (the darker red-brown units on the photo) from predominantly Precambrian </a:t>
            </a:r>
            <a:r>
              <a:rPr lang="en-GB" altLang="en-US" sz="1000" dirty="0" err="1">
                <a:solidFill>
                  <a:schemeClr val="bg2"/>
                </a:solidFill>
              </a:rPr>
              <a:t>mylonites</a:t>
            </a:r>
            <a:r>
              <a:rPr lang="en-GB" altLang="en-US" sz="1000" dirty="0">
                <a:solidFill>
                  <a:schemeClr val="bg2"/>
                </a:solidFill>
              </a:rPr>
              <a:t> below (the buff-brown units on the photo). For an account of the </a:t>
            </a:r>
            <a:r>
              <a:rPr lang="en-GB" altLang="en-US" sz="1000" dirty="0" err="1">
                <a:solidFill>
                  <a:schemeClr val="bg2"/>
                </a:solidFill>
              </a:rPr>
              <a:t>Badwater</a:t>
            </a:r>
            <a:r>
              <a:rPr lang="en-GB" altLang="en-US" sz="1000" dirty="0">
                <a:solidFill>
                  <a:schemeClr val="bg2"/>
                </a:solidFill>
              </a:rPr>
              <a:t> and other Death Valley turtle-backs, see Miller &amp; </a:t>
            </a:r>
            <a:r>
              <a:rPr lang="en-GB" altLang="en-US" sz="1000" dirty="0" err="1">
                <a:solidFill>
                  <a:schemeClr val="bg2"/>
                </a:solidFill>
              </a:rPr>
              <a:t>Pavlis</a:t>
            </a:r>
            <a:r>
              <a:rPr lang="en-GB" altLang="en-US" sz="1000" dirty="0">
                <a:solidFill>
                  <a:schemeClr val="bg2"/>
                </a:solidFill>
              </a:rPr>
              <a:t>, 2005, </a:t>
            </a:r>
            <a:r>
              <a:rPr lang="en-GB" altLang="en-US" sz="1000" i="1" dirty="0">
                <a:solidFill>
                  <a:schemeClr val="bg2"/>
                </a:solidFill>
              </a:rPr>
              <a:t>Earth-Science Reviews</a:t>
            </a:r>
            <a:r>
              <a:rPr lang="en-GB" altLang="en-US" sz="1000" i="0" dirty="0">
                <a:solidFill>
                  <a:schemeClr val="bg2"/>
                </a:solidFill>
              </a:rPr>
              <a:t> 73: 115-138, </a:t>
            </a:r>
            <a:r>
              <a:rPr lang="en-GB" sz="1000" dirty="0">
                <a:solidFill>
                  <a:schemeClr val="bg2"/>
                </a:solidFill>
              </a:rPr>
              <a:t>https://doi.org/10.1016/j.earscirev.2005.04.007</a:t>
            </a:r>
            <a:endParaRPr lang="en-GB" altLang="en-US" sz="1000" dirty="0">
              <a:solidFill>
                <a:schemeClr val="bg2"/>
              </a:solidFill>
            </a:endParaRPr>
          </a:p>
          <a:p>
            <a:pPr marL="108000" indent="-108000">
              <a:lnSpc>
                <a:spcPct val="100000"/>
              </a:lnSpc>
              <a:spcBef>
                <a:spcPts val="300"/>
              </a:spcBef>
              <a:buFont typeface="Arial" panose="020B0604020202020204" pitchFamily="34" charset="0"/>
              <a:buChar char="•"/>
            </a:pPr>
            <a:r>
              <a:rPr lang="en-GB" altLang="en-US" sz="1000" dirty="0">
                <a:solidFill>
                  <a:schemeClr val="bg2"/>
                </a:solidFill>
              </a:rPr>
              <a:t>Figure top right from Twiss &amp; </a:t>
            </a:r>
            <a:r>
              <a:rPr lang="en-GB" altLang="en-US" sz="1000" dirty="0" err="1">
                <a:solidFill>
                  <a:schemeClr val="bg2"/>
                </a:solidFill>
              </a:rPr>
              <a:t>Moores</a:t>
            </a:r>
            <a:r>
              <a:rPr lang="en-GB" altLang="en-US" sz="1000" dirty="0">
                <a:solidFill>
                  <a:schemeClr val="bg2"/>
                </a:solidFill>
              </a:rPr>
              <a:t>, p.102</a:t>
            </a:r>
          </a:p>
          <a:p>
            <a:pPr marL="0" indent="0">
              <a:lnSpc>
                <a:spcPct val="100000"/>
              </a:lnSpc>
              <a:spcBef>
                <a:spcPts val="300"/>
              </a:spcBef>
              <a:buFont typeface="Arial" panose="020B0604020202020204" pitchFamily="34" charset="0"/>
              <a:buNone/>
            </a:pPr>
            <a:endParaRPr lang="en-GB" altLang="en-US" sz="10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6A9F6CF6-F84C-4C9E-ABA1-E4BDB5157506}"/>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10BC432C-A0AB-43B9-8468-D8C168FA23E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Image top right (from McLeod </a:t>
            </a:r>
            <a:r>
              <a:rPr lang="en-GB" altLang="en-US" sz="1000" i="1" dirty="0"/>
              <a:t>et al.</a:t>
            </a:r>
            <a:r>
              <a:rPr lang="en-GB" altLang="en-US" sz="1000" dirty="0"/>
              <a:t>, 2009, </a:t>
            </a:r>
            <a:r>
              <a:rPr lang="en-GB" altLang="en-US" sz="1000" i="1" dirty="0"/>
              <a:t>Earth and Planetary Science Letters </a:t>
            </a:r>
            <a:r>
              <a:rPr lang="en-GB" altLang="en-US" sz="1000" dirty="0"/>
              <a:t>287: 333-344, </a:t>
            </a:r>
            <a:r>
              <a:rPr lang="en-GB" sz="1000" dirty="0"/>
              <a:t>https://doi.org/10.1016/j.epsl.2009.08.016</a:t>
            </a:r>
            <a:r>
              <a:rPr lang="en-GB" altLang="en-US" sz="1000" dirty="0"/>
              <a:t>): a </a:t>
            </a:r>
            <a:r>
              <a:rPr lang="en-GB" altLang="en-US" sz="1000" dirty="0" err="1"/>
              <a:t>sidescan</a:t>
            </a:r>
            <a:r>
              <a:rPr lang="en-GB" altLang="en-US" sz="1000" dirty="0"/>
              <a:t> sonar image overlain on to an image of the sea floor bathymetry – the lineated surface is ~10 km across. Location: 13°19´N on the Mid-Atlantic Ridge</a:t>
            </a:r>
          </a:p>
          <a:p>
            <a:pPr marL="108000" indent="-108000">
              <a:spcBef>
                <a:spcPts val="300"/>
              </a:spcBef>
              <a:buFont typeface="Arial" panose="020B0604020202020204" pitchFamily="34" charset="0"/>
              <a:buChar char="•"/>
            </a:pPr>
            <a:r>
              <a:rPr lang="en-GB" altLang="en-US" sz="1000" dirty="0"/>
              <a:t>Figure bottom right from Twiss &amp; </a:t>
            </a:r>
            <a:r>
              <a:rPr lang="en-GB" altLang="en-US" sz="1000" dirty="0" err="1"/>
              <a:t>Moores</a:t>
            </a:r>
            <a:r>
              <a:rPr lang="en-GB" altLang="en-US" sz="1000" dirty="0"/>
              <a:t>, p.104</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8F6D2902-3B88-4395-9697-364B1F44834D}"/>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CE242C05-3457-4156-A662-8D5E9722D26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formation of radial faults above diapirs is mechanically quite complex: some of the faults result from extension as the cover rocks dome and stretch above the diapir, whereas others arise from the stretching imposed as the stem of the diapir attempts to widen. For a discussion of these points, see Coleman </a:t>
            </a:r>
            <a:r>
              <a:rPr lang="en-GB" altLang="en-US" sz="1000" i="1" dirty="0"/>
              <a:t>et al.</a:t>
            </a:r>
            <a:r>
              <a:rPr lang="en-GB" altLang="en-US" sz="1000" i="0" dirty="0"/>
              <a:t>, 2018, </a:t>
            </a:r>
            <a:r>
              <a:rPr lang="en-GB" altLang="en-US" sz="1000" i="1" dirty="0"/>
              <a:t>Geology</a:t>
            </a:r>
            <a:r>
              <a:rPr lang="en-GB" altLang="en-US" sz="1000" i="0" dirty="0"/>
              <a:t> 46: 655-658, </a:t>
            </a:r>
            <a:r>
              <a:rPr lang="en-GB" sz="1000" dirty="0"/>
              <a:t>https://doi.org/10.1130/G40338.1</a:t>
            </a:r>
            <a:endParaRPr lang="en-GB" altLang="en-US" sz="1000" dirty="0"/>
          </a:p>
          <a:p>
            <a:pPr marL="108000" indent="-108000">
              <a:spcBef>
                <a:spcPts val="300"/>
              </a:spcBef>
              <a:buFont typeface="Arial" panose="020B0604020202020204" pitchFamily="34" charset="0"/>
              <a:buChar char="•"/>
            </a:pPr>
            <a:r>
              <a:rPr lang="en-GB" altLang="en-US" sz="1000" dirty="0"/>
              <a:t>Figure top right (from Twiss &amp; </a:t>
            </a:r>
            <a:r>
              <a:rPr lang="en-GB" altLang="en-US" sz="1000" dirty="0" err="1"/>
              <a:t>Moores</a:t>
            </a:r>
            <a:r>
              <a:rPr lang="en-GB" altLang="en-US" sz="1000" dirty="0"/>
              <a:t>, p.97): section of a normal fault system above a salt dome</a:t>
            </a:r>
          </a:p>
          <a:p>
            <a:pPr marL="108000" indent="-108000">
              <a:spcBef>
                <a:spcPts val="300"/>
              </a:spcBef>
              <a:buFont typeface="Arial" panose="020B0604020202020204" pitchFamily="34" charset="0"/>
              <a:buChar char="•"/>
            </a:pPr>
            <a:r>
              <a:rPr lang="en-GB" altLang="en-US" sz="1000" dirty="0"/>
              <a:t>Figure bottom right (from Parker &amp; McDowell, 1951, </a:t>
            </a:r>
            <a:r>
              <a:rPr lang="en-GB" altLang="en-US" sz="1000" i="1" dirty="0"/>
              <a:t>American Association of Petroleum Geologists Bulletin</a:t>
            </a:r>
            <a:r>
              <a:rPr lang="en-GB" altLang="en-US" sz="1000" dirty="0"/>
              <a:t> 35: 2076-2094, </a:t>
            </a:r>
            <a:r>
              <a:rPr lang="en-GB" sz="1000" dirty="0"/>
              <a:t>https://doi.org/10.1306/3D934322-16B1-11D7-8645000102C1865D</a:t>
            </a:r>
            <a:r>
              <a:rPr lang="en-GB" altLang="en-US" sz="1000" dirty="0"/>
              <a:t>, but ultimately derived from Wendlandt </a:t>
            </a:r>
            <a:r>
              <a:rPr lang="en-GB" altLang="en-US" sz="1000" i="1" dirty="0"/>
              <a:t>et al.</a:t>
            </a:r>
            <a:r>
              <a:rPr lang="en-GB" altLang="en-US" sz="1000" dirty="0"/>
              <a:t>, 1946, </a:t>
            </a:r>
            <a:r>
              <a:rPr lang="en-GB" altLang="en-US" sz="1000" i="1" dirty="0"/>
              <a:t>American Association of Petroleum Geologists Bulletin</a:t>
            </a:r>
            <a:r>
              <a:rPr lang="en-GB" altLang="en-US" sz="1000" dirty="0"/>
              <a:t> 30: 1830-1856, </a:t>
            </a:r>
            <a:r>
              <a:rPr lang="en-GB" sz="1000" dirty="0"/>
              <a:t>https://doi.org/10.1306/3D933884-16B1-11D7-8645000102C1865D</a:t>
            </a:r>
            <a:r>
              <a:rPr lang="en-GB" altLang="en-US" sz="1000" dirty="0"/>
              <a:t>): radial fault patterns over the Hawkins salt dome, Wood County, Texas – stratum contours on the top of the Woodbine Shale show the shape of the dome</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Photo bottom left (Steve Covey-Crump): radial fractures above a “bump” in the road surface, Senez, near </a:t>
            </a:r>
            <a:r>
              <a:rPr lang="en-GB" altLang="en-US" sz="1000" dirty="0" err="1"/>
              <a:t>Barrême</a:t>
            </a:r>
            <a:r>
              <a:rPr lang="en-GB" altLang="en-US" sz="1000" dirty="0"/>
              <a:t>, SE France. Extension has presumably arisen from the flow of tarmac that has been laid down over a large stone in the road foundations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03AB43DF-2CD5-4B55-8FB7-E6C58F829B1A}"/>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32F540E3-C1DC-49EE-B6F8-0570CC2CBABF}"/>
              </a:ext>
            </a:extLst>
          </p:cNvPr>
          <p:cNvSpPr>
            <a:spLocks noGrp="1" noChangeArrowheads="1"/>
          </p:cNvSpPr>
          <p:nvPr>
            <p:ph type="body" idx="1"/>
          </p:nvPr>
        </p:nvSpPr>
        <p:spPr>
          <a:noFill/>
        </p:spPr>
        <p:txBody>
          <a:bodyPr/>
          <a:lstStyle/>
          <a:p>
            <a:pPr marL="108000" indent="-108000">
              <a:lnSpc>
                <a:spcPct val="100000"/>
              </a:lnSpc>
              <a:spcBef>
                <a:spcPts val="300"/>
              </a:spcBef>
              <a:buFont typeface="Arial" panose="020B0604020202020204" pitchFamily="34" charset="0"/>
              <a:buChar char="•"/>
            </a:pPr>
            <a:r>
              <a:rPr lang="en-GB" altLang="en-US" sz="1000" dirty="0"/>
              <a:t>These images point to the fact that radial fracture patterns above domes actually have a range of different origins</a:t>
            </a:r>
          </a:p>
          <a:p>
            <a:pPr marL="108000" indent="-108000">
              <a:lnSpc>
                <a:spcPct val="100000"/>
              </a:lnSpc>
              <a:spcBef>
                <a:spcPts val="300"/>
              </a:spcBef>
              <a:buFont typeface="Arial" panose="020B0604020202020204" pitchFamily="34" charset="0"/>
              <a:buChar char="•"/>
            </a:pPr>
            <a:r>
              <a:rPr lang="en-GB" altLang="en-US" sz="1000" dirty="0"/>
              <a:t>Image top left (from http://www.planetary.org/multimedia/space-images/mercury/20140126_messenger_pantheon_fossae.html): Messenger image. In the current interpretation, the 40 km diameter impact crater, </a:t>
            </a:r>
            <a:r>
              <a:rPr lang="en-GB" altLang="en-US" sz="1000" dirty="0" err="1"/>
              <a:t>Apollodorus</a:t>
            </a:r>
            <a:r>
              <a:rPr lang="en-GB" altLang="en-US" sz="1000" dirty="0"/>
              <a:t>, near the centre of the radiating fracture set had nothing to do with the formation of the Pantheon Fossae fractures. Pantheon Fossae lies near the centre of the 1500 km diameter </a:t>
            </a:r>
            <a:r>
              <a:rPr lang="en-GB" altLang="en-US" sz="1000" dirty="0" err="1"/>
              <a:t>Caloris</a:t>
            </a:r>
            <a:r>
              <a:rPr lang="en-GB" altLang="en-US" sz="1000" dirty="0"/>
              <a:t> impact basin. It is thought that lateral crustal flow (from surrounding areas towards the centre of the basin), driven by a difference in vertical stress between the area underlying this excavated impact basin (low stress) and the area surrounding it (high stress), led to doming in the centre of the basin and hence to the radial fracturing (see Watters </a:t>
            </a:r>
            <a:r>
              <a:rPr lang="en-GB" altLang="en-US" sz="1000" i="1" dirty="0"/>
              <a:t>et al.</a:t>
            </a:r>
            <a:r>
              <a:rPr lang="en-GB" altLang="en-US" sz="1000" dirty="0"/>
              <a:t>, 2005, </a:t>
            </a:r>
            <a:r>
              <a:rPr lang="en-GB" altLang="en-US" sz="1000" i="1" dirty="0"/>
              <a:t>Geology</a:t>
            </a:r>
            <a:r>
              <a:rPr lang="en-GB" altLang="en-US" sz="1000" dirty="0"/>
              <a:t> 33: 669-672, </a:t>
            </a:r>
            <a:r>
              <a:rPr lang="en-GB" sz="1000" dirty="0"/>
              <a:t>https://doi.org/10.1130/G21678AR.1</a:t>
            </a:r>
            <a:r>
              <a:rPr lang="en-GB" altLang="en-US" sz="1000" dirty="0"/>
              <a:t>; Watters </a:t>
            </a:r>
            <a:r>
              <a:rPr lang="en-GB" altLang="en-US" sz="1000" i="1" dirty="0"/>
              <a:t>et al.</a:t>
            </a:r>
            <a:r>
              <a:rPr lang="en-GB" altLang="en-US" sz="1000" dirty="0"/>
              <a:t>, 2009, </a:t>
            </a:r>
            <a:r>
              <a:rPr lang="en-GB" altLang="en-US" sz="1000" i="1" dirty="0"/>
              <a:t>Earth and Planetary Science Letters </a:t>
            </a:r>
            <a:r>
              <a:rPr lang="en-GB" altLang="en-US" sz="1000" dirty="0"/>
              <a:t>285: 309-319, </a:t>
            </a:r>
            <a:r>
              <a:rPr lang="en-GB" sz="1000" dirty="0"/>
              <a:t>https://doi.org/10.1016/j.epsl.2009.03.040</a:t>
            </a:r>
            <a:r>
              <a:rPr lang="en-GB" altLang="en-US" sz="1000" dirty="0"/>
              <a:t>; </a:t>
            </a:r>
            <a:r>
              <a:rPr lang="en-GB" altLang="en-US" sz="1000" dirty="0" err="1"/>
              <a:t>Klimczak</a:t>
            </a:r>
            <a:r>
              <a:rPr lang="en-GB" altLang="en-US" sz="1000" dirty="0"/>
              <a:t> </a:t>
            </a:r>
            <a:r>
              <a:rPr lang="en-GB" altLang="en-US" sz="1000" i="1" dirty="0"/>
              <a:t>et al.</a:t>
            </a:r>
            <a:r>
              <a:rPr lang="en-GB" altLang="en-US" sz="1000" dirty="0"/>
              <a:t>, 2010, </a:t>
            </a:r>
            <a:r>
              <a:rPr lang="en-GB" altLang="en-US" sz="1000" i="1" dirty="0"/>
              <a:t>Icarus</a:t>
            </a:r>
            <a:r>
              <a:rPr lang="en-GB" altLang="en-US" sz="1000" dirty="0"/>
              <a:t> 209: 262-270, </a:t>
            </a:r>
            <a:r>
              <a:rPr lang="en-GB" sz="1000" dirty="0"/>
              <a:t>https://doi.org/10.1016/j.icarus.2010.04.014</a:t>
            </a:r>
            <a:r>
              <a:rPr lang="en-GB" altLang="en-US" sz="1000" dirty="0"/>
              <a:t>; </a:t>
            </a:r>
            <a:r>
              <a:rPr lang="en-GB" altLang="en-US" sz="1000" dirty="0" err="1"/>
              <a:t>Klimczak</a:t>
            </a:r>
            <a:r>
              <a:rPr lang="en-GB" altLang="en-US" sz="1000" dirty="0"/>
              <a:t> </a:t>
            </a:r>
            <a:r>
              <a:rPr lang="en-GB" altLang="en-US" sz="1000" i="1" dirty="0"/>
              <a:t>et al.</a:t>
            </a:r>
            <a:r>
              <a:rPr lang="en-GB" altLang="en-US" sz="1000" dirty="0"/>
              <a:t>, 2013, </a:t>
            </a:r>
            <a:r>
              <a:rPr lang="en-GB" altLang="en-US" sz="1000" i="1" dirty="0"/>
              <a:t>Journal of Geophysical Research: Planets</a:t>
            </a:r>
            <a:r>
              <a:rPr lang="en-GB" altLang="en-US" sz="1000" dirty="0"/>
              <a:t> 118: 2030-2044, </a:t>
            </a:r>
            <a:r>
              <a:rPr lang="en-GB" sz="1000" dirty="0"/>
              <a:t>https://doi.org/10.1002/jgre.20157</a:t>
            </a:r>
            <a:r>
              <a:rPr lang="en-GB" altLang="en-US" sz="1000" dirty="0"/>
              <a:t>)</a:t>
            </a:r>
          </a:p>
          <a:p>
            <a:pPr marL="108000" indent="-108000">
              <a:lnSpc>
                <a:spcPct val="100000"/>
              </a:lnSpc>
              <a:spcBef>
                <a:spcPts val="300"/>
              </a:spcBef>
              <a:buFont typeface="Arial" panose="020B0604020202020204" pitchFamily="34" charset="0"/>
              <a:buChar char="•"/>
            </a:pPr>
            <a:r>
              <a:rPr lang="en-GB" altLang="en-US" sz="1000" dirty="0"/>
              <a:t>Figure bottom left (adapted by Steve Covey-Crump from Muller &amp; Pollard, 1977, </a:t>
            </a:r>
            <a:r>
              <a:rPr lang="en-GB" altLang="en-US" sz="1000" i="1" dirty="0"/>
              <a:t>Pure and Applied Geophysics</a:t>
            </a:r>
            <a:r>
              <a:rPr lang="en-GB" altLang="en-US" sz="1000" dirty="0"/>
              <a:t> 115: 69-85, </a:t>
            </a:r>
            <a:r>
              <a:rPr lang="en-GB" sz="1000" dirty="0"/>
              <a:t>https://doi.org/10.1007/BF01637098</a:t>
            </a:r>
            <a:r>
              <a:rPr lang="en-GB" altLang="en-US" sz="1000" dirty="0"/>
              <a:t>). The Spanish Peaks radial dyke swarm was the subject of a classic stress analysis by </a:t>
            </a:r>
            <a:r>
              <a:rPr lang="en-GB" altLang="en-US" sz="1000" dirty="0" err="1"/>
              <a:t>Odé</a:t>
            </a:r>
            <a:r>
              <a:rPr lang="en-GB" altLang="en-US" sz="1000" dirty="0"/>
              <a:t>, 1957, </a:t>
            </a:r>
            <a:r>
              <a:rPr lang="en-GB" altLang="en-US" sz="1000" i="1" dirty="0"/>
              <a:t>Geological Society of America Bulletin </a:t>
            </a:r>
            <a:r>
              <a:rPr lang="en-GB" altLang="en-US" sz="1000" dirty="0"/>
              <a:t>68: 567-576, </a:t>
            </a:r>
            <a:r>
              <a:rPr lang="en-GB" sz="1000" dirty="0"/>
              <a:t>https://doi.org/10.1130/0016-7606(1957)68[567:MAOTDP]2.0.CO;2</a:t>
            </a:r>
            <a:r>
              <a:rPr lang="en-GB" altLang="en-US" sz="1000" dirty="0"/>
              <a:t>. The Muller &amp; Pollard paper refines this analysis. Radial dyke swarms reflect the way that pressurized magma within a central magma chamber exploits radial fractures (and potentially assists in the fracturing process itself)</a:t>
            </a:r>
          </a:p>
          <a:p>
            <a:pPr marL="108000" indent="-108000">
              <a:lnSpc>
                <a:spcPct val="100000"/>
              </a:lnSpc>
              <a:spcBef>
                <a:spcPts val="300"/>
              </a:spcBef>
              <a:buFont typeface="Arial" panose="020B0604020202020204" pitchFamily="34" charset="0"/>
              <a:buChar char="•"/>
            </a:pPr>
            <a:r>
              <a:rPr lang="en-GB" altLang="en-US" sz="1000" dirty="0"/>
              <a:t>Photo top right (from solarsystem.nasa.gov/multimedia/gallery/nssdc_mgn_c130s279.jpg): Magellan radar image. On </a:t>
            </a:r>
            <a:r>
              <a:rPr lang="en-GB" altLang="en-US" sz="1000" dirty="0" err="1"/>
              <a:t>Devana</a:t>
            </a:r>
            <a:r>
              <a:rPr lang="en-GB" altLang="en-US" sz="1000" dirty="0"/>
              <a:t> </a:t>
            </a:r>
            <a:r>
              <a:rPr lang="en-GB" altLang="en-US" sz="1000" dirty="0" err="1"/>
              <a:t>Chasma</a:t>
            </a:r>
            <a:r>
              <a:rPr lang="en-GB" altLang="en-US" sz="1000" dirty="0"/>
              <a:t>, see Kiefer &amp; Swafford, 2006, </a:t>
            </a:r>
            <a:r>
              <a:rPr lang="en-GB" altLang="en-US" sz="1000" i="1" dirty="0"/>
              <a:t>Journal of Structural Geology</a:t>
            </a:r>
            <a:r>
              <a:rPr lang="en-GB" altLang="en-US" sz="1000" dirty="0"/>
              <a:t> 28: 2144-2155, </a:t>
            </a:r>
            <a:r>
              <a:rPr lang="en-GB" sz="1000" dirty="0"/>
              <a:t>https://doi.org/10.1016/j.jsg.2005.12.002</a:t>
            </a:r>
            <a:r>
              <a:rPr lang="en-GB" altLang="en-US" sz="1000" dirty="0"/>
              <a:t>. This is a volcanic edifice</a:t>
            </a:r>
          </a:p>
          <a:p>
            <a:pPr marL="108000" indent="-108000">
              <a:lnSpc>
                <a:spcPct val="100000"/>
              </a:lnSpc>
              <a:spcBef>
                <a:spcPts val="300"/>
              </a:spcBef>
              <a:buFont typeface="Arial" panose="020B0604020202020204" pitchFamily="34" charset="0"/>
              <a:buChar char="•"/>
            </a:pPr>
            <a:r>
              <a:rPr lang="en-GB" altLang="en-US" sz="1000" dirty="0"/>
              <a:t>Figure bottom right from Beatty </a:t>
            </a:r>
            <a:r>
              <a:rPr lang="en-GB" altLang="en-US" sz="1000" i="1" dirty="0"/>
              <a:t>et al.</a:t>
            </a:r>
            <a:r>
              <a:rPr lang="en-GB" altLang="en-US" sz="1000" dirty="0"/>
              <a:t> (editors),</a:t>
            </a:r>
            <a:r>
              <a:rPr lang="en-GB" altLang="en-US" sz="1000" i="1" dirty="0"/>
              <a:t> </a:t>
            </a:r>
            <a:r>
              <a:rPr lang="en-GB" altLang="en-US" sz="1000" dirty="0"/>
              <a:t>1999,</a:t>
            </a:r>
            <a:r>
              <a:rPr lang="en-GB" altLang="en-US" sz="1000" i="1" dirty="0"/>
              <a:t> The New Solar System </a:t>
            </a:r>
            <a:r>
              <a:rPr lang="en-GB" altLang="en-US" sz="1000" dirty="0"/>
              <a:t>(4</a:t>
            </a:r>
            <a:r>
              <a:rPr lang="en-GB" altLang="en-US" sz="1000" baseline="30000" dirty="0"/>
              <a:t>th</a:t>
            </a:r>
            <a:r>
              <a:rPr lang="en-GB" altLang="en-US" sz="1000" dirty="0"/>
              <a:t> edition), Cambridge University Press, p.169. The tectonics of Venus are currently rather poorly understood and the picture presented in this figure is undoubtedly over-simplified. It is not relevant for the point made on this slide (that radial extensional fractures form above domes) but for those interested in a more refined model of tectonics on Venus, see Harris &amp; </a:t>
            </a:r>
            <a:r>
              <a:rPr lang="en-GB" altLang="en-US" sz="1000" dirty="0" err="1"/>
              <a:t>Bédard</a:t>
            </a:r>
            <a:r>
              <a:rPr lang="en-GB" altLang="en-US" sz="1000" dirty="0"/>
              <a:t>, 2015, </a:t>
            </a:r>
            <a:r>
              <a:rPr lang="en-GB" altLang="en-US" sz="1000" i="1" dirty="0"/>
              <a:t>Geological Society, London, Special Publications</a:t>
            </a:r>
            <a:r>
              <a:rPr lang="en-GB" altLang="en-US" sz="1000" dirty="0"/>
              <a:t> 401: 327-356, </a:t>
            </a:r>
            <a:r>
              <a:rPr lang="en-GB" sz="1000" dirty="0"/>
              <a:t>https://doi.org/10.1144/SP401.9</a:t>
            </a:r>
            <a:r>
              <a:rPr lang="en-GB" altLang="en-US" sz="1000" dirty="0"/>
              <a:t>. The tectonics of Venus are considered by some to provide an indication of the tectonic processes that were operating on Earth in the early Precambrian before plate tectonics in its present form initiated</a:t>
            </a:r>
          </a:p>
          <a:p>
            <a:pPr marL="0" indent="0">
              <a:lnSpc>
                <a:spcPct val="100000"/>
              </a:lnSpc>
              <a:spcBef>
                <a:spcPts val="300"/>
              </a:spcBef>
              <a:buFont typeface="Arial" panose="020B0604020202020204" pitchFamily="34" charset="0"/>
              <a:buNone/>
            </a:pPr>
            <a:endParaRPr lang="en-GB" altLang="en-US" sz="10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01501D1C-7351-4276-B62D-8B55F99C3238}"/>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655014B6-AD60-4D8C-9BE3-0F2E1225CC0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a:t>
            </a:r>
            <a:r>
              <a:rPr lang="en-GB" altLang="en-US" sz="1000" dirty="0" err="1"/>
              <a:t>Tharsis</a:t>
            </a:r>
            <a:r>
              <a:rPr lang="en-GB" altLang="en-US" sz="1000" dirty="0"/>
              <a:t> bulge is a very large volcanic edifice that is supported by the Martian lithosphere. The origin of the radial fracture network around it is described on the next slide. For a model of the formation of the </a:t>
            </a:r>
            <a:r>
              <a:rPr lang="en-GB" altLang="en-US" sz="1000" dirty="0" err="1"/>
              <a:t>Tharsis</a:t>
            </a:r>
            <a:r>
              <a:rPr lang="en-GB" altLang="en-US" sz="1000" dirty="0"/>
              <a:t> bulge itself, which invokes local plate subduction initiated by a large impact event early (&gt;3800 Ma) in the history of Mars, see Yin</a:t>
            </a:r>
            <a:r>
              <a:rPr lang="en-GB" altLang="en-US" sz="1000" i="0" dirty="0"/>
              <a:t>, 2012, </a:t>
            </a:r>
            <a:r>
              <a:rPr lang="en-GB" altLang="en-US" sz="1000" i="1" dirty="0"/>
              <a:t>Lithosphere</a:t>
            </a:r>
            <a:r>
              <a:rPr lang="en-GB" altLang="en-US" sz="1000" i="0" dirty="0"/>
              <a:t> 4: 553-593, </a:t>
            </a:r>
            <a:r>
              <a:rPr lang="en-GB" sz="1000" dirty="0"/>
              <a:t>https://doi.org/10.1130/L195.1</a:t>
            </a:r>
            <a:r>
              <a:rPr lang="en-GB" altLang="en-US" sz="1000" i="0" dirty="0"/>
              <a:t>. It has been suggested that the growth of the bulge induced a reorientation of the spin axis of Mars by 20°</a:t>
            </a:r>
            <a:r>
              <a:rPr lang="en-GB" altLang="en-US" sz="1000" i="0" spc="150" baseline="0" dirty="0"/>
              <a:t>-</a:t>
            </a:r>
            <a:r>
              <a:rPr lang="en-GB" altLang="en-US" sz="1000" i="0" dirty="0"/>
              <a:t>25° (Bouley </a:t>
            </a:r>
            <a:r>
              <a:rPr lang="en-GB" altLang="en-US" sz="1000" i="1" dirty="0"/>
              <a:t>et al.</a:t>
            </a:r>
            <a:r>
              <a:rPr lang="en-GB" altLang="en-US" sz="1000" i="0" dirty="0"/>
              <a:t>, 2016, </a:t>
            </a:r>
            <a:r>
              <a:rPr lang="en-GB" altLang="en-US" sz="1000" i="1" dirty="0"/>
              <a:t>Nature</a:t>
            </a:r>
            <a:r>
              <a:rPr lang="en-GB" altLang="en-US" sz="1000" i="0" dirty="0"/>
              <a:t> 531: 344-347, </a:t>
            </a:r>
            <a:r>
              <a:rPr lang="en-GB" sz="1000" dirty="0"/>
              <a:t>https://doi.org/10.1038/nature17171)</a:t>
            </a:r>
            <a:endParaRPr lang="en-GB" altLang="en-US" sz="1000" dirty="0"/>
          </a:p>
          <a:p>
            <a:pPr marL="108000" indent="-108000">
              <a:spcBef>
                <a:spcPts val="300"/>
              </a:spcBef>
              <a:buFont typeface="Arial" panose="020B0604020202020204" pitchFamily="34" charset="0"/>
              <a:buChar char="•"/>
            </a:pPr>
            <a:r>
              <a:rPr lang="en-GB" altLang="en-US" sz="1000" dirty="0"/>
              <a:t>One prominent fracture that is oriented radially to the </a:t>
            </a:r>
            <a:r>
              <a:rPr lang="en-GB" altLang="en-US" sz="1000" dirty="0" err="1"/>
              <a:t>Tharsis</a:t>
            </a:r>
            <a:r>
              <a:rPr lang="en-GB" altLang="en-US" sz="1000" dirty="0"/>
              <a:t> bulge is the Valles </a:t>
            </a:r>
            <a:r>
              <a:rPr lang="en-GB" altLang="en-US" sz="1000" dirty="0" err="1"/>
              <a:t>Marineris</a:t>
            </a:r>
            <a:r>
              <a:rPr lang="en-GB" altLang="en-US" sz="1000" dirty="0"/>
              <a:t> valley system. At over 4000 km long, 200 km wide and up to 10 km deep, this feature is the longest canyon system in the Solar System. However, its radial orientation with respect to the </a:t>
            </a:r>
            <a:r>
              <a:rPr lang="en-GB" altLang="en-US" sz="1000" dirty="0" err="1"/>
              <a:t>Tharsis</a:t>
            </a:r>
            <a:r>
              <a:rPr lang="en-GB" altLang="en-US" sz="1000" dirty="0"/>
              <a:t> bulge does not place it in the same category as the other radial fractures shown on the figure top right on this slide – detailed structural analysis shows that the fault responsible for the Valles </a:t>
            </a:r>
            <a:r>
              <a:rPr lang="en-GB" altLang="en-US" sz="1000" dirty="0" err="1"/>
              <a:t>Marineris</a:t>
            </a:r>
            <a:r>
              <a:rPr lang="en-GB" altLang="en-US" sz="1000" dirty="0"/>
              <a:t> has predominantly strike-slip offset (~160 km sinistral offset) with only a small component of normal dip-slip displacement (Yin, 2012, </a:t>
            </a:r>
            <a:r>
              <a:rPr lang="en-GB" altLang="en-US" sz="1000" i="1" dirty="0"/>
              <a:t>Lithosphere</a:t>
            </a:r>
            <a:r>
              <a:rPr lang="en-GB" altLang="en-US" sz="1000" i="0" dirty="0"/>
              <a:t> 4: 286-330, </a:t>
            </a:r>
            <a:r>
              <a:rPr lang="en-GB" sz="1000" dirty="0"/>
              <a:t>https://doi.org/10.1130/L192.1</a:t>
            </a:r>
            <a:r>
              <a:rPr lang="en-GB" altLang="en-US" sz="1000" i="0" dirty="0"/>
              <a:t>). The formation of </a:t>
            </a:r>
            <a:r>
              <a:rPr lang="en-GB" altLang="en-US" sz="1000" i="0" dirty="0" err="1"/>
              <a:t>transtensional</a:t>
            </a:r>
            <a:r>
              <a:rPr lang="en-GB" altLang="en-US" sz="1000" i="0" dirty="0"/>
              <a:t> faults (dominantly strike-slip with a relatively small component of extensional dip-slip displacement) will be considered in the next class</a:t>
            </a:r>
            <a:endParaRPr lang="en-GB" altLang="en-US" sz="1000" dirty="0"/>
          </a:p>
          <a:p>
            <a:pPr marL="108000" indent="-108000">
              <a:spcBef>
                <a:spcPts val="300"/>
              </a:spcBef>
              <a:buFont typeface="Arial" panose="020B0604020202020204" pitchFamily="34" charset="0"/>
              <a:buChar char="•"/>
            </a:pPr>
            <a:r>
              <a:rPr lang="en-GB" altLang="en-US" sz="1000" dirty="0"/>
              <a:t>Figure top right from http://www.explanet.info/Chapter06.htm</a:t>
            </a:r>
          </a:p>
          <a:p>
            <a:pPr marL="108000" indent="-108000">
              <a:spcBef>
                <a:spcPts val="300"/>
              </a:spcBef>
              <a:buFont typeface="Arial" panose="020B0604020202020204" pitchFamily="34" charset="0"/>
              <a:buChar char="•"/>
            </a:pPr>
            <a:r>
              <a:rPr lang="en-GB" altLang="en-US" sz="1000" dirty="0"/>
              <a:t>Image top left (from lasp.colorado.edu/home/mariner9/): Mariner 9 image of Mars with Valles </a:t>
            </a:r>
            <a:r>
              <a:rPr lang="en-GB" altLang="en-US" sz="1000" dirty="0" err="1"/>
              <a:t>Marineris</a:t>
            </a:r>
            <a:r>
              <a:rPr lang="en-GB" altLang="en-US" sz="1000" dirty="0"/>
              <a:t> running across the equatorial region.</a:t>
            </a:r>
          </a:p>
          <a:p>
            <a:pPr marL="108000" indent="-108000">
              <a:spcBef>
                <a:spcPts val="300"/>
              </a:spcBef>
              <a:buFont typeface="Arial" panose="020B0604020202020204" pitchFamily="34" charset="0"/>
              <a:buChar char="•"/>
            </a:pPr>
            <a:r>
              <a:rPr lang="en-GB" altLang="en-US" sz="1000" dirty="0"/>
              <a:t>Image top middle (from www.lpi.usra.edu/science/treiman/greatdesert/workshop/marsmaps2/marsmaps2_imgs/mola_color1.jpg): surface elevation map of Mars showing the </a:t>
            </a:r>
            <a:r>
              <a:rPr lang="en-GB" altLang="en-US" sz="1000" dirty="0" err="1"/>
              <a:t>Tharsis</a:t>
            </a:r>
            <a:r>
              <a:rPr lang="en-GB" altLang="en-US" sz="1000" dirty="0"/>
              <a:t> bulge (elevated area in red colours) and the Valles </a:t>
            </a:r>
            <a:r>
              <a:rPr lang="en-GB" altLang="en-US" sz="1000" dirty="0" err="1"/>
              <a:t>Marineris</a:t>
            </a:r>
            <a:endParaRPr lang="en-GB" altLang="en-US" sz="1000" dirty="0"/>
          </a:p>
          <a:p>
            <a:pPr marL="108000" indent="-108000">
              <a:spcBef>
                <a:spcPts val="300"/>
              </a:spcBef>
              <a:buFont typeface="Arial" panose="020B0604020202020204" pitchFamily="34" charset="0"/>
              <a:buChar char="•"/>
            </a:pPr>
            <a:r>
              <a:rPr lang="en-GB" altLang="en-US" sz="1000" dirty="0"/>
              <a:t>Image bottom left (from http://rcwainwright.com/Images/Mars_Valles_Marineris.gif): mosaic of thermal emission imaging system (THEMIS) images from the 2001 Mars Odyssey mission</a:t>
            </a:r>
          </a:p>
          <a:p>
            <a:pPr>
              <a:spcBef>
                <a:spcPts val="300"/>
              </a:spcBef>
              <a:buFontTx/>
              <a:buNone/>
            </a:pPr>
            <a:endParaRPr lang="en-GB" altLang="en-US" sz="10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F8BAC92F-D65A-474E-B98E-C8759FDDFFC6}"/>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0F573EDF-DECA-4CA0-B245-3F3C7204284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nature of membrane stresses can be visualized by trying to deform a table tennis ball. When applying a wide load (squashing the ball with the palm of your hand), the membrane stresses effectively support the load, but when the load is applied over a small area (</a:t>
            </a:r>
            <a:r>
              <a:rPr lang="en-GB" altLang="en-US" sz="1000" i="1" dirty="0"/>
              <a:t>e.g.</a:t>
            </a:r>
            <a:r>
              <a:rPr lang="en-GB" altLang="en-US" sz="1000" i="0" dirty="0"/>
              <a:t>, by </a:t>
            </a:r>
            <a:r>
              <a:rPr lang="en-GB" altLang="en-US" sz="1000" dirty="0"/>
              <a:t>pressing the tip of a pencil into the ball), the load is supported by the flexural stresses. Note that the significance of membrane stresses depends critically on the flexural rigidity of the lithosphere and hence upon factors that control the thickness of the part of the lithosphere that behaves elastically</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Thus, the radial fractures around the Tharsis bulge are attributed to the fact that the loading of the lithosphere by the volcanic edifice is over an area that is wide compared with the radius of Mars. Around the perimeter of the bulge there are circumferential wrinkle ridges (on wrinkle ridges, see Class 8 Slide 8) that support this interpretation. For further details of the </a:t>
            </a:r>
            <a:r>
              <a:rPr lang="en-GB" altLang="en-US" sz="1000" dirty="0" err="1"/>
              <a:t>Tharsis</a:t>
            </a:r>
            <a:r>
              <a:rPr lang="en-GB" altLang="en-US" sz="1000" dirty="0"/>
              <a:t> radial fracture story, see Watters &amp; Schultz (editors), 2010, </a:t>
            </a:r>
            <a:r>
              <a:rPr lang="en-GB" altLang="en-US" sz="1000" i="1" dirty="0"/>
              <a:t>Planetary Tectonics</a:t>
            </a:r>
            <a:r>
              <a:rPr lang="en-GB" altLang="en-US" sz="1000" dirty="0"/>
              <a:t>, Cambridge University Press, p.207-212, and for an analysis of the timing of formation of the faults around </a:t>
            </a:r>
            <a:r>
              <a:rPr lang="en-GB" altLang="en-US" sz="1000" dirty="0" err="1"/>
              <a:t>Tharsis</a:t>
            </a:r>
            <a:r>
              <a:rPr lang="en-GB" altLang="en-US" sz="1000" dirty="0"/>
              <a:t>, see Bouley </a:t>
            </a:r>
            <a:r>
              <a:rPr lang="en-GB" altLang="en-US" sz="1000" i="1" dirty="0"/>
              <a:t>et al.</a:t>
            </a:r>
            <a:r>
              <a:rPr lang="en-GB" altLang="en-US" sz="1000" i="0" dirty="0"/>
              <a:t>, 2018, </a:t>
            </a:r>
            <a:r>
              <a:rPr lang="en-GB" altLang="en-US" sz="1000" i="1" dirty="0"/>
              <a:t>Earth &amp; Planetary Science Letters</a:t>
            </a:r>
            <a:r>
              <a:rPr lang="en-GB" altLang="en-US" sz="1000" i="0" dirty="0"/>
              <a:t> 488:126-133, </a:t>
            </a:r>
            <a:r>
              <a:rPr lang="en-GB" sz="1000" dirty="0"/>
              <a:t>https://doi.org/10.1016/j.epsl.2018.02.019</a:t>
            </a:r>
            <a:endParaRPr lang="en-GB" altLang="en-US" sz="1000" dirty="0"/>
          </a:p>
          <a:p>
            <a:pPr marL="108000" indent="-108000">
              <a:spcBef>
                <a:spcPts val="300"/>
              </a:spcBef>
              <a:buFont typeface="Arial" panose="020B0604020202020204" pitchFamily="34" charset="0"/>
              <a:buChar char="•"/>
            </a:pPr>
            <a:r>
              <a:rPr lang="en-GB" altLang="en-US" sz="1000" dirty="0"/>
              <a:t>Figures (by Steve Covey-Crump based on diagrams by </a:t>
            </a:r>
            <a:r>
              <a:rPr lang="en-GB" altLang="en-US" sz="1000" dirty="0" err="1"/>
              <a:t>Banerdt</a:t>
            </a:r>
            <a:r>
              <a:rPr lang="en-GB" altLang="en-US" sz="1000" dirty="0"/>
              <a:t> </a:t>
            </a:r>
            <a:r>
              <a:rPr lang="en-GB" altLang="en-US" sz="1000" i="1" dirty="0"/>
              <a:t>et al.</a:t>
            </a:r>
            <a:r>
              <a:rPr lang="en-GB" altLang="en-US" sz="1000" dirty="0"/>
              <a:t>, 1992, In: Kieffer </a:t>
            </a:r>
            <a:r>
              <a:rPr lang="en-GB" altLang="en-US" sz="1000" i="1" dirty="0"/>
              <a:t>et al.</a:t>
            </a:r>
            <a:r>
              <a:rPr lang="en-GB" altLang="en-US" sz="1000" dirty="0"/>
              <a:t> (editors) </a:t>
            </a:r>
            <a:r>
              <a:rPr lang="en-GB" altLang="en-US" sz="1000" i="1" dirty="0"/>
              <a:t>Mars</a:t>
            </a:r>
            <a:r>
              <a:rPr lang="en-GB" altLang="en-US" sz="1000" dirty="0"/>
              <a:t>, University of Arizona Press, p.249-297). The thickness of the arrows is intended to convey the magnitude of the stresses</a:t>
            </a:r>
          </a:p>
          <a:p>
            <a:pPr marL="108000" indent="-108000">
              <a:spcBef>
                <a:spcPts val="300"/>
              </a:spcBef>
              <a:buFont typeface="Arial" panose="020B0604020202020204" pitchFamily="34" charset="0"/>
              <a:buChar char="•"/>
            </a:pPr>
            <a:r>
              <a:rPr lang="en-GB" altLang="en-US" sz="1000" dirty="0"/>
              <a:t>Image (from http://www.lpi.usra.edu/resources/apollo/frame/?AS17-M-0953): Apollo 17 photograph of the west side of Mare Serenitatis. Note the wrinkle ridges in the interior of the mare and the arcuate </a:t>
            </a:r>
            <a:r>
              <a:rPr lang="en-GB" altLang="en-US" sz="1000" dirty="0" err="1"/>
              <a:t>rilles</a:t>
            </a:r>
            <a:r>
              <a:rPr lang="en-GB" altLang="en-US" sz="1000" dirty="0"/>
              <a:t> on the mare margin</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84F61FEC-5470-4FA4-9783-A6B11786B4A3}"/>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4FFAE723-ABF5-4AB9-9AC1-D8C4F3673763}"/>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right (from J-P Burg’s 2015 lecture notes, www.files.ethz.ch/structuralgeology/JPB/files/English/3extsyst.pdf, p.83): schematic section of faults around a caldera. Modelling with sand suggests that typically most of the collapse occurs on outward-dipping reverse faults in the interior of the caldera, with inward-dipping, curved normal faults forming around the periphery relatively late in the story to accommodate the ongoing subsidence in the interior. However, the precise response depends upon the depth and shape of the magma chamber. The faults around calderas are significant influences on the location and migration of eruptive vents, the degree of subsidence, the style of post-caldera resurgent magmatism, and the extent of hydrothermal circulation</a:t>
            </a:r>
          </a:p>
          <a:p>
            <a:pPr marL="108000" indent="-108000">
              <a:spcBef>
                <a:spcPts val="300"/>
              </a:spcBef>
              <a:buFont typeface="Arial" panose="020B0604020202020204" pitchFamily="34" charset="0"/>
              <a:buChar char="•"/>
            </a:pPr>
            <a:r>
              <a:rPr lang="en-GB" altLang="en-US" sz="1000" dirty="0"/>
              <a:t>Image bottom right (from photojournal.jpl.nasa.gov/</a:t>
            </a:r>
            <a:r>
              <a:rPr lang="en-GB" altLang="en-US" sz="1000" dirty="0" err="1"/>
              <a:t>catalog</a:t>
            </a:r>
            <a:r>
              <a:rPr lang="en-GB" altLang="en-US" sz="1000" dirty="0"/>
              <a:t>/PIA00202): a Magellan radar image of </a:t>
            </a:r>
            <a:r>
              <a:rPr lang="en-GB" altLang="en-US" sz="1000" dirty="0" err="1"/>
              <a:t>Aine</a:t>
            </a:r>
            <a:r>
              <a:rPr lang="en-GB" altLang="en-US" sz="1000" dirty="0"/>
              <a:t> Corona, Venus. Radial and concentric fracture patterns around volcanic edifices on Venus are classified into novae, coronae, calderas and arachnoids (see </a:t>
            </a:r>
            <a:r>
              <a:rPr lang="en-GB" altLang="en-US" sz="1000" dirty="0" err="1"/>
              <a:t>Krassilnikov</a:t>
            </a:r>
            <a:r>
              <a:rPr lang="en-GB" altLang="en-US" sz="1000" dirty="0"/>
              <a:t>, 2006, </a:t>
            </a:r>
            <a:r>
              <a:rPr lang="en-GB" altLang="en-US" sz="1000" i="1" dirty="0"/>
              <a:t>Lunar &amp; Planetary Science </a:t>
            </a:r>
            <a:r>
              <a:rPr lang="en-GB" altLang="en-US" sz="1000" dirty="0"/>
              <a:t>37: 1853 – www.lpi.usra.edu/meetings/lpsc2006/pdf/1853.pdf)</a:t>
            </a:r>
          </a:p>
          <a:p>
            <a:pPr marL="108000" indent="-108000">
              <a:spcBef>
                <a:spcPts val="300"/>
              </a:spcBef>
              <a:buFont typeface="Arial" panose="020B0604020202020204" pitchFamily="34" charset="0"/>
              <a:buChar char="•"/>
            </a:pPr>
            <a:r>
              <a:rPr lang="en-GB" altLang="en-US" sz="1000" dirty="0"/>
              <a:t>Photo bottom left (Steve Covey-Crump): ring fractures around a pit in the road surface, road up to the accommodation at Senez, near </a:t>
            </a:r>
            <a:r>
              <a:rPr lang="en-GB" altLang="en-US" sz="1000" dirty="0" err="1"/>
              <a:t>Barrême</a:t>
            </a:r>
            <a:r>
              <a:rPr lang="en-GB" altLang="en-US" sz="1000" dirty="0"/>
              <a:t>, SE France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6AD2E20A-CD36-48F0-871C-7995230AF107}"/>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31EBB618-9AF5-4AA0-A285-AD2B872771CA}"/>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left (http://upload.wikimedia.org/wikipedia/commons/b/b1/Olympus_Mons_Topography.png)</a:t>
            </a:r>
          </a:p>
          <a:p>
            <a:pPr marL="108000" indent="-108000">
              <a:spcBef>
                <a:spcPts val="300"/>
              </a:spcBef>
              <a:buFont typeface="Arial" panose="020B0604020202020204" pitchFamily="34" charset="0"/>
              <a:buChar char="•"/>
            </a:pPr>
            <a:r>
              <a:rPr lang="en-GB" altLang="en-US" sz="1000" dirty="0"/>
              <a:t>Image right (from http://sci.esa.int/science-e-media/img/4d/Olympus_Mons.jpg): nested caldera complex at the summit of Olympus Mons, Mars Express</a:t>
            </a:r>
          </a:p>
          <a:p>
            <a:pPr marL="108000" indent="-108000">
              <a:spcBef>
                <a:spcPts val="300"/>
              </a:spcBef>
              <a:buFont typeface="Arial" panose="020B0604020202020204" pitchFamily="34" charset="0"/>
              <a:buChar char="•"/>
            </a:pPr>
            <a:r>
              <a:rPr lang="en-GB" altLang="en-US" sz="1000" dirty="0"/>
              <a:t>Figure bottom left (http://www.lpi.usra.edu/publications/slidesets/hawaiivolcanoes/images/hawaii37.jpg)</a:t>
            </a:r>
          </a:p>
          <a:p>
            <a:pPr>
              <a:spcBef>
                <a:spcPts val="300"/>
              </a:spcBef>
            </a:pPr>
            <a:endParaRPr lang="en-GB"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121345EB-3767-4D87-84DE-073ADADC508F}"/>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047B20E7-75A9-41B8-8C38-A49529337F54}"/>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On the theory of a freezing interior leading to global expansion, see Plescia, 1987, </a:t>
            </a:r>
            <a:r>
              <a:rPr lang="en-GB" altLang="en-US" sz="1000" i="1" dirty="0"/>
              <a:t>Nature</a:t>
            </a:r>
            <a:r>
              <a:rPr lang="en-GB" altLang="en-US" sz="1000" dirty="0"/>
              <a:t> 327: 201-204, </a:t>
            </a:r>
            <a:r>
              <a:rPr lang="en-GB" sz="1000" dirty="0"/>
              <a:t>https://doi.org/10.1038/327201a0</a:t>
            </a:r>
            <a:endParaRPr lang="en-GB" altLang="en-US" sz="1000" dirty="0"/>
          </a:p>
          <a:p>
            <a:pPr marL="108000" indent="-108000">
              <a:spcBef>
                <a:spcPts val="300"/>
              </a:spcBef>
              <a:buFont typeface="Arial" panose="020B0604020202020204" pitchFamily="34" charset="0"/>
              <a:buChar char="•"/>
            </a:pPr>
            <a:r>
              <a:rPr lang="en-GB" altLang="en-US" sz="1000" dirty="0"/>
              <a:t>The images are all from Voyager 2 (1986)</a:t>
            </a:r>
          </a:p>
          <a:p>
            <a:pPr marL="108000" indent="-108000">
              <a:spcBef>
                <a:spcPts val="300"/>
              </a:spcBef>
              <a:buFont typeface="Arial" panose="020B0604020202020204" pitchFamily="34" charset="0"/>
              <a:buChar char="•"/>
            </a:pPr>
            <a:r>
              <a:rPr lang="en-GB" altLang="en-US" sz="1000" dirty="0"/>
              <a:t>Image top left (from www.solarviews.com/cap/uranus/ariel.htm)</a:t>
            </a:r>
          </a:p>
          <a:p>
            <a:pPr marL="108000" indent="-108000">
              <a:spcBef>
                <a:spcPts val="300"/>
              </a:spcBef>
              <a:buFont typeface="Arial" panose="020B0604020202020204" pitchFamily="34" charset="0"/>
              <a:buChar char="•"/>
            </a:pPr>
            <a:r>
              <a:rPr lang="en-GB" altLang="en-US" sz="1000" dirty="0"/>
              <a:t>Image bottom left from http://photojournal.jpl.nasa.gov/jpeg/PIA00039.jpg</a:t>
            </a:r>
          </a:p>
          <a:p>
            <a:pPr marL="108000" indent="-108000">
              <a:spcBef>
                <a:spcPts val="300"/>
              </a:spcBef>
              <a:buFont typeface="Arial" panose="020B0604020202020204" pitchFamily="34" charset="0"/>
              <a:buChar char="•"/>
            </a:pPr>
            <a:r>
              <a:rPr lang="en-GB" altLang="en-US" sz="1000" dirty="0"/>
              <a:t>Image bottom middle from http://photojournal.jpl.nasa.gov/jpeg/PIA01490.jpg</a:t>
            </a:r>
          </a:p>
          <a:p>
            <a:pPr marL="108000" indent="-108000">
              <a:spcBef>
                <a:spcPts val="300"/>
              </a:spcBef>
              <a:buFont typeface="Arial" panose="020B0604020202020204" pitchFamily="34" charset="0"/>
              <a:buChar char="•"/>
            </a:pPr>
            <a:r>
              <a:rPr lang="en-GB" altLang="en-US" sz="1000" dirty="0"/>
              <a:t>Image bottom right from http://photojournal.jpl.nasa.gov/jpeg/PIA00044.jpg</a:t>
            </a:r>
          </a:p>
          <a:p>
            <a:pPr>
              <a:spcBef>
                <a:spcPts val="300"/>
              </a:spcBef>
            </a:pPr>
            <a:endParaRPr lang="en-GB" altLang="en-US" sz="10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5B43AD50-9C74-4EC5-B57B-00FC9FF4F8C2}"/>
              </a:ext>
            </a:extLst>
          </p:cNvPr>
          <p:cNvSpPr>
            <a:spLocks noGrp="1" noRot="1" noChangeAspect="1" noChangeArrowheads="1" noTextEdit="1"/>
          </p:cNvSpPr>
          <p:nvPr>
            <p:ph type="sldImg"/>
          </p:nvPr>
        </p:nvSpPr>
        <p:spPr>
          <a:ln/>
        </p:spPr>
      </p:sp>
      <p:sp>
        <p:nvSpPr>
          <p:cNvPr id="116739" name="Rectangle 3">
            <a:extLst>
              <a:ext uri="{FF2B5EF4-FFF2-40B4-BE49-F238E27FC236}">
                <a16:creationId xmlns:a16="http://schemas.microsoft.com/office/drawing/2014/main" id="{16ACEDD3-7CAB-4ACE-B65A-390855E688C1}"/>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a summary of the geology of Pluto and Charon based on the data from the New Horizons mission during the July 2015 fly-by, see Moore </a:t>
            </a:r>
            <a:r>
              <a:rPr lang="en-GB" altLang="en-US" sz="1000" i="1" dirty="0"/>
              <a:t>et al.</a:t>
            </a:r>
            <a:r>
              <a:rPr lang="en-GB" altLang="en-US" sz="1000" dirty="0"/>
              <a:t>, 2016, </a:t>
            </a:r>
            <a:r>
              <a:rPr lang="en-GB" altLang="en-US" sz="1000" i="1" dirty="0"/>
              <a:t>Science</a:t>
            </a:r>
            <a:r>
              <a:rPr lang="en-GB" altLang="en-US" sz="1000" dirty="0"/>
              <a:t> 351: 1284-1293, </a:t>
            </a:r>
            <a:r>
              <a:rPr lang="en-GB" sz="1000" dirty="0"/>
              <a:t>https://doi.org/10.1126/science.aad7055</a:t>
            </a:r>
            <a:endParaRPr lang="en-GB" altLang="en-US" sz="1000" dirty="0"/>
          </a:p>
          <a:p>
            <a:pPr marL="108000" indent="-108000">
              <a:spcBef>
                <a:spcPts val="300"/>
              </a:spcBef>
              <a:buFont typeface="Arial" panose="020B0604020202020204" pitchFamily="34" charset="0"/>
              <a:buChar char="•"/>
            </a:pPr>
            <a:r>
              <a:rPr lang="en-GB" altLang="en-US" sz="1000" dirty="0"/>
              <a:t>Figure (from http://www.nasa.gov/feature/pluto-s-hulk-like-moon-charon-a-possible-ancient-ocean): image of Charon, the largest moon of Pluto, obtained on 14 July 2015 during the New Horizons fly-by. Charon is 1200 km in diameter. The deep canyon is informally known as Serenity Chasma and is considered to be the surface expression of steeply dipping normal faults that continue to depths of tens of kilometres. The extensional fault system represents a global areal extension of ~1% which, from crater densities, is estimated to have occurred early (&gt;4000 Ma) in Charon’s history</a:t>
            </a:r>
          </a:p>
          <a:p>
            <a:pPr>
              <a:spcBef>
                <a:spcPts val="300"/>
              </a:spcBef>
              <a:buFontTx/>
              <a:buNone/>
            </a:pPr>
            <a:endParaRPr lang="en-GB" altLang="en-US" sz="10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F9AC6329-498F-46C4-B41D-81AF68E7AC66}"/>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91A398E9-09FD-4ADB-824B-D7880467677C}"/>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Considerable attention has been given to polygonal fault systems because the faults may have a significant influence on fluid flow in mud-rich lithologies that are important as top-seals in hydrocarbon reservoirs or which are used for waste (CO</a:t>
            </a:r>
            <a:r>
              <a:rPr lang="en-GB" altLang="en-US" sz="1000" baseline="-25000" dirty="0"/>
              <a:t>2</a:t>
            </a:r>
            <a:r>
              <a:rPr lang="en-GB" altLang="en-US" sz="1000" dirty="0"/>
              <a:t>, nuclear) disposal. For a commentary on some of the interesting features and unknowns about polygonal fault systems, see Cartwright, 2014, </a:t>
            </a:r>
            <a:r>
              <a:rPr lang="en-GB" altLang="en-US" sz="1000" i="1" dirty="0"/>
              <a:t>Geology</a:t>
            </a:r>
            <a:r>
              <a:rPr lang="en-GB" altLang="en-US" sz="1000" dirty="0"/>
              <a:t> 42: 559-560, </a:t>
            </a:r>
            <a:r>
              <a:rPr lang="en-GB" sz="1000" dirty="0"/>
              <a:t>https://doi.org/10.1130/focus062014.1</a:t>
            </a:r>
            <a:r>
              <a:rPr lang="en-GB" altLang="en-US" sz="1000" dirty="0"/>
              <a:t>. For more detailed reviews, see </a:t>
            </a:r>
            <a:r>
              <a:rPr lang="en-GB" altLang="en-US" sz="1000" dirty="0" err="1"/>
              <a:t>Goulty</a:t>
            </a:r>
            <a:r>
              <a:rPr lang="en-GB" altLang="en-US" sz="1000" dirty="0"/>
              <a:t>, 2008, </a:t>
            </a:r>
            <a:r>
              <a:rPr lang="en-GB" altLang="en-US" sz="1000" i="1" dirty="0"/>
              <a:t>Petroleum Geoscience</a:t>
            </a:r>
            <a:r>
              <a:rPr lang="en-GB" altLang="en-US" sz="1000" dirty="0"/>
              <a:t> 14: 389-397, </a:t>
            </a:r>
            <a:r>
              <a:rPr lang="en-GB" sz="1000" dirty="0"/>
              <a:t>https://doi.org/10.1144/1354-079308-781</a:t>
            </a:r>
            <a:r>
              <a:rPr lang="en-GB" altLang="en-US" sz="1000" dirty="0"/>
              <a:t>; Cartwright, 2011, </a:t>
            </a:r>
            <a:r>
              <a:rPr lang="en-GB" altLang="en-US" sz="1000" i="1" dirty="0"/>
              <a:t>Marine and Petroleum Geology</a:t>
            </a:r>
            <a:r>
              <a:rPr lang="en-GB" altLang="en-US" sz="1000" dirty="0"/>
              <a:t> 28: 1593-1610, </a:t>
            </a:r>
            <a:r>
              <a:rPr lang="en-GB" sz="1000" dirty="0"/>
              <a:t>https://doi.org/10.1016/j.marpetgeo.2011.06.004</a:t>
            </a:r>
            <a:endParaRPr lang="en-GB" altLang="en-US" sz="1000" dirty="0"/>
          </a:p>
          <a:p>
            <a:pPr marL="108000" indent="-108000">
              <a:lnSpc>
                <a:spcPct val="100000"/>
              </a:lnSpc>
              <a:spcBef>
                <a:spcPts val="300"/>
              </a:spcBef>
              <a:buFont typeface="Arial" panose="020B0604020202020204" pitchFamily="34" charset="0"/>
              <a:buChar char="•"/>
            </a:pPr>
            <a:r>
              <a:rPr lang="en-GB" altLang="en-US" sz="1000" dirty="0"/>
              <a:t>The vertical compaction explanation of the formation of polygonal faults </a:t>
            </a:r>
            <a:r>
              <a:rPr lang="en-US" altLang="en-US" sz="1000" dirty="0"/>
              <a:t>notes that during vertical compaction of a clastic sediment with zero lateral strain, the ratio between the horizontal effective stress </a:t>
            </a:r>
            <a:r>
              <a:rPr lang="en-US" altLang="en-US" sz="1000" spc="100" baseline="0" dirty="0"/>
              <a:t>(</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US" altLang="en-US" sz="1000" spc="150" baseline="-25000" dirty="0">
                <a:cs typeface="Times New Roman" panose="02020603050405020304" pitchFamily="18" charset="0"/>
              </a:rPr>
              <a:t>H</a:t>
            </a:r>
            <a:r>
              <a:rPr lang="en-GB" altLang="en-US" sz="1000" dirty="0">
                <a:cs typeface="Times New Roman" panose="02020603050405020304" pitchFamily="18" charset="0"/>
              </a:rPr>
              <a:t>) and the vertical effective stress </a:t>
            </a:r>
            <a:r>
              <a:rPr lang="en-US" altLang="en-US" sz="1000" spc="100" baseline="0" dirty="0"/>
              <a:t>(</a:t>
            </a:r>
            <a:r>
              <a:rPr lang="el-GR" altLang="en-US" sz="1000" i="1" dirty="0">
                <a:cs typeface="Times New Roman" panose="02020603050405020304" pitchFamily="18" charset="0"/>
              </a:rPr>
              <a:t>σ</a:t>
            </a:r>
            <a:r>
              <a:rPr lang="en-US" altLang="en-US" sz="1000" spc="150" baseline="-25000" dirty="0">
                <a:cs typeface="Times New Roman" panose="02020603050405020304" pitchFamily="18" charset="0"/>
              </a:rPr>
              <a:t>V</a:t>
            </a:r>
            <a:r>
              <a:rPr lang="en-GB" altLang="en-US" sz="1000" dirty="0">
                <a:cs typeface="Times New Roman" panose="02020603050405020304" pitchFamily="18" charset="0"/>
              </a:rPr>
              <a:t>) is approximately given by</a:t>
            </a:r>
          </a:p>
          <a:p>
            <a:pPr marL="0" indent="0">
              <a:lnSpc>
                <a:spcPct val="100000"/>
              </a:lnSpc>
              <a:spcBef>
                <a:spcPts val="600"/>
              </a:spcBef>
              <a:spcAft>
                <a:spcPts val="600"/>
              </a:spcAft>
              <a:buFont typeface="Arial" panose="020B0604020202020204" pitchFamily="34" charset="0"/>
              <a:buNone/>
            </a:pPr>
            <a:r>
              <a:rPr lang="en-GB" altLang="en-US" sz="1000" i="1" dirty="0">
                <a:cs typeface="Times New Roman" panose="02020603050405020304" pitchFamily="18" charset="0"/>
              </a:rPr>
              <a:t>	K</a:t>
            </a:r>
            <a:r>
              <a:rPr lang="en-GB" altLang="en-US" sz="1000" baseline="-25000" dirty="0">
                <a:cs typeface="Times New Roman" panose="02020603050405020304" pitchFamily="18" charset="0"/>
              </a:rPr>
              <a:t>0  </a:t>
            </a:r>
            <a:r>
              <a:rPr lang="en-GB" altLang="en-US" sz="1000" dirty="0">
                <a:cs typeface="Times New Roman" panose="02020603050405020304" pitchFamily="18" charset="0"/>
              </a:rPr>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V</a:t>
            </a:r>
            <a:r>
              <a:rPr lang="en-GB" altLang="en-US" sz="1000" dirty="0">
                <a:cs typeface="Times New Roman" panose="02020603050405020304" pitchFamily="18" charset="0"/>
              </a:rPr>
              <a:t>  =  </a:t>
            </a:r>
            <a:r>
              <a:rPr lang="en-GB" altLang="en-US" sz="1000" spc="150" baseline="0" dirty="0">
                <a:cs typeface="Times New Roman" panose="02020603050405020304" pitchFamily="18" charset="0"/>
              </a:rPr>
              <a:t>[</a:t>
            </a:r>
            <a:r>
              <a:rPr lang="el-GR" altLang="en-US" sz="1000" i="1" spc="150" baseline="0"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spc="150" baseline="0" dirty="0">
                <a:cs typeface="Times New Roman" panose="02020603050405020304" pitchFamily="18" charset="0"/>
              </a:rPr>
              <a:t>/(1-</a:t>
            </a:r>
            <a:r>
              <a:rPr lang="el-GR" altLang="en-US" sz="1000" i="1" spc="150" baseline="0"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spc="150" baseline="0" dirty="0">
                <a:cs typeface="Times New Roman" panose="02020603050405020304" pitchFamily="18" charset="0"/>
              </a:rPr>
              <a:t>)]</a:t>
            </a:r>
          </a:p>
          <a:p>
            <a:pPr marL="108000" indent="0">
              <a:lnSpc>
                <a:spcPct val="100000"/>
              </a:lnSpc>
              <a:spcBef>
                <a:spcPts val="300"/>
              </a:spcBef>
              <a:buFont typeface="Arial" panose="020B0604020202020204" pitchFamily="34" charset="0"/>
              <a:buNone/>
            </a:pPr>
            <a:r>
              <a:rPr lang="en-US" altLang="en-US" sz="1000" dirty="0">
                <a:cs typeface="Times New Roman" panose="02020603050405020304" pitchFamily="18" charset="0"/>
              </a:rPr>
              <a:t>w</a:t>
            </a:r>
            <a:r>
              <a:rPr lang="en-GB" altLang="en-US" sz="1000" dirty="0">
                <a:cs typeface="Times New Roman" panose="02020603050405020304" pitchFamily="18" charset="0"/>
              </a:rPr>
              <a:t>here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i="1" dirty="0">
                <a:cs typeface="Times New Roman" panose="02020603050405020304" pitchFamily="18" charset="0"/>
              </a:rPr>
              <a:t> </a:t>
            </a:r>
            <a:r>
              <a:rPr lang="en-GB" altLang="en-US" sz="1000" dirty="0">
                <a:cs typeface="Times New Roman" panose="02020603050405020304" pitchFamily="18" charset="0"/>
              </a:rPr>
              <a:t>is Poisson’s ratio (this is the uniaxial strain reference</a:t>
            </a:r>
            <a:r>
              <a:rPr lang="en-US" altLang="en-US" sz="1000" dirty="0">
                <a:cs typeface="Times New Roman" panose="02020603050405020304" pitchFamily="18" charset="0"/>
              </a:rPr>
              <a:t> state, see Class 5 Slide 29). But for materials with zero cohesive strength, we may also write for frictional sliding on normal faults</a:t>
            </a:r>
          </a:p>
          <a:p>
            <a:pPr marL="0" indent="0">
              <a:lnSpc>
                <a:spcPct val="100000"/>
              </a:lnSpc>
              <a:spcBef>
                <a:spcPts val="600"/>
              </a:spcBef>
              <a:spcAft>
                <a:spcPts val="600"/>
              </a:spcAft>
              <a:buFont typeface="Arial" panose="020B0604020202020204" pitchFamily="34" charset="0"/>
              <a:buNone/>
            </a:pPr>
            <a:r>
              <a:rPr lang="en-US" altLang="en-US" sz="1000" i="1" dirty="0">
                <a:latin typeface="Cambria Math" panose="02040503050406030204" pitchFamily="18" charset="0"/>
                <a:ea typeface="Cambria Math" panose="02040503050406030204" pitchFamily="18" charset="0"/>
                <a:cs typeface="Times New Roman" panose="02020603050405020304" pitchFamily="18" charset="0"/>
              </a:rPr>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V</a:t>
            </a:r>
            <a:r>
              <a:rPr lang="en-GB" altLang="en-US" sz="1000" dirty="0">
                <a:cs typeface="Times New Roman" panose="02020603050405020304" pitchFamily="18" charset="0"/>
              </a:rPr>
              <a:t>  =  </a:t>
            </a:r>
            <a:r>
              <a:rPr lang="en-GB" altLang="en-US" sz="1000" spc="150" dirty="0">
                <a:cs typeface="Times New Roman" panose="02020603050405020304" pitchFamily="18" charset="0"/>
              </a:rPr>
              <a:t>[(1+</a:t>
            </a:r>
            <a:r>
              <a:rPr lang="en-GB" altLang="en-US" sz="1000" i="1" spc="150" dirty="0">
                <a:latin typeface="Cambria Math" panose="02040503050406030204" pitchFamily="18" charset="0"/>
                <a:ea typeface="Cambria Math" panose="02040503050406030204" pitchFamily="18" charset="0"/>
                <a:cs typeface="Times New Roman" panose="02020603050405020304" pitchFamily="18" charset="0"/>
              </a:rPr>
              <a:t>µ</a:t>
            </a:r>
            <a:r>
              <a:rPr lang="en-GB" altLang="en-US" sz="1000" spc="150" baseline="30000" dirty="0">
                <a:cs typeface="Times New Roman" panose="02020603050405020304" pitchFamily="18" charset="0"/>
              </a:rPr>
              <a:t>2</a:t>
            </a:r>
            <a:r>
              <a:rPr lang="en-GB" altLang="en-US" sz="1000" dirty="0">
                <a:cs typeface="Times New Roman" panose="02020603050405020304" pitchFamily="18" charset="0"/>
              </a:rPr>
              <a:t>)</a:t>
            </a:r>
            <a:r>
              <a:rPr lang="en-GB" altLang="en-US" sz="1000" baseline="30000" dirty="0">
                <a:cs typeface="Times New Roman" panose="02020603050405020304" pitchFamily="18" charset="0"/>
              </a:rPr>
              <a:t>½</a:t>
            </a:r>
            <a:r>
              <a:rPr lang="en-GB" altLang="en-US" sz="1000" dirty="0">
                <a:cs typeface="Times New Roman" panose="02020603050405020304" pitchFamily="18" charset="0"/>
              </a:rPr>
              <a:t> - </a:t>
            </a:r>
            <a:r>
              <a:rPr lang="en-GB" altLang="en-US" sz="1000" i="1" spc="150" baseline="0" dirty="0">
                <a:latin typeface="Cambria Math" panose="02040503050406030204" pitchFamily="18" charset="0"/>
                <a:ea typeface="Cambria Math" panose="02040503050406030204" pitchFamily="18" charset="0"/>
                <a:cs typeface="Times New Roman" panose="02020603050405020304" pitchFamily="18" charset="0"/>
              </a:rPr>
              <a:t>µ</a:t>
            </a:r>
            <a:r>
              <a:rPr lang="en-GB" altLang="en-US" sz="1000" dirty="0">
                <a:cs typeface="Times New Roman" panose="02020603050405020304" pitchFamily="18" charset="0"/>
              </a:rPr>
              <a:t>]</a:t>
            </a:r>
            <a:r>
              <a:rPr lang="en-GB" altLang="en-US" sz="1000" baseline="30000" dirty="0">
                <a:cs typeface="Times New Roman" panose="02020603050405020304" pitchFamily="18" charset="0"/>
              </a:rPr>
              <a:t>2</a:t>
            </a:r>
            <a:endParaRPr lang="en-US" altLang="en-US" sz="1000" baseline="30000" dirty="0">
              <a:cs typeface="Times New Roman" panose="02020603050405020304" pitchFamily="18" charset="0"/>
            </a:endParaRPr>
          </a:p>
          <a:p>
            <a:pPr marL="108000" indent="0">
              <a:lnSpc>
                <a:spcPct val="100000"/>
              </a:lnSpc>
              <a:spcBef>
                <a:spcPts val="30"/>
              </a:spcBef>
              <a:buFont typeface="Arial" panose="020B0604020202020204" pitchFamily="34" charset="0"/>
              <a:buNone/>
            </a:pPr>
            <a:r>
              <a:rPr lang="en-US" altLang="en-US" sz="1000" dirty="0">
                <a:cs typeface="Times New Roman" panose="02020603050405020304" pitchFamily="18" charset="0"/>
              </a:rPr>
              <a:t>where </a:t>
            </a:r>
            <a:r>
              <a:rPr lang="en-GB" altLang="en-US" sz="1000" i="1" dirty="0">
                <a:latin typeface="Cambria Math" panose="02040503050406030204" pitchFamily="18" charset="0"/>
                <a:ea typeface="Cambria Math" panose="02040503050406030204" pitchFamily="18" charset="0"/>
                <a:cs typeface="Times New Roman" panose="02020603050405020304" pitchFamily="18" charset="0"/>
              </a:rPr>
              <a:t>µ</a:t>
            </a:r>
            <a:r>
              <a:rPr lang="en-US" altLang="en-US" sz="1000" dirty="0">
                <a:cs typeface="Times New Roman" panose="02020603050405020304" pitchFamily="18" charset="0"/>
              </a:rPr>
              <a:t> is the coefficient of friction (the derivation of this relationship comes from the geometry of the Mohr circle diagram shown on Class 7 Slide 22, with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V</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1</a:t>
            </a:r>
            <a:r>
              <a:rPr lang="en-GB" altLang="en-US" sz="1000" dirty="0">
                <a:cs typeface="Times New Roman" panose="02020603050405020304" pitchFamily="18" charset="0"/>
              </a:rPr>
              <a:t> and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H</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3</a:t>
            </a:r>
            <a:r>
              <a:rPr lang="en-US" altLang="en-US" sz="1000" dirty="0">
                <a:cs typeface="Times New Roman" panose="02020603050405020304" pitchFamily="18" charset="0"/>
              </a:rPr>
              <a:t> – see Class 7 Slide 23). Slip on the normal faults occurs if</a:t>
            </a:r>
          </a:p>
          <a:p>
            <a:pPr marL="0" indent="0">
              <a:lnSpc>
                <a:spcPct val="100000"/>
              </a:lnSpc>
              <a:spcBef>
                <a:spcPts val="600"/>
              </a:spcBef>
              <a:spcAft>
                <a:spcPts val="600"/>
              </a:spcAft>
              <a:buFont typeface="Arial" panose="020B0604020202020204" pitchFamily="34" charset="0"/>
              <a:buNone/>
            </a:pPr>
            <a:r>
              <a:rPr lang="en-US" altLang="en-US" sz="1000" i="1" dirty="0">
                <a:cs typeface="Times New Roman" panose="02020603050405020304" pitchFamily="18" charset="0"/>
              </a:rPr>
              <a:t>	</a:t>
            </a:r>
            <a:r>
              <a:rPr lang="en-GB" altLang="en-US" sz="1000" i="1" dirty="0">
                <a:cs typeface="Times New Roman" panose="02020603050405020304" pitchFamily="18" charset="0"/>
              </a:rPr>
              <a:t>K</a:t>
            </a:r>
            <a:r>
              <a:rPr lang="en-GB" altLang="en-US" sz="1000" baseline="-25000" dirty="0">
                <a:cs typeface="Times New Roman" panose="02020603050405020304" pitchFamily="18" charset="0"/>
              </a:rPr>
              <a:t>0  </a:t>
            </a:r>
            <a:r>
              <a:rPr lang="en-GB" altLang="en-US" sz="1000" dirty="0">
                <a:cs typeface="Times New Roman" panose="02020603050405020304" pitchFamily="18" charset="0"/>
              </a:rPr>
              <a:t>&lt;  </a:t>
            </a:r>
            <a:r>
              <a:rPr lang="en-GB" altLang="en-US" sz="1000" spc="150" dirty="0">
                <a:cs typeface="Times New Roman" panose="02020603050405020304" pitchFamily="18" charset="0"/>
              </a:rPr>
              <a:t>[(1+</a:t>
            </a:r>
            <a:r>
              <a:rPr lang="en-GB" altLang="en-US" sz="1000" i="1" spc="150" dirty="0">
                <a:latin typeface="Cambria Math" panose="02040503050406030204" pitchFamily="18" charset="0"/>
                <a:ea typeface="Cambria Math" panose="02040503050406030204" pitchFamily="18" charset="0"/>
                <a:cs typeface="Times New Roman" panose="02020603050405020304" pitchFamily="18" charset="0"/>
              </a:rPr>
              <a:t>µ</a:t>
            </a:r>
            <a:r>
              <a:rPr lang="en-GB" altLang="en-US" sz="1000" spc="150" baseline="30000" dirty="0">
                <a:cs typeface="Times New Roman" panose="02020603050405020304" pitchFamily="18" charset="0"/>
              </a:rPr>
              <a:t>2</a:t>
            </a:r>
            <a:r>
              <a:rPr lang="en-GB" altLang="en-US" sz="1000" dirty="0">
                <a:cs typeface="Times New Roman" panose="02020603050405020304" pitchFamily="18" charset="0"/>
              </a:rPr>
              <a:t>)</a:t>
            </a:r>
            <a:r>
              <a:rPr lang="en-GB" altLang="en-US" sz="1000" baseline="30000" dirty="0">
                <a:cs typeface="Times New Roman" panose="02020603050405020304" pitchFamily="18" charset="0"/>
              </a:rPr>
              <a:t>½</a:t>
            </a:r>
            <a:r>
              <a:rPr lang="en-GB" altLang="en-US" sz="1000" dirty="0">
                <a:cs typeface="Times New Roman" panose="02020603050405020304" pitchFamily="18" charset="0"/>
              </a:rPr>
              <a:t> - </a:t>
            </a:r>
            <a:r>
              <a:rPr lang="en-GB" altLang="en-US" sz="1000" i="1" spc="150" baseline="0" dirty="0">
                <a:latin typeface="Cambria Math" panose="02040503050406030204" pitchFamily="18" charset="0"/>
                <a:ea typeface="Cambria Math" panose="02040503050406030204" pitchFamily="18" charset="0"/>
                <a:cs typeface="Times New Roman" panose="02020603050405020304" pitchFamily="18" charset="0"/>
              </a:rPr>
              <a:t>µ</a:t>
            </a:r>
            <a:r>
              <a:rPr lang="en-GB" altLang="en-US" sz="1000" dirty="0">
                <a:cs typeface="Times New Roman" panose="02020603050405020304" pitchFamily="18" charset="0"/>
              </a:rPr>
              <a:t>]</a:t>
            </a:r>
            <a:r>
              <a:rPr lang="en-GB" altLang="en-US" sz="1000" baseline="30000" dirty="0">
                <a:cs typeface="Times New Roman" panose="02020603050405020304" pitchFamily="18" charset="0"/>
              </a:rPr>
              <a:t>2</a:t>
            </a:r>
            <a:endParaRPr lang="en-GB" altLang="en-US" sz="1000" dirty="0">
              <a:cs typeface="Times New Roman" panose="02020603050405020304" pitchFamily="18" charset="0"/>
            </a:endParaRPr>
          </a:p>
          <a:p>
            <a:pPr marL="108000" lvl="1" indent="0">
              <a:lnSpc>
                <a:spcPct val="100000"/>
              </a:lnSpc>
              <a:spcBef>
                <a:spcPts val="30"/>
              </a:spcBef>
              <a:buFont typeface="Arial" panose="020B0604020202020204" pitchFamily="34" charset="0"/>
              <a:buNone/>
            </a:pPr>
            <a:r>
              <a:rPr lang="en-US" altLang="en-US" sz="1000" dirty="0">
                <a:cs typeface="Times New Roman" panose="02020603050405020304" pitchFamily="18" charset="0"/>
              </a:rPr>
              <a:t>For clay-rich lithologies </a:t>
            </a:r>
            <a:r>
              <a:rPr lang="en-US" altLang="en-US" sz="1000" i="1" dirty="0">
                <a:cs typeface="Times New Roman" panose="02020603050405020304" pitchFamily="18" charset="0"/>
              </a:rPr>
              <a:t>K</a:t>
            </a:r>
            <a:r>
              <a:rPr lang="en-US" altLang="en-US" sz="1000" baseline="-25000" dirty="0">
                <a:cs typeface="Times New Roman" panose="02020603050405020304" pitchFamily="18" charset="0"/>
              </a:rPr>
              <a:t>0</a:t>
            </a:r>
            <a:r>
              <a:rPr lang="en-US" altLang="en-US" sz="1000" dirty="0">
                <a:cs typeface="Times New Roman" panose="02020603050405020304" pitchFamily="18" charset="0"/>
              </a:rPr>
              <a:t> ~ 0.7 and </a:t>
            </a:r>
            <a:r>
              <a:rPr lang="en-US" altLang="en-US" sz="1000" i="1" dirty="0">
                <a:cs typeface="Times New Roman" panose="02020603050405020304" pitchFamily="18" charset="0"/>
              </a:rPr>
              <a:t>µ</a:t>
            </a:r>
            <a:r>
              <a:rPr lang="en-US" altLang="en-US" sz="1000" dirty="0">
                <a:cs typeface="Times New Roman" panose="02020603050405020304" pitchFamily="18" charset="0"/>
              </a:rPr>
              <a:t> ~ 0.1 and so this inequality is satisfied (0.7 &lt; 0.819) and so slip occurs; in other lithologies </a:t>
            </a:r>
            <a:r>
              <a:rPr lang="en-US" altLang="en-US" sz="1000" i="1" dirty="0">
                <a:cs typeface="Times New Roman" panose="02020603050405020304" pitchFamily="18" charset="0"/>
              </a:rPr>
              <a:t>K</a:t>
            </a:r>
            <a:r>
              <a:rPr lang="en-US" altLang="en-US" sz="1000" baseline="-25000" dirty="0">
                <a:cs typeface="Times New Roman" panose="02020603050405020304" pitchFamily="18" charset="0"/>
              </a:rPr>
              <a:t>0</a:t>
            </a:r>
            <a:r>
              <a:rPr lang="en-US" altLang="en-US" sz="1000" dirty="0">
                <a:cs typeface="Times New Roman" panose="02020603050405020304" pitchFamily="18" charset="0"/>
              </a:rPr>
              <a:t> is smaller and </a:t>
            </a:r>
            <a:r>
              <a:rPr lang="en-GB" altLang="en-US" sz="1000" i="1" dirty="0">
                <a:latin typeface="Cambria Math" panose="02040503050406030204" pitchFamily="18" charset="0"/>
                <a:ea typeface="Cambria Math" panose="02040503050406030204" pitchFamily="18" charset="0"/>
                <a:cs typeface="Times New Roman" panose="02020603050405020304" pitchFamily="18" charset="0"/>
              </a:rPr>
              <a:t>µ</a:t>
            </a:r>
            <a:r>
              <a:rPr lang="en-US" altLang="en-US" sz="1000" dirty="0">
                <a:cs typeface="Times New Roman" panose="02020603050405020304" pitchFamily="18" charset="0"/>
              </a:rPr>
              <a:t> is larger (typically </a:t>
            </a:r>
            <a:r>
              <a:rPr lang="en-US" altLang="en-US" sz="1000" i="1" dirty="0">
                <a:cs typeface="Times New Roman" panose="02020603050405020304" pitchFamily="18" charset="0"/>
              </a:rPr>
              <a:t>K</a:t>
            </a:r>
            <a:r>
              <a:rPr lang="en-US" altLang="en-US" sz="1000" baseline="-25000" dirty="0">
                <a:cs typeface="Times New Roman" panose="02020603050405020304" pitchFamily="18" charset="0"/>
              </a:rPr>
              <a:t>0</a:t>
            </a:r>
            <a:r>
              <a:rPr lang="en-US" altLang="en-US" sz="1000" dirty="0">
                <a:cs typeface="Times New Roman" panose="02020603050405020304" pitchFamily="18" charset="0"/>
              </a:rPr>
              <a:t> ~ 0.4 and </a:t>
            </a:r>
            <a:r>
              <a:rPr lang="en-GB" altLang="en-US" sz="1000" i="1" dirty="0">
                <a:latin typeface="Cambria Math" panose="02040503050406030204" pitchFamily="18" charset="0"/>
                <a:ea typeface="Cambria Math" panose="02040503050406030204" pitchFamily="18" charset="0"/>
                <a:cs typeface="Times New Roman" panose="02020603050405020304" pitchFamily="18" charset="0"/>
              </a:rPr>
              <a:t>µ</a:t>
            </a:r>
            <a:r>
              <a:rPr lang="en-US" altLang="en-US" sz="1000" dirty="0">
                <a:cs typeface="Times New Roman" panose="02020603050405020304" pitchFamily="18" charset="0"/>
              </a:rPr>
              <a:t> ~ 0.6) and so the inequality is not satisfied (slip does not occur). For this model, see </a:t>
            </a:r>
            <a:r>
              <a:rPr lang="en-GB" altLang="en-US" sz="1000" dirty="0" err="1"/>
              <a:t>Goulty</a:t>
            </a:r>
            <a:r>
              <a:rPr lang="en-GB" altLang="en-US" sz="1000" dirty="0"/>
              <a:t> &amp; Swarbrick, 200</a:t>
            </a:r>
            <a:r>
              <a:rPr lang="en-US" altLang="en-US" sz="1000" dirty="0"/>
              <a:t>5</a:t>
            </a:r>
            <a:r>
              <a:rPr lang="en-GB" altLang="en-US" sz="1000" dirty="0"/>
              <a:t>, </a:t>
            </a:r>
            <a:r>
              <a:rPr lang="en-GB" altLang="en-US" sz="1000" i="1" dirty="0"/>
              <a:t>Journal of the Geological Society, London</a:t>
            </a:r>
            <a:r>
              <a:rPr lang="en-GB" altLang="en-US" sz="1000" dirty="0"/>
              <a:t> 1</a:t>
            </a:r>
            <a:r>
              <a:rPr lang="en-US" altLang="en-US" sz="1000" dirty="0"/>
              <a:t>62</a:t>
            </a:r>
            <a:r>
              <a:rPr lang="en-GB" altLang="en-US" sz="1000" dirty="0"/>
              <a:t>: </a:t>
            </a:r>
            <a:r>
              <a:rPr lang="en-US" altLang="en-US" sz="1000" dirty="0"/>
              <a:t>587-590, </a:t>
            </a:r>
            <a:r>
              <a:rPr lang="en-GB" sz="1000" dirty="0"/>
              <a:t>https://doi.org/10.1144/0016-764905-004</a:t>
            </a:r>
            <a:r>
              <a:rPr lang="en-GB" altLang="en-US" sz="1000" dirty="0"/>
              <a:t>. Clay mineral rich lithologies commonly have anomalously small coefficients of friction compared with most lithologies (see Class 7 Slide 25)</a:t>
            </a:r>
          </a:p>
          <a:p>
            <a:pPr marL="108000" indent="-108000">
              <a:lnSpc>
                <a:spcPct val="100000"/>
              </a:lnSpc>
              <a:spcBef>
                <a:spcPts val="300"/>
              </a:spcBef>
              <a:buFont typeface="Arial" panose="020B0604020202020204" pitchFamily="34" charset="0"/>
              <a:buChar char="•"/>
            </a:pPr>
            <a:r>
              <a:rPr lang="en-GB" altLang="en-US" sz="1000" dirty="0"/>
              <a:t>The explanation of the formation of polygonal faults that is based on volume contraction focuses on volume contraction by the removal of porosity. Historically, particular attention has been given to syneresis, that is, to fractures opened up when fine particles coagulate when subjected to electrostatic or osmotic forces of attraction. However, interparticle forces of attraction are very weak compared with confining pressures once the sediment has been buried to depths of more than a few tens of metres, and so attention has switched away from syneresis and on to the onset of diagenetic reactions (particularly those involving dissolution) as a way of promoting pore collapse and matrix contraction</a:t>
            </a:r>
          </a:p>
          <a:p>
            <a:pPr marL="108000" indent="-108000">
              <a:lnSpc>
                <a:spcPct val="100000"/>
              </a:lnSpc>
              <a:spcBef>
                <a:spcPts val="300"/>
              </a:spcBef>
              <a:buFont typeface="Arial" panose="020B0604020202020204" pitchFamily="34" charset="0"/>
              <a:buChar char="•"/>
            </a:pPr>
            <a:r>
              <a:rPr lang="en-GB" altLang="en-US" sz="1000" dirty="0"/>
              <a:t>The layer bound nature of polygonal fault systems with no comparable deformation features in the overlying and underlying units has been used to argue that they are not tectonic structures. However, </a:t>
            </a:r>
            <a:r>
              <a:rPr lang="en-GB" altLang="en-US" sz="1000" dirty="0" err="1"/>
              <a:t>syntectonic</a:t>
            </a:r>
            <a:r>
              <a:rPr lang="en-GB" altLang="en-US" sz="1000" dirty="0"/>
              <a:t> polygonal normal fault sets have been reported (see </a:t>
            </a:r>
            <a:r>
              <a:rPr lang="en-GB" altLang="en-US" sz="1000" dirty="0" err="1"/>
              <a:t>Petracchini</a:t>
            </a:r>
            <a:r>
              <a:rPr lang="en-GB" altLang="en-US" sz="1000" dirty="0"/>
              <a:t> </a:t>
            </a:r>
            <a:r>
              <a:rPr lang="en-GB" altLang="en-US" sz="1000" i="1" dirty="0"/>
              <a:t>et al.</a:t>
            </a:r>
            <a:r>
              <a:rPr lang="en-GB" altLang="en-US" sz="1000" dirty="0"/>
              <a:t>, 2015, </a:t>
            </a:r>
            <a:r>
              <a:rPr lang="en-GB" altLang="en-US" sz="1000" i="1" dirty="0"/>
              <a:t>Frontiers in Earth Science</a:t>
            </a:r>
            <a:r>
              <a:rPr lang="en-GB" altLang="en-US" sz="1000" dirty="0"/>
              <a:t> 3, article 67, </a:t>
            </a:r>
            <a:r>
              <a:rPr lang="en-GB" sz="1000" dirty="0"/>
              <a:t>https://doi.org/10.3389/feart.2015.00067</a:t>
            </a:r>
            <a:r>
              <a:rPr lang="en-GB" altLang="en-US" sz="1000" dirty="0"/>
              <a:t>)</a:t>
            </a:r>
          </a:p>
          <a:p>
            <a:pPr marL="108000" indent="-108000">
              <a:lnSpc>
                <a:spcPct val="100000"/>
              </a:lnSpc>
              <a:spcBef>
                <a:spcPts val="300"/>
              </a:spcBef>
              <a:buFont typeface="Arial" panose="020B0604020202020204" pitchFamily="34" charset="0"/>
              <a:buChar char="•"/>
            </a:pPr>
            <a:r>
              <a:rPr lang="en-GB" altLang="en-US" sz="1000" dirty="0"/>
              <a:t>Figure top left (from </a:t>
            </a:r>
            <a:r>
              <a:rPr lang="en-GB" altLang="en-US" sz="1000" dirty="0" err="1"/>
              <a:t>Petracchini</a:t>
            </a:r>
            <a:r>
              <a:rPr lang="en-GB" altLang="en-US" sz="1000" dirty="0"/>
              <a:t> </a:t>
            </a:r>
            <a:r>
              <a:rPr lang="en-GB" altLang="en-US" sz="1000" i="1" dirty="0"/>
              <a:t>et al.</a:t>
            </a:r>
            <a:r>
              <a:rPr lang="en-GB" altLang="en-US" sz="1000" dirty="0"/>
              <a:t>, 2015, </a:t>
            </a:r>
            <a:r>
              <a:rPr lang="en-GB" altLang="en-US" sz="1000" i="1" dirty="0"/>
              <a:t>Frontiers in Earth Science</a:t>
            </a:r>
            <a:r>
              <a:rPr lang="en-GB" altLang="en-US" sz="1000" dirty="0"/>
              <a:t> 3, article 67, </a:t>
            </a:r>
            <a:r>
              <a:rPr lang="en-GB" sz="1000" dirty="0"/>
              <a:t>https://doi.org/10.3389/feart.2015.00067</a:t>
            </a:r>
            <a:r>
              <a:rPr lang="en-GB" altLang="en-US" sz="1000" dirty="0"/>
              <a:t>)</a:t>
            </a:r>
          </a:p>
          <a:p>
            <a:pPr marL="108000" indent="-108000">
              <a:lnSpc>
                <a:spcPct val="100000"/>
              </a:lnSpc>
              <a:spcBef>
                <a:spcPts val="300"/>
              </a:spcBef>
              <a:buFont typeface="Arial" panose="020B0604020202020204" pitchFamily="34" charset="0"/>
              <a:buChar char="•"/>
            </a:pPr>
            <a:r>
              <a:rPr lang="en-GB" altLang="en-US" sz="1000" dirty="0"/>
              <a:t>Photo bottom right (Steve Covey-Crump): polygonal fractures developed in mudstone units within the </a:t>
            </a:r>
            <a:r>
              <a:rPr lang="en-GB" altLang="en-US" sz="1000" dirty="0" err="1"/>
              <a:t>Bishopton</a:t>
            </a:r>
            <a:r>
              <a:rPr lang="en-GB" altLang="en-US" sz="1000" dirty="0"/>
              <a:t> Mudstone Formation, </a:t>
            </a:r>
            <a:r>
              <a:rPr lang="en-GB" altLang="en-US" sz="1000" dirty="0" err="1"/>
              <a:t>Telpyn</a:t>
            </a:r>
            <a:r>
              <a:rPr lang="en-GB" altLang="en-US" sz="1000" dirty="0"/>
              <a:t> Point, </a:t>
            </a:r>
            <a:r>
              <a:rPr lang="en-GB" altLang="en-US" sz="1000" dirty="0" err="1"/>
              <a:t>Amroth</a:t>
            </a:r>
            <a:r>
              <a:rPr lang="en-GB" altLang="en-US" sz="1000" dirty="0"/>
              <a:t>, Pembrokeshire. Whether these polygonal fractures are a small-scale version of polygonal fault systems or just some weathering curiosity needs to be established</a:t>
            </a:r>
          </a:p>
          <a:p>
            <a:pPr marL="0" indent="0">
              <a:lnSpc>
                <a:spcPct val="80000"/>
              </a:lnSpc>
              <a:buFont typeface="Arial" panose="020B0604020202020204" pitchFamily="34" charset="0"/>
              <a:buNone/>
            </a:pPr>
            <a:endParaRPr lang="en-GB" altLang="en-US" sz="10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1C0627EE-7828-423C-A169-66BF1F71C4DC}"/>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EEB0B32C-ABAE-49ED-A452-92EBC013FDD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a discussion of the significance of inversion in petroleum exploration, see Cooper &amp; Warren, 2010, </a:t>
            </a:r>
            <a:r>
              <a:rPr lang="en-GB" altLang="en-US" sz="1000" i="1" dirty="0"/>
              <a:t>Geological Society, London, Special Publications</a:t>
            </a:r>
            <a:r>
              <a:rPr lang="en-GB" altLang="en-US" sz="1000" dirty="0"/>
              <a:t> 335: 827-846, </a:t>
            </a:r>
            <a:r>
              <a:rPr lang="en-GB" sz="1000" dirty="0"/>
              <a:t>https://doi.org/10.1144/SP335.33</a:t>
            </a:r>
            <a:endParaRPr lang="en-GB" altLang="en-US" sz="1000" dirty="0"/>
          </a:p>
          <a:p>
            <a:pPr marL="108000" indent="-108000">
              <a:spcBef>
                <a:spcPts val="300"/>
              </a:spcBef>
              <a:buFont typeface="Arial" panose="020B0604020202020204" pitchFamily="34" charset="0"/>
              <a:buChar char="•"/>
            </a:pPr>
            <a:r>
              <a:rPr lang="en-GB" altLang="en-US" sz="1000" dirty="0"/>
              <a:t>Figure from Fossen, p.373</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A6569DA3-97C3-4AA1-912C-905E8072F60A}" type="slidenum">
              <a:rPr lang="en-GB" altLang="en-US" smtClean="0"/>
              <a:pPr/>
              <a:t>21</a:t>
            </a:fld>
            <a:endParaRPr lang="en-GB" altLang="en-US"/>
          </a:p>
        </p:txBody>
      </p:sp>
    </p:spTree>
    <p:extLst>
      <p:ext uri="{BB962C8B-B14F-4D97-AF65-F5344CB8AC3E}">
        <p14:creationId xmlns:p14="http://schemas.microsoft.com/office/powerpoint/2010/main" val="11609526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BD8D7806-5F35-4E63-A998-8F768B5E7EF1}"/>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B7D145AE-B7D0-44AA-BAE9-4BA751D33288}"/>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Note that in a metamorphic core complex, on the back side of the dome the extensional faults are actually reverse faults (see Slide 9 figure right, particularly sections B and C – on the left side of the dome the extensional faults have been rotated so much by the uplift of the dome that they have become reverse faults). Similarly, normal faults can, in certain scenarios, be contractional (see Fig. 17.3 Fossen; faults in the toe of a landslip that dip down slope)</a:t>
            </a:r>
          </a:p>
          <a:p>
            <a:pPr marL="108000" indent="-108000">
              <a:spcBef>
                <a:spcPts val="300"/>
              </a:spcBef>
              <a:buFont typeface="Arial" panose="020B0604020202020204" pitchFamily="34" charset="0"/>
              <a:buChar char="•"/>
            </a:pPr>
            <a:r>
              <a:rPr lang="en-GB" altLang="en-US" sz="1000" dirty="0"/>
              <a:t>Photo (Steve Covey-Crump) showing a set of extensional faults that have lengthened the faulted layer</a:t>
            </a:r>
          </a:p>
          <a:p>
            <a:pPr marL="108000" indent="-108000">
              <a:spcBef>
                <a:spcPts val="300"/>
              </a:spcBef>
              <a:buFont typeface="Arial" panose="020B0604020202020204" pitchFamily="34" charset="0"/>
              <a:buChar char="•"/>
            </a:pPr>
            <a:r>
              <a:rPr lang="en-GB" altLang="en-US" sz="1000" dirty="0"/>
              <a:t>Figure from Fossen, p.378</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57DBE7B7-BE14-4CA8-9AC8-EB2C368F4172}"/>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ED7047A0-D9E3-48DC-8EF9-CB95FF4321B9}"/>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Note that the largest displacement extensional faults have rather less displacement than the largest displacement thrust faults (Class 7 Slide 38; Class 8 Slide 12)</a:t>
            </a:r>
          </a:p>
          <a:p>
            <a:pPr marL="108000" indent="-108000">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Gently dipping extensional faults with large displacements present a significant mechanical paradox: if </a:t>
            </a:r>
            <a:r>
              <a:rPr lang="en-GB" sz="1000" noProof="0" dirty="0">
                <a:latin typeface="Times New Roman" panose="02020603050405020304" pitchFamily="18" charset="0"/>
                <a:cs typeface="Times New Roman" panose="02020603050405020304" pitchFamily="18" charset="0"/>
              </a:rPr>
              <a:t>the rocks involved in the faulting have normal frictional properties, that is, frictional properties that follow </a:t>
            </a:r>
            <a:r>
              <a:rPr lang="en-GB" sz="1000" noProof="0" dirty="0" err="1">
                <a:latin typeface="Times New Roman" panose="02020603050405020304" pitchFamily="18" charset="0"/>
                <a:cs typeface="Times New Roman" panose="02020603050405020304" pitchFamily="18" charset="0"/>
              </a:rPr>
              <a:t>Byerlee’s</a:t>
            </a:r>
            <a:r>
              <a:rPr lang="en-GB" sz="1000" noProof="0" dirty="0">
                <a:latin typeface="Times New Roman" panose="02020603050405020304" pitchFamily="18" charset="0"/>
                <a:cs typeface="Times New Roman" panose="02020603050405020304" pitchFamily="18" charset="0"/>
              </a:rPr>
              <a:t> law (see Class 7 Slide 25), then since </a:t>
            </a:r>
            <a:r>
              <a:rPr lang="en-GB" sz="1000" i="1" noProof="0" dirty="0">
                <a:latin typeface="Times New Roman" panose="02020603050405020304" pitchFamily="18" charset="0"/>
                <a:ea typeface="Cambria Math" panose="02040503050406030204" pitchFamily="18" charset="0"/>
                <a:cs typeface="Times New Roman" panose="02020603050405020304" pitchFamily="18" charset="0"/>
              </a:rPr>
              <a:t>σ</a:t>
            </a:r>
            <a:r>
              <a:rPr lang="en-GB" sz="1000" baseline="-25000" noProof="0" dirty="0">
                <a:latin typeface="Times New Roman" panose="02020603050405020304" pitchFamily="18" charset="0"/>
                <a:cs typeface="Times New Roman" panose="02020603050405020304" pitchFamily="18" charset="0"/>
              </a:rPr>
              <a:t>1</a:t>
            </a:r>
            <a:r>
              <a:rPr lang="en-GB" sz="1000" noProof="0" dirty="0">
                <a:latin typeface="Times New Roman" panose="02020603050405020304" pitchFamily="18" charset="0"/>
                <a:cs typeface="Times New Roman" panose="02020603050405020304" pitchFamily="18" charset="0"/>
              </a:rPr>
              <a:t> is vertical in an extensional setting, they should dip at </a:t>
            </a:r>
            <a:r>
              <a:rPr lang="en-GB" sz="1000" spc="150" baseline="0" noProof="0" dirty="0">
                <a:latin typeface="Times New Roman" panose="02020603050405020304" pitchFamily="18" charset="0"/>
                <a:cs typeface="Times New Roman" panose="02020603050405020304" pitchFamily="18" charset="0"/>
              </a:rPr>
              <a:t>~</a:t>
            </a:r>
            <a:r>
              <a:rPr lang="en-GB" sz="1000" noProof="0" dirty="0">
                <a:latin typeface="Times New Roman" panose="02020603050405020304" pitchFamily="18" charset="0"/>
                <a:cs typeface="Times New Roman" panose="02020603050405020304" pitchFamily="18" charset="0"/>
              </a:rPr>
              <a:t>60° (see Class 7 Slides 22-24) – faults with dips of less than 30° are very poorly oriented if the kinds of brittle failure analysis techniques that we used in Practical 6 are to be believed. Gently-dipping extensional faults are commonly explained as being due to the presence of minerals with low coefficients of friction (</a:t>
            </a:r>
            <a:r>
              <a:rPr lang="en-GB" sz="1000" i="1" noProof="0" dirty="0">
                <a:latin typeface="Times New Roman" panose="02020603050405020304" pitchFamily="18" charset="0"/>
                <a:cs typeface="Times New Roman" panose="02020603050405020304" pitchFamily="18" charset="0"/>
              </a:rPr>
              <a:t>e.g.</a:t>
            </a:r>
            <a:r>
              <a:rPr lang="en-GB" sz="1000" i="0" noProof="0" dirty="0">
                <a:latin typeface="Times New Roman" panose="02020603050405020304" pitchFamily="18" charset="0"/>
                <a:cs typeface="Times New Roman" panose="02020603050405020304" pitchFamily="18" charset="0"/>
              </a:rPr>
              <a:t>, phyllosilicates) but this is not a very satisfactory explanation for the general case, and the matter remains something of an open question (for a survey of these issues, see </a:t>
            </a:r>
            <a:r>
              <a:rPr lang="en-GB" sz="1000" i="0" noProof="0" dirty="0" err="1">
                <a:latin typeface="Times New Roman" panose="02020603050405020304" pitchFamily="18" charset="0"/>
                <a:cs typeface="Times New Roman" panose="02020603050405020304" pitchFamily="18" charset="0"/>
              </a:rPr>
              <a:t>Colletini</a:t>
            </a:r>
            <a:r>
              <a:rPr lang="en-GB" sz="1000" i="0" noProof="0" dirty="0">
                <a:latin typeface="Times New Roman" panose="02020603050405020304" pitchFamily="18" charset="0"/>
                <a:cs typeface="Times New Roman" panose="02020603050405020304" pitchFamily="18" charset="0"/>
              </a:rPr>
              <a:t>, 2011, </a:t>
            </a:r>
            <a:r>
              <a:rPr lang="en-GB" sz="1000" i="1" noProof="0" dirty="0">
                <a:latin typeface="Times New Roman" panose="02020603050405020304" pitchFamily="18" charset="0"/>
                <a:cs typeface="Times New Roman" panose="02020603050405020304" pitchFamily="18" charset="0"/>
              </a:rPr>
              <a:t>Tectonophysics</a:t>
            </a:r>
            <a:r>
              <a:rPr lang="en-GB" sz="1000" i="0" noProof="0" dirty="0">
                <a:latin typeface="Times New Roman" panose="02020603050405020304" pitchFamily="18" charset="0"/>
                <a:cs typeface="Times New Roman" panose="02020603050405020304" pitchFamily="18" charset="0"/>
              </a:rPr>
              <a:t> 510: 253-268, </a:t>
            </a:r>
            <a:r>
              <a:rPr lang="en-GB" sz="1000" noProof="0" dirty="0">
                <a:latin typeface="Times New Roman" panose="02020603050405020304" pitchFamily="18" charset="0"/>
                <a:cs typeface="Times New Roman" panose="02020603050405020304" pitchFamily="18" charset="0"/>
              </a:rPr>
              <a:t>https://doi.org/</a:t>
            </a:r>
            <a:r>
              <a:rPr lang="en-GB" sz="1000" b="0" i="0" u="none" strike="noStrike" baseline="0" noProof="0" dirty="0">
                <a:solidFill>
                  <a:srgbClr val="0000FF"/>
                </a:solidFill>
                <a:latin typeface="Times New Roman" panose="02020603050405020304" pitchFamily="18" charset="0"/>
                <a:cs typeface="Times New Roman" panose="02020603050405020304" pitchFamily="18" charset="0"/>
              </a:rPr>
              <a:t>10.1016/j.tecto.2011.07.015). For a more imaginative solution that has been applied to the Whipple Mountain detachment, see Axen, 2020, </a:t>
            </a:r>
            <a:r>
              <a:rPr lang="en-GB" sz="1000" b="0" i="1" u="none" strike="noStrike" baseline="0" noProof="0" dirty="0">
                <a:solidFill>
                  <a:srgbClr val="0000FF"/>
                </a:solidFill>
                <a:latin typeface="Times New Roman" panose="02020603050405020304" pitchFamily="18" charset="0"/>
                <a:cs typeface="Times New Roman" panose="02020603050405020304" pitchFamily="18" charset="0"/>
              </a:rPr>
              <a:t>Geological Society of America Bulletin</a:t>
            </a:r>
            <a:r>
              <a:rPr lang="en-GB" sz="1000" b="0" i="0" u="none" strike="noStrike" baseline="0" noProof="0" dirty="0">
                <a:solidFill>
                  <a:srgbClr val="0000FF"/>
                </a:solidFill>
                <a:latin typeface="Times New Roman" panose="02020603050405020304" pitchFamily="18" charset="0"/>
                <a:cs typeface="Times New Roman" panose="02020603050405020304" pitchFamily="18" charset="0"/>
              </a:rPr>
              <a:t> 132: 1817-1828, </a:t>
            </a:r>
            <a:r>
              <a:rPr lang="en-GB" sz="1000" b="0" i="0" u="none" strike="noStrike" baseline="0" noProof="0" dirty="0">
                <a:solidFill>
                  <a:srgbClr val="000000"/>
                </a:solidFill>
                <a:latin typeface="Times New Roman" panose="02020603050405020304" pitchFamily="18" charset="0"/>
                <a:cs typeface="Times New Roman" panose="02020603050405020304" pitchFamily="18" charset="0"/>
              </a:rPr>
              <a:t>https://doi.org/10.1130/B35386.1</a:t>
            </a:r>
            <a:endParaRPr lang="en-GB" sz="1000" noProof="0" dirty="0"/>
          </a:p>
          <a:p>
            <a:pPr marL="108000" indent="-108000">
              <a:buFont typeface="Arial" panose="020B0604020202020204" pitchFamily="34" charset="0"/>
              <a:buChar char="•"/>
            </a:pPr>
            <a:r>
              <a:rPr lang="en-GB" sz="1000" noProof="0" dirty="0"/>
              <a:t>A jump in metamorphic grade across a fault can be used to establish whether the fault is extensional or not (see Wheeler &amp; Butler, 1994, </a:t>
            </a:r>
            <a:r>
              <a:rPr lang="en-GB" sz="1000" i="1" noProof="0" dirty="0"/>
              <a:t>Journal of Structural Geology</a:t>
            </a:r>
            <a:r>
              <a:rPr lang="en-GB" sz="1000" noProof="0" dirty="0"/>
              <a:t> 16: 1023-1027, https://doi.org/10.1016/0191-8141(94)90083-3), and this is particularly useful in analysing the sense of movement of exhumed lower and mid-crustal faults – note that there should be a sharp change from high grade in the footwall to lower grade in the hanging wall if the fault is a large displacement extensional fault</a:t>
            </a:r>
            <a:endParaRPr lang="en-GB" sz="1000" noProof="0" dirty="0">
              <a:latin typeface="Times New Roman" panose="02020603050405020304" pitchFamily="18" charset="0"/>
              <a:cs typeface="Times New Roman" panose="02020603050405020304" pitchFamily="18" charset="0"/>
            </a:endParaRPr>
          </a:p>
          <a:p>
            <a:pPr marL="108000" indent="-108000">
              <a:buFont typeface="Arial" panose="020B0604020202020204" pitchFamily="34" charset="0"/>
              <a:buChar char="•"/>
            </a:pPr>
            <a:endParaRPr lang="en-GB" sz="1000" noProof="0" dirty="0"/>
          </a:p>
          <a:p>
            <a:pPr marL="108000" indent="-108000">
              <a:buFont typeface="Arial" panose="020B0604020202020204" pitchFamily="34" charset="0"/>
              <a:buChar char="•"/>
            </a:pPr>
            <a:r>
              <a:rPr lang="en-GB" sz="1000" noProof="0" dirty="0"/>
              <a:t>Photo (from instruct.uwo.ca/earth-sci/</a:t>
            </a:r>
            <a:r>
              <a:rPr lang="en-GB" sz="1000" noProof="0" dirty="0" err="1"/>
              <a:t>fieldlog</a:t>
            </a:r>
            <a:r>
              <a:rPr lang="en-GB" sz="1000" noProof="0" dirty="0"/>
              <a:t>/cargo/phot/wippleklippe3.jpg) showing the Whipple Mountain detachment – the fault is the obvious contact between the dark-coloured Tertiary units above and lighter coloured mylonitic gneisses beneath. The total slip on the fault system is estimated to be 40-50 km although the currently exposed fault seen here may have had less</a:t>
            </a:r>
            <a:r>
              <a:rPr lang="en-GB" altLang="en-US" sz="1000" dirty="0"/>
              <a:t>. Whipple Mountain is an example of a metamorphic core complex</a:t>
            </a:r>
          </a:p>
          <a:p>
            <a:pPr marL="0" indent="0">
              <a:buFont typeface="Arial" panose="020B0604020202020204" pitchFamily="34" charset="0"/>
              <a:buNone/>
            </a:pPr>
            <a:endParaRPr lang="en-GB" altLang="en-US" sz="10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323CEA18-F18B-48F0-9BA8-9E34E32AE8F1}"/>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E33F3303-8118-48C6-B47B-9368F74FE804}"/>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altLang="en-US" sz="1000" dirty="0"/>
              <a:t>An example of the sort of stress state analyses that can be done using brittle structures in detachment fault zones is given by </a:t>
            </a:r>
            <a:r>
              <a:rPr lang="en-GB" altLang="en-US" sz="1000" dirty="0" err="1"/>
              <a:t>Axen</a:t>
            </a:r>
            <a:r>
              <a:rPr lang="en-GB" altLang="en-US" sz="1000" dirty="0"/>
              <a:t> &amp; </a:t>
            </a:r>
            <a:r>
              <a:rPr lang="en-GB" altLang="en-US" sz="1000" dirty="0" err="1"/>
              <a:t>Selverstone</a:t>
            </a:r>
            <a:r>
              <a:rPr lang="en-GB" altLang="en-US" sz="1000" dirty="0"/>
              <a:t>, 1994, </a:t>
            </a:r>
            <a:r>
              <a:rPr lang="en-GB" altLang="en-US" sz="1000" i="1" dirty="0"/>
              <a:t>Geology</a:t>
            </a:r>
            <a:r>
              <a:rPr lang="en-GB" altLang="en-US" sz="1000" dirty="0"/>
              <a:t> 22: 835-838, </a:t>
            </a:r>
            <a:r>
              <a:rPr lang="en-GB" sz="1000" dirty="0"/>
              <a:t>https://doi.org/10.1130/0091-7613(1994)022&lt;0835:SSAFPL&gt;2.3.CO;2</a:t>
            </a:r>
            <a:endParaRPr lang="en-GB" altLang="en-US" sz="1000" dirty="0"/>
          </a:p>
          <a:p>
            <a:pPr marL="108000" indent="-108000">
              <a:buFont typeface="Arial" panose="020B0604020202020204" pitchFamily="34" charset="0"/>
              <a:buChar char="•"/>
            </a:pPr>
            <a:r>
              <a:rPr lang="en-GB" altLang="en-US" sz="1000" dirty="0"/>
              <a:t>Photo top right (from geotripperimages.com/</a:t>
            </a:r>
            <a:r>
              <a:rPr lang="en-GB" altLang="en-US" sz="1000" dirty="0" err="1"/>
              <a:t>Tectonic_Processes</a:t>
            </a:r>
            <a:r>
              <a:rPr lang="en-GB" altLang="en-US" sz="1000" dirty="0"/>
              <a:t>/Faults.htm): fault gouge on the </a:t>
            </a:r>
            <a:r>
              <a:rPr lang="en-GB" altLang="en-US" sz="1000" dirty="0" err="1"/>
              <a:t>Badwater</a:t>
            </a:r>
            <a:r>
              <a:rPr lang="en-GB" altLang="en-US" sz="1000" dirty="0"/>
              <a:t> turtleback fault near Natural Bridge, Death Valley, California</a:t>
            </a:r>
          </a:p>
          <a:p>
            <a:pPr marL="108000" indent="-108000">
              <a:buFont typeface="Arial" panose="020B0604020202020204" pitchFamily="34" charset="0"/>
              <a:buChar char="•"/>
            </a:pPr>
            <a:r>
              <a:rPr lang="en-GB" altLang="en-US" sz="1000" dirty="0"/>
              <a:t>Photo left (from instruct.uwo.ca/earth-sci/</a:t>
            </a:r>
            <a:r>
              <a:rPr lang="en-GB" altLang="en-US" sz="1000" dirty="0" err="1"/>
              <a:t>fieldlog</a:t>
            </a:r>
            <a:r>
              <a:rPr lang="en-GB" altLang="en-US" sz="1000" dirty="0"/>
              <a:t>/cargo/phot/2006/060302_35b_badcongbrec.JPG): </a:t>
            </a:r>
            <a:r>
              <a:rPr lang="en-GB" altLang="en-US" sz="1000" dirty="0" err="1"/>
              <a:t>klippe</a:t>
            </a:r>
            <a:r>
              <a:rPr lang="en-GB" altLang="en-US" sz="1000" dirty="0"/>
              <a:t> of brecciated fanglomerates in the hanging wall of the </a:t>
            </a:r>
            <a:r>
              <a:rPr lang="en-GB" altLang="en-US" sz="1000" dirty="0" err="1"/>
              <a:t>Badwater</a:t>
            </a:r>
            <a:r>
              <a:rPr lang="en-GB" altLang="en-US" sz="1000" dirty="0"/>
              <a:t> turtleback</a:t>
            </a:r>
          </a:p>
          <a:p>
            <a:pPr marL="108000" indent="-108000">
              <a:buFont typeface="Arial" panose="020B0604020202020204" pitchFamily="34" charset="0"/>
              <a:buChar char="•"/>
            </a:pPr>
            <a:r>
              <a:rPr lang="en-GB" altLang="en-US" sz="1000" dirty="0"/>
              <a:t>Photo bottom right from Fossen (one of the extra figures on the web-site for the book, folk.uib.no/</a:t>
            </a:r>
            <a:r>
              <a:rPr lang="en-GB" altLang="en-US" sz="1000" dirty="0" err="1"/>
              <a:t>nglhe</a:t>
            </a:r>
            <a:r>
              <a:rPr lang="en-GB" altLang="en-US" sz="1000" dirty="0"/>
              <a:t>/StructuralGeoBook.html): </a:t>
            </a:r>
            <a:r>
              <a:rPr lang="en-GB" altLang="en-US" sz="1000" dirty="0" err="1"/>
              <a:t>Badwater</a:t>
            </a:r>
            <a:r>
              <a:rPr lang="en-GB" altLang="en-US" sz="1000" dirty="0"/>
              <a:t> turtle-back fault bringing Quaternary conglomerates over metamorphic rocks. Notice the brecciation of the footwall </a:t>
            </a:r>
            <a:r>
              <a:rPr lang="en-GB" altLang="en-US" sz="1000" dirty="0" err="1"/>
              <a:t>metamorphics</a:t>
            </a:r>
            <a:endParaRPr lang="en-GB" altLang="en-US" sz="1000" dirty="0"/>
          </a:p>
          <a:p>
            <a:pPr marL="0" indent="0">
              <a:buFont typeface="Arial" panose="020B0604020202020204" pitchFamily="34" charset="0"/>
              <a:buNone/>
            </a:pPr>
            <a:endParaRPr lang="en-GB" altLang="en-US" sz="10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80F1DF76-864F-4F17-BE0C-D411F7D77894}"/>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3D4E2328-E91E-4401-9D3B-4EFC8DDAD873}"/>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Photo left (from the BGS image database: geoscenic.bgs.ac.uk/asset-bank/action/</a:t>
            </a:r>
            <a:r>
              <a:rPr lang="en-GB" altLang="en-US" sz="1000" dirty="0" err="1"/>
              <a:t>viewHome</a:t>
            </a:r>
            <a:r>
              <a:rPr lang="en-GB" altLang="en-US" sz="1000" dirty="0"/>
              <a:t>, image P007899): planar faults in the </a:t>
            </a:r>
            <a:r>
              <a:rPr lang="en-GB" altLang="en-US" sz="1000" dirty="0" err="1"/>
              <a:t>Corton</a:t>
            </a:r>
            <a:r>
              <a:rPr lang="en-GB" altLang="en-US" sz="1000" dirty="0"/>
              <a:t> Sands (Quaternary), </a:t>
            </a:r>
            <a:r>
              <a:rPr lang="en-GB" altLang="en-US" sz="1000" dirty="0" err="1"/>
              <a:t>Corton</a:t>
            </a:r>
            <a:r>
              <a:rPr lang="en-GB" altLang="en-US" sz="1000" dirty="0"/>
              <a:t>, Suffolk</a:t>
            </a:r>
          </a:p>
          <a:p>
            <a:pPr marL="108000" indent="-108000">
              <a:buFont typeface="Arial" panose="020B0604020202020204" pitchFamily="34" charset="0"/>
              <a:buChar char="•"/>
            </a:pPr>
            <a:r>
              <a:rPr lang="en-GB" altLang="en-US" sz="1000" dirty="0"/>
              <a:t>Photo bottom right (from the BGS image database: geoscenic.bgs.ac.uk/asset-bank/action/</a:t>
            </a:r>
            <a:r>
              <a:rPr lang="en-GB" altLang="en-US" sz="1000" dirty="0" err="1"/>
              <a:t>viewHome</a:t>
            </a:r>
            <a:r>
              <a:rPr lang="en-GB" altLang="en-US" sz="1000" dirty="0"/>
              <a:t>, image P211208): </a:t>
            </a:r>
            <a:r>
              <a:rPr lang="en-GB" altLang="en-US" sz="1000" dirty="0" err="1"/>
              <a:t>listric</a:t>
            </a:r>
            <a:r>
              <a:rPr lang="en-GB" altLang="en-US" sz="1000" dirty="0"/>
              <a:t> (concave-upward) faults in a succession of </a:t>
            </a:r>
            <a:r>
              <a:rPr lang="en-GB" altLang="en-US" sz="1000" dirty="0" err="1"/>
              <a:t>lignites</a:t>
            </a:r>
            <a:r>
              <a:rPr lang="en-GB" altLang="en-US" sz="1000" dirty="0"/>
              <a:t> and clays (</a:t>
            </a:r>
            <a:r>
              <a:rPr lang="en-GB" altLang="en-US" sz="1000" dirty="0" err="1"/>
              <a:t>Southacre</a:t>
            </a:r>
            <a:r>
              <a:rPr lang="en-GB" altLang="en-US" sz="1000" dirty="0"/>
              <a:t> Member of the Bovey Formation – late Eocene/Oligocene age), East Golds Clay Pit, Newton Abbot, Devon</a:t>
            </a:r>
          </a:p>
          <a:p>
            <a:pPr marL="108000" indent="-108000">
              <a:buFont typeface="Arial" panose="020B0604020202020204" pitchFamily="34" charset="0"/>
              <a:buChar char="•"/>
            </a:pPr>
            <a:r>
              <a:rPr lang="en-GB" altLang="en-US" sz="1000" dirty="0"/>
              <a:t>Photo top right (from Fossen, p.376): </a:t>
            </a:r>
            <a:r>
              <a:rPr lang="en-GB" altLang="en-US" sz="1000" dirty="0" err="1"/>
              <a:t>antilistric</a:t>
            </a:r>
            <a:r>
              <a:rPr lang="en-GB" altLang="en-US" sz="1000" dirty="0"/>
              <a:t> (convex-upwards) fault, Mosaic Canyon, Death Valley</a:t>
            </a:r>
          </a:p>
          <a:p>
            <a:pPr marL="0" indent="0">
              <a:buFont typeface="Arial" panose="020B0604020202020204" pitchFamily="34" charset="0"/>
              <a:buNone/>
            </a:pPr>
            <a:endParaRPr lang="en-GB" altLang="en-US" sz="10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A7541682-DB9D-47A3-BFC3-954B152DC644}"/>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6E027904-7BBD-42F0-B4BE-131A712B2DB7}"/>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The role of stratigraphic variations in strength on the development of normal faults is reviewed by </a:t>
            </a:r>
            <a:r>
              <a:rPr lang="en-GB" altLang="en-US" sz="1000" dirty="0" err="1"/>
              <a:t>Ferrill</a:t>
            </a:r>
            <a:r>
              <a:rPr lang="en-GB" altLang="en-US" sz="1000" dirty="0"/>
              <a:t>, 2017, </a:t>
            </a:r>
            <a:r>
              <a:rPr lang="en-GB" altLang="en-US" sz="1000" i="1" dirty="0"/>
              <a:t>Journal of Structural Geology</a:t>
            </a:r>
            <a:r>
              <a:rPr lang="en-GB" altLang="en-US" sz="1000" dirty="0"/>
              <a:t> 94: 275-302, </a:t>
            </a:r>
            <a:r>
              <a:rPr lang="en-GB" sz="1000" dirty="0"/>
              <a:t>https://doi.org/10.1016/j.jsg.2016.11.010</a:t>
            </a:r>
            <a:endParaRPr lang="en-GB" altLang="en-US" sz="1000" dirty="0"/>
          </a:p>
          <a:p>
            <a:pPr marL="108000" indent="-108000">
              <a:buFont typeface="Arial" panose="020B0604020202020204" pitchFamily="34" charset="0"/>
              <a:buChar char="•"/>
            </a:pPr>
            <a:r>
              <a:rPr lang="en-GB" altLang="en-US" sz="1000" dirty="0"/>
              <a:t>Figure bottom left from J-P Burg’s 2015 lecture notes (www.files.ethz.ch/structuralgeology/JPB/files/English/3extsyst.pdf), p.67</a:t>
            </a:r>
          </a:p>
          <a:p>
            <a:pPr marL="108000" indent="-108000">
              <a:buFont typeface="Arial" panose="020B0604020202020204" pitchFamily="34" charset="0"/>
              <a:buChar char="•"/>
            </a:pPr>
            <a:r>
              <a:rPr lang="en-GB" altLang="en-US" sz="1000" dirty="0"/>
              <a:t>Figure right from Fossen, p.386</a:t>
            </a:r>
          </a:p>
          <a:p>
            <a:pPr marL="0" indent="0">
              <a:buFont typeface="Arial" panose="020B0604020202020204" pitchFamily="34" charset="0"/>
              <a:buNone/>
            </a:pPr>
            <a:endParaRPr lang="en-GB" altLang="en-US" sz="10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E271B5A2-124E-44B1-8CCC-F145429352FD}"/>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375D9E91-C1EA-4C44-A3B5-BAE84103E254}"/>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Figure from Fossen, p.387</a:t>
            </a:r>
          </a:p>
          <a:p>
            <a:pPr marL="108000" indent="-108000">
              <a:buFont typeface="Arial" panose="020B0604020202020204" pitchFamily="34" charset="0"/>
              <a:buChar char="•"/>
            </a:pPr>
            <a:r>
              <a:rPr lang="en-GB" altLang="en-US" sz="1000" dirty="0"/>
              <a:t>Photo (Steve Covey-Crump): an extensional detachment in a metamorphic core complex, Basin-and-Range Province, western USA. Rotation of the faults (on a much larger scale than this picture) associated with doming as the core complex was formed has changed the extensional detachment into a low-angle reverse fault. Two </a:t>
            </a:r>
            <a:r>
              <a:rPr lang="en-GB" altLang="en-US" sz="1000" dirty="0" err="1"/>
              <a:t>listric</a:t>
            </a:r>
            <a:r>
              <a:rPr lang="en-GB" altLang="en-US" sz="1000" dirty="0"/>
              <a:t> normal faults that merge down into the detachment are highlighted but there are other faults within the detachment hanging wall – note particularly the planar normal faults in the hanging wall of the left fault</a:t>
            </a:r>
          </a:p>
          <a:p>
            <a:pPr marL="0" indent="0">
              <a:buFont typeface="Arial" panose="020B0604020202020204" pitchFamily="34" charset="0"/>
              <a:buNone/>
            </a:pPr>
            <a:endParaRPr lang="en-GB" altLang="en-US" sz="10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34217D43-197E-41D7-82DC-B54B3712A72F}"/>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CEAAD5FA-D258-4FF1-AB5B-1B6C40D54FC8}"/>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Recall that a conjugate fault is one with approximately the same angle of dip as the main fault, but which is dipping in the opposite direction</a:t>
            </a:r>
          </a:p>
          <a:p>
            <a:pPr marL="108000" indent="-108000">
              <a:buFont typeface="Arial" panose="020B0604020202020204" pitchFamily="34" charset="0"/>
              <a:buChar char="•"/>
            </a:pPr>
            <a:r>
              <a:rPr lang="en-GB" altLang="en-US" sz="1000" dirty="0"/>
              <a:t>Figures from McClay, 1995, </a:t>
            </a:r>
            <a:r>
              <a:rPr lang="en-GB" altLang="en-US" sz="1000" i="1" dirty="0"/>
              <a:t>Petroleum Geoscience</a:t>
            </a:r>
            <a:r>
              <a:rPr lang="en-GB" altLang="en-US" sz="1000" dirty="0"/>
              <a:t> 1: 163-178, </a:t>
            </a:r>
            <a:r>
              <a:rPr lang="en-GB" sz="1000" dirty="0"/>
              <a:t>https://doi.org/10.1144/petgeo.1.2.163</a:t>
            </a:r>
            <a:r>
              <a:rPr lang="en-GB" altLang="en-US" sz="1000" dirty="0"/>
              <a:t>. The faults dipping to the SE are synthetic faults; the faults dipping to the NW are antithetic faults</a:t>
            </a:r>
          </a:p>
          <a:p>
            <a:pPr marL="0" indent="0">
              <a:buFont typeface="Arial" panose="020B0604020202020204" pitchFamily="34" charset="0"/>
              <a:buNone/>
            </a:pPr>
            <a:endParaRPr lang="en-GB" altLang="en-US" sz="10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C1422010-8810-4467-8432-F8C465D6B976}"/>
              </a:ext>
            </a:extLst>
          </p:cNvPr>
          <p:cNvSpPr>
            <a:spLocks noGrp="1" noRot="1" noChangeAspect="1" noChangeArrowheads="1" noTextEdit="1"/>
          </p:cNvSpPr>
          <p:nvPr>
            <p:ph type="sldImg"/>
          </p:nvPr>
        </p:nvSpPr>
        <p:spPr>
          <a:ln/>
        </p:spPr>
      </p:sp>
      <p:sp>
        <p:nvSpPr>
          <p:cNvPr id="120835" name="Rectangle 3">
            <a:extLst>
              <a:ext uri="{FF2B5EF4-FFF2-40B4-BE49-F238E27FC236}">
                <a16:creationId xmlns:a16="http://schemas.microsoft.com/office/drawing/2014/main" id="{A6A36720-AB16-497A-80C7-F90E886C55BD}"/>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Photo (from Fossen, one of the extra figures on the web-site for the 2</a:t>
            </a:r>
            <a:r>
              <a:rPr lang="en-GB" altLang="en-US" sz="1000" baseline="30000" dirty="0"/>
              <a:t>nd</a:t>
            </a:r>
            <a:r>
              <a:rPr lang="en-GB" altLang="en-US" sz="1000" dirty="0"/>
              <a:t> edition of the book, </a:t>
            </a:r>
            <a:r>
              <a:rPr lang="de-DE" altLang="en-US" sz="1000" dirty="0"/>
              <a:t>https://structuralgeo.wordpress.com/): graben near Zanjan, Iran</a:t>
            </a:r>
            <a:endParaRPr lang="en-GB" altLang="en-US" sz="1000" dirty="0"/>
          </a:p>
          <a:p>
            <a:pPr marL="108000" indent="-108000">
              <a:buFont typeface="Arial" panose="020B0604020202020204" pitchFamily="34" charset="0"/>
              <a:buChar char="•"/>
            </a:pPr>
            <a:r>
              <a:rPr lang="en-GB" altLang="en-US" sz="1000" dirty="0"/>
              <a:t>Figure from Twiss &amp; </a:t>
            </a:r>
            <a:r>
              <a:rPr lang="en-GB" altLang="en-US" sz="1000" dirty="0" err="1"/>
              <a:t>Moores</a:t>
            </a:r>
            <a:r>
              <a:rPr lang="en-GB" altLang="en-US" sz="1000" dirty="0"/>
              <a:t>, p.94</a:t>
            </a:r>
          </a:p>
          <a:p>
            <a:pPr marL="0" indent="0">
              <a:buFont typeface="Arial" panose="020B0604020202020204" pitchFamily="34" charset="0"/>
              <a:buNone/>
            </a:pPr>
            <a:endParaRPr lang="en-GB" altLang="en-US" sz="10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916C5CAD-3FB6-467C-8BBE-28CFBF1AC1A9}"/>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0DB059DF-0C33-4A31-BBAA-66B2CCF4483F}"/>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Image top left (from history.nasa.gov/ap10fj/as10-image-library.htm): Apollo 10 image (photo AS10-31-4646) of Rima </a:t>
            </a:r>
            <a:r>
              <a:rPr lang="en-GB" altLang="en-US" sz="1000" dirty="0" err="1"/>
              <a:t>Ariadaeus</a:t>
            </a:r>
            <a:endParaRPr lang="en-GB" altLang="en-US" sz="1000" dirty="0"/>
          </a:p>
          <a:p>
            <a:pPr marL="108000" indent="-108000">
              <a:buFont typeface="Arial" panose="020B0604020202020204" pitchFamily="34" charset="0"/>
              <a:buChar char="•"/>
            </a:pPr>
            <a:r>
              <a:rPr lang="en-GB" altLang="en-US" sz="1000" dirty="0"/>
              <a:t>Image bottom middle (from www.flickr.com/photos/lunarandplanetaryinstitute/4885341169/sizes/o/in/set-72157624710708504): Mars Reconnaissance Orbiter (HiRISE) image of a crater cut by faults. Note that the offset of the crater walls indicates that fault movement occurred after the crater forming event – perhaps immediately after given that there seems to have been no fault displacement after the surface inside the crater was formed</a:t>
            </a:r>
          </a:p>
          <a:p>
            <a:pPr marL="108000" indent="-108000">
              <a:buFont typeface="Arial" panose="020B0604020202020204" pitchFamily="34" charset="0"/>
              <a:buChar char="•"/>
            </a:pPr>
            <a:r>
              <a:rPr lang="en-GB" altLang="en-US" sz="1000" dirty="0"/>
              <a:t>Image right (from en.wikipedia.org/wiki/</a:t>
            </a:r>
            <a:r>
              <a:rPr lang="en-GB" altLang="en-US" sz="1000" dirty="0" err="1"/>
              <a:t>File:Simple_Graben_Tantalus.jpg</a:t>
            </a:r>
            <a:r>
              <a:rPr lang="en-GB" altLang="en-US" sz="1000" dirty="0"/>
              <a:t>): the horst and graben features of Tantalus Fossae probably resulted from the flexural response of the Martian lithosphere to the weight of the </a:t>
            </a:r>
            <a:r>
              <a:rPr lang="en-GB" altLang="en-US" sz="1000" dirty="0" err="1"/>
              <a:t>Tharsis</a:t>
            </a:r>
            <a:r>
              <a:rPr lang="en-GB" altLang="en-US" sz="1000" dirty="0"/>
              <a:t> bulge (they are radial to that bulge; see Slides 13-14)</a:t>
            </a:r>
          </a:p>
          <a:p>
            <a:pPr marL="0" indent="0">
              <a:buFont typeface="Arial" panose="020B0604020202020204" pitchFamily="34" charset="0"/>
              <a:buNone/>
            </a:pPr>
            <a:endParaRPr lang="en-GB" altLang="en-US" sz="100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AA69DF24-3339-4DDB-9123-44C3D08BDB9F}"/>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D2717CE3-C2DB-4D0C-B794-0D02C488509F}"/>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Photo top (Steve Covey-Crump): back-rotation of the former road surface at the Mam Tor landslip. The increase in tilt towards the right in this photo suggests that the underlying slip surface is </a:t>
            </a:r>
            <a:r>
              <a:rPr lang="en-GB" altLang="en-US" sz="1000" dirty="0" err="1"/>
              <a:t>listric</a:t>
            </a:r>
            <a:r>
              <a:rPr lang="en-GB" altLang="en-US" sz="1000" dirty="0"/>
              <a:t> (decreasing in dip to the right)</a:t>
            </a:r>
          </a:p>
          <a:p>
            <a:pPr marL="108000" indent="-108000">
              <a:buFont typeface="Arial" panose="020B0604020202020204" pitchFamily="34" charset="0"/>
              <a:buChar char="•"/>
            </a:pPr>
            <a:r>
              <a:rPr lang="en-GB" altLang="en-US" sz="1000" dirty="0"/>
              <a:t>Photo bottom (Steve Covey-Crump): tilting of the units in the Basin-and-Range Province of the western USA is the result of slip on underlying extensional faults. In this photo the beds dip to the left implying that the underlying fault dips to the right</a:t>
            </a:r>
          </a:p>
          <a:p>
            <a:pPr marL="0" indent="0">
              <a:buFont typeface="Arial" panose="020B0604020202020204" pitchFamily="34" charset="0"/>
              <a:buNone/>
            </a:pPr>
            <a:endParaRPr lang="en-GB" altLang="en-US" sz="10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A6569DA3-97C3-4AA1-912C-905E8072F60A}" type="slidenum">
              <a:rPr lang="en-GB" altLang="en-US" smtClean="0"/>
              <a:pPr/>
              <a:t>32</a:t>
            </a:fld>
            <a:endParaRPr lang="en-GB" altLang="en-US"/>
          </a:p>
        </p:txBody>
      </p:sp>
    </p:spTree>
    <p:extLst>
      <p:ext uri="{BB962C8B-B14F-4D97-AF65-F5344CB8AC3E}">
        <p14:creationId xmlns:p14="http://schemas.microsoft.com/office/powerpoint/2010/main" val="41068561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0D59328D-397B-4DCA-A98F-3C4BCF88EE3A}"/>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99861EF2-3F8E-4A89-9191-EE37B7870C3B}"/>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On Anderson’s classification of faults, see Class 7 Slides 23-24. The questions posed on this slide were among the most important of those addressed during the revolution in understanding of extensional fault systems that occurred in the mid-1980s</a:t>
            </a:r>
          </a:p>
          <a:p>
            <a:pPr marL="108000" indent="-108000">
              <a:buFont typeface="Arial" panose="020B0604020202020204" pitchFamily="34" charset="0"/>
              <a:buChar char="•"/>
            </a:pPr>
            <a:r>
              <a:rPr lang="en-GB" altLang="en-US" sz="1000" dirty="0"/>
              <a:t>Photo (from the BGS image database: geoscenic.bgs.ac.uk/asset-bank/action/</a:t>
            </a:r>
            <a:r>
              <a:rPr lang="en-GB" altLang="en-US" sz="1000" dirty="0" err="1"/>
              <a:t>viewHome</a:t>
            </a:r>
            <a:r>
              <a:rPr lang="en-GB" altLang="en-US" sz="1000" dirty="0"/>
              <a:t>, image P212486): a horst picked out by lines of flints in Chalk, Shoreham Cement Works Quarry, Shoreham-by-Sea, Sussex</a:t>
            </a:r>
          </a:p>
          <a:p>
            <a:pPr marL="108000" indent="-108000">
              <a:buFont typeface="Arial" panose="020B0604020202020204" pitchFamily="34" charset="0"/>
              <a:buChar char="•"/>
            </a:pPr>
            <a:r>
              <a:rPr lang="en-GB" altLang="en-US" sz="1000" dirty="0"/>
              <a:t>Figure left from Fossen, p.381</a:t>
            </a:r>
          </a:p>
          <a:p>
            <a:pPr marL="108000" indent="-108000">
              <a:buFont typeface="Arial" panose="020B0604020202020204" pitchFamily="34" charset="0"/>
              <a:buChar char="•"/>
            </a:pPr>
            <a:r>
              <a:rPr lang="en-GB" altLang="en-US" sz="1000" dirty="0"/>
              <a:t>Figure bottom right from J-P Burg’s 2015 lecture notes (www.files.ethz.ch/structuralgeology/JPB/files/English/3extsyst.pdf), p.73</a:t>
            </a:r>
          </a:p>
          <a:p>
            <a:pPr marL="0" indent="0">
              <a:buFont typeface="Arial" panose="020B0604020202020204" pitchFamily="34" charset="0"/>
              <a:buNone/>
            </a:pPr>
            <a:endParaRPr lang="en-GB" altLang="en-US" sz="100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7507F545-C336-4256-BC80-C2AE64B6E618}"/>
              </a:ext>
            </a:extLst>
          </p:cNvPr>
          <p:cNvSpPr>
            <a:spLocks noGrp="1" noRot="1" noChangeAspect="1" noChangeArrowheads="1" noTextEdit="1"/>
          </p:cNvSpPr>
          <p:nvPr>
            <p:ph type="sldImg"/>
          </p:nvPr>
        </p:nvSpPr>
        <p:spPr>
          <a:ln/>
        </p:spPr>
      </p:sp>
      <p:sp>
        <p:nvSpPr>
          <p:cNvPr id="87043" name="Rectangle 3">
            <a:extLst>
              <a:ext uri="{FF2B5EF4-FFF2-40B4-BE49-F238E27FC236}">
                <a16:creationId xmlns:a16="http://schemas.microsoft.com/office/drawing/2014/main" id="{461D039F-AC4C-492B-972E-02D94336667F}"/>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Photo top right (by José Miguel Mart</a:t>
            </a:r>
            <a:r>
              <a:rPr lang="en-US" altLang="en-US" sz="1000" dirty="0" err="1">
                <a:cs typeface="Times New Roman" panose="02020603050405020304" pitchFamily="18" charset="0"/>
              </a:rPr>
              <a:t>ínez</a:t>
            </a:r>
            <a:r>
              <a:rPr lang="en-US" altLang="en-US" sz="1000" dirty="0">
                <a:cs typeface="Times New Roman" panose="02020603050405020304" pitchFamily="18" charset="0"/>
              </a:rPr>
              <a:t>-</a:t>
            </a:r>
            <a:r>
              <a:rPr lang="en-GB" altLang="en-US" sz="1000" dirty="0"/>
              <a:t>Mart</a:t>
            </a:r>
            <a:r>
              <a:rPr lang="en-US" altLang="en-US" sz="1000" dirty="0" err="1">
                <a:cs typeface="Times New Roman" panose="02020603050405020304" pitchFamily="18" charset="0"/>
              </a:rPr>
              <a:t>ínez</a:t>
            </a:r>
            <a:r>
              <a:rPr lang="en-US" altLang="en-US" sz="1000" dirty="0">
                <a:cs typeface="Times New Roman" panose="02020603050405020304" pitchFamily="18" charset="0"/>
              </a:rPr>
              <a:t>, www.ugr.es/~jmmm/Fotos_Eng.htm): </a:t>
            </a:r>
            <a:r>
              <a:rPr lang="en-GB" altLang="en-US" sz="1000" dirty="0"/>
              <a:t>domino faulting in the Sierra Nevada </a:t>
            </a:r>
            <a:r>
              <a:rPr lang="en-GB" altLang="en-US" sz="1000" dirty="0" err="1"/>
              <a:t>Betics</a:t>
            </a:r>
            <a:r>
              <a:rPr lang="en-GB" altLang="en-US" sz="1000" dirty="0"/>
              <a:t> (southern Spain)</a:t>
            </a:r>
          </a:p>
          <a:p>
            <a:pPr marL="108000" indent="-108000">
              <a:buFont typeface="Arial" panose="020B0604020202020204" pitchFamily="34" charset="0"/>
              <a:buChar char="•"/>
            </a:pPr>
            <a:r>
              <a:rPr lang="en-GB" altLang="en-US" sz="1000" dirty="0"/>
              <a:t>Note that the extension formula involves a number of approximations: (1) no strain within the blocks, (2) faults and layers rotate simultaneously and at the same rate, (3) all faults have the same dip and same offset. A derivation of the extension formula shown on this slide is given by Twiss &amp; </a:t>
            </a:r>
            <a:r>
              <a:rPr lang="en-GB" altLang="en-US" sz="1000" dirty="0" err="1"/>
              <a:t>Moores</a:t>
            </a:r>
            <a:r>
              <a:rPr lang="en-GB" altLang="en-US" sz="1000" dirty="0"/>
              <a:t>, p.112</a:t>
            </a:r>
          </a:p>
          <a:p>
            <a:pPr marL="108000" indent="-108000">
              <a:buFont typeface="Arial" panose="020B0604020202020204" pitchFamily="34" charset="0"/>
              <a:buChar char="•"/>
            </a:pPr>
            <a:r>
              <a:rPr lang="en-GB" altLang="en-US" sz="1000" dirty="0"/>
              <a:t>Figure bottom left from Fossen, p.380</a:t>
            </a:r>
          </a:p>
          <a:p>
            <a:pPr marL="108000" indent="-108000">
              <a:buFont typeface="Arial" panose="020B0604020202020204" pitchFamily="34" charset="0"/>
              <a:buChar char="•"/>
            </a:pPr>
            <a:r>
              <a:rPr lang="en-GB" altLang="en-US" sz="1000" dirty="0"/>
              <a:t>Figure bottom right from J-P Burg’s 2015 lecture notes (www.files.ethz.ch/structuralgeology/JPB/files/English/3extsyst.pdf), p.73</a:t>
            </a:r>
          </a:p>
          <a:p>
            <a:pPr marL="0" indent="0">
              <a:buFont typeface="Arial" panose="020B0604020202020204" pitchFamily="34" charset="0"/>
              <a:buNone/>
            </a:pPr>
            <a:endParaRPr lang="en-GB" altLang="en-US" sz="10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C685E795-B2D8-4469-B859-0D118D99CCED}"/>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7BA0C993-2BAA-4C92-B256-2AD5F61CF088}"/>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To satisfy the space problem at the ends of the domino system, </a:t>
            </a:r>
            <a:r>
              <a:rPr lang="en-GB" altLang="en-US" sz="1000" dirty="0" err="1"/>
              <a:t>listric</a:t>
            </a:r>
            <a:r>
              <a:rPr lang="en-GB" altLang="en-US" sz="1000" dirty="0"/>
              <a:t> faults are needed at both ends and these must dip towards each other so that on one side of the system the dominoes dip one way and on the other, the other; in the middle a graben is needed to connect the two sets (see figure on Slide 53, top section)</a:t>
            </a:r>
          </a:p>
          <a:p>
            <a:pPr marL="108000" indent="-108000">
              <a:buFont typeface="Arial" panose="020B0604020202020204" pitchFamily="34" charset="0"/>
              <a:buChar char="•"/>
            </a:pPr>
            <a:r>
              <a:rPr lang="en-GB" altLang="en-US" sz="1000" dirty="0"/>
              <a:t>Photo (by José Miguel Mart</a:t>
            </a:r>
            <a:r>
              <a:rPr lang="en-US" altLang="en-US" sz="1000" dirty="0" err="1">
                <a:cs typeface="Times New Roman" panose="02020603050405020304" pitchFamily="18" charset="0"/>
              </a:rPr>
              <a:t>ínez</a:t>
            </a:r>
            <a:r>
              <a:rPr lang="en-US" altLang="en-US" sz="1000" dirty="0">
                <a:cs typeface="Times New Roman" panose="02020603050405020304" pitchFamily="18" charset="0"/>
              </a:rPr>
              <a:t>-</a:t>
            </a:r>
            <a:r>
              <a:rPr lang="en-GB" altLang="en-US" sz="1000" dirty="0"/>
              <a:t>Mart</a:t>
            </a:r>
            <a:r>
              <a:rPr lang="en-US" altLang="en-US" sz="1000" dirty="0" err="1">
                <a:cs typeface="Times New Roman" panose="02020603050405020304" pitchFamily="18" charset="0"/>
              </a:rPr>
              <a:t>ínez</a:t>
            </a:r>
            <a:r>
              <a:rPr lang="en-US" altLang="en-US" sz="1000" dirty="0">
                <a:cs typeface="Times New Roman" panose="02020603050405020304" pitchFamily="18" charset="0"/>
              </a:rPr>
              <a:t>, www.ugr.es/~jmmm/Fotos_Eng.htm): mylonite with </a:t>
            </a:r>
            <a:r>
              <a:rPr lang="en-US" altLang="en-US" sz="1000" dirty="0" err="1">
                <a:cs typeface="Times New Roman" panose="02020603050405020304" pitchFamily="18" charset="0"/>
              </a:rPr>
              <a:t>ultramylonite</a:t>
            </a:r>
            <a:r>
              <a:rPr lang="en-US" altLang="en-US" sz="1000" dirty="0">
                <a:cs typeface="Times New Roman" panose="02020603050405020304" pitchFamily="18" charset="0"/>
              </a:rPr>
              <a:t> bands, </a:t>
            </a:r>
            <a:r>
              <a:rPr lang="en-US" altLang="en-US" sz="1000" dirty="0" err="1">
                <a:cs typeface="Times New Roman" panose="02020603050405020304" pitchFamily="18" charset="0"/>
              </a:rPr>
              <a:t>Betics</a:t>
            </a:r>
            <a:r>
              <a:rPr lang="en-US" altLang="en-US" sz="1000" dirty="0">
                <a:cs typeface="Times New Roman" panose="02020603050405020304" pitchFamily="18" charset="0"/>
              </a:rPr>
              <a:t>, southern Spain</a:t>
            </a:r>
            <a:endParaRPr lang="en-GB" altLang="en-US" sz="1000" dirty="0"/>
          </a:p>
          <a:p>
            <a:endParaRPr lang="en-GB"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14612C99-7881-43F6-AC96-24C4E8FE646B}"/>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9660288F-59D2-47F9-B05A-CD75375CF77B}"/>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altLang="en-US" sz="1000" dirty="0"/>
              <a:t>The movie (from Rick Allmendinger’s website, http://www.geo.cornell.edu/geology/faculty/RWA/movies/  OR  https://www.rickallmendinger.net/), </a:t>
            </a:r>
            <a:r>
              <a:rPr lang="en-GB" altLang="en-US" sz="1000" i="1" dirty="0"/>
              <a:t>ListricNormalFault.m4v</a:t>
            </a:r>
            <a:r>
              <a:rPr lang="en-GB" altLang="en-US" sz="1000" i="0" dirty="0"/>
              <a:t>, </a:t>
            </a:r>
            <a:r>
              <a:rPr lang="en-GB" altLang="en-US" sz="1000" dirty="0"/>
              <a:t>that accompanies this lecture shows the development of a rollover </a:t>
            </a:r>
            <a:r>
              <a:rPr lang="en-GB" altLang="en-US" sz="1000" dirty="0" err="1"/>
              <a:t>antiform</a:t>
            </a:r>
            <a:endParaRPr lang="en-GB" altLang="en-US" sz="1000" dirty="0"/>
          </a:p>
          <a:p>
            <a:pPr marL="108000" marR="0" lvl="0" indent="-1080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altLang="en-US" sz="1000" dirty="0"/>
              <a:t>Figure from Twiss &amp; </a:t>
            </a:r>
            <a:r>
              <a:rPr lang="en-GB" altLang="en-US" sz="1000" dirty="0" err="1"/>
              <a:t>Moores</a:t>
            </a:r>
            <a:r>
              <a:rPr lang="en-GB" altLang="en-US" sz="1000" dirty="0"/>
              <a:t>, p.108</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GB" altLang="en-US" sz="100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1EF274E0-934A-4E7C-A8BE-F4A362FCD214}"/>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3D938B7F-0D03-4CEC-92F3-40C1DE207B32}"/>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Figure (from J-P Burg’s 2015 lecture notes (www.files.ethz.ch/structuralgeology/JPB/files/English/3extsyst.pdf), p.75) showing some different ways in which hanging wall collapse may be achieved</a:t>
            </a:r>
          </a:p>
          <a:p>
            <a:pPr marL="0" indent="0">
              <a:buFont typeface="Arial" panose="020B0604020202020204" pitchFamily="34" charset="0"/>
              <a:buNone/>
            </a:pPr>
            <a:endParaRPr lang="en-GB" altLang="en-US" sz="10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D54011CF-3CF1-4616-8DD0-7C6FA2B0878D}"/>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42C81CD7-B20B-4FED-9B47-E2D4FDF4A83E}"/>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Photo (from Fossen, one of the extra figures on the web-site for the book, folk.uib.no/</a:t>
            </a:r>
            <a:r>
              <a:rPr lang="en-GB" altLang="en-US" sz="1000" dirty="0" err="1"/>
              <a:t>nglhe</a:t>
            </a:r>
            <a:r>
              <a:rPr lang="en-GB" altLang="en-US" sz="1000" dirty="0"/>
              <a:t>/StructuralGeoBook.html; see also Fossen, p.197): hanging wall collapse, </a:t>
            </a:r>
            <a:r>
              <a:rPr lang="en-GB" altLang="en-US" sz="1000" dirty="0" err="1"/>
              <a:t>Matulla</a:t>
            </a:r>
            <a:r>
              <a:rPr lang="en-GB" altLang="en-US" sz="1000" dirty="0"/>
              <a:t> Formation, Wadi </a:t>
            </a:r>
            <a:r>
              <a:rPr lang="en-GB" altLang="en-US" sz="1000" dirty="0" err="1"/>
              <a:t>Matulla</a:t>
            </a:r>
            <a:r>
              <a:rPr lang="en-GB" altLang="en-US" sz="1000" dirty="0"/>
              <a:t>, Sinai</a:t>
            </a:r>
          </a:p>
          <a:p>
            <a:pPr marL="0" indent="0">
              <a:buFont typeface="Arial" panose="020B0604020202020204" pitchFamily="34" charset="0"/>
              <a:buNone/>
            </a:pPr>
            <a:endParaRPr lang="en-GB" altLang="en-US" sz="10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B5EDB7F4-37B4-4ED4-9BD6-996FDB63E517}"/>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1F8F96C4-829E-415B-BC49-F88D2A43AEC7}"/>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Figures from McClay, 1995, </a:t>
            </a:r>
            <a:r>
              <a:rPr lang="en-GB" altLang="en-US" sz="1000" i="1" dirty="0"/>
              <a:t>Petroleum Geoscience</a:t>
            </a:r>
            <a:r>
              <a:rPr lang="en-GB" altLang="en-US" sz="1000" dirty="0"/>
              <a:t> 1: 163-178, </a:t>
            </a:r>
            <a:r>
              <a:rPr lang="en-GB" sz="1000" dirty="0"/>
              <a:t>https://doi.org/10.1144/petgeo.1.2.163</a:t>
            </a:r>
            <a:r>
              <a:rPr lang="en-GB" altLang="en-US" sz="1000" dirty="0"/>
              <a:t>. This paper describes the results of sand box models of extension under a variety of scenarios</a:t>
            </a:r>
          </a:p>
          <a:p>
            <a:pPr marL="108000" indent="-108000">
              <a:buFont typeface="Arial" panose="020B0604020202020204" pitchFamily="34" charset="0"/>
              <a:buChar char="•"/>
            </a:pPr>
            <a:r>
              <a:rPr lang="en-GB" altLang="en-US" sz="1000" dirty="0"/>
              <a:t>The movie, </a:t>
            </a:r>
            <a:r>
              <a:rPr lang="en-GB" altLang="en-US" sz="1000" i="1" dirty="0"/>
              <a:t>Listric-small.mov</a:t>
            </a:r>
            <a:r>
              <a:rPr lang="en-GB" altLang="en-US" sz="1000" dirty="0"/>
              <a:t> that accompanies this lecture (but you’ll need QuickTime to view it) shows the results of a sand-box model of slip on a </a:t>
            </a:r>
            <a:r>
              <a:rPr lang="en-GB" altLang="en-US" sz="1000" dirty="0" err="1"/>
              <a:t>listric</a:t>
            </a:r>
            <a:r>
              <a:rPr lang="en-GB" altLang="en-US" sz="1000" dirty="0"/>
              <a:t> normal fault with accompanying hanging wall collapse</a:t>
            </a:r>
          </a:p>
          <a:p>
            <a:pPr marL="0" indent="0">
              <a:buFont typeface="Arial" panose="020B0604020202020204" pitchFamily="34" charset="0"/>
              <a:buNone/>
            </a:pPr>
            <a:endParaRPr lang="en-GB" altLang="en-US" sz="1000"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B0A5916C-BFED-4632-9CE2-07D215C40F74}"/>
              </a:ext>
            </a:extLst>
          </p:cNvPr>
          <p:cNvSpPr>
            <a:spLocks noGrp="1" noRot="1" noChangeAspect="1" noChangeArrowheads="1" noTextEdit="1"/>
          </p:cNvSpPr>
          <p:nvPr>
            <p:ph type="sldImg"/>
          </p:nvPr>
        </p:nvSpPr>
        <p:spPr>
          <a:ln/>
        </p:spPr>
      </p:sp>
      <p:sp>
        <p:nvSpPr>
          <p:cNvPr id="93187" name="Rectangle 3">
            <a:extLst>
              <a:ext uri="{FF2B5EF4-FFF2-40B4-BE49-F238E27FC236}">
                <a16:creationId xmlns:a16="http://schemas.microsoft.com/office/drawing/2014/main" id="{0138AACC-D01D-4775-91DD-2196EDB67F88}"/>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Figure from Twiss &amp; </a:t>
            </a:r>
            <a:r>
              <a:rPr lang="en-GB" altLang="en-US" sz="1000" dirty="0" err="1"/>
              <a:t>Moores</a:t>
            </a:r>
            <a:r>
              <a:rPr lang="en-GB" altLang="en-US" sz="1000" dirty="0"/>
              <a:t>, p.95</a:t>
            </a:r>
          </a:p>
          <a:p>
            <a:pPr marL="0" indent="0">
              <a:buFont typeface="Arial" panose="020B0604020202020204" pitchFamily="34" charset="0"/>
              <a:buNone/>
            </a:pPr>
            <a:endParaRPr lang="en-GB" altLang="en-US" sz="1000"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FCE11023-3394-4A45-A2DF-E27EA348FA34}"/>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699A5ED0-159A-4CB7-B5C0-E59A9F706A91}"/>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Figures from McClay, 1995, </a:t>
            </a:r>
            <a:r>
              <a:rPr lang="en-GB" altLang="en-US" sz="1000" i="1" dirty="0"/>
              <a:t>Petroleum Geoscience</a:t>
            </a:r>
            <a:r>
              <a:rPr lang="en-GB" altLang="en-US" sz="1000" dirty="0"/>
              <a:t> 1: 163-178, </a:t>
            </a:r>
            <a:r>
              <a:rPr lang="en-GB" sz="1000" dirty="0"/>
              <a:t>https://doi.org/10.1144/petgeo.1.2.163</a:t>
            </a:r>
            <a:endParaRPr lang="en-GB" altLang="en-US" sz="1000" dirty="0"/>
          </a:p>
          <a:p>
            <a:endParaRPr lang="en-GB"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4017FA4E-2F23-47E1-8AF7-1AF2B644C308}"/>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E667DBAB-6E63-43DC-8950-DDA321DADB9C}"/>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Figures from McClay, 1995, </a:t>
            </a:r>
            <a:r>
              <a:rPr lang="en-GB" altLang="en-US" sz="1000" i="1" dirty="0"/>
              <a:t>Petroleum Geoscience</a:t>
            </a:r>
            <a:r>
              <a:rPr lang="en-GB" altLang="en-US" sz="1000" dirty="0"/>
              <a:t> 1: 163-178, </a:t>
            </a:r>
            <a:r>
              <a:rPr lang="en-GB" sz="1000" dirty="0"/>
              <a:t>https://doi.org/10.1144/petgeo.1.2.163</a:t>
            </a:r>
            <a:endParaRPr lang="en-GB" altLang="en-US" sz="1000" dirty="0"/>
          </a:p>
          <a:p>
            <a:pPr marL="0" indent="0">
              <a:buFont typeface="Arial" panose="020B0604020202020204" pitchFamily="34" charset="0"/>
              <a:buNone/>
            </a:pPr>
            <a:endParaRPr lang="en-GB" altLang="en-US" sz="1000"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8E185500-AB1C-413F-9C4B-1928B7CD634E}"/>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998F3A3C-46FE-4C24-97CE-E0C652B07316}"/>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On reverse drag see (1) </a:t>
            </a:r>
            <a:r>
              <a:rPr lang="en-GB" altLang="en-US" sz="1000" dirty="0" err="1"/>
              <a:t>Grasemann</a:t>
            </a:r>
            <a:r>
              <a:rPr lang="en-GB" altLang="en-US" sz="1000" dirty="0"/>
              <a:t> </a:t>
            </a:r>
            <a:r>
              <a:rPr lang="en-GB" altLang="en-US" sz="1000" i="1" dirty="0"/>
              <a:t>et al.</a:t>
            </a:r>
            <a:r>
              <a:rPr lang="en-GB" altLang="en-US" sz="1000" dirty="0"/>
              <a:t>, 2005, </a:t>
            </a:r>
            <a:r>
              <a:rPr lang="en-GB" altLang="en-US" sz="1000" i="1" dirty="0"/>
              <a:t>Journal of Structural Geology</a:t>
            </a:r>
            <a:r>
              <a:rPr lang="en-GB" altLang="en-US" sz="1000" dirty="0"/>
              <a:t> 27: 999-1010, </a:t>
            </a:r>
            <a:r>
              <a:rPr lang="en-GB" sz="1000" dirty="0"/>
              <a:t>https://doi.org/10.1016/j.jsg.2005.04.006</a:t>
            </a:r>
            <a:r>
              <a:rPr lang="en-GB" altLang="en-US" sz="1000" dirty="0"/>
              <a:t>, and (2) </a:t>
            </a:r>
            <a:r>
              <a:rPr lang="en-GB" altLang="en-US" sz="1000" dirty="0" err="1"/>
              <a:t>Resor</a:t>
            </a:r>
            <a:r>
              <a:rPr lang="en-GB" altLang="en-US" sz="1000" dirty="0"/>
              <a:t> &amp; Pollard, 2012, </a:t>
            </a:r>
            <a:r>
              <a:rPr lang="en-GB" altLang="en-US" sz="1000" i="1" dirty="0"/>
              <a:t>Journal of Structural Geology</a:t>
            </a:r>
            <a:r>
              <a:rPr lang="en-GB" altLang="en-US" sz="1000" dirty="0"/>
              <a:t> 41: 98-109, </a:t>
            </a:r>
            <a:r>
              <a:rPr lang="en-GB" sz="1000" dirty="0"/>
              <a:t>https://doi.org/10.1016/j.jsg.2011.10.012</a:t>
            </a:r>
            <a:r>
              <a:rPr lang="en-GB" altLang="en-US" sz="1000" dirty="0"/>
              <a:t>. Note that reverse drag, although geometrically similar, should not be confused with rift-flank uplift in which the footwall adjacent to a fault is uplifted due to a combination of flexural unloading and isostatic readjustment after slip has occurred (</a:t>
            </a:r>
            <a:r>
              <a:rPr lang="en-GB" altLang="en-US" sz="1000" i="1" dirty="0"/>
              <a:t>e.g.</a:t>
            </a:r>
            <a:r>
              <a:rPr lang="en-GB" altLang="en-US" sz="1000" dirty="0"/>
              <a:t>, see Egan, 1992, </a:t>
            </a:r>
            <a:r>
              <a:rPr lang="en-GB" altLang="en-US" sz="1000" i="1" dirty="0"/>
              <a:t>Tectonophysics</a:t>
            </a:r>
            <a:r>
              <a:rPr lang="en-GB" altLang="en-US" sz="1000" dirty="0"/>
              <a:t> 202: 291-308, </a:t>
            </a:r>
            <a:r>
              <a:rPr lang="en-GB" sz="1000" dirty="0"/>
              <a:t>https://doi.org/10.1016/0040-1951(92)90115-M</a:t>
            </a:r>
            <a:r>
              <a:rPr lang="en-GB" altLang="en-US" sz="1000" dirty="0"/>
              <a:t>) – for an illustration of this rift-flank uplift, see figure on Slide 47 (area labelled as “back-tilting”)</a:t>
            </a:r>
          </a:p>
          <a:p>
            <a:pPr marL="108000" indent="-108000">
              <a:buFont typeface="Arial" panose="020B0604020202020204" pitchFamily="34" charset="0"/>
              <a:buChar char="•"/>
            </a:pPr>
            <a:r>
              <a:rPr lang="en-GB" altLang="en-US" sz="1000" dirty="0"/>
              <a:t>Photo top right (from Fossen, one of the extra figures on the web-site for the book, folk.uib.no/</a:t>
            </a:r>
            <a:r>
              <a:rPr lang="en-GB" altLang="en-US" sz="1000" dirty="0" err="1"/>
              <a:t>nglhe</a:t>
            </a:r>
            <a:r>
              <a:rPr lang="en-GB" altLang="en-US" sz="1000" dirty="0"/>
              <a:t>/StructuralGeoBook.html): Gulf of Corinth</a:t>
            </a:r>
          </a:p>
          <a:p>
            <a:pPr marL="108000" indent="-108000">
              <a:buFont typeface="Arial" panose="020B0604020202020204" pitchFamily="34" charset="0"/>
              <a:buChar char="•"/>
            </a:pPr>
            <a:r>
              <a:rPr lang="en-GB" altLang="en-US" sz="1000" dirty="0"/>
              <a:t>Photo bottom left (Steve Covey-Crump): shore section at </a:t>
            </a:r>
            <a:r>
              <a:rPr lang="en-GB" altLang="en-US" sz="1000" dirty="0" err="1"/>
              <a:t>Onich</a:t>
            </a:r>
            <a:r>
              <a:rPr lang="en-GB" altLang="en-US" sz="1000" dirty="0"/>
              <a:t>, north-west Scotland. Note that the reverse drag is particularly prominent in the footwalls. Modelling suggests that roll-over </a:t>
            </a:r>
            <a:r>
              <a:rPr lang="en-GB" altLang="en-US" sz="1000" dirty="0" err="1"/>
              <a:t>antiforms</a:t>
            </a:r>
            <a:r>
              <a:rPr lang="en-GB" altLang="en-US" sz="1000" dirty="0"/>
              <a:t> produced on a </a:t>
            </a:r>
            <a:r>
              <a:rPr lang="en-GB" altLang="en-US" sz="1000" dirty="0" err="1"/>
              <a:t>listric</a:t>
            </a:r>
            <a:r>
              <a:rPr lang="en-GB" altLang="en-US" sz="1000" dirty="0"/>
              <a:t> fault may be recognized as such by the relatively small footwall uplift on the fault, whereas folds that look like rollover </a:t>
            </a:r>
            <a:r>
              <a:rPr lang="en-GB" altLang="en-US" sz="1000" dirty="0" err="1"/>
              <a:t>antiforms</a:t>
            </a:r>
            <a:r>
              <a:rPr lang="en-GB" altLang="en-US" sz="1000" dirty="0"/>
              <a:t> but have been produced on planar faults by reverse drag have relatively large footwall uplift</a:t>
            </a:r>
          </a:p>
          <a:p>
            <a:pPr marL="108000" indent="-108000">
              <a:buFont typeface="Arial" panose="020B0604020202020204" pitchFamily="34" charset="0"/>
              <a:buChar char="•"/>
            </a:pPr>
            <a:r>
              <a:rPr lang="en-GB" altLang="en-US" sz="1000" dirty="0"/>
              <a:t>Figure from </a:t>
            </a:r>
            <a:r>
              <a:rPr lang="en-GB" altLang="en-US" sz="1000" dirty="0" err="1"/>
              <a:t>Resor</a:t>
            </a:r>
            <a:r>
              <a:rPr lang="en-GB" altLang="en-US" sz="1000" dirty="0"/>
              <a:t> &amp; Pollard, 2012, </a:t>
            </a:r>
            <a:r>
              <a:rPr lang="en-GB" altLang="en-US" sz="1000" i="1" dirty="0"/>
              <a:t>Journal of Structural Geology</a:t>
            </a:r>
            <a:r>
              <a:rPr lang="en-GB" altLang="en-US" sz="1000" dirty="0"/>
              <a:t> 41: 98-109, </a:t>
            </a:r>
            <a:r>
              <a:rPr lang="en-GB" sz="1000" dirty="0"/>
              <a:t>https://doi.org/10.1016/j.jsg.2011.10.012</a:t>
            </a:r>
            <a:endParaRPr lang="en-GB" altLang="en-US" sz="1000" dirty="0"/>
          </a:p>
          <a:p>
            <a:pPr marL="0" indent="0">
              <a:buFont typeface="Arial" panose="020B0604020202020204" pitchFamily="34" charset="0"/>
              <a:buNone/>
            </a:pPr>
            <a:endParaRPr lang="en-GB" altLang="en-US" sz="1000"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A6569DA3-97C3-4AA1-912C-905E8072F60A}" type="slidenum">
              <a:rPr lang="en-GB" altLang="en-US" smtClean="0"/>
              <a:pPr/>
              <a:t>44</a:t>
            </a:fld>
            <a:endParaRPr lang="en-GB" altLang="en-US"/>
          </a:p>
        </p:txBody>
      </p:sp>
    </p:spTree>
    <p:extLst>
      <p:ext uri="{BB962C8B-B14F-4D97-AF65-F5344CB8AC3E}">
        <p14:creationId xmlns:p14="http://schemas.microsoft.com/office/powerpoint/2010/main" val="38627422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D03EE040-5632-41BA-901B-906B315A61BA}"/>
              </a:ext>
            </a:extLst>
          </p:cNvPr>
          <p:cNvSpPr>
            <a:spLocks noGrp="1" noRot="1" noChangeAspect="1" noChangeArrowheads="1" noTextEdit="1"/>
          </p:cNvSpPr>
          <p:nvPr>
            <p:ph type="sldImg"/>
          </p:nvPr>
        </p:nvSpPr>
        <p:spPr>
          <a:ln/>
        </p:spPr>
      </p:sp>
      <p:sp>
        <p:nvSpPr>
          <p:cNvPr id="97283" name="Rectangle 3">
            <a:extLst>
              <a:ext uri="{FF2B5EF4-FFF2-40B4-BE49-F238E27FC236}">
                <a16:creationId xmlns:a16="http://schemas.microsoft.com/office/drawing/2014/main" id="{362E8B05-216A-4DBD-930F-3DBA28289198}"/>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Some of these complexities are described by Gibbs, 1984, </a:t>
            </a:r>
            <a:r>
              <a:rPr lang="en-GB" altLang="en-US" sz="1000" i="1" dirty="0"/>
              <a:t>Journal of the Geological Society, London </a:t>
            </a:r>
            <a:r>
              <a:rPr lang="en-GB" altLang="en-US" sz="1000" dirty="0"/>
              <a:t>141: 609-620, </a:t>
            </a:r>
            <a:r>
              <a:rPr lang="en-GB" sz="1000" dirty="0"/>
              <a:t>https://doi.org/10.1144/gsjgs.141.4.0609</a:t>
            </a:r>
            <a:endParaRPr lang="en-GB" altLang="en-US" sz="1000" dirty="0"/>
          </a:p>
          <a:p>
            <a:pPr marL="108000" indent="-108000">
              <a:buFont typeface="Arial" panose="020B0604020202020204" pitchFamily="34" charset="0"/>
              <a:buChar char="•"/>
            </a:pPr>
            <a:r>
              <a:rPr lang="en-GB" altLang="en-US" sz="1000" dirty="0"/>
              <a:t>Figure (from Twiss &amp; </a:t>
            </a:r>
            <a:r>
              <a:rPr lang="en-GB" altLang="en-US" sz="1000" dirty="0" err="1"/>
              <a:t>Moores</a:t>
            </a:r>
            <a:r>
              <a:rPr lang="en-GB" altLang="en-US" sz="1000" dirty="0"/>
              <a:t>, p.109) showing the order of formation (indicated by the numbers) of faults within an extensional fault system</a:t>
            </a:r>
          </a:p>
          <a:p>
            <a:pPr marL="0" indent="0">
              <a:buFont typeface="Arial" panose="020B0604020202020204" pitchFamily="34" charset="0"/>
              <a:buNone/>
            </a:pPr>
            <a:endParaRPr lang="en-GB" altLang="en-US" sz="1000"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C1DC3281-EC3D-4701-A3E0-A9E26F040ACE}"/>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089792AE-1A56-4577-9C74-C68B81FF93E3}"/>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These figures (from Fossen, p.387) are based on plaster experiments by Fossen &amp; </a:t>
            </a:r>
            <a:r>
              <a:rPr lang="en-GB" altLang="en-US" sz="1000" dirty="0" err="1"/>
              <a:t>Gabrielsen</a:t>
            </a:r>
            <a:r>
              <a:rPr lang="en-GB" altLang="en-US" sz="1000" dirty="0"/>
              <a:t>, 1996, </a:t>
            </a:r>
            <a:r>
              <a:rPr lang="en-GB" altLang="en-US" sz="1000" i="1" dirty="0"/>
              <a:t>Journal of Structural Geology</a:t>
            </a:r>
            <a:r>
              <a:rPr lang="en-GB" altLang="en-US" sz="1000" dirty="0"/>
              <a:t> 18: 673-687, </a:t>
            </a:r>
            <a:r>
              <a:rPr lang="en-GB" sz="1000" dirty="0"/>
              <a:t>https://doi.org/10.1016/S0191-8141(96)80032-0</a:t>
            </a:r>
            <a:endParaRPr lang="en-GB" altLang="en-US" sz="1000" dirty="0"/>
          </a:p>
          <a:p>
            <a:pPr marL="0" indent="0">
              <a:buFont typeface="Arial" panose="020B0604020202020204" pitchFamily="34" charset="0"/>
              <a:buNone/>
            </a:pPr>
            <a:endParaRPr lang="en-GB" altLang="en-US" sz="1000"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8DA8A92A-5EC8-481A-8A0E-580B09667B1D}"/>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A4AD4D76-1642-4CA9-9CCE-1BC814D4692C}"/>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Figure top from Burbank &amp; Anderson, 2012, </a:t>
            </a:r>
            <a:r>
              <a:rPr lang="en-GB" altLang="en-US" sz="1000" i="1" dirty="0"/>
              <a:t>Tectonic Geomorphology</a:t>
            </a:r>
            <a:r>
              <a:rPr lang="en-GB" altLang="en-US" sz="1000" dirty="0"/>
              <a:t> (2</a:t>
            </a:r>
            <a:r>
              <a:rPr lang="en-GB" altLang="en-US" sz="1000" baseline="30000" dirty="0"/>
              <a:t>nd</a:t>
            </a:r>
            <a:r>
              <a:rPr lang="en-GB" altLang="en-US" sz="1000" dirty="0"/>
              <a:t> edition), Wiley-Blackwell, p.99</a:t>
            </a:r>
          </a:p>
          <a:p>
            <a:pPr marL="108000" indent="-108000">
              <a:buFont typeface="Arial" panose="020B0604020202020204" pitchFamily="34" charset="0"/>
              <a:buChar char="•"/>
            </a:pPr>
            <a:r>
              <a:rPr lang="en-GB" altLang="en-US" sz="1000" dirty="0"/>
              <a:t>Photo bottom (Steve Covey-Crump): road surface stratigraphy, Mam Tor landslip, 13 April 2012. Successive road repairs at Mam Tor have infilled a half-graben that was generated by </a:t>
            </a:r>
            <a:r>
              <a:rPr lang="en-GB" altLang="en-US" sz="1000" dirty="0" err="1"/>
              <a:t>landslipping</a:t>
            </a:r>
            <a:r>
              <a:rPr lang="en-GB" altLang="en-US" sz="1000" dirty="0"/>
              <a:t> and have thereby formed wedge-shaped “stratigraphic” units</a:t>
            </a:r>
          </a:p>
          <a:p>
            <a:pPr marL="108000" indent="-108000">
              <a:buFont typeface="Arial" panose="020B0604020202020204" pitchFamily="34" charset="0"/>
              <a:buChar char="•"/>
            </a:pPr>
            <a:r>
              <a:rPr lang="en-GB" altLang="en-US" sz="1000" dirty="0"/>
              <a:t>The geometry of the wedge-shaped units within half-grabens may be used to reconstruct the shape of the underlying fault (using the so-called ‘Chevron techniques’, see Slides 57-58)</a:t>
            </a:r>
          </a:p>
          <a:p>
            <a:pPr marL="0" indent="0">
              <a:buFont typeface="Arial" panose="020B0604020202020204" pitchFamily="34" charset="0"/>
              <a:buNone/>
            </a:pPr>
            <a:endParaRPr lang="en-GB"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0F9BE48D-D078-40EE-9EE0-463689123C2B}"/>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F79958A0-10D4-4217-A19D-2ECB542678A8}"/>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The work in the Viking Graben is described by Cowie </a:t>
            </a:r>
            <a:r>
              <a:rPr lang="en-GB" altLang="en-US" sz="1000" i="1" dirty="0"/>
              <a:t>et al.</a:t>
            </a:r>
            <a:r>
              <a:rPr lang="en-GB" altLang="en-US" sz="1000" dirty="0"/>
              <a:t>, 2005, </a:t>
            </a:r>
            <a:r>
              <a:rPr lang="en-GB" altLang="en-US" sz="1000" i="1" dirty="0"/>
              <a:t>Earth and Planetary Science Letters</a:t>
            </a:r>
            <a:r>
              <a:rPr lang="en-GB" altLang="en-US" sz="1000" dirty="0"/>
              <a:t> 234: 401-419, </a:t>
            </a:r>
            <a:r>
              <a:rPr lang="en-GB" sz="1000" dirty="0"/>
              <a:t>https://doi.org/10.1016/j.epsl.2005.01.039</a:t>
            </a:r>
            <a:endParaRPr lang="en-GB" altLang="en-US" sz="1000" dirty="0"/>
          </a:p>
          <a:p>
            <a:pPr marL="108000" indent="-108000">
              <a:buFont typeface="Arial" panose="020B0604020202020204" pitchFamily="34" charset="0"/>
              <a:buChar char="•"/>
            </a:pPr>
            <a:r>
              <a:rPr lang="en-GB" altLang="en-US" sz="1000" dirty="0"/>
              <a:t>Figures bottom from Cowie </a:t>
            </a:r>
            <a:r>
              <a:rPr lang="en-GB" altLang="en-US" sz="1000" i="1" dirty="0"/>
              <a:t>et al.</a:t>
            </a:r>
            <a:r>
              <a:rPr lang="en-GB" altLang="en-US" sz="1000" dirty="0"/>
              <a:t>, 2005, </a:t>
            </a:r>
            <a:r>
              <a:rPr lang="en-GB" altLang="en-US" sz="1000" i="1" dirty="0"/>
              <a:t>Earth and Planetary Science Letters</a:t>
            </a:r>
            <a:r>
              <a:rPr lang="en-GB" altLang="en-US" sz="1000" dirty="0"/>
              <a:t> 234: 401-419, </a:t>
            </a:r>
            <a:r>
              <a:rPr lang="en-GB" sz="1000" dirty="0"/>
              <a:t>https://doi.org/10.1016/j.epsl.2005.01.039</a:t>
            </a:r>
            <a:endParaRPr lang="en-GB" altLang="en-US" sz="1000" dirty="0"/>
          </a:p>
          <a:p>
            <a:pPr marL="108000" indent="-108000">
              <a:buFont typeface="Arial" panose="020B0604020202020204" pitchFamily="34" charset="0"/>
              <a:buChar char="•"/>
            </a:pPr>
            <a:r>
              <a:rPr lang="en-GB" altLang="en-US" sz="1000" dirty="0"/>
              <a:t>Photo top right (Steve Covey-Crump): road surface on the Mam Tor landslip, 13 April 2012</a:t>
            </a:r>
          </a:p>
          <a:p>
            <a:pPr marL="0" indent="0">
              <a:buFont typeface="Arial" panose="020B0604020202020204" pitchFamily="34" charset="0"/>
              <a:buNone/>
            </a:pPr>
            <a:endParaRPr lang="en-GB" altLang="en-US" sz="1000" dirty="0"/>
          </a:p>
          <a:p>
            <a:pPr marL="108000" indent="-108000">
              <a:buFont typeface="Arial" panose="020B0604020202020204" pitchFamily="34" charset="0"/>
              <a:buChar char="•"/>
            </a:pPr>
            <a:r>
              <a:rPr lang="en-GB" altLang="en-US" sz="1000" dirty="0"/>
              <a:t>The growth of extensional faults has significant consequences for the tectono-stratigraphic evolution of sedimentary basins. Two end-member models of extensional fault growth are widely cited:</a:t>
            </a:r>
          </a:p>
          <a:p>
            <a:pPr marL="0" indent="0">
              <a:buFont typeface="Arial" panose="020B0604020202020204" pitchFamily="34" charset="0"/>
              <a:buNone/>
            </a:pPr>
            <a:r>
              <a:rPr lang="en-GB" altLang="en-US" sz="1000" dirty="0"/>
              <a:t>     (a) Propagating Fault (or Isolated Fault) Model: extensional faults lengthen as displacement increases so that the linear relationship between log fault length and log max displacement (see Class 7, Slide 38) is maintained throughout their lifespan</a:t>
            </a:r>
          </a:p>
          <a:p>
            <a:pPr marL="0" indent="0">
              <a:buFont typeface="Arial" panose="020B0604020202020204" pitchFamily="34" charset="0"/>
              <a:buNone/>
            </a:pPr>
            <a:r>
              <a:rPr lang="en-GB" altLang="en-US" sz="1000" dirty="0"/>
              <a:t>     (b) Constant Fault Length Model: fault length is established very early and then remains approximately constant as displacement accrues, so that by the end of </a:t>
            </a:r>
            <a:r>
              <a:rPr lang="en-GB" altLang="en-US" sz="1000" dirty="0">
                <a:latin typeface="Times New Roman" panose="02020603050405020304" pitchFamily="18" charset="0"/>
                <a:cs typeface="Times New Roman" panose="02020603050405020304" pitchFamily="18" charset="0"/>
              </a:rPr>
              <a:t>the fault’s lifespan it is at the place observed on the log fault length and log max displacement curve</a:t>
            </a:r>
          </a:p>
          <a:p>
            <a:pPr marL="108000" indent="0">
              <a:buFont typeface="Arial" panose="020B0604020202020204" pitchFamily="34" charset="0"/>
              <a:buNone/>
            </a:pPr>
            <a:r>
              <a:rPr lang="en-GB" altLang="en-US" sz="1000" dirty="0">
                <a:latin typeface="Times New Roman" panose="02020603050405020304" pitchFamily="18" charset="0"/>
                <a:cs typeface="Times New Roman" panose="02020603050405020304" pitchFamily="18" charset="0"/>
              </a:rPr>
              <a:t>Opinion seems to be crystallizing on a hybrid model where during the initial stages of displacement (first 20-30% of the fault’s lifespan) the fault lengthens rapidly, and then “stabilizes” so that there is little lengthening during further displacement (remaining 70-80% of the fault’s lifespan). For a commentary on these matters, with access into the previous literature, see </a:t>
            </a:r>
            <a:r>
              <a:rPr lang="en-GB" altLang="en-US" sz="1000" dirty="0" err="1">
                <a:latin typeface="Times New Roman" panose="02020603050405020304" pitchFamily="18" charset="0"/>
                <a:cs typeface="Times New Roman" panose="02020603050405020304" pitchFamily="18" charset="0"/>
              </a:rPr>
              <a:t>Rotevatn</a:t>
            </a:r>
            <a:r>
              <a:rPr lang="en-GB" altLang="en-US" sz="1000" dirty="0">
                <a:latin typeface="Times New Roman" panose="02020603050405020304" pitchFamily="18" charset="0"/>
                <a:cs typeface="Times New Roman" panose="02020603050405020304" pitchFamily="18" charset="0"/>
              </a:rPr>
              <a:t> </a:t>
            </a:r>
            <a:r>
              <a:rPr lang="en-GB" altLang="en-US" sz="1000" i="1" dirty="0">
                <a:latin typeface="Times New Roman" panose="02020603050405020304" pitchFamily="18" charset="0"/>
                <a:cs typeface="Times New Roman" panose="02020603050405020304" pitchFamily="18" charset="0"/>
              </a:rPr>
              <a:t>et al.</a:t>
            </a:r>
            <a:r>
              <a:rPr lang="en-GB" altLang="en-US" sz="1000" i="0" dirty="0">
                <a:latin typeface="Times New Roman" panose="02020603050405020304" pitchFamily="18" charset="0"/>
                <a:cs typeface="Times New Roman" panose="02020603050405020304" pitchFamily="18" charset="0"/>
              </a:rPr>
              <a:t>, 2019, </a:t>
            </a:r>
            <a:r>
              <a:rPr lang="en-GB" altLang="en-US" sz="1000" i="1" dirty="0">
                <a:latin typeface="Times New Roman" panose="02020603050405020304" pitchFamily="18" charset="0"/>
                <a:cs typeface="Times New Roman" panose="02020603050405020304" pitchFamily="18" charset="0"/>
              </a:rPr>
              <a:t>Journal of Structural Geology</a:t>
            </a:r>
            <a:r>
              <a:rPr lang="en-GB" altLang="en-US" sz="1000" i="0" dirty="0">
                <a:latin typeface="Times New Roman" panose="02020603050405020304" pitchFamily="18" charset="0"/>
                <a:cs typeface="Times New Roman" panose="02020603050405020304" pitchFamily="18" charset="0"/>
              </a:rPr>
              <a:t> 125: 174-184, </a:t>
            </a:r>
            <a:r>
              <a:rPr lang="en-GB" sz="1000" b="0" i="0" u="none" strike="noStrike" baseline="0" dirty="0">
                <a:latin typeface="Times New Roman" panose="02020603050405020304" pitchFamily="18" charset="0"/>
                <a:cs typeface="Times New Roman" panose="02020603050405020304" pitchFamily="18" charset="0"/>
              </a:rPr>
              <a:t>https://doi.org/10.1016/j.jsg.2018.08.005</a:t>
            </a:r>
          </a:p>
          <a:p>
            <a:pPr marL="0" indent="0">
              <a:buFont typeface="Arial" panose="020B0604020202020204" pitchFamily="34" charset="0"/>
              <a:buNone/>
            </a:pPr>
            <a:endParaRPr lang="en-GB" altLang="en-US" sz="1000" b="0" i="0" u="none" strike="noStrike" baseline="0" dirty="0">
              <a:latin typeface="Times New Roman" panose="02020603050405020304" pitchFamily="18" charset="0"/>
              <a:cs typeface="Times New Roman" panose="02020603050405020304" pitchFamily="18" charset="0"/>
            </a:endParaRPr>
          </a:p>
          <a:p>
            <a:pPr marL="108000" indent="0">
              <a:buFont typeface="Arial" panose="020B0604020202020204" pitchFamily="34" charset="0"/>
              <a:buNone/>
            </a:pPr>
            <a:endParaRPr lang="en-GB" altLang="en-US" sz="1000" dirty="0"/>
          </a:p>
          <a:p>
            <a:pPr marL="0" indent="0">
              <a:buFont typeface="Arial" panose="020B0604020202020204" pitchFamily="34" charset="0"/>
              <a:buNone/>
            </a:pPr>
            <a:endParaRPr lang="en-GB" altLang="en-US" sz="1000"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E46BBE25-C3FC-43F5-BFD3-CB0E22D09224}"/>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A71CB523-9F09-45E6-B610-19B7CBB6847D}"/>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Figure top right from Cowie </a:t>
            </a:r>
            <a:r>
              <a:rPr lang="en-GB" altLang="en-US" sz="1000" i="1" dirty="0"/>
              <a:t>et al.</a:t>
            </a:r>
            <a:r>
              <a:rPr lang="en-GB" altLang="en-US" sz="1000" dirty="0"/>
              <a:t>, 2005, </a:t>
            </a:r>
            <a:r>
              <a:rPr lang="en-GB" altLang="en-US" sz="1000" i="1" dirty="0"/>
              <a:t>Earth and Planetary Science Letters</a:t>
            </a:r>
            <a:r>
              <a:rPr lang="en-GB" altLang="en-US" sz="1000" dirty="0"/>
              <a:t> 234: 401-419, </a:t>
            </a:r>
            <a:r>
              <a:rPr lang="en-GB" sz="1000" dirty="0"/>
              <a:t>https://doi.org/10.1016/j.epsl.2005.01.039</a:t>
            </a:r>
            <a:endParaRPr lang="en-GB" altLang="en-US" sz="1000" dirty="0"/>
          </a:p>
          <a:p>
            <a:pPr marL="108000" indent="-108000">
              <a:buFont typeface="Arial" panose="020B0604020202020204" pitchFamily="34" charset="0"/>
              <a:buChar char="•"/>
            </a:pPr>
            <a:r>
              <a:rPr lang="en-GB" altLang="en-US" sz="1000" dirty="0"/>
              <a:t>Photo bottom left (Steve Covey-Crump): section through the repeatedly repaired road stratigraphy, Mam Tor landslip, 13 April 2012</a:t>
            </a:r>
          </a:p>
          <a:p>
            <a:pPr marL="0" indent="0">
              <a:buFont typeface="Arial" panose="020B0604020202020204" pitchFamily="34" charset="0"/>
              <a:buNone/>
            </a:pPr>
            <a:endParaRPr lang="en-GB" altLang="en-US" sz="1000"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17495227-DD88-4CEB-8D29-C1784EB595EC}"/>
              </a:ext>
            </a:extLst>
          </p:cNvPr>
          <p:cNvSpPr>
            <a:spLocks noGrp="1" noRot="1" noChangeAspect="1" noChangeArrowheads="1" noTextEdit="1"/>
          </p:cNvSpPr>
          <p:nvPr>
            <p:ph type="sldImg"/>
          </p:nvPr>
        </p:nvSpPr>
        <p:spPr>
          <a:ln/>
        </p:spPr>
      </p:sp>
      <p:sp>
        <p:nvSpPr>
          <p:cNvPr id="102403" name="Rectangle 3">
            <a:extLst>
              <a:ext uri="{FF2B5EF4-FFF2-40B4-BE49-F238E27FC236}">
                <a16:creationId xmlns:a16="http://schemas.microsoft.com/office/drawing/2014/main" id="{7F5752C7-CFA3-4DB1-8A9F-916773B1268C}"/>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We will consider the structures associated with strike-slip faults next time (Class 10)</a:t>
            </a:r>
          </a:p>
          <a:p>
            <a:pPr marL="108000" indent="-108000">
              <a:buFont typeface="Arial" panose="020B0604020202020204" pitchFamily="34" charset="0"/>
              <a:buChar char="•"/>
            </a:pPr>
            <a:r>
              <a:rPr lang="en-GB" altLang="en-US" sz="1000" dirty="0"/>
              <a:t>Figure from Twiss &amp; </a:t>
            </a:r>
            <a:r>
              <a:rPr lang="en-GB" altLang="en-US" sz="1000" dirty="0" err="1"/>
              <a:t>Moores</a:t>
            </a:r>
            <a:r>
              <a:rPr lang="en-GB" altLang="en-US" sz="1000" dirty="0"/>
              <a:t>, p.100</a:t>
            </a:r>
          </a:p>
          <a:p>
            <a:pPr marL="0" indent="0">
              <a:buFont typeface="Arial" panose="020B0604020202020204" pitchFamily="34" charset="0"/>
              <a:buNone/>
            </a:pPr>
            <a:endParaRPr lang="en-GB" altLang="en-US" sz="1000"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CC6D7BD-3AB9-4BB3-B206-31021B5C0A37}"/>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389DB391-6C9D-4FD7-9879-672044BFAF8C}"/>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Note that if the </a:t>
            </a:r>
            <a:r>
              <a:rPr lang="en-GB" altLang="en-US" sz="1000" dirty="0" err="1"/>
              <a:t>syn</a:t>
            </a:r>
            <a:r>
              <a:rPr lang="en-GB" altLang="en-US" sz="1000" dirty="0"/>
              <a:t>- and post-rift sediments are organic-rich, transfer zone structures are important for establishing the lateral extent of petroleum source rocks and for assessing fluid transport pathways. Consequently, they have received considerable attention, </a:t>
            </a:r>
            <a:r>
              <a:rPr lang="en-GB" altLang="en-US" sz="1000" i="1" dirty="0"/>
              <a:t>e.g.</a:t>
            </a:r>
            <a:r>
              <a:rPr lang="en-GB" altLang="en-US" sz="1000" dirty="0"/>
              <a:t>, </a:t>
            </a:r>
            <a:r>
              <a:rPr lang="en-GB" altLang="en-US" sz="1000" dirty="0" err="1"/>
              <a:t>Gawthorpe</a:t>
            </a:r>
            <a:r>
              <a:rPr lang="en-GB" altLang="en-US" sz="1000" dirty="0"/>
              <a:t> &amp; Hurst, 1993, </a:t>
            </a:r>
            <a:r>
              <a:rPr lang="en-GB" altLang="en-US" sz="1000" i="1" dirty="0"/>
              <a:t>Journal of the Geological Society, London</a:t>
            </a:r>
            <a:r>
              <a:rPr lang="en-GB" altLang="en-US" sz="1000" dirty="0"/>
              <a:t> 150: 1137-1152, </a:t>
            </a:r>
            <a:r>
              <a:rPr lang="en-GB" sz="1000" dirty="0"/>
              <a:t>https://doi.org/10.1144/gsjgs.150.6.1137</a:t>
            </a:r>
            <a:r>
              <a:rPr lang="en-GB" altLang="en-US" sz="1000" dirty="0"/>
              <a:t>. For a review of the evolution of such transfer zone structures in extensional fault systems, from their formation through to breaching, and with a consideration of the implications for fluid flow, see Fossen &amp; </a:t>
            </a:r>
            <a:r>
              <a:rPr lang="en-GB" altLang="en-US" sz="1000" dirty="0" err="1"/>
              <a:t>Rotevatn</a:t>
            </a:r>
            <a:r>
              <a:rPr lang="en-GB" altLang="en-US" sz="1000" dirty="0"/>
              <a:t>, 2016, </a:t>
            </a:r>
            <a:r>
              <a:rPr lang="en-GB" altLang="en-US" sz="1000" i="1" dirty="0"/>
              <a:t>Earth-Science Reviews</a:t>
            </a:r>
            <a:r>
              <a:rPr lang="en-GB" altLang="en-US" sz="1000" dirty="0"/>
              <a:t> 154: 14-28, </a:t>
            </a:r>
            <a:r>
              <a:rPr lang="en-GB" sz="1000" dirty="0"/>
              <a:t>https://doi.org/10.1016/j.earscirev.2015.11.014</a:t>
            </a:r>
            <a:endParaRPr lang="en-GB" altLang="en-US" sz="1000" dirty="0"/>
          </a:p>
          <a:p>
            <a:pPr marL="108000" indent="-108000">
              <a:buFont typeface="Arial" panose="020B0604020202020204" pitchFamily="34" charset="0"/>
              <a:buChar char="•"/>
            </a:pPr>
            <a:r>
              <a:rPr lang="en-GB" altLang="en-US" sz="1000" dirty="0"/>
              <a:t>Figure left from Burbank &amp; Anderson, 2012, </a:t>
            </a:r>
            <a:r>
              <a:rPr lang="en-GB" altLang="en-US" sz="1000" i="1" dirty="0"/>
              <a:t>Tectonic Geomorphology</a:t>
            </a:r>
            <a:r>
              <a:rPr lang="en-GB" altLang="en-US" sz="1000" dirty="0"/>
              <a:t> (2</a:t>
            </a:r>
            <a:r>
              <a:rPr lang="en-GB" altLang="en-US" sz="1000" baseline="30000" dirty="0"/>
              <a:t>nd</a:t>
            </a:r>
            <a:r>
              <a:rPr lang="en-GB" altLang="en-US" sz="1000" dirty="0"/>
              <a:t> edition), Wiley-Blackwell, p.99</a:t>
            </a:r>
          </a:p>
          <a:p>
            <a:pPr marL="108000" indent="-108000">
              <a:buFont typeface="Arial" panose="020B0604020202020204" pitchFamily="34" charset="0"/>
              <a:buChar char="•"/>
            </a:pPr>
            <a:r>
              <a:rPr lang="en-GB" altLang="en-US" sz="1000" dirty="0"/>
              <a:t>Figure right from </a:t>
            </a:r>
            <a:r>
              <a:rPr lang="en-GB" altLang="en-US" sz="1000" dirty="0" err="1"/>
              <a:t>Gawthorpe</a:t>
            </a:r>
            <a:r>
              <a:rPr lang="en-GB" altLang="en-US" sz="1000" dirty="0"/>
              <a:t> &amp; Hurst, 1993, </a:t>
            </a:r>
            <a:r>
              <a:rPr lang="en-GB" altLang="en-US" sz="1000" i="1" dirty="0"/>
              <a:t>Journal of the Geological Society, London</a:t>
            </a:r>
            <a:r>
              <a:rPr lang="en-GB" altLang="en-US" sz="1000" dirty="0"/>
              <a:t> 150: 1137-1152, </a:t>
            </a:r>
            <a:r>
              <a:rPr lang="en-GB" sz="1000" dirty="0"/>
              <a:t>https://doi.org/10.1144/gsjgs.150.6.1137</a:t>
            </a:r>
            <a:endParaRPr lang="en-GB" altLang="en-US" sz="1000" dirty="0"/>
          </a:p>
          <a:p>
            <a:pPr marL="0" indent="0">
              <a:buFont typeface="Arial" panose="020B0604020202020204" pitchFamily="34" charset="0"/>
              <a:buNone/>
            </a:pPr>
            <a:endParaRPr lang="en-GB" altLang="en-US" sz="1000"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A6569DA3-97C3-4AA1-912C-905E8072F60A}" type="slidenum">
              <a:rPr lang="en-GB" altLang="en-US" smtClean="0"/>
              <a:pPr/>
              <a:t>52</a:t>
            </a:fld>
            <a:endParaRPr lang="en-GB" altLang="en-US"/>
          </a:p>
        </p:txBody>
      </p:sp>
    </p:spTree>
    <p:extLst>
      <p:ext uri="{BB962C8B-B14F-4D97-AF65-F5344CB8AC3E}">
        <p14:creationId xmlns:p14="http://schemas.microsoft.com/office/powerpoint/2010/main" val="42835273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7508A811-2613-4A69-816B-F9D45CC2FE5C}"/>
              </a:ext>
            </a:extLst>
          </p:cNvPr>
          <p:cNvSpPr>
            <a:spLocks noGrp="1" noRot="1" noChangeAspect="1" noChangeArrowheads="1" noTextEdit="1"/>
          </p:cNvSpPr>
          <p:nvPr>
            <p:ph type="sldImg"/>
          </p:nvPr>
        </p:nvSpPr>
        <p:spPr>
          <a:ln/>
        </p:spPr>
      </p:sp>
      <p:sp>
        <p:nvSpPr>
          <p:cNvPr id="104451" name="Rectangle 3">
            <a:extLst>
              <a:ext uri="{FF2B5EF4-FFF2-40B4-BE49-F238E27FC236}">
                <a16:creationId xmlns:a16="http://schemas.microsoft.com/office/drawing/2014/main" id="{0B04DB85-5F64-4529-89DE-76CC9D6D18F6}"/>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There is a variant of the simple shear model in which the shear zone becomes horizontal at some depth below the brittle upper crust, with the units under it deforming overall by pure shear</a:t>
            </a:r>
          </a:p>
          <a:p>
            <a:pPr marL="108000" indent="-108000">
              <a:buFont typeface="Arial" panose="020B0604020202020204" pitchFamily="34" charset="0"/>
              <a:buChar char="•"/>
            </a:pPr>
            <a:r>
              <a:rPr lang="en-GB" altLang="en-US" sz="1000" dirty="0"/>
              <a:t>Figure from Fossen, p.389</a:t>
            </a:r>
          </a:p>
          <a:p>
            <a:pPr marL="0" indent="0">
              <a:buFont typeface="Arial" panose="020B0604020202020204" pitchFamily="34" charset="0"/>
              <a:buNone/>
            </a:pPr>
            <a:endParaRPr lang="en-GB" altLang="en-US" sz="1000"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sz="1000" dirty="0"/>
              <a:t>The following slides describe techniques widely used for constructing cross-sections across extensional fault systems. I used to have a practical developing these techniques but not this year, and so this won’t be assessed in this course unit</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None/>
              <a:tabLst/>
              <a:defRPr/>
            </a:pPr>
            <a:endParaRPr lang="en-GB" sz="1000" dirty="0"/>
          </a:p>
        </p:txBody>
      </p:sp>
      <p:sp>
        <p:nvSpPr>
          <p:cNvPr id="4" name="Slide Number Placeholder 3"/>
          <p:cNvSpPr>
            <a:spLocks noGrp="1"/>
          </p:cNvSpPr>
          <p:nvPr>
            <p:ph type="sldNum" sz="quarter" idx="10"/>
          </p:nvPr>
        </p:nvSpPr>
        <p:spPr/>
        <p:txBody>
          <a:bodyPr/>
          <a:lstStyle/>
          <a:p>
            <a:fld id="{A6569DA3-97C3-4AA1-912C-905E8072F60A}" type="slidenum">
              <a:rPr lang="en-GB" altLang="en-US" smtClean="0"/>
              <a:pPr/>
              <a:t>54</a:t>
            </a:fld>
            <a:endParaRPr lang="en-GB" altLang="en-US"/>
          </a:p>
        </p:txBody>
      </p:sp>
    </p:spTree>
    <p:extLst>
      <p:ext uri="{BB962C8B-B14F-4D97-AF65-F5344CB8AC3E}">
        <p14:creationId xmlns:p14="http://schemas.microsoft.com/office/powerpoint/2010/main" val="364346600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B7B7276D-6973-49C1-8980-EF2ADA6A0C14}"/>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id="{381E45FA-B79D-4043-AD5F-431B03A52943}"/>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Figure from Twiss &amp; </a:t>
            </a:r>
            <a:r>
              <a:rPr lang="en-GB" altLang="en-US" sz="1000" dirty="0" err="1"/>
              <a:t>Moores</a:t>
            </a:r>
            <a:r>
              <a:rPr lang="en-GB" altLang="en-US" sz="1000" dirty="0"/>
              <a:t>, p.107</a:t>
            </a:r>
          </a:p>
          <a:p>
            <a:pPr marL="0" indent="0">
              <a:buFont typeface="Arial" panose="020B0604020202020204" pitchFamily="34" charset="0"/>
              <a:buNone/>
            </a:pPr>
            <a:endParaRPr lang="en-GB" altLang="en-US" sz="1000"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F7BC9935-E1D2-40C0-B08F-96872E9E462D}"/>
              </a:ext>
            </a:extLst>
          </p:cNvPr>
          <p:cNvSpPr>
            <a:spLocks noGrp="1" noRot="1" noChangeAspect="1" noChangeArrowheads="1" noTextEdit="1"/>
          </p:cNvSpPr>
          <p:nvPr>
            <p:ph type="sldImg"/>
          </p:nvPr>
        </p:nvSpPr>
        <p:spPr>
          <a:ln/>
        </p:spPr>
      </p:sp>
      <p:sp>
        <p:nvSpPr>
          <p:cNvPr id="106499" name="Rectangle 3">
            <a:extLst>
              <a:ext uri="{FF2B5EF4-FFF2-40B4-BE49-F238E27FC236}">
                <a16:creationId xmlns:a16="http://schemas.microsoft.com/office/drawing/2014/main" id="{43B0AB72-769A-46D0-B401-8D1E357FD99B}"/>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Note that the tracing overlay approach serves to demonstrate that this method balances area as well as line-length</a:t>
            </a:r>
          </a:p>
          <a:p>
            <a:pPr marL="108000" indent="-108000">
              <a:buFont typeface="Arial" panose="020B0604020202020204" pitchFamily="34" charset="0"/>
              <a:buChar char="•"/>
            </a:pPr>
            <a:r>
              <a:rPr lang="en-GB" altLang="en-US" sz="1000" dirty="0"/>
              <a:t>Note that rigid block restorations of this kind can be done in map view too (see Fossen, Fig. 21.12)</a:t>
            </a:r>
          </a:p>
          <a:p>
            <a:pPr marL="108000" indent="-108000">
              <a:buFont typeface="Arial" panose="020B0604020202020204" pitchFamily="34" charset="0"/>
              <a:buChar char="•"/>
            </a:pPr>
            <a:r>
              <a:rPr lang="en-GB" altLang="en-US" sz="1000" dirty="0"/>
              <a:t>Figure top from </a:t>
            </a:r>
            <a:r>
              <a:rPr lang="en-GB" altLang="en-US" sz="1000" dirty="0" err="1"/>
              <a:t>Groshong</a:t>
            </a:r>
            <a:r>
              <a:rPr lang="en-GB" altLang="en-US" sz="1000" dirty="0"/>
              <a:t>, 2006, </a:t>
            </a:r>
            <a:r>
              <a:rPr lang="en-GB" altLang="en-US" sz="1000" i="1" dirty="0"/>
              <a:t>3-D Structural Geology: A Practical Guide to Quantitative Surface and Subsurface Map Interpretation</a:t>
            </a:r>
            <a:r>
              <a:rPr lang="en-GB" altLang="en-US" sz="1000" dirty="0"/>
              <a:t> (2</a:t>
            </a:r>
            <a:r>
              <a:rPr lang="en-GB" altLang="en-US" sz="1000" baseline="30000" dirty="0"/>
              <a:t>nd</a:t>
            </a:r>
            <a:r>
              <a:rPr lang="en-GB" altLang="en-US" sz="1000" dirty="0"/>
              <a:t> edition), Springer, p.328</a:t>
            </a:r>
          </a:p>
          <a:p>
            <a:pPr marL="108000" indent="-108000">
              <a:buFont typeface="Arial" panose="020B0604020202020204" pitchFamily="34" charset="0"/>
              <a:buChar char="•"/>
            </a:pPr>
            <a:r>
              <a:rPr lang="en-GB" altLang="en-US" sz="1000" dirty="0"/>
              <a:t>Figure bottom redrawn by Steve Covey-Crump from </a:t>
            </a:r>
            <a:r>
              <a:rPr lang="en-GB" altLang="en-US" sz="1000" dirty="0" err="1"/>
              <a:t>Groshong</a:t>
            </a:r>
            <a:r>
              <a:rPr lang="en-GB" altLang="en-US" sz="1000" dirty="0"/>
              <a:t>, 2006, </a:t>
            </a:r>
            <a:r>
              <a:rPr lang="en-GB" altLang="en-US" sz="1000" i="1" dirty="0"/>
              <a:t>3-D Structural Geology: A Practical Guide to Quantitative Surface and Subsurface Map Interpretation</a:t>
            </a:r>
            <a:r>
              <a:rPr lang="en-GB" altLang="en-US" sz="1000" dirty="0"/>
              <a:t> (2</a:t>
            </a:r>
            <a:r>
              <a:rPr lang="en-GB" altLang="en-US" sz="1000" baseline="30000" dirty="0"/>
              <a:t>nd</a:t>
            </a:r>
            <a:r>
              <a:rPr lang="en-GB" altLang="en-US" sz="1000" dirty="0"/>
              <a:t> edition), Springer, p.366</a:t>
            </a:r>
          </a:p>
          <a:p>
            <a:pPr marL="0" indent="0">
              <a:buFont typeface="Arial" panose="020B0604020202020204" pitchFamily="34" charset="0"/>
              <a:buNone/>
            </a:pPr>
            <a:endParaRPr lang="en-GB" altLang="en-US" sz="1000"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FDE0A43C-396A-48B4-AC4E-162483EB97D0}"/>
              </a:ext>
            </a:extLst>
          </p:cNvPr>
          <p:cNvSpPr>
            <a:spLocks noGrp="1" noRot="1" noChangeAspect="1" noChangeArrowheads="1" noTextEdit="1"/>
          </p:cNvSpPr>
          <p:nvPr>
            <p:ph type="sldImg"/>
          </p:nvPr>
        </p:nvSpPr>
        <p:spPr>
          <a:ln/>
        </p:spPr>
      </p:sp>
      <p:sp>
        <p:nvSpPr>
          <p:cNvPr id="107523" name="Rectangle 3">
            <a:extLst>
              <a:ext uri="{FF2B5EF4-FFF2-40B4-BE49-F238E27FC236}">
                <a16:creationId xmlns:a16="http://schemas.microsoft.com/office/drawing/2014/main" id="{8DC893F6-15DA-4AEF-AD5C-EC2E2A03F7C0}"/>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The biggest difficulty with the no volume change assumption is that it ignores compaction (vertical shortening) of the sediments during burial. Hence, ideally compaction should be removed before restoration, </a:t>
            </a:r>
            <a:r>
              <a:rPr lang="en-GB" altLang="en-US" sz="1000" i="1" dirty="0"/>
              <a:t>e.g.</a:t>
            </a:r>
            <a:r>
              <a:rPr lang="en-GB" altLang="en-US" sz="1000" dirty="0"/>
              <a:t>, by using some lithology-specific compaction vs. depth curve (see comments in Fossen, p.446-447)</a:t>
            </a:r>
          </a:p>
          <a:p>
            <a:pPr marL="108000" indent="-108000">
              <a:buFont typeface="Arial" panose="020B0604020202020204" pitchFamily="34" charset="0"/>
              <a:buChar char="•"/>
            </a:pPr>
            <a:r>
              <a:rPr lang="en-GB" altLang="en-US" sz="1000" dirty="0"/>
              <a:t>Sections can be drawn oblique to the overall extension direction but corrections must then be applied to account for this obliquity</a:t>
            </a:r>
          </a:p>
          <a:p>
            <a:pPr marL="108000" indent="-108000">
              <a:buFont typeface="Arial" panose="020B0604020202020204" pitchFamily="34" charset="0"/>
              <a:buChar char="•"/>
            </a:pPr>
            <a:r>
              <a:rPr lang="en-GB" altLang="en-US" sz="1000" dirty="0"/>
              <a:t>Figure by Steve Covey-Crump</a:t>
            </a:r>
          </a:p>
          <a:p>
            <a:pPr marL="0" indent="0">
              <a:buFont typeface="Arial" panose="020B0604020202020204" pitchFamily="34" charset="0"/>
              <a:buNone/>
            </a:pPr>
            <a:endParaRPr lang="en-GB" altLang="en-US" sz="1000"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E4F88DE3-1D2F-409C-971E-83AAFC04EB36}"/>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6FCF8993-4E28-4F55-A0F8-91FA83E22E18}"/>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latin typeface="Times New Roman" panose="02020603050405020304" pitchFamily="18" charset="0"/>
                <a:cs typeface="Times New Roman" panose="02020603050405020304" pitchFamily="18" charset="0"/>
              </a:rPr>
              <a:t>The name ‘Chevron’ refers to the oil company that first utilized these methods. Four methods of solving the two exercises stated on this slide are illustrated. Note that these are purely graphical constructions (kinematic models). In the oblique shear method, choosing the angle of shear is not easy, although commonly it is found that </a:t>
            </a:r>
            <a:r>
              <a:rPr lang="el-GR" altLang="en-US" sz="1000" i="1" spc="150" baseline="0" dirty="0">
                <a:latin typeface="Cambria Math" panose="02040503050406030204" pitchFamily="18" charset="0"/>
                <a:ea typeface="Cambria Math" panose="02040503050406030204" pitchFamily="18" charset="0"/>
                <a:cs typeface="Times New Roman" panose="02020603050405020304" pitchFamily="18" charset="0"/>
              </a:rPr>
              <a:t>α</a:t>
            </a:r>
            <a:r>
              <a:rPr lang="en-GB" altLang="en-US" sz="1000" spc="150" baseline="0" dirty="0">
                <a:latin typeface="Times New Roman" panose="02020603050405020304" pitchFamily="18" charset="0"/>
                <a:cs typeface="Times New Roman" panose="02020603050405020304" pitchFamily="18" charset="0"/>
              </a:rPr>
              <a:t>~</a:t>
            </a:r>
            <a:r>
              <a:rPr lang="en-GB" altLang="en-US" sz="1000" dirty="0">
                <a:latin typeface="Times New Roman" panose="02020603050405020304" pitchFamily="18" charset="0"/>
                <a:cs typeface="Times New Roman" panose="02020603050405020304" pitchFamily="18" charset="0"/>
              </a:rPr>
              <a:t>60° (effectively the conjugate orientation) works well. For a comparison of these methods and a strategy for choosing the angle of shear in the oblique shear method, see </a:t>
            </a:r>
            <a:r>
              <a:rPr lang="en-GB" altLang="en-US" sz="1000" dirty="0" err="1">
                <a:latin typeface="Times New Roman" panose="02020603050405020304" pitchFamily="18" charset="0"/>
                <a:cs typeface="Times New Roman" panose="02020603050405020304" pitchFamily="18" charset="0"/>
              </a:rPr>
              <a:t>Uzkeda</a:t>
            </a:r>
            <a:r>
              <a:rPr lang="en-GB" altLang="en-US" sz="1000" dirty="0">
                <a:latin typeface="Times New Roman" panose="02020603050405020304" pitchFamily="18" charset="0"/>
                <a:cs typeface="Times New Roman" panose="02020603050405020304" pitchFamily="18" charset="0"/>
              </a:rPr>
              <a:t> </a:t>
            </a:r>
            <a:r>
              <a:rPr lang="en-GB" altLang="en-US" sz="1000" i="1" dirty="0">
                <a:latin typeface="Times New Roman" panose="02020603050405020304" pitchFamily="18" charset="0"/>
                <a:cs typeface="Times New Roman" panose="02020603050405020304" pitchFamily="18" charset="0"/>
              </a:rPr>
              <a:t>et al.</a:t>
            </a:r>
            <a:r>
              <a:rPr lang="en-GB" altLang="en-US" sz="1000" dirty="0">
                <a:latin typeface="Times New Roman" panose="02020603050405020304" pitchFamily="18" charset="0"/>
                <a:cs typeface="Times New Roman" panose="02020603050405020304" pitchFamily="18" charset="0"/>
              </a:rPr>
              <a:t>, 2014, </a:t>
            </a:r>
            <a:r>
              <a:rPr lang="en-GB" altLang="en-US" sz="1000" i="1" dirty="0">
                <a:latin typeface="Times New Roman" panose="02020603050405020304" pitchFamily="18" charset="0"/>
                <a:cs typeface="Times New Roman" panose="02020603050405020304" pitchFamily="18" charset="0"/>
              </a:rPr>
              <a:t>Journal of Structural Geology</a:t>
            </a:r>
            <a:r>
              <a:rPr lang="en-GB" altLang="en-US" sz="1000" dirty="0">
                <a:latin typeface="Times New Roman" panose="02020603050405020304" pitchFamily="18" charset="0"/>
                <a:cs typeface="Times New Roman" panose="02020603050405020304" pitchFamily="18" charset="0"/>
              </a:rPr>
              <a:t> 67: 20-36, </a:t>
            </a:r>
            <a:r>
              <a:rPr lang="en-GB" sz="1000" dirty="0"/>
              <a:t>https://doi.org/10.1016/j.jsg.2014.07.006</a:t>
            </a:r>
            <a:endParaRPr lang="en-GB" altLang="en-US" sz="1000" dirty="0">
              <a:latin typeface="Times New Roman" panose="02020603050405020304" pitchFamily="18" charset="0"/>
              <a:cs typeface="Times New Roman" panose="02020603050405020304" pitchFamily="18" charset="0"/>
            </a:endParaRPr>
          </a:p>
          <a:p>
            <a:pPr marL="108000" indent="-108000">
              <a:lnSpc>
                <a:spcPct val="100000"/>
              </a:lnSpc>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I used to run a practical class that shows how to apply these methods to get (a) the shape of a </a:t>
            </a:r>
            <a:r>
              <a:rPr lang="en-GB" altLang="en-US" sz="1000" dirty="0" err="1">
                <a:latin typeface="Times New Roman" panose="02020603050405020304" pitchFamily="18" charset="0"/>
                <a:cs typeface="Times New Roman" panose="02020603050405020304" pitchFamily="18" charset="0"/>
              </a:rPr>
              <a:t>listric</a:t>
            </a:r>
            <a:r>
              <a:rPr lang="en-GB" altLang="en-US" sz="1000" dirty="0">
                <a:latin typeface="Times New Roman" panose="02020603050405020304" pitchFamily="18" charset="0"/>
                <a:cs typeface="Times New Roman" panose="02020603050405020304" pitchFamily="18" charset="0"/>
              </a:rPr>
              <a:t> fault at depth from the known shape of a rollover </a:t>
            </a:r>
            <a:r>
              <a:rPr lang="en-GB" altLang="en-US" sz="1000" dirty="0" err="1">
                <a:latin typeface="Times New Roman" panose="02020603050405020304" pitchFamily="18" charset="0"/>
                <a:cs typeface="Times New Roman" panose="02020603050405020304" pitchFamily="18" charset="0"/>
              </a:rPr>
              <a:t>antiform</a:t>
            </a:r>
            <a:r>
              <a:rPr lang="en-GB" altLang="en-US" sz="1000" dirty="0">
                <a:latin typeface="Times New Roman" panose="02020603050405020304" pitchFamily="18" charset="0"/>
                <a:cs typeface="Times New Roman" panose="02020603050405020304" pitchFamily="18" charset="0"/>
              </a:rPr>
              <a:t>, and (b) the shape of a rollover </a:t>
            </a:r>
            <a:r>
              <a:rPr lang="en-GB" altLang="en-US" sz="1000" dirty="0" err="1">
                <a:latin typeface="Times New Roman" panose="02020603050405020304" pitchFamily="18" charset="0"/>
                <a:cs typeface="Times New Roman" panose="02020603050405020304" pitchFamily="18" charset="0"/>
              </a:rPr>
              <a:t>antiform</a:t>
            </a:r>
            <a:r>
              <a:rPr lang="en-GB" altLang="en-US" sz="1000" dirty="0">
                <a:latin typeface="Times New Roman" panose="02020603050405020304" pitchFamily="18" charset="0"/>
                <a:cs typeface="Times New Roman" panose="02020603050405020304" pitchFamily="18" charset="0"/>
              </a:rPr>
              <a:t> from the known shape of a </a:t>
            </a:r>
            <a:r>
              <a:rPr lang="en-GB" altLang="en-US" sz="1000" dirty="0" err="1">
                <a:latin typeface="Times New Roman" panose="02020603050405020304" pitchFamily="18" charset="0"/>
                <a:cs typeface="Times New Roman" panose="02020603050405020304" pitchFamily="18" charset="0"/>
              </a:rPr>
              <a:t>listric</a:t>
            </a:r>
            <a:r>
              <a:rPr lang="en-GB" altLang="en-US" sz="1000" dirty="0">
                <a:latin typeface="Times New Roman" panose="02020603050405020304" pitchFamily="18" charset="0"/>
                <a:cs typeface="Times New Roman" panose="02020603050405020304" pitchFamily="18" charset="0"/>
              </a:rPr>
              <a:t> fault. The methods may be used to recover a curve of amount of extension vs. time, that is, to get the history of fault slip</a:t>
            </a:r>
          </a:p>
          <a:p>
            <a:pPr marL="108000" indent="-108000">
              <a:lnSpc>
                <a:spcPct val="100000"/>
              </a:lnSpc>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redrawn by Steve Covey-Crump based on a figure in J-P Burg’s 2015 lecture notes (www.files.ethz.ch/structuralgeology/JPB/files/English/3extsyst.pdf), p.103, and Davison, 1986, </a:t>
            </a:r>
            <a:r>
              <a:rPr lang="en-GB" altLang="en-US" sz="1000" i="1" dirty="0">
                <a:latin typeface="Times New Roman" panose="02020603050405020304" pitchFamily="18" charset="0"/>
                <a:cs typeface="Times New Roman" panose="02020603050405020304" pitchFamily="18" charset="0"/>
              </a:rPr>
              <a:t>Journal of Structural Geology</a:t>
            </a:r>
            <a:r>
              <a:rPr lang="en-GB" altLang="en-US" sz="1000" dirty="0">
                <a:latin typeface="Times New Roman" panose="02020603050405020304" pitchFamily="18" charset="0"/>
                <a:cs typeface="Times New Roman" panose="02020603050405020304" pitchFamily="18" charset="0"/>
              </a:rPr>
              <a:t> 8: 209-210, </a:t>
            </a:r>
            <a:r>
              <a:rPr lang="en-GB" sz="1000" dirty="0"/>
              <a:t>https://doi.org/10.1016/0191-8141(86)90112-4</a:t>
            </a:r>
            <a:endParaRPr lang="en-GB" altLang="en-US" sz="1000" dirty="0">
              <a:latin typeface="Times New Roman" panose="02020603050405020304" pitchFamily="18" charset="0"/>
              <a:cs typeface="Times New Roman" panose="02020603050405020304" pitchFamily="18" charset="0"/>
            </a:endParaRPr>
          </a:p>
          <a:p>
            <a:pPr>
              <a:lnSpc>
                <a:spcPct val="100000"/>
              </a:lnSpc>
              <a:spcBef>
                <a:spcPts val="300"/>
              </a:spcBef>
              <a:buFontTx/>
              <a:buNone/>
            </a:pPr>
            <a:endParaRPr lang="en-GB" altLang="en-US" sz="1000"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A6569DA3-97C3-4AA1-912C-905E8072F60A}" type="slidenum">
              <a:rPr lang="en-GB" altLang="en-US" smtClean="0"/>
              <a:pPr/>
              <a:t>59</a:t>
            </a:fld>
            <a:endParaRPr lang="en-GB" altLang="en-US"/>
          </a:p>
        </p:txBody>
      </p:sp>
    </p:spTree>
    <p:extLst>
      <p:ext uri="{BB962C8B-B14F-4D97-AF65-F5344CB8AC3E}">
        <p14:creationId xmlns:p14="http://schemas.microsoft.com/office/powerpoint/2010/main" val="273285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292" name="Title"/>
          <p:cNvSpPr>
            <a:spLocks noGrp="1" noChangeArrowheads="1"/>
          </p:cNvSpPr>
          <p:nvPr>
            <p:ph type="ctrTitle"/>
          </p:nvPr>
        </p:nvSpPr>
        <p:spPr bwMode="black">
          <a:xfrm>
            <a:off x="566738" y="2647950"/>
            <a:ext cx="8123237" cy="6254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lvl1pPr algn="ctr">
              <a:defRPr sz="3500"/>
            </a:lvl1pPr>
          </a:lstStyle>
          <a:p>
            <a:pPr lvl="0"/>
            <a:r>
              <a:rPr lang="en-GB" noProof="0"/>
              <a:t>Click to edit Master title style</a:t>
            </a:r>
          </a:p>
        </p:txBody>
      </p:sp>
    </p:spTree>
    <p:extLst>
      <p:ext uri="{BB962C8B-B14F-4D97-AF65-F5344CB8AC3E}">
        <p14:creationId xmlns:p14="http://schemas.microsoft.com/office/powerpoint/2010/main" val="3845806905"/>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78764022"/>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24551099"/>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255588" y="917575"/>
            <a:ext cx="4291012"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03230869"/>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00358664"/>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82810626"/>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4865820"/>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54595565"/>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094668197"/>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977715940"/>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10375" y="93663"/>
            <a:ext cx="2184400" cy="65532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252413" y="93663"/>
            <a:ext cx="6405562"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660149441"/>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p:cNvSpPr>
            <a:spLocks noGrp="1"/>
          </p:cNvSpPr>
          <p:nvPr>
            <p:ph type="body" sz="half" idx="1"/>
          </p:nvPr>
        </p:nvSpPr>
        <p:spPr>
          <a:xfrm>
            <a:off x="255588" y="917575"/>
            <a:ext cx="4291012"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71766187"/>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p:cNvSpPr>
            <a:spLocks noGrp="1"/>
          </p:cNvSpPr>
          <p:nvPr>
            <p:ph type="body" sz="half" idx="1"/>
          </p:nvPr>
        </p:nvSpPr>
        <p:spPr>
          <a:xfrm>
            <a:off x="255588" y="917575"/>
            <a:ext cx="4291012"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99000" y="917575"/>
            <a:ext cx="4291013" cy="2787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99000" y="3857625"/>
            <a:ext cx="4291013" cy="2789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158149273"/>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Content Placeholder 2"/>
          <p:cNvSpPr>
            <a:spLocks noGrp="1"/>
          </p:cNvSpPr>
          <p:nvPr>
            <p:ph sz="half" idx="1"/>
          </p:nvPr>
        </p:nvSpPr>
        <p:spPr>
          <a:xfrm>
            <a:off x="255588" y="917575"/>
            <a:ext cx="4291012"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99000" y="917575"/>
            <a:ext cx="4291013" cy="2787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99000" y="3857625"/>
            <a:ext cx="4291013" cy="2789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55355053"/>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252413" y="93663"/>
            <a:ext cx="8742362" cy="541337"/>
          </a:xfrm>
        </p:spPr>
        <p:txBody>
          <a:bodyPr/>
          <a:lstStyle/>
          <a:p>
            <a:r>
              <a:rPr lang="en-US"/>
              <a:t>Click to edit Master title style</a:t>
            </a:r>
            <a:endParaRPr lang="en-GB"/>
          </a:p>
        </p:txBody>
      </p:sp>
      <p:sp>
        <p:nvSpPr>
          <p:cNvPr id="3" name="Content Placeholder 2"/>
          <p:cNvSpPr>
            <a:spLocks noGrp="1"/>
          </p:cNvSpPr>
          <p:nvPr>
            <p:ph sz="quarter" idx="1"/>
          </p:nvPr>
        </p:nvSpPr>
        <p:spPr>
          <a:xfrm>
            <a:off x="255588" y="917575"/>
            <a:ext cx="4291012" cy="2787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99000" y="917575"/>
            <a:ext cx="4291013" cy="2787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255588" y="3857625"/>
            <a:ext cx="4291012" cy="2789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5"/>
          <p:cNvSpPr>
            <a:spLocks noGrp="1"/>
          </p:cNvSpPr>
          <p:nvPr>
            <p:ph sz="quarter" idx="4"/>
          </p:nvPr>
        </p:nvSpPr>
        <p:spPr>
          <a:xfrm>
            <a:off x="4699000" y="3857625"/>
            <a:ext cx="4291013" cy="2789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51647712"/>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7" name="Rectangle 3">
            <a:extLst>
              <a:ext uri="{FF2B5EF4-FFF2-40B4-BE49-F238E27FC236}">
                <a16:creationId xmlns:a16="http://schemas.microsoft.com/office/drawing/2014/main" id="{FC4849A6-2F9E-4C95-BB91-FA3E1697283D}"/>
              </a:ext>
            </a:extLst>
          </p:cNvPr>
          <p:cNvSpPr>
            <a:spLocks noGrp="1" noChangeArrowheads="1"/>
          </p:cNvSpPr>
          <p:nvPr>
            <p:ph type="title"/>
          </p:nvPr>
        </p:nvSpPr>
        <p:spPr bwMode="auto">
          <a:xfrm>
            <a:off x="252413" y="93663"/>
            <a:ext cx="8742362"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GB"/>
              <a:t>Click to edit Master title style</a:t>
            </a:r>
          </a:p>
        </p:txBody>
      </p:sp>
      <p:sp>
        <p:nvSpPr>
          <p:cNvPr id="11268" name="Rectangle 4">
            <a:extLst>
              <a:ext uri="{FF2B5EF4-FFF2-40B4-BE49-F238E27FC236}">
                <a16:creationId xmlns:a16="http://schemas.microsoft.com/office/drawing/2014/main" id="{863CF8C2-2729-4A24-884F-1372A042E62D}"/>
              </a:ext>
            </a:extLst>
          </p:cNvPr>
          <p:cNvSpPr>
            <a:spLocks noGrp="1" noChangeArrowheads="1"/>
          </p:cNvSpPr>
          <p:nvPr>
            <p:ph type="body" idx="1"/>
          </p:nvPr>
        </p:nvSpPr>
        <p:spPr bwMode="auto">
          <a:xfrm>
            <a:off x="255588" y="917575"/>
            <a:ext cx="8734425" cy="572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288" name="Line 24">
            <a:extLst>
              <a:ext uri="{FF2B5EF4-FFF2-40B4-BE49-F238E27FC236}">
                <a16:creationId xmlns:a16="http://schemas.microsoft.com/office/drawing/2014/main" id="{9303B552-E20A-41C4-B46B-E9731036C879}"/>
              </a:ext>
            </a:extLst>
          </p:cNvPr>
          <p:cNvSpPr>
            <a:spLocks noChangeShapeType="1"/>
          </p:cNvSpPr>
          <p:nvPr userDrawn="1"/>
        </p:nvSpPr>
        <p:spPr bwMode="auto">
          <a:xfrm>
            <a:off x="0" y="73501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 bg1="dk2" tx1="lt1" bg2="dk1" tx2="lt2" accent1="accent1" accent2="accent2" accent3="accent3" accent4="accent4" accent5="accent5" accent6="accent6" hlink="hlink" folHlink="folHlink"/>
  <p:sldLayoutIdLst>
    <p:sldLayoutId id="2147483711" r:id="rId1"/>
    <p:sldLayoutId id="2147483710" r:id="rId2"/>
    <p:sldLayoutId id="2147483709" r:id="rId3"/>
    <p:sldLayoutId id="2147483708" r:id="rId4"/>
    <p:sldLayoutId id="2147483707" r:id="rId5"/>
    <p:sldLayoutId id="2147483706" r:id="rId6"/>
    <p:sldLayoutId id="2147483705" r:id="rId7"/>
    <p:sldLayoutId id="2147483704" r:id="rId8"/>
    <p:sldLayoutId id="2147483703" r:id="rId9"/>
    <p:sldLayoutId id="2147483702" r:id="rId10"/>
    <p:sldLayoutId id="2147483701" r:id="rId11"/>
    <p:sldLayoutId id="2147483700" r:id="rId12"/>
    <p:sldLayoutId id="2147483699" r:id="rId13"/>
    <p:sldLayoutId id="2147483698" r:id="rId14"/>
    <p:sldLayoutId id="2147483697" r:id="rId15"/>
  </p:sldLayoutIdLst>
  <p:transition spd="slow"/>
  <p:txStyles>
    <p:titleStyle>
      <a:lvl1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2pPr>
      <a:lvl3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3pPr>
      <a:lvl4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4pPr>
      <a:lvl5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5pPr>
      <a:lvl6pPr marL="4572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6pPr>
      <a:lvl7pPr marL="9144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7pPr>
      <a:lvl8pPr marL="13716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8pPr>
      <a:lvl9pPr marL="18288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9pPr>
    </p:titleStyle>
    <p:bodyStyle>
      <a:lvl1pPr marL="288925" indent="-288925" algn="l" rtl="0" eaLnBrk="0" fontAlgn="base" hangingPunct="0">
        <a:lnSpc>
          <a:spcPct val="120000"/>
        </a:lnSpc>
        <a:spcBef>
          <a:spcPct val="100000"/>
        </a:spcBef>
        <a:spcAft>
          <a:spcPct val="0"/>
        </a:spcAft>
        <a:buClr>
          <a:schemeClr val="folHlink"/>
        </a:buClr>
        <a:buSzPct val="100000"/>
        <a:buFont typeface="Times" panose="02020603050405020304" pitchFamily="18" charset="0"/>
        <a:buChar char="•"/>
        <a:defRPr sz="2000">
          <a:solidFill>
            <a:schemeClr val="tx1"/>
          </a:solidFill>
          <a:effectLst>
            <a:outerShdw blurRad="38100" dist="38100" dir="2700000" algn="tl">
              <a:srgbClr val="000000"/>
            </a:outerShdw>
          </a:effectLst>
          <a:latin typeface="+mn-lt"/>
          <a:ea typeface="+mn-ea"/>
          <a:cs typeface="+mn-cs"/>
        </a:defRPr>
      </a:lvl1pPr>
      <a:lvl2pPr marL="762000" indent="-187325" algn="l" rtl="0" eaLnBrk="0" fontAlgn="base" hangingPunct="0">
        <a:lnSpc>
          <a:spcPct val="120000"/>
        </a:lnSpc>
        <a:spcBef>
          <a:spcPct val="50000"/>
        </a:spcBef>
        <a:spcAft>
          <a:spcPct val="0"/>
        </a:spcAft>
        <a:buClr>
          <a:schemeClr val="folHlink"/>
        </a:buClr>
        <a:buSzPct val="100000"/>
        <a:buFont typeface="Times" panose="02020603050405020304" pitchFamily="18" charset="0"/>
        <a:buChar char="•"/>
        <a:defRPr>
          <a:solidFill>
            <a:schemeClr val="tx1"/>
          </a:solidFill>
          <a:effectLst>
            <a:outerShdw blurRad="38100" dist="38100" dir="2700000" algn="tl">
              <a:srgbClr val="000000"/>
            </a:outerShdw>
          </a:effectLst>
          <a:latin typeface="+mn-lt"/>
        </a:defRPr>
      </a:lvl2pPr>
      <a:lvl3pPr marL="1235075" indent="-18415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3pPr>
      <a:lvl4pPr marL="1698625" indent="-22860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4pPr>
      <a:lvl5pPr marL="2117725" indent="-228600" algn="l" rtl="0" eaLnBrk="0" fontAlgn="base" hangingPunct="0">
        <a:spcBef>
          <a:spcPct val="25000"/>
        </a:spcBef>
        <a:spcAft>
          <a:spcPct val="0"/>
        </a:spcAft>
        <a:buClr>
          <a:schemeClr val="folHlink"/>
        </a:buClr>
        <a:buSzPct val="50000"/>
        <a:buFont typeface="Times" panose="02020603050405020304" pitchFamily="18" charset="0"/>
        <a:buChar char="•"/>
        <a:defRPr sz="1600">
          <a:solidFill>
            <a:schemeClr val="tx1"/>
          </a:solidFill>
          <a:effectLst>
            <a:outerShdw blurRad="38100" dist="38100" dir="2700000" algn="tl">
              <a:srgbClr val="000000"/>
            </a:outerShdw>
          </a:effectLst>
          <a:latin typeface="+mn-lt"/>
        </a:defRPr>
      </a:lvl5pPr>
      <a:lvl6pPr marL="25749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6pPr>
      <a:lvl7pPr marL="30321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7pPr>
      <a:lvl8pPr marL="34893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8pPr>
      <a:lvl9pPr marL="39465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17.jpe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21.png"/><Relationship Id="rId5" Type="http://schemas.openxmlformats.org/officeDocument/2006/relationships/image" Target="../media/image20.jpeg"/><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32.jpeg"/><Relationship Id="rId4" Type="http://schemas.openxmlformats.org/officeDocument/2006/relationships/image" Target="../media/image31.jpeg"/></Relationships>
</file>

<file path=ppt/slides/_rels/slide1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35.jpe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image" Target="../media/image37.jpeg"/></Relationships>
</file>

<file path=ppt/slides/_rels/slide1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42.jpeg"/></Relationships>
</file>

<file path=ppt/slides/_rels/slide2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45.jpeg"/></Relationships>
</file>

<file path=ppt/slides/_rels/slide2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openxmlformats.org/officeDocument/2006/relationships/image" Target="../media/image49.jpeg"/><Relationship Id="rId4" Type="http://schemas.openxmlformats.org/officeDocument/2006/relationships/image" Target="../media/image48.jpeg"/></Relationships>
</file>

<file path=ppt/slides/_rels/slide2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52.jpeg"/><Relationship Id="rId4" Type="http://schemas.openxmlformats.org/officeDocument/2006/relationships/image" Target="../media/image51.jpeg"/></Relationships>
</file>

<file path=ppt/slides/_rels/slide2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54.jpeg"/></Relationships>
</file>

<file path=ppt/slides/_rels/slide2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56.jpeg"/></Relationships>
</file>

<file path=ppt/slides/_rels/slide2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58.jpg"/></Relationships>
</file>

<file path=ppt/slides/_rels/slide29.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60.jpeg"/></Relationships>
</file>

<file path=ppt/slides/_rels/slide3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0.xml"/><Relationship Id="rId1" Type="http://schemas.openxmlformats.org/officeDocument/2006/relationships/slideLayout" Target="../slideLayouts/slideLayout13.xml"/><Relationship Id="rId5" Type="http://schemas.openxmlformats.org/officeDocument/2006/relationships/image" Target="../media/image63.jpg"/><Relationship Id="rId4" Type="http://schemas.openxmlformats.org/officeDocument/2006/relationships/image" Target="../media/image62.jpeg"/></Relationships>
</file>

<file path=ppt/slides/_rels/slide31.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65.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33.xml"/><Relationship Id="rId1" Type="http://schemas.openxmlformats.org/officeDocument/2006/relationships/slideLayout" Target="../slideLayouts/slideLayout13.xml"/><Relationship Id="rId5" Type="http://schemas.openxmlformats.org/officeDocument/2006/relationships/image" Target="../media/image68.jpeg"/><Relationship Id="rId4" Type="http://schemas.openxmlformats.org/officeDocument/2006/relationships/image" Target="../media/image67.jpeg"/></Relationships>
</file>

<file path=ppt/slides/_rels/slide34.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34.xml"/><Relationship Id="rId1" Type="http://schemas.openxmlformats.org/officeDocument/2006/relationships/slideLayout" Target="../slideLayouts/slideLayout13.xml"/><Relationship Id="rId5" Type="http://schemas.openxmlformats.org/officeDocument/2006/relationships/image" Target="../media/image71.jpeg"/><Relationship Id="rId4" Type="http://schemas.openxmlformats.org/officeDocument/2006/relationships/image" Target="../media/image70.jpeg"/></Relationships>
</file>

<file path=ppt/slides/_rels/slide35.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9.xml"/><Relationship Id="rId1" Type="http://schemas.openxmlformats.org/officeDocument/2006/relationships/slideLayout" Target="../slideLayouts/slideLayout13.xml"/><Relationship Id="rId5" Type="http://schemas.openxmlformats.org/officeDocument/2006/relationships/image" Target="../media/image77.jpg"/><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41.xml"/><Relationship Id="rId1" Type="http://schemas.openxmlformats.org/officeDocument/2006/relationships/slideLayout" Target="../slideLayouts/slideLayout13.xml"/><Relationship Id="rId4" Type="http://schemas.openxmlformats.org/officeDocument/2006/relationships/image" Target="../media/image80.jpeg"/></Relationships>
</file>

<file path=ppt/slides/_rels/slide4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2.xml"/><Relationship Id="rId1" Type="http://schemas.openxmlformats.org/officeDocument/2006/relationships/slideLayout" Target="../slideLayouts/slideLayout13.xml"/><Relationship Id="rId5" Type="http://schemas.openxmlformats.org/officeDocument/2006/relationships/image" Target="../media/image82.jpeg"/><Relationship Id="rId4" Type="http://schemas.microsoft.com/office/2007/relationships/hdphoto" Target="../media/hdphoto2.wdp"/></Relationships>
</file>

<file path=ppt/slides/_rels/slide43.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43.xml"/><Relationship Id="rId1" Type="http://schemas.openxmlformats.org/officeDocument/2006/relationships/slideLayout" Target="../slideLayouts/slideLayout13.xml"/><Relationship Id="rId5" Type="http://schemas.openxmlformats.org/officeDocument/2006/relationships/image" Target="../media/image85.jpeg"/><Relationship Id="rId4" Type="http://schemas.openxmlformats.org/officeDocument/2006/relationships/image" Target="../media/image84.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89.jpeg"/></Relationships>
</file>

<file path=ppt/slides/_rels/slide48.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48.xml"/><Relationship Id="rId1" Type="http://schemas.openxmlformats.org/officeDocument/2006/relationships/slideLayout" Target="../slideLayouts/slideLayout13.xml"/><Relationship Id="rId6" Type="http://schemas.openxmlformats.org/officeDocument/2006/relationships/image" Target="../media/image93.jpeg"/><Relationship Id="rId5" Type="http://schemas.openxmlformats.org/officeDocument/2006/relationships/image" Target="../media/image92.png"/><Relationship Id="rId4" Type="http://schemas.openxmlformats.org/officeDocument/2006/relationships/image" Target="../media/image91.jpeg"/></Relationships>
</file>

<file path=ppt/slides/_rels/slide49.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49.xml"/><Relationship Id="rId1" Type="http://schemas.openxmlformats.org/officeDocument/2006/relationships/slideLayout" Target="../slideLayouts/slideLayout13.xml"/><Relationship Id="rId4" Type="http://schemas.openxmlformats.org/officeDocument/2006/relationships/image" Target="../media/image95.jpeg"/></Relationships>
</file>

<file path=ppt/slides/_rels/slide50.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openxmlformats.org/officeDocument/2006/relationships/image" Target="../media/image98.jpe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102.jpeg"/></Relationships>
</file>

<file path=ppt/slides/_rels/slide5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740C8BF4-30AF-4BF1-B474-8A59C925FCB6}"/>
              </a:ext>
            </a:extLst>
          </p:cNvPr>
          <p:cNvSpPr>
            <a:spLocks noGrp="1" noChangeArrowheads="1"/>
          </p:cNvSpPr>
          <p:nvPr>
            <p:ph type="ctrTitle"/>
          </p:nvPr>
        </p:nvSpPr>
        <p:spPr>
          <a:xfrm>
            <a:off x="239713" y="967538"/>
            <a:ext cx="8705850" cy="3213187"/>
          </a:xfrm>
        </p:spPr>
        <p:txBody>
          <a:bodyPr/>
          <a:lstStyle/>
          <a:p>
            <a:pPr>
              <a:lnSpc>
                <a:spcPct val="120000"/>
              </a:lnSpc>
              <a:defRPr/>
            </a:pPr>
            <a:r>
              <a:rPr lang="en-US" sz="3200" dirty="0"/>
              <a:t>EART 28202 :  Structural Geology</a:t>
            </a:r>
            <a:br>
              <a:rPr lang="en-US" sz="3200" dirty="0"/>
            </a:br>
            <a:br>
              <a:rPr lang="en-US" dirty="0"/>
            </a:br>
            <a:br>
              <a:rPr lang="en-US" dirty="0"/>
            </a:br>
            <a:br>
              <a:rPr lang="en-US" dirty="0"/>
            </a:br>
            <a:r>
              <a:rPr lang="en-US" sz="3200" dirty="0">
                <a:solidFill>
                  <a:srgbClr val="FF6600"/>
                </a:solidFill>
              </a:rPr>
              <a:t>Class 9 :  Extensional Tectonic Regimes</a:t>
            </a:r>
            <a:endParaRPr lang="en-US" sz="2600" dirty="0">
              <a:solidFill>
                <a:srgbClr val="FF6600"/>
              </a:solidFill>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2579D78-FFAD-421B-9EC6-202504CB1925}"/>
              </a:ext>
            </a:extLst>
          </p:cNvPr>
          <p:cNvSpPr>
            <a:spLocks noGrp="1" noChangeArrowheads="1"/>
          </p:cNvSpPr>
          <p:nvPr>
            <p:ph type="title"/>
          </p:nvPr>
        </p:nvSpPr>
        <p:spPr>
          <a:noFill/>
        </p:spPr>
        <p:txBody>
          <a:bodyPr/>
          <a:lstStyle/>
          <a:p>
            <a:r>
              <a:rPr lang="en-GB" altLang="en-US">
                <a:effectLst/>
              </a:rPr>
              <a:t>Extensional tectonic regimes</a:t>
            </a:r>
          </a:p>
        </p:txBody>
      </p:sp>
      <p:sp>
        <p:nvSpPr>
          <p:cNvPr id="4099" name="Rectangle 3">
            <a:extLst>
              <a:ext uri="{FF2B5EF4-FFF2-40B4-BE49-F238E27FC236}">
                <a16:creationId xmlns:a16="http://schemas.microsoft.com/office/drawing/2014/main" id="{AC8675B5-93A4-4CD0-978D-AE9D5ED45248}"/>
              </a:ext>
            </a:extLst>
          </p:cNvPr>
          <p:cNvSpPr>
            <a:spLocks noGrp="1" noChangeArrowheads="1"/>
          </p:cNvSpPr>
          <p:nvPr>
            <p:ph type="body" sz="half" idx="1"/>
          </p:nvPr>
        </p:nvSpPr>
        <p:spPr>
          <a:xfrm>
            <a:off x="130175" y="769938"/>
            <a:ext cx="8896350" cy="2090737"/>
          </a:xfrm>
          <a:noFill/>
        </p:spPr>
        <p:txBody>
          <a:bodyPr/>
          <a:lstStyle/>
          <a:p>
            <a:pPr marL="177800" indent="-177800">
              <a:spcBef>
                <a:spcPct val="75000"/>
              </a:spcBef>
            </a:pPr>
            <a:r>
              <a:rPr lang="en-GB" altLang="en-US" sz="1700" dirty="0">
                <a:effectLst/>
              </a:rPr>
              <a:t>In the </a:t>
            </a:r>
            <a:r>
              <a:rPr lang="en-GB" altLang="en-US" sz="1700" dirty="0">
                <a:solidFill>
                  <a:srgbClr val="FF66FF"/>
                </a:solidFill>
                <a:effectLst/>
              </a:rPr>
              <a:t>mid-1980s</a:t>
            </a:r>
            <a:r>
              <a:rPr lang="en-GB" altLang="en-US" sz="1700" dirty="0">
                <a:effectLst/>
              </a:rPr>
              <a:t>, shortly after the period when the orogenic significance of thrust systems became more widely appreciated, a similar breakthrough in understanding was achieved for </a:t>
            </a:r>
            <a:r>
              <a:rPr lang="en-GB" altLang="en-US" sz="1700" dirty="0">
                <a:solidFill>
                  <a:srgbClr val="FF6600"/>
                </a:solidFill>
                <a:effectLst/>
              </a:rPr>
              <a:t>extensional fault systems</a:t>
            </a:r>
          </a:p>
          <a:p>
            <a:pPr marL="177800" indent="-177800">
              <a:spcBef>
                <a:spcPct val="50000"/>
              </a:spcBef>
            </a:pPr>
            <a:r>
              <a:rPr lang="en-GB" altLang="en-US" sz="1700" dirty="0">
                <a:effectLst/>
              </a:rPr>
              <a:t>This led to a major re-evaluation of the importance of extensional phases within </a:t>
            </a:r>
            <a:r>
              <a:rPr lang="en-GB" altLang="en-US" sz="1700" dirty="0">
                <a:solidFill>
                  <a:srgbClr val="FF66FF"/>
                </a:solidFill>
                <a:effectLst/>
              </a:rPr>
              <a:t>orogenic cycles</a:t>
            </a:r>
            <a:r>
              <a:rPr lang="en-GB" altLang="en-US" sz="1700" dirty="0">
                <a:effectLst/>
              </a:rPr>
              <a:t>, and to a new understanding of the </a:t>
            </a:r>
            <a:r>
              <a:rPr lang="en-GB" altLang="en-US" sz="1700" dirty="0">
                <a:solidFill>
                  <a:srgbClr val="FF66FF"/>
                </a:solidFill>
                <a:effectLst/>
              </a:rPr>
              <a:t>interrelationships between the structures</a:t>
            </a:r>
            <a:r>
              <a:rPr lang="en-GB" altLang="en-US" sz="1700" dirty="0">
                <a:effectLst/>
              </a:rPr>
              <a:t> that are found within extensional terrains</a:t>
            </a:r>
          </a:p>
        </p:txBody>
      </p:sp>
      <p:sp>
        <p:nvSpPr>
          <p:cNvPr id="233478" name="Text Box 6">
            <a:extLst>
              <a:ext uri="{FF2B5EF4-FFF2-40B4-BE49-F238E27FC236}">
                <a16:creationId xmlns:a16="http://schemas.microsoft.com/office/drawing/2014/main" id="{D9D07EEC-6FD7-4857-BFBE-CE89C750EA55}"/>
              </a:ext>
            </a:extLst>
          </p:cNvPr>
          <p:cNvSpPr txBox="1">
            <a:spLocks noChangeArrowheads="1"/>
          </p:cNvSpPr>
          <p:nvPr/>
        </p:nvSpPr>
        <p:spPr bwMode="auto">
          <a:xfrm>
            <a:off x="903288" y="6342063"/>
            <a:ext cx="4648200"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defRPr/>
            </a:pPr>
            <a:r>
              <a:rPr lang="en-GB" sz="1400">
                <a:solidFill>
                  <a:srgbClr val="FFFF00"/>
                </a:solidFill>
                <a:effectLst>
                  <a:outerShdw blurRad="38100" dist="38100" dir="2700000" algn="tl">
                    <a:srgbClr val="000000"/>
                  </a:outerShdw>
                </a:effectLst>
                <a:latin typeface="Arial" charset="0"/>
              </a:rPr>
              <a:t>Extensional faults in the footwall of the Moab Fault, Utah</a:t>
            </a:r>
          </a:p>
        </p:txBody>
      </p:sp>
      <p:sp>
        <p:nvSpPr>
          <p:cNvPr id="233479" name="Text Box 7">
            <a:extLst>
              <a:ext uri="{FF2B5EF4-FFF2-40B4-BE49-F238E27FC236}">
                <a16:creationId xmlns:a16="http://schemas.microsoft.com/office/drawing/2014/main" id="{FE116E42-B299-4653-B25F-963EDE82A001}"/>
              </a:ext>
            </a:extLst>
          </p:cNvPr>
          <p:cNvSpPr txBox="1">
            <a:spLocks noChangeArrowheads="1"/>
          </p:cNvSpPr>
          <p:nvPr/>
        </p:nvSpPr>
        <p:spPr bwMode="auto">
          <a:xfrm>
            <a:off x="6462585" y="2974975"/>
            <a:ext cx="2561668" cy="3516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7800" indent="-1778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mn-lt"/>
              </a:rPr>
              <a:t>Many of the world’s </a:t>
            </a:r>
            <a:r>
              <a:rPr lang="en-GB" altLang="en-US" sz="1700" dirty="0">
                <a:solidFill>
                  <a:srgbClr val="FF66FF"/>
                </a:solidFill>
                <a:effectLst>
                  <a:outerShdw blurRad="38100" dist="38100" dir="2700000" algn="tl">
                    <a:srgbClr val="000000"/>
                  </a:outerShdw>
                </a:effectLst>
                <a:latin typeface="+mn-lt"/>
              </a:rPr>
              <a:t>hydrocarbon reservoirs</a:t>
            </a:r>
            <a:r>
              <a:rPr lang="en-GB" altLang="en-US" sz="1700" dirty="0">
                <a:effectLst>
                  <a:outerShdw blurRad="38100" dist="38100" dir="2700000" algn="tl">
                    <a:srgbClr val="000000"/>
                  </a:outerShdw>
                </a:effectLst>
                <a:latin typeface="+mn-lt"/>
              </a:rPr>
              <a:t> are located in extensional terrains, and so many of the techniques used to unravel the geometry of extensional fault systems were developed within that industry</a:t>
            </a:r>
          </a:p>
        </p:txBody>
      </p:sp>
      <p:pic>
        <p:nvPicPr>
          <p:cNvPr id="4102" name="Picture 9" descr="01a-Moab Fault footwall UT">
            <a:extLst>
              <a:ext uri="{FF2B5EF4-FFF2-40B4-BE49-F238E27FC236}">
                <a16:creationId xmlns:a16="http://schemas.microsoft.com/office/drawing/2014/main" id="{30760B40-6B07-4187-85E5-9469E8E2AF5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58775" y="3016250"/>
            <a:ext cx="5970588" cy="32448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99D51FCE-000D-4CDA-B36F-ADF5413C4FF1}"/>
              </a:ext>
            </a:extLst>
          </p:cNvPr>
          <p:cNvSpPr>
            <a:spLocks noGrp="1" noChangeArrowheads="1"/>
          </p:cNvSpPr>
          <p:nvPr>
            <p:ph type="title"/>
          </p:nvPr>
        </p:nvSpPr>
        <p:spPr>
          <a:noFill/>
        </p:spPr>
        <p:txBody>
          <a:bodyPr/>
          <a:lstStyle/>
          <a:p>
            <a:r>
              <a:rPr lang="en-GB" altLang="en-US">
                <a:effectLst/>
              </a:rPr>
              <a:t>Rifts</a:t>
            </a:r>
          </a:p>
        </p:txBody>
      </p:sp>
      <p:sp>
        <p:nvSpPr>
          <p:cNvPr id="5123" name="Rectangle 3">
            <a:extLst>
              <a:ext uri="{FF2B5EF4-FFF2-40B4-BE49-F238E27FC236}">
                <a16:creationId xmlns:a16="http://schemas.microsoft.com/office/drawing/2014/main" id="{E606AD6E-61B5-40D7-9B56-8D0C05296D8C}"/>
              </a:ext>
            </a:extLst>
          </p:cNvPr>
          <p:cNvSpPr>
            <a:spLocks noGrp="1" noChangeArrowheads="1"/>
          </p:cNvSpPr>
          <p:nvPr>
            <p:ph type="body" sz="half" idx="1"/>
          </p:nvPr>
        </p:nvSpPr>
        <p:spPr>
          <a:xfrm>
            <a:off x="120650" y="863600"/>
            <a:ext cx="4945063" cy="3011488"/>
          </a:xfrm>
          <a:noFill/>
        </p:spPr>
        <p:txBody>
          <a:bodyPr/>
          <a:lstStyle/>
          <a:p>
            <a:pPr marL="177800" indent="-177800"/>
            <a:r>
              <a:rPr lang="en-GB" altLang="en-US" sz="1700" dirty="0">
                <a:effectLst/>
              </a:rPr>
              <a:t>The most obvious regional scale extensional tectonic system is the </a:t>
            </a:r>
            <a:r>
              <a:rPr lang="en-GB" altLang="en-US" sz="1700" dirty="0">
                <a:solidFill>
                  <a:srgbClr val="FF6600"/>
                </a:solidFill>
                <a:effectLst/>
              </a:rPr>
              <a:t>rift</a:t>
            </a:r>
            <a:endParaRPr lang="en-GB" altLang="en-US" sz="1700" dirty="0">
              <a:effectLst/>
            </a:endParaRPr>
          </a:p>
          <a:p>
            <a:pPr marL="177800" indent="-177800">
              <a:spcBef>
                <a:spcPct val="75000"/>
              </a:spcBef>
            </a:pPr>
            <a:r>
              <a:rPr lang="en-GB" altLang="en-US" sz="1700" dirty="0">
                <a:effectLst/>
              </a:rPr>
              <a:t>Rifting is usually some combination of</a:t>
            </a:r>
          </a:p>
          <a:p>
            <a:pPr marL="450000" lvl="1" indent="-268288">
              <a:spcBef>
                <a:spcPct val="25000"/>
              </a:spcBef>
              <a:buFont typeface="Wingdings" panose="05000000000000000000" pitchFamily="2" charset="2"/>
              <a:buChar char="Ø"/>
            </a:pPr>
            <a:r>
              <a:rPr lang="en-GB" altLang="en-US" sz="1700" dirty="0">
                <a:solidFill>
                  <a:srgbClr val="FF66FF"/>
                </a:solidFill>
                <a:effectLst/>
              </a:rPr>
              <a:t>active rifting</a:t>
            </a:r>
            <a:r>
              <a:rPr lang="en-GB" altLang="en-US" sz="1700" dirty="0">
                <a:effectLst/>
              </a:rPr>
              <a:t>: driven by rising hot mantle material that causes crustal doming and thereby generates tensile stresses, and</a:t>
            </a:r>
          </a:p>
          <a:p>
            <a:pPr marL="450000" lvl="1" indent="-268288">
              <a:spcBef>
                <a:spcPct val="25000"/>
              </a:spcBef>
              <a:buFont typeface="Wingdings" panose="05000000000000000000" pitchFamily="2" charset="2"/>
              <a:buChar char="Ø"/>
            </a:pPr>
            <a:r>
              <a:rPr lang="en-GB" altLang="en-US" sz="1700" dirty="0">
                <a:solidFill>
                  <a:srgbClr val="FF66FF"/>
                </a:solidFill>
                <a:effectLst/>
              </a:rPr>
              <a:t>passive rifting</a:t>
            </a:r>
            <a:r>
              <a:rPr lang="en-GB" altLang="en-US" sz="1700" dirty="0">
                <a:effectLst/>
              </a:rPr>
              <a:t>: developed in response to far-field stresses related to plate movement</a:t>
            </a:r>
          </a:p>
        </p:txBody>
      </p:sp>
      <p:grpSp>
        <p:nvGrpSpPr>
          <p:cNvPr id="5125" name="Group 10">
            <a:extLst>
              <a:ext uri="{FF2B5EF4-FFF2-40B4-BE49-F238E27FC236}">
                <a16:creationId xmlns:a16="http://schemas.microsoft.com/office/drawing/2014/main" id="{B6BF4013-1135-4B01-9ECD-70101D6308F7}"/>
              </a:ext>
            </a:extLst>
          </p:cNvPr>
          <p:cNvGrpSpPr>
            <a:grpSpLocks/>
          </p:cNvGrpSpPr>
          <p:nvPr/>
        </p:nvGrpSpPr>
        <p:grpSpPr bwMode="auto">
          <a:xfrm>
            <a:off x="169863" y="4065588"/>
            <a:ext cx="4835525" cy="1277937"/>
            <a:chOff x="204" y="3446"/>
            <a:chExt cx="2914" cy="770"/>
          </a:xfrm>
        </p:grpSpPr>
        <p:sp>
          <p:nvSpPr>
            <p:cNvPr id="242697" name="Rectangle 9">
              <a:extLst>
                <a:ext uri="{FF2B5EF4-FFF2-40B4-BE49-F238E27FC236}">
                  <a16:creationId xmlns:a16="http://schemas.microsoft.com/office/drawing/2014/main" id="{ABAD682F-233B-4DF5-AD83-0AD71566204E}"/>
                </a:ext>
              </a:extLst>
            </p:cNvPr>
            <p:cNvSpPr>
              <a:spLocks noChangeArrowheads="1"/>
            </p:cNvSpPr>
            <p:nvPr/>
          </p:nvSpPr>
          <p:spPr bwMode="auto">
            <a:xfrm>
              <a:off x="204" y="3446"/>
              <a:ext cx="2914" cy="77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5129" name="Picture 2" descr="GR16.jpg">
              <a:extLst>
                <a:ext uri="{FF2B5EF4-FFF2-40B4-BE49-F238E27FC236}">
                  <a16:creationId xmlns:a16="http://schemas.microsoft.com/office/drawing/2014/main" id="{C7C8D5D1-2EF9-4A55-8B0C-7BB5ABE32D8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4" y="3482"/>
              <a:ext cx="2839" cy="7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2696" name="Rectangle 8">
              <a:extLst>
                <a:ext uri="{FF2B5EF4-FFF2-40B4-BE49-F238E27FC236}">
                  <a16:creationId xmlns:a16="http://schemas.microsoft.com/office/drawing/2014/main" id="{2F9EC636-5A3F-4D5C-A075-2EA011804175}"/>
                </a:ext>
              </a:extLst>
            </p:cNvPr>
            <p:cNvSpPr>
              <a:spLocks noChangeArrowheads="1"/>
            </p:cNvSpPr>
            <p:nvPr/>
          </p:nvSpPr>
          <p:spPr bwMode="auto">
            <a:xfrm>
              <a:off x="238" y="3562"/>
              <a:ext cx="100" cy="121"/>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grpSp>
      <p:sp>
        <p:nvSpPr>
          <p:cNvPr id="242699" name="Text Box 11">
            <a:extLst>
              <a:ext uri="{FF2B5EF4-FFF2-40B4-BE49-F238E27FC236}">
                <a16:creationId xmlns:a16="http://schemas.microsoft.com/office/drawing/2014/main" id="{A59C214C-3468-47FD-B4FE-363A9D9119D5}"/>
              </a:ext>
            </a:extLst>
          </p:cNvPr>
          <p:cNvSpPr txBox="1">
            <a:spLocks noChangeArrowheads="1"/>
          </p:cNvSpPr>
          <p:nvPr/>
        </p:nvSpPr>
        <p:spPr bwMode="auto">
          <a:xfrm>
            <a:off x="644525" y="5432425"/>
            <a:ext cx="4038600" cy="858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defRPr/>
            </a:pPr>
            <a:r>
              <a:rPr lang="en-GB" sz="1400" dirty="0">
                <a:solidFill>
                  <a:srgbClr val="FFFF00"/>
                </a:solidFill>
                <a:effectLst>
                  <a:outerShdw blurRad="38100" dist="38100" dir="2700000" algn="tl">
                    <a:srgbClr val="000000"/>
                  </a:outerShdw>
                </a:effectLst>
                <a:latin typeface="Arial" charset="0"/>
              </a:rPr>
              <a:t>The North Sea rift system formed in two E-W extensional episodes, one in the </a:t>
            </a:r>
            <a:r>
              <a:rPr lang="en-GB" sz="1400" dirty="0" err="1">
                <a:solidFill>
                  <a:srgbClr val="FFFF00"/>
                </a:solidFill>
                <a:effectLst>
                  <a:outerShdw blurRad="38100" dist="38100" dir="2700000" algn="tl">
                    <a:srgbClr val="000000"/>
                  </a:outerShdw>
                </a:effectLst>
                <a:latin typeface="Arial" charset="0"/>
              </a:rPr>
              <a:t>Permo</a:t>
            </a:r>
            <a:r>
              <a:rPr lang="en-GB" sz="1400" dirty="0">
                <a:solidFill>
                  <a:srgbClr val="FFFF00"/>
                </a:solidFill>
                <a:effectLst>
                  <a:outerShdw blurRad="38100" dist="38100" dir="2700000" algn="tl">
                    <a:srgbClr val="000000"/>
                  </a:outerShdw>
                </a:effectLst>
                <a:latin typeface="Arial" charset="0"/>
              </a:rPr>
              <a:t>-Triassic and the other in the Late Jurassic</a:t>
            </a:r>
          </a:p>
        </p:txBody>
      </p:sp>
      <p:sp>
        <p:nvSpPr>
          <p:cNvPr id="5127" name="Text Box 12">
            <a:extLst>
              <a:ext uri="{FF2B5EF4-FFF2-40B4-BE49-F238E27FC236}">
                <a16:creationId xmlns:a16="http://schemas.microsoft.com/office/drawing/2014/main" id="{E6996892-8079-4199-BE11-20744FF71316}"/>
              </a:ext>
            </a:extLst>
          </p:cNvPr>
          <p:cNvSpPr txBox="1">
            <a:spLocks noChangeArrowheads="1"/>
          </p:cNvSpPr>
          <p:nvPr/>
        </p:nvSpPr>
        <p:spPr bwMode="auto">
          <a:xfrm>
            <a:off x="7826375" y="3062288"/>
            <a:ext cx="784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800">
                <a:solidFill>
                  <a:schemeClr val="bg2"/>
                </a:solidFill>
                <a:effectLst/>
              </a:rPr>
              <a:t>HORDA Platform</a:t>
            </a:r>
          </a:p>
        </p:txBody>
      </p:sp>
      <p:pic>
        <p:nvPicPr>
          <p:cNvPr id="5132" name="Picture 12" descr="02a2">
            <a:extLst>
              <a:ext uri="{FF2B5EF4-FFF2-40B4-BE49-F238E27FC236}">
                <a16:creationId xmlns:a16="http://schemas.microsoft.com/office/drawing/2014/main" id="{85D903BC-3923-4564-A468-85C8EE9F3A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5250" y="969963"/>
            <a:ext cx="3819525" cy="537368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5133" name="Text Box 13">
            <a:extLst>
              <a:ext uri="{FF2B5EF4-FFF2-40B4-BE49-F238E27FC236}">
                <a16:creationId xmlns:a16="http://schemas.microsoft.com/office/drawing/2014/main" id="{7F00AAD7-4981-4589-8664-89B8C8542152}"/>
              </a:ext>
            </a:extLst>
          </p:cNvPr>
          <p:cNvSpPr txBox="1">
            <a:spLocks noChangeArrowheads="1"/>
          </p:cNvSpPr>
          <p:nvPr/>
        </p:nvSpPr>
        <p:spPr bwMode="auto">
          <a:xfrm>
            <a:off x="169863" y="4065588"/>
            <a:ext cx="55721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000">
                <a:solidFill>
                  <a:srgbClr val="FF0000"/>
                </a:solidFill>
                <a:effectLst/>
                <a:latin typeface="Arial" panose="020B0604020202020204" pitchFamily="34" charset="0"/>
              </a:rPr>
              <a:t>WNW</a:t>
            </a:r>
          </a:p>
        </p:txBody>
      </p:sp>
      <p:sp>
        <p:nvSpPr>
          <p:cNvPr id="5134" name="Text Box 14">
            <a:extLst>
              <a:ext uri="{FF2B5EF4-FFF2-40B4-BE49-F238E27FC236}">
                <a16:creationId xmlns:a16="http://schemas.microsoft.com/office/drawing/2014/main" id="{A4D8D750-B884-412F-AAEC-00FA61E66DD8}"/>
              </a:ext>
            </a:extLst>
          </p:cNvPr>
          <p:cNvSpPr txBox="1">
            <a:spLocks noChangeArrowheads="1"/>
          </p:cNvSpPr>
          <p:nvPr/>
        </p:nvSpPr>
        <p:spPr bwMode="auto">
          <a:xfrm>
            <a:off x="4567238" y="4065588"/>
            <a:ext cx="452437"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000">
                <a:solidFill>
                  <a:srgbClr val="FF0000"/>
                </a:solidFill>
                <a:effectLst/>
                <a:latin typeface="Arial" panose="020B0604020202020204" pitchFamily="34" charset="0"/>
              </a:rPr>
              <a:t>ENE</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646376F-2845-4735-B03A-1B0133CB7906}"/>
              </a:ext>
            </a:extLst>
          </p:cNvPr>
          <p:cNvSpPr>
            <a:spLocks noGrp="1" noChangeArrowheads="1"/>
          </p:cNvSpPr>
          <p:nvPr>
            <p:ph type="title"/>
          </p:nvPr>
        </p:nvSpPr>
        <p:spPr>
          <a:noFill/>
        </p:spPr>
        <p:txBody>
          <a:bodyPr/>
          <a:lstStyle/>
          <a:p>
            <a:r>
              <a:rPr lang="en-GB" altLang="en-US" dirty="0">
                <a:effectLst/>
              </a:rPr>
              <a:t>Rift development</a:t>
            </a:r>
          </a:p>
        </p:txBody>
      </p:sp>
      <p:sp>
        <p:nvSpPr>
          <p:cNvPr id="6147" name="Rectangle 3">
            <a:extLst>
              <a:ext uri="{FF2B5EF4-FFF2-40B4-BE49-F238E27FC236}">
                <a16:creationId xmlns:a16="http://schemas.microsoft.com/office/drawing/2014/main" id="{B67E9ACE-5585-4A4F-B014-EAE6C191551C}"/>
              </a:ext>
            </a:extLst>
          </p:cNvPr>
          <p:cNvSpPr>
            <a:spLocks noGrp="1" noChangeArrowheads="1"/>
          </p:cNvSpPr>
          <p:nvPr>
            <p:ph type="body" sz="half" idx="1"/>
          </p:nvPr>
        </p:nvSpPr>
        <p:spPr>
          <a:xfrm>
            <a:off x="114300" y="815975"/>
            <a:ext cx="4375150" cy="4584700"/>
          </a:xfrm>
          <a:noFill/>
        </p:spPr>
        <p:txBody>
          <a:bodyPr/>
          <a:lstStyle/>
          <a:p>
            <a:pPr marL="180975" indent="-180975">
              <a:spcBef>
                <a:spcPct val="75000"/>
              </a:spcBef>
              <a:buFont typeface="Times" panose="02020603050405020304" pitchFamily="18" charset="0"/>
              <a:buNone/>
            </a:pPr>
            <a:r>
              <a:rPr lang="en-GB" altLang="en-US" sz="1700" dirty="0">
                <a:effectLst/>
              </a:rPr>
              <a:t>Rifting occurs in three phases</a:t>
            </a:r>
          </a:p>
          <a:p>
            <a:pPr marL="180975" indent="-180975">
              <a:spcBef>
                <a:spcPct val="50000"/>
              </a:spcBef>
            </a:pPr>
            <a:r>
              <a:rPr lang="en-GB" altLang="en-US" sz="1700" dirty="0">
                <a:solidFill>
                  <a:srgbClr val="FF6600"/>
                </a:solidFill>
                <a:effectLst/>
              </a:rPr>
              <a:t>Initial phase</a:t>
            </a:r>
            <a:r>
              <a:rPr lang="en-GB" altLang="en-US" sz="1700" dirty="0">
                <a:effectLst/>
              </a:rPr>
              <a:t>: rifting as a result of large-scale crustal doming; </a:t>
            </a:r>
            <a:r>
              <a:rPr lang="en-GB" altLang="en-US" sz="1700" dirty="0">
                <a:solidFill>
                  <a:srgbClr val="FF66FF"/>
                </a:solidFill>
                <a:effectLst/>
              </a:rPr>
              <a:t>steep fracture systems </a:t>
            </a:r>
            <a:r>
              <a:rPr lang="en-GB" altLang="en-US" sz="1700" dirty="0">
                <a:effectLst/>
              </a:rPr>
              <a:t>form; possible </a:t>
            </a:r>
            <a:r>
              <a:rPr lang="en-GB" altLang="en-US" sz="1700" dirty="0">
                <a:solidFill>
                  <a:srgbClr val="FF66FF"/>
                </a:solidFill>
                <a:effectLst/>
              </a:rPr>
              <a:t>intrusion</a:t>
            </a:r>
            <a:r>
              <a:rPr lang="en-GB" altLang="en-US" sz="1700" dirty="0">
                <a:effectLst/>
              </a:rPr>
              <a:t> of magma generated at depth</a:t>
            </a:r>
          </a:p>
          <a:p>
            <a:pPr marL="180975" indent="-180975">
              <a:spcBef>
                <a:spcPct val="50000"/>
              </a:spcBef>
            </a:pPr>
            <a:r>
              <a:rPr lang="en-GB" altLang="en-US" sz="1700" dirty="0">
                <a:solidFill>
                  <a:srgbClr val="FF6600"/>
                </a:solidFill>
                <a:effectLst/>
              </a:rPr>
              <a:t>Main stretching phase</a:t>
            </a:r>
            <a:r>
              <a:rPr lang="en-GB" altLang="en-US" sz="1700" dirty="0">
                <a:effectLst/>
              </a:rPr>
              <a:t>: formation of </a:t>
            </a:r>
            <a:r>
              <a:rPr lang="en-GB" altLang="en-US" sz="1700" dirty="0">
                <a:solidFill>
                  <a:srgbClr val="FF66FF"/>
                </a:solidFill>
                <a:effectLst/>
              </a:rPr>
              <a:t>major fault</a:t>
            </a:r>
            <a:r>
              <a:rPr lang="en-GB" altLang="en-US" sz="1700" spc="300" dirty="0">
                <a:solidFill>
                  <a:srgbClr val="FF66FF"/>
                </a:solidFill>
                <a:effectLst/>
              </a:rPr>
              <a:t>s</a:t>
            </a:r>
            <a:r>
              <a:rPr lang="en-GB" altLang="en-US" sz="1700" spc="300" dirty="0">
                <a:effectLst/>
              </a:rPr>
              <a:t>/</a:t>
            </a:r>
            <a:r>
              <a:rPr lang="en-GB" altLang="en-US" sz="1700" dirty="0">
                <a:effectLst/>
              </a:rPr>
              <a:t>fault blocks that accommodate the crustal thinning</a:t>
            </a:r>
          </a:p>
          <a:p>
            <a:pPr marL="180975" indent="-180975">
              <a:spcBef>
                <a:spcPct val="50000"/>
              </a:spcBef>
            </a:pPr>
            <a:r>
              <a:rPr lang="en-GB" altLang="en-US" sz="1700" dirty="0">
                <a:solidFill>
                  <a:srgbClr val="FF6600"/>
                </a:solidFill>
                <a:effectLst/>
              </a:rPr>
              <a:t>Late subsidence phase</a:t>
            </a:r>
            <a:r>
              <a:rPr lang="en-GB" altLang="en-US" sz="1700" dirty="0">
                <a:effectLst/>
              </a:rPr>
              <a:t>: </a:t>
            </a:r>
            <a:r>
              <a:rPr lang="en-GB" altLang="en-US" sz="1700" dirty="0">
                <a:solidFill>
                  <a:srgbClr val="FF66FF"/>
                </a:solidFill>
                <a:effectLst/>
              </a:rPr>
              <a:t>cooling and basin deepening</a:t>
            </a:r>
            <a:r>
              <a:rPr lang="en-GB" altLang="en-US" sz="1700" dirty="0">
                <a:effectLst/>
              </a:rPr>
              <a:t> once stretching has ceased; fault movement is mostly limited to that induced by </a:t>
            </a:r>
            <a:r>
              <a:rPr lang="en-GB" altLang="en-US" sz="1700" dirty="0">
                <a:solidFill>
                  <a:srgbClr val="FF66FF"/>
                </a:solidFill>
                <a:effectLst/>
              </a:rPr>
              <a:t>differential compaction</a:t>
            </a:r>
            <a:r>
              <a:rPr lang="en-GB" altLang="en-US" sz="1700" dirty="0">
                <a:effectLst/>
              </a:rPr>
              <a:t> of the sedimentary succession</a:t>
            </a:r>
          </a:p>
        </p:txBody>
      </p:sp>
      <p:grpSp>
        <p:nvGrpSpPr>
          <p:cNvPr id="6148" name="Group 15">
            <a:extLst>
              <a:ext uri="{FF2B5EF4-FFF2-40B4-BE49-F238E27FC236}">
                <a16:creationId xmlns:a16="http://schemas.microsoft.com/office/drawing/2014/main" id="{9916C8F8-EA1A-40B7-995D-5F846986574C}"/>
              </a:ext>
            </a:extLst>
          </p:cNvPr>
          <p:cNvGrpSpPr>
            <a:grpSpLocks/>
          </p:cNvGrpSpPr>
          <p:nvPr/>
        </p:nvGrpSpPr>
        <p:grpSpPr bwMode="auto">
          <a:xfrm>
            <a:off x="4564063" y="933450"/>
            <a:ext cx="4413250" cy="4348163"/>
            <a:chOff x="2922" y="588"/>
            <a:chExt cx="2691" cy="2651"/>
          </a:xfrm>
        </p:grpSpPr>
        <p:sp>
          <p:nvSpPr>
            <p:cNvPr id="245773" name="Rectangle 13">
              <a:extLst>
                <a:ext uri="{FF2B5EF4-FFF2-40B4-BE49-F238E27FC236}">
                  <a16:creationId xmlns:a16="http://schemas.microsoft.com/office/drawing/2014/main" id="{FA19DF56-CBF6-4142-ABD8-A71C649D9DEC}"/>
                </a:ext>
              </a:extLst>
            </p:cNvPr>
            <p:cNvSpPr>
              <a:spLocks noChangeArrowheads="1"/>
            </p:cNvSpPr>
            <p:nvPr/>
          </p:nvSpPr>
          <p:spPr bwMode="auto">
            <a:xfrm>
              <a:off x="2922" y="588"/>
              <a:ext cx="2691" cy="2651"/>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6151" name="Picture 2" descr="GR13.jpg">
              <a:extLst>
                <a:ext uri="{FF2B5EF4-FFF2-40B4-BE49-F238E27FC236}">
                  <a16:creationId xmlns:a16="http://schemas.microsoft.com/office/drawing/2014/main" id="{D3F1730E-346E-41A0-A496-3D5804CCE37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69" y="641"/>
              <a:ext cx="2586" cy="25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245774" name="Text Box 14">
            <a:extLst>
              <a:ext uri="{FF2B5EF4-FFF2-40B4-BE49-F238E27FC236}">
                <a16:creationId xmlns:a16="http://schemas.microsoft.com/office/drawing/2014/main" id="{6833E3E8-791C-410C-B90E-DA67E4239DB7}"/>
              </a:ext>
            </a:extLst>
          </p:cNvPr>
          <p:cNvSpPr txBox="1">
            <a:spLocks noChangeArrowheads="1"/>
          </p:cNvSpPr>
          <p:nvPr/>
        </p:nvSpPr>
        <p:spPr bwMode="auto">
          <a:xfrm>
            <a:off x="114300" y="5380404"/>
            <a:ext cx="8818563"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a:t>
            </a:r>
            <a:r>
              <a:rPr lang="en-GB" altLang="en-US" sz="1700" dirty="0">
                <a:effectLst/>
                <a:latin typeface="Arial" panose="020B0604020202020204" pitchFamily="34" charset="0"/>
              </a:rPr>
              <a:t>extensional development of the rift influences its </a:t>
            </a:r>
            <a:r>
              <a:rPr lang="en-GB" altLang="en-US" sz="1700" dirty="0">
                <a:solidFill>
                  <a:srgbClr val="FF6600"/>
                </a:solidFill>
                <a:effectLst/>
                <a:latin typeface="Arial" panose="020B0604020202020204" pitchFamily="34" charset="0"/>
              </a:rPr>
              <a:t>sedimentary record</a:t>
            </a:r>
            <a:r>
              <a:rPr lang="en-GB" altLang="en-US" sz="1700" dirty="0">
                <a:effectLst/>
                <a:latin typeface="Arial" panose="020B0604020202020204" pitchFamily="34" charset="0"/>
              </a:rPr>
              <a:t>: </a:t>
            </a:r>
            <a:r>
              <a:rPr lang="en-GB" altLang="en-US" sz="1700" dirty="0" err="1">
                <a:solidFill>
                  <a:srgbClr val="FF66FF"/>
                </a:solidFill>
                <a:effectLst/>
                <a:latin typeface="Arial" panose="020B0604020202020204" pitchFamily="34" charset="0"/>
              </a:rPr>
              <a:t>syn</a:t>
            </a:r>
            <a:r>
              <a:rPr lang="en-GB" altLang="en-US" sz="1700" dirty="0">
                <a:solidFill>
                  <a:srgbClr val="FF66FF"/>
                </a:solidFill>
                <a:effectLst/>
                <a:latin typeface="Arial" panose="020B0604020202020204" pitchFamily="34" charset="0"/>
              </a:rPr>
              <a:t>-rift sediments</a:t>
            </a:r>
            <a:r>
              <a:rPr lang="en-GB" altLang="en-US" sz="1700" dirty="0">
                <a:effectLst/>
                <a:latin typeface="Arial" panose="020B0604020202020204" pitchFamily="34" charset="0"/>
              </a:rPr>
              <a:t> show thickness variations across faults (hanging wall thickening and footwall thinnin</a:t>
            </a:r>
            <a:r>
              <a:rPr lang="en-GB" altLang="en-US" sz="1700" spc="300" dirty="0">
                <a:effectLst/>
                <a:latin typeface="Arial" panose="020B0604020202020204" pitchFamily="34" charset="0"/>
              </a:rPr>
              <a:t>g/</a:t>
            </a:r>
            <a:r>
              <a:rPr lang="en-GB" altLang="en-US" sz="1700" dirty="0">
                <a:effectLst/>
                <a:latin typeface="Arial" panose="020B0604020202020204" pitchFamily="34" charset="0"/>
              </a:rPr>
              <a:t>non-deposition); the </a:t>
            </a:r>
            <a:r>
              <a:rPr lang="en-GB" altLang="en-US" sz="1700" dirty="0">
                <a:solidFill>
                  <a:srgbClr val="FF66FF"/>
                </a:solidFill>
                <a:effectLst/>
                <a:latin typeface="Arial" panose="020B0604020202020204" pitchFamily="34" charset="0"/>
              </a:rPr>
              <a:t>post-rift sequence</a:t>
            </a:r>
            <a:r>
              <a:rPr lang="en-GB" altLang="en-US" sz="1700" dirty="0">
                <a:effectLst/>
                <a:latin typeface="Arial" panose="020B0604020202020204" pitchFamily="34" charset="0"/>
              </a:rPr>
              <a:t> depends upon the geometry of the fault blocks and the extent of thermal subsidence</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a:extLst>
              <a:ext uri="{FF2B5EF4-FFF2-40B4-BE49-F238E27FC236}">
                <a16:creationId xmlns:a16="http://schemas.microsoft.com/office/drawing/2014/main" id="{7CBC305F-A7D7-4F9C-A3B7-6B00798156CD}"/>
              </a:ext>
            </a:extLst>
          </p:cNvPr>
          <p:cNvSpPr>
            <a:spLocks noGrp="1" noChangeArrowheads="1"/>
          </p:cNvSpPr>
          <p:nvPr>
            <p:ph type="title"/>
          </p:nvPr>
        </p:nvSpPr>
        <p:spPr>
          <a:noFill/>
        </p:spPr>
        <p:txBody>
          <a:bodyPr/>
          <a:lstStyle/>
          <a:p>
            <a:r>
              <a:rPr lang="en-GB" altLang="en-US">
                <a:effectLst/>
              </a:rPr>
              <a:t>Rifting to ocean crust formation</a:t>
            </a:r>
          </a:p>
        </p:txBody>
      </p:sp>
      <p:sp>
        <p:nvSpPr>
          <p:cNvPr id="7171" name="Rectangle 4">
            <a:extLst>
              <a:ext uri="{FF2B5EF4-FFF2-40B4-BE49-F238E27FC236}">
                <a16:creationId xmlns:a16="http://schemas.microsoft.com/office/drawing/2014/main" id="{39CE692F-B4DC-4CC9-AC6A-600177269819}"/>
              </a:ext>
            </a:extLst>
          </p:cNvPr>
          <p:cNvSpPr>
            <a:spLocks noGrp="1" noChangeArrowheads="1"/>
          </p:cNvSpPr>
          <p:nvPr>
            <p:ph type="body" sz="half" idx="1"/>
          </p:nvPr>
        </p:nvSpPr>
        <p:spPr>
          <a:xfrm>
            <a:off x="104775" y="787400"/>
            <a:ext cx="8909050" cy="788988"/>
          </a:xfrm>
          <a:noFill/>
        </p:spPr>
        <p:txBody>
          <a:bodyPr/>
          <a:lstStyle/>
          <a:p>
            <a:pPr marL="177800" indent="-177800">
              <a:spcBef>
                <a:spcPct val="75000"/>
              </a:spcBef>
            </a:pPr>
            <a:r>
              <a:rPr lang="en-GB" altLang="en-US" sz="1700">
                <a:solidFill>
                  <a:srgbClr val="FF66FF"/>
                </a:solidFill>
                <a:effectLst/>
              </a:rPr>
              <a:t>If a continental rift extends far enough</a:t>
            </a:r>
            <a:r>
              <a:rPr lang="en-GB" altLang="en-US" sz="1700">
                <a:effectLst/>
              </a:rPr>
              <a:t>, the crust splits and is replaced by oceanic crust so that a </a:t>
            </a:r>
            <a:r>
              <a:rPr lang="en-GB" altLang="en-US" sz="1700">
                <a:solidFill>
                  <a:srgbClr val="FF6600"/>
                </a:solidFill>
                <a:effectLst/>
              </a:rPr>
              <a:t>passive margin</a:t>
            </a:r>
            <a:r>
              <a:rPr lang="en-GB" altLang="en-US" sz="1700">
                <a:effectLst/>
              </a:rPr>
              <a:t> is established on each side of the rift</a:t>
            </a:r>
          </a:p>
        </p:txBody>
      </p:sp>
      <p:pic>
        <p:nvPicPr>
          <p:cNvPr id="7180" name="Picture 12" descr="passive3a">
            <a:extLst>
              <a:ext uri="{FF2B5EF4-FFF2-40B4-BE49-F238E27FC236}">
                <a16:creationId xmlns:a16="http://schemas.microsoft.com/office/drawing/2014/main" id="{FF30179A-AA4B-4091-A2B4-CDAD5E22AC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244" b="35381"/>
          <a:stretch>
            <a:fillRect/>
          </a:stretch>
        </p:blipFill>
        <p:spPr bwMode="auto">
          <a:xfrm>
            <a:off x="149225" y="1739900"/>
            <a:ext cx="4071938" cy="28194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7181" name="Picture 13" descr="passive3a">
            <a:extLst>
              <a:ext uri="{FF2B5EF4-FFF2-40B4-BE49-F238E27FC236}">
                <a16:creationId xmlns:a16="http://schemas.microsoft.com/office/drawing/2014/main" id="{891F1DF5-1571-4E00-84FD-5AFB36644F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23" t="65564"/>
          <a:stretch>
            <a:fillRect/>
          </a:stretch>
        </p:blipFill>
        <p:spPr bwMode="auto">
          <a:xfrm>
            <a:off x="4392613" y="2954338"/>
            <a:ext cx="4597400" cy="160496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7182" name="Picture 14" descr="passive3b">
            <a:extLst>
              <a:ext uri="{FF2B5EF4-FFF2-40B4-BE49-F238E27FC236}">
                <a16:creationId xmlns:a16="http://schemas.microsoft.com/office/drawing/2014/main" id="{CF3549CD-0580-4AEC-BD3B-7A8E9C1301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225" y="4748213"/>
            <a:ext cx="8842375" cy="17716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7183" name="Rectangle 4">
            <a:extLst>
              <a:ext uri="{FF2B5EF4-FFF2-40B4-BE49-F238E27FC236}">
                <a16:creationId xmlns:a16="http://schemas.microsoft.com/office/drawing/2014/main" id="{26E58547-A0E1-428E-A6E6-7142F57DC983}"/>
              </a:ext>
            </a:extLst>
          </p:cNvPr>
          <p:cNvSpPr>
            <a:spLocks noChangeArrowheads="1"/>
          </p:cNvSpPr>
          <p:nvPr/>
        </p:nvSpPr>
        <p:spPr bwMode="auto">
          <a:xfrm>
            <a:off x="4403725" y="1695450"/>
            <a:ext cx="4411663" cy="5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742950" indent="-2857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143000"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00200"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057400"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146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29718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290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8862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75000"/>
              </a:spcBef>
            </a:pPr>
            <a:r>
              <a:rPr lang="en-GB" altLang="en-US" sz="1700">
                <a:effectLst/>
              </a:rPr>
              <a:t>Oceanic crust initiates when </a:t>
            </a:r>
            <a:r>
              <a:rPr lang="en-GB" altLang="en-US" sz="1700">
                <a:solidFill>
                  <a:srgbClr val="FF66FF"/>
                </a:solidFill>
                <a:effectLst/>
              </a:rPr>
              <a:t> </a:t>
            </a:r>
            <a:r>
              <a:rPr lang="en-GB" altLang="en-US" sz="1700" i="1">
                <a:solidFill>
                  <a:srgbClr val="FF66FF"/>
                </a:solidFill>
                <a:effectLst/>
              </a:rPr>
              <a:t>L</a:t>
            </a:r>
            <a:r>
              <a:rPr lang="en-GB" altLang="en-US" sz="1700">
                <a:solidFill>
                  <a:srgbClr val="FF66FF"/>
                </a:solidFill>
                <a:effectLst/>
              </a:rPr>
              <a:t> / </a:t>
            </a:r>
            <a:r>
              <a:rPr lang="en-GB" altLang="en-US" sz="1700" i="1">
                <a:solidFill>
                  <a:srgbClr val="FF66FF"/>
                </a:solidFill>
                <a:effectLst/>
              </a:rPr>
              <a:t>L</a:t>
            </a:r>
            <a:r>
              <a:rPr lang="en-GB" altLang="en-US" sz="1700" baseline="-25000">
                <a:solidFill>
                  <a:srgbClr val="FF66FF"/>
                </a:solidFill>
                <a:effectLst/>
              </a:rPr>
              <a:t>0</a:t>
            </a:r>
            <a:r>
              <a:rPr lang="en-GB" altLang="en-US" sz="1700">
                <a:solidFill>
                  <a:srgbClr val="FF66FF"/>
                </a:solidFill>
                <a:effectLst/>
              </a:rPr>
              <a:t> ~ 3 </a:t>
            </a:r>
            <a:endParaRPr lang="en-GB" altLang="en-US" sz="1700">
              <a:effectLst/>
            </a:endParaRPr>
          </a:p>
        </p:txBody>
      </p:sp>
      <p:sp>
        <p:nvSpPr>
          <p:cNvPr id="7184" name="Text Box 16">
            <a:extLst>
              <a:ext uri="{FF2B5EF4-FFF2-40B4-BE49-F238E27FC236}">
                <a16:creationId xmlns:a16="http://schemas.microsoft.com/office/drawing/2014/main" id="{74B1DCE2-21A8-491F-B4B9-0D77E1318DD1}"/>
              </a:ext>
            </a:extLst>
          </p:cNvPr>
          <p:cNvSpPr txBox="1">
            <a:spLocks noChangeArrowheads="1"/>
          </p:cNvSpPr>
          <p:nvPr/>
        </p:nvSpPr>
        <p:spPr bwMode="auto">
          <a:xfrm>
            <a:off x="6719888" y="2192338"/>
            <a:ext cx="6937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length</a:t>
            </a:r>
          </a:p>
        </p:txBody>
      </p:sp>
      <p:sp>
        <p:nvSpPr>
          <p:cNvPr id="7185" name="Text Box 17">
            <a:extLst>
              <a:ext uri="{FF2B5EF4-FFF2-40B4-BE49-F238E27FC236}">
                <a16:creationId xmlns:a16="http://schemas.microsoft.com/office/drawing/2014/main" id="{C641ABD4-2FEC-45D7-9F62-F6BE3B4A502F}"/>
              </a:ext>
            </a:extLst>
          </p:cNvPr>
          <p:cNvSpPr txBox="1">
            <a:spLocks noChangeArrowheads="1"/>
          </p:cNvSpPr>
          <p:nvPr/>
        </p:nvSpPr>
        <p:spPr bwMode="auto">
          <a:xfrm>
            <a:off x="7553325" y="2344738"/>
            <a:ext cx="1162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initial length</a:t>
            </a:r>
          </a:p>
        </p:txBody>
      </p:sp>
      <p:sp>
        <p:nvSpPr>
          <p:cNvPr id="7186" name="Line 18">
            <a:extLst>
              <a:ext uri="{FF2B5EF4-FFF2-40B4-BE49-F238E27FC236}">
                <a16:creationId xmlns:a16="http://schemas.microsoft.com/office/drawing/2014/main" id="{E150A15E-BACA-4E41-9143-5E01F227495E}"/>
              </a:ext>
            </a:extLst>
          </p:cNvPr>
          <p:cNvSpPr>
            <a:spLocks noChangeShapeType="1"/>
          </p:cNvSpPr>
          <p:nvPr/>
        </p:nvSpPr>
        <p:spPr bwMode="auto">
          <a:xfrm flipV="1">
            <a:off x="7315200" y="2071688"/>
            <a:ext cx="169863" cy="182562"/>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7187" name="Line 19">
            <a:extLst>
              <a:ext uri="{FF2B5EF4-FFF2-40B4-BE49-F238E27FC236}">
                <a16:creationId xmlns:a16="http://schemas.microsoft.com/office/drawing/2014/main" id="{E6F77343-5537-44E6-B849-2A6581395B60}"/>
              </a:ext>
            </a:extLst>
          </p:cNvPr>
          <p:cNvSpPr>
            <a:spLocks noChangeShapeType="1"/>
          </p:cNvSpPr>
          <p:nvPr/>
        </p:nvSpPr>
        <p:spPr bwMode="auto">
          <a:xfrm flipH="1" flipV="1">
            <a:off x="7931150" y="2135188"/>
            <a:ext cx="33338" cy="193675"/>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2" name="Text Box 17">
            <a:extLst>
              <a:ext uri="{FF2B5EF4-FFF2-40B4-BE49-F238E27FC236}">
                <a16:creationId xmlns:a16="http://schemas.microsoft.com/office/drawing/2014/main" id="{495FA823-AFB4-4B0A-AE25-53643A1B7332}"/>
              </a:ext>
            </a:extLst>
          </p:cNvPr>
          <p:cNvSpPr txBox="1">
            <a:spLocks noChangeArrowheads="1"/>
          </p:cNvSpPr>
          <p:nvPr/>
        </p:nvSpPr>
        <p:spPr bwMode="auto">
          <a:xfrm>
            <a:off x="7964488" y="1277816"/>
            <a:ext cx="8509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 300%</a:t>
            </a:r>
          </a:p>
        </p:txBody>
      </p:sp>
      <p:sp>
        <p:nvSpPr>
          <p:cNvPr id="13" name="Line 19">
            <a:extLst>
              <a:ext uri="{FF2B5EF4-FFF2-40B4-BE49-F238E27FC236}">
                <a16:creationId xmlns:a16="http://schemas.microsoft.com/office/drawing/2014/main" id="{5DCF078F-2638-4445-8D3B-72BB9F5723BD}"/>
              </a:ext>
            </a:extLst>
          </p:cNvPr>
          <p:cNvSpPr>
            <a:spLocks noChangeShapeType="1"/>
          </p:cNvSpPr>
          <p:nvPr/>
        </p:nvSpPr>
        <p:spPr bwMode="auto">
          <a:xfrm flipH="1">
            <a:off x="8323384" y="1576388"/>
            <a:ext cx="70339" cy="163511"/>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a:extLst>
              <a:ext uri="{FF2B5EF4-FFF2-40B4-BE49-F238E27FC236}">
                <a16:creationId xmlns:a16="http://schemas.microsoft.com/office/drawing/2014/main" id="{E63DD944-F8A4-40B3-8C18-F767EE2C2963}"/>
              </a:ext>
            </a:extLst>
          </p:cNvPr>
          <p:cNvSpPr>
            <a:spLocks noGrp="1" noChangeArrowheads="1"/>
          </p:cNvSpPr>
          <p:nvPr>
            <p:ph type="title" idx="4294967295"/>
          </p:nvPr>
        </p:nvSpPr>
        <p:spPr>
          <a:noFill/>
        </p:spPr>
        <p:txBody>
          <a:bodyPr/>
          <a:lstStyle/>
          <a:p>
            <a:r>
              <a:rPr lang="en-GB" altLang="en-US">
                <a:effectLst/>
              </a:rPr>
              <a:t>Passive margins</a:t>
            </a:r>
          </a:p>
        </p:txBody>
      </p:sp>
      <p:sp>
        <p:nvSpPr>
          <p:cNvPr id="110595" name="Rectangle 4">
            <a:extLst>
              <a:ext uri="{FF2B5EF4-FFF2-40B4-BE49-F238E27FC236}">
                <a16:creationId xmlns:a16="http://schemas.microsoft.com/office/drawing/2014/main" id="{54042D24-D418-40DD-88EE-74B0432077A7}"/>
              </a:ext>
            </a:extLst>
          </p:cNvPr>
          <p:cNvSpPr>
            <a:spLocks noGrp="1" noChangeArrowheads="1"/>
          </p:cNvSpPr>
          <p:nvPr>
            <p:ph type="body" sz="half" idx="4294967295"/>
          </p:nvPr>
        </p:nvSpPr>
        <p:spPr>
          <a:xfrm>
            <a:off x="104775" y="787400"/>
            <a:ext cx="8909050" cy="1087438"/>
          </a:xfrm>
          <a:noFill/>
        </p:spPr>
        <p:txBody>
          <a:bodyPr/>
          <a:lstStyle/>
          <a:p>
            <a:pPr marL="177800" indent="-177800">
              <a:spcBef>
                <a:spcPct val="75000"/>
              </a:spcBef>
            </a:pPr>
            <a:r>
              <a:rPr lang="en-GB" altLang="en-US" sz="1700">
                <a:effectLst/>
              </a:rPr>
              <a:t>Fault movement on well-developed passive margins is mostly </a:t>
            </a:r>
            <a:r>
              <a:rPr lang="en-GB" altLang="en-US" sz="1700">
                <a:solidFill>
                  <a:srgbClr val="FF66FF"/>
                </a:solidFill>
                <a:effectLst/>
              </a:rPr>
              <a:t>gravity-driven</a:t>
            </a:r>
            <a:r>
              <a:rPr lang="en-GB" altLang="en-US" sz="1700">
                <a:effectLst/>
              </a:rPr>
              <a:t> and occurs on faults that merge down to a décollement horizon (typically salt or over-pressured mudstones)</a:t>
            </a:r>
          </a:p>
        </p:txBody>
      </p:sp>
      <p:grpSp>
        <p:nvGrpSpPr>
          <p:cNvPr id="110596" name="Group 13">
            <a:extLst>
              <a:ext uri="{FF2B5EF4-FFF2-40B4-BE49-F238E27FC236}">
                <a16:creationId xmlns:a16="http://schemas.microsoft.com/office/drawing/2014/main" id="{594C4890-1AC1-43D3-9B64-3E6265B193D8}"/>
              </a:ext>
            </a:extLst>
          </p:cNvPr>
          <p:cNvGrpSpPr>
            <a:grpSpLocks/>
          </p:cNvGrpSpPr>
          <p:nvPr/>
        </p:nvGrpSpPr>
        <p:grpSpPr bwMode="auto">
          <a:xfrm>
            <a:off x="1436688" y="2163763"/>
            <a:ext cx="5195887" cy="1111250"/>
            <a:chOff x="106" y="1605"/>
            <a:chExt cx="5466" cy="1169"/>
          </a:xfrm>
        </p:grpSpPr>
        <p:sp>
          <p:nvSpPr>
            <p:cNvPr id="247818" name="Rectangle 10">
              <a:extLst>
                <a:ext uri="{FF2B5EF4-FFF2-40B4-BE49-F238E27FC236}">
                  <a16:creationId xmlns:a16="http://schemas.microsoft.com/office/drawing/2014/main" id="{2F113662-9A72-4D85-851F-6E524A284184}"/>
                </a:ext>
              </a:extLst>
            </p:cNvPr>
            <p:cNvSpPr>
              <a:spLocks noChangeArrowheads="1"/>
            </p:cNvSpPr>
            <p:nvPr/>
          </p:nvSpPr>
          <p:spPr bwMode="auto">
            <a:xfrm>
              <a:off x="106" y="1605"/>
              <a:ext cx="5466" cy="1169"/>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110598" name="Picture 2" descr="GR24.jpg">
              <a:extLst>
                <a:ext uri="{FF2B5EF4-FFF2-40B4-BE49-F238E27FC236}">
                  <a16:creationId xmlns:a16="http://schemas.microsoft.com/office/drawing/2014/main" id="{FC8AF19B-66EF-4968-9D09-91E61D6CF5B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6" y="1663"/>
              <a:ext cx="5350" cy="10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247822" name="Text Box 14">
            <a:extLst>
              <a:ext uri="{FF2B5EF4-FFF2-40B4-BE49-F238E27FC236}">
                <a16:creationId xmlns:a16="http://schemas.microsoft.com/office/drawing/2014/main" id="{B39AB794-FB74-4DAC-8C4D-F0AA0A095ECD}"/>
              </a:ext>
            </a:extLst>
          </p:cNvPr>
          <p:cNvSpPr txBox="1">
            <a:spLocks noChangeArrowheads="1"/>
          </p:cNvSpPr>
          <p:nvPr/>
        </p:nvSpPr>
        <p:spPr bwMode="auto">
          <a:xfrm>
            <a:off x="6789738" y="2122488"/>
            <a:ext cx="2081212"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defRPr/>
            </a:pPr>
            <a:r>
              <a:rPr lang="en-GB" sz="1400">
                <a:solidFill>
                  <a:srgbClr val="FFFF00"/>
                </a:solidFill>
                <a:effectLst>
                  <a:outerShdw blurRad="38100" dist="38100" dir="2700000" algn="tl">
                    <a:srgbClr val="000000"/>
                  </a:outerShdw>
                </a:effectLst>
                <a:latin typeface="Arial" charset="0"/>
              </a:rPr>
              <a:t>Texas continental shelf and schematic diagram of a passive margin with salt detachment</a:t>
            </a:r>
          </a:p>
        </p:txBody>
      </p:sp>
      <p:grpSp>
        <p:nvGrpSpPr>
          <p:cNvPr id="110600" name="Group 16">
            <a:extLst>
              <a:ext uri="{FF2B5EF4-FFF2-40B4-BE49-F238E27FC236}">
                <a16:creationId xmlns:a16="http://schemas.microsoft.com/office/drawing/2014/main" id="{8BA2F92C-368A-4204-A0E7-4A2A97A42B66}"/>
              </a:ext>
            </a:extLst>
          </p:cNvPr>
          <p:cNvGrpSpPr>
            <a:grpSpLocks/>
          </p:cNvGrpSpPr>
          <p:nvPr/>
        </p:nvGrpSpPr>
        <p:grpSpPr bwMode="auto">
          <a:xfrm>
            <a:off x="282575" y="3476625"/>
            <a:ext cx="8599488" cy="2611438"/>
            <a:chOff x="178" y="2543"/>
            <a:chExt cx="5417" cy="1645"/>
          </a:xfrm>
        </p:grpSpPr>
        <p:pic>
          <p:nvPicPr>
            <p:cNvPr id="110601" name="Picture 11" descr="02c">
              <a:extLst>
                <a:ext uri="{FF2B5EF4-FFF2-40B4-BE49-F238E27FC236}">
                  <a16:creationId xmlns:a16="http://schemas.microsoft.com/office/drawing/2014/main" id="{ACFF670E-C01F-4F12-AB38-4D9EDD6409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 y="2543"/>
              <a:ext cx="5417" cy="164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47823" name="Rectangle 15">
              <a:extLst>
                <a:ext uri="{FF2B5EF4-FFF2-40B4-BE49-F238E27FC236}">
                  <a16:creationId xmlns:a16="http://schemas.microsoft.com/office/drawing/2014/main" id="{99453057-B5A7-497D-876E-8B4952E797E3}"/>
                </a:ext>
              </a:extLst>
            </p:cNvPr>
            <p:cNvSpPr>
              <a:spLocks noChangeArrowheads="1"/>
            </p:cNvSpPr>
            <p:nvPr/>
          </p:nvSpPr>
          <p:spPr bwMode="auto">
            <a:xfrm>
              <a:off x="1905" y="2543"/>
              <a:ext cx="1046" cy="12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gr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62" name="Rectangle 6">
            <a:extLst>
              <a:ext uri="{FF2B5EF4-FFF2-40B4-BE49-F238E27FC236}">
                <a16:creationId xmlns:a16="http://schemas.microsoft.com/office/drawing/2014/main" id="{8D3E3B6E-FE4D-4A0A-B347-F1A1BA5535C6}"/>
              </a:ext>
            </a:extLst>
          </p:cNvPr>
          <p:cNvSpPr>
            <a:spLocks noChangeArrowheads="1"/>
          </p:cNvSpPr>
          <p:nvPr/>
        </p:nvSpPr>
        <p:spPr bwMode="auto">
          <a:xfrm>
            <a:off x="5729288" y="811213"/>
            <a:ext cx="3273425" cy="5897562"/>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8195" name="Rectangle 2">
            <a:extLst>
              <a:ext uri="{FF2B5EF4-FFF2-40B4-BE49-F238E27FC236}">
                <a16:creationId xmlns:a16="http://schemas.microsoft.com/office/drawing/2014/main" id="{AA442554-6C1D-41F9-80EF-9BB27ABD4684}"/>
              </a:ext>
            </a:extLst>
          </p:cNvPr>
          <p:cNvSpPr>
            <a:spLocks noGrp="1" noChangeArrowheads="1"/>
          </p:cNvSpPr>
          <p:nvPr>
            <p:ph type="title"/>
          </p:nvPr>
        </p:nvSpPr>
        <p:spPr>
          <a:noFill/>
        </p:spPr>
        <p:txBody>
          <a:bodyPr/>
          <a:lstStyle/>
          <a:p>
            <a:r>
              <a:rPr lang="en-GB" altLang="en-US">
                <a:effectLst/>
              </a:rPr>
              <a:t>Extension in active contractional orogenic belts </a:t>
            </a:r>
          </a:p>
        </p:txBody>
      </p:sp>
      <p:sp>
        <p:nvSpPr>
          <p:cNvPr id="8196" name="Rectangle 3">
            <a:extLst>
              <a:ext uri="{FF2B5EF4-FFF2-40B4-BE49-F238E27FC236}">
                <a16:creationId xmlns:a16="http://schemas.microsoft.com/office/drawing/2014/main" id="{4EAE811D-5670-40D6-AE54-40BC730A2ACB}"/>
              </a:ext>
            </a:extLst>
          </p:cNvPr>
          <p:cNvSpPr>
            <a:spLocks noGrp="1" noChangeArrowheads="1"/>
          </p:cNvSpPr>
          <p:nvPr>
            <p:ph type="body" sz="half" idx="1"/>
          </p:nvPr>
        </p:nvSpPr>
        <p:spPr>
          <a:xfrm>
            <a:off x="114300" y="815975"/>
            <a:ext cx="5494338" cy="5822950"/>
          </a:xfrm>
          <a:noFill/>
        </p:spPr>
        <p:txBody>
          <a:bodyPr/>
          <a:lstStyle/>
          <a:p>
            <a:pPr marL="269875" indent="-269875">
              <a:spcBef>
                <a:spcPct val="75000"/>
              </a:spcBef>
            </a:pPr>
            <a:r>
              <a:rPr lang="en-GB" altLang="en-US" sz="1700" dirty="0">
                <a:solidFill>
                  <a:srgbClr val="FF66FF"/>
                </a:solidFill>
                <a:effectLst/>
              </a:rPr>
              <a:t>Extension is not restricted to rifts and passive margins</a:t>
            </a:r>
            <a:r>
              <a:rPr lang="en-GB" altLang="en-US" sz="1700" dirty="0">
                <a:effectLst/>
              </a:rPr>
              <a:t> – some of the most impressive extensional faults are to be found in contractional orogenic belts</a:t>
            </a:r>
          </a:p>
          <a:p>
            <a:pPr marL="269875" indent="-269875">
              <a:spcBef>
                <a:spcPct val="75000"/>
              </a:spcBef>
              <a:buFont typeface="Wingdings" panose="05000000000000000000" pitchFamily="2" charset="2"/>
              <a:buChar char="Ø"/>
            </a:pPr>
            <a:r>
              <a:rPr lang="en-GB" altLang="en-US" sz="1700" dirty="0">
                <a:effectLst/>
              </a:rPr>
              <a:t>While an ocean still exists between two converging continents, extension occurs by </a:t>
            </a:r>
            <a:r>
              <a:rPr lang="en-GB" altLang="en-US" sz="1700" dirty="0">
                <a:solidFill>
                  <a:srgbClr val="FF6600"/>
                </a:solidFill>
                <a:effectLst/>
              </a:rPr>
              <a:t>back-arc rifting</a:t>
            </a:r>
            <a:r>
              <a:rPr lang="en-GB" altLang="en-US" sz="1700" dirty="0">
                <a:effectLst/>
              </a:rPr>
              <a:t> and also in the </a:t>
            </a:r>
            <a:r>
              <a:rPr lang="en-GB" altLang="en-US" sz="1700" dirty="0">
                <a:solidFill>
                  <a:srgbClr val="FF6600"/>
                </a:solidFill>
                <a:effectLst/>
              </a:rPr>
              <a:t>outer arc of the oceanic plate</a:t>
            </a:r>
            <a:r>
              <a:rPr lang="en-GB" altLang="en-US" sz="1700" dirty="0">
                <a:effectLst/>
              </a:rPr>
              <a:t> where it bends on entering the subduction zone</a:t>
            </a:r>
          </a:p>
          <a:p>
            <a:pPr marL="269875" indent="-269875">
              <a:spcBef>
                <a:spcPct val="75000"/>
              </a:spcBef>
              <a:buFont typeface="Wingdings" panose="05000000000000000000" pitchFamily="2" charset="2"/>
              <a:buChar char="Ø"/>
            </a:pPr>
            <a:r>
              <a:rPr lang="en-GB" altLang="en-US" sz="1700" dirty="0">
                <a:effectLst/>
              </a:rPr>
              <a:t>Normal faults may form in the orogenic wedge if it is over-thickened by incorporation of a </a:t>
            </a:r>
            <a:r>
              <a:rPr lang="en-GB" altLang="en-US" sz="1700" dirty="0">
                <a:solidFill>
                  <a:srgbClr val="FF6600"/>
                </a:solidFill>
                <a:effectLst/>
              </a:rPr>
              <a:t>basement slice</a:t>
            </a:r>
          </a:p>
          <a:p>
            <a:pPr marL="269875" indent="-269875">
              <a:spcBef>
                <a:spcPct val="75000"/>
              </a:spcBef>
              <a:buFont typeface="Wingdings" panose="05000000000000000000" pitchFamily="2" charset="2"/>
              <a:buChar char="Ø"/>
            </a:pPr>
            <a:r>
              <a:rPr lang="en-GB" altLang="en-US" sz="1700" dirty="0">
                <a:effectLst/>
              </a:rPr>
              <a:t>A detached and heated basement slice may be buoyant enough to ascend, bounded by a thrust on its lower side and by a normal fault on its upper side (</a:t>
            </a:r>
            <a:r>
              <a:rPr lang="en-GB" altLang="en-US" sz="1700" dirty="0">
                <a:solidFill>
                  <a:srgbClr val="FF6600"/>
                </a:solidFill>
                <a:effectLst/>
              </a:rPr>
              <a:t>channel flow</a:t>
            </a:r>
            <a:r>
              <a:rPr lang="en-GB" altLang="en-US" sz="1700" dirty="0">
                <a:effectLst/>
              </a:rPr>
              <a:t>)</a:t>
            </a:r>
          </a:p>
          <a:p>
            <a:pPr marL="269875" indent="-269875">
              <a:spcBef>
                <a:spcPct val="75000"/>
              </a:spcBef>
              <a:buFont typeface="Wingdings" panose="05000000000000000000" pitchFamily="2" charset="2"/>
              <a:buChar char="Ø"/>
            </a:pPr>
            <a:r>
              <a:rPr lang="en-GB" altLang="en-US" sz="1700" dirty="0">
                <a:effectLst/>
              </a:rPr>
              <a:t>Heating of thickened crust may lead to sufficient weakening for it to collapse under its own weight (</a:t>
            </a:r>
            <a:r>
              <a:rPr lang="en-GB" altLang="en-US" sz="1700" dirty="0">
                <a:solidFill>
                  <a:srgbClr val="FF6600"/>
                </a:solidFill>
                <a:effectLst/>
              </a:rPr>
              <a:t>gravitational orogenic collapse</a:t>
            </a:r>
            <a:r>
              <a:rPr lang="en-GB" altLang="en-US" sz="1700" dirty="0">
                <a:effectLst/>
              </a:rPr>
              <a:t>)</a:t>
            </a:r>
          </a:p>
        </p:txBody>
      </p:sp>
      <p:pic>
        <p:nvPicPr>
          <p:cNvPr id="8197" name="Picture 2" descr="GR19.jpg">
            <a:extLst>
              <a:ext uri="{FF2B5EF4-FFF2-40B4-BE49-F238E27FC236}">
                <a16:creationId xmlns:a16="http://schemas.microsoft.com/office/drawing/2014/main" id="{C55C92ED-051F-4B4E-B924-9527FBD71D3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810250" y="917575"/>
            <a:ext cx="3109913" cy="573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90CC7867-DD54-442C-9A76-9A77DE704E4C}"/>
              </a:ext>
            </a:extLst>
          </p:cNvPr>
          <p:cNvSpPr>
            <a:spLocks noGrp="1" noChangeArrowheads="1"/>
          </p:cNvSpPr>
          <p:nvPr>
            <p:ph type="title"/>
          </p:nvPr>
        </p:nvSpPr>
        <p:spPr>
          <a:noFill/>
        </p:spPr>
        <p:txBody>
          <a:bodyPr/>
          <a:lstStyle/>
          <a:p>
            <a:r>
              <a:rPr lang="en-GB" altLang="en-US">
                <a:effectLst/>
              </a:rPr>
              <a:t>Post-orogenic collapse</a:t>
            </a:r>
          </a:p>
        </p:txBody>
      </p:sp>
      <p:sp>
        <p:nvSpPr>
          <p:cNvPr id="9219" name="Rectangle 3">
            <a:extLst>
              <a:ext uri="{FF2B5EF4-FFF2-40B4-BE49-F238E27FC236}">
                <a16:creationId xmlns:a16="http://schemas.microsoft.com/office/drawing/2014/main" id="{DA5D0A21-6B34-4033-8CF6-49DECC02FA50}"/>
              </a:ext>
            </a:extLst>
          </p:cNvPr>
          <p:cNvSpPr>
            <a:spLocks noGrp="1" noChangeArrowheads="1"/>
          </p:cNvSpPr>
          <p:nvPr>
            <p:ph type="body" sz="half" idx="1"/>
          </p:nvPr>
        </p:nvSpPr>
        <p:spPr>
          <a:xfrm>
            <a:off x="114300" y="822668"/>
            <a:ext cx="8863013" cy="1325563"/>
          </a:xfrm>
          <a:noFill/>
        </p:spPr>
        <p:txBody>
          <a:bodyPr/>
          <a:lstStyle/>
          <a:p>
            <a:pPr marL="177800" indent="-177800">
              <a:spcBef>
                <a:spcPct val="75000"/>
              </a:spcBef>
            </a:pPr>
            <a:r>
              <a:rPr lang="en-GB" altLang="en-US" sz="1700" dirty="0">
                <a:solidFill>
                  <a:srgbClr val="FF66FF"/>
                </a:solidFill>
                <a:effectLst/>
              </a:rPr>
              <a:t>At the end of a contractional orogeny</a:t>
            </a:r>
            <a:r>
              <a:rPr lang="en-GB" altLang="en-US" sz="1700" dirty="0">
                <a:effectLst/>
              </a:rPr>
              <a:t> the relatively cool lithospheric mantle root under the orogenic belt, together with phase transitions such as </a:t>
            </a:r>
            <a:r>
              <a:rPr lang="en-GB" altLang="en-US" sz="1700" dirty="0" err="1">
                <a:effectLst/>
              </a:rPr>
              <a:t>eclogitization</a:t>
            </a:r>
            <a:r>
              <a:rPr lang="en-GB" altLang="en-US" sz="1700" dirty="0">
                <a:effectLst/>
              </a:rPr>
              <a:t>, may make that root sufficiently dense for it to </a:t>
            </a:r>
            <a:r>
              <a:rPr lang="en-GB" altLang="en-US" sz="1700" dirty="0">
                <a:solidFill>
                  <a:srgbClr val="FF6600"/>
                </a:solidFill>
                <a:effectLst/>
              </a:rPr>
              <a:t>delaminate</a:t>
            </a:r>
            <a:r>
              <a:rPr lang="en-GB" altLang="en-US" sz="1700" dirty="0">
                <a:effectLst/>
              </a:rPr>
              <a:t> and sink into the deeper mantle. Replacement by hot material leads to regional uplift and </a:t>
            </a:r>
            <a:r>
              <a:rPr lang="en-GB" altLang="en-US" sz="1700" dirty="0">
                <a:solidFill>
                  <a:srgbClr val="FF66FF"/>
                </a:solidFill>
                <a:effectLst/>
              </a:rPr>
              <a:t>gravitational collapse</a:t>
            </a:r>
            <a:r>
              <a:rPr lang="en-GB" altLang="en-US" sz="1700" dirty="0">
                <a:effectLst/>
              </a:rPr>
              <a:t> in the crust above</a:t>
            </a:r>
          </a:p>
        </p:txBody>
      </p:sp>
      <p:sp>
        <p:nvSpPr>
          <p:cNvPr id="250886" name="Text Box 6">
            <a:extLst>
              <a:ext uri="{FF2B5EF4-FFF2-40B4-BE49-F238E27FC236}">
                <a16:creationId xmlns:a16="http://schemas.microsoft.com/office/drawing/2014/main" id="{96932C2B-A6AD-4A1C-BE86-68EBA3335BD7}"/>
              </a:ext>
            </a:extLst>
          </p:cNvPr>
          <p:cNvSpPr txBox="1">
            <a:spLocks noChangeArrowheads="1"/>
          </p:cNvSpPr>
          <p:nvPr/>
        </p:nvSpPr>
        <p:spPr bwMode="auto">
          <a:xfrm>
            <a:off x="5721177" y="2326589"/>
            <a:ext cx="3256135" cy="427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7800" indent="-1778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Extension induced by delamination may use the </a:t>
            </a:r>
            <a:r>
              <a:rPr lang="en-GB" altLang="en-US" sz="1700" dirty="0">
                <a:solidFill>
                  <a:srgbClr val="FF66FF"/>
                </a:solidFill>
                <a:effectLst>
                  <a:outerShdw blurRad="38100" dist="38100" dir="2700000" algn="tl">
                    <a:srgbClr val="000000"/>
                  </a:outerShdw>
                </a:effectLst>
                <a:latin typeface="Arial" panose="020B0604020202020204" pitchFamily="34" charset="0"/>
              </a:rPr>
              <a:t>thrusts</a:t>
            </a:r>
            <a:r>
              <a:rPr lang="en-GB" altLang="en-US" sz="1700" dirty="0">
                <a:effectLst>
                  <a:outerShdw blurRad="38100" dist="38100" dir="2700000" algn="tl">
                    <a:srgbClr val="000000"/>
                  </a:outerShdw>
                </a:effectLst>
                <a:latin typeface="Arial" panose="020B0604020202020204" pitchFamily="34" charset="0"/>
              </a:rPr>
              <a:t> formed previously during collision (</a:t>
            </a:r>
            <a:r>
              <a:rPr lang="en-GB" altLang="en-US" sz="1700" dirty="0">
                <a:solidFill>
                  <a:srgbClr val="FF6600"/>
                </a:solidFill>
                <a:effectLst>
                  <a:outerShdw blurRad="38100" dist="38100" dir="2700000" algn="tl">
                    <a:srgbClr val="000000"/>
                  </a:outerShdw>
                </a:effectLst>
                <a:latin typeface="Arial" panose="020B0604020202020204" pitchFamily="34" charset="0"/>
              </a:rPr>
              <a:t>inversion</a:t>
            </a:r>
            <a:r>
              <a:rPr lang="en-GB" altLang="en-US" sz="1700" dirty="0">
                <a:effectLst>
                  <a:outerShdw blurRad="38100" dist="38100" dir="2700000" algn="tl">
                    <a:srgbClr val="000000"/>
                  </a:outerShdw>
                </a:effectLst>
                <a:latin typeface="Arial" panose="020B0604020202020204" pitchFamily="34" charset="0"/>
              </a:rPr>
              <a:t>), or may involve the formation of </a:t>
            </a:r>
            <a:r>
              <a:rPr lang="en-GB" altLang="en-US" sz="1700" dirty="0">
                <a:solidFill>
                  <a:srgbClr val="FF66FF"/>
                </a:solidFill>
                <a:effectLst>
                  <a:outerShdw blurRad="38100" dist="38100" dir="2700000" algn="tl">
                    <a:srgbClr val="000000"/>
                  </a:outerShdw>
                </a:effectLst>
                <a:latin typeface="Arial" panose="020B0604020202020204" pitchFamily="34" charset="0"/>
              </a:rPr>
              <a:t>new normal faults</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emplacement of post-orogenic </a:t>
            </a:r>
            <a:r>
              <a:rPr lang="en-GB" altLang="en-US" sz="1700" dirty="0">
                <a:solidFill>
                  <a:srgbClr val="FF66FF"/>
                </a:solidFill>
                <a:effectLst>
                  <a:outerShdw blurRad="38100" dist="38100" dir="2700000" algn="tl">
                    <a:srgbClr val="000000"/>
                  </a:outerShdw>
                </a:effectLst>
                <a:latin typeface="Arial" panose="020B0604020202020204" pitchFamily="34" charset="0"/>
              </a:rPr>
              <a:t>minor intrusions</a:t>
            </a:r>
            <a:r>
              <a:rPr lang="en-GB" altLang="en-US" sz="1700" dirty="0">
                <a:effectLst>
                  <a:outerShdw blurRad="38100" dist="38100" dir="2700000" algn="tl">
                    <a:srgbClr val="000000"/>
                  </a:outerShdw>
                </a:effectLst>
                <a:latin typeface="Arial" panose="020B0604020202020204" pitchFamily="34" charset="0"/>
              </a:rPr>
              <a:t> (typically lamprophyres derived from metasomatized sub-continental lithospheric mantle) takes advantage of this extension </a:t>
            </a:r>
          </a:p>
        </p:txBody>
      </p:sp>
      <p:pic>
        <p:nvPicPr>
          <p:cNvPr id="9221" name="Picture 8">
            <a:extLst>
              <a:ext uri="{FF2B5EF4-FFF2-40B4-BE49-F238E27FC236}">
                <a16:creationId xmlns:a16="http://schemas.microsoft.com/office/drawing/2014/main" id="{BA5B41EC-7D90-4434-881B-CEDCA91923A1}"/>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65125" y="2436813"/>
            <a:ext cx="5165725" cy="4011612"/>
          </a:xfrm>
          <a:noFill/>
          <a:ln w="38100" cap="flat">
            <a:solidFill>
              <a:schemeClr val="bg2"/>
            </a:solidFill>
            <a:miter lim="800000"/>
            <a:headEnd/>
            <a:tailEnd/>
          </a:ln>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1" name="Picture 11" descr="04a2-BadwaterTurtleback">
            <a:extLst>
              <a:ext uri="{FF2B5EF4-FFF2-40B4-BE49-F238E27FC236}">
                <a16:creationId xmlns:a16="http://schemas.microsoft.com/office/drawing/2014/main" id="{1AC0EBD7-5474-4DDD-A4C7-BF41575873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663" y="3498850"/>
            <a:ext cx="4957762" cy="28082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0242" name="Rectangle 2">
            <a:extLst>
              <a:ext uri="{FF2B5EF4-FFF2-40B4-BE49-F238E27FC236}">
                <a16:creationId xmlns:a16="http://schemas.microsoft.com/office/drawing/2014/main" id="{48114220-DF32-42F6-B32C-7046ADA072E2}"/>
              </a:ext>
            </a:extLst>
          </p:cNvPr>
          <p:cNvSpPr>
            <a:spLocks noGrp="1" noChangeArrowheads="1"/>
          </p:cNvSpPr>
          <p:nvPr>
            <p:ph type="title"/>
          </p:nvPr>
        </p:nvSpPr>
        <p:spPr>
          <a:noFill/>
        </p:spPr>
        <p:txBody>
          <a:bodyPr/>
          <a:lstStyle/>
          <a:p>
            <a:r>
              <a:rPr lang="en-GB" altLang="en-US">
                <a:effectLst/>
              </a:rPr>
              <a:t>Metamorphic core complexes</a:t>
            </a:r>
          </a:p>
        </p:txBody>
      </p:sp>
      <p:sp>
        <p:nvSpPr>
          <p:cNvPr id="10243" name="Rectangle 3">
            <a:extLst>
              <a:ext uri="{FF2B5EF4-FFF2-40B4-BE49-F238E27FC236}">
                <a16:creationId xmlns:a16="http://schemas.microsoft.com/office/drawing/2014/main" id="{736DB11F-777A-4A3B-8483-B3B9AFFC2D40}"/>
              </a:ext>
            </a:extLst>
          </p:cNvPr>
          <p:cNvSpPr>
            <a:spLocks noGrp="1" noChangeArrowheads="1"/>
          </p:cNvSpPr>
          <p:nvPr>
            <p:ph type="body" sz="half" idx="1"/>
          </p:nvPr>
        </p:nvSpPr>
        <p:spPr>
          <a:xfrm>
            <a:off x="114300" y="787400"/>
            <a:ext cx="5157788" cy="2497138"/>
          </a:xfrm>
          <a:noFill/>
        </p:spPr>
        <p:txBody>
          <a:bodyPr/>
          <a:lstStyle/>
          <a:p>
            <a:pPr marL="177800" indent="-177800">
              <a:spcBef>
                <a:spcPct val="75000"/>
              </a:spcBef>
            </a:pPr>
            <a:r>
              <a:rPr lang="en-GB" altLang="en-US" sz="1700" dirty="0">
                <a:effectLst/>
              </a:rPr>
              <a:t>During </a:t>
            </a:r>
            <a:r>
              <a:rPr lang="en-GB" altLang="en-US" sz="1700" dirty="0">
                <a:solidFill>
                  <a:srgbClr val="FF66FF"/>
                </a:solidFill>
                <a:effectLst/>
              </a:rPr>
              <a:t>extreme extension</a:t>
            </a:r>
            <a:r>
              <a:rPr lang="en-GB" altLang="en-US" sz="1700" dirty="0">
                <a:effectLst/>
              </a:rPr>
              <a:t> (100%+), thinning and isostatic compensation elevates deeper levels of the crust. Eventually, the high-grade footwall rocks may be exposed at the Earth’s surface</a:t>
            </a:r>
          </a:p>
          <a:p>
            <a:pPr marL="177800" indent="-177800">
              <a:spcBef>
                <a:spcPct val="75000"/>
              </a:spcBef>
            </a:pPr>
            <a:r>
              <a:rPr lang="en-GB" altLang="en-US" sz="1700" dirty="0">
                <a:effectLst/>
              </a:rPr>
              <a:t>These are </a:t>
            </a:r>
            <a:r>
              <a:rPr lang="en-GB" altLang="en-US" sz="1700" dirty="0">
                <a:solidFill>
                  <a:srgbClr val="FF6600"/>
                </a:solidFill>
                <a:effectLst/>
              </a:rPr>
              <a:t>metamorphic core complexes</a:t>
            </a:r>
            <a:r>
              <a:rPr lang="en-GB" altLang="en-US" sz="1700" dirty="0">
                <a:effectLst/>
              </a:rPr>
              <a:t>, and they are particularly well-developed in the </a:t>
            </a:r>
            <a:r>
              <a:rPr lang="en-GB" altLang="en-US" sz="1700" dirty="0">
                <a:solidFill>
                  <a:srgbClr val="FF66FF"/>
                </a:solidFill>
                <a:effectLst/>
              </a:rPr>
              <a:t>Basin-and-Range Province</a:t>
            </a:r>
            <a:r>
              <a:rPr lang="en-GB" altLang="en-US" sz="1700" dirty="0">
                <a:effectLst/>
              </a:rPr>
              <a:t> of western USA</a:t>
            </a:r>
          </a:p>
        </p:txBody>
      </p:sp>
      <p:grpSp>
        <p:nvGrpSpPr>
          <p:cNvPr id="10244" name="Group 7">
            <a:extLst>
              <a:ext uri="{FF2B5EF4-FFF2-40B4-BE49-F238E27FC236}">
                <a16:creationId xmlns:a16="http://schemas.microsoft.com/office/drawing/2014/main" id="{20C46977-A55A-4224-AE01-2417BA3ED274}"/>
              </a:ext>
            </a:extLst>
          </p:cNvPr>
          <p:cNvGrpSpPr>
            <a:grpSpLocks/>
          </p:cNvGrpSpPr>
          <p:nvPr/>
        </p:nvGrpSpPr>
        <p:grpSpPr bwMode="auto">
          <a:xfrm>
            <a:off x="5561013" y="900113"/>
            <a:ext cx="3355975" cy="3878262"/>
            <a:chOff x="100" y="558"/>
            <a:chExt cx="2310" cy="2634"/>
          </a:xfrm>
        </p:grpSpPr>
        <p:sp>
          <p:nvSpPr>
            <p:cNvPr id="256006" name="Rectangle 6">
              <a:extLst>
                <a:ext uri="{FF2B5EF4-FFF2-40B4-BE49-F238E27FC236}">
                  <a16:creationId xmlns:a16="http://schemas.microsoft.com/office/drawing/2014/main" id="{E9A3A6EB-B6DF-43A8-895A-7B60C69597E8}"/>
                </a:ext>
              </a:extLst>
            </p:cNvPr>
            <p:cNvSpPr>
              <a:spLocks noChangeArrowheads="1"/>
            </p:cNvSpPr>
            <p:nvPr/>
          </p:nvSpPr>
          <p:spPr bwMode="auto">
            <a:xfrm>
              <a:off x="100" y="558"/>
              <a:ext cx="2310" cy="2634"/>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10249" name="Picture 4" descr="04a">
              <a:extLst>
                <a:ext uri="{FF2B5EF4-FFF2-40B4-BE49-F238E27FC236}">
                  <a16:creationId xmlns:a16="http://schemas.microsoft.com/office/drawing/2014/main" id="{65AEC732-736E-44AE-BB1D-D2794D5D2D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 y="626"/>
              <a:ext cx="2182" cy="25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256010" name="Text Box 10">
            <a:extLst>
              <a:ext uri="{FF2B5EF4-FFF2-40B4-BE49-F238E27FC236}">
                <a16:creationId xmlns:a16="http://schemas.microsoft.com/office/drawing/2014/main" id="{0196FD82-8D2D-43BB-9223-C1CAB5508468}"/>
              </a:ext>
            </a:extLst>
          </p:cNvPr>
          <p:cNvSpPr txBox="1">
            <a:spLocks noChangeArrowheads="1"/>
          </p:cNvSpPr>
          <p:nvPr/>
        </p:nvSpPr>
        <p:spPr bwMode="auto">
          <a:xfrm>
            <a:off x="5276850" y="4911725"/>
            <a:ext cx="3751263" cy="177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buClr>
                <a:schemeClr val="tx1"/>
              </a:buClr>
              <a:buFontTx/>
              <a:buChar char="•"/>
              <a:defRPr/>
            </a:pPr>
            <a:r>
              <a:rPr lang="en-GB" sz="1700" dirty="0">
                <a:effectLst>
                  <a:outerShdw blurRad="38100" dist="38100" dir="2700000" algn="tl">
                    <a:srgbClr val="000000"/>
                  </a:outerShdw>
                </a:effectLst>
                <a:latin typeface="Arial" charset="0"/>
              </a:rPr>
              <a:t>The isostatic uplift gives the main normal fault a dome-like shape often described as a </a:t>
            </a:r>
            <a:r>
              <a:rPr lang="en-GB" sz="1700" dirty="0">
                <a:solidFill>
                  <a:srgbClr val="FF66FF"/>
                </a:solidFill>
                <a:effectLst>
                  <a:outerShdw blurRad="38100" dist="38100" dir="2700000" algn="tl">
                    <a:srgbClr val="000000"/>
                  </a:outerShdw>
                </a:effectLst>
                <a:latin typeface="Arial" charset="0"/>
              </a:rPr>
              <a:t>turtle-back</a:t>
            </a:r>
          </a:p>
          <a:p>
            <a:pPr>
              <a:lnSpc>
                <a:spcPct val="120000"/>
              </a:lnSpc>
              <a:spcBef>
                <a:spcPct val="50000"/>
              </a:spcBef>
              <a:buClr>
                <a:schemeClr val="tx1"/>
              </a:buClr>
              <a:buFontTx/>
              <a:buChar char="•"/>
              <a:defRPr/>
            </a:pPr>
            <a:r>
              <a:rPr lang="en-GB" sz="1700" dirty="0">
                <a:effectLst>
                  <a:outerShdw blurRad="38100" dist="38100" dir="2700000" algn="tl">
                    <a:srgbClr val="000000"/>
                  </a:outerShdw>
                </a:effectLst>
                <a:latin typeface="Arial" charset="0"/>
              </a:rPr>
              <a:t>A key feature is the </a:t>
            </a:r>
            <a:r>
              <a:rPr lang="en-GB" sz="1700" dirty="0">
                <a:solidFill>
                  <a:srgbClr val="FF66FF"/>
                </a:solidFill>
                <a:effectLst>
                  <a:outerShdw blurRad="38100" dist="38100" dir="2700000" algn="tl">
                    <a:srgbClr val="000000"/>
                  </a:outerShdw>
                </a:effectLst>
                <a:latin typeface="Arial" charset="0"/>
              </a:rPr>
              <a:t>overprinting of ductile fabrics by brittle structures</a:t>
            </a:r>
          </a:p>
        </p:txBody>
      </p:sp>
      <p:sp>
        <p:nvSpPr>
          <p:cNvPr id="256011" name="Text Box 11">
            <a:extLst>
              <a:ext uri="{FF2B5EF4-FFF2-40B4-BE49-F238E27FC236}">
                <a16:creationId xmlns:a16="http://schemas.microsoft.com/office/drawing/2014/main" id="{1A3B272D-127D-431D-BC3D-1355E66D89B1}"/>
              </a:ext>
            </a:extLst>
          </p:cNvPr>
          <p:cNvSpPr txBox="1">
            <a:spLocks noChangeArrowheads="1"/>
          </p:cNvSpPr>
          <p:nvPr/>
        </p:nvSpPr>
        <p:spPr bwMode="auto">
          <a:xfrm>
            <a:off x="1163638" y="6383338"/>
            <a:ext cx="2971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sz="1400">
                <a:solidFill>
                  <a:srgbClr val="FFFF00"/>
                </a:solidFill>
                <a:effectLst>
                  <a:outerShdw blurRad="38100" dist="38100" dir="2700000" algn="tl">
                    <a:srgbClr val="000000"/>
                  </a:outerShdw>
                </a:effectLst>
                <a:latin typeface="Arial" charset="0"/>
              </a:rPr>
              <a:t>Badwater turtle-back, Death Valley</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A47C8FF3-46E2-4CC7-AC6E-BEBE6BF47A33}"/>
              </a:ext>
            </a:extLst>
          </p:cNvPr>
          <p:cNvSpPr>
            <a:spLocks noGrp="1" noChangeArrowheads="1"/>
          </p:cNvSpPr>
          <p:nvPr>
            <p:ph type="title"/>
          </p:nvPr>
        </p:nvSpPr>
        <p:spPr>
          <a:noFill/>
        </p:spPr>
        <p:txBody>
          <a:bodyPr/>
          <a:lstStyle/>
          <a:p>
            <a:r>
              <a:rPr lang="en-GB" altLang="en-US">
                <a:effectLst/>
              </a:rPr>
              <a:t>Oceanic core complexes</a:t>
            </a:r>
          </a:p>
        </p:txBody>
      </p:sp>
      <p:sp>
        <p:nvSpPr>
          <p:cNvPr id="11267" name="Rectangle 3">
            <a:extLst>
              <a:ext uri="{FF2B5EF4-FFF2-40B4-BE49-F238E27FC236}">
                <a16:creationId xmlns:a16="http://schemas.microsoft.com/office/drawing/2014/main" id="{F4804248-A377-41F7-9150-D27BCA2ED02A}"/>
              </a:ext>
            </a:extLst>
          </p:cNvPr>
          <p:cNvSpPr>
            <a:spLocks noGrp="1" noChangeArrowheads="1"/>
          </p:cNvSpPr>
          <p:nvPr>
            <p:ph type="body" sz="half" idx="1"/>
          </p:nvPr>
        </p:nvSpPr>
        <p:spPr>
          <a:xfrm>
            <a:off x="106363" y="769938"/>
            <a:ext cx="5056187" cy="3852862"/>
          </a:xfrm>
          <a:noFill/>
        </p:spPr>
        <p:txBody>
          <a:bodyPr/>
          <a:lstStyle/>
          <a:p>
            <a:pPr marL="177800" indent="-177800">
              <a:spcBef>
                <a:spcPct val="75000"/>
              </a:spcBef>
            </a:pPr>
            <a:r>
              <a:rPr lang="en-GB" altLang="en-US" sz="1700" dirty="0">
                <a:solidFill>
                  <a:srgbClr val="FF6600"/>
                </a:solidFill>
                <a:effectLst/>
              </a:rPr>
              <a:t>Core complexes</a:t>
            </a:r>
            <a:r>
              <a:rPr lang="en-GB" altLang="en-US" sz="1700" dirty="0">
                <a:effectLst/>
              </a:rPr>
              <a:t> have also been found in the axial valley of </a:t>
            </a:r>
            <a:r>
              <a:rPr lang="en-GB" altLang="en-US" sz="1700" dirty="0">
                <a:solidFill>
                  <a:srgbClr val="FF66FF"/>
                </a:solidFill>
                <a:effectLst/>
              </a:rPr>
              <a:t>slow spreading mid-ocean ridges</a:t>
            </a:r>
            <a:r>
              <a:rPr lang="en-GB" altLang="en-US" sz="1700" dirty="0">
                <a:effectLst/>
              </a:rPr>
              <a:t>, where they expose lower crustal </a:t>
            </a:r>
            <a:r>
              <a:rPr lang="en-GB" altLang="en-US" sz="1700" dirty="0" err="1">
                <a:effectLst/>
              </a:rPr>
              <a:t>gabbros</a:t>
            </a:r>
            <a:r>
              <a:rPr lang="en-GB" altLang="en-US" sz="1700" dirty="0">
                <a:effectLst/>
              </a:rPr>
              <a:t> and upper mantle peridotites on the ocean floor</a:t>
            </a:r>
          </a:p>
          <a:p>
            <a:pPr marL="177800" indent="-177800">
              <a:spcBef>
                <a:spcPct val="75000"/>
              </a:spcBef>
            </a:pPr>
            <a:r>
              <a:rPr lang="en-GB" altLang="en-US" sz="1700" dirty="0">
                <a:effectLst/>
              </a:rPr>
              <a:t>A well-developed </a:t>
            </a:r>
            <a:r>
              <a:rPr lang="en-GB" altLang="en-US" sz="1700" dirty="0">
                <a:solidFill>
                  <a:srgbClr val="FF66FF"/>
                </a:solidFill>
                <a:effectLst/>
              </a:rPr>
              <a:t>lineation</a:t>
            </a:r>
            <a:r>
              <a:rPr lang="en-GB" altLang="en-US" sz="1700" dirty="0">
                <a:effectLst/>
              </a:rPr>
              <a:t> (</a:t>
            </a:r>
            <a:r>
              <a:rPr lang="en-GB" altLang="en-US" sz="1700" dirty="0" err="1">
                <a:solidFill>
                  <a:srgbClr val="FF6600"/>
                </a:solidFill>
                <a:effectLst/>
              </a:rPr>
              <a:t>megamullions</a:t>
            </a:r>
            <a:r>
              <a:rPr lang="en-GB" altLang="en-US" sz="1700" dirty="0">
                <a:effectLst/>
              </a:rPr>
              <a:t>) is developed over distances of 10 km+ parallel to the extension direction on the domed surface of the footwall block</a:t>
            </a:r>
          </a:p>
          <a:p>
            <a:pPr marL="177800" indent="-177800">
              <a:spcBef>
                <a:spcPct val="75000"/>
              </a:spcBef>
            </a:pPr>
            <a:r>
              <a:rPr lang="en-GB" altLang="en-US" sz="1700" dirty="0">
                <a:effectLst/>
              </a:rPr>
              <a:t>Slip is </a:t>
            </a:r>
            <a:r>
              <a:rPr lang="en-GB" altLang="en-US" sz="1700" dirty="0">
                <a:solidFill>
                  <a:srgbClr val="FF66FF"/>
                </a:solidFill>
                <a:effectLst/>
              </a:rPr>
              <a:t>initiated on high angle</a:t>
            </a:r>
            <a:r>
              <a:rPr lang="en-GB" altLang="en-US" sz="1700" dirty="0">
                <a:effectLst/>
              </a:rPr>
              <a:t> (65°) normal faults; on most of these, slip ceases at relatively small displacements, but on some the </a:t>
            </a:r>
            <a:r>
              <a:rPr lang="en-GB" altLang="en-US" sz="1700" dirty="0">
                <a:solidFill>
                  <a:srgbClr val="FF66FF"/>
                </a:solidFill>
                <a:effectLst/>
              </a:rPr>
              <a:t>formation of talc</a:t>
            </a:r>
            <a:r>
              <a:rPr lang="en-GB" altLang="en-US" sz="1700" dirty="0">
                <a:effectLst/>
              </a:rPr>
              <a:t> </a:t>
            </a:r>
          </a:p>
        </p:txBody>
      </p:sp>
      <p:pic>
        <p:nvPicPr>
          <p:cNvPr id="11268" name="Picture 4" descr="02d2">
            <a:extLst>
              <a:ext uri="{FF2B5EF4-FFF2-40B4-BE49-F238E27FC236}">
                <a16:creationId xmlns:a16="http://schemas.microsoft.com/office/drawing/2014/main" id="{CF6B80E0-7E09-45D1-B961-EB154B910210}"/>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221288" y="915988"/>
            <a:ext cx="3781425" cy="37179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8840" name="Rectangle 8">
            <a:extLst>
              <a:ext uri="{FF2B5EF4-FFF2-40B4-BE49-F238E27FC236}">
                <a16:creationId xmlns:a16="http://schemas.microsoft.com/office/drawing/2014/main" id="{F8E92100-3D30-4ED2-BF58-1005FC4D959B}"/>
              </a:ext>
            </a:extLst>
          </p:cNvPr>
          <p:cNvSpPr>
            <a:spLocks noChangeArrowheads="1"/>
          </p:cNvSpPr>
          <p:nvPr/>
        </p:nvSpPr>
        <p:spPr bwMode="auto">
          <a:xfrm>
            <a:off x="3116263" y="4818063"/>
            <a:ext cx="5915025" cy="189230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11272" name="Picture 6" descr="02d1">
            <a:extLst>
              <a:ext uri="{FF2B5EF4-FFF2-40B4-BE49-F238E27FC236}">
                <a16:creationId xmlns:a16="http://schemas.microsoft.com/office/drawing/2014/main" id="{F25E6946-90B1-46C5-A08D-E1EEB1AFDAC7}"/>
              </a:ext>
            </a:extLst>
          </p:cNvPr>
          <p:cNvPicPr>
            <a:picLocks noChangeAspect="1" noChangeArrowheads="1"/>
          </p:cNvPicPr>
          <p:nvPr/>
        </p:nvPicPr>
        <p:blipFill>
          <a:blip r:embed="rId4">
            <a:lum bright="-10000" contrast="20000"/>
            <a:extLst>
              <a:ext uri="{28A0092B-C50C-407E-A947-70E740481C1C}">
                <a14:useLocalDpi xmlns:a14="http://schemas.microsoft.com/office/drawing/2010/main" val="0"/>
              </a:ext>
            </a:extLst>
          </a:blip>
          <a:srcRect/>
          <a:stretch>
            <a:fillRect/>
          </a:stretch>
        </p:blipFill>
        <p:spPr bwMode="auto">
          <a:xfrm>
            <a:off x="3182938" y="4919663"/>
            <a:ext cx="5756275" cy="175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8842" name="Text Box 10">
            <a:extLst>
              <a:ext uri="{FF2B5EF4-FFF2-40B4-BE49-F238E27FC236}">
                <a16:creationId xmlns:a16="http://schemas.microsoft.com/office/drawing/2014/main" id="{8C8EB7B3-2D9D-4DAF-AEC6-304AE2B43858}"/>
              </a:ext>
            </a:extLst>
          </p:cNvPr>
          <p:cNvSpPr txBox="1">
            <a:spLocks noChangeArrowheads="1"/>
          </p:cNvSpPr>
          <p:nvPr/>
        </p:nvSpPr>
        <p:spPr bwMode="auto">
          <a:xfrm>
            <a:off x="101600" y="4594225"/>
            <a:ext cx="2817813" cy="195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defRPr/>
            </a:pPr>
            <a:r>
              <a:rPr lang="en-GB" sz="1700">
                <a:effectLst>
                  <a:outerShdw blurRad="38100" dist="38100" dir="2700000" algn="tl">
                    <a:srgbClr val="000000"/>
                  </a:outerShdw>
                </a:effectLst>
                <a:latin typeface="Arial" charset="0"/>
              </a:rPr>
              <a:t>during temporary periods of </a:t>
            </a:r>
            <a:r>
              <a:rPr lang="en-GB" sz="1700">
                <a:solidFill>
                  <a:srgbClr val="FF66FF"/>
                </a:solidFill>
                <a:effectLst>
                  <a:outerShdw blurRad="38100" dist="38100" dir="2700000" algn="tl">
                    <a:srgbClr val="000000"/>
                  </a:outerShdw>
                </a:effectLst>
                <a:latin typeface="Arial" charset="0"/>
              </a:rPr>
              <a:t>waning magmatism</a:t>
            </a:r>
            <a:r>
              <a:rPr lang="en-GB" sz="1700">
                <a:effectLst>
                  <a:outerShdw blurRad="38100" dist="38100" dir="2700000" algn="tl">
                    <a:srgbClr val="000000"/>
                  </a:outerShdw>
                </a:effectLst>
                <a:latin typeface="Arial" charset="0"/>
              </a:rPr>
              <a:t> allows </a:t>
            </a:r>
            <a:r>
              <a:rPr lang="en-GB" sz="1700">
                <a:solidFill>
                  <a:srgbClr val="FF66FF"/>
                </a:solidFill>
                <a:effectLst>
                  <a:outerShdw blurRad="38100" dist="38100" dir="2700000" algn="tl">
                    <a:srgbClr val="000000"/>
                  </a:outerShdw>
                </a:effectLst>
                <a:latin typeface="Arial" charset="0"/>
              </a:rPr>
              <a:t>runaway slip</a:t>
            </a:r>
            <a:r>
              <a:rPr lang="en-GB" sz="1700">
                <a:effectLst>
                  <a:outerShdw blurRad="38100" dist="38100" dir="2700000" algn="tl">
                    <a:srgbClr val="000000"/>
                  </a:outerShdw>
                </a:effectLst>
                <a:latin typeface="Arial" charset="0"/>
              </a:rPr>
              <a:t>, which in turn leads to </a:t>
            </a:r>
            <a:r>
              <a:rPr lang="en-GB" sz="1700">
                <a:solidFill>
                  <a:srgbClr val="FF66FF"/>
                </a:solidFill>
                <a:effectLst>
                  <a:outerShdw blurRad="38100" dist="38100" dir="2700000" algn="tl">
                    <a:srgbClr val="000000"/>
                  </a:outerShdw>
                </a:effectLst>
                <a:latin typeface="Arial" charset="0"/>
              </a:rPr>
              <a:t>footwall doming</a:t>
            </a:r>
            <a:r>
              <a:rPr lang="en-GB" sz="1700">
                <a:effectLst>
                  <a:outerShdw blurRad="38100" dist="38100" dir="2700000" algn="tl">
                    <a:srgbClr val="000000"/>
                  </a:outerShdw>
                </a:effectLst>
                <a:latin typeface="Arial" charset="0"/>
              </a:rPr>
              <a:t> through flexural unloading</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12C3614-8497-41F1-B485-45B5E9BBA862}"/>
              </a:ext>
            </a:extLst>
          </p:cNvPr>
          <p:cNvSpPr>
            <a:spLocks noGrp="1" noChangeArrowheads="1"/>
          </p:cNvSpPr>
          <p:nvPr>
            <p:ph type="title"/>
          </p:nvPr>
        </p:nvSpPr>
        <p:spPr>
          <a:noFill/>
        </p:spPr>
        <p:txBody>
          <a:bodyPr/>
          <a:lstStyle/>
          <a:p>
            <a:r>
              <a:rPr lang="en-GB" altLang="en-US" dirty="0">
                <a:effectLst/>
              </a:rPr>
              <a:t>Local extension above dome</a:t>
            </a:r>
            <a:r>
              <a:rPr lang="en-GB" altLang="en-US" spc="500" dirty="0">
                <a:effectLst/>
              </a:rPr>
              <a:t>s/</a:t>
            </a:r>
            <a:r>
              <a:rPr lang="en-GB" altLang="en-US" dirty="0">
                <a:effectLst/>
              </a:rPr>
              <a:t>magma chambers</a:t>
            </a:r>
          </a:p>
        </p:txBody>
      </p:sp>
      <p:sp>
        <p:nvSpPr>
          <p:cNvPr id="12291" name="Rectangle 3">
            <a:extLst>
              <a:ext uri="{FF2B5EF4-FFF2-40B4-BE49-F238E27FC236}">
                <a16:creationId xmlns:a16="http://schemas.microsoft.com/office/drawing/2014/main" id="{0928748B-4DD0-40C2-845E-F035752CAFCA}"/>
              </a:ext>
            </a:extLst>
          </p:cNvPr>
          <p:cNvSpPr>
            <a:spLocks noGrp="1" noChangeArrowheads="1"/>
          </p:cNvSpPr>
          <p:nvPr>
            <p:ph type="body" sz="half" idx="1"/>
          </p:nvPr>
        </p:nvSpPr>
        <p:spPr>
          <a:xfrm>
            <a:off x="106363" y="769938"/>
            <a:ext cx="5397500" cy="2174875"/>
          </a:xfrm>
          <a:noFill/>
        </p:spPr>
        <p:txBody>
          <a:bodyPr/>
          <a:lstStyle/>
          <a:p>
            <a:pPr marL="179388" indent="-179388">
              <a:spcBef>
                <a:spcPct val="50000"/>
              </a:spcBef>
            </a:pPr>
            <a:r>
              <a:rPr lang="en-GB" altLang="en-US" sz="1700" dirty="0">
                <a:solidFill>
                  <a:srgbClr val="FF6600"/>
                </a:solidFill>
                <a:effectLst/>
              </a:rPr>
              <a:t>Above structural domes</a:t>
            </a:r>
            <a:r>
              <a:rPr lang="en-GB" altLang="en-US" sz="1700" dirty="0">
                <a:effectLst/>
              </a:rPr>
              <a:t> (</a:t>
            </a:r>
            <a:r>
              <a:rPr lang="en-GB" altLang="en-US" sz="1700" i="1" dirty="0">
                <a:effectLst/>
              </a:rPr>
              <a:t>e.g</a:t>
            </a:r>
            <a:r>
              <a:rPr lang="en-GB" altLang="en-US" sz="1700" dirty="0">
                <a:effectLst/>
              </a:rPr>
              <a:t>., over a rising salt dome or a mantle plume), the uplifted and domed units are put into a state of circumferential extension</a:t>
            </a:r>
          </a:p>
          <a:p>
            <a:pPr marL="179388" indent="-179388">
              <a:spcBef>
                <a:spcPct val="50000"/>
              </a:spcBef>
            </a:pPr>
            <a:r>
              <a:rPr lang="en-GB" altLang="en-US" sz="1700" dirty="0">
                <a:effectLst/>
              </a:rPr>
              <a:t>The response is a set of normal faults that </a:t>
            </a:r>
            <a:r>
              <a:rPr lang="en-GB" altLang="en-US" sz="1700" dirty="0">
                <a:solidFill>
                  <a:srgbClr val="FF66FF"/>
                </a:solidFill>
                <a:effectLst/>
              </a:rPr>
              <a:t>radiate</a:t>
            </a:r>
            <a:r>
              <a:rPr lang="en-GB" altLang="en-US" sz="1700" dirty="0">
                <a:effectLst/>
              </a:rPr>
              <a:t> out from a central point with displacement on these faults decreasing outwards</a:t>
            </a:r>
          </a:p>
        </p:txBody>
      </p:sp>
      <p:pic>
        <p:nvPicPr>
          <p:cNvPr id="12292" name="Picture 4" descr="02a">
            <a:extLst>
              <a:ext uri="{FF2B5EF4-FFF2-40B4-BE49-F238E27FC236}">
                <a16:creationId xmlns:a16="http://schemas.microsoft.com/office/drawing/2014/main" id="{4F01E814-2E7D-4309-9015-DABA50B7646B}"/>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602288" y="884238"/>
            <a:ext cx="3260725" cy="1593850"/>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12293" name="Group 21">
            <a:extLst>
              <a:ext uri="{FF2B5EF4-FFF2-40B4-BE49-F238E27FC236}">
                <a16:creationId xmlns:a16="http://schemas.microsoft.com/office/drawing/2014/main" id="{A3B2F7AD-6901-434F-A0D8-B1787BF5E34D}"/>
              </a:ext>
            </a:extLst>
          </p:cNvPr>
          <p:cNvGrpSpPr>
            <a:grpSpLocks/>
          </p:cNvGrpSpPr>
          <p:nvPr/>
        </p:nvGrpSpPr>
        <p:grpSpPr bwMode="auto">
          <a:xfrm>
            <a:off x="5613400" y="2633663"/>
            <a:ext cx="3267075" cy="4067175"/>
            <a:chOff x="3815" y="1872"/>
            <a:chExt cx="1844" cy="2353"/>
          </a:xfrm>
        </p:grpSpPr>
        <p:pic>
          <p:nvPicPr>
            <p:cNvPr id="12296" name="Picture 8">
              <a:extLst>
                <a:ext uri="{FF2B5EF4-FFF2-40B4-BE49-F238E27FC236}">
                  <a16:creationId xmlns:a16="http://schemas.microsoft.com/office/drawing/2014/main" id="{83279ED1-C6B7-4E70-8BAD-A4CEF28376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5" y="1872"/>
              <a:ext cx="1844" cy="2353"/>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7099" name="Rectangle 11">
              <a:extLst>
                <a:ext uri="{FF2B5EF4-FFF2-40B4-BE49-F238E27FC236}">
                  <a16:creationId xmlns:a16="http://schemas.microsoft.com/office/drawing/2014/main" id="{9A84D1C1-C786-4B5A-AD02-2DED65FF88F1}"/>
                </a:ext>
              </a:extLst>
            </p:cNvPr>
            <p:cNvSpPr>
              <a:spLocks noChangeArrowheads="1"/>
            </p:cNvSpPr>
            <p:nvPr/>
          </p:nvSpPr>
          <p:spPr bwMode="auto">
            <a:xfrm>
              <a:off x="3826" y="4028"/>
              <a:ext cx="518" cy="9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12298" name="Text Box 12">
              <a:extLst>
                <a:ext uri="{FF2B5EF4-FFF2-40B4-BE49-F238E27FC236}">
                  <a16:creationId xmlns:a16="http://schemas.microsoft.com/office/drawing/2014/main" id="{80F14438-C0C3-4398-8B32-9EA80476A6B9}"/>
                </a:ext>
              </a:extLst>
            </p:cNvPr>
            <p:cNvSpPr txBox="1">
              <a:spLocks noChangeArrowheads="1"/>
            </p:cNvSpPr>
            <p:nvPr/>
          </p:nvSpPr>
          <p:spPr bwMode="auto">
            <a:xfrm>
              <a:off x="3838" y="4057"/>
              <a:ext cx="923"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1000">
                  <a:solidFill>
                    <a:srgbClr val="FF0000"/>
                  </a:solidFill>
                  <a:effectLst/>
                  <a:latin typeface="Arial" panose="020B0604020202020204" pitchFamily="34" charset="0"/>
                </a:rPr>
                <a:t>Hawkins salt dome</a:t>
              </a:r>
            </a:p>
          </p:txBody>
        </p:sp>
      </p:grpSp>
      <p:pic>
        <p:nvPicPr>
          <p:cNvPr id="12294" name="Picture 19" descr="radial">
            <a:extLst>
              <a:ext uri="{FF2B5EF4-FFF2-40B4-BE49-F238E27FC236}">
                <a16:creationId xmlns:a16="http://schemas.microsoft.com/office/drawing/2014/main" id="{587C8C33-C094-4DEC-BC7D-313DEA203F72}"/>
              </a:ext>
            </a:extLst>
          </p:cNvPr>
          <p:cNvPicPr>
            <a:picLocks noGrp="1" noChangeAspect="1" noChangeArrowheads="1"/>
          </p:cNvPicPr>
          <p:nvPr>
            <p:ph sz="quarter" idx="3"/>
          </p:nvPr>
        </p:nvPicPr>
        <p:blipFill>
          <a:blip r:embed="rId5">
            <a:lum contrast="20000"/>
            <a:extLst>
              <a:ext uri="{28A0092B-C50C-407E-A947-70E740481C1C}">
                <a14:useLocalDpi xmlns:a14="http://schemas.microsoft.com/office/drawing/2010/main" val="0"/>
              </a:ext>
            </a:extLst>
          </a:blip>
          <a:srcRect/>
          <a:stretch>
            <a:fillRect/>
          </a:stretch>
        </p:blipFill>
        <p:spPr>
          <a:xfrm>
            <a:off x="473075" y="3025775"/>
            <a:ext cx="4833938" cy="31765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17114" name="Text Box 26">
            <a:extLst>
              <a:ext uri="{FF2B5EF4-FFF2-40B4-BE49-F238E27FC236}">
                <a16:creationId xmlns:a16="http://schemas.microsoft.com/office/drawing/2014/main" id="{3B885AE4-2125-44CA-B424-7543879B1F4B}"/>
              </a:ext>
            </a:extLst>
          </p:cNvPr>
          <p:cNvSpPr txBox="1">
            <a:spLocks noChangeArrowheads="1"/>
          </p:cNvSpPr>
          <p:nvPr/>
        </p:nvSpPr>
        <p:spPr bwMode="auto">
          <a:xfrm>
            <a:off x="377825" y="6300788"/>
            <a:ext cx="25765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sz="1400">
                <a:solidFill>
                  <a:srgbClr val="FFFF00"/>
                </a:solidFill>
                <a:effectLst>
                  <a:outerShdw blurRad="38100" dist="38100" dir="2700000" algn="tl">
                    <a:srgbClr val="000000"/>
                  </a:outerShdw>
                </a:effectLst>
                <a:latin typeface="Arial" charset="0"/>
              </a:rPr>
              <a:t>Radial fractures within tarmac</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32" name="Picture 20" descr="04b1">
            <a:extLst>
              <a:ext uri="{FF2B5EF4-FFF2-40B4-BE49-F238E27FC236}">
                <a16:creationId xmlns:a16="http://schemas.microsoft.com/office/drawing/2014/main" id="{5FED7DFF-C68C-43D8-9DF6-A77DFDF9EB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1313" y="4048125"/>
            <a:ext cx="3517900" cy="257651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3314" name="Rectangle 2">
            <a:extLst>
              <a:ext uri="{FF2B5EF4-FFF2-40B4-BE49-F238E27FC236}">
                <a16:creationId xmlns:a16="http://schemas.microsoft.com/office/drawing/2014/main" id="{3EA015CE-D709-4928-953E-DE958A0BB030}"/>
              </a:ext>
            </a:extLst>
          </p:cNvPr>
          <p:cNvSpPr>
            <a:spLocks noGrp="1" noChangeArrowheads="1"/>
          </p:cNvSpPr>
          <p:nvPr>
            <p:ph type="title"/>
          </p:nvPr>
        </p:nvSpPr>
        <p:spPr>
          <a:noFill/>
        </p:spPr>
        <p:txBody>
          <a:bodyPr/>
          <a:lstStyle/>
          <a:p>
            <a:r>
              <a:rPr lang="en-GB" altLang="en-US" dirty="0">
                <a:effectLst/>
              </a:rPr>
              <a:t>Local extension above dome</a:t>
            </a:r>
            <a:r>
              <a:rPr lang="en-GB" altLang="en-US" spc="500" dirty="0">
                <a:effectLst/>
              </a:rPr>
              <a:t>s/</a:t>
            </a:r>
            <a:r>
              <a:rPr lang="en-GB" altLang="en-US" dirty="0">
                <a:effectLst/>
              </a:rPr>
              <a:t>magma chambers  2</a:t>
            </a:r>
          </a:p>
        </p:txBody>
      </p:sp>
      <p:pic>
        <p:nvPicPr>
          <p:cNvPr id="13316" name="Picture 9" descr="DevanaChasma">
            <a:extLst>
              <a:ext uri="{FF2B5EF4-FFF2-40B4-BE49-F238E27FC236}">
                <a16:creationId xmlns:a16="http://schemas.microsoft.com/office/drawing/2014/main" id="{80DC9810-C5E4-4E90-97DE-C6FDFD52B80F}"/>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5381625" y="892175"/>
            <a:ext cx="3522663" cy="352266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76837" name="Text Box 5">
            <a:extLst>
              <a:ext uri="{FF2B5EF4-FFF2-40B4-BE49-F238E27FC236}">
                <a16:creationId xmlns:a16="http://schemas.microsoft.com/office/drawing/2014/main" id="{E4E9F351-DD54-486D-9EBF-0F453F0CF5DF}"/>
              </a:ext>
            </a:extLst>
          </p:cNvPr>
          <p:cNvSpPr txBox="1">
            <a:spLocks noChangeArrowheads="1"/>
          </p:cNvSpPr>
          <p:nvPr/>
        </p:nvSpPr>
        <p:spPr bwMode="auto">
          <a:xfrm>
            <a:off x="3765550" y="2246313"/>
            <a:ext cx="15462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0"/>
              </a:spcBef>
              <a:buClr>
                <a:srgbClr val="FFFF00"/>
              </a:buClr>
            </a:pPr>
            <a:r>
              <a:rPr lang="en-GB" altLang="en-US" sz="1400">
                <a:solidFill>
                  <a:srgbClr val="FFFF00"/>
                </a:solidFill>
                <a:effectLst>
                  <a:outerShdw blurRad="38100" dist="38100" dir="2700000" algn="tl">
                    <a:srgbClr val="000000"/>
                  </a:outerShdw>
                </a:effectLst>
                <a:latin typeface="Arial" panose="020B0604020202020204" pitchFamily="34" charset="0"/>
              </a:rPr>
              <a:t>Devana Chasma on Venus</a:t>
            </a:r>
          </a:p>
        </p:txBody>
      </p:sp>
      <p:pic>
        <p:nvPicPr>
          <p:cNvPr id="13318" name="Picture 12" descr="pl003">
            <a:extLst>
              <a:ext uri="{FF2B5EF4-FFF2-40B4-BE49-F238E27FC236}">
                <a16:creationId xmlns:a16="http://schemas.microsoft.com/office/drawing/2014/main" id="{A906217D-B019-4983-9FBE-1D1D4E2F39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1013" y="4573588"/>
            <a:ext cx="3213100" cy="210026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76859" name="Text Box 27">
            <a:extLst>
              <a:ext uri="{FF2B5EF4-FFF2-40B4-BE49-F238E27FC236}">
                <a16:creationId xmlns:a16="http://schemas.microsoft.com/office/drawing/2014/main" id="{1A370BDB-A460-467C-B814-2BCF0212E736}"/>
              </a:ext>
            </a:extLst>
          </p:cNvPr>
          <p:cNvSpPr txBox="1">
            <a:spLocks noChangeArrowheads="1"/>
          </p:cNvSpPr>
          <p:nvPr/>
        </p:nvSpPr>
        <p:spPr bwMode="auto">
          <a:xfrm>
            <a:off x="3563938" y="793750"/>
            <a:ext cx="1677987"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0"/>
              </a:spcBef>
              <a:buClr>
                <a:srgbClr val="FFFF00"/>
              </a:buClr>
            </a:pPr>
            <a:r>
              <a:rPr lang="en-GB" altLang="en-US" sz="1400">
                <a:solidFill>
                  <a:srgbClr val="FFFF00"/>
                </a:solidFill>
                <a:effectLst>
                  <a:outerShdw blurRad="38100" dist="38100" dir="2700000" algn="tl">
                    <a:srgbClr val="000000"/>
                  </a:outerShdw>
                </a:effectLst>
                <a:latin typeface="Arial" panose="020B0604020202020204" pitchFamily="34" charset="0"/>
              </a:rPr>
              <a:t>Pantheon Fossae, Caloris Basin, Mercury</a:t>
            </a:r>
          </a:p>
        </p:txBody>
      </p:sp>
      <p:sp>
        <p:nvSpPr>
          <p:cNvPr id="17" name="Text Box 5">
            <a:extLst>
              <a:ext uri="{FF2B5EF4-FFF2-40B4-BE49-F238E27FC236}">
                <a16:creationId xmlns:a16="http://schemas.microsoft.com/office/drawing/2014/main" id="{78384C18-F668-4D14-8C66-80076F2888F6}"/>
              </a:ext>
            </a:extLst>
          </p:cNvPr>
          <p:cNvSpPr txBox="1">
            <a:spLocks noChangeArrowheads="1"/>
          </p:cNvSpPr>
          <p:nvPr/>
        </p:nvSpPr>
        <p:spPr bwMode="auto">
          <a:xfrm>
            <a:off x="158750" y="5711825"/>
            <a:ext cx="14859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0"/>
              </a:spcBef>
              <a:buClr>
                <a:srgbClr val="FFFF00"/>
              </a:buClr>
            </a:pPr>
            <a:r>
              <a:rPr lang="en-GB" altLang="en-US" sz="1400">
                <a:solidFill>
                  <a:srgbClr val="FFFF00"/>
                </a:solidFill>
                <a:effectLst>
                  <a:outerShdw blurRad="38100" dist="38100" dir="2700000" algn="tl">
                    <a:srgbClr val="000000"/>
                  </a:outerShdw>
                </a:effectLst>
                <a:latin typeface="Arial" panose="020B0604020202020204" pitchFamily="34" charset="0"/>
              </a:rPr>
              <a:t>Radial dykes, Spanish Peaks, SE Colorado</a:t>
            </a:r>
          </a:p>
        </p:txBody>
      </p:sp>
      <p:pic>
        <p:nvPicPr>
          <p:cNvPr id="13333" name="Picture 21" descr="PantheonFossae6">
            <a:extLst>
              <a:ext uri="{FF2B5EF4-FFF2-40B4-BE49-F238E27FC236}">
                <a16:creationId xmlns:a16="http://schemas.microsoft.com/office/drawing/2014/main" id="{1D36D20F-1F69-417B-B109-E1EBDB317B62}"/>
              </a:ext>
            </a:extLst>
          </p:cNvPr>
          <p:cNvPicPr>
            <a:picLocks noChangeAspect="1" noChangeArrowheads="1"/>
          </p:cNvPicPr>
          <p:nvPr/>
        </p:nvPicPr>
        <p:blipFill>
          <a:blip r:embed="rId6">
            <a:lum bright="8000" contrast="10000"/>
            <a:extLst>
              <a:ext uri="{28A0092B-C50C-407E-A947-70E740481C1C}">
                <a14:useLocalDpi xmlns:a14="http://schemas.microsoft.com/office/drawing/2010/main" val="0"/>
              </a:ext>
            </a:extLst>
          </a:blip>
          <a:srcRect/>
          <a:stretch>
            <a:fillRect/>
          </a:stretch>
        </p:blipFill>
        <p:spPr bwMode="auto">
          <a:xfrm>
            <a:off x="142875" y="857250"/>
            <a:ext cx="3381375" cy="3059113"/>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A572C4E8-08D0-4419-8661-C72B95072EE1}"/>
              </a:ext>
            </a:extLst>
          </p:cNvPr>
          <p:cNvSpPr>
            <a:spLocks noGrp="1" noChangeArrowheads="1"/>
          </p:cNvSpPr>
          <p:nvPr>
            <p:ph type="title" sz="quarter"/>
          </p:nvPr>
        </p:nvSpPr>
        <p:spPr>
          <a:noFill/>
        </p:spPr>
        <p:txBody>
          <a:bodyPr/>
          <a:lstStyle/>
          <a:p>
            <a:r>
              <a:rPr lang="en-GB" altLang="en-US">
                <a:effectLst/>
              </a:rPr>
              <a:t>Local extension around loaded lithosphere</a:t>
            </a:r>
          </a:p>
        </p:txBody>
      </p:sp>
      <p:pic>
        <p:nvPicPr>
          <p:cNvPr id="14339" name="Picture 13" descr="Tharis">
            <a:extLst>
              <a:ext uri="{FF2B5EF4-FFF2-40B4-BE49-F238E27FC236}">
                <a16:creationId xmlns:a16="http://schemas.microsoft.com/office/drawing/2014/main" id="{2CA4D135-D2C8-400E-AF0D-9245F9897C4F}"/>
              </a:ext>
            </a:extLst>
          </p:cNvPr>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2620963" y="898525"/>
            <a:ext cx="2201862" cy="22590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4340" name="Picture 10" descr="Valles_Marineris">
            <a:extLst>
              <a:ext uri="{FF2B5EF4-FFF2-40B4-BE49-F238E27FC236}">
                <a16:creationId xmlns:a16="http://schemas.microsoft.com/office/drawing/2014/main" id="{63558981-35A6-4B12-815B-EE034A83A4A4}"/>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205032" y="3341688"/>
            <a:ext cx="4446587" cy="295433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4341" name="Picture 1">
            <a:extLst>
              <a:ext uri="{FF2B5EF4-FFF2-40B4-BE49-F238E27FC236}">
                <a16:creationId xmlns:a16="http://schemas.microsoft.com/office/drawing/2014/main" id="{405710D6-2207-4ECF-895C-ED7360A11115}"/>
              </a:ext>
            </a:extLst>
          </p:cNvPr>
          <p:cNvPicPr>
            <a:picLocks noGrp="1" noChangeAspect="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153988" y="896938"/>
            <a:ext cx="2249487" cy="2249487"/>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79910" name="Text Box 6">
            <a:extLst>
              <a:ext uri="{FF2B5EF4-FFF2-40B4-BE49-F238E27FC236}">
                <a16:creationId xmlns:a16="http://schemas.microsoft.com/office/drawing/2014/main" id="{F19F50DC-1CCE-417E-BC17-D068CA1B8481}"/>
              </a:ext>
            </a:extLst>
          </p:cNvPr>
          <p:cNvSpPr txBox="1">
            <a:spLocks noChangeArrowheads="1"/>
          </p:cNvSpPr>
          <p:nvPr/>
        </p:nvSpPr>
        <p:spPr bwMode="auto">
          <a:xfrm>
            <a:off x="87802" y="6392863"/>
            <a:ext cx="48514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defRPr/>
            </a:pPr>
            <a:r>
              <a:rPr lang="en-GB" sz="1400" dirty="0">
                <a:solidFill>
                  <a:srgbClr val="FFFF00"/>
                </a:solidFill>
                <a:effectLst>
                  <a:outerShdw blurRad="38100" dist="38100" dir="2700000" algn="tl">
                    <a:srgbClr val="000000"/>
                  </a:outerShdw>
                </a:effectLst>
                <a:latin typeface="Arial" charset="0"/>
              </a:rPr>
              <a:t>Valles </a:t>
            </a:r>
            <a:r>
              <a:rPr lang="en-GB" sz="1400" dirty="0" err="1">
                <a:solidFill>
                  <a:srgbClr val="FFFF00"/>
                </a:solidFill>
                <a:effectLst>
                  <a:outerShdw blurRad="38100" dist="38100" dir="2700000" algn="tl">
                    <a:srgbClr val="000000"/>
                  </a:outerShdw>
                </a:effectLst>
                <a:latin typeface="Arial" charset="0"/>
              </a:rPr>
              <a:t>Marineris</a:t>
            </a:r>
            <a:r>
              <a:rPr lang="en-GB" sz="1400" dirty="0">
                <a:solidFill>
                  <a:srgbClr val="FFFF00"/>
                </a:solidFill>
                <a:effectLst>
                  <a:outerShdw blurRad="38100" dist="38100" dir="2700000" algn="tl">
                    <a:srgbClr val="000000"/>
                  </a:outerShdw>
                </a:effectLst>
                <a:latin typeface="Arial" charset="0"/>
              </a:rPr>
              <a:t> – actually a </a:t>
            </a:r>
            <a:r>
              <a:rPr lang="en-GB" sz="1400" dirty="0" err="1">
                <a:solidFill>
                  <a:srgbClr val="FFFF00"/>
                </a:solidFill>
                <a:effectLst>
                  <a:outerShdw blurRad="38100" dist="38100" dir="2700000" algn="tl">
                    <a:srgbClr val="000000"/>
                  </a:outerShdw>
                </a:effectLst>
                <a:latin typeface="Arial" charset="0"/>
              </a:rPr>
              <a:t>transtensional</a:t>
            </a:r>
            <a:r>
              <a:rPr lang="en-GB" sz="1400" dirty="0">
                <a:solidFill>
                  <a:srgbClr val="FFFF00"/>
                </a:solidFill>
                <a:effectLst>
                  <a:outerShdw blurRad="38100" dist="38100" dir="2700000" algn="tl">
                    <a:srgbClr val="000000"/>
                  </a:outerShdw>
                </a:effectLst>
                <a:latin typeface="Arial" charset="0"/>
              </a:rPr>
              <a:t> strike-slip fault</a:t>
            </a:r>
          </a:p>
        </p:txBody>
      </p:sp>
      <p:pic>
        <p:nvPicPr>
          <p:cNvPr id="14343" name="Picture 20" descr="Tharsis2">
            <a:extLst>
              <a:ext uri="{FF2B5EF4-FFF2-40B4-BE49-F238E27FC236}">
                <a16:creationId xmlns:a16="http://schemas.microsoft.com/office/drawing/2014/main" id="{FCCF4635-C120-401C-A332-F7F5223B18EC}"/>
              </a:ext>
            </a:extLst>
          </p:cNvPr>
          <p:cNvPicPr>
            <a:picLocks noGrp="1" noChangeAspect="1" noChangeArrowheads="1"/>
          </p:cNvPicPr>
          <p:nvPr>
            <p:ph sz="quarter" idx="4"/>
          </p:nvPr>
        </p:nvPicPr>
        <p:blipFill>
          <a:blip r:embed="rId6">
            <a:extLst>
              <a:ext uri="{28A0092B-C50C-407E-A947-70E740481C1C}">
                <a14:useLocalDpi xmlns:a14="http://schemas.microsoft.com/office/drawing/2010/main" val="0"/>
              </a:ext>
            </a:extLst>
          </a:blip>
          <a:srcRect/>
          <a:stretch>
            <a:fillRect/>
          </a:stretch>
        </p:blipFill>
        <p:spPr>
          <a:xfrm>
            <a:off x="5021263" y="873125"/>
            <a:ext cx="3905250" cy="32416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79926" name="Text Box 22">
            <a:extLst>
              <a:ext uri="{FF2B5EF4-FFF2-40B4-BE49-F238E27FC236}">
                <a16:creationId xmlns:a16="http://schemas.microsoft.com/office/drawing/2014/main" id="{D4E17F0C-0544-4F2B-A60C-664AABEEB51C}"/>
              </a:ext>
            </a:extLst>
          </p:cNvPr>
          <p:cNvSpPr txBox="1">
            <a:spLocks noChangeArrowheads="1"/>
          </p:cNvSpPr>
          <p:nvPr/>
        </p:nvSpPr>
        <p:spPr bwMode="auto">
          <a:xfrm>
            <a:off x="5258435" y="4175125"/>
            <a:ext cx="3508375"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defRPr/>
            </a:pPr>
            <a:r>
              <a:rPr lang="en-GB" sz="1400" dirty="0">
                <a:solidFill>
                  <a:srgbClr val="FFFF00"/>
                </a:solidFill>
                <a:effectLst>
                  <a:outerShdw blurRad="38100" dist="38100" dir="2700000" algn="tl">
                    <a:srgbClr val="000000"/>
                  </a:outerShdw>
                </a:effectLst>
                <a:latin typeface="Arial" charset="0"/>
              </a:rPr>
              <a:t>Radial extension fractures around </a:t>
            </a:r>
            <a:r>
              <a:rPr lang="en-GB" sz="1400" dirty="0" err="1">
                <a:solidFill>
                  <a:srgbClr val="FFFF00"/>
                </a:solidFill>
                <a:effectLst>
                  <a:outerShdw blurRad="38100" dist="38100" dir="2700000" algn="tl">
                    <a:srgbClr val="000000"/>
                  </a:outerShdw>
                </a:effectLst>
                <a:latin typeface="Arial" charset="0"/>
              </a:rPr>
              <a:t>Tharsis</a:t>
            </a:r>
            <a:endParaRPr lang="en-GB" sz="1400" dirty="0">
              <a:solidFill>
                <a:srgbClr val="FFFF00"/>
              </a:solidFill>
              <a:effectLst>
                <a:outerShdw blurRad="38100" dist="38100" dir="2700000" algn="tl">
                  <a:srgbClr val="000000"/>
                </a:outerShdw>
              </a:effectLst>
              <a:latin typeface="Arial" charset="0"/>
            </a:endParaRPr>
          </a:p>
        </p:txBody>
      </p:sp>
      <p:sp>
        <p:nvSpPr>
          <p:cNvPr id="2" name="TextBox 1">
            <a:extLst>
              <a:ext uri="{FF2B5EF4-FFF2-40B4-BE49-F238E27FC236}">
                <a16:creationId xmlns:a16="http://schemas.microsoft.com/office/drawing/2014/main" id="{730C63D5-BCF1-4D15-916A-0F486A21CB84}"/>
              </a:ext>
            </a:extLst>
          </p:cNvPr>
          <p:cNvSpPr txBox="1"/>
          <p:nvPr/>
        </p:nvSpPr>
        <p:spPr>
          <a:xfrm>
            <a:off x="4829175" y="4639408"/>
            <a:ext cx="4148138" cy="1958975"/>
          </a:xfrm>
          <a:prstGeom prst="rect">
            <a:avLst/>
          </a:prstGeom>
          <a:noFill/>
        </p:spPr>
        <p:txBody>
          <a:bodyPr>
            <a:spAutoFit/>
          </a:bodyPr>
          <a:lstStyle/>
          <a:p>
            <a:pPr marL="176213" indent="-176213">
              <a:lnSpc>
                <a:spcPct val="120000"/>
              </a:lnSpc>
              <a:buClr>
                <a:schemeClr val="tx1"/>
              </a:buClr>
              <a:buFont typeface="Arial" pitchFamily="34" charset="0"/>
              <a:buChar char="•"/>
              <a:defRPr/>
            </a:pPr>
            <a:r>
              <a:rPr lang="en-GB" sz="1700" dirty="0">
                <a:latin typeface="+mn-lt"/>
              </a:rPr>
              <a:t>The </a:t>
            </a:r>
            <a:r>
              <a:rPr lang="en-GB" sz="1700" dirty="0">
                <a:solidFill>
                  <a:srgbClr val="FF66FF"/>
                </a:solidFill>
                <a:latin typeface="+mn-lt"/>
              </a:rPr>
              <a:t>radial extensional fractures </a:t>
            </a:r>
            <a:r>
              <a:rPr lang="en-GB" sz="1700" dirty="0">
                <a:latin typeface="+mn-lt"/>
              </a:rPr>
              <a:t>around  the vast volcanic edifice that is </a:t>
            </a:r>
            <a:r>
              <a:rPr lang="en-GB" sz="1700" dirty="0" err="1">
                <a:latin typeface="+mn-lt"/>
              </a:rPr>
              <a:t>Tharsis</a:t>
            </a:r>
            <a:r>
              <a:rPr lang="en-GB" sz="1700" dirty="0">
                <a:latin typeface="+mn-lt"/>
              </a:rPr>
              <a:t> on Mars do not reflect fractures formed in domed and stretched crust but rather are a consequence of stresses induced by the weight of the volcanic pile</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3C2D896-8D33-4B97-B26E-2732DB62206F}"/>
              </a:ext>
            </a:extLst>
          </p:cNvPr>
          <p:cNvSpPr>
            <a:spLocks noGrp="1" noChangeArrowheads="1"/>
          </p:cNvSpPr>
          <p:nvPr>
            <p:ph type="title"/>
          </p:nvPr>
        </p:nvSpPr>
        <p:spPr>
          <a:noFill/>
        </p:spPr>
        <p:txBody>
          <a:bodyPr/>
          <a:lstStyle/>
          <a:p>
            <a:r>
              <a:rPr lang="en-GB" altLang="en-US">
                <a:effectLst/>
              </a:rPr>
              <a:t>Local extension around loaded lithosphere  2</a:t>
            </a:r>
          </a:p>
        </p:txBody>
      </p:sp>
      <p:sp>
        <p:nvSpPr>
          <p:cNvPr id="15363" name="Rectangle 3">
            <a:extLst>
              <a:ext uri="{FF2B5EF4-FFF2-40B4-BE49-F238E27FC236}">
                <a16:creationId xmlns:a16="http://schemas.microsoft.com/office/drawing/2014/main" id="{B4510A56-8732-4FF6-A901-2303FAE3AE3B}"/>
              </a:ext>
            </a:extLst>
          </p:cNvPr>
          <p:cNvSpPr>
            <a:spLocks noGrp="1" noChangeArrowheads="1"/>
          </p:cNvSpPr>
          <p:nvPr>
            <p:ph type="body" sz="half" idx="1"/>
          </p:nvPr>
        </p:nvSpPr>
        <p:spPr>
          <a:xfrm>
            <a:off x="100013" y="776288"/>
            <a:ext cx="4462462" cy="1663700"/>
          </a:xfrm>
        </p:spPr>
        <p:txBody>
          <a:bodyPr/>
          <a:lstStyle/>
          <a:p>
            <a:pPr marL="179388" indent="-179388">
              <a:spcBef>
                <a:spcPct val="50000"/>
              </a:spcBef>
            </a:pPr>
            <a:r>
              <a:rPr lang="en-GB" altLang="en-US" sz="1700" dirty="0"/>
              <a:t>If the </a:t>
            </a:r>
            <a:r>
              <a:rPr lang="en-GB" altLang="en-US" sz="1700" dirty="0">
                <a:solidFill>
                  <a:srgbClr val="FF66FF"/>
                </a:solidFill>
              </a:rPr>
              <a:t>load is wide</a:t>
            </a:r>
            <a:r>
              <a:rPr lang="en-GB" altLang="en-US" sz="1700" dirty="0"/>
              <a:t> compared with the planetary radius, then flexural subsidence is counteracted by the resistance to large scale changes in</a:t>
            </a:r>
          </a:p>
        </p:txBody>
      </p:sp>
      <p:pic>
        <p:nvPicPr>
          <p:cNvPr id="15365" name="Picture 2" descr="C:\STEPHEN\Work\Teaching\EART20292new\Lectures\Class9\Figs\1b2-Serenitatis.jpg">
            <a:extLst>
              <a:ext uri="{FF2B5EF4-FFF2-40B4-BE49-F238E27FC236}">
                <a16:creationId xmlns:a16="http://schemas.microsoft.com/office/drawing/2014/main" id="{1D307EC3-C646-459B-BB8C-11519A111A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88" y="3303588"/>
            <a:ext cx="3348037" cy="33909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5367" name="Picture 7">
            <a:extLst>
              <a:ext uri="{FF2B5EF4-FFF2-40B4-BE49-F238E27FC236}">
                <a16:creationId xmlns:a16="http://schemas.microsoft.com/office/drawing/2014/main" id="{AC031C32-6CA0-427C-A94F-B8EA4DB637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175" y="5022850"/>
            <a:ext cx="4249738" cy="1695450"/>
          </a:xfrm>
          <a:prstGeom prst="rect">
            <a:avLst/>
          </a:prstGeom>
          <a:solidFill>
            <a:schemeClr val="bg2"/>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8" name="Picture 8">
            <a:extLst>
              <a:ext uri="{FF2B5EF4-FFF2-40B4-BE49-F238E27FC236}">
                <a16:creationId xmlns:a16="http://schemas.microsoft.com/office/drawing/2014/main" id="{9AB630E1-8AB7-4653-9CD5-57AD132E27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0775" y="890588"/>
            <a:ext cx="4035425" cy="2127250"/>
          </a:xfrm>
          <a:prstGeom prst="rect">
            <a:avLst/>
          </a:prstGeom>
          <a:solidFill>
            <a:schemeClr val="bg2"/>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9" name="Picture 9">
            <a:extLst>
              <a:ext uri="{FF2B5EF4-FFF2-40B4-BE49-F238E27FC236}">
                <a16:creationId xmlns:a16="http://schemas.microsoft.com/office/drawing/2014/main" id="{ECF14F42-0F73-4324-B054-CAB4CA359F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52713" y="1973263"/>
            <a:ext cx="2065337" cy="1054100"/>
          </a:xfrm>
          <a:prstGeom prst="rect">
            <a:avLst/>
          </a:prstGeom>
          <a:solidFill>
            <a:schemeClr val="bg2"/>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5045" name="Text Box 21">
            <a:extLst>
              <a:ext uri="{FF2B5EF4-FFF2-40B4-BE49-F238E27FC236}">
                <a16:creationId xmlns:a16="http://schemas.microsoft.com/office/drawing/2014/main" id="{001942BC-7F92-46CD-9FBD-9F94EFC1CF53}"/>
              </a:ext>
            </a:extLst>
          </p:cNvPr>
          <p:cNvSpPr txBox="1">
            <a:spLocks noChangeArrowheads="1"/>
          </p:cNvSpPr>
          <p:nvPr/>
        </p:nvSpPr>
        <p:spPr bwMode="auto">
          <a:xfrm>
            <a:off x="306388" y="3254375"/>
            <a:ext cx="1493837"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Mare Serenitatis</a:t>
            </a:r>
          </a:p>
        </p:txBody>
      </p:sp>
      <p:sp>
        <p:nvSpPr>
          <p:cNvPr id="15370" name="Text Box 10">
            <a:extLst>
              <a:ext uri="{FF2B5EF4-FFF2-40B4-BE49-F238E27FC236}">
                <a16:creationId xmlns:a16="http://schemas.microsoft.com/office/drawing/2014/main" id="{AB74F49C-7754-454D-8D6A-5E3C559307BE}"/>
              </a:ext>
            </a:extLst>
          </p:cNvPr>
          <p:cNvSpPr txBox="1">
            <a:spLocks noChangeArrowheads="1"/>
          </p:cNvSpPr>
          <p:nvPr/>
        </p:nvSpPr>
        <p:spPr bwMode="auto">
          <a:xfrm>
            <a:off x="3776663" y="3148013"/>
            <a:ext cx="5218112" cy="177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This leads to tensile hoop stresses around the load and hence to a set of </a:t>
            </a:r>
            <a:r>
              <a:rPr lang="en-GB" altLang="en-US" sz="1700">
                <a:solidFill>
                  <a:srgbClr val="FF6600"/>
                </a:solidFill>
                <a:effectLst>
                  <a:outerShdw blurRad="38100" dist="38100" dir="2700000" algn="tl">
                    <a:srgbClr val="000000"/>
                  </a:outerShdw>
                </a:effectLst>
                <a:latin typeface="Arial" panose="020B0604020202020204" pitchFamily="34" charset="0"/>
              </a:rPr>
              <a:t>radial extension faults</a:t>
            </a:r>
            <a:r>
              <a:rPr lang="en-GB" altLang="en-US" sz="1700">
                <a:effectLst>
                  <a:outerShdw blurRad="38100" dist="38100" dir="2700000" algn="tl">
                    <a:srgbClr val="000000"/>
                  </a:outerShdw>
                </a:effectLst>
                <a:latin typeface="Arial" panose="020B0604020202020204" pitchFamily="34" charset="0"/>
              </a:rPr>
              <a:t> </a:t>
            </a:r>
          </a:p>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Contrast this with the </a:t>
            </a:r>
            <a:r>
              <a:rPr lang="en-GB" altLang="en-US" sz="1700">
                <a:solidFill>
                  <a:srgbClr val="FF6600"/>
                </a:solidFill>
                <a:effectLst>
                  <a:outerShdw blurRad="38100" dist="38100" dir="2700000" algn="tl">
                    <a:srgbClr val="000000"/>
                  </a:outerShdw>
                </a:effectLst>
                <a:latin typeface="Arial" panose="020B0604020202020204" pitchFamily="34" charset="0"/>
              </a:rPr>
              <a:t>circumferential extension faults </a:t>
            </a:r>
            <a:r>
              <a:rPr lang="en-GB" altLang="en-US" sz="1700">
                <a:effectLst>
                  <a:outerShdw blurRad="38100" dist="38100" dir="2700000" algn="tl">
                    <a:srgbClr val="000000"/>
                  </a:outerShdw>
                </a:effectLst>
                <a:latin typeface="Arial" panose="020B0604020202020204" pitchFamily="34" charset="0"/>
              </a:rPr>
              <a:t>that arise around </a:t>
            </a:r>
            <a:r>
              <a:rPr lang="en-GB" altLang="en-US" sz="1700">
                <a:solidFill>
                  <a:srgbClr val="FF66FF"/>
                </a:solidFill>
                <a:effectLst>
                  <a:outerShdw blurRad="38100" dist="38100" dir="2700000" algn="tl">
                    <a:srgbClr val="000000"/>
                  </a:outerShdw>
                </a:effectLst>
                <a:latin typeface="Arial" panose="020B0604020202020204" pitchFamily="34" charset="0"/>
              </a:rPr>
              <a:t>loads that are smaller in diameter</a:t>
            </a:r>
            <a:r>
              <a:rPr lang="en-GB" altLang="en-US" sz="1700">
                <a:effectLst>
                  <a:outerShdw blurRad="38100" dist="38100" dir="2700000" algn="tl">
                    <a:srgbClr val="000000"/>
                  </a:outerShdw>
                </a:effectLst>
                <a:latin typeface="Arial" panose="020B0604020202020204" pitchFamily="34" charset="0"/>
              </a:rPr>
              <a:t> where flexural subsidence is possible</a:t>
            </a:r>
          </a:p>
        </p:txBody>
      </p:sp>
      <p:sp>
        <p:nvSpPr>
          <p:cNvPr id="15371" name="Text Box 11">
            <a:extLst>
              <a:ext uri="{FF2B5EF4-FFF2-40B4-BE49-F238E27FC236}">
                <a16:creationId xmlns:a16="http://schemas.microsoft.com/office/drawing/2014/main" id="{7B2920AD-950D-4554-9909-6D4F5B98EBF7}"/>
              </a:ext>
            </a:extLst>
          </p:cNvPr>
          <p:cNvSpPr txBox="1">
            <a:spLocks noChangeArrowheads="1"/>
          </p:cNvSpPr>
          <p:nvPr/>
        </p:nvSpPr>
        <p:spPr bwMode="auto">
          <a:xfrm>
            <a:off x="287338" y="2036152"/>
            <a:ext cx="2484437"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700" dirty="0">
                <a:effectLst>
                  <a:outerShdw blurRad="38100" dist="38100" dir="2700000" algn="tl">
                    <a:srgbClr val="000000"/>
                  </a:outerShdw>
                </a:effectLst>
                <a:latin typeface="Arial" panose="020B0604020202020204" pitchFamily="34" charset="0"/>
              </a:rPr>
              <a:t>curvature of the lithospheric shell (</a:t>
            </a:r>
            <a:r>
              <a:rPr lang="en-GB" altLang="en-US" sz="1700" dirty="0">
                <a:solidFill>
                  <a:srgbClr val="FF66FF"/>
                </a:solidFill>
                <a:effectLst>
                  <a:outerShdw blurRad="38100" dist="38100" dir="2700000" algn="tl">
                    <a:srgbClr val="000000"/>
                  </a:outerShdw>
                </a:effectLst>
                <a:latin typeface="Arial" panose="020B0604020202020204" pitchFamily="34" charset="0"/>
              </a:rPr>
              <a:t>membrane stresses</a:t>
            </a:r>
            <a:r>
              <a:rPr lang="en-GB" altLang="en-US" sz="1700" dirty="0">
                <a:effectLst>
                  <a:outerShdw blurRad="38100" dist="38100" dir="2700000" algn="tl">
                    <a:srgbClr val="000000"/>
                  </a:outerShdw>
                </a:effectLst>
                <a:latin typeface="Arial" panose="020B0604020202020204" pitchFamily="34" charset="0"/>
              </a:rPr>
              <a:t>)</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49B8F37-03C0-4EBA-9684-7A34FB2819A7}"/>
              </a:ext>
            </a:extLst>
          </p:cNvPr>
          <p:cNvSpPr>
            <a:spLocks noGrp="1" noChangeArrowheads="1"/>
          </p:cNvSpPr>
          <p:nvPr>
            <p:ph type="title"/>
          </p:nvPr>
        </p:nvSpPr>
        <p:spPr>
          <a:noFill/>
        </p:spPr>
        <p:txBody>
          <a:bodyPr/>
          <a:lstStyle/>
          <a:p>
            <a:r>
              <a:rPr lang="en-GB" altLang="en-US">
                <a:effectLst/>
              </a:rPr>
              <a:t>Local extension around areas of subsidence</a:t>
            </a:r>
          </a:p>
        </p:txBody>
      </p:sp>
      <p:sp>
        <p:nvSpPr>
          <p:cNvPr id="16387" name="Rectangle 3">
            <a:extLst>
              <a:ext uri="{FF2B5EF4-FFF2-40B4-BE49-F238E27FC236}">
                <a16:creationId xmlns:a16="http://schemas.microsoft.com/office/drawing/2014/main" id="{C321EDE6-7B54-49F6-9A7F-B9ED21133956}"/>
              </a:ext>
            </a:extLst>
          </p:cNvPr>
          <p:cNvSpPr>
            <a:spLocks noGrp="1" noChangeArrowheads="1"/>
          </p:cNvSpPr>
          <p:nvPr>
            <p:ph type="body" sz="half" idx="1"/>
          </p:nvPr>
        </p:nvSpPr>
        <p:spPr>
          <a:xfrm>
            <a:off x="109538" y="828675"/>
            <a:ext cx="3525837" cy="2022475"/>
          </a:xfrm>
          <a:noFill/>
        </p:spPr>
        <p:txBody>
          <a:bodyPr/>
          <a:lstStyle/>
          <a:p>
            <a:pPr marL="179388" indent="-179388">
              <a:spcBef>
                <a:spcPct val="50000"/>
              </a:spcBef>
            </a:pPr>
            <a:r>
              <a:rPr lang="en-GB" altLang="en-US" sz="1700">
                <a:effectLst/>
              </a:rPr>
              <a:t>If a </a:t>
            </a:r>
            <a:r>
              <a:rPr lang="en-GB" altLang="en-US" sz="1700">
                <a:solidFill>
                  <a:srgbClr val="FF6600"/>
                </a:solidFill>
                <a:effectLst/>
              </a:rPr>
              <a:t>cavity forms at depth</a:t>
            </a:r>
            <a:r>
              <a:rPr lang="en-GB" altLang="en-US" sz="1700">
                <a:effectLst/>
              </a:rPr>
              <a:t> (</a:t>
            </a:r>
            <a:r>
              <a:rPr lang="en-GB" altLang="en-US" sz="1700" i="1">
                <a:effectLst/>
              </a:rPr>
              <a:t>e.g</a:t>
            </a:r>
            <a:r>
              <a:rPr lang="en-GB" altLang="en-US" sz="1700">
                <a:effectLst/>
              </a:rPr>
              <a:t>., by emptying a magma chamber during an explosive eruption), the surface units may collapse into it along a set of concentric normal faults (</a:t>
            </a:r>
            <a:r>
              <a:rPr lang="en-GB" altLang="en-US" sz="1700">
                <a:solidFill>
                  <a:srgbClr val="FF66FF"/>
                </a:solidFill>
                <a:effectLst/>
              </a:rPr>
              <a:t>ring faults</a:t>
            </a:r>
            <a:r>
              <a:rPr lang="en-GB" altLang="en-US" sz="1700">
                <a:effectLst/>
              </a:rPr>
              <a:t>)</a:t>
            </a:r>
          </a:p>
        </p:txBody>
      </p:sp>
      <p:grpSp>
        <p:nvGrpSpPr>
          <p:cNvPr id="16389" name="Group 17">
            <a:extLst>
              <a:ext uri="{FF2B5EF4-FFF2-40B4-BE49-F238E27FC236}">
                <a16:creationId xmlns:a16="http://schemas.microsoft.com/office/drawing/2014/main" id="{D4C2A27B-D4BF-4C2C-A756-428D892ECCB9}"/>
              </a:ext>
            </a:extLst>
          </p:cNvPr>
          <p:cNvGrpSpPr>
            <a:grpSpLocks/>
          </p:cNvGrpSpPr>
          <p:nvPr/>
        </p:nvGrpSpPr>
        <p:grpSpPr bwMode="auto">
          <a:xfrm>
            <a:off x="3875088" y="973138"/>
            <a:ext cx="5075237" cy="1957387"/>
            <a:chOff x="193" y="2992"/>
            <a:chExt cx="3197" cy="1233"/>
          </a:xfrm>
        </p:grpSpPr>
        <p:pic>
          <p:nvPicPr>
            <p:cNvPr id="16393" name="Picture 6">
              <a:extLst>
                <a:ext uri="{FF2B5EF4-FFF2-40B4-BE49-F238E27FC236}">
                  <a16:creationId xmlns:a16="http://schemas.microsoft.com/office/drawing/2014/main" id="{DC4014F0-D362-41B4-A223-F94A746248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 y="2992"/>
              <a:ext cx="3197" cy="1233"/>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94" name="Text Box 9">
              <a:extLst>
                <a:ext uri="{FF2B5EF4-FFF2-40B4-BE49-F238E27FC236}">
                  <a16:creationId xmlns:a16="http://schemas.microsoft.com/office/drawing/2014/main" id="{40BB0369-AB91-4873-AE0A-7E2D5752A61C}"/>
                </a:ext>
              </a:extLst>
            </p:cNvPr>
            <p:cNvSpPr txBox="1">
              <a:spLocks noChangeArrowheads="1"/>
            </p:cNvSpPr>
            <p:nvPr/>
          </p:nvSpPr>
          <p:spPr bwMode="auto">
            <a:xfrm>
              <a:off x="1469" y="3042"/>
              <a:ext cx="735"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1000">
                  <a:solidFill>
                    <a:srgbClr val="FF0000"/>
                  </a:solidFill>
                  <a:effectLst/>
                  <a:latin typeface="Arial" panose="020B0604020202020204" pitchFamily="34" charset="0"/>
                </a:rPr>
                <a:t>Caldera collapse</a:t>
              </a:r>
            </a:p>
          </p:txBody>
        </p:sp>
      </p:grpSp>
      <p:pic>
        <p:nvPicPr>
          <p:cNvPr id="16390" name="Picture 18" descr="Venus3">
            <a:extLst>
              <a:ext uri="{FF2B5EF4-FFF2-40B4-BE49-F238E27FC236}">
                <a16:creationId xmlns:a16="http://schemas.microsoft.com/office/drawing/2014/main" id="{01988F00-3601-43D4-883A-5CD6224E25AB}"/>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618038" y="3240088"/>
            <a:ext cx="4313237" cy="33813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5044" name="Text Box 20">
            <a:extLst>
              <a:ext uri="{FF2B5EF4-FFF2-40B4-BE49-F238E27FC236}">
                <a16:creationId xmlns:a16="http://schemas.microsoft.com/office/drawing/2014/main" id="{F8F3A23E-EFA5-488B-984B-86FA5099AE33}"/>
              </a:ext>
            </a:extLst>
          </p:cNvPr>
          <p:cNvSpPr txBox="1">
            <a:spLocks noChangeArrowheads="1"/>
          </p:cNvSpPr>
          <p:nvPr/>
        </p:nvSpPr>
        <p:spPr bwMode="auto">
          <a:xfrm>
            <a:off x="2733675" y="6416675"/>
            <a:ext cx="18081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sz="1400">
                <a:solidFill>
                  <a:srgbClr val="FFFF00"/>
                </a:solidFill>
                <a:effectLst>
                  <a:outerShdw blurRad="38100" dist="38100" dir="2700000" algn="tl">
                    <a:srgbClr val="000000"/>
                  </a:outerShdw>
                </a:effectLst>
                <a:latin typeface="Arial" charset="0"/>
              </a:rPr>
              <a:t>Aine Corona, Venus</a:t>
            </a:r>
          </a:p>
        </p:txBody>
      </p:sp>
      <p:sp>
        <p:nvSpPr>
          <p:cNvPr id="385045" name="Text Box 21">
            <a:extLst>
              <a:ext uri="{FF2B5EF4-FFF2-40B4-BE49-F238E27FC236}">
                <a16:creationId xmlns:a16="http://schemas.microsoft.com/office/drawing/2014/main" id="{E80EA783-22F3-42AB-81CC-392E2AD45756}"/>
              </a:ext>
            </a:extLst>
          </p:cNvPr>
          <p:cNvSpPr txBox="1">
            <a:spLocks noChangeArrowheads="1"/>
          </p:cNvSpPr>
          <p:nvPr/>
        </p:nvSpPr>
        <p:spPr bwMode="auto">
          <a:xfrm>
            <a:off x="190500" y="6181725"/>
            <a:ext cx="21494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Concentric fractures within tarmac</a:t>
            </a:r>
          </a:p>
        </p:txBody>
      </p:sp>
      <p:pic>
        <p:nvPicPr>
          <p:cNvPr id="16398" name="Picture 14" descr="DSC_0026">
            <a:extLst>
              <a:ext uri="{FF2B5EF4-FFF2-40B4-BE49-F238E27FC236}">
                <a16:creationId xmlns:a16="http://schemas.microsoft.com/office/drawing/2014/main" id="{4888E32A-C97E-42FF-8BA3-4E8AC13D915B}"/>
              </a:ext>
            </a:extLst>
          </p:cNvPr>
          <p:cNvPicPr>
            <a:picLocks noChangeAspect="1" noChangeArrowheads="1"/>
          </p:cNvPicPr>
          <p:nvPr/>
        </p:nvPicPr>
        <p:blipFill>
          <a:blip r:embed="rId5">
            <a:lum bright="4000" contrast="10000"/>
            <a:extLst>
              <a:ext uri="{28A0092B-C50C-407E-A947-70E740481C1C}">
                <a14:useLocalDpi xmlns:a14="http://schemas.microsoft.com/office/drawing/2010/main" val="0"/>
              </a:ext>
            </a:extLst>
          </a:blip>
          <a:srcRect/>
          <a:stretch>
            <a:fillRect/>
          </a:stretch>
        </p:blipFill>
        <p:spPr bwMode="auto">
          <a:xfrm>
            <a:off x="192088" y="3089275"/>
            <a:ext cx="4148137" cy="306546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EFCE66FE-E930-4620-9B65-1F3EF56F8872}"/>
              </a:ext>
            </a:extLst>
          </p:cNvPr>
          <p:cNvSpPr>
            <a:spLocks noGrp="1" noChangeArrowheads="1"/>
          </p:cNvSpPr>
          <p:nvPr>
            <p:ph type="title" idx="4294967295"/>
          </p:nvPr>
        </p:nvSpPr>
        <p:spPr>
          <a:noFill/>
        </p:spPr>
        <p:txBody>
          <a:bodyPr/>
          <a:lstStyle/>
          <a:p>
            <a:r>
              <a:rPr lang="en-GB" altLang="en-US">
                <a:effectLst/>
              </a:rPr>
              <a:t>Local extension around areas of subsidence  2</a:t>
            </a:r>
          </a:p>
        </p:txBody>
      </p:sp>
      <p:sp>
        <p:nvSpPr>
          <p:cNvPr id="385045" name="Text Box 21">
            <a:extLst>
              <a:ext uri="{FF2B5EF4-FFF2-40B4-BE49-F238E27FC236}">
                <a16:creationId xmlns:a16="http://schemas.microsoft.com/office/drawing/2014/main" id="{E80B459F-617F-4F99-904E-EFB14781C156}"/>
              </a:ext>
            </a:extLst>
          </p:cNvPr>
          <p:cNvSpPr txBox="1">
            <a:spLocks noChangeArrowheads="1"/>
          </p:cNvSpPr>
          <p:nvPr/>
        </p:nvSpPr>
        <p:spPr bwMode="auto">
          <a:xfrm>
            <a:off x="234950" y="6103938"/>
            <a:ext cx="21494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Nested caldera complex, Olympus Mons, Mars</a:t>
            </a:r>
          </a:p>
        </p:txBody>
      </p:sp>
      <p:pic>
        <p:nvPicPr>
          <p:cNvPr id="112651" name="Picture 11" descr="Olympus_Mons3a">
            <a:extLst>
              <a:ext uri="{FF2B5EF4-FFF2-40B4-BE49-F238E27FC236}">
                <a16:creationId xmlns:a16="http://schemas.microsoft.com/office/drawing/2014/main" id="{4FC207C5-EC3F-4C9D-BCDF-A1ABA3C9F1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2725" y="4830763"/>
            <a:ext cx="1406525" cy="1806575"/>
          </a:xfrm>
          <a:prstGeom prst="rect">
            <a:avLst/>
          </a:prstGeom>
          <a:noFill/>
          <a:extLst>
            <a:ext uri="{909E8E84-426E-40DD-AFC4-6F175D3DCCD1}">
              <a14:hiddenFill xmlns:a14="http://schemas.microsoft.com/office/drawing/2010/main">
                <a:solidFill>
                  <a:srgbClr val="FFFFFF"/>
                </a:solidFill>
              </a14:hiddenFill>
            </a:ext>
          </a:extLst>
        </p:spPr>
      </p:pic>
      <p:pic>
        <p:nvPicPr>
          <p:cNvPr id="112652" name="Picture 12" descr="Olympus_Mons4">
            <a:extLst>
              <a:ext uri="{FF2B5EF4-FFF2-40B4-BE49-F238E27FC236}">
                <a16:creationId xmlns:a16="http://schemas.microsoft.com/office/drawing/2014/main" id="{87E0D719-6258-4132-959C-B36F278FF2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988" y="881063"/>
            <a:ext cx="3878262" cy="382428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12653" name="Picture 13" descr="Olympus_Mons">
            <a:extLst>
              <a:ext uri="{FF2B5EF4-FFF2-40B4-BE49-F238E27FC236}">
                <a16:creationId xmlns:a16="http://schemas.microsoft.com/office/drawing/2014/main" id="{147A1EF6-3591-40FB-85DB-8F58146DA9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8013" y="881063"/>
            <a:ext cx="4473575" cy="576421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53D1EB24-2862-40C2-A660-7F06BC3379CA}"/>
              </a:ext>
            </a:extLst>
          </p:cNvPr>
          <p:cNvSpPr>
            <a:spLocks noGrp="1" noChangeArrowheads="1"/>
          </p:cNvSpPr>
          <p:nvPr>
            <p:ph type="title" sz="quarter"/>
          </p:nvPr>
        </p:nvSpPr>
        <p:spPr>
          <a:noFill/>
        </p:spPr>
        <p:txBody>
          <a:bodyPr/>
          <a:lstStyle/>
          <a:p>
            <a:r>
              <a:rPr lang="en-GB" altLang="en-US">
                <a:effectLst/>
              </a:rPr>
              <a:t>Extension from global expansion</a:t>
            </a:r>
          </a:p>
        </p:txBody>
      </p:sp>
      <p:pic>
        <p:nvPicPr>
          <p:cNvPr id="17411" name="Picture 3" descr="01c-ariel">
            <a:extLst>
              <a:ext uri="{FF2B5EF4-FFF2-40B4-BE49-F238E27FC236}">
                <a16:creationId xmlns:a16="http://schemas.microsoft.com/office/drawing/2014/main" id="{8BAA8FF0-9FE4-4C9A-8FF9-AF56EA82F871}"/>
              </a:ext>
            </a:extLst>
          </p:cNvPr>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196850" y="871538"/>
            <a:ext cx="2889250" cy="27876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7412" name="Picture 11" descr="Miranda3a2">
            <a:extLst>
              <a:ext uri="{FF2B5EF4-FFF2-40B4-BE49-F238E27FC236}">
                <a16:creationId xmlns:a16="http://schemas.microsoft.com/office/drawing/2014/main" id="{CD2EF674-6CF9-42AC-9C9D-03B1EC2B3500}"/>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3227388" y="3867150"/>
            <a:ext cx="2794000" cy="277653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7413" name="Picture 13" descr="Miranda3b2">
            <a:extLst>
              <a:ext uri="{FF2B5EF4-FFF2-40B4-BE49-F238E27FC236}">
                <a16:creationId xmlns:a16="http://schemas.microsoft.com/office/drawing/2014/main" id="{9BDDA6D1-7AC0-45E8-91DD-F21898D649D4}"/>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6196013" y="3881438"/>
            <a:ext cx="2708275" cy="274796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99365" name="Text Box 5">
            <a:extLst>
              <a:ext uri="{FF2B5EF4-FFF2-40B4-BE49-F238E27FC236}">
                <a16:creationId xmlns:a16="http://schemas.microsoft.com/office/drawing/2014/main" id="{DBE0BF66-04F1-4C06-AB6F-7E2885260101}"/>
              </a:ext>
            </a:extLst>
          </p:cNvPr>
          <p:cNvSpPr txBox="1">
            <a:spLocks noChangeArrowheads="1"/>
          </p:cNvSpPr>
          <p:nvPr/>
        </p:nvSpPr>
        <p:spPr bwMode="auto">
          <a:xfrm>
            <a:off x="3311525" y="2857500"/>
            <a:ext cx="5251450" cy="858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defRPr/>
            </a:pPr>
            <a:r>
              <a:rPr lang="en-GB" sz="1400" dirty="0">
                <a:solidFill>
                  <a:srgbClr val="FFFF00"/>
                </a:solidFill>
                <a:effectLst>
                  <a:outerShdw blurRad="38100" dist="38100" dir="2700000" algn="tl">
                    <a:srgbClr val="000000"/>
                  </a:outerShdw>
                </a:effectLst>
                <a:latin typeface="Arial" charset="0"/>
              </a:rPr>
              <a:t>Moons of Uranus: Ariel (top left), </a:t>
            </a:r>
            <a:r>
              <a:rPr lang="en-GB" sz="1400" dirty="0" err="1">
                <a:solidFill>
                  <a:srgbClr val="FFFF00"/>
                </a:solidFill>
                <a:effectLst>
                  <a:outerShdw blurRad="38100" dist="38100" dir="2700000" algn="tl">
                    <a:srgbClr val="000000"/>
                  </a:outerShdw>
                </a:effectLst>
                <a:latin typeface="Arial" charset="0"/>
              </a:rPr>
              <a:t>Titania</a:t>
            </a:r>
            <a:r>
              <a:rPr lang="en-GB" sz="1400" dirty="0">
                <a:solidFill>
                  <a:srgbClr val="FFFF00"/>
                </a:solidFill>
                <a:effectLst>
                  <a:outerShdw blurRad="38100" dist="38100" dir="2700000" algn="tl">
                    <a:srgbClr val="000000"/>
                  </a:outerShdw>
                </a:effectLst>
                <a:latin typeface="Arial" charset="0"/>
              </a:rPr>
              <a:t> (bottom left), and Miranda (below). The detail is of Verona </a:t>
            </a:r>
            <a:r>
              <a:rPr lang="en-GB" sz="1400" dirty="0" err="1">
                <a:solidFill>
                  <a:srgbClr val="FFFF00"/>
                </a:solidFill>
                <a:effectLst>
                  <a:outerShdw blurRad="38100" dist="38100" dir="2700000" algn="tl">
                    <a:srgbClr val="000000"/>
                  </a:outerShdw>
                </a:effectLst>
                <a:latin typeface="Arial" charset="0"/>
              </a:rPr>
              <a:t>Rupes</a:t>
            </a:r>
            <a:r>
              <a:rPr lang="en-GB" sz="1400" dirty="0">
                <a:solidFill>
                  <a:srgbClr val="FFFF00"/>
                </a:solidFill>
                <a:effectLst>
                  <a:outerShdw blurRad="38100" dist="38100" dir="2700000" algn="tl">
                    <a:srgbClr val="000000"/>
                  </a:outerShdw>
                </a:effectLst>
                <a:latin typeface="Arial" charset="0"/>
              </a:rPr>
              <a:t>, a ?</a:t>
            </a:r>
            <a:r>
              <a:rPr lang="en-GB" sz="1400" dirty="0" err="1">
                <a:solidFill>
                  <a:srgbClr val="FFFF00"/>
                </a:solidFill>
                <a:effectLst>
                  <a:outerShdw blurRad="38100" dist="38100" dir="2700000" algn="tl">
                    <a:srgbClr val="000000"/>
                  </a:outerShdw>
                </a:effectLst>
                <a:latin typeface="Arial" charset="0"/>
              </a:rPr>
              <a:t>slickensided</a:t>
            </a:r>
            <a:r>
              <a:rPr lang="en-GB" sz="1400" dirty="0">
                <a:solidFill>
                  <a:srgbClr val="FFFF00"/>
                </a:solidFill>
                <a:effectLst>
                  <a:outerShdw blurRad="38100" dist="38100" dir="2700000" algn="tl">
                    <a:srgbClr val="000000"/>
                  </a:outerShdw>
                </a:effectLst>
                <a:latin typeface="Arial" charset="0"/>
              </a:rPr>
              <a:t> cliff face, 1</a:t>
            </a:r>
            <a:r>
              <a:rPr lang="en-GB" sz="1400" spc="250" dirty="0">
                <a:solidFill>
                  <a:srgbClr val="FFFF00"/>
                </a:solidFill>
                <a:effectLst>
                  <a:outerShdw blurRad="38100" dist="38100" dir="2700000" algn="tl">
                    <a:srgbClr val="000000"/>
                  </a:outerShdw>
                </a:effectLst>
                <a:latin typeface="Arial" charset="0"/>
              </a:rPr>
              <a:t>0-</a:t>
            </a:r>
            <a:r>
              <a:rPr lang="en-GB" sz="1400" dirty="0">
                <a:solidFill>
                  <a:srgbClr val="FFFF00"/>
                </a:solidFill>
                <a:effectLst>
                  <a:outerShdw blurRad="38100" dist="38100" dir="2700000" algn="tl">
                    <a:srgbClr val="000000"/>
                  </a:outerShdw>
                </a:effectLst>
                <a:latin typeface="Arial" charset="0"/>
              </a:rPr>
              <a:t>20 km high, visible on the rim of Miranda (at top) </a:t>
            </a:r>
          </a:p>
        </p:txBody>
      </p:sp>
      <p:pic>
        <p:nvPicPr>
          <p:cNvPr id="17415" name="Picture 15" descr="PIA00039_Titania">
            <a:extLst>
              <a:ext uri="{FF2B5EF4-FFF2-40B4-BE49-F238E27FC236}">
                <a16:creationId xmlns:a16="http://schemas.microsoft.com/office/drawing/2014/main" id="{34111C40-F9BC-4DAE-AA0B-37800C7A2222}"/>
              </a:ext>
            </a:extLst>
          </p:cNvPr>
          <p:cNvPicPr>
            <a:picLocks noGrp="1" noChangeAspect="1" noChangeArrowheads="1"/>
          </p:cNvPicPr>
          <p:nvPr>
            <p:ph sz="quarter" idx="4"/>
          </p:nvPr>
        </p:nvPicPr>
        <p:blipFill>
          <a:blip r:embed="rId6">
            <a:extLst>
              <a:ext uri="{28A0092B-C50C-407E-A947-70E740481C1C}">
                <a14:useLocalDpi xmlns:a14="http://schemas.microsoft.com/office/drawing/2010/main" val="0"/>
              </a:ext>
            </a:extLst>
          </a:blip>
          <a:srcRect/>
          <a:stretch>
            <a:fillRect/>
          </a:stretch>
        </p:blipFill>
        <p:spPr>
          <a:xfrm>
            <a:off x="219075" y="3849688"/>
            <a:ext cx="2798763" cy="279876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7416" name="Rectangle 17">
            <a:extLst>
              <a:ext uri="{FF2B5EF4-FFF2-40B4-BE49-F238E27FC236}">
                <a16:creationId xmlns:a16="http://schemas.microsoft.com/office/drawing/2014/main" id="{CE07C22E-B1CC-43AF-B1D4-2557378AFD7C}"/>
              </a:ext>
            </a:extLst>
          </p:cNvPr>
          <p:cNvSpPr>
            <a:spLocks noChangeArrowheads="1"/>
          </p:cNvSpPr>
          <p:nvPr/>
        </p:nvSpPr>
        <p:spPr bwMode="auto">
          <a:xfrm>
            <a:off x="3260725" y="768350"/>
            <a:ext cx="5753100" cy="183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9388" indent="-179388">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Several of the mid-sized moons of Uranus and Saturn show </a:t>
            </a:r>
            <a:r>
              <a:rPr lang="en-GB" altLang="en-US" sz="1700" dirty="0">
                <a:solidFill>
                  <a:srgbClr val="FF66FF"/>
                </a:solidFill>
                <a:effectLst/>
                <a:latin typeface="Arial" panose="020B0604020202020204" pitchFamily="34" charset="0"/>
              </a:rPr>
              <a:t>global distributions of extensional faults</a:t>
            </a:r>
          </a:p>
          <a:p>
            <a:pPr>
              <a:lnSpc>
                <a:spcPct val="120000"/>
              </a:lnSpc>
              <a:spcBef>
                <a:spcPct val="50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These are attributed to </a:t>
            </a:r>
            <a:r>
              <a:rPr lang="en-GB" altLang="en-US" sz="1700" dirty="0">
                <a:solidFill>
                  <a:srgbClr val="FF6600"/>
                </a:solidFill>
                <a:effectLst/>
                <a:latin typeface="Arial" panose="020B0604020202020204" pitchFamily="34" charset="0"/>
              </a:rPr>
              <a:t>global expansion</a:t>
            </a:r>
            <a:r>
              <a:rPr lang="en-GB" altLang="en-US" sz="1700" dirty="0">
                <a:effectLst/>
                <a:latin typeface="Arial" panose="020B0604020202020204" pitchFamily="34" charset="0"/>
              </a:rPr>
              <a:t> induced by the freezing of a liquid water</a:t>
            </a:r>
            <a:r>
              <a:rPr lang="en-GB" altLang="en-US" sz="800" dirty="0">
                <a:effectLst/>
                <a:latin typeface="Arial" panose="020B0604020202020204" pitchFamily="34" charset="0"/>
              </a:rPr>
              <a:t> </a:t>
            </a:r>
            <a:r>
              <a:rPr lang="en-GB" altLang="en-US" sz="1700" dirty="0">
                <a:effectLst/>
                <a:latin typeface="Arial" panose="020B0604020202020204" pitchFamily="34" charset="0"/>
              </a:rPr>
              <a:t>/</a:t>
            </a:r>
            <a:r>
              <a:rPr lang="en-GB" altLang="en-US" sz="800" dirty="0">
                <a:effectLst/>
                <a:latin typeface="Arial" panose="020B0604020202020204" pitchFamily="34" charset="0"/>
              </a:rPr>
              <a:t> </a:t>
            </a:r>
            <a:r>
              <a:rPr lang="en-GB" altLang="en-US" sz="1700" dirty="0">
                <a:effectLst/>
                <a:latin typeface="Arial" panose="020B0604020202020204" pitchFamily="34" charset="0"/>
              </a:rPr>
              <a:t>ammonium hydrate interior during planetary cooling</a:t>
            </a:r>
          </a:p>
        </p:txBody>
      </p:sp>
      <p:sp>
        <p:nvSpPr>
          <p:cNvPr id="399378" name="Line 18">
            <a:extLst>
              <a:ext uri="{FF2B5EF4-FFF2-40B4-BE49-F238E27FC236}">
                <a16:creationId xmlns:a16="http://schemas.microsoft.com/office/drawing/2014/main" id="{413508A2-16FC-449C-AD61-B451C6049036}"/>
              </a:ext>
            </a:extLst>
          </p:cNvPr>
          <p:cNvSpPr>
            <a:spLocks noChangeShapeType="1"/>
          </p:cNvSpPr>
          <p:nvPr/>
        </p:nvSpPr>
        <p:spPr bwMode="auto">
          <a:xfrm>
            <a:off x="3846513" y="3948113"/>
            <a:ext cx="207962" cy="150812"/>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22" name="Picture 10" descr="Charon">
            <a:extLst>
              <a:ext uri="{FF2B5EF4-FFF2-40B4-BE49-F238E27FC236}">
                <a16:creationId xmlns:a16="http://schemas.microsoft.com/office/drawing/2014/main" id="{1701F598-281A-4635-88D1-CB022D5EB6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8" y="892175"/>
            <a:ext cx="8858250" cy="4900613"/>
          </a:xfrm>
          <a:prstGeom prst="rect">
            <a:avLst/>
          </a:prstGeom>
          <a:noFill/>
          <a:extLst>
            <a:ext uri="{909E8E84-426E-40DD-AFC4-6F175D3DCCD1}">
              <a14:hiddenFill xmlns:a14="http://schemas.microsoft.com/office/drawing/2010/main">
                <a:solidFill>
                  <a:srgbClr val="FFFFFF"/>
                </a:solidFill>
              </a14:hiddenFill>
            </a:ext>
          </a:extLst>
        </p:spPr>
      </p:pic>
      <p:sp>
        <p:nvSpPr>
          <p:cNvPr id="115714" name="Rectangle 2">
            <a:extLst>
              <a:ext uri="{FF2B5EF4-FFF2-40B4-BE49-F238E27FC236}">
                <a16:creationId xmlns:a16="http://schemas.microsoft.com/office/drawing/2014/main" id="{E75988E7-C06B-4B0D-9841-CDE70DA18D4C}"/>
              </a:ext>
            </a:extLst>
          </p:cNvPr>
          <p:cNvSpPr>
            <a:spLocks noGrp="1" noChangeArrowheads="1"/>
          </p:cNvSpPr>
          <p:nvPr>
            <p:ph type="title" sz="quarter" idx="4294967295"/>
          </p:nvPr>
        </p:nvSpPr>
        <p:spPr>
          <a:noFill/>
        </p:spPr>
        <p:txBody>
          <a:bodyPr/>
          <a:lstStyle/>
          <a:p>
            <a:r>
              <a:rPr lang="en-GB" altLang="en-US">
                <a:effectLst/>
              </a:rPr>
              <a:t>Extension from global expansion  2</a:t>
            </a:r>
          </a:p>
        </p:txBody>
      </p:sp>
      <p:sp>
        <p:nvSpPr>
          <p:cNvPr id="399365" name="Text Box 5">
            <a:extLst>
              <a:ext uri="{FF2B5EF4-FFF2-40B4-BE49-F238E27FC236}">
                <a16:creationId xmlns:a16="http://schemas.microsoft.com/office/drawing/2014/main" id="{F84A3AB7-8A54-4501-B292-3E759E1E59CE}"/>
              </a:ext>
            </a:extLst>
          </p:cNvPr>
          <p:cNvSpPr txBox="1">
            <a:spLocks noChangeArrowheads="1"/>
          </p:cNvSpPr>
          <p:nvPr/>
        </p:nvSpPr>
        <p:spPr bwMode="auto">
          <a:xfrm>
            <a:off x="893763" y="5889625"/>
            <a:ext cx="7356475"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0"/>
              </a:spcBef>
            </a:pPr>
            <a:r>
              <a:rPr lang="en-GB" altLang="en-US" sz="1400">
                <a:solidFill>
                  <a:srgbClr val="FFFF00"/>
                </a:solidFill>
                <a:effectLst>
                  <a:outerShdw blurRad="38100" dist="38100" dir="2700000" algn="tl">
                    <a:srgbClr val="000000"/>
                  </a:outerShdw>
                </a:effectLst>
                <a:latin typeface="Arial" panose="020B0604020202020204" pitchFamily="34" charset="0"/>
              </a:rPr>
              <a:t>Charon: 1800 km long equatorial system of faults and fractures that are up to 7.5 km deep</a:t>
            </a:r>
          </a:p>
          <a:p>
            <a:pPr>
              <a:lnSpc>
                <a:spcPct val="120000"/>
              </a:lnSpc>
              <a:spcBef>
                <a:spcPct val="0"/>
              </a:spcBef>
            </a:pPr>
            <a:r>
              <a:rPr lang="en-GB" altLang="en-US" sz="1400">
                <a:solidFill>
                  <a:srgbClr val="FFFF00"/>
                </a:solidFill>
                <a:effectLst>
                  <a:outerShdw blurRad="38100" dist="38100" dir="2700000" algn="tl">
                    <a:srgbClr val="000000"/>
                  </a:outerShdw>
                </a:effectLst>
                <a:latin typeface="Arial" panose="020B0604020202020204" pitchFamily="34" charset="0"/>
                <a:cs typeface="Arial" panose="020B0604020202020204" pitchFamily="34" charset="0"/>
              </a:rPr>
              <a:t>→</a:t>
            </a:r>
            <a:r>
              <a:rPr lang="en-GB" altLang="en-US" sz="1400">
                <a:solidFill>
                  <a:srgbClr val="FFFF00"/>
                </a:solidFill>
                <a:effectLst>
                  <a:outerShdw blurRad="38100" dist="38100" dir="2700000" algn="tl">
                    <a:srgbClr val="000000"/>
                  </a:outerShdw>
                </a:effectLst>
                <a:latin typeface="Arial" panose="020B0604020202020204" pitchFamily="34" charset="0"/>
              </a:rPr>
              <a:t> extension of a water ice crust during freezing of a subsurface ocean as the moon cooled</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76" name="Picture 16" descr="Amroth2">
            <a:extLst>
              <a:ext uri="{FF2B5EF4-FFF2-40B4-BE49-F238E27FC236}">
                <a16:creationId xmlns:a16="http://schemas.microsoft.com/office/drawing/2014/main" id="{FAAF3DED-34AF-47EC-A0BA-9BF6B670E165}"/>
              </a:ext>
            </a:extLst>
          </p:cNvPr>
          <p:cNvPicPr>
            <a:picLocks noChangeAspect="1" noChangeArrowheads="1"/>
          </p:cNvPicPr>
          <p:nvPr/>
        </p:nvPicPr>
        <p:blipFill>
          <a:blip r:embed="rId3">
            <a:lum contrast="6000"/>
            <a:extLst>
              <a:ext uri="{28A0092B-C50C-407E-A947-70E740481C1C}">
                <a14:useLocalDpi xmlns:a14="http://schemas.microsoft.com/office/drawing/2010/main" val="0"/>
              </a:ext>
            </a:extLst>
          </a:blip>
          <a:srcRect/>
          <a:stretch>
            <a:fillRect/>
          </a:stretch>
        </p:blipFill>
        <p:spPr bwMode="auto">
          <a:xfrm>
            <a:off x="4591050" y="2601913"/>
            <a:ext cx="4378325" cy="351631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17763" name="Rectangle 2">
            <a:extLst>
              <a:ext uri="{FF2B5EF4-FFF2-40B4-BE49-F238E27FC236}">
                <a16:creationId xmlns:a16="http://schemas.microsoft.com/office/drawing/2014/main" id="{1A574B63-9F94-4838-99DF-B0E3ED68C9DE}"/>
              </a:ext>
            </a:extLst>
          </p:cNvPr>
          <p:cNvSpPr>
            <a:spLocks noGrp="1" noChangeArrowheads="1"/>
          </p:cNvSpPr>
          <p:nvPr>
            <p:ph type="title" sz="quarter" idx="4294967295"/>
          </p:nvPr>
        </p:nvSpPr>
        <p:spPr>
          <a:noFill/>
        </p:spPr>
        <p:txBody>
          <a:bodyPr/>
          <a:lstStyle/>
          <a:p>
            <a:r>
              <a:rPr lang="en-GB" altLang="en-US">
                <a:effectLst/>
              </a:rPr>
              <a:t>Polygonal normal faults</a:t>
            </a:r>
          </a:p>
        </p:txBody>
      </p:sp>
      <p:pic>
        <p:nvPicPr>
          <p:cNvPr id="117765" name="Picture 5" descr="07c1">
            <a:extLst>
              <a:ext uri="{FF2B5EF4-FFF2-40B4-BE49-F238E27FC236}">
                <a16:creationId xmlns:a16="http://schemas.microsoft.com/office/drawing/2014/main" id="{8BA01002-17CC-4F21-8A8F-0354475BC0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263" y="908050"/>
            <a:ext cx="4168775" cy="36972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17766" name="Rectangle 17">
            <a:extLst>
              <a:ext uri="{FF2B5EF4-FFF2-40B4-BE49-F238E27FC236}">
                <a16:creationId xmlns:a16="http://schemas.microsoft.com/office/drawing/2014/main" id="{3EBE1E6B-A31F-4E27-BEAD-00D561A3B324}"/>
              </a:ext>
            </a:extLst>
          </p:cNvPr>
          <p:cNvSpPr>
            <a:spLocks noChangeArrowheads="1"/>
          </p:cNvSpPr>
          <p:nvPr/>
        </p:nvSpPr>
        <p:spPr bwMode="auto">
          <a:xfrm>
            <a:off x="4513263" y="787400"/>
            <a:ext cx="4435474" cy="164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9388" indent="-179388">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folHlink"/>
              </a:buClr>
              <a:buSzPct val="100000"/>
              <a:buFont typeface="Times" panose="02020603050405020304" pitchFamily="18" charset="0"/>
              <a:buChar char="•"/>
            </a:pPr>
            <a:r>
              <a:rPr lang="en-GB" altLang="en-US" sz="1700" dirty="0">
                <a:solidFill>
                  <a:srgbClr val="FF66FF"/>
                </a:solidFill>
                <a:effectLst/>
                <a:latin typeface="Arial" panose="020B0604020202020204" pitchFamily="34" charset="0"/>
              </a:rPr>
              <a:t>Layer-bound</a:t>
            </a:r>
            <a:r>
              <a:rPr lang="en-GB" altLang="en-US" sz="1700" dirty="0">
                <a:effectLst/>
                <a:latin typeface="Arial" panose="020B0604020202020204" pitchFamily="34" charset="0"/>
              </a:rPr>
              <a:t> systems of small </a:t>
            </a:r>
            <a:r>
              <a:rPr lang="en-GB" altLang="en-US" sz="1700" dirty="0">
                <a:solidFill>
                  <a:srgbClr val="FF66FF"/>
                </a:solidFill>
                <a:effectLst/>
                <a:latin typeface="Arial" panose="020B0604020202020204" pitchFamily="34" charset="0"/>
              </a:rPr>
              <a:t>dip-slip normal faults</a:t>
            </a:r>
            <a:r>
              <a:rPr lang="en-GB" altLang="en-US" sz="1700" dirty="0">
                <a:effectLst/>
                <a:latin typeface="Arial" panose="020B0604020202020204" pitchFamily="34" charset="0"/>
              </a:rPr>
              <a:t> (slip &lt; 100 m), arranged in 3D arrays with a </a:t>
            </a:r>
            <a:r>
              <a:rPr lang="en-GB" altLang="en-US" sz="1700" dirty="0">
                <a:solidFill>
                  <a:srgbClr val="FF66FF"/>
                </a:solidFill>
                <a:effectLst/>
                <a:latin typeface="Arial" panose="020B0604020202020204" pitchFamily="34" charset="0"/>
              </a:rPr>
              <a:t>polygonal map pattern</a:t>
            </a:r>
            <a:r>
              <a:rPr lang="en-GB" altLang="en-US" sz="1700" dirty="0">
                <a:effectLst/>
                <a:latin typeface="Arial" panose="020B0604020202020204" pitchFamily="34" charset="0"/>
              </a:rPr>
              <a:t>, are commonly developed over </a:t>
            </a:r>
            <a:r>
              <a:rPr lang="en-GB" altLang="en-US" sz="1700" dirty="0">
                <a:solidFill>
                  <a:srgbClr val="FF66FF"/>
                </a:solidFill>
                <a:effectLst/>
                <a:latin typeface="Arial" panose="020B0604020202020204" pitchFamily="34" charset="0"/>
              </a:rPr>
              <a:t>large areas</a:t>
            </a:r>
            <a:r>
              <a:rPr lang="en-GB" altLang="en-US" sz="1700" dirty="0">
                <a:effectLst/>
                <a:latin typeface="Arial" panose="020B0604020202020204" pitchFamily="34" charset="0"/>
              </a:rPr>
              <a:t> (50000 km</a:t>
            </a:r>
            <a:r>
              <a:rPr lang="en-GB" altLang="en-US" sz="1700" baseline="30000" dirty="0">
                <a:effectLst/>
                <a:latin typeface="Arial" panose="020B0604020202020204" pitchFamily="34" charset="0"/>
              </a:rPr>
              <a:t>2 </a:t>
            </a:r>
            <a:r>
              <a:rPr lang="en-GB" altLang="en-US" sz="1700" dirty="0">
                <a:effectLst/>
                <a:latin typeface="Arial" panose="020B0604020202020204" pitchFamily="34" charset="0"/>
              </a:rPr>
              <a:t>+) within </a:t>
            </a:r>
            <a:r>
              <a:rPr lang="en-GB" altLang="en-US" sz="1700" dirty="0">
                <a:solidFill>
                  <a:srgbClr val="FF66FF"/>
                </a:solidFill>
                <a:effectLst/>
                <a:latin typeface="Arial" panose="020B0604020202020204" pitchFamily="34" charset="0"/>
              </a:rPr>
              <a:t>clay-rich lithologies</a:t>
            </a:r>
          </a:p>
        </p:txBody>
      </p:sp>
      <p:sp>
        <p:nvSpPr>
          <p:cNvPr id="117767" name="Rectangle 17">
            <a:extLst>
              <a:ext uri="{FF2B5EF4-FFF2-40B4-BE49-F238E27FC236}">
                <a16:creationId xmlns:a16="http://schemas.microsoft.com/office/drawing/2014/main" id="{8CDE47DF-0DB8-4D69-BB8A-8EC552A4D04F}"/>
              </a:ext>
            </a:extLst>
          </p:cNvPr>
          <p:cNvSpPr>
            <a:spLocks noChangeArrowheads="1"/>
          </p:cNvSpPr>
          <p:nvPr/>
        </p:nvSpPr>
        <p:spPr bwMode="auto">
          <a:xfrm>
            <a:off x="92075" y="4806950"/>
            <a:ext cx="43815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9388" indent="-179388">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folHlink"/>
              </a:buClr>
              <a:buSzPct val="100000"/>
              <a:buFont typeface="Times" panose="02020603050405020304" pitchFamily="18" charset="0"/>
              <a:buChar char="•"/>
            </a:pPr>
            <a:r>
              <a:rPr lang="en-GB" altLang="en-US" sz="1700">
                <a:effectLst/>
                <a:latin typeface="Arial" panose="020B0604020202020204" pitchFamily="34" charset="0"/>
              </a:rPr>
              <a:t>Mode of formation remains controversial</a:t>
            </a:r>
          </a:p>
        </p:txBody>
      </p:sp>
      <p:sp>
        <p:nvSpPr>
          <p:cNvPr id="117768" name="Rectangle 17">
            <a:extLst>
              <a:ext uri="{FF2B5EF4-FFF2-40B4-BE49-F238E27FC236}">
                <a16:creationId xmlns:a16="http://schemas.microsoft.com/office/drawing/2014/main" id="{CE485E29-7385-49E0-941F-02C802B9FA5B}"/>
              </a:ext>
            </a:extLst>
          </p:cNvPr>
          <p:cNvSpPr>
            <a:spLocks noChangeArrowheads="1"/>
          </p:cNvSpPr>
          <p:nvPr/>
        </p:nvSpPr>
        <p:spPr bwMode="auto">
          <a:xfrm>
            <a:off x="274638" y="5210175"/>
            <a:ext cx="4243387" cy="995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5113" indent="-265113">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folHlink"/>
              </a:buClr>
              <a:buSzPct val="100000"/>
              <a:buFont typeface="Wingdings" panose="05000000000000000000" pitchFamily="2" charset="2"/>
              <a:buChar char="Ø"/>
            </a:pPr>
            <a:r>
              <a:rPr lang="en-GB" altLang="en-US" sz="1700" dirty="0">
                <a:solidFill>
                  <a:srgbClr val="FF66FF"/>
                </a:solidFill>
                <a:effectLst/>
                <a:latin typeface="Arial" panose="020B0604020202020204" pitchFamily="34" charset="0"/>
              </a:rPr>
              <a:t>Vertical compaction</a:t>
            </a:r>
            <a:r>
              <a:rPr lang="en-GB" altLang="en-US" sz="1700" dirty="0">
                <a:effectLst/>
                <a:latin typeface="Arial" panose="020B0604020202020204" pitchFamily="34" charset="0"/>
              </a:rPr>
              <a:t> with some lateral expansion in lithologies that have small coefficients of friction, OR</a:t>
            </a:r>
          </a:p>
        </p:txBody>
      </p:sp>
      <p:sp>
        <p:nvSpPr>
          <p:cNvPr id="117770" name="Rectangle 17">
            <a:extLst>
              <a:ext uri="{FF2B5EF4-FFF2-40B4-BE49-F238E27FC236}">
                <a16:creationId xmlns:a16="http://schemas.microsoft.com/office/drawing/2014/main" id="{9F668F23-7057-4453-B8B7-09EDDE8A7E31}"/>
              </a:ext>
            </a:extLst>
          </p:cNvPr>
          <p:cNvSpPr>
            <a:spLocks noChangeArrowheads="1"/>
          </p:cNvSpPr>
          <p:nvPr/>
        </p:nvSpPr>
        <p:spPr bwMode="auto">
          <a:xfrm>
            <a:off x="274638" y="6238875"/>
            <a:ext cx="8750300"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5113" indent="-265113">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folHlink"/>
              </a:buClr>
              <a:buSzPct val="100000"/>
              <a:buFont typeface="Wingdings" panose="05000000000000000000" pitchFamily="2" charset="2"/>
              <a:buChar char="Ø"/>
            </a:pPr>
            <a:r>
              <a:rPr lang="en-GB" altLang="en-US" sz="1700" dirty="0">
                <a:effectLst/>
                <a:latin typeface="Arial" panose="020B0604020202020204" pitchFamily="34" charset="0"/>
              </a:rPr>
              <a:t>Chemically driven </a:t>
            </a:r>
            <a:r>
              <a:rPr lang="en-GB" altLang="en-US" sz="1700" dirty="0">
                <a:solidFill>
                  <a:srgbClr val="FF66FF"/>
                </a:solidFill>
                <a:effectLst/>
                <a:latin typeface="Arial" panose="020B0604020202020204" pitchFamily="34" charset="0"/>
              </a:rPr>
              <a:t>volume contraction</a:t>
            </a:r>
            <a:r>
              <a:rPr lang="en-GB" altLang="en-US" sz="1700" dirty="0">
                <a:effectLst/>
                <a:latin typeface="Arial" panose="020B0604020202020204" pitchFamily="34" charset="0"/>
              </a:rPr>
              <a:t> during diagenetic reactions</a:t>
            </a:r>
          </a:p>
        </p:txBody>
      </p:sp>
      <p:sp>
        <p:nvSpPr>
          <p:cNvPr id="399365" name="Text Box 5">
            <a:extLst>
              <a:ext uri="{FF2B5EF4-FFF2-40B4-BE49-F238E27FC236}">
                <a16:creationId xmlns:a16="http://schemas.microsoft.com/office/drawing/2014/main" id="{0BDEF68F-2FB7-4CA8-B8E1-6EB2871E37F1}"/>
              </a:ext>
            </a:extLst>
          </p:cNvPr>
          <p:cNvSpPr txBox="1">
            <a:spLocks noChangeArrowheads="1"/>
          </p:cNvSpPr>
          <p:nvPr/>
        </p:nvSpPr>
        <p:spPr bwMode="auto">
          <a:xfrm>
            <a:off x="4610100" y="2579688"/>
            <a:ext cx="2411413"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0"/>
              </a:spcBef>
            </a:pPr>
            <a:r>
              <a:rPr lang="en-GB" altLang="en-US" sz="1400">
                <a:solidFill>
                  <a:srgbClr val="FFFF00"/>
                </a:solidFill>
                <a:effectLst>
                  <a:outerShdw blurRad="38100" dist="38100" dir="2700000" algn="tl">
                    <a:srgbClr val="000000"/>
                  </a:outerShdw>
                </a:effectLst>
                <a:latin typeface="Arial" panose="020B0604020202020204" pitchFamily="34" charset="0"/>
              </a:rPr>
              <a:t>Polygonal fractures, Amroth</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CED9CAD-24B9-49A9-9D92-954C4D690600}"/>
              </a:ext>
            </a:extLst>
          </p:cNvPr>
          <p:cNvSpPr>
            <a:spLocks noGrp="1" noChangeArrowheads="1"/>
          </p:cNvSpPr>
          <p:nvPr>
            <p:ph type="title"/>
          </p:nvPr>
        </p:nvSpPr>
        <p:spPr>
          <a:noFill/>
        </p:spPr>
        <p:txBody>
          <a:bodyPr/>
          <a:lstStyle/>
          <a:p>
            <a:r>
              <a:rPr lang="en-GB" altLang="en-US">
                <a:effectLst/>
              </a:rPr>
              <a:t>Inversion tectonics</a:t>
            </a:r>
          </a:p>
        </p:txBody>
      </p:sp>
      <p:sp>
        <p:nvSpPr>
          <p:cNvPr id="18435" name="Rectangle 3">
            <a:extLst>
              <a:ext uri="{FF2B5EF4-FFF2-40B4-BE49-F238E27FC236}">
                <a16:creationId xmlns:a16="http://schemas.microsoft.com/office/drawing/2014/main" id="{054C47BE-4B1D-47E4-ACF3-365684536678}"/>
              </a:ext>
            </a:extLst>
          </p:cNvPr>
          <p:cNvSpPr>
            <a:spLocks noGrp="1" noChangeArrowheads="1"/>
          </p:cNvSpPr>
          <p:nvPr>
            <p:ph type="body" sz="half" idx="1"/>
          </p:nvPr>
        </p:nvSpPr>
        <p:spPr>
          <a:xfrm>
            <a:off x="115888" y="825500"/>
            <a:ext cx="4851400" cy="5775325"/>
          </a:xfrm>
          <a:noFill/>
        </p:spPr>
        <p:txBody>
          <a:bodyPr/>
          <a:lstStyle/>
          <a:p>
            <a:pPr marL="177800" indent="-177800">
              <a:spcBef>
                <a:spcPct val="75000"/>
              </a:spcBef>
            </a:pPr>
            <a:r>
              <a:rPr lang="en-GB" altLang="en-US" sz="1700" dirty="0">
                <a:effectLst/>
              </a:rPr>
              <a:t>As a further motivation for considering the geometry of extensional fault systems, it is noted that contractional orogenic belts develop in sequences that have had a </a:t>
            </a:r>
            <a:r>
              <a:rPr lang="en-GB" altLang="en-US" sz="1700" dirty="0">
                <a:solidFill>
                  <a:srgbClr val="FF66FF"/>
                </a:solidFill>
                <a:effectLst/>
              </a:rPr>
              <a:t>previous history of rifting and normal faulting on a passive margin</a:t>
            </a:r>
            <a:r>
              <a:rPr lang="en-GB" altLang="en-US" sz="1700" dirty="0">
                <a:effectLst/>
              </a:rPr>
              <a:t>. During contraction these normal faults may be </a:t>
            </a:r>
            <a:r>
              <a:rPr lang="en-GB" altLang="en-US" sz="1700" dirty="0">
                <a:solidFill>
                  <a:srgbClr val="FF6600"/>
                </a:solidFill>
                <a:effectLst/>
              </a:rPr>
              <a:t>reactivated</a:t>
            </a:r>
            <a:r>
              <a:rPr lang="en-GB" altLang="en-US" sz="1700" dirty="0">
                <a:effectLst/>
              </a:rPr>
              <a:t> as thrusts, and hence the geometry of extensional fault systems may profoundly influence the geometry of the subsequent thrust systems</a:t>
            </a:r>
          </a:p>
          <a:p>
            <a:pPr marL="177800" indent="-177800">
              <a:spcBef>
                <a:spcPct val="75000"/>
              </a:spcBef>
            </a:pPr>
            <a:r>
              <a:rPr lang="en-GB" altLang="en-US" sz="1700" dirty="0">
                <a:effectLst/>
              </a:rPr>
              <a:t>The </a:t>
            </a:r>
            <a:r>
              <a:rPr lang="en-GB" altLang="en-US" sz="1700" dirty="0">
                <a:solidFill>
                  <a:srgbClr val="FF66FF"/>
                </a:solidFill>
                <a:effectLst/>
              </a:rPr>
              <a:t>reactivation</a:t>
            </a:r>
            <a:r>
              <a:rPr lang="en-GB" altLang="en-US" sz="1700" dirty="0">
                <a:effectLst/>
              </a:rPr>
              <a:t> of pre-existing faults but with the </a:t>
            </a:r>
            <a:r>
              <a:rPr lang="en-GB" altLang="en-US" sz="1700" dirty="0">
                <a:solidFill>
                  <a:srgbClr val="FF66FF"/>
                </a:solidFill>
                <a:effectLst/>
              </a:rPr>
              <a:t>opposite sense</a:t>
            </a:r>
            <a:r>
              <a:rPr lang="en-GB" altLang="en-US" sz="1700" dirty="0">
                <a:effectLst/>
              </a:rPr>
              <a:t> of dip-slip displacement is described as </a:t>
            </a:r>
            <a:r>
              <a:rPr lang="en-GB" altLang="en-US" sz="1700" dirty="0">
                <a:solidFill>
                  <a:srgbClr val="FF6600"/>
                </a:solidFill>
                <a:effectLst/>
              </a:rPr>
              <a:t>inversion</a:t>
            </a:r>
          </a:p>
          <a:p>
            <a:pPr marL="177800" indent="-177800">
              <a:spcBef>
                <a:spcPct val="75000"/>
              </a:spcBef>
            </a:pPr>
            <a:r>
              <a:rPr lang="en-GB" altLang="en-US" sz="1700" dirty="0">
                <a:effectLst/>
              </a:rPr>
              <a:t>Normal faults tend to be steeper than thrusts, particularly towards the Earth’s surface, and so contraction commonly leads to more gently dipping </a:t>
            </a:r>
            <a:r>
              <a:rPr lang="en-GB" altLang="en-US" sz="1700" dirty="0">
                <a:solidFill>
                  <a:srgbClr val="FF6600"/>
                </a:solidFill>
                <a:effectLst/>
              </a:rPr>
              <a:t>shortcut faults </a:t>
            </a:r>
            <a:r>
              <a:rPr lang="en-GB" altLang="en-US" sz="1700" dirty="0">
                <a:effectLst/>
              </a:rPr>
              <a:t>near the surface</a:t>
            </a:r>
          </a:p>
        </p:txBody>
      </p:sp>
      <p:grpSp>
        <p:nvGrpSpPr>
          <p:cNvPr id="18436" name="Group 8">
            <a:extLst>
              <a:ext uri="{FF2B5EF4-FFF2-40B4-BE49-F238E27FC236}">
                <a16:creationId xmlns:a16="http://schemas.microsoft.com/office/drawing/2014/main" id="{9689DB16-5072-4662-9C58-052A4B91F8E5}"/>
              </a:ext>
            </a:extLst>
          </p:cNvPr>
          <p:cNvGrpSpPr>
            <a:grpSpLocks/>
          </p:cNvGrpSpPr>
          <p:nvPr/>
        </p:nvGrpSpPr>
        <p:grpSpPr bwMode="auto">
          <a:xfrm>
            <a:off x="5108575" y="968375"/>
            <a:ext cx="3662363" cy="5168900"/>
            <a:chOff x="3218" y="628"/>
            <a:chExt cx="2307" cy="3256"/>
          </a:xfrm>
        </p:grpSpPr>
        <p:sp>
          <p:nvSpPr>
            <p:cNvPr id="238598" name="Rectangle 6">
              <a:extLst>
                <a:ext uri="{FF2B5EF4-FFF2-40B4-BE49-F238E27FC236}">
                  <a16:creationId xmlns:a16="http://schemas.microsoft.com/office/drawing/2014/main" id="{52B3BEB7-DCAF-40A8-BFB3-07D24F9FF7E3}"/>
                </a:ext>
              </a:extLst>
            </p:cNvPr>
            <p:cNvSpPr>
              <a:spLocks noChangeArrowheads="1"/>
            </p:cNvSpPr>
            <p:nvPr/>
          </p:nvSpPr>
          <p:spPr bwMode="auto">
            <a:xfrm>
              <a:off x="3218" y="628"/>
              <a:ext cx="2307" cy="3256"/>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18438" name="Picture 2" descr="GR31.jpg">
              <a:extLst>
                <a:ext uri="{FF2B5EF4-FFF2-40B4-BE49-F238E27FC236}">
                  <a16:creationId xmlns:a16="http://schemas.microsoft.com/office/drawing/2014/main" id="{D16581F1-815F-4220-92D5-1C6879526950}"/>
                </a:ext>
              </a:extLst>
            </p:cNvPr>
            <p:cNvPicPr>
              <a:picLocks noChangeAspect="1"/>
            </p:cNvPicPr>
            <p:nvPr/>
          </p:nvPicPr>
          <p:blipFill>
            <a:blip r:embed="rId3">
              <a:lum bright="-4000" contrast="4000"/>
              <a:extLst>
                <a:ext uri="{28A0092B-C50C-407E-A947-70E740481C1C}">
                  <a14:useLocalDpi xmlns:a14="http://schemas.microsoft.com/office/drawing/2010/main" val="0"/>
                </a:ext>
              </a:extLst>
            </a:blip>
            <a:srcRect/>
            <a:stretch>
              <a:fillRect/>
            </a:stretch>
          </p:blipFill>
          <p:spPr bwMode="auto">
            <a:xfrm>
              <a:off x="3301" y="701"/>
              <a:ext cx="2135" cy="31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7A26CC54-63EE-443D-B148-28062D2DEB9A}"/>
              </a:ext>
            </a:extLst>
          </p:cNvPr>
          <p:cNvSpPr>
            <a:spLocks noGrp="1" noChangeArrowheads="1"/>
          </p:cNvSpPr>
          <p:nvPr>
            <p:ph type="ctrTitle" idx="4294967295"/>
          </p:nvPr>
        </p:nvSpPr>
        <p:spPr bwMode="black">
          <a:xfrm>
            <a:off x="184150" y="1717675"/>
            <a:ext cx="8705850" cy="18446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defRPr/>
            </a:pPr>
            <a:br>
              <a:rPr lang="en-US" sz="3200">
                <a:solidFill>
                  <a:srgbClr val="FF6600"/>
                </a:solidFill>
              </a:rPr>
            </a:br>
            <a:br>
              <a:rPr lang="en-US" sz="3200">
                <a:solidFill>
                  <a:srgbClr val="FF6600"/>
                </a:solidFill>
              </a:rPr>
            </a:br>
            <a:r>
              <a:rPr lang="en-US" sz="3200">
                <a:solidFill>
                  <a:srgbClr val="FF6600"/>
                </a:solidFill>
              </a:rPr>
              <a:t>Terminology</a:t>
            </a:r>
            <a:endParaRPr lang="en-US">
              <a:solidFill>
                <a:srgbClr val="FF6600"/>
              </a:solidFill>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5FA8DA69-4519-46B2-8FD2-2A2936D098FF}"/>
              </a:ext>
            </a:extLst>
          </p:cNvPr>
          <p:cNvSpPr>
            <a:spLocks noGrp="1" noChangeArrowheads="1"/>
          </p:cNvSpPr>
          <p:nvPr>
            <p:ph type="title"/>
          </p:nvPr>
        </p:nvSpPr>
        <p:spPr>
          <a:noFill/>
        </p:spPr>
        <p:txBody>
          <a:bodyPr/>
          <a:lstStyle/>
          <a:p>
            <a:r>
              <a:rPr lang="en-GB" altLang="en-US">
                <a:effectLst/>
              </a:rPr>
              <a:t>Extensional faults</a:t>
            </a:r>
          </a:p>
        </p:txBody>
      </p:sp>
      <p:sp>
        <p:nvSpPr>
          <p:cNvPr id="20483" name="Rectangle 3">
            <a:extLst>
              <a:ext uri="{FF2B5EF4-FFF2-40B4-BE49-F238E27FC236}">
                <a16:creationId xmlns:a16="http://schemas.microsoft.com/office/drawing/2014/main" id="{91E7C3E6-926B-4793-9B17-608B26DB1C41}"/>
              </a:ext>
            </a:extLst>
          </p:cNvPr>
          <p:cNvSpPr>
            <a:spLocks noGrp="1" noChangeArrowheads="1"/>
          </p:cNvSpPr>
          <p:nvPr>
            <p:ph type="body" sz="half" idx="1"/>
          </p:nvPr>
        </p:nvSpPr>
        <p:spPr>
          <a:xfrm>
            <a:off x="103188" y="768350"/>
            <a:ext cx="8891587" cy="831850"/>
          </a:xfrm>
          <a:noFill/>
        </p:spPr>
        <p:txBody>
          <a:bodyPr/>
          <a:lstStyle/>
          <a:p>
            <a:pPr marL="177800" indent="-177800"/>
            <a:r>
              <a:rPr lang="en-GB" altLang="en-US" sz="1700">
                <a:effectLst/>
              </a:rPr>
              <a:t>A fault is described as </a:t>
            </a:r>
            <a:r>
              <a:rPr lang="en-GB" altLang="en-US" sz="1700">
                <a:solidFill>
                  <a:srgbClr val="FF6600"/>
                </a:solidFill>
                <a:effectLst/>
              </a:rPr>
              <a:t>extensional</a:t>
            </a:r>
            <a:r>
              <a:rPr lang="en-GB" altLang="en-US" sz="1700">
                <a:effectLst/>
              </a:rPr>
              <a:t> if it leads to </a:t>
            </a:r>
            <a:r>
              <a:rPr lang="en-GB" altLang="en-US" sz="1700">
                <a:solidFill>
                  <a:srgbClr val="FF66FF"/>
                </a:solidFill>
                <a:effectLst/>
              </a:rPr>
              <a:t>elongation perpendicular to the strike of the fault</a:t>
            </a:r>
            <a:r>
              <a:rPr lang="en-GB" altLang="en-US" sz="1700">
                <a:effectLst/>
              </a:rPr>
              <a:t>. Hence faults with a normal component of dip-slip displacement are extensional</a:t>
            </a:r>
          </a:p>
        </p:txBody>
      </p:sp>
      <p:grpSp>
        <p:nvGrpSpPr>
          <p:cNvPr id="20484" name="Group 10">
            <a:extLst>
              <a:ext uri="{FF2B5EF4-FFF2-40B4-BE49-F238E27FC236}">
                <a16:creationId xmlns:a16="http://schemas.microsoft.com/office/drawing/2014/main" id="{00743BAD-A3D1-4383-BE32-5970100036B3}"/>
              </a:ext>
            </a:extLst>
          </p:cNvPr>
          <p:cNvGrpSpPr>
            <a:grpSpLocks/>
          </p:cNvGrpSpPr>
          <p:nvPr/>
        </p:nvGrpSpPr>
        <p:grpSpPr bwMode="auto">
          <a:xfrm>
            <a:off x="6278563" y="2781300"/>
            <a:ext cx="2684462" cy="3876675"/>
            <a:chOff x="3422" y="643"/>
            <a:chExt cx="2232" cy="3210"/>
          </a:xfrm>
        </p:grpSpPr>
        <p:sp>
          <p:nvSpPr>
            <p:cNvPr id="214025" name="Rectangle 9">
              <a:extLst>
                <a:ext uri="{FF2B5EF4-FFF2-40B4-BE49-F238E27FC236}">
                  <a16:creationId xmlns:a16="http://schemas.microsoft.com/office/drawing/2014/main" id="{DCD75193-C117-40DC-B849-F4602A19AE68}"/>
                </a:ext>
              </a:extLst>
            </p:cNvPr>
            <p:cNvSpPr>
              <a:spLocks noChangeArrowheads="1"/>
            </p:cNvSpPr>
            <p:nvPr/>
          </p:nvSpPr>
          <p:spPr bwMode="auto">
            <a:xfrm>
              <a:off x="3422" y="643"/>
              <a:ext cx="2232" cy="321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20490" name="Picture 2" descr="GR02.jpg">
              <a:extLst>
                <a:ext uri="{FF2B5EF4-FFF2-40B4-BE49-F238E27FC236}">
                  <a16:creationId xmlns:a16="http://schemas.microsoft.com/office/drawing/2014/main" id="{4484FD9C-AAE2-4CFD-B793-69028C2FC1CF}"/>
                </a:ext>
              </a:extLst>
            </p:cNvPr>
            <p:cNvPicPr>
              <a:picLocks noChangeAspect="1"/>
            </p:cNvPicPr>
            <p:nvPr/>
          </p:nvPicPr>
          <p:blipFill>
            <a:blip r:embed="rId3">
              <a:lum bright="-6000" contrast="10000"/>
              <a:extLst>
                <a:ext uri="{28A0092B-C50C-407E-A947-70E740481C1C}">
                  <a14:useLocalDpi xmlns:a14="http://schemas.microsoft.com/office/drawing/2010/main" val="0"/>
                </a:ext>
              </a:extLst>
            </a:blip>
            <a:srcRect/>
            <a:stretch>
              <a:fillRect/>
            </a:stretch>
          </p:blipFill>
          <p:spPr bwMode="auto">
            <a:xfrm>
              <a:off x="3459" y="699"/>
              <a:ext cx="2156" cy="31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14022" name="Rectangle 6">
              <a:extLst>
                <a:ext uri="{FF2B5EF4-FFF2-40B4-BE49-F238E27FC236}">
                  <a16:creationId xmlns:a16="http://schemas.microsoft.com/office/drawing/2014/main" id="{8288E3CD-E7D0-4653-AA68-9165AAC7232C}"/>
                </a:ext>
              </a:extLst>
            </p:cNvPr>
            <p:cNvSpPr>
              <a:spLocks noChangeArrowheads="1"/>
            </p:cNvSpPr>
            <p:nvPr/>
          </p:nvSpPr>
          <p:spPr bwMode="auto">
            <a:xfrm>
              <a:off x="3456" y="2223"/>
              <a:ext cx="102" cy="114"/>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214023" name="Rectangle 7">
              <a:extLst>
                <a:ext uri="{FF2B5EF4-FFF2-40B4-BE49-F238E27FC236}">
                  <a16:creationId xmlns:a16="http://schemas.microsoft.com/office/drawing/2014/main" id="{FF3B1C6F-F51C-4AB5-A452-2C2670542326}"/>
                </a:ext>
              </a:extLst>
            </p:cNvPr>
            <p:cNvSpPr>
              <a:spLocks noChangeArrowheads="1"/>
            </p:cNvSpPr>
            <p:nvPr/>
          </p:nvSpPr>
          <p:spPr bwMode="auto">
            <a:xfrm>
              <a:off x="3459" y="2619"/>
              <a:ext cx="87" cy="12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214024" name="Rectangle 8">
              <a:extLst>
                <a:ext uri="{FF2B5EF4-FFF2-40B4-BE49-F238E27FC236}">
                  <a16:creationId xmlns:a16="http://schemas.microsoft.com/office/drawing/2014/main" id="{61CAD4D3-68D5-416F-A0D8-098267C80A21}"/>
                </a:ext>
              </a:extLst>
            </p:cNvPr>
            <p:cNvSpPr>
              <a:spLocks noChangeArrowheads="1"/>
            </p:cNvSpPr>
            <p:nvPr/>
          </p:nvSpPr>
          <p:spPr bwMode="auto">
            <a:xfrm>
              <a:off x="3456" y="3000"/>
              <a:ext cx="102" cy="12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grpSp>
      <p:sp>
        <p:nvSpPr>
          <p:cNvPr id="214029" name="Text Box 13">
            <a:extLst>
              <a:ext uri="{FF2B5EF4-FFF2-40B4-BE49-F238E27FC236}">
                <a16:creationId xmlns:a16="http://schemas.microsoft.com/office/drawing/2014/main" id="{B8D6DF2D-7CCA-4C9D-8DD0-C9822319FD8B}"/>
              </a:ext>
            </a:extLst>
          </p:cNvPr>
          <p:cNvSpPr txBox="1">
            <a:spLocks noChangeArrowheads="1"/>
          </p:cNvSpPr>
          <p:nvPr/>
        </p:nvSpPr>
        <p:spPr bwMode="auto">
          <a:xfrm>
            <a:off x="114300" y="4338638"/>
            <a:ext cx="5964238"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75000"/>
              </a:spcBef>
              <a:buClr>
                <a:schemeClr val="folHlink"/>
              </a:buClr>
              <a:buSzPct val="100000"/>
              <a:buFont typeface="Times"/>
              <a:buChar char="•"/>
              <a:defRPr/>
            </a:pPr>
            <a:r>
              <a:rPr lang="en-GB" sz="1700" dirty="0">
                <a:effectLst/>
                <a:latin typeface="Arial" charset="0"/>
              </a:rPr>
              <a:t>This definition takes the surface of the Earth (assumed horizontal) as reference. If instead we were to define an extensional fault as one that </a:t>
            </a:r>
            <a:r>
              <a:rPr lang="en-GB" sz="1700" dirty="0">
                <a:solidFill>
                  <a:srgbClr val="FF66FF"/>
                </a:solidFill>
                <a:effectLst/>
                <a:latin typeface="Arial" charset="0"/>
              </a:rPr>
              <a:t>lengthens a given layer</a:t>
            </a:r>
            <a:r>
              <a:rPr lang="en-GB" sz="1700" dirty="0">
                <a:effectLst/>
                <a:latin typeface="Arial" charset="0"/>
              </a:rPr>
              <a:t>, then in certain scenarios </a:t>
            </a:r>
            <a:r>
              <a:rPr lang="en-GB" sz="1700" dirty="0">
                <a:solidFill>
                  <a:srgbClr val="FF66FF"/>
                </a:solidFill>
                <a:effectLst/>
                <a:latin typeface="Arial" charset="0"/>
              </a:rPr>
              <a:t>reverse faults can be extensional</a:t>
            </a:r>
            <a:r>
              <a:rPr lang="en-GB" sz="1700" dirty="0">
                <a:effectLst/>
                <a:latin typeface="Arial" charset="0"/>
              </a:rPr>
              <a:t> (see fault A in the bottom diagram of the figure right)</a:t>
            </a:r>
            <a:endParaRPr lang="en-GB" sz="1700" dirty="0">
              <a:effectLst>
                <a:outerShdw blurRad="38100" dist="38100" dir="2700000" algn="tl">
                  <a:srgbClr val="000000"/>
                </a:outerShdw>
              </a:effectLst>
              <a:latin typeface="Arial" charset="0"/>
            </a:endParaRPr>
          </a:p>
        </p:txBody>
      </p:sp>
      <p:sp>
        <p:nvSpPr>
          <p:cNvPr id="214030" name="Text Box 14">
            <a:extLst>
              <a:ext uri="{FF2B5EF4-FFF2-40B4-BE49-F238E27FC236}">
                <a16:creationId xmlns:a16="http://schemas.microsoft.com/office/drawing/2014/main" id="{9374A375-4C63-43AA-A004-95BEEADACBCF}"/>
              </a:ext>
            </a:extLst>
          </p:cNvPr>
          <p:cNvSpPr txBox="1">
            <a:spLocks noChangeArrowheads="1"/>
          </p:cNvSpPr>
          <p:nvPr/>
        </p:nvSpPr>
        <p:spPr bwMode="auto">
          <a:xfrm>
            <a:off x="6205538" y="1604963"/>
            <a:ext cx="2384425"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View NW from the Panorama du Vélodrome, Digne-les-Bains, France</a:t>
            </a:r>
          </a:p>
        </p:txBody>
      </p:sp>
      <p:sp>
        <p:nvSpPr>
          <p:cNvPr id="214031" name="Text Box 15">
            <a:extLst>
              <a:ext uri="{FF2B5EF4-FFF2-40B4-BE49-F238E27FC236}">
                <a16:creationId xmlns:a16="http://schemas.microsoft.com/office/drawing/2014/main" id="{9CC1A12B-DDA7-44B7-B076-90100EBB2A5B}"/>
              </a:ext>
            </a:extLst>
          </p:cNvPr>
          <p:cNvSpPr txBox="1">
            <a:spLocks noChangeArrowheads="1"/>
          </p:cNvSpPr>
          <p:nvPr/>
        </p:nvSpPr>
        <p:spPr bwMode="auto">
          <a:xfrm>
            <a:off x="1562100" y="6335713"/>
            <a:ext cx="46624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sz="1400">
                <a:solidFill>
                  <a:srgbClr val="FFFF00"/>
                </a:solidFill>
                <a:effectLst>
                  <a:outerShdw blurRad="38100" dist="38100" dir="2700000" algn="tl">
                    <a:srgbClr val="000000"/>
                  </a:outerShdw>
                </a:effectLst>
                <a:latin typeface="Arial" charset="0"/>
              </a:rPr>
              <a:t>Sketch of rotated normal faults, San Rafael Desert, Utah</a:t>
            </a:r>
          </a:p>
        </p:txBody>
      </p:sp>
      <p:pic>
        <p:nvPicPr>
          <p:cNvPr id="20495" name="Picture 15" descr="09a1a-Vélodrome">
            <a:extLst>
              <a:ext uri="{FF2B5EF4-FFF2-40B4-BE49-F238E27FC236}">
                <a16:creationId xmlns:a16="http://schemas.microsoft.com/office/drawing/2014/main" id="{B0BED4E3-77DE-4AFA-817E-03DED1DAE2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838" y="1673225"/>
            <a:ext cx="5811837" cy="24542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97A80354-104C-49A8-833A-860C27B291C7}"/>
              </a:ext>
            </a:extLst>
          </p:cNvPr>
          <p:cNvSpPr>
            <a:spLocks noGrp="1" noChangeArrowheads="1"/>
          </p:cNvSpPr>
          <p:nvPr>
            <p:ph type="title"/>
          </p:nvPr>
        </p:nvSpPr>
        <p:spPr>
          <a:noFill/>
        </p:spPr>
        <p:txBody>
          <a:bodyPr/>
          <a:lstStyle/>
          <a:p>
            <a:r>
              <a:rPr lang="en-GB" altLang="en-US">
                <a:effectLst/>
              </a:rPr>
              <a:t>Extensional faults  2</a:t>
            </a:r>
          </a:p>
        </p:txBody>
      </p:sp>
      <p:sp>
        <p:nvSpPr>
          <p:cNvPr id="222211" name="Rectangle 3">
            <a:extLst>
              <a:ext uri="{FF2B5EF4-FFF2-40B4-BE49-F238E27FC236}">
                <a16:creationId xmlns:a16="http://schemas.microsoft.com/office/drawing/2014/main" id="{1C65A925-A5CC-414B-8A91-64B95D5127AA}"/>
              </a:ext>
            </a:extLst>
          </p:cNvPr>
          <p:cNvSpPr>
            <a:spLocks noGrp="1" noChangeArrowheads="1"/>
          </p:cNvSpPr>
          <p:nvPr>
            <p:ph type="body" idx="1"/>
          </p:nvPr>
        </p:nvSpPr>
        <p:spPr>
          <a:xfrm>
            <a:off x="93663" y="768350"/>
            <a:ext cx="8734425" cy="1922463"/>
          </a:xfrm>
        </p:spPr>
        <p:txBody>
          <a:bodyPr/>
          <a:lstStyle/>
          <a:p>
            <a:pPr marL="177800" indent="-177800">
              <a:spcBef>
                <a:spcPct val="75000"/>
              </a:spcBef>
            </a:pPr>
            <a:r>
              <a:rPr lang="en-GB" altLang="en-US" sz="1700" dirty="0">
                <a:effectLst/>
              </a:rPr>
              <a:t>Extensional faults exist </a:t>
            </a:r>
            <a:r>
              <a:rPr lang="en-GB" altLang="en-US" sz="1700" dirty="0"/>
              <a:t>with lengths and displacements of millimetres through to those in metamorphic core complexes that are on the scale of mountain ranges with </a:t>
            </a:r>
            <a:r>
              <a:rPr lang="en-GB" altLang="en-US" sz="1700" dirty="0">
                <a:solidFill>
                  <a:srgbClr val="FF66FF"/>
                </a:solidFill>
              </a:rPr>
              <a:t>displacements of up to ~</a:t>
            </a:r>
            <a:r>
              <a:rPr lang="en-GB" altLang="en-US" sz="800" dirty="0">
                <a:solidFill>
                  <a:srgbClr val="FF66FF"/>
                </a:solidFill>
              </a:rPr>
              <a:t> </a:t>
            </a:r>
            <a:r>
              <a:rPr lang="en-GB" altLang="en-US" sz="1700" dirty="0">
                <a:solidFill>
                  <a:srgbClr val="FF66FF"/>
                </a:solidFill>
              </a:rPr>
              <a:t>100 km</a:t>
            </a:r>
          </a:p>
          <a:p>
            <a:pPr marL="177800" indent="-177800">
              <a:spcBef>
                <a:spcPct val="75000"/>
              </a:spcBef>
            </a:pPr>
            <a:r>
              <a:rPr lang="en-GB" altLang="en-US" sz="1700" dirty="0"/>
              <a:t>Those with </a:t>
            </a:r>
            <a:r>
              <a:rPr lang="en-GB" altLang="en-US" sz="1700" dirty="0">
                <a:solidFill>
                  <a:srgbClr val="FF66FF"/>
                </a:solidFill>
              </a:rPr>
              <a:t>large displacements are gently dipping</a:t>
            </a:r>
            <a:r>
              <a:rPr lang="en-GB" altLang="en-US" sz="1700" dirty="0"/>
              <a:t> and are described as </a:t>
            </a:r>
            <a:r>
              <a:rPr lang="en-GB" altLang="en-US" sz="1700" dirty="0">
                <a:solidFill>
                  <a:srgbClr val="FF6600"/>
                </a:solidFill>
              </a:rPr>
              <a:t>detachments</a:t>
            </a:r>
            <a:r>
              <a:rPr lang="en-GB" altLang="en-US" sz="1700" dirty="0"/>
              <a:t> (an old term for these that is no longer used is a </a:t>
            </a:r>
            <a:r>
              <a:rPr lang="en-GB" altLang="en-US" sz="1700" dirty="0">
                <a:solidFill>
                  <a:srgbClr val="FF6600"/>
                </a:solidFill>
              </a:rPr>
              <a:t>lag fault</a:t>
            </a:r>
            <a:r>
              <a:rPr lang="en-GB" altLang="en-US" sz="1700" dirty="0"/>
              <a:t>)</a:t>
            </a:r>
          </a:p>
        </p:txBody>
      </p:sp>
      <p:pic>
        <p:nvPicPr>
          <p:cNvPr id="21508" name="Picture 6" descr="wippleklippe3">
            <a:extLst>
              <a:ext uri="{FF2B5EF4-FFF2-40B4-BE49-F238E27FC236}">
                <a16:creationId xmlns:a16="http://schemas.microsoft.com/office/drawing/2014/main" id="{5CCC5391-41CE-4B8A-BBAC-164D2F3EC7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2871788"/>
            <a:ext cx="6283325" cy="3182937"/>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2215" name="Text Box 7">
            <a:extLst>
              <a:ext uri="{FF2B5EF4-FFF2-40B4-BE49-F238E27FC236}">
                <a16:creationId xmlns:a16="http://schemas.microsoft.com/office/drawing/2014/main" id="{C34F6EEA-D0C5-40C3-A48E-353881513344}"/>
              </a:ext>
            </a:extLst>
          </p:cNvPr>
          <p:cNvSpPr txBox="1">
            <a:spLocks noChangeArrowheads="1"/>
          </p:cNvSpPr>
          <p:nvPr/>
        </p:nvSpPr>
        <p:spPr bwMode="auto">
          <a:xfrm>
            <a:off x="3397250" y="6108700"/>
            <a:ext cx="4654550"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defRPr/>
            </a:pPr>
            <a:r>
              <a:rPr lang="en-GB" sz="1400">
                <a:solidFill>
                  <a:srgbClr val="FFFF00"/>
                </a:solidFill>
                <a:effectLst>
                  <a:outerShdw blurRad="38100" dist="38100" dir="2700000" algn="tl">
                    <a:srgbClr val="000000"/>
                  </a:outerShdw>
                </a:effectLst>
                <a:latin typeface="Arial" charset="0"/>
              </a:rPr>
              <a:t>Whipple Mountain detachment, south-eastern California</a:t>
            </a:r>
          </a:p>
        </p:txBody>
      </p:sp>
      <p:sp>
        <p:nvSpPr>
          <p:cNvPr id="222216" name="Text Box 8">
            <a:extLst>
              <a:ext uri="{FF2B5EF4-FFF2-40B4-BE49-F238E27FC236}">
                <a16:creationId xmlns:a16="http://schemas.microsoft.com/office/drawing/2014/main" id="{CE973053-23FB-4968-B9A9-D14C66719EA4}"/>
              </a:ext>
            </a:extLst>
          </p:cNvPr>
          <p:cNvSpPr txBox="1">
            <a:spLocks noChangeArrowheads="1"/>
          </p:cNvSpPr>
          <p:nvPr/>
        </p:nvSpPr>
        <p:spPr bwMode="auto">
          <a:xfrm>
            <a:off x="101600" y="2728913"/>
            <a:ext cx="2230438" cy="351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75000"/>
              </a:spcBef>
              <a:buClr>
                <a:schemeClr val="tx1"/>
              </a:buClr>
              <a:buFontTx/>
              <a:buChar char="•"/>
              <a:defRPr/>
            </a:pPr>
            <a:r>
              <a:rPr lang="en-GB" sz="1700">
                <a:effectLst>
                  <a:outerShdw blurRad="38100" dist="38100" dir="2700000" algn="tl">
                    <a:srgbClr val="000000"/>
                  </a:outerShdw>
                </a:effectLst>
                <a:latin typeface="Arial" charset="0"/>
              </a:rPr>
              <a:t>Extensional detachments may be distinguished from thrusts because they bring </a:t>
            </a:r>
            <a:r>
              <a:rPr lang="en-GB" sz="1700">
                <a:solidFill>
                  <a:srgbClr val="FF66FF"/>
                </a:solidFill>
                <a:effectLst>
                  <a:outerShdw blurRad="38100" dist="38100" dir="2700000" algn="tl">
                    <a:srgbClr val="000000"/>
                  </a:outerShdw>
                </a:effectLst>
                <a:latin typeface="Arial" charset="0"/>
              </a:rPr>
              <a:t>younger rocks over older ones</a:t>
            </a:r>
            <a:r>
              <a:rPr lang="en-GB" sz="1700">
                <a:effectLst>
                  <a:outerShdw blurRad="38100" dist="38100" dir="2700000" algn="tl">
                    <a:srgbClr val="000000"/>
                  </a:outerShdw>
                </a:effectLst>
                <a:latin typeface="Arial" charset="0"/>
              </a:rPr>
              <a:t> or rocks of </a:t>
            </a:r>
            <a:r>
              <a:rPr lang="en-GB" sz="1700">
                <a:solidFill>
                  <a:srgbClr val="FF66FF"/>
                </a:solidFill>
                <a:effectLst>
                  <a:outerShdw blurRad="38100" dist="38100" dir="2700000" algn="tl">
                    <a:srgbClr val="000000"/>
                  </a:outerShdw>
                </a:effectLst>
                <a:latin typeface="Arial" charset="0"/>
              </a:rPr>
              <a:t>low metamorphic grade over rocks of higher grade</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9F6BF4E6-4B29-4B59-A6C9-08D274E8E2B1}"/>
              </a:ext>
            </a:extLst>
          </p:cNvPr>
          <p:cNvSpPr>
            <a:spLocks noGrp="1" noChangeArrowheads="1"/>
          </p:cNvSpPr>
          <p:nvPr>
            <p:ph type="title"/>
          </p:nvPr>
        </p:nvSpPr>
        <p:spPr>
          <a:noFill/>
        </p:spPr>
        <p:txBody>
          <a:bodyPr/>
          <a:lstStyle/>
          <a:p>
            <a:r>
              <a:rPr lang="en-GB" altLang="en-US">
                <a:effectLst/>
              </a:rPr>
              <a:t>The fault zone</a:t>
            </a:r>
          </a:p>
        </p:txBody>
      </p:sp>
      <p:sp>
        <p:nvSpPr>
          <p:cNvPr id="22531" name="Rectangle 3">
            <a:extLst>
              <a:ext uri="{FF2B5EF4-FFF2-40B4-BE49-F238E27FC236}">
                <a16:creationId xmlns:a16="http://schemas.microsoft.com/office/drawing/2014/main" id="{029E5ED9-BCA7-4BEF-BADB-8D745D68AFE5}"/>
              </a:ext>
            </a:extLst>
          </p:cNvPr>
          <p:cNvSpPr>
            <a:spLocks noGrp="1" noChangeArrowheads="1"/>
          </p:cNvSpPr>
          <p:nvPr>
            <p:ph type="body" sz="half" idx="1"/>
          </p:nvPr>
        </p:nvSpPr>
        <p:spPr>
          <a:xfrm>
            <a:off x="112713" y="768350"/>
            <a:ext cx="4205287" cy="2343150"/>
          </a:xfrm>
          <a:noFill/>
        </p:spPr>
        <p:txBody>
          <a:bodyPr/>
          <a:lstStyle/>
          <a:p>
            <a:pPr marL="177800" indent="-177800"/>
            <a:r>
              <a:rPr lang="en-GB" altLang="en-US" sz="1700">
                <a:effectLst/>
              </a:rPr>
              <a:t>The fault zone at shallow levels on a low angle detachment is commonly a thick region of </a:t>
            </a:r>
            <a:r>
              <a:rPr lang="en-GB" altLang="en-US" sz="1700">
                <a:solidFill>
                  <a:srgbClr val="FF66FF"/>
                </a:solidFill>
                <a:effectLst/>
              </a:rPr>
              <a:t>distributed cataclasis</a:t>
            </a:r>
            <a:r>
              <a:rPr lang="en-GB" altLang="en-US" sz="1700">
                <a:effectLst/>
              </a:rPr>
              <a:t>. This reflects the late stages of movement under </a:t>
            </a:r>
            <a:r>
              <a:rPr lang="en-GB" altLang="en-US" sz="1700">
                <a:solidFill>
                  <a:srgbClr val="FF66FF"/>
                </a:solidFill>
                <a:effectLst/>
              </a:rPr>
              <a:t>transtensional conditions</a:t>
            </a:r>
            <a:r>
              <a:rPr lang="en-GB" altLang="en-US" sz="1700">
                <a:effectLst/>
              </a:rPr>
              <a:t>, often in the presence of a large</a:t>
            </a:r>
            <a:r>
              <a:rPr lang="en-GB" altLang="en-US" sz="1700">
                <a:solidFill>
                  <a:srgbClr val="FF66FF"/>
                </a:solidFill>
                <a:effectLst/>
              </a:rPr>
              <a:t> pore fluid pressure</a:t>
            </a:r>
          </a:p>
        </p:txBody>
      </p:sp>
      <p:pic>
        <p:nvPicPr>
          <p:cNvPr id="22532" name="Picture 4" descr="07a-Badwater turtleback fault, Death Valley">
            <a:extLst>
              <a:ext uri="{FF2B5EF4-FFF2-40B4-BE49-F238E27FC236}">
                <a16:creationId xmlns:a16="http://schemas.microsoft.com/office/drawing/2014/main" id="{F3B9AF5D-3DB0-4D16-99A0-8295E70E8561}"/>
              </a:ext>
            </a:extLst>
          </p:cNvPr>
          <p:cNvPicPr>
            <a:picLocks noGrp="1" noChangeAspect="1" noChangeArrowheads="1"/>
          </p:cNvPicPr>
          <p:nvPr>
            <p:ph sz="quarter" idx="2"/>
          </p:nvPr>
        </p:nvPicPr>
        <p:blipFill>
          <a:blip r:embed="rId3">
            <a:lum bright="-4000"/>
            <a:extLst>
              <a:ext uri="{28A0092B-C50C-407E-A947-70E740481C1C}">
                <a14:useLocalDpi xmlns:a14="http://schemas.microsoft.com/office/drawing/2010/main" val="0"/>
              </a:ext>
            </a:extLst>
          </a:blip>
          <a:srcRect/>
          <a:stretch>
            <a:fillRect/>
          </a:stretch>
        </p:blipFill>
        <p:spPr>
          <a:xfrm>
            <a:off x="3889375" y="3352800"/>
            <a:ext cx="5064125" cy="32829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2533" name="Picture 6" descr="07b-Badwater_DeathV_congbrec">
            <a:extLst>
              <a:ext uri="{FF2B5EF4-FFF2-40B4-BE49-F238E27FC236}">
                <a16:creationId xmlns:a16="http://schemas.microsoft.com/office/drawing/2014/main" id="{257DEF10-D6AB-482B-A8C7-7D658047295C}"/>
              </a:ext>
            </a:extLst>
          </p:cNvPr>
          <p:cNvPicPr>
            <a:picLocks noGrp="1" noChangeAspect="1" noChangeArrowheads="1"/>
          </p:cNvPicPr>
          <p:nvPr>
            <p:ph sz="quarter" idx="3"/>
          </p:nvPr>
        </p:nvPicPr>
        <p:blipFill>
          <a:blip r:embed="rId4">
            <a:lum bright="-4000"/>
            <a:extLst>
              <a:ext uri="{28A0092B-C50C-407E-A947-70E740481C1C}">
                <a14:useLocalDpi xmlns:a14="http://schemas.microsoft.com/office/drawing/2010/main" val="0"/>
              </a:ext>
            </a:extLst>
          </a:blip>
          <a:srcRect/>
          <a:stretch>
            <a:fillRect/>
          </a:stretch>
        </p:blipFill>
        <p:spPr>
          <a:xfrm>
            <a:off x="227013" y="3352800"/>
            <a:ext cx="3467100" cy="25177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3176" name="Text Box 8">
            <a:extLst>
              <a:ext uri="{FF2B5EF4-FFF2-40B4-BE49-F238E27FC236}">
                <a16:creationId xmlns:a16="http://schemas.microsoft.com/office/drawing/2014/main" id="{92EFA6E1-A0CA-4791-9D72-559AFE6D38A5}"/>
              </a:ext>
            </a:extLst>
          </p:cNvPr>
          <p:cNvSpPr txBox="1">
            <a:spLocks noChangeArrowheads="1"/>
          </p:cNvSpPr>
          <p:nvPr/>
        </p:nvSpPr>
        <p:spPr bwMode="auto">
          <a:xfrm>
            <a:off x="501650" y="6035675"/>
            <a:ext cx="2970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sz="1400">
                <a:solidFill>
                  <a:srgbClr val="FFFF00"/>
                </a:solidFill>
                <a:effectLst>
                  <a:outerShdw blurRad="38100" dist="38100" dir="2700000" algn="tl">
                    <a:srgbClr val="000000"/>
                  </a:outerShdw>
                </a:effectLst>
                <a:latin typeface="Arial" charset="0"/>
              </a:rPr>
              <a:t>Badwater turtle-back, Death Valley</a:t>
            </a:r>
          </a:p>
        </p:txBody>
      </p:sp>
      <p:pic>
        <p:nvPicPr>
          <p:cNvPr id="22535" name="Picture 9" descr="07a3-Natural Bridge, Death Valley">
            <a:extLst>
              <a:ext uri="{FF2B5EF4-FFF2-40B4-BE49-F238E27FC236}">
                <a16:creationId xmlns:a16="http://schemas.microsoft.com/office/drawing/2014/main" id="{8235A5F5-6C95-4AF2-B85E-42DBCAB4A2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2325" y="892175"/>
            <a:ext cx="4319588" cy="22574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537" name="Freeform 9">
            <a:extLst>
              <a:ext uri="{FF2B5EF4-FFF2-40B4-BE49-F238E27FC236}">
                <a16:creationId xmlns:a16="http://schemas.microsoft.com/office/drawing/2014/main" id="{0CC591E6-6D48-4016-9488-F2C352EE177D}"/>
              </a:ext>
            </a:extLst>
          </p:cNvPr>
          <p:cNvSpPr>
            <a:spLocks/>
          </p:cNvSpPr>
          <p:nvPr/>
        </p:nvSpPr>
        <p:spPr bwMode="auto">
          <a:xfrm>
            <a:off x="4911725" y="3668713"/>
            <a:ext cx="393700" cy="115887"/>
          </a:xfrm>
          <a:custGeom>
            <a:avLst/>
            <a:gdLst>
              <a:gd name="T0" fmla="*/ 0 w 248"/>
              <a:gd name="T1" fmla="*/ 20 h 73"/>
              <a:gd name="T2" fmla="*/ 248 w 248"/>
              <a:gd name="T3" fmla="*/ 73 h 73"/>
              <a:gd name="T4" fmla="*/ 181 w 248"/>
              <a:gd name="T5" fmla="*/ 0 h 73"/>
            </a:gdLst>
            <a:ahLst/>
            <a:cxnLst>
              <a:cxn ang="0">
                <a:pos x="T0" y="T1"/>
              </a:cxn>
              <a:cxn ang="0">
                <a:pos x="T2" y="T3"/>
              </a:cxn>
              <a:cxn ang="0">
                <a:pos x="T4" y="T5"/>
              </a:cxn>
            </a:cxnLst>
            <a:rect l="0" t="0" r="r" b="b"/>
            <a:pathLst>
              <a:path w="248" h="73">
                <a:moveTo>
                  <a:pt x="0" y="20"/>
                </a:moveTo>
                <a:lnTo>
                  <a:pt x="248" y="73"/>
                </a:lnTo>
                <a:lnTo>
                  <a:pt x="181"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BA3802D-78BB-4BAE-9BC0-18121441E009}"/>
              </a:ext>
            </a:extLst>
          </p:cNvPr>
          <p:cNvSpPr>
            <a:spLocks noGrp="1" noChangeArrowheads="1"/>
          </p:cNvSpPr>
          <p:nvPr>
            <p:ph type="title"/>
          </p:nvPr>
        </p:nvSpPr>
        <p:spPr>
          <a:noFill/>
        </p:spPr>
        <p:txBody>
          <a:bodyPr/>
          <a:lstStyle/>
          <a:p>
            <a:r>
              <a:rPr lang="en-GB" altLang="en-US" dirty="0">
                <a:effectLst/>
              </a:rPr>
              <a:t>Shape of the fault surface: plana</a:t>
            </a:r>
            <a:r>
              <a:rPr lang="en-GB" altLang="en-US" spc="500" dirty="0">
                <a:effectLst/>
              </a:rPr>
              <a:t>r/</a:t>
            </a:r>
            <a:r>
              <a:rPr lang="en-GB" altLang="en-US" dirty="0" err="1">
                <a:effectLst/>
              </a:rPr>
              <a:t>listri</a:t>
            </a:r>
            <a:r>
              <a:rPr lang="en-GB" altLang="en-US" spc="500" dirty="0" err="1">
                <a:effectLst/>
              </a:rPr>
              <a:t>c</a:t>
            </a:r>
            <a:r>
              <a:rPr lang="en-GB" altLang="en-US" spc="500" dirty="0">
                <a:effectLst/>
              </a:rPr>
              <a:t>/</a:t>
            </a:r>
            <a:r>
              <a:rPr lang="en-GB" altLang="en-US" dirty="0" err="1">
                <a:effectLst/>
              </a:rPr>
              <a:t>antilistric</a:t>
            </a:r>
            <a:endParaRPr lang="en-GB" altLang="en-US" dirty="0">
              <a:effectLst/>
            </a:endParaRPr>
          </a:p>
        </p:txBody>
      </p:sp>
      <p:sp>
        <p:nvSpPr>
          <p:cNvPr id="23555" name="Rectangle 3">
            <a:extLst>
              <a:ext uri="{FF2B5EF4-FFF2-40B4-BE49-F238E27FC236}">
                <a16:creationId xmlns:a16="http://schemas.microsoft.com/office/drawing/2014/main" id="{2C8A74D7-3522-4A2F-B2E7-AB7188E4B9B3}"/>
              </a:ext>
            </a:extLst>
          </p:cNvPr>
          <p:cNvSpPr>
            <a:spLocks noGrp="1" noChangeArrowheads="1"/>
          </p:cNvSpPr>
          <p:nvPr>
            <p:ph type="body" sz="half" idx="1"/>
          </p:nvPr>
        </p:nvSpPr>
        <p:spPr>
          <a:xfrm>
            <a:off x="6537325" y="846138"/>
            <a:ext cx="2459038" cy="2293937"/>
          </a:xfrm>
          <a:noFill/>
        </p:spPr>
        <p:txBody>
          <a:bodyPr/>
          <a:lstStyle/>
          <a:p>
            <a:pPr marL="268288" indent="-268288"/>
            <a:r>
              <a:rPr lang="en-GB" altLang="en-US" sz="1700">
                <a:effectLst/>
              </a:rPr>
              <a:t>Extensional fault surfaces may be</a:t>
            </a:r>
          </a:p>
          <a:p>
            <a:pPr marL="268288" indent="-268288">
              <a:spcBef>
                <a:spcPct val="30000"/>
              </a:spcBef>
              <a:buFont typeface="Wingdings" panose="05000000000000000000" pitchFamily="2" charset="2"/>
              <a:buChar char="Ø"/>
            </a:pPr>
            <a:r>
              <a:rPr lang="en-GB" altLang="en-US" sz="1700">
                <a:solidFill>
                  <a:srgbClr val="FF6600"/>
                </a:solidFill>
                <a:effectLst/>
              </a:rPr>
              <a:t>planar</a:t>
            </a:r>
            <a:r>
              <a:rPr lang="en-GB" altLang="en-US" sz="1700">
                <a:effectLst/>
              </a:rPr>
              <a:t> (far left),</a:t>
            </a:r>
          </a:p>
          <a:p>
            <a:pPr marL="268288" indent="-268288">
              <a:spcBef>
                <a:spcPct val="30000"/>
              </a:spcBef>
              <a:buFont typeface="Wingdings" panose="05000000000000000000" pitchFamily="2" charset="2"/>
              <a:buChar char="Ø"/>
            </a:pPr>
            <a:r>
              <a:rPr lang="en-GB" altLang="en-US" sz="1700">
                <a:solidFill>
                  <a:srgbClr val="FF6600"/>
                </a:solidFill>
                <a:effectLst/>
              </a:rPr>
              <a:t>listric</a:t>
            </a:r>
            <a:r>
              <a:rPr lang="en-GB" altLang="en-US" sz="1700">
                <a:effectLst/>
              </a:rPr>
              <a:t> (below) or, </a:t>
            </a:r>
          </a:p>
          <a:p>
            <a:pPr marL="268288" indent="-268288">
              <a:spcBef>
                <a:spcPct val="30000"/>
              </a:spcBef>
              <a:buFont typeface="Wingdings" panose="05000000000000000000" pitchFamily="2" charset="2"/>
              <a:buChar char="Ø"/>
            </a:pPr>
            <a:r>
              <a:rPr lang="en-GB" altLang="en-US" sz="1700">
                <a:solidFill>
                  <a:srgbClr val="FF6600"/>
                </a:solidFill>
                <a:effectLst/>
              </a:rPr>
              <a:t>antilistric</a:t>
            </a:r>
            <a:r>
              <a:rPr lang="en-GB" altLang="en-US" sz="1700">
                <a:effectLst/>
              </a:rPr>
              <a:t> (left – fault on the right)</a:t>
            </a:r>
          </a:p>
        </p:txBody>
      </p:sp>
      <p:pic>
        <p:nvPicPr>
          <p:cNvPr id="23560" name="Picture 8" descr="07b1-Corton">
            <a:extLst>
              <a:ext uri="{FF2B5EF4-FFF2-40B4-BE49-F238E27FC236}">
                <a16:creationId xmlns:a16="http://schemas.microsoft.com/office/drawing/2014/main" id="{C8A60F3F-D9E1-4A0E-AD3B-E5104B361F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663" y="955675"/>
            <a:ext cx="3660775" cy="56324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3561" name="Picture 9" descr="07b2-NewtonAbbot_clay">
            <a:extLst>
              <a:ext uri="{FF2B5EF4-FFF2-40B4-BE49-F238E27FC236}">
                <a16:creationId xmlns:a16="http://schemas.microsoft.com/office/drawing/2014/main" id="{38419F88-A3E1-4EB3-8A45-AF362B5BD0AF}"/>
              </a:ext>
            </a:extLst>
          </p:cNvPr>
          <p:cNvPicPr>
            <a:picLocks noChangeAspect="1" noChangeArrowheads="1"/>
          </p:cNvPicPr>
          <p:nvPr/>
        </p:nvPicPr>
        <p:blipFill>
          <a:blip r:embed="rId4">
            <a:lum bright="-6000"/>
            <a:extLst>
              <a:ext uri="{28A0092B-C50C-407E-A947-70E740481C1C}">
                <a14:useLocalDpi xmlns:a14="http://schemas.microsoft.com/office/drawing/2010/main" val="0"/>
              </a:ext>
            </a:extLst>
          </a:blip>
          <a:srcRect/>
          <a:stretch>
            <a:fillRect/>
          </a:stretch>
        </p:blipFill>
        <p:spPr bwMode="auto">
          <a:xfrm>
            <a:off x="4059238" y="3567113"/>
            <a:ext cx="4498975" cy="30384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3562" name="Picture 10" descr="07b3-Mosaic Canyon, Death Valley">
            <a:extLst>
              <a:ext uri="{FF2B5EF4-FFF2-40B4-BE49-F238E27FC236}">
                <a16:creationId xmlns:a16="http://schemas.microsoft.com/office/drawing/2014/main" id="{D407BD0B-6783-47B0-AE96-E52816BA4B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59238" y="955675"/>
            <a:ext cx="2305050" cy="241776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483C540-F3DA-415F-BFC6-62699A63B6C4}"/>
              </a:ext>
            </a:extLst>
          </p:cNvPr>
          <p:cNvSpPr>
            <a:spLocks noGrp="1" noChangeArrowheads="1"/>
          </p:cNvSpPr>
          <p:nvPr>
            <p:ph type="title"/>
          </p:nvPr>
        </p:nvSpPr>
        <p:spPr>
          <a:noFill/>
        </p:spPr>
        <p:txBody>
          <a:bodyPr/>
          <a:lstStyle/>
          <a:p>
            <a:r>
              <a:rPr lang="en-GB" altLang="en-US" dirty="0">
                <a:effectLst/>
              </a:rPr>
              <a:t>Shape of the fault surface: ramp</a:t>
            </a:r>
            <a:r>
              <a:rPr lang="en-GB" altLang="en-US" spc="500" dirty="0">
                <a:effectLst/>
              </a:rPr>
              <a:t>s/</a:t>
            </a:r>
            <a:r>
              <a:rPr lang="en-GB" altLang="en-US" dirty="0">
                <a:effectLst/>
              </a:rPr>
              <a:t>flats</a:t>
            </a:r>
          </a:p>
        </p:txBody>
      </p:sp>
      <p:sp>
        <p:nvSpPr>
          <p:cNvPr id="24579" name="Rectangle 3">
            <a:extLst>
              <a:ext uri="{FF2B5EF4-FFF2-40B4-BE49-F238E27FC236}">
                <a16:creationId xmlns:a16="http://schemas.microsoft.com/office/drawing/2014/main" id="{1571E335-15A1-411B-BB22-991D5A9012D1}"/>
              </a:ext>
            </a:extLst>
          </p:cNvPr>
          <p:cNvSpPr>
            <a:spLocks noGrp="1" noChangeArrowheads="1"/>
          </p:cNvSpPr>
          <p:nvPr>
            <p:ph type="body" sz="half" idx="1"/>
          </p:nvPr>
        </p:nvSpPr>
        <p:spPr>
          <a:xfrm>
            <a:off x="133350" y="769938"/>
            <a:ext cx="6110288" cy="3060700"/>
          </a:xfrm>
          <a:noFill/>
        </p:spPr>
        <p:txBody>
          <a:bodyPr/>
          <a:lstStyle/>
          <a:p>
            <a:pPr marL="177800" indent="-177800"/>
            <a:r>
              <a:rPr lang="en-GB" altLang="en-US" sz="1700" dirty="0">
                <a:effectLst/>
              </a:rPr>
              <a:t>Large displacement extensional faults commonly have a </a:t>
            </a:r>
            <a:r>
              <a:rPr lang="en-GB" altLang="en-US" sz="1700" dirty="0">
                <a:solidFill>
                  <a:srgbClr val="FF6600"/>
                </a:solidFill>
                <a:effectLst/>
              </a:rPr>
              <a:t>ramp-flat-ramp</a:t>
            </a:r>
            <a:r>
              <a:rPr lang="en-GB" altLang="en-US" sz="1700" dirty="0">
                <a:effectLst/>
              </a:rPr>
              <a:t> geometry</a:t>
            </a:r>
          </a:p>
          <a:p>
            <a:pPr marL="177800" indent="-177800">
              <a:spcBef>
                <a:spcPct val="65000"/>
              </a:spcBef>
            </a:pPr>
            <a:r>
              <a:rPr lang="en-GB" altLang="en-US" sz="1700" dirty="0">
                <a:effectLst/>
              </a:rPr>
              <a:t>In experiments it has been shown that such geometries arise when </a:t>
            </a:r>
            <a:r>
              <a:rPr lang="en-GB" altLang="en-US" sz="1700" dirty="0">
                <a:solidFill>
                  <a:srgbClr val="FF66FF"/>
                </a:solidFill>
                <a:effectLst/>
              </a:rPr>
              <a:t>two steep fault</a:t>
            </a:r>
            <a:r>
              <a:rPr lang="en-GB" altLang="en-US" sz="1700" dirty="0">
                <a:effectLst/>
              </a:rPr>
              <a:t> segments link up along a weak horizon</a:t>
            </a:r>
          </a:p>
          <a:p>
            <a:pPr marL="177800" indent="-177800">
              <a:spcBef>
                <a:spcPct val="65000"/>
              </a:spcBef>
            </a:pPr>
            <a:r>
              <a:rPr lang="en-GB" altLang="en-US" sz="1700" dirty="0">
                <a:effectLst/>
              </a:rPr>
              <a:t>The orientation of the ramp with respect to the transport direction gives rise to the same </a:t>
            </a:r>
            <a:r>
              <a:rPr lang="en-GB" altLang="en-US" sz="1700" dirty="0">
                <a:solidFill>
                  <a:srgbClr val="FF66FF"/>
                </a:solidFill>
                <a:effectLst/>
              </a:rPr>
              <a:t>fronta</a:t>
            </a:r>
            <a:r>
              <a:rPr lang="en-GB" altLang="en-US" sz="1700" spc="300" dirty="0">
                <a:solidFill>
                  <a:srgbClr val="FF66FF"/>
                </a:solidFill>
                <a:effectLst/>
              </a:rPr>
              <a:t>l/</a:t>
            </a:r>
            <a:r>
              <a:rPr lang="en-GB" altLang="en-US" sz="1700" dirty="0">
                <a:solidFill>
                  <a:srgbClr val="FF66FF"/>
                </a:solidFill>
                <a:effectLst/>
              </a:rPr>
              <a:t>obliqu</a:t>
            </a:r>
            <a:r>
              <a:rPr lang="en-GB" altLang="en-US" sz="1700" spc="300" dirty="0">
                <a:solidFill>
                  <a:srgbClr val="FF66FF"/>
                </a:solidFill>
                <a:effectLst/>
              </a:rPr>
              <a:t>e/</a:t>
            </a:r>
            <a:r>
              <a:rPr lang="en-GB" altLang="en-US" sz="1700" dirty="0">
                <a:solidFill>
                  <a:srgbClr val="FF66FF"/>
                </a:solidFill>
                <a:effectLst/>
              </a:rPr>
              <a:t>lateral</a:t>
            </a:r>
            <a:r>
              <a:rPr lang="en-GB" altLang="en-US" sz="1700" dirty="0">
                <a:effectLst/>
              </a:rPr>
              <a:t> terms that are used to describe ramps in thrust systems</a:t>
            </a:r>
          </a:p>
        </p:txBody>
      </p:sp>
      <p:grpSp>
        <p:nvGrpSpPr>
          <p:cNvPr id="24580" name="Group 9">
            <a:extLst>
              <a:ext uri="{FF2B5EF4-FFF2-40B4-BE49-F238E27FC236}">
                <a16:creationId xmlns:a16="http://schemas.microsoft.com/office/drawing/2014/main" id="{D114A1EF-37BF-41D2-B920-80599BFB74DF}"/>
              </a:ext>
            </a:extLst>
          </p:cNvPr>
          <p:cNvGrpSpPr>
            <a:grpSpLocks/>
          </p:cNvGrpSpPr>
          <p:nvPr/>
        </p:nvGrpSpPr>
        <p:grpSpPr bwMode="auto">
          <a:xfrm>
            <a:off x="6383338" y="847725"/>
            <a:ext cx="2452687" cy="5862638"/>
            <a:chOff x="4003" y="500"/>
            <a:chExt cx="1569" cy="3750"/>
          </a:xfrm>
        </p:grpSpPr>
        <p:sp>
          <p:nvSpPr>
            <p:cNvPr id="224264" name="Rectangle 8">
              <a:extLst>
                <a:ext uri="{FF2B5EF4-FFF2-40B4-BE49-F238E27FC236}">
                  <a16:creationId xmlns:a16="http://schemas.microsoft.com/office/drawing/2014/main" id="{61775CE1-1563-4482-B5B3-96CE80E6DE33}"/>
                </a:ext>
              </a:extLst>
            </p:cNvPr>
            <p:cNvSpPr>
              <a:spLocks noChangeArrowheads="1"/>
            </p:cNvSpPr>
            <p:nvPr/>
          </p:nvSpPr>
          <p:spPr bwMode="auto">
            <a:xfrm>
              <a:off x="4003" y="500"/>
              <a:ext cx="1569" cy="375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24586" name="Picture 2" descr="GR09.jpg">
              <a:extLst>
                <a:ext uri="{FF2B5EF4-FFF2-40B4-BE49-F238E27FC236}">
                  <a16:creationId xmlns:a16="http://schemas.microsoft.com/office/drawing/2014/main" id="{1A5A3CEB-0CA2-4516-B495-84559D28FA1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52" y="555"/>
              <a:ext cx="1477" cy="3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24588" name="Picture 12" descr="12a2">
            <a:extLst>
              <a:ext uri="{FF2B5EF4-FFF2-40B4-BE49-F238E27FC236}">
                <a16:creationId xmlns:a16="http://schemas.microsoft.com/office/drawing/2014/main" id="{270D01FA-3472-4337-B7DA-2521A9C581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963" y="3838575"/>
            <a:ext cx="5441950" cy="286543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78" name="Rectangle 18">
            <a:extLst>
              <a:ext uri="{FF2B5EF4-FFF2-40B4-BE49-F238E27FC236}">
                <a16:creationId xmlns:a16="http://schemas.microsoft.com/office/drawing/2014/main" id="{9F8F2E9F-AA0E-4839-9085-FA224046B6CC}"/>
              </a:ext>
            </a:extLst>
          </p:cNvPr>
          <p:cNvSpPr>
            <a:spLocks noChangeArrowheads="1"/>
          </p:cNvSpPr>
          <p:nvPr/>
        </p:nvSpPr>
        <p:spPr bwMode="auto">
          <a:xfrm>
            <a:off x="4879975" y="989013"/>
            <a:ext cx="4105275" cy="260032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25603" name="Rectangle 2">
            <a:extLst>
              <a:ext uri="{FF2B5EF4-FFF2-40B4-BE49-F238E27FC236}">
                <a16:creationId xmlns:a16="http://schemas.microsoft.com/office/drawing/2014/main" id="{484696EB-A9D9-42D3-9638-C3799A2C87E7}"/>
              </a:ext>
            </a:extLst>
          </p:cNvPr>
          <p:cNvSpPr>
            <a:spLocks noGrp="1" noChangeArrowheads="1"/>
          </p:cNvSpPr>
          <p:nvPr>
            <p:ph type="title"/>
          </p:nvPr>
        </p:nvSpPr>
        <p:spPr>
          <a:noFill/>
        </p:spPr>
        <p:txBody>
          <a:bodyPr/>
          <a:lstStyle/>
          <a:p>
            <a:r>
              <a:rPr lang="en-GB" altLang="en-US">
                <a:effectLst/>
              </a:rPr>
              <a:t>Fault systems: imbrication and duplexes</a:t>
            </a:r>
          </a:p>
        </p:txBody>
      </p:sp>
      <p:sp>
        <p:nvSpPr>
          <p:cNvPr id="25604" name="Rectangle 3">
            <a:extLst>
              <a:ext uri="{FF2B5EF4-FFF2-40B4-BE49-F238E27FC236}">
                <a16:creationId xmlns:a16="http://schemas.microsoft.com/office/drawing/2014/main" id="{7583383F-38F0-4670-B004-1B156F65CC4C}"/>
              </a:ext>
            </a:extLst>
          </p:cNvPr>
          <p:cNvSpPr>
            <a:spLocks noGrp="1" noChangeArrowheads="1"/>
          </p:cNvSpPr>
          <p:nvPr>
            <p:ph type="body" sz="half" idx="1"/>
          </p:nvPr>
        </p:nvSpPr>
        <p:spPr>
          <a:xfrm>
            <a:off x="115888" y="854075"/>
            <a:ext cx="4579937" cy="2800350"/>
          </a:xfrm>
          <a:noFill/>
        </p:spPr>
        <p:txBody>
          <a:bodyPr/>
          <a:lstStyle/>
          <a:p>
            <a:pPr marL="177800" indent="-177800"/>
            <a:r>
              <a:rPr lang="en-GB" altLang="en-US" sz="1700" dirty="0">
                <a:effectLst/>
              </a:rPr>
              <a:t>Sets of </a:t>
            </a:r>
            <a:r>
              <a:rPr lang="en-GB" altLang="en-US" sz="1700" dirty="0" err="1">
                <a:effectLst/>
              </a:rPr>
              <a:t>listric</a:t>
            </a:r>
            <a:r>
              <a:rPr lang="en-GB" altLang="en-US" sz="1700" dirty="0">
                <a:effectLst/>
              </a:rPr>
              <a:t> extensional faults that merge down into a detachment form </a:t>
            </a:r>
            <a:r>
              <a:rPr lang="en-GB" altLang="en-US" sz="1700" dirty="0">
                <a:solidFill>
                  <a:srgbClr val="FF6600"/>
                </a:solidFill>
                <a:effectLst/>
              </a:rPr>
              <a:t>extensional imbricate fans</a:t>
            </a:r>
            <a:r>
              <a:rPr lang="en-GB" altLang="en-US" sz="1700" dirty="0">
                <a:effectLst/>
              </a:rPr>
              <a:t>; if they also merge upwards into an extensional roof fault, they form an </a:t>
            </a:r>
            <a:r>
              <a:rPr lang="en-GB" altLang="en-US" sz="1700" dirty="0">
                <a:solidFill>
                  <a:srgbClr val="FF6600"/>
                </a:solidFill>
                <a:effectLst/>
              </a:rPr>
              <a:t>extensional duplex</a:t>
            </a:r>
          </a:p>
          <a:p>
            <a:pPr marL="177800" indent="-177800">
              <a:spcBef>
                <a:spcPct val="75000"/>
              </a:spcBef>
            </a:pPr>
            <a:r>
              <a:rPr lang="en-GB" altLang="en-US" sz="1700" dirty="0">
                <a:effectLst/>
              </a:rPr>
              <a:t>The term</a:t>
            </a:r>
            <a:r>
              <a:rPr lang="en-GB" altLang="en-US" sz="1700" dirty="0">
                <a:solidFill>
                  <a:srgbClr val="FF6600"/>
                </a:solidFill>
                <a:effectLst/>
              </a:rPr>
              <a:t> horse </a:t>
            </a:r>
            <a:r>
              <a:rPr lang="en-GB" altLang="en-US" sz="1700" dirty="0">
                <a:effectLst/>
              </a:rPr>
              <a:t>applies for the fault bound blocks within a duplex; the term</a:t>
            </a:r>
            <a:r>
              <a:rPr lang="en-GB" altLang="en-US" sz="1700" dirty="0">
                <a:solidFill>
                  <a:srgbClr val="FF6600"/>
                </a:solidFill>
                <a:effectLst/>
              </a:rPr>
              <a:t> rider </a:t>
            </a:r>
            <a:r>
              <a:rPr lang="en-GB" altLang="en-US" sz="1700" dirty="0">
                <a:effectLst/>
              </a:rPr>
              <a:t>is used for the fault blocks in an imbricate fan</a:t>
            </a:r>
          </a:p>
        </p:txBody>
      </p:sp>
      <p:grpSp>
        <p:nvGrpSpPr>
          <p:cNvPr id="25605" name="Group 15">
            <a:extLst>
              <a:ext uri="{FF2B5EF4-FFF2-40B4-BE49-F238E27FC236}">
                <a16:creationId xmlns:a16="http://schemas.microsoft.com/office/drawing/2014/main" id="{89977DC4-A3BB-4315-9400-D4A809758BD7}"/>
              </a:ext>
            </a:extLst>
          </p:cNvPr>
          <p:cNvGrpSpPr>
            <a:grpSpLocks/>
          </p:cNvGrpSpPr>
          <p:nvPr/>
        </p:nvGrpSpPr>
        <p:grpSpPr bwMode="auto">
          <a:xfrm>
            <a:off x="182563" y="3933825"/>
            <a:ext cx="8807450" cy="2662238"/>
            <a:chOff x="111" y="2521"/>
            <a:chExt cx="5536" cy="1673"/>
          </a:xfrm>
        </p:grpSpPr>
        <p:pic>
          <p:nvPicPr>
            <p:cNvPr id="25607" name="Picture 4" descr="07b1-BasinRange">
              <a:extLst>
                <a:ext uri="{FF2B5EF4-FFF2-40B4-BE49-F238E27FC236}">
                  <a16:creationId xmlns:a16="http://schemas.microsoft.com/office/drawing/2014/main" id="{02D61DA8-D0FC-4E8C-89A5-901C3B232C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 y="2521"/>
              <a:ext cx="5536" cy="1673"/>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1366" name="Freeform 6">
              <a:extLst>
                <a:ext uri="{FF2B5EF4-FFF2-40B4-BE49-F238E27FC236}">
                  <a16:creationId xmlns:a16="http://schemas.microsoft.com/office/drawing/2014/main" id="{156F9CEC-74B6-4CCD-A6C1-2EDA95BBE9BD}"/>
                </a:ext>
              </a:extLst>
            </p:cNvPr>
            <p:cNvSpPr>
              <a:spLocks/>
            </p:cNvSpPr>
            <p:nvPr/>
          </p:nvSpPr>
          <p:spPr bwMode="auto">
            <a:xfrm>
              <a:off x="2505" y="2880"/>
              <a:ext cx="188" cy="135"/>
            </a:xfrm>
            <a:custGeom>
              <a:avLst/>
              <a:gdLst>
                <a:gd name="T0" fmla="*/ 0 w 186"/>
                <a:gd name="T1" fmla="*/ 135 h 135"/>
                <a:gd name="T2" fmla="*/ 93 w 186"/>
                <a:gd name="T3" fmla="*/ 78 h 135"/>
                <a:gd name="T4" fmla="*/ 186 w 186"/>
                <a:gd name="T5" fmla="*/ 0 h 135"/>
              </a:gdLst>
              <a:ahLst/>
              <a:cxnLst>
                <a:cxn ang="0">
                  <a:pos x="T0" y="T1"/>
                </a:cxn>
                <a:cxn ang="0">
                  <a:pos x="T2" y="T3"/>
                </a:cxn>
                <a:cxn ang="0">
                  <a:pos x="T4" y="T5"/>
                </a:cxn>
              </a:cxnLst>
              <a:rect l="0" t="0" r="r" b="b"/>
              <a:pathLst>
                <a:path w="186" h="135">
                  <a:moveTo>
                    <a:pt x="0" y="135"/>
                  </a:moveTo>
                  <a:cubicBezTo>
                    <a:pt x="31" y="117"/>
                    <a:pt x="62" y="100"/>
                    <a:pt x="93" y="78"/>
                  </a:cubicBezTo>
                  <a:cubicBezTo>
                    <a:pt x="124" y="56"/>
                    <a:pt x="155" y="28"/>
                    <a:pt x="186" y="0"/>
                  </a:cubicBezTo>
                </a:path>
              </a:pathLst>
            </a:custGeom>
            <a:noFill/>
            <a:ln w="19050" cap="flat" cmpd="sng">
              <a:solidFill>
                <a:schemeClr val="bg2"/>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271367" name="Freeform 7">
              <a:extLst>
                <a:ext uri="{FF2B5EF4-FFF2-40B4-BE49-F238E27FC236}">
                  <a16:creationId xmlns:a16="http://schemas.microsoft.com/office/drawing/2014/main" id="{6F2959FC-5CE4-44D1-8C03-BCB08658204A}"/>
                </a:ext>
              </a:extLst>
            </p:cNvPr>
            <p:cNvSpPr>
              <a:spLocks/>
            </p:cNvSpPr>
            <p:nvPr/>
          </p:nvSpPr>
          <p:spPr bwMode="auto">
            <a:xfrm>
              <a:off x="5238" y="3498"/>
              <a:ext cx="279" cy="98"/>
            </a:xfrm>
            <a:custGeom>
              <a:avLst/>
              <a:gdLst>
                <a:gd name="T0" fmla="*/ 0 w 279"/>
                <a:gd name="T1" fmla="*/ 96 h 96"/>
                <a:gd name="T2" fmla="*/ 147 w 279"/>
                <a:gd name="T3" fmla="*/ 60 h 96"/>
                <a:gd name="T4" fmla="*/ 279 w 279"/>
                <a:gd name="T5" fmla="*/ 0 h 96"/>
              </a:gdLst>
              <a:ahLst/>
              <a:cxnLst>
                <a:cxn ang="0">
                  <a:pos x="T0" y="T1"/>
                </a:cxn>
                <a:cxn ang="0">
                  <a:pos x="T2" y="T3"/>
                </a:cxn>
                <a:cxn ang="0">
                  <a:pos x="T4" y="T5"/>
                </a:cxn>
              </a:cxnLst>
              <a:rect l="0" t="0" r="r" b="b"/>
              <a:pathLst>
                <a:path w="279" h="96">
                  <a:moveTo>
                    <a:pt x="0" y="96"/>
                  </a:moveTo>
                  <a:cubicBezTo>
                    <a:pt x="50" y="86"/>
                    <a:pt x="101" y="76"/>
                    <a:pt x="147" y="60"/>
                  </a:cubicBezTo>
                  <a:cubicBezTo>
                    <a:pt x="193" y="44"/>
                    <a:pt x="236" y="22"/>
                    <a:pt x="279" y="0"/>
                  </a:cubicBezTo>
                </a:path>
              </a:pathLst>
            </a:custGeom>
            <a:noFill/>
            <a:ln w="19050" cap="flat" cmpd="sng">
              <a:solidFill>
                <a:schemeClr val="bg2"/>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271368" name="Freeform 8">
              <a:extLst>
                <a:ext uri="{FF2B5EF4-FFF2-40B4-BE49-F238E27FC236}">
                  <a16:creationId xmlns:a16="http://schemas.microsoft.com/office/drawing/2014/main" id="{8D112A0D-991B-417E-8C7E-67D921EAB919}"/>
                </a:ext>
              </a:extLst>
            </p:cNvPr>
            <p:cNvSpPr>
              <a:spLocks/>
            </p:cNvSpPr>
            <p:nvPr/>
          </p:nvSpPr>
          <p:spPr bwMode="auto">
            <a:xfrm>
              <a:off x="2541" y="2889"/>
              <a:ext cx="90" cy="63"/>
            </a:xfrm>
            <a:custGeom>
              <a:avLst/>
              <a:gdLst>
                <a:gd name="T0" fmla="*/ 90 w 90"/>
                <a:gd name="T1" fmla="*/ 0 h 63"/>
                <a:gd name="T2" fmla="*/ 0 w 90"/>
                <a:gd name="T3" fmla="*/ 63 h 63"/>
                <a:gd name="T4" fmla="*/ 12 w 90"/>
                <a:gd name="T5" fmla="*/ 24 h 63"/>
              </a:gdLst>
              <a:ahLst/>
              <a:cxnLst>
                <a:cxn ang="0">
                  <a:pos x="T0" y="T1"/>
                </a:cxn>
                <a:cxn ang="0">
                  <a:pos x="T2" y="T3"/>
                </a:cxn>
                <a:cxn ang="0">
                  <a:pos x="T4" y="T5"/>
                </a:cxn>
              </a:cxnLst>
              <a:rect l="0" t="0" r="r" b="b"/>
              <a:pathLst>
                <a:path w="90" h="63">
                  <a:moveTo>
                    <a:pt x="90" y="0"/>
                  </a:moveTo>
                  <a:lnTo>
                    <a:pt x="0" y="63"/>
                  </a:lnTo>
                  <a:lnTo>
                    <a:pt x="12" y="24"/>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271369" name="Freeform 9">
              <a:extLst>
                <a:ext uri="{FF2B5EF4-FFF2-40B4-BE49-F238E27FC236}">
                  <a16:creationId xmlns:a16="http://schemas.microsoft.com/office/drawing/2014/main" id="{E9A9AC55-F7D4-48BD-B4CB-EBDE95B5761B}"/>
                </a:ext>
              </a:extLst>
            </p:cNvPr>
            <p:cNvSpPr>
              <a:spLocks/>
            </p:cNvSpPr>
            <p:nvPr/>
          </p:nvSpPr>
          <p:spPr bwMode="auto">
            <a:xfrm rot="1061694">
              <a:off x="5323" y="3487"/>
              <a:ext cx="90" cy="63"/>
            </a:xfrm>
            <a:custGeom>
              <a:avLst/>
              <a:gdLst>
                <a:gd name="T0" fmla="*/ 90 w 90"/>
                <a:gd name="T1" fmla="*/ 0 h 63"/>
                <a:gd name="T2" fmla="*/ 0 w 90"/>
                <a:gd name="T3" fmla="*/ 63 h 63"/>
                <a:gd name="T4" fmla="*/ 12 w 90"/>
                <a:gd name="T5" fmla="*/ 24 h 63"/>
              </a:gdLst>
              <a:ahLst/>
              <a:cxnLst>
                <a:cxn ang="0">
                  <a:pos x="T0" y="T1"/>
                </a:cxn>
                <a:cxn ang="0">
                  <a:pos x="T2" y="T3"/>
                </a:cxn>
                <a:cxn ang="0">
                  <a:pos x="T4" y="T5"/>
                </a:cxn>
              </a:cxnLst>
              <a:rect l="0" t="0" r="r" b="b"/>
              <a:pathLst>
                <a:path w="90" h="63">
                  <a:moveTo>
                    <a:pt x="90" y="0"/>
                  </a:moveTo>
                  <a:lnTo>
                    <a:pt x="0" y="63"/>
                  </a:lnTo>
                  <a:lnTo>
                    <a:pt x="12" y="24"/>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271370" name="Freeform 10">
              <a:extLst>
                <a:ext uri="{FF2B5EF4-FFF2-40B4-BE49-F238E27FC236}">
                  <a16:creationId xmlns:a16="http://schemas.microsoft.com/office/drawing/2014/main" id="{11AD90CE-42E9-41F2-BE2D-254658588268}"/>
                </a:ext>
              </a:extLst>
            </p:cNvPr>
            <p:cNvSpPr>
              <a:spLocks noChangeAspect="1"/>
            </p:cNvSpPr>
            <p:nvPr/>
          </p:nvSpPr>
          <p:spPr bwMode="auto">
            <a:xfrm rot="2854160">
              <a:off x="5208" y="3828"/>
              <a:ext cx="170" cy="122"/>
            </a:xfrm>
            <a:custGeom>
              <a:avLst/>
              <a:gdLst>
                <a:gd name="T0" fmla="*/ 90 w 90"/>
                <a:gd name="T1" fmla="*/ 0 h 63"/>
                <a:gd name="T2" fmla="*/ 0 w 90"/>
                <a:gd name="T3" fmla="*/ 63 h 63"/>
                <a:gd name="T4" fmla="*/ 12 w 90"/>
                <a:gd name="T5" fmla="*/ 24 h 63"/>
              </a:gdLst>
              <a:ahLst/>
              <a:cxnLst>
                <a:cxn ang="0">
                  <a:pos x="T0" y="T1"/>
                </a:cxn>
                <a:cxn ang="0">
                  <a:pos x="T2" y="T3"/>
                </a:cxn>
                <a:cxn ang="0">
                  <a:pos x="T4" y="T5"/>
                </a:cxn>
              </a:cxnLst>
              <a:rect l="0" t="0" r="r" b="b"/>
              <a:pathLst>
                <a:path w="90" h="63">
                  <a:moveTo>
                    <a:pt x="90" y="0"/>
                  </a:moveTo>
                  <a:lnTo>
                    <a:pt x="0" y="63"/>
                  </a:lnTo>
                  <a:lnTo>
                    <a:pt x="12" y="24"/>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grpSp>
      <p:pic>
        <p:nvPicPr>
          <p:cNvPr id="25606" name="Picture 2" descr="GR10.jpg">
            <a:extLst>
              <a:ext uri="{FF2B5EF4-FFF2-40B4-BE49-F238E27FC236}">
                <a16:creationId xmlns:a16="http://schemas.microsoft.com/office/drawing/2014/main" id="{11B4380C-A561-43CE-9C71-016B95450B70}"/>
              </a:ext>
            </a:extLst>
          </p:cNvPr>
          <p:cNvPicPr>
            <a:picLocks noGrp="1" noChangeAspect="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962525" y="1073150"/>
            <a:ext cx="3937000" cy="2451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6F0E72D0-1473-445D-A50C-EE797E336301}"/>
              </a:ext>
            </a:extLst>
          </p:cNvPr>
          <p:cNvSpPr>
            <a:spLocks noGrp="1" noChangeArrowheads="1"/>
          </p:cNvSpPr>
          <p:nvPr>
            <p:ph type="title"/>
          </p:nvPr>
        </p:nvSpPr>
        <p:spPr>
          <a:noFill/>
        </p:spPr>
        <p:txBody>
          <a:bodyPr/>
          <a:lstStyle/>
          <a:p>
            <a:r>
              <a:rPr lang="en-GB" altLang="en-US" dirty="0">
                <a:effectLst/>
              </a:rPr>
              <a:t>Fault systems: antitheti</a:t>
            </a:r>
            <a:r>
              <a:rPr lang="en-GB" altLang="en-US" spc="500" dirty="0">
                <a:effectLst/>
              </a:rPr>
              <a:t>c/</a:t>
            </a:r>
            <a:r>
              <a:rPr lang="en-GB" altLang="en-US" dirty="0">
                <a:effectLst/>
              </a:rPr>
              <a:t>synthetic faults</a:t>
            </a:r>
          </a:p>
        </p:txBody>
      </p:sp>
      <p:sp>
        <p:nvSpPr>
          <p:cNvPr id="26627" name="Rectangle 3">
            <a:extLst>
              <a:ext uri="{FF2B5EF4-FFF2-40B4-BE49-F238E27FC236}">
                <a16:creationId xmlns:a16="http://schemas.microsoft.com/office/drawing/2014/main" id="{D6866CED-41DF-454C-A57E-988339208FE4}"/>
              </a:ext>
            </a:extLst>
          </p:cNvPr>
          <p:cNvSpPr>
            <a:spLocks noGrp="1" noChangeArrowheads="1"/>
          </p:cNvSpPr>
          <p:nvPr>
            <p:ph type="body" sz="half" idx="1"/>
          </p:nvPr>
        </p:nvSpPr>
        <p:spPr>
          <a:xfrm>
            <a:off x="80063" y="788988"/>
            <a:ext cx="2304792" cy="5821877"/>
          </a:xfrm>
          <a:noFill/>
        </p:spPr>
        <p:txBody>
          <a:bodyPr/>
          <a:lstStyle/>
          <a:p>
            <a:pPr marL="177800" indent="-177800"/>
            <a:r>
              <a:rPr lang="en-GB" altLang="en-US" sz="1700" dirty="0">
                <a:effectLst/>
              </a:rPr>
              <a:t>Commonly, in extensional fault systems significant displacement occurs on </a:t>
            </a:r>
            <a:r>
              <a:rPr lang="en-GB" altLang="en-US" sz="1700" dirty="0">
                <a:solidFill>
                  <a:srgbClr val="FF66FF"/>
                </a:solidFill>
                <a:effectLst/>
              </a:rPr>
              <a:t>smaller scale faults</a:t>
            </a:r>
            <a:r>
              <a:rPr lang="en-GB" altLang="en-US" sz="1700" dirty="0">
                <a:effectLst/>
              </a:rPr>
              <a:t> within the hanging wall of the main fault</a:t>
            </a:r>
          </a:p>
          <a:p>
            <a:pPr marL="177800" indent="-177800">
              <a:spcBef>
                <a:spcPts val="1200"/>
              </a:spcBef>
            </a:pPr>
            <a:r>
              <a:rPr lang="en-GB" altLang="en-US" sz="1700" dirty="0">
                <a:effectLst/>
              </a:rPr>
              <a:t>If the smaller faults are ~ parallel to the main fault and have the same sense of shear, they are </a:t>
            </a:r>
            <a:r>
              <a:rPr lang="en-GB" altLang="en-US" sz="1700" dirty="0">
                <a:solidFill>
                  <a:srgbClr val="FF6600"/>
                </a:solidFill>
                <a:effectLst/>
              </a:rPr>
              <a:t>synthetic faults</a:t>
            </a:r>
            <a:r>
              <a:rPr lang="en-GB" altLang="en-US" sz="1700" dirty="0">
                <a:effectLst/>
              </a:rPr>
              <a:t>; if they are in the </a:t>
            </a:r>
            <a:r>
              <a:rPr lang="en-GB" altLang="en-US" sz="1700" dirty="0">
                <a:solidFill>
                  <a:srgbClr val="FF66FF"/>
                </a:solidFill>
                <a:effectLst/>
              </a:rPr>
              <a:t>conjugate</a:t>
            </a:r>
            <a:r>
              <a:rPr lang="en-GB" altLang="en-US" sz="1700" dirty="0">
                <a:effectLst/>
              </a:rPr>
              <a:t> orientation, they are </a:t>
            </a:r>
            <a:r>
              <a:rPr lang="en-GB" altLang="en-US" sz="1700" dirty="0">
                <a:solidFill>
                  <a:srgbClr val="FF6600"/>
                </a:solidFill>
                <a:effectLst/>
              </a:rPr>
              <a:t>antithetic faults</a:t>
            </a:r>
          </a:p>
        </p:txBody>
      </p:sp>
      <p:sp>
        <p:nvSpPr>
          <p:cNvPr id="225288" name="Text Box 8">
            <a:extLst>
              <a:ext uri="{FF2B5EF4-FFF2-40B4-BE49-F238E27FC236}">
                <a16:creationId xmlns:a16="http://schemas.microsoft.com/office/drawing/2014/main" id="{6B20DAFD-8C5D-410B-A7E2-54B00F525793}"/>
              </a:ext>
            </a:extLst>
          </p:cNvPr>
          <p:cNvSpPr txBox="1">
            <a:spLocks noChangeArrowheads="1"/>
          </p:cNvSpPr>
          <p:nvPr/>
        </p:nvSpPr>
        <p:spPr bwMode="auto">
          <a:xfrm>
            <a:off x="2782094" y="4176713"/>
            <a:ext cx="1841500"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defRPr/>
            </a:pPr>
            <a:r>
              <a:rPr lang="en-GB" sz="1400" dirty="0">
                <a:solidFill>
                  <a:srgbClr val="FFFF00"/>
                </a:solidFill>
                <a:effectLst>
                  <a:outerShdw blurRad="38100" dist="38100" dir="2700000" algn="tl">
                    <a:srgbClr val="000000"/>
                  </a:outerShdw>
                </a:effectLst>
                <a:latin typeface="Arial" charset="0"/>
              </a:rPr>
              <a:t>Section across a </a:t>
            </a:r>
            <a:r>
              <a:rPr lang="en-GB" sz="1400" dirty="0" err="1">
                <a:solidFill>
                  <a:srgbClr val="FFFF00"/>
                </a:solidFill>
                <a:effectLst>
                  <a:outerShdw blurRad="38100" dist="38100" dir="2700000" algn="tl">
                    <a:srgbClr val="000000"/>
                  </a:outerShdw>
                </a:effectLst>
                <a:latin typeface="Arial" charset="0"/>
              </a:rPr>
              <a:t>listric</a:t>
            </a:r>
            <a:r>
              <a:rPr lang="en-GB" sz="1400" dirty="0">
                <a:solidFill>
                  <a:srgbClr val="FFFF00"/>
                </a:solidFill>
                <a:effectLst>
                  <a:outerShdw blurRad="38100" dist="38100" dir="2700000" algn="tl">
                    <a:srgbClr val="000000"/>
                  </a:outerShdw>
                </a:effectLst>
                <a:latin typeface="Arial" charset="0"/>
              </a:rPr>
              <a:t> fault system from the Gulf of Mexico together with the seismic data used to construct it</a:t>
            </a:r>
          </a:p>
        </p:txBody>
      </p:sp>
      <p:pic>
        <p:nvPicPr>
          <p:cNvPr id="26634" name="Picture 10" descr="12c1b">
            <a:extLst>
              <a:ext uri="{FF2B5EF4-FFF2-40B4-BE49-F238E27FC236}">
                <a16:creationId xmlns:a16="http://schemas.microsoft.com/office/drawing/2014/main" id="{1F7A6CB1-B99D-4332-9869-4D3138156D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0328" y="4185165"/>
            <a:ext cx="3957637" cy="24257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9CF1995A-7E26-4B30-C90D-37C2E4C3AD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33133" y="927873"/>
            <a:ext cx="6444305" cy="3077225"/>
          </a:xfrm>
          <a:prstGeom prst="rect">
            <a:avLst/>
          </a:prstGeom>
          <a:ln w="38100">
            <a:solidFill>
              <a:schemeClr val="bg2"/>
            </a:solidFill>
          </a:ln>
        </p:spPr>
      </p:pic>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2">
            <a:extLst>
              <a:ext uri="{FF2B5EF4-FFF2-40B4-BE49-F238E27FC236}">
                <a16:creationId xmlns:a16="http://schemas.microsoft.com/office/drawing/2014/main" id="{AE197E31-30FA-4815-BA63-8EEFA1064F1D}"/>
              </a:ext>
            </a:extLst>
          </p:cNvPr>
          <p:cNvSpPr>
            <a:spLocks noGrp="1" noChangeArrowheads="1"/>
          </p:cNvSpPr>
          <p:nvPr>
            <p:ph type="title" idx="4294967295"/>
          </p:nvPr>
        </p:nvSpPr>
        <p:spPr>
          <a:noFill/>
        </p:spPr>
        <p:txBody>
          <a:bodyPr/>
          <a:lstStyle/>
          <a:p>
            <a:r>
              <a:rPr lang="en-GB" altLang="en-US" dirty="0">
                <a:effectLst/>
              </a:rPr>
              <a:t>Fault systems: horst</a:t>
            </a:r>
            <a:r>
              <a:rPr lang="en-GB" altLang="en-US" spc="500" dirty="0">
                <a:effectLst/>
              </a:rPr>
              <a:t>s/</a:t>
            </a:r>
            <a:r>
              <a:rPr lang="en-GB" altLang="en-US" dirty="0">
                <a:effectLst/>
              </a:rPr>
              <a:t>grabens</a:t>
            </a:r>
          </a:p>
        </p:txBody>
      </p:sp>
      <p:sp>
        <p:nvSpPr>
          <p:cNvPr id="119812" name="Rectangle 3">
            <a:extLst>
              <a:ext uri="{FF2B5EF4-FFF2-40B4-BE49-F238E27FC236}">
                <a16:creationId xmlns:a16="http://schemas.microsoft.com/office/drawing/2014/main" id="{A8428EA5-C9EB-438D-B127-EE206C3E91AE}"/>
              </a:ext>
            </a:extLst>
          </p:cNvPr>
          <p:cNvSpPr>
            <a:spLocks noGrp="1" noChangeArrowheads="1"/>
          </p:cNvSpPr>
          <p:nvPr>
            <p:ph type="body" sz="half" idx="4294967295"/>
          </p:nvPr>
        </p:nvSpPr>
        <p:spPr>
          <a:xfrm>
            <a:off x="5980113" y="763588"/>
            <a:ext cx="2940050" cy="3644900"/>
          </a:xfrm>
          <a:noFill/>
        </p:spPr>
        <p:txBody>
          <a:bodyPr/>
          <a:lstStyle/>
          <a:p>
            <a:pPr marL="177800" indent="-177800">
              <a:spcBef>
                <a:spcPct val="50000"/>
              </a:spcBef>
            </a:pPr>
            <a:r>
              <a:rPr lang="en-GB" altLang="en-US" sz="1700">
                <a:effectLst/>
              </a:rPr>
              <a:t>A </a:t>
            </a:r>
            <a:r>
              <a:rPr lang="en-GB" altLang="en-US" sz="1700">
                <a:solidFill>
                  <a:srgbClr val="FF6600"/>
                </a:solidFill>
                <a:effectLst/>
              </a:rPr>
              <a:t>graben</a:t>
            </a:r>
            <a:r>
              <a:rPr lang="en-GB" altLang="en-US" sz="1700">
                <a:effectLst/>
              </a:rPr>
              <a:t> is a downthrown block bounded on each side by conjugate normal faults that each dip towards the downthrown block</a:t>
            </a:r>
          </a:p>
          <a:p>
            <a:pPr marL="177800" indent="-177800">
              <a:spcBef>
                <a:spcPct val="75000"/>
              </a:spcBef>
            </a:pPr>
            <a:r>
              <a:rPr lang="en-GB" altLang="en-US" sz="1700"/>
              <a:t>A </a:t>
            </a:r>
            <a:r>
              <a:rPr lang="en-GB" altLang="en-US" sz="1700">
                <a:solidFill>
                  <a:srgbClr val="FF6600"/>
                </a:solidFill>
              </a:rPr>
              <a:t>horst</a:t>
            </a:r>
            <a:r>
              <a:rPr lang="en-GB" altLang="en-US" sz="1700"/>
              <a:t> </a:t>
            </a:r>
            <a:r>
              <a:rPr lang="en-GB" altLang="en-US" sz="1700">
                <a:effectLst/>
              </a:rPr>
              <a:t>is a relatively uplifted block bounded by two conjugate normal faults that each dip away from the uplifted block </a:t>
            </a:r>
          </a:p>
        </p:txBody>
      </p:sp>
      <p:pic>
        <p:nvPicPr>
          <p:cNvPr id="119813" name="Picture 10" descr="08c">
            <a:extLst>
              <a:ext uri="{FF2B5EF4-FFF2-40B4-BE49-F238E27FC236}">
                <a16:creationId xmlns:a16="http://schemas.microsoft.com/office/drawing/2014/main" id="{14B0BB6C-E064-4468-B0AF-8842ED11B8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 y="4984750"/>
            <a:ext cx="6391275" cy="16732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19815" name="Picture 7" descr="iran-graben">
            <a:extLst>
              <a:ext uri="{FF2B5EF4-FFF2-40B4-BE49-F238E27FC236}">
                <a16:creationId xmlns:a16="http://schemas.microsoft.com/office/drawing/2014/main" id="{2D03716E-8968-4D84-A45F-8CDF01F22FF0}"/>
              </a:ext>
            </a:extLst>
          </p:cNvPr>
          <p:cNvPicPr>
            <a:picLocks noChangeAspect="1" noChangeArrowheads="1"/>
          </p:cNvPicPr>
          <p:nvPr/>
        </p:nvPicPr>
        <p:blipFill>
          <a:blip r:embed="rId4">
            <a:lum bright="6000"/>
            <a:extLst>
              <a:ext uri="{28A0092B-C50C-407E-A947-70E740481C1C}">
                <a14:useLocalDpi xmlns:a14="http://schemas.microsoft.com/office/drawing/2010/main" val="0"/>
              </a:ext>
            </a:extLst>
          </a:blip>
          <a:srcRect/>
          <a:stretch>
            <a:fillRect/>
          </a:stretch>
        </p:blipFill>
        <p:spPr bwMode="auto">
          <a:xfrm>
            <a:off x="252413" y="857250"/>
            <a:ext cx="5589587" cy="39084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82636" name="Text Box 12">
            <a:extLst>
              <a:ext uri="{FF2B5EF4-FFF2-40B4-BE49-F238E27FC236}">
                <a16:creationId xmlns:a16="http://schemas.microsoft.com/office/drawing/2014/main" id="{A01CC73F-94BE-431D-9DD5-D49DBE6E52E9}"/>
              </a:ext>
            </a:extLst>
          </p:cNvPr>
          <p:cNvSpPr txBox="1">
            <a:spLocks noChangeArrowheads="1"/>
          </p:cNvSpPr>
          <p:nvPr/>
        </p:nvSpPr>
        <p:spPr bwMode="auto">
          <a:xfrm>
            <a:off x="6757988" y="4600575"/>
            <a:ext cx="2257425" cy="195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Char char="•"/>
            </a:pPr>
            <a:r>
              <a:rPr lang="en-GB" altLang="en-US" sz="1700">
                <a:effectLst/>
                <a:latin typeface="Arial" panose="020B0604020202020204" pitchFamily="34" charset="0"/>
              </a:rPr>
              <a:t>A </a:t>
            </a:r>
            <a:r>
              <a:rPr lang="en-GB" altLang="en-US" sz="1700">
                <a:solidFill>
                  <a:srgbClr val="FF6600"/>
                </a:solidFill>
                <a:effectLst/>
                <a:latin typeface="Arial" panose="020B0604020202020204" pitchFamily="34" charset="0"/>
              </a:rPr>
              <a:t>half-graben</a:t>
            </a:r>
            <a:r>
              <a:rPr lang="en-GB" altLang="en-US" sz="1700">
                <a:effectLst/>
                <a:latin typeface="Arial" panose="020B0604020202020204" pitchFamily="34" charset="0"/>
              </a:rPr>
              <a:t> is a downthrown and</a:t>
            </a:r>
            <a:r>
              <a:rPr lang="en-GB" altLang="en-US" sz="1700">
                <a:solidFill>
                  <a:srgbClr val="FF66FF"/>
                </a:solidFill>
                <a:effectLst/>
                <a:latin typeface="Arial" panose="020B0604020202020204" pitchFamily="34" charset="0"/>
              </a:rPr>
              <a:t> </a:t>
            </a:r>
            <a:r>
              <a:rPr lang="en-GB" altLang="en-US" sz="1700">
                <a:effectLst/>
                <a:latin typeface="Arial" panose="020B0604020202020204" pitchFamily="34" charset="0"/>
              </a:rPr>
              <a:t>tilted block bounded on only one side by a major normal fault</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8F97838-CE72-4323-B314-C7439C5179E5}"/>
              </a:ext>
            </a:extLst>
          </p:cNvPr>
          <p:cNvSpPr>
            <a:spLocks noGrp="1" noChangeArrowheads="1"/>
          </p:cNvSpPr>
          <p:nvPr>
            <p:ph type="title"/>
          </p:nvPr>
        </p:nvSpPr>
        <p:spPr>
          <a:noFill/>
        </p:spPr>
        <p:txBody>
          <a:bodyPr/>
          <a:lstStyle/>
          <a:p>
            <a:r>
              <a:rPr lang="en-GB" altLang="en-US" dirty="0">
                <a:effectLst/>
              </a:rPr>
              <a:t>Horst</a:t>
            </a:r>
            <a:r>
              <a:rPr lang="en-GB" altLang="en-US" spc="500" dirty="0">
                <a:effectLst/>
              </a:rPr>
              <a:t>s/</a:t>
            </a:r>
            <a:r>
              <a:rPr lang="en-GB" altLang="en-US" dirty="0">
                <a:effectLst/>
              </a:rPr>
              <a:t>grabens  2</a:t>
            </a:r>
          </a:p>
        </p:txBody>
      </p:sp>
      <p:pic>
        <p:nvPicPr>
          <p:cNvPr id="28678" name="Picture 9">
            <a:extLst>
              <a:ext uri="{FF2B5EF4-FFF2-40B4-BE49-F238E27FC236}">
                <a16:creationId xmlns:a16="http://schemas.microsoft.com/office/drawing/2014/main" id="{AF743B09-1F39-4A91-B6B4-8F4D821B2D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776" y="899014"/>
            <a:ext cx="3289300" cy="3302000"/>
          </a:xfrm>
          <a:prstGeom prst="rect">
            <a:avLst/>
          </a:prstGeom>
          <a:noFill/>
          <a:ln w="38100">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pic>
      <p:pic>
        <p:nvPicPr>
          <p:cNvPr id="28679" name="Picture 14" descr="MarsCrater">
            <a:extLst>
              <a:ext uri="{FF2B5EF4-FFF2-40B4-BE49-F238E27FC236}">
                <a16:creationId xmlns:a16="http://schemas.microsoft.com/office/drawing/2014/main" id="{07CF24E6-7DC2-46B9-AB9A-056899180609}"/>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2234296" y="4384431"/>
            <a:ext cx="1413780" cy="22240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675" name="Rectangle 3">
            <a:extLst>
              <a:ext uri="{FF2B5EF4-FFF2-40B4-BE49-F238E27FC236}">
                <a16:creationId xmlns:a16="http://schemas.microsoft.com/office/drawing/2014/main" id="{80AB3985-61A2-4212-8970-859FE9E0D51F}"/>
              </a:ext>
            </a:extLst>
          </p:cNvPr>
          <p:cNvSpPr>
            <a:spLocks noGrp="1" noChangeArrowheads="1"/>
          </p:cNvSpPr>
          <p:nvPr>
            <p:ph type="body" sz="half" idx="1"/>
          </p:nvPr>
        </p:nvSpPr>
        <p:spPr>
          <a:xfrm>
            <a:off x="320908" y="4873013"/>
            <a:ext cx="1813376" cy="1785693"/>
          </a:xfrm>
          <a:noFill/>
        </p:spPr>
        <p:txBody>
          <a:bodyPr/>
          <a:lstStyle/>
          <a:p>
            <a:pPr marL="0" indent="0">
              <a:lnSpc>
                <a:spcPct val="115000"/>
              </a:lnSpc>
              <a:spcBef>
                <a:spcPct val="75000"/>
              </a:spcBef>
              <a:buClr>
                <a:srgbClr val="FFFF00"/>
              </a:buClr>
              <a:buFont typeface="Times" panose="02020603050405020304" pitchFamily="18" charset="0"/>
              <a:buNone/>
            </a:pPr>
            <a:r>
              <a:rPr lang="en-GB" altLang="en-US" sz="1400" dirty="0">
                <a:solidFill>
                  <a:srgbClr val="FFFF00"/>
                </a:solidFill>
                <a:effectLst/>
              </a:rPr>
              <a:t>Crater cut by normal faults on Mars – the normal dip-slip sense of offset is apparent from the displacement of the crater walls</a:t>
            </a:r>
          </a:p>
        </p:txBody>
      </p:sp>
      <p:pic>
        <p:nvPicPr>
          <p:cNvPr id="5" name="Picture 4">
            <a:extLst>
              <a:ext uri="{FF2B5EF4-FFF2-40B4-BE49-F238E27FC236}">
                <a16:creationId xmlns:a16="http://schemas.microsoft.com/office/drawing/2014/main" id="{1A41E4A9-2C30-4E6B-993A-B42CA38CA6D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27421" y="1632589"/>
            <a:ext cx="4058553" cy="4317755"/>
          </a:xfrm>
          <a:prstGeom prst="rect">
            <a:avLst/>
          </a:prstGeom>
          <a:ln w="38100">
            <a:solidFill>
              <a:schemeClr val="bg2"/>
            </a:solidFill>
          </a:ln>
        </p:spPr>
      </p:pic>
      <p:sp>
        <p:nvSpPr>
          <p:cNvPr id="12" name="Rectangle 3">
            <a:extLst>
              <a:ext uri="{FF2B5EF4-FFF2-40B4-BE49-F238E27FC236}">
                <a16:creationId xmlns:a16="http://schemas.microsoft.com/office/drawing/2014/main" id="{4CF06C28-2D68-4BF9-83B2-092D85FDAECD}"/>
              </a:ext>
            </a:extLst>
          </p:cNvPr>
          <p:cNvSpPr txBox="1">
            <a:spLocks noChangeArrowheads="1"/>
          </p:cNvSpPr>
          <p:nvPr/>
        </p:nvSpPr>
        <p:spPr bwMode="auto">
          <a:xfrm>
            <a:off x="1592705" y="3791467"/>
            <a:ext cx="2055371" cy="295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288925" indent="-288925" algn="l" rtl="0" eaLnBrk="0" fontAlgn="base" hangingPunct="0">
              <a:lnSpc>
                <a:spcPct val="120000"/>
              </a:lnSpc>
              <a:spcBef>
                <a:spcPct val="100000"/>
              </a:spcBef>
              <a:spcAft>
                <a:spcPct val="0"/>
              </a:spcAft>
              <a:buClr>
                <a:schemeClr val="folHlink"/>
              </a:buClr>
              <a:buSzPct val="100000"/>
              <a:buFont typeface="Times" panose="02020603050405020304" pitchFamily="18" charset="0"/>
              <a:buChar char="•"/>
              <a:defRPr sz="2000">
                <a:solidFill>
                  <a:schemeClr val="tx1"/>
                </a:solidFill>
                <a:effectLst>
                  <a:outerShdw blurRad="38100" dist="38100" dir="2700000" algn="tl">
                    <a:srgbClr val="000000"/>
                  </a:outerShdw>
                </a:effectLst>
                <a:latin typeface="+mn-lt"/>
                <a:ea typeface="+mn-ea"/>
                <a:cs typeface="+mn-cs"/>
              </a:defRPr>
            </a:lvl1pPr>
            <a:lvl2pPr marL="762000" indent="-187325" algn="l" rtl="0" eaLnBrk="0" fontAlgn="base" hangingPunct="0">
              <a:lnSpc>
                <a:spcPct val="120000"/>
              </a:lnSpc>
              <a:spcBef>
                <a:spcPct val="50000"/>
              </a:spcBef>
              <a:spcAft>
                <a:spcPct val="0"/>
              </a:spcAft>
              <a:buClr>
                <a:schemeClr val="folHlink"/>
              </a:buClr>
              <a:buSzPct val="100000"/>
              <a:buFont typeface="Times" panose="02020603050405020304" pitchFamily="18" charset="0"/>
              <a:buChar char="•"/>
              <a:defRPr>
                <a:solidFill>
                  <a:schemeClr val="tx1"/>
                </a:solidFill>
                <a:effectLst>
                  <a:outerShdw blurRad="38100" dist="38100" dir="2700000" algn="tl">
                    <a:srgbClr val="000000"/>
                  </a:outerShdw>
                </a:effectLst>
                <a:latin typeface="+mn-lt"/>
              </a:defRPr>
            </a:lvl2pPr>
            <a:lvl3pPr marL="1235075" indent="-18415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3pPr>
            <a:lvl4pPr marL="1698625" indent="-22860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4pPr>
            <a:lvl5pPr marL="2117725" indent="-228600" algn="l" rtl="0" eaLnBrk="0" fontAlgn="base" hangingPunct="0">
              <a:spcBef>
                <a:spcPct val="25000"/>
              </a:spcBef>
              <a:spcAft>
                <a:spcPct val="0"/>
              </a:spcAft>
              <a:buClr>
                <a:schemeClr val="folHlink"/>
              </a:buClr>
              <a:buSzPct val="50000"/>
              <a:buFont typeface="Times" panose="02020603050405020304" pitchFamily="18" charset="0"/>
              <a:buChar char="•"/>
              <a:defRPr sz="1600">
                <a:solidFill>
                  <a:schemeClr val="tx1"/>
                </a:solidFill>
                <a:effectLst>
                  <a:outerShdw blurRad="38100" dist="38100" dir="2700000" algn="tl">
                    <a:srgbClr val="000000"/>
                  </a:outerShdw>
                </a:effectLst>
                <a:latin typeface="+mn-lt"/>
              </a:defRPr>
            </a:lvl5pPr>
            <a:lvl6pPr marL="25749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6pPr>
            <a:lvl7pPr marL="30321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7pPr>
            <a:lvl8pPr marL="34893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8pPr>
            <a:lvl9pPr marL="39465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9pPr>
          </a:lstStyle>
          <a:p>
            <a:pPr marL="0" indent="0">
              <a:lnSpc>
                <a:spcPct val="115000"/>
              </a:lnSpc>
              <a:spcBef>
                <a:spcPct val="75000"/>
              </a:spcBef>
              <a:buClr>
                <a:srgbClr val="FFFF00"/>
              </a:buClr>
              <a:buFont typeface="Times" panose="02020603050405020304" pitchFamily="18" charset="0"/>
              <a:buNone/>
            </a:pPr>
            <a:r>
              <a:rPr lang="en-GB" altLang="en-US" sz="1400" i="1" kern="0" dirty="0">
                <a:solidFill>
                  <a:srgbClr val="FFFF00"/>
                </a:solidFill>
                <a:effectLst/>
              </a:rPr>
              <a:t>Rima </a:t>
            </a:r>
            <a:r>
              <a:rPr lang="en-GB" altLang="en-US" sz="1400" i="1" kern="0" dirty="0" err="1">
                <a:solidFill>
                  <a:srgbClr val="FFFF00"/>
                </a:solidFill>
                <a:effectLst/>
              </a:rPr>
              <a:t>Ariadaeus</a:t>
            </a:r>
            <a:r>
              <a:rPr lang="en-GB" altLang="en-US" sz="1400" kern="0" dirty="0">
                <a:solidFill>
                  <a:srgbClr val="FFFF00"/>
                </a:solidFill>
                <a:effectLst/>
              </a:rPr>
              <a:t>, Moon</a:t>
            </a:r>
          </a:p>
        </p:txBody>
      </p:sp>
      <p:sp>
        <p:nvSpPr>
          <p:cNvPr id="13" name="Rectangle 3">
            <a:extLst>
              <a:ext uri="{FF2B5EF4-FFF2-40B4-BE49-F238E27FC236}">
                <a16:creationId xmlns:a16="http://schemas.microsoft.com/office/drawing/2014/main" id="{6007642C-01B2-48D8-869A-0A9E35FD4FB0}"/>
              </a:ext>
            </a:extLst>
          </p:cNvPr>
          <p:cNvSpPr txBox="1">
            <a:spLocks noChangeArrowheads="1"/>
          </p:cNvSpPr>
          <p:nvPr/>
        </p:nvSpPr>
        <p:spPr bwMode="auto">
          <a:xfrm>
            <a:off x="3932788" y="6214574"/>
            <a:ext cx="4749146" cy="393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288925" indent="-288925" algn="l" rtl="0" eaLnBrk="0" fontAlgn="base" hangingPunct="0">
              <a:lnSpc>
                <a:spcPct val="120000"/>
              </a:lnSpc>
              <a:spcBef>
                <a:spcPct val="100000"/>
              </a:spcBef>
              <a:spcAft>
                <a:spcPct val="0"/>
              </a:spcAft>
              <a:buClr>
                <a:schemeClr val="folHlink"/>
              </a:buClr>
              <a:buSzPct val="100000"/>
              <a:buFont typeface="Times" panose="02020603050405020304" pitchFamily="18" charset="0"/>
              <a:buChar char="•"/>
              <a:defRPr sz="2000">
                <a:solidFill>
                  <a:schemeClr val="tx1"/>
                </a:solidFill>
                <a:effectLst>
                  <a:outerShdw blurRad="38100" dist="38100" dir="2700000" algn="tl">
                    <a:srgbClr val="000000"/>
                  </a:outerShdw>
                </a:effectLst>
                <a:latin typeface="+mn-lt"/>
                <a:ea typeface="+mn-ea"/>
                <a:cs typeface="+mn-cs"/>
              </a:defRPr>
            </a:lvl1pPr>
            <a:lvl2pPr marL="762000" indent="-187325" algn="l" rtl="0" eaLnBrk="0" fontAlgn="base" hangingPunct="0">
              <a:lnSpc>
                <a:spcPct val="120000"/>
              </a:lnSpc>
              <a:spcBef>
                <a:spcPct val="50000"/>
              </a:spcBef>
              <a:spcAft>
                <a:spcPct val="0"/>
              </a:spcAft>
              <a:buClr>
                <a:schemeClr val="folHlink"/>
              </a:buClr>
              <a:buSzPct val="100000"/>
              <a:buFont typeface="Times" panose="02020603050405020304" pitchFamily="18" charset="0"/>
              <a:buChar char="•"/>
              <a:defRPr>
                <a:solidFill>
                  <a:schemeClr val="tx1"/>
                </a:solidFill>
                <a:effectLst>
                  <a:outerShdw blurRad="38100" dist="38100" dir="2700000" algn="tl">
                    <a:srgbClr val="000000"/>
                  </a:outerShdw>
                </a:effectLst>
                <a:latin typeface="+mn-lt"/>
              </a:defRPr>
            </a:lvl2pPr>
            <a:lvl3pPr marL="1235075" indent="-18415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3pPr>
            <a:lvl4pPr marL="1698625" indent="-22860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4pPr>
            <a:lvl5pPr marL="2117725" indent="-228600" algn="l" rtl="0" eaLnBrk="0" fontAlgn="base" hangingPunct="0">
              <a:spcBef>
                <a:spcPct val="25000"/>
              </a:spcBef>
              <a:spcAft>
                <a:spcPct val="0"/>
              </a:spcAft>
              <a:buClr>
                <a:schemeClr val="folHlink"/>
              </a:buClr>
              <a:buSzPct val="50000"/>
              <a:buFont typeface="Times" panose="02020603050405020304" pitchFamily="18" charset="0"/>
              <a:buChar char="•"/>
              <a:defRPr sz="1600">
                <a:solidFill>
                  <a:schemeClr val="tx1"/>
                </a:solidFill>
                <a:effectLst>
                  <a:outerShdw blurRad="38100" dist="38100" dir="2700000" algn="tl">
                    <a:srgbClr val="000000"/>
                  </a:outerShdw>
                </a:effectLst>
                <a:latin typeface="+mn-lt"/>
              </a:defRPr>
            </a:lvl5pPr>
            <a:lvl6pPr marL="25749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6pPr>
            <a:lvl7pPr marL="30321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7pPr>
            <a:lvl8pPr marL="34893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8pPr>
            <a:lvl9pPr marL="39465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9pPr>
          </a:lstStyle>
          <a:p>
            <a:pPr marL="0" indent="0">
              <a:lnSpc>
                <a:spcPct val="115000"/>
              </a:lnSpc>
              <a:spcBef>
                <a:spcPct val="75000"/>
              </a:spcBef>
              <a:buClr>
                <a:srgbClr val="FFFF00"/>
              </a:buClr>
              <a:buFont typeface="Times" panose="02020603050405020304" pitchFamily="18" charset="0"/>
              <a:buNone/>
            </a:pPr>
            <a:r>
              <a:rPr lang="en-GB" altLang="en-US" sz="1400" i="1" kern="0" dirty="0">
                <a:solidFill>
                  <a:srgbClr val="FFFF00"/>
                </a:solidFill>
                <a:effectLst/>
              </a:rPr>
              <a:t>Tantalus Fossae</a:t>
            </a:r>
            <a:r>
              <a:rPr lang="en-GB" altLang="en-US" sz="1400" kern="0" dirty="0">
                <a:solidFill>
                  <a:srgbClr val="FFFF00"/>
                </a:solidFill>
                <a:effectLst/>
              </a:rPr>
              <a:t>, on the eastern flank of Alba Mons, Mars</a:t>
            </a: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3" name="Picture 7" descr="12e1-MamTor">
            <a:extLst>
              <a:ext uri="{FF2B5EF4-FFF2-40B4-BE49-F238E27FC236}">
                <a16:creationId xmlns:a16="http://schemas.microsoft.com/office/drawing/2014/main" id="{AF06C4C8-96D8-4160-B93E-9F05BC2C36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4813" y="876300"/>
            <a:ext cx="6032500" cy="28098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9698" name="Rectangle 2">
            <a:extLst>
              <a:ext uri="{FF2B5EF4-FFF2-40B4-BE49-F238E27FC236}">
                <a16:creationId xmlns:a16="http://schemas.microsoft.com/office/drawing/2014/main" id="{03215CA1-FE9A-4DAD-9D89-A5BF5265CF07}"/>
              </a:ext>
            </a:extLst>
          </p:cNvPr>
          <p:cNvSpPr>
            <a:spLocks noGrp="1" noChangeArrowheads="1"/>
          </p:cNvSpPr>
          <p:nvPr>
            <p:ph type="title"/>
          </p:nvPr>
        </p:nvSpPr>
        <p:spPr>
          <a:noFill/>
        </p:spPr>
        <p:txBody>
          <a:bodyPr/>
          <a:lstStyle/>
          <a:p>
            <a:r>
              <a:rPr lang="en-GB" altLang="en-US">
                <a:effectLst/>
              </a:rPr>
              <a:t>Half-grabens: tilting</a:t>
            </a:r>
          </a:p>
        </p:txBody>
      </p:sp>
      <p:sp>
        <p:nvSpPr>
          <p:cNvPr id="29699" name="Rectangle 3">
            <a:extLst>
              <a:ext uri="{FF2B5EF4-FFF2-40B4-BE49-F238E27FC236}">
                <a16:creationId xmlns:a16="http://schemas.microsoft.com/office/drawing/2014/main" id="{B3AA72F4-50A2-4D20-BA24-E674AE0A6F1E}"/>
              </a:ext>
            </a:extLst>
          </p:cNvPr>
          <p:cNvSpPr>
            <a:spLocks noGrp="1" noChangeArrowheads="1"/>
          </p:cNvSpPr>
          <p:nvPr>
            <p:ph type="body" sz="half" idx="1"/>
          </p:nvPr>
        </p:nvSpPr>
        <p:spPr>
          <a:xfrm>
            <a:off x="134938" y="814311"/>
            <a:ext cx="2719774" cy="2894013"/>
          </a:xfrm>
          <a:noFill/>
        </p:spPr>
        <p:txBody>
          <a:bodyPr/>
          <a:lstStyle/>
          <a:p>
            <a:pPr marL="177800" indent="-177800"/>
            <a:r>
              <a:rPr lang="en-GB" altLang="en-US" sz="1700" dirty="0">
                <a:effectLst/>
              </a:rPr>
              <a:t>In half-grabens the downthrown block is </a:t>
            </a:r>
            <a:r>
              <a:rPr lang="en-GB" altLang="en-US" sz="1700" dirty="0">
                <a:solidFill>
                  <a:srgbClr val="FF6600"/>
                </a:solidFill>
                <a:effectLst/>
              </a:rPr>
              <a:t>back-tilted </a:t>
            </a:r>
            <a:r>
              <a:rPr lang="en-GB" altLang="en-US" sz="1700" dirty="0">
                <a:effectLst/>
              </a:rPr>
              <a:t>– the angle of tilt depends upon the </a:t>
            </a:r>
            <a:r>
              <a:rPr lang="en-GB" altLang="en-US" sz="1700" dirty="0">
                <a:solidFill>
                  <a:srgbClr val="FF66FF"/>
                </a:solidFill>
                <a:effectLst/>
              </a:rPr>
              <a:t>dip of the fault surface</a:t>
            </a:r>
            <a:r>
              <a:rPr lang="en-GB" altLang="en-US" sz="1700" dirty="0">
                <a:effectLst/>
              </a:rPr>
              <a:t> and how the </a:t>
            </a:r>
            <a:r>
              <a:rPr lang="en-GB" altLang="en-US" sz="1700" dirty="0">
                <a:solidFill>
                  <a:srgbClr val="FF66FF"/>
                </a:solidFill>
                <a:effectLst/>
              </a:rPr>
              <a:t>displacement is accommodated</a:t>
            </a:r>
            <a:r>
              <a:rPr lang="en-GB" altLang="en-US" sz="1700" dirty="0">
                <a:effectLst/>
              </a:rPr>
              <a:t> within the hanging wall</a:t>
            </a:r>
          </a:p>
        </p:txBody>
      </p:sp>
      <p:pic>
        <p:nvPicPr>
          <p:cNvPr id="29705" name="Picture 9" descr="12e2a-BasinRange">
            <a:extLst>
              <a:ext uri="{FF2B5EF4-FFF2-40B4-BE49-F238E27FC236}">
                <a16:creationId xmlns:a16="http://schemas.microsoft.com/office/drawing/2014/main" id="{D47B0FB7-5210-4342-8AE5-416BA1B738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738" y="3835400"/>
            <a:ext cx="8188325" cy="289401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8CE1E179-15CA-48EB-B011-276C82900432}"/>
              </a:ext>
            </a:extLst>
          </p:cNvPr>
          <p:cNvSpPr>
            <a:spLocks noGrp="1" noChangeArrowheads="1"/>
          </p:cNvSpPr>
          <p:nvPr>
            <p:ph type="ctrTitle" idx="4294967295"/>
          </p:nvPr>
        </p:nvSpPr>
        <p:spPr bwMode="black">
          <a:xfrm>
            <a:off x="184150" y="1492250"/>
            <a:ext cx="8705850" cy="24288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defRPr/>
            </a:pPr>
            <a:br>
              <a:rPr lang="en-US" sz="3200">
                <a:solidFill>
                  <a:srgbClr val="FF6600"/>
                </a:solidFill>
              </a:rPr>
            </a:br>
            <a:br>
              <a:rPr lang="en-US" sz="3200">
                <a:solidFill>
                  <a:srgbClr val="FF6600"/>
                </a:solidFill>
              </a:rPr>
            </a:br>
            <a:r>
              <a:rPr lang="en-US" sz="3200">
                <a:solidFill>
                  <a:srgbClr val="FF6600"/>
                </a:solidFill>
              </a:rPr>
              <a:t>Modes of extension</a:t>
            </a:r>
            <a:br>
              <a:rPr lang="en-US" sz="3200">
                <a:solidFill>
                  <a:srgbClr val="FF6600"/>
                </a:solidFill>
              </a:rPr>
            </a:br>
            <a:r>
              <a:rPr lang="en-US" sz="3200">
                <a:solidFill>
                  <a:srgbClr val="FF6600"/>
                </a:solidFill>
              </a:rPr>
              <a:t>and associated structures</a:t>
            </a:r>
            <a:endParaRPr lang="en-US">
              <a:solidFill>
                <a:srgbClr val="FF6600"/>
              </a:solidFill>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60" name="Picture 16" descr="13a1-ShorehamChalk">
            <a:extLst>
              <a:ext uri="{FF2B5EF4-FFF2-40B4-BE49-F238E27FC236}">
                <a16:creationId xmlns:a16="http://schemas.microsoft.com/office/drawing/2014/main" id="{AFA29D1C-10BE-489E-91B6-1C16EA7F6552}"/>
              </a:ext>
            </a:extLst>
          </p:cNvPr>
          <p:cNvPicPr>
            <a:picLocks noChangeAspect="1" noChangeArrowheads="1"/>
          </p:cNvPicPr>
          <p:nvPr/>
        </p:nvPicPr>
        <p:blipFill>
          <a:blip r:embed="rId3">
            <a:lum contrast="20000"/>
            <a:extLst>
              <a:ext uri="{28A0092B-C50C-407E-A947-70E740481C1C}">
                <a14:useLocalDpi xmlns:a14="http://schemas.microsoft.com/office/drawing/2010/main" val="0"/>
              </a:ext>
            </a:extLst>
          </a:blip>
          <a:srcRect/>
          <a:stretch>
            <a:fillRect/>
          </a:stretch>
        </p:blipFill>
        <p:spPr bwMode="auto">
          <a:xfrm>
            <a:off x="3933825" y="889000"/>
            <a:ext cx="5016500" cy="35052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1746" name="Rectangle 2">
            <a:extLst>
              <a:ext uri="{FF2B5EF4-FFF2-40B4-BE49-F238E27FC236}">
                <a16:creationId xmlns:a16="http://schemas.microsoft.com/office/drawing/2014/main" id="{31E1B840-D3B0-4902-9CC8-3E72C0A03945}"/>
              </a:ext>
            </a:extLst>
          </p:cNvPr>
          <p:cNvSpPr>
            <a:spLocks noGrp="1" noChangeArrowheads="1"/>
          </p:cNvSpPr>
          <p:nvPr>
            <p:ph type="title"/>
          </p:nvPr>
        </p:nvSpPr>
        <p:spPr>
          <a:noFill/>
        </p:spPr>
        <p:txBody>
          <a:bodyPr/>
          <a:lstStyle/>
          <a:p>
            <a:r>
              <a:rPr lang="en-GB" altLang="en-US">
                <a:effectLst/>
              </a:rPr>
              <a:t>Planar non-rotational faults</a:t>
            </a:r>
          </a:p>
        </p:txBody>
      </p:sp>
      <p:sp>
        <p:nvSpPr>
          <p:cNvPr id="31747" name="Rectangle 3">
            <a:extLst>
              <a:ext uri="{FF2B5EF4-FFF2-40B4-BE49-F238E27FC236}">
                <a16:creationId xmlns:a16="http://schemas.microsoft.com/office/drawing/2014/main" id="{FA31F628-5E5B-48E1-A66F-A0DD8532B734}"/>
              </a:ext>
            </a:extLst>
          </p:cNvPr>
          <p:cNvSpPr>
            <a:spLocks noGrp="1" noChangeArrowheads="1"/>
          </p:cNvSpPr>
          <p:nvPr>
            <p:ph type="body" sz="half" idx="1"/>
          </p:nvPr>
        </p:nvSpPr>
        <p:spPr>
          <a:xfrm>
            <a:off x="103188" y="755650"/>
            <a:ext cx="3581400" cy="3444875"/>
          </a:xfrm>
          <a:noFill/>
        </p:spPr>
        <p:txBody>
          <a:bodyPr/>
          <a:lstStyle/>
          <a:p>
            <a:pPr marL="269875" indent="-269875"/>
            <a:r>
              <a:rPr lang="en-GB" altLang="en-US" sz="1700" dirty="0">
                <a:effectLst/>
              </a:rPr>
              <a:t>The classical normal fault is planar and involves translation without rotation during slip; </a:t>
            </a:r>
            <a:r>
              <a:rPr lang="en-GB" altLang="en-US" sz="1700" dirty="0">
                <a:solidFill>
                  <a:srgbClr val="FF66FF"/>
                </a:solidFill>
                <a:effectLst/>
              </a:rPr>
              <a:t>such faults control symmetrical grabens</a:t>
            </a:r>
            <a:r>
              <a:rPr lang="en-GB" altLang="en-US" sz="1700" dirty="0">
                <a:effectLst/>
              </a:rPr>
              <a:t> (</a:t>
            </a:r>
            <a:r>
              <a:rPr lang="en-GB" altLang="en-US" sz="1700" i="1" dirty="0">
                <a:effectLst/>
              </a:rPr>
              <a:t>e.g.</a:t>
            </a:r>
            <a:r>
              <a:rPr lang="en-GB" altLang="en-US" sz="1700" dirty="0">
                <a:effectLst/>
              </a:rPr>
              <a:t>, Rhine Graben)</a:t>
            </a:r>
          </a:p>
          <a:p>
            <a:pPr marL="269875" indent="-269875">
              <a:spcBef>
                <a:spcPct val="65000"/>
              </a:spcBef>
            </a:pPr>
            <a:r>
              <a:rPr lang="en-GB" altLang="en-US" sz="1700" dirty="0">
                <a:effectLst/>
              </a:rPr>
              <a:t>Following Anderson, with the maximum compressive stress (</a:t>
            </a:r>
            <a:r>
              <a:rPr lang="en-GB" altLang="en-US" sz="1700" i="1" dirty="0">
                <a:effectLst/>
                <a:latin typeface="Symbol" panose="05050102010706020507" pitchFamily="18" charset="2"/>
              </a:rPr>
              <a:t>s</a:t>
            </a:r>
            <a:r>
              <a:rPr lang="en-GB" altLang="en-US" sz="1700" baseline="-25000" dirty="0">
                <a:effectLst/>
              </a:rPr>
              <a:t>1</a:t>
            </a:r>
            <a:r>
              <a:rPr lang="en-GB" altLang="en-US" sz="800" dirty="0">
                <a:effectLst/>
              </a:rPr>
              <a:t> </a:t>
            </a:r>
            <a:r>
              <a:rPr lang="en-GB" altLang="en-US" sz="1700" dirty="0">
                <a:effectLst/>
              </a:rPr>
              <a:t>) vertical and a coefficient of internal friction of </a:t>
            </a:r>
            <a:r>
              <a:rPr lang="en-GB" altLang="en-US" sz="1700" spc="300" dirty="0">
                <a:effectLst/>
              </a:rPr>
              <a:t>~</a:t>
            </a:r>
            <a:r>
              <a:rPr lang="en-GB" altLang="en-US" sz="1700" dirty="0">
                <a:effectLst/>
              </a:rPr>
              <a:t>0.6, </a:t>
            </a:r>
            <a:r>
              <a:rPr lang="en-GB" altLang="en-US" sz="1700" dirty="0">
                <a:solidFill>
                  <a:srgbClr val="FF66FF"/>
                </a:solidFill>
                <a:effectLst/>
              </a:rPr>
              <a:t>such faults should dip at </a:t>
            </a:r>
            <a:r>
              <a:rPr lang="en-GB" altLang="en-US" sz="1700" spc="300" dirty="0">
                <a:solidFill>
                  <a:srgbClr val="FF66FF"/>
                </a:solidFill>
                <a:effectLst/>
              </a:rPr>
              <a:t>~</a:t>
            </a:r>
            <a:r>
              <a:rPr lang="en-GB" altLang="en-US" sz="1700" dirty="0">
                <a:solidFill>
                  <a:srgbClr val="FF66FF"/>
                </a:solidFill>
                <a:effectLst/>
              </a:rPr>
              <a:t>60°</a:t>
            </a:r>
          </a:p>
        </p:txBody>
      </p:sp>
      <p:sp>
        <p:nvSpPr>
          <p:cNvPr id="227334" name="Text Box 6">
            <a:extLst>
              <a:ext uri="{FF2B5EF4-FFF2-40B4-BE49-F238E27FC236}">
                <a16:creationId xmlns:a16="http://schemas.microsoft.com/office/drawing/2014/main" id="{A3B97263-22EB-4812-8179-0BAC5394DDCB}"/>
              </a:ext>
            </a:extLst>
          </p:cNvPr>
          <p:cNvSpPr txBox="1">
            <a:spLocks noChangeArrowheads="1"/>
          </p:cNvSpPr>
          <p:nvPr/>
        </p:nvSpPr>
        <p:spPr bwMode="auto">
          <a:xfrm>
            <a:off x="130175" y="5160963"/>
            <a:ext cx="34956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9875" indent="-269875">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buClr>
                <a:srgbClr val="FF6600"/>
              </a:buClr>
              <a:buFont typeface="Wingdings" pitchFamily="2" charset="2"/>
              <a:buChar char="Ø"/>
              <a:defRPr/>
            </a:pPr>
            <a:r>
              <a:rPr lang="en-GB" sz="1700">
                <a:solidFill>
                  <a:srgbClr val="FF6600"/>
                </a:solidFill>
                <a:effectLst>
                  <a:outerShdw blurRad="38100" dist="38100" dir="2700000" algn="tl">
                    <a:srgbClr val="000000"/>
                  </a:outerShdw>
                </a:effectLst>
                <a:latin typeface="Arial" charset="0"/>
              </a:rPr>
              <a:t>How do conjugate faults work – are they simultaneously active?</a:t>
            </a:r>
          </a:p>
        </p:txBody>
      </p:sp>
      <p:sp>
        <p:nvSpPr>
          <p:cNvPr id="227338" name="Text Box 10">
            <a:extLst>
              <a:ext uri="{FF2B5EF4-FFF2-40B4-BE49-F238E27FC236}">
                <a16:creationId xmlns:a16="http://schemas.microsoft.com/office/drawing/2014/main" id="{FAB024A0-9224-4A04-88C5-AA15D2F62274}"/>
              </a:ext>
            </a:extLst>
          </p:cNvPr>
          <p:cNvSpPr txBox="1">
            <a:spLocks noChangeArrowheads="1"/>
          </p:cNvSpPr>
          <p:nvPr/>
        </p:nvSpPr>
        <p:spPr bwMode="auto">
          <a:xfrm>
            <a:off x="4202113" y="4567238"/>
            <a:ext cx="1828800"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gn="ctr">
              <a:spcBef>
                <a:spcPct val="30000"/>
              </a:spcBef>
            </a:pPr>
            <a:r>
              <a:rPr lang="en-GB" altLang="en-US" dirty="0">
                <a:solidFill>
                  <a:srgbClr val="FFFF00"/>
                </a:solidFill>
                <a:effectLst>
                  <a:outerShdw blurRad="38100" dist="38100" dir="2700000" algn="tl">
                    <a:srgbClr val="000000"/>
                  </a:outerShdw>
                </a:effectLst>
              </a:rPr>
              <a:t>extension</a:t>
            </a:r>
          </a:p>
          <a:p>
            <a:pPr algn="ctr">
              <a:spcBef>
                <a:spcPct val="30000"/>
              </a:spcBef>
            </a:pPr>
            <a:r>
              <a:rPr lang="en-GB" altLang="en-US" i="1" dirty="0">
                <a:solidFill>
                  <a:srgbClr val="FFFF00"/>
                </a:solidFill>
                <a:effectLst>
                  <a:outerShdw blurRad="38100" dist="38100" dir="2700000" algn="tl">
                    <a:srgbClr val="000000"/>
                  </a:outerShdw>
                </a:effectLst>
                <a:latin typeface="Arial" panose="020B0604020202020204" pitchFamily="34" charset="0"/>
              </a:rPr>
              <a:t>e</a:t>
            </a:r>
            <a:r>
              <a:rPr lang="en-GB" altLang="en-US" dirty="0">
                <a:solidFill>
                  <a:srgbClr val="FFFF00"/>
                </a:solidFill>
                <a:effectLst>
                  <a:outerShdw blurRad="38100" dist="38100" dir="2700000" algn="tl">
                    <a:srgbClr val="000000"/>
                  </a:outerShdw>
                </a:effectLst>
                <a:latin typeface="Arial" panose="020B0604020202020204" pitchFamily="34" charset="0"/>
              </a:rPr>
              <a:t>  =  </a:t>
            </a:r>
            <a:r>
              <a:rPr lang="el-GR" altLang="en-US"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δ</a:t>
            </a:r>
            <a:r>
              <a:rPr lang="en-GB" altLang="en-US" sz="800" i="1" dirty="0">
                <a:solidFill>
                  <a:srgbClr val="FFFF00"/>
                </a:solidFill>
                <a:effectLst>
                  <a:outerShdw blurRad="38100" dist="38100" dir="2700000" algn="tl">
                    <a:srgbClr val="000000"/>
                  </a:outerShdw>
                </a:effectLst>
                <a:latin typeface="Symbol" panose="05050102010706020507" pitchFamily="18" charset="2"/>
              </a:rPr>
              <a:t> </a:t>
            </a:r>
            <a:r>
              <a:rPr lang="en-GB" altLang="en-US" i="1" spc="300" dirty="0">
                <a:solidFill>
                  <a:srgbClr val="FFFF00"/>
                </a:solidFill>
                <a:effectLst>
                  <a:outerShdw blurRad="38100" dist="38100" dir="2700000" algn="tl">
                    <a:srgbClr val="000000"/>
                  </a:outerShdw>
                </a:effectLst>
                <a:latin typeface="Arial" panose="020B0604020202020204" pitchFamily="34" charset="0"/>
              </a:rPr>
              <a:t>L</a:t>
            </a:r>
            <a:r>
              <a:rPr lang="en-GB" altLang="en-US" spc="300" dirty="0">
                <a:solidFill>
                  <a:srgbClr val="FFFF00"/>
                </a:solidFill>
                <a:effectLst>
                  <a:outerShdw blurRad="38100" dist="38100" dir="2700000" algn="tl">
                    <a:srgbClr val="000000"/>
                  </a:outerShdw>
                </a:effectLst>
                <a:latin typeface="Arial" panose="020B0604020202020204" pitchFamily="34" charset="0"/>
              </a:rPr>
              <a:t>/</a:t>
            </a:r>
            <a:r>
              <a:rPr lang="en-GB" altLang="en-US" spc="150" dirty="0">
                <a:solidFill>
                  <a:srgbClr val="FFFF00"/>
                </a:solidFill>
                <a:effectLst>
                  <a:outerShdw blurRad="38100" dist="38100" dir="2700000" algn="tl">
                    <a:srgbClr val="000000"/>
                  </a:outerShdw>
                </a:effectLst>
                <a:latin typeface="Arial" panose="020B0604020202020204" pitchFamily="34" charset="0"/>
              </a:rPr>
              <a:t>(</a:t>
            </a:r>
            <a:r>
              <a:rPr lang="en-GB" altLang="en-US" i="1" dirty="0">
                <a:solidFill>
                  <a:srgbClr val="FFFF00"/>
                </a:solidFill>
                <a:effectLst>
                  <a:outerShdw blurRad="38100" dist="38100" dir="2700000" algn="tl">
                    <a:srgbClr val="000000"/>
                  </a:outerShdw>
                </a:effectLst>
                <a:latin typeface="Arial" panose="020B0604020202020204" pitchFamily="34" charset="0"/>
              </a:rPr>
              <a:t>L</a:t>
            </a:r>
            <a:r>
              <a:rPr lang="en-GB" altLang="en-US"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800" dirty="0">
                <a:solidFill>
                  <a:srgbClr val="FFFF00"/>
                </a:solidFill>
                <a:effectLst>
                  <a:outerShdw blurRad="38100" dist="38100" dir="2700000" algn="tl">
                    <a:srgbClr val="000000"/>
                  </a:outerShdw>
                </a:effectLst>
                <a:latin typeface="Arial" panose="020B0604020202020204" pitchFamily="34" charset="0"/>
              </a:rPr>
              <a:t> </a:t>
            </a:r>
            <a:r>
              <a:rPr lang="en-GB" altLang="en-US" dirty="0">
                <a:solidFill>
                  <a:srgbClr val="FFFF00"/>
                </a:solidFill>
                <a:effectLst>
                  <a:outerShdw blurRad="38100" dist="38100" dir="2700000" algn="tl">
                    <a:srgbClr val="000000"/>
                  </a:outerShdw>
                </a:effectLst>
                <a:latin typeface="Arial" panose="020B0604020202020204" pitchFamily="34" charset="0"/>
              </a:rPr>
              <a:t>+</a:t>
            </a:r>
            <a:r>
              <a:rPr lang="en-GB" altLang="en-US" sz="800" dirty="0">
                <a:solidFill>
                  <a:srgbClr val="FFFF00"/>
                </a:solidFill>
                <a:effectLst>
                  <a:outerShdw blurRad="38100" dist="38100" dir="2700000" algn="tl">
                    <a:srgbClr val="000000"/>
                  </a:outerShdw>
                </a:effectLst>
                <a:latin typeface="Arial" panose="020B0604020202020204" pitchFamily="34" charset="0"/>
              </a:rPr>
              <a:t> </a:t>
            </a:r>
            <a:r>
              <a:rPr lang="en-GB" altLang="en-US" i="1" dirty="0">
                <a:solidFill>
                  <a:srgbClr val="FFFF00"/>
                </a:solidFill>
                <a:effectLst>
                  <a:outerShdw blurRad="38100" dist="38100" dir="2700000" algn="tl">
                    <a:srgbClr val="000000"/>
                  </a:outerShdw>
                </a:effectLst>
                <a:latin typeface="Arial" panose="020B0604020202020204" pitchFamily="34" charset="0"/>
              </a:rPr>
              <a:t>L</a:t>
            </a:r>
            <a:r>
              <a:rPr lang="en-GB" altLang="en-US" baseline="-25000" dirty="0">
                <a:solidFill>
                  <a:srgbClr val="FFFF00"/>
                </a:solidFill>
                <a:effectLst>
                  <a:outerShdw blurRad="38100" dist="38100" dir="2700000" algn="tl">
                    <a:srgbClr val="000000"/>
                  </a:outerShdw>
                </a:effectLst>
                <a:latin typeface="Arial" panose="020B0604020202020204" pitchFamily="34" charset="0"/>
              </a:rPr>
              <a:t>2</a:t>
            </a:r>
            <a:r>
              <a:rPr lang="en-GB" altLang="en-US" dirty="0">
                <a:solidFill>
                  <a:srgbClr val="FFFF00"/>
                </a:solidFill>
                <a:effectLst>
                  <a:outerShdw blurRad="38100" dist="38100" dir="2700000" algn="tl">
                    <a:srgbClr val="000000"/>
                  </a:outerShdw>
                </a:effectLst>
                <a:latin typeface="Arial" panose="020B0604020202020204" pitchFamily="34" charset="0"/>
              </a:rPr>
              <a:t>)</a:t>
            </a:r>
          </a:p>
          <a:p>
            <a:pPr algn="ctr">
              <a:spcBef>
                <a:spcPct val="30000"/>
              </a:spcBef>
            </a:pPr>
            <a:r>
              <a:rPr lang="en-GB" altLang="en-US" dirty="0">
                <a:solidFill>
                  <a:srgbClr val="FFFF00"/>
                </a:solidFill>
                <a:effectLst>
                  <a:outerShdw blurRad="38100" dist="38100" dir="2700000" algn="tl">
                    <a:srgbClr val="000000"/>
                  </a:outerShdw>
                </a:effectLst>
                <a:latin typeface="Arial" panose="020B0604020202020204" pitchFamily="34" charset="0"/>
              </a:rPr>
              <a:t>(pure shear)</a:t>
            </a:r>
          </a:p>
        </p:txBody>
      </p:sp>
      <p:sp>
        <p:nvSpPr>
          <p:cNvPr id="227344" name="Rectangle 16">
            <a:extLst>
              <a:ext uri="{FF2B5EF4-FFF2-40B4-BE49-F238E27FC236}">
                <a16:creationId xmlns:a16="http://schemas.microsoft.com/office/drawing/2014/main" id="{B09443A9-146D-49BF-8D24-385A8FB81362}"/>
              </a:ext>
            </a:extLst>
          </p:cNvPr>
          <p:cNvSpPr>
            <a:spLocks noChangeArrowheads="1"/>
          </p:cNvSpPr>
          <p:nvPr/>
        </p:nvSpPr>
        <p:spPr bwMode="auto">
          <a:xfrm>
            <a:off x="328613" y="4260850"/>
            <a:ext cx="3219450" cy="79057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31755" name="Picture 2" descr="GR05.jpg">
            <a:extLst>
              <a:ext uri="{FF2B5EF4-FFF2-40B4-BE49-F238E27FC236}">
                <a16:creationId xmlns:a16="http://schemas.microsoft.com/office/drawing/2014/main" id="{FF3852E7-88DC-4305-8CC2-0DDE50494E83}"/>
              </a:ext>
            </a:extLst>
          </p:cNvPr>
          <p:cNvPicPr>
            <a:picLocks noChangeAspect="1"/>
          </p:cNvPicPr>
          <p:nvPr/>
        </p:nvPicPr>
        <p:blipFill>
          <a:blip r:embed="rId4">
            <a:lum bright="-14000" contrast="24000"/>
            <a:extLst>
              <a:ext uri="{28A0092B-C50C-407E-A947-70E740481C1C}">
                <a14:useLocalDpi xmlns:a14="http://schemas.microsoft.com/office/drawing/2010/main" val="0"/>
              </a:ext>
            </a:extLst>
          </a:blip>
          <a:srcRect/>
          <a:stretch>
            <a:fillRect/>
          </a:stretch>
        </p:blipFill>
        <p:spPr bwMode="auto">
          <a:xfrm>
            <a:off x="415925" y="4335463"/>
            <a:ext cx="3041650"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43" name="Text Box 15">
            <a:extLst>
              <a:ext uri="{FF2B5EF4-FFF2-40B4-BE49-F238E27FC236}">
                <a16:creationId xmlns:a16="http://schemas.microsoft.com/office/drawing/2014/main" id="{26114CFD-49C9-431A-84BA-1CC44D696432}"/>
              </a:ext>
            </a:extLst>
          </p:cNvPr>
          <p:cNvSpPr txBox="1">
            <a:spLocks noChangeArrowheads="1"/>
          </p:cNvSpPr>
          <p:nvPr/>
        </p:nvSpPr>
        <p:spPr bwMode="auto">
          <a:xfrm>
            <a:off x="128588" y="5945188"/>
            <a:ext cx="5737225" cy="746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9875" indent="-269875">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buClr>
                <a:srgbClr val="FF6600"/>
              </a:buClr>
              <a:buFont typeface="Wingdings" panose="05000000000000000000" pitchFamily="2" charset="2"/>
              <a:buChar char="Ø"/>
            </a:pPr>
            <a:r>
              <a:rPr lang="en-GB" altLang="en-US" sz="1700" dirty="0">
                <a:solidFill>
                  <a:srgbClr val="FF6600"/>
                </a:solidFill>
                <a:effectLst>
                  <a:outerShdw blurRad="38100" dist="38100" dir="2700000" algn="tl">
                    <a:srgbClr val="000000"/>
                  </a:outerShdw>
                </a:effectLst>
                <a:latin typeface="Arial" panose="020B0604020202020204" pitchFamily="34" charset="0"/>
              </a:rPr>
              <a:t>What happens to such faults at depth?</a:t>
            </a:r>
          </a:p>
          <a:p>
            <a:pPr>
              <a:spcBef>
                <a:spcPct val="50000"/>
              </a:spcBef>
              <a:buClr>
                <a:srgbClr val="FF6600"/>
              </a:buClr>
              <a:buFont typeface="Wingdings" panose="05000000000000000000" pitchFamily="2" charset="2"/>
              <a:buChar char="Ø"/>
            </a:pPr>
            <a:r>
              <a:rPr lang="en-GB" altLang="en-US" sz="1700" dirty="0">
                <a:solidFill>
                  <a:srgbClr val="FF6600"/>
                </a:solidFill>
                <a:effectLst>
                  <a:outerShdw blurRad="38100" dist="38100" dir="2700000" algn="tl">
                    <a:srgbClr val="000000"/>
                  </a:outerShdw>
                </a:effectLst>
                <a:latin typeface="Arial" panose="020B0604020202020204" pitchFamily="34" charset="0"/>
              </a:rPr>
              <a:t>How is it possible to have more than </a:t>
            </a:r>
            <a:r>
              <a:rPr lang="en-GB" altLang="en-US" sz="1700" spc="300" dirty="0">
                <a:solidFill>
                  <a:srgbClr val="FF6600"/>
                </a:solidFill>
                <a:effectLst>
                  <a:outerShdw blurRad="38100" dist="38100" dir="2700000" algn="tl">
                    <a:srgbClr val="000000"/>
                  </a:outerShdw>
                </a:effectLst>
                <a:latin typeface="Arial" panose="020B0604020202020204" pitchFamily="34" charset="0"/>
              </a:rPr>
              <a:t>~</a:t>
            </a:r>
            <a:r>
              <a:rPr lang="en-GB" altLang="en-US" sz="1700" dirty="0">
                <a:solidFill>
                  <a:srgbClr val="FF6600"/>
                </a:solidFill>
                <a:effectLst>
                  <a:outerShdw blurRad="38100" dist="38100" dir="2700000" algn="tl">
                    <a:srgbClr val="000000"/>
                  </a:outerShdw>
                </a:effectLst>
                <a:latin typeface="Arial" panose="020B0604020202020204" pitchFamily="34" charset="0"/>
              </a:rPr>
              <a:t>30% extension?</a:t>
            </a:r>
          </a:p>
        </p:txBody>
      </p:sp>
      <p:pic>
        <p:nvPicPr>
          <p:cNvPr id="31761" name="Picture 17" descr="13a3">
            <a:extLst>
              <a:ext uri="{FF2B5EF4-FFF2-40B4-BE49-F238E27FC236}">
                <a16:creationId xmlns:a16="http://schemas.microsoft.com/office/drawing/2014/main" id="{3FDD8224-26B9-437A-AF58-C97F7B92C6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4578350"/>
            <a:ext cx="2921000" cy="20574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9" name="Picture 11" descr="13b1-SierraNevada_Betics">
            <a:extLst>
              <a:ext uri="{FF2B5EF4-FFF2-40B4-BE49-F238E27FC236}">
                <a16:creationId xmlns:a16="http://schemas.microsoft.com/office/drawing/2014/main" id="{97AFDE8C-24B5-4360-B96C-7B2D79C4B8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750" y="868363"/>
            <a:ext cx="6175375" cy="349408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8363" name="Rectangle 11">
            <a:extLst>
              <a:ext uri="{FF2B5EF4-FFF2-40B4-BE49-F238E27FC236}">
                <a16:creationId xmlns:a16="http://schemas.microsoft.com/office/drawing/2014/main" id="{956F6D1F-EE85-4B86-808C-3B212BC3A1ED}"/>
              </a:ext>
            </a:extLst>
          </p:cNvPr>
          <p:cNvSpPr>
            <a:spLocks noChangeArrowheads="1"/>
          </p:cNvSpPr>
          <p:nvPr/>
        </p:nvSpPr>
        <p:spPr bwMode="auto">
          <a:xfrm>
            <a:off x="234950" y="4786313"/>
            <a:ext cx="3686175" cy="1951037"/>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32771" name="Rectangle 2">
            <a:extLst>
              <a:ext uri="{FF2B5EF4-FFF2-40B4-BE49-F238E27FC236}">
                <a16:creationId xmlns:a16="http://schemas.microsoft.com/office/drawing/2014/main" id="{CA1685F3-0569-418B-8EC5-FD2D046A800B}"/>
              </a:ext>
            </a:extLst>
          </p:cNvPr>
          <p:cNvSpPr>
            <a:spLocks noGrp="1" noChangeArrowheads="1"/>
          </p:cNvSpPr>
          <p:nvPr>
            <p:ph type="title"/>
          </p:nvPr>
        </p:nvSpPr>
        <p:spPr>
          <a:noFill/>
        </p:spPr>
        <p:txBody>
          <a:bodyPr/>
          <a:lstStyle/>
          <a:p>
            <a:r>
              <a:rPr lang="en-GB" altLang="en-US">
                <a:effectLst/>
              </a:rPr>
              <a:t>Planar rotational faults (domino mode)</a:t>
            </a:r>
          </a:p>
        </p:txBody>
      </p:sp>
      <p:sp>
        <p:nvSpPr>
          <p:cNvPr id="32772" name="Rectangle 3">
            <a:extLst>
              <a:ext uri="{FF2B5EF4-FFF2-40B4-BE49-F238E27FC236}">
                <a16:creationId xmlns:a16="http://schemas.microsoft.com/office/drawing/2014/main" id="{44FD9530-5797-4F20-A96E-BBCEAD994EB5}"/>
              </a:ext>
            </a:extLst>
          </p:cNvPr>
          <p:cNvSpPr>
            <a:spLocks noGrp="1" noChangeArrowheads="1"/>
          </p:cNvSpPr>
          <p:nvPr>
            <p:ph type="body" sz="half" idx="1"/>
          </p:nvPr>
        </p:nvSpPr>
        <p:spPr>
          <a:xfrm>
            <a:off x="103188" y="765175"/>
            <a:ext cx="2724150" cy="2622550"/>
          </a:xfrm>
          <a:noFill/>
        </p:spPr>
        <p:txBody>
          <a:bodyPr/>
          <a:lstStyle/>
          <a:p>
            <a:pPr marL="177800" indent="-177800"/>
            <a:r>
              <a:rPr lang="en-GB" altLang="en-US" sz="1700">
                <a:effectLst/>
              </a:rPr>
              <a:t>Sections across extended parts of the upper crust commonly show a series of </a:t>
            </a:r>
            <a:r>
              <a:rPr lang="en-GB" altLang="en-US" sz="1700">
                <a:solidFill>
                  <a:srgbClr val="FF66FF"/>
                </a:solidFill>
                <a:effectLst/>
              </a:rPr>
              <a:t>rotated fault blocks</a:t>
            </a:r>
            <a:r>
              <a:rPr lang="en-GB" altLang="en-US" sz="1700">
                <a:effectLst/>
              </a:rPr>
              <a:t> bounded by planar faults, and arranged like a set of tilted </a:t>
            </a:r>
            <a:r>
              <a:rPr lang="en-GB" altLang="en-US" sz="1700">
                <a:solidFill>
                  <a:srgbClr val="FF6600"/>
                </a:solidFill>
                <a:effectLst/>
              </a:rPr>
              <a:t>dominoes</a:t>
            </a:r>
          </a:p>
        </p:txBody>
      </p:sp>
      <p:pic>
        <p:nvPicPr>
          <p:cNvPr id="32774" name="Picture 2" descr="GR04.jpg">
            <a:extLst>
              <a:ext uri="{FF2B5EF4-FFF2-40B4-BE49-F238E27FC236}">
                <a16:creationId xmlns:a16="http://schemas.microsoft.com/office/drawing/2014/main" id="{5D319753-5039-455F-8AC5-94D16D6B89ED}"/>
              </a:ext>
            </a:extLst>
          </p:cNvPr>
          <p:cNvPicPr>
            <a:picLocks noGrp="1" noChangeAspect="1"/>
          </p:cNvPicPr>
          <p:nvPr>
            <p:ph sz="quarter" idx="3"/>
          </p:nvPr>
        </p:nvPicPr>
        <p:blipFill>
          <a:blip r:embed="rId4">
            <a:lum bright="-8000" contrast="20000"/>
            <a:extLst>
              <a:ext uri="{28A0092B-C50C-407E-A947-70E740481C1C}">
                <a14:useLocalDpi xmlns:a14="http://schemas.microsoft.com/office/drawing/2010/main" val="0"/>
              </a:ext>
            </a:extLst>
          </a:blip>
          <a:srcRect/>
          <a:stretch>
            <a:fillRect/>
          </a:stretch>
        </p:blipFill>
        <p:spPr>
          <a:xfrm>
            <a:off x="300038" y="4864100"/>
            <a:ext cx="3554412" cy="180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8361" name="Text Box 9">
            <a:extLst>
              <a:ext uri="{FF2B5EF4-FFF2-40B4-BE49-F238E27FC236}">
                <a16:creationId xmlns:a16="http://schemas.microsoft.com/office/drawing/2014/main" id="{889349F3-854F-49E3-8E4E-C4A0AF56ECC5}"/>
              </a:ext>
            </a:extLst>
          </p:cNvPr>
          <p:cNvSpPr txBox="1">
            <a:spLocks noChangeArrowheads="1"/>
          </p:cNvSpPr>
          <p:nvPr/>
        </p:nvSpPr>
        <p:spPr bwMode="auto">
          <a:xfrm>
            <a:off x="169863" y="3595688"/>
            <a:ext cx="2582862"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defRPr/>
            </a:pPr>
            <a:r>
              <a:rPr lang="en-GB" sz="1400">
                <a:solidFill>
                  <a:srgbClr val="FFFF00"/>
                </a:solidFill>
                <a:effectLst>
                  <a:outerShdw blurRad="38100" dist="38100" dir="2700000" algn="tl">
                    <a:srgbClr val="000000"/>
                  </a:outerShdw>
                </a:effectLst>
                <a:latin typeface="Arial" charset="0"/>
              </a:rPr>
              <a:t>Incipient faults form at 60° (blue), slip leads to 30° rotation; a new set of faults form at 60° (red)</a:t>
            </a:r>
          </a:p>
        </p:txBody>
      </p:sp>
      <p:sp>
        <p:nvSpPr>
          <p:cNvPr id="228362" name="Text Box 10">
            <a:extLst>
              <a:ext uri="{FF2B5EF4-FFF2-40B4-BE49-F238E27FC236}">
                <a16:creationId xmlns:a16="http://schemas.microsoft.com/office/drawing/2014/main" id="{1F7FFEC5-FD82-4569-89AF-C75BD7855CB7}"/>
              </a:ext>
            </a:extLst>
          </p:cNvPr>
          <p:cNvSpPr txBox="1">
            <a:spLocks noChangeArrowheads="1"/>
          </p:cNvSpPr>
          <p:nvPr/>
        </p:nvSpPr>
        <p:spPr bwMode="auto">
          <a:xfrm>
            <a:off x="4043363" y="6078538"/>
            <a:ext cx="495617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2239963" algn="l"/>
              </a:tabLst>
              <a:defRPr sz="1600">
                <a:solidFill>
                  <a:schemeClr val="tx1"/>
                </a:solidFill>
                <a:latin typeface="Helvetica" panose="020B0604020202020204" pitchFamily="34" charset="0"/>
              </a:defRPr>
            </a:lvl1pPr>
            <a:lvl2pPr marL="742950" indent="-285750">
              <a:tabLst>
                <a:tab pos="2239963" algn="l"/>
              </a:tabLst>
              <a:defRPr sz="1600">
                <a:solidFill>
                  <a:schemeClr val="tx1"/>
                </a:solidFill>
                <a:latin typeface="Helvetica" panose="020B0604020202020204" pitchFamily="34" charset="0"/>
              </a:defRPr>
            </a:lvl2pPr>
            <a:lvl3pPr marL="1143000" indent="-228600">
              <a:tabLst>
                <a:tab pos="2239963" algn="l"/>
              </a:tabLst>
              <a:defRPr sz="1600">
                <a:solidFill>
                  <a:schemeClr val="tx1"/>
                </a:solidFill>
                <a:latin typeface="Helvetica" panose="020B0604020202020204" pitchFamily="34" charset="0"/>
              </a:defRPr>
            </a:lvl3pPr>
            <a:lvl4pPr marL="1600200" indent="-228600">
              <a:tabLst>
                <a:tab pos="2239963" algn="l"/>
              </a:tabLst>
              <a:defRPr sz="1600">
                <a:solidFill>
                  <a:schemeClr val="tx1"/>
                </a:solidFill>
                <a:latin typeface="Helvetica" panose="020B0604020202020204" pitchFamily="34" charset="0"/>
              </a:defRPr>
            </a:lvl4pPr>
            <a:lvl5pPr marL="2057400" indent="-228600">
              <a:tabLst>
                <a:tab pos="2239963" algn="l"/>
              </a:tabLst>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tabLst>
                <a:tab pos="2239963" algn="l"/>
              </a:tabLst>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tabLst>
                <a:tab pos="2239963" algn="l"/>
              </a:tabLst>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tabLst>
                <a:tab pos="2239963" algn="l"/>
              </a:tabLst>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tabLst>
                <a:tab pos="2239963" algn="l"/>
              </a:tabLst>
              <a:defRPr sz="1600">
                <a:solidFill>
                  <a:schemeClr val="tx1"/>
                </a:solidFill>
                <a:latin typeface="Helvetica" panose="020B0604020202020204" pitchFamily="34" charset="0"/>
              </a:defRPr>
            </a:lvl9pPr>
          </a:lstStyle>
          <a:p>
            <a:pPr>
              <a:spcBef>
                <a:spcPct val="30000"/>
              </a:spcBef>
            </a:pPr>
            <a:r>
              <a:rPr lang="en-GB" altLang="en-US" dirty="0">
                <a:solidFill>
                  <a:srgbClr val="FFFF00"/>
                </a:solidFill>
                <a:effectLst>
                  <a:outerShdw blurRad="38100" dist="38100" dir="2700000" algn="tl">
                    <a:srgbClr val="000000"/>
                  </a:outerShdw>
                </a:effectLst>
                <a:latin typeface="Arial" panose="020B0604020202020204" pitchFamily="34" charset="0"/>
              </a:rPr>
              <a:t>extension:   </a:t>
            </a:r>
            <a:r>
              <a:rPr lang="en-GB" altLang="en-US" i="1" dirty="0">
                <a:solidFill>
                  <a:srgbClr val="FFFF00"/>
                </a:solidFill>
                <a:effectLst>
                  <a:outerShdw blurRad="38100" dist="38100" dir="2700000" algn="tl">
                    <a:srgbClr val="000000"/>
                  </a:outerShdw>
                </a:effectLst>
                <a:latin typeface="Arial" panose="020B0604020202020204" pitchFamily="34" charset="0"/>
              </a:rPr>
              <a:t>e</a:t>
            </a:r>
            <a:r>
              <a:rPr lang="en-GB" altLang="en-US" dirty="0">
                <a:solidFill>
                  <a:srgbClr val="FFFF00"/>
                </a:solidFill>
                <a:effectLst>
                  <a:outerShdw blurRad="38100" dist="38100" dir="2700000" algn="tl">
                    <a:srgbClr val="000000"/>
                  </a:outerShdw>
                </a:effectLst>
                <a:latin typeface="Arial" panose="020B0604020202020204" pitchFamily="34" charset="0"/>
              </a:rPr>
              <a:t>  =  </a:t>
            </a:r>
            <a:r>
              <a:rPr lang="el-GR" altLang="en-US"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δ</a:t>
            </a:r>
            <a:r>
              <a:rPr lang="en-GB" altLang="en-US" sz="800" i="1" dirty="0">
                <a:solidFill>
                  <a:srgbClr val="FFFF00"/>
                </a:solidFill>
                <a:effectLst>
                  <a:outerShdw blurRad="38100" dist="38100" dir="2700000" algn="tl">
                    <a:srgbClr val="000000"/>
                  </a:outerShdw>
                </a:effectLst>
                <a:latin typeface="Symbol" panose="05050102010706020507" pitchFamily="18" charset="2"/>
              </a:rPr>
              <a:t> </a:t>
            </a:r>
            <a:r>
              <a:rPr lang="en-GB" altLang="en-US" i="1" dirty="0">
                <a:solidFill>
                  <a:srgbClr val="FFFF00"/>
                </a:solidFill>
                <a:effectLst>
                  <a:outerShdw blurRad="38100" dist="38100" dir="2700000" algn="tl">
                    <a:srgbClr val="000000"/>
                  </a:outerShdw>
                </a:effectLst>
                <a:latin typeface="Arial" panose="020B0604020202020204" pitchFamily="34" charset="0"/>
              </a:rPr>
              <a:t>L</a:t>
            </a:r>
            <a:r>
              <a:rPr lang="en-GB" altLang="en-US" dirty="0">
                <a:solidFill>
                  <a:srgbClr val="FFFF00"/>
                </a:solidFill>
                <a:effectLst>
                  <a:outerShdw blurRad="38100" dist="38100" dir="2700000" algn="tl">
                    <a:srgbClr val="000000"/>
                  </a:outerShdw>
                </a:effectLst>
                <a:latin typeface="Arial" panose="020B0604020202020204" pitchFamily="34" charset="0"/>
              </a:rPr>
              <a:t> / </a:t>
            </a:r>
            <a:r>
              <a:rPr lang="en-GB" altLang="en-US" i="1" dirty="0">
                <a:solidFill>
                  <a:srgbClr val="FFFF00"/>
                </a:solidFill>
                <a:effectLst>
                  <a:outerShdw blurRad="38100" dist="38100" dir="2700000" algn="tl">
                    <a:srgbClr val="000000"/>
                  </a:outerShdw>
                </a:effectLst>
                <a:latin typeface="Arial" panose="020B0604020202020204" pitchFamily="34" charset="0"/>
              </a:rPr>
              <a:t>L</a:t>
            </a:r>
            <a:r>
              <a:rPr lang="en-GB" altLang="en-US" dirty="0">
                <a:solidFill>
                  <a:srgbClr val="FFFF00"/>
                </a:solidFill>
                <a:effectLst>
                  <a:outerShdw blurRad="38100" dist="38100" dir="2700000" algn="tl">
                    <a:srgbClr val="000000"/>
                  </a:outerShdw>
                </a:effectLst>
                <a:latin typeface="Arial" panose="020B0604020202020204" pitchFamily="34" charset="0"/>
              </a:rPr>
              <a:t>	=  (</a:t>
            </a:r>
            <a:r>
              <a:rPr lang="en-GB" altLang="en-US" i="1" dirty="0">
                <a:solidFill>
                  <a:srgbClr val="FFFF00"/>
                </a:solidFill>
                <a:effectLst>
                  <a:outerShdw blurRad="38100" dist="38100" dir="2700000" algn="tl">
                    <a:srgbClr val="000000"/>
                  </a:outerShdw>
                </a:effectLst>
                <a:latin typeface="Arial" panose="020B0604020202020204" pitchFamily="34" charset="0"/>
              </a:rPr>
              <a:t>d</a:t>
            </a:r>
            <a:r>
              <a:rPr lang="en-GB" altLang="en-US" sz="800" i="1" dirty="0">
                <a:solidFill>
                  <a:srgbClr val="FFFF00"/>
                </a:solidFill>
                <a:effectLst>
                  <a:outerShdw blurRad="38100" dist="38100" dir="2700000" algn="tl">
                    <a:srgbClr val="000000"/>
                  </a:outerShdw>
                </a:effectLst>
                <a:latin typeface="Arial" panose="020B0604020202020204" pitchFamily="34" charset="0"/>
              </a:rPr>
              <a:t> </a:t>
            </a:r>
            <a:r>
              <a:rPr lang="en-GB" altLang="en-US" dirty="0">
                <a:solidFill>
                  <a:srgbClr val="FFFF00"/>
                </a:solidFill>
                <a:effectLst>
                  <a:outerShdw blurRad="38100" dist="38100" dir="2700000" algn="tl">
                    <a:srgbClr val="000000"/>
                  </a:outerShdw>
                </a:effectLst>
                <a:latin typeface="Arial" panose="020B0604020202020204" pitchFamily="34" charset="0"/>
              </a:rPr>
              <a:t>cos</a:t>
            </a:r>
            <a:r>
              <a:rPr lang="en-GB" altLang="en-US" sz="800" dirty="0">
                <a:solidFill>
                  <a:srgbClr val="FFFF00"/>
                </a:solidFill>
                <a:effectLst>
                  <a:outerShdw blurRad="38100" dist="38100" dir="2700000" algn="tl">
                    <a:srgbClr val="000000"/>
                  </a:outerShdw>
                </a:effectLst>
                <a:latin typeface="Arial" panose="020B0604020202020204" pitchFamily="34" charset="0"/>
              </a:rPr>
              <a:t> </a:t>
            </a:r>
            <a:r>
              <a:rPr lang="el-GR" altLang="en-US"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θ</a:t>
            </a:r>
            <a:r>
              <a:rPr lang="en-GB" altLang="en-US" dirty="0">
                <a:solidFill>
                  <a:srgbClr val="FFFF00"/>
                </a:solidFill>
                <a:effectLst>
                  <a:outerShdw blurRad="38100" dist="38100" dir="2700000" algn="tl">
                    <a:srgbClr val="000000"/>
                  </a:outerShdw>
                </a:effectLst>
                <a:latin typeface="Arial" panose="020B0604020202020204" pitchFamily="34" charset="0"/>
              </a:rPr>
              <a:t> + </a:t>
            </a:r>
            <a:r>
              <a:rPr lang="en-GB" altLang="en-US" i="1" dirty="0">
                <a:solidFill>
                  <a:srgbClr val="FFFF00"/>
                </a:solidFill>
                <a:effectLst>
                  <a:outerShdw blurRad="38100" dist="38100" dir="2700000" algn="tl">
                    <a:srgbClr val="000000"/>
                  </a:outerShdw>
                </a:effectLst>
                <a:latin typeface="Arial" panose="020B0604020202020204" pitchFamily="34" charset="0"/>
              </a:rPr>
              <a:t>L</a:t>
            </a:r>
            <a:r>
              <a:rPr lang="en-GB" altLang="en-US" sz="800" dirty="0">
                <a:solidFill>
                  <a:srgbClr val="FFFF00"/>
                </a:solidFill>
                <a:effectLst>
                  <a:outerShdw blurRad="38100" dist="38100" dir="2700000" algn="tl">
                    <a:srgbClr val="000000"/>
                  </a:outerShdw>
                </a:effectLst>
                <a:latin typeface="Arial" panose="020B0604020202020204" pitchFamily="34" charset="0"/>
              </a:rPr>
              <a:t> </a:t>
            </a:r>
            <a:r>
              <a:rPr lang="en-GB" altLang="en-US" dirty="0">
                <a:solidFill>
                  <a:srgbClr val="FFFF00"/>
                </a:solidFill>
                <a:effectLst>
                  <a:outerShdw blurRad="38100" dist="38100" dir="2700000" algn="tl">
                    <a:srgbClr val="000000"/>
                  </a:outerShdw>
                </a:effectLst>
                <a:latin typeface="Arial" panose="020B0604020202020204" pitchFamily="34" charset="0"/>
              </a:rPr>
              <a:t>cos</a:t>
            </a:r>
            <a:r>
              <a:rPr lang="en-GB" altLang="en-US" sz="800" dirty="0">
                <a:solidFill>
                  <a:srgbClr val="FFFF00"/>
                </a:solidFill>
                <a:effectLst>
                  <a:outerShdw blurRad="38100" dist="38100" dir="2700000" algn="tl">
                    <a:srgbClr val="000000"/>
                  </a:outerShdw>
                </a:effectLst>
                <a:latin typeface="Arial" panose="020B0604020202020204" pitchFamily="34" charset="0"/>
              </a:rPr>
              <a:t> </a:t>
            </a:r>
            <a:r>
              <a:rPr lang="el-GR" altLang="en-US"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α</a:t>
            </a:r>
            <a:r>
              <a:rPr lang="en-GB" altLang="en-US" dirty="0">
                <a:solidFill>
                  <a:srgbClr val="FFFF00"/>
                </a:solidFill>
                <a:effectLst>
                  <a:outerShdw blurRad="38100" dist="38100" dir="2700000" algn="tl">
                    <a:srgbClr val="000000"/>
                  </a:outerShdw>
                </a:effectLst>
                <a:latin typeface="Arial" panose="020B0604020202020204" pitchFamily="34" charset="0"/>
              </a:rPr>
              <a:t> - </a:t>
            </a:r>
            <a:r>
              <a:rPr lang="en-GB" altLang="en-US" i="1" dirty="0">
                <a:solidFill>
                  <a:srgbClr val="FFFF00"/>
                </a:solidFill>
                <a:effectLst>
                  <a:outerShdw blurRad="38100" dist="38100" dir="2700000" algn="tl">
                    <a:srgbClr val="000000"/>
                  </a:outerShdw>
                </a:effectLst>
                <a:latin typeface="Arial" panose="020B0604020202020204" pitchFamily="34" charset="0"/>
              </a:rPr>
              <a:t>L</a:t>
            </a:r>
            <a:r>
              <a:rPr lang="en-GB" altLang="en-US" sz="800" dirty="0">
                <a:solidFill>
                  <a:srgbClr val="FFFF00"/>
                </a:solidFill>
                <a:effectLst>
                  <a:outerShdw blurRad="38100" dist="38100" dir="2700000" algn="tl">
                    <a:srgbClr val="000000"/>
                  </a:outerShdw>
                </a:effectLst>
                <a:latin typeface="Arial" panose="020B0604020202020204" pitchFamily="34" charset="0"/>
              </a:rPr>
              <a:t> </a:t>
            </a:r>
            <a:r>
              <a:rPr lang="en-GB" altLang="en-US" dirty="0">
                <a:solidFill>
                  <a:srgbClr val="FFFF00"/>
                </a:solidFill>
                <a:effectLst>
                  <a:outerShdw blurRad="38100" dist="38100" dir="2700000" algn="tl">
                    <a:srgbClr val="000000"/>
                  </a:outerShdw>
                </a:effectLst>
                <a:latin typeface="Arial" panose="020B0604020202020204" pitchFamily="34" charset="0"/>
              </a:rPr>
              <a:t>) / </a:t>
            </a:r>
            <a:r>
              <a:rPr lang="en-GB" altLang="en-US" i="1" dirty="0">
                <a:solidFill>
                  <a:srgbClr val="FFFF00"/>
                </a:solidFill>
                <a:effectLst>
                  <a:outerShdw blurRad="38100" dist="38100" dir="2700000" algn="tl">
                    <a:srgbClr val="000000"/>
                  </a:outerShdw>
                </a:effectLst>
                <a:latin typeface="Arial" panose="020B0604020202020204" pitchFamily="34" charset="0"/>
              </a:rPr>
              <a:t>L</a:t>
            </a:r>
          </a:p>
          <a:p>
            <a:pPr>
              <a:spcBef>
                <a:spcPct val="30000"/>
              </a:spcBef>
            </a:pPr>
            <a:r>
              <a:rPr lang="en-GB" altLang="en-US" dirty="0">
                <a:solidFill>
                  <a:srgbClr val="FFFF00"/>
                </a:solidFill>
                <a:effectLst>
                  <a:outerShdw blurRad="38100" dist="38100" dir="2700000" algn="tl">
                    <a:srgbClr val="000000"/>
                  </a:outerShdw>
                </a:effectLst>
                <a:latin typeface="Arial" panose="020B0604020202020204" pitchFamily="34" charset="0"/>
              </a:rPr>
              <a:t>                                      	=  [ sin (</a:t>
            </a:r>
            <a:r>
              <a:rPr lang="el-GR" altLang="en-US"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α</a:t>
            </a:r>
            <a:r>
              <a:rPr lang="en-GB" altLang="en-US" dirty="0">
                <a:solidFill>
                  <a:srgbClr val="FFFF00"/>
                </a:solidFill>
                <a:effectLst>
                  <a:outerShdw blurRad="38100" dist="38100" dir="2700000" algn="tl">
                    <a:srgbClr val="000000"/>
                  </a:outerShdw>
                </a:effectLst>
                <a:latin typeface="Arial" panose="020B0604020202020204" pitchFamily="34" charset="0"/>
              </a:rPr>
              <a:t> +</a:t>
            </a:r>
            <a:r>
              <a:rPr lang="el-GR" altLang="en-US"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θ</a:t>
            </a:r>
            <a:r>
              <a:rPr lang="en-GB" altLang="en-US" sz="8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 </a:t>
            </a:r>
            <a:r>
              <a:rPr lang="en-GB" altLang="en-US" sz="800" i="1" dirty="0">
                <a:solidFill>
                  <a:srgbClr val="FFFF00"/>
                </a:solidFill>
                <a:effectLst>
                  <a:outerShdw blurRad="38100" dist="38100" dir="2700000" algn="tl">
                    <a:srgbClr val="000000"/>
                  </a:outerShdw>
                </a:effectLst>
                <a:latin typeface="Symbol" panose="05050102010706020507" pitchFamily="18" charset="2"/>
              </a:rPr>
              <a:t> </a:t>
            </a:r>
            <a:r>
              <a:rPr lang="en-GB" altLang="en-US" dirty="0">
                <a:solidFill>
                  <a:srgbClr val="FFFF00"/>
                </a:solidFill>
                <a:effectLst>
                  <a:outerShdw blurRad="38100" dist="38100" dir="2700000" algn="tl">
                    <a:srgbClr val="000000"/>
                  </a:outerShdw>
                </a:effectLst>
                <a:latin typeface="Arial" panose="020B0604020202020204" pitchFamily="34" charset="0"/>
              </a:rPr>
              <a:t>) / sin </a:t>
            </a:r>
            <a:r>
              <a:rPr lang="el-GR" altLang="en-US"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θ</a:t>
            </a:r>
            <a:r>
              <a:rPr lang="en-GB" altLang="en-US" i="1" dirty="0">
                <a:solidFill>
                  <a:srgbClr val="FFFF00"/>
                </a:solidFill>
                <a:effectLst>
                  <a:outerShdw blurRad="38100" dist="38100" dir="2700000" algn="tl">
                    <a:srgbClr val="000000"/>
                  </a:outerShdw>
                </a:effectLst>
                <a:latin typeface="Symbol" panose="05050102010706020507" pitchFamily="18" charset="2"/>
              </a:rPr>
              <a:t> </a:t>
            </a:r>
            <a:r>
              <a:rPr lang="en-GB" altLang="en-US" dirty="0">
                <a:solidFill>
                  <a:srgbClr val="FFFF00"/>
                </a:solidFill>
                <a:effectLst>
                  <a:outerShdw blurRad="38100" dist="38100" dir="2700000" algn="tl">
                    <a:srgbClr val="000000"/>
                  </a:outerShdw>
                </a:effectLst>
                <a:latin typeface="Arial" panose="020B0604020202020204" pitchFamily="34" charset="0"/>
              </a:rPr>
              <a:t>] - 1</a:t>
            </a:r>
          </a:p>
        </p:txBody>
      </p:sp>
      <p:pic>
        <p:nvPicPr>
          <p:cNvPr id="32780" name="Picture 12" descr="13b2">
            <a:extLst>
              <a:ext uri="{FF2B5EF4-FFF2-40B4-BE49-F238E27FC236}">
                <a16:creationId xmlns:a16="http://schemas.microsoft.com/office/drawing/2014/main" id="{F0700131-96AE-4B13-8F6F-60E2BF7F68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3550" y="4529138"/>
            <a:ext cx="4438650" cy="14668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800" name="Picture 8" descr="13b4-mylonite_Betics">
            <a:extLst>
              <a:ext uri="{FF2B5EF4-FFF2-40B4-BE49-F238E27FC236}">
                <a16:creationId xmlns:a16="http://schemas.microsoft.com/office/drawing/2014/main" id="{BCED970B-0B43-4E3B-B5F0-DA3E538A1E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912" y="2733675"/>
            <a:ext cx="6359526" cy="3261379"/>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3794" name="Rectangle 2">
            <a:extLst>
              <a:ext uri="{FF2B5EF4-FFF2-40B4-BE49-F238E27FC236}">
                <a16:creationId xmlns:a16="http://schemas.microsoft.com/office/drawing/2014/main" id="{A2BA1E2E-3812-4051-9697-D4E61625DC6D}"/>
              </a:ext>
            </a:extLst>
          </p:cNvPr>
          <p:cNvSpPr>
            <a:spLocks noGrp="1" noChangeArrowheads="1"/>
          </p:cNvSpPr>
          <p:nvPr>
            <p:ph type="title"/>
          </p:nvPr>
        </p:nvSpPr>
        <p:spPr>
          <a:noFill/>
        </p:spPr>
        <p:txBody>
          <a:bodyPr/>
          <a:lstStyle/>
          <a:p>
            <a:r>
              <a:rPr lang="en-GB" altLang="en-US">
                <a:effectLst/>
              </a:rPr>
              <a:t>Planar rotational faults  2</a:t>
            </a:r>
          </a:p>
        </p:txBody>
      </p:sp>
      <p:sp>
        <p:nvSpPr>
          <p:cNvPr id="33795" name="Rectangle 3">
            <a:extLst>
              <a:ext uri="{FF2B5EF4-FFF2-40B4-BE49-F238E27FC236}">
                <a16:creationId xmlns:a16="http://schemas.microsoft.com/office/drawing/2014/main" id="{FECCE060-0725-451A-8497-A93ED8C32776}"/>
              </a:ext>
            </a:extLst>
          </p:cNvPr>
          <p:cNvSpPr>
            <a:spLocks noGrp="1" noChangeArrowheads="1"/>
          </p:cNvSpPr>
          <p:nvPr>
            <p:ph type="body" sz="half" idx="1"/>
          </p:nvPr>
        </p:nvSpPr>
        <p:spPr>
          <a:xfrm>
            <a:off x="100379" y="777875"/>
            <a:ext cx="8938113" cy="1817688"/>
          </a:xfrm>
          <a:noFill/>
        </p:spPr>
        <p:txBody>
          <a:bodyPr/>
          <a:lstStyle/>
          <a:p>
            <a:pPr marL="269875" indent="-269875"/>
            <a:r>
              <a:rPr lang="en-GB" altLang="en-US" sz="1700" dirty="0">
                <a:effectLst/>
              </a:rPr>
              <a:t>The rotating domino picture means that </a:t>
            </a:r>
            <a:r>
              <a:rPr lang="en-GB" altLang="en-US" sz="1700" dirty="0">
                <a:solidFill>
                  <a:srgbClr val="FF66FF"/>
                </a:solidFill>
                <a:effectLst/>
              </a:rPr>
              <a:t>voids</a:t>
            </a:r>
            <a:r>
              <a:rPr lang="en-GB" altLang="en-US" sz="1700" dirty="0">
                <a:effectLst/>
              </a:rPr>
              <a:t> open up during deformation</a:t>
            </a:r>
          </a:p>
          <a:p>
            <a:pPr marL="269875" indent="-269875">
              <a:spcBef>
                <a:spcPct val="30000"/>
              </a:spcBef>
              <a:buFont typeface="Wingdings" panose="05000000000000000000" pitchFamily="2" charset="2"/>
              <a:buChar char="Ø"/>
            </a:pPr>
            <a:r>
              <a:rPr lang="en-GB" altLang="en-US" sz="1700" dirty="0">
                <a:effectLst/>
              </a:rPr>
              <a:t>At the </a:t>
            </a:r>
            <a:r>
              <a:rPr lang="en-GB" altLang="en-US" sz="1700" dirty="0">
                <a:solidFill>
                  <a:srgbClr val="FF6600"/>
                </a:solidFill>
                <a:effectLst/>
              </a:rPr>
              <a:t>end of the system</a:t>
            </a:r>
            <a:r>
              <a:rPr lang="en-GB" altLang="en-US" sz="1700" dirty="0">
                <a:effectLst/>
              </a:rPr>
              <a:t> these may be avoided by having a </a:t>
            </a:r>
            <a:r>
              <a:rPr lang="en-GB" altLang="en-US" sz="1700" dirty="0" err="1">
                <a:solidFill>
                  <a:srgbClr val="FF66FF"/>
                </a:solidFill>
                <a:effectLst/>
              </a:rPr>
              <a:t>listric</a:t>
            </a:r>
            <a:r>
              <a:rPr lang="en-GB" altLang="en-US" sz="1700" dirty="0">
                <a:solidFill>
                  <a:srgbClr val="FF66FF"/>
                </a:solidFill>
                <a:effectLst/>
              </a:rPr>
              <a:t> fault</a:t>
            </a:r>
          </a:p>
          <a:p>
            <a:pPr marL="269875" indent="-269875">
              <a:spcBef>
                <a:spcPct val="30000"/>
              </a:spcBef>
              <a:buFont typeface="Wingdings" panose="05000000000000000000" pitchFamily="2" charset="2"/>
              <a:buChar char="Ø"/>
            </a:pPr>
            <a:r>
              <a:rPr lang="en-GB" altLang="en-US" sz="1700" dirty="0">
                <a:effectLst/>
              </a:rPr>
              <a:t>The voids between the </a:t>
            </a:r>
            <a:r>
              <a:rPr lang="en-GB" altLang="en-US" sz="1700" dirty="0">
                <a:solidFill>
                  <a:srgbClr val="FF6600"/>
                </a:solidFill>
                <a:effectLst/>
              </a:rPr>
              <a:t>base of the blocks and the substrate</a:t>
            </a:r>
            <a:r>
              <a:rPr lang="en-GB" altLang="en-US" sz="1700" dirty="0">
                <a:effectLst/>
              </a:rPr>
              <a:t> may be removed if there is a </a:t>
            </a:r>
            <a:r>
              <a:rPr lang="en-GB" altLang="en-US" sz="1700" dirty="0">
                <a:solidFill>
                  <a:srgbClr val="FF66FF"/>
                </a:solidFill>
                <a:effectLst/>
              </a:rPr>
              <a:t>mobile underlying medium</a:t>
            </a:r>
            <a:r>
              <a:rPr lang="en-GB" altLang="en-US" sz="1700" dirty="0">
                <a:effectLst/>
              </a:rPr>
              <a:t> (over-pressured mudstones, evaporites, magma) and/or if there is some </a:t>
            </a:r>
            <a:r>
              <a:rPr lang="en-GB" altLang="en-US" sz="1700" dirty="0">
                <a:solidFill>
                  <a:srgbClr val="FF66FF"/>
                </a:solidFill>
                <a:effectLst/>
              </a:rPr>
              <a:t>internal deformation</a:t>
            </a:r>
            <a:r>
              <a:rPr lang="en-GB" altLang="en-US" sz="1700" dirty="0">
                <a:effectLst/>
              </a:rPr>
              <a:t> of the blocks (brecciation, ductile flow)</a:t>
            </a:r>
          </a:p>
        </p:txBody>
      </p:sp>
      <p:sp>
        <p:nvSpPr>
          <p:cNvPr id="229382" name="Text Box 6">
            <a:extLst>
              <a:ext uri="{FF2B5EF4-FFF2-40B4-BE49-F238E27FC236}">
                <a16:creationId xmlns:a16="http://schemas.microsoft.com/office/drawing/2014/main" id="{144672C4-2D6B-4118-A8B8-20A83DFC0840}"/>
              </a:ext>
            </a:extLst>
          </p:cNvPr>
          <p:cNvSpPr txBox="1">
            <a:spLocks noChangeArrowheads="1"/>
          </p:cNvSpPr>
          <p:nvPr/>
        </p:nvSpPr>
        <p:spPr bwMode="auto">
          <a:xfrm>
            <a:off x="6693876" y="2786063"/>
            <a:ext cx="2310425" cy="3414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7800" indent="-177800">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70000"/>
              </a:spcBef>
              <a:buClr>
                <a:schemeClr val="tx1"/>
              </a:buClr>
              <a:buFontTx/>
              <a:buChar char="•"/>
              <a:defRPr/>
            </a:pPr>
            <a:r>
              <a:rPr lang="en-GB" sz="1700" dirty="0">
                <a:effectLst>
                  <a:outerShdw blurRad="38100" dist="38100" dir="2700000" algn="tl">
                    <a:srgbClr val="000000"/>
                  </a:outerShdw>
                </a:effectLst>
                <a:latin typeface="+mn-lt"/>
              </a:rPr>
              <a:t>This style of extension can accommodate </a:t>
            </a:r>
            <a:r>
              <a:rPr lang="en-GB" sz="1700" dirty="0">
                <a:solidFill>
                  <a:srgbClr val="FF66FF"/>
                </a:solidFill>
                <a:effectLst>
                  <a:outerShdw blurRad="38100" dist="38100" dir="2700000" algn="tl">
                    <a:srgbClr val="000000"/>
                  </a:outerShdw>
                </a:effectLst>
                <a:latin typeface="+mn-lt"/>
              </a:rPr>
              <a:t>large strains</a:t>
            </a:r>
          </a:p>
          <a:p>
            <a:pPr>
              <a:lnSpc>
                <a:spcPct val="120000"/>
              </a:lnSpc>
              <a:spcBef>
                <a:spcPct val="70000"/>
              </a:spcBef>
              <a:buClr>
                <a:schemeClr val="tx1"/>
              </a:buClr>
              <a:buFontTx/>
              <a:buChar char="•"/>
              <a:defRPr/>
            </a:pPr>
            <a:r>
              <a:rPr lang="en-GB" sz="1700" dirty="0">
                <a:effectLst>
                  <a:outerShdw blurRad="38100" dist="38100" dir="2700000" algn="tl">
                    <a:srgbClr val="000000"/>
                  </a:outerShdw>
                </a:effectLst>
                <a:latin typeface="+mn-lt"/>
              </a:rPr>
              <a:t>The generation of successive sets of faults can lead to some complex fault and layer </a:t>
            </a:r>
            <a:r>
              <a:rPr lang="en-GB" sz="1700" dirty="0">
                <a:solidFill>
                  <a:srgbClr val="FF66FF"/>
                </a:solidFill>
                <a:effectLst>
                  <a:outerShdw blurRad="38100" dist="38100" dir="2700000" algn="tl">
                    <a:srgbClr val="000000"/>
                  </a:outerShdw>
                </a:effectLst>
                <a:latin typeface="+mn-lt"/>
              </a:rPr>
              <a:t>cross-cutting relationships</a:t>
            </a:r>
            <a:r>
              <a:rPr lang="en-GB" sz="1700" dirty="0">
                <a:effectLst>
                  <a:outerShdw blurRad="38100" dist="38100" dir="2700000" algn="tl">
                    <a:srgbClr val="000000"/>
                  </a:outerShdw>
                </a:effectLst>
                <a:latin typeface="+mn-lt"/>
              </a:rPr>
              <a:t> </a:t>
            </a:r>
          </a:p>
        </p:txBody>
      </p:sp>
      <p:sp>
        <p:nvSpPr>
          <p:cNvPr id="229383" name="Text Box 7">
            <a:extLst>
              <a:ext uri="{FF2B5EF4-FFF2-40B4-BE49-F238E27FC236}">
                <a16:creationId xmlns:a16="http://schemas.microsoft.com/office/drawing/2014/main" id="{18ECAE0C-5907-4367-9F06-47574A9724DE}"/>
              </a:ext>
            </a:extLst>
          </p:cNvPr>
          <p:cNvSpPr txBox="1">
            <a:spLocks noChangeArrowheads="1"/>
          </p:cNvSpPr>
          <p:nvPr/>
        </p:nvSpPr>
        <p:spPr bwMode="auto">
          <a:xfrm>
            <a:off x="100379" y="6075362"/>
            <a:ext cx="6803295" cy="585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defRPr/>
            </a:pPr>
            <a:r>
              <a:rPr lang="en-GB" sz="1400" dirty="0">
                <a:solidFill>
                  <a:srgbClr val="FFFF00"/>
                </a:solidFill>
                <a:effectLst>
                  <a:outerShdw blurRad="38100" dist="38100" dir="2700000" algn="tl">
                    <a:srgbClr val="000000"/>
                  </a:outerShdw>
                </a:effectLst>
                <a:latin typeface="Arial" charset="0"/>
              </a:rPr>
              <a:t>Dominoes at thin-section scale: brittle failure of feldspar </a:t>
            </a:r>
            <a:r>
              <a:rPr lang="en-GB" sz="1400" dirty="0" err="1">
                <a:solidFill>
                  <a:srgbClr val="FFFF00"/>
                </a:solidFill>
                <a:effectLst>
                  <a:outerShdw blurRad="38100" dist="38100" dir="2700000" algn="tl">
                    <a:srgbClr val="000000"/>
                  </a:outerShdw>
                </a:effectLst>
                <a:latin typeface="Arial" charset="0"/>
              </a:rPr>
              <a:t>porphyroclasts</a:t>
            </a:r>
            <a:r>
              <a:rPr lang="en-GB" sz="1400" dirty="0">
                <a:solidFill>
                  <a:srgbClr val="FFFF00"/>
                </a:solidFill>
                <a:effectLst>
                  <a:outerShdw blurRad="38100" dist="38100" dir="2700000" algn="tl">
                    <a:srgbClr val="000000"/>
                  </a:outerShdw>
                </a:effectLst>
                <a:latin typeface="Arial" charset="0"/>
              </a:rPr>
              <a:t> in </a:t>
            </a:r>
            <a:r>
              <a:rPr lang="en-GB" sz="1400" dirty="0" err="1">
                <a:solidFill>
                  <a:srgbClr val="FFFF00"/>
                </a:solidFill>
                <a:effectLst>
                  <a:outerShdw blurRad="38100" dist="38100" dir="2700000" algn="tl">
                    <a:srgbClr val="000000"/>
                  </a:outerShdw>
                </a:effectLst>
                <a:latin typeface="Arial" charset="0"/>
              </a:rPr>
              <a:t>mylonites</a:t>
            </a:r>
            <a:r>
              <a:rPr lang="en-GB" sz="1400" dirty="0">
                <a:solidFill>
                  <a:srgbClr val="FFFF00"/>
                </a:solidFill>
                <a:effectLst>
                  <a:outerShdw blurRad="38100" dist="38100" dir="2700000" algn="tl">
                    <a:srgbClr val="000000"/>
                  </a:outerShdw>
                </a:effectLst>
                <a:latin typeface="Arial" charset="0"/>
              </a:rPr>
              <a:t> from the </a:t>
            </a:r>
            <a:r>
              <a:rPr lang="en-GB" sz="1400" dirty="0" err="1">
                <a:solidFill>
                  <a:srgbClr val="FFFF00"/>
                </a:solidFill>
                <a:effectLst>
                  <a:outerShdw blurRad="38100" dist="38100" dir="2700000" algn="tl">
                    <a:srgbClr val="000000"/>
                  </a:outerShdw>
                </a:effectLst>
                <a:latin typeface="Arial" charset="0"/>
              </a:rPr>
              <a:t>Betics</a:t>
            </a:r>
            <a:r>
              <a:rPr lang="en-GB" sz="1400" dirty="0">
                <a:solidFill>
                  <a:srgbClr val="FFFF00"/>
                </a:solidFill>
                <a:effectLst>
                  <a:outerShdw blurRad="38100" dist="38100" dir="2700000" algn="tl">
                    <a:srgbClr val="000000"/>
                  </a:outerShdw>
                </a:effectLst>
                <a:latin typeface="Arial" charset="0"/>
              </a:rPr>
              <a:t> (southern Spain). Note the ductile deformation of the substrate</a:t>
            </a: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F72C9217-B7C5-4EC2-8DFD-828174706F94}"/>
              </a:ext>
            </a:extLst>
          </p:cNvPr>
          <p:cNvSpPr>
            <a:spLocks noGrp="1" noChangeArrowheads="1"/>
          </p:cNvSpPr>
          <p:nvPr>
            <p:ph type="title"/>
          </p:nvPr>
        </p:nvSpPr>
        <p:spPr>
          <a:noFill/>
        </p:spPr>
        <p:txBody>
          <a:bodyPr/>
          <a:lstStyle/>
          <a:p>
            <a:r>
              <a:rPr lang="en-GB" altLang="en-US">
                <a:effectLst/>
              </a:rPr>
              <a:t>Listric rotational faults</a:t>
            </a:r>
          </a:p>
        </p:txBody>
      </p:sp>
      <p:sp>
        <p:nvSpPr>
          <p:cNvPr id="34819" name="Rectangle 3">
            <a:extLst>
              <a:ext uri="{FF2B5EF4-FFF2-40B4-BE49-F238E27FC236}">
                <a16:creationId xmlns:a16="http://schemas.microsoft.com/office/drawing/2014/main" id="{00F0719F-0748-445A-B337-E79058AA9542}"/>
              </a:ext>
            </a:extLst>
          </p:cNvPr>
          <p:cNvSpPr>
            <a:spLocks noGrp="1" noChangeArrowheads="1"/>
          </p:cNvSpPr>
          <p:nvPr>
            <p:ph type="body" sz="half" idx="1"/>
          </p:nvPr>
        </p:nvSpPr>
        <p:spPr>
          <a:xfrm>
            <a:off x="4219575" y="785813"/>
            <a:ext cx="4700588" cy="5951537"/>
          </a:xfrm>
          <a:noFill/>
        </p:spPr>
        <p:txBody>
          <a:bodyPr/>
          <a:lstStyle/>
          <a:p>
            <a:pPr marL="269875" indent="-269875">
              <a:spcBef>
                <a:spcPct val="75000"/>
              </a:spcBef>
            </a:pPr>
            <a:r>
              <a:rPr lang="en-GB" altLang="en-US" sz="1700" dirty="0">
                <a:solidFill>
                  <a:srgbClr val="FF66FF"/>
                </a:solidFill>
                <a:effectLst/>
              </a:rPr>
              <a:t>Extension on </a:t>
            </a:r>
            <a:r>
              <a:rPr lang="en-GB" altLang="en-US" sz="1700" dirty="0" err="1">
                <a:solidFill>
                  <a:srgbClr val="FF66FF"/>
                </a:solidFill>
                <a:effectLst/>
              </a:rPr>
              <a:t>listric</a:t>
            </a:r>
            <a:r>
              <a:rPr lang="en-GB" altLang="en-US" sz="1700" dirty="0">
                <a:solidFill>
                  <a:srgbClr val="FF66FF"/>
                </a:solidFill>
                <a:effectLst/>
              </a:rPr>
              <a:t> faults</a:t>
            </a:r>
            <a:r>
              <a:rPr lang="en-GB" altLang="en-US" sz="1700" dirty="0">
                <a:effectLst/>
              </a:rPr>
              <a:t> must be accompanied by significant </a:t>
            </a:r>
            <a:r>
              <a:rPr lang="en-GB" altLang="en-US" sz="1700" dirty="0">
                <a:solidFill>
                  <a:srgbClr val="FF6600"/>
                </a:solidFill>
                <a:effectLst/>
              </a:rPr>
              <a:t>hanging wall deformation</a:t>
            </a:r>
            <a:r>
              <a:rPr lang="en-GB" altLang="en-US" sz="1700" dirty="0">
                <a:effectLst/>
              </a:rPr>
              <a:t> in order to resolve the space problems</a:t>
            </a:r>
          </a:p>
          <a:p>
            <a:pPr marL="269875" indent="-269875">
              <a:spcBef>
                <a:spcPct val="65000"/>
              </a:spcBef>
              <a:buFont typeface="Wingdings" panose="05000000000000000000" pitchFamily="2" charset="2"/>
              <a:buChar char="Ø"/>
            </a:pPr>
            <a:r>
              <a:rPr lang="en-GB" altLang="en-US" sz="1700" dirty="0">
                <a:effectLst/>
              </a:rPr>
              <a:t>Rigid displacement of the hanging wall of a </a:t>
            </a:r>
            <a:r>
              <a:rPr lang="en-GB" altLang="en-US" sz="1700" dirty="0" err="1">
                <a:effectLst/>
              </a:rPr>
              <a:t>listric</a:t>
            </a:r>
            <a:r>
              <a:rPr lang="en-GB" altLang="en-US" sz="1700" dirty="0">
                <a:effectLst/>
              </a:rPr>
              <a:t> fault opens a large gap</a:t>
            </a:r>
          </a:p>
          <a:p>
            <a:pPr marL="269875" indent="-269875">
              <a:spcBef>
                <a:spcPct val="65000"/>
              </a:spcBef>
              <a:buFont typeface="Wingdings" panose="05000000000000000000" pitchFamily="2" charset="2"/>
              <a:buChar char="Ø"/>
            </a:pPr>
            <a:r>
              <a:rPr lang="en-GB" altLang="en-US" sz="1700" dirty="0">
                <a:effectLst/>
              </a:rPr>
              <a:t>If the bottom edge of the hanging wall is forced to </a:t>
            </a:r>
            <a:r>
              <a:rPr lang="en-GB" altLang="en-US" sz="1700" dirty="0">
                <a:solidFill>
                  <a:srgbClr val="FF66FF"/>
                </a:solidFill>
                <a:effectLst/>
              </a:rPr>
              <a:t>conform to the shape</a:t>
            </a:r>
            <a:r>
              <a:rPr lang="en-GB" altLang="en-US" sz="1700" dirty="0">
                <a:effectLst/>
              </a:rPr>
              <a:t> of the fault (by vertical subsidence or other deformation processes), while keeping layer length constant, the resulting geometry is a </a:t>
            </a:r>
            <a:r>
              <a:rPr lang="en-GB" altLang="en-US" sz="1700" dirty="0">
                <a:solidFill>
                  <a:srgbClr val="FF6600"/>
                </a:solidFill>
                <a:effectLst/>
              </a:rPr>
              <a:t>rollover </a:t>
            </a:r>
            <a:r>
              <a:rPr lang="en-GB" altLang="en-US" sz="1700" dirty="0" err="1">
                <a:solidFill>
                  <a:srgbClr val="FF6600"/>
                </a:solidFill>
                <a:effectLst/>
              </a:rPr>
              <a:t>antiform</a:t>
            </a:r>
            <a:r>
              <a:rPr lang="en-GB" altLang="en-US" sz="1700" dirty="0">
                <a:effectLst/>
              </a:rPr>
              <a:t>.</a:t>
            </a:r>
            <a:r>
              <a:rPr lang="en-GB" altLang="en-US" sz="1700" dirty="0">
                <a:solidFill>
                  <a:srgbClr val="FF6600"/>
                </a:solidFill>
                <a:effectLst/>
              </a:rPr>
              <a:t> </a:t>
            </a:r>
            <a:r>
              <a:rPr lang="en-GB" altLang="en-US" sz="1700" dirty="0">
                <a:effectLst/>
              </a:rPr>
              <a:t>But this generates another space problem at the end of the section</a:t>
            </a:r>
          </a:p>
          <a:p>
            <a:pPr marL="269875" indent="-269875">
              <a:spcBef>
                <a:spcPct val="65000"/>
              </a:spcBef>
              <a:buFont typeface="Wingdings" panose="05000000000000000000" pitchFamily="2" charset="2"/>
              <a:buChar char="Ø"/>
            </a:pPr>
            <a:r>
              <a:rPr lang="en-GB" altLang="en-US" sz="1700" dirty="0">
                <a:effectLst/>
              </a:rPr>
              <a:t>This second space problem may be alleviated by allowing layer-parallel extension through the formation of a set of </a:t>
            </a:r>
            <a:r>
              <a:rPr lang="en-GB" altLang="en-US" sz="1700" dirty="0">
                <a:solidFill>
                  <a:srgbClr val="FF66FF"/>
                </a:solidFill>
                <a:effectLst/>
              </a:rPr>
              <a:t>antithetic faults</a:t>
            </a:r>
          </a:p>
        </p:txBody>
      </p:sp>
      <p:pic>
        <p:nvPicPr>
          <p:cNvPr id="34820" name="Picture 4" descr="11a">
            <a:extLst>
              <a:ext uri="{FF2B5EF4-FFF2-40B4-BE49-F238E27FC236}">
                <a16:creationId xmlns:a16="http://schemas.microsoft.com/office/drawing/2014/main" id="{B8D124E6-542B-48F6-873D-799C85F5894B}"/>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77813" y="923925"/>
            <a:ext cx="3822700" cy="56673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a:extLst>
              <a:ext uri="{FF2B5EF4-FFF2-40B4-BE49-F238E27FC236}">
                <a16:creationId xmlns:a16="http://schemas.microsoft.com/office/drawing/2014/main" id="{C90FFAC2-1264-4BF7-9D60-32FB6E879188}"/>
              </a:ext>
            </a:extLst>
          </p:cNvPr>
          <p:cNvSpPr>
            <a:spLocks noGrp="1" noChangeArrowheads="1"/>
          </p:cNvSpPr>
          <p:nvPr>
            <p:ph type="title"/>
          </p:nvPr>
        </p:nvSpPr>
        <p:spPr>
          <a:noFill/>
        </p:spPr>
        <p:txBody>
          <a:bodyPr/>
          <a:lstStyle/>
          <a:p>
            <a:r>
              <a:rPr lang="en-GB" altLang="en-US">
                <a:effectLst/>
              </a:rPr>
              <a:t>Listric rotational faults  2</a:t>
            </a:r>
          </a:p>
        </p:txBody>
      </p:sp>
      <p:sp>
        <p:nvSpPr>
          <p:cNvPr id="35844" name="Rectangle 3">
            <a:extLst>
              <a:ext uri="{FF2B5EF4-FFF2-40B4-BE49-F238E27FC236}">
                <a16:creationId xmlns:a16="http://schemas.microsoft.com/office/drawing/2014/main" id="{2DAC3AF1-2057-4B8A-8AFD-754C2A3D9C3E}"/>
              </a:ext>
            </a:extLst>
          </p:cNvPr>
          <p:cNvSpPr>
            <a:spLocks noGrp="1" noChangeArrowheads="1"/>
          </p:cNvSpPr>
          <p:nvPr>
            <p:ph type="body" sz="half" idx="1"/>
          </p:nvPr>
        </p:nvSpPr>
        <p:spPr>
          <a:xfrm>
            <a:off x="131763" y="784225"/>
            <a:ext cx="8880475" cy="801688"/>
          </a:xfrm>
          <a:noFill/>
        </p:spPr>
        <p:txBody>
          <a:bodyPr/>
          <a:lstStyle/>
          <a:p>
            <a:pPr marL="177800" indent="-177800">
              <a:spcBef>
                <a:spcPct val="75000"/>
              </a:spcBef>
              <a:tabLst>
                <a:tab pos="177800" algn="l"/>
              </a:tabLst>
            </a:pPr>
            <a:r>
              <a:rPr lang="en-GB" altLang="en-US" sz="1700" dirty="0">
                <a:effectLst/>
              </a:rPr>
              <a:t>In fact, the space problems created by slip on a </a:t>
            </a:r>
            <a:r>
              <a:rPr lang="en-GB" altLang="en-US" sz="1700" dirty="0" err="1">
                <a:effectLst/>
              </a:rPr>
              <a:t>listric</a:t>
            </a:r>
            <a:r>
              <a:rPr lang="en-GB" altLang="en-US" sz="1700" dirty="0">
                <a:effectLst/>
              </a:rPr>
              <a:t> fault may be resolved by a </a:t>
            </a:r>
            <a:r>
              <a:rPr lang="en-GB" altLang="en-US" sz="1700" dirty="0">
                <a:solidFill>
                  <a:srgbClr val="FF66FF"/>
                </a:solidFill>
                <a:effectLst/>
              </a:rPr>
              <a:t>combination</a:t>
            </a:r>
            <a:r>
              <a:rPr lang="en-GB" altLang="en-US" sz="1700" dirty="0">
                <a:effectLst/>
              </a:rPr>
              <a:t> of rollover </a:t>
            </a:r>
            <a:r>
              <a:rPr lang="en-GB" altLang="en-US" sz="1700" dirty="0" err="1">
                <a:effectLst/>
              </a:rPr>
              <a:t>antiform</a:t>
            </a:r>
            <a:r>
              <a:rPr lang="en-GB" altLang="en-US" sz="1700" dirty="0">
                <a:effectLst/>
              </a:rPr>
              <a:t> and syntheti</a:t>
            </a:r>
            <a:r>
              <a:rPr lang="en-GB" altLang="en-US" sz="1700" spc="300" dirty="0">
                <a:effectLst/>
              </a:rPr>
              <a:t>c/</a:t>
            </a:r>
            <a:r>
              <a:rPr lang="en-GB" altLang="en-US" sz="1700" dirty="0">
                <a:effectLst/>
              </a:rPr>
              <a:t>antithetic fault forming processes</a:t>
            </a:r>
          </a:p>
        </p:txBody>
      </p:sp>
      <p:sp>
        <p:nvSpPr>
          <p:cNvPr id="35846" name="Rectangle 11">
            <a:extLst>
              <a:ext uri="{FF2B5EF4-FFF2-40B4-BE49-F238E27FC236}">
                <a16:creationId xmlns:a16="http://schemas.microsoft.com/office/drawing/2014/main" id="{BDD912E7-55F0-4881-9E60-C97312E60E0D}"/>
              </a:ext>
            </a:extLst>
          </p:cNvPr>
          <p:cNvSpPr>
            <a:spLocks noChangeArrowheads="1"/>
          </p:cNvSpPr>
          <p:nvPr/>
        </p:nvSpPr>
        <p:spPr bwMode="auto">
          <a:xfrm>
            <a:off x="123825" y="5948363"/>
            <a:ext cx="8880475" cy="80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tabLst>
                <a:tab pos="177800" algn="l"/>
              </a:tabLst>
              <a:defRPr sz="1600">
                <a:solidFill>
                  <a:schemeClr val="tx1"/>
                </a:solidFill>
                <a:latin typeface="Helvetica" panose="020B0604020202020204" pitchFamily="34" charset="0"/>
              </a:defRPr>
            </a:lvl1pPr>
            <a:lvl2pPr marL="742950" indent="-285750">
              <a:tabLst>
                <a:tab pos="177800" algn="l"/>
              </a:tabLst>
              <a:defRPr sz="1600">
                <a:solidFill>
                  <a:schemeClr val="tx1"/>
                </a:solidFill>
                <a:latin typeface="Helvetica" panose="020B0604020202020204" pitchFamily="34" charset="0"/>
              </a:defRPr>
            </a:lvl2pPr>
            <a:lvl3pPr marL="1143000" indent="-228600">
              <a:tabLst>
                <a:tab pos="177800" algn="l"/>
              </a:tabLst>
              <a:defRPr sz="1600">
                <a:solidFill>
                  <a:schemeClr val="tx1"/>
                </a:solidFill>
                <a:latin typeface="Helvetica" panose="020B0604020202020204" pitchFamily="34" charset="0"/>
              </a:defRPr>
            </a:lvl3pPr>
            <a:lvl4pPr marL="1600200" indent="-228600">
              <a:tabLst>
                <a:tab pos="177800" algn="l"/>
              </a:tabLst>
              <a:defRPr sz="1600">
                <a:solidFill>
                  <a:schemeClr val="tx1"/>
                </a:solidFill>
                <a:latin typeface="Helvetica" panose="020B0604020202020204" pitchFamily="34" charset="0"/>
              </a:defRPr>
            </a:lvl4pPr>
            <a:lvl5pPr marL="2057400" indent="-228600">
              <a:tabLst>
                <a:tab pos="177800" algn="l"/>
              </a:tabLst>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tabLst>
                <a:tab pos="177800" algn="l"/>
              </a:tabLst>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tabLst>
                <a:tab pos="177800" algn="l"/>
              </a:tabLst>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tabLst>
                <a:tab pos="177800" algn="l"/>
              </a:tabLst>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tabLst>
                <a:tab pos="177800" algn="l"/>
              </a:tabLst>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The general process of hanging wall deformation and subsidence in extensional systems is described as </a:t>
            </a:r>
            <a:r>
              <a:rPr lang="en-GB" altLang="en-US" sz="1700" dirty="0">
                <a:solidFill>
                  <a:srgbClr val="FF6600"/>
                </a:solidFill>
                <a:effectLst/>
                <a:latin typeface="Arial" panose="020B0604020202020204" pitchFamily="34" charset="0"/>
              </a:rPr>
              <a:t>hanging wall collapse</a:t>
            </a:r>
          </a:p>
        </p:txBody>
      </p:sp>
      <p:pic>
        <p:nvPicPr>
          <p:cNvPr id="35848" name="Picture 8" descr="13c2">
            <a:extLst>
              <a:ext uri="{FF2B5EF4-FFF2-40B4-BE49-F238E27FC236}">
                <a16:creationId xmlns:a16="http://schemas.microsoft.com/office/drawing/2014/main" id="{7EABFD7E-DDAA-48AF-A404-BA1CEEA6E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150" y="1657350"/>
            <a:ext cx="7556500" cy="41338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81DAFC55-DAD2-4F3F-8FDD-7F156D9E9973}"/>
              </a:ext>
            </a:extLst>
          </p:cNvPr>
          <p:cNvSpPr>
            <a:spLocks noGrp="1" noChangeArrowheads="1"/>
          </p:cNvSpPr>
          <p:nvPr>
            <p:ph type="title"/>
          </p:nvPr>
        </p:nvSpPr>
        <p:spPr>
          <a:noFill/>
        </p:spPr>
        <p:txBody>
          <a:bodyPr/>
          <a:lstStyle/>
          <a:p>
            <a:r>
              <a:rPr lang="en-GB" altLang="en-US">
                <a:effectLst/>
              </a:rPr>
              <a:t>Listric rotational faults  3</a:t>
            </a:r>
          </a:p>
        </p:txBody>
      </p:sp>
      <p:sp>
        <p:nvSpPr>
          <p:cNvPr id="36867" name="Rectangle 3">
            <a:extLst>
              <a:ext uri="{FF2B5EF4-FFF2-40B4-BE49-F238E27FC236}">
                <a16:creationId xmlns:a16="http://schemas.microsoft.com/office/drawing/2014/main" id="{B029D47D-FAEB-4B5B-8D47-AA9C681E941C}"/>
              </a:ext>
            </a:extLst>
          </p:cNvPr>
          <p:cNvSpPr>
            <a:spLocks noGrp="1" noChangeArrowheads="1"/>
          </p:cNvSpPr>
          <p:nvPr>
            <p:ph type="body" sz="half" idx="1"/>
          </p:nvPr>
        </p:nvSpPr>
        <p:spPr>
          <a:xfrm>
            <a:off x="1282700" y="5859463"/>
            <a:ext cx="6519863" cy="679450"/>
          </a:xfrm>
          <a:noFill/>
        </p:spPr>
        <p:txBody>
          <a:bodyPr/>
          <a:lstStyle/>
          <a:p>
            <a:pPr marL="0" indent="0">
              <a:spcBef>
                <a:spcPct val="75000"/>
              </a:spcBef>
              <a:buFont typeface="Times" panose="02020603050405020304" pitchFamily="18" charset="0"/>
              <a:buNone/>
            </a:pPr>
            <a:r>
              <a:rPr lang="en-GB" altLang="en-US" sz="1400">
                <a:solidFill>
                  <a:srgbClr val="FFFF00"/>
                </a:solidFill>
                <a:effectLst/>
              </a:rPr>
              <a:t>Hanging wall collapse through the formation of a rollover antiform in combination with a set of synthetic normal faults</a:t>
            </a:r>
          </a:p>
        </p:txBody>
      </p:sp>
      <p:pic>
        <p:nvPicPr>
          <p:cNvPr id="36868" name="Picture 6" descr="11b-Fault Bend, Sinai">
            <a:extLst>
              <a:ext uri="{FF2B5EF4-FFF2-40B4-BE49-F238E27FC236}">
                <a16:creationId xmlns:a16="http://schemas.microsoft.com/office/drawing/2014/main" id="{A90A3C67-F0AB-4262-A826-577712E866A6}"/>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911225" y="946150"/>
            <a:ext cx="7239000" cy="48148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8C4028C9-D286-477E-82A9-8968A7EEE307}"/>
              </a:ext>
            </a:extLst>
          </p:cNvPr>
          <p:cNvSpPr>
            <a:spLocks noGrp="1" noChangeArrowheads="1"/>
          </p:cNvSpPr>
          <p:nvPr>
            <p:ph type="title"/>
          </p:nvPr>
        </p:nvSpPr>
        <p:spPr>
          <a:noFill/>
        </p:spPr>
        <p:txBody>
          <a:bodyPr/>
          <a:lstStyle/>
          <a:p>
            <a:r>
              <a:rPr lang="en-GB" altLang="en-US">
                <a:effectLst/>
              </a:rPr>
              <a:t>Listric rotational faults  4</a:t>
            </a:r>
          </a:p>
        </p:txBody>
      </p:sp>
      <p:sp>
        <p:nvSpPr>
          <p:cNvPr id="37891" name="Rectangle 3">
            <a:extLst>
              <a:ext uri="{FF2B5EF4-FFF2-40B4-BE49-F238E27FC236}">
                <a16:creationId xmlns:a16="http://schemas.microsoft.com/office/drawing/2014/main" id="{FFAFEBD7-5F7C-42ED-9395-7B02528F7709}"/>
              </a:ext>
            </a:extLst>
          </p:cNvPr>
          <p:cNvSpPr>
            <a:spLocks noGrp="1" noChangeArrowheads="1"/>
          </p:cNvSpPr>
          <p:nvPr>
            <p:ph type="body" sz="half" idx="1"/>
          </p:nvPr>
        </p:nvSpPr>
        <p:spPr>
          <a:xfrm>
            <a:off x="6555232" y="4570368"/>
            <a:ext cx="2428132" cy="1674274"/>
          </a:xfrm>
          <a:noFill/>
        </p:spPr>
        <p:txBody>
          <a:bodyPr/>
          <a:lstStyle/>
          <a:p>
            <a:pPr marL="177800" indent="-177800">
              <a:spcBef>
                <a:spcPct val="75000"/>
              </a:spcBef>
            </a:pPr>
            <a:r>
              <a:rPr lang="en-GB" altLang="en-US" sz="1700" dirty="0">
                <a:solidFill>
                  <a:srgbClr val="FF66FF"/>
                </a:solidFill>
                <a:effectLst/>
              </a:rPr>
              <a:t>Analogue (sandbox) models</a:t>
            </a:r>
            <a:r>
              <a:rPr lang="en-GB" altLang="en-US" sz="1700" dirty="0">
                <a:effectLst/>
              </a:rPr>
              <a:t> of extension on a </a:t>
            </a:r>
            <a:r>
              <a:rPr lang="en-GB" altLang="en-US" sz="1700" dirty="0" err="1">
                <a:effectLst/>
              </a:rPr>
              <a:t>listric</a:t>
            </a:r>
            <a:r>
              <a:rPr lang="en-GB" altLang="en-US" sz="1700" dirty="0">
                <a:effectLst/>
              </a:rPr>
              <a:t> fault reproduce these features</a:t>
            </a:r>
          </a:p>
        </p:txBody>
      </p:sp>
      <p:pic>
        <p:nvPicPr>
          <p:cNvPr id="3" name="Picture 2">
            <a:extLst>
              <a:ext uri="{FF2B5EF4-FFF2-40B4-BE49-F238E27FC236}">
                <a16:creationId xmlns:a16="http://schemas.microsoft.com/office/drawing/2014/main" id="{0D9734B0-B93D-A665-4741-66433A5774BB}"/>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5000"/>
                    </a14:imgEffect>
                  </a14:imgLayer>
                </a14:imgProps>
              </a:ext>
              <a:ext uri="{28A0092B-C50C-407E-A947-70E740481C1C}">
                <a14:useLocalDpi xmlns:a14="http://schemas.microsoft.com/office/drawing/2010/main" val="0"/>
              </a:ext>
            </a:extLst>
          </a:blip>
          <a:stretch>
            <a:fillRect/>
          </a:stretch>
        </p:blipFill>
        <p:spPr>
          <a:xfrm>
            <a:off x="741405" y="871762"/>
            <a:ext cx="7661190" cy="3109506"/>
          </a:xfrm>
          <a:prstGeom prst="rect">
            <a:avLst/>
          </a:prstGeom>
          <a:ln w="38100">
            <a:solidFill>
              <a:schemeClr val="bg2"/>
            </a:solidFill>
          </a:ln>
        </p:spPr>
      </p:pic>
      <p:pic>
        <p:nvPicPr>
          <p:cNvPr id="5" name="Picture 4">
            <a:extLst>
              <a:ext uri="{FF2B5EF4-FFF2-40B4-BE49-F238E27FC236}">
                <a16:creationId xmlns:a16="http://schemas.microsoft.com/office/drawing/2014/main" id="{7BAF4290-53D9-FADC-0087-A5EC561104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1405" y="4124815"/>
            <a:ext cx="5603561" cy="2565380"/>
          </a:xfrm>
          <a:prstGeom prst="rect">
            <a:avLst/>
          </a:prstGeom>
          <a:ln w="38100">
            <a:solidFill>
              <a:schemeClr val="bg2"/>
            </a:solidFill>
          </a:ln>
        </p:spPr>
      </p:pic>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721C6AB8-9282-430E-8296-2C7D0A6FADD9}"/>
              </a:ext>
            </a:extLst>
          </p:cNvPr>
          <p:cNvSpPr>
            <a:spLocks noGrp="1" noChangeArrowheads="1"/>
          </p:cNvSpPr>
          <p:nvPr>
            <p:ph type="title"/>
          </p:nvPr>
        </p:nvSpPr>
        <p:spPr>
          <a:noFill/>
        </p:spPr>
        <p:txBody>
          <a:bodyPr/>
          <a:lstStyle/>
          <a:p>
            <a:r>
              <a:rPr lang="en-GB" altLang="en-US" dirty="0">
                <a:effectLst/>
              </a:rPr>
              <a:t>Deformation above a ram</a:t>
            </a:r>
            <a:r>
              <a:rPr lang="en-GB" altLang="en-US" spc="500" dirty="0">
                <a:effectLst/>
              </a:rPr>
              <a:t>p-</a:t>
            </a:r>
            <a:r>
              <a:rPr lang="en-GB" altLang="en-US" dirty="0">
                <a:effectLst/>
              </a:rPr>
              <a:t>flat geometry fault</a:t>
            </a:r>
          </a:p>
        </p:txBody>
      </p:sp>
      <p:sp>
        <p:nvSpPr>
          <p:cNvPr id="38915" name="Rectangle 3">
            <a:extLst>
              <a:ext uri="{FF2B5EF4-FFF2-40B4-BE49-F238E27FC236}">
                <a16:creationId xmlns:a16="http://schemas.microsoft.com/office/drawing/2014/main" id="{95766CF2-EE5D-4316-9859-E2227C1147A3}"/>
              </a:ext>
            </a:extLst>
          </p:cNvPr>
          <p:cNvSpPr>
            <a:spLocks noGrp="1" noChangeArrowheads="1"/>
          </p:cNvSpPr>
          <p:nvPr>
            <p:ph type="body" sz="half" idx="1"/>
          </p:nvPr>
        </p:nvSpPr>
        <p:spPr>
          <a:xfrm>
            <a:off x="133350" y="842963"/>
            <a:ext cx="3741738" cy="5729287"/>
          </a:xfrm>
          <a:noFill/>
        </p:spPr>
        <p:txBody>
          <a:bodyPr/>
          <a:lstStyle/>
          <a:p>
            <a:pPr marL="177800" indent="-177800"/>
            <a:r>
              <a:rPr lang="en-GB" altLang="en-US" sz="1700">
                <a:solidFill>
                  <a:srgbClr val="FF66FF"/>
                </a:solidFill>
                <a:effectLst/>
              </a:rPr>
              <a:t>Hanging wall deformation</a:t>
            </a:r>
            <a:r>
              <a:rPr lang="en-GB" altLang="en-US" sz="1700">
                <a:effectLst/>
              </a:rPr>
              <a:t> is more complex on faults that have abrupt changes in dip</a:t>
            </a:r>
          </a:p>
          <a:p>
            <a:pPr marL="177800" indent="-177800">
              <a:spcBef>
                <a:spcPct val="75000"/>
              </a:spcBef>
            </a:pPr>
            <a:r>
              <a:rPr lang="en-GB" altLang="en-US" sz="1700">
                <a:effectLst/>
              </a:rPr>
              <a:t>In a </a:t>
            </a:r>
            <a:r>
              <a:rPr lang="en-GB" altLang="en-US" sz="1700">
                <a:solidFill>
                  <a:srgbClr val="FF66FF"/>
                </a:solidFill>
                <a:effectLst/>
              </a:rPr>
              <a:t>flat-ramp-flat</a:t>
            </a:r>
            <a:r>
              <a:rPr lang="en-GB" altLang="en-US" sz="1700">
                <a:effectLst/>
              </a:rPr>
              <a:t> situation the hanging wall is forced to deform into a </a:t>
            </a:r>
            <a:r>
              <a:rPr lang="en-GB" altLang="en-US" sz="1700">
                <a:solidFill>
                  <a:srgbClr val="FF6600"/>
                </a:solidFill>
                <a:effectLst/>
              </a:rPr>
              <a:t>ramp synform</a:t>
            </a:r>
          </a:p>
          <a:p>
            <a:pPr marL="177800" indent="-177800">
              <a:spcBef>
                <a:spcPct val="75000"/>
              </a:spcBef>
            </a:pPr>
            <a:r>
              <a:rPr lang="en-GB" altLang="en-US" sz="1700">
                <a:effectLst/>
              </a:rPr>
              <a:t>In a </a:t>
            </a:r>
            <a:r>
              <a:rPr lang="en-GB" altLang="en-US" sz="1700">
                <a:solidFill>
                  <a:srgbClr val="FF66FF"/>
                </a:solidFill>
                <a:effectLst/>
              </a:rPr>
              <a:t>ramp-flat-ramp</a:t>
            </a:r>
            <a:r>
              <a:rPr lang="en-GB" altLang="en-US" sz="1700">
                <a:solidFill>
                  <a:srgbClr val="FF6600"/>
                </a:solidFill>
                <a:effectLst/>
              </a:rPr>
              <a:t> </a:t>
            </a:r>
            <a:r>
              <a:rPr lang="en-GB" altLang="en-US" sz="1700">
                <a:effectLst/>
              </a:rPr>
              <a:t>situation slip produces a </a:t>
            </a:r>
            <a:r>
              <a:rPr lang="en-GB" altLang="en-US" sz="1700">
                <a:solidFill>
                  <a:srgbClr val="FF6600"/>
                </a:solidFill>
                <a:effectLst/>
              </a:rPr>
              <a:t>fault-bend antiform</a:t>
            </a:r>
            <a:r>
              <a:rPr lang="en-GB" altLang="en-US" sz="1700">
                <a:effectLst/>
              </a:rPr>
              <a:t> in the hanging wall</a:t>
            </a:r>
          </a:p>
          <a:p>
            <a:pPr marL="177800" indent="-177800">
              <a:spcBef>
                <a:spcPct val="75000"/>
              </a:spcBef>
            </a:pPr>
            <a:r>
              <a:rPr lang="en-GB" altLang="en-US" sz="1700">
                <a:effectLst/>
              </a:rPr>
              <a:t>Mapping the orientation of the axial traces of such folds reveals the footwall ramp geometry (frontal, oblique, lateral) since these traces must </a:t>
            </a:r>
            <a:r>
              <a:rPr lang="en-GB" altLang="en-US" sz="1700">
                <a:solidFill>
                  <a:srgbClr val="FF66FF"/>
                </a:solidFill>
                <a:effectLst/>
              </a:rPr>
              <a:t>run parallel to the associated ramp</a:t>
            </a:r>
          </a:p>
        </p:txBody>
      </p:sp>
      <p:pic>
        <p:nvPicPr>
          <p:cNvPr id="38916" name="Picture 4" descr="12a">
            <a:extLst>
              <a:ext uri="{FF2B5EF4-FFF2-40B4-BE49-F238E27FC236}">
                <a16:creationId xmlns:a16="http://schemas.microsoft.com/office/drawing/2014/main" id="{4B559D43-C804-4D01-8DAC-99AB64B316B3}"/>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429125" y="974725"/>
            <a:ext cx="4378325" cy="43688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5706" name="Text Box 10">
            <a:extLst>
              <a:ext uri="{FF2B5EF4-FFF2-40B4-BE49-F238E27FC236}">
                <a16:creationId xmlns:a16="http://schemas.microsoft.com/office/drawing/2014/main" id="{DBA8521E-406D-45E2-B1E8-657B7EA93405}"/>
              </a:ext>
            </a:extLst>
          </p:cNvPr>
          <p:cNvSpPr txBox="1">
            <a:spLocks noChangeArrowheads="1"/>
          </p:cNvSpPr>
          <p:nvPr/>
        </p:nvSpPr>
        <p:spPr bwMode="auto">
          <a:xfrm>
            <a:off x="4413250" y="5559425"/>
            <a:ext cx="4441825"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Note that the formation of </a:t>
            </a:r>
            <a:r>
              <a:rPr lang="en-GB" altLang="en-US" sz="1700">
                <a:solidFill>
                  <a:srgbClr val="FF66FF"/>
                </a:solidFill>
                <a:effectLst>
                  <a:outerShdw blurRad="38100" dist="38100" dir="2700000" algn="tl">
                    <a:srgbClr val="000000"/>
                  </a:outerShdw>
                </a:effectLst>
                <a:latin typeface="Arial" panose="020B0604020202020204" pitchFamily="34" charset="0"/>
              </a:rPr>
              <a:t>antithetic and synthetic faults</a:t>
            </a:r>
            <a:r>
              <a:rPr lang="en-GB" altLang="en-US" sz="1700">
                <a:effectLst>
                  <a:outerShdw blurRad="38100" dist="38100" dir="2700000" algn="tl">
                    <a:srgbClr val="000000"/>
                  </a:outerShdw>
                </a:effectLst>
                <a:latin typeface="Arial" panose="020B0604020202020204" pitchFamily="34" charset="0"/>
              </a:rPr>
              <a:t> may help to accommodate the layer bending</a:t>
            </a: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25F69614-7BC4-44FE-BEF6-5E4292309291}"/>
              </a:ext>
            </a:extLst>
          </p:cNvPr>
          <p:cNvSpPr>
            <a:spLocks noGrp="1" noChangeArrowheads="1"/>
          </p:cNvSpPr>
          <p:nvPr>
            <p:ph type="title"/>
          </p:nvPr>
        </p:nvSpPr>
        <p:spPr>
          <a:noFill/>
        </p:spPr>
        <p:txBody>
          <a:bodyPr/>
          <a:lstStyle/>
          <a:p>
            <a:r>
              <a:rPr lang="en-GB" altLang="en-US" dirty="0">
                <a:effectLst/>
              </a:rPr>
              <a:t>Deformation above a ram</a:t>
            </a:r>
            <a:r>
              <a:rPr lang="en-GB" altLang="en-US" spc="500" dirty="0">
                <a:effectLst/>
              </a:rPr>
              <a:t>p-</a:t>
            </a:r>
            <a:r>
              <a:rPr lang="en-GB" altLang="en-US" dirty="0">
                <a:effectLst/>
              </a:rPr>
              <a:t>flat geometry fault  2</a:t>
            </a:r>
          </a:p>
        </p:txBody>
      </p:sp>
      <p:sp>
        <p:nvSpPr>
          <p:cNvPr id="39939" name="Rectangle 7">
            <a:extLst>
              <a:ext uri="{FF2B5EF4-FFF2-40B4-BE49-F238E27FC236}">
                <a16:creationId xmlns:a16="http://schemas.microsoft.com/office/drawing/2014/main" id="{32BC689B-5E47-43E9-90BE-4C3D95B22F74}"/>
              </a:ext>
            </a:extLst>
          </p:cNvPr>
          <p:cNvSpPr>
            <a:spLocks noGrp="1" noChangeArrowheads="1"/>
          </p:cNvSpPr>
          <p:nvPr>
            <p:ph type="body" sz="half" idx="1"/>
          </p:nvPr>
        </p:nvSpPr>
        <p:spPr>
          <a:xfrm>
            <a:off x="141288" y="917575"/>
            <a:ext cx="8759825" cy="449263"/>
          </a:xfrm>
          <a:noFill/>
        </p:spPr>
        <p:txBody>
          <a:bodyPr/>
          <a:lstStyle/>
          <a:p>
            <a:pPr marL="177800" indent="-177800">
              <a:spcBef>
                <a:spcPct val="75000"/>
              </a:spcBef>
            </a:pPr>
            <a:r>
              <a:rPr lang="en-GB" altLang="en-US" sz="1700">
                <a:solidFill>
                  <a:srgbClr val="FF66FF"/>
                </a:solidFill>
                <a:effectLst/>
              </a:rPr>
              <a:t>Analogue (sandbox) models</a:t>
            </a:r>
            <a:r>
              <a:rPr lang="en-GB" altLang="en-US" sz="1700">
                <a:effectLst/>
              </a:rPr>
              <a:t> also reproduce these features</a:t>
            </a:r>
          </a:p>
        </p:txBody>
      </p:sp>
      <p:sp>
        <p:nvSpPr>
          <p:cNvPr id="320524" name="Text Box 12">
            <a:extLst>
              <a:ext uri="{FF2B5EF4-FFF2-40B4-BE49-F238E27FC236}">
                <a16:creationId xmlns:a16="http://schemas.microsoft.com/office/drawing/2014/main" id="{617103BF-FA25-4E31-81F4-65CFBEF5798A}"/>
              </a:ext>
            </a:extLst>
          </p:cNvPr>
          <p:cNvSpPr txBox="1">
            <a:spLocks noChangeArrowheads="1"/>
          </p:cNvSpPr>
          <p:nvPr/>
        </p:nvSpPr>
        <p:spPr bwMode="auto">
          <a:xfrm>
            <a:off x="1671638" y="5737225"/>
            <a:ext cx="58007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sz="1400">
                <a:solidFill>
                  <a:srgbClr val="FFFF00"/>
                </a:solidFill>
                <a:effectLst>
                  <a:outerShdw blurRad="38100" dist="38100" dir="2700000" algn="tl">
                    <a:srgbClr val="000000"/>
                  </a:outerShdw>
                </a:effectLst>
                <a:latin typeface="Arial" charset="0"/>
              </a:rPr>
              <a:t>Note the appearance of reverse faults to help accommodate the folding</a:t>
            </a:r>
          </a:p>
        </p:txBody>
      </p:sp>
      <p:pic>
        <p:nvPicPr>
          <p:cNvPr id="39944" name="Picture 8" descr="14a2a">
            <a:extLst>
              <a:ext uri="{FF2B5EF4-FFF2-40B4-BE49-F238E27FC236}">
                <a16:creationId xmlns:a16="http://schemas.microsoft.com/office/drawing/2014/main" id="{27BBC546-98E7-4779-873E-E8DB180DD1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63" y="1574800"/>
            <a:ext cx="8812212" cy="16287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9945" name="Picture 9" descr="14a2b">
            <a:extLst>
              <a:ext uri="{FF2B5EF4-FFF2-40B4-BE49-F238E27FC236}">
                <a16:creationId xmlns:a16="http://schemas.microsoft.com/office/drawing/2014/main" id="{FEB60F82-A46D-4C83-8AD7-7A0DEF2C72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7788" y="3554413"/>
            <a:ext cx="6456362" cy="19685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9B67BA72-A6D2-4776-9027-EEAA844407B0}"/>
              </a:ext>
            </a:extLst>
          </p:cNvPr>
          <p:cNvSpPr>
            <a:spLocks noGrp="1" noChangeArrowheads="1"/>
          </p:cNvSpPr>
          <p:nvPr>
            <p:ph type="title"/>
          </p:nvPr>
        </p:nvSpPr>
        <p:spPr>
          <a:noFill/>
        </p:spPr>
        <p:txBody>
          <a:bodyPr/>
          <a:lstStyle/>
          <a:p>
            <a:r>
              <a:rPr lang="en-GB" altLang="en-US" dirty="0">
                <a:effectLst/>
              </a:rPr>
              <a:t>Deformation above a ram</a:t>
            </a:r>
            <a:r>
              <a:rPr lang="en-GB" altLang="en-US" spc="500" dirty="0">
                <a:effectLst/>
              </a:rPr>
              <a:t>p-</a:t>
            </a:r>
            <a:r>
              <a:rPr lang="en-GB" altLang="en-US" dirty="0">
                <a:effectLst/>
              </a:rPr>
              <a:t>flat geometry fault  3</a:t>
            </a:r>
          </a:p>
        </p:txBody>
      </p:sp>
      <p:sp>
        <p:nvSpPr>
          <p:cNvPr id="40963" name="Rectangle 3">
            <a:extLst>
              <a:ext uri="{FF2B5EF4-FFF2-40B4-BE49-F238E27FC236}">
                <a16:creationId xmlns:a16="http://schemas.microsoft.com/office/drawing/2014/main" id="{D941D4A3-6782-4E5C-AE40-C4547A318395}"/>
              </a:ext>
            </a:extLst>
          </p:cNvPr>
          <p:cNvSpPr>
            <a:spLocks noGrp="1" noChangeArrowheads="1"/>
          </p:cNvSpPr>
          <p:nvPr>
            <p:ph type="body" sz="half" idx="1"/>
          </p:nvPr>
        </p:nvSpPr>
        <p:spPr>
          <a:xfrm>
            <a:off x="115888" y="768350"/>
            <a:ext cx="8797925" cy="401638"/>
          </a:xfrm>
          <a:noFill/>
        </p:spPr>
        <p:txBody>
          <a:bodyPr/>
          <a:lstStyle/>
          <a:p>
            <a:pPr marL="177800" indent="-177800">
              <a:lnSpc>
                <a:spcPct val="110000"/>
              </a:lnSpc>
              <a:spcBef>
                <a:spcPct val="75000"/>
              </a:spcBef>
              <a:buFont typeface="Times" panose="02020603050405020304" pitchFamily="18" charset="0"/>
              <a:buNone/>
            </a:pPr>
            <a:r>
              <a:rPr lang="en-GB" altLang="en-US" sz="1700">
                <a:effectLst/>
              </a:rPr>
              <a:t>. . . and these features are well documented in </a:t>
            </a:r>
            <a:r>
              <a:rPr lang="en-GB" altLang="en-US" sz="1700">
                <a:solidFill>
                  <a:srgbClr val="FF66FF"/>
                </a:solidFill>
                <a:effectLst/>
              </a:rPr>
              <a:t>natural examples</a:t>
            </a:r>
            <a:r>
              <a:rPr lang="en-GB" altLang="en-US" sz="1700">
                <a:effectLst/>
              </a:rPr>
              <a:t>  </a:t>
            </a:r>
          </a:p>
        </p:txBody>
      </p:sp>
      <p:pic>
        <p:nvPicPr>
          <p:cNvPr id="40967" name="Picture 7" descr="14a3a">
            <a:extLst>
              <a:ext uri="{FF2B5EF4-FFF2-40B4-BE49-F238E27FC236}">
                <a16:creationId xmlns:a16="http://schemas.microsoft.com/office/drawing/2014/main" id="{696B6B66-F74E-4AA4-98BE-895E68D6CEF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187325" y="1323975"/>
            <a:ext cx="8775700" cy="281781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0968" name="Picture 8" descr="14a3b">
            <a:extLst>
              <a:ext uri="{FF2B5EF4-FFF2-40B4-BE49-F238E27FC236}">
                <a16:creationId xmlns:a16="http://schemas.microsoft.com/office/drawing/2014/main" id="{905954B9-B677-400A-8216-C75ACD0FD7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3763" y="4364038"/>
            <a:ext cx="4822825" cy="219233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96" name="Picture 12" descr="15b1-Onich">
            <a:extLst>
              <a:ext uri="{FF2B5EF4-FFF2-40B4-BE49-F238E27FC236}">
                <a16:creationId xmlns:a16="http://schemas.microsoft.com/office/drawing/2014/main" id="{6E4CD613-29D0-48EC-8695-20CD26791A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238" y="3352800"/>
            <a:ext cx="6027737" cy="33162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1986" name="Rectangle 2">
            <a:extLst>
              <a:ext uri="{FF2B5EF4-FFF2-40B4-BE49-F238E27FC236}">
                <a16:creationId xmlns:a16="http://schemas.microsoft.com/office/drawing/2014/main" id="{2B37BC57-3E4A-4B1A-8E4B-45FF1CA01E4E}"/>
              </a:ext>
            </a:extLst>
          </p:cNvPr>
          <p:cNvSpPr>
            <a:spLocks noGrp="1" noChangeArrowheads="1"/>
          </p:cNvSpPr>
          <p:nvPr>
            <p:ph type="title"/>
          </p:nvPr>
        </p:nvSpPr>
        <p:spPr>
          <a:noFill/>
        </p:spPr>
        <p:txBody>
          <a:bodyPr/>
          <a:lstStyle/>
          <a:p>
            <a:r>
              <a:rPr lang="en-GB" altLang="en-US">
                <a:effectLst/>
              </a:rPr>
              <a:t>A note of caution: reverse drag</a:t>
            </a:r>
          </a:p>
        </p:txBody>
      </p:sp>
      <p:sp>
        <p:nvSpPr>
          <p:cNvPr id="41987" name="Rectangle 3">
            <a:extLst>
              <a:ext uri="{FF2B5EF4-FFF2-40B4-BE49-F238E27FC236}">
                <a16:creationId xmlns:a16="http://schemas.microsoft.com/office/drawing/2014/main" id="{CE987C13-18EE-46AA-8762-B4CF40390080}"/>
              </a:ext>
            </a:extLst>
          </p:cNvPr>
          <p:cNvSpPr>
            <a:spLocks noGrp="1" noChangeArrowheads="1"/>
          </p:cNvSpPr>
          <p:nvPr>
            <p:ph type="body" sz="half" idx="1"/>
          </p:nvPr>
        </p:nvSpPr>
        <p:spPr>
          <a:xfrm>
            <a:off x="125413" y="760413"/>
            <a:ext cx="6230937" cy="2408237"/>
          </a:xfrm>
          <a:noFill/>
        </p:spPr>
        <p:txBody>
          <a:bodyPr/>
          <a:lstStyle/>
          <a:p>
            <a:pPr marL="177800" indent="-177800">
              <a:spcBef>
                <a:spcPct val="50000"/>
              </a:spcBef>
            </a:pPr>
            <a:r>
              <a:rPr lang="en-GB" altLang="en-US" sz="1700" dirty="0">
                <a:effectLst/>
              </a:rPr>
              <a:t>In a </a:t>
            </a:r>
            <a:r>
              <a:rPr lang="en-GB" altLang="en-US" sz="1700" dirty="0">
                <a:solidFill>
                  <a:srgbClr val="FF66FF"/>
                </a:solidFill>
                <a:effectLst/>
              </a:rPr>
              <a:t>rollover </a:t>
            </a:r>
            <a:r>
              <a:rPr lang="en-GB" altLang="en-US" sz="1700" dirty="0" err="1">
                <a:solidFill>
                  <a:srgbClr val="FF66FF"/>
                </a:solidFill>
                <a:effectLst/>
              </a:rPr>
              <a:t>antiform</a:t>
            </a:r>
            <a:r>
              <a:rPr lang="en-GB" altLang="en-US" sz="1700" dirty="0">
                <a:effectLst/>
              </a:rPr>
              <a:t>, the bending of the layering is in the opposite sense to </a:t>
            </a:r>
            <a:r>
              <a:rPr lang="en-GB" altLang="en-US" sz="1700" dirty="0">
                <a:solidFill>
                  <a:srgbClr val="FF66FF"/>
                </a:solidFill>
                <a:effectLst/>
              </a:rPr>
              <a:t>drag folding</a:t>
            </a:r>
            <a:r>
              <a:rPr lang="en-GB" altLang="en-US" sz="1700" dirty="0">
                <a:effectLst/>
              </a:rPr>
              <a:t>. From this it is concluded that when one sees a rollover </a:t>
            </a:r>
            <a:r>
              <a:rPr lang="en-GB" altLang="en-US" sz="1700" dirty="0" err="1">
                <a:effectLst/>
              </a:rPr>
              <a:t>antiform</a:t>
            </a:r>
            <a:r>
              <a:rPr lang="en-GB" altLang="en-US" sz="1700" dirty="0">
                <a:effectLst/>
              </a:rPr>
              <a:t>, the underlying fault must be </a:t>
            </a:r>
            <a:r>
              <a:rPr lang="en-GB" altLang="en-US" sz="1700" dirty="0" err="1">
                <a:effectLst/>
              </a:rPr>
              <a:t>listric</a:t>
            </a:r>
            <a:endParaRPr lang="en-GB" altLang="en-US" sz="1700" dirty="0">
              <a:effectLst/>
            </a:endParaRPr>
          </a:p>
          <a:p>
            <a:pPr marL="177800" indent="-177800">
              <a:spcBef>
                <a:spcPct val="50000"/>
              </a:spcBef>
            </a:pPr>
            <a:r>
              <a:rPr lang="en-GB" altLang="en-US" sz="1700" dirty="0">
                <a:effectLst/>
              </a:rPr>
              <a:t>However, </a:t>
            </a:r>
            <a:r>
              <a:rPr lang="en-GB" altLang="en-US" sz="1700" dirty="0">
                <a:solidFill>
                  <a:srgbClr val="FF6600"/>
                </a:solidFill>
                <a:effectLst/>
              </a:rPr>
              <a:t>reverse drag</a:t>
            </a:r>
            <a:r>
              <a:rPr lang="en-GB" altLang="en-US" sz="1700" dirty="0">
                <a:effectLst/>
              </a:rPr>
              <a:t> can be produced on a planar fault that dies out simply because the displacement decreases towards the tip of the fault</a:t>
            </a:r>
          </a:p>
        </p:txBody>
      </p:sp>
      <p:pic>
        <p:nvPicPr>
          <p:cNvPr id="41990" name="Picture 13" descr="Corinth Channel normal fault">
            <a:extLst>
              <a:ext uri="{FF2B5EF4-FFF2-40B4-BE49-F238E27FC236}">
                <a16:creationId xmlns:a16="http://schemas.microsoft.com/office/drawing/2014/main" id="{BF356178-C33A-44FD-BAF9-23AFE505C6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6050" y="866775"/>
            <a:ext cx="2516188" cy="36417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28719" name="Text Box 15">
            <a:extLst>
              <a:ext uri="{FF2B5EF4-FFF2-40B4-BE49-F238E27FC236}">
                <a16:creationId xmlns:a16="http://schemas.microsoft.com/office/drawing/2014/main" id="{23289567-ED14-41C7-99C1-D4BCA25B0409}"/>
              </a:ext>
            </a:extLst>
          </p:cNvPr>
          <p:cNvSpPr txBox="1">
            <a:spLocks noChangeArrowheads="1"/>
          </p:cNvSpPr>
          <p:nvPr/>
        </p:nvSpPr>
        <p:spPr bwMode="auto">
          <a:xfrm>
            <a:off x="6748463" y="4551363"/>
            <a:ext cx="208915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0"/>
              </a:spcBef>
              <a:defRPr/>
            </a:pPr>
            <a:r>
              <a:rPr lang="en-GB" sz="1400">
                <a:solidFill>
                  <a:srgbClr val="FFFF00"/>
                </a:solidFill>
                <a:effectLst>
                  <a:outerShdw blurRad="38100" dist="38100" dir="2700000" algn="tl">
                    <a:srgbClr val="000000"/>
                  </a:outerShdw>
                </a:effectLst>
                <a:latin typeface="Arial" charset="0"/>
              </a:rPr>
              <a:t>Normal drag (above)</a:t>
            </a:r>
          </a:p>
          <a:p>
            <a:pPr>
              <a:lnSpc>
                <a:spcPct val="120000"/>
              </a:lnSpc>
              <a:spcBef>
                <a:spcPct val="0"/>
              </a:spcBef>
              <a:defRPr/>
            </a:pPr>
            <a:r>
              <a:rPr lang="en-GB" sz="1400">
                <a:solidFill>
                  <a:srgbClr val="FFFF00"/>
                </a:solidFill>
                <a:effectLst>
                  <a:outerShdw blurRad="38100" dist="38100" dir="2700000" algn="tl">
                    <a:srgbClr val="000000"/>
                  </a:outerShdw>
                </a:effectLst>
                <a:latin typeface="Arial" charset="0"/>
              </a:rPr>
              <a:t>Reverse drag (left)</a:t>
            </a:r>
          </a:p>
        </p:txBody>
      </p:sp>
      <p:sp>
        <p:nvSpPr>
          <p:cNvPr id="41994" name="Freeform 10">
            <a:extLst>
              <a:ext uri="{FF2B5EF4-FFF2-40B4-BE49-F238E27FC236}">
                <a16:creationId xmlns:a16="http://schemas.microsoft.com/office/drawing/2014/main" id="{A145507F-2623-4986-B3C3-6116AA8C4C93}"/>
              </a:ext>
            </a:extLst>
          </p:cNvPr>
          <p:cNvSpPr>
            <a:spLocks/>
          </p:cNvSpPr>
          <p:nvPr/>
        </p:nvSpPr>
        <p:spPr bwMode="auto">
          <a:xfrm rot="244585">
            <a:off x="7591425" y="1690688"/>
            <a:ext cx="120650" cy="265112"/>
          </a:xfrm>
          <a:custGeom>
            <a:avLst/>
            <a:gdLst>
              <a:gd name="T0" fmla="*/ 0 w 67"/>
              <a:gd name="T1" fmla="*/ 0 h 167"/>
              <a:gd name="T2" fmla="*/ 47 w 67"/>
              <a:gd name="T3" fmla="*/ 167 h 167"/>
              <a:gd name="T4" fmla="*/ 67 w 67"/>
              <a:gd name="T5" fmla="*/ 94 h 167"/>
            </a:gdLst>
            <a:ahLst/>
            <a:cxnLst>
              <a:cxn ang="0">
                <a:pos x="T0" y="T1"/>
              </a:cxn>
              <a:cxn ang="0">
                <a:pos x="T2" y="T3"/>
              </a:cxn>
              <a:cxn ang="0">
                <a:pos x="T4" y="T5"/>
              </a:cxn>
            </a:cxnLst>
            <a:rect l="0" t="0" r="r" b="b"/>
            <a:pathLst>
              <a:path w="67" h="167">
                <a:moveTo>
                  <a:pt x="0" y="0"/>
                </a:moveTo>
                <a:lnTo>
                  <a:pt x="47" y="167"/>
                </a:lnTo>
                <a:lnTo>
                  <a:pt x="67" y="94"/>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41997" name="Picture 13" descr="15b2">
            <a:extLst>
              <a:ext uri="{FF2B5EF4-FFF2-40B4-BE49-F238E27FC236}">
                <a16:creationId xmlns:a16="http://schemas.microsoft.com/office/drawing/2014/main" id="{BC0DDA02-4DE2-4FA1-8B2D-A5A32E1AA9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5413" y="5257800"/>
            <a:ext cx="1601787" cy="14112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5BEA7334-F8F5-49FB-BA5C-E7260EE4976B}"/>
              </a:ext>
            </a:extLst>
          </p:cNvPr>
          <p:cNvSpPr>
            <a:spLocks noGrp="1" noChangeArrowheads="1"/>
          </p:cNvSpPr>
          <p:nvPr>
            <p:ph type="ctrTitle" idx="4294967295"/>
          </p:nvPr>
        </p:nvSpPr>
        <p:spPr bwMode="black">
          <a:xfrm>
            <a:off x="184150" y="1739900"/>
            <a:ext cx="8705850" cy="18446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defRPr/>
            </a:pPr>
            <a:br>
              <a:rPr lang="en-US" sz="3200">
                <a:solidFill>
                  <a:srgbClr val="FF6600"/>
                </a:solidFill>
              </a:rPr>
            </a:br>
            <a:br>
              <a:rPr lang="en-US" sz="3200">
                <a:solidFill>
                  <a:srgbClr val="FF6600"/>
                </a:solidFill>
              </a:rPr>
            </a:br>
            <a:r>
              <a:rPr lang="en-US" sz="3200">
                <a:solidFill>
                  <a:srgbClr val="FF6600"/>
                </a:solidFill>
              </a:rPr>
              <a:t>Sequences of fault development</a:t>
            </a:r>
            <a:endParaRPr lang="en-US">
              <a:solidFill>
                <a:srgbClr val="FF6600"/>
              </a:solidFill>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3AE11DE-328C-4A6A-955F-EED59431D437}"/>
              </a:ext>
            </a:extLst>
          </p:cNvPr>
          <p:cNvSpPr>
            <a:spLocks noGrp="1" noChangeArrowheads="1"/>
          </p:cNvSpPr>
          <p:nvPr>
            <p:ph type="title"/>
          </p:nvPr>
        </p:nvSpPr>
        <p:spPr>
          <a:noFill/>
        </p:spPr>
        <p:txBody>
          <a:bodyPr/>
          <a:lstStyle/>
          <a:p>
            <a:r>
              <a:rPr lang="en-GB" altLang="en-US">
                <a:effectLst/>
              </a:rPr>
              <a:t>Footwall collapse</a:t>
            </a:r>
          </a:p>
        </p:txBody>
      </p:sp>
      <p:sp>
        <p:nvSpPr>
          <p:cNvPr id="44035" name="Rectangle 3">
            <a:extLst>
              <a:ext uri="{FF2B5EF4-FFF2-40B4-BE49-F238E27FC236}">
                <a16:creationId xmlns:a16="http://schemas.microsoft.com/office/drawing/2014/main" id="{1CAF788D-5F67-4C3F-80D3-DADB956EEE98}"/>
              </a:ext>
            </a:extLst>
          </p:cNvPr>
          <p:cNvSpPr>
            <a:spLocks noGrp="1" noChangeArrowheads="1"/>
          </p:cNvSpPr>
          <p:nvPr>
            <p:ph type="body" sz="half" idx="1"/>
          </p:nvPr>
        </p:nvSpPr>
        <p:spPr>
          <a:xfrm>
            <a:off x="115888" y="825500"/>
            <a:ext cx="4392612" cy="5729288"/>
          </a:xfrm>
          <a:noFill/>
        </p:spPr>
        <p:txBody>
          <a:bodyPr/>
          <a:lstStyle/>
          <a:p>
            <a:pPr marL="177800" indent="-177800"/>
            <a:r>
              <a:rPr lang="en-GB" altLang="en-US" sz="1700" dirty="0">
                <a:solidFill>
                  <a:srgbClr val="FF66FF"/>
                </a:solidFill>
                <a:effectLst/>
              </a:rPr>
              <a:t>Unloading</a:t>
            </a:r>
            <a:r>
              <a:rPr lang="en-GB" altLang="en-US" sz="1700" dirty="0">
                <a:effectLst/>
              </a:rPr>
              <a:t> as extension proceeds, results in the extensional system successively cutting back into the </a:t>
            </a:r>
            <a:r>
              <a:rPr lang="en-GB" altLang="en-US" sz="1700" dirty="0">
                <a:solidFill>
                  <a:srgbClr val="FF6600"/>
                </a:solidFill>
                <a:effectLst/>
              </a:rPr>
              <a:t>footwall</a:t>
            </a:r>
          </a:p>
          <a:p>
            <a:pPr marL="177800" indent="-177800">
              <a:spcBef>
                <a:spcPct val="75000"/>
              </a:spcBef>
            </a:pPr>
            <a:r>
              <a:rPr lang="en-GB" altLang="en-US" sz="1700" dirty="0">
                <a:effectLst/>
              </a:rPr>
              <a:t>Where a ramp and flat exists, this may result in the formation of an </a:t>
            </a:r>
            <a:r>
              <a:rPr lang="en-GB" altLang="en-US" sz="1700" dirty="0">
                <a:solidFill>
                  <a:srgbClr val="FF66FF"/>
                </a:solidFill>
                <a:effectLst/>
              </a:rPr>
              <a:t>extensional duplex</a:t>
            </a:r>
            <a:r>
              <a:rPr lang="en-GB" altLang="en-US" sz="1700" dirty="0">
                <a:effectLst/>
              </a:rPr>
              <a:t> in which at any time the floor fault is the active one while the roof fault is never active as a single fault</a:t>
            </a:r>
          </a:p>
          <a:p>
            <a:pPr marL="177800" indent="-177800">
              <a:spcBef>
                <a:spcPct val="75000"/>
              </a:spcBef>
            </a:pPr>
            <a:r>
              <a:rPr lang="en-GB" altLang="en-US" sz="1700" dirty="0">
                <a:effectLst/>
              </a:rPr>
              <a:t>As this develops </a:t>
            </a:r>
            <a:r>
              <a:rPr lang="en-GB" altLang="en-US" sz="1700" dirty="0">
                <a:solidFill>
                  <a:srgbClr val="FF66FF"/>
                </a:solidFill>
                <a:effectLst/>
              </a:rPr>
              <a:t>antithetic faults</a:t>
            </a:r>
            <a:r>
              <a:rPr lang="en-GB" altLang="en-US" sz="1700" dirty="0">
                <a:effectLst/>
              </a:rPr>
              <a:t> form in conjugate orientations to accommodate deformation in the hanging wall</a:t>
            </a:r>
          </a:p>
          <a:p>
            <a:pPr marL="177800" indent="-177800">
              <a:spcBef>
                <a:spcPct val="75000"/>
              </a:spcBef>
            </a:pPr>
            <a:r>
              <a:rPr lang="en-GB" altLang="en-US" sz="1700" dirty="0">
                <a:effectLst/>
              </a:rPr>
              <a:t>The resulting geometry is complex and is further complicated by </a:t>
            </a:r>
            <a:r>
              <a:rPr lang="en-GB" altLang="en-US" sz="1700" dirty="0">
                <a:solidFill>
                  <a:srgbClr val="FF66FF"/>
                </a:solidFill>
                <a:effectLst/>
              </a:rPr>
              <a:t>out-of-sequence faulting</a:t>
            </a:r>
            <a:r>
              <a:rPr lang="en-GB" altLang="en-US" sz="1700" dirty="0">
                <a:effectLst/>
              </a:rPr>
              <a:t> and/or by </a:t>
            </a:r>
            <a:r>
              <a:rPr lang="en-GB" altLang="en-US" sz="1700" dirty="0">
                <a:solidFill>
                  <a:srgbClr val="FF66FF"/>
                </a:solidFill>
                <a:effectLst/>
              </a:rPr>
              <a:t>increased faulting in the hanging wall</a:t>
            </a:r>
            <a:r>
              <a:rPr lang="en-GB" altLang="en-US" sz="1700" dirty="0">
                <a:effectLst/>
              </a:rPr>
              <a:t> perhaps in response to changing deformation conditions </a:t>
            </a:r>
          </a:p>
        </p:txBody>
      </p:sp>
      <p:pic>
        <p:nvPicPr>
          <p:cNvPr id="44036" name="Picture 4" descr="14a">
            <a:extLst>
              <a:ext uri="{FF2B5EF4-FFF2-40B4-BE49-F238E27FC236}">
                <a16:creationId xmlns:a16="http://schemas.microsoft.com/office/drawing/2014/main" id="{FC00007E-C5D9-4458-A73A-AD2FD05A6A91}"/>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975225" y="976313"/>
            <a:ext cx="3733800" cy="47561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7926" name="Text Box 6">
            <a:extLst>
              <a:ext uri="{FF2B5EF4-FFF2-40B4-BE49-F238E27FC236}">
                <a16:creationId xmlns:a16="http://schemas.microsoft.com/office/drawing/2014/main" id="{3339733D-6F7A-4B57-BF50-112FD521F5E7}"/>
              </a:ext>
            </a:extLst>
          </p:cNvPr>
          <p:cNvSpPr txBox="1">
            <a:spLocks noChangeArrowheads="1"/>
          </p:cNvSpPr>
          <p:nvPr/>
        </p:nvSpPr>
        <p:spPr bwMode="auto">
          <a:xfrm>
            <a:off x="4919663" y="5861050"/>
            <a:ext cx="387985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defRPr/>
            </a:pPr>
            <a:r>
              <a:rPr lang="en-GB" sz="1400">
                <a:solidFill>
                  <a:srgbClr val="FFFF00"/>
                </a:solidFill>
                <a:effectLst>
                  <a:outerShdw blurRad="38100" dist="38100" dir="2700000" algn="tl">
                    <a:srgbClr val="000000"/>
                  </a:outerShdw>
                </a:effectLst>
                <a:latin typeface="Arial" charset="0"/>
              </a:rPr>
              <a:t>Schematic development of an extensional fault system by progressive footwall collapse</a:t>
            </a: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1FF8D20-DE1A-43B6-89DF-B2A06F1AA502}"/>
              </a:ext>
            </a:extLst>
          </p:cNvPr>
          <p:cNvSpPr>
            <a:spLocks noGrp="1" noChangeArrowheads="1"/>
          </p:cNvSpPr>
          <p:nvPr>
            <p:ph type="title"/>
          </p:nvPr>
        </p:nvSpPr>
        <p:spPr>
          <a:noFill/>
        </p:spPr>
        <p:txBody>
          <a:bodyPr/>
          <a:lstStyle/>
          <a:p>
            <a:r>
              <a:rPr lang="en-GB" altLang="en-US">
                <a:effectLst/>
              </a:rPr>
              <a:t>Analogue modelling</a:t>
            </a:r>
          </a:p>
        </p:txBody>
      </p:sp>
      <p:sp>
        <p:nvSpPr>
          <p:cNvPr id="45059" name="Rectangle 3">
            <a:extLst>
              <a:ext uri="{FF2B5EF4-FFF2-40B4-BE49-F238E27FC236}">
                <a16:creationId xmlns:a16="http://schemas.microsoft.com/office/drawing/2014/main" id="{05D297F7-12FA-4E4A-A222-5FC13AEE7787}"/>
              </a:ext>
            </a:extLst>
          </p:cNvPr>
          <p:cNvSpPr>
            <a:spLocks noGrp="1" noChangeArrowheads="1"/>
          </p:cNvSpPr>
          <p:nvPr>
            <p:ph type="body" sz="half" idx="1"/>
          </p:nvPr>
        </p:nvSpPr>
        <p:spPr>
          <a:xfrm>
            <a:off x="123825" y="796925"/>
            <a:ext cx="8890000" cy="493713"/>
          </a:xfrm>
          <a:noFill/>
        </p:spPr>
        <p:txBody>
          <a:bodyPr/>
          <a:lstStyle/>
          <a:p>
            <a:pPr marL="177800" indent="-177800"/>
            <a:r>
              <a:rPr lang="en-GB" altLang="en-US" sz="1700">
                <a:effectLst/>
              </a:rPr>
              <a:t>Analogue models confirm the complexity of this sequential development story </a:t>
            </a:r>
          </a:p>
        </p:txBody>
      </p:sp>
      <p:grpSp>
        <p:nvGrpSpPr>
          <p:cNvPr id="45060" name="Group 12">
            <a:extLst>
              <a:ext uri="{FF2B5EF4-FFF2-40B4-BE49-F238E27FC236}">
                <a16:creationId xmlns:a16="http://schemas.microsoft.com/office/drawing/2014/main" id="{3AC9724A-ACE8-49DD-A0AC-71BB7CFEB490}"/>
              </a:ext>
            </a:extLst>
          </p:cNvPr>
          <p:cNvGrpSpPr>
            <a:grpSpLocks/>
          </p:cNvGrpSpPr>
          <p:nvPr/>
        </p:nvGrpSpPr>
        <p:grpSpPr bwMode="auto">
          <a:xfrm>
            <a:off x="895350" y="1363663"/>
            <a:ext cx="2940050" cy="4551362"/>
            <a:chOff x="670" y="1023"/>
            <a:chExt cx="1746" cy="2703"/>
          </a:xfrm>
        </p:grpSpPr>
        <p:sp>
          <p:nvSpPr>
            <p:cNvPr id="333833" name="Rectangle 9">
              <a:extLst>
                <a:ext uri="{FF2B5EF4-FFF2-40B4-BE49-F238E27FC236}">
                  <a16:creationId xmlns:a16="http://schemas.microsoft.com/office/drawing/2014/main" id="{B6F1C5F9-C896-44A6-A188-8B2E66F04A42}"/>
                </a:ext>
              </a:extLst>
            </p:cNvPr>
            <p:cNvSpPr>
              <a:spLocks noChangeArrowheads="1"/>
            </p:cNvSpPr>
            <p:nvPr/>
          </p:nvSpPr>
          <p:spPr bwMode="auto">
            <a:xfrm>
              <a:off x="670" y="1023"/>
              <a:ext cx="1746" cy="2703"/>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45067" name="Picture 2" descr="GR11.jpg">
              <a:extLst>
                <a:ext uri="{FF2B5EF4-FFF2-40B4-BE49-F238E27FC236}">
                  <a16:creationId xmlns:a16="http://schemas.microsoft.com/office/drawing/2014/main" id="{0F53AE21-41BD-4CBA-BCF8-1E5C651A2D88}"/>
                </a:ext>
              </a:extLst>
            </p:cNvPr>
            <p:cNvPicPr>
              <a:picLocks noChangeAspect="1"/>
            </p:cNvPicPr>
            <p:nvPr/>
          </p:nvPicPr>
          <p:blipFill>
            <a:blip r:embed="rId3">
              <a:extLst>
                <a:ext uri="{28A0092B-C50C-407E-A947-70E740481C1C}">
                  <a14:useLocalDpi xmlns:a14="http://schemas.microsoft.com/office/drawing/2010/main" val="0"/>
                </a:ext>
              </a:extLst>
            </a:blip>
            <a:srcRect r="23280" b="48938"/>
            <a:stretch>
              <a:fillRect/>
            </a:stretch>
          </p:blipFill>
          <p:spPr bwMode="auto">
            <a:xfrm>
              <a:off x="715" y="1070"/>
              <a:ext cx="1636" cy="25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nvGrpSpPr>
          <p:cNvPr id="45061" name="Group 13">
            <a:extLst>
              <a:ext uri="{FF2B5EF4-FFF2-40B4-BE49-F238E27FC236}">
                <a16:creationId xmlns:a16="http://schemas.microsoft.com/office/drawing/2014/main" id="{DEF1C864-D6FD-47F0-BD98-CDE8E5C4FC5C}"/>
              </a:ext>
            </a:extLst>
          </p:cNvPr>
          <p:cNvGrpSpPr>
            <a:grpSpLocks/>
          </p:cNvGrpSpPr>
          <p:nvPr/>
        </p:nvGrpSpPr>
        <p:grpSpPr bwMode="auto">
          <a:xfrm>
            <a:off x="4403725" y="1371600"/>
            <a:ext cx="4040188" cy="4543425"/>
            <a:chOff x="2774" y="1023"/>
            <a:chExt cx="2404" cy="2703"/>
          </a:xfrm>
        </p:grpSpPr>
        <p:sp>
          <p:nvSpPr>
            <p:cNvPr id="333834" name="Rectangle 10">
              <a:extLst>
                <a:ext uri="{FF2B5EF4-FFF2-40B4-BE49-F238E27FC236}">
                  <a16:creationId xmlns:a16="http://schemas.microsoft.com/office/drawing/2014/main" id="{2D45A4D9-649C-4AE0-AD9C-B5A480714836}"/>
                </a:ext>
              </a:extLst>
            </p:cNvPr>
            <p:cNvSpPr>
              <a:spLocks noChangeArrowheads="1"/>
            </p:cNvSpPr>
            <p:nvPr/>
          </p:nvSpPr>
          <p:spPr bwMode="auto">
            <a:xfrm>
              <a:off x="2774" y="1023"/>
              <a:ext cx="2404" cy="2703"/>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45065" name="Picture 2" descr="GR11.jpg">
              <a:extLst>
                <a:ext uri="{FF2B5EF4-FFF2-40B4-BE49-F238E27FC236}">
                  <a16:creationId xmlns:a16="http://schemas.microsoft.com/office/drawing/2014/main" id="{F5247414-85DA-47C5-9EAB-5080A17964EC}"/>
                </a:ext>
              </a:extLst>
            </p:cNvPr>
            <p:cNvPicPr>
              <a:picLocks noChangeAspect="1"/>
            </p:cNvPicPr>
            <p:nvPr/>
          </p:nvPicPr>
          <p:blipFill>
            <a:blip r:embed="rId3">
              <a:extLst>
                <a:ext uri="{28A0092B-C50C-407E-A947-70E740481C1C}">
                  <a14:useLocalDpi xmlns:a14="http://schemas.microsoft.com/office/drawing/2010/main" val="0"/>
                </a:ext>
              </a:extLst>
            </a:blip>
            <a:srcRect t="52202"/>
            <a:stretch>
              <a:fillRect/>
            </a:stretch>
          </p:blipFill>
          <p:spPr bwMode="auto">
            <a:xfrm>
              <a:off x="2848" y="1069"/>
              <a:ext cx="2278" cy="25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333832" name="Text Box 8">
            <a:extLst>
              <a:ext uri="{FF2B5EF4-FFF2-40B4-BE49-F238E27FC236}">
                <a16:creationId xmlns:a16="http://schemas.microsoft.com/office/drawing/2014/main" id="{98FE3ADE-BE02-4A0F-AE5C-38EEFE40862E}"/>
              </a:ext>
            </a:extLst>
          </p:cNvPr>
          <p:cNvSpPr txBox="1">
            <a:spLocks noChangeArrowheads="1"/>
          </p:cNvSpPr>
          <p:nvPr/>
        </p:nvSpPr>
        <p:spPr bwMode="auto">
          <a:xfrm>
            <a:off x="1104900" y="6018213"/>
            <a:ext cx="720248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Note the development of hanging wall collapse in the hanging wall of Fault 6 (stages d-f</a:t>
            </a:r>
            <a:r>
              <a:rPr lang="en-GB" altLang="en-US" sz="800" dirty="0">
                <a:solidFill>
                  <a:srgbClr val="FFFF00"/>
                </a:solidFill>
                <a:effectLst>
                  <a:outerShdw blurRad="38100" dist="38100" dir="2700000" algn="tl">
                    <a:srgbClr val="000000"/>
                  </a:outerShdw>
                </a:effectLst>
                <a:latin typeface="Arial" panose="020B0604020202020204" pitchFamily="34" charset="0"/>
              </a:rPr>
              <a:t> </a:t>
            </a:r>
            <a:r>
              <a:rPr lang="en-GB" altLang="en-US" sz="1400" dirty="0">
                <a:solidFill>
                  <a:srgbClr val="FFFF00"/>
                </a:solidFill>
                <a:effectLst>
                  <a:outerShdw blurRad="38100" dist="38100" dir="2700000" algn="tl">
                    <a:srgbClr val="000000"/>
                  </a:outerShdw>
                </a:effectLst>
                <a:latin typeface="Arial" panose="020B0604020202020204" pitchFamily="34" charset="0"/>
              </a:rPr>
              <a:t>) but also </a:t>
            </a:r>
            <a:r>
              <a:rPr lang="en-GB" altLang="en-US" sz="1400" dirty="0">
                <a:solidFill>
                  <a:srgbClr val="FF66FF"/>
                </a:solidFill>
                <a:effectLst>
                  <a:outerShdw blurRad="38100" dist="38100" dir="2700000" algn="tl">
                    <a:srgbClr val="000000"/>
                  </a:outerShdw>
                </a:effectLst>
                <a:latin typeface="Arial" panose="020B0604020202020204" pitchFamily="34" charset="0"/>
              </a:rPr>
              <a:t>footwall collapse </a:t>
            </a:r>
            <a:r>
              <a:rPr lang="en-GB" altLang="en-US" sz="1400" dirty="0">
                <a:solidFill>
                  <a:srgbClr val="FFFF00"/>
                </a:solidFill>
                <a:effectLst>
                  <a:outerShdw blurRad="38100" dist="38100" dir="2700000" algn="tl">
                    <a:srgbClr val="000000"/>
                  </a:outerShdw>
                </a:effectLst>
                <a:latin typeface="Arial" panose="020B0604020202020204" pitchFamily="34" charset="0"/>
              </a:rPr>
              <a:t>during the initiation of faults 2 (stage b) and 6 (stage d)</a:t>
            </a:r>
          </a:p>
        </p:txBody>
      </p:sp>
      <p:sp>
        <p:nvSpPr>
          <p:cNvPr id="333835" name="Line 11">
            <a:extLst>
              <a:ext uri="{FF2B5EF4-FFF2-40B4-BE49-F238E27FC236}">
                <a16:creationId xmlns:a16="http://schemas.microsoft.com/office/drawing/2014/main" id="{A0D6199D-5094-4593-9A29-3CFBFEEFBE8C}"/>
              </a:ext>
            </a:extLst>
          </p:cNvPr>
          <p:cNvSpPr>
            <a:spLocks noChangeShapeType="1"/>
          </p:cNvSpPr>
          <p:nvPr/>
        </p:nvSpPr>
        <p:spPr bwMode="auto">
          <a:xfrm flipV="1">
            <a:off x="3919538" y="2584450"/>
            <a:ext cx="382587" cy="276225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94" name="Picture 14" descr="17a1">
            <a:extLst>
              <a:ext uri="{FF2B5EF4-FFF2-40B4-BE49-F238E27FC236}">
                <a16:creationId xmlns:a16="http://schemas.microsoft.com/office/drawing/2014/main" id="{9742C4D7-AC27-4C99-AA6A-BFFE1757DD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6425" y="920750"/>
            <a:ext cx="5727700" cy="214471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6082" name="Rectangle 2">
            <a:extLst>
              <a:ext uri="{FF2B5EF4-FFF2-40B4-BE49-F238E27FC236}">
                <a16:creationId xmlns:a16="http://schemas.microsoft.com/office/drawing/2014/main" id="{D2CDB24B-F3A1-43EB-AF90-464193B547DB}"/>
              </a:ext>
            </a:extLst>
          </p:cNvPr>
          <p:cNvSpPr>
            <a:spLocks noGrp="1" noChangeArrowheads="1"/>
          </p:cNvSpPr>
          <p:nvPr>
            <p:ph type="title"/>
          </p:nvPr>
        </p:nvSpPr>
        <p:spPr>
          <a:noFill/>
        </p:spPr>
        <p:txBody>
          <a:bodyPr/>
          <a:lstStyle/>
          <a:p>
            <a:r>
              <a:rPr lang="en-GB" altLang="en-US">
                <a:effectLst/>
              </a:rPr>
              <a:t>Syn-tectonic sedimentation</a:t>
            </a:r>
          </a:p>
        </p:txBody>
      </p:sp>
      <p:sp>
        <p:nvSpPr>
          <p:cNvPr id="46083" name="Rectangle 3">
            <a:extLst>
              <a:ext uri="{FF2B5EF4-FFF2-40B4-BE49-F238E27FC236}">
                <a16:creationId xmlns:a16="http://schemas.microsoft.com/office/drawing/2014/main" id="{AAEC97A1-2470-4216-AE0B-4F356A002E56}"/>
              </a:ext>
            </a:extLst>
          </p:cNvPr>
          <p:cNvSpPr>
            <a:spLocks noGrp="1" noChangeArrowheads="1"/>
          </p:cNvSpPr>
          <p:nvPr>
            <p:ph type="body" sz="half" idx="1"/>
          </p:nvPr>
        </p:nvSpPr>
        <p:spPr>
          <a:xfrm>
            <a:off x="120650" y="6015038"/>
            <a:ext cx="8901113" cy="730250"/>
          </a:xfrm>
          <a:noFill/>
        </p:spPr>
        <p:txBody>
          <a:bodyPr/>
          <a:lstStyle/>
          <a:p>
            <a:pPr marL="177800" indent="-177800"/>
            <a:r>
              <a:rPr lang="en-GB" altLang="en-US" sz="1700">
                <a:effectLst/>
              </a:rPr>
              <a:t>Particularly useful are the sedimentary infills in half-grabens – if deposited while movement on the fault was ongoing (</a:t>
            </a:r>
            <a:r>
              <a:rPr lang="en-GB" altLang="en-US" sz="1700">
                <a:solidFill>
                  <a:srgbClr val="FF6600"/>
                </a:solidFill>
                <a:effectLst/>
              </a:rPr>
              <a:t>growth fault</a:t>
            </a:r>
            <a:r>
              <a:rPr lang="en-GB" altLang="en-US" sz="1700">
                <a:effectLst/>
              </a:rPr>
              <a:t>) these infills thicken towards the fault</a:t>
            </a:r>
          </a:p>
        </p:txBody>
      </p:sp>
      <p:sp>
        <p:nvSpPr>
          <p:cNvPr id="392196" name="Text Box 4">
            <a:extLst>
              <a:ext uri="{FF2B5EF4-FFF2-40B4-BE49-F238E27FC236}">
                <a16:creationId xmlns:a16="http://schemas.microsoft.com/office/drawing/2014/main" id="{C00EEC11-8D69-4892-B265-321A43DCDD90}"/>
              </a:ext>
            </a:extLst>
          </p:cNvPr>
          <p:cNvSpPr txBox="1">
            <a:spLocks noChangeArrowheads="1"/>
          </p:cNvSpPr>
          <p:nvPr/>
        </p:nvSpPr>
        <p:spPr bwMode="auto">
          <a:xfrm>
            <a:off x="114300" y="754063"/>
            <a:ext cx="2836863" cy="227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buClr>
                <a:schemeClr val="tx1"/>
              </a:buClr>
              <a:buFontTx/>
              <a:buChar char="•"/>
              <a:defRPr/>
            </a:pPr>
            <a:r>
              <a:rPr lang="en-GB" sz="1700">
                <a:effectLst>
                  <a:outerShdw blurRad="38100" dist="38100" dir="2700000" algn="tl">
                    <a:srgbClr val="000000"/>
                  </a:outerShdw>
                </a:effectLst>
                <a:latin typeface="Arial" charset="0"/>
              </a:rPr>
              <a:t>Unravelling the sequence of events in natural extensional systems is most reliably tackled by establishing </a:t>
            </a:r>
            <a:r>
              <a:rPr lang="en-GB" sz="1700">
                <a:solidFill>
                  <a:srgbClr val="FF66FF"/>
                </a:solidFill>
                <a:effectLst>
                  <a:outerShdw blurRad="38100" dist="38100" dir="2700000" algn="tl">
                    <a:srgbClr val="000000"/>
                  </a:outerShdw>
                </a:effectLst>
                <a:latin typeface="Arial" charset="0"/>
              </a:rPr>
              <a:t>patterns of subsidence from syntectonic sediments</a:t>
            </a:r>
          </a:p>
        </p:txBody>
      </p:sp>
      <p:pic>
        <p:nvPicPr>
          <p:cNvPr id="46086" name="Picture 14" descr="04c6-13Apr2012">
            <a:extLst>
              <a:ext uri="{FF2B5EF4-FFF2-40B4-BE49-F238E27FC236}">
                <a16:creationId xmlns:a16="http://schemas.microsoft.com/office/drawing/2014/main" id="{4DEA57E0-0BCC-495B-AC7E-DCCCFD4C9787}"/>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242888" y="3209925"/>
            <a:ext cx="8631237" cy="27336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14" name="Picture 10" descr="18a1">
            <a:extLst>
              <a:ext uri="{FF2B5EF4-FFF2-40B4-BE49-F238E27FC236}">
                <a16:creationId xmlns:a16="http://schemas.microsoft.com/office/drawing/2014/main" id="{C1B1DFDF-6E0D-4FA8-9C7F-DA8F236877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013" y="4546600"/>
            <a:ext cx="3830637" cy="2038350"/>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47113" name="Picture 9" descr="18b2-MamTor">
            <a:extLst>
              <a:ext uri="{FF2B5EF4-FFF2-40B4-BE49-F238E27FC236}">
                <a16:creationId xmlns:a16="http://schemas.microsoft.com/office/drawing/2014/main" id="{8256BD65-A7FC-4F75-A82F-5B88EC54FF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6900" y="889000"/>
            <a:ext cx="3222625" cy="348773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7106" name="Rectangle 2">
            <a:extLst>
              <a:ext uri="{FF2B5EF4-FFF2-40B4-BE49-F238E27FC236}">
                <a16:creationId xmlns:a16="http://schemas.microsoft.com/office/drawing/2014/main" id="{99F1B12B-4705-4937-9CA5-16E58DC2248E}"/>
              </a:ext>
            </a:extLst>
          </p:cNvPr>
          <p:cNvSpPr>
            <a:spLocks noGrp="1" noChangeArrowheads="1"/>
          </p:cNvSpPr>
          <p:nvPr>
            <p:ph type="title"/>
          </p:nvPr>
        </p:nvSpPr>
        <p:spPr>
          <a:noFill/>
        </p:spPr>
        <p:txBody>
          <a:bodyPr/>
          <a:lstStyle/>
          <a:p>
            <a:r>
              <a:rPr lang="en-GB" altLang="en-US">
                <a:effectLst/>
              </a:rPr>
              <a:t>Fault growth vs. extinction</a:t>
            </a:r>
          </a:p>
        </p:txBody>
      </p:sp>
      <p:sp>
        <p:nvSpPr>
          <p:cNvPr id="47107" name="Rectangle 3">
            <a:extLst>
              <a:ext uri="{FF2B5EF4-FFF2-40B4-BE49-F238E27FC236}">
                <a16:creationId xmlns:a16="http://schemas.microsoft.com/office/drawing/2014/main" id="{10F64154-0DB0-4764-B571-62FDD474FBE7}"/>
              </a:ext>
            </a:extLst>
          </p:cNvPr>
          <p:cNvSpPr>
            <a:spLocks noGrp="1" noChangeArrowheads="1"/>
          </p:cNvSpPr>
          <p:nvPr>
            <p:ph type="body" sz="half" idx="1"/>
          </p:nvPr>
        </p:nvSpPr>
        <p:spPr>
          <a:xfrm>
            <a:off x="95250" y="769938"/>
            <a:ext cx="5402263" cy="3729037"/>
          </a:xfrm>
          <a:noFill/>
        </p:spPr>
        <p:txBody>
          <a:bodyPr/>
          <a:lstStyle/>
          <a:p>
            <a:pPr marL="269875" indent="-269875"/>
            <a:r>
              <a:rPr lang="en-GB" altLang="en-US" sz="1700" dirty="0">
                <a:effectLst/>
              </a:rPr>
              <a:t>A </a:t>
            </a:r>
            <a:r>
              <a:rPr lang="en-GB" altLang="en-US" sz="1700" dirty="0">
                <a:solidFill>
                  <a:srgbClr val="FF66FF"/>
                </a:solidFill>
                <a:effectLst/>
              </a:rPr>
              <a:t>synthesis of the sedimentary record</a:t>
            </a:r>
            <a:r>
              <a:rPr lang="en-GB" altLang="en-US" sz="1700" dirty="0">
                <a:effectLst/>
              </a:rPr>
              <a:t> in the North Sea Viking Graben during the late Jurassic phase of extension identified three stages in the development of that extensional fault system</a:t>
            </a:r>
          </a:p>
          <a:p>
            <a:pPr marL="269875" indent="-269875">
              <a:spcBef>
                <a:spcPct val="75000"/>
              </a:spcBef>
              <a:buClr>
                <a:srgbClr val="FF6600"/>
              </a:buClr>
              <a:buFont typeface="Times" panose="02020603050405020304" pitchFamily="18" charset="0"/>
              <a:buAutoNum type="arabicPeriod"/>
            </a:pPr>
            <a:r>
              <a:rPr lang="en-GB" altLang="en-US" sz="1700" dirty="0">
                <a:solidFill>
                  <a:srgbClr val="FF6600"/>
                </a:solidFill>
                <a:effectLst/>
              </a:rPr>
              <a:t>Distributed faulting</a:t>
            </a:r>
            <a:r>
              <a:rPr lang="en-GB" altLang="en-US" sz="1700" dirty="0">
                <a:effectLst/>
              </a:rPr>
              <a:t> with faults dipping in both conjugate orientations and slow overall extension</a:t>
            </a:r>
          </a:p>
          <a:p>
            <a:pPr marL="269875" indent="-269875">
              <a:spcBef>
                <a:spcPct val="75000"/>
              </a:spcBef>
              <a:buClr>
                <a:srgbClr val="FF6600"/>
              </a:buClr>
              <a:buFont typeface="Times" panose="02020603050405020304" pitchFamily="18" charset="0"/>
              <a:buAutoNum type="arabicPeriod"/>
            </a:pPr>
            <a:r>
              <a:rPr lang="en-GB" altLang="en-US" sz="1700" dirty="0">
                <a:solidFill>
                  <a:srgbClr val="FF6600"/>
                </a:solidFill>
                <a:effectLst/>
              </a:rPr>
              <a:t>Formation of half-grabens </a:t>
            </a:r>
            <a:r>
              <a:rPr lang="en-GB" altLang="en-US" sz="1700" dirty="0">
                <a:effectLst/>
              </a:rPr>
              <a:t>as the outward dipping faults die and the inward dipping faults extend, link, and increase their rate of slip (inner faults by more)</a:t>
            </a:r>
          </a:p>
        </p:txBody>
      </p:sp>
      <p:pic>
        <p:nvPicPr>
          <p:cNvPr id="47110" name="Picture 6">
            <a:extLst>
              <a:ext uri="{FF2B5EF4-FFF2-40B4-BE49-F238E27FC236}">
                <a16:creationId xmlns:a16="http://schemas.microsoft.com/office/drawing/2014/main" id="{38149192-3326-45E2-A653-EBA90549311C}"/>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l="52328" b="55316"/>
          <a:stretch>
            <a:fillRect/>
          </a:stretch>
        </p:blipFill>
        <p:spPr>
          <a:xfrm>
            <a:off x="4297363" y="4725988"/>
            <a:ext cx="3268662" cy="1965325"/>
          </a:xfrm>
          <a:noFill/>
          <a:ln w="38100" cap="flat">
            <a:solidFill>
              <a:schemeClr val="bg2"/>
            </a:solidFill>
            <a:miter lim="800000"/>
            <a:headEnd/>
            <a:tailEnd/>
          </a:ln>
        </p:spPr>
      </p:pic>
      <p:sp>
        <p:nvSpPr>
          <p:cNvPr id="287754" name="Text Box 10">
            <a:extLst>
              <a:ext uri="{FF2B5EF4-FFF2-40B4-BE49-F238E27FC236}">
                <a16:creationId xmlns:a16="http://schemas.microsoft.com/office/drawing/2014/main" id="{5A476E1F-148A-4276-8972-7012B270A132}"/>
              </a:ext>
            </a:extLst>
          </p:cNvPr>
          <p:cNvSpPr txBox="1">
            <a:spLocks noChangeArrowheads="1"/>
          </p:cNvSpPr>
          <p:nvPr/>
        </p:nvSpPr>
        <p:spPr bwMode="auto">
          <a:xfrm>
            <a:off x="8002588" y="4549775"/>
            <a:ext cx="10096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Stage 2 at Mam Tor</a:t>
            </a:r>
          </a:p>
        </p:txBody>
      </p:sp>
      <p:pic>
        <p:nvPicPr>
          <p:cNvPr id="47115" name="Picture 11" descr="18b1">
            <a:extLst>
              <a:ext uri="{FF2B5EF4-FFF2-40B4-BE49-F238E27FC236}">
                <a16:creationId xmlns:a16="http://schemas.microsoft.com/office/drawing/2014/main" id="{AD1EA801-4917-4AD7-9F39-1DF26F480F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32275" y="4546600"/>
            <a:ext cx="3627438" cy="2200275"/>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7" name="Picture 9" descr="18c2-MamTor">
            <a:extLst>
              <a:ext uri="{FF2B5EF4-FFF2-40B4-BE49-F238E27FC236}">
                <a16:creationId xmlns:a16="http://schemas.microsoft.com/office/drawing/2014/main" id="{7EE73BEE-DB99-41B5-8F7F-239F5B9F7F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788" y="3173413"/>
            <a:ext cx="6624637" cy="34702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8130" name="Rectangle 2">
            <a:extLst>
              <a:ext uri="{FF2B5EF4-FFF2-40B4-BE49-F238E27FC236}">
                <a16:creationId xmlns:a16="http://schemas.microsoft.com/office/drawing/2014/main" id="{B571A391-2246-44E9-AD02-2053C7A30485}"/>
              </a:ext>
            </a:extLst>
          </p:cNvPr>
          <p:cNvSpPr>
            <a:spLocks noGrp="1" noChangeArrowheads="1"/>
          </p:cNvSpPr>
          <p:nvPr>
            <p:ph type="title"/>
          </p:nvPr>
        </p:nvSpPr>
        <p:spPr>
          <a:noFill/>
        </p:spPr>
        <p:txBody>
          <a:bodyPr/>
          <a:lstStyle/>
          <a:p>
            <a:r>
              <a:rPr lang="en-GB" altLang="en-US">
                <a:effectLst/>
              </a:rPr>
              <a:t>Fault growth vs. extinction  2</a:t>
            </a:r>
          </a:p>
        </p:txBody>
      </p:sp>
      <p:sp>
        <p:nvSpPr>
          <p:cNvPr id="48131" name="Rectangle 3">
            <a:extLst>
              <a:ext uri="{FF2B5EF4-FFF2-40B4-BE49-F238E27FC236}">
                <a16:creationId xmlns:a16="http://schemas.microsoft.com/office/drawing/2014/main" id="{0578395B-806F-4D9C-8F53-45F3781F5640}"/>
              </a:ext>
            </a:extLst>
          </p:cNvPr>
          <p:cNvSpPr>
            <a:spLocks noGrp="1" noChangeArrowheads="1"/>
          </p:cNvSpPr>
          <p:nvPr>
            <p:ph type="body" sz="half" idx="1"/>
          </p:nvPr>
        </p:nvSpPr>
        <p:spPr>
          <a:xfrm>
            <a:off x="114300" y="773113"/>
            <a:ext cx="5056188" cy="1071562"/>
          </a:xfrm>
          <a:noFill/>
        </p:spPr>
        <p:txBody>
          <a:bodyPr/>
          <a:lstStyle/>
          <a:p>
            <a:pPr marL="269875" indent="-269875">
              <a:buClr>
                <a:srgbClr val="FF6600"/>
              </a:buClr>
              <a:buFont typeface="Times" panose="02020603050405020304" pitchFamily="18" charset="0"/>
              <a:buAutoNum type="arabicPeriod" startAt="3"/>
            </a:pPr>
            <a:r>
              <a:rPr lang="en-GB" altLang="en-US" sz="1700" dirty="0">
                <a:solidFill>
                  <a:srgbClr val="FF6600"/>
                </a:solidFill>
                <a:effectLst/>
              </a:rPr>
              <a:t>Localization of almost all the slip</a:t>
            </a:r>
            <a:r>
              <a:rPr lang="en-GB" altLang="en-US" sz="1700" dirty="0">
                <a:effectLst/>
              </a:rPr>
              <a:t> on to one through-going fault with the other faults becoming inactive </a:t>
            </a:r>
          </a:p>
        </p:txBody>
      </p:sp>
      <p:sp>
        <p:nvSpPr>
          <p:cNvPr id="346127" name="Text Box 15">
            <a:extLst>
              <a:ext uri="{FF2B5EF4-FFF2-40B4-BE49-F238E27FC236}">
                <a16:creationId xmlns:a16="http://schemas.microsoft.com/office/drawing/2014/main" id="{775B62CA-4876-41E9-9920-A4EC93A1A55B}"/>
              </a:ext>
            </a:extLst>
          </p:cNvPr>
          <p:cNvSpPr txBox="1">
            <a:spLocks noChangeArrowheads="1"/>
          </p:cNvSpPr>
          <p:nvPr/>
        </p:nvSpPr>
        <p:spPr bwMode="auto">
          <a:xfrm>
            <a:off x="157163" y="2430463"/>
            <a:ext cx="4264025"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defRPr/>
            </a:pPr>
            <a:r>
              <a:rPr lang="en-GB" sz="1400">
                <a:solidFill>
                  <a:srgbClr val="FFFF00"/>
                </a:solidFill>
                <a:effectLst>
                  <a:outerShdw blurRad="38100" dist="38100" dir="2700000" algn="tl">
                    <a:srgbClr val="000000"/>
                  </a:outerShdw>
                </a:effectLst>
                <a:latin typeface="Arial" charset="0"/>
              </a:rPr>
              <a:t>Stage 3 at Mam Tor; note also the increased tilting of the fault blocks towards the right</a:t>
            </a:r>
          </a:p>
        </p:txBody>
      </p:sp>
      <p:sp>
        <p:nvSpPr>
          <p:cNvPr id="346128" name="Text Box 16">
            <a:extLst>
              <a:ext uri="{FF2B5EF4-FFF2-40B4-BE49-F238E27FC236}">
                <a16:creationId xmlns:a16="http://schemas.microsoft.com/office/drawing/2014/main" id="{4CC9B7E6-908B-40B7-BE56-0B0AAF5D61DD}"/>
              </a:ext>
            </a:extLst>
          </p:cNvPr>
          <p:cNvSpPr txBox="1">
            <a:spLocks noChangeArrowheads="1"/>
          </p:cNvSpPr>
          <p:nvPr/>
        </p:nvSpPr>
        <p:spPr bwMode="auto">
          <a:xfrm>
            <a:off x="6915150" y="3155950"/>
            <a:ext cx="2070100" cy="258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buClr>
                <a:schemeClr val="tx1"/>
              </a:buClr>
              <a:buFontTx/>
              <a:buChar char="•"/>
              <a:defRPr/>
            </a:pPr>
            <a:r>
              <a:rPr lang="en-GB" sz="1700">
                <a:effectLst>
                  <a:outerShdw blurRad="38100" dist="38100" dir="2700000" algn="tl">
                    <a:srgbClr val="000000"/>
                  </a:outerShdw>
                </a:effectLst>
                <a:latin typeface="Arial" charset="0"/>
              </a:rPr>
              <a:t>Note that in this example, strain migrates inwards across the hanging wall rather than outwards by footwall collapse</a:t>
            </a:r>
          </a:p>
        </p:txBody>
      </p:sp>
      <p:pic>
        <p:nvPicPr>
          <p:cNvPr id="48138" name="Picture 10" descr="18c1">
            <a:extLst>
              <a:ext uri="{FF2B5EF4-FFF2-40B4-BE49-F238E27FC236}">
                <a16:creationId xmlns:a16="http://schemas.microsoft.com/office/drawing/2014/main" id="{B9276C25-688A-43D4-80B5-63C0263E8F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2188" y="841375"/>
            <a:ext cx="4125912" cy="2198688"/>
          </a:xfrm>
          <a:prstGeom prst="rect">
            <a:avLst/>
          </a:prstGeom>
          <a:solidFill>
            <a:schemeClr val="bg2"/>
          </a:solidFill>
          <a:ln w="38100">
            <a:solidFill>
              <a:srgbClr val="000000"/>
            </a:solidFill>
            <a:miter lim="800000"/>
            <a:headEnd/>
            <a:tailEnd/>
          </a:ln>
        </p:spPr>
      </p:pic>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FABA12E0-42AE-43D3-B958-E142FE92B0DB}"/>
              </a:ext>
            </a:extLst>
          </p:cNvPr>
          <p:cNvSpPr>
            <a:spLocks noGrp="1" noChangeArrowheads="1"/>
          </p:cNvSpPr>
          <p:nvPr>
            <p:ph type="title"/>
          </p:nvPr>
        </p:nvSpPr>
        <p:spPr>
          <a:noFill/>
        </p:spPr>
        <p:txBody>
          <a:bodyPr/>
          <a:lstStyle/>
          <a:p>
            <a:r>
              <a:rPr lang="en-GB" altLang="en-US">
                <a:effectLst/>
              </a:rPr>
              <a:t>Along strike development</a:t>
            </a:r>
          </a:p>
        </p:txBody>
      </p:sp>
      <p:sp>
        <p:nvSpPr>
          <p:cNvPr id="49155" name="Rectangle 3">
            <a:extLst>
              <a:ext uri="{FF2B5EF4-FFF2-40B4-BE49-F238E27FC236}">
                <a16:creationId xmlns:a16="http://schemas.microsoft.com/office/drawing/2014/main" id="{AEA88AF8-95B9-45F4-9F22-7CA4D030AE99}"/>
              </a:ext>
            </a:extLst>
          </p:cNvPr>
          <p:cNvSpPr>
            <a:spLocks noGrp="1" noChangeArrowheads="1"/>
          </p:cNvSpPr>
          <p:nvPr>
            <p:ph type="body" sz="half" idx="1"/>
          </p:nvPr>
        </p:nvSpPr>
        <p:spPr>
          <a:xfrm>
            <a:off x="114300" y="739775"/>
            <a:ext cx="8897938" cy="1082675"/>
          </a:xfrm>
          <a:noFill/>
        </p:spPr>
        <p:txBody>
          <a:bodyPr/>
          <a:lstStyle/>
          <a:p>
            <a:pPr marL="177800" indent="-177800"/>
            <a:r>
              <a:rPr lang="en-GB" altLang="en-US" sz="1700" dirty="0">
                <a:effectLst/>
              </a:rPr>
              <a:t>In referring to </a:t>
            </a:r>
            <a:r>
              <a:rPr lang="en-GB" altLang="en-US" sz="1700" dirty="0">
                <a:solidFill>
                  <a:srgbClr val="FF66FF"/>
                </a:solidFill>
                <a:effectLst/>
              </a:rPr>
              <a:t>hanging wall and footwall collapse</a:t>
            </a:r>
            <a:r>
              <a:rPr lang="en-GB" altLang="en-US" sz="1700" dirty="0">
                <a:effectLst/>
              </a:rPr>
              <a:t> we have focused on fault system development in a direction parallel to the overall displacement vector, but it is important also to consider the </a:t>
            </a:r>
            <a:r>
              <a:rPr lang="en-GB" altLang="en-US" sz="1700" dirty="0">
                <a:solidFill>
                  <a:srgbClr val="FF6600"/>
                </a:solidFill>
                <a:effectLst/>
              </a:rPr>
              <a:t>along strike development</a:t>
            </a:r>
          </a:p>
        </p:txBody>
      </p:sp>
      <p:pic>
        <p:nvPicPr>
          <p:cNvPr id="49156" name="Picture 7" descr="16a">
            <a:extLst>
              <a:ext uri="{FF2B5EF4-FFF2-40B4-BE49-F238E27FC236}">
                <a16:creationId xmlns:a16="http://schemas.microsoft.com/office/drawing/2014/main" id="{20149EA9-BE6E-40BF-B0D3-E5E96243202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092450" y="1955800"/>
            <a:ext cx="5830888" cy="41529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43049" name="Text Box 9">
            <a:extLst>
              <a:ext uri="{FF2B5EF4-FFF2-40B4-BE49-F238E27FC236}">
                <a16:creationId xmlns:a16="http://schemas.microsoft.com/office/drawing/2014/main" id="{0D27DC04-8025-401E-AADA-12AB05FAECCD}"/>
              </a:ext>
            </a:extLst>
          </p:cNvPr>
          <p:cNvSpPr txBox="1">
            <a:spLocks noChangeArrowheads="1"/>
          </p:cNvSpPr>
          <p:nvPr/>
        </p:nvSpPr>
        <p:spPr bwMode="auto">
          <a:xfrm>
            <a:off x="109538" y="1854200"/>
            <a:ext cx="2757487" cy="464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Faults </a:t>
            </a:r>
            <a:r>
              <a:rPr lang="en-GB" altLang="en-US" sz="1700" dirty="0">
                <a:solidFill>
                  <a:srgbClr val="FF66FF"/>
                </a:solidFill>
                <a:effectLst/>
                <a:latin typeface="Arial" panose="020B0604020202020204" pitchFamily="34" charset="0"/>
              </a:rPr>
              <a:t>die out</a:t>
            </a:r>
            <a:r>
              <a:rPr lang="en-GB" altLang="en-US" sz="1700" dirty="0">
                <a:effectLst/>
                <a:latin typeface="Arial" panose="020B0604020202020204" pitchFamily="34" charset="0"/>
              </a:rPr>
              <a:t> along strike and where they do so the regional extension is taken up by adjacent faults</a:t>
            </a:r>
          </a:p>
          <a:p>
            <a:pPr>
              <a:lnSpc>
                <a:spcPct val="120000"/>
              </a:lnSpc>
              <a:spcBef>
                <a:spcPct val="75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Between these faults there is commonly a </a:t>
            </a:r>
            <a:r>
              <a:rPr lang="en-GB" altLang="en-US" sz="1700" dirty="0">
                <a:solidFill>
                  <a:srgbClr val="FF6600"/>
                </a:solidFill>
                <a:effectLst/>
                <a:latin typeface="Arial" panose="020B0604020202020204" pitchFamily="34" charset="0"/>
              </a:rPr>
              <a:t>transfer zone</a:t>
            </a:r>
            <a:r>
              <a:rPr lang="en-GB" altLang="en-US" sz="1700" dirty="0">
                <a:effectLst/>
                <a:latin typeface="Arial" panose="020B0604020202020204" pitchFamily="34" charset="0"/>
              </a:rPr>
              <a:t> in which deformation is accommodated by </a:t>
            </a:r>
            <a:r>
              <a:rPr lang="en-GB" altLang="en-US" sz="1700" dirty="0">
                <a:solidFill>
                  <a:srgbClr val="FF66FF"/>
                </a:solidFill>
                <a:effectLst/>
                <a:latin typeface="Arial" panose="020B0604020202020204" pitchFamily="34" charset="0"/>
              </a:rPr>
              <a:t>folding and faulting</a:t>
            </a:r>
            <a:r>
              <a:rPr lang="en-GB" altLang="en-US" sz="1700" dirty="0">
                <a:effectLst/>
                <a:latin typeface="Arial" panose="020B0604020202020204" pitchFamily="34" charset="0"/>
              </a:rPr>
              <a:t>, and in some cases, these may be </a:t>
            </a:r>
            <a:r>
              <a:rPr lang="en-GB" altLang="en-US" sz="1700" dirty="0">
                <a:solidFill>
                  <a:srgbClr val="FF66FF"/>
                </a:solidFill>
                <a:effectLst/>
                <a:latin typeface="Arial" panose="020B0604020202020204" pitchFamily="34" charset="0"/>
              </a:rPr>
              <a:t>strike-slip transfer faults</a:t>
            </a:r>
            <a:endParaRPr lang="en-GB" altLang="en-US" sz="1700" dirty="0">
              <a:solidFill>
                <a:srgbClr val="FF66FF"/>
              </a:solidFill>
              <a:effectLst>
                <a:outerShdw blurRad="38100" dist="38100" dir="2700000" algn="tl">
                  <a:srgbClr val="000000"/>
                </a:outerShdw>
              </a:effectLst>
              <a:latin typeface="Arial" panose="020B0604020202020204" pitchFamily="34" charset="0"/>
            </a:endParaRP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a:extLst>
              <a:ext uri="{FF2B5EF4-FFF2-40B4-BE49-F238E27FC236}">
                <a16:creationId xmlns:a16="http://schemas.microsoft.com/office/drawing/2014/main" id="{A2E688D1-37D9-4B78-BA16-C9B123117F1D}"/>
              </a:ext>
            </a:extLst>
          </p:cNvPr>
          <p:cNvSpPr>
            <a:spLocks noGrp="1" noChangeArrowheads="1"/>
          </p:cNvSpPr>
          <p:nvPr>
            <p:ph type="title"/>
          </p:nvPr>
        </p:nvSpPr>
        <p:spPr>
          <a:noFill/>
        </p:spPr>
        <p:txBody>
          <a:bodyPr/>
          <a:lstStyle/>
          <a:p>
            <a:r>
              <a:rPr lang="en-GB" altLang="en-US">
                <a:effectLst/>
              </a:rPr>
              <a:t>Along strike development  2</a:t>
            </a:r>
          </a:p>
        </p:txBody>
      </p:sp>
      <p:sp>
        <p:nvSpPr>
          <p:cNvPr id="50180" name="Rectangle 3">
            <a:extLst>
              <a:ext uri="{FF2B5EF4-FFF2-40B4-BE49-F238E27FC236}">
                <a16:creationId xmlns:a16="http://schemas.microsoft.com/office/drawing/2014/main" id="{8E7D1DAA-8798-49CF-B9C9-D8F3CD47D7BB}"/>
              </a:ext>
            </a:extLst>
          </p:cNvPr>
          <p:cNvSpPr>
            <a:spLocks noGrp="1" noChangeArrowheads="1"/>
          </p:cNvSpPr>
          <p:nvPr>
            <p:ph type="body" sz="half" idx="1"/>
          </p:nvPr>
        </p:nvSpPr>
        <p:spPr>
          <a:xfrm>
            <a:off x="125413" y="776288"/>
            <a:ext cx="5913437" cy="1684337"/>
          </a:xfrm>
          <a:noFill/>
        </p:spPr>
        <p:txBody>
          <a:bodyPr/>
          <a:lstStyle/>
          <a:p>
            <a:pPr marL="177800" indent="-177800"/>
            <a:r>
              <a:rPr lang="en-GB" altLang="en-US" sz="1700">
                <a:effectLst/>
              </a:rPr>
              <a:t>In </a:t>
            </a:r>
            <a:r>
              <a:rPr lang="en-GB" altLang="en-US" sz="1700">
                <a:solidFill>
                  <a:srgbClr val="FF6600"/>
                </a:solidFill>
                <a:effectLst/>
              </a:rPr>
              <a:t>rifts</a:t>
            </a:r>
            <a:r>
              <a:rPr lang="en-GB" altLang="en-US" sz="1700">
                <a:effectLst/>
              </a:rPr>
              <a:t> extension may be taken up by slip on a </a:t>
            </a:r>
            <a:r>
              <a:rPr lang="en-GB" altLang="en-US" sz="1700">
                <a:solidFill>
                  <a:srgbClr val="FF66FF"/>
                </a:solidFill>
                <a:effectLst/>
              </a:rPr>
              <a:t>master fault</a:t>
            </a:r>
            <a:r>
              <a:rPr lang="en-GB" altLang="en-US" sz="1700">
                <a:effectLst/>
              </a:rPr>
              <a:t> on one of the flanks. Along strike the location of the master fault may flip from one side of the rift to the other so that the rift becomes a set of oppositely dipping half-grabens  </a:t>
            </a:r>
            <a:r>
              <a:rPr lang="en-GB" altLang="en-US" sz="1700">
                <a:effectLst/>
                <a:cs typeface="Arial" panose="020B0604020202020204" pitchFamily="34" charset="0"/>
              </a:rPr>
              <a:t>→  </a:t>
            </a:r>
            <a:r>
              <a:rPr lang="en-GB" altLang="en-US" sz="1700">
                <a:effectLst/>
              </a:rPr>
              <a:t>variety of </a:t>
            </a:r>
            <a:r>
              <a:rPr lang="en-GB" altLang="en-US" sz="1700">
                <a:solidFill>
                  <a:srgbClr val="FF66FF"/>
                </a:solidFill>
                <a:effectLst/>
              </a:rPr>
              <a:t>transfer zone structures</a:t>
            </a:r>
          </a:p>
        </p:txBody>
      </p:sp>
      <p:pic>
        <p:nvPicPr>
          <p:cNvPr id="50184" name="Picture 8" descr="19b2">
            <a:extLst>
              <a:ext uri="{FF2B5EF4-FFF2-40B4-BE49-F238E27FC236}">
                <a16:creationId xmlns:a16="http://schemas.microsoft.com/office/drawing/2014/main" id="{C14A5B93-A1FA-4036-A6D0-E8DFAED888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0150" y="904875"/>
            <a:ext cx="2349500" cy="575151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50185" name="Picture 9" descr="19b1">
            <a:extLst>
              <a:ext uri="{FF2B5EF4-FFF2-40B4-BE49-F238E27FC236}">
                <a16:creationId xmlns:a16="http://schemas.microsoft.com/office/drawing/2014/main" id="{B7537791-1170-42D0-88D5-7CCF8D300D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225" y="2625725"/>
            <a:ext cx="5032375" cy="38862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195CF198-4687-4313-8EA3-A7056D4015A2}"/>
              </a:ext>
            </a:extLst>
          </p:cNvPr>
          <p:cNvSpPr>
            <a:spLocks noGrp="1" noChangeArrowheads="1"/>
          </p:cNvSpPr>
          <p:nvPr>
            <p:ph type="ctrTitle" idx="4294967295"/>
          </p:nvPr>
        </p:nvSpPr>
        <p:spPr bwMode="black">
          <a:xfrm>
            <a:off x="195263" y="1773238"/>
            <a:ext cx="8705850" cy="18446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defRPr/>
            </a:pPr>
            <a:br>
              <a:rPr lang="en-US" sz="3200">
                <a:solidFill>
                  <a:srgbClr val="FF6600"/>
                </a:solidFill>
              </a:rPr>
            </a:br>
            <a:br>
              <a:rPr lang="en-US" sz="3200">
                <a:solidFill>
                  <a:srgbClr val="FF6600"/>
                </a:solidFill>
              </a:rPr>
            </a:br>
            <a:r>
              <a:rPr lang="en-US" sz="3200">
                <a:solidFill>
                  <a:srgbClr val="FF6600"/>
                </a:solidFill>
              </a:rPr>
              <a:t>Models of extension</a:t>
            </a:r>
            <a:endParaRPr lang="en-US">
              <a:solidFill>
                <a:srgbClr val="FF6600"/>
              </a:solidFill>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B9D174AC-0C3A-4930-A291-0F56E54FC88C}"/>
              </a:ext>
            </a:extLst>
          </p:cNvPr>
          <p:cNvSpPr>
            <a:spLocks noGrp="1" noChangeArrowheads="1"/>
          </p:cNvSpPr>
          <p:nvPr>
            <p:ph type="title"/>
          </p:nvPr>
        </p:nvSpPr>
        <p:spPr>
          <a:noFill/>
        </p:spPr>
        <p:txBody>
          <a:bodyPr/>
          <a:lstStyle/>
          <a:p>
            <a:r>
              <a:rPr lang="en-GB" altLang="en-US">
                <a:effectLst/>
              </a:rPr>
              <a:t>Pure shear vs. simple shear</a:t>
            </a:r>
          </a:p>
        </p:txBody>
      </p:sp>
      <p:sp>
        <p:nvSpPr>
          <p:cNvPr id="52227" name="Rectangle 3">
            <a:extLst>
              <a:ext uri="{FF2B5EF4-FFF2-40B4-BE49-F238E27FC236}">
                <a16:creationId xmlns:a16="http://schemas.microsoft.com/office/drawing/2014/main" id="{7C2359BD-9F7F-4BD6-867C-B55BCC4E3ADF}"/>
              </a:ext>
            </a:extLst>
          </p:cNvPr>
          <p:cNvSpPr>
            <a:spLocks noGrp="1" noChangeArrowheads="1"/>
          </p:cNvSpPr>
          <p:nvPr>
            <p:ph type="body" sz="half" idx="1"/>
          </p:nvPr>
        </p:nvSpPr>
        <p:spPr>
          <a:xfrm>
            <a:off x="122238" y="793750"/>
            <a:ext cx="3208337" cy="3862388"/>
          </a:xfrm>
          <a:noFill/>
        </p:spPr>
        <p:txBody>
          <a:bodyPr/>
          <a:lstStyle/>
          <a:p>
            <a:pPr marL="269875" indent="-269875"/>
            <a:r>
              <a:rPr lang="en-GB" altLang="en-US" sz="1700" dirty="0">
                <a:effectLst/>
              </a:rPr>
              <a:t>There are two end-member models of extension at the </a:t>
            </a:r>
            <a:r>
              <a:rPr lang="en-GB" altLang="en-US" sz="1700" dirty="0">
                <a:solidFill>
                  <a:srgbClr val="FF66FF"/>
                </a:solidFill>
                <a:effectLst/>
              </a:rPr>
              <a:t>lithospheric scale</a:t>
            </a:r>
          </a:p>
          <a:p>
            <a:pPr marL="269875" indent="-269875">
              <a:spcBef>
                <a:spcPct val="75000"/>
              </a:spcBef>
              <a:buClr>
                <a:srgbClr val="FF6600"/>
              </a:buClr>
              <a:buFont typeface="Times" panose="02020603050405020304" pitchFamily="18" charset="0"/>
              <a:buAutoNum type="arabicPeriod"/>
            </a:pPr>
            <a:r>
              <a:rPr lang="en-GB" altLang="en-US" sz="1700" dirty="0">
                <a:solidFill>
                  <a:srgbClr val="FF6600"/>
                </a:solidFill>
                <a:effectLst/>
              </a:rPr>
              <a:t>Pure shear:</a:t>
            </a:r>
            <a:r>
              <a:rPr lang="en-GB" altLang="en-US" sz="1700" dirty="0">
                <a:effectLst/>
              </a:rPr>
              <a:t> the overall deformation across the region of extension creates symmetric thinning of the lithosphere, accommodated by brittle faulting in the upper crust and plastic deformation at greater depth</a:t>
            </a:r>
          </a:p>
        </p:txBody>
      </p:sp>
      <p:grpSp>
        <p:nvGrpSpPr>
          <p:cNvPr id="52228" name="Group 8">
            <a:extLst>
              <a:ext uri="{FF2B5EF4-FFF2-40B4-BE49-F238E27FC236}">
                <a16:creationId xmlns:a16="http://schemas.microsoft.com/office/drawing/2014/main" id="{E7AC86FB-5A3E-4906-9BD2-FDB216C9F82D}"/>
              </a:ext>
            </a:extLst>
          </p:cNvPr>
          <p:cNvGrpSpPr>
            <a:grpSpLocks/>
          </p:cNvGrpSpPr>
          <p:nvPr/>
        </p:nvGrpSpPr>
        <p:grpSpPr bwMode="auto">
          <a:xfrm>
            <a:off x="3686175" y="866775"/>
            <a:ext cx="5224463" cy="3630613"/>
            <a:chOff x="2258" y="546"/>
            <a:chExt cx="3426" cy="2381"/>
          </a:xfrm>
        </p:grpSpPr>
        <p:sp>
          <p:nvSpPr>
            <p:cNvPr id="281606" name="Rectangle 6">
              <a:extLst>
                <a:ext uri="{FF2B5EF4-FFF2-40B4-BE49-F238E27FC236}">
                  <a16:creationId xmlns:a16="http://schemas.microsoft.com/office/drawing/2014/main" id="{F79CB4DC-0D95-48CB-8784-8B240C156481}"/>
                </a:ext>
              </a:extLst>
            </p:cNvPr>
            <p:cNvSpPr>
              <a:spLocks noChangeArrowheads="1"/>
            </p:cNvSpPr>
            <p:nvPr/>
          </p:nvSpPr>
          <p:spPr bwMode="auto">
            <a:xfrm>
              <a:off x="2258" y="546"/>
              <a:ext cx="3426" cy="2381"/>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52231" name="Picture 2" descr="GR15.jpg">
              <a:extLst>
                <a:ext uri="{FF2B5EF4-FFF2-40B4-BE49-F238E27FC236}">
                  <a16:creationId xmlns:a16="http://schemas.microsoft.com/office/drawing/2014/main" id="{A09B3CDE-5820-47EC-92DC-D3669DC9BE6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04" y="606"/>
              <a:ext cx="3304" cy="2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281607" name="Text Box 7">
            <a:extLst>
              <a:ext uri="{FF2B5EF4-FFF2-40B4-BE49-F238E27FC236}">
                <a16:creationId xmlns:a16="http://schemas.microsoft.com/office/drawing/2014/main" id="{13561145-20AB-48CC-B7E1-2D5AB3752A6C}"/>
              </a:ext>
            </a:extLst>
          </p:cNvPr>
          <p:cNvSpPr txBox="1">
            <a:spLocks noChangeArrowheads="1"/>
          </p:cNvSpPr>
          <p:nvPr/>
        </p:nvSpPr>
        <p:spPr bwMode="auto">
          <a:xfrm>
            <a:off x="114300" y="4638675"/>
            <a:ext cx="8912225" cy="184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9875" indent="-269875">
              <a:defRPr sz="1600">
                <a:solidFill>
                  <a:schemeClr val="tx1"/>
                </a:solidFill>
                <a:latin typeface="Helvetica" charset="0"/>
              </a:defRPr>
            </a:lvl1pPr>
            <a:lvl2pPr marL="762000" indent="-304800">
              <a:defRPr sz="1600">
                <a:solidFill>
                  <a:schemeClr val="tx1"/>
                </a:solidFill>
                <a:latin typeface="Helvetica" charset="0"/>
              </a:defRPr>
            </a:lvl2pPr>
            <a:lvl3pPr marL="1238250" indent="-304800">
              <a:defRPr sz="1600">
                <a:solidFill>
                  <a:schemeClr val="tx1"/>
                </a:solidFill>
                <a:latin typeface="Helvetica" charset="0"/>
              </a:defRPr>
            </a:lvl3pPr>
            <a:lvl4pPr marL="1722438" indent="-304800">
              <a:defRPr sz="1600">
                <a:solidFill>
                  <a:schemeClr val="tx1"/>
                </a:solidFill>
                <a:latin typeface="Helvetica" charset="0"/>
              </a:defRPr>
            </a:lvl4pPr>
            <a:lvl5pPr marL="2206625" indent="-304800">
              <a:defRPr sz="1600">
                <a:solidFill>
                  <a:schemeClr val="tx1"/>
                </a:solidFill>
                <a:latin typeface="Helvetica" charset="0"/>
              </a:defRPr>
            </a:lvl5pPr>
            <a:lvl6pPr marL="2663825" indent="-304800" eaLnBrk="0" fontAlgn="base" hangingPunct="0">
              <a:spcBef>
                <a:spcPct val="20000"/>
              </a:spcBef>
              <a:spcAft>
                <a:spcPct val="0"/>
              </a:spcAft>
              <a:buClr>
                <a:schemeClr val="accent2"/>
              </a:buClr>
              <a:defRPr sz="1600">
                <a:solidFill>
                  <a:schemeClr val="tx1"/>
                </a:solidFill>
                <a:latin typeface="Helvetica" charset="0"/>
              </a:defRPr>
            </a:lvl6pPr>
            <a:lvl7pPr marL="3121025" indent="-304800" eaLnBrk="0" fontAlgn="base" hangingPunct="0">
              <a:spcBef>
                <a:spcPct val="20000"/>
              </a:spcBef>
              <a:spcAft>
                <a:spcPct val="0"/>
              </a:spcAft>
              <a:buClr>
                <a:schemeClr val="accent2"/>
              </a:buClr>
              <a:defRPr sz="1600">
                <a:solidFill>
                  <a:schemeClr val="tx1"/>
                </a:solidFill>
                <a:latin typeface="Helvetica" charset="0"/>
              </a:defRPr>
            </a:lvl7pPr>
            <a:lvl8pPr marL="3578225" indent="-304800" eaLnBrk="0" fontAlgn="base" hangingPunct="0">
              <a:spcBef>
                <a:spcPct val="20000"/>
              </a:spcBef>
              <a:spcAft>
                <a:spcPct val="0"/>
              </a:spcAft>
              <a:buClr>
                <a:schemeClr val="accent2"/>
              </a:buClr>
              <a:defRPr sz="1600">
                <a:solidFill>
                  <a:schemeClr val="tx1"/>
                </a:solidFill>
                <a:latin typeface="Helvetica" charset="0"/>
              </a:defRPr>
            </a:lvl8pPr>
            <a:lvl9pPr marL="4035425" indent="-304800"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75000"/>
              </a:spcBef>
              <a:buFontTx/>
              <a:buAutoNum type="arabicPeriod" startAt="2"/>
              <a:defRPr/>
            </a:pPr>
            <a:r>
              <a:rPr lang="en-GB" sz="1700" dirty="0">
                <a:solidFill>
                  <a:srgbClr val="FF6600"/>
                </a:solidFill>
                <a:effectLst>
                  <a:outerShdw blurRad="38100" dist="38100" dir="2700000" algn="tl">
                    <a:srgbClr val="000000"/>
                  </a:outerShdw>
                </a:effectLst>
                <a:latin typeface="Arial" charset="0"/>
              </a:rPr>
              <a:t>Simple shear:</a:t>
            </a:r>
            <a:r>
              <a:rPr lang="en-GB" sz="1700" dirty="0">
                <a:effectLst>
                  <a:outerShdw blurRad="38100" dist="38100" dir="2700000" algn="tl">
                    <a:srgbClr val="000000"/>
                  </a:outerShdw>
                </a:effectLst>
                <a:latin typeface="Arial" charset="0"/>
              </a:rPr>
              <a:t> extension is localized on to a dipping shear zone that transects the lithosphere</a:t>
            </a:r>
          </a:p>
          <a:p>
            <a:pPr>
              <a:lnSpc>
                <a:spcPct val="120000"/>
              </a:lnSpc>
              <a:spcBef>
                <a:spcPct val="75000"/>
              </a:spcBef>
              <a:buClr>
                <a:schemeClr val="tx1"/>
              </a:buClr>
              <a:buFontTx/>
              <a:buChar char="•"/>
              <a:defRPr/>
            </a:pPr>
            <a:r>
              <a:rPr lang="en-GB" sz="1700" dirty="0">
                <a:effectLst>
                  <a:outerShdw blurRad="38100" dist="38100" dir="2700000" algn="tl">
                    <a:srgbClr val="000000"/>
                  </a:outerShdw>
                </a:effectLst>
                <a:latin typeface="Arial" charset="0"/>
              </a:rPr>
              <a:t>In the pure shear model, the highest </a:t>
            </a:r>
            <a:r>
              <a:rPr lang="en-GB" sz="1700" dirty="0">
                <a:solidFill>
                  <a:srgbClr val="FF66FF"/>
                </a:solidFill>
                <a:effectLst>
                  <a:outerShdw blurRad="38100" dist="38100" dir="2700000" algn="tl">
                    <a:srgbClr val="000000"/>
                  </a:outerShdw>
                </a:effectLst>
                <a:latin typeface="Arial" charset="0"/>
              </a:rPr>
              <a:t>geothermal gradient</a:t>
            </a:r>
            <a:r>
              <a:rPr lang="en-GB" sz="1700" dirty="0">
                <a:effectLst>
                  <a:outerShdw blurRad="38100" dist="38100" dir="2700000" algn="tl">
                    <a:srgbClr val="000000"/>
                  </a:outerShdw>
                </a:effectLst>
                <a:latin typeface="Arial" charset="0"/>
              </a:rPr>
              <a:t> is under the centre of the region of extension; in the simple shear model it is offset to one side. This has important consequences for </a:t>
            </a:r>
            <a:r>
              <a:rPr lang="en-GB" sz="1700" dirty="0">
                <a:solidFill>
                  <a:srgbClr val="FF66FF"/>
                </a:solidFill>
                <a:effectLst>
                  <a:outerShdw blurRad="38100" dist="38100" dir="2700000" algn="tl">
                    <a:srgbClr val="000000"/>
                  </a:outerShdw>
                </a:effectLst>
                <a:latin typeface="Arial" charset="0"/>
              </a:rPr>
              <a:t>uplift and subsidence patterns</a:t>
            </a:r>
            <a:r>
              <a:rPr lang="en-GB" sz="1700" dirty="0">
                <a:effectLst>
                  <a:outerShdw blurRad="38100" dist="38100" dir="2700000" algn="tl">
                    <a:srgbClr val="000000"/>
                  </a:outerShdw>
                </a:effectLst>
                <a:latin typeface="Arial" charset="0"/>
              </a:rPr>
              <a:t> and hence for basin development</a:t>
            </a: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807BF357-11DB-433B-AFC1-5FD67AB671C1}"/>
              </a:ext>
            </a:extLst>
          </p:cNvPr>
          <p:cNvSpPr>
            <a:spLocks noGrp="1" noChangeArrowheads="1"/>
          </p:cNvSpPr>
          <p:nvPr>
            <p:ph type="ctrTitle" idx="4294967295"/>
          </p:nvPr>
        </p:nvSpPr>
        <p:spPr bwMode="black">
          <a:xfrm>
            <a:off x="206375" y="1403350"/>
            <a:ext cx="8705850" cy="24288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defRPr/>
            </a:pPr>
            <a:br>
              <a:rPr lang="en-US" sz="3200">
                <a:solidFill>
                  <a:srgbClr val="FF6600"/>
                </a:solidFill>
              </a:rPr>
            </a:br>
            <a:br>
              <a:rPr lang="en-US" sz="3200">
                <a:solidFill>
                  <a:srgbClr val="FF6600"/>
                </a:solidFill>
              </a:rPr>
            </a:br>
            <a:r>
              <a:rPr lang="en-US" sz="3200">
                <a:solidFill>
                  <a:srgbClr val="FF6600"/>
                </a:solidFill>
              </a:rPr>
              <a:t>Section balancing</a:t>
            </a:r>
            <a:br>
              <a:rPr lang="en-US" sz="3200">
                <a:solidFill>
                  <a:srgbClr val="FF6600"/>
                </a:solidFill>
              </a:rPr>
            </a:br>
            <a:r>
              <a:rPr lang="en-US" sz="3200">
                <a:solidFill>
                  <a:srgbClr val="FF6600"/>
                </a:solidFill>
              </a:rPr>
              <a:t>(extensional regimes)</a:t>
            </a:r>
            <a:endParaRPr lang="en-US">
              <a:solidFill>
                <a:srgbClr val="FF6600"/>
              </a:solidFill>
            </a:endParaRPr>
          </a:p>
        </p:txBody>
      </p:sp>
      <p:sp>
        <p:nvSpPr>
          <p:cNvPr id="230403" name="Text Box 3">
            <a:extLst>
              <a:ext uri="{FF2B5EF4-FFF2-40B4-BE49-F238E27FC236}">
                <a16:creationId xmlns:a16="http://schemas.microsoft.com/office/drawing/2014/main" id="{130B4546-3CFF-4BF6-96D1-6A1DB3460C3C}"/>
              </a:ext>
            </a:extLst>
          </p:cNvPr>
          <p:cNvSpPr txBox="1">
            <a:spLocks noChangeArrowheads="1"/>
          </p:cNvSpPr>
          <p:nvPr/>
        </p:nvSpPr>
        <p:spPr bwMode="auto">
          <a:xfrm>
            <a:off x="266700" y="361950"/>
            <a:ext cx="3362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400" dirty="0">
                <a:solidFill>
                  <a:srgbClr val="FFFF66"/>
                </a:solidFill>
                <a:effectLst>
                  <a:outerShdw blurRad="38100" dist="38100" dir="2700000" algn="tl">
                    <a:srgbClr val="000000"/>
                  </a:outerShdw>
                </a:effectLst>
                <a:latin typeface="Arial" panose="020B0604020202020204" pitchFamily="34" charset="0"/>
              </a:rPr>
              <a:t>Some additional notes</a:t>
            </a: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E0BFD672-1B8A-46DC-B3FE-A2310F09CC37}"/>
              </a:ext>
            </a:extLst>
          </p:cNvPr>
          <p:cNvSpPr>
            <a:spLocks noGrp="1" noChangeArrowheads="1"/>
          </p:cNvSpPr>
          <p:nvPr>
            <p:ph type="title"/>
          </p:nvPr>
        </p:nvSpPr>
        <p:spPr>
          <a:noFill/>
        </p:spPr>
        <p:txBody>
          <a:bodyPr/>
          <a:lstStyle/>
          <a:p>
            <a:r>
              <a:rPr lang="en-GB" altLang="en-US">
                <a:effectLst/>
              </a:rPr>
              <a:t>Balancing sections to eliminate space problems</a:t>
            </a:r>
          </a:p>
        </p:txBody>
      </p:sp>
      <p:sp>
        <p:nvSpPr>
          <p:cNvPr id="54275" name="Rectangle 3">
            <a:extLst>
              <a:ext uri="{FF2B5EF4-FFF2-40B4-BE49-F238E27FC236}">
                <a16:creationId xmlns:a16="http://schemas.microsoft.com/office/drawing/2014/main" id="{0FCFD147-8202-4641-942F-76D4CF4BEA23}"/>
              </a:ext>
            </a:extLst>
          </p:cNvPr>
          <p:cNvSpPr>
            <a:spLocks noGrp="1" noChangeArrowheads="1"/>
          </p:cNvSpPr>
          <p:nvPr>
            <p:ph type="body" sz="half" idx="1"/>
          </p:nvPr>
        </p:nvSpPr>
        <p:spPr>
          <a:xfrm>
            <a:off x="122238" y="793750"/>
            <a:ext cx="4633912" cy="5729288"/>
          </a:xfrm>
          <a:noFill/>
        </p:spPr>
        <p:txBody>
          <a:bodyPr/>
          <a:lstStyle/>
          <a:p>
            <a:pPr marL="177800" indent="-177800"/>
            <a:r>
              <a:rPr lang="en-GB" altLang="en-US" sz="1700" dirty="0">
                <a:effectLst/>
              </a:rPr>
              <a:t>In constructing cross-sections through extensional terrains, it is very easy to generate ones that are</a:t>
            </a:r>
            <a:r>
              <a:rPr lang="en-GB" altLang="en-US" sz="1700" dirty="0">
                <a:solidFill>
                  <a:srgbClr val="FF66FF"/>
                </a:solidFill>
                <a:effectLst/>
              </a:rPr>
              <a:t> unrestorable</a:t>
            </a:r>
          </a:p>
          <a:p>
            <a:pPr marL="177800" indent="-177800"/>
            <a:r>
              <a:rPr lang="en-GB" altLang="en-US" sz="1700" dirty="0">
                <a:effectLst/>
              </a:rPr>
              <a:t>In the section on the right there is no way that the motion on the two faults can be reversed to produce an originally continuous layer without leaving </a:t>
            </a:r>
            <a:r>
              <a:rPr lang="en-GB" altLang="en-US" sz="1700" dirty="0">
                <a:solidFill>
                  <a:srgbClr val="FF66FF"/>
                </a:solidFill>
                <a:effectLst/>
              </a:rPr>
              <a:t>large gaps</a:t>
            </a:r>
            <a:r>
              <a:rPr lang="en-GB" altLang="en-US" sz="1700" dirty="0">
                <a:effectLst/>
              </a:rPr>
              <a:t> or having </a:t>
            </a:r>
            <a:r>
              <a:rPr lang="en-GB" altLang="en-US" sz="1700" dirty="0">
                <a:solidFill>
                  <a:srgbClr val="FF66FF"/>
                </a:solidFill>
                <a:effectLst/>
              </a:rPr>
              <a:t>large overlaps</a:t>
            </a:r>
          </a:p>
          <a:p>
            <a:pPr marL="177800" indent="-177800"/>
            <a:r>
              <a:rPr lang="en-GB" altLang="en-US" sz="1700" dirty="0">
                <a:effectLst/>
              </a:rPr>
              <a:t>Note that such failings can be </a:t>
            </a:r>
            <a:r>
              <a:rPr lang="en-GB" altLang="en-US" sz="1700" dirty="0">
                <a:solidFill>
                  <a:srgbClr val="FF66FF"/>
                </a:solidFill>
                <a:effectLst/>
              </a:rPr>
              <a:t>difficult to recognize</a:t>
            </a:r>
            <a:r>
              <a:rPr lang="en-GB" altLang="en-US" sz="1700" dirty="0">
                <a:effectLst/>
              </a:rPr>
              <a:t> in cross-sections that contain multiple intersecting faults</a:t>
            </a:r>
          </a:p>
          <a:p>
            <a:pPr marL="177800" indent="-177800"/>
            <a:r>
              <a:rPr lang="en-GB" altLang="en-US" sz="1700" dirty="0">
                <a:effectLst/>
              </a:rPr>
              <a:t>Hence, </a:t>
            </a:r>
            <a:r>
              <a:rPr lang="en-GB" altLang="en-US" sz="1700" dirty="0">
                <a:solidFill>
                  <a:srgbClr val="FF6600"/>
                </a:solidFill>
                <a:effectLst/>
              </a:rPr>
              <a:t>section balancing</a:t>
            </a:r>
            <a:r>
              <a:rPr lang="en-GB" altLang="en-US" sz="1700" dirty="0">
                <a:effectLst/>
              </a:rPr>
              <a:t> techniques are just as important for extensional terrains as they are in fold and thrust belts</a:t>
            </a:r>
          </a:p>
        </p:txBody>
      </p:sp>
      <p:pic>
        <p:nvPicPr>
          <p:cNvPr id="54276" name="Picture 4" descr="6143_fig04_18">
            <a:extLst>
              <a:ext uri="{FF2B5EF4-FFF2-40B4-BE49-F238E27FC236}">
                <a16:creationId xmlns:a16="http://schemas.microsoft.com/office/drawing/2014/main" id="{302CE05D-0569-432D-B78B-D203A9960EDB}"/>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222875" y="942975"/>
            <a:ext cx="3632200" cy="56324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4FB7EC56-4909-454E-9464-04FA6B764254}"/>
              </a:ext>
            </a:extLst>
          </p:cNvPr>
          <p:cNvSpPr>
            <a:spLocks noGrp="1" noChangeArrowheads="1"/>
          </p:cNvSpPr>
          <p:nvPr>
            <p:ph type="title"/>
          </p:nvPr>
        </p:nvSpPr>
        <p:spPr>
          <a:noFill/>
        </p:spPr>
        <p:txBody>
          <a:bodyPr/>
          <a:lstStyle/>
          <a:p>
            <a:r>
              <a:rPr lang="en-GB" altLang="en-US">
                <a:effectLst/>
              </a:rPr>
              <a:t>Rigid block restoration</a:t>
            </a:r>
          </a:p>
        </p:txBody>
      </p:sp>
      <p:sp>
        <p:nvSpPr>
          <p:cNvPr id="55299" name="Rectangle 3">
            <a:extLst>
              <a:ext uri="{FF2B5EF4-FFF2-40B4-BE49-F238E27FC236}">
                <a16:creationId xmlns:a16="http://schemas.microsoft.com/office/drawing/2014/main" id="{712C4B1F-D706-4E9B-BC66-DE5FF215A091}"/>
              </a:ext>
            </a:extLst>
          </p:cNvPr>
          <p:cNvSpPr>
            <a:spLocks noGrp="1" noChangeArrowheads="1"/>
          </p:cNvSpPr>
          <p:nvPr>
            <p:ph type="body" sz="half" idx="1"/>
          </p:nvPr>
        </p:nvSpPr>
        <p:spPr>
          <a:xfrm>
            <a:off x="134938" y="758825"/>
            <a:ext cx="4291012" cy="5067300"/>
          </a:xfrm>
          <a:noFill/>
        </p:spPr>
        <p:txBody>
          <a:bodyPr/>
          <a:lstStyle/>
          <a:p>
            <a:pPr marL="269875" indent="-269875"/>
            <a:r>
              <a:rPr lang="en-GB" altLang="en-US" sz="1700" dirty="0">
                <a:effectLst/>
              </a:rPr>
              <a:t>If the deformation is entirely by the </a:t>
            </a:r>
            <a:r>
              <a:rPr lang="en-GB" altLang="en-US" sz="1700" dirty="0">
                <a:solidFill>
                  <a:srgbClr val="FF6600"/>
                </a:solidFill>
                <a:effectLst/>
              </a:rPr>
              <a:t>slip of rigid blocks,</a:t>
            </a:r>
            <a:r>
              <a:rPr lang="en-GB" altLang="en-US" sz="1700" dirty="0">
                <a:effectLst/>
              </a:rPr>
              <a:t> then section balancing can be done by using the same </a:t>
            </a:r>
            <a:r>
              <a:rPr lang="en-GB" altLang="en-US" sz="1700" dirty="0">
                <a:solidFill>
                  <a:srgbClr val="FF66FF"/>
                </a:solidFill>
                <a:effectLst/>
              </a:rPr>
              <a:t>line-length balancing</a:t>
            </a:r>
            <a:r>
              <a:rPr lang="en-GB" altLang="en-US" sz="1700" dirty="0">
                <a:effectLst/>
              </a:rPr>
              <a:t> techniques used for fold and thrust belts:</a:t>
            </a:r>
          </a:p>
          <a:p>
            <a:pPr marL="269875" indent="-269875">
              <a:spcBef>
                <a:spcPct val="75000"/>
              </a:spcBef>
              <a:buFont typeface="Times" panose="02020603050405020304" pitchFamily="18" charset="0"/>
              <a:buAutoNum type="arabicPeriod"/>
            </a:pPr>
            <a:r>
              <a:rPr lang="en-GB" altLang="en-US" sz="1700" dirty="0">
                <a:effectLst/>
              </a:rPr>
              <a:t>Set up </a:t>
            </a:r>
            <a:r>
              <a:rPr lang="en-GB" altLang="en-US" sz="1700" dirty="0">
                <a:solidFill>
                  <a:srgbClr val="FF66FF"/>
                </a:solidFill>
                <a:effectLst/>
              </a:rPr>
              <a:t>template</a:t>
            </a:r>
            <a:r>
              <a:rPr lang="en-GB" altLang="en-US" sz="1700" dirty="0">
                <a:effectLst/>
              </a:rPr>
              <a:t> and establish </a:t>
            </a:r>
            <a:r>
              <a:rPr lang="en-GB" altLang="en-US" sz="1700" dirty="0">
                <a:solidFill>
                  <a:srgbClr val="FF66FF"/>
                </a:solidFill>
                <a:effectLst/>
              </a:rPr>
              <a:t>pin-line</a:t>
            </a:r>
          </a:p>
          <a:p>
            <a:pPr marL="269875" indent="-269875">
              <a:spcBef>
                <a:spcPct val="75000"/>
              </a:spcBef>
              <a:buFont typeface="Times" panose="02020603050405020304" pitchFamily="18" charset="0"/>
              <a:buAutoNum type="arabicPeriod"/>
            </a:pPr>
            <a:r>
              <a:rPr lang="en-GB" altLang="en-US" sz="1700" dirty="0">
                <a:effectLst/>
              </a:rPr>
              <a:t>Measure the </a:t>
            </a:r>
            <a:r>
              <a:rPr lang="en-GB" altLang="en-US" sz="1700" dirty="0">
                <a:solidFill>
                  <a:srgbClr val="FF66FF"/>
                </a:solidFill>
                <a:effectLst/>
              </a:rPr>
              <a:t>lengths of marker horizons</a:t>
            </a:r>
            <a:r>
              <a:rPr lang="en-GB" altLang="en-US" sz="1700" dirty="0">
                <a:effectLst/>
              </a:rPr>
              <a:t> in each fault block, working back in time (important if there are cross-cutting faults), and add them to the template. If the </a:t>
            </a:r>
            <a:r>
              <a:rPr lang="en-GB" altLang="en-US" sz="1700" dirty="0">
                <a:solidFill>
                  <a:srgbClr val="FF66FF"/>
                </a:solidFill>
                <a:effectLst/>
              </a:rPr>
              <a:t>positions of the faults are noted</a:t>
            </a:r>
            <a:r>
              <a:rPr lang="en-GB" altLang="en-US" sz="1700" dirty="0">
                <a:effectLst/>
              </a:rPr>
              <a:t>, then their initial dip is recovered</a:t>
            </a:r>
          </a:p>
          <a:p>
            <a:pPr marL="269875" indent="-269875">
              <a:spcBef>
                <a:spcPct val="75000"/>
              </a:spcBef>
            </a:pPr>
            <a:r>
              <a:rPr lang="en-GB" altLang="en-US" sz="1700" dirty="0">
                <a:effectLst/>
              </a:rPr>
              <a:t>A convenient strategy is to draw the template on a </a:t>
            </a:r>
            <a:r>
              <a:rPr lang="en-GB" altLang="en-US" sz="1700" dirty="0">
                <a:solidFill>
                  <a:srgbClr val="FF6600"/>
                </a:solidFill>
                <a:effectLst/>
              </a:rPr>
              <a:t>tracing overlay</a:t>
            </a:r>
            <a:endParaRPr lang="en-GB" altLang="en-US" sz="1700" dirty="0">
              <a:solidFill>
                <a:srgbClr val="FF66FF"/>
              </a:solidFill>
              <a:effectLst/>
            </a:endParaRPr>
          </a:p>
        </p:txBody>
      </p:sp>
      <p:pic>
        <p:nvPicPr>
          <p:cNvPr id="55301" name="Picture 8">
            <a:extLst>
              <a:ext uri="{FF2B5EF4-FFF2-40B4-BE49-F238E27FC236}">
                <a16:creationId xmlns:a16="http://schemas.microsoft.com/office/drawing/2014/main" id="{DF96330E-7F5B-405C-A7F2-F3D5686C2F3B}"/>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4652963" y="4983163"/>
            <a:ext cx="4271962" cy="1719262"/>
          </a:xfrm>
          <a:noFill/>
          <a:ln w="38100">
            <a:solidFill>
              <a:schemeClr val="bg2"/>
            </a:solidFill>
            <a:miter lim="800000"/>
            <a:headEnd/>
            <a:tailEnd/>
          </a:ln>
        </p:spPr>
      </p:pic>
      <p:sp>
        <p:nvSpPr>
          <p:cNvPr id="361482" name="Text Box 10">
            <a:extLst>
              <a:ext uri="{FF2B5EF4-FFF2-40B4-BE49-F238E27FC236}">
                <a16:creationId xmlns:a16="http://schemas.microsoft.com/office/drawing/2014/main" id="{F54174AE-AB82-41E1-AA3E-10AD32DB1243}"/>
              </a:ext>
            </a:extLst>
          </p:cNvPr>
          <p:cNvSpPr txBox="1">
            <a:spLocks noChangeArrowheads="1"/>
          </p:cNvSpPr>
          <p:nvPr/>
        </p:nvSpPr>
        <p:spPr bwMode="auto">
          <a:xfrm>
            <a:off x="1873250" y="6423025"/>
            <a:ext cx="26447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sz="1400">
                <a:solidFill>
                  <a:srgbClr val="FFFF00"/>
                </a:solidFill>
                <a:effectLst>
                  <a:outerShdw blurRad="38100" dist="38100" dir="2700000" algn="tl">
                    <a:srgbClr val="000000"/>
                  </a:outerShdw>
                </a:effectLst>
                <a:latin typeface="Arial" charset="0"/>
              </a:rPr>
              <a:t>A successfully restored section</a:t>
            </a:r>
          </a:p>
        </p:txBody>
      </p:sp>
      <p:pic>
        <p:nvPicPr>
          <p:cNvPr id="55304" name="Picture 8" descr="21b1">
            <a:extLst>
              <a:ext uri="{FF2B5EF4-FFF2-40B4-BE49-F238E27FC236}">
                <a16:creationId xmlns:a16="http://schemas.microsoft.com/office/drawing/2014/main" id="{55B260E2-3787-406F-9D3A-A4284DCE56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3113" y="909638"/>
            <a:ext cx="4411662" cy="389731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735E0510-ECDE-4F0E-87A7-4D504EDC8FA7}"/>
              </a:ext>
            </a:extLst>
          </p:cNvPr>
          <p:cNvSpPr>
            <a:spLocks noGrp="1" noChangeArrowheads="1"/>
          </p:cNvSpPr>
          <p:nvPr>
            <p:ph type="title"/>
          </p:nvPr>
        </p:nvSpPr>
        <p:spPr>
          <a:noFill/>
        </p:spPr>
        <p:txBody>
          <a:bodyPr/>
          <a:lstStyle/>
          <a:p>
            <a:r>
              <a:rPr lang="en-GB" altLang="en-US">
                <a:effectLst/>
              </a:rPr>
              <a:t>Explicit area balancing</a:t>
            </a:r>
          </a:p>
        </p:txBody>
      </p:sp>
      <p:sp>
        <p:nvSpPr>
          <p:cNvPr id="56323" name="Rectangle 3">
            <a:extLst>
              <a:ext uri="{FF2B5EF4-FFF2-40B4-BE49-F238E27FC236}">
                <a16:creationId xmlns:a16="http://schemas.microsoft.com/office/drawing/2014/main" id="{53FFC279-BA45-4103-92BD-A762B1B6C7E7}"/>
              </a:ext>
            </a:extLst>
          </p:cNvPr>
          <p:cNvSpPr>
            <a:spLocks noGrp="1" noChangeArrowheads="1"/>
          </p:cNvSpPr>
          <p:nvPr>
            <p:ph type="body" sz="half" idx="1"/>
          </p:nvPr>
        </p:nvSpPr>
        <p:spPr>
          <a:xfrm>
            <a:off x="125413" y="4171950"/>
            <a:ext cx="8863012" cy="2613025"/>
          </a:xfrm>
          <a:noFill/>
        </p:spPr>
        <p:txBody>
          <a:bodyPr/>
          <a:lstStyle/>
          <a:p>
            <a:pPr marL="177800" indent="-177800"/>
            <a:r>
              <a:rPr lang="en-GB" altLang="en-US" sz="1700" dirty="0">
                <a:effectLst/>
              </a:rPr>
              <a:t>If the hanging wall is not a rigid block, </a:t>
            </a:r>
            <a:r>
              <a:rPr lang="en-GB" altLang="en-US" sz="1700" dirty="0">
                <a:solidFill>
                  <a:srgbClr val="FF6600"/>
                </a:solidFill>
                <a:effectLst/>
              </a:rPr>
              <a:t>area balancing techniques</a:t>
            </a:r>
            <a:r>
              <a:rPr lang="en-GB" altLang="en-US" sz="1700" dirty="0">
                <a:effectLst/>
              </a:rPr>
              <a:t> are required</a:t>
            </a:r>
          </a:p>
          <a:p>
            <a:pPr marL="177800" indent="-177800">
              <a:spcBef>
                <a:spcPct val="50000"/>
              </a:spcBef>
            </a:pPr>
            <a:r>
              <a:rPr lang="en-GB" altLang="en-US" sz="1700" dirty="0">
                <a:effectLst/>
              </a:rPr>
              <a:t>Note that the same assumptions as outlined when balancing sections in thrust systems apply, namely </a:t>
            </a:r>
            <a:r>
              <a:rPr lang="en-GB" altLang="en-US" sz="1700" dirty="0">
                <a:solidFill>
                  <a:srgbClr val="FF66FF"/>
                </a:solidFill>
                <a:effectLst/>
              </a:rPr>
              <a:t>plane strain</a:t>
            </a:r>
            <a:r>
              <a:rPr lang="en-GB" altLang="en-US" sz="1700" dirty="0">
                <a:effectLst/>
              </a:rPr>
              <a:t> and </a:t>
            </a:r>
            <a:r>
              <a:rPr lang="en-GB" altLang="en-US" sz="1700" dirty="0">
                <a:solidFill>
                  <a:srgbClr val="FF66FF"/>
                </a:solidFill>
                <a:effectLst/>
              </a:rPr>
              <a:t>no volume change</a:t>
            </a:r>
            <a:r>
              <a:rPr lang="en-GB" altLang="en-US" sz="1700" dirty="0">
                <a:effectLst/>
              </a:rPr>
              <a:t>, and so the section ought to be drawn parallel to the overall fault movement direction</a:t>
            </a:r>
          </a:p>
          <a:p>
            <a:pPr marL="177800" indent="-177800">
              <a:spcBef>
                <a:spcPct val="50000"/>
              </a:spcBef>
            </a:pPr>
            <a:r>
              <a:rPr lang="en-GB" altLang="en-US" sz="1700" dirty="0">
                <a:effectLst/>
              </a:rPr>
              <a:t>Under these assumptions the two areas (</a:t>
            </a:r>
            <a:r>
              <a:rPr lang="en-GB" altLang="en-US" sz="800" dirty="0">
                <a:effectLst/>
              </a:rPr>
              <a:t> </a:t>
            </a:r>
            <a:r>
              <a:rPr lang="en-GB" altLang="en-US" sz="1700" i="1" dirty="0">
                <a:solidFill>
                  <a:srgbClr val="FFFF00"/>
                </a:solidFill>
                <a:effectLst/>
              </a:rPr>
              <a:t>A</a:t>
            </a:r>
            <a:r>
              <a:rPr lang="en-GB" altLang="en-US" sz="1700" dirty="0">
                <a:effectLst/>
              </a:rPr>
              <a:t> and </a:t>
            </a:r>
            <a:r>
              <a:rPr lang="en-GB" altLang="en-US" sz="1700" i="1" dirty="0" err="1">
                <a:solidFill>
                  <a:srgbClr val="FFFF00"/>
                </a:solidFill>
                <a:effectLst/>
              </a:rPr>
              <a:t>A</a:t>
            </a:r>
            <a:r>
              <a:rPr lang="en-GB" altLang="en-US" sz="1700" i="1" baseline="-25000" dirty="0" err="1">
                <a:solidFill>
                  <a:srgbClr val="FFFF00"/>
                </a:solidFill>
                <a:effectLst/>
              </a:rPr>
              <a:t>x</a:t>
            </a:r>
            <a:r>
              <a:rPr lang="en-GB" altLang="en-US" sz="800" i="1" baseline="-25000" dirty="0">
                <a:solidFill>
                  <a:srgbClr val="FFFF00"/>
                </a:solidFill>
                <a:effectLst/>
              </a:rPr>
              <a:t> </a:t>
            </a:r>
            <a:r>
              <a:rPr lang="en-GB" altLang="en-US" sz="1700" dirty="0">
                <a:effectLst/>
              </a:rPr>
              <a:t>) identified above are equal and so if we know the </a:t>
            </a:r>
            <a:r>
              <a:rPr lang="en-GB" altLang="en-US" sz="1700" dirty="0">
                <a:solidFill>
                  <a:srgbClr val="FF66FF"/>
                </a:solidFill>
                <a:effectLst/>
              </a:rPr>
              <a:t>horizontal displacement</a:t>
            </a:r>
            <a:r>
              <a:rPr lang="en-GB" altLang="en-US" sz="1700" dirty="0">
                <a:effectLst/>
              </a:rPr>
              <a:t> (</a:t>
            </a:r>
            <a:r>
              <a:rPr lang="en-GB" altLang="en-US" sz="800" dirty="0">
                <a:effectLst/>
              </a:rPr>
              <a:t> </a:t>
            </a:r>
            <a:r>
              <a:rPr lang="en-GB" altLang="en-US" sz="1700" i="1" dirty="0">
                <a:solidFill>
                  <a:srgbClr val="FFFF00"/>
                </a:solidFill>
                <a:effectLst/>
                <a:latin typeface="Cambria Math" panose="02040503050406030204" pitchFamily="18" charset="0"/>
                <a:ea typeface="Cambria Math" panose="02040503050406030204" pitchFamily="18" charset="0"/>
                <a:sym typeface="Symbol" panose="05050102010706020507" pitchFamily="18" charset="2"/>
              </a:rPr>
              <a:t></a:t>
            </a:r>
            <a:r>
              <a:rPr lang="en-GB" altLang="en-US" sz="800" i="1" dirty="0">
                <a:solidFill>
                  <a:srgbClr val="FFFF00"/>
                </a:solidFill>
                <a:effectLst/>
                <a:latin typeface="Symbol" panose="05050102010706020507" pitchFamily="18" charset="2"/>
              </a:rPr>
              <a:t> </a:t>
            </a:r>
            <a:r>
              <a:rPr lang="en-GB" altLang="en-US" sz="1700" i="1" dirty="0">
                <a:solidFill>
                  <a:srgbClr val="FFFF00"/>
                </a:solidFill>
                <a:effectLst/>
              </a:rPr>
              <a:t>L</a:t>
            </a:r>
            <a:r>
              <a:rPr lang="en-GB" altLang="en-US" sz="800" i="1" dirty="0">
                <a:solidFill>
                  <a:srgbClr val="FFFF00"/>
                </a:solidFill>
                <a:effectLst/>
              </a:rPr>
              <a:t> </a:t>
            </a:r>
            <a:r>
              <a:rPr lang="en-GB" altLang="en-US" sz="1700" dirty="0">
                <a:effectLst/>
              </a:rPr>
              <a:t>) we can calculate the </a:t>
            </a:r>
            <a:r>
              <a:rPr lang="en-GB" altLang="en-US" sz="1700" dirty="0">
                <a:solidFill>
                  <a:srgbClr val="FF66FF"/>
                </a:solidFill>
                <a:effectLst/>
              </a:rPr>
              <a:t>depth to the detachment</a:t>
            </a:r>
            <a:r>
              <a:rPr lang="en-GB" altLang="en-US" sz="1700" dirty="0">
                <a:effectLst/>
              </a:rPr>
              <a:t> (</a:t>
            </a:r>
            <a:r>
              <a:rPr lang="en-GB" altLang="en-US" sz="800" dirty="0">
                <a:effectLst/>
              </a:rPr>
              <a:t> </a:t>
            </a:r>
            <a:r>
              <a:rPr lang="en-GB" altLang="en-US" sz="1700" i="1" dirty="0">
                <a:solidFill>
                  <a:srgbClr val="FFFF00"/>
                </a:solidFill>
                <a:effectLst/>
              </a:rPr>
              <a:t>D</a:t>
            </a:r>
            <a:r>
              <a:rPr lang="en-GB" altLang="en-US" sz="800" i="1" dirty="0">
                <a:solidFill>
                  <a:srgbClr val="FFFF00"/>
                </a:solidFill>
                <a:effectLst/>
              </a:rPr>
              <a:t> </a:t>
            </a:r>
            <a:r>
              <a:rPr lang="en-GB" altLang="en-US" sz="1700" dirty="0">
                <a:effectLst/>
              </a:rPr>
              <a:t>) or </a:t>
            </a:r>
            <a:r>
              <a:rPr lang="en-GB" altLang="en-US" sz="1700" i="1" dirty="0">
                <a:effectLst/>
              </a:rPr>
              <a:t>vice versa</a:t>
            </a:r>
          </a:p>
        </p:txBody>
      </p:sp>
      <p:pic>
        <p:nvPicPr>
          <p:cNvPr id="56324" name="Picture 10">
            <a:extLst>
              <a:ext uri="{FF2B5EF4-FFF2-40B4-BE49-F238E27FC236}">
                <a16:creationId xmlns:a16="http://schemas.microsoft.com/office/drawing/2014/main" id="{18BB80C7-D339-468C-B2BA-0D70D7F89862}"/>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428750" y="947738"/>
            <a:ext cx="6381750" cy="3049587"/>
          </a:xfrm>
          <a:noFill/>
          <a:ln w="38100" cap="flat">
            <a:solidFill>
              <a:schemeClr val="bg2"/>
            </a:solidFill>
            <a:miter lim="800000"/>
            <a:headEnd/>
            <a:tailEnd/>
          </a:ln>
        </p:spPr>
      </p:pic>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A806757D-4939-46CA-AF8B-7D37A3075478}"/>
              </a:ext>
            </a:extLst>
          </p:cNvPr>
          <p:cNvSpPr>
            <a:spLocks noGrp="1" noChangeArrowheads="1"/>
          </p:cNvSpPr>
          <p:nvPr>
            <p:ph type="title"/>
          </p:nvPr>
        </p:nvSpPr>
        <p:spPr>
          <a:noFill/>
        </p:spPr>
        <p:txBody>
          <a:bodyPr/>
          <a:lstStyle/>
          <a:p>
            <a:r>
              <a:rPr lang="en-GB" altLang="en-US">
                <a:effectLst/>
              </a:rPr>
              <a:t>Area balancing: variants of the Chevron technique</a:t>
            </a:r>
          </a:p>
        </p:txBody>
      </p:sp>
      <p:sp>
        <p:nvSpPr>
          <p:cNvPr id="57347" name="Rectangle 3">
            <a:extLst>
              <a:ext uri="{FF2B5EF4-FFF2-40B4-BE49-F238E27FC236}">
                <a16:creationId xmlns:a16="http://schemas.microsoft.com/office/drawing/2014/main" id="{ED18D477-06E2-4B56-9C3F-4AB3E5758247}"/>
              </a:ext>
            </a:extLst>
          </p:cNvPr>
          <p:cNvSpPr>
            <a:spLocks noGrp="1" noChangeArrowheads="1"/>
          </p:cNvSpPr>
          <p:nvPr>
            <p:ph type="body" sz="half" idx="1"/>
          </p:nvPr>
        </p:nvSpPr>
        <p:spPr>
          <a:xfrm>
            <a:off x="112713" y="766204"/>
            <a:ext cx="8769350" cy="1081088"/>
          </a:xfrm>
          <a:noFill/>
        </p:spPr>
        <p:txBody>
          <a:bodyPr/>
          <a:lstStyle/>
          <a:p>
            <a:pPr marL="269875" indent="-269875">
              <a:spcBef>
                <a:spcPct val="25000"/>
              </a:spcBef>
            </a:pPr>
            <a:r>
              <a:rPr lang="en-GB" altLang="en-US" sz="1700" dirty="0">
                <a:effectLst/>
              </a:rPr>
              <a:t>Different ways have been developed to apply the geometry outlined on the previous slide to calculate </a:t>
            </a:r>
          </a:p>
          <a:p>
            <a:pPr marL="540000" lvl="1" indent="-269875">
              <a:spcBef>
                <a:spcPct val="10000"/>
              </a:spcBef>
              <a:buClr>
                <a:srgbClr val="FF6600"/>
              </a:buClr>
              <a:buFont typeface="Times" panose="02020603050405020304" pitchFamily="18" charset="0"/>
              <a:buAutoNum type="arabicPeriod"/>
            </a:pPr>
            <a:r>
              <a:rPr lang="en-GB" altLang="en-US" sz="1700" dirty="0">
                <a:solidFill>
                  <a:srgbClr val="FF6600"/>
                </a:solidFill>
                <a:effectLst/>
              </a:rPr>
              <a:t>the shape of a </a:t>
            </a:r>
            <a:r>
              <a:rPr lang="en-GB" altLang="en-US" sz="1700" dirty="0" err="1">
                <a:solidFill>
                  <a:srgbClr val="FF6600"/>
                </a:solidFill>
                <a:effectLst/>
              </a:rPr>
              <a:t>listric</a:t>
            </a:r>
            <a:r>
              <a:rPr lang="en-GB" altLang="en-US" sz="1700" dirty="0">
                <a:solidFill>
                  <a:srgbClr val="FF6600"/>
                </a:solidFill>
                <a:effectLst/>
              </a:rPr>
              <a:t> fault at depth from the known shape of a rollover </a:t>
            </a:r>
            <a:r>
              <a:rPr lang="en-GB" altLang="en-US" sz="1700" dirty="0" err="1">
                <a:solidFill>
                  <a:srgbClr val="FF6600"/>
                </a:solidFill>
                <a:effectLst/>
              </a:rPr>
              <a:t>antiform</a:t>
            </a:r>
            <a:r>
              <a:rPr lang="en-GB" altLang="en-US" sz="1700" dirty="0">
                <a:effectLst/>
              </a:rPr>
              <a:t>, or</a:t>
            </a:r>
          </a:p>
          <a:p>
            <a:pPr marL="540000" lvl="1" indent="-269875">
              <a:spcBef>
                <a:spcPct val="10000"/>
              </a:spcBef>
              <a:buClr>
                <a:srgbClr val="FF6600"/>
              </a:buClr>
              <a:buFont typeface="Times" panose="02020603050405020304" pitchFamily="18" charset="0"/>
              <a:buAutoNum type="arabicPeriod"/>
            </a:pPr>
            <a:r>
              <a:rPr lang="en-GB" altLang="en-US" sz="1700" dirty="0">
                <a:solidFill>
                  <a:srgbClr val="FF6600"/>
                </a:solidFill>
                <a:effectLst/>
              </a:rPr>
              <a:t>the shape of a rollover </a:t>
            </a:r>
            <a:r>
              <a:rPr lang="en-GB" altLang="en-US" sz="1700" dirty="0" err="1">
                <a:solidFill>
                  <a:srgbClr val="FF6600"/>
                </a:solidFill>
                <a:effectLst/>
              </a:rPr>
              <a:t>antiform</a:t>
            </a:r>
            <a:r>
              <a:rPr lang="en-GB" altLang="en-US" sz="1700" dirty="0">
                <a:solidFill>
                  <a:srgbClr val="FF6600"/>
                </a:solidFill>
                <a:effectLst/>
              </a:rPr>
              <a:t> from the known shape of a </a:t>
            </a:r>
            <a:r>
              <a:rPr lang="en-GB" altLang="en-US" sz="1700" dirty="0" err="1">
                <a:solidFill>
                  <a:srgbClr val="FF6600"/>
                </a:solidFill>
                <a:effectLst/>
              </a:rPr>
              <a:t>listric</a:t>
            </a:r>
            <a:r>
              <a:rPr lang="en-GB" altLang="en-US" sz="1700" dirty="0">
                <a:solidFill>
                  <a:srgbClr val="FF6600"/>
                </a:solidFill>
                <a:effectLst/>
              </a:rPr>
              <a:t> fault</a:t>
            </a:r>
          </a:p>
        </p:txBody>
      </p:sp>
      <p:pic>
        <p:nvPicPr>
          <p:cNvPr id="57348" name="Picture 7">
            <a:extLst>
              <a:ext uri="{FF2B5EF4-FFF2-40B4-BE49-F238E27FC236}">
                <a16:creationId xmlns:a16="http://schemas.microsoft.com/office/drawing/2014/main" id="{670DB6C6-9328-4CD7-BF05-C283DC5F98B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035976" y="2248930"/>
            <a:ext cx="7072048" cy="4416468"/>
          </a:xfrm>
          <a:noFill/>
          <a:ln w="38100" cap="flat">
            <a:solidFill>
              <a:schemeClr val="bg2"/>
            </a:solidFill>
            <a:miter lim="800000"/>
            <a:headEnd/>
            <a:tailEnd/>
          </a:ln>
        </p:spPr>
      </p:pic>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5EFA4782-C9B8-4F44-96EB-597CA25A005E}"/>
              </a:ext>
            </a:extLst>
          </p:cNvPr>
          <p:cNvSpPr>
            <a:spLocks noGrp="1" noChangeArrowheads="1"/>
          </p:cNvSpPr>
          <p:nvPr>
            <p:ph type="title"/>
          </p:nvPr>
        </p:nvSpPr>
        <p:spPr>
          <a:noFill/>
        </p:spPr>
        <p:txBody>
          <a:bodyPr/>
          <a:lstStyle/>
          <a:p>
            <a:r>
              <a:rPr lang="en-GB" altLang="en-US">
                <a:effectLst/>
              </a:rPr>
              <a:t>Reading</a:t>
            </a:r>
          </a:p>
        </p:txBody>
      </p:sp>
      <p:sp>
        <p:nvSpPr>
          <p:cNvPr id="58371" name="Rectangle 3">
            <a:extLst>
              <a:ext uri="{FF2B5EF4-FFF2-40B4-BE49-F238E27FC236}">
                <a16:creationId xmlns:a16="http://schemas.microsoft.com/office/drawing/2014/main" id="{2F4E16CD-F405-434B-8CB8-BB5DBD18408F}"/>
              </a:ext>
            </a:extLst>
          </p:cNvPr>
          <p:cNvSpPr>
            <a:spLocks noGrp="1" noChangeArrowheads="1"/>
          </p:cNvSpPr>
          <p:nvPr>
            <p:ph type="body" sz="half" idx="1"/>
          </p:nvPr>
        </p:nvSpPr>
        <p:spPr>
          <a:xfrm>
            <a:off x="255588" y="917575"/>
            <a:ext cx="8721725" cy="5791200"/>
          </a:xfrm>
          <a:noFill/>
        </p:spPr>
        <p:txBody>
          <a:bodyPr/>
          <a:lstStyle/>
          <a:p>
            <a:pPr marL="177800" indent="-177800"/>
            <a:r>
              <a:rPr lang="en-GB" altLang="en-US" sz="1400" dirty="0">
                <a:effectLst/>
              </a:rPr>
              <a:t>Fossen H (2016) </a:t>
            </a:r>
            <a:r>
              <a:rPr lang="en-GB" altLang="en-US" sz="1400" i="1" dirty="0">
                <a:effectLst/>
              </a:rPr>
              <a:t>Structural Geology </a:t>
            </a:r>
            <a:r>
              <a:rPr lang="en-GB" altLang="en-US" sz="1400" dirty="0">
                <a:effectLst/>
              </a:rPr>
              <a:t>(2</a:t>
            </a:r>
            <a:r>
              <a:rPr lang="en-GB" altLang="en-US" sz="1400" baseline="30000" dirty="0">
                <a:effectLst/>
              </a:rPr>
              <a:t>nd</a:t>
            </a:r>
            <a:r>
              <a:rPr lang="en-GB" altLang="en-US" sz="1400" dirty="0">
                <a:effectLst/>
              </a:rPr>
              <a:t> edition).</a:t>
            </a:r>
            <a:r>
              <a:rPr lang="en-GB" altLang="en-US" sz="1400" i="1" dirty="0">
                <a:effectLst/>
              </a:rPr>
              <a:t> </a:t>
            </a:r>
            <a:r>
              <a:rPr lang="en-GB" altLang="en-US" sz="1400" dirty="0">
                <a:effectLst/>
              </a:rPr>
              <a:t>Cambridge University Press. </a:t>
            </a:r>
            <a:r>
              <a:rPr lang="en-GB" altLang="en-US" sz="1400" dirty="0">
                <a:solidFill>
                  <a:srgbClr val="FF66CC"/>
                </a:solidFill>
                <a:effectLst/>
              </a:rPr>
              <a:t>[Chapter 18]</a:t>
            </a:r>
          </a:p>
          <a:p>
            <a:pPr marL="177800" indent="-177800"/>
            <a:r>
              <a:rPr lang="en-GB" altLang="en-US" sz="1400" dirty="0">
                <a:effectLst/>
              </a:rPr>
              <a:t>Twiss RJ, </a:t>
            </a:r>
            <a:r>
              <a:rPr lang="en-GB" altLang="en-US" sz="1400" dirty="0" err="1">
                <a:effectLst/>
              </a:rPr>
              <a:t>Moores</a:t>
            </a:r>
            <a:r>
              <a:rPr lang="en-GB" altLang="en-US" sz="1400" dirty="0">
                <a:effectLst/>
              </a:rPr>
              <a:t> EM (2007) </a:t>
            </a:r>
            <a:r>
              <a:rPr lang="en-GB" altLang="en-US" sz="1400" i="1" dirty="0">
                <a:effectLst/>
              </a:rPr>
              <a:t>Structural Geology</a:t>
            </a:r>
            <a:r>
              <a:rPr lang="en-GB" altLang="en-US" sz="1400" dirty="0">
                <a:effectLst/>
              </a:rPr>
              <a:t> (2</a:t>
            </a:r>
            <a:r>
              <a:rPr lang="en-GB" altLang="en-US" sz="1400" baseline="30000" dirty="0">
                <a:effectLst/>
              </a:rPr>
              <a:t>nd</a:t>
            </a:r>
            <a:r>
              <a:rPr lang="en-GB" altLang="en-US" sz="1400" dirty="0">
                <a:effectLst/>
              </a:rPr>
              <a:t> edition). WH Freeman and Co. </a:t>
            </a:r>
            <a:r>
              <a:rPr lang="en-GB" altLang="en-US" sz="1400" dirty="0">
                <a:solidFill>
                  <a:srgbClr val="FF66CC"/>
                </a:solidFill>
                <a:effectLst/>
              </a:rPr>
              <a:t>[Chapter 4] </a:t>
            </a:r>
          </a:p>
          <a:p>
            <a:pPr marL="177800" indent="-177800"/>
            <a:r>
              <a:rPr lang="en-GB" altLang="en-US" sz="1400" dirty="0">
                <a:effectLst/>
              </a:rPr>
              <a:t>Price NJ, Cosgrove JW (1990) </a:t>
            </a:r>
            <a:r>
              <a:rPr lang="en-GB" altLang="en-US" sz="1400" i="1" dirty="0">
                <a:effectLst/>
              </a:rPr>
              <a:t>Analysis of Geological Structures.</a:t>
            </a:r>
            <a:r>
              <a:rPr lang="en-GB" altLang="en-US" sz="1400" dirty="0">
                <a:effectLst/>
              </a:rPr>
              <a:t> Cambridge University Press. </a:t>
            </a:r>
            <a:r>
              <a:rPr lang="en-GB" altLang="en-US" sz="1400" dirty="0">
                <a:solidFill>
                  <a:srgbClr val="FF66CC"/>
                </a:solidFill>
                <a:effectLst/>
              </a:rPr>
              <a:t>[Chapter 8]</a:t>
            </a:r>
          </a:p>
          <a:p>
            <a:pPr marL="177800" indent="-177800"/>
            <a:r>
              <a:rPr lang="en-GB" altLang="en-US" sz="1400" dirty="0">
                <a:effectLst/>
              </a:rPr>
              <a:t>Peacock DCP, Knipe RJ, Sanderson DJ (2000) Glossary of normal faults. </a:t>
            </a:r>
            <a:r>
              <a:rPr lang="en-GB" altLang="en-US" sz="1400" i="1" dirty="0">
                <a:effectLst/>
              </a:rPr>
              <a:t>Journal of Structural Geology</a:t>
            </a:r>
            <a:r>
              <a:rPr lang="en-GB" altLang="en-US" sz="1400" dirty="0">
                <a:effectLst/>
              </a:rPr>
              <a:t> 22: 291-305, </a:t>
            </a:r>
            <a:r>
              <a:rPr lang="en-GB" sz="1400" dirty="0"/>
              <a:t>https://doi.org/10.1016/S0191-8141(00)80102-9</a:t>
            </a:r>
            <a:endParaRPr lang="en-GB" altLang="en-US" sz="1400" dirty="0">
              <a:effectLst/>
            </a:endParaRPr>
          </a:p>
          <a:p>
            <a:pPr marL="177800" indent="-177800">
              <a:buFont typeface="Times" panose="02020603050405020304" pitchFamily="18" charset="0"/>
              <a:buNone/>
            </a:pPr>
            <a:endParaRPr lang="en-GB" altLang="en-US" sz="1400" dirty="0">
              <a:effectLst/>
            </a:endParaRPr>
          </a:p>
          <a:p>
            <a:pPr marL="177800" indent="-177800">
              <a:buFont typeface="Times" panose="02020603050405020304" pitchFamily="18" charset="0"/>
              <a:buNone/>
            </a:pPr>
            <a:r>
              <a:rPr lang="en-GB" altLang="en-US" sz="1600" dirty="0">
                <a:solidFill>
                  <a:srgbClr val="FF6600"/>
                </a:solidFill>
                <a:effectLst/>
              </a:rPr>
              <a:t>On section balancing</a:t>
            </a:r>
          </a:p>
          <a:p>
            <a:pPr marL="177800" indent="-177800">
              <a:spcBef>
                <a:spcPct val="50000"/>
              </a:spcBef>
            </a:pPr>
            <a:r>
              <a:rPr lang="en-GB" altLang="en-US" sz="1400" dirty="0">
                <a:effectLst/>
              </a:rPr>
              <a:t>Fossen H (2016) </a:t>
            </a:r>
            <a:r>
              <a:rPr lang="en-GB" altLang="en-US" sz="1400" i="1" dirty="0">
                <a:effectLst/>
              </a:rPr>
              <a:t>Structural Geology </a:t>
            </a:r>
            <a:r>
              <a:rPr lang="en-GB" altLang="en-US" sz="1400" dirty="0">
                <a:effectLst/>
              </a:rPr>
              <a:t>(2</a:t>
            </a:r>
            <a:r>
              <a:rPr lang="en-GB" altLang="en-US" sz="1400" baseline="30000" dirty="0">
                <a:effectLst/>
              </a:rPr>
              <a:t>nd</a:t>
            </a:r>
            <a:r>
              <a:rPr lang="en-GB" altLang="en-US" sz="1400" dirty="0">
                <a:effectLst/>
              </a:rPr>
              <a:t> edition)</a:t>
            </a:r>
            <a:r>
              <a:rPr lang="en-GB" altLang="en-US" sz="1400" i="1" dirty="0">
                <a:effectLst/>
              </a:rPr>
              <a:t>. </a:t>
            </a:r>
            <a:r>
              <a:rPr lang="en-GB" altLang="en-US" sz="1400" dirty="0">
                <a:effectLst/>
              </a:rPr>
              <a:t>Cambridge University Press. </a:t>
            </a:r>
            <a:r>
              <a:rPr lang="en-GB" altLang="en-US" sz="1400" dirty="0">
                <a:solidFill>
                  <a:srgbClr val="FF66CC"/>
                </a:solidFill>
                <a:effectLst/>
              </a:rPr>
              <a:t>[Chapter 21]</a:t>
            </a:r>
            <a:endParaRPr lang="en-GB" altLang="en-US" sz="1400" dirty="0">
              <a:effectLst/>
            </a:endParaRPr>
          </a:p>
          <a:p>
            <a:pPr marL="177800" indent="-177800"/>
            <a:r>
              <a:rPr lang="en-GB" altLang="en-US" sz="1400" dirty="0">
                <a:effectLst/>
              </a:rPr>
              <a:t>Gibbs AD (1983) Balanced cross-section construction from seismic sections in areas of extensional tectonics. </a:t>
            </a:r>
            <a:r>
              <a:rPr lang="en-GB" altLang="en-US" sz="1400" i="1" dirty="0">
                <a:effectLst/>
              </a:rPr>
              <a:t>Journal of Structural Geology</a:t>
            </a:r>
            <a:r>
              <a:rPr lang="en-GB" altLang="en-US" sz="1400" dirty="0">
                <a:effectLst/>
              </a:rPr>
              <a:t> 5: 153-160, </a:t>
            </a:r>
            <a:r>
              <a:rPr lang="en-GB" sz="1400" dirty="0"/>
              <a:t>https://doi.org/10.1016/0191-8141(83)90040-8</a:t>
            </a:r>
            <a:endParaRPr lang="en-GB" altLang="en-US" sz="1400" dirty="0">
              <a:effectLst/>
            </a:endParaRPr>
          </a:p>
          <a:p>
            <a:pPr marL="177800" indent="-177800"/>
            <a:r>
              <a:rPr lang="en-GB" altLang="en-US" sz="1400" dirty="0">
                <a:effectLst/>
              </a:rPr>
              <a:t>Davison I (1986) </a:t>
            </a:r>
            <a:r>
              <a:rPr lang="en-GB" altLang="en-US" sz="1400" dirty="0" err="1">
                <a:effectLst/>
              </a:rPr>
              <a:t>Listric</a:t>
            </a:r>
            <a:r>
              <a:rPr lang="en-GB" altLang="en-US" sz="1400" dirty="0">
                <a:effectLst/>
              </a:rPr>
              <a:t> normal fault profiles: calculation using bed-length balance and fault displacement. </a:t>
            </a:r>
            <a:r>
              <a:rPr lang="en-GB" altLang="en-US" sz="1400" i="1" dirty="0">
                <a:effectLst/>
              </a:rPr>
              <a:t>Journal of Structural Geology</a:t>
            </a:r>
            <a:r>
              <a:rPr lang="en-GB" altLang="en-US" sz="1400" dirty="0">
                <a:effectLst/>
              </a:rPr>
              <a:t> 8: 209-210, </a:t>
            </a:r>
            <a:r>
              <a:rPr lang="en-GB" sz="1400" dirty="0"/>
              <a:t>https://doi.org/10.1016/0191-8141(86)90112-4</a:t>
            </a:r>
            <a:endParaRPr lang="en-GB" altLang="en-US" sz="1400" dirty="0">
              <a:effectLst/>
            </a:endParaRPr>
          </a:p>
        </p:txBody>
      </p:sp>
    </p:spTree>
  </p:cSld>
  <p:clrMapOvr>
    <a:masterClrMapping/>
  </p:clrMapOvr>
  <p:transition spd="slow"/>
</p:sld>
</file>

<file path=ppt/theme/theme1.xml><?xml version="1.0" encoding="utf-8"?>
<a:theme xmlns:a="http://schemas.openxmlformats.org/drawingml/2006/main" name="Basin Studies 2002">
  <a:themeElements>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fontScheme name="Basin Studies 200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lnDef>
  </a:objectDefaults>
  <a:extraClrSchemeLst>
    <a:extraClrScheme>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clrMap bg1="dk2" tx1="lt1" bg2="dk1" tx2="lt2" accent1="accent1" accent2="accent2" accent3="accent3" accent4="accent4" accent5="accent5" accent6="accent6" hlink="hlink" folHlink="folHlink"/>
    </a:extraClrScheme>
    <a:extraClrScheme>
      <a:clrScheme name="Basin Studies 2002 2">
        <a:dk1>
          <a:srgbClr val="000066"/>
        </a:dk1>
        <a:lt1>
          <a:srgbClr val="FFFFFF"/>
        </a:lt1>
        <a:dk2>
          <a:srgbClr val="000066"/>
        </a:dk2>
        <a:lt2>
          <a:srgbClr val="000037"/>
        </a:lt2>
        <a:accent1>
          <a:srgbClr val="D5790C"/>
        </a:accent1>
        <a:accent2>
          <a:srgbClr val="D5790C"/>
        </a:accent2>
        <a:accent3>
          <a:srgbClr val="FFFFFF"/>
        </a:accent3>
        <a:accent4>
          <a:srgbClr val="000056"/>
        </a:accent4>
        <a:accent5>
          <a:srgbClr val="E7BEAA"/>
        </a:accent5>
        <a:accent6>
          <a:srgbClr val="C16D0A"/>
        </a:accent6>
        <a:hlink>
          <a:srgbClr val="5858A2"/>
        </a:hlink>
        <a:folHlink>
          <a:srgbClr val="FFFFFF"/>
        </a:folHlink>
      </a:clrScheme>
      <a:clrMap bg1="lt1" tx1="dk1" bg2="lt2" tx2="dk2" accent1="accent1" accent2="accent2" accent3="accent3" accent4="accent4" accent5="accent5" accent6="accent6" hlink="hlink" folHlink="folHlink"/>
    </a:extraClrScheme>
    <a:extraClrScheme>
      <a:clrScheme name="Basin Studies 200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PowerBook HD:Users:robgawth:Documents:Eudora Folder:Attachments Folder:Basin Studies 2002.pot</Template>
  <TotalTime>11896</TotalTime>
  <Words>12026</Words>
  <Application>Microsoft Office PowerPoint</Application>
  <PresentationFormat>On-screen Show (4:3)</PresentationFormat>
  <Paragraphs>415</Paragraphs>
  <Slides>59</Slides>
  <Notes>59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Arial</vt:lpstr>
      <vt:lpstr>Cambria Math</vt:lpstr>
      <vt:lpstr>Helvetica</vt:lpstr>
      <vt:lpstr>Symbol</vt:lpstr>
      <vt:lpstr>Times</vt:lpstr>
      <vt:lpstr>Times New Roman</vt:lpstr>
      <vt:lpstr>Wingdings</vt:lpstr>
      <vt:lpstr>Basin Studies 2002</vt:lpstr>
      <vt:lpstr>EART 28202 :  Structural Geology    Class 9 :  Extensional Tectonic Regimes</vt:lpstr>
      <vt:lpstr>Extensional tectonic regimes</vt:lpstr>
      <vt:lpstr>Rifts</vt:lpstr>
      <vt:lpstr>Rift development</vt:lpstr>
      <vt:lpstr>Rifting to ocean crust formation</vt:lpstr>
      <vt:lpstr>Passive margins</vt:lpstr>
      <vt:lpstr>Extension in active contractional orogenic belts </vt:lpstr>
      <vt:lpstr>Post-orogenic collapse</vt:lpstr>
      <vt:lpstr>Metamorphic core complexes</vt:lpstr>
      <vt:lpstr>Oceanic core complexes</vt:lpstr>
      <vt:lpstr>Local extension above domes/magma chambers</vt:lpstr>
      <vt:lpstr>Local extension above domes/magma chambers  2</vt:lpstr>
      <vt:lpstr>Local extension around loaded lithosphere</vt:lpstr>
      <vt:lpstr>Local extension around loaded lithosphere  2</vt:lpstr>
      <vt:lpstr>Local extension around areas of subsidence</vt:lpstr>
      <vt:lpstr>Local extension around areas of subsidence  2</vt:lpstr>
      <vt:lpstr>Extension from global expansion</vt:lpstr>
      <vt:lpstr>Extension from global expansion  2</vt:lpstr>
      <vt:lpstr>Polygonal normal faults</vt:lpstr>
      <vt:lpstr>Inversion tectonics</vt:lpstr>
      <vt:lpstr>  Terminology</vt:lpstr>
      <vt:lpstr>Extensional faults</vt:lpstr>
      <vt:lpstr>Extensional faults  2</vt:lpstr>
      <vt:lpstr>The fault zone</vt:lpstr>
      <vt:lpstr>Shape of the fault surface: planar/listric/antilistric</vt:lpstr>
      <vt:lpstr>Shape of the fault surface: ramps/flats</vt:lpstr>
      <vt:lpstr>Fault systems: imbrication and duplexes</vt:lpstr>
      <vt:lpstr>Fault systems: antithetic/synthetic faults</vt:lpstr>
      <vt:lpstr>Fault systems: horsts/grabens</vt:lpstr>
      <vt:lpstr>Horsts/grabens  2</vt:lpstr>
      <vt:lpstr>Half-grabens: tilting</vt:lpstr>
      <vt:lpstr>  Modes of extension and associated structures</vt:lpstr>
      <vt:lpstr>Planar non-rotational faults</vt:lpstr>
      <vt:lpstr>Planar rotational faults (domino mode)</vt:lpstr>
      <vt:lpstr>Planar rotational faults  2</vt:lpstr>
      <vt:lpstr>Listric rotational faults</vt:lpstr>
      <vt:lpstr>Listric rotational faults  2</vt:lpstr>
      <vt:lpstr>Listric rotational faults  3</vt:lpstr>
      <vt:lpstr>Listric rotational faults  4</vt:lpstr>
      <vt:lpstr>Deformation above a ramp-flat geometry fault</vt:lpstr>
      <vt:lpstr>Deformation above a ramp-flat geometry fault  2</vt:lpstr>
      <vt:lpstr>Deformation above a ramp-flat geometry fault  3</vt:lpstr>
      <vt:lpstr>A note of caution: reverse drag</vt:lpstr>
      <vt:lpstr>  Sequences of fault development</vt:lpstr>
      <vt:lpstr>Footwall collapse</vt:lpstr>
      <vt:lpstr>Analogue modelling</vt:lpstr>
      <vt:lpstr>Syn-tectonic sedimentation</vt:lpstr>
      <vt:lpstr>Fault growth vs. extinction</vt:lpstr>
      <vt:lpstr>Fault growth vs. extinction  2</vt:lpstr>
      <vt:lpstr>Along strike development</vt:lpstr>
      <vt:lpstr>Along strike development  2</vt:lpstr>
      <vt:lpstr>  Models of extension</vt:lpstr>
      <vt:lpstr>Pure shear vs. simple shear</vt:lpstr>
      <vt:lpstr>  Section balancing (extensional regimes)</vt:lpstr>
      <vt:lpstr>Balancing sections to eliminate space problems</vt:lpstr>
      <vt:lpstr>Rigid block restoration</vt:lpstr>
      <vt:lpstr>Explicit area balancing</vt:lpstr>
      <vt:lpstr>Area balancing: variants of the Chevron technique</vt:lpstr>
      <vt:lpstr>Reading</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GY2141 Lecture 10</dc:subject>
  <dc:creator>Steve Covey-Crump</dc:creator>
  <cp:lastModifiedBy>Stephen Covey-crump</cp:lastModifiedBy>
  <cp:revision>464</cp:revision>
  <cp:lastPrinted>2002-03-22T07:32:28Z</cp:lastPrinted>
  <dcterms:created xsi:type="dcterms:W3CDTF">2002-10-21T14:42:49Z</dcterms:created>
  <dcterms:modified xsi:type="dcterms:W3CDTF">2026-04-23T10:26:36Z</dcterms:modified>
</cp:coreProperties>
</file>