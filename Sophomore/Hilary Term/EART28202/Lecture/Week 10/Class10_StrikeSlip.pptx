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48"/>
  </p:notesMasterIdLst>
  <p:handoutMasterIdLst>
    <p:handoutMasterId r:id="rId49"/>
  </p:handoutMasterIdLst>
  <p:sldIdLst>
    <p:sldId id="316" r:id="rId2"/>
    <p:sldId id="340" r:id="rId3"/>
    <p:sldId id="342" r:id="rId4"/>
    <p:sldId id="361" r:id="rId5"/>
    <p:sldId id="360" r:id="rId6"/>
    <p:sldId id="343" r:id="rId7"/>
    <p:sldId id="362" r:id="rId8"/>
    <p:sldId id="363" r:id="rId9"/>
    <p:sldId id="364" r:id="rId10"/>
    <p:sldId id="365" r:id="rId11"/>
    <p:sldId id="366" r:id="rId12"/>
    <p:sldId id="344" r:id="rId13"/>
    <p:sldId id="367" r:id="rId14"/>
    <p:sldId id="368" r:id="rId15"/>
    <p:sldId id="348" r:id="rId16"/>
    <p:sldId id="388" r:id="rId17"/>
    <p:sldId id="389" r:id="rId18"/>
    <p:sldId id="346" r:id="rId19"/>
    <p:sldId id="347" r:id="rId20"/>
    <p:sldId id="358" r:id="rId21"/>
    <p:sldId id="349" r:id="rId22"/>
    <p:sldId id="350" r:id="rId23"/>
    <p:sldId id="369" r:id="rId24"/>
    <p:sldId id="375" r:id="rId25"/>
    <p:sldId id="351" r:id="rId26"/>
    <p:sldId id="352" r:id="rId27"/>
    <p:sldId id="372" r:id="rId28"/>
    <p:sldId id="374" r:id="rId29"/>
    <p:sldId id="373" r:id="rId30"/>
    <p:sldId id="353" r:id="rId31"/>
    <p:sldId id="376" r:id="rId32"/>
    <p:sldId id="354" r:id="rId33"/>
    <p:sldId id="377" r:id="rId34"/>
    <p:sldId id="378" r:id="rId35"/>
    <p:sldId id="379" r:id="rId36"/>
    <p:sldId id="356" r:id="rId37"/>
    <p:sldId id="355" r:id="rId38"/>
    <p:sldId id="383" r:id="rId39"/>
    <p:sldId id="380" r:id="rId40"/>
    <p:sldId id="381" r:id="rId41"/>
    <p:sldId id="386" r:id="rId42"/>
    <p:sldId id="385" r:id="rId43"/>
    <p:sldId id="384" r:id="rId44"/>
    <p:sldId id="370" r:id="rId45"/>
    <p:sldId id="371" r:id="rId46"/>
    <p:sldId id="341" r:id="rId47"/>
  </p:sldIdLst>
  <p:sldSz cx="9144000" cy="6858000" type="screen4x3"/>
  <p:notesSz cx="6732588" cy="9855200"/>
  <p:defaultTextStyle>
    <a:defPPr>
      <a:defRPr lang="en-GB"/>
    </a:defPPr>
    <a:lvl1pPr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1pPr>
    <a:lvl2pPr marL="4572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2pPr>
    <a:lvl3pPr marL="9144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3pPr>
    <a:lvl4pPr marL="13716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4pPr>
    <a:lvl5pPr marL="18288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5pPr>
    <a:lvl6pPr marL="22860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6pPr>
    <a:lvl7pPr marL="27432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7pPr>
    <a:lvl8pPr marL="32004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8pPr>
    <a:lvl9pPr marL="36576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FF6600"/>
    <a:srgbClr val="FF3300"/>
    <a:srgbClr val="FF0000"/>
    <a:srgbClr val="D3D3FF"/>
    <a:srgbClr val="B7B7FF"/>
    <a:srgbClr val="A1A1FF"/>
    <a:srgbClr val="0080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55" autoAdjust="0"/>
    <p:restoredTop sz="67450" autoAdjust="0"/>
  </p:normalViewPr>
  <p:slideViewPr>
    <p:cSldViewPr snapToGrid="0">
      <p:cViewPr varScale="1">
        <p:scale>
          <a:sx n="74" d="100"/>
          <a:sy n="74" d="100"/>
        </p:scale>
        <p:origin x="3102" y="72"/>
      </p:cViewPr>
      <p:guideLst>
        <p:guide orient="horz" pos="2914"/>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slide" Target="slides/slide18.xml"/><Relationship Id="rId1" Type="http://schemas.openxmlformats.org/officeDocument/2006/relationships/slide" Target="slides/slide1.xml"/><Relationship Id="rId4"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5380A0C0-2B78-4D1A-8D52-E97416965432}"/>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3" name="Rectangle 3">
            <a:extLst>
              <a:ext uri="{FF2B5EF4-FFF2-40B4-BE49-F238E27FC236}">
                <a16:creationId xmlns:a16="http://schemas.microsoft.com/office/drawing/2014/main" id="{B62E036C-BEF2-4359-A522-33885B0BFED6}"/>
              </a:ext>
            </a:extLst>
          </p:cNvPr>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87044" name="Rectangle 4">
            <a:extLst>
              <a:ext uri="{FF2B5EF4-FFF2-40B4-BE49-F238E27FC236}">
                <a16:creationId xmlns:a16="http://schemas.microsoft.com/office/drawing/2014/main" id="{B1321274-8538-4A52-86A0-3948DA878D70}"/>
              </a:ext>
            </a:extLst>
          </p:cNvPr>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5" name="Rectangle 5">
            <a:extLst>
              <a:ext uri="{FF2B5EF4-FFF2-40B4-BE49-F238E27FC236}">
                <a16:creationId xmlns:a16="http://schemas.microsoft.com/office/drawing/2014/main" id="{887C4873-098E-4537-9810-48FD6809D6D0}"/>
              </a:ext>
            </a:extLst>
          </p:cNvPr>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3983B002-EDD9-4B86-ABB0-8DBE622CD915}"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861D1B4-B3DE-4E80-870C-C707AFF3CD38}"/>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1" name="Rectangle 3">
            <a:extLst>
              <a:ext uri="{FF2B5EF4-FFF2-40B4-BE49-F238E27FC236}">
                <a16:creationId xmlns:a16="http://schemas.microsoft.com/office/drawing/2014/main" id="{FEA1AF6D-342A-4725-BE15-311C51D9BCB1}"/>
              </a:ext>
            </a:extLst>
          </p:cNvPr>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40964" name="Rectangle 4">
            <a:extLst>
              <a:ext uri="{FF2B5EF4-FFF2-40B4-BE49-F238E27FC236}">
                <a16:creationId xmlns:a16="http://schemas.microsoft.com/office/drawing/2014/main" id="{D2F25D44-DBC9-4E00-AA21-9CD12D7687F7}"/>
              </a:ext>
            </a:extLst>
          </p:cNvPr>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a:extLst>
              <a:ext uri="{FF2B5EF4-FFF2-40B4-BE49-F238E27FC236}">
                <a16:creationId xmlns:a16="http://schemas.microsoft.com/office/drawing/2014/main" id="{5137F9F5-A76F-43CF-88E6-1BAF94272D2B}"/>
              </a:ext>
            </a:extLst>
          </p:cNvPr>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a:extLst>
              <a:ext uri="{FF2B5EF4-FFF2-40B4-BE49-F238E27FC236}">
                <a16:creationId xmlns:a16="http://schemas.microsoft.com/office/drawing/2014/main" id="{C399DB39-DCE5-4844-A5CE-DBDFD876CC97}"/>
              </a:ext>
            </a:extLst>
          </p:cNvPr>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5" name="Rectangle 7">
            <a:extLst>
              <a:ext uri="{FF2B5EF4-FFF2-40B4-BE49-F238E27FC236}">
                <a16:creationId xmlns:a16="http://schemas.microsoft.com/office/drawing/2014/main" id="{68F7BEE9-ACA5-45DE-814C-EF128E34D0A4}"/>
              </a:ext>
            </a:extLst>
          </p:cNvPr>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4106AC15-DEE2-4797-8D0C-E83F6E30EE8D}"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a:extLst>
              <a:ext uri="{FF2B5EF4-FFF2-40B4-BE49-F238E27FC236}">
                <a16:creationId xmlns:a16="http://schemas.microsoft.com/office/drawing/2014/main" id="{5531F6CD-6AE5-4F53-9950-6B5B02B6E44C}"/>
              </a:ext>
            </a:extLst>
          </p:cNvPr>
          <p:cNvSpPr>
            <a:spLocks noGrp="1" noRot="1" noChangeAspect="1" noChangeArrowheads="1" noTextEdit="1"/>
          </p:cNvSpPr>
          <p:nvPr>
            <p:ph type="sldImg"/>
          </p:nvPr>
        </p:nvSpPr>
        <p:spPr>
          <a:ln/>
        </p:spPr>
      </p:sp>
      <p:sp>
        <p:nvSpPr>
          <p:cNvPr id="371715" name="Rectangle 3">
            <a:extLst>
              <a:ext uri="{FF2B5EF4-FFF2-40B4-BE49-F238E27FC236}">
                <a16:creationId xmlns:a16="http://schemas.microsoft.com/office/drawing/2014/main" id="{6898DB35-9B6D-4EFE-8368-CCBAE4F8125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 typeface="Arial" panose="020B0604020202020204" pitchFamily="34" charset="0"/>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a:spcBef>
                <a:spcPts val="300"/>
              </a:spcBef>
            </a:pPr>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7CC8D882-F984-42A7-AED0-A0D6E7E854BB}"/>
              </a:ext>
            </a:extLst>
          </p:cNvPr>
          <p:cNvSpPr>
            <a:spLocks noGrp="1" noRot="1" noChangeAspect="1" noChangeArrowheads="1" noTextEdit="1"/>
          </p:cNvSpPr>
          <p:nvPr>
            <p:ph type="sldImg"/>
          </p:nvPr>
        </p:nvSpPr>
        <p:spPr>
          <a:ln/>
        </p:spPr>
      </p:sp>
      <p:sp>
        <p:nvSpPr>
          <p:cNvPr id="216067" name="Rectangle 3">
            <a:extLst>
              <a:ext uri="{FF2B5EF4-FFF2-40B4-BE49-F238E27FC236}">
                <a16:creationId xmlns:a16="http://schemas.microsoft.com/office/drawing/2014/main" id="{714BFF24-E46D-4AFF-8720-57E14C20D71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(by George </a:t>
            </a:r>
            <a:r>
              <a:rPr lang="en-GB" altLang="en-US" sz="1000" dirty="0" err="1"/>
              <a:t>Gerster</a:t>
            </a:r>
            <a:r>
              <a:rPr lang="en-GB" altLang="en-US" sz="1000" dirty="0"/>
              <a:t>: www.visualphotos.com/image/1x3747523/san_andreas_fault_san_andreas_fault_aerial): the San Andreas Fault crossing the Carrizo Plain, Central California (looking south). The dextral movement sense is indicated by the change in course of the stream that crosses the fault in the top half of the photo (ends marked by the red stars)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96AE873D-009B-4D6C-9C70-C91CDFC0FB03}"/>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CFB4F6EA-E711-49DF-AC85-017BCB5C43E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(from Fossen, p.403): a transfer fault between two extension fractures on a path, Delicate Arch, Utah. Note that the movement sense indicated by the lazy arrows is opposite to the apparent offset of the extension fractures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CD816D78-C39A-4CEC-B6F2-83C3536D5C75}"/>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8A6F0D8D-24A8-4641-B62F-4756C64F706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from Fossen, p.403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AEF4E542-D7B7-431E-8B6D-3A4B0536845B}"/>
              </a:ext>
            </a:extLst>
          </p:cNvPr>
          <p:cNvSpPr>
            <a:spLocks noGrp="1" noRot="1" noChangeAspect="1" noChangeArrowheads="1" noTextEdit="1"/>
          </p:cNvSpPr>
          <p:nvPr>
            <p:ph type="sldImg"/>
          </p:nvPr>
        </p:nvSpPr>
        <p:spPr>
          <a:ln/>
        </p:spPr>
      </p:sp>
      <p:sp>
        <p:nvSpPr>
          <p:cNvPr id="243715" name="Rectangle 3">
            <a:extLst>
              <a:ext uri="{FF2B5EF4-FFF2-40B4-BE49-F238E27FC236}">
                <a16:creationId xmlns:a16="http://schemas.microsoft.com/office/drawing/2014/main" id="{9A8878AB-7C96-4E8D-B04D-FF219300134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(by </a:t>
            </a:r>
            <a:r>
              <a:rPr lang="en-GB" altLang="en-US" sz="1000" dirty="0" err="1"/>
              <a:t>Marli</a:t>
            </a:r>
            <a:r>
              <a:rPr lang="en-GB" altLang="en-US" sz="1000" dirty="0"/>
              <a:t> Miller: http://marlimillerphoto.com/SrF-38.html): a dextral strike-slip fault in southern Nevada. Note that the units in the fault blocks are dipping to the right – they are the tilted hanging walls of </a:t>
            </a:r>
            <a:r>
              <a:rPr lang="en-GB" altLang="en-US" sz="1000" dirty="0" err="1"/>
              <a:t>listric</a:t>
            </a:r>
            <a:r>
              <a:rPr lang="en-GB" altLang="en-US" sz="1000" dirty="0"/>
              <a:t> extensional faults that dip to the left (see Class 9 Slide 31)</a:t>
            </a:r>
          </a:p>
          <a:p>
            <a:pPr marL="108000" indent="-108000">
              <a:spcBef>
                <a:spcPts val="300"/>
              </a:spcBef>
              <a:buFont typeface="Arial" panose="020B0604020202020204" pitchFamily="34" charset="0"/>
              <a:buChar char="•"/>
            </a:pPr>
            <a:r>
              <a:rPr lang="en-GB" altLang="en-US" sz="1000" dirty="0"/>
              <a:t>Figure bottom left (from Twiss &amp; </a:t>
            </a:r>
            <a:r>
              <a:rPr lang="en-GB" altLang="en-US" sz="1000" dirty="0" err="1"/>
              <a:t>Moores</a:t>
            </a:r>
            <a:r>
              <a:rPr lang="en-GB" altLang="en-US" sz="1000" dirty="0"/>
              <a:t>, p.100): schematic diagram showing the role played by transfer faults (here vertical) in an extensional fault system</a:t>
            </a:r>
          </a:p>
          <a:p>
            <a:pPr marL="108000" indent="-108000">
              <a:spcBef>
                <a:spcPts val="300"/>
              </a:spcBef>
              <a:buFont typeface="Arial" panose="020B0604020202020204" pitchFamily="34" charset="0"/>
              <a:buChar char="•"/>
            </a:pPr>
            <a:r>
              <a:rPr lang="en-GB" altLang="en-US" sz="1000" dirty="0"/>
              <a:t>Figure top right (from Twiss &amp; </a:t>
            </a:r>
            <a:r>
              <a:rPr lang="en-GB" altLang="en-US" sz="1000" dirty="0" err="1"/>
              <a:t>Moores</a:t>
            </a:r>
            <a:r>
              <a:rPr lang="en-GB" altLang="en-US" sz="1000" dirty="0"/>
              <a:t>, p.101) showing major transfer faults (thicker lines trending approximately east-west) within the Basin and Range extensional province, western U.S.A. The extensional faults within this province are the thinner lines trending approximately north-south</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A84DD955-C2B4-43AE-B0C2-9143F70FE852}"/>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271285F6-CD7F-42A9-BF79-3E5E878F13A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second order strike-slip transfer faults, see the New Zealand example on Slide 35</a:t>
            </a:r>
          </a:p>
          <a:p>
            <a:pPr marL="108000" indent="-108000">
              <a:spcBef>
                <a:spcPts val="300"/>
              </a:spcBef>
              <a:buFont typeface="Arial" panose="020B0604020202020204" pitchFamily="34" charset="0"/>
              <a:buChar char="•"/>
            </a:pPr>
            <a:r>
              <a:rPr lang="en-GB" altLang="en-US" sz="1000" dirty="0"/>
              <a:t>Figure top right (from Twiss &amp; </a:t>
            </a:r>
            <a:r>
              <a:rPr lang="en-GB" altLang="en-US" sz="1000" dirty="0" err="1"/>
              <a:t>Moores</a:t>
            </a:r>
            <a:r>
              <a:rPr lang="en-GB" altLang="en-US" sz="1000" dirty="0"/>
              <a:t>, p.143): tear faults within the Jura Mountains fold and thrust belt, French/Swiss border. Note that many of the fold axial traces (thin solid lines) terminate against the tear faults (thick dashed lines)</a:t>
            </a:r>
          </a:p>
          <a:p>
            <a:pPr marL="108000" indent="-108000">
              <a:spcBef>
                <a:spcPts val="300"/>
              </a:spcBef>
              <a:buFont typeface="Arial" panose="020B0604020202020204" pitchFamily="34" charset="0"/>
              <a:buChar char="•"/>
            </a:pPr>
            <a:r>
              <a:rPr lang="en-GB" altLang="en-US" sz="1000" dirty="0"/>
              <a:t>Figure top left (from Twiss &amp; </a:t>
            </a:r>
            <a:r>
              <a:rPr lang="en-GB" altLang="en-US" sz="1000" dirty="0" err="1"/>
              <a:t>Moores</a:t>
            </a:r>
            <a:r>
              <a:rPr lang="en-GB" altLang="en-US" sz="1000" dirty="0"/>
              <a:t>, p.124). Note in this illustration how shortening is accommodated by folding on one side of the tear fault, and by thrusting on the other</a:t>
            </a:r>
          </a:p>
          <a:p>
            <a:pPr marL="108000" indent="-108000">
              <a:spcBef>
                <a:spcPts val="300"/>
              </a:spcBef>
              <a:buFont typeface="Arial" panose="020B0604020202020204" pitchFamily="34" charset="0"/>
              <a:buChar char="•"/>
            </a:pPr>
            <a:r>
              <a:rPr lang="en-GB" altLang="en-US" sz="1000" dirty="0"/>
              <a:t>Figure bottom left (from Twiss &amp; </a:t>
            </a:r>
            <a:r>
              <a:rPr lang="en-GB" altLang="en-US" sz="1000" dirty="0" err="1"/>
              <a:t>Moores</a:t>
            </a:r>
            <a:r>
              <a:rPr lang="en-GB" altLang="en-US" sz="1000" dirty="0"/>
              <a:t>, p.124): two offset thrust sheets connected by a tear fault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a:extLst>
              <a:ext uri="{FF2B5EF4-FFF2-40B4-BE49-F238E27FC236}">
                <a16:creationId xmlns:a16="http://schemas.microsoft.com/office/drawing/2014/main" id="{1F14A94F-68A7-4389-9B5E-FB3D19A9DE32}"/>
              </a:ext>
            </a:extLst>
          </p:cNvPr>
          <p:cNvSpPr>
            <a:spLocks noGrp="1" noRot="1" noChangeAspect="1" noChangeArrowheads="1" noTextEdit="1"/>
          </p:cNvSpPr>
          <p:nvPr>
            <p:ph type="sldImg"/>
          </p:nvPr>
        </p:nvSpPr>
        <p:spPr>
          <a:ln/>
        </p:spPr>
      </p:sp>
      <p:sp>
        <p:nvSpPr>
          <p:cNvPr id="347139" name="Rectangle 3">
            <a:extLst>
              <a:ext uri="{FF2B5EF4-FFF2-40B4-BE49-F238E27FC236}">
                <a16:creationId xmlns:a16="http://schemas.microsoft.com/office/drawing/2014/main" id="{93067546-9BA3-40D7-9B86-92ABB4476B9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 transform fault is a strike-slip transfer fault that cuts right through the lithosphere. Transform faults are always parallel with the plate motion direction. The concept of transform faulting as something that makes </a:t>
            </a:r>
            <a:r>
              <a:rPr lang="en-GB" altLang="en-US" sz="1000" i="0" dirty="0"/>
              <a:t>continuous plate movement possible </a:t>
            </a:r>
            <a:r>
              <a:rPr lang="en-GB" altLang="en-US" sz="1000" dirty="0"/>
              <a:t>was first noted by </a:t>
            </a:r>
            <a:r>
              <a:rPr lang="en-GB" altLang="en-US" sz="1000" dirty="0" err="1"/>
              <a:t>Tuzo</a:t>
            </a:r>
            <a:r>
              <a:rPr lang="en-GB" altLang="en-US" sz="1000" dirty="0"/>
              <a:t> Wilson in the 1960s (Wilson, 1965, </a:t>
            </a:r>
            <a:r>
              <a:rPr lang="en-GB" altLang="en-US" sz="1000" i="1" dirty="0"/>
              <a:t>Nature</a:t>
            </a:r>
            <a:r>
              <a:rPr lang="en-GB" altLang="en-US" sz="1000" i="0" dirty="0"/>
              <a:t> 207: 343-347, </a:t>
            </a:r>
            <a:r>
              <a:rPr lang="en-GB" sz="1000" dirty="0"/>
              <a:t>https://doi.org/10.1038/207343a0</a:t>
            </a:r>
            <a:r>
              <a:rPr lang="en-GB" altLang="en-US" sz="1000" i="0" dirty="0"/>
              <a:t>) and was fundamental for the development of plate tectonic theory</a:t>
            </a:r>
            <a:endParaRPr lang="en-GB" altLang="en-US" sz="1000" dirty="0"/>
          </a:p>
          <a:p>
            <a:pPr marL="108000" indent="-108000">
              <a:spcBef>
                <a:spcPts val="300"/>
              </a:spcBef>
              <a:buFont typeface="Arial" panose="020B0604020202020204" pitchFamily="34" charset="0"/>
              <a:buChar char="•"/>
            </a:pPr>
            <a:r>
              <a:rPr lang="en-GB" altLang="en-US" sz="1000" dirty="0"/>
              <a:t>Figure left (from www.ngdc.noaa.gov/mgg/image/crustalimages.html): crustal age map of the ocean floor, Central Atlantic</a:t>
            </a:r>
          </a:p>
          <a:p>
            <a:pPr marL="108000" indent="-108000">
              <a:spcBef>
                <a:spcPts val="300"/>
              </a:spcBef>
              <a:buFont typeface="Arial" panose="020B0604020202020204" pitchFamily="34" charset="0"/>
              <a:buChar char="•"/>
            </a:pPr>
            <a:r>
              <a:rPr lang="en-GB" altLang="en-US" sz="1000" dirty="0"/>
              <a:t>Figure right from Fossen, p.404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5F716EC0-A8F0-466C-B02B-4CE2A7DAE877}"/>
              </a:ext>
            </a:extLst>
          </p:cNvPr>
          <p:cNvSpPr>
            <a:spLocks noGrp="1" noRot="1" noChangeAspect="1" noChangeArrowheads="1" noTextEdit="1"/>
          </p:cNvSpPr>
          <p:nvPr>
            <p:ph type="sldImg"/>
          </p:nvPr>
        </p:nvSpPr>
        <p:spPr>
          <a:ln/>
        </p:spPr>
      </p:sp>
      <p:sp>
        <p:nvSpPr>
          <p:cNvPr id="253955" name="Rectangle 3">
            <a:extLst>
              <a:ext uri="{FF2B5EF4-FFF2-40B4-BE49-F238E27FC236}">
                <a16:creationId xmlns:a16="http://schemas.microsoft.com/office/drawing/2014/main" id="{83B8E44E-C562-4B69-99AB-3E41523B80D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 ridge-ridge transform fault has been exhumed and exposed within the Troodos massif on Cyprus (see MacLeod &amp; Murton, 1993, </a:t>
            </a:r>
            <a:r>
              <a:rPr lang="en-GB" altLang="en-US" sz="1000" i="1" dirty="0"/>
              <a:t>Geological Society of London, Special Publications</a:t>
            </a:r>
            <a:r>
              <a:rPr lang="en-GB" altLang="en-US" sz="1000" dirty="0"/>
              <a:t> 76: 141-176, </a:t>
            </a:r>
            <a:r>
              <a:rPr lang="en-GB" sz="1000" dirty="0"/>
              <a:t>https://doi.org/10.1144/GSL.SP.1993.076.01.07</a:t>
            </a:r>
            <a:r>
              <a:rPr lang="en-GB" altLang="en-US" sz="1000" dirty="0"/>
              <a:t>)</a:t>
            </a:r>
          </a:p>
          <a:p>
            <a:pPr marL="108000" indent="-108000">
              <a:spcBef>
                <a:spcPts val="300"/>
              </a:spcBef>
              <a:buFont typeface="Arial" panose="020B0604020202020204" pitchFamily="34" charset="0"/>
              <a:buChar char="•"/>
            </a:pPr>
            <a:r>
              <a:rPr lang="en-GB" altLang="en-US" sz="1000" dirty="0"/>
              <a:t>Figure top right from Fossen, p.403</a:t>
            </a:r>
          </a:p>
          <a:p>
            <a:pPr marL="108000" indent="-108000">
              <a:spcBef>
                <a:spcPts val="300"/>
              </a:spcBef>
              <a:buFont typeface="Arial" panose="020B0604020202020204" pitchFamily="34" charset="0"/>
              <a:buChar char="•"/>
            </a:pPr>
            <a:r>
              <a:rPr lang="en-GB" altLang="en-US" sz="1000" dirty="0"/>
              <a:t>Figures bottom from Twiss &amp; </a:t>
            </a:r>
            <a:r>
              <a:rPr lang="en-GB" altLang="en-US" sz="1000" dirty="0" err="1"/>
              <a:t>Moores</a:t>
            </a:r>
            <a:r>
              <a:rPr lang="en-GB" altLang="en-US" sz="1000" dirty="0"/>
              <a:t>, p.604. Note the various ridges and basins within the fault zone – the origin of these is considered in later slides. A contributing source of the structural complexity in such fault zones is the metamorphism (</a:t>
            </a:r>
            <a:r>
              <a:rPr lang="en-GB" altLang="en-US" sz="1000" i="1" dirty="0"/>
              <a:t>e.g.</a:t>
            </a:r>
            <a:r>
              <a:rPr lang="en-GB" altLang="en-US" sz="1000" dirty="0"/>
              <a:t>, serpentinization) that occurs during the deformation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39F0F90A-D27B-4A3B-9E09-EED9276B6D1F}"/>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6AE28316-A9E9-4808-B095-C353705E3B9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a:t>
            </a:r>
            <a:r>
              <a:rPr lang="en-GB" altLang="en-US" sz="1000" dirty="0">
                <a:latin typeface="Times New Roman" panose="02020603050405020304" pitchFamily="18" charset="0"/>
                <a:cs typeface="Times New Roman" panose="02020603050405020304" pitchFamily="18" charset="0"/>
              </a:rPr>
              <a:t>major review of the features of continental transform faults, see </a:t>
            </a:r>
            <a:r>
              <a:rPr lang="en-GB" altLang="en-US" sz="1000" dirty="0" err="1">
                <a:latin typeface="Times New Roman" panose="02020603050405020304" pitchFamily="18" charset="0"/>
                <a:ea typeface="Cambria Math" panose="02040503050406030204" pitchFamily="18" charset="0"/>
                <a:cs typeface="Times New Roman" panose="02020603050405020304" pitchFamily="18" charset="0"/>
              </a:rPr>
              <a:t>Şengör</a:t>
            </a:r>
            <a:r>
              <a:rPr lang="en-GB" altLang="en-US" sz="1000" dirty="0">
                <a:latin typeface="Times New Roman" panose="02020603050405020304" pitchFamily="18" charset="0"/>
                <a:ea typeface="Cambria Math" panose="02040503050406030204" pitchFamily="18" charset="0"/>
                <a:cs typeface="Times New Roman" panose="02020603050405020304" pitchFamily="18" charset="0"/>
              </a:rPr>
              <a:t> </a:t>
            </a:r>
            <a:r>
              <a:rPr lang="en-GB" altLang="en-US" sz="1000" i="1" dirty="0">
                <a:latin typeface="Times New Roman" panose="02020603050405020304" pitchFamily="18" charset="0"/>
                <a:ea typeface="Cambria Math" panose="02040503050406030204" pitchFamily="18" charset="0"/>
                <a:cs typeface="Times New Roman" panose="02020603050405020304" pitchFamily="18" charset="0"/>
              </a:rPr>
              <a:t>et al</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2019, in: Duarte JC (editor), </a:t>
            </a:r>
            <a:r>
              <a:rPr lang="en-GB" altLang="en-US" sz="1000" i="1" dirty="0">
                <a:latin typeface="Times New Roman" panose="02020603050405020304" pitchFamily="18" charset="0"/>
                <a:ea typeface="Cambria Math" panose="02040503050406030204" pitchFamily="18" charset="0"/>
                <a:cs typeface="Times New Roman" panose="02020603050405020304" pitchFamily="18" charset="0"/>
              </a:rPr>
              <a:t>Transform Plate Boundaries and Fracture Zones</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p.169-247, </a:t>
            </a:r>
            <a:r>
              <a:rPr lang="en-GB" sz="1000" dirty="0"/>
              <a:t>https://doi.org/10.1016/B978-0-12-812064-4.00009-8</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This review describes features that would undoubtedly be of interest when considering strike-slip faulting on other planetary bodies </a:t>
            </a:r>
            <a:endParaRPr lang="en-GB" altLang="en-US" sz="1000" i="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t>The San Andreas-Gulf of California system connects two plate triple junctions, one south of the Gulf of California at Rivera (R on the middle map) and the other on the north coast of California at Cape Mendocino (M on the middle map). It comprises two parts: (1) the San Andreas strike-slip fault zone, and (2) a set of transform fault</a:t>
            </a:r>
            <a:r>
              <a:rPr lang="en-GB" altLang="en-US" sz="1000" spc="150" baseline="0" dirty="0"/>
              <a:t>s/</a:t>
            </a:r>
            <a:r>
              <a:rPr lang="en-GB" altLang="en-US" sz="1000" dirty="0"/>
              <a:t>short ridge segments in the Gulf of California (</a:t>
            </a:r>
            <a:r>
              <a:rPr lang="en-GB" altLang="en-US" sz="1000" dirty="0" err="1"/>
              <a:t>transtension</a:t>
            </a:r>
            <a:r>
              <a:rPr lang="en-GB" altLang="en-US" sz="1000" dirty="0"/>
              <a:t>). Estimates of the total strike-slip displacement on this system range from 600 to 1000 km. Currently, the San Andreas Fault Observatory at Depth (SAFOD) programme is drilling deep into the fault zone to make geophysical measurements and to recover rock and fluid samples (http://earthquake.usgs.gov/research/parkfield/safod_pbo.php)</a:t>
            </a:r>
          </a:p>
          <a:p>
            <a:pPr marL="108000" indent="-108000">
              <a:spcBef>
                <a:spcPts val="300"/>
              </a:spcBef>
              <a:buFont typeface="Arial" panose="020B0604020202020204" pitchFamily="34" charset="0"/>
              <a:buChar char="•"/>
            </a:pPr>
            <a:r>
              <a:rPr lang="en-GB" altLang="en-US" sz="1000" dirty="0"/>
              <a:t>Map left from http://geomaps.wr.usgs.gov/archive/socal/geology/geologic_history/san_andreas_history.html</a:t>
            </a:r>
          </a:p>
          <a:p>
            <a:pPr marL="108000" indent="-108000">
              <a:spcBef>
                <a:spcPts val="300"/>
              </a:spcBef>
              <a:buFont typeface="Arial" panose="020B0604020202020204" pitchFamily="34" charset="0"/>
              <a:buChar char="•"/>
            </a:pPr>
            <a:r>
              <a:rPr lang="en-GB" altLang="en-US" sz="1000" dirty="0"/>
              <a:t>Map middle from http://pubs.usgs.gov/gip/dynamic/Farallon.html</a:t>
            </a:r>
          </a:p>
          <a:p>
            <a:pPr marL="108000" indent="-108000">
              <a:spcBef>
                <a:spcPts val="300"/>
              </a:spcBef>
              <a:buFont typeface="Arial" panose="020B0604020202020204" pitchFamily="34" charset="0"/>
              <a:buChar char="•"/>
            </a:pPr>
            <a:r>
              <a:rPr lang="en-GB" altLang="en-US" sz="1000" dirty="0"/>
              <a:t>Map right (from http://en.wikipedia.org/wiki/File:San_Andreas_Fault_Sequential_Diagrams.jpg): the evolving plate boundary configuration along the western coast of North America during the last 30 million years. Tanya Atwater’s movie, </a:t>
            </a:r>
            <a:r>
              <a:rPr lang="en-GB" altLang="en-US" sz="1000" i="1" dirty="0"/>
              <a:t>California_20my.mp4</a:t>
            </a:r>
            <a:r>
              <a:rPr lang="en-GB" altLang="en-US" sz="1000" dirty="0"/>
              <a:t>, accompanying this presentation shows an animation of this evolution. Also accompanying this presentation are two other Atwater animations, </a:t>
            </a:r>
            <a:r>
              <a:rPr lang="en-GB" altLang="en-US" sz="1000" i="1" dirty="0"/>
              <a:t>California_38my_Past.mp4</a:t>
            </a:r>
            <a:r>
              <a:rPr lang="en-GB" altLang="en-US" sz="1000" i="0" dirty="0"/>
              <a:t> and </a:t>
            </a:r>
            <a:r>
              <a:rPr lang="en-GB" altLang="en-US" sz="1000" i="1" dirty="0"/>
              <a:t>California_10my_Future.mp4</a:t>
            </a:r>
            <a:r>
              <a:rPr lang="en-GB" altLang="en-US" sz="1000" i="0" dirty="0"/>
              <a:t>. The first shows the plate tectonic e</a:t>
            </a:r>
            <a:r>
              <a:rPr lang="en-GB" altLang="en-US" sz="1000" dirty="0"/>
              <a:t>volution of western U.S.A. </a:t>
            </a:r>
            <a:r>
              <a:rPr lang="en-GB" altLang="en-US" sz="1000" i="0" dirty="0"/>
              <a:t>over the last 38 </a:t>
            </a:r>
            <a:r>
              <a:rPr lang="en-GB" altLang="en-US" sz="1000" i="0" dirty="0" err="1"/>
              <a:t>myr</a:t>
            </a:r>
            <a:r>
              <a:rPr lang="en-GB" altLang="en-US" sz="1000" i="0" dirty="0"/>
              <a:t>, and second the projected evolution of this region over the next 10 </a:t>
            </a:r>
            <a:r>
              <a:rPr lang="en-GB" altLang="en-US" sz="1000" i="0" dirty="0" err="1"/>
              <a:t>myr</a:t>
            </a:r>
            <a:r>
              <a:rPr lang="en-GB" altLang="en-US" sz="1000" i="0" dirty="0"/>
              <a:t>. If you like her animations, see many more on a variety of themes at https://animations.geol.ucsb.edu/1_DownloadPage/Download_Page.html#SoCal. </a:t>
            </a:r>
            <a:r>
              <a:rPr lang="en-GB" altLang="en-US" sz="1000" dirty="0"/>
              <a:t>For a review of the evolution of the San Andreas Fault system and the current state of attempts to use a tectonic understanding of the fault system to consider earthquake hazards, see </a:t>
            </a:r>
            <a:r>
              <a:rPr lang="en-GB" altLang="en-US" sz="1000" dirty="0" err="1"/>
              <a:t>Scharer</a:t>
            </a:r>
            <a:r>
              <a:rPr lang="en-GB" altLang="en-US" sz="1000" dirty="0"/>
              <a:t> &amp; </a:t>
            </a:r>
            <a:r>
              <a:rPr lang="en-GB" altLang="en-US" sz="1000" dirty="0" err="1"/>
              <a:t>Streig</a:t>
            </a:r>
            <a:r>
              <a:rPr lang="en-GB" altLang="en-US" sz="1000" dirty="0"/>
              <a:t>, 2019, </a:t>
            </a:r>
            <a:r>
              <a:rPr lang="en-GB" sz="1000" b="0" i="0" u="none" strike="noStrike" kern="1200" baseline="0" dirty="0">
                <a:solidFill>
                  <a:schemeClr val="tx1"/>
                </a:solidFill>
                <a:latin typeface="Times New Roman" pitchFamily="18" charset="0"/>
                <a:ea typeface="+mn-ea"/>
                <a:cs typeface="+mn-cs"/>
              </a:rPr>
              <a:t>i</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n: Duarte JC (editor), </a:t>
            </a:r>
            <a:r>
              <a:rPr lang="en-GB" altLang="en-US" sz="1000" i="1" dirty="0">
                <a:latin typeface="Times New Roman" panose="02020603050405020304" pitchFamily="18" charset="0"/>
                <a:ea typeface="Cambria Math" panose="02040503050406030204" pitchFamily="18" charset="0"/>
                <a:cs typeface="Times New Roman" panose="02020603050405020304" pitchFamily="18" charset="0"/>
              </a:rPr>
              <a:t>Transform Plate Boundaries and Fracture Zones</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p.249-269, </a:t>
            </a:r>
            <a:r>
              <a:rPr lang="en-GB" sz="1000" dirty="0"/>
              <a:t>https://doi.org/10.1016/B978-0-12-812064-4.00010-4</a:t>
            </a:r>
            <a:endParaRPr lang="en-GB" altLang="en-US" sz="1000" dirty="0"/>
          </a:p>
          <a:p>
            <a:pPr marL="108000" indent="-108000">
              <a:spcBef>
                <a:spcPts val="300"/>
              </a:spcBef>
              <a:buFont typeface="Arial" panose="020B0604020202020204" pitchFamily="34" charset="0"/>
              <a:buChar char="•"/>
            </a:pPr>
            <a:r>
              <a:rPr lang="en-GB" altLang="en-US" sz="1000" dirty="0"/>
              <a:t>Note that the plate boundary along the California coast changed from being a subduction zone (see 30 Ma map) to a transform fault (all other maps). It is thought that water derived from dehydration of the mantle wedge above the relict subducted slab as it warmed up, migrated upwards into the crust and, by raising pore fluid pressures there, facilitated slip on the faults within the San Andreas system (see Kirby </a:t>
            </a:r>
            <a:r>
              <a:rPr lang="en-GB" altLang="en-US" sz="1000" i="1" dirty="0"/>
              <a:t>et al.</a:t>
            </a:r>
            <a:r>
              <a:rPr lang="en-GB" altLang="en-US" sz="1000" dirty="0"/>
              <a:t>, 2014, </a:t>
            </a:r>
            <a:r>
              <a:rPr lang="en-GB" altLang="en-US" sz="1000" i="1" dirty="0"/>
              <a:t>Earth, Planets and Space</a:t>
            </a:r>
            <a:r>
              <a:rPr lang="en-GB" altLang="en-US" sz="1000" dirty="0"/>
              <a:t> 66, article 67, </a:t>
            </a:r>
            <a:r>
              <a:rPr lang="en-GB" sz="1000" dirty="0"/>
              <a:t>https://doi.org/10.1186/1880-5981-66-67</a:t>
            </a:r>
            <a:r>
              <a:rPr lang="en-GB" altLang="en-US" sz="1000" dirty="0"/>
              <a:t>). This helps to explain why the Californian continental margin is so weak, and hence why the San Andreas fault system became established there. It also helps to explain why the plate boundary is a broad system of faults (the water was released over a wide area), and why fault-bound and diapiric serpentinite bodies occur within the Californian coastal ranges (water release from deeper in the mantle wedge helped to mobilize serpentinite bodies that originally were contained within the mantle wedge above the dehydration front)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210EE584-E4F6-4036-8E68-2C3713E27B09}"/>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2F95BBF6-A3E3-45E3-9711-054734C201D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Map from a PowerPoint presentation by Michael Bunds and Laura Benninger: http://research.uvu.edu/bunds.christchurch.earthquake.web.pps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a:extLst>
              <a:ext uri="{FF2B5EF4-FFF2-40B4-BE49-F238E27FC236}">
                <a16:creationId xmlns:a16="http://schemas.microsoft.com/office/drawing/2014/main" id="{45AF98E3-CFDC-4179-A2B0-97F0D2362BDA}"/>
              </a:ext>
            </a:extLst>
          </p:cNvPr>
          <p:cNvSpPr>
            <a:spLocks noGrp="1" noRot="1" noChangeAspect="1" noChangeArrowheads="1" noTextEdit="1"/>
          </p:cNvSpPr>
          <p:nvPr>
            <p:ph type="sldImg"/>
          </p:nvPr>
        </p:nvSpPr>
        <p:spPr>
          <a:ln/>
        </p:spPr>
      </p:sp>
      <p:sp>
        <p:nvSpPr>
          <p:cNvPr id="265219" name="Rectangle 3">
            <a:extLst>
              <a:ext uri="{FF2B5EF4-FFF2-40B4-BE49-F238E27FC236}">
                <a16:creationId xmlns:a16="http://schemas.microsoft.com/office/drawing/2014/main" id="{93E33823-BE21-4449-950F-377708377ED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Current rates of movement on the Alpine Fault are </a:t>
            </a:r>
            <a:r>
              <a:rPr lang="en-GB" altLang="en-US" sz="1000" spc="150" baseline="0" dirty="0"/>
              <a:t>~</a:t>
            </a:r>
            <a:r>
              <a:rPr lang="en-GB" altLang="en-US" sz="1000" dirty="0"/>
              <a:t>2</a:t>
            </a:r>
            <a:r>
              <a:rPr lang="en-GB" altLang="en-US" sz="1000" spc="150" baseline="0" dirty="0"/>
              <a:t>0-</a:t>
            </a:r>
            <a:r>
              <a:rPr lang="en-GB" altLang="en-US" sz="1000" dirty="0"/>
              <a:t>30 mm/</a:t>
            </a:r>
            <a:r>
              <a:rPr lang="en-GB" altLang="en-US" sz="1000" dirty="0" err="1"/>
              <a:t>yr</a:t>
            </a:r>
            <a:r>
              <a:rPr lang="en-GB" altLang="en-US" sz="1000" dirty="0"/>
              <a:t> strike-slip and locally up to 10 mm/</a:t>
            </a:r>
            <a:r>
              <a:rPr lang="en-GB" altLang="en-US" sz="1000" dirty="0" err="1"/>
              <a:t>yr</a:t>
            </a:r>
            <a:r>
              <a:rPr lang="en-GB" altLang="en-US" sz="1000" dirty="0"/>
              <a:t> uplift (for a</a:t>
            </a:r>
            <a:r>
              <a:rPr lang="en-US" altLang="en-US" sz="1000" dirty="0"/>
              <a:t>n</a:t>
            </a:r>
            <a:r>
              <a:rPr lang="en-GB" altLang="en-US" sz="1000" dirty="0"/>
              <a:t> examination of slip-rates on the Alpine fault, see Barth </a:t>
            </a:r>
            <a:r>
              <a:rPr lang="en-GB" altLang="en-US" sz="1000" i="1" dirty="0"/>
              <a:t>et al</a:t>
            </a:r>
            <a:r>
              <a:rPr lang="en-GB" altLang="en-US" sz="1000" dirty="0"/>
              <a:t>., 2014, </a:t>
            </a:r>
            <a:r>
              <a:rPr lang="en-GB" altLang="en-US" sz="1000" i="1" dirty="0"/>
              <a:t>Journal of Structural Geology</a:t>
            </a:r>
            <a:r>
              <a:rPr lang="en-GB" altLang="en-US" sz="1000" dirty="0"/>
              <a:t> </a:t>
            </a:r>
            <a:r>
              <a:rPr lang="en-US" altLang="en-US" sz="1000" dirty="0"/>
              <a:t>64: 39-52, </a:t>
            </a:r>
            <a:r>
              <a:rPr lang="en-GB" sz="1000" dirty="0"/>
              <a:t>https://doi.org/10.1016/j.jsg.2013.08.009</a:t>
            </a:r>
            <a:r>
              <a:rPr lang="en-GB" altLang="en-US" sz="1000" dirty="0"/>
              <a:t>). It is estimated that about half a million cubic kilometres of rock have been eroded </a:t>
            </a:r>
            <a:r>
              <a:rPr lang="en-US" altLang="en-US" sz="1000" dirty="0"/>
              <a:t>during this uplift</a:t>
            </a:r>
            <a:r>
              <a:rPr lang="en-GB" altLang="en-US" sz="1000" dirty="0"/>
              <a:t>, making New Zealand a fantastic place for </a:t>
            </a:r>
            <a:r>
              <a:rPr lang="en-GB" altLang="en-US" sz="1000" dirty="0" err="1"/>
              <a:t>sedimentologists</a:t>
            </a:r>
            <a:r>
              <a:rPr lang="en-GB" altLang="en-US" sz="1000" dirty="0"/>
              <a:t> and geomorphologists</a:t>
            </a:r>
          </a:p>
          <a:p>
            <a:pPr marL="108000" indent="-108000">
              <a:spcBef>
                <a:spcPts val="300"/>
              </a:spcBef>
              <a:buFont typeface="Arial" panose="020B0604020202020204" pitchFamily="34" charset="0"/>
              <a:buChar char="•"/>
            </a:pPr>
            <a:r>
              <a:rPr lang="en-GB" altLang="en-US" sz="1000" dirty="0"/>
              <a:t>Figure top right (from Coates, 2002, </a:t>
            </a:r>
            <a:r>
              <a:rPr lang="en-GB" altLang="en-US" sz="1000" i="1" dirty="0"/>
              <a:t>The Rise and Fall of the Southern Alps</a:t>
            </a:r>
            <a:r>
              <a:rPr lang="en-GB" altLang="en-US" sz="1000" dirty="0"/>
              <a:t>, Canterbury University Press, p.39) showing the strike slip offset on the Alpine Fault as made evident by the offset of metamorphic zones</a:t>
            </a:r>
          </a:p>
          <a:p>
            <a:pPr marL="108000" indent="-108000">
              <a:spcBef>
                <a:spcPts val="300"/>
              </a:spcBef>
              <a:buFont typeface="Arial" panose="020B0604020202020204" pitchFamily="34" charset="0"/>
              <a:buChar char="•"/>
            </a:pPr>
            <a:r>
              <a:rPr lang="en-GB" altLang="en-US" sz="1000" dirty="0"/>
              <a:t>Figure bottom (from Coates, 2002, </a:t>
            </a:r>
            <a:r>
              <a:rPr lang="en-GB" altLang="en-US" sz="1000" i="1" dirty="0"/>
              <a:t>The Rise and Fall of the Southern Alps</a:t>
            </a:r>
            <a:r>
              <a:rPr lang="en-GB" altLang="en-US" sz="1000" dirty="0"/>
              <a:t>, Canterbury University Press, p.52) showing the dip-slip offset on the Alpine Fault and the shape of the fault at depth. The numbers on the cross-section are in kilometres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a:extLst>
              <a:ext uri="{FF2B5EF4-FFF2-40B4-BE49-F238E27FC236}">
                <a16:creationId xmlns:a16="http://schemas.microsoft.com/office/drawing/2014/main" id="{3D4B1DE9-3C83-4BC5-B7FC-C3C68D379A40}"/>
              </a:ext>
            </a:extLst>
          </p:cNvPr>
          <p:cNvSpPr>
            <a:spLocks noGrp="1" noRot="1" noChangeAspect="1" noChangeArrowheads="1" noTextEdit="1"/>
          </p:cNvSpPr>
          <p:nvPr>
            <p:ph type="sldImg"/>
          </p:nvPr>
        </p:nvSpPr>
        <p:spPr>
          <a:ln/>
        </p:spPr>
      </p:sp>
      <p:sp>
        <p:nvSpPr>
          <p:cNvPr id="269315" name="Rectangle 3">
            <a:extLst>
              <a:ext uri="{FF2B5EF4-FFF2-40B4-BE49-F238E27FC236}">
                <a16:creationId xmlns:a16="http://schemas.microsoft.com/office/drawing/2014/main" id="{FDD71B43-74E7-4897-9579-77AF79B133E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summary of the key features of transcurrent faults, see </a:t>
            </a:r>
            <a:r>
              <a:rPr lang="en-GB" altLang="en-US" sz="1000" dirty="0" err="1"/>
              <a:t>Storti</a:t>
            </a:r>
            <a:r>
              <a:rPr lang="en-GB" altLang="en-US" sz="1000" dirty="0"/>
              <a:t> </a:t>
            </a:r>
            <a:r>
              <a:rPr lang="en-GB" altLang="en-US" sz="1000" i="1" dirty="0"/>
              <a:t>et al.</a:t>
            </a:r>
            <a:r>
              <a:rPr lang="en-GB" altLang="en-US" sz="1000" dirty="0"/>
              <a:t>,</a:t>
            </a:r>
            <a:r>
              <a:rPr lang="en-GB" altLang="en-US" sz="1000" i="1" dirty="0"/>
              <a:t> </a:t>
            </a:r>
            <a:r>
              <a:rPr lang="en-GB" altLang="en-US" sz="1000" dirty="0"/>
              <a:t>2003, </a:t>
            </a:r>
            <a:r>
              <a:rPr lang="en-GB" altLang="en-US" sz="1000" i="1" dirty="0"/>
              <a:t>Geological Society of London, Special Publication</a:t>
            </a:r>
            <a:r>
              <a:rPr lang="en-GB" altLang="en-US" sz="1000" dirty="0"/>
              <a:t> 210: 1-14, </a:t>
            </a:r>
            <a:r>
              <a:rPr lang="en-GB" sz="1000" dirty="0"/>
              <a:t>https://doi.org/10.1144/GSL.SP.2003.210.01.01</a:t>
            </a:r>
            <a:endParaRPr lang="en-GB" altLang="en-US" sz="1000" dirty="0"/>
          </a:p>
          <a:p>
            <a:pPr marL="108000" indent="-108000">
              <a:spcBef>
                <a:spcPts val="300"/>
              </a:spcBef>
              <a:buFont typeface="Arial" panose="020B0604020202020204" pitchFamily="34" charset="0"/>
              <a:buChar char="•"/>
            </a:pPr>
            <a:r>
              <a:rPr lang="en-GB" altLang="en-US" sz="1000" dirty="0"/>
              <a:t>Figure top right from </a:t>
            </a:r>
            <a:r>
              <a:rPr lang="en-GB" altLang="en-US" sz="1000" dirty="0" err="1"/>
              <a:t>Storti</a:t>
            </a:r>
            <a:r>
              <a:rPr lang="en-GB" altLang="en-US" sz="1000" dirty="0"/>
              <a:t> </a:t>
            </a:r>
            <a:r>
              <a:rPr lang="en-GB" altLang="en-US" sz="1000" i="1" dirty="0"/>
              <a:t>et al.</a:t>
            </a:r>
            <a:r>
              <a:rPr lang="en-GB" altLang="en-US" sz="1000" dirty="0"/>
              <a:t>,</a:t>
            </a:r>
            <a:r>
              <a:rPr lang="en-GB" altLang="en-US" sz="1000" i="1" dirty="0"/>
              <a:t> </a:t>
            </a:r>
            <a:r>
              <a:rPr lang="en-GB" altLang="en-US" sz="1000" dirty="0"/>
              <a:t>2003, </a:t>
            </a:r>
            <a:r>
              <a:rPr lang="en-GB" altLang="en-US" sz="1000" i="1" dirty="0"/>
              <a:t>Geological Society of London, Special Publication</a:t>
            </a:r>
            <a:r>
              <a:rPr lang="en-GB" altLang="en-US" sz="1000" dirty="0"/>
              <a:t> 210: 1-14, </a:t>
            </a:r>
            <a:r>
              <a:rPr lang="en-GB" sz="1000" dirty="0"/>
              <a:t>https://doi.org/10.1144/GSL.SP.2003.210.01.01</a:t>
            </a:r>
            <a:endParaRPr lang="en-GB" altLang="en-US" sz="1000" dirty="0"/>
          </a:p>
          <a:p>
            <a:pPr marL="108000" indent="-108000">
              <a:spcBef>
                <a:spcPts val="300"/>
              </a:spcBef>
              <a:buFont typeface="Arial" panose="020B0604020202020204" pitchFamily="34" charset="0"/>
              <a:buChar char="•"/>
            </a:pPr>
            <a:r>
              <a:rPr lang="en-GB" altLang="en-US" sz="1000" dirty="0"/>
              <a:t>Figure bottom right (from Fossen, p.408) showing the results of a physical model in which India is treated as a stiff indenter into a relatively weak Eurasia (see </a:t>
            </a:r>
            <a:r>
              <a:rPr lang="en-GB" altLang="en-US" sz="1000" dirty="0" err="1"/>
              <a:t>Tapponnier</a:t>
            </a:r>
            <a:r>
              <a:rPr lang="en-GB" altLang="en-US" sz="1000" dirty="0"/>
              <a:t> </a:t>
            </a:r>
            <a:r>
              <a:rPr lang="en-GB" altLang="en-US" sz="1000" i="1" dirty="0"/>
              <a:t>et al.</a:t>
            </a:r>
            <a:r>
              <a:rPr lang="en-GB" altLang="en-US" sz="1000" dirty="0"/>
              <a:t>, 1986, </a:t>
            </a:r>
            <a:r>
              <a:rPr lang="en-GB" altLang="en-US" sz="1000" i="1" dirty="0"/>
              <a:t>Geological Society of London, Special Publication</a:t>
            </a:r>
            <a:r>
              <a:rPr lang="en-GB" altLang="en-US" sz="1000" dirty="0"/>
              <a:t> 19: 113-157, </a:t>
            </a:r>
            <a:r>
              <a:rPr lang="en-GB" sz="1000" dirty="0"/>
              <a:t>https://doi.org/10.1144/GSL.SP.1986.019.01.07</a:t>
            </a:r>
            <a:r>
              <a:rPr lang="en-GB" altLang="en-US" sz="1000" dirty="0"/>
              <a: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a:extLst>
              <a:ext uri="{FF2B5EF4-FFF2-40B4-BE49-F238E27FC236}">
                <a16:creationId xmlns:a16="http://schemas.microsoft.com/office/drawing/2014/main" id="{BB21190D-F51B-47FB-ABCA-2F79DC9FEA92}"/>
              </a:ext>
            </a:extLst>
          </p:cNvPr>
          <p:cNvSpPr>
            <a:spLocks noGrp="1" noRot="1" noChangeAspect="1" noChangeArrowheads="1" noTextEdit="1"/>
          </p:cNvSpPr>
          <p:nvPr>
            <p:ph type="sldImg"/>
          </p:nvPr>
        </p:nvSpPr>
        <p:spPr>
          <a:ln/>
        </p:spPr>
      </p:sp>
      <p:sp>
        <p:nvSpPr>
          <p:cNvPr id="271363" name="Rectangle 3">
            <a:extLst>
              <a:ext uri="{FF2B5EF4-FFF2-40B4-BE49-F238E27FC236}">
                <a16:creationId xmlns:a16="http://schemas.microsoft.com/office/drawing/2014/main" id="{E95801F3-3D47-454A-90CA-E78507F1D31F}"/>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 right (from Fossen, p.407): on this figure </a:t>
            </a:r>
            <a:r>
              <a:rPr lang="en-GB" altLang="en-US" sz="1000" dirty="0" err="1"/>
              <a:t>Baltica</a:t>
            </a:r>
            <a:r>
              <a:rPr lang="en-GB" altLang="en-US" sz="1000" dirty="0"/>
              <a:t> is Denmark/Sweden/Finland; Laurentia is Greenland. For details of the sinistral </a:t>
            </a:r>
            <a:r>
              <a:rPr lang="en-GB" altLang="en-US" sz="1000" dirty="0" err="1"/>
              <a:t>transpression</a:t>
            </a:r>
            <a:r>
              <a:rPr lang="en-GB" altLang="en-US" sz="1000" dirty="0"/>
              <a:t> that accompanied the final closure of the Iapetus Ocean, see Soper </a:t>
            </a:r>
            <a:r>
              <a:rPr lang="en-GB" altLang="en-US" sz="1000" i="1" dirty="0"/>
              <a:t>et al.</a:t>
            </a:r>
            <a:r>
              <a:rPr lang="en-GB" altLang="en-US" sz="1000" dirty="0"/>
              <a:t>, 1992, </a:t>
            </a:r>
            <a:r>
              <a:rPr lang="en-GB" altLang="en-US" sz="1000" i="1" dirty="0"/>
              <a:t>Journal of the Geological Society, London</a:t>
            </a:r>
            <a:r>
              <a:rPr lang="en-GB" altLang="en-US" sz="1000" dirty="0"/>
              <a:t> 149: 871-880, </a:t>
            </a:r>
            <a:r>
              <a:rPr lang="en-GB" sz="1000" dirty="0"/>
              <a:t>https://doi.org/10.1144/gsjgs.149.6.0871</a:t>
            </a:r>
            <a:endParaRPr lang="en-GB" altLang="en-US" sz="1000" dirty="0"/>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 bottom left (adapted by Steve Covey-Crump from </a:t>
            </a:r>
            <a:r>
              <a:rPr lang="en-GB" altLang="en-US" sz="1000" dirty="0" err="1"/>
              <a:t>Storetvedt</a:t>
            </a:r>
            <a:r>
              <a:rPr lang="en-GB" altLang="en-US" sz="1000" dirty="0"/>
              <a:t>, 1987, </a:t>
            </a:r>
            <a:r>
              <a:rPr lang="en-GB" altLang="en-US" sz="1000" i="1" dirty="0"/>
              <a:t>Tectonophysics</a:t>
            </a:r>
            <a:r>
              <a:rPr lang="en-GB" altLang="en-US" sz="1000" dirty="0"/>
              <a:t> 143: 253-267, </a:t>
            </a:r>
            <a:r>
              <a:rPr lang="en-GB" sz="1000" dirty="0"/>
              <a:t>https://doi.org/10.1016/0040-1951(87)90213-7</a:t>
            </a:r>
            <a:r>
              <a:rPr lang="en-GB" altLang="en-US" sz="1000" dirty="0"/>
              <a:t>): reconstruction of the strike-slip displacement on the Great Glen Fault. The magnitude of sinistral strike-slip movement on the Great Glen Fault during the convergence of </a:t>
            </a:r>
            <a:r>
              <a:rPr lang="en-GB" altLang="en-US" sz="1000" dirty="0" err="1"/>
              <a:t>Baltica</a:t>
            </a:r>
            <a:r>
              <a:rPr lang="en-GB" altLang="en-US" sz="1000" dirty="0"/>
              <a:t> and Laurentia is presently estimated at </a:t>
            </a:r>
            <a:r>
              <a:rPr lang="en-GB" altLang="en-US" sz="1000" spc="150" baseline="0" dirty="0"/>
              <a:t>~</a:t>
            </a:r>
            <a:r>
              <a:rPr lang="en-GB" altLang="en-US" sz="1000" dirty="0"/>
              <a:t>900 km (Dewey &amp; Strachan, 2003, </a:t>
            </a:r>
            <a:r>
              <a:rPr lang="en-GB" altLang="en-US" sz="1000" i="1" dirty="0"/>
              <a:t>Journal of the Geological Society, London</a:t>
            </a:r>
            <a:r>
              <a:rPr lang="en-GB" altLang="en-US" sz="1000" dirty="0"/>
              <a:t> 160: 219-229, </a:t>
            </a:r>
            <a:r>
              <a:rPr lang="en-GB" sz="1000" dirty="0"/>
              <a:t>https://doi.org/10.1144/0016-764902-085</a:t>
            </a:r>
            <a:r>
              <a:rPr lang="en-GB" altLang="en-US" sz="1000" dirty="0"/>
              <a:t>). In common with many major crustal lineaments, the Great Glen Fault has had an extended history of reactivation, in this case, primarily during the </a:t>
            </a:r>
            <a:r>
              <a:rPr lang="en-GB" altLang="en-US" sz="1000" dirty="0" err="1"/>
              <a:t>Variscan</a:t>
            </a:r>
            <a:r>
              <a:rPr lang="en-GB" altLang="en-US" sz="1000" dirty="0"/>
              <a:t> orogeny and during the </a:t>
            </a:r>
            <a:r>
              <a:rPr lang="en-GB" altLang="en-US" sz="1000" dirty="0" err="1"/>
              <a:t>Cenozoic</a:t>
            </a:r>
            <a:r>
              <a:rPr lang="en-GB" altLang="en-US" sz="1000" dirty="0"/>
              <a:t>. The total slip during these times of reactivation amounts to 25-30 km of dextral offset (Rogers </a:t>
            </a:r>
            <a:r>
              <a:rPr lang="en-GB" altLang="en-US" sz="1000" i="1" dirty="0"/>
              <a:t>et al.</a:t>
            </a:r>
            <a:r>
              <a:rPr lang="en-GB" altLang="en-US" sz="1000" dirty="0"/>
              <a:t>, 1989, </a:t>
            </a:r>
            <a:r>
              <a:rPr lang="en-GB" altLang="en-US" sz="1000" i="1" dirty="0"/>
              <a:t>Journal of the Geological Society, London</a:t>
            </a:r>
            <a:r>
              <a:rPr lang="en-GB" altLang="en-US" sz="1000" dirty="0"/>
              <a:t> 146: 369-372, </a:t>
            </a:r>
            <a:r>
              <a:rPr lang="en-GB" sz="1000" dirty="0"/>
              <a:t>https://doi.org/10.1144/gsjgs.146.3.0369</a:t>
            </a:r>
            <a:r>
              <a:rPr lang="en-GB" altLang="en-US" sz="1000" dirty="0"/>
              <a:t>; Le Breton </a:t>
            </a:r>
            <a:r>
              <a:rPr lang="en-GB" altLang="en-US" sz="1000" i="1" dirty="0"/>
              <a:t>et al.</a:t>
            </a:r>
            <a:r>
              <a:rPr lang="en-GB" altLang="en-US" sz="1000" dirty="0"/>
              <a:t>, 2013, </a:t>
            </a:r>
            <a:r>
              <a:rPr lang="en-GB" altLang="en-US" sz="1000" i="1" dirty="0"/>
              <a:t>Journal of the Geological Society, London</a:t>
            </a:r>
            <a:r>
              <a:rPr lang="en-GB" altLang="en-US" sz="1000" dirty="0"/>
              <a:t> 170: 403-415, </a:t>
            </a:r>
            <a:r>
              <a:rPr lang="en-GB" sz="1000" dirty="0"/>
              <a:t>https://doi.org/10.1144/jgs2012-067</a:t>
            </a:r>
            <a:r>
              <a:rPr lang="en-GB" altLang="en-US" sz="1000" dirty="0"/>
              <a: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FA0908FE-2DDF-4531-88AE-10071EB2E740}"/>
              </a:ext>
            </a:extLst>
          </p:cNvPr>
          <p:cNvSpPr>
            <a:spLocks noGrp="1" noRot="1" noChangeAspect="1" noChangeArrowheads="1" noTextEdit="1"/>
          </p:cNvSpPr>
          <p:nvPr>
            <p:ph type="sldImg"/>
          </p:nvPr>
        </p:nvSpPr>
        <p:spPr>
          <a:ln/>
        </p:spPr>
      </p:sp>
      <p:sp>
        <p:nvSpPr>
          <p:cNvPr id="275459" name="Rectangle 3">
            <a:extLst>
              <a:ext uri="{FF2B5EF4-FFF2-40B4-BE49-F238E27FC236}">
                <a16:creationId xmlns:a16="http://schemas.microsoft.com/office/drawing/2014/main" id="{D1A9ED4F-73B8-416F-A236-542707CF9DA1}"/>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The lamprophyre dykes of north-western Scotland were emplaced at 40</a:t>
            </a:r>
            <a:r>
              <a:rPr lang="en-GB" altLang="en-US" sz="1000" spc="150" baseline="0" dirty="0"/>
              <a:t>0±</a:t>
            </a:r>
            <a:r>
              <a:rPr lang="en-GB" altLang="en-US" sz="1000" dirty="0"/>
              <a:t>10 Ma, after the Caledonian orogeny. Those north-west of the Great Glen Fault are relatively enriched in light rare earth elements and large ion lithophile elements (notably Ba, Sr and P) compared with those south of the fault, and they have completely different neodymium compositions. These differences require that the source rock (lithospheric mantle) of the lamprophyre magmas north of the Great Glen Fault had previously experienced a series of metasomatic events that the source rock of the lamprophyre magmas south of the Great Glen Fault had not. The mica and clinopyroxene phenocrysts found in the more mafic lamprophyre varieties could only have been in magmatic equilibrium at pressures of 20 </a:t>
            </a:r>
            <a:r>
              <a:rPr lang="en-GB" altLang="en-US" sz="1000" dirty="0" err="1"/>
              <a:t>kbar</a:t>
            </a:r>
            <a:r>
              <a:rPr lang="en-GB" altLang="en-US" sz="1000" dirty="0"/>
              <a:t> (2000 </a:t>
            </a:r>
            <a:r>
              <a:rPr lang="en-GB" altLang="en-US" sz="1000" dirty="0" err="1"/>
              <a:t>MPa</a:t>
            </a:r>
            <a:r>
              <a:rPr lang="en-GB" altLang="en-US" sz="1000" dirty="0"/>
              <a:t>) and temperatures of 1000°-1200°C, which equates to a depth of ~60 km. Consideration of the rare earth element chemistry and the K and </a:t>
            </a:r>
            <a:r>
              <a:rPr lang="en-GB" altLang="en-US" sz="1000" dirty="0" err="1"/>
              <a:t>Rb</a:t>
            </a:r>
            <a:r>
              <a:rPr lang="en-GB" altLang="en-US" sz="1000" dirty="0"/>
              <a:t> composition of the lamprophyres, and what this implies about the residual phases left in the source region when the magmas were formed, extends the estimated depth of formation to over 100 km. Hence the Great Glen Fault must transect the whole Caledonian lithosphere. For details, see Canning </a:t>
            </a:r>
            <a:r>
              <a:rPr lang="en-GB" altLang="en-US" sz="1000" i="1" dirty="0"/>
              <a:t>et al.</a:t>
            </a:r>
            <a:r>
              <a:rPr lang="en-GB" altLang="en-US" sz="1000" dirty="0"/>
              <a:t>, 1998, </a:t>
            </a:r>
            <a:r>
              <a:rPr lang="en-GB" altLang="en-US" sz="1000" i="1" dirty="0"/>
              <a:t>Journal of the Geological Society, London</a:t>
            </a:r>
            <a:r>
              <a:rPr lang="en-GB" altLang="en-US" sz="1000" dirty="0"/>
              <a:t> 155: 425-428, </a:t>
            </a:r>
            <a:r>
              <a:rPr lang="en-GB" sz="1000" dirty="0"/>
              <a:t>https://doi.org/10.1144/gsjgs.155.3.0425</a:t>
            </a:r>
            <a:endParaRPr lang="en-GB" altLang="en-US" sz="1000" dirty="0"/>
          </a:p>
          <a:p>
            <a:pPr marL="108000" indent="-108000">
              <a:spcBef>
                <a:spcPts val="300"/>
              </a:spcBef>
              <a:buFont typeface="Arial" panose="020B0604020202020204" pitchFamily="34" charset="0"/>
              <a:buChar char="•"/>
            </a:pPr>
            <a:r>
              <a:rPr lang="en-GB" altLang="en-US" sz="1000" dirty="0"/>
              <a:t>Figure from </a:t>
            </a:r>
            <a:r>
              <a:rPr lang="en-GB" altLang="en-US" sz="1000" dirty="0" err="1"/>
              <a:t>Storti</a:t>
            </a:r>
            <a:r>
              <a:rPr lang="en-GB" altLang="en-US" sz="1000" dirty="0"/>
              <a:t> </a:t>
            </a:r>
            <a:r>
              <a:rPr lang="en-GB" altLang="en-US" sz="1000" i="1" dirty="0"/>
              <a:t>et al.</a:t>
            </a:r>
            <a:r>
              <a:rPr lang="en-GB" altLang="en-US" sz="1000" dirty="0"/>
              <a:t>,</a:t>
            </a:r>
            <a:r>
              <a:rPr lang="en-GB" altLang="en-US" sz="1000" i="1" dirty="0"/>
              <a:t> </a:t>
            </a:r>
            <a:r>
              <a:rPr lang="en-GB" altLang="en-US" sz="1000" dirty="0"/>
              <a:t>2003, </a:t>
            </a:r>
            <a:r>
              <a:rPr lang="en-GB" altLang="en-US" sz="1000" i="1" dirty="0"/>
              <a:t>Geological Society of London, Special Publication</a:t>
            </a:r>
            <a:r>
              <a:rPr lang="en-GB" altLang="en-US" sz="1000" dirty="0"/>
              <a:t> 210: 1-14, </a:t>
            </a:r>
            <a:r>
              <a:rPr lang="en-GB" sz="1000" dirty="0"/>
              <a:t>https://doi.org/10.1144/GSL.SP.2003.210.01.01</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660F9A24-4619-426E-939D-569A18FEF1C8}"/>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60024981-5831-4C39-BA79-52E813463673}"/>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The complex time-varying nature of the stresses exerted on the crust of Europa as it orbits Jupiter has produced a wide range of contractional and extensional faults as well as the strike-slip faults. On the tectonics of Europa (including arguments for “subduction”), see </a:t>
            </a:r>
            <a:r>
              <a:rPr lang="en-GB" altLang="en-US" sz="1000" dirty="0" err="1"/>
              <a:t>Kattenhorn</a:t>
            </a:r>
            <a:r>
              <a:rPr lang="en-GB" altLang="en-US" sz="1000" dirty="0"/>
              <a:t> &amp; </a:t>
            </a:r>
            <a:r>
              <a:rPr lang="en-GB" altLang="en-US" sz="1000" dirty="0" err="1"/>
              <a:t>Prockter</a:t>
            </a:r>
            <a:r>
              <a:rPr lang="en-GB" altLang="en-US" sz="1000" dirty="0"/>
              <a:t>, 2014, </a:t>
            </a:r>
            <a:r>
              <a:rPr lang="en-GB" altLang="en-US" sz="1000" i="1" dirty="0"/>
              <a:t>Nature Geoscience</a:t>
            </a:r>
            <a:r>
              <a:rPr lang="en-GB" altLang="en-US" sz="1000" dirty="0"/>
              <a:t> 7: 762-767, </a:t>
            </a:r>
            <a:r>
              <a:rPr lang="en-GB" sz="1000" dirty="0"/>
              <a:t>https://doi.org/10.1038/ngeo2245</a:t>
            </a:r>
            <a:r>
              <a:rPr lang="en-GB" altLang="en-US" sz="1000" dirty="0"/>
              <a:t>. For strike-slip deformation on Europa, see </a:t>
            </a:r>
            <a:r>
              <a:rPr lang="en-GB" altLang="en-US" sz="1000" dirty="0" err="1"/>
              <a:t>Hoppa</a:t>
            </a:r>
            <a:r>
              <a:rPr lang="en-GB" altLang="en-US" sz="1000" dirty="0"/>
              <a:t> </a:t>
            </a:r>
            <a:r>
              <a:rPr lang="en-GB" altLang="en-US" sz="1000" i="1" dirty="0"/>
              <a:t>et al.</a:t>
            </a:r>
            <a:r>
              <a:rPr lang="en-GB" altLang="en-US" sz="1000" dirty="0"/>
              <a:t>, 1999, </a:t>
            </a:r>
            <a:r>
              <a:rPr lang="en-GB" altLang="en-US" sz="1000" i="1" dirty="0"/>
              <a:t>Icarus</a:t>
            </a:r>
            <a:r>
              <a:rPr lang="en-GB" altLang="en-US" sz="1000" dirty="0"/>
              <a:t> 141: 287-298, </a:t>
            </a:r>
            <a:r>
              <a:rPr lang="en-GB" sz="1000" dirty="0"/>
              <a:t>https://doi.org/10.1006/icar.1999.6185</a:t>
            </a:r>
            <a:r>
              <a:rPr lang="en-GB" altLang="en-US" sz="1000" dirty="0"/>
              <a:t>; </a:t>
            </a:r>
            <a:r>
              <a:rPr lang="en-GB" altLang="en-US" sz="1000" dirty="0" err="1"/>
              <a:t>Prockter</a:t>
            </a:r>
            <a:r>
              <a:rPr lang="en-GB" altLang="en-US" sz="1000" dirty="0"/>
              <a:t> </a:t>
            </a:r>
            <a:r>
              <a:rPr lang="en-GB" altLang="en-US" sz="1000" i="1" dirty="0"/>
              <a:t>et al.</a:t>
            </a:r>
            <a:r>
              <a:rPr lang="en-GB" altLang="en-US" sz="1000" dirty="0"/>
              <a:t>, 2000, </a:t>
            </a:r>
            <a:r>
              <a:rPr lang="en-GB" altLang="en-US" sz="1000" i="1" dirty="0"/>
              <a:t>Journal of Geophysical Research</a:t>
            </a:r>
            <a:r>
              <a:rPr lang="en-GB" altLang="en-US" sz="1000" dirty="0"/>
              <a:t> 105: 9483-9488, </a:t>
            </a:r>
            <a:r>
              <a:rPr lang="en-GB" sz="1000" dirty="0"/>
              <a:t>https://doi.org/10.1029/1999JE001226</a:t>
            </a:r>
            <a:r>
              <a:rPr lang="en-GB" altLang="en-US" sz="1000" dirty="0"/>
              <a:t>; Rhoden </a:t>
            </a:r>
            <a:r>
              <a:rPr lang="en-GB" altLang="en-US" sz="1000" i="1" dirty="0"/>
              <a:t>et al</a:t>
            </a:r>
            <a:r>
              <a:rPr lang="en-GB" altLang="en-US" sz="1000" dirty="0"/>
              <a:t>., 2012, </a:t>
            </a:r>
            <a:r>
              <a:rPr lang="en-GB" altLang="en-US" sz="1000" i="1" dirty="0"/>
              <a:t>Icarus</a:t>
            </a:r>
            <a:r>
              <a:rPr lang="en-GB" altLang="en-US" sz="1000" dirty="0"/>
              <a:t> 218: 297-307, </a:t>
            </a:r>
            <a:r>
              <a:rPr lang="en-GB" sz="1000" dirty="0"/>
              <a:t>https://doi.org/10.1016/j.icarus.2011.12.015</a:t>
            </a:r>
            <a:r>
              <a:rPr lang="en-GB" altLang="en-US" sz="1000" dirty="0"/>
              <a:t>. For information on </a:t>
            </a:r>
            <a:r>
              <a:rPr lang="en-GB" altLang="en-US" sz="1000" dirty="0" err="1"/>
              <a:t>Agenor</a:t>
            </a:r>
            <a:r>
              <a:rPr lang="en-GB" altLang="en-US" sz="1000" dirty="0"/>
              <a:t> Linea, see Hoyer </a:t>
            </a:r>
            <a:r>
              <a:rPr lang="en-GB" altLang="en-US" sz="1000" i="1" dirty="0"/>
              <a:t>et al.</a:t>
            </a:r>
            <a:r>
              <a:rPr lang="en-GB" altLang="en-US" sz="1000" dirty="0"/>
              <a:t>, 2014, </a:t>
            </a:r>
            <a:r>
              <a:rPr lang="en-GB" altLang="en-US" sz="1000" i="1" dirty="0"/>
              <a:t>Icarus</a:t>
            </a:r>
            <a:r>
              <a:rPr lang="en-GB" altLang="en-US" sz="1000" dirty="0"/>
              <a:t> 232: 60-80, </a:t>
            </a:r>
            <a:r>
              <a:rPr lang="en-GB" sz="1000" dirty="0"/>
              <a:t>https://doi.org/10.1016/j.icarus.2013.12.010</a:t>
            </a:r>
            <a:endParaRPr lang="en-GB" altLang="en-US" sz="1000" dirty="0"/>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For strike-slip deformation features on other planets: </a:t>
            </a:r>
            <a:r>
              <a:rPr lang="en-GB" altLang="en-US" sz="1000" b="1" i="1" dirty="0"/>
              <a:t>Mercury</a:t>
            </a:r>
            <a:r>
              <a:rPr lang="en-GB" altLang="en-US" sz="1000" dirty="0"/>
              <a:t> (</a:t>
            </a:r>
            <a:r>
              <a:rPr lang="en-GB" altLang="en-US" sz="1000" dirty="0" err="1"/>
              <a:t>Massironi</a:t>
            </a:r>
            <a:r>
              <a:rPr lang="en-GB" altLang="en-US" sz="1000" dirty="0"/>
              <a:t> </a:t>
            </a:r>
            <a:r>
              <a:rPr lang="en-GB" altLang="en-US" sz="1000" i="1" dirty="0"/>
              <a:t>et al</a:t>
            </a:r>
            <a:r>
              <a:rPr lang="en-GB" altLang="en-US" sz="1000" dirty="0"/>
              <a:t>., 2015, </a:t>
            </a:r>
            <a:r>
              <a:rPr lang="en-GB" altLang="en-US" sz="1000" i="1" dirty="0"/>
              <a:t>Geological Society, London, Special Publications</a:t>
            </a:r>
            <a:r>
              <a:rPr lang="en-GB" altLang="en-US" sz="1000" dirty="0"/>
              <a:t> 401: 269-290, </a:t>
            </a:r>
            <a:r>
              <a:rPr lang="en-GB" sz="1000" dirty="0"/>
              <a:t>https://doi.org/10.1144/SP401.16</a:t>
            </a:r>
            <a:r>
              <a:rPr lang="en-GB" altLang="en-US" sz="1000" dirty="0"/>
              <a:t>), </a:t>
            </a:r>
            <a:r>
              <a:rPr lang="en-GB" altLang="en-US" sz="1000" b="1" i="1" dirty="0"/>
              <a:t>Venus</a:t>
            </a:r>
            <a:r>
              <a:rPr lang="en-GB" altLang="en-US" sz="1000" dirty="0"/>
              <a:t> (Koenig &amp; Aydin, 1998, </a:t>
            </a:r>
            <a:r>
              <a:rPr lang="en-GB" altLang="en-US" sz="1000" i="1" dirty="0"/>
              <a:t>Geology</a:t>
            </a:r>
            <a:r>
              <a:rPr lang="en-GB" altLang="en-US" sz="1000" dirty="0"/>
              <a:t> 26: 551-554, </a:t>
            </a:r>
            <a:r>
              <a:rPr lang="en-GB" sz="1000" dirty="0"/>
              <a:t>https://doi.org/10.1130/0091-7613(1998)026&lt;0551:EFLSSS&gt;2.3.CO;2</a:t>
            </a:r>
            <a:r>
              <a:rPr lang="en-GB" altLang="en-US" sz="1000" dirty="0"/>
              <a:t>; Byrne </a:t>
            </a:r>
            <a:r>
              <a:rPr lang="en-GB" altLang="en-US" sz="1000" i="1" dirty="0"/>
              <a:t>et al</a:t>
            </a:r>
            <a:r>
              <a:rPr lang="en-GB" altLang="en-US" sz="1000" i="0" dirty="0"/>
              <a:t>., 2017, </a:t>
            </a:r>
            <a:r>
              <a:rPr lang="en-GB" altLang="en-US" sz="1000" i="1" dirty="0"/>
              <a:t>48</a:t>
            </a:r>
            <a:r>
              <a:rPr lang="en-GB" altLang="en-US" sz="1000" i="1" baseline="30000" dirty="0"/>
              <a:t>th</a:t>
            </a:r>
            <a:r>
              <a:rPr lang="en-GB" altLang="en-US" sz="1000" i="1" dirty="0"/>
              <a:t> Lunar and Planetary Science Conference</a:t>
            </a:r>
            <a:r>
              <a:rPr lang="en-GB" altLang="en-US" sz="1000" i="0" dirty="0"/>
              <a:t> abstract 2708, https://www.hou.usra.edu/meetings/lpsc2017/pdf/2708.pdf),</a:t>
            </a:r>
            <a:r>
              <a:rPr lang="en-GB" altLang="en-US" sz="1000" dirty="0"/>
              <a:t> and </a:t>
            </a:r>
            <a:r>
              <a:rPr lang="en-GB" altLang="en-US" sz="1000" b="1" i="1" dirty="0"/>
              <a:t>Mars</a:t>
            </a:r>
            <a:r>
              <a:rPr lang="en-GB" altLang="en-US" sz="1000" dirty="0"/>
              <a:t> (Hanna </a:t>
            </a:r>
            <a:r>
              <a:rPr lang="en-GB" altLang="en-US" sz="1000" i="1" dirty="0"/>
              <a:t>et al</a:t>
            </a:r>
            <a:r>
              <a:rPr lang="en-GB" altLang="en-US" sz="1000" dirty="0"/>
              <a:t>., 2008, </a:t>
            </a:r>
            <a:r>
              <a:rPr lang="en-GB" altLang="en-US" sz="1000" i="1" dirty="0"/>
              <a:t>Journal of Geophysical Research</a:t>
            </a:r>
            <a:r>
              <a:rPr lang="en-GB" altLang="en-US" sz="1000" dirty="0"/>
              <a:t> 113, article E08002, </a:t>
            </a:r>
            <a:r>
              <a:rPr lang="en-GB" sz="1000" dirty="0"/>
              <a:t>https://doi.org/10.1029/2007JE002980</a:t>
            </a:r>
            <a:r>
              <a:rPr lang="en-GB" altLang="en-US" sz="1000" dirty="0"/>
              <a:t>; note also the analysis of Valles </a:t>
            </a:r>
            <a:r>
              <a:rPr lang="en-GB" altLang="en-US" sz="1000" dirty="0" err="1"/>
              <a:t>Marineris</a:t>
            </a:r>
            <a:r>
              <a:rPr lang="en-GB" altLang="en-US" sz="1000" dirty="0"/>
              <a:t> (see Class 9 Slide 13) as a </a:t>
            </a:r>
            <a:r>
              <a:rPr lang="en-GB" altLang="en-US" sz="1000" dirty="0" err="1"/>
              <a:t>transtensional</a:t>
            </a:r>
            <a:r>
              <a:rPr lang="en-GB" altLang="en-US" sz="1000" dirty="0"/>
              <a:t> strike-slip fault with ~160 km sinistral strike-slip displacement – Yin, 2012, </a:t>
            </a:r>
            <a:r>
              <a:rPr lang="en-GB" altLang="en-US" sz="1000" i="1" dirty="0"/>
              <a:t>Lithosphere</a:t>
            </a:r>
            <a:r>
              <a:rPr lang="en-GB" altLang="en-US" sz="1000" i="0" dirty="0"/>
              <a:t> 4: 286-330, </a:t>
            </a:r>
            <a:r>
              <a:rPr lang="en-GB" sz="1000" dirty="0"/>
              <a:t>https://doi.org/10.1130/L192.1</a:t>
            </a:r>
            <a:r>
              <a:rPr lang="en-GB" altLang="en-US" sz="1000" dirty="0"/>
              <a:t>)</a:t>
            </a:r>
          </a:p>
          <a:p>
            <a:pPr marL="108000" indent="-108000">
              <a:spcBef>
                <a:spcPts val="300"/>
              </a:spcBef>
              <a:buFont typeface="Arial" panose="020B0604020202020204" pitchFamily="34" charset="0"/>
              <a:buChar char="•"/>
            </a:pPr>
            <a:r>
              <a:rPr lang="en-GB" altLang="en-US" sz="1000" dirty="0"/>
              <a:t>For strike-slip deformation features on the icy satellites of the outer Solar System (other than Europa): </a:t>
            </a:r>
            <a:r>
              <a:rPr lang="en-GB" altLang="en-US" sz="1000" b="1" i="1" dirty="0"/>
              <a:t>Ganymede</a:t>
            </a:r>
            <a:r>
              <a:rPr lang="en-GB" altLang="en-US" sz="1000" dirty="0"/>
              <a:t> (</a:t>
            </a:r>
            <a:r>
              <a:rPr lang="en-GB" altLang="en-US" sz="1000" dirty="0" err="1"/>
              <a:t>Pappalardo</a:t>
            </a:r>
            <a:r>
              <a:rPr lang="en-GB" altLang="en-US" sz="1000" dirty="0"/>
              <a:t> </a:t>
            </a:r>
            <a:r>
              <a:rPr lang="en-GB" altLang="en-US" sz="1000" i="1" dirty="0"/>
              <a:t>et al.</a:t>
            </a:r>
            <a:r>
              <a:rPr lang="en-GB" altLang="en-US" sz="1000" dirty="0"/>
              <a:t>, 1998, </a:t>
            </a:r>
            <a:r>
              <a:rPr lang="en-GB" altLang="en-US" sz="1000" i="1" dirty="0"/>
              <a:t>Icarus</a:t>
            </a:r>
            <a:r>
              <a:rPr lang="en-GB" altLang="en-US" sz="1000" dirty="0"/>
              <a:t> 135: 276-302, </a:t>
            </a:r>
            <a:r>
              <a:rPr lang="en-GB" sz="1000" dirty="0"/>
              <a:t>https://doi.org/10.1006/icar.1998.5966</a:t>
            </a:r>
            <a:r>
              <a:rPr lang="en-GB" altLang="en-US" sz="1000" dirty="0"/>
              <a:t>); </a:t>
            </a:r>
            <a:r>
              <a:rPr lang="en-GB" altLang="en-US" sz="1000" b="1" i="1" dirty="0"/>
              <a:t>Enceladus</a:t>
            </a:r>
            <a:r>
              <a:rPr lang="en-GB" altLang="en-US" sz="1000" dirty="0"/>
              <a:t> (Martin, 2016, </a:t>
            </a:r>
            <a:r>
              <a:rPr lang="en-GB" altLang="en-US" sz="1000" i="1" dirty="0"/>
              <a:t>Geophysical Research Letters</a:t>
            </a:r>
            <a:r>
              <a:rPr lang="en-GB" altLang="en-US" sz="1000" dirty="0"/>
              <a:t> 43: 2456-2464, </a:t>
            </a:r>
            <a:r>
              <a:rPr lang="en-GB" sz="1000" dirty="0"/>
              <a:t>https://doi.org/10.1002/2016GL067805</a:t>
            </a:r>
            <a:r>
              <a:rPr lang="en-GB" altLang="en-US" sz="1000" dirty="0"/>
              <a:t>); </a:t>
            </a:r>
            <a:r>
              <a:rPr lang="en-GB" altLang="en-US" sz="1000" b="1" i="1" dirty="0"/>
              <a:t>Triton</a:t>
            </a:r>
            <a:r>
              <a:rPr lang="en-GB" altLang="en-US" sz="1000" dirty="0"/>
              <a:t> (Croft </a:t>
            </a:r>
            <a:r>
              <a:rPr lang="en-GB" altLang="en-US" sz="1000" i="1" dirty="0"/>
              <a:t>et al</a:t>
            </a:r>
            <a:r>
              <a:rPr lang="en-GB" altLang="en-US" sz="1000" dirty="0"/>
              <a:t>., in: Cruikshank (editor), 1995, </a:t>
            </a:r>
            <a:r>
              <a:rPr lang="en-GB" altLang="en-US" sz="1000" i="1" dirty="0"/>
              <a:t>Neptune and Triton</a:t>
            </a:r>
            <a:r>
              <a:rPr lang="en-GB" altLang="en-US" sz="1000" dirty="0"/>
              <a:t>, University of Arizona Press, p.879-947)</a:t>
            </a:r>
          </a:p>
          <a:p>
            <a:pPr marL="108000" indent="-108000">
              <a:spcBef>
                <a:spcPts val="300"/>
              </a:spcBef>
              <a:buFont typeface="Arial" panose="020B0604020202020204" pitchFamily="34" charset="0"/>
              <a:buChar char="•"/>
            </a:pPr>
            <a:r>
              <a:rPr lang="en-GB" altLang="en-US" sz="1000" dirty="0"/>
              <a:t>Figure top left is from http://www.explanet.info/Chapter09.htm#The_Galilean_Satellite</a:t>
            </a:r>
          </a:p>
          <a:p>
            <a:pPr marL="108000" indent="-108000">
              <a:spcBef>
                <a:spcPts val="300"/>
              </a:spcBef>
              <a:buFont typeface="Arial" panose="020B0604020202020204" pitchFamily="34" charset="0"/>
              <a:buChar char="•"/>
            </a:pPr>
            <a:r>
              <a:rPr lang="en-GB" altLang="en-US" sz="1000" dirty="0"/>
              <a:t>Image bottom left (extracted by Steve Covey-Crump from http://simkin.asu.edu/galileo/, Galileo Orbit E12 Mosaic E12ESWEDGE_01602_cxt) showing a strike slip fault that clearly offsets four markers (on the fault at locations above the red arrows), including the wide extensional band, </a:t>
            </a:r>
            <a:r>
              <a:rPr lang="en-GB" altLang="en-US" sz="1000" dirty="0" err="1"/>
              <a:t>Yelland</a:t>
            </a:r>
            <a:r>
              <a:rPr lang="en-GB" altLang="en-US" sz="1000" dirty="0"/>
              <a:t> Linea (the thick dark band running top to bottom in the centre of the image), in </a:t>
            </a:r>
            <a:r>
              <a:rPr lang="en-GB" altLang="en-US" sz="1000" dirty="0" err="1"/>
              <a:t>Argadnel</a:t>
            </a:r>
            <a:r>
              <a:rPr lang="en-GB" altLang="en-US" sz="1000" dirty="0"/>
              <a:t> Regio, Europa. This fault is discussed by Schultz </a:t>
            </a:r>
            <a:r>
              <a:rPr lang="en-GB" altLang="en-US" sz="1000" i="1" dirty="0"/>
              <a:t>et al.</a:t>
            </a:r>
            <a:r>
              <a:rPr lang="en-GB" altLang="en-US" sz="1000" dirty="0"/>
              <a:t>, 2010, </a:t>
            </a:r>
            <a:r>
              <a:rPr lang="en-GB" altLang="en-US" sz="1000" i="1" dirty="0"/>
              <a:t>Journal of Structural Geology</a:t>
            </a:r>
            <a:r>
              <a:rPr lang="en-GB" altLang="en-US" sz="1000" dirty="0"/>
              <a:t> 32: 855-875, </a:t>
            </a:r>
            <a:r>
              <a:rPr lang="en-GB" sz="1000" dirty="0"/>
              <a:t>https://doi.org/10.1016/j.jsg.2009.09.005</a:t>
            </a:r>
            <a:endParaRPr lang="en-GB" altLang="en-US" sz="1000" dirty="0"/>
          </a:p>
          <a:p>
            <a:pPr marL="108000" indent="-108000">
              <a:spcBef>
                <a:spcPts val="300"/>
              </a:spcBef>
              <a:buFont typeface="Arial" panose="020B0604020202020204" pitchFamily="34" charset="0"/>
              <a:buChar char="•"/>
            </a:pPr>
            <a:r>
              <a:rPr lang="en-GB" altLang="en-US" sz="1000" dirty="0"/>
              <a:t>Images top right and bottom right (extracted by Steve Covey-Crump from http://simkin.asu.edu/galileo/, Galileo Orbit E6 Mosaic E6ESBRTPLN02) showing examples of strike-slip faults from the Bright Plains region of Europa (near </a:t>
            </a:r>
            <a:r>
              <a:rPr lang="en-GB" altLang="en-US" sz="1000" dirty="0" err="1"/>
              <a:t>Androgeos</a:t>
            </a:r>
            <a:r>
              <a:rPr lang="en-GB" altLang="en-US" sz="1000" dirty="0"/>
              <a:t> Linea in the </a:t>
            </a:r>
            <a:r>
              <a:rPr lang="en-GB" altLang="en-US" sz="1000" dirty="0" err="1"/>
              <a:t>Conamara</a:t>
            </a:r>
            <a:r>
              <a:rPr lang="en-GB" altLang="en-US" sz="1000" dirty="0"/>
              <a:t> Chaos region). Each image is about 2 km across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710AF791-2ADC-4420-97CA-A5838B2699A8}"/>
              </a:ext>
            </a:extLst>
          </p:cNvPr>
          <p:cNvSpPr>
            <a:spLocks noGrp="1" noRot="1" noChangeAspect="1" noChangeArrowheads="1" noTextEdit="1"/>
          </p:cNvSpPr>
          <p:nvPr>
            <p:ph type="sldImg"/>
          </p:nvPr>
        </p:nvSpPr>
        <p:spPr>
          <a:ln/>
        </p:spPr>
      </p:sp>
      <p:sp>
        <p:nvSpPr>
          <p:cNvPr id="381955" name="Rectangle 3">
            <a:extLst>
              <a:ext uri="{FF2B5EF4-FFF2-40B4-BE49-F238E27FC236}">
                <a16:creationId xmlns:a16="http://schemas.microsoft.com/office/drawing/2014/main" id="{D831333D-24B4-4AA1-965B-A4903469AD6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Enceladus is one of the moons of Saturn. It is 500 km in diameter and has an icy crust. The moon has a slight wobble as it orbits Saturn implying that, like Europa, there is a global ocean under the crust. In the south polar region, the tidal stresses induced by the non-synchronous rotation of this ocean and the crust have generated a complex and evolving fracture network. Four particularly prominent subparallel fractures, each ~130 km long, 2 km wide and 500 m deep, are informally known as the “tiger stripes”, and are </a:t>
            </a:r>
            <a:r>
              <a:rPr lang="en-GB" altLang="en-US" sz="1000" dirty="0" err="1"/>
              <a:t>sinistral</a:t>
            </a:r>
            <a:r>
              <a:rPr lang="en-GB" altLang="en-US" sz="1000" dirty="0"/>
              <a:t> strike-slip faults along which curtain geyser eruptions are continuously occurring. For the discovery of the tiger stripes, see </a:t>
            </a:r>
            <a:r>
              <a:rPr lang="en-GB" altLang="en-US" sz="1000" dirty="0" err="1"/>
              <a:t>Porco</a:t>
            </a:r>
            <a:r>
              <a:rPr lang="en-GB" altLang="en-US" sz="1000" dirty="0"/>
              <a:t> </a:t>
            </a:r>
            <a:r>
              <a:rPr lang="en-GB" altLang="en-US" sz="1000" i="1" dirty="0"/>
              <a:t>et al.</a:t>
            </a:r>
            <a:r>
              <a:rPr lang="en-GB" altLang="en-US" sz="1000" dirty="0"/>
              <a:t>, 2006, </a:t>
            </a:r>
            <a:r>
              <a:rPr lang="en-GB" altLang="en-US" sz="1000" i="1" dirty="0"/>
              <a:t>Science</a:t>
            </a:r>
            <a:r>
              <a:rPr lang="en-GB" altLang="en-US" sz="1000" dirty="0"/>
              <a:t> 311: 1393-1401, </a:t>
            </a:r>
            <a:r>
              <a:rPr lang="en-GB" sz="1000" dirty="0"/>
              <a:t>https://doi.org/10.1126/science.1123013</a:t>
            </a:r>
            <a:r>
              <a:rPr lang="en-GB" altLang="en-US" sz="1000" dirty="0"/>
              <a:t>. For the evolution of this fracture network, see Yin &amp; </a:t>
            </a:r>
            <a:r>
              <a:rPr lang="en-GB" altLang="en-US" sz="1000" dirty="0" err="1"/>
              <a:t>Pappalardo</a:t>
            </a:r>
            <a:r>
              <a:rPr lang="en-GB" altLang="en-US" sz="1000" dirty="0"/>
              <a:t>, 2015, </a:t>
            </a:r>
            <a:r>
              <a:rPr lang="en-GB" altLang="en-US" sz="1000" i="1" dirty="0"/>
              <a:t>Icarus</a:t>
            </a:r>
            <a:r>
              <a:rPr lang="en-GB" altLang="en-US" sz="1000" dirty="0"/>
              <a:t> 260: 409-439, </a:t>
            </a:r>
            <a:r>
              <a:rPr lang="en-GB" sz="1000" dirty="0"/>
              <a:t>https://doi.org/10.1016/j.icarus.2015.07.017</a:t>
            </a:r>
            <a:r>
              <a:rPr lang="en-GB" altLang="en-US" sz="1000" dirty="0"/>
              <a:t>. For an attempt at using the geometry of this fracture network, and in particular the regular spacing (</a:t>
            </a:r>
            <a:r>
              <a:rPr lang="en-GB" altLang="en-US" sz="1000" spc="150" baseline="0" dirty="0"/>
              <a:t>~</a:t>
            </a:r>
            <a:r>
              <a:rPr lang="en-GB" altLang="en-US" sz="1000" dirty="0"/>
              <a:t>35 km) of the four tiger stripes, to infer the thickness of the icy crust of Enceladus, see Yin </a:t>
            </a:r>
            <a:r>
              <a:rPr lang="en-GB" altLang="en-US" sz="1000" i="1" dirty="0"/>
              <a:t>et al.</a:t>
            </a:r>
            <a:r>
              <a:rPr lang="en-GB" altLang="en-US" sz="1000" dirty="0"/>
              <a:t>, 2016, </a:t>
            </a:r>
            <a:r>
              <a:rPr lang="en-GB" altLang="en-US" sz="1000" i="1" dirty="0"/>
              <a:t>Icarus</a:t>
            </a:r>
            <a:r>
              <a:rPr lang="en-GB" altLang="en-US" sz="1000" dirty="0"/>
              <a:t> 266: 204-216, </a:t>
            </a:r>
            <a:r>
              <a:rPr lang="en-GB" sz="1000" dirty="0"/>
              <a:t>https://doi.org/10.1016/j.icarus.2015.10.027</a:t>
            </a:r>
            <a:r>
              <a:rPr lang="en-GB" altLang="en-US" sz="1000" dirty="0"/>
              <a:t> (although much of this paper is rather advanced for 2</a:t>
            </a:r>
            <a:r>
              <a:rPr lang="en-GB" altLang="en-US" sz="1000" baseline="30000" dirty="0"/>
              <a:t>nd</a:t>
            </a:r>
            <a:r>
              <a:rPr lang="en-GB" altLang="en-US" sz="1000" dirty="0"/>
              <a:t> year level). Note also that the spatial distribution of fractures and their length may also be used to infer lithospheric thickness – for application to Enceladus, see </a:t>
            </a:r>
            <a:r>
              <a:rPr lang="en-GB" altLang="en-US" sz="1000" dirty="0" err="1"/>
              <a:t>Lucchetti</a:t>
            </a:r>
            <a:r>
              <a:rPr lang="en-GB" altLang="en-US" sz="1000" dirty="0"/>
              <a:t> </a:t>
            </a:r>
            <a:r>
              <a:rPr lang="en-GB" altLang="en-US" sz="1000" i="1" dirty="0"/>
              <a:t>et al.</a:t>
            </a:r>
            <a:r>
              <a:rPr lang="en-GB" altLang="en-US" sz="1000" i="0" dirty="0"/>
              <a:t>, 2017, </a:t>
            </a:r>
            <a:r>
              <a:rPr lang="en-GB" altLang="en-US" sz="1000" i="1" dirty="0"/>
              <a:t>Icarus</a:t>
            </a:r>
            <a:r>
              <a:rPr lang="en-GB" altLang="en-US" sz="1000" i="0" dirty="0"/>
              <a:t> 297: 252-264, </a:t>
            </a:r>
            <a:r>
              <a:rPr lang="en-GB" sz="1000" dirty="0"/>
              <a:t>https://doi.org/10.1016/j.icarus.2017.07.009</a:t>
            </a:r>
            <a:endParaRPr lang="en-GB" altLang="en-US" sz="1000" dirty="0"/>
          </a:p>
          <a:p>
            <a:pPr marL="108000" indent="-108000">
              <a:spcBef>
                <a:spcPts val="300"/>
              </a:spcBef>
              <a:buFont typeface="Arial" panose="020B0604020202020204" pitchFamily="34" charset="0"/>
              <a:buChar char="•"/>
            </a:pPr>
            <a:r>
              <a:rPr lang="en-GB" altLang="en-US" sz="1000" dirty="0"/>
              <a:t>Faulting on Enceladus outside the south polar region has received much less attention. For a survey of these faults, see Martin, 2016, </a:t>
            </a:r>
            <a:r>
              <a:rPr lang="en-GB" altLang="en-US" sz="1000" i="1" dirty="0"/>
              <a:t>Geophysical Research Letters</a:t>
            </a:r>
            <a:r>
              <a:rPr lang="en-GB" altLang="en-US" sz="1000" dirty="0"/>
              <a:t> 43: 2456-2464, </a:t>
            </a:r>
            <a:r>
              <a:rPr lang="en-GB" sz="1000" dirty="0"/>
              <a:t>https://doi.org/10.1002/2016GL067805</a:t>
            </a:r>
            <a:r>
              <a:rPr lang="en-GB" altLang="en-US" sz="1000" dirty="0"/>
              <a:t>. The origin of these faults is not easily attributable to tidal stresses generated by non-synchronous rotation and is a matter of ongoing research. Note that the lack of offset markers on these faults means that to demonstrate that there is a strike-slip component to the slip vector, attention needs to be paid to secondary fractures associated with the faults (hence the rest of this presentation!)</a:t>
            </a:r>
          </a:p>
          <a:p>
            <a:pPr marL="108000" indent="-108000">
              <a:spcBef>
                <a:spcPts val="300"/>
              </a:spcBef>
              <a:buFont typeface="Arial" panose="020B0604020202020204" pitchFamily="34" charset="0"/>
              <a:buChar char="•"/>
            </a:pPr>
            <a:r>
              <a:rPr lang="en-GB" altLang="en-US" sz="1000" dirty="0"/>
              <a:t>Image right (from http://photojournal.jpl.nasa.gov/catalog/PIA06254): composite image of Enceladus taken by Cassini-Huygens. The four sub-parallel fractures highlighted in darker blue at the bottom of the image are the “tiger stripes”</a:t>
            </a:r>
          </a:p>
          <a:p>
            <a:pPr marL="108000" indent="-108000">
              <a:spcBef>
                <a:spcPts val="300"/>
              </a:spcBef>
              <a:buFont typeface="Arial" panose="020B0604020202020204" pitchFamily="34" charset="0"/>
              <a:buChar char="•"/>
            </a:pPr>
            <a:r>
              <a:rPr lang="en-GB" altLang="en-US" sz="1000" dirty="0"/>
              <a:t>Inset image bottom centre (from http://photojournal.jpl.nasa.gov/catalog/PIA14658): the plume of vapour ejecting from the fractures in the south polar region (north is up and rotated 45° to the right)</a:t>
            </a:r>
          </a:p>
          <a:p>
            <a:pPr marL="108000" indent="-108000">
              <a:spcBef>
                <a:spcPts val="300"/>
              </a:spcBef>
              <a:buFont typeface="Arial" panose="020B0604020202020204" pitchFamily="34" charset="0"/>
              <a:buChar char="•"/>
            </a:pPr>
            <a:r>
              <a:rPr lang="en-GB" altLang="en-US" sz="1000" dirty="0"/>
              <a:t>Inset image bottom centre (from NASA, 2017, </a:t>
            </a:r>
            <a:r>
              <a:rPr lang="en-GB" altLang="en-US" sz="1000" i="1" dirty="0"/>
              <a:t>The Saturn System through the eyes of Cassini</a:t>
            </a:r>
            <a:r>
              <a:rPr lang="en-GB" altLang="en-US" sz="1000" i="0" dirty="0"/>
              <a:t>, available as a free download from www.nasa.gov/ebooks): another Cassini view of the vapour plumes being erupted from the ‘tiger stripe’ faults. The publication that this image came from has a number of images of fracture systems on Enceladus, including a high-resolution image of one of the tiger-stripe faults (p.74)</a:t>
            </a:r>
            <a:endParaRPr lang="en-GB" altLang="en-US" sz="1000" dirty="0"/>
          </a:p>
          <a:p>
            <a:pPr marL="108000" indent="-108000">
              <a:spcBef>
                <a:spcPts val="300"/>
              </a:spcBef>
              <a:buFont typeface="Arial" panose="020B0604020202020204" pitchFamily="34" charset="0"/>
              <a:buChar char="•"/>
            </a:pPr>
            <a:r>
              <a:rPr lang="en-GB" altLang="en-US" sz="1000" dirty="0"/>
              <a:t>Image bottom left (from http://photojournal.jpl.nasa.gov/catalog/PIA20011, with lazy arrows added by Steve Covey-Crump): fractures in a region near to the north pole of Enceladus. The two big craters on the left side of the image are </a:t>
            </a:r>
            <a:r>
              <a:rPr lang="en-GB" altLang="en-US" sz="1000" dirty="0" err="1"/>
              <a:t>Dunyazad</a:t>
            </a:r>
            <a:r>
              <a:rPr lang="en-GB" altLang="en-US" sz="1000" dirty="0"/>
              <a:t> (bottom, 31 km diameter) and Shahrazad (top, 20 km diameter). The slip sense on the top fracture system is inferred by the orientation of the </a:t>
            </a:r>
            <a:r>
              <a:rPr lang="en-GB" altLang="en-US" sz="1000" dirty="0" err="1"/>
              <a:t>en</a:t>
            </a:r>
            <a:r>
              <a:rPr lang="en-GB" altLang="en-US" sz="1000" dirty="0"/>
              <a:t> </a:t>
            </a:r>
            <a:r>
              <a:rPr lang="en-GB" altLang="en-US" sz="1000" dirty="0" err="1"/>
              <a:t>échelon</a:t>
            </a:r>
            <a:r>
              <a:rPr lang="en-GB" altLang="en-US" sz="1000" dirty="0"/>
              <a:t> fractures (which are in Riedel shear (R) orientation, see photo right on Slide 20 for the geometry) – the rather small angle between the </a:t>
            </a:r>
            <a:r>
              <a:rPr lang="en-GB" altLang="en-US" sz="1000" dirty="0" err="1"/>
              <a:t>en</a:t>
            </a:r>
            <a:r>
              <a:rPr lang="en-GB" altLang="en-US" sz="1000" dirty="0"/>
              <a:t> </a:t>
            </a:r>
            <a:r>
              <a:rPr lang="en-GB" altLang="en-US" sz="1000" dirty="0" err="1"/>
              <a:t>échelon</a:t>
            </a:r>
            <a:r>
              <a:rPr lang="en-GB" altLang="en-US" sz="1000" dirty="0"/>
              <a:t> fractures and the shear zone boundaries suggests that the shear zone is </a:t>
            </a:r>
            <a:r>
              <a:rPr lang="en-GB" altLang="en-US" sz="1000" dirty="0" err="1"/>
              <a:t>transtensional</a:t>
            </a:r>
            <a:r>
              <a:rPr lang="en-GB" altLang="en-US" sz="1000" dirty="0"/>
              <a:t> (see Class 4 Slide 36); the slip sense on the lower fracture system is inferred from the imbricate fan of normal faults (horsetail cracks) at each end of the fault (see figure bottom left on Slide 33 for the geometry)</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710AF791-2ADC-4420-97CA-A5838B2699A8}"/>
              </a:ext>
            </a:extLst>
          </p:cNvPr>
          <p:cNvSpPr>
            <a:spLocks noGrp="1" noRot="1" noChangeAspect="1" noChangeArrowheads="1" noTextEdit="1"/>
          </p:cNvSpPr>
          <p:nvPr>
            <p:ph type="sldImg"/>
          </p:nvPr>
        </p:nvSpPr>
        <p:spPr>
          <a:ln/>
        </p:spPr>
      </p:sp>
      <p:sp>
        <p:nvSpPr>
          <p:cNvPr id="381955" name="Rectangle 3">
            <a:extLst>
              <a:ext uri="{FF2B5EF4-FFF2-40B4-BE49-F238E27FC236}">
                <a16:creationId xmlns:a16="http://schemas.microsoft.com/office/drawing/2014/main" id="{D831333D-24B4-4AA1-965B-A4903469AD63}"/>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The concept of stretching faults was introduced by Win Means (Means, 1989, </a:t>
            </a:r>
            <a:r>
              <a:rPr lang="en-GB" altLang="en-US" sz="1000" i="1" dirty="0"/>
              <a:t>Geology</a:t>
            </a:r>
            <a:r>
              <a:rPr lang="en-GB" altLang="en-US" sz="1000" i="0" dirty="0"/>
              <a:t> 17: 893-896, </a:t>
            </a:r>
            <a:r>
              <a:rPr lang="en-GB" sz="1000" dirty="0"/>
              <a:t>https://doi.org/10.1130/0091-7613(1989)017&lt;0893:SF&gt;2.3.CO;2</a:t>
            </a:r>
            <a:r>
              <a:rPr lang="en-GB" altLang="en-US" sz="1000" i="0" dirty="0"/>
              <a:t>; Means, 1990, </a:t>
            </a:r>
            <a:r>
              <a:rPr lang="en-GB" altLang="en-US" sz="1000" i="1" dirty="0"/>
              <a:t>Journal of Structural Geology</a:t>
            </a:r>
            <a:r>
              <a:rPr lang="en-GB" altLang="en-US" sz="1000" i="0" dirty="0"/>
              <a:t> 12: 267-272, </a:t>
            </a:r>
            <a:r>
              <a:rPr lang="en-GB" sz="1000" dirty="0"/>
              <a:t>https://doi.org/10.1016/0191-8141(90)90010-V</a:t>
            </a:r>
            <a:r>
              <a:rPr lang="en-GB" altLang="en-US" sz="1000" i="0" dirty="0"/>
              <a:t>).</a:t>
            </a:r>
            <a:r>
              <a:rPr lang="en-GB" altLang="en-US" sz="1000" dirty="0"/>
              <a:t> They are effectively surfaces across which there is a displacement velocity discontinuity. For a stretching fault, fault slip and the deformation of the “blocks” either side of the fault are geometrically independent, albeit driven by the same remote loads. Hence recognizing a fault as a stretching fault has significant implications for understanding the development of fabrics and minor structures associated with the fault, </a:t>
            </a:r>
            <a:r>
              <a:rPr lang="en-GB" altLang="en-US" sz="1000" i="1" dirty="0"/>
              <a:t>e.g.</a:t>
            </a:r>
            <a:r>
              <a:rPr lang="en-GB" altLang="en-US" sz="1000" dirty="0"/>
              <a:t>, the stretching component may lead to a fault-parallel cleavage (extensional parallel to the fault) or a fault-normal cleavage (contractional parallel to the fault) associated with the deformation of the blocks either side of the fault, instead o</a:t>
            </a:r>
            <a:r>
              <a:rPr lang="en-GB" altLang="en-US" sz="1000" spc="150" baseline="0" dirty="0"/>
              <a:t>f/</a:t>
            </a:r>
            <a:r>
              <a:rPr lang="en-GB" altLang="en-US" sz="1000" dirty="0"/>
              <a:t>in addition to the fabrics described in the rest of this presentation which are produced by the slip. It also has implications for attempts to model the deformation</a:t>
            </a:r>
          </a:p>
          <a:p>
            <a:pPr marL="108000" indent="-108000">
              <a:spcBef>
                <a:spcPts val="300"/>
              </a:spcBef>
              <a:buFont typeface="Arial" panose="020B0604020202020204" pitchFamily="34" charset="0"/>
              <a:buChar char="•"/>
            </a:pPr>
            <a:r>
              <a:rPr lang="en-GB" altLang="en-US" sz="1000" dirty="0"/>
              <a:t>For further discussion, illustrated with examples of strike-slip stretching faults, see Rutter &amp; </a:t>
            </a:r>
            <a:r>
              <a:rPr lang="en-GB" altLang="en-US" sz="1000" dirty="0" err="1"/>
              <a:t>Valetti</a:t>
            </a:r>
            <a:r>
              <a:rPr lang="en-GB" altLang="en-US" sz="1000" dirty="0"/>
              <a:t>, 2019, </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in: Duarte JC (editor), </a:t>
            </a:r>
            <a:r>
              <a:rPr lang="en-GB" altLang="en-US" sz="1000" i="1" dirty="0">
                <a:latin typeface="Times New Roman" panose="02020603050405020304" pitchFamily="18" charset="0"/>
                <a:ea typeface="Cambria Math" panose="02040503050406030204" pitchFamily="18" charset="0"/>
                <a:cs typeface="Times New Roman" panose="02020603050405020304" pitchFamily="18" charset="0"/>
              </a:rPr>
              <a:t>Transform Plate Boundaries and Fracture Zones</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p.301-320, </a:t>
            </a:r>
            <a:r>
              <a:rPr lang="en-GB" sz="1000" dirty="0"/>
              <a:t>https://doi.org/10.1016/B978-0-12-812064-4.00012-8</a:t>
            </a:r>
            <a:endParaRPr lang="en-GB" altLang="en-US" sz="1000" i="0" dirty="0">
              <a:latin typeface="Times New Roman" panose="02020603050405020304" pitchFamily="18" charset="0"/>
              <a:ea typeface="Cambria Math" panose="020405030504060302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Figure from </a:t>
            </a:r>
            <a:r>
              <a:rPr lang="en-GB" altLang="en-US" sz="1000" dirty="0"/>
              <a:t>Rutter </a:t>
            </a:r>
            <a:r>
              <a:rPr lang="en-GB" altLang="en-US" sz="1000" i="1" dirty="0"/>
              <a:t>et al.</a:t>
            </a:r>
            <a:r>
              <a:rPr lang="en-GB" altLang="en-US" sz="1000" dirty="0"/>
              <a:t>, 2012, </a:t>
            </a:r>
            <a:r>
              <a:rPr lang="en-GB" altLang="en-US" sz="1000" i="1" dirty="0"/>
              <a:t>Journal of Structural Geology</a:t>
            </a:r>
            <a:r>
              <a:rPr lang="en-GB" altLang="en-US" sz="1000" dirty="0"/>
              <a:t> 45: 68-86, </a:t>
            </a:r>
            <a:r>
              <a:rPr lang="en-GB" sz="1000" dirty="0"/>
              <a:t>https://doi.org/10.1016/j.jsg.2012.08.009</a:t>
            </a:r>
            <a:endParaRPr lang="en-GB" altLang="en-US" sz="1000" dirty="0"/>
          </a:p>
          <a:p>
            <a:pPr marL="0" indent="0">
              <a:spcBef>
                <a:spcPts val="300"/>
              </a:spcBef>
              <a:buFont typeface="Arial" panose="020B0604020202020204" pitchFamily="34" charset="0"/>
              <a:buNone/>
            </a:pPr>
            <a:endParaRPr lang="en-GB" altLang="en-US" sz="1000" dirty="0"/>
          </a:p>
        </p:txBody>
      </p:sp>
    </p:spTree>
    <p:extLst>
      <p:ext uri="{BB962C8B-B14F-4D97-AF65-F5344CB8AC3E}">
        <p14:creationId xmlns:p14="http://schemas.microsoft.com/office/powerpoint/2010/main" val="66011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4106AC15-DEE2-4797-8D0C-E83F6E30EE8D}" type="slidenum">
              <a:rPr lang="en-GB" altLang="en-US" smtClean="0"/>
              <a:pPr/>
              <a:t>18</a:t>
            </a:fld>
            <a:endParaRPr lang="en-GB" altLang="en-US"/>
          </a:p>
        </p:txBody>
      </p:sp>
    </p:spTree>
    <p:extLst>
      <p:ext uri="{BB962C8B-B14F-4D97-AF65-F5344CB8AC3E}">
        <p14:creationId xmlns:p14="http://schemas.microsoft.com/office/powerpoint/2010/main" val="1260452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a:extLst>
              <a:ext uri="{FF2B5EF4-FFF2-40B4-BE49-F238E27FC236}">
                <a16:creationId xmlns:a16="http://schemas.microsoft.com/office/drawing/2014/main" id="{2903CE4D-B065-4AF6-A471-9818B5EC838F}"/>
              </a:ext>
            </a:extLst>
          </p:cNvPr>
          <p:cNvSpPr>
            <a:spLocks noGrp="1" noRot="1" noChangeAspect="1" noChangeArrowheads="1" noTextEdit="1"/>
          </p:cNvSpPr>
          <p:nvPr>
            <p:ph type="sldImg"/>
          </p:nvPr>
        </p:nvSpPr>
        <p:spPr>
          <a:ln/>
        </p:spPr>
      </p:sp>
      <p:sp>
        <p:nvSpPr>
          <p:cNvPr id="279555" name="Rectangle 3">
            <a:extLst>
              <a:ext uri="{FF2B5EF4-FFF2-40B4-BE49-F238E27FC236}">
                <a16:creationId xmlns:a16="http://schemas.microsoft.com/office/drawing/2014/main" id="{0FA43E01-EFA1-4BD4-8A02-D3E9DC3566B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Recall that X is the long axis of the strain ellipsoid and Z is the short axis of the strain ellipsoid, that is, X is the direction of greatest extension and Z is the direction of greatest shortening (see Slide 37 or Class 3 Slide 15). For the orientation of X and Z across a shear zone, see Class 4 Slide 12. On shortening and extension directions during progressive simple shear, see Class 3 Slides 21-23</a:t>
            </a:r>
          </a:p>
          <a:p>
            <a:pPr marL="108000" indent="-108000">
              <a:spcBef>
                <a:spcPts val="300"/>
              </a:spcBef>
              <a:buFont typeface="Arial" panose="020B0604020202020204" pitchFamily="34" charset="0"/>
              <a:buChar char="•"/>
            </a:pPr>
            <a:r>
              <a:rPr lang="en-GB" altLang="en-US" sz="1000" dirty="0"/>
              <a:t>To the </a:t>
            </a:r>
            <a:r>
              <a:rPr lang="en-GB" altLang="en-US" sz="1000" dirty="0" err="1"/>
              <a:t>transpression</a:t>
            </a:r>
            <a:r>
              <a:rPr lang="en-GB" altLang="en-US" sz="1000" dirty="0"/>
              <a:t> and </a:t>
            </a:r>
            <a:r>
              <a:rPr lang="en-GB" altLang="en-US" sz="1000" dirty="0" err="1"/>
              <a:t>transtension</a:t>
            </a:r>
            <a:r>
              <a:rPr lang="en-GB" altLang="en-US" sz="1000" dirty="0"/>
              <a:t> variants (contraction or extension normal to the fault) we may also add the case where the rocks on either side of the fault deform by different amounts, that is, the stretching fault variant (extension or contraction component parallel to the fault, see Slide 17)</a:t>
            </a:r>
          </a:p>
          <a:p>
            <a:pPr marL="108000" indent="-108000">
              <a:spcBef>
                <a:spcPts val="300"/>
              </a:spcBef>
              <a:buFont typeface="Arial" panose="020B0604020202020204" pitchFamily="34" charset="0"/>
              <a:buChar char="•"/>
            </a:pPr>
            <a:r>
              <a:rPr lang="en-GB" altLang="en-US" sz="1000" dirty="0"/>
              <a:t>Figure top right from Fossen, p.342</a:t>
            </a:r>
          </a:p>
          <a:p>
            <a:pPr marL="108000" indent="-108000">
              <a:spcBef>
                <a:spcPts val="300"/>
              </a:spcBef>
              <a:buFont typeface="Arial" panose="020B0604020202020204" pitchFamily="34" charset="0"/>
              <a:buChar char="•"/>
            </a:pPr>
            <a:r>
              <a:rPr lang="en-GB" altLang="en-US" sz="1000" dirty="0"/>
              <a:t>Figure bottom left from Twiss &amp; </a:t>
            </a:r>
            <a:r>
              <a:rPr lang="en-GB" altLang="en-US" sz="1000" dirty="0" err="1"/>
              <a:t>Moores</a:t>
            </a:r>
            <a:r>
              <a:rPr lang="en-GB" altLang="en-US" sz="1000" dirty="0"/>
              <a:t>, p.148</a:t>
            </a:r>
          </a:p>
          <a:p>
            <a:pPr marL="108000" indent="-108000">
              <a:spcBef>
                <a:spcPts val="300"/>
              </a:spcBef>
              <a:buFont typeface="Arial" panose="020B0604020202020204" pitchFamily="34" charset="0"/>
              <a:buChar char="•"/>
            </a:pPr>
            <a:r>
              <a:rPr lang="en-GB" altLang="en-US" sz="1000" dirty="0"/>
              <a:t>Figures bottom right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a:extLst>
              <a:ext uri="{FF2B5EF4-FFF2-40B4-BE49-F238E27FC236}">
                <a16:creationId xmlns:a16="http://schemas.microsoft.com/office/drawing/2014/main" id="{63507769-9142-4BC7-8D87-BA2AA8AA9A1C}"/>
              </a:ext>
            </a:extLst>
          </p:cNvPr>
          <p:cNvSpPr>
            <a:spLocks noGrp="1" noRot="1" noChangeAspect="1" noChangeArrowheads="1" noTextEdit="1"/>
          </p:cNvSpPr>
          <p:nvPr>
            <p:ph type="sldImg"/>
          </p:nvPr>
        </p:nvSpPr>
        <p:spPr>
          <a:ln/>
        </p:spPr>
      </p:sp>
      <p:sp>
        <p:nvSpPr>
          <p:cNvPr id="282627" name="Rectangle 3">
            <a:extLst>
              <a:ext uri="{FF2B5EF4-FFF2-40B4-BE49-F238E27FC236}">
                <a16:creationId xmlns:a16="http://schemas.microsoft.com/office/drawing/2014/main" id="{30CB7A37-62AE-4263-B644-EFFF7A1284C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review of analogue models used to explore the evolution of structures within strike-slip fault zones, see Dooley &amp; </a:t>
            </a:r>
            <a:r>
              <a:rPr lang="en-GB" altLang="en-US" sz="1000" dirty="0" err="1"/>
              <a:t>Schreurs</a:t>
            </a:r>
            <a:r>
              <a:rPr lang="en-GB" altLang="en-US" sz="1000" dirty="0"/>
              <a:t>, 2012, </a:t>
            </a:r>
            <a:r>
              <a:rPr lang="en-GB" altLang="en-US" sz="1000" i="1" dirty="0"/>
              <a:t>Tectonophysics</a:t>
            </a:r>
            <a:r>
              <a:rPr lang="en-GB" altLang="en-US" sz="1000" dirty="0"/>
              <a:t> 574-575: 1-71, </a:t>
            </a:r>
            <a:r>
              <a:rPr lang="en-GB" sz="1000" dirty="0"/>
              <a:t>https://doi.org/10.1016/j.tecto.2012.05.030</a:t>
            </a:r>
            <a:endParaRPr lang="en-GB" altLang="en-US" sz="1000" dirty="0"/>
          </a:p>
          <a:p>
            <a:pPr marL="108000" indent="-108000">
              <a:spcBef>
                <a:spcPts val="300"/>
              </a:spcBef>
              <a:buFont typeface="Arial" panose="020B0604020202020204" pitchFamily="34" charset="0"/>
              <a:buChar char="•"/>
            </a:pPr>
            <a:r>
              <a:rPr lang="en-GB" altLang="en-US" sz="1000" dirty="0"/>
              <a:t>Figure top right (from </a:t>
            </a:r>
            <a:r>
              <a:rPr lang="en-GB" altLang="en-US" sz="1000" dirty="0" err="1"/>
              <a:t>Tchalenko</a:t>
            </a:r>
            <a:r>
              <a:rPr lang="en-GB" altLang="en-US" sz="1000" dirty="0"/>
              <a:t>, 1970, </a:t>
            </a:r>
            <a:r>
              <a:rPr lang="en-GB" altLang="en-US" sz="1000" i="1" dirty="0"/>
              <a:t>Geological Society of America Bulletin</a:t>
            </a:r>
            <a:r>
              <a:rPr lang="en-GB" altLang="en-US" sz="1000" dirty="0"/>
              <a:t> 81: 1625-1640, </a:t>
            </a:r>
            <a:r>
              <a:rPr lang="en-GB" sz="1000" dirty="0"/>
              <a:t>https://doi.org/10.1130/0016-7606(1970)81[1625:SBSZOD]2.0.CO;2</a:t>
            </a:r>
            <a:r>
              <a:rPr lang="en-GB" altLang="en-US" sz="1000" dirty="0"/>
              <a:t>) showing the set up of a Riedel experiment</a:t>
            </a:r>
          </a:p>
          <a:p>
            <a:pPr marL="108000" indent="-108000">
              <a:spcBef>
                <a:spcPts val="300"/>
              </a:spcBef>
              <a:buFont typeface="Arial" panose="020B0604020202020204" pitchFamily="34" charset="0"/>
              <a:buChar char="•"/>
            </a:pPr>
            <a:r>
              <a:rPr lang="en-GB" altLang="en-US" sz="1000" dirty="0"/>
              <a:t>Figure bottom right (from Richard </a:t>
            </a:r>
            <a:r>
              <a:rPr lang="en-GB" altLang="en-US" sz="1000" i="1" dirty="0"/>
              <a:t>et al.</a:t>
            </a:r>
            <a:r>
              <a:rPr lang="en-GB" altLang="en-US" sz="1000" dirty="0"/>
              <a:t>, 1995, </a:t>
            </a:r>
            <a:r>
              <a:rPr lang="en-GB" altLang="en-US" sz="1000" i="1" dirty="0"/>
              <a:t>Petroleum Geoscience</a:t>
            </a:r>
            <a:r>
              <a:rPr lang="en-GB" altLang="en-US" sz="1000" dirty="0"/>
              <a:t> 1: 71-80, </a:t>
            </a:r>
            <a:r>
              <a:rPr lang="en-GB" sz="1000" dirty="0"/>
              <a:t>https://doi.org/10.1144/petgeo.1.1.71</a:t>
            </a:r>
            <a:r>
              <a:rPr lang="en-GB" altLang="en-US" sz="1000" dirty="0"/>
              <a:t>) showing a plan view of the results of a Riedel experiment in which a thick layer of dry sand was used for the cover instead of clay. The shear offset is apparent from the deflection of the lines running top to bottom in the image. Note the prominent fracture set formed oblique to the shear zone boundaries. These are Riedel shears (see next slide)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a:extLst>
              <a:ext uri="{FF2B5EF4-FFF2-40B4-BE49-F238E27FC236}">
                <a16:creationId xmlns:a16="http://schemas.microsoft.com/office/drawing/2014/main" id="{2118962B-F798-48B4-814A-FC4AE1A36079}"/>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1389ADF8-A324-456F-8366-4B1C2B60163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top left from </a:t>
            </a:r>
            <a:r>
              <a:rPr lang="en-GB" altLang="en-US" sz="1000" dirty="0" err="1">
                <a:latin typeface="Times New Roman" panose="02020603050405020304" pitchFamily="18" charset="0"/>
                <a:cs typeface="Times New Roman" panose="02020603050405020304" pitchFamily="18" charset="0"/>
              </a:rPr>
              <a:t>Tchalenko</a:t>
            </a:r>
            <a:r>
              <a:rPr lang="en-GB" altLang="en-US" sz="1000" dirty="0">
                <a:latin typeface="Times New Roman" panose="02020603050405020304" pitchFamily="18" charset="0"/>
                <a:cs typeface="Times New Roman" panose="02020603050405020304" pitchFamily="18" charset="0"/>
              </a:rPr>
              <a:t>, 1970, </a:t>
            </a:r>
            <a:r>
              <a:rPr lang="en-GB" altLang="en-US" sz="1000" i="1" dirty="0">
                <a:latin typeface="Times New Roman" panose="02020603050405020304" pitchFamily="18" charset="0"/>
                <a:cs typeface="Times New Roman" panose="02020603050405020304" pitchFamily="18" charset="0"/>
              </a:rPr>
              <a:t>Geological Society of America Bulletin</a:t>
            </a:r>
            <a:r>
              <a:rPr lang="en-GB" altLang="en-US" sz="1000" dirty="0">
                <a:latin typeface="Times New Roman" panose="02020603050405020304" pitchFamily="18" charset="0"/>
                <a:cs typeface="Times New Roman" panose="02020603050405020304" pitchFamily="18" charset="0"/>
              </a:rPr>
              <a:t> 81: 1625-1640</a:t>
            </a:r>
            <a:r>
              <a:rPr lang="en-GB" altLang="en-US" sz="1000" dirty="0"/>
              <a:t>, </a:t>
            </a:r>
            <a:r>
              <a:rPr lang="en-GB" sz="1000" dirty="0"/>
              <a:t>https://doi.org/10.1130/0016-7606(1970)81[1625:SBSZOD]2.0.CO;2</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bottom left by Steve Covey-Crump. Recall that in a simple shear zone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is at 45° to the shear zone boundary. Faults form at </a:t>
            </a:r>
            <a:r>
              <a:rPr lang="en-GB" altLang="en-US" sz="1000" spc="150" baseline="0"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30° to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(see Class 7 Slide 22). Hence in an ideal simple shear zone, the R-shears are at 15° to the shear zone boundary and the R´ shears are at 75°. In </a:t>
            </a:r>
            <a:r>
              <a:rPr lang="en-GB" altLang="en-US" sz="1000" dirty="0" err="1">
                <a:latin typeface="Times New Roman" panose="02020603050405020304" pitchFamily="18" charset="0"/>
                <a:cs typeface="Times New Roman" panose="02020603050405020304" pitchFamily="18" charset="0"/>
              </a:rPr>
              <a:t>transpressional</a:t>
            </a:r>
            <a:r>
              <a:rPr lang="en-GB" altLang="en-US" sz="1000" dirty="0">
                <a:latin typeface="Times New Roman" panose="02020603050405020304" pitchFamily="18" charset="0"/>
                <a:cs typeface="Times New Roman" panose="02020603050405020304" pitchFamily="18" charset="0"/>
              </a:rPr>
              <a:t> or </a:t>
            </a:r>
            <a:r>
              <a:rPr lang="en-GB" altLang="en-US" sz="1000" dirty="0" err="1">
                <a:latin typeface="Times New Roman" panose="02020603050405020304" pitchFamily="18" charset="0"/>
                <a:cs typeface="Times New Roman" panose="02020603050405020304" pitchFamily="18" charset="0"/>
              </a:rPr>
              <a:t>transtensional</a:t>
            </a:r>
            <a:r>
              <a:rPr lang="en-GB" altLang="en-US" sz="1000" dirty="0">
                <a:latin typeface="Times New Roman" panose="02020603050405020304" pitchFamily="18" charset="0"/>
                <a:cs typeface="Times New Roman" panose="02020603050405020304" pitchFamily="18" charset="0"/>
              </a:rPr>
              <a:t> shear zones these angles are modified by the amount of shortenin</a:t>
            </a:r>
            <a:r>
              <a:rPr lang="en-GB" altLang="en-US" sz="1000" spc="150" baseline="0" dirty="0">
                <a:latin typeface="Times New Roman" panose="02020603050405020304" pitchFamily="18" charset="0"/>
                <a:cs typeface="Times New Roman" panose="02020603050405020304" pitchFamily="18" charset="0"/>
              </a:rPr>
              <a:t>g/</a:t>
            </a:r>
            <a:r>
              <a:rPr lang="en-GB" altLang="en-US" sz="1000" dirty="0">
                <a:latin typeface="Times New Roman" panose="02020603050405020304" pitchFamily="18" charset="0"/>
                <a:cs typeface="Times New Roman" panose="02020603050405020304" pitchFamily="18" charset="0"/>
              </a:rPr>
              <a:t>extension normal to the fault boundary that is simultaneously applied (see Class 4 Slide 36)</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latin typeface="Times New Roman" panose="02020603050405020304" pitchFamily="18" charset="0"/>
                <a:cs typeface="Times New Roman" panose="02020603050405020304" pitchFamily="18" charset="0"/>
              </a:rPr>
              <a:t>Photo right (cover photo for the May 2011 issue of </a:t>
            </a:r>
            <a:r>
              <a:rPr lang="en-GB" altLang="en-US" sz="1000" i="1" dirty="0">
                <a:latin typeface="Times New Roman" panose="02020603050405020304" pitchFamily="18" charset="0"/>
                <a:cs typeface="Times New Roman" panose="02020603050405020304" pitchFamily="18" charset="0"/>
              </a:rPr>
              <a:t>Quarterly Journal of Engineering Geology and Hydrology</a:t>
            </a:r>
            <a:r>
              <a:rPr lang="en-GB" altLang="en-US" sz="1000" dirty="0">
                <a:latin typeface="Times New Roman" panose="02020603050405020304" pitchFamily="18" charset="0"/>
                <a:cs typeface="Times New Roman" panose="02020603050405020304" pitchFamily="18" charset="0"/>
              </a:rPr>
              <a:t>) showing the development of Riedel shears in soils above the Greendale Fault at Darfield, about 40 km west of Christchurch, New Zealand. This photo was taken on 4 September 2010 about 12 hours after a magnitude 7.1 earthquake had occurred on the fault. This earthquake was the first of several that led to widespread destruction within Christchurch. For further details, including numerous photographs, see Barrell </a:t>
            </a:r>
            <a:r>
              <a:rPr lang="en-GB" altLang="en-US" sz="1000" i="1" dirty="0">
                <a:latin typeface="Times New Roman" panose="02020603050405020304" pitchFamily="18" charset="0"/>
                <a:cs typeface="Times New Roman" panose="02020603050405020304" pitchFamily="18" charset="0"/>
              </a:rPr>
              <a:t>et al.</a:t>
            </a:r>
            <a:r>
              <a:rPr lang="en-GB" altLang="en-US" sz="1000" dirty="0">
                <a:latin typeface="Times New Roman" panose="02020603050405020304" pitchFamily="18" charset="0"/>
                <a:cs typeface="Times New Roman" panose="02020603050405020304" pitchFamily="18" charset="0"/>
              </a:rPr>
              <a:t>, 2011, </a:t>
            </a:r>
            <a:r>
              <a:rPr lang="en-GB" altLang="en-US" sz="1000" i="1" dirty="0">
                <a:latin typeface="Times New Roman" panose="02020603050405020304" pitchFamily="18" charset="0"/>
                <a:cs typeface="Times New Roman" panose="02020603050405020304" pitchFamily="18" charset="0"/>
              </a:rPr>
              <a:t>Quarterly Journal of Engineering Geology and Hydrology</a:t>
            </a:r>
            <a:r>
              <a:rPr lang="en-GB" altLang="en-US" sz="1000" dirty="0">
                <a:latin typeface="Times New Roman" panose="02020603050405020304" pitchFamily="18" charset="0"/>
                <a:cs typeface="Times New Roman" panose="02020603050405020304" pitchFamily="18" charset="0"/>
              </a:rPr>
              <a:t> 44: 283-291, </a:t>
            </a:r>
            <a:r>
              <a:rPr lang="en-GB" sz="1000" dirty="0"/>
              <a:t>https://doi.org/10.1144/1470-9236/11-034</a:t>
            </a:r>
            <a:r>
              <a:rPr lang="en-GB" altLang="en-US" sz="1000" dirty="0">
                <a:latin typeface="Times New Roman" panose="02020603050405020304" pitchFamily="18" charset="0"/>
                <a:cs typeface="Times New Roman" panose="02020603050405020304" pitchFamily="18" charset="0"/>
              </a:rPr>
              <a:t>, and </a:t>
            </a:r>
            <a:r>
              <a:rPr lang="en-GB" altLang="en-US" sz="1000" dirty="0" err="1">
                <a:latin typeface="Times New Roman" panose="02020603050405020304" pitchFamily="18" charset="0"/>
                <a:cs typeface="Times New Roman" panose="02020603050405020304" pitchFamily="18" charset="0"/>
              </a:rPr>
              <a:t>Hornblow</a:t>
            </a:r>
            <a:r>
              <a:rPr lang="en-GB" altLang="en-US" sz="100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et al</a:t>
            </a:r>
            <a:r>
              <a:rPr lang="en-GB" altLang="en-US" sz="1000" dirty="0">
                <a:latin typeface="Times New Roman" panose="02020603050405020304" pitchFamily="18" charset="0"/>
                <a:cs typeface="Times New Roman" panose="02020603050405020304" pitchFamily="18" charset="0"/>
              </a:rPr>
              <a:t>., 2014, </a:t>
            </a:r>
            <a:r>
              <a:rPr lang="en-GB" altLang="en-US" sz="1000" i="1" dirty="0">
                <a:latin typeface="Times New Roman" panose="02020603050405020304" pitchFamily="18" charset="0"/>
                <a:cs typeface="Times New Roman" panose="02020603050405020304" pitchFamily="18" charset="0"/>
              </a:rPr>
              <a:t>Tectonophysics</a:t>
            </a:r>
            <a:r>
              <a:rPr lang="en-GB" altLang="en-US" sz="1000" dirty="0">
                <a:latin typeface="Times New Roman" panose="02020603050405020304" pitchFamily="18" charset="0"/>
                <a:cs typeface="Times New Roman" panose="02020603050405020304" pitchFamily="18" charset="0"/>
              </a:rPr>
              <a:t> 637: 178-190, </a:t>
            </a:r>
            <a:r>
              <a:rPr lang="en-GB" sz="1000" dirty="0"/>
              <a:t>https://doi.org/10.1016/j.tecto.2014.10.004</a:t>
            </a:r>
            <a:endParaRPr lang="en-GB" altLang="en-US" sz="1000" dirty="0">
              <a:latin typeface="Times New Roman" panose="02020603050405020304" pitchFamily="18" charset="0"/>
              <a:cs typeface="Times New Roman" panose="02020603050405020304" pitchFamily="18" charset="0"/>
            </a:endParaRP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a:extLst>
              <a:ext uri="{FF2B5EF4-FFF2-40B4-BE49-F238E27FC236}">
                <a16:creationId xmlns:a16="http://schemas.microsoft.com/office/drawing/2014/main" id="{963FF2B3-2AB7-424C-AC76-88012AA260BC}"/>
              </a:ext>
            </a:extLst>
          </p:cNvPr>
          <p:cNvSpPr>
            <a:spLocks noGrp="1" noRot="1" noChangeAspect="1" noChangeArrowheads="1" noTextEdit="1"/>
          </p:cNvSpPr>
          <p:nvPr>
            <p:ph type="sldImg"/>
          </p:nvPr>
        </p:nvSpPr>
        <p:spPr>
          <a:ln/>
        </p:spPr>
      </p:sp>
      <p:sp>
        <p:nvSpPr>
          <p:cNvPr id="348163" name="Rectangle 3">
            <a:extLst>
              <a:ext uri="{FF2B5EF4-FFF2-40B4-BE49-F238E27FC236}">
                <a16:creationId xmlns:a16="http://schemas.microsoft.com/office/drawing/2014/main" id="{71B30AF6-5AB3-4690-AD5B-4C48362B78C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We noted all these fractures when considering the fabrics that form in clay-bearing fault gouges (Class 4 Slide 45)</a:t>
            </a:r>
          </a:p>
          <a:p>
            <a:pPr marL="108000" indent="-108000">
              <a:spcBef>
                <a:spcPts val="300"/>
              </a:spcBef>
              <a:buFont typeface="Arial" panose="020B0604020202020204" pitchFamily="34" charset="0"/>
              <a:buChar char="•"/>
            </a:pPr>
            <a:r>
              <a:rPr lang="en-GB" altLang="en-US" sz="1000" dirty="0"/>
              <a:t>Figures top and bottom by Steve Covey-Crump</a:t>
            </a:r>
          </a:p>
          <a:p>
            <a:pPr marL="108000" indent="-108000">
              <a:spcBef>
                <a:spcPts val="300"/>
              </a:spcBef>
              <a:buFont typeface="Arial" panose="020B0604020202020204" pitchFamily="34" charset="0"/>
              <a:buChar char="•"/>
            </a:pPr>
            <a:r>
              <a:rPr lang="en-GB" altLang="en-US" sz="1000" dirty="0"/>
              <a:t>Figure middle by Twiss &amp; </a:t>
            </a:r>
            <a:r>
              <a:rPr lang="en-GB" altLang="en-US" sz="1000" dirty="0" err="1"/>
              <a:t>Moores</a:t>
            </a:r>
            <a:r>
              <a:rPr lang="en-GB" altLang="en-US" sz="1000" dirty="0"/>
              <a:t>, p.138</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a:extLst>
              <a:ext uri="{FF2B5EF4-FFF2-40B4-BE49-F238E27FC236}">
                <a16:creationId xmlns:a16="http://schemas.microsoft.com/office/drawing/2014/main" id="{5502C6D9-F689-41CB-A89C-1701603240BD}"/>
              </a:ext>
            </a:extLst>
          </p:cNvPr>
          <p:cNvSpPr>
            <a:spLocks noGrp="1" noRot="1" noChangeAspect="1" noChangeArrowheads="1" noTextEdit="1"/>
          </p:cNvSpPr>
          <p:nvPr>
            <p:ph type="sldImg"/>
          </p:nvPr>
        </p:nvSpPr>
        <p:spPr>
          <a:ln/>
        </p:spPr>
      </p:sp>
      <p:sp>
        <p:nvSpPr>
          <p:cNvPr id="295939" name="Rectangle 3">
            <a:extLst>
              <a:ext uri="{FF2B5EF4-FFF2-40B4-BE49-F238E27FC236}">
                <a16:creationId xmlns:a16="http://schemas.microsoft.com/office/drawing/2014/main" id="{053E0DA4-19F9-4E5B-9201-8C0DDF09B45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Central figure redrawn by Steve Covey-Crump from an original in Fischer &amp; Coward, 1982, </a:t>
            </a:r>
            <a:r>
              <a:rPr lang="en-GB" altLang="en-US" sz="1000" i="1" dirty="0"/>
              <a:t>Tectonophysics</a:t>
            </a:r>
            <a:r>
              <a:rPr lang="en-GB" altLang="en-US" sz="1000" dirty="0"/>
              <a:t> 88: 291-312, </a:t>
            </a:r>
            <a:r>
              <a:rPr lang="en-GB" sz="1000" dirty="0"/>
              <a:t>https://doi.org/10.1016/0040-1951(82)90241-4</a:t>
            </a:r>
            <a:endParaRPr lang="en-GB" altLang="en-US" sz="1000" dirty="0"/>
          </a:p>
          <a:p>
            <a:pPr marL="108000" indent="-108000">
              <a:spcBef>
                <a:spcPts val="300"/>
              </a:spcBef>
              <a:buFont typeface="Arial" panose="020B0604020202020204" pitchFamily="34" charset="0"/>
              <a:buChar char="•"/>
            </a:pPr>
            <a:r>
              <a:rPr lang="en-GB" altLang="en-US" sz="1000" dirty="0"/>
              <a:t>Side figures from Sylvester, p.1680</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a:extLst>
              <a:ext uri="{FF2B5EF4-FFF2-40B4-BE49-F238E27FC236}">
                <a16:creationId xmlns:a16="http://schemas.microsoft.com/office/drawing/2014/main" id="{0120A648-1312-46B3-8700-103BE4D19E26}"/>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071A6B80-194A-4F8E-8FE7-AD8F3D16F77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left from Sylvester, p.1681</a:t>
            </a:r>
          </a:p>
          <a:p>
            <a:pPr marL="108000" indent="-108000">
              <a:spcBef>
                <a:spcPts val="300"/>
              </a:spcBef>
              <a:buFont typeface="Arial" panose="020B0604020202020204" pitchFamily="34" charset="0"/>
              <a:buChar char="•"/>
            </a:pPr>
            <a:r>
              <a:rPr lang="en-GB" altLang="en-US" sz="1000" dirty="0"/>
              <a:t>Figure right from Price &amp; Cosgrove, p.146. Price &amp; Cosgrove, p.146, describe wax experiments designed to investigate the geometry of folds in cover units over a basement strike-slip fault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C8F8B214-9C5E-403E-8B64-1F74D76EF66F}"/>
              </a:ext>
            </a:extLst>
          </p:cNvPr>
          <p:cNvSpPr>
            <a:spLocks noGrp="1" noRot="1" noChangeAspect="1" noChangeArrowheads="1" noTextEdit="1"/>
          </p:cNvSpPr>
          <p:nvPr>
            <p:ph type="sldImg"/>
          </p:nvPr>
        </p:nvSpPr>
        <p:spPr>
          <a:ln/>
        </p:spPr>
      </p:sp>
      <p:sp>
        <p:nvSpPr>
          <p:cNvPr id="349187" name="Rectangle 3">
            <a:extLst>
              <a:ext uri="{FF2B5EF4-FFF2-40B4-BE49-F238E27FC236}">
                <a16:creationId xmlns:a16="http://schemas.microsoft.com/office/drawing/2014/main" id="{E2954121-E2EA-4E88-A264-12059871DB5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Releasing stepovers and restraining stepovers are more commonly described as extensional transfer zones and contractional transfer zones, respectively (see Class 7, Slide 42)</a:t>
            </a:r>
          </a:p>
          <a:p>
            <a:pPr marL="108000" indent="-108000">
              <a:spcBef>
                <a:spcPts val="300"/>
              </a:spcBef>
              <a:buFont typeface="Arial" panose="020B0604020202020204" pitchFamily="34" charset="0"/>
              <a:buChar char="•"/>
            </a:pPr>
            <a:r>
              <a:rPr lang="en-GB" altLang="en-US" sz="1000" dirty="0"/>
              <a:t>Figure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a:extLst>
              <a:ext uri="{FF2B5EF4-FFF2-40B4-BE49-F238E27FC236}">
                <a16:creationId xmlns:a16="http://schemas.microsoft.com/office/drawing/2014/main" id="{2F849EE7-6E7D-485F-BFE9-78A7CFCA6628}"/>
              </a:ext>
            </a:extLst>
          </p:cNvPr>
          <p:cNvSpPr>
            <a:spLocks noGrp="1" noRot="1" noChangeAspect="1" noChangeArrowheads="1" noTextEdit="1"/>
          </p:cNvSpPr>
          <p:nvPr>
            <p:ph type="sldImg"/>
          </p:nvPr>
        </p:nvSpPr>
        <p:spPr>
          <a:ln/>
        </p:spPr>
      </p:sp>
      <p:sp>
        <p:nvSpPr>
          <p:cNvPr id="350211" name="Rectangle 3">
            <a:extLst>
              <a:ext uri="{FF2B5EF4-FFF2-40B4-BE49-F238E27FC236}">
                <a16:creationId xmlns:a16="http://schemas.microsoft.com/office/drawing/2014/main" id="{E74909FB-9FF0-4AAE-8C4B-842DB6EB55A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p.140</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8226D2E7-657E-41BA-B9CF-BA6F72CBB877}"/>
              </a:ext>
            </a:extLst>
          </p:cNvPr>
          <p:cNvSpPr>
            <a:spLocks noGrp="1" noRot="1" noChangeAspect="1" noChangeArrowheads="1" noTextEdit="1"/>
          </p:cNvSpPr>
          <p:nvPr>
            <p:ph type="sldImg"/>
          </p:nvPr>
        </p:nvSpPr>
        <p:spPr>
          <a:ln/>
        </p:spPr>
      </p:sp>
      <p:sp>
        <p:nvSpPr>
          <p:cNvPr id="351235" name="Rectangle 3">
            <a:extLst>
              <a:ext uri="{FF2B5EF4-FFF2-40B4-BE49-F238E27FC236}">
                <a16:creationId xmlns:a16="http://schemas.microsoft.com/office/drawing/2014/main" id="{18996326-0D6B-43DA-B106-CEE30DD17BB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right by Steve Covey-Crump</a:t>
            </a:r>
          </a:p>
          <a:p>
            <a:pPr marL="108000" indent="-108000">
              <a:spcBef>
                <a:spcPts val="300"/>
              </a:spcBef>
              <a:buFont typeface="Arial" panose="020B0604020202020204" pitchFamily="34" charset="0"/>
              <a:buChar char="•"/>
            </a:pPr>
            <a:r>
              <a:rPr lang="en-GB" altLang="en-US" sz="1000" dirty="0"/>
              <a:t>Figure left from Fossen, p.409</a:t>
            </a:r>
          </a:p>
          <a:p>
            <a:pPr marL="108000" indent="-108000">
              <a:spcBef>
                <a:spcPts val="300"/>
              </a:spcBef>
              <a:buFont typeface="Arial" panose="020B0604020202020204" pitchFamily="34" charset="0"/>
              <a:buChar char="•"/>
            </a:pPr>
            <a:r>
              <a:rPr lang="en-GB" altLang="en-US" sz="1000" dirty="0"/>
              <a:t>Figure bottom right from Twiss &amp; </a:t>
            </a:r>
            <a:r>
              <a:rPr lang="en-GB" altLang="en-US" sz="1000" dirty="0" err="1"/>
              <a:t>Moores</a:t>
            </a:r>
            <a:r>
              <a:rPr lang="en-GB" altLang="en-US" sz="1000" dirty="0"/>
              <a:t>, p.144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a:extLst>
              <a:ext uri="{FF2B5EF4-FFF2-40B4-BE49-F238E27FC236}">
                <a16:creationId xmlns:a16="http://schemas.microsoft.com/office/drawing/2014/main" id="{0F36324E-C729-4256-931B-1B7E63F02035}"/>
              </a:ext>
            </a:extLst>
          </p:cNvPr>
          <p:cNvSpPr>
            <a:spLocks noGrp="1" noRot="1" noChangeAspect="1" noChangeArrowheads="1" noTextEdit="1"/>
          </p:cNvSpPr>
          <p:nvPr>
            <p:ph type="sldImg"/>
          </p:nvPr>
        </p:nvSpPr>
        <p:spPr>
          <a:ln/>
        </p:spPr>
      </p:sp>
      <p:sp>
        <p:nvSpPr>
          <p:cNvPr id="309251" name="Rectangle 3">
            <a:extLst>
              <a:ext uri="{FF2B5EF4-FFF2-40B4-BE49-F238E27FC236}">
                <a16:creationId xmlns:a16="http://schemas.microsoft.com/office/drawing/2014/main" id="{A9CE4EF5-1F43-45A4-9E48-24D17D9153F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State of the art sandbox models of the structures that form in releasing bends are described by Wu </a:t>
            </a:r>
            <a:r>
              <a:rPr lang="en-GB" altLang="en-US" sz="1000" i="1" dirty="0"/>
              <a:t>et al.</a:t>
            </a:r>
            <a:r>
              <a:rPr lang="en-GB" altLang="en-US" sz="1000" dirty="0"/>
              <a:t>, 2009, </a:t>
            </a:r>
            <a:r>
              <a:rPr lang="en-GB" altLang="en-US" sz="1000" i="1" dirty="0"/>
              <a:t>Marine and Petroleum Geology</a:t>
            </a:r>
            <a:r>
              <a:rPr lang="en-GB" altLang="en-US" sz="1000" dirty="0"/>
              <a:t> 26: 1608-1623, </a:t>
            </a:r>
            <a:r>
              <a:rPr lang="en-GB" sz="1000" dirty="0"/>
              <a:t>https://doi.org/10.1016/j.marpetgeo.2008.06.007</a:t>
            </a:r>
            <a:r>
              <a:rPr lang="en-GB" altLang="en-US" sz="1000" dirty="0"/>
              <a:t>. The figures on this slide come from that paper</a:t>
            </a:r>
          </a:p>
          <a:p>
            <a:pPr marL="108000" indent="-108000">
              <a:spcBef>
                <a:spcPts val="300"/>
              </a:spcBef>
              <a:buFont typeface="Arial" panose="020B0604020202020204" pitchFamily="34" charset="0"/>
              <a:buChar char="•"/>
            </a:pPr>
            <a:r>
              <a:rPr lang="en-GB" altLang="en-US" sz="1000" dirty="0"/>
              <a:t>The figure top right shows a plan view of the experimental set up (rigid base-plates); the base-plates are covered with a thin rubber sheet, and sand is placed on top of this. The development of the structures in the sand is monitored as the base-plates are pulled apart. For </a:t>
            </a:r>
            <a:r>
              <a:rPr lang="en-GB" altLang="en-US" sz="1000" dirty="0" err="1"/>
              <a:t>transtension</a:t>
            </a:r>
            <a:r>
              <a:rPr lang="en-GB" altLang="en-US" sz="1000" dirty="0"/>
              <a:t> (the case illustrated in the figure top right), the direction in which the base plates are pulled apart is oblique to the main surface separating the plates (in the figure top right it is at 5°) so that this surface widens during slip. For the pure strike-slip case, base-plates are used in which the main surface separating the plates is parallel to the pulling direction</a:t>
            </a:r>
          </a:p>
          <a:p>
            <a:pPr>
              <a:spcBef>
                <a:spcPts val="300"/>
              </a:spcBef>
            </a:pPr>
            <a:endParaRPr lang="en-GB" altLang="en-US" sz="10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a:extLst>
              <a:ext uri="{FF2B5EF4-FFF2-40B4-BE49-F238E27FC236}">
                <a16:creationId xmlns:a16="http://schemas.microsoft.com/office/drawing/2014/main" id="{F041F73B-29F6-4757-AF88-9ED3A591DA8D}"/>
              </a:ext>
            </a:extLst>
          </p:cNvPr>
          <p:cNvSpPr>
            <a:spLocks noGrp="1" noRot="1" noChangeAspect="1" noChangeArrowheads="1" noTextEdit="1"/>
          </p:cNvSpPr>
          <p:nvPr>
            <p:ph type="sldImg"/>
          </p:nvPr>
        </p:nvSpPr>
        <p:spPr>
          <a:ln/>
        </p:spPr>
      </p:sp>
      <p:sp>
        <p:nvSpPr>
          <p:cNvPr id="352259" name="Rectangle 3">
            <a:extLst>
              <a:ext uri="{FF2B5EF4-FFF2-40B4-BE49-F238E27FC236}">
                <a16:creationId xmlns:a16="http://schemas.microsoft.com/office/drawing/2014/main" id="{72458EF8-B5A1-442F-A764-5967398C0AF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left from Christiansen &amp; Hamblin, 2007, </a:t>
            </a:r>
            <a:r>
              <a:rPr lang="en-GB" altLang="en-US" sz="1000" i="1" dirty="0"/>
              <a:t>Exploring the Planets </a:t>
            </a:r>
            <a:r>
              <a:rPr lang="en-GB" altLang="en-US" sz="1000" dirty="0"/>
              <a:t>(2</a:t>
            </a:r>
            <a:r>
              <a:rPr lang="en-GB" altLang="en-US" sz="1000" baseline="30000" dirty="0"/>
              <a:t>nd</a:t>
            </a:r>
            <a:r>
              <a:rPr lang="en-GB" altLang="en-US" sz="1000" dirty="0"/>
              <a:t> edition), Chapter 8 (www.explanet.info/Chapter08.htm). Extracts from this book are available on-line (www.explanet.info), and provide an introductory account of “global tectonics” type matters for all the main planetary bodies within the Solar System</a:t>
            </a:r>
          </a:p>
          <a:p>
            <a:pPr marL="108000" indent="-108000">
              <a:spcBef>
                <a:spcPts val="300"/>
              </a:spcBef>
              <a:buFont typeface="Arial" panose="020B0604020202020204" pitchFamily="34" charset="0"/>
              <a:buChar char="•"/>
            </a:pPr>
            <a:r>
              <a:rPr lang="en-GB" altLang="en-US" sz="1000" dirty="0"/>
              <a:t>Figure right from Wu </a:t>
            </a:r>
            <a:r>
              <a:rPr lang="en-GB" altLang="en-US" sz="1000" i="1" dirty="0"/>
              <a:t>et al.</a:t>
            </a:r>
            <a:r>
              <a:rPr lang="en-GB" altLang="en-US" sz="1000" dirty="0"/>
              <a:t>, 2009, </a:t>
            </a:r>
            <a:r>
              <a:rPr lang="en-GB" altLang="en-US" sz="1000" i="1" dirty="0"/>
              <a:t>Marine and Petroleum Geology</a:t>
            </a:r>
            <a:r>
              <a:rPr lang="en-GB" altLang="en-US" sz="1000" dirty="0"/>
              <a:t> 26: 1608-1623, </a:t>
            </a:r>
            <a:r>
              <a:rPr lang="en-GB" sz="1000" dirty="0"/>
              <a:t>https://doi.org/10.1016/j.marpetgeo.2008.06.007</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a:extLst>
              <a:ext uri="{FF2B5EF4-FFF2-40B4-BE49-F238E27FC236}">
                <a16:creationId xmlns:a16="http://schemas.microsoft.com/office/drawing/2014/main" id="{98E74AC4-AAC6-41E7-B907-508450802A14}"/>
              </a:ext>
            </a:extLst>
          </p:cNvPr>
          <p:cNvSpPr>
            <a:spLocks noGrp="1" noRot="1" noChangeAspect="1" noChangeArrowheads="1" noTextEdit="1"/>
          </p:cNvSpPr>
          <p:nvPr>
            <p:ph type="sldImg"/>
          </p:nvPr>
        </p:nvSpPr>
        <p:spPr>
          <a:ln/>
        </p:spPr>
      </p:sp>
      <p:sp>
        <p:nvSpPr>
          <p:cNvPr id="353283" name="Rectangle 3">
            <a:extLst>
              <a:ext uri="{FF2B5EF4-FFF2-40B4-BE49-F238E27FC236}">
                <a16:creationId xmlns:a16="http://schemas.microsoft.com/office/drawing/2014/main" id="{23480E51-6520-411F-B242-0D409511D8F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p.141</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D7D7894A-E8D3-4AA4-9BBA-D0951F0012C6}"/>
              </a:ext>
            </a:extLst>
          </p:cNvPr>
          <p:cNvSpPr>
            <a:spLocks noGrp="1" noRot="1" noChangeAspect="1" noChangeArrowheads="1" noTextEdit="1"/>
          </p:cNvSpPr>
          <p:nvPr>
            <p:ph type="sldImg"/>
          </p:nvPr>
        </p:nvSpPr>
        <p:spPr>
          <a:ln/>
        </p:spPr>
      </p:sp>
      <p:sp>
        <p:nvSpPr>
          <p:cNvPr id="354307" name="Rectangle 3">
            <a:extLst>
              <a:ext uri="{FF2B5EF4-FFF2-40B4-BE49-F238E27FC236}">
                <a16:creationId xmlns:a16="http://schemas.microsoft.com/office/drawing/2014/main" id="{09AB2D99-AFAA-4B35-AE48-C7E4B81AC84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(from photojournal.jpl.nasa.gov/</a:t>
            </a:r>
            <a:r>
              <a:rPr lang="en-GB" altLang="en-US" sz="1000" dirty="0" err="1"/>
              <a:t>catalog</a:t>
            </a:r>
            <a:r>
              <a:rPr lang="en-GB" altLang="en-US" sz="1000" dirty="0"/>
              <a:t>/pia03376): DEM (Digital Elevation Model) of southern California produced from the NASA Shuttle Radar Topography Mission (SRTM), image PIA03376. The red star marks Los Angeles</a:t>
            </a:r>
          </a:p>
          <a:p>
            <a:pPr marL="108000" indent="-108000">
              <a:spcBef>
                <a:spcPts val="300"/>
              </a:spcBef>
              <a:buFont typeface="Arial" panose="020B0604020202020204" pitchFamily="34" charset="0"/>
              <a:buChar char="•"/>
            </a:pPr>
            <a:r>
              <a:rPr lang="en-GB" altLang="en-US" sz="1000" dirty="0"/>
              <a:t>Figure bottom from Sylvester, p.1675. The red star marks Los Angeles</a:t>
            </a:r>
          </a:p>
          <a:p>
            <a:pPr>
              <a:spcBef>
                <a:spcPts val="300"/>
              </a:spcBef>
              <a:buFontTx/>
              <a:buNone/>
            </a:pPr>
            <a:endParaRPr lang="en-GB"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FC3581CA-00B4-4968-B3C9-B2619FBE82DB}"/>
              </a:ext>
            </a:extLst>
          </p:cNvPr>
          <p:cNvSpPr>
            <a:spLocks noGrp="1" noRot="1" noChangeAspect="1" noChangeArrowheads="1" noTextEdit="1"/>
          </p:cNvSpPr>
          <p:nvPr>
            <p:ph type="sldImg"/>
          </p:nvPr>
        </p:nvSpPr>
        <p:spPr>
          <a:ln/>
        </p:spPr>
      </p:sp>
      <p:sp>
        <p:nvSpPr>
          <p:cNvPr id="355331" name="Rectangle 3">
            <a:extLst>
              <a:ext uri="{FF2B5EF4-FFF2-40B4-BE49-F238E27FC236}">
                <a16:creationId xmlns:a16="http://schemas.microsoft.com/office/drawing/2014/main" id="{06D1D383-72AB-45D0-A211-BF79AF1686F1}"/>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Figures from McClay &amp; </a:t>
            </a:r>
            <a:r>
              <a:rPr lang="en-GB" altLang="en-US" sz="1000" dirty="0" err="1"/>
              <a:t>Bonora</a:t>
            </a:r>
            <a:r>
              <a:rPr lang="en-GB" altLang="en-US" sz="1000" dirty="0"/>
              <a:t>, 2001, </a:t>
            </a:r>
            <a:r>
              <a:rPr lang="en-GB" altLang="en-US" sz="1000" i="1" dirty="0"/>
              <a:t>American Association of Petroleum Geologists Bulletin</a:t>
            </a:r>
            <a:r>
              <a:rPr lang="en-GB" altLang="en-US" sz="1000" dirty="0"/>
              <a:t> 85: 233-260, </a:t>
            </a:r>
            <a:r>
              <a:rPr lang="en-GB" sz="1000" dirty="0"/>
              <a:t>https://doi.org/10.1306/8626C7AD-173B-11D7-8645000102C1865D</a:t>
            </a:r>
            <a:r>
              <a:rPr lang="en-GB" altLang="en-US" sz="1000" dirty="0"/>
              <a:t>. This paper provides details of some splendid sandbox models of deformation at restraining bends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a:extLst>
              <a:ext uri="{FF2B5EF4-FFF2-40B4-BE49-F238E27FC236}">
                <a16:creationId xmlns:a16="http://schemas.microsoft.com/office/drawing/2014/main" id="{EBAD97DA-B76E-443B-B3BD-F2105CD9A406}"/>
              </a:ext>
            </a:extLst>
          </p:cNvPr>
          <p:cNvSpPr>
            <a:spLocks noGrp="1" noRot="1" noChangeAspect="1" noChangeArrowheads="1" noTextEdit="1"/>
          </p:cNvSpPr>
          <p:nvPr>
            <p:ph type="sldImg"/>
          </p:nvPr>
        </p:nvSpPr>
        <p:spPr>
          <a:ln/>
        </p:spPr>
      </p:sp>
      <p:sp>
        <p:nvSpPr>
          <p:cNvPr id="356355" name="Rectangle 3">
            <a:extLst>
              <a:ext uri="{FF2B5EF4-FFF2-40B4-BE49-F238E27FC236}">
                <a16:creationId xmlns:a16="http://schemas.microsoft.com/office/drawing/2014/main" id="{A1C79B5A-FBD5-4FE4-97D9-843B01F7F07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left (from http://photojournal.jpl.nasa.gov/catalog/PIA01646): Galileo spacecraft image of part of the western branch of </a:t>
            </a:r>
            <a:r>
              <a:rPr lang="en-GB" altLang="en-US" sz="1000" dirty="0" err="1"/>
              <a:t>Agenor</a:t>
            </a:r>
            <a:r>
              <a:rPr lang="en-GB" altLang="en-US" sz="1000" dirty="0"/>
              <a:t> Linea on Europa (from image mosaic 17ESAGENOR03)</a:t>
            </a:r>
          </a:p>
          <a:p>
            <a:pPr marL="108000" indent="-108000">
              <a:spcBef>
                <a:spcPts val="300"/>
              </a:spcBef>
              <a:buFont typeface="Arial" panose="020B0604020202020204" pitchFamily="34" charset="0"/>
              <a:buChar char="•"/>
            </a:pPr>
            <a:r>
              <a:rPr lang="en-GB" altLang="en-US" sz="1000" dirty="0"/>
              <a:t>Figures bottom left and bottom middle (from </a:t>
            </a:r>
            <a:r>
              <a:rPr lang="en-GB" altLang="en-US" sz="1000" dirty="0" err="1"/>
              <a:t>Prockter</a:t>
            </a:r>
            <a:r>
              <a:rPr lang="en-GB" altLang="en-US" sz="1000" dirty="0"/>
              <a:t> </a:t>
            </a:r>
            <a:r>
              <a:rPr lang="en-GB" altLang="en-US" sz="1000" i="1" dirty="0"/>
              <a:t>et al.</a:t>
            </a:r>
            <a:r>
              <a:rPr lang="en-GB" altLang="en-US" sz="1000" dirty="0"/>
              <a:t>, 2000, </a:t>
            </a:r>
            <a:r>
              <a:rPr lang="en-GB" altLang="en-US" sz="1000" i="1" dirty="0"/>
              <a:t>Journal of Geophysical Research</a:t>
            </a:r>
            <a:r>
              <a:rPr lang="en-GB" altLang="en-US" sz="1000" dirty="0"/>
              <a:t> 105: 9483-9488, </a:t>
            </a:r>
            <a:r>
              <a:rPr lang="en-GB" sz="1000" dirty="0"/>
              <a:t>https://doi.org/10.1029/1999JE001226</a:t>
            </a:r>
            <a:r>
              <a:rPr lang="en-GB" altLang="en-US" sz="1000" dirty="0"/>
              <a:t>): interpretations of the photo top left</a:t>
            </a:r>
          </a:p>
          <a:p>
            <a:pPr marL="108000" indent="-108000">
              <a:spcBef>
                <a:spcPts val="300"/>
              </a:spcBef>
              <a:buFont typeface="Arial" panose="020B0604020202020204" pitchFamily="34" charset="0"/>
              <a:buChar char="•"/>
            </a:pPr>
            <a:r>
              <a:rPr lang="en-GB" altLang="en-US" sz="1000" dirty="0"/>
              <a:t>Photo top right (from </a:t>
            </a:r>
            <a:r>
              <a:rPr lang="en-GB" altLang="en-US" sz="1000" dirty="0" err="1"/>
              <a:t>Massironi</a:t>
            </a:r>
            <a:r>
              <a:rPr lang="en-GB" altLang="en-US" sz="1000" dirty="0"/>
              <a:t> </a:t>
            </a:r>
            <a:r>
              <a:rPr lang="en-GB" altLang="en-US" sz="1000" i="1" dirty="0"/>
              <a:t>et al</a:t>
            </a:r>
            <a:r>
              <a:rPr lang="en-GB" altLang="en-US" sz="1000" dirty="0"/>
              <a:t>., 2012, </a:t>
            </a:r>
            <a:r>
              <a:rPr lang="en-GB" altLang="en-US" sz="1000" i="1" dirty="0"/>
              <a:t>43</a:t>
            </a:r>
            <a:r>
              <a:rPr lang="en-GB" altLang="en-US" sz="1000" i="1" baseline="30000" dirty="0"/>
              <a:t>rd</a:t>
            </a:r>
            <a:r>
              <a:rPr lang="en-GB" altLang="en-US" sz="1000" i="1" dirty="0"/>
              <a:t> Lunar and Planetary Science Conference</a:t>
            </a:r>
            <a:r>
              <a:rPr lang="en-GB" altLang="en-US" sz="1000" dirty="0"/>
              <a:t> abstract 1924, www.lpi.usra.edu/meetings/lpsc2012/pdf/1924.pdf): restraining bend with pop-up structure, Blossom </a:t>
            </a:r>
            <a:r>
              <a:rPr lang="en-GB" altLang="en-US" sz="1000" dirty="0" err="1"/>
              <a:t>Rupes</a:t>
            </a:r>
            <a:r>
              <a:rPr lang="en-GB" altLang="en-US" sz="1000" dirty="0"/>
              <a:t> thrust system, Mercury. This system is discussed, together with many other strike-slip features on Mercury, by </a:t>
            </a:r>
            <a:r>
              <a:rPr lang="en-GB" altLang="en-US" sz="1000" dirty="0" err="1"/>
              <a:t>Massironi</a:t>
            </a:r>
            <a:r>
              <a:rPr lang="en-GB" altLang="en-US" sz="1000" dirty="0"/>
              <a:t> </a:t>
            </a:r>
            <a:r>
              <a:rPr lang="en-GB" altLang="en-US" sz="1000" i="1" dirty="0"/>
              <a:t>et al</a:t>
            </a:r>
            <a:r>
              <a:rPr lang="en-GB" altLang="en-US" sz="1000" dirty="0"/>
              <a:t>., 2015, </a:t>
            </a:r>
            <a:r>
              <a:rPr lang="en-GB" altLang="en-US" sz="1000" i="1" dirty="0"/>
              <a:t>Geological Society, London, Special Publications</a:t>
            </a:r>
            <a:r>
              <a:rPr lang="en-GB" altLang="en-US" sz="1000" dirty="0"/>
              <a:t> 401: 269-290, </a:t>
            </a:r>
            <a:r>
              <a:rPr lang="en-GB" sz="1000" dirty="0"/>
              <a:t>https://doi.org/10.1144/SP401.16</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a:extLst>
              <a:ext uri="{FF2B5EF4-FFF2-40B4-BE49-F238E27FC236}">
                <a16:creationId xmlns:a16="http://schemas.microsoft.com/office/drawing/2014/main" id="{C06F979C-4AF0-4667-9AB2-A9A92C730533}"/>
              </a:ext>
            </a:extLst>
          </p:cNvPr>
          <p:cNvSpPr>
            <a:spLocks noGrp="1" noRot="1" noChangeAspect="1" noChangeArrowheads="1" noTextEdit="1"/>
          </p:cNvSpPr>
          <p:nvPr>
            <p:ph type="sldImg"/>
          </p:nvPr>
        </p:nvSpPr>
        <p:spPr>
          <a:ln/>
        </p:spPr>
      </p:sp>
      <p:sp>
        <p:nvSpPr>
          <p:cNvPr id="357379" name="Rectangle 3">
            <a:extLst>
              <a:ext uri="{FF2B5EF4-FFF2-40B4-BE49-F238E27FC236}">
                <a16:creationId xmlns:a16="http://schemas.microsoft.com/office/drawing/2014/main" id="{6693753E-E82E-42C8-8FFD-D5CF9CAE5D8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left and middle from Twiss &amp; </a:t>
            </a:r>
            <a:r>
              <a:rPr lang="en-GB" altLang="en-US" sz="1000" dirty="0" err="1"/>
              <a:t>Moores</a:t>
            </a:r>
            <a:r>
              <a:rPr lang="en-GB" altLang="en-US" sz="1000" dirty="0"/>
              <a:t>, p.146</a:t>
            </a:r>
          </a:p>
          <a:p>
            <a:pPr marL="108000" indent="-108000">
              <a:spcBef>
                <a:spcPts val="300"/>
              </a:spcBef>
              <a:buFont typeface="Arial" panose="020B0604020202020204" pitchFamily="34" charset="0"/>
              <a:buChar char="•"/>
            </a:pPr>
            <a:r>
              <a:rPr lang="en-GB" altLang="en-US" sz="1000" dirty="0"/>
              <a:t>Figure right from Twiss &amp; </a:t>
            </a:r>
            <a:r>
              <a:rPr lang="en-GB" altLang="en-US" sz="1000" dirty="0" err="1"/>
              <a:t>Moores</a:t>
            </a:r>
            <a:r>
              <a:rPr lang="en-GB" altLang="en-US" sz="1000" dirty="0"/>
              <a:t>, p.147</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DD71BF5E-F0A3-4CA5-ACE6-15FC194B7C2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40AE33B-F09A-434C-A2AE-E8F314EF18C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left (from http://www.appstate.edu/~marshallst/research/Europa.html) showing the </a:t>
            </a:r>
            <a:r>
              <a:rPr lang="en-GB" altLang="en-US" sz="1000" dirty="0" err="1"/>
              <a:t>Agenor</a:t>
            </a:r>
            <a:r>
              <a:rPr lang="en-GB" altLang="en-US" sz="1000" dirty="0"/>
              <a:t> Linea dextral strike-slip fault system on Europa</a:t>
            </a:r>
          </a:p>
          <a:p>
            <a:pPr marL="108000" indent="-108000">
              <a:spcBef>
                <a:spcPts val="300"/>
              </a:spcBef>
              <a:buFont typeface="Arial" panose="020B0604020202020204" pitchFamily="34" charset="0"/>
              <a:buChar char="•"/>
            </a:pPr>
            <a:r>
              <a:rPr lang="en-GB" altLang="en-US" sz="1000" dirty="0"/>
              <a:t>Figure top right (from </a:t>
            </a:r>
            <a:r>
              <a:rPr lang="en-GB" altLang="en-US" sz="1000" dirty="0" err="1"/>
              <a:t>Kattenhorn</a:t>
            </a:r>
            <a:r>
              <a:rPr lang="en-GB" altLang="en-US" sz="1000" dirty="0"/>
              <a:t> &amp; Marshall, 2006, </a:t>
            </a:r>
            <a:r>
              <a:rPr lang="en-GB" altLang="en-US" sz="1000" i="1" dirty="0"/>
              <a:t>Journal of Structural Geology</a:t>
            </a:r>
            <a:r>
              <a:rPr lang="en-GB" altLang="en-US" sz="1000" dirty="0"/>
              <a:t> 28: 2204-2221,</a:t>
            </a:r>
            <a:r>
              <a:rPr lang="en-GB" sz="1000" dirty="0"/>
              <a:t> https://doi.org/10.1016/j.jsg.2005.11.010</a:t>
            </a:r>
            <a:r>
              <a:rPr lang="en-GB" altLang="en-US" sz="1000" dirty="0"/>
              <a:t>): interpretation of the extensional imbricate fan at the eastern end of </a:t>
            </a:r>
            <a:r>
              <a:rPr lang="en-GB" altLang="en-US" sz="1000" dirty="0" err="1"/>
              <a:t>Agenor</a:t>
            </a:r>
            <a:r>
              <a:rPr lang="en-GB" altLang="en-US" sz="1000" dirty="0"/>
              <a:t> Linea. This has horsetail geometry (see Class 6 Slide 22). The numbers on the figure give the order in which each fault formed as inferred from cross-cutting relationships. For another example of a strike-slip fault system that terminates as an imbricate fan of normal faults, see the Enceladus image, bottom left Slide 16</a:t>
            </a:r>
          </a:p>
          <a:p>
            <a:pPr marL="108000" indent="-108000">
              <a:spcBef>
                <a:spcPts val="300"/>
              </a:spcBef>
              <a:buFont typeface="Arial" panose="020B0604020202020204" pitchFamily="34" charset="0"/>
              <a:buChar char="•"/>
            </a:pPr>
            <a:r>
              <a:rPr lang="en-GB" altLang="en-US" sz="1000" dirty="0"/>
              <a:t>Figure bottom (from Freund, 1974, </a:t>
            </a:r>
            <a:r>
              <a:rPr lang="en-GB" altLang="en-US" sz="1000" i="1" dirty="0"/>
              <a:t>Tectonophysics</a:t>
            </a:r>
            <a:r>
              <a:rPr lang="en-GB" altLang="en-US" sz="1000" dirty="0"/>
              <a:t> 21: 93-134, </a:t>
            </a:r>
            <a:r>
              <a:rPr lang="en-GB" sz="1000" dirty="0"/>
              <a:t>https://doi.org/10.1016/0040-1951(74)90064-X</a:t>
            </a:r>
            <a:r>
              <a:rPr lang="en-GB" altLang="en-US" sz="1000" dirty="0"/>
              <a:t>): splay of strike-slip faults associated with movement on the Alpine Fault system, New Zealand</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4106AC15-DEE2-4797-8D0C-E83F6E30EE8D}" type="slidenum">
              <a:rPr lang="en-GB" altLang="en-US" smtClean="0"/>
              <a:pPr/>
              <a:t>36</a:t>
            </a:fld>
            <a:endParaRPr lang="en-GB" altLang="en-US"/>
          </a:p>
        </p:txBody>
      </p:sp>
    </p:spTree>
    <p:extLst>
      <p:ext uri="{BB962C8B-B14F-4D97-AF65-F5344CB8AC3E}">
        <p14:creationId xmlns:p14="http://schemas.microsoft.com/office/powerpoint/2010/main" val="8378942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AF85167C-42E0-40DB-877F-520336C09EB6}"/>
              </a:ext>
            </a:extLst>
          </p:cNvPr>
          <p:cNvSpPr>
            <a:spLocks noGrp="1" noRot="1" noChangeAspect="1" noChangeArrowheads="1" noTextEdit="1"/>
          </p:cNvSpPr>
          <p:nvPr>
            <p:ph type="sldImg"/>
          </p:nvPr>
        </p:nvSpPr>
        <p:spPr>
          <a:ln/>
        </p:spPr>
      </p:sp>
      <p:sp>
        <p:nvSpPr>
          <p:cNvPr id="336899" name="Rectangle 3">
            <a:extLst>
              <a:ext uri="{FF2B5EF4-FFF2-40B4-BE49-F238E27FC236}">
                <a16:creationId xmlns:a16="http://schemas.microsoft.com/office/drawing/2014/main" id="{84D1ACEA-AB40-4FD6-B50B-535F6A03846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the foliation is approximately in the orientation of P-shears (see Slide 22). For a vertical strike-slip fault imagine turning the figure of the shear zone on the left so that the shear plane is vertical. The XZ plane is then horizontal which means that X is horizontal and the XY plane is vertical</a:t>
            </a:r>
          </a:p>
          <a:p>
            <a:pPr marL="108000" indent="-108000">
              <a:spcBef>
                <a:spcPts val="300"/>
              </a:spcBef>
              <a:buFont typeface="Arial" panose="020B0604020202020204" pitchFamily="34" charset="0"/>
              <a:buChar char="•"/>
            </a:pPr>
            <a:r>
              <a:rPr lang="en-GB" altLang="en-US" sz="1000" dirty="0"/>
              <a:t>In the following two slides we compare the fabrics formed in a pure strike-slip fault zone with those in </a:t>
            </a:r>
            <a:r>
              <a:rPr lang="en-GB" altLang="en-US" sz="1000" dirty="0" err="1"/>
              <a:t>transpressional</a:t>
            </a:r>
            <a:r>
              <a:rPr lang="en-GB" altLang="en-US" sz="1000" dirty="0"/>
              <a:t> and </a:t>
            </a:r>
            <a:r>
              <a:rPr lang="en-GB" altLang="en-US" sz="1000" dirty="0" err="1"/>
              <a:t>transtensional</a:t>
            </a:r>
            <a:r>
              <a:rPr lang="en-GB" altLang="en-US" sz="1000" dirty="0"/>
              <a:t> fault zones. The complications presented by fault-parallel stretching (see Slide 17) must be independently recognized and analysed</a:t>
            </a:r>
          </a:p>
          <a:p>
            <a:pPr marL="108000" indent="-108000">
              <a:spcBef>
                <a:spcPts val="300"/>
              </a:spcBef>
              <a:buFont typeface="Arial" panose="020B0604020202020204" pitchFamily="34" charset="0"/>
              <a:buChar char="•"/>
            </a:pPr>
            <a:r>
              <a:rPr lang="en-GB" altLang="en-US" sz="1000" dirty="0"/>
              <a:t>Figure top right from Fossen, p.34</a:t>
            </a:r>
          </a:p>
          <a:p>
            <a:pPr marL="108000" indent="-108000">
              <a:spcBef>
                <a:spcPts val="300"/>
              </a:spcBef>
              <a:buFont typeface="Arial" panose="020B0604020202020204" pitchFamily="34" charset="0"/>
              <a:buChar char="•"/>
            </a:pPr>
            <a:r>
              <a:rPr lang="en-GB" altLang="en-US" sz="1000" dirty="0"/>
              <a:t>Figure left from Fossen, p.342</a:t>
            </a:r>
          </a:p>
          <a:p>
            <a:pPr marL="108000" indent="-108000">
              <a:spcBef>
                <a:spcPts val="300"/>
              </a:spcBef>
              <a:buFont typeface="Arial" panose="020B0604020202020204" pitchFamily="34" charset="0"/>
              <a:buChar char="•"/>
            </a:pPr>
            <a:r>
              <a:rPr lang="en-GB" altLang="en-US" sz="1000" dirty="0"/>
              <a:t>Figure bottom right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a:extLst>
              <a:ext uri="{FF2B5EF4-FFF2-40B4-BE49-F238E27FC236}">
                <a16:creationId xmlns:a16="http://schemas.microsoft.com/office/drawing/2014/main" id="{CFA575FA-C327-48FB-9717-3B2C55AA9E2B}"/>
              </a:ext>
            </a:extLst>
          </p:cNvPr>
          <p:cNvSpPr>
            <a:spLocks noGrp="1" noRot="1" noChangeAspect="1" noChangeArrowheads="1" noTextEdit="1"/>
          </p:cNvSpPr>
          <p:nvPr>
            <p:ph type="sldImg"/>
          </p:nvPr>
        </p:nvSpPr>
        <p:spPr>
          <a:ln/>
        </p:spPr>
      </p:sp>
      <p:sp>
        <p:nvSpPr>
          <p:cNvPr id="337923" name="Rectangle 3">
            <a:extLst>
              <a:ext uri="{FF2B5EF4-FFF2-40B4-BE49-F238E27FC236}">
                <a16:creationId xmlns:a16="http://schemas.microsoft.com/office/drawing/2014/main" id="{002DDDF0-C27E-4159-9FCE-DF751891C49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An outline of the strain analysis required to construct the Flinn diagram shown bottom left is given by Fossen, p.410-413 (divergent strike-slip = </a:t>
            </a:r>
            <a:r>
              <a:rPr lang="en-GB" altLang="en-US" sz="1000" dirty="0" err="1"/>
              <a:t>transtension</a:t>
            </a:r>
            <a:r>
              <a:rPr lang="en-GB" altLang="en-US" sz="1000" dirty="0"/>
              <a:t>; convergent strike-slip = </a:t>
            </a:r>
            <a:r>
              <a:rPr lang="en-GB" altLang="en-US" sz="1000" dirty="0" err="1"/>
              <a:t>transpression</a:t>
            </a:r>
            <a:r>
              <a:rPr lang="en-GB" altLang="en-US" sz="1000" dirty="0"/>
              <a:t>), but is more fully described by Fossen &amp; </a:t>
            </a:r>
            <a:r>
              <a:rPr lang="en-GB" altLang="en-US" sz="1000" dirty="0" err="1"/>
              <a:t>Tikoff</a:t>
            </a:r>
            <a:r>
              <a:rPr lang="en-GB" altLang="en-US" sz="1000" dirty="0"/>
              <a:t>, 1993, </a:t>
            </a:r>
            <a:r>
              <a:rPr lang="en-GB" altLang="en-US" sz="1000" i="1" dirty="0"/>
              <a:t>Journal of Structural Geology</a:t>
            </a:r>
            <a:r>
              <a:rPr lang="en-GB" altLang="en-US" sz="1000" dirty="0"/>
              <a:t> 15: 413-422, </a:t>
            </a:r>
            <a:r>
              <a:rPr lang="en-GB" sz="1000" dirty="0"/>
              <a:t>https://doi.org/10.1016/0191-8141(93)90137-Y</a:t>
            </a:r>
            <a:r>
              <a:rPr lang="en-GB" altLang="en-US" sz="1000" dirty="0"/>
              <a:t>. Twiss &amp; </a:t>
            </a:r>
            <a:r>
              <a:rPr lang="en-GB" altLang="en-US" sz="1000" dirty="0" err="1"/>
              <a:t>Moores</a:t>
            </a:r>
            <a:r>
              <a:rPr lang="en-GB" altLang="en-US" sz="1000" dirty="0"/>
              <a:t>, p.343-345, also offer some helpful remarks. The analysis uses the </a:t>
            </a:r>
            <a:r>
              <a:rPr lang="en-GB" altLang="en-US" sz="1000" b="1" i="1" dirty="0"/>
              <a:t>deformation gradient matrix</a:t>
            </a:r>
            <a:r>
              <a:rPr lang="en-GB" altLang="en-US" sz="1000" dirty="0"/>
              <a:t> (the matrix which connects the positions of particles in the </a:t>
            </a:r>
            <a:r>
              <a:rPr lang="en-GB" altLang="en-US" sz="1000" dirty="0" err="1"/>
              <a:t>undeformed</a:t>
            </a:r>
            <a:r>
              <a:rPr lang="en-GB" altLang="en-US" sz="1000" dirty="0"/>
              <a:t> to deformed state) – see Class 3 Slide 8. Note that you do not need to know how such an analysis is carried out but you ought to be aware that it can be should the need ever arise</a:t>
            </a:r>
          </a:p>
          <a:p>
            <a:pPr marL="108000" indent="-108000">
              <a:spcBef>
                <a:spcPts val="300"/>
              </a:spcBef>
              <a:buFont typeface="Arial" panose="020B0604020202020204" pitchFamily="34" charset="0"/>
              <a:buChar char="•"/>
            </a:pPr>
            <a:r>
              <a:rPr lang="en-GB" altLang="en-US" sz="1000" dirty="0"/>
              <a:t>The </a:t>
            </a:r>
            <a:r>
              <a:rPr lang="en-GB" altLang="en-US" sz="1000" dirty="0" err="1"/>
              <a:t>Flinn</a:t>
            </a:r>
            <a:r>
              <a:rPr lang="en-GB" altLang="en-US" sz="1000" dirty="0"/>
              <a:t> diagram is not good at showing magnitudes of strain (it is designed to shown the shape of the strain ellipsoid). However, if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t> remains constant during deformation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t> is defined on the figure bottom right), with progressive deformation the fault rocks will follow a path along a constant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t> curve away from the origin. Note that prolate (cigar-shaped) strain ellipsoids are predicted in </a:t>
            </a:r>
            <a:r>
              <a:rPr lang="en-GB" altLang="en-US" sz="1000" dirty="0" err="1"/>
              <a:t>transtension</a:t>
            </a:r>
            <a:r>
              <a:rPr lang="en-GB" altLang="en-US" sz="1000" dirty="0"/>
              <a:t>, and that oblate (pancake-shaped) strain ellipsoids are predicted in </a:t>
            </a:r>
            <a:r>
              <a:rPr lang="en-GB" altLang="en-US" sz="1000" dirty="0" err="1"/>
              <a:t>transpression</a:t>
            </a:r>
            <a:endParaRPr lang="en-GB" altLang="en-US" sz="1000" dirty="0"/>
          </a:p>
          <a:p>
            <a:pPr marL="108000" indent="-108000">
              <a:spcBef>
                <a:spcPts val="300"/>
              </a:spcBef>
              <a:buFont typeface="Arial" panose="020B0604020202020204" pitchFamily="34" charset="0"/>
              <a:buChar char="•"/>
            </a:pPr>
            <a:r>
              <a:rPr lang="en-GB" altLang="en-US" sz="1000" dirty="0"/>
              <a:t>Figure top right from Fossen, p.35</a:t>
            </a:r>
          </a:p>
          <a:p>
            <a:pPr marL="108000" indent="-108000">
              <a:spcBef>
                <a:spcPts val="300"/>
              </a:spcBef>
              <a:buFont typeface="Arial" panose="020B0604020202020204" pitchFamily="34" charset="0"/>
              <a:buChar char="•"/>
            </a:pPr>
            <a:r>
              <a:rPr lang="en-GB" altLang="en-US" sz="1000" dirty="0"/>
              <a:t>Figure bottom left modified from Twiss &amp; </a:t>
            </a:r>
            <a:r>
              <a:rPr lang="en-GB" altLang="en-US" sz="1000" dirty="0" err="1"/>
              <a:t>Moores</a:t>
            </a:r>
            <a:r>
              <a:rPr lang="en-GB" altLang="en-US" sz="1000" dirty="0"/>
              <a:t>, p.345</a:t>
            </a:r>
          </a:p>
          <a:p>
            <a:pPr marL="108000" indent="-108000">
              <a:spcBef>
                <a:spcPts val="300"/>
              </a:spcBef>
              <a:buFont typeface="Arial" panose="020B0604020202020204" pitchFamily="34" charset="0"/>
              <a:buChar char="•"/>
            </a:pPr>
            <a:r>
              <a:rPr lang="en-GB" altLang="en-US" sz="1000" dirty="0"/>
              <a:t>Figure bottom right by Steve Covey-Crump.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t> is the angle between the shear zone boundary and the relative velocity vector so that when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t> = 0 we have purely strike-slip movement and when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t> = </a:t>
            </a:r>
            <a:r>
              <a:rPr lang="en-GB" altLang="en-US" sz="1000" spc="150" baseline="0" dirty="0"/>
              <a:t>±</a:t>
            </a:r>
            <a:r>
              <a:rPr lang="en-GB" altLang="en-US" sz="1000" dirty="0"/>
              <a:t>90° we have purely contraction/extension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a:extLst>
              <a:ext uri="{FF2B5EF4-FFF2-40B4-BE49-F238E27FC236}">
                <a16:creationId xmlns:a16="http://schemas.microsoft.com/office/drawing/2014/main" id="{6D41FD45-E85C-4BA6-A06E-19F32D7F7B14}"/>
              </a:ext>
            </a:extLst>
          </p:cNvPr>
          <p:cNvSpPr>
            <a:spLocks noGrp="1" noRot="1" noChangeAspect="1" noChangeArrowheads="1" noTextEdit="1"/>
          </p:cNvSpPr>
          <p:nvPr>
            <p:ph type="sldImg"/>
          </p:nvPr>
        </p:nvSpPr>
        <p:spPr>
          <a:ln/>
        </p:spPr>
      </p:sp>
      <p:sp>
        <p:nvSpPr>
          <p:cNvPr id="329731" name="Rectangle 3">
            <a:extLst>
              <a:ext uri="{FF2B5EF4-FFF2-40B4-BE49-F238E27FC236}">
                <a16:creationId xmlns:a16="http://schemas.microsoft.com/office/drawing/2014/main" id="{F072954E-3C64-4C27-8B68-7EDC6721533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(modified from Twiss &amp; </a:t>
            </a:r>
            <a:r>
              <a:rPr lang="en-GB" altLang="en-US" sz="1000" dirty="0" err="1"/>
              <a:t>Moores</a:t>
            </a:r>
            <a:r>
              <a:rPr lang="en-GB" altLang="en-US" sz="1000" dirty="0"/>
              <a:t>, p.345) showing the orientation of foliations and </a:t>
            </a:r>
            <a:r>
              <a:rPr lang="en-GB" altLang="en-US" sz="1000" dirty="0" err="1"/>
              <a:t>lineations</a:t>
            </a:r>
            <a:r>
              <a:rPr lang="en-GB" altLang="en-US" sz="1000" dirty="0"/>
              <a:t> in vertical strike-slip zones under different amounts of </a:t>
            </a:r>
            <a:r>
              <a:rPr lang="en-GB" altLang="en-US" sz="1000" dirty="0" err="1"/>
              <a:t>transpression</a:t>
            </a:r>
            <a:r>
              <a:rPr lang="en-GB" altLang="en-US" sz="1000" dirty="0"/>
              <a:t> and </a:t>
            </a:r>
            <a:r>
              <a:rPr lang="en-GB" altLang="en-US" sz="1000" dirty="0" err="1"/>
              <a:t>transtension</a:t>
            </a:r>
            <a:r>
              <a:rPr lang="en-GB" altLang="en-US" sz="1000" dirty="0"/>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cs typeface="Times New Roman" panose="02020603050405020304" pitchFamily="18" charset="0"/>
              </a:rPr>
              <a:t> on the </a:t>
            </a:r>
            <a:r>
              <a:rPr lang="en-GB" altLang="en-US" sz="1000" i="1" dirty="0">
                <a:cs typeface="Times New Roman" panose="02020603050405020304" pitchFamily="18" charset="0"/>
              </a:rPr>
              <a:t>x</a:t>
            </a:r>
            <a:r>
              <a:rPr lang="en-GB" altLang="en-US" sz="1000" dirty="0">
                <a:cs typeface="Times New Roman" panose="02020603050405020304" pitchFamily="18" charset="0"/>
              </a:rPr>
              <a:t>-axis is as defined on the previous slide). This is simply an alternative way of showing the results depicted on the </a:t>
            </a:r>
            <a:r>
              <a:rPr lang="en-GB" altLang="en-US" sz="1000" dirty="0" err="1">
                <a:cs typeface="Times New Roman" panose="02020603050405020304" pitchFamily="18" charset="0"/>
              </a:rPr>
              <a:t>Flinn</a:t>
            </a:r>
            <a:r>
              <a:rPr lang="en-GB" altLang="en-US" sz="1000" dirty="0">
                <a:cs typeface="Times New Roman" panose="02020603050405020304" pitchFamily="18" charset="0"/>
              </a:rPr>
              <a:t> diagram bottom left on the previous slide</a:t>
            </a:r>
            <a:r>
              <a:rPr lang="en-GB" altLang="en-US" sz="1000" dirty="0"/>
              <a:t>. The grey arrows show increasing deformation at constant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cs typeface="Times New Roman" panose="02020603050405020304" pitchFamily="18" charset="0"/>
              </a:rPr>
              <a:t>. </a:t>
            </a:r>
            <a:r>
              <a:rPr lang="en-GB" altLang="en-US" sz="1000" dirty="0"/>
              <a:t>Three </a:t>
            </a:r>
            <a:r>
              <a:rPr lang="en-GB" altLang="en-US" sz="1000" b="1" i="1" dirty="0"/>
              <a:t>strain facies</a:t>
            </a:r>
            <a:r>
              <a:rPr lang="en-GB" altLang="en-US" sz="1000" dirty="0"/>
              <a:t> for strike-slip faults are defined – here ‘facies’ is used to identify conditions where the strain ellipsoid is of particular shape and orientation. As the grey arrows cross the thick black lines the strain facies changes, </a:t>
            </a:r>
            <a:r>
              <a:rPr lang="en-GB" altLang="en-US" sz="1000" i="1" dirty="0"/>
              <a:t>e.g.</a:t>
            </a:r>
            <a:r>
              <a:rPr lang="en-GB" altLang="en-US" sz="1000" dirty="0"/>
              <a:t>, for the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cs typeface="Times New Roman" panose="02020603050405020304" pitchFamily="18" charset="0"/>
              </a:rPr>
              <a:t> = -10° arrow the foliation switches from being vertical to horizontal as it crosses the thick black line (on the </a:t>
            </a:r>
            <a:r>
              <a:rPr lang="en-GB" altLang="en-US" sz="1000" dirty="0" err="1">
                <a:cs typeface="Times New Roman" panose="02020603050405020304" pitchFamily="18" charset="0"/>
              </a:rPr>
              <a:t>Flinn</a:t>
            </a:r>
            <a:r>
              <a:rPr lang="en-GB" altLang="en-US" sz="1000" dirty="0">
                <a:cs typeface="Times New Roman" panose="02020603050405020304" pitchFamily="18" charset="0"/>
              </a:rPr>
              <a:t> diagram shown bottom left on the previous slide, this crossing point is where the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cs typeface="Times New Roman" panose="02020603050405020304" pitchFamily="18" charset="0"/>
              </a:rPr>
              <a:t> = -10° line ‘bounces off the </a:t>
            </a:r>
            <a:r>
              <a:rPr lang="en-GB" altLang="en-US" sz="1000" i="1" dirty="0">
                <a:cs typeface="Times New Roman" panose="02020603050405020304" pitchFamily="18" charset="0"/>
              </a:rPr>
              <a:t>y</a:t>
            </a:r>
            <a:r>
              <a:rPr lang="en-GB" altLang="en-US" sz="1000" dirty="0">
                <a:cs typeface="Times New Roman" panose="02020603050405020304" pitchFamily="18" charset="0"/>
              </a:rPr>
              <a:t>-axis)</a:t>
            </a:r>
          </a:p>
          <a:p>
            <a:pPr marL="108000" indent="-108000">
              <a:spcBef>
                <a:spcPts val="300"/>
              </a:spcBef>
              <a:buFont typeface="Arial" panose="020B0604020202020204" pitchFamily="34" charset="0"/>
              <a:buChar char="•"/>
            </a:pPr>
            <a:r>
              <a:rPr lang="en-GB" altLang="en-US" sz="1000" dirty="0"/>
              <a:t>A discussion of the implications of this analysis is given by </a:t>
            </a:r>
            <a:r>
              <a:rPr lang="en-GB" altLang="en-US" sz="1000" dirty="0" err="1"/>
              <a:t>Tikoff</a:t>
            </a:r>
            <a:r>
              <a:rPr lang="en-GB" altLang="en-US" sz="1000" dirty="0"/>
              <a:t> &amp; Fossen, 1999, </a:t>
            </a:r>
            <a:r>
              <a:rPr lang="en-GB" altLang="en-US" sz="1000" i="1" dirty="0"/>
              <a:t>Journal of Structural Geology</a:t>
            </a:r>
            <a:r>
              <a:rPr lang="en-GB" altLang="en-US" sz="1000" dirty="0"/>
              <a:t> 21: 1497-1512, </a:t>
            </a:r>
            <a:r>
              <a:rPr lang="en-GB" sz="1000" dirty="0"/>
              <a:t>https://doi.org/10.1016/S0191-8141(99)00085-1</a:t>
            </a:r>
            <a:r>
              <a:rPr lang="en-GB" altLang="en-US" sz="1000" dirty="0"/>
              <a:t>. Note that these findings may be generalized to shear zones of any orientation and do not apply only to vertical strike-slip faults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a:extLst>
              <a:ext uri="{FF2B5EF4-FFF2-40B4-BE49-F238E27FC236}">
                <a16:creationId xmlns:a16="http://schemas.microsoft.com/office/drawing/2014/main" id="{46DC6DF4-E877-4C79-9D10-E9C23FC60E47}"/>
              </a:ext>
            </a:extLst>
          </p:cNvPr>
          <p:cNvSpPr>
            <a:spLocks noGrp="1" noRot="1" noChangeAspect="1" noChangeArrowheads="1" noTextEdit="1"/>
          </p:cNvSpPr>
          <p:nvPr>
            <p:ph type="sldImg"/>
          </p:nvPr>
        </p:nvSpPr>
        <p:spPr>
          <a:ln/>
        </p:spPr>
      </p:sp>
      <p:sp>
        <p:nvSpPr>
          <p:cNvPr id="359427" name="Rectangle 3">
            <a:extLst>
              <a:ext uri="{FF2B5EF4-FFF2-40B4-BE49-F238E27FC236}">
                <a16:creationId xmlns:a16="http://schemas.microsoft.com/office/drawing/2014/main" id="{342D8895-421F-4283-9ED9-ED49CAD3169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top right and bottom left from Fossen, p.413</a:t>
            </a:r>
          </a:p>
          <a:p>
            <a:pPr marL="108000" indent="-108000">
              <a:spcBef>
                <a:spcPts val="300"/>
              </a:spcBef>
              <a:buFont typeface="Arial" panose="020B0604020202020204" pitchFamily="34" charset="0"/>
              <a:buChar char="•"/>
            </a:pPr>
            <a:r>
              <a:rPr lang="en-GB" altLang="en-US" sz="1000" dirty="0"/>
              <a:t>Figure bottom right from Sylvester, p.1680</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A2FD1578-7E2D-47D1-9547-797D3AA4843B}"/>
              </a:ext>
            </a:extLst>
          </p:cNvPr>
          <p:cNvSpPr>
            <a:spLocks noGrp="1" noRot="1" noChangeAspect="1" noChangeArrowheads="1" noTextEdit="1"/>
          </p:cNvSpPr>
          <p:nvPr>
            <p:ph type="sldImg"/>
          </p:nvPr>
        </p:nvSpPr>
        <p:spPr>
          <a:ln/>
        </p:spPr>
      </p:sp>
      <p:sp>
        <p:nvSpPr>
          <p:cNvPr id="363523" name="Rectangle 3">
            <a:extLst>
              <a:ext uri="{FF2B5EF4-FFF2-40B4-BE49-F238E27FC236}">
                <a16:creationId xmlns:a16="http://schemas.microsoft.com/office/drawing/2014/main" id="{95E756C2-D847-4F28-9787-95A7EA04BB2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coupling of the </a:t>
            </a:r>
            <a:r>
              <a:rPr lang="en-GB" altLang="en-US" sz="1000" dirty="0" err="1"/>
              <a:t>Crevillente</a:t>
            </a:r>
            <a:r>
              <a:rPr lang="en-GB" altLang="en-US" sz="1000" dirty="0"/>
              <a:t> and </a:t>
            </a:r>
            <a:r>
              <a:rPr lang="en-GB" altLang="en-US" sz="1000" dirty="0" err="1"/>
              <a:t>Carboneras</a:t>
            </a:r>
            <a:r>
              <a:rPr lang="en-GB" altLang="en-US" sz="1000" dirty="0"/>
              <a:t> fault systems to the subduction zone allows them to be described as transform faults. In this case, the rocks between the </a:t>
            </a:r>
            <a:r>
              <a:rPr lang="en-GB" altLang="en-US" sz="1000" dirty="0" err="1"/>
              <a:t>Crevillente</a:t>
            </a:r>
            <a:r>
              <a:rPr lang="en-GB" altLang="en-US" sz="1000" dirty="0"/>
              <a:t> and </a:t>
            </a:r>
            <a:r>
              <a:rPr lang="en-GB" altLang="en-US" sz="1000" dirty="0" err="1"/>
              <a:t>Carboneras</a:t>
            </a:r>
            <a:r>
              <a:rPr lang="en-GB" altLang="en-US" sz="1000" dirty="0"/>
              <a:t> faults have extended NE-SW more than the rocks on the other sides of these faults and so these faults may be described as stretching transform faults (see Slide 17) </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While the subduction zone roll-back explanation for extension within the internal </a:t>
            </a:r>
            <a:r>
              <a:rPr lang="en-GB" altLang="en-US" sz="1000" dirty="0" err="1"/>
              <a:t>Betic</a:t>
            </a:r>
            <a:r>
              <a:rPr lang="en-GB" altLang="en-US" sz="1000" dirty="0"/>
              <a:t> cordillera is currently gaining ground, other explanations have been proposed (see </a:t>
            </a:r>
            <a:r>
              <a:rPr lang="en-GB" altLang="en-US" sz="1000" dirty="0" err="1"/>
              <a:t>Gutscher</a:t>
            </a:r>
            <a:r>
              <a:rPr lang="en-GB" altLang="en-US" sz="1000" dirty="0"/>
              <a:t> </a:t>
            </a:r>
            <a:r>
              <a:rPr lang="en-GB" altLang="en-US" sz="1000" i="1" dirty="0"/>
              <a:t>et al.</a:t>
            </a:r>
            <a:r>
              <a:rPr lang="en-GB" altLang="en-US" sz="1000" dirty="0"/>
              <a:t>, 2012, </a:t>
            </a:r>
            <a:r>
              <a:rPr lang="en-GB" altLang="en-US" sz="1000" i="1" dirty="0"/>
              <a:t>Tectonophysics</a:t>
            </a:r>
            <a:r>
              <a:rPr lang="en-GB" altLang="en-US" sz="1000" dirty="0"/>
              <a:t> 574-575: 72-91, </a:t>
            </a:r>
            <a:r>
              <a:rPr lang="en-GB" sz="1000" dirty="0"/>
              <a:t>https://doi.org/10.1016/j.tecto.2012.08.038</a:t>
            </a:r>
            <a:r>
              <a:rPr lang="en-GB" altLang="en-US" sz="1000" dirty="0"/>
              <a:t>; </a:t>
            </a:r>
            <a:r>
              <a:rPr lang="en-GB" altLang="en-US" sz="1000" dirty="0" err="1"/>
              <a:t>Gutscher</a:t>
            </a:r>
            <a:r>
              <a:rPr lang="en-GB" altLang="en-US" sz="1000" dirty="0"/>
              <a:t>, 2012, </a:t>
            </a:r>
            <a:r>
              <a:rPr lang="en-GB" altLang="en-US" sz="1000" i="1" dirty="0"/>
              <a:t>Eos</a:t>
            </a:r>
            <a:r>
              <a:rPr lang="en-GB" altLang="en-US" sz="1000" dirty="0"/>
              <a:t> 93: 133-135, </a:t>
            </a:r>
            <a:r>
              <a:rPr lang="en-GB" sz="1000" dirty="0"/>
              <a:t>https://doi.org/10.1029/2012EO130001</a:t>
            </a:r>
            <a:r>
              <a:rPr lang="en-GB" altLang="en-US" sz="1000" dirty="0"/>
              <a:t>). For a similar use of slab roll-back to explain the migration of extension and associated volcanism on the </a:t>
            </a:r>
            <a:r>
              <a:rPr lang="en-GB" altLang="en-US" sz="1000" dirty="0" err="1"/>
              <a:t>Tharsis</a:t>
            </a:r>
            <a:r>
              <a:rPr lang="en-GB" altLang="en-US" sz="1000" dirty="0"/>
              <a:t> bulge on Mars (Class 9 Slide 13), see Yin, 2012, </a:t>
            </a:r>
            <a:r>
              <a:rPr lang="en-GB" altLang="en-US" sz="1000" i="1" dirty="0"/>
              <a:t>Lithosphere</a:t>
            </a:r>
            <a:r>
              <a:rPr lang="en-GB" altLang="en-US" sz="1000" i="0" dirty="0"/>
              <a:t> 4: 553-593, </a:t>
            </a:r>
            <a:r>
              <a:rPr lang="en-GB" sz="1000" dirty="0"/>
              <a:t>https://doi.org/10.1130/L195.1</a:t>
            </a:r>
            <a:endParaRPr lang="en-GB" altLang="en-US" sz="1000" i="0" dirty="0"/>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i="0" dirty="0"/>
              <a:t>For details on how the NE-SW extension was actually delivered, see Williams &amp; Platt, 2018, </a:t>
            </a:r>
            <a:r>
              <a:rPr lang="en-GB" altLang="en-US" sz="1000" i="1" dirty="0"/>
              <a:t>Journal of the Geological Society, London</a:t>
            </a:r>
            <a:r>
              <a:rPr lang="en-GB" altLang="en-US" sz="1000" i="0" dirty="0"/>
              <a:t> 175: 465-496, </a:t>
            </a:r>
            <a:r>
              <a:rPr lang="en-GB" sz="1000" dirty="0"/>
              <a:t>https://doi.org/10.1144/jgs2017-086</a:t>
            </a:r>
            <a:endParaRPr lang="en-GB" altLang="en-US" sz="1000" dirty="0"/>
          </a:p>
          <a:p>
            <a:pPr marL="108000" indent="-108000">
              <a:spcBef>
                <a:spcPts val="300"/>
              </a:spcBef>
              <a:buFont typeface="Arial" panose="020B0604020202020204" pitchFamily="34" charset="0"/>
              <a:buChar char="•"/>
            </a:pPr>
            <a:r>
              <a:rPr lang="en-GB" altLang="en-US" sz="1000" dirty="0"/>
              <a:t>Figure top from Rutter </a:t>
            </a:r>
            <a:r>
              <a:rPr lang="en-GB" altLang="en-US" sz="1000" i="1" dirty="0"/>
              <a:t>et al.</a:t>
            </a:r>
            <a:r>
              <a:rPr lang="en-GB" altLang="en-US" sz="1000" dirty="0"/>
              <a:t>, 2012, </a:t>
            </a:r>
            <a:r>
              <a:rPr lang="en-GB" altLang="en-US" sz="1000" i="1" dirty="0"/>
              <a:t>Journal of Structural Geology</a:t>
            </a:r>
            <a:r>
              <a:rPr lang="en-GB" altLang="en-US" sz="1000" dirty="0"/>
              <a:t> 45: 68-86, </a:t>
            </a:r>
            <a:r>
              <a:rPr lang="en-GB" sz="1000" dirty="0"/>
              <a:t>https://doi.org/10.1016/j.jsg.2012.08.009</a:t>
            </a:r>
            <a:endParaRPr lang="en-GB" altLang="en-US" sz="1000" dirty="0"/>
          </a:p>
          <a:p>
            <a:pPr marL="108000" indent="-108000">
              <a:spcBef>
                <a:spcPts val="300"/>
              </a:spcBef>
              <a:buFont typeface="Arial" panose="020B0604020202020204" pitchFamily="34" charset="0"/>
              <a:buChar char="•"/>
            </a:pPr>
            <a:r>
              <a:rPr lang="en-GB" altLang="en-US" sz="1000" dirty="0"/>
              <a:t>Figure bottom from </a:t>
            </a:r>
            <a:r>
              <a:rPr lang="en-GB" altLang="en-US" sz="1000" dirty="0" err="1"/>
              <a:t>Gutscher</a:t>
            </a:r>
            <a:r>
              <a:rPr lang="en-GB" altLang="en-US" sz="1000" dirty="0"/>
              <a:t> </a:t>
            </a:r>
            <a:r>
              <a:rPr lang="en-GB" altLang="en-US" sz="1000" i="1" dirty="0"/>
              <a:t>et al.</a:t>
            </a:r>
            <a:r>
              <a:rPr lang="en-GB" altLang="en-US" sz="1000" dirty="0"/>
              <a:t>, 2012, </a:t>
            </a:r>
            <a:r>
              <a:rPr lang="en-GB" altLang="en-US" sz="1000" i="1" dirty="0"/>
              <a:t>Tectonophysics</a:t>
            </a:r>
            <a:r>
              <a:rPr lang="en-GB" altLang="en-US" sz="1000" dirty="0"/>
              <a:t> 574-575: 72-91, </a:t>
            </a:r>
            <a:r>
              <a:rPr lang="en-GB" sz="1000" dirty="0"/>
              <a:t>https://doi.org/10.1016/j.tecto.2012.08.038</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D4EC380D-92FE-4AC9-BC6E-9AD2F39D5E31}"/>
              </a:ext>
            </a:extLst>
          </p:cNvPr>
          <p:cNvSpPr>
            <a:spLocks noGrp="1" noRot="1" noChangeAspect="1" noChangeArrowheads="1" noTextEdit="1"/>
          </p:cNvSpPr>
          <p:nvPr>
            <p:ph type="sldImg"/>
          </p:nvPr>
        </p:nvSpPr>
        <p:spPr>
          <a:ln/>
        </p:spPr>
      </p:sp>
      <p:sp>
        <p:nvSpPr>
          <p:cNvPr id="343043" name="Rectangle 3">
            <a:extLst>
              <a:ext uri="{FF2B5EF4-FFF2-40B4-BE49-F238E27FC236}">
                <a16:creationId xmlns:a16="http://schemas.microsoft.com/office/drawing/2014/main" id="{A2CBCD8D-BC07-41BF-8AA5-EF728D16232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Significant strike-slip movement on the </a:t>
            </a:r>
            <a:r>
              <a:rPr lang="en-GB" altLang="en-US" sz="1000" dirty="0" err="1"/>
              <a:t>Carboneras</a:t>
            </a:r>
            <a:r>
              <a:rPr lang="en-GB" altLang="en-US" sz="1000" dirty="0"/>
              <a:t> fault zone had ceased by 6 Ma, when emergenc</a:t>
            </a:r>
            <a:r>
              <a:rPr lang="en-GB" altLang="en-US" sz="1000" spc="150" baseline="0" dirty="0"/>
              <a:t>e/</a:t>
            </a:r>
            <a:r>
              <a:rPr lang="en-GB" altLang="en-US" sz="1000" dirty="0"/>
              <a:t>uplift took over</a:t>
            </a:r>
          </a:p>
          <a:p>
            <a:pPr marL="108000" indent="-108000">
              <a:spcBef>
                <a:spcPts val="300"/>
              </a:spcBef>
              <a:buFont typeface="Arial" panose="020B0604020202020204" pitchFamily="34" charset="0"/>
              <a:buChar char="•"/>
            </a:pPr>
            <a:r>
              <a:rPr lang="en-GB" altLang="en-US" sz="1000" dirty="0"/>
              <a:t>Map and section (from Faulkner </a:t>
            </a:r>
            <a:r>
              <a:rPr lang="en-GB" altLang="en-US" sz="1000" i="1" dirty="0"/>
              <a:t>et al.</a:t>
            </a:r>
            <a:r>
              <a:rPr lang="en-GB" altLang="en-US" sz="1000" dirty="0"/>
              <a:t>, 2003, </a:t>
            </a:r>
            <a:r>
              <a:rPr lang="en-GB" altLang="en-US" sz="1000" i="1" dirty="0"/>
              <a:t>Tectonophysics</a:t>
            </a:r>
            <a:r>
              <a:rPr lang="en-GB" altLang="en-US" sz="1000" dirty="0"/>
              <a:t> 367: 235-251, </a:t>
            </a:r>
            <a:r>
              <a:rPr lang="en-GB" sz="1000" dirty="0"/>
              <a:t>https://doi.org/10.1016/S0040-1951(03)00134-3</a:t>
            </a:r>
            <a:r>
              <a:rPr lang="en-GB" altLang="en-US" sz="1000" dirty="0"/>
              <a:t>) showing a small part of the </a:t>
            </a:r>
            <a:r>
              <a:rPr lang="en-GB" altLang="en-US" sz="1000" dirty="0" err="1"/>
              <a:t>Carboneras</a:t>
            </a:r>
            <a:r>
              <a:rPr lang="en-GB" altLang="en-US" sz="1000" dirty="0"/>
              <a:t> Fault Zone. The strands of fault gouge are the light blue-grey strips</a:t>
            </a:r>
          </a:p>
          <a:p>
            <a:pPr marL="108000" indent="-108000">
              <a:spcBef>
                <a:spcPts val="300"/>
              </a:spcBef>
              <a:buFont typeface="Arial" panose="020B0604020202020204" pitchFamily="34" charset="0"/>
              <a:buChar char="•"/>
            </a:pPr>
            <a:r>
              <a:rPr lang="en-GB" altLang="en-US" sz="1000" dirty="0"/>
              <a:t>Figure left is from Burbank &amp; Anderson, 2012, </a:t>
            </a:r>
            <a:r>
              <a:rPr lang="en-GB" altLang="en-US" sz="1000" i="1" dirty="0"/>
              <a:t>Tectonic Geomorphology</a:t>
            </a:r>
            <a:r>
              <a:rPr lang="en-GB" altLang="en-US" sz="1000" dirty="0"/>
              <a:t> (2</a:t>
            </a:r>
            <a:r>
              <a:rPr lang="en-GB" altLang="en-US" sz="1000" baseline="30000" dirty="0"/>
              <a:t>nd</a:t>
            </a:r>
            <a:r>
              <a:rPr lang="en-GB" altLang="en-US" sz="1000" dirty="0"/>
              <a:t> edition), Wiley-Blackwell, p.93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a:extLst>
              <a:ext uri="{FF2B5EF4-FFF2-40B4-BE49-F238E27FC236}">
                <a16:creationId xmlns:a16="http://schemas.microsoft.com/office/drawing/2014/main" id="{29BC3D67-20F9-4BDB-B3E0-2E12BBB9EAFC}"/>
              </a:ext>
            </a:extLst>
          </p:cNvPr>
          <p:cNvSpPr>
            <a:spLocks noGrp="1" noRot="1" noChangeAspect="1" noChangeArrowheads="1" noTextEdit="1"/>
          </p:cNvSpPr>
          <p:nvPr>
            <p:ph type="sldImg"/>
          </p:nvPr>
        </p:nvSpPr>
        <p:spPr>
          <a:ln/>
        </p:spPr>
      </p:sp>
      <p:sp>
        <p:nvSpPr>
          <p:cNvPr id="344067" name="Rectangle 3">
            <a:extLst>
              <a:ext uri="{FF2B5EF4-FFF2-40B4-BE49-F238E27FC236}">
                <a16:creationId xmlns:a16="http://schemas.microsoft.com/office/drawing/2014/main" id="{323D0C85-F61A-449D-B500-81B8ACF37E9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Some of the mechanical and permeability implications of this internal fault zone structure are briefly entertained by Faulkner </a:t>
            </a:r>
            <a:r>
              <a:rPr lang="en-GB" altLang="en-US" sz="1000" i="1" dirty="0"/>
              <a:t>et al.</a:t>
            </a:r>
            <a:r>
              <a:rPr lang="en-GB" altLang="en-US" sz="1000" dirty="0"/>
              <a:t>, 2003, </a:t>
            </a:r>
            <a:r>
              <a:rPr lang="en-GB" altLang="en-US" sz="1000" i="1" dirty="0"/>
              <a:t>Tectonophysics</a:t>
            </a:r>
            <a:r>
              <a:rPr lang="en-GB" altLang="en-US" sz="1000" dirty="0"/>
              <a:t> 367: 235-251, </a:t>
            </a:r>
            <a:r>
              <a:rPr lang="en-GB" sz="1000" dirty="0"/>
              <a:t>https://doi.org/10.1016/S0040-1951(03)00134-3</a:t>
            </a:r>
            <a:r>
              <a:rPr lang="en-GB" altLang="en-US" sz="1000" dirty="0"/>
              <a:t>. Furthering our understanding of these matters provides a good reason for mapping such fault zones</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 from Keller </a:t>
            </a:r>
            <a:r>
              <a:rPr lang="en-GB" altLang="en-US" sz="1000" i="1" dirty="0"/>
              <a:t>et al.</a:t>
            </a:r>
            <a:r>
              <a:rPr lang="en-GB" altLang="en-US" sz="1000" dirty="0"/>
              <a:t>, 1995, </a:t>
            </a:r>
            <a:r>
              <a:rPr lang="en-GB" altLang="en-US" sz="1000" i="1" dirty="0"/>
              <a:t>Journal of the Geological Society, London </a:t>
            </a:r>
            <a:r>
              <a:rPr lang="en-GB" altLang="en-US" sz="1000" dirty="0"/>
              <a:t>152: 339-351, </a:t>
            </a:r>
            <a:r>
              <a:rPr lang="en-GB" sz="1000" dirty="0"/>
              <a:t>https://doi.org/10.1144/gsjgs.152.2.0339</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4106AC15-DEE2-4797-8D0C-E83F6E30EE8D}" type="slidenum">
              <a:rPr lang="en-GB" altLang="en-US" smtClean="0"/>
              <a:pPr/>
              <a:t>44</a:t>
            </a:fld>
            <a:endParaRPr lang="en-GB" altLang="en-US"/>
          </a:p>
        </p:txBody>
      </p:sp>
    </p:spTree>
    <p:extLst>
      <p:ext uri="{BB962C8B-B14F-4D97-AF65-F5344CB8AC3E}">
        <p14:creationId xmlns:p14="http://schemas.microsoft.com/office/powerpoint/2010/main" val="4179790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a:extLst>
              <a:ext uri="{FF2B5EF4-FFF2-40B4-BE49-F238E27FC236}">
                <a16:creationId xmlns:a16="http://schemas.microsoft.com/office/drawing/2014/main" id="{1C965696-C780-45DE-B9EA-48FB495613EB}"/>
              </a:ext>
            </a:extLst>
          </p:cNvPr>
          <p:cNvSpPr>
            <a:spLocks noGrp="1" noRot="1" noChangeAspect="1" noChangeArrowheads="1" noTextEdit="1"/>
          </p:cNvSpPr>
          <p:nvPr>
            <p:ph type="sldImg"/>
          </p:nvPr>
        </p:nvSpPr>
        <p:spPr>
          <a:ln/>
        </p:spPr>
      </p:sp>
      <p:sp>
        <p:nvSpPr>
          <p:cNvPr id="360451" name="Rectangle 3">
            <a:extLst>
              <a:ext uri="{FF2B5EF4-FFF2-40B4-BE49-F238E27FC236}">
                <a16:creationId xmlns:a16="http://schemas.microsoft.com/office/drawing/2014/main" id="{08701061-50BA-4462-BD37-A495D70BA8BA}"/>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For the method of map restoration, see </a:t>
            </a:r>
            <a:r>
              <a:rPr lang="en-GB" altLang="en-US" sz="1000" dirty="0" err="1"/>
              <a:t>Rouby</a:t>
            </a:r>
            <a:r>
              <a:rPr lang="en-GB" altLang="en-US" sz="1000" dirty="0"/>
              <a:t> </a:t>
            </a:r>
            <a:r>
              <a:rPr lang="en-GB" altLang="en-US" sz="1000" i="1" dirty="0"/>
              <a:t>et al.</a:t>
            </a:r>
            <a:r>
              <a:rPr lang="en-GB" altLang="en-US" sz="1000" dirty="0"/>
              <a:t>, 1996, </a:t>
            </a:r>
            <a:r>
              <a:rPr lang="en-GB" altLang="en-US" sz="1000" i="1" dirty="0"/>
              <a:t>American Association of Petroleum Geologists Bulletin</a:t>
            </a:r>
            <a:r>
              <a:rPr lang="en-GB" altLang="en-US" sz="1000" dirty="0"/>
              <a:t> 80: 875-890, </a:t>
            </a:r>
            <a:r>
              <a:rPr lang="en-GB" sz="1000" dirty="0"/>
              <a:t>https://doi.org/10.1306/64ED88F4-1724-11D7-8645000102C1865D</a:t>
            </a:r>
            <a:endParaRPr lang="en-GB" altLang="en-US" sz="1000" dirty="0"/>
          </a:p>
          <a:p>
            <a:pPr marL="108000" indent="-108000">
              <a:spcBef>
                <a:spcPts val="300"/>
              </a:spcBef>
              <a:buFont typeface="Arial" panose="020B0604020202020204" pitchFamily="34" charset="0"/>
              <a:buChar char="•"/>
            </a:pPr>
            <a:r>
              <a:rPr lang="en-GB" altLang="en-US" sz="1000" dirty="0"/>
              <a:t>The evidence for subduction on Jupiter’s moon, Europa, comes from missing areas that arise when map balancing is carried out (see </a:t>
            </a:r>
            <a:r>
              <a:rPr lang="en-GB" altLang="en-US" sz="1000" dirty="0" err="1"/>
              <a:t>Kattenhorn</a:t>
            </a:r>
            <a:r>
              <a:rPr lang="en-GB" altLang="en-US" sz="1000" dirty="0"/>
              <a:t> &amp; </a:t>
            </a:r>
            <a:r>
              <a:rPr lang="en-GB" altLang="en-US" sz="1000" dirty="0" err="1"/>
              <a:t>Prockter</a:t>
            </a:r>
            <a:r>
              <a:rPr lang="en-GB" altLang="en-US" sz="1000" dirty="0"/>
              <a:t>, 2014, </a:t>
            </a:r>
            <a:r>
              <a:rPr lang="en-GB" altLang="en-US" sz="1000" i="1" dirty="0"/>
              <a:t>Nature Geoscience</a:t>
            </a:r>
            <a:r>
              <a:rPr lang="en-GB" altLang="en-US" sz="1000" dirty="0"/>
              <a:t> 7: 762-767, </a:t>
            </a:r>
            <a:r>
              <a:rPr lang="en-GB" sz="1000" dirty="0"/>
              <a:t>https://doi.org/10.1038/ngeo2245</a:t>
            </a:r>
            <a:r>
              <a:rPr lang="en-GB" altLang="en-US" sz="1000" dirty="0"/>
              <a:t>)</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 from Fossen, p.449, redrawn from </a:t>
            </a:r>
            <a:r>
              <a:rPr lang="en-GB" altLang="en-US" sz="1000" dirty="0" err="1"/>
              <a:t>Rouby</a:t>
            </a:r>
            <a:r>
              <a:rPr lang="en-GB" altLang="en-US" sz="1000" dirty="0"/>
              <a:t> </a:t>
            </a:r>
            <a:r>
              <a:rPr lang="en-GB" altLang="en-US" sz="1000" i="1" dirty="0"/>
              <a:t>et al.</a:t>
            </a:r>
            <a:r>
              <a:rPr lang="en-GB" altLang="en-US" sz="1000" dirty="0"/>
              <a:t>, 1996, </a:t>
            </a:r>
            <a:r>
              <a:rPr lang="en-GB" altLang="en-US" sz="1000" i="1" dirty="0"/>
              <a:t>American Association of Petroleum Geologists Bulletin</a:t>
            </a:r>
            <a:r>
              <a:rPr lang="en-GB" altLang="en-US" sz="1000" dirty="0"/>
              <a:t> 80: 875-890, </a:t>
            </a:r>
            <a:r>
              <a:rPr lang="en-GB" sz="1000" dirty="0"/>
              <a:t>https://doi.org/10.1306/64ED88F4-1724-11D7-8645000102C1865D</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4106AC15-DEE2-4797-8D0C-E83F6E30EE8D}" type="slidenum">
              <a:rPr lang="en-GB" altLang="en-US" smtClean="0"/>
              <a:pPr/>
              <a:t>46</a:t>
            </a:fld>
            <a:endParaRPr lang="en-GB" altLang="en-US"/>
          </a:p>
        </p:txBody>
      </p:sp>
    </p:spTree>
    <p:extLst>
      <p:ext uri="{BB962C8B-B14F-4D97-AF65-F5344CB8AC3E}">
        <p14:creationId xmlns:p14="http://schemas.microsoft.com/office/powerpoint/2010/main" val="368709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1422359916"/>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16351626"/>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28379464"/>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91139783"/>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63671395"/>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4381324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8256207"/>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25281110"/>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90574766"/>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52228826"/>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36193346"/>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37602993"/>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E9C8D-6004-4D4F-9E4C-3D7C60B81CA7}"/>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E9529F3-9BEF-4845-81CB-6D371345DC0C}"/>
              </a:ext>
            </a:extLst>
          </p:cNvPr>
          <p:cNvSpPr>
            <a:spLocks noGrp="1"/>
          </p:cNvSpPr>
          <p:nvPr>
            <p:ph type="body"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C1756F7-FB1D-4209-8882-A8C6836E00CC}"/>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24542E0C-AF02-45E3-9A13-A1FD08EEE1D6}"/>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99131613"/>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23BB5EF6-2786-49F3-B334-237545E295DF}"/>
              </a:ext>
            </a:extLst>
          </p:cNvPr>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a:extLst>
              <a:ext uri="{FF2B5EF4-FFF2-40B4-BE49-F238E27FC236}">
                <a16:creationId xmlns:a16="http://schemas.microsoft.com/office/drawing/2014/main" id="{08E76B05-6714-4538-A97A-73544D037F89}"/>
              </a:ext>
            </a:extLst>
          </p:cNvPr>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a:extLst>
              <a:ext uri="{FF2B5EF4-FFF2-40B4-BE49-F238E27FC236}">
                <a16:creationId xmlns:a16="http://schemas.microsoft.com/office/drawing/2014/main" id="{30650CCE-5885-4BD1-8831-919C16D79A40}"/>
              </a:ext>
            </a:extLst>
          </p:cNvPr>
          <p:cNvSpPr>
            <a:spLocks noChangeShapeType="1"/>
          </p:cNvSpPr>
          <p:nvPr userDrawn="1"/>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 bg1="dk2" tx1="lt1" bg2="dk1" tx2="lt2" accent1="accent1" accent2="accent2" accent3="accent3" accent4="accent4" accent5="accent5" accent6="accent6" hlink="hlink" folHlink="folHlink"/>
  <p:sldLayoutIdLst>
    <p:sldLayoutId id="2147483677"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8.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3.jpeg"/></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4.emf"/><Relationship Id="rId5" Type="http://schemas.openxmlformats.org/officeDocument/2006/relationships/image" Target="../media/image33.jpeg"/><Relationship Id="rId4" Type="http://schemas.openxmlformats.org/officeDocument/2006/relationships/image" Target="../media/image32.jpeg"/></Relationships>
</file>

<file path=ppt/slides/_rels/slide1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6.jpe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jpe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42.jpe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45.jpe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48.png"/><Relationship Id="rId4" Type="http://schemas.openxmlformats.org/officeDocument/2006/relationships/image" Target="../media/image47.jpe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51.jpeg"/><Relationship Id="rId4" Type="http://schemas.openxmlformats.org/officeDocument/2006/relationships/image" Target="../media/image50.jpeg"/></Relationships>
</file>

<file path=ppt/slides/_rels/slide2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image" Target="../media/image58.jpeg"/><Relationship Id="rId4" Type="http://schemas.openxmlformats.org/officeDocument/2006/relationships/image" Target="../media/image57.jpeg"/></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61.png"/><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63.jpeg"/></Relationships>
</file>

<file path=ppt/slides/_rels/slide3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66.jpeg"/></Relationships>
</file>

<file path=ppt/slides/_rels/slide3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69.jpeg"/><Relationship Id="rId4" Type="http://schemas.openxmlformats.org/officeDocument/2006/relationships/image" Target="../media/image68.jpeg"/></Relationships>
</file>

<file path=ppt/slides/_rels/slide3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73.jpeg"/><Relationship Id="rId5" Type="http://schemas.openxmlformats.org/officeDocument/2006/relationships/image" Target="../media/image72.jpeg"/><Relationship Id="rId4" Type="http://schemas.openxmlformats.org/officeDocument/2006/relationships/image" Target="../media/image71.jpeg"/></Relationships>
</file>

<file path=ppt/slides/_rels/slide34.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75.jpeg"/></Relationships>
</file>

<file path=ppt/slides/_rels/slide3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35.xml"/><Relationship Id="rId1" Type="http://schemas.openxmlformats.org/officeDocument/2006/relationships/slideLayout" Target="../slideLayouts/slideLayout13.xml"/><Relationship Id="rId5" Type="http://schemas.openxmlformats.org/officeDocument/2006/relationships/image" Target="../media/image78.jpeg"/><Relationship Id="rId4" Type="http://schemas.openxmlformats.org/officeDocument/2006/relationships/image" Target="../media/image77.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80.jpeg"/></Relationships>
</file>

<file path=ppt/slides/_rels/slide3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83.jpeg"/><Relationship Id="rId4" Type="http://schemas.openxmlformats.org/officeDocument/2006/relationships/image" Target="../media/image82.png"/></Relationships>
</file>

<file path=ppt/slides/_rels/slide3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40.xml"/><Relationship Id="rId1" Type="http://schemas.openxmlformats.org/officeDocument/2006/relationships/slideLayout" Target="../slideLayouts/slideLayout13.xml"/><Relationship Id="rId5" Type="http://schemas.openxmlformats.org/officeDocument/2006/relationships/image" Target="../media/image50.jpeg"/><Relationship Id="rId4" Type="http://schemas.openxmlformats.org/officeDocument/2006/relationships/image" Target="../media/image86.jpeg"/></Relationships>
</file>

<file path=ppt/slides/_rels/slide41.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88.png"/></Relationships>
</file>

<file path=ppt/slides/_rels/slide4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2.xml"/><Relationship Id="rId1" Type="http://schemas.openxmlformats.org/officeDocument/2006/relationships/slideLayout" Target="../slideLayouts/slideLayout13.xml"/><Relationship Id="rId5" Type="http://schemas.openxmlformats.org/officeDocument/2006/relationships/image" Target="../media/image91.jpeg"/><Relationship Id="rId4" Type="http://schemas.openxmlformats.org/officeDocument/2006/relationships/image" Target="../media/image90.png"/></Relationships>
</file>

<file path=ppt/slides/_rels/slide4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9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C7B8BDC7-D1AC-4976-B37D-14ACEF0B95EE}"/>
              </a:ext>
            </a:extLst>
          </p:cNvPr>
          <p:cNvSpPr>
            <a:spLocks noGrp="1" noChangeArrowheads="1"/>
          </p:cNvSpPr>
          <p:nvPr>
            <p:ph type="ctrTitle"/>
          </p:nvPr>
        </p:nvSpPr>
        <p:spPr>
          <a:xfrm>
            <a:off x="239713" y="967538"/>
            <a:ext cx="8705850" cy="3213187"/>
          </a:xfrm>
        </p:spPr>
        <p:txBody>
          <a:bodyPr/>
          <a:lstStyle/>
          <a:p>
            <a:pPr>
              <a:lnSpc>
                <a:spcPct val="120000"/>
              </a:lnSpc>
            </a:pPr>
            <a:r>
              <a:rPr lang="en-US" altLang="en-US" sz="3200" dirty="0"/>
              <a:t>EART 28202 :  Structural Geology</a:t>
            </a:r>
            <a:br>
              <a:rPr lang="en-US" altLang="en-US" sz="3200" dirty="0"/>
            </a:br>
            <a:br>
              <a:rPr lang="en-US" altLang="en-US" dirty="0"/>
            </a:br>
            <a:br>
              <a:rPr lang="en-US" altLang="en-US" dirty="0"/>
            </a:br>
            <a:br>
              <a:rPr lang="en-US" altLang="en-US" dirty="0"/>
            </a:br>
            <a:r>
              <a:rPr lang="en-US" altLang="en-US" sz="3200" dirty="0">
                <a:solidFill>
                  <a:srgbClr val="FF6600"/>
                </a:solidFill>
              </a:rPr>
              <a:t>Class 10 :  Strike-slip Tectonic Regimes</a:t>
            </a:r>
            <a:endParaRPr lang="en-US" alt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55728BBD-0FCB-41BC-975E-FAE3E3BDEF1D}"/>
              </a:ext>
            </a:extLst>
          </p:cNvPr>
          <p:cNvSpPr>
            <a:spLocks noGrp="1" noChangeArrowheads="1"/>
          </p:cNvSpPr>
          <p:nvPr>
            <p:ph type="title"/>
          </p:nvPr>
        </p:nvSpPr>
        <p:spPr>
          <a:noFill/>
        </p:spPr>
        <p:txBody>
          <a:bodyPr/>
          <a:lstStyle/>
          <a:p>
            <a:r>
              <a:rPr lang="en-GB" altLang="en-US">
                <a:effectLst/>
              </a:rPr>
              <a:t>Strike-slip tectonic regimes</a:t>
            </a:r>
          </a:p>
        </p:txBody>
      </p:sp>
      <p:sp>
        <p:nvSpPr>
          <p:cNvPr id="100355" name="Rectangle 3">
            <a:extLst>
              <a:ext uri="{FF2B5EF4-FFF2-40B4-BE49-F238E27FC236}">
                <a16:creationId xmlns:a16="http://schemas.microsoft.com/office/drawing/2014/main" id="{F7F12815-3646-408B-9785-AFB0D0C8A695}"/>
              </a:ext>
            </a:extLst>
          </p:cNvPr>
          <p:cNvSpPr>
            <a:spLocks noGrp="1" noChangeArrowheads="1"/>
          </p:cNvSpPr>
          <p:nvPr>
            <p:ph type="body" sz="half" idx="1"/>
          </p:nvPr>
        </p:nvSpPr>
        <p:spPr>
          <a:xfrm>
            <a:off x="112714" y="768350"/>
            <a:ext cx="4096032" cy="5548313"/>
          </a:xfrm>
          <a:noFill/>
        </p:spPr>
        <p:txBody>
          <a:bodyPr/>
          <a:lstStyle/>
          <a:p>
            <a:pPr marL="177800" indent="-177800"/>
            <a:r>
              <a:rPr lang="en-GB" altLang="en-US" sz="1700" dirty="0">
                <a:solidFill>
                  <a:srgbClr val="FF6600"/>
                </a:solidFill>
                <a:effectLst/>
              </a:rPr>
              <a:t>Strike-slip faults</a:t>
            </a:r>
            <a:r>
              <a:rPr lang="en-GB" altLang="en-US" sz="1700" dirty="0">
                <a:effectLst/>
              </a:rPr>
              <a:t> are faults with a slip vector that is parallel with the strike of the fault, and therefore </a:t>
            </a:r>
            <a:r>
              <a:rPr lang="en-GB" altLang="en-US" sz="1700" dirty="0">
                <a:solidFill>
                  <a:srgbClr val="FF66CC"/>
                </a:solidFill>
                <a:effectLst/>
              </a:rPr>
              <a:t>parallel with the surface of the Earth</a:t>
            </a:r>
          </a:p>
          <a:p>
            <a:pPr marL="177800" indent="-177800">
              <a:spcBef>
                <a:spcPct val="75000"/>
              </a:spcBef>
            </a:pPr>
            <a:r>
              <a:rPr lang="en-GB" altLang="en-US" sz="1700" dirty="0">
                <a:effectLst/>
              </a:rPr>
              <a:t>They include some of the longest faults in the world and are renown for their close association with major earthquakes – but they </a:t>
            </a:r>
            <a:r>
              <a:rPr lang="en-GB" altLang="en-US" sz="1700" dirty="0">
                <a:solidFill>
                  <a:srgbClr val="FF66FF"/>
                </a:solidFill>
                <a:effectLst/>
              </a:rPr>
              <a:t>occur at all scales</a:t>
            </a:r>
          </a:p>
          <a:p>
            <a:pPr marL="177800" indent="-177800">
              <a:spcBef>
                <a:spcPct val="75000"/>
              </a:spcBef>
            </a:pPr>
            <a:r>
              <a:rPr lang="en-GB" altLang="en-US" sz="1700" dirty="0">
                <a:effectLst/>
              </a:rPr>
              <a:t>Most large-scale strike-slip faults are approximately vertical and so on maps they appear as </a:t>
            </a:r>
            <a:r>
              <a:rPr lang="en-GB" altLang="en-US" sz="1700" dirty="0">
                <a:solidFill>
                  <a:srgbClr val="FF66FF"/>
                </a:solidFill>
                <a:effectLst/>
              </a:rPr>
              <a:t>straight</a:t>
            </a:r>
            <a:r>
              <a:rPr lang="en-GB" altLang="en-US" sz="1700" dirty="0">
                <a:effectLst/>
              </a:rPr>
              <a:t> lines. However, </a:t>
            </a:r>
            <a:r>
              <a:rPr lang="en-GB" altLang="en-US" sz="1700" dirty="0">
                <a:solidFill>
                  <a:srgbClr val="FF66FF"/>
                </a:solidFill>
                <a:effectLst/>
              </a:rPr>
              <a:t>locally they curve</a:t>
            </a:r>
            <a:r>
              <a:rPr lang="en-GB" altLang="en-US" sz="1700" dirty="0">
                <a:effectLst/>
              </a:rPr>
              <a:t> and these geometrical irregularities generate a range of structures that are economically significant</a:t>
            </a:r>
          </a:p>
        </p:txBody>
      </p:sp>
      <p:pic>
        <p:nvPicPr>
          <p:cNvPr id="100357" name="Picture 2" descr="IGR00.jpg">
            <a:extLst>
              <a:ext uri="{FF2B5EF4-FFF2-40B4-BE49-F238E27FC236}">
                <a16:creationId xmlns:a16="http://schemas.microsoft.com/office/drawing/2014/main" id="{B3E6BAAF-FB81-48CC-B085-E21AC920E0C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11688" y="941388"/>
            <a:ext cx="4192587" cy="56435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0359" name="Text Box 7">
            <a:extLst>
              <a:ext uri="{FF2B5EF4-FFF2-40B4-BE49-F238E27FC236}">
                <a16:creationId xmlns:a16="http://schemas.microsoft.com/office/drawing/2014/main" id="{E4D59B38-ECBF-4E32-BF35-02F0255BBE45}"/>
              </a:ext>
            </a:extLst>
          </p:cNvPr>
          <p:cNvSpPr txBox="1">
            <a:spLocks noChangeArrowheads="1"/>
          </p:cNvSpPr>
          <p:nvPr/>
        </p:nvSpPr>
        <p:spPr bwMode="auto">
          <a:xfrm>
            <a:off x="2032000" y="6345238"/>
            <a:ext cx="25479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San Andreas Fault, California</a:t>
            </a:r>
          </a:p>
        </p:txBody>
      </p:sp>
      <p:sp>
        <p:nvSpPr>
          <p:cNvPr id="100361" name="AutoShape 9">
            <a:extLst>
              <a:ext uri="{FF2B5EF4-FFF2-40B4-BE49-F238E27FC236}">
                <a16:creationId xmlns:a16="http://schemas.microsoft.com/office/drawing/2014/main" id="{C19B7FD6-7AD7-421B-BA6D-1AC31DEAA4FD}"/>
              </a:ext>
            </a:extLst>
          </p:cNvPr>
          <p:cNvSpPr>
            <a:spLocks noChangeAspect="1" noChangeArrowheads="1"/>
          </p:cNvSpPr>
          <p:nvPr/>
        </p:nvSpPr>
        <p:spPr bwMode="auto">
          <a:xfrm>
            <a:off x="4413250" y="2074863"/>
            <a:ext cx="161925" cy="153987"/>
          </a:xfrm>
          <a:prstGeom prst="star5">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0362" name="AutoShape 10">
            <a:extLst>
              <a:ext uri="{FF2B5EF4-FFF2-40B4-BE49-F238E27FC236}">
                <a16:creationId xmlns:a16="http://schemas.microsoft.com/office/drawing/2014/main" id="{8EAD6FF4-D1A6-4B70-BDA9-C36DFFEFFDC7}"/>
              </a:ext>
            </a:extLst>
          </p:cNvPr>
          <p:cNvSpPr>
            <a:spLocks noChangeAspect="1" noChangeArrowheads="1"/>
          </p:cNvSpPr>
          <p:nvPr/>
        </p:nvSpPr>
        <p:spPr bwMode="auto">
          <a:xfrm>
            <a:off x="8864600" y="2259013"/>
            <a:ext cx="161925" cy="153987"/>
          </a:xfrm>
          <a:prstGeom prst="star5">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a:extLst>
              <a:ext uri="{FF2B5EF4-FFF2-40B4-BE49-F238E27FC236}">
                <a16:creationId xmlns:a16="http://schemas.microsoft.com/office/drawing/2014/main" id="{068A4FCA-9E5A-4273-A507-2FA5D8AEFDF7}"/>
              </a:ext>
            </a:extLst>
          </p:cNvPr>
          <p:cNvSpPr>
            <a:spLocks noGrp="1" noChangeArrowheads="1"/>
          </p:cNvSpPr>
          <p:nvPr>
            <p:ph type="title"/>
          </p:nvPr>
        </p:nvSpPr>
        <p:spPr>
          <a:noFill/>
        </p:spPr>
        <p:txBody>
          <a:bodyPr/>
          <a:lstStyle/>
          <a:p>
            <a:r>
              <a:rPr lang="en-GB" altLang="en-US">
                <a:effectLst/>
              </a:rPr>
              <a:t>Classification of strike-slip faults</a:t>
            </a:r>
          </a:p>
        </p:txBody>
      </p:sp>
      <p:sp>
        <p:nvSpPr>
          <p:cNvPr id="214019" name="Rectangle 3">
            <a:extLst>
              <a:ext uri="{FF2B5EF4-FFF2-40B4-BE49-F238E27FC236}">
                <a16:creationId xmlns:a16="http://schemas.microsoft.com/office/drawing/2014/main" id="{DCA50A3A-8D6D-49E6-B913-F3E2985EDC4C}"/>
              </a:ext>
            </a:extLst>
          </p:cNvPr>
          <p:cNvSpPr>
            <a:spLocks noGrp="1" noChangeArrowheads="1"/>
          </p:cNvSpPr>
          <p:nvPr>
            <p:ph type="body" sz="half" idx="1"/>
          </p:nvPr>
        </p:nvSpPr>
        <p:spPr>
          <a:xfrm>
            <a:off x="122238" y="757238"/>
            <a:ext cx="8888412" cy="2676525"/>
          </a:xfrm>
          <a:noFill/>
        </p:spPr>
        <p:txBody>
          <a:bodyPr/>
          <a:lstStyle/>
          <a:p>
            <a:pPr marL="177800" indent="-177800">
              <a:spcBef>
                <a:spcPct val="75000"/>
              </a:spcBef>
            </a:pPr>
            <a:r>
              <a:rPr lang="en-GB" altLang="en-US" sz="1700" dirty="0">
                <a:effectLst/>
              </a:rPr>
              <a:t>Different names</a:t>
            </a:r>
            <a:r>
              <a:rPr lang="en-GB" altLang="en-US" sz="1700" dirty="0">
                <a:solidFill>
                  <a:srgbClr val="FF6600"/>
                </a:solidFill>
                <a:effectLst/>
              </a:rPr>
              <a:t> </a:t>
            </a:r>
            <a:r>
              <a:rPr lang="en-GB" altLang="en-US" sz="1700" dirty="0">
                <a:effectLst/>
              </a:rPr>
              <a:t>have been applied to</a:t>
            </a:r>
            <a:r>
              <a:rPr lang="en-GB" altLang="en-US" sz="1700" dirty="0">
                <a:solidFill>
                  <a:srgbClr val="FF6600"/>
                </a:solidFill>
                <a:effectLst/>
              </a:rPr>
              <a:t> strike-slip faults</a:t>
            </a:r>
            <a:r>
              <a:rPr lang="en-GB" altLang="en-US" sz="1700" dirty="0">
                <a:effectLst/>
              </a:rPr>
              <a:t> and the way in which these terms are used has not been completely standardized</a:t>
            </a:r>
          </a:p>
          <a:p>
            <a:pPr marL="177800" indent="-177800">
              <a:spcBef>
                <a:spcPct val="75000"/>
              </a:spcBef>
            </a:pPr>
            <a:r>
              <a:rPr lang="en-GB" altLang="en-US" sz="1700" dirty="0">
                <a:solidFill>
                  <a:srgbClr val="FF6600"/>
                </a:solidFill>
                <a:effectLst/>
              </a:rPr>
              <a:t>Wrench fault </a:t>
            </a:r>
            <a:r>
              <a:rPr lang="en-GB" altLang="en-US" sz="1700" dirty="0">
                <a:effectLst/>
              </a:rPr>
              <a:t>is an old term that is effectively synonymous with </a:t>
            </a:r>
            <a:r>
              <a:rPr lang="en-GB" altLang="en-US" sz="1700" dirty="0">
                <a:solidFill>
                  <a:srgbClr val="FF66FF"/>
                </a:solidFill>
                <a:effectLst/>
              </a:rPr>
              <a:t>strike-slip fault</a:t>
            </a:r>
            <a:r>
              <a:rPr lang="en-GB" altLang="en-US" sz="1700" dirty="0">
                <a:effectLst/>
              </a:rPr>
              <a:t> – it is not now commonly used</a:t>
            </a:r>
          </a:p>
          <a:p>
            <a:pPr marL="177800" indent="-177800">
              <a:spcBef>
                <a:spcPct val="75000"/>
              </a:spcBef>
            </a:pPr>
            <a:r>
              <a:rPr lang="en-GB" altLang="en-US" sz="1700" dirty="0">
                <a:solidFill>
                  <a:srgbClr val="FF6600"/>
                </a:solidFill>
                <a:effectLst/>
              </a:rPr>
              <a:t>Tear faults</a:t>
            </a:r>
            <a:r>
              <a:rPr lang="en-GB" altLang="en-US" sz="1700" dirty="0">
                <a:effectLst/>
              </a:rPr>
              <a:t> are </a:t>
            </a:r>
            <a:r>
              <a:rPr lang="en-GB" altLang="en-US" sz="1700" i="1" dirty="0">
                <a:solidFill>
                  <a:srgbClr val="FF66FF"/>
                </a:solidFill>
                <a:effectLst/>
              </a:rPr>
              <a:t>relatively</a:t>
            </a:r>
            <a:r>
              <a:rPr lang="en-GB" altLang="en-US" sz="1700" dirty="0">
                <a:effectLst/>
              </a:rPr>
              <a:t> </a:t>
            </a:r>
            <a:r>
              <a:rPr lang="en-GB" altLang="en-US" sz="1700" dirty="0">
                <a:solidFill>
                  <a:srgbClr val="FF66FF"/>
                </a:solidFill>
                <a:effectLst/>
              </a:rPr>
              <a:t>small-scale </a:t>
            </a:r>
            <a:r>
              <a:rPr lang="en-GB" altLang="en-US" sz="1700" dirty="0">
                <a:effectLst/>
              </a:rPr>
              <a:t>strike-slip faults that accommodat</a:t>
            </a:r>
            <a:r>
              <a:rPr lang="en-GB" altLang="en-US" sz="1700" spc="300" dirty="0">
                <a:effectLst/>
              </a:rPr>
              <a:t>e/</a:t>
            </a:r>
            <a:r>
              <a:rPr lang="en-GB" altLang="en-US" sz="1700" dirty="0">
                <a:effectLst/>
              </a:rPr>
              <a:t>distribute the slip within larger scale structures; </a:t>
            </a:r>
            <a:r>
              <a:rPr lang="en-GB" altLang="en-US" sz="1700" dirty="0">
                <a:solidFill>
                  <a:srgbClr val="FF6600"/>
                </a:solidFill>
                <a:effectLst/>
              </a:rPr>
              <a:t>transform faults</a:t>
            </a:r>
            <a:r>
              <a:rPr lang="en-GB" altLang="en-US" sz="1700" dirty="0">
                <a:effectLst/>
              </a:rPr>
              <a:t> and </a:t>
            </a:r>
            <a:r>
              <a:rPr lang="en-GB" altLang="en-US" sz="1700" dirty="0">
                <a:solidFill>
                  <a:srgbClr val="FF6600"/>
                </a:solidFill>
                <a:effectLst/>
              </a:rPr>
              <a:t>transcurrent faults</a:t>
            </a:r>
            <a:r>
              <a:rPr lang="en-GB" altLang="en-US" sz="1700" dirty="0">
                <a:effectLst/>
              </a:rPr>
              <a:t> are major </a:t>
            </a:r>
            <a:r>
              <a:rPr lang="en-GB" altLang="en-US" sz="1700" dirty="0">
                <a:solidFill>
                  <a:srgbClr val="FF66FF"/>
                </a:solidFill>
                <a:effectLst/>
              </a:rPr>
              <a:t>regional strike-slip systems</a:t>
            </a:r>
          </a:p>
        </p:txBody>
      </p:sp>
      <p:pic>
        <p:nvPicPr>
          <p:cNvPr id="214032" name="Picture 2" descr="GR02.jpg">
            <a:extLst>
              <a:ext uri="{FF2B5EF4-FFF2-40B4-BE49-F238E27FC236}">
                <a16:creationId xmlns:a16="http://schemas.microsoft.com/office/drawing/2014/main" id="{7D5A9020-0157-4668-B4A8-C536EB5ABC1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595813" y="3317875"/>
            <a:ext cx="4346575" cy="3255963"/>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4034" name="Text Box 18">
            <a:extLst>
              <a:ext uri="{FF2B5EF4-FFF2-40B4-BE49-F238E27FC236}">
                <a16:creationId xmlns:a16="http://schemas.microsoft.com/office/drawing/2014/main" id="{10E3CBDE-388B-40FC-8874-6A5B3DC49ED4}"/>
              </a:ext>
            </a:extLst>
          </p:cNvPr>
          <p:cNvSpPr txBox="1">
            <a:spLocks noChangeArrowheads="1"/>
          </p:cNvSpPr>
          <p:nvPr/>
        </p:nvSpPr>
        <p:spPr bwMode="auto">
          <a:xfrm>
            <a:off x="122238" y="3508375"/>
            <a:ext cx="4281487" cy="277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A key criterion of distinction is the notion of slip transfer: </a:t>
            </a:r>
            <a:r>
              <a:rPr lang="en-GB" altLang="en-US" sz="1700" dirty="0">
                <a:solidFill>
                  <a:srgbClr val="FF6600"/>
                </a:solidFill>
                <a:effectLst>
                  <a:outerShdw blurRad="38100" dist="38100" dir="2700000" algn="tl">
                    <a:srgbClr val="000000"/>
                  </a:outerShdw>
                </a:effectLst>
                <a:latin typeface="Arial" panose="020B0604020202020204" pitchFamily="34" charset="0"/>
              </a:rPr>
              <a:t>transfer faults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effectLst/>
                <a:latin typeface="Arial" panose="020B0604020202020204" pitchFamily="34" charset="0"/>
              </a:rPr>
              <a:t>are strike-slip faults with </a:t>
            </a:r>
            <a:r>
              <a:rPr lang="en-GB" altLang="en-US" sz="1700" dirty="0">
                <a:solidFill>
                  <a:srgbClr val="FF66FF"/>
                </a:solidFill>
                <a:effectLst/>
                <a:latin typeface="Arial" panose="020B0604020202020204" pitchFamily="34" charset="0"/>
              </a:rPr>
              <a:t>tips that terminate against other faults</a:t>
            </a:r>
            <a:r>
              <a:rPr lang="en-GB" altLang="en-US" sz="1700" dirty="0">
                <a:effectLst/>
                <a:latin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rPr>
              <a:t> and which serve to </a:t>
            </a:r>
            <a:r>
              <a:rPr lang="en-GB" altLang="en-US" sz="1700" dirty="0">
                <a:effectLst/>
                <a:latin typeface="Arial" panose="020B0604020202020204" pitchFamily="34" charset="0"/>
              </a:rPr>
              <a:t>transfer displacement from one fault to another</a:t>
            </a:r>
          </a:p>
          <a:p>
            <a:pPr>
              <a:lnSpc>
                <a:spcPct val="120000"/>
              </a:lnSpc>
              <a:spcBef>
                <a:spcPct val="75000"/>
              </a:spcBef>
              <a:buClr>
                <a:schemeClr val="tx1"/>
              </a:buClr>
              <a:buFontTx/>
              <a:buChar char="•"/>
            </a:pPr>
            <a:r>
              <a:rPr lang="en-GB" altLang="en-US" sz="1700" dirty="0">
                <a:solidFill>
                  <a:srgbClr val="FF66FF"/>
                </a:solidFill>
                <a:effectLst>
                  <a:outerShdw blurRad="38100" dist="38100" dir="2700000" algn="tl">
                    <a:srgbClr val="000000"/>
                  </a:outerShdw>
                </a:effectLst>
                <a:latin typeface="Arial" panose="020B0604020202020204" pitchFamily="34" charset="0"/>
              </a:rPr>
              <a:t>Transform faults </a:t>
            </a:r>
            <a:r>
              <a:rPr lang="en-GB" altLang="en-US" sz="1700" dirty="0">
                <a:effectLst>
                  <a:outerShdw blurRad="38100" dist="38100" dir="2700000" algn="tl">
                    <a:srgbClr val="000000"/>
                  </a:outerShdw>
                </a:effectLst>
                <a:latin typeface="Arial" panose="020B0604020202020204" pitchFamily="34" charset="0"/>
              </a:rPr>
              <a:t>and some tear faults are transfer faults; </a:t>
            </a:r>
            <a:r>
              <a:rPr lang="en-GB" altLang="en-US" sz="1700" dirty="0">
                <a:solidFill>
                  <a:srgbClr val="FF66FF"/>
                </a:solidFill>
                <a:effectLst>
                  <a:outerShdw blurRad="38100" dist="38100" dir="2700000" algn="tl">
                    <a:srgbClr val="000000"/>
                  </a:outerShdw>
                </a:effectLst>
                <a:latin typeface="Arial" panose="020B0604020202020204" pitchFamily="34" charset="0"/>
              </a:rPr>
              <a:t>transcurrent faults</a:t>
            </a:r>
            <a:r>
              <a:rPr lang="en-GB" altLang="en-US" sz="1700" dirty="0">
                <a:effectLst>
                  <a:outerShdw blurRad="38100" dist="38100" dir="2700000" algn="tl">
                    <a:srgbClr val="000000"/>
                  </a:outerShdw>
                </a:effectLst>
                <a:latin typeface="Arial" panose="020B0604020202020204" pitchFamily="34" charset="0"/>
              </a:rPr>
              <a:t> and other tear faults are not</a:t>
            </a:r>
          </a:p>
        </p:txBody>
      </p:sp>
      <p:sp>
        <p:nvSpPr>
          <p:cNvPr id="214031" name="Text Box 15">
            <a:extLst>
              <a:ext uri="{FF2B5EF4-FFF2-40B4-BE49-F238E27FC236}">
                <a16:creationId xmlns:a16="http://schemas.microsoft.com/office/drawing/2014/main" id="{9BE81181-D432-4FEA-AA8E-26B7B2355FF4}"/>
              </a:ext>
            </a:extLst>
          </p:cNvPr>
          <p:cNvSpPr txBox="1">
            <a:spLocks noChangeArrowheads="1"/>
          </p:cNvSpPr>
          <p:nvPr/>
        </p:nvSpPr>
        <p:spPr bwMode="auto">
          <a:xfrm>
            <a:off x="4781550" y="3352800"/>
            <a:ext cx="400367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0000"/>
                </a:solidFill>
                <a:effectLst/>
                <a:latin typeface="Arial" panose="020B0604020202020204" pitchFamily="34" charset="0"/>
              </a:rPr>
              <a:t>A transfer fault between two extension fractures</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304832A0-ECDE-41BD-B52E-7BE20C1B1489}"/>
              </a:ext>
            </a:extLst>
          </p:cNvPr>
          <p:cNvSpPr>
            <a:spLocks noGrp="1" noChangeArrowheads="1"/>
          </p:cNvSpPr>
          <p:nvPr>
            <p:ph type="title"/>
          </p:nvPr>
        </p:nvSpPr>
        <p:spPr>
          <a:noFill/>
        </p:spPr>
        <p:txBody>
          <a:bodyPr/>
          <a:lstStyle/>
          <a:p>
            <a:r>
              <a:rPr lang="en-GB" altLang="en-US">
                <a:effectLst/>
              </a:rPr>
              <a:t>Tear faults that are transfer faults</a:t>
            </a:r>
          </a:p>
        </p:txBody>
      </p:sp>
      <p:sp>
        <p:nvSpPr>
          <p:cNvPr id="238595" name="Rectangle 3">
            <a:extLst>
              <a:ext uri="{FF2B5EF4-FFF2-40B4-BE49-F238E27FC236}">
                <a16:creationId xmlns:a16="http://schemas.microsoft.com/office/drawing/2014/main" id="{8573C25B-4E5F-4911-909C-A2C1885FA50D}"/>
              </a:ext>
            </a:extLst>
          </p:cNvPr>
          <p:cNvSpPr>
            <a:spLocks noGrp="1" noChangeArrowheads="1"/>
          </p:cNvSpPr>
          <p:nvPr>
            <p:ph type="body" sz="half" idx="1"/>
          </p:nvPr>
        </p:nvSpPr>
        <p:spPr>
          <a:xfrm>
            <a:off x="114300" y="766763"/>
            <a:ext cx="4638675" cy="3465512"/>
          </a:xfrm>
          <a:noFill/>
        </p:spPr>
        <p:txBody>
          <a:bodyPr/>
          <a:lstStyle/>
          <a:p>
            <a:pPr marL="177800" indent="-177800">
              <a:spcBef>
                <a:spcPct val="75000"/>
              </a:spcBef>
              <a:buClr>
                <a:schemeClr val="tx1"/>
              </a:buClr>
              <a:buSzTx/>
              <a:buFontTx/>
              <a:buChar char="•"/>
            </a:pPr>
            <a:r>
              <a:rPr lang="en-GB" altLang="en-US" sz="1700" dirty="0"/>
              <a:t>In </a:t>
            </a:r>
            <a:r>
              <a:rPr lang="en-GB" altLang="en-US" sz="1700" dirty="0">
                <a:solidFill>
                  <a:srgbClr val="FF6600"/>
                </a:solidFill>
              </a:rPr>
              <a:t>contractional and extensional</a:t>
            </a:r>
            <a:r>
              <a:rPr lang="en-GB" altLang="en-US" sz="1700" dirty="0"/>
              <a:t> terrains, transfer faults are approximately parallel with the regional transport direction and connect adjacent reverse or normal faults within larger scale contractional or extensional fault systems</a:t>
            </a:r>
          </a:p>
          <a:p>
            <a:pPr marL="177800" indent="-177800">
              <a:spcBef>
                <a:spcPct val="75000"/>
              </a:spcBef>
              <a:buClr>
                <a:schemeClr val="tx1"/>
              </a:buClr>
              <a:buSzTx/>
              <a:buFontTx/>
              <a:buChar char="•"/>
            </a:pPr>
            <a:r>
              <a:rPr lang="en-GB" altLang="en-US" sz="1700" dirty="0">
                <a:effectLst/>
              </a:rPr>
              <a:t>They may separate domains in which the extensiona</a:t>
            </a:r>
            <a:r>
              <a:rPr lang="en-GB" altLang="en-US" sz="1700" spc="300" dirty="0">
                <a:effectLst/>
              </a:rPr>
              <a:t>l/</a:t>
            </a:r>
            <a:r>
              <a:rPr lang="en-GB" altLang="en-US" sz="1700" dirty="0">
                <a:effectLst/>
              </a:rPr>
              <a:t>contractional faults have </a:t>
            </a:r>
            <a:r>
              <a:rPr lang="en-GB" altLang="en-US" sz="1700" dirty="0">
                <a:solidFill>
                  <a:srgbClr val="FF66FF"/>
                </a:solidFill>
                <a:effectLst/>
              </a:rPr>
              <a:t>different geometry and displacement</a:t>
            </a:r>
            <a:r>
              <a:rPr lang="en-GB" altLang="en-US" sz="1700" dirty="0">
                <a:effectLst/>
              </a:rPr>
              <a:t> (</a:t>
            </a:r>
            <a:r>
              <a:rPr lang="en-GB" altLang="en-US" sz="1700" i="1" dirty="0">
                <a:effectLst/>
              </a:rPr>
              <a:t>e.g.</a:t>
            </a:r>
            <a:r>
              <a:rPr lang="en-GB" altLang="en-US" sz="1700" dirty="0">
                <a:effectLst/>
              </a:rPr>
              <a:t>, oppositely dipping rift margin faults)</a:t>
            </a:r>
          </a:p>
        </p:txBody>
      </p:sp>
      <p:grpSp>
        <p:nvGrpSpPr>
          <p:cNvPr id="238597" name="Group 5">
            <a:extLst>
              <a:ext uri="{FF2B5EF4-FFF2-40B4-BE49-F238E27FC236}">
                <a16:creationId xmlns:a16="http://schemas.microsoft.com/office/drawing/2014/main" id="{8B70A50D-DCBF-4DF8-9320-AFABC658404B}"/>
              </a:ext>
            </a:extLst>
          </p:cNvPr>
          <p:cNvGrpSpPr>
            <a:grpSpLocks/>
          </p:cNvGrpSpPr>
          <p:nvPr/>
        </p:nvGrpSpPr>
        <p:grpSpPr bwMode="auto">
          <a:xfrm>
            <a:off x="4906963" y="896938"/>
            <a:ext cx="3906837" cy="4264025"/>
            <a:chOff x="3403" y="540"/>
            <a:chExt cx="2286" cy="2495"/>
          </a:xfrm>
        </p:grpSpPr>
        <p:sp>
          <p:nvSpPr>
            <p:cNvPr id="238598" name="Rectangle 6">
              <a:extLst>
                <a:ext uri="{FF2B5EF4-FFF2-40B4-BE49-F238E27FC236}">
                  <a16:creationId xmlns:a16="http://schemas.microsoft.com/office/drawing/2014/main" id="{09F29152-CFF8-4D61-85D2-2D4E5A598A65}"/>
                </a:ext>
              </a:extLst>
            </p:cNvPr>
            <p:cNvSpPr>
              <a:spLocks noChangeArrowheads="1"/>
            </p:cNvSpPr>
            <p:nvPr/>
          </p:nvSpPr>
          <p:spPr bwMode="auto">
            <a:xfrm>
              <a:off x="3403" y="540"/>
              <a:ext cx="2286" cy="249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38599" name="Picture 2" descr="GR03.jpg">
              <a:extLst>
                <a:ext uri="{FF2B5EF4-FFF2-40B4-BE49-F238E27FC236}">
                  <a16:creationId xmlns:a16="http://schemas.microsoft.com/office/drawing/2014/main" id="{68DFE00E-3673-411E-9DF0-2043DD6FF4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69" y="601"/>
              <a:ext cx="2172" cy="2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8600" name="Rectangle 8">
              <a:extLst>
                <a:ext uri="{FF2B5EF4-FFF2-40B4-BE49-F238E27FC236}">
                  <a16:creationId xmlns:a16="http://schemas.microsoft.com/office/drawing/2014/main" id="{DE3E9550-8C1C-45B9-8697-3A006360162D}"/>
                </a:ext>
              </a:extLst>
            </p:cNvPr>
            <p:cNvSpPr>
              <a:spLocks noChangeArrowheads="1"/>
            </p:cNvSpPr>
            <p:nvPr/>
          </p:nvSpPr>
          <p:spPr bwMode="auto">
            <a:xfrm>
              <a:off x="3444" y="1781"/>
              <a:ext cx="155" cy="131"/>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01" name="Rectangle 9">
              <a:extLst>
                <a:ext uri="{FF2B5EF4-FFF2-40B4-BE49-F238E27FC236}">
                  <a16:creationId xmlns:a16="http://schemas.microsoft.com/office/drawing/2014/main" id="{84936A57-665E-4CE5-9B97-34C773E66B51}"/>
                </a:ext>
              </a:extLst>
            </p:cNvPr>
            <p:cNvSpPr>
              <a:spLocks noChangeArrowheads="1"/>
            </p:cNvSpPr>
            <p:nvPr/>
          </p:nvSpPr>
          <p:spPr bwMode="auto">
            <a:xfrm>
              <a:off x="3438" y="576"/>
              <a:ext cx="178" cy="14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38609" name="Group 17">
            <a:extLst>
              <a:ext uri="{FF2B5EF4-FFF2-40B4-BE49-F238E27FC236}">
                <a16:creationId xmlns:a16="http://schemas.microsoft.com/office/drawing/2014/main" id="{32C9BDC7-390F-40E6-9CE9-86374C2880D7}"/>
              </a:ext>
            </a:extLst>
          </p:cNvPr>
          <p:cNvGrpSpPr>
            <a:grpSpLocks/>
          </p:cNvGrpSpPr>
          <p:nvPr/>
        </p:nvGrpSpPr>
        <p:grpSpPr bwMode="auto">
          <a:xfrm>
            <a:off x="769938" y="4351338"/>
            <a:ext cx="3254375" cy="2298700"/>
            <a:chOff x="485" y="2741"/>
            <a:chExt cx="2050" cy="1448"/>
          </a:xfrm>
        </p:grpSpPr>
        <p:sp>
          <p:nvSpPr>
            <p:cNvPr id="238606" name="Rectangle 14">
              <a:extLst>
                <a:ext uri="{FF2B5EF4-FFF2-40B4-BE49-F238E27FC236}">
                  <a16:creationId xmlns:a16="http://schemas.microsoft.com/office/drawing/2014/main" id="{D76ADDB0-99C8-4C71-9359-8F25BBA8FC11}"/>
                </a:ext>
              </a:extLst>
            </p:cNvPr>
            <p:cNvSpPr>
              <a:spLocks noChangeArrowheads="1"/>
            </p:cNvSpPr>
            <p:nvPr/>
          </p:nvSpPr>
          <p:spPr bwMode="auto">
            <a:xfrm>
              <a:off x="485" y="2741"/>
              <a:ext cx="2050" cy="144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38604" name="Picture 2" descr="GR04.jpg">
              <a:extLst>
                <a:ext uri="{FF2B5EF4-FFF2-40B4-BE49-F238E27FC236}">
                  <a16:creationId xmlns:a16="http://schemas.microsoft.com/office/drawing/2014/main" id="{54154357-6BB0-4D87-8291-F85131F8D642}"/>
                </a:ext>
              </a:extLst>
            </p:cNvPr>
            <p:cNvPicPr>
              <a:picLocks noChangeAspect="1"/>
            </p:cNvPicPr>
            <p:nvPr/>
          </p:nvPicPr>
          <p:blipFill>
            <a:blip r:embed="rId4">
              <a:lum bright="-4000" contrast="10000"/>
              <a:extLst>
                <a:ext uri="{28A0092B-C50C-407E-A947-70E740481C1C}">
                  <a14:useLocalDpi xmlns:a14="http://schemas.microsoft.com/office/drawing/2010/main" val="0"/>
                </a:ext>
              </a:extLst>
            </a:blip>
            <a:srcRect/>
            <a:stretch>
              <a:fillRect/>
            </a:stretch>
          </p:blipFill>
          <p:spPr bwMode="auto">
            <a:xfrm>
              <a:off x="535" y="2797"/>
              <a:ext cx="1949" cy="1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38608" name="Text Box 16">
            <a:extLst>
              <a:ext uri="{FF2B5EF4-FFF2-40B4-BE49-F238E27FC236}">
                <a16:creationId xmlns:a16="http://schemas.microsoft.com/office/drawing/2014/main" id="{260D376C-AA79-4C58-8216-B120EEDCBF53}"/>
              </a:ext>
            </a:extLst>
          </p:cNvPr>
          <p:cNvSpPr txBox="1">
            <a:spLocks noChangeArrowheads="1"/>
          </p:cNvSpPr>
          <p:nvPr/>
        </p:nvSpPr>
        <p:spPr bwMode="auto">
          <a:xfrm>
            <a:off x="4627563" y="5305425"/>
            <a:ext cx="4224337"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Tear faults that are transfer faults may reflect the response of the hanging wall to a </a:t>
            </a:r>
            <a:r>
              <a:rPr lang="en-GB" altLang="en-US" sz="1700">
                <a:solidFill>
                  <a:srgbClr val="FF66FF"/>
                </a:solidFill>
                <a:effectLst>
                  <a:outerShdw blurRad="38100" dist="38100" dir="2700000" algn="tl">
                    <a:srgbClr val="000000"/>
                  </a:outerShdw>
                </a:effectLst>
                <a:latin typeface="Arial" panose="020B0604020202020204" pitchFamily="34" charset="0"/>
              </a:rPr>
              <a:t>lateral ramp </a:t>
            </a:r>
            <a:r>
              <a:rPr lang="en-GB" altLang="en-US" sz="1700">
                <a:effectLst>
                  <a:outerShdw blurRad="38100" dist="38100" dir="2700000" algn="tl">
                    <a:srgbClr val="000000"/>
                  </a:outerShdw>
                </a:effectLst>
                <a:latin typeface="Arial" panose="020B0604020202020204" pitchFamily="34" charset="0"/>
              </a:rPr>
              <a:t>in the footwall</a:t>
            </a:r>
            <a:r>
              <a:rPr lang="en-GB" altLang="en-US" sz="1700">
                <a:solidFill>
                  <a:srgbClr val="FF66FF"/>
                </a:solidFill>
                <a:effectLst>
                  <a:outerShdw blurRad="38100" dist="38100" dir="2700000" algn="tl">
                    <a:srgbClr val="000000"/>
                  </a:outerShdw>
                </a:effectLst>
                <a:latin typeface="Arial" panose="020B0604020202020204" pitchFamily="34" charset="0"/>
              </a:rPr>
              <a:t> </a:t>
            </a:r>
            <a:r>
              <a:rPr lang="en-GB" altLang="en-US" sz="1700">
                <a:effectLst>
                  <a:outerShdw blurRad="38100" dist="38100" dir="2700000" algn="tl">
                    <a:srgbClr val="000000"/>
                  </a:outerShdw>
                </a:effectLst>
                <a:latin typeface="Arial" panose="020B0604020202020204" pitchFamily="34" charset="0"/>
              </a:rPr>
              <a:t>or they may actually be that lateral ramp</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355DA534-7DC1-4E4F-81D5-42F3DC01961E}"/>
              </a:ext>
            </a:extLst>
          </p:cNvPr>
          <p:cNvSpPr>
            <a:spLocks noGrp="1" noChangeArrowheads="1"/>
          </p:cNvSpPr>
          <p:nvPr>
            <p:ph type="title"/>
          </p:nvPr>
        </p:nvSpPr>
        <p:spPr>
          <a:noFill/>
        </p:spPr>
        <p:txBody>
          <a:bodyPr/>
          <a:lstStyle/>
          <a:p>
            <a:r>
              <a:rPr lang="en-GB" altLang="en-US">
                <a:effectLst/>
              </a:rPr>
              <a:t>Tear faults that are transfer faults  2</a:t>
            </a:r>
          </a:p>
        </p:txBody>
      </p:sp>
      <p:sp>
        <p:nvSpPr>
          <p:cNvPr id="236547" name="Rectangle 3">
            <a:extLst>
              <a:ext uri="{FF2B5EF4-FFF2-40B4-BE49-F238E27FC236}">
                <a16:creationId xmlns:a16="http://schemas.microsoft.com/office/drawing/2014/main" id="{0FC01FA8-06BD-45D8-AB39-5D01D9F80EF4}"/>
              </a:ext>
            </a:extLst>
          </p:cNvPr>
          <p:cNvSpPr>
            <a:spLocks noGrp="1" noChangeArrowheads="1"/>
          </p:cNvSpPr>
          <p:nvPr>
            <p:ph type="body" sz="half" idx="1"/>
          </p:nvPr>
        </p:nvSpPr>
        <p:spPr>
          <a:xfrm>
            <a:off x="4846638" y="5378450"/>
            <a:ext cx="3800475" cy="627063"/>
          </a:xfrm>
          <a:noFill/>
        </p:spPr>
        <p:txBody>
          <a:bodyPr/>
          <a:lstStyle/>
          <a:p>
            <a:pPr marL="0" indent="0">
              <a:spcBef>
                <a:spcPct val="75000"/>
              </a:spcBef>
              <a:buFont typeface="Times" panose="02020603050405020304" pitchFamily="18" charset="0"/>
              <a:buNone/>
            </a:pPr>
            <a:r>
              <a:rPr lang="en-GB" altLang="en-US" sz="1400">
                <a:solidFill>
                  <a:srgbClr val="FFFF00"/>
                </a:solidFill>
                <a:effectLst/>
              </a:rPr>
              <a:t>Transfer faults (major ones highlighted) within the Basin and Range extensional province</a:t>
            </a:r>
          </a:p>
        </p:txBody>
      </p:sp>
      <p:pic>
        <p:nvPicPr>
          <p:cNvPr id="236555" name="Picture 11" descr="16a">
            <a:extLst>
              <a:ext uri="{FF2B5EF4-FFF2-40B4-BE49-F238E27FC236}">
                <a16:creationId xmlns:a16="http://schemas.microsoft.com/office/drawing/2014/main" id="{4701BF03-01BD-4AC3-8A21-CA9316AE3195}"/>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34975" y="3894138"/>
            <a:ext cx="3916363" cy="27892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36558" name="Picture 14" descr="02b-SSfaultNevada">
            <a:extLst>
              <a:ext uri="{FF2B5EF4-FFF2-40B4-BE49-F238E27FC236}">
                <a16:creationId xmlns:a16="http://schemas.microsoft.com/office/drawing/2014/main" id="{8E668AFC-835C-4FEE-8A0C-64E665570C6E}"/>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249238" y="898525"/>
            <a:ext cx="4233862" cy="2787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236562" name="Group 18">
            <a:extLst>
              <a:ext uri="{FF2B5EF4-FFF2-40B4-BE49-F238E27FC236}">
                <a16:creationId xmlns:a16="http://schemas.microsoft.com/office/drawing/2014/main" id="{5668452A-1278-49FE-A324-C6FA9179CC2C}"/>
              </a:ext>
            </a:extLst>
          </p:cNvPr>
          <p:cNvGrpSpPr>
            <a:grpSpLocks/>
          </p:cNvGrpSpPr>
          <p:nvPr/>
        </p:nvGrpSpPr>
        <p:grpSpPr bwMode="auto">
          <a:xfrm>
            <a:off x="4684713" y="874713"/>
            <a:ext cx="4241800" cy="4413250"/>
            <a:chOff x="131" y="528"/>
            <a:chExt cx="2226" cy="2316"/>
          </a:xfrm>
        </p:grpSpPr>
        <p:sp>
          <p:nvSpPr>
            <p:cNvPr id="236561" name="Rectangle 17">
              <a:extLst>
                <a:ext uri="{FF2B5EF4-FFF2-40B4-BE49-F238E27FC236}">
                  <a16:creationId xmlns:a16="http://schemas.microsoft.com/office/drawing/2014/main" id="{CA33DEA7-2E99-43E4-A3A3-B3D9C5D6F0F3}"/>
                </a:ext>
              </a:extLst>
            </p:cNvPr>
            <p:cNvSpPr>
              <a:spLocks noChangeArrowheads="1"/>
            </p:cNvSpPr>
            <p:nvPr/>
          </p:nvSpPr>
          <p:spPr bwMode="auto">
            <a:xfrm>
              <a:off x="131" y="528"/>
              <a:ext cx="2226" cy="2316"/>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36560" name="Picture 16" descr="02a">
              <a:extLst>
                <a:ext uri="{FF2B5EF4-FFF2-40B4-BE49-F238E27FC236}">
                  <a16:creationId xmlns:a16="http://schemas.microsoft.com/office/drawing/2014/main" id="{53A2EDA6-6D1F-402A-9505-E73450CE21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 y="578"/>
              <a:ext cx="2124" cy="2227"/>
            </a:xfrm>
            <a:prstGeom prst="rect">
              <a:avLst/>
            </a:prstGeom>
            <a:noFill/>
            <a:extLst>
              <a:ext uri="{909E8E84-426E-40DD-AFC4-6F175D3DCCD1}">
                <a14:hiddenFill xmlns:a14="http://schemas.microsoft.com/office/drawing/2010/main">
                  <a:solidFill>
                    <a:srgbClr val="FFFFFF"/>
                  </a:solidFill>
                </a14:hiddenFill>
              </a:ext>
            </a:extLst>
          </p:spPr>
        </p:pic>
      </p:grpSp>
      <p:sp>
        <p:nvSpPr>
          <p:cNvPr id="236563" name="Line 19">
            <a:extLst>
              <a:ext uri="{FF2B5EF4-FFF2-40B4-BE49-F238E27FC236}">
                <a16:creationId xmlns:a16="http://schemas.microsoft.com/office/drawing/2014/main" id="{09AA4C78-CA72-44C8-8DD3-0E02C81FDC73}"/>
              </a:ext>
            </a:extLst>
          </p:cNvPr>
          <p:cNvSpPr>
            <a:spLocks noChangeShapeType="1"/>
          </p:cNvSpPr>
          <p:nvPr/>
        </p:nvSpPr>
        <p:spPr bwMode="auto">
          <a:xfrm flipV="1">
            <a:off x="8728075" y="4048125"/>
            <a:ext cx="1588" cy="287338"/>
          </a:xfrm>
          <a:prstGeom prst="line">
            <a:avLst/>
          </a:prstGeom>
          <a:noFill/>
          <a:ln w="190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6564" name="Text Box 20">
            <a:extLst>
              <a:ext uri="{FF2B5EF4-FFF2-40B4-BE49-F238E27FC236}">
                <a16:creationId xmlns:a16="http://schemas.microsoft.com/office/drawing/2014/main" id="{DB0F3B17-F184-4A15-839C-EC5B18337A05}"/>
              </a:ext>
            </a:extLst>
          </p:cNvPr>
          <p:cNvSpPr txBox="1">
            <a:spLocks noChangeArrowheads="1"/>
          </p:cNvSpPr>
          <p:nvPr/>
        </p:nvSpPr>
        <p:spPr bwMode="auto">
          <a:xfrm>
            <a:off x="8597900" y="3859213"/>
            <a:ext cx="203200"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800">
                <a:solidFill>
                  <a:schemeClr val="bg2"/>
                </a:solidFill>
                <a:effectLst/>
                <a:latin typeface="Arial" panose="020B0604020202020204" pitchFamily="34" charset="0"/>
              </a:rPr>
              <a:t>N</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101AA5F8-73BC-4CBC-917C-7271CD514092}"/>
              </a:ext>
            </a:extLst>
          </p:cNvPr>
          <p:cNvSpPr>
            <a:spLocks noGrp="1" noChangeArrowheads="1"/>
          </p:cNvSpPr>
          <p:nvPr>
            <p:ph type="title"/>
          </p:nvPr>
        </p:nvSpPr>
        <p:spPr>
          <a:noFill/>
        </p:spPr>
        <p:txBody>
          <a:bodyPr/>
          <a:lstStyle/>
          <a:p>
            <a:r>
              <a:rPr lang="en-GB" altLang="en-US">
                <a:effectLst/>
              </a:rPr>
              <a:t>Tear faults that are transfer faults  3</a:t>
            </a:r>
          </a:p>
        </p:txBody>
      </p:sp>
      <p:sp>
        <p:nvSpPr>
          <p:cNvPr id="217091" name="Rectangle 3">
            <a:extLst>
              <a:ext uri="{FF2B5EF4-FFF2-40B4-BE49-F238E27FC236}">
                <a16:creationId xmlns:a16="http://schemas.microsoft.com/office/drawing/2014/main" id="{9DB522B1-EE37-4806-A4D5-A6D53FE707FA}"/>
              </a:ext>
            </a:extLst>
          </p:cNvPr>
          <p:cNvSpPr>
            <a:spLocks noGrp="1" noChangeArrowheads="1"/>
          </p:cNvSpPr>
          <p:nvPr>
            <p:ph type="body" sz="half" idx="1"/>
          </p:nvPr>
        </p:nvSpPr>
        <p:spPr>
          <a:xfrm>
            <a:off x="4384675" y="4837113"/>
            <a:ext cx="4487863" cy="1706562"/>
          </a:xfrm>
          <a:noFill/>
        </p:spPr>
        <p:txBody>
          <a:bodyPr/>
          <a:lstStyle/>
          <a:p>
            <a:pPr marL="177800" indent="-177800">
              <a:spcBef>
                <a:spcPct val="75000"/>
              </a:spcBef>
            </a:pPr>
            <a:r>
              <a:rPr lang="en-GB" altLang="en-US" sz="1700">
                <a:effectLst/>
              </a:rPr>
              <a:t>In </a:t>
            </a:r>
            <a:r>
              <a:rPr lang="en-GB" altLang="en-US" sz="1700">
                <a:solidFill>
                  <a:srgbClr val="FF6600"/>
                </a:solidFill>
                <a:effectLst/>
              </a:rPr>
              <a:t>strike-slip terrains</a:t>
            </a:r>
            <a:r>
              <a:rPr lang="en-GB" altLang="en-US" sz="1700">
                <a:effectLst/>
              </a:rPr>
              <a:t> second order strike-slip faults may serve to </a:t>
            </a:r>
            <a:r>
              <a:rPr lang="en-GB" altLang="en-US" sz="1700">
                <a:solidFill>
                  <a:srgbClr val="FF66FF"/>
                </a:solidFill>
                <a:effectLst/>
              </a:rPr>
              <a:t>transfer displacement between en échelon first order strike-slip faults</a:t>
            </a:r>
            <a:r>
              <a:rPr lang="en-GB" altLang="en-US" sz="1700">
                <a:effectLst/>
              </a:rPr>
              <a:t>. These transfer faults may develop into strike-slip duplexes</a:t>
            </a:r>
          </a:p>
        </p:txBody>
      </p:sp>
      <p:pic>
        <p:nvPicPr>
          <p:cNvPr id="217094" name="Picture 6" descr="02c2">
            <a:extLst>
              <a:ext uri="{FF2B5EF4-FFF2-40B4-BE49-F238E27FC236}">
                <a16:creationId xmlns:a16="http://schemas.microsoft.com/office/drawing/2014/main" id="{444863DB-BC14-453B-97F0-621E472FA49B}"/>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b="72681"/>
          <a:stretch>
            <a:fillRect/>
          </a:stretch>
        </p:blipFill>
        <p:spPr>
          <a:xfrm>
            <a:off x="525463" y="2943225"/>
            <a:ext cx="3517900" cy="13747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217098" name="Group 10">
            <a:extLst>
              <a:ext uri="{FF2B5EF4-FFF2-40B4-BE49-F238E27FC236}">
                <a16:creationId xmlns:a16="http://schemas.microsoft.com/office/drawing/2014/main" id="{BA5DE7D1-6AAE-43BA-80B5-4757B34FA9FA}"/>
              </a:ext>
            </a:extLst>
          </p:cNvPr>
          <p:cNvGrpSpPr>
            <a:grpSpLocks/>
          </p:cNvGrpSpPr>
          <p:nvPr/>
        </p:nvGrpSpPr>
        <p:grpSpPr bwMode="auto">
          <a:xfrm>
            <a:off x="4916488" y="896938"/>
            <a:ext cx="3846512" cy="3613150"/>
            <a:chOff x="3052" y="630"/>
            <a:chExt cx="2548" cy="2393"/>
          </a:xfrm>
        </p:grpSpPr>
        <p:sp>
          <p:nvSpPr>
            <p:cNvPr id="217097" name="Rectangle 9">
              <a:extLst>
                <a:ext uri="{FF2B5EF4-FFF2-40B4-BE49-F238E27FC236}">
                  <a16:creationId xmlns:a16="http://schemas.microsoft.com/office/drawing/2014/main" id="{BA0292D4-277C-4A0E-B0D4-6BD00740D8FB}"/>
                </a:ext>
              </a:extLst>
            </p:cNvPr>
            <p:cNvSpPr>
              <a:spLocks noChangeArrowheads="1"/>
            </p:cNvSpPr>
            <p:nvPr/>
          </p:nvSpPr>
          <p:spPr bwMode="auto">
            <a:xfrm>
              <a:off x="3052" y="630"/>
              <a:ext cx="2548" cy="239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17092" name="Picture 4" descr="02c1">
              <a:extLst>
                <a:ext uri="{FF2B5EF4-FFF2-40B4-BE49-F238E27FC236}">
                  <a16:creationId xmlns:a16="http://schemas.microsoft.com/office/drawing/2014/main" id="{F33F695F-26D7-493F-A792-61A1F49DEB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3" y="693"/>
              <a:ext cx="2469" cy="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7096" name="Rectangle 8">
              <a:extLst>
                <a:ext uri="{FF2B5EF4-FFF2-40B4-BE49-F238E27FC236}">
                  <a16:creationId xmlns:a16="http://schemas.microsoft.com/office/drawing/2014/main" id="{5198A22C-5964-4F55-9542-A01824884EC9}"/>
                </a:ext>
              </a:extLst>
            </p:cNvPr>
            <p:cNvSpPr>
              <a:spLocks noChangeArrowheads="1"/>
            </p:cNvSpPr>
            <p:nvPr/>
          </p:nvSpPr>
          <p:spPr bwMode="auto">
            <a:xfrm>
              <a:off x="4430" y="2767"/>
              <a:ext cx="849" cy="13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pic>
        <p:nvPicPr>
          <p:cNvPr id="217099" name="Picture 11" descr="02c2">
            <a:extLst>
              <a:ext uri="{FF2B5EF4-FFF2-40B4-BE49-F238E27FC236}">
                <a16:creationId xmlns:a16="http://schemas.microsoft.com/office/drawing/2014/main" id="{24230619-AF3A-490E-AEC9-ACD280879E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6694" b="33466"/>
          <a:stretch>
            <a:fillRect/>
          </a:stretch>
        </p:blipFill>
        <p:spPr bwMode="auto">
          <a:xfrm>
            <a:off x="522288" y="4606925"/>
            <a:ext cx="3530600" cy="201295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7101" name="Text Box 13">
            <a:extLst>
              <a:ext uri="{FF2B5EF4-FFF2-40B4-BE49-F238E27FC236}">
                <a16:creationId xmlns:a16="http://schemas.microsoft.com/office/drawing/2014/main" id="{B950BAA6-4BFE-4400-9D47-58054F33F049}"/>
              </a:ext>
            </a:extLst>
          </p:cNvPr>
          <p:cNvSpPr txBox="1">
            <a:spLocks noChangeArrowheads="1"/>
          </p:cNvSpPr>
          <p:nvPr/>
        </p:nvSpPr>
        <p:spPr bwMode="auto">
          <a:xfrm>
            <a:off x="131763" y="769938"/>
            <a:ext cx="4581525"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Jura Mountains (right) are an example of a </a:t>
            </a:r>
            <a:r>
              <a:rPr lang="en-GB" altLang="en-US" sz="1700">
                <a:solidFill>
                  <a:srgbClr val="FF6600"/>
                </a:solidFill>
                <a:effectLst>
                  <a:outerShdw blurRad="38100" dist="38100" dir="2700000" algn="tl">
                    <a:srgbClr val="000000"/>
                  </a:outerShdw>
                </a:effectLst>
                <a:latin typeface="Arial" panose="020B0604020202020204" pitchFamily="34" charset="0"/>
              </a:rPr>
              <a:t>fold and thrust belt</a:t>
            </a:r>
            <a:r>
              <a:rPr lang="en-GB" altLang="en-US" sz="1700">
                <a:effectLst>
                  <a:outerShdw blurRad="38100" dist="38100" dir="2700000" algn="tl">
                    <a:srgbClr val="000000"/>
                  </a:outerShdw>
                </a:effectLst>
                <a:latin typeface="Arial" panose="020B0604020202020204" pitchFamily="34" charset="0"/>
              </a:rPr>
              <a:t> that is segmented by tear faults – these separate sections of the thrust sheet that have different magnitudes of displacement on the underlying décollement</a:t>
            </a:r>
          </a:p>
        </p:txBody>
      </p:sp>
      <p:sp>
        <p:nvSpPr>
          <p:cNvPr id="217102" name="Rectangle 14">
            <a:extLst>
              <a:ext uri="{FF2B5EF4-FFF2-40B4-BE49-F238E27FC236}">
                <a16:creationId xmlns:a16="http://schemas.microsoft.com/office/drawing/2014/main" id="{A23C0AD0-7FEB-4120-928A-0625DCD151C8}"/>
              </a:ext>
            </a:extLst>
          </p:cNvPr>
          <p:cNvSpPr>
            <a:spLocks noChangeArrowheads="1"/>
          </p:cNvSpPr>
          <p:nvPr/>
        </p:nvSpPr>
        <p:spPr bwMode="auto">
          <a:xfrm>
            <a:off x="555625" y="4054475"/>
            <a:ext cx="236538" cy="2079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7103" name="Rectangle 15">
            <a:extLst>
              <a:ext uri="{FF2B5EF4-FFF2-40B4-BE49-F238E27FC236}">
                <a16:creationId xmlns:a16="http://schemas.microsoft.com/office/drawing/2014/main" id="{79BE69E3-00E9-4C53-8D02-3368EE7E258F}"/>
              </a:ext>
            </a:extLst>
          </p:cNvPr>
          <p:cNvSpPr>
            <a:spLocks noChangeArrowheads="1"/>
          </p:cNvSpPr>
          <p:nvPr/>
        </p:nvSpPr>
        <p:spPr bwMode="auto">
          <a:xfrm>
            <a:off x="546100" y="6383338"/>
            <a:ext cx="236538" cy="2159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7104" name="Text Box 16">
            <a:extLst>
              <a:ext uri="{FF2B5EF4-FFF2-40B4-BE49-F238E27FC236}">
                <a16:creationId xmlns:a16="http://schemas.microsoft.com/office/drawing/2014/main" id="{5D96B8E1-C90B-47A0-879C-5F88588B5AF7}"/>
              </a:ext>
            </a:extLst>
          </p:cNvPr>
          <p:cNvSpPr txBox="1">
            <a:spLocks noChangeArrowheads="1"/>
          </p:cNvSpPr>
          <p:nvPr/>
        </p:nvSpPr>
        <p:spPr bwMode="auto">
          <a:xfrm>
            <a:off x="6958013" y="2493963"/>
            <a:ext cx="118268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chemeClr val="bg2"/>
                </a:solidFill>
                <a:effectLst/>
                <a:latin typeface="Arial" panose="020B0604020202020204" pitchFamily="34" charset="0"/>
              </a:rPr>
              <a:t>Lake Geneva</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a:extLst>
              <a:ext uri="{FF2B5EF4-FFF2-40B4-BE49-F238E27FC236}">
                <a16:creationId xmlns:a16="http://schemas.microsoft.com/office/drawing/2014/main" id="{69FFE977-4377-4CE5-9EF9-7241D71024CE}"/>
              </a:ext>
            </a:extLst>
          </p:cNvPr>
          <p:cNvSpPr>
            <a:spLocks noGrp="1" noChangeArrowheads="1"/>
          </p:cNvSpPr>
          <p:nvPr>
            <p:ph type="title"/>
          </p:nvPr>
        </p:nvSpPr>
        <p:spPr>
          <a:noFill/>
        </p:spPr>
        <p:txBody>
          <a:bodyPr/>
          <a:lstStyle/>
          <a:p>
            <a:r>
              <a:rPr lang="en-GB" altLang="en-US">
                <a:effectLst/>
              </a:rPr>
              <a:t>Oceanic transform faults</a:t>
            </a:r>
          </a:p>
        </p:txBody>
      </p:sp>
      <p:sp>
        <p:nvSpPr>
          <p:cNvPr id="244739" name="Rectangle 3">
            <a:extLst>
              <a:ext uri="{FF2B5EF4-FFF2-40B4-BE49-F238E27FC236}">
                <a16:creationId xmlns:a16="http://schemas.microsoft.com/office/drawing/2014/main" id="{B2F981B7-A9D5-49D9-9EBA-D91EB07A5D31}"/>
              </a:ext>
            </a:extLst>
          </p:cNvPr>
          <p:cNvSpPr>
            <a:spLocks noGrp="1" noChangeArrowheads="1"/>
          </p:cNvSpPr>
          <p:nvPr>
            <p:ph type="body" sz="half" idx="1"/>
          </p:nvPr>
        </p:nvSpPr>
        <p:spPr>
          <a:xfrm>
            <a:off x="122238" y="776288"/>
            <a:ext cx="6491287" cy="1871662"/>
          </a:xfrm>
          <a:noFill/>
        </p:spPr>
        <p:txBody>
          <a:bodyPr/>
          <a:lstStyle/>
          <a:p>
            <a:pPr marL="177800" indent="-177800">
              <a:spcBef>
                <a:spcPct val="75000"/>
              </a:spcBef>
            </a:pPr>
            <a:r>
              <a:rPr lang="en-GB" altLang="en-US" sz="1700" dirty="0">
                <a:effectLst/>
              </a:rPr>
              <a:t>The largest scale transfer faults are </a:t>
            </a:r>
            <a:r>
              <a:rPr lang="en-GB" altLang="en-US" sz="1700" dirty="0">
                <a:solidFill>
                  <a:srgbClr val="FF6600"/>
                </a:solidFill>
                <a:effectLst/>
              </a:rPr>
              <a:t>transform faults</a:t>
            </a:r>
            <a:r>
              <a:rPr lang="en-GB" altLang="en-US" sz="1700" dirty="0">
                <a:effectLst/>
              </a:rPr>
              <a:t>, the active parts of which form </a:t>
            </a:r>
            <a:r>
              <a:rPr lang="en-GB" altLang="en-US" sz="1700" dirty="0">
                <a:solidFill>
                  <a:srgbClr val="FF66FF"/>
                </a:solidFill>
                <a:effectLst/>
              </a:rPr>
              <a:t>plate boundaries</a:t>
            </a:r>
          </a:p>
          <a:p>
            <a:pPr marL="177800" indent="-177800">
              <a:spcBef>
                <a:spcPts val="1200"/>
              </a:spcBef>
            </a:pPr>
            <a:r>
              <a:rPr lang="en-GB" altLang="en-US" sz="1700" dirty="0">
                <a:solidFill>
                  <a:srgbClr val="FF6600"/>
                </a:solidFill>
                <a:effectLst/>
              </a:rPr>
              <a:t>Oceanic transform faults</a:t>
            </a:r>
            <a:r>
              <a:rPr lang="en-GB" altLang="en-US" sz="1700" dirty="0">
                <a:effectLst/>
              </a:rPr>
              <a:t> are of three kinds depending upon the nature of the plate boundaries (ridge or trench) that they connect</a:t>
            </a:r>
          </a:p>
        </p:txBody>
      </p:sp>
      <p:pic>
        <p:nvPicPr>
          <p:cNvPr id="244740" name="Picture 4" descr="03a-transform-age">
            <a:extLst>
              <a:ext uri="{FF2B5EF4-FFF2-40B4-BE49-F238E27FC236}">
                <a16:creationId xmlns:a16="http://schemas.microsoft.com/office/drawing/2014/main" id="{EDE13C7A-528C-4481-BE63-BB84B65DCDA1}"/>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93713" y="2647950"/>
            <a:ext cx="5719762" cy="3970338"/>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244746" name="Group 10">
            <a:extLst>
              <a:ext uri="{FF2B5EF4-FFF2-40B4-BE49-F238E27FC236}">
                <a16:creationId xmlns:a16="http://schemas.microsoft.com/office/drawing/2014/main" id="{EB02394D-D41F-4CBA-BC6E-C3467C8F7AF7}"/>
              </a:ext>
            </a:extLst>
          </p:cNvPr>
          <p:cNvGrpSpPr>
            <a:grpSpLocks/>
          </p:cNvGrpSpPr>
          <p:nvPr/>
        </p:nvGrpSpPr>
        <p:grpSpPr bwMode="auto">
          <a:xfrm>
            <a:off x="6626225" y="838200"/>
            <a:ext cx="2263775" cy="5780088"/>
            <a:chOff x="4174" y="528"/>
            <a:chExt cx="1426" cy="3641"/>
          </a:xfrm>
        </p:grpSpPr>
        <p:sp>
          <p:nvSpPr>
            <p:cNvPr id="244744" name="Rectangle 8">
              <a:extLst>
                <a:ext uri="{FF2B5EF4-FFF2-40B4-BE49-F238E27FC236}">
                  <a16:creationId xmlns:a16="http://schemas.microsoft.com/office/drawing/2014/main" id="{B7D2EB4B-06B0-4DA4-B71F-C5887AB1A93A}"/>
                </a:ext>
              </a:extLst>
            </p:cNvPr>
            <p:cNvSpPr>
              <a:spLocks noChangeArrowheads="1"/>
            </p:cNvSpPr>
            <p:nvPr/>
          </p:nvSpPr>
          <p:spPr bwMode="auto">
            <a:xfrm>
              <a:off x="4174" y="528"/>
              <a:ext cx="1426" cy="3641"/>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44742" name="Picture 2" descr="GR06.jpg">
              <a:extLst>
                <a:ext uri="{FF2B5EF4-FFF2-40B4-BE49-F238E27FC236}">
                  <a16:creationId xmlns:a16="http://schemas.microsoft.com/office/drawing/2014/main" id="{CB5AF43D-43EA-423A-AE3D-7D44AEB561D7}"/>
                </a:ext>
              </a:extLst>
            </p:cNvPr>
            <p:cNvPicPr>
              <a:picLocks noChangeAspect="1"/>
            </p:cNvPicPr>
            <p:nvPr/>
          </p:nvPicPr>
          <p:blipFill>
            <a:blip r:embed="rId4">
              <a:lum bright="-6000" contrast="10000"/>
              <a:extLst>
                <a:ext uri="{28A0092B-C50C-407E-A947-70E740481C1C}">
                  <a14:useLocalDpi xmlns:a14="http://schemas.microsoft.com/office/drawing/2010/main" val="0"/>
                </a:ext>
              </a:extLst>
            </a:blip>
            <a:srcRect/>
            <a:stretch>
              <a:fillRect/>
            </a:stretch>
          </p:blipFill>
          <p:spPr bwMode="auto">
            <a:xfrm>
              <a:off x="4266" y="597"/>
              <a:ext cx="1234" cy="3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ED7F9F3A-C294-400E-B153-D78EBD67559D}"/>
              </a:ext>
            </a:extLst>
          </p:cNvPr>
          <p:cNvSpPr>
            <a:spLocks noGrp="1" noChangeArrowheads="1"/>
          </p:cNvSpPr>
          <p:nvPr>
            <p:ph type="title"/>
          </p:nvPr>
        </p:nvSpPr>
        <p:spPr>
          <a:noFill/>
        </p:spPr>
        <p:txBody>
          <a:bodyPr/>
          <a:lstStyle/>
          <a:p>
            <a:r>
              <a:rPr lang="en-GB" altLang="en-US">
                <a:effectLst/>
              </a:rPr>
              <a:t>Oceanic transform faults  2</a:t>
            </a:r>
          </a:p>
        </p:txBody>
      </p:sp>
      <p:sp>
        <p:nvSpPr>
          <p:cNvPr id="250883" name="Rectangle 3">
            <a:extLst>
              <a:ext uri="{FF2B5EF4-FFF2-40B4-BE49-F238E27FC236}">
                <a16:creationId xmlns:a16="http://schemas.microsoft.com/office/drawing/2014/main" id="{F6E18B57-317E-4B76-BE31-0CBC361DB527}"/>
              </a:ext>
            </a:extLst>
          </p:cNvPr>
          <p:cNvSpPr>
            <a:spLocks noGrp="1" noChangeArrowheads="1"/>
          </p:cNvSpPr>
          <p:nvPr>
            <p:ph type="body" sz="half" idx="1"/>
          </p:nvPr>
        </p:nvSpPr>
        <p:spPr>
          <a:xfrm>
            <a:off x="123825" y="749300"/>
            <a:ext cx="5940425" cy="3636963"/>
          </a:xfrm>
          <a:noFill/>
        </p:spPr>
        <p:txBody>
          <a:bodyPr/>
          <a:lstStyle/>
          <a:p>
            <a:pPr marL="177800" indent="-177800">
              <a:spcBef>
                <a:spcPct val="75000"/>
              </a:spcBef>
            </a:pPr>
            <a:r>
              <a:rPr lang="en-GB" altLang="en-US" sz="1700" dirty="0">
                <a:solidFill>
                  <a:srgbClr val="FF6600"/>
                </a:solidFill>
                <a:effectLst/>
              </a:rPr>
              <a:t>Ridge-ridge transform faults</a:t>
            </a:r>
            <a:r>
              <a:rPr lang="en-GB" altLang="en-US" sz="1700" dirty="0">
                <a:effectLst/>
              </a:rPr>
              <a:t> (overwhelmingly the most common kind) comprise </a:t>
            </a:r>
            <a:r>
              <a:rPr lang="en-GB" altLang="en-US" sz="1700" dirty="0">
                <a:solidFill>
                  <a:srgbClr val="FF66FF"/>
                </a:solidFill>
                <a:effectLst/>
              </a:rPr>
              <a:t>active parts</a:t>
            </a:r>
            <a:r>
              <a:rPr lang="en-GB" altLang="en-US" sz="1700" dirty="0">
                <a:effectLst/>
              </a:rPr>
              <a:t> between the two ridge segments, and </a:t>
            </a:r>
            <a:r>
              <a:rPr lang="en-GB" altLang="en-US" sz="1700" dirty="0">
                <a:solidFill>
                  <a:srgbClr val="FF66FF"/>
                </a:solidFill>
                <a:effectLst/>
              </a:rPr>
              <a:t>inactive parts</a:t>
            </a:r>
            <a:r>
              <a:rPr lang="en-GB" altLang="en-US" sz="1700" dirty="0">
                <a:effectLst/>
              </a:rPr>
              <a:t> – formerly active parts that have passed by the adjacent ridge segment</a:t>
            </a:r>
          </a:p>
          <a:p>
            <a:pPr marL="177800" indent="-177800">
              <a:spcBef>
                <a:spcPct val="75000"/>
              </a:spcBef>
            </a:pPr>
            <a:r>
              <a:rPr lang="en-GB" altLang="en-US" sz="1700" dirty="0">
                <a:effectLst/>
              </a:rPr>
              <a:t>Note that the slip sense on an active ridge-ridge transform fault is </a:t>
            </a:r>
            <a:r>
              <a:rPr lang="en-GB" altLang="en-US" sz="1700" dirty="0">
                <a:solidFill>
                  <a:srgbClr val="FF66FF"/>
                </a:solidFill>
                <a:effectLst/>
              </a:rPr>
              <a:t>opposite</a:t>
            </a:r>
            <a:r>
              <a:rPr lang="en-GB" altLang="en-US" sz="1700" dirty="0">
                <a:effectLst/>
              </a:rPr>
              <a:t> to the apparent offset of the ridges</a:t>
            </a:r>
          </a:p>
          <a:p>
            <a:pPr marL="177800" indent="-177800">
              <a:spcBef>
                <a:spcPct val="75000"/>
              </a:spcBef>
            </a:pPr>
            <a:r>
              <a:rPr lang="en-GB" altLang="en-US" sz="1700" dirty="0">
                <a:effectLst/>
              </a:rPr>
              <a:t>A ridge-ridge transform fault is not a single plane but a </a:t>
            </a:r>
            <a:r>
              <a:rPr lang="en-GB" altLang="en-US" sz="1700" dirty="0">
                <a:solidFill>
                  <a:srgbClr val="FF66FF"/>
                </a:solidFill>
                <a:effectLst/>
              </a:rPr>
              <a:t>fracture zone many kilometres wide </a:t>
            </a:r>
            <a:r>
              <a:rPr lang="en-GB" altLang="en-US" sz="1700" dirty="0">
                <a:effectLst/>
              </a:rPr>
              <a:t>– the width and structural complexity of this zone increases with increasing spreading-rate </a:t>
            </a:r>
          </a:p>
        </p:txBody>
      </p:sp>
      <p:grpSp>
        <p:nvGrpSpPr>
          <p:cNvPr id="250892" name="Group 12">
            <a:extLst>
              <a:ext uri="{FF2B5EF4-FFF2-40B4-BE49-F238E27FC236}">
                <a16:creationId xmlns:a16="http://schemas.microsoft.com/office/drawing/2014/main" id="{7B2C53AE-E37E-4272-BB8A-0B7560A1457D}"/>
              </a:ext>
            </a:extLst>
          </p:cNvPr>
          <p:cNvGrpSpPr>
            <a:grpSpLocks/>
          </p:cNvGrpSpPr>
          <p:nvPr/>
        </p:nvGrpSpPr>
        <p:grpSpPr bwMode="auto">
          <a:xfrm>
            <a:off x="6175375" y="879475"/>
            <a:ext cx="2762250" cy="2854325"/>
            <a:chOff x="3431" y="553"/>
            <a:chExt cx="2186" cy="2280"/>
          </a:xfrm>
        </p:grpSpPr>
        <p:sp>
          <p:nvSpPr>
            <p:cNvPr id="250891" name="Rectangle 11">
              <a:extLst>
                <a:ext uri="{FF2B5EF4-FFF2-40B4-BE49-F238E27FC236}">
                  <a16:creationId xmlns:a16="http://schemas.microsoft.com/office/drawing/2014/main" id="{696CFC94-30CE-4DB8-AAFC-0D6E05F7CF13}"/>
                </a:ext>
              </a:extLst>
            </p:cNvPr>
            <p:cNvSpPr>
              <a:spLocks noChangeArrowheads="1"/>
            </p:cNvSpPr>
            <p:nvPr/>
          </p:nvSpPr>
          <p:spPr bwMode="auto">
            <a:xfrm>
              <a:off x="3431" y="553"/>
              <a:ext cx="2186" cy="228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50889" name="Picture 2" descr="GR05.jpg">
              <a:extLst>
                <a:ext uri="{FF2B5EF4-FFF2-40B4-BE49-F238E27FC236}">
                  <a16:creationId xmlns:a16="http://schemas.microsoft.com/office/drawing/2014/main" id="{8813B691-199C-4FE5-A4BD-79351C9BE46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88" y="627"/>
              <a:ext cx="2072" cy="2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250916" name="Group 36">
            <a:extLst>
              <a:ext uri="{FF2B5EF4-FFF2-40B4-BE49-F238E27FC236}">
                <a16:creationId xmlns:a16="http://schemas.microsoft.com/office/drawing/2014/main" id="{21F930B1-1BED-472E-B0BD-B240D360A813}"/>
              </a:ext>
            </a:extLst>
          </p:cNvPr>
          <p:cNvGrpSpPr>
            <a:grpSpLocks/>
          </p:cNvGrpSpPr>
          <p:nvPr/>
        </p:nvGrpSpPr>
        <p:grpSpPr bwMode="auto">
          <a:xfrm>
            <a:off x="190500" y="4578350"/>
            <a:ext cx="2816225" cy="1668463"/>
            <a:chOff x="120" y="3099"/>
            <a:chExt cx="1774" cy="1051"/>
          </a:xfrm>
        </p:grpSpPr>
        <p:grpSp>
          <p:nvGrpSpPr>
            <p:cNvPr id="250908" name="Group 28">
              <a:extLst>
                <a:ext uri="{FF2B5EF4-FFF2-40B4-BE49-F238E27FC236}">
                  <a16:creationId xmlns:a16="http://schemas.microsoft.com/office/drawing/2014/main" id="{A4363702-2344-4E47-8B81-288A08CB3115}"/>
                </a:ext>
              </a:extLst>
            </p:cNvPr>
            <p:cNvGrpSpPr>
              <a:grpSpLocks/>
            </p:cNvGrpSpPr>
            <p:nvPr/>
          </p:nvGrpSpPr>
          <p:grpSpPr bwMode="auto">
            <a:xfrm>
              <a:off x="120" y="3099"/>
              <a:ext cx="1774" cy="1051"/>
              <a:chOff x="190" y="2838"/>
              <a:chExt cx="1995" cy="1182"/>
            </a:xfrm>
          </p:grpSpPr>
          <p:sp>
            <p:nvSpPr>
              <p:cNvPr id="250907" name="Rectangle 27">
                <a:extLst>
                  <a:ext uri="{FF2B5EF4-FFF2-40B4-BE49-F238E27FC236}">
                    <a16:creationId xmlns:a16="http://schemas.microsoft.com/office/drawing/2014/main" id="{4AA4B4B8-45BF-4973-9664-33980DBE6F10}"/>
                  </a:ext>
                </a:extLst>
              </p:cNvPr>
              <p:cNvSpPr>
                <a:spLocks noChangeArrowheads="1"/>
              </p:cNvSpPr>
              <p:nvPr/>
            </p:nvSpPr>
            <p:spPr bwMode="auto">
              <a:xfrm>
                <a:off x="190" y="2838"/>
                <a:ext cx="1995" cy="118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50893" name="Picture 13" descr="03b1">
                <a:extLst>
                  <a:ext uri="{FF2B5EF4-FFF2-40B4-BE49-F238E27FC236}">
                    <a16:creationId xmlns:a16="http://schemas.microsoft.com/office/drawing/2014/main" id="{754DC7AC-1928-470B-AA23-49A08E97AA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 y="2894"/>
                <a:ext cx="1918" cy="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0897" name="Rectangle 17">
                <a:extLst>
                  <a:ext uri="{FF2B5EF4-FFF2-40B4-BE49-F238E27FC236}">
                    <a16:creationId xmlns:a16="http://schemas.microsoft.com/office/drawing/2014/main" id="{354B1811-C0E0-4254-A1E4-2B7381822759}"/>
                  </a:ext>
                </a:extLst>
              </p:cNvPr>
              <p:cNvSpPr>
                <a:spLocks noChangeArrowheads="1"/>
              </p:cNvSpPr>
              <p:nvPr/>
            </p:nvSpPr>
            <p:spPr bwMode="auto">
              <a:xfrm>
                <a:off x="612" y="2890"/>
                <a:ext cx="226"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0898" name="Rectangle 18">
                <a:extLst>
                  <a:ext uri="{FF2B5EF4-FFF2-40B4-BE49-F238E27FC236}">
                    <a16:creationId xmlns:a16="http://schemas.microsoft.com/office/drawing/2014/main" id="{83BEBE06-4D02-43E0-AF29-6D8FA4C4BC58}"/>
                  </a:ext>
                </a:extLst>
              </p:cNvPr>
              <p:cNvSpPr>
                <a:spLocks noChangeArrowheads="1"/>
              </p:cNvSpPr>
              <p:nvPr/>
            </p:nvSpPr>
            <p:spPr bwMode="auto">
              <a:xfrm>
                <a:off x="834" y="3816"/>
                <a:ext cx="102" cy="10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0899" name="Rectangle 19">
                <a:extLst>
                  <a:ext uri="{FF2B5EF4-FFF2-40B4-BE49-F238E27FC236}">
                    <a16:creationId xmlns:a16="http://schemas.microsoft.com/office/drawing/2014/main" id="{24C2E25A-4418-4C94-8D2D-B7A68078F4A4}"/>
                  </a:ext>
                </a:extLst>
              </p:cNvPr>
              <p:cNvSpPr>
                <a:spLocks noChangeArrowheads="1"/>
              </p:cNvSpPr>
              <p:nvPr/>
            </p:nvSpPr>
            <p:spPr bwMode="auto">
              <a:xfrm>
                <a:off x="282" y="3926"/>
                <a:ext cx="94"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0913" name="Text Box 33">
              <a:extLst>
                <a:ext uri="{FF2B5EF4-FFF2-40B4-BE49-F238E27FC236}">
                  <a16:creationId xmlns:a16="http://schemas.microsoft.com/office/drawing/2014/main" id="{8275EDD5-E7C4-44A3-B487-900FB1DE81C8}"/>
                </a:ext>
              </a:extLst>
            </p:cNvPr>
            <p:cNvSpPr txBox="1">
              <a:spLocks noChangeArrowheads="1"/>
            </p:cNvSpPr>
            <p:nvPr/>
          </p:nvSpPr>
          <p:spPr bwMode="auto">
            <a:xfrm>
              <a:off x="166" y="3135"/>
              <a:ext cx="39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latin typeface="Arial" panose="020B0604020202020204" pitchFamily="34" charset="0"/>
                </a:rPr>
                <a:t>slow</a:t>
              </a:r>
            </a:p>
          </p:txBody>
        </p:sp>
      </p:grpSp>
      <p:grpSp>
        <p:nvGrpSpPr>
          <p:cNvPr id="250917" name="Group 37">
            <a:extLst>
              <a:ext uri="{FF2B5EF4-FFF2-40B4-BE49-F238E27FC236}">
                <a16:creationId xmlns:a16="http://schemas.microsoft.com/office/drawing/2014/main" id="{FB6D8B36-5FA5-41FC-B781-DBA2A9CF55EB}"/>
              </a:ext>
            </a:extLst>
          </p:cNvPr>
          <p:cNvGrpSpPr>
            <a:grpSpLocks/>
          </p:cNvGrpSpPr>
          <p:nvPr/>
        </p:nvGrpSpPr>
        <p:grpSpPr bwMode="auto">
          <a:xfrm>
            <a:off x="3233738" y="4305300"/>
            <a:ext cx="2836862" cy="2235200"/>
            <a:chOff x="2037" y="2742"/>
            <a:chExt cx="1787" cy="1408"/>
          </a:xfrm>
        </p:grpSpPr>
        <p:grpSp>
          <p:nvGrpSpPr>
            <p:cNvPr id="250910" name="Group 30">
              <a:extLst>
                <a:ext uri="{FF2B5EF4-FFF2-40B4-BE49-F238E27FC236}">
                  <a16:creationId xmlns:a16="http://schemas.microsoft.com/office/drawing/2014/main" id="{ABA5F33E-F2BF-485F-A462-37C28372933A}"/>
                </a:ext>
              </a:extLst>
            </p:cNvPr>
            <p:cNvGrpSpPr>
              <a:grpSpLocks/>
            </p:cNvGrpSpPr>
            <p:nvPr/>
          </p:nvGrpSpPr>
          <p:grpSpPr bwMode="auto">
            <a:xfrm>
              <a:off x="2037" y="2742"/>
              <a:ext cx="1787" cy="1408"/>
              <a:chOff x="2256" y="2262"/>
              <a:chExt cx="2043" cy="1610"/>
            </a:xfrm>
          </p:grpSpPr>
          <p:sp>
            <p:nvSpPr>
              <p:cNvPr id="250909" name="Rectangle 29">
                <a:extLst>
                  <a:ext uri="{FF2B5EF4-FFF2-40B4-BE49-F238E27FC236}">
                    <a16:creationId xmlns:a16="http://schemas.microsoft.com/office/drawing/2014/main" id="{3E088DEA-D5D2-4ADD-B691-6F7D0BE46992}"/>
                  </a:ext>
                </a:extLst>
              </p:cNvPr>
              <p:cNvSpPr>
                <a:spLocks noChangeArrowheads="1"/>
              </p:cNvSpPr>
              <p:nvPr/>
            </p:nvSpPr>
            <p:spPr bwMode="auto">
              <a:xfrm>
                <a:off x="2256" y="2262"/>
                <a:ext cx="2043" cy="161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50895" name="Picture 15" descr="03b2">
                <a:extLst>
                  <a:ext uri="{FF2B5EF4-FFF2-40B4-BE49-F238E27FC236}">
                    <a16:creationId xmlns:a16="http://schemas.microsoft.com/office/drawing/2014/main" id="{33D9E4D9-1DB5-4935-9092-3A1A8FCF2D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7" y="2320"/>
                <a:ext cx="1962" cy="1516"/>
              </a:xfrm>
              <a:prstGeom prst="rect">
                <a:avLst/>
              </a:prstGeom>
              <a:noFill/>
              <a:extLst>
                <a:ext uri="{909E8E84-426E-40DD-AFC4-6F175D3DCCD1}">
                  <a14:hiddenFill xmlns:a14="http://schemas.microsoft.com/office/drawing/2010/main">
                    <a:solidFill>
                      <a:srgbClr val="FFFFFF"/>
                    </a:solidFill>
                  </a14:hiddenFill>
                </a:ext>
              </a:extLst>
            </p:spPr>
          </p:pic>
          <p:sp>
            <p:nvSpPr>
              <p:cNvPr id="250900" name="Rectangle 20">
                <a:extLst>
                  <a:ext uri="{FF2B5EF4-FFF2-40B4-BE49-F238E27FC236}">
                    <a16:creationId xmlns:a16="http://schemas.microsoft.com/office/drawing/2014/main" id="{F5DB5A35-FCDB-4964-857F-09CDF6888C0F}"/>
                  </a:ext>
                </a:extLst>
              </p:cNvPr>
              <p:cNvSpPr>
                <a:spLocks noChangeArrowheads="1"/>
              </p:cNvSpPr>
              <p:nvPr/>
            </p:nvSpPr>
            <p:spPr bwMode="auto">
              <a:xfrm>
                <a:off x="2740" y="3774"/>
                <a:ext cx="80" cy="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0902" name="Rectangle 22">
                <a:extLst>
                  <a:ext uri="{FF2B5EF4-FFF2-40B4-BE49-F238E27FC236}">
                    <a16:creationId xmlns:a16="http://schemas.microsoft.com/office/drawing/2014/main" id="{70FF042E-741C-468D-BDB0-8A0E3E85BF13}"/>
                  </a:ext>
                </a:extLst>
              </p:cNvPr>
              <p:cNvSpPr>
                <a:spLocks noChangeArrowheads="1"/>
              </p:cNvSpPr>
              <p:nvPr/>
            </p:nvSpPr>
            <p:spPr bwMode="auto">
              <a:xfrm>
                <a:off x="2374" y="3778"/>
                <a:ext cx="56"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0903" name="Rectangle 23">
                <a:extLst>
                  <a:ext uri="{FF2B5EF4-FFF2-40B4-BE49-F238E27FC236}">
                    <a16:creationId xmlns:a16="http://schemas.microsoft.com/office/drawing/2014/main" id="{C9238ECC-66C6-4B9C-A2B4-7A90BB2BF555}"/>
                  </a:ext>
                </a:extLst>
              </p:cNvPr>
              <p:cNvSpPr>
                <a:spLocks noChangeArrowheads="1"/>
              </p:cNvSpPr>
              <p:nvPr/>
            </p:nvSpPr>
            <p:spPr bwMode="auto">
              <a:xfrm>
                <a:off x="2640" y="2320"/>
                <a:ext cx="322" cy="40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0904" name="Rectangle 24">
                <a:extLst>
                  <a:ext uri="{FF2B5EF4-FFF2-40B4-BE49-F238E27FC236}">
                    <a16:creationId xmlns:a16="http://schemas.microsoft.com/office/drawing/2014/main" id="{808E274B-D23C-429B-99F7-B2BF6E297E71}"/>
                  </a:ext>
                </a:extLst>
              </p:cNvPr>
              <p:cNvSpPr>
                <a:spLocks noChangeArrowheads="1"/>
              </p:cNvSpPr>
              <p:nvPr/>
            </p:nvSpPr>
            <p:spPr bwMode="auto">
              <a:xfrm>
                <a:off x="2756" y="2712"/>
                <a:ext cx="56" cy="18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0914" name="Text Box 34">
              <a:extLst>
                <a:ext uri="{FF2B5EF4-FFF2-40B4-BE49-F238E27FC236}">
                  <a16:creationId xmlns:a16="http://schemas.microsoft.com/office/drawing/2014/main" id="{6FBA4C47-6A67-42D7-9BB3-E84F029424E6}"/>
                </a:ext>
              </a:extLst>
            </p:cNvPr>
            <p:cNvSpPr txBox="1">
              <a:spLocks noChangeArrowheads="1"/>
            </p:cNvSpPr>
            <p:nvPr/>
          </p:nvSpPr>
          <p:spPr bwMode="auto">
            <a:xfrm>
              <a:off x="2083" y="2796"/>
              <a:ext cx="7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latin typeface="Arial" panose="020B0604020202020204" pitchFamily="34" charset="0"/>
                </a:rPr>
                <a:t>intermediate</a:t>
              </a:r>
            </a:p>
          </p:txBody>
        </p:sp>
      </p:grpSp>
      <p:grpSp>
        <p:nvGrpSpPr>
          <p:cNvPr id="250918" name="Group 38">
            <a:extLst>
              <a:ext uri="{FF2B5EF4-FFF2-40B4-BE49-F238E27FC236}">
                <a16:creationId xmlns:a16="http://schemas.microsoft.com/office/drawing/2014/main" id="{A0768A08-222B-40AE-9500-98209D658D80}"/>
              </a:ext>
            </a:extLst>
          </p:cNvPr>
          <p:cNvGrpSpPr>
            <a:grpSpLocks/>
          </p:cNvGrpSpPr>
          <p:nvPr/>
        </p:nvGrpSpPr>
        <p:grpSpPr bwMode="auto">
          <a:xfrm>
            <a:off x="6280150" y="4305300"/>
            <a:ext cx="2636838" cy="2063750"/>
            <a:chOff x="3956" y="2850"/>
            <a:chExt cx="1661" cy="1300"/>
          </a:xfrm>
        </p:grpSpPr>
        <p:grpSp>
          <p:nvGrpSpPr>
            <p:cNvPr id="250912" name="Group 32">
              <a:extLst>
                <a:ext uri="{FF2B5EF4-FFF2-40B4-BE49-F238E27FC236}">
                  <a16:creationId xmlns:a16="http://schemas.microsoft.com/office/drawing/2014/main" id="{30B17AD8-77DA-4A28-8411-CACEC6216B56}"/>
                </a:ext>
              </a:extLst>
            </p:cNvPr>
            <p:cNvGrpSpPr>
              <a:grpSpLocks/>
            </p:cNvGrpSpPr>
            <p:nvPr/>
          </p:nvGrpSpPr>
          <p:grpSpPr bwMode="auto">
            <a:xfrm>
              <a:off x="3956" y="2850"/>
              <a:ext cx="1661" cy="1300"/>
              <a:chOff x="4394" y="2352"/>
              <a:chExt cx="1942" cy="1520"/>
            </a:xfrm>
          </p:grpSpPr>
          <p:sp>
            <p:nvSpPr>
              <p:cNvPr id="250911" name="Rectangle 31">
                <a:extLst>
                  <a:ext uri="{FF2B5EF4-FFF2-40B4-BE49-F238E27FC236}">
                    <a16:creationId xmlns:a16="http://schemas.microsoft.com/office/drawing/2014/main" id="{269A0742-E9C9-4AEE-A26F-15630F8EE0F2}"/>
                  </a:ext>
                </a:extLst>
              </p:cNvPr>
              <p:cNvSpPr>
                <a:spLocks noChangeArrowheads="1"/>
              </p:cNvSpPr>
              <p:nvPr/>
            </p:nvSpPr>
            <p:spPr bwMode="auto">
              <a:xfrm>
                <a:off x="4394" y="2352"/>
                <a:ext cx="1942" cy="152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50896" name="Picture 16" descr="03b3">
                <a:extLst>
                  <a:ext uri="{FF2B5EF4-FFF2-40B4-BE49-F238E27FC236}">
                    <a16:creationId xmlns:a16="http://schemas.microsoft.com/office/drawing/2014/main" id="{27A105FE-C646-4B23-B934-AC3A1FD78B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0" y="2406"/>
                <a:ext cx="1843" cy="1433"/>
              </a:xfrm>
              <a:prstGeom prst="rect">
                <a:avLst/>
              </a:prstGeom>
              <a:noFill/>
              <a:extLst>
                <a:ext uri="{909E8E84-426E-40DD-AFC4-6F175D3DCCD1}">
                  <a14:hiddenFill xmlns:a14="http://schemas.microsoft.com/office/drawing/2010/main">
                    <a:solidFill>
                      <a:srgbClr val="FFFFFF"/>
                    </a:solidFill>
                  </a14:hiddenFill>
                </a:ext>
              </a:extLst>
            </p:spPr>
          </p:pic>
          <p:sp>
            <p:nvSpPr>
              <p:cNvPr id="250905" name="Rectangle 25">
                <a:extLst>
                  <a:ext uri="{FF2B5EF4-FFF2-40B4-BE49-F238E27FC236}">
                    <a16:creationId xmlns:a16="http://schemas.microsoft.com/office/drawing/2014/main" id="{9B58A395-98AF-4F2B-82AD-BE95D8A218DD}"/>
                  </a:ext>
                </a:extLst>
              </p:cNvPr>
              <p:cNvSpPr>
                <a:spLocks noChangeArrowheads="1"/>
              </p:cNvSpPr>
              <p:nvPr/>
            </p:nvSpPr>
            <p:spPr bwMode="auto">
              <a:xfrm>
                <a:off x="4742" y="2428"/>
                <a:ext cx="272" cy="34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0906" name="Rectangle 26">
                <a:extLst>
                  <a:ext uri="{FF2B5EF4-FFF2-40B4-BE49-F238E27FC236}">
                    <a16:creationId xmlns:a16="http://schemas.microsoft.com/office/drawing/2014/main" id="{0EDA3010-7901-4D43-828F-6701E40D8651}"/>
                  </a:ext>
                </a:extLst>
              </p:cNvPr>
              <p:cNvSpPr>
                <a:spLocks noChangeArrowheads="1"/>
              </p:cNvSpPr>
              <p:nvPr/>
            </p:nvSpPr>
            <p:spPr bwMode="auto">
              <a:xfrm>
                <a:off x="4820" y="3756"/>
                <a:ext cx="128" cy="8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0915" name="Text Box 35">
              <a:extLst>
                <a:ext uri="{FF2B5EF4-FFF2-40B4-BE49-F238E27FC236}">
                  <a16:creationId xmlns:a16="http://schemas.microsoft.com/office/drawing/2014/main" id="{5EB4A224-05CB-4127-A64B-ECF8891152B0}"/>
                </a:ext>
              </a:extLst>
            </p:cNvPr>
            <p:cNvSpPr txBox="1">
              <a:spLocks noChangeArrowheads="1"/>
            </p:cNvSpPr>
            <p:nvPr/>
          </p:nvSpPr>
          <p:spPr bwMode="auto">
            <a:xfrm>
              <a:off x="4002" y="2891"/>
              <a:ext cx="3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latin typeface="Arial" panose="020B0604020202020204" pitchFamily="34" charset="0"/>
                </a:rPr>
                <a:t>fast</a:t>
              </a:r>
            </a:p>
          </p:txBody>
        </p:sp>
      </p:gr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a:extLst>
              <a:ext uri="{FF2B5EF4-FFF2-40B4-BE49-F238E27FC236}">
                <a16:creationId xmlns:a16="http://schemas.microsoft.com/office/drawing/2014/main" id="{9FE7381D-19CB-448A-B127-1FA99E1D0328}"/>
              </a:ext>
            </a:extLst>
          </p:cNvPr>
          <p:cNvSpPr>
            <a:spLocks noGrp="1" noChangeArrowheads="1"/>
          </p:cNvSpPr>
          <p:nvPr>
            <p:ph type="title"/>
          </p:nvPr>
        </p:nvSpPr>
        <p:spPr>
          <a:noFill/>
        </p:spPr>
        <p:txBody>
          <a:bodyPr/>
          <a:lstStyle/>
          <a:p>
            <a:r>
              <a:rPr lang="en-GB" altLang="en-US">
                <a:effectLst/>
              </a:rPr>
              <a:t>Continental transform faults</a:t>
            </a:r>
          </a:p>
        </p:txBody>
      </p:sp>
      <p:sp>
        <p:nvSpPr>
          <p:cNvPr id="254979" name="Rectangle 3">
            <a:extLst>
              <a:ext uri="{FF2B5EF4-FFF2-40B4-BE49-F238E27FC236}">
                <a16:creationId xmlns:a16="http://schemas.microsoft.com/office/drawing/2014/main" id="{97613F4D-05AD-48A5-A62D-702E6AE953AF}"/>
              </a:ext>
            </a:extLst>
          </p:cNvPr>
          <p:cNvSpPr>
            <a:spLocks noGrp="1" noChangeArrowheads="1"/>
          </p:cNvSpPr>
          <p:nvPr>
            <p:ph type="body" sz="half" idx="1"/>
          </p:nvPr>
        </p:nvSpPr>
        <p:spPr>
          <a:xfrm>
            <a:off x="125413" y="3800475"/>
            <a:ext cx="2263775" cy="1458913"/>
          </a:xfrm>
          <a:noFill/>
        </p:spPr>
        <p:txBody>
          <a:bodyPr/>
          <a:lstStyle/>
          <a:p>
            <a:pPr marL="177800" indent="-177800">
              <a:spcBef>
                <a:spcPct val="75000"/>
              </a:spcBef>
            </a:pPr>
            <a:r>
              <a:rPr lang="en-GB" altLang="en-US" sz="1700">
                <a:effectLst/>
              </a:rPr>
              <a:t>Transform faults occur on the </a:t>
            </a:r>
            <a:r>
              <a:rPr lang="en-GB" altLang="en-US" sz="1700">
                <a:solidFill>
                  <a:srgbClr val="FF66FF"/>
                </a:solidFill>
                <a:effectLst/>
              </a:rPr>
              <a:t>continents</a:t>
            </a:r>
            <a:r>
              <a:rPr lang="en-GB" altLang="en-US" sz="1700">
                <a:effectLst/>
              </a:rPr>
              <a:t> as well as in the ocean</a:t>
            </a:r>
          </a:p>
        </p:txBody>
      </p:sp>
      <p:grpSp>
        <p:nvGrpSpPr>
          <p:cNvPr id="255017" name="Group 41">
            <a:extLst>
              <a:ext uri="{FF2B5EF4-FFF2-40B4-BE49-F238E27FC236}">
                <a16:creationId xmlns:a16="http://schemas.microsoft.com/office/drawing/2014/main" id="{EC1741F8-1D23-48E8-BE02-8470ECFE9CA2}"/>
              </a:ext>
            </a:extLst>
          </p:cNvPr>
          <p:cNvGrpSpPr>
            <a:grpSpLocks/>
          </p:cNvGrpSpPr>
          <p:nvPr/>
        </p:nvGrpSpPr>
        <p:grpSpPr bwMode="auto">
          <a:xfrm>
            <a:off x="2509838" y="877888"/>
            <a:ext cx="1397000" cy="4205287"/>
            <a:chOff x="2961" y="607"/>
            <a:chExt cx="1095" cy="3298"/>
          </a:xfrm>
        </p:grpSpPr>
        <p:sp>
          <p:nvSpPr>
            <p:cNvPr id="255011" name="Rectangle 35">
              <a:extLst>
                <a:ext uri="{FF2B5EF4-FFF2-40B4-BE49-F238E27FC236}">
                  <a16:creationId xmlns:a16="http://schemas.microsoft.com/office/drawing/2014/main" id="{1304B194-BF70-4113-9C32-9DC4702165FA}"/>
                </a:ext>
              </a:extLst>
            </p:cNvPr>
            <p:cNvSpPr>
              <a:spLocks noChangeArrowheads="1"/>
            </p:cNvSpPr>
            <p:nvPr/>
          </p:nvSpPr>
          <p:spPr bwMode="auto">
            <a:xfrm>
              <a:off x="2961" y="607"/>
              <a:ext cx="1095" cy="329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55009" name="Picture 33" descr="san_andreas_map2now">
              <a:extLst>
                <a:ext uri="{FF2B5EF4-FFF2-40B4-BE49-F238E27FC236}">
                  <a16:creationId xmlns:a16="http://schemas.microsoft.com/office/drawing/2014/main" id="{726D685F-A43B-483B-A775-711CF8CD5D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5" y="652"/>
              <a:ext cx="1003" cy="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55014" name="Picture 38">
            <a:extLst>
              <a:ext uri="{FF2B5EF4-FFF2-40B4-BE49-F238E27FC236}">
                <a16:creationId xmlns:a16="http://schemas.microsoft.com/office/drawing/2014/main" id="{81B8D585-0688-43A4-9EE5-2050A8834A69}"/>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307975" y="896938"/>
            <a:ext cx="2060575" cy="2787650"/>
          </a:xfrm>
          <a:noFill/>
          <a:ln w="38100">
            <a:solidFill>
              <a:schemeClr val="bg2"/>
            </a:solidFill>
            <a:miter lim="800000"/>
            <a:headEnd/>
            <a:tailEnd/>
          </a:ln>
        </p:spPr>
      </p:pic>
      <p:pic>
        <p:nvPicPr>
          <p:cNvPr id="255016" name="Picture 40" descr="San_Andreas_Fault_Sequential_Diagrams">
            <a:extLst>
              <a:ext uri="{FF2B5EF4-FFF2-40B4-BE49-F238E27FC236}">
                <a16:creationId xmlns:a16="http://schemas.microsoft.com/office/drawing/2014/main" id="{CECBED30-02E0-454A-88AE-BE3C99DDCC4C}"/>
              </a:ext>
            </a:extLst>
          </p:cNvPr>
          <p:cNvPicPr>
            <a:picLocks noChangeAspect="1" noChangeArrowheads="1"/>
          </p:cNvPicPr>
          <p:nvPr/>
        </p:nvPicPr>
        <p:blipFill>
          <a:blip r:embed="rId5">
            <a:lum bright="-8000" contrast="20000"/>
            <a:extLst>
              <a:ext uri="{28A0092B-C50C-407E-A947-70E740481C1C}">
                <a14:useLocalDpi xmlns:a14="http://schemas.microsoft.com/office/drawing/2010/main" val="0"/>
              </a:ext>
            </a:extLst>
          </a:blip>
          <a:srcRect/>
          <a:stretch>
            <a:fillRect/>
          </a:stretch>
        </p:blipFill>
        <p:spPr bwMode="auto">
          <a:xfrm>
            <a:off x="4119563" y="896938"/>
            <a:ext cx="4856162" cy="54276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55018" name="Text Box 42">
            <a:extLst>
              <a:ext uri="{FF2B5EF4-FFF2-40B4-BE49-F238E27FC236}">
                <a16:creationId xmlns:a16="http://schemas.microsoft.com/office/drawing/2014/main" id="{012090A3-996F-495F-8440-22AEE64228DB}"/>
              </a:ext>
            </a:extLst>
          </p:cNvPr>
          <p:cNvSpPr txBox="1">
            <a:spLocks noChangeArrowheads="1"/>
          </p:cNvSpPr>
          <p:nvPr/>
        </p:nvSpPr>
        <p:spPr bwMode="auto">
          <a:xfrm>
            <a:off x="112713" y="5240338"/>
            <a:ext cx="4006850" cy="145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1200 km long and 10</a:t>
            </a:r>
            <a:r>
              <a:rPr lang="en-GB" altLang="en-US" sz="1700" spc="250" dirty="0">
                <a:effectLst>
                  <a:outerShdw blurRad="38100" dist="38100" dir="2700000" algn="tl">
                    <a:srgbClr val="000000"/>
                  </a:outerShdw>
                </a:effectLst>
                <a:latin typeface="Arial" panose="020B0604020202020204" pitchFamily="34" charset="0"/>
              </a:rPr>
              <a:t>0-</a:t>
            </a:r>
            <a:r>
              <a:rPr lang="en-GB" altLang="en-US" sz="1700" dirty="0">
                <a:effectLst>
                  <a:outerShdw blurRad="38100" dist="38100" dir="2700000" algn="tl">
                    <a:srgbClr val="000000"/>
                  </a:outerShdw>
                </a:effectLst>
                <a:latin typeface="Arial" panose="020B0604020202020204" pitchFamily="34" charset="0"/>
              </a:rPr>
              <a:t>150 km wide </a:t>
            </a:r>
            <a:r>
              <a:rPr lang="en-GB" altLang="en-US" sz="1700" dirty="0">
                <a:solidFill>
                  <a:srgbClr val="FF6600"/>
                </a:solidFill>
                <a:effectLst>
                  <a:outerShdw blurRad="38100" dist="38100" dir="2700000" algn="tl">
                    <a:srgbClr val="000000"/>
                  </a:outerShdw>
                </a:effectLst>
                <a:latin typeface="Arial" panose="020B0604020202020204" pitchFamily="34" charset="0"/>
              </a:rPr>
              <a:t>San Andreas Fault Zone</a:t>
            </a:r>
            <a:r>
              <a:rPr lang="en-GB" altLang="en-US" sz="1700" dirty="0">
                <a:effectLst>
                  <a:outerShdw blurRad="38100" dist="38100" dir="2700000" algn="tl">
                    <a:srgbClr val="000000"/>
                  </a:outerShdw>
                </a:effectLst>
                <a:latin typeface="Arial" panose="020B0604020202020204" pitchFamily="34" charset="0"/>
              </a:rPr>
              <a:t> is a particularly well studied example</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60</a:t>
            </a:r>
            <a:r>
              <a:rPr lang="en-GB" altLang="en-US" sz="1700" spc="250" dirty="0">
                <a:effectLst>
                  <a:outerShdw blurRad="38100" dist="38100" dir="2700000" algn="tl">
                    <a:srgbClr val="000000"/>
                  </a:outerShdw>
                </a:effectLst>
                <a:latin typeface="Arial" panose="020B0604020202020204" pitchFamily="34" charset="0"/>
              </a:rPr>
              <a:t>0-</a:t>
            </a:r>
            <a:r>
              <a:rPr lang="en-GB" altLang="en-US" sz="1700" dirty="0">
                <a:effectLst>
                  <a:outerShdw blurRad="38100" dist="38100" dir="2700000" algn="tl">
                    <a:srgbClr val="000000"/>
                  </a:outerShdw>
                </a:effectLst>
                <a:latin typeface="Arial" panose="020B0604020202020204" pitchFamily="34" charset="0"/>
              </a:rPr>
              <a:t>1000 km strike-slip displacement</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61AC822D-9AD8-41FC-AC67-36B37E3ED90B}"/>
              </a:ext>
            </a:extLst>
          </p:cNvPr>
          <p:cNvSpPr>
            <a:spLocks noGrp="1" noChangeArrowheads="1"/>
          </p:cNvSpPr>
          <p:nvPr>
            <p:ph type="title"/>
          </p:nvPr>
        </p:nvSpPr>
        <p:spPr>
          <a:noFill/>
        </p:spPr>
        <p:txBody>
          <a:bodyPr/>
          <a:lstStyle/>
          <a:p>
            <a:r>
              <a:rPr lang="en-GB" altLang="en-US">
                <a:effectLst/>
              </a:rPr>
              <a:t>Continental transform faults  2</a:t>
            </a:r>
          </a:p>
        </p:txBody>
      </p:sp>
      <p:grpSp>
        <p:nvGrpSpPr>
          <p:cNvPr id="257071" name="Group 47">
            <a:extLst>
              <a:ext uri="{FF2B5EF4-FFF2-40B4-BE49-F238E27FC236}">
                <a16:creationId xmlns:a16="http://schemas.microsoft.com/office/drawing/2014/main" id="{AA6068E3-F182-4C97-9591-2F5F27F2EEBD}"/>
              </a:ext>
            </a:extLst>
          </p:cNvPr>
          <p:cNvGrpSpPr>
            <a:grpSpLocks/>
          </p:cNvGrpSpPr>
          <p:nvPr/>
        </p:nvGrpSpPr>
        <p:grpSpPr bwMode="auto">
          <a:xfrm>
            <a:off x="1116013" y="2265363"/>
            <a:ext cx="6978650" cy="4357687"/>
            <a:chOff x="703" y="1427"/>
            <a:chExt cx="4396" cy="2745"/>
          </a:xfrm>
        </p:grpSpPr>
        <p:pic>
          <p:nvPicPr>
            <p:cNvPr id="257029" name="Picture 4" descr="ge">
              <a:extLst>
                <a:ext uri="{FF2B5EF4-FFF2-40B4-BE49-F238E27FC236}">
                  <a16:creationId xmlns:a16="http://schemas.microsoft.com/office/drawing/2014/main" id="{F16EC8EA-2505-480F-B0CE-F640989F0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1493"/>
              <a:ext cx="4396" cy="264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57030" name="Freeform 11">
              <a:extLst>
                <a:ext uri="{FF2B5EF4-FFF2-40B4-BE49-F238E27FC236}">
                  <a16:creationId xmlns:a16="http://schemas.microsoft.com/office/drawing/2014/main" id="{EE290888-FFBB-4942-A72E-B7FB3C1D9749}"/>
                </a:ext>
              </a:extLst>
            </p:cNvPr>
            <p:cNvSpPr>
              <a:spLocks/>
            </p:cNvSpPr>
            <p:nvPr/>
          </p:nvSpPr>
          <p:spPr bwMode="auto">
            <a:xfrm>
              <a:off x="1710" y="1488"/>
              <a:ext cx="2529" cy="2641"/>
            </a:xfrm>
            <a:custGeom>
              <a:avLst/>
              <a:gdLst>
                <a:gd name="T0" fmla="*/ 3312 w 3312"/>
                <a:gd name="T1" fmla="*/ 0 h 3462"/>
                <a:gd name="T2" fmla="*/ 3048 w 3312"/>
                <a:gd name="T3" fmla="*/ 582 h 3462"/>
                <a:gd name="T4" fmla="*/ 2808 w 3312"/>
                <a:gd name="T5" fmla="*/ 966 h 3462"/>
                <a:gd name="T6" fmla="*/ 2394 w 3312"/>
                <a:gd name="T7" fmla="*/ 1554 h 3462"/>
                <a:gd name="T8" fmla="*/ 1974 w 3312"/>
                <a:gd name="T9" fmla="*/ 1890 h 3462"/>
                <a:gd name="T10" fmla="*/ 1608 w 3312"/>
                <a:gd name="T11" fmla="*/ 2034 h 3462"/>
                <a:gd name="T12" fmla="*/ 1176 w 3312"/>
                <a:gd name="T13" fmla="*/ 2166 h 3462"/>
                <a:gd name="T14" fmla="*/ 522 w 3312"/>
                <a:gd name="T15" fmla="*/ 2634 h 3462"/>
                <a:gd name="T16" fmla="*/ 318 w 3312"/>
                <a:gd name="T17" fmla="*/ 2874 h 3462"/>
                <a:gd name="T18" fmla="*/ 72 w 3312"/>
                <a:gd name="T19" fmla="*/ 3318 h 3462"/>
                <a:gd name="T20" fmla="*/ 24 w 3312"/>
                <a:gd name="T21" fmla="*/ 3414 h 3462"/>
                <a:gd name="T22" fmla="*/ 0 w 3312"/>
                <a:gd name="T23" fmla="*/ 3462 h 34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12"/>
                <a:gd name="T37" fmla="*/ 0 h 3462"/>
                <a:gd name="T38" fmla="*/ 3312 w 3312"/>
                <a:gd name="T39" fmla="*/ 3462 h 34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12" h="3462">
                  <a:moveTo>
                    <a:pt x="3312" y="0"/>
                  </a:moveTo>
                  <a:cubicBezTo>
                    <a:pt x="3268" y="96"/>
                    <a:pt x="3132" y="421"/>
                    <a:pt x="3048" y="582"/>
                  </a:cubicBezTo>
                  <a:cubicBezTo>
                    <a:pt x="2964" y="743"/>
                    <a:pt x="2917" y="804"/>
                    <a:pt x="2808" y="966"/>
                  </a:cubicBezTo>
                  <a:cubicBezTo>
                    <a:pt x="2699" y="1128"/>
                    <a:pt x="2533" y="1400"/>
                    <a:pt x="2394" y="1554"/>
                  </a:cubicBezTo>
                  <a:cubicBezTo>
                    <a:pt x="2255" y="1708"/>
                    <a:pt x="2105" y="1810"/>
                    <a:pt x="1974" y="1890"/>
                  </a:cubicBezTo>
                  <a:cubicBezTo>
                    <a:pt x="1843" y="1970"/>
                    <a:pt x="1741" y="1988"/>
                    <a:pt x="1608" y="2034"/>
                  </a:cubicBezTo>
                  <a:cubicBezTo>
                    <a:pt x="1475" y="2080"/>
                    <a:pt x="1357" y="2066"/>
                    <a:pt x="1176" y="2166"/>
                  </a:cubicBezTo>
                  <a:cubicBezTo>
                    <a:pt x="995" y="2266"/>
                    <a:pt x="665" y="2516"/>
                    <a:pt x="522" y="2634"/>
                  </a:cubicBezTo>
                  <a:cubicBezTo>
                    <a:pt x="379" y="2752"/>
                    <a:pt x="393" y="2760"/>
                    <a:pt x="318" y="2874"/>
                  </a:cubicBezTo>
                  <a:cubicBezTo>
                    <a:pt x="243" y="2988"/>
                    <a:pt x="121" y="3228"/>
                    <a:pt x="72" y="3318"/>
                  </a:cubicBezTo>
                  <a:cubicBezTo>
                    <a:pt x="23" y="3408"/>
                    <a:pt x="36" y="3390"/>
                    <a:pt x="24" y="3414"/>
                  </a:cubicBezTo>
                  <a:cubicBezTo>
                    <a:pt x="12" y="3438"/>
                    <a:pt x="5" y="3452"/>
                    <a:pt x="0" y="3462"/>
                  </a:cubicBezTo>
                </a:path>
              </a:pathLst>
            </a:custGeom>
            <a:noFill/>
            <a:ln w="28575"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57031" name="AutoShape 12">
              <a:extLst>
                <a:ext uri="{FF2B5EF4-FFF2-40B4-BE49-F238E27FC236}">
                  <a16:creationId xmlns:a16="http://schemas.microsoft.com/office/drawing/2014/main" id="{A4C19A95-152B-434E-A1D8-C11BFF8D0C16}"/>
                </a:ext>
              </a:extLst>
            </p:cNvPr>
            <p:cNvSpPr>
              <a:spLocks noChangeArrowheads="1"/>
            </p:cNvSpPr>
            <p:nvPr/>
          </p:nvSpPr>
          <p:spPr bwMode="auto">
            <a:xfrm rot="4132516">
              <a:off x="4009" y="1859"/>
              <a:ext cx="74" cy="73"/>
            </a:xfrm>
            <a:prstGeom prst="rtTriangle">
              <a:avLst/>
            </a:prstGeom>
            <a:solidFill>
              <a:srgbClr val="FF0000"/>
            </a:solidFill>
            <a:ln w="9525">
              <a:solidFill>
                <a:srgbClr val="FF0000"/>
              </a:solidFill>
              <a:miter lim="800000"/>
              <a:headEnd/>
              <a:tailEnd/>
            </a:ln>
          </p:spPr>
          <p:txBody>
            <a:bodyPr rot="10800000"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32" name="AutoShape 13">
              <a:extLst>
                <a:ext uri="{FF2B5EF4-FFF2-40B4-BE49-F238E27FC236}">
                  <a16:creationId xmlns:a16="http://schemas.microsoft.com/office/drawing/2014/main" id="{2B9A95B1-2492-4EF3-8CB2-B1FB7FECBF7F}"/>
                </a:ext>
              </a:extLst>
            </p:cNvPr>
            <p:cNvSpPr>
              <a:spLocks noChangeArrowheads="1"/>
            </p:cNvSpPr>
            <p:nvPr/>
          </p:nvSpPr>
          <p:spPr bwMode="auto">
            <a:xfrm rot="4522747">
              <a:off x="3858" y="2115"/>
              <a:ext cx="74" cy="73"/>
            </a:xfrm>
            <a:prstGeom prst="rtTriangle">
              <a:avLst/>
            </a:prstGeom>
            <a:solidFill>
              <a:srgbClr val="FF0000"/>
            </a:solidFill>
            <a:ln w="9525">
              <a:solidFill>
                <a:srgbClr val="FF0000"/>
              </a:solidFill>
              <a:miter lim="800000"/>
              <a:headEnd/>
              <a:tailEnd/>
            </a:ln>
          </p:spPr>
          <p:txBody>
            <a:bodyPr rot="10800000"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33" name="AutoShape 14">
              <a:extLst>
                <a:ext uri="{FF2B5EF4-FFF2-40B4-BE49-F238E27FC236}">
                  <a16:creationId xmlns:a16="http://schemas.microsoft.com/office/drawing/2014/main" id="{1A938EE5-ADAB-4DF2-A9C5-C321077F9BCA}"/>
                </a:ext>
              </a:extLst>
            </p:cNvPr>
            <p:cNvSpPr>
              <a:spLocks noChangeArrowheads="1"/>
            </p:cNvSpPr>
            <p:nvPr/>
          </p:nvSpPr>
          <p:spPr bwMode="auto">
            <a:xfrm rot="4522747">
              <a:off x="3711" y="2335"/>
              <a:ext cx="74" cy="73"/>
            </a:xfrm>
            <a:prstGeom prst="rtTriangle">
              <a:avLst/>
            </a:prstGeom>
            <a:solidFill>
              <a:srgbClr val="FF0000"/>
            </a:solidFill>
            <a:ln w="9525">
              <a:solidFill>
                <a:srgbClr val="FF0000"/>
              </a:solidFill>
              <a:miter lim="800000"/>
              <a:headEnd/>
              <a:tailEnd/>
            </a:ln>
          </p:spPr>
          <p:txBody>
            <a:bodyPr rot="10800000"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34" name="AutoShape 15">
              <a:extLst>
                <a:ext uri="{FF2B5EF4-FFF2-40B4-BE49-F238E27FC236}">
                  <a16:creationId xmlns:a16="http://schemas.microsoft.com/office/drawing/2014/main" id="{08A75F27-D35E-4089-9677-5E03D4293CA5}"/>
                </a:ext>
              </a:extLst>
            </p:cNvPr>
            <p:cNvSpPr>
              <a:spLocks noChangeArrowheads="1"/>
            </p:cNvSpPr>
            <p:nvPr/>
          </p:nvSpPr>
          <p:spPr bwMode="auto">
            <a:xfrm rot="5219233">
              <a:off x="3541" y="2578"/>
              <a:ext cx="73" cy="74"/>
            </a:xfrm>
            <a:prstGeom prst="rtTriangle">
              <a:avLst/>
            </a:prstGeom>
            <a:solidFill>
              <a:srgbClr val="FF0000"/>
            </a:solidFill>
            <a:ln w="9525">
              <a:solidFill>
                <a:srgbClr val="FF0000"/>
              </a:solidFill>
              <a:miter lim="800000"/>
              <a:headEnd/>
              <a:tailEnd/>
            </a:ln>
          </p:spPr>
          <p:txBody>
            <a:bodyPr rot="10800000"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35" name="AutoShape 16">
              <a:extLst>
                <a:ext uri="{FF2B5EF4-FFF2-40B4-BE49-F238E27FC236}">
                  <a16:creationId xmlns:a16="http://schemas.microsoft.com/office/drawing/2014/main" id="{3E6C3E04-823B-4CF8-91B1-9FB49FA4D9A0}"/>
                </a:ext>
              </a:extLst>
            </p:cNvPr>
            <p:cNvSpPr>
              <a:spLocks noChangeArrowheads="1"/>
            </p:cNvSpPr>
            <p:nvPr/>
          </p:nvSpPr>
          <p:spPr bwMode="auto">
            <a:xfrm rot="5796290">
              <a:off x="3337" y="2779"/>
              <a:ext cx="72" cy="73"/>
            </a:xfrm>
            <a:prstGeom prst="rtTriangle">
              <a:avLst/>
            </a:prstGeom>
            <a:solidFill>
              <a:srgbClr val="FF0000"/>
            </a:solidFill>
            <a:ln w="9525">
              <a:solidFill>
                <a:srgbClr val="FF0000"/>
              </a:solidFill>
              <a:miter lim="800000"/>
              <a:headEnd/>
              <a:tailEnd/>
            </a:ln>
          </p:spPr>
          <p:txBody>
            <a:bodyPr rot="10800000"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36" name="AutoShape 17">
              <a:extLst>
                <a:ext uri="{FF2B5EF4-FFF2-40B4-BE49-F238E27FC236}">
                  <a16:creationId xmlns:a16="http://schemas.microsoft.com/office/drawing/2014/main" id="{28D29F92-E84B-48C8-B756-9ED9F52E95C1}"/>
                </a:ext>
              </a:extLst>
            </p:cNvPr>
            <p:cNvSpPr>
              <a:spLocks noChangeArrowheads="1"/>
            </p:cNvSpPr>
            <p:nvPr/>
          </p:nvSpPr>
          <p:spPr bwMode="auto">
            <a:xfrm rot="6396188">
              <a:off x="3111" y="2921"/>
              <a:ext cx="73" cy="74"/>
            </a:xfrm>
            <a:prstGeom prst="rtTriangle">
              <a:avLst/>
            </a:prstGeom>
            <a:solidFill>
              <a:srgbClr val="FF0000"/>
            </a:solidFill>
            <a:ln w="9525">
              <a:solidFill>
                <a:srgbClr val="FF0000"/>
              </a:solidFill>
              <a:miter lim="800000"/>
              <a:headEnd/>
              <a:tailEnd/>
            </a:ln>
          </p:spPr>
          <p:txBody>
            <a:bodyPr rot="10800000"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37" name="AutoShape 18">
              <a:extLst>
                <a:ext uri="{FF2B5EF4-FFF2-40B4-BE49-F238E27FC236}">
                  <a16:creationId xmlns:a16="http://schemas.microsoft.com/office/drawing/2014/main" id="{13A7F98C-3449-4CEE-9E8E-27875ABBB4D9}"/>
                </a:ext>
              </a:extLst>
            </p:cNvPr>
            <p:cNvSpPr>
              <a:spLocks noChangeArrowheads="1"/>
            </p:cNvSpPr>
            <p:nvPr/>
          </p:nvSpPr>
          <p:spPr bwMode="auto">
            <a:xfrm rot="4225613">
              <a:off x="4142" y="1568"/>
              <a:ext cx="73" cy="72"/>
            </a:xfrm>
            <a:prstGeom prst="rtTriangle">
              <a:avLst/>
            </a:prstGeom>
            <a:solidFill>
              <a:srgbClr val="FF0000"/>
            </a:solidFill>
            <a:ln w="9525">
              <a:solidFill>
                <a:srgbClr val="FF0000"/>
              </a:solidFill>
              <a:miter lim="800000"/>
              <a:headEnd/>
              <a:tailEnd/>
            </a:ln>
          </p:spPr>
          <p:txBody>
            <a:bodyPr rot="10800000"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38" name="AutoShape 19">
              <a:extLst>
                <a:ext uri="{FF2B5EF4-FFF2-40B4-BE49-F238E27FC236}">
                  <a16:creationId xmlns:a16="http://schemas.microsoft.com/office/drawing/2014/main" id="{C54AFCDC-0248-4BE9-9309-793ADED894BD}"/>
                </a:ext>
              </a:extLst>
            </p:cNvPr>
            <p:cNvSpPr>
              <a:spLocks noChangeArrowheads="1"/>
            </p:cNvSpPr>
            <p:nvPr/>
          </p:nvSpPr>
          <p:spPr bwMode="auto">
            <a:xfrm rot="-5400000">
              <a:off x="2004" y="3534"/>
              <a:ext cx="74" cy="73"/>
            </a:xfrm>
            <a:prstGeom prst="rtTriangle">
              <a:avLst/>
            </a:prstGeom>
            <a:solidFill>
              <a:srgbClr val="FF0000"/>
            </a:solidFill>
            <a:ln w="9525">
              <a:solidFill>
                <a:srgbClr val="FF0000"/>
              </a:solidFill>
              <a:miter lim="800000"/>
              <a:headEnd/>
              <a:tailEnd/>
            </a:ln>
          </p:spPr>
          <p:txBody>
            <a:bodyPr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39" name="AutoShape 21">
              <a:extLst>
                <a:ext uri="{FF2B5EF4-FFF2-40B4-BE49-F238E27FC236}">
                  <a16:creationId xmlns:a16="http://schemas.microsoft.com/office/drawing/2014/main" id="{77D74379-CDC4-427C-BB15-DDFEB8713872}"/>
                </a:ext>
              </a:extLst>
            </p:cNvPr>
            <p:cNvSpPr>
              <a:spLocks noChangeArrowheads="1"/>
            </p:cNvSpPr>
            <p:nvPr/>
          </p:nvSpPr>
          <p:spPr bwMode="auto">
            <a:xfrm rot="-6819789">
              <a:off x="1706" y="4033"/>
              <a:ext cx="74" cy="73"/>
            </a:xfrm>
            <a:prstGeom prst="rtTriangle">
              <a:avLst/>
            </a:prstGeom>
            <a:solidFill>
              <a:srgbClr val="FF0000"/>
            </a:solidFill>
            <a:ln w="9525">
              <a:solidFill>
                <a:srgbClr val="FF0000"/>
              </a:solidFill>
              <a:miter lim="800000"/>
              <a:headEnd/>
              <a:tailEnd/>
            </a:ln>
          </p:spPr>
          <p:txBody>
            <a:bodyPr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40" name="AutoShape 22">
              <a:extLst>
                <a:ext uri="{FF2B5EF4-FFF2-40B4-BE49-F238E27FC236}">
                  <a16:creationId xmlns:a16="http://schemas.microsoft.com/office/drawing/2014/main" id="{CF7F72C1-BBD3-4E91-9616-7444954ABDCE}"/>
                </a:ext>
              </a:extLst>
            </p:cNvPr>
            <p:cNvSpPr>
              <a:spLocks noChangeArrowheads="1"/>
            </p:cNvSpPr>
            <p:nvPr/>
          </p:nvSpPr>
          <p:spPr bwMode="auto">
            <a:xfrm rot="-6550740">
              <a:off x="1848" y="3777"/>
              <a:ext cx="74" cy="74"/>
            </a:xfrm>
            <a:prstGeom prst="rtTriangle">
              <a:avLst/>
            </a:prstGeom>
            <a:solidFill>
              <a:srgbClr val="FF0000"/>
            </a:solidFill>
            <a:ln w="9525">
              <a:solidFill>
                <a:srgbClr val="FF0000"/>
              </a:solidFill>
              <a:miter lim="800000"/>
              <a:headEnd/>
              <a:tailEnd/>
            </a:ln>
          </p:spPr>
          <p:txBody>
            <a:bodyPr vert="eaVert"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0"/>
                </a:spcBef>
                <a:buClrTx/>
              </a:pPr>
              <a:endParaRPr lang="en-US" altLang="en-US" sz="2400">
                <a:effectLst/>
                <a:latin typeface="Times New Roman" panose="02020603050405020304" pitchFamily="18" charset="0"/>
              </a:endParaRPr>
            </a:p>
          </p:txBody>
        </p:sp>
        <p:sp>
          <p:nvSpPr>
            <p:cNvPr id="257041" name="Line 23">
              <a:extLst>
                <a:ext uri="{FF2B5EF4-FFF2-40B4-BE49-F238E27FC236}">
                  <a16:creationId xmlns:a16="http://schemas.microsoft.com/office/drawing/2014/main" id="{3E8BEF6A-FA44-4F90-A9B4-CF7A37A70664}"/>
                </a:ext>
              </a:extLst>
            </p:cNvPr>
            <p:cNvSpPr>
              <a:spLocks noChangeShapeType="1"/>
            </p:cNvSpPr>
            <p:nvPr/>
          </p:nvSpPr>
          <p:spPr bwMode="auto">
            <a:xfrm>
              <a:off x="3629" y="2001"/>
              <a:ext cx="283" cy="55"/>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7042" name="Line 24">
              <a:extLst>
                <a:ext uri="{FF2B5EF4-FFF2-40B4-BE49-F238E27FC236}">
                  <a16:creationId xmlns:a16="http://schemas.microsoft.com/office/drawing/2014/main" id="{0B4E65DA-EA14-4123-BCCB-BE5CA12DB942}"/>
                </a:ext>
              </a:extLst>
            </p:cNvPr>
            <p:cNvSpPr>
              <a:spLocks noChangeShapeType="1"/>
            </p:cNvSpPr>
            <p:nvPr/>
          </p:nvSpPr>
          <p:spPr bwMode="auto">
            <a:xfrm flipH="1" flipV="1">
              <a:off x="4032" y="2075"/>
              <a:ext cx="293" cy="5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7043" name="Line 25">
              <a:extLst>
                <a:ext uri="{FF2B5EF4-FFF2-40B4-BE49-F238E27FC236}">
                  <a16:creationId xmlns:a16="http://schemas.microsoft.com/office/drawing/2014/main" id="{DA1CED53-35D8-4029-903C-97DCBDEF6FDC}"/>
                </a:ext>
              </a:extLst>
            </p:cNvPr>
            <p:cNvSpPr>
              <a:spLocks noChangeShapeType="1"/>
            </p:cNvSpPr>
            <p:nvPr/>
          </p:nvSpPr>
          <p:spPr bwMode="auto">
            <a:xfrm flipV="1">
              <a:off x="1408" y="4006"/>
              <a:ext cx="298" cy="5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7044" name="Line 26">
              <a:extLst>
                <a:ext uri="{FF2B5EF4-FFF2-40B4-BE49-F238E27FC236}">
                  <a16:creationId xmlns:a16="http://schemas.microsoft.com/office/drawing/2014/main" id="{75D5B71E-E64D-4B17-8B06-84B83001AC56}"/>
                </a:ext>
              </a:extLst>
            </p:cNvPr>
            <p:cNvSpPr>
              <a:spLocks noChangeShapeType="1"/>
            </p:cNvSpPr>
            <p:nvPr/>
          </p:nvSpPr>
          <p:spPr bwMode="auto">
            <a:xfrm flipH="1">
              <a:off x="1839" y="3928"/>
              <a:ext cx="316" cy="55"/>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7045" name="Line 27">
              <a:extLst>
                <a:ext uri="{FF2B5EF4-FFF2-40B4-BE49-F238E27FC236}">
                  <a16:creationId xmlns:a16="http://schemas.microsoft.com/office/drawing/2014/main" id="{66B2C2F5-6028-4664-8E6F-0B01828991AF}"/>
                </a:ext>
              </a:extLst>
            </p:cNvPr>
            <p:cNvSpPr>
              <a:spLocks noChangeShapeType="1"/>
            </p:cNvSpPr>
            <p:nvPr/>
          </p:nvSpPr>
          <p:spPr bwMode="auto">
            <a:xfrm flipV="1">
              <a:off x="1894" y="3365"/>
              <a:ext cx="320" cy="101"/>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7046" name="Line 28">
              <a:extLst>
                <a:ext uri="{FF2B5EF4-FFF2-40B4-BE49-F238E27FC236}">
                  <a16:creationId xmlns:a16="http://schemas.microsoft.com/office/drawing/2014/main" id="{FCE752F6-07EB-4CDE-8923-45AE5B71BA8B}"/>
                </a:ext>
              </a:extLst>
            </p:cNvPr>
            <p:cNvSpPr>
              <a:spLocks noChangeShapeType="1"/>
            </p:cNvSpPr>
            <p:nvPr/>
          </p:nvSpPr>
          <p:spPr bwMode="auto">
            <a:xfrm flipH="1">
              <a:off x="2278" y="3315"/>
              <a:ext cx="303" cy="114"/>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7047" name="Text Box 29">
              <a:extLst>
                <a:ext uri="{FF2B5EF4-FFF2-40B4-BE49-F238E27FC236}">
                  <a16:creationId xmlns:a16="http://schemas.microsoft.com/office/drawing/2014/main" id="{1497EE74-E430-4964-87B4-3FD98E98BBDD}"/>
                </a:ext>
              </a:extLst>
            </p:cNvPr>
            <p:cNvSpPr txBox="1">
              <a:spLocks noChangeArrowheads="1"/>
            </p:cNvSpPr>
            <p:nvPr/>
          </p:nvSpPr>
          <p:spPr bwMode="auto">
            <a:xfrm rot="-2560902">
              <a:off x="3097" y="2727"/>
              <a:ext cx="9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50000"/>
                </a:spcBef>
                <a:buClrTx/>
              </a:pPr>
              <a:r>
                <a:rPr lang="en-US" altLang="en-US" sz="1200">
                  <a:solidFill>
                    <a:srgbClr val="FFFF00"/>
                  </a:solidFill>
                  <a:effectLst/>
                  <a:latin typeface="Arial" panose="020B0604020202020204" pitchFamily="34" charset="0"/>
                </a:rPr>
                <a:t>Hikurangi Trough</a:t>
              </a:r>
            </a:p>
          </p:txBody>
        </p:sp>
        <p:sp>
          <p:nvSpPr>
            <p:cNvPr id="257048" name="Text Box 31">
              <a:extLst>
                <a:ext uri="{FF2B5EF4-FFF2-40B4-BE49-F238E27FC236}">
                  <a16:creationId xmlns:a16="http://schemas.microsoft.com/office/drawing/2014/main" id="{80461ADE-A5B8-4D7B-B467-BD336B90DBB3}"/>
                </a:ext>
              </a:extLst>
            </p:cNvPr>
            <p:cNvSpPr txBox="1">
              <a:spLocks noChangeArrowheads="1"/>
            </p:cNvSpPr>
            <p:nvPr/>
          </p:nvSpPr>
          <p:spPr bwMode="auto">
            <a:xfrm rot="-3476209">
              <a:off x="1209" y="3519"/>
              <a:ext cx="994"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lnSpc>
                  <a:spcPct val="110000"/>
                </a:lnSpc>
                <a:spcBef>
                  <a:spcPct val="0"/>
                </a:spcBef>
                <a:buClrTx/>
              </a:pPr>
              <a:r>
                <a:rPr lang="en-US" altLang="en-US" sz="1200">
                  <a:solidFill>
                    <a:srgbClr val="FFFF00"/>
                  </a:solidFill>
                  <a:effectLst/>
                  <a:latin typeface="Arial" panose="020B0604020202020204" pitchFamily="34" charset="0"/>
                </a:rPr>
                <a:t>Puysegur</a:t>
              </a:r>
            </a:p>
            <a:p>
              <a:pPr algn="ctr" eaLnBrk="1" hangingPunct="1">
                <a:lnSpc>
                  <a:spcPct val="110000"/>
                </a:lnSpc>
                <a:spcBef>
                  <a:spcPct val="0"/>
                </a:spcBef>
                <a:buClrTx/>
              </a:pPr>
              <a:r>
                <a:rPr lang="en-US" altLang="en-US" sz="1200">
                  <a:solidFill>
                    <a:srgbClr val="FFFF00"/>
                  </a:solidFill>
                  <a:effectLst/>
                  <a:latin typeface="Arial" panose="020B0604020202020204" pitchFamily="34" charset="0"/>
                </a:rPr>
                <a:t>trench</a:t>
              </a:r>
            </a:p>
          </p:txBody>
        </p:sp>
        <p:sp>
          <p:nvSpPr>
            <p:cNvPr id="257049" name="Text Box 32">
              <a:extLst>
                <a:ext uri="{FF2B5EF4-FFF2-40B4-BE49-F238E27FC236}">
                  <a16:creationId xmlns:a16="http://schemas.microsoft.com/office/drawing/2014/main" id="{BE9468A2-648E-4574-B4DC-51E24E7C0428}"/>
                </a:ext>
              </a:extLst>
            </p:cNvPr>
            <p:cNvSpPr txBox="1">
              <a:spLocks noChangeArrowheads="1"/>
            </p:cNvSpPr>
            <p:nvPr/>
          </p:nvSpPr>
          <p:spPr bwMode="auto">
            <a:xfrm>
              <a:off x="1056" y="3635"/>
              <a:ext cx="535"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50000"/>
                </a:spcBef>
                <a:buClrTx/>
              </a:pPr>
              <a:r>
                <a:rPr lang="en-US" altLang="en-US" sz="1400" b="1">
                  <a:solidFill>
                    <a:srgbClr val="FF0000"/>
                  </a:solidFill>
                  <a:effectLst/>
                  <a:latin typeface="Arial" panose="020B0604020202020204" pitchFamily="34" charset="0"/>
                </a:rPr>
                <a:t>3.1 cm/yr</a:t>
              </a:r>
            </a:p>
          </p:txBody>
        </p:sp>
        <p:sp>
          <p:nvSpPr>
            <p:cNvPr id="257050" name="Text Box 33">
              <a:extLst>
                <a:ext uri="{FF2B5EF4-FFF2-40B4-BE49-F238E27FC236}">
                  <a16:creationId xmlns:a16="http://schemas.microsoft.com/office/drawing/2014/main" id="{8E79262A-B24C-4040-920B-1875B77F10B2}"/>
                </a:ext>
              </a:extLst>
            </p:cNvPr>
            <p:cNvSpPr txBox="1">
              <a:spLocks noChangeArrowheads="1"/>
            </p:cNvSpPr>
            <p:nvPr/>
          </p:nvSpPr>
          <p:spPr bwMode="auto">
            <a:xfrm>
              <a:off x="4185" y="2169"/>
              <a:ext cx="53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50000"/>
                </a:spcBef>
                <a:buClrTx/>
              </a:pPr>
              <a:r>
                <a:rPr lang="en-US" altLang="en-US" sz="1400" b="1">
                  <a:solidFill>
                    <a:srgbClr val="FF0000"/>
                  </a:solidFill>
                  <a:effectLst/>
                  <a:latin typeface="Arial" panose="020B0604020202020204" pitchFamily="34" charset="0"/>
                </a:rPr>
                <a:t>5.4 cm/yr</a:t>
              </a:r>
            </a:p>
          </p:txBody>
        </p:sp>
        <p:sp>
          <p:nvSpPr>
            <p:cNvPr id="257051" name="Freeform 45">
              <a:extLst>
                <a:ext uri="{FF2B5EF4-FFF2-40B4-BE49-F238E27FC236}">
                  <a16:creationId xmlns:a16="http://schemas.microsoft.com/office/drawing/2014/main" id="{D406756F-20C3-43F2-B0EF-793824617270}"/>
                </a:ext>
              </a:extLst>
            </p:cNvPr>
            <p:cNvSpPr>
              <a:spLocks/>
            </p:cNvSpPr>
            <p:nvPr/>
          </p:nvSpPr>
          <p:spPr bwMode="auto">
            <a:xfrm>
              <a:off x="3101" y="2237"/>
              <a:ext cx="307" cy="606"/>
            </a:xfrm>
            <a:custGeom>
              <a:avLst/>
              <a:gdLst>
                <a:gd name="T0" fmla="*/ 0 w 404"/>
                <a:gd name="T1" fmla="*/ 795 h 795"/>
                <a:gd name="T2" fmla="*/ 212 w 404"/>
                <a:gd name="T3" fmla="*/ 541 h 795"/>
                <a:gd name="T4" fmla="*/ 370 w 404"/>
                <a:gd name="T5" fmla="*/ 267 h 795"/>
                <a:gd name="T6" fmla="*/ 404 w 404"/>
                <a:gd name="T7" fmla="*/ 0 h 795"/>
                <a:gd name="T8" fmla="*/ 0 60000 65536"/>
                <a:gd name="T9" fmla="*/ 0 60000 65536"/>
                <a:gd name="T10" fmla="*/ 0 60000 65536"/>
                <a:gd name="T11" fmla="*/ 0 60000 65536"/>
                <a:gd name="T12" fmla="*/ 0 w 404"/>
                <a:gd name="T13" fmla="*/ 0 h 795"/>
                <a:gd name="T14" fmla="*/ 404 w 404"/>
                <a:gd name="T15" fmla="*/ 795 h 795"/>
              </a:gdLst>
              <a:ahLst/>
              <a:cxnLst>
                <a:cxn ang="T8">
                  <a:pos x="T0" y="T1"/>
                </a:cxn>
                <a:cxn ang="T9">
                  <a:pos x="T2" y="T3"/>
                </a:cxn>
                <a:cxn ang="T10">
                  <a:pos x="T4" y="T5"/>
                </a:cxn>
                <a:cxn ang="T11">
                  <a:pos x="T6" y="T7"/>
                </a:cxn>
              </a:cxnLst>
              <a:rect l="T12" t="T13" r="T14" b="T15"/>
              <a:pathLst>
                <a:path w="404" h="795">
                  <a:moveTo>
                    <a:pt x="0" y="795"/>
                  </a:moveTo>
                  <a:cubicBezTo>
                    <a:pt x="37" y="753"/>
                    <a:pt x="150" y="629"/>
                    <a:pt x="212" y="541"/>
                  </a:cubicBezTo>
                  <a:cubicBezTo>
                    <a:pt x="274" y="453"/>
                    <a:pt x="338" y="357"/>
                    <a:pt x="370" y="267"/>
                  </a:cubicBezTo>
                  <a:cubicBezTo>
                    <a:pt x="402" y="177"/>
                    <a:pt x="397" y="56"/>
                    <a:pt x="404" y="0"/>
                  </a:cubicBezTo>
                </a:path>
              </a:pathLst>
            </a:custGeom>
            <a:noFill/>
            <a:ln w="1905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57052" name="Freeform 46">
              <a:extLst>
                <a:ext uri="{FF2B5EF4-FFF2-40B4-BE49-F238E27FC236}">
                  <a16:creationId xmlns:a16="http://schemas.microsoft.com/office/drawing/2014/main" id="{231F561E-6F5A-41AC-A88F-96039131AC55}"/>
                </a:ext>
              </a:extLst>
            </p:cNvPr>
            <p:cNvSpPr>
              <a:spLocks/>
            </p:cNvSpPr>
            <p:nvPr/>
          </p:nvSpPr>
          <p:spPr bwMode="auto">
            <a:xfrm>
              <a:off x="2822" y="2948"/>
              <a:ext cx="200" cy="94"/>
            </a:xfrm>
            <a:custGeom>
              <a:avLst/>
              <a:gdLst>
                <a:gd name="T0" fmla="*/ 0 w 261"/>
                <a:gd name="T1" fmla="*/ 124 h 124"/>
                <a:gd name="T2" fmla="*/ 172 w 261"/>
                <a:gd name="T3" fmla="*/ 41 h 124"/>
                <a:gd name="T4" fmla="*/ 261 w 261"/>
                <a:gd name="T5" fmla="*/ 0 h 124"/>
                <a:gd name="T6" fmla="*/ 0 60000 65536"/>
                <a:gd name="T7" fmla="*/ 0 60000 65536"/>
                <a:gd name="T8" fmla="*/ 0 60000 65536"/>
                <a:gd name="T9" fmla="*/ 0 w 261"/>
                <a:gd name="T10" fmla="*/ 0 h 124"/>
                <a:gd name="T11" fmla="*/ 261 w 261"/>
                <a:gd name="T12" fmla="*/ 124 h 124"/>
              </a:gdLst>
              <a:ahLst/>
              <a:cxnLst>
                <a:cxn ang="T6">
                  <a:pos x="T0" y="T1"/>
                </a:cxn>
                <a:cxn ang="T7">
                  <a:pos x="T2" y="T3"/>
                </a:cxn>
                <a:cxn ang="T8">
                  <a:pos x="T4" y="T5"/>
                </a:cxn>
              </a:cxnLst>
              <a:rect l="T9" t="T10" r="T11" b="T12"/>
              <a:pathLst>
                <a:path w="261" h="124">
                  <a:moveTo>
                    <a:pt x="0" y="124"/>
                  </a:moveTo>
                  <a:cubicBezTo>
                    <a:pt x="59" y="95"/>
                    <a:pt x="129" y="62"/>
                    <a:pt x="172" y="41"/>
                  </a:cubicBezTo>
                  <a:cubicBezTo>
                    <a:pt x="215" y="20"/>
                    <a:pt x="243" y="9"/>
                    <a:pt x="261" y="0"/>
                  </a:cubicBezTo>
                </a:path>
              </a:pathLst>
            </a:custGeom>
            <a:noFill/>
            <a:ln w="1905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57053" name="Freeform 47">
              <a:extLst>
                <a:ext uri="{FF2B5EF4-FFF2-40B4-BE49-F238E27FC236}">
                  <a16:creationId xmlns:a16="http://schemas.microsoft.com/office/drawing/2014/main" id="{66C1E012-6A5F-4EF2-B0E3-803FCE9EE956}"/>
                </a:ext>
              </a:extLst>
            </p:cNvPr>
            <p:cNvSpPr>
              <a:spLocks/>
            </p:cNvSpPr>
            <p:nvPr/>
          </p:nvSpPr>
          <p:spPr bwMode="auto">
            <a:xfrm>
              <a:off x="2712" y="2843"/>
              <a:ext cx="237" cy="209"/>
            </a:xfrm>
            <a:custGeom>
              <a:avLst/>
              <a:gdLst>
                <a:gd name="T0" fmla="*/ 0 w 309"/>
                <a:gd name="T1" fmla="*/ 274 h 274"/>
                <a:gd name="T2" fmla="*/ 124 w 309"/>
                <a:gd name="T3" fmla="*/ 96 h 274"/>
                <a:gd name="T4" fmla="*/ 309 w 309"/>
                <a:gd name="T5" fmla="*/ 0 h 274"/>
                <a:gd name="T6" fmla="*/ 0 60000 65536"/>
                <a:gd name="T7" fmla="*/ 0 60000 65536"/>
                <a:gd name="T8" fmla="*/ 0 60000 65536"/>
                <a:gd name="T9" fmla="*/ 0 w 309"/>
                <a:gd name="T10" fmla="*/ 0 h 274"/>
                <a:gd name="T11" fmla="*/ 309 w 309"/>
                <a:gd name="T12" fmla="*/ 274 h 274"/>
              </a:gdLst>
              <a:ahLst/>
              <a:cxnLst>
                <a:cxn ang="T6">
                  <a:pos x="T0" y="T1"/>
                </a:cxn>
                <a:cxn ang="T7">
                  <a:pos x="T2" y="T3"/>
                </a:cxn>
                <a:cxn ang="T8">
                  <a:pos x="T4" y="T5"/>
                </a:cxn>
              </a:cxnLst>
              <a:rect l="T9" t="T10" r="T11" b="T12"/>
              <a:pathLst>
                <a:path w="309" h="274">
                  <a:moveTo>
                    <a:pt x="0" y="274"/>
                  </a:moveTo>
                  <a:cubicBezTo>
                    <a:pt x="21" y="245"/>
                    <a:pt x="73" y="142"/>
                    <a:pt x="124" y="96"/>
                  </a:cubicBezTo>
                  <a:cubicBezTo>
                    <a:pt x="175" y="50"/>
                    <a:pt x="278" y="16"/>
                    <a:pt x="309" y="0"/>
                  </a:cubicBezTo>
                </a:path>
              </a:pathLst>
            </a:custGeom>
            <a:noFill/>
            <a:ln w="1905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57054" name="Freeform 48">
              <a:extLst>
                <a:ext uri="{FF2B5EF4-FFF2-40B4-BE49-F238E27FC236}">
                  <a16:creationId xmlns:a16="http://schemas.microsoft.com/office/drawing/2014/main" id="{07B9EB30-AE1A-452C-B0E1-A30B7E98EB8C}"/>
                </a:ext>
              </a:extLst>
            </p:cNvPr>
            <p:cNvSpPr>
              <a:spLocks/>
            </p:cNvSpPr>
            <p:nvPr/>
          </p:nvSpPr>
          <p:spPr bwMode="auto">
            <a:xfrm>
              <a:off x="2681" y="2791"/>
              <a:ext cx="392" cy="303"/>
            </a:xfrm>
            <a:custGeom>
              <a:avLst/>
              <a:gdLst>
                <a:gd name="T0" fmla="*/ 0 w 514"/>
                <a:gd name="T1" fmla="*/ 397 h 397"/>
                <a:gd name="T2" fmla="*/ 213 w 514"/>
                <a:gd name="T3" fmla="*/ 219 h 397"/>
                <a:gd name="T4" fmla="*/ 432 w 514"/>
                <a:gd name="T5" fmla="*/ 102 h 397"/>
                <a:gd name="T6" fmla="*/ 514 w 514"/>
                <a:gd name="T7" fmla="*/ 0 h 397"/>
                <a:gd name="T8" fmla="*/ 0 60000 65536"/>
                <a:gd name="T9" fmla="*/ 0 60000 65536"/>
                <a:gd name="T10" fmla="*/ 0 60000 65536"/>
                <a:gd name="T11" fmla="*/ 0 60000 65536"/>
                <a:gd name="T12" fmla="*/ 0 w 514"/>
                <a:gd name="T13" fmla="*/ 0 h 397"/>
                <a:gd name="T14" fmla="*/ 514 w 514"/>
                <a:gd name="T15" fmla="*/ 397 h 397"/>
              </a:gdLst>
              <a:ahLst/>
              <a:cxnLst>
                <a:cxn ang="T8">
                  <a:pos x="T0" y="T1"/>
                </a:cxn>
                <a:cxn ang="T9">
                  <a:pos x="T2" y="T3"/>
                </a:cxn>
                <a:cxn ang="T10">
                  <a:pos x="T4" y="T5"/>
                </a:cxn>
                <a:cxn ang="T11">
                  <a:pos x="T6" y="T7"/>
                </a:cxn>
              </a:cxnLst>
              <a:rect l="T12" t="T13" r="T14" b="T15"/>
              <a:pathLst>
                <a:path w="514" h="397">
                  <a:moveTo>
                    <a:pt x="0" y="397"/>
                  </a:moveTo>
                  <a:cubicBezTo>
                    <a:pt x="70" y="332"/>
                    <a:pt x="141" y="268"/>
                    <a:pt x="213" y="219"/>
                  </a:cubicBezTo>
                  <a:cubicBezTo>
                    <a:pt x="285" y="170"/>
                    <a:pt x="382" y="138"/>
                    <a:pt x="432" y="102"/>
                  </a:cubicBezTo>
                  <a:cubicBezTo>
                    <a:pt x="482" y="66"/>
                    <a:pt x="498" y="33"/>
                    <a:pt x="514" y="0"/>
                  </a:cubicBezTo>
                </a:path>
              </a:pathLst>
            </a:custGeom>
            <a:noFill/>
            <a:ln w="1905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57055" name="Text Box 49">
              <a:extLst>
                <a:ext uri="{FF2B5EF4-FFF2-40B4-BE49-F238E27FC236}">
                  <a16:creationId xmlns:a16="http://schemas.microsoft.com/office/drawing/2014/main" id="{1C76D4AB-623B-4AEC-A97A-C9BA89C24173}"/>
                </a:ext>
              </a:extLst>
            </p:cNvPr>
            <p:cNvSpPr txBox="1">
              <a:spLocks noChangeArrowheads="1"/>
            </p:cNvSpPr>
            <p:nvPr/>
          </p:nvSpPr>
          <p:spPr bwMode="auto">
            <a:xfrm>
              <a:off x="1632" y="2866"/>
              <a:ext cx="8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50000"/>
                </a:spcBef>
                <a:buClrTx/>
              </a:pPr>
              <a:r>
                <a:rPr lang="en-US" altLang="en-US" sz="1400" b="1">
                  <a:solidFill>
                    <a:srgbClr val="FFFF00"/>
                  </a:solidFill>
                  <a:effectLst/>
                  <a:latin typeface="Arial" panose="020B0604020202020204" pitchFamily="34" charset="0"/>
                </a:rPr>
                <a:t>Alpine fault</a:t>
              </a:r>
            </a:p>
          </p:txBody>
        </p:sp>
        <p:sp>
          <p:nvSpPr>
            <p:cNvPr id="257056" name="Text Box 50">
              <a:extLst>
                <a:ext uri="{FF2B5EF4-FFF2-40B4-BE49-F238E27FC236}">
                  <a16:creationId xmlns:a16="http://schemas.microsoft.com/office/drawing/2014/main" id="{0F6C27DE-0EED-4663-9EDC-87EC90B8E0C1}"/>
                </a:ext>
              </a:extLst>
            </p:cNvPr>
            <p:cNvSpPr txBox="1">
              <a:spLocks noChangeArrowheads="1"/>
            </p:cNvSpPr>
            <p:nvPr/>
          </p:nvSpPr>
          <p:spPr bwMode="auto">
            <a:xfrm>
              <a:off x="2934" y="3202"/>
              <a:ext cx="87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50000"/>
                </a:spcBef>
                <a:buClrTx/>
              </a:pPr>
              <a:r>
                <a:rPr lang="en-US" altLang="en-US" sz="1200">
                  <a:solidFill>
                    <a:srgbClr val="FFFF00"/>
                  </a:solidFill>
                  <a:effectLst/>
                  <a:latin typeface="Arial" panose="020B0604020202020204" pitchFamily="34" charset="0"/>
                </a:rPr>
                <a:t>Marlborough fault</a:t>
              </a:r>
              <a:r>
                <a:rPr lang="en-US" altLang="en-US" sz="1400">
                  <a:solidFill>
                    <a:srgbClr val="FFFF00"/>
                  </a:solidFill>
                  <a:effectLst/>
                  <a:latin typeface="Arial" panose="020B0604020202020204" pitchFamily="34" charset="0"/>
                </a:rPr>
                <a:t> </a:t>
              </a:r>
              <a:r>
                <a:rPr lang="en-US" altLang="en-US" sz="1200">
                  <a:solidFill>
                    <a:srgbClr val="FFFF00"/>
                  </a:solidFill>
                  <a:effectLst/>
                  <a:latin typeface="Arial" panose="020B0604020202020204" pitchFamily="34" charset="0"/>
                </a:rPr>
                <a:t>system</a:t>
              </a:r>
            </a:p>
          </p:txBody>
        </p:sp>
        <p:sp>
          <p:nvSpPr>
            <p:cNvPr id="257057" name="Text Box 51">
              <a:extLst>
                <a:ext uri="{FF2B5EF4-FFF2-40B4-BE49-F238E27FC236}">
                  <a16:creationId xmlns:a16="http://schemas.microsoft.com/office/drawing/2014/main" id="{0547E74D-885D-4EEE-87EB-A0A225DFB88C}"/>
                </a:ext>
              </a:extLst>
            </p:cNvPr>
            <p:cNvSpPr txBox="1">
              <a:spLocks noChangeArrowheads="1"/>
            </p:cNvSpPr>
            <p:nvPr/>
          </p:nvSpPr>
          <p:spPr bwMode="auto">
            <a:xfrm>
              <a:off x="2221" y="2128"/>
              <a:ext cx="87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eaLnBrk="1" hangingPunct="1">
                <a:spcBef>
                  <a:spcPct val="50000"/>
                </a:spcBef>
                <a:buClrTx/>
              </a:pPr>
              <a:r>
                <a:rPr lang="en-US" altLang="en-US" sz="1200">
                  <a:solidFill>
                    <a:srgbClr val="FFFF00"/>
                  </a:solidFill>
                  <a:effectLst/>
                  <a:latin typeface="Arial" panose="020B0604020202020204" pitchFamily="34" charset="0"/>
                </a:rPr>
                <a:t>North Island fault system</a:t>
              </a:r>
            </a:p>
          </p:txBody>
        </p:sp>
        <p:sp>
          <p:nvSpPr>
            <p:cNvPr id="257058" name="Freeform 52">
              <a:extLst>
                <a:ext uri="{FF2B5EF4-FFF2-40B4-BE49-F238E27FC236}">
                  <a16:creationId xmlns:a16="http://schemas.microsoft.com/office/drawing/2014/main" id="{45272C08-2962-49CF-940C-7EB92B76DA30}"/>
                </a:ext>
              </a:extLst>
            </p:cNvPr>
            <p:cNvSpPr>
              <a:spLocks/>
            </p:cNvSpPr>
            <p:nvPr/>
          </p:nvSpPr>
          <p:spPr bwMode="auto">
            <a:xfrm>
              <a:off x="3121" y="2634"/>
              <a:ext cx="230" cy="235"/>
            </a:xfrm>
            <a:custGeom>
              <a:avLst/>
              <a:gdLst>
                <a:gd name="T0" fmla="*/ 0 w 302"/>
                <a:gd name="T1" fmla="*/ 308 h 308"/>
                <a:gd name="T2" fmla="*/ 199 w 302"/>
                <a:gd name="T3" fmla="*/ 144 h 308"/>
                <a:gd name="T4" fmla="*/ 302 w 302"/>
                <a:gd name="T5" fmla="*/ 0 h 308"/>
                <a:gd name="T6" fmla="*/ 0 60000 65536"/>
                <a:gd name="T7" fmla="*/ 0 60000 65536"/>
                <a:gd name="T8" fmla="*/ 0 60000 65536"/>
                <a:gd name="T9" fmla="*/ 0 w 302"/>
                <a:gd name="T10" fmla="*/ 0 h 308"/>
                <a:gd name="T11" fmla="*/ 302 w 302"/>
                <a:gd name="T12" fmla="*/ 308 h 308"/>
              </a:gdLst>
              <a:ahLst/>
              <a:cxnLst>
                <a:cxn ang="T6">
                  <a:pos x="T0" y="T1"/>
                </a:cxn>
                <a:cxn ang="T7">
                  <a:pos x="T2" y="T3"/>
                </a:cxn>
                <a:cxn ang="T8">
                  <a:pos x="T4" y="T5"/>
                </a:cxn>
              </a:cxnLst>
              <a:rect l="T9" t="T10" r="T11" b="T12"/>
              <a:pathLst>
                <a:path w="302" h="308">
                  <a:moveTo>
                    <a:pt x="0" y="308"/>
                  </a:moveTo>
                  <a:cubicBezTo>
                    <a:pt x="33" y="279"/>
                    <a:pt x="149" y="195"/>
                    <a:pt x="199" y="144"/>
                  </a:cubicBezTo>
                  <a:cubicBezTo>
                    <a:pt x="249" y="93"/>
                    <a:pt x="273" y="48"/>
                    <a:pt x="302" y="0"/>
                  </a:cubicBezTo>
                </a:path>
              </a:pathLst>
            </a:custGeom>
            <a:noFill/>
            <a:ln w="1905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57059" name="Line 54">
              <a:extLst>
                <a:ext uri="{FF2B5EF4-FFF2-40B4-BE49-F238E27FC236}">
                  <a16:creationId xmlns:a16="http://schemas.microsoft.com/office/drawing/2014/main" id="{FC0BE12F-F992-4C14-83BD-FC265E62B231}"/>
                </a:ext>
              </a:extLst>
            </p:cNvPr>
            <p:cNvSpPr>
              <a:spLocks noChangeShapeType="1"/>
            </p:cNvSpPr>
            <p:nvPr/>
          </p:nvSpPr>
          <p:spPr bwMode="auto">
            <a:xfrm>
              <a:off x="2199" y="3079"/>
              <a:ext cx="159" cy="182"/>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7060" name="Line 55">
              <a:extLst>
                <a:ext uri="{FF2B5EF4-FFF2-40B4-BE49-F238E27FC236}">
                  <a16:creationId xmlns:a16="http://schemas.microsoft.com/office/drawing/2014/main" id="{F9DADE40-E73F-406D-A3C8-986EFE16DB67}"/>
                </a:ext>
              </a:extLst>
            </p:cNvPr>
            <p:cNvSpPr>
              <a:spLocks noChangeShapeType="1"/>
            </p:cNvSpPr>
            <p:nvPr/>
          </p:nvSpPr>
          <p:spPr bwMode="auto">
            <a:xfrm flipH="1" flipV="1">
              <a:off x="2897" y="2957"/>
              <a:ext cx="145" cy="221"/>
            </a:xfrm>
            <a:prstGeom prst="line">
              <a:avLst/>
            </a:prstGeom>
            <a:noFill/>
            <a:ln w="127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7061" name="Line 56">
              <a:extLst>
                <a:ext uri="{FF2B5EF4-FFF2-40B4-BE49-F238E27FC236}">
                  <a16:creationId xmlns:a16="http://schemas.microsoft.com/office/drawing/2014/main" id="{84380970-349F-4B1C-82AE-0E826FE15A15}"/>
                </a:ext>
              </a:extLst>
            </p:cNvPr>
            <p:cNvSpPr>
              <a:spLocks noChangeShapeType="1"/>
            </p:cNvSpPr>
            <p:nvPr/>
          </p:nvSpPr>
          <p:spPr bwMode="auto">
            <a:xfrm>
              <a:off x="2964" y="2347"/>
              <a:ext cx="361" cy="147"/>
            </a:xfrm>
            <a:prstGeom prst="line">
              <a:avLst/>
            </a:prstGeom>
            <a:noFill/>
            <a:ln w="127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57062" name="Line 38">
              <a:extLst>
                <a:ext uri="{FF2B5EF4-FFF2-40B4-BE49-F238E27FC236}">
                  <a16:creationId xmlns:a16="http://schemas.microsoft.com/office/drawing/2014/main" id="{EA75A499-6C35-4FA0-BD49-63E4811FF3F1}"/>
                </a:ext>
              </a:extLst>
            </p:cNvPr>
            <p:cNvSpPr>
              <a:spLocks noChangeShapeType="1"/>
            </p:cNvSpPr>
            <p:nvPr/>
          </p:nvSpPr>
          <p:spPr bwMode="auto">
            <a:xfrm flipH="1">
              <a:off x="3348" y="1497"/>
              <a:ext cx="465" cy="74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7063" name="Line 39">
              <a:extLst>
                <a:ext uri="{FF2B5EF4-FFF2-40B4-BE49-F238E27FC236}">
                  <a16:creationId xmlns:a16="http://schemas.microsoft.com/office/drawing/2014/main" id="{8CD9DFD4-3F86-47B7-A361-EF9D1D98A640}"/>
                </a:ext>
              </a:extLst>
            </p:cNvPr>
            <p:cNvSpPr>
              <a:spLocks noChangeShapeType="1"/>
            </p:cNvSpPr>
            <p:nvPr/>
          </p:nvSpPr>
          <p:spPr bwMode="auto">
            <a:xfrm flipH="1">
              <a:off x="3368" y="1493"/>
              <a:ext cx="473" cy="75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7064" name="Line 40">
              <a:extLst>
                <a:ext uri="{FF2B5EF4-FFF2-40B4-BE49-F238E27FC236}">
                  <a16:creationId xmlns:a16="http://schemas.microsoft.com/office/drawing/2014/main" id="{4C3EDC01-5A09-4BAC-84DA-7B5362B11B5C}"/>
                </a:ext>
              </a:extLst>
            </p:cNvPr>
            <p:cNvSpPr>
              <a:spLocks noChangeShapeType="1"/>
            </p:cNvSpPr>
            <p:nvPr/>
          </p:nvSpPr>
          <p:spPr bwMode="auto">
            <a:xfrm flipH="1" flipV="1">
              <a:off x="3573" y="1560"/>
              <a:ext cx="126" cy="6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7065" name="Line 41">
              <a:extLst>
                <a:ext uri="{FF2B5EF4-FFF2-40B4-BE49-F238E27FC236}">
                  <a16:creationId xmlns:a16="http://schemas.microsoft.com/office/drawing/2014/main" id="{CBCF0644-D23E-4800-B1CF-F4D1B0A1DF59}"/>
                </a:ext>
              </a:extLst>
            </p:cNvPr>
            <p:cNvSpPr>
              <a:spLocks noChangeShapeType="1"/>
            </p:cNvSpPr>
            <p:nvPr/>
          </p:nvSpPr>
          <p:spPr bwMode="auto">
            <a:xfrm>
              <a:off x="3772" y="1653"/>
              <a:ext cx="126" cy="6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7066" name="Text Box 42">
              <a:extLst>
                <a:ext uri="{FF2B5EF4-FFF2-40B4-BE49-F238E27FC236}">
                  <a16:creationId xmlns:a16="http://schemas.microsoft.com/office/drawing/2014/main" id="{E5EAEB92-F197-49A6-AA09-283917604E65}"/>
                </a:ext>
              </a:extLst>
            </p:cNvPr>
            <p:cNvSpPr txBox="1">
              <a:spLocks noChangeArrowheads="1"/>
            </p:cNvSpPr>
            <p:nvPr/>
          </p:nvSpPr>
          <p:spPr bwMode="auto">
            <a:xfrm>
              <a:off x="4423" y="2802"/>
              <a:ext cx="59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ClrTx/>
              </a:pPr>
              <a:r>
                <a:rPr lang="en-US" altLang="en-US" sz="1800">
                  <a:solidFill>
                    <a:srgbClr val="FFFF00"/>
                  </a:solidFill>
                  <a:effectLst/>
                  <a:latin typeface="Arial" panose="020B0604020202020204" pitchFamily="34" charset="0"/>
                </a:rPr>
                <a:t>Pacific plate</a:t>
              </a:r>
            </a:p>
          </p:txBody>
        </p:sp>
        <p:sp>
          <p:nvSpPr>
            <p:cNvPr id="257067" name="Text Box 43">
              <a:extLst>
                <a:ext uri="{FF2B5EF4-FFF2-40B4-BE49-F238E27FC236}">
                  <a16:creationId xmlns:a16="http://schemas.microsoft.com/office/drawing/2014/main" id="{497ED5D2-E687-4E93-93B5-3BD142BD8CB0}"/>
                </a:ext>
              </a:extLst>
            </p:cNvPr>
            <p:cNvSpPr txBox="1">
              <a:spLocks noChangeArrowheads="1"/>
            </p:cNvSpPr>
            <p:nvPr/>
          </p:nvSpPr>
          <p:spPr bwMode="auto">
            <a:xfrm>
              <a:off x="967" y="2022"/>
              <a:ext cx="78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ClrTx/>
              </a:pPr>
              <a:r>
                <a:rPr lang="en-US" altLang="en-US" sz="1800">
                  <a:solidFill>
                    <a:srgbClr val="FFFF00"/>
                  </a:solidFill>
                  <a:effectLst/>
                  <a:latin typeface="Arial" panose="020B0604020202020204" pitchFamily="34" charset="0"/>
                </a:rPr>
                <a:t>Australian plate</a:t>
              </a:r>
            </a:p>
          </p:txBody>
        </p:sp>
        <p:sp>
          <p:nvSpPr>
            <p:cNvPr id="257068" name="Text Box 44">
              <a:extLst>
                <a:ext uri="{FF2B5EF4-FFF2-40B4-BE49-F238E27FC236}">
                  <a16:creationId xmlns:a16="http://schemas.microsoft.com/office/drawing/2014/main" id="{454BD47F-F68A-414A-9958-9D0B7B8DF499}"/>
                </a:ext>
              </a:extLst>
            </p:cNvPr>
            <p:cNvSpPr txBox="1">
              <a:spLocks noChangeArrowheads="1"/>
            </p:cNvSpPr>
            <p:nvPr/>
          </p:nvSpPr>
          <p:spPr bwMode="auto">
            <a:xfrm rot="-3973188">
              <a:off x="3945" y="1595"/>
              <a:ext cx="644"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ClrTx/>
              </a:pPr>
              <a:r>
                <a:rPr lang="en-US" altLang="en-US" sz="1200">
                  <a:solidFill>
                    <a:srgbClr val="FFFF00"/>
                  </a:solidFill>
                  <a:effectLst/>
                  <a:latin typeface="Arial" panose="020B0604020202020204" pitchFamily="34" charset="0"/>
                </a:rPr>
                <a:t>Kermadec</a:t>
              </a:r>
              <a:r>
                <a:rPr lang="en-US" altLang="en-US" sz="1400">
                  <a:solidFill>
                    <a:srgbClr val="FFFF00"/>
                  </a:solidFill>
                  <a:effectLst/>
                  <a:latin typeface="Arial" panose="020B0604020202020204" pitchFamily="34" charset="0"/>
                </a:rPr>
                <a:t> </a:t>
              </a:r>
              <a:r>
                <a:rPr lang="en-US" altLang="en-US" sz="1200">
                  <a:solidFill>
                    <a:srgbClr val="FFFF00"/>
                  </a:solidFill>
                  <a:effectLst/>
                  <a:latin typeface="Arial" panose="020B0604020202020204" pitchFamily="34" charset="0"/>
                </a:rPr>
                <a:t>trench</a:t>
              </a:r>
            </a:p>
          </p:txBody>
        </p:sp>
      </p:grpSp>
      <p:sp>
        <p:nvSpPr>
          <p:cNvPr id="257069" name="Text Box 45">
            <a:extLst>
              <a:ext uri="{FF2B5EF4-FFF2-40B4-BE49-F238E27FC236}">
                <a16:creationId xmlns:a16="http://schemas.microsoft.com/office/drawing/2014/main" id="{2A541762-A867-400A-9B41-81B21AF7E8A3}"/>
              </a:ext>
            </a:extLst>
          </p:cNvPr>
          <p:cNvSpPr txBox="1">
            <a:spLocks noChangeArrowheads="1"/>
          </p:cNvSpPr>
          <p:nvPr/>
        </p:nvSpPr>
        <p:spPr bwMode="auto">
          <a:xfrm>
            <a:off x="112713" y="754063"/>
            <a:ext cx="8909050"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Another example is the </a:t>
            </a:r>
            <a:r>
              <a:rPr lang="en-GB" altLang="en-US" sz="1700" dirty="0">
                <a:solidFill>
                  <a:srgbClr val="FF6600"/>
                </a:solidFill>
                <a:effectLst>
                  <a:outerShdw blurRad="38100" dist="38100" dir="2700000" algn="tl">
                    <a:srgbClr val="000000"/>
                  </a:outerShdw>
                </a:effectLst>
                <a:latin typeface="Arial" panose="020B0604020202020204" pitchFamily="34" charset="0"/>
              </a:rPr>
              <a:t>Alpine Fault</a:t>
            </a:r>
            <a:r>
              <a:rPr lang="en-GB" altLang="en-US" sz="1700" dirty="0">
                <a:effectLst>
                  <a:outerShdw blurRad="38100" dist="38100" dir="2700000" algn="tl">
                    <a:srgbClr val="000000"/>
                  </a:outerShdw>
                </a:effectLst>
                <a:latin typeface="Arial" panose="020B0604020202020204" pitchFamily="34" charset="0"/>
              </a:rPr>
              <a:t> in New Zealand, which forms a predominantly strike-slip portion of the boundary between the Australian and Pacific plates – in the north the Pacific plate is being subducted under the Australian plate, but in the south it is the other way around; the Alpine Fault is a </a:t>
            </a:r>
            <a:r>
              <a:rPr lang="en-GB" altLang="en-US" sz="1700" dirty="0">
                <a:solidFill>
                  <a:srgbClr val="FF66FF"/>
                </a:solidFill>
                <a:effectLst>
                  <a:outerShdw blurRad="38100" dist="38100" dir="2700000" algn="tl">
                    <a:srgbClr val="000000"/>
                  </a:outerShdw>
                </a:effectLst>
                <a:latin typeface="Arial" panose="020B0604020202020204" pitchFamily="34" charset="0"/>
              </a:rPr>
              <a:t>transfer fault</a:t>
            </a:r>
            <a:r>
              <a:rPr lang="en-GB" altLang="en-US" sz="1700" dirty="0">
                <a:effectLst>
                  <a:outerShdw blurRad="38100" dist="38100" dir="2700000" algn="tl">
                    <a:srgbClr val="000000"/>
                  </a:outerShdw>
                </a:effectLst>
                <a:latin typeface="Arial" panose="020B0604020202020204" pitchFamily="34" charset="0"/>
              </a:rPr>
              <a:t> between these two subduction zones</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a:extLst>
              <a:ext uri="{FF2B5EF4-FFF2-40B4-BE49-F238E27FC236}">
                <a16:creationId xmlns:a16="http://schemas.microsoft.com/office/drawing/2014/main" id="{8E513816-3F42-4D1F-8C2A-7AADB27FA8D8}"/>
              </a:ext>
            </a:extLst>
          </p:cNvPr>
          <p:cNvSpPr>
            <a:spLocks noGrp="1" noChangeArrowheads="1"/>
          </p:cNvSpPr>
          <p:nvPr>
            <p:ph type="title"/>
          </p:nvPr>
        </p:nvSpPr>
        <p:spPr>
          <a:noFill/>
        </p:spPr>
        <p:txBody>
          <a:bodyPr/>
          <a:lstStyle/>
          <a:p>
            <a:r>
              <a:rPr lang="en-GB" altLang="en-US">
                <a:effectLst/>
              </a:rPr>
              <a:t>Continental transform faults  3</a:t>
            </a:r>
          </a:p>
        </p:txBody>
      </p:sp>
      <p:pic>
        <p:nvPicPr>
          <p:cNvPr id="264240" name="Picture 48" descr="04b2">
            <a:extLst>
              <a:ext uri="{FF2B5EF4-FFF2-40B4-BE49-F238E27FC236}">
                <a16:creationId xmlns:a16="http://schemas.microsoft.com/office/drawing/2014/main" id="{B7437B99-2764-4F25-A47E-20B4D80169D4}"/>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6594475" y="919163"/>
            <a:ext cx="2008188" cy="29114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4236" name="Text Box 44">
            <a:extLst>
              <a:ext uri="{FF2B5EF4-FFF2-40B4-BE49-F238E27FC236}">
                <a16:creationId xmlns:a16="http://schemas.microsoft.com/office/drawing/2014/main" id="{C087D7D0-5329-4B88-87F5-CDD70A0F4338}"/>
              </a:ext>
            </a:extLst>
          </p:cNvPr>
          <p:cNvSpPr txBox="1">
            <a:spLocks noChangeArrowheads="1"/>
          </p:cNvSpPr>
          <p:nvPr/>
        </p:nvSpPr>
        <p:spPr bwMode="auto">
          <a:xfrm>
            <a:off x="112713" y="773113"/>
            <a:ext cx="5930900"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00"/>
                </a:solidFill>
                <a:effectLst>
                  <a:outerShdw blurRad="38100" dist="38100" dir="2700000" algn="tl">
                    <a:srgbClr val="000000"/>
                  </a:outerShdw>
                </a:effectLst>
                <a:latin typeface="Arial" panose="020B0604020202020204" pitchFamily="34" charset="0"/>
              </a:rPr>
              <a:t>Alpine Fault</a:t>
            </a:r>
            <a:r>
              <a:rPr lang="en-GB" altLang="en-US" sz="1700" dirty="0">
                <a:effectLst>
                  <a:outerShdw blurRad="38100" dist="38100" dir="2700000" algn="tl">
                    <a:srgbClr val="000000"/>
                  </a:outerShdw>
                </a:effectLst>
                <a:latin typeface="Arial" panose="020B0604020202020204" pitchFamily="34" charset="0"/>
              </a:rPr>
              <a:t> actually has a significant degree of compression acting across it, that is, it is a </a:t>
            </a:r>
            <a:r>
              <a:rPr lang="en-GB" altLang="en-US" sz="1700" dirty="0" err="1">
                <a:solidFill>
                  <a:srgbClr val="FF66FF"/>
                </a:solidFill>
                <a:effectLst>
                  <a:outerShdw blurRad="38100" dist="38100" dir="2700000" algn="tl">
                    <a:srgbClr val="000000"/>
                  </a:outerShdw>
                </a:effectLst>
                <a:latin typeface="Arial" panose="020B0604020202020204" pitchFamily="34" charset="0"/>
              </a:rPr>
              <a:t>transpressive</a:t>
            </a:r>
            <a:r>
              <a:rPr lang="en-GB" altLang="en-US" sz="1700" dirty="0">
                <a:solidFill>
                  <a:srgbClr val="FF66FF"/>
                </a:solidFill>
                <a:effectLst>
                  <a:outerShdw blurRad="38100" dist="38100" dir="2700000" algn="tl">
                    <a:srgbClr val="000000"/>
                  </a:outerShdw>
                </a:effectLst>
                <a:latin typeface="Arial" panose="020B0604020202020204" pitchFamily="34" charset="0"/>
              </a:rPr>
              <a:t> strike-slip fault</a:t>
            </a:r>
            <a:r>
              <a:rPr lang="en-GB" altLang="en-US" sz="1700" dirty="0">
                <a:effectLst>
                  <a:outerShdw blurRad="38100" dist="38100" dir="2700000" algn="tl">
                    <a:srgbClr val="000000"/>
                  </a:outerShdw>
                </a:effectLst>
                <a:latin typeface="Arial" panose="020B0604020202020204" pitchFamily="34" charset="0"/>
              </a:rPr>
              <a:t>. Hence in addition to 480 km of dextral strike-slip motion over the past 25 </a:t>
            </a:r>
            <a:r>
              <a:rPr lang="en-GB" altLang="en-US" sz="1700" dirty="0" err="1">
                <a:effectLst>
                  <a:outerShdw blurRad="38100" dist="38100" dir="2700000" algn="tl">
                    <a:srgbClr val="000000"/>
                  </a:outerShdw>
                </a:effectLst>
                <a:latin typeface="Arial" panose="020B0604020202020204" pitchFamily="34" charset="0"/>
              </a:rPr>
              <a:t>myr</a:t>
            </a:r>
            <a:r>
              <a:rPr lang="en-GB" altLang="en-US" sz="1700" dirty="0">
                <a:effectLst>
                  <a:outerShdw blurRad="38100" dist="38100" dir="2700000" algn="tl">
                    <a:srgbClr val="000000"/>
                  </a:outerShdw>
                </a:effectLst>
                <a:latin typeface="Arial" panose="020B0604020202020204" pitchFamily="34" charset="0"/>
              </a:rPr>
              <a:t>, there has also been </a:t>
            </a:r>
            <a:r>
              <a:rPr lang="en-GB" altLang="en-US" sz="1700" spc="300" dirty="0">
                <a:effectLst>
                  <a:outerShdw blurRad="38100" dist="38100" dir="2700000" algn="tl">
                    <a:srgbClr val="000000"/>
                  </a:outerShdw>
                </a:effectLst>
                <a:latin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rPr>
              <a:t>20 km of uplift</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Seismic data indicate that the fault is </a:t>
            </a:r>
            <a:r>
              <a:rPr lang="en-GB" altLang="en-US" sz="1700" dirty="0">
                <a:solidFill>
                  <a:srgbClr val="FF66FF"/>
                </a:solidFill>
                <a:effectLst>
                  <a:outerShdw blurRad="38100" dist="38100" dir="2700000" algn="tl">
                    <a:srgbClr val="000000"/>
                  </a:outerShdw>
                </a:effectLst>
                <a:latin typeface="Arial" panose="020B0604020202020204" pitchFamily="34" charset="0"/>
              </a:rPr>
              <a:t>not vertical</a:t>
            </a:r>
            <a:r>
              <a:rPr lang="en-GB" altLang="en-US" sz="1700" dirty="0">
                <a:effectLst>
                  <a:outerShdw blurRad="38100" dist="38100" dir="2700000" algn="tl">
                    <a:srgbClr val="000000"/>
                  </a:outerShdw>
                </a:effectLst>
                <a:latin typeface="Arial" panose="020B0604020202020204" pitchFamily="34" charset="0"/>
              </a:rPr>
              <a:t> but </a:t>
            </a:r>
            <a:r>
              <a:rPr lang="en-GB" altLang="en-US" sz="1700" dirty="0" err="1">
                <a:effectLst>
                  <a:outerShdw blurRad="38100" dist="38100" dir="2700000" algn="tl">
                    <a:srgbClr val="000000"/>
                  </a:outerShdw>
                </a:effectLst>
                <a:latin typeface="Arial" panose="020B0604020202020204" pitchFamily="34" charset="0"/>
              </a:rPr>
              <a:t>listric</a:t>
            </a:r>
            <a:r>
              <a:rPr lang="en-GB" altLang="en-US" sz="1700" dirty="0">
                <a:effectLst>
                  <a:outerShdw blurRad="38100" dist="38100" dir="2700000" algn="tl">
                    <a:srgbClr val="000000"/>
                  </a:outerShdw>
                </a:effectLst>
                <a:latin typeface="Arial" panose="020B0604020202020204" pitchFamily="34" charset="0"/>
              </a:rPr>
              <a:t>, and that it extends to a depth of at least 30 km</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Note that by definition (as plate boundaries), transform faults must </a:t>
            </a:r>
            <a:r>
              <a:rPr lang="en-GB" altLang="en-US" sz="1700" dirty="0">
                <a:solidFill>
                  <a:srgbClr val="FF6600"/>
                </a:solidFill>
                <a:effectLst>
                  <a:outerShdw blurRad="38100" dist="38100" dir="2700000" algn="tl">
                    <a:srgbClr val="000000"/>
                  </a:outerShdw>
                </a:effectLst>
                <a:latin typeface="Arial" panose="020B0604020202020204" pitchFamily="34" charset="0"/>
              </a:rPr>
              <a:t>cut right through the lithosphere</a:t>
            </a:r>
          </a:p>
        </p:txBody>
      </p:sp>
      <p:pic>
        <p:nvPicPr>
          <p:cNvPr id="264242" name="Picture 50" descr="04b3">
            <a:extLst>
              <a:ext uri="{FF2B5EF4-FFF2-40B4-BE49-F238E27FC236}">
                <a16:creationId xmlns:a16="http://schemas.microsoft.com/office/drawing/2014/main" id="{0F20285F-D037-4E99-ABE2-5007632EE832}"/>
              </a:ext>
            </a:extLst>
          </p:cNvPr>
          <p:cNvPicPr>
            <a:picLocks noGrp="1" noChangeAspect="1" noChangeArrowheads="1"/>
          </p:cNvPicPr>
          <p:nvPr>
            <p:ph sz="half" idx="2"/>
          </p:nvPr>
        </p:nvPicPr>
        <p:blipFill>
          <a:blip r:embed="rId4">
            <a:lum bright="-4000" contrast="10000"/>
            <a:extLst>
              <a:ext uri="{28A0092B-C50C-407E-A947-70E740481C1C}">
                <a14:useLocalDpi xmlns:a14="http://schemas.microsoft.com/office/drawing/2010/main" val="0"/>
              </a:ext>
            </a:extLst>
          </a:blip>
          <a:srcRect/>
          <a:stretch>
            <a:fillRect/>
          </a:stretch>
        </p:blipFill>
        <p:spPr>
          <a:xfrm>
            <a:off x="1387475" y="4129088"/>
            <a:ext cx="6543675" cy="24860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a:extLst>
              <a:ext uri="{FF2B5EF4-FFF2-40B4-BE49-F238E27FC236}">
                <a16:creationId xmlns:a16="http://schemas.microsoft.com/office/drawing/2014/main" id="{32D8879E-29D4-4F5F-94BB-19EFEEFEB1EE}"/>
              </a:ext>
            </a:extLst>
          </p:cNvPr>
          <p:cNvSpPr>
            <a:spLocks noGrp="1" noChangeArrowheads="1"/>
          </p:cNvSpPr>
          <p:nvPr>
            <p:ph type="title"/>
          </p:nvPr>
        </p:nvSpPr>
        <p:spPr>
          <a:noFill/>
        </p:spPr>
        <p:txBody>
          <a:bodyPr/>
          <a:lstStyle/>
          <a:p>
            <a:r>
              <a:rPr lang="en-GB" altLang="en-US">
                <a:effectLst/>
              </a:rPr>
              <a:t>Transcurrent faults</a:t>
            </a:r>
          </a:p>
        </p:txBody>
      </p:sp>
      <p:sp>
        <p:nvSpPr>
          <p:cNvPr id="218115" name="Rectangle 3">
            <a:extLst>
              <a:ext uri="{FF2B5EF4-FFF2-40B4-BE49-F238E27FC236}">
                <a16:creationId xmlns:a16="http://schemas.microsoft.com/office/drawing/2014/main" id="{2BCCBB99-2F4D-429D-95A7-8D39E047A550}"/>
              </a:ext>
            </a:extLst>
          </p:cNvPr>
          <p:cNvSpPr>
            <a:spLocks noGrp="1" noChangeArrowheads="1"/>
          </p:cNvSpPr>
          <p:nvPr>
            <p:ph type="body" sz="half" idx="1"/>
          </p:nvPr>
        </p:nvSpPr>
        <p:spPr>
          <a:xfrm>
            <a:off x="131763" y="774700"/>
            <a:ext cx="5153025" cy="4017963"/>
          </a:xfrm>
          <a:noFill/>
        </p:spPr>
        <p:txBody>
          <a:bodyPr/>
          <a:lstStyle/>
          <a:p>
            <a:pPr marL="177800" indent="-177800">
              <a:spcBef>
                <a:spcPct val="75000"/>
              </a:spcBef>
            </a:pPr>
            <a:r>
              <a:rPr lang="en-GB" altLang="en-US" sz="1700" dirty="0">
                <a:solidFill>
                  <a:srgbClr val="FF6600"/>
                </a:solidFill>
                <a:effectLst/>
              </a:rPr>
              <a:t>Transcurrent faults</a:t>
            </a:r>
            <a:r>
              <a:rPr lang="en-GB" altLang="en-US" sz="1700" dirty="0">
                <a:effectLst/>
              </a:rPr>
              <a:t> are not transfer faults but rather they have </a:t>
            </a:r>
            <a:r>
              <a:rPr lang="en-GB" altLang="en-US" sz="1700" dirty="0">
                <a:solidFill>
                  <a:srgbClr val="FF66FF"/>
                </a:solidFill>
                <a:effectLst/>
              </a:rPr>
              <a:t>free tips</a:t>
            </a:r>
            <a:r>
              <a:rPr lang="en-GB" altLang="en-US" sz="1700" dirty="0">
                <a:effectLst/>
              </a:rPr>
              <a:t> and so increase in length as the displacement accumulates</a:t>
            </a:r>
          </a:p>
          <a:p>
            <a:pPr marL="177800" indent="-177800">
              <a:spcBef>
                <a:spcPct val="75000"/>
              </a:spcBef>
            </a:pPr>
            <a:r>
              <a:rPr lang="en-GB" altLang="en-US" sz="1700" dirty="0">
                <a:effectLst/>
              </a:rPr>
              <a:t>Such </a:t>
            </a:r>
            <a:r>
              <a:rPr lang="en-GB" altLang="en-US" sz="1700" dirty="0">
                <a:solidFill>
                  <a:srgbClr val="FF66FF"/>
                </a:solidFill>
                <a:effectLst/>
              </a:rPr>
              <a:t>intraplate faults</a:t>
            </a:r>
            <a:r>
              <a:rPr lang="en-GB" altLang="en-US" sz="1700" dirty="0">
                <a:effectLst/>
              </a:rPr>
              <a:t> can be 1000s km long and can accommodate 100s km displacement</a:t>
            </a:r>
          </a:p>
          <a:p>
            <a:pPr marL="177800" indent="-177800">
              <a:spcBef>
                <a:spcPct val="75000"/>
              </a:spcBef>
            </a:pPr>
            <a:r>
              <a:rPr lang="en-GB" altLang="en-US" sz="1700" dirty="0">
                <a:effectLst/>
              </a:rPr>
              <a:t>Prime examples come from </a:t>
            </a:r>
            <a:r>
              <a:rPr lang="en-GB" altLang="en-US" sz="1700" dirty="0">
                <a:solidFill>
                  <a:srgbClr val="FF6600"/>
                </a:solidFill>
                <a:effectLst/>
              </a:rPr>
              <a:t>Eas</a:t>
            </a:r>
            <a:r>
              <a:rPr lang="en-GB" altLang="en-US" sz="1700" spc="300" dirty="0">
                <a:solidFill>
                  <a:srgbClr val="FF6600"/>
                </a:solidFill>
                <a:effectLst/>
              </a:rPr>
              <a:t>t-</a:t>
            </a:r>
            <a:r>
              <a:rPr lang="en-GB" altLang="en-US" sz="1700" dirty="0">
                <a:solidFill>
                  <a:srgbClr val="FF6600"/>
                </a:solidFill>
                <a:effectLst/>
              </a:rPr>
              <a:t>Central Asia</a:t>
            </a:r>
            <a:r>
              <a:rPr lang="en-GB" altLang="en-US" sz="1700" dirty="0">
                <a:effectLst/>
              </a:rPr>
              <a:t> where there is a complex array of </a:t>
            </a:r>
            <a:r>
              <a:rPr lang="en-GB" altLang="en-US" sz="1700" dirty="0">
                <a:solidFill>
                  <a:srgbClr val="FF66FF"/>
                </a:solidFill>
                <a:effectLst/>
              </a:rPr>
              <a:t>conjugate transcurrent faults</a:t>
            </a:r>
            <a:r>
              <a:rPr lang="en-GB" altLang="en-US" sz="1700" dirty="0">
                <a:effectLst/>
              </a:rPr>
              <a:t> – dominantly sinistral in eastern Tibet, and dominantly dextral in an area extending from Lake Baikal to Afghanistan and Pakistan in the west</a:t>
            </a:r>
          </a:p>
        </p:txBody>
      </p:sp>
      <p:pic>
        <p:nvPicPr>
          <p:cNvPr id="218120" name="Picture 8">
            <a:extLst>
              <a:ext uri="{FF2B5EF4-FFF2-40B4-BE49-F238E27FC236}">
                <a16:creationId xmlns:a16="http://schemas.microsoft.com/office/drawing/2014/main" id="{1A3DE970-A0B7-43CD-ADB2-5ED6F12DB5CC}"/>
              </a:ext>
            </a:extLst>
          </p:cNvPr>
          <p:cNvPicPr>
            <a:picLocks noGrp="1" noChangeAspect="1" noChangeArrowheads="1"/>
          </p:cNvPicPr>
          <p:nvPr>
            <p:ph sz="quarter" idx="3"/>
          </p:nvPr>
        </p:nvPicPr>
        <p:blipFill>
          <a:blip r:embed="rId3">
            <a:lum bright="-6000" contrast="20000"/>
            <a:extLst>
              <a:ext uri="{28A0092B-C50C-407E-A947-70E740481C1C}">
                <a14:useLocalDpi xmlns:a14="http://schemas.microsoft.com/office/drawing/2010/main" val="0"/>
              </a:ext>
            </a:extLst>
          </a:blip>
          <a:srcRect/>
          <a:stretch>
            <a:fillRect/>
          </a:stretch>
        </p:blipFill>
        <p:spPr>
          <a:xfrm>
            <a:off x="5564188" y="869950"/>
            <a:ext cx="3400425" cy="4289425"/>
          </a:xfrm>
          <a:noFill/>
          <a:ln w="38100" cap="flat">
            <a:solidFill>
              <a:schemeClr val="bg2"/>
            </a:solidFill>
            <a:miter lim="800000"/>
            <a:headEnd/>
            <a:tailEnd/>
          </a:ln>
        </p:spPr>
      </p:pic>
      <p:grpSp>
        <p:nvGrpSpPr>
          <p:cNvPr id="218124" name="Group 12">
            <a:extLst>
              <a:ext uri="{FF2B5EF4-FFF2-40B4-BE49-F238E27FC236}">
                <a16:creationId xmlns:a16="http://schemas.microsoft.com/office/drawing/2014/main" id="{C9D7A5FA-A260-4D11-9224-21F82AFAF5D6}"/>
              </a:ext>
            </a:extLst>
          </p:cNvPr>
          <p:cNvGrpSpPr>
            <a:grpSpLocks/>
          </p:cNvGrpSpPr>
          <p:nvPr/>
        </p:nvGrpSpPr>
        <p:grpSpPr bwMode="auto">
          <a:xfrm>
            <a:off x="4765675" y="4843463"/>
            <a:ext cx="2293938" cy="1730375"/>
            <a:chOff x="497" y="2391"/>
            <a:chExt cx="1120" cy="845"/>
          </a:xfrm>
        </p:grpSpPr>
        <p:sp>
          <p:nvSpPr>
            <p:cNvPr id="218118" name="Rectangle 6">
              <a:extLst>
                <a:ext uri="{FF2B5EF4-FFF2-40B4-BE49-F238E27FC236}">
                  <a16:creationId xmlns:a16="http://schemas.microsoft.com/office/drawing/2014/main" id="{BD03E07D-7437-4BB1-849C-76D97BA3A10C}"/>
                </a:ext>
              </a:extLst>
            </p:cNvPr>
            <p:cNvSpPr>
              <a:spLocks noChangeArrowheads="1"/>
            </p:cNvSpPr>
            <p:nvPr/>
          </p:nvSpPr>
          <p:spPr bwMode="auto">
            <a:xfrm>
              <a:off x="497" y="2391"/>
              <a:ext cx="1120" cy="84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18116" name="Picture 2" descr="GR12.jpg">
              <a:extLst>
                <a:ext uri="{FF2B5EF4-FFF2-40B4-BE49-F238E27FC236}">
                  <a16:creationId xmlns:a16="http://schemas.microsoft.com/office/drawing/2014/main" id="{36538473-9793-4AF0-9FD4-8A49B2F40BF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7" y="2425"/>
              <a:ext cx="1053" cy="7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8123" name="Rectangle 11">
              <a:extLst>
                <a:ext uri="{FF2B5EF4-FFF2-40B4-BE49-F238E27FC236}">
                  <a16:creationId xmlns:a16="http://schemas.microsoft.com/office/drawing/2014/main" id="{B8CA6B52-757F-406C-AC94-97C68BCDC5BE}"/>
                </a:ext>
              </a:extLst>
            </p:cNvPr>
            <p:cNvSpPr>
              <a:spLocks noChangeArrowheads="1"/>
            </p:cNvSpPr>
            <p:nvPr/>
          </p:nvSpPr>
          <p:spPr bwMode="auto">
            <a:xfrm>
              <a:off x="536" y="2408"/>
              <a:ext cx="56" cy="2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18125" name="Text Box 13">
            <a:extLst>
              <a:ext uri="{FF2B5EF4-FFF2-40B4-BE49-F238E27FC236}">
                <a16:creationId xmlns:a16="http://schemas.microsoft.com/office/drawing/2014/main" id="{7C75A672-1361-498A-8F1D-DD24F74EE5F4}"/>
              </a:ext>
            </a:extLst>
          </p:cNvPr>
          <p:cNvSpPr txBox="1">
            <a:spLocks noChangeArrowheads="1"/>
          </p:cNvSpPr>
          <p:nvPr/>
        </p:nvSpPr>
        <p:spPr bwMode="auto">
          <a:xfrm>
            <a:off x="128588" y="4783138"/>
            <a:ext cx="43243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This array has been attributed to the </a:t>
            </a:r>
            <a:r>
              <a:rPr lang="en-GB" altLang="en-US" sz="1700" dirty="0">
                <a:solidFill>
                  <a:srgbClr val="FF66FF"/>
                </a:solidFill>
                <a:effectLst/>
                <a:latin typeface="Arial" panose="020B0604020202020204" pitchFamily="34" charset="0"/>
              </a:rPr>
              <a:t>indentation and sideways extrusion of Asia</a:t>
            </a:r>
            <a:r>
              <a:rPr lang="en-GB" altLang="en-US" sz="1700" dirty="0">
                <a:effectLst/>
                <a:latin typeface="Arial" panose="020B0604020202020204" pitchFamily="34" charset="0"/>
              </a:rPr>
              <a:t> in response to the collision of India with Eurasia that has been ongoing throughout the Cenozoic</a:t>
            </a:r>
            <a:endParaRPr lang="en-GB" altLang="en-US" sz="1700" dirty="0">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7" name="Rectangle 11">
            <a:extLst>
              <a:ext uri="{FF2B5EF4-FFF2-40B4-BE49-F238E27FC236}">
                <a16:creationId xmlns:a16="http://schemas.microsoft.com/office/drawing/2014/main" id="{89B5F1E0-C162-4D61-B314-537FEBCC083E}"/>
              </a:ext>
            </a:extLst>
          </p:cNvPr>
          <p:cNvSpPr>
            <a:spLocks noChangeArrowheads="1"/>
          </p:cNvSpPr>
          <p:nvPr/>
        </p:nvSpPr>
        <p:spPr bwMode="auto">
          <a:xfrm>
            <a:off x="5580063" y="895350"/>
            <a:ext cx="3384550" cy="568483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0338" name="Rectangle 2">
            <a:extLst>
              <a:ext uri="{FF2B5EF4-FFF2-40B4-BE49-F238E27FC236}">
                <a16:creationId xmlns:a16="http://schemas.microsoft.com/office/drawing/2014/main" id="{56256A5A-D63A-4686-BD85-8493D2658CA0}"/>
              </a:ext>
            </a:extLst>
          </p:cNvPr>
          <p:cNvSpPr>
            <a:spLocks noGrp="1" noChangeArrowheads="1"/>
          </p:cNvSpPr>
          <p:nvPr>
            <p:ph type="title"/>
          </p:nvPr>
        </p:nvSpPr>
        <p:spPr>
          <a:noFill/>
        </p:spPr>
        <p:txBody>
          <a:bodyPr/>
          <a:lstStyle/>
          <a:p>
            <a:r>
              <a:rPr lang="en-GB" altLang="en-US">
                <a:effectLst/>
              </a:rPr>
              <a:t>Transcurrent faults  2</a:t>
            </a:r>
          </a:p>
        </p:txBody>
      </p:sp>
      <p:sp>
        <p:nvSpPr>
          <p:cNvPr id="270339" name="Rectangle 3">
            <a:extLst>
              <a:ext uri="{FF2B5EF4-FFF2-40B4-BE49-F238E27FC236}">
                <a16:creationId xmlns:a16="http://schemas.microsoft.com/office/drawing/2014/main" id="{6C7FD655-4B53-4D1E-90AC-5F0A8D48188C}"/>
              </a:ext>
            </a:extLst>
          </p:cNvPr>
          <p:cNvSpPr>
            <a:spLocks noGrp="1" noChangeArrowheads="1"/>
          </p:cNvSpPr>
          <p:nvPr>
            <p:ph type="body" sz="half" idx="1"/>
          </p:nvPr>
        </p:nvSpPr>
        <p:spPr>
          <a:xfrm>
            <a:off x="142875" y="776288"/>
            <a:ext cx="5364163" cy="1349395"/>
          </a:xfrm>
          <a:noFill/>
        </p:spPr>
        <p:txBody>
          <a:bodyPr/>
          <a:lstStyle/>
          <a:p>
            <a:pPr marL="177800" indent="-177800">
              <a:spcBef>
                <a:spcPct val="75000"/>
              </a:spcBef>
            </a:pPr>
            <a:r>
              <a:rPr lang="en-GB" altLang="en-US" sz="1700" dirty="0">
                <a:effectLst/>
              </a:rPr>
              <a:t>Another example is the </a:t>
            </a:r>
            <a:r>
              <a:rPr lang="en-GB" altLang="en-US" sz="1700" dirty="0">
                <a:solidFill>
                  <a:srgbClr val="FF6600"/>
                </a:solidFill>
                <a:effectLst/>
              </a:rPr>
              <a:t>Great Glen Fault</a:t>
            </a:r>
            <a:r>
              <a:rPr lang="en-GB" altLang="en-US" sz="1700" dirty="0">
                <a:effectLst/>
              </a:rPr>
              <a:t> – one of several major strike-slip faults within the Caledonian orogenic belt that were active during the oblique convergence of </a:t>
            </a:r>
            <a:r>
              <a:rPr lang="en-GB" altLang="en-US" sz="1700" dirty="0" err="1">
                <a:effectLst/>
              </a:rPr>
              <a:t>Baltica</a:t>
            </a:r>
            <a:r>
              <a:rPr lang="en-GB" altLang="en-US" sz="1700" dirty="0">
                <a:effectLst/>
              </a:rPr>
              <a:t> and Laurentia (428</a:t>
            </a:r>
            <a:r>
              <a:rPr lang="en-GB" altLang="en-US" sz="800" dirty="0">
                <a:effectLst/>
              </a:rPr>
              <a:t> </a:t>
            </a:r>
            <a:r>
              <a:rPr lang="en-GB" altLang="en-US" sz="1700" dirty="0">
                <a:effectLst/>
              </a:rPr>
              <a:t>-</a:t>
            </a:r>
            <a:r>
              <a:rPr lang="en-GB" altLang="en-US" sz="800" dirty="0">
                <a:effectLst/>
              </a:rPr>
              <a:t> </a:t>
            </a:r>
            <a:r>
              <a:rPr lang="en-GB" altLang="en-US" sz="1700" dirty="0">
                <a:effectLst/>
              </a:rPr>
              <a:t>410 Ma)</a:t>
            </a:r>
          </a:p>
        </p:txBody>
      </p:sp>
      <p:pic>
        <p:nvPicPr>
          <p:cNvPr id="270345" name="Picture 3" descr="Box02.jpg">
            <a:extLst>
              <a:ext uri="{FF2B5EF4-FFF2-40B4-BE49-F238E27FC236}">
                <a16:creationId xmlns:a16="http://schemas.microsoft.com/office/drawing/2014/main" id="{0008ADEA-88B5-4710-9B69-C2818DE26B8C}"/>
              </a:ext>
            </a:extLst>
          </p:cNvPr>
          <p:cNvPicPr>
            <a:picLocks noGrp="1" noChangeAspect="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680075" y="1051563"/>
            <a:ext cx="3211513" cy="5511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18" descr="15c">
            <a:extLst>
              <a:ext uri="{FF2B5EF4-FFF2-40B4-BE49-F238E27FC236}">
                <a16:creationId xmlns:a16="http://schemas.microsoft.com/office/drawing/2014/main" id="{641C5156-10A4-46E3-81DC-B5C71A24FD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105" y="2264329"/>
            <a:ext cx="3721769" cy="4379349"/>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5" name="Rectangle 3">
            <a:extLst>
              <a:ext uri="{FF2B5EF4-FFF2-40B4-BE49-F238E27FC236}">
                <a16:creationId xmlns:a16="http://schemas.microsoft.com/office/drawing/2014/main" id="{C217C19A-D958-4775-978E-9E549FCFAB8E}"/>
              </a:ext>
            </a:extLst>
          </p:cNvPr>
          <p:cNvSpPr>
            <a:spLocks noGrp="1" noChangeArrowheads="1"/>
          </p:cNvSpPr>
          <p:nvPr>
            <p:ph type="title"/>
          </p:nvPr>
        </p:nvSpPr>
        <p:spPr>
          <a:noFill/>
        </p:spPr>
        <p:txBody>
          <a:bodyPr/>
          <a:lstStyle/>
          <a:p>
            <a:r>
              <a:rPr lang="en-GB" altLang="en-US">
                <a:effectLst/>
              </a:rPr>
              <a:t>Transcurrent faults  3</a:t>
            </a:r>
          </a:p>
        </p:txBody>
      </p:sp>
      <p:sp>
        <p:nvSpPr>
          <p:cNvPr id="274436" name="Rectangle 4">
            <a:extLst>
              <a:ext uri="{FF2B5EF4-FFF2-40B4-BE49-F238E27FC236}">
                <a16:creationId xmlns:a16="http://schemas.microsoft.com/office/drawing/2014/main" id="{775E57C4-35AD-44D3-938F-A151BFAE7B8A}"/>
              </a:ext>
            </a:extLst>
          </p:cNvPr>
          <p:cNvSpPr>
            <a:spLocks noGrp="1" noChangeArrowheads="1"/>
          </p:cNvSpPr>
          <p:nvPr>
            <p:ph type="body" sz="half" idx="1"/>
          </p:nvPr>
        </p:nvSpPr>
        <p:spPr>
          <a:xfrm>
            <a:off x="5824538" y="811213"/>
            <a:ext cx="3130550" cy="1663700"/>
          </a:xfrm>
          <a:noFill/>
        </p:spPr>
        <p:txBody>
          <a:bodyPr/>
          <a:lstStyle/>
          <a:p>
            <a:pPr marL="177800" indent="-177800">
              <a:spcBef>
                <a:spcPct val="75000"/>
              </a:spcBef>
            </a:pPr>
            <a:r>
              <a:rPr lang="en-GB" altLang="en-US" sz="1700" dirty="0">
                <a:effectLst/>
              </a:rPr>
              <a:t>There is some ambiguity about what happens to transcurrent faults </a:t>
            </a:r>
            <a:r>
              <a:rPr lang="en-GB" altLang="en-US" sz="1700" dirty="0">
                <a:solidFill>
                  <a:srgbClr val="FF66FF"/>
                </a:solidFill>
                <a:effectLst/>
              </a:rPr>
              <a:t>at depth</a:t>
            </a:r>
            <a:r>
              <a:rPr lang="en-GB" altLang="en-US" sz="1700" dirty="0">
                <a:effectLst/>
              </a:rPr>
              <a:t>. However, it is likely that any that are </a:t>
            </a:r>
          </a:p>
        </p:txBody>
      </p:sp>
      <p:sp>
        <p:nvSpPr>
          <p:cNvPr id="274446" name="Text Box 14">
            <a:extLst>
              <a:ext uri="{FF2B5EF4-FFF2-40B4-BE49-F238E27FC236}">
                <a16:creationId xmlns:a16="http://schemas.microsoft.com/office/drawing/2014/main" id="{6FF3C355-C762-4CEF-96EF-45E413DA7DB7}"/>
              </a:ext>
            </a:extLst>
          </p:cNvPr>
          <p:cNvSpPr txBox="1">
            <a:spLocks noChangeArrowheads="1"/>
          </p:cNvSpPr>
          <p:nvPr/>
        </p:nvSpPr>
        <p:spPr bwMode="auto">
          <a:xfrm>
            <a:off x="122238" y="5240338"/>
            <a:ext cx="8909050"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FF"/>
                </a:solidFill>
                <a:effectLst/>
                <a:latin typeface="Arial" panose="020B0604020202020204" pitchFamily="34" charset="0"/>
              </a:rPr>
              <a:t>Post-orogenic lamprophyre dykes</a:t>
            </a:r>
            <a:r>
              <a:rPr lang="en-GB" altLang="en-US" sz="1700" dirty="0">
                <a:effectLst/>
                <a:latin typeface="Arial" panose="020B0604020202020204" pitchFamily="34" charset="0"/>
              </a:rPr>
              <a:t> a few km NW of the Great Glen Fault were derived from different source rocks compared with those intruded a few km SE of the fault. Since the lamprophyre magmas were generated at depths of over 100 km, this implies that the Great Glen Fault is vertical and </a:t>
            </a:r>
            <a:r>
              <a:rPr lang="en-GB" altLang="en-US" sz="1700" dirty="0">
                <a:solidFill>
                  <a:srgbClr val="FF66FF"/>
                </a:solidFill>
                <a:effectLst/>
                <a:latin typeface="Arial" panose="020B0604020202020204" pitchFamily="34" charset="0"/>
              </a:rPr>
              <a:t>extends to at least these depths</a:t>
            </a:r>
            <a:endParaRPr lang="en-GB" altLang="en-US" sz="1700" dirty="0">
              <a:solidFill>
                <a:srgbClr val="FF66FF"/>
              </a:solidFill>
              <a:effectLst>
                <a:outerShdw blurRad="38100" dist="38100" dir="2700000" algn="tl">
                  <a:srgbClr val="000000"/>
                </a:outerShdw>
              </a:effectLst>
              <a:latin typeface="Arial" panose="020B0604020202020204" pitchFamily="34" charset="0"/>
            </a:endParaRPr>
          </a:p>
        </p:txBody>
      </p:sp>
      <p:grpSp>
        <p:nvGrpSpPr>
          <p:cNvPr id="274448" name="Group 16">
            <a:extLst>
              <a:ext uri="{FF2B5EF4-FFF2-40B4-BE49-F238E27FC236}">
                <a16:creationId xmlns:a16="http://schemas.microsoft.com/office/drawing/2014/main" id="{439DC3BB-78A7-4E55-9DFA-747559B79AC6}"/>
              </a:ext>
            </a:extLst>
          </p:cNvPr>
          <p:cNvGrpSpPr>
            <a:grpSpLocks/>
          </p:cNvGrpSpPr>
          <p:nvPr/>
        </p:nvGrpSpPr>
        <p:grpSpPr bwMode="auto">
          <a:xfrm>
            <a:off x="269875" y="922338"/>
            <a:ext cx="5381625" cy="4097337"/>
            <a:chOff x="170" y="581"/>
            <a:chExt cx="3390" cy="2581"/>
          </a:xfrm>
        </p:grpSpPr>
        <p:pic>
          <p:nvPicPr>
            <p:cNvPr id="274444" name="Picture 12">
              <a:extLst>
                <a:ext uri="{FF2B5EF4-FFF2-40B4-BE49-F238E27FC236}">
                  <a16:creationId xmlns:a16="http://schemas.microsoft.com/office/drawing/2014/main" id="{CDB0B7E9-B41C-43DB-90B7-30E8FC1FE340}"/>
                </a:ext>
              </a:extLst>
            </p:cNvPr>
            <p:cNvPicPr>
              <a:picLocks noChangeAspect="1" noChangeArrowheads="1"/>
            </p:cNvPicPr>
            <p:nvPr/>
          </p:nvPicPr>
          <p:blipFill>
            <a:blip r:embed="rId3">
              <a:lum bright="-10000" contrast="20000"/>
              <a:extLst>
                <a:ext uri="{28A0092B-C50C-407E-A947-70E740481C1C}">
                  <a14:useLocalDpi xmlns:a14="http://schemas.microsoft.com/office/drawing/2010/main" val="0"/>
                </a:ext>
              </a:extLst>
            </a:blip>
            <a:srcRect/>
            <a:stretch>
              <a:fillRect/>
            </a:stretch>
          </p:blipFill>
          <p:spPr bwMode="auto">
            <a:xfrm>
              <a:off x="170" y="581"/>
              <a:ext cx="3390" cy="2581"/>
            </a:xfrm>
            <a:prstGeom prst="rect">
              <a:avLst/>
            </a:prstGeom>
            <a:noFill/>
            <a:ln w="38100" cap="flat" cmpd="sng">
              <a:solidFill>
                <a:schemeClr val="bg2"/>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4447" name="Rectangle 15">
              <a:extLst>
                <a:ext uri="{FF2B5EF4-FFF2-40B4-BE49-F238E27FC236}">
                  <a16:creationId xmlns:a16="http://schemas.microsoft.com/office/drawing/2014/main" id="{8A2B4B27-DB67-4134-99B5-3412BA8C4DB3}"/>
                </a:ext>
              </a:extLst>
            </p:cNvPr>
            <p:cNvSpPr>
              <a:spLocks noChangeArrowheads="1"/>
            </p:cNvSpPr>
            <p:nvPr/>
          </p:nvSpPr>
          <p:spPr bwMode="auto">
            <a:xfrm>
              <a:off x="3278" y="624"/>
              <a:ext cx="214" cy="18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74449" name="Rectangle 17">
            <a:extLst>
              <a:ext uri="{FF2B5EF4-FFF2-40B4-BE49-F238E27FC236}">
                <a16:creationId xmlns:a16="http://schemas.microsoft.com/office/drawing/2014/main" id="{D279FD1A-D3B4-4F90-8209-C3DD3187B7C0}"/>
              </a:ext>
            </a:extLst>
          </p:cNvPr>
          <p:cNvSpPr>
            <a:spLocks noChangeArrowheads="1"/>
          </p:cNvSpPr>
          <p:nvPr/>
        </p:nvSpPr>
        <p:spPr bwMode="auto">
          <a:xfrm>
            <a:off x="5992813" y="2492375"/>
            <a:ext cx="2874962"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5113" indent="-265113">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14375" indent="-269875">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buFont typeface="Wingdings" panose="05000000000000000000" pitchFamily="2" charset="2"/>
              <a:buChar char="Ø"/>
            </a:pPr>
            <a:r>
              <a:rPr lang="en-GB" altLang="en-US" sz="1500">
                <a:effectLst/>
              </a:rPr>
              <a:t>subvertical</a:t>
            </a:r>
          </a:p>
          <a:p>
            <a:pPr>
              <a:spcBef>
                <a:spcPct val="25000"/>
              </a:spcBef>
              <a:buFont typeface="Wingdings" panose="05000000000000000000" pitchFamily="2" charset="2"/>
              <a:buChar char="Ø"/>
            </a:pPr>
            <a:r>
              <a:rPr lang="en-GB" altLang="en-US" sz="1500">
                <a:effectLst/>
              </a:rPr>
              <a:t>over 300 km long, and</a:t>
            </a:r>
          </a:p>
          <a:p>
            <a:pPr>
              <a:spcBef>
                <a:spcPct val="25000"/>
              </a:spcBef>
              <a:buFont typeface="Wingdings" panose="05000000000000000000" pitchFamily="2" charset="2"/>
              <a:buChar char="Ø"/>
            </a:pPr>
            <a:r>
              <a:rPr lang="en-GB" altLang="en-US" sz="1500">
                <a:effectLst/>
              </a:rPr>
              <a:t>have an offset of over 30 km</a:t>
            </a:r>
            <a:endParaRPr lang="en-GB" altLang="en-US" sz="1700">
              <a:solidFill>
                <a:srgbClr val="FF66FF"/>
              </a:solidFill>
              <a:effectLst/>
            </a:endParaRPr>
          </a:p>
        </p:txBody>
      </p:sp>
      <p:sp>
        <p:nvSpPr>
          <p:cNvPr id="274450" name="Rectangle 18">
            <a:extLst>
              <a:ext uri="{FF2B5EF4-FFF2-40B4-BE49-F238E27FC236}">
                <a16:creationId xmlns:a16="http://schemas.microsoft.com/office/drawing/2014/main" id="{9A145859-F257-45AA-BA06-AD47292CFA31}"/>
              </a:ext>
            </a:extLst>
          </p:cNvPr>
          <p:cNvSpPr>
            <a:spLocks noChangeArrowheads="1"/>
          </p:cNvSpPr>
          <p:nvPr/>
        </p:nvSpPr>
        <p:spPr bwMode="auto">
          <a:xfrm>
            <a:off x="5824538" y="3552825"/>
            <a:ext cx="3130550"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627063" indent="-269875">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50000"/>
              </a:spcBef>
              <a:buFont typeface="Times" panose="02020603050405020304" pitchFamily="18" charset="0"/>
              <a:buNone/>
            </a:pPr>
            <a:r>
              <a:rPr lang="en-GB" altLang="en-US" sz="1700">
                <a:solidFill>
                  <a:srgbClr val="FF66FF"/>
                </a:solidFill>
                <a:effectLst/>
              </a:rPr>
              <a:t>	cut right through the lithosphere</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0FD2A57B-1A47-4ECD-9501-23B11D9220DD}"/>
              </a:ext>
            </a:extLst>
          </p:cNvPr>
          <p:cNvSpPr>
            <a:spLocks noGrp="1" noChangeArrowheads="1"/>
          </p:cNvSpPr>
          <p:nvPr>
            <p:ph type="title"/>
          </p:nvPr>
        </p:nvSpPr>
        <p:spPr>
          <a:noFill/>
        </p:spPr>
        <p:txBody>
          <a:bodyPr/>
          <a:lstStyle/>
          <a:p>
            <a:r>
              <a:rPr lang="en-GB" altLang="en-US">
                <a:effectLst/>
              </a:rPr>
              <a:t>Strike-slip faults on other planetary bodies</a:t>
            </a:r>
          </a:p>
        </p:txBody>
      </p:sp>
      <p:sp>
        <p:nvSpPr>
          <p:cNvPr id="222211" name="Rectangle 3">
            <a:extLst>
              <a:ext uri="{FF2B5EF4-FFF2-40B4-BE49-F238E27FC236}">
                <a16:creationId xmlns:a16="http://schemas.microsoft.com/office/drawing/2014/main" id="{33EDD605-1E39-4408-9F4C-DD77F6E18C99}"/>
              </a:ext>
            </a:extLst>
          </p:cNvPr>
          <p:cNvSpPr>
            <a:spLocks noGrp="1" noChangeArrowheads="1"/>
          </p:cNvSpPr>
          <p:nvPr>
            <p:ph type="body" sz="half" idx="1"/>
          </p:nvPr>
        </p:nvSpPr>
        <p:spPr>
          <a:xfrm>
            <a:off x="117475" y="768350"/>
            <a:ext cx="8878888" cy="741363"/>
          </a:xfrm>
          <a:noFill/>
        </p:spPr>
        <p:txBody>
          <a:bodyPr/>
          <a:lstStyle/>
          <a:p>
            <a:pPr marL="177800" indent="-177800">
              <a:spcBef>
                <a:spcPct val="50000"/>
              </a:spcBef>
            </a:pPr>
            <a:r>
              <a:rPr lang="en-GB" altLang="en-US" sz="1700">
                <a:effectLst/>
              </a:rPr>
              <a:t>Strike-slip faults have been recognized on </a:t>
            </a:r>
            <a:r>
              <a:rPr lang="en-GB" altLang="en-US" sz="1700">
                <a:solidFill>
                  <a:srgbClr val="FF66FF"/>
                </a:solidFill>
                <a:effectLst/>
              </a:rPr>
              <a:t>Mercury</a:t>
            </a:r>
            <a:r>
              <a:rPr lang="en-GB" altLang="en-US" sz="1700">
                <a:effectLst/>
              </a:rPr>
              <a:t>, </a:t>
            </a:r>
            <a:r>
              <a:rPr lang="en-GB" altLang="en-US" sz="1700">
                <a:solidFill>
                  <a:srgbClr val="FF66FF"/>
                </a:solidFill>
                <a:effectLst/>
              </a:rPr>
              <a:t>Venus</a:t>
            </a:r>
            <a:r>
              <a:rPr lang="en-GB" altLang="en-US" sz="1700">
                <a:effectLst/>
              </a:rPr>
              <a:t>, and </a:t>
            </a:r>
            <a:r>
              <a:rPr lang="en-GB" altLang="en-US" sz="1700">
                <a:solidFill>
                  <a:srgbClr val="FF66FF"/>
                </a:solidFill>
                <a:effectLst/>
              </a:rPr>
              <a:t>Mars</a:t>
            </a:r>
            <a:r>
              <a:rPr lang="en-GB" altLang="en-US" sz="1700">
                <a:effectLst/>
              </a:rPr>
              <a:t>, and on several outer Solar System satellites, most notably on Jupiter’s moon, </a:t>
            </a:r>
            <a:r>
              <a:rPr lang="en-GB" altLang="en-US" sz="1700">
                <a:solidFill>
                  <a:srgbClr val="FF6600"/>
                </a:solidFill>
                <a:effectLst/>
              </a:rPr>
              <a:t>Europa</a:t>
            </a:r>
            <a:endParaRPr lang="en-GB" altLang="en-US" sz="1700">
              <a:effectLst/>
            </a:endParaRPr>
          </a:p>
        </p:txBody>
      </p:sp>
      <p:pic>
        <p:nvPicPr>
          <p:cNvPr id="222226" name="Picture 18" descr="EuropaInt">
            <a:extLst>
              <a:ext uri="{FF2B5EF4-FFF2-40B4-BE49-F238E27FC236}">
                <a16:creationId xmlns:a16="http://schemas.microsoft.com/office/drawing/2014/main" id="{969C4DB5-28D4-4604-B91C-B0BAF117F0E4}"/>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l="1698" t="3999" r="2739" b="5882"/>
          <a:stretch>
            <a:fillRect/>
          </a:stretch>
        </p:blipFill>
        <p:spPr>
          <a:xfrm>
            <a:off x="255588" y="1679575"/>
            <a:ext cx="3051175" cy="20097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2230" name="Picture 22" descr="06a2c">
            <a:extLst>
              <a:ext uri="{FF2B5EF4-FFF2-40B4-BE49-F238E27FC236}">
                <a16:creationId xmlns:a16="http://schemas.microsoft.com/office/drawing/2014/main" id="{02A6D650-58B1-4D64-82D5-5555E1F113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800" y="4032250"/>
            <a:ext cx="6072188" cy="23383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22231" name="Picture 23" descr="06b4">
            <a:extLst>
              <a:ext uri="{FF2B5EF4-FFF2-40B4-BE49-F238E27FC236}">
                <a16:creationId xmlns:a16="http://schemas.microsoft.com/office/drawing/2014/main" id="{5AE6C277-88E2-4C61-A7E3-2235C6FBA1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4625" y="4273550"/>
            <a:ext cx="2439988" cy="23590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22232" name="Picture 24" descr="06b2">
            <a:extLst>
              <a:ext uri="{FF2B5EF4-FFF2-40B4-BE49-F238E27FC236}">
                <a16:creationId xmlns:a16="http://schemas.microsoft.com/office/drawing/2014/main" id="{B21F7749-4CB6-4504-8E05-3169E4114B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32563" y="1608138"/>
            <a:ext cx="2425700" cy="23844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2233" name="Rectangle 25">
            <a:extLst>
              <a:ext uri="{FF2B5EF4-FFF2-40B4-BE49-F238E27FC236}">
                <a16:creationId xmlns:a16="http://schemas.microsoft.com/office/drawing/2014/main" id="{0AF89507-E21E-4209-9C19-26ADCC2C3D5A}"/>
              </a:ext>
            </a:extLst>
          </p:cNvPr>
          <p:cNvSpPr>
            <a:spLocks noChangeArrowheads="1"/>
          </p:cNvSpPr>
          <p:nvPr/>
        </p:nvSpPr>
        <p:spPr bwMode="auto">
          <a:xfrm>
            <a:off x="3597275" y="1587500"/>
            <a:ext cx="2705100"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50000"/>
              </a:spcBef>
              <a:buFont typeface="Times" panose="02020603050405020304" pitchFamily="18" charset="0"/>
              <a:buNone/>
            </a:pPr>
            <a:r>
              <a:rPr lang="en-GB" altLang="en-US" sz="1400" dirty="0">
                <a:solidFill>
                  <a:srgbClr val="FFFF00"/>
                </a:solidFill>
                <a:effectLst/>
              </a:rPr>
              <a:t>Europa’s thin ice crust is subjected to strong tidal forces arising from its orbital eccentricity and axis obliquity </a:t>
            </a:r>
            <a:r>
              <a:rPr lang="en-GB" altLang="en-US" sz="1400" dirty="0">
                <a:solidFill>
                  <a:srgbClr val="FFFF00"/>
                </a:solidFill>
                <a:effectLst/>
                <a:cs typeface="Arial" panose="020B0604020202020204" pitchFamily="34" charset="0"/>
              </a:rPr>
              <a:t>→</a:t>
            </a:r>
            <a:r>
              <a:rPr lang="en-GB" altLang="en-US" sz="1400" dirty="0">
                <a:solidFill>
                  <a:srgbClr val="FFFF00"/>
                </a:solidFill>
                <a:effectLst/>
              </a:rPr>
              <a:t> strike-slip shear zones include </a:t>
            </a:r>
            <a:r>
              <a:rPr lang="en-GB" altLang="en-US" sz="1400" dirty="0" err="1">
                <a:solidFill>
                  <a:srgbClr val="FFFF00"/>
                </a:solidFill>
                <a:effectLst/>
              </a:rPr>
              <a:t>Agenor</a:t>
            </a:r>
            <a:r>
              <a:rPr lang="en-GB" altLang="en-US" sz="1400" dirty="0">
                <a:solidFill>
                  <a:srgbClr val="FFFF00"/>
                </a:solidFill>
                <a:effectLst/>
              </a:rPr>
              <a:t> Linea, a dextral strike-slip shear zone that is  1500 km long, 2</a:t>
            </a:r>
            <a:r>
              <a:rPr lang="en-GB" altLang="en-US" sz="1400" spc="250" dirty="0">
                <a:solidFill>
                  <a:srgbClr val="FFFF00"/>
                </a:solidFill>
                <a:effectLst/>
              </a:rPr>
              <a:t>0-</a:t>
            </a:r>
            <a:r>
              <a:rPr lang="en-GB" altLang="en-US" sz="1400" dirty="0">
                <a:solidFill>
                  <a:srgbClr val="FFFF00"/>
                </a:solidFill>
                <a:effectLst/>
              </a:rPr>
              <a:t>30 km wide</a:t>
            </a:r>
          </a:p>
        </p:txBody>
      </p:sp>
      <p:sp>
        <p:nvSpPr>
          <p:cNvPr id="222234" name="Line 26">
            <a:extLst>
              <a:ext uri="{FF2B5EF4-FFF2-40B4-BE49-F238E27FC236}">
                <a16:creationId xmlns:a16="http://schemas.microsoft.com/office/drawing/2014/main" id="{851A744E-1674-429B-A02C-CD857271FAF1}"/>
              </a:ext>
            </a:extLst>
          </p:cNvPr>
          <p:cNvSpPr>
            <a:spLocks noChangeShapeType="1"/>
          </p:cNvSpPr>
          <p:nvPr/>
        </p:nvSpPr>
        <p:spPr bwMode="auto">
          <a:xfrm rot="10800000">
            <a:off x="1524000" y="6440488"/>
            <a:ext cx="0" cy="23971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35" name="Line 27">
            <a:extLst>
              <a:ext uri="{FF2B5EF4-FFF2-40B4-BE49-F238E27FC236}">
                <a16:creationId xmlns:a16="http://schemas.microsoft.com/office/drawing/2014/main" id="{304669B3-E7FC-4217-BCB0-04C27C78FAE9}"/>
              </a:ext>
            </a:extLst>
          </p:cNvPr>
          <p:cNvSpPr>
            <a:spLocks noChangeShapeType="1"/>
          </p:cNvSpPr>
          <p:nvPr/>
        </p:nvSpPr>
        <p:spPr bwMode="auto">
          <a:xfrm rot="10800000">
            <a:off x="3036888" y="6440488"/>
            <a:ext cx="0" cy="23971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36" name="Line 28">
            <a:extLst>
              <a:ext uri="{FF2B5EF4-FFF2-40B4-BE49-F238E27FC236}">
                <a16:creationId xmlns:a16="http://schemas.microsoft.com/office/drawing/2014/main" id="{E81C8075-5E87-4576-A65F-CED920158764}"/>
              </a:ext>
            </a:extLst>
          </p:cNvPr>
          <p:cNvSpPr>
            <a:spLocks noChangeShapeType="1"/>
          </p:cNvSpPr>
          <p:nvPr/>
        </p:nvSpPr>
        <p:spPr bwMode="auto">
          <a:xfrm rot="10800000">
            <a:off x="4787900" y="6440488"/>
            <a:ext cx="0" cy="23971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37" name="Line 29">
            <a:extLst>
              <a:ext uri="{FF2B5EF4-FFF2-40B4-BE49-F238E27FC236}">
                <a16:creationId xmlns:a16="http://schemas.microsoft.com/office/drawing/2014/main" id="{393A35AA-3DC6-4590-A98D-F324640468BA}"/>
              </a:ext>
            </a:extLst>
          </p:cNvPr>
          <p:cNvSpPr>
            <a:spLocks noChangeShapeType="1"/>
          </p:cNvSpPr>
          <p:nvPr/>
        </p:nvSpPr>
        <p:spPr bwMode="auto">
          <a:xfrm rot="10800000">
            <a:off x="5514975" y="6440488"/>
            <a:ext cx="0" cy="23971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38" name="Line 30">
            <a:extLst>
              <a:ext uri="{FF2B5EF4-FFF2-40B4-BE49-F238E27FC236}">
                <a16:creationId xmlns:a16="http://schemas.microsoft.com/office/drawing/2014/main" id="{116F6006-B20C-42D6-B40E-5DDBC780D79B}"/>
              </a:ext>
            </a:extLst>
          </p:cNvPr>
          <p:cNvSpPr>
            <a:spLocks noChangeShapeType="1"/>
          </p:cNvSpPr>
          <p:nvPr/>
        </p:nvSpPr>
        <p:spPr bwMode="auto">
          <a:xfrm>
            <a:off x="5424488" y="6248400"/>
            <a:ext cx="728662"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39" name="Text Box 31">
            <a:extLst>
              <a:ext uri="{FF2B5EF4-FFF2-40B4-BE49-F238E27FC236}">
                <a16:creationId xmlns:a16="http://schemas.microsoft.com/office/drawing/2014/main" id="{257884D3-E8A3-4476-B7A7-39E7F0ACBD6E}"/>
              </a:ext>
            </a:extLst>
          </p:cNvPr>
          <p:cNvSpPr txBox="1">
            <a:spLocks noChangeArrowheads="1"/>
          </p:cNvSpPr>
          <p:nvPr/>
        </p:nvSpPr>
        <p:spPr bwMode="auto">
          <a:xfrm>
            <a:off x="5541963" y="5978525"/>
            <a:ext cx="6111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a:solidFill>
                  <a:srgbClr val="FFFF00"/>
                </a:solidFill>
                <a:effectLst/>
              </a:rPr>
              <a:t>5 km</a:t>
            </a:r>
          </a:p>
        </p:txBody>
      </p:sp>
      <p:sp>
        <p:nvSpPr>
          <p:cNvPr id="222218" name="Freeform 10">
            <a:extLst>
              <a:ext uri="{FF2B5EF4-FFF2-40B4-BE49-F238E27FC236}">
                <a16:creationId xmlns:a16="http://schemas.microsoft.com/office/drawing/2014/main" id="{B8306F90-B611-4174-AD53-B0980DE22C0A}"/>
              </a:ext>
            </a:extLst>
          </p:cNvPr>
          <p:cNvSpPr>
            <a:spLocks/>
          </p:cNvSpPr>
          <p:nvPr/>
        </p:nvSpPr>
        <p:spPr bwMode="auto">
          <a:xfrm rot="7383287">
            <a:off x="646113" y="4981575"/>
            <a:ext cx="317500" cy="355600"/>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15" name="Freeform 7">
            <a:extLst>
              <a:ext uri="{FF2B5EF4-FFF2-40B4-BE49-F238E27FC236}">
                <a16:creationId xmlns:a16="http://schemas.microsoft.com/office/drawing/2014/main" id="{004AA3D1-CA2C-4683-AF96-44AD02269AA1}"/>
              </a:ext>
            </a:extLst>
          </p:cNvPr>
          <p:cNvSpPr>
            <a:spLocks/>
          </p:cNvSpPr>
          <p:nvPr/>
        </p:nvSpPr>
        <p:spPr bwMode="auto">
          <a:xfrm rot="18242926">
            <a:off x="698501" y="5376862"/>
            <a:ext cx="315912" cy="354013"/>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40" name="Freeform 32">
            <a:extLst>
              <a:ext uri="{FF2B5EF4-FFF2-40B4-BE49-F238E27FC236}">
                <a16:creationId xmlns:a16="http://schemas.microsoft.com/office/drawing/2014/main" id="{0202390E-94DD-43ED-9594-63E46475FCF9}"/>
              </a:ext>
            </a:extLst>
          </p:cNvPr>
          <p:cNvSpPr>
            <a:spLocks/>
          </p:cNvSpPr>
          <p:nvPr/>
        </p:nvSpPr>
        <p:spPr bwMode="auto">
          <a:xfrm rot="10800000">
            <a:off x="7246938" y="1965325"/>
            <a:ext cx="317500" cy="355600"/>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41" name="Freeform 33">
            <a:extLst>
              <a:ext uri="{FF2B5EF4-FFF2-40B4-BE49-F238E27FC236}">
                <a16:creationId xmlns:a16="http://schemas.microsoft.com/office/drawing/2014/main" id="{E312BDB4-F15E-4558-99A0-E8E4F305485A}"/>
              </a:ext>
            </a:extLst>
          </p:cNvPr>
          <p:cNvSpPr>
            <a:spLocks/>
          </p:cNvSpPr>
          <p:nvPr/>
        </p:nvSpPr>
        <p:spPr bwMode="auto">
          <a:xfrm>
            <a:off x="8069263" y="3375025"/>
            <a:ext cx="315912" cy="354013"/>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22" name="Freeform 14">
            <a:extLst>
              <a:ext uri="{FF2B5EF4-FFF2-40B4-BE49-F238E27FC236}">
                <a16:creationId xmlns:a16="http://schemas.microsoft.com/office/drawing/2014/main" id="{9B9A0503-CE11-4DC5-91D1-2E84F496E6F3}"/>
              </a:ext>
            </a:extLst>
          </p:cNvPr>
          <p:cNvSpPr>
            <a:spLocks/>
          </p:cNvSpPr>
          <p:nvPr/>
        </p:nvSpPr>
        <p:spPr bwMode="auto">
          <a:xfrm rot="10329473">
            <a:off x="6607175" y="5570538"/>
            <a:ext cx="446088" cy="165100"/>
          </a:xfrm>
          <a:custGeom>
            <a:avLst/>
            <a:gdLst>
              <a:gd name="T0" fmla="*/ 291 w 291"/>
              <a:gd name="T1" fmla="*/ 0 h 107"/>
              <a:gd name="T2" fmla="*/ 0 w 291"/>
              <a:gd name="T3" fmla="*/ 107 h 107"/>
              <a:gd name="T4" fmla="*/ 47 w 291"/>
              <a:gd name="T5" fmla="*/ 24 h 107"/>
            </a:gdLst>
            <a:ahLst/>
            <a:cxnLst>
              <a:cxn ang="0">
                <a:pos x="T0" y="T1"/>
              </a:cxn>
              <a:cxn ang="0">
                <a:pos x="T2" y="T3"/>
              </a:cxn>
              <a:cxn ang="0">
                <a:pos x="T4" y="T5"/>
              </a:cxn>
            </a:cxnLst>
            <a:rect l="0" t="0" r="r" b="b"/>
            <a:pathLst>
              <a:path w="291" h="107">
                <a:moveTo>
                  <a:pt x="291" y="0"/>
                </a:moveTo>
                <a:lnTo>
                  <a:pt x="0" y="107"/>
                </a:lnTo>
                <a:lnTo>
                  <a:pt x="47" y="24"/>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17" name="Freeform 9">
            <a:extLst>
              <a:ext uri="{FF2B5EF4-FFF2-40B4-BE49-F238E27FC236}">
                <a16:creationId xmlns:a16="http://schemas.microsoft.com/office/drawing/2014/main" id="{1778B811-5183-471E-970D-951B16C1ED51}"/>
              </a:ext>
            </a:extLst>
          </p:cNvPr>
          <p:cNvSpPr>
            <a:spLocks/>
          </p:cNvSpPr>
          <p:nvPr/>
        </p:nvSpPr>
        <p:spPr bwMode="auto">
          <a:xfrm rot="5177097">
            <a:off x="6657975" y="5919788"/>
            <a:ext cx="317500" cy="355600"/>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16" name="Freeform 8">
            <a:extLst>
              <a:ext uri="{FF2B5EF4-FFF2-40B4-BE49-F238E27FC236}">
                <a16:creationId xmlns:a16="http://schemas.microsoft.com/office/drawing/2014/main" id="{6CC559D0-DE32-4130-85F8-5BECB0179AC8}"/>
              </a:ext>
            </a:extLst>
          </p:cNvPr>
          <p:cNvSpPr>
            <a:spLocks/>
          </p:cNvSpPr>
          <p:nvPr/>
        </p:nvSpPr>
        <p:spPr bwMode="auto">
          <a:xfrm rot="15954862">
            <a:off x="6951663" y="6188075"/>
            <a:ext cx="317500" cy="355600"/>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20" name="Freeform 12">
            <a:extLst>
              <a:ext uri="{FF2B5EF4-FFF2-40B4-BE49-F238E27FC236}">
                <a16:creationId xmlns:a16="http://schemas.microsoft.com/office/drawing/2014/main" id="{26CE9C2A-6BB9-469F-8054-03E900B776CD}"/>
              </a:ext>
            </a:extLst>
          </p:cNvPr>
          <p:cNvSpPr>
            <a:spLocks/>
          </p:cNvSpPr>
          <p:nvPr/>
        </p:nvSpPr>
        <p:spPr bwMode="auto">
          <a:xfrm rot="-359209">
            <a:off x="6597650" y="5133975"/>
            <a:ext cx="446088" cy="161925"/>
          </a:xfrm>
          <a:custGeom>
            <a:avLst/>
            <a:gdLst>
              <a:gd name="T0" fmla="*/ 291 w 291"/>
              <a:gd name="T1" fmla="*/ 0 h 107"/>
              <a:gd name="T2" fmla="*/ 0 w 291"/>
              <a:gd name="T3" fmla="*/ 107 h 107"/>
              <a:gd name="T4" fmla="*/ 47 w 291"/>
              <a:gd name="T5" fmla="*/ 24 h 107"/>
            </a:gdLst>
            <a:ahLst/>
            <a:cxnLst>
              <a:cxn ang="0">
                <a:pos x="T0" y="T1"/>
              </a:cxn>
              <a:cxn ang="0">
                <a:pos x="T2" y="T3"/>
              </a:cxn>
              <a:cxn ang="0">
                <a:pos x="T4" y="T5"/>
              </a:cxn>
            </a:cxnLst>
            <a:rect l="0" t="0" r="r" b="b"/>
            <a:pathLst>
              <a:path w="291" h="107">
                <a:moveTo>
                  <a:pt x="291" y="0"/>
                </a:moveTo>
                <a:lnTo>
                  <a:pt x="0" y="107"/>
                </a:lnTo>
                <a:lnTo>
                  <a:pt x="47" y="24"/>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a:extLst>
              <a:ext uri="{FF2B5EF4-FFF2-40B4-BE49-F238E27FC236}">
                <a16:creationId xmlns:a16="http://schemas.microsoft.com/office/drawing/2014/main" id="{063DDC31-0354-49C5-8886-117EBA99C995}"/>
              </a:ext>
            </a:extLst>
          </p:cNvPr>
          <p:cNvSpPr>
            <a:spLocks noGrp="1" noChangeArrowheads="1"/>
          </p:cNvSpPr>
          <p:nvPr>
            <p:ph type="title"/>
          </p:nvPr>
        </p:nvSpPr>
        <p:spPr>
          <a:noFill/>
        </p:spPr>
        <p:txBody>
          <a:bodyPr/>
          <a:lstStyle/>
          <a:p>
            <a:r>
              <a:rPr lang="en-GB" altLang="en-US">
                <a:effectLst/>
              </a:rPr>
              <a:t>Strike-slip faults on other planetary bodies  2</a:t>
            </a:r>
          </a:p>
        </p:txBody>
      </p:sp>
      <p:sp>
        <p:nvSpPr>
          <p:cNvPr id="380931" name="Rectangle 3">
            <a:extLst>
              <a:ext uri="{FF2B5EF4-FFF2-40B4-BE49-F238E27FC236}">
                <a16:creationId xmlns:a16="http://schemas.microsoft.com/office/drawing/2014/main" id="{5E5127FA-522D-49D3-BA5C-8E406EF536AC}"/>
              </a:ext>
            </a:extLst>
          </p:cNvPr>
          <p:cNvSpPr>
            <a:spLocks noGrp="1" noChangeArrowheads="1"/>
          </p:cNvSpPr>
          <p:nvPr>
            <p:ph type="body" sz="half" idx="1"/>
          </p:nvPr>
        </p:nvSpPr>
        <p:spPr>
          <a:xfrm>
            <a:off x="106363" y="769938"/>
            <a:ext cx="4802187" cy="2071687"/>
          </a:xfrm>
          <a:noFill/>
        </p:spPr>
        <p:txBody>
          <a:bodyPr/>
          <a:lstStyle/>
          <a:p>
            <a:pPr marL="177800" indent="-177800">
              <a:spcBef>
                <a:spcPct val="50000"/>
              </a:spcBef>
            </a:pPr>
            <a:r>
              <a:rPr lang="en-GB" altLang="en-US" sz="1700">
                <a:effectLst/>
              </a:rPr>
              <a:t>In the southern polar region of </a:t>
            </a:r>
            <a:r>
              <a:rPr lang="en-GB" altLang="en-US" sz="1700">
                <a:solidFill>
                  <a:srgbClr val="FF6600"/>
                </a:solidFill>
                <a:effectLst/>
              </a:rPr>
              <a:t>Enceladus</a:t>
            </a:r>
            <a:r>
              <a:rPr lang="en-GB" altLang="en-US" sz="1700">
                <a:effectLst/>
              </a:rPr>
              <a:t>, water vapour </a:t>
            </a:r>
            <a:r>
              <a:rPr lang="en-GB" altLang="en-US" sz="1700">
                <a:solidFill>
                  <a:srgbClr val="FF66FF"/>
                </a:solidFill>
                <a:effectLst/>
              </a:rPr>
              <a:t>curtain geysers</a:t>
            </a:r>
            <a:r>
              <a:rPr lang="en-GB" altLang="en-US" sz="1700">
                <a:effectLst/>
              </a:rPr>
              <a:t> are continuously erupting from sinistral strike-slip faults</a:t>
            </a:r>
          </a:p>
          <a:p>
            <a:pPr marL="177800" indent="-177800">
              <a:spcBef>
                <a:spcPct val="50000"/>
              </a:spcBef>
            </a:pPr>
            <a:r>
              <a:rPr lang="en-GB" altLang="en-US" sz="1700">
                <a:effectLst/>
              </a:rPr>
              <a:t>Elsewhere on Enceladus, the strike-slip nature of the faults must be inferred from </a:t>
            </a:r>
            <a:r>
              <a:rPr lang="en-GB" altLang="en-US" sz="1700">
                <a:solidFill>
                  <a:srgbClr val="FF66FF"/>
                </a:solidFill>
                <a:effectLst/>
              </a:rPr>
              <a:t>secondary structures</a:t>
            </a:r>
            <a:r>
              <a:rPr lang="en-GB" altLang="en-US" sz="1700">
                <a:effectLst/>
              </a:rPr>
              <a:t> (no offset markers)</a:t>
            </a:r>
          </a:p>
        </p:txBody>
      </p:sp>
      <p:pic>
        <p:nvPicPr>
          <p:cNvPr id="380933" name="Picture 5" descr="Enceladus2">
            <a:extLst>
              <a:ext uri="{FF2B5EF4-FFF2-40B4-BE49-F238E27FC236}">
                <a16:creationId xmlns:a16="http://schemas.microsoft.com/office/drawing/2014/main" id="{FAFBE45C-E127-4CE9-B7A4-DEEF1705DAC4}"/>
              </a:ext>
            </a:extLst>
          </p:cNvPr>
          <p:cNvPicPr>
            <a:picLocks noChangeAspect="1" noChangeArrowheads="1"/>
          </p:cNvPicPr>
          <p:nvPr/>
        </p:nvPicPr>
        <p:blipFill>
          <a:blip r:embed="rId3">
            <a:lum bright="-4000" contrast="20000"/>
            <a:extLst>
              <a:ext uri="{28A0092B-C50C-407E-A947-70E740481C1C}">
                <a14:useLocalDpi xmlns:a14="http://schemas.microsoft.com/office/drawing/2010/main" val="0"/>
              </a:ext>
            </a:extLst>
          </a:blip>
          <a:srcRect/>
          <a:stretch>
            <a:fillRect/>
          </a:stretch>
        </p:blipFill>
        <p:spPr bwMode="auto">
          <a:xfrm>
            <a:off x="390525" y="3070225"/>
            <a:ext cx="3706813" cy="36274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80935" name="Freeform 7">
            <a:extLst>
              <a:ext uri="{FF2B5EF4-FFF2-40B4-BE49-F238E27FC236}">
                <a16:creationId xmlns:a16="http://schemas.microsoft.com/office/drawing/2014/main" id="{D9B42E5C-48E5-4440-B6E9-466E45135227}"/>
              </a:ext>
            </a:extLst>
          </p:cNvPr>
          <p:cNvSpPr>
            <a:spLocks/>
          </p:cNvSpPr>
          <p:nvPr/>
        </p:nvSpPr>
        <p:spPr bwMode="auto">
          <a:xfrm rot="10378672">
            <a:off x="2792413" y="4870450"/>
            <a:ext cx="317500" cy="355600"/>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36" name="Freeform 8">
            <a:extLst>
              <a:ext uri="{FF2B5EF4-FFF2-40B4-BE49-F238E27FC236}">
                <a16:creationId xmlns:a16="http://schemas.microsoft.com/office/drawing/2014/main" id="{A9900D32-650C-4F79-B1AE-CD07298E2F03}"/>
              </a:ext>
            </a:extLst>
          </p:cNvPr>
          <p:cNvSpPr>
            <a:spLocks/>
          </p:cNvSpPr>
          <p:nvPr/>
        </p:nvSpPr>
        <p:spPr bwMode="auto">
          <a:xfrm rot="21238312">
            <a:off x="2401888" y="5376863"/>
            <a:ext cx="315912" cy="354012"/>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37" name="Freeform 9">
            <a:extLst>
              <a:ext uri="{FF2B5EF4-FFF2-40B4-BE49-F238E27FC236}">
                <a16:creationId xmlns:a16="http://schemas.microsoft.com/office/drawing/2014/main" id="{9CB65995-9133-4780-9EFF-17A8B683422A}"/>
              </a:ext>
            </a:extLst>
          </p:cNvPr>
          <p:cNvSpPr>
            <a:spLocks/>
          </p:cNvSpPr>
          <p:nvPr/>
        </p:nvSpPr>
        <p:spPr bwMode="auto">
          <a:xfrm rot="10017488">
            <a:off x="3100388" y="3827463"/>
            <a:ext cx="317500" cy="355600"/>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38" name="Freeform 10">
            <a:extLst>
              <a:ext uri="{FF2B5EF4-FFF2-40B4-BE49-F238E27FC236}">
                <a16:creationId xmlns:a16="http://schemas.microsoft.com/office/drawing/2014/main" id="{1DAEC8C2-F69A-4A63-A054-4388479D067E}"/>
              </a:ext>
            </a:extLst>
          </p:cNvPr>
          <p:cNvSpPr>
            <a:spLocks/>
          </p:cNvSpPr>
          <p:nvPr/>
        </p:nvSpPr>
        <p:spPr bwMode="auto">
          <a:xfrm rot="20877127">
            <a:off x="2741613" y="4248150"/>
            <a:ext cx="315912" cy="354013"/>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43" name="Line 15">
            <a:extLst>
              <a:ext uri="{FF2B5EF4-FFF2-40B4-BE49-F238E27FC236}">
                <a16:creationId xmlns:a16="http://schemas.microsoft.com/office/drawing/2014/main" id="{E186D40A-3C42-4194-833A-5DFA82648C12}"/>
              </a:ext>
            </a:extLst>
          </p:cNvPr>
          <p:cNvSpPr>
            <a:spLocks noChangeShapeType="1"/>
          </p:cNvSpPr>
          <p:nvPr/>
        </p:nvSpPr>
        <p:spPr bwMode="auto">
          <a:xfrm>
            <a:off x="481013" y="6599238"/>
            <a:ext cx="728662"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44" name="Text Box 16">
            <a:extLst>
              <a:ext uri="{FF2B5EF4-FFF2-40B4-BE49-F238E27FC236}">
                <a16:creationId xmlns:a16="http://schemas.microsoft.com/office/drawing/2014/main" id="{465C5FBB-E9C0-4FC1-AEDC-D0AD3572D37C}"/>
              </a:ext>
            </a:extLst>
          </p:cNvPr>
          <p:cNvSpPr txBox="1">
            <a:spLocks noChangeArrowheads="1"/>
          </p:cNvSpPr>
          <p:nvPr/>
        </p:nvSpPr>
        <p:spPr bwMode="auto">
          <a:xfrm>
            <a:off x="544513" y="6329363"/>
            <a:ext cx="61118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a:solidFill>
                  <a:srgbClr val="008000"/>
                </a:solidFill>
                <a:effectLst/>
              </a:rPr>
              <a:t>10 km</a:t>
            </a:r>
          </a:p>
        </p:txBody>
      </p:sp>
      <p:pic>
        <p:nvPicPr>
          <p:cNvPr id="380946" name="Picture 18" descr="PIA06254">
            <a:extLst>
              <a:ext uri="{FF2B5EF4-FFF2-40B4-BE49-F238E27FC236}">
                <a16:creationId xmlns:a16="http://schemas.microsoft.com/office/drawing/2014/main" id="{84EFCA10-63EC-4437-889D-1D340168C67B}"/>
              </a:ext>
            </a:extLst>
          </p:cNvPr>
          <p:cNvPicPr>
            <a:picLocks noGrp="1" noChangeAspect="1" noChangeArrowheads="1"/>
          </p:cNvPicPr>
          <p:nvPr>
            <p:ph sz="half" idx="2"/>
          </p:nvPr>
        </p:nvPicPr>
        <p:blipFill>
          <a:blip r:embed="rId4">
            <a:lum bright="-4000" contrast="6000"/>
            <a:extLst>
              <a:ext uri="{28A0092B-C50C-407E-A947-70E740481C1C}">
                <a14:useLocalDpi xmlns:a14="http://schemas.microsoft.com/office/drawing/2010/main" val="0"/>
              </a:ext>
            </a:extLst>
          </a:blip>
          <a:srcRect/>
          <a:stretch>
            <a:fillRect/>
          </a:stretch>
        </p:blipFill>
        <p:spPr>
          <a:xfrm>
            <a:off x="4987925" y="881063"/>
            <a:ext cx="4011613" cy="47244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80934" name="Picture 6" descr="Enceladus4">
            <a:extLst>
              <a:ext uri="{FF2B5EF4-FFF2-40B4-BE49-F238E27FC236}">
                <a16:creationId xmlns:a16="http://schemas.microsoft.com/office/drawing/2014/main" id="{FB68EBA1-54B2-446B-91F1-FFF937F7BB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6100" y="5313363"/>
            <a:ext cx="1444625" cy="13843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A7E2CB3-61E7-4006-B06E-E36B21BA474E}"/>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258" t="30630" b="9040"/>
          <a:stretch/>
        </p:blipFill>
        <p:spPr>
          <a:xfrm>
            <a:off x="6197597" y="5723907"/>
            <a:ext cx="2594328" cy="1017852"/>
          </a:xfrm>
          <a:prstGeom prst="rect">
            <a:avLst/>
          </a:prstGeom>
          <a:ln w="38100">
            <a:solidFill>
              <a:schemeClr val="bg2"/>
            </a:solidFill>
          </a:ln>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a:extLst>
              <a:ext uri="{FF2B5EF4-FFF2-40B4-BE49-F238E27FC236}">
                <a16:creationId xmlns:a16="http://schemas.microsoft.com/office/drawing/2014/main" id="{063DDC31-0354-49C5-8886-117EBA99C995}"/>
              </a:ext>
            </a:extLst>
          </p:cNvPr>
          <p:cNvSpPr>
            <a:spLocks noGrp="1" noChangeArrowheads="1"/>
          </p:cNvSpPr>
          <p:nvPr>
            <p:ph type="title"/>
          </p:nvPr>
        </p:nvSpPr>
        <p:spPr>
          <a:noFill/>
        </p:spPr>
        <p:txBody>
          <a:bodyPr/>
          <a:lstStyle/>
          <a:p>
            <a:r>
              <a:rPr lang="en-GB" altLang="en-US" dirty="0">
                <a:effectLst/>
              </a:rPr>
              <a:t>Stretching faults</a:t>
            </a:r>
          </a:p>
        </p:txBody>
      </p:sp>
      <p:sp>
        <p:nvSpPr>
          <p:cNvPr id="380931" name="Rectangle 3">
            <a:extLst>
              <a:ext uri="{FF2B5EF4-FFF2-40B4-BE49-F238E27FC236}">
                <a16:creationId xmlns:a16="http://schemas.microsoft.com/office/drawing/2014/main" id="{5E5127FA-522D-49D3-BA5C-8E406EF536AC}"/>
              </a:ext>
            </a:extLst>
          </p:cNvPr>
          <p:cNvSpPr>
            <a:spLocks noGrp="1" noChangeArrowheads="1"/>
          </p:cNvSpPr>
          <p:nvPr>
            <p:ph type="body" sz="half" idx="1"/>
          </p:nvPr>
        </p:nvSpPr>
        <p:spPr>
          <a:xfrm>
            <a:off x="106363" y="817438"/>
            <a:ext cx="8888412" cy="2865213"/>
          </a:xfrm>
          <a:noFill/>
        </p:spPr>
        <p:txBody>
          <a:bodyPr/>
          <a:lstStyle/>
          <a:p>
            <a:pPr marL="177800" indent="-177800">
              <a:spcBef>
                <a:spcPct val="50000"/>
              </a:spcBef>
            </a:pPr>
            <a:r>
              <a:rPr lang="en-GB" altLang="en-US" sz="1700" dirty="0">
                <a:effectLst/>
              </a:rPr>
              <a:t>We tend to think of the two blocks on either side of a fault as being approximately rigid, but </a:t>
            </a:r>
            <a:r>
              <a:rPr lang="en-GB" altLang="en-US" sz="1700" dirty="0">
                <a:solidFill>
                  <a:srgbClr val="FF66FF"/>
                </a:solidFill>
                <a:effectLst/>
              </a:rPr>
              <a:t>when one side is more deformable than the other</a:t>
            </a:r>
            <a:r>
              <a:rPr lang="en-GB" altLang="en-US" sz="1700" dirty="0">
                <a:effectLst/>
              </a:rPr>
              <a:t>, the fault marks the boundary between </a:t>
            </a:r>
            <a:r>
              <a:rPr lang="en-GB" altLang="en-US" sz="1700" i="1" dirty="0">
                <a:effectLst/>
              </a:rPr>
              <a:t>relatively</a:t>
            </a:r>
            <a:r>
              <a:rPr lang="en-GB" altLang="en-US" sz="1700" dirty="0">
                <a:effectLst/>
              </a:rPr>
              <a:t> strongly deformed units and </a:t>
            </a:r>
            <a:r>
              <a:rPr lang="en-GB" altLang="en-US" sz="1700" i="1" dirty="0">
                <a:effectLst/>
              </a:rPr>
              <a:t>relatively</a:t>
            </a:r>
            <a:r>
              <a:rPr lang="en-GB" altLang="en-US" sz="1700" dirty="0">
                <a:effectLst/>
              </a:rPr>
              <a:t> undeformed units, and we then have a </a:t>
            </a:r>
            <a:r>
              <a:rPr lang="en-GB" altLang="en-US" sz="1700" dirty="0">
                <a:solidFill>
                  <a:srgbClr val="FF6600"/>
                </a:solidFill>
                <a:effectLst/>
              </a:rPr>
              <a:t>stretching fault </a:t>
            </a:r>
            <a:r>
              <a:rPr lang="en-GB" altLang="en-US" sz="1700" dirty="0">
                <a:effectLst/>
              </a:rPr>
              <a:t>→</a:t>
            </a:r>
            <a:r>
              <a:rPr lang="en-GB" altLang="en-US" sz="1700" dirty="0">
                <a:solidFill>
                  <a:srgbClr val="FF66FF"/>
                </a:solidFill>
                <a:effectLst/>
              </a:rPr>
              <a:t> </a:t>
            </a:r>
            <a:r>
              <a:rPr lang="en-GB" altLang="en-US" sz="1700" dirty="0">
                <a:solidFill>
                  <a:srgbClr val="FFFF00"/>
                </a:solidFill>
                <a:effectLst/>
              </a:rPr>
              <a:t>slip-parallel stretching </a:t>
            </a:r>
            <a:r>
              <a:rPr lang="en-GB" altLang="en-US" sz="1700" dirty="0">
                <a:effectLst/>
              </a:rPr>
              <a:t>of one side of the fault when compared with the other</a:t>
            </a:r>
          </a:p>
          <a:p>
            <a:pPr marL="177800" indent="-177800">
              <a:spcBef>
                <a:spcPct val="50000"/>
              </a:spcBef>
            </a:pPr>
            <a:r>
              <a:rPr lang="en-GB" altLang="en-US" sz="1700" dirty="0">
                <a:effectLst/>
              </a:rPr>
              <a:t>On a stretching fault the slip is </a:t>
            </a:r>
            <a:r>
              <a:rPr lang="en-GB" altLang="en-US" sz="1700" dirty="0">
                <a:solidFill>
                  <a:srgbClr val="FF66FF"/>
                </a:solidFill>
                <a:effectLst/>
              </a:rPr>
              <a:t>zero at the fault tip </a:t>
            </a:r>
            <a:r>
              <a:rPr lang="en-GB" altLang="en-US" sz="1700" dirty="0">
                <a:effectLst/>
              </a:rPr>
              <a:t>and varies along the fault</a:t>
            </a:r>
          </a:p>
          <a:p>
            <a:pPr marL="177800" indent="-177800">
              <a:spcBef>
                <a:spcPct val="50000"/>
              </a:spcBef>
            </a:pPr>
            <a:r>
              <a:rPr lang="en-GB" altLang="en-US" sz="1700" dirty="0">
                <a:effectLst/>
              </a:rPr>
              <a:t>This style of deformation may occur on any fault, but it is </a:t>
            </a:r>
            <a:r>
              <a:rPr lang="en-GB" altLang="en-US" sz="1700" dirty="0">
                <a:solidFill>
                  <a:srgbClr val="FF66FF"/>
                </a:solidFill>
                <a:effectLst/>
              </a:rPr>
              <a:t>particularly noteworthy on major strike-slip faults</a:t>
            </a:r>
            <a:r>
              <a:rPr lang="en-GB" altLang="en-US" sz="1700" dirty="0">
                <a:effectLst/>
              </a:rPr>
              <a:t> where the slip can vary by up to tens of kilometres along the fault</a:t>
            </a:r>
          </a:p>
        </p:txBody>
      </p:sp>
      <p:pic>
        <p:nvPicPr>
          <p:cNvPr id="5" name="Picture 4">
            <a:extLst>
              <a:ext uri="{FF2B5EF4-FFF2-40B4-BE49-F238E27FC236}">
                <a16:creationId xmlns:a16="http://schemas.microsoft.com/office/drawing/2014/main" id="{8C9CE650-5B9F-46B0-8A03-3BB931DEA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4807" y="3923901"/>
            <a:ext cx="6211523" cy="2439922"/>
          </a:xfrm>
          <a:prstGeom prst="rect">
            <a:avLst/>
          </a:prstGeom>
          <a:ln w="38100">
            <a:solidFill>
              <a:schemeClr val="bg2"/>
            </a:solidFill>
          </a:ln>
        </p:spPr>
      </p:pic>
    </p:spTree>
    <p:extLst>
      <p:ext uri="{BB962C8B-B14F-4D97-AF65-F5344CB8AC3E}">
        <p14:creationId xmlns:p14="http://schemas.microsoft.com/office/powerpoint/2010/main" val="3975640102"/>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B4EA51B6-D181-460B-BABC-FA539DBD2A77}"/>
              </a:ext>
            </a:extLst>
          </p:cNvPr>
          <p:cNvSpPr>
            <a:spLocks noGrp="1" noChangeArrowheads="1"/>
          </p:cNvSpPr>
          <p:nvPr>
            <p:ph type="ctrTitle" idx="4294967295"/>
          </p:nvPr>
        </p:nvSpPr>
        <p:spPr bwMode="black">
          <a:xfrm>
            <a:off x="239713" y="1011238"/>
            <a:ext cx="8705850" cy="31242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Structures associated</a:t>
            </a:r>
            <a:br>
              <a:rPr lang="en-US" altLang="en-US" sz="3200">
                <a:solidFill>
                  <a:srgbClr val="FF6600"/>
                </a:solidFill>
              </a:rPr>
            </a:br>
            <a:r>
              <a:rPr lang="en-US" altLang="en-US" sz="3200">
                <a:solidFill>
                  <a:srgbClr val="FF6600"/>
                </a:solidFill>
              </a:rPr>
              <a:t>with</a:t>
            </a:r>
            <a:br>
              <a:rPr lang="en-US" altLang="en-US" sz="3200">
                <a:solidFill>
                  <a:srgbClr val="FF6600"/>
                </a:solidFill>
              </a:rPr>
            </a:br>
            <a:r>
              <a:rPr lang="en-US" altLang="en-US" sz="3200">
                <a:solidFill>
                  <a:srgbClr val="FF6600"/>
                </a:solidFill>
              </a:rPr>
              <a:t>strike-slip faults</a:t>
            </a:r>
            <a:endParaRPr lang="en-US" altLang="en-US">
              <a:solidFill>
                <a:srgbClr val="FF6600"/>
              </a:solidFill>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8F72B046-39DD-40F9-93CC-FC92B06ABA6B}"/>
              </a:ext>
            </a:extLst>
          </p:cNvPr>
          <p:cNvSpPr>
            <a:spLocks noGrp="1" noChangeArrowheads="1"/>
          </p:cNvSpPr>
          <p:nvPr>
            <p:ph type="title"/>
          </p:nvPr>
        </p:nvSpPr>
        <p:spPr>
          <a:noFill/>
        </p:spPr>
        <p:txBody>
          <a:bodyPr/>
          <a:lstStyle/>
          <a:p>
            <a:r>
              <a:rPr lang="en-GB" altLang="en-US" dirty="0">
                <a:effectLst/>
              </a:rPr>
              <a:t>Simple shea</a:t>
            </a:r>
            <a:r>
              <a:rPr lang="en-GB" altLang="en-US" spc="500" dirty="0">
                <a:effectLst/>
              </a:rPr>
              <a:t>r/</a:t>
            </a:r>
            <a:r>
              <a:rPr lang="en-GB" altLang="en-US" dirty="0" err="1">
                <a:effectLst/>
              </a:rPr>
              <a:t>transpressio</a:t>
            </a:r>
            <a:r>
              <a:rPr lang="en-GB" altLang="en-US" spc="500" dirty="0" err="1">
                <a:effectLst/>
              </a:rPr>
              <a:t>n</a:t>
            </a:r>
            <a:r>
              <a:rPr lang="en-GB" altLang="en-US" spc="500" dirty="0">
                <a:effectLst/>
              </a:rPr>
              <a:t>/</a:t>
            </a:r>
            <a:r>
              <a:rPr lang="en-GB" altLang="en-US" dirty="0" err="1">
                <a:effectLst/>
              </a:rPr>
              <a:t>transtension</a:t>
            </a:r>
            <a:endParaRPr lang="en-GB" altLang="en-US" dirty="0">
              <a:effectLst/>
            </a:endParaRPr>
          </a:p>
        </p:txBody>
      </p:sp>
      <p:sp>
        <p:nvSpPr>
          <p:cNvPr id="221187" name="Rectangle 3">
            <a:extLst>
              <a:ext uri="{FF2B5EF4-FFF2-40B4-BE49-F238E27FC236}">
                <a16:creationId xmlns:a16="http://schemas.microsoft.com/office/drawing/2014/main" id="{57B48587-C1C6-4480-B776-DC7E40E8C0B6}"/>
              </a:ext>
            </a:extLst>
          </p:cNvPr>
          <p:cNvSpPr>
            <a:spLocks noGrp="1" noChangeArrowheads="1"/>
          </p:cNvSpPr>
          <p:nvPr>
            <p:ph type="body" idx="1"/>
          </p:nvPr>
        </p:nvSpPr>
        <p:spPr>
          <a:xfrm>
            <a:off x="122238" y="757238"/>
            <a:ext cx="8912225" cy="1355725"/>
          </a:xfrm>
          <a:noFill/>
        </p:spPr>
        <p:txBody>
          <a:bodyPr/>
          <a:lstStyle/>
          <a:p>
            <a:pPr marL="177800" indent="-177800">
              <a:spcBef>
                <a:spcPct val="75000"/>
              </a:spcBef>
            </a:pPr>
            <a:r>
              <a:rPr lang="en-GB" altLang="en-US" sz="1700" dirty="0">
                <a:effectLst/>
              </a:rPr>
              <a:t>For a </a:t>
            </a:r>
            <a:r>
              <a:rPr lang="en-GB" altLang="en-US" sz="1700" dirty="0">
                <a:solidFill>
                  <a:srgbClr val="FF6600"/>
                </a:solidFill>
                <a:effectLst/>
              </a:rPr>
              <a:t>sub-vertical strike-slip fault</a:t>
            </a:r>
            <a:r>
              <a:rPr lang="en-GB" altLang="en-US" sz="1700" dirty="0">
                <a:effectLst/>
              </a:rPr>
              <a:t> deforming in </a:t>
            </a:r>
            <a:r>
              <a:rPr lang="en-GB" altLang="en-US" sz="1700" dirty="0">
                <a:solidFill>
                  <a:srgbClr val="FF6600"/>
                </a:solidFill>
                <a:effectLst/>
              </a:rPr>
              <a:t>simple shear</a:t>
            </a:r>
            <a:r>
              <a:rPr lang="en-GB" altLang="en-US" sz="1700" dirty="0">
                <a:effectLst/>
              </a:rPr>
              <a:t> the map is approximately the </a:t>
            </a:r>
            <a:r>
              <a:rPr lang="en-GB" altLang="en-US" sz="1700" dirty="0">
                <a:solidFill>
                  <a:srgbClr val="FF66FF"/>
                </a:solidFill>
                <a:effectLst/>
              </a:rPr>
              <a:t>XZ plane</a:t>
            </a:r>
            <a:r>
              <a:rPr lang="en-GB" altLang="en-US" sz="1700" dirty="0">
                <a:effectLst/>
              </a:rPr>
              <a:t> across a shear zone. Hence many of the features observed in strike-slip fault zones can be considered (at least, </a:t>
            </a:r>
            <a:r>
              <a:rPr lang="en-GB" altLang="en-US" sz="1700" dirty="0" err="1">
                <a:effectLst/>
              </a:rPr>
              <a:t>kinematically</a:t>
            </a:r>
            <a:r>
              <a:rPr lang="en-GB" altLang="en-US" sz="1700" dirty="0">
                <a:effectLst/>
              </a:rPr>
              <a:t>) by thinking about the structures we noted when examining shear zones (Class 4) </a:t>
            </a:r>
          </a:p>
        </p:txBody>
      </p:sp>
      <p:grpSp>
        <p:nvGrpSpPr>
          <p:cNvPr id="221188" name="Group 4">
            <a:extLst>
              <a:ext uri="{FF2B5EF4-FFF2-40B4-BE49-F238E27FC236}">
                <a16:creationId xmlns:a16="http://schemas.microsoft.com/office/drawing/2014/main" id="{DF63577F-5734-4FE4-BAA4-8FE35CE1D5F8}"/>
              </a:ext>
            </a:extLst>
          </p:cNvPr>
          <p:cNvGrpSpPr>
            <a:grpSpLocks/>
          </p:cNvGrpSpPr>
          <p:nvPr/>
        </p:nvGrpSpPr>
        <p:grpSpPr bwMode="auto">
          <a:xfrm>
            <a:off x="5880100" y="1833563"/>
            <a:ext cx="2797175" cy="1703387"/>
            <a:chOff x="4240" y="2159"/>
            <a:chExt cx="1442" cy="878"/>
          </a:xfrm>
        </p:grpSpPr>
        <p:sp>
          <p:nvSpPr>
            <p:cNvPr id="221189" name="Rectangle 5">
              <a:extLst>
                <a:ext uri="{FF2B5EF4-FFF2-40B4-BE49-F238E27FC236}">
                  <a16:creationId xmlns:a16="http://schemas.microsoft.com/office/drawing/2014/main" id="{5AD55DD2-4535-4CDE-BB7E-9243EC1AE3C9}"/>
                </a:ext>
              </a:extLst>
            </p:cNvPr>
            <p:cNvSpPr>
              <a:spLocks noChangeArrowheads="1"/>
            </p:cNvSpPr>
            <p:nvPr/>
          </p:nvSpPr>
          <p:spPr bwMode="auto">
            <a:xfrm>
              <a:off x="4240" y="2159"/>
              <a:ext cx="1442" cy="87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21190" name="Picture 6" descr="04a">
              <a:extLst>
                <a:ext uri="{FF2B5EF4-FFF2-40B4-BE49-F238E27FC236}">
                  <a16:creationId xmlns:a16="http://schemas.microsoft.com/office/drawing/2014/main" id="{BFD9C191-0196-4FDA-98C5-3E71307B1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1" y="2211"/>
              <a:ext cx="1362" cy="7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221197" name="Group 13">
            <a:extLst>
              <a:ext uri="{FF2B5EF4-FFF2-40B4-BE49-F238E27FC236}">
                <a16:creationId xmlns:a16="http://schemas.microsoft.com/office/drawing/2014/main" id="{5290302D-8A1D-4930-AE05-334FC79C9018}"/>
              </a:ext>
            </a:extLst>
          </p:cNvPr>
          <p:cNvGrpSpPr>
            <a:grpSpLocks/>
          </p:cNvGrpSpPr>
          <p:nvPr/>
        </p:nvGrpSpPr>
        <p:grpSpPr bwMode="auto">
          <a:xfrm>
            <a:off x="188913" y="3402013"/>
            <a:ext cx="3860800" cy="2714625"/>
            <a:chOff x="546" y="2726"/>
            <a:chExt cx="2108" cy="1425"/>
          </a:xfrm>
        </p:grpSpPr>
        <p:sp>
          <p:nvSpPr>
            <p:cNvPr id="221194" name="Rectangle 10">
              <a:extLst>
                <a:ext uri="{FF2B5EF4-FFF2-40B4-BE49-F238E27FC236}">
                  <a16:creationId xmlns:a16="http://schemas.microsoft.com/office/drawing/2014/main" id="{FF4ED7E5-E832-433A-8E71-96EF1CDB6C28}"/>
                </a:ext>
              </a:extLst>
            </p:cNvPr>
            <p:cNvSpPr>
              <a:spLocks noChangeArrowheads="1"/>
            </p:cNvSpPr>
            <p:nvPr/>
          </p:nvSpPr>
          <p:spPr bwMode="auto">
            <a:xfrm>
              <a:off x="546" y="2726"/>
              <a:ext cx="2108" cy="142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21191" name="Picture 7" descr="6143_fig06_16">
              <a:extLst>
                <a:ext uri="{FF2B5EF4-FFF2-40B4-BE49-F238E27FC236}">
                  <a16:creationId xmlns:a16="http://schemas.microsoft.com/office/drawing/2014/main" id="{C604150F-5B5D-4F59-8037-CCCF0E5BB7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 y="2784"/>
              <a:ext cx="1996" cy="1311"/>
            </a:xfrm>
            <a:prstGeom prst="rect">
              <a:avLst/>
            </a:prstGeom>
            <a:noFill/>
            <a:extLst>
              <a:ext uri="{909E8E84-426E-40DD-AFC4-6F175D3DCCD1}">
                <a14:hiddenFill xmlns:a14="http://schemas.microsoft.com/office/drawing/2010/main">
                  <a:solidFill>
                    <a:srgbClr val="FFFFFF"/>
                  </a:solidFill>
                </a14:hiddenFill>
              </a:ext>
            </a:extLst>
          </p:spPr>
        </p:pic>
        <p:sp>
          <p:nvSpPr>
            <p:cNvPr id="221195" name="Rectangle 11">
              <a:extLst>
                <a:ext uri="{FF2B5EF4-FFF2-40B4-BE49-F238E27FC236}">
                  <a16:creationId xmlns:a16="http://schemas.microsoft.com/office/drawing/2014/main" id="{84E74B97-949B-4B55-9F49-7D6D94191285}"/>
                </a:ext>
              </a:extLst>
            </p:cNvPr>
            <p:cNvSpPr>
              <a:spLocks noChangeArrowheads="1"/>
            </p:cNvSpPr>
            <p:nvPr/>
          </p:nvSpPr>
          <p:spPr bwMode="auto">
            <a:xfrm>
              <a:off x="588" y="3961"/>
              <a:ext cx="148" cy="12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1196" name="Rectangle 12">
              <a:extLst>
                <a:ext uri="{FF2B5EF4-FFF2-40B4-BE49-F238E27FC236}">
                  <a16:creationId xmlns:a16="http://schemas.microsoft.com/office/drawing/2014/main" id="{3A852E87-8256-4F66-8F85-F1BE5AF40998}"/>
                </a:ext>
              </a:extLst>
            </p:cNvPr>
            <p:cNvSpPr>
              <a:spLocks noChangeArrowheads="1"/>
            </p:cNvSpPr>
            <p:nvPr/>
          </p:nvSpPr>
          <p:spPr bwMode="auto">
            <a:xfrm>
              <a:off x="1514" y="3955"/>
              <a:ext cx="220" cy="13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21198" name="Text Box 14">
            <a:extLst>
              <a:ext uri="{FF2B5EF4-FFF2-40B4-BE49-F238E27FC236}">
                <a16:creationId xmlns:a16="http://schemas.microsoft.com/office/drawing/2014/main" id="{71893608-DB66-41D1-A6AF-7A55AA6947EE}"/>
              </a:ext>
            </a:extLst>
          </p:cNvPr>
          <p:cNvSpPr txBox="1">
            <a:spLocks noChangeArrowheads="1"/>
          </p:cNvSpPr>
          <p:nvPr/>
        </p:nvSpPr>
        <p:spPr bwMode="auto">
          <a:xfrm>
            <a:off x="122238" y="2178050"/>
            <a:ext cx="5694362"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doing so, it is helpful to remember the orientation of the directions that are </a:t>
            </a:r>
            <a:r>
              <a:rPr lang="en-GB" altLang="en-US" sz="1700" dirty="0">
                <a:solidFill>
                  <a:srgbClr val="FF66FF"/>
                </a:solidFill>
                <a:effectLst>
                  <a:outerShdw blurRad="38100" dist="38100" dir="2700000" algn="tl">
                    <a:srgbClr val="000000"/>
                  </a:outerShdw>
                </a:effectLst>
                <a:latin typeface="Arial" panose="020B0604020202020204" pitchFamily="34" charset="0"/>
              </a:rPr>
              <a:t>shortened</a:t>
            </a:r>
            <a:r>
              <a:rPr lang="en-GB" altLang="en-US" sz="1700" dirty="0">
                <a:effectLst>
                  <a:outerShdw blurRad="38100" dist="38100" dir="2700000" algn="tl">
                    <a:srgbClr val="000000"/>
                  </a:outerShdw>
                </a:effectLst>
                <a:latin typeface="Arial" panose="020B0604020202020204" pitchFamily="34" charset="0"/>
              </a:rPr>
              <a:t> and those that are </a:t>
            </a:r>
            <a:r>
              <a:rPr lang="en-GB" altLang="en-US" sz="1700" dirty="0">
                <a:solidFill>
                  <a:srgbClr val="FF66FF"/>
                </a:solidFill>
                <a:effectLst>
                  <a:outerShdw blurRad="38100" dist="38100" dir="2700000" algn="tl">
                    <a:srgbClr val="000000"/>
                  </a:outerShdw>
                </a:effectLst>
                <a:latin typeface="Arial" panose="020B0604020202020204" pitchFamily="34" charset="0"/>
              </a:rPr>
              <a:t>extended </a:t>
            </a:r>
            <a:r>
              <a:rPr lang="en-GB" altLang="en-US" sz="1700" dirty="0">
                <a:effectLst>
                  <a:outerShdw blurRad="38100" dist="38100" dir="2700000" algn="tl">
                    <a:srgbClr val="000000"/>
                  </a:outerShdw>
                </a:effectLst>
                <a:latin typeface="Arial" panose="020B0604020202020204" pitchFamily="34" charset="0"/>
              </a:rPr>
              <a:t>during progressive simple shear (Class 3)</a:t>
            </a:r>
          </a:p>
        </p:txBody>
      </p:sp>
      <p:sp>
        <p:nvSpPr>
          <p:cNvPr id="221199" name="Text Box 15">
            <a:extLst>
              <a:ext uri="{FF2B5EF4-FFF2-40B4-BE49-F238E27FC236}">
                <a16:creationId xmlns:a16="http://schemas.microsoft.com/office/drawing/2014/main" id="{6D3D961F-BED4-466A-A717-9E45CBA2FB40}"/>
              </a:ext>
            </a:extLst>
          </p:cNvPr>
          <p:cNvSpPr txBox="1">
            <a:spLocks noChangeArrowheads="1"/>
          </p:cNvSpPr>
          <p:nvPr/>
        </p:nvSpPr>
        <p:spPr bwMode="auto">
          <a:xfrm>
            <a:off x="4116388" y="3668713"/>
            <a:ext cx="4795837"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But note – real strike-slip faults may involve a combination of simple shear and fault normal shortening (</a:t>
            </a:r>
            <a:r>
              <a:rPr lang="en-GB" altLang="en-US" sz="1700" dirty="0" err="1">
                <a:solidFill>
                  <a:srgbClr val="FF6600"/>
                </a:solidFill>
                <a:effectLst>
                  <a:outerShdw blurRad="38100" dist="38100" dir="2700000" algn="tl">
                    <a:srgbClr val="000000"/>
                  </a:outerShdw>
                </a:effectLst>
                <a:latin typeface="Arial" panose="020B0604020202020204" pitchFamily="34" charset="0"/>
              </a:rPr>
              <a:t>transpression</a:t>
            </a:r>
            <a:r>
              <a:rPr lang="en-GB" altLang="en-US" sz="1700" dirty="0">
                <a:effectLst>
                  <a:outerShdw blurRad="38100" dist="38100" dir="2700000" algn="tl">
                    <a:srgbClr val="000000"/>
                  </a:outerShdw>
                </a:effectLst>
                <a:latin typeface="Arial" panose="020B0604020202020204" pitchFamily="34" charset="0"/>
              </a:rPr>
              <a:t>) or fault normal extension (</a:t>
            </a:r>
            <a:r>
              <a:rPr lang="en-GB" altLang="en-US" sz="1700" dirty="0" err="1">
                <a:solidFill>
                  <a:srgbClr val="FF6600"/>
                </a:solidFill>
                <a:effectLst>
                  <a:outerShdw blurRad="38100" dist="38100" dir="2700000" algn="tl">
                    <a:srgbClr val="000000"/>
                  </a:outerShdw>
                </a:effectLst>
                <a:latin typeface="Arial" panose="020B0604020202020204" pitchFamily="34" charset="0"/>
              </a:rPr>
              <a:t>transtension</a:t>
            </a:r>
            <a:r>
              <a:rPr lang="en-GB" altLang="en-US" sz="1700" dirty="0">
                <a:effectLst>
                  <a:outerShdw blurRad="38100" dist="38100" dir="2700000" algn="tl">
                    <a:srgbClr val="000000"/>
                  </a:outerShdw>
                </a:effectLst>
                <a:latin typeface="Arial" panose="020B0604020202020204" pitchFamily="34" charset="0"/>
              </a:rPr>
              <a:t>)</a:t>
            </a:r>
          </a:p>
        </p:txBody>
      </p:sp>
      <p:pic>
        <p:nvPicPr>
          <p:cNvPr id="221203" name="Picture 19">
            <a:extLst>
              <a:ext uri="{FF2B5EF4-FFF2-40B4-BE49-F238E27FC236}">
                <a16:creationId xmlns:a16="http://schemas.microsoft.com/office/drawing/2014/main" id="{D99AC4B0-4F33-48CF-8A32-D99B25FB6A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6725" y="5716588"/>
            <a:ext cx="1241425" cy="9461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1204" name="Picture 20">
            <a:extLst>
              <a:ext uri="{FF2B5EF4-FFF2-40B4-BE49-F238E27FC236}">
                <a16:creationId xmlns:a16="http://schemas.microsoft.com/office/drawing/2014/main" id="{41A2F990-0A41-41A8-BC99-7D9F2A18C2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8325" y="4922838"/>
            <a:ext cx="947738" cy="1741487"/>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1205" name="Picture 21">
            <a:extLst>
              <a:ext uri="{FF2B5EF4-FFF2-40B4-BE49-F238E27FC236}">
                <a16:creationId xmlns:a16="http://schemas.microsoft.com/office/drawing/2014/main" id="{A994C1E8-B215-450E-B40B-B76EED2097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3063" y="4913313"/>
            <a:ext cx="1003300" cy="1747837"/>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9044F763-DCA4-4014-8101-907A42BE6B43}"/>
              </a:ext>
            </a:extLst>
          </p:cNvPr>
          <p:cNvSpPr>
            <a:spLocks noGrp="1" noChangeArrowheads="1"/>
          </p:cNvSpPr>
          <p:nvPr>
            <p:ph type="title"/>
          </p:nvPr>
        </p:nvSpPr>
        <p:spPr>
          <a:noFill/>
        </p:spPr>
        <p:txBody>
          <a:bodyPr/>
          <a:lstStyle/>
          <a:p>
            <a:r>
              <a:rPr lang="en-GB" altLang="en-US">
                <a:effectLst/>
              </a:rPr>
              <a:t>Analogue modelling</a:t>
            </a:r>
          </a:p>
        </p:txBody>
      </p:sp>
      <p:sp>
        <p:nvSpPr>
          <p:cNvPr id="232451" name="Rectangle 3">
            <a:extLst>
              <a:ext uri="{FF2B5EF4-FFF2-40B4-BE49-F238E27FC236}">
                <a16:creationId xmlns:a16="http://schemas.microsoft.com/office/drawing/2014/main" id="{74634515-FF11-4256-97C2-5694FA06CD36}"/>
              </a:ext>
            </a:extLst>
          </p:cNvPr>
          <p:cNvSpPr>
            <a:spLocks noGrp="1" noChangeArrowheads="1"/>
          </p:cNvSpPr>
          <p:nvPr>
            <p:ph type="body" sz="half" idx="1"/>
          </p:nvPr>
        </p:nvSpPr>
        <p:spPr>
          <a:xfrm>
            <a:off x="114300" y="784225"/>
            <a:ext cx="8910638" cy="1035050"/>
          </a:xfrm>
          <a:noFill/>
        </p:spPr>
        <p:txBody>
          <a:bodyPr/>
          <a:lstStyle/>
          <a:p>
            <a:pPr marL="177800" indent="-177800">
              <a:spcBef>
                <a:spcPct val="75000"/>
              </a:spcBef>
            </a:pPr>
            <a:r>
              <a:rPr lang="en-GB" altLang="en-US" sz="1700" dirty="0">
                <a:solidFill>
                  <a:srgbClr val="FF6600"/>
                </a:solidFill>
                <a:effectLst/>
              </a:rPr>
              <a:t>Experiments performed on analogue materials</a:t>
            </a:r>
            <a:r>
              <a:rPr lang="en-GB" altLang="en-US" sz="1700" dirty="0">
                <a:effectLst/>
              </a:rPr>
              <a:t> have been tremendously helpful for establishing the evolution of structures within strike-slip fault zones and for refining our kinematic intuitions</a:t>
            </a:r>
          </a:p>
        </p:txBody>
      </p:sp>
      <p:sp>
        <p:nvSpPr>
          <p:cNvPr id="232456" name="Text Box 8">
            <a:extLst>
              <a:ext uri="{FF2B5EF4-FFF2-40B4-BE49-F238E27FC236}">
                <a16:creationId xmlns:a16="http://schemas.microsoft.com/office/drawing/2014/main" id="{FFA81115-FF19-42A1-8F80-072BEFE760A2}"/>
              </a:ext>
            </a:extLst>
          </p:cNvPr>
          <p:cNvSpPr txBox="1">
            <a:spLocks noChangeArrowheads="1"/>
          </p:cNvSpPr>
          <p:nvPr/>
        </p:nvSpPr>
        <p:spPr bwMode="auto">
          <a:xfrm>
            <a:off x="114300" y="4651375"/>
            <a:ext cx="4321175"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mn-lt"/>
              </a:rPr>
              <a:t>This simple experimental set up has been developed to incorporate</a:t>
            </a:r>
            <a:r>
              <a:rPr lang="en-GB" altLang="en-US" sz="1700" dirty="0">
                <a:solidFill>
                  <a:srgbClr val="FF66FF"/>
                </a:solidFill>
                <a:effectLst>
                  <a:outerShdw blurRad="38100" dist="38100" dir="2700000" algn="tl">
                    <a:srgbClr val="000000"/>
                  </a:outerShdw>
                </a:effectLst>
                <a:latin typeface="+mn-lt"/>
              </a:rPr>
              <a:t> non-planar faults </a:t>
            </a:r>
            <a:r>
              <a:rPr lang="en-GB" altLang="en-US" sz="1700" dirty="0">
                <a:effectLst>
                  <a:outerShdw blurRad="38100" dist="38100" dir="2700000" algn="tl">
                    <a:srgbClr val="000000"/>
                  </a:outerShdw>
                </a:effectLst>
                <a:latin typeface="+mn-lt"/>
              </a:rPr>
              <a:t>and</a:t>
            </a:r>
            <a:r>
              <a:rPr lang="en-GB" altLang="en-US" sz="1700" dirty="0">
                <a:solidFill>
                  <a:srgbClr val="FF66FF"/>
                </a:solidFill>
                <a:effectLst>
                  <a:outerShdw blurRad="38100" dist="38100" dir="2700000" algn="tl">
                    <a:srgbClr val="000000"/>
                  </a:outerShdw>
                </a:effectLst>
                <a:latin typeface="+mn-lt"/>
              </a:rPr>
              <a:t> materials with different properties </a:t>
            </a:r>
            <a:r>
              <a:rPr lang="en-GB" altLang="en-US" sz="1700" dirty="0">
                <a:effectLst>
                  <a:outerShdw blurRad="38100" dist="38100" dir="2700000" algn="tl">
                    <a:srgbClr val="000000"/>
                  </a:outerShdw>
                </a:effectLst>
                <a:latin typeface="+mn-lt"/>
              </a:rPr>
              <a:t>(including sands instead of clay), but the essential principles of the experiment remain the same</a:t>
            </a:r>
          </a:p>
        </p:txBody>
      </p:sp>
      <p:pic>
        <p:nvPicPr>
          <p:cNvPr id="232457" name="Picture 9">
            <a:extLst>
              <a:ext uri="{FF2B5EF4-FFF2-40B4-BE49-F238E27FC236}">
                <a16:creationId xmlns:a16="http://schemas.microsoft.com/office/drawing/2014/main" id="{AE7F685A-5C8B-49DC-952D-B5BD754B4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1849438"/>
            <a:ext cx="3224213" cy="193357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2459" name="Picture 11" descr="08a3">
            <a:extLst>
              <a:ext uri="{FF2B5EF4-FFF2-40B4-BE49-F238E27FC236}">
                <a16:creationId xmlns:a16="http://schemas.microsoft.com/office/drawing/2014/main" id="{AF41AD53-253A-4EB0-917D-771D905E5E75}"/>
              </a:ext>
            </a:extLst>
          </p:cNvPr>
          <p:cNvPicPr>
            <a:picLocks noGrp="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4913313" y="4230688"/>
            <a:ext cx="3908425" cy="218281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2462" name="Rectangle 14">
            <a:extLst>
              <a:ext uri="{FF2B5EF4-FFF2-40B4-BE49-F238E27FC236}">
                <a16:creationId xmlns:a16="http://schemas.microsoft.com/office/drawing/2014/main" id="{078B4437-902E-4BB6-B6C1-FCE66468630D}"/>
              </a:ext>
            </a:extLst>
          </p:cNvPr>
          <p:cNvSpPr>
            <a:spLocks noChangeArrowheads="1"/>
          </p:cNvSpPr>
          <p:nvPr/>
        </p:nvSpPr>
        <p:spPr bwMode="auto">
          <a:xfrm>
            <a:off x="114300" y="1917700"/>
            <a:ext cx="4838700" cy="263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50000"/>
              </a:spcBef>
            </a:pPr>
            <a:r>
              <a:rPr lang="en-GB" altLang="en-US" sz="1700" dirty="0">
                <a:effectLst/>
              </a:rPr>
              <a:t>The classical experiments are those of </a:t>
            </a:r>
            <a:r>
              <a:rPr lang="en-GB" altLang="en-US" sz="1700" dirty="0">
                <a:solidFill>
                  <a:srgbClr val="FF66FF"/>
                </a:solidFill>
                <a:effectLst/>
              </a:rPr>
              <a:t>Riedel in 1929</a:t>
            </a:r>
            <a:r>
              <a:rPr lang="en-GB" altLang="en-US" sz="1700" dirty="0">
                <a:effectLst/>
              </a:rPr>
              <a:t> who set up two rigid rectangular blocks to represent basement, with a thick tablet of clay on top to represent the cover. By moving the blocks in a strike-slip sense, the </a:t>
            </a:r>
            <a:r>
              <a:rPr lang="en-GB" altLang="en-US" sz="1700" dirty="0">
                <a:solidFill>
                  <a:srgbClr val="FF66FF"/>
                </a:solidFill>
                <a:effectLst/>
              </a:rPr>
              <a:t>traction at the interface</a:t>
            </a:r>
            <a:r>
              <a:rPr lang="en-GB" altLang="en-US" sz="1700" dirty="0">
                <a:effectLst/>
              </a:rPr>
              <a:t> between basement and cover produces stresses in the cover and hence it deforms</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0C0E3AD3-88D5-4821-93E4-8152C4230DEC}"/>
              </a:ext>
            </a:extLst>
          </p:cNvPr>
          <p:cNvSpPr>
            <a:spLocks noGrp="1" noChangeArrowheads="1"/>
          </p:cNvSpPr>
          <p:nvPr>
            <p:ph type="title"/>
          </p:nvPr>
        </p:nvSpPr>
        <p:spPr>
          <a:noFill/>
        </p:spPr>
        <p:txBody>
          <a:bodyPr/>
          <a:lstStyle/>
          <a:p>
            <a:r>
              <a:rPr lang="en-GB" altLang="en-US">
                <a:effectLst/>
              </a:rPr>
              <a:t>Associated fractures</a:t>
            </a:r>
          </a:p>
        </p:txBody>
      </p:sp>
      <p:sp>
        <p:nvSpPr>
          <p:cNvPr id="223235" name="Rectangle 3">
            <a:extLst>
              <a:ext uri="{FF2B5EF4-FFF2-40B4-BE49-F238E27FC236}">
                <a16:creationId xmlns:a16="http://schemas.microsoft.com/office/drawing/2014/main" id="{8237A79D-60AF-4C7E-B869-9B148C9DE766}"/>
              </a:ext>
            </a:extLst>
          </p:cNvPr>
          <p:cNvSpPr>
            <a:spLocks noGrp="1" noChangeArrowheads="1"/>
          </p:cNvSpPr>
          <p:nvPr>
            <p:ph type="body" sz="half" idx="1"/>
          </p:nvPr>
        </p:nvSpPr>
        <p:spPr>
          <a:xfrm>
            <a:off x="85725" y="766763"/>
            <a:ext cx="8853488" cy="1620837"/>
          </a:xfrm>
          <a:noFill/>
        </p:spPr>
        <p:txBody>
          <a:bodyPr/>
          <a:lstStyle/>
          <a:p>
            <a:pPr marL="177800" indent="-177800">
              <a:spcBef>
                <a:spcPct val="75000"/>
              </a:spcBef>
            </a:pPr>
            <a:r>
              <a:rPr lang="en-GB" altLang="en-US" sz="1700" dirty="0">
                <a:effectLst/>
              </a:rPr>
              <a:t>Riedel found that two sets of shear fractures (</a:t>
            </a:r>
            <a:r>
              <a:rPr lang="en-GB" altLang="en-US" sz="1700" dirty="0">
                <a:solidFill>
                  <a:srgbClr val="FF6600"/>
                </a:solidFill>
                <a:effectLst/>
              </a:rPr>
              <a:t>R and R´</a:t>
            </a:r>
            <a:r>
              <a:rPr lang="en-GB" altLang="en-US" sz="1700" dirty="0">
                <a:effectLst/>
              </a:rPr>
              <a:t>) develop oblique to the fault margins. These are now known as </a:t>
            </a:r>
            <a:r>
              <a:rPr lang="en-GB" altLang="en-US" sz="1700" dirty="0">
                <a:solidFill>
                  <a:srgbClr val="FF66FF"/>
                </a:solidFill>
                <a:effectLst/>
              </a:rPr>
              <a:t>Riedel shears</a:t>
            </a:r>
            <a:r>
              <a:rPr lang="en-GB" altLang="en-US" sz="1700" dirty="0">
                <a:effectLst/>
              </a:rPr>
              <a:t> and may be rationalized as a </a:t>
            </a:r>
            <a:r>
              <a:rPr lang="en-GB" altLang="en-US" sz="1700" dirty="0">
                <a:solidFill>
                  <a:srgbClr val="FF66FF"/>
                </a:solidFill>
                <a:effectLst/>
              </a:rPr>
              <a:t>conjugate fracture set</a:t>
            </a:r>
            <a:r>
              <a:rPr lang="en-GB" altLang="en-US" sz="1700" dirty="0">
                <a:effectLst/>
              </a:rPr>
              <a:t> about the direction of the maximum compressive principal stress</a:t>
            </a:r>
          </a:p>
          <a:p>
            <a:pPr marL="177800" indent="-177800">
              <a:spcBef>
                <a:spcPct val="75000"/>
              </a:spcBef>
            </a:pPr>
            <a:r>
              <a:rPr lang="en-GB" altLang="en-US" sz="1700" dirty="0">
                <a:effectLst/>
              </a:rPr>
              <a:t>Of these two sets, the R-shears are the ones that develop </a:t>
            </a:r>
            <a:r>
              <a:rPr lang="en-GB" altLang="en-US" sz="1700" dirty="0">
                <a:solidFill>
                  <a:srgbClr val="FF66FF"/>
                </a:solidFill>
                <a:effectLst/>
              </a:rPr>
              <a:t>more frequently</a:t>
            </a:r>
          </a:p>
        </p:txBody>
      </p:sp>
      <p:pic>
        <p:nvPicPr>
          <p:cNvPr id="223236" name="Picture 4">
            <a:extLst>
              <a:ext uri="{FF2B5EF4-FFF2-40B4-BE49-F238E27FC236}">
                <a16:creationId xmlns:a16="http://schemas.microsoft.com/office/drawing/2014/main" id="{F99BF839-6A74-451D-ABF8-00A7EEB83138}"/>
              </a:ext>
            </a:extLst>
          </p:cNvPr>
          <p:cNvPicPr>
            <a:picLocks noGrp="1" noChangeAspect="1" noChangeArrowheads="1"/>
          </p:cNvPicPr>
          <p:nvPr>
            <p:ph sz="quarter" idx="2"/>
          </p:nvPr>
        </p:nvPicPr>
        <p:blipFill>
          <a:blip r:embed="rId3">
            <a:lum bright="-6000" contrast="20000"/>
            <a:extLst>
              <a:ext uri="{28A0092B-C50C-407E-A947-70E740481C1C}">
                <a14:useLocalDpi xmlns:a14="http://schemas.microsoft.com/office/drawing/2010/main" val="0"/>
              </a:ext>
            </a:extLst>
          </a:blip>
          <a:srcRect/>
          <a:stretch>
            <a:fillRect/>
          </a:stretch>
        </p:blipFill>
        <p:spPr>
          <a:xfrm>
            <a:off x="349250" y="2497138"/>
            <a:ext cx="2320925" cy="2208212"/>
          </a:xfrm>
          <a:noFill/>
          <a:ln w="38100" cap="flat">
            <a:solidFill>
              <a:schemeClr val="bg2"/>
            </a:solidFill>
            <a:miter lim="800000"/>
            <a:headEnd/>
            <a:tailEnd/>
          </a:ln>
        </p:spPr>
      </p:pic>
      <p:pic>
        <p:nvPicPr>
          <p:cNvPr id="223242" name="Picture 10">
            <a:extLst>
              <a:ext uri="{FF2B5EF4-FFF2-40B4-BE49-F238E27FC236}">
                <a16:creationId xmlns:a16="http://schemas.microsoft.com/office/drawing/2014/main" id="{2BA1D2B5-5FB3-467F-9B16-F54BA106CEA1}"/>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93675" y="4908550"/>
            <a:ext cx="2613025" cy="1693863"/>
          </a:xfrm>
          <a:noFill/>
          <a:ln w="38100" cap="flat">
            <a:solidFill>
              <a:schemeClr val="bg2"/>
            </a:solidFill>
            <a:miter lim="800000"/>
            <a:headEnd/>
            <a:tailEnd/>
          </a:ln>
        </p:spPr>
      </p:pic>
      <p:pic>
        <p:nvPicPr>
          <p:cNvPr id="223245" name="Picture 4" descr="Fault_1766">
            <a:extLst>
              <a:ext uri="{FF2B5EF4-FFF2-40B4-BE49-F238E27FC236}">
                <a16:creationId xmlns:a16="http://schemas.microsoft.com/office/drawing/2014/main" id="{025721FF-D1D4-49D2-9543-8AB6CC8DF4F3}"/>
              </a:ext>
            </a:extLst>
          </p:cNvPr>
          <p:cNvPicPr>
            <a:picLocks noChangeAspect="1" noChangeArrowheads="1"/>
          </p:cNvPicPr>
          <p:nvPr/>
        </p:nvPicPr>
        <p:blipFill>
          <a:blip r:embed="rId5">
            <a:lum bright="-8000"/>
            <a:extLst>
              <a:ext uri="{28A0092B-C50C-407E-A947-70E740481C1C}">
                <a14:useLocalDpi xmlns:a14="http://schemas.microsoft.com/office/drawing/2010/main" val="0"/>
              </a:ext>
            </a:extLst>
          </a:blip>
          <a:srcRect/>
          <a:stretch>
            <a:fillRect/>
          </a:stretch>
        </p:blipFill>
        <p:spPr bwMode="auto">
          <a:xfrm>
            <a:off x="3025775" y="2508250"/>
            <a:ext cx="5883275" cy="30972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3246" name="Text Box 14">
            <a:extLst>
              <a:ext uri="{FF2B5EF4-FFF2-40B4-BE49-F238E27FC236}">
                <a16:creationId xmlns:a16="http://schemas.microsoft.com/office/drawing/2014/main" id="{ACCA97E3-FB6C-436D-8AF7-B64CD48D6A91}"/>
              </a:ext>
            </a:extLst>
          </p:cNvPr>
          <p:cNvSpPr txBox="1">
            <a:spLocks noChangeArrowheads="1"/>
          </p:cNvSpPr>
          <p:nvPr/>
        </p:nvSpPr>
        <p:spPr bwMode="auto">
          <a:xfrm>
            <a:off x="5314950" y="4730750"/>
            <a:ext cx="377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latin typeface="Arial" panose="020B0604020202020204" pitchFamily="34" charset="0"/>
              </a:rPr>
              <a:t>R</a:t>
            </a:r>
          </a:p>
        </p:txBody>
      </p:sp>
      <p:sp>
        <p:nvSpPr>
          <p:cNvPr id="223247" name="Text Box 15">
            <a:extLst>
              <a:ext uri="{FF2B5EF4-FFF2-40B4-BE49-F238E27FC236}">
                <a16:creationId xmlns:a16="http://schemas.microsoft.com/office/drawing/2014/main" id="{E7EC536D-5401-4609-9720-38FE44319E0C}"/>
              </a:ext>
            </a:extLst>
          </p:cNvPr>
          <p:cNvSpPr txBox="1">
            <a:spLocks noChangeArrowheads="1"/>
          </p:cNvSpPr>
          <p:nvPr/>
        </p:nvSpPr>
        <p:spPr bwMode="auto">
          <a:xfrm>
            <a:off x="6721475" y="5040313"/>
            <a:ext cx="5286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latin typeface="Arial" panose="020B0604020202020204" pitchFamily="34" charset="0"/>
              </a:rPr>
              <a:t>R´</a:t>
            </a:r>
          </a:p>
        </p:txBody>
      </p:sp>
      <p:sp>
        <p:nvSpPr>
          <p:cNvPr id="223250" name="Line 18">
            <a:extLst>
              <a:ext uri="{FF2B5EF4-FFF2-40B4-BE49-F238E27FC236}">
                <a16:creationId xmlns:a16="http://schemas.microsoft.com/office/drawing/2014/main" id="{E109BEF4-696C-454D-B918-9CB301B5A0AD}"/>
              </a:ext>
            </a:extLst>
          </p:cNvPr>
          <p:cNvSpPr>
            <a:spLocks noChangeShapeType="1"/>
          </p:cNvSpPr>
          <p:nvPr/>
        </p:nvSpPr>
        <p:spPr bwMode="auto">
          <a:xfrm>
            <a:off x="5556250" y="4629150"/>
            <a:ext cx="206375" cy="236538"/>
          </a:xfrm>
          <a:prstGeom prst="line">
            <a:avLst/>
          </a:prstGeom>
          <a:noFill/>
          <a:ln w="1905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3251" name="Line 19">
            <a:extLst>
              <a:ext uri="{FF2B5EF4-FFF2-40B4-BE49-F238E27FC236}">
                <a16:creationId xmlns:a16="http://schemas.microsoft.com/office/drawing/2014/main" id="{554D9409-DF16-467B-9390-695E88D25299}"/>
              </a:ext>
            </a:extLst>
          </p:cNvPr>
          <p:cNvSpPr>
            <a:spLocks noChangeShapeType="1"/>
          </p:cNvSpPr>
          <p:nvPr/>
        </p:nvSpPr>
        <p:spPr bwMode="auto">
          <a:xfrm flipV="1">
            <a:off x="6686550" y="4905375"/>
            <a:ext cx="173038" cy="265113"/>
          </a:xfrm>
          <a:prstGeom prst="line">
            <a:avLst/>
          </a:prstGeom>
          <a:noFill/>
          <a:ln w="1905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3253" name="Freeform 21">
            <a:extLst>
              <a:ext uri="{FF2B5EF4-FFF2-40B4-BE49-F238E27FC236}">
                <a16:creationId xmlns:a16="http://schemas.microsoft.com/office/drawing/2014/main" id="{896015A4-2A56-460D-ABA7-B3AA6E08C450}"/>
              </a:ext>
            </a:extLst>
          </p:cNvPr>
          <p:cNvSpPr>
            <a:spLocks/>
          </p:cNvSpPr>
          <p:nvPr/>
        </p:nvSpPr>
        <p:spPr bwMode="auto">
          <a:xfrm>
            <a:off x="6249988" y="3967163"/>
            <a:ext cx="244475" cy="112712"/>
          </a:xfrm>
          <a:custGeom>
            <a:avLst/>
            <a:gdLst>
              <a:gd name="T0" fmla="*/ 0 w 154"/>
              <a:gd name="T1" fmla="*/ 0 h 71"/>
              <a:gd name="T2" fmla="*/ 154 w 154"/>
              <a:gd name="T3" fmla="*/ 71 h 71"/>
              <a:gd name="T4" fmla="*/ 125 w 154"/>
              <a:gd name="T5" fmla="*/ 12 h 71"/>
            </a:gdLst>
            <a:ahLst/>
            <a:cxnLst>
              <a:cxn ang="0">
                <a:pos x="T0" y="T1"/>
              </a:cxn>
              <a:cxn ang="0">
                <a:pos x="T2" y="T3"/>
              </a:cxn>
              <a:cxn ang="0">
                <a:pos x="T4" y="T5"/>
              </a:cxn>
            </a:cxnLst>
            <a:rect l="0" t="0" r="r" b="b"/>
            <a:pathLst>
              <a:path w="154" h="71">
                <a:moveTo>
                  <a:pt x="0" y="0"/>
                </a:moveTo>
                <a:lnTo>
                  <a:pt x="154" y="71"/>
                </a:lnTo>
                <a:lnTo>
                  <a:pt x="125" y="12"/>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3256" name="Text Box 24">
            <a:extLst>
              <a:ext uri="{FF2B5EF4-FFF2-40B4-BE49-F238E27FC236}">
                <a16:creationId xmlns:a16="http://schemas.microsoft.com/office/drawing/2014/main" id="{0F62AE42-559E-4E68-BC12-6DD090CB9E4B}"/>
              </a:ext>
            </a:extLst>
          </p:cNvPr>
          <p:cNvSpPr txBox="1">
            <a:spLocks noChangeArrowheads="1"/>
          </p:cNvSpPr>
          <p:nvPr/>
        </p:nvSpPr>
        <p:spPr bwMode="auto">
          <a:xfrm>
            <a:off x="3321050" y="5710238"/>
            <a:ext cx="52070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Riedel shears developed in a field (soil over bedrock) during the Christchurch earthquake, 4 Sept 2010; dextral offset shown by irrigation ditch and Riedel shears</a:t>
            </a:r>
          </a:p>
        </p:txBody>
      </p:sp>
      <p:sp>
        <p:nvSpPr>
          <p:cNvPr id="223257" name="Freeform 25">
            <a:extLst>
              <a:ext uri="{FF2B5EF4-FFF2-40B4-BE49-F238E27FC236}">
                <a16:creationId xmlns:a16="http://schemas.microsoft.com/office/drawing/2014/main" id="{FF6D5CCE-02C9-4C66-8432-B64E410F4F9C}"/>
              </a:ext>
            </a:extLst>
          </p:cNvPr>
          <p:cNvSpPr>
            <a:spLocks/>
          </p:cNvSpPr>
          <p:nvPr/>
        </p:nvSpPr>
        <p:spPr bwMode="auto">
          <a:xfrm>
            <a:off x="811213" y="2676525"/>
            <a:ext cx="1393825" cy="74613"/>
          </a:xfrm>
          <a:custGeom>
            <a:avLst/>
            <a:gdLst>
              <a:gd name="T0" fmla="*/ 878 w 878"/>
              <a:gd name="T1" fmla="*/ 47 h 47"/>
              <a:gd name="T2" fmla="*/ 0 w 878"/>
              <a:gd name="T3" fmla="*/ 47 h 47"/>
              <a:gd name="T4" fmla="*/ 114 w 878"/>
              <a:gd name="T5" fmla="*/ 0 h 47"/>
            </a:gdLst>
            <a:ahLst/>
            <a:cxnLst>
              <a:cxn ang="0">
                <a:pos x="T0" y="T1"/>
              </a:cxn>
              <a:cxn ang="0">
                <a:pos x="T2" y="T3"/>
              </a:cxn>
              <a:cxn ang="0">
                <a:pos x="T4" y="T5"/>
              </a:cxn>
            </a:cxnLst>
            <a:rect l="0" t="0" r="r" b="b"/>
            <a:pathLst>
              <a:path w="878" h="47">
                <a:moveTo>
                  <a:pt x="878" y="47"/>
                </a:moveTo>
                <a:lnTo>
                  <a:pt x="0" y="47"/>
                </a:lnTo>
                <a:lnTo>
                  <a:pt x="114"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3258" name="Freeform 26">
            <a:extLst>
              <a:ext uri="{FF2B5EF4-FFF2-40B4-BE49-F238E27FC236}">
                <a16:creationId xmlns:a16="http://schemas.microsoft.com/office/drawing/2014/main" id="{6F47A088-B3A1-48F7-B1B4-A971E0398710}"/>
              </a:ext>
            </a:extLst>
          </p:cNvPr>
          <p:cNvSpPr>
            <a:spLocks/>
          </p:cNvSpPr>
          <p:nvPr/>
        </p:nvSpPr>
        <p:spPr bwMode="auto">
          <a:xfrm rot="10800000">
            <a:off x="836613" y="4516438"/>
            <a:ext cx="1393825" cy="74612"/>
          </a:xfrm>
          <a:custGeom>
            <a:avLst/>
            <a:gdLst>
              <a:gd name="T0" fmla="*/ 878 w 878"/>
              <a:gd name="T1" fmla="*/ 47 h 47"/>
              <a:gd name="T2" fmla="*/ 0 w 878"/>
              <a:gd name="T3" fmla="*/ 47 h 47"/>
              <a:gd name="T4" fmla="*/ 114 w 878"/>
              <a:gd name="T5" fmla="*/ 0 h 47"/>
            </a:gdLst>
            <a:ahLst/>
            <a:cxnLst>
              <a:cxn ang="0">
                <a:pos x="T0" y="T1"/>
              </a:cxn>
              <a:cxn ang="0">
                <a:pos x="T2" y="T3"/>
              </a:cxn>
              <a:cxn ang="0">
                <a:pos x="T4" y="T5"/>
              </a:cxn>
            </a:cxnLst>
            <a:rect l="0" t="0" r="r" b="b"/>
            <a:pathLst>
              <a:path w="878" h="47">
                <a:moveTo>
                  <a:pt x="878" y="47"/>
                </a:moveTo>
                <a:lnTo>
                  <a:pt x="0" y="47"/>
                </a:lnTo>
                <a:lnTo>
                  <a:pt x="114"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56AF17A4-C7DB-4CC8-9EA2-200F9C62A044}"/>
              </a:ext>
            </a:extLst>
          </p:cNvPr>
          <p:cNvSpPr>
            <a:spLocks noGrp="1" noChangeArrowheads="1"/>
          </p:cNvSpPr>
          <p:nvPr>
            <p:ph type="title"/>
          </p:nvPr>
        </p:nvSpPr>
        <p:spPr>
          <a:noFill/>
        </p:spPr>
        <p:txBody>
          <a:bodyPr/>
          <a:lstStyle/>
          <a:p>
            <a:r>
              <a:rPr lang="en-GB" altLang="en-US">
                <a:effectLst/>
              </a:rPr>
              <a:t>Associated fractures  2</a:t>
            </a:r>
          </a:p>
        </p:txBody>
      </p:sp>
      <p:sp>
        <p:nvSpPr>
          <p:cNvPr id="224259" name="Rectangle 3">
            <a:extLst>
              <a:ext uri="{FF2B5EF4-FFF2-40B4-BE49-F238E27FC236}">
                <a16:creationId xmlns:a16="http://schemas.microsoft.com/office/drawing/2014/main" id="{3B7DCB24-5ACA-4674-BE3B-374812CE504E}"/>
              </a:ext>
            </a:extLst>
          </p:cNvPr>
          <p:cNvSpPr>
            <a:spLocks noGrp="1" noChangeArrowheads="1"/>
          </p:cNvSpPr>
          <p:nvPr>
            <p:ph type="body" sz="half" idx="1"/>
          </p:nvPr>
        </p:nvSpPr>
        <p:spPr>
          <a:xfrm>
            <a:off x="123825" y="890588"/>
            <a:ext cx="3546475" cy="5305425"/>
          </a:xfrm>
          <a:noFill/>
        </p:spPr>
        <p:txBody>
          <a:bodyPr/>
          <a:lstStyle/>
          <a:p>
            <a:pPr marL="177800" indent="-177800">
              <a:spcBef>
                <a:spcPct val="75000"/>
              </a:spcBef>
            </a:pPr>
            <a:r>
              <a:rPr lang="en-GB" altLang="en-US" sz="1700" dirty="0">
                <a:effectLst/>
              </a:rPr>
              <a:t>Other important secondary fractures that are associated with strike-slip faults are:</a:t>
            </a:r>
          </a:p>
          <a:p>
            <a:pPr marL="177800" indent="-177800">
              <a:spcBef>
                <a:spcPct val="30000"/>
              </a:spcBef>
              <a:buFont typeface="Times" panose="02020603050405020304" pitchFamily="18" charset="0"/>
              <a:buNone/>
            </a:pPr>
            <a:r>
              <a:rPr lang="en-GB" altLang="en-US" sz="1700" dirty="0">
                <a:effectLst/>
              </a:rPr>
              <a:t>	</a:t>
            </a:r>
            <a:r>
              <a:rPr lang="en-GB" altLang="en-US" sz="1700" dirty="0">
                <a:solidFill>
                  <a:srgbClr val="FF6600"/>
                </a:solidFill>
                <a:effectLst/>
              </a:rPr>
              <a:t>P-shears</a:t>
            </a:r>
            <a:r>
              <a:rPr lang="en-GB" altLang="en-US" sz="1700" dirty="0">
                <a:effectLst/>
              </a:rPr>
              <a:t>: synthetic to the main fault</a:t>
            </a:r>
          </a:p>
          <a:p>
            <a:pPr marL="177800" indent="-177800">
              <a:spcBef>
                <a:spcPct val="30000"/>
              </a:spcBef>
              <a:buFont typeface="Times" panose="02020603050405020304" pitchFamily="18" charset="0"/>
              <a:buNone/>
            </a:pPr>
            <a:r>
              <a:rPr lang="en-GB" altLang="en-US" sz="1700" dirty="0">
                <a:effectLst/>
              </a:rPr>
              <a:t>	</a:t>
            </a:r>
            <a:r>
              <a:rPr lang="en-GB" altLang="en-US" sz="1700" dirty="0">
                <a:solidFill>
                  <a:srgbClr val="FF6600"/>
                </a:solidFill>
                <a:effectLst/>
              </a:rPr>
              <a:t>Y-shears</a:t>
            </a:r>
            <a:r>
              <a:rPr lang="en-GB" altLang="en-US" sz="1700" dirty="0">
                <a:effectLst/>
              </a:rPr>
              <a:t>: parallel to the main fault</a:t>
            </a:r>
          </a:p>
          <a:p>
            <a:pPr marL="177800" indent="-177800">
              <a:spcBef>
                <a:spcPct val="30000"/>
              </a:spcBef>
              <a:buFont typeface="Times" panose="02020603050405020304" pitchFamily="18" charset="0"/>
              <a:buNone/>
            </a:pPr>
            <a:r>
              <a:rPr lang="en-GB" altLang="en-US" sz="1700" dirty="0">
                <a:effectLst/>
              </a:rPr>
              <a:t>	</a:t>
            </a:r>
            <a:r>
              <a:rPr lang="en-GB" altLang="en-US" sz="1700" dirty="0">
                <a:solidFill>
                  <a:srgbClr val="FF6600"/>
                </a:solidFill>
                <a:effectLst/>
              </a:rPr>
              <a:t>T-fractures</a:t>
            </a:r>
            <a:r>
              <a:rPr lang="en-GB" altLang="en-US" sz="1700" dirty="0">
                <a:effectLst/>
              </a:rPr>
              <a:t>: extension fractures (tension gashes) that bisect the angle between the Riedel shears (</a:t>
            </a:r>
            <a:r>
              <a:rPr lang="en-GB" altLang="en-US" sz="1700" i="1" dirty="0">
                <a:effectLst/>
              </a:rPr>
              <a:t>i.e</a:t>
            </a:r>
            <a:r>
              <a:rPr lang="en-GB" altLang="en-US" sz="1700" dirty="0">
                <a:effectLst/>
              </a:rPr>
              <a:t>., they are parallel to </a:t>
            </a:r>
            <a:r>
              <a:rPr lang="el-GR" altLang="en-US" sz="1800" i="1" dirty="0">
                <a:effectLst/>
                <a:latin typeface="Cambria Math" panose="02040503050406030204" pitchFamily="18" charset="0"/>
                <a:ea typeface="Cambria Math" panose="02040503050406030204" pitchFamily="18" charset="0"/>
              </a:rPr>
              <a:t>σ</a:t>
            </a:r>
            <a:r>
              <a:rPr lang="en-GB" altLang="en-US" sz="1700" baseline="-25000" dirty="0">
                <a:effectLst/>
              </a:rPr>
              <a:t>1</a:t>
            </a:r>
            <a:r>
              <a:rPr lang="en-GB" altLang="en-US" sz="1700" dirty="0">
                <a:effectLst/>
              </a:rPr>
              <a:t>)</a:t>
            </a:r>
          </a:p>
          <a:p>
            <a:pPr marL="177800" indent="-177800">
              <a:spcBef>
                <a:spcPct val="75000"/>
              </a:spcBef>
            </a:pPr>
            <a:r>
              <a:rPr lang="en-GB" altLang="en-US" sz="1700" dirty="0">
                <a:effectLst/>
              </a:rPr>
              <a:t>In large strike-slip fault zones </a:t>
            </a:r>
            <a:r>
              <a:rPr lang="en-GB" altLang="en-US" sz="1700" dirty="0">
                <a:solidFill>
                  <a:srgbClr val="FF6600"/>
                </a:solidFill>
                <a:effectLst/>
              </a:rPr>
              <a:t>normal faults</a:t>
            </a:r>
            <a:r>
              <a:rPr lang="en-GB" altLang="en-US" sz="1700" dirty="0">
                <a:effectLst/>
              </a:rPr>
              <a:t> and </a:t>
            </a:r>
            <a:r>
              <a:rPr lang="en-GB" altLang="en-US" sz="1700" dirty="0">
                <a:solidFill>
                  <a:srgbClr val="FF6600"/>
                </a:solidFill>
                <a:effectLst/>
              </a:rPr>
              <a:t>reverse faults</a:t>
            </a:r>
            <a:r>
              <a:rPr lang="en-GB" altLang="en-US" sz="1700" dirty="0">
                <a:effectLst/>
              </a:rPr>
              <a:t> form approximately parallel to </a:t>
            </a:r>
            <a:r>
              <a:rPr lang="el-GR" altLang="en-US" sz="1800" i="1" dirty="0">
                <a:effectLst/>
                <a:latin typeface="Cambria Math" panose="02040503050406030204" pitchFamily="18" charset="0"/>
                <a:ea typeface="Cambria Math" panose="02040503050406030204" pitchFamily="18" charset="0"/>
              </a:rPr>
              <a:t>σ</a:t>
            </a:r>
            <a:r>
              <a:rPr lang="en-GB" altLang="en-US" sz="1700" baseline="-25000" dirty="0">
                <a:effectLst/>
              </a:rPr>
              <a:t>1</a:t>
            </a:r>
            <a:r>
              <a:rPr lang="en-GB" altLang="en-US" sz="1700" dirty="0">
                <a:effectLst/>
              </a:rPr>
              <a:t> and </a:t>
            </a:r>
            <a:r>
              <a:rPr lang="el-GR" altLang="en-US" sz="1800" i="1" dirty="0">
                <a:effectLst/>
                <a:latin typeface="Cambria Math" panose="02040503050406030204" pitchFamily="18" charset="0"/>
                <a:ea typeface="Cambria Math" panose="02040503050406030204" pitchFamily="18" charset="0"/>
              </a:rPr>
              <a:t>σ</a:t>
            </a:r>
            <a:r>
              <a:rPr lang="en-GB" altLang="en-US" sz="1700" baseline="-25000" dirty="0">
                <a:effectLst/>
              </a:rPr>
              <a:t>3</a:t>
            </a:r>
            <a:r>
              <a:rPr lang="en-GB" altLang="en-US" sz="1700" dirty="0">
                <a:effectLst/>
              </a:rPr>
              <a:t> respectively</a:t>
            </a:r>
          </a:p>
        </p:txBody>
      </p:sp>
      <p:pic>
        <p:nvPicPr>
          <p:cNvPr id="224260" name="Picture 4">
            <a:extLst>
              <a:ext uri="{FF2B5EF4-FFF2-40B4-BE49-F238E27FC236}">
                <a16:creationId xmlns:a16="http://schemas.microsoft.com/office/drawing/2014/main" id="{6FD75F7E-E6BE-4953-A6AF-68B5697F6D29}"/>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137025" y="1035050"/>
            <a:ext cx="4778375" cy="2212975"/>
          </a:xfrm>
          <a:noFill/>
          <a:ln w="38100" cap="flat">
            <a:solidFill>
              <a:schemeClr val="bg2"/>
            </a:solidFill>
            <a:miter lim="800000"/>
            <a:headEnd/>
            <a:tailEnd/>
          </a:ln>
        </p:spPr>
      </p:pic>
      <p:pic>
        <p:nvPicPr>
          <p:cNvPr id="224262" name="Picture 6" descr="09a3">
            <a:extLst>
              <a:ext uri="{FF2B5EF4-FFF2-40B4-BE49-F238E27FC236}">
                <a16:creationId xmlns:a16="http://schemas.microsoft.com/office/drawing/2014/main" id="{F14BE7C5-9A20-435D-926B-E2D5DA1C2CA5}"/>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149725" y="3454400"/>
            <a:ext cx="4781550" cy="14033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4264" name="Rectangle 8">
            <a:extLst>
              <a:ext uri="{FF2B5EF4-FFF2-40B4-BE49-F238E27FC236}">
                <a16:creationId xmlns:a16="http://schemas.microsoft.com/office/drawing/2014/main" id="{5695585F-1FD6-4A04-9262-DBFA6C5A4D17}"/>
              </a:ext>
            </a:extLst>
          </p:cNvPr>
          <p:cNvSpPr>
            <a:spLocks noChangeArrowheads="1"/>
          </p:cNvSpPr>
          <p:nvPr/>
        </p:nvSpPr>
        <p:spPr bwMode="auto">
          <a:xfrm>
            <a:off x="4241800" y="4618038"/>
            <a:ext cx="214313" cy="22383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4265" name="Rectangle 9">
            <a:extLst>
              <a:ext uri="{FF2B5EF4-FFF2-40B4-BE49-F238E27FC236}">
                <a16:creationId xmlns:a16="http://schemas.microsoft.com/office/drawing/2014/main" id="{591D7D06-66CB-41D9-BC0B-59BA65891BCB}"/>
              </a:ext>
            </a:extLst>
          </p:cNvPr>
          <p:cNvSpPr>
            <a:spLocks noChangeArrowheads="1"/>
          </p:cNvSpPr>
          <p:nvPr/>
        </p:nvSpPr>
        <p:spPr bwMode="auto">
          <a:xfrm>
            <a:off x="6767513" y="4629150"/>
            <a:ext cx="261937" cy="2127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4266" name="Text Box 10">
            <a:extLst>
              <a:ext uri="{FF2B5EF4-FFF2-40B4-BE49-F238E27FC236}">
                <a16:creationId xmlns:a16="http://schemas.microsoft.com/office/drawing/2014/main" id="{5B534573-A1EE-4D79-AD93-341E77E809DA}"/>
              </a:ext>
            </a:extLst>
          </p:cNvPr>
          <p:cNvSpPr txBox="1">
            <a:spLocks noChangeArrowheads="1"/>
          </p:cNvSpPr>
          <p:nvPr/>
        </p:nvSpPr>
        <p:spPr bwMode="auto">
          <a:xfrm>
            <a:off x="6146800" y="5116513"/>
            <a:ext cx="2760663"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orientation of these secondary fractures provides an important indicator of </a:t>
            </a:r>
            <a:r>
              <a:rPr lang="en-GB" altLang="en-US" sz="1700">
                <a:solidFill>
                  <a:srgbClr val="FF66FF"/>
                </a:solidFill>
                <a:effectLst>
                  <a:outerShdw blurRad="38100" dist="38100" dir="2700000" algn="tl">
                    <a:srgbClr val="000000"/>
                  </a:outerShdw>
                </a:effectLst>
                <a:latin typeface="Arial" panose="020B0604020202020204" pitchFamily="34" charset="0"/>
              </a:rPr>
              <a:t>slip sense</a:t>
            </a:r>
          </a:p>
        </p:txBody>
      </p:sp>
      <p:pic>
        <p:nvPicPr>
          <p:cNvPr id="224267" name="Picture 11">
            <a:extLst>
              <a:ext uri="{FF2B5EF4-FFF2-40B4-BE49-F238E27FC236}">
                <a16:creationId xmlns:a16="http://schemas.microsoft.com/office/drawing/2014/main" id="{461D2D64-2EEB-40D4-A5D3-E09E0FB00E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6550" y="5081588"/>
            <a:ext cx="1763713" cy="13906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a:extLst>
              <a:ext uri="{FF2B5EF4-FFF2-40B4-BE49-F238E27FC236}">
                <a16:creationId xmlns:a16="http://schemas.microsoft.com/office/drawing/2014/main" id="{B48326F1-2596-42D6-9E26-6858F72AC2E6}"/>
              </a:ext>
            </a:extLst>
          </p:cNvPr>
          <p:cNvSpPr>
            <a:spLocks noGrp="1" noChangeArrowheads="1"/>
          </p:cNvSpPr>
          <p:nvPr>
            <p:ph type="title"/>
          </p:nvPr>
        </p:nvSpPr>
        <p:spPr>
          <a:noFill/>
        </p:spPr>
        <p:txBody>
          <a:bodyPr/>
          <a:lstStyle/>
          <a:p>
            <a:r>
              <a:rPr lang="en-GB" altLang="en-US">
                <a:effectLst/>
              </a:rPr>
              <a:t>Associated folding</a:t>
            </a:r>
          </a:p>
        </p:txBody>
      </p:sp>
      <p:sp>
        <p:nvSpPr>
          <p:cNvPr id="288771" name="Rectangle 3">
            <a:extLst>
              <a:ext uri="{FF2B5EF4-FFF2-40B4-BE49-F238E27FC236}">
                <a16:creationId xmlns:a16="http://schemas.microsoft.com/office/drawing/2014/main" id="{2302884E-755A-4EBB-865F-BE9BD3DBDBD1}"/>
              </a:ext>
            </a:extLst>
          </p:cNvPr>
          <p:cNvSpPr>
            <a:spLocks noGrp="1" noChangeArrowheads="1"/>
          </p:cNvSpPr>
          <p:nvPr>
            <p:ph type="body" sz="half" idx="1"/>
          </p:nvPr>
        </p:nvSpPr>
        <p:spPr>
          <a:xfrm>
            <a:off x="123825" y="766763"/>
            <a:ext cx="8863013" cy="1439862"/>
          </a:xfrm>
          <a:noFill/>
        </p:spPr>
        <p:txBody>
          <a:bodyPr/>
          <a:lstStyle/>
          <a:p>
            <a:pPr marL="177800" indent="-177800">
              <a:spcBef>
                <a:spcPct val="75000"/>
              </a:spcBef>
            </a:pPr>
            <a:r>
              <a:rPr lang="en-GB" altLang="en-US" sz="1700">
                <a:solidFill>
                  <a:srgbClr val="FF6600"/>
                </a:solidFill>
                <a:effectLst/>
              </a:rPr>
              <a:t>Folds</a:t>
            </a:r>
            <a:r>
              <a:rPr lang="en-GB" altLang="en-US" sz="1700">
                <a:effectLst/>
              </a:rPr>
              <a:t> may develop in cover rocks in response to strike-slip movement in the basement. These can be simulated by performing a strike-slip shear movement with your two hands on a sheet of fabric – folds form with </a:t>
            </a:r>
            <a:r>
              <a:rPr lang="en-GB" altLang="en-US" sz="1700">
                <a:solidFill>
                  <a:srgbClr val="FF66FF"/>
                </a:solidFill>
                <a:effectLst/>
              </a:rPr>
              <a:t>hinges normal to the incremental shortening direction</a:t>
            </a:r>
            <a:r>
              <a:rPr lang="en-GB" altLang="en-US" sz="1700">
                <a:effectLst/>
              </a:rPr>
              <a:t> and the hinges rotate as shear strain increases</a:t>
            </a:r>
          </a:p>
        </p:txBody>
      </p:sp>
      <p:pic>
        <p:nvPicPr>
          <p:cNvPr id="288774" name="Picture 6">
            <a:extLst>
              <a:ext uri="{FF2B5EF4-FFF2-40B4-BE49-F238E27FC236}">
                <a16:creationId xmlns:a16="http://schemas.microsoft.com/office/drawing/2014/main" id="{E1BDEA72-F17E-495A-BC18-320355EF43D1}"/>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497138" y="2405063"/>
            <a:ext cx="4014787" cy="3454400"/>
          </a:xfrm>
          <a:noFill/>
          <a:ln w="38100" cap="flat">
            <a:solidFill>
              <a:schemeClr val="bg2"/>
            </a:solidFill>
            <a:miter lim="800000"/>
            <a:headEnd/>
            <a:tailEnd/>
          </a:ln>
        </p:spPr>
      </p:pic>
      <p:sp>
        <p:nvSpPr>
          <p:cNvPr id="288777" name="Text Box 9">
            <a:extLst>
              <a:ext uri="{FF2B5EF4-FFF2-40B4-BE49-F238E27FC236}">
                <a16:creationId xmlns:a16="http://schemas.microsoft.com/office/drawing/2014/main" id="{48D832C3-0EC9-4A11-8B35-009F55C11DC3}"/>
              </a:ext>
            </a:extLst>
          </p:cNvPr>
          <p:cNvSpPr txBox="1">
            <a:spLocks noChangeArrowheads="1"/>
          </p:cNvSpPr>
          <p:nvPr/>
        </p:nvSpPr>
        <p:spPr bwMode="auto">
          <a:xfrm>
            <a:off x="1238250" y="6080125"/>
            <a:ext cx="661511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Note the orientation of the fold traces on the two lateral ramps of this thrust sheet</a:t>
            </a:r>
          </a:p>
        </p:txBody>
      </p:sp>
      <p:pic>
        <p:nvPicPr>
          <p:cNvPr id="288783" name="Picture 15" descr="10d2">
            <a:extLst>
              <a:ext uri="{FF2B5EF4-FFF2-40B4-BE49-F238E27FC236}">
                <a16:creationId xmlns:a16="http://schemas.microsoft.com/office/drawing/2014/main" id="{D55AAE65-DC8B-4AAC-AF60-E4F0A051F50B}"/>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rot="2409338">
            <a:off x="847725" y="3003550"/>
            <a:ext cx="1065213" cy="17160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8785" name="Picture 17" descr="10d3">
            <a:extLst>
              <a:ext uri="{FF2B5EF4-FFF2-40B4-BE49-F238E27FC236}">
                <a16:creationId xmlns:a16="http://schemas.microsoft.com/office/drawing/2014/main" id="{D50281F1-3683-47F7-9D26-FD78DE5222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394683">
            <a:off x="7094538" y="3292475"/>
            <a:ext cx="1095375" cy="16652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88786" name="Freeform 18">
            <a:extLst>
              <a:ext uri="{FF2B5EF4-FFF2-40B4-BE49-F238E27FC236}">
                <a16:creationId xmlns:a16="http://schemas.microsoft.com/office/drawing/2014/main" id="{2646C2E9-EBCF-484D-AA73-D3EFFBB9093A}"/>
              </a:ext>
            </a:extLst>
          </p:cNvPr>
          <p:cNvSpPr>
            <a:spLocks/>
          </p:cNvSpPr>
          <p:nvPr/>
        </p:nvSpPr>
        <p:spPr bwMode="auto">
          <a:xfrm rot="-139190">
            <a:off x="908050" y="3522663"/>
            <a:ext cx="217488" cy="234950"/>
          </a:xfrm>
          <a:custGeom>
            <a:avLst/>
            <a:gdLst>
              <a:gd name="T0" fmla="*/ 0 w 137"/>
              <a:gd name="T1" fmla="*/ 148 h 148"/>
              <a:gd name="T2" fmla="*/ 137 w 137"/>
              <a:gd name="T3" fmla="*/ 0 h 148"/>
              <a:gd name="T4" fmla="*/ 66 w 137"/>
              <a:gd name="T5" fmla="*/ 18 h 148"/>
            </a:gdLst>
            <a:ahLst/>
            <a:cxnLst>
              <a:cxn ang="0">
                <a:pos x="T0" y="T1"/>
              </a:cxn>
              <a:cxn ang="0">
                <a:pos x="T2" y="T3"/>
              </a:cxn>
              <a:cxn ang="0">
                <a:pos x="T4" y="T5"/>
              </a:cxn>
            </a:cxnLst>
            <a:rect l="0" t="0" r="r" b="b"/>
            <a:pathLst>
              <a:path w="137" h="148">
                <a:moveTo>
                  <a:pt x="0" y="148"/>
                </a:moveTo>
                <a:lnTo>
                  <a:pt x="137" y="0"/>
                </a:lnTo>
                <a:lnTo>
                  <a:pt x="66" y="18"/>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8787" name="Freeform 19">
            <a:extLst>
              <a:ext uri="{FF2B5EF4-FFF2-40B4-BE49-F238E27FC236}">
                <a16:creationId xmlns:a16="http://schemas.microsoft.com/office/drawing/2014/main" id="{400D9F5A-F238-4876-8A1B-7DA9E8AD5B04}"/>
              </a:ext>
            </a:extLst>
          </p:cNvPr>
          <p:cNvSpPr>
            <a:spLocks/>
          </p:cNvSpPr>
          <p:nvPr/>
        </p:nvSpPr>
        <p:spPr bwMode="auto">
          <a:xfrm rot="10680000">
            <a:off x="1565275" y="3989388"/>
            <a:ext cx="217488" cy="234950"/>
          </a:xfrm>
          <a:custGeom>
            <a:avLst/>
            <a:gdLst>
              <a:gd name="T0" fmla="*/ 0 w 137"/>
              <a:gd name="T1" fmla="*/ 148 h 148"/>
              <a:gd name="T2" fmla="*/ 137 w 137"/>
              <a:gd name="T3" fmla="*/ 0 h 148"/>
              <a:gd name="T4" fmla="*/ 66 w 137"/>
              <a:gd name="T5" fmla="*/ 18 h 148"/>
            </a:gdLst>
            <a:ahLst/>
            <a:cxnLst>
              <a:cxn ang="0">
                <a:pos x="T0" y="T1"/>
              </a:cxn>
              <a:cxn ang="0">
                <a:pos x="T2" y="T3"/>
              </a:cxn>
              <a:cxn ang="0">
                <a:pos x="T4" y="T5"/>
              </a:cxn>
            </a:cxnLst>
            <a:rect l="0" t="0" r="r" b="b"/>
            <a:pathLst>
              <a:path w="137" h="148">
                <a:moveTo>
                  <a:pt x="0" y="148"/>
                </a:moveTo>
                <a:lnTo>
                  <a:pt x="137" y="0"/>
                </a:lnTo>
                <a:lnTo>
                  <a:pt x="66" y="18"/>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8789" name="Freeform 21">
            <a:extLst>
              <a:ext uri="{FF2B5EF4-FFF2-40B4-BE49-F238E27FC236}">
                <a16:creationId xmlns:a16="http://schemas.microsoft.com/office/drawing/2014/main" id="{B8AB5719-65FB-451A-8A90-8FFB3594AF69}"/>
              </a:ext>
            </a:extLst>
          </p:cNvPr>
          <p:cNvSpPr>
            <a:spLocks/>
          </p:cNvSpPr>
          <p:nvPr/>
        </p:nvSpPr>
        <p:spPr bwMode="auto">
          <a:xfrm>
            <a:off x="7219950" y="3756025"/>
            <a:ext cx="196850" cy="238125"/>
          </a:xfrm>
          <a:custGeom>
            <a:avLst/>
            <a:gdLst>
              <a:gd name="T0" fmla="*/ 124 w 124"/>
              <a:gd name="T1" fmla="*/ 0 h 150"/>
              <a:gd name="T2" fmla="*/ 0 w 124"/>
              <a:gd name="T3" fmla="*/ 150 h 150"/>
              <a:gd name="T4" fmla="*/ 6 w 124"/>
              <a:gd name="T5" fmla="*/ 82 h 150"/>
            </a:gdLst>
            <a:ahLst/>
            <a:cxnLst>
              <a:cxn ang="0">
                <a:pos x="T0" y="T1"/>
              </a:cxn>
              <a:cxn ang="0">
                <a:pos x="T2" y="T3"/>
              </a:cxn>
              <a:cxn ang="0">
                <a:pos x="T4" y="T5"/>
              </a:cxn>
            </a:cxnLst>
            <a:rect l="0" t="0" r="r" b="b"/>
            <a:pathLst>
              <a:path w="124" h="150">
                <a:moveTo>
                  <a:pt x="124" y="0"/>
                </a:moveTo>
                <a:lnTo>
                  <a:pt x="0" y="150"/>
                </a:lnTo>
                <a:lnTo>
                  <a:pt x="6" y="82"/>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8790" name="Freeform 22">
            <a:extLst>
              <a:ext uri="{FF2B5EF4-FFF2-40B4-BE49-F238E27FC236}">
                <a16:creationId xmlns:a16="http://schemas.microsoft.com/office/drawing/2014/main" id="{0508345F-C805-4642-ABFD-5F737437BD77}"/>
              </a:ext>
            </a:extLst>
          </p:cNvPr>
          <p:cNvSpPr>
            <a:spLocks/>
          </p:cNvSpPr>
          <p:nvPr/>
        </p:nvSpPr>
        <p:spPr bwMode="auto">
          <a:xfrm rot="10800000">
            <a:off x="7883525" y="4222750"/>
            <a:ext cx="196850" cy="238125"/>
          </a:xfrm>
          <a:custGeom>
            <a:avLst/>
            <a:gdLst>
              <a:gd name="T0" fmla="*/ 124 w 124"/>
              <a:gd name="T1" fmla="*/ 0 h 150"/>
              <a:gd name="T2" fmla="*/ 0 w 124"/>
              <a:gd name="T3" fmla="*/ 150 h 150"/>
              <a:gd name="T4" fmla="*/ 6 w 124"/>
              <a:gd name="T5" fmla="*/ 82 h 150"/>
            </a:gdLst>
            <a:ahLst/>
            <a:cxnLst>
              <a:cxn ang="0">
                <a:pos x="T0" y="T1"/>
              </a:cxn>
              <a:cxn ang="0">
                <a:pos x="T2" y="T3"/>
              </a:cxn>
              <a:cxn ang="0">
                <a:pos x="T4" y="T5"/>
              </a:cxn>
            </a:cxnLst>
            <a:rect l="0" t="0" r="r" b="b"/>
            <a:pathLst>
              <a:path w="124" h="150">
                <a:moveTo>
                  <a:pt x="124" y="0"/>
                </a:moveTo>
                <a:lnTo>
                  <a:pt x="0" y="150"/>
                </a:lnTo>
                <a:lnTo>
                  <a:pt x="6" y="82"/>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73653EC8-2A5B-4450-82F6-504CE9A45EF2}"/>
              </a:ext>
            </a:extLst>
          </p:cNvPr>
          <p:cNvSpPr>
            <a:spLocks noGrp="1" noChangeArrowheads="1"/>
          </p:cNvSpPr>
          <p:nvPr>
            <p:ph type="title"/>
          </p:nvPr>
        </p:nvSpPr>
        <p:spPr>
          <a:noFill/>
        </p:spPr>
        <p:txBody>
          <a:bodyPr/>
          <a:lstStyle/>
          <a:p>
            <a:r>
              <a:rPr lang="en-GB" altLang="en-US">
                <a:effectLst/>
              </a:rPr>
              <a:t>Associated folding  2</a:t>
            </a:r>
          </a:p>
        </p:txBody>
      </p:sp>
      <p:sp>
        <p:nvSpPr>
          <p:cNvPr id="310275" name="Rectangle 3">
            <a:extLst>
              <a:ext uri="{FF2B5EF4-FFF2-40B4-BE49-F238E27FC236}">
                <a16:creationId xmlns:a16="http://schemas.microsoft.com/office/drawing/2014/main" id="{A73B036B-BFBB-423E-8F90-178050468E89}"/>
              </a:ext>
            </a:extLst>
          </p:cNvPr>
          <p:cNvSpPr>
            <a:spLocks noGrp="1" noChangeArrowheads="1"/>
          </p:cNvSpPr>
          <p:nvPr>
            <p:ph type="body" sz="half" idx="1"/>
          </p:nvPr>
        </p:nvSpPr>
        <p:spPr>
          <a:xfrm>
            <a:off x="123825" y="766763"/>
            <a:ext cx="4695825" cy="1371600"/>
          </a:xfrm>
          <a:noFill/>
        </p:spPr>
        <p:txBody>
          <a:bodyPr/>
          <a:lstStyle/>
          <a:p>
            <a:pPr marL="177800" indent="-177800">
              <a:spcBef>
                <a:spcPct val="75000"/>
              </a:spcBef>
            </a:pPr>
            <a:r>
              <a:rPr lang="en-GB" altLang="en-US" sz="1700" dirty="0">
                <a:solidFill>
                  <a:srgbClr val="FF66FF"/>
                </a:solidFill>
              </a:rPr>
              <a:t>Analogue experiments</a:t>
            </a:r>
            <a:r>
              <a:rPr lang="en-GB" altLang="en-US" sz="1700" dirty="0"/>
              <a:t> with clay show that an </a:t>
            </a:r>
            <a:r>
              <a:rPr lang="en-GB" altLang="en-US" sz="1700" dirty="0" err="1"/>
              <a:t>en</a:t>
            </a:r>
            <a:r>
              <a:rPr lang="en-GB" altLang="en-US" sz="1700" dirty="0"/>
              <a:t> </a:t>
            </a:r>
            <a:r>
              <a:rPr lang="en-GB" altLang="en-US" sz="1700" dirty="0" err="1"/>
              <a:t>échelon</a:t>
            </a:r>
            <a:r>
              <a:rPr lang="en-GB" altLang="en-US" sz="1700" dirty="0"/>
              <a:t> array of simple folds forms early in the shearing and that these may later become dissected by Riedel shears </a:t>
            </a:r>
          </a:p>
        </p:txBody>
      </p:sp>
      <p:pic>
        <p:nvPicPr>
          <p:cNvPr id="310276" name="Picture 4" descr="09b">
            <a:extLst>
              <a:ext uri="{FF2B5EF4-FFF2-40B4-BE49-F238E27FC236}">
                <a16:creationId xmlns:a16="http://schemas.microsoft.com/office/drawing/2014/main" id="{3B338685-C693-4207-A5C1-730AD0100AD9}"/>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113338" y="935038"/>
            <a:ext cx="3622675" cy="42433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0278" name="Text Box 6">
            <a:extLst>
              <a:ext uri="{FF2B5EF4-FFF2-40B4-BE49-F238E27FC236}">
                <a16:creationId xmlns:a16="http://schemas.microsoft.com/office/drawing/2014/main" id="{F37AB6B8-0C6F-4F48-A518-563645E0040F}"/>
              </a:ext>
            </a:extLst>
          </p:cNvPr>
          <p:cNvSpPr txBox="1">
            <a:spLocks noChangeArrowheads="1"/>
          </p:cNvSpPr>
          <p:nvPr/>
        </p:nvSpPr>
        <p:spPr bwMode="auto">
          <a:xfrm>
            <a:off x="141288" y="5324475"/>
            <a:ext cx="8794750"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FF"/>
                </a:solidFill>
                <a:effectLst>
                  <a:outerShdw blurRad="38100" dist="38100" dir="2700000" algn="tl">
                    <a:srgbClr val="000000"/>
                  </a:outerShdw>
                </a:effectLst>
                <a:latin typeface="+mn-lt"/>
              </a:rPr>
              <a:t>Analogue experiments</a:t>
            </a:r>
            <a:r>
              <a:rPr lang="en-GB" altLang="en-US" sz="1700" dirty="0">
                <a:effectLst>
                  <a:outerShdw blurRad="38100" dist="38100" dir="2700000" algn="tl">
                    <a:srgbClr val="000000"/>
                  </a:outerShdw>
                </a:effectLst>
                <a:latin typeface="+mn-lt"/>
              </a:rPr>
              <a:t> with layers of wax show that the folds may vary from simple, gentle structures at their ends to more complex asymmetric shapes (verging towards the fault) as the line of the basement fault is approached, and that there is a reversal in symmetry as it is crossed</a:t>
            </a:r>
          </a:p>
        </p:txBody>
      </p:sp>
      <p:grpSp>
        <p:nvGrpSpPr>
          <p:cNvPr id="310288" name="Group 16">
            <a:extLst>
              <a:ext uri="{FF2B5EF4-FFF2-40B4-BE49-F238E27FC236}">
                <a16:creationId xmlns:a16="http://schemas.microsoft.com/office/drawing/2014/main" id="{142D4301-C6A1-404B-8972-E65ABD61C194}"/>
              </a:ext>
            </a:extLst>
          </p:cNvPr>
          <p:cNvGrpSpPr>
            <a:grpSpLocks/>
          </p:cNvGrpSpPr>
          <p:nvPr/>
        </p:nvGrpSpPr>
        <p:grpSpPr bwMode="auto">
          <a:xfrm>
            <a:off x="520700" y="2279650"/>
            <a:ext cx="3616325" cy="2509838"/>
            <a:chOff x="352" y="2451"/>
            <a:chExt cx="2278" cy="1581"/>
          </a:xfrm>
        </p:grpSpPr>
        <p:pic>
          <p:nvPicPr>
            <p:cNvPr id="310280" name="Picture 8">
              <a:extLst>
                <a:ext uri="{FF2B5EF4-FFF2-40B4-BE49-F238E27FC236}">
                  <a16:creationId xmlns:a16="http://schemas.microsoft.com/office/drawing/2014/main" id="{C5EE471C-1217-44C2-9331-C0108A0218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00" y="2103"/>
              <a:ext cx="1581" cy="2278"/>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0282" name="Freeform 10">
              <a:extLst>
                <a:ext uri="{FF2B5EF4-FFF2-40B4-BE49-F238E27FC236}">
                  <a16:creationId xmlns:a16="http://schemas.microsoft.com/office/drawing/2014/main" id="{71AAEB80-C559-4DDC-B1F4-69DA88E1B76F}"/>
                </a:ext>
              </a:extLst>
            </p:cNvPr>
            <p:cNvSpPr>
              <a:spLocks/>
            </p:cNvSpPr>
            <p:nvPr/>
          </p:nvSpPr>
          <p:spPr bwMode="auto">
            <a:xfrm rot="2828643">
              <a:off x="1601" y="2467"/>
              <a:ext cx="137" cy="148"/>
            </a:xfrm>
            <a:custGeom>
              <a:avLst/>
              <a:gdLst>
                <a:gd name="T0" fmla="*/ 0 w 137"/>
                <a:gd name="T1" fmla="*/ 148 h 148"/>
                <a:gd name="T2" fmla="*/ 137 w 137"/>
                <a:gd name="T3" fmla="*/ 0 h 148"/>
                <a:gd name="T4" fmla="*/ 66 w 137"/>
                <a:gd name="T5" fmla="*/ 18 h 148"/>
              </a:gdLst>
              <a:ahLst/>
              <a:cxnLst>
                <a:cxn ang="0">
                  <a:pos x="T0" y="T1"/>
                </a:cxn>
                <a:cxn ang="0">
                  <a:pos x="T2" y="T3"/>
                </a:cxn>
                <a:cxn ang="0">
                  <a:pos x="T4" y="T5"/>
                </a:cxn>
              </a:cxnLst>
              <a:rect l="0" t="0" r="r" b="b"/>
              <a:pathLst>
                <a:path w="137" h="148">
                  <a:moveTo>
                    <a:pt x="0" y="148"/>
                  </a:moveTo>
                  <a:lnTo>
                    <a:pt x="137" y="0"/>
                  </a:lnTo>
                  <a:lnTo>
                    <a:pt x="66" y="18"/>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0283" name="Freeform 11">
              <a:extLst>
                <a:ext uri="{FF2B5EF4-FFF2-40B4-BE49-F238E27FC236}">
                  <a16:creationId xmlns:a16="http://schemas.microsoft.com/office/drawing/2014/main" id="{543C6B51-577A-4A80-9A23-231F031364BC}"/>
                </a:ext>
              </a:extLst>
            </p:cNvPr>
            <p:cNvSpPr>
              <a:spLocks/>
            </p:cNvSpPr>
            <p:nvPr/>
          </p:nvSpPr>
          <p:spPr bwMode="auto">
            <a:xfrm rot="13647834">
              <a:off x="1286" y="2890"/>
              <a:ext cx="137" cy="148"/>
            </a:xfrm>
            <a:custGeom>
              <a:avLst/>
              <a:gdLst>
                <a:gd name="T0" fmla="*/ 0 w 137"/>
                <a:gd name="T1" fmla="*/ 148 h 148"/>
                <a:gd name="T2" fmla="*/ 137 w 137"/>
                <a:gd name="T3" fmla="*/ 0 h 148"/>
                <a:gd name="T4" fmla="*/ 66 w 137"/>
                <a:gd name="T5" fmla="*/ 18 h 148"/>
              </a:gdLst>
              <a:ahLst/>
              <a:cxnLst>
                <a:cxn ang="0">
                  <a:pos x="T0" y="T1"/>
                </a:cxn>
                <a:cxn ang="0">
                  <a:pos x="T2" y="T3"/>
                </a:cxn>
                <a:cxn ang="0">
                  <a:pos x="T4" y="T5"/>
                </a:cxn>
              </a:cxnLst>
              <a:rect l="0" t="0" r="r" b="b"/>
              <a:pathLst>
                <a:path w="137" h="148">
                  <a:moveTo>
                    <a:pt x="0" y="148"/>
                  </a:moveTo>
                  <a:lnTo>
                    <a:pt x="137" y="0"/>
                  </a:lnTo>
                  <a:lnTo>
                    <a:pt x="66" y="18"/>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0284" name="Text Box 12">
              <a:extLst>
                <a:ext uri="{FF2B5EF4-FFF2-40B4-BE49-F238E27FC236}">
                  <a16:creationId xmlns:a16="http://schemas.microsoft.com/office/drawing/2014/main" id="{CA82B6E5-8F6A-4FD9-941B-8D9C9A30B7F5}"/>
                </a:ext>
              </a:extLst>
            </p:cNvPr>
            <p:cNvSpPr txBox="1">
              <a:spLocks noChangeArrowheads="1"/>
            </p:cNvSpPr>
            <p:nvPr/>
          </p:nvSpPr>
          <p:spPr bwMode="auto">
            <a:xfrm>
              <a:off x="387" y="2871"/>
              <a:ext cx="39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rPr>
                <a:t>Early</a:t>
              </a:r>
            </a:p>
          </p:txBody>
        </p:sp>
        <p:sp>
          <p:nvSpPr>
            <p:cNvPr id="310285" name="Text Box 13">
              <a:extLst>
                <a:ext uri="{FF2B5EF4-FFF2-40B4-BE49-F238E27FC236}">
                  <a16:creationId xmlns:a16="http://schemas.microsoft.com/office/drawing/2014/main" id="{47D86DDA-EE04-416A-89CB-F25AA2702E75}"/>
                </a:ext>
              </a:extLst>
            </p:cNvPr>
            <p:cNvSpPr txBox="1">
              <a:spLocks noChangeArrowheads="1"/>
            </p:cNvSpPr>
            <p:nvPr/>
          </p:nvSpPr>
          <p:spPr bwMode="auto">
            <a:xfrm>
              <a:off x="387" y="3139"/>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rPr>
                <a:t>Later</a:t>
              </a:r>
            </a:p>
          </p:txBody>
        </p:sp>
        <p:sp>
          <p:nvSpPr>
            <p:cNvPr id="310286" name="Freeform 14">
              <a:extLst>
                <a:ext uri="{FF2B5EF4-FFF2-40B4-BE49-F238E27FC236}">
                  <a16:creationId xmlns:a16="http://schemas.microsoft.com/office/drawing/2014/main" id="{0958D3A9-EA3C-4898-94CA-9EE76FC6CD17}"/>
                </a:ext>
              </a:extLst>
            </p:cNvPr>
            <p:cNvSpPr>
              <a:spLocks/>
            </p:cNvSpPr>
            <p:nvPr/>
          </p:nvSpPr>
          <p:spPr bwMode="auto">
            <a:xfrm rot="2828643">
              <a:off x="1803" y="3212"/>
              <a:ext cx="137" cy="148"/>
            </a:xfrm>
            <a:custGeom>
              <a:avLst/>
              <a:gdLst>
                <a:gd name="T0" fmla="*/ 0 w 137"/>
                <a:gd name="T1" fmla="*/ 148 h 148"/>
                <a:gd name="T2" fmla="*/ 137 w 137"/>
                <a:gd name="T3" fmla="*/ 0 h 148"/>
                <a:gd name="T4" fmla="*/ 66 w 137"/>
                <a:gd name="T5" fmla="*/ 18 h 148"/>
              </a:gdLst>
              <a:ahLst/>
              <a:cxnLst>
                <a:cxn ang="0">
                  <a:pos x="T0" y="T1"/>
                </a:cxn>
                <a:cxn ang="0">
                  <a:pos x="T2" y="T3"/>
                </a:cxn>
                <a:cxn ang="0">
                  <a:pos x="T4" y="T5"/>
                </a:cxn>
              </a:cxnLst>
              <a:rect l="0" t="0" r="r" b="b"/>
              <a:pathLst>
                <a:path w="137" h="148">
                  <a:moveTo>
                    <a:pt x="0" y="148"/>
                  </a:moveTo>
                  <a:lnTo>
                    <a:pt x="137" y="0"/>
                  </a:lnTo>
                  <a:lnTo>
                    <a:pt x="66" y="18"/>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0287" name="Freeform 15">
              <a:extLst>
                <a:ext uri="{FF2B5EF4-FFF2-40B4-BE49-F238E27FC236}">
                  <a16:creationId xmlns:a16="http://schemas.microsoft.com/office/drawing/2014/main" id="{B8635794-9965-4DD8-AC05-B2065F93B8E8}"/>
                </a:ext>
              </a:extLst>
            </p:cNvPr>
            <p:cNvSpPr>
              <a:spLocks/>
            </p:cNvSpPr>
            <p:nvPr/>
          </p:nvSpPr>
          <p:spPr bwMode="auto">
            <a:xfrm rot="13647834">
              <a:off x="1200" y="3848"/>
              <a:ext cx="137" cy="148"/>
            </a:xfrm>
            <a:custGeom>
              <a:avLst/>
              <a:gdLst>
                <a:gd name="T0" fmla="*/ 0 w 137"/>
                <a:gd name="T1" fmla="*/ 148 h 148"/>
                <a:gd name="T2" fmla="*/ 137 w 137"/>
                <a:gd name="T3" fmla="*/ 0 h 148"/>
                <a:gd name="T4" fmla="*/ 66 w 137"/>
                <a:gd name="T5" fmla="*/ 18 h 148"/>
              </a:gdLst>
              <a:ahLst/>
              <a:cxnLst>
                <a:cxn ang="0">
                  <a:pos x="T0" y="T1"/>
                </a:cxn>
                <a:cxn ang="0">
                  <a:pos x="T2" y="T3"/>
                </a:cxn>
                <a:cxn ang="0">
                  <a:pos x="T4" y="T5"/>
                </a:cxn>
              </a:cxnLst>
              <a:rect l="0" t="0" r="r" b="b"/>
              <a:pathLst>
                <a:path w="137" h="148">
                  <a:moveTo>
                    <a:pt x="0" y="148"/>
                  </a:moveTo>
                  <a:lnTo>
                    <a:pt x="137" y="0"/>
                  </a:lnTo>
                  <a:lnTo>
                    <a:pt x="66" y="18"/>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34770C29-6198-4892-A612-E8722FFC8A33}"/>
              </a:ext>
            </a:extLst>
          </p:cNvPr>
          <p:cNvSpPr>
            <a:spLocks noGrp="1" noChangeArrowheads="1"/>
          </p:cNvSpPr>
          <p:nvPr>
            <p:ph type="title"/>
          </p:nvPr>
        </p:nvSpPr>
        <p:spPr>
          <a:noFill/>
        </p:spPr>
        <p:txBody>
          <a:bodyPr/>
          <a:lstStyle/>
          <a:p>
            <a:r>
              <a:rPr lang="en-GB" altLang="en-US">
                <a:effectLst/>
              </a:rPr>
              <a:t>Fault bends and stepovers</a:t>
            </a:r>
          </a:p>
        </p:txBody>
      </p:sp>
      <p:sp>
        <p:nvSpPr>
          <p:cNvPr id="225283" name="Rectangle 3">
            <a:extLst>
              <a:ext uri="{FF2B5EF4-FFF2-40B4-BE49-F238E27FC236}">
                <a16:creationId xmlns:a16="http://schemas.microsoft.com/office/drawing/2014/main" id="{CAABE464-AFAF-4D5D-A3DC-1B7500D0F463}"/>
              </a:ext>
            </a:extLst>
          </p:cNvPr>
          <p:cNvSpPr>
            <a:spLocks noGrp="1" noChangeArrowheads="1"/>
          </p:cNvSpPr>
          <p:nvPr>
            <p:ph type="body" sz="half" idx="1"/>
          </p:nvPr>
        </p:nvSpPr>
        <p:spPr>
          <a:xfrm>
            <a:off x="160338" y="3340100"/>
            <a:ext cx="8729662" cy="3044825"/>
          </a:xfrm>
          <a:noFill/>
        </p:spPr>
        <p:txBody>
          <a:bodyPr/>
          <a:lstStyle/>
          <a:p>
            <a:pPr marL="177800" indent="-177800">
              <a:spcBef>
                <a:spcPct val="75000"/>
              </a:spcBef>
            </a:pPr>
            <a:r>
              <a:rPr lang="en-GB" altLang="en-US" sz="1700" dirty="0">
                <a:effectLst/>
              </a:rPr>
              <a:t>Although strike-slip faults are characteristically straight, they do contain </a:t>
            </a:r>
            <a:r>
              <a:rPr lang="en-GB" altLang="en-US" sz="1700" dirty="0">
                <a:solidFill>
                  <a:srgbClr val="FF6600"/>
                </a:solidFill>
                <a:effectLst/>
              </a:rPr>
              <a:t>bends</a:t>
            </a:r>
            <a:r>
              <a:rPr lang="en-GB" altLang="en-US" sz="1700" dirty="0">
                <a:effectLst/>
              </a:rPr>
              <a:t> (curved parts of a continuous fault trace connecting two parallel segments) and </a:t>
            </a:r>
            <a:r>
              <a:rPr lang="en-GB" altLang="en-US" sz="1700" dirty="0">
                <a:solidFill>
                  <a:srgbClr val="FF6600"/>
                </a:solidFill>
                <a:effectLst/>
              </a:rPr>
              <a:t>stepovers </a:t>
            </a:r>
            <a:r>
              <a:rPr lang="en-GB" altLang="en-US" sz="1700" dirty="0">
                <a:effectLst/>
              </a:rPr>
              <a:t>(overlapping </a:t>
            </a:r>
            <a:r>
              <a:rPr lang="en-GB" altLang="en-US" sz="1700" dirty="0" err="1">
                <a:effectLst/>
              </a:rPr>
              <a:t>en</a:t>
            </a:r>
            <a:r>
              <a:rPr lang="en-GB" altLang="en-US" sz="1700" dirty="0">
                <a:effectLst/>
              </a:rPr>
              <a:t> </a:t>
            </a:r>
            <a:r>
              <a:rPr lang="en-GB" altLang="en-US" sz="1700" dirty="0" err="1">
                <a:effectLst/>
              </a:rPr>
              <a:t>échelon</a:t>
            </a:r>
            <a:r>
              <a:rPr lang="en-GB" altLang="en-US" sz="1700" dirty="0">
                <a:effectLst/>
              </a:rPr>
              <a:t> fault segments)</a:t>
            </a:r>
          </a:p>
          <a:p>
            <a:pPr marL="177800" indent="-177800">
              <a:spcBef>
                <a:spcPct val="75000"/>
              </a:spcBef>
            </a:pPr>
            <a:r>
              <a:rPr lang="en-GB" altLang="en-US" sz="1700" dirty="0">
                <a:effectLst/>
              </a:rPr>
              <a:t>A bend or stepover is </a:t>
            </a:r>
            <a:r>
              <a:rPr lang="en-GB" altLang="en-US" sz="1700" dirty="0">
                <a:solidFill>
                  <a:srgbClr val="FF6600"/>
                </a:solidFill>
                <a:effectLst/>
              </a:rPr>
              <a:t>restraining</a:t>
            </a:r>
            <a:r>
              <a:rPr lang="en-GB" altLang="en-US" sz="1700" dirty="0">
                <a:effectLst/>
              </a:rPr>
              <a:t> if the rocks at the ben</a:t>
            </a:r>
            <a:r>
              <a:rPr lang="en-GB" altLang="en-US" sz="1700" spc="300" dirty="0">
                <a:effectLst/>
              </a:rPr>
              <a:t>d/</a:t>
            </a:r>
            <a:r>
              <a:rPr lang="en-GB" altLang="en-US" sz="1700" dirty="0">
                <a:effectLst/>
              </a:rPr>
              <a:t>stepover are compressed during slip on the fault, and </a:t>
            </a:r>
            <a:r>
              <a:rPr lang="en-GB" altLang="en-US" sz="1700" dirty="0">
                <a:solidFill>
                  <a:srgbClr val="FF6600"/>
                </a:solidFill>
                <a:effectLst/>
              </a:rPr>
              <a:t>releasing</a:t>
            </a:r>
            <a:r>
              <a:rPr lang="en-GB" altLang="en-US" sz="1700" dirty="0">
                <a:effectLst/>
              </a:rPr>
              <a:t> if they are pulled apart</a:t>
            </a:r>
          </a:p>
          <a:p>
            <a:pPr marL="177800" indent="-177800">
              <a:spcBef>
                <a:spcPct val="75000"/>
              </a:spcBef>
            </a:pPr>
            <a:r>
              <a:rPr lang="en-GB" altLang="en-US" sz="1700" dirty="0">
                <a:effectLst/>
              </a:rPr>
              <a:t>At bends and stepovers (and indeed along any broad curve in a strike-slip fault) the displacement on the fault cannot be purely strike-slip – in these regions </a:t>
            </a:r>
            <a:r>
              <a:rPr lang="en-GB" altLang="en-US" sz="1700" dirty="0">
                <a:solidFill>
                  <a:srgbClr val="FF66FF"/>
                </a:solidFill>
                <a:effectLst/>
              </a:rPr>
              <a:t>additional processes are required to accommodate the deformation</a:t>
            </a:r>
          </a:p>
        </p:txBody>
      </p:sp>
      <p:pic>
        <p:nvPicPr>
          <p:cNvPr id="225284" name="Picture 4">
            <a:extLst>
              <a:ext uri="{FF2B5EF4-FFF2-40B4-BE49-F238E27FC236}">
                <a16:creationId xmlns:a16="http://schemas.microsoft.com/office/drawing/2014/main" id="{2E9C185A-E6BB-4C40-9B8C-9AEF0B2FB23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11138" y="950913"/>
            <a:ext cx="8674100" cy="2259012"/>
          </a:xfrm>
          <a:noFill/>
          <a:ln w="38100" cap="flat">
            <a:solidFill>
              <a:schemeClr val="bg2"/>
            </a:solidFill>
            <a:miter lim="800000"/>
            <a:headEnd/>
            <a:tailEnd/>
          </a:ln>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674092A8-C7CE-4DA1-A8C3-C789A0B75783}"/>
              </a:ext>
            </a:extLst>
          </p:cNvPr>
          <p:cNvSpPr>
            <a:spLocks noGrp="1" noChangeArrowheads="1"/>
          </p:cNvSpPr>
          <p:nvPr>
            <p:ph type="title"/>
          </p:nvPr>
        </p:nvSpPr>
        <p:spPr>
          <a:noFill/>
        </p:spPr>
        <p:txBody>
          <a:bodyPr/>
          <a:lstStyle/>
          <a:p>
            <a:r>
              <a:rPr lang="en-GB" altLang="en-US" dirty="0">
                <a:effectLst/>
              </a:rPr>
              <a:t>Releasing bend</a:t>
            </a:r>
            <a:r>
              <a:rPr lang="en-GB" altLang="en-US" spc="500" dirty="0">
                <a:effectLst/>
              </a:rPr>
              <a:t>s/</a:t>
            </a:r>
            <a:r>
              <a:rPr lang="en-GB" altLang="en-US" dirty="0">
                <a:effectLst/>
              </a:rPr>
              <a:t>stepovers</a:t>
            </a:r>
          </a:p>
        </p:txBody>
      </p:sp>
      <p:grpSp>
        <p:nvGrpSpPr>
          <p:cNvPr id="226332" name="Group 28">
            <a:extLst>
              <a:ext uri="{FF2B5EF4-FFF2-40B4-BE49-F238E27FC236}">
                <a16:creationId xmlns:a16="http://schemas.microsoft.com/office/drawing/2014/main" id="{2451F078-0533-46B6-8EFF-E306A6E3E57B}"/>
              </a:ext>
            </a:extLst>
          </p:cNvPr>
          <p:cNvGrpSpPr>
            <a:grpSpLocks/>
          </p:cNvGrpSpPr>
          <p:nvPr/>
        </p:nvGrpSpPr>
        <p:grpSpPr bwMode="auto">
          <a:xfrm>
            <a:off x="892175" y="884238"/>
            <a:ext cx="7381875" cy="2982912"/>
            <a:chOff x="2178" y="1342"/>
            <a:chExt cx="3473" cy="1403"/>
          </a:xfrm>
        </p:grpSpPr>
        <p:grpSp>
          <p:nvGrpSpPr>
            <p:cNvPr id="226315" name="Group 11">
              <a:extLst>
                <a:ext uri="{FF2B5EF4-FFF2-40B4-BE49-F238E27FC236}">
                  <a16:creationId xmlns:a16="http://schemas.microsoft.com/office/drawing/2014/main" id="{E2514F6E-70EB-40D3-A42B-619BE9188129}"/>
                </a:ext>
              </a:extLst>
            </p:cNvPr>
            <p:cNvGrpSpPr>
              <a:grpSpLocks/>
            </p:cNvGrpSpPr>
            <p:nvPr/>
          </p:nvGrpSpPr>
          <p:grpSpPr bwMode="auto">
            <a:xfrm>
              <a:off x="2178" y="1342"/>
              <a:ext cx="3473" cy="1403"/>
              <a:chOff x="2178" y="1342"/>
              <a:chExt cx="3473" cy="1403"/>
            </a:xfrm>
          </p:grpSpPr>
          <p:pic>
            <p:nvPicPr>
              <p:cNvPr id="226310" name="Picture 6" descr="10b1">
                <a:extLst>
                  <a:ext uri="{FF2B5EF4-FFF2-40B4-BE49-F238E27FC236}">
                    <a16:creationId xmlns:a16="http://schemas.microsoft.com/office/drawing/2014/main" id="{072F42E5-0288-4E72-86A4-60F3EA55AB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8" y="1342"/>
                <a:ext cx="3473" cy="1403"/>
              </a:xfrm>
              <a:prstGeom prst="rect">
                <a:avLst/>
              </a:prstGeom>
              <a:noFill/>
              <a:ln w="38100" cmpd="sng">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6312" name="Rectangle 8">
                <a:extLst>
                  <a:ext uri="{FF2B5EF4-FFF2-40B4-BE49-F238E27FC236}">
                    <a16:creationId xmlns:a16="http://schemas.microsoft.com/office/drawing/2014/main" id="{7580E53F-34D6-427F-8A94-886133937591}"/>
                  </a:ext>
                </a:extLst>
              </p:cNvPr>
              <p:cNvSpPr>
                <a:spLocks noChangeArrowheads="1"/>
              </p:cNvSpPr>
              <p:nvPr/>
            </p:nvSpPr>
            <p:spPr bwMode="auto">
              <a:xfrm>
                <a:off x="2197" y="2595"/>
                <a:ext cx="143" cy="11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13" name="Rectangle 9">
                <a:extLst>
                  <a:ext uri="{FF2B5EF4-FFF2-40B4-BE49-F238E27FC236}">
                    <a16:creationId xmlns:a16="http://schemas.microsoft.com/office/drawing/2014/main" id="{5F65EDD7-792E-4F73-A7D2-BFE2F6BC8232}"/>
                  </a:ext>
                </a:extLst>
              </p:cNvPr>
              <p:cNvSpPr>
                <a:spLocks noChangeArrowheads="1"/>
              </p:cNvSpPr>
              <p:nvPr/>
            </p:nvSpPr>
            <p:spPr bwMode="auto">
              <a:xfrm>
                <a:off x="3195" y="2589"/>
                <a:ext cx="148" cy="13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14" name="Rectangle 10">
                <a:extLst>
                  <a:ext uri="{FF2B5EF4-FFF2-40B4-BE49-F238E27FC236}">
                    <a16:creationId xmlns:a16="http://schemas.microsoft.com/office/drawing/2014/main" id="{9EED3273-816F-44C1-A393-7A31FBBC4E8D}"/>
                  </a:ext>
                </a:extLst>
              </p:cNvPr>
              <p:cNvSpPr>
                <a:spLocks noChangeArrowheads="1"/>
              </p:cNvSpPr>
              <p:nvPr/>
            </p:nvSpPr>
            <p:spPr bwMode="auto">
              <a:xfrm>
                <a:off x="4376" y="2589"/>
                <a:ext cx="179" cy="1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26316" name="Rectangle 12">
              <a:extLst>
                <a:ext uri="{FF2B5EF4-FFF2-40B4-BE49-F238E27FC236}">
                  <a16:creationId xmlns:a16="http://schemas.microsoft.com/office/drawing/2014/main" id="{BE4CF8CF-5B8F-4D51-9396-D6508639B346}"/>
                </a:ext>
              </a:extLst>
            </p:cNvPr>
            <p:cNvSpPr>
              <a:spLocks noChangeArrowheads="1"/>
            </p:cNvSpPr>
            <p:nvPr/>
          </p:nvSpPr>
          <p:spPr bwMode="auto">
            <a:xfrm>
              <a:off x="3620" y="1619"/>
              <a:ext cx="87"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17" name="Rectangle 13">
              <a:extLst>
                <a:ext uri="{FF2B5EF4-FFF2-40B4-BE49-F238E27FC236}">
                  <a16:creationId xmlns:a16="http://schemas.microsoft.com/office/drawing/2014/main" id="{AEF815D0-D1DE-4199-8045-995354D65D58}"/>
                </a:ext>
              </a:extLst>
            </p:cNvPr>
            <p:cNvSpPr>
              <a:spLocks noChangeArrowheads="1"/>
            </p:cNvSpPr>
            <p:nvPr/>
          </p:nvSpPr>
          <p:spPr bwMode="auto">
            <a:xfrm>
              <a:off x="3411" y="1397"/>
              <a:ext cx="56" cy="6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18" name="Rectangle 14">
              <a:extLst>
                <a:ext uri="{FF2B5EF4-FFF2-40B4-BE49-F238E27FC236}">
                  <a16:creationId xmlns:a16="http://schemas.microsoft.com/office/drawing/2014/main" id="{CBCDF4F2-705B-48B4-B361-BCC3EAB1BBE0}"/>
                </a:ext>
              </a:extLst>
            </p:cNvPr>
            <p:cNvSpPr>
              <a:spLocks noChangeArrowheads="1"/>
            </p:cNvSpPr>
            <p:nvPr/>
          </p:nvSpPr>
          <p:spPr bwMode="auto">
            <a:xfrm>
              <a:off x="3458" y="1434"/>
              <a:ext cx="56" cy="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19" name="Rectangle 15">
              <a:extLst>
                <a:ext uri="{FF2B5EF4-FFF2-40B4-BE49-F238E27FC236}">
                  <a16:creationId xmlns:a16="http://schemas.microsoft.com/office/drawing/2014/main" id="{FBFFAD9F-8922-41D4-B46D-5A98A2F56DC7}"/>
                </a:ext>
              </a:extLst>
            </p:cNvPr>
            <p:cNvSpPr>
              <a:spLocks noChangeArrowheads="1"/>
            </p:cNvSpPr>
            <p:nvPr/>
          </p:nvSpPr>
          <p:spPr bwMode="auto">
            <a:xfrm>
              <a:off x="3501" y="1472"/>
              <a:ext cx="56"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0" name="Rectangle 16">
              <a:extLst>
                <a:ext uri="{FF2B5EF4-FFF2-40B4-BE49-F238E27FC236}">
                  <a16:creationId xmlns:a16="http://schemas.microsoft.com/office/drawing/2014/main" id="{88D96E31-D922-47FD-933E-C491A9CB947E}"/>
                </a:ext>
              </a:extLst>
            </p:cNvPr>
            <p:cNvSpPr>
              <a:spLocks noChangeArrowheads="1"/>
            </p:cNvSpPr>
            <p:nvPr/>
          </p:nvSpPr>
          <p:spPr bwMode="auto">
            <a:xfrm>
              <a:off x="3549" y="1511"/>
              <a:ext cx="56" cy="6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1" name="Rectangle 17">
              <a:extLst>
                <a:ext uri="{FF2B5EF4-FFF2-40B4-BE49-F238E27FC236}">
                  <a16:creationId xmlns:a16="http://schemas.microsoft.com/office/drawing/2014/main" id="{885B4497-AAA2-4FB1-A830-3AEC23433B83}"/>
                </a:ext>
              </a:extLst>
            </p:cNvPr>
            <p:cNvSpPr>
              <a:spLocks noChangeArrowheads="1"/>
            </p:cNvSpPr>
            <p:nvPr/>
          </p:nvSpPr>
          <p:spPr bwMode="auto">
            <a:xfrm>
              <a:off x="3581" y="1566"/>
              <a:ext cx="94"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2" name="Rectangle 18">
              <a:extLst>
                <a:ext uri="{FF2B5EF4-FFF2-40B4-BE49-F238E27FC236}">
                  <a16:creationId xmlns:a16="http://schemas.microsoft.com/office/drawing/2014/main" id="{B69CE01F-DA13-4856-9B32-D32B3221AD06}"/>
                </a:ext>
              </a:extLst>
            </p:cNvPr>
            <p:cNvSpPr>
              <a:spLocks noChangeArrowheads="1"/>
            </p:cNvSpPr>
            <p:nvPr/>
          </p:nvSpPr>
          <p:spPr bwMode="auto">
            <a:xfrm>
              <a:off x="3588" y="1547"/>
              <a:ext cx="56"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3" name="Rectangle 19">
              <a:extLst>
                <a:ext uri="{FF2B5EF4-FFF2-40B4-BE49-F238E27FC236}">
                  <a16:creationId xmlns:a16="http://schemas.microsoft.com/office/drawing/2014/main" id="{72702830-D45F-4FDF-A621-1115B8C9F794}"/>
                </a:ext>
              </a:extLst>
            </p:cNvPr>
            <p:cNvSpPr>
              <a:spLocks noChangeArrowheads="1"/>
            </p:cNvSpPr>
            <p:nvPr/>
          </p:nvSpPr>
          <p:spPr bwMode="auto">
            <a:xfrm>
              <a:off x="2946" y="1742"/>
              <a:ext cx="93" cy="8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4" name="Rectangle 20">
              <a:extLst>
                <a:ext uri="{FF2B5EF4-FFF2-40B4-BE49-F238E27FC236}">
                  <a16:creationId xmlns:a16="http://schemas.microsoft.com/office/drawing/2014/main" id="{AE679B53-5AAB-4D60-8DAC-BF012D965A68}"/>
                </a:ext>
              </a:extLst>
            </p:cNvPr>
            <p:cNvSpPr>
              <a:spLocks noChangeArrowheads="1"/>
            </p:cNvSpPr>
            <p:nvPr/>
          </p:nvSpPr>
          <p:spPr bwMode="auto">
            <a:xfrm>
              <a:off x="3035" y="1821"/>
              <a:ext cx="121" cy="8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5" name="Rectangle 21">
              <a:extLst>
                <a:ext uri="{FF2B5EF4-FFF2-40B4-BE49-F238E27FC236}">
                  <a16:creationId xmlns:a16="http://schemas.microsoft.com/office/drawing/2014/main" id="{6689CC47-1905-46BA-A702-164FA66A0762}"/>
                </a:ext>
              </a:extLst>
            </p:cNvPr>
            <p:cNvSpPr>
              <a:spLocks noChangeArrowheads="1"/>
            </p:cNvSpPr>
            <p:nvPr/>
          </p:nvSpPr>
          <p:spPr bwMode="auto">
            <a:xfrm>
              <a:off x="3122" y="1907"/>
              <a:ext cx="117" cy="6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6" name="Rectangle 22">
              <a:extLst>
                <a:ext uri="{FF2B5EF4-FFF2-40B4-BE49-F238E27FC236}">
                  <a16:creationId xmlns:a16="http://schemas.microsoft.com/office/drawing/2014/main" id="{5D104C1B-5CBF-416D-A0A7-CCD5E7CA4578}"/>
                </a:ext>
              </a:extLst>
            </p:cNvPr>
            <p:cNvSpPr>
              <a:spLocks noChangeArrowheads="1"/>
            </p:cNvSpPr>
            <p:nvPr/>
          </p:nvSpPr>
          <p:spPr bwMode="auto">
            <a:xfrm>
              <a:off x="3198" y="1974"/>
              <a:ext cx="128" cy="10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7" name="Rectangle 23">
              <a:extLst>
                <a:ext uri="{FF2B5EF4-FFF2-40B4-BE49-F238E27FC236}">
                  <a16:creationId xmlns:a16="http://schemas.microsoft.com/office/drawing/2014/main" id="{7BAA1DB1-9D7F-4C02-9CD3-AE649B2D9D2D}"/>
                </a:ext>
              </a:extLst>
            </p:cNvPr>
            <p:cNvSpPr>
              <a:spLocks noChangeArrowheads="1"/>
            </p:cNvSpPr>
            <p:nvPr/>
          </p:nvSpPr>
          <p:spPr bwMode="auto">
            <a:xfrm>
              <a:off x="3129" y="2061"/>
              <a:ext cx="114" cy="14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8" name="Rectangle 24">
              <a:extLst>
                <a:ext uri="{FF2B5EF4-FFF2-40B4-BE49-F238E27FC236}">
                  <a16:creationId xmlns:a16="http://schemas.microsoft.com/office/drawing/2014/main" id="{09D0FEEF-7242-4782-8535-7BDEAE7FF649}"/>
                </a:ext>
              </a:extLst>
            </p:cNvPr>
            <p:cNvSpPr>
              <a:spLocks noChangeArrowheads="1"/>
            </p:cNvSpPr>
            <p:nvPr/>
          </p:nvSpPr>
          <p:spPr bwMode="auto">
            <a:xfrm>
              <a:off x="2970" y="2174"/>
              <a:ext cx="449" cy="29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9" name="Rectangle 25">
              <a:extLst>
                <a:ext uri="{FF2B5EF4-FFF2-40B4-BE49-F238E27FC236}">
                  <a16:creationId xmlns:a16="http://schemas.microsoft.com/office/drawing/2014/main" id="{FA3D7FB1-0C19-4054-BDBF-90AAB5C035F2}"/>
                </a:ext>
              </a:extLst>
            </p:cNvPr>
            <p:cNvSpPr>
              <a:spLocks noChangeArrowheads="1"/>
            </p:cNvSpPr>
            <p:nvPr/>
          </p:nvSpPr>
          <p:spPr bwMode="auto">
            <a:xfrm>
              <a:off x="3306" y="2009"/>
              <a:ext cx="90" cy="5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30" name="Rectangle 26">
              <a:extLst>
                <a:ext uri="{FF2B5EF4-FFF2-40B4-BE49-F238E27FC236}">
                  <a16:creationId xmlns:a16="http://schemas.microsoft.com/office/drawing/2014/main" id="{C0876224-FD42-4685-8F52-B1525C20E322}"/>
                </a:ext>
              </a:extLst>
            </p:cNvPr>
            <p:cNvSpPr>
              <a:spLocks noChangeArrowheads="1"/>
            </p:cNvSpPr>
            <p:nvPr/>
          </p:nvSpPr>
          <p:spPr bwMode="auto">
            <a:xfrm>
              <a:off x="3325" y="2031"/>
              <a:ext cx="57"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31" name="Line 27">
              <a:extLst>
                <a:ext uri="{FF2B5EF4-FFF2-40B4-BE49-F238E27FC236}">
                  <a16:creationId xmlns:a16="http://schemas.microsoft.com/office/drawing/2014/main" id="{682A4DF9-4244-497D-A39E-A5A57B4ADD8B}"/>
                </a:ext>
              </a:extLst>
            </p:cNvPr>
            <p:cNvSpPr>
              <a:spLocks noChangeShapeType="1"/>
            </p:cNvSpPr>
            <p:nvPr/>
          </p:nvSpPr>
          <p:spPr bwMode="auto">
            <a:xfrm flipV="1">
              <a:off x="3359" y="1700"/>
              <a:ext cx="297" cy="358"/>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26333" name="Text Box 29">
            <a:extLst>
              <a:ext uri="{FF2B5EF4-FFF2-40B4-BE49-F238E27FC236}">
                <a16:creationId xmlns:a16="http://schemas.microsoft.com/office/drawing/2014/main" id="{F6937FE6-3B39-4044-98A7-CBDAC3B6CCF5}"/>
              </a:ext>
            </a:extLst>
          </p:cNvPr>
          <p:cNvSpPr txBox="1">
            <a:spLocks noChangeArrowheads="1"/>
          </p:cNvSpPr>
          <p:nvPr/>
        </p:nvSpPr>
        <p:spPr bwMode="auto">
          <a:xfrm>
            <a:off x="171450" y="4068763"/>
            <a:ext cx="88042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marL="990600">
              <a:defRPr sz="1600">
                <a:solidFill>
                  <a:schemeClr val="tx1"/>
                </a:solidFill>
                <a:latin typeface="Helvetica" panose="020B0604020202020204" pitchFamily="34" charset="0"/>
              </a:defRPr>
            </a:lvl2pPr>
            <a:lvl3pPr marL="1169988">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Slip at</a:t>
            </a:r>
            <a:r>
              <a:rPr lang="en-GB" altLang="en-US" sz="1700" dirty="0">
                <a:solidFill>
                  <a:srgbClr val="FF6600"/>
                </a:solidFill>
                <a:effectLst>
                  <a:outerShdw blurRad="38100" dist="38100" dir="2700000" algn="tl">
                    <a:srgbClr val="000000"/>
                  </a:outerShdw>
                </a:effectLst>
                <a:latin typeface="Arial" panose="020B0604020202020204" pitchFamily="34" charset="0"/>
              </a:rPr>
              <a:t> releasing bends and stepovers</a:t>
            </a:r>
            <a:r>
              <a:rPr lang="en-GB" altLang="en-US" sz="1700" dirty="0">
                <a:effectLst>
                  <a:outerShdw blurRad="38100" dist="38100" dir="2700000" algn="tl">
                    <a:srgbClr val="000000"/>
                  </a:outerShdw>
                </a:effectLst>
                <a:latin typeface="Arial" panose="020B0604020202020204" pitchFamily="34" charset="0"/>
              </a:rPr>
              <a:t> leads to </a:t>
            </a:r>
            <a:r>
              <a:rPr lang="en-GB" altLang="en-US" sz="1700" dirty="0">
                <a:solidFill>
                  <a:srgbClr val="FF66FF"/>
                </a:solidFill>
                <a:effectLst>
                  <a:outerShdw blurRad="38100" dist="38100" dir="2700000" algn="tl">
                    <a:srgbClr val="000000"/>
                  </a:outerShdw>
                </a:effectLst>
                <a:latin typeface="Arial" panose="020B0604020202020204" pitchFamily="34" charset="0"/>
              </a:rPr>
              <a:t>extension fractures</a:t>
            </a:r>
            <a:r>
              <a:rPr lang="en-GB" altLang="en-US" sz="1700" dirty="0">
                <a:effectLst>
                  <a:outerShdw blurRad="38100" dist="38100" dir="2700000" algn="tl">
                    <a:srgbClr val="000000"/>
                  </a:outerShdw>
                </a:effectLst>
                <a:latin typeface="Arial" panose="020B0604020202020204" pitchFamily="34" charset="0"/>
              </a:rPr>
              <a:t> and, at larger scale, </a:t>
            </a:r>
            <a:r>
              <a:rPr lang="en-GB" altLang="en-US" sz="1700" dirty="0">
                <a:solidFill>
                  <a:srgbClr val="FF66FF"/>
                </a:solidFill>
                <a:effectLst>
                  <a:outerShdw blurRad="38100" dist="38100" dir="2700000" algn="tl">
                    <a:srgbClr val="000000"/>
                  </a:outerShdw>
                </a:effectLst>
                <a:latin typeface="Arial" panose="020B0604020202020204" pitchFamily="34" charset="0"/>
              </a:rPr>
              <a:t>normal faults</a:t>
            </a:r>
            <a:r>
              <a:rPr lang="en-GB" altLang="en-US" sz="1700" dirty="0">
                <a:effectLst>
                  <a:outerShdw blurRad="38100" dist="38100" dir="2700000" algn="tl">
                    <a:srgbClr val="000000"/>
                  </a:outerShdw>
                </a:effectLst>
                <a:latin typeface="Arial" panose="020B0604020202020204" pitchFamily="34" charset="0"/>
              </a:rPr>
              <a:t> that may be arranged in map view as an </a:t>
            </a:r>
            <a:r>
              <a:rPr lang="en-GB" altLang="en-US" sz="1700" dirty="0">
                <a:solidFill>
                  <a:srgbClr val="FF6600"/>
                </a:solidFill>
                <a:effectLst>
                  <a:outerShdw blurRad="38100" dist="38100" dir="2700000" algn="tl">
                    <a:srgbClr val="000000"/>
                  </a:outerShdw>
                </a:effectLst>
                <a:latin typeface="Arial" panose="020B0604020202020204" pitchFamily="34" charset="0"/>
              </a:rPr>
              <a:t>extensional duplex</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normal faults in such structures generate </a:t>
            </a:r>
            <a:r>
              <a:rPr lang="en-GB" altLang="en-US" sz="1700" dirty="0">
                <a:solidFill>
                  <a:srgbClr val="FF6600"/>
                </a:solidFill>
                <a:effectLst>
                  <a:outerShdw blurRad="38100" dist="38100" dir="2700000" algn="tl">
                    <a:srgbClr val="000000"/>
                  </a:outerShdw>
                </a:effectLst>
                <a:latin typeface="Arial" panose="020B0604020202020204" pitchFamily="34" charset="0"/>
              </a:rPr>
              <a:t>pull-apart basins</a:t>
            </a:r>
            <a:r>
              <a:rPr lang="en-GB" altLang="en-US" sz="1700" dirty="0">
                <a:effectLst>
                  <a:outerShdw blurRad="38100" dist="38100" dir="2700000" algn="tl">
                    <a:srgbClr val="000000"/>
                  </a:outerShdw>
                </a:effectLst>
                <a:latin typeface="Arial" panose="020B0604020202020204" pitchFamily="34" charset="0"/>
              </a:rPr>
              <a:t> that are commonly </a:t>
            </a:r>
            <a:r>
              <a:rPr lang="en-GB" altLang="en-US" sz="1700" dirty="0">
                <a:solidFill>
                  <a:srgbClr val="FF66FF"/>
                </a:solidFill>
                <a:effectLst>
                  <a:outerShdw blurRad="38100" dist="38100" dir="2700000" algn="tl">
                    <a:srgbClr val="000000"/>
                  </a:outerShdw>
                </a:effectLst>
                <a:latin typeface="Arial" panose="020B0604020202020204" pitchFamily="34" charset="0"/>
              </a:rPr>
              <a:t>rhomb-shaped</a:t>
            </a:r>
            <a:r>
              <a:rPr lang="en-GB" altLang="en-US" sz="1700" dirty="0">
                <a:effectLst>
                  <a:outerShdw blurRad="38100" dist="38100" dir="2700000" algn="tl">
                    <a:srgbClr val="000000"/>
                  </a:outerShdw>
                </a:effectLst>
                <a:latin typeface="Arial" panose="020B0604020202020204" pitchFamily="34" charset="0"/>
              </a:rPr>
              <a:t>, and can be up to 10s km across</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vertical section extensional duplexes widen towards the surface to create a </a:t>
            </a:r>
            <a:r>
              <a:rPr lang="en-GB" altLang="en-US" sz="1700" dirty="0">
                <a:solidFill>
                  <a:srgbClr val="FF6600"/>
                </a:solidFill>
                <a:effectLst>
                  <a:outerShdw blurRad="38100" dist="38100" dir="2700000" algn="tl">
                    <a:srgbClr val="000000"/>
                  </a:outerShdw>
                </a:effectLst>
                <a:latin typeface="Arial" panose="020B0604020202020204" pitchFamily="34" charset="0"/>
              </a:rPr>
              <a:t>flower structure</a:t>
            </a:r>
            <a:r>
              <a:rPr lang="en-GB" altLang="en-US" sz="1700" dirty="0">
                <a:effectLst>
                  <a:outerShdw blurRad="38100" dist="38100" dir="2700000" algn="tl">
                    <a:srgbClr val="000000"/>
                  </a:outerShdw>
                </a:effectLst>
                <a:latin typeface="Arial" panose="020B0604020202020204" pitchFamily="34" charset="0"/>
              </a:rPr>
              <a:t>. Extensional duplexes produce </a:t>
            </a:r>
            <a:r>
              <a:rPr lang="en-GB" altLang="en-US" sz="1700" dirty="0">
                <a:solidFill>
                  <a:srgbClr val="FF66FF"/>
                </a:solidFill>
                <a:effectLst>
                  <a:outerShdw blurRad="38100" dist="38100" dir="2700000" algn="tl">
                    <a:srgbClr val="000000"/>
                  </a:outerShdw>
                </a:effectLst>
                <a:latin typeface="Arial" panose="020B0604020202020204" pitchFamily="34" charset="0"/>
              </a:rPr>
              <a:t>negative flower structures</a:t>
            </a:r>
            <a:r>
              <a:rPr lang="en-GB" altLang="en-US" sz="1700" dirty="0">
                <a:effectLst>
                  <a:outerShdw blurRad="38100" dist="38100" dir="2700000" algn="tl">
                    <a:srgbClr val="000000"/>
                  </a:outerShdw>
                </a:effectLst>
                <a:latin typeface="Arial" panose="020B0604020202020204" pitchFamily="34" charset="0"/>
              </a:rPr>
              <a:t> in which the component faults tend to be </a:t>
            </a:r>
            <a:r>
              <a:rPr lang="en-GB" altLang="en-US" sz="1700" dirty="0" err="1">
                <a:effectLst>
                  <a:outerShdw blurRad="38100" dist="38100" dir="2700000" algn="tl">
                    <a:srgbClr val="000000"/>
                  </a:outerShdw>
                </a:effectLst>
                <a:latin typeface="Arial" panose="020B0604020202020204" pitchFamily="34" charset="0"/>
              </a:rPr>
              <a:t>listric</a:t>
            </a:r>
            <a:r>
              <a:rPr lang="en-GB" altLang="en-US" sz="1700" dirty="0">
                <a:effectLst>
                  <a:outerShdw blurRad="38100" dist="38100" dir="2700000" algn="tl">
                    <a:srgbClr val="000000"/>
                  </a:outerShdw>
                </a:effectLst>
                <a:latin typeface="Arial" panose="020B0604020202020204" pitchFamily="34" charset="0"/>
              </a:rPr>
              <a:t> and the central part is structurally lowered</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a:extLst>
              <a:ext uri="{FF2B5EF4-FFF2-40B4-BE49-F238E27FC236}">
                <a16:creationId xmlns:a16="http://schemas.microsoft.com/office/drawing/2014/main" id="{C90080E3-2A2B-4FB0-93B0-4CB7F4CC11A3}"/>
              </a:ext>
            </a:extLst>
          </p:cNvPr>
          <p:cNvSpPr>
            <a:spLocks noGrp="1" noChangeArrowheads="1"/>
          </p:cNvSpPr>
          <p:nvPr>
            <p:ph type="title"/>
          </p:nvPr>
        </p:nvSpPr>
        <p:spPr>
          <a:noFill/>
        </p:spPr>
        <p:txBody>
          <a:bodyPr/>
          <a:lstStyle/>
          <a:p>
            <a:r>
              <a:rPr lang="en-GB" altLang="en-US" dirty="0">
                <a:effectLst/>
              </a:rPr>
              <a:t>Releasing bend</a:t>
            </a:r>
            <a:r>
              <a:rPr lang="en-GB" altLang="en-US" spc="500" dirty="0">
                <a:effectLst/>
              </a:rPr>
              <a:t>s/</a:t>
            </a:r>
            <a:r>
              <a:rPr lang="en-GB" altLang="en-US" dirty="0">
                <a:effectLst/>
              </a:rPr>
              <a:t>stepovers  2</a:t>
            </a:r>
          </a:p>
        </p:txBody>
      </p:sp>
      <p:sp>
        <p:nvSpPr>
          <p:cNvPr id="302083" name="Rectangle 3">
            <a:extLst>
              <a:ext uri="{FF2B5EF4-FFF2-40B4-BE49-F238E27FC236}">
                <a16:creationId xmlns:a16="http://schemas.microsoft.com/office/drawing/2014/main" id="{17B95BCC-CFD0-468B-B961-D900EAD73840}"/>
              </a:ext>
            </a:extLst>
          </p:cNvPr>
          <p:cNvSpPr>
            <a:spLocks noGrp="1" noChangeArrowheads="1"/>
          </p:cNvSpPr>
          <p:nvPr>
            <p:ph type="body" sz="half" idx="1"/>
          </p:nvPr>
        </p:nvSpPr>
        <p:spPr>
          <a:xfrm>
            <a:off x="1022350" y="812800"/>
            <a:ext cx="2984500" cy="1609725"/>
          </a:xfrm>
          <a:noFill/>
        </p:spPr>
        <p:txBody>
          <a:bodyPr/>
          <a:lstStyle/>
          <a:p>
            <a:pPr marL="0" indent="0">
              <a:lnSpc>
                <a:spcPct val="115000"/>
              </a:lnSpc>
              <a:spcBef>
                <a:spcPct val="75000"/>
              </a:spcBef>
              <a:buFont typeface="Times" panose="02020603050405020304" pitchFamily="18" charset="0"/>
              <a:buNone/>
            </a:pPr>
            <a:r>
              <a:rPr lang="en-GB" altLang="en-US" sz="1400">
                <a:solidFill>
                  <a:srgbClr val="FFFF00"/>
                </a:solidFill>
                <a:effectLst/>
              </a:rPr>
              <a:t>Small scale extensional duplex in a releasing stepover (veins in the contact aureole of the Ballachulish intrusion at Kentallen Pier)</a:t>
            </a:r>
          </a:p>
        </p:txBody>
      </p:sp>
      <p:pic>
        <p:nvPicPr>
          <p:cNvPr id="302113" name="Picture 2" descr="GR14.jpg">
            <a:extLst>
              <a:ext uri="{FF2B5EF4-FFF2-40B4-BE49-F238E27FC236}">
                <a16:creationId xmlns:a16="http://schemas.microsoft.com/office/drawing/2014/main" id="{8C85544B-E423-4C0A-B7C0-84E0E830242E}"/>
              </a:ext>
            </a:extLst>
          </p:cNvPr>
          <p:cNvPicPr>
            <a:picLocks noGrp="1" noChangeAspect="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11138" y="2730500"/>
            <a:ext cx="3568700" cy="3887788"/>
          </a:xfr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2116" name="Rectangle 36">
            <a:extLst>
              <a:ext uri="{FF2B5EF4-FFF2-40B4-BE49-F238E27FC236}">
                <a16:creationId xmlns:a16="http://schemas.microsoft.com/office/drawing/2014/main" id="{52D4AAF1-47DC-4D3E-97EF-32EAC441F050}"/>
              </a:ext>
            </a:extLst>
          </p:cNvPr>
          <p:cNvSpPr>
            <a:spLocks noChangeArrowheads="1"/>
          </p:cNvSpPr>
          <p:nvPr/>
        </p:nvSpPr>
        <p:spPr bwMode="auto">
          <a:xfrm>
            <a:off x="3829050" y="3121025"/>
            <a:ext cx="4999038"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lnSpc>
                <a:spcPct val="115000"/>
              </a:lnSpc>
              <a:spcBef>
                <a:spcPct val="75000"/>
              </a:spcBef>
              <a:buFont typeface="Times" panose="02020603050405020304" pitchFamily="18" charset="0"/>
              <a:buNone/>
            </a:pPr>
            <a:r>
              <a:rPr lang="en-GB" altLang="en-US" sz="1400" dirty="0">
                <a:solidFill>
                  <a:srgbClr val="FFFF00"/>
                </a:solidFill>
                <a:effectLst/>
              </a:rPr>
              <a:t>Death Valley, California, was the first pull-apart basin to be recognized as such. It lies on a releasing bend</a:t>
            </a:r>
          </a:p>
        </p:txBody>
      </p:sp>
      <p:pic>
        <p:nvPicPr>
          <p:cNvPr id="302117" name="Picture 37" descr="10c3">
            <a:extLst>
              <a:ext uri="{FF2B5EF4-FFF2-40B4-BE49-F238E27FC236}">
                <a16:creationId xmlns:a16="http://schemas.microsoft.com/office/drawing/2014/main" id="{D001AEC9-E225-4610-A15A-26A5C136A1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5900" y="3902075"/>
            <a:ext cx="4868863" cy="20367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02118" name="Rectangle 38">
            <a:extLst>
              <a:ext uri="{FF2B5EF4-FFF2-40B4-BE49-F238E27FC236}">
                <a16:creationId xmlns:a16="http://schemas.microsoft.com/office/drawing/2014/main" id="{69AEB8E3-3A52-4CDC-97B6-D7366AB09127}"/>
              </a:ext>
            </a:extLst>
          </p:cNvPr>
          <p:cNvSpPr>
            <a:spLocks noChangeArrowheads="1"/>
          </p:cNvSpPr>
          <p:nvPr/>
        </p:nvSpPr>
        <p:spPr bwMode="auto">
          <a:xfrm>
            <a:off x="4229100" y="6007100"/>
            <a:ext cx="4613275"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lnSpc>
                <a:spcPct val="115000"/>
              </a:lnSpc>
              <a:spcBef>
                <a:spcPct val="75000"/>
              </a:spcBef>
              <a:buFont typeface="Times" panose="02020603050405020304" pitchFamily="18" charset="0"/>
              <a:buNone/>
            </a:pPr>
            <a:r>
              <a:rPr lang="en-GB" altLang="en-US" sz="1400">
                <a:solidFill>
                  <a:srgbClr val="FFFF00"/>
                </a:solidFill>
                <a:effectLst/>
              </a:rPr>
              <a:t>An extensional duplex developing on the Dasht-E Bayaz fault, NE Iran</a:t>
            </a:r>
          </a:p>
        </p:txBody>
      </p:sp>
      <p:pic>
        <p:nvPicPr>
          <p:cNvPr id="302119" name="Picture 39" descr="11b3-Transfer">
            <a:extLst>
              <a:ext uri="{FF2B5EF4-FFF2-40B4-BE49-F238E27FC236}">
                <a16:creationId xmlns:a16="http://schemas.microsoft.com/office/drawing/2014/main" id="{61682D33-FB15-4FD7-9751-56591943FC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6388" y="877888"/>
            <a:ext cx="4724400" cy="20859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02111" name="Freeform 31">
            <a:extLst>
              <a:ext uri="{FF2B5EF4-FFF2-40B4-BE49-F238E27FC236}">
                <a16:creationId xmlns:a16="http://schemas.microsoft.com/office/drawing/2014/main" id="{1F77BD67-82BF-4596-B250-B517C396CA8A}"/>
              </a:ext>
            </a:extLst>
          </p:cNvPr>
          <p:cNvSpPr>
            <a:spLocks/>
          </p:cNvSpPr>
          <p:nvPr/>
        </p:nvSpPr>
        <p:spPr bwMode="auto">
          <a:xfrm rot="-11400624">
            <a:off x="4406900" y="2276475"/>
            <a:ext cx="371475" cy="73025"/>
          </a:xfrm>
          <a:custGeom>
            <a:avLst/>
            <a:gdLst>
              <a:gd name="T0" fmla="*/ 273 w 273"/>
              <a:gd name="T1" fmla="*/ 52 h 58"/>
              <a:gd name="T2" fmla="*/ 0 w 273"/>
              <a:gd name="T3" fmla="*/ 58 h 58"/>
              <a:gd name="T4" fmla="*/ 70 w 273"/>
              <a:gd name="T5" fmla="*/ 0 h 58"/>
            </a:gdLst>
            <a:ahLst/>
            <a:cxnLst>
              <a:cxn ang="0">
                <a:pos x="T0" y="T1"/>
              </a:cxn>
              <a:cxn ang="0">
                <a:pos x="T2" y="T3"/>
              </a:cxn>
              <a:cxn ang="0">
                <a:pos x="T4" y="T5"/>
              </a:cxn>
            </a:cxnLst>
            <a:rect l="0" t="0" r="r" b="b"/>
            <a:pathLst>
              <a:path w="273" h="58">
                <a:moveTo>
                  <a:pt x="273" y="52"/>
                </a:moveTo>
                <a:lnTo>
                  <a:pt x="0" y="58"/>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2110" name="Freeform 30">
            <a:extLst>
              <a:ext uri="{FF2B5EF4-FFF2-40B4-BE49-F238E27FC236}">
                <a16:creationId xmlns:a16="http://schemas.microsoft.com/office/drawing/2014/main" id="{7162EC66-80E5-43CD-95F7-BD0ABA093ECB}"/>
              </a:ext>
            </a:extLst>
          </p:cNvPr>
          <p:cNvSpPr>
            <a:spLocks/>
          </p:cNvSpPr>
          <p:nvPr/>
        </p:nvSpPr>
        <p:spPr bwMode="auto">
          <a:xfrm rot="-149373">
            <a:off x="8069263" y="1276350"/>
            <a:ext cx="371475" cy="73025"/>
          </a:xfrm>
          <a:custGeom>
            <a:avLst/>
            <a:gdLst>
              <a:gd name="T0" fmla="*/ 273 w 273"/>
              <a:gd name="T1" fmla="*/ 52 h 58"/>
              <a:gd name="T2" fmla="*/ 0 w 273"/>
              <a:gd name="T3" fmla="*/ 58 h 58"/>
              <a:gd name="T4" fmla="*/ 70 w 273"/>
              <a:gd name="T5" fmla="*/ 0 h 58"/>
            </a:gdLst>
            <a:ahLst/>
            <a:cxnLst>
              <a:cxn ang="0">
                <a:pos x="T0" y="T1"/>
              </a:cxn>
              <a:cxn ang="0">
                <a:pos x="T2" y="T3"/>
              </a:cxn>
              <a:cxn ang="0">
                <a:pos x="T4" y="T5"/>
              </a:cxn>
            </a:cxnLst>
            <a:rect l="0" t="0" r="r" b="b"/>
            <a:pathLst>
              <a:path w="273" h="58">
                <a:moveTo>
                  <a:pt x="273" y="52"/>
                </a:moveTo>
                <a:lnTo>
                  <a:pt x="0" y="58"/>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7BCAF263-3FFC-42A1-B083-61C2E788133B}"/>
              </a:ext>
            </a:extLst>
          </p:cNvPr>
          <p:cNvSpPr>
            <a:spLocks noGrp="1" noChangeArrowheads="1"/>
          </p:cNvSpPr>
          <p:nvPr>
            <p:ph type="title"/>
          </p:nvPr>
        </p:nvSpPr>
        <p:spPr>
          <a:noFill/>
        </p:spPr>
        <p:txBody>
          <a:bodyPr/>
          <a:lstStyle/>
          <a:p>
            <a:r>
              <a:rPr lang="en-GB" altLang="en-US" dirty="0">
                <a:effectLst/>
              </a:rPr>
              <a:t>Releasing bend</a:t>
            </a:r>
            <a:r>
              <a:rPr lang="en-GB" altLang="en-US" spc="500" dirty="0">
                <a:effectLst/>
              </a:rPr>
              <a:t>s/</a:t>
            </a:r>
            <a:r>
              <a:rPr lang="en-GB" altLang="en-US" dirty="0">
                <a:effectLst/>
              </a:rPr>
              <a:t>stepovers  3</a:t>
            </a:r>
          </a:p>
        </p:txBody>
      </p:sp>
      <p:sp>
        <p:nvSpPr>
          <p:cNvPr id="306179" name="Rectangle 3">
            <a:extLst>
              <a:ext uri="{FF2B5EF4-FFF2-40B4-BE49-F238E27FC236}">
                <a16:creationId xmlns:a16="http://schemas.microsoft.com/office/drawing/2014/main" id="{2E72AA66-EC40-4994-B18E-94D4ECF88521}"/>
              </a:ext>
            </a:extLst>
          </p:cNvPr>
          <p:cNvSpPr>
            <a:spLocks noGrp="1" noChangeArrowheads="1"/>
          </p:cNvSpPr>
          <p:nvPr>
            <p:ph type="body" sz="half" idx="1"/>
          </p:nvPr>
        </p:nvSpPr>
        <p:spPr>
          <a:xfrm>
            <a:off x="123825" y="757238"/>
            <a:ext cx="6072188" cy="1695450"/>
          </a:xfrm>
          <a:noFill/>
        </p:spPr>
        <p:txBody>
          <a:bodyPr/>
          <a:lstStyle/>
          <a:p>
            <a:pPr marL="177800" indent="-177800">
              <a:spcBef>
                <a:spcPct val="75000"/>
              </a:spcBef>
            </a:pPr>
            <a:r>
              <a:rPr lang="en-GB" altLang="en-US" sz="1700" dirty="0">
                <a:solidFill>
                  <a:srgbClr val="FF6600"/>
                </a:solidFill>
                <a:effectLst/>
              </a:rPr>
              <a:t>Analogue models</a:t>
            </a:r>
            <a:r>
              <a:rPr lang="en-GB" altLang="en-US" sz="1700" dirty="0">
                <a:effectLst/>
              </a:rPr>
              <a:t> of releasing bends show that in comparison with simple shear strike-slip faults, the pull-apart basins formed under </a:t>
            </a:r>
            <a:r>
              <a:rPr lang="en-GB" altLang="en-US" sz="1700" dirty="0">
                <a:solidFill>
                  <a:srgbClr val="FF6600"/>
                </a:solidFill>
                <a:effectLst/>
              </a:rPr>
              <a:t>overall </a:t>
            </a:r>
            <a:r>
              <a:rPr lang="en-GB" altLang="en-US" sz="1700" dirty="0" err="1">
                <a:solidFill>
                  <a:srgbClr val="FF6600"/>
                </a:solidFill>
                <a:effectLst/>
              </a:rPr>
              <a:t>transtension</a:t>
            </a:r>
            <a:r>
              <a:rPr lang="en-GB" altLang="en-US" sz="1700" dirty="0">
                <a:effectLst/>
              </a:rPr>
              <a:t> are </a:t>
            </a:r>
            <a:r>
              <a:rPr lang="en-GB" altLang="en-US" sz="1700" dirty="0">
                <a:solidFill>
                  <a:srgbClr val="FF66FF"/>
                </a:solidFill>
                <a:effectLst/>
              </a:rPr>
              <a:t>wider</a:t>
            </a:r>
            <a:r>
              <a:rPr lang="en-GB" altLang="en-US" sz="1700" dirty="0">
                <a:effectLst/>
              </a:rPr>
              <a:t>, develop a set of oblique </a:t>
            </a:r>
            <a:r>
              <a:rPr lang="en-GB" altLang="en-US" sz="1700" dirty="0" err="1">
                <a:solidFill>
                  <a:srgbClr val="FF66FF"/>
                </a:solidFill>
                <a:effectLst/>
              </a:rPr>
              <a:t>en</a:t>
            </a:r>
            <a:r>
              <a:rPr lang="en-GB" altLang="en-US" sz="1700" dirty="0">
                <a:solidFill>
                  <a:srgbClr val="FF66FF"/>
                </a:solidFill>
                <a:effectLst/>
              </a:rPr>
              <a:t> </a:t>
            </a:r>
            <a:r>
              <a:rPr lang="en-GB" altLang="en-US" sz="1700" dirty="0" err="1">
                <a:solidFill>
                  <a:srgbClr val="FF66FF"/>
                </a:solidFill>
                <a:effectLst/>
              </a:rPr>
              <a:t>échelon</a:t>
            </a:r>
            <a:r>
              <a:rPr lang="en-GB" altLang="en-US" sz="1700" dirty="0">
                <a:solidFill>
                  <a:srgbClr val="FF66FF"/>
                </a:solidFill>
                <a:effectLst/>
              </a:rPr>
              <a:t> extension faults</a:t>
            </a:r>
            <a:r>
              <a:rPr lang="en-GB" altLang="en-US" sz="1700" dirty="0">
                <a:effectLst/>
              </a:rPr>
              <a:t> in the basin margin, and form </a:t>
            </a:r>
            <a:r>
              <a:rPr lang="en-GB" altLang="en-US" sz="1700" dirty="0">
                <a:solidFill>
                  <a:srgbClr val="FF66FF"/>
                </a:solidFill>
                <a:effectLst/>
              </a:rPr>
              <a:t>multiple (not one) </a:t>
            </a:r>
            <a:r>
              <a:rPr lang="en-GB" altLang="en-US" sz="1700" dirty="0" err="1">
                <a:solidFill>
                  <a:srgbClr val="FF66FF"/>
                </a:solidFill>
                <a:effectLst/>
              </a:rPr>
              <a:t>depocentres</a:t>
            </a:r>
            <a:endParaRPr lang="en-GB" altLang="en-US" sz="1700" dirty="0">
              <a:solidFill>
                <a:srgbClr val="FF66FF"/>
              </a:solidFill>
              <a:effectLst/>
            </a:endParaRPr>
          </a:p>
        </p:txBody>
      </p:sp>
      <p:pic>
        <p:nvPicPr>
          <p:cNvPr id="306187" name="Picture 11">
            <a:extLst>
              <a:ext uri="{FF2B5EF4-FFF2-40B4-BE49-F238E27FC236}">
                <a16:creationId xmlns:a16="http://schemas.microsoft.com/office/drawing/2014/main" id="{A0C994D4-BBE7-4A21-B7B6-1E65EB2CB77E}"/>
              </a:ext>
            </a:extLst>
          </p:cNvPr>
          <p:cNvPicPr>
            <a:picLocks noGrp="1" noChangeAspect="1" noChangeArrowheads="1"/>
          </p:cNvPicPr>
          <p:nvPr>
            <p:ph sz="quarter" idx="2"/>
          </p:nvPr>
        </p:nvPicPr>
        <p:blipFill>
          <a:blip r:embed="rId3">
            <a:lum bright="-6000" contrast="10000"/>
            <a:extLst>
              <a:ext uri="{28A0092B-C50C-407E-A947-70E740481C1C}">
                <a14:useLocalDpi xmlns:a14="http://schemas.microsoft.com/office/drawing/2010/main" val="0"/>
              </a:ext>
            </a:extLst>
          </a:blip>
          <a:srcRect/>
          <a:stretch>
            <a:fillRect/>
          </a:stretch>
        </p:blipFill>
        <p:spPr>
          <a:xfrm>
            <a:off x="249238" y="3143250"/>
            <a:ext cx="4051300" cy="3533775"/>
          </a:xfrm>
          <a:noFill/>
          <a:ln w="28575" cap="flat">
            <a:solidFill>
              <a:schemeClr val="bg2"/>
            </a:solidFill>
            <a:miter lim="800000"/>
            <a:headEnd/>
            <a:tailEnd/>
          </a:ln>
        </p:spPr>
      </p:pic>
      <p:pic>
        <p:nvPicPr>
          <p:cNvPr id="306185" name="Picture 9">
            <a:extLst>
              <a:ext uri="{FF2B5EF4-FFF2-40B4-BE49-F238E27FC236}">
                <a16:creationId xmlns:a16="http://schemas.microsoft.com/office/drawing/2014/main" id="{A9C397D4-8128-4782-9C27-20DE8A2788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8738" y="849313"/>
            <a:ext cx="2570162" cy="2128837"/>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6189" name="Picture 13">
            <a:extLst>
              <a:ext uri="{FF2B5EF4-FFF2-40B4-BE49-F238E27FC236}">
                <a16:creationId xmlns:a16="http://schemas.microsoft.com/office/drawing/2014/main" id="{70AA42DE-A5DA-45F4-9483-8D9E27A381B5}"/>
              </a:ext>
            </a:extLst>
          </p:cNvPr>
          <p:cNvPicPr>
            <a:picLocks noGrp="1" noChangeAspect="1" noChangeArrowheads="1"/>
          </p:cNvPicPr>
          <p:nvPr>
            <p:ph sz="quarter" idx="3"/>
          </p:nvPr>
        </p:nvPicPr>
        <p:blipFill>
          <a:blip r:embed="rId5">
            <a:lum bright="-10000" contrast="20000"/>
            <a:extLst>
              <a:ext uri="{28A0092B-C50C-407E-A947-70E740481C1C}">
                <a14:useLocalDpi xmlns:a14="http://schemas.microsoft.com/office/drawing/2010/main" val="0"/>
              </a:ext>
            </a:extLst>
          </a:blip>
          <a:srcRect/>
          <a:stretch>
            <a:fillRect/>
          </a:stretch>
        </p:blipFill>
        <p:spPr>
          <a:xfrm>
            <a:off x="4548188" y="3149600"/>
            <a:ext cx="4041775" cy="3525838"/>
          </a:xfrm>
          <a:noFill/>
          <a:ln w="28575" cap="flat">
            <a:solidFill>
              <a:schemeClr val="bg2"/>
            </a:solidFill>
            <a:miter lim="800000"/>
            <a:headEnd/>
            <a:tailEnd/>
          </a:ln>
        </p:spPr>
      </p:pic>
      <p:sp>
        <p:nvSpPr>
          <p:cNvPr id="306191" name="Text Box 15">
            <a:extLst>
              <a:ext uri="{FF2B5EF4-FFF2-40B4-BE49-F238E27FC236}">
                <a16:creationId xmlns:a16="http://schemas.microsoft.com/office/drawing/2014/main" id="{B56355CC-1318-4298-A217-C74A87B5EE54}"/>
              </a:ext>
            </a:extLst>
          </p:cNvPr>
          <p:cNvSpPr txBox="1">
            <a:spLocks noChangeArrowheads="1"/>
          </p:cNvSpPr>
          <p:nvPr/>
        </p:nvSpPr>
        <p:spPr bwMode="auto">
          <a:xfrm>
            <a:off x="255588" y="2714625"/>
            <a:ext cx="1460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Simple shear</a:t>
            </a:r>
          </a:p>
        </p:txBody>
      </p:sp>
      <p:sp>
        <p:nvSpPr>
          <p:cNvPr id="306192" name="Text Box 16">
            <a:extLst>
              <a:ext uri="{FF2B5EF4-FFF2-40B4-BE49-F238E27FC236}">
                <a16:creationId xmlns:a16="http://schemas.microsoft.com/office/drawing/2014/main" id="{448E5580-2FBB-494B-B50A-BF9F0EDA67B5}"/>
              </a:ext>
            </a:extLst>
          </p:cNvPr>
          <p:cNvSpPr txBox="1">
            <a:spLocks noChangeArrowheads="1"/>
          </p:cNvSpPr>
          <p:nvPr/>
        </p:nvSpPr>
        <p:spPr bwMode="auto">
          <a:xfrm>
            <a:off x="4525963" y="2722563"/>
            <a:ext cx="1460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Transtension</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a:extLst>
              <a:ext uri="{FF2B5EF4-FFF2-40B4-BE49-F238E27FC236}">
                <a16:creationId xmlns:a16="http://schemas.microsoft.com/office/drawing/2014/main" id="{580A7A0B-47B7-4CA7-9E71-83AB8CEC6147}"/>
              </a:ext>
            </a:extLst>
          </p:cNvPr>
          <p:cNvSpPr>
            <a:spLocks noGrp="1" noChangeArrowheads="1"/>
          </p:cNvSpPr>
          <p:nvPr>
            <p:ph type="title"/>
          </p:nvPr>
        </p:nvSpPr>
        <p:spPr>
          <a:noFill/>
        </p:spPr>
        <p:txBody>
          <a:bodyPr/>
          <a:lstStyle/>
          <a:p>
            <a:r>
              <a:rPr lang="en-GB" altLang="en-US" dirty="0">
                <a:effectLst/>
              </a:rPr>
              <a:t>Releasing bend</a:t>
            </a:r>
            <a:r>
              <a:rPr lang="en-GB" altLang="en-US" spc="500" dirty="0">
                <a:effectLst/>
              </a:rPr>
              <a:t>s/</a:t>
            </a:r>
            <a:r>
              <a:rPr lang="en-GB" altLang="en-US" dirty="0">
                <a:effectLst/>
              </a:rPr>
              <a:t>stepovers  4</a:t>
            </a:r>
          </a:p>
        </p:txBody>
      </p:sp>
      <p:sp>
        <p:nvSpPr>
          <p:cNvPr id="303107" name="Rectangle 3">
            <a:extLst>
              <a:ext uri="{FF2B5EF4-FFF2-40B4-BE49-F238E27FC236}">
                <a16:creationId xmlns:a16="http://schemas.microsoft.com/office/drawing/2014/main" id="{0BB039B4-A8B3-464B-BC2D-AC78739410D7}"/>
              </a:ext>
            </a:extLst>
          </p:cNvPr>
          <p:cNvSpPr>
            <a:spLocks noGrp="1" noChangeArrowheads="1"/>
          </p:cNvSpPr>
          <p:nvPr>
            <p:ph type="body" sz="half" idx="1"/>
          </p:nvPr>
        </p:nvSpPr>
        <p:spPr>
          <a:xfrm>
            <a:off x="123825" y="776288"/>
            <a:ext cx="3757613" cy="2401887"/>
          </a:xfrm>
          <a:noFill/>
        </p:spPr>
        <p:txBody>
          <a:bodyPr/>
          <a:lstStyle/>
          <a:p>
            <a:pPr marL="177800" indent="-177800">
              <a:spcBef>
                <a:spcPct val="75000"/>
              </a:spcBef>
            </a:pPr>
            <a:r>
              <a:rPr lang="en-GB" altLang="en-US" sz="1700">
                <a:effectLst/>
              </a:rPr>
              <a:t>The analogue models successfully simulate the observed pattern of deformation in the </a:t>
            </a:r>
            <a:r>
              <a:rPr lang="en-GB" altLang="en-US" sz="1700">
                <a:solidFill>
                  <a:srgbClr val="FF66FF"/>
                </a:solidFill>
                <a:effectLst/>
              </a:rPr>
              <a:t>Dead Sea pull-apart system</a:t>
            </a:r>
            <a:r>
              <a:rPr lang="en-GB" altLang="en-US" sz="1700">
                <a:effectLst/>
              </a:rPr>
              <a:t>, which changes from simple shear (Dead Sea Basin) to transtension (Gulf of Elat) southwards</a:t>
            </a:r>
            <a:endParaRPr lang="en-GB" altLang="en-US" sz="1700">
              <a:solidFill>
                <a:srgbClr val="FF6600"/>
              </a:solidFill>
              <a:effectLst/>
            </a:endParaRPr>
          </a:p>
        </p:txBody>
      </p:sp>
      <p:pic>
        <p:nvPicPr>
          <p:cNvPr id="303114" name="Picture 10">
            <a:extLst>
              <a:ext uri="{FF2B5EF4-FFF2-40B4-BE49-F238E27FC236}">
                <a16:creationId xmlns:a16="http://schemas.microsoft.com/office/drawing/2014/main" id="{3E434F75-A6DB-48DE-8CF2-BE184C6380F8}"/>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l="375" t="523" r="375" b="174"/>
          <a:stretch>
            <a:fillRect/>
          </a:stretch>
        </p:blipFill>
        <p:spPr>
          <a:xfrm>
            <a:off x="3941763" y="1011238"/>
            <a:ext cx="5027612" cy="5416550"/>
          </a:xfrm>
          <a:noFill/>
          <a:ln w="38100">
            <a:solidFill>
              <a:schemeClr val="bg2"/>
            </a:solidFill>
            <a:miter lim="800000"/>
            <a:headEnd/>
            <a:tailEnd/>
          </a:ln>
        </p:spPr>
      </p:pic>
      <p:pic>
        <p:nvPicPr>
          <p:cNvPr id="303116" name="Picture 12" descr="10c2-Aqaba">
            <a:extLst>
              <a:ext uri="{FF2B5EF4-FFF2-40B4-BE49-F238E27FC236}">
                <a16:creationId xmlns:a16="http://schemas.microsoft.com/office/drawing/2014/main" id="{A2F03D90-2906-4F12-A5C4-AF1D9048A13C}"/>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69863" y="3328988"/>
            <a:ext cx="3594100" cy="31003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792FA5FF-55A5-46B5-8B80-B5847AFC8FFA}"/>
              </a:ext>
            </a:extLst>
          </p:cNvPr>
          <p:cNvSpPr>
            <a:spLocks noGrp="1" noChangeArrowheads="1"/>
          </p:cNvSpPr>
          <p:nvPr>
            <p:ph type="title"/>
          </p:nvPr>
        </p:nvSpPr>
        <p:spPr>
          <a:noFill/>
        </p:spPr>
        <p:txBody>
          <a:bodyPr/>
          <a:lstStyle/>
          <a:p>
            <a:r>
              <a:rPr lang="en-GB" altLang="en-US" dirty="0">
                <a:effectLst/>
              </a:rPr>
              <a:t>Restraining bend</a:t>
            </a:r>
            <a:r>
              <a:rPr lang="en-GB" altLang="en-US" spc="500" dirty="0">
                <a:effectLst/>
              </a:rPr>
              <a:t>s/</a:t>
            </a:r>
            <a:r>
              <a:rPr lang="en-GB" altLang="en-US" dirty="0">
                <a:effectLst/>
              </a:rPr>
              <a:t>stepovers</a:t>
            </a:r>
          </a:p>
        </p:txBody>
      </p:sp>
      <p:grpSp>
        <p:nvGrpSpPr>
          <p:cNvPr id="227358" name="Group 30">
            <a:extLst>
              <a:ext uri="{FF2B5EF4-FFF2-40B4-BE49-F238E27FC236}">
                <a16:creationId xmlns:a16="http://schemas.microsoft.com/office/drawing/2014/main" id="{F64929A0-3F6A-4A24-B850-DF64AFA51652}"/>
              </a:ext>
            </a:extLst>
          </p:cNvPr>
          <p:cNvGrpSpPr>
            <a:grpSpLocks/>
          </p:cNvGrpSpPr>
          <p:nvPr/>
        </p:nvGrpSpPr>
        <p:grpSpPr bwMode="auto">
          <a:xfrm>
            <a:off x="1181100" y="919163"/>
            <a:ext cx="7064375" cy="2963862"/>
            <a:chOff x="2140" y="1346"/>
            <a:chExt cx="3499" cy="1469"/>
          </a:xfrm>
        </p:grpSpPr>
        <p:grpSp>
          <p:nvGrpSpPr>
            <p:cNvPr id="227341" name="Group 13">
              <a:extLst>
                <a:ext uri="{FF2B5EF4-FFF2-40B4-BE49-F238E27FC236}">
                  <a16:creationId xmlns:a16="http://schemas.microsoft.com/office/drawing/2014/main" id="{506E3AC4-58DE-4095-97CE-7DE08016BFC6}"/>
                </a:ext>
              </a:extLst>
            </p:cNvPr>
            <p:cNvGrpSpPr>
              <a:grpSpLocks/>
            </p:cNvGrpSpPr>
            <p:nvPr/>
          </p:nvGrpSpPr>
          <p:grpSpPr bwMode="auto">
            <a:xfrm>
              <a:off x="2140" y="1346"/>
              <a:ext cx="3499" cy="1469"/>
              <a:chOff x="2140" y="1346"/>
              <a:chExt cx="3499" cy="1469"/>
            </a:xfrm>
          </p:grpSpPr>
          <p:pic>
            <p:nvPicPr>
              <p:cNvPr id="227337" name="Picture 9" descr="10c1">
                <a:extLst>
                  <a:ext uri="{FF2B5EF4-FFF2-40B4-BE49-F238E27FC236}">
                    <a16:creationId xmlns:a16="http://schemas.microsoft.com/office/drawing/2014/main" id="{6DAD7A2A-D82C-47F2-9CCA-C35C0C74EED0}"/>
                  </a:ext>
                </a:extLst>
              </p:cNvPr>
              <p:cNvPicPr>
                <a:picLocks noChangeAspect="1" noChangeArrowheads="1"/>
              </p:cNvPicPr>
              <p:nvPr/>
            </p:nvPicPr>
            <p:blipFill>
              <a:blip r:embed="rId3">
                <a:lum bright="-10000" contrast="20000"/>
                <a:extLst>
                  <a:ext uri="{28A0092B-C50C-407E-A947-70E740481C1C}">
                    <a14:useLocalDpi xmlns:a14="http://schemas.microsoft.com/office/drawing/2010/main" val="0"/>
                  </a:ext>
                </a:extLst>
              </a:blip>
              <a:srcRect/>
              <a:stretch>
                <a:fillRect/>
              </a:stretch>
            </p:blipFill>
            <p:spPr bwMode="auto">
              <a:xfrm>
                <a:off x="2140" y="1346"/>
                <a:ext cx="3499" cy="1469"/>
              </a:xfrm>
              <a:prstGeom prst="rect">
                <a:avLst/>
              </a:prstGeom>
              <a:noFill/>
              <a:ln w="38100" cmpd="sng">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7339" name="Rectangle 11">
                <a:extLst>
                  <a:ext uri="{FF2B5EF4-FFF2-40B4-BE49-F238E27FC236}">
                    <a16:creationId xmlns:a16="http://schemas.microsoft.com/office/drawing/2014/main" id="{D8C99763-48B1-4D3B-B704-676EF58A10C4}"/>
                  </a:ext>
                </a:extLst>
              </p:cNvPr>
              <p:cNvSpPr>
                <a:spLocks noChangeArrowheads="1"/>
              </p:cNvSpPr>
              <p:nvPr/>
            </p:nvSpPr>
            <p:spPr bwMode="auto">
              <a:xfrm>
                <a:off x="2191" y="2642"/>
                <a:ext cx="2381" cy="13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27342" name="Rectangle 14">
              <a:extLst>
                <a:ext uri="{FF2B5EF4-FFF2-40B4-BE49-F238E27FC236}">
                  <a16:creationId xmlns:a16="http://schemas.microsoft.com/office/drawing/2014/main" id="{A68CF879-411D-48B8-B10C-A3D83DBBDF21}"/>
                </a:ext>
              </a:extLst>
            </p:cNvPr>
            <p:cNvSpPr>
              <a:spLocks noChangeArrowheads="1"/>
            </p:cNvSpPr>
            <p:nvPr/>
          </p:nvSpPr>
          <p:spPr bwMode="auto">
            <a:xfrm>
              <a:off x="3483" y="2366"/>
              <a:ext cx="416" cy="25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43" name="Rectangle 15">
              <a:extLst>
                <a:ext uri="{FF2B5EF4-FFF2-40B4-BE49-F238E27FC236}">
                  <a16:creationId xmlns:a16="http://schemas.microsoft.com/office/drawing/2014/main" id="{4040DDE4-3CEE-4049-A5F5-783C6439DF58}"/>
                </a:ext>
              </a:extLst>
            </p:cNvPr>
            <p:cNvSpPr>
              <a:spLocks noChangeArrowheads="1"/>
            </p:cNvSpPr>
            <p:nvPr/>
          </p:nvSpPr>
          <p:spPr bwMode="auto">
            <a:xfrm>
              <a:off x="3417" y="2049"/>
              <a:ext cx="96" cy="131"/>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44" name="Rectangle 16">
              <a:extLst>
                <a:ext uri="{FF2B5EF4-FFF2-40B4-BE49-F238E27FC236}">
                  <a16:creationId xmlns:a16="http://schemas.microsoft.com/office/drawing/2014/main" id="{66CBA17E-0228-4315-93DB-65EACC3647E8}"/>
                </a:ext>
              </a:extLst>
            </p:cNvPr>
            <p:cNvSpPr>
              <a:spLocks noChangeArrowheads="1"/>
            </p:cNvSpPr>
            <p:nvPr/>
          </p:nvSpPr>
          <p:spPr bwMode="auto">
            <a:xfrm>
              <a:off x="3504" y="2109"/>
              <a:ext cx="56" cy="10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45" name="Rectangle 17">
              <a:extLst>
                <a:ext uri="{FF2B5EF4-FFF2-40B4-BE49-F238E27FC236}">
                  <a16:creationId xmlns:a16="http://schemas.microsoft.com/office/drawing/2014/main" id="{6716312A-C0D7-4A0F-8D1B-B039410F012B}"/>
                </a:ext>
              </a:extLst>
            </p:cNvPr>
            <p:cNvSpPr>
              <a:spLocks noChangeArrowheads="1"/>
            </p:cNvSpPr>
            <p:nvPr/>
          </p:nvSpPr>
          <p:spPr bwMode="auto">
            <a:xfrm>
              <a:off x="3552" y="2183"/>
              <a:ext cx="62" cy="8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46" name="Rectangle 18">
              <a:extLst>
                <a:ext uri="{FF2B5EF4-FFF2-40B4-BE49-F238E27FC236}">
                  <a16:creationId xmlns:a16="http://schemas.microsoft.com/office/drawing/2014/main" id="{91F773E4-EFE4-49CA-95EC-0BE66ABBDA75}"/>
                </a:ext>
              </a:extLst>
            </p:cNvPr>
            <p:cNvSpPr>
              <a:spLocks noChangeArrowheads="1"/>
            </p:cNvSpPr>
            <p:nvPr/>
          </p:nvSpPr>
          <p:spPr bwMode="auto">
            <a:xfrm>
              <a:off x="3542" y="2259"/>
              <a:ext cx="153" cy="1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47" name="Rectangle 19">
              <a:extLst>
                <a:ext uri="{FF2B5EF4-FFF2-40B4-BE49-F238E27FC236}">
                  <a16:creationId xmlns:a16="http://schemas.microsoft.com/office/drawing/2014/main" id="{8AA00388-2D23-4348-AF42-7A25F97A1CC9}"/>
                </a:ext>
              </a:extLst>
            </p:cNvPr>
            <p:cNvSpPr>
              <a:spLocks noChangeArrowheads="1"/>
            </p:cNvSpPr>
            <p:nvPr/>
          </p:nvSpPr>
          <p:spPr bwMode="auto">
            <a:xfrm>
              <a:off x="3195" y="1850"/>
              <a:ext cx="75" cy="8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48" name="Rectangle 20">
              <a:extLst>
                <a:ext uri="{FF2B5EF4-FFF2-40B4-BE49-F238E27FC236}">
                  <a16:creationId xmlns:a16="http://schemas.microsoft.com/office/drawing/2014/main" id="{3DA7A718-8E55-42B4-AD36-B17169540385}"/>
                </a:ext>
              </a:extLst>
            </p:cNvPr>
            <p:cNvSpPr>
              <a:spLocks noChangeArrowheads="1"/>
            </p:cNvSpPr>
            <p:nvPr/>
          </p:nvSpPr>
          <p:spPr bwMode="auto">
            <a:xfrm>
              <a:off x="3338" y="2012"/>
              <a:ext cx="82" cy="1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49" name="Rectangle 21">
              <a:extLst>
                <a:ext uri="{FF2B5EF4-FFF2-40B4-BE49-F238E27FC236}">
                  <a16:creationId xmlns:a16="http://schemas.microsoft.com/office/drawing/2014/main" id="{B2615E46-6521-43F0-B6CB-063B1EA8FCE0}"/>
                </a:ext>
              </a:extLst>
            </p:cNvPr>
            <p:cNvSpPr>
              <a:spLocks noChangeArrowheads="1"/>
            </p:cNvSpPr>
            <p:nvPr/>
          </p:nvSpPr>
          <p:spPr bwMode="auto">
            <a:xfrm>
              <a:off x="3267" y="1941"/>
              <a:ext cx="71" cy="8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50" name="Rectangle 22">
              <a:extLst>
                <a:ext uri="{FF2B5EF4-FFF2-40B4-BE49-F238E27FC236}">
                  <a16:creationId xmlns:a16="http://schemas.microsoft.com/office/drawing/2014/main" id="{4CF9ED26-4E0E-4E76-B69B-97340DE10730}"/>
                </a:ext>
              </a:extLst>
            </p:cNvPr>
            <p:cNvSpPr>
              <a:spLocks noChangeArrowheads="1"/>
            </p:cNvSpPr>
            <p:nvPr/>
          </p:nvSpPr>
          <p:spPr bwMode="auto">
            <a:xfrm>
              <a:off x="3693" y="1526"/>
              <a:ext cx="56" cy="81"/>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51" name="Rectangle 23">
              <a:extLst>
                <a:ext uri="{FF2B5EF4-FFF2-40B4-BE49-F238E27FC236}">
                  <a16:creationId xmlns:a16="http://schemas.microsoft.com/office/drawing/2014/main" id="{88D0C28C-EF82-4445-8699-4D6B4EF74184}"/>
                </a:ext>
              </a:extLst>
            </p:cNvPr>
            <p:cNvSpPr>
              <a:spLocks noChangeArrowheads="1"/>
            </p:cNvSpPr>
            <p:nvPr/>
          </p:nvSpPr>
          <p:spPr bwMode="auto">
            <a:xfrm>
              <a:off x="3724" y="1565"/>
              <a:ext cx="56"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52" name="Rectangle 24">
              <a:extLst>
                <a:ext uri="{FF2B5EF4-FFF2-40B4-BE49-F238E27FC236}">
                  <a16:creationId xmlns:a16="http://schemas.microsoft.com/office/drawing/2014/main" id="{9E6573B0-72A1-4816-A499-28E3E8CF924D}"/>
                </a:ext>
              </a:extLst>
            </p:cNvPr>
            <p:cNvSpPr>
              <a:spLocks noChangeArrowheads="1"/>
            </p:cNvSpPr>
            <p:nvPr/>
          </p:nvSpPr>
          <p:spPr bwMode="auto">
            <a:xfrm>
              <a:off x="3765" y="1607"/>
              <a:ext cx="56" cy="61"/>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53" name="Rectangle 25">
              <a:extLst>
                <a:ext uri="{FF2B5EF4-FFF2-40B4-BE49-F238E27FC236}">
                  <a16:creationId xmlns:a16="http://schemas.microsoft.com/office/drawing/2014/main" id="{78257E17-BA20-466A-9753-CD2E13A5A592}"/>
                </a:ext>
              </a:extLst>
            </p:cNvPr>
            <p:cNvSpPr>
              <a:spLocks noChangeArrowheads="1"/>
            </p:cNvSpPr>
            <p:nvPr/>
          </p:nvSpPr>
          <p:spPr bwMode="auto">
            <a:xfrm>
              <a:off x="3786" y="1646"/>
              <a:ext cx="56"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55" name="Rectangle 27">
              <a:extLst>
                <a:ext uri="{FF2B5EF4-FFF2-40B4-BE49-F238E27FC236}">
                  <a16:creationId xmlns:a16="http://schemas.microsoft.com/office/drawing/2014/main" id="{E161A53B-DF05-4F55-8E8A-59F54DB0BC08}"/>
                </a:ext>
              </a:extLst>
            </p:cNvPr>
            <p:cNvSpPr>
              <a:spLocks noChangeArrowheads="1"/>
            </p:cNvSpPr>
            <p:nvPr/>
          </p:nvSpPr>
          <p:spPr bwMode="auto">
            <a:xfrm>
              <a:off x="3829" y="1685"/>
              <a:ext cx="56"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56" name="Rectangle 28">
              <a:extLst>
                <a:ext uri="{FF2B5EF4-FFF2-40B4-BE49-F238E27FC236}">
                  <a16:creationId xmlns:a16="http://schemas.microsoft.com/office/drawing/2014/main" id="{8F34BA2B-95A3-420E-AA4C-A5CB1E1BD116}"/>
                </a:ext>
              </a:extLst>
            </p:cNvPr>
            <p:cNvSpPr>
              <a:spLocks noChangeArrowheads="1"/>
            </p:cNvSpPr>
            <p:nvPr/>
          </p:nvSpPr>
          <p:spPr bwMode="auto">
            <a:xfrm>
              <a:off x="3809" y="1728"/>
              <a:ext cx="93" cy="8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7357" name="Line 29">
              <a:extLst>
                <a:ext uri="{FF2B5EF4-FFF2-40B4-BE49-F238E27FC236}">
                  <a16:creationId xmlns:a16="http://schemas.microsoft.com/office/drawing/2014/main" id="{E895B44A-D64B-4380-9556-B7F57358D039}"/>
                </a:ext>
              </a:extLst>
            </p:cNvPr>
            <p:cNvSpPr>
              <a:spLocks noChangeShapeType="1"/>
            </p:cNvSpPr>
            <p:nvPr/>
          </p:nvSpPr>
          <p:spPr bwMode="auto">
            <a:xfrm flipV="1">
              <a:off x="3431" y="1769"/>
              <a:ext cx="435" cy="337"/>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27360" name="Text Box 32">
            <a:extLst>
              <a:ext uri="{FF2B5EF4-FFF2-40B4-BE49-F238E27FC236}">
                <a16:creationId xmlns:a16="http://schemas.microsoft.com/office/drawing/2014/main" id="{677F7068-BE9D-423C-A834-501FBE45B6ED}"/>
              </a:ext>
            </a:extLst>
          </p:cNvPr>
          <p:cNvSpPr txBox="1">
            <a:spLocks noChangeArrowheads="1"/>
          </p:cNvSpPr>
          <p:nvPr/>
        </p:nvSpPr>
        <p:spPr bwMode="auto">
          <a:xfrm>
            <a:off x="177800" y="4043363"/>
            <a:ext cx="880427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Slip at </a:t>
            </a:r>
            <a:r>
              <a:rPr lang="en-GB" altLang="en-US" sz="1700" dirty="0">
                <a:solidFill>
                  <a:srgbClr val="FF6600"/>
                </a:solidFill>
                <a:effectLst>
                  <a:outerShdw blurRad="38100" dist="38100" dir="2700000" algn="tl">
                    <a:srgbClr val="000000"/>
                  </a:outerShdw>
                </a:effectLst>
                <a:latin typeface="Arial" panose="020B0604020202020204" pitchFamily="34" charset="0"/>
              </a:rPr>
              <a:t>restraining bends and stepovers</a:t>
            </a:r>
            <a:r>
              <a:rPr lang="en-GB" altLang="en-US" sz="1700" dirty="0">
                <a:effectLst>
                  <a:outerShdw blurRad="38100" dist="38100" dir="2700000" algn="tl">
                    <a:srgbClr val="000000"/>
                  </a:outerShdw>
                </a:effectLst>
                <a:latin typeface="Arial" panose="020B0604020202020204" pitchFamily="34" charset="0"/>
              </a:rPr>
              <a:t> leads to contractional structures (</a:t>
            </a:r>
            <a:r>
              <a:rPr lang="en-GB" altLang="en-US" sz="1700" dirty="0" err="1">
                <a:solidFill>
                  <a:srgbClr val="FF66FF"/>
                </a:solidFill>
                <a:effectLst>
                  <a:outerShdw blurRad="38100" dist="38100" dir="2700000" algn="tl">
                    <a:srgbClr val="000000"/>
                  </a:outerShdw>
                </a:effectLst>
                <a:latin typeface="Arial" panose="020B0604020202020204" pitchFamily="34" charset="0"/>
              </a:rPr>
              <a:t>stylolites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FF"/>
                </a:solidFill>
                <a:effectLst>
                  <a:outerShdw blurRad="38100" dist="38100" dir="2700000" algn="tl">
                    <a:srgbClr val="000000"/>
                  </a:outerShdw>
                </a:effectLst>
                <a:latin typeface="Arial" panose="020B0604020202020204" pitchFamily="34" charset="0"/>
              </a:rPr>
              <a:t>cleavages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FF"/>
                </a:solidFill>
                <a:effectLst>
                  <a:outerShdw blurRad="38100" dist="38100" dir="2700000" algn="tl">
                    <a:srgbClr val="000000"/>
                  </a:outerShdw>
                </a:effectLst>
                <a:latin typeface="Arial" panose="020B0604020202020204" pitchFamily="34" charset="0"/>
              </a:rPr>
              <a:t>folds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FF"/>
                </a:solidFill>
                <a:effectLst>
                  <a:outerShdw blurRad="38100" dist="38100" dir="2700000" algn="tl">
                    <a:srgbClr val="000000"/>
                  </a:outerShdw>
                </a:effectLst>
                <a:latin typeface="Arial" panose="020B0604020202020204" pitchFamily="34" charset="0"/>
              </a:rPr>
              <a:t>reverse faults</a:t>
            </a:r>
            <a:r>
              <a:rPr lang="en-GB" altLang="en-US" sz="1700" dirty="0">
                <a:effectLst>
                  <a:outerShdw blurRad="38100" dist="38100" dir="2700000" algn="tl">
                    <a:srgbClr val="000000"/>
                  </a:outerShdw>
                </a:effectLst>
                <a:latin typeface="Arial" panose="020B0604020202020204" pitchFamily="34" charset="0"/>
              </a:rPr>
              <a:t>) and sometimes </a:t>
            </a:r>
            <a:r>
              <a:rPr lang="en-GB" altLang="en-US" sz="1700" dirty="0">
                <a:solidFill>
                  <a:srgbClr val="FF6600"/>
                </a:solidFill>
                <a:effectLst>
                  <a:outerShdw blurRad="38100" dist="38100" dir="2700000" algn="tl">
                    <a:srgbClr val="000000"/>
                  </a:outerShdw>
                </a:effectLst>
                <a:latin typeface="Arial" panose="020B0604020202020204" pitchFamily="34" charset="0"/>
              </a:rPr>
              <a:t>contractional duplexes</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reverse faults in such structures generate areas of topographic elevation</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vertical section, contractional duplexes, like extensional duplexes, widen towards the surface to create a </a:t>
            </a:r>
            <a:r>
              <a:rPr lang="en-GB" altLang="en-US" sz="1700" dirty="0">
                <a:solidFill>
                  <a:srgbClr val="FF6600"/>
                </a:solidFill>
                <a:effectLst>
                  <a:outerShdw blurRad="38100" dist="38100" dir="2700000" algn="tl">
                    <a:srgbClr val="000000"/>
                  </a:outerShdw>
                </a:effectLst>
                <a:latin typeface="Arial" panose="020B0604020202020204" pitchFamily="34" charset="0"/>
              </a:rPr>
              <a:t>flower structure</a:t>
            </a:r>
            <a:r>
              <a:rPr lang="en-GB" altLang="en-US" sz="1700" dirty="0">
                <a:effectLst>
                  <a:outerShdw blurRad="38100" dist="38100" dir="2700000" algn="tl">
                    <a:srgbClr val="000000"/>
                  </a:outerShdw>
                </a:effectLst>
                <a:latin typeface="Arial" panose="020B0604020202020204" pitchFamily="34" charset="0"/>
              </a:rPr>
              <a:t>. Contractional duplexes produce </a:t>
            </a:r>
            <a:r>
              <a:rPr lang="en-GB" altLang="en-US" sz="1700" dirty="0">
                <a:solidFill>
                  <a:srgbClr val="FF66FF"/>
                </a:solidFill>
                <a:effectLst>
                  <a:outerShdw blurRad="38100" dist="38100" dir="2700000" algn="tl">
                    <a:srgbClr val="000000"/>
                  </a:outerShdw>
                </a:effectLst>
                <a:latin typeface="Arial" panose="020B0604020202020204" pitchFamily="34" charset="0"/>
              </a:rPr>
              <a:t>positive flower structures</a:t>
            </a:r>
            <a:r>
              <a:rPr lang="en-GB" altLang="en-US" sz="1700" dirty="0">
                <a:effectLst>
                  <a:outerShdw blurRad="38100" dist="38100" dir="2700000" algn="tl">
                    <a:srgbClr val="000000"/>
                  </a:outerShdw>
                </a:effectLst>
                <a:latin typeface="Arial" panose="020B0604020202020204" pitchFamily="34" charset="0"/>
              </a:rPr>
              <a:t> in which the component faults tend to be </a:t>
            </a:r>
            <a:r>
              <a:rPr lang="en-GB" altLang="en-US" sz="1700" dirty="0" err="1">
                <a:effectLst>
                  <a:outerShdw blurRad="38100" dist="38100" dir="2700000" algn="tl">
                    <a:srgbClr val="000000"/>
                  </a:outerShdw>
                </a:effectLst>
                <a:latin typeface="Arial" panose="020B0604020202020204" pitchFamily="34" charset="0"/>
              </a:rPr>
              <a:t>antilistric</a:t>
            </a:r>
            <a:r>
              <a:rPr lang="en-GB" altLang="en-US" sz="1700" dirty="0">
                <a:effectLst>
                  <a:outerShdw blurRad="38100" dist="38100" dir="2700000" algn="tl">
                    <a:srgbClr val="000000"/>
                  </a:outerShdw>
                </a:effectLst>
                <a:latin typeface="Arial" panose="020B0604020202020204" pitchFamily="34" charset="0"/>
              </a:rPr>
              <a:t> and the central part is structurally raised as a </a:t>
            </a:r>
            <a:r>
              <a:rPr lang="en-GB" altLang="en-US" sz="1700" dirty="0">
                <a:solidFill>
                  <a:srgbClr val="FF66FF"/>
                </a:solidFill>
                <a:effectLst>
                  <a:outerShdw blurRad="38100" dist="38100" dir="2700000" algn="tl">
                    <a:srgbClr val="000000"/>
                  </a:outerShdw>
                </a:effectLst>
                <a:latin typeface="Arial" panose="020B0604020202020204" pitchFamily="34" charset="0"/>
              </a:rPr>
              <a:t>pop-up structure</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364" name="Picture 44" descr="12b1-PIA03376">
            <a:extLst>
              <a:ext uri="{FF2B5EF4-FFF2-40B4-BE49-F238E27FC236}">
                <a16:creationId xmlns:a16="http://schemas.microsoft.com/office/drawing/2014/main" id="{0AF9D375-4AAB-44E9-9A1D-255B58894CA4}"/>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049463" y="906463"/>
            <a:ext cx="6905625" cy="28924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2322" name="Rectangle 2">
            <a:extLst>
              <a:ext uri="{FF2B5EF4-FFF2-40B4-BE49-F238E27FC236}">
                <a16:creationId xmlns:a16="http://schemas.microsoft.com/office/drawing/2014/main" id="{913E74FF-957F-4895-9936-42B711354C61}"/>
              </a:ext>
            </a:extLst>
          </p:cNvPr>
          <p:cNvSpPr>
            <a:spLocks noGrp="1" noChangeArrowheads="1"/>
          </p:cNvSpPr>
          <p:nvPr>
            <p:ph type="title"/>
          </p:nvPr>
        </p:nvSpPr>
        <p:spPr>
          <a:noFill/>
        </p:spPr>
        <p:txBody>
          <a:bodyPr/>
          <a:lstStyle/>
          <a:p>
            <a:r>
              <a:rPr lang="en-GB" altLang="en-US" dirty="0">
                <a:effectLst/>
              </a:rPr>
              <a:t>Restraining bend</a:t>
            </a:r>
            <a:r>
              <a:rPr lang="en-GB" altLang="en-US" spc="500" dirty="0">
                <a:effectLst/>
              </a:rPr>
              <a:t>s/</a:t>
            </a:r>
            <a:r>
              <a:rPr lang="en-GB" altLang="en-US" dirty="0">
                <a:effectLst/>
              </a:rPr>
              <a:t>stepovers  2</a:t>
            </a:r>
          </a:p>
        </p:txBody>
      </p:sp>
      <p:sp>
        <p:nvSpPr>
          <p:cNvPr id="312343" name="Rectangle 23">
            <a:extLst>
              <a:ext uri="{FF2B5EF4-FFF2-40B4-BE49-F238E27FC236}">
                <a16:creationId xmlns:a16="http://schemas.microsoft.com/office/drawing/2014/main" id="{C39AA6E5-A67B-41DC-9E69-44EB161F7C3B}"/>
              </a:ext>
            </a:extLst>
          </p:cNvPr>
          <p:cNvSpPr>
            <a:spLocks noChangeArrowheads="1"/>
          </p:cNvSpPr>
          <p:nvPr/>
        </p:nvSpPr>
        <p:spPr bwMode="auto">
          <a:xfrm>
            <a:off x="168275" y="4059238"/>
            <a:ext cx="4940300"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dirty="0">
                <a:effectLst/>
              </a:rPr>
              <a:t>A well studied example of a restraining bend is the </a:t>
            </a:r>
            <a:r>
              <a:rPr lang="en-GB" altLang="en-US" sz="1700" dirty="0">
                <a:solidFill>
                  <a:srgbClr val="FF6600"/>
                </a:solidFill>
                <a:effectLst/>
              </a:rPr>
              <a:t>Big Bend</a:t>
            </a:r>
            <a:r>
              <a:rPr lang="en-GB" altLang="en-US" sz="1700" dirty="0">
                <a:effectLst/>
              </a:rPr>
              <a:t>, a </a:t>
            </a:r>
            <a:r>
              <a:rPr lang="en-GB" altLang="en-US" sz="1700" spc="200" dirty="0">
                <a:effectLst/>
              </a:rPr>
              <a:t>~</a:t>
            </a:r>
            <a:r>
              <a:rPr lang="en-GB" altLang="en-US" sz="1700" dirty="0">
                <a:effectLst/>
              </a:rPr>
              <a:t>120 km swing in orientation of the San Andreas Fault where it is intersected by the Garlock Fault in southern California</a:t>
            </a:r>
          </a:p>
          <a:p>
            <a:pPr>
              <a:spcBef>
                <a:spcPct val="75000"/>
              </a:spcBef>
            </a:pPr>
            <a:r>
              <a:rPr lang="en-GB" altLang="en-US" sz="1700" dirty="0">
                <a:effectLst/>
              </a:rPr>
              <a:t>Here the compression is manifested as slip on E-W oriented thrust faults, and this has led to rapid uplift of the </a:t>
            </a:r>
            <a:r>
              <a:rPr lang="en-GB" altLang="en-US" sz="1700" dirty="0">
                <a:solidFill>
                  <a:srgbClr val="FF66FF"/>
                </a:solidFill>
                <a:effectLst/>
              </a:rPr>
              <a:t>Transverse Ranges</a:t>
            </a:r>
          </a:p>
        </p:txBody>
      </p:sp>
      <p:sp>
        <p:nvSpPr>
          <p:cNvPr id="312356" name="Text Box 36">
            <a:extLst>
              <a:ext uri="{FF2B5EF4-FFF2-40B4-BE49-F238E27FC236}">
                <a16:creationId xmlns:a16="http://schemas.microsoft.com/office/drawing/2014/main" id="{EB82A80F-E4F0-4A4D-B4EF-97EE04E99765}"/>
              </a:ext>
            </a:extLst>
          </p:cNvPr>
          <p:cNvSpPr txBox="1">
            <a:spLocks noChangeArrowheads="1"/>
          </p:cNvSpPr>
          <p:nvPr/>
        </p:nvSpPr>
        <p:spPr bwMode="auto">
          <a:xfrm>
            <a:off x="255588" y="800100"/>
            <a:ext cx="172085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Digital elevation model looking NW; the San Andreas Fault is the prominent scar separating the San Gabriel Mts (left) from the low relief Mojave Desert (right)</a:t>
            </a:r>
          </a:p>
        </p:txBody>
      </p:sp>
      <p:pic>
        <p:nvPicPr>
          <p:cNvPr id="312362" name="Picture 42" descr="12b2">
            <a:extLst>
              <a:ext uri="{FF2B5EF4-FFF2-40B4-BE49-F238E27FC236}">
                <a16:creationId xmlns:a16="http://schemas.microsoft.com/office/drawing/2014/main" id="{51B07AED-4E64-4B51-88F1-6BE911FC9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4150" y="3986213"/>
            <a:ext cx="3563938" cy="27209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12367" name="AutoShape 47">
            <a:extLst>
              <a:ext uri="{FF2B5EF4-FFF2-40B4-BE49-F238E27FC236}">
                <a16:creationId xmlns:a16="http://schemas.microsoft.com/office/drawing/2014/main" id="{736DC407-2474-4433-830A-6E827AE588D5}"/>
              </a:ext>
            </a:extLst>
          </p:cNvPr>
          <p:cNvSpPr>
            <a:spLocks noChangeAspect="1" noChangeArrowheads="1"/>
          </p:cNvSpPr>
          <p:nvPr/>
        </p:nvSpPr>
        <p:spPr bwMode="auto">
          <a:xfrm>
            <a:off x="6734175" y="5464175"/>
            <a:ext cx="161925" cy="153988"/>
          </a:xfrm>
          <a:prstGeom prst="star5">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2368" name="AutoShape 48">
            <a:extLst>
              <a:ext uri="{FF2B5EF4-FFF2-40B4-BE49-F238E27FC236}">
                <a16:creationId xmlns:a16="http://schemas.microsoft.com/office/drawing/2014/main" id="{7F7FC622-1ED7-4519-BDAA-6B85B5B95CE7}"/>
              </a:ext>
            </a:extLst>
          </p:cNvPr>
          <p:cNvSpPr>
            <a:spLocks noChangeAspect="1" noChangeArrowheads="1"/>
          </p:cNvSpPr>
          <p:nvPr/>
        </p:nvSpPr>
        <p:spPr bwMode="auto">
          <a:xfrm>
            <a:off x="4175125" y="3108325"/>
            <a:ext cx="161925" cy="153988"/>
          </a:xfrm>
          <a:prstGeom prst="star5">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1BD570E1-90E9-4B28-900D-1C9FED02FBFE}"/>
              </a:ext>
            </a:extLst>
          </p:cNvPr>
          <p:cNvSpPr>
            <a:spLocks noGrp="1" noChangeArrowheads="1"/>
          </p:cNvSpPr>
          <p:nvPr>
            <p:ph type="title"/>
          </p:nvPr>
        </p:nvSpPr>
        <p:spPr>
          <a:noFill/>
        </p:spPr>
        <p:txBody>
          <a:bodyPr/>
          <a:lstStyle/>
          <a:p>
            <a:r>
              <a:rPr lang="en-GB" altLang="en-US" dirty="0">
                <a:effectLst/>
              </a:rPr>
              <a:t>Restraining bend</a:t>
            </a:r>
            <a:r>
              <a:rPr lang="en-GB" altLang="en-US" spc="500" dirty="0">
                <a:effectLst/>
              </a:rPr>
              <a:t>s/</a:t>
            </a:r>
            <a:r>
              <a:rPr lang="en-GB" altLang="en-US" dirty="0">
                <a:effectLst/>
              </a:rPr>
              <a:t>stepovers  3</a:t>
            </a:r>
          </a:p>
        </p:txBody>
      </p:sp>
      <p:sp>
        <p:nvSpPr>
          <p:cNvPr id="228355" name="Rectangle 3">
            <a:extLst>
              <a:ext uri="{FF2B5EF4-FFF2-40B4-BE49-F238E27FC236}">
                <a16:creationId xmlns:a16="http://schemas.microsoft.com/office/drawing/2014/main" id="{FC8FCFE0-9D8D-428F-B31A-7AE2E9F0F2E6}"/>
              </a:ext>
            </a:extLst>
          </p:cNvPr>
          <p:cNvSpPr>
            <a:spLocks noGrp="1" noChangeArrowheads="1"/>
          </p:cNvSpPr>
          <p:nvPr>
            <p:ph type="body" sz="half" idx="1"/>
          </p:nvPr>
        </p:nvSpPr>
        <p:spPr>
          <a:xfrm>
            <a:off x="6162675" y="4978400"/>
            <a:ext cx="2981325" cy="1497013"/>
          </a:xfrm>
          <a:noFill/>
        </p:spPr>
        <p:txBody>
          <a:bodyPr/>
          <a:lstStyle/>
          <a:p>
            <a:pPr marL="177800" indent="-177800">
              <a:spcBef>
                <a:spcPct val="75000"/>
              </a:spcBef>
            </a:pPr>
            <a:r>
              <a:rPr lang="en-GB" altLang="en-US" sz="1700">
                <a:solidFill>
                  <a:srgbClr val="FF66FF"/>
                </a:solidFill>
                <a:effectLst/>
              </a:rPr>
              <a:t>Analogue models</a:t>
            </a:r>
            <a:r>
              <a:rPr lang="en-GB" altLang="en-US" sz="1700">
                <a:effectLst/>
              </a:rPr>
              <a:t> have succeeded in generating pop-up structures in contractional duplexes</a:t>
            </a:r>
          </a:p>
        </p:txBody>
      </p:sp>
      <p:pic>
        <p:nvPicPr>
          <p:cNvPr id="228364" name="Picture 12" descr="12c2">
            <a:extLst>
              <a:ext uri="{FF2B5EF4-FFF2-40B4-BE49-F238E27FC236}">
                <a16:creationId xmlns:a16="http://schemas.microsoft.com/office/drawing/2014/main" id="{63867D31-7ADB-4311-B48B-D81749F79920}"/>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150813" y="863600"/>
            <a:ext cx="5992812" cy="40735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8362" name="Picture 10" descr="12c3">
            <a:extLst>
              <a:ext uri="{FF2B5EF4-FFF2-40B4-BE49-F238E27FC236}">
                <a16:creationId xmlns:a16="http://schemas.microsoft.com/office/drawing/2014/main" id="{B1ABE78C-677D-4511-BC64-C0FED146C3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813" y="5057775"/>
            <a:ext cx="6003925" cy="16081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28367" name="Picture 15" descr="12c1">
            <a:extLst>
              <a:ext uri="{FF2B5EF4-FFF2-40B4-BE49-F238E27FC236}">
                <a16:creationId xmlns:a16="http://schemas.microsoft.com/office/drawing/2014/main" id="{108E6AF5-A5EC-4F3F-87E7-794B07604C31}"/>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6272213" y="860425"/>
            <a:ext cx="2740025" cy="21336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a:extLst>
              <a:ext uri="{FF2B5EF4-FFF2-40B4-BE49-F238E27FC236}">
                <a16:creationId xmlns:a16="http://schemas.microsoft.com/office/drawing/2014/main" id="{3A500A91-E602-4677-9F56-46211FAFE4A2}"/>
              </a:ext>
            </a:extLst>
          </p:cNvPr>
          <p:cNvSpPr>
            <a:spLocks noGrp="1" noChangeArrowheads="1"/>
          </p:cNvSpPr>
          <p:nvPr>
            <p:ph type="title"/>
          </p:nvPr>
        </p:nvSpPr>
        <p:spPr>
          <a:noFill/>
        </p:spPr>
        <p:txBody>
          <a:bodyPr/>
          <a:lstStyle/>
          <a:p>
            <a:r>
              <a:rPr lang="en-GB" altLang="en-US" dirty="0">
                <a:effectLst/>
              </a:rPr>
              <a:t>Restraining bend</a:t>
            </a:r>
            <a:r>
              <a:rPr lang="en-GB" altLang="en-US" spc="500" dirty="0">
                <a:effectLst/>
              </a:rPr>
              <a:t>s/</a:t>
            </a:r>
            <a:r>
              <a:rPr lang="en-GB" altLang="en-US" dirty="0">
                <a:effectLst/>
              </a:rPr>
              <a:t>stepovers  4</a:t>
            </a:r>
          </a:p>
        </p:txBody>
      </p:sp>
      <p:sp>
        <p:nvSpPr>
          <p:cNvPr id="315395" name="Rectangle 3">
            <a:extLst>
              <a:ext uri="{FF2B5EF4-FFF2-40B4-BE49-F238E27FC236}">
                <a16:creationId xmlns:a16="http://schemas.microsoft.com/office/drawing/2014/main" id="{CF26A169-EA27-4EF6-A3FA-EDC038F4F08B}"/>
              </a:ext>
            </a:extLst>
          </p:cNvPr>
          <p:cNvSpPr>
            <a:spLocks noGrp="1" noChangeArrowheads="1"/>
          </p:cNvSpPr>
          <p:nvPr>
            <p:ph type="body" sz="half" idx="1"/>
          </p:nvPr>
        </p:nvSpPr>
        <p:spPr>
          <a:xfrm>
            <a:off x="6948196" y="3429000"/>
            <a:ext cx="2052742" cy="3222625"/>
          </a:xfrm>
          <a:noFill/>
        </p:spPr>
        <p:txBody>
          <a:bodyPr/>
          <a:lstStyle/>
          <a:p>
            <a:pPr marL="0" indent="0">
              <a:spcBef>
                <a:spcPct val="75000"/>
              </a:spcBef>
              <a:buFont typeface="Times" panose="02020603050405020304" pitchFamily="18" charset="0"/>
              <a:buNone/>
            </a:pPr>
            <a:r>
              <a:rPr lang="en-GB" altLang="en-US" sz="1500" dirty="0">
                <a:effectLst/>
              </a:rPr>
              <a:t>(a) Initiation of dextral strike-slip movement</a:t>
            </a:r>
          </a:p>
          <a:p>
            <a:pPr marL="0" indent="0">
              <a:spcBef>
                <a:spcPct val="75000"/>
              </a:spcBef>
              <a:buFont typeface="Times" panose="02020603050405020304" pitchFamily="18" charset="0"/>
              <a:buNone/>
            </a:pPr>
            <a:r>
              <a:rPr lang="en-GB" altLang="en-US" sz="1500" dirty="0">
                <a:effectLst/>
              </a:rPr>
              <a:t>(b) Curved fault surface leads to formation of releasing and restraining bends and duplexing</a:t>
            </a:r>
          </a:p>
          <a:p>
            <a:pPr marL="0" indent="0">
              <a:spcBef>
                <a:spcPct val="75000"/>
              </a:spcBef>
              <a:buFont typeface="Times" panose="02020603050405020304" pitchFamily="18" charset="0"/>
              <a:buNone/>
            </a:pPr>
            <a:r>
              <a:rPr lang="en-GB" altLang="en-US" sz="1500" dirty="0">
                <a:effectLst/>
              </a:rPr>
              <a:t>(c), (d) Northward migration and straightening of faults</a:t>
            </a:r>
          </a:p>
        </p:txBody>
      </p:sp>
      <p:pic>
        <p:nvPicPr>
          <p:cNvPr id="315403" name="Picture 11">
            <a:extLst>
              <a:ext uri="{FF2B5EF4-FFF2-40B4-BE49-F238E27FC236}">
                <a16:creationId xmlns:a16="http://schemas.microsoft.com/office/drawing/2014/main" id="{75F9C199-AA1D-4140-B18C-5D0D9BC019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0550" y="938213"/>
            <a:ext cx="1981200" cy="23431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5404" name="Text Box 12">
            <a:extLst>
              <a:ext uri="{FF2B5EF4-FFF2-40B4-BE49-F238E27FC236}">
                <a16:creationId xmlns:a16="http://schemas.microsoft.com/office/drawing/2014/main" id="{272890F3-E42D-4459-B742-30D528ED5C14}"/>
              </a:ext>
            </a:extLst>
          </p:cNvPr>
          <p:cNvSpPr txBox="1">
            <a:spLocks noChangeArrowheads="1"/>
          </p:cNvSpPr>
          <p:nvPr/>
        </p:nvSpPr>
        <p:spPr bwMode="auto">
          <a:xfrm>
            <a:off x="4110038" y="866775"/>
            <a:ext cx="2470150"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Releasing and restraining bends on the Agenor Linea strike-slip system, Europa, and (right) a restraining bend on Mercury</a:t>
            </a:r>
          </a:p>
        </p:txBody>
      </p:sp>
      <p:pic>
        <p:nvPicPr>
          <p:cNvPr id="315405" name="Picture 13" descr="12d1">
            <a:extLst>
              <a:ext uri="{FF2B5EF4-FFF2-40B4-BE49-F238E27FC236}">
                <a16:creationId xmlns:a16="http://schemas.microsoft.com/office/drawing/2014/main" id="{E5E37088-D6B5-4E2E-8A31-B05B086192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650" y="896938"/>
            <a:ext cx="3613150" cy="28892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15407" name="Picture 15" descr="12d2">
            <a:extLst>
              <a:ext uri="{FF2B5EF4-FFF2-40B4-BE49-F238E27FC236}">
                <a16:creationId xmlns:a16="http://schemas.microsoft.com/office/drawing/2014/main" id="{9F72FF24-0EAD-4EE1-9A19-B25CB15A04A0}"/>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247650" y="3976688"/>
            <a:ext cx="3619500" cy="26765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5409" name="Picture 17" descr="12d3">
            <a:extLst>
              <a:ext uri="{FF2B5EF4-FFF2-40B4-BE49-F238E27FC236}">
                <a16:creationId xmlns:a16="http://schemas.microsoft.com/office/drawing/2014/main" id="{A69C7B5B-B3C0-46C9-AD1E-40F86E7D13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5900" y="3370263"/>
            <a:ext cx="2778125" cy="32877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15411" name="Freeform 19">
            <a:extLst>
              <a:ext uri="{FF2B5EF4-FFF2-40B4-BE49-F238E27FC236}">
                <a16:creationId xmlns:a16="http://schemas.microsoft.com/office/drawing/2014/main" id="{731BC7A4-C4B9-4559-AFC2-C191DC73D984}"/>
              </a:ext>
            </a:extLst>
          </p:cNvPr>
          <p:cNvSpPr>
            <a:spLocks/>
          </p:cNvSpPr>
          <p:nvPr/>
        </p:nvSpPr>
        <p:spPr bwMode="auto">
          <a:xfrm rot="7283715">
            <a:off x="409575" y="4406900"/>
            <a:ext cx="317500" cy="355600"/>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5412" name="Freeform 20">
            <a:extLst>
              <a:ext uri="{FF2B5EF4-FFF2-40B4-BE49-F238E27FC236}">
                <a16:creationId xmlns:a16="http://schemas.microsoft.com/office/drawing/2014/main" id="{0C868DB7-E51D-4468-BC25-ED455F1F488D}"/>
              </a:ext>
            </a:extLst>
          </p:cNvPr>
          <p:cNvSpPr>
            <a:spLocks/>
          </p:cNvSpPr>
          <p:nvPr/>
        </p:nvSpPr>
        <p:spPr bwMode="auto">
          <a:xfrm rot="39337544">
            <a:off x="3333751" y="5580062"/>
            <a:ext cx="315912" cy="354013"/>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9519" name="Picture 31" descr="13b1">
            <a:extLst>
              <a:ext uri="{FF2B5EF4-FFF2-40B4-BE49-F238E27FC236}">
                <a16:creationId xmlns:a16="http://schemas.microsoft.com/office/drawing/2014/main" id="{4BF88101-33D4-4F82-8CB4-B6574E9154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5700" y="992188"/>
            <a:ext cx="4032250" cy="55340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19515" name="Picture 27" descr="13a">
            <a:extLst>
              <a:ext uri="{FF2B5EF4-FFF2-40B4-BE49-F238E27FC236}">
                <a16:creationId xmlns:a16="http://schemas.microsoft.com/office/drawing/2014/main" id="{6EFB15DB-09F5-4CBF-9961-6C308C1A3E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49304"/>
          <a:stretch>
            <a:fillRect/>
          </a:stretch>
        </p:blipFill>
        <p:spPr bwMode="auto">
          <a:xfrm>
            <a:off x="150813" y="4251325"/>
            <a:ext cx="2247900" cy="24003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19516" name="Picture 28" descr="13a">
            <a:extLst>
              <a:ext uri="{FF2B5EF4-FFF2-40B4-BE49-F238E27FC236}">
                <a16:creationId xmlns:a16="http://schemas.microsoft.com/office/drawing/2014/main" id="{83C59112-B016-4448-9814-8D6BF8B2B350}"/>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l="48882"/>
          <a:stretch>
            <a:fillRect/>
          </a:stretch>
        </p:blipFill>
        <p:spPr>
          <a:xfrm>
            <a:off x="2544763" y="4254500"/>
            <a:ext cx="2263775" cy="23971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9490" name="Rectangle 2">
            <a:extLst>
              <a:ext uri="{FF2B5EF4-FFF2-40B4-BE49-F238E27FC236}">
                <a16:creationId xmlns:a16="http://schemas.microsoft.com/office/drawing/2014/main" id="{02FA8F7E-3B21-4855-B6EC-A499F23D9F0D}"/>
              </a:ext>
            </a:extLst>
          </p:cNvPr>
          <p:cNvSpPr>
            <a:spLocks noGrp="1" noChangeArrowheads="1"/>
          </p:cNvSpPr>
          <p:nvPr>
            <p:ph type="title"/>
          </p:nvPr>
        </p:nvSpPr>
        <p:spPr>
          <a:noFill/>
        </p:spPr>
        <p:txBody>
          <a:bodyPr/>
          <a:lstStyle/>
          <a:p>
            <a:r>
              <a:rPr lang="en-GB" altLang="en-US">
                <a:effectLst/>
              </a:rPr>
              <a:t>Transcurrent fault terminations</a:t>
            </a:r>
          </a:p>
        </p:txBody>
      </p:sp>
      <p:sp>
        <p:nvSpPr>
          <p:cNvPr id="319491" name="Rectangle 3">
            <a:extLst>
              <a:ext uri="{FF2B5EF4-FFF2-40B4-BE49-F238E27FC236}">
                <a16:creationId xmlns:a16="http://schemas.microsoft.com/office/drawing/2014/main" id="{151951F4-B8ED-42D5-8EF2-82715867E8E4}"/>
              </a:ext>
            </a:extLst>
          </p:cNvPr>
          <p:cNvSpPr>
            <a:spLocks noGrp="1" noChangeArrowheads="1"/>
          </p:cNvSpPr>
          <p:nvPr>
            <p:ph type="body" sz="half" idx="1"/>
          </p:nvPr>
        </p:nvSpPr>
        <p:spPr>
          <a:xfrm>
            <a:off x="211138" y="884238"/>
            <a:ext cx="4291012" cy="3144837"/>
          </a:xfrm>
          <a:noFill/>
        </p:spPr>
        <p:txBody>
          <a:bodyPr/>
          <a:lstStyle/>
          <a:p>
            <a:pPr marL="177800" indent="-177800">
              <a:spcBef>
                <a:spcPct val="75000"/>
              </a:spcBef>
            </a:pPr>
            <a:r>
              <a:rPr lang="en-GB" altLang="en-US" sz="1700" dirty="0">
                <a:effectLst/>
              </a:rPr>
              <a:t>Strike-slip faults may terminate in an </a:t>
            </a:r>
            <a:r>
              <a:rPr lang="en-GB" altLang="en-US" sz="1700" dirty="0">
                <a:solidFill>
                  <a:srgbClr val="FF6600"/>
                </a:solidFill>
                <a:effectLst/>
              </a:rPr>
              <a:t>imbricate fan</a:t>
            </a:r>
            <a:r>
              <a:rPr lang="en-GB" altLang="en-US" sz="1700" dirty="0">
                <a:effectLst/>
              </a:rPr>
              <a:t> of either </a:t>
            </a:r>
            <a:r>
              <a:rPr lang="en-GB" altLang="en-US" sz="1700" dirty="0">
                <a:solidFill>
                  <a:srgbClr val="FF66FF"/>
                </a:solidFill>
                <a:effectLst/>
              </a:rPr>
              <a:t>normal faults</a:t>
            </a:r>
            <a:r>
              <a:rPr lang="en-GB" altLang="en-US" sz="1700" dirty="0">
                <a:effectLst/>
              </a:rPr>
              <a:t> or </a:t>
            </a:r>
            <a:r>
              <a:rPr lang="en-GB" altLang="en-US" sz="1700" dirty="0">
                <a:solidFill>
                  <a:srgbClr val="FF66FF"/>
                </a:solidFill>
                <a:effectLst/>
              </a:rPr>
              <a:t>reverse faults</a:t>
            </a:r>
            <a:r>
              <a:rPr lang="en-GB" altLang="en-US" sz="1700" dirty="0">
                <a:effectLst/>
              </a:rPr>
              <a:t> depending upon the location of the zone of deformation relative to the fault slip vector</a:t>
            </a:r>
          </a:p>
          <a:p>
            <a:pPr marL="177800" indent="-177800">
              <a:spcBef>
                <a:spcPct val="75000"/>
              </a:spcBef>
            </a:pPr>
            <a:r>
              <a:rPr lang="en-GB" altLang="en-US" sz="1700" dirty="0">
                <a:effectLst/>
              </a:rPr>
              <a:t>The </a:t>
            </a:r>
            <a:r>
              <a:rPr lang="en-GB" altLang="en-US" sz="1700" dirty="0">
                <a:solidFill>
                  <a:srgbClr val="FF66FF"/>
                </a:solidFill>
                <a:effectLst/>
              </a:rPr>
              <a:t>Quetta-</a:t>
            </a:r>
            <a:r>
              <a:rPr lang="en-GB" altLang="en-US" sz="1700" dirty="0" err="1">
                <a:solidFill>
                  <a:srgbClr val="FF66FF"/>
                </a:solidFill>
                <a:effectLst/>
              </a:rPr>
              <a:t>Charman</a:t>
            </a:r>
            <a:r>
              <a:rPr lang="en-GB" altLang="en-US" sz="1700" dirty="0">
                <a:effectLst/>
              </a:rPr>
              <a:t> </a:t>
            </a:r>
            <a:r>
              <a:rPr lang="en-GB" altLang="en-US" sz="1700" dirty="0" err="1">
                <a:effectLst/>
              </a:rPr>
              <a:t>sinistral</a:t>
            </a:r>
            <a:r>
              <a:rPr lang="en-GB" altLang="en-US" sz="1700" dirty="0">
                <a:effectLst/>
              </a:rPr>
              <a:t> strike-slip fault system in Pakistan terminates as an imbricate fan of thrusts that are part of a convergent margin</a:t>
            </a:r>
          </a:p>
        </p:txBody>
      </p:sp>
      <p:sp>
        <p:nvSpPr>
          <p:cNvPr id="319511" name="Freeform 23">
            <a:extLst>
              <a:ext uri="{FF2B5EF4-FFF2-40B4-BE49-F238E27FC236}">
                <a16:creationId xmlns:a16="http://schemas.microsoft.com/office/drawing/2014/main" id="{09D1CA38-7CB6-4A5D-9A79-F4370514797E}"/>
              </a:ext>
            </a:extLst>
          </p:cNvPr>
          <p:cNvSpPr>
            <a:spLocks/>
          </p:cNvSpPr>
          <p:nvPr/>
        </p:nvSpPr>
        <p:spPr bwMode="auto">
          <a:xfrm>
            <a:off x="1114425" y="4541838"/>
            <a:ext cx="195263" cy="42862"/>
          </a:xfrm>
          <a:custGeom>
            <a:avLst/>
            <a:gdLst>
              <a:gd name="T0" fmla="*/ 0 w 123"/>
              <a:gd name="T1" fmla="*/ 27 h 27"/>
              <a:gd name="T2" fmla="*/ 123 w 123"/>
              <a:gd name="T3" fmla="*/ 27 h 27"/>
              <a:gd name="T4" fmla="*/ 99 w 123"/>
              <a:gd name="T5" fmla="*/ 0 h 27"/>
            </a:gdLst>
            <a:ahLst/>
            <a:cxnLst>
              <a:cxn ang="0">
                <a:pos x="T0" y="T1"/>
              </a:cxn>
              <a:cxn ang="0">
                <a:pos x="T2" y="T3"/>
              </a:cxn>
              <a:cxn ang="0">
                <a:pos x="T4" y="T5"/>
              </a:cxn>
            </a:cxnLst>
            <a:rect l="0" t="0" r="r" b="b"/>
            <a:pathLst>
              <a:path w="123" h="27">
                <a:moveTo>
                  <a:pt x="0" y="27"/>
                </a:moveTo>
                <a:lnTo>
                  <a:pt x="123" y="27"/>
                </a:lnTo>
                <a:lnTo>
                  <a:pt x="99"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9512" name="Freeform 24">
            <a:extLst>
              <a:ext uri="{FF2B5EF4-FFF2-40B4-BE49-F238E27FC236}">
                <a16:creationId xmlns:a16="http://schemas.microsoft.com/office/drawing/2014/main" id="{27CBB22B-B7AB-4AF4-86B0-5294901DADDA}"/>
              </a:ext>
            </a:extLst>
          </p:cNvPr>
          <p:cNvSpPr>
            <a:spLocks/>
          </p:cNvSpPr>
          <p:nvPr/>
        </p:nvSpPr>
        <p:spPr bwMode="auto">
          <a:xfrm>
            <a:off x="3605213" y="4548188"/>
            <a:ext cx="195262" cy="42862"/>
          </a:xfrm>
          <a:custGeom>
            <a:avLst/>
            <a:gdLst>
              <a:gd name="T0" fmla="*/ 0 w 123"/>
              <a:gd name="T1" fmla="*/ 27 h 27"/>
              <a:gd name="T2" fmla="*/ 123 w 123"/>
              <a:gd name="T3" fmla="*/ 27 h 27"/>
              <a:gd name="T4" fmla="*/ 99 w 123"/>
              <a:gd name="T5" fmla="*/ 0 h 27"/>
            </a:gdLst>
            <a:ahLst/>
            <a:cxnLst>
              <a:cxn ang="0">
                <a:pos x="T0" y="T1"/>
              </a:cxn>
              <a:cxn ang="0">
                <a:pos x="T2" y="T3"/>
              </a:cxn>
              <a:cxn ang="0">
                <a:pos x="T4" y="T5"/>
              </a:cxn>
            </a:cxnLst>
            <a:rect l="0" t="0" r="r" b="b"/>
            <a:pathLst>
              <a:path w="123" h="27">
                <a:moveTo>
                  <a:pt x="0" y="27"/>
                </a:moveTo>
                <a:lnTo>
                  <a:pt x="123" y="27"/>
                </a:lnTo>
                <a:lnTo>
                  <a:pt x="99"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9513" name="Freeform 25">
            <a:extLst>
              <a:ext uri="{FF2B5EF4-FFF2-40B4-BE49-F238E27FC236}">
                <a16:creationId xmlns:a16="http://schemas.microsoft.com/office/drawing/2014/main" id="{418E5AEE-E4F6-4310-AA8E-949CC6ECA03D}"/>
              </a:ext>
            </a:extLst>
          </p:cNvPr>
          <p:cNvSpPr>
            <a:spLocks/>
          </p:cNvSpPr>
          <p:nvPr/>
        </p:nvSpPr>
        <p:spPr bwMode="auto">
          <a:xfrm rot="10800000">
            <a:off x="1108075" y="4708525"/>
            <a:ext cx="195263" cy="42863"/>
          </a:xfrm>
          <a:custGeom>
            <a:avLst/>
            <a:gdLst>
              <a:gd name="T0" fmla="*/ 0 w 123"/>
              <a:gd name="T1" fmla="*/ 27 h 27"/>
              <a:gd name="T2" fmla="*/ 123 w 123"/>
              <a:gd name="T3" fmla="*/ 27 h 27"/>
              <a:gd name="T4" fmla="*/ 99 w 123"/>
              <a:gd name="T5" fmla="*/ 0 h 27"/>
            </a:gdLst>
            <a:ahLst/>
            <a:cxnLst>
              <a:cxn ang="0">
                <a:pos x="T0" y="T1"/>
              </a:cxn>
              <a:cxn ang="0">
                <a:pos x="T2" y="T3"/>
              </a:cxn>
              <a:cxn ang="0">
                <a:pos x="T4" y="T5"/>
              </a:cxn>
            </a:cxnLst>
            <a:rect l="0" t="0" r="r" b="b"/>
            <a:pathLst>
              <a:path w="123" h="27">
                <a:moveTo>
                  <a:pt x="0" y="27"/>
                </a:moveTo>
                <a:lnTo>
                  <a:pt x="123" y="27"/>
                </a:lnTo>
                <a:lnTo>
                  <a:pt x="99"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9514" name="Freeform 26">
            <a:extLst>
              <a:ext uri="{FF2B5EF4-FFF2-40B4-BE49-F238E27FC236}">
                <a16:creationId xmlns:a16="http://schemas.microsoft.com/office/drawing/2014/main" id="{353A7286-F967-4D82-B32F-41A9AA4F1808}"/>
              </a:ext>
            </a:extLst>
          </p:cNvPr>
          <p:cNvSpPr>
            <a:spLocks/>
          </p:cNvSpPr>
          <p:nvPr/>
        </p:nvSpPr>
        <p:spPr bwMode="auto">
          <a:xfrm rot="10800000">
            <a:off x="3605213" y="4711700"/>
            <a:ext cx="195262" cy="42863"/>
          </a:xfrm>
          <a:custGeom>
            <a:avLst/>
            <a:gdLst>
              <a:gd name="T0" fmla="*/ 0 w 123"/>
              <a:gd name="T1" fmla="*/ 27 h 27"/>
              <a:gd name="T2" fmla="*/ 123 w 123"/>
              <a:gd name="T3" fmla="*/ 27 h 27"/>
              <a:gd name="T4" fmla="*/ 99 w 123"/>
              <a:gd name="T5" fmla="*/ 0 h 27"/>
            </a:gdLst>
            <a:ahLst/>
            <a:cxnLst>
              <a:cxn ang="0">
                <a:pos x="T0" y="T1"/>
              </a:cxn>
              <a:cxn ang="0">
                <a:pos x="T2" y="T3"/>
              </a:cxn>
              <a:cxn ang="0">
                <a:pos x="T4" y="T5"/>
              </a:cxn>
            </a:cxnLst>
            <a:rect l="0" t="0" r="r" b="b"/>
            <a:pathLst>
              <a:path w="123" h="27">
                <a:moveTo>
                  <a:pt x="0" y="27"/>
                </a:moveTo>
                <a:lnTo>
                  <a:pt x="123" y="27"/>
                </a:lnTo>
                <a:lnTo>
                  <a:pt x="99"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9518" name="Freeform 30">
            <a:extLst>
              <a:ext uri="{FF2B5EF4-FFF2-40B4-BE49-F238E27FC236}">
                <a16:creationId xmlns:a16="http://schemas.microsoft.com/office/drawing/2014/main" id="{FB7F2729-C6D8-49E9-A2EC-EC7B2B2FE892}"/>
              </a:ext>
            </a:extLst>
          </p:cNvPr>
          <p:cNvSpPr>
            <a:spLocks/>
          </p:cNvSpPr>
          <p:nvPr/>
        </p:nvSpPr>
        <p:spPr bwMode="auto">
          <a:xfrm rot="-4214431">
            <a:off x="7610475" y="1935163"/>
            <a:ext cx="371475" cy="73025"/>
          </a:xfrm>
          <a:custGeom>
            <a:avLst/>
            <a:gdLst>
              <a:gd name="T0" fmla="*/ 273 w 273"/>
              <a:gd name="T1" fmla="*/ 52 h 58"/>
              <a:gd name="T2" fmla="*/ 0 w 273"/>
              <a:gd name="T3" fmla="*/ 58 h 58"/>
              <a:gd name="T4" fmla="*/ 70 w 273"/>
              <a:gd name="T5" fmla="*/ 0 h 58"/>
            </a:gdLst>
            <a:ahLst/>
            <a:cxnLst>
              <a:cxn ang="0">
                <a:pos x="T0" y="T1"/>
              </a:cxn>
              <a:cxn ang="0">
                <a:pos x="T2" y="T3"/>
              </a:cxn>
              <a:cxn ang="0">
                <a:pos x="T4" y="T5"/>
              </a:cxn>
            </a:cxnLst>
            <a:rect l="0" t="0" r="r" b="b"/>
            <a:pathLst>
              <a:path w="273" h="58">
                <a:moveTo>
                  <a:pt x="273" y="52"/>
                </a:moveTo>
                <a:lnTo>
                  <a:pt x="0" y="58"/>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a:extLst>
              <a:ext uri="{FF2B5EF4-FFF2-40B4-BE49-F238E27FC236}">
                <a16:creationId xmlns:a16="http://schemas.microsoft.com/office/drawing/2014/main" id="{18A3F44D-2ECB-4F23-97B0-D0C03329B429}"/>
              </a:ext>
            </a:extLst>
          </p:cNvPr>
          <p:cNvSpPr>
            <a:spLocks noGrp="1" noChangeArrowheads="1"/>
          </p:cNvSpPr>
          <p:nvPr>
            <p:ph type="title"/>
          </p:nvPr>
        </p:nvSpPr>
        <p:spPr>
          <a:noFill/>
        </p:spPr>
        <p:txBody>
          <a:bodyPr/>
          <a:lstStyle/>
          <a:p>
            <a:r>
              <a:rPr lang="en-GB" altLang="en-US">
                <a:effectLst/>
              </a:rPr>
              <a:t>Transcurrent fault terminations  2</a:t>
            </a:r>
          </a:p>
        </p:txBody>
      </p:sp>
      <p:sp>
        <p:nvSpPr>
          <p:cNvPr id="321539" name="Rectangle 3">
            <a:extLst>
              <a:ext uri="{FF2B5EF4-FFF2-40B4-BE49-F238E27FC236}">
                <a16:creationId xmlns:a16="http://schemas.microsoft.com/office/drawing/2014/main" id="{A0B41040-0D92-408D-875E-CA8911B4B583}"/>
              </a:ext>
            </a:extLst>
          </p:cNvPr>
          <p:cNvSpPr>
            <a:spLocks noGrp="1" noChangeArrowheads="1"/>
          </p:cNvSpPr>
          <p:nvPr>
            <p:ph type="body" sz="half" idx="1"/>
          </p:nvPr>
        </p:nvSpPr>
        <p:spPr>
          <a:xfrm>
            <a:off x="120650" y="3756025"/>
            <a:ext cx="2484438" cy="2897188"/>
          </a:xfrm>
          <a:noFill/>
        </p:spPr>
        <p:txBody>
          <a:bodyPr/>
          <a:lstStyle/>
          <a:p>
            <a:pPr marL="177800" indent="-177800">
              <a:spcBef>
                <a:spcPct val="75000"/>
              </a:spcBef>
            </a:pPr>
            <a:r>
              <a:rPr lang="en-GB" altLang="en-US" sz="1700">
                <a:effectLst/>
              </a:rPr>
              <a:t>Alternatively, the faults may terminate as a </a:t>
            </a:r>
            <a:r>
              <a:rPr lang="en-GB" altLang="en-US" sz="1700">
                <a:solidFill>
                  <a:srgbClr val="FF66FF"/>
                </a:solidFill>
                <a:effectLst/>
              </a:rPr>
              <a:t>splay of small</a:t>
            </a:r>
            <a:r>
              <a:rPr lang="en-GB" altLang="en-US" sz="1700">
                <a:effectLst/>
              </a:rPr>
              <a:t> </a:t>
            </a:r>
            <a:r>
              <a:rPr lang="en-GB" altLang="en-US" sz="1700">
                <a:solidFill>
                  <a:srgbClr val="FF66FF"/>
                </a:solidFill>
                <a:effectLst/>
              </a:rPr>
              <a:t>strike-slip faults</a:t>
            </a:r>
            <a:r>
              <a:rPr lang="en-GB" altLang="en-US" sz="1700">
                <a:effectLst/>
              </a:rPr>
              <a:t> – the displacement on any individual splay fault is small but the sum equals the main fault  displacement </a:t>
            </a:r>
          </a:p>
        </p:txBody>
      </p:sp>
      <p:pic>
        <p:nvPicPr>
          <p:cNvPr id="321558" name="Picture 22" descr="ForSlide33">
            <a:extLst>
              <a:ext uri="{FF2B5EF4-FFF2-40B4-BE49-F238E27FC236}">
                <a16:creationId xmlns:a16="http://schemas.microsoft.com/office/drawing/2014/main" id="{957F7F02-9BDC-49AF-AB18-9FD606A52756}"/>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74663" y="887413"/>
            <a:ext cx="5416550" cy="27479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21560" name="Picture 24" descr="13c1b">
            <a:extLst>
              <a:ext uri="{FF2B5EF4-FFF2-40B4-BE49-F238E27FC236}">
                <a16:creationId xmlns:a16="http://schemas.microsoft.com/office/drawing/2014/main" id="{41F8D652-290B-47F4-B04F-3CDE81BC9B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5688" y="906463"/>
            <a:ext cx="2576512" cy="2700337"/>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21562" name="Picture 26" descr="13d1a">
            <a:extLst>
              <a:ext uri="{FF2B5EF4-FFF2-40B4-BE49-F238E27FC236}">
                <a16:creationId xmlns:a16="http://schemas.microsoft.com/office/drawing/2014/main" id="{979C0C3A-A72E-4644-98F6-872D7A539CAB}"/>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2797175" y="3843338"/>
            <a:ext cx="6151563" cy="28114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1564" name="Text Box 28">
            <a:extLst>
              <a:ext uri="{FF2B5EF4-FFF2-40B4-BE49-F238E27FC236}">
                <a16:creationId xmlns:a16="http://schemas.microsoft.com/office/drawing/2014/main" id="{ED72CE30-004E-4661-87A6-DEB503462D93}"/>
              </a:ext>
            </a:extLst>
          </p:cNvPr>
          <p:cNvSpPr txBox="1">
            <a:spLocks noChangeArrowheads="1"/>
          </p:cNvSpPr>
          <p:nvPr/>
        </p:nvSpPr>
        <p:spPr bwMode="auto">
          <a:xfrm>
            <a:off x="7358063" y="935038"/>
            <a:ext cx="131921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5000"/>
              </a:lnSpc>
              <a:spcBef>
                <a:spcPct val="50000"/>
              </a:spcBef>
            </a:pPr>
            <a:r>
              <a:rPr lang="en-GB" altLang="en-US" sz="1400">
                <a:solidFill>
                  <a:srgbClr val="FF0000"/>
                </a:solidFill>
                <a:effectLst/>
                <a:latin typeface="Arial" panose="020B0604020202020204" pitchFamily="34" charset="0"/>
              </a:rPr>
              <a:t>Extensional imbricate fan</a:t>
            </a:r>
          </a:p>
        </p:txBody>
      </p:sp>
      <p:sp>
        <p:nvSpPr>
          <p:cNvPr id="321565" name="Line 29">
            <a:extLst>
              <a:ext uri="{FF2B5EF4-FFF2-40B4-BE49-F238E27FC236}">
                <a16:creationId xmlns:a16="http://schemas.microsoft.com/office/drawing/2014/main" id="{70AE725F-ECD3-412B-9F84-5794ECF75241}"/>
              </a:ext>
            </a:extLst>
          </p:cNvPr>
          <p:cNvSpPr>
            <a:spLocks noChangeShapeType="1"/>
          </p:cNvSpPr>
          <p:nvPr/>
        </p:nvSpPr>
        <p:spPr bwMode="auto">
          <a:xfrm flipH="1">
            <a:off x="5654675" y="2263775"/>
            <a:ext cx="660400" cy="27781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66" name="Text Box 30">
            <a:extLst>
              <a:ext uri="{FF2B5EF4-FFF2-40B4-BE49-F238E27FC236}">
                <a16:creationId xmlns:a16="http://schemas.microsoft.com/office/drawing/2014/main" id="{00EB77DE-CD2F-4A79-820B-215B70B9A2AE}"/>
              </a:ext>
            </a:extLst>
          </p:cNvPr>
          <p:cNvSpPr txBox="1">
            <a:spLocks noChangeArrowheads="1"/>
          </p:cNvSpPr>
          <p:nvPr/>
        </p:nvSpPr>
        <p:spPr bwMode="auto">
          <a:xfrm>
            <a:off x="2970213" y="4224338"/>
            <a:ext cx="13192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5000"/>
              </a:lnSpc>
              <a:spcBef>
                <a:spcPct val="50000"/>
              </a:spcBef>
            </a:pPr>
            <a:r>
              <a:rPr lang="en-GB" altLang="en-US" sz="1400">
                <a:solidFill>
                  <a:srgbClr val="FF0000"/>
                </a:solidFill>
                <a:effectLst/>
                <a:latin typeface="Arial" panose="020B0604020202020204" pitchFamily="34" charset="0"/>
              </a:rPr>
              <a:t>New Zealand</a:t>
            </a:r>
          </a:p>
        </p:txBody>
      </p:sp>
      <p:sp>
        <p:nvSpPr>
          <p:cNvPr id="321567" name="Freeform 31">
            <a:extLst>
              <a:ext uri="{FF2B5EF4-FFF2-40B4-BE49-F238E27FC236}">
                <a16:creationId xmlns:a16="http://schemas.microsoft.com/office/drawing/2014/main" id="{C44D2F86-BB15-4BD7-8025-7B48DBBA1C5F}"/>
              </a:ext>
            </a:extLst>
          </p:cNvPr>
          <p:cNvSpPr>
            <a:spLocks/>
          </p:cNvSpPr>
          <p:nvPr/>
        </p:nvSpPr>
        <p:spPr bwMode="auto">
          <a:xfrm rot="5782177">
            <a:off x="3492500" y="4741863"/>
            <a:ext cx="317500" cy="355600"/>
          </a:xfrm>
          <a:custGeom>
            <a:avLst/>
            <a:gdLst>
              <a:gd name="T0" fmla="*/ 207 w 207"/>
              <a:gd name="T1" fmla="*/ 232 h 232"/>
              <a:gd name="T2" fmla="*/ 0 w 207"/>
              <a:gd name="T3" fmla="*/ 0 h 232"/>
              <a:gd name="T4" fmla="*/ 17 w 207"/>
              <a:gd name="T5" fmla="*/ 107 h 232"/>
            </a:gdLst>
            <a:ahLst/>
            <a:cxnLst>
              <a:cxn ang="0">
                <a:pos x="T0" y="T1"/>
              </a:cxn>
              <a:cxn ang="0">
                <a:pos x="T2" y="T3"/>
              </a:cxn>
              <a:cxn ang="0">
                <a:pos x="T4" y="T5"/>
              </a:cxn>
            </a:cxnLst>
            <a:rect l="0" t="0" r="r" b="b"/>
            <a:pathLst>
              <a:path w="207" h="232">
                <a:moveTo>
                  <a:pt x="207" y="232"/>
                </a:moveTo>
                <a:lnTo>
                  <a:pt x="0" y="0"/>
                </a:lnTo>
                <a:lnTo>
                  <a:pt x="17" y="107"/>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69" name="Freeform 33">
            <a:extLst>
              <a:ext uri="{FF2B5EF4-FFF2-40B4-BE49-F238E27FC236}">
                <a16:creationId xmlns:a16="http://schemas.microsoft.com/office/drawing/2014/main" id="{AA63D9FF-6CEA-407C-8487-B5473A9775C2}"/>
              </a:ext>
            </a:extLst>
          </p:cNvPr>
          <p:cNvSpPr>
            <a:spLocks/>
          </p:cNvSpPr>
          <p:nvPr/>
        </p:nvSpPr>
        <p:spPr bwMode="auto">
          <a:xfrm>
            <a:off x="4175125" y="5181600"/>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0" name="Freeform 34">
            <a:extLst>
              <a:ext uri="{FF2B5EF4-FFF2-40B4-BE49-F238E27FC236}">
                <a16:creationId xmlns:a16="http://schemas.microsoft.com/office/drawing/2014/main" id="{07ED1ADF-B7B6-4825-978F-A895622184F4}"/>
              </a:ext>
            </a:extLst>
          </p:cNvPr>
          <p:cNvSpPr>
            <a:spLocks/>
          </p:cNvSpPr>
          <p:nvPr/>
        </p:nvSpPr>
        <p:spPr bwMode="auto">
          <a:xfrm rot="-487806">
            <a:off x="3565525" y="5578475"/>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1" name="Freeform 35">
            <a:extLst>
              <a:ext uri="{FF2B5EF4-FFF2-40B4-BE49-F238E27FC236}">
                <a16:creationId xmlns:a16="http://schemas.microsoft.com/office/drawing/2014/main" id="{E34931DE-500C-48AD-BDDA-76C1037A7F16}"/>
              </a:ext>
            </a:extLst>
          </p:cNvPr>
          <p:cNvSpPr>
            <a:spLocks/>
          </p:cNvSpPr>
          <p:nvPr/>
        </p:nvSpPr>
        <p:spPr bwMode="auto">
          <a:xfrm rot="-245137">
            <a:off x="4022725" y="5318125"/>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2" name="Freeform 36">
            <a:extLst>
              <a:ext uri="{FF2B5EF4-FFF2-40B4-BE49-F238E27FC236}">
                <a16:creationId xmlns:a16="http://schemas.microsoft.com/office/drawing/2014/main" id="{2C9AF9A9-6774-4599-A7C1-E1170C5419E7}"/>
              </a:ext>
            </a:extLst>
          </p:cNvPr>
          <p:cNvSpPr>
            <a:spLocks/>
          </p:cNvSpPr>
          <p:nvPr/>
        </p:nvSpPr>
        <p:spPr bwMode="auto">
          <a:xfrm rot="245137">
            <a:off x="4308475" y="5006975"/>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3" name="Freeform 37">
            <a:extLst>
              <a:ext uri="{FF2B5EF4-FFF2-40B4-BE49-F238E27FC236}">
                <a16:creationId xmlns:a16="http://schemas.microsoft.com/office/drawing/2014/main" id="{77FF0252-FFA9-4E11-8945-596E3C54F66D}"/>
              </a:ext>
            </a:extLst>
          </p:cNvPr>
          <p:cNvSpPr>
            <a:spLocks/>
          </p:cNvSpPr>
          <p:nvPr/>
        </p:nvSpPr>
        <p:spPr bwMode="auto">
          <a:xfrm>
            <a:off x="3187700" y="6048375"/>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4" name="Freeform 38">
            <a:extLst>
              <a:ext uri="{FF2B5EF4-FFF2-40B4-BE49-F238E27FC236}">
                <a16:creationId xmlns:a16="http://schemas.microsoft.com/office/drawing/2014/main" id="{909F16D6-3EA4-4B03-A83F-A35D191A0F39}"/>
              </a:ext>
            </a:extLst>
          </p:cNvPr>
          <p:cNvSpPr>
            <a:spLocks/>
          </p:cNvSpPr>
          <p:nvPr/>
        </p:nvSpPr>
        <p:spPr bwMode="auto">
          <a:xfrm rot="245137">
            <a:off x="4403725" y="4841875"/>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5" name="Freeform 39">
            <a:extLst>
              <a:ext uri="{FF2B5EF4-FFF2-40B4-BE49-F238E27FC236}">
                <a16:creationId xmlns:a16="http://schemas.microsoft.com/office/drawing/2014/main" id="{D7EA30C3-F4EB-442D-AC27-B8E3FFCBE400}"/>
              </a:ext>
            </a:extLst>
          </p:cNvPr>
          <p:cNvSpPr>
            <a:spLocks/>
          </p:cNvSpPr>
          <p:nvPr/>
        </p:nvSpPr>
        <p:spPr bwMode="auto">
          <a:xfrm rot="725685">
            <a:off x="4718050" y="4648200"/>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6" name="Freeform 40">
            <a:extLst>
              <a:ext uri="{FF2B5EF4-FFF2-40B4-BE49-F238E27FC236}">
                <a16:creationId xmlns:a16="http://schemas.microsoft.com/office/drawing/2014/main" id="{88B70262-6342-45F0-820E-8E97B6CFA442}"/>
              </a:ext>
            </a:extLst>
          </p:cNvPr>
          <p:cNvSpPr>
            <a:spLocks/>
          </p:cNvSpPr>
          <p:nvPr/>
        </p:nvSpPr>
        <p:spPr bwMode="auto">
          <a:xfrm rot="487806">
            <a:off x="2784475" y="6327775"/>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7" name="Freeform 41">
            <a:extLst>
              <a:ext uri="{FF2B5EF4-FFF2-40B4-BE49-F238E27FC236}">
                <a16:creationId xmlns:a16="http://schemas.microsoft.com/office/drawing/2014/main" id="{2138868E-9D38-4152-83C7-65E93715AAA6}"/>
              </a:ext>
            </a:extLst>
          </p:cNvPr>
          <p:cNvSpPr>
            <a:spLocks/>
          </p:cNvSpPr>
          <p:nvPr/>
        </p:nvSpPr>
        <p:spPr bwMode="auto">
          <a:xfrm rot="1213491">
            <a:off x="4972050" y="4451350"/>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8" name="Freeform 42">
            <a:extLst>
              <a:ext uri="{FF2B5EF4-FFF2-40B4-BE49-F238E27FC236}">
                <a16:creationId xmlns:a16="http://schemas.microsoft.com/office/drawing/2014/main" id="{04CC0A6B-930C-4DA8-9287-D120DA20432E}"/>
              </a:ext>
            </a:extLst>
          </p:cNvPr>
          <p:cNvSpPr>
            <a:spLocks/>
          </p:cNvSpPr>
          <p:nvPr/>
        </p:nvSpPr>
        <p:spPr bwMode="auto">
          <a:xfrm rot="480548">
            <a:off x="5318125" y="4251325"/>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579" name="Freeform 43">
            <a:extLst>
              <a:ext uri="{FF2B5EF4-FFF2-40B4-BE49-F238E27FC236}">
                <a16:creationId xmlns:a16="http://schemas.microsoft.com/office/drawing/2014/main" id="{2B1A0C76-9F93-4C24-9B0D-5CF9A7AC20C2}"/>
              </a:ext>
            </a:extLst>
          </p:cNvPr>
          <p:cNvSpPr>
            <a:spLocks/>
          </p:cNvSpPr>
          <p:nvPr/>
        </p:nvSpPr>
        <p:spPr bwMode="auto">
          <a:xfrm rot="725685">
            <a:off x="5838825" y="3984625"/>
            <a:ext cx="152400" cy="44450"/>
          </a:xfrm>
          <a:custGeom>
            <a:avLst/>
            <a:gdLst>
              <a:gd name="T0" fmla="*/ 0 w 74"/>
              <a:gd name="T1" fmla="*/ 16 h 16"/>
              <a:gd name="T2" fmla="*/ 74 w 74"/>
              <a:gd name="T3" fmla="*/ 14 h 16"/>
              <a:gd name="T4" fmla="*/ 50 w 74"/>
              <a:gd name="T5" fmla="*/ 0 h 16"/>
            </a:gdLst>
            <a:ahLst/>
            <a:cxnLst>
              <a:cxn ang="0">
                <a:pos x="T0" y="T1"/>
              </a:cxn>
              <a:cxn ang="0">
                <a:pos x="T2" y="T3"/>
              </a:cxn>
              <a:cxn ang="0">
                <a:pos x="T4" y="T5"/>
              </a:cxn>
            </a:cxnLst>
            <a:rect l="0" t="0" r="r" b="b"/>
            <a:pathLst>
              <a:path w="74" h="16">
                <a:moveTo>
                  <a:pt x="0" y="16"/>
                </a:moveTo>
                <a:lnTo>
                  <a:pt x="74" y="14"/>
                </a:lnTo>
                <a:lnTo>
                  <a:pt x="50"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18EB91FF-9992-431B-AF6A-24A53DB67A63}"/>
              </a:ext>
            </a:extLst>
          </p:cNvPr>
          <p:cNvSpPr>
            <a:spLocks noGrp="1" noChangeArrowheads="1"/>
          </p:cNvSpPr>
          <p:nvPr>
            <p:ph type="ctrTitle" idx="4294967295"/>
          </p:nvPr>
        </p:nvSpPr>
        <p:spPr bwMode="black">
          <a:xfrm>
            <a:off x="239713" y="1595438"/>
            <a:ext cx="8705850" cy="19558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Strain in strike-slip fault zones</a:t>
            </a:r>
            <a:endParaRPr lang="en-US" altLang="en-US">
              <a:solidFill>
                <a:srgbClr val="FF6600"/>
              </a:solidFill>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407" name="Picture 31">
            <a:extLst>
              <a:ext uri="{FF2B5EF4-FFF2-40B4-BE49-F238E27FC236}">
                <a16:creationId xmlns:a16="http://schemas.microsoft.com/office/drawing/2014/main" id="{2EE41DFC-AF18-40AD-BED0-5B01A5E0C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1925" y="3594100"/>
            <a:ext cx="3733800" cy="3113088"/>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9378" name="Rectangle 2">
            <a:extLst>
              <a:ext uri="{FF2B5EF4-FFF2-40B4-BE49-F238E27FC236}">
                <a16:creationId xmlns:a16="http://schemas.microsoft.com/office/drawing/2014/main" id="{8A9E46FE-5877-4D06-A909-89410770070E}"/>
              </a:ext>
            </a:extLst>
          </p:cNvPr>
          <p:cNvSpPr>
            <a:spLocks noGrp="1" noChangeArrowheads="1"/>
          </p:cNvSpPr>
          <p:nvPr>
            <p:ph type="title"/>
          </p:nvPr>
        </p:nvSpPr>
        <p:spPr>
          <a:noFill/>
        </p:spPr>
        <p:txBody>
          <a:bodyPr/>
          <a:lstStyle/>
          <a:p>
            <a:r>
              <a:rPr lang="en-GB" altLang="en-US">
                <a:effectLst/>
              </a:rPr>
              <a:t>Pure strike-slip and the strain ellipsoid</a:t>
            </a:r>
          </a:p>
        </p:txBody>
      </p:sp>
      <p:sp>
        <p:nvSpPr>
          <p:cNvPr id="229379" name="Rectangle 3">
            <a:extLst>
              <a:ext uri="{FF2B5EF4-FFF2-40B4-BE49-F238E27FC236}">
                <a16:creationId xmlns:a16="http://schemas.microsoft.com/office/drawing/2014/main" id="{C21AF2BB-477D-432B-B977-6F9A48220237}"/>
              </a:ext>
            </a:extLst>
          </p:cNvPr>
          <p:cNvSpPr>
            <a:spLocks noGrp="1" noChangeArrowheads="1"/>
          </p:cNvSpPr>
          <p:nvPr>
            <p:ph type="body" idx="1"/>
          </p:nvPr>
        </p:nvSpPr>
        <p:spPr>
          <a:xfrm>
            <a:off x="122238" y="757238"/>
            <a:ext cx="9021762" cy="1125537"/>
          </a:xfrm>
          <a:noFill/>
        </p:spPr>
        <p:txBody>
          <a:bodyPr/>
          <a:lstStyle/>
          <a:p>
            <a:pPr marL="177800" indent="-177800">
              <a:spcBef>
                <a:spcPct val="50000"/>
              </a:spcBef>
            </a:pPr>
            <a:r>
              <a:rPr lang="en-GB" altLang="en-US" sz="1700" dirty="0">
                <a:effectLst/>
              </a:rPr>
              <a:t>An understanding of </a:t>
            </a:r>
            <a:r>
              <a:rPr lang="en-GB" altLang="en-US" sz="1700" dirty="0">
                <a:solidFill>
                  <a:srgbClr val="FF6600"/>
                </a:solidFill>
                <a:effectLst/>
              </a:rPr>
              <a:t>strain</a:t>
            </a:r>
            <a:r>
              <a:rPr lang="en-GB" altLang="en-US" sz="1700" dirty="0">
                <a:effectLst/>
              </a:rPr>
              <a:t> in strike-slip fault zones is needed to establish why </a:t>
            </a:r>
            <a:r>
              <a:rPr lang="en-GB" altLang="en-US" sz="1700" dirty="0">
                <a:solidFill>
                  <a:srgbClr val="FF66FF"/>
                </a:solidFill>
                <a:effectLst/>
              </a:rPr>
              <a:t>foliations and </a:t>
            </a:r>
            <a:r>
              <a:rPr lang="en-GB" altLang="en-US" sz="1700" dirty="0" err="1">
                <a:solidFill>
                  <a:srgbClr val="FF66FF"/>
                </a:solidFill>
                <a:effectLst/>
              </a:rPr>
              <a:t>lineations</a:t>
            </a:r>
            <a:r>
              <a:rPr lang="en-GB" altLang="en-US" sz="1700" dirty="0">
                <a:solidFill>
                  <a:srgbClr val="FF66FF"/>
                </a:solidFill>
                <a:effectLst/>
              </a:rPr>
              <a:t> in their fault rocks</a:t>
            </a:r>
            <a:r>
              <a:rPr lang="en-GB" altLang="en-US" sz="1700" dirty="0">
                <a:effectLst/>
              </a:rPr>
              <a:t> are oriented as they are, and this allows</a:t>
            </a:r>
            <a:r>
              <a:rPr lang="en-GB" altLang="en-US" sz="1700" dirty="0">
                <a:effectLst/>
                <a:cs typeface="Arial" panose="020B0604020202020204" pitchFamily="34" charset="0"/>
              </a:rPr>
              <a:t> inferences to be made about the movement history + amount of </a:t>
            </a:r>
            <a:r>
              <a:rPr lang="en-GB" altLang="en-US" sz="1700" dirty="0" err="1">
                <a:effectLst/>
                <a:cs typeface="Arial" panose="020B0604020202020204" pitchFamily="34" charset="0"/>
              </a:rPr>
              <a:t>transpressio</a:t>
            </a:r>
            <a:r>
              <a:rPr lang="en-GB" altLang="en-US" sz="1700" spc="300" dirty="0" err="1">
                <a:effectLst/>
                <a:cs typeface="Arial" panose="020B0604020202020204" pitchFamily="34" charset="0"/>
              </a:rPr>
              <a:t>n</a:t>
            </a:r>
            <a:r>
              <a:rPr lang="en-GB" altLang="en-US" sz="1700" spc="300" dirty="0">
                <a:effectLst/>
                <a:cs typeface="Arial" panose="020B0604020202020204" pitchFamily="34" charset="0"/>
              </a:rPr>
              <a:t>/</a:t>
            </a:r>
            <a:r>
              <a:rPr lang="en-GB" altLang="en-US" sz="1700" dirty="0" err="1">
                <a:effectLst/>
                <a:cs typeface="Arial" panose="020B0604020202020204" pitchFamily="34" charset="0"/>
              </a:rPr>
              <a:t>transtension</a:t>
            </a:r>
            <a:r>
              <a:rPr lang="en-GB" altLang="en-US" sz="1700" dirty="0">
                <a:effectLst/>
                <a:cs typeface="Arial" panose="020B0604020202020204" pitchFamily="34" charset="0"/>
              </a:rPr>
              <a:t> ± stretching</a:t>
            </a:r>
          </a:p>
        </p:txBody>
      </p:sp>
      <p:pic>
        <p:nvPicPr>
          <p:cNvPr id="229397" name="Picture 21" descr="12a2">
            <a:extLst>
              <a:ext uri="{FF2B5EF4-FFF2-40B4-BE49-F238E27FC236}">
                <a16:creationId xmlns:a16="http://schemas.microsoft.com/office/drawing/2014/main" id="{ECB0FC36-B332-4393-8A35-DE7A26D369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4575" y="1965325"/>
            <a:ext cx="2486025" cy="1403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9399" name="Text Box 23">
            <a:extLst>
              <a:ext uri="{FF2B5EF4-FFF2-40B4-BE49-F238E27FC236}">
                <a16:creationId xmlns:a16="http://schemas.microsoft.com/office/drawing/2014/main" id="{992A337C-154B-4662-9FF7-023F07FFE0BC}"/>
              </a:ext>
            </a:extLst>
          </p:cNvPr>
          <p:cNvSpPr txBox="1">
            <a:spLocks noChangeArrowheads="1"/>
          </p:cNvSpPr>
          <p:nvPr/>
        </p:nvSpPr>
        <p:spPr bwMode="auto">
          <a:xfrm>
            <a:off x="119063" y="5087938"/>
            <a:ext cx="5005387"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mn-lt"/>
              </a:rPr>
              <a:t>For a </a:t>
            </a:r>
            <a:r>
              <a:rPr lang="en-GB" altLang="en-US" sz="1700" dirty="0">
                <a:solidFill>
                  <a:srgbClr val="FF6600"/>
                </a:solidFill>
                <a:effectLst>
                  <a:outerShdw blurRad="38100" dist="38100" dir="2700000" algn="tl">
                    <a:srgbClr val="000000"/>
                  </a:outerShdw>
                </a:effectLst>
                <a:latin typeface="+mn-lt"/>
              </a:rPr>
              <a:t>vertical strike-slip fault</a:t>
            </a:r>
            <a:r>
              <a:rPr lang="en-GB" altLang="en-US" sz="1700" dirty="0">
                <a:effectLst>
                  <a:outerShdw blurRad="38100" dist="38100" dir="2700000" algn="tl">
                    <a:srgbClr val="000000"/>
                  </a:outerShdw>
                </a:effectLst>
                <a:latin typeface="+mn-lt"/>
              </a:rPr>
              <a:t> deforming in simple shear (no </a:t>
            </a:r>
            <a:r>
              <a:rPr lang="en-GB" altLang="en-US" sz="1700" dirty="0" err="1">
                <a:effectLst>
                  <a:outerShdw blurRad="38100" dist="38100" dir="2700000" algn="tl">
                    <a:srgbClr val="000000"/>
                  </a:outerShdw>
                </a:effectLst>
                <a:latin typeface="+mn-lt"/>
              </a:rPr>
              <a:t>transpression</a:t>
            </a:r>
            <a:r>
              <a:rPr lang="en-GB" altLang="en-US" sz="1700" dirty="0">
                <a:effectLst>
                  <a:outerShdw blurRad="38100" dist="38100" dir="2700000" algn="tl">
                    <a:srgbClr val="000000"/>
                  </a:outerShdw>
                </a:effectLst>
                <a:latin typeface="+mn-lt"/>
              </a:rPr>
              <a:t> or </a:t>
            </a:r>
            <a:r>
              <a:rPr lang="en-GB" altLang="en-US" sz="1700" dirty="0" err="1">
                <a:effectLst>
                  <a:outerShdw blurRad="38100" dist="38100" dir="2700000" algn="tl">
                    <a:srgbClr val="000000"/>
                  </a:outerShdw>
                </a:effectLst>
                <a:latin typeface="+mn-lt"/>
              </a:rPr>
              <a:t>transtension</a:t>
            </a:r>
            <a:r>
              <a:rPr lang="en-GB" altLang="en-US" sz="1700" dirty="0">
                <a:effectLst>
                  <a:outerShdw blurRad="38100" dist="38100" dir="2700000" algn="tl">
                    <a:srgbClr val="000000"/>
                  </a:outerShdw>
                </a:effectLst>
                <a:latin typeface="+mn-lt"/>
              </a:rPr>
              <a:t>) we expect the </a:t>
            </a:r>
            <a:r>
              <a:rPr lang="en-GB" altLang="en-US" sz="1700" dirty="0">
                <a:solidFill>
                  <a:srgbClr val="FF66FF"/>
                </a:solidFill>
                <a:effectLst>
                  <a:outerShdw blurRad="38100" dist="38100" dir="2700000" algn="tl">
                    <a:srgbClr val="000000"/>
                  </a:outerShdw>
                </a:effectLst>
                <a:latin typeface="+mn-lt"/>
              </a:rPr>
              <a:t>foliation (XY plane) to be vertical</a:t>
            </a:r>
            <a:r>
              <a:rPr lang="en-GB" altLang="en-US" sz="1700" dirty="0">
                <a:effectLst>
                  <a:outerShdw blurRad="38100" dist="38100" dir="2700000" algn="tl">
                    <a:srgbClr val="000000"/>
                  </a:outerShdw>
                </a:effectLst>
                <a:latin typeface="+mn-lt"/>
              </a:rPr>
              <a:t> and oblique to the margins of the fault zone, and the </a:t>
            </a:r>
            <a:r>
              <a:rPr lang="en-GB" altLang="en-US" sz="1700" dirty="0">
                <a:solidFill>
                  <a:srgbClr val="FF66FF"/>
                </a:solidFill>
                <a:effectLst>
                  <a:outerShdw blurRad="38100" dist="38100" dir="2700000" algn="tl">
                    <a:srgbClr val="000000"/>
                  </a:outerShdw>
                </a:effectLst>
                <a:latin typeface="+mn-lt"/>
              </a:rPr>
              <a:t>stretching</a:t>
            </a:r>
            <a:r>
              <a:rPr lang="en-GB" altLang="en-US" sz="1700" dirty="0">
                <a:effectLst>
                  <a:outerShdw blurRad="38100" dist="38100" dir="2700000" algn="tl">
                    <a:srgbClr val="000000"/>
                  </a:outerShdw>
                </a:effectLst>
                <a:latin typeface="+mn-lt"/>
              </a:rPr>
              <a:t> </a:t>
            </a:r>
            <a:r>
              <a:rPr lang="en-GB" altLang="en-US" sz="1700" dirty="0">
                <a:solidFill>
                  <a:srgbClr val="FF66FF"/>
                </a:solidFill>
                <a:effectLst>
                  <a:outerShdw blurRad="38100" dist="38100" dir="2700000" algn="tl">
                    <a:srgbClr val="000000"/>
                  </a:outerShdw>
                </a:effectLst>
                <a:latin typeface="+mn-lt"/>
              </a:rPr>
              <a:t>lineation (X) to be</a:t>
            </a:r>
            <a:r>
              <a:rPr lang="en-GB" altLang="en-US" sz="1700" dirty="0">
                <a:effectLst>
                  <a:outerShdw blurRad="38100" dist="38100" dir="2700000" algn="tl">
                    <a:srgbClr val="000000"/>
                  </a:outerShdw>
                </a:effectLst>
                <a:latin typeface="+mn-lt"/>
              </a:rPr>
              <a:t> </a:t>
            </a:r>
            <a:r>
              <a:rPr lang="en-GB" altLang="en-US" sz="1700" dirty="0">
                <a:solidFill>
                  <a:srgbClr val="FF66FF"/>
                </a:solidFill>
                <a:effectLst>
                  <a:outerShdw blurRad="38100" dist="38100" dir="2700000" algn="tl">
                    <a:srgbClr val="000000"/>
                  </a:outerShdw>
                </a:effectLst>
                <a:latin typeface="+mn-lt"/>
              </a:rPr>
              <a:t>horizontal</a:t>
            </a:r>
          </a:p>
        </p:txBody>
      </p:sp>
      <p:sp>
        <p:nvSpPr>
          <p:cNvPr id="229403" name="Text Box 27">
            <a:extLst>
              <a:ext uri="{FF2B5EF4-FFF2-40B4-BE49-F238E27FC236}">
                <a16:creationId xmlns:a16="http://schemas.microsoft.com/office/drawing/2014/main" id="{CF82D900-F714-4F2C-A4FE-329D117660BA}"/>
              </a:ext>
            </a:extLst>
          </p:cNvPr>
          <p:cNvSpPr txBox="1">
            <a:spLocks noChangeArrowheads="1"/>
          </p:cNvSpPr>
          <p:nvPr/>
        </p:nvSpPr>
        <p:spPr bwMode="auto">
          <a:xfrm>
            <a:off x="122238" y="1855788"/>
            <a:ext cx="6159500"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mn-lt"/>
              </a:rPr>
              <a:t>Recall the </a:t>
            </a:r>
            <a:r>
              <a:rPr lang="en-GB" altLang="en-US" sz="1700" dirty="0">
                <a:solidFill>
                  <a:srgbClr val="FF6600"/>
                </a:solidFill>
                <a:effectLst>
                  <a:outerShdw blurRad="38100" dist="38100" dir="2700000" algn="tl">
                    <a:srgbClr val="000000"/>
                  </a:outerShdw>
                </a:effectLst>
                <a:latin typeface="+mn-lt"/>
              </a:rPr>
              <a:t>X, Y, Z</a:t>
            </a:r>
            <a:r>
              <a:rPr lang="en-GB" altLang="en-US" sz="1700" dirty="0">
                <a:effectLst>
                  <a:outerShdw blurRad="38100" dist="38100" dir="2700000" algn="tl">
                    <a:srgbClr val="000000"/>
                  </a:outerShdw>
                </a:effectLst>
                <a:latin typeface="+mn-lt"/>
              </a:rPr>
              <a:t> nomenclature for the axes of the strain ellipsoid: usually the </a:t>
            </a:r>
            <a:r>
              <a:rPr lang="en-GB" altLang="en-US" sz="1700" dirty="0">
                <a:solidFill>
                  <a:srgbClr val="FF66FF"/>
                </a:solidFill>
                <a:effectLst>
                  <a:outerShdw blurRad="38100" dist="38100" dir="2700000" algn="tl">
                    <a:srgbClr val="000000"/>
                  </a:outerShdw>
                </a:effectLst>
                <a:latin typeface="+mn-lt"/>
              </a:rPr>
              <a:t>foliation is the XY plane</a:t>
            </a:r>
            <a:r>
              <a:rPr lang="en-GB" altLang="en-US" sz="1700" dirty="0">
                <a:effectLst>
                  <a:outerShdw blurRad="38100" dist="38100" dir="2700000" algn="tl">
                    <a:srgbClr val="000000"/>
                  </a:outerShdw>
                </a:effectLst>
                <a:latin typeface="+mn-lt"/>
              </a:rPr>
              <a:t> and any </a:t>
            </a:r>
            <a:r>
              <a:rPr lang="en-GB" altLang="en-US" sz="1700" dirty="0">
                <a:solidFill>
                  <a:srgbClr val="FF66FF"/>
                </a:solidFill>
                <a:effectLst>
                  <a:outerShdw blurRad="38100" dist="38100" dir="2700000" algn="tl">
                    <a:srgbClr val="000000"/>
                  </a:outerShdw>
                </a:effectLst>
                <a:latin typeface="+mn-lt"/>
              </a:rPr>
              <a:t>stretching</a:t>
            </a:r>
            <a:r>
              <a:rPr lang="en-GB" altLang="en-US" sz="1700" dirty="0">
                <a:effectLst>
                  <a:outerShdw blurRad="38100" dist="38100" dir="2700000" algn="tl">
                    <a:srgbClr val="000000"/>
                  </a:outerShdw>
                </a:effectLst>
                <a:latin typeface="+mn-lt"/>
              </a:rPr>
              <a:t> </a:t>
            </a:r>
            <a:r>
              <a:rPr lang="en-GB" altLang="en-US" sz="1700" dirty="0">
                <a:solidFill>
                  <a:srgbClr val="FF66FF"/>
                </a:solidFill>
                <a:effectLst>
                  <a:outerShdw blurRad="38100" dist="38100" dir="2700000" algn="tl">
                    <a:srgbClr val="000000"/>
                  </a:outerShdw>
                </a:effectLst>
                <a:latin typeface="+mn-lt"/>
              </a:rPr>
              <a:t>lineation is the X direction</a:t>
            </a:r>
          </a:p>
        </p:txBody>
      </p:sp>
      <p:grpSp>
        <p:nvGrpSpPr>
          <p:cNvPr id="229404" name="Group 28">
            <a:extLst>
              <a:ext uri="{FF2B5EF4-FFF2-40B4-BE49-F238E27FC236}">
                <a16:creationId xmlns:a16="http://schemas.microsoft.com/office/drawing/2014/main" id="{F9EDC6D5-76F2-4256-BFE9-C227E490D3BA}"/>
              </a:ext>
            </a:extLst>
          </p:cNvPr>
          <p:cNvGrpSpPr>
            <a:grpSpLocks/>
          </p:cNvGrpSpPr>
          <p:nvPr/>
        </p:nvGrpSpPr>
        <p:grpSpPr bwMode="auto">
          <a:xfrm>
            <a:off x="1173163" y="3038475"/>
            <a:ext cx="3138487" cy="1911350"/>
            <a:chOff x="4240" y="2159"/>
            <a:chExt cx="1442" cy="878"/>
          </a:xfrm>
        </p:grpSpPr>
        <p:sp>
          <p:nvSpPr>
            <p:cNvPr id="229405" name="Rectangle 29">
              <a:extLst>
                <a:ext uri="{FF2B5EF4-FFF2-40B4-BE49-F238E27FC236}">
                  <a16:creationId xmlns:a16="http://schemas.microsoft.com/office/drawing/2014/main" id="{CEA75934-7D8A-43A1-A92D-0F68ADBD45A8}"/>
                </a:ext>
              </a:extLst>
            </p:cNvPr>
            <p:cNvSpPr>
              <a:spLocks noChangeArrowheads="1"/>
            </p:cNvSpPr>
            <p:nvPr/>
          </p:nvSpPr>
          <p:spPr bwMode="auto">
            <a:xfrm>
              <a:off x="4240" y="2159"/>
              <a:ext cx="1442" cy="87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29406" name="Picture 30" descr="04a">
              <a:extLst>
                <a:ext uri="{FF2B5EF4-FFF2-40B4-BE49-F238E27FC236}">
                  <a16:creationId xmlns:a16="http://schemas.microsoft.com/office/drawing/2014/main" id="{78A14ED6-A759-4B5F-8202-7D874B9804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1" y="2211"/>
              <a:ext cx="1362" cy="7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FC048C2C-A063-41B6-894C-76D37D5BB9C6}"/>
              </a:ext>
            </a:extLst>
          </p:cNvPr>
          <p:cNvSpPr>
            <a:spLocks noGrp="1" noChangeArrowheads="1"/>
          </p:cNvSpPr>
          <p:nvPr>
            <p:ph type="title"/>
          </p:nvPr>
        </p:nvSpPr>
        <p:spPr>
          <a:noFill/>
        </p:spPr>
        <p:txBody>
          <a:bodyPr/>
          <a:lstStyle/>
          <a:p>
            <a:r>
              <a:rPr lang="en-GB" altLang="en-US">
                <a:effectLst/>
              </a:rPr>
              <a:t>Transtension, transpression and the strain ellipsoid</a:t>
            </a:r>
          </a:p>
        </p:txBody>
      </p:sp>
      <p:sp>
        <p:nvSpPr>
          <p:cNvPr id="335875" name="Rectangle 3">
            <a:extLst>
              <a:ext uri="{FF2B5EF4-FFF2-40B4-BE49-F238E27FC236}">
                <a16:creationId xmlns:a16="http://schemas.microsoft.com/office/drawing/2014/main" id="{2B882A85-C525-401A-BD7C-53EAADEE3EDF}"/>
              </a:ext>
            </a:extLst>
          </p:cNvPr>
          <p:cNvSpPr>
            <a:spLocks noGrp="1" noChangeArrowheads="1"/>
          </p:cNvSpPr>
          <p:nvPr>
            <p:ph type="body" idx="1"/>
          </p:nvPr>
        </p:nvSpPr>
        <p:spPr>
          <a:xfrm>
            <a:off x="122238" y="757238"/>
            <a:ext cx="5033962" cy="1804987"/>
          </a:xfrm>
          <a:noFill/>
        </p:spPr>
        <p:txBody>
          <a:bodyPr/>
          <a:lstStyle/>
          <a:p>
            <a:pPr marL="177800" indent="-177800">
              <a:spcBef>
                <a:spcPct val="75000"/>
              </a:spcBef>
            </a:pPr>
            <a:r>
              <a:rPr lang="en-GB" altLang="en-US" sz="1700">
                <a:effectLst/>
              </a:rPr>
              <a:t>The </a:t>
            </a:r>
            <a:r>
              <a:rPr lang="en-GB" altLang="en-US" sz="1700">
                <a:solidFill>
                  <a:srgbClr val="FF66FF"/>
                </a:solidFill>
                <a:effectLst/>
              </a:rPr>
              <a:t>shape and orientation of the strain ellipsoid</a:t>
            </a:r>
            <a:r>
              <a:rPr lang="en-GB" altLang="en-US" sz="1700">
                <a:effectLst/>
              </a:rPr>
              <a:t> is influenced by the extent of transpression or transtension</a:t>
            </a:r>
          </a:p>
          <a:p>
            <a:pPr marL="177800" indent="-177800">
              <a:spcBef>
                <a:spcPct val="50000"/>
              </a:spcBef>
            </a:pPr>
            <a:r>
              <a:rPr lang="en-GB" altLang="en-US" sz="1700">
                <a:effectLst/>
              </a:rPr>
              <a:t>How these change with increasing strain may be modelled and illustrated on a </a:t>
            </a:r>
            <a:r>
              <a:rPr lang="en-GB" altLang="en-US" sz="1700">
                <a:solidFill>
                  <a:srgbClr val="FF6600"/>
                </a:solidFill>
                <a:effectLst/>
              </a:rPr>
              <a:t>Flinn diagram</a:t>
            </a:r>
          </a:p>
        </p:txBody>
      </p:sp>
      <p:grpSp>
        <p:nvGrpSpPr>
          <p:cNvPr id="335887" name="Group 15">
            <a:extLst>
              <a:ext uri="{FF2B5EF4-FFF2-40B4-BE49-F238E27FC236}">
                <a16:creationId xmlns:a16="http://schemas.microsoft.com/office/drawing/2014/main" id="{DDCD4907-3009-4F02-9A81-7E27D11060C0}"/>
              </a:ext>
            </a:extLst>
          </p:cNvPr>
          <p:cNvGrpSpPr>
            <a:grpSpLocks/>
          </p:cNvGrpSpPr>
          <p:nvPr/>
        </p:nvGrpSpPr>
        <p:grpSpPr bwMode="auto">
          <a:xfrm>
            <a:off x="333375" y="2651125"/>
            <a:ext cx="3978275" cy="3987800"/>
            <a:chOff x="3682" y="2215"/>
            <a:chExt cx="1960" cy="1965"/>
          </a:xfrm>
        </p:grpSpPr>
        <p:sp>
          <p:nvSpPr>
            <p:cNvPr id="335884" name="Rectangle 12">
              <a:extLst>
                <a:ext uri="{FF2B5EF4-FFF2-40B4-BE49-F238E27FC236}">
                  <a16:creationId xmlns:a16="http://schemas.microsoft.com/office/drawing/2014/main" id="{EA1D2514-533F-43FB-921A-829C5CE00E0F}"/>
                </a:ext>
              </a:extLst>
            </p:cNvPr>
            <p:cNvSpPr>
              <a:spLocks noChangeArrowheads="1"/>
            </p:cNvSpPr>
            <p:nvPr/>
          </p:nvSpPr>
          <p:spPr bwMode="auto">
            <a:xfrm>
              <a:off x="3682" y="2215"/>
              <a:ext cx="1960" cy="196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35885" name="Picture 13" descr="12b">
              <a:extLst>
                <a:ext uri="{FF2B5EF4-FFF2-40B4-BE49-F238E27FC236}">
                  <a16:creationId xmlns:a16="http://schemas.microsoft.com/office/drawing/2014/main" id="{85798AFC-E9A7-476B-B91F-5B9580AC9D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7" y="2261"/>
              <a:ext cx="1869" cy="18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35886" name="Picture 14">
            <a:extLst>
              <a:ext uri="{FF2B5EF4-FFF2-40B4-BE49-F238E27FC236}">
                <a16:creationId xmlns:a16="http://schemas.microsoft.com/office/drawing/2014/main" id="{37E6079F-1642-428C-BC85-2C261B6886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3238" y="4702175"/>
            <a:ext cx="1893887" cy="19367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5888" name="Text Box 16">
            <a:extLst>
              <a:ext uri="{FF2B5EF4-FFF2-40B4-BE49-F238E27FC236}">
                <a16:creationId xmlns:a16="http://schemas.microsoft.com/office/drawing/2014/main" id="{31690375-58C9-4AA8-A418-4994149AEFEE}"/>
              </a:ext>
            </a:extLst>
          </p:cNvPr>
          <p:cNvSpPr txBox="1">
            <a:spLocks noChangeArrowheads="1"/>
          </p:cNvSpPr>
          <p:nvPr/>
        </p:nvSpPr>
        <p:spPr bwMode="auto">
          <a:xfrm>
            <a:off x="4456113" y="4851400"/>
            <a:ext cx="2216150"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Effect of changing the relative amount of pure shear over simple shear (high pure shear = large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α</a:t>
            </a:r>
            <a:r>
              <a:rPr lang="en-GB" altLang="en-US" sz="800" i="1" dirty="0">
                <a:solidFill>
                  <a:srgbClr val="FFFF00"/>
                </a:solidFill>
                <a:effectLst>
                  <a:outerShdw blurRad="38100" dist="38100" dir="2700000" algn="tl">
                    <a:srgbClr val="000000"/>
                  </a:outerShdw>
                </a:effectLst>
                <a:latin typeface="Symbol" panose="05050102010706020507" pitchFamily="18" charset="2"/>
              </a:rPr>
              <a:t> </a:t>
            </a:r>
            <a:r>
              <a:rPr lang="en-GB" altLang="en-US" sz="1400" dirty="0">
                <a:solidFill>
                  <a:srgbClr val="FFFF00"/>
                </a:solidFill>
                <a:effectLst>
                  <a:outerShdw blurRad="38100" dist="38100" dir="2700000" algn="tl">
                    <a:srgbClr val="000000"/>
                  </a:outerShdw>
                </a:effectLst>
                <a:latin typeface="Arial" panose="020B0604020202020204" pitchFamily="34" charset="0"/>
              </a:rPr>
              <a:t>) on the shape of the strain ellipsoid shown on a </a:t>
            </a:r>
            <a:r>
              <a:rPr lang="en-GB" altLang="en-US" sz="1400" dirty="0" err="1">
                <a:solidFill>
                  <a:srgbClr val="FFFF00"/>
                </a:solidFill>
                <a:effectLst>
                  <a:outerShdw blurRad="38100" dist="38100" dir="2700000" algn="tl">
                    <a:srgbClr val="000000"/>
                  </a:outerShdw>
                </a:effectLst>
                <a:latin typeface="Arial" panose="020B0604020202020204" pitchFamily="34" charset="0"/>
              </a:rPr>
              <a:t>Flinn</a:t>
            </a:r>
            <a:r>
              <a:rPr lang="en-GB" altLang="en-US" sz="1400" dirty="0">
                <a:solidFill>
                  <a:srgbClr val="FFFF00"/>
                </a:solidFill>
                <a:effectLst>
                  <a:outerShdw blurRad="38100" dist="38100" dir="2700000" algn="tl">
                    <a:srgbClr val="000000"/>
                  </a:outerShdw>
                </a:effectLst>
                <a:latin typeface="Arial" panose="020B0604020202020204" pitchFamily="34" charset="0"/>
              </a:rPr>
              <a:t> diagram</a:t>
            </a:r>
          </a:p>
        </p:txBody>
      </p:sp>
      <p:grpSp>
        <p:nvGrpSpPr>
          <p:cNvPr id="335889" name="Group 17">
            <a:extLst>
              <a:ext uri="{FF2B5EF4-FFF2-40B4-BE49-F238E27FC236}">
                <a16:creationId xmlns:a16="http://schemas.microsoft.com/office/drawing/2014/main" id="{81FC79C7-2E44-42ED-8FA9-13F9BD414BAD}"/>
              </a:ext>
            </a:extLst>
          </p:cNvPr>
          <p:cNvGrpSpPr>
            <a:grpSpLocks/>
          </p:cNvGrpSpPr>
          <p:nvPr/>
        </p:nvGrpSpPr>
        <p:grpSpPr bwMode="auto">
          <a:xfrm>
            <a:off x="5221288" y="890588"/>
            <a:ext cx="3656012" cy="3363912"/>
            <a:chOff x="3302" y="2230"/>
            <a:chExt cx="2071" cy="1906"/>
          </a:xfrm>
        </p:grpSpPr>
        <p:grpSp>
          <p:nvGrpSpPr>
            <p:cNvPr id="335890" name="Group 18">
              <a:extLst>
                <a:ext uri="{FF2B5EF4-FFF2-40B4-BE49-F238E27FC236}">
                  <a16:creationId xmlns:a16="http://schemas.microsoft.com/office/drawing/2014/main" id="{D710125B-142A-4FDE-87C7-1240FEA8DC46}"/>
                </a:ext>
              </a:extLst>
            </p:cNvPr>
            <p:cNvGrpSpPr>
              <a:grpSpLocks/>
            </p:cNvGrpSpPr>
            <p:nvPr/>
          </p:nvGrpSpPr>
          <p:grpSpPr bwMode="auto">
            <a:xfrm>
              <a:off x="3302" y="2230"/>
              <a:ext cx="2016" cy="1906"/>
              <a:chOff x="2610" y="1124"/>
              <a:chExt cx="3009" cy="2844"/>
            </a:xfrm>
          </p:grpSpPr>
          <p:sp>
            <p:nvSpPr>
              <p:cNvPr id="335891" name="Rectangle 19">
                <a:extLst>
                  <a:ext uri="{FF2B5EF4-FFF2-40B4-BE49-F238E27FC236}">
                    <a16:creationId xmlns:a16="http://schemas.microsoft.com/office/drawing/2014/main" id="{96F8CBC8-00F5-4C6D-98A8-907161688148}"/>
                  </a:ext>
                </a:extLst>
              </p:cNvPr>
              <p:cNvSpPr>
                <a:spLocks noChangeArrowheads="1"/>
              </p:cNvSpPr>
              <p:nvPr/>
            </p:nvSpPr>
            <p:spPr bwMode="auto">
              <a:xfrm>
                <a:off x="2610" y="1124"/>
                <a:ext cx="3009" cy="2844"/>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35892" name="Picture 2" descr="GR14.jpg">
                <a:extLst>
                  <a:ext uri="{FF2B5EF4-FFF2-40B4-BE49-F238E27FC236}">
                    <a16:creationId xmlns:a16="http://schemas.microsoft.com/office/drawing/2014/main" id="{2A8985CA-D585-4BEB-A018-8E2EBF0EEBE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635" y="1170"/>
                <a:ext cx="2940" cy="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5893" name="Rectangle 21">
                <a:extLst>
                  <a:ext uri="{FF2B5EF4-FFF2-40B4-BE49-F238E27FC236}">
                    <a16:creationId xmlns:a16="http://schemas.microsoft.com/office/drawing/2014/main" id="{9B70C020-C044-4BD5-BF4B-D295E99F0B4B}"/>
                  </a:ext>
                </a:extLst>
              </p:cNvPr>
              <p:cNvSpPr>
                <a:spLocks noChangeArrowheads="1"/>
              </p:cNvSpPr>
              <p:nvPr/>
            </p:nvSpPr>
            <p:spPr bwMode="auto">
              <a:xfrm>
                <a:off x="2769" y="1366"/>
                <a:ext cx="324" cy="12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5894" name="Rectangle 22">
                <a:extLst>
                  <a:ext uri="{FF2B5EF4-FFF2-40B4-BE49-F238E27FC236}">
                    <a16:creationId xmlns:a16="http://schemas.microsoft.com/office/drawing/2014/main" id="{88B48CAE-A0ED-4AA4-9330-FC7D40FCF9C2}"/>
                  </a:ext>
                </a:extLst>
              </p:cNvPr>
              <p:cNvSpPr>
                <a:spLocks noChangeArrowheads="1"/>
              </p:cNvSpPr>
              <p:nvPr/>
            </p:nvSpPr>
            <p:spPr bwMode="auto">
              <a:xfrm>
                <a:off x="4961" y="3490"/>
                <a:ext cx="308" cy="13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5895" name="Rectangle 23">
                <a:extLst>
                  <a:ext uri="{FF2B5EF4-FFF2-40B4-BE49-F238E27FC236}">
                    <a16:creationId xmlns:a16="http://schemas.microsoft.com/office/drawing/2014/main" id="{49B5E5DD-31C7-408B-8C28-6143D41B3CA4}"/>
                  </a:ext>
                </a:extLst>
              </p:cNvPr>
              <p:cNvSpPr>
                <a:spLocks noChangeArrowheads="1"/>
              </p:cNvSpPr>
              <p:nvPr/>
            </p:nvSpPr>
            <p:spPr bwMode="auto">
              <a:xfrm>
                <a:off x="4786" y="1630"/>
                <a:ext cx="372" cy="15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35896" name="Text Box 24">
              <a:extLst>
                <a:ext uri="{FF2B5EF4-FFF2-40B4-BE49-F238E27FC236}">
                  <a16:creationId xmlns:a16="http://schemas.microsoft.com/office/drawing/2014/main" id="{42953C4A-97FF-4A32-8BE2-55062077CDC4}"/>
                </a:ext>
              </a:extLst>
            </p:cNvPr>
            <p:cNvSpPr txBox="1">
              <a:spLocks noChangeArrowheads="1"/>
            </p:cNvSpPr>
            <p:nvPr/>
          </p:nvSpPr>
          <p:spPr bwMode="auto">
            <a:xfrm>
              <a:off x="4511" y="2266"/>
              <a:ext cx="86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latin typeface="Arial" panose="020B0604020202020204" pitchFamily="34" charset="0"/>
                </a:rPr>
                <a:t>Flinn diagram</a:t>
              </a:r>
            </a:p>
          </p:txBody>
        </p:sp>
      </p:gr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a:extLst>
              <a:ext uri="{FF2B5EF4-FFF2-40B4-BE49-F238E27FC236}">
                <a16:creationId xmlns:a16="http://schemas.microsoft.com/office/drawing/2014/main" id="{ABA65848-B3A7-43AA-8FCA-28BF426D6DC1}"/>
              </a:ext>
            </a:extLst>
          </p:cNvPr>
          <p:cNvSpPr>
            <a:spLocks noGrp="1" noChangeArrowheads="1"/>
          </p:cNvSpPr>
          <p:nvPr>
            <p:ph type="title"/>
          </p:nvPr>
        </p:nvSpPr>
        <p:spPr>
          <a:noFill/>
        </p:spPr>
        <p:txBody>
          <a:bodyPr/>
          <a:lstStyle/>
          <a:p>
            <a:r>
              <a:rPr lang="en-GB" altLang="en-US">
                <a:effectLst/>
              </a:rPr>
              <a:t>Transtension, transpression and the strain ellipsoid  2</a:t>
            </a:r>
          </a:p>
        </p:txBody>
      </p:sp>
      <p:sp>
        <p:nvSpPr>
          <p:cNvPr id="324611" name="Rectangle 3">
            <a:extLst>
              <a:ext uri="{FF2B5EF4-FFF2-40B4-BE49-F238E27FC236}">
                <a16:creationId xmlns:a16="http://schemas.microsoft.com/office/drawing/2014/main" id="{F4BFE04D-D031-436F-B0F3-9B6D21C90413}"/>
              </a:ext>
            </a:extLst>
          </p:cNvPr>
          <p:cNvSpPr>
            <a:spLocks noGrp="1" noChangeArrowheads="1"/>
          </p:cNvSpPr>
          <p:nvPr>
            <p:ph type="body" sz="half" idx="1"/>
          </p:nvPr>
        </p:nvSpPr>
        <p:spPr>
          <a:xfrm>
            <a:off x="142875" y="785813"/>
            <a:ext cx="8853488" cy="2278062"/>
          </a:xfrm>
          <a:noFill/>
        </p:spPr>
        <p:txBody>
          <a:bodyPr/>
          <a:lstStyle/>
          <a:p>
            <a:pPr marL="263525" indent="-263525">
              <a:spcBef>
                <a:spcPct val="75000"/>
              </a:spcBef>
              <a:buFont typeface="Times" panose="02020603050405020304" pitchFamily="18" charset="0"/>
              <a:buAutoNum type="arabicPeriod"/>
            </a:pPr>
            <a:r>
              <a:rPr lang="en-GB" altLang="en-US" sz="1700">
                <a:effectLst/>
              </a:rPr>
              <a:t>For </a:t>
            </a:r>
            <a:r>
              <a:rPr lang="en-GB" altLang="en-US" sz="1700">
                <a:solidFill>
                  <a:srgbClr val="FF6600"/>
                </a:solidFill>
                <a:effectLst/>
              </a:rPr>
              <a:t>strongly compressional transpression</a:t>
            </a:r>
            <a:r>
              <a:rPr lang="en-GB" altLang="en-US" sz="1700">
                <a:effectLst/>
              </a:rPr>
              <a:t> (right side of figure below) one expects a </a:t>
            </a:r>
            <a:r>
              <a:rPr lang="en-GB" altLang="en-US" sz="1700">
                <a:solidFill>
                  <a:srgbClr val="FF66FF"/>
                </a:solidFill>
                <a:effectLst/>
              </a:rPr>
              <a:t>vertical foliation</a:t>
            </a:r>
            <a:r>
              <a:rPr lang="en-GB" altLang="en-US" sz="1700">
                <a:effectLst/>
              </a:rPr>
              <a:t> </a:t>
            </a:r>
            <a:r>
              <a:rPr lang="en-GB" altLang="en-US" sz="1700">
                <a:solidFill>
                  <a:srgbClr val="FF66FF"/>
                </a:solidFill>
                <a:effectLst/>
              </a:rPr>
              <a:t>and lineation</a:t>
            </a:r>
            <a:endParaRPr lang="en-GB" altLang="en-US" sz="1700">
              <a:effectLst/>
            </a:endParaRPr>
          </a:p>
          <a:p>
            <a:pPr marL="263525" indent="-263525">
              <a:spcBef>
                <a:spcPct val="50000"/>
              </a:spcBef>
              <a:buFont typeface="Times" panose="02020603050405020304" pitchFamily="18" charset="0"/>
              <a:buAutoNum type="arabicPeriod"/>
            </a:pPr>
            <a:r>
              <a:rPr lang="en-GB" altLang="en-US" sz="1700">
                <a:effectLst/>
              </a:rPr>
              <a:t>For </a:t>
            </a:r>
            <a:r>
              <a:rPr lang="en-GB" altLang="en-US" sz="1700">
                <a:solidFill>
                  <a:srgbClr val="FF6600"/>
                </a:solidFill>
                <a:effectLst/>
              </a:rPr>
              <a:t>strongly extensional transtension</a:t>
            </a:r>
            <a:r>
              <a:rPr lang="en-GB" altLang="en-US" sz="1700">
                <a:effectLst/>
              </a:rPr>
              <a:t> (left side of figure below) one expects a </a:t>
            </a:r>
            <a:r>
              <a:rPr lang="en-GB" altLang="en-US" sz="1700">
                <a:solidFill>
                  <a:srgbClr val="FF66FF"/>
                </a:solidFill>
                <a:effectLst/>
              </a:rPr>
              <a:t>horizontal foliation and lineation</a:t>
            </a:r>
          </a:p>
          <a:p>
            <a:pPr marL="263525" indent="-263525">
              <a:spcBef>
                <a:spcPct val="50000"/>
              </a:spcBef>
              <a:buFont typeface="Times" panose="02020603050405020304" pitchFamily="18" charset="0"/>
              <a:buAutoNum type="arabicPeriod"/>
            </a:pPr>
            <a:r>
              <a:rPr lang="en-GB" altLang="en-US" sz="1700">
                <a:effectLst/>
              </a:rPr>
              <a:t>For </a:t>
            </a:r>
            <a:r>
              <a:rPr lang="en-GB" altLang="en-US" sz="1700">
                <a:solidFill>
                  <a:srgbClr val="FF6600"/>
                </a:solidFill>
                <a:effectLst/>
              </a:rPr>
              <a:t>intermediate cases</a:t>
            </a:r>
            <a:r>
              <a:rPr lang="en-GB" altLang="en-US" sz="1700">
                <a:effectLst/>
              </a:rPr>
              <a:t> (middle of figure below) the </a:t>
            </a:r>
            <a:r>
              <a:rPr lang="en-GB" altLang="en-US" sz="1700">
                <a:solidFill>
                  <a:srgbClr val="FF66FF"/>
                </a:solidFill>
                <a:effectLst/>
              </a:rPr>
              <a:t>foliation is vertical</a:t>
            </a:r>
            <a:r>
              <a:rPr lang="en-GB" altLang="en-US" sz="1700">
                <a:effectLst/>
              </a:rPr>
              <a:t> and the </a:t>
            </a:r>
            <a:r>
              <a:rPr lang="en-GB" altLang="en-US" sz="1700">
                <a:solidFill>
                  <a:srgbClr val="FF66FF"/>
                </a:solidFill>
                <a:effectLst/>
              </a:rPr>
              <a:t>lineation horizontal</a:t>
            </a:r>
            <a:r>
              <a:rPr lang="en-GB" altLang="en-US" sz="1700">
                <a:effectLst/>
              </a:rPr>
              <a:t> but with a complex evolution in orientation as the shear strain increases</a:t>
            </a:r>
          </a:p>
        </p:txBody>
      </p:sp>
      <p:grpSp>
        <p:nvGrpSpPr>
          <p:cNvPr id="324618" name="Group 10">
            <a:extLst>
              <a:ext uri="{FF2B5EF4-FFF2-40B4-BE49-F238E27FC236}">
                <a16:creationId xmlns:a16="http://schemas.microsoft.com/office/drawing/2014/main" id="{8C532DDB-C5F2-45E5-BCCB-B5CCC6171F46}"/>
              </a:ext>
            </a:extLst>
          </p:cNvPr>
          <p:cNvGrpSpPr>
            <a:grpSpLocks/>
          </p:cNvGrpSpPr>
          <p:nvPr/>
        </p:nvGrpSpPr>
        <p:grpSpPr bwMode="auto">
          <a:xfrm>
            <a:off x="862013" y="3262313"/>
            <a:ext cx="7485062" cy="3335337"/>
            <a:chOff x="77" y="2518"/>
            <a:chExt cx="3878" cy="1728"/>
          </a:xfrm>
        </p:grpSpPr>
        <p:sp>
          <p:nvSpPr>
            <p:cNvPr id="324617" name="Rectangle 9">
              <a:extLst>
                <a:ext uri="{FF2B5EF4-FFF2-40B4-BE49-F238E27FC236}">
                  <a16:creationId xmlns:a16="http://schemas.microsoft.com/office/drawing/2014/main" id="{9FB18F5B-E019-4CFD-817F-F3782EC70FC9}"/>
                </a:ext>
              </a:extLst>
            </p:cNvPr>
            <p:cNvSpPr>
              <a:spLocks noChangeArrowheads="1"/>
            </p:cNvSpPr>
            <p:nvPr/>
          </p:nvSpPr>
          <p:spPr bwMode="auto">
            <a:xfrm>
              <a:off x="77" y="2518"/>
              <a:ext cx="3878" cy="172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24614" name="Picture 6" descr="12c">
              <a:extLst>
                <a:ext uri="{FF2B5EF4-FFF2-40B4-BE49-F238E27FC236}">
                  <a16:creationId xmlns:a16="http://schemas.microsoft.com/office/drawing/2014/main" id="{6FC9C675-499F-44D6-879D-72C3BD8386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 y="2559"/>
              <a:ext cx="3790" cy="1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a:extLst>
              <a:ext uri="{FF2B5EF4-FFF2-40B4-BE49-F238E27FC236}">
                <a16:creationId xmlns:a16="http://schemas.microsoft.com/office/drawing/2014/main" id="{E95DC000-A83E-45E2-B0F9-90A239059C13}"/>
              </a:ext>
            </a:extLst>
          </p:cNvPr>
          <p:cNvSpPr>
            <a:spLocks noGrp="1" noChangeArrowheads="1"/>
          </p:cNvSpPr>
          <p:nvPr>
            <p:ph type="title"/>
          </p:nvPr>
        </p:nvSpPr>
        <p:spPr>
          <a:noFill/>
        </p:spPr>
        <p:txBody>
          <a:bodyPr/>
          <a:lstStyle/>
          <a:p>
            <a:r>
              <a:rPr lang="en-GB" altLang="en-US" dirty="0">
                <a:effectLst/>
              </a:rPr>
              <a:t>Strain partitioning within the fault zone</a:t>
            </a:r>
          </a:p>
        </p:txBody>
      </p:sp>
      <p:sp>
        <p:nvSpPr>
          <p:cNvPr id="328707" name="Rectangle 3">
            <a:extLst>
              <a:ext uri="{FF2B5EF4-FFF2-40B4-BE49-F238E27FC236}">
                <a16:creationId xmlns:a16="http://schemas.microsoft.com/office/drawing/2014/main" id="{E50DE406-74CD-48F0-BC6F-9FE6A7FB86BF}"/>
              </a:ext>
            </a:extLst>
          </p:cNvPr>
          <p:cNvSpPr>
            <a:spLocks noGrp="1" noChangeArrowheads="1"/>
          </p:cNvSpPr>
          <p:nvPr>
            <p:ph type="body" sz="half" idx="1"/>
          </p:nvPr>
        </p:nvSpPr>
        <p:spPr>
          <a:xfrm>
            <a:off x="123825" y="776288"/>
            <a:ext cx="4262438" cy="3852862"/>
          </a:xfrm>
          <a:noFill/>
        </p:spPr>
        <p:txBody>
          <a:bodyPr/>
          <a:lstStyle/>
          <a:p>
            <a:pPr marL="177800" indent="-177800">
              <a:spcBef>
                <a:spcPct val="75000"/>
              </a:spcBef>
            </a:pPr>
            <a:r>
              <a:rPr lang="en-GB" altLang="en-US" sz="1700" dirty="0">
                <a:effectLst/>
              </a:rPr>
              <a:t>Once a fault or shear zone forms it tends to </a:t>
            </a:r>
            <a:r>
              <a:rPr lang="en-GB" altLang="en-US" sz="1700" dirty="0">
                <a:solidFill>
                  <a:srgbClr val="FF66FF"/>
                </a:solidFill>
                <a:effectLst/>
              </a:rPr>
              <a:t>localize the simple shear component</a:t>
            </a:r>
            <a:r>
              <a:rPr lang="en-GB" altLang="en-US" sz="1700" dirty="0">
                <a:effectLst/>
              </a:rPr>
              <a:t> of the deformation leaving the surrounding volume of rock to </a:t>
            </a:r>
            <a:r>
              <a:rPr lang="en-GB" altLang="en-US" sz="1700" dirty="0">
                <a:solidFill>
                  <a:srgbClr val="FF66FF"/>
                </a:solidFill>
                <a:effectLst/>
              </a:rPr>
              <a:t>accommodate the pure shear component</a:t>
            </a:r>
            <a:r>
              <a:rPr lang="en-GB" altLang="en-US" sz="1700" dirty="0">
                <a:effectLst/>
              </a:rPr>
              <a:t> (extension or contraction)</a:t>
            </a:r>
            <a:endParaRPr lang="en-GB" altLang="en-US" sz="1700" dirty="0">
              <a:solidFill>
                <a:srgbClr val="FF6600"/>
              </a:solidFill>
              <a:effectLst/>
            </a:endParaRPr>
          </a:p>
          <a:p>
            <a:pPr marL="177800" indent="-177800">
              <a:spcBef>
                <a:spcPct val="75000"/>
              </a:spcBef>
            </a:pPr>
            <a:r>
              <a:rPr lang="en-GB" altLang="en-US" sz="1700" dirty="0">
                <a:effectLst/>
              </a:rPr>
              <a:t>This is described as </a:t>
            </a:r>
            <a:r>
              <a:rPr lang="en-GB" altLang="en-US" sz="1700" dirty="0">
                <a:solidFill>
                  <a:srgbClr val="FF6600"/>
                </a:solidFill>
                <a:effectLst/>
              </a:rPr>
              <a:t>strain partitioning</a:t>
            </a:r>
            <a:r>
              <a:rPr lang="en-GB" altLang="en-US" sz="1700" dirty="0">
                <a:effectLst/>
              </a:rPr>
              <a:t>, and it has been invoked to explain why fold traces along part of the </a:t>
            </a:r>
            <a:r>
              <a:rPr lang="en-GB" altLang="en-US" sz="1700" dirty="0">
                <a:solidFill>
                  <a:srgbClr val="FF66FF"/>
                </a:solidFill>
                <a:effectLst/>
              </a:rPr>
              <a:t>San Andreas Fault Zone</a:t>
            </a:r>
            <a:r>
              <a:rPr lang="en-GB" altLang="en-US" sz="1700" dirty="0">
                <a:effectLst/>
              </a:rPr>
              <a:t> are sub-parallel with the fault and not oblique to it</a:t>
            </a:r>
          </a:p>
        </p:txBody>
      </p:sp>
      <p:grpSp>
        <p:nvGrpSpPr>
          <p:cNvPr id="328731" name="Group 27">
            <a:extLst>
              <a:ext uri="{FF2B5EF4-FFF2-40B4-BE49-F238E27FC236}">
                <a16:creationId xmlns:a16="http://schemas.microsoft.com/office/drawing/2014/main" id="{8BBEAB38-1CB9-4127-A5BE-5AC3FDA5B60B}"/>
              </a:ext>
            </a:extLst>
          </p:cNvPr>
          <p:cNvGrpSpPr>
            <a:grpSpLocks/>
          </p:cNvGrpSpPr>
          <p:nvPr/>
        </p:nvGrpSpPr>
        <p:grpSpPr bwMode="auto">
          <a:xfrm>
            <a:off x="379413" y="4781550"/>
            <a:ext cx="5354637" cy="1816100"/>
            <a:chOff x="149" y="2850"/>
            <a:chExt cx="3658" cy="1241"/>
          </a:xfrm>
        </p:grpSpPr>
        <p:sp>
          <p:nvSpPr>
            <p:cNvPr id="328722" name="Rectangle 18">
              <a:extLst>
                <a:ext uri="{FF2B5EF4-FFF2-40B4-BE49-F238E27FC236}">
                  <a16:creationId xmlns:a16="http://schemas.microsoft.com/office/drawing/2014/main" id="{B8D1DF81-8D84-40B3-8DAE-DCCED487A2B9}"/>
                </a:ext>
              </a:extLst>
            </p:cNvPr>
            <p:cNvSpPr>
              <a:spLocks noChangeArrowheads="1"/>
            </p:cNvSpPr>
            <p:nvPr/>
          </p:nvSpPr>
          <p:spPr bwMode="auto">
            <a:xfrm>
              <a:off x="149" y="2850"/>
              <a:ext cx="3658" cy="1241"/>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28720" name="Picture 2" descr="GR23.jpg">
              <a:extLst>
                <a:ext uri="{FF2B5EF4-FFF2-40B4-BE49-F238E27FC236}">
                  <a16:creationId xmlns:a16="http://schemas.microsoft.com/office/drawing/2014/main" id="{4BC08A25-71CE-4852-BBE5-E1D22530CA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5" y="2912"/>
              <a:ext cx="3542" cy="11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328732" name="Group 28">
            <a:extLst>
              <a:ext uri="{FF2B5EF4-FFF2-40B4-BE49-F238E27FC236}">
                <a16:creationId xmlns:a16="http://schemas.microsoft.com/office/drawing/2014/main" id="{50C9B687-F5AF-4390-BCF5-3DC7963D7A49}"/>
              </a:ext>
            </a:extLst>
          </p:cNvPr>
          <p:cNvGrpSpPr>
            <a:grpSpLocks/>
          </p:cNvGrpSpPr>
          <p:nvPr/>
        </p:nvGrpSpPr>
        <p:grpSpPr bwMode="auto">
          <a:xfrm>
            <a:off x="4724400" y="857250"/>
            <a:ext cx="4038600" cy="3743325"/>
            <a:chOff x="3302" y="540"/>
            <a:chExt cx="2274" cy="2108"/>
          </a:xfrm>
        </p:grpSpPr>
        <p:sp>
          <p:nvSpPr>
            <p:cNvPr id="328730" name="Rectangle 26">
              <a:extLst>
                <a:ext uri="{FF2B5EF4-FFF2-40B4-BE49-F238E27FC236}">
                  <a16:creationId xmlns:a16="http://schemas.microsoft.com/office/drawing/2014/main" id="{1936EA42-DDF4-4D7B-8808-D6046DDD8A2D}"/>
                </a:ext>
              </a:extLst>
            </p:cNvPr>
            <p:cNvSpPr>
              <a:spLocks noChangeArrowheads="1"/>
            </p:cNvSpPr>
            <p:nvPr/>
          </p:nvSpPr>
          <p:spPr bwMode="auto">
            <a:xfrm>
              <a:off x="3302" y="540"/>
              <a:ext cx="2274" cy="210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28728" name="Picture 2" descr="GR22.jpg">
              <a:extLst>
                <a:ext uri="{FF2B5EF4-FFF2-40B4-BE49-F238E27FC236}">
                  <a16:creationId xmlns:a16="http://schemas.microsoft.com/office/drawing/2014/main" id="{309A6216-580B-486A-96CE-EE4924BAEFC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71" y="601"/>
              <a:ext cx="2146" cy="19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328733" name="Group 1">
            <a:extLst>
              <a:ext uri="{FF2B5EF4-FFF2-40B4-BE49-F238E27FC236}">
                <a16:creationId xmlns:a16="http://schemas.microsoft.com/office/drawing/2014/main" id="{AFF2448C-6016-4592-9463-8DBB971FEA23}"/>
              </a:ext>
            </a:extLst>
          </p:cNvPr>
          <p:cNvGrpSpPr>
            <a:grpSpLocks/>
          </p:cNvGrpSpPr>
          <p:nvPr/>
        </p:nvGrpSpPr>
        <p:grpSpPr bwMode="auto">
          <a:xfrm rot="3001109">
            <a:off x="6877844" y="4480719"/>
            <a:ext cx="1065212" cy="1714500"/>
            <a:chOff x="6882509" y="4833284"/>
            <a:chExt cx="1065213" cy="1716087"/>
          </a:xfrm>
        </p:grpSpPr>
        <p:pic>
          <p:nvPicPr>
            <p:cNvPr id="328734" name="Picture 15" descr="10d2">
              <a:extLst>
                <a:ext uri="{FF2B5EF4-FFF2-40B4-BE49-F238E27FC236}">
                  <a16:creationId xmlns:a16="http://schemas.microsoft.com/office/drawing/2014/main" id="{164F8973-F633-4857-A012-D59312957B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398891">
              <a:off x="6882509" y="4833284"/>
              <a:ext cx="1065213" cy="1716087"/>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Freeform 18">
              <a:extLst>
                <a:ext uri="{FF2B5EF4-FFF2-40B4-BE49-F238E27FC236}">
                  <a16:creationId xmlns:a16="http://schemas.microsoft.com/office/drawing/2014/main" id="{F4683213-4B20-4A0C-830F-AA4D67AE510A}"/>
                </a:ext>
              </a:extLst>
            </p:cNvPr>
            <p:cNvSpPr>
              <a:spLocks/>
            </p:cNvSpPr>
            <p:nvPr/>
          </p:nvSpPr>
          <p:spPr bwMode="auto">
            <a:xfrm rot="21460810">
              <a:off x="6936312" y="5350239"/>
              <a:ext cx="217487" cy="235167"/>
            </a:xfrm>
            <a:custGeom>
              <a:avLst/>
              <a:gdLst>
                <a:gd name="T0" fmla="*/ 0 w 137"/>
                <a:gd name="T1" fmla="*/ 148 h 148"/>
                <a:gd name="T2" fmla="*/ 137 w 137"/>
                <a:gd name="T3" fmla="*/ 0 h 148"/>
                <a:gd name="T4" fmla="*/ 66 w 137"/>
                <a:gd name="T5" fmla="*/ 18 h 148"/>
              </a:gdLst>
              <a:ahLst/>
              <a:cxnLst>
                <a:cxn ang="0">
                  <a:pos x="T0" y="T1"/>
                </a:cxn>
                <a:cxn ang="0">
                  <a:pos x="T2" y="T3"/>
                </a:cxn>
                <a:cxn ang="0">
                  <a:pos x="T4" y="T5"/>
                </a:cxn>
              </a:cxnLst>
              <a:rect l="0" t="0" r="r" b="b"/>
              <a:pathLst>
                <a:path w="137" h="148">
                  <a:moveTo>
                    <a:pt x="0" y="148"/>
                  </a:moveTo>
                  <a:lnTo>
                    <a:pt x="137" y="0"/>
                  </a:lnTo>
                  <a:lnTo>
                    <a:pt x="66" y="18"/>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12" name="Freeform 19">
              <a:extLst>
                <a:ext uri="{FF2B5EF4-FFF2-40B4-BE49-F238E27FC236}">
                  <a16:creationId xmlns:a16="http://schemas.microsoft.com/office/drawing/2014/main" id="{FCA14FC1-210C-4EBC-9EDA-0D4921E97A0B}"/>
                </a:ext>
              </a:extLst>
            </p:cNvPr>
            <p:cNvSpPr>
              <a:spLocks/>
            </p:cNvSpPr>
            <p:nvPr/>
          </p:nvSpPr>
          <p:spPr bwMode="auto">
            <a:xfrm rot="10680000">
              <a:off x="7593645" y="5816933"/>
              <a:ext cx="217487" cy="235167"/>
            </a:xfrm>
            <a:custGeom>
              <a:avLst/>
              <a:gdLst>
                <a:gd name="T0" fmla="*/ 0 w 137"/>
                <a:gd name="T1" fmla="*/ 148 h 148"/>
                <a:gd name="T2" fmla="*/ 137 w 137"/>
                <a:gd name="T3" fmla="*/ 0 h 148"/>
                <a:gd name="T4" fmla="*/ 66 w 137"/>
                <a:gd name="T5" fmla="*/ 18 h 148"/>
              </a:gdLst>
              <a:ahLst/>
              <a:cxnLst>
                <a:cxn ang="0">
                  <a:pos x="T0" y="T1"/>
                </a:cxn>
                <a:cxn ang="0">
                  <a:pos x="T2" y="T3"/>
                </a:cxn>
                <a:cxn ang="0">
                  <a:pos x="T4" y="T5"/>
                </a:cxn>
              </a:cxnLst>
              <a:rect l="0" t="0" r="r" b="b"/>
              <a:pathLst>
                <a:path w="137" h="148">
                  <a:moveTo>
                    <a:pt x="0" y="148"/>
                  </a:moveTo>
                  <a:lnTo>
                    <a:pt x="137" y="0"/>
                  </a:lnTo>
                  <a:lnTo>
                    <a:pt x="66" y="18"/>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grpSp>
      <p:sp>
        <p:nvSpPr>
          <p:cNvPr id="3" name="TextBox 2">
            <a:extLst>
              <a:ext uri="{FF2B5EF4-FFF2-40B4-BE49-F238E27FC236}">
                <a16:creationId xmlns:a16="http://schemas.microsoft.com/office/drawing/2014/main" id="{DB361CB8-F822-4D87-AE54-DA06DAD4C0EB}"/>
              </a:ext>
            </a:extLst>
          </p:cNvPr>
          <p:cNvSpPr txBox="1"/>
          <p:nvPr/>
        </p:nvSpPr>
        <p:spPr>
          <a:xfrm>
            <a:off x="6838950" y="5905500"/>
            <a:ext cx="1168400" cy="304800"/>
          </a:xfrm>
          <a:prstGeom prst="rect">
            <a:avLst/>
          </a:prstGeom>
          <a:noFill/>
        </p:spPr>
        <p:txBody>
          <a:bodyPr>
            <a:spAutoFit/>
          </a:bodyPr>
          <a:lstStyle/>
          <a:p>
            <a:pPr>
              <a:defRPr/>
            </a:pPr>
            <a:r>
              <a:rPr lang="en-GB" sz="1400" dirty="0">
                <a:solidFill>
                  <a:srgbClr val="FFFF00"/>
                </a:solidFill>
                <a:latin typeface="+mn-lt"/>
              </a:rPr>
              <a:t>expectation</a:t>
            </a:r>
          </a:p>
        </p:txBody>
      </p:sp>
      <p:sp>
        <p:nvSpPr>
          <p:cNvPr id="15" name="TextBox 14">
            <a:extLst>
              <a:ext uri="{FF2B5EF4-FFF2-40B4-BE49-F238E27FC236}">
                <a16:creationId xmlns:a16="http://schemas.microsoft.com/office/drawing/2014/main" id="{594BF423-4EE6-4E6B-80F9-826A1FFED751}"/>
              </a:ext>
            </a:extLst>
          </p:cNvPr>
          <p:cNvSpPr txBox="1"/>
          <p:nvPr/>
        </p:nvSpPr>
        <p:spPr>
          <a:xfrm>
            <a:off x="5803900" y="6334125"/>
            <a:ext cx="857250" cy="304800"/>
          </a:xfrm>
          <a:prstGeom prst="rect">
            <a:avLst/>
          </a:prstGeom>
          <a:noFill/>
        </p:spPr>
        <p:txBody>
          <a:bodyPr>
            <a:spAutoFit/>
          </a:bodyPr>
          <a:lstStyle/>
          <a:p>
            <a:pPr>
              <a:defRPr/>
            </a:pPr>
            <a:r>
              <a:rPr lang="en-GB" sz="1400" dirty="0">
                <a:solidFill>
                  <a:srgbClr val="FFFF00"/>
                </a:solidFill>
                <a:latin typeface="+mn-lt"/>
              </a:rPr>
              <a:t>actuality</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E00233D-A24B-4F4E-996D-FBCCC4E93AE1}"/>
              </a:ext>
            </a:extLst>
          </p:cNvPr>
          <p:cNvSpPr>
            <a:spLocks noGrp="1" noChangeArrowheads="1"/>
          </p:cNvSpPr>
          <p:nvPr>
            <p:ph type="title"/>
          </p:nvPr>
        </p:nvSpPr>
        <p:spPr>
          <a:noFill/>
        </p:spPr>
        <p:txBody>
          <a:bodyPr/>
          <a:lstStyle/>
          <a:p>
            <a:r>
              <a:rPr lang="en-GB" altLang="en-US">
                <a:effectLst/>
              </a:rPr>
              <a:t>Strain partitioning – Carboneras Fault Zone</a:t>
            </a:r>
          </a:p>
        </p:txBody>
      </p:sp>
      <p:pic>
        <p:nvPicPr>
          <p:cNvPr id="362506" name="Picture 10">
            <a:extLst>
              <a:ext uri="{FF2B5EF4-FFF2-40B4-BE49-F238E27FC236}">
                <a16:creationId xmlns:a16="http://schemas.microsoft.com/office/drawing/2014/main" id="{E9856472-43B8-49EB-A8AC-A0573517B848}"/>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3573463" y="881063"/>
            <a:ext cx="5384800" cy="3516312"/>
          </a:xfrm>
          <a:noFill/>
          <a:ln w="38100" cap="flat">
            <a:solidFill>
              <a:schemeClr val="bg2"/>
            </a:solidFill>
            <a:miter lim="800000"/>
            <a:headEnd/>
            <a:tailEnd/>
          </a:ln>
        </p:spPr>
      </p:pic>
      <p:sp>
        <p:nvSpPr>
          <p:cNvPr id="362501" name="Text Box 5">
            <a:extLst>
              <a:ext uri="{FF2B5EF4-FFF2-40B4-BE49-F238E27FC236}">
                <a16:creationId xmlns:a16="http://schemas.microsoft.com/office/drawing/2014/main" id="{560789F0-78AE-416C-A43E-626F604CB6C5}"/>
              </a:ext>
            </a:extLst>
          </p:cNvPr>
          <p:cNvSpPr txBox="1">
            <a:spLocks noChangeArrowheads="1"/>
          </p:cNvSpPr>
          <p:nvPr/>
        </p:nvSpPr>
        <p:spPr bwMode="auto">
          <a:xfrm>
            <a:off x="122238" y="752475"/>
            <a:ext cx="3335337" cy="427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Fault zones in phyllosilicate-rich lithologies</a:t>
            </a:r>
            <a:r>
              <a:rPr lang="en-GB" altLang="en-US" sz="1700" dirty="0">
                <a:effectLst>
                  <a:outerShdw blurRad="38100" dist="38100" dir="2700000" algn="tl">
                    <a:srgbClr val="000000"/>
                  </a:outerShdw>
                </a:effectLst>
                <a:latin typeface="Arial" panose="020B0604020202020204" pitchFamily="34" charset="0"/>
              </a:rPr>
              <a:t> have additional interesting features as illustrated by the </a:t>
            </a:r>
            <a:r>
              <a:rPr lang="en-GB" altLang="en-US" sz="1700" dirty="0" err="1">
                <a:solidFill>
                  <a:srgbClr val="FF66FF"/>
                </a:solidFill>
                <a:effectLst>
                  <a:outerShdw blurRad="38100" dist="38100" dir="2700000" algn="tl">
                    <a:srgbClr val="000000"/>
                  </a:outerShdw>
                </a:effectLst>
                <a:latin typeface="Arial" panose="020B0604020202020204" pitchFamily="34" charset="0"/>
              </a:rPr>
              <a:t>Carboneras</a:t>
            </a:r>
            <a:r>
              <a:rPr lang="en-GB" altLang="en-US" sz="1700" dirty="0">
                <a:solidFill>
                  <a:srgbClr val="FF66FF"/>
                </a:solidFill>
                <a:effectLst>
                  <a:outerShdw blurRad="38100" dist="38100" dir="2700000" algn="tl">
                    <a:srgbClr val="000000"/>
                  </a:outerShdw>
                </a:effectLst>
                <a:latin typeface="Arial" panose="020B0604020202020204" pitchFamily="34" charset="0"/>
              </a:rPr>
              <a:t> fault zone</a:t>
            </a:r>
            <a:r>
              <a:rPr lang="en-GB" altLang="en-US" sz="1700" dirty="0">
                <a:effectLst>
                  <a:outerShdw blurRad="38100" dist="38100" dir="2700000" algn="tl">
                    <a:srgbClr val="000000"/>
                  </a:outerShdw>
                </a:effectLst>
                <a:latin typeface="Arial" panose="020B0604020202020204" pitchFamily="34" charset="0"/>
              </a:rPr>
              <a:t> (SE Spain)</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SE Spain </a:t>
            </a:r>
            <a:r>
              <a:rPr lang="en-GB" altLang="en-US" sz="1700" dirty="0">
                <a:solidFill>
                  <a:srgbClr val="FF66FF"/>
                </a:solidFill>
                <a:effectLst>
                  <a:outerShdw blurRad="38100" dist="38100" dir="2700000" algn="tl">
                    <a:srgbClr val="000000"/>
                  </a:outerShdw>
                </a:effectLst>
                <a:latin typeface="Arial" panose="020B0604020202020204" pitchFamily="34" charset="0"/>
              </a:rPr>
              <a:t>NW-SE directed compression</a:t>
            </a:r>
            <a:r>
              <a:rPr lang="en-GB" altLang="en-US" sz="1700" dirty="0">
                <a:effectLst>
                  <a:outerShdw blurRad="38100" dist="38100" dir="2700000" algn="tl">
                    <a:srgbClr val="000000"/>
                  </a:outerShdw>
                </a:effectLst>
                <a:latin typeface="Arial" panose="020B0604020202020204" pitchFamily="34" charset="0"/>
              </a:rPr>
              <a:t> associated with the convergence of Africa and Iberia has been complicated by </a:t>
            </a:r>
            <a:r>
              <a:rPr lang="en-GB" altLang="en-US" sz="1700" dirty="0">
                <a:solidFill>
                  <a:srgbClr val="FF66FF"/>
                </a:solidFill>
                <a:effectLst>
                  <a:outerShdw blurRad="38100" dist="38100" dir="2700000" algn="tl">
                    <a:srgbClr val="000000"/>
                  </a:outerShdw>
                </a:effectLst>
                <a:latin typeface="Arial" panose="020B0604020202020204" pitchFamily="34" charset="0"/>
              </a:rPr>
              <a:t>NE-SW directed (back-arc) extension</a:t>
            </a:r>
            <a:r>
              <a:rPr lang="en-GB" altLang="en-US" sz="1700" dirty="0">
                <a:effectLst>
                  <a:outerShdw blurRad="38100" dist="38100" dir="2700000" algn="tl">
                    <a:srgbClr val="000000"/>
                  </a:outerShdw>
                </a:effectLst>
                <a:latin typeface="Arial" panose="020B0604020202020204" pitchFamily="34" charset="0"/>
              </a:rPr>
              <a:t> associated with the roll-back (to the west) of an east dipping subduction zone</a:t>
            </a:r>
          </a:p>
        </p:txBody>
      </p:sp>
      <p:pic>
        <p:nvPicPr>
          <p:cNvPr id="362508" name="Picture 12">
            <a:extLst>
              <a:ext uri="{FF2B5EF4-FFF2-40B4-BE49-F238E27FC236}">
                <a16:creationId xmlns:a16="http://schemas.microsoft.com/office/drawing/2014/main" id="{76085085-252C-43D7-9523-6B57CD93D910}"/>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438650" y="4560888"/>
            <a:ext cx="4519613" cy="2130425"/>
          </a:xfrm>
          <a:noFill/>
          <a:ln w="38100" cap="flat">
            <a:solidFill>
              <a:schemeClr val="bg2"/>
            </a:solidFill>
            <a:miter lim="800000"/>
            <a:headEnd/>
            <a:tailEnd/>
          </a:ln>
        </p:spPr>
      </p:pic>
      <p:sp>
        <p:nvSpPr>
          <p:cNvPr id="362510" name="Text Box 14">
            <a:extLst>
              <a:ext uri="{FF2B5EF4-FFF2-40B4-BE49-F238E27FC236}">
                <a16:creationId xmlns:a16="http://schemas.microsoft.com/office/drawing/2014/main" id="{982C0C4F-3DB8-4AD5-808F-D5A160C558C4}"/>
              </a:ext>
            </a:extLst>
          </p:cNvPr>
          <p:cNvSpPr txBox="1">
            <a:spLocks noChangeArrowheads="1"/>
          </p:cNvSpPr>
          <p:nvPr/>
        </p:nvSpPr>
        <p:spPr bwMode="auto">
          <a:xfrm>
            <a:off x="133350" y="5064125"/>
            <a:ext cx="4194175"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Strike-slip (transform) faults</a:t>
            </a:r>
            <a:r>
              <a:rPr lang="en-GB" altLang="en-US" sz="1700" dirty="0">
                <a:effectLst>
                  <a:outerShdw blurRad="38100" dist="38100" dir="2700000" algn="tl">
                    <a:srgbClr val="000000"/>
                  </a:outerShdw>
                </a:effectLst>
                <a:latin typeface="Arial" panose="020B0604020202020204" pitchFamily="34" charset="0"/>
              </a:rPr>
              <a:t> bound the region of extension; the </a:t>
            </a:r>
            <a:r>
              <a:rPr lang="en-GB" altLang="en-US" sz="1700" dirty="0" err="1">
                <a:effectLst>
                  <a:outerShdw blurRad="38100" dist="38100" dir="2700000" algn="tl">
                    <a:srgbClr val="000000"/>
                  </a:outerShdw>
                </a:effectLst>
                <a:latin typeface="Arial" panose="020B0604020202020204" pitchFamily="34" charset="0"/>
              </a:rPr>
              <a:t>Carboneras</a:t>
            </a:r>
            <a:r>
              <a:rPr lang="en-GB" altLang="en-US" sz="1700" dirty="0">
                <a:effectLst>
                  <a:outerShdw blurRad="38100" dist="38100" dir="2700000" algn="tl">
                    <a:srgbClr val="000000"/>
                  </a:outerShdw>
                </a:effectLst>
                <a:latin typeface="Arial" panose="020B0604020202020204" pitchFamily="34" charset="0"/>
              </a:rPr>
              <a:t> fault zone is one of the faults on the southern boundary (</a:t>
            </a:r>
            <a:r>
              <a:rPr lang="en-GB" altLang="en-US" sz="1700" dirty="0">
                <a:solidFill>
                  <a:srgbClr val="FF66FF"/>
                </a:solidFill>
                <a:effectLst>
                  <a:outerShdw blurRad="38100" dist="38100" dir="2700000" algn="tl">
                    <a:srgbClr val="000000"/>
                  </a:outerShdw>
                </a:effectLst>
                <a:latin typeface="Arial" panose="020B0604020202020204" pitchFamily="34" charset="0"/>
              </a:rPr>
              <a:t>Trans-</a:t>
            </a:r>
            <a:r>
              <a:rPr lang="en-GB" altLang="en-US" sz="1700" dirty="0" err="1">
                <a:solidFill>
                  <a:srgbClr val="FF66FF"/>
                </a:solidFill>
                <a:effectLst>
                  <a:outerShdw blurRad="38100" dist="38100" dir="2700000" algn="tl">
                    <a:srgbClr val="000000"/>
                  </a:outerShdw>
                </a:effectLst>
                <a:latin typeface="Arial" panose="020B0604020202020204" pitchFamily="34" charset="0"/>
              </a:rPr>
              <a:t>Albor</a:t>
            </a:r>
            <a:r>
              <a:rPr lang="en-US" altLang="en-US" sz="1700" dirty="0">
                <a:solidFill>
                  <a:srgbClr val="FF66FF"/>
                </a:solidFill>
                <a:effectLst>
                  <a:outerShdw blurRad="38100" dist="38100" dir="2700000" algn="tl">
                    <a:srgbClr val="000000"/>
                  </a:outerShdw>
                </a:effectLst>
                <a:latin typeface="Arial" panose="020B0604020202020204" pitchFamily="34" charset="0"/>
                <a:cs typeface="Arial" panose="020B0604020202020204" pitchFamily="34" charset="0"/>
              </a:rPr>
              <a:t>á</a:t>
            </a:r>
            <a:r>
              <a:rPr lang="en-GB" altLang="en-US" sz="1700" dirty="0">
                <a:solidFill>
                  <a:srgbClr val="FF66FF"/>
                </a:solidFill>
                <a:effectLst>
                  <a:outerShdw blurRad="38100" dist="38100" dir="2700000" algn="tl">
                    <a:srgbClr val="000000"/>
                  </a:outerShdw>
                </a:effectLst>
                <a:latin typeface="Arial" panose="020B0604020202020204" pitchFamily="34" charset="0"/>
              </a:rPr>
              <a:t>n Shear Zone</a:t>
            </a:r>
            <a:r>
              <a:rPr lang="en-GB" altLang="en-US" sz="1700" dirty="0">
                <a:effectLst>
                  <a:outerShdw blurRad="38100" dist="38100" dir="2700000" algn="tl">
                    <a:srgbClr val="000000"/>
                  </a:outerShdw>
                </a:effectLst>
                <a:latin typeface="Arial" panose="020B0604020202020204" pitchFamily="34" charset="0"/>
              </a:rPr>
              <a:t>)</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a:extLst>
              <a:ext uri="{FF2B5EF4-FFF2-40B4-BE49-F238E27FC236}">
                <a16:creationId xmlns:a16="http://schemas.microsoft.com/office/drawing/2014/main" id="{2BB574CE-E800-47F2-BB09-AFC52E8B070D}"/>
              </a:ext>
            </a:extLst>
          </p:cNvPr>
          <p:cNvSpPr>
            <a:spLocks noGrp="1" noChangeArrowheads="1"/>
          </p:cNvSpPr>
          <p:nvPr>
            <p:ph type="title"/>
          </p:nvPr>
        </p:nvSpPr>
        <p:spPr>
          <a:noFill/>
        </p:spPr>
        <p:txBody>
          <a:bodyPr/>
          <a:lstStyle/>
          <a:p>
            <a:r>
              <a:rPr lang="en-GB" altLang="en-US">
                <a:effectLst/>
              </a:rPr>
              <a:t>Strain partitioning – Carboneras Fault Zone  2</a:t>
            </a:r>
          </a:p>
        </p:txBody>
      </p:sp>
      <p:pic>
        <p:nvPicPr>
          <p:cNvPr id="342021" name="Picture 5">
            <a:extLst>
              <a:ext uri="{FF2B5EF4-FFF2-40B4-BE49-F238E27FC236}">
                <a16:creationId xmlns:a16="http://schemas.microsoft.com/office/drawing/2014/main" id="{0C3D5F6A-52EF-4549-852C-3257CDADA7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6413" y="931863"/>
            <a:ext cx="3273425" cy="373062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2022" name="Picture 6">
            <a:extLst>
              <a:ext uri="{FF2B5EF4-FFF2-40B4-BE49-F238E27FC236}">
                <a16:creationId xmlns:a16="http://schemas.microsoft.com/office/drawing/2014/main" id="{89CCDC4F-BBBC-42FA-AE33-866A521BF1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3275" y="4849813"/>
            <a:ext cx="4256088" cy="184150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2025" name="Text Box 9">
            <a:extLst>
              <a:ext uri="{FF2B5EF4-FFF2-40B4-BE49-F238E27FC236}">
                <a16:creationId xmlns:a16="http://schemas.microsoft.com/office/drawing/2014/main" id="{A1CEDA45-9C35-4FDC-B59C-D9C7B31920AD}"/>
              </a:ext>
            </a:extLst>
          </p:cNvPr>
          <p:cNvSpPr txBox="1">
            <a:spLocks noChangeArrowheads="1"/>
          </p:cNvSpPr>
          <p:nvPr/>
        </p:nvSpPr>
        <p:spPr bwMode="auto">
          <a:xfrm>
            <a:off x="112713" y="790575"/>
            <a:ext cx="5330825"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err="1">
                <a:effectLst>
                  <a:outerShdw blurRad="38100" dist="38100" dir="2700000" algn="tl">
                    <a:srgbClr val="000000"/>
                  </a:outerShdw>
                </a:effectLst>
                <a:latin typeface="Arial" panose="020B0604020202020204" pitchFamily="34" charset="0"/>
              </a:rPr>
              <a:t>Carboneras</a:t>
            </a:r>
            <a:r>
              <a:rPr lang="en-GB" altLang="en-US" sz="1700" dirty="0">
                <a:effectLst>
                  <a:outerShdw blurRad="38100" dist="38100" dir="2700000" algn="tl">
                    <a:srgbClr val="000000"/>
                  </a:outerShdw>
                </a:effectLst>
                <a:latin typeface="Arial" panose="020B0604020202020204" pitchFamily="34" charset="0"/>
              </a:rPr>
              <a:t> fault zone is up to 1 km wide and has accommodated perhaps </a:t>
            </a:r>
            <a:r>
              <a:rPr lang="en-GB" altLang="en-US" sz="1700" spc="300" dirty="0">
                <a:effectLst>
                  <a:outerShdw blurRad="38100" dist="38100" dir="2700000" algn="tl">
                    <a:srgbClr val="000000"/>
                  </a:outerShdw>
                </a:effectLst>
                <a:latin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rPr>
              <a:t>40 km </a:t>
            </a:r>
            <a:r>
              <a:rPr lang="en-GB" altLang="en-US" sz="1700" dirty="0">
                <a:solidFill>
                  <a:srgbClr val="FF66FF"/>
                </a:solidFill>
                <a:effectLst>
                  <a:outerShdw blurRad="38100" dist="38100" dir="2700000" algn="tl">
                    <a:srgbClr val="000000"/>
                  </a:outerShdw>
                </a:effectLst>
                <a:latin typeface="Arial" panose="020B0604020202020204" pitchFamily="34" charset="0"/>
              </a:rPr>
              <a:t>sinistral (</a:t>
            </a:r>
            <a:r>
              <a:rPr lang="en-GB" altLang="en-US" sz="1700" dirty="0" err="1">
                <a:solidFill>
                  <a:srgbClr val="FF66FF"/>
                </a:solidFill>
                <a:effectLst>
                  <a:outerShdw blurRad="38100" dist="38100" dir="2700000" algn="tl">
                    <a:srgbClr val="000000"/>
                  </a:outerShdw>
                </a:effectLst>
                <a:latin typeface="Arial" panose="020B0604020202020204" pitchFamily="34" charset="0"/>
              </a:rPr>
              <a:t>transpressive</a:t>
            </a:r>
            <a:r>
              <a:rPr lang="en-GB" altLang="en-US" sz="1700" dirty="0">
                <a:solidFill>
                  <a:srgbClr val="FF66FF"/>
                </a:solidFill>
                <a:effectLst>
                  <a:outerShdw blurRad="38100" dist="38100" dir="2700000" algn="tl">
                    <a:srgbClr val="000000"/>
                  </a:outerShdw>
                </a:effectLst>
                <a:latin typeface="Arial" panose="020B0604020202020204" pitchFamily="34" charset="0"/>
              </a:rPr>
              <a:t>) strike-slip</a:t>
            </a:r>
            <a:r>
              <a:rPr lang="en-GB" altLang="en-US" sz="1700" dirty="0">
                <a:effectLst>
                  <a:outerShdw blurRad="38100" dist="38100" dir="2700000" algn="tl">
                    <a:srgbClr val="000000"/>
                  </a:outerShdw>
                </a:effectLst>
                <a:latin typeface="Arial" panose="020B0604020202020204" pitchFamily="34" charset="0"/>
              </a:rPr>
              <a:t> movement during the Late Miocene (1</a:t>
            </a:r>
            <a:r>
              <a:rPr lang="en-GB" altLang="en-US" sz="1700" spc="300" dirty="0">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7 Ma). The units currently at the surface were deformed </a:t>
            </a:r>
            <a:r>
              <a:rPr lang="en-GB" altLang="en-US" sz="1700" dirty="0">
                <a:solidFill>
                  <a:srgbClr val="FF66FF"/>
                </a:solidFill>
                <a:effectLst>
                  <a:outerShdw blurRad="38100" dist="38100" dir="2700000" algn="tl">
                    <a:srgbClr val="000000"/>
                  </a:outerShdw>
                </a:effectLst>
                <a:latin typeface="Arial" panose="020B0604020202020204" pitchFamily="34" charset="0"/>
              </a:rPr>
              <a:t>at a depth of 4</a:t>
            </a:r>
            <a:r>
              <a:rPr lang="en-GB" altLang="en-US" sz="800" dirty="0">
                <a:solidFill>
                  <a:srgbClr val="FF66FF"/>
                </a:solidFill>
                <a:effectLst>
                  <a:outerShdw blurRad="38100" dist="38100" dir="2700000" algn="tl">
                    <a:srgbClr val="000000"/>
                  </a:outerShdw>
                </a:effectLst>
                <a:latin typeface="Arial" panose="020B0604020202020204" pitchFamily="34" charset="0"/>
              </a:rPr>
              <a:t> </a:t>
            </a:r>
            <a:r>
              <a:rPr lang="en-GB" altLang="en-US" sz="1700" dirty="0">
                <a:solidFill>
                  <a:srgbClr val="FF66FF"/>
                </a:solidFill>
                <a:effectLst>
                  <a:outerShdw blurRad="38100" dist="38100" dir="2700000" algn="tl">
                    <a:srgbClr val="000000"/>
                  </a:outerShdw>
                </a:effectLst>
                <a:latin typeface="Arial" panose="020B0604020202020204" pitchFamily="34" charset="0"/>
              </a:rPr>
              <a:t>-</a:t>
            </a:r>
            <a:r>
              <a:rPr lang="en-GB" altLang="en-US" sz="800" dirty="0">
                <a:solidFill>
                  <a:srgbClr val="FF66FF"/>
                </a:solidFill>
                <a:effectLst>
                  <a:outerShdw blurRad="38100" dist="38100" dir="2700000" algn="tl">
                    <a:srgbClr val="000000"/>
                  </a:outerShdw>
                </a:effectLst>
                <a:latin typeface="Arial" panose="020B0604020202020204" pitchFamily="34" charset="0"/>
              </a:rPr>
              <a:t> </a:t>
            </a:r>
            <a:r>
              <a:rPr lang="en-GB" altLang="en-US" sz="1700" dirty="0">
                <a:solidFill>
                  <a:srgbClr val="FF66FF"/>
                </a:solidFill>
                <a:effectLst>
                  <a:outerShdw blurRad="38100" dist="38100" dir="2700000" algn="tl">
                    <a:srgbClr val="000000"/>
                  </a:outerShdw>
                </a:effectLst>
                <a:latin typeface="Arial" panose="020B0604020202020204" pitchFamily="34" charset="0"/>
              </a:rPr>
              <a:t>6 km</a:t>
            </a:r>
          </a:p>
        </p:txBody>
      </p:sp>
      <p:grpSp>
        <p:nvGrpSpPr>
          <p:cNvPr id="342028" name="Group 12">
            <a:extLst>
              <a:ext uri="{FF2B5EF4-FFF2-40B4-BE49-F238E27FC236}">
                <a16:creationId xmlns:a16="http://schemas.microsoft.com/office/drawing/2014/main" id="{60258F0D-7C08-4743-9B2D-6A3B7C99DC0A}"/>
              </a:ext>
            </a:extLst>
          </p:cNvPr>
          <p:cNvGrpSpPr>
            <a:grpSpLocks/>
          </p:cNvGrpSpPr>
          <p:nvPr/>
        </p:nvGrpSpPr>
        <p:grpSpPr bwMode="auto">
          <a:xfrm>
            <a:off x="1133475" y="4108450"/>
            <a:ext cx="2606675" cy="2586038"/>
            <a:chOff x="3516" y="2114"/>
            <a:chExt cx="2126" cy="2108"/>
          </a:xfrm>
        </p:grpSpPr>
        <p:sp>
          <p:nvSpPr>
            <p:cNvPr id="342026" name="Rectangle 10">
              <a:extLst>
                <a:ext uri="{FF2B5EF4-FFF2-40B4-BE49-F238E27FC236}">
                  <a16:creationId xmlns:a16="http://schemas.microsoft.com/office/drawing/2014/main" id="{7D54C124-50DF-4319-A91C-17505A737D5A}"/>
                </a:ext>
              </a:extLst>
            </p:cNvPr>
            <p:cNvSpPr>
              <a:spLocks noChangeArrowheads="1"/>
            </p:cNvSpPr>
            <p:nvPr/>
          </p:nvSpPr>
          <p:spPr bwMode="auto">
            <a:xfrm>
              <a:off x="3516" y="2114"/>
              <a:ext cx="2126" cy="210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42027" name="Picture 11" descr="13a">
              <a:extLst>
                <a:ext uri="{FF2B5EF4-FFF2-40B4-BE49-F238E27FC236}">
                  <a16:creationId xmlns:a16="http://schemas.microsoft.com/office/drawing/2014/main" id="{6342C024-5373-4362-A200-481A3E9D23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9" y="2166"/>
              <a:ext cx="1999" cy="20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42029" name="Text Box 13">
            <a:extLst>
              <a:ext uri="{FF2B5EF4-FFF2-40B4-BE49-F238E27FC236}">
                <a16:creationId xmlns:a16="http://schemas.microsoft.com/office/drawing/2014/main" id="{135E8FD5-B12C-4883-B4C1-511C049DA0DC}"/>
              </a:ext>
            </a:extLst>
          </p:cNvPr>
          <p:cNvSpPr txBox="1">
            <a:spLocks noChangeArrowheads="1"/>
          </p:cNvSpPr>
          <p:nvPr/>
        </p:nvSpPr>
        <p:spPr bwMode="auto">
          <a:xfrm>
            <a:off x="119063" y="2519363"/>
            <a:ext cx="5299075"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fault zone comprises </a:t>
            </a:r>
            <a:r>
              <a:rPr lang="en-GB" altLang="en-US" sz="1700">
                <a:solidFill>
                  <a:srgbClr val="FF66FF"/>
                </a:solidFill>
                <a:effectLst>
                  <a:outerShdw blurRad="38100" dist="38100" dir="2700000" algn="tl">
                    <a:srgbClr val="000000"/>
                  </a:outerShdw>
                </a:effectLst>
                <a:latin typeface="Arial" panose="020B0604020202020204" pitchFamily="34" charset="0"/>
              </a:rPr>
              <a:t>multiple anastomosing strands</a:t>
            </a:r>
            <a:r>
              <a:rPr lang="en-GB" altLang="en-US" sz="1700">
                <a:effectLst>
                  <a:outerShdw blurRad="38100" dist="38100" dir="2700000" algn="tl">
                    <a:srgbClr val="000000"/>
                  </a:outerShdw>
                </a:effectLst>
                <a:latin typeface="Arial" panose="020B0604020202020204" pitchFamily="34" charset="0"/>
              </a:rPr>
              <a:t> of phyllosilicate-rich fault gouge (high strain) bounding lenses of variably fractured protolith (less strain)</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a:extLst>
              <a:ext uri="{FF2B5EF4-FFF2-40B4-BE49-F238E27FC236}">
                <a16:creationId xmlns:a16="http://schemas.microsoft.com/office/drawing/2014/main" id="{9A953694-A3B3-4290-B22B-7B0D96DC3932}"/>
              </a:ext>
            </a:extLst>
          </p:cNvPr>
          <p:cNvSpPr>
            <a:spLocks noGrp="1" noChangeArrowheads="1"/>
          </p:cNvSpPr>
          <p:nvPr>
            <p:ph type="title"/>
          </p:nvPr>
        </p:nvSpPr>
        <p:spPr>
          <a:noFill/>
        </p:spPr>
        <p:txBody>
          <a:bodyPr/>
          <a:lstStyle/>
          <a:p>
            <a:r>
              <a:rPr lang="en-GB" altLang="en-US">
                <a:effectLst/>
              </a:rPr>
              <a:t>Strain partitioning – Carboneras Fault Zone  3</a:t>
            </a:r>
          </a:p>
        </p:txBody>
      </p:sp>
      <p:sp>
        <p:nvSpPr>
          <p:cNvPr id="338947" name="Rectangle 3">
            <a:extLst>
              <a:ext uri="{FF2B5EF4-FFF2-40B4-BE49-F238E27FC236}">
                <a16:creationId xmlns:a16="http://schemas.microsoft.com/office/drawing/2014/main" id="{1C4C4FB6-E90E-4A3C-B7E0-4107D5AFDEA1}"/>
              </a:ext>
            </a:extLst>
          </p:cNvPr>
          <p:cNvSpPr>
            <a:spLocks noGrp="1" noChangeArrowheads="1"/>
          </p:cNvSpPr>
          <p:nvPr>
            <p:ph type="body" sz="half" idx="1"/>
          </p:nvPr>
        </p:nvSpPr>
        <p:spPr>
          <a:xfrm>
            <a:off x="133350" y="757238"/>
            <a:ext cx="3579813" cy="439737"/>
          </a:xfrm>
          <a:noFill/>
        </p:spPr>
        <p:txBody>
          <a:bodyPr/>
          <a:lstStyle/>
          <a:p>
            <a:pPr marL="177800" indent="-177800">
              <a:spcBef>
                <a:spcPct val="75000"/>
              </a:spcBef>
            </a:pPr>
            <a:r>
              <a:rPr lang="en-GB" altLang="en-US" sz="1700">
                <a:effectLst/>
              </a:rPr>
              <a:t>At still smaller scale</a:t>
            </a:r>
          </a:p>
        </p:txBody>
      </p:sp>
      <p:pic>
        <p:nvPicPr>
          <p:cNvPr id="338948" name="Picture 4" descr="13b">
            <a:extLst>
              <a:ext uri="{FF2B5EF4-FFF2-40B4-BE49-F238E27FC236}">
                <a16:creationId xmlns:a16="http://schemas.microsoft.com/office/drawing/2014/main" id="{B6B5B87B-F184-4303-A7ED-2376ACD66A05}"/>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767138" y="898525"/>
            <a:ext cx="5205412" cy="44561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38949" name="Picture 5">
            <a:extLst>
              <a:ext uri="{FF2B5EF4-FFF2-40B4-BE49-F238E27FC236}">
                <a16:creationId xmlns:a16="http://schemas.microsoft.com/office/drawing/2014/main" id="{0F8B98E7-12D7-4AB0-9805-406400325588}"/>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664325" y="4659313"/>
            <a:ext cx="2233613" cy="606425"/>
          </a:xfrm>
          <a:noFill/>
          <a:ln w="19050" cap="flat">
            <a:solidFill>
              <a:schemeClr val="bg2"/>
            </a:solidFill>
            <a:miter lim="800000"/>
            <a:headEnd/>
            <a:tailEnd/>
          </a:ln>
        </p:spPr>
      </p:pic>
      <p:sp>
        <p:nvSpPr>
          <p:cNvPr id="338950" name="Text Box 6">
            <a:extLst>
              <a:ext uri="{FF2B5EF4-FFF2-40B4-BE49-F238E27FC236}">
                <a16:creationId xmlns:a16="http://schemas.microsoft.com/office/drawing/2014/main" id="{8E7A2FA4-B893-4E60-9317-07BA7FC9B135}"/>
              </a:ext>
            </a:extLst>
          </p:cNvPr>
          <p:cNvSpPr txBox="1">
            <a:spLocks noChangeArrowheads="1"/>
          </p:cNvSpPr>
          <p:nvPr/>
        </p:nvSpPr>
        <p:spPr bwMode="auto">
          <a:xfrm>
            <a:off x="3966364" y="5427663"/>
            <a:ext cx="4794025" cy="133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A different part of the </a:t>
            </a:r>
            <a:r>
              <a:rPr lang="en-GB" altLang="en-US" sz="1400" dirty="0" err="1">
                <a:solidFill>
                  <a:srgbClr val="FFFF00"/>
                </a:solidFill>
                <a:effectLst>
                  <a:outerShdw blurRad="38100" dist="38100" dir="2700000" algn="tl">
                    <a:srgbClr val="000000"/>
                  </a:outerShdw>
                </a:effectLst>
                <a:latin typeface="Arial" panose="020B0604020202020204" pitchFamily="34" charset="0"/>
              </a:rPr>
              <a:t>Carboneras</a:t>
            </a:r>
            <a:r>
              <a:rPr lang="en-GB" altLang="en-US" sz="1400" dirty="0">
                <a:solidFill>
                  <a:srgbClr val="FFFF00"/>
                </a:solidFill>
                <a:effectLst>
                  <a:outerShdw blurRad="38100" dist="38100" dir="2700000" algn="tl">
                    <a:srgbClr val="000000"/>
                  </a:outerShdw>
                </a:effectLst>
                <a:latin typeface="Arial" panose="020B0604020202020204" pitchFamily="34" charset="0"/>
              </a:rPr>
              <a:t> Fault Zone: the 2</a:t>
            </a:r>
            <a:r>
              <a:rPr lang="en-GB" altLang="en-US" sz="1400" baseline="30000" dirty="0">
                <a:solidFill>
                  <a:srgbClr val="FFFF00"/>
                </a:solidFill>
                <a:effectLst>
                  <a:outerShdw blurRad="38100" dist="38100" dir="2700000" algn="tl">
                    <a:srgbClr val="000000"/>
                  </a:outerShdw>
                </a:effectLst>
                <a:latin typeface="Arial" panose="020B0604020202020204" pitchFamily="34" charset="0"/>
              </a:rPr>
              <a:t>nd</a:t>
            </a:r>
            <a:r>
              <a:rPr lang="en-GB" altLang="en-US" sz="1400" dirty="0">
                <a:solidFill>
                  <a:srgbClr val="FFFF00"/>
                </a:solidFill>
                <a:effectLst>
                  <a:outerShdw blurRad="38100" dist="38100" dir="2700000" algn="tl">
                    <a:srgbClr val="000000"/>
                  </a:outerShdw>
                </a:effectLst>
                <a:latin typeface="Arial" panose="020B0604020202020204" pitchFamily="34" charset="0"/>
              </a:rPr>
              <a:t>-order fractures are in the P-shear orientation, and the fold axial traces are oblique to the fault zone margins in a sense consistent with sinistral slip (small angle of obliquity </a:t>
            </a:r>
            <a:r>
              <a:rPr lang="en-GB" altLang="en-US" sz="1400"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 </a:t>
            </a:r>
            <a:r>
              <a:rPr lang="en-GB" altLang="en-US" sz="1400" dirty="0" err="1">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transpression</a:t>
            </a:r>
            <a:r>
              <a:rPr lang="en-GB" altLang="en-US" sz="1400"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 normal to or stretching parallel with the fault)</a:t>
            </a:r>
          </a:p>
        </p:txBody>
      </p:sp>
      <p:sp>
        <p:nvSpPr>
          <p:cNvPr id="338951" name="Rectangle 7">
            <a:extLst>
              <a:ext uri="{FF2B5EF4-FFF2-40B4-BE49-F238E27FC236}">
                <a16:creationId xmlns:a16="http://schemas.microsoft.com/office/drawing/2014/main" id="{A9DE51F4-E932-46D7-AB46-8EF08515EF23}"/>
              </a:ext>
            </a:extLst>
          </p:cNvPr>
          <p:cNvSpPr>
            <a:spLocks noChangeArrowheads="1"/>
          </p:cNvSpPr>
          <p:nvPr/>
        </p:nvSpPr>
        <p:spPr bwMode="auto">
          <a:xfrm>
            <a:off x="279400" y="1174750"/>
            <a:ext cx="3324225" cy="437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633413"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buFont typeface="Wingdings" panose="05000000000000000000" pitchFamily="2" charset="2"/>
              <a:buChar char="Ø"/>
            </a:pPr>
            <a:r>
              <a:rPr lang="en-GB" altLang="en-US" sz="1700">
                <a:effectLst/>
              </a:rPr>
              <a:t>The deformation within the strongly deformed </a:t>
            </a:r>
            <a:r>
              <a:rPr lang="en-GB" altLang="en-US" sz="1700">
                <a:solidFill>
                  <a:srgbClr val="FF6600"/>
                </a:solidFill>
                <a:effectLst/>
              </a:rPr>
              <a:t>fault gouge</a:t>
            </a:r>
            <a:r>
              <a:rPr lang="en-GB" altLang="en-US" sz="1700">
                <a:effectLst/>
              </a:rPr>
              <a:t> is distributed across each strand; P-foliations, R-, and Y-shears are well represented</a:t>
            </a:r>
          </a:p>
          <a:p>
            <a:pPr>
              <a:spcBef>
                <a:spcPct val="50000"/>
              </a:spcBef>
              <a:buFont typeface="Wingdings" panose="05000000000000000000" pitchFamily="2" charset="2"/>
              <a:buChar char="Ø"/>
            </a:pPr>
            <a:r>
              <a:rPr lang="en-GB" altLang="en-US" sz="1700">
                <a:effectLst/>
              </a:rPr>
              <a:t>The deformation within the less deformed </a:t>
            </a:r>
            <a:r>
              <a:rPr lang="en-GB" altLang="en-US" sz="1700">
                <a:solidFill>
                  <a:srgbClr val="FF6600"/>
                </a:solidFill>
                <a:effectLst/>
              </a:rPr>
              <a:t>protolith</a:t>
            </a:r>
            <a:r>
              <a:rPr lang="en-GB" altLang="en-US" sz="1700">
                <a:effectLst/>
              </a:rPr>
              <a:t> between the strands is </a:t>
            </a:r>
            <a:r>
              <a:rPr lang="en-GB" altLang="en-US" sz="1700">
                <a:solidFill>
                  <a:srgbClr val="FF66FF"/>
                </a:solidFill>
                <a:effectLst/>
              </a:rPr>
              <a:t>highly localized</a:t>
            </a:r>
            <a:r>
              <a:rPr lang="en-GB" altLang="en-US" sz="1700">
                <a:effectLst/>
              </a:rPr>
              <a:t> on to fractures oriented in the R- and R´-shear orientations</a:t>
            </a:r>
          </a:p>
        </p:txBody>
      </p:sp>
      <p:sp>
        <p:nvSpPr>
          <p:cNvPr id="338952" name="Rectangle 8">
            <a:extLst>
              <a:ext uri="{FF2B5EF4-FFF2-40B4-BE49-F238E27FC236}">
                <a16:creationId xmlns:a16="http://schemas.microsoft.com/office/drawing/2014/main" id="{18F35564-2B4E-49CC-A422-5829E7C39E0E}"/>
              </a:ext>
            </a:extLst>
          </p:cNvPr>
          <p:cNvSpPr>
            <a:spLocks noChangeArrowheads="1"/>
          </p:cNvSpPr>
          <p:nvPr/>
        </p:nvSpPr>
        <p:spPr bwMode="auto">
          <a:xfrm>
            <a:off x="133350" y="4897535"/>
            <a:ext cx="3470275" cy="1740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dirty="0">
                <a:effectLst/>
              </a:rPr>
              <a:t>The contrasts in deformation style within the fault zone are highly significant for the </a:t>
            </a:r>
            <a:r>
              <a:rPr lang="en-GB" altLang="en-US" sz="1700" dirty="0">
                <a:solidFill>
                  <a:srgbClr val="FF66FF"/>
                </a:solidFill>
                <a:effectLst/>
              </a:rPr>
              <a:t>mechanical and permeability evolution </a:t>
            </a:r>
            <a:r>
              <a:rPr lang="en-GB" altLang="en-US" sz="1700" dirty="0">
                <a:effectLst/>
              </a:rPr>
              <a:t>of the fault</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CE7B195D-0D74-44AB-A399-41F977E2F12A}"/>
              </a:ext>
            </a:extLst>
          </p:cNvPr>
          <p:cNvSpPr>
            <a:spLocks noGrp="1" noChangeArrowheads="1"/>
          </p:cNvSpPr>
          <p:nvPr>
            <p:ph type="ctrTitle" idx="4294967295"/>
          </p:nvPr>
        </p:nvSpPr>
        <p:spPr bwMode="black">
          <a:xfrm>
            <a:off x="239713" y="2347913"/>
            <a:ext cx="8705850" cy="1316037"/>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r>
              <a:rPr lang="en-US" altLang="en-US" sz="3200">
                <a:solidFill>
                  <a:srgbClr val="FF6600"/>
                </a:solidFill>
              </a:rPr>
              <a:t>Section balancing in strike-slip terrains</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9FA9BCD0-7A85-4E5F-925D-E3082D2A7BC6}"/>
              </a:ext>
            </a:extLst>
          </p:cNvPr>
          <p:cNvSpPr>
            <a:spLocks noGrp="1" noChangeArrowheads="1"/>
          </p:cNvSpPr>
          <p:nvPr>
            <p:ph type="title"/>
          </p:nvPr>
        </p:nvSpPr>
        <p:spPr>
          <a:noFill/>
        </p:spPr>
        <p:txBody>
          <a:bodyPr/>
          <a:lstStyle/>
          <a:p>
            <a:r>
              <a:rPr lang="en-GB" altLang="en-US">
                <a:effectLst/>
              </a:rPr>
              <a:t>Section balancing</a:t>
            </a:r>
          </a:p>
        </p:txBody>
      </p:sp>
      <p:sp>
        <p:nvSpPr>
          <p:cNvPr id="292867" name="Rectangle 3">
            <a:extLst>
              <a:ext uri="{FF2B5EF4-FFF2-40B4-BE49-F238E27FC236}">
                <a16:creationId xmlns:a16="http://schemas.microsoft.com/office/drawing/2014/main" id="{2F0BFF43-080B-43D8-A945-0FB42142EB20}"/>
              </a:ext>
            </a:extLst>
          </p:cNvPr>
          <p:cNvSpPr>
            <a:spLocks noGrp="1" noChangeArrowheads="1"/>
          </p:cNvSpPr>
          <p:nvPr>
            <p:ph type="body" sz="half" idx="1"/>
          </p:nvPr>
        </p:nvSpPr>
        <p:spPr>
          <a:xfrm>
            <a:off x="114300" y="777875"/>
            <a:ext cx="3627438" cy="5522913"/>
          </a:xfrm>
          <a:noFill/>
        </p:spPr>
        <p:txBody>
          <a:bodyPr/>
          <a:lstStyle/>
          <a:p>
            <a:pPr marL="177800" indent="-177800">
              <a:spcBef>
                <a:spcPct val="50000"/>
              </a:spcBef>
            </a:pPr>
            <a:r>
              <a:rPr lang="en-GB" altLang="en-US" sz="1700" dirty="0">
                <a:effectLst/>
              </a:rPr>
              <a:t>The </a:t>
            </a:r>
            <a:r>
              <a:rPr lang="en-GB" altLang="en-US" sz="1700" dirty="0">
                <a:solidFill>
                  <a:srgbClr val="FF6600"/>
                </a:solidFill>
                <a:effectLst/>
              </a:rPr>
              <a:t>section balancing</a:t>
            </a:r>
            <a:r>
              <a:rPr lang="en-GB" altLang="en-US" sz="1700" dirty="0">
                <a:effectLst/>
              </a:rPr>
              <a:t> techniques that we have been considering in contractional and extensional tectonic regimes are inappropriate for cross sections drawn </a:t>
            </a:r>
            <a:r>
              <a:rPr lang="en-GB" altLang="en-US" sz="1700" dirty="0">
                <a:solidFill>
                  <a:srgbClr val="FF66FF"/>
                </a:solidFill>
                <a:effectLst/>
              </a:rPr>
              <a:t>across </a:t>
            </a:r>
            <a:r>
              <a:rPr lang="en-GB" altLang="en-US" sz="1700" dirty="0">
                <a:effectLst/>
              </a:rPr>
              <a:t>strike-slip faults because the techniques only apply for </a:t>
            </a:r>
            <a:r>
              <a:rPr lang="en-GB" altLang="en-US" sz="1700" dirty="0">
                <a:solidFill>
                  <a:srgbClr val="FF66FF"/>
                </a:solidFill>
                <a:effectLst/>
              </a:rPr>
              <a:t>sections drawn parallel to the XZ plane</a:t>
            </a:r>
            <a:r>
              <a:rPr lang="en-GB" altLang="en-US" sz="1700" dirty="0">
                <a:effectLst/>
              </a:rPr>
              <a:t> which in this case is the map view</a:t>
            </a:r>
          </a:p>
          <a:p>
            <a:pPr marL="177800" indent="-177800">
              <a:spcBef>
                <a:spcPts val="1200"/>
              </a:spcBef>
            </a:pPr>
            <a:r>
              <a:rPr lang="en-GB" altLang="en-US" sz="1700" dirty="0">
                <a:effectLst/>
              </a:rPr>
              <a:t>However, the horizontal component of the slip vector can be determined by balancing in the </a:t>
            </a:r>
            <a:r>
              <a:rPr lang="en-GB" altLang="en-US" sz="1700" dirty="0">
                <a:solidFill>
                  <a:srgbClr val="FF66FF"/>
                </a:solidFill>
                <a:effectLst/>
              </a:rPr>
              <a:t>plane of the map</a:t>
            </a:r>
            <a:r>
              <a:rPr lang="en-GB" altLang="en-US" sz="1700" dirty="0">
                <a:effectLst/>
              </a:rPr>
              <a:t>, and this can help to establish the extent of dip-slip vs. strike-slip movement on individual faults (and regionally)</a:t>
            </a:r>
          </a:p>
        </p:txBody>
      </p:sp>
      <p:grpSp>
        <p:nvGrpSpPr>
          <p:cNvPr id="292877" name="Group 13">
            <a:extLst>
              <a:ext uri="{FF2B5EF4-FFF2-40B4-BE49-F238E27FC236}">
                <a16:creationId xmlns:a16="http://schemas.microsoft.com/office/drawing/2014/main" id="{32B40B5E-D507-42FB-A539-3902F2F8CFB8}"/>
              </a:ext>
            </a:extLst>
          </p:cNvPr>
          <p:cNvGrpSpPr>
            <a:grpSpLocks/>
          </p:cNvGrpSpPr>
          <p:nvPr/>
        </p:nvGrpSpPr>
        <p:grpSpPr bwMode="auto">
          <a:xfrm>
            <a:off x="3827093" y="868579"/>
            <a:ext cx="5114925" cy="5487619"/>
            <a:chOff x="2381" y="636"/>
            <a:chExt cx="3076" cy="3289"/>
          </a:xfrm>
        </p:grpSpPr>
        <p:sp>
          <p:nvSpPr>
            <p:cNvPr id="292875" name="Rectangle 11">
              <a:extLst>
                <a:ext uri="{FF2B5EF4-FFF2-40B4-BE49-F238E27FC236}">
                  <a16:creationId xmlns:a16="http://schemas.microsoft.com/office/drawing/2014/main" id="{09F3FD6E-2D82-43A6-A957-DA217847BBC6}"/>
                </a:ext>
              </a:extLst>
            </p:cNvPr>
            <p:cNvSpPr>
              <a:spLocks noChangeArrowheads="1"/>
            </p:cNvSpPr>
            <p:nvPr/>
          </p:nvSpPr>
          <p:spPr bwMode="auto">
            <a:xfrm>
              <a:off x="2381" y="636"/>
              <a:ext cx="3076" cy="3289"/>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92873" name="Picture 2" descr="GR13.jpg">
              <a:extLst>
                <a:ext uri="{FF2B5EF4-FFF2-40B4-BE49-F238E27FC236}">
                  <a16:creationId xmlns:a16="http://schemas.microsoft.com/office/drawing/2014/main" id="{31F78C5B-FBF2-42EF-AD4E-2B24E8B4BD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21540000">
              <a:off x="2435" y="688"/>
              <a:ext cx="2952" cy="3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2876" name="Rectangle 12">
              <a:extLst>
                <a:ext uri="{FF2B5EF4-FFF2-40B4-BE49-F238E27FC236}">
                  <a16:creationId xmlns:a16="http://schemas.microsoft.com/office/drawing/2014/main" id="{348CCA03-700A-40D1-AF59-4D5047BD1E79}"/>
                </a:ext>
              </a:extLst>
            </p:cNvPr>
            <p:cNvSpPr>
              <a:spLocks noChangeArrowheads="1"/>
            </p:cNvSpPr>
            <p:nvPr/>
          </p:nvSpPr>
          <p:spPr bwMode="auto">
            <a:xfrm>
              <a:off x="5297" y="659"/>
              <a:ext cx="101" cy="152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92878" name="Text Box 14">
            <a:extLst>
              <a:ext uri="{FF2B5EF4-FFF2-40B4-BE49-F238E27FC236}">
                <a16:creationId xmlns:a16="http://schemas.microsoft.com/office/drawing/2014/main" id="{A587A5DF-E267-4BCD-AEF1-88074FA12F65}"/>
              </a:ext>
            </a:extLst>
          </p:cNvPr>
          <p:cNvSpPr txBox="1">
            <a:spLocks noChangeArrowheads="1"/>
          </p:cNvSpPr>
          <p:nvPr/>
        </p:nvSpPr>
        <p:spPr bwMode="auto">
          <a:xfrm>
            <a:off x="725488" y="6409107"/>
            <a:ext cx="8275637"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An example of map restoration in an extensional terrain (</a:t>
            </a:r>
            <a:r>
              <a:rPr lang="en-GB" altLang="en-US" sz="1400" dirty="0" err="1">
                <a:solidFill>
                  <a:srgbClr val="FFFF00"/>
                </a:solidFill>
                <a:effectLst>
                  <a:outerShdw blurRad="38100" dist="38100" dir="2700000" algn="tl">
                    <a:srgbClr val="000000"/>
                  </a:outerShdw>
                </a:effectLst>
                <a:latin typeface="Arial" panose="020B0604020202020204" pitchFamily="34" charset="0"/>
              </a:rPr>
              <a:t>Statfjord</a:t>
            </a:r>
            <a:r>
              <a:rPr lang="en-GB" altLang="en-US" sz="1400" dirty="0">
                <a:solidFill>
                  <a:srgbClr val="FFFF00"/>
                </a:solidFill>
                <a:effectLst>
                  <a:outerShdw blurRad="38100" dist="38100" dir="2700000" algn="tl">
                    <a:srgbClr val="000000"/>
                  </a:outerShdw>
                </a:effectLst>
                <a:latin typeface="Arial" panose="020B0604020202020204" pitchFamily="34" charset="0"/>
              </a:rPr>
              <a:t> Formation, Gullfaks Field, North Sea)</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FF00022E-82D0-4EC3-AC30-F100FD010907}"/>
              </a:ext>
            </a:extLst>
          </p:cNvPr>
          <p:cNvSpPr>
            <a:spLocks noGrp="1" noChangeArrowheads="1"/>
          </p:cNvSpPr>
          <p:nvPr>
            <p:ph type="title"/>
          </p:nvPr>
        </p:nvSpPr>
        <p:spPr>
          <a:noFill/>
        </p:spPr>
        <p:txBody>
          <a:bodyPr/>
          <a:lstStyle/>
          <a:p>
            <a:r>
              <a:rPr lang="en-GB" altLang="en-US">
                <a:effectLst/>
              </a:rPr>
              <a:t>Reading</a:t>
            </a:r>
          </a:p>
        </p:txBody>
      </p:sp>
      <p:sp>
        <p:nvSpPr>
          <p:cNvPr id="212995" name="Rectangle 3">
            <a:extLst>
              <a:ext uri="{FF2B5EF4-FFF2-40B4-BE49-F238E27FC236}">
                <a16:creationId xmlns:a16="http://schemas.microsoft.com/office/drawing/2014/main" id="{14007C1F-FC4B-4DE8-B162-A41DEC637EF6}"/>
              </a:ext>
            </a:extLst>
          </p:cNvPr>
          <p:cNvSpPr>
            <a:spLocks noGrp="1" noChangeArrowheads="1"/>
          </p:cNvSpPr>
          <p:nvPr>
            <p:ph type="body" sz="half" idx="1"/>
          </p:nvPr>
        </p:nvSpPr>
        <p:spPr>
          <a:xfrm>
            <a:off x="139700" y="811213"/>
            <a:ext cx="8721725" cy="5791200"/>
          </a:xfrm>
          <a:noFill/>
        </p:spPr>
        <p:txBody>
          <a:bodyPr/>
          <a:lstStyle/>
          <a:p>
            <a:pPr marL="177800" indent="-177800"/>
            <a:r>
              <a:rPr lang="en-GB" altLang="en-US" sz="1400" dirty="0">
                <a:effectLst/>
              </a:rPr>
              <a:t>Fossen H (2016) </a:t>
            </a:r>
            <a:r>
              <a:rPr lang="en-GB" altLang="en-US" sz="1400" i="1" dirty="0">
                <a:effectLst/>
              </a:rPr>
              <a:t>Structural Geology </a:t>
            </a:r>
            <a:r>
              <a:rPr lang="en-GB" altLang="en-US" sz="1400" dirty="0">
                <a:effectLst/>
              </a:rPr>
              <a:t>(2</a:t>
            </a:r>
            <a:r>
              <a:rPr lang="en-GB" altLang="en-US" sz="1400" baseline="30000" dirty="0">
                <a:effectLst/>
              </a:rPr>
              <a:t>nd</a:t>
            </a:r>
            <a:r>
              <a:rPr lang="en-GB" altLang="en-US" sz="1400" dirty="0">
                <a:effectLst/>
              </a:rPr>
              <a:t> edition).</a:t>
            </a:r>
            <a:r>
              <a:rPr lang="en-GB" altLang="en-US" sz="1400" i="1" dirty="0">
                <a:effectLst/>
              </a:rPr>
              <a:t> </a:t>
            </a:r>
            <a:r>
              <a:rPr lang="en-GB" altLang="en-US" sz="1400" dirty="0">
                <a:effectLst/>
              </a:rPr>
              <a:t>Cambridge University Press. </a:t>
            </a:r>
            <a:r>
              <a:rPr lang="en-GB" altLang="en-US" sz="1400" dirty="0">
                <a:solidFill>
                  <a:srgbClr val="FF66CC"/>
                </a:solidFill>
                <a:effectLst/>
              </a:rPr>
              <a:t>[Chapter 19]</a:t>
            </a:r>
          </a:p>
          <a:p>
            <a:pPr marL="177800" indent="-177800"/>
            <a:r>
              <a:rPr lang="en-GB" altLang="en-US" sz="1400" dirty="0">
                <a:effectLst/>
              </a:rPr>
              <a:t>Twiss RJ, </a:t>
            </a:r>
            <a:r>
              <a:rPr lang="en-GB" altLang="en-US" sz="1400" dirty="0" err="1">
                <a:effectLst/>
              </a:rPr>
              <a:t>Moores</a:t>
            </a:r>
            <a:r>
              <a:rPr lang="en-GB" altLang="en-US" sz="1400" dirty="0">
                <a:effectLst/>
              </a:rPr>
              <a:t> EM (2007) </a:t>
            </a:r>
            <a:r>
              <a:rPr lang="en-GB" altLang="en-US" sz="1400" i="1" dirty="0">
                <a:effectLst/>
              </a:rPr>
              <a:t>Structural Geology</a:t>
            </a:r>
            <a:r>
              <a:rPr lang="en-GB" altLang="en-US" sz="1400" dirty="0">
                <a:effectLst/>
              </a:rPr>
              <a:t> (2</a:t>
            </a:r>
            <a:r>
              <a:rPr lang="en-GB" altLang="en-US" sz="1400" baseline="30000" dirty="0">
                <a:effectLst/>
              </a:rPr>
              <a:t>nd</a:t>
            </a:r>
            <a:r>
              <a:rPr lang="en-GB" altLang="en-US" sz="1400" dirty="0">
                <a:effectLst/>
              </a:rPr>
              <a:t> edition). WH Freeman and Co. </a:t>
            </a:r>
            <a:r>
              <a:rPr lang="en-GB" altLang="en-US" sz="1400" dirty="0">
                <a:solidFill>
                  <a:srgbClr val="FF66CC"/>
                </a:solidFill>
                <a:effectLst/>
              </a:rPr>
              <a:t>[Chapter 6 and parts of Chapter 19] </a:t>
            </a:r>
          </a:p>
          <a:p>
            <a:pPr marL="177800" indent="-177800"/>
            <a:r>
              <a:rPr lang="en-GB" altLang="en-US" sz="1400" dirty="0">
                <a:effectLst/>
              </a:rPr>
              <a:t>Price NJ, Cosgrove JW (1990) </a:t>
            </a:r>
            <a:r>
              <a:rPr lang="en-GB" altLang="en-US" sz="1400" i="1" dirty="0">
                <a:effectLst/>
              </a:rPr>
              <a:t>Analysis of Geological Structures.</a:t>
            </a:r>
            <a:r>
              <a:rPr lang="en-GB" altLang="en-US" sz="1400" dirty="0">
                <a:effectLst/>
              </a:rPr>
              <a:t> Cambridge University Press. </a:t>
            </a:r>
            <a:r>
              <a:rPr lang="en-GB" altLang="en-US" sz="1400" dirty="0">
                <a:solidFill>
                  <a:srgbClr val="FF66CC"/>
                </a:solidFill>
                <a:effectLst/>
              </a:rPr>
              <a:t>[Chapter 6]</a:t>
            </a:r>
          </a:p>
          <a:p>
            <a:pPr marL="177800" indent="-177800"/>
            <a:r>
              <a:rPr lang="en-GB" altLang="en-US" sz="1400" dirty="0">
                <a:effectLst/>
              </a:rPr>
              <a:t>Sylvester AG (1988) Strike-slip faults. </a:t>
            </a:r>
            <a:r>
              <a:rPr lang="en-GB" altLang="en-US" sz="1400" i="1" dirty="0">
                <a:effectLst/>
              </a:rPr>
              <a:t>Geological Society of America Bulletin</a:t>
            </a:r>
            <a:r>
              <a:rPr lang="en-GB" altLang="en-US" sz="1400" dirty="0">
                <a:effectLst/>
              </a:rPr>
              <a:t> 100: 1666-1703, </a:t>
            </a:r>
            <a:r>
              <a:rPr lang="en-GB" sz="1400" dirty="0"/>
              <a:t>https://doi.org/10.1130/0016-7606(1988)100&lt;1666:SSF&gt;2.3.CO;2</a:t>
            </a:r>
            <a:r>
              <a:rPr lang="en-GB" altLang="en-US" sz="1400" dirty="0">
                <a:effectLst/>
              </a:rPr>
              <a:t>. </a:t>
            </a:r>
            <a:r>
              <a:rPr lang="en-GB" altLang="en-US" sz="1400" dirty="0">
                <a:solidFill>
                  <a:srgbClr val="FF66FF"/>
                </a:solidFill>
                <a:effectLst/>
              </a:rPr>
              <a:t>[Very accessible review]</a:t>
            </a:r>
          </a:p>
          <a:p>
            <a:pPr marL="177800" indent="-177800"/>
            <a:endParaRPr lang="en-GB" altLang="en-US" sz="1400" dirty="0">
              <a:effectLst/>
            </a:endParaRPr>
          </a:p>
        </p:txBody>
      </p:sp>
    </p:spTree>
  </p:cSld>
  <p:clrMapOvr>
    <a:masterClrMapping/>
  </p:clrMapOvr>
  <p:transition spd="slow"/>
</p:sld>
</file>

<file path=ppt/theme/theme1.xml><?xml version="1.0" encoding="utf-8"?>
<a:theme xmlns:a="http://schemas.openxmlformats.org/drawingml/2006/main" name="Basin Studies 200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PowerBook HD:Users:robgawth:Documents:Eudora Folder:Attachments Folder:Basin Studies 2002.pot</Template>
  <TotalTime>10488</TotalTime>
  <Words>10236</Words>
  <Application>Microsoft Office PowerPoint</Application>
  <PresentationFormat>On-screen Show (4:3)</PresentationFormat>
  <Paragraphs>314</Paragraphs>
  <Slides>46</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Cambria Math</vt:lpstr>
      <vt:lpstr>Helvetica</vt:lpstr>
      <vt:lpstr>Symbol</vt:lpstr>
      <vt:lpstr>Times</vt:lpstr>
      <vt:lpstr>Times New Roman</vt:lpstr>
      <vt:lpstr>Wingdings</vt:lpstr>
      <vt:lpstr>Basin Studies 2002</vt:lpstr>
      <vt:lpstr>EART 28202 :  Structural Geology    Class 10 :  Strike-slip Tectonic Regimes</vt:lpstr>
      <vt:lpstr>Strike-slip tectonic regimes</vt:lpstr>
      <vt:lpstr>Classification of strike-slip faults</vt:lpstr>
      <vt:lpstr>Tear faults that are transfer faults</vt:lpstr>
      <vt:lpstr>Tear faults that are transfer faults  2</vt:lpstr>
      <vt:lpstr>Tear faults that are transfer faults  3</vt:lpstr>
      <vt:lpstr>Oceanic transform faults</vt:lpstr>
      <vt:lpstr>Oceanic transform faults  2</vt:lpstr>
      <vt:lpstr>Continental transform faults</vt:lpstr>
      <vt:lpstr>Continental transform faults  2</vt:lpstr>
      <vt:lpstr>Continental transform faults  3</vt:lpstr>
      <vt:lpstr>Transcurrent faults</vt:lpstr>
      <vt:lpstr>Transcurrent faults  2</vt:lpstr>
      <vt:lpstr>Transcurrent faults  3</vt:lpstr>
      <vt:lpstr>Strike-slip faults on other planetary bodies</vt:lpstr>
      <vt:lpstr>Strike-slip faults on other planetary bodies  2</vt:lpstr>
      <vt:lpstr>Stretching faults</vt:lpstr>
      <vt:lpstr>  Structures associated with strike-slip faults</vt:lpstr>
      <vt:lpstr>Simple shear/transpression/transtension</vt:lpstr>
      <vt:lpstr>Analogue modelling</vt:lpstr>
      <vt:lpstr>Associated fractures</vt:lpstr>
      <vt:lpstr>Associated fractures  2</vt:lpstr>
      <vt:lpstr>Associated folding</vt:lpstr>
      <vt:lpstr>Associated folding  2</vt:lpstr>
      <vt:lpstr>Fault bends and stepovers</vt:lpstr>
      <vt:lpstr>Releasing bends/stepovers</vt:lpstr>
      <vt:lpstr>Releasing bends/stepovers  2</vt:lpstr>
      <vt:lpstr>Releasing bends/stepovers  3</vt:lpstr>
      <vt:lpstr>Releasing bends/stepovers  4</vt:lpstr>
      <vt:lpstr>Restraining bends/stepovers</vt:lpstr>
      <vt:lpstr>Restraining bends/stepovers  2</vt:lpstr>
      <vt:lpstr>Restraining bends/stepovers  3</vt:lpstr>
      <vt:lpstr>Restraining bends/stepovers  4</vt:lpstr>
      <vt:lpstr>Transcurrent fault terminations</vt:lpstr>
      <vt:lpstr>Transcurrent fault terminations  2</vt:lpstr>
      <vt:lpstr>  Strain in strike-slip fault zones</vt:lpstr>
      <vt:lpstr>Pure strike-slip and the strain ellipsoid</vt:lpstr>
      <vt:lpstr>Transtension, transpression and the strain ellipsoid</vt:lpstr>
      <vt:lpstr>Transtension, transpression and the strain ellipsoid  2</vt:lpstr>
      <vt:lpstr>Strain partitioning within the fault zone</vt:lpstr>
      <vt:lpstr>Strain partitioning – Carboneras Fault Zone</vt:lpstr>
      <vt:lpstr>Strain partitioning – Carboneras Fault Zone  2</vt:lpstr>
      <vt:lpstr>Strain partitioning – Carboneras Fault Zone  3</vt:lpstr>
      <vt:lpstr> Section balancing in strike-slip terrains</vt:lpstr>
      <vt:lpstr>Section balancing</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421</cp:revision>
  <cp:lastPrinted>2002-03-22T07:32:28Z</cp:lastPrinted>
  <dcterms:created xsi:type="dcterms:W3CDTF">2002-10-21T14:42:49Z</dcterms:created>
  <dcterms:modified xsi:type="dcterms:W3CDTF">2026-04-30T10:38:29Z</dcterms:modified>
</cp:coreProperties>
</file>