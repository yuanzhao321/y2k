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51" r:id="rId1"/>
  </p:sldMasterIdLst>
  <p:notesMasterIdLst>
    <p:notesMasterId r:id="rId44"/>
  </p:notesMasterIdLst>
  <p:handoutMasterIdLst>
    <p:handoutMasterId r:id="rId45"/>
  </p:handoutMasterIdLst>
  <p:sldIdLst>
    <p:sldId id="316" r:id="rId2"/>
    <p:sldId id="340" r:id="rId3"/>
    <p:sldId id="344" r:id="rId4"/>
    <p:sldId id="353" r:id="rId5"/>
    <p:sldId id="355" r:id="rId6"/>
    <p:sldId id="356" r:id="rId7"/>
    <p:sldId id="385" r:id="rId8"/>
    <p:sldId id="354" r:id="rId9"/>
    <p:sldId id="357" r:id="rId10"/>
    <p:sldId id="348" r:id="rId11"/>
    <p:sldId id="359" r:id="rId12"/>
    <p:sldId id="360" r:id="rId13"/>
    <p:sldId id="358" r:id="rId14"/>
    <p:sldId id="382" r:id="rId15"/>
    <p:sldId id="362" r:id="rId16"/>
    <p:sldId id="363" r:id="rId17"/>
    <p:sldId id="364" r:id="rId18"/>
    <p:sldId id="365" r:id="rId19"/>
    <p:sldId id="347" r:id="rId20"/>
    <p:sldId id="380" r:id="rId21"/>
    <p:sldId id="366" r:id="rId22"/>
    <p:sldId id="376" r:id="rId23"/>
    <p:sldId id="341" r:id="rId24"/>
    <p:sldId id="342" r:id="rId25"/>
    <p:sldId id="368" r:id="rId26"/>
    <p:sldId id="343" r:id="rId27"/>
    <p:sldId id="369" r:id="rId28"/>
    <p:sldId id="345" r:id="rId29"/>
    <p:sldId id="370" r:id="rId30"/>
    <p:sldId id="346" r:id="rId31"/>
    <p:sldId id="371" r:id="rId32"/>
    <p:sldId id="349" r:id="rId33"/>
    <p:sldId id="350" r:id="rId34"/>
    <p:sldId id="351" r:id="rId35"/>
    <p:sldId id="352" r:id="rId36"/>
    <p:sldId id="377" r:id="rId37"/>
    <p:sldId id="372" r:id="rId38"/>
    <p:sldId id="373" r:id="rId39"/>
    <p:sldId id="374" r:id="rId40"/>
    <p:sldId id="378" r:id="rId41"/>
    <p:sldId id="384" r:id="rId42"/>
    <p:sldId id="375" r:id="rId43"/>
  </p:sldIdLst>
  <p:sldSz cx="9144000" cy="6858000" type="screen4x3"/>
  <p:notesSz cx="6732588" cy="9855200"/>
  <p:defaultTextStyle>
    <a:defPPr>
      <a:defRPr lang="en-GB"/>
    </a:defPPr>
    <a:lvl1pPr algn="l" rtl="0" eaLnBrk="0" fontAlgn="base" hangingPunct="0">
      <a:spcBef>
        <a:spcPct val="20000"/>
      </a:spcBef>
      <a:spcAft>
        <a:spcPct val="0"/>
      </a:spcAft>
      <a:buClr>
        <a:schemeClr val="accent2"/>
      </a:buClr>
      <a:defRPr sz="1600" kern="1200">
        <a:solidFill>
          <a:schemeClr val="tx1"/>
        </a:solidFill>
        <a:effectLst>
          <a:outerShdw blurRad="38100" dist="38100" dir="2700000" algn="tl">
            <a:srgbClr val="000000">
              <a:alpha val="43137"/>
            </a:srgbClr>
          </a:outerShdw>
        </a:effectLst>
        <a:latin typeface="Helvetica" charset="0"/>
        <a:ea typeface="+mn-ea"/>
        <a:cs typeface="+mn-cs"/>
      </a:defRPr>
    </a:lvl1pPr>
    <a:lvl2pPr marL="457200" algn="l" rtl="0" eaLnBrk="0" fontAlgn="base" hangingPunct="0">
      <a:spcBef>
        <a:spcPct val="20000"/>
      </a:spcBef>
      <a:spcAft>
        <a:spcPct val="0"/>
      </a:spcAft>
      <a:buClr>
        <a:schemeClr val="accent2"/>
      </a:buClr>
      <a:defRPr sz="1600" kern="1200">
        <a:solidFill>
          <a:schemeClr val="tx1"/>
        </a:solidFill>
        <a:effectLst>
          <a:outerShdw blurRad="38100" dist="38100" dir="2700000" algn="tl">
            <a:srgbClr val="000000">
              <a:alpha val="43137"/>
            </a:srgbClr>
          </a:outerShdw>
        </a:effectLst>
        <a:latin typeface="Helvetica" charset="0"/>
        <a:ea typeface="+mn-ea"/>
        <a:cs typeface="+mn-cs"/>
      </a:defRPr>
    </a:lvl2pPr>
    <a:lvl3pPr marL="914400" algn="l" rtl="0" eaLnBrk="0" fontAlgn="base" hangingPunct="0">
      <a:spcBef>
        <a:spcPct val="20000"/>
      </a:spcBef>
      <a:spcAft>
        <a:spcPct val="0"/>
      </a:spcAft>
      <a:buClr>
        <a:schemeClr val="accent2"/>
      </a:buClr>
      <a:defRPr sz="1600" kern="1200">
        <a:solidFill>
          <a:schemeClr val="tx1"/>
        </a:solidFill>
        <a:effectLst>
          <a:outerShdw blurRad="38100" dist="38100" dir="2700000" algn="tl">
            <a:srgbClr val="000000">
              <a:alpha val="43137"/>
            </a:srgbClr>
          </a:outerShdw>
        </a:effectLst>
        <a:latin typeface="Helvetica" charset="0"/>
        <a:ea typeface="+mn-ea"/>
        <a:cs typeface="+mn-cs"/>
      </a:defRPr>
    </a:lvl3pPr>
    <a:lvl4pPr marL="1371600" algn="l" rtl="0" eaLnBrk="0" fontAlgn="base" hangingPunct="0">
      <a:spcBef>
        <a:spcPct val="20000"/>
      </a:spcBef>
      <a:spcAft>
        <a:spcPct val="0"/>
      </a:spcAft>
      <a:buClr>
        <a:schemeClr val="accent2"/>
      </a:buClr>
      <a:defRPr sz="1600" kern="1200">
        <a:solidFill>
          <a:schemeClr val="tx1"/>
        </a:solidFill>
        <a:effectLst>
          <a:outerShdw blurRad="38100" dist="38100" dir="2700000" algn="tl">
            <a:srgbClr val="000000">
              <a:alpha val="43137"/>
            </a:srgbClr>
          </a:outerShdw>
        </a:effectLst>
        <a:latin typeface="Helvetica" charset="0"/>
        <a:ea typeface="+mn-ea"/>
        <a:cs typeface="+mn-cs"/>
      </a:defRPr>
    </a:lvl4pPr>
    <a:lvl5pPr marL="1828800" algn="l" rtl="0" eaLnBrk="0" fontAlgn="base" hangingPunct="0">
      <a:spcBef>
        <a:spcPct val="20000"/>
      </a:spcBef>
      <a:spcAft>
        <a:spcPct val="0"/>
      </a:spcAft>
      <a:buClr>
        <a:schemeClr val="accent2"/>
      </a:buClr>
      <a:defRPr sz="1600" kern="1200">
        <a:solidFill>
          <a:schemeClr val="tx1"/>
        </a:solidFill>
        <a:effectLst>
          <a:outerShdw blurRad="38100" dist="38100" dir="2700000" algn="tl">
            <a:srgbClr val="000000">
              <a:alpha val="43137"/>
            </a:srgbClr>
          </a:outerShdw>
        </a:effectLst>
        <a:latin typeface="Helvetica" charset="0"/>
        <a:ea typeface="+mn-ea"/>
        <a:cs typeface="+mn-cs"/>
      </a:defRPr>
    </a:lvl5pPr>
    <a:lvl6pPr marL="2286000" algn="l" defTabSz="914400" rtl="0" eaLnBrk="1" latinLnBrk="0" hangingPunct="1">
      <a:defRPr sz="1600" kern="1200">
        <a:solidFill>
          <a:schemeClr val="tx1"/>
        </a:solidFill>
        <a:effectLst>
          <a:outerShdw blurRad="38100" dist="38100" dir="2700000" algn="tl">
            <a:srgbClr val="000000">
              <a:alpha val="43137"/>
            </a:srgbClr>
          </a:outerShdw>
        </a:effectLst>
        <a:latin typeface="Helvetica" charset="0"/>
        <a:ea typeface="+mn-ea"/>
        <a:cs typeface="+mn-cs"/>
      </a:defRPr>
    </a:lvl6pPr>
    <a:lvl7pPr marL="2743200" algn="l" defTabSz="914400" rtl="0" eaLnBrk="1" latinLnBrk="0" hangingPunct="1">
      <a:defRPr sz="1600" kern="1200">
        <a:solidFill>
          <a:schemeClr val="tx1"/>
        </a:solidFill>
        <a:effectLst>
          <a:outerShdw blurRad="38100" dist="38100" dir="2700000" algn="tl">
            <a:srgbClr val="000000">
              <a:alpha val="43137"/>
            </a:srgbClr>
          </a:outerShdw>
        </a:effectLst>
        <a:latin typeface="Helvetica" charset="0"/>
        <a:ea typeface="+mn-ea"/>
        <a:cs typeface="+mn-cs"/>
      </a:defRPr>
    </a:lvl7pPr>
    <a:lvl8pPr marL="3200400" algn="l" defTabSz="914400" rtl="0" eaLnBrk="1" latinLnBrk="0" hangingPunct="1">
      <a:defRPr sz="1600" kern="1200">
        <a:solidFill>
          <a:schemeClr val="tx1"/>
        </a:solidFill>
        <a:effectLst>
          <a:outerShdw blurRad="38100" dist="38100" dir="2700000" algn="tl">
            <a:srgbClr val="000000">
              <a:alpha val="43137"/>
            </a:srgbClr>
          </a:outerShdw>
        </a:effectLst>
        <a:latin typeface="Helvetica" charset="0"/>
        <a:ea typeface="+mn-ea"/>
        <a:cs typeface="+mn-cs"/>
      </a:defRPr>
    </a:lvl8pPr>
    <a:lvl9pPr marL="3657600" algn="l" defTabSz="914400" rtl="0" eaLnBrk="1" latinLnBrk="0" hangingPunct="1">
      <a:defRPr sz="1600" kern="1200">
        <a:solidFill>
          <a:schemeClr val="tx1"/>
        </a:solidFill>
        <a:effectLst>
          <a:outerShdw blurRad="38100" dist="38100" dir="2700000" algn="tl">
            <a:srgbClr val="000000">
              <a:alpha val="43137"/>
            </a:srgbClr>
          </a:outerShdw>
        </a:effectLst>
        <a:latin typeface="Helvetica" charset="0"/>
        <a:ea typeface="+mn-ea"/>
        <a:cs typeface="+mn-cs"/>
      </a:defRPr>
    </a:lvl9pPr>
  </p:defaultTextStyle>
  <p:extLst>
    <p:ext uri="{EFAFB233-063F-42B5-8137-9DF3F51BA10A}">
      <p15:sldGuideLst xmlns:p15="http://schemas.microsoft.com/office/powerpoint/2012/main">
        <p15:guide id="1" orient="horz" pos="2914">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6600"/>
    <a:srgbClr val="FFFF00"/>
    <a:srgbClr val="FF3300"/>
    <a:srgbClr val="FF0000"/>
    <a:srgbClr val="D3D3FF"/>
    <a:srgbClr val="B7B7FF"/>
    <a:srgbClr val="A1A1FF"/>
    <a:srgbClr val="FF66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8055" autoAdjust="0"/>
    <p:restoredTop sz="70292" autoAdjust="0"/>
  </p:normalViewPr>
  <p:slideViewPr>
    <p:cSldViewPr snapToGrid="0">
      <p:cViewPr varScale="1">
        <p:scale>
          <a:sx n="78" d="100"/>
          <a:sy n="78" d="100"/>
        </p:scale>
        <p:origin x="3012" y="78"/>
      </p:cViewPr>
      <p:guideLst>
        <p:guide orient="horz" pos="2914"/>
        <p:guide pos="2880"/>
      </p:guideLst>
    </p:cSldViewPr>
  </p:slideViewPr>
  <p:outlineViewPr>
    <p:cViewPr>
      <p:scale>
        <a:sx n="33" d="100"/>
        <a:sy n="33" d="100"/>
      </p:scale>
      <p:origin x="0" y="0"/>
    </p:cViewPr>
    <p:sldLst>
      <p:sld r:id="rId1" collapse="1"/>
      <p:sld r:id="rId2" collapse="1"/>
    </p:sldLst>
  </p:outlin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_rels/viewProps.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slide" Target="slides/slid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7042" name="Rectangle 2"/>
          <p:cNvSpPr>
            <a:spLocks noGrp="1" noChangeArrowheads="1"/>
          </p:cNvSpPr>
          <p:nvPr>
            <p:ph type="hdr" sz="quarter"/>
          </p:nvPr>
        </p:nvSpPr>
        <p:spPr bwMode="auto">
          <a:xfrm>
            <a:off x="0" y="0"/>
            <a:ext cx="289083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285" tIns="45642" rIns="91285" bIns="45642" numCol="1" anchor="t" anchorCtr="0" compatLnSpc="1">
            <a:prstTxWarp prst="textNoShape">
              <a:avLst/>
            </a:prstTxWarp>
          </a:bodyPr>
          <a:lstStyle>
            <a:lvl1pPr defTabSz="912813">
              <a:spcBef>
                <a:spcPct val="0"/>
              </a:spcBef>
              <a:buClrTx/>
              <a:defRPr sz="1200" smtClean="0">
                <a:effectLst/>
                <a:latin typeface="Arial" charset="0"/>
              </a:defRPr>
            </a:lvl1pPr>
          </a:lstStyle>
          <a:p>
            <a:pPr>
              <a:defRPr/>
            </a:pPr>
            <a:endParaRPr lang="en-GB"/>
          </a:p>
        </p:txBody>
      </p:sp>
      <p:sp>
        <p:nvSpPr>
          <p:cNvPr id="87043" name="Rectangle 3"/>
          <p:cNvSpPr>
            <a:spLocks noGrp="1" noChangeArrowheads="1"/>
          </p:cNvSpPr>
          <p:nvPr>
            <p:ph type="dt" sz="quarter" idx="1"/>
          </p:nvPr>
        </p:nvSpPr>
        <p:spPr bwMode="auto">
          <a:xfrm>
            <a:off x="3803650" y="0"/>
            <a:ext cx="289083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285" tIns="45642" rIns="91285" bIns="45642" numCol="1" anchor="t" anchorCtr="0" compatLnSpc="1">
            <a:prstTxWarp prst="textNoShape">
              <a:avLst/>
            </a:prstTxWarp>
          </a:bodyPr>
          <a:lstStyle>
            <a:lvl1pPr algn="r" defTabSz="912813">
              <a:spcBef>
                <a:spcPct val="0"/>
              </a:spcBef>
              <a:buClrTx/>
              <a:defRPr sz="1200" smtClean="0">
                <a:effectLst/>
                <a:latin typeface="Arial" charset="0"/>
              </a:defRPr>
            </a:lvl1pPr>
          </a:lstStyle>
          <a:p>
            <a:pPr>
              <a:defRPr/>
            </a:pPr>
            <a:endParaRPr lang="en-GB"/>
          </a:p>
        </p:txBody>
      </p:sp>
      <p:sp>
        <p:nvSpPr>
          <p:cNvPr id="87044" name="Rectangle 4"/>
          <p:cNvSpPr>
            <a:spLocks noGrp="1" noChangeArrowheads="1"/>
          </p:cNvSpPr>
          <p:nvPr>
            <p:ph type="ftr" sz="quarter" idx="2"/>
          </p:nvPr>
        </p:nvSpPr>
        <p:spPr bwMode="auto">
          <a:xfrm>
            <a:off x="0" y="9347200"/>
            <a:ext cx="2890838"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285" tIns="45642" rIns="91285" bIns="45642" numCol="1" anchor="b" anchorCtr="0" compatLnSpc="1">
            <a:prstTxWarp prst="textNoShape">
              <a:avLst/>
            </a:prstTxWarp>
          </a:bodyPr>
          <a:lstStyle>
            <a:lvl1pPr defTabSz="912813">
              <a:spcBef>
                <a:spcPct val="0"/>
              </a:spcBef>
              <a:buClrTx/>
              <a:defRPr sz="1200" smtClean="0">
                <a:effectLst/>
                <a:latin typeface="Arial" charset="0"/>
              </a:defRPr>
            </a:lvl1pPr>
          </a:lstStyle>
          <a:p>
            <a:pPr>
              <a:defRPr/>
            </a:pPr>
            <a:endParaRPr lang="en-GB"/>
          </a:p>
        </p:txBody>
      </p:sp>
      <p:sp>
        <p:nvSpPr>
          <p:cNvPr id="87045" name="Rectangle 5"/>
          <p:cNvSpPr>
            <a:spLocks noGrp="1" noChangeArrowheads="1"/>
          </p:cNvSpPr>
          <p:nvPr>
            <p:ph type="sldNum" sz="quarter" idx="3"/>
          </p:nvPr>
        </p:nvSpPr>
        <p:spPr bwMode="auto">
          <a:xfrm>
            <a:off x="3803650" y="9347200"/>
            <a:ext cx="2890838"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285" tIns="45642" rIns="91285" bIns="45642" numCol="1" anchor="b" anchorCtr="0" compatLnSpc="1">
            <a:prstTxWarp prst="textNoShape">
              <a:avLst/>
            </a:prstTxWarp>
          </a:bodyPr>
          <a:lstStyle>
            <a:lvl1pPr algn="r" defTabSz="912813">
              <a:spcBef>
                <a:spcPct val="0"/>
              </a:spcBef>
              <a:buClrTx/>
              <a:defRPr sz="1200" smtClean="0">
                <a:effectLst/>
                <a:latin typeface="Arial" charset="0"/>
              </a:defRPr>
            </a:lvl1pPr>
          </a:lstStyle>
          <a:p>
            <a:pPr>
              <a:defRPr/>
            </a:pPr>
            <a:fld id="{C79BB19D-A40C-49B1-9AF4-159D39F1A232}" type="slidenum">
              <a:rPr lang="en-GB"/>
              <a:pPr>
                <a:defRPr/>
              </a:pPr>
              <a:t>‹#›</a:t>
            </a:fld>
            <a:endParaRPr lang="en-GB"/>
          </a:p>
        </p:txBody>
      </p:sp>
    </p:spTree>
    <p:extLst>
      <p:ext uri="{BB962C8B-B14F-4D97-AF65-F5344CB8AC3E}">
        <p14:creationId xmlns:p14="http://schemas.microsoft.com/office/powerpoint/2010/main" val="99057622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3010" name="Rectangle 2"/>
          <p:cNvSpPr>
            <a:spLocks noGrp="1" noChangeArrowheads="1"/>
          </p:cNvSpPr>
          <p:nvPr>
            <p:ph type="hdr" sz="quarter"/>
          </p:nvPr>
        </p:nvSpPr>
        <p:spPr bwMode="auto">
          <a:xfrm>
            <a:off x="0" y="0"/>
            <a:ext cx="289083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285" tIns="45642" rIns="91285" bIns="45642" numCol="1" anchor="t" anchorCtr="0" compatLnSpc="1">
            <a:prstTxWarp prst="textNoShape">
              <a:avLst/>
            </a:prstTxWarp>
          </a:bodyPr>
          <a:lstStyle>
            <a:lvl1pPr defTabSz="912813">
              <a:spcBef>
                <a:spcPct val="0"/>
              </a:spcBef>
              <a:buClrTx/>
              <a:defRPr sz="1200" smtClean="0">
                <a:effectLst/>
                <a:latin typeface="Arial" charset="0"/>
              </a:defRPr>
            </a:lvl1pPr>
          </a:lstStyle>
          <a:p>
            <a:pPr>
              <a:defRPr/>
            </a:pPr>
            <a:endParaRPr lang="en-GB"/>
          </a:p>
        </p:txBody>
      </p:sp>
      <p:sp>
        <p:nvSpPr>
          <p:cNvPr id="43011" name="Rectangle 3"/>
          <p:cNvSpPr>
            <a:spLocks noGrp="1" noChangeArrowheads="1"/>
          </p:cNvSpPr>
          <p:nvPr>
            <p:ph type="dt" idx="1"/>
          </p:nvPr>
        </p:nvSpPr>
        <p:spPr bwMode="auto">
          <a:xfrm>
            <a:off x="3803650" y="0"/>
            <a:ext cx="289083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285" tIns="45642" rIns="91285" bIns="45642" numCol="1" anchor="t" anchorCtr="0" compatLnSpc="1">
            <a:prstTxWarp prst="textNoShape">
              <a:avLst/>
            </a:prstTxWarp>
          </a:bodyPr>
          <a:lstStyle>
            <a:lvl1pPr algn="r" defTabSz="912813">
              <a:spcBef>
                <a:spcPct val="0"/>
              </a:spcBef>
              <a:buClrTx/>
              <a:defRPr sz="1200" smtClean="0">
                <a:effectLst/>
                <a:latin typeface="Arial" charset="0"/>
              </a:defRPr>
            </a:lvl1pPr>
          </a:lstStyle>
          <a:p>
            <a:pPr>
              <a:defRPr/>
            </a:pPr>
            <a:endParaRPr lang="en-GB"/>
          </a:p>
        </p:txBody>
      </p:sp>
      <p:sp>
        <p:nvSpPr>
          <p:cNvPr id="40964" name="Rectangle 4"/>
          <p:cNvSpPr>
            <a:spLocks noGrp="1" noRot="1" noChangeAspect="1" noChangeArrowheads="1" noTextEdit="1"/>
          </p:cNvSpPr>
          <p:nvPr>
            <p:ph type="sldImg" idx="2"/>
          </p:nvPr>
        </p:nvSpPr>
        <p:spPr bwMode="auto">
          <a:xfrm>
            <a:off x="954088" y="758825"/>
            <a:ext cx="4864100" cy="3648075"/>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43013" name="Rectangle 5"/>
          <p:cNvSpPr>
            <a:spLocks noGrp="1" noChangeArrowheads="1"/>
          </p:cNvSpPr>
          <p:nvPr>
            <p:ph type="body" sz="quarter" idx="3"/>
          </p:nvPr>
        </p:nvSpPr>
        <p:spPr bwMode="auto">
          <a:xfrm>
            <a:off x="912813" y="4711700"/>
            <a:ext cx="4945062" cy="4410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285" tIns="45642" rIns="91285" bIns="45642" numCol="1" anchor="t" anchorCtr="0" compatLnSpc="1">
            <a:prstTxWarp prst="textNoShape">
              <a:avLst/>
            </a:prstTxWarp>
          </a:bodyPr>
          <a:lstStyle/>
          <a:p>
            <a:pPr lvl="0"/>
            <a:r>
              <a:rPr lang="en-GB" noProof="0"/>
              <a:t>Click to edit Master text styles</a:t>
            </a:r>
          </a:p>
          <a:p>
            <a:pPr lvl="1"/>
            <a:r>
              <a:rPr lang="en-GB" noProof="0"/>
              <a:t>Second level</a:t>
            </a:r>
          </a:p>
          <a:p>
            <a:pPr lvl="2"/>
            <a:r>
              <a:rPr lang="en-GB" noProof="0"/>
              <a:t>Third level</a:t>
            </a:r>
          </a:p>
          <a:p>
            <a:pPr lvl="3"/>
            <a:r>
              <a:rPr lang="en-GB" noProof="0"/>
              <a:t>Fourth level</a:t>
            </a:r>
          </a:p>
          <a:p>
            <a:pPr lvl="4"/>
            <a:r>
              <a:rPr lang="en-GB" noProof="0"/>
              <a:t>Fifth level</a:t>
            </a:r>
          </a:p>
        </p:txBody>
      </p:sp>
      <p:sp>
        <p:nvSpPr>
          <p:cNvPr id="43014" name="Rectangle 6"/>
          <p:cNvSpPr>
            <a:spLocks noGrp="1" noChangeArrowheads="1"/>
          </p:cNvSpPr>
          <p:nvPr>
            <p:ph type="ftr" sz="quarter" idx="4"/>
          </p:nvPr>
        </p:nvSpPr>
        <p:spPr bwMode="auto">
          <a:xfrm>
            <a:off x="0" y="9347200"/>
            <a:ext cx="2890838"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285" tIns="45642" rIns="91285" bIns="45642" numCol="1" anchor="b" anchorCtr="0" compatLnSpc="1">
            <a:prstTxWarp prst="textNoShape">
              <a:avLst/>
            </a:prstTxWarp>
          </a:bodyPr>
          <a:lstStyle>
            <a:lvl1pPr defTabSz="912813">
              <a:spcBef>
                <a:spcPct val="0"/>
              </a:spcBef>
              <a:buClrTx/>
              <a:defRPr sz="1200" smtClean="0">
                <a:effectLst/>
                <a:latin typeface="Arial" charset="0"/>
              </a:defRPr>
            </a:lvl1pPr>
          </a:lstStyle>
          <a:p>
            <a:pPr>
              <a:defRPr/>
            </a:pPr>
            <a:endParaRPr lang="en-GB"/>
          </a:p>
        </p:txBody>
      </p:sp>
      <p:sp>
        <p:nvSpPr>
          <p:cNvPr id="43015" name="Rectangle 7"/>
          <p:cNvSpPr>
            <a:spLocks noGrp="1" noChangeArrowheads="1"/>
          </p:cNvSpPr>
          <p:nvPr>
            <p:ph type="sldNum" sz="quarter" idx="5"/>
          </p:nvPr>
        </p:nvSpPr>
        <p:spPr bwMode="auto">
          <a:xfrm>
            <a:off x="3803650" y="9347200"/>
            <a:ext cx="2890838"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285" tIns="45642" rIns="91285" bIns="45642" numCol="1" anchor="b" anchorCtr="0" compatLnSpc="1">
            <a:prstTxWarp prst="textNoShape">
              <a:avLst/>
            </a:prstTxWarp>
          </a:bodyPr>
          <a:lstStyle>
            <a:lvl1pPr algn="r" defTabSz="912813">
              <a:spcBef>
                <a:spcPct val="0"/>
              </a:spcBef>
              <a:buClrTx/>
              <a:defRPr sz="1200" smtClean="0">
                <a:effectLst/>
                <a:latin typeface="Arial" charset="0"/>
              </a:defRPr>
            </a:lvl1pPr>
          </a:lstStyle>
          <a:p>
            <a:pPr>
              <a:defRPr/>
            </a:pPr>
            <a:fld id="{191A2F79-A017-42D6-8201-7C30C5811AA8}" type="slidenum">
              <a:rPr lang="en-GB"/>
              <a:pPr>
                <a:defRPr/>
              </a:pPr>
              <a:t>‹#›</a:t>
            </a:fld>
            <a:endParaRPr lang="en-GB"/>
          </a:p>
        </p:txBody>
      </p:sp>
    </p:spTree>
    <p:extLst>
      <p:ext uri="{BB962C8B-B14F-4D97-AF65-F5344CB8AC3E}">
        <p14:creationId xmlns:p14="http://schemas.microsoft.com/office/powerpoint/2010/main" val="363604739"/>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9906" name="Rectangle 2"/>
          <p:cNvSpPr>
            <a:spLocks noGrp="1" noRot="1" noChangeAspect="1" noChangeArrowheads="1" noTextEdit="1"/>
          </p:cNvSpPr>
          <p:nvPr>
            <p:ph type="sldImg"/>
          </p:nvPr>
        </p:nvSpPr>
        <p:spPr>
          <a:ln/>
        </p:spPr>
      </p:sp>
      <p:sp>
        <p:nvSpPr>
          <p:cNvPr id="379907" name="Rectangle 3"/>
          <p:cNvSpPr>
            <a:spLocks noGrp="1" noChangeArrowheads="1"/>
          </p:cNvSpPr>
          <p:nvPr>
            <p:ph type="body" idx="1"/>
          </p:nvPr>
        </p:nvSpPr>
        <p:spPr>
          <a:noFill/>
        </p:spPr>
        <p:txBody>
          <a:bodyPr/>
          <a:lstStyle/>
          <a:p>
            <a:pPr marL="108000" indent="-108000">
              <a:spcBef>
                <a:spcPts val="300"/>
              </a:spcBef>
              <a:buFont typeface="Arial" panose="020B0604020202020204" pitchFamily="34" charset="0"/>
              <a:buChar char="•"/>
            </a:pPr>
            <a:r>
              <a:rPr lang="en-GB" altLang="en-US" sz="1000" dirty="0"/>
              <a:t>In the notes panes to these slides there are numerous references (figure credits and further reading). If the reference is incomplete it refers to the references stated in the reading list on the last slide</a:t>
            </a:r>
          </a:p>
          <a:p>
            <a:pPr marL="108000" indent="-108000">
              <a:spcBef>
                <a:spcPts val="300"/>
              </a:spcBef>
              <a:buFont typeface="Arial" panose="020B0604020202020204" pitchFamily="34" charset="0"/>
              <a:buChar char="•"/>
            </a:pPr>
            <a:r>
              <a:rPr lang="en-GB" altLang="en-US" sz="1000" dirty="0"/>
              <a:t>With regard to figures in this PowerPoint file, many will be subject to copyright restrictions. I don’t care about you using any of the figures/photos that are mine (Steve Covey-Crump), although a credit would be nice, but take care to comply with copyright restrictions if you reuse any that are not</a:t>
            </a:r>
          </a:p>
          <a:p>
            <a:pPr marL="108000" indent="-108000">
              <a:spcBef>
                <a:spcPts val="300"/>
              </a:spcBef>
            </a:pPr>
            <a:endParaRPr lang="en-GB" alt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0642" name="Rectangle 2"/>
          <p:cNvSpPr>
            <a:spLocks noGrp="1" noRot="1" noChangeAspect="1" noChangeArrowheads="1" noTextEdit="1"/>
          </p:cNvSpPr>
          <p:nvPr>
            <p:ph type="sldImg"/>
          </p:nvPr>
        </p:nvSpPr>
        <p:spPr>
          <a:ln/>
        </p:spPr>
      </p:sp>
      <p:sp>
        <p:nvSpPr>
          <p:cNvPr id="240643" name="Rectangle 3"/>
          <p:cNvSpPr>
            <a:spLocks noGrp="1" noChangeArrowheads="1"/>
          </p:cNvSpPr>
          <p:nvPr>
            <p:ph type="body" idx="1"/>
          </p:nvPr>
        </p:nvSpPr>
        <p:spPr>
          <a:noFill/>
        </p:spPr>
        <p:txBody>
          <a:bodyPr/>
          <a:lstStyle/>
          <a:p>
            <a:pPr marL="108000" indent="-108000">
              <a:spcBef>
                <a:spcPts val="300"/>
              </a:spcBef>
              <a:buFont typeface="Arial" panose="020B0604020202020204" pitchFamily="34" charset="0"/>
              <a:buChar char="•"/>
            </a:pPr>
            <a:r>
              <a:rPr lang="en-GB" altLang="en-US" sz="1000" dirty="0"/>
              <a:t>For a review of the sort of information that can be recovered from analysing fold geometry, see </a:t>
            </a:r>
            <a:r>
              <a:rPr lang="en-GB" altLang="en-US" sz="1000" dirty="0" err="1"/>
              <a:t>Hudleston</a:t>
            </a:r>
            <a:r>
              <a:rPr lang="en-GB" altLang="en-US" sz="1000" dirty="0"/>
              <a:t> &amp; </a:t>
            </a:r>
            <a:r>
              <a:rPr lang="en-GB" altLang="en-US" sz="1000" dirty="0" err="1"/>
              <a:t>Treagus</a:t>
            </a:r>
            <a:r>
              <a:rPr lang="en-GB" altLang="en-US" sz="1000" dirty="0"/>
              <a:t>, 2010, </a:t>
            </a:r>
            <a:r>
              <a:rPr lang="en-GB" altLang="en-US" sz="1000" i="1" dirty="0"/>
              <a:t>Journal of Structural Geology</a:t>
            </a:r>
            <a:r>
              <a:rPr lang="en-GB" altLang="en-US" sz="1000" dirty="0"/>
              <a:t> 32: 2042-2071, </a:t>
            </a:r>
            <a:r>
              <a:rPr lang="en-GB" sz="1000" dirty="0"/>
              <a:t>https://doi.org/10.1016/j.jsg.2010.08.011</a:t>
            </a:r>
            <a:r>
              <a:rPr lang="en-GB" altLang="en-US" sz="1000" dirty="0"/>
              <a:t>. This is rather technical for 2</a:t>
            </a:r>
            <a:r>
              <a:rPr lang="en-GB" altLang="en-US" sz="1000" baseline="30000" dirty="0"/>
              <a:t>nd</a:t>
            </a:r>
            <a:r>
              <a:rPr lang="en-GB" altLang="en-US" sz="1000" dirty="0"/>
              <a:t> year level, but it provides an insight into what research level structural geology can involve</a:t>
            </a:r>
          </a:p>
          <a:p>
            <a:pPr marL="108000" indent="-108000">
              <a:spcBef>
                <a:spcPts val="300"/>
              </a:spcBef>
              <a:buFont typeface="Arial" panose="020B0604020202020204" pitchFamily="34" charset="0"/>
              <a:buChar char="•"/>
            </a:pPr>
            <a:r>
              <a:rPr lang="en-GB" altLang="en-US" sz="1000" dirty="0"/>
              <a:t>Buckling is the flexing or folding of a surface by a compressive stress directed along that surface; the folds develop as the amplification (growth) of a mechanical instability (‘active folding’)</a:t>
            </a:r>
          </a:p>
          <a:p>
            <a:pPr marL="108000" indent="-108000">
              <a:spcBef>
                <a:spcPts val="300"/>
              </a:spcBef>
              <a:buFont typeface="Arial" panose="020B0604020202020204" pitchFamily="34" charset="0"/>
              <a:buChar char="•"/>
            </a:pPr>
            <a:r>
              <a:rPr lang="en-GB" altLang="en-US" sz="1000" dirty="0"/>
              <a:t>Bending of a surface arises when non-uniform forces are applied across that surface (the term ‘forced folding’ is sometimes used)</a:t>
            </a:r>
          </a:p>
          <a:p>
            <a:pPr marL="108000" indent="-108000">
              <a:spcBef>
                <a:spcPts val="300"/>
              </a:spcBef>
              <a:buFont typeface="Arial" panose="020B0604020202020204" pitchFamily="34" charset="0"/>
              <a:buChar char="•"/>
            </a:pPr>
            <a:r>
              <a:rPr lang="en-GB" altLang="en-US" sz="1000" dirty="0"/>
              <a:t>Passive folding is purely a kinematic effect – it describes the shape of a marker line that passes across a deforming material and is carried along in the flow</a:t>
            </a:r>
          </a:p>
          <a:p>
            <a:pPr marL="108000" indent="-108000">
              <a:spcBef>
                <a:spcPts val="300"/>
              </a:spcBef>
              <a:buFont typeface="Arial" panose="020B0604020202020204" pitchFamily="34" charset="0"/>
              <a:buChar char="•"/>
            </a:pPr>
            <a:r>
              <a:rPr lang="en-GB" altLang="en-US" sz="1000" dirty="0"/>
              <a:t>Figure from Fossen, p.265</a:t>
            </a:r>
          </a:p>
          <a:p>
            <a:pPr marL="108000" indent="-108000">
              <a:spcBef>
                <a:spcPts val="300"/>
              </a:spcBef>
              <a:buFont typeface="Arial" panose="020B0604020202020204" pitchFamily="34" charset="0"/>
              <a:buNone/>
            </a:pPr>
            <a:endParaRPr lang="en-GB" altLang="en-US" sz="1000"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4498" name="Rectangle 2"/>
          <p:cNvSpPr>
            <a:spLocks noGrp="1" noRot="1" noChangeAspect="1" noChangeArrowheads="1" noTextEdit="1"/>
          </p:cNvSpPr>
          <p:nvPr>
            <p:ph type="sldImg"/>
          </p:nvPr>
        </p:nvSpPr>
        <p:spPr>
          <a:ln/>
        </p:spPr>
      </p:sp>
      <p:sp>
        <p:nvSpPr>
          <p:cNvPr id="234499" name="Rectangle 3"/>
          <p:cNvSpPr>
            <a:spLocks noGrp="1" noChangeArrowheads="1"/>
          </p:cNvSpPr>
          <p:nvPr>
            <p:ph type="body" idx="1"/>
          </p:nvPr>
        </p:nvSpPr>
        <p:spPr>
          <a:noFill/>
        </p:spPr>
        <p:txBody>
          <a:bodyPr/>
          <a:lstStyle/>
          <a:p>
            <a:pPr marL="108000" indent="-108000">
              <a:spcBef>
                <a:spcPts val="300"/>
              </a:spcBef>
              <a:buFont typeface="Arial" panose="020B0604020202020204" pitchFamily="34" charset="0"/>
              <a:buChar char="•"/>
            </a:pPr>
            <a:r>
              <a:rPr lang="en-GB" altLang="en-US" sz="1000" dirty="0"/>
              <a:t>Viscosity is a measure of the resistance of a fluid to shear. Low viscosity materials are ‘runny’ whereas high viscosity materials are ‘stiff’ (compare the flow of water with that of syrup). On a geological timescale rocks flow and so can be considered as viscous fluids</a:t>
            </a:r>
          </a:p>
          <a:p>
            <a:pPr marL="108000" indent="-108000">
              <a:spcBef>
                <a:spcPts val="300"/>
              </a:spcBef>
              <a:buFont typeface="Arial" panose="020B0604020202020204" pitchFamily="34" charset="0"/>
              <a:buChar char="•"/>
            </a:pPr>
            <a:r>
              <a:rPr lang="en-GB" altLang="en-US" sz="1000" dirty="0"/>
              <a:t>Strictly defined, using terms that you will encounter later in the course unit, viscosity is the ratio of shear stress to shear strain-rate. Materials are said to be Newtonian viscous (or linear viscous) if their viscosity does not depend upon the shear force applied. The viscosity of rocks commonly decreases as the applied shear force is increased, that is, rocks are commonly ‘shear-thinning’, non-Newtonian fluids. Materials for which viscosity increases with shear force (‘shear-thickening’, non-Newtonian fluids) are not encountered in geological settings but there are non-geological materials that behave in this way – this is a reason why Einstein was interested in bread dough</a:t>
            </a:r>
          </a:p>
          <a:p>
            <a:pPr marL="108000" indent="-108000">
              <a:spcBef>
                <a:spcPts val="300"/>
              </a:spcBef>
              <a:buFont typeface="Arial" panose="020B0604020202020204" pitchFamily="34" charset="0"/>
              <a:buChar char="•"/>
            </a:pPr>
            <a:r>
              <a:rPr lang="en-GB" altLang="en-US" sz="1000" dirty="0"/>
              <a:t>The “small irregularities” are the mechanical instabilities around which the folds initiate. Without these there is nothing to kick the folding off</a:t>
            </a:r>
          </a:p>
          <a:p>
            <a:pPr marL="108000" indent="-108000">
              <a:spcBef>
                <a:spcPts val="300"/>
              </a:spcBef>
              <a:buFont typeface="Arial" panose="020B0604020202020204" pitchFamily="34" charset="0"/>
              <a:buChar char="•"/>
            </a:pPr>
            <a:r>
              <a:rPr lang="en-GB" altLang="en-US" sz="1000" dirty="0"/>
              <a:t>The theory of buckling is beyond the remit of this course – we shall confine ourselves to some of the features that the theory/laboratory experiments/numerical models attempt to explain. The development of buckling theory to describe folding in geological materials really began with the landmark studies of </a:t>
            </a:r>
            <a:r>
              <a:rPr lang="en-GB" altLang="en-US" sz="1000" dirty="0" err="1"/>
              <a:t>Biot</a:t>
            </a:r>
            <a:r>
              <a:rPr lang="en-GB" altLang="en-US" sz="1000" dirty="0"/>
              <a:t> and of Ramberg in the 1960s. For the papers describing these developments, see </a:t>
            </a:r>
            <a:r>
              <a:rPr lang="en-GB" altLang="en-US" sz="1000" dirty="0" err="1"/>
              <a:t>Hudleston</a:t>
            </a:r>
            <a:r>
              <a:rPr lang="en-GB" altLang="en-US" sz="1000" dirty="0"/>
              <a:t> &amp; </a:t>
            </a:r>
            <a:r>
              <a:rPr lang="en-GB" altLang="en-US" sz="1000" dirty="0" err="1"/>
              <a:t>Treagus</a:t>
            </a:r>
            <a:r>
              <a:rPr lang="en-GB" altLang="en-US" sz="1000" dirty="0"/>
              <a:t>, 2010, </a:t>
            </a:r>
            <a:r>
              <a:rPr lang="en-GB" altLang="en-US" sz="1000" i="1" dirty="0"/>
              <a:t>Journal of Structural Geology</a:t>
            </a:r>
            <a:r>
              <a:rPr lang="en-GB" altLang="en-US" sz="1000" dirty="0"/>
              <a:t> 32: 2042-2071, </a:t>
            </a:r>
            <a:r>
              <a:rPr lang="en-GB" sz="1000" dirty="0"/>
              <a:t>https://doi.org/10.1016/j.jsg.2010.08.011</a:t>
            </a:r>
            <a:r>
              <a:rPr lang="en-GB" altLang="en-US" sz="1000" dirty="0"/>
              <a:t>. An excellent introductory overview is given by Price &amp; Cosgrove (Chapters 11-13)</a:t>
            </a:r>
          </a:p>
          <a:p>
            <a:pPr marL="108000" indent="-108000">
              <a:spcBef>
                <a:spcPts val="300"/>
              </a:spcBef>
              <a:buFont typeface="Arial" panose="020B0604020202020204" pitchFamily="34" charset="0"/>
              <a:buChar char="•"/>
            </a:pPr>
            <a:r>
              <a:rPr lang="en-GB" altLang="en-US" sz="1000" dirty="0"/>
              <a:t>Figure (from Ramsay &amp; Huber, 1987, p.388): four views of the progressive development of folds in a laboratory experiment (using plasticine) that was designed to investigate buckling of a single competent layer embedded in a homogeneous, less competent matrix</a:t>
            </a:r>
          </a:p>
          <a:p>
            <a:pPr marL="108000" indent="-108000">
              <a:spcBef>
                <a:spcPts val="300"/>
              </a:spcBef>
              <a:buFont typeface="Arial" panose="020B0604020202020204" pitchFamily="34" charset="0"/>
              <a:buNone/>
            </a:pPr>
            <a:endParaRPr lang="en-GB" altLang="en-US" sz="1000"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6546" name="Rectangle 2"/>
          <p:cNvSpPr>
            <a:spLocks noGrp="1" noRot="1" noChangeAspect="1" noChangeArrowheads="1" noTextEdit="1"/>
          </p:cNvSpPr>
          <p:nvPr>
            <p:ph type="sldImg"/>
          </p:nvPr>
        </p:nvSpPr>
        <p:spPr>
          <a:ln/>
        </p:spPr>
      </p:sp>
      <p:sp>
        <p:nvSpPr>
          <p:cNvPr id="236547" name="Rectangle 3"/>
          <p:cNvSpPr>
            <a:spLocks noGrp="1" noChangeArrowheads="1"/>
          </p:cNvSpPr>
          <p:nvPr>
            <p:ph type="body" idx="1"/>
          </p:nvPr>
        </p:nvSpPr>
        <p:spPr>
          <a:noFill/>
        </p:spPr>
        <p:txBody>
          <a:bodyPr/>
          <a:lstStyle/>
          <a:p>
            <a:pPr marL="108000" indent="-108000">
              <a:spcBef>
                <a:spcPts val="300"/>
              </a:spcBef>
              <a:buFont typeface="Arial" panose="020B0604020202020204" pitchFamily="34" charset="0"/>
              <a:buChar char="•"/>
            </a:pPr>
            <a:r>
              <a:rPr lang="en-GB" altLang="en-US" sz="1000" dirty="0"/>
              <a:t>The simplifying assumptions include (a) that the layer and matrix are Newtonian viscous, (b) that the weight of the layer has no effect, and (c) that there is no shortening parallel to the layer that is not accommodated by the buckling (that is, the layer does not get thicker as it is shortened). The analysis is also a two-dimensional one in the profile plane (no movement of material into or out of that plane). More sophisticated models allow these assumptions to be relaxed</a:t>
            </a:r>
          </a:p>
          <a:p>
            <a:pPr marL="108000" indent="-108000">
              <a:spcBef>
                <a:spcPts val="300"/>
              </a:spcBef>
              <a:buFont typeface="Arial" panose="020B0604020202020204" pitchFamily="34" charset="0"/>
              <a:buChar char="•"/>
            </a:pPr>
            <a:r>
              <a:rPr lang="en-GB" altLang="en-US" sz="1000" dirty="0"/>
              <a:t>A Class 1B fold is a parallel fold – the orthogonal thickness of the layer remains constant around the fold (see Class 1 Slides 20-21)</a:t>
            </a:r>
          </a:p>
          <a:p>
            <a:pPr marL="108000" indent="-108000">
              <a:spcBef>
                <a:spcPts val="300"/>
              </a:spcBef>
              <a:buFont typeface="Arial" panose="020B0604020202020204" pitchFamily="34" charset="0"/>
              <a:buChar char="•"/>
            </a:pPr>
            <a:r>
              <a:rPr lang="en-GB" altLang="en-US" sz="1000" dirty="0"/>
              <a:t>Photo (Steve Covey-Crump): a folded layer within </a:t>
            </a:r>
            <a:r>
              <a:rPr lang="en-GB" altLang="en-US" sz="1000" dirty="0" err="1"/>
              <a:t>Moine</a:t>
            </a:r>
            <a:r>
              <a:rPr lang="en-GB" altLang="en-US" sz="1000" dirty="0"/>
              <a:t> metasedimentary units, Ross of Mull, Scotland. Note that the folds in the layer just beneath the penny are not present in the vein at the bottom of the photo, thereby highlighting how rapidly the effect of folding disappears away from the folded layer</a:t>
            </a:r>
          </a:p>
          <a:p>
            <a:pPr marL="108000" indent="-108000">
              <a:spcBef>
                <a:spcPts val="300"/>
              </a:spcBef>
              <a:buFont typeface="Arial" panose="020B0604020202020204" pitchFamily="34" charset="0"/>
              <a:buNone/>
            </a:pPr>
            <a:endParaRPr lang="en-GB" altLang="en-US" sz="1000"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8594" name="Rectangle 2"/>
          <p:cNvSpPr>
            <a:spLocks noGrp="1" noRot="1" noChangeAspect="1" noChangeArrowheads="1" noTextEdit="1"/>
          </p:cNvSpPr>
          <p:nvPr>
            <p:ph type="sldImg"/>
          </p:nvPr>
        </p:nvSpPr>
        <p:spPr>
          <a:ln/>
        </p:spPr>
      </p:sp>
      <p:sp>
        <p:nvSpPr>
          <p:cNvPr id="238595" name="Rectangle 3"/>
          <p:cNvSpPr>
            <a:spLocks noGrp="1" noChangeArrowheads="1"/>
          </p:cNvSpPr>
          <p:nvPr>
            <p:ph type="body" idx="1"/>
          </p:nvPr>
        </p:nvSpPr>
        <p:spPr>
          <a:noFill/>
        </p:spPr>
        <p:txBody>
          <a:bodyPr/>
          <a:lstStyle/>
          <a:p>
            <a:pPr marL="108000" indent="-108000">
              <a:spcBef>
                <a:spcPts val="300"/>
              </a:spcBef>
              <a:buFont typeface="Arial" panose="020B0604020202020204" pitchFamily="34" charset="0"/>
              <a:buChar char="•"/>
            </a:pPr>
            <a:r>
              <a:rPr lang="en-GB" altLang="en-US" sz="1000" dirty="0"/>
              <a:t>Photo left (Steve Covey-Crump): folded layers in the </a:t>
            </a:r>
            <a:r>
              <a:rPr lang="en-GB" altLang="en-US" sz="1000" dirty="0" err="1"/>
              <a:t>Ardalanish</a:t>
            </a:r>
            <a:r>
              <a:rPr lang="en-GB" altLang="en-US" sz="1000" dirty="0"/>
              <a:t> Striped and Banded Formation (part of the </a:t>
            </a:r>
            <a:r>
              <a:rPr lang="en-GB" altLang="en-US" sz="1000" dirty="0" err="1"/>
              <a:t>Moine</a:t>
            </a:r>
            <a:r>
              <a:rPr lang="en-GB" altLang="en-US" sz="1000" dirty="0"/>
              <a:t> metasedimentary sequence), Ross of Mull, Scotland. Note that the thinner layers have shorter wavelengths than the thicker layer at the bottom</a:t>
            </a:r>
          </a:p>
          <a:p>
            <a:pPr marL="108000" indent="-108000">
              <a:spcBef>
                <a:spcPts val="300"/>
              </a:spcBef>
              <a:buFont typeface="Arial" panose="020B0604020202020204" pitchFamily="34" charset="0"/>
              <a:buChar char="•"/>
            </a:pPr>
            <a:r>
              <a:rPr lang="en-GB" altLang="en-US" sz="1000" dirty="0"/>
              <a:t>Photo right (Steve Covey-Crump): a folded layer from the </a:t>
            </a:r>
            <a:r>
              <a:rPr lang="en-GB" altLang="en-US" sz="1000" dirty="0" err="1"/>
              <a:t>Kinlochleven</a:t>
            </a:r>
            <a:r>
              <a:rPr lang="en-GB" altLang="en-US" sz="1000" dirty="0"/>
              <a:t> field mapping area. Note the change in fold wavelength as the thickness of the layer changes</a:t>
            </a:r>
          </a:p>
          <a:p>
            <a:pPr marL="108000" indent="-108000">
              <a:spcBef>
                <a:spcPts val="300"/>
              </a:spcBef>
              <a:buFont typeface="Arial" panose="020B0604020202020204" pitchFamily="34" charset="0"/>
              <a:buNone/>
            </a:pPr>
            <a:endParaRPr lang="en-GB" altLang="en-US" sz="1000"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2"/>
          <p:cNvSpPr>
            <a:spLocks noGrp="1" noRot="1" noChangeAspect="1" noChangeArrowheads="1" noTextEdit="1"/>
          </p:cNvSpPr>
          <p:nvPr>
            <p:ph type="sldImg"/>
          </p:nvPr>
        </p:nvSpPr>
        <p:spPr>
          <a:ln/>
        </p:spPr>
      </p:sp>
      <p:sp>
        <p:nvSpPr>
          <p:cNvPr id="243715" name="Rectangle 3"/>
          <p:cNvSpPr>
            <a:spLocks noGrp="1" noChangeArrowheads="1"/>
          </p:cNvSpPr>
          <p:nvPr>
            <p:ph type="body" idx="1"/>
          </p:nvPr>
        </p:nvSpPr>
        <p:spPr>
          <a:noFill/>
        </p:spPr>
        <p:txBody>
          <a:bodyPr/>
          <a:lstStyle/>
          <a:p>
            <a:pPr marL="108000" indent="-108000">
              <a:lnSpc>
                <a:spcPct val="120000"/>
              </a:lnSpc>
              <a:spcBef>
                <a:spcPts val="300"/>
              </a:spcBef>
              <a:buClr>
                <a:schemeClr val="tx1"/>
              </a:buClr>
              <a:buFont typeface="Arial" panose="020B0604020202020204" pitchFamily="34" charset="0"/>
              <a:buChar char="•"/>
            </a:pPr>
            <a:r>
              <a:rPr lang="en-GB" altLang="en-US" sz="1000" dirty="0"/>
              <a:t>Viscosity contrast is significant because (if we know what the layers are made of) it allows us to say something about the conditions of the deformation (</a:t>
            </a:r>
            <a:r>
              <a:rPr lang="en-GB" altLang="en-US" sz="1000" i="1" dirty="0"/>
              <a:t>e.g.</a:t>
            </a:r>
            <a:r>
              <a:rPr lang="en-GB" altLang="en-US" sz="1000" i="0" dirty="0"/>
              <a:t>, temperature, how fast the deformation occurred). </a:t>
            </a:r>
            <a:r>
              <a:rPr lang="en-GB" altLang="en-US" sz="1000" dirty="0"/>
              <a:t>Further research is needed to develop the theoretical analysis sufficiently to allow reliable quantitative estimates of viscosity contrast from fold wavelength. However, valuable qualitative insights are possible – for an illustrative example see Ramsay &amp; Huber, Question 19.3 (p.386-387 and p.397-401). An example of a study in which the wavelength vs. thickness relationships of naturally folded quartz veins in slates and phyllites were used to extract information about vein-matrix viscosity contrast is Sherwin &amp; Chapple, 1968, </a:t>
            </a:r>
            <a:r>
              <a:rPr lang="en-GB" altLang="en-US" sz="1000" i="1" dirty="0"/>
              <a:t>American Journal of Science</a:t>
            </a:r>
            <a:r>
              <a:rPr lang="en-GB" altLang="en-US" sz="1000" dirty="0"/>
              <a:t> 266: 167-179, </a:t>
            </a:r>
            <a:r>
              <a:rPr lang="en-GB" sz="1000" dirty="0"/>
              <a:t>https://doi.org/10.2475/ajs.266.3.167</a:t>
            </a:r>
            <a:endParaRPr lang="en-GB" altLang="en-US" sz="1000" dirty="0"/>
          </a:p>
          <a:p>
            <a:pPr marL="108000" indent="-108000">
              <a:lnSpc>
                <a:spcPct val="120000"/>
              </a:lnSpc>
              <a:spcBef>
                <a:spcPts val="300"/>
              </a:spcBef>
              <a:buClr>
                <a:schemeClr val="tx1"/>
              </a:buClr>
              <a:buFont typeface="Arial" panose="020B0604020202020204" pitchFamily="34" charset="0"/>
              <a:buChar char="•"/>
            </a:pPr>
            <a:r>
              <a:rPr lang="en-GB" altLang="en-US" sz="1000" dirty="0"/>
              <a:t>The shape of asymmetric pinch-and-swell structures (for what these are, see Class 1 Slides 41-43) may also be used to say something about the viscosity contrast between a layer that exhibits pinch-and-swell and the units on either side of it (</a:t>
            </a:r>
            <a:r>
              <a:rPr lang="en-GB" altLang="en-US" sz="1000" i="1" dirty="0"/>
              <a:t>e.g.</a:t>
            </a:r>
            <a:r>
              <a:rPr lang="en-GB" altLang="en-US" sz="1000" dirty="0"/>
              <a:t>, Gardner </a:t>
            </a:r>
            <a:r>
              <a:rPr lang="en-GB" altLang="en-US" sz="1000" i="1" dirty="0"/>
              <a:t>et al.</a:t>
            </a:r>
            <a:r>
              <a:rPr lang="en-GB" altLang="en-US" sz="1000" dirty="0"/>
              <a:t>, 2016, </a:t>
            </a:r>
            <a:r>
              <a:rPr lang="en-GB" altLang="en-US" sz="1000" i="1" dirty="0"/>
              <a:t>Journal of Structural Geology</a:t>
            </a:r>
            <a:r>
              <a:rPr lang="en-GB" altLang="en-US" sz="1000" dirty="0"/>
              <a:t> 88: 32-45, </a:t>
            </a:r>
            <a:r>
              <a:rPr lang="en-GB" sz="1000" dirty="0"/>
              <a:t>https://doi.org/10.1016/j.jsg.2016.04.012</a:t>
            </a:r>
            <a:r>
              <a:rPr lang="en-GB" altLang="en-US" sz="1000" dirty="0"/>
              <a:t>) </a:t>
            </a:r>
          </a:p>
          <a:p>
            <a:pPr marL="108000" indent="-108000">
              <a:lnSpc>
                <a:spcPct val="120000"/>
              </a:lnSpc>
              <a:spcBef>
                <a:spcPts val="300"/>
              </a:spcBef>
              <a:buClr>
                <a:schemeClr val="tx1"/>
              </a:buClr>
              <a:buFont typeface="Arial" panose="020B0604020202020204" pitchFamily="34" charset="0"/>
              <a:buChar char="•"/>
            </a:pPr>
            <a:r>
              <a:rPr lang="en-GB" altLang="en-US" sz="1000" dirty="0"/>
              <a:t>Figure bottom left (redrawn by Steve Covey-Crump from Ramsay &amp; Huber, p.394): fold amplitude ÷ competent layer thickness as a function of % shortening in the laboratory single layer buckling experiments of </a:t>
            </a:r>
            <a:r>
              <a:rPr lang="en-GB" altLang="en-US" sz="1000" dirty="0" err="1"/>
              <a:t>Hudleston</a:t>
            </a:r>
            <a:r>
              <a:rPr lang="en-GB" altLang="en-US" sz="1000" dirty="0"/>
              <a:t>, 1973, </a:t>
            </a:r>
            <a:r>
              <a:rPr lang="en-GB" altLang="en-US" sz="1000" i="1" dirty="0"/>
              <a:t>Tectonophysics</a:t>
            </a:r>
            <a:r>
              <a:rPr lang="en-GB" altLang="en-US" sz="1000" dirty="0"/>
              <a:t> 16: 189-214, </a:t>
            </a:r>
            <a:r>
              <a:rPr lang="en-GB" sz="1000" dirty="0"/>
              <a:t>https://doi.org/10.1016/0040-1951(73)90012-7</a:t>
            </a:r>
            <a:r>
              <a:rPr lang="en-GB" altLang="en-US" sz="1000" dirty="0"/>
              <a:t>. Note that at given % shortening, the amplitude increases with increasing viscosity contrast between layer and matrix</a:t>
            </a:r>
          </a:p>
          <a:p>
            <a:pPr marL="108000" indent="-108000">
              <a:lnSpc>
                <a:spcPct val="120000"/>
              </a:lnSpc>
              <a:spcBef>
                <a:spcPts val="300"/>
              </a:spcBef>
              <a:buClr>
                <a:schemeClr val="tx1"/>
              </a:buClr>
              <a:buFont typeface="Arial" panose="020B0604020202020204" pitchFamily="34" charset="0"/>
              <a:buChar char="•"/>
            </a:pPr>
            <a:r>
              <a:rPr lang="en-GB" altLang="en-US" sz="1000" dirty="0"/>
              <a:t>Figure right (from Ramsay &amp; Huber, p.394): note how layer thickening decreases and fold amplitude increases with increasing viscosity contrast between layer and matrix</a:t>
            </a:r>
          </a:p>
          <a:p>
            <a:pPr marL="108000" indent="-108000">
              <a:lnSpc>
                <a:spcPct val="120000"/>
              </a:lnSpc>
              <a:spcBef>
                <a:spcPts val="300"/>
              </a:spcBef>
              <a:buClr>
                <a:schemeClr val="tx1"/>
              </a:buClr>
              <a:buFont typeface="Arial" panose="020B0604020202020204" pitchFamily="34" charset="0"/>
              <a:buNone/>
            </a:pPr>
            <a:endParaRPr lang="en-GB" altLang="en-US" sz="1000"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62" name="Rectangle 2"/>
          <p:cNvSpPr>
            <a:spLocks noGrp="1" noRot="1" noChangeAspect="1" noChangeArrowheads="1" noTextEdit="1"/>
          </p:cNvSpPr>
          <p:nvPr>
            <p:ph type="sldImg"/>
          </p:nvPr>
        </p:nvSpPr>
        <p:spPr>
          <a:ln/>
        </p:spPr>
      </p:sp>
      <p:sp>
        <p:nvSpPr>
          <p:cNvPr id="399363" name="Rectangle 3"/>
          <p:cNvSpPr>
            <a:spLocks noGrp="1" noChangeArrowheads="1"/>
          </p:cNvSpPr>
          <p:nvPr>
            <p:ph type="body" idx="1"/>
          </p:nvPr>
        </p:nvSpPr>
        <p:spPr>
          <a:noFill/>
        </p:spPr>
        <p:txBody>
          <a:bodyPr/>
          <a:lstStyle/>
          <a:p>
            <a:pPr marL="108000" indent="-108000">
              <a:lnSpc>
                <a:spcPct val="100000"/>
              </a:lnSpc>
              <a:spcBef>
                <a:spcPts val="300"/>
              </a:spcBef>
              <a:buClr>
                <a:schemeClr val="tx1"/>
              </a:buClr>
              <a:buFont typeface="Arial" panose="020B0604020202020204" pitchFamily="34" charset="0"/>
              <a:buChar char="•"/>
            </a:pPr>
            <a:r>
              <a:rPr lang="en-GB" altLang="en-US" sz="1000" dirty="0"/>
              <a:t>Folds of this kind form when layers that have previously been extended are buckled. In that situation, recognition of this geometry allows one to appeal to two phases of deformation: (1) a phase of layer-parallel extension followed by (2) folding. As we shall see in the next class, these two phases may not be completely separate events but can be early and late stages of a single progressive deformation event</a:t>
            </a:r>
          </a:p>
          <a:p>
            <a:pPr marL="108000" indent="-108000">
              <a:lnSpc>
                <a:spcPct val="100000"/>
              </a:lnSpc>
              <a:spcBef>
                <a:spcPts val="300"/>
              </a:spcBef>
              <a:buClr>
                <a:schemeClr val="tx1"/>
              </a:buClr>
              <a:buFont typeface="Arial" panose="020B0604020202020204" pitchFamily="34" charset="0"/>
              <a:buChar char="•"/>
            </a:pPr>
            <a:r>
              <a:rPr lang="en-GB" altLang="en-US" sz="1000" dirty="0"/>
              <a:t>The effect of pinch-and-swell on folds has been investigated experimentally. The folds form such that the thicker parts of the layer (the ‘swells’) always rotate in the same direction so that they stack up in a fashion that looks superficially like imbrication. For further discussion, see Price &amp; Cosgrove, p.426-428</a:t>
            </a:r>
          </a:p>
          <a:p>
            <a:pPr marL="108000" indent="-108000">
              <a:lnSpc>
                <a:spcPct val="100000"/>
              </a:lnSpc>
              <a:spcBef>
                <a:spcPts val="300"/>
              </a:spcBef>
              <a:buClr>
                <a:schemeClr val="tx1"/>
              </a:buClr>
              <a:buFont typeface="Arial" panose="020B0604020202020204" pitchFamily="34" charset="0"/>
              <a:buChar char="•"/>
            </a:pPr>
            <a:r>
              <a:rPr lang="en-GB" altLang="en-US" sz="1000" dirty="0"/>
              <a:t>Photo top left (www.verityinsweden.blogspot.co.uk/2007/03/smallest-boudinage-sounds-like-kids.html): Cap de </a:t>
            </a:r>
            <a:r>
              <a:rPr lang="en-GB" altLang="en-US" sz="1000" dirty="0" err="1"/>
              <a:t>Creus</a:t>
            </a:r>
            <a:r>
              <a:rPr lang="en-GB" altLang="en-US" sz="1000" dirty="0"/>
              <a:t>, northern Spain</a:t>
            </a:r>
          </a:p>
          <a:p>
            <a:pPr marL="108000" indent="-108000">
              <a:lnSpc>
                <a:spcPct val="100000"/>
              </a:lnSpc>
              <a:spcBef>
                <a:spcPts val="300"/>
              </a:spcBef>
              <a:buClr>
                <a:schemeClr val="tx1"/>
              </a:buClr>
              <a:buFont typeface="Arial" panose="020B0604020202020204" pitchFamily="34" charset="0"/>
              <a:buChar char="•"/>
            </a:pPr>
            <a:r>
              <a:rPr lang="en-GB" altLang="en-US" sz="1000" dirty="0"/>
              <a:t>Photo top right (Steve Covey-Crump): </a:t>
            </a:r>
            <a:r>
              <a:rPr lang="en-US" altLang="en-US" sz="1000" dirty="0"/>
              <a:t>a folded quartzite bed, </a:t>
            </a:r>
            <a:r>
              <a:rPr lang="en-GB" altLang="en-US" sz="1000" dirty="0" err="1"/>
              <a:t>Kinlochleven</a:t>
            </a:r>
            <a:r>
              <a:rPr lang="en-GB" altLang="en-US" sz="1000" dirty="0"/>
              <a:t>, Scotland. The quartzite is cross-bedded (</a:t>
            </a:r>
            <a:r>
              <a:rPr lang="en-GB" altLang="en-US" sz="1000" dirty="0" err="1"/>
              <a:t>younging</a:t>
            </a:r>
            <a:r>
              <a:rPr lang="en-GB" altLang="en-US" sz="1000" dirty="0"/>
              <a:t> upwards on the photo) but the point of interest for this class is the shape of the folded layer – note how one limb is much thicker than the other. This is evidence that the layer has been extended before the folding, that is, it provides evidence for at least two different phases of deformation</a:t>
            </a:r>
          </a:p>
          <a:p>
            <a:pPr marL="108000" indent="-108000">
              <a:lnSpc>
                <a:spcPct val="100000"/>
              </a:lnSpc>
              <a:spcBef>
                <a:spcPts val="300"/>
              </a:spcBef>
              <a:buClr>
                <a:schemeClr val="tx1"/>
              </a:buClr>
              <a:buFont typeface="Arial" panose="020B0604020202020204" pitchFamily="34" charset="0"/>
              <a:buChar char="•"/>
            </a:pPr>
            <a:r>
              <a:rPr lang="en-GB" altLang="en-US" sz="1000" dirty="0"/>
              <a:t>Photo bottom left (</a:t>
            </a:r>
            <a:r>
              <a:rPr lang="en-US" altLang="en-US" sz="1000" dirty="0"/>
              <a:t>Steve Covey-Crump</a:t>
            </a:r>
            <a:r>
              <a:rPr lang="en-GB" altLang="en-US" sz="1000" dirty="0"/>
              <a:t>)</a:t>
            </a:r>
            <a:r>
              <a:rPr lang="en-US" altLang="en-US" sz="1000" dirty="0"/>
              <a:t>: another folded quartzite bed, </a:t>
            </a:r>
            <a:r>
              <a:rPr lang="en-GB" altLang="en-US" sz="1000" dirty="0" err="1"/>
              <a:t>Kinlochleven</a:t>
            </a:r>
            <a:r>
              <a:rPr lang="en-GB" altLang="en-US" sz="1000" dirty="0"/>
              <a:t>, Scotland, showing a set of folds - in each fold one limb is much thicker than the other. Hence, again this is evidence of layer-parallel extension before the folding</a:t>
            </a:r>
          </a:p>
          <a:p>
            <a:pPr marL="108000" indent="-108000">
              <a:lnSpc>
                <a:spcPct val="100000"/>
              </a:lnSpc>
              <a:spcBef>
                <a:spcPts val="300"/>
              </a:spcBef>
              <a:buClr>
                <a:schemeClr val="tx1"/>
              </a:buClr>
              <a:buFontTx/>
              <a:buNone/>
            </a:pPr>
            <a:endParaRPr lang="en-GB" altLang="en-US" dirty="0"/>
          </a:p>
        </p:txBody>
      </p:sp>
    </p:spTree>
    <p:extLst>
      <p:ext uri="{BB962C8B-B14F-4D97-AF65-F5344CB8AC3E}">
        <p14:creationId xmlns:p14="http://schemas.microsoft.com/office/powerpoint/2010/main" val="38534636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3042" name="Rectangle 2"/>
          <p:cNvSpPr>
            <a:spLocks noGrp="1" noRot="1" noChangeAspect="1" noChangeArrowheads="1" noTextEdit="1"/>
          </p:cNvSpPr>
          <p:nvPr>
            <p:ph type="sldImg"/>
          </p:nvPr>
        </p:nvSpPr>
        <p:spPr>
          <a:ln/>
        </p:spPr>
      </p:sp>
      <p:sp>
        <p:nvSpPr>
          <p:cNvPr id="343043" name="Rectangle 3"/>
          <p:cNvSpPr>
            <a:spLocks noGrp="1" noChangeArrowheads="1"/>
          </p:cNvSpPr>
          <p:nvPr>
            <p:ph type="body" idx="1"/>
          </p:nvPr>
        </p:nvSpPr>
        <p:spPr>
          <a:noFill/>
        </p:spPr>
        <p:txBody>
          <a:bodyPr/>
          <a:lstStyle/>
          <a:p>
            <a:pPr marL="108000" indent="-108000">
              <a:spcBef>
                <a:spcPts val="300"/>
              </a:spcBef>
              <a:buFont typeface="Arial" panose="020B0604020202020204" pitchFamily="34" charset="0"/>
              <a:buChar char="•"/>
            </a:pPr>
            <a:r>
              <a:rPr lang="en-GB" altLang="en-US" sz="1000" dirty="0"/>
              <a:t>Figures from </a:t>
            </a:r>
            <a:r>
              <a:rPr lang="en-GB" altLang="en-US" sz="1000" dirty="0" err="1"/>
              <a:t>Hudleston</a:t>
            </a:r>
            <a:r>
              <a:rPr lang="en-GB" altLang="en-US" sz="1000" dirty="0"/>
              <a:t> &amp; </a:t>
            </a:r>
            <a:r>
              <a:rPr lang="en-GB" altLang="en-US" sz="1000" dirty="0" err="1"/>
              <a:t>Treagus</a:t>
            </a:r>
            <a:r>
              <a:rPr lang="en-GB" altLang="en-US" sz="1000" dirty="0"/>
              <a:t>, 2010, </a:t>
            </a:r>
            <a:r>
              <a:rPr lang="en-GB" altLang="en-US" sz="1000" i="1" dirty="0"/>
              <a:t>Journal of Structural Geology</a:t>
            </a:r>
            <a:r>
              <a:rPr lang="en-GB" altLang="en-US" sz="1000" dirty="0"/>
              <a:t> 32: 2042-2071, </a:t>
            </a:r>
            <a:r>
              <a:rPr lang="en-GB" sz="1000" dirty="0"/>
              <a:t>https://doi.org/10.1016/j.jsg.2010.08.011</a:t>
            </a:r>
            <a:endParaRPr lang="en-GB" altLang="en-US" sz="1000" dirty="0"/>
          </a:p>
          <a:p>
            <a:pPr marL="108000" indent="-108000">
              <a:spcBef>
                <a:spcPts val="300"/>
              </a:spcBef>
              <a:buFont typeface="Arial" panose="020B0604020202020204" pitchFamily="34" charset="0"/>
              <a:buNone/>
            </a:pPr>
            <a:endParaRPr lang="en-GB" altLang="en-US" sz="1000"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2018" name="Rectangle 2"/>
          <p:cNvSpPr>
            <a:spLocks noGrp="1" noRot="1" noChangeAspect="1" noChangeArrowheads="1" noTextEdit="1"/>
          </p:cNvSpPr>
          <p:nvPr>
            <p:ph type="sldImg"/>
          </p:nvPr>
        </p:nvSpPr>
        <p:spPr>
          <a:ln/>
        </p:spPr>
      </p:sp>
      <p:sp>
        <p:nvSpPr>
          <p:cNvPr id="342019" name="Rectangle 3"/>
          <p:cNvSpPr>
            <a:spLocks noGrp="1" noChangeArrowheads="1"/>
          </p:cNvSpPr>
          <p:nvPr>
            <p:ph type="body" idx="1"/>
          </p:nvPr>
        </p:nvSpPr>
        <p:spPr>
          <a:noFill/>
        </p:spPr>
        <p:txBody>
          <a:bodyPr/>
          <a:lstStyle/>
          <a:p>
            <a:pPr marL="108000" indent="-108000">
              <a:spcBef>
                <a:spcPts val="300"/>
              </a:spcBef>
              <a:buFont typeface="Arial" panose="020B0604020202020204" pitchFamily="34" charset="0"/>
              <a:buChar char="•"/>
            </a:pPr>
            <a:r>
              <a:rPr lang="en-GB" altLang="en-US" sz="1000" dirty="0"/>
              <a:t>Figure left from Ramsay &amp; Huber, p.406</a:t>
            </a:r>
          </a:p>
          <a:p>
            <a:pPr marL="108000" indent="-108000">
              <a:spcBef>
                <a:spcPts val="300"/>
              </a:spcBef>
              <a:buFont typeface="Arial" panose="020B0604020202020204" pitchFamily="34" charset="0"/>
              <a:buChar char="•"/>
            </a:pPr>
            <a:r>
              <a:rPr lang="en-GB" altLang="en-US" sz="1000" dirty="0"/>
              <a:t>Figure middle from Twiss &amp; </a:t>
            </a:r>
            <a:r>
              <a:rPr lang="en-GB" altLang="en-US" sz="1000" dirty="0" err="1"/>
              <a:t>Moores</a:t>
            </a:r>
            <a:r>
              <a:rPr lang="en-GB" altLang="en-US" sz="1000" dirty="0"/>
              <a:t>, p.290. We noted the zone of influence on Slide 4</a:t>
            </a:r>
          </a:p>
          <a:p>
            <a:pPr marL="108000" indent="-108000">
              <a:spcBef>
                <a:spcPts val="300"/>
              </a:spcBef>
              <a:buFont typeface="Arial" panose="020B0604020202020204" pitchFamily="34" charset="0"/>
              <a:buChar char="•"/>
            </a:pPr>
            <a:r>
              <a:rPr lang="en-GB" altLang="en-US" sz="1000" dirty="0"/>
              <a:t>Figure right from Ramsay, 1967, </a:t>
            </a:r>
            <a:r>
              <a:rPr lang="en-GB" altLang="en-US" sz="1000" i="1" dirty="0"/>
              <a:t>Folding and Fracturing of Rocks</a:t>
            </a:r>
            <a:r>
              <a:rPr lang="en-GB" altLang="en-US" sz="1000" dirty="0"/>
              <a:t>, p.380, but deriving ultimately from Ramberg, 1964, </a:t>
            </a:r>
            <a:r>
              <a:rPr lang="en-GB" altLang="en-US" sz="1000" i="1" dirty="0"/>
              <a:t>Tectonophysics</a:t>
            </a:r>
            <a:r>
              <a:rPr lang="en-GB" altLang="en-US" sz="1000" dirty="0"/>
              <a:t> 1: 307-341, </a:t>
            </a:r>
            <a:r>
              <a:rPr lang="en-GB" sz="1000" dirty="0"/>
              <a:t>https://doi.org/10.1016/0040-1951(64)90020-4</a:t>
            </a:r>
            <a:endParaRPr lang="en-GB" altLang="en-US" sz="1000" dirty="0"/>
          </a:p>
          <a:p>
            <a:pPr marL="108000" indent="-108000">
              <a:spcBef>
                <a:spcPts val="300"/>
              </a:spcBef>
              <a:buFont typeface="Arial" panose="020B0604020202020204" pitchFamily="34" charset="0"/>
              <a:buNone/>
            </a:pPr>
            <a:endParaRPr lang="en-GB" altLang="en-US" sz="1000"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42" name="Rectangle 2"/>
          <p:cNvSpPr>
            <a:spLocks noGrp="1" noRot="1" noChangeAspect="1" noChangeArrowheads="1" noTextEdit="1"/>
          </p:cNvSpPr>
          <p:nvPr>
            <p:ph type="sldImg"/>
          </p:nvPr>
        </p:nvSpPr>
        <p:spPr>
          <a:ln/>
        </p:spPr>
      </p:sp>
      <p:sp>
        <p:nvSpPr>
          <p:cNvPr id="266243" name="Rectangle 3"/>
          <p:cNvSpPr>
            <a:spLocks noGrp="1" noChangeArrowheads="1"/>
          </p:cNvSpPr>
          <p:nvPr>
            <p:ph type="body" idx="1"/>
          </p:nvPr>
        </p:nvSpPr>
        <p:spPr>
          <a:noFill/>
        </p:spPr>
        <p:txBody>
          <a:bodyPr/>
          <a:lstStyle/>
          <a:p>
            <a:pPr marL="108000" indent="-108000">
              <a:spcBef>
                <a:spcPts val="300"/>
              </a:spcBef>
              <a:buFont typeface="Arial" panose="020B0604020202020204" pitchFamily="34" charset="0"/>
              <a:buChar char="•"/>
            </a:pPr>
            <a:r>
              <a:rPr lang="en-GB" altLang="en-US" sz="1000" dirty="0"/>
              <a:t>In ptygmatic folds the limbs commonly curve back on themselves</a:t>
            </a:r>
          </a:p>
          <a:p>
            <a:pPr marL="108000" indent="-108000">
              <a:spcBef>
                <a:spcPts val="300"/>
              </a:spcBef>
              <a:buFont typeface="Arial" panose="020B0604020202020204" pitchFamily="34" charset="0"/>
              <a:buChar char="•"/>
            </a:pPr>
            <a:r>
              <a:rPr lang="en-GB" altLang="en-US" sz="1000" dirty="0"/>
              <a:t>Figure left from Twiss &amp; </a:t>
            </a:r>
            <a:r>
              <a:rPr lang="en-GB" altLang="en-US" sz="1000" dirty="0" err="1"/>
              <a:t>Moores</a:t>
            </a:r>
            <a:r>
              <a:rPr lang="en-GB" altLang="en-US" sz="1000" dirty="0"/>
              <a:t>, p.379</a:t>
            </a:r>
          </a:p>
          <a:p>
            <a:pPr marL="108000" indent="-108000">
              <a:spcBef>
                <a:spcPts val="300"/>
              </a:spcBef>
              <a:buFont typeface="Arial" panose="020B0604020202020204" pitchFamily="34" charset="0"/>
              <a:buChar char="•"/>
            </a:pPr>
            <a:r>
              <a:rPr lang="en-GB" altLang="en-US" sz="1000" dirty="0"/>
              <a:t>Photo (Steve Covey-Crump): </a:t>
            </a:r>
            <a:r>
              <a:rPr lang="en-GB" altLang="en-US" sz="1000" dirty="0" err="1"/>
              <a:t>ptygmatically</a:t>
            </a:r>
            <a:r>
              <a:rPr lang="en-GB" altLang="en-US" sz="1000" dirty="0"/>
              <a:t> folded vein in the </a:t>
            </a:r>
            <a:r>
              <a:rPr lang="en-GB" altLang="en-US" sz="1000" dirty="0" err="1"/>
              <a:t>Ardalanish</a:t>
            </a:r>
            <a:r>
              <a:rPr lang="en-GB" altLang="en-US" sz="1000" dirty="0"/>
              <a:t> Striped and Banded Formation (part of the </a:t>
            </a:r>
            <a:r>
              <a:rPr lang="en-GB" altLang="en-US" sz="1000" dirty="0" err="1"/>
              <a:t>Moine</a:t>
            </a:r>
            <a:r>
              <a:rPr lang="en-GB" altLang="en-US" sz="1000" dirty="0"/>
              <a:t> metasedimentary sequence), Ross of Mull, Scotland</a:t>
            </a:r>
          </a:p>
          <a:p>
            <a:pPr marL="108000" indent="-108000">
              <a:spcBef>
                <a:spcPts val="300"/>
              </a:spcBef>
              <a:buFont typeface="Arial" panose="020B0604020202020204" pitchFamily="34" charset="0"/>
              <a:buNone/>
            </a:pPr>
            <a:endParaRPr lang="en-GB" altLang="en-US" sz="1000"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9074" name="Rectangle 2"/>
          <p:cNvSpPr>
            <a:spLocks noGrp="1" noRot="1" noChangeAspect="1" noChangeArrowheads="1" noTextEdit="1"/>
          </p:cNvSpPr>
          <p:nvPr>
            <p:ph type="sldImg"/>
          </p:nvPr>
        </p:nvSpPr>
        <p:spPr>
          <a:ln/>
        </p:spPr>
      </p:sp>
      <p:sp>
        <p:nvSpPr>
          <p:cNvPr id="259075" name="Rectangle 3"/>
          <p:cNvSpPr>
            <a:spLocks noGrp="1" noChangeArrowheads="1"/>
          </p:cNvSpPr>
          <p:nvPr>
            <p:ph type="body" idx="1"/>
          </p:nvPr>
        </p:nvSpPr>
        <p:spPr>
          <a:noFill/>
        </p:spPr>
        <p:txBody>
          <a:bodyPr/>
          <a:lstStyle/>
          <a:p>
            <a:pPr marL="108000" indent="-108000">
              <a:spcBef>
                <a:spcPts val="300"/>
              </a:spcBef>
              <a:buFont typeface="Arial" panose="020B0604020202020204" pitchFamily="34" charset="0"/>
              <a:buChar char="•"/>
            </a:pPr>
            <a:r>
              <a:rPr lang="en-GB" altLang="en-US" sz="1000" dirty="0"/>
              <a:t>The photo on this slide shows a relatively thick layer that started to fold early but then subsequently had to adjust its shape to conform to the fold shape of the whole multilayer. It did so by forming a keel-like hinge. Note that on the slide I say that the shape of thin layers generally needs to adjust to accommodate the shape of some thick, controlling layer. The case shown in the photo is the reverse situation (shape of a thick layer was controlled by the shape of a package of thin layers) - this arises when chevron folds form (chevron folds are folds with ‘sharp’ hinges, see Class 1 Slide 18) because in chevron folds the dip of the limbs for a given amount of shortening depends upon layer thickness (see Price &amp; Cosgrove, p.319ff, or Ramsay and Huber, vol.2, p.422ff)</a:t>
            </a:r>
          </a:p>
          <a:p>
            <a:pPr marL="108000" indent="-108000">
              <a:spcBef>
                <a:spcPts val="300"/>
              </a:spcBef>
              <a:buFont typeface="Arial" panose="020B0604020202020204" pitchFamily="34" charset="0"/>
              <a:buChar char="•"/>
            </a:pPr>
            <a:r>
              <a:rPr lang="en-GB" altLang="en-US" sz="1000" dirty="0"/>
              <a:t>Photo (Steve Covey-Crump): Warren Beach, north side of Hartland Quay, north Devon. For a straightforward guide to the geology of this classic folding locality, see Cornford &amp; Childs, 1989, </a:t>
            </a:r>
            <a:r>
              <a:rPr lang="en-GB" altLang="en-US" sz="1000" i="1" dirty="0"/>
              <a:t>Geology at Hartland Quay</a:t>
            </a:r>
          </a:p>
          <a:p>
            <a:pPr marL="108000" indent="-108000">
              <a:spcBef>
                <a:spcPts val="300"/>
              </a:spcBef>
              <a:buFont typeface="Arial" panose="020B0604020202020204" pitchFamily="34" charset="0"/>
              <a:buChar char="•"/>
            </a:pPr>
            <a:r>
              <a:rPr lang="en-GB" altLang="en-US" sz="1000" dirty="0"/>
              <a:t>Figure from Price &amp; Cosgrove, p.320</a:t>
            </a:r>
          </a:p>
          <a:p>
            <a:pPr marL="108000" indent="-108000">
              <a:spcBef>
                <a:spcPts val="300"/>
              </a:spcBef>
              <a:buFont typeface="Arial" panose="020B0604020202020204" pitchFamily="34" charset="0"/>
              <a:buNone/>
            </a:pPr>
            <a:endParaRPr lang="en-GB" altLang="en-US" sz="1000"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5218" name="Rectangle 2"/>
          <p:cNvSpPr>
            <a:spLocks noGrp="1" noRot="1" noChangeAspect="1" noChangeArrowheads="1" noTextEdit="1"/>
          </p:cNvSpPr>
          <p:nvPr>
            <p:ph type="sldImg"/>
          </p:nvPr>
        </p:nvSpPr>
        <p:spPr>
          <a:ln/>
        </p:spPr>
      </p:sp>
      <p:sp>
        <p:nvSpPr>
          <p:cNvPr id="265219" name="Rectangle 3"/>
          <p:cNvSpPr>
            <a:spLocks noGrp="1" noChangeArrowheads="1"/>
          </p:cNvSpPr>
          <p:nvPr>
            <p:ph type="body" idx="1"/>
          </p:nvPr>
        </p:nvSpPr>
        <p:spPr>
          <a:noFill/>
        </p:spPr>
        <p:txBody>
          <a:bodyPr/>
          <a:lstStyle/>
          <a:p>
            <a:pPr marL="108000" indent="-108000">
              <a:spcBef>
                <a:spcPts val="300"/>
              </a:spcBef>
              <a:buFont typeface="Arial" panose="020B0604020202020204" pitchFamily="34" charset="0"/>
              <a:buChar char="•"/>
            </a:pPr>
            <a:r>
              <a:rPr lang="en-GB" altLang="en-US" sz="1000" dirty="0"/>
              <a:t>Photo left (</a:t>
            </a:r>
            <a:r>
              <a:rPr lang="en-GB" altLang="en-US" sz="1000" dirty="0" err="1"/>
              <a:t>Fossen</a:t>
            </a:r>
            <a:r>
              <a:rPr lang="en-GB" altLang="en-US" sz="1000" dirty="0"/>
              <a:t>, one of the extra figures on the web-site for his book, folk.uib.no/</a:t>
            </a:r>
            <a:r>
              <a:rPr lang="en-GB" altLang="en-US" sz="1000" dirty="0" err="1"/>
              <a:t>nglhe</a:t>
            </a:r>
            <a:r>
              <a:rPr lang="en-GB" altLang="en-US" sz="1000" dirty="0"/>
              <a:t>/StructuralGeoBook.html): Palmdale, California (deformation associated with the San Andreas Fault)</a:t>
            </a:r>
          </a:p>
          <a:p>
            <a:pPr marL="108000" indent="-108000">
              <a:spcBef>
                <a:spcPts val="300"/>
              </a:spcBef>
              <a:buFont typeface="Arial" panose="020B0604020202020204" pitchFamily="34" charset="0"/>
              <a:buChar char="•"/>
            </a:pPr>
            <a:r>
              <a:rPr lang="en-GB" altLang="en-US" sz="1000" dirty="0"/>
              <a:t>Photo right (Steve Covey-Crump): Les </a:t>
            </a:r>
            <a:r>
              <a:rPr lang="en-GB" altLang="en-US" sz="1000" dirty="0" err="1"/>
              <a:t>Sauzeries</a:t>
            </a:r>
            <a:r>
              <a:rPr lang="en-GB" altLang="en-US" sz="1000" dirty="0"/>
              <a:t> Formation mudstones in the </a:t>
            </a:r>
            <a:r>
              <a:rPr lang="en-GB" altLang="en-US" sz="1000" dirty="0" err="1"/>
              <a:t>Barrême</a:t>
            </a:r>
            <a:r>
              <a:rPr lang="en-GB" altLang="en-US" sz="1000" dirty="0"/>
              <a:t> Basin (at St. Jacques), France. Note that there is an additional thrust in the far limb which repeats the light-coloured layer</a:t>
            </a:r>
          </a:p>
          <a:p>
            <a:pPr marL="108000" indent="-108000">
              <a:spcBef>
                <a:spcPts val="300"/>
              </a:spcBef>
              <a:buFont typeface="Arial" panose="020B0604020202020204" pitchFamily="34" charset="0"/>
              <a:buChar char="•"/>
            </a:pPr>
            <a:r>
              <a:rPr lang="en-GB" altLang="en-US" sz="1000" dirty="0"/>
              <a:t>The three small figures are from Price &amp; Cosgrove, p.320</a:t>
            </a:r>
          </a:p>
          <a:p>
            <a:pPr marL="108000" indent="-108000">
              <a:spcBef>
                <a:spcPts val="300"/>
              </a:spcBef>
              <a:buFont typeface="Arial" panose="020B0604020202020204" pitchFamily="34" charset="0"/>
              <a:buNone/>
            </a:pPr>
            <a:endParaRPr lang="en-GB" altLang="en-US" sz="1000"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7266" name="Rectangle 2"/>
          <p:cNvSpPr>
            <a:spLocks noGrp="1" noRot="1" noChangeAspect="1" noChangeArrowheads="1" noTextEdit="1"/>
          </p:cNvSpPr>
          <p:nvPr>
            <p:ph type="sldImg"/>
          </p:nvPr>
        </p:nvSpPr>
        <p:spPr>
          <a:ln/>
        </p:spPr>
      </p:sp>
      <p:sp>
        <p:nvSpPr>
          <p:cNvPr id="267267" name="Rectangle 3"/>
          <p:cNvSpPr>
            <a:spLocks noGrp="1" noChangeArrowheads="1"/>
          </p:cNvSpPr>
          <p:nvPr>
            <p:ph type="body" idx="1"/>
          </p:nvPr>
        </p:nvSpPr>
        <p:spPr>
          <a:noFill/>
        </p:spPr>
        <p:txBody>
          <a:bodyPr/>
          <a:lstStyle/>
          <a:p>
            <a:pPr marL="108000" indent="-108000">
              <a:spcBef>
                <a:spcPts val="300"/>
              </a:spcBef>
              <a:buFont typeface="Arial" panose="020B0604020202020204" pitchFamily="34" charset="0"/>
              <a:buChar char="•"/>
            </a:pPr>
            <a:r>
              <a:rPr lang="en-GB" altLang="en-US" sz="1000" dirty="0">
                <a:latin typeface="Times New Roman" panose="02020603050405020304" pitchFamily="18" charset="0"/>
                <a:cs typeface="Times New Roman" panose="02020603050405020304" pitchFamily="18" charset="0"/>
              </a:rPr>
              <a:t>A helpful introduction to the buckling of anisotropic rocks is given by Price &amp; Cosgrove, Chapter 13</a:t>
            </a:r>
          </a:p>
          <a:p>
            <a:pPr marL="108000" indent="-108000">
              <a:spcBef>
                <a:spcPts val="300"/>
              </a:spcBef>
              <a:buFont typeface="Arial" panose="020B0604020202020204" pitchFamily="34" charset="0"/>
              <a:buChar char="•"/>
            </a:pPr>
            <a:r>
              <a:rPr lang="en-GB" altLang="en-US" sz="1000" dirty="0">
                <a:latin typeface="Times New Roman" panose="02020603050405020304" pitchFamily="18" charset="0"/>
                <a:cs typeface="Times New Roman" panose="02020603050405020304" pitchFamily="18" charset="0"/>
              </a:rPr>
              <a:t>We will consider more rigorous definitions of terms like compression and shear in Class 3</a:t>
            </a:r>
          </a:p>
          <a:p>
            <a:pPr marL="108000" indent="-108000">
              <a:spcBef>
                <a:spcPts val="300"/>
              </a:spcBef>
              <a:buFont typeface="Arial" panose="020B0604020202020204" pitchFamily="34" charset="0"/>
              <a:buChar char="•"/>
            </a:pPr>
            <a:r>
              <a:rPr lang="en-GB" altLang="en-US" sz="1000" dirty="0">
                <a:latin typeface="Times New Roman" panose="02020603050405020304" pitchFamily="18" charset="0"/>
                <a:cs typeface="Times New Roman" panose="02020603050405020304" pitchFamily="18" charset="0"/>
              </a:rPr>
              <a:t>Mathematically, an instability arises when the solution to an equation is very sensitive to the values of the input parameters, </a:t>
            </a:r>
            <a:r>
              <a:rPr lang="en-GB" altLang="en-US" sz="1000" i="1" dirty="0">
                <a:latin typeface="Times New Roman" panose="02020603050405020304" pitchFamily="18" charset="0"/>
                <a:cs typeface="Times New Roman" panose="02020603050405020304" pitchFamily="18" charset="0"/>
              </a:rPr>
              <a:t>e.g</a:t>
            </a:r>
            <a:r>
              <a:rPr lang="en-GB" altLang="en-US" sz="1000" dirty="0">
                <a:latin typeface="Times New Roman" panose="02020603050405020304" pitchFamily="18" charset="0"/>
                <a:cs typeface="Times New Roman" panose="02020603050405020304" pitchFamily="18" charset="0"/>
              </a:rPr>
              <a:t>., if the solution to an equation using the value </a:t>
            </a:r>
            <a:r>
              <a:rPr lang="en-GB" altLang="en-US" sz="1000" i="1" dirty="0">
                <a:latin typeface="Times New Roman" panose="02020603050405020304" pitchFamily="18" charset="0"/>
                <a:cs typeface="Times New Roman" panose="02020603050405020304" pitchFamily="18" charset="0"/>
              </a:rPr>
              <a:t>x </a:t>
            </a:r>
            <a:r>
              <a:rPr lang="en-GB" altLang="en-US" sz="1000" dirty="0">
                <a:latin typeface="Times New Roman" panose="02020603050405020304" pitchFamily="18" charset="0"/>
                <a:cs typeface="Times New Roman" panose="02020603050405020304" pitchFamily="18" charset="0"/>
              </a:rPr>
              <a:t>+ </a:t>
            </a:r>
            <a:r>
              <a:rPr lang="en-GB" altLang="en-US" sz="1000" i="1" spc="100" baseline="0" dirty="0">
                <a:latin typeface="Times New Roman" panose="02020603050405020304" pitchFamily="18" charset="0"/>
                <a:cs typeface="Times New Roman" panose="02020603050405020304" pitchFamily="18" charset="0"/>
                <a:sym typeface="Symbol" panose="05050102010706020507" pitchFamily="18" charset="2"/>
              </a:rPr>
              <a:t></a:t>
            </a:r>
            <a:r>
              <a:rPr lang="en-GB" altLang="en-US" sz="1000" i="1" dirty="0">
                <a:latin typeface="Times New Roman" panose="02020603050405020304" pitchFamily="18" charset="0"/>
                <a:cs typeface="Times New Roman" panose="02020603050405020304" pitchFamily="18" charset="0"/>
              </a:rPr>
              <a:t>x</a:t>
            </a:r>
            <a:r>
              <a:rPr lang="en-GB" altLang="en-US" sz="1000" dirty="0">
                <a:latin typeface="Times New Roman" panose="02020603050405020304" pitchFamily="18" charset="0"/>
                <a:cs typeface="Times New Roman" panose="02020603050405020304" pitchFamily="18" charset="0"/>
              </a:rPr>
              <a:t> where </a:t>
            </a:r>
            <a:r>
              <a:rPr lang="en-GB" altLang="en-US" sz="1000" i="1" spc="100" baseline="0" dirty="0">
                <a:latin typeface="Times New Roman" panose="02020603050405020304" pitchFamily="18" charset="0"/>
                <a:cs typeface="Times New Roman" panose="02020603050405020304" pitchFamily="18" charset="0"/>
                <a:sym typeface="Symbol" panose="05050102010706020507" pitchFamily="18" charset="2"/>
              </a:rPr>
              <a:t></a:t>
            </a:r>
            <a:r>
              <a:rPr lang="en-GB" altLang="en-US" sz="1000" i="1" dirty="0">
                <a:latin typeface="Times New Roman" panose="02020603050405020304" pitchFamily="18" charset="0"/>
                <a:cs typeface="Times New Roman" panose="02020603050405020304" pitchFamily="18" charset="0"/>
              </a:rPr>
              <a:t>x</a:t>
            </a:r>
            <a:r>
              <a:rPr lang="en-GB" altLang="en-US" sz="1000" dirty="0">
                <a:latin typeface="Times New Roman" panose="02020603050405020304" pitchFamily="18" charset="0"/>
                <a:cs typeface="Times New Roman" panose="02020603050405020304" pitchFamily="18" charset="0"/>
              </a:rPr>
              <a:t> is very small, is very different to the solution using the value </a:t>
            </a:r>
            <a:r>
              <a:rPr lang="en-GB" altLang="en-US" sz="1000" i="1" dirty="0">
                <a:latin typeface="Times New Roman" panose="02020603050405020304" pitchFamily="18" charset="0"/>
                <a:cs typeface="Times New Roman" panose="02020603050405020304" pitchFamily="18" charset="0"/>
              </a:rPr>
              <a:t>x</a:t>
            </a:r>
            <a:endParaRPr lang="en-GB" altLang="en-US" sz="1000" dirty="0">
              <a:latin typeface="Times New Roman" panose="02020603050405020304" pitchFamily="18" charset="0"/>
              <a:cs typeface="Times New Roman" panose="02020603050405020304" pitchFamily="18" charset="0"/>
            </a:endParaRPr>
          </a:p>
          <a:p>
            <a:pPr marL="108000" indent="-108000">
              <a:spcBef>
                <a:spcPts val="300"/>
              </a:spcBef>
              <a:buFont typeface="Arial" panose="020B0604020202020204" pitchFamily="34" charset="0"/>
              <a:buChar char="•"/>
            </a:pPr>
            <a:r>
              <a:rPr lang="en-GB" altLang="en-US" sz="1000" dirty="0">
                <a:latin typeface="Times New Roman" panose="02020603050405020304" pitchFamily="18" charset="0"/>
                <a:cs typeface="Times New Roman" panose="02020603050405020304" pitchFamily="18" charset="0"/>
              </a:rPr>
              <a:t>Figure by Steve Covey-Crump</a:t>
            </a:r>
          </a:p>
          <a:p>
            <a:pPr marL="108000" indent="-108000">
              <a:spcBef>
                <a:spcPts val="300"/>
              </a:spcBef>
              <a:buFont typeface="Arial" panose="020B0604020202020204" pitchFamily="34" charset="0"/>
              <a:buNone/>
            </a:pPr>
            <a:endParaRPr lang="en-GB" altLang="en-US" sz="1000" i="1" dirty="0">
              <a:latin typeface="Times New Roman" panose="02020603050405020304" pitchFamily="18" charset="0"/>
              <a:cs typeface="Times New Roman" panose="02020603050405020304" pitchFamily="18" charset="0"/>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7554" name="Rectangle 2"/>
          <p:cNvSpPr>
            <a:spLocks noGrp="1" noRot="1" noChangeAspect="1" noChangeArrowheads="1" noTextEdit="1"/>
          </p:cNvSpPr>
          <p:nvPr>
            <p:ph type="sldImg"/>
          </p:nvPr>
        </p:nvSpPr>
        <p:spPr>
          <a:ln/>
        </p:spPr>
      </p:sp>
      <p:sp>
        <p:nvSpPr>
          <p:cNvPr id="407555" name="Rectangle 3"/>
          <p:cNvSpPr>
            <a:spLocks noGrp="1" noChangeArrowheads="1"/>
          </p:cNvSpPr>
          <p:nvPr>
            <p:ph type="body" idx="1"/>
          </p:nvPr>
        </p:nvSpPr>
        <p:spPr>
          <a:noFill/>
        </p:spPr>
        <p:txBody>
          <a:bodyPr/>
          <a:lstStyle/>
          <a:p>
            <a:pPr marL="108000" indent="-108000">
              <a:spcBef>
                <a:spcPts val="300"/>
              </a:spcBef>
              <a:buFont typeface="Arial" panose="020B0604020202020204" pitchFamily="34" charset="0"/>
              <a:buChar char="•"/>
            </a:pPr>
            <a:r>
              <a:rPr lang="en-GB" altLang="en-US" sz="1000" dirty="0"/>
              <a:t>Photo top right (BGS image database: geoscenic.bgs.ac.uk/asset-bank/action/</a:t>
            </a:r>
            <a:r>
              <a:rPr lang="en-GB" altLang="en-US" sz="1000" dirty="0" err="1"/>
              <a:t>viewHome</a:t>
            </a:r>
            <a:r>
              <a:rPr lang="en-GB" altLang="en-US" sz="1000" dirty="0"/>
              <a:t>, image P005823): chevron folds in Late Ordovician thinly interbedded sandstones and mudstones, </a:t>
            </a:r>
            <a:r>
              <a:rPr lang="en-GB" altLang="en-US" sz="1000" dirty="0" err="1"/>
              <a:t>Ardwell</a:t>
            </a:r>
            <a:r>
              <a:rPr lang="en-GB" altLang="en-US" sz="1000" dirty="0"/>
              <a:t>, south of Girvan, Scotland. The short middle limb can be described as a kink band (here, a dextral </a:t>
            </a:r>
            <a:r>
              <a:rPr lang="en-GB" altLang="en-US" sz="1000" dirty="0" err="1"/>
              <a:t>contractional</a:t>
            </a:r>
            <a:r>
              <a:rPr lang="en-GB" altLang="en-US" sz="1000" dirty="0"/>
              <a:t> kink band – see next slide)</a:t>
            </a:r>
          </a:p>
          <a:p>
            <a:pPr marL="108000" indent="-108000">
              <a:spcBef>
                <a:spcPts val="300"/>
              </a:spcBef>
              <a:buFont typeface="Arial" panose="020B0604020202020204" pitchFamily="34" charset="0"/>
              <a:buChar char="•"/>
            </a:pPr>
            <a:r>
              <a:rPr lang="en-GB" altLang="en-US" sz="1000" dirty="0"/>
              <a:t>Photo bottom left (Steve Covey-Crump): kink-like folds in Carboniferous units, </a:t>
            </a:r>
            <a:r>
              <a:rPr lang="en-GB" altLang="en-US" sz="1000" dirty="0" err="1"/>
              <a:t>Penally</a:t>
            </a:r>
            <a:r>
              <a:rPr lang="en-GB" altLang="en-US" sz="1000" dirty="0"/>
              <a:t> Point, north side of Boscastle Harbour, north Cornwall. For an account of the folding at this locality, see Dearman &amp; </a:t>
            </a:r>
            <a:r>
              <a:rPr lang="en-GB" altLang="en-US" sz="1000" dirty="0" err="1"/>
              <a:t>Freshney</a:t>
            </a:r>
            <a:r>
              <a:rPr lang="en-GB" altLang="en-US" sz="1000" dirty="0"/>
              <a:t>, 1966, </a:t>
            </a:r>
            <a:r>
              <a:rPr lang="en-GB" altLang="en-US" sz="1000" i="1" dirty="0"/>
              <a:t>Proceedings of the Geologists' Association</a:t>
            </a:r>
            <a:r>
              <a:rPr lang="en-GB" altLang="en-US" sz="1000" dirty="0"/>
              <a:t> 77: 199-213, </a:t>
            </a:r>
            <a:r>
              <a:rPr lang="en-GB" sz="1000" dirty="0"/>
              <a:t>https://doi.org/10.1016/S0016-7878(66)80070-6</a:t>
            </a:r>
            <a:endParaRPr lang="en-GB" altLang="en-US" sz="1000" dirty="0"/>
          </a:p>
          <a:p>
            <a:pPr marL="108000" indent="-108000">
              <a:spcBef>
                <a:spcPts val="300"/>
              </a:spcBef>
              <a:buFont typeface="Arial" panose="020B0604020202020204" pitchFamily="34" charset="0"/>
              <a:buChar char="•"/>
            </a:pPr>
            <a:r>
              <a:rPr lang="en-GB" altLang="en-US" sz="1000" dirty="0"/>
              <a:t>Photo bottom right (Fossen, p.273): conjugate contractional kink bands defining a box fold, from Bergen, Norway</a:t>
            </a:r>
          </a:p>
          <a:p>
            <a:pPr marL="108000" indent="-108000">
              <a:spcBef>
                <a:spcPts val="300"/>
              </a:spcBef>
              <a:buFont typeface="Arial" panose="020B0604020202020204" pitchFamily="34" charset="0"/>
              <a:buNone/>
            </a:pPr>
            <a:endParaRPr lang="en-GB" altLang="en-US" sz="1000"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7506" name="Rectangle 2"/>
          <p:cNvSpPr>
            <a:spLocks noGrp="1" noRot="1" noChangeAspect="1" noChangeArrowheads="1" noTextEdit="1"/>
          </p:cNvSpPr>
          <p:nvPr>
            <p:ph type="sldImg"/>
          </p:nvPr>
        </p:nvSpPr>
        <p:spPr>
          <a:ln/>
        </p:spPr>
      </p:sp>
      <p:sp>
        <p:nvSpPr>
          <p:cNvPr id="277507" name="Rectangle 3"/>
          <p:cNvSpPr>
            <a:spLocks noGrp="1" noChangeArrowheads="1"/>
          </p:cNvSpPr>
          <p:nvPr>
            <p:ph type="body" idx="1"/>
          </p:nvPr>
        </p:nvSpPr>
        <p:spPr>
          <a:noFill/>
        </p:spPr>
        <p:txBody>
          <a:bodyPr/>
          <a:lstStyle/>
          <a:p>
            <a:pPr marL="108000" indent="-108000">
              <a:spcBef>
                <a:spcPts val="300"/>
              </a:spcBef>
              <a:buFont typeface="Arial" panose="020B0604020202020204" pitchFamily="34" charset="0"/>
              <a:buChar char="•"/>
            </a:pPr>
            <a:r>
              <a:rPr lang="en-GB" altLang="en-US" sz="1000" dirty="0"/>
              <a:t>A Class 2 fold is a similar fold – the layer thickness parallel to the axial plane is constant around the fold (see Class 1 Slide 20)</a:t>
            </a:r>
          </a:p>
          <a:p>
            <a:pPr marL="108000" indent="-108000">
              <a:spcBef>
                <a:spcPts val="300"/>
              </a:spcBef>
              <a:buFont typeface="Arial" panose="020B0604020202020204" pitchFamily="34" charset="0"/>
              <a:buChar char="•"/>
            </a:pPr>
            <a:r>
              <a:rPr lang="en-GB" altLang="en-US" sz="1000" dirty="0"/>
              <a:t>Although kink bands are geometrically simple features, their mechanism of formation presents a number of challenges (see Weiss, 1980, </a:t>
            </a:r>
            <a:r>
              <a:rPr lang="en-GB" altLang="en-US" sz="1000" i="1" dirty="0"/>
              <a:t>Tectonophysics</a:t>
            </a:r>
            <a:r>
              <a:rPr lang="en-GB" altLang="en-US" sz="1000" dirty="0"/>
              <a:t> 65: 1-38, </a:t>
            </a:r>
            <a:r>
              <a:rPr lang="en-GB" sz="1000" dirty="0"/>
              <a:t>https://doi.org/10.1016/0040-1951(80)90221-8</a:t>
            </a:r>
            <a:r>
              <a:rPr lang="en-GB" altLang="en-US" sz="1000" dirty="0"/>
              <a:t>)</a:t>
            </a:r>
          </a:p>
          <a:p>
            <a:pPr marL="108000" indent="-108000">
              <a:spcBef>
                <a:spcPts val="300"/>
              </a:spcBef>
              <a:buFont typeface="Arial" panose="020B0604020202020204" pitchFamily="34" charset="0"/>
              <a:buChar char="•"/>
            </a:pPr>
            <a:r>
              <a:rPr lang="en-GB" altLang="en-US" sz="1000" dirty="0"/>
              <a:t>Photo (BGS image database: geoscenic.bgs.ac.uk/asset-bank/action/</a:t>
            </a:r>
            <a:r>
              <a:rPr lang="en-GB" altLang="en-US" sz="1000" dirty="0" err="1"/>
              <a:t>viewHome</a:t>
            </a:r>
            <a:r>
              <a:rPr lang="en-GB" altLang="en-US" sz="1000" dirty="0"/>
              <a:t>, image P210253): two dextral contractional kink bands in Carboniferous slates, foot of the quayside on the south side of Boscastle Harbour, north Cornwall</a:t>
            </a:r>
          </a:p>
          <a:p>
            <a:pPr marL="108000" indent="-108000">
              <a:spcBef>
                <a:spcPts val="300"/>
              </a:spcBef>
              <a:buFont typeface="Arial" panose="020B0604020202020204" pitchFamily="34" charset="0"/>
              <a:buChar char="•"/>
            </a:pPr>
            <a:r>
              <a:rPr lang="en-GB" altLang="en-US" sz="1000" dirty="0"/>
              <a:t>Figure top right compiled by Steve Covey-Crump from Price &amp; Cosgrove, p.247</a:t>
            </a:r>
          </a:p>
          <a:p>
            <a:pPr marL="108000" indent="-108000">
              <a:spcBef>
                <a:spcPts val="300"/>
              </a:spcBef>
              <a:buFont typeface="Arial" panose="020B0604020202020204" pitchFamily="34" charset="0"/>
              <a:buChar char="•"/>
            </a:pPr>
            <a:r>
              <a:rPr lang="en-GB" altLang="en-US" sz="1000" dirty="0"/>
              <a:t>Figure bottom right by Steve Covey-Crump. Using these orientations and angles, one can say something about the amount of shortening and volume change during the deformation (see Ramsay &amp; Huber, p.427-433) and something about the orientation of the stresses responsible for them (see Ramsay &amp; Huber, Question 20.4, p.410-411 and p.434-435)</a:t>
            </a:r>
          </a:p>
          <a:p>
            <a:pPr marL="108000" indent="-108000">
              <a:spcBef>
                <a:spcPts val="300"/>
              </a:spcBef>
              <a:buFont typeface="Arial" panose="020B0604020202020204" pitchFamily="34" charset="0"/>
              <a:buNone/>
            </a:pPr>
            <a:endParaRPr lang="en-GB" altLang="en-US" sz="1000"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1602" name="Rectangle 2"/>
          <p:cNvSpPr>
            <a:spLocks noGrp="1" noRot="1" noChangeAspect="1" noChangeArrowheads="1" noTextEdit="1"/>
          </p:cNvSpPr>
          <p:nvPr>
            <p:ph type="sldImg"/>
          </p:nvPr>
        </p:nvSpPr>
        <p:spPr>
          <a:ln/>
        </p:spPr>
      </p:sp>
      <p:sp>
        <p:nvSpPr>
          <p:cNvPr id="281603" name="Rectangle 3"/>
          <p:cNvSpPr>
            <a:spLocks noGrp="1" noChangeArrowheads="1"/>
          </p:cNvSpPr>
          <p:nvPr>
            <p:ph type="body" idx="1"/>
          </p:nvPr>
        </p:nvSpPr>
        <p:spPr>
          <a:noFill/>
        </p:spPr>
        <p:txBody>
          <a:bodyPr/>
          <a:lstStyle/>
          <a:p>
            <a:pPr marL="108000" indent="-108000">
              <a:spcBef>
                <a:spcPts val="300"/>
              </a:spcBef>
              <a:buFont typeface="Arial" panose="020B0604020202020204" pitchFamily="34" charset="0"/>
              <a:buChar char="•"/>
            </a:pPr>
            <a:r>
              <a:rPr lang="en-GB" altLang="en-US" sz="1000" dirty="0"/>
              <a:t>We defined buckling as the flexing or folding of a surface by a compressive stress directed along that surface (Slide 2). In the bottom three panes we refer to buckling arising when a load is applied normal to the layering. This is not a contradiction – in the figure we are assuming that each illustrated rectangle cannot expand in the vertical direction (as shown in the small diagram top right). If we compress the layers normal to the layering, then they attempt to extend parallel to the layering but if we do not allow this, a compressive stress is directed along the layers</a:t>
            </a:r>
          </a:p>
          <a:p>
            <a:pPr marL="108000" indent="-108000">
              <a:spcBef>
                <a:spcPts val="300"/>
              </a:spcBef>
              <a:buFont typeface="Arial" panose="020B0604020202020204" pitchFamily="34" charset="0"/>
              <a:buChar char="•"/>
            </a:pPr>
            <a:r>
              <a:rPr lang="en-GB" altLang="en-US" sz="1000" dirty="0"/>
              <a:t>Figure top right by Steve Covey-Crump</a:t>
            </a:r>
          </a:p>
          <a:p>
            <a:pPr marL="108000" indent="-108000">
              <a:spcBef>
                <a:spcPts val="300"/>
              </a:spcBef>
              <a:buFont typeface="Arial" panose="020B0604020202020204" pitchFamily="34" charset="0"/>
              <a:buChar char="•"/>
            </a:pPr>
            <a:r>
              <a:rPr lang="en-GB" altLang="en-US" sz="1000" dirty="0"/>
              <a:t>Main figure from Cosgrove, 1976, </a:t>
            </a:r>
            <a:r>
              <a:rPr lang="en-GB" altLang="en-US" sz="1000" i="1" dirty="0"/>
              <a:t>Journal of the Geological Society, London</a:t>
            </a:r>
            <a:r>
              <a:rPr lang="en-GB" altLang="en-US" sz="1000" dirty="0"/>
              <a:t> 132: 155-178, </a:t>
            </a:r>
            <a:r>
              <a:rPr lang="en-GB" sz="1000" dirty="0"/>
              <a:t>https://doi.org/10.1144/gsjgs.132.2.0155</a:t>
            </a:r>
            <a:endParaRPr lang="en-GB" altLang="en-US" sz="1000" dirty="0"/>
          </a:p>
          <a:p>
            <a:pPr marL="108000" indent="-108000">
              <a:spcBef>
                <a:spcPts val="300"/>
              </a:spcBef>
              <a:buFont typeface="Arial" panose="020B0604020202020204" pitchFamily="34" charset="0"/>
              <a:buNone/>
            </a:pPr>
            <a:endParaRPr lang="en-GB" altLang="en-US" sz="1000"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5698" name="Rectangle 2"/>
          <p:cNvSpPr>
            <a:spLocks noGrp="1" noRot="1" noChangeAspect="1" noChangeArrowheads="1" noTextEdit="1"/>
          </p:cNvSpPr>
          <p:nvPr>
            <p:ph type="sldImg"/>
          </p:nvPr>
        </p:nvSpPr>
        <p:spPr>
          <a:ln/>
        </p:spPr>
      </p:sp>
      <p:sp>
        <p:nvSpPr>
          <p:cNvPr id="285699" name="Rectangle 3"/>
          <p:cNvSpPr>
            <a:spLocks noGrp="1" noChangeArrowheads="1"/>
          </p:cNvSpPr>
          <p:nvPr>
            <p:ph type="body" idx="1"/>
          </p:nvPr>
        </p:nvSpPr>
        <p:spPr>
          <a:noFill/>
        </p:spPr>
        <p:txBody>
          <a:bodyPr/>
          <a:lstStyle/>
          <a:p>
            <a:pPr marL="108000" indent="-108000">
              <a:spcBef>
                <a:spcPts val="300"/>
              </a:spcBef>
              <a:buFont typeface="Arial" panose="020B0604020202020204" pitchFamily="34" charset="0"/>
              <a:buChar char="•"/>
            </a:pPr>
            <a:r>
              <a:rPr lang="en-GB" altLang="en-US" sz="1000" dirty="0"/>
              <a:t>Photo top (Steve Covey-Crump); </a:t>
            </a:r>
            <a:r>
              <a:rPr lang="en-GB" altLang="en-US" sz="1000" dirty="0" err="1"/>
              <a:t>boudinage</a:t>
            </a:r>
            <a:r>
              <a:rPr lang="en-GB" altLang="en-US" sz="1000" dirty="0"/>
              <a:t> produced by compression in the vertical direction on this photo, from Tintagel, Cornwall</a:t>
            </a:r>
          </a:p>
          <a:p>
            <a:pPr marL="108000" indent="-108000">
              <a:spcBef>
                <a:spcPts val="300"/>
              </a:spcBef>
              <a:buFont typeface="Arial" panose="020B0604020202020204" pitchFamily="34" charset="0"/>
              <a:buChar char="•"/>
            </a:pPr>
            <a:r>
              <a:rPr lang="en-GB" altLang="en-US" sz="1000" dirty="0"/>
              <a:t>Photo bottom (Steve Covey-Crump): wavy folds produced by compression in the vertical direction on this photo, from </a:t>
            </a:r>
            <a:r>
              <a:rPr lang="en-GB" altLang="en-US" sz="1000" dirty="0" err="1"/>
              <a:t>Marloes</a:t>
            </a:r>
            <a:r>
              <a:rPr lang="en-GB" altLang="en-US" sz="1000" dirty="0"/>
              <a:t> Sands, Pembrokeshire</a:t>
            </a:r>
          </a:p>
          <a:p>
            <a:pPr marL="108000" indent="-108000">
              <a:spcBef>
                <a:spcPts val="300"/>
              </a:spcBef>
              <a:buFont typeface="Arial" panose="020B0604020202020204" pitchFamily="34" charset="0"/>
              <a:buNone/>
            </a:pPr>
            <a:endParaRPr lang="en-GB" altLang="en-US" sz="1000"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0818" name="Rectangle 2"/>
          <p:cNvSpPr>
            <a:spLocks noGrp="1" noRot="1" noChangeAspect="1" noChangeArrowheads="1" noTextEdit="1"/>
          </p:cNvSpPr>
          <p:nvPr>
            <p:ph type="sldImg"/>
          </p:nvPr>
        </p:nvSpPr>
        <p:spPr>
          <a:ln/>
        </p:spPr>
      </p:sp>
      <p:sp>
        <p:nvSpPr>
          <p:cNvPr id="290819" name="Rectangle 3"/>
          <p:cNvSpPr>
            <a:spLocks noGrp="1" noChangeArrowheads="1"/>
          </p:cNvSpPr>
          <p:nvPr>
            <p:ph type="body" idx="1"/>
          </p:nvPr>
        </p:nvSpPr>
        <p:spPr>
          <a:noFill/>
        </p:spPr>
        <p:txBody>
          <a:bodyPr/>
          <a:lstStyle/>
          <a:p>
            <a:pPr marL="108000" indent="-108000">
              <a:spcBef>
                <a:spcPts val="300"/>
              </a:spcBef>
              <a:buFont typeface="Arial" panose="020B0604020202020204" pitchFamily="34" charset="0"/>
              <a:buChar char="•"/>
            </a:pPr>
            <a:r>
              <a:rPr lang="en-GB" altLang="en-US" sz="1000" dirty="0"/>
              <a:t>Photo left (Steve Covey-Crump): dextral </a:t>
            </a:r>
            <a:r>
              <a:rPr lang="en-GB" altLang="en-US" sz="1000" dirty="0" err="1"/>
              <a:t>contractional</a:t>
            </a:r>
            <a:r>
              <a:rPr lang="en-GB" altLang="en-US" sz="1000" dirty="0"/>
              <a:t> kink band, </a:t>
            </a:r>
            <a:r>
              <a:rPr lang="en-GB" altLang="en-US" sz="1000" dirty="0" err="1"/>
              <a:t>Kinlochleven</a:t>
            </a:r>
            <a:endParaRPr lang="en-GB" altLang="en-US" sz="1000" dirty="0"/>
          </a:p>
          <a:p>
            <a:pPr marL="108000" indent="-108000">
              <a:spcBef>
                <a:spcPts val="300"/>
              </a:spcBef>
              <a:buFont typeface="Arial" panose="020B0604020202020204" pitchFamily="34" charset="0"/>
              <a:buChar char="•"/>
            </a:pPr>
            <a:r>
              <a:rPr lang="en-GB" altLang="en-US" sz="1000" dirty="0"/>
              <a:t>Photo right (Steve Covey-Crump): box fold, Northcott Mouth, </a:t>
            </a:r>
            <a:r>
              <a:rPr lang="en-GB" altLang="en-US" sz="1000" dirty="0" err="1"/>
              <a:t>Bude</a:t>
            </a:r>
            <a:r>
              <a:rPr lang="en-GB" altLang="en-US" sz="1000" dirty="0"/>
              <a:t>, North Devon</a:t>
            </a:r>
          </a:p>
          <a:p>
            <a:pPr marL="108000" indent="-108000">
              <a:spcBef>
                <a:spcPts val="300"/>
              </a:spcBef>
              <a:buFont typeface="Arial" panose="020B0604020202020204" pitchFamily="34" charset="0"/>
              <a:buNone/>
            </a:pPr>
            <a:endParaRPr lang="en-GB" altLang="en-US" sz="1000"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5938" name="Rectangle 2"/>
          <p:cNvSpPr>
            <a:spLocks noGrp="1" noRot="1" noChangeAspect="1" noChangeArrowheads="1" noTextEdit="1"/>
          </p:cNvSpPr>
          <p:nvPr>
            <p:ph type="sldImg"/>
          </p:nvPr>
        </p:nvSpPr>
        <p:spPr>
          <a:ln/>
        </p:spPr>
      </p:sp>
      <p:sp>
        <p:nvSpPr>
          <p:cNvPr id="295939" name="Rectangle 3"/>
          <p:cNvSpPr>
            <a:spLocks noGrp="1" noChangeArrowheads="1"/>
          </p:cNvSpPr>
          <p:nvPr>
            <p:ph type="body" idx="1"/>
          </p:nvPr>
        </p:nvSpPr>
        <p:spPr>
          <a:noFill/>
        </p:spPr>
        <p:txBody>
          <a:bodyPr/>
          <a:lstStyle/>
          <a:p>
            <a:pPr marL="108000" indent="-108000">
              <a:spcBef>
                <a:spcPts val="300"/>
              </a:spcBef>
              <a:buFont typeface="Arial" panose="020B0604020202020204" pitchFamily="34" charset="0"/>
              <a:buChar char="•"/>
            </a:pPr>
            <a:r>
              <a:rPr lang="en-GB" altLang="en-US" sz="1000" dirty="0"/>
              <a:t>It is perhaps more sensible to split the development of buckle folds into three stages rather than four by merging Stages 2 and 3 on the slide, that is, by saying that Stage 2 is just the moment when Stage 3 starts. Then we have:</a:t>
            </a:r>
          </a:p>
          <a:p>
            <a:pPr marL="432000" indent="-216000">
              <a:spcBef>
                <a:spcPts val="300"/>
              </a:spcBef>
              <a:buFont typeface="Arial" panose="020B0604020202020204" pitchFamily="34" charset="0"/>
              <a:buAutoNum type="arabicParenBoth"/>
            </a:pPr>
            <a:r>
              <a:rPr lang="en-GB" altLang="en-US" sz="1000" dirty="0"/>
              <a:t>Pre-buckle, homogeneous layer-parallel shortening</a:t>
            </a:r>
          </a:p>
          <a:p>
            <a:pPr marL="432000" indent="-216000">
              <a:spcBef>
                <a:spcPts val="300"/>
              </a:spcBef>
              <a:buFont typeface="Arial" panose="020B0604020202020204" pitchFamily="34" charset="0"/>
              <a:buAutoNum type="arabicParenBoth"/>
            </a:pPr>
            <a:r>
              <a:rPr lang="en-GB" altLang="en-US" sz="1000" dirty="0"/>
              <a:t>Active buckling (initiation and amplification)</a:t>
            </a:r>
          </a:p>
          <a:p>
            <a:pPr marL="432000" indent="-216000">
              <a:spcBef>
                <a:spcPts val="300"/>
              </a:spcBef>
              <a:buFont typeface="Arial" panose="020B0604020202020204" pitchFamily="34" charset="0"/>
              <a:buAutoNum type="arabicParenBoth"/>
            </a:pPr>
            <a:r>
              <a:rPr lang="en-GB" altLang="en-US" sz="1000" dirty="0"/>
              <a:t>Post-buckle flattening</a:t>
            </a:r>
          </a:p>
          <a:p>
            <a:pPr marL="108000" indent="-108000">
              <a:spcBef>
                <a:spcPts val="300"/>
              </a:spcBef>
              <a:buFont typeface="Arial" panose="020B0604020202020204" pitchFamily="34" charset="0"/>
              <a:buChar char="•"/>
            </a:pPr>
            <a:r>
              <a:rPr lang="en-GB" altLang="en-US" sz="1000" dirty="0"/>
              <a:t>Figure left from J-P Burg’s 2015 lecture notes (www.files.ethz.ch/structuralgeology/JPB/files/English/7folding.pdf), p.188</a:t>
            </a:r>
          </a:p>
          <a:p>
            <a:pPr marL="108000" indent="-108000">
              <a:spcBef>
                <a:spcPts val="300"/>
              </a:spcBef>
              <a:buFont typeface="Arial" panose="020B0604020202020204" pitchFamily="34" charset="0"/>
              <a:buChar char="•"/>
            </a:pPr>
            <a:r>
              <a:rPr lang="en-GB" altLang="en-US" sz="1000" dirty="0"/>
              <a:t>Figure right from </a:t>
            </a:r>
            <a:r>
              <a:rPr lang="en-GB" altLang="en-US" sz="1000" dirty="0" err="1"/>
              <a:t>Schmalholz</a:t>
            </a:r>
            <a:r>
              <a:rPr lang="en-GB" altLang="en-US" sz="1000" dirty="0"/>
              <a:t>, 2006, </a:t>
            </a:r>
            <a:r>
              <a:rPr lang="en-GB" altLang="en-US" sz="1000" i="1" dirty="0"/>
              <a:t>Tectonophysics</a:t>
            </a:r>
            <a:r>
              <a:rPr lang="en-GB" altLang="en-US" sz="1000" dirty="0"/>
              <a:t> 419: 41-53, </a:t>
            </a:r>
            <a:r>
              <a:rPr lang="pt-BR" sz="1000" dirty="0">
                <a:effectLst/>
                <a:latin typeface="Times New Roman" panose="02020603050405020304" pitchFamily="18" charset="0"/>
              </a:rPr>
              <a:t>doi:10.1016/j.tecto.2006.03.008</a:t>
            </a:r>
            <a:r>
              <a:rPr lang="en-GB" altLang="en-US" sz="1000" dirty="0"/>
              <a:t>, with minor modifications by Steve Covey-Crump</a:t>
            </a:r>
          </a:p>
          <a:p>
            <a:pPr marL="108000" indent="-108000">
              <a:spcBef>
                <a:spcPts val="300"/>
              </a:spcBef>
              <a:buFont typeface="Arial" panose="020B0604020202020204" pitchFamily="34" charset="0"/>
              <a:buNone/>
            </a:pPr>
            <a:endParaRPr lang="en-GB" altLang="en-US" sz="1000"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0146" name="Rectangle 2"/>
          <p:cNvSpPr>
            <a:spLocks noGrp="1" noRot="1" noChangeAspect="1" noChangeArrowheads="1" noTextEdit="1"/>
          </p:cNvSpPr>
          <p:nvPr>
            <p:ph type="sldImg"/>
          </p:nvPr>
        </p:nvSpPr>
        <p:spPr>
          <a:ln/>
        </p:spPr>
      </p:sp>
      <p:sp>
        <p:nvSpPr>
          <p:cNvPr id="390147" name="Rectangle 3"/>
          <p:cNvSpPr>
            <a:spLocks noGrp="1" noChangeArrowheads="1"/>
          </p:cNvSpPr>
          <p:nvPr>
            <p:ph type="body" idx="1"/>
          </p:nvPr>
        </p:nvSpPr>
        <p:spPr>
          <a:noFill/>
        </p:spPr>
        <p:txBody>
          <a:bodyPr/>
          <a:lstStyle/>
          <a:p>
            <a:pPr marL="108000" indent="-108000">
              <a:spcBef>
                <a:spcPts val="300"/>
              </a:spcBef>
              <a:buFont typeface="Arial" panose="020B0604020202020204" pitchFamily="34" charset="0"/>
              <a:buChar char="•"/>
            </a:pPr>
            <a:r>
              <a:rPr lang="en-GB" altLang="en-US" sz="1000" dirty="0"/>
              <a:t>Photo left (Steve Covey-Crump): </a:t>
            </a:r>
            <a:r>
              <a:rPr lang="en-GB" altLang="en-US" sz="1000" dirty="0" err="1"/>
              <a:t>Northcott</a:t>
            </a:r>
            <a:r>
              <a:rPr lang="en-GB" altLang="en-US" sz="1000" dirty="0"/>
              <a:t> Mouth, Cornwall. Note that the orange-buff weathering sandstone unit contains a thrust just to the right of the centre of the photo</a:t>
            </a:r>
          </a:p>
          <a:p>
            <a:pPr marL="108000" indent="-108000">
              <a:spcBef>
                <a:spcPts val="300"/>
              </a:spcBef>
              <a:buFont typeface="Arial" panose="020B0604020202020204" pitchFamily="34" charset="0"/>
              <a:buChar char="•"/>
            </a:pPr>
            <a:r>
              <a:rPr lang="en-GB" altLang="en-US" sz="1000" dirty="0"/>
              <a:t>Photo right (Steve Covey-Crump): </a:t>
            </a:r>
            <a:r>
              <a:rPr lang="en-GB" altLang="en-US" sz="1000" dirty="0" err="1"/>
              <a:t>Rhoscolyn</a:t>
            </a:r>
            <a:r>
              <a:rPr lang="en-GB" altLang="en-US" sz="1000" dirty="0"/>
              <a:t>, North Wales. Here there are several over-steepened little thrusts forming a duplex (thrusting/duplexes will be discussed in Class 8)</a:t>
            </a:r>
          </a:p>
          <a:p>
            <a:pPr marL="108000" indent="-108000">
              <a:spcBef>
                <a:spcPts val="300"/>
              </a:spcBef>
              <a:buFont typeface="Arial" panose="020B0604020202020204" pitchFamily="34" charset="0"/>
              <a:buNone/>
            </a:pPr>
            <a:endParaRPr lang="en-GB" altLang="en-US" sz="1000" dirty="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7986" name="Rectangle 2"/>
          <p:cNvSpPr>
            <a:spLocks noGrp="1" noRot="1" noChangeAspect="1" noChangeArrowheads="1" noTextEdit="1"/>
          </p:cNvSpPr>
          <p:nvPr>
            <p:ph type="sldImg"/>
          </p:nvPr>
        </p:nvSpPr>
        <p:spPr>
          <a:ln/>
        </p:spPr>
      </p:sp>
      <p:sp>
        <p:nvSpPr>
          <p:cNvPr id="297987" name="Rectangle 3"/>
          <p:cNvSpPr>
            <a:spLocks noGrp="1" noChangeArrowheads="1"/>
          </p:cNvSpPr>
          <p:nvPr>
            <p:ph type="body" idx="1"/>
          </p:nvPr>
        </p:nvSpPr>
        <p:spPr>
          <a:noFill/>
        </p:spPr>
        <p:txBody>
          <a:bodyPr/>
          <a:lstStyle/>
          <a:p>
            <a:pPr marL="108000" indent="-108000">
              <a:spcBef>
                <a:spcPts val="300"/>
              </a:spcBef>
              <a:buFont typeface="Arial" panose="020B0604020202020204" pitchFamily="34" charset="0"/>
              <a:buChar char="•"/>
            </a:pPr>
            <a:r>
              <a:rPr lang="en-GB" altLang="en-US" sz="1000" dirty="0"/>
              <a:t>Locking up occurs prematurely if the deforming rocks become stronger as deformation proceeds. This may arise if rock strength increases with deformation or if something favouring deformation (</a:t>
            </a:r>
            <a:r>
              <a:rPr lang="en-GB" altLang="en-US" sz="1000" i="1" dirty="0"/>
              <a:t>e.g.</a:t>
            </a:r>
            <a:r>
              <a:rPr lang="en-GB" altLang="en-US" sz="1000" dirty="0"/>
              <a:t>, pore fluids in the rock) is removed. These points highlight the importance of knowing what processes are actually going on within the rock to accommodate the deformation</a:t>
            </a:r>
          </a:p>
          <a:p>
            <a:pPr marL="108000" indent="-108000">
              <a:spcBef>
                <a:spcPts val="300"/>
              </a:spcBef>
              <a:buFont typeface="Arial" panose="020B0604020202020204" pitchFamily="34" charset="0"/>
              <a:buChar char="•"/>
            </a:pPr>
            <a:r>
              <a:rPr lang="en-GB" altLang="en-US" sz="1000" dirty="0"/>
              <a:t>Figure by Steve Covey-Crump</a:t>
            </a:r>
          </a:p>
          <a:p>
            <a:pPr marL="108000" indent="-108000">
              <a:spcBef>
                <a:spcPts val="300"/>
              </a:spcBef>
              <a:buFont typeface="Arial" panose="020B0604020202020204" pitchFamily="34" charset="0"/>
              <a:buNone/>
            </a:pPr>
            <a:endParaRPr lang="en-GB" altLang="en-US" sz="1000" dirty="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3282" name="Rectangle 2"/>
          <p:cNvSpPr>
            <a:spLocks noGrp="1" noRot="1" noChangeAspect="1" noChangeArrowheads="1" noTextEdit="1"/>
          </p:cNvSpPr>
          <p:nvPr>
            <p:ph type="sldImg"/>
          </p:nvPr>
        </p:nvSpPr>
        <p:spPr>
          <a:ln/>
        </p:spPr>
      </p:sp>
      <p:sp>
        <p:nvSpPr>
          <p:cNvPr id="353283" name="Rectangle 3"/>
          <p:cNvSpPr>
            <a:spLocks noGrp="1" noChangeArrowheads="1"/>
          </p:cNvSpPr>
          <p:nvPr>
            <p:ph type="body" idx="1"/>
          </p:nvPr>
        </p:nvSpPr>
        <p:spPr>
          <a:noFill/>
        </p:spPr>
        <p:txBody>
          <a:bodyPr/>
          <a:lstStyle/>
          <a:p>
            <a:pPr marL="108000" indent="-108000">
              <a:spcBef>
                <a:spcPts val="300"/>
              </a:spcBef>
              <a:buFont typeface="Arial" panose="020B0604020202020204" pitchFamily="34" charset="0"/>
              <a:buChar char="•"/>
            </a:pPr>
            <a:r>
              <a:rPr lang="en-GB" altLang="en-US" sz="1000" dirty="0">
                <a:latin typeface="Times New Roman" panose="02020603050405020304" pitchFamily="18" charset="0"/>
                <a:cs typeface="Times New Roman" panose="02020603050405020304" pitchFamily="18" charset="0"/>
              </a:rPr>
              <a:t>We </a:t>
            </a:r>
            <a:r>
              <a:rPr lang="en-GB" altLang="en-US" sz="1000" dirty="0">
                <a:solidFill>
                  <a:schemeClr val="bg1"/>
                </a:solidFill>
                <a:latin typeface="Times New Roman" panose="02020603050405020304" pitchFamily="18" charset="0"/>
                <a:cs typeface="Times New Roman" panose="02020603050405020304" pitchFamily="18" charset="0"/>
              </a:rPr>
              <a:t>noted dip isogon analysis in Class 1 Slides 21-22. For the use of such analyses to extract information about the amount of shortening and mechanical properties of the layer during folding, see Ragan, 2009, </a:t>
            </a:r>
            <a:r>
              <a:rPr lang="en-GB" altLang="en-US" sz="1000" i="1" dirty="0">
                <a:solidFill>
                  <a:schemeClr val="bg1"/>
                </a:solidFill>
                <a:latin typeface="Times New Roman" panose="02020603050405020304" pitchFamily="18" charset="0"/>
                <a:cs typeface="Times New Roman" panose="02020603050405020304" pitchFamily="18" charset="0"/>
              </a:rPr>
              <a:t>Structural Geology: An Introduction to Geometrical Techniques</a:t>
            </a:r>
            <a:r>
              <a:rPr lang="en-GB" altLang="en-US" sz="1000" dirty="0">
                <a:solidFill>
                  <a:schemeClr val="bg1"/>
                </a:solidFill>
                <a:latin typeface="Times New Roman" panose="02020603050405020304" pitchFamily="18" charset="0"/>
                <a:cs typeface="Times New Roman" panose="02020603050405020304" pitchFamily="18" charset="0"/>
              </a:rPr>
              <a:t> (4</a:t>
            </a:r>
            <a:r>
              <a:rPr lang="en-GB" altLang="en-US" sz="1000" baseline="30000" dirty="0">
                <a:solidFill>
                  <a:schemeClr val="bg1"/>
                </a:solidFill>
                <a:latin typeface="Times New Roman" panose="02020603050405020304" pitchFamily="18" charset="0"/>
                <a:cs typeface="Times New Roman" panose="02020603050405020304" pitchFamily="18" charset="0"/>
              </a:rPr>
              <a:t>th</a:t>
            </a:r>
            <a:r>
              <a:rPr lang="en-GB" altLang="en-US" sz="1000" dirty="0">
                <a:solidFill>
                  <a:schemeClr val="bg1"/>
                </a:solidFill>
                <a:latin typeface="Times New Roman" panose="02020603050405020304" pitchFamily="18" charset="0"/>
                <a:cs typeface="Times New Roman" panose="02020603050405020304" pitchFamily="18" charset="0"/>
              </a:rPr>
              <a:t> edition), p.388ff (which is based on Lisle RJ, 1997, A fold classification scheme based on a polar plot of inverse layer thickness, in: Sengupta S (editor) </a:t>
            </a:r>
            <a:r>
              <a:rPr lang="en-GB" altLang="en-US" sz="1000" i="1" dirty="0">
                <a:solidFill>
                  <a:schemeClr val="bg1"/>
                </a:solidFill>
                <a:latin typeface="Times New Roman" panose="02020603050405020304" pitchFamily="18" charset="0"/>
                <a:cs typeface="Times New Roman" panose="02020603050405020304" pitchFamily="18" charset="0"/>
              </a:rPr>
              <a:t>Evolution of Geological Structures in Micro- to Macro-scales</a:t>
            </a:r>
            <a:r>
              <a:rPr lang="en-GB" altLang="en-US" sz="1000" i="0" dirty="0">
                <a:solidFill>
                  <a:schemeClr val="bg1"/>
                </a:solidFill>
                <a:latin typeface="Times New Roman" panose="02020603050405020304" pitchFamily="18" charset="0"/>
                <a:cs typeface="Times New Roman" panose="02020603050405020304" pitchFamily="18" charset="0"/>
              </a:rPr>
              <a:t>, p.323-339)</a:t>
            </a:r>
            <a:r>
              <a:rPr lang="en-GB" altLang="en-US" sz="1000" dirty="0">
                <a:solidFill>
                  <a:schemeClr val="bg1"/>
                </a:solidFill>
                <a:latin typeface="Times New Roman" panose="02020603050405020304" pitchFamily="18" charset="0"/>
                <a:cs typeface="Times New Roman" panose="02020603050405020304" pitchFamily="18" charset="0"/>
              </a:rPr>
              <a:t>. Some additional methods of quantifying the amount of post-buckle flattening are described by Srivastava and co-workers (Srivastava, 2003, </a:t>
            </a:r>
            <a:r>
              <a:rPr lang="en-GB" altLang="en-US" sz="1000" i="1" dirty="0">
                <a:solidFill>
                  <a:schemeClr val="bg1"/>
                </a:solidFill>
                <a:latin typeface="Times New Roman" panose="02020603050405020304" pitchFamily="18" charset="0"/>
                <a:cs typeface="Times New Roman" panose="02020603050405020304" pitchFamily="18" charset="0"/>
              </a:rPr>
              <a:t>Tectonophysics</a:t>
            </a:r>
            <a:r>
              <a:rPr lang="en-GB" altLang="en-US" sz="1000" i="0" dirty="0">
                <a:solidFill>
                  <a:schemeClr val="bg1"/>
                </a:solidFill>
                <a:latin typeface="Times New Roman" panose="02020603050405020304" pitchFamily="18" charset="0"/>
                <a:cs typeface="Times New Roman" panose="02020603050405020304" pitchFamily="18" charset="0"/>
              </a:rPr>
              <a:t> 364: 237-241, </a:t>
            </a:r>
            <a:r>
              <a:rPr lang="en-GB" sz="1000" b="0" i="0" u="none" strike="noStrike" baseline="0" dirty="0">
                <a:solidFill>
                  <a:schemeClr val="bg1"/>
                </a:solidFill>
                <a:latin typeface="Times New Roman" panose="02020603050405020304" pitchFamily="18" charset="0"/>
                <a:cs typeface="Times New Roman" panose="02020603050405020304" pitchFamily="18" charset="0"/>
              </a:rPr>
              <a:t>doi:10.1016/S0040-1951(03)00058-1</a:t>
            </a:r>
            <a:r>
              <a:rPr lang="en-GB" altLang="en-US" sz="1000" i="0" dirty="0">
                <a:solidFill>
                  <a:schemeClr val="bg1"/>
                </a:solidFill>
                <a:latin typeface="Times New Roman" panose="02020603050405020304" pitchFamily="18" charset="0"/>
                <a:cs typeface="Times New Roman" panose="02020603050405020304" pitchFamily="18" charset="0"/>
              </a:rPr>
              <a:t>; Shan &amp; Srivastava, 2006, </a:t>
            </a:r>
            <a:r>
              <a:rPr lang="en-GB" altLang="en-US" sz="1000" i="1" dirty="0">
                <a:solidFill>
                  <a:schemeClr val="bg1"/>
                </a:solidFill>
                <a:latin typeface="Times New Roman" panose="02020603050405020304" pitchFamily="18" charset="0"/>
                <a:cs typeface="Times New Roman" panose="02020603050405020304" pitchFamily="18" charset="0"/>
              </a:rPr>
              <a:t>Geological Magazine</a:t>
            </a:r>
            <a:r>
              <a:rPr lang="en-GB" altLang="en-US" sz="1000" i="0" dirty="0">
                <a:solidFill>
                  <a:schemeClr val="bg1"/>
                </a:solidFill>
                <a:latin typeface="Times New Roman" panose="02020603050405020304" pitchFamily="18" charset="0"/>
                <a:cs typeface="Times New Roman" panose="02020603050405020304" pitchFamily="18" charset="0"/>
              </a:rPr>
              <a:t> 143: 243-247, </a:t>
            </a:r>
            <a:r>
              <a:rPr lang="en-GB" sz="1000" dirty="0">
                <a:solidFill>
                  <a:schemeClr val="bg1"/>
                </a:solidFill>
                <a:latin typeface="Times New Roman" panose="02020603050405020304" pitchFamily="18" charset="0"/>
                <a:cs typeface="Times New Roman" panose="02020603050405020304" pitchFamily="18" charset="0"/>
              </a:rPr>
              <a:t>doi.org/10.1017/S0016756805001688; Srivastava &amp; Shah, 2006, </a:t>
            </a:r>
            <a:r>
              <a:rPr lang="en-GB" sz="1000" i="1" dirty="0">
                <a:solidFill>
                  <a:schemeClr val="bg1"/>
                </a:solidFill>
                <a:latin typeface="Times New Roman" panose="02020603050405020304" pitchFamily="18" charset="0"/>
                <a:cs typeface="Times New Roman" panose="02020603050405020304" pitchFamily="18" charset="0"/>
              </a:rPr>
              <a:t>Journal of Structural Geology</a:t>
            </a:r>
            <a:r>
              <a:rPr lang="en-GB" sz="1000" i="0" dirty="0">
                <a:solidFill>
                  <a:schemeClr val="bg1"/>
                </a:solidFill>
                <a:latin typeface="Times New Roman" panose="02020603050405020304" pitchFamily="18" charset="0"/>
                <a:cs typeface="Times New Roman" panose="02020603050405020304" pitchFamily="18" charset="0"/>
              </a:rPr>
              <a:t> 28: 1-8, </a:t>
            </a:r>
            <a:r>
              <a:rPr lang="pt-BR" sz="1000" b="0" i="0" u="none" strike="noStrike" baseline="0" dirty="0">
                <a:latin typeface="Times New Roman" panose="02020603050405020304" pitchFamily="18" charset="0"/>
                <a:cs typeface="Times New Roman" panose="02020603050405020304" pitchFamily="18" charset="0"/>
              </a:rPr>
              <a:t>doi:10.1016/j.jsg.2005.09.001; </a:t>
            </a:r>
            <a:r>
              <a:rPr lang="en-GB" sz="1000" dirty="0">
                <a:solidFill>
                  <a:schemeClr val="bg1"/>
                </a:solidFill>
                <a:latin typeface="Times New Roman" panose="02020603050405020304" pitchFamily="18" charset="0"/>
                <a:cs typeface="Times New Roman" panose="02020603050405020304" pitchFamily="18" charset="0"/>
              </a:rPr>
              <a:t>Srivastava &amp; Shah, 2008, </a:t>
            </a:r>
            <a:r>
              <a:rPr lang="en-GB" sz="1000" i="1" dirty="0">
                <a:solidFill>
                  <a:schemeClr val="bg1"/>
                </a:solidFill>
                <a:latin typeface="Times New Roman" panose="02020603050405020304" pitchFamily="18" charset="0"/>
                <a:cs typeface="Times New Roman" panose="02020603050405020304" pitchFamily="18" charset="0"/>
              </a:rPr>
              <a:t>Journal of Structural Geology</a:t>
            </a:r>
            <a:r>
              <a:rPr lang="en-GB" sz="1000" i="0" dirty="0">
                <a:solidFill>
                  <a:schemeClr val="bg1"/>
                </a:solidFill>
                <a:latin typeface="Times New Roman" panose="02020603050405020304" pitchFamily="18" charset="0"/>
                <a:cs typeface="Times New Roman" panose="02020603050405020304" pitchFamily="18" charset="0"/>
              </a:rPr>
              <a:t> 30: 444-450, </a:t>
            </a:r>
            <a:r>
              <a:rPr lang="pt-BR" sz="1000" b="0" i="0" u="none" strike="noStrike" baseline="0" dirty="0">
                <a:latin typeface="Times New Roman" panose="02020603050405020304" pitchFamily="18" charset="0"/>
                <a:cs typeface="Times New Roman" panose="02020603050405020304" pitchFamily="18" charset="0"/>
              </a:rPr>
              <a:t>doi:10.1016/j.jsg.2008.01.010), </a:t>
            </a:r>
            <a:r>
              <a:rPr lang="en-GB" sz="1000" b="0" i="0" u="none" strike="noStrike" baseline="0" noProof="0" dirty="0">
                <a:latin typeface="Times New Roman" panose="02020603050405020304" pitchFamily="18" charset="0"/>
                <a:cs typeface="Times New Roman" panose="02020603050405020304" pitchFamily="18" charset="0"/>
              </a:rPr>
              <a:t>but some of the concepts of strain used in these references won’t mean much to you until after Class 3.</a:t>
            </a:r>
            <a:endParaRPr lang="en-GB" altLang="en-US" sz="1000" dirty="0">
              <a:solidFill>
                <a:schemeClr val="bg1"/>
              </a:solidFill>
              <a:latin typeface="Times New Roman" panose="02020603050405020304" pitchFamily="18" charset="0"/>
              <a:cs typeface="Times New Roman" panose="02020603050405020304" pitchFamily="18" charset="0"/>
            </a:endParaRPr>
          </a:p>
          <a:p>
            <a:pPr marL="108000" indent="-108000">
              <a:spcBef>
                <a:spcPts val="300"/>
              </a:spcBef>
              <a:buFont typeface="Arial" panose="020B0604020202020204" pitchFamily="34" charset="0"/>
              <a:buChar char="•"/>
            </a:pPr>
            <a:r>
              <a:rPr lang="en-GB" altLang="en-US" sz="1000" dirty="0">
                <a:solidFill>
                  <a:schemeClr val="bg1"/>
                </a:solidFill>
                <a:latin typeface="Times New Roman" panose="02020603050405020304" pitchFamily="18" charset="0"/>
                <a:cs typeface="Times New Roman" panose="02020603050405020304" pitchFamily="18" charset="0"/>
              </a:rPr>
              <a:t>Figure top right (from Twiss &amp; </a:t>
            </a:r>
            <a:r>
              <a:rPr lang="en-GB" altLang="en-US" sz="1000" dirty="0" err="1">
                <a:solidFill>
                  <a:schemeClr val="bg1"/>
                </a:solidFill>
                <a:latin typeface="Times New Roman" panose="02020603050405020304" pitchFamily="18" charset="0"/>
                <a:cs typeface="Times New Roman" panose="02020603050405020304" pitchFamily="18" charset="0"/>
              </a:rPr>
              <a:t>Moores</a:t>
            </a:r>
            <a:r>
              <a:rPr lang="en-GB" altLang="en-US" sz="1000" dirty="0">
                <a:solidFill>
                  <a:schemeClr val="bg1"/>
                </a:solidFill>
                <a:latin typeface="Times New Roman" panose="02020603050405020304" pitchFamily="18" charset="0"/>
                <a:cs typeface="Times New Roman" panose="02020603050405020304" pitchFamily="18" charset="0"/>
              </a:rPr>
              <a:t>, p.374) showing flattening of a buckle fold by continued shortening in the same direction as the compression that led to the initial buckle fold</a:t>
            </a:r>
          </a:p>
          <a:p>
            <a:pPr marL="108000" indent="-108000">
              <a:spcBef>
                <a:spcPts val="300"/>
              </a:spcBef>
              <a:buFont typeface="Arial" panose="020B0604020202020204" pitchFamily="34" charset="0"/>
              <a:buChar char="•"/>
            </a:pPr>
            <a:r>
              <a:rPr lang="en-GB" altLang="en-US" sz="1000" dirty="0">
                <a:solidFill>
                  <a:schemeClr val="bg1"/>
                </a:solidFill>
                <a:latin typeface="Times New Roman" panose="02020603050405020304" pitchFamily="18" charset="0"/>
                <a:cs typeface="Times New Roman" panose="02020603050405020304" pitchFamily="18" charset="0"/>
              </a:rPr>
              <a:t>Figure middle left (from Twiss &amp; </a:t>
            </a:r>
            <a:r>
              <a:rPr lang="en-GB" altLang="en-US" sz="1000" dirty="0" err="1">
                <a:solidFill>
                  <a:schemeClr val="bg1"/>
                </a:solidFill>
                <a:latin typeface="Times New Roman" panose="02020603050405020304" pitchFamily="18" charset="0"/>
                <a:cs typeface="Times New Roman" panose="02020603050405020304" pitchFamily="18" charset="0"/>
              </a:rPr>
              <a:t>Moores</a:t>
            </a:r>
            <a:r>
              <a:rPr lang="en-GB" altLang="en-US" sz="1000" dirty="0">
                <a:solidFill>
                  <a:schemeClr val="bg1"/>
                </a:solidFill>
                <a:latin typeface="Times New Roman" panose="02020603050405020304" pitchFamily="18" charset="0"/>
                <a:cs typeface="Times New Roman" panose="02020603050405020304" pitchFamily="18" charset="0"/>
              </a:rPr>
              <a:t>, p.378) showing the additional complexities presented by fold geometries in multilayer sequences</a:t>
            </a:r>
          </a:p>
          <a:p>
            <a:pPr marL="108000" indent="-108000">
              <a:spcBef>
                <a:spcPts val="300"/>
              </a:spcBef>
              <a:buFont typeface="Arial" panose="020B0604020202020204" pitchFamily="34" charset="0"/>
              <a:buChar char="•"/>
            </a:pPr>
            <a:r>
              <a:rPr lang="en-GB" altLang="en-US" sz="1000" dirty="0">
                <a:solidFill>
                  <a:schemeClr val="bg1"/>
                </a:solidFill>
                <a:latin typeface="Times New Roman" panose="02020603050405020304" pitchFamily="18" charset="0"/>
                <a:cs typeface="Times New Roman" panose="02020603050405020304" pitchFamily="18" charset="0"/>
              </a:rPr>
              <a:t>Figure middle </a:t>
            </a:r>
            <a:r>
              <a:rPr lang="en-GB" altLang="en-US" sz="1000" dirty="0">
                <a:latin typeface="Times New Roman" panose="02020603050405020304" pitchFamily="18" charset="0"/>
                <a:cs typeface="Times New Roman" panose="02020603050405020304" pitchFamily="18" charset="0"/>
              </a:rPr>
              <a:t>right (from Twiss &amp; </a:t>
            </a:r>
            <a:r>
              <a:rPr lang="en-GB" altLang="en-US" sz="1000" dirty="0" err="1">
                <a:latin typeface="Times New Roman" panose="02020603050405020304" pitchFamily="18" charset="0"/>
                <a:cs typeface="Times New Roman" panose="02020603050405020304" pitchFamily="18" charset="0"/>
              </a:rPr>
              <a:t>Moores</a:t>
            </a:r>
            <a:r>
              <a:rPr lang="en-GB" altLang="en-US" sz="1000" dirty="0">
                <a:latin typeface="Times New Roman" panose="02020603050405020304" pitchFamily="18" charset="0"/>
                <a:cs typeface="Times New Roman" panose="02020603050405020304" pitchFamily="18" charset="0"/>
              </a:rPr>
              <a:t>, p.375): showing how Class 1A folds can be produced by flattening, in this case where the flattening is in a different direction to the compression that produced the buckle fold in the first place. This type of flattening may arise towards the end of a contractional deformation episode as units are placed (thrust) on top of the earlier folded units (this type of scenario will be considered in Class 8)</a:t>
            </a:r>
          </a:p>
          <a:p>
            <a:pPr marL="108000" indent="-108000">
              <a:spcBef>
                <a:spcPts val="300"/>
              </a:spcBef>
              <a:buFont typeface="Arial" panose="020B0604020202020204" pitchFamily="34" charset="0"/>
              <a:buChar char="•"/>
            </a:pPr>
            <a:r>
              <a:rPr lang="en-GB" altLang="en-US" sz="1000" dirty="0">
                <a:latin typeface="Times New Roman" panose="02020603050405020304" pitchFamily="18" charset="0"/>
                <a:cs typeface="Times New Roman" panose="02020603050405020304" pitchFamily="18" charset="0"/>
              </a:rPr>
              <a:t>Figure bottom left (redrawn by Steve Covey-Crump from Ramsay, 1967, </a:t>
            </a:r>
            <a:r>
              <a:rPr lang="en-GB" altLang="en-US" sz="1000" i="1" dirty="0">
                <a:latin typeface="Times New Roman" panose="02020603050405020304" pitchFamily="18" charset="0"/>
                <a:cs typeface="Times New Roman" panose="02020603050405020304" pitchFamily="18" charset="0"/>
              </a:rPr>
              <a:t>Folding and Fracturing of Rocks</a:t>
            </a:r>
            <a:r>
              <a:rPr lang="en-GB" altLang="en-US" sz="1000" dirty="0">
                <a:latin typeface="Times New Roman" panose="02020603050405020304" pitchFamily="18" charset="0"/>
                <a:cs typeface="Times New Roman" panose="02020603050405020304" pitchFamily="18" charset="0"/>
              </a:rPr>
              <a:t>, p.365) shown to remind you of the isogon classification of folds</a:t>
            </a:r>
          </a:p>
          <a:p>
            <a:pPr marL="108000" indent="-108000">
              <a:spcBef>
                <a:spcPts val="300"/>
              </a:spcBef>
              <a:buFont typeface="Arial" panose="020B0604020202020204" pitchFamily="34" charset="0"/>
              <a:buNone/>
            </a:pPr>
            <a:endParaRPr lang="en-GB" altLang="en-US" sz="1000" dirty="0">
              <a:latin typeface="Times New Roman" panose="02020603050405020304" pitchFamily="18" charset="0"/>
              <a:cs typeface="Times New Roman" panose="02020603050405020304" pitchFamily="18" charset="0"/>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4066" name="Rectangle 2"/>
          <p:cNvSpPr>
            <a:spLocks noGrp="1" noRot="1" noChangeAspect="1" noChangeArrowheads="1" noTextEdit="1"/>
          </p:cNvSpPr>
          <p:nvPr>
            <p:ph type="sldImg"/>
          </p:nvPr>
        </p:nvSpPr>
        <p:spPr>
          <a:ln/>
        </p:spPr>
      </p:sp>
      <p:sp>
        <p:nvSpPr>
          <p:cNvPr id="344067" name="Rectangle 3"/>
          <p:cNvSpPr>
            <a:spLocks noGrp="1" noChangeArrowheads="1"/>
          </p:cNvSpPr>
          <p:nvPr>
            <p:ph type="body" idx="1"/>
          </p:nvPr>
        </p:nvSpPr>
        <p:spPr>
          <a:noFill/>
        </p:spPr>
        <p:txBody>
          <a:bodyPr/>
          <a:lstStyle/>
          <a:p>
            <a:pPr marL="108000" indent="-108000">
              <a:spcBef>
                <a:spcPts val="300"/>
              </a:spcBef>
              <a:buFont typeface="Arial" panose="020B0604020202020204" pitchFamily="34" charset="0"/>
              <a:buChar char="•"/>
            </a:pPr>
            <a:r>
              <a:rPr lang="en-GB" altLang="en-US" sz="1000" dirty="0"/>
              <a:t>Note that in all these examples the folding (flexing) of the units arises when non-uniform forces are applied across the layering rather than along it</a:t>
            </a:r>
          </a:p>
          <a:p>
            <a:pPr marL="108000" indent="-108000">
              <a:spcBef>
                <a:spcPts val="300"/>
              </a:spcBef>
              <a:buFont typeface="Arial" panose="020B0604020202020204" pitchFamily="34" charset="0"/>
              <a:buChar char="•"/>
            </a:pPr>
            <a:r>
              <a:rPr lang="en-GB" altLang="en-US" sz="1000" dirty="0"/>
              <a:t>Figure from Fossen, p.269</a:t>
            </a:r>
          </a:p>
          <a:p>
            <a:pPr marL="108000" indent="-108000">
              <a:spcBef>
                <a:spcPts val="300"/>
              </a:spcBef>
              <a:buFont typeface="Arial" panose="020B0604020202020204" pitchFamily="34" charset="0"/>
              <a:buNone/>
            </a:pPr>
            <a:endParaRPr lang="en-GB" altLang="en-US" sz="1000" dirty="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9138" name="Rectangle 2"/>
          <p:cNvSpPr>
            <a:spLocks noGrp="1" noRot="1" noChangeAspect="1" noChangeArrowheads="1" noTextEdit="1"/>
          </p:cNvSpPr>
          <p:nvPr>
            <p:ph type="sldImg"/>
          </p:nvPr>
        </p:nvSpPr>
        <p:spPr>
          <a:ln/>
        </p:spPr>
      </p:sp>
      <p:sp>
        <p:nvSpPr>
          <p:cNvPr id="219139" name="Rectangle 3"/>
          <p:cNvSpPr>
            <a:spLocks noGrp="1" noChangeArrowheads="1"/>
          </p:cNvSpPr>
          <p:nvPr>
            <p:ph type="body" idx="1"/>
          </p:nvPr>
        </p:nvSpPr>
        <p:spPr>
          <a:noFill/>
        </p:spPr>
        <p:txBody>
          <a:bodyPr/>
          <a:lstStyle/>
          <a:p>
            <a:pPr marL="108000" indent="-108000">
              <a:spcBef>
                <a:spcPts val="300"/>
              </a:spcBef>
              <a:buFont typeface="Arial" panose="020B0604020202020204" pitchFamily="34" charset="0"/>
              <a:buChar char="•"/>
            </a:pPr>
            <a:r>
              <a:rPr lang="en-GB" altLang="en-US" sz="1000" dirty="0"/>
              <a:t>Photo top (Steve Covey-Crump): folds within </a:t>
            </a:r>
            <a:r>
              <a:rPr lang="en-GB" altLang="en-US" sz="1000" dirty="0" err="1"/>
              <a:t>pelites</a:t>
            </a:r>
            <a:r>
              <a:rPr lang="en-GB" altLang="en-US" sz="1000" dirty="0"/>
              <a:t>, </a:t>
            </a:r>
            <a:r>
              <a:rPr lang="en-GB" altLang="en-US" sz="1000" dirty="0" err="1"/>
              <a:t>Kinlochleven</a:t>
            </a:r>
            <a:r>
              <a:rPr lang="en-GB" altLang="en-US" sz="1000" dirty="0"/>
              <a:t>. Note the approximately Class 2 geometry of the folded layer with its thickened hinge and highly attenuated limbs</a:t>
            </a:r>
          </a:p>
          <a:p>
            <a:pPr marL="108000" indent="-108000">
              <a:spcBef>
                <a:spcPts val="300"/>
              </a:spcBef>
              <a:buFont typeface="Arial" panose="020B0604020202020204" pitchFamily="34" charset="0"/>
              <a:buChar char="•"/>
            </a:pPr>
            <a:r>
              <a:rPr lang="en-GB" altLang="en-US" sz="1000" dirty="0"/>
              <a:t>Photo bottom (from </a:t>
            </a:r>
            <a:r>
              <a:rPr lang="en-GB" altLang="en-US" sz="1000" dirty="0" err="1"/>
              <a:t>Hudleston</a:t>
            </a:r>
            <a:r>
              <a:rPr lang="en-GB" altLang="en-US" sz="1000" dirty="0"/>
              <a:t> &amp; </a:t>
            </a:r>
            <a:r>
              <a:rPr lang="en-GB" altLang="en-US" sz="1000" dirty="0" err="1"/>
              <a:t>Treagus</a:t>
            </a:r>
            <a:r>
              <a:rPr lang="en-GB" altLang="en-US" sz="1000" dirty="0"/>
              <a:t>, 2010, </a:t>
            </a:r>
            <a:r>
              <a:rPr lang="en-GB" altLang="en-US" sz="1000" i="1" dirty="0"/>
              <a:t>Journal of Structural Geology</a:t>
            </a:r>
            <a:r>
              <a:rPr lang="en-GB" altLang="en-US" sz="1000" dirty="0"/>
              <a:t> 32: 2042-2071, </a:t>
            </a:r>
            <a:r>
              <a:rPr lang="en-GB" sz="1000" dirty="0"/>
              <a:t>https://doi.org/10.1016/j.jsg.2010.08.011</a:t>
            </a:r>
            <a:r>
              <a:rPr lang="en-GB" altLang="en-US" sz="1000" dirty="0"/>
              <a:t>): passive folds in an amphibolitic gneiss, Swedish Lapland. Note how the folds look like the kind of pattern one sees in the scum on the surface of a pool</a:t>
            </a:r>
          </a:p>
          <a:p>
            <a:pPr marL="108000" indent="-108000">
              <a:spcBef>
                <a:spcPts val="300"/>
              </a:spcBef>
              <a:buFont typeface="Arial" panose="020B0604020202020204" pitchFamily="34" charset="0"/>
              <a:buNone/>
            </a:pPr>
            <a:endParaRPr lang="en-GB" altLang="en-US" sz="1000" dirty="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9250" name="Rectangle 2"/>
          <p:cNvSpPr>
            <a:spLocks noGrp="1" noRot="1" noChangeAspect="1" noChangeArrowheads="1" noTextEdit="1"/>
          </p:cNvSpPr>
          <p:nvPr>
            <p:ph type="sldImg"/>
          </p:nvPr>
        </p:nvSpPr>
        <p:spPr>
          <a:ln/>
        </p:spPr>
      </p:sp>
      <p:sp>
        <p:nvSpPr>
          <p:cNvPr id="309251" name="Rectangle 3"/>
          <p:cNvSpPr>
            <a:spLocks noGrp="1" noChangeArrowheads="1"/>
          </p:cNvSpPr>
          <p:nvPr>
            <p:ph type="body" idx="1"/>
          </p:nvPr>
        </p:nvSpPr>
        <p:spPr>
          <a:noFill/>
        </p:spPr>
        <p:txBody>
          <a:bodyPr/>
          <a:lstStyle/>
          <a:p>
            <a:pPr marL="108000" indent="-108000">
              <a:spcBef>
                <a:spcPts val="300"/>
              </a:spcBef>
              <a:buFont typeface="Arial" panose="020B0604020202020204" pitchFamily="34" charset="0"/>
              <a:buChar char="•"/>
            </a:pPr>
            <a:r>
              <a:rPr lang="en-GB" altLang="en-US" sz="1000" dirty="0"/>
              <a:t>Figure by Steve Covey-Crump</a:t>
            </a:r>
          </a:p>
          <a:p>
            <a:pPr marL="108000" indent="-108000">
              <a:spcBef>
                <a:spcPts val="300"/>
              </a:spcBef>
              <a:buFont typeface="Arial" panose="020B0604020202020204" pitchFamily="34" charset="0"/>
              <a:buNone/>
            </a:pPr>
            <a:endParaRPr lang="en-GB" altLang="en-US" sz="1000" dirty="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02" name="Rectangle 2"/>
          <p:cNvSpPr>
            <a:spLocks noGrp="1" noRot="1" noChangeAspect="1" noChangeArrowheads="1" noTextEdit="1"/>
          </p:cNvSpPr>
          <p:nvPr>
            <p:ph type="sldImg"/>
          </p:nvPr>
        </p:nvSpPr>
        <p:spPr>
          <a:ln/>
        </p:spPr>
      </p:sp>
      <p:sp>
        <p:nvSpPr>
          <p:cNvPr id="307203" name="Rectangle 3"/>
          <p:cNvSpPr>
            <a:spLocks noGrp="1" noChangeArrowheads="1"/>
          </p:cNvSpPr>
          <p:nvPr>
            <p:ph type="body" idx="1"/>
          </p:nvPr>
        </p:nvSpPr>
        <p:spPr>
          <a:noFill/>
        </p:spPr>
        <p:txBody>
          <a:bodyPr/>
          <a:lstStyle/>
          <a:p>
            <a:pPr marL="108000" indent="-108000">
              <a:spcBef>
                <a:spcPts val="300"/>
              </a:spcBef>
              <a:buFont typeface="Arial" panose="020B0604020202020204" pitchFamily="34" charset="0"/>
              <a:buChar char="•"/>
            </a:pPr>
            <a:r>
              <a:rPr lang="en-GB" altLang="en-US" sz="1000" dirty="0"/>
              <a:t>The absence of distortion within the layering means that fossils and other objects lying in the slip plane remain </a:t>
            </a:r>
            <a:r>
              <a:rPr lang="en-GB" altLang="en-US" sz="1000" dirty="0" err="1"/>
              <a:t>undeformed</a:t>
            </a:r>
            <a:r>
              <a:rPr lang="en-GB" altLang="en-US" sz="1000" dirty="0"/>
              <a:t>. This is not true for other folding mechanisms</a:t>
            </a:r>
          </a:p>
          <a:p>
            <a:pPr marL="108000" indent="-108000">
              <a:spcBef>
                <a:spcPts val="300"/>
              </a:spcBef>
              <a:buFont typeface="Arial" panose="020B0604020202020204" pitchFamily="34" charset="0"/>
              <a:buChar char="•"/>
            </a:pPr>
            <a:r>
              <a:rPr lang="en-GB" altLang="en-US" sz="1000" dirty="0" err="1"/>
              <a:t>Slickolites</a:t>
            </a:r>
            <a:r>
              <a:rPr lang="en-GB" altLang="en-US" sz="1000" dirty="0"/>
              <a:t> are asymmetric </a:t>
            </a:r>
            <a:r>
              <a:rPr lang="en-GB" altLang="en-US" sz="1000" dirty="0" err="1"/>
              <a:t>stylolites</a:t>
            </a:r>
            <a:r>
              <a:rPr lang="en-GB" altLang="en-US" sz="1000" dirty="0"/>
              <a:t> (see Class 6)</a:t>
            </a:r>
          </a:p>
          <a:p>
            <a:pPr marL="108000" indent="-108000">
              <a:spcBef>
                <a:spcPts val="300"/>
              </a:spcBef>
              <a:buFont typeface="Arial" panose="020B0604020202020204" pitchFamily="34" charset="0"/>
              <a:buChar char="•"/>
            </a:pPr>
            <a:r>
              <a:rPr lang="en-GB" altLang="en-US" sz="1000" dirty="0"/>
              <a:t>The significance of the tension gashes (and the following points in this bullet) will be appreciated after Class 4. On the figure bottom left, note that on one limb they point one way and on the other limb the other way. This is consistent with the different sense of shear on each limb during flexural slip folding (dextral on the limb left of the </a:t>
            </a:r>
            <a:r>
              <a:rPr lang="en-GB" altLang="en-US" sz="1000" dirty="0" err="1"/>
              <a:t>antiform</a:t>
            </a:r>
            <a:r>
              <a:rPr lang="en-GB" altLang="en-US" sz="1000" dirty="0"/>
              <a:t> hinge, and </a:t>
            </a:r>
            <a:r>
              <a:rPr lang="en-GB" altLang="en-US" sz="1000" dirty="0" err="1"/>
              <a:t>sinistral</a:t>
            </a:r>
            <a:r>
              <a:rPr lang="en-GB" altLang="en-US" sz="1000" dirty="0"/>
              <a:t> on the limb right of the </a:t>
            </a:r>
            <a:r>
              <a:rPr lang="en-GB" altLang="en-US" sz="1000" dirty="0" err="1"/>
              <a:t>antiform</a:t>
            </a:r>
            <a:r>
              <a:rPr lang="en-GB" altLang="en-US" sz="1000" dirty="0"/>
              <a:t> hinge). Note that their sigmoidal form also becomes more pronounced away from the hinge, indicating increasing slip displacement as one moves towards the inflection point</a:t>
            </a:r>
          </a:p>
          <a:p>
            <a:pPr marL="108000" indent="-108000">
              <a:spcBef>
                <a:spcPts val="300"/>
              </a:spcBef>
              <a:buFont typeface="Arial" panose="020B0604020202020204" pitchFamily="34" charset="0"/>
              <a:buChar char="•"/>
            </a:pPr>
            <a:r>
              <a:rPr lang="en-GB" altLang="en-US" sz="1000" dirty="0"/>
              <a:t>Figure top right by Steve Covey-Crump</a:t>
            </a:r>
          </a:p>
          <a:p>
            <a:pPr marL="108000" indent="-108000">
              <a:spcBef>
                <a:spcPts val="300"/>
              </a:spcBef>
              <a:buFont typeface="Arial" panose="020B0604020202020204" pitchFamily="34" charset="0"/>
              <a:buChar char="•"/>
            </a:pPr>
            <a:r>
              <a:rPr lang="en-GB" altLang="en-US" sz="1000" dirty="0"/>
              <a:t>Figure bottom left from Price &amp; Cosgrove, p.250</a:t>
            </a:r>
          </a:p>
          <a:p>
            <a:pPr marL="108000" indent="-108000">
              <a:spcBef>
                <a:spcPts val="300"/>
              </a:spcBef>
              <a:buFont typeface="Arial" panose="020B0604020202020204" pitchFamily="34" charset="0"/>
              <a:buNone/>
            </a:pPr>
            <a:endParaRPr lang="en-GB" altLang="en-US" sz="1000" dirty="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1298" name="Rectangle 2"/>
          <p:cNvSpPr>
            <a:spLocks noGrp="1" noRot="1" noChangeAspect="1" noChangeArrowheads="1" noTextEdit="1"/>
          </p:cNvSpPr>
          <p:nvPr>
            <p:ph type="sldImg"/>
          </p:nvPr>
        </p:nvSpPr>
        <p:spPr>
          <a:ln/>
        </p:spPr>
      </p:sp>
      <p:sp>
        <p:nvSpPr>
          <p:cNvPr id="311299" name="Rectangle 3"/>
          <p:cNvSpPr>
            <a:spLocks noGrp="1" noChangeArrowheads="1"/>
          </p:cNvSpPr>
          <p:nvPr>
            <p:ph type="body" idx="1"/>
          </p:nvPr>
        </p:nvSpPr>
        <p:spPr>
          <a:noFill/>
        </p:spPr>
        <p:txBody>
          <a:bodyPr/>
          <a:lstStyle/>
          <a:p>
            <a:pPr marL="108000" indent="-108000">
              <a:spcBef>
                <a:spcPts val="300"/>
              </a:spcBef>
              <a:buFont typeface="Arial" panose="020B0604020202020204" pitchFamily="34" charset="0"/>
              <a:buChar char="•"/>
            </a:pPr>
            <a:r>
              <a:rPr lang="en-GB" altLang="en-US" sz="1000" dirty="0"/>
              <a:t>Figure redrawn by Steve Covey-Crump from Ramsay, 1967, </a:t>
            </a:r>
            <a:r>
              <a:rPr lang="en-GB" altLang="en-US" sz="1000" i="1" dirty="0"/>
              <a:t>Folding and Fracturing of Rocks</a:t>
            </a:r>
            <a:r>
              <a:rPr lang="en-GB" altLang="en-US" sz="1000" dirty="0"/>
              <a:t>, p.463 and p.466. The diagram on the bottom right side of the figure shows what happens if there is some post-buckle flattening</a:t>
            </a:r>
          </a:p>
          <a:p>
            <a:pPr marL="108000" indent="-108000">
              <a:spcBef>
                <a:spcPts val="300"/>
              </a:spcBef>
              <a:buFont typeface="Arial" panose="020B0604020202020204" pitchFamily="34" charset="0"/>
              <a:buNone/>
            </a:pPr>
            <a:endParaRPr lang="en-GB" altLang="en-US" sz="1000" dirty="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5394" name="Rectangle 2"/>
          <p:cNvSpPr>
            <a:spLocks noGrp="1" noRot="1" noChangeAspect="1" noChangeArrowheads="1" noTextEdit="1"/>
          </p:cNvSpPr>
          <p:nvPr>
            <p:ph type="sldImg"/>
          </p:nvPr>
        </p:nvSpPr>
        <p:spPr>
          <a:ln/>
        </p:spPr>
      </p:sp>
      <p:sp>
        <p:nvSpPr>
          <p:cNvPr id="315395" name="Rectangle 3"/>
          <p:cNvSpPr>
            <a:spLocks noGrp="1" noChangeArrowheads="1"/>
          </p:cNvSpPr>
          <p:nvPr>
            <p:ph type="body" idx="1"/>
          </p:nvPr>
        </p:nvSpPr>
        <p:spPr>
          <a:noFill/>
        </p:spPr>
        <p:txBody>
          <a:bodyPr/>
          <a:lstStyle/>
          <a:p>
            <a:pPr marL="108000" indent="-108000">
              <a:lnSpc>
                <a:spcPct val="100000"/>
              </a:lnSpc>
              <a:spcBef>
                <a:spcPts val="300"/>
              </a:spcBef>
              <a:buFont typeface="Arial" panose="020B0604020202020204" pitchFamily="34" charset="0"/>
              <a:buChar char="•"/>
            </a:pPr>
            <a:r>
              <a:rPr lang="en-GB" altLang="en-US" sz="1000" dirty="0"/>
              <a:t>Figure top right redrawn by Steve Covey-Crump from Ramsay, 1967, </a:t>
            </a:r>
            <a:r>
              <a:rPr lang="en-GB" altLang="en-US" sz="1000" i="1" dirty="0"/>
              <a:t>Folding and Fracturing of Rocks</a:t>
            </a:r>
            <a:r>
              <a:rPr lang="en-GB" altLang="en-US" sz="1000" dirty="0"/>
              <a:t>, p.398. The black shapes are strain ellipses (discussed in Class 3) – they show the shape that an initially circular object deforms into</a:t>
            </a:r>
          </a:p>
          <a:p>
            <a:pPr marL="108000" indent="-108000">
              <a:lnSpc>
                <a:spcPct val="100000"/>
              </a:lnSpc>
              <a:spcBef>
                <a:spcPts val="300"/>
              </a:spcBef>
              <a:buFont typeface="Arial" panose="020B0604020202020204" pitchFamily="34" charset="0"/>
              <a:buChar char="•"/>
            </a:pPr>
            <a:r>
              <a:rPr lang="en-GB" altLang="en-US" sz="1000" dirty="0"/>
              <a:t>Figure bottom right from Price &amp; Cosgrove, p.251</a:t>
            </a:r>
          </a:p>
          <a:p>
            <a:pPr marL="108000" indent="-108000">
              <a:lnSpc>
                <a:spcPct val="100000"/>
              </a:lnSpc>
              <a:spcBef>
                <a:spcPts val="300"/>
              </a:spcBef>
              <a:buFont typeface="Arial" panose="020B0604020202020204" pitchFamily="34" charset="0"/>
              <a:buChar char="•"/>
            </a:pPr>
            <a:r>
              <a:rPr lang="en-GB" altLang="en-US" sz="1000" dirty="0"/>
              <a:t>Photo (Steve Covey-Crump): extension fractures (infilled with vein material) in the outer arc of an </a:t>
            </a:r>
            <a:r>
              <a:rPr lang="en-GB" altLang="en-US" sz="1000" dirty="0" err="1"/>
              <a:t>antiform</a:t>
            </a:r>
            <a:r>
              <a:rPr lang="en-GB" altLang="en-US" sz="1000" dirty="0"/>
              <a:t> hinge, Aberystwyth Grits, Aberystwyth</a:t>
            </a:r>
          </a:p>
          <a:p>
            <a:pPr marL="108000" indent="-108000">
              <a:lnSpc>
                <a:spcPct val="100000"/>
              </a:lnSpc>
              <a:spcBef>
                <a:spcPts val="300"/>
              </a:spcBef>
              <a:buFont typeface="Arial" panose="020B0604020202020204" pitchFamily="34" charset="0"/>
              <a:buNone/>
            </a:pPr>
            <a:endParaRPr lang="en-GB" altLang="en-US" sz="1000" dirty="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5090" name="Rectangle 2"/>
          <p:cNvSpPr>
            <a:spLocks noGrp="1" noRot="1" noChangeAspect="1" noChangeArrowheads="1" noTextEdit="1"/>
          </p:cNvSpPr>
          <p:nvPr>
            <p:ph type="sldImg"/>
          </p:nvPr>
        </p:nvSpPr>
        <p:spPr>
          <a:ln/>
        </p:spPr>
      </p:sp>
      <p:sp>
        <p:nvSpPr>
          <p:cNvPr id="345091" name="Rectangle 3"/>
          <p:cNvSpPr>
            <a:spLocks noGrp="1" noChangeArrowheads="1"/>
          </p:cNvSpPr>
          <p:nvPr>
            <p:ph type="body" idx="1"/>
          </p:nvPr>
        </p:nvSpPr>
        <p:spPr>
          <a:noFill/>
        </p:spPr>
        <p:txBody>
          <a:bodyPr/>
          <a:lstStyle/>
          <a:p>
            <a:pPr marL="108000" indent="-108000">
              <a:spcBef>
                <a:spcPts val="300"/>
              </a:spcBef>
              <a:buFont typeface="Arial" panose="020B0604020202020204" pitchFamily="34" charset="0"/>
              <a:buChar char="•"/>
            </a:pPr>
            <a:r>
              <a:rPr lang="en-GB" altLang="en-US" sz="1000" dirty="0"/>
              <a:t>Figure redrawn by Steve Covey-Crump from Ramsay, 1967, </a:t>
            </a:r>
            <a:r>
              <a:rPr lang="en-GB" altLang="en-US" sz="1000" i="1" dirty="0"/>
              <a:t>Folding and Fracturing of Rocks</a:t>
            </a:r>
            <a:r>
              <a:rPr lang="en-GB" altLang="en-US" sz="1000" dirty="0"/>
              <a:t>, p.464</a:t>
            </a:r>
          </a:p>
          <a:p>
            <a:pPr marL="108000" indent="-108000">
              <a:spcBef>
                <a:spcPts val="300"/>
              </a:spcBef>
              <a:buFont typeface="Arial" panose="020B0604020202020204" pitchFamily="34" charset="0"/>
              <a:buNone/>
            </a:pPr>
            <a:endParaRPr lang="en-GB" altLang="en-US" sz="1000" dirty="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6418" name="Rectangle 2"/>
          <p:cNvSpPr>
            <a:spLocks noGrp="1" noRot="1" noChangeAspect="1" noChangeArrowheads="1" noTextEdit="1"/>
          </p:cNvSpPr>
          <p:nvPr>
            <p:ph type="sldImg"/>
          </p:nvPr>
        </p:nvSpPr>
        <p:spPr>
          <a:ln/>
        </p:spPr>
      </p:sp>
      <p:sp>
        <p:nvSpPr>
          <p:cNvPr id="316419" name="Rectangle 3"/>
          <p:cNvSpPr>
            <a:spLocks noGrp="1" noChangeArrowheads="1"/>
          </p:cNvSpPr>
          <p:nvPr>
            <p:ph type="body" idx="1"/>
          </p:nvPr>
        </p:nvSpPr>
        <p:spPr>
          <a:noFill/>
        </p:spPr>
        <p:txBody>
          <a:bodyPr/>
          <a:lstStyle/>
          <a:p>
            <a:pPr marL="108000" indent="-108000">
              <a:spcBef>
                <a:spcPts val="300"/>
              </a:spcBef>
              <a:buFont typeface="Arial" panose="020B0604020202020204" pitchFamily="34" charset="0"/>
              <a:buChar char="•"/>
            </a:pPr>
            <a:r>
              <a:rPr lang="en-GB" altLang="en-US" sz="1000" dirty="0"/>
              <a:t>Shear folding is frequently the best approximation for folds found in fault zones (shear zones). The axial plane of such folds is parallel to the fault plane (shear zone boundary). Hence measuring the plunge/plunge direction of a lineation as it is deformed into a fault zone and then finding where the great circle containing these lineations intersects the great circle for the fault plane, allows one to determine the orientation of the fault slip vector. This is a very helpful technique and will be a major focus of the exercises in more than one of our practical classes. Anyone undertaking geological mapping in an area containing significant faults, ought to become very familiar with this technique</a:t>
            </a:r>
          </a:p>
          <a:p>
            <a:pPr marL="108000" indent="-108000">
              <a:spcBef>
                <a:spcPts val="300"/>
              </a:spcBef>
              <a:buFont typeface="Arial" panose="020B0604020202020204" pitchFamily="34" charset="0"/>
              <a:buChar char="•"/>
            </a:pPr>
            <a:r>
              <a:rPr lang="en-GB" altLang="en-US" sz="1000" dirty="0"/>
              <a:t>Figure redrawn by Steve Covey-Crump from Ramsay, 1967, </a:t>
            </a:r>
            <a:r>
              <a:rPr lang="en-GB" altLang="en-US" sz="1000" i="1" dirty="0"/>
              <a:t>Folding and Fracturing of Rocks</a:t>
            </a:r>
            <a:r>
              <a:rPr lang="en-GB" altLang="en-US" sz="1000" dirty="0"/>
              <a:t>, p.470</a:t>
            </a:r>
          </a:p>
          <a:p>
            <a:pPr marL="108000" indent="-108000">
              <a:spcBef>
                <a:spcPts val="300"/>
              </a:spcBef>
              <a:buFont typeface="Arial" panose="020B0604020202020204" pitchFamily="34" charset="0"/>
              <a:buNone/>
            </a:pPr>
            <a:endParaRPr lang="en-GB" altLang="en-US" sz="1000" dirty="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8466" name="Rectangle 2"/>
          <p:cNvSpPr>
            <a:spLocks noGrp="1" noRot="1" noChangeAspect="1" noChangeArrowheads="1" noTextEdit="1"/>
          </p:cNvSpPr>
          <p:nvPr>
            <p:ph type="sldImg"/>
          </p:nvPr>
        </p:nvSpPr>
        <p:spPr>
          <a:ln/>
        </p:spPr>
      </p:sp>
      <p:sp>
        <p:nvSpPr>
          <p:cNvPr id="318467" name="Rectangle 3"/>
          <p:cNvSpPr>
            <a:spLocks noGrp="1" noChangeArrowheads="1"/>
          </p:cNvSpPr>
          <p:nvPr>
            <p:ph type="body" idx="1"/>
          </p:nvPr>
        </p:nvSpPr>
        <p:spPr>
          <a:noFill/>
        </p:spPr>
        <p:txBody>
          <a:bodyPr/>
          <a:lstStyle/>
          <a:p>
            <a:pPr marL="108000" indent="-108000">
              <a:spcBef>
                <a:spcPts val="300"/>
              </a:spcBef>
              <a:buFont typeface="Arial" panose="020B0604020202020204" pitchFamily="34" charset="0"/>
              <a:buChar char="•"/>
            </a:pPr>
            <a:r>
              <a:rPr lang="en-GB" altLang="en-US" sz="1000" dirty="0"/>
              <a:t>Most of the discussion over Classes 1 and 2 has been framed in terms of cylindrical folds, that is, folds that have the same shape on all cross-sections that are drawn in the same orientation but at different locations along the fold axis. However, real folds are generally non-cylindrical. All the terminology so far discussed still applies but it is worth considering some special instances of non-cylindrical folds</a:t>
            </a:r>
          </a:p>
          <a:p>
            <a:pPr marL="108000" indent="-108000">
              <a:spcBef>
                <a:spcPts val="300"/>
              </a:spcBef>
              <a:buFont typeface="Arial" panose="020B0604020202020204" pitchFamily="34" charset="0"/>
              <a:buNone/>
            </a:pPr>
            <a:endParaRPr lang="en-GB" altLang="en-US" sz="1000" dirty="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1538" name="Rectangle 2"/>
          <p:cNvSpPr>
            <a:spLocks noGrp="1" noRot="1" noChangeAspect="1" noChangeArrowheads="1" noTextEdit="1"/>
          </p:cNvSpPr>
          <p:nvPr>
            <p:ph type="sldImg"/>
          </p:nvPr>
        </p:nvSpPr>
        <p:spPr>
          <a:ln/>
        </p:spPr>
      </p:sp>
      <p:sp>
        <p:nvSpPr>
          <p:cNvPr id="321539" name="Rectangle 3"/>
          <p:cNvSpPr>
            <a:spLocks noGrp="1" noChangeArrowheads="1"/>
          </p:cNvSpPr>
          <p:nvPr>
            <p:ph type="body" idx="1"/>
          </p:nvPr>
        </p:nvSpPr>
        <p:spPr>
          <a:noFill/>
        </p:spPr>
        <p:txBody>
          <a:bodyPr/>
          <a:lstStyle/>
          <a:p>
            <a:pPr marL="108000" indent="-108000">
              <a:spcBef>
                <a:spcPts val="300"/>
              </a:spcBef>
              <a:buFont typeface="Arial" panose="020B0604020202020204" pitchFamily="34" charset="0"/>
              <a:buChar char="•"/>
            </a:pPr>
            <a:r>
              <a:rPr lang="en-GB" altLang="en-US" sz="1000" dirty="0"/>
              <a:t>The development of spatial arrangements of folds can be explored using the buckling models and experiments noted on previous slides. The existence of systematic spatial arrays of folds highlights the fact that it is important not only to describe the profile plane geometry of folds but also their map distribution</a:t>
            </a:r>
          </a:p>
          <a:p>
            <a:pPr marL="108000" indent="-108000">
              <a:spcBef>
                <a:spcPts val="300"/>
              </a:spcBef>
              <a:buFont typeface="Arial" panose="020B0604020202020204" pitchFamily="34" charset="0"/>
              <a:buChar char="•"/>
            </a:pPr>
            <a:r>
              <a:rPr lang="en-GB" altLang="en-US" sz="1000" dirty="0"/>
              <a:t>Image top right (</a:t>
            </a:r>
            <a:r>
              <a:rPr lang="en-GB" altLang="en-US" sz="1000" dirty="0" err="1"/>
              <a:t>Fossen</a:t>
            </a:r>
            <a:r>
              <a:rPr lang="en-GB" altLang="en-US" sz="1000" dirty="0"/>
              <a:t>, one of the extra figures on the web-site for the book, folk.uib.no/</a:t>
            </a:r>
            <a:r>
              <a:rPr lang="en-GB" altLang="en-US" sz="1000" dirty="0" err="1"/>
              <a:t>nglhe</a:t>
            </a:r>
            <a:r>
              <a:rPr lang="en-GB" altLang="en-US" sz="1000" dirty="0"/>
              <a:t>/StructuralGeoBook.html): </a:t>
            </a:r>
            <a:r>
              <a:rPr lang="en-GB" altLang="en-US" sz="1000" dirty="0" err="1"/>
              <a:t>periclines</a:t>
            </a:r>
            <a:r>
              <a:rPr lang="en-GB" altLang="en-US" sz="1000" dirty="0"/>
              <a:t> above salt domes, satellite image deriving ultimately from NASA</a:t>
            </a:r>
          </a:p>
          <a:p>
            <a:pPr marL="108000" indent="-108000">
              <a:spcBef>
                <a:spcPts val="300"/>
              </a:spcBef>
              <a:buFont typeface="Arial" panose="020B0604020202020204" pitchFamily="34" charset="0"/>
              <a:buChar char="•"/>
            </a:pPr>
            <a:r>
              <a:rPr lang="en-GB" altLang="en-US" sz="1000" dirty="0"/>
              <a:t>Figure middle top from Price &amp; Cosgrove, p.263</a:t>
            </a:r>
          </a:p>
          <a:p>
            <a:pPr marL="108000" indent="-108000">
              <a:spcBef>
                <a:spcPts val="300"/>
              </a:spcBef>
              <a:buFont typeface="Arial" panose="020B0604020202020204" pitchFamily="34" charset="0"/>
              <a:buChar char="•"/>
            </a:pPr>
            <a:r>
              <a:rPr lang="en-GB" altLang="en-US" sz="1000" dirty="0"/>
              <a:t>Figure middle bottom from Price &amp; Cosgrove, p.265</a:t>
            </a:r>
          </a:p>
          <a:p>
            <a:pPr marL="108000" indent="-108000">
              <a:spcBef>
                <a:spcPts val="300"/>
              </a:spcBef>
              <a:buFont typeface="Arial" panose="020B0604020202020204" pitchFamily="34" charset="0"/>
              <a:buChar char="•"/>
            </a:pPr>
            <a:r>
              <a:rPr lang="en-GB" altLang="en-US" sz="1000" dirty="0"/>
              <a:t>Photo bottom left (Steve Covey-Crump): kink bands, south side of Boscastle Harbour, north Cornwall</a:t>
            </a:r>
          </a:p>
          <a:p>
            <a:pPr marL="108000" indent="-108000">
              <a:spcBef>
                <a:spcPts val="300"/>
              </a:spcBef>
              <a:buFont typeface="Arial" panose="020B0604020202020204" pitchFamily="34" charset="0"/>
              <a:buNone/>
            </a:pPr>
            <a:endParaRPr lang="en-GB" altLang="en-US" sz="1000" dirty="0"/>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3586" name="Rectangle 2"/>
          <p:cNvSpPr>
            <a:spLocks noGrp="1" noRot="1" noChangeAspect="1" noChangeArrowheads="1" noTextEdit="1"/>
          </p:cNvSpPr>
          <p:nvPr>
            <p:ph type="sldImg"/>
          </p:nvPr>
        </p:nvSpPr>
        <p:spPr>
          <a:ln/>
        </p:spPr>
      </p:sp>
      <p:sp>
        <p:nvSpPr>
          <p:cNvPr id="323587" name="Rectangle 3"/>
          <p:cNvSpPr>
            <a:spLocks noGrp="1" noChangeArrowheads="1"/>
          </p:cNvSpPr>
          <p:nvPr>
            <p:ph type="body" idx="1"/>
          </p:nvPr>
        </p:nvSpPr>
        <p:spPr>
          <a:noFill/>
        </p:spPr>
        <p:txBody>
          <a:bodyPr/>
          <a:lstStyle/>
          <a:p>
            <a:pPr marL="108000" indent="-108000">
              <a:spcBef>
                <a:spcPts val="300"/>
              </a:spcBef>
              <a:buFont typeface="Arial" panose="020B0604020202020204" pitchFamily="34" charset="0"/>
              <a:buChar char="•"/>
            </a:pPr>
            <a:r>
              <a:rPr lang="en-GB" altLang="en-US" sz="1000" dirty="0"/>
              <a:t>In the extreme case sheath folds take on a tubular shape. Hence the old French name for them – condom folds</a:t>
            </a:r>
          </a:p>
          <a:p>
            <a:pPr marL="108000" indent="-108000">
              <a:spcBef>
                <a:spcPts val="300"/>
              </a:spcBef>
              <a:buFont typeface="Arial" panose="020B0604020202020204" pitchFamily="34" charset="0"/>
              <a:buChar char="•"/>
            </a:pPr>
            <a:r>
              <a:rPr lang="en-GB" altLang="en-US" sz="1000" dirty="0"/>
              <a:t>Sheath folds have curved hinge lines with an axial surface that is approximately planar. Folds can arise that have straight hinge lines and curved axial planes – these are called </a:t>
            </a:r>
            <a:r>
              <a:rPr lang="en-GB" altLang="en-US" sz="1000" dirty="0" err="1"/>
              <a:t>polyclinal</a:t>
            </a:r>
            <a:r>
              <a:rPr lang="en-GB" altLang="en-US" sz="1000" dirty="0"/>
              <a:t> folds (see notes to Slide 39). Of course, we may also have folds with curved hinge-lines and curved axial planes, and this is commonly the case for soft-sediment folds (see next slide)</a:t>
            </a:r>
          </a:p>
          <a:p>
            <a:pPr marL="108000" indent="-108000">
              <a:spcBef>
                <a:spcPts val="300"/>
              </a:spcBef>
              <a:buFont typeface="Arial" panose="020B0604020202020204" pitchFamily="34" charset="0"/>
              <a:buChar char="•"/>
            </a:pPr>
            <a:r>
              <a:rPr lang="en-GB" altLang="en-US" sz="1000" dirty="0"/>
              <a:t>Figure top right from Price &amp; Cosgrove, p.268</a:t>
            </a:r>
          </a:p>
          <a:p>
            <a:pPr marL="108000" indent="-108000">
              <a:spcBef>
                <a:spcPts val="300"/>
              </a:spcBef>
              <a:buFont typeface="Arial" panose="020B0604020202020204" pitchFamily="34" charset="0"/>
              <a:buChar char="•"/>
            </a:pPr>
            <a:r>
              <a:rPr lang="en-GB" altLang="en-US" sz="1000" dirty="0"/>
              <a:t>Photo bottom left (from www.uni-muenster.de/GeoPalaeontologie/Geologie/Endogen/Gallery.html): sheath-folded quartz veins, </a:t>
            </a:r>
            <a:r>
              <a:rPr lang="en-GB" altLang="en-US" sz="1000" dirty="0" err="1"/>
              <a:t>Cadaques</a:t>
            </a:r>
            <a:r>
              <a:rPr lang="en-GB" altLang="en-US" sz="1000" dirty="0"/>
              <a:t>, eastern Spain</a:t>
            </a:r>
          </a:p>
          <a:p>
            <a:pPr marL="108000" indent="-108000">
              <a:spcBef>
                <a:spcPts val="300"/>
              </a:spcBef>
              <a:buFont typeface="Arial" panose="020B0604020202020204" pitchFamily="34" charset="0"/>
              <a:buChar char="•"/>
            </a:pPr>
            <a:r>
              <a:rPr lang="en-GB" altLang="en-US" sz="1000" dirty="0"/>
              <a:t>Photo bottom right (from Alsop &amp; Carreras, 2007, </a:t>
            </a:r>
            <a:r>
              <a:rPr lang="en-GB" altLang="en-US" sz="1000" i="1" dirty="0"/>
              <a:t>Journal of Structural Geology</a:t>
            </a:r>
            <a:r>
              <a:rPr lang="en-GB" altLang="en-US" sz="1000" dirty="0"/>
              <a:t> 29: 1915-1930, </a:t>
            </a:r>
            <a:r>
              <a:rPr lang="en-GB" sz="1000" dirty="0"/>
              <a:t>https://doi.org/10.1016/j.jsg.2007.09.010</a:t>
            </a:r>
            <a:r>
              <a:rPr lang="en-GB" altLang="en-US" sz="1000" dirty="0"/>
              <a:t>): sheath folds from the El </a:t>
            </a:r>
            <a:r>
              <a:rPr lang="en-GB" altLang="en-US" sz="1000" dirty="0" err="1"/>
              <a:t>Llimac</a:t>
            </a:r>
            <a:r>
              <a:rPr lang="en-GB" altLang="en-US" sz="1000" dirty="0"/>
              <a:t> shear zone, Cap de </a:t>
            </a:r>
            <a:r>
              <a:rPr lang="en-GB" altLang="en-US" sz="1000" dirty="0" err="1"/>
              <a:t>Creus</a:t>
            </a:r>
            <a:r>
              <a:rPr lang="en-GB" altLang="en-US" sz="1000" dirty="0"/>
              <a:t>, NE Spain. The Alsop &amp; Carreras paper from which this photo comes provides a good case example of how to describe sheath folds, and how to use their geometry to extract information about how they developed</a:t>
            </a:r>
          </a:p>
          <a:p>
            <a:pPr marL="108000" indent="-108000">
              <a:spcBef>
                <a:spcPts val="300"/>
              </a:spcBef>
              <a:buFont typeface="Arial" panose="020B0604020202020204" pitchFamily="34" charset="0"/>
              <a:buNone/>
            </a:pPr>
            <a:endParaRPr lang="en-GB" altLang="en-US" sz="1000" dirty="0"/>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6658" name="Rectangle 2"/>
          <p:cNvSpPr>
            <a:spLocks noGrp="1" noRot="1" noChangeAspect="1" noChangeArrowheads="1" noTextEdit="1"/>
          </p:cNvSpPr>
          <p:nvPr>
            <p:ph type="sldImg"/>
          </p:nvPr>
        </p:nvSpPr>
        <p:spPr>
          <a:ln/>
        </p:spPr>
      </p:sp>
      <p:sp>
        <p:nvSpPr>
          <p:cNvPr id="326659" name="Rectangle 3"/>
          <p:cNvSpPr>
            <a:spLocks noGrp="1" noChangeArrowheads="1"/>
          </p:cNvSpPr>
          <p:nvPr>
            <p:ph type="body" idx="1"/>
          </p:nvPr>
        </p:nvSpPr>
        <p:spPr>
          <a:noFill/>
        </p:spPr>
        <p:txBody>
          <a:bodyPr/>
          <a:lstStyle/>
          <a:p>
            <a:pPr marL="108000" indent="-108000">
              <a:spcBef>
                <a:spcPts val="300"/>
              </a:spcBef>
              <a:buFont typeface="Arial" panose="020B0604020202020204" pitchFamily="34" charset="0"/>
              <a:buChar char="•"/>
            </a:pPr>
            <a:r>
              <a:rPr lang="en-GB" altLang="en-US" sz="1000" dirty="0"/>
              <a:t>The complexity of the fold geometries arising during soft sediment deformation is generally too great for it to be meaningful to attempt a full geometric description. However, for a study of the features of folds (and associated congruent minor structures) that are produced by soft sediment deformation, and which help to distinguish them from folds formed by tectonic deformation, see Alsop </a:t>
            </a:r>
            <a:r>
              <a:rPr lang="en-GB" altLang="en-US" sz="1000" i="1" dirty="0"/>
              <a:t>et al.</a:t>
            </a:r>
            <a:r>
              <a:rPr lang="en-GB" altLang="en-US" sz="1000" i="0" dirty="0"/>
              <a:t>, 2019, </a:t>
            </a:r>
            <a:r>
              <a:rPr lang="en-GB" altLang="en-US" sz="1000" i="1" dirty="0"/>
              <a:t>Journal of Structural Geology</a:t>
            </a:r>
            <a:r>
              <a:rPr lang="en-GB" altLang="en-US" sz="1000" i="0" dirty="0"/>
              <a:t> 125: 248-255, </a:t>
            </a:r>
            <a:r>
              <a:rPr lang="en-GB" sz="1000" dirty="0"/>
              <a:t>https://doi.org/10.1016/j.jsg.2017.09.001</a:t>
            </a:r>
            <a:endParaRPr lang="en-GB" altLang="en-US" sz="1000" dirty="0"/>
          </a:p>
          <a:p>
            <a:pPr marL="108000" indent="-108000">
              <a:spcBef>
                <a:spcPts val="300"/>
              </a:spcBef>
              <a:buFont typeface="Arial" panose="020B0604020202020204" pitchFamily="34" charset="0"/>
              <a:buChar char="•"/>
            </a:pPr>
            <a:r>
              <a:rPr lang="en-GB" altLang="en-US" sz="1000" dirty="0"/>
              <a:t>Photo top (Steve Covey-Crump): convolute folds interpreted as forming by soft sediment deformation in the core of the </a:t>
            </a:r>
            <a:r>
              <a:rPr lang="en-GB" altLang="en-US" sz="1000" dirty="0" err="1"/>
              <a:t>Rhoscolyn</a:t>
            </a:r>
            <a:r>
              <a:rPr lang="en-GB" altLang="en-US" sz="1000" dirty="0"/>
              <a:t> </a:t>
            </a:r>
            <a:r>
              <a:rPr lang="en-GB" altLang="en-US" sz="1000" dirty="0" err="1"/>
              <a:t>antiform</a:t>
            </a:r>
            <a:r>
              <a:rPr lang="en-GB" altLang="en-US" sz="1000" dirty="0"/>
              <a:t>, Anglesey, North Wales</a:t>
            </a:r>
          </a:p>
          <a:p>
            <a:pPr marL="108000" indent="-108000">
              <a:spcBef>
                <a:spcPts val="300"/>
              </a:spcBef>
              <a:buFont typeface="Arial" panose="020B0604020202020204" pitchFamily="34" charset="0"/>
              <a:buChar char="•"/>
            </a:pPr>
            <a:r>
              <a:rPr lang="en-GB" altLang="en-US" sz="1000" dirty="0"/>
              <a:t>Photo bottom (BGS image database: geoscenic.bgs.ac.uk/asset-bank/action/</a:t>
            </a:r>
            <a:r>
              <a:rPr lang="en-GB" altLang="en-US" sz="1000" dirty="0" err="1"/>
              <a:t>viewHome</a:t>
            </a:r>
            <a:r>
              <a:rPr lang="en-GB" altLang="en-US" sz="1000" dirty="0"/>
              <a:t>, image P205520): folded glacial deposits, Beeston Regis, near Cromer, Norfolk</a:t>
            </a:r>
          </a:p>
          <a:p>
            <a:pPr marL="108000" indent="-108000">
              <a:spcBef>
                <a:spcPts val="300"/>
              </a:spcBef>
              <a:buFont typeface="Arial" panose="020B0604020202020204" pitchFamily="34" charset="0"/>
              <a:buNone/>
            </a:pPr>
            <a:endParaRPr lang="en-GB" altLang="en-US" sz="1000" dirty="0"/>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3826" name="Rectangle 2"/>
          <p:cNvSpPr>
            <a:spLocks noGrp="1" noRot="1" noChangeAspect="1" noChangeArrowheads="1" noTextEdit="1"/>
          </p:cNvSpPr>
          <p:nvPr>
            <p:ph type="sldImg"/>
          </p:nvPr>
        </p:nvSpPr>
        <p:spPr>
          <a:ln/>
        </p:spPr>
      </p:sp>
      <p:sp>
        <p:nvSpPr>
          <p:cNvPr id="333827" name="Rectangle 3"/>
          <p:cNvSpPr>
            <a:spLocks noGrp="1" noChangeArrowheads="1"/>
          </p:cNvSpPr>
          <p:nvPr>
            <p:ph type="body" idx="1"/>
          </p:nvPr>
        </p:nvSpPr>
        <p:spPr>
          <a:noFill/>
        </p:spPr>
        <p:txBody>
          <a:bodyPr/>
          <a:lstStyle/>
          <a:p>
            <a:pPr marL="108000" indent="-108000">
              <a:spcBef>
                <a:spcPts val="300"/>
              </a:spcBef>
              <a:buFont typeface="Arial" panose="020B0604020202020204" pitchFamily="34" charset="0"/>
              <a:buChar char="•"/>
            </a:pPr>
            <a:r>
              <a:rPr lang="en-GB" altLang="en-US" sz="1000" dirty="0"/>
              <a:t>The geometry of refolded folds may be unravelled using the congruent minor structures associated with each folding event because although a second folding event may change the geometry of first folds, it cannot change the asymmetry of its associated minor structures</a:t>
            </a:r>
          </a:p>
          <a:p>
            <a:pPr marL="108000" indent="-108000">
              <a:spcBef>
                <a:spcPts val="300"/>
              </a:spcBef>
              <a:buFont typeface="Arial" panose="020B0604020202020204" pitchFamily="34" charset="0"/>
              <a:buChar char="•"/>
            </a:pPr>
            <a:r>
              <a:rPr lang="en-GB" altLang="en-US" sz="1000" dirty="0"/>
              <a:t>Photo top right (Steve Covey-Crump): a small refolded fold from the New Harbour Group, </a:t>
            </a:r>
            <a:r>
              <a:rPr lang="en-GB" altLang="en-US" sz="1000" dirty="0" err="1"/>
              <a:t>Trearddur</a:t>
            </a:r>
            <a:r>
              <a:rPr lang="en-GB" altLang="en-US" sz="1000" dirty="0"/>
              <a:t> Bay, Holy Island, North Wales</a:t>
            </a:r>
          </a:p>
          <a:p>
            <a:pPr marL="108000" indent="-108000">
              <a:spcBef>
                <a:spcPts val="300"/>
              </a:spcBef>
              <a:buFont typeface="Arial" panose="020B0604020202020204" pitchFamily="34" charset="0"/>
              <a:buChar char="•"/>
            </a:pPr>
            <a:r>
              <a:rPr lang="en-GB" altLang="en-US" sz="1000" dirty="0"/>
              <a:t>Photo left (Steve Covey-Crump): refolded folds, </a:t>
            </a:r>
            <a:r>
              <a:rPr lang="en-GB" altLang="en-US" sz="1000" dirty="0" err="1"/>
              <a:t>Moine</a:t>
            </a:r>
            <a:r>
              <a:rPr lang="en-GB" altLang="en-US" sz="1000" dirty="0"/>
              <a:t> </a:t>
            </a:r>
            <a:r>
              <a:rPr lang="en-GB" altLang="en-US" sz="1000" dirty="0" err="1"/>
              <a:t>metasediments</a:t>
            </a:r>
            <a:r>
              <a:rPr lang="en-GB" altLang="en-US" sz="1000" dirty="0"/>
              <a:t>, glaciated pavement above the A830, 4¼ km west of Glenfinnan, Scotland. This locality, which shows some spectacular refolded folding, is described in Strachan </a:t>
            </a:r>
            <a:r>
              <a:rPr lang="en-GB" altLang="en-US" sz="1000" i="1" dirty="0"/>
              <a:t>et al.</a:t>
            </a:r>
            <a:r>
              <a:rPr lang="en-GB" altLang="en-US" sz="1000" dirty="0"/>
              <a:t>, 2010, </a:t>
            </a:r>
            <a:r>
              <a:rPr lang="en-GB" altLang="en-US" sz="1000" i="1" dirty="0"/>
              <a:t>An Excursion Guide to the </a:t>
            </a:r>
            <a:r>
              <a:rPr lang="en-GB" altLang="en-US" sz="1000" i="1" dirty="0" err="1"/>
              <a:t>Moine</a:t>
            </a:r>
            <a:r>
              <a:rPr lang="en-GB" altLang="en-US" sz="1000" i="1" dirty="0"/>
              <a:t> Geology of the North-West Highlands of Scotland</a:t>
            </a:r>
            <a:r>
              <a:rPr lang="en-GB" altLang="en-US" sz="1000" dirty="0"/>
              <a:t>, p.65-68</a:t>
            </a:r>
          </a:p>
          <a:p>
            <a:pPr marL="108000" indent="-108000">
              <a:spcBef>
                <a:spcPts val="300"/>
              </a:spcBef>
              <a:buFont typeface="Arial" panose="020B0604020202020204" pitchFamily="34" charset="0"/>
              <a:buChar char="•"/>
            </a:pPr>
            <a:r>
              <a:rPr lang="en-GB" altLang="en-US" sz="1000" dirty="0"/>
              <a:t>Photo bottom right (Steve Covey-Crump): refolded folds, </a:t>
            </a:r>
            <a:r>
              <a:rPr lang="en-GB" altLang="en-US" sz="1000" dirty="0" err="1"/>
              <a:t>Moine</a:t>
            </a:r>
            <a:r>
              <a:rPr lang="en-GB" altLang="en-US" sz="1000" dirty="0"/>
              <a:t> metasediments, Ross of Mull, Scotland</a:t>
            </a:r>
          </a:p>
          <a:p>
            <a:pPr marL="108000" indent="-108000">
              <a:spcBef>
                <a:spcPts val="300"/>
              </a:spcBef>
              <a:buFont typeface="Arial" panose="020B0604020202020204" pitchFamily="34" charset="0"/>
              <a:buNone/>
            </a:pPr>
            <a:endParaRPr lang="en-GB" altLang="en-US" sz="1000" dirty="0"/>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6354" name="Rectangle 2"/>
          <p:cNvSpPr>
            <a:spLocks noGrp="1" noRot="1" noChangeAspect="1" noChangeArrowheads="1" noTextEdit="1"/>
          </p:cNvSpPr>
          <p:nvPr>
            <p:ph type="sldImg"/>
          </p:nvPr>
        </p:nvSpPr>
        <p:spPr>
          <a:ln/>
        </p:spPr>
      </p:sp>
      <p:sp>
        <p:nvSpPr>
          <p:cNvPr id="356355" name="Rectangle 3"/>
          <p:cNvSpPr>
            <a:spLocks noGrp="1" noChangeArrowheads="1"/>
          </p:cNvSpPr>
          <p:nvPr>
            <p:ph type="body" idx="1"/>
          </p:nvPr>
        </p:nvSpPr>
        <p:spPr>
          <a:noFill/>
        </p:spPr>
        <p:txBody>
          <a:bodyPr/>
          <a:lstStyle/>
          <a:p>
            <a:pPr marL="108000" indent="-108000">
              <a:spcBef>
                <a:spcPts val="300"/>
              </a:spcBef>
              <a:buFont typeface="Arial" panose="020B0604020202020204" pitchFamily="34" charset="0"/>
              <a:buChar char="•"/>
            </a:pPr>
            <a:r>
              <a:rPr lang="en-GB" altLang="en-US" sz="1000" dirty="0"/>
              <a:t>Nomenclature: F</a:t>
            </a:r>
            <a:r>
              <a:rPr lang="en-GB" altLang="en-US" sz="1000" baseline="-25000" dirty="0"/>
              <a:t>1</a:t>
            </a:r>
            <a:r>
              <a:rPr lang="en-GB" altLang="en-US" sz="1000" dirty="0"/>
              <a:t>, F</a:t>
            </a:r>
            <a:r>
              <a:rPr lang="en-GB" altLang="en-US" sz="1000" baseline="-25000" dirty="0"/>
              <a:t>2</a:t>
            </a:r>
            <a:r>
              <a:rPr lang="en-GB" altLang="en-US" sz="1000" dirty="0"/>
              <a:t> refer to folds from the first deformation event and second deformation event respectively; S</a:t>
            </a:r>
            <a:r>
              <a:rPr lang="en-GB" altLang="en-US" sz="1000" baseline="-25000" dirty="0"/>
              <a:t>1</a:t>
            </a:r>
            <a:r>
              <a:rPr lang="en-GB" altLang="en-US" sz="1000" dirty="0"/>
              <a:t> and S</a:t>
            </a:r>
            <a:r>
              <a:rPr lang="en-GB" altLang="en-US" sz="1000" baseline="-25000" dirty="0"/>
              <a:t>2</a:t>
            </a:r>
            <a:r>
              <a:rPr lang="en-GB" altLang="en-US" sz="1000" dirty="0"/>
              <a:t> refer to the axial planes of the F</a:t>
            </a:r>
            <a:r>
              <a:rPr lang="en-GB" altLang="en-US" sz="1000" baseline="-25000" dirty="0"/>
              <a:t>1</a:t>
            </a:r>
            <a:r>
              <a:rPr lang="en-GB" altLang="en-US" sz="1000" dirty="0"/>
              <a:t> and F</a:t>
            </a:r>
            <a:r>
              <a:rPr lang="en-GB" altLang="en-US" sz="1000" baseline="-25000" dirty="0"/>
              <a:t>2</a:t>
            </a:r>
            <a:r>
              <a:rPr lang="en-GB" altLang="en-US" sz="1000" dirty="0"/>
              <a:t> folds respectively (see Class 1 Slide 35)</a:t>
            </a:r>
          </a:p>
          <a:p>
            <a:pPr marL="108000" indent="-108000">
              <a:spcBef>
                <a:spcPts val="300"/>
              </a:spcBef>
              <a:buFont typeface="Arial" panose="020B0604020202020204" pitchFamily="34" charset="0"/>
              <a:buChar char="•"/>
            </a:pPr>
            <a:r>
              <a:rPr lang="en-GB" altLang="en-US" sz="1000" dirty="0"/>
              <a:t>Not everyone finds it easy to visualize fold interference patterns. To assist the process, the Fault Analysis Group at University College Dublin have generated some paper models to illustrate the geometry (see www.fault-analysis-group.ucd.ie, use the “Educational Material” tab and go to “Superposed Folds”). The image bottom left on this slide comes from that web page</a:t>
            </a:r>
          </a:p>
          <a:p>
            <a:pPr marL="108000" indent="-108000">
              <a:spcBef>
                <a:spcPts val="300"/>
              </a:spcBef>
              <a:buFont typeface="Arial" panose="020B0604020202020204" pitchFamily="34" charset="0"/>
              <a:buChar char="•"/>
            </a:pPr>
            <a:r>
              <a:rPr lang="en-GB" altLang="en-US" sz="1000" dirty="0"/>
              <a:t>Figures top right and bottom right are redrawn by Steve Covey-Crump from Ramsay, 1967, </a:t>
            </a:r>
            <a:r>
              <a:rPr lang="en-GB" altLang="en-US" sz="1000" i="1" dirty="0"/>
              <a:t>Folding and Fracturing of Rocks</a:t>
            </a:r>
            <a:r>
              <a:rPr lang="en-GB" altLang="en-US" sz="1000" dirty="0"/>
              <a:t>, p.521 and p.531</a:t>
            </a:r>
          </a:p>
          <a:p>
            <a:pPr marL="108000" indent="-108000">
              <a:spcBef>
                <a:spcPts val="300"/>
              </a:spcBef>
              <a:buFont typeface="Arial" panose="020B0604020202020204" pitchFamily="34" charset="0"/>
              <a:buNone/>
            </a:pPr>
            <a:endParaRPr lang="en-GB" altLang="en-US" sz="1000" dirty="0"/>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7138" name="Rectangle 2"/>
          <p:cNvSpPr>
            <a:spLocks noGrp="1" noRot="1" noChangeAspect="1" noChangeArrowheads="1" noTextEdit="1"/>
          </p:cNvSpPr>
          <p:nvPr>
            <p:ph type="sldImg"/>
          </p:nvPr>
        </p:nvSpPr>
        <p:spPr>
          <a:ln/>
        </p:spPr>
      </p:sp>
      <p:sp>
        <p:nvSpPr>
          <p:cNvPr id="347139" name="Rectangle 3"/>
          <p:cNvSpPr>
            <a:spLocks noGrp="1" noChangeArrowheads="1"/>
          </p:cNvSpPr>
          <p:nvPr>
            <p:ph type="body" idx="1"/>
          </p:nvPr>
        </p:nvSpPr>
        <p:spPr>
          <a:noFill/>
        </p:spPr>
        <p:txBody>
          <a:bodyPr/>
          <a:lstStyle/>
          <a:p>
            <a:pPr marL="108000" indent="-108000">
              <a:spcBef>
                <a:spcPts val="300"/>
              </a:spcBef>
              <a:buFont typeface="Arial" panose="020B0604020202020204" pitchFamily="34" charset="0"/>
              <a:buChar char="•"/>
            </a:pPr>
            <a:r>
              <a:rPr lang="en-GB" altLang="en-US" sz="1000" dirty="0"/>
              <a:t>Figures redrawn by Steve Covey-Crump from Ramsay, 1967, </a:t>
            </a:r>
            <a:r>
              <a:rPr lang="en-GB" altLang="en-US" sz="1000" i="1" dirty="0"/>
              <a:t>Folding and Fracturing of Rocks</a:t>
            </a:r>
            <a:r>
              <a:rPr lang="en-GB" altLang="en-US" sz="1000" dirty="0"/>
              <a:t>, p.522 and p.531. The top right figure is annotated by Steve Covey-Crump</a:t>
            </a:r>
          </a:p>
          <a:p>
            <a:pPr marL="108000" indent="-108000">
              <a:spcBef>
                <a:spcPts val="300"/>
              </a:spcBef>
              <a:buFont typeface="Arial" panose="020B0604020202020204" pitchFamily="34" charset="0"/>
              <a:buNone/>
            </a:pPr>
            <a:endParaRPr lang="en-GB" altLang="en-US" sz="1000" dirty="0"/>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62" name="Rectangle 2"/>
          <p:cNvSpPr>
            <a:spLocks noGrp="1" noRot="1" noChangeAspect="1" noChangeArrowheads="1" noTextEdit="1"/>
          </p:cNvSpPr>
          <p:nvPr>
            <p:ph type="sldImg"/>
          </p:nvPr>
        </p:nvSpPr>
        <p:spPr>
          <a:ln/>
        </p:spPr>
      </p:sp>
      <p:sp>
        <p:nvSpPr>
          <p:cNvPr id="348163" name="Rectangle 3"/>
          <p:cNvSpPr>
            <a:spLocks noGrp="1" noChangeArrowheads="1"/>
          </p:cNvSpPr>
          <p:nvPr>
            <p:ph type="body" idx="1"/>
          </p:nvPr>
        </p:nvSpPr>
        <p:spPr>
          <a:noFill/>
        </p:spPr>
        <p:txBody>
          <a:bodyPr/>
          <a:lstStyle/>
          <a:p>
            <a:pPr marL="108000" indent="-108000">
              <a:spcBef>
                <a:spcPts val="300"/>
              </a:spcBef>
              <a:buFont typeface="Arial" panose="020B0604020202020204" pitchFamily="34" charset="0"/>
              <a:buChar char="•"/>
            </a:pPr>
            <a:r>
              <a:rPr lang="en-GB" altLang="en-US" sz="1000" dirty="0"/>
              <a:t>Figures redrawn by Steve Covey-Crump from Ramsay, 1967, </a:t>
            </a:r>
            <a:r>
              <a:rPr lang="en-GB" altLang="en-US" sz="1000" i="1" dirty="0"/>
              <a:t>Folding and Fracturing of Rocks</a:t>
            </a:r>
            <a:r>
              <a:rPr lang="en-GB" altLang="en-US" sz="1000" dirty="0"/>
              <a:t>, p.527 and p.531. The top right figure is annotated by Steve Covey-Crump</a:t>
            </a:r>
          </a:p>
          <a:p>
            <a:pPr marL="108000" indent="-108000">
              <a:spcBef>
                <a:spcPts val="300"/>
              </a:spcBef>
            </a:pPr>
            <a:endParaRPr lang="en-GB" altLang="en-US" dirty="0"/>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9186" name="Rectangle 2"/>
          <p:cNvSpPr>
            <a:spLocks noGrp="1" noRot="1" noChangeAspect="1" noChangeArrowheads="1" noTextEdit="1"/>
          </p:cNvSpPr>
          <p:nvPr>
            <p:ph type="sldImg"/>
          </p:nvPr>
        </p:nvSpPr>
        <p:spPr>
          <a:ln/>
        </p:spPr>
      </p:sp>
      <p:sp>
        <p:nvSpPr>
          <p:cNvPr id="349187" name="Rectangle 3"/>
          <p:cNvSpPr>
            <a:spLocks noGrp="1" noChangeArrowheads="1"/>
          </p:cNvSpPr>
          <p:nvPr>
            <p:ph type="body" idx="1"/>
          </p:nvPr>
        </p:nvSpPr>
        <p:spPr>
          <a:noFill/>
        </p:spPr>
        <p:txBody>
          <a:bodyPr/>
          <a:lstStyle/>
          <a:p>
            <a:pPr marL="108000" indent="-108000">
              <a:spcBef>
                <a:spcPts val="300"/>
              </a:spcBef>
              <a:buFont typeface="Arial" panose="020B0604020202020204" pitchFamily="34" charset="0"/>
              <a:buChar char="•"/>
            </a:pPr>
            <a:r>
              <a:rPr lang="en-GB" altLang="en-US" sz="1000" dirty="0"/>
              <a:t>In Type 3 refolded folds the F</a:t>
            </a:r>
            <a:r>
              <a:rPr lang="en-GB" altLang="en-US" sz="1000" baseline="-25000" dirty="0"/>
              <a:t>1</a:t>
            </a:r>
            <a:r>
              <a:rPr lang="en-GB" altLang="en-US" sz="1000" baseline="0" dirty="0"/>
              <a:t> and F</a:t>
            </a:r>
            <a:r>
              <a:rPr lang="en-GB" altLang="en-US" sz="1000" baseline="-25000" dirty="0"/>
              <a:t>2</a:t>
            </a:r>
            <a:r>
              <a:rPr lang="en-GB" altLang="en-US" sz="1000" baseline="0" dirty="0"/>
              <a:t> </a:t>
            </a:r>
            <a:r>
              <a:rPr lang="en-GB" altLang="en-US" sz="1000" dirty="0"/>
              <a:t>fold axes </a:t>
            </a:r>
            <a:r>
              <a:rPr lang="en-GB" altLang="en-US" sz="1000" baseline="0" dirty="0"/>
              <a:t>are in approximately the same direction (that’s what coaxial means). However, the axial surfaces for the two sets of folds </a:t>
            </a:r>
            <a:r>
              <a:rPr lang="en-GB" altLang="en-US" sz="1000" spc="100" baseline="0" dirty="0"/>
              <a:t>(</a:t>
            </a:r>
            <a:r>
              <a:rPr lang="en-GB" altLang="en-US" sz="1000" baseline="0" dirty="0"/>
              <a:t>S</a:t>
            </a:r>
            <a:r>
              <a:rPr lang="en-GB" altLang="en-US" sz="1000" baseline="-25000" dirty="0"/>
              <a:t>1</a:t>
            </a:r>
            <a:r>
              <a:rPr lang="en-GB" altLang="en-US" sz="1000" baseline="0" dirty="0"/>
              <a:t> and S</a:t>
            </a:r>
            <a:r>
              <a:rPr lang="en-GB" altLang="en-US" sz="1000" spc="150" baseline="-25000" dirty="0"/>
              <a:t>2</a:t>
            </a:r>
            <a:r>
              <a:rPr lang="en-GB" altLang="en-US" sz="1000" baseline="0" dirty="0"/>
              <a:t>) are very different. Hence the end result is approximately straight F</a:t>
            </a:r>
            <a:r>
              <a:rPr lang="en-GB" altLang="en-US" sz="1000" baseline="-25000" dirty="0"/>
              <a:t>1</a:t>
            </a:r>
            <a:r>
              <a:rPr lang="en-GB" altLang="en-US" sz="1000" baseline="0" dirty="0"/>
              <a:t> and curved </a:t>
            </a:r>
            <a:r>
              <a:rPr lang="en-GB" altLang="en-US" sz="1000" i="0" baseline="0" dirty="0"/>
              <a:t>S</a:t>
            </a:r>
            <a:r>
              <a:rPr lang="en-GB" altLang="en-US" sz="1000" i="0" baseline="-25000" dirty="0"/>
              <a:t>1</a:t>
            </a:r>
            <a:r>
              <a:rPr lang="en-GB" altLang="en-US" sz="1000" baseline="0" dirty="0"/>
              <a:t>. This is a </a:t>
            </a:r>
            <a:r>
              <a:rPr lang="en-GB" altLang="en-US" sz="1000" baseline="0" dirty="0" err="1"/>
              <a:t>polyclinal</a:t>
            </a:r>
            <a:r>
              <a:rPr lang="en-GB" altLang="en-US" sz="1000" baseline="0" dirty="0"/>
              <a:t> fold (see notes to Slide 33). </a:t>
            </a:r>
            <a:r>
              <a:rPr lang="en-GB" altLang="en-US" sz="1000" baseline="0" dirty="0" err="1"/>
              <a:t>Polyclinal</a:t>
            </a:r>
            <a:r>
              <a:rPr lang="en-GB" altLang="en-US" sz="1000" baseline="0" dirty="0"/>
              <a:t> folds may actually be developed in one single deformation event, that is, the fact that we have a Type 3 fold interference pattern does not automatically mean that we have two folding events. It is not easy to get one’s head around how Type 3 fold interference patterns can be generated in a single folding event but an attempt to show that this is so is described by Carreras &amp; </a:t>
            </a:r>
            <a:r>
              <a:rPr lang="en-GB" altLang="en-US" sz="1000" baseline="0" dirty="0" err="1"/>
              <a:t>Druguet</a:t>
            </a:r>
            <a:r>
              <a:rPr lang="en-GB" altLang="en-US" sz="1000" baseline="0" dirty="0"/>
              <a:t>, 2019, </a:t>
            </a:r>
            <a:r>
              <a:rPr lang="en-GB" altLang="en-US" sz="1000" i="1" dirty="0"/>
              <a:t>Journal of Structural Geology</a:t>
            </a:r>
            <a:r>
              <a:rPr lang="en-GB" altLang="en-US" sz="1000" i="0" dirty="0"/>
              <a:t> 125, 195-201, </a:t>
            </a:r>
            <a:r>
              <a:rPr lang="en-GB" sz="1000" dirty="0"/>
              <a:t>https://doi.org/10.1016/j.jsg.2018.07.015</a:t>
            </a:r>
            <a:endParaRPr lang="en-GB" altLang="en-US" sz="1000" dirty="0"/>
          </a:p>
          <a:p>
            <a:pPr marL="108000" indent="-108000">
              <a:spcBef>
                <a:spcPts val="300"/>
              </a:spcBef>
              <a:buFont typeface="Arial" panose="020B0604020202020204" pitchFamily="34" charset="0"/>
              <a:buChar char="•"/>
            </a:pPr>
            <a:r>
              <a:rPr lang="en-GB" altLang="en-US" sz="1000" dirty="0"/>
              <a:t>Figures redrawn by Steve Covey-Crump from Ramsay, 1967, </a:t>
            </a:r>
            <a:r>
              <a:rPr lang="en-GB" altLang="en-US" sz="1000" i="1" dirty="0"/>
              <a:t>Folding and Fracturing of Rocks</a:t>
            </a:r>
            <a:r>
              <a:rPr lang="en-GB" altLang="en-US" sz="1000" dirty="0"/>
              <a:t>, p.533 and p.531. The top right figure is annotated by Steve Covey-Crump</a:t>
            </a:r>
          </a:p>
          <a:p>
            <a:pPr marL="108000" indent="-108000">
              <a:spcBef>
                <a:spcPts val="300"/>
              </a:spcBef>
            </a:pPr>
            <a:endParaRPr lang="en-GB" altLang="en-US" sz="1000" dirty="0"/>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2498" name="Rectangle 2"/>
          <p:cNvSpPr>
            <a:spLocks noGrp="1" noRot="1" noChangeAspect="1" noChangeArrowheads="1" noTextEdit="1"/>
          </p:cNvSpPr>
          <p:nvPr>
            <p:ph type="sldImg"/>
          </p:nvPr>
        </p:nvSpPr>
        <p:spPr>
          <a:ln/>
        </p:spPr>
      </p:sp>
      <p:sp>
        <p:nvSpPr>
          <p:cNvPr id="362499" name="Rectangle 3"/>
          <p:cNvSpPr>
            <a:spLocks noGrp="1" noChangeArrowheads="1"/>
          </p:cNvSpPr>
          <p:nvPr>
            <p:ph type="body" idx="1"/>
          </p:nvPr>
        </p:nvSpPr>
        <p:spPr>
          <a:noFill/>
        </p:spPr>
        <p:txBody>
          <a:bodyPr/>
          <a:lstStyle/>
          <a:p>
            <a:pPr marL="108000" indent="-108000">
              <a:spcBef>
                <a:spcPts val="300"/>
              </a:spcBef>
              <a:buFont typeface="Arial" panose="020B0604020202020204" pitchFamily="34" charset="0"/>
              <a:buChar char="•"/>
            </a:pPr>
            <a:r>
              <a:rPr lang="en-GB" altLang="en-US" sz="1000" dirty="0"/>
              <a:t>Photo top left (from Ramsay, 1967, </a:t>
            </a:r>
            <a:r>
              <a:rPr lang="en-GB" altLang="en-US" sz="1000" i="1" dirty="0"/>
              <a:t>Folding and Fracturing of Rocks</a:t>
            </a:r>
            <a:r>
              <a:rPr lang="en-GB" altLang="en-US" sz="1000" dirty="0"/>
              <a:t>, p.524): folded </a:t>
            </a:r>
            <a:r>
              <a:rPr lang="en-GB" altLang="en-US" sz="1000" dirty="0" err="1"/>
              <a:t>Moine</a:t>
            </a:r>
            <a:r>
              <a:rPr lang="en-GB" altLang="en-US" sz="1000" dirty="0"/>
              <a:t> </a:t>
            </a:r>
            <a:r>
              <a:rPr lang="en-GB" altLang="en-US" sz="1000" dirty="0" err="1"/>
              <a:t>metasediments</a:t>
            </a:r>
            <a:r>
              <a:rPr lang="en-GB" altLang="en-US" sz="1000" dirty="0"/>
              <a:t>, east end of Loch </a:t>
            </a:r>
            <a:r>
              <a:rPr lang="en-GB" altLang="en-US" sz="1000" dirty="0" err="1"/>
              <a:t>Monar</a:t>
            </a:r>
            <a:r>
              <a:rPr lang="en-GB" altLang="en-US" sz="1000" dirty="0"/>
              <a:t>, Scotland. The locality where this photo comes from is described in Strachan </a:t>
            </a:r>
            <a:r>
              <a:rPr lang="en-GB" altLang="en-US" sz="1000" i="1" dirty="0"/>
              <a:t>et al.</a:t>
            </a:r>
            <a:r>
              <a:rPr lang="en-GB" altLang="en-US" sz="1000" dirty="0"/>
              <a:t>, 2010, </a:t>
            </a:r>
            <a:r>
              <a:rPr lang="en-GB" altLang="en-US" sz="1000" i="1" dirty="0"/>
              <a:t>An Excursion Guide to the </a:t>
            </a:r>
            <a:r>
              <a:rPr lang="en-GB" altLang="en-US" sz="1000" i="1" dirty="0" err="1"/>
              <a:t>Moine</a:t>
            </a:r>
            <a:r>
              <a:rPr lang="en-GB" altLang="en-US" sz="1000" i="1" dirty="0"/>
              <a:t> Geology of the Northern Highlands of Scotland</a:t>
            </a:r>
            <a:r>
              <a:rPr lang="en-GB" altLang="en-US" sz="1000" dirty="0"/>
              <a:t>, (p.153-161, particularly locality 8.3)</a:t>
            </a:r>
          </a:p>
          <a:p>
            <a:pPr marL="108000" indent="-108000">
              <a:spcBef>
                <a:spcPts val="300"/>
              </a:spcBef>
              <a:buFont typeface="Arial" panose="020B0604020202020204" pitchFamily="34" charset="0"/>
              <a:buChar char="•"/>
            </a:pPr>
            <a:r>
              <a:rPr lang="en-GB" altLang="en-US" sz="1000" dirty="0"/>
              <a:t>Photo bottom left (from Ramsay, 1967, </a:t>
            </a:r>
            <a:r>
              <a:rPr lang="en-GB" altLang="en-US" sz="1000" i="1" dirty="0"/>
              <a:t>Folding and Fracturing of Rocks</a:t>
            </a:r>
            <a:r>
              <a:rPr lang="en-GB" altLang="en-US" sz="1000" dirty="0"/>
              <a:t>, p.529): folded </a:t>
            </a:r>
            <a:r>
              <a:rPr lang="en-GB" altLang="en-US" sz="1000" dirty="0" err="1"/>
              <a:t>Moine</a:t>
            </a:r>
            <a:r>
              <a:rPr lang="en-GB" altLang="en-US" sz="1000" dirty="0"/>
              <a:t> metasediments, Loch </a:t>
            </a:r>
            <a:r>
              <a:rPr lang="en-GB" altLang="en-US" sz="1000" dirty="0" err="1"/>
              <a:t>Hourne</a:t>
            </a:r>
            <a:r>
              <a:rPr lang="en-GB" altLang="en-US" sz="1000" dirty="0"/>
              <a:t>, Scotland</a:t>
            </a:r>
          </a:p>
          <a:p>
            <a:pPr marL="108000" indent="-108000">
              <a:spcBef>
                <a:spcPts val="300"/>
              </a:spcBef>
              <a:buFont typeface="Arial" panose="020B0604020202020204" pitchFamily="34" charset="0"/>
              <a:buChar char="•"/>
            </a:pPr>
            <a:r>
              <a:rPr lang="en-GB" altLang="en-US" sz="1000" dirty="0"/>
              <a:t>Photo right (from https://www.reddit.com/r/geology/comments/6g6jdg/refolded_folds_in_the_dalradian_metasediments_of/): refolded thin-bedded quartzite within a dominantly </a:t>
            </a:r>
            <a:r>
              <a:rPr lang="en-GB" altLang="en-US" sz="1000" dirty="0" err="1"/>
              <a:t>pelitic</a:t>
            </a:r>
            <a:r>
              <a:rPr lang="en-GB" altLang="en-US" sz="1000" dirty="0"/>
              <a:t> unit (</a:t>
            </a:r>
            <a:r>
              <a:rPr lang="en-GB" altLang="en-US" sz="1000" dirty="0" err="1"/>
              <a:t>Binnein</a:t>
            </a:r>
            <a:r>
              <a:rPr lang="en-GB" altLang="en-US" sz="1000" dirty="0"/>
              <a:t> Schists), </a:t>
            </a:r>
            <a:r>
              <a:rPr lang="en-GB" altLang="en-US" sz="1000" dirty="0" err="1"/>
              <a:t>Kinlochleven</a:t>
            </a:r>
            <a:r>
              <a:rPr lang="en-GB" altLang="en-US" sz="1000" dirty="0"/>
              <a:t>, Scotland. Note how the early fold hinges and the later fold hinges are approximately coaxial</a:t>
            </a:r>
          </a:p>
          <a:p>
            <a:pPr marL="108000" indent="-108000">
              <a:spcBef>
                <a:spcPts val="300"/>
              </a:spcBef>
              <a:buFont typeface="Arial" panose="020B0604020202020204" pitchFamily="34" charset="0"/>
              <a:buNone/>
            </a:pPr>
            <a:endParaRPr lang="en-GB" altLang="en-US" sz="1000" dirty="0"/>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2674" name="Rectangle 2"/>
          <p:cNvSpPr>
            <a:spLocks noGrp="1" noRot="1" noChangeAspect="1" noChangeArrowheads="1" noTextEdit="1"/>
          </p:cNvSpPr>
          <p:nvPr>
            <p:ph type="sldImg"/>
          </p:nvPr>
        </p:nvSpPr>
        <p:spPr>
          <a:ln/>
        </p:spPr>
      </p:sp>
      <p:sp>
        <p:nvSpPr>
          <p:cNvPr id="412675" name="Rectangle 3"/>
          <p:cNvSpPr>
            <a:spLocks noGrp="1" noChangeArrowheads="1"/>
          </p:cNvSpPr>
          <p:nvPr>
            <p:ph type="body" idx="1"/>
          </p:nvPr>
        </p:nvSpPr>
        <p:spPr>
          <a:noFill/>
        </p:spPr>
        <p:txBody>
          <a:bodyPr/>
          <a:lstStyle/>
          <a:p>
            <a:pPr marL="108000" indent="-108000">
              <a:spcBef>
                <a:spcPts val="300"/>
              </a:spcBef>
              <a:buFont typeface="Arial" panose="020B0604020202020204" pitchFamily="34" charset="0"/>
              <a:buChar char="•"/>
            </a:pPr>
            <a:r>
              <a:rPr lang="en-GB" altLang="en-US" sz="1000" dirty="0"/>
              <a:t>The interference patterns on the previous few slides are defined for situations in which the folds from each deformation phase are cylindrical. In reality, the folds from one or both phases may be non-cylindrical and so rather more complex fold interference patterns may arise</a:t>
            </a:r>
          </a:p>
          <a:p>
            <a:pPr marL="108000" indent="-108000">
              <a:spcBef>
                <a:spcPts val="300"/>
              </a:spcBef>
              <a:buFont typeface="Arial" panose="020B0604020202020204" pitchFamily="34" charset="0"/>
              <a:buChar char="•"/>
            </a:pPr>
            <a:r>
              <a:rPr lang="en-GB" altLang="en-US" sz="1000" dirty="0"/>
              <a:t>For experiments designed to examine the factors that influence refold geometry, see Ghosh </a:t>
            </a:r>
            <a:r>
              <a:rPr lang="en-GB" altLang="en-US" sz="1000" i="1" dirty="0"/>
              <a:t>et al.</a:t>
            </a:r>
            <a:r>
              <a:rPr lang="en-GB" altLang="en-US" sz="1000" dirty="0"/>
              <a:t>, 1992, </a:t>
            </a:r>
            <a:r>
              <a:rPr lang="en-GB" altLang="en-US" sz="1000" i="1" dirty="0"/>
              <a:t>Journal of Structural Geology</a:t>
            </a:r>
            <a:r>
              <a:rPr lang="en-GB" altLang="en-US" sz="1000" dirty="0"/>
              <a:t> 14: 381-394, </a:t>
            </a:r>
            <a:r>
              <a:rPr lang="en-GB" sz="1000" dirty="0"/>
              <a:t>https://doi.org/10.1016/0191-8141(92)90100-B</a:t>
            </a:r>
            <a:r>
              <a:rPr lang="en-GB" altLang="en-US" sz="1000" dirty="0"/>
              <a:t>; </a:t>
            </a:r>
            <a:r>
              <a:rPr lang="en-GB" altLang="en-US" sz="1000" dirty="0" err="1"/>
              <a:t>Gruji</a:t>
            </a:r>
            <a:r>
              <a:rPr lang="en-US" altLang="en-US" sz="1000" dirty="0">
                <a:cs typeface="Times New Roman" pitchFamily="18" charset="0"/>
              </a:rPr>
              <a:t>ć, 1993, </a:t>
            </a:r>
            <a:r>
              <a:rPr lang="en-US" altLang="en-US" sz="1000" i="1" dirty="0">
                <a:cs typeface="Times New Roman" pitchFamily="18" charset="0"/>
              </a:rPr>
              <a:t>Journal of Structural Geology</a:t>
            </a:r>
            <a:r>
              <a:rPr lang="en-US" altLang="en-US" sz="1000" dirty="0">
                <a:cs typeface="Times New Roman" pitchFamily="18" charset="0"/>
              </a:rPr>
              <a:t> 15: 293-307, </a:t>
            </a:r>
            <a:r>
              <a:rPr lang="en-GB" sz="1000" dirty="0"/>
              <a:t>https://doi.org/10.1016/0191-8141(93)90127-V</a:t>
            </a:r>
            <a:endParaRPr lang="en-US" altLang="en-US" sz="1000" dirty="0">
              <a:cs typeface="Times New Roman" pitchFamily="18" charset="0"/>
            </a:endParaRPr>
          </a:p>
          <a:p>
            <a:pPr marL="108000" indent="-108000">
              <a:spcBef>
                <a:spcPts val="300"/>
              </a:spcBef>
              <a:buFont typeface="Arial" panose="020B0604020202020204" pitchFamily="34" charset="0"/>
              <a:buChar char="•"/>
            </a:pPr>
            <a:r>
              <a:rPr lang="en-US" altLang="en-US" sz="1000" dirty="0">
                <a:cs typeface="Times New Roman" pitchFamily="18" charset="0"/>
              </a:rPr>
              <a:t>Your September field course mapping area (Aliaga, northern Spain) provides a splendid example of large-scale refolded folds – for a description of these see Simón, 2004, </a:t>
            </a:r>
            <a:r>
              <a:rPr lang="en-US" altLang="en-US" sz="1000" i="1" dirty="0">
                <a:cs typeface="Times New Roman" pitchFamily="18" charset="0"/>
              </a:rPr>
              <a:t>Journal of Structural Geology </a:t>
            </a:r>
            <a:r>
              <a:rPr lang="en-US" altLang="en-US" sz="1000" dirty="0">
                <a:cs typeface="Times New Roman" pitchFamily="18" charset="0"/>
              </a:rPr>
              <a:t>26: 1447-1464, </a:t>
            </a:r>
            <a:r>
              <a:rPr lang="en-GB" sz="1000" dirty="0"/>
              <a:t>https://doi.org/10.1016/j.jsg.2003.11.026</a:t>
            </a:r>
            <a:endParaRPr lang="en-GB" altLang="en-US" sz="1000" dirty="0"/>
          </a:p>
          <a:p>
            <a:pPr marL="108000" indent="-108000">
              <a:spcBef>
                <a:spcPts val="300"/>
              </a:spcBef>
              <a:buFont typeface="Arial" panose="020B0604020202020204" pitchFamily="34" charset="0"/>
              <a:buChar char="•"/>
            </a:pPr>
            <a:r>
              <a:rPr lang="en-GB" altLang="en-US" sz="1000" dirty="0"/>
              <a:t>Photo (Steve Covey-Crump): refolded </a:t>
            </a:r>
            <a:r>
              <a:rPr lang="en-GB" altLang="en-US" sz="1000" dirty="0" err="1"/>
              <a:t>Binnein</a:t>
            </a:r>
            <a:r>
              <a:rPr lang="en-GB" altLang="en-US" sz="1000" dirty="0"/>
              <a:t> Schists, loch-side, </a:t>
            </a:r>
            <a:r>
              <a:rPr lang="en-GB" altLang="en-US" sz="1000" dirty="0" err="1"/>
              <a:t>Kinlochleven</a:t>
            </a:r>
            <a:endParaRPr lang="en-GB" altLang="en-US" sz="1000" dirty="0"/>
          </a:p>
          <a:p>
            <a:pPr marL="108000" indent="-108000">
              <a:spcBef>
                <a:spcPts val="300"/>
              </a:spcBef>
              <a:buFont typeface="Arial" panose="020B0604020202020204" pitchFamily="34" charset="0"/>
              <a:buNone/>
            </a:pPr>
            <a:endParaRPr lang="en-GB" altLang="en-US" sz="1000" dirty="0"/>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08000" indent="-108000">
              <a:spcBef>
                <a:spcPts val="300"/>
              </a:spcBef>
              <a:buFont typeface="Arial" panose="020B0604020202020204" pitchFamily="34" charset="0"/>
              <a:buChar char="•"/>
            </a:pPr>
            <a:r>
              <a:rPr lang="en-US" sz="1000" dirty="0"/>
              <a:t>John Ramsay died not long ago. For an on-line obituary, see https://erdw.ethz.ch/en/news-events/news/archive/2021/01/in-memoriam-john-ramsay.html</a:t>
            </a:r>
          </a:p>
          <a:p>
            <a:pPr marL="0" indent="0">
              <a:spcBef>
                <a:spcPts val="300"/>
              </a:spcBef>
              <a:buFont typeface="Arial" panose="020B0604020202020204" pitchFamily="34" charset="0"/>
              <a:buNone/>
            </a:pPr>
            <a:endParaRPr lang="en-GB" sz="1000" dirty="0"/>
          </a:p>
        </p:txBody>
      </p:sp>
      <p:sp>
        <p:nvSpPr>
          <p:cNvPr id="4" name="Slide Number Placeholder 3"/>
          <p:cNvSpPr>
            <a:spLocks noGrp="1"/>
          </p:cNvSpPr>
          <p:nvPr>
            <p:ph type="sldNum" sz="quarter" idx="5"/>
          </p:nvPr>
        </p:nvSpPr>
        <p:spPr/>
        <p:txBody>
          <a:bodyPr/>
          <a:lstStyle/>
          <a:p>
            <a:pPr>
              <a:defRPr/>
            </a:pPr>
            <a:fld id="{191A2F79-A017-42D6-8201-7C30C5811AA8}" type="slidenum">
              <a:rPr lang="en-GB" smtClean="0"/>
              <a:pPr>
                <a:defRPr/>
              </a:pPr>
              <a:t>42</a:t>
            </a:fld>
            <a:endParaRPr lang="en-GB"/>
          </a:p>
        </p:txBody>
      </p:sp>
    </p:spTree>
    <p:extLst>
      <p:ext uri="{BB962C8B-B14F-4D97-AF65-F5344CB8AC3E}">
        <p14:creationId xmlns:p14="http://schemas.microsoft.com/office/powerpoint/2010/main" val="315532477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2292" name="Title"/>
          <p:cNvSpPr>
            <a:spLocks noGrp="1" noChangeArrowheads="1"/>
          </p:cNvSpPr>
          <p:nvPr>
            <p:ph type="ctrTitle"/>
          </p:nvPr>
        </p:nvSpPr>
        <p:spPr bwMode="black">
          <a:xfrm>
            <a:off x="566738" y="2647950"/>
            <a:ext cx="8123237" cy="625475"/>
          </a:xfrm>
          <a:effectLst>
            <a:outerShdw dist="35921" dir="2700000" algn="ctr" rotWithShape="0">
              <a:schemeClr val="bg2"/>
            </a:outerShdw>
          </a:effectLst>
          <a:extLst>
            <a:ext uri="{909E8E84-426E-40DD-AFC4-6F175D3DCCD1}">
              <a14:hiddenFill xmlns:a14="http://schemas.microsoft.com/office/drawing/2010/main">
                <a:solidFill>
                  <a:schemeClr val="bg1"/>
                </a:solidFill>
              </a14:hiddenFill>
            </a:ext>
          </a:extLst>
        </p:spPr>
        <p:txBody>
          <a:bodyPr anchor="ctr">
            <a:spAutoFit/>
          </a:bodyPr>
          <a:lstStyle>
            <a:lvl1pPr algn="ctr">
              <a:defRPr sz="3500"/>
            </a:lvl1pPr>
          </a:lstStyle>
          <a:p>
            <a:pPr lvl="0"/>
            <a:r>
              <a:rPr lang="en-GB" noProof="0"/>
              <a:t>Click to edit Master title style</a:t>
            </a:r>
          </a:p>
        </p:txBody>
      </p:sp>
    </p:spTree>
    <p:extLst>
      <p:ext uri="{BB962C8B-B14F-4D97-AF65-F5344CB8AC3E}">
        <p14:creationId xmlns:p14="http://schemas.microsoft.com/office/powerpoint/2010/main" val="3376806961"/>
      </p:ext>
    </p:extLst>
  </p:cSld>
  <p:clrMapOvr>
    <a:masterClrMapping/>
  </p:clrMapOvr>
  <p:transition spd="slow"/>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24212745"/>
      </p:ext>
    </p:extLst>
  </p:cSld>
  <p:clrMapOvr>
    <a:masterClrMapping/>
  </p:clrMapOvr>
  <p:transition spd="slow"/>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GB"/>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3616731629"/>
      </p:ext>
    </p:extLst>
  </p:cSld>
  <p:clrMapOvr>
    <a:masterClrMapping/>
  </p:clrMapOvr>
  <p:transition spd="slow"/>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sz="half" idx="1"/>
          </p:nvPr>
        </p:nvSpPr>
        <p:spPr>
          <a:xfrm>
            <a:off x="255588" y="917575"/>
            <a:ext cx="4291012" cy="572928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4699000" y="917575"/>
            <a:ext cx="4291013" cy="572928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3955161339"/>
      </p:ext>
    </p:extLst>
  </p:cSld>
  <p:clrMapOvr>
    <a:masterClrMapping/>
  </p:clrMapOvr>
  <p:transition spd="slow"/>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endParaRPr lang="en-GB"/>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3104791099"/>
      </p:ext>
    </p:extLst>
  </p:cSld>
  <p:clrMapOvr>
    <a:masterClrMapping/>
  </p:clrMapOvr>
  <p:transition spd="slow"/>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1727503027"/>
      </p:ext>
    </p:extLst>
  </p:cSld>
  <p:clrMapOvr>
    <a:masterClrMapping/>
  </p:clrMapOvr>
  <p:transition spd="slow"/>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336632520"/>
      </p:ext>
    </p:extLst>
  </p:cSld>
  <p:clrMapOvr>
    <a:masterClrMapping/>
  </p:clrMapOvr>
  <p:transition spd="slow"/>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a:t>Click to edit Master title style</a:t>
            </a:r>
            <a:endParaRPr lang="en-GB"/>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2946734509"/>
      </p:ext>
    </p:extLst>
  </p:cSld>
  <p:clrMapOvr>
    <a:masterClrMapping/>
  </p:clrMapOvr>
  <p:transition spd="slow"/>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endParaRPr lang="en-GB"/>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GB"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1916493867"/>
      </p:ext>
    </p:extLst>
  </p:cSld>
  <p:clrMapOvr>
    <a:masterClrMapping/>
  </p:clrMapOvr>
  <p:transition spd="slow"/>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912909672"/>
      </p:ext>
    </p:extLst>
  </p:cSld>
  <p:clrMapOvr>
    <a:masterClrMapping/>
  </p:clrMapOvr>
  <p:transition spd="slow"/>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10375" y="93663"/>
            <a:ext cx="2184400" cy="6553200"/>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252413" y="93663"/>
            <a:ext cx="6405562" cy="65532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3964660756"/>
      </p:ext>
    </p:extLst>
  </p:cSld>
  <p:clrMapOvr>
    <a:masterClrMapping/>
  </p:clrMapOvr>
  <p:transition spd="slow"/>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2413" y="93663"/>
            <a:ext cx="8742362" cy="541337"/>
          </a:xfrm>
        </p:spPr>
        <p:txBody>
          <a:bodyPr/>
          <a:lstStyle/>
          <a:p>
            <a:r>
              <a:rPr lang="en-US"/>
              <a:t>Click to edit Master title style</a:t>
            </a:r>
            <a:endParaRPr lang="en-GB"/>
          </a:p>
        </p:txBody>
      </p:sp>
      <p:sp>
        <p:nvSpPr>
          <p:cNvPr id="3" name="Text Placeholder 2"/>
          <p:cNvSpPr>
            <a:spLocks noGrp="1"/>
          </p:cNvSpPr>
          <p:nvPr>
            <p:ph type="body" sz="half" idx="1"/>
          </p:nvPr>
        </p:nvSpPr>
        <p:spPr>
          <a:xfrm>
            <a:off x="255588" y="917575"/>
            <a:ext cx="4291012" cy="57292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4699000" y="917575"/>
            <a:ext cx="4291013" cy="57292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2090123097"/>
      </p:ext>
    </p:extLst>
  </p:cSld>
  <p:clrMapOvr>
    <a:masterClrMapping/>
  </p:clrMapOvr>
  <p:transition spd="slow"/>
</p:sldLayout>
</file>

<file path=ppt/slideLayouts/slideLayout13.xml><?xml version="1.0" encoding="utf-8"?>
<p:sldLayout xmlns:a="http://schemas.openxmlformats.org/drawingml/2006/main" xmlns:r="http://schemas.openxmlformats.org/officeDocument/2006/relationships" xmlns:p="http://schemas.openxmlformats.org/presentationml/2006/main" type="txAndTwoObj" preserve="1">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252413" y="93663"/>
            <a:ext cx="8742362" cy="541337"/>
          </a:xfrm>
        </p:spPr>
        <p:txBody>
          <a:bodyPr/>
          <a:lstStyle/>
          <a:p>
            <a:r>
              <a:rPr lang="en-US"/>
              <a:t>Click to edit Master title style</a:t>
            </a:r>
            <a:endParaRPr lang="en-GB"/>
          </a:p>
        </p:txBody>
      </p:sp>
      <p:sp>
        <p:nvSpPr>
          <p:cNvPr id="3" name="Text Placeholder 2"/>
          <p:cNvSpPr>
            <a:spLocks noGrp="1"/>
          </p:cNvSpPr>
          <p:nvPr>
            <p:ph type="body" sz="half" idx="1"/>
          </p:nvPr>
        </p:nvSpPr>
        <p:spPr>
          <a:xfrm>
            <a:off x="255588" y="917575"/>
            <a:ext cx="4291012" cy="57292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quarter" idx="2"/>
          </p:nvPr>
        </p:nvSpPr>
        <p:spPr>
          <a:xfrm>
            <a:off x="4699000" y="917575"/>
            <a:ext cx="4291013" cy="27876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Content Placeholder 4"/>
          <p:cNvSpPr>
            <a:spLocks noGrp="1"/>
          </p:cNvSpPr>
          <p:nvPr>
            <p:ph sz="quarter" idx="3"/>
          </p:nvPr>
        </p:nvSpPr>
        <p:spPr>
          <a:xfrm>
            <a:off x="4699000" y="3857625"/>
            <a:ext cx="4291013" cy="27892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2705532219"/>
      </p:ext>
    </p:extLst>
  </p:cSld>
  <p:clrMapOvr>
    <a:masterClrMapping/>
  </p:clrMapOvr>
  <p:transition spd="slow"/>
</p:sldLayout>
</file>

<file path=ppt/slideLayouts/slideLayout14.xml><?xml version="1.0" encoding="utf-8"?>
<p:sldLayout xmlns:a="http://schemas.openxmlformats.org/drawingml/2006/main" xmlns:r="http://schemas.openxmlformats.org/officeDocument/2006/relationships" xmlns:p="http://schemas.openxmlformats.org/presentationml/2006/main" type="fourObj" preserve="1">
  <p:cSld name="Title and 4 Content">
    <p:spTree>
      <p:nvGrpSpPr>
        <p:cNvPr id="1" name=""/>
        <p:cNvGrpSpPr/>
        <p:nvPr/>
      </p:nvGrpSpPr>
      <p:grpSpPr>
        <a:xfrm>
          <a:off x="0" y="0"/>
          <a:ext cx="0" cy="0"/>
          <a:chOff x="0" y="0"/>
          <a:chExt cx="0" cy="0"/>
        </a:xfrm>
      </p:grpSpPr>
      <p:sp>
        <p:nvSpPr>
          <p:cNvPr id="2" name="Title 1"/>
          <p:cNvSpPr>
            <a:spLocks noGrp="1"/>
          </p:cNvSpPr>
          <p:nvPr>
            <p:ph type="title" sz="quarter"/>
          </p:nvPr>
        </p:nvSpPr>
        <p:spPr>
          <a:xfrm>
            <a:off x="252413" y="93663"/>
            <a:ext cx="8742362" cy="541337"/>
          </a:xfrm>
        </p:spPr>
        <p:txBody>
          <a:bodyPr/>
          <a:lstStyle/>
          <a:p>
            <a:r>
              <a:rPr lang="en-US"/>
              <a:t>Click to edit Master title style</a:t>
            </a:r>
            <a:endParaRPr lang="en-GB"/>
          </a:p>
        </p:txBody>
      </p:sp>
      <p:sp>
        <p:nvSpPr>
          <p:cNvPr id="3" name="Content Placeholder 2"/>
          <p:cNvSpPr>
            <a:spLocks noGrp="1"/>
          </p:cNvSpPr>
          <p:nvPr>
            <p:ph sz="quarter" idx="1"/>
          </p:nvPr>
        </p:nvSpPr>
        <p:spPr>
          <a:xfrm>
            <a:off x="255588" y="917575"/>
            <a:ext cx="4291012" cy="27876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quarter" idx="2"/>
          </p:nvPr>
        </p:nvSpPr>
        <p:spPr>
          <a:xfrm>
            <a:off x="4699000" y="917575"/>
            <a:ext cx="4291013" cy="27876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Content Placeholder 4"/>
          <p:cNvSpPr>
            <a:spLocks noGrp="1"/>
          </p:cNvSpPr>
          <p:nvPr>
            <p:ph sz="quarter" idx="3"/>
          </p:nvPr>
        </p:nvSpPr>
        <p:spPr>
          <a:xfrm>
            <a:off x="255588" y="3857625"/>
            <a:ext cx="4291012" cy="27892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Content Placeholder 5"/>
          <p:cNvSpPr>
            <a:spLocks noGrp="1"/>
          </p:cNvSpPr>
          <p:nvPr>
            <p:ph sz="quarter" idx="4"/>
          </p:nvPr>
        </p:nvSpPr>
        <p:spPr>
          <a:xfrm>
            <a:off x="4699000" y="3857625"/>
            <a:ext cx="4291013" cy="27892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3568397665"/>
      </p:ext>
    </p:extLst>
  </p:cSld>
  <p:clrMapOvr>
    <a:masterClrMapping/>
  </p:clrMapOvr>
  <p:transition spd="slow"/>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267" name="Rectangle 3"/>
          <p:cNvSpPr>
            <a:spLocks noGrp="1" noChangeArrowheads="1"/>
          </p:cNvSpPr>
          <p:nvPr>
            <p:ph type="title"/>
          </p:nvPr>
        </p:nvSpPr>
        <p:spPr bwMode="auto">
          <a:xfrm>
            <a:off x="252413" y="93663"/>
            <a:ext cx="8742362" cy="541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p>
            <a:pPr lvl="0"/>
            <a:r>
              <a:rPr lang="en-GB"/>
              <a:t>Click to edit Master title style</a:t>
            </a:r>
          </a:p>
        </p:txBody>
      </p:sp>
      <p:sp>
        <p:nvSpPr>
          <p:cNvPr id="11268" name="Rectangle 4"/>
          <p:cNvSpPr>
            <a:spLocks noGrp="1" noChangeArrowheads="1"/>
          </p:cNvSpPr>
          <p:nvPr>
            <p:ph type="body" idx="1"/>
          </p:nvPr>
        </p:nvSpPr>
        <p:spPr bwMode="auto">
          <a:xfrm>
            <a:off x="255588" y="917575"/>
            <a:ext cx="8734425" cy="5729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11288" name="Line 24"/>
          <p:cNvSpPr>
            <a:spLocks noChangeShapeType="1"/>
          </p:cNvSpPr>
          <p:nvPr userDrawn="1"/>
        </p:nvSpPr>
        <p:spPr bwMode="auto">
          <a:xfrm>
            <a:off x="0" y="735013"/>
            <a:ext cx="914400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en-GB"/>
          </a:p>
        </p:txBody>
      </p:sp>
    </p:spTree>
  </p:cSld>
  <p:clrMap bg1="dk2" tx1="lt1" bg2="dk1" tx2="lt2" accent1="accent1" accent2="accent2" accent3="accent3" accent4="accent4" accent5="accent5" accent6="accent6" hlink="hlink" folHlink="folHlink"/>
  <p:sldLayoutIdLst>
    <p:sldLayoutId id="2147483678" r:id="rId1"/>
    <p:sldLayoutId id="2147483665" r:id="rId2"/>
    <p:sldLayoutId id="2147483666" r:id="rId3"/>
    <p:sldLayoutId id="2147483667" r:id="rId4"/>
    <p:sldLayoutId id="2147483668" r:id="rId5"/>
    <p:sldLayoutId id="2147483669" r:id="rId6"/>
    <p:sldLayoutId id="2147483670" r:id="rId7"/>
    <p:sldLayoutId id="2147483671" r:id="rId8"/>
    <p:sldLayoutId id="2147483672" r:id="rId9"/>
    <p:sldLayoutId id="2147483673" r:id="rId10"/>
    <p:sldLayoutId id="2147483674" r:id="rId11"/>
    <p:sldLayoutId id="2147483675" r:id="rId12"/>
    <p:sldLayoutId id="2147483676" r:id="rId13"/>
    <p:sldLayoutId id="2147483677" r:id="rId14"/>
  </p:sldLayoutIdLst>
  <p:transition spd="slow"/>
  <p:txStyles>
    <p:titleStyle>
      <a:lvl1pPr algn="l" rtl="0" eaLnBrk="0" fontAlgn="base" hangingPunct="0">
        <a:spcBef>
          <a:spcPct val="0"/>
        </a:spcBef>
        <a:spcAft>
          <a:spcPct val="0"/>
        </a:spcAft>
        <a:defRPr sz="2600" b="1">
          <a:solidFill>
            <a:srgbClr val="FFFF66"/>
          </a:solidFill>
          <a:effectLst>
            <a:outerShdw blurRad="38100" dist="38100" dir="2700000" algn="tl">
              <a:srgbClr val="000000"/>
            </a:outerShdw>
          </a:effectLst>
          <a:latin typeface="+mj-lt"/>
          <a:ea typeface="+mj-ea"/>
          <a:cs typeface="+mj-cs"/>
        </a:defRPr>
      </a:lvl1pPr>
      <a:lvl2pPr algn="l" rtl="0" eaLnBrk="0" fontAlgn="base" hangingPunct="0">
        <a:spcBef>
          <a:spcPct val="0"/>
        </a:spcBef>
        <a:spcAft>
          <a:spcPct val="0"/>
        </a:spcAft>
        <a:defRPr sz="2600" b="1">
          <a:solidFill>
            <a:srgbClr val="FFFF66"/>
          </a:solidFill>
          <a:effectLst>
            <a:outerShdw blurRad="38100" dist="38100" dir="2700000" algn="tl">
              <a:srgbClr val="000000"/>
            </a:outerShdw>
          </a:effectLst>
          <a:latin typeface="Arial" charset="0"/>
        </a:defRPr>
      </a:lvl2pPr>
      <a:lvl3pPr algn="l" rtl="0" eaLnBrk="0" fontAlgn="base" hangingPunct="0">
        <a:spcBef>
          <a:spcPct val="0"/>
        </a:spcBef>
        <a:spcAft>
          <a:spcPct val="0"/>
        </a:spcAft>
        <a:defRPr sz="2600" b="1">
          <a:solidFill>
            <a:srgbClr val="FFFF66"/>
          </a:solidFill>
          <a:effectLst>
            <a:outerShdw blurRad="38100" dist="38100" dir="2700000" algn="tl">
              <a:srgbClr val="000000"/>
            </a:outerShdw>
          </a:effectLst>
          <a:latin typeface="Arial" charset="0"/>
        </a:defRPr>
      </a:lvl3pPr>
      <a:lvl4pPr algn="l" rtl="0" eaLnBrk="0" fontAlgn="base" hangingPunct="0">
        <a:spcBef>
          <a:spcPct val="0"/>
        </a:spcBef>
        <a:spcAft>
          <a:spcPct val="0"/>
        </a:spcAft>
        <a:defRPr sz="2600" b="1">
          <a:solidFill>
            <a:srgbClr val="FFFF66"/>
          </a:solidFill>
          <a:effectLst>
            <a:outerShdw blurRad="38100" dist="38100" dir="2700000" algn="tl">
              <a:srgbClr val="000000"/>
            </a:outerShdw>
          </a:effectLst>
          <a:latin typeface="Arial" charset="0"/>
        </a:defRPr>
      </a:lvl4pPr>
      <a:lvl5pPr algn="l" rtl="0" eaLnBrk="0" fontAlgn="base" hangingPunct="0">
        <a:spcBef>
          <a:spcPct val="0"/>
        </a:spcBef>
        <a:spcAft>
          <a:spcPct val="0"/>
        </a:spcAft>
        <a:defRPr sz="2600" b="1">
          <a:solidFill>
            <a:srgbClr val="FFFF66"/>
          </a:solidFill>
          <a:effectLst>
            <a:outerShdw blurRad="38100" dist="38100" dir="2700000" algn="tl">
              <a:srgbClr val="000000"/>
            </a:outerShdw>
          </a:effectLst>
          <a:latin typeface="Arial" charset="0"/>
        </a:defRPr>
      </a:lvl5pPr>
      <a:lvl6pPr marL="457200" algn="l" rtl="0" eaLnBrk="0" fontAlgn="base" hangingPunct="0">
        <a:spcBef>
          <a:spcPct val="0"/>
        </a:spcBef>
        <a:spcAft>
          <a:spcPct val="0"/>
        </a:spcAft>
        <a:defRPr sz="2600" b="1">
          <a:solidFill>
            <a:srgbClr val="FFFF66"/>
          </a:solidFill>
          <a:effectLst>
            <a:outerShdw blurRad="38100" dist="38100" dir="2700000" algn="tl">
              <a:srgbClr val="000000"/>
            </a:outerShdw>
          </a:effectLst>
          <a:latin typeface="Arial" charset="0"/>
        </a:defRPr>
      </a:lvl6pPr>
      <a:lvl7pPr marL="914400" algn="l" rtl="0" eaLnBrk="0" fontAlgn="base" hangingPunct="0">
        <a:spcBef>
          <a:spcPct val="0"/>
        </a:spcBef>
        <a:spcAft>
          <a:spcPct val="0"/>
        </a:spcAft>
        <a:defRPr sz="2600" b="1">
          <a:solidFill>
            <a:srgbClr val="FFFF66"/>
          </a:solidFill>
          <a:effectLst>
            <a:outerShdw blurRad="38100" dist="38100" dir="2700000" algn="tl">
              <a:srgbClr val="000000"/>
            </a:outerShdw>
          </a:effectLst>
          <a:latin typeface="Arial" charset="0"/>
        </a:defRPr>
      </a:lvl7pPr>
      <a:lvl8pPr marL="1371600" algn="l" rtl="0" eaLnBrk="0" fontAlgn="base" hangingPunct="0">
        <a:spcBef>
          <a:spcPct val="0"/>
        </a:spcBef>
        <a:spcAft>
          <a:spcPct val="0"/>
        </a:spcAft>
        <a:defRPr sz="2600" b="1">
          <a:solidFill>
            <a:srgbClr val="FFFF66"/>
          </a:solidFill>
          <a:effectLst>
            <a:outerShdw blurRad="38100" dist="38100" dir="2700000" algn="tl">
              <a:srgbClr val="000000"/>
            </a:outerShdw>
          </a:effectLst>
          <a:latin typeface="Arial" charset="0"/>
        </a:defRPr>
      </a:lvl8pPr>
      <a:lvl9pPr marL="1828800" algn="l" rtl="0" eaLnBrk="0" fontAlgn="base" hangingPunct="0">
        <a:spcBef>
          <a:spcPct val="0"/>
        </a:spcBef>
        <a:spcAft>
          <a:spcPct val="0"/>
        </a:spcAft>
        <a:defRPr sz="2600" b="1">
          <a:solidFill>
            <a:srgbClr val="FFFF66"/>
          </a:solidFill>
          <a:effectLst>
            <a:outerShdw blurRad="38100" dist="38100" dir="2700000" algn="tl">
              <a:srgbClr val="000000"/>
            </a:outerShdw>
          </a:effectLst>
          <a:latin typeface="Arial" charset="0"/>
        </a:defRPr>
      </a:lvl9pPr>
    </p:titleStyle>
    <p:bodyStyle>
      <a:lvl1pPr marL="288925" indent="-288925" algn="l" rtl="0" eaLnBrk="0" fontAlgn="base" hangingPunct="0">
        <a:lnSpc>
          <a:spcPct val="120000"/>
        </a:lnSpc>
        <a:spcBef>
          <a:spcPct val="100000"/>
        </a:spcBef>
        <a:spcAft>
          <a:spcPct val="0"/>
        </a:spcAft>
        <a:buClr>
          <a:schemeClr val="folHlink"/>
        </a:buClr>
        <a:buSzPct val="100000"/>
        <a:buFont typeface="Times"/>
        <a:buChar char="•"/>
        <a:defRPr sz="2000">
          <a:solidFill>
            <a:schemeClr val="tx1"/>
          </a:solidFill>
          <a:effectLst>
            <a:outerShdw blurRad="38100" dist="38100" dir="2700000" algn="tl">
              <a:srgbClr val="000000"/>
            </a:outerShdw>
          </a:effectLst>
          <a:latin typeface="+mn-lt"/>
          <a:ea typeface="+mn-ea"/>
          <a:cs typeface="+mn-cs"/>
        </a:defRPr>
      </a:lvl1pPr>
      <a:lvl2pPr marL="762000" indent="-187325" algn="l" rtl="0" eaLnBrk="0" fontAlgn="base" hangingPunct="0">
        <a:lnSpc>
          <a:spcPct val="120000"/>
        </a:lnSpc>
        <a:spcBef>
          <a:spcPct val="50000"/>
        </a:spcBef>
        <a:spcAft>
          <a:spcPct val="0"/>
        </a:spcAft>
        <a:buClr>
          <a:schemeClr val="folHlink"/>
        </a:buClr>
        <a:buSzPct val="100000"/>
        <a:buFont typeface="Times"/>
        <a:buChar char="•"/>
        <a:defRPr>
          <a:solidFill>
            <a:schemeClr val="tx1"/>
          </a:solidFill>
          <a:effectLst>
            <a:outerShdw blurRad="38100" dist="38100" dir="2700000" algn="tl">
              <a:srgbClr val="000000"/>
            </a:outerShdw>
          </a:effectLst>
          <a:latin typeface="+mn-lt"/>
        </a:defRPr>
      </a:lvl2pPr>
      <a:lvl3pPr marL="1235075" indent="-184150" algn="l" rtl="0" eaLnBrk="0" fontAlgn="base" hangingPunct="0">
        <a:spcBef>
          <a:spcPct val="25000"/>
        </a:spcBef>
        <a:spcAft>
          <a:spcPct val="0"/>
        </a:spcAft>
        <a:buClr>
          <a:schemeClr val="folHlink"/>
        </a:buClr>
        <a:buFont typeface="Times"/>
        <a:buChar char="•"/>
        <a:defRPr sz="1600">
          <a:solidFill>
            <a:schemeClr val="tx1"/>
          </a:solidFill>
          <a:effectLst>
            <a:outerShdw blurRad="38100" dist="38100" dir="2700000" algn="tl">
              <a:srgbClr val="000000"/>
            </a:outerShdw>
          </a:effectLst>
          <a:latin typeface="+mn-lt"/>
        </a:defRPr>
      </a:lvl3pPr>
      <a:lvl4pPr marL="1698625" indent="-228600" algn="l" rtl="0" eaLnBrk="0" fontAlgn="base" hangingPunct="0">
        <a:spcBef>
          <a:spcPct val="25000"/>
        </a:spcBef>
        <a:spcAft>
          <a:spcPct val="0"/>
        </a:spcAft>
        <a:buClr>
          <a:schemeClr val="folHlink"/>
        </a:buClr>
        <a:buFont typeface="Times"/>
        <a:buChar char="•"/>
        <a:defRPr sz="1600">
          <a:solidFill>
            <a:schemeClr val="tx1"/>
          </a:solidFill>
          <a:effectLst>
            <a:outerShdw blurRad="38100" dist="38100" dir="2700000" algn="tl">
              <a:srgbClr val="000000"/>
            </a:outerShdw>
          </a:effectLst>
          <a:latin typeface="+mn-lt"/>
        </a:defRPr>
      </a:lvl4pPr>
      <a:lvl5pPr marL="2117725" indent="-228600" algn="l" rtl="0" eaLnBrk="0" fontAlgn="base" hangingPunct="0">
        <a:spcBef>
          <a:spcPct val="25000"/>
        </a:spcBef>
        <a:spcAft>
          <a:spcPct val="0"/>
        </a:spcAft>
        <a:buClr>
          <a:schemeClr val="folHlink"/>
        </a:buClr>
        <a:buSzPct val="50000"/>
        <a:buFont typeface="Times"/>
        <a:buChar char="•"/>
        <a:defRPr sz="1600">
          <a:solidFill>
            <a:schemeClr val="tx1"/>
          </a:solidFill>
          <a:effectLst>
            <a:outerShdw blurRad="38100" dist="38100" dir="2700000" algn="tl">
              <a:srgbClr val="000000"/>
            </a:outerShdw>
          </a:effectLst>
          <a:latin typeface="+mn-lt"/>
        </a:defRPr>
      </a:lvl5pPr>
      <a:lvl6pPr marL="2574925" indent="-228600" algn="l" rtl="0" eaLnBrk="0" fontAlgn="base" hangingPunct="0">
        <a:spcBef>
          <a:spcPct val="25000"/>
        </a:spcBef>
        <a:spcAft>
          <a:spcPct val="0"/>
        </a:spcAft>
        <a:buClr>
          <a:schemeClr val="folHlink"/>
        </a:buClr>
        <a:buSzPct val="50000"/>
        <a:buFont typeface="Times"/>
        <a:buChar char="•"/>
        <a:defRPr sz="1600">
          <a:solidFill>
            <a:schemeClr val="tx1"/>
          </a:solidFill>
          <a:effectLst>
            <a:outerShdw blurRad="38100" dist="38100" dir="2700000" algn="tl">
              <a:srgbClr val="000000"/>
            </a:outerShdw>
          </a:effectLst>
          <a:latin typeface="+mn-lt"/>
        </a:defRPr>
      </a:lvl6pPr>
      <a:lvl7pPr marL="3032125" indent="-228600" algn="l" rtl="0" eaLnBrk="0" fontAlgn="base" hangingPunct="0">
        <a:spcBef>
          <a:spcPct val="25000"/>
        </a:spcBef>
        <a:spcAft>
          <a:spcPct val="0"/>
        </a:spcAft>
        <a:buClr>
          <a:schemeClr val="folHlink"/>
        </a:buClr>
        <a:buSzPct val="50000"/>
        <a:buFont typeface="Times"/>
        <a:buChar char="•"/>
        <a:defRPr sz="1600">
          <a:solidFill>
            <a:schemeClr val="tx1"/>
          </a:solidFill>
          <a:effectLst>
            <a:outerShdw blurRad="38100" dist="38100" dir="2700000" algn="tl">
              <a:srgbClr val="000000"/>
            </a:outerShdw>
          </a:effectLst>
          <a:latin typeface="+mn-lt"/>
        </a:defRPr>
      </a:lvl7pPr>
      <a:lvl8pPr marL="3489325" indent="-228600" algn="l" rtl="0" eaLnBrk="0" fontAlgn="base" hangingPunct="0">
        <a:spcBef>
          <a:spcPct val="25000"/>
        </a:spcBef>
        <a:spcAft>
          <a:spcPct val="0"/>
        </a:spcAft>
        <a:buClr>
          <a:schemeClr val="folHlink"/>
        </a:buClr>
        <a:buSzPct val="50000"/>
        <a:buFont typeface="Times"/>
        <a:buChar char="•"/>
        <a:defRPr sz="1600">
          <a:solidFill>
            <a:schemeClr val="tx1"/>
          </a:solidFill>
          <a:effectLst>
            <a:outerShdw blurRad="38100" dist="38100" dir="2700000" algn="tl">
              <a:srgbClr val="000000"/>
            </a:outerShdw>
          </a:effectLst>
          <a:latin typeface="+mn-lt"/>
        </a:defRPr>
      </a:lvl8pPr>
      <a:lvl9pPr marL="3946525" indent="-228600" algn="l" rtl="0" eaLnBrk="0" fontAlgn="base" hangingPunct="0">
        <a:spcBef>
          <a:spcPct val="25000"/>
        </a:spcBef>
        <a:spcAft>
          <a:spcPct val="0"/>
        </a:spcAft>
        <a:buClr>
          <a:schemeClr val="folHlink"/>
        </a:buClr>
        <a:buSzPct val="50000"/>
        <a:buFont typeface="Times"/>
        <a:buChar char="•"/>
        <a:defRPr sz="1600">
          <a:solidFill>
            <a:schemeClr val="tx1"/>
          </a:solidFill>
          <a:effectLst>
            <a:outerShdw blurRad="38100" dist="38100" dir="2700000" algn="tl">
              <a:srgbClr val="000000"/>
            </a:outerShdw>
          </a:effectLst>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5.xml"/><Relationship Id="rId1" Type="http://schemas.openxmlformats.org/officeDocument/2006/relationships/slideLayout" Target="../slideLayouts/slideLayout13.xml"/><Relationship Id="rId4" Type="http://schemas.openxmlformats.org/officeDocument/2006/relationships/image" Target="../media/image5.jpeg"/></Relationships>
</file>

<file path=ppt/slides/_rels/slide6.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6.xml"/><Relationship Id="rId1" Type="http://schemas.openxmlformats.org/officeDocument/2006/relationships/slideLayout" Target="../slideLayouts/slideLayout13.xml"/><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7.xml"/><Relationship Id="rId1" Type="http://schemas.openxmlformats.org/officeDocument/2006/relationships/slideLayout" Target="../slideLayouts/slideLayout4.xml"/><Relationship Id="rId6" Type="http://schemas.openxmlformats.org/officeDocument/2006/relationships/image" Target="../media/image11.jpeg"/><Relationship Id="rId5" Type="http://schemas.openxmlformats.org/officeDocument/2006/relationships/image" Target="../media/image10.jpeg"/><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8.xml"/><Relationship Id="rId1" Type="http://schemas.openxmlformats.org/officeDocument/2006/relationships/slideLayout" Target="../slideLayouts/slideLayout13.xml"/><Relationship Id="rId4" Type="http://schemas.openxmlformats.org/officeDocument/2006/relationships/image" Target="../media/image13.jpeg"/></Relationships>
</file>

<file path=ppt/slides/_rels/slide9.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9.xml"/><Relationship Id="rId1" Type="http://schemas.openxmlformats.org/officeDocument/2006/relationships/slideLayout" Target="../slideLayouts/slideLayout14.xml"/><Relationship Id="rId5" Type="http://schemas.openxmlformats.org/officeDocument/2006/relationships/image" Target="../media/image16.jpeg"/><Relationship Id="rId4" Type="http://schemas.openxmlformats.org/officeDocument/2006/relationships/image" Target="../media/image15.jpeg"/></Relationships>
</file>

<file path=ppt/slides/_rels/slide10.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10.xml"/><Relationship Id="rId1" Type="http://schemas.openxmlformats.org/officeDocument/2006/relationships/slideLayout" Target="../slideLayouts/slideLayout13.xml"/><Relationship Id="rId4" Type="http://schemas.openxmlformats.org/officeDocument/2006/relationships/image" Target="../media/image18.jpeg"/></Relationships>
</file>

<file path=ppt/slides/_rels/slide11.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11.xml"/><Relationship Id="rId1" Type="http://schemas.openxmlformats.org/officeDocument/2006/relationships/slideLayout" Target="../slideLayouts/slideLayout13.xml"/><Relationship Id="rId4" Type="http://schemas.openxmlformats.org/officeDocument/2006/relationships/image" Target="../media/image20.jpeg"/></Relationships>
</file>

<file path=ppt/slides/_rels/slide12.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12.xml"/><Relationship Id="rId1" Type="http://schemas.openxmlformats.org/officeDocument/2006/relationships/slideLayout" Target="../slideLayouts/slideLayout14.xml"/><Relationship Id="rId6" Type="http://schemas.openxmlformats.org/officeDocument/2006/relationships/image" Target="../media/image24.jpeg"/><Relationship Id="rId5" Type="http://schemas.openxmlformats.org/officeDocument/2006/relationships/image" Target="../media/image23.jpeg"/><Relationship Id="rId4" Type="http://schemas.openxmlformats.org/officeDocument/2006/relationships/image" Target="../media/image22.jpeg"/></Relationships>
</file>

<file path=ppt/slides/_rels/slide1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14.xml"/><Relationship Id="rId1" Type="http://schemas.openxmlformats.org/officeDocument/2006/relationships/slideLayout" Target="../slideLayouts/slideLayout13.xml"/><Relationship Id="rId5" Type="http://schemas.openxmlformats.org/officeDocument/2006/relationships/image" Target="../media/image28.jpeg"/><Relationship Id="rId4" Type="http://schemas.openxmlformats.org/officeDocument/2006/relationships/image" Target="../media/image27.jpeg"/></Relationships>
</file>

<file path=ppt/slides/_rels/slide15.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notesSlide" Target="../notesSlides/notesSlide15.xml"/><Relationship Id="rId1" Type="http://schemas.openxmlformats.org/officeDocument/2006/relationships/slideLayout" Target="../slideLayouts/slideLayout13.xml"/><Relationship Id="rId5" Type="http://schemas.openxmlformats.org/officeDocument/2006/relationships/image" Target="../media/image31.png"/><Relationship Id="rId4" Type="http://schemas.openxmlformats.org/officeDocument/2006/relationships/image" Target="../media/image30.jpeg"/></Relationships>
</file>

<file path=ppt/slides/_rels/slide16.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notesSlide" Target="../notesSlides/notesSlide16.xml"/><Relationship Id="rId1" Type="http://schemas.openxmlformats.org/officeDocument/2006/relationships/slideLayout" Target="../slideLayouts/slideLayout13.xml"/><Relationship Id="rId4" Type="http://schemas.openxmlformats.org/officeDocument/2006/relationships/image" Target="../media/image33.png"/></Relationships>
</file>

<file path=ppt/slides/_rels/slide17.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notesSlide" Target="../notesSlides/notesSlide17.xml"/><Relationship Id="rId1" Type="http://schemas.openxmlformats.org/officeDocument/2006/relationships/slideLayout" Target="../slideLayouts/slideLayout13.xml"/><Relationship Id="rId4" Type="http://schemas.openxmlformats.org/officeDocument/2006/relationships/image" Target="../media/image35.jpeg"/></Relationships>
</file>

<file path=ppt/slides/_rels/slide18.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notesSlide" Target="../notesSlides/notesSlide18.xml"/><Relationship Id="rId1" Type="http://schemas.openxmlformats.org/officeDocument/2006/relationships/slideLayout" Target="../slideLayouts/slideLayout4.xml"/><Relationship Id="rId4" Type="http://schemas.openxmlformats.org/officeDocument/2006/relationships/image" Target="../media/image37.jpeg"/></Relationships>
</file>

<file path=ppt/slides/_rels/slide19.xml.rels><?xml version="1.0" encoding="UTF-8" standalone="yes"?>
<Relationships xmlns="http://schemas.openxmlformats.org/package/2006/relationships"><Relationship Id="rId3" Type="http://schemas.openxmlformats.org/officeDocument/2006/relationships/image" Target="../media/image38.jpeg"/><Relationship Id="rId2" Type="http://schemas.openxmlformats.org/officeDocument/2006/relationships/notesSlide" Target="../notesSlides/notesSlide19.xml"/><Relationship Id="rId1" Type="http://schemas.openxmlformats.org/officeDocument/2006/relationships/slideLayout" Target="../slideLayouts/slideLayout13.xml"/><Relationship Id="rId4" Type="http://schemas.openxmlformats.org/officeDocument/2006/relationships/image" Target="../media/image39.jpeg"/></Relationships>
</file>

<file path=ppt/slides/_rels/slide20.xml.rels><?xml version="1.0" encoding="UTF-8" standalone="yes"?>
<Relationships xmlns="http://schemas.openxmlformats.org/package/2006/relationships"><Relationship Id="rId3" Type="http://schemas.openxmlformats.org/officeDocument/2006/relationships/image" Target="../media/image40.jpeg"/><Relationship Id="rId2" Type="http://schemas.openxmlformats.org/officeDocument/2006/relationships/notesSlide" Target="../notesSlides/notesSlide20.xml"/><Relationship Id="rId1" Type="http://schemas.openxmlformats.org/officeDocument/2006/relationships/slideLayout" Target="../slideLayouts/slideLayout13.xml"/><Relationship Id="rId4" Type="http://schemas.openxmlformats.org/officeDocument/2006/relationships/image" Target="../media/image41.jpeg"/></Relationships>
</file>

<file path=ppt/slides/_rels/slide21.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22.xml"/><Relationship Id="rId1" Type="http://schemas.openxmlformats.org/officeDocument/2006/relationships/slideLayout" Target="../slideLayouts/slideLayout14.xml"/><Relationship Id="rId6" Type="http://schemas.openxmlformats.org/officeDocument/2006/relationships/image" Target="../media/image46.jpeg"/><Relationship Id="rId5" Type="http://schemas.openxmlformats.org/officeDocument/2006/relationships/image" Target="../media/image45.jpeg"/><Relationship Id="rId4" Type="http://schemas.openxmlformats.org/officeDocument/2006/relationships/image" Target="../media/image44.jpeg"/></Relationships>
</file>

<file path=ppt/slides/_rels/slide23.xml.rels><?xml version="1.0" encoding="UTF-8" standalone="yes"?>
<Relationships xmlns="http://schemas.openxmlformats.org/package/2006/relationships"><Relationship Id="rId3" Type="http://schemas.openxmlformats.org/officeDocument/2006/relationships/image" Target="../media/image47.jpe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48.jpeg"/><Relationship Id="rId2" Type="http://schemas.openxmlformats.org/officeDocument/2006/relationships/notesSlide" Target="../notesSlides/notesSlide24.xml"/><Relationship Id="rId1" Type="http://schemas.openxmlformats.org/officeDocument/2006/relationships/slideLayout" Target="../slideLayouts/slideLayout13.xml"/><Relationship Id="rId4" Type="http://schemas.openxmlformats.org/officeDocument/2006/relationships/image" Target="../media/image49.jpeg"/></Relationships>
</file>

<file path=ppt/slides/_rels/slide25.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25.xml"/><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26.xml"/><Relationship Id="rId1" Type="http://schemas.openxmlformats.org/officeDocument/2006/relationships/slideLayout" Target="../slideLayouts/slideLayout13.xml"/><Relationship Id="rId4" Type="http://schemas.openxmlformats.org/officeDocument/2006/relationships/image" Target="../media/image52.jpeg"/></Relationships>
</file>

<file path=ppt/slides/_rels/slide27.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27.xml"/><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28.xml"/><Relationship Id="rId1" Type="http://schemas.openxmlformats.org/officeDocument/2006/relationships/slideLayout" Target="../slideLayouts/slideLayout13.xml"/><Relationship Id="rId5" Type="http://schemas.openxmlformats.org/officeDocument/2006/relationships/image" Target="../media/image56.jpeg"/><Relationship Id="rId4" Type="http://schemas.openxmlformats.org/officeDocument/2006/relationships/image" Target="../media/image55.jpeg"/></Relationships>
</file>

<file path=ppt/slides/_rels/slide29.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29.xml"/><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30.xml"/><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59.jpeg"/><Relationship Id="rId2" Type="http://schemas.openxmlformats.org/officeDocument/2006/relationships/notesSlide" Target="../notesSlides/notesSlide32.xml"/><Relationship Id="rId1" Type="http://schemas.openxmlformats.org/officeDocument/2006/relationships/slideLayout" Target="../slideLayouts/slideLayout13.xml"/><Relationship Id="rId6" Type="http://schemas.openxmlformats.org/officeDocument/2006/relationships/image" Target="../media/image62.jpeg"/><Relationship Id="rId5" Type="http://schemas.openxmlformats.org/officeDocument/2006/relationships/image" Target="../media/image61.jpeg"/><Relationship Id="rId4" Type="http://schemas.openxmlformats.org/officeDocument/2006/relationships/image" Target="../media/image60.jpeg"/></Relationships>
</file>

<file path=ppt/slides/_rels/slide33.xml.rels><?xml version="1.0" encoding="UTF-8" standalone="yes"?>
<Relationships xmlns="http://schemas.openxmlformats.org/package/2006/relationships"><Relationship Id="rId3" Type="http://schemas.openxmlformats.org/officeDocument/2006/relationships/image" Target="../media/image63.jpeg"/><Relationship Id="rId2" Type="http://schemas.openxmlformats.org/officeDocument/2006/relationships/notesSlide" Target="../notesSlides/notesSlide33.xml"/><Relationship Id="rId1" Type="http://schemas.openxmlformats.org/officeDocument/2006/relationships/slideLayout" Target="../slideLayouts/slideLayout13.xml"/><Relationship Id="rId5" Type="http://schemas.openxmlformats.org/officeDocument/2006/relationships/image" Target="../media/image65.jpeg"/><Relationship Id="rId4" Type="http://schemas.openxmlformats.org/officeDocument/2006/relationships/image" Target="../media/image64.jpeg"/></Relationships>
</file>

<file path=ppt/slides/_rels/slide34.xml.rels><?xml version="1.0" encoding="UTF-8" standalone="yes"?>
<Relationships xmlns="http://schemas.openxmlformats.org/package/2006/relationships"><Relationship Id="rId3" Type="http://schemas.openxmlformats.org/officeDocument/2006/relationships/image" Target="../media/image66.jpeg"/><Relationship Id="rId2" Type="http://schemas.openxmlformats.org/officeDocument/2006/relationships/notesSlide" Target="../notesSlides/notesSlide34.xml"/><Relationship Id="rId1" Type="http://schemas.openxmlformats.org/officeDocument/2006/relationships/slideLayout" Target="../slideLayouts/slideLayout13.xml"/><Relationship Id="rId4" Type="http://schemas.openxmlformats.org/officeDocument/2006/relationships/image" Target="../media/image67.jpeg"/></Relationships>
</file>

<file path=ppt/slides/_rels/slide35.xml.rels><?xml version="1.0" encoding="UTF-8" standalone="yes"?>
<Relationships xmlns="http://schemas.openxmlformats.org/package/2006/relationships"><Relationship Id="rId3" Type="http://schemas.openxmlformats.org/officeDocument/2006/relationships/image" Target="../media/image68.jpeg"/><Relationship Id="rId2" Type="http://schemas.openxmlformats.org/officeDocument/2006/relationships/notesSlide" Target="../notesSlides/notesSlide35.xml"/><Relationship Id="rId1" Type="http://schemas.openxmlformats.org/officeDocument/2006/relationships/slideLayout" Target="../slideLayouts/slideLayout13.xml"/><Relationship Id="rId5" Type="http://schemas.openxmlformats.org/officeDocument/2006/relationships/image" Target="../media/image70.jpeg"/><Relationship Id="rId4" Type="http://schemas.openxmlformats.org/officeDocument/2006/relationships/image" Target="../media/image69.jpeg"/></Relationships>
</file>

<file path=ppt/slides/_rels/slide36.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notesSlide" Target="../notesSlides/notesSlide36.xml"/><Relationship Id="rId1" Type="http://schemas.openxmlformats.org/officeDocument/2006/relationships/slideLayout" Target="../slideLayouts/slideLayout13.xml"/><Relationship Id="rId5" Type="http://schemas.openxmlformats.org/officeDocument/2006/relationships/image" Target="../media/image73.jpeg"/><Relationship Id="rId4" Type="http://schemas.openxmlformats.org/officeDocument/2006/relationships/image" Target="../media/image72.png"/></Relationships>
</file>

<file path=ppt/slides/_rels/slide37.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notesSlide" Target="../notesSlides/notesSlide37.xml"/><Relationship Id="rId1" Type="http://schemas.openxmlformats.org/officeDocument/2006/relationships/slideLayout" Target="../slideLayouts/slideLayout13.xml"/><Relationship Id="rId5" Type="http://schemas.openxmlformats.org/officeDocument/2006/relationships/image" Target="../media/image72.png"/><Relationship Id="rId4" Type="http://schemas.openxmlformats.org/officeDocument/2006/relationships/image" Target="../media/image75.png"/></Relationships>
</file>

<file path=ppt/slides/_rels/slide38.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notesSlide" Target="../notesSlides/notesSlide38.xml"/><Relationship Id="rId1" Type="http://schemas.openxmlformats.org/officeDocument/2006/relationships/slideLayout" Target="../slideLayouts/slideLayout13.xml"/><Relationship Id="rId5" Type="http://schemas.openxmlformats.org/officeDocument/2006/relationships/image" Target="../media/image72.png"/><Relationship Id="rId4" Type="http://schemas.openxmlformats.org/officeDocument/2006/relationships/image" Target="../media/image77.png"/></Relationships>
</file>

<file path=ppt/slides/_rels/slide39.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notesSlide" Target="../notesSlides/notesSlide39.xml"/><Relationship Id="rId1" Type="http://schemas.openxmlformats.org/officeDocument/2006/relationships/slideLayout" Target="../slideLayouts/slideLayout13.xml"/><Relationship Id="rId5" Type="http://schemas.openxmlformats.org/officeDocument/2006/relationships/image" Target="../media/image72.png"/><Relationship Id="rId4" Type="http://schemas.openxmlformats.org/officeDocument/2006/relationships/image" Target="../media/image79.png"/></Relationships>
</file>

<file path=ppt/slides/_rels/slide40.xml.rels><?xml version="1.0" encoding="UTF-8" standalone="yes"?>
<Relationships xmlns="http://schemas.openxmlformats.org/package/2006/relationships"><Relationship Id="rId3" Type="http://schemas.openxmlformats.org/officeDocument/2006/relationships/image" Target="../media/image80.jpeg"/><Relationship Id="rId2" Type="http://schemas.openxmlformats.org/officeDocument/2006/relationships/notesSlide" Target="../notesSlides/notesSlide40.xml"/><Relationship Id="rId1" Type="http://schemas.openxmlformats.org/officeDocument/2006/relationships/slideLayout" Target="../slideLayouts/slideLayout14.xml"/><Relationship Id="rId5" Type="http://schemas.openxmlformats.org/officeDocument/2006/relationships/image" Target="../media/image82.jpeg"/><Relationship Id="rId4" Type="http://schemas.openxmlformats.org/officeDocument/2006/relationships/image" Target="../media/image81.jpeg"/></Relationships>
</file>

<file path=ppt/slides/_rels/slide41.xml.rels><?xml version="1.0" encoding="UTF-8" standalone="yes"?>
<Relationships xmlns="http://schemas.openxmlformats.org/package/2006/relationships"><Relationship Id="rId3" Type="http://schemas.openxmlformats.org/officeDocument/2006/relationships/image" Target="../media/image83.jpe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84.jpeg"/><Relationship Id="rId2" Type="http://schemas.openxmlformats.org/officeDocument/2006/relationships/notesSlide" Target="../notesSlides/notesSlide42.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0642" name="Rectangle 2"/>
          <p:cNvSpPr>
            <a:spLocks noGrp="1" noChangeArrowheads="1"/>
          </p:cNvSpPr>
          <p:nvPr>
            <p:ph type="ctrTitle"/>
          </p:nvPr>
        </p:nvSpPr>
        <p:spPr>
          <a:xfrm>
            <a:off x="239713" y="967538"/>
            <a:ext cx="8705850" cy="3213187"/>
          </a:xfrm>
        </p:spPr>
        <p:txBody>
          <a:bodyPr/>
          <a:lstStyle/>
          <a:p>
            <a:pPr>
              <a:lnSpc>
                <a:spcPct val="120000"/>
              </a:lnSpc>
            </a:pPr>
            <a:r>
              <a:rPr lang="en-US" altLang="en-US" sz="3200" dirty="0"/>
              <a:t>EART 28202 :  Structural Geology</a:t>
            </a:r>
            <a:br>
              <a:rPr lang="en-US" altLang="en-US" sz="3200" dirty="0"/>
            </a:br>
            <a:br>
              <a:rPr lang="en-US" altLang="en-US" dirty="0"/>
            </a:br>
            <a:br>
              <a:rPr lang="en-US" altLang="en-US" dirty="0"/>
            </a:br>
            <a:br>
              <a:rPr lang="en-US" altLang="en-US" dirty="0"/>
            </a:br>
            <a:r>
              <a:rPr lang="en-US" altLang="en-US" sz="3200" dirty="0">
                <a:solidFill>
                  <a:srgbClr val="FF6600"/>
                </a:solidFill>
              </a:rPr>
              <a:t>Class 2 :  How folds form</a:t>
            </a:r>
            <a:endParaRPr lang="en-US" altLang="en-US" sz="2600" dirty="0">
              <a:solidFill>
                <a:srgbClr val="FF6600"/>
              </a:solidFill>
            </a:endParaRPr>
          </a:p>
        </p:txBody>
      </p:sp>
    </p:spTree>
  </p:cSld>
  <p:clrMapOvr>
    <a:masterClrMapping/>
  </p:clrMapOvr>
  <p:transition spd="slow"/>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60" name="Rectangle 8"/>
          <p:cNvSpPr>
            <a:spLocks noChangeArrowheads="1"/>
          </p:cNvSpPr>
          <p:nvPr/>
        </p:nvSpPr>
        <p:spPr bwMode="auto">
          <a:xfrm>
            <a:off x="4673600" y="1474788"/>
            <a:ext cx="4181475" cy="3933825"/>
          </a:xfrm>
          <a:prstGeom prst="rect">
            <a:avLst/>
          </a:prstGeom>
          <a:solidFill>
            <a:schemeClr val="folHlink"/>
          </a:solidFill>
          <a:ln w="38100">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00354" name="Rectangle 2"/>
          <p:cNvSpPr>
            <a:spLocks noGrp="1" noChangeArrowheads="1"/>
          </p:cNvSpPr>
          <p:nvPr>
            <p:ph type="title"/>
          </p:nvPr>
        </p:nvSpPr>
        <p:spPr>
          <a:noFill/>
        </p:spPr>
        <p:txBody>
          <a:bodyPr/>
          <a:lstStyle/>
          <a:p>
            <a:r>
              <a:rPr lang="en-GB" altLang="en-US">
                <a:effectLst/>
              </a:rPr>
              <a:t>Types of folding</a:t>
            </a:r>
          </a:p>
        </p:txBody>
      </p:sp>
      <p:sp>
        <p:nvSpPr>
          <p:cNvPr id="100355" name="Rectangle 3"/>
          <p:cNvSpPr>
            <a:spLocks noGrp="1" noChangeArrowheads="1"/>
          </p:cNvSpPr>
          <p:nvPr>
            <p:ph type="body" sz="half" idx="1"/>
          </p:nvPr>
        </p:nvSpPr>
        <p:spPr>
          <a:xfrm>
            <a:off x="84138" y="796925"/>
            <a:ext cx="8588375" cy="1228725"/>
          </a:xfrm>
          <a:noFill/>
        </p:spPr>
        <p:txBody>
          <a:bodyPr/>
          <a:lstStyle/>
          <a:p>
            <a:pPr marL="177800" indent="-177800">
              <a:spcBef>
                <a:spcPct val="75000"/>
              </a:spcBef>
            </a:pPr>
            <a:r>
              <a:rPr lang="en-GB" altLang="en-US" sz="1700" dirty="0">
                <a:effectLst/>
              </a:rPr>
              <a:t>One of the key reasons for describing the geometry of folds (Class 1) is to place constraints upon how </a:t>
            </a:r>
            <a:r>
              <a:rPr lang="en-GB" altLang="en-US" sz="1700">
                <a:effectLst/>
              </a:rPr>
              <a:t>they formed</a:t>
            </a:r>
            <a:endParaRPr lang="en-GB" altLang="en-US" sz="1700" dirty="0">
              <a:effectLst/>
            </a:endParaRPr>
          </a:p>
          <a:p>
            <a:pPr marL="177800" indent="-177800">
              <a:spcBef>
                <a:spcPct val="75000"/>
              </a:spcBef>
            </a:pPr>
            <a:r>
              <a:rPr lang="en-GB" altLang="en-US" sz="1700" dirty="0">
                <a:effectLst/>
              </a:rPr>
              <a:t>There are three basic types of folding:</a:t>
            </a:r>
          </a:p>
        </p:txBody>
      </p:sp>
      <p:pic>
        <p:nvPicPr>
          <p:cNvPr id="100357" name="Picture 2" descr="GR15.jpg"/>
          <p:cNvPicPr>
            <a:picLocks noGrp="1" noChangeAspect="1"/>
          </p:cNvPicPr>
          <p:nvPr>
            <p:ph sz="half" idx="2"/>
          </p:nvPr>
        </p:nvPicPr>
        <p:blipFill>
          <a:blip r:embed="rId3">
            <a:extLst>
              <a:ext uri="{28A0092B-C50C-407E-A947-70E740481C1C}">
                <a14:useLocalDpi xmlns:a14="http://schemas.microsoft.com/office/drawing/2010/main" val="0"/>
              </a:ext>
            </a:extLst>
          </a:blip>
          <a:srcRect/>
          <a:stretch>
            <a:fillRect/>
          </a:stretch>
        </p:blipFill>
        <p:spPr>
          <a:xfrm>
            <a:off x="4770438" y="1573213"/>
            <a:ext cx="3967162" cy="375761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100359" name="Text Box 7"/>
          <p:cNvSpPr txBox="1">
            <a:spLocks noChangeArrowheads="1"/>
          </p:cNvSpPr>
          <p:nvPr/>
        </p:nvSpPr>
        <p:spPr bwMode="auto">
          <a:xfrm>
            <a:off x="273050" y="2078038"/>
            <a:ext cx="4171950" cy="3279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04800" indent="-304800">
              <a:defRPr sz="1600">
                <a:solidFill>
                  <a:schemeClr val="tx1"/>
                </a:solidFill>
                <a:latin typeface="Helvetica" charset="0"/>
              </a:defRPr>
            </a:lvl1pPr>
            <a:lvl2pPr marL="762000" indent="-304800">
              <a:defRPr sz="1600">
                <a:solidFill>
                  <a:schemeClr val="tx1"/>
                </a:solidFill>
                <a:latin typeface="Helvetica" charset="0"/>
              </a:defRPr>
            </a:lvl2pPr>
            <a:lvl3pPr marL="1219200" indent="-304800">
              <a:defRPr sz="1600">
                <a:solidFill>
                  <a:schemeClr val="tx1"/>
                </a:solidFill>
                <a:latin typeface="Helvetica" charset="0"/>
              </a:defRPr>
            </a:lvl3pPr>
            <a:lvl4pPr marL="1676400" indent="-304800">
              <a:defRPr sz="1600">
                <a:solidFill>
                  <a:schemeClr val="tx1"/>
                </a:solidFill>
                <a:latin typeface="Helvetica" charset="0"/>
              </a:defRPr>
            </a:lvl4pPr>
            <a:lvl5pPr marL="2133600" indent="-304800">
              <a:defRPr sz="1600">
                <a:solidFill>
                  <a:schemeClr val="tx1"/>
                </a:solidFill>
                <a:latin typeface="Helvetica" charset="0"/>
              </a:defRPr>
            </a:lvl5pPr>
            <a:lvl6pPr marL="2590800" indent="-304800" eaLnBrk="0" fontAlgn="base" hangingPunct="0">
              <a:spcBef>
                <a:spcPct val="20000"/>
              </a:spcBef>
              <a:spcAft>
                <a:spcPct val="0"/>
              </a:spcAft>
              <a:buClr>
                <a:schemeClr val="accent2"/>
              </a:buClr>
              <a:defRPr sz="1600">
                <a:solidFill>
                  <a:schemeClr val="tx1"/>
                </a:solidFill>
                <a:latin typeface="Helvetica" charset="0"/>
              </a:defRPr>
            </a:lvl6pPr>
            <a:lvl7pPr marL="3048000" indent="-304800" eaLnBrk="0" fontAlgn="base" hangingPunct="0">
              <a:spcBef>
                <a:spcPct val="20000"/>
              </a:spcBef>
              <a:spcAft>
                <a:spcPct val="0"/>
              </a:spcAft>
              <a:buClr>
                <a:schemeClr val="accent2"/>
              </a:buClr>
              <a:defRPr sz="1600">
                <a:solidFill>
                  <a:schemeClr val="tx1"/>
                </a:solidFill>
                <a:latin typeface="Helvetica" charset="0"/>
              </a:defRPr>
            </a:lvl7pPr>
            <a:lvl8pPr marL="3505200" indent="-304800" eaLnBrk="0" fontAlgn="base" hangingPunct="0">
              <a:spcBef>
                <a:spcPct val="20000"/>
              </a:spcBef>
              <a:spcAft>
                <a:spcPct val="0"/>
              </a:spcAft>
              <a:buClr>
                <a:schemeClr val="accent2"/>
              </a:buClr>
              <a:defRPr sz="1600">
                <a:solidFill>
                  <a:schemeClr val="tx1"/>
                </a:solidFill>
                <a:latin typeface="Helvetica" charset="0"/>
              </a:defRPr>
            </a:lvl8pPr>
            <a:lvl9pPr marL="3962400" indent="-304800" eaLnBrk="0" fontAlgn="base" hangingPunct="0">
              <a:spcBef>
                <a:spcPct val="20000"/>
              </a:spcBef>
              <a:spcAft>
                <a:spcPct val="0"/>
              </a:spcAft>
              <a:buClr>
                <a:schemeClr val="accent2"/>
              </a:buClr>
              <a:defRPr sz="1600">
                <a:solidFill>
                  <a:schemeClr val="tx1"/>
                </a:solidFill>
                <a:latin typeface="Helvetica" charset="0"/>
              </a:defRPr>
            </a:lvl9pPr>
          </a:lstStyle>
          <a:p>
            <a:pPr>
              <a:lnSpc>
                <a:spcPct val="120000"/>
              </a:lnSpc>
              <a:spcBef>
                <a:spcPct val="50000"/>
              </a:spcBef>
              <a:buClr>
                <a:schemeClr val="tx1"/>
              </a:buClr>
              <a:buFontTx/>
              <a:buAutoNum type="arabicPeriod"/>
            </a:pPr>
            <a:r>
              <a:rPr lang="en-GB" altLang="en-US" sz="1700">
                <a:solidFill>
                  <a:srgbClr val="FF6600"/>
                </a:solidFill>
                <a:effectLst>
                  <a:outerShdw blurRad="38100" dist="38100" dir="2700000" algn="tl">
                    <a:srgbClr val="000000"/>
                  </a:outerShdw>
                </a:effectLst>
                <a:latin typeface="Arial" charset="0"/>
              </a:rPr>
              <a:t>Buckling</a:t>
            </a:r>
            <a:r>
              <a:rPr lang="en-GB" altLang="en-US" sz="1700">
                <a:effectLst>
                  <a:outerShdw blurRad="38100" dist="38100" dir="2700000" algn="tl">
                    <a:srgbClr val="000000"/>
                  </a:outerShdw>
                </a:effectLst>
                <a:latin typeface="Arial" charset="0"/>
              </a:rPr>
              <a:t>: folding that occurs when layers are </a:t>
            </a:r>
            <a:r>
              <a:rPr lang="en-GB" altLang="en-US" sz="1700">
                <a:solidFill>
                  <a:srgbClr val="FF66CC"/>
                </a:solidFill>
                <a:effectLst>
                  <a:outerShdw blurRad="38100" dist="38100" dir="2700000" algn="tl">
                    <a:srgbClr val="000000"/>
                  </a:outerShdw>
                </a:effectLst>
                <a:latin typeface="Arial" charset="0"/>
              </a:rPr>
              <a:t>loaded</a:t>
            </a:r>
            <a:r>
              <a:rPr lang="en-GB" altLang="en-US" sz="1700">
                <a:effectLst>
                  <a:outerShdw blurRad="38100" dist="38100" dir="2700000" algn="tl">
                    <a:srgbClr val="000000"/>
                  </a:outerShdw>
                </a:effectLst>
                <a:latin typeface="Arial" charset="0"/>
              </a:rPr>
              <a:t> </a:t>
            </a:r>
            <a:r>
              <a:rPr lang="en-GB" altLang="en-US" sz="1700">
                <a:solidFill>
                  <a:srgbClr val="FF66CC"/>
                </a:solidFill>
                <a:effectLst>
                  <a:outerShdw blurRad="38100" dist="38100" dir="2700000" algn="tl">
                    <a:srgbClr val="000000"/>
                  </a:outerShdw>
                </a:effectLst>
                <a:latin typeface="Arial" charset="0"/>
              </a:rPr>
              <a:t>parallel</a:t>
            </a:r>
            <a:r>
              <a:rPr lang="en-GB" altLang="en-US" sz="1700">
                <a:effectLst>
                  <a:outerShdw blurRad="38100" dist="38100" dir="2700000" algn="tl">
                    <a:srgbClr val="000000"/>
                  </a:outerShdw>
                </a:effectLst>
                <a:latin typeface="Arial" charset="0"/>
              </a:rPr>
              <a:t> to the layering</a:t>
            </a:r>
          </a:p>
          <a:p>
            <a:pPr>
              <a:lnSpc>
                <a:spcPct val="120000"/>
              </a:lnSpc>
              <a:spcBef>
                <a:spcPct val="75000"/>
              </a:spcBef>
              <a:buClr>
                <a:schemeClr val="tx1"/>
              </a:buClr>
              <a:buFontTx/>
              <a:buAutoNum type="arabicPeriod"/>
            </a:pPr>
            <a:r>
              <a:rPr lang="en-GB" altLang="en-US" sz="1700">
                <a:solidFill>
                  <a:srgbClr val="FF6600"/>
                </a:solidFill>
                <a:effectLst>
                  <a:outerShdw blurRad="38100" dist="38100" dir="2700000" algn="tl">
                    <a:srgbClr val="000000"/>
                  </a:outerShdw>
                </a:effectLst>
                <a:latin typeface="Arial" charset="0"/>
              </a:rPr>
              <a:t>Bending</a:t>
            </a:r>
            <a:r>
              <a:rPr lang="en-GB" altLang="en-US" sz="1700">
                <a:effectLst>
                  <a:outerShdw blurRad="38100" dist="38100" dir="2700000" algn="tl">
                    <a:srgbClr val="000000"/>
                  </a:outerShdw>
                </a:effectLst>
                <a:latin typeface="Arial" charset="0"/>
              </a:rPr>
              <a:t>: folding that occurs when layers are </a:t>
            </a:r>
            <a:r>
              <a:rPr lang="en-GB" altLang="en-US" sz="1700">
                <a:solidFill>
                  <a:srgbClr val="FF66CC"/>
                </a:solidFill>
                <a:effectLst>
                  <a:outerShdw blurRad="38100" dist="38100" dir="2700000" algn="tl">
                    <a:srgbClr val="000000"/>
                  </a:outerShdw>
                </a:effectLst>
                <a:latin typeface="Arial" charset="0"/>
              </a:rPr>
              <a:t>loaded at</a:t>
            </a:r>
            <a:r>
              <a:rPr lang="en-GB" altLang="en-US" sz="1700">
                <a:effectLst>
                  <a:outerShdw blurRad="38100" dist="38100" dir="2700000" algn="tl">
                    <a:srgbClr val="000000"/>
                  </a:outerShdw>
                </a:effectLst>
                <a:latin typeface="Arial" charset="0"/>
              </a:rPr>
              <a:t> </a:t>
            </a:r>
            <a:r>
              <a:rPr lang="en-GB" altLang="en-US" sz="1700">
                <a:solidFill>
                  <a:srgbClr val="FF66CC"/>
                </a:solidFill>
                <a:effectLst>
                  <a:outerShdw blurRad="38100" dist="38100" dir="2700000" algn="tl">
                    <a:srgbClr val="000000"/>
                  </a:outerShdw>
                </a:effectLst>
                <a:latin typeface="Arial" charset="0"/>
              </a:rPr>
              <a:t>a high angle</a:t>
            </a:r>
            <a:r>
              <a:rPr lang="en-GB" altLang="en-US" sz="1700">
                <a:effectLst>
                  <a:outerShdw blurRad="38100" dist="38100" dir="2700000" algn="tl">
                    <a:srgbClr val="000000"/>
                  </a:outerShdw>
                </a:effectLst>
                <a:latin typeface="Arial" charset="0"/>
              </a:rPr>
              <a:t> to the layering</a:t>
            </a:r>
          </a:p>
          <a:p>
            <a:pPr>
              <a:lnSpc>
                <a:spcPct val="120000"/>
              </a:lnSpc>
              <a:spcBef>
                <a:spcPct val="75000"/>
              </a:spcBef>
              <a:buClr>
                <a:schemeClr val="tx1"/>
              </a:buClr>
              <a:buFontTx/>
              <a:buAutoNum type="arabicPeriod"/>
            </a:pPr>
            <a:r>
              <a:rPr lang="en-GB" altLang="en-US" sz="1700">
                <a:solidFill>
                  <a:srgbClr val="FF6600"/>
                </a:solidFill>
                <a:effectLst>
                  <a:outerShdw blurRad="38100" dist="38100" dir="2700000" algn="tl">
                    <a:srgbClr val="000000"/>
                  </a:outerShdw>
                </a:effectLst>
                <a:latin typeface="Arial" charset="0"/>
              </a:rPr>
              <a:t>Passive folding</a:t>
            </a:r>
            <a:r>
              <a:rPr lang="en-GB" altLang="en-US" sz="1700">
                <a:effectLst>
                  <a:outerShdw blurRad="38100" dist="38100" dir="2700000" algn="tl">
                    <a:srgbClr val="000000"/>
                  </a:outerShdw>
                </a:effectLst>
                <a:latin typeface="Arial" charset="0"/>
              </a:rPr>
              <a:t>: folding of </a:t>
            </a:r>
            <a:r>
              <a:rPr lang="en-GB" altLang="en-US" sz="1700">
                <a:solidFill>
                  <a:srgbClr val="FF66CC"/>
                </a:solidFill>
                <a:effectLst>
                  <a:outerShdw blurRad="38100" dist="38100" dir="2700000" algn="tl">
                    <a:srgbClr val="000000"/>
                  </a:outerShdw>
                </a:effectLst>
                <a:latin typeface="Arial" charset="0"/>
              </a:rPr>
              <a:t>marker bands</a:t>
            </a:r>
            <a:r>
              <a:rPr lang="en-GB" altLang="en-US" sz="1700">
                <a:effectLst>
                  <a:outerShdw blurRad="38100" dist="38100" dir="2700000" algn="tl">
                    <a:srgbClr val="000000"/>
                  </a:outerShdw>
                </a:effectLst>
                <a:latin typeface="Arial" charset="0"/>
              </a:rPr>
              <a:t> that cross or are contained within a deforming unit</a:t>
            </a:r>
          </a:p>
        </p:txBody>
      </p:sp>
      <p:sp>
        <p:nvSpPr>
          <p:cNvPr id="100361" name="Rectangle 9"/>
          <p:cNvSpPr>
            <a:spLocks noChangeArrowheads="1"/>
          </p:cNvSpPr>
          <p:nvPr/>
        </p:nvSpPr>
        <p:spPr bwMode="auto">
          <a:xfrm>
            <a:off x="87313" y="5603875"/>
            <a:ext cx="8999537" cy="949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177800" indent="-177800">
              <a:lnSpc>
                <a:spcPct val="120000"/>
              </a:lnSpc>
              <a:spcBef>
                <a:spcPct val="100000"/>
              </a:spcBef>
              <a:buClr>
                <a:schemeClr val="folHlink"/>
              </a:buClr>
              <a:buSzPct val="100000"/>
              <a:buFont typeface="Times"/>
              <a:buChar char="•"/>
              <a:defRPr>
                <a:solidFill>
                  <a:schemeClr val="tx1"/>
                </a:solidFill>
                <a:latin typeface="Arial" charset="0"/>
              </a:defRPr>
            </a:lvl1pPr>
            <a:lvl2pPr marL="541338" indent="-184150">
              <a:lnSpc>
                <a:spcPct val="120000"/>
              </a:lnSpc>
              <a:spcBef>
                <a:spcPct val="50000"/>
              </a:spcBef>
              <a:buClr>
                <a:schemeClr val="folHlink"/>
              </a:buClr>
              <a:buSzPct val="100000"/>
              <a:buFont typeface="Times"/>
              <a:buChar char="•"/>
              <a:defRPr sz="1600">
                <a:solidFill>
                  <a:schemeClr val="tx1"/>
                </a:solidFill>
                <a:latin typeface="Arial" charset="0"/>
              </a:defRPr>
            </a:lvl2pPr>
            <a:lvl3pPr marL="1235075" indent="-184150">
              <a:spcBef>
                <a:spcPct val="25000"/>
              </a:spcBef>
              <a:buClr>
                <a:schemeClr val="folHlink"/>
              </a:buClr>
              <a:buFont typeface="Times"/>
              <a:buChar char="•"/>
              <a:defRPr sz="1400">
                <a:solidFill>
                  <a:schemeClr val="tx1"/>
                </a:solidFill>
                <a:latin typeface="Arial" charset="0"/>
              </a:defRPr>
            </a:lvl3pPr>
            <a:lvl4pPr marL="1698625" indent="-228600">
              <a:spcBef>
                <a:spcPct val="25000"/>
              </a:spcBef>
              <a:buClr>
                <a:schemeClr val="folHlink"/>
              </a:buClr>
              <a:buFont typeface="Times"/>
              <a:buChar char="•"/>
              <a:defRPr sz="1400">
                <a:solidFill>
                  <a:schemeClr val="tx1"/>
                </a:solidFill>
                <a:latin typeface="Arial" charset="0"/>
              </a:defRPr>
            </a:lvl4pPr>
            <a:lvl5pPr marL="2117725" indent="-228600">
              <a:spcBef>
                <a:spcPct val="25000"/>
              </a:spcBef>
              <a:buClr>
                <a:schemeClr val="folHlink"/>
              </a:buClr>
              <a:buSzPct val="50000"/>
              <a:buFont typeface="Times"/>
              <a:buChar char="•"/>
              <a:defRPr sz="1400">
                <a:solidFill>
                  <a:schemeClr val="tx1"/>
                </a:solidFill>
                <a:latin typeface="Arial" charset="0"/>
              </a:defRPr>
            </a:lvl5pPr>
            <a:lvl6pPr marL="2574925" indent="-228600" eaLnBrk="0" fontAlgn="base" hangingPunct="0">
              <a:spcBef>
                <a:spcPct val="25000"/>
              </a:spcBef>
              <a:spcAft>
                <a:spcPct val="0"/>
              </a:spcAft>
              <a:buClr>
                <a:schemeClr val="folHlink"/>
              </a:buClr>
              <a:buSzPct val="50000"/>
              <a:buFont typeface="Times"/>
              <a:buChar char="•"/>
              <a:defRPr sz="1400">
                <a:solidFill>
                  <a:schemeClr val="tx1"/>
                </a:solidFill>
                <a:latin typeface="Arial" charset="0"/>
              </a:defRPr>
            </a:lvl6pPr>
            <a:lvl7pPr marL="3032125" indent="-228600" eaLnBrk="0" fontAlgn="base" hangingPunct="0">
              <a:spcBef>
                <a:spcPct val="25000"/>
              </a:spcBef>
              <a:spcAft>
                <a:spcPct val="0"/>
              </a:spcAft>
              <a:buClr>
                <a:schemeClr val="folHlink"/>
              </a:buClr>
              <a:buSzPct val="50000"/>
              <a:buFont typeface="Times"/>
              <a:buChar char="•"/>
              <a:defRPr sz="1400">
                <a:solidFill>
                  <a:schemeClr val="tx1"/>
                </a:solidFill>
                <a:latin typeface="Arial" charset="0"/>
              </a:defRPr>
            </a:lvl7pPr>
            <a:lvl8pPr marL="3489325" indent="-228600" eaLnBrk="0" fontAlgn="base" hangingPunct="0">
              <a:spcBef>
                <a:spcPct val="25000"/>
              </a:spcBef>
              <a:spcAft>
                <a:spcPct val="0"/>
              </a:spcAft>
              <a:buClr>
                <a:schemeClr val="folHlink"/>
              </a:buClr>
              <a:buSzPct val="50000"/>
              <a:buFont typeface="Times"/>
              <a:buChar char="•"/>
              <a:defRPr sz="1400">
                <a:solidFill>
                  <a:schemeClr val="tx1"/>
                </a:solidFill>
                <a:latin typeface="Arial" charset="0"/>
              </a:defRPr>
            </a:lvl8pPr>
            <a:lvl9pPr marL="3946525" indent="-228600" eaLnBrk="0" fontAlgn="base" hangingPunct="0">
              <a:spcBef>
                <a:spcPct val="25000"/>
              </a:spcBef>
              <a:spcAft>
                <a:spcPct val="0"/>
              </a:spcAft>
              <a:buClr>
                <a:schemeClr val="folHlink"/>
              </a:buClr>
              <a:buSzPct val="50000"/>
              <a:buFont typeface="Times"/>
              <a:buChar char="•"/>
              <a:defRPr sz="1400">
                <a:solidFill>
                  <a:schemeClr val="tx1"/>
                </a:solidFill>
                <a:latin typeface="Arial" charset="0"/>
              </a:defRPr>
            </a:lvl9pPr>
          </a:lstStyle>
          <a:p>
            <a:pPr>
              <a:spcBef>
                <a:spcPct val="75000"/>
              </a:spcBef>
            </a:pPr>
            <a:r>
              <a:rPr lang="en-GB" altLang="en-US" sz="1700" dirty="0">
                <a:effectLst/>
              </a:rPr>
              <a:t>The focus today is primarily on </a:t>
            </a:r>
            <a:r>
              <a:rPr lang="en-GB" altLang="en-US" sz="1700" dirty="0">
                <a:solidFill>
                  <a:srgbClr val="FF66CC"/>
                </a:solidFill>
                <a:effectLst/>
              </a:rPr>
              <a:t>buckling</a:t>
            </a:r>
            <a:r>
              <a:rPr lang="en-GB" altLang="en-US" sz="1700" dirty="0">
                <a:effectLst/>
              </a:rPr>
              <a:t> – there will be some brief remarks about folds formed by bending and about passive folding, but proper discussion of them will be deferred to the classes on tectonic regimes (Classes 8-10) and shear zones (Class 4)</a:t>
            </a:r>
          </a:p>
        </p:txBody>
      </p:sp>
    </p:spTree>
  </p:cSld>
  <p:clrMapOvr>
    <a:masterClrMapping/>
  </p:clrMapOvr>
  <p:transition spd="slow"/>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1191" name="Picture 7" descr="00-Experiment"/>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a:xfrm>
            <a:off x="5334000" y="917575"/>
            <a:ext cx="3667125" cy="5645150"/>
          </a:xfr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221186" name="Rectangle 2"/>
          <p:cNvSpPr>
            <a:spLocks noGrp="1" noChangeArrowheads="1"/>
          </p:cNvSpPr>
          <p:nvPr>
            <p:ph type="title"/>
          </p:nvPr>
        </p:nvSpPr>
        <p:spPr>
          <a:noFill/>
        </p:spPr>
        <p:txBody>
          <a:bodyPr/>
          <a:lstStyle/>
          <a:p>
            <a:r>
              <a:rPr lang="en-GB" altLang="en-US">
                <a:effectLst/>
              </a:rPr>
              <a:t>Buckling  (introductory remarks)</a:t>
            </a:r>
          </a:p>
        </p:txBody>
      </p:sp>
      <p:sp>
        <p:nvSpPr>
          <p:cNvPr id="221187" name="Rectangle 3"/>
          <p:cNvSpPr>
            <a:spLocks noGrp="1" noChangeArrowheads="1"/>
          </p:cNvSpPr>
          <p:nvPr>
            <p:ph type="body" sz="half" idx="1"/>
          </p:nvPr>
        </p:nvSpPr>
        <p:spPr>
          <a:xfrm>
            <a:off x="128588" y="4826000"/>
            <a:ext cx="4894262" cy="720725"/>
          </a:xfrm>
          <a:noFill/>
        </p:spPr>
        <p:txBody>
          <a:bodyPr/>
          <a:lstStyle/>
          <a:p>
            <a:pPr marL="182563" indent="-182563">
              <a:spcBef>
                <a:spcPct val="25000"/>
              </a:spcBef>
            </a:pPr>
            <a:r>
              <a:rPr lang="en-GB" altLang="en-US" sz="1700" dirty="0">
                <a:effectLst/>
              </a:rPr>
              <a:t>In laboratory and numerical work, the following are considered separately:</a:t>
            </a:r>
          </a:p>
        </p:txBody>
      </p:sp>
      <p:sp>
        <p:nvSpPr>
          <p:cNvPr id="221193" name="Rectangle 9"/>
          <p:cNvSpPr>
            <a:spLocks noChangeArrowheads="1"/>
          </p:cNvSpPr>
          <p:nvPr/>
        </p:nvSpPr>
        <p:spPr bwMode="auto">
          <a:xfrm>
            <a:off x="128588" y="773113"/>
            <a:ext cx="5029200" cy="7413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182563" indent="-182563">
              <a:lnSpc>
                <a:spcPct val="120000"/>
              </a:lnSpc>
              <a:spcBef>
                <a:spcPct val="100000"/>
              </a:spcBef>
              <a:buClr>
                <a:schemeClr val="folHlink"/>
              </a:buClr>
              <a:buSzPct val="100000"/>
              <a:buFont typeface="Times"/>
              <a:buChar char="•"/>
              <a:defRPr>
                <a:solidFill>
                  <a:schemeClr val="tx1"/>
                </a:solidFill>
                <a:latin typeface="Arial" charset="0"/>
              </a:defRPr>
            </a:lvl1pPr>
            <a:lvl2pPr marL="625475" indent="-263525">
              <a:lnSpc>
                <a:spcPct val="120000"/>
              </a:lnSpc>
              <a:spcBef>
                <a:spcPct val="50000"/>
              </a:spcBef>
              <a:buClr>
                <a:schemeClr val="folHlink"/>
              </a:buClr>
              <a:buSzPct val="100000"/>
              <a:buFont typeface="Times"/>
              <a:buChar char="•"/>
              <a:defRPr sz="1600">
                <a:solidFill>
                  <a:schemeClr val="tx1"/>
                </a:solidFill>
                <a:latin typeface="Arial" charset="0"/>
              </a:defRPr>
            </a:lvl2pPr>
            <a:lvl3pPr marL="1401763" indent="-304800">
              <a:spcBef>
                <a:spcPct val="25000"/>
              </a:spcBef>
              <a:buClr>
                <a:schemeClr val="folHlink"/>
              </a:buClr>
              <a:buFont typeface="Times"/>
              <a:buChar char="•"/>
              <a:defRPr sz="1400">
                <a:solidFill>
                  <a:schemeClr val="tx1"/>
                </a:solidFill>
                <a:latin typeface="Arial" charset="0"/>
              </a:defRPr>
            </a:lvl3pPr>
            <a:lvl4pPr marL="1885950" indent="-304800">
              <a:spcBef>
                <a:spcPct val="25000"/>
              </a:spcBef>
              <a:buClr>
                <a:schemeClr val="folHlink"/>
              </a:buClr>
              <a:buFont typeface="Times"/>
              <a:buChar char="•"/>
              <a:defRPr sz="1400">
                <a:solidFill>
                  <a:schemeClr val="tx1"/>
                </a:solidFill>
                <a:latin typeface="Arial" charset="0"/>
              </a:defRPr>
            </a:lvl4pPr>
            <a:lvl5pPr marL="2370138" indent="-304800">
              <a:spcBef>
                <a:spcPct val="25000"/>
              </a:spcBef>
              <a:buClr>
                <a:schemeClr val="folHlink"/>
              </a:buClr>
              <a:buSzPct val="50000"/>
              <a:buFont typeface="Times"/>
              <a:buChar char="•"/>
              <a:defRPr sz="1400">
                <a:solidFill>
                  <a:schemeClr val="tx1"/>
                </a:solidFill>
                <a:latin typeface="Arial" charset="0"/>
              </a:defRPr>
            </a:lvl5pPr>
            <a:lvl6pPr marL="2827338" indent="-304800" eaLnBrk="0" fontAlgn="base" hangingPunct="0">
              <a:spcBef>
                <a:spcPct val="25000"/>
              </a:spcBef>
              <a:spcAft>
                <a:spcPct val="0"/>
              </a:spcAft>
              <a:buClr>
                <a:schemeClr val="folHlink"/>
              </a:buClr>
              <a:buSzPct val="50000"/>
              <a:buFont typeface="Times"/>
              <a:buChar char="•"/>
              <a:defRPr sz="1400">
                <a:solidFill>
                  <a:schemeClr val="tx1"/>
                </a:solidFill>
                <a:latin typeface="Arial" charset="0"/>
              </a:defRPr>
            </a:lvl6pPr>
            <a:lvl7pPr marL="3284538" indent="-304800" eaLnBrk="0" fontAlgn="base" hangingPunct="0">
              <a:spcBef>
                <a:spcPct val="25000"/>
              </a:spcBef>
              <a:spcAft>
                <a:spcPct val="0"/>
              </a:spcAft>
              <a:buClr>
                <a:schemeClr val="folHlink"/>
              </a:buClr>
              <a:buSzPct val="50000"/>
              <a:buFont typeface="Times"/>
              <a:buChar char="•"/>
              <a:defRPr sz="1400">
                <a:solidFill>
                  <a:schemeClr val="tx1"/>
                </a:solidFill>
                <a:latin typeface="Arial" charset="0"/>
              </a:defRPr>
            </a:lvl7pPr>
            <a:lvl8pPr marL="3741738" indent="-304800" eaLnBrk="0" fontAlgn="base" hangingPunct="0">
              <a:spcBef>
                <a:spcPct val="25000"/>
              </a:spcBef>
              <a:spcAft>
                <a:spcPct val="0"/>
              </a:spcAft>
              <a:buClr>
                <a:schemeClr val="folHlink"/>
              </a:buClr>
              <a:buSzPct val="50000"/>
              <a:buFont typeface="Times"/>
              <a:buChar char="•"/>
              <a:defRPr sz="1400">
                <a:solidFill>
                  <a:schemeClr val="tx1"/>
                </a:solidFill>
                <a:latin typeface="Arial" charset="0"/>
              </a:defRPr>
            </a:lvl8pPr>
            <a:lvl9pPr marL="4198938" indent="-304800" eaLnBrk="0" fontAlgn="base" hangingPunct="0">
              <a:spcBef>
                <a:spcPct val="25000"/>
              </a:spcBef>
              <a:spcAft>
                <a:spcPct val="0"/>
              </a:spcAft>
              <a:buClr>
                <a:schemeClr val="folHlink"/>
              </a:buClr>
              <a:buSzPct val="50000"/>
              <a:buFont typeface="Times"/>
              <a:buChar char="•"/>
              <a:defRPr sz="1400">
                <a:solidFill>
                  <a:schemeClr val="tx1"/>
                </a:solidFill>
                <a:latin typeface="Arial" charset="0"/>
              </a:defRPr>
            </a:lvl9pPr>
          </a:lstStyle>
          <a:p>
            <a:pPr>
              <a:spcBef>
                <a:spcPct val="50000"/>
              </a:spcBef>
            </a:pPr>
            <a:r>
              <a:rPr lang="en-GB" altLang="en-US" sz="1700">
                <a:solidFill>
                  <a:srgbClr val="FF6600"/>
                </a:solidFill>
                <a:effectLst/>
              </a:rPr>
              <a:t>Buckling</a:t>
            </a:r>
            <a:r>
              <a:rPr lang="en-GB" altLang="en-US" sz="1700">
                <a:effectLst/>
              </a:rPr>
              <a:t> =</a:t>
            </a:r>
            <a:r>
              <a:rPr lang="en-GB" altLang="en-US" sz="1700">
                <a:solidFill>
                  <a:srgbClr val="FFFF00"/>
                </a:solidFill>
                <a:effectLst/>
              </a:rPr>
              <a:t> folding of a surface by a compressive stress directed along that surface</a:t>
            </a:r>
            <a:r>
              <a:rPr lang="en-GB" altLang="en-US" sz="1700">
                <a:solidFill>
                  <a:srgbClr val="FF66CC"/>
                </a:solidFill>
                <a:effectLst/>
              </a:rPr>
              <a:t>  </a:t>
            </a:r>
            <a:r>
              <a:rPr lang="en-GB" altLang="en-US" sz="1700">
                <a:effectLst/>
                <a:cs typeface="Arial" charset="0"/>
              </a:rPr>
              <a:t>→  requires</a:t>
            </a:r>
          </a:p>
        </p:txBody>
      </p:sp>
      <p:sp>
        <p:nvSpPr>
          <p:cNvPr id="221194" name="Rectangle 10"/>
          <p:cNvSpPr>
            <a:spLocks noChangeArrowheads="1"/>
          </p:cNvSpPr>
          <p:nvPr/>
        </p:nvSpPr>
        <p:spPr bwMode="auto">
          <a:xfrm>
            <a:off x="304800" y="1462088"/>
            <a:ext cx="4935538" cy="16970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269875" indent="-269875">
              <a:lnSpc>
                <a:spcPct val="120000"/>
              </a:lnSpc>
              <a:spcBef>
                <a:spcPct val="100000"/>
              </a:spcBef>
              <a:buClr>
                <a:schemeClr val="folHlink"/>
              </a:buClr>
              <a:buSzPct val="100000"/>
              <a:buFont typeface="Times"/>
              <a:buChar char="•"/>
              <a:defRPr>
                <a:solidFill>
                  <a:schemeClr val="tx1"/>
                </a:solidFill>
                <a:latin typeface="Arial" charset="0"/>
              </a:defRPr>
            </a:lvl1pPr>
            <a:lvl2pPr marL="754063" indent="-304800">
              <a:lnSpc>
                <a:spcPct val="120000"/>
              </a:lnSpc>
              <a:spcBef>
                <a:spcPct val="50000"/>
              </a:spcBef>
              <a:buClr>
                <a:schemeClr val="folHlink"/>
              </a:buClr>
              <a:buSzPct val="100000"/>
              <a:buFont typeface="Times"/>
              <a:buChar char="•"/>
              <a:defRPr sz="1600">
                <a:solidFill>
                  <a:schemeClr val="tx1"/>
                </a:solidFill>
                <a:latin typeface="Arial" charset="0"/>
              </a:defRPr>
            </a:lvl2pPr>
            <a:lvl3pPr marL="1401763" indent="-304800">
              <a:spcBef>
                <a:spcPct val="25000"/>
              </a:spcBef>
              <a:buClr>
                <a:schemeClr val="folHlink"/>
              </a:buClr>
              <a:buFont typeface="Times"/>
              <a:buChar char="•"/>
              <a:defRPr sz="1400">
                <a:solidFill>
                  <a:schemeClr val="tx1"/>
                </a:solidFill>
                <a:latin typeface="Arial" charset="0"/>
              </a:defRPr>
            </a:lvl3pPr>
            <a:lvl4pPr marL="1885950" indent="-304800">
              <a:spcBef>
                <a:spcPct val="25000"/>
              </a:spcBef>
              <a:buClr>
                <a:schemeClr val="folHlink"/>
              </a:buClr>
              <a:buFont typeface="Times"/>
              <a:buChar char="•"/>
              <a:defRPr sz="1400">
                <a:solidFill>
                  <a:schemeClr val="tx1"/>
                </a:solidFill>
                <a:latin typeface="Arial" charset="0"/>
              </a:defRPr>
            </a:lvl4pPr>
            <a:lvl5pPr marL="2370138" indent="-304800">
              <a:spcBef>
                <a:spcPct val="25000"/>
              </a:spcBef>
              <a:buClr>
                <a:schemeClr val="folHlink"/>
              </a:buClr>
              <a:buSzPct val="50000"/>
              <a:buFont typeface="Times"/>
              <a:buChar char="•"/>
              <a:defRPr sz="1400">
                <a:solidFill>
                  <a:schemeClr val="tx1"/>
                </a:solidFill>
                <a:latin typeface="Arial" charset="0"/>
              </a:defRPr>
            </a:lvl5pPr>
            <a:lvl6pPr marL="2827338" indent="-304800" eaLnBrk="0" fontAlgn="base" hangingPunct="0">
              <a:spcBef>
                <a:spcPct val="25000"/>
              </a:spcBef>
              <a:spcAft>
                <a:spcPct val="0"/>
              </a:spcAft>
              <a:buClr>
                <a:schemeClr val="folHlink"/>
              </a:buClr>
              <a:buSzPct val="50000"/>
              <a:buFont typeface="Times"/>
              <a:buChar char="•"/>
              <a:defRPr sz="1400">
                <a:solidFill>
                  <a:schemeClr val="tx1"/>
                </a:solidFill>
                <a:latin typeface="Arial" charset="0"/>
              </a:defRPr>
            </a:lvl6pPr>
            <a:lvl7pPr marL="3284538" indent="-304800" eaLnBrk="0" fontAlgn="base" hangingPunct="0">
              <a:spcBef>
                <a:spcPct val="25000"/>
              </a:spcBef>
              <a:spcAft>
                <a:spcPct val="0"/>
              </a:spcAft>
              <a:buClr>
                <a:schemeClr val="folHlink"/>
              </a:buClr>
              <a:buSzPct val="50000"/>
              <a:buFont typeface="Times"/>
              <a:buChar char="•"/>
              <a:defRPr sz="1400">
                <a:solidFill>
                  <a:schemeClr val="tx1"/>
                </a:solidFill>
                <a:latin typeface="Arial" charset="0"/>
              </a:defRPr>
            </a:lvl7pPr>
            <a:lvl8pPr marL="3741738" indent="-304800" eaLnBrk="0" fontAlgn="base" hangingPunct="0">
              <a:spcBef>
                <a:spcPct val="25000"/>
              </a:spcBef>
              <a:spcAft>
                <a:spcPct val="0"/>
              </a:spcAft>
              <a:buClr>
                <a:schemeClr val="folHlink"/>
              </a:buClr>
              <a:buSzPct val="50000"/>
              <a:buFont typeface="Times"/>
              <a:buChar char="•"/>
              <a:defRPr sz="1400">
                <a:solidFill>
                  <a:schemeClr val="tx1"/>
                </a:solidFill>
                <a:latin typeface="Arial" charset="0"/>
              </a:defRPr>
            </a:lvl8pPr>
            <a:lvl9pPr marL="4198938" indent="-304800" eaLnBrk="0" fontAlgn="base" hangingPunct="0">
              <a:spcBef>
                <a:spcPct val="25000"/>
              </a:spcBef>
              <a:spcAft>
                <a:spcPct val="0"/>
              </a:spcAft>
              <a:buClr>
                <a:schemeClr val="folHlink"/>
              </a:buClr>
              <a:buSzPct val="50000"/>
              <a:buFont typeface="Times"/>
              <a:buChar char="•"/>
              <a:defRPr sz="1400">
                <a:solidFill>
                  <a:schemeClr val="tx1"/>
                </a:solidFill>
                <a:latin typeface="Arial" charset="0"/>
              </a:defRPr>
            </a:lvl9pPr>
          </a:lstStyle>
          <a:p>
            <a:pPr>
              <a:spcBef>
                <a:spcPct val="25000"/>
              </a:spcBef>
              <a:buFont typeface="Times"/>
              <a:buAutoNum type="arabicPeriod"/>
            </a:pPr>
            <a:r>
              <a:rPr lang="en-GB" altLang="en-US" sz="1700" dirty="0">
                <a:effectLst/>
              </a:rPr>
              <a:t>the folded layer to be </a:t>
            </a:r>
            <a:r>
              <a:rPr lang="en-GB" altLang="en-US" sz="1700" dirty="0">
                <a:solidFill>
                  <a:srgbClr val="FF66CC"/>
                </a:solidFill>
                <a:effectLst/>
              </a:rPr>
              <a:t>more competent</a:t>
            </a:r>
            <a:r>
              <a:rPr lang="en-GB" altLang="en-US" sz="1700" dirty="0">
                <a:effectLst/>
              </a:rPr>
              <a:t> (greater viscosity) than the interlayers (matrix)</a:t>
            </a:r>
          </a:p>
          <a:p>
            <a:pPr>
              <a:spcBef>
                <a:spcPct val="25000"/>
              </a:spcBef>
              <a:buFont typeface="Times"/>
              <a:buAutoNum type="arabicPeriod"/>
            </a:pPr>
            <a:r>
              <a:rPr lang="en-GB" altLang="en-US" sz="1700" dirty="0">
                <a:solidFill>
                  <a:srgbClr val="FF66CC"/>
                </a:solidFill>
                <a:effectLst/>
              </a:rPr>
              <a:t>small irregularities</a:t>
            </a:r>
            <a:r>
              <a:rPr lang="en-GB" altLang="en-US" sz="1700" dirty="0">
                <a:effectLst/>
              </a:rPr>
              <a:t> (mechanical instabilities) to be present on the layer interfaces – these serve as nucleation sites for the folds</a:t>
            </a:r>
          </a:p>
        </p:txBody>
      </p:sp>
      <p:sp>
        <p:nvSpPr>
          <p:cNvPr id="221195" name="Rectangle 11"/>
          <p:cNvSpPr>
            <a:spLocks noChangeArrowheads="1"/>
          </p:cNvSpPr>
          <p:nvPr/>
        </p:nvSpPr>
        <p:spPr bwMode="auto">
          <a:xfrm>
            <a:off x="128588" y="3316288"/>
            <a:ext cx="4894262" cy="13763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182563" indent="-182563">
              <a:lnSpc>
                <a:spcPct val="120000"/>
              </a:lnSpc>
              <a:spcBef>
                <a:spcPct val="100000"/>
              </a:spcBef>
              <a:buClr>
                <a:schemeClr val="folHlink"/>
              </a:buClr>
              <a:buSzPct val="100000"/>
              <a:buFont typeface="Times"/>
              <a:buChar char="•"/>
              <a:defRPr>
                <a:solidFill>
                  <a:schemeClr val="tx1"/>
                </a:solidFill>
                <a:latin typeface="Arial" charset="0"/>
              </a:defRPr>
            </a:lvl1pPr>
            <a:lvl2pPr marL="625475" indent="-263525">
              <a:lnSpc>
                <a:spcPct val="120000"/>
              </a:lnSpc>
              <a:spcBef>
                <a:spcPct val="50000"/>
              </a:spcBef>
              <a:buClr>
                <a:schemeClr val="folHlink"/>
              </a:buClr>
              <a:buSzPct val="100000"/>
              <a:buFont typeface="Times"/>
              <a:buChar char="•"/>
              <a:defRPr sz="1600">
                <a:solidFill>
                  <a:schemeClr val="tx1"/>
                </a:solidFill>
                <a:latin typeface="Arial" charset="0"/>
              </a:defRPr>
            </a:lvl2pPr>
            <a:lvl3pPr marL="1401763" indent="-304800">
              <a:spcBef>
                <a:spcPct val="25000"/>
              </a:spcBef>
              <a:buClr>
                <a:schemeClr val="folHlink"/>
              </a:buClr>
              <a:buFont typeface="Times"/>
              <a:buChar char="•"/>
              <a:defRPr sz="1400">
                <a:solidFill>
                  <a:schemeClr val="tx1"/>
                </a:solidFill>
                <a:latin typeface="Arial" charset="0"/>
              </a:defRPr>
            </a:lvl3pPr>
            <a:lvl4pPr marL="1885950" indent="-304800">
              <a:spcBef>
                <a:spcPct val="25000"/>
              </a:spcBef>
              <a:buClr>
                <a:schemeClr val="folHlink"/>
              </a:buClr>
              <a:buFont typeface="Times"/>
              <a:buChar char="•"/>
              <a:defRPr sz="1400">
                <a:solidFill>
                  <a:schemeClr val="tx1"/>
                </a:solidFill>
                <a:latin typeface="Arial" charset="0"/>
              </a:defRPr>
            </a:lvl4pPr>
            <a:lvl5pPr marL="2370138" indent="-304800">
              <a:spcBef>
                <a:spcPct val="25000"/>
              </a:spcBef>
              <a:buClr>
                <a:schemeClr val="folHlink"/>
              </a:buClr>
              <a:buSzPct val="50000"/>
              <a:buFont typeface="Times"/>
              <a:buChar char="•"/>
              <a:defRPr sz="1400">
                <a:solidFill>
                  <a:schemeClr val="tx1"/>
                </a:solidFill>
                <a:latin typeface="Arial" charset="0"/>
              </a:defRPr>
            </a:lvl5pPr>
            <a:lvl6pPr marL="2827338" indent="-304800" eaLnBrk="0" fontAlgn="base" hangingPunct="0">
              <a:spcBef>
                <a:spcPct val="25000"/>
              </a:spcBef>
              <a:spcAft>
                <a:spcPct val="0"/>
              </a:spcAft>
              <a:buClr>
                <a:schemeClr val="folHlink"/>
              </a:buClr>
              <a:buSzPct val="50000"/>
              <a:buFont typeface="Times"/>
              <a:buChar char="•"/>
              <a:defRPr sz="1400">
                <a:solidFill>
                  <a:schemeClr val="tx1"/>
                </a:solidFill>
                <a:latin typeface="Arial" charset="0"/>
              </a:defRPr>
            </a:lvl6pPr>
            <a:lvl7pPr marL="3284538" indent="-304800" eaLnBrk="0" fontAlgn="base" hangingPunct="0">
              <a:spcBef>
                <a:spcPct val="25000"/>
              </a:spcBef>
              <a:spcAft>
                <a:spcPct val="0"/>
              </a:spcAft>
              <a:buClr>
                <a:schemeClr val="folHlink"/>
              </a:buClr>
              <a:buSzPct val="50000"/>
              <a:buFont typeface="Times"/>
              <a:buChar char="•"/>
              <a:defRPr sz="1400">
                <a:solidFill>
                  <a:schemeClr val="tx1"/>
                </a:solidFill>
                <a:latin typeface="Arial" charset="0"/>
              </a:defRPr>
            </a:lvl7pPr>
            <a:lvl8pPr marL="3741738" indent="-304800" eaLnBrk="0" fontAlgn="base" hangingPunct="0">
              <a:spcBef>
                <a:spcPct val="25000"/>
              </a:spcBef>
              <a:spcAft>
                <a:spcPct val="0"/>
              </a:spcAft>
              <a:buClr>
                <a:schemeClr val="folHlink"/>
              </a:buClr>
              <a:buSzPct val="50000"/>
              <a:buFont typeface="Times"/>
              <a:buChar char="•"/>
              <a:defRPr sz="1400">
                <a:solidFill>
                  <a:schemeClr val="tx1"/>
                </a:solidFill>
                <a:latin typeface="Arial" charset="0"/>
              </a:defRPr>
            </a:lvl8pPr>
            <a:lvl9pPr marL="4198938" indent="-304800" eaLnBrk="0" fontAlgn="base" hangingPunct="0">
              <a:spcBef>
                <a:spcPct val="25000"/>
              </a:spcBef>
              <a:spcAft>
                <a:spcPct val="0"/>
              </a:spcAft>
              <a:buClr>
                <a:schemeClr val="folHlink"/>
              </a:buClr>
              <a:buSzPct val="50000"/>
              <a:buFont typeface="Times"/>
              <a:buChar char="•"/>
              <a:defRPr sz="1400">
                <a:solidFill>
                  <a:schemeClr val="tx1"/>
                </a:solidFill>
                <a:latin typeface="Arial" charset="0"/>
              </a:defRPr>
            </a:lvl9pPr>
          </a:lstStyle>
          <a:p>
            <a:pPr>
              <a:spcBef>
                <a:spcPct val="50000"/>
              </a:spcBef>
            </a:pPr>
            <a:r>
              <a:rPr lang="en-GB" altLang="en-US" sz="1700" dirty="0">
                <a:effectLst/>
              </a:rPr>
              <a:t>The key variables that control the geometry of buckle folds have been identified from </a:t>
            </a:r>
            <a:r>
              <a:rPr lang="en-GB" altLang="en-US" sz="1700" dirty="0">
                <a:solidFill>
                  <a:srgbClr val="FF66CC"/>
                </a:solidFill>
                <a:effectLst/>
              </a:rPr>
              <a:t>laboratory experiments</a:t>
            </a:r>
            <a:r>
              <a:rPr lang="en-GB" altLang="en-US" sz="1700" dirty="0">
                <a:solidFill>
                  <a:srgbClr val="FF6600"/>
                </a:solidFill>
                <a:effectLst/>
              </a:rPr>
              <a:t> </a:t>
            </a:r>
            <a:r>
              <a:rPr lang="en-GB" altLang="en-US" sz="1700" dirty="0">
                <a:effectLst/>
              </a:rPr>
              <a:t>on analogue materials</a:t>
            </a:r>
            <a:r>
              <a:rPr lang="en-GB" altLang="en-US" sz="1700" dirty="0">
                <a:solidFill>
                  <a:srgbClr val="FF6600"/>
                </a:solidFill>
                <a:effectLst/>
              </a:rPr>
              <a:t> </a:t>
            </a:r>
            <a:r>
              <a:rPr lang="en-GB" altLang="en-US" sz="1700" dirty="0">
                <a:effectLst/>
              </a:rPr>
              <a:t>and from</a:t>
            </a:r>
            <a:r>
              <a:rPr lang="en-GB" altLang="en-US" sz="1700" dirty="0">
                <a:solidFill>
                  <a:srgbClr val="FF6600"/>
                </a:solidFill>
                <a:effectLst/>
              </a:rPr>
              <a:t> </a:t>
            </a:r>
            <a:r>
              <a:rPr lang="en-GB" altLang="en-US" sz="1700" dirty="0">
                <a:solidFill>
                  <a:srgbClr val="FF66CC"/>
                </a:solidFill>
                <a:effectLst/>
              </a:rPr>
              <a:t>numerical modelling</a:t>
            </a:r>
          </a:p>
        </p:txBody>
      </p:sp>
      <p:sp>
        <p:nvSpPr>
          <p:cNvPr id="221196" name="Rectangle 12"/>
          <p:cNvSpPr>
            <a:spLocks noChangeArrowheads="1"/>
          </p:cNvSpPr>
          <p:nvPr/>
        </p:nvSpPr>
        <p:spPr bwMode="auto">
          <a:xfrm>
            <a:off x="365125" y="5511800"/>
            <a:ext cx="4489450" cy="11668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269875" indent="-269875">
              <a:lnSpc>
                <a:spcPct val="120000"/>
              </a:lnSpc>
              <a:spcBef>
                <a:spcPct val="100000"/>
              </a:spcBef>
              <a:buClr>
                <a:schemeClr val="folHlink"/>
              </a:buClr>
              <a:buSzPct val="100000"/>
              <a:buFont typeface="Times"/>
              <a:buChar char="•"/>
              <a:defRPr>
                <a:solidFill>
                  <a:schemeClr val="tx1"/>
                </a:solidFill>
                <a:latin typeface="Arial" charset="0"/>
              </a:defRPr>
            </a:lvl1pPr>
            <a:lvl2pPr marL="712788" indent="-263525">
              <a:lnSpc>
                <a:spcPct val="120000"/>
              </a:lnSpc>
              <a:spcBef>
                <a:spcPct val="50000"/>
              </a:spcBef>
              <a:buClr>
                <a:schemeClr val="folHlink"/>
              </a:buClr>
              <a:buSzPct val="100000"/>
              <a:buFont typeface="Times"/>
              <a:buChar char="•"/>
              <a:defRPr sz="1600">
                <a:solidFill>
                  <a:schemeClr val="tx1"/>
                </a:solidFill>
                <a:latin typeface="Arial" charset="0"/>
              </a:defRPr>
            </a:lvl2pPr>
            <a:lvl3pPr marL="1401763" indent="-304800">
              <a:spcBef>
                <a:spcPct val="25000"/>
              </a:spcBef>
              <a:buClr>
                <a:schemeClr val="folHlink"/>
              </a:buClr>
              <a:buFont typeface="Times"/>
              <a:buChar char="•"/>
              <a:defRPr sz="1400">
                <a:solidFill>
                  <a:schemeClr val="tx1"/>
                </a:solidFill>
                <a:latin typeface="Arial" charset="0"/>
              </a:defRPr>
            </a:lvl3pPr>
            <a:lvl4pPr marL="1885950" indent="-304800">
              <a:spcBef>
                <a:spcPct val="25000"/>
              </a:spcBef>
              <a:buClr>
                <a:schemeClr val="folHlink"/>
              </a:buClr>
              <a:buFont typeface="Times"/>
              <a:buChar char="•"/>
              <a:defRPr sz="1400">
                <a:solidFill>
                  <a:schemeClr val="tx1"/>
                </a:solidFill>
                <a:latin typeface="Arial" charset="0"/>
              </a:defRPr>
            </a:lvl4pPr>
            <a:lvl5pPr marL="2370138" indent="-304800">
              <a:spcBef>
                <a:spcPct val="25000"/>
              </a:spcBef>
              <a:buClr>
                <a:schemeClr val="folHlink"/>
              </a:buClr>
              <a:buSzPct val="50000"/>
              <a:buFont typeface="Times"/>
              <a:buChar char="•"/>
              <a:defRPr sz="1400">
                <a:solidFill>
                  <a:schemeClr val="tx1"/>
                </a:solidFill>
                <a:latin typeface="Arial" charset="0"/>
              </a:defRPr>
            </a:lvl5pPr>
            <a:lvl6pPr marL="2827338" indent="-304800" eaLnBrk="0" fontAlgn="base" hangingPunct="0">
              <a:spcBef>
                <a:spcPct val="25000"/>
              </a:spcBef>
              <a:spcAft>
                <a:spcPct val="0"/>
              </a:spcAft>
              <a:buClr>
                <a:schemeClr val="folHlink"/>
              </a:buClr>
              <a:buSzPct val="50000"/>
              <a:buFont typeface="Times"/>
              <a:buChar char="•"/>
              <a:defRPr sz="1400">
                <a:solidFill>
                  <a:schemeClr val="tx1"/>
                </a:solidFill>
                <a:latin typeface="Arial" charset="0"/>
              </a:defRPr>
            </a:lvl6pPr>
            <a:lvl7pPr marL="3284538" indent="-304800" eaLnBrk="0" fontAlgn="base" hangingPunct="0">
              <a:spcBef>
                <a:spcPct val="25000"/>
              </a:spcBef>
              <a:spcAft>
                <a:spcPct val="0"/>
              </a:spcAft>
              <a:buClr>
                <a:schemeClr val="folHlink"/>
              </a:buClr>
              <a:buSzPct val="50000"/>
              <a:buFont typeface="Times"/>
              <a:buChar char="•"/>
              <a:defRPr sz="1400">
                <a:solidFill>
                  <a:schemeClr val="tx1"/>
                </a:solidFill>
                <a:latin typeface="Arial" charset="0"/>
              </a:defRPr>
            </a:lvl7pPr>
            <a:lvl8pPr marL="3741738" indent="-304800" eaLnBrk="0" fontAlgn="base" hangingPunct="0">
              <a:spcBef>
                <a:spcPct val="25000"/>
              </a:spcBef>
              <a:spcAft>
                <a:spcPct val="0"/>
              </a:spcAft>
              <a:buClr>
                <a:schemeClr val="folHlink"/>
              </a:buClr>
              <a:buSzPct val="50000"/>
              <a:buFont typeface="Times"/>
              <a:buChar char="•"/>
              <a:defRPr sz="1400">
                <a:solidFill>
                  <a:schemeClr val="tx1"/>
                </a:solidFill>
                <a:latin typeface="Arial" charset="0"/>
              </a:defRPr>
            </a:lvl8pPr>
            <a:lvl9pPr marL="4198938" indent="-304800" eaLnBrk="0" fontAlgn="base" hangingPunct="0">
              <a:spcBef>
                <a:spcPct val="25000"/>
              </a:spcBef>
              <a:spcAft>
                <a:spcPct val="0"/>
              </a:spcAft>
              <a:buClr>
                <a:schemeClr val="folHlink"/>
              </a:buClr>
              <a:buSzPct val="50000"/>
              <a:buFont typeface="Times"/>
              <a:buChar char="•"/>
              <a:defRPr sz="1400">
                <a:solidFill>
                  <a:schemeClr val="tx1"/>
                </a:solidFill>
                <a:latin typeface="Arial" charset="0"/>
              </a:defRPr>
            </a:lvl9pPr>
          </a:lstStyle>
          <a:p>
            <a:pPr>
              <a:spcBef>
                <a:spcPct val="25000"/>
              </a:spcBef>
              <a:buFont typeface="Times"/>
              <a:buAutoNum type="arabicPeriod"/>
            </a:pPr>
            <a:r>
              <a:rPr lang="en-GB" altLang="en-US" sz="1700">
                <a:effectLst/>
              </a:rPr>
              <a:t>Buckling of </a:t>
            </a:r>
            <a:r>
              <a:rPr lang="en-GB" altLang="en-US" sz="1700">
                <a:solidFill>
                  <a:srgbClr val="FF6600"/>
                </a:solidFill>
                <a:effectLst/>
              </a:rPr>
              <a:t>single layers</a:t>
            </a:r>
          </a:p>
          <a:p>
            <a:pPr>
              <a:spcBef>
                <a:spcPct val="25000"/>
              </a:spcBef>
              <a:buFont typeface="Times"/>
              <a:buAutoNum type="arabicPeriod"/>
            </a:pPr>
            <a:r>
              <a:rPr lang="en-GB" altLang="en-US" sz="1700">
                <a:effectLst/>
              </a:rPr>
              <a:t>Buckling of </a:t>
            </a:r>
            <a:r>
              <a:rPr lang="en-GB" altLang="en-US" sz="1700">
                <a:solidFill>
                  <a:srgbClr val="FF6600"/>
                </a:solidFill>
                <a:effectLst/>
              </a:rPr>
              <a:t>multilayers</a:t>
            </a:r>
          </a:p>
          <a:p>
            <a:pPr>
              <a:spcBef>
                <a:spcPct val="25000"/>
              </a:spcBef>
              <a:buFont typeface="Times"/>
              <a:buAutoNum type="arabicPeriod"/>
            </a:pPr>
            <a:r>
              <a:rPr lang="en-GB" altLang="en-US" sz="1700">
                <a:effectLst/>
              </a:rPr>
              <a:t>Buckling of </a:t>
            </a:r>
            <a:r>
              <a:rPr lang="en-GB" altLang="en-US" sz="1700">
                <a:solidFill>
                  <a:srgbClr val="FF6600"/>
                </a:solidFill>
                <a:effectLst/>
              </a:rPr>
              <a:t>mechanically anisotropic units</a:t>
            </a:r>
          </a:p>
        </p:txBody>
      </p:sp>
    </p:spTree>
  </p:cSld>
  <p:clrMapOvr>
    <a:masterClrMapping/>
  </p:clrMapOvr>
  <p:transition spd="slow"/>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2450" name="Rectangle 2"/>
          <p:cNvSpPr>
            <a:spLocks noGrp="1" noChangeArrowheads="1"/>
          </p:cNvSpPr>
          <p:nvPr>
            <p:ph type="title"/>
          </p:nvPr>
        </p:nvSpPr>
        <p:spPr>
          <a:noFill/>
        </p:spPr>
        <p:txBody>
          <a:bodyPr/>
          <a:lstStyle/>
          <a:p>
            <a:r>
              <a:rPr lang="en-GB" altLang="en-US">
                <a:effectLst/>
              </a:rPr>
              <a:t>Single layer buckling</a:t>
            </a:r>
          </a:p>
        </p:txBody>
      </p:sp>
      <p:sp>
        <p:nvSpPr>
          <p:cNvPr id="232451" name="Rectangle 3"/>
          <p:cNvSpPr>
            <a:spLocks noGrp="1" noChangeArrowheads="1"/>
          </p:cNvSpPr>
          <p:nvPr>
            <p:ph type="body" sz="half" idx="1"/>
          </p:nvPr>
        </p:nvSpPr>
        <p:spPr>
          <a:xfrm>
            <a:off x="131763" y="811213"/>
            <a:ext cx="8897937" cy="3086100"/>
          </a:xfrm>
          <a:noFill/>
        </p:spPr>
        <p:txBody>
          <a:bodyPr/>
          <a:lstStyle/>
          <a:p>
            <a:pPr marL="182563" indent="-182563">
              <a:spcBef>
                <a:spcPct val="75000"/>
              </a:spcBef>
            </a:pPr>
            <a:r>
              <a:rPr lang="en-GB" altLang="en-US" sz="1700" dirty="0">
                <a:effectLst/>
              </a:rPr>
              <a:t>Classical buckling theory considers a </a:t>
            </a:r>
            <a:r>
              <a:rPr lang="en-GB" altLang="en-US" sz="1700" dirty="0">
                <a:solidFill>
                  <a:srgbClr val="FF66CC"/>
                </a:solidFill>
                <a:effectLst/>
              </a:rPr>
              <a:t>single layer that has small sinusoidal perturbations of different wavelengths</a:t>
            </a:r>
            <a:r>
              <a:rPr lang="en-GB" altLang="en-US" sz="1700" dirty="0">
                <a:effectLst/>
              </a:rPr>
              <a:t>, and attempts to find the perturbation that amplifies faster than all the others</a:t>
            </a:r>
          </a:p>
          <a:p>
            <a:pPr marL="182563" indent="-182563">
              <a:spcBef>
                <a:spcPct val="75000"/>
              </a:spcBef>
            </a:pPr>
            <a:r>
              <a:rPr lang="en-GB" altLang="en-US" sz="1700" dirty="0">
                <a:effectLst/>
              </a:rPr>
              <a:t>With some simplifying assumptions, the </a:t>
            </a:r>
            <a:r>
              <a:rPr lang="en-GB" altLang="en-US" sz="1700" dirty="0">
                <a:solidFill>
                  <a:srgbClr val="FF66CC"/>
                </a:solidFill>
                <a:effectLst/>
              </a:rPr>
              <a:t>wavelength</a:t>
            </a:r>
            <a:r>
              <a:rPr lang="en-GB" altLang="en-US" sz="1700" dirty="0">
                <a:effectLst/>
              </a:rPr>
              <a:t> </a:t>
            </a:r>
            <a:r>
              <a:rPr lang="el-GR" altLang="en-US" sz="1700" i="1" spc="300" dirty="0">
                <a:solidFill>
                  <a:srgbClr val="FFFF00"/>
                </a:solidFill>
                <a:effectLst/>
                <a:latin typeface="Cambria Math" panose="02040503050406030204" pitchFamily="18" charset="0"/>
                <a:ea typeface="Cambria Math" panose="02040503050406030204" pitchFamily="18" charset="0"/>
              </a:rPr>
              <a:t>λ</a:t>
            </a:r>
            <a:r>
              <a:rPr lang="en-GB" altLang="en-US" sz="1700" dirty="0">
                <a:effectLst/>
              </a:rPr>
              <a:t> of the perturbation that amplifies fastest (and hence the dominant wavelength of the fold) is found to be given by</a:t>
            </a:r>
          </a:p>
          <a:p>
            <a:pPr marL="182563" indent="-182563" algn="ctr">
              <a:spcBef>
                <a:spcPct val="75000"/>
              </a:spcBef>
              <a:buFont typeface="Times"/>
              <a:buNone/>
            </a:pPr>
            <a:r>
              <a:rPr lang="el-GR" altLang="en-US" sz="1700" i="1" dirty="0">
                <a:solidFill>
                  <a:srgbClr val="FFFF00"/>
                </a:solidFill>
                <a:effectLst/>
                <a:latin typeface="Cambria Math" panose="02040503050406030204" pitchFamily="18" charset="0"/>
                <a:ea typeface="Cambria Math" panose="02040503050406030204" pitchFamily="18" charset="0"/>
              </a:rPr>
              <a:t>λ</a:t>
            </a:r>
            <a:r>
              <a:rPr lang="en-GB" altLang="en-US" sz="1700" dirty="0">
                <a:solidFill>
                  <a:srgbClr val="FFFF00"/>
                </a:solidFill>
                <a:effectLst/>
              </a:rPr>
              <a:t>  =  2</a:t>
            </a:r>
            <a:r>
              <a:rPr lang="el-GR" altLang="en-US" sz="1700" i="1" dirty="0">
                <a:solidFill>
                  <a:srgbClr val="FFFF00"/>
                </a:solidFill>
                <a:effectLst/>
                <a:latin typeface="Cambria Math" panose="02040503050406030204" pitchFamily="18" charset="0"/>
                <a:ea typeface="Cambria Math" panose="02040503050406030204" pitchFamily="18" charset="0"/>
              </a:rPr>
              <a:t>π</a:t>
            </a:r>
            <a:r>
              <a:rPr lang="en-GB" altLang="en-US" sz="1700" i="1" dirty="0">
                <a:solidFill>
                  <a:srgbClr val="FFFF00"/>
                </a:solidFill>
                <a:effectLst/>
                <a:latin typeface="Symbol" pitchFamily="18" charset="2"/>
              </a:rPr>
              <a:t> </a:t>
            </a:r>
            <a:r>
              <a:rPr lang="en-GB" altLang="en-US" sz="1700" i="1" dirty="0">
                <a:solidFill>
                  <a:srgbClr val="FFFF00"/>
                </a:solidFill>
                <a:effectLst/>
              </a:rPr>
              <a:t>d </a:t>
            </a:r>
            <a:r>
              <a:rPr lang="en-GB" altLang="en-US" sz="1700" dirty="0">
                <a:solidFill>
                  <a:srgbClr val="FFFF00"/>
                </a:solidFill>
                <a:effectLst/>
              </a:rPr>
              <a:t>[ </a:t>
            </a:r>
            <a:r>
              <a:rPr lang="el-GR" altLang="en-US" sz="1700" i="1" dirty="0">
                <a:solidFill>
                  <a:srgbClr val="FFFF00"/>
                </a:solidFill>
                <a:effectLst/>
                <a:latin typeface="Cambria Math" panose="02040503050406030204" pitchFamily="18" charset="0"/>
                <a:ea typeface="Cambria Math" panose="02040503050406030204" pitchFamily="18" charset="0"/>
                <a:cs typeface="Arial" charset="0"/>
              </a:rPr>
              <a:t>η</a:t>
            </a:r>
            <a:r>
              <a:rPr lang="en-GB" altLang="en-US" sz="800" i="1" dirty="0">
                <a:solidFill>
                  <a:srgbClr val="FFFF00"/>
                </a:solidFill>
                <a:effectLst/>
                <a:latin typeface="Symbol" pitchFamily="18" charset="2"/>
                <a:cs typeface="Arial" charset="0"/>
              </a:rPr>
              <a:t> </a:t>
            </a:r>
            <a:r>
              <a:rPr lang="en-GB" altLang="en-US" sz="1700" baseline="-25000" dirty="0">
                <a:solidFill>
                  <a:srgbClr val="FFFF00"/>
                </a:solidFill>
                <a:effectLst/>
              </a:rPr>
              <a:t>L</a:t>
            </a:r>
            <a:r>
              <a:rPr lang="en-GB" altLang="en-US" sz="1700" dirty="0">
                <a:solidFill>
                  <a:srgbClr val="FFFF00"/>
                </a:solidFill>
                <a:effectLst/>
              </a:rPr>
              <a:t> / (</a:t>
            </a:r>
            <a:r>
              <a:rPr lang="en-GB" altLang="en-US" sz="800" dirty="0">
                <a:solidFill>
                  <a:srgbClr val="FFFF00"/>
                </a:solidFill>
                <a:effectLst/>
              </a:rPr>
              <a:t> </a:t>
            </a:r>
            <a:r>
              <a:rPr lang="en-GB" altLang="en-US" sz="1700" dirty="0">
                <a:solidFill>
                  <a:srgbClr val="FFFF00"/>
                </a:solidFill>
                <a:effectLst/>
              </a:rPr>
              <a:t>6</a:t>
            </a:r>
            <a:r>
              <a:rPr lang="el-GR" altLang="en-US" sz="1700" i="1" dirty="0">
                <a:solidFill>
                  <a:srgbClr val="FFFF00"/>
                </a:solidFill>
                <a:effectLst/>
                <a:latin typeface="Cambria Math" panose="02040503050406030204" pitchFamily="18" charset="0"/>
                <a:ea typeface="Cambria Math" panose="02040503050406030204" pitchFamily="18" charset="0"/>
              </a:rPr>
              <a:t>η</a:t>
            </a:r>
            <a:r>
              <a:rPr lang="en-GB" altLang="en-US" sz="800" i="1" dirty="0">
                <a:solidFill>
                  <a:srgbClr val="FFFF00"/>
                </a:solidFill>
                <a:effectLst/>
                <a:latin typeface="Symbol" pitchFamily="18" charset="2"/>
              </a:rPr>
              <a:t> </a:t>
            </a:r>
            <a:r>
              <a:rPr lang="en-GB" altLang="en-US" sz="1700" baseline="-25000" dirty="0">
                <a:solidFill>
                  <a:srgbClr val="FFFF00"/>
                </a:solidFill>
                <a:effectLst/>
              </a:rPr>
              <a:t>M</a:t>
            </a:r>
            <a:r>
              <a:rPr lang="en-GB" altLang="en-US" sz="900" baseline="-25000" dirty="0">
                <a:solidFill>
                  <a:srgbClr val="FFFF00"/>
                </a:solidFill>
                <a:effectLst/>
              </a:rPr>
              <a:t> </a:t>
            </a:r>
            <a:r>
              <a:rPr lang="en-GB" altLang="en-US" sz="1700" dirty="0">
                <a:solidFill>
                  <a:srgbClr val="FFFF00"/>
                </a:solidFill>
                <a:effectLst/>
              </a:rPr>
              <a:t>) ]</a:t>
            </a:r>
            <a:r>
              <a:rPr lang="en-GB" altLang="en-US" sz="1700" baseline="30000" dirty="0">
                <a:solidFill>
                  <a:srgbClr val="FFFF00"/>
                </a:solidFill>
                <a:effectLst/>
              </a:rPr>
              <a:t>1/3</a:t>
            </a:r>
          </a:p>
          <a:p>
            <a:pPr marL="182563" indent="-182563">
              <a:spcBef>
                <a:spcPct val="75000"/>
              </a:spcBef>
              <a:buFont typeface="Times"/>
              <a:buNone/>
            </a:pPr>
            <a:r>
              <a:rPr lang="en-GB" altLang="en-US" sz="1700" dirty="0">
                <a:effectLst/>
              </a:rPr>
              <a:t>	where </a:t>
            </a:r>
            <a:r>
              <a:rPr lang="en-GB" altLang="en-US" sz="1700" i="1" dirty="0">
                <a:solidFill>
                  <a:srgbClr val="FFFF00"/>
                </a:solidFill>
                <a:effectLst/>
              </a:rPr>
              <a:t>d</a:t>
            </a:r>
            <a:r>
              <a:rPr lang="en-GB" altLang="en-US" sz="800" dirty="0">
                <a:solidFill>
                  <a:srgbClr val="FF6600"/>
                </a:solidFill>
                <a:effectLst/>
              </a:rPr>
              <a:t> </a:t>
            </a:r>
            <a:r>
              <a:rPr lang="en-GB" altLang="en-US" sz="1700" dirty="0">
                <a:solidFill>
                  <a:srgbClr val="FF6600"/>
                </a:solidFill>
                <a:effectLst/>
              </a:rPr>
              <a:t> </a:t>
            </a:r>
            <a:r>
              <a:rPr lang="en-GB" altLang="en-US" sz="1700" dirty="0">
                <a:effectLst/>
              </a:rPr>
              <a:t>is the layer thickness, and </a:t>
            </a:r>
            <a:r>
              <a:rPr lang="el-GR" altLang="en-US" sz="1700" i="1" dirty="0">
                <a:solidFill>
                  <a:srgbClr val="FFFF00"/>
                </a:solidFill>
                <a:effectLst/>
                <a:latin typeface="Cambria Math" panose="02040503050406030204" pitchFamily="18" charset="0"/>
                <a:ea typeface="Cambria Math" panose="02040503050406030204" pitchFamily="18" charset="0"/>
              </a:rPr>
              <a:t>η</a:t>
            </a:r>
            <a:r>
              <a:rPr lang="en-GB" altLang="en-US" sz="800" i="1" dirty="0">
                <a:solidFill>
                  <a:srgbClr val="FFFF00"/>
                </a:solidFill>
                <a:effectLst/>
                <a:latin typeface="Symbol" pitchFamily="18" charset="2"/>
              </a:rPr>
              <a:t> </a:t>
            </a:r>
            <a:r>
              <a:rPr lang="en-GB" altLang="en-US" sz="1700" baseline="-25000" dirty="0">
                <a:solidFill>
                  <a:srgbClr val="FFFF00"/>
                </a:solidFill>
                <a:effectLst/>
              </a:rPr>
              <a:t>L</a:t>
            </a:r>
            <a:r>
              <a:rPr lang="en-GB" altLang="en-US" sz="1700" dirty="0">
                <a:effectLst/>
              </a:rPr>
              <a:t> and </a:t>
            </a:r>
            <a:r>
              <a:rPr lang="el-GR" altLang="en-US" sz="1700" i="1" dirty="0">
                <a:solidFill>
                  <a:srgbClr val="FFFF00"/>
                </a:solidFill>
                <a:effectLst/>
                <a:latin typeface="Cambria Math" panose="02040503050406030204" pitchFamily="18" charset="0"/>
                <a:ea typeface="Cambria Math" panose="02040503050406030204" pitchFamily="18" charset="0"/>
              </a:rPr>
              <a:t>η</a:t>
            </a:r>
            <a:r>
              <a:rPr lang="en-GB" altLang="en-US" sz="800" i="1" dirty="0">
                <a:solidFill>
                  <a:srgbClr val="FFFF00"/>
                </a:solidFill>
                <a:effectLst/>
                <a:latin typeface="Symbol" pitchFamily="18" charset="2"/>
              </a:rPr>
              <a:t> </a:t>
            </a:r>
            <a:r>
              <a:rPr lang="en-GB" altLang="en-US" sz="1700" baseline="-25000" dirty="0">
                <a:solidFill>
                  <a:srgbClr val="FFFF00"/>
                </a:solidFill>
                <a:effectLst/>
              </a:rPr>
              <a:t>M</a:t>
            </a:r>
            <a:r>
              <a:rPr lang="en-GB" altLang="en-US" sz="1700" dirty="0">
                <a:effectLst/>
              </a:rPr>
              <a:t> are the </a:t>
            </a:r>
            <a:r>
              <a:rPr lang="en-GB" altLang="en-US" sz="1700" dirty="0">
                <a:solidFill>
                  <a:srgbClr val="FF6600"/>
                </a:solidFill>
                <a:effectLst/>
              </a:rPr>
              <a:t>viscosities</a:t>
            </a:r>
            <a:r>
              <a:rPr lang="en-GB" altLang="en-US" sz="1700" dirty="0">
                <a:effectLst/>
              </a:rPr>
              <a:t> of the layer and matrix</a:t>
            </a:r>
          </a:p>
        </p:txBody>
      </p:sp>
      <p:sp>
        <p:nvSpPr>
          <p:cNvPr id="232455" name="Text Box 7"/>
          <p:cNvSpPr txBox="1">
            <a:spLocks noChangeArrowheads="1"/>
          </p:cNvSpPr>
          <p:nvPr/>
        </p:nvSpPr>
        <p:spPr bwMode="auto">
          <a:xfrm>
            <a:off x="131763" y="3857625"/>
            <a:ext cx="3282950" cy="2528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82563" indent="-182563">
              <a:defRPr sz="1600">
                <a:solidFill>
                  <a:schemeClr val="tx1"/>
                </a:solidFill>
                <a:latin typeface="Helvetica" charset="0"/>
              </a:defRPr>
            </a:lvl1pPr>
            <a:lvl2pPr>
              <a:defRPr sz="1600">
                <a:solidFill>
                  <a:schemeClr val="tx1"/>
                </a:solidFill>
                <a:latin typeface="Helvetica" charset="0"/>
              </a:defRPr>
            </a:lvl2pPr>
            <a:lvl3pPr>
              <a:defRPr sz="1600">
                <a:solidFill>
                  <a:schemeClr val="tx1"/>
                </a:solidFill>
                <a:latin typeface="Helvetica" charset="0"/>
              </a:defRPr>
            </a:lvl3pPr>
            <a:lvl4pPr>
              <a:defRPr sz="1600">
                <a:solidFill>
                  <a:schemeClr val="tx1"/>
                </a:solidFill>
                <a:latin typeface="Helvetica" charset="0"/>
              </a:defRPr>
            </a:lvl4pPr>
            <a:lvl5pPr>
              <a:defRPr sz="1600">
                <a:solidFill>
                  <a:schemeClr val="tx1"/>
                </a:solidFill>
                <a:latin typeface="Helvetica" charset="0"/>
              </a:defRPr>
            </a:lvl5pPr>
            <a:lvl6pPr eaLnBrk="0" fontAlgn="base" hangingPunct="0">
              <a:spcBef>
                <a:spcPct val="20000"/>
              </a:spcBef>
              <a:spcAft>
                <a:spcPct val="0"/>
              </a:spcAft>
              <a:buClr>
                <a:schemeClr val="accent2"/>
              </a:buClr>
              <a:defRPr sz="1600">
                <a:solidFill>
                  <a:schemeClr val="tx1"/>
                </a:solidFill>
                <a:latin typeface="Helvetica" charset="0"/>
              </a:defRPr>
            </a:lvl6pPr>
            <a:lvl7pPr eaLnBrk="0" fontAlgn="base" hangingPunct="0">
              <a:spcBef>
                <a:spcPct val="20000"/>
              </a:spcBef>
              <a:spcAft>
                <a:spcPct val="0"/>
              </a:spcAft>
              <a:buClr>
                <a:schemeClr val="accent2"/>
              </a:buClr>
              <a:defRPr sz="1600">
                <a:solidFill>
                  <a:schemeClr val="tx1"/>
                </a:solidFill>
                <a:latin typeface="Helvetica" charset="0"/>
              </a:defRPr>
            </a:lvl7pPr>
            <a:lvl8pPr eaLnBrk="0" fontAlgn="base" hangingPunct="0">
              <a:spcBef>
                <a:spcPct val="20000"/>
              </a:spcBef>
              <a:spcAft>
                <a:spcPct val="0"/>
              </a:spcAft>
              <a:buClr>
                <a:schemeClr val="accent2"/>
              </a:buClr>
              <a:defRPr sz="1600">
                <a:solidFill>
                  <a:schemeClr val="tx1"/>
                </a:solidFill>
                <a:latin typeface="Helvetica" charset="0"/>
              </a:defRPr>
            </a:lvl8pPr>
            <a:lvl9pPr eaLnBrk="0" fontAlgn="base" hangingPunct="0">
              <a:spcBef>
                <a:spcPct val="20000"/>
              </a:spcBef>
              <a:spcAft>
                <a:spcPct val="0"/>
              </a:spcAft>
              <a:buClr>
                <a:schemeClr val="accent2"/>
              </a:buClr>
              <a:defRPr sz="1600">
                <a:solidFill>
                  <a:schemeClr val="tx1"/>
                </a:solidFill>
                <a:latin typeface="Helvetica" charset="0"/>
              </a:defRPr>
            </a:lvl9pPr>
          </a:lstStyle>
          <a:p>
            <a:pPr>
              <a:lnSpc>
                <a:spcPct val="120000"/>
              </a:lnSpc>
              <a:spcBef>
                <a:spcPct val="100000"/>
              </a:spcBef>
              <a:buClr>
                <a:schemeClr val="tx1"/>
              </a:buClr>
              <a:buFontTx/>
              <a:buChar char="•"/>
            </a:pPr>
            <a:r>
              <a:rPr lang="en-GB" altLang="en-US" sz="1700">
                <a:effectLst>
                  <a:outerShdw blurRad="38100" dist="38100" dir="2700000" algn="tl">
                    <a:srgbClr val="000000"/>
                  </a:outerShdw>
                </a:effectLst>
                <a:latin typeface="Arial" charset="0"/>
              </a:rPr>
              <a:t>It is found that the effect of the folding </a:t>
            </a:r>
            <a:r>
              <a:rPr lang="en-GB" altLang="en-US" sz="1700">
                <a:solidFill>
                  <a:srgbClr val="FF66CC"/>
                </a:solidFill>
                <a:effectLst>
                  <a:outerShdw blurRad="38100" dist="38100" dir="2700000" algn="tl">
                    <a:srgbClr val="000000"/>
                  </a:outerShdw>
                </a:effectLst>
                <a:latin typeface="Arial" charset="0"/>
              </a:rPr>
              <a:t>disappears</a:t>
            </a:r>
            <a:r>
              <a:rPr lang="en-GB" altLang="en-US" sz="1700">
                <a:effectLst>
                  <a:outerShdw blurRad="38100" dist="38100" dir="2700000" algn="tl">
                    <a:srgbClr val="000000"/>
                  </a:outerShdw>
                </a:effectLst>
                <a:latin typeface="Arial" charset="0"/>
              </a:rPr>
              <a:t> rapidly away from the folded layer (it is negligible at distances of about one wavelength away)</a:t>
            </a:r>
          </a:p>
          <a:p>
            <a:pPr>
              <a:lnSpc>
                <a:spcPct val="120000"/>
              </a:lnSpc>
              <a:spcBef>
                <a:spcPct val="100000"/>
              </a:spcBef>
              <a:buClr>
                <a:schemeClr val="tx1"/>
              </a:buClr>
              <a:buFontTx/>
              <a:buChar char="•"/>
            </a:pPr>
            <a:r>
              <a:rPr lang="en-GB" altLang="en-US" sz="1700">
                <a:effectLst>
                  <a:outerShdw blurRad="38100" dist="38100" dir="2700000" algn="tl">
                    <a:srgbClr val="000000"/>
                  </a:outerShdw>
                </a:effectLst>
                <a:latin typeface="Arial" charset="0"/>
              </a:rPr>
              <a:t>The folded layer approximates a </a:t>
            </a:r>
            <a:r>
              <a:rPr lang="en-GB" altLang="en-US" sz="1700">
                <a:solidFill>
                  <a:srgbClr val="FF66CC"/>
                </a:solidFill>
                <a:effectLst>
                  <a:outerShdw blurRad="38100" dist="38100" dir="2700000" algn="tl">
                    <a:srgbClr val="000000"/>
                  </a:outerShdw>
                </a:effectLst>
                <a:latin typeface="Arial" charset="0"/>
              </a:rPr>
              <a:t>Class 1B fold </a:t>
            </a:r>
            <a:r>
              <a:rPr lang="en-GB" altLang="en-US" sz="1700">
                <a:effectLst>
                  <a:outerShdw blurRad="38100" dist="38100" dir="2700000" algn="tl">
                    <a:srgbClr val="000000"/>
                  </a:outerShdw>
                </a:effectLst>
                <a:latin typeface="Arial" charset="0"/>
              </a:rPr>
              <a:t>(parallel fold)</a:t>
            </a:r>
          </a:p>
        </p:txBody>
      </p:sp>
      <p:pic>
        <p:nvPicPr>
          <p:cNvPr id="232456" name="Picture 8" descr="01-LShiabaMull"/>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06825" y="3937000"/>
            <a:ext cx="4991100" cy="2673350"/>
          </a:xfrm>
          <a:prstGeom prst="rect">
            <a:avLst/>
          </a:prstGeo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p:transition spd="slow"/>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7570" name="Rectangle 2"/>
          <p:cNvSpPr>
            <a:spLocks noGrp="1" noChangeArrowheads="1"/>
          </p:cNvSpPr>
          <p:nvPr>
            <p:ph type="title"/>
          </p:nvPr>
        </p:nvSpPr>
        <p:spPr>
          <a:noFill/>
        </p:spPr>
        <p:txBody>
          <a:bodyPr/>
          <a:lstStyle/>
          <a:p>
            <a:r>
              <a:rPr lang="en-GB" altLang="en-US" dirty="0">
                <a:effectLst/>
              </a:rPr>
              <a:t>Single layer buckling  (wavelengt</a:t>
            </a:r>
            <a:r>
              <a:rPr lang="en-GB" altLang="en-US" spc="500" dirty="0">
                <a:effectLst/>
              </a:rPr>
              <a:t>h/</a:t>
            </a:r>
            <a:r>
              <a:rPr lang="en-GB" altLang="en-US" dirty="0">
                <a:effectLst/>
              </a:rPr>
              <a:t>thickness)</a:t>
            </a:r>
          </a:p>
        </p:txBody>
      </p:sp>
      <p:sp>
        <p:nvSpPr>
          <p:cNvPr id="237571" name="Rectangle 3"/>
          <p:cNvSpPr>
            <a:spLocks noGrp="1" noChangeArrowheads="1"/>
          </p:cNvSpPr>
          <p:nvPr>
            <p:ph type="body" sz="half" idx="1"/>
          </p:nvPr>
        </p:nvSpPr>
        <p:spPr>
          <a:xfrm>
            <a:off x="1027113" y="1198563"/>
            <a:ext cx="3179762" cy="598487"/>
          </a:xfrm>
          <a:noFill/>
        </p:spPr>
        <p:txBody>
          <a:bodyPr/>
          <a:lstStyle/>
          <a:p>
            <a:pPr algn="ctr">
              <a:spcBef>
                <a:spcPct val="75000"/>
              </a:spcBef>
              <a:buFont typeface="Times"/>
              <a:buNone/>
            </a:pPr>
            <a:r>
              <a:rPr lang="el-GR" altLang="en-US" i="1" dirty="0">
                <a:solidFill>
                  <a:srgbClr val="FFFF00"/>
                </a:solidFill>
                <a:effectLst/>
                <a:latin typeface="Cambria Math" panose="02040503050406030204" pitchFamily="18" charset="0"/>
                <a:ea typeface="Cambria Math" panose="02040503050406030204" pitchFamily="18" charset="0"/>
              </a:rPr>
              <a:t>λ</a:t>
            </a:r>
            <a:r>
              <a:rPr lang="en-GB" altLang="en-US" dirty="0">
                <a:solidFill>
                  <a:srgbClr val="FFFF00"/>
                </a:solidFill>
                <a:effectLst/>
              </a:rPr>
              <a:t>  =  2</a:t>
            </a:r>
            <a:r>
              <a:rPr lang="el-GR" altLang="en-US" i="1" dirty="0">
                <a:solidFill>
                  <a:srgbClr val="FFFF00"/>
                </a:solidFill>
                <a:effectLst/>
                <a:latin typeface="Cambria Math" panose="02040503050406030204" pitchFamily="18" charset="0"/>
                <a:ea typeface="Cambria Math" panose="02040503050406030204" pitchFamily="18" charset="0"/>
              </a:rPr>
              <a:t>π</a:t>
            </a:r>
            <a:r>
              <a:rPr lang="en-GB" altLang="en-US" i="1" dirty="0">
                <a:solidFill>
                  <a:srgbClr val="FFFF00"/>
                </a:solidFill>
                <a:effectLst/>
                <a:latin typeface="Symbol" pitchFamily="18" charset="2"/>
              </a:rPr>
              <a:t> </a:t>
            </a:r>
            <a:r>
              <a:rPr lang="en-GB" altLang="en-US" i="1" dirty="0">
                <a:solidFill>
                  <a:srgbClr val="FFFF00"/>
                </a:solidFill>
                <a:effectLst/>
              </a:rPr>
              <a:t>d </a:t>
            </a:r>
            <a:r>
              <a:rPr lang="en-GB" altLang="en-US" dirty="0">
                <a:solidFill>
                  <a:srgbClr val="FFFF00"/>
                </a:solidFill>
                <a:effectLst/>
              </a:rPr>
              <a:t>[ </a:t>
            </a:r>
            <a:r>
              <a:rPr lang="el-GR" altLang="en-US" i="1" dirty="0">
                <a:solidFill>
                  <a:srgbClr val="FFFF00"/>
                </a:solidFill>
                <a:effectLst/>
                <a:latin typeface="Cambria Math" panose="02040503050406030204" pitchFamily="18" charset="0"/>
                <a:ea typeface="Cambria Math" panose="02040503050406030204" pitchFamily="18" charset="0"/>
              </a:rPr>
              <a:t>η</a:t>
            </a:r>
            <a:r>
              <a:rPr lang="en-GB" altLang="en-US" sz="800" i="1" dirty="0">
                <a:solidFill>
                  <a:srgbClr val="FFFF00"/>
                </a:solidFill>
                <a:effectLst/>
                <a:latin typeface="Symbol" pitchFamily="18" charset="2"/>
              </a:rPr>
              <a:t> </a:t>
            </a:r>
            <a:r>
              <a:rPr lang="en-GB" altLang="en-US" baseline="-25000" dirty="0">
                <a:solidFill>
                  <a:srgbClr val="FFFF00"/>
                </a:solidFill>
                <a:effectLst/>
              </a:rPr>
              <a:t>L</a:t>
            </a:r>
            <a:r>
              <a:rPr lang="en-GB" altLang="en-US" dirty="0">
                <a:solidFill>
                  <a:srgbClr val="FFFF00"/>
                </a:solidFill>
                <a:effectLst/>
              </a:rPr>
              <a:t> / (</a:t>
            </a:r>
            <a:r>
              <a:rPr lang="en-GB" altLang="en-US" sz="800" dirty="0">
                <a:solidFill>
                  <a:srgbClr val="FFFF00"/>
                </a:solidFill>
                <a:effectLst/>
              </a:rPr>
              <a:t> </a:t>
            </a:r>
            <a:r>
              <a:rPr lang="en-GB" altLang="en-US" dirty="0">
                <a:solidFill>
                  <a:srgbClr val="FFFF00"/>
                </a:solidFill>
                <a:effectLst/>
              </a:rPr>
              <a:t>6</a:t>
            </a:r>
            <a:r>
              <a:rPr lang="el-GR" altLang="en-US" i="1" dirty="0">
                <a:solidFill>
                  <a:srgbClr val="FFFF00"/>
                </a:solidFill>
                <a:effectLst/>
                <a:latin typeface="Cambria Math" panose="02040503050406030204" pitchFamily="18" charset="0"/>
                <a:ea typeface="Cambria Math" panose="02040503050406030204" pitchFamily="18" charset="0"/>
              </a:rPr>
              <a:t>η</a:t>
            </a:r>
            <a:r>
              <a:rPr lang="en-GB" altLang="en-US" sz="800" i="1" dirty="0">
                <a:solidFill>
                  <a:srgbClr val="FFFF00"/>
                </a:solidFill>
                <a:effectLst/>
                <a:latin typeface="Symbol" pitchFamily="18" charset="2"/>
              </a:rPr>
              <a:t> </a:t>
            </a:r>
            <a:r>
              <a:rPr lang="en-GB" altLang="en-US" baseline="-25000" dirty="0">
                <a:solidFill>
                  <a:srgbClr val="FFFF00"/>
                </a:solidFill>
                <a:effectLst/>
              </a:rPr>
              <a:t>M</a:t>
            </a:r>
            <a:r>
              <a:rPr lang="en-GB" altLang="en-US" sz="800" baseline="-25000" dirty="0">
                <a:solidFill>
                  <a:srgbClr val="FFFF00"/>
                </a:solidFill>
                <a:effectLst/>
              </a:rPr>
              <a:t> </a:t>
            </a:r>
            <a:r>
              <a:rPr lang="en-GB" altLang="en-US" dirty="0">
                <a:solidFill>
                  <a:srgbClr val="FFFF00"/>
                </a:solidFill>
                <a:effectLst/>
              </a:rPr>
              <a:t>) ]</a:t>
            </a:r>
            <a:r>
              <a:rPr lang="en-GB" altLang="en-US" baseline="30000" dirty="0">
                <a:solidFill>
                  <a:srgbClr val="FFFF00"/>
                </a:solidFill>
                <a:effectLst/>
              </a:rPr>
              <a:t>1/3</a:t>
            </a:r>
          </a:p>
        </p:txBody>
      </p:sp>
      <p:sp>
        <p:nvSpPr>
          <p:cNvPr id="237578" name="Text Box 10"/>
          <p:cNvSpPr txBox="1">
            <a:spLocks noChangeArrowheads="1"/>
          </p:cNvSpPr>
          <p:nvPr/>
        </p:nvSpPr>
        <p:spPr bwMode="auto">
          <a:xfrm>
            <a:off x="107950" y="1971675"/>
            <a:ext cx="5372100" cy="752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82563" indent="-182563">
              <a:defRPr sz="1600">
                <a:solidFill>
                  <a:schemeClr val="tx1"/>
                </a:solidFill>
                <a:latin typeface="Helvetica" charset="0"/>
              </a:defRPr>
            </a:lvl1pPr>
            <a:lvl2pPr>
              <a:defRPr sz="1600">
                <a:solidFill>
                  <a:schemeClr val="tx1"/>
                </a:solidFill>
                <a:latin typeface="Helvetica" charset="0"/>
              </a:defRPr>
            </a:lvl2pPr>
            <a:lvl3pPr>
              <a:defRPr sz="1600">
                <a:solidFill>
                  <a:schemeClr val="tx1"/>
                </a:solidFill>
                <a:latin typeface="Helvetica" charset="0"/>
              </a:defRPr>
            </a:lvl3pPr>
            <a:lvl4pPr>
              <a:defRPr sz="1600">
                <a:solidFill>
                  <a:schemeClr val="tx1"/>
                </a:solidFill>
                <a:latin typeface="Helvetica" charset="0"/>
              </a:defRPr>
            </a:lvl4pPr>
            <a:lvl5pPr>
              <a:defRPr sz="1600">
                <a:solidFill>
                  <a:schemeClr val="tx1"/>
                </a:solidFill>
                <a:latin typeface="Helvetica" charset="0"/>
              </a:defRPr>
            </a:lvl5pPr>
            <a:lvl6pPr eaLnBrk="0" fontAlgn="base" hangingPunct="0">
              <a:spcBef>
                <a:spcPct val="20000"/>
              </a:spcBef>
              <a:spcAft>
                <a:spcPct val="0"/>
              </a:spcAft>
              <a:buClr>
                <a:schemeClr val="accent2"/>
              </a:buClr>
              <a:defRPr sz="1600">
                <a:solidFill>
                  <a:schemeClr val="tx1"/>
                </a:solidFill>
                <a:latin typeface="Helvetica" charset="0"/>
              </a:defRPr>
            </a:lvl6pPr>
            <a:lvl7pPr eaLnBrk="0" fontAlgn="base" hangingPunct="0">
              <a:spcBef>
                <a:spcPct val="20000"/>
              </a:spcBef>
              <a:spcAft>
                <a:spcPct val="0"/>
              </a:spcAft>
              <a:buClr>
                <a:schemeClr val="accent2"/>
              </a:buClr>
              <a:defRPr sz="1600">
                <a:solidFill>
                  <a:schemeClr val="tx1"/>
                </a:solidFill>
                <a:latin typeface="Helvetica" charset="0"/>
              </a:defRPr>
            </a:lvl7pPr>
            <a:lvl8pPr eaLnBrk="0" fontAlgn="base" hangingPunct="0">
              <a:spcBef>
                <a:spcPct val="20000"/>
              </a:spcBef>
              <a:spcAft>
                <a:spcPct val="0"/>
              </a:spcAft>
              <a:buClr>
                <a:schemeClr val="accent2"/>
              </a:buClr>
              <a:defRPr sz="1600">
                <a:solidFill>
                  <a:schemeClr val="tx1"/>
                </a:solidFill>
                <a:latin typeface="Helvetica" charset="0"/>
              </a:defRPr>
            </a:lvl8pPr>
            <a:lvl9pPr eaLnBrk="0" fontAlgn="base" hangingPunct="0">
              <a:spcBef>
                <a:spcPct val="20000"/>
              </a:spcBef>
              <a:spcAft>
                <a:spcPct val="0"/>
              </a:spcAft>
              <a:buClr>
                <a:schemeClr val="accent2"/>
              </a:buClr>
              <a:defRPr sz="1600">
                <a:solidFill>
                  <a:schemeClr val="tx1"/>
                </a:solidFill>
                <a:latin typeface="Helvetica" charset="0"/>
              </a:defRPr>
            </a:lvl9pPr>
          </a:lstStyle>
          <a:p>
            <a:pPr>
              <a:lnSpc>
                <a:spcPct val="120000"/>
              </a:lnSpc>
              <a:spcBef>
                <a:spcPct val="100000"/>
              </a:spcBef>
              <a:buClr>
                <a:schemeClr val="tx1"/>
              </a:buClr>
              <a:buFontTx/>
              <a:buChar char="•"/>
            </a:pPr>
            <a:r>
              <a:rPr lang="en-GB" altLang="en-US" sz="1700" dirty="0">
                <a:effectLst>
                  <a:outerShdw blurRad="38100" dist="38100" dir="2700000" algn="tl">
                    <a:srgbClr val="000000"/>
                  </a:outerShdw>
                </a:effectLst>
                <a:latin typeface="Arial" charset="0"/>
              </a:rPr>
              <a:t>From this relation it follows that </a:t>
            </a:r>
            <a:r>
              <a:rPr lang="en-GB" altLang="en-US" sz="1700" dirty="0">
                <a:solidFill>
                  <a:srgbClr val="FF66CC"/>
                </a:solidFill>
                <a:effectLst>
                  <a:outerShdw blurRad="38100" dist="38100" dir="2700000" algn="tl">
                    <a:srgbClr val="000000"/>
                  </a:outerShdw>
                </a:effectLst>
                <a:latin typeface="Arial" charset="0"/>
              </a:rPr>
              <a:t>fold</a:t>
            </a:r>
            <a:r>
              <a:rPr lang="en-GB" altLang="en-US" sz="1700" dirty="0">
                <a:effectLst>
                  <a:outerShdw blurRad="38100" dist="38100" dir="2700000" algn="tl">
                    <a:srgbClr val="000000"/>
                  </a:outerShdw>
                </a:effectLst>
                <a:latin typeface="Arial" charset="0"/>
              </a:rPr>
              <a:t> </a:t>
            </a:r>
            <a:r>
              <a:rPr lang="en-GB" altLang="en-US" sz="1700" dirty="0">
                <a:solidFill>
                  <a:srgbClr val="FF66CC"/>
                </a:solidFill>
                <a:effectLst>
                  <a:outerShdw blurRad="38100" dist="38100" dir="2700000" algn="tl">
                    <a:srgbClr val="000000"/>
                  </a:outerShdw>
                </a:effectLst>
                <a:latin typeface="Arial" charset="0"/>
              </a:rPr>
              <a:t>wavelength </a:t>
            </a:r>
            <a:r>
              <a:rPr lang="en-GB" altLang="en-US" sz="1700" spc="150" dirty="0">
                <a:effectLst>
                  <a:outerShdw blurRad="38100" dist="38100" dir="2700000" algn="tl">
                    <a:srgbClr val="000000"/>
                  </a:outerShdw>
                </a:effectLst>
                <a:latin typeface="Arial" charset="0"/>
              </a:rPr>
              <a:t>(</a:t>
            </a:r>
            <a:r>
              <a:rPr lang="el-GR" altLang="en-US" sz="1800" i="1" spc="300" dirty="0">
                <a:solidFill>
                  <a:srgbClr val="FFFF00"/>
                </a:solidFill>
                <a:effectLst>
                  <a:outerShdw blurRad="38100" dist="38100" dir="2700000" algn="tl">
                    <a:srgbClr val="000000"/>
                  </a:outerShdw>
                </a:effectLst>
                <a:latin typeface="Cambria Math" panose="02040503050406030204" pitchFamily="18" charset="0"/>
                <a:ea typeface="Cambria Math" panose="02040503050406030204" pitchFamily="18" charset="0"/>
              </a:rPr>
              <a:t>λ</a:t>
            </a:r>
            <a:r>
              <a:rPr lang="en-GB" altLang="en-US" sz="1700" dirty="0">
                <a:effectLst>
                  <a:outerShdw blurRad="38100" dist="38100" dir="2700000" algn="tl">
                    <a:srgbClr val="000000"/>
                  </a:outerShdw>
                </a:effectLst>
                <a:latin typeface="Arial" charset="0"/>
              </a:rPr>
              <a:t>) increases</a:t>
            </a:r>
            <a:r>
              <a:rPr lang="en-GB" altLang="en-US" sz="1700" dirty="0">
                <a:solidFill>
                  <a:srgbClr val="FF66CC"/>
                </a:solidFill>
                <a:effectLst>
                  <a:outerShdw blurRad="38100" dist="38100" dir="2700000" algn="tl">
                    <a:srgbClr val="000000"/>
                  </a:outerShdw>
                </a:effectLst>
                <a:latin typeface="Arial" charset="0"/>
              </a:rPr>
              <a:t> </a:t>
            </a:r>
            <a:r>
              <a:rPr lang="en-GB" altLang="en-US" sz="1700" dirty="0">
                <a:effectLst>
                  <a:outerShdw blurRad="38100" dist="38100" dir="2700000" algn="tl">
                    <a:srgbClr val="000000"/>
                  </a:outerShdw>
                </a:effectLst>
                <a:latin typeface="Arial" charset="0"/>
              </a:rPr>
              <a:t>as </a:t>
            </a:r>
            <a:r>
              <a:rPr lang="en-GB" altLang="en-US" sz="1700" dirty="0">
                <a:solidFill>
                  <a:srgbClr val="FF66CC"/>
                </a:solidFill>
                <a:effectLst>
                  <a:outerShdw blurRad="38100" dist="38100" dir="2700000" algn="tl">
                    <a:srgbClr val="000000"/>
                  </a:outerShdw>
                </a:effectLst>
                <a:latin typeface="Arial" charset="0"/>
              </a:rPr>
              <a:t>layer thickness </a:t>
            </a:r>
            <a:r>
              <a:rPr lang="en-GB" altLang="en-US" sz="1700" spc="100" dirty="0">
                <a:effectLst>
                  <a:outerShdw blurRad="38100" dist="38100" dir="2700000" algn="tl">
                    <a:srgbClr val="000000"/>
                  </a:outerShdw>
                </a:effectLst>
                <a:latin typeface="Arial" charset="0"/>
              </a:rPr>
              <a:t>(</a:t>
            </a:r>
            <a:r>
              <a:rPr lang="en-GB" altLang="en-US" sz="1800" i="1" spc="300" dirty="0">
                <a:solidFill>
                  <a:srgbClr val="FFFF00"/>
                </a:solidFill>
                <a:effectLst>
                  <a:outerShdw blurRad="38100" dist="38100" dir="2700000" algn="tl">
                    <a:srgbClr val="000000"/>
                  </a:outerShdw>
                </a:effectLst>
                <a:latin typeface="Arial" charset="0"/>
              </a:rPr>
              <a:t>d</a:t>
            </a:r>
            <a:r>
              <a:rPr lang="en-GB" altLang="en-US" sz="1700" dirty="0">
                <a:effectLst>
                  <a:outerShdw blurRad="38100" dist="38100" dir="2700000" algn="tl">
                    <a:srgbClr val="000000"/>
                  </a:outerShdw>
                </a:effectLst>
                <a:latin typeface="Arial" charset="0"/>
              </a:rPr>
              <a:t>) increases</a:t>
            </a:r>
          </a:p>
        </p:txBody>
      </p:sp>
      <p:pic>
        <p:nvPicPr>
          <p:cNvPr id="237579" name="Picture 11" descr="02a-Mull"/>
          <p:cNvPicPr>
            <a:picLocks noChangeAspect="1" noChangeArrowheads="1"/>
          </p:cNvPicPr>
          <p:nvPr/>
        </p:nvPicPr>
        <p:blipFill>
          <a:blip r:embed="rId3">
            <a:lum bright="-4000"/>
            <a:extLst>
              <a:ext uri="{28A0092B-C50C-407E-A947-70E740481C1C}">
                <a14:useLocalDpi xmlns:a14="http://schemas.microsoft.com/office/drawing/2010/main" val="0"/>
              </a:ext>
            </a:extLst>
          </a:blip>
          <a:srcRect/>
          <a:stretch>
            <a:fillRect/>
          </a:stretch>
        </p:blipFill>
        <p:spPr bwMode="auto">
          <a:xfrm>
            <a:off x="176213" y="3109913"/>
            <a:ext cx="5276850" cy="3155950"/>
          </a:xfrm>
          <a:prstGeom prst="rect">
            <a:avLst/>
          </a:prstGeo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Lst>
        </p:spPr>
      </p:pic>
      <p:pic>
        <p:nvPicPr>
          <p:cNvPr id="237580" name="Picture 12" descr="02b-Kinlochleven"/>
          <p:cNvPicPr>
            <a:picLocks noChangeAspect="1" noChangeArrowheads="1"/>
          </p:cNvPicPr>
          <p:nvPr/>
        </p:nvPicPr>
        <p:blipFill>
          <a:blip r:embed="rId4">
            <a:lum bright="-4000"/>
            <a:extLst>
              <a:ext uri="{28A0092B-C50C-407E-A947-70E740481C1C}">
                <a14:useLocalDpi xmlns:a14="http://schemas.microsoft.com/office/drawing/2010/main" val="0"/>
              </a:ext>
            </a:extLst>
          </a:blip>
          <a:srcRect/>
          <a:stretch>
            <a:fillRect/>
          </a:stretch>
        </p:blipFill>
        <p:spPr bwMode="auto">
          <a:xfrm>
            <a:off x="5692775" y="1338263"/>
            <a:ext cx="3271838" cy="4927600"/>
          </a:xfrm>
          <a:prstGeom prst="rect">
            <a:avLst/>
          </a:prstGeo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p:transition spd="slow"/>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2690" name="Rectangle 2"/>
          <p:cNvSpPr>
            <a:spLocks noGrp="1" noChangeArrowheads="1"/>
          </p:cNvSpPr>
          <p:nvPr>
            <p:ph type="title"/>
          </p:nvPr>
        </p:nvSpPr>
        <p:spPr>
          <a:noFill/>
        </p:spPr>
        <p:txBody>
          <a:bodyPr/>
          <a:lstStyle/>
          <a:p>
            <a:r>
              <a:rPr lang="en-GB" altLang="en-US">
                <a:effectLst/>
              </a:rPr>
              <a:t>Single layer buckling  (viscosity contrast)</a:t>
            </a:r>
          </a:p>
        </p:txBody>
      </p:sp>
      <p:sp>
        <p:nvSpPr>
          <p:cNvPr id="242691" name="Rectangle 3"/>
          <p:cNvSpPr>
            <a:spLocks noGrp="1" noChangeArrowheads="1"/>
          </p:cNvSpPr>
          <p:nvPr>
            <p:ph type="body" sz="half" idx="1"/>
          </p:nvPr>
        </p:nvSpPr>
        <p:spPr>
          <a:xfrm>
            <a:off x="255588" y="839788"/>
            <a:ext cx="4291012" cy="523875"/>
          </a:xfrm>
          <a:noFill/>
        </p:spPr>
        <p:txBody>
          <a:bodyPr/>
          <a:lstStyle/>
          <a:p>
            <a:pPr algn="ctr">
              <a:spcBef>
                <a:spcPct val="75000"/>
              </a:spcBef>
              <a:buFont typeface="Times"/>
              <a:buNone/>
            </a:pPr>
            <a:r>
              <a:rPr lang="el-GR" altLang="en-US" i="1" dirty="0">
                <a:solidFill>
                  <a:srgbClr val="FFFF00"/>
                </a:solidFill>
                <a:effectLst/>
                <a:latin typeface="Cambria Math" panose="02040503050406030204" pitchFamily="18" charset="0"/>
                <a:ea typeface="Cambria Math" panose="02040503050406030204" pitchFamily="18" charset="0"/>
              </a:rPr>
              <a:t>λ</a:t>
            </a:r>
            <a:r>
              <a:rPr lang="en-GB" altLang="en-US" dirty="0">
                <a:solidFill>
                  <a:srgbClr val="FFFF00"/>
                </a:solidFill>
                <a:effectLst/>
              </a:rPr>
              <a:t>  =  2</a:t>
            </a:r>
            <a:r>
              <a:rPr lang="el-GR" altLang="en-US" i="1" dirty="0">
                <a:solidFill>
                  <a:srgbClr val="FFFF00"/>
                </a:solidFill>
                <a:effectLst/>
                <a:latin typeface="Cambria Math" panose="02040503050406030204" pitchFamily="18" charset="0"/>
                <a:ea typeface="Cambria Math" panose="02040503050406030204" pitchFamily="18" charset="0"/>
              </a:rPr>
              <a:t>π</a:t>
            </a:r>
            <a:r>
              <a:rPr lang="en-GB" altLang="en-US" i="1" dirty="0">
                <a:solidFill>
                  <a:srgbClr val="FFFF00"/>
                </a:solidFill>
                <a:effectLst/>
                <a:latin typeface="Symbol" pitchFamily="18" charset="2"/>
              </a:rPr>
              <a:t> </a:t>
            </a:r>
            <a:r>
              <a:rPr lang="en-GB" altLang="en-US" i="1" dirty="0">
                <a:solidFill>
                  <a:srgbClr val="FFFF00"/>
                </a:solidFill>
                <a:effectLst/>
              </a:rPr>
              <a:t>d </a:t>
            </a:r>
            <a:r>
              <a:rPr lang="en-GB" altLang="en-US" dirty="0">
                <a:solidFill>
                  <a:srgbClr val="FFFF00"/>
                </a:solidFill>
                <a:effectLst/>
              </a:rPr>
              <a:t>[ </a:t>
            </a:r>
            <a:r>
              <a:rPr lang="el-GR" altLang="en-US" i="1" dirty="0">
                <a:solidFill>
                  <a:srgbClr val="FFFF00"/>
                </a:solidFill>
                <a:effectLst/>
                <a:latin typeface="Cambria Math" panose="02040503050406030204" pitchFamily="18" charset="0"/>
                <a:ea typeface="Cambria Math" panose="02040503050406030204" pitchFamily="18" charset="0"/>
              </a:rPr>
              <a:t>η</a:t>
            </a:r>
            <a:r>
              <a:rPr lang="en-GB" altLang="en-US" sz="800" i="1" dirty="0">
                <a:solidFill>
                  <a:srgbClr val="FFFF00"/>
                </a:solidFill>
                <a:effectLst/>
                <a:latin typeface="Symbol" pitchFamily="18" charset="2"/>
              </a:rPr>
              <a:t> </a:t>
            </a:r>
            <a:r>
              <a:rPr lang="en-GB" altLang="en-US" baseline="-25000" dirty="0">
                <a:solidFill>
                  <a:srgbClr val="FFFF00"/>
                </a:solidFill>
                <a:effectLst/>
              </a:rPr>
              <a:t>L</a:t>
            </a:r>
            <a:r>
              <a:rPr lang="en-GB" altLang="en-US" dirty="0">
                <a:solidFill>
                  <a:srgbClr val="FFFF00"/>
                </a:solidFill>
                <a:effectLst/>
              </a:rPr>
              <a:t> / (</a:t>
            </a:r>
            <a:r>
              <a:rPr lang="en-GB" altLang="en-US" sz="800" dirty="0">
                <a:solidFill>
                  <a:srgbClr val="FFFF00"/>
                </a:solidFill>
                <a:effectLst/>
              </a:rPr>
              <a:t> </a:t>
            </a:r>
            <a:r>
              <a:rPr lang="en-GB" altLang="en-US" dirty="0">
                <a:solidFill>
                  <a:srgbClr val="FFFF00"/>
                </a:solidFill>
                <a:effectLst/>
              </a:rPr>
              <a:t>6</a:t>
            </a:r>
            <a:r>
              <a:rPr lang="el-GR" altLang="en-US" i="1" dirty="0">
                <a:solidFill>
                  <a:srgbClr val="FFFF00"/>
                </a:solidFill>
                <a:effectLst/>
                <a:latin typeface="Cambria Math" panose="02040503050406030204" pitchFamily="18" charset="0"/>
                <a:ea typeface="Cambria Math" panose="02040503050406030204" pitchFamily="18" charset="0"/>
              </a:rPr>
              <a:t>η</a:t>
            </a:r>
            <a:r>
              <a:rPr lang="en-GB" altLang="en-US" sz="800" i="1" dirty="0">
                <a:solidFill>
                  <a:srgbClr val="FFFF00"/>
                </a:solidFill>
                <a:effectLst/>
                <a:latin typeface="Symbol" pitchFamily="18" charset="2"/>
              </a:rPr>
              <a:t> </a:t>
            </a:r>
            <a:r>
              <a:rPr lang="en-GB" altLang="en-US" baseline="-25000" dirty="0">
                <a:solidFill>
                  <a:srgbClr val="FFFF00"/>
                </a:solidFill>
                <a:effectLst/>
              </a:rPr>
              <a:t>M</a:t>
            </a:r>
            <a:r>
              <a:rPr lang="en-GB" altLang="en-US" sz="800" baseline="-25000" dirty="0">
                <a:solidFill>
                  <a:srgbClr val="FFFF00"/>
                </a:solidFill>
                <a:effectLst/>
              </a:rPr>
              <a:t> </a:t>
            </a:r>
            <a:r>
              <a:rPr lang="en-GB" altLang="en-US" dirty="0">
                <a:solidFill>
                  <a:srgbClr val="FFFF00"/>
                </a:solidFill>
                <a:effectLst/>
              </a:rPr>
              <a:t>) ]</a:t>
            </a:r>
            <a:r>
              <a:rPr lang="en-GB" altLang="en-US" baseline="30000" dirty="0">
                <a:solidFill>
                  <a:srgbClr val="FFFF00"/>
                </a:solidFill>
                <a:effectLst/>
              </a:rPr>
              <a:t>1/3</a:t>
            </a:r>
          </a:p>
        </p:txBody>
      </p:sp>
      <p:sp>
        <p:nvSpPr>
          <p:cNvPr id="242694" name="Text Box 6"/>
          <p:cNvSpPr txBox="1">
            <a:spLocks noChangeArrowheads="1"/>
          </p:cNvSpPr>
          <p:nvPr/>
        </p:nvSpPr>
        <p:spPr bwMode="auto">
          <a:xfrm>
            <a:off x="150813" y="1327150"/>
            <a:ext cx="5741987" cy="2463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82563" indent="-182563">
              <a:defRPr sz="1600">
                <a:solidFill>
                  <a:schemeClr val="tx1"/>
                </a:solidFill>
                <a:latin typeface="Helvetica" charset="0"/>
              </a:defRPr>
            </a:lvl1pPr>
            <a:lvl2pPr>
              <a:defRPr sz="1600">
                <a:solidFill>
                  <a:schemeClr val="tx1"/>
                </a:solidFill>
                <a:latin typeface="Helvetica" charset="0"/>
              </a:defRPr>
            </a:lvl2pPr>
            <a:lvl3pPr>
              <a:defRPr sz="1600">
                <a:solidFill>
                  <a:schemeClr val="tx1"/>
                </a:solidFill>
                <a:latin typeface="Helvetica" charset="0"/>
              </a:defRPr>
            </a:lvl3pPr>
            <a:lvl4pPr>
              <a:defRPr sz="1600">
                <a:solidFill>
                  <a:schemeClr val="tx1"/>
                </a:solidFill>
                <a:latin typeface="Helvetica" charset="0"/>
              </a:defRPr>
            </a:lvl4pPr>
            <a:lvl5pPr>
              <a:defRPr sz="1600">
                <a:solidFill>
                  <a:schemeClr val="tx1"/>
                </a:solidFill>
                <a:latin typeface="Helvetica" charset="0"/>
              </a:defRPr>
            </a:lvl5pPr>
            <a:lvl6pPr eaLnBrk="0" fontAlgn="base" hangingPunct="0">
              <a:spcBef>
                <a:spcPct val="20000"/>
              </a:spcBef>
              <a:spcAft>
                <a:spcPct val="0"/>
              </a:spcAft>
              <a:buClr>
                <a:schemeClr val="accent2"/>
              </a:buClr>
              <a:defRPr sz="1600">
                <a:solidFill>
                  <a:schemeClr val="tx1"/>
                </a:solidFill>
                <a:latin typeface="Helvetica" charset="0"/>
              </a:defRPr>
            </a:lvl6pPr>
            <a:lvl7pPr eaLnBrk="0" fontAlgn="base" hangingPunct="0">
              <a:spcBef>
                <a:spcPct val="20000"/>
              </a:spcBef>
              <a:spcAft>
                <a:spcPct val="0"/>
              </a:spcAft>
              <a:buClr>
                <a:schemeClr val="accent2"/>
              </a:buClr>
              <a:defRPr sz="1600">
                <a:solidFill>
                  <a:schemeClr val="tx1"/>
                </a:solidFill>
                <a:latin typeface="Helvetica" charset="0"/>
              </a:defRPr>
            </a:lvl7pPr>
            <a:lvl8pPr eaLnBrk="0" fontAlgn="base" hangingPunct="0">
              <a:spcBef>
                <a:spcPct val="20000"/>
              </a:spcBef>
              <a:spcAft>
                <a:spcPct val="0"/>
              </a:spcAft>
              <a:buClr>
                <a:schemeClr val="accent2"/>
              </a:buClr>
              <a:defRPr sz="1600">
                <a:solidFill>
                  <a:schemeClr val="tx1"/>
                </a:solidFill>
                <a:latin typeface="Helvetica" charset="0"/>
              </a:defRPr>
            </a:lvl8pPr>
            <a:lvl9pPr eaLnBrk="0" fontAlgn="base" hangingPunct="0">
              <a:spcBef>
                <a:spcPct val="20000"/>
              </a:spcBef>
              <a:spcAft>
                <a:spcPct val="0"/>
              </a:spcAft>
              <a:buClr>
                <a:schemeClr val="accent2"/>
              </a:buClr>
              <a:defRPr sz="1600">
                <a:solidFill>
                  <a:schemeClr val="tx1"/>
                </a:solidFill>
                <a:latin typeface="Helvetica" charset="0"/>
              </a:defRPr>
            </a:lvl9pPr>
          </a:lstStyle>
          <a:p>
            <a:pPr>
              <a:lnSpc>
                <a:spcPct val="120000"/>
              </a:lnSpc>
              <a:spcBef>
                <a:spcPct val="100000"/>
              </a:spcBef>
              <a:buClr>
                <a:schemeClr val="tx1"/>
              </a:buClr>
              <a:buFontTx/>
              <a:buChar char="•"/>
            </a:pPr>
            <a:r>
              <a:rPr lang="en-GB" altLang="en-US" sz="1700" dirty="0">
                <a:effectLst>
                  <a:outerShdw blurRad="38100" dist="38100" dir="2700000" algn="tl">
                    <a:srgbClr val="000000"/>
                  </a:outerShdw>
                </a:effectLst>
                <a:latin typeface="Arial" charset="0"/>
              </a:rPr>
              <a:t>One of the most useful interpretations provided by equations of this kind is the possibility of recovering the </a:t>
            </a:r>
            <a:r>
              <a:rPr lang="en-GB" altLang="en-US" sz="1700" dirty="0">
                <a:solidFill>
                  <a:srgbClr val="FF6600"/>
                </a:solidFill>
                <a:effectLst>
                  <a:outerShdw blurRad="38100" dist="38100" dir="2700000" algn="tl">
                    <a:srgbClr val="000000"/>
                  </a:outerShdw>
                </a:effectLst>
                <a:latin typeface="Arial" charset="0"/>
              </a:rPr>
              <a:t>viscosity contrast</a:t>
            </a:r>
            <a:r>
              <a:rPr lang="en-GB" altLang="en-US" sz="1700" dirty="0">
                <a:effectLst>
                  <a:outerShdw blurRad="38100" dist="38100" dir="2700000" algn="tl">
                    <a:srgbClr val="000000"/>
                  </a:outerShdw>
                </a:effectLst>
                <a:latin typeface="Arial" charset="0"/>
              </a:rPr>
              <a:t> between layer and matrix </a:t>
            </a:r>
            <a:r>
              <a:rPr lang="en-GB" altLang="en-US" sz="1700" dirty="0">
                <a:solidFill>
                  <a:srgbClr val="FFFF00"/>
                </a:solidFill>
                <a:effectLst>
                  <a:outerShdw blurRad="38100" dist="38100" dir="2700000" algn="tl">
                    <a:srgbClr val="000000"/>
                  </a:outerShdw>
                </a:effectLst>
                <a:latin typeface="Arial" charset="0"/>
              </a:rPr>
              <a:t>(</a:t>
            </a:r>
            <a:r>
              <a:rPr lang="en-GB" altLang="en-US" sz="800" dirty="0">
                <a:solidFill>
                  <a:srgbClr val="FFFF00"/>
                </a:solidFill>
                <a:effectLst>
                  <a:outerShdw blurRad="38100" dist="38100" dir="2700000" algn="tl">
                    <a:srgbClr val="000000"/>
                  </a:outerShdw>
                </a:effectLst>
                <a:latin typeface="Arial" charset="0"/>
              </a:rPr>
              <a:t> </a:t>
            </a:r>
            <a:r>
              <a:rPr lang="el-GR" altLang="en-US" sz="1700" i="1" dirty="0">
                <a:solidFill>
                  <a:srgbClr val="FFFF00"/>
                </a:solidFill>
                <a:effectLst>
                  <a:outerShdw blurRad="38100" dist="38100" dir="2700000" algn="tl">
                    <a:srgbClr val="000000"/>
                  </a:outerShdw>
                </a:effectLst>
                <a:latin typeface="Cambria Math" panose="02040503050406030204" pitchFamily="18" charset="0"/>
                <a:ea typeface="Cambria Math" panose="02040503050406030204" pitchFamily="18" charset="0"/>
              </a:rPr>
              <a:t>η</a:t>
            </a:r>
            <a:r>
              <a:rPr lang="en-GB" altLang="en-US" sz="800" i="1" dirty="0">
                <a:solidFill>
                  <a:srgbClr val="FFFF00"/>
                </a:solidFill>
                <a:effectLst>
                  <a:outerShdw blurRad="38100" dist="38100" dir="2700000" algn="tl">
                    <a:srgbClr val="000000"/>
                  </a:outerShdw>
                </a:effectLst>
                <a:latin typeface="Symbol" pitchFamily="18" charset="2"/>
              </a:rPr>
              <a:t> </a:t>
            </a:r>
            <a:r>
              <a:rPr lang="en-GB" altLang="en-US" sz="1700" baseline="-25000" dirty="0">
                <a:solidFill>
                  <a:srgbClr val="FFFF00"/>
                </a:solidFill>
                <a:effectLst>
                  <a:outerShdw blurRad="38100" dist="38100" dir="2700000" algn="tl">
                    <a:srgbClr val="000000"/>
                  </a:outerShdw>
                </a:effectLst>
                <a:latin typeface="Arial" charset="0"/>
              </a:rPr>
              <a:t>L </a:t>
            </a:r>
            <a:r>
              <a:rPr lang="en-GB" altLang="en-US" sz="1700" dirty="0">
                <a:solidFill>
                  <a:srgbClr val="FFFF00"/>
                </a:solidFill>
                <a:effectLst>
                  <a:outerShdw blurRad="38100" dist="38100" dir="2700000" algn="tl">
                    <a:srgbClr val="000000"/>
                  </a:outerShdw>
                </a:effectLst>
                <a:latin typeface="Arial" charset="0"/>
              </a:rPr>
              <a:t>/</a:t>
            </a:r>
            <a:r>
              <a:rPr lang="en-GB" altLang="en-US" sz="800" dirty="0">
                <a:solidFill>
                  <a:srgbClr val="FFFF00"/>
                </a:solidFill>
                <a:effectLst>
                  <a:outerShdw blurRad="38100" dist="38100" dir="2700000" algn="tl">
                    <a:srgbClr val="000000"/>
                  </a:outerShdw>
                </a:effectLst>
                <a:latin typeface="Arial" charset="0"/>
              </a:rPr>
              <a:t> </a:t>
            </a:r>
            <a:r>
              <a:rPr lang="el-GR" altLang="en-US" sz="1700" i="1" dirty="0">
                <a:solidFill>
                  <a:srgbClr val="FFFF00"/>
                </a:solidFill>
                <a:effectLst>
                  <a:outerShdw blurRad="38100" dist="38100" dir="2700000" algn="tl">
                    <a:srgbClr val="000000"/>
                  </a:outerShdw>
                </a:effectLst>
                <a:latin typeface="Cambria Math" panose="02040503050406030204" pitchFamily="18" charset="0"/>
                <a:ea typeface="Cambria Math" panose="02040503050406030204" pitchFamily="18" charset="0"/>
              </a:rPr>
              <a:t>η</a:t>
            </a:r>
            <a:r>
              <a:rPr lang="en-GB" altLang="en-US" sz="800" i="1" dirty="0">
                <a:solidFill>
                  <a:srgbClr val="FFFF00"/>
                </a:solidFill>
                <a:effectLst>
                  <a:outerShdw blurRad="38100" dist="38100" dir="2700000" algn="tl">
                    <a:srgbClr val="000000"/>
                  </a:outerShdw>
                </a:effectLst>
                <a:latin typeface="Symbol" pitchFamily="18" charset="2"/>
              </a:rPr>
              <a:t> </a:t>
            </a:r>
            <a:r>
              <a:rPr lang="en-GB" altLang="en-US" sz="1700" baseline="-25000" dirty="0">
                <a:solidFill>
                  <a:srgbClr val="FFFF00"/>
                </a:solidFill>
                <a:effectLst>
                  <a:outerShdw blurRad="38100" dist="38100" dir="2700000" algn="tl">
                    <a:srgbClr val="000000"/>
                  </a:outerShdw>
                </a:effectLst>
                <a:latin typeface="Arial" charset="0"/>
              </a:rPr>
              <a:t>M</a:t>
            </a:r>
            <a:r>
              <a:rPr lang="en-GB" altLang="en-US" sz="800" baseline="-25000" dirty="0">
                <a:solidFill>
                  <a:srgbClr val="FFFF00"/>
                </a:solidFill>
                <a:effectLst>
                  <a:outerShdw blurRad="38100" dist="38100" dir="2700000" algn="tl">
                    <a:srgbClr val="000000"/>
                  </a:outerShdw>
                </a:effectLst>
                <a:latin typeface="Arial" charset="0"/>
              </a:rPr>
              <a:t> </a:t>
            </a:r>
            <a:r>
              <a:rPr lang="en-GB" altLang="en-US" sz="1700" dirty="0">
                <a:solidFill>
                  <a:srgbClr val="FFFF00"/>
                </a:solidFill>
                <a:effectLst>
                  <a:outerShdw blurRad="38100" dist="38100" dir="2700000" algn="tl">
                    <a:srgbClr val="000000"/>
                  </a:outerShdw>
                </a:effectLst>
                <a:latin typeface="Arial" charset="0"/>
              </a:rPr>
              <a:t>) </a:t>
            </a:r>
            <a:r>
              <a:rPr lang="en-GB" altLang="en-US" sz="1700" dirty="0">
                <a:effectLst>
                  <a:outerShdw blurRad="38100" dist="38100" dir="2700000" algn="tl">
                    <a:srgbClr val="000000"/>
                  </a:outerShdw>
                </a:effectLst>
                <a:latin typeface="Arial" charset="0"/>
              </a:rPr>
              <a:t>from measurements of </a:t>
            </a:r>
            <a:r>
              <a:rPr lang="el-GR" altLang="en-US" sz="1700" i="1" dirty="0">
                <a:solidFill>
                  <a:srgbClr val="FFFF00"/>
                </a:solidFill>
                <a:effectLst>
                  <a:outerShdw blurRad="38100" dist="38100" dir="2700000" algn="tl">
                    <a:srgbClr val="000000"/>
                  </a:outerShdw>
                </a:effectLst>
                <a:latin typeface="Cambria Math" panose="02040503050406030204" pitchFamily="18" charset="0"/>
                <a:ea typeface="Cambria Math" panose="02040503050406030204" pitchFamily="18" charset="0"/>
              </a:rPr>
              <a:t>λ</a:t>
            </a:r>
            <a:r>
              <a:rPr lang="en-GB" altLang="en-US" sz="800" dirty="0">
                <a:effectLst>
                  <a:outerShdw blurRad="38100" dist="38100" dir="2700000" algn="tl">
                    <a:srgbClr val="000000"/>
                  </a:outerShdw>
                </a:effectLst>
                <a:latin typeface="Arial" charset="0"/>
              </a:rPr>
              <a:t> </a:t>
            </a:r>
            <a:r>
              <a:rPr lang="en-GB" altLang="en-US" sz="1700" dirty="0">
                <a:effectLst>
                  <a:outerShdw blurRad="38100" dist="38100" dir="2700000" algn="tl">
                    <a:srgbClr val="000000"/>
                  </a:outerShdw>
                </a:effectLst>
                <a:latin typeface="Arial" charset="0"/>
              </a:rPr>
              <a:t> and </a:t>
            </a:r>
            <a:r>
              <a:rPr lang="en-GB" altLang="en-US" sz="1700" i="1" dirty="0">
                <a:solidFill>
                  <a:srgbClr val="FFFF00"/>
                </a:solidFill>
                <a:effectLst>
                  <a:outerShdw blurRad="38100" dist="38100" dir="2700000" algn="tl">
                    <a:srgbClr val="000000"/>
                  </a:outerShdw>
                </a:effectLst>
                <a:latin typeface="Arial" charset="0"/>
              </a:rPr>
              <a:t>d</a:t>
            </a:r>
            <a:r>
              <a:rPr lang="en-GB" altLang="en-US" sz="800" dirty="0">
                <a:effectLst>
                  <a:outerShdw blurRad="38100" dist="38100" dir="2700000" algn="tl">
                    <a:srgbClr val="000000"/>
                  </a:outerShdw>
                </a:effectLst>
                <a:latin typeface="Arial" charset="0"/>
              </a:rPr>
              <a:t> </a:t>
            </a:r>
            <a:r>
              <a:rPr lang="en-GB" altLang="en-US" sz="1700" dirty="0">
                <a:effectLst>
                  <a:outerShdw blurRad="38100" dist="38100" dir="2700000" algn="tl">
                    <a:srgbClr val="000000"/>
                  </a:outerShdw>
                </a:effectLst>
                <a:latin typeface="Arial" charset="0"/>
              </a:rPr>
              <a:t> in real folds</a:t>
            </a:r>
          </a:p>
          <a:p>
            <a:pPr>
              <a:lnSpc>
                <a:spcPct val="120000"/>
              </a:lnSpc>
              <a:spcBef>
                <a:spcPct val="75000"/>
              </a:spcBef>
              <a:buClr>
                <a:schemeClr val="tx1"/>
              </a:buClr>
              <a:buFontTx/>
              <a:buChar char="•"/>
            </a:pPr>
            <a:r>
              <a:rPr lang="en-GB" altLang="en-US" sz="1700" dirty="0">
                <a:effectLst>
                  <a:outerShdw blurRad="38100" dist="38100" dir="2700000" algn="tl">
                    <a:srgbClr val="000000"/>
                  </a:outerShdw>
                </a:effectLst>
                <a:latin typeface="Arial" charset="0"/>
              </a:rPr>
              <a:t>It can also be shown that </a:t>
            </a:r>
            <a:r>
              <a:rPr lang="en-GB" altLang="en-US" sz="1700" dirty="0">
                <a:solidFill>
                  <a:srgbClr val="FF6600"/>
                </a:solidFill>
                <a:effectLst>
                  <a:outerShdw blurRad="38100" dist="38100" dir="2700000" algn="tl">
                    <a:srgbClr val="000000"/>
                  </a:outerShdw>
                </a:effectLst>
                <a:latin typeface="Arial" charset="0"/>
              </a:rPr>
              <a:t>large viscosity contrasts</a:t>
            </a:r>
            <a:r>
              <a:rPr lang="en-GB" altLang="en-US" sz="1700" dirty="0">
                <a:effectLst>
                  <a:outerShdw blurRad="38100" dist="38100" dir="2700000" algn="tl">
                    <a:srgbClr val="000000"/>
                  </a:outerShdw>
                </a:effectLst>
                <a:latin typeface="Arial" charset="0"/>
              </a:rPr>
              <a:t> lead to more </a:t>
            </a:r>
            <a:r>
              <a:rPr lang="en-GB" altLang="en-US" sz="1700" dirty="0">
                <a:solidFill>
                  <a:srgbClr val="FF66CC"/>
                </a:solidFill>
                <a:effectLst>
                  <a:outerShdw blurRad="38100" dist="38100" dir="2700000" algn="tl">
                    <a:srgbClr val="000000"/>
                  </a:outerShdw>
                </a:effectLst>
                <a:latin typeface="Arial" charset="0"/>
              </a:rPr>
              <a:t>rapid fold amplification</a:t>
            </a:r>
            <a:r>
              <a:rPr lang="en-GB" altLang="en-US" sz="1700" dirty="0">
                <a:effectLst>
                  <a:outerShdw blurRad="38100" dist="38100" dir="2700000" algn="tl">
                    <a:srgbClr val="000000"/>
                  </a:outerShdw>
                </a:effectLst>
                <a:latin typeface="Arial" charset="0"/>
              </a:rPr>
              <a:t> and </a:t>
            </a:r>
            <a:r>
              <a:rPr lang="en-GB" altLang="en-US" sz="1700" dirty="0">
                <a:solidFill>
                  <a:srgbClr val="FF66CC"/>
                </a:solidFill>
                <a:effectLst>
                  <a:outerShdw blurRad="38100" dist="38100" dir="2700000" algn="tl">
                    <a:srgbClr val="000000"/>
                  </a:outerShdw>
                </a:effectLst>
                <a:latin typeface="Arial" charset="0"/>
              </a:rPr>
              <a:t>less layer thickening</a:t>
            </a:r>
            <a:r>
              <a:rPr lang="en-GB" altLang="en-US" sz="1700" dirty="0">
                <a:effectLst>
                  <a:outerShdw blurRad="38100" dist="38100" dir="2700000" algn="tl">
                    <a:srgbClr val="000000"/>
                  </a:outerShdw>
                </a:effectLst>
                <a:latin typeface="Arial" charset="0"/>
              </a:rPr>
              <a:t> (that is, layer</a:t>
            </a:r>
          </a:p>
        </p:txBody>
      </p:sp>
      <p:pic>
        <p:nvPicPr>
          <p:cNvPr id="242706" name="Picture 18" descr="0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07113" y="1063625"/>
            <a:ext cx="2368550" cy="4186238"/>
          </a:xfrm>
          <a:prstGeom prst="rect">
            <a:avLst/>
          </a:prstGeom>
          <a:noFill/>
          <a:ln w="38100">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242707" name="Text Box 19"/>
          <p:cNvSpPr txBox="1">
            <a:spLocks noChangeArrowheads="1"/>
          </p:cNvSpPr>
          <p:nvPr/>
        </p:nvSpPr>
        <p:spPr bwMode="auto">
          <a:xfrm rot="5400000">
            <a:off x="7318375" y="3414713"/>
            <a:ext cx="2989263" cy="3508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GB" altLang="en-US" sz="1700">
                <a:solidFill>
                  <a:srgbClr val="FFFF00"/>
                </a:solidFill>
                <a:effectLst>
                  <a:outerShdw blurRad="38100" dist="38100" dir="2700000" algn="tl">
                    <a:srgbClr val="000000"/>
                  </a:outerShdw>
                </a:effectLst>
                <a:latin typeface="Arial" charset="0"/>
              </a:rPr>
              <a:t>increasing viscosity contrast</a:t>
            </a:r>
            <a:r>
              <a:rPr lang="en-GB" altLang="en-US">
                <a:effectLst>
                  <a:outerShdw blurRad="38100" dist="38100" dir="2700000" algn="tl">
                    <a:srgbClr val="000000"/>
                  </a:outerShdw>
                </a:effectLst>
                <a:latin typeface="Arial" charset="0"/>
              </a:rPr>
              <a:t> </a:t>
            </a:r>
          </a:p>
        </p:txBody>
      </p:sp>
      <p:sp>
        <p:nvSpPr>
          <p:cNvPr id="242708" name="Line 20"/>
          <p:cNvSpPr>
            <a:spLocks noChangeShapeType="1"/>
          </p:cNvSpPr>
          <p:nvPr/>
        </p:nvSpPr>
        <p:spPr bwMode="auto">
          <a:xfrm rot="10800000">
            <a:off x="8788400" y="1524000"/>
            <a:ext cx="0" cy="469900"/>
          </a:xfrm>
          <a:prstGeom prst="line">
            <a:avLst/>
          </a:prstGeom>
          <a:noFill/>
          <a:ln w="28575">
            <a:solidFill>
              <a:srgbClr val="FFFF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242709" name="Text Box 21"/>
          <p:cNvSpPr txBox="1">
            <a:spLocks noChangeArrowheads="1"/>
          </p:cNvSpPr>
          <p:nvPr/>
        </p:nvSpPr>
        <p:spPr bwMode="auto">
          <a:xfrm>
            <a:off x="6051550" y="5387975"/>
            <a:ext cx="2466975" cy="1114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20000"/>
              </a:lnSpc>
              <a:spcBef>
                <a:spcPct val="50000"/>
              </a:spcBef>
            </a:pPr>
            <a:r>
              <a:rPr lang="en-GB" altLang="en-US" sz="1400">
                <a:solidFill>
                  <a:srgbClr val="FFFF00"/>
                </a:solidFill>
                <a:effectLst>
                  <a:outerShdw blurRad="38100" dist="38100" dir="2700000" algn="tl">
                    <a:srgbClr val="000000"/>
                  </a:outerShdw>
                </a:effectLst>
                <a:latin typeface="Arial" charset="0"/>
              </a:rPr>
              <a:t>Buckling of four layers with the same initial thickness but with different layer</a:t>
            </a:r>
            <a:r>
              <a:rPr lang="en-GB" altLang="en-US" sz="800">
                <a:solidFill>
                  <a:srgbClr val="FFFF00"/>
                </a:solidFill>
                <a:effectLst>
                  <a:outerShdw blurRad="38100" dist="38100" dir="2700000" algn="tl">
                    <a:srgbClr val="000000"/>
                  </a:outerShdw>
                </a:effectLst>
                <a:latin typeface="Arial" charset="0"/>
              </a:rPr>
              <a:t> </a:t>
            </a:r>
            <a:r>
              <a:rPr lang="en-GB" altLang="en-US" sz="1400">
                <a:solidFill>
                  <a:srgbClr val="FFFF00"/>
                </a:solidFill>
                <a:effectLst>
                  <a:outerShdw blurRad="38100" dist="38100" dir="2700000" algn="tl">
                    <a:srgbClr val="000000"/>
                  </a:outerShdw>
                </a:effectLst>
                <a:latin typeface="Arial" charset="0"/>
              </a:rPr>
              <a:t>/</a:t>
            </a:r>
            <a:r>
              <a:rPr lang="en-GB" altLang="en-US" sz="800">
                <a:solidFill>
                  <a:srgbClr val="FFFF00"/>
                </a:solidFill>
                <a:effectLst>
                  <a:outerShdw blurRad="38100" dist="38100" dir="2700000" algn="tl">
                    <a:srgbClr val="000000"/>
                  </a:outerShdw>
                </a:effectLst>
                <a:latin typeface="Arial" charset="0"/>
              </a:rPr>
              <a:t> </a:t>
            </a:r>
            <a:r>
              <a:rPr lang="en-GB" altLang="en-US" sz="1400">
                <a:solidFill>
                  <a:srgbClr val="FFFF00"/>
                </a:solidFill>
                <a:effectLst>
                  <a:outerShdw blurRad="38100" dist="38100" dir="2700000" algn="tl">
                    <a:srgbClr val="000000"/>
                  </a:outerShdw>
                </a:effectLst>
                <a:latin typeface="Arial" charset="0"/>
              </a:rPr>
              <a:t>matrix viscosity contrasts</a:t>
            </a:r>
          </a:p>
        </p:txBody>
      </p:sp>
      <p:sp>
        <p:nvSpPr>
          <p:cNvPr id="242710" name="Text Box 22"/>
          <p:cNvSpPr txBox="1">
            <a:spLocks noChangeArrowheads="1"/>
          </p:cNvSpPr>
          <p:nvPr/>
        </p:nvSpPr>
        <p:spPr bwMode="auto">
          <a:xfrm>
            <a:off x="4660900" y="4584700"/>
            <a:ext cx="727075"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GB" altLang="en-US" sz="1400" i="1">
                <a:solidFill>
                  <a:schemeClr val="bg2"/>
                </a:solidFill>
                <a:effectLst/>
                <a:latin typeface="Symbol" pitchFamily="18" charset="2"/>
              </a:rPr>
              <a:t>h</a:t>
            </a:r>
            <a:r>
              <a:rPr lang="en-GB" altLang="en-US" sz="800" i="1">
                <a:solidFill>
                  <a:schemeClr val="bg2"/>
                </a:solidFill>
                <a:effectLst/>
                <a:latin typeface="Symbol" pitchFamily="18" charset="2"/>
              </a:rPr>
              <a:t> </a:t>
            </a:r>
            <a:r>
              <a:rPr lang="en-GB" altLang="en-US" sz="1400" baseline="-25000">
                <a:solidFill>
                  <a:schemeClr val="bg2"/>
                </a:solidFill>
                <a:effectLst/>
                <a:latin typeface="Arial" charset="0"/>
              </a:rPr>
              <a:t>L </a:t>
            </a:r>
            <a:r>
              <a:rPr lang="en-GB" altLang="en-US" sz="1400">
                <a:solidFill>
                  <a:schemeClr val="bg2"/>
                </a:solidFill>
                <a:effectLst/>
                <a:latin typeface="Arial" charset="0"/>
              </a:rPr>
              <a:t>/</a:t>
            </a:r>
            <a:r>
              <a:rPr lang="en-GB" altLang="en-US" sz="1400" i="1">
                <a:solidFill>
                  <a:schemeClr val="bg2"/>
                </a:solidFill>
                <a:effectLst/>
                <a:latin typeface="Symbol" pitchFamily="18" charset="2"/>
              </a:rPr>
              <a:t>h</a:t>
            </a:r>
            <a:r>
              <a:rPr lang="en-GB" altLang="en-US" sz="800" i="1">
                <a:solidFill>
                  <a:schemeClr val="bg2"/>
                </a:solidFill>
                <a:effectLst/>
                <a:latin typeface="Symbol" pitchFamily="18" charset="2"/>
              </a:rPr>
              <a:t> </a:t>
            </a:r>
            <a:r>
              <a:rPr lang="en-GB" altLang="en-US" sz="1400" baseline="-25000">
                <a:solidFill>
                  <a:schemeClr val="bg2"/>
                </a:solidFill>
                <a:effectLst/>
                <a:latin typeface="Arial" charset="0"/>
              </a:rPr>
              <a:t>M</a:t>
            </a:r>
          </a:p>
        </p:txBody>
      </p:sp>
      <p:sp>
        <p:nvSpPr>
          <p:cNvPr id="242711" name="Text Box 23"/>
          <p:cNvSpPr txBox="1">
            <a:spLocks noChangeArrowheads="1"/>
          </p:cNvSpPr>
          <p:nvPr/>
        </p:nvSpPr>
        <p:spPr bwMode="auto">
          <a:xfrm>
            <a:off x="3155950" y="3840163"/>
            <a:ext cx="2495550" cy="603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20000"/>
              </a:lnSpc>
              <a:spcBef>
                <a:spcPct val="50000"/>
              </a:spcBef>
            </a:pPr>
            <a:r>
              <a:rPr lang="en-GB" altLang="en-US" sz="1400">
                <a:solidFill>
                  <a:srgbClr val="FFFF00"/>
                </a:solidFill>
                <a:effectLst>
                  <a:outerShdw blurRad="38100" dist="38100" dir="2700000" algn="tl">
                    <a:srgbClr val="000000"/>
                  </a:outerShdw>
                </a:effectLst>
                <a:latin typeface="Arial" charset="0"/>
              </a:rPr>
              <a:t>Effect of viscosity contrast on the rate of fold amplification</a:t>
            </a:r>
          </a:p>
        </p:txBody>
      </p:sp>
      <p:sp>
        <p:nvSpPr>
          <p:cNvPr id="242713" name="Text Box 25"/>
          <p:cNvSpPr txBox="1">
            <a:spLocks noChangeArrowheads="1"/>
          </p:cNvSpPr>
          <p:nvPr/>
        </p:nvSpPr>
        <p:spPr bwMode="auto">
          <a:xfrm>
            <a:off x="341313" y="3702050"/>
            <a:ext cx="2474912" cy="714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20000"/>
              </a:lnSpc>
              <a:spcBef>
                <a:spcPct val="50000"/>
              </a:spcBef>
            </a:pPr>
            <a:r>
              <a:rPr lang="en-GB" altLang="en-US" sz="1700">
                <a:effectLst>
                  <a:outerShdw blurRad="38100" dist="38100" dir="2700000" algn="tl">
                    <a:srgbClr val="000000"/>
                  </a:outerShdw>
                </a:effectLst>
                <a:latin typeface="Arial" charset="0"/>
              </a:rPr>
              <a:t>parallel shortening other than buckling)</a:t>
            </a:r>
          </a:p>
        </p:txBody>
      </p:sp>
      <p:pic>
        <p:nvPicPr>
          <p:cNvPr id="242716" name="Picture 28"/>
          <p:cNvPicPr>
            <a:picLocks noGrp="1" noChangeAspect="1" noChangeArrowheads="1"/>
          </p:cNvPicPr>
          <p:nvPr>
            <p:ph sz="quarter" idx="3"/>
          </p:nvPr>
        </p:nvPicPr>
        <p:blipFill>
          <a:blip r:embed="rId4">
            <a:extLst>
              <a:ext uri="{28A0092B-C50C-407E-A947-70E740481C1C}">
                <a14:useLocalDpi xmlns:a14="http://schemas.microsoft.com/office/drawing/2010/main" val="0"/>
              </a:ext>
            </a:extLst>
          </a:blip>
          <a:srcRect/>
          <a:stretch>
            <a:fillRect/>
          </a:stretch>
        </p:blipFill>
        <p:spPr>
          <a:xfrm>
            <a:off x="1222375" y="4548188"/>
            <a:ext cx="4291013" cy="2093912"/>
          </a:xfrm>
          <a:noFill/>
          <a:ln w="38100" cap="flat">
            <a:solidFill>
              <a:schemeClr val="bg2"/>
            </a:solidFill>
            <a:miter lim="800000"/>
            <a:headEnd/>
            <a:tailEnd/>
          </a:ln>
        </p:spPr>
      </p:pic>
    </p:spTree>
  </p:cSld>
  <p:clrMapOvr>
    <a:masterClrMapping/>
  </p:clrMapOvr>
  <p:transition spd="slow"/>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8338" name="Rectangle 2"/>
          <p:cNvSpPr>
            <a:spLocks noGrp="1" noChangeArrowheads="1"/>
          </p:cNvSpPr>
          <p:nvPr>
            <p:ph type="title"/>
          </p:nvPr>
        </p:nvSpPr>
        <p:spPr>
          <a:noFill/>
        </p:spPr>
        <p:txBody>
          <a:bodyPr/>
          <a:lstStyle/>
          <a:p>
            <a:r>
              <a:rPr lang="en-GB" altLang="en-US">
                <a:effectLst/>
              </a:rPr>
              <a:t>The exception – folded pinch-and-swell</a:t>
            </a:r>
          </a:p>
        </p:txBody>
      </p:sp>
      <p:pic>
        <p:nvPicPr>
          <p:cNvPr id="398339" name="Picture 3" descr="3b1"/>
          <p:cNvPicPr>
            <a:picLocks noGrp="1" noChangeAspect="1" noChangeArrowheads="1"/>
          </p:cNvPicPr>
          <p:nvPr>
            <p:ph sz="half" idx="1"/>
          </p:nvPr>
        </p:nvPicPr>
        <p:blipFill>
          <a:blip r:embed="rId3">
            <a:extLst>
              <a:ext uri="{28A0092B-C50C-407E-A947-70E740481C1C}">
                <a14:useLocalDpi xmlns:a14="http://schemas.microsoft.com/office/drawing/2010/main" val="0"/>
              </a:ext>
            </a:extLst>
          </a:blip>
          <a:srcRect/>
          <a:stretch>
            <a:fillRect/>
          </a:stretch>
        </p:blipFill>
        <p:spPr>
          <a:xfrm>
            <a:off x="147638" y="1585913"/>
            <a:ext cx="3281362" cy="1811337"/>
          </a:xfr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367641" name="Text Box 25"/>
          <p:cNvSpPr txBox="1">
            <a:spLocks noChangeArrowheads="1"/>
          </p:cNvSpPr>
          <p:nvPr/>
        </p:nvSpPr>
        <p:spPr bwMode="auto">
          <a:xfrm>
            <a:off x="5067300" y="3554413"/>
            <a:ext cx="3919538" cy="3022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80975" indent="-180975">
              <a:defRPr sz="1600">
                <a:solidFill>
                  <a:schemeClr val="tx1"/>
                </a:solidFill>
                <a:latin typeface="Helvetica" charset="0"/>
              </a:defRPr>
            </a:lvl1pPr>
            <a:lvl2pPr marL="742950" indent="-285750">
              <a:defRPr sz="1600">
                <a:solidFill>
                  <a:schemeClr val="tx1"/>
                </a:solidFill>
                <a:latin typeface="Helvetica" charset="0"/>
              </a:defRPr>
            </a:lvl2pPr>
            <a:lvl3pPr marL="1143000" indent="-228600">
              <a:defRPr sz="1600">
                <a:solidFill>
                  <a:schemeClr val="tx1"/>
                </a:solidFill>
                <a:latin typeface="Helvetica" charset="0"/>
              </a:defRPr>
            </a:lvl3pPr>
            <a:lvl4pPr marL="1600200" indent="-228600">
              <a:defRPr sz="1600">
                <a:solidFill>
                  <a:schemeClr val="tx1"/>
                </a:solidFill>
                <a:latin typeface="Helvetica" charset="0"/>
              </a:defRPr>
            </a:lvl4pPr>
            <a:lvl5pPr marL="2057400" indent="-228600">
              <a:defRPr sz="1600">
                <a:solidFill>
                  <a:schemeClr val="tx1"/>
                </a:solidFill>
                <a:latin typeface="Helvetica" charset="0"/>
              </a:defRPr>
            </a:lvl5pPr>
            <a:lvl6pPr marL="2514600" indent="-228600" eaLnBrk="0" fontAlgn="base" hangingPunct="0">
              <a:spcBef>
                <a:spcPct val="20000"/>
              </a:spcBef>
              <a:spcAft>
                <a:spcPct val="0"/>
              </a:spcAft>
              <a:buClr>
                <a:schemeClr val="accent2"/>
              </a:buClr>
              <a:defRPr sz="1600">
                <a:solidFill>
                  <a:schemeClr val="tx1"/>
                </a:solidFill>
                <a:latin typeface="Helvetica" charset="0"/>
              </a:defRPr>
            </a:lvl6pPr>
            <a:lvl7pPr marL="2971800" indent="-228600" eaLnBrk="0" fontAlgn="base" hangingPunct="0">
              <a:spcBef>
                <a:spcPct val="20000"/>
              </a:spcBef>
              <a:spcAft>
                <a:spcPct val="0"/>
              </a:spcAft>
              <a:buClr>
                <a:schemeClr val="accent2"/>
              </a:buClr>
              <a:defRPr sz="1600">
                <a:solidFill>
                  <a:schemeClr val="tx1"/>
                </a:solidFill>
                <a:latin typeface="Helvetica" charset="0"/>
              </a:defRPr>
            </a:lvl7pPr>
            <a:lvl8pPr marL="3429000" indent="-228600" eaLnBrk="0" fontAlgn="base" hangingPunct="0">
              <a:spcBef>
                <a:spcPct val="20000"/>
              </a:spcBef>
              <a:spcAft>
                <a:spcPct val="0"/>
              </a:spcAft>
              <a:buClr>
                <a:schemeClr val="accent2"/>
              </a:buClr>
              <a:defRPr sz="1600">
                <a:solidFill>
                  <a:schemeClr val="tx1"/>
                </a:solidFill>
                <a:latin typeface="Helvetica" charset="0"/>
              </a:defRPr>
            </a:lvl8pPr>
            <a:lvl9pPr marL="3886200" indent="-228600" eaLnBrk="0" fontAlgn="base" hangingPunct="0">
              <a:spcBef>
                <a:spcPct val="20000"/>
              </a:spcBef>
              <a:spcAft>
                <a:spcPct val="0"/>
              </a:spcAft>
              <a:buClr>
                <a:schemeClr val="accent2"/>
              </a:buClr>
              <a:defRPr sz="1600">
                <a:solidFill>
                  <a:schemeClr val="tx1"/>
                </a:solidFill>
                <a:latin typeface="Helvetica" charset="0"/>
              </a:defRPr>
            </a:lvl9pPr>
          </a:lstStyle>
          <a:p>
            <a:pPr>
              <a:lnSpc>
                <a:spcPct val="120000"/>
              </a:lnSpc>
              <a:spcBef>
                <a:spcPct val="50000"/>
              </a:spcBef>
              <a:buClr>
                <a:schemeClr val="tx1"/>
              </a:buClr>
              <a:buFontTx/>
              <a:buChar char="•"/>
            </a:pPr>
            <a:r>
              <a:rPr lang="en-GB" altLang="en-US" sz="1700" dirty="0">
                <a:effectLst>
                  <a:outerShdw blurRad="38100" dist="38100" dir="2700000" algn="tl">
                    <a:srgbClr val="000000"/>
                  </a:outerShdw>
                </a:effectLst>
                <a:latin typeface="Arial" charset="0"/>
              </a:rPr>
              <a:t>If the layer thickens and thins as in </a:t>
            </a:r>
            <a:r>
              <a:rPr lang="en-GB" altLang="en-US" sz="1700" dirty="0">
                <a:solidFill>
                  <a:srgbClr val="FF6600"/>
                </a:solidFill>
                <a:effectLst>
                  <a:outerShdw blurRad="38100" dist="38100" dir="2700000" algn="tl">
                    <a:srgbClr val="000000"/>
                  </a:outerShdw>
                </a:effectLst>
                <a:latin typeface="Arial" charset="0"/>
              </a:rPr>
              <a:t>pinch-and-swell</a:t>
            </a:r>
            <a:r>
              <a:rPr lang="en-GB" altLang="en-US" sz="1700" dirty="0">
                <a:effectLst>
                  <a:outerShdw blurRad="38100" dist="38100" dir="2700000" algn="tl">
                    <a:srgbClr val="000000"/>
                  </a:outerShdw>
                </a:effectLst>
                <a:latin typeface="Arial" charset="0"/>
              </a:rPr>
              <a:t> then deformation is concentrated in the thin parts and </a:t>
            </a:r>
            <a:r>
              <a:rPr lang="en-GB" altLang="en-US" sz="1700" dirty="0">
                <a:solidFill>
                  <a:srgbClr val="FF66CC"/>
                </a:solidFill>
                <a:effectLst>
                  <a:outerShdw blurRad="38100" dist="38100" dir="2700000" algn="tl">
                    <a:srgbClr val="000000"/>
                  </a:outerShdw>
                </a:effectLst>
                <a:latin typeface="Arial" charset="0"/>
              </a:rPr>
              <a:t>it is the spacing of these that controls the fold wavelength</a:t>
            </a:r>
            <a:r>
              <a:rPr lang="en-GB" altLang="en-US" sz="1700" dirty="0">
                <a:effectLst>
                  <a:outerShdw blurRad="38100" dist="38100" dir="2700000" algn="tl">
                    <a:srgbClr val="000000"/>
                  </a:outerShdw>
                </a:effectLst>
                <a:latin typeface="Arial" charset="0"/>
              </a:rPr>
              <a:t>, not the layer thickness</a:t>
            </a:r>
          </a:p>
          <a:p>
            <a:pPr>
              <a:lnSpc>
                <a:spcPct val="120000"/>
              </a:lnSpc>
              <a:spcBef>
                <a:spcPct val="50000"/>
              </a:spcBef>
              <a:buClr>
                <a:schemeClr val="tx1"/>
              </a:buClr>
              <a:buFontTx/>
              <a:buChar char="•"/>
            </a:pPr>
            <a:r>
              <a:rPr lang="en-US" altLang="en-US" sz="1700" dirty="0">
                <a:effectLst>
                  <a:outerShdw blurRad="38100" dist="38100" dir="2700000" algn="tl">
                    <a:srgbClr val="000000"/>
                  </a:outerShdw>
                </a:effectLst>
                <a:latin typeface="Arial" charset="0"/>
              </a:rPr>
              <a:t>T</a:t>
            </a:r>
            <a:r>
              <a:rPr lang="en-GB" altLang="en-US" sz="1700" dirty="0">
                <a:effectLst>
                  <a:outerShdw blurRad="38100" dist="38100" dir="2700000" algn="tl">
                    <a:srgbClr val="000000"/>
                  </a:outerShdw>
                </a:effectLst>
                <a:latin typeface="Arial" charset="0"/>
              </a:rPr>
              <a:t>he fold wavelength of a </a:t>
            </a:r>
            <a:r>
              <a:rPr lang="en-GB" altLang="en-US" sz="1700" dirty="0" err="1">
                <a:solidFill>
                  <a:srgbClr val="FF6600"/>
                </a:solidFill>
                <a:effectLst>
                  <a:outerShdw blurRad="38100" dist="38100" dir="2700000" algn="tl">
                    <a:srgbClr val="000000"/>
                  </a:outerShdw>
                </a:effectLst>
                <a:latin typeface="Arial" charset="0"/>
              </a:rPr>
              <a:t>boudinaged</a:t>
            </a:r>
            <a:r>
              <a:rPr lang="en-GB" altLang="en-US" sz="1700" dirty="0">
                <a:solidFill>
                  <a:srgbClr val="FF6600"/>
                </a:solidFill>
                <a:effectLst>
                  <a:outerShdw blurRad="38100" dist="38100" dir="2700000" algn="tl">
                    <a:srgbClr val="000000"/>
                  </a:outerShdw>
                </a:effectLst>
                <a:latin typeface="Arial" charset="0"/>
              </a:rPr>
              <a:t> layer </a:t>
            </a:r>
            <a:r>
              <a:rPr lang="en-GB" altLang="en-US" sz="1700" dirty="0">
                <a:effectLst>
                  <a:outerShdw blurRad="38100" dist="38100" dir="2700000" algn="tl">
                    <a:srgbClr val="000000"/>
                  </a:outerShdw>
                </a:effectLst>
                <a:latin typeface="Arial" charset="0"/>
              </a:rPr>
              <a:t>is not, however, controlled by the width of the boudins</a:t>
            </a:r>
          </a:p>
        </p:txBody>
      </p:sp>
      <p:pic>
        <p:nvPicPr>
          <p:cNvPr id="398343" name="Picture 7"/>
          <p:cNvPicPr>
            <a:picLocks noGrp="1" noChangeAspect="1" noChangeArrowheads="1"/>
          </p:cNvPicPr>
          <p:nvPr>
            <p:ph sz="half" idx="2"/>
          </p:nvPr>
        </p:nvPicPr>
        <p:blipFill>
          <a:blip r:embed="rId4">
            <a:extLst>
              <a:ext uri="{28A0092B-C50C-407E-A947-70E740481C1C}">
                <a14:useLocalDpi xmlns:a14="http://schemas.microsoft.com/office/drawing/2010/main" val="0"/>
              </a:ext>
            </a:extLst>
          </a:blip>
          <a:srcRect/>
          <a:stretch>
            <a:fillRect/>
          </a:stretch>
        </p:blipFill>
        <p:spPr>
          <a:xfrm>
            <a:off x="147638" y="922338"/>
            <a:ext cx="3306762" cy="469900"/>
          </a:xfrm>
          <a:noFill/>
          <a:ln w="38100" cap="flat">
            <a:solidFill>
              <a:schemeClr val="bg2"/>
            </a:solidFill>
            <a:miter lim="800000"/>
            <a:headEnd/>
            <a:tailEnd/>
          </a:ln>
        </p:spPr>
      </p:pic>
      <p:pic>
        <p:nvPicPr>
          <p:cNvPr id="11" name="Picture 10">
            <a:extLst>
              <a:ext uri="{FF2B5EF4-FFF2-40B4-BE49-F238E27FC236}">
                <a16:creationId xmlns:a16="http://schemas.microsoft.com/office/drawing/2014/main" id="{F32CD0E3-7548-44D7-835D-492DC373BF97}"/>
              </a:ext>
            </a:extLst>
          </p:cNvPr>
          <p:cNvPicPr>
            <a:picLocks noChangeAspect="1"/>
          </p:cNvPicPr>
          <p:nvPr/>
        </p:nvPicPr>
        <p:blipFill rotWithShape="1">
          <a:blip r:embed="rId5" cstate="print">
            <a:extLst>
              <a:ext uri="{28A0092B-C50C-407E-A947-70E740481C1C}">
                <a14:useLocalDpi xmlns:a14="http://schemas.microsoft.com/office/drawing/2010/main"/>
              </a:ext>
            </a:extLst>
          </a:blip>
          <a:srcRect/>
          <a:stretch/>
        </p:blipFill>
        <p:spPr>
          <a:xfrm>
            <a:off x="3827768" y="935424"/>
            <a:ext cx="5000014" cy="2461826"/>
          </a:xfrm>
          <a:prstGeom prst="rect">
            <a:avLst/>
          </a:prstGeom>
          <a:ln w="38100">
            <a:solidFill>
              <a:schemeClr val="bg2"/>
            </a:solidFill>
          </a:ln>
        </p:spPr>
      </p:pic>
      <p:pic>
        <p:nvPicPr>
          <p:cNvPr id="13" name="Picture 12">
            <a:extLst>
              <a:ext uri="{FF2B5EF4-FFF2-40B4-BE49-F238E27FC236}">
                <a16:creationId xmlns:a16="http://schemas.microsoft.com/office/drawing/2014/main" id="{0D5F3400-2C3D-48B9-8211-6CBC9E927E90}"/>
              </a:ext>
            </a:extLst>
          </p:cNvPr>
          <p:cNvPicPr>
            <a:picLocks noChangeAspect="1"/>
          </p:cNvPicPr>
          <p:nvPr/>
        </p:nvPicPr>
        <p:blipFill rotWithShape="1">
          <a:blip r:embed="rId6" cstate="print">
            <a:extLst>
              <a:ext uri="{28A0092B-C50C-407E-A947-70E740481C1C}">
                <a14:useLocalDpi xmlns:a14="http://schemas.microsoft.com/office/drawing/2010/main"/>
              </a:ext>
            </a:extLst>
          </a:blip>
          <a:srcRect/>
          <a:stretch/>
        </p:blipFill>
        <p:spPr>
          <a:xfrm>
            <a:off x="147638" y="3590925"/>
            <a:ext cx="4750183" cy="3052819"/>
          </a:xfrm>
          <a:prstGeom prst="rect">
            <a:avLst/>
          </a:prstGeom>
          <a:ln w="38100">
            <a:solidFill>
              <a:schemeClr val="bg2"/>
            </a:solidFill>
          </a:ln>
        </p:spPr>
      </p:pic>
    </p:spTree>
    <p:extLst>
      <p:ext uri="{BB962C8B-B14F-4D97-AF65-F5344CB8AC3E}">
        <p14:creationId xmlns:p14="http://schemas.microsoft.com/office/powerpoint/2010/main" val="3996408276"/>
      </p:ext>
    </p:extLst>
  </p:cSld>
  <p:clrMapOvr>
    <a:masterClrMapping/>
  </p:clrMapOvr>
  <p:transition spd="slow"/>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3474" name="Rectangle 2"/>
          <p:cNvSpPr>
            <a:spLocks noGrp="1" noChangeArrowheads="1"/>
          </p:cNvSpPr>
          <p:nvPr>
            <p:ph type="title"/>
          </p:nvPr>
        </p:nvSpPr>
        <p:spPr>
          <a:noFill/>
        </p:spPr>
        <p:txBody>
          <a:bodyPr/>
          <a:lstStyle/>
          <a:p>
            <a:r>
              <a:rPr lang="en-GB" altLang="en-US">
                <a:effectLst/>
              </a:rPr>
              <a:t>Multilayer buckling  1</a:t>
            </a:r>
          </a:p>
        </p:txBody>
      </p:sp>
      <p:sp>
        <p:nvSpPr>
          <p:cNvPr id="233475" name="Rectangle 3"/>
          <p:cNvSpPr>
            <a:spLocks noGrp="1" noChangeArrowheads="1"/>
          </p:cNvSpPr>
          <p:nvPr>
            <p:ph type="body" sz="half" idx="1"/>
          </p:nvPr>
        </p:nvSpPr>
        <p:spPr>
          <a:xfrm>
            <a:off x="112713" y="855663"/>
            <a:ext cx="8950325" cy="714375"/>
          </a:xfrm>
          <a:noFill/>
        </p:spPr>
        <p:txBody>
          <a:bodyPr/>
          <a:lstStyle/>
          <a:p>
            <a:pPr marL="269875" indent="-269875"/>
            <a:r>
              <a:rPr lang="en-GB" altLang="en-US" sz="1700">
                <a:effectLst/>
              </a:rPr>
              <a:t>Most natural folding involves </a:t>
            </a:r>
            <a:r>
              <a:rPr lang="en-GB" altLang="en-US" sz="1700">
                <a:solidFill>
                  <a:srgbClr val="FF6600"/>
                </a:solidFill>
                <a:effectLst/>
              </a:rPr>
              <a:t>multilayers</a:t>
            </a:r>
            <a:r>
              <a:rPr lang="en-GB" altLang="en-US" sz="1700">
                <a:effectLst/>
              </a:rPr>
              <a:t> (</a:t>
            </a:r>
            <a:r>
              <a:rPr lang="en-GB" altLang="en-US" sz="1700" i="1">
                <a:effectLst/>
              </a:rPr>
              <a:t>e.g</a:t>
            </a:r>
            <a:r>
              <a:rPr lang="en-GB" altLang="en-US" sz="1700">
                <a:effectLst/>
              </a:rPr>
              <a:t>., sedimentary sequences) and so the influence that </a:t>
            </a:r>
            <a:r>
              <a:rPr lang="en-GB" altLang="en-US" sz="1700">
                <a:solidFill>
                  <a:srgbClr val="FF66CC"/>
                </a:solidFill>
                <a:effectLst/>
              </a:rPr>
              <a:t>individual</a:t>
            </a:r>
            <a:r>
              <a:rPr lang="en-GB" altLang="en-US" sz="1700">
                <a:effectLst/>
              </a:rPr>
              <a:t> </a:t>
            </a:r>
            <a:r>
              <a:rPr lang="en-GB" altLang="en-US" sz="1700">
                <a:solidFill>
                  <a:srgbClr val="FF66CC"/>
                </a:solidFill>
                <a:effectLst/>
              </a:rPr>
              <a:t>layers exert on each other</a:t>
            </a:r>
            <a:r>
              <a:rPr lang="en-GB" altLang="en-US" sz="1700">
                <a:effectLst/>
              </a:rPr>
              <a:t> during folding needs to be considered</a:t>
            </a:r>
          </a:p>
        </p:txBody>
      </p:sp>
      <p:pic>
        <p:nvPicPr>
          <p:cNvPr id="233484" name="Picture 12" descr="04a"/>
          <p:cNvPicPr>
            <a:picLocks noGrp="1" noChangeAspect="1" noChangeArrowheads="1"/>
          </p:cNvPicPr>
          <p:nvPr>
            <p:ph sz="quarter" idx="2"/>
          </p:nvPr>
        </p:nvPicPr>
        <p:blipFill>
          <a:blip r:embed="rId3">
            <a:extLst>
              <a:ext uri="{28A0092B-C50C-407E-A947-70E740481C1C}">
                <a14:useLocalDpi xmlns:a14="http://schemas.microsoft.com/office/drawing/2010/main" val="0"/>
              </a:ext>
            </a:extLst>
          </a:blip>
          <a:srcRect/>
          <a:stretch>
            <a:fillRect/>
          </a:stretch>
        </p:blipFill>
        <p:spPr>
          <a:xfrm>
            <a:off x="1060450" y="4773613"/>
            <a:ext cx="2262188" cy="1727200"/>
          </a:xfr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233481" name="Rectangle 9"/>
          <p:cNvSpPr>
            <a:spLocks noChangeArrowheads="1"/>
          </p:cNvSpPr>
          <p:nvPr/>
        </p:nvSpPr>
        <p:spPr bwMode="auto">
          <a:xfrm>
            <a:off x="114300" y="1714500"/>
            <a:ext cx="8888413" cy="2667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269875" indent="-269875">
              <a:lnSpc>
                <a:spcPct val="120000"/>
              </a:lnSpc>
              <a:spcBef>
                <a:spcPct val="100000"/>
              </a:spcBef>
              <a:buClr>
                <a:schemeClr val="folHlink"/>
              </a:buClr>
              <a:buSzPct val="100000"/>
              <a:buFont typeface="Times"/>
              <a:buChar char="•"/>
              <a:defRPr>
                <a:solidFill>
                  <a:schemeClr val="tx1"/>
                </a:solidFill>
                <a:latin typeface="Arial" charset="0"/>
              </a:defRPr>
            </a:lvl1pPr>
            <a:lvl2pPr marL="879475" indent="-304800">
              <a:lnSpc>
                <a:spcPct val="120000"/>
              </a:lnSpc>
              <a:spcBef>
                <a:spcPct val="50000"/>
              </a:spcBef>
              <a:buClr>
                <a:schemeClr val="folHlink"/>
              </a:buClr>
              <a:buSzPct val="100000"/>
              <a:buFont typeface="Times"/>
              <a:buChar char="•"/>
              <a:defRPr sz="1600">
                <a:solidFill>
                  <a:schemeClr val="tx1"/>
                </a:solidFill>
                <a:latin typeface="Arial" charset="0"/>
              </a:defRPr>
            </a:lvl2pPr>
            <a:lvl3pPr marL="1317625" indent="-266700">
              <a:spcBef>
                <a:spcPct val="25000"/>
              </a:spcBef>
              <a:buClr>
                <a:schemeClr val="folHlink"/>
              </a:buClr>
              <a:buFont typeface="Times"/>
              <a:buChar char="•"/>
              <a:defRPr sz="1400">
                <a:solidFill>
                  <a:schemeClr val="tx1"/>
                </a:solidFill>
                <a:latin typeface="Arial" charset="0"/>
              </a:defRPr>
            </a:lvl3pPr>
            <a:lvl4pPr marL="1736725" indent="-266700">
              <a:spcBef>
                <a:spcPct val="25000"/>
              </a:spcBef>
              <a:buClr>
                <a:schemeClr val="folHlink"/>
              </a:buClr>
              <a:buFont typeface="Times"/>
              <a:buChar char="•"/>
              <a:defRPr sz="1400">
                <a:solidFill>
                  <a:schemeClr val="tx1"/>
                </a:solidFill>
                <a:latin typeface="Arial" charset="0"/>
              </a:defRPr>
            </a:lvl4pPr>
            <a:lvl5pPr marL="2178050" indent="-266700">
              <a:spcBef>
                <a:spcPct val="25000"/>
              </a:spcBef>
              <a:buClr>
                <a:schemeClr val="folHlink"/>
              </a:buClr>
              <a:buSzPct val="50000"/>
              <a:buFont typeface="Times"/>
              <a:buChar char="•"/>
              <a:defRPr sz="1400">
                <a:solidFill>
                  <a:schemeClr val="tx1"/>
                </a:solidFill>
                <a:latin typeface="Arial" charset="0"/>
              </a:defRPr>
            </a:lvl5pPr>
            <a:lvl6pPr marL="2635250" indent="-266700" eaLnBrk="0" fontAlgn="base" hangingPunct="0">
              <a:spcBef>
                <a:spcPct val="25000"/>
              </a:spcBef>
              <a:spcAft>
                <a:spcPct val="0"/>
              </a:spcAft>
              <a:buClr>
                <a:schemeClr val="folHlink"/>
              </a:buClr>
              <a:buSzPct val="50000"/>
              <a:buFont typeface="Times"/>
              <a:buChar char="•"/>
              <a:defRPr sz="1400">
                <a:solidFill>
                  <a:schemeClr val="tx1"/>
                </a:solidFill>
                <a:latin typeface="Arial" charset="0"/>
              </a:defRPr>
            </a:lvl6pPr>
            <a:lvl7pPr marL="3092450" indent="-266700" eaLnBrk="0" fontAlgn="base" hangingPunct="0">
              <a:spcBef>
                <a:spcPct val="25000"/>
              </a:spcBef>
              <a:spcAft>
                <a:spcPct val="0"/>
              </a:spcAft>
              <a:buClr>
                <a:schemeClr val="folHlink"/>
              </a:buClr>
              <a:buSzPct val="50000"/>
              <a:buFont typeface="Times"/>
              <a:buChar char="•"/>
              <a:defRPr sz="1400">
                <a:solidFill>
                  <a:schemeClr val="tx1"/>
                </a:solidFill>
                <a:latin typeface="Arial" charset="0"/>
              </a:defRPr>
            </a:lvl7pPr>
            <a:lvl8pPr marL="3549650" indent="-266700" eaLnBrk="0" fontAlgn="base" hangingPunct="0">
              <a:spcBef>
                <a:spcPct val="25000"/>
              </a:spcBef>
              <a:spcAft>
                <a:spcPct val="0"/>
              </a:spcAft>
              <a:buClr>
                <a:schemeClr val="folHlink"/>
              </a:buClr>
              <a:buSzPct val="50000"/>
              <a:buFont typeface="Times"/>
              <a:buChar char="•"/>
              <a:defRPr sz="1400">
                <a:solidFill>
                  <a:schemeClr val="tx1"/>
                </a:solidFill>
                <a:latin typeface="Arial" charset="0"/>
              </a:defRPr>
            </a:lvl8pPr>
            <a:lvl9pPr marL="4006850" indent="-266700" eaLnBrk="0" fontAlgn="base" hangingPunct="0">
              <a:spcBef>
                <a:spcPct val="25000"/>
              </a:spcBef>
              <a:spcAft>
                <a:spcPct val="0"/>
              </a:spcAft>
              <a:buClr>
                <a:schemeClr val="folHlink"/>
              </a:buClr>
              <a:buSzPct val="50000"/>
              <a:buFont typeface="Times"/>
              <a:buChar char="•"/>
              <a:defRPr sz="1400">
                <a:solidFill>
                  <a:schemeClr val="tx1"/>
                </a:solidFill>
                <a:latin typeface="Arial" charset="0"/>
              </a:defRPr>
            </a:lvl9pPr>
          </a:lstStyle>
          <a:p>
            <a:pPr>
              <a:buFont typeface="Times"/>
              <a:buAutoNum type="arabicPeriod"/>
            </a:pPr>
            <a:r>
              <a:rPr lang="en-GB" altLang="en-US" sz="1700" dirty="0">
                <a:effectLst/>
              </a:rPr>
              <a:t>If the competent (high viscosity) layers are </a:t>
            </a:r>
            <a:r>
              <a:rPr lang="en-GB" altLang="en-US" sz="1700" dirty="0">
                <a:solidFill>
                  <a:srgbClr val="FF66CC"/>
                </a:solidFill>
                <a:effectLst/>
              </a:rPr>
              <a:t>close together</a:t>
            </a:r>
            <a:r>
              <a:rPr lang="en-GB" altLang="en-US" sz="1700" dirty="0">
                <a:effectLst/>
              </a:rPr>
              <a:t> then they behave collectively as a </a:t>
            </a:r>
            <a:r>
              <a:rPr lang="en-GB" altLang="en-US" sz="1700" dirty="0">
                <a:solidFill>
                  <a:srgbClr val="FF66CC"/>
                </a:solidFill>
                <a:effectLst/>
              </a:rPr>
              <a:t>thick single layer</a:t>
            </a:r>
            <a:r>
              <a:rPr lang="en-GB" altLang="en-US" sz="1700" dirty="0">
                <a:effectLst/>
              </a:rPr>
              <a:t>. This produces long wavelength folds  </a:t>
            </a:r>
            <a:r>
              <a:rPr lang="en-GB" altLang="en-US" sz="1700" dirty="0">
                <a:solidFill>
                  <a:srgbClr val="FF6600"/>
                </a:solidFill>
                <a:effectLst/>
              </a:rPr>
              <a:t>[effective single layer]</a:t>
            </a:r>
          </a:p>
          <a:p>
            <a:pPr>
              <a:spcBef>
                <a:spcPct val="50000"/>
              </a:spcBef>
              <a:buFont typeface="Times"/>
              <a:buAutoNum type="arabicPeriod"/>
            </a:pPr>
            <a:r>
              <a:rPr lang="en-GB" altLang="en-US" sz="1700" dirty="0">
                <a:effectLst/>
              </a:rPr>
              <a:t>If the competent layers are a </a:t>
            </a:r>
            <a:r>
              <a:rPr lang="en-GB" altLang="en-US" sz="1700" dirty="0">
                <a:solidFill>
                  <a:srgbClr val="FF66CC"/>
                </a:solidFill>
                <a:effectLst/>
              </a:rPr>
              <a:t>little further apart</a:t>
            </a:r>
            <a:r>
              <a:rPr lang="en-GB" altLang="en-US" sz="1700" dirty="0">
                <a:effectLst/>
              </a:rPr>
              <a:t> and the layer thickness and spacing are not too variable, then the equation for single layer buckling is modified to</a:t>
            </a:r>
            <a:endParaRPr lang="en-GB" altLang="en-US" sz="1700" dirty="0">
              <a:solidFill>
                <a:srgbClr val="FF6600"/>
              </a:solidFill>
              <a:effectLst/>
            </a:endParaRPr>
          </a:p>
          <a:p>
            <a:pPr algn="ctr">
              <a:spcBef>
                <a:spcPct val="75000"/>
              </a:spcBef>
              <a:buFont typeface="Times"/>
              <a:buNone/>
            </a:pPr>
            <a:r>
              <a:rPr lang="el-GR" altLang="en-US" sz="2000" i="1" dirty="0">
                <a:solidFill>
                  <a:srgbClr val="FFFF00"/>
                </a:solidFill>
                <a:effectLst/>
                <a:latin typeface="Cambria Math" panose="02040503050406030204" pitchFamily="18" charset="0"/>
                <a:ea typeface="Cambria Math" panose="02040503050406030204" pitchFamily="18" charset="0"/>
              </a:rPr>
              <a:t>λ</a:t>
            </a:r>
            <a:r>
              <a:rPr lang="en-GB" altLang="en-US" sz="2000" dirty="0">
                <a:solidFill>
                  <a:srgbClr val="FFFF00"/>
                </a:solidFill>
                <a:effectLst/>
              </a:rPr>
              <a:t>  =  2</a:t>
            </a:r>
            <a:r>
              <a:rPr lang="el-GR" altLang="en-US" sz="2000" i="1" dirty="0">
                <a:solidFill>
                  <a:srgbClr val="FFFF00"/>
                </a:solidFill>
                <a:effectLst/>
                <a:latin typeface="Cambria Math" panose="02040503050406030204" pitchFamily="18" charset="0"/>
                <a:ea typeface="Cambria Math" panose="02040503050406030204" pitchFamily="18" charset="0"/>
              </a:rPr>
              <a:t>π</a:t>
            </a:r>
            <a:r>
              <a:rPr lang="en-GB" altLang="en-US" sz="2000" i="1" dirty="0">
                <a:solidFill>
                  <a:srgbClr val="FFFF00"/>
                </a:solidFill>
                <a:effectLst/>
                <a:latin typeface="Symbol" pitchFamily="18" charset="2"/>
              </a:rPr>
              <a:t> </a:t>
            </a:r>
            <a:r>
              <a:rPr lang="en-GB" altLang="en-US" sz="2000" i="1" dirty="0">
                <a:solidFill>
                  <a:srgbClr val="FFFF00"/>
                </a:solidFill>
                <a:effectLst/>
              </a:rPr>
              <a:t>d </a:t>
            </a:r>
            <a:r>
              <a:rPr lang="en-GB" altLang="en-US" sz="2000" dirty="0">
                <a:solidFill>
                  <a:srgbClr val="FFFF00"/>
                </a:solidFill>
                <a:effectLst/>
              </a:rPr>
              <a:t>[ </a:t>
            </a:r>
            <a:r>
              <a:rPr lang="en-GB" altLang="en-US" sz="2000" i="1" dirty="0">
                <a:solidFill>
                  <a:srgbClr val="FFFF00"/>
                </a:solidFill>
                <a:effectLst/>
              </a:rPr>
              <a:t>N</a:t>
            </a:r>
            <a:r>
              <a:rPr lang="el-GR" altLang="en-US" sz="2000" i="1" dirty="0">
                <a:solidFill>
                  <a:srgbClr val="FFFF00"/>
                </a:solidFill>
                <a:effectLst/>
                <a:latin typeface="Cambria Math" panose="02040503050406030204" pitchFamily="18" charset="0"/>
                <a:ea typeface="Cambria Math" panose="02040503050406030204" pitchFamily="18" charset="0"/>
              </a:rPr>
              <a:t>η</a:t>
            </a:r>
            <a:r>
              <a:rPr lang="en-GB" altLang="en-US" sz="800" i="1" dirty="0">
                <a:solidFill>
                  <a:srgbClr val="FFFF00"/>
                </a:solidFill>
                <a:effectLst/>
                <a:latin typeface="Symbol" pitchFamily="18" charset="2"/>
              </a:rPr>
              <a:t> </a:t>
            </a:r>
            <a:r>
              <a:rPr lang="en-GB" altLang="en-US" sz="2000" baseline="-25000" dirty="0">
                <a:solidFill>
                  <a:srgbClr val="FFFF00"/>
                </a:solidFill>
                <a:effectLst/>
              </a:rPr>
              <a:t>L</a:t>
            </a:r>
            <a:r>
              <a:rPr lang="en-GB" altLang="en-US" sz="2000" dirty="0">
                <a:solidFill>
                  <a:srgbClr val="FFFF00"/>
                </a:solidFill>
                <a:effectLst/>
              </a:rPr>
              <a:t> / (</a:t>
            </a:r>
            <a:r>
              <a:rPr lang="en-GB" altLang="en-US" sz="800" dirty="0">
                <a:solidFill>
                  <a:srgbClr val="FFFF00"/>
                </a:solidFill>
                <a:effectLst/>
              </a:rPr>
              <a:t> </a:t>
            </a:r>
            <a:r>
              <a:rPr lang="en-GB" altLang="en-US" sz="2000" dirty="0">
                <a:solidFill>
                  <a:srgbClr val="FFFF00"/>
                </a:solidFill>
                <a:effectLst/>
              </a:rPr>
              <a:t>6</a:t>
            </a:r>
            <a:r>
              <a:rPr lang="el-GR" altLang="en-US" sz="2000" i="1" dirty="0">
                <a:solidFill>
                  <a:srgbClr val="FFFF00"/>
                </a:solidFill>
                <a:effectLst/>
                <a:latin typeface="Cambria Math" panose="02040503050406030204" pitchFamily="18" charset="0"/>
                <a:ea typeface="Cambria Math" panose="02040503050406030204" pitchFamily="18" charset="0"/>
              </a:rPr>
              <a:t>η</a:t>
            </a:r>
            <a:r>
              <a:rPr lang="en-GB" altLang="en-US" sz="800" i="1" dirty="0">
                <a:solidFill>
                  <a:srgbClr val="FFFF00"/>
                </a:solidFill>
                <a:effectLst/>
                <a:latin typeface="Symbol" pitchFamily="18" charset="2"/>
              </a:rPr>
              <a:t> </a:t>
            </a:r>
            <a:r>
              <a:rPr lang="en-GB" altLang="en-US" sz="2000" baseline="-25000" dirty="0">
                <a:solidFill>
                  <a:srgbClr val="FFFF00"/>
                </a:solidFill>
                <a:effectLst/>
              </a:rPr>
              <a:t>M</a:t>
            </a:r>
            <a:r>
              <a:rPr lang="en-GB" altLang="en-US" sz="800" baseline="-25000" dirty="0">
                <a:solidFill>
                  <a:srgbClr val="FFFF00"/>
                </a:solidFill>
                <a:effectLst/>
              </a:rPr>
              <a:t> </a:t>
            </a:r>
            <a:r>
              <a:rPr lang="en-GB" altLang="en-US" sz="2000" dirty="0">
                <a:solidFill>
                  <a:srgbClr val="FFFF00"/>
                </a:solidFill>
                <a:effectLst/>
              </a:rPr>
              <a:t>) ]</a:t>
            </a:r>
            <a:r>
              <a:rPr lang="en-GB" altLang="en-US" sz="2000" baseline="30000" dirty="0">
                <a:solidFill>
                  <a:srgbClr val="FFFF00"/>
                </a:solidFill>
                <a:effectLst/>
              </a:rPr>
              <a:t>1/3</a:t>
            </a:r>
          </a:p>
          <a:p>
            <a:pPr>
              <a:spcBef>
                <a:spcPct val="75000"/>
              </a:spcBef>
              <a:buFont typeface="Times"/>
              <a:buNone/>
            </a:pPr>
            <a:r>
              <a:rPr lang="en-GB" altLang="en-US" sz="1700" dirty="0">
                <a:effectLst/>
              </a:rPr>
              <a:t>	where </a:t>
            </a:r>
            <a:r>
              <a:rPr lang="en-GB" altLang="en-US" sz="800" dirty="0">
                <a:effectLst/>
              </a:rPr>
              <a:t> </a:t>
            </a:r>
            <a:r>
              <a:rPr lang="en-GB" altLang="en-US" sz="1700" i="1" dirty="0">
                <a:solidFill>
                  <a:srgbClr val="FFFF00"/>
                </a:solidFill>
                <a:effectLst/>
              </a:rPr>
              <a:t>N</a:t>
            </a:r>
            <a:r>
              <a:rPr lang="en-GB" altLang="en-US" sz="800" dirty="0">
                <a:solidFill>
                  <a:srgbClr val="FF66CC"/>
                </a:solidFill>
                <a:effectLst/>
              </a:rPr>
              <a:t> </a:t>
            </a:r>
            <a:r>
              <a:rPr lang="en-GB" altLang="en-US" sz="1700" dirty="0">
                <a:solidFill>
                  <a:srgbClr val="FF66CC"/>
                </a:solidFill>
                <a:effectLst/>
              </a:rPr>
              <a:t> </a:t>
            </a:r>
            <a:r>
              <a:rPr lang="en-GB" altLang="en-US" sz="1700" dirty="0">
                <a:effectLst/>
              </a:rPr>
              <a:t>is the number of competent layers in the package  </a:t>
            </a:r>
            <a:r>
              <a:rPr lang="en-GB" altLang="en-US" sz="1700" dirty="0">
                <a:solidFill>
                  <a:srgbClr val="FF6600"/>
                </a:solidFill>
                <a:effectLst/>
              </a:rPr>
              <a:t>[harmonic folding]</a:t>
            </a:r>
          </a:p>
        </p:txBody>
      </p:sp>
      <p:pic>
        <p:nvPicPr>
          <p:cNvPr id="233486" name="Picture 14" descr="04b"/>
          <p:cNvPicPr>
            <a:picLocks noGrp="1" noChangeAspect="1" noChangeArrowheads="1"/>
          </p:cNvPicPr>
          <p:nvPr>
            <p:ph sz="quarter" idx="3"/>
          </p:nvPr>
        </p:nvPicPr>
        <p:blipFill>
          <a:blip r:embed="rId4">
            <a:extLst>
              <a:ext uri="{28A0092B-C50C-407E-A947-70E740481C1C}">
                <a14:useLocalDpi xmlns:a14="http://schemas.microsoft.com/office/drawing/2010/main" val="0"/>
              </a:ext>
            </a:extLst>
          </a:blip>
          <a:srcRect/>
          <a:stretch>
            <a:fillRect/>
          </a:stretch>
        </p:blipFill>
        <p:spPr>
          <a:xfrm>
            <a:off x="5718175" y="4787900"/>
            <a:ext cx="2390775" cy="1708150"/>
          </a:xfr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233488" name="Text Box 16"/>
          <p:cNvSpPr txBox="1">
            <a:spLocks noChangeArrowheads="1"/>
          </p:cNvSpPr>
          <p:nvPr/>
        </p:nvSpPr>
        <p:spPr bwMode="auto">
          <a:xfrm>
            <a:off x="3389313" y="4927600"/>
            <a:ext cx="2184400" cy="1463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GB" altLang="en-US" sz="1400">
                <a:solidFill>
                  <a:srgbClr val="FFFF00"/>
                </a:solidFill>
                <a:effectLst>
                  <a:outerShdw blurRad="38100" dist="38100" dir="2700000" algn="tl">
                    <a:srgbClr val="000000"/>
                  </a:outerShdw>
                </a:effectLst>
                <a:latin typeface="Arial" charset="0"/>
              </a:rPr>
              <a:t>Effective single layer (left)</a:t>
            </a:r>
          </a:p>
          <a:p>
            <a:pPr>
              <a:spcBef>
                <a:spcPct val="50000"/>
              </a:spcBef>
            </a:pPr>
            <a:endParaRPr lang="en-GB" altLang="en-US">
              <a:solidFill>
                <a:srgbClr val="FFFF00"/>
              </a:solidFill>
              <a:effectLst>
                <a:outerShdw blurRad="38100" dist="38100" dir="2700000" algn="tl">
                  <a:srgbClr val="000000"/>
                </a:outerShdw>
              </a:effectLst>
              <a:latin typeface="Arial" charset="0"/>
            </a:endParaRPr>
          </a:p>
          <a:p>
            <a:pPr>
              <a:spcBef>
                <a:spcPct val="50000"/>
              </a:spcBef>
            </a:pPr>
            <a:r>
              <a:rPr lang="en-GB" altLang="en-US">
                <a:solidFill>
                  <a:srgbClr val="FFFF00"/>
                </a:solidFill>
                <a:effectLst>
                  <a:outerShdw blurRad="38100" dist="38100" dir="2700000" algn="tl">
                    <a:srgbClr val="000000"/>
                  </a:outerShdw>
                </a:effectLst>
                <a:latin typeface="Arial" charset="0"/>
              </a:rPr>
              <a:t>           </a:t>
            </a:r>
            <a:r>
              <a:rPr lang="en-GB" altLang="en-US" sz="1400">
                <a:solidFill>
                  <a:srgbClr val="FFFF00"/>
                </a:solidFill>
                <a:effectLst>
                  <a:outerShdw blurRad="38100" dist="38100" dir="2700000" algn="tl">
                    <a:srgbClr val="000000"/>
                  </a:outerShdw>
                </a:effectLst>
                <a:latin typeface="Arial" charset="0"/>
              </a:rPr>
              <a:t>Harmonic folding</a:t>
            </a:r>
          </a:p>
          <a:p>
            <a:pPr>
              <a:spcBef>
                <a:spcPct val="0"/>
              </a:spcBef>
            </a:pPr>
            <a:r>
              <a:rPr lang="en-GB" altLang="en-US" sz="1400">
                <a:solidFill>
                  <a:srgbClr val="FFFF00"/>
                </a:solidFill>
                <a:effectLst>
                  <a:outerShdw blurRad="38100" dist="38100" dir="2700000" algn="tl">
                    <a:srgbClr val="000000"/>
                  </a:outerShdw>
                </a:effectLst>
                <a:latin typeface="Arial" charset="0"/>
              </a:rPr>
              <a:t>                              (right)</a:t>
            </a:r>
          </a:p>
        </p:txBody>
      </p:sp>
    </p:spTree>
  </p:cSld>
  <p:clrMapOvr>
    <a:masterClrMapping/>
  </p:clrMapOvr>
  <p:transition spd="slow"/>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6790" name="Rectangle 6"/>
          <p:cNvSpPr>
            <a:spLocks noChangeArrowheads="1"/>
          </p:cNvSpPr>
          <p:nvPr/>
        </p:nvSpPr>
        <p:spPr bwMode="auto">
          <a:xfrm>
            <a:off x="114300" y="809625"/>
            <a:ext cx="8888413" cy="2355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269875" indent="-269875">
              <a:lnSpc>
                <a:spcPct val="120000"/>
              </a:lnSpc>
              <a:spcBef>
                <a:spcPct val="100000"/>
              </a:spcBef>
              <a:buClr>
                <a:schemeClr val="folHlink"/>
              </a:buClr>
              <a:buSzPct val="100000"/>
              <a:buFont typeface="Times"/>
              <a:buChar char="•"/>
              <a:defRPr>
                <a:solidFill>
                  <a:schemeClr val="tx1"/>
                </a:solidFill>
                <a:latin typeface="Arial" charset="0"/>
              </a:defRPr>
            </a:lvl1pPr>
            <a:lvl2pPr marL="879475" indent="-304800">
              <a:lnSpc>
                <a:spcPct val="120000"/>
              </a:lnSpc>
              <a:spcBef>
                <a:spcPct val="50000"/>
              </a:spcBef>
              <a:buClr>
                <a:schemeClr val="folHlink"/>
              </a:buClr>
              <a:buSzPct val="100000"/>
              <a:buFont typeface="Times"/>
              <a:buChar char="•"/>
              <a:defRPr sz="1600">
                <a:solidFill>
                  <a:schemeClr val="tx1"/>
                </a:solidFill>
                <a:latin typeface="Arial" charset="0"/>
              </a:defRPr>
            </a:lvl2pPr>
            <a:lvl3pPr marL="1317625" indent="-266700">
              <a:spcBef>
                <a:spcPct val="25000"/>
              </a:spcBef>
              <a:buClr>
                <a:schemeClr val="folHlink"/>
              </a:buClr>
              <a:buFont typeface="Times"/>
              <a:buChar char="•"/>
              <a:defRPr sz="1400">
                <a:solidFill>
                  <a:schemeClr val="tx1"/>
                </a:solidFill>
                <a:latin typeface="Arial" charset="0"/>
              </a:defRPr>
            </a:lvl3pPr>
            <a:lvl4pPr marL="1736725" indent="-266700">
              <a:spcBef>
                <a:spcPct val="25000"/>
              </a:spcBef>
              <a:buClr>
                <a:schemeClr val="folHlink"/>
              </a:buClr>
              <a:buFont typeface="Times"/>
              <a:buChar char="•"/>
              <a:defRPr sz="1400">
                <a:solidFill>
                  <a:schemeClr val="tx1"/>
                </a:solidFill>
                <a:latin typeface="Arial" charset="0"/>
              </a:defRPr>
            </a:lvl4pPr>
            <a:lvl5pPr marL="2178050" indent="-266700">
              <a:spcBef>
                <a:spcPct val="25000"/>
              </a:spcBef>
              <a:buClr>
                <a:schemeClr val="folHlink"/>
              </a:buClr>
              <a:buSzPct val="50000"/>
              <a:buFont typeface="Times"/>
              <a:buChar char="•"/>
              <a:defRPr sz="1400">
                <a:solidFill>
                  <a:schemeClr val="tx1"/>
                </a:solidFill>
                <a:latin typeface="Arial" charset="0"/>
              </a:defRPr>
            </a:lvl5pPr>
            <a:lvl6pPr marL="2635250" indent="-266700" eaLnBrk="0" fontAlgn="base" hangingPunct="0">
              <a:spcBef>
                <a:spcPct val="25000"/>
              </a:spcBef>
              <a:spcAft>
                <a:spcPct val="0"/>
              </a:spcAft>
              <a:buClr>
                <a:schemeClr val="folHlink"/>
              </a:buClr>
              <a:buSzPct val="50000"/>
              <a:buFont typeface="Times"/>
              <a:buChar char="•"/>
              <a:defRPr sz="1400">
                <a:solidFill>
                  <a:schemeClr val="tx1"/>
                </a:solidFill>
                <a:latin typeface="Arial" charset="0"/>
              </a:defRPr>
            </a:lvl6pPr>
            <a:lvl7pPr marL="3092450" indent="-266700" eaLnBrk="0" fontAlgn="base" hangingPunct="0">
              <a:spcBef>
                <a:spcPct val="25000"/>
              </a:spcBef>
              <a:spcAft>
                <a:spcPct val="0"/>
              </a:spcAft>
              <a:buClr>
                <a:schemeClr val="folHlink"/>
              </a:buClr>
              <a:buSzPct val="50000"/>
              <a:buFont typeface="Times"/>
              <a:buChar char="•"/>
              <a:defRPr sz="1400">
                <a:solidFill>
                  <a:schemeClr val="tx1"/>
                </a:solidFill>
                <a:latin typeface="Arial" charset="0"/>
              </a:defRPr>
            </a:lvl7pPr>
            <a:lvl8pPr marL="3549650" indent="-266700" eaLnBrk="0" fontAlgn="base" hangingPunct="0">
              <a:spcBef>
                <a:spcPct val="25000"/>
              </a:spcBef>
              <a:spcAft>
                <a:spcPct val="0"/>
              </a:spcAft>
              <a:buClr>
                <a:schemeClr val="folHlink"/>
              </a:buClr>
              <a:buSzPct val="50000"/>
              <a:buFont typeface="Times"/>
              <a:buChar char="•"/>
              <a:defRPr sz="1400">
                <a:solidFill>
                  <a:schemeClr val="tx1"/>
                </a:solidFill>
                <a:latin typeface="Arial" charset="0"/>
              </a:defRPr>
            </a:lvl8pPr>
            <a:lvl9pPr marL="4006850" indent="-266700" eaLnBrk="0" fontAlgn="base" hangingPunct="0">
              <a:spcBef>
                <a:spcPct val="25000"/>
              </a:spcBef>
              <a:spcAft>
                <a:spcPct val="0"/>
              </a:spcAft>
              <a:buClr>
                <a:schemeClr val="folHlink"/>
              </a:buClr>
              <a:buSzPct val="50000"/>
              <a:buFont typeface="Times"/>
              <a:buChar char="•"/>
              <a:defRPr sz="1400">
                <a:solidFill>
                  <a:schemeClr val="tx1"/>
                </a:solidFill>
                <a:latin typeface="Arial" charset="0"/>
              </a:defRPr>
            </a:lvl9pPr>
          </a:lstStyle>
          <a:p>
            <a:pPr>
              <a:buFont typeface="Times"/>
              <a:buAutoNum type="arabicPeriod" startAt="3"/>
            </a:pPr>
            <a:r>
              <a:rPr lang="en-GB" altLang="en-US" sz="1700">
                <a:effectLst/>
              </a:rPr>
              <a:t>A variant of the harmonic folding case occurs </a:t>
            </a:r>
            <a:r>
              <a:rPr lang="en-GB" altLang="en-US" sz="1700">
                <a:solidFill>
                  <a:srgbClr val="FF66CC"/>
                </a:solidFill>
                <a:effectLst/>
              </a:rPr>
              <a:t>when the competent layers vary markedly in thickness and/or in viscosity contrast with the matrix</a:t>
            </a:r>
            <a:r>
              <a:rPr lang="en-GB" altLang="en-US" sz="1700">
                <a:effectLst/>
              </a:rPr>
              <a:t>. In this case, folds with more than one wavelength develop but the package conforms to the folding geometry of some controlling layer  </a:t>
            </a:r>
            <a:r>
              <a:rPr lang="en-GB" altLang="en-US" sz="1700">
                <a:solidFill>
                  <a:srgbClr val="FF6600"/>
                </a:solidFill>
                <a:effectLst/>
              </a:rPr>
              <a:t>[polyharmonic folding]</a:t>
            </a:r>
          </a:p>
          <a:p>
            <a:pPr>
              <a:buFont typeface="Times"/>
              <a:buAutoNum type="arabicPeriod" startAt="3"/>
            </a:pPr>
            <a:r>
              <a:rPr lang="en-GB" altLang="en-US" sz="1700">
                <a:effectLst/>
              </a:rPr>
              <a:t>If the competent layers are </a:t>
            </a:r>
            <a:r>
              <a:rPr lang="en-GB" altLang="en-US" sz="1700">
                <a:solidFill>
                  <a:srgbClr val="FF66CC"/>
                </a:solidFill>
                <a:effectLst/>
              </a:rPr>
              <a:t>further apart</a:t>
            </a:r>
            <a:r>
              <a:rPr lang="en-GB" altLang="en-US" sz="1700">
                <a:effectLst/>
              </a:rPr>
              <a:t> than each other’s zone of influence (about one wavelength), then each layer folds independently  </a:t>
            </a:r>
            <a:r>
              <a:rPr lang="en-GB" altLang="en-US" sz="1700">
                <a:solidFill>
                  <a:srgbClr val="FF6600"/>
                </a:solidFill>
                <a:effectLst/>
              </a:rPr>
              <a:t>[disharmonic folding]</a:t>
            </a:r>
          </a:p>
        </p:txBody>
      </p:sp>
      <p:sp>
        <p:nvSpPr>
          <p:cNvPr id="246786" name="Rectangle 2"/>
          <p:cNvSpPr>
            <a:spLocks noGrp="1" noChangeArrowheads="1"/>
          </p:cNvSpPr>
          <p:nvPr>
            <p:ph type="title" sz="quarter"/>
          </p:nvPr>
        </p:nvSpPr>
        <p:spPr>
          <a:noFill/>
        </p:spPr>
        <p:txBody>
          <a:bodyPr/>
          <a:lstStyle/>
          <a:p>
            <a:r>
              <a:rPr lang="en-GB" altLang="en-US">
                <a:effectLst/>
              </a:rPr>
              <a:t>Multilayer buckling  2</a:t>
            </a:r>
          </a:p>
        </p:txBody>
      </p:sp>
      <p:pic>
        <p:nvPicPr>
          <p:cNvPr id="246788" name="Picture 4" descr="21b-2"/>
          <p:cNvPicPr>
            <a:picLocks noGrp="1" noChangeAspect="1" noChangeArrowheads="1"/>
          </p:cNvPicPr>
          <p:nvPr>
            <p:ph sz="quarter" idx="2"/>
          </p:nvPr>
        </p:nvPicPr>
        <p:blipFill>
          <a:blip r:embed="rId3">
            <a:extLst>
              <a:ext uri="{28A0092B-C50C-407E-A947-70E740481C1C}">
                <a14:useLocalDpi xmlns:a14="http://schemas.microsoft.com/office/drawing/2010/main" val="0"/>
              </a:ext>
            </a:extLst>
          </a:blip>
          <a:srcRect/>
          <a:stretch>
            <a:fillRect/>
          </a:stretch>
        </p:blipFill>
        <p:spPr>
          <a:xfrm>
            <a:off x="3627438" y="3289300"/>
            <a:ext cx="2990850" cy="2660650"/>
          </a:xfr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246789" name="Picture 5" descr="04"/>
          <p:cNvPicPr>
            <a:picLocks noGrp="1" noChangeAspect="1" noChangeArrowheads="1"/>
          </p:cNvPicPr>
          <p:nvPr>
            <p:ph sz="quarter" idx="3"/>
          </p:nvPr>
        </p:nvPicPr>
        <p:blipFill>
          <a:blip r:embed="rId4">
            <a:extLst>
              <a:ext uri="{28A0092B-C50C-407E-A947-70E740481C1C}">
                <a14:useLocalDpi xmlns:a14="http://schemas.microsoft.com/office/drawing/2010/main" val="0"/>
              </a:ext>
            </a:extLst>
          </a:blip>
          <a:srcRect/>
          <a:stretch>
            <a:fillRect/>
          </a:stretch>
        </p:blipFill>
        <p:spPr>
          <a:xfrm>
            <a:off x="7086600" y="4062413"/>
            <a:ext cx="1658938" cy="1804987"/>
          </a:xfr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246797" name="Picture 13" descr="04d"/>
          <p:cNvPicPr>
            <a:picLocks noGrp="1" noChangeAspect="1" noChangeArrowheads="1"/>
          </p:cNvPicPr>
          <p:nvPr>
            <p:ph sz="quarter" idx="4"/>
          </p:nvPr>
        </p:nvPicPr>
        <p:blipFill>
          <a:blip r:embed="rId5">
            <a:extLst>
              <a:ext uri="{28A0092B-C50C-407E-A947-70E740481C1C}">
                <a14:useLocalDpi xmlns:a14="http://schemas.microsoft.com/office/drawing/2010/main" val="0"/>
              </a:ext>
            </a:extLst>
          </a:blip>
          <a:srcRect/>
          <a:stretch>
            <a:fillRect/>
          </a:stretch>
        </p:blipFill>
        <p:spPr>
          <a:xfrm>
            <a:off x="254000" y="4062413"/>
            <a:ext cx="2884488" cy="1747837"/>
          </a:xfr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246799" name="Text Box 15"/>
          <p:cNvSpPr txBox="1">
            <a:spLocks noChangeArrowheads="1"/>
          </p:cNvSpPr>
          <p:nvPr/>
        </p:nvSpPr>
        <p:spPr bwMode="auto">
          <a:xfrm>
            <a:off x="3594100" y="6015038"/>
            <a:ext cx="3097213" cy="603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20000"/>
              </a:lnSpc>
              <a:spcBef>
                <a:spcPct val="50000"/>
              </a:spcBef>
            </a:pPr>
            <a:r>
              <a:rPr lang="en-GB" altLang="en-US" sz="1400" i="1">
                <a:solidFill>
                  <a:srgbClr val="FFFF00"/>
                </a:solidFill>
                <a:effectLst>
                  <a:outerShdw blurRad="38100" dist="38100" dir="2700000" algn="tl">
                    <a:srgbClr val="000000"/>
                  </a:outerShdw>
                </a:effectLst>
                <a:latin typeface="Arial" charset="0"/>
              </a:rPr>
              <a:t>D</a:t>
            </a:r>
            <a:r>
              <a:rPr lang="en-GB" altLang="en-US" sz="1400">
                <a:solidFill>
                  <a:srgbClr val="FFFF00"/>
                </a:solidFill>
                <a:effectLst>
                  <a:outerShdw blurRad="38100" dist="38100" dir="2700000" algn="tl">
                    <a:srgbClr val="000000"/>
                  </a:outerShdw>
                </a:effectLst>
                <a:latin typeface="Arial" charset="0"/>
              </a:rPr>
              <a:t> is the zone of influence either side of a competent layer</a:t>
            </a:r>
          </a:p>
        </p:txBody>
      </p:sp>
      <p:sp>
        <p:nvSpPr>
          <p:cNvPr id="246801" name="Text Box 17"/>
          <p:cNvSpPr txBox="1">
            <a:spLocks noChangeArrowheads="1"/>
          </p:cNvSpPr>
          <p:nvPr/>
        </p:nvSpPr>
        <p:spPr bwMode="auto">
          <a:xfrm>
            <a:off x="704850" y="5937250"/>
            <a:ext cx="2103438"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GB" altLang="en-US" sz="1400">
                <a:solidFill>
                  <a:srgbClr val="FFFF00"/>
                </a:solidFill>
                <a:effectLst>
                  <a:outerShdw blurRad="38100" dist="38100" dir="2700000" algn="tl">
                    <a:srgbClr val="000000"/>
                  </a:outerShdw>
                </a:effectLst>
                <a:latin typeface="Arial" charset="0"/>
              </a:rPr>
              <a:t>Polyharmonic folding</a:t>
            </a:r>
          </a:p>
        </p:txBody>
      </p:sp>
      <p:sp>
        <p:nvSpPr>
          <p:cNvPr id="246802" name="Text Box 18"/>
          <p:cNvSpPr txBox="1">
            <a:spLocks noChangeArrowheads="1"/>
          </p:cNvSpPr>
          <p:nvPr/>
        </p:nvSpPr>
        <p:spPr bwMode="auto">
          <a:xfrm>
            <a:off x="7029450" y="5980113"/>
            <a:ext cx="1852613"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GB" altLang="en-US" sz="1400">
                <a:solidFill>
                  <a:srgbClr val="FFFF00"/>
                </a:solidFill>
                <a:effectLst>
                  <a:outerShdw blurRad="38100" dist="38100" dir="2700000" algn="tl">
                    <a:srgbClr val="000000"/>
                  </a:outerShdw>
                </a:effectLst>
                <a:latin typeface="Arial" charset="0"/>
              </a:rPr>
              <a:t>Disharmonic folding</a:t>
            </a:r>
          </a:p>
        </p:txBody>
      </p:sp>
    </p:spTree>
  </p:cSld>
  <p:clrMapOvr>
    <a:masterClrMapping/>
  </p:clrMapOvr>
  <p:transition spd="slow"/>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6306" name="Rectangle 2"/>
          <p:cNvSpPr>
            <a:spLocks noGrp="1" noChangeArrowheads="1"/>
          </p:cNvSpPr>
          <p:nvPr>
            <p:ph type="title"/>
          </p:nvPr>
        </p:nvSpPr>
        <p:spPr>
          <a:noFill/>
        </p:spPr>
        <p:txBody>
          <a:bodyPr/>
          <a:lstStyle/>
          <a:p>
            <a:r>
              <a:rPr lang="en-GB" altLang="en-US">
                <a:effectLst/>
              </a:rPr>
              <a:t>Multilayer buckling  3</a:t>
            </a:r>
          </a:p>
        </p:txBody>
      </p:sp>
      <p:sp>
        <p:nvSpPr>
          <p:cNvPr id="226307" name="Rectangle 3"/>
          <p:cNvSpPr>
            <a:spLocks noGrp="1" noChangeArrowheads="1"/>
          </p:cNvSpPr>
          <p:nvPr>
            <p:ph type="body" sz="half" idx="1"/>
          </p:nvPr>
        </p:nvSpPr>
        <p:spPr>
          <a:xfrm>
            <a:off x="158750" y="812800"/>
            <a:ext cx="8785225" cy="1814513"/>
          </a:xfrm>
          <a:noFill/>
        </p:spPr>
        <p:txBody>
          <a:bodyPr/>
          <a:lstStyle/>
          <a:p>
            <a:pPr marL="269875" indent="-269875">
              <a:buFont typeface="Times"/>
              <a:buAutoNum type="arabicPeriod" startAt="5"/>
            </a:pPr>
            <a:r>
              <a:rPr lang="en-GB" altLang="en-US" sz="1700" dirty="0">
                <a:effectLst/>
              </a:rPr>
              <a:t>If the relatively </a:t>
            </a:r>
            <a:r>
              <a:rPr lang="en-GB" altLang="en-US" sz="1700" dirty="0">
                <a:solidFill>
                  <a:srgbClr val="FF66CC"/>
                </a:solidFill>
                <a:effectLst/>
              </a:rPr>
              <a:t>incompetent layers are much thicker</a:t>
            </a:r>
            <a:r>
              <a:rPr lang="en-GB" altLang="en-US" sz="1700" dirty="0">
                <a:effectLst/>
              </a:rPr>
              <a:t> than the competent layers, then the incompetent layers control the large-scale deformation. The thin competent layers take on a form in which the fold wavelengt</a:t>
            </a:r>
            <a:r>
              <a:rPr lang="en-GB" altLang="en-US" sz="1700" spc="300" dirty="0">
                <a:effectLst/>
              </a:rPr>
              <a:t>h/</a:t>
            </a:r>
            <a:r>
              <a:rPr lang="en-GB" altLang="en-US" sz="1700" dirty="0">
                <a:effectLst/>
              </a:rPr>
              <a:t>layer thickness relationships are quite regular, but the orientation of the fold </a:t>
            </a:r>
            <a:r>
              <a:rPr lang="en-GB" altLang="en-US" sz="1700" dirty="0">
                <a:solidFill>
                  <a:srgbClr val="FF66CC"/>
                </a:solidFill>
                <a:effectLst/>
              </a:rPr>
              <a:t>axial surfaces varies greatly</a:t>
            </a:r>
            <a:r>
              <a:rPr lang="en-GB" altLang="en-US" sz="1700" dirty="0">
                <a:effectLst/>
              </a:rPr>
              <a:t>. This form of disharmonic folding is described as </a:t>
            </a:r>
            <a:r>
              <a:rPr lang="en-GB" altLang="en-US" sz="1700" dirty="0">
                <a:solidFill>
                  <a:srgbClr val="FF6600"/>
                </a:solidFill>
                <a:effectLst/>
              </a:rPr>
              <a:t>ptygmatic folding</a:t>
            </a:r>
            <a:endParaRPr lang="en-GB" altLang="en-US" sz="1700" dirty="0">
              <a:effectLst/>
            </a:endParaRPr>
          </a:p>
        </p:txBody>
      </p:sp>
      <p:pic>
        <p:nvPicPr>
          <p:cNvPr id="226308" name="Picture 4" descr="04f"/>
          <p:cNvPicPr>
            <a:picLocks noGrp="1" noChangeAspect="1" noChangeArrowheads="1"/>
          </p:cNvPicPr>
          <p:nvPr>
            <p:ph sz="quarter" idx="2"/>
          </p:nvPr>
        </p:nvPicPr>
        <p:blipFill>
          <a:blip r:embed="rId3">
            <a:extLst>
              <a:ext uri="{28A0092B-C50C-407E-A947-70E740481C1C}">
                <a14:useLocalDpi xmlns:a14="http://schemas.microsoft.com/office/drawing/2010/main" val="0"/>
              </a:ext>
            </a:extLst>
          </a:blip>
          <a:srcRect/>
          <a:stretch>
            <a:fillRect/>
          </a:stretch>
        </p:blipFill>
        <p:spPr>
          <a:xfrm>
            <a:off x="209550" y="2720975"/>
            <a:ext cx="1662113" cy="2874963"/>
          </a:xfr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226312" name="Picture 8" descr="04g-ptygmatic"/>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82800" y="2720975"/>
            <a:ext cx="6853238" cy="3670300"/>
          </a:xfrm>
          <a:prstGeom prst="rect">
            <a:avLst/>
          </a:prstGeo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p:transition spd="slow"/>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2930" name="Rectangle 2"/>
          <p:cNvSpPr>
            <a:spLocks noGrp="1" noChangeArrowheads="1"/>
          </p:cNvSpPr>
          <p:nvPr>
            <p:ph type="title"/>
          </p:nvPr>
        </p:nvSpPr>
        <p:spPr>
          <a:noFill/>
        </p:spPr>
        <p:txBody>
          <a:bodyPr/>
          <a:lstStyle/>
          <a:p>
            <a:r>
              <a:rPr lang="en-GB" altLang="en-US">
                <a:effectLst/>
              </a:rPr>
              <a:t>Multilayer buckling  (accommodation structures  1)</a:t>
            </a:r>
          </a:p>
        </p:txBody>
      </p:sp>
      <p:sp>
        <p:nvSpPr>
          <p:cNvPr id="252931" name="Rectangle 3"/>
          <p:cNvSpPr>
            <a:spLocks noGrp="1" noChangeArrowheads="1"/>
          </p:cNvSpPr>
          <p:nvPr>
            <p:ph type="body" sz="half" idx="1"/>
          </p:nvPr>
        </p:nvSpPr>
        <p:spPr>
          <a:xfrm>
            <a:off x="131763" y="812800"/>
            <a:ext cx="4816475" cy="5873750"/>
          </a:xfrm>
          <a:noFill/>
        </p:spPr>
        <p:txBody>
          <a:bodyPr/>
          <a:lstStyle/>
          <a:p>
            <a:pPr marL="182563" indent="-182563">
              <a:spcBef>
                <a:spcPct val="75000"/>
              </a:spcBef>
            </a:pPr>
            <a:r>
              <a:rPr lang="en-GB" altLang="en-US" sz="1700" dirty="0">
                <a:effectLst/>
              </a:rPr>
              <a:t>The </a:t>
            </a:r>
            <a:r>
              <a:rPr lang="en-GB" altLang="en-US" sz="1700" dirty="0">
                <a:solidFill>
                  <a:srgbClr val="FF66CC"/>
                </a:solidFill>
                <a:effectLst/>
              </a:rPr>
              <a:t>resistance to buckling </a:t>
            </a:r>
            <a:r>
              <a:rPr lang="en-GB" altLang="en-US" sz="1700" dirty="0">
                <a:effectLst/>
              </a:rPr>
              <a:t>is proportional to layer</a:t>
            </a:r>
            <a:r>
              <a:rPr lang="en-GB" altLang="en-US" sz="1700" dirty="0">
                <a:solidFill>
                  <a:srgbClr val="FF66CC"/>
                </a:solidFill>
                <a:effectLst/>
              </a:rPr>
              <a:t> thickness cubed </a:t>
            </a:r>
            <a:r>
              <a:rPr lang="en-GB" altLang="en-US" sz="1700" dirty="0">
                <a:effectLst/>
              </a:rPr>
              <a:t>and so</a:t>
            </a:r>
            <a:r>
              <a:rPr lang="en-GB" altLang="en-US" sz="1700" dirty="0">
                <a:solidFill>
                  <a:srgbClr val="FF66CC"/>
                </a:solidFill>
                <a:effectLst/>
              </a:rPr>
              <a:t> </a:t>
            </a:r>
            <a:r>
              <a:rPr lang="en-GB" altLang="en-US" sz="1700" dirty="0">
                <a:effectLst/>
              </a:rPr>
              <a:t>anomalously thick layers control the buckling response of the whole multilayer  </a:t>
            </a:r>
            <a:r>
              <a:rPr lang="en-GB" altLang="en-US" sz="1700" dirty="0">
                <a:effectLst/>
                <a:cs typeface="Arial" charset="0"/>
              </a:rPr>
              <a:t>→ </a:t>
            </a:r>
            <a:r>
              <a:rPr lang="en-GB" altLang="en-US" sz="1700" dirty="0">
                <a:effectLst/>
              </a:rPr>
              <a:t> the fold wavelength of the multilayer is given by that of the thick layer, and all other layers adjust to its shape</a:t>
            </a:r>
          </a:p>
          <a:p>
            <a:pPr marL="182563" indent="-182563">
              <a:spcBef>
                <a:spcPct val="75000"/>
              </a:spcBef>
            </a:pPr>
            <a:r>
              <a:rPr lang="en-GB" altLang="en-US" sz="1700" dirty="0">
                <a:effectLst/>
              </a:rPr>
              <a:t>This, and the ptygmatic folding case, are examples of a more general situation in which layers with thickness and/or viscosity characteristics that mean that they start to </a:t>
            </a:r>
            <a:r>
              <a:rPr lang="en-GB" altLang="en-US" sz="1700" dirty="0">
                <a:solidFill>
                  <a:srgbClr val="FF66CC"/>
                </a:solidFill>
                <a:effectLst/>
              </a:rPr>
              <a:t>fold early</a:t>
            </a:r>
            <a:r>
              <a:rPr lang="en-GB" altLang="en-US" sz="1700" dirty="0">
                <a:effectLst/>
              </a:rPr>
              <a:t> and come to have </a:t>
            </a:r>
            <a:r>
              <a:rPr lang="en-GB" altLang="en-US" sz="1700" dirty="0">
                <a:solidFill>
                  <a:srgbClr val="FF66CC"/>
                </a:solidFill>
                <a:effectLst/>
              </a:rPr>
              <a:t>limbs that are too long or short</a:t>
            </a:r>
            <a:r>
              <a:rPr lang="en-GB" altLang="en-US" sz="1700" dirty="0">
                <a:effectLst/>
              </a:rPr>
              <a:t> for the ultimate fold shape, are forced to adjust when the </a:t>
            </a:r>
            <a:r>
              <a:rPr lang="en-GB" altLang="en-US" sz="1700" dirty="0">
                <a:solidFill>
                  <a:srgbClr val="FF66CC"/>
                </a:solidFill>
                <a:effectLst/>
              </a:rPr>
              <a:t>controlling layer</a:t>
            </a:r>
            <a:r>
              <a:rPr lang="en-GB" altLang="en-US" sz="1700" dirty="0">
                <a:effectLst/>
              </a:rPr>
              <a:t> starts to buckle</a:t>
            </a:r>
          </a:p>
          <a:p>
            <a:pPr marL="182563" indent="-182563">
              <a:spcBef>
                <a:spcPct val="75000"/>
              </a:spcBef>
            </a:pPr>
            <a:r>
              <a:rPr lang="en-GB" altLang="en-US" sz="1700" dirty="0">
                <a:effectLst/>
              </a:rPr>
              <a:t>The structures that form to allow this adjustment are described as </a:t>
            </a:r>
            <a:r>
              <a:rPr lang="en-GB" altLang="en-US" sz="1700" dirty="0">
                <a:solidFill>
                  <a:srgbClr val="FF6600"/>
                </a:solidFill>
                <a:effectLst/>
              </a:rPr>
              <a:t>accommodation structures</a:t>
            </a:r>
            <a:endParaRPr lang="en-GB" altLang="en-US" sz="1700" dirty="0">
              <a:effectLst/>
            </a:endParaRPr>
          </a:p>
        </p:txBody>
      </p:sp>
      <p:pic>
        <p:nvPicPr>
          <p:cNvPr id="252934" name="Picture 6" descr="05b-Hartland"/>
          <p:cNvPicPr>
            <a:picLocks noGrp="1" noChangeAspect="1" noChangeArrowheads="1"/>
          </p:cNvPicPr>
          <p:nvPr>
            <p:ph sz="quarter" idx="3"/>
          </p:nvPr>
        </p:nvPicPr>
        <p:blipFill>
          <a:blip r:embed="rId3">
            <a:lum bright="-6000"/>
            <a:extLst>
              <a:ext uri="{28A0092B-C50C-407E-A947-70E740481C1C}">
                <a14:useLocalDpi xmlns:a14="http://schemas.microsoft.com/office/drawing/2010/main" val="0"/>
              </a:ext>
            </a:extLst>
          </a:blip>
          <a:srcRect/>
          <a:stretch>
            <a:fillRect/>
          </a:stretch>
        </p:blipFill>
        <p:spPr>
          <a:xfrm>
            <a:off x="5408613" y="946150"/>
            <a:ext cx="3381375" cy="4410075"/>
          </a:xfr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252932" name="Picture 4" descr="05a"/>
          <p:cNvPicPr>
            <a:picLocks noGrp="1" noChangeAspect="1" noChangeArrowheads="1"/>
          </p:cNvPicPr>
          <p:nvPr>
            <p:ph sz="quarter" idx="2"/>
          </p:nvPr>
        </p:nvPicPr>
        <p:blipFill>
          <a:blip r:embed="rId4">
            <a:extLst>
              <a:ext uri="{28A0092B-C50C-407E-A947-70E740481C1C}">
                <a14:useLocalDpi xmlns:a14="http://schemas.microsoft.com/office/drawing/2010/main" val="0"/>
              </a:ext>
            </a:extLst>
          </a:blip>
          <a:srcRect/>
          <a:stretch>
            <a:fillRect/>
          </a:stretch>
        </p:blipFill>
        <p:spPr>
          <a:xfrm>
            <a:off x="7172325" y="4992688"/>
            <a:ext cx="1482725" cy="1646237"/>
          </a:xfr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252936" name="Text Box 8"/>
          <p:cNvSpPr txBox="1">
            <a:spLocks noChangeArrowheads="1"/>
          </p:cNvSpPr>
          <p:nvPr/>
        </p:nvSpPr>
        <p:spPr bwMode="auto">
          <a:xfrm>
            <a:off x="5484813" y="5643563"/>
            <a:ext cx="1560512" cy="603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20000"/>
              </a:lnSpc>
              <a:spcBef>
                <a:spcPct val="50000"/>
              </a:spcBef>
            </a:pPr>
            <a:r>
              <a:rPr lang="en-GB" altLang="en-US" sz="1400">
                <a:solidFill>
                  <a:srgbClr val="FFFF00"/>
                </a:solidFill>
                <a:effectLst>
                  <a:outerShdw blurRad="38100" dist="38100" dir="2700000" algn="tl">
                    <a:srgbClr val="000000"/>
                  </a:outerShdw>
                </a:effectLst>
                <a:latin typeface="Arial" charset="0"/>
              </a:rPr>
              <a:t>Keel-like hinge (hinge-collapse)</a:t>
            </a:r>
          </a:p>
        </p:txBody>
      </p:sp>
    </p:spTree>
  </p:cSld>
  <p:clrMapOvr>
    <a:masterClrMapping/>
  </p:clrMapOvr>
  <p:transition spd="slow"/>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7026" name="Rectangle 2"/>
          <p:cNvSpPr>
            <a:spLocks noGrp="1" noChangeArrowheads="1"/>
          </p:cNvSpPr>
          <p:nvPr>
            <p:ph type="title" sz="quarter"/>
          </p:nvPr>
        </p:nvSpPr>
        <p:spPr>
          <a:noFill/>
        </p:spPr>
        <p:txBody>
          <a:bodyPr/>
          <a:lstStyle/>
          <a:p>
            <a:r>
              <a:rPr lang="en-GB" altLang="en-US">
                <a:effectLst/>
              </a:rPr>
              <a:t>Multilayer buckling  (accommodation structures  2)</a:t>
            </a:r>
          </a:p>
        </p:txBody>
      </p:sp>
      <p:pic>
        <p:nvPicPr>
          <p:cNvPr id="257030" name="Picture 6" descr="05d-San Andreas Fault fold detail, Palmdale, CA"/>
          <p:cNvPicPr>
            <a:picLocks noGrp="1" noChangeAspect="1" noChangeArrowheads="1"/>
          </p:cNvPicPr>
          <p:nvPr>
            <p:ph sz="quarter" idx="1"/>
          </p:nvPr>
        </p:nvPicPr>
        <p:blipFill>
          <a:blip r:embed="rId3">
            <a:extLst>
              <a:ext uri="{28A0092B-C50C-407E-A947-70E740481C1C}">
                <a14:useLocalDpi xmlns:a14="http://schemas.microsoft.com/office/drawing/2010/main" val="0"/>
              </a:ext>
            </a:extLst>
          </a:blip>
          <a:srcRect/>
          <a:stretch>
            <a:fillRect/>
          </a:stretch>
        </p:blipFill>
        <p:spPr>
          <a:xfrm>
            <a:off x="223838" y="863600"/>
            <a:ext cx="3230562" cy="4865688"/>
          </a:xfr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257028" name="Picture 4" descr="05a"/>
          <p:cNvPicPr>
            <a:picLocks noGrp="1" noChangeAspect="1" noChangeArrowheads="1"/>
          </p:cNvPicPr>
          <p:nvPr>
            <p:ph sz="quarter" idx="2"/>
          </p:nvPr>
        </p:nvPicPr>
        <p:blipFill>
          <a:blip r:embed="rId4" cstate="print">
            <a:extLst>
              <a:ext uri="{28A0092B-C50C-407E-A947-70E740481C1C}">
                <a14:useLocalDpi xmlns:a14="http://schemas.microsoft.com/office/drawing/2010/main" val="0"/>
              </a:ext>
            </a:extLst>
          </a:blip>
          <a:srcRect l="52484" t="2318" r="1877" b="43225"/>
          <a:stretch>
            <a:fillRect/>
          </a:stretch>
        </p:blipFill>
        <p:spPr>
          <a:xfrm>
            <a:off x="2409825" y="5157788"/>
            <a:ext cx="1438275" cy="1541462"/>
          </a:xfr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257036" name="Picture 12" descr="05a"/>
          <p:cNvPicPr>
            <a:picLocks noChangeAspect="1" noChangeArrowheads="1"/>
          </p:cNvPicPr>
          <p:nvPr/>
        </p:nvPicPr>
        <p:blipFill>
          <a:blip r:embed="rId5" cstate="print">
            <a:extLst>
              <a:ext uri="{28A0092B-C50C-407E-A947-70E740481C1C}">
                <a14:useLocalDpi xmlns:a14="http://schemas.microsoft.com/office/drawing/2010/main" val="0"/>
              </a:ext>
            </a:extLst>
          </a:blip>
          <a:srcRect l="51158" t="59192" r="3415"/>
          <a:stretch>
            <a:fillRect/>
          </a:stretch>
        </p:blipFill>
        <p:spPr bwMode="auto">
          <a:xfrm>
            <a:off x="4500563" y="5268913"/>
            <a:ext cx="1504950" cy="1447800"/>
          </a:xfrm>
          <a:prstGeom prst="rect">
            <a:avLst/>
          </a:prstGeom>
          <a:noFill/>
          <a:ln w="38100">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257037" name="Text Box 13"/>
          <p:cNvSpPr txBox="1">
            <a:spLocks noChangeArrowheads="1"/>
          </p:cNvSpPr>
          <p:nvPr/>
        </p:nvSpPr>
        <p:spPr bwMode="auto">
          <a:xfrm>
            <a:off x="293688" y="5834063"/>
            <a:ext cx="1765300" cy="558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10000"/>
              </a:lnSpc>
              <a:spcBef>
                <a:spcPct val="50000"/>
              </a:spcBef>
            </a:pPr>
            <a:r>
              <a:rPr lang="en-GB" altLang="en-US" sz="1400">
                <a:solidFill>
                  <a:srgbClr val="FFFF00"/>
                </a:solidFill>
                <a:effectLst>
                  <a:outerShdw blurRad="38100" dist="38100" dir="2700000" algn="tl">
                    <a:srgbClr val="000000"/>
                  </a:outerShdw>
                </a:effectLst>
                <a:latin typeface="Arial" charset="0"/>
              </a:rPr>
              <a:t>Reverse faulting in the hinge</a:t>
            </a:r>
          </a:p>
        </p:txBody>
      </p:sp>
      <p:sp>
        <p:nvSpPr>
          <p:cNvPr id="257038" name="Text Box 14"/>
          <p:cNvSpPr txBox="1">
            <a:spLocks noChangeArrowheads="1"/>
          </p:cNvSpPr>
          <p:nvPr/>
        </p:nvSpPr>
        <p:spPr bwMode="auto">
          <a:xfrm>
            <a:off x="4972050" y="4429125"/>
            <a:ext cx="1819275"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GB" altLang="en-US" sz="1400">
                <a:solidFill>
                  <a:srgbClr val="FFFF00"/>
                </a:solidFill>
                <a:effectLst>
                  <a:outerShdw blurRad="38100" dist="38100" dir="2700000" algn="tl">
                    <a:srgbClr val="000000"/>
                  </a:outerShdw>
                </a:effectLst>
                <a:latin typeface="Arial" charset="0"/>
              </a:rPr>
              <a:t>Hinge thrust over</a:t>
            </a:r>
          </a:p>
        </p:txBody>
      </p:sp>
      <p:sp>
        <p:nvSpPr>
          <p:cNvPr id="257039" name="Text Box 15"/>
          <p:cNvSpPr txBox="1">
            <a:spLocks noChangeArrowheads="1"/>
          </p:cNvSpPr>
          <p:nvPr/>
        </p:nvSpPr>
        <p:spPr bwMode="auto">
          <a:xfrm>
            <a:off x="6143625" y="6311900"/>
            <a:ext cx="1693863"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GB" altLang="en-US" sz="1400">
                <a:solidFill>
                  <a:srgbClr val="FFFF00"/>
                </a:solidFill>
                <a:effectLst>
                  <a:outerShdw blurRad="38100" dist="38100" dir="2700000" algn="tl">
                    <a:srgbClr val="000000"/>
                  </a:outerShdw>
                </a:effectLst>
                <a:latin typeface="Arial" charset="0"/>
              </a:rPr>
              <a:t>Boudinaged limb</a:t>
            </a:r>
          </a:p>
        </p:txBody>
      </p:sp>
      <p:pic>
        <p:nvPicPr>
          <p:cNvPr id="257040" name="Picture 16" descr="05c-StJacques"/>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706813" y="858838"/>
            <a:ext cx="5238750" cy="3479800"/>
          </a:xfrm>
          <a:prstGeom prst="rect">
            <a:avLst/>
          </a:prstGeo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Lst>
        </p:spPr>
      </p:pic>
      <p:pic>
        <p:nvPicPr>
          <p:cNvPr id="257034" name="Picture 10" descr="05a"/>
          <p:cNvPicPr>
            <a:picLocks noGrp="1" noChangeAspect="1" noChangeArrowheads="1"/>
          </p:cNvPicPr>
          <p:nvPr>
            <p:ph sz="quarter" idx="4"/>
          </p:nvPr>
        </p:nvPicPr>
        <p:blipFill>
          <a:blip r:embed="rId5" cstate="print">
            <a:extLst>
              <a:ext uri="{28A0092B-C50C-407E-A947-70E740481C1C}">
                <a14:useLocalDpi xmlns:a14="http://schemas.microsoft.com/office/drawing/2010/main" val="0"/>
              </a:ext>
            </a:extLst>
          </a:blip>
          <a:srcRect l="2379" t="57346" r="50824"/>
          <a:stretch>
            <a:fillRect/>
          </a:stretch>
        </p:blipFill>
        <p:spPr>
          <a:xfrm>
            <a:off x="7138988" y="4186238"/>
            <a:ext cx="1484312" cy="1590675"/>
          </a:xfr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spTree>
  </p:cSld>
  <p:clrMapOvr>
    <a:masterClrMapping/>
  </p:clrMapOvr>
  <p:transition spd="slow"/>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1906" name="Rectangle 2"/>
          <p:cNvSpPr>
            <a:spLocks noGrp="1" noChangeArrowheads="1"/>
          </p:cNvSpPr>
          <p:nvPr>
            <p:ph type="title"/>
          </p:nvPr>
        </p:nvSpPr>
        <p:spPr>
          <a:noFill/>
        </p:spPr>
        <p:txBody>
          <a:bodyPr/>
          <a:lstStyle/>
          <a:p>
            <a:r>
              <a:rPr lang="en-GB" altLang="en-US">
                <a:effectLst/>
              </a:rPr>
              <a:t>Buckling anisotropic rocks  1</a:t>
            </a:r>
          </a:p>
        </p:txBody>
      </p:sp>
      <p:sp>
        <p:nvSpPr>
          <p:cNvPr id="251907" name="Rectangle 3"/>
          <p:cNvSpPr>
            <a:spLocks noGrp="1" noChangeArrowheads="1"/>
          </p:cNvSpPr>
          <p:nvPr>
            <p:ph type="body" sz="half" idx="1"/>
          </p:nvPr>
        </p:nvSpPr>
        <p:spPr>
          <a:xfrm>
            <a:off x="150813" y="774700"/>
            <a:ext cx="8842375" cy="2703513"/>
          </a:xfrm>
          <a:noFill/>
        </p:spPr>
        <p:txBody>
          <a:bodyPr/>
          <a:lstStyle/>
          <a:p>
            <a:pPr marL="182563" indent="-182563"/>
            <a:r>
              <a:rPr lang="en-GB" altLang="en-US" sz="1700" dirty="0">
                <a:effectLst/>
              </a:rPr>
              <a:t>Modelling the buckling behaviour of multilayers may be carried out by treating the individual layers as </a:t>
            </a:r>
            <a:r>
              <a:rPr lang="en-GB" altLang="en-US" sz="1700" dirty="0">
                <a:solidFill>
                  <a:srgbClr val="FF66CC"/>
                </a:solidFill>
                <a:effectLst/>
              </a:rPr>
              <a:t>separate entities and by then predicting how the layers interact</a:t>
            </a:r>
            <a:r>
              <a:rPr lang="en-GB" altLang="en-US" sz="1700" dirty="0">
                <a:effectLst/>
              </a:rPr>
              <a:t> when the multilayer is compressed along the layering (the perspective of the last few slides)</a:t>
            </a:r>
          </a:p>
          <a:p>
            <a:pPr marL="182563" indent="-182563">
              <a:spcBef>
                <a:spcPct val="75000"/>
              </a:spcBef>
            </a:pPr>
            <a:r>
              <a:rPr lang="en-GB" altLang="en-US" sz="1700" dirty="0">
                <a:effectLst/>
              </a:rPr>
              <a:t>Alternatively, one can model buckling by treating the multilayer as a statistically homogeneous but mechanically </a:t>
            </a:r>
            <a:r>
              <a:rPr lang="en-GB" altLang="en-US" sz="1700" dirty="0">
                <a:solidFill>
                  <a:srgbClr val="FF6600"/>
                </a:solidFill>
                <a:effectLst/>
              </a:rPr>
              <a:t>anisotropic</a:t>
            </a:r>
            <a:r>
              <a:rPr lang="en-GB" altLang="en-US" sz="1700" dirty="0">
                <a:effectLst/>
              </a:rPr>
              <a:t> material</a:t>
            </a:r>
          </a:p>
          <a:p>
            <a:pPr marL="182563" indent="-182563">
              <a:spcBef>
                <a:spcPct val="75000"/>
              </a:spcBef>
            </a:pPr>
            <a:r>
              <a:rPr lang="en-GB" altLang="en-US" sz="1700" dirty="0">
                <a:effectLst/>
              </a:rPr>
              <a:t>In this case, by anisotropic we mean that the </a:t>
            </a:r>
            <a:r>
              <a:rPr lang="en-GB" altLang="en-US" sz="1700" dirty="0">
                <a:solidFill>
                  <a:srgbClr val="FF66CC"/>
                </a:solidFill>
                <a:effectLst/>
              </a:rPr>
              <a:t>resistance to shearing</a:t>
            </a:r>
            <a:r>
              <a:rPr lang="en-GB" altLang="en-US" sz="1700" dirty="0">
                <a:effectLst/>
              </a:rPr>
              <a:t> is different to the </a:t>
            </a:r>
            <a:r>
              <a:rPr lang="en-GB" altLang="en-US" sz="1700" dirty="0">
                <a:solidFill>
                  <a:srgbClr val="FF66CC"/>
                </a:solidFill>
                <a:effectLst/>
              </a:rPr>
              <a:t>resistance to compression</a:t>
            </a:r>
          </a:p>
        </p:txBody>
      </p:sp>
      <p:sp>
        <p:nvSpPr>
          <p:cNvPr id="251910" name="Text Box 6"/>
          <p:cNvSpPr txBox="1">
            <a:spLocks noChangeArrowheads="1"/>
          </p:cNvSpPr>
          <p:nvPr/>
        </p:nvSpPr>
        <p:spPr bwMode="auto">
          <a:xfrm>
            <a:off x="4249738" y="3638550"/>
            <a:ext cx="4732337" cy="2774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82563" indent="-182563">
              <a:defRPr sz="1600">
                <a:solidFill>
                  <a:schemeClr val="tx1"/>
                </a:solidFill>
                <a:latin typeface="Helvetica" charset="0"/>
              </a:defRPr>
            </a:lvl1pPr>
            <a:lvl2pPr>
              <a:defRPr sz="1600">
                <a:solidFill>
                  <a:schemeClr val="tx1"/>
                </a:solidFill>
                <a:latin typeface="Helvetica" charset="0"/>
              </a:defRPr>
            </a:lvl2pPr>
            <a:lvl3pPr>
              <a:defRPr sz="1600">
                <a:solidFill>
                  <a:schemeClr val="tx1"/>
                </a:solidFill>
                <a:latin typeface="Helvetica" charset="0"/>
              </a:defRPr>
            </a:lvl3pPr>
            <a:lvl4pPr>
              <a:defRPr sz="1600">
                <a:solidFill>
                  <a:schemeClr val="tx1"/>
                </a:solidFill>
                <a:latin typeface="Helvetica" charset="0"/>
              </a:defRPr>
            </a:lvl4pPr>
            <a:lvl5pPr>
              <a:defRPr sz="1600">
                <a:solidFill>
                  <a:schemeClr val="tx1"/>
                </a:solidFill>
                <a:latin typeface="Helvetica" charset="0"/>
              </a:defRPr>
            </a:lvl5pPr>
            <a:lvl6pPr eaLnBrk="0" fontAlgn="base" hangingPunct="0">
              <a:spcBef>
                <a:spcPct val="20000"/>
              </a:spcBef>
              <a:spcAft>
                <a:spcPct val="0"/>
              </a:spcAft>
              <a:buClr>
                <a:schemeClr val="accent2"/>
              </a:buClr>
              <a:defRPr sz="1600">
                <a:solidFill>
                  <a:schemeClr val="tx1"/>
                </a:solidFill>
                <a:latin typeface="Helvetica" charset="0"/>
              </a:defRPr>
            </a:lvl6pPr>
            <a:lvl7pPr eaLnBrk="0" fontAlgn="base" hangingPunct="0">
              <a:spcBef>
                <a:spcPct val="20000"/>
              </a:spcBef>
              <a:spcAft>
                <a:spcPct val="0"/>
              </a:spcAft>
              <a:buClr>
                <a:schemeClr val="accent2"/>
              </a:buClr>
              <a:defRPr sz="1600">
                <a:solidFill>
                  <a:schemeClr val="tx1"/>
                </a:solidFill>
                <a:latin typeface="Helvetica" charset="0"/>
              </a:defRPr>
            </a:lvl7pPr>
            <a:lvl8pPr eaLnBrk="0" fontAlgn="base" hangingPunct="0">
              <a:spcBef>
                <a:spcPct val="20000"/>
              </a:spcBef>
              <a:spcAft>
                <a:spcPct val="0"/>
              </a:spcAft>
              <a:buClr>
                <a:schemeClr val="accent2"/>
              </a:buClr>
              <a:defRPr sz="1600">
                <a:solidFill>
                  <a:schemeClr val="tx1"/>
                </a:solidFill>
                <a:latin typeface="Helvetica" charset="0"/>
              </a:defRPr>
            </a:lvl8pPr>
            <a:lvl9pPr eaLnBrk="0" fontAlgn="base" hangingPunct="0">
              <a:spcBef>
                <a:spcPct val="20000"/>
              </a:spcBef>
              <a:spcAft>
                <a:spcPct val="0"/>
              </a:spcAft>
              <a:buClr>
                <a:schemeClr val="accent2"/>
              </a:buClr>
              <a:defRPr sz="1600">
                <a:solidFill>
                  <a:schemeClr val="tx1"/>
                </a:solidFill>
                <a:latin typeface="Helvetica" charset="0"/>
              </a:defRPr>
            </a:lvl9pPr>
          </a:lstStyle>
          <a:p>
            <a:pPr>
              <a:lnSpc>
                <a:spcPct val="120000"/>
              </a:lnSpc>
              <a:spcBef>
                <a:spcPct val="50000"/>
              </a:spcBef>
              <a:buClr>
                <a:schemeClr val="tx1"/>
              </a:buClr>
              <a:buFontTx/>
              <a:buChar char="•"/>
            </a:pPr>
            <a:r>
              <a:rPr lang="en-GB" altLang="en-US" sz="1700">
                <a:effectLst>
                  <a:outerShdw blurRad="38100" dist="38100" dir="2700000" algn="tl">
                    <a:srgbClr val="000000"/>
                  </a:outerShdw>
                </a:effectLst>
                <a:latin typeface="Arial" charset="0"/>
              </a:rPr>
              <a:t>Materials that are classically anisotropic in this way are </a:t>
            </a:r>
            <a:r>
              <a:rPr lang="en-GB" altLang="en-US" sz="1700">
                <a:solidFill>
                  <a:srgbClr val="FF66CC"/>
                </a:solidFill>
                <a:effectLst>
                  <a:outerShdw blurRad="38100" dist="38100" dir="2700000" algn="tl">
                    <a:srgbClr val="000000"/>
                  </a:outerShdw>
                </a:effectLst>
                <a:latin typeface="Arial" charset="0"/>
              </a:rPr>
              <a:t>thinly-bedded multilayers</a:t>
            </a:r>
            <a:r>
              <a:rPr lang="en-GB" altLang="en-US" sz="1700">
                <a:effectLst>
                  <a:outerShdw blurRad="38100" dist="38100" dir="2700000" algn="tl">
                    <a:srgbClr val="000000"/>
                  </a:outerShdw>
                </a:effectLst>
                <a:latin typeface="Arial" charset="0"/>
              </a:rPr>
              <a:t> or rocks with a </a:t>
            </a:r>
            <a:r>
              <a:rPr lang="en-GB" altLang="en-US" sz="1700">
                <a:solidFill>
                  <a:srgbClr val="FF66CC"/>
                </a:solidFill>
                <a:effectLst>
                  <a:outerShdw blurRad="38100" dist="38100" dir="2700000" algn="tl">
                    <a:srgbClr val="000000"/>
                  </a:outerShdw>
                </a:effectLst>
                <a:latin typeface="Arial" charset="0"/>
              </a:rPr>
              <a:t>strongly developed penetrative fabric</a:t>
            </a:r>
            <a:r>
              <a:rPr lang="en-GB" altLang="en-US" sz="1700">
                <a:effectLst>
                  <a:outerShdw blurRad="38100" dist="38100" dir="2700000" algn="tl">
                    <a:srgbClr val="000000"/>
                  </a:outerShdw>
                </a:effectLst>
                <a:latin typeface="Arial" charset="0"/>
              </a:rPr>
              <a:t> such as a cleavage (</a:t>
            </a:r>
            <a:r>
              <a:rPr lang="en-GB" altLang="en-US" sz="1700" i="1">
                <a:effectLst>
                  <a:outerShdw blurRad="38100" dist="38100" dir="2700000" algn="tl">
                    <a:srgbClr val="000000"/>
                  </a:outerShdw>
                </a:effectLst>
                <a:latin typeface="Arial" charset="0"/>
              </a:rPr>
              <a:t>e.g</a:t>
            </a:r>
            <a:r>
              <a:rPr lang="en-GB" altLang="en-US" sz="1700">
                <a:effectLst>
                  <a:outerShdw blurRad="38100" dist="38100" dir="2700000" algn="tl">
                    <a:srgbClr val="000000"/>
                  </a:outerShdw>
                </a:effectLst>
                <a:latin typeface="Arial" charset="0"/>
              </a:rPr>
              <a:t>., slates)</a:t>
            </a:r>
          </a:p>
          <a:p>
            <a:pPr>
              <a:lnSpc>
                <a:spcPct val="120000"/>
              </a:lnSpc>
              <a:spcBef>
                <a:spcPct val="75000"/>
              </a:spcBef>
              <a:buClr>
                <a:schemeClr val="tx1"/>
              </a:buClr>
              <a:buFontTx/>
              <a:buChar char="•"/>
            </a:pPr>
            <a:r>
              <a:rPr lang="en-GB" altLang="en-US" sz="1700">
                <a:effectLst>
                  <a:outerShdw blurRad="38100" dist="38100" dir="2700000" algn="tl">
                    <a:srgbClr val="000000"/>
                  </a:outerShdw>
                </a:effectLst>
                <a:latin typeface="Arial" charset="0"/>
              </a:rPr>
              <a:t>The modelling proceeds by finding the condition for the appearance of an </a:t>
            </a:r>
            <a:r>
              <a:rPr lang="en-GB" altLang="en-US" sz="1700">
                <a:solidFill>
                  <a:srgbClr val="FF6600"/>
                </a:solidFill>
                <a:effectLst>
                  <a:outerShdw blurRad="38100" dist="38100" dir="2700000" algn="tl">
                    <a:srgbClr val="000000"/>
                  </a:outerShdw>
                </a:effectLst>
                <a:latin typeface="Arial" charset="0"/>
              </a:rPr>
              <a:t>instability</a:t>
            </a:r>
            <a:r>
              <a:rPr lang="en-GB" altLang="en-US" sz="1700">
                <a:effectLst>
                  <a:outerShdw blurRad="38100" dist="38100" dir="2700000" algn="tl">
                    <a:srgbClr val="000000"/>
                  </a:outerShdw>
                </a:effectLst>
                <a:latin typeface="Arial" charset="0"/>
              </a:rPr>
              <a:t> that interrupts uniform shortening and leads to the layering becoming non-planar </a:t>
            </a:r>
            <a:endParaRPr lang="en-GB" altLang="en-US" sz="1700" i="1">
              <a:effectLst>
                <a:outerShdw blurRad="38100" dist="38100" dir="2700000" algn="tl">
                  <a:srgbClr val="000000"/>
                </a:outerShdw>
              </a:effectLst>
              <a:latin typeface="Symbol" pitchFamily="18" charset="2"/>
            </a:endParaRPr>
          </a:p>
        </p:txBody>
      </p:sp>
      <p:pic>
        <p:nvPicPr>
          <p:cNvPr id="251912" name="Picture 8"/>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a:xfrm>
            <a:off x="355600" y="3619500"/>
            <a:ext cx="3570288" cy="2913063"/>
          </a:xfrm>
          <a:noFill/>
          <a:ln w="38100" cap="flat">
            <a:solidFill>
              <a:schemeClr val="bg2"/>
            </a:solidFill>
            <a:miter lim="800000"/>
            <a:headEnd/>
            <a:tailEnd/>
          </a:ln>
        </p:spPr>
      </p:pic>
    </p:spTree>
  </p:cSld>
  <p:clrMapOvr>
    <a:masterClrMapping/>
  </p:clrMapOvr>
  <p:transition spd="slow"/>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6530" name="Rectangle 2"/>
          <p:cNvSpPr>
            <a:spLocks noGrp="1" noChangeArrowheads="1"/>
          </p:cNvSpPr>
          <p:nvPr>
            <p:ph type="title"/>
          </p:nvPr>
        </p:nvSpPr>
        <p:spPr>
          <a:noFill/>
        </p:spPr>
        <p:txBody>
          <a:bodyPr/>
          <a:lstStyle/>
          <a:p>
            <a:r>
              <a:rPr lang="en-GB" altLang="en-US">
                <a:effectLst/>
              </a:rPr>
              <a:t>Buckling anisotropic rocks  2</a:t>
            </a:r>
          </a:p>
        </p:txBody>
      </p:sp>
      <p:sp>
        <p:nvSpPr>
          <p:cNvPr id="406531" name="Rectangle 3"/>
          <p:cNvSpPr>
            <a:spLocks noGrp="1" noChangeArrowheads="1"/>
          </p:cNvSpPr>
          <p:nvPr>
            <p:ph type="body" sz="half" idx="1"/>
          </p:nvPr>
        </p:nvSpPr>
        <p:spPr>
          <a:xfrm>
            <a:off x="109538" y="779463"/>
            <a:ext cx="4679950" cy="1374775"/>
          </a:xfrm>
          <a:noFill/>
        </p:spPr>
        <p:txBody>
          <a:bodyPr/>
          <a:lstStyle/>
          <a:p>
            <a:pPr marL="182563" indent="-182563"/>
            <a:r>
              <a:rPr lang="en-GB" altLang="en-US" sz="1700" dirty="0">
                <a:effectLst/>
              </a:rPr>
              <a:t>Geometric features that can be explained by analysing multilayers as anisotropic materials, but which cannot be described using other approaches include:</a:t>
            </a:r>
          </a:p>
        </p:txBody>
      </p:sp>
      <p:pic>
        <p:nvPicPr>
          <p:cNvPr id="406535" name="Picture 7" descr="Boscastle2"/>
          <p:cNvPicPr>
            <a:picLocks noGrp="1" noChangeAspect="1" noChangeArrowheads="1"/>
          </p:cNvPicPr>
          <p:nvPr>
            <p:ph sz="quarter" idx="3"/>
          </p:nvPr>
        </p:nvPicPr>
        <p:blipFill>
          <a:blip r:embed="rId3">
            <a:extLst>
              <a:ext uri="{28A0092B-C50C-407E-A947-70E740481C1C}">
                <a14:useLocalDpi xmlns:a14="http://schemas.microsoft.com/office/drawing/2010/main" val="0"/>
              </a:ext>
            </a:extLst>
          </a:blip>
          <a:srcRect/>
          <a:stretch>
            <a:fillRect/>
          </a:stretch>
        </p:blipFill>
        <p:spPr>
          <a:xfrm>
            <a:off x="173038" y="3846513"/>
            <a:ext cx="5133975" cy="2820987"/>
          </a:xfr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406532" name="Text Box 4"/>
          <p:cNvSpPr txBox="1">
            <a:spLocks noChangeArrowheads="1"/>
          </p:cNvSpPr>
          <p:nvPr/>
        </p:nvSpPr>
        <p:spPr bwMode="auto">
          <a:xfrm>
            <a:off x="6684963" y="3657600"/>
            <a:ext cx="1127125" cy="347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20000"/>
              </a:lnSpc>
              <a:spcBef>
                <a:spcPct val="50000"/>
              </a:spcBef>
            </a:pPr>
            <a:r>
              <a:rPr lang="en-GB" altLang="en-US" sz="1400">
                <a:solidFill>
                  <a:srgbClr val="FFFF00"/>
                </a:solidFill>
                <a:effectLst>
                  <a:outerShdw blurRad="38100" dist="38100" dir="2700000" algn="tl">
                    <a:srgbClr val="000000"/>
                  </a:outerShdw>
                </a:effectLst>
                <a:latin typeface="Arial" charset="0"/>
              </a:rPr>
              <a:t>Kink bands</a:t>
            </a:r>
          </a:p>
        </p:txBody>
      </p:sp>
      <p:pic>
        <p:nvPicPr>
          <p:cNvPr id="406534" name="Picture 6" descr="06c-kink fold, Bergen"/>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527675" y="4064000"/>
            <a:ext cx="3413125" cy="2603500"/>
          </a:xfrm>
          <a:prstGeom prst="rect">
            <a:avLst/>
          </a:prstGeo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Lst>
        </p:spPr>
      </p:pic>
      <p:pic>
        <p:nvPicPr>
          <p:cNvPr id="406538" name="Picture 10" descr="06b-Girvan"/>
          <p:cNvPicPr>
            <a:picLocks noGrp="1" noChangeAspect="1" noChangeArrowheads="1"/>
          </p:cNvPicPr>
          <p:nvPr>
            <p:ph sz="quarter" idx="2"/>
          </p:nvPr>
        </p:nvPicPr>
        <p:blipFill>
          <a:blip r:embed="rId5">
            <a:extLst>
              <a:ext uri="{28A0092B-C50C-407E-A947-70E740481C1C}">
                <a14:useLocalDpi xmlns:a14="http://schemas.microsoft.com/office/drawing/2010/main" val="0"/>
              </a:ext>
            </a:extLst>
          </a:blip>
          <a:srcRect/>
          <a:stretch>
            <a:fillRect/>
          </a:stretch>
        </p:blipFill>
        <p:spPr>
          <a:xfrm>
            <a:off x="4872038" y="920750"/>
            <a:ext cx="4068762" cy="2678113"/>
          </a:xfr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406540" name="Rectangle 12"/>
          <p:cNvSpPr>
            <a:spLocks noChangeArrowheads="1"/>
          </p:cNvSpPr>
          <p:nvPr/>
        </p:nvSpPr>
        <p:spPr bwMode="auto">
          <a:xfrm>
            <a:off x="261938" y="2178050"/>
            <a:ext cx="4610100" cy="15319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273050" indent="-273050">
              <a:lnSpc>
                <a:spcPct val="120000"/>
              </a:lnSpc>
              <a:spcBef>
                <a:spcPct val="100000"/>
              </a:spcBef>
              <a:buClr>
                <a:schemeClr val="folHlink"/>
              </a:buClr>
              <a:buSzPct val="100000"/>
              <a:buFont typeface="Times"/>
              <a:buChar char="•"/>
              <a:defRPr>
                <a:solidFill>
                  <a:schemeClr val="tx1"/>
                </a:solidFill>
                <a:latin typeface="Arial" charset="0"/>
              </a:defRPr>
            </a:lvl1pPr>
            <a:lvl2pPr marL="715963" indent="-263525">
              <a:lnSpc>
                <a:spcPct val="120000"/>
              </a:lnSpc>
              <a:spcBef>
                <a:spcPct val="50000"/>
              </a:spcBef>
              <a:buClr>
                <a:schemeClr val="folHlink"/>
              </a:buClr>
              <a:buSzPct val="100000"/>
              <a:buFont typeface="Times"/>
              <a:buChar char="•"/>
              <a:defRPr sz="1600">
                <a:solidFill>
                  <a:schemeClr val="tx1"/>
                </a:solidFill>
                <a:latin typeface="Arial" charset="0"/>
              </a:defRPr>
            </a:lvl2pPr>
            <a:lvl3pPr marL="1325563" indent="-266700">
              <a:spcBef>
                <a:spcPct val="25000"/>
              </a:spcBef>
              <a:buClr>
                <a:schemeClr val="folHlink"/>
              </a:buClr>
              <a:buFont typeface="Times"/>
              <a:buChar char="•"/>
              <a:defRPr sz="1400">
                <a:solidFill>
                  <a:schemeClr val="tx1"/>
                </a:solidFill>
                <a:latin typeface="Arial" charset="0"/>
              </a:defRPr>
            </a:lvl3pPr>
            <a:lvl4pPr marL="1771650" indent="-266700">
              <a:spcBef>
                <a:spcPct val="25000"/>
              </a:spcBef>
              <a:buClr>
                <a:schemeClr val="folHlink"/>
              </a:buClr>
              <a:buFont typeface="Times"/>
              <a:buChar char="•"/>
              <a:defRPr sz="1400">
                <a:solidFill>
                  <a:schemeClr val="tx1"/>
                </a:solidFill>
                <a:latin typeface="Arial" charset="0"/>
              </a:defRPr>
            </a:lvl4pPr>
            <a:lvl5pPr marL="2217738" indent="-266700">
              <a:spcBef>
                <a:spcPct val="25000"/>
              </a:spcBef>
              <a:buClr>
                <a:schemeClr val="folHlink"/>
              </a:buClr>
              <a:buSzPct val="50000"/>
              <a:buFont typeface="Times"/>
              <a:buChar char="•"/>
              <a:defRPr sz="1400">
                <a:solidFill>
                  <a:schemeClr val="tx1"/>
                </a:solidFill>
                <a:latin typeface="Arial" charset="0"/>
              </a:defRPr>
            </a:lvl5pPr>
            <a:lvl6pPr marL="2674938" indent="-266700" eaLnBrk="0" fontAlgn="base" hangingPunct="0">
              <a:spcBef>
                <a:spcPct val="25000"/>
              </a:spcBef>
              <a:spcAft>
                <a:spcPct val="0"/>
              </a:spcAft>
              <a:buClr>
                <a:schemeClr val="folHlink"/>
              </a:buClr>
              <a:buSzPct val="50000"/>
              <a:buFont typeface="Times"/>
              <a:buChar char="•"/>
              <a:defRPr sz="1400">
                <a:solidFill>
                  <a:schemeClr val="tx1"/>
                </a:solidFill>
                <a:latin typeface="Arial" charset="0"/>
              </a:defRPr>
            </a:lvl6pPr>
            <a:lvl7pPr marL="3132138" indent="-266700" eaLnBrk="0" fontAlgn="base" hangingPunct="0">
              <a:spcBef>
                <a:spcPct val="25000"/>
              </a:spcBef>
              <a:spcAft>
                <a:spcPct val="0"/>
              </a:spcAft>
              <a:buClr>
                <a:schemeClr val="folHlink"/>
              </a:buClr>
              <a:buSzPct val="50000"/>
              <a:buFont typeface="Times"/>
              <a:buChar char="•"/>
              <a:defRPr sz="1400">
                <a:solidFill>
                  <a:schemeClr val="tx1"/>
                </a:solidFill>
                <a:latin typeface="Arial" charset="0"/>
              </a:defRPr>
            </a:lvl7pPr>
            <a:lvl8pPr marL="3589338" indent="-266700" eaLnBrk="0" fontAlgn="base" hangingPunct="0">
              <a:spcBef>
                <a:spcPct val="25000"/>
              </a:spcBef>
              <a:spcAft>
                <a:spcPct val="0"/>
              </a:spcAft>
              <a:buClr>
                <a:schemeClr val="folHlink"/>
              </a:buClr>
              <a:buSzPct val="50000"/>
              <a:buFont typeface="Times"/>
              <a:buChar char="•"/>
              <a:defRPr sz="1400">
                <a:solidFill>
                  <a:schemeClr val="tx1"/>
                </a:solidFill>
                <a:latin typeface="Arial" charset="0"/>
              </a:defRPr>
            </a:lvl8pPr>
            <a:lvl9pPr marL="4046538" indent="-266700" eaLnBrk="0" fontAlgn="base" hangingPunct="0">
              <a:spcBef>
                <a:spcPct val="25000"/>
              </a:spcBef>
              <a:spcAft>
                <a:spcPct val="0"/>
              </a:spcAft>
              <a:buClr>
                <a:schemeClr val="folHlink"/>
              </a:buClr>
              <a:buSzPct val="50000"/>
              <a:buFont typeface="Times"/>
              <a:buChar char="•"/>
              <a:defRPr sz="1400">
                <a:solidFill>
                  <a:schemeClr val="tx1"/>
                </a:solidFill>
                <a:latin typeface="Arial" charset="0"/>
              </a:defRPr>
            </a:lvl9pPr>
          </a:lstStyle>
          <a:p>
            <a:pPr>
              <a:spcBef>
                <a:spcPct val="50000"/>
              </a:spcBef>
              <a:buFont typeface="Times"/>
              <a:buAutoNum type="arabicPeriod"/>
            </a:pPr>
            <a:r>
              <a:rPr lang="en-GB" altLang="en-US" sz="1700" dirty="0">
                <a:effectLst/>
              </a:rPr>
              <a:t>Folds with </a:t>
            </a:r>
            <a:r>
              <a:rPr lang="en-GB" altLang="en-US" sz="1700" dirty="0">
                <a:solidFill>
                  <a:srgbClr val="FF66CC"/>
                </a:solidFill>
                <a:effectLst/>
              </a:rPr>
              <a:t>very straight limbs</a:t>
            </a:r>
            <a:r>
              <a:rPr lang="en-GB" altLang="en-US" sz="1700" dirty="0">
                <a:effectLst/>
              </a:rPr>
              <a:t> </a:t>
            </a:r>
          </a:p>
          <a:p>
            <a:pPr>
              <a:spcBef>
                <a:spcPct val="50000"/>
              </a:spcBef>
              <a:buFont typeface="Times"/>
              <a:buAutoNum type="arabicPeriod"/>
            </a:pPr>
            <a:r>
              <a:rPr lang="en-GB" altLang="en-US" sz="1700" dirty="0">
                <a:effectLst/>
              </a:rPr>
              <a:t>Folds with </a:t>
            </a:r>
            <a:r>
              <a:rPr lang="en-GB" altLang="en-US" sz="1700" dirty="0">
                <a:solidFill>
                  <a:srgbClr val="FF66CC"/>
                </a:solidFill>
                <a:effectLst/>
              </a:rPr>
              <a:t>axial planes that are oblique to the original layering</a:t>
            </a:r>
            <a:r>
              <a:rPr lang="en-GB" altLang="en-US" sz="1700" dirty="0">
                <a:effectLst/>
              </a:rPr>
              <a:t> even when the principal compression is along the layering</a:t>
            </a:r>
            <a:endParaRPr lang="en-GB" altLang="en-US" sz="1700" dirty="0">
              <a:solidFill>
                <a:srgbClr val="FF66CC"/>
              </a:solidFill>
              <a:effectLst/>
            </a:endParaRPr>
          </a:p>
        </p:txBody>
      </p:sp>
    </p:spTree>
  </p:cSld>
  <p:clrMapOvr>
    <a:masterClrMapping/>
  </p:clrMapOvr>
  <p:transition spd="slow"/>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6514" name="Picture 34" descr="07a2-Boscastl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3838" y="4268788"/>
            <a:ext cx="3184525" cy="2428875"/>
          </a:xfrm>
          <a:prstGeom prst="rect">
            <a:avLst/>
          </a:prstGeo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Lst>
        </p:spPr>
      </p:pic>
      <p:sp>
        <p:nvSpPr>
          <p:cNvPr id="276482" name="Rectangle 2"/>
          <p:cNvSpPr>
            <a:spLocks noGrp="1" noChangeArrowheads="1"/>
          </p:cNvSpPr>
          <p:nvPr>
            <p:ph type="title"/>
          </p:nvPr>
        </p:nvSpPr>
        <p:spPr>
          <a:noFill/>
        </p:spPr>
        <p:txBody>
          <a:bodyPr/>
          <a:lstStyle/>
          <a:p>
            <a:r>
              <a:rPr lang="en-GB" altLang="en-US">
                <a:effectLst/>
              </a:rPr>
              <a:t>Buckling anisotropic rocks  (kink bands)</a:t>
            </a:r>
          </a:p>
        </p:txBody>
      </p:sp>
      <p:sp>
        <p:nvSpPr>
          <p:cNvPr id="276483" name="Rectangle 3"/>
          <p:cNvSpPr>
            <a:spLocks noGrp="1" noChangeArrowheads="1"/>
          </p:cNvSpPr>
          <p:nvPr>
            <p:ph type="body" sz="half" idx="1"/>
          </p:nvPr>
        </p:nvSpPr>
        <p:spPr>
          <a:xfrm>
            <a:off x="123825" y="766763"/>
            <a:ext cx="3332163" cy="3384550"/>
          </a:xfrm>
          <a:noFill/>
        </p:spPr>
        <p:txBody>
          <a:bodyPr/>
          <a:lstStyle/>
          <a:p>
            <a:pPr marL="182563" indent="-182563"/>
            <a:r>
              <a:rPr lang="en-GB" altLang="en-US" sz="1700" dirty="0">
                <a:effectLst/>
              </a:rPr>
              <a:t>Kink bands and folds with kink-like geometries have a </a:t>
            </a:r>
            <a:r>
              <a:rPr lang="en-GB" altLang="en-US" sz="1700" dirty="0">
                <a:solidFill>
                  <a:srgbClr val="FF66CC"/>
                </a:solidFill>
                <a:effectLst/>
              </a:rPr>
              <a:t>Class 2</a:t>
            </a:r>
            <a:r>
              <a:rPr lang="en-GB" altLang="en-US" sz="1700" dirty="0">
                <a:effectLst/>
              </a:rPr>
              <a:t> fold (similar fold) geometry but the angularity of their hinges means that dip isogon methods cannot be used to describe them</a:t>
            </a:r>
          </a:p>
          <a:p>
            <a:pPr marL="182563" indent="-182563">
              <a:spcBef>
                <a:spcPct val="50000"/>
              </a:spcBef>
            </a:pPr>
            <a:r>
              <a:rPr lang="en-GB" altLang="en-US" sz="1700" dirty="0">
                <a:effectLst/>
              </a:rPr>
              <a:t>Instead, the </a:t>
            </a:r>
            <a:r>
              <a:rPr lang="en-GB" altLang="en-US" sz="1700" dirty="0">
                <a:solidFill>
                  <a:srgbClr val="FF66CC"/>
                </a:solidFill>
                <a:effectLst/>
              </a:rPr>
              <a:t>angles and dimensions</a:t>
            </a:r>
            <a:r>
              <a:rPr lang="en-GB" altLang="en-US" sz="1700" dirty="0">
                <a:effectLst/>
              </a:rPr>
              <a:t> indicated on these diagrams need to be stipulated</a:t>
            </a:r>
            <a:endParaRPr lang="en-GB" altLang="en-US" sz="1900" dirty="0">
              <a:solidFill>
                <a:srgbClr val="FF66CC"/>
              </a:solidFill>
              <a:effectLst/>
            </a:endParaRPr>
          </a:p>
        </p:txBody>
      </p:sp>
      <p:grpSp>
        <p:nvGrpSpPr>
          <p:cNvPr id="276507" name="Group 27"/>
          <p:cNvGrpSpPr>
            <a:grpSpLocks/>
          </p:cNvGrpSpPr>
          <p:nvPr/>
        </p:nvGrpSpPr>
        <p:grpSpPr bwMode="auto">
          <a:xfrm>
            <a:off x="3613150" y="885825"/>
            <a:ext cx="5353050" cy="2967038"/>
            <a:chOff x="2259" y="508"/>
            <a:chExt cx="3389" cy="1858"/>
          </a:xfrm>
        </p:grpSpPr>
        <p:sp>
          <p:nvSpPr>
            <p:cNvPr id="276498" name="Rectangle 18"/>
            <p:cNvSpPr>
              <a:spLocks noChangeArrowheads="1"/>
            </p:cNvSpPr>
            <p:nvPr/>
          </p:nvSpPr>
          <p:spPr bwMode="auto">
            <a:xfrm>
              <a:off x="2259" y="531"/>
              <a:ext cx="3389" cy="1835"/>
            </a:xfrm>
            <a:prstGeom prst="rect">
              <a:avLst/>
            </a:prstGeom>
            <a:solidFill>
              <a:schemeClr val="folHlink"/>
            </a:solidFill>
            <a:ln w="38100">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pic>
          <p:nvPicPr>
            <p:cNvPr id="276491" name="Picture 11" descr="07b"/>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13" y="615"/>
              <a:ext cx="3283" cy="16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276493" name="Text Box 13"/>
            <p:cNvSpPr txBox="1">
              <a:spLocks noChangeArrowheads="1"/>
            </p:cNvSpPr>
            <p:nvPr/>
          </p:nvSpPr>
          <p:spPr bwMode="auto">
            <a:xfrm>
              <a:off x="2695" y="508"/>
              <a:ext cx="1142" cy="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lnSpc>
                  <a:spcPct val="120000"/>
                </a:lnSpc>
                <a:spcBef>
                  <a:spcPct val="0"/>
                </a:spcBef>
              </a:pPr>
              <a:r>
                <a:rPr lang="en-GB" altLang="en-US" sz="1200">
                  <a:solidFill>
                    <a:srgbClr val="FF0000"/>
                  </a:solidFill>
                  <a:effectLst/>
                  <a:latin typeface="Arial" charset="0"/>
                </a:rPr>
                <a:t>Contractional kink band</a:t>
              </a:r>
            </a:p>
            <a:p>
              <a:pPr algn="ctr">
                <a:lnSpc>
                  <a:spcPct val="120000"/>
                </a:lnSpc>
                <a:spcBef>
                  <a:spcPct val="0"/>
                </a:spcBef>
              </a:pPr>
              <a:r>
                <a:rPr lang="en-GB" altLang="en-US" sz="1200">
                  <a:solidFill>
                    <a:srgbClr val="FF0000"/>
                  </a:solidFill>
                  <a:effectLst/>
                  <a:latin typeface="Arial" charset="0"/>
                </a:rPr>
                <a:t>(sinistral)</a:t>
              </a:r>
            </a:p>
          </p:txBody>
        </p:sp>
        <p:sp>
          <p:nvSpPr>
            <p:cNvPr id="276494" name="Text Box 14"/>
            <p:cNvSpPr txBox="1">
              <a:spLocks noChangeArrowheads="1"/>
            </p:cNvSpPr>
            <p:nvPr/>
          </p:nvSpPr>
          <p:spPr bwMode="auto">
            <a:xfrm>
              <a:off x="2887" y="2024"/>
              <a:ext cx="1142" cy="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lnSpc>
                  <a:spcPct val="120000"/>
                </a:lnSpc>
                <a:spcBef>
                  <a:spcPct val="0"/>
                </a:spcBef>
              </a:pPr>
              <a:r>
                <a:rPr lang="en-GB" altLang="en-US" sz="1200">
                  <a:solidFill>
                    <a:srgbClr val="FF0000"/>
                  </a:solidFill>
                  <a:effectLst/>
                  <a:latin typeface="Arial" charset="0"/>
                </a:rPr>
                <a:t>Extensional kink band</a:t>
              </a:r>
            </a:p>
            <a:p>
              <a:pPr algn="ctr">
                <a:lnSpc>
                  <a:spcPct val="120000"/>
                </a:lnSpc>
                <a:spcBef>
                  <a:spcPct val="0"/>
                </a:spcBef>
              </a:pPr>
              <a:r>
                <a:rPr lang="en-GB" altLang="en-US" sz="1200">
                  <a:solidFill>
                    <a:srgbClr val="FF0000"/>
                  </a:solidFill>
                  <a:effectLst/>
                  <a:latin typeface="Arial" charset="0"/>
                </a:rPr>
                <a:t>(dextral)</a:t>
              </a:r>
            </a:p>
          </p:txBody>
        </p:sp>
        <p:sp>
          <p:nvSpPr>
            <p:cNvPr id="276497" name="Text Box 17"/>
            <p:cNvSpPr txBox="1">
              <a:spLocks noChangeArrowheads="1"/>
            </p:cNvSpPr>
            <p:nvPr/>
          </p:nvSpPr>
          <p:spPr bwMode="auto">
            <a:xfrm>
              <a:off x="2428" y="1837"/>
              <a:ext cx="482"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GB" altLang="en-US" sz="1200">
                  <a:solidFill>
                    <a:srgbClr val="FF0000"/>
                  </a:solidFill>
                  <a:effectLst/>
                  <a:latin typeface="Arial" charset="0"/>
                </a:rPr>
                <a:t>Chevron</a:t>
              </a:r>
            </a:p>
          </p:txBody>
        </p:sp>
        <p:grpSp>
          <p:nvGrpSpPr>
            <p:cNvPr id="276503" name="Group 23"/>
            <p:cNvGrpSpPr>
              <a:grpSpLocks/>
            </p:cNvGrpSpPr>
            <p:nvPr/>
          </p:nvGrpSpPr>
          <p:grpSpPr bwMode="auto">
            <a:xfrm rot="3490353">
              <a:off x="3812" y="1296"/>
              <a:ext cx="180" cy="68"/>
              <a:chOff x="770" y="3622"/>
              <a:chExt cx="180" cy="68"/>
            </a:xfrm>
          </p:grpSpPr>
          <p:sp>
            <p:nvSpPr>
              <p:cNvPr id="276500" name="Freeform 20"/>
              <p:cNvSpPr>
                <a:spLocks/>
              </p:cNvSpPr>
              <p:nvPr/>
            </p:nvSpPr>
            <p:spPr bwMode="auto">
              <a:xfrm>
                <a:off x="770" y="3663"/>
                <a:ext cx="180" cy="27"/>
              </a:xfrm>
              <a:custGeom>
                <a:avLst/>
                <a:gdLst>
                  <a:gd name="T0" fmla="*/ 243 w 243"/>
                  <a:gd name="T1" fmla="*/ 0 h 1"/>
                  <a:gd name="T2" fmla="*/ 0 w 243"/>
                  <a:gd name="T3" fmla="*/ 0 h 1"/>
                </a:gdLst>
                <a:ahLst/>
                <a:cxnLst>
                  <a:cxn ang="0">
                    <a:pos x="T0" y="T1"/>
                  </a:cxn>
                  <a:cxn ang="0">
                    <a:pos x="T2" y="T3"/>
                  </a:cxn>
                </a:cxnLst>
                <a:rect l="0" t="0" r="r" b="b"/>
                <a:pathLst>
                  <a:path w="243" h="1">
                    <a:moveTo>
                      <a:pt x="243" y="0"/>
                    </a:moveTo>
                    <a:lnTo>
                      <a:pt x="0" y="0"/>
                    </a:lnTo>
                  </a:path>
                </a:pathLst>
              </a:custGeom>
              <a:noFill/>
              <a:ln w="19050" cap="flat" cmpd="sng">
                <a:solidFill>
                  <a:srgbClr val="FF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276501" name="Line 21"/>
              <p:cNvSpPr>
                <a:spLocks noChangeShapeType="1"/>
              </p:cNvSpPr>
              <p:nvPr/>
            </p:nvSpPr>
            <p:spPr bwMode="auto">
              <a:xfrm flipH="1">
                <a:off x="771" y="3622"/>
                <a:ext cx="67" cy="39"/>
              </a:xfrm>
              <a:prstGeom prst="line">
                <a:avLst/>
              </a:prstGeom>
              <a:noFill/>
              <a:ln w="190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grpSp>
        <p:sp>
          <p:nvSpPr>
            <p:cNvPr id="276502" name="Text Box 22"/>
            <p:cNvSpPr txBox="1">
              <a:spLocks noChangeArrowheads="1"/>
            </p:cNvSpPr>
            <p:nvPr/>
          </p:nvSpPr>
          <p:spPr bwMode="auto">
            <a:xfrm>
              <a:off x="4312" y="801"/>
              <a:ext cx="1142"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GB" altLang="en-US" sz="1200">
                  <a:solidFill>
                    <a:srgbClr val="FF0000"/>
                  </a:solidFill>
                  <a:effectLst/>
                  <a:latin typeface="Arial" charset="0"/>
                </a:rPr>
                <a:t>Conjugate kink bands</a:t>
              </a:r>
            </a:p>
          </p:txBody>
        </p:sp>
        <p:grpSp>
          <p:nvGrpSpPr>
            <p:cNvPr id="276504" name="Group 24"/>
            <p:cNvGrpSpPr>
              <a:grpSpLocks/>
            </p:cNvGrpSpPr>
            <p:nvPr/>
          </p:nvGrpSpPr>
          <p:grpSpPr bwMode="auto">
            <a:xfrm rot="12945893" flipV="1">
              <a:off x="3529" y="1551"/>
              <a:ext cx="180" cy="78"/>
              <a:chOff x="770" y="3622"/>
              <a:chExt cx="180" cy="68"/>
            </a:xfrm>
          </p:grpSpPr>
          <p:sp>
            <p:nvSpPr>
              <p:cNvPr id="276505" name="Freeform 25"/>
              <p:cNvSpPr>
                <a:spLocks/>
              </p:cNvSpPr>
              <p:nvPr/>
            </p:nvSpPr>
            <p:spPr bwMode="auto">
              <a:xfrm>
                <a:off x="770" y="3663"/>
                <a:ext cx="180" cy="27"/>
              </a:xfrm>
              <a:custGeom>
                <a:avLst/>
                <a:gdLst>
                  <a:gd name="T0" fmla="*/ 243 w 243"/>
                  <a:gd name="T1" fmla="*/ 0 h 1"/>
                  <a:gd name="T2" fmla="*/ 0 w 243"/>
                  <a:gd name="T3" fmla="*/ 0 h 1"/>
                </a:gdLst>
                <a:ahLst/>
                <a:cxnLst>
                  <a:cxn ang="0">
                    <a:pos x="T0" y="T1"/>
                  </a:cxn>
                  <a:cxn ang="0">
                    <a:pos x="T2" y="T3"/>
                  </a:cxn>
                </a:cxnLst>
                <a:rect l="0" t="0" r="r" b="b"/>
                <a:pathLst>
                  <a:path w="243" h="1">
                    <a:moveTo>
                      <a:pt x="243" y="0"/>
                    </a:moveTo>
                    <a:lnTo>
                      <a:pt x="0" y="0"/>
                    </a:lnTo>
                  </a:path>
                </a:pathLst>
              </a:custGeom>
              <a:noFill/>
              <a:ln w="19050" cap="flat" cmpd="sng">
                <a:solidFill>
                  <a:srgbClr val="FF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276506" name="Line 26"/>
              <p:cNvSpPr>
                <a:spLocks noChangeShapeType="1"/>
              </p:cNvSpPr>
              <p:nvPr/>
            </p:nvSpPr>
            <p:spPr bwMode="auto">
              <a:xfrm flipH="1">
                <a:off x="771" y="3622"/>
                <a:ext cx="67" cy="39"/>
              </a:xfrm>
              <a:prstGeom prst="line">
                <a:avLst/>
              </a:prstGeom>
              <a:noFill/>
              <a:ln w="190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grpSp>
      </p:grpSp>
      <p:pic>
        <p:nvPicPr>
          <p:cNvPr id="276509" name="Picture 29"/>
          <p:cNvPicPr>
            <a:picLocks noGrp="1" noChangeAspect="1" noChangeArrowheads="1"/>
          </p:cNvPicPr>
          <p:nvPr>
            <p:ph sz="quarter" idx="2"/>
          </p:nvPr>
        </p:nvPicPr>
        <p:blipFill>
          <a:blip r:embed="rId5">
            <a:extLst>
              <a:ext uri="{28A0092B-C50C-407E-A947-70E740481C1C}">
                <a14:useLocalDpi xmlns:a14="http://schemas.microsoft.com/office/drawing/2010/main" val="0"/>
              </a:ext>
            </a:extLst>
          </a:blip>
          <a:srcRect/>
          <a:stretch>
            <a:fillRect/>
          </a:stretch>
        </p:blipFill>
        <p:spPr>
          <a:xfrm>
            <a:off x="3641725" y="4011613"/>
            <a:ext cx="5324475" cy="2690812"/>
          </a:xfrm>
          <a:noFill/>
          <a:ln w="38100" cap="flat">
            <a:solidFill>
              <a:schemeClr val="bg2"/>
            </a:solidFill>
            <a:miter lim="800000"/>
            <a:headEnd/>
            <a:tailEnd/>
          </a:ln>
        </p:spPr>
      </p:pic>
      <p:sp>
        <p:nvSpPr>
          <p:cNvPr id="276513" name="Rectangle 33"/>
          <p:cNvSpPr>
            <a:spLocks noChangeArrowheads="1"/>
          </p:cNvSpPr>
          <p:nvPr/>
        </p:nvSpPr>
        <p:spPr bwMode="auto">
          <a:xfrm>
            <a:off x="2352675" y="6259513"/>
            <a:ext cx="985838" cy="373062"/>
          </a:xfrm>
          <a:prstGeom prst="rect">
            <a:avLst/>
          </a:prstGeom>
          <a:solidFill>
            <a:schemeClr val="folHlink"/>
          </a:solidFill>
          <a:ln w="19050">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76512" name="Text Box 32"/>
          <p:cNvSpPr txBox="1">
            <a:spLocks noChangeArrowheads="1"/>
          </p:cNvSpPr>
          <p:nvPr/>
        </p:nvSpPr>
        <p:spPr bwMode="auto">
          <a:xfrm>
            <a:off x="2298700" y="6205538"/>
            <a:ext cx="11017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GB" altLang="en-US" sz="1200">
                <a:solidFill>
                  <a:srgbClr val="FF0000"/>
                </a:solidFill>
                <a:effectLst/>
                <a:latin typeface="Arial" charset="0"/>
              </a:rPr>
              <a:t>Contractional dextral</a:t>
            </a:r>
          </a:p>
        </p:txBody>
      </p:sp>
      <p:sp>
        <p:nvSpPr>
          <p:cNvPr id="276515" name="Freeform 35"/>
          <p:cNvSpPr>
            <a:spLocks/>
          </p:cNvSpPr>
          <p:nvPr/>
        </p:nvSpPr>
        <p:spPr bwMode="auto">
          <a:xfrm>
            <a:off x="519113" y="4530725"/>
            <a:ext cx="322262" cy="166688"/>
          </a:xfrm>
          <a:custGeom>
            <a:avLst/>
            <a:gdLst>
              <a:gd name="T0" fmla="*/ 0 w 203"/>
              <a:gd name="T1" fmla="*/ 105 h 105"/>
              <a:gd name="T2" fmla="*/ 203 w 203"/>
              <a:gd name="T3" fmla="*/ 26 h 105"/>
              <a:gd name="T4" fmla="*/ 118 w 203"/>
              <a:gd name="T5" fmla="*/ 0 h 105"/>
            </a:gdLst>
            <a:ahLst/>
            <a:cxnLst>
              <a:cxn ang="0">
                <a:pos x="T0" y="T1"/>
              </a:cxn>
              <a:cxn ang="0">
                <a:pos x="T2" y="T3"/>
              </a:cxn>
              <a:cxn ang="0">
                <a:pos x="T4" y="T5"/>
              </a:cxn>
            </a:cxnLst>
            <a:rect l="0" t="0" r="r" b="b"/>
            <a:pathLst>
              <a:path w="203" h="105">
                <a:moveTo>
                  <a:pt x="0" y="105"/>
                </a:moveTo>
                <a:lnTo>
                  <a:pt x="203" y="26"/>
                </a:lnTo>
                <a:lnTo>
                  <a:pt x="118" y="0"/>
                </a:lnTo>
              </a:path>
            </a:pathLst>
          </a:custGeom>
          <a:noFill/>
          <a:ln w="19050" cap="flat" cmpd="sng">
            <a:solidFill>
              <a:srgbClr val="FF0000"/>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Tree>
  </p:cSld>
  <p:clrMapOvr>
    <a:masterClrMapping/>
  </p:clrMapOvr>
  <p:transition spd="slow"/>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0578" name="Rectangle 2"/>
          <p:cNvSpPr>
            <a:spLocks noGrp="1" noChangeArrowheads="1"/>
          </p:cNvSpPr>
          <p:nvPr>
            <p:ph type="title"/>
          </p:nvPr>
        </p:nvSpPr>
        <p:spPr>
          <a:noFill/>
        </p:spPr>
        <p:txBody>
          <a:bodyPr/>
          <a:lstStyle/>
          <a:p>
            <a:r>
              <a:rPr lang="en-GB" altLang="en-US">
                <a:effectLst/>
              </a:rPr>
              <a:t>Buckling anisotropic rocks  3</a:t>
            </a:r>
          </a:p>
        </p:txBody>
      </p:sp>
      <p:sp>
        <p:nvSpPr>
          <p:cNvPr id="280579" name="Rectangle 3"/>
          <p:cNvSpPr>
            <a:spLocks noGrp="1" noChangeArrowheads="1"/>
          </p:cNvSpPr>
          <p:nvPr>
            <p:ph type="body" sz="half" idx="1"/>
          </p:nvPr>
        </p:nvSpPr>
        <p:spPr>
          <a:xfrm>
            <a:off x="127000" y="771525"/>
            <a:ext cx="8864600" cy="763588"/>
          </a:xfrm>
          <a:noFill/>
        </p:spPr>
        <p:txBody>
          <a:bodyPr/>
          <a:lstStyle/>
          <a:p>
            <a:pPr marL="182563" indent="-182563"/>
            <a:r>
              <a:rPr lang="en-GB" altLang="en-US" sz="1700" dirty="0">
                <a:effectLst/>
              </a:rPr>
              <a:t>Modelling shows that the geometry of the structures obtained depends upon the </a:t>
            </a:r>
            <a:r>
              <a:rPr lang="en-GB" altLang="en-US" sz="1700" dirty="0">
                <a:solidFill>
                  <a:srgbClr val="FF66CC"/>
                </a:solidFill>
                <a:effectLst/>
              </a:rPr>
              <a:t>degree of anisotropy</a:t>
            </a:r>
            <a:r>
              <a:rPr lang="en-GB" altLang="en-US" sz="1700" dirty="0">
                <a:effectLst/>
              </a:rPr>
              <a:t> and the </a:t>
            </a:r>
            <a:r>
              <a:rPr lang="en-GB" altLang="en-US" sz="1700" dirty="0">
                <a:solidFill>
                  <a:srgbClr val="FF66CC"/>
                </a:solidFill>
                <a:effectLst/>
              </a:rPr>
              <a:t>angle at which the multilayer is compressed</a:t>
            </a:r>
            <a:r>
              <a:rPr lang="en-GB" altLang="en-US" sz="1700" dirty="0">
                <a:effectLst/>
              </a:rPr>
              <a:t> relative to the layering</a:t>
            </a:r>
            <a:endParaRPr lang="en-GB" altLang="en-US" sz="1900" dirty="0">
              <a:solidFill>
                <a:srgbClr val="FF66CC"/>
              </a:solidFill>
              <a:effectLst/>
            </a:endParaRPr>
          </a:p>
        </p:txBody>
      </p:sp>
      <p:pic>
        <p:nvPicPr>
          <p:cNvPr id="280597" name="Picture 21" descr="07c"/>
          <p:cNvPicPr>
            <a:picLocks noGrp="1" noChangeAspect="1" noChangeArrowheads="1"/>
          </p:cNvPicPr>
          <p:nvPr>
            <p:ph sz="quarter" idx="2"/>
          </p:nvPr>
        </p:nvPicPr>
        <p:blipFill>
          <a:blip r:embed="rId3">
            <a:extLst>
              <a:ext uri="{28A0092B-C50C-407E-A947-70E740481C1C}">
                <a14:useLocalDpi xmlns:a14="http://schemas.microsoft.com/office/drawing/2010/main" val="0"/>
              </a:ext>
            </a:extLst>
          </a:blip>
          <a:srcRect/>
          <a:stretch>
            <a:fillRect/>
          </a:stretch>
        </p:blipFill>
        <p:spPr>
          <a:xfrm>
            <a:off x="1768475" y="1736725"/>
            <a:ext cx="5070475" cy="3709988"/>
          </a:xfr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280590" name="Text Box 14"/>
          <p:cNvSpPr txBox="1">
            <a:spLocks noChangeArrowheads="1"/>
          </p:cNvSpPr>
          <p:nvPr/>
        </p:nvSpPr>
        <p:spPr bwMode="auto">
          <a:xfrm>
            <a:off x="2371725" y="5519738"/>
            <a:ext cx="213042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GB" altLang="en-US">
                <a:solidFill>
                  <a:srgbClr val="FFFF00"/>
                </a:solidFill>
                <a:effectLst>
                  <a:outerShdw blurRad="38100" dist="38100" dir="2700000" algn="tl">
                    <a:srgbClr val="000000"/>
                  </a:outerShdw>
                </a:effectLst>
                <a:latin typeface="Arial" charset="0"/>
              </a:rPr>
              <a:t>increasing anisotropy</a:t>
            </a:r>
          </a:p>
        </p:txBody>
      </p:sp>
      <p:sp>
        <p:nvSpPr>
          <p:cNvPr id="280591" name="Line 15"/>
          <p:cNvSpPr>
            <a:spLocks noChangeShapeType="1"/>
          </p:cNvSpPr>
          <p:nvPr/>
        </p:nvSpPr>
        <p:spPr bwMode="auto">
          <a:xfrm>
            <a:off x="4768850" y="5697538"/>
            <a:ext cx="1119188" cy="0"/>
          </a:xfrm>
          <a:prstGeom prst="line">
            <a:avLst/>
          </a:prstGeom>
          <a:noFill/>
          <a:ln w="28575">
            <a:solidFill>
              <a:srgbClr val="FFFF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280592" name="Text Box 16"/>
          <p:cNvSpPr txBox="1">
            <a:spLocks noChangeArrowheads="1"/>
          </p:cNvSpPr>
          <p:nvPr/>
        </p:nvSpPr>
        <p:spPr bwMode="auto">
          <a:xfrm>
            <a:off x="504825" y="1858963"/>
            <a:ext cx="1155700" cy="973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lnSpc>
                <a:spcPct val="120000"/>
              </a:lnSpc>
              <a:spcBef>
                <a:spcPct val="0"/>
              </a:spcBef>
            </a:pPr>
            <a:r>
              <a:rPr lang="en-GB" altLang="en-US">
                <a:solidFill>
                  <a:srgbClr val="FFFF00"/>
                </a:solidFill>
                <a:effectLst>
                  <a:outerShdw blurRad="38100" dist="38100" dir="2700000" algn="tl">
                    <a:srgbClr val="000000"/>
                  </a:outerShdw>
                </a:effectLst>
              </a:rPr>
              <a:t>loading parallel to layering</a:t>
            </a:r>
          </a:p>
        </p:txBody>
      </p:sp>
      <p:sp>
        <p:nvSpPr>
          <p:cNvPr id="280593" name="Text Box 17"/>
          <p:cNvSpPr txBox="1">
            <a:spLocks noChangeArrowheads="1"/>
          </p:cNvSpPr>
          <p:nvPr/>
        </p:nvSpPr>
        <p:spPr bwMode="auto">
          <a:xfrm>
            <a:off x="503238" y="4321175"/>
            <a:ext cx="1155700" cy="973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lnSpc>
                <a:spcPct val="120000"/>
              </a:lnSpc>
              <a:spcBef>
                <a:spcPct val="0"/>
              </a:spcBef>
            </a:pPr>
            <a:r>
              <a:rPr lang="en-GB" altLang="en-US">
                <a:solidFill>
                  <a:srgbClr val="FFFF00"/>
                </a:solidFill>
                <a:effectLst>
                  <a:outerShdw blurRad="38100" dist="38100" dir="2700000" algn="tl">
                    <a:srgbClr val="000000"/>
                  </a:outerShdw>
                </a:effectLst>
              </a:rPr>
              <a:t>loading normal to layering</a:t>
            </a:r>
          </a:p>
        </p:txBody>
      </p:sp>
      <p:sp>
        <p:nvSpPr>
          <p:cNvPr id="280595" name="Rectangle 19"/>
          <p:cNvSpPr>
            <a:spLocks noChangeArrowheads="1"/>
          </p:cNvSpPr>
          <p:nvPr/>
        </p:nvSpPr>
        <p:spPr bwMode="auto">
          <a:xfrm>
            <a:off x="127000" y="5935663"/>
            <a:ext cx="8888413" cy="744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182563" indent="-182563">
              <a:lnSpc>
                <a:spcPct val="120000"/>
              </a:lnSpc>
              <a:spcBef>
                <a:spcPct val="100000"/>
              </a:spcBef>
              <a:buClr>
                <a:schemeClr val="folHlink"/>
              </a:buClr>
              <a:buSzPct val="100000"/>
              <a:buFont typeface="Times"/>
              <a:buChar char="•"/>
              <a:defRPr>
                <a:solidFill>
                  <a:schemeClr val="tx1"/>
                </a:solidFill>
                <a:latin typeface="Arial" charset="0"/>
              </a:defRPr>
            </a:lvl1pPr>
            <a:lvl2pPr marL="719138" indent="-273050">
              <a:lnSpc>
                <a:spcPct val="120000"/>
              </a:lnSpc>
              <a:spcBef>
                <a:spcPct val="50000"/>
              </a:spcBef>
              <a:buClr>
                <a:schemeClr val="folHlink"/>
              </a:buClr>
              <a:buSzPct val="100000"/>
              <a:buFont typeface="Times"/>
              <a:buChar char="•"/>
              <a:defRPr sz="1600">
                <a:solidFill>
                  <a:schemeClr val="tx1"/>
                </a:solidFill>
                <a:latin typeface="Arial" charset="0"/>
              </a:defRPr>
            </a:lvl2pPr>
            <a:lvl3pPr marL="1325563" indent="-266700">
              <a:spcBef>
                <a:spcPct val="25000"/>
              </a:spcBef>
              <a:buClr>
                <a:schemeClr val="folHlink"/>
              </a:buClr>
              <a:buFont typeface="Times"/>
              <a:buChar char="•"/>
              <a:defRPr sz="1400">
                <a:solidFill>
                  <a:schemeClr val="tx1"/>
                </a:solidFill>
                <a:latin typeface="Arial" charset="0"/>
              </a:defRPr>
            </a:lvl3pPr>
            <a:lvl4pPr marL="1771650" indent="-266700">
              <a:spcBef>
                <a:spcPct val="25000"/>
              </a:spcBef>
              <a:buClr>
                <a:schemeClr val="folHlink"/>
              </a:buClr>
              <a:buFont typeface="Times"/>
              <a:buChar char="•"/>
              <a:defRPr sz="1400">
                <a:solidFill>
                  <a:schemeClr val="tx1"/>
                </a:solidFill>
                <a:latin typeface="Arial" charset="0"/>
              </a:defRPr>
            </a:lvl4pPr>
            <a:lvl5pPr marL="2217738" indent="-266700">
              <a:spcBef>
                <a:spcPct val="25000"/>
              </a:spcBef>
              <a:buClr>
                <a:schemeClr val="folHlink"/>
              </a:buClr>
              <a:buSzPct val="50000"/>
              <a:buFont typeface="Times"/>
              <a:buChar char="•"/>
              <a:defRPr sz="1400">
                <a:solidFill>
                  <a:schemeClr val="tx1"/>
                </a:solidFill>
                <a:latin typeface="Arial" charset="0"/>
              </a:defRPr>
            </a:lvl5pPr>
            <a:lvl6pPr marL="2674938" indent="-266700" eaLnBrk="0" fontAlgn="base" hangingPunct="0">
              <a:spcBef>
                <a:spcPct val="25000"/>
              </a:spcBef>
              <a:spcAft>
                <a:spcPct val="0"/>
              </a:spcAft>
              <a:buClr>
                <a:schemeClr val="folHlink"/>
              </a:buClr>
              <a:buSzPct val="50000"/>
              <a:buFont typeface="Times"/>
              <a:buChar char="•"/>
              <a:defRPr sz="1400">
                <a:solidFill>
                  <a:schemeClr val="tx1"/>
                </a:solidFill>
                <a:latin typeface="Arial" charset="0"/>
              </a:defRPr>
            </a:lvl6pPr>
            <a:lvl7pPr marL="3132138" indent="-266700" eaLnBrk="0" fontAlgn="base" hangingPunct="0">
              <a:spcBef>
                <a:spcPct val="25000"/>
              </a:spcBef>
              <a:spcAft>
                <a:spcPct val="0"/>
              </a:spcAft>
              <a:buClr>
                <a:schemeClr val="folHlink"/>
              </a:buClr>
              <a:buSzPct val="50000"/>
              <a:buFont typeface="Times"/>
              <a:buChar char="•"/>
              <a:defRPr sz="1400">
                <a:solidFill>
                  <a:schemeClr val="tx1"/>
                </a:solidFill>
                <a:latin typeface="Arial" charset="0"/>
              </a:defRPr>
            </a:lvl7pPr>
            <a:lvl8pPr marL="3589338" indent="-266700" eaLnBrk="0" fontAlgn="base" hangingPunct="0">
              <a:spcBef>
                <a:spcPct val="25000"/>
              </a:spcBef>
              <a:spcAft>
                <a:spcPct val="0"/>
              </a:spcAft>
              <a:buClr>
                <a:schemeClr val="folHlink"/>
              </a:buClr>
              <a:buSzPct val="50000"/>
              <a:buFont typeface="Times"/>
              <a:buChar char="•"/>
              <a:defRPr sz="1400">
                <a:solidFill>
                  <a:schemeClr val="tx1"/>
                </a:solidFill>
                <a:latin typeface="Arial" charset="0"/>
              </a:defRPr>
            </a:lvl8pPr>
            <a:lvl9pPr marL="4046538" indent="-266700" eaLnBrk="0" fontAlgn="base" hangingPunct="0">
              <a:spcBef>
                <a:spcPct val="25000"/>
              </a:spcBef>
              <a:spcAft>
                <a:spcPct val="0"/>
              </a:spcAft>
              <a:buClr>
                <a:schemeClr val="folHlink"/>
              </a:buClr>
              <a:buSzPct val="50000"/>
              <a:buFont typeface="Times"/>
              <a:buChar char="•"/>
              <a:defRPr sz="1400">
                <a:solidFill>
                  <a:schemeClr val="tx1"/>
                </a:solidFill>
                <a:latin typeface="Arial" charset="0"/>
              </a:defRPr>
            </a:lvl9pPr>
          </a:lstStyle>
          <a:p>
            <a:r>
              <a:rPr lang="en-GB" altLang="en-US" sz="1700" dirty="0">
                <a:effectLst/>
              </a:rPr>
              <a:t>Such models show that </a:t>
            </a:r>
            <a:r>
              <a:rPr lang="en-GB" altLang="en-US" sz="1700" dirty="0">
                <a:solidFill>
                  <a:srgbClr val="FF66CC"/>
                </a:solidFill>
                <a:effectLst/>
              </a:rPr>
              <a:t>boudinage and extensional kink bands</a:t>
            </a:r>
            <a:r>
              <a:rPr lang="en-GB" altLang="en-US" sz="1700" dirty="0">
                <a:effectLst/>
              </a:rPr>
              <a:t> can be formed by </a:t>
            </a:r>
            <a:r>
              <a:rPr lang="en-GB" altLang="en-US" sz="1700" dirty="0">
                <a:solidFill>
                  <a:srgbClr val="FF6600"/>
                </a:solidFill>
                <a:effectLst/>
              </a:rPr>
              <a:t>layer-normal compression</a:t>
            </a:r>
            <a:r>
              <a:rPr lang="en-GB" altLang="en-US" sz="1700" dirty="0">
                <a:effectLst/>
              </a:rPr>
              <a:t> – they are not produced only by active layer-parallel extension</a:t>
            </a:r>
            <a:endParaRPr lang="en-GB" altLang="en-US" sz="1900" dirty="0">
              <a:solidFill>
                <a:srgbClr val="FF66CC"/>
              </a:solidFill>
              <a:effectLst/>
            </a:endParaRPr>
          </a:p>
        </p:txBody>
      </p:sp>
      <p:sp>
        <p:nvSpPr>
          <p:cNvPr id="280599" name="Line 23"/>
          <p:cNvSpPr>
            <a:spLocks noChangeShapeType="1"/>
          </p:cNvSpPr>
          <p:nvPr/>
        </p:nvSpPr>
        <p:spPr bwMode="auto">
          <a:xfrm>
            <a:off x="900113" y="3595688"/>
            <a:ext cx="536575" cy="0"/>
          </a:xfrm>
          <a:prstGeom prst="line">
            <a:avLst/>
          </a:prstGeom>
          <a:noFill/>
          <a:ln w="5715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280600" name="Line 24"/>
          <p:cNvSpPr>
            <a:spLocks noChangeShapeType="1"/>
          </p:cNvSpPr>
          <p:nvPr/>
        </p:nvSpPr>
        <p:spPr bwMode="auto">
          <a:xfrm rot="10800000">
            <a:off x="7167563" y="3595688"/>
            <a:ext cx="536575" cy="0"/>
          </a:xfrm>
          <a:prstGeom prst="line">
            <a:avLst/>
          </a:prstGeom>
          <a:noFill/>
          <a:ln w="5715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pic>
        <p:nvPicPr>
          <p:cNvPr id="280603" name="Picture 27"/>
          <p:cNvPicPr>
            <a:picLocks noGrp="1" noChangeAspect="1" noChangeArrowheads="1"/>
          </p:cNvPicPr>
          <p:nvPr>
            <p:ph sz="quarter" idx="3"/>
          </p:nvPr>
        </p:nvPicPr>
        <p:blipFill>
          <a:blip r:embed="rId4">
            <a:extLst>
              <a:ext uri="{28A0092B-C50C-407E-A947-70E740481C1C}">
                <a14:useLocalDpi xmlns:a14="http://schemas.microsoft.com/office/drawing/2010/main" val="0"/>
              </a:ext>
            </a:extLst>
          </a:blip>
          <a:srcRect/>
          <a:stretch>
            <a:fillRect/>
          </a:stretch>
        </p:blipFill>
        <p:spPr>
          <a:xfrm>
            <a:off x="7326313" y="1636713"/>
            <a:ext cx="1446212" cy="728662"/>
          </a:xfrm>
          <a:noFill/>
          <a:ln w="38100" cap="flat">
            <a:solidFill>
              <a:schemeClr val="bg2"/>
            </a:solidFill>
            <a:miter lim="800000"/>
            <a:headEnd/>
            <a:tailEnd/>
          </a:ln>
        </p:spPr>
      </p:pic>
    </p:spTree>
  </p:cSld>
  <p:clrMapOvr>
    <a:masterClrMapping/>
  </p:clrMapOvr>
  <p:transition spd="slow"/>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4674" name="Rectangle 2"/>
          <p:cNvSpPr>
            <a:spLocks noGrp="1" noChangeArrowheads="1"/>
          </p:cNvSpPr>
          <p:nvPr>
            <p:ph type="title"/>
          </p:nvPr>
        </p:nvSpPr>
        <p:spPr>
          <a:noFill/>
        </p:spPr>
        <p:txBody>
          <a:bodyPr/>
          <a:lstStyle/>
          <a:p>
            <a:r>
              <a:rPr lang="en-GB" altLang="en-US">
                <a:effectLst/>
              </a:rPr>
              <a:t>Buckling anisotropic rocks  4</a:t>
            </a:r>
          </a:p>
        </p:txBody>
      </p:sp>
      <p:sp>
        <p:nvSpPr>
          <p:cNvPr id="284675" name="Rectangle 3"/>
          <p:cNvSpPr>
            <a:spLocks noGrp="1" noChangeArrowheads="1"/>
          </p:cNvSpPr>
          <p:nvPr>
            <p:ph type="body" sz="half" idx="1"/>
          </p:nvPr>
        </p:nvSpPr>
        <p:spPr>
          <a:xfrm>
            <a:off x="371475" y="5307013"/>
            <a:ext cx="4754563" cy="1398587"/>
          </a:xfrm>
          <a:noFill/>
        </p:spPr>
        <p:txBody>
          <a:bodyPr/>
          <a:lstStyle/>
          <a:p>
            <a:pPr marL="0" indent="0">
              <a:spcBef>
                <a:spcPct val="75000"/>
              </a:spcBef>
              <a:buFont typeface="Times"/>
              <a:buNone/>
            </a:pPr>
            <a:r>
              <a:rPr lang="en-GB" altLang="en-US" sz="1400">
                <a:solidFill>
                  <a:srgbClr val="FFFF00"/>
                </a:solidFill>
                <a:effectLst/>
              </a:rPr>
              <a:t>Boudinage caused by layer normal compression</a:t>
            </a:r>
          </a:p>
          <a:p>
            <a:pPr marL="0" indent="0">
              <a:spcBef>
                <a:spcPct val="75000"/>
              </a:spcBef>
              <a:buFont typeface="Times"/>
              <a:buNone/>
            </a:pPr>
            <a:endParaRPr lang="en-GB" altLang="en-US" sz="1800">
              <a:solidFill>
                <a:srgbClr val="FFFF00"/>
              </a:solidFill>
              <a:effectLst/>
            </a:endParaRPr>
          </a:p>
          <a:p>
            <a:pPr marL="0" indent="0">
              <a:spcBef>
                <a:spcPct val="75000"/>
              </a:spcBef>
              <a:buFont typeface="Times"/>
              <a:buNone/>
            </a:pPr>
            <a:r>
              <a:rPr lang="en-GB" altLang="en-US" sz="1400">
                <a:solidFill>
                  <a:srgbClr val="FFFF00"/>
                </a:solidFill>
                <a:effectLst/>
              </a:rPr>
              <a:t>              Wavy folds caused by layer parallel compression</a:t>
            </a:r>
          </a:p>
        </p:txBody>
      </p:sp>
      <p:sp>
        <p:nvSpPr>
          <p:cNvPr id="284688" name="Line 16"/>
          <p:cNvSpPr>
            <a:spLocks noChangeShapeType="1"/>
          </p:cNvSpPr>
          <p:nvPr/>
        </p:nvSpPr>
        <p:spPr bwMode="auto">
          <a:xfrm>
            <a:off x="7850188" y="1638300"/>
            <a:ext cx="0" cy="461963"/>
          </a:xfrm>
          <a:prstGeom prst="line">
            <a:avLst/>
          </a:prstGeom>
          <a:noFill/>
          <a:ln w="381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284689" name="Line 17"/>
          <p:cNvSpPr>
            <a:spLocks noChangeShapeType="1"/>
          </p:cNvSpPr>
          <p:nvPr/>
        </p:nvSpPr>
        <p:spPr bwMode="auto">
          <a:xfrm rot="10800000">
            <a:off x="7850188" y="2517775"/>
            <a:ext cx="0" cy="461963"/>
          </a:xfrm>
          <a:prstGeom prst="line">
            <a:avLst/>
          </a:prstGeom>
          <a:noFill/>
          <a:ln w="381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pic>
        <p:nvPicPr>
          <p:cNvPr id="284690" name="Picture 18" descr="07d1-Tintagel"/>
          <p:cNvPicPr>
            <a:picLocks noChangeAspect="1" noChangeArrowheads="1"/>
          </p:cNvPicPr>
          <p:nvPr/>
        </p:nvPicPr>
        <p:blipFill>
          <a:blip r:embed="rId3">
            <a:lum bright="4000"/>
            <a:extLst>
              <a:ext uri="{28A0092B-C50C-407E-A947-70E740481C1C}">
                <a14:useLocalDpi xmlns:a14="http://schemas.microsoft.com/office/drawing/2010/main" val="0"/>
              </a:ext>
            </a:extLst>
          </a:blip>
          <a:srcRect/>
          <a:stretch>
            <a:fillRect/>
          </a:stretch>
        </p:blipFill>
        <p:spPr bwMode="auto">
          <a:xfrm>
            <a:off x="171450" y="865188"/>
            <a:ext cx="6354763" cy="4262437"/>
          </a:xfrm>
          <a:prstGeom prst="rect">
            <a:avLst/>
          </a:prstGeo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Lst>
        </p:spPr>
      </p:pic>
      <p:pic>
        <p:nvPicPr>
          <p:cNvPr id="284691" name="Picture 19" descr="07e-Marloes"/>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86363" y="3905250"/>
            <a:ext cx="3752850" cy="2786063"/>
          </a:xfrm>
          <a:prstGeom prst="rect">
            <a:avLst/>
          </a:prstGeo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p:transition spd="slow"/>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9794" name="Rectangle 2"/>
          <p:cNvSpPr>
            <a:spLocks noGrp="1" noChangeArrowheads="1"/>
          </p:cNvSpPr>
          <p:nvPr>
            <p:ph type="title"/>
          </p:nvPr>
        </p:nvSpPr>
        <p:spPr>
          <a:noFill/>
        </p:spPr>
        <p:txBody>
          <a:bodyPr/>
          <a:lstStyle/>
          <a:p>
            <a:r>
              <a:rPr lang="en-GB" altLang="en-US">
                <a:effectLst/>
              </a:rPr>
              <a:t>Buckling anisotropic rocks  5</a:t>
            </a:r>
          </a:p>
        </p:txBody>
      </p:sp>
      <p:sp>
        <p:nvSpPr>
          <p:cNvPr id="289798" name="Text Box 6"/>
          <p:cNvSpPr txBox="1">
            <a:spLocks noChangeArrowheads="1"/>
          </p:cNvSpPr>
          <p:nvPr/>
        </p:nvSpPr>
        <p:spPr bwMode="auto">
          <a:xfrm>
            <a:off x="115888" y="760413"/>
            <a:ext cx="8869362" cy="1336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82563" indent="-182563">
              <a:defRPr sz="1600">
                <a:solidFill>
                  <a:schemeClr val="tx1"/>
                </a:solidFill>
                <a:latin typeface="Helvetica" charset="0"/>
              </a:defRPr>
            </a:lvl1pPr>
            <a:lvl2pPr>
              <a:defRPr sz="1600">
                <a:solidFill>
                  <a:schemeClr val="tx1"/>
                </a:solidFill>
                <a:latin typeface="Helvetica" charset="0"/>
              </a:defRPr>
            </a:lvl2pPr>
            <a:lvl3pPr>
              <a:defRPr sz="1600">
                <a:solidFill>
                  <a:schemeClr val="tx1"/>
                </a:solidFill>
                <a:latin typeface="Helvetica" charset="0"/>
              </a:defRPr>
            </a:lvl3pPr>
            <a:lvl4pPr>
              <a:defRPr sz="1600">
                <a:solidFill>
                  <a:schemeClr val="tx1"/>
                </a:solidFill>
                <a:latin typeface="Helvetica" charset="0"/>
              </a:defRPr>
            </a:lvl4pPr>
            <a:lvl5pPr>
              <a:defRPr sz="1600">
                <a:solidFill>
                  <a:schemeClr val="tx1"/>
                </a:solidFill>
                <a:latin typeface="Helvetica" charset="0"/>
              </a:defRPr>
            </a:lvl5pPr>
            <a:lvl6pPr eaLnBrk="0" fontAlgn="base" hangingPunct="0">
              <a:spcBef>
                <a:spcPct val="20000"/>
              </a:spcBef>
              <a:spcAft>
                <a:spcPct val="0"/>
              </a:spcAft>
              <a:buClr>
                <a:schemeClr val="accent2"/>
              </a:buClr>
              <a:defRPr sz="1600">
                <a:solidFill>
                  <a:schemeClr val="tx1"/>
                </a:solidFill>
                <a:latin typeface="Helvetica" charset="0"/>
              </a:defRPr>
            </a:lvl6pPr>
            <a:lvl7pPr eaLnBrk="0" fontAlgn="base" hangingPunct="0">
              <a:spcBef>
                <a:spcPct val="20000"/>
              </a:spcBef>
              <a:spcAft>
                <a:spcPct val="0"/>
              </a:spcAft>
              <a:buClr>
                <a:schemeClr val="accent2"/>
              </a:buClr>
              <a:defRPr sz="1600">
                <a:solidFill>
                  <a:schemeClr val="tx1"/>
                </a:solidFill>
                <a:latin typeface="Helvetica" charset="0"/>
              </a:defRPr>
            </a:lvl7pPr>
            <a:lvl8pPr eaLnBrk="0" fontAlgn="base" hangingPunct="0">
              <a:spcBef>
                <a:spcPct val="20000"/>
              </a:spcBef>
              <a:spcAft>
                <a:spcPct val="0"/>
              </a:spcAft>
              <a:buClr>
                <a:schemeClr val="accent2"/>
              </a:buClr>
              <a:defRPr sz="1600">
                <a:solidFill>
                  <a:schemeClr val="tx1"/>
                </a:solidFill>
                <a:latin typeface="Helvetica" charset="0"/>
              </a:defRPr>
            </a:lvl8pPr>
            <a:lvl9pPr eaLnBrk="0" fontAlgn="base" hangingPunct="0">
              <a:spcBef>
                <a:spcPct val="20000"/>
              </a:spcBef>
              <a:spcAft>
                <a:spcPct val="0"/>
              </a:spcAft>
              <a:buClr>
                <a:schemeClr val="accent2"/>
              </a:buClr>
              <a:defRPr sz="1600">
                <a:solidFill>
                  <a:schemeClr val="tx1"/>
                </a:solidFill>
                <a:latin typeface="Helvetica" charset="0"/>
              </a:defRPr>
            </a:lvl9pPr>
          </a:lstStyle>
          <a:p>
            <a:pPr>
              <a:lnSpc>
                <a:spcPct val="120000"/>
              </a:lnSpc>
              <a:spcBef>
                <a:spcPct val="50000"/>
              </a:spcBef>
              <a:buClr>
                <a:schemeClr val="tx1"/>
              </a:buClr>
              <a:buFontTx/>
              <a:buChar char="•"/>
            </a:pPr>
            <a:r>
              <a:rPr lang="en-GB" altLang="en-US" sz="1700">
                <a:effectLst>
                  <a:outerShdw blurRad="38100" dist="38100" dir="2700000" algn="tl">
                    <a:srgbClr val="000000"/>
                  </a:outerShdw>
                </a:effectLst>
                <a:latin typeface="Arial" charset="0"/>
              </a:rPr>
              <a:t>Kink bands are </a:t>
            </a:r>
            <a:r>
              <a:rPr lang="en-GB" altLang="en-US" sz="1700">
                <a:solidFill>
                  <a:srgbClr val="FF6600"/>
                </a:solidFill>
                <a:effectLst>
                  <a:outerShdw blurRad="38100" dist="38100" dir="2700000" algn="tl">
                    <a:srgbClr val="000000"/>
                  </a:outerShdw>
                </a:effectLst>
                <a:latin typeface="Arial" charset="0"/>
              </a:rPr>
              <a:t>very common late orogenic structures</a:t>
            </a:r>
            <a:r>
              <a:rPr lang="en-GB" altLang="en-US" sz="1700">
                <a:effectLst>
                  <a:outerShdw blurRad="38100" dist="38100" dir="2700000" algn="tl">
                    <a:srgbClr val="000000"/>
                  </a:outerShdw>
                </a:effectLst>
                <a:latin typeface="Arial" charset="0"/>
              </a:rPr>
              <a:t>, formed when anisotropic rocks are subjected to final readjustments. Kink bands of this kind (</a:t>
            </a:r>
            <a:r>
              <a:rPr lang="en-GB" altLang="en-US" sz="1700" i="1">
                <a:effectLst>
                  <a:outerShdw blurRad="38100" dist="38100" dir="2700000" algn="tl">
                    <a:srgbClr val="000000"/>
                  </a:outerShdw>
                </a:effectLst>
                <a:latin typeface="Arial" charset="0"/>
              </a:rPr>
              <a:t>e.g</a:t>
            </a:r>
            <a:r>
              <a:rPr lang="en-GB" altLang="en-US" sz="1700">
                <a:effectLst>
                  <a:outerShdw blurRad="38100" dist="38100" dir="2700000" algn="tl">
                    <a:srgbClr val="000000"/>
                  </a:outerShdw>
                </a:effectLst>
                <a:latin typeface="Arial" charset="0"/>
              </a:rPr>
              <a:t>., below left) have earned the nickname </a:t>
            </a:r>
            <a:r>
              <a:rPr lang="en-GB" altLang="en-US" sz="1700">
                <a:solidFill>
                  <a:srgbClr val="FF66CC"/>
                </a:solidFill>
                <a:effectLst>
                  <a:outerShdw blurRad="38100" dist="38100" dir="2700000" algn="tl">
                    <a:srgbClr val="000000"/>
                  </a:outerShdw>
                </a:effectLst>
                <a:latin typeface="Arial" charset="0"/>
              </a:rPr>
              <a:t>“fag-end” structures</a:t>
            </a:r>
            <a:r>
              <a:rPr lang="en-GB" altLang="en-US" sz="1700">
                <a:effectLst>
                  <a:outerShdw blurRad="38100" dist="38100" dir="2700000" algn="tl">
                    <a:srgbClr val="000000"/>
                  </a:outerShdw>
                </a:effectLst>
                <a:latin typeface="Arial" charset="0"/>
              </a:rPr>
              <a:t> reflecting the lack of information that they provide about the main deformation events</a:t>
            </a:r>
          </a:p>
        </p:txBody>
      </p:sp>
      <p:sp>
        <p:nvSpPr>
          <p:cNvPr id="289806" name="Text Box 14"/>
          <p:cNvSpPr txBox="1">
            <a:spLocks noChangeArrowheads="1"/>
          </p:cNvSpPr>
          <p:nvPr/>
        </p:nvSpPr>
        <p:spPr bwMode="auto">
          <a:xfrm>
            <a:off x="3462338" y="2139950"/>
            <a:ext cx="5486400" cy="1025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82563" indent="-182563">
              <a:defRPr sz="1600">
                <a:solidFill>
                  <a:schemeClr val="tx1"/>
                </a:solidFill>
                <a:latin typeface="Helvetica" charset="0"/>
              </a:defRPr>
            </a:lvl1pPr>
            <a:lvl2pPr>
              <a:defRPr sz="1600">
                <a:solidFill>
                  <a:schemeClr val="tx1"/>
                </a:solidFill>
                <a:latin typeface="Helvetica" charset="0"/>
              </a:defRPr>
            </a:lvl2pPr>
            <a:lvl3pPr>
              <a:defRPr sz="1600">
                <a:solidFill>
                  <a:schemeClr val="tx1"/>
                </a:solidFill>
                <a:latin typeface="Helvetica" charset="0"/>
              </a:defRPr>
            </a:lvl3pPr>
            <a:lvl4pPr>
              <a:defRPr sz="1600">
                <a:solidFill>
                  <a:schemeClr val="tx1"/>
                </a:solidFill>
                <a:latin typeface="Helvetica" charset="0"/>
              </a:defRPr>
            </a:lvl4pPr>
            <a:lvl5pPr>
              <a:defRPr sz="1600">
                <a:solidFill>
                  <a:schemeClr val="tx1"/>
                </a:solidFill>
                <a:latin typeface="Helvetica" charset="0"/>
              </a:defRPr>
            </a:lvl5pPr>
            <a:lvl6pPr eaLnBrk="0" fontAlgn="base" hangingPunct="0">
              <a:spcBef>
                <a:spcPct val="20000"/>
              </a:spcBef>
              <a:spcAft>
                <a:spcPct val="0"/>
              </a:spcAft>
              <a:buClr>
                <a:schemeClr val="accent2"/>
              </a:buClr>
              <a:defRPr sz="1600">
                <a:solidFill>
                  <a:schemeClr val="tx1"/>
                </a:solidFill>
                <a:latin typeface="Helvetica" charset="0"/>
              </a:defRPr>
            </a:lvl6pPr>
            <a:lvl7pPr eaLnBrk="0" fontAlgn="base" hangingPunct="0">
              <a:spcBef>
                <a:spcPct val="20000"/>
              </a:spcBef>
              <a:spcAft>
                <a:spcPct val="0"/>
              </a:spcAft>
              <a:buClr>
                <a:schemeClr val="accent2"/>
              </a:buClr>
              <a:defRPr sz="1600">
                <a:solidFill>
                  <a:schemeClr val="tx1"/>
                </a:solidFill>
                <a:latin typeface="Helvetica" charset="0"/>
              </a:defRPr>
            </a:lvl7pPr>
            <a:lvl8pPr eaLnBrk="0" fontAlgn="base" hangingPunct="0">
              <a:spcBef>
                <a:spcPct val="20000"/>
              </a:spcBef>
              <a:spcAft>
                <a:spcPct val="0"/>
              </a:spcAft>
              <a:buClr>
                <a:schemeClr val="accent2"/>
              </a:buClr>
              <a:defRPr sz="1600">
                <a:solidFill>
                  <a:schemeClr val="tx1"/>
                </a:solidFill>
                <a:latin typeface="Helvetica" charset="0"/>
              </a:defRPr>
            </a:lvl8pPr>
            <a:lvl9pPr eaLnBrk="0" fontAlgn="base" hangingPunct="0">
              <a:spcBef>
                <a:spcPct val="20000"/>
              </a:spcBef>
              <a:spcAft>
                <a:spcPct val="0"/>
              </a:spcAft>
              <a:buClr>
                <a:schemeClr val="accent2"/>
              </a:buClr>
              <a:defRPr sz="1600">
                <a:solidFill>
                  <a:schemeClr val="tx1"/>
                </a:solidFill>
                <a:latin typeface="Helvetica" charset="0"/>
              </a:defRPr>
            </a:lvl9pPr>
          </a:lstStyle>
          <a:p>
            <a:pPr>
              <a:lnSpc>
                <a:spcPct val="120000"/>
              </a:lnSpc>
              <a:spcBef>
                <a:spcPct val="50000"/>
              </a:spcBef>
              <a:buClr>
                <a:schemeClr val="tx1"/>
              </a:buClr>
              <a:buFontTx/>
              <a:buChar char="•"/>
            </a:pPr>
            <a:r>
              <a:rPr lang="en-GB" altLang="en-US" sz="1700">
                <a:effectLst>
                  <a:outerShdw blurRad="38100" dist="38100" dir="2700000" algn="tl">
                    <a:srgbClr val="000000"/>
                  </a:outerShdw>
                </a:effectLst>
                <a:latin typeface="Arial" charset="0"/>
              </a:rPr>
              <a:t>However, much </a:t>
            </a:r>
            <a:r>
              <a:rPr lang="en-GB" altLang="en-US" sz="1700">
                <a:solidFill>
                  <a:srgbClr val="FF66CC"/>
                </a:solidFill>
                <a:effectLst>
                  <a:outerShdw blurRad="38100" dist="38100" dir="2700000" algn="tl">
                    <a:srgbClr val="000000"/>
                  </a:outerShdw>
                </a:effectLst>
                <a:latin typeface="Arial" charset="0"/>
              </a:rPr>
              <a:t>larger scale folds</a:t>
            </a:r>
            <a:r>
              <a:rPr lang="en-GB" altLang="en-US" sz="1700">
                <a:effectLst>
                  <a:outerShdw blurRad="38100" dist="38100" dir="2700000" algn="tl">
                    <a:srgbClr val="000000"/>
                  </a:outerShdw>
                </a:effectLst>
                <a:latin typeface="Arial" charset="0"/>
              </a:rPr>
              <a:t> with kink-band-like geometry (</a:t>
            </a:r>
            <a:r>
              <a:rPr lang="en-GB" altLang="en-US" sz="1700" i="1">
                <a:effectLst>
                  <a:outerShdw blurRad="38100" dist="38100" dir="2700000" algn="tl">
                    <a:srgbClr val="000000"/>
                  </a:outerShdw>
                </a:effectLst>
                <a:latin typeface="Arial" charset="0"/>
              </a:rPr>
              <a:t>e.g</a:t>
            </a:r>
            <a:r>
              <a:rPr lang="en-GB" altLang="en-US" sz="1700">
                <a:effectLst>
                  <a:outerShdw blurRad="38100" dist="38100" dir="2700000" algn="tl">
                    <a:srgbClr val="000000"/>
                  </a:outerShdw>
                </a:effectLst>
                <a:latin typeface="Arial" charset="0"/>
              </a:rPr>
              <a:t>., below right) indicate that this style of folding can have more than “fag-end” significance</a:t>
            </a:r>
          </a:p>
        </p:txBody>
      </p:sp>
      <p:pic>
        <p:nvPicPr>
          <p:cNvPr id="289807" name="Picture 15" descr="07f-kink"/>
          <p:cNvPicPr>
            <a:picLocks noChangeAspect="1" noChangeArrowheads="1"/>
          </p:cNvPicPr>
          <p:nvPr/>
        </p:nvPicPr>
        <p:blipFill>
          <a:blip r:embed="rId3">
            <a:lum bright="4000"/>
            <a:extLst>
              <a:ext uri="{28A0092B-C50C-407E-A947-70E740481C1C}">
                <a14:useLocalDpi xmlns:a14="http://schemas.microsoft.com/office/drawing/2010/main" val="0"/>
              </a:ext>
            </a:extLst>
          </a:blip>
          <a:srcRect/>
          <a:stretch>
            <a:fillRect/>
          </a:stretch>
        </p:blipFill>
        <p:spPr bwMode="auto">
          <a:xfrm>
            <a:off x="239713" y="2214563"/>
            <a:ext cx="3005137" cy="4454525"/>
          </a:xfrm>
          <a:prstGeom prst="rect">
            <a:avLst/>
          </a:prstGeo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Lst>
        </p:spPr>
      </p:pic>
      <p:pic>
        <p:nvPicPr>
          <p:cNvPr id="289809" name="Picture 17" descr="07g-NDevon"/>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478213" y="3289300"/>
            <a:ext cx="5459412" cy="3379788"/>
          </a:xfrm>
          <a:prstGeom prst="rect">
            <a:avLst/>
          </a:prstGeo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p:transition spd="slow"/>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82" name="Rectangle 2"/>
          <p:cNvSpPr>
            <a:spLocks noGrp="1" noChangeArrowheads="1"/>
          </p:cNvSpPr>
          <p:nvPr>
            <p:ph type="title"/>
          </p:nvPr>
        </p:nvSpPr>
        <p:spPr>
          <a:noFill/>
        </p:spPr>
        <p:txBody>
          <a:bodyPr/>
          <a:lstStyle/>
          <a:p>
            <a:r>
              <a:rPr lang="en-GB" altLang="en-US">
                <a:effectLst/>
              </a:rPr>
              <a:t>The life and times of a buckle fold  1 </a:t>
            </a:r>
          </a:p>
        </p:txBody>
      </p:sp>
      <p:sp>
        <p:nvSpPr>
          <p:cNvPr id="225283" name="Rectangle 3"/>
          <p:cNvSpPr>
            <a:spLocks noGrp="1" noChangeArrowheads="1"/>
          </p:cNvSpPr>
          <p:nvPr>
            <p:ph type="body" sz="half" idx="1"/>
          </p:nvPr>
        </p:nvSpPr>
        <p:spPr>
          <a:xfrm>
            <a:off x="112713" y="774700"/>
            <a:ext cx="8888412" cy="534988"/>
          </a:xfrm>
          <a:noFill/>
        </p:spPr>
        <p:txBody>
          <a:bodyPr/>
          <a:lstStyle/>
          <a:p>
            <a:pPr marL="177800" indent="-177800"/>
            <a:r>
              <a:rPr lang="en-GB" altLang="en-US" sz="1700">
                <a:effectLst/>
              </a:rPr>
              <a:t>The development of buckle folds during layer-parallel compression occurs in </a:t>
            </a:r>
            <a:r>
              <a:rPr lang="en-GB" altLang="en-US" sz="1700">
                <a:solidFill>
                  <a:srgbClr val="FF6600"/>
                </a:solidFill>
                <a:effectLst/>
              </a:rPr>
              <a:t>4 stages</a:t>
            </a:r>
            <a:r>
              <a:rPr lang="en-GB" altLang="en-US" sz="1700">
                <a:effectLst/>
              </a:rPr>
              <a:t>:</a:t>
            </a:r>
          </a:p>
        </p:txBody>
      </p:sp>
      <p:pic>
        <p:nvPicPr>
          <p:cNvPr id="225295" name="Picture 15" descr="08a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7838" y="1295400"/>
            <a:ext cx="4044950" cy="4260850"/>
          </a:xfrm>
          <a:prstGeom prst="rect">
            <a:avLst/>
          </a:prstGeom>
          <a:noFill/>
          <a:ln w="38100">
            <a:solidFill>
              <a:schemeClr val="bg2"/>
            </a:solidFill>
            <a:miter lim="800000"/>
            <a:headEnd/>
            <a:tailEnd/>
          </a:ln>
          <a:extLst>
            <a:ext uri="{909E8E84-426E-40DD-AFC4-6F175D3DCCD1}">
              <a14:hiddenFill xmlns:a14="http://schemas.microsoft.com/office/drawing/2010/main">
                <a:solidFill>
                  <a:srgbClr val="FFFFFF"/>
                </a:solidFill>
              </a14:hiddenFill>
            </a:ext>
          </a:extLst>
        </p:spPr>
      </p:pic>
      <p:pic>
        <p:nvPicPr>
          <p:cNvPr id="225297" name="Picture 17" descr="08a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32338" y="3589338"/>
            <a:ext cx="4221162" cy="2989262"/>
          </a:xfrm>
          <a:prstGeom prst="rect">
            <a:avLst/>
          </a:prstGeom>
          <a:noFill/>
          <a:ln w="38100">
            <a:solidFill>
              <a:schemeClr val="bg2"/>
            </a:solidFill>
            <a:miter lim="800000"/>
            <a:headEnd/>
            <a:tailEnd/>
          </a:ln>
          <a:extLst>
            <a:ext uri="{909E8E84-426E-40DD-AFC4-6F175D3DCCD1}">
              <a14:hiddenFill xmlns:a14="http://schemas.microsoft.com/office/drawing/2010/main">
                <a:solidFill>
                  <a:srgbClr val="FFFFFF"/>
                </a:solidFill>
              </a14:hiddenFill>
            </a:ext>
          </a:extLst>
        </p:spPr>
      </p:pic>
      <p:sp>
        <p:nvSpPr>
          <p:cNvPr id="225299" name="Text Box 19"/>
          <p:cNvSpPr txBox="1">
            <a:spLocks noChangeArrowheads="1"/>
          </p:cNvSpPr>
          <p:nvPr/>
        </p:nvSpPr>
        <p:spPr bwMode="auto">
          <a:xfrm>
            <a:off x="131763" y="1508125"/>
            <a:ext cx="37465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GB" altLang="en-US">
                <a:solidFill>
                  <a:srgbClr val="FFFF00"/>
                </a:solidFill>
                <a:effectLst>
                  <a:outerShdw blurRad="38100" dist="38100" dir="2700000" algn="tl">
                    <a:srgbClr val="000000"/>
                  </a:outerShdw>
                </a:effectLst>
                <a:latin typeface="Arial" charset="0"/>
              </a:rPr>
              <a:t>0</a:t>
            </a:r>
          </a:p>
        </p:txBody>
      </p:sp>
      <p:sp>
        <p:nvSpPr>
          <p:cNvPr id="225300" name="Text Box 20"/>
          <p:cNvSpPr txBox="1">
            <a:spLocks noChangeArrowheads="1"/>
          </p:cNvSpPr>
          <p:nvPr/>
        </p:nvSpPr>
        <p:spPr bwMode="auto">
          <a:xfrm>
            <a:off x="131763" y="2276475"/>
            <a:ext cx="37465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GB" altLang="en-US">
                <a:solidFill>
                  <a:srgbClr val="FFFF00"/>
                </a:solidFill>
                <a:effectLst>
                  <a:outerShdw blurRad="38100" dist="38100" dir="2700000" algn="tl">
                    <a:srgbClr val="000000"/>
                  </a:outerShdw>
                </a:effectLst>
                <a:latin typeface="Arial" charset="0"/>
              </a:rPr>
              <a:t>1</a:t>
            </a:r>
          </a:p>
        </p:txBody>
      </p:sp>
      <p:sp>
        <p:nvSpPr>
          <p:cNvPr id="225301" name="Text Box 21"/>
          <p:cNvSpPr txBox="1">
            <a:spLocks noChangeArrowheads="1"/>
          </p:cNvSpPr>
          <p:nvPr/>
        </p:nvSpPr>
        <p:spPr bwMode="auto">
          <a:xfrm>
            <a:off x="131763" y="3522663"/>
            <a:ext cx="37465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GB" altLang="en-US">
                <a:solidFill>
                  <a:srgbClr val="FFFF00"/>
                </a:solidFill>
                <a:effectLst>
                  <a:outerShdw blurRad="38100" dist="38100" dir="2700000" algn="tl">
                    <a:srgbClr val="000000"/>
                  </a:outerShdw>
                </a:effectLst>
                <a:latin typeface="Arial" charset="0"/>
              </a:rPr>
              <a:t>2</a:t>
            </a:r>
          </a:p>
        </p:txBody>
      </p:sp>
      <p:sp>
        <p:nvSpPr>
          <p:cNvPr id="225302" name="Text Box 22"/>
          <p:cNvSpPr txBox="1">
            <a:spLocks noChangeArrowheads="1"/>
          </p:cNvSpPr>
          <p:nvPr/>
        </p:nvSpPr>
        <p:spPr bwMode="auto">
          <a:xfrm>
            <a:off x="131763" y="5038725"/>
            <a:ext cx="37465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GB" altLang="en-US">
                <a:solidFill>
                  <a:srgbClr val="FFFF00"/>
                </a:solidFill>
                <a:effectLst>
                  <a:outerShdw blurRad="38100" dist="38100" dir="2700000" algn="tl">
                    <a:srgbClr val="000000"/>
                  </a:outerShdw>
                </a:effectLst>
                <a:latin typeface="Arial" charset="0"/>
              </a:rPr>
              <a:t>3</a:t>
            </a:r>
          </a:p>
        </p:txBody>
      </p:sp>
      <p:sp>
        <p:nvSpPr>
          <p:cNvPr id="225303" name="Text Box 23"/>
          <p:cNvSpPr txBox="1">
            <a:spLocks noChangeArrowheads="1"/>
          </p:cNvSpPr>
          <p:nvPr/>
        </p:nvSpPr>
        <p:spPr bwMode="auto">
          <a:xfrm>
            <a:off x="5273675" y="5357813"/>
            <a:ext cx="37465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GB" altLang="en-US">
                <a:solidFill>
                  <a:srgbClr val="FF0000"/>
                </a:solidFill>
                <a:effectLst/>
                <a:latin typeface="Arial" charset="0"/>
              </a:rPr>
              <a:t>2</a:t>
            </a:r>
          </a:p>
        </p:txBody>
      </p:sp>
      <p:sp>
        <p:nvSpPr>
          <p:cNvPr id="225304" name="Text Box 24"/>
          <p:cNvSpPr txBox="1">
            <a:spLocks noChangeArrowheads="1"/>
          </p:cNvSpPr>
          <p:nvPr/>
        </p:nvSpPr>
        <p:spPr bwMode="auto">
          <a:xfrm>
            <a:off x="6111875" y="3973513"/>
            <a:ext cx="37465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GB" altLang="en-US">
                <a:solidFill>
                  <a:srgbClr val="FF0000"/>
                </a:solidFill>
                <a:effectLst/>
                <a:latin typeface="Arial" charset="0"/>
              </a:rPr>
              <a:t>3</a:t>
            </a:r>
          </a:p>
        </p:txBody>
      </p:sp>
      <p:sp>
        <p:nvSpPr>
          <p:cNvPr id="225305" name="Text Box 25"/>
          <p:cNvSpPr txBox="1">
            <a:spLocks noChangeArrowheads="1"/>
          </p:cNvSpPr>
          <p:nvPr/>
        </p:nvSpPr>
        <p:spPr bwMode="auto">
          <a:xfrm>
            <a:off x="7796213" y="3713163"/>
            <a:ext cx="37465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GB" altLang="en-US">
                <a:solidFill>
                  <a:srgbClr val="FF0000"/>
                </a:solidFill>
                <a:effectLst/>
                <a:latin typeface="Arial" charset="0"/>
              </a:rPr>
              <a:t>4</a:t>
            </a:r>
          </a:p>
        </p:txBody>
      </p:sp>
      <p:sp>
        <p:nvSpPr>
          <p:cNvPr id="225306" name="Rectangle 26"/>
          <p:cNvSpPr>
            <a:spLocks noChangeArrowheads="1"/>
          </p:cNvSpPr>
          <p:nvPr/>
        </p:nvSpPr>
        <p:spPr bwMode="auto">
          <a:xfrm>
            <a:off x="4989513" y="1225550"/>
            <a:ext cx="3657600" cy="21542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269875" indent="-269875">
              <a:lnSpc>
                <a:spcPct val="120000"/>
              </a:lnSpc>
              <a:spcBef>
                <a:spcPct val="100000"/>
              </a:spcBef>
              <a:buClr>
                <a:schemeClr val="folHlink"/>
              </a:buClr>
              <a:buSzPct val="100000"/>
              <a:buFont typeface="Times"/>
              <a:buChar char="•"/>
              <a:defRPr>
                <a:solidFill>
                  <a:schemeClr val="tx1"/>
                </a:solidFill>
                <a:latin typeface="Arial" charset="0"/>
              </a:defRPr>
            </a:lvl1pPr>
            <a:lvl2pPr marL="712788" indent="-263525">
              <a:lnSpc>
                <a:spcPct val="120000"/>
              </a:lnSpc>
              <a:spcBef>
                <a:spcPct val="50000"/>
              </a:spcBef>
              <a:buClr>
                <a:schemeClr val="folHlink"/>
              </a:buClr>
              <a:buSzPct val="100000"/>
              <a:buFont typeface="Times"/>
              <a:buChar char="•"/>
              <a:defRPr sz="1600">
                <a:solidFill>
                  <a:schemeClr val="tx1"/>
                </a:solidFill>
                <a:latin typeface="Arial" charset="0"/>
              </a:defRPr>
            </a:lvl2pPr>
            <a:lvl3pPr marL="1401763" indent="-304800">
              <a:spcBef>
                <a:spcPct val="25000"/>
              </a:spcBef>
              <a:buClr>
                <a:schemeClr val="folHlink"/>
              </a:buClr>
              <a:buFont typeface="Times"/>
              <a:buChar char="•"/>
              <a:defRPr sz="1400">
                <a:solidFill>
                  <a:schemeClr val="tx1"/>
                </a:solidFill>
                <a:latin typeface="Arial" charset="0"/>
              </a:defRPr>
            </a:lvl3pPr>
            <a:lvl4pPr marL="1885950" indent="-304800">
              <a:spcBef>
                <a:spcPct val="25000"/>
              </a:spcBef>
              <a:buClr>
                <a:schemeClr val="folHlink"/>
              </a:buClr>
              <a:buFont typeface="Times"/>
              <a:buChar char="•"/>
              <a:defRPr sz="1400">
                <a:solidFill>
                  <a:schemeClr val="tx1"/>
                </a:solidFill>
                <a:latin typeface="Arial" charset="0"/>
              </a:defRPr>
            </a:lvl4pPr>
            <a:lvl5pPr marL="2370138" indent="-304800">
              <a:spcBef>
                <a:spcPct val="25000"/>
              </a:spcBef>
              <a:buClr>
                <a:schemeClr val="folHlink"/>
              </a:buClr>
              <a:buSzPct val="50000"/>
              <a:buFont typeface="Times"/>
              <a:buChar char="•"/>
              <a:defRPr sz="1400">
                <a:solidFill>
                  <a:schemeClr val="tx1"/>
                </a:solidFill>
                <a:latin typeface="Arial" charset="0"/>
              </a:defRPr>
            </a:lvl5pPr>
            <a:lvl6pPr marL="2827338" indent="-304800" eaLnBrk="0" fontAlgn="base" hangingPunct="0">
              <a:spcBef>
                <a:spcPct val="25000"/>
              </a:spcBef>
              <a:spcAft>
                <a:spcPct val="0"/>
              </a:spcAft>
              <a:buClr>
                <a:schemeClr val="folHlink"/>
              </a:buClr>
              <a:buSzPct val="50000"/>
              <a:buFont typeface="Times"/>
              <a:buChar char="•"/>
              <a:defRPr sz="1400">
                <a:solidFill>
                  <a:schemeClr val="tx1"/>
                </a:solidFill>
                <a:latin typeface="Arial" charset="0"/>
              </a:defRPr>
            </a:lvl6pPr>
            <a:lvl7pPr marL="3284538" indent="-304800" eaLnBrk="0" fontAlgn="base" hangingPunct="0">
              <a:spcBef>
                <a:spcPct val="25000"/>
              </a:spcBef>
              <a:spcAft>
                <a:spcPct val="0"/>
              </a:spcAft>
              <a:buClr>
                <a:schemeClr val="folHlink"/>
              </a:buClr>
              <a:buSzPct val="50000"/>
              <a:buFont typeface="Times"/>
              <a:buChar char="•"/>
              <a:defRPr sz="1400">
                <a:solidFill>
                  <a:schemeClr val="tx1"/>
                </a:solidFill>
                <a:latin typeface="Arial" charset="0"/>
              </a:defRPr>
            </a:lvl7pPr>
            <a:lvl8pPr marL="3741738" indent="-304800" eaLnBrk="0" fontAlgn="base" hangingPunct="0">
              <a:spcBef>
                <a:spcPct val="25000"/>
              </a:spcBef>
              <a:spcAft>
                <a:spcPct val="0"/>
              </a:spcAft>
              <a:buClr>
                <a:schemeClr val="folHlink"/>
              </a:buClr>
              <a:buSzPct val="50000"/>
              <a:buFont typeface="Times"/>
              <a:buChar char="•"/>
              <a:defRPr sz="1400">
                <a:solidFill>
                  <a:schemeClr val="tx1"/>
                </a:solidFill>
                <a:latin typeface="Arial" charset="0"/>
              </a:defRPr>
            </a:lvl8pPr>
            <a:lvl9pPr marL="4198938" indent="-304800" eaLnBrk="0" fontAlgn="base" hangingPunct="0">
              <a:spcBef>
                <a:spcPct val="25000"/>
              </a:spcBef>
              <a:spcAft>
                <a:spcPct val="0"/>
              </a:spcAft>
              <a:buClr>
                <a:schemeClr val="folHlink"/>
              </a:buClr>
              <a:buSzPct val="50000"/>
              <a:buFont typeface="Times"/>
              <a:buChar char="•"/>
              <a:defRPr sz="1400">
                <a:solidFill>
                  <a:schemeClr val="tx1"/>
                </a:solidFill>
                <a:latin typeface="Arial" charset="0"/>
              </a:defRPr>
            </a:lvl9pPr>
          </a:lstStyle>
          <a:p>
            <a:pPr>
              <a:spcBef>
                <a:spcPct val="25000"/>
              </a:spcBef>
              <a:buFont typeface="Times"/>
              <a:buAutoNum type="arabicPeriod"/>
            </a:pPr>
            <a:r>
              <a:rPr lang="en-GB" altLang="en-US" sz="1700">
                <a:solidFill>
                  <a:srgbClr val="FF66CC"/>
                </a:solidFill>
                <a:effectLst/>
              </a:rPr>
              <a:t>Pre-buckle shortening </a:t>
            </a:r>
            <a:r>
              <a:rPr lang="en-GB" altLang="en-US" sz="1700">
                <a:effectLst/>
              </a:rPr>
              <a:t>(layer thickening)</a:t>
            </a:r>
          </a:p>
          <a:p>
            <a:pPr>
              <a:spcBef>
                <a:spcPct val="25000"/>
              </a:spcBef>
              <a:buFont typeface="Times"/>
              <a:buAutoNum type="arabicPeriod"/>
            </a:pPr>
            <a:r>
              <a:rPr lang="en-GB" altLang="en-US" sz="1700">
                <a:solidFill>
                  <a:srgbClr val="FF66CC"/>
                </a:solidFill>
                <a:effectLst/>
              </a:rPr>
              <a:t>Fold initiation</a:t>
            </a:r>
            <a:r>
              <a:rPr lang="en-GB" altLang="en-US" sz="1700">
                <a:effectLst/>
              </a:rPr>
              <a:t> (nucleation)</a:t>
            </a:r>
          </a:p>
          <a:p>
            <a:pPr>
              <a:spcBef>
                <a:spcPct val="25000"/>
              </a:spcBef>
              <a:buFont typeface="Times"/>
              <a:buAutoNum type="arabicPeriod"/>
            </a:pPr>
            <a:r>
              <a:rPr lang="en-GB" altLang="en-US" sz="1700">
                <a:solidFill>
                  <a:srgbClr val="FF66CC"/>
                </a:solidFill>
                <a:effectLst/>
              </a:rPr>
              <a:t>Fold amplification</a:t>
            </a:r>
            <a:r>
              <a:rPr lang="en-GB" altLang="en-US" sz="1700">
                <a:effectLst/>
              </a:rPr>
              <a:t>  </a:t>
            </a:r>
            <a:r>
              <a:rPr lang="en-GB" altLang="en-US" sz="1700">
                <a:effectLst/>
                <a:cs typeface="Arial" charset="0"/>
              </a:rPr>
              <a:t>→  locking up</a:t>
            </a:r>
          </a:p>
          <a:p>
            <a:pPr>
              <a:spcBef>
                <a:spcPct val="25000"/>
              </a:spcBef>
              <a:buFont typeface="Times"/>
              <a:buAutoNum type="arabicPeriod"/>
            </a:pPr>
            <a:r>
              <a:rPr lang="en-GB" altLang="en-US" sz="1700">
                <a:solidFill>
                  <a:srgbClr val="FF66CC"/>
                </a:solidFill>
                <a:effectLst/>
              </a:rPr>
              <a:t>Post-buckle flattening</a:t>
            </a:r>
            <a:r>
              <a:rPr lang="en-GB" altLang="en-US" sz="1700">
                <a:effectLst/>
              </a:rPr>
              <a:t> (kinematic growth)</a:t>
            </a:r>
            <a:endParaRPr lang="en-GB" altLang="en-US" sz="1700">
              <a:solidFill>
                <a:srgbClr val="FF6600"/>
              </a:solidFill>
              <a:effectLst/>
            </a:endParaRPr>
          </a:p>
        </p:txBody>
      </p:sp>
      <p:sp>
        <p:nvSpPr>
          <p:cNvPr id="225307" name="Line 27"/>
          <p:cNvSpPr>
            <a:spLocks noChangeShapeType="1"/>
          </p:cNvSpPr>
          <p:nvPr/>
        </p:nvSpPr>
        <p:spPr bwMode="auto">
          <a:xfrm>
            <a:off x="277813" y="1905000"/>
            <a:ext cx="0" cy="269875"/>
          </a:xfrm>
          <a:prstGeom prst="line">
            <a:avLst/>
          </a:prstGeom>
          <a:noFill/>
          <a:ln w="1905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225308" name="Line 28"/>
          <p:cNvSpPr>
            <a:spLocks noChangeShapeType="1"/>
          </p:cNvSpPr>
          <p:nvPr/>
        </p:nvSpPr>
        <p:spPr bwMode="auto">
          <a:xfrm>
            <a:off x="277813" y="2921000"/>
            <a:ext cx="0" cy="269875"/>
          </a:xfrm>
          <a:prstGeom prst="line">
            <a:avLst/>
          </a:prstGeom>
          <a:noFill/>
          <a:ln w="1905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225309" name="Line 29"/>
          <p:cNvSpPr>
            <a:spLocks noChangeShapeType="1"/>
          </p:cNvSpPr>
          <p:nvPr/>
        </p:nvSpPr>
        <p:spPr bwMode="auto">
          <a:xfrm>
            <a:off x="277813" y="4324350"/>
            <a:ext cx="0" cy="269875"/>
          </a:xfrm>
          <a:prstGeom prst="line">
            <a:avLst/>
          </a:prstGeom>
          <a:noFill/>
          <a:ln w="1905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225310" name="Rectangle 30"/>
          <p:cNvSpPr>
            <a:spLocks noChangeArrowheads="1"/>
          </p:cNvSpPr>
          <p:nvPr/>
        </p:nvSpPr>
        <p:spPr bwMode="auto">
          <a:xfrm>
            <a:off x="152400" y="5684838"/>
            <a:ext cx="4430713" cy="1006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177800" indent="-177800">
              <a:lnSpc>
                <a:spcPct val="120000"/>
              </a:lnSpc>
              <a:spcBef>
                <a:spcPct val="100000"/>
              </a:spcBef>
              <a:buClr>
                <a:schemeClr val="folHlink"/>
              </a:buClr>
              <a:buSzPct val="100000"/>
              <a:buFont typeface="Times"/>
              <a:buChar char="•"/>
              <a:defRPr>
                <a:solidFill>
                  <a:schemeClr val="tx1"/>
                </a:solidFill>
                <a:latin typeface="Arial" charset="0"/>
              </a:defRPr>
            </a:lvl1pPr>
            <a:lvl2pPr marL="808038" indent="-273050">
              <a:lnSpc>
                <a:spcPct val="120000"/>
              </a:lnSpc>
              <a:spcBef>
                <a:spcPct val="50000"/>
              </a:spcBef>
              <a:buClr>
                <a:schemeClr val="folHlink"/>
              </a:buClr>
              <a:buSzPct val="100000"/>
              <a:buFont typeface="Times"/>
              <a:buChar char="•"/>
              <a:defRPr sz="1600">
                <a:solidFill>
                  <a:schemeClr val="tx1"/>
                </a:solidFill>
                <a:latin typeface="Arial" charset="0"/>
              </a:defRPr>
            </a:lvl2pPr>
            <a:lvl3pPr marL="1355725" indent="-304800">
              <a:spcBef>
                <a:spcPct val="25000"/>
              </a:spcBef>
              <a:buClr>
                <a:schemeClr val="folHlink"/>
              </a:buClr>
              <a:buFont typeface="Times"/>
              <a:buChar char="•"/>
              <a:defRPr sz="1400">
                <a:solidFill>
                  <a:schemeClr val="tx1"/>
                </a:solidFill>
                <a:latin typeface="Arial" charset="0"/>
              </a:defRPr>
            </a:lvl3pPr>
            <a:lvl4pPr marL="1776413" indent="-304800">
              <a:spcBef>
                <a:spcPct val="25000"/>
              </a:spcBef>
              <a:buClr>
                <a:schemeClr val="folHlink"/>
              </a:buClr>
              <a:buFont typeface="Times"/>
              <a:buChar char="•"/>
              <a:defRPr sz="1400">
                <a:solidFill>
                  <a:schemeClr val="tx1"/>
                </a:solidFill>
                <a:latin typeface="Arial" charset="0"/>
              </a:defRPr>
            </a:lvl4pPr>
            <a:lvl5pPr marL="2260600" indent="-304800">
              <a:spcBef>
                <a:spcPct val="25000"/>
              </a:spcBef>
              <a:buClr>
                <a:schemeClr val="folHlink"/>
              </a:buClr>
              <a:buSzPct val="50000"/>
              <a:buFont typeface="Times"/>
              <a:buChar char="•"/>
              <a:defRPr sz="1400">
                <a:solidFill>
                  <a:schemeClr val="tx1"/>
                </a:solidFill>
                <a:latin typeface="Arial" charset="0"/>
              </a:defRPr>
            </a:lvl5pPr>
            <a:lvl6pPr marL="2717800" indent="-304800" eaLnBrk="0" fontAlgn="base" hangingPunct="0">
              <a:spcBef>
                <a:spcPct val="25000"/>
              </a:spcBef>
              <a:spcAft>
                <a:spcPct val="0"/>
              </a:spcAft>
              <a:buClr>
                <a:schemeClr val="folHlink"/>
              </a:buClr>
              <a:buSzPct val="50000"/>
              <a:buFont typeface="Times"/>
              <a:buChar char="•"/>
              <a:defRPr sz="1400">
                <a:solidFill>
                  <a:schemeClr val="tx1"/>
                </a:solidFill>
                <a:latin typeface="Arial" charset="0"/>
              </a:defRPr>
            </a:lvl6pPr>
            <a:lvl7pPr marL="3175000" indent="-304800" eaLnBrk="0" fontAlgn="base" hangingPunct="0">
              <a:spcBef>
                <a:spcPct val="25000"/>
              </a:spcBef>
              <a:spcAft>
                <a:spcPct val="0"/>
              </a:spcAft>
              <a:buClr>
                <a:schemeClr val="folHlink"/>
              </a:buClr>
              <a:buSzPct val="50000"/>
              <a:buFont typeface="Times"/>
              <a:buChar char="•"/>
              <a:defRPr sz="1400">
                <a:solidFill>
                  <a:schemeClr val="tx1"/>
                </a:solidFill>
                <a:latin typeface="Arial" charset="0"/>
              </a:defRPr>
            </a:lvl7pPr>
            <a:lvl8pPr marL="3632200" indent="-304800" eaLnBrk="0" fontAlgn="base" hangingPunct="0">
              <a:spcBef>
                <a:spcPct val="25000"/>
              </a:spcBef>
              <a:spcAft>
                <a:spcPct val="0"/>
              </a:spcAft>
              <a:buClr>
                <a:schemeClr val="folHlink"/>
              </a:buClr>
              <a:buSzPct val="50000"/>
              <a:buFont typeface="Times"/>
              <a:buChar char="•"/>
              <a:defRPr sz="1400">
                <a:solidFill>
                  <a:schemeClr val="tx1"/>
                </a:solidFill>
                <a:latin typeface="Arial" charset="0"/>
              </a:defRPr>
            </a:lvl8pPr>
            <a:lvl9pPr marL="4089400" indent="-304800" eaLnBrk="0" fontAlgn="base" hangingPunct="0">
              <a:spcBef>
                <a:spcPct val="25000"/>
              </a:spcBef>
              <a:spcAft>
                <a:spcPct val="0"/>
              </a:spcAft>
              <a:buClr>
                <a:schemeClr val="folHlink"/>
              </a:buClr>
              <a:buSzPct val="50000"/>
              <a:buFont typeface="Times"/>
              <a:buChar char="•"/>
              <a:defRPr sz="1400">
                <a:solidFill>
                  <a:schemeClr val="tx1"/>
                </a:solidFill>
                <a:latin typeface="Arial" charset="0"/>
              </a:defRPr>
            </a:lvl9pPr>
          </a:lstStyle>
          <a:p>
            <a:r>
              <a:rPr lang="en-GB" altLang="en-US" sz="1700">
                <a:solidFill>
                  <a:srgbClr val="FF66CC"/>
                </a:solidFill>
                <a:effectLst/>
              </a:rPr>
              <a:t>Active buckling</a:t>
            </a:r>
            <a:r>
              <a:rPr lang="en-GB" altLang="en-US" sz="1700">
                <a:effectLst/>
              </a:rPr>
              <a:t> occurs in stages 2 and 3 but the </a:t>
            </a:r>
            <a:r>
              <a:rPr lang="en-GB" altLang="en-US" sz="1700">
                <a:solidFill>
                  <a:srgbClr val="FF66CC"/>
                </a:solidFill>
                <a:effectLst/>
              </a:rPr>
              <a:t>fold continues to grow passively</a:t>
            </a:r>
            <a:r>
              <a:rPr lang="en-GB" altLang="en-US" sz="1700">
                <a:effectLst/>
              </a:rPr>
              <a:t> in stage 4 as the matrix is thickened further</a:t>
            </a:r>
          </a:p>
        </p:txBody>
      </p:sp>
    </p:spTree>
  </p:cSld>
  <p:clrMapOvr>
    <a:masterClrMapping/>
  </p:clrMapOvr>
  <p:transition spd="slow"/>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22" name="Rectangle 2"/>
          <p:cNvSpPr>
            <a:spLocks noGrp="1" noChangeArrowheads="1"/>
          </p:cNvSpPr>
          <p:nvPr>
            <p:ph type="title"/>
          </p:nvPr>
        </p:nvSpPr>
        <p:spPr>
          <a:noFill/>
        </p:spPr>
        <p:txBody>
          <a:bodyPr/>
          <a:lstStyle/>
          <a:p>
            <a:r>
              <a:rPr lang="en-GB" altLang="en-US">
                <a:effectLst/>
              </a:rPr>
              <a:t>The life and times of a buckle fold  2</a:t>
            </a:r>
          </a:p>
        </p:txBody>
      </p:sp>
      <p:sp>
        <p:nvSpPr>
          <p:cNvPr id="389124" name="Rectangle 4"/>
          <p:cNvSpPr>
            <a:spLocks noChangeArrowheads="1"/>
          </p:cNvSpPr>
          <p:nvPr/>
        </p:nvSpPr>
        <p:spPr bwMode="auto">
          <a:xfrm>
            <a:off x="106363" y="803275"/>
            <a:ext cx="8734425" cy="1085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266700" indent="-266700">
              <a:lnSpc>
                <a:spcPct val="120000"/>
              </a:lnSpc>
              <a:spcBef>
                <a:spcPct val="100000"/>
              </a:spcBef>
              <a:buClr>
                <a:schemeClr val="folHlink"/>
              </a:buClr>
              <a:buSzPct val="100000"/>
              <a:buFont typeface="Times"/>
              <a:buChar char="•"/>
              <a:defRPr sz="2000">
                <a:solidFill>
                  <a:schemeClr val="tx1"/>
                </a:solidFill>
                <a:latin typeface="Arial" charset="0"/>
              </a:defRPr>
            </a:lvl1pPr>
            <a:lvl2pPr marL="877888" indent="-342900">
              <a:lnSpc>
                <a:spcPct val="120000"/>
              </a:lnSpc>
              <a:spcBef>
                <a:spcPct val="50000"/>
              </a:spcBef>
              <a:buClr>
                <a:schemeClr val="folHlink"/>
              </a:buClr>
              <a:buSzPct val="100000"/>
              <a:buFont typeface="Times"/>
              <a:buChar char="•"/>
              <a:defRPr>
                <a:solidFill>
                  <a:schemeClr val="tx1"/>
                </a:solidFill>
                <a:latin typeface="Arial" charset="0"/>
              </a:defRPr>
            </a:lvl2pPr>
            <a:lvl3pPr marL="1362075" indent="-304800">
              <a:spcBef>
                <a:spcPct val="25000"/>
              </a:spcBef>
              <a:buClr>
                <a:schemeClr val="folHlink"/>
              </a:buClr>
              <a:buFont typeface="Times"/>
              <a:buChar char="•"/>
              <a:defRPr sz="1600">
                <a:solidFill>
                  <a:schemeClr val="tx1"/>
                </a:solidFill>
                <a:latin typeface="Arial" charset="0"/>
              </a:defRPr>
            </a:lvl3pPr>
            <a:lvl4pPr marL="1846263" indent="-304800">
              <a:spcBef>
                <a:spcPct val="25000"/>
              </a:spcBef>
              <a:buClr>
                <a:schemeClr val="folHlink"/>
              </a:buClr>
              <a:buFont typeface="Times"/>
              <a:buChar char="•"/>
              <a:defRPr sz="1600">
                <a:solidFill>
                  <a:schemeClr val="tx1"/>
                </a:solidFill>
                <a:latin typeface="Arial" charset="0"/>
              </a:defRPr>
            </a:lvl4pPr>
            <a:lvl5pPr marL="2330450" indent="-304800">
              <a:spcBef>
                <a:spcPct val="25000"/>
              </a:spcBef>
              <a:buClr>
                <a:schemeClr val="folHlink"/>
              </a:buClr>
              <a:buSzPct val="50000"/>
              <a:buFont typeface="Times"/>
              <a:buChar char="•"/>
              <a:defRPr sz="1600">
                <a:solidFill>
                  <a:schemeClr val="tx1"/>
                </a:solidFill>
                <a:latin typeface="Arial" charset="0"/>
              </a:defRPr>
            </a:lvl5pPr>
            <a:lvl6pPr marL="2787650" indent="-304800" eaLnBrk="0" fontAlgn="base" hangingPunct="0">
              <a:spcBef>
                <a:spcPct val="25000"/>
              </a:spcBef>
              <a:spcAft>
                <a:spcPct val="0"/>
              </a:spcAft>
              <a:buClr>
                <a:schemeClr val="folHlink"/>
              </a:buClr>
              <a:buSzPct val="50000"/>
              <a:buFont typeface="Times"/>
              <a:buChar char="•"/>
              <a:defRPr sz="1600">
                <a:solidFill>
                  <a:schemeClr val="tx1"/>
                </a:solidFill>
                <a:latin typeface="Arial" charset="0"/>
              </a:defRPr>
            </a:lvl6pPr>
            <a:lvl7pPr marL="3244850" indent="-304800" eaLnBrk="0" fontAlgn="base" hangingPunct="0">
              <a:spcBef>
                <a:spcPct val="25000"/>
              </a:spcBef>
              <a:spcAft>
                <a:spcPct val="0"/>
              </a:spcAft>
              <a:buClr>
                <a:schemeClr val="folHlink"/>
              </a:buClr>
              <a:buSzPct val="50000"/>
              <a:buFont typeface="Times"/>
              <a:buChar char="•"/>
              <a:defRPr sz="1600">
                <a:solidFill>
                  <a:schemeClr val="tx1"/>
                </a:solidFill>
                <a:latin typeface="Arial" charset="0"/>
              </a:defRPr>
            </a:lvl7pPr>
            <a:lvl8pPr marL="3702050" indent="-304800" eaLnBrk="0" fontAlgn="base" hangingPunct="0">
              <a:spcBef>
                <a:spcPct val="25000"/>
              </a:spcBef>
              <a:spcAft>
                <a:spcPct val="0"/>
              </a:spcAft>
              <a:buClr>
                <a:schemeClr val="folHlink"/>
              </a:buClr>
              <a:buSzPct val="50000"/>
              <a:buFont typeface="Times"/>
              <a:buChar char="•"/>
              <a:defRPr sz="1600">
                <a:solidFill>
                  <a:schemeClr val="tx1"/>
                </a:solidFill>
                <a:latin typeface="Arial" charset="0"/>
              </a:defRPr>
            </a:lvl8pPr>
            <a:lvl9pPr marL="4159250" indent="-304800" eaLnBrk="0" fontAlgn="base" hangingPunct="0">
              <a:spcBef>
                <a:spcPct val="25000"/>
              </a:spcBef>
              <a:spcAft>
                <a:spcPct val="0"/>
              </a:spcAft>
              <a:buClr>
                <a:schemeClr val="folHlink"/>
              </a:buClr>
              <a:buSzPct val="50000"/>
              <a:buFont typeface="Times"/>
              <a:buChar char="•"/>
              <a:defRPr sz="1600">
                <a:solidFill>
                  <a:schemeClr val="tx1"/>
                </a:solidFill>
                <a:latin typeface="Arial" charset="0"/>
              </a:defRPr>
            </a:lvl9pPr>
          </a:lstStyle>
          <a:p>
            <a:pPr>
              <a:buFont typeface="Times"/>
              <a:buAutoNum type="arabicPeriod"/>
            </a:pPr>
            <a:r>
              <a:rPr lang="en-GB" altLang="en-US" sz="1700">
                <a:solidFill>
                  <a:srgbClr val="FF6600"/>
                </a:solidFill>
                <a:effectLst/>
              </a:rPr>
              <a:t>Pre-buckle shortening</a:t>
            </a:r>
            <a:r>
              <a:rPr lang="en-GB" altLang="en-US" sz="1700">
                <a:effectLst/>
              </a:rPr>
              <a:t>: before folding is initiated, layers undergo </a:t>
            </a:r>
            <a:r>
              <a:rPr lang="en-GB" altLang="en-US" sz="1700">
                <a:solidFill>
                  <a:srgbClr val="FF66CC"/>
                </a:solidFill>
                <a:effectLst/>
              </a:rPr>
              <a:t>shortening and thickening</a:t>
            </a:r>
            <a:r>
              <a:rPr lang="en-GB" altLang="en-US" sz="1700">
                <a:effectLst/>
              </a:rPr>
              <a:t>. The amount of shortening depends upon the deformation conditions and the viscosity contrast between the units</a:t>
            </a:r>
          </a:p>
        </p:txBody>
      </p:sp>
      <p:sp>
        <p:nvSpPr>
          <p:cNvPr id="389125" name="Text Box 5"/>
          <p:cNvSpPr txBox="1">
            <a:spLocks noChangeArrowheads="1"/>
          </p:cNvSpPr>
          <p:nvPr/>
        </p:nvSpPr>
        <p:spPr bwMode="auto">
          <a:xfrm>
            <a:off x="3470275" y="2962275"/>
            <a:ext cx="4483100" cy="603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20000"/>
              </a:lnSpc>
              <a:spcBef>
                <a:spcPct val="50000"/>
              </a:spcBef>
            </a:pPr>
            <a:r>
              <a:rPr lang="en-GB" altLang="en-US" sz="1400">
                <a:solidFill>
                  <a:srgbClr val="FFFF00"/>
                </a:solidFill>
                <a:effectLst>
                  <a:outerShdw blurRad="38100" dist="38100" dir="2700000" algn="tl">
                    <a:srgbClr val="000000"/>
                  </a:outerShdw>
                </a:effectLst>
                <a:latin typeface="Arial" charset="0"/>
              </a:rPr>
              <a:t>Pre-buckle limb thickening by thrusting rather than by homogeneous shortening</a:t>
            </a:r>
          </a:p>
        </p:txBody>
      </p:sp>
      <p:pic>
        <p:nvPicPr>
          <p:cNvPr id="389126" name="Picture 6" descr="08a-Northcott"/>
          <p:cNvPicPr>
            <a:picLocks noChangeAspect="1" noChangeArrowheads="1"/>
          </p:cNvPicPr>
          <p:nvPr/>
        </p:nvPicPr>
        <p:blipFill>
          <a:blip r:embed="rId3">
            <a:lum bright="4000"/>
            <a:extLst>
              <a:ext uri="{28A0092B-C50C-407E-A947-70E740481C1C}">
                <a14:useLocalDpi xmlns:a14="http://schemas.microsoft.com/office/drawing/2010/main" val="0"/>
              </a:ext>
            </a:extLst>
          </a:blip>
          <a:srcRect/>
          <a:stretch>
            <a:fillRect/>
          </a:stretch>
        </p:blipFill>
        <p:spPr bwMode="auto">
          <a:xfrm>
            <a:off x="200025" y="1978025"/>
            <a:ext cx="3041650" cy="4144963"/>
          </a:xfrm>
          <a:prstGeom prst="rect">
            <a:avLst/>
          </a:prstGeo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Lst>
        </p:spPr>
      </p:pic>
      <p:pic>
        <p:nvPicPr>
          <p:cNvPr id="389127" name="Picture 7" descr="08b-Rhoscolyn"/>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486150" y="3817938"/>
            <a:ext cx="5449888" cy="2728912"/>
          </a:xfrm>
          <a:prstGeom prst="rect">
            <a:avLst/>
          </a:prstGeo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p:transition spd="slow"/>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62" name="Rectangle 2"/>
          <p:cNvSpPr>
            <a:spLocks noGrp="1" noChangeArrowheads="1"/>
          </p:cNvSpPr>
          <p:nvPr>
            <p:ph type="title"/>
          </p:nvPr>
        </p:nvSpPr>
        <p:spPr>
          <a:noFill/>
        </p:spPr>
        <p:txBody>
          <a:bodyPr/>
          <a:lstStyle/>
          <a:p>
            <a:r>
              <a:rPr lang="en-GB" altLang="en-US">
                <a:effectLst/>
              </a:rPr>
              <a:t>The life and times of a buckle fold  3</a:t>
            </a:r>
          </a:p>
        </p:txBody>
      </p:sp>
      <p:sp>
        <p:nvSpPr>
          <p:cNvPr id="296965" name="Rectangle 5"/>
          <p:cNvSpPr>
            <a:spLocks noChangeArrowheads="1"/>
          </p:cNvSpPr>
          <p:nvPr/>
        </p:nvSpPr>
        <p:spPr bwMode="auto">
          <a:xfrm>
            <a:off x="106363" y="800100"/>
            <a:ext cx="8904287" cy="29257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269875" indent="-269875">
              <a:lnSpc>
                <a:spcPct val="120000"/>
              </a:lnSpc>
              <a:spcBef>
                <a:spcPct val="100000"/>
              </a:spcBef>
              <a:buClr>
                <a:schemeClr val="folHlink"/>
              </a:buClr>
              <a:buSzPct val="100000"/>
              <a:buFont typeface="Times"/>
              <a:buChar char="•"/>
              <a:defRPr sz="2000">
                <a:solidFill>
                  <a:schemeClr val="tx1"/>
                </a:solidFill>
                <a:latin typeface="Arial" charset="0"/>
              </a:defRPr>
            </a:lvl1pPr>
            <a:lvl2pPr marL="623888" indent="-174625">
              <a:lnSpc>
                <a:spcPct val="120000"/>
              </a:lnSpc>
              <a:spcBef>
                <a:spcPct val="50000"/>
              </a:spcBef>
              <a:buClr>
                <a:schemeClr val="folHlink"/>
              </a:buClr>
              <a:buSzPct val="100000"/>
              <a:buFont typeface="Times"/>
              <a:buChar char="•"/>
              <a:defRPr>
                <a:solidFill>
                  <a:schemeClr val="tx1"/>
                </a:solidFill>
                <a:latin typeface="Arial" charset="0"/>
              </a:defRPr>
            </a:lvl2pPr>
            <a:lvl3pPr marL="1381125" indent="-304800">
              <a:spcBef>
                <a:spcPct val="25000"/>
              </a:spcBef>
              <a:buClr>
                <a:schemeClr val="folHlink"/>
              </a:buClr>
              <a:buFont typeface="Times"/>
              <a:buChar char="•"/>
              <a:defRPr sz="1600">
                <a:solidFill>
                  <a:schemeClr val="tx1"/>
                </a:solidFill>
                <a:latin typeface="Arial" charset="0"/>
              </a:defRPr>
            </a:lvl3pPr>
            <a:lvl4pPr marL="1865313" indent="-304800">
              <a:spcBef>
                <a:spcPct val="25000"/>
              </a:spcBef>
              <a:buClr>
                <a:schemeClr val="folHlink"/>
              </a:buClr>
              <a:buFont typeface="Times"/>
              <a:buChar char="•"/>
              <a:defRPr sz="1600">
                <a:solidFill>
                  <a:schemeClr val="tx1"/>
                </a:solidFill>
                <a:latin typeface="Arial" charset="0"/>
              </a:defRPr>
            </a:lvl4pPr>
            <a:lvl5pPr marL="2349500" indent="-304800">
              <a:spcBef>
                <a:spcPct val="25000"/>
              </a:spcBef>
              <a:buClr>
                <a:schemeClr val="folHlink"/>
              </a:buClr>
              <a:buSzPct val="50000"/>
              <a:buFont typeface="Times"/>
              <a:buChar char="•"/>
              <a:defRPr sz="1600">
                <a:solidFill>
                  <a:schemeClr val="tx1"/>
                </a:solidFill>
                <a:latin typeface="Arial" charset="0"/>
              </a:defRPr>
            </a:lvl5pPr>
            <a:lvl6pPr marL="2806700" indent="-304800" eaLnBrk="0" fontAlgn="base" hangingPunct="0">
              <a:spcBef>
                <a:spcPct val="25000"/>
              </a:spcBef>
              <a:spcAft>
                <a:spcPct val="0"/>
              </a:spcAft>
              <a:buClr>
                <a:schemeClr val="folHlink"/>
              </a:buClr>
              <a:buSzPct val="50000"/>
              <a:buFont typeface="Times"/>
              <a:buChar char="•"/>
              <a:defRPr sz="1600">
                <a:solidFill>
                  <a:schemeClr val="tx1"/>
                </a:solidFill>
                <a:latin typeface="Arial" charset="0"/>
              </a:defRPr>
            </a:lvl6pPr>
            <a:lvl7pPr marL="3263900" indent="-304800" eaLnBrk="0" fontAlgn="base" hangingPunct="0">
              <a:spcBef>
                <a:spcPct val="25000"/>
              </a:spcBef>
              <a:spcAft>
                <a:spcPct val="0"/>
              </a:spcAft>
              <a:buClr>
                <a:schemeClr val="folHlink"/>
              </a:buClr>
              <a:buSzPct val="50000"/>
              <a:buFont typeface="Times"/>
              <a:buChar char="•"/>
              <a:defRPr sz="1600">
                <a:solidFill>
                  <a:schemeClr val="tx1"/>
                </a:solidFill>
                <a:latin typeface="Arial" charset="0"/>
              </a:defRPr>
            </a:lvl7pPr>
            <a:lvl8pPr marL="3721100" indent="-304800" eaLnBrk="0" fontAlgn="base" hangingPunct="0">
              <a:spcBef>
                <a:spcPct val="25000"/>
              </a:spcBef>
              <a:spcAft>
                <a:spcPct val="0"/>
              </a:spcAft>
              <a:buClr>
                <a:schemeClr val="folHlink"/>
              </a:buClr>
              <a:buSzPct val="50000"/>
              <a:buFont typeface="Times"/>
              <a:buChar char="•"/>
              <a:defRPr sz="1600">
                <a:solidFill>
                  <a:schemeClr val="tx1"/>
                </a:solidFill>
                <a:latin typeface="Arial" charset="0"/>
              </a:defRPr>
            </a:lvl8pPr>
            <a:lvl9pPr marL="4178300" indent="-304800" eaLnBrk="0" fontAlgn="base" hangingPunct="0">
              <a:spcBef>
                <a:spcPct val="25000"/>
              </a:spcBef>
              <a:spcAft>
                <a:spcPct val="0"/>
              </a:spcAft>
              <a:buClr>
                <a:schemeClr val="folHlink"/>
              </a:buClr>
              <a:buSzPct val="50000"/>
              <a:buFont typeface="Times"/>
              <a:buChar char="•"/>
              <a:defRPr sz="1600">
                <a:solidFill>
                  <a:schemeClr val="tx1"/>
                </a:solidFill>
                <a:latin typeface="Arial" charset="0"/>
              </a:defRPr>
            </a:lvl9pPr>
          </a:lstStyle>
          <a:p>
            <a:pPr>
              <a:buFont typeface="Times"/>
              <a:buAutoNum type="arabicPeriod" startAt="2"/>
            </a:pPr>
            <a:r>
              <a:rPr lang="en-GB" altLang="en-US" sz="1700" dirty="0">
                <a:solidFill>
                  <a:srgbClr val="FF6600"/>
                </a:solidFill>
                <a:effectLst/>
              </a:rPr>
              <a:t>Fold initiation</a:t>
            </a:r>
            <a:r>
              <a:rPr lang="en-GB" altLang="en-US" sz="1700" dirty="0">
                <a:effectLst/>
              </a:rPr>
              <a:t>: some irregularity in the layer (</a:t>
            </a:r>
            <a:r>
              <a:rPr lang="en-GB" altLang="en-US" sz="1700" i="1" dirty="0">
                <a:effectLst/>
              </a:rPr>
              <a:t>e.g</a:t>
            </a:r>
            <a:r>
              <a:rPr lang="en-GB" altLang="en-US" sz="1700" dirty="0">
                <a:effectLst/>
              </a:rPr>
              <a:t>., some local variation in layer thickness) initiates the onset of folding</a:t>
            </a:r>
          </a:p>
          <a:p>
            <a:pPr lvl="1">
              <a:spcBef>
                <a:spcPct val="25000"/>
              </a:spcBef>
            </a:pPr>
            <a:r>
              <a:rPr lang="en-GB" altLang="en-US" sz="1700" dirty="0">
                <a:effectLst/>
              </a:rPr>
              <a:t>If the competent layers are far enough apart, </a:t>
            </a:r>
            <a:r>
              <a:rPr lang="en-GB" altLang="en-US" sz="1700" dirty="0">
                <a:solidFill>
                  <a:srgbClr val="FF66CC"/>
                </a:solidFill>
                <a:effectLst/>
              </a:rPr>
              <a:t>buckling starts</a:t>
            </a:r>
            <a:r>
              <a:rPr lang="en-GB" altLang="en-US" sz="1700" dirty="0">
                <a:effectLst/>
              </a:rPr>
              <a:t> in the different layers independently, until some </a:t>
            </a:r>
            <a:r>
              <a:rPr lang="en-GB" altLang="en-US" sz="1700" dirty="0">
                <a:solidFill>
                  <a:srgbClr val="FF66CC"/>
                </a:solidFill>
                <a:effectLst/>
              </a:rPr>
              <a:t>thick control layer</a:t>
            </a:r>
            <a:r>
              <a:rPr lang="en-GB" altLang="en-US" sz="1700" dirty="0">
                <a:effectLst/>
              </a:rPr>
              <a:t> starts to buckle and forces the other layers to </a:t>
            </a:r>
            <a:r>
              <a:rPr lang="en-GB" altLang="en-US" sz="1700" dirty="0">
                <a:solidFill>
                  <a:srgbClr val="FF66CC"/>
                </a:solidFill>
                <a:effectLst/>
              </a:rPr>
              <a:t>readjust their shape</a:t>
            </a:r>
            <a:r>
              <a:rPr lang="en-GB" altLang="en-US" sz="1700" dirty="0">
                <a:effectLst/>
              </a:rPr>
              <a:t> (thereby forming accommodation structures)</a:t>
            </a:r>
          </a:p>
          <a:p>
            <a:pPr lvl="1">
              <a:spcBef>
                <a:spcPct val="25000"/>
              </a:spcBef>
            </a:pPr>
            <a:r>
              <a:rPr lang="en-GB" altLang="en-US" sz="1700" dirty="0">
                <a:effectLst/>
              </a:rPr>
              <a:t>Alternatively, if there is no control layer, the multilayer buckles as a whole</a:t>
            </a:r>
          </a:p>
          <a:p>
            <a:pPr>
              <a:buFont typeface="Times"/>
              <a:buAutoNum type="arabicPeriod" startAt="2"/>
            </a:pPr>
            <a:r>
              <a:rPr lang="en-GB" altLang="en-US" sz="1700" dirty="0">
                <a:solidFill>
                  <a:srgbClr val="FF6600"/>
                </a:solidFill>
                <a:effectLst/>
              </a:rPr>
              <a:t>Fold amplification and locking up</a:t>
            </a:r>
            <a:r>
              <a:rPr lang="en-GB" altLang="en-US" sz="1700" dirty="0">
                <a:effectLst/>
              </a:rPr>
              <a:t>: as the fold grows, the layers rotate with respect to the compression direction, and ultimately</a:t>
            </a:r>
            <a:endParaRPr lang="en-GB" altLang="en-US" sz="1900" dirty="0">
              <a:effectLst/>
            </a:endParaRPr>
          </a:p>
        </p:txBody>
      </p:sp>
      <p:sp>
        <p:nvSpPr>
          <p:cNvPr id="296971" name="Text Box 11"/>
          <p:cNvSpPr txBox="1">
            <a:spLocks noChangeArrowheads="1"/>
          </p:cNvSpPr>
          <p:nvPr/>
        </p:nvSpPr>
        <p:spPr bwMode="auto">
          <a:xfrm>
            <a:off x="106363" y="3686175"/>
            <a:ext cx="3878262" cy="28400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04800" indent="-304800">
              <a:defRPr sz="1600">
                <a:solidFill>
                  <a:schemeClr val="tx1"/>
                </a:solidFill>
                <a:latin typeface="Helvetica" charset="0"/>
              </a:defRPr>
            </a:lvl1pPr>
            <a:lvl2pPr marL="762000" indent="-304800">
              <a:defRPr sz="1600">
                <a:solidFill>
                  <a:schemeClr val="tx1"/>
                </a:solidFill>
                <a:latin typeface="Helvetica" charset="0"/>
              </a:defRPr>
            </a:lvl2pPr>
            <a:lvl3pPr marL="1238250" indent="-304800">
              <a:defRPr sz="1600">
                <a:solidFill>
                  <a:schemeClr val="tx1"/>
                </a:solidFill>
                <a:latin typeface="Helvetica" charset="0"/>
              </a:defRPr>
            </a:lvl3pPr>
            <a:lvl4pPr marL="1722438" indent="-304800">
              <a:defRPr sz="1600">
                <a:solidFill>
                  <a:schemeClr val="tx1"/>
                </a:solidFill>
                <a:latin typeface="Helvetica" charset="0"/>
              </a:defRPr>
            </a:lvl4pPr>
            <a:lvl5pPr marL="2206625" indent="-304800">
              <a:defRPr sz="1600">
                <a:solidFill>
                  <a:schemeClr val="tx1"/>
                </a:solidFill>
                <a:latin typeface="Helvetica" charset="0"/>
              </a:defRPr>
            </a:lvl5pPr>
            <a:lvl6pPr marL="2663825" indent="-304800" eaLnBrk="0" fontAlgn="base" hangingPunct="0">
              <a:spcBef>
                <a:spcPct val="20000"/>
              </a:spcBef>
              <a:spcAft>
                <a:spcPct val="0"/>
              </a:spcAft>
              <a:buClr>
                <a:schemeClr val="accent2"/>
              </a:buClr>
              <a:defRPr sz="1600">
                <a:solidFill>
                  <a:schemeClr val="tx1"/>
                </a:solidFill>
                <a:latin typeface="Helvetica" charset="0"/>
              </a:defRPr>
            </a:lvl6pPr>
            <a:lvl7pPr marL="3121025" indent="-304800" eaLnBrk="0" fontAlgn="base" hangingPunct="0">
              <a:spcBef>
                <a:spcPct val="20000"/>
              </a:spcBef>
              <a:spcAft>
                <a:spcPct val="0"/>
              </a:spcAft>
              <a:buClr>
                <a:schemeClr val="accent2"/>
              </a:buClr>
              <a:defRPr sz="1600">
                <a:solidFill>
                  <a:schemeClr val="tx1"/>
                </a:solidFill>
                <a:latin typeface="Helvetica" charset="0"/>
              </a:defRPr>
            </a:lvl7pPr>
            <a:lvl8pPr marL="3578225" indent="-304800" eaLnBrk="0" fontAlgn="base" hangingPunct="0">
              <a:spcBef>
                <a:spcPct val="20000"/>
              </a:spcBef>
              <a:spcAft>
                <a:spcPct val="0"/>
              </a:spcAft>
              <a:buClr>
                <a:schemeClr val="accent2"/>
              </a:buClr>
              <a:defRPr sz="1600">
                <a:solidFill>
                  <a:schemeClr val="tx1"/>
                </a:solidFill>
                <a:latin typeface="Helvetica" charset="0"/>
              </a:defRPr>
            </a:lvl8pPr>
            <a:lvl9pPr marL="4035425" indent="-304800" eaLnBrk="0" fontAlgn="base" hangingPunct="0">
              <a:spcBef>
                <a:spcPct val="20000"/>
              </a:spcBef>
              <a:spcAft>
                <a:spcPct val="0"/>
              </a:spcAft>
              <a:buClr>
                <a:schemeClr val="accent2"/>
              </a:buClr>
              <a:defRPr sz="1600">
                <a:solidFill>
                  <a:schemeClr val="tx1"/>
                </a:solidFill>
                <a:latin typeface="Helvetica" charset="0"/>
              </a:defRPr>
            </a:lvl9pPr>
          </a:lstStyle>
          <a:p>
            <a:pPr>
              <a:lnSpc>
                <a:spcPct val="120000"/>
              </a:lnSpc>
              <a:spcBef>
                <a:spcPct val="50000"/>
              </a:spcBef>
            </a:pPr>
            <a:r>
              <a:rPr lang="en-GB" altLang="en-US" sz="1700">
                <a:effectLst>
                  <a:outerShdw blurRad="38100" dist="38100" dir="2700000" algn="tl">
                    <a:srgbClr val="000000"/>
                  </a:outerShdw>
                </a:effectLst>
                <a:latin typeface="Arial" charset="0"/>
              </a:rPr>
              <a:t>	become unfavourably oriented for further buckling </a:t>
            </a:r>
            <a:r>
              <a:rPr lang="en-GB" altLang="en-US" sz="1700">
                <a:effectLst>
                  <a:outerShdw blurRad="38100" dist="38100" dir="2700000" algn="tl">
                    <a:srgbClr val="000000"/>
                  </a:outerShdw>
                </a:effectLst>
                <a:latin typeface="Arial" charset="0"/>
                <a:cs typeface="Arial" charset="0"/>
              </a:rPr>
              <a:t>→</a:t>
            </a:r>
            <a:r>
              <a:rPr lang="en-GB" altLang="en-US" sz="1700">
                <a:solidFill>
                  <a:srgbClr val="FF66CC"/>
                </a:solidFill>
                <a:effectLst>
                  <a:outerShdw blurRad="38100" dist="38100" dir="2700000" algn="tl">
                    <a:srgbClr val="000000"/>
                  </a:outerShdw>
                </a:effectLst>
                <a:latin typeface="Arial" charset="0"/>
                <a:cs typeface="Arial" charset="0"/>
              </a:rPr>
              <a:t>  fold locks up</a:t>
            </a:r>
          </a:p>
          <a:p>
            <a:pPr>
              <a:lnSpc>
                <a:spcPct val="120000"/>
              </a:lnSpc>
              <a:spcBef>
                <a:spcPct val="100000"/>
              </a:spcBef>
              <a:buClr>
                <a:schemeClr val="tx1"/>
              </a:buClr>
              <a:buFontTx/>
              <a:buAutoNum type="arabicPeriod" startAt="4"/>
            </a:pPr>
            <a:r>
              <a:rPr lang="en-GB" altLang="en-US" sz="1700">
                <a:solidFill>
                  <a:srgbClr val="FF6600"/>
                </a:solidFill>
                <a:effectLst>
                  <a:outerShdw blurRad="38100" dist="38100" dir="2700000" algn="tl">
                    <a:srgbClr val="000000"/>
                  </a:outerShdw>
                </a:effectLst>
                <a:latin typeface="Arial" charset="0"/>
              </a:rPr>
              <a:t>Post-buckle flattening</a:t>
            </a:r>
            <a:r>
              <a:rPr lang="en-GB" altLang="en-US" sz="1700">
                <a:effectLst>
                  <a:outerShdw blurRad="38100" dist="38100" dir="2700000" algn="tl">
                    <a:srgbClr val="000000"/>
                  </a:outerShdw>
                </a:effectLst>
                <a:latin typeface="Arial" charset="0"/>
              </a:rPr>
              <a:t>: </a:t>
            </a:r>
            <a:r>
              <a:rPr lang="en-GB" altLang="en-US" sz="1700">
                <a:effectLst/>
                <a:latin typeface="Arial" charset="0"/>
              </a:rPr>
              <a:t>continued shortening leads to passive growth of the fold – the fold increases in amplitude (and the interlimb angle decreases) as the whole matrix + layer package thickens</a:t>
            </a:r>
          </a:p>
        </p:txBody>
      </p:sp>
      <p:pic>
        <p:nvPicPr>
          <p:cNvPr id="296978" name="Picture 18"/>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a:xfrm>
            <a:off x="4408488" y="3663950"/>
            <a:ext cx="4291012" cy="2854325"/>
          </a:xfrm>
          <a:noFill/>
          <a:ln w="38100" cap="flat">
            <a:solidFill>
              <a:schemeClr val="bg2"/>
            </a:solidFill>
            <a:miter lim="800000"/>
            <a:headEnd/>
            <a:tailEnd/>
          </a:ln>
        </p:spPr>
      </p:pic>
    </p:spTree>
  </p:cSld>
  <p:clrMapOvr>
    <a:masterClrMapping/>
  </p:clrMapOvr>
  <p:transition spd="slow"/>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2258" name="Rectangle 2"/>
          <p:cNvSpPr>
            <a:spLocks noGrp="1" noChangeArrowheads="1"/>
          </p:cNvSpPr>
          <p:nvPr>
            <p:ph type="title" sz="quarter"/>
          </p:nvPr>
        </p:nvSpPr>
        <p:spPr>
          <a:noFill/>
        </p:spPr>
        <p:txBody>
          <a:bodyPr/>
          <a:lstStyle/>
          <a:p>
            <a:r>
              <a:rPr lang="en-GB" altLang="en-US">
                <a:effectLst/>
              </a:rPr>
              <a:t>Post-buckle flattening</a:t>
            </a:r>
          </a:p>
        </p:txBody>
      </p:sp>
      <p:sp>
        <p:nvSpPr>
          <p:cNvPr id="352261" name="Rectangle 5"/>
          <p:cNvSpPr>
            <a:spLocks noChangeArrowheads="1"/>
          </p:cNvSpPr>
          <p:nvPr/>
        </p:nvSpPr>
        <p:spPr bwMode="auto">
          <a:xfrm>
            <a:off x="138113" y="757238"/>
            <a:ext cx="4708525" cy="1377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176213" indent="-176213">
              <a:lnSpc>
                <a:spcPct val="120000"/>
              </a:lnSpc>
              <a:spcBef>
                <a:spcPct val="100000"/>
              </a:spcBef>
              <a:buClr>
                <a:schemeClr val="folHlink"/>
              </a:buClr>
              <a:buSzPct val="100000"/>
              <a:buFont typeface="Times"/>
              <a:buChar char="•"/>
              <a:defRPr sz="2000">
                <a:solidFill>
                  <a:schemeClr val="tx1"/>
                </a:solidFill>
                <a:latin typeface="Arial" charset="0"/>
              </a:defRPr>
            </a:lvl1pPr>
            <a:lvl2pPr marL="877888" indent="-342900">
              <a:lnSpc>
                <a:spcPct val="120000"/>
              </a:lnSpc>
              <a:spcBef>
                <a:spcPct val="50000"/>
              </a:spcBef>
              <a:buClr>
                <a:schemeClr val="folHlink"/>
              </a:buClr>
              <a:buSzPct val="100000"/>
              <a:buFont typeface="Times"/>
              <a:buChar char="•"/>
              <a:defRPr>
                <a:solidFill>
                  <a:schemeClr val="tx1"/>
                </a:solidFill>
                <a:latin typeface="Arial" charset="0"/>
              </a:defRPr>
            </a:lvl2pPr>
            <a:lvl3pPr marL="1381125" indent="-304800">
              <a:spcBef>
                <a:spcPct val="25000"/>
              </a:spcBef>
              <a:buClr>
                <a:schemeClr val="folHlink"/>
              </a:buClr>
              <a:buFont typeface="Times"/>
              <a:buChar char="•"/>
              <a:defRPr sz="1600">
                <a:solidFill>
                  <a:schemeClr val="tx1"/>
                </a:solidFill>
                <a:latin typeface="Arial" charset="0"/>
              </a:defRPr>
            </a:lvl3pPr>
            <a:lvl4pPr marL="1865313" indent="-304800">
              <a:spcBef>
                <a:spcPct val="25000"/>
              </a:spcBef>
              <a:buClr>
                <a:schemeClr val="folHlink"/>
              </a:buClr>
              <a:buFont typeface="Times"/>
              <a:buChar char="•"/>
              <a:defRPr sz="1600">
                <a:solidFill>
                  <a:schemeClr val="tx1"/>
                </a:solidFill>
                <a:latin typeface="Arial" charset="0"/>
              </a:defRPr>
            </a:lvl4pPr>
            <a:lvl5pPr marL="2349500" indent="-304800">
              <a:spcBef>
                <a:spcPct val="25000"/>
              </a:spcBef>
              <a:buClr>
                <a:schemeClr val="folHlink"/>
              </a:buClr>
              <a:buSzPct val="50000"/>
              <a:buFont typeface="Times"/>
              <a:buChar char="•"/>
              <a:defRPr sz="1600">
                <a:solidFill>
                  <a:schemeClr val="tx1"/>
                </a:solidFill>
                <a:latin typeface="Arial" charset="0"/>
              </a:defRPr>
            </a:lvl5pPr>
            <a:lvl6pPr marL="2806700" indent="-304800" eaLnBrk="0" fontAlgn="base" hangingPunct="0">
              <a:spcBef>
                <a:spcPct val="25000"/>
              </a:spcBef>
              <a:spcAft>
                <a:spcPct val="0"/>
              </a:spcAft>
              <a:buClr>
                <a:schemeClr val="folHlink"/>
              </a:buClr>
              <a:buSzPct val="50000"/>
              <a:buFont typeface="Times"/>
              <a:buChar char="•"/>
              <a:defRPr sz="1600">
                <a:solidFill>
                  <a:schemeClr val="tx1"/>
                </a:solidFill>
                <a:latin typeface="Arial" charset="0"/>
              </a:defRPr>
            </a:lvl6pPr>
            <a:lvl7pPr marL="3263900" indent="-304800" eaLnBrk="0" fontAlgn="base" hangingPunct="0">
              <a:spcBef>
                <a:spcPct val="25000"/>
              </a:spcBef>
              <a:spcAft>
                <a:spcPct val="0"/>
              </a:spcAft>
              <a:buClr>
                <a:schemeClr val="folHlink"/>
              </a:buClr>
              <a:buSzPct val="50000"/>
              <a:buFont typeface="Times"/>
              <a:buChar char="•"/>
              <a:defRPr sz="1600">
                <a:solidFill>
                  <a:schemeClr val="tx1"/>
                </a:solidFill>
                <a:latin typeface="Arial" charset="0"/>
              </a:defRPr>
            </a:lvl7pPr>
            <a:lvl8pPr marL="3721100" indent="-304800" eaLnBrk="0" fontAlgn="base" hangingPunct="0">
              <a:spcBef>
                <a:spcPct val="25000"/>
              </a:spcBef>
              <a:spcAft>
                <a:spcPct val="0"/>
              </a:spcAft>
              <a:buClr>
                <a:schemeClr val="folHlink"/>
              </a:buClr>
              <a:buSzPct val="50000"/>
              <a:buFont typeface="Times"/>
              <a:buChar char="•"/>
              <a:defRPr sz="1600">
                <a:solidFill>
                  <a:schemeClr val="tx1"/>
                </a:solidFill>
                <a:latin typeface="Arial" charset="0"/>
              </a:defRPr>
            </a:lvl8pPr>
            <a:lvl9pPr marL="4178300" indent="-304800" eaLnBrk="0" fontAlgn="base" hangingPunct="0">
              <a:spcBef>
                <a:spcPct val="25000"/>
              </a:spcBef>
              <a:spcAft>
                <a:spcPct val="0"/>
              </a:spcAft>
              <a:buClr>
                <a:schemeClr val="folHlink"/>
              </a:buClr>
              <a:buSzPct val="50000"/>
              <a:buFont typeface="Times"/>
              <a:buChar char="•"/>
              <a:defRPr sz="1600">
                <a:solidFill>
                  <a:schemeClr val="tx1"/>
                </a:solidFill>
                <a:latin typeface="Arial" charset="0"/>
              </a:defRPr>
            </a:lvl9pPr>
          </a:lstStyle>
          <a:p>
            <a:r>
              <a:rPr lang="en-GB" altLang="en-US" sz="1700">
                <a:solidFill>
                  <a:srgbClr val="FF6600"/>
                </a:solidFill>
                <a:effectLst/>
              </a:rPr>
              <a:t>Post-buckle flattening</a:t>
            </a:r>
            <a:r>
              <a:rPr lang="en-GB" altLang="en-US" sz="1700">
                <a:effectLst/>
              </a:rPr>
              <a:t> changes the geometry of a buckle fold from </a:t>
            </a:r>
            <a:r>
              <a:rPr lang="en-GB" altLang="en-US" sz="1700">
                <a:solidFill>
                  <a:srgbClr val="FF66CC"/>
                </a:solidFill>
                <a:effectLst/>
              </a:rPr>
              <a:t>Class 1B</a:t>
            </a:r>
            <a:r>
              <a:rPr lang="en-GB" altLang="en-US" sz="1700">
                <a:effectLst/>
              </a:rPr>
              <a:t> to </a:t>
            </a:r>
            <a:r>
              <a:rPr lang="en-GB" altLang="en-US" sz="1700">
                <a:solidFill>
                  <a:srgbClr val="FF66CC"/>
                </a:solidFill>
                <a:effectLst/>
              </a:rPr>
              <a:t>Class 1C</a:t>
            </a:r>
            <a:r>
              <a:rPr lang="en-GB" altLang="en-US" sz="1700">
                <a:effectLst/>
              </a:rPr>
              <a:t>; dip isogon analysis allows the amount of flattening to be evaluated</a:t>
            </a:r>
          </a:p>
        </p:txBody>
      </p:sp>
      <p:sp>
        <p:nvSpPr>
          <p:cNvPr id="352262" name="Text Box 6"/>
          <p:cNvSpPr txBox="1">
            <a:spLocks noChangeArrowheads="1"/>
          </p:cNvSpPr>
          <p:nvPr/>
        </p:nvSpPr>
        <p:spPr bwMode="auto">
          <a:xfrm>
            <a:off x="4819650" y="3468853"/>
            <a:ext cx="1724025" cy="18782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20000"/>
              </a:lnSpc>
              <a:spcBef>
                <a:spcPct val="50000"/>
              </a:spcBef>
              <a:buClr>
                <a:schemeClr val="tx1"/>
              </a:buClr>
            </a:pPr>
            <a:r>
              <a:rPr lang="en-GB" altLang="en-US" sz="1400" dirty="0">
                <a:solidFill>
                  <a:srgbClr val="FFFF00"/>
                </a:solidFill>
                <a:effectLst>
                  <a:outerShdw blurRad="38100" dist="38100" dir="2700000" algn="tl">
                    <a:srgbClr val="000000"/>
                  </a:outerShdw>
                </a:effectLst>
                <a:latin typeface="Arial" charset="0"/>
              </a:rPr>
              <a:t>Compression parallel to the axial plane of a</a:t>
            </a:r>
            <a:r>
              <a:rPr lang="en-GB" altLang="en-US" sz="1400" dirty="0">
                <a:effectLst>
                  <a:outerShdw blurRad="38100" dist="38100" dir="2700000" algn="tl">
                    <a:srgbClr val="000000"/>
                  </a:outerShdw>
                </a:effectLst>
                <a:latin typeface="Arial" charset="0"/>
              </a:rPr>
              <a:t> </a:t>
            </a:r>
            <a:r>
              <a:rPr lang="en-GB" altLang="en-US" sz="1400" dirty="0">
                <a:solidFill>
                  <a:srgbClr val="FF66CC"/>
                </a:solidFill>
                <a:effectLst>
                  <a:outerShdw blurRad="38100" dist="38100" dir="2700000" algn="tl">
                    <a:srgbClr val="000000"/>
                  </a:outerShdw>
                </a:effectLst>
                <a:latin typeface="Arial" charset="0"/>
              </a:rPr>
              <a:t>Class 1B</a:t>
            </a:r>
            <a:r>
              <a:rPr lang="en-GB" altLang="en-US" sz="1400" dirty="0">
                <a:effectLst>
                  <a:outerShdw blurRad="38100" dist="38100" dir="2700000" algn="tl">
                    <a:srgbClr val="000000"/>
                  </a:outerShdw>
                </a:effectLst>
                <a:latin typeface="Arial" charset="0"/>
              </a:rPr>
              <a:t> </a:t>
            </a:r>
            <a:r>
              <a:rPr lang="en-GB" altLang="en-US" sz="1400" dirty="0">
                <a:solidFill>
                  <a:srgbClr val="FFFF00"/>
                </a:solidFill>
                <a:effectLst>
                  <a:outerShdw blurRad="38100" dist="38100" dir="2700000" algn="tl">
                    <a:srgbClr val="000000"/>
                  </a:outerShdw>
                </a:effectLst>
                <a:latin typeface="Arial" charset="0"/>
              </a:rPr>
              <a:t>fold that was formed by buckling changes it into a</a:t>
            </a:r>
            <a:r>
              <a:rPr lang="en-GB" altLang="en-US" sz="1400" dirty="0">
                <a:effectLst>
                  <a:outerShdw blurRad="38100" dist="38100" dir="2700000" algn="tl">
                    <a:srgbClr val="000000"/>
                  </a:outerShdw>
                </a:effectLst>
                <a:latin typeface="Arial" charset="0"/>
              </a:rPr>
              <a:t> </a:t>
            </a:r>
            <a:r>
              <a:rPr lang="en-GB" altLang="en-US" sz="1400" dirty="0">
                <a:solidFill>
                  <a:srgbClr val="FF66CC"/>
                </a:solidFill>
                <a:effectLst>
                  <a:outerShdw blurRad="38100" dist="38100" dir="2700000" algn="tl">
                    <a:srgbClr val="000000"/>
                  </a:outerShdw>
                </a:effectLst>
                <a:latin typeface="Arial" charset="0"/>
              </a:rPr>
              <a:t>Class 1A</a:t>
            </a:r>
            <a:r>
              <a:rPr lang="en-GB" altLang="en-US" sz="1400" dirty="0">
                <a:effectLst>
                  <a:outerShdw blurRad="38100" dist="38100" dir="2700000" algn="tl">
                    <a:srgbClr val="000000"/>
                  </a:outerShdw>
                </a:effectLst>
                <a:latin typeface="Arial" charset="0"/>
              </a:rPr>
              <a:t> </a:t>
            </a:r>
            <a:r>
              <a:rPr lang="en-GB" altLang="en-US" sz="1400" dirty="0">
                <a:solidFill>
                  <a:srgbClr val="FFFF00"/>
                </a:solidFill>
                <a:effectLst>
                  <a:outerShdw blurRad="38100" dist="38100" dir="2700000" algn="tl">
                    <a:srgbClr val="000000"/>
                  </a:outerShdw>
                </a:effectLst>
                <a:latin typeface="Arial" charset="0"/>
              </a:rPr>
              <a:t>fold</a:t>
            </a:r>
          </a:p>
        </p:txBody>
      </p:sp>
      <p:sp>
        <p:nvSpPr>
          <p:cNvPr id="352264" name="Text Box 8"/>
          <p:cNvSpPr txBox="1">
            <a:spLocks noChangeArrowheads="1"/>
          </p:cNvSpPr>
          <p:nvPr/>
        </p:nvSpPr>
        <p:spPr bwMode="auto">
          <a:xfrm>
            <a:off x="131763" y="2522538"/>
            <a:ext cx="2393950" cy="23923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20000"/>
              </a:lnSpc>
              <a:spcBef>
                <a:spcPct val="50000"/>
              </a:spcBef>
              <a:buClr>
                <a:schemeClr val="tx1"/>
              </a:buClr>
            </a:pPr>
            <a:r>
              <a:rPr lang="en-GB" altLang="en-US" sz="1400">
                <a:solidFill>
                  <a:srgbClr val="FFFF00"/>
                </a:solidFill>
                <a:effectLst>
                  <a:outerShdw blurRad="38100" dist="38100" dir="2700000" algn="tl">
                    <a:srgbClr val="000000"/>
                  </a:outerShdw>
                </a:effectLst>
                <a:latin typeface="Arial" charset="0"/>
              </a:rPr>
              <a:t>A folded multilayer may have </a:t>
            </a:r>
            <a:r>
              <a:rPr lang="en-GB" altLang="en-US" sz="1400">
                <a:solidFill>
                  <a:srgbClr val="FF66CC"/>
                </a:solidFill>
                <a:effectLst>
                  <a:outerShdw blurRad="38100" dist="38100" dir="2700000" algn="tl">
                    <a:srgbClr val="000000"/>
                  </a:outerShdw>
                </a:effectLst>
                <a:latin typeface="Arial" charset="0"/>
              </a:rPr>
              <a:t>Class 1B</a:t>
            </a:r>
            <a:r>
              <a:rPr lang="en-GB" altLang="en-US" sz="1400">
                <a:effectLst>
                  <a:outerShdw blurRad="38100" dist="38100" dir="2700000" algn="tl">
                    <a:srgbClr val="000000"/>
                  </a:outerShdw>
                </a:effectLst>
                <a:latin typeface="Arial" charset="0"/>
              </a:rPr>
              <a:t> </a:t>
            </a:r>
            <a:r>
              <a:rPr lang="en-GB" altLang="en-US" sz="1400">
                <a:solidFill>
                  <a:srgbClr val="FFFF00"/>
                </a:solidFill>
                <a:effectLst>
                  <a:outerShdw blurRad="38100" dist="38100" dir="2700000" algn="tl">
                    <a:srgbClr val="000000"/>
                  </a:outerShdw>
                </a:effectLst>
                <a:latin typeface="Arial" charset="0"/>
              </a:rPr>
              <a:t>competent layers separated by</a:t>
            </a:r>
            <a:r>
              <a:rPr lang="en-GB" altLang="en-US" sz="1400">
                <a:effectLst>
                  <a:outerShdw blurRad="38100" dist="38100" dir="2700000" algn="tl">
                    <a:srgbClr val="000000"/>
                  </a:outerShdw>
                </a:effectLst>
                <a:latin typeface="Arial" charset="0"/>
              </a:rPr>
              <a:t> </a:t>
            </a:r>
            <a:r>
              <a:rPr lang="en-GB" altLang="en-US" sz="1400">
                <a:solidFill>
                  <a:srgbClr val="FF66CC"/>
                </a:solidFill>
                <a:effectLst>
                  <a:outerShdw blurRad="38100" dist="38100" dir="2700000" algn="tl">
                    <a:srgbClr val="000000"/>
                  </a:outerShdw>
                </a:effectLst>
                <a:latin typeface="Arial" charset="0"/>
              </a:rPr>
              <a:t>Class 3</a:t>
            </a:r>
            <a:r>
              <a:rPr lang="en-GB" altLang="en-US" sz="1400">
                <a:effectLst>
                  <a:outerShdw blurRad="38100" dist="38100" dir="2700000" algn="tl">
                    <a:srgbClr val="000000"/>
                  </a:outerShdw>
                </a:effectLst>
                <a:latin typeface="Arial" charset="0"/>
              </a:rPr>
              <a:t> </a:t>
            </a:r>
            <a:r>
              <a:rPr lang="en-GB" altLang="en-US" sz="1400">
                <a:solidFill>
                  <a:srgbClr val="FFFF00"/>
                </a:solidFill>
                <a:effectLst>
                  <a:outerShdw blurRad="38100" dist="38100" dir="2700000" algn="tl">
                    <a:srgbClr val="000000"/>
                  </a:outerShdw>
                </a:effectLst>
                <a:latin typeface="Arial" charset="0"/>
              </a:rPr>
              <a:t>less competent interlayers; during continued shortening the</a:t>
            </a:r>
            <a:r>
              <a:rPr lang="en-GB" altLang="en-US" sz="1400">
                <a:effectLst>
                  <a:outerShdw blurRad="38100" dist="38100" dir="2700000" algn="tl">
                    <a:srgbClr val="000000"/>
                  </a:outerShdw>
                </a:effectLst>
                <a:latin typeface="Arial" charset="0"/>
              </a:rPr>
              <a:t> </a:t>
            </a:r>
            <a:r>
              <a:rPr lang="en-GB" altLang="en-US" sz="1400">
                <a:solidFill>
                  <a:srgbClr val="FF66CC"/>
                </a:solidFill>
                <a:effectLst>
                  <a:outerShdw blurRad="38100" dist="38100" dir="2700000" algn="tl">
                    <a:srgbClr val="000000"/>
                  </a:outerShdw>
                </a:effectLst>
                <a:latin typeface="Arial" charset="0"/>
              </a:rPr>
              <a:t>Class 3</a:t>
            </a:r>
            <a:r>
              <a:rPr lang="en-GB" altLang="en-US" sz="1400">
                <a:effectLst>
                  <a:outerShdw blurRad="38100" dist="38100" dir="2700000" algn="tl">
                    <a:srgbClr val="000000"/>
                  </a:outerShdw>
                </a:effectLst>
                <a:latin typeface="Arial" charset="0"/>
              </a:rPr>
              <a:t> </a:t>
            </a:r>
            <a:r>
              <a:rPr lang="en-GB" altLang="en-US" sz="1400">
                <a:solidFill>
                  <a:srgbClr val="FFFF00"/>
                </a:solidFill>
                <a:effectLst>
                  <a:outerShdw blurRad="38100" dist="38100" dir="2700000" algn="tl">
                    <a:srgbClr val="000000"/>
                  </a:outerShdw>
                </a:effectLst>
                <a:latin typeface="Arial" charset="0"/>
              </a:rPr>
              <a:t>form of the less competent layers is retained but the competent layers become</a:t>
            </a:r>
            <a:r>
              <a:rPr lang="en-GB" altLang="en-US" sz="1400">
                <a:effectLst>
                  <a:outerShdw blurRad="38100" dist="38100" dir="2700000" algn="tl">
                    <a:srgbClr val="000000"/>
                  </a:outerShdw>
                </a:effectLst>
                <a:latin typeface="Arial" charset="0"/>
              </a:rPr>
              <a:t> </a:t>
            </a:r>
            <a:r>
              <a:rPr lang="en-GB" altLang="en-US" sz="1400">
                <a:solidFill>
                  <a:srgbClr val="FF66CC"/>
                </a:solidFill>
                <a:effectLst>
                  <a:outerShdw blurRad="38100" dist="38100" dir="2700000" algn="tl">
                    <a:srgbClr val="000000"/>
                  </a:outerShdw>
                </a:effectLst>
                <a:latin typeface="Arial" charset="0"/>
              </a:rPr>
              <a:t>Class 1C</a:t>
            </a:r>
          </a:p>
        </p:txBody>
      </p:sp>
      <p:pic>
        <p:nvPicPr>
          <p:cNvPr id="352267" name="Picture 11"/>
          <p:cNvPicPr>
            <a:picLocks noGrp="1" noChangeAspect="1" noChangeArrowheads="1"/>
          </p:cNvPicPr>
          <p:nvPr>
            <p:ph sz="quarter" idx="4"/>
          </p:nvPr>
        </p:nvPicPr>
        <p:blipFill>
          <a:blip r:embed="rId3">
            <a:extLst>
              <a:ext uri="{28A0092B-C50C-407E-A947-70E740481C1C}">
                <a14:useLocalDpi xmlns:a14="http://schemas.microsoft.com/office/drawing/2010/main" val="0"/>
              </a:ext>
            </a:extLst>
          </a:blip>
          <a:srcRect/>
          <a:stretch>
            <a:fillRect/>
          </a:stretch>
        </p:blipFill>
        <p:spPr>
          <a:xfrm>
            <a:off x="158750" y="5395913"/>
            <a:ext cx="6375400" cy="1314450"/>
          </a:xfrm>
          <a:noFill/>
          <a:ln w="38100" cap="flat">
            <a:solidFill>
              <a:schemeClr val="bg2"/>
            </a:solidFill>
            <a:miter lim="800000"/>
            <a:headEnd/>
            <a:tailEnd/>
          </a:ln>
        </p:spPr>
      </p:pic>
      <p:grpSp>
        <p:nvGrpSpPr>
          <p:cNvPr id="352287" name="Group 31"/>
          <p:cNvGrpSpPr>
            <a:grpSpLocks/>
          </p:cNvGrpSpPr>
          <p:nvPr/>
        </p:nvGrpSpPr>
        <p:grpSpPr bwMode="auto">
          <a:xfrm>
            <a:off x="2563813" y="2674938"/>
            <a:ext cx="2022475" cy="1881187"/>
            <a:chOff x="1719" y="2470"/>
            <a:chExt cx="1274" cy="1185"/>
          </a:xfrm>
        </p:grpSpPr>
        <p:pic>
          <p:nvPicPr>
            <p:cNvPr id="352263" name="Picture 7" descr="08d"/>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19" y="2470"/>
              <a:ext cx="1256" cy="1185"/>
            </a:xfrm>
            <a:prstGeom prst="rect">
              <a:avLst/>
            </a:prstGeom>
            <a:noFill/>
            <a:ln w="38100" cmpd="sng">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352271" name="Text Box 15"/>
            <p:cNvSpPr txBox="1">
              <a:spLocks noChangeArrowheads="1"/>
            </p:cNvSpPr>
            <p:nvPr/>
          </p:nvSpPr>
          <p:spPr bwMode="auto">
            <a:xfrm>
              <a:off x="2739" y="2797"/>
              <a:ext cx="254"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GB" altLang="en-US" sz="1000">
                  <a:solidFill>
                    <a:srgbClr val="FF0000"/>
                  </a:solidFill>
                  <a:effectLst/>
                  <a:latin typeface="Arial" charset="0"/>
                </a:rPr>
                <a:t>1B</a:t>
              </a:r>
            </a:p>
          </p:txBody>
        </p:sp>
        <p:sp>
          <p:nvSpPr>
            <p:cNvPr id="352272" name="Text Box 16"/>
            <p:cNvSpPr txBox="1">
              <a:spLocks noChangeArrowheads="1"/>
            </p:cNvSpPr>
            <p:nvPr/>
          </p:nvSpPr>
          <p:spPr bwMode="auto">
            <a:xfrm>
              <a:off x="2739" y="3096"/>
              <a:ext cx="254"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GB" altLang="en-US" sz="1000">
                  <a:solidFill>
                    <a:srgbClr val="FF0000"/>
                  </a:solidFill>
                  <a:effectLst/>
                  <a:latin typeface="Arial" charset="0"/>
                </a:rPr>
                <a:t>1B</a:t>
              </a:r>
            </a:p>
          </p:txBody>
        </p:sp>
        <p:sp>
          <p:nvSpPr>
            <p:cNvPr id="352273" name="Text Box 17"/>
            <p:cNvSpPr txBox="1">
              <a:spLocks noChangeArrowheads="1"/>
            </p:cNvSpPr>
            <p:nvPr/>
          </p:nvSpPr>
          <p:spPr bwMode="auto">
            <a:xfrm>
              <a:off x="2739" y="3364"/>
              <a:ext cx="254"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GB" altLang="en-US" sz="1000">
                  <a:solidFill>
                    <a:srgbClr val="FF0000"/>
                  </a:solidFill>
                  <a:effectLst/>
                  <a:latin typeface="Arial" charset="0"/>
                </a:rPr>
                <a:t>1B</a:t>
              </a:r>
            </a:p>
          </p:txBody>
        </p:sp>
        <p:sp>
          <p:nvSpPr>
            <p:cNvPr id="352274" name="Text Box 18"/>
            <p:cNvSpPr txBox="1">
              <a:spLocks noChangeArrowheads="1"/>
            </p:cNvSpPr>
            <p:nvPr/>
          </p:nvSpPr>
          <p:spPr bwMode="auto">
            <a:xfrm>
              <a:off x="2777" y="2958"/>
              <a:ext cx="178"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GB" altLang="en-US" sz="1000">
                  <a:solidFill>
                    <a:srgbClr val="FF0000"/>
                  </a:solidFill>
                  <a:effectLst/>
                  <a:latin typeface="Arial" charset="0"/>
                </a:rPr>
                <a:t>3</a:t>
              </a:r>
            </a:p>
          </p:txBody>
        </p:sp>
        <p:sp>
          <p:nvSpPr>
            <p:cNvPr id="352275" name="Text Box 19"/>
            <p:cNvSpPr txBox="1">
              <a:spLocks noChangeArrowheads="1"/>
            </p:cNvSpPr>
            <p:nvPr/>
          </p:nvSpPr>
          <p:spPr bwMode="auto">
            <a:xfrm>
              <a:off x="2775" y="3233"/>
              <a:ext cx="159"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GB" altLang="en-US" sz="1000">
                  <a:solidFill>
                    <a:srgbClr val="FF0000"/>
                  </a:solidFill>
                  <a:effectLst/>
                  <a:latin typeface="Arial" charset="0"/>
                </a:rPr>
                <a:t>3</a:t>
              </a:r>
            </a:p>
          </p:txBody>
        </p:sp>
      </p:grpSp>
      <p:grpSp>
        <p:nvGrpSpPr>
          <p:cNvPr id="352286" name="Group 30"/>
          <p:cNvGrpSpPr>
            <a:grpSpLocks/>
          </p:cNvGrpSpPr>
          <p:nvPr/>
        </p:nvGrpSpPr>
        <p:grpSpPr bwMode="auto">
          <a:xfrm>
            <a:off x="6626225" y="3621088"/>
            <a:ext cx="2371725" cy="1979612"/>
            <a:chOff x="4157" y="2976"/>
            <a:chExt cx="1494" cy="1247"/>
          </a:xfrm>
        </p:grpSpPr>
        <p:sp>
          <p:nvSpPr>
            <p:cNvPr id="352281" name="Rectangle 25"/>
            <p:cNvSpPr>
              <a:spLocks noChangeArrowheads="1"/>
            </p:cNvSpPr>
            <p:nvPr/>
          </p:nvSpPr>
          <p:spPr bwMode="auto">
            <a:xfrm>
              <a:off x="4157" y="2976"/>
              <a:ext cx="1494" cy="1247"/>
            </a:xfrm>
            <a:prstGeom prst="rect">
              <a:avLst/>
            </a:prstGeom>
            <a:solidFill>
              <a:schemeClr val="folHlink"/>
            </a:solidFill>
            <a:ln w="38100">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pic>
          <p:nvPicPr>
            <p:cNvPr id="352260" name="Picture 4" descr="08d"/>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208" y="3017"/>
              <a:ext cx="1405" cy="111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cmpd="sng">
                  <a:solidFill>
                    <a:schemeClr val="bg2"/>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352266" name="Line 10"/>
            <p:cNvSpPr>
              <a:spLocks noChangeShapeType="1"/>
            </p:cNvSpPr>
            <p:nvPr/>
          </p:nvSpPr>
          <p:spPr bwMode="auto">
            <a:xfrm flipH="1">
              <a:off x="4903" y="3576"/>
              <a:ext cx="2" cy="110"/>
            </a:xfrm>
            <a:prstGeom prst="line">
              <a:avLst/>
            </a:prstGeom>
            <a:noFill/>
            <a:ln w="381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352269" name="Text Box 13"/>
            <p:cNvSpPr txBox="1">
              <a:spLocks noChangeArrowheads="1"/>
            </p:cNvSpPr>
            <p:nvPr/>
          </p:nvSpPr>
          <p:spPr bwMode="auto">
            <a:xfrm>
              <a:off x="5354" y="3755"/>
              <a:ext cx="254"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GB" altLang="en-US" sz="1000">
                  <a:solidFill>
                    <a:srgbClr val="FF0000"/>
                  </a:solidFill>
                  <a:effectLst/>
                  <a:latin typeface="Arial" charset="0"/>
                </a:rPr>
                <a:t>1A</a:t>
              </a:r>
            </a:p>
          </p:txBody>
        </p:sp>
        <p:sp>
          <p:nvSpPr>
            <p:cNvPr id="352270" name="Text Box 14"/>
            <p:cNvSpPr txBox="1">
              <a:spLocks noChangeArrowheads="1"/>
            </p:cNvSpPr>
            <p:nvPr/>
          </p:nvSpPr>
          <p:spPr bwMode="auto">
            <a:xfrm>
              <a:off x="5120" y="3097"/>
              <a:ext cx="254"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GB" altLang="en-US" sz="1000">
                  <a:solidFill>
                    <a:srgbClr val="FF0000"/>
                  </a:solidFill>
                  <a:effectLst/>
                  <a:latin typeface="Arial" charset="0"/>
                </a:rPr>
                <a:t>1B</a:t>
              </a:r>
            </a:p>
          </p:txBody>
        </p:sp>
        <p:sp>
          <p:nvSpPr>
            <p:cNvPr id="352280" name="Line 24"/>
            <p:cNvSpPr>
              <a:spLocks noChangeShapeType="1"/>
            </p:cNvSpPr>
            <p:nvPr/>
          </p:nvSpPr>
          <p:spPr bwMode="auto">
            <a:xfrm rot="10800000" flipH="1">
              <a:off x="4904" y="4055"/>
              <a:ext cx="2" cy="110"/>
            </a:xfrm>
            <a:prstGeom prst="line">
              <a:avLst/>
            </a:prstGeom>
            <a:noFill/>
            <a:ln w="381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grpSp>
      <p:grpSp>
        <p:nvGrpSpPr>
          <p:cNvPr id="352285" name="Group 29"/>
          <p:cNvGrpSpPr>
            <a:grpSpLocks/>
          </p:cNvGrpSpPr>
          <p:nvPr/>
        </p:nvGrpSpPr>
        <p:grpSpPr bwMode="auto">
          <a:xfrm>
            <a:off x="4997450" y="841375"/>
            <a:ext cx="3673475" cy="2492375"/>
            <a:chOff x="3318" y="1518"/>
            <a:chExt cx="2314" cy="1570"/>
          </a:xfrm>
        </p:grpSpPr>
        <p:sp>
          <p:nvSpPr>
            <p:cNvPr id="352282" name="Rectangle 26"/>
            <p:cNvSpPr>
              <a:spLocks noChangeArrowheads="1"/>
            </p:cNvSpPr>
            <p:nvPr/>
          </p:nvSpPr>
          <p:spPr bwMode="auto">
            <a:xfrm>
              <a:off x="3318" y="1518"/>
              <a:ext cx="2314" cy="1570"/>
            </a:xfrm>
            <a:prstGeom prst="rect">
              <a:avLst/>
            </a:prstGeom>
            <a:solidFill>
              <a:schemeClr val="folHlink"/>
            </a:solidFill>
            <a:ln w="38100">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pic>
          <p:nvPicPr>
            <p:cNvPr id="352283" name="Picture 27" descr="08c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386" y="1573"/>
              <a:ext cx="2072" cy="1431"/>
            </a:xfrm>
            <a:prstGeom prst="rect">
              <a:avLst/>
            </a:prstGeom>
            <a:noFill/>
            <a:extLst>
              <a:ext uri="{909E8E84-426E-40DD-AFC4-6F175D3DCCD1}">
                <a14:hiddenFill xmlns:a14="http://schemas.microsoft.com/office/drawing/2010/main">
                  <a:solidFill>
                    <a:srgbClr val="FFFFFF"/>
                  </a:solidFill>
                </a14:hiddenFill>
              </a:ext>
            </a:extLst>
          </p:spPr>
        </p:pic>
        <p:sp>
          <p:nvSpPr>
            <p:cNvPr id="352265" name="Line 9"/>
            <p:cNvSpPr>
              <a:spLocks noChangeShapeType="1"/>
            </p:cNvSpPr>
            <p:nvPr/>
          </p:nvSpPr>
          <p:spPr bwMode="auto">
            <a:xfrm>
              <a:off x="4711" y="2344"/>
              <a:ext cx="134" cy="1"/>
            </a:xfrm>
            <a:prstGeom prst="line">
              <a:avLst/>
            </a:prstGeom>
            <a:noFill/>
            <a:ln w="381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352277" name="Text Box 21"/>
            <p:cNvSpPr txBox="1">
              <a:spLocks noChangeArrowheads="1"/>
            </p:cNvSpPr>
            <p:nvPr/>
          </p:nvSpPr>
          <p:spPr bwMode="auto">
            <a:xfrm>
              <a:off x="3395" y="2277"/>
              <a:ext cx="276"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GB" altLang="en-US" sz="1000">
                  <a:solidFill>
                    <a:srgbClr val="FF0000"/>
                  </a:solidFill>
                  <a:effectLst/>
                  <a:latin typeface="Arial" charset="0"/>
                </a:rPr>
                <a:t>1B</a:t>
              </a:r>
            </a:p>
          </p:txBody>
        </p:sp>
        <p:sp>
          <p:nvSpPr>
            <p:cNvPr id="352278" name="Text Box 22"/>
            <p:cNvSpPr txBox="1">
              <a:spLocks noChangeArrowheads="1"/>
            </p:cNvSpPr>
            <p:nvPr/>
          </p:nvSpPr>
          <p:spPr bwMode="auto">
            <a:xfrm>
              <a:off x="5130" y="2045"/>
              <a:ext cx="276"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GB" altLang="en-US" sz="1000">
                  <a:solidFill>
                    <a:srgbClr val="FF0000"/>
                  </a:solidFill>
                  <a:effectLst/>
                  <a:latin typeface="Arial" charset="0"/>
                </a:rPr>
                <a:t>1C</a:t>
              </a:r>
            </a:p>
          </p:txBody>
        </p:sp>
        <p:sp>
          <p:nvSpPr>
            <p:cNvPr id="352279" name="Line 23"/>
            <p:cNvSpPr>
              <a:spLocks noChangeShapeType="1"/>
            </p:cNvSpPr>
            <p:nvPr/>
          </p:nvSpPr>
          <p:spPr bwMode="auto">
            <a:xfrm rot="10800000">
              <a:off x="5448" y="2344"/>
              <a:ext cx="134" cy="1"/>
            </a:xfrm>
            <a:prstGeom prst="line">
              <a:avLst/>
            </a:prstGeom>
            <a:noFill/>
            <a:ln w="381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grpSp>
    </p:spTree>
  </p:cSld>
  <p:clrMapOvr>
    <a:masterClrMapping/>
  </p:clrMapOvr>
  <p:transition spd="slow"/>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4022" name="Rectangle 6"/>
          <p:cNvSpPr>
            <a:spLocks noChangeArrowheads="1"/>
          </p:cNvSpPr>
          <p:nvPr/>
        </p:nvSpPr>
        <p:spPr bwMode="auto">
          <a:xfrm>
            <a:off x="5938838" y="852488"/>
            <a:ext cx="3036887" cy="5868987"/>
          </a:xfrm>
          <a:prstGeom prst="rect">
            <a:avLst/>
          </a:prstGeom>
          <a:solidFill>
            <a:schemeClr val="folHlink"/>
          </a:solidFill>
          <a:ln w="38100">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14018" name="Rectangle 2"/>
          <p:cNvSpPr>
            <a:spLocks noGrp="1" noChangeArrowheads="1"/>
          </p:cNvSpPr>
          <p:nvPr>
            <p:ph type="title"/>
          </p:nvPr>
        </p:nvSpPr>
        <p:spPr>
          <a:noFill/>
        </p:spPr>
        <p:txBody>
          <a:bodyPr/>
          <a:lstStyle/>
          <a:p>
            <a:r>
              <a:rPr lang="en-GB" altLang="en-US">
                <a:effectLst/>
              </a:rPr>
              <a:t>Bending</a:t>
            </a:r>
          </a:p>
        </p:txBody>
      </p:sp>
      <p:pic>
        <p:nvPicPr>
          <p:cNvPr id="214020" name="Picture 2" descr="GR25.jpg"/>
          <p:cNvPicPr>
            <a:picLocks noGrp="1" noChangeAspect="1"/>
          </p:cNvPicPr>
          <p:nvPr>
            <p:ph idx="1"/>
          </p:nvPr>
        </p:nvPicPr>
        <p:blipFill>
          <a:blip r:embed="rId3">
            <a:extLst>
              <a:ext uri="{28A0092B-C50C-407E-A947-70E740481C1C}">
                <a14:useLocalDpi xmlns:a14="http://schemas.microsoft.com/office/drawing/2010/main" val="0"/>
              </a:ext>
            </a:extLst>
          </a:blip>
          <a:srcRect/>
          <a:stretch>
            <a:fillRect/>
          </a:stretch>
        </p:blipFill>
        <p:spPr>
          <a:xfrm>
            <a:off x="6010275" y="927100"/>
            <a:ext cx="2889250" cy="5729288"/>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214023" name="Text Box 7"/>
          <p:cNvSpPr txBox="1">
            <a:spLocks noChangeArrowheads="1"/>
          </p:cNvSpPr>
          <p:nvPr/>
        </p:nvSpPr>
        <p:spPr bwMode="auto">
          <a:xfrm>
            <a:off x="123825" y="787400"/>
            <a:ext cx="5716588" cy="4730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82563" indent="-182563">
              <a:defRPr sz="1600">
                <a:solidFill>
                  <a:schemeClr val="tx1"/>
                </a:solidFill>
                <a:latin typeface="Helvetica" charset="0"/>
              </a:defRPr>
            </a:lvl1pPr>
            <a:lvl2pPr marL="625475" indent="-263525">
              <a:defRPr sz="1600">
                <a:solidFill>
                  <a:schemeClr val="tx1"/>
                </a:solidFill>
                <a:latin typeface="Helvetica" charset="0"/>
              </a:defRPr>
            </a:lvl2pPr>
            <a:lvl3pPr marL="1292225" indent="-304800">
              <a:defRPr sz="1600">
                <a:solidFill>
                  <a:schemeClr val="tx1"/>
                </a:solidFill>
                <a:latin typeface="Helvetica" charset="0"/>
              </a:defRPr>
            </a:lvl3pPr>
            <a:lvl4pPr marL="1776413" indent="-304800">
              <a:defRPr sz="1600">
                <a:solidFill>
                  <a:schemeClr val="tx1"/>
                </a:solidFill>
                <a:latin typeface="Helvetica" charset="0"/>
              </a:defRPr>
            </a:lvl4pPr>
            <a:lvl5pPr marL="2260600" indent="-304800">
              <a:defRPr sz="1600">
                <a:solidFill>
                  <a:schemeClr val="tx1"/>
                </a:solidFill>
                <a:latin typeface="Helvetica" charset="0"/>
              </a:defRPr>
            </a:lvl5pPr>
            <a:lvl6pPr marL="2717800" indent="-304800" eaLnBrk="0" fontAlgn="base" hangingPunct="0">
              <a:spcBef>
                <a:spcPct val="20000"/>
              </a:spcBef>
              <a:spcAft>
                <a:spcPct val="0"/>
              </a:spcAft>
              <a:buClr>
                <a:schemeClr val="accent2"/>
              </a:buClr>
              <a:defRPr sz="1600">
                <a:solidFill>
                  <a:schemeClr val="tx1"/>
                </a:solidFill>
                <a:latin typeface="Helvetica" charset="0"/>
              </a:defRPr>
            </a:lvl6pPr>
            <a:lvl7pPr marL="3175000" indent="-304800" eaLnBrk="0" fontAlgn="base" hangingPunct="0">
              <a:spcBef>
                <a:spcPct val="20000"/>
              </a:spcBef>
              <a:spcAft>
                <a:spcPct val="0"/>
              </a:spcAft>
              <a:buClr>
                <a:schemeClr val="accent2"/>
              </a:buClr>
              <a:defRPr sz="1600">
                <a:solidFill>
                  <a:schemeClr val="tx1"/>
                </a:solidFill>
                <a:latin typeface="Helvetica" charset="0"/>
              </a:defRPr>
            </a:lvl7pPr>
            <a:lvl8pPr marL="3632200" indent="-304800" eaLnBrk="0" fontAlgn="base" hangingPunct="0">
              <a:spcBef>
                <a:spcPct val="20000"/>
              </a:spcBef>
              <a:spcAft>
                <a:spcPct val="0"/>
              </a:spcAft>
              <a:buClr>
                <a:schemeClr val="accent2"/>
              </a:buClr>
              <a:defRPr sz="1600">
                <a:solidFill>
                  <a:schemeClr val="tx1"/>
                </a:solidFill>
                <a:latin typeface="Helvetica" charset="0"/>
              </a:defRPr>
            </a:lvl8pPr>
            <a:lvl9pPr marL="4089400" indent="-304800" eaLnBrk="0" fontAlgn="base" hangingPunct="0">
              <a:spcBef>
                <a:spcPct val="20000"/>
              </a:spcBef>
              <a:spcAft>
                <a:spcPct val="0"/>
              </a:spcAft>
              <a:buClr>
                <a:schemeClr val="accent2"/>
              </a:buClr>
              <a:defRPr sz="1600">
                <a:solidFill>
                  <a:schemeClr val="tx1"/>
                </a:solidFill>
                <a:latin typeface="Helvetica" charset="0"/>
              </a:defRPr>
            </a:lvl9pPr>
          </a:lstStyle>
          <a:p>
            <a:pPr>
              <a:lnSpc>
                <a:spcPct val="120000"/>
              </a:lnSpc>
              <a:spcBef>
                <a:spcPct val="75000"/>
              </a:spcBef>
              <a:buClr>
                <a:schemeClr val="tx1"/>
              </a:buClr>
              <a:buFontTx/>
              <a:buChar char="•"/>
            </a:pPr>
            <a:r>
              <a:rPr lang="en-GB" altLang="en-US" sz="1700" dirty="0">
                <a:effectLst>
                  <a:outerShdw blurRad="38100" dist="38100" dir="2700000" algn="tl">
                    <a:srgbClr val="000000"/>
                  </a:outerShdw>
                </a:effectLst>
                <a:latin typeface="Arial" charset="0"/>
              </a:rPr>
              <a:t>Bend folds are formed as </a:t>
            </a:r>
            <a:r>
              <a:rPr lang="en-GB" altLang="en-US" sz="1700" dirty="0">
                <a:solidFill>
                  <a:srgbClr val="FF66CC"/>
                </a:solidFill>
                <a:effectLst>
                  <a:outerShdw blurRad="38100" dist="38100" dir="2700000" algn="tl">
                    <a:srgbClr val="000000"/>
                  </a:outerShdw>
                </a:effectLst>
                <a:latin typeface="Arial" charset="0"/>
              </a:rPr>
              <a:t>geometrically necessary</a:t>
            </a:r>
            <a:r>
              <a:rPr lang="en-GB" altLang="en-US" sz="1700" dirty="0">
                <a:effectLst>
                  <a:outerShdw blurRad="38100" dist="38100" dir="2700000" algn="tl">
                    <a:srgbClr val="000000"/>
                  </a:outerShdw>
                </a:effectLst>
                <a:latin typeface="Arial" charset="0"/>
              </a:rPr>
              <a:t> folds in response to the deformation of adjacent units</a:t>
            </a:r>
          </a:p>
          <a:p>
            <a:pPr marL="450000" lvl="1" indent="-270000">
              <a:lnSpc>
                <a:spcPct val="120000"/>
              </a:lnSpc>
              <a:spcBef>
                <a:spcPct val="50000"/>
              </a:spcBef>
              <a:buClr>
                <a:schemeClr val="tx1"/>
              </a:buClr>
              <a:buFontTx/>
              <a:buAutoNum type="alphaLcParenR"/>
            </a:pPr>
            <a:r>
              <a:rPr lang="en-GB" altLang="en-US" sz="1700" dirty="0">
                <a:solidFill>
                  <a:srgbClr val="FF6600"/>
                </a:solidFill>
                <a:effectLst>
                  <a:outerShdw blurRad="38100" dist="38100" dir="2700000" algn="tl">
                    <a:srgbClr val="000000"/>
                  </a:outerShdw>
                </a:effectLst>
                <a:latin typeface="Arial" charset="0"/>
              </a:rPr>
              <a:t>Neck folds</a:t>
            </a:r>
            <a:r>
              <a:rPr lang="en-GB" altLang="en-US" sz="1700" dirty="0">
                <a:effectLst>
                  <a:outerShdw blurRad="38100" dist="38100" dir="2700000" algn="tl">
                    <a:srgbClr val="000000"/>
                  </a:outerShdw>
                </a:effectLst>
                <a:latin typeface="Arial" charset="0"/>
              </a:rPr>
              <a:t> between the boudins in </a:t>
            </a:r>
            <a:r>
              <a:rPr lang="en-GB" altLang="en-US" sz="1700" dirty="0" err="1">
                <a:effectLst>
                  <a:outerShdw blurRad="38100" dist="38100" dir="2700000" algn="tl">
                    <a:srgbClr val="000000"/>
                  </a:outerShdw>
                </a:effectLst>
                <a:latin typeface="Arial" charset="0"/>
              </a:rPr>
              <a:t>boudinaged</a:t>
            </a:r>
            <a:r>
              <a:rPr lang="en-GB" altLang="en-US" sz="1700" dirty="0">
                <a:effectLst>
                  <a:outerShdw blurRad="38100" dist="38100" dir="2700000" algn="tl">
                    <a:srgbClr val="000000"/>
                  </a:outerShdw>
                </a:effectLst>
                <a:latin typeface="Arial" charset="0"/>
              </a:rPr>
              <a:t> layers</a:t>
            </a:r>
          </a:p>
          <a:p>
            <a:pPr marL="450000" lvl="1" indent="-270000">
              <a:lnSpc>
                <a:spcPct val="120000"/>
              </a:lnSpc>
              <a:spcBef>
                <a:spcPct val="75000"/>
              </a:spcBef>
              <a:buClr>
                <a:schemeClr val="tx1"/>
              </a:buClr>
              <a:buFontTx/>
              <a:buAutoNum type="alphaLcParenR"/>
            </a:pPr>
            <a:r>
              <a:rPr lang="en-GB" altLang="en-US" sz="1700" dirty="0">
                <a:solidFill>
                  <a:srgbClr val="FF6600"/>
                </a:solidFill>
                <a:effectLst>
                  <a:outerShdw blurRad="38100" dist="38100" dir="2700000" algn="tl">
                    <a:srgbClr val="000000"/>
                  </a:outerShdw>
                </a:effectLst>
                <a:latin typeface="Arial" charset="0"/>
              </a:rPr>
              <a:t>Fault-bend folds</a:t>
            </a:r>
            <a:r>
              <a:rPr lang="en-GB" altLang="en-US" sz="1700" dirty="0">
                <a:effectLst>
                  <a:outerShdw blurRad="38100" dist="38100" dir="2700000" algn="tl">
                    <a:srgbClr val="000000"/>
                  </a:outerShdw>
                </a:effectLst>
                <a:latin typeface="Arial" charset="0"/>
              </a:rPr>
              <a:t> where the hanging wall units bend as they move over a fault that changes dip (here illustrated for a thrust ramp situation)</a:t>
            </a:r>
          </a:p>
          <a:p>
            <a:pPr marL="450000" lvl="1" indent="-270000">
              <a:lnSpc>
                <a:spcPct val="120000"/>
              </a:lnSpc>
              <a:spcBef>
                <a:spcPct val="75000"/>
              </a:spcBef>
              <a:buClr>
                <a:schemeClr val="tx1"/>
              </a:buClr>
              <a:buFontTx/>
              <a:buAutoNum type="alphaLcParenR"/>
            </a:pPr>
            <a:r>
              <a:rPr lang="en-GB" altLang="en-US" sz="1700" dirty="0">
                <a:solidFill>
                  <a:srgbClr val="FF6600"/>
                </a:solidFill>
                <a:effectLst>
                  <a:outerShdw blurRad="38100" dist="38100" dir="2700000" algn="tl">
                    <a:srgbClr val="000000"/>
                  </a:outerShdw>
                </a:effectLst>
                <a:latin typeface="Arial" charset="0"/>
              </a:rPr>
              <a:t>Drape folds</a:t>
            </a:r>
            <a:r>
              <a:rPr lang="en-GB" altLang="en-US" sz="1700" dirty="0">
                <a:effectLst>
                  <a:outerShdw blurRad="38100" dist="38100" dir="2700000" algn="tl">
                    <a:srgbClr val="000000"/>
                  </a:outerShdw>
                </a:effectLst>
                <a:latin typeface="Arial" charset="0"/>
              </a:rPr>
              <a:t> formed in the sedimentary cover in response to faulting in the underlying basement</a:t>
            </a:r>
          </a:p>
          <a:p>
            <a:pPr marL="450000" lvl="1" indent="-270000">
              <a:lnSpc>
                <a:spcPct val="120000"/>
              </a:lnSpc>
              <a:spcBef>
                <a:spcPct val="75000"/>
              </a:spcBef>
              <a:buClr>
                <a:schemeClr val="tx1"/>
              </a:buClr>
              <a:buFontTx/>
              <a:buAutoNum type="alphaLcParenR"/>
            </a:pPr>
            <a:r>
              <a:rPr lang="en-GB" altLang="en-US" sz="1700" dirty="0">
                <a:effectLst>
                  <a:outerShdw blurRad="38100" dist="38100" dir="2700000" algn="tl">
                    <a:srgbClr val="000000"/>
                  </a:outerShdw>
                </a:effectLst>
                <a:latin typeface="Arial" charset="0"/>
              </a:rPr>
              <a:t>Folds formed around </a:t>
            </a:r>
            <a:r>
              <a:rPr lang="en-GB" altLang="en-US" sz="1700" dirty="0">
                <a:solidFill>
                  <a:srgbClr val="FF6600"/>
                </a:solidFill>
                <a:effectLst>
                  <a:outerShdw blurRad="38100" dist="38100" dir="2700000" algn="tl">
                    <a:srgbClr val="000000"/>
                  </a:outerShdw>
                </a:effectLst>
                <a:latin typeface="Arial" charset="0"/>
              </a:rPr>
              <a:t>intrusion</a:t>
            </a:r>
            <a:r>
              <a:rPr lang="en-GB" altLang="en-US" sz="1700" spc="300" dirty="0">
                <a:solidFill>
                  <a:srgbClr val="FF6600"/>
                </a:solidFill>
                <a:effectLst>
                  <a:outerShdw blurRad="38100" dist="38100" dir="2700000" algn="tl">
                    <a:srgbClr val="000000"/>
                  </a:outerShdw>
                </a:effectLst>
                <a:latin typeface="Arial" charset="0"/>
              </a:rPr>
              <a:t>s/</a:t>
            </a:r>
            <a:r>
              <a:rPr lang="en-GB" altLang="en-US" sz="1700" dirty="0">
                <a:solidFill>
                  <a:srgbClr val="FF6600"/>
                </a:solidFill>
                <a:effectLst>
                  <a:outerShdw blurRad="38100" dist="38100" dir="2700000" algn="tl">
                    <a:srgbClr val="000000"/>
                  </a:outerShdw>
                </a:effectLst>
                <a:latin typeface="Arial" charset="0"/>
              </a:rPr>
              <a:t>diapirs</a:t>
            </a:r>
            <a:r>
              <a:rPr lang="en-GB" altLang="en-US" sz="1700" dirty="0">
                <a:effectLst>
                  <a:outerShdw blurRad="38100" dist="38100" dir="2700000" algn="tl">
                    <a:srgbClr val="000000"/>
                  </a:outerShdw>
                </a:effectLst>
                <a:latin typeface="Arial" charset="0"/>
              </a:rPr>
              <a:t> that have been intruded forcefully</a:t>
            </a:r>
          </a:p>
          <a:p>
            <a:pPr marL="450000" lvl="1" indent="-270000">
              <a:lnSpc>
                <a:spcPct val="120000"/>
              </a:lnSpc>
              <a:spcBef>
                <a:spcPct val="75000"/>
              </a:spcBef>
              <a:buClr>
                <a:schemeClr val="tx1"/>
              </a:buClr>
              <a:buFontTx/>
              <a:buAutoNum type="alphaLcParenR"/>
            </a:pPr>
            <a:r>
              <a:rPr lang="en-GB" altLang="en-US" sz="1700" dirty="0">
                <a:effectLst>
                  <a:outerShdw blurRad="38100" dist="38100" dir="2700000" algn="tl">
                    <a:srgbClr val="000000"/>
                  </a:outerShdw>
                </a:effectLst>
                <a:latin typeface="Arial" charset="0"/>
              </a:rPr>
              <a:t>Folds formed by </a:t>
            </a:r>
            <a:r>
              <a:rPr lang="en-GB" altLang="en-US" sz="1700" dirty="0">
                <a:solidFill>
                  <a:srgbClr val="FF6600"/>
                </a:solidFill>
                <a:effectLst>
                  <a:outerShdw blurRad="38100" dist="38100" dir="2700000" algn="tl">
                    <a:srgbClr val="000000"/>
                  </a:outerShdw>
                </a:effectLst>
                <a:latin typeface="Arial" charset="0"/>
              </a:rPr>
              <a:t>differential compaction</a:t>
            </a:r>
          </a:p>
        </p:txBody>
      </p:sp>
      <p:sp>
        <p:nvSpPr>
          <p:cNvPr id="214024" name="Text Box 8"/>
          <p:cNvSpPr txBox="1">
            <a:spLocks noChangeArrowheads="1"/>
          </p:cNvSpPr>
          <p:nvPr/>
        </p:nvSpPr>
        <p:spPr bwMode="auto">
          <a:xfrm>
            <a:off x="142875" y="5678488"/>
            <a:ext cx="5540375" cy="1025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82563" indent="-182563">
              <a:defRPr sz="1600">
                <a:solidFill>
                  <a:schemeClr val="tx1"/>
                </a:solidFill>
                <a:latin typeface="Helvetica" charset="0"/>
              </a:defRPr>
            </a:lvl1pPr>
            <a:lvl2pPr>
              <a:defRPr sz="1600">
                <a:solidFill>
                  <a:schemeClr val="tx1"/>
                </a:solidFill>
                <a:latin typeface="Helvetica" charset="0"/>
              </a:defRPr>
            </a:lvl2pPr>
            <a:lvl3pPr>
              <a:defRPr sz="1600">
                <a:solidFill>
                  <a:schemeClr val="tx1"/>
                </a:solidFill>
                <a:latin typeface="Helvetica" charset="0"/>
              </a:defRPr>
            </a:lvl3pPr>
            <a:lvl4pPr>
              <a:defRPr sz="1600">
                <a:solidFill>
                  <a:schemeClr val="tx1"/>
                </a:solidFill>
                <a:latin typeface="Helvetica" charset="0"/>
              </a:defRPr>
            </a:lvl4pPr>
            <a:lvl5pPr>
              <a:defRPr sz="1600">
                <a:solidFill>
                  <a:schemeClr val="tx1"/>
                </a:solidFill>
                <a:latin typeface="Helvetica" charset="0"/>
              </a:defRPr>
            </a:lvl5pPr>
            <a:lvl6pPr eaLnBrk="0" fontAlgn="base" hangingPunct="0">
              <a:spcBef>
                <a:spcPct val="20000"/>
              </a:spcBef>
              <a:spcAft>
                <a:spcPct val="0"/>
              </a:spcAft>
              <a:buClr>
                <a:schemeClr val="accent2"/>
              </a:buClr>
              <a:defRPr sz="1600">
                <a:solidFill>
                  <a:schemeClr val="tx1"/>
                </a:solidFill>
                <a:latin typeface="Helvetica" charset="0"/>
              </a:defRPr>
            </a:lvl6pPr>
            <a:lvl7pPr eaLnBrk="0" fontAlgn="base" hangingPunct="0">
              <a:spcBef>
                <a:spcPct val="20000"/>
              </a:spcBef>
              <a:spcAft>
                <a:spcPct val="0"/>
              </a:spcAft>
              <a:buClr>
                <a:schemeClr val="accent2"/>
              </a:buClr>
              <a:defRPr sz="1600">
                <a:solidFill>
                  <a:schemeClr val="tx1"/>
                </a:solidFill>
                <a:latin typeface="Helvetica" charset="0"/>
              </a:defRPr>
            </a:lvl7pPr>
            <a:lvl8pPr eaLnBrk="0" fontAlgn="base" hangingPunct="0">
              <a:spcBef>
                <a:spcPct val="20000"/>
              </a:spcBef>
              <a:spcAft>
                <a:spcPct val="0"/>
              </a:spcAft>
              <a:buClr>
                <a:schemeClr val="accent2"/>
              </a:buClr>
              <a:defRPr sz="1600">
                <a:solidFill>
                  <a:schemeClr val="tx1"/>
                </a:solidFill>
                <a:latin typeface="Helvetica" charset="0"/>
              </a:defRPr>
            </a:lvl8pPr>
            <a:lvl9pPr eaLnBrk="0" fontAlgn="base" hangingPunct="0">
              <a:spcBef>
                <a:spcPct val="20000"/>
              </a:spcBef>
              <a:spcAft>
                <a:spcPct val="0"/>
              </a:spcAft>
              <a:buClr>
                <a:schemeClr val="accent2"/>
              </a:buClr>
              <a:defRPr sz="1600">
                <a:solidFill>
                  <a:schemeClr val="tx1"/>
                </a:solidFill>
                <a:latin typeface="Helvetica" charset="0"/>
              </a:defRPr>
            </a:lvl9pPr>
          </a:lstStyle>
          <a:p>
            <a:pPr>
              <a:lnSpc>
                <a:spcPct val="120000"/>
              </a:lnSpc>
              <a:spcBef>
                <a:spcPct val="50000"/>
              </a:spcBef>
              <a:buClr>
                <a:schemeClr val="tx1"/>
              </a:buClr>
              <a:buFontTx/>
              <a:buChar char="•"/>
            </a:pPr>
            <a:r>
              <a:rPr lang="en-GB" altLang="en-US" sz="1700" dirty="0">
                <a:effectLst>
                  <a:outerShdw blurRad="38100" dist="38100" dir="2700000" algn="tl">
                    <a:srgbClr val="000000"/>
                  </a:outerShdw>
                </a:effectLst>
                <a:latin typeface="Arial" charset="0"/>
              </a:rPr>
              <a:t>The </a:t>
            </a:r>
            <a:r>
              <a:rPr lang="en-GB" altLang="en-US" sz="1700" dirty="0">
                <a:solidFill>
                  <a:srgbClr val="FF66CC"/>
                </a:solidFill>
                <a:effectLst>
                  <a:outerShdw blurRad="38100" dist="38100" dir="2700000" algn="tl">
                    <a:srgbClr val="000000"/>
                  </a:outerShdw>
                </a:effectLst>
                <a:latin typeface="Arial" charset="0"/>
              </a:rPr>
              <a:t>geometry of these folds</a:t>
            </a:r>
            <a:r>
              <a:rPr lang="en-GB" altLang="en-US" sz="1700" dirty="0">
                <a:effectLst>
                  <a:outerShdw blurRad="38100" dist="38100" dir="2700000" algn="tl">
                    <a:srgbClr val="000000"/>
                  </a:outerShdw>
                </a:effectLst>
                <a:latin typeface="Arial" charset="0"/>
              </a:rPr>
              <a:t> depends upon the mechanical properties of the folded units and upon the nature of the forcing</a:t>
            </a:r>
          </a:p>
        </p:txBody>
      </p:sp>
    </p:spTree>
  </p:cSld>
  <p:clrMapOvr>
    <a:masterClrMapping/>
  </p:clrMapOvr>
  <p:transition spd="slow"/>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6066" name="Rectangle 2"/>
          <p:cNvSpPr>
            <a:spLocks noGrp="1" noChangeArrowheads="1"/>
          </p:cNvSpPr>
          <p:nvPr>
            <p:ph type="title"/>
          </p:nvPr>
        </p:nvSpPr>
        <p:spPr>
          <a:noFill/>
        </p:spPr>
        <p:txBody>
          <a:bodyPr/>
          <a:lstStyle/>
          <a:p>
            <a:r>
              <a:rPr lang="en-GB" altLang="en-US">
                <a:effectLst/>
              </a:rPr>
              <a:t>Passive folding</a:t>
            </a:r>
          </a:p>
        </p:txBody>
      </p:sp>
      <p:sp>
        <p:nvSpPr>
          <p:cNvPr id="216067" name="Rectangle 3"/>
          <p:cNvSpPr>
            <a:spLocks noGrp="1" noChangeArrowheads="1"/>
          </p:cNvSpPr>
          <p:nvPr>
            <p:ph type="body" sz="half" idx="1"/>
          </p:nvPr>
        </p:nvSpPr>
        <p:spPr>
          <a:xfrm>
            <a:off x="106363" y="817563"/>
            <a:ext cx="3887787" cy="5835650"/>
          </a:xfrm>
          <a:noFill/>
        </p:spPr>
        <p:txBody>
          <a:bodyPr/>
          <a:lstStyle/>
          <a:p>
            <a:pPr marL="177800" indent="-177800">
              <a:spcBef>
                <a:spcPct val="85000"/>
              </a:spcBef>
            </a:pPr>
            <a:r>
              <a:rPr lang="en-GB" altLang="en-US" sz="1700" dirty="0">
                <a:effectLst/>
              </a:rPr>
              <a:t>Passive folding is said to occur when the folded layer is a </a:t>
            </a:r>
            <a:r>
              <a:rPr lang="en-GB" altLang="en-US" sz="1700" dirty="0">
                <a:solidFill>
                  <a:srgbClr val="FF66CC"/>
                </a:solidFill>
                <a:effectLst/>
              </a:rPr>
              <a:t>marker band</a:t>
            </a:r>
            <a:r>
              <a:rPr lang="en-GB" altLang="en-US" sz="1700" dirty="0">
                <a:effectLst/>
              </a:rPr>
              <a:t> that simply records the deformation of the unit in which it is contained</a:t>
            </a:r>
          </a:p>
          <a:p>
            <a:pPr marL="177800" indent="-177800">
              <a:spcBef>
                <a:spcPct val="85000"/>
              </a:spcBef>
            </a:pPr>
            <a:r>
              <a:rPr lang="en-GB" altLang="en-US" sz="1700" dirty="0">
                <a:effectLst/>
              </a:rPr>
              <a:t>Good examples occur where layers enter shear zones</a:t>
            </a:r>
          </a:p>
          <a:p>
            <a:pPr marL="177800" indent="-177800">
              <a:spcBef>
                <a:spcPct val="85000"/>
              </a:spcBef>
            </a:pPr>
            <a:r>
              <a:rPr lang="en-GB" altLang="en-US" sz="1700" dirty="0">
                <a:effectLst/>
              </a:rPr>
              <a:t>If the folded layer was originally parallel-sided, passive folding produces Class 2 </a:t>
            </a:r>
            <a:r>
              <a:rPr lang="en-GB" altLang="en-US" sz="1700" dirty="0">
                <a:solidFill>
                  <a:srgbClr val="FF66CC"/>
                </a:solidFill>
                <a:effectLst/>
              </a:rPr>
              <a:t>similar</a:t>
            </a:r>
            <a:r>
              <a:rPr lang="en-GB" altLang="en-US" sz="1700" dirty="0">
                <a:effectLst/>
              </a:rPr>
              <a:t> </a:t>
            </a:r>
            <a:r>
              <a:rPr lang="en-GB" altLang="en-US" sz="1700" dirty="0">
                <a:solidFill>
                  <a:srgbClr val="FF66CC"/>
                </a:solidFill>
                <a:effectLst/>
              </a:rPr>
              <a:t>folds</a:t>
            </a:r>
            <a:endParaRPr lang="en-GB" altLang="en-US" sz="1700" dirty="0">
              <a:effectLst/>
            </a:endParaRPr>
          </a:p>
          <a:p>
            <a:pPr marL="177800" indent="-177800">
              <a:spcBef>
                <a:spcPct val="85000"/>
              </a:spcBef>
            </a:pPr>
            <a:r>
              <a:rPr lang="en-GB" altLang="en-US" sz="1700" dirty="0">
                <a:effectLst/>
              </a:rPr>
              <a:t>The growth (</a:t>
            </a:r>
            <a:r>
              <a:rPr lang="en-GB" altLang="en-US" sz="1700" dirty="0">
                <a:solidFill>
                  <a:srgbClr val="FF66CC"/>
                </a:solidFill>
                <a:effectLst/>
              </a:rPr>
              <a:t>amplification</a:t>
            </a:r>
            <a:r>
              <a:rPr lang="en-GB" altLang="en-US" sz="1700" dirty="0">
                <a:effectLst/>
              </a:rPr>
              <a:t>) of passive folds is greatest when the difference in mechanical properties between the layer and its host lithology is small  </a:t>
            </a:r>
            <a:r>
              <a:rPr lang="en-GB" altLang="en-US" sz="1700" dirty="0">
                <a:effectLst/>
                <a:cs typeface="Arial" charset="0"/>
              </a:rPr>
              <a:t>→  </a:t>
            </a:r>
            <a:r>
              <a:rPr lang="en-GB" altLang="en-US" sz="1700" dirty="0">
                <a:effectLst/>
              </a:rPr>
              <a:t>passive folding is more prominent in </a:t>
            </a:r>
            <a:r>
              <a:rPr lang="en-GB" altLang="en-US" sz="1700" dirty="0">
                <a:solidFill>
                  <a:srgbClr val="FF66CC"/>
                </a:solidFill>
                <a:effectLst/>
              </a:rPr>
              <a:t>higher grade rocks</a:t>
            </a:r>
          </a:p>
        </p:txBody>
      </p:sp>
      <p:pic>
        <p:nvPicPr>
          <p:cNvPr id="216072" name="Picture 8" descr="09b1-Kinlochleven"/>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81475" y="981075"/>
            <a:ext cx="4775200" cy="2819400"/>
          </a:xfrm>
          <a:prstGeom prst="rect">
            <a:avLst/>
          </a:prstGeo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Lst>
        </p:spPr>
      </p:pic>
      <p:pic>
        <p:nvPicPr>
          <p:cNvPr id="216076" name="Picture 12" descr="09b3"/>
          <p:cNvPicPr>
            <a:picLocks noChangeAspect="1" noChangeArrowheads="1"/>
          </p:cNvPicPr>
          <p:nvPr/>
        </p:nvPicPr>
        <p:blipFill>
          <a:blip r:embed="rId4">
            <a:lum bright="-14000"/>
            <a:extLst>
              <a:ext uri="{28A0092B-C50C-407E-A947-70E740481C1C}">
                <a14:useLocalDpi xmlns:a14="http://schemas.microsoft.com/office/drawing/2010/main" val="0"/>
              </a:ext>
            </a:extLst>
          </a:blip>
          <a:srcRect/>
          <a:stretch>
            <a:fillRect/>
          </a:stretch>
        </p:blipFill>
        <p:spPr bwMode="auto">
          <a:xfrm>
            <a:off x="4664075" y="4076700"/>
            <a:ext cx="3933825" cy="2344738"/>
          </a:xfrm>
          <a:prstGeom prst="rect">
            <a:avLst/>
          </a:prstGeo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p:transition spd="slow"/>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8226" name="Rectangle 2"/>
          <p:cNvSpPr>
            <a:spLocks noGrp="1" noChangeArrowheads="1"/>
          </p:cNvSpPr>
          <p:nvPr>
            <p:ph type="title"/>
          </p:nvPr>
        </p:nvSpPr>
        <p:spPr>
          <a:noFill/>
        </p:spPr>
        <p:txBody>
          <a:bodyPr/>
          <a:lstStyle/>
          <a:p>
            <a:r>
              <a:rPr lang="en-GB" altLang="en-US">
                <a:effectLst/>
              </a:rPr>
              <a:t>Folding mechanisms</a:t>
            </a:r>
          </a:p>
        </p:txBody>
      </p:sp>
      <p:sp>
        <p:nvSpPr>
          <p:cNvPr id="308227" name="Rectangle 3"/>
          <p:cNvSpPr>
            <a:spLocks noGrp="1" noChangeArrowheads="1"/>
          </p:cNvSpPr>
          <p:nvPr>
            <p:ph type="body" sz="half" idx="1"/>
          </p:nvPr>
        </p:nvSpPr>
        <p:spPr>
          <a:xfrm>
            <a:off x="120650" y="803275"/>
            <a:ext cx="8902700" cy="787400"/>
          </a:xfrm>
          <a:noFill/>
        </p:spPr>
        <p:txBody>
          <a:bodyPr/>
          <a:lstStyle/>
          <a:p>
            <a:pPr marL="177800" indent="-177800">
              <a:spcBef>
                <a:spcPct val="75000"/>
              </a:spcBef>
            </a:pPr>
            <a:r>
              <a:rPr lang="en-GB" altLang="en-US" sz="1700" dirty="0">
                <a:effectLst/>
              </a:rPr>
              <a:t>Our discussion of folding </a:t>
            </a:r>
            <a:r>
              <a:rPr lang="en-GB" altLang="en-US" sz="1700" dirty="0">
                <a:solidFill>
                  <a:srgbClr val="FF6600"/>
                </a:solidFill>
                <a:effectLst/>
              </a:rPr>
              <a:t>types</a:t>
            </a:r>
            <a:r>
              <a:rPr lang="en-GB" altLang="en-US" sz="1700" dirty="0">
                <a:effectLst/>
              </a:rPr>
              <a:t> (buckling, bending, passive) has not considered the </a:t>
            </a:r>
            <a:r>
              <a:rPr lang="en-GB" altLang="en-US" sz="1700" dirty="0">
                <a:solidFill>
                  <a:srgbClr val="FF6600"/>
                </a:solidFill>
                <a:effectLst/>
              </a:rPr>
              <a:t>mechanisms</a:t>
            </a:r>
            <a:r>
              <a:rPr lang="en-GB" altLang="en-US" sz="1700" dirty="0">
                <a:effectLst/>
              </a:rPr>
              <a:t> by which folding occurs. Folding mechanisms are of three kinds</a:t>
            </a:r>
          </a:p>
        </p:txBody>
      </p:sp>
      <p:sp>
        <p:nvSpPr>
          <p:cNvPr id="308232" name="Rectangle 8"/>
          <p:cNvSpPr>
            <a:spLocks noChangeArrowheads="1"/>
          </p:cNvSpPr>
          <p:nvPr/>
        </p:nvSpPr>
        <p:spPr bwMode="auto">
          <a:xfrm>
            <a:off x="120650" y="4773613"/>
            <a:ext cx="8907463" cy="18748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177800" indent="-177800">
              <a:lnSpc>
                <a:spcPct val="120000"/>
              </a:lnSpc>
              <a:spcBef>
                <a:spcPct val="100000"/>
              </a:spcBef>
              <a:buClr>
                <a:schemeClr val="folHlink"/>
              </a:buClr>
              <a:buSzPct val="100000"/>
              <a:buFont typeface="Times"/>
              <a:buChar char="•"/>
              <a:defRPr>
                <a:solidFill>
                  <a:schemeClr val="tx1"/>
                </a:solidFill>
                <a:latin typeface="Arial" charset="0"/>
              </a:defRPr>
            </a:lvl1pPr>
            <a:lvl2pPr marL="630238" indent="-273050">
              <a:lnSpc>
                <a:spcPct val="120000"/>
              </a:lnSpc>
              <a:spcBef>
                <a:spcPct val="50000"/>
              </a:spcBef>
              <a:buClr>
                <a:schemeClr val="folHlink"/>
              </a:buClr>
              <a:buSzPct val="100000"/>
              <a:buFont typeface="Times"/>
              <a:buChar char="•"/>
              <a:defRPr sz="1600">
                <a:solidFill>
                  <a:schemeClr val="tx1"/>
                </a:solidFill>
                <a:latin typeface="Arial" charset="0"/>
              </a:defRPr>
            </a:lvl2pPr>
            <a:lvl3pPr marL="1343025" indent="-266700">
              <a:spcBef>
                <a:spcPct val="25000"/>
              </a:spcBef>
              <a:buClr>
                <a:schemeClr val="folHlink"/>
              </a:buClr>
              <a:buFont typeface="Times"/>
              <a:buChar char="•"/>
              <a:defRPr sz="1400">
                <a:solidFill>
                  <a:schemeClr val="tx1"/>
                </a:solidFill>
                <a:latin typeface="Arial" charset="0"/>
              </a:defRPr>
            </a:lvl3pPr>
            <a:lvl4pPr marL="1789113" indent="-266700">
              <a:spcBef>
                <a:spcPct val="25000"/>
              </a:spcBef>
              <a:buClr>
                <a:schemeClr val="folHlink"/>
              </a:buClr>
              <a:buFont typeface="Times"/>
              <a:buChar char="•"/>
              <a:defRPr sz="1400">
                <a:solidFill>
                  <a:schemeClr val="tx1"/>
                </a:solidFill>
                <a:latin typeface="Arial" charset="0"/>
              </a:defRPr>
            </a:lvl4pPr>
            <a:lvl5pPr marL="2235200" indent="-266700">
              <a:spcBef>
                <a:spcPct val="25000"/>
              </a:spcBef>
              <a:buClr>
                <a:schemeClr val="folHlink"/>
              </a:buClr>
              <a:buSzPct val="50000"/>
              <a:buFont typeface="Times"/>
              <a:buChar char="•"/>
              <a:defRPr sz="1400">
                <a:solidFill>
                  <a:schemeClr val="tx1"/>
                </a:solidFill>
                <a:latin typeface="Arial" charset="0"/>
              </a:defRPr>
            </a:lvl5pPr>
            <a:lvl6pPr marL="2692400" indent="-266700" eaLnBrk="0" fontAlgn="base" hangingPunct="0">
              <a:spcBef>
                <a:spcPct val="25000"/>
              </a:spcBef>
              <a:spcAft>
                <a:spcPct val="0"/>
              </a:spcAft>
              <a:buClr>
                <a:schemeClr val="folHlink"/>
              </a:buClr>
              <a:buSzPct val="50000"/>
              <a:buFont typeface="Times"/>
              <a:buChar char="•"/>
              <a:defRPr sz="1400">
                <a:solidFill>
                  <a:schemeClr val="tx1"/>
                </a:solidFill>
                <a:latin typeface="Arial" charset="0"/>
              </a:defRPr>
            </a:lvl6pPr>
            <a:lvl7pPr marL="3149600" indent="-266700" eaLnBrk="0" fontAlgn="base" hangingPunct="0">
              <a:spcBef>
                <a:spcPct val="25000"/>
              </a:spcBef>
              <a:spcAft>
                <a:spcPct val="0"/>
              </a:spcAft>
              <a:buClr>
                <a:schemeClr val="folHlink"/>
              </a:buClr>
              <a:buSzPct val="50000"/>
              <a:buFont typeface="Times"/>
              <a:buChar char="•"/>
              <a:defRPr sz="1400">
                <a:solidFill>
                  <a:schemeClr val="tx1"/>
                </a:solidFill>
                <a:latin typeface="Arial" charset="0"/>
              </a:defRPr>
            </a:lvl7pPr>
            <a:lvl8pPr marL="3606800" indent="-266700" eaLnBrk="0" fontAlgn="base" hangingPunct="0">
              <a:spcBef>
                <a:spcPct val="25000"/>
              </a:spcBef>
              <a:spcAft>
                <a:spcPct val="0"/>
              </a:spcAft>
              <a:buClr>
                <a:schemeClr val="folHlink"/>
              </a:buClr>
              <a:buSzPct val="50000"/>
              <a:buFont typeface="Times"/>
              <a:buChar char="•"/>
              <a:defRPr sz="1400">
                <a:solidFill>
                  <a:schemeClr val="tx1"/>
                </a:solidFill>
                <a:latin typeface="Arial" charset="0"/>
              </a:defRPr>
            </a:lvl8pPr>
            <a:lvl9pPr marL="4064000" indent="-266700" eaLnBrk="0" fontAlgn="base" hangingPunct="0">
              <a:spcBef>
                <a:spcPct val="25000"/>
              </a:spcBef>
              <a:spcAft>
                <a:spcPct val="0"/>
              </a:spcAft>
              <a:buClr>
                <a:schemeClr val="folHlink"/>
              </a:buClr>
              <a:buSzPct val="50000"/>
              <a:buFont typeface="Times"/>
              <a:buChar char="•"/>
              <a:defRPr sz="1400">
                <a:solidFill>
                  <a:schemeClr val="tx1"/>
                </a:solidFill>
                <a:latin typeface="Arial" charset="0"/>
              </a:defRPr>
            </a:lvl9pPr>
          </a:lstStyle>
          <a:p>
            <a:pPr>
              <a:spcBef>
                <a:spcPct val="75000"/>
              </a:spcBef>
            </a:pPr>
            <a:r>
              <a:rPr lang="en-GB" altLang="en-US" sz="1700" dirty="0">
                <a:solidFill>
                  <a:srgbClr val="FF6600"/>
                </a:solidFill>
                <a:effectLst/>
              </a:rPr>
              <a:t>Flexural flo</a:t>
            </a:r>
            <a:r>
              <a:rPr lang="en-GB" altLang="en-US" sz="1700" spc="300" dirty="0">
                <a:solidFill>
                  <a:srgbClr val="FF6600"/>
                </a:solidFill>
                <a:effectLst/>
              </a:rPr>
              <a:t>w/</a:t>
            </a:r>
            <a:r>
              <a:rPr lang="en-GB" altLang="en-US" sz="1700" dirty="0">
                <a:solidFill>
                  <a:srgbClr val="FF6600"/>
                </a:solidFill>
                <a:effectLst/>
              </a:rPr>
              <a:t>flexural slip</a:t>
            </a:r>
            <a:r>
              <a:rPr lang="en-GB" altLang="en-US" sz="1700" dirty="0">
                <a:effectLst/>
              </a:rPr>
              <a:t> and </a:t>
            </a:r>
            <a:r>
              <a:rPr lang="en-GB" altLang="en-US" sz="1700" dirty="0">
                <a:solidFill>
                  <a:srgbClr val="FF6600"/>
                </a:solidFill>
                <a:effectLst/>
              </a:rPr>
              <a:t>tangential longitudinal strain</a:t>
            </a:r>
            <a:r>
              <a:rPr lang="en-GB" altLang="en-US" sz="1700" dirty="0">
                <a:effectLst/>
              </a:rPr>
              <a:t> produce </a:t>
            </a:r>
            <a:r>
              <a:rPr lang="en-GB" altLang="en-US" sz="1700" dirty="0">
                <a:solidFill>
                  <a:srgbClr val="FF66CC"/>
                </a:solidFill>
                <a:effectLst/>
              </a:rPr>
              <a:t>Class 1B</a:t>
            </a:r>
            <a:r>
              <a:rPr lang="en-GB" altLang="en-US" sz="1700" dirty="0">
                <a:effectLst/>
              </a:rPr>
              <a:t> folds, and are the folding mechanisms that apply for buckling and bending</a:t>
            </a:r>
          </a:p>
          <a:p>
            <a:pPr>
              <a:spcBef>
                <a:spcPct val="75000"/>
              </a:spcBef>
            </a:pPr>
            <a:r>
              <a:rPr lang="en-GB" altLang="en-US" sz="1700" dirty="0">
                <a:solidFill>
                  <a:srgbClr val="FF6600"/>
                </a:solidFill>
                <a:effectLst/>
              </a:rPr>
              <a:t>Shear folding</a:t>
            </a:r>
            <a:r>
              <a:rPr lang="en-GB" altLang="en-US" sz="1700" dirty="0">
                <a:effectLst/>
              </a:rPr>
              <a:t> produces </a:t>
            </a:r>
            <a:r>
              <a:rPr lang="en-GB" altLang="en-US" sz="1700" dirty="0">
                <a:solidFill>
                  <a:srgbClr val="FF66CC"/>
                </a:solidFill>
                <a:effectLst/>
              </a:rPr>
              <a:t>Class 2</a:t>
            </a:r>
            <a:r>
              <a:rPr lang="en-GB" altLang="en-US" sz="1700" dirty="0">
                <a:effectLst/>
              </a:rPr>
              <a:t> folds. In contrast to the other mechanisms, it is not believed to be a real folding mechanism, but it does serve as an extremely useful approximation in the analysis of Class 2 folds</a:t>
            </a:r>
            <a:endParaRPr lang="en-GB" altLang="en-US" sz="1900" dirty="0">
              <a:solidFill>
                <a:srgbClr val="FF66CC"/>
              </a:solidFill>
              <a:effectLst/>
            </a:endParaRPr>
          </a:p>
        </p:txBody>
      </p:sp>
      <p:pic>
        <p:nvPicPr>
          <p:cNvPr id="308236" name="Picture 12"/>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a:xfrm>
            <a:off x="757238" y="1774825"/>
            <a:ext cx="7669212" cy="2732088"/>
          </a:xfrm>
          <a:noFill/>
          <a:ln w="38100" cap="flat">
            <a:solidFill>
              <a:schemeClr val="bg2"/>
            </a:solidFill>
            <a:miter lim="800000"/>
            <a:headEnd/>
            <a:tailEnd/>
          </a:ln>
        </p:spPr>
      </p:pic>
    </p:spTree>
  </p:cSld>
  <p:clrMapOvr>
    <a:masterClrMapping/>
  </p:clrMapOvr>
  <p:transition spd="slow"/>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0162" name="Rectangle 2"/>
          <p:cNvSpPr>
            <a:spLocks noGrp="1" noChangeArrowheads="1"/>
          </p:cNvSpPr>
          <p:nvPr>
            <p:ph type="title"/>
          </p:nvPr>
        </p:nvSpPr>
        <p:spPr>
          <a:noFill/>
        </p:spPr>
        <p:txBody>
          <a:bodyPr/>
          <a:lstStyle/>
          <a:p>
            <a:r>
              <a:rPr lang="en-GB" altLang="en-US" dirty="0">
                <a:effectLst/>
              </a:rPr>
              <a:t>Folding mechanisms  (flexural sli</a:t>
            </a:r>
            <a:r>
              <a:rPr lang="en-GB" altLang="en-US" spc="500" dirty="0">
                <a:effectLst/>
              </a:rPr>
              <a:t>p/</a:t>
            </a:r>
            <a:r>
              <a:rPr lang="en-GB" altLang="en-US" dirty="0">
                <a:effectLst/>
              </a:rPr>
              <a:t>flexural flow)</a:t>
            </a:r>
          </a:p>
        </p:txBody>
      </p:sp>
      <p:sp>
        <p:nvSpPr>
          <p:cNvPr id="220163" name="Rectangle 3"/>
          <p:cNvSpPr>
            <a:spLocks noGrp="1" noChangeArrowheads="1"/>
          </p:cNvSpPr>
          <p:nvPr>
            <p:ph type="body" sz="half" idx="1"/>
          </p:nvPr>
        </p:nvSpPr>
        <p:spPr>
          <a:xfrm>
            <a:off x="112713" y="776288"/>
            <a:ext cx="6022975" cy="2098675"/>
          </a:xfrm>
          <a:noFill/>
        </p:spPr>
        <p:txBody>
          <a:bodyPr/>
          <a:lstStyle/>
          <a:p>
            <a:pPr marL="177800" indent="-177800"/>
            <a:r>
              <a:rPr lang="en-GB" altLang="en-US" sz="1700" dirty="0">
                <a:solidFill>
                  <a:srgbClr val="FF6600"/>
                </a:solidFill>
                <a:effectLst/>
              </a:rPr>
              <a:t>Flexural slip</a:t>
            </a:r>
            <a:r>
              <a:rPr lang="en-GB" altLang="en-US" sz="1700" dirty="0">
                <a:effectLst/>
              </a:rPr>
              <a:t> is like compressing</a:t>
            </a:r>
            <a:r>
              <a:rPr lang="en-GB" altLang="en-US" sz="1700" dirty="0">
                <a:solidFill>
                  <a:srgbClr val="FF66CC"/>
                </a:solidFill>
                <a:effectLst/>
              </a:rPr>
              <a:t> a ream of paper </a:t>
            </a:r>
            <a:r>
              <a:rPr lang="en-GB" altLang="en-US" sz="1700" dirty="0">
                <a:effectLst/>
              </a:rPr>
              <a:t>parallel to the sheets – individual sheets slide over each other</a:t>
            </a:r>
          </a:p>
          <a:p>
            <a:pPr marL="450000" lvl="1" indent="-270000">
              <a:spcBef>
                <a:spcPct val="30000"/>
              </a:spcBef>
              <a:buFont typeface="Wingdings" panose="05000000000000000000" pitchFamily="2" charset="2"/>
              <a:buChar char="Ø"/>
            </a:pPr>
            <a:r>
              <a:rPr lang="en-GB" altLang="en-US" sz="1700" dirty="0">
                <a:solidFill>
                  <a:srgbClr val="FF66CC"/>
                </a:solidFill>
                <a:effectLst/>
              </a:rPr>
              <a:t>Maximum slip</a:t>
            </a:r>
            <a:r>
              <a:rPr lang="en-GB" altLang="en-US" sz="1700" dirty="0">
                <a:effectLst/>
              </a:rPr>
              <a:t> is at the inflection points and decreases towards the hinge where it is zero</a:t>
            </a:r>
          </a:p>
          <a:p>
            <a:pPr marL="450000" lvl="1" indent="-270000">
              <a:spcBef>
                <a:spcPct val="30000"/>
              </a:spcBef>
              <a:buFont typeface="Wingdings" panose="05000000000000000000" pitchFamily="2" charset="2"/>
              <a:buChar char="Ø"/>
            </a:pPr>
            <a:r>
              <a:rPr lang="en-GB" altLang="en-US" sz="1700" dirty="0">
                <a:effectLst/>
              </a:rPr>
              <a:t>There is </a:t>
            </a:r>
            <a:r>
              <a:rPr lang="en-GB" altLang="en-US" sz="1700" dirty="0">
                <a:solidFill>
                  <a:srgbClr val="FF66CC"/>
                </a:solidFill>
                <a:effectLst/>
              </a:rPr>
              <a:t>no distortion</a:t>
            </a:r>
            <a:r>
              <a:rPr lang="en-GB" altLang="en-US" sz="1700" dirty="0">
                <a:effectLst/>
              </a:rPr>
              <a:t> within the plane of the layering</a:t>
            </a:r>
          </a:p>
        </p:txBody>
      </p:sp>
      <p:pic>
        <p:nvPicPr>
          <p:cNvPr id="220167" name="Picture 7"/>
          <p:cNvPicPr>
            <a:picLocks noGrp="1" noChangeAspect="1" noChangeArrowheads="1"/>
          </p:cNvPicPr>
          <p:nvPr>
            <p:ph sz="quarter" idx="2"/>
          </p:nvPr>
        </p:nvPicPr>
        <p:blipFill>
          <a:blip r:embed="rId3" cstate="print">
            <a:extLst>
              <a:ext uri="{28A0092B-C50C-407E-A947-70E740481C1C}">
                <a14:useLocalDpi xmlns:a14="http://schemas.microsoft.com/office/drawing/2010/main" val="0"/>
              </a:ext>
            </a:extLst>
          </a:blip>
          <a:srcRect/>
          <a:stretch>
            <a:fillRect/>
          </a:stretch>
        </p:blipFill>
        <p:spPr>
          <a:xfrm>
            <a:off x="6484938" y="900113"/>
            <a:ext cx="2416175" cy="1727200"/>
          </a:xfrm>
          <a:noFill/>
          <a:ln w="38100" cap="flat">
            <a:solidFill>
              <a:schemeClr val="bg2"/>
            </a:solidFill>
            <a:miter lim="800000"/>
            <a:headEnd/>
            <a:tailEnd/>
          </a:ln>
        </p:spPr>
      </p:pic>
      <p:sp>
        <p:nvSpPr>
          <p:cNvPr id="220169" name="Rectangle 9"/>
          <p:cNvSpPr>
            <a:spLocks noChangeArrowheads="1"/>
          </p:cNvSpPr>
          <p:nvPr/>
        </p:nvSpPr>
        <p:spPr bwMode="auto">
          <a:xfrm>
            <a:off x="107950" y="2747963"/>
            <a:ext cx="8885238" cy="1412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177800" indent="-177800">
              <a:lnSpc>
                <a:spcPct val="120000"/>
              </a:lnSpc>
              <a:spcBef>
                <a:spcPct val="100000"/>
              </a:spcBef>
              <a:buClr>
                <a:schemeClr val="folHlink"/>
              </a:buClr>
              <a:buSzPct val="100000"/>
              <a:buFont typeface="Times"/>
              <a:buChar char="•"/>
              <a:defRPr>
                <a:solidFill>
                  <a:schemeClr val="tx1"/>
                </a:solidFill>
                <a:latin typeface="Arial" charset="0"/>
              </a:defRPr>
            </a:lvl1pPr>
            <a:lvl2pPr marL="541338" indent="-184150">
              <a:lnSpc>
                <a:spcPct val="120000"/>
              </a:lnSpc>
              <a:spcBef>
                <a:spcPct val="50000"/>
              </a:spcBef>
              <a:buClr>
                <a:schemeClr val="folHlink"/>
              </a:buClr>
              <a:buSzPct val="100000"/>
              <a:buFont typeface="Times"/>
              <a:buChar char="•"/>
              <a:defRPr sz="1600">
                <a:solidFill>
                  <a:schemeClr val="tx1"/>
                </a:solidFill>
                <a:latin typeface="Arial" charset="0"/>
              </a:defRPr>
            </a:lvl2pPr>
            <a:lvl3pPr marL="1235075" indent="-184150">
              <a:spcBef>
                <a:spcPct val="25000"/>
              </a:spcBef>
              <a:buClr>
                <a:schemeClr val="folHlink"/>
              </a:buClr>
              <a:buFont typeface="Times"/>
              <a:buChar char="•"/>
              <a:defRPr sz="1400">
                <a:solidFill>
                  <a:schemeClr val="tx1"/>
                </a:solidFill>
                <a:latin typeface="Arial" charset="0"/>
              </a:defRPr>
            </a:lvl3pPr>
            <a:lvl4pPr marL="1698625" indent="-228600">
              <a:spcBef>
                <a:spcPct val="25000"/>
              </a:spcBef>
              <a:buClr>
                <a:schemeClr val="folHlink"/>
              </a:buClr>
              <a:buFont typeface="Times"/>
              <a:buChar char="•"/>
              <a:defRPr sz="1400">
                <a:solidFill>
                  <a:schemeClr val="tx1"/>
                </a:solidFill>
                <a:latin typeface="Arial" charset="0"/>
              </a:defRPr>
            </a:lvl4pPr>
            <a:lvl5pPr marL="2117725" indent="-228600">
              <a:spcBef>
                <a:spcPct val="25000"/>
              </a:spcBef>
              <a:buClr>
                <a:schemeClr val="folHlink"/>
              </a:buClr>
              <a:buSzPct val="50000"/>
              <a:buFont typeface="Times"/>
              <a:buChar char="•"/>
              <a:defRPr sz="1400">
                <a:solidFill>
                  <a:schemeClr val="tx1"/>
                </a:solidFill>
                <a:latin typeface="Arial" charset="0"/>
              </a:defRPr>
            </a:lvl5pPr>
            <a:lvl6pPr marL="2574925" indent="-228600" eaLnBrk="0" fontAlgn="base" hangingPunct="0">
              <a:spcBef>
                <a:spcPct val="25000"/>
              </a:spcBef>
              <a:spcAft>
                <a:spcPct val="0"/>
              </a:spcAft>
              <a:buClr>
                <a:schemeClr val="folHlink"/>
              </a:buClr>
              <a:buSzPct val="50000"/>
              <a:buFont typeface="Times"/>
              <a:buChar char="•"/>
              <a:defRPr sz="1400">
                <a:solidFill>
                  <a:schemeClr val="tx1"/>
                </a:solidFill>
                <a:latin typeface="Arial" charset="0"/>
              </a:defRPr>
            </a:lvl6pPr>
            <a:lvl7pPr marL="3032125" indent="-228600" eaLnBrk="0" fontAlgn="base" hangingPunct="0">
              <a:spcBef>
                <a:spcPct val="25000"/>
              </a:spcBef>
              <a:spcAft>
                <a:spcPct val="0"/>
              </a:spcAft>
              <a:buClr>
                <a:schemeClr val="folHlink"/>
              </a:buClr>
              <a:buSzPct val="50000"/>
              <a:buFont typeface="Times"/>
              <a:buChar char="•"/>
              <a:defRPr sz="1400">
                <a:solidFill>
                  <a:schemeClr val="tx1"/>
                </a:solidFill>
                <a:latin typeface="Arial" charset="0"/>
              </a:defRPr>
            </a:lvl7pPr>
            <a:lvl8pPr marL="3489325" indent="-228600" eaLnBrk="0" fontAlgn="base" hangingPunct="0">
              <a:spcBef>
                <a:spcPct val="25000"/>
              </a:spcBef>
              <a:spcAft>
                <a:spcPct val="0"/>
              </a:spcAft>
              <a:buClr>
                <a:schemeClr val="folHlink"/>
              </a:buClr>
              <a:buSzPct val="50000"/>
              <a:buFont typeface="Times"/>
              <a:buChar char="•"/>
              <a:defRPr sz="1400">
                <a:solidFill>
                  <a:schemeClr val="tx1"/>
                </a:solidFill>
                <a:latin typeface="Arial" charset="0"/>
              </a:defRPr>
            </a:lvl8pPr>
            <a:lvl9pPr marL="3946525" indent="-228600" eaLnBrk="0" fontAlgn="base" hangingPunct="0">
              <a:spcBef>
                <a:spcPct val="25000"/>
              </a:spcBef>
              <a:spcAft>
                <a:spcPct val="0"/>
              </a:spcAft>
              <a:buClr>
                <a:schemeClr val="folHlink"/>
              </a:buClr>
              <a:buSzPct val="50000"/>
              <a:buFont typeface="Times"/>
              <a:buChar char="•"/>
              <a:defRPr sz="1400">
                <a:solidFill>
                  <a:schemeClr val="tx1"/>
                </a:solidFill>
                <a:latin typeface="Arial" charset="0"/>
              </a:defRPr>
            </a:lvl9pPr>
          </a:lstStyle>
          <a:p>
            <a:r>
              <a:rPr lang="en-GB" altLang="en-US" sz="1700">
                <a:effectLst/>
              </a:rPr>
              <a:t>The slip planes are usually </a:t>
            </a:r>
            <a:r>
              <a:rPr lang="en-GB" altLang="en-US" sz="1700">
                <a:solidFill>
                  <a:srgbClr val="FF66CC"/>
                </a:solidFill>
                <a:effectLst/>
              </a:rPr>
              <a:t>bedding</a:t>
            </a:r>
            <a:r>
              <a:rPr lang="en-GB" altLang="en-US" sz="1700">
                <a:effectLst/>
              </a:rPr>
              <a:t> or some penetrative fabric such as </a:t>
            </a:r>
            <a:r>
              <a:rPr lang="en-GB" altLang="en-US" sz="1700">
                <a:solidFill>
                  <a:srgbClr val="FF66CC"/>
                </a:solidFill>
                <a:effectLst/>
              </a:rPr>
              <a:t>cleavage</a:t>
            </a:r>
            <a:endParaRPr lang="en-GB" altLang="en-US" sz="1700">
              <a:effectLst/>
            </a:endParaRPr>
          </a:p>
          <a:p>
            <a:pPr>
              <a:spcBef>
                <a:spcPct val="50000"/>
              </a:spcBef>
            </a:pPr>
            <a:r>
              <a:rPr lang="en-GB" altLang="en-US" sz="1700">
                <a:solidFill>
                  <a:srgbClr val="FF6600"/>
                </a:solidFill>
                <a:effectLst/>
              </a:rPr>
              <a:t>Flexural flow</a:t>
            </a:r>
            <a:r>
              <a:rPr lang="en-GB" altLang="en-US" sz="1700">
                <a:effectLst/>
              </a:rPr>
              <a:t> is when the slip planes are close together so that the layer-parallel shear is uniformly distributed across the folded layer; </a:t>
            </a:r>
            <a:r>
              <a:rPr lang="en-GB" altLang="en-US" sz="1700">
                <a:solidFill>
                  <a:srgbClr val="FF6600"/>
                </a:solidFill>
                <a:effectLst/>
              </a:rPr>
              <a:t>flexural slip</a:t>
            </a:r>
            <a:r>
              <a:rPr lang="en-GB" altLang="en-US" sz="1700">
                <a:effectLst/>
              </a:rPr>
              <a:t> is when the slip planes are more widely spaced (</a:t>
            </a:r>
            <a:r>
              <a:rPr lang="en-GB" altLang="en-US" sz="1700" i="1">
                <a:effectLst/>
              </a:rPr>
              <a:t>e.g</a:t>
            </a:r>
            <a:r>
              <a:rPr lang="en-GB" altLang="en-US" sz="1700">
                <a:effectLst/>
              </a:rPr>
              <a:t>., slip occurs on bedding surfaces in an interbedded succession)</a:t>
            </a:r>
            <a:endParaRPr lang="en-GB" altLang="en-US" sz="1900">
              <a:effectLst/>
            </a:endParaRPr>
          </a:p>
        </p:txBody>
      </p:sp>
      <p:pic>
        <p:nvPicPr>
          <p:cNvPr id="220170" name="Picture 10" descr="09a2"/>
          <p:cNvPicPr>
            <a:picLocks noGrp="1" noChangeAspect="1" noChangeArrowheads="1"/>
          </p:cNvPicPr>
          <p:nvPr>
            <p:ph sz="quarter" idx="3"/>
          </p:nvPr>
        </p:nvPicPr>
        <p:blipFill>
          <a:blip r:embed="rId4">
            <a:extLst>
              <a:ext uri="{28A0092B-C50C-407E-A947-70E740481C1C}">
                <a14:useLocalDpi xmlns:a14="http://schemas.microsoft.com/office/drawing/2010/main" val="0"/>
              </a:ext>
            </a:extLst>
          </a:blip>
          <a:srcRect/>
          <a:stretch>
            <a:fillRect/>
          </a:stretch>
        </p:blipFill>
        <p:spPr>
          <a:xfrm>
            <a:off x="284163" y="4425950"/>
            <a:ext cx="3790950" cy="2259013"/>
          </a:xfr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220172" name="Text Box 12"/>
          <p:cNvSpPr txBox="1">
            <a:spLocks noChangeArrowheads="1"/>
          </p:cNvSpPr>
          <p:nvPr/>
        </p:nvSpPr>
        <p:spPr bwMode="auto">
          <a:xfrm>
            <a:off x="4225925" y="4430713"/>
            <a:ext cx="4794250" cy="2062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77800" indent="-177800">
              <a:defRPr sz="1600">
                <a:solidFill>
                  <a:schemeClr val="tx1"/>
                </a:solidFill>
                <a:latin typeface="Helvetica" charset="0"/>
              </a:defRPr>
            </a:lvl1pPr>
            <a:lvl2pPr marL="541338" indent="-184150">
              <a:defRPr sz="1600">
                <a:solidFill>
                  <a:schemeClr val="tx1"/>
                </a:solidFill>
                <a:latin typeface="Helvetica" charset="0"/>
              </a:defRPr>
            </a:lvl2pPr>
            <a:lvl3pPr>
              <a:defRPr sz="1600">
                <a:solidFill>
                  <a:schemeClr val="tx1"/>
                </a:solidFill>
                <a:latin typeface="Helvetica" charset="0"/>
              </a:defRPr>
            </a:lvl3pPr>
            <a:lvl4pPr>
              <a:defRPr sz="1600">
                <a:solidFill>
                  <a:schemeClr val="tx1"/>
                </a:solidFill>
                <a:latin typeface="Helvetica" charset="0"/>
              </a:defRPr>
            </a:lvl4pPr>
            <a:lvl5pPr>
              <a:defRPr sz="1600">
                <a:solidFill>
                  <a:schemeClr val="tx1"/>
                </a:solidFill>
                <a:latin typeface="Helvetica" charset="0"/>
              </a:defRPr>
            </a:lvl5pPr>
            <a:lvl6pPr eaLnBrk="0" fontAlgn="base" hangingPunct="0">
              <a:spcBef>
                <a:spcPct val="20000"/>
              </a:spcBef>
              <a:spcAft>
                <a:spcPct val="0"/>
              </a:spcAft>
              <a:buClr>
                <a:schemeClr val="accent2"/>
              </a:buClr>
              <a:defRPr sz="1600">
                <a:solidFill>
                  <a:schemeClr val="tx1"/>
                </a:solidFill>
                <a:latin typeface="Helvetica" charset="0"/>
              </a:defRPr>
            </a:lvl6pPr>
            <a:lvl7pPr eaLnBrk="0" fontAlgn="base" hangingPunct="0">
              <a:spcBef>
                <a:spcPct val="20000"/>
              </a:spcBef>
              <a:spcAft>
                <a:spcPct val="0"/>
              </a:spcAft>
              <a:buClr>
                <a:schemeClr val="accent2"/>
              </a:buClr>
              <a:defRPr sz="1600">
                <a:solidFill>
                  <a:schemeClr val="tx1"/>
                </a:solidFill>
                <a:latin typeface="Helvetica" charset="0"/>
              </a:defRPr>
            </a:lvl7pPr>
            <a:lvl8pPr eaLnBrk="0" fontAlgn="base" hangingPunct="0">
              <a:spcBef>
                <a:spcPct val="20000"/>
              </a:spcBef>
              <a:spcAft>
                <a:spcPct val="0"/>
              </a:spcAft>
              <a:buClr>
                <a:schemeClr val="accent2"/>
              </a:buClr>
              <a:defRPr sz="1600">
                <a:solidFill>
                  <a:schemeClr val="tx1"/>
                </a:solidFill>
                <a:latin typeface="Helvetica" charset="0"/>
              </a:defRPr>
            </a:lvl8pPr>
            <a:lvl9pPr eaLnBrk="0" fontAlgn="base" hangingPunct="0">
              <a:spcBef>
                <a:spcPct val="20000"/>
              </a:spcBef>
              <a:spcAft>
                <a:spcPct val="0"/>
              </a:spcAft>
              <a:buClr>
                <a:schemeClr val="accent2"/>
              </a:buClr>
              <a:defRPr sz="1600">
                <a:solidFill>
                  <a:schemeClr val="tx1"/>
                </a:solidFill>
                <a:latin typeface="Helvetica" charset="0"/>
              </a:defRPr>
            </a:lvl9pPr>
          </a:lstStyle>
          <a:p>
            <a:pPr>
              <a:spcBef>
                <a:spcPct val="50000"/>
              </a:spcBef>
              <a:buClr>
                <a:schemeClr val="tx1"/>
              </a:buClr>
              <a:buFontTx/>
              <a:buChar char="•"/>
            </a:pPr>
            <a:r>
              <a:rPr lang="en-GB" altLang="en-US" sz="1700" dirty="0">
                <a:solidFill>
                  <a:srgbClr val="FF66CC"/>
                </a:solidFill>
                <a:effectLst>
                  <a:outerShdw blurRad="38100" dist="38100" dir="2700000" algn="tl">
                    <a:srgbClr val="000000"/>
                  </a:outerShdw>
                </a:effectLst>
                <a:latin typeface="Arial" charset="0"/>
              </a:rPr>
              <a:t>Secondary features</a:t>
            </a:r>
            <a:r>
              <a:rPr lang="en-GB" altLang="en-US" sz="1700" dirty="0">
                <a:effectLst>
                  <a:outerShdw blurRad="38100" dist="38100" dir="2700000" algn="tl">
                    <a:srgbClr val="000000"/>
                  </a:outerShdw>
                </a:effectLst>
                <a:latin typeface="Arial" charset="0"/>
              </a:rPr>
              <a:t> of flexural slip folds are:</a:t>
            </a:r>
          </a:p>
          <a:p>
            <a:pPr marL="450000" lvl="1" indent="-270000">
              <a:lnSpc>
                <a:spcPct val="120000"/>
              </a:lnSpc>
              <a:spcBef>
                <a:spcPct val="30000"/>
              </a:spcBef>
              <a:buClr>
                <a:schemeClr val="tx1"/>
              </a:buClr>
              <a:buFont typeface="Wingdings" panose="05000000000000000000" pitchFamily="2" charset="2"/>
              <a:buChar char="Ø"/>
            </a:pPr>
            <a:r>
              <a:rPr lang="en-GB" altLang="en-US" sz="1700" dirty="0" err="1">
                <a:effectLst>
                  <a:outerShdw blurRad="38100" dist="38100" dir="2700000" algn="tl">
                    <a:srgbClr val="000000"/>
                  </a:outerShdw>
                </a:effectLst>
                <a:latin typeface="Arial" charset="0"/>
              </a:rPr>
              <a:t>Lineations</a:t>
            </a:r>
            <a:r>
              <a:rPr lang="en-GB" altLang="en-US" sz="1700" dirty="0">
                <a:effectLst>
                  <a:outerShdw blurRad="38100" dist="38100" dir="2700000" algn="tl">
                    <a:srgbClr val="000000"/>
                  </a:outerShdw>
                </a:effectLst>
                <a:latin typeface="Arial" charset="0"/>
              </a:rPr>
              <a:t> on the slip plane (grooves or more commonly crystal fibres) oriented at a high angle to the hinge (</a:t>
            </a:r>
            <a:r>
              <a:rPr lang="en-GB" altLang="en-US" sz="1700" dirty="0" err="1">
                <a:solidFill>
                  <a:srgbClr val="FF6600"/>
                </a:solidFill>
                <a:effectLst>
                  <a:outerShdw blurRad="38100" dist="38100" dir="2700000" algn="tl">
                    <a:srgbClr val="000000"/>
                  </a:outerShdw>
                </a:effectLst>
                <a:latin typeface="Arial" charset="0"/>
              </a:rPr>
              <a:t>slickolites</a:t>
            </a:r>
            <a:r>
              <a:rPr lang="en-GB" altLang="en-US" sz="1700" dirty="0">
                <a:effectLst>
                  <a:outerShdw blurRad="38100" dist="38100" dir="2700000" algn="tl">
                    <a:srgbClr val="000000"/>
                  </a:outerShdw>
                </a:effectLst>
                <a:latin typeface="Arial" charset="0"/>
              </a:rPr>
              <a:t>)</a:t>
            </a:r>
          </a:p>
          <a:p>
            <a:pPr marL="450000" lvl="1" indent="-270000">
              <a:lnSpc>
                <a:spcPct val="120000"/>
              </a:lnSpc>
              <a:spcBef>
                <a:spcPct val="30000"/>
              </a:spcBef>
              <a:buClr>
                <a:schemeClr val="tx1"/>
              </a:buClr>
              <a:buFont typeface="Wingdings" panose="05000000000000000000" pitchFamily="2" charset="2"/>
              <a:buChar char="Ø"/>
            </a:pPr>
            <a:r>
              <a:rPr lang="en-GB" altLang="en-US" sz="1700" dirty="0" err="1">
                <a:effectLst>
                  <a:outerShdw blurRad="38100" dist="38100" dir="2700000" algn="tl">
                    <a:srgbClr val="000000"/>
                  </a:outerShdw>
                </a:effectLst>
                <a:latin typeface="Arial" charset="0"/>
              </a:rPr>
              <a:t>En</a:t>
            </a:r>
            <a:r>
              <a:rPr lang="en-GB" altLang="en-US" sz="1700" dirty="0">
                <a:effectLst>
                  <a:outerShdw blurRad="38100" dist="38100" dir="2700000" algn="tl">
                    <a:srgbClr val="000000"/>
                  </a:outerShdw>
                </a:effectLst>
                <a:latin typeface="Arial" charset="0"/>
              </a:rPr>
              <a:t> </a:t>
            </a:r>
            <a:r>
              <a:rPr lang="en-GB" altLang="en-US" sz="1700" dirty="0" err="1">
                <a:effectLst>
                  <a:outerShdw blurRad="38100" dist="38100" dir="2700000" algn="tl">
                    <a:srgbClr val="000000"/>
                  </a:outerShdw>
                </a:effectLst>
                <a:latin typeface="Arial" charset="0"/>
              </a:rPr>
              <a:t>échelon</a:t>
            </a:r>
            <a:r>
              <a:rPr lang="en-GB" altLang="en-US" sz="1700" dirty="0">
                <a:effectLst>
                  <a:outerShdw blurRad="38100" dist="38100" dir="2700000" algn="tl">
                    <a:srgbClr val="000000"/>
                  </a:outerShdw>
                </a:effectLst>
                <a:latin typeface="Arial" charset="0"/>
              </a:rPr>
              <a:t> </a:t>
            </a:r>
            <a:r>
              <a:rPr lang="en-GB" altLang="en-US" sz="1700" dirty="0">
                <a:solidFill>
                  <a:srgbClr val="FF6600"/>
                </a:solidFill>
                <a:effectLst>
                  <a:outerShdw blurRad="38100" dist="38100" dir="2700000" algn="tl">
                    <a:srgbClr val="000000"/>
                  </a:outerShdw>
                </a:effectLst>
                <a:latin typeface="Arial" charset="0"/>
              </a:rPr>
              <a:t>tension gashes</a:t>
            </a:r>
            <a:r>
              <a:rPr lang="en-GB" altLang="en-US" sz="1700" dirty="0">
                <a:effectLst>
                  <a:outerShdw blurRad="38100" dist="38100" dir="2700000" algn="tl">
                    <a:srgbClr val="000000"/>
                  </a:outerShdw>
                </a:effectLst>
                <a:latin typeface="Arial" charset="0"/>
              </a:rPr>
              <a:t> indicating the sense of slip</a:t>
            </a:r>
          </a:p>
        </p:txBody>
      </p:sp>
    </p:spTree>
  </p:cSld>
  <p:clrMapOvr>
    <a:masterClrMapping/>
  </p:clrMapOvr>
  <p:transition spd="slow"/>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0274" name="Rectangle 2"/>
          <p:cNvSpPr>
            <a:spLocks noGrp="1" noChangeArrowheads="1"/>
          </p:cNvSpPr>
          <p:nvPr>
            <p:ph type="title"/>
          </p:nvPr>
        </p:nvSpPr>
        <p:spPr>
          <a:noFill/>
        </p:spPr>
        <p:txBody>
          <a:bodyPr/>
          <a:lstStyle/>
          <a:p>
            <a:r>
              <a:rPr lang="en-GB" altLang="en-US" dirty="0">
                <a:effectLst/>
              </a:rPr>
              <a:t>Folding mechanisms  (flexural sli</a:t>
            </a:r>
            <a:r>
              <a:rPr lang="en-GB" altLang="en-US" spc="500" dirty="0">
                <a:effectLst/>
              </a:rPr>
              <a:t>p/</a:t>
            </a:r>
            <a:r>
              <a:rPr lang="en-GB" altLang="en-US" dirty="0">
                <a:effectLst/>
              </a:rPr>
              <a:t>flexural flow)</a:t>
            </a:r>
          </a:p>
        </p:txBody>
      </p:sp>
      <p:sp>
        <p:nvSpPr>
          <p:cNvPr id="310275" name="Rectangle 3"/>
          <p:cNvSpPr>
            <a:spLocks noGrp="1" noChangeArrowheads="1"/>
          </p:cNvSpPr>
          <p:nvPr>
            <p:ph type="body" sz="half" idx="1"/>
          </p:nvPr>
        </p:nvSpPr>
        <p:spPr>
          <a:xfrm>
            <a:off x="120650" y="771525"/>
            <a:ext cx="8909050" cy="2176463"/>
          </a:xfrm>
          <a:noFill/>
        </p:spPr>
        <p:txBody>
          <a:bodyPr/>
          <a:lstStyle/>
          <a:p>
            <a:pPr marL="177800" indent="-177800">
              <a:tabLst>
                <a:tab pos="177800" algn="l"/>
              </a:tabLst>
            </a:pPr>
            <a:r>
              <a:rPr lang="en-GB" altLang="en-US" sz="1700" dirty="0">
                <a:effectLst/>
              </a:rPr>
              <a:t>One of the characteristic features of flexural flow folding derives from the fact that there is no distortion within the slip planes (</a:t>
            </a:r>
            <a:r>
              <a:rPr lang="en-GB" altLang="en-US" sz="1700" i="1" dirty="0">
                <a:effectLst/>
              </a:rPr>
              <a:t>e.g.</a:t>
            </a:r>
            <a:r>
              <a:rPr lang="en-GB" altLang="en-US" sz="1700" dirty="0">
                <a:effectLst/>
              </a:rPr>
              <a:t>, bedding planes):</a:t>
            </a:r>
          </a:p>
          <a:p>
            <a:pPr marL="177800" indent="-177800">
              <a:lnSpc>
                <a:spcPct val="100000"/>
              </a:lnSpc>
              <a:spcBef>
                <a:spcPct val="30000"/>
              </a:spcBef>
              <a:buFont typeface="Times"/>
              <a:buNone/>
              <a:tabLst>
                <a:tab pos="177800" algn="l"/>
              </a:tabLst>
            </a:pPr>
            <a:r>
              <a:rPr lang="en-GB" altLang="en-US" sz="1700" dirty="0">
                <a:solidFill>
                  <a:srgbClr val="FFFF00"/>
                </a:solidFill>
                <a:effectLst/>
              </a:rPr>
              <a:t>	</a:t>
            </a:r>
            <a:r>
              <a:rPr lang="en-GB" altLang="en-US" sz="1700" i="1" dirty="0">
                <a:solidFill>
                  <a:srgbClr val="FF66CC"/>
                </a:solidFill>
                <a:effectLst/>
              </a:rPr>
              <a:t>a pre-existing lineation on the bedding plane making an angle </a:t>
            </a:r>
            <a:r>
              <a:rPr lang="el-GR" altLang="en-US" i="1" dirty="0">
                <a:solidFill>
                  <a:srgbClr val="FF66CC"/>
                </a:solidFill>
                <a:effectLst/>
                <a:latin typeface="Cambria Math" panose="02040503050406030204" pitchFamily="18" charset="0"/>
                <a:ea typeface="Cambria Math" panose="02040503050406030204" pitchFamily="18" charset="0"/>
              </a:rPr>
              <a:t>α</a:t>
            </a:r>
            <a:r>
              <a:rPr lang="en-GB" altLang="en-US" sz="1700" i="1" dirty="0">
                <a:solidFill>
                  <a:srgbClr val="FF66CC"/>
                </a:solidFill>
                <a:effectLst/>
              </a:rPr>
              <a:t>  to the future fold axis, remains at angle </a:t>
            </a:r>
            <a:r>
              <a:rPr lang="el-GR" altLang="en-US" i="1" dirty="0">
                <a:solidFill>
                  <a:srgbClr val="FF66CC"/>
                </a:solidFill>
                <a:effectLst/>
                <a:latin typeface="Cambria Math" panose="02040503050406030204" pitchFamily="18" charset="0"/>
                <a:ea typeface="Cambria Math" panose="02040503050406030204" pitchFamily="18" charset="0"/>
              </a:rPr>
              <a:t>α</a:t>
            </a:r>
            <a:r>
              <a:rPr lang="en-GB" altLang="en-US" i="1" dirty="0">
                <a:solidFill>
                  <a:srgbClr val="FF66CC"/>
                </a:solidFill>
                <a:effectLst/>
                <a:latin typeface="Symbol" pitchFamily="18" charset="2"/>
              </a:rPr>
              <a:t> </a:t>
            </a:r>
            <a:r>
              <a:rPr lang="en-GB" altLang="en-US" sz="1700" i="1" dirty="0">
                <a:solidFill>
                  <a:srgbClr val="FF66CC"/>
                </a:solidFill>
                <a:effectLst/>
              </a:rPr>
              <a:t> to the fold axis after folding</a:t>
            </a:r>
          </a:p>
          <a:p>
            <a:pPr marL="177800" indent="-177800">
              <a:spcBef>
                <a:spcPts val="900"/>
              </a:spcBef>
              <a:buFont typeface="Times"/>
              <a:buNone/>
              <a:tabLst>
                <a:tab pos="177800" algn="l"/>
              </a:tabLst>
            </a:pPr>
            <a:r>
              <a:rPr lang="en-GB" altLang="en-US" sz="1700" dirty="0">
                <a:effectLst/>
              </a:rPr>
              <a:t>	Hence on a stereogram, folding spreads the lineation along a small circle about the fold axis</a:t>
            </a:r>
          </a:p>
        </p:txBody>
      </p:sp>
      <p:pic>
        <p:nvPicPr>
          <p:cNvPr id="310276" name="Picture 4"/>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a:xfrm>
            <a:off x="390525" y="3078163"/>
            <a:ext cx="8367713" cy="3590925"/>
          </a:xfrm>
          <a:noFill/>
          <a:ln w="38100" cap="flat">
            <a:solidFill>
              <a:schemeClr val="bg2"/>
            </a:solidFill>
            <a:miter lim="800000"/>
            <a:headEnd/>
            <a:tailEnd/>
          </a:ln>
        </p:spPr>
      </p:pic>
    </p:spTree>
  </p:cSld>
  <p:clrMapOvr>
    <a:masterClrMapping/>
  </p:clrMapOvr>
  <p:transition spd="slow"/>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2210" name="Rectangle 2"/>
          <p:cNvSpPr>
            <a:spLocks noGrp="1" noChangeArrowheads="1"/>
          </p:cNvSpPr>
          <p:nvPr>
            <p:ph type="title"/>
          </p:nvPr>
        </p:nvSpPr>
        <p:spPr>
          <a:noFill/>
        </p:spPr>
        <p:txBody>
          <a:bodyPr/>
          <a:lstStyle/>
          <a:p>
            <a:r>
              <a:rPr lang="en-GB" altLang="en-US">
                <a:effectLst/>
              </a:rPr>
              <a:t>Folding mechanisms  (tangential longitudinal strain)</a:t>
            </a:r>
          </a:p>
        </p:txBody>
      </p:sp>
      <p:sp>
        <p:nvSpPr>
          <p:cNvPr id="222211" name="Rectangle 3"/>
          <p:cNvSpPr>
            <a:spLocks noGrp="1" noChangeArrowheads="1"/>
          </p:cNvSpPr>
          <p:nvPr>
            <p:ph type="body" sz="half" idx="1"/>
          </p:nvPr>
        </p:nvSpPr>
        <p:spPr>
          <a:xfrm>
            <a:off x="112713" y="779463"/>
            <a:ext cx="5738812" cy="2409825"/>
          </a:xfrm>
          <a:noFill/>
        </p:spPr>
        <p:txBody>
          <a:bodyPr/>
          <a:lstStyle/>
          <a:p>
            <a:pPr marL="177800" indent="-177800"/>
            <a:r>
              <a:rPr lang="en-GB" altLang="en-US" sz="1700">
                <a:effectLst/>
              </a:rPr>
              <a:t>Tangential Longitudinal Strain (TLS) folding is like </a:t>
            </a:r>
            <a:r>
              <a:rPr lang="en-GB" altLang="en-US" sz="1700">
                <a:solidFill>
                  <a:srgbClr val="FF66CC"/>
                </a:solidFill>
                <a:effectLst/>
              </a:rPr>
              <a:t>compressing an eraser parallel to its length</a:t>
            </a:r>
            <a:r>
              <a:rPr lang="en-GB" altLang="en-US" sz="1700">
                <a:effectLst/>
              </a:rPr>
              <a:t>: the outer arc of the layer experiences </a:t>
            </a:r>
            <a:r>
              <a:rPr lang="en-GB" altLang="en-US" sz="1700">
                <a:solidFill>
                  <a:srgbClr val="FF6600"/>
                </a:solidFill>
                <a:effectLst/>
              </a:rPr>
              <a:t>extension</a:t>
            </a:r>
            <a:r>
              <a:rPr lang="en-GB" altLang="en-US" sz="1700">
                <a:effectLst/>
              </a:rPr>
              <a:t> and the inner arc experiences </a:t>
            </a:r>
            <a:r>
              <a:rPr lang="en-GB" altLang="en-US" sz="1700">
                <a:solidFill>
                  <a:srgbClr val="FF6600"/>
                </a:solidFill>
                <a:effectLst/>
              </a:rPr>
              <a:t>compression</a:t>
            </a:r>
            <a:r>
              <a:rPr lang="en-GB" altLang="en-US" sz="1700">
                <a:effectLst/>
              </a:rPr>
              <a:t>; between them is the </a:t>
            </a:r>
            <a:r>
              <a:rPr lang="en-GB" altLang="en-US" sz="1700">
                <a:solidFill>
                  <a:srgbClr val="FF6600"/>
                </a:solidFill>
                <a:effectLst/>
              </a:rPr>
              <a:t>neutral surface</a:t>
            </a:r>
            <a:r>
              <a:rPr lang="en-GB" altLang="en-US" sz="1700">
                <a:effectLst/>
              </a:rPr>
              <a:t> where the deformation cancels out</a:t>
            </a:r>
          </a:p>
          <a:p>
            <a:pPr marL="177800" indent="-177800">
              <a:spcBef>
                <a:spcPct val="50000"/>
              </a:spcBef>
            </a:pPr>
            <a:r>
              <a:rPr lang="en-GB" altLang="en-US" sz="1700">
                <a:effectLst/>
              </a:rPr>
              <a:t>The </a:t>
            </a:r>
            <a:r>
              <a:rPr lang="en-GB" altLang="en-US" sz="1700">
                <a:solidFill>
                  <a:srgbClr val="FF66CC"/>
                </a:solidFill>
                <a:effectLst/>
              </a:rPr>
              <a:t>maximum deformation</a:t>
            </a:r>
            <a:r>
              <a:rPr lang="en-GB" altLang="en-US" sz="1700">
                <a:effectLst/>
              </a:rPr>
              <a:t> is at the hinge and decreases towards the inflection points where it is </a:t>
            </a:r>
            <a:r>
              <a:rPr lang="en-GB" altLang="en-US" sz="1700">
                <a:solidFill>
                  <a:srgbClr val="FF66CC"/>
                </a:solidFill>
                <a:effectLst/>
              </a:rPr>
              <a:t>zero</a:t>
            </a:r>
          </a:p>
        </p:txBody>
      </p:sp>
      <p:pic>
        <p:nvPicPr>
          <p:cNvPr id="222218" name="Picture 10"/>
          <p:cNvPicPr>
            <a:picLocks noGrp="1" noChangeAspect="1" noChangeArrowheads="1"/>
          </p:cNvPicPr>
          <p:nvPr>
            <p:ph sz="quarter" idx="2"/>
          </p:nvPr>
        </p:nvPicPr>
        <p:blipFill>
          <a:blip r:embed="rId3">
            <a:extLst>
              <a:ext uri="{28A0092B-C50C-407E-A947-70E740481C1C}">
                <a14:useLocalDpi xmlns:a14="http://schemas.microsoft.com/office/drawing/2010/main" val="0"/>
              </a:ext>
            </a:extLst>
          </a:blip>
          <a:srcRect/>
          <a:stretch>
            <a:fillRect/>
          </a:stretch>
        </p:blipFill>
        <p:spPr>
          <a:xfrm>
            <a:off x="6081713" y="922338"/>
            <a:ext cx="2816225" cy="2174875"/>
          </a:xfrm>
          <a:noFill/>
          <a:ln w="38100" cap="flat">
            <a:solidFill>
              <a:schemeClr val="bg2"/>
            </a:solidFill>
            <a:miter lim="800000"/>
            <a:headEnd/>
            <a:tailEnd/>
          </a:ln>
        </p:spPr>
      </p:pic>
      <p:pic>
        <p:nvPicPr>
          <p:cNvPr id="222220" name="Picture 12" descr="09b2"/>
          <p:cNvPicPr>
            <a:picLocks noGrp="1" noChangeAspect="1" noChangeArrowheads="1"/>
          </p:cNvPicPr>
          <p:nvPr>
            <p:ph sz="quarter" idx="3"/>
          </p:nvPr>
        </p:nvPicPr>
        <p:blipFill>
          <a:blip r:embed="rId4">
            <a:extLst>
              <a:ext uri="{28A0092B-C50C-407E-A947-70E740481C1C}">
                <a14:useLocalDpi xmlns:a14="http://schemas.microsoft.com/office/drawing/2010/main" val="0"/>
              </a:ext>
            </a:extLst>
          </a:blip>
          <a:srcRect/>
          <a:stretch>
            <a:fillRect/>
          </a:stretch>
        </p:blipFill>
        <p:spPr>
          <a:xfrm>
            <a:off x="6176169" y="3779838"/>
            <a:ext cx="2616200" cy="2906712"/>
          </a:xfr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222224" name="Text Box 16"/>
          <p:cNvSpPr txBox="1">
            <a:spLocks noChangeArrowheads="1"/>
          </p:cNvSpPr>
          <p:nvPr/>
        </p:nvSpPr>
        <p:spPr bwMode="auto">
          <a:xfrm>
            <a:off x="106363" y="3230563"/>
            <a:ext cx="8888412" cy="714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177800" indent="-177800">
              <a:defRPr sz="1600">
                <a:solidFill>
                  <a:schemeClr val="tx1"/>
                </a:solidFill>
                <a:latin typeface="Helvetica" charset="0"/>
              </a:defRPr>
            </a:lvl1pPr>
            <a:lvl2pPr>
              <a:defRPr sz="1600">
                <a:solidFill>
                  <a:schemeClr val="tx1"/>
                </a:solidFill>
                <a:latin typeface="Helvetica" charset="0"/>
              </a:defRPr>
            </a:lvl2pPr>
            <a:lvl3pPr>
              <a:defRPr sz="1600">
                <a:solidFill>
                  <a:schemeClr val="tx1"/>
                </a:solidFill>
                <a:latin typeface="Helvetica" charset="0"/>
              </a:defRPr>
            </a:lvl3pPr>
            <a:lvl4pPr>
              <a:defRPr sz="1600">
                <a:solidFill>
                  <a:schemeClr val="tx1"/>
                </a:solidFill>
                <a:latin typeface="Helvetica" charset="0"/>
              </a:defRPr>
            </a:lvl4pPr>
            <a:lvl5pPr>
              <a:defRPr sz="1600">
                <a:solidFill>
                  <a:schemeClr val="tx1"/>
                </a:solidFill>
                <a:latin typeface="Helvetica" charset="0"/>
              </a:defRPr>
            </a:lvl5pPr>
            <a:lvl6pPr eaLnBrk="0" fontAlgn="base" hangingPunct="0">
              <a:spcBef>
                <a:spcPct val="20000"/>
              </a:spcBef>
              <a:spcAft>
                <a:spcPct val="0"/>
              </a:spcAft>
              <a:buClr>
                <a:schemeClr val="accent2"/>
              </a:buClr>
              <a:defRPr sz="1600">
                <a:solidFill>
                  <a:schemeClr val="tx1"/>
                </a:solidFill>
                <a:latin typeface="Helvetica" charset="0"/>
              </a:defRPr>
            </a:lvl6pPr>
            <a:lvl7pPr eaLnBrk="0" fontAlgn="base" hangingPunct="0">
              <a:spcBef>
                <a:spcPct val="20000"/>
              </a:spcBef>
              <a:spcAft>
                <a:spcPct val="0"/>
              </a:spcAft>
              <a:buClr>
                <a:schemeClr val="accent2"/>
              </a:buClr>
              <a:defRPr sz="1600">
                <a:solidFill>
                  <a:schemeClr val="tx1"/>
                </a:solidFill>
                <a:latin typeface="Helvetica" charset="0"/>
              </a:defRPr>
            </a:lvl7pPr>
            <a:lvl8pPr eaLnBrk="0" fontAlgn="base" hangingPunct="0">
              <a:spcBef>
                <a:spcPct val="20000"/>
              </a:spcBef>
              <a:spcAft>
                <a:spcPct val="0"/>
              </a:spcAft>
              <a:buClr>
                <a:schemeClr val="accent2"/>
              </a:buClr>
              <a:defRPr sz="1600">
                <a:solidFill>
                  <a:schemeClr val="tx1"/>
                </a:solidFill>
                <a:latin typeface="Helvetica" charset="0"/>
              </a:defRPr>
            </a:lvl8pPr>
            <a:lvl9pPr eaLnBrk="0" fontAlgn="base" hangingPunct="0">
              <a:spcBef>
                <a:spcPct val="20000"/>
              </a:spcBef>
              <a:spcAft>
                <a:spcPct val="0"/>
              </a:spcAft>
              <a:buClr>
                <a:schemeClr val="accent2"/>
              </a:buClr>
              <a:defRPr sz="1600">
                <a:solidFill>
                  <a:schemeClr val="tx1"/>
                </a:solidFill>
                <a:latin typeface="Helvetica" charset="0"/>
              </a:defRPr>
            </a:lvl9pPr>
          </a:lstStyle>
          <a:p>
            <a:pPr>
              <a:lnSpc>
                <a:spcPct val="120000"/>
              </a:lnSpc>
              <a:spcBef>
                <a:spcPct val="30000"/>
              </a:spcBef>
              <a:buClr>
                <a:schemeClr val="folHlink"/>
              </a:buClr>
              <a:buSzPct val="100000"/>
              <a:buFont typeface="Times"/>
              <a:buChar char="•"/>
            </a:pPr>
            <a:r>
              <a:rPr lang="en-GB" altLang="en-US" sz="1700" dirty="0">
                <a:solidFill>
                  <a:srgbClr val="FF66CC"/>
                </a:solidFill>
                <a:effectLst/>
                <a:latin typeface="Arial" charset="0"/>
              </a:rPr>
              <a:t>Secondary features</a:t>
            </a:r>
            <a:r>
              <a:rPr lang="en-GB" altLang="en-US" sz="1700" dirty="0">
                <a:effectLst/>
                <a:latin typeface="Arial" charset="0"/>
              </a:rPr>
              <a:t> of TLS folds include </a:t>
            </a:r>
            <a:r>
              <a:rPr lang="en-GB" altLang="en-US" sz="1700" dirty="0">
                <a:solidFill>
                  <a:srgbClr val="FF6600"/>
                </a:solidFill>
                <a:effectLst/>
                <a:latin typeface="Arial" charset="0"/>
              </a:rPr>
              <a:t>extension fractures</a:t>
            </a:r>
            <a:r>
              <a:rPr lang="en-GB" altLang="en-US" sz="1700" dirty="0">
                <a:effectLst/>
                <a:latin typeface="Arial" charset="0"/>
              </a:rPr>
              <a:t> in the outer arc, and intensified </a:t>
            </a:r>
            <a:r>
              <a:rPr lang="en-GB" altLang="en-US" sz="1700" dirty="0">
                <a:solidFill>
                  <a:srgbClr val="FF6600"/>
                </a:solidFill>
                <a:effectLst/>
                <a:latin typeface="Arial" charset="0"/>
              </a:rPr>
              <a:t>cleavage </a:t>
            </a:r>
            <a:r>
              <a:rPr lang="en-GB" altLang="en-US" sz="1700" dirty="0">
                <a:effectLst/>
                <a:latin typeface="Arial" charset="0"/>
              </a:rPr>
              <a:t>or </a:t>
            </a:r>
            <a:r>
              <a:rPr lang="en-GB" altLang="en-US" sz="800" dirty="0">
                <a:effectLst/>
                <a:latin typeface="Arial" charset="0"/>
              </a:rPr>
              <a:t> </a:t>
            </a:r>
            <a:r>
              <a:rPr lang="en-GB" altLang="en-US" sz="1700" dirty="0">
                <a:solidFill>
                  <a:srgbClr val="FF6600"/>
                </a:solidFill>
                <a:effectLst/>
                <a:latin typeface="Arial" charset="0"/>
              </a:rPr>
              <a:t>conjugate thrusts</a:t>
            </a:r>
            <a:r>
              <a:rPr lang="en-GB" altLang="en-US" sz="1700" dirty="0">
                <a:effectLst/>
                <a:latin typeface="Arial" charset="0"/>
              </a:rPr>
              <a:t> in the inner arc</a:t>
            </a:r>
            <a:endParaRPr lang="en-GB" altLang="en-US" sz="1700" dirty="0">
              <a:effectLst>
                <a:outerShdw blurRad="38100" dist="38100" dir="2700000" algn="tl">
                  <a:srgbClr val="000000"/>
                </a:outerShdw>
              </a:effectLst>
              <a:latin typeface="Arial" charset="0"/>
            </a:endParaRPr>
          </a:p>
        </p:txBody>
      </p:sp>
      <p:pic>
        <p:nvPicPr>
          <p:cNvPr id="222225" name="Picture 17" descr="10d3-Aberystwyth"/>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53640" y="4081494"/>
            <a:ext cx="4102100" cy="2605087"/>
          </a:xfrm>
          <a:prstGeom prst="rect">
            <a:avLst/>
          </a:prstGeo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Lst>
        </p:spPr>
      </p:pic>
      <p:sp>
        <p:nvSpPr>
          <p:cNvPr id="222226" name="Line 18"/>
          <p:cNvSpPr>
            <a:spLocks noChangeShapeType="1"/>
          </p:cNvSpPr>
          <p:nvPr/>
        </p:nvSpPr>
        <p:spPr bwMode="auto">
          <a:xfrm flipH="1">
            <a:off x="7391400" y="1100138"/>
            <a:ext cx="185738" cy="0"/>
          </a:xfrm>
          <a:prstGeom prst="line">
            <a:avLst/>
          </a:prstGeom>
          <a:noFill/>
          <a:ln w="1905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222227" name="Line 19"/>
          <p:cNvSpPr>
            <a:spLocks noChangeShapeType="1"/>
          </p:cNvSpPr>
          <p:nvPr/>
        </p:nvSpPr>
        <p:spPr bwMode="auto">
          <a:xfrm rot="10800000" flipH="1">
            <a:off x="7626350" y="1101725"/>
            <a:ext cx="185738" cy="0"/>
          </a:xfrm>
          <a:prstGeom prst="line">
            <a:avLst/>
          </a:prstGeom>
          <a:noFill/>
          <a:ln w="1905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222228" name="Line 20"/>
          <p:cNvSpPr>
            <a:spLocks noChangeShapeType="1"/>
          </p:cNvSpPr>
          <p:nvPr/>
        </p:nvSpPr>
        <p:spPr bwMode="auto">
          <a:xfrm flipH="1">
            <a:off x="7645400" y="1835150"/>
            <a:ext cx="185738" cy="0"/>
          </a:xfrm>
          <a:prstGeom prst="line">
            <a:avLst/>
          </a:prstGeom>
          <a:noFill/>
          <a:ln w="1905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222229" name="Line 21"/>
          <p:cNvSpPr>
            <a:spLocks noChangeShapeType="1"/>
          </p:cNvSpPr>
          <p:nvPr/>
        </p:nvSpPr>
        <p:spPr bwMode="auto">
          <a:xfrm rot="10800000" flipH="1">
            <a:off x="7427913" y="1836738"/>
            <a:ext cx="185737" cy="0"/>
          </a:xfrm>
          <a:prstGeom prst="line">
            <a:avLst/>
          </a:prstGeom>
          <a:noFill/>
          <a:ln w="1905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Tree>
  </p:cSld>
  <p:clrMapOvr>
    <a:masterClrMapping/>
  </p:clrMapOvr>
  <p:transition spd="slow"/>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3346" name="Rectangle 2"/>
          <p:cNvSpPr>
            <a:spLocks noGrp="1" noChangeArrowheads="1"/>
          </p:cNvSpPr>
          <p:nvPr>
            <p:ph type="title"/>
          </p:nvPr>
        </p:nvSpPr>
        <p:spPr>
          <a:noFill/>
        </p:spPr>
        <p:txBody>
          <a:bodyPr/>
          <a:lstStyle/>
          <a:p>
            <a:r>
              <a:rPr lang="en-GB" altLang="en-US">
                <a:effectLst/>
              </a:rPr>
              <a:t>Folding mechanisms  (tangential longitudinal strain)</a:t>
            </a:r>
          </a:p>
        </p:txBody>
      </p:sp>
      <p:sp>
        <p:nvSpPr>
          <p:cNvPr id="313347" name="Rectangle 3"/>
          <p:cNvSpPr>
            <a:spLocks noGrp="1" noChangeArrowheads="1"/>
          </p:cNvSpPr>
          <p:nvPr>
            <p:ph type="body" sz="half" idx="1"/>
          </p:nvPr>
        </p:nvSpPr>
        <p:spPr>
          <a:xfrm>
            <a:off x="122238" y="804863"/>
            <a:ext cx="8864600" cy="1282700"/>
          </a:xfrm>
          <a:noFill/>
        </p:spPr>
        <p:txBody>
          <a:bodyPr/>
          <a:lstStyle/>
          <a:p>
            <a:pPr marL="177800" indent="-177800"/>
            <a:r>
              <a:rPr lang="en-GB" altLang="en-US" sz="1700" dirty="0">
                <a:effectLst/>
              </a:rPr>
              <a:t>The influence of tangential longitudinal strain folding on </a:t>
            </a:r>
            <a:r>
              <a:rPr lang="en-GB" altLang="en-US" sz="1700" dirty="0">
                <a:solidFill>
                  <a:srgbClr val="FF66CC"/>
                </a:solidFill>
                <a:effectLst/>
              </a:rPr>
              <a:t>pre-existing </a:t>
            </a:r>
            <a:r>
              <a:rPr lang="en-GB" altLang="en-US" sz="1700" dirty="0" err="1">
                <a:solidFill>
                  <a:srgbClr val="FF66CC"/>
                </a:solidFill>
                <a:effectLst/>
              </a:rPr>
              <a:t>lineations</a:t>
            </a:r>
            <a:r>
              <a:rPr lang="en-GB" altLang="en-US" sz="1700" dirty="0">
                <a:effectLst/>
              </a:rPr>
              <a:t> is more complex than in the flexural flow case; on a stereogram the </a:t>
            </a:r>
            <a:r>
              <a:rPr lang="en-GB" altLang="en-US" sz="1700" dirty="0" err="1">
                <a:effectLst/>
              </a:rPr>
              <a:t>lineations</a:t>
            </a:r>
            <a:r>
              <a:rPr lang="en-GB" altLang="en-US" sz="1700" dirty="0">
                <a:effectLst/>
              </a:rPr>
              <a:t> are spread within a</a:t>
            </a:r>
            <a:r>
              <a:rPr lang="en-GB" altLang="en-US" sz="1700" dirty="0">
                <a:solidFill>
                  <a:srgbClr val="FF66CC"/>
                </a:solidFill>
                <a:effectLst/>
              </a:rPr>
              <a:t> sector</a:t>
            </a:r>
            <a:r>
              <a:rPr lang="en-GB" altLang="en-US" sz="1700" dirty="0">
                <a:effectLst/>
              </a:rPr>
              <a:t>, their position within that sector depending upon where within the folded layer they occur</a:t>
            </a:r>
          </a:p>
        </p:txBody>
      </p:sp>
      <p:pic>
        <p:nvPicPr>
          <p:cNvPr id="313348" name="Picture 4"/>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a:xfrm>
            <a:off x="1363663" y="2555875"/>
            <a:ext cx="6389687" cy="3324225"/>
          </a:xfrm>
          <a:noFill/>
          <a:ln w="38100" cap="flat">
            <a:solidFill>
              <a:schemeClr val="bg2"/>
            </a:solidFill>
            <a:miter lim="800000"/>
            <a:headEnd/>
            <a:tailEnd/>
          </a:ln>
        </p:spPr>
      </p:pic>
    </p:spTree>
  </p:cSld>
  <p:clrMapOvr>
    <a:masterClrMapping/>
  </p:clrMapOvr>
  <p:transition spd="slow"/>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3234" name="Rectangle 2"/>
          <p:cNvSpPr>
            <a:spLocks noGrp="1" noChangeArrowheads="1"/>
          </p:cNvSpPr>
          <p:nvPr>
            <p:ph type="title"/>
          </p:nvPr>
        </p:nvSpPr>
        <p:spPr>
          <a:noFill/>
        </p:spPr>
        <p:txBody>
          <a:bodyPr/>
          <a:lstStyle/>
          <a:p>
            <a:r>
              <a:rPr lang="en-GB" altLang="en-US">
                <a:effectLst/>
              </a:rPr>
              <a:t>Folding mechanisms  (shear folding)</a:t>
            </a:r>
          </a:p>
        </p:txBody>
      </p:sp>
      <p:sp>
        <p:nvSpPr>
          <p:cNvPr id="223235" name="Rectangle 3"/>
          <p:cNvSpPr>
            <a:spLocks noGrp="1" noChangeArrowheads="1"/>
          </p:cNvSpPr>
          <p:nvPr>
            <p:ph type="body" sz="half" idx="1"/>
          </p:nvPr>
        </p:nvSpPr>
        <p:spPr>
          <a:xfrm>
            <a:off x="106363" y="808038"/>
            <a:ext cx="8766175" cy="2166937"/>
          </a:xfrm>
          <a:noFill/>
        </p:spPr>
        <p:txBody>
          <a:bodyPr/>
          <a:lstStyle/>
          <a:p>
            <a:pPr marL="177800" indent="-177800">
              <a:spcBef>
                <a:spcPct val="50000"/>
              </a:spcBef>
            </a:pPr>
            <a:r>
              <a:rPr lang="en-GB" altLang="en-US" sz="1700" dirty="0">
                <a:effectLst/>
              </a:rPr>
              <a:t>Shear folding is like </a:t>
            </a:r>
            <a:r>
              <a:rPr lang="en-GB" altLang="en-US" sz="1700" dirty="0">
                <a:solidFill>
                  <a:srgbClr val="FF66CC"/>
                </a:solidFill>
                <a:effectLst/>
              </a:rPr>
              <a:t>shearing a deck of cards</a:t>
            </a:r>
            <a:r>
              <a:rPr lang="en-GB" altLang="en-US" sz="1700" dirty="0">
                <a:effectLst/>
              </a:rPr>
              <a:t>: the shear planes are parallel to the axial surface of the fold</a:t>
            </a:r>
          </a:p>
          <a:p>
            <a:pPr marL="177800" indent="-177800">
              <a:spcBef>
                <a:spcPct val="50000"/>
              </a:spcBef>
            </a:pPr>
            <a:r>
              <a:rPr lang="en-GB" altLang="en-US" sz="1700" dirty="0">
                <a:effectLst/>
              </a:rPr>
              <a:t>The influence of shear folding on a </a:t>
            </a:r>
            <a:r>
              <a:rPr lang="en-GB" altLang="en-US" sz="1700" dirty="0">
                <a:solidFill>
                  <a:srgbClr val="FF66CC"/>
                </a:solidFill>
                <a:effectLst/>
              </a:rPr>
              <a:t>pre-existing lineation</a:t>
            </a:r>
            <a:r>
              <a:rPr lang="en-GB" altLang="en-US" sz="1700" dirty="0">
                <a:effectLst/>
              </a:rPr>
              <a:t> is to reorient it within a plane, and so on a stereogram the lineation is spread along a great circle. The intersection of this great circle with the shear plane (axial plane) is the </a:t>
            </a:r>
            <a:r>
              <a:rPr lang="en-GB" altLang="en-US" sz="1700" dirty="0">
                <a:solidFill>
                  <a:srgbClr val="FF66CC"/>
                </a:solidFill>
                <a:effectLst/>
              </a:rPr>
              <a:t>tectonic </a:t>
            </a:r>
            <a:r>
              <a:rPr lang="en-GB" altLang="en-US" sz="1700" i="1" spc="150" dirty="0">
                <a:solidFill>
                  <a:srgbClr val="FF66CC"/>
                </a:solidFill>
                <a:effectLst/>
              </a:rPr>
              <a:t>a</a:t>
            </a:r>
            <a:r>
              <a:rPr lang="en-GB" altLang="en-US" sz="1700" spc="150" dirty="0">
                <a:solidFill>
                  <a:srgbClr val="FF66CC"/>
                </a:solidFill>
                <a:effectLst/>
              </a:rPr>
              <a:t>-</a:t>
            </a:r>
            <a:r>
              <a:rPr lang="en-GB" altLang="en-US" sz="1700" dirty="0">
                <a:solidFill>
                  <a:srgbClr val="FF66CC"/>
                </a:solidFill>
                <a:effectLst/>
              </a:rPr>
              <a:t>direction</a:t>
            </a:r>
            <a:r>
              <a:rPr lang="en-GB" altLang="en-US" sz="1700" dirty="0">
                <a:effectLst/>
              </a:rPr>
              <a:t>. If the folding is caused by shearing on a fault, this is the orientation of the </a:t>
            </a:r>
            <a:r>
              <a:rPr lang="en-GB" altLang="en-US" sz="1700" dirty="0">
                <a:solidFill>
                  <a:srgbClr val="FF6600"/>
                </a:solidFill>
                <a:effectLst/>
              </a:rPr>
              <a:t>fault slip vector</a:t>
            </a:r>
            <a:endParaRPr lang="en-GB" altLang="en-US" sz="1700" dirty="0">
              <a:effectLst/>
            </a:endParaRPr>
          </a:p>
        </p:txBody>
      </p:sp>
      <p:pic>
        <p:nvPicPr>
          <p:cNvPr id="223236" name="Picture 4"/>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a:xfrm>
            <a:off x="703263" y="3084513"/>
            <a:ext cx="7872412" cy="3570287"/>
          </a:xfrm>
          <a:noFill/>
          <a:ln w="38100" cap="flat">
            <a:solidFill>
              <a:schemeClr val="bg2"/>
            </a:solidFill>
            <a:miter lim="800000"/>
            <a:headEnd/>
            <a:tailEnd/>
          </a:ln>
        </p:spPr>
      </p:pic>
    </p:spTree>
  </p:cSld>
  <p:clrMapOvr>
    <a:masterClrMapping/>
  </p:clrMapOvr>
  <p:transition spd="slow"/>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0642" name="Rectangle 2"/>
          <p:cNvSpPr>
            <a:spLocks noGrp="1" noChangeArrowheads="1"/>
          </p:cNvSpPr>
          <p:nvPr>
            <p:ph type="ctrTitle" idx="4294967295"/>
          </p:nvPr>
        </p:nvSpPr>
        <p:spPr bwMode="black">
          <a:xfrm>
            <a:off x="239713" y="1673225"/>
            <a:ext cx="8705850" cy="1955800"/>
          </a:xfrm>
          <a:effectLst>
            <a:outerShdw dist="35921" dir="2700000" algn="ctr" rotWithShape="0">
              <a:schemeClr val="bg2"/>
            </a:outerShdw>
          </a:effectLst>
          <a:extLst>
            <a:ext uri="{909E8E84-426E-40DD-AFC4-6F175D3DCCD1}">
              <a14:hiddenFill xmlns:a14="http://schemas.microsoft.com/office/drawing/2010/main">
                <a:solidFill>
                  <a:schemeClr val="bg1"/>
                </a:solidFill>
              </a14:hiddenFill>
            </a:ext>
          </a:extLst>
        </p:spPr>
        <p:txBody>
          <a:bodyPr anchor="ctr">
            <a:spAutoFit/>
          </a:bodyPr>
          <a:lstStyle/>
          <a:p>
            <a:pPr algn="ctr">
              <a:lnSpc>
                <a:spcPct val="120000"/>
              </a:lnSpc>
            </a:pPr>
            <a:br>
              <a:rPr lang="en-US" altLang="en-US" sz="3500"/>
            </a:br>
            <a:br>
              <a:rPr lang="en-US" altLang="en-US" sz="3500"/>
            </a:br>
            <a:r>
              <a:rPr lang="en-US" altLang="en-US" sz="3200">
                <a:solidFill>
                  <a:srgbClr val="FF6600"/>
                </a:solidFill>
              </a:rPr>
              <a:t>Non-cylindrical folds</a:t>
            </a:r>
            <a:endParaRPr lang="en-US" altLang="en-US">
              <a:solidFill>
                <a:srgbClr val="FF6600"/>
              </a:solidFill>
            </a:endParaRPr>
          </a:p>
        </p:txBody>
      </p:sp>
    </p:spTree>
  </p:cSld>
  <p:clrMapOvr>
    <a:masterClrMapping/>
  </p:clrMapOvr>
  <p:transition spd="slow"/>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7330" name="Rectangle 2"/>
          <p:cNvSpPr>
            <a:spLocks noGrp="1" noChangeArrowheads="1"/>
          </p:cNvSpPr>
          <p:nvPr>
            <p:ph type="title"/>
          </p:nvPr>
        </p:nvSpPr>
        <p:spPr>
          <a:noFill/>
        </p:spPr>
        <p:txBody>
          <a:bodyPr/>
          <a:lstStyle/>
          <a:p>
            <a:r>
              <a:rPr lang="en-GB" altLang="en-US">
                <a:effectLst/>
              </a:rPr>
              <a:t>Periclines and fold hinges that bifurcate</a:t>
            </a:r>
          </a:p>
        </p:txBody>
      </p:sp>
      <p:sp>
        <p:nvSpPr>
          <p:cNvPr id="227331" name="Rectangle 3"/>
          <p:cNvSpPr>
            <a:spLocks noGrp="1" noChangeArrowheads="1"/>
          </p:cNvSpPr>
          <p:nvPr>
            <p:ph type="body" sz="half" idx="1"/>
          </p:nvPr>
        </p:nvSpPr>
        <p:spPr>
          <a:xfrm>
            <a:off x="106363" y="792163"/>
            <a:ext cx="4824412" cy="2506662"/>
          </a:xfrm>
          <a:noFill/>
        </p:spPr>
        <p:txBody>
          <a:bodyPr/>
          <a:lstStyle/>
          <a:p>
            <a:pPr marL="177800" indent="-177800"/>
            <a:r>
              <a:rPr lang="en-GB" altLang="en-US" sz="1700" dirty="0">
                <a:effectLst/>
              </a:rPr>
              <a:t>Folds do not go on until they wrap right around the Earth: they </a:t>
            </a:r>
            <a:r>
              <a:rPr lang="en-GB" altLang="en-US" sz="1700" dirty="0">
                <a:solidFill>
                  <a:srgbClr val="FF6600"/>
                </a:solidFill>
                <a:effectLst/>
              </a:rPr>
              <a:t>grow and die out along the fold axis</a:t>
            </a:r>
            <a:r>
              <a:rPr lang="en-GB" altLang="en-US" sz="1700" dirty="0">
                <a:effectLst/>
              </a:rPr>
              <a:t>, or the </a:t>
            </a:r>
            <a:r>
              <a:rPr lang="en-GB" altLang="en-US" sz="1700" dirty="0">
                <a:solidFill>
                  <a:srgbClr val="FF6600"/>
                </a:solidFill>
                <a:effectLst/>
              </a:rPr>
              <a:t>fold hinge may bifurcate</a:t>
            </a:r>
          </a:p>
          <a:p>
            <a:pPr marL="177800" indent="-177800">
              <a:spcBef>
                <a:spcPct val="50000"/>
              </a:spcBef>
            </a:pPr>
            <a:r>
              <a:rPr lang="en-GB" altLang="en-US" sz="1700" dirty="0">
                <a:effectLst/>
              </a:rPr>
              <a:t>This may happen on all </a:t>
            </a:r>
            <a:r>
              <a:rPr lang="en-GB" altLang="en-US" sz="1700" dirty="0">
                <a:solidFill>
                  <a:srgbClr val="FF66CC"/>
                </a:solidFill>
                <a:effectLst/>
              </a:rPr>
              <a:t>scales</a:t>
            </a:r>
            <a:r>
              <a:rPr lang="en-GB" altLang="en-US" sz="1700" dirty="0">
                <a:effectLst/>
              </a:rPr>
              <a:t> up to that of the orogenic belt. A common spatial arrangement is that of elongate domes (</a:t>
            </a:r>
            <a:r>
              <a:rPr lang="en-GB" altLang="en-US" sz="1700" dirty="0">
                <a:solidFill>
                  <a:srgbClr val="FF6600"/>
                </a:solidFill>
                <a:effectLst/>
              </a:rPr>
              <a:t>periclines</a:t>
            </a:r>
            <a:r>
              <a:rPr lang="en-GB" altLang="en-US" sz="1700" dirty="0">
                <a:effectLst/>
              </a:rPr>
              <a:t>) arranged in an </a:t>
            </a:r>
            <a:r>
              <a:rPr lang="en-GB" altLang="en-US" sz="1700" dirty="0" err="1">
                <a:solidFill>
                  <a:srgbClr val="FF66CC"/>
                </a:solidFill>
                <a:effectLst/>
              </a:rPr>
              <a:t>en</a:t>
            </a:r>
            <a:r>
              <a:rPr lang="en-GB" altLang="en-US" sz="1700" dirty="0">
                <a:solidFill>
                  <a:srgbClr val="FF66CC"/>
                </a:solidFill>
                <a:effectLst/>
              </a:rPr>
              <a:t> </a:t>
            </a:r>
            <a:r>
              <a:rPr lang="en-GB" altLang="en-US" sz="1700" dirty="0" err="1">
                <a:solidFill>
                  <a:srgbClr val="FF66CC"/>
                </a:solidFill>
                <a:effectLst/>
              </a:rPr>
              <a:t>échelon</a:t>
            </a:r>
            <a:r>
              <a:rPr lang="en-GB" altLang="en-US" sz="1700" dirty="0">
                <a:solidFill>
                  <a:srgbClr val="FF66CC"/>
                </a:solidFill>
                <a:effectLst/>
              </a:rPr>
              <a:t> array</a:t>
            </a:r>
            <a:endParaRPr lang="en-GB" altLang="en-US" sz="1700" dirty="0">
              <a:effectLst/>
            </a:endParaRPr>
          </a:p>
        </p:txBody>
      </p:sp>
      <p:pic>
        <p:nvPicPr>
          <p:cNvPr id="227332" name="Picture 4" descr="11b-Salt-cored anticlines, Konari, Iran NASA interpret"/>
          <p:cNvPicPr>
            <a:picLocks noGrp="1" noChangeAspect="1" noChangeArrowheads="1"/>
          </p:cNvPicPr>
          <p:nvPr>
            <p:ph sz="quarter" idx="2"/>
          </p:nvPr>
        </p:nvPicPr>
        <p:blipFill>
          <a:blip r:embed="rId3">
            <a:extLst>
              <a:ext uri="{28A0092B-C50C-407E-A947-70E740481C1C}">
                <a14:useLocalDpi xmlns:a14="http://schemas.microsoft.com/office/drawing/2010/main" val="0"/>
              </a:ext>
            </a:extLst>
          </a:blip>
          <a:srcRect/>
          <a:stretch>
            <a:fillRect/>
          </a:stretch>
        </p:blipFill>
        <p:spPr>
          <a:xfrm>
            <a:off x="5256213" y="1281113"/>
            <a:ext cx="3697287" cy="3883025"/>
          </a:xfr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227334" name="Picture 6" descr="11c-Boscastle"/>
          <p:cNvPicPr>
            <a:picLocks noGrp="1" noChangeAspect="1" noChangeArrowheads="1"/>
          </p:cNvPicPr>
          <p:nvPr>
            <p:ph sz="quarter" idx="3"/>
          </p:nvPr>
        </p:nvPicPr>
        <p:blipFill>
          <a:blip r:embed="rId4">
            <a:extLst>
              <a:ext uri="{28A0092B-C50C-407E-A947-70E740481C1C}">
                <a14:useLocalDpi xmlns:a14="http://schemas.microsoft.com/office/drawing/2010/main" val="0"/>
              </a:ext>
            </a:extLst>
          </a:blip>
          <a:srcRect/>
          <a:stretch>
            <a:fillRect/>
          </a:stretch>
        </p:blipFill>
        <p:spPr>
          <a:xfrm>
            <a:off x="222250" y="3552825"/>
            <a:ext cx="2309813" cy="3084513"/>
          </a:xfr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227336" name="Text Box 8"/>
          <p:cNvSpPr txBox="1">
            <a:spLocks noChangeArrowheads="1"/>
          </p:cNvSpPr>
          <p:nvPr/>
        </p:nvSpPr>
        <p:spPr bwMode="auto">
          <a:xfrm>
            <a:off x="5634038" y="869950"/>
            <a:ext cx="2860675"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GB" altLang="en-US" sz="1400">
                <a:solidFill>
                  <a:srgbClr val="FFFF00"/>
                </a:solidFill>
                <a:effectLst>
                  <a:outerShdw blurRad="38100" dist="38100" dir="2700000" algn="tl">
                    <a:srgbClr val="000000"/>
                  </a:outerShdw>
                </a:effectLst>
                <a:latin typeface="Arial" charset="0"/>
              </a:rPr>
              <a:t>Zagros mountains periclines, Iran</a:t>
            </a:r>
          </a:p>
        </p:txBody>
      </p:sp>
      <p:pic>
        <p:nvPicPr>
          <p:cNvPr id="227337" name="Picture 9" descr="11a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803525" y="3563938"/>
            <a:ext cx="2160588" cy="817562"/>
          </a:xfrm>
          <a:prstGeom prst="rect">
            <a:avLst/>
          </a:prstGeo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Lst>
        </p:spPr>
      </p:pic>
      <p:pic>
        <p:nvPicPr>
          <p:cNvPr id="227338" name="Picture 10" descr="11a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62263" y="5549900"/>
            <a:ext cx="2924175" cy="1109663"/>
          </a:xfrm>
          <a:prstGeom prst="rect">
            <a:avLst/>
          </a:prstGeo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Lst>
        </p:spPr>
      </p:pic>
      <p:sp>
        <p:nvSpPr>
          <p:cNvPr id="227339" name="Text Box 11"/>
          <p:cNvSpPr txBox="1">
            <a:spLocks noChangeArrowheads="1"/>
          </p:cNvSpPr>
          <p:nvPr/>
        </p:nvSpPr>
        <p:spPr bwMode="auto">
          <a:xfrm>
            <a:off x="3409950" y="4456113"/>
            <a:ext cx="985838"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GB" altLang="en-US" sz="1400">
                <a:solidFill>
                  <a:srgbClr val="FFFF00"/>
                </a:solidFill>
                <a:effectLst>
                  <a:outerShdw blurRad="38100" dist="38100" dir="2700000" algn="tl">
                    <a:srgbClr val="000000"/>
                  </a:outerShdw>
                </a:effectLst>
                <a:latin typeface="Arial" charset="0"/>
              </a:rPr>
              <a:t>Pericline</a:t>
            </a:r>
          </a:p>
        </p:txBody>
      </p:sp>
      <p:sp>
        <p:nvSpPr>
          <p:cNvPr id="227340" name="Text Box 12"/>
          <p:cNvSpPr txBox="1">
            <a:spLocks noChangeArrowheads="1"/>
          </p:cNvSpPr>
          <p:nvPr/>
        </p:nvSpPr>
        <p:spPr bwMode="auto">
          <a:xfrm>
            <a:off x="2593975" y="5019675"/>
            <a:ext cx="1838325"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GB" altLang="en-US" sz="1400">
                <a:solidFill>
                  <a:srgbClr val="FFFF00"/>
                </a:solidFill>
                <a:effectLst>
                  <a:outerShdw blurRad="38100" dist="38100" dir="2700000" algn="tl">
                    <a:srgbClr val="000000"/>
                  </a:outerShdw>
                </a:effectLst>
                <a:latin typeface="Arial" charset="0"/>
              </a:rPr>
              <a:t>Bifurcating hinges</a:t>
            </a:r>
          </a:p>
        </p:txBody>
      </p:sp>
      <p:sp>
        <p:nvSpPr>
          <p:cNvPr id="227341" name="Text Box 13"/>
          <p:cNvSpPr txBox="1">
            <a:spLocks noChangeArrowheads="1"/>
          </p:cNvSpPr>
          <p:nvPr/>
        </p:nvSpPr>
        <p:spPr bwMode="auto">
          <a:xfrm>
            <a:off x="5875338" y="5451475"/>
            <a:ext cx="2814637" cy="11264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20000"/>
              </a:lnSpc>
              <a:spcBef>
                <a:spcPct val="50000"/>
              </a:spcBef>
            </a:pPr>
            <a:r>
              <a:rPr lang="en-GB" altLang="en-US" sz="1400" dirty="0" err="1">
                <a:solidFill>
                  <a:srgbClr val="FFFF00"/>
                </a:solidFill>
                <a:effectLst>
                  <a:outerShdw blurRad="38100" dist="38100" dir="2700000" algn="tl">
                    <a:srgbClr val="000000"/>
                  </a:outerShdw>
                </a:effectLst>
                <a:latin typeface="Arial" charset="0"/>
              </a:rPr>
              <a:t>En</a:t>
            </a:r>
            <a:r>
              <a:rPr lang="en-GB" altLang="en-US" sz="1400" dirty="0">
                <a:solidFill>
                  <a:srgbClr val="FFFF00"/>
                </a:solidFill>
                <a:effectLst>
                  <a:outerShdw blurRad="38100" dist="38100" dir="2700000" algn="tl">
                    <a:srgbClr val="000000"/>
                  </a:outerShdw>
                </a:effectLst>
                <a:latin typeface="Arial" charset="0"/>
              </a:rPr>
              <a:t> </a:t>
            </a:r>
            <a:r>
              <a:rPr lang="en-GB" altLang="en-US" sz="1400" dirty="0" err="1">
                <a:solidFill>
                  <a:srgbClr val="FFFF00"/>
                </a:solidFill>
                <a:effectLst>
                  <a:outerShdw blurRad="38100" dist="38100" dir="2700000" algn="tl">
                    <a:srgbClr val="000000"/>
                  </a:outerShdw>
                </a:effectLst>
                <a:latin typeface="Arial" charset="0"/>
              </a:rPr>
              <a:t>échelon</a:t>
            </a:r>
            <a:r>
              <a:rPr lang="en-GB" altLang="en-US" sz="1400" dirty="0">
                <a:solidFill>
                  <a:srgbClr val="FFFF00"/>
                </a:solidFill>
                <a:effectLst>
                  <a:outerShdw blurRad="38100" dist="38100" dir="2700000" algn="tl">
                    <a:srgbClr val="000000"/>
                  </a:outerShdw>
                </a:effectLst>
                <a:latin typeface="Arial" charset="0"/>
              </a:rPr>
              <a:t> periclines closer than </a:t>
            </a:r>
            <a:r>
              <a:rPr lang="en-GB" altLang="en-US" sz="1400" spc="300" dirty="0">
                <a:solidFill>
                  <a:srgbClr val="FFFF00"/>
                </a:solidFill>
                <a:effectLst>
                  <a:outerShdw blurRad="38100" dist="38100" dir="2700000" algn="tl">
                    <a:srgbClr val="000000"/>
                  </a:outerShdw>
                </a:effectLst>
                <a:latin typeface="Arial" charset="0"/>
              </a:rPr>
              <a:t>~</a:t>
            </a:r>
            <a:r>
              <a:rPr lang="en-GB" altLang="en-US" sz="1400" dirty="0">
                <a:solidFill>
                  <a:srgbClr val="FFFF00"/>
                </a:solidFill>
                <a:effectLst>
                  <a:outerShdw blurRad="38100" dist="38100" dir="2700000" algn="tl">
                    <a:srgbClr val="000000"/>
                  </a:outerShdw>
                </a:effectLst>
                <a:latin typeface="Arial" charset="0"/>
              </a:rPr>
              <a:t>half a wavelength may link or, if separated by more than this, may overlap and lock each other up</a:t>
            </a:r>
          </a:p>
        </p:txBody>
      </p:sp>
    </p:spTree>
  </p:cSld>
  <p:clrMapOvr>
    <a:masterClrMapping/>
  </p:clrMapOvr>
  <p:transition spd="slow"/>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8354" name="Rectangle 2"/>
          <p:cNvSpPr>
            <a:spLocks noGrp="1" noChangeArrowheads="1"/>
          </p:cNvSpPr>
          <p:nvPr>
            <p:ph type="title"/>
          </p:nvPr>
        </p:nvSpPr>
        <p:spPr>
          <a:noFill/>
        </p:spPr>
        <p:txBody>
          <a:bodyPr/>
          <a:lstStyle/>
          <a:p>
            <a:r>
              <a:rPr lang="en-GB" altLang="en-US">
                <a:effectLst/>
              </a:rPr>
              <a:t>Sheath folds</a:t>
            </a:r>
          </a:p>
        </p:txBody>
      </p:sp>
      <p:sp>
        <p:nvSpPr>
          <p:cNvPr id="228355" name="Rectangle 3"/>
          <p:cNvSpPr>
            <a:spLocks noGrp="1" noChangeArrowheads="1"/>
          </p:cNvSpPr>
          <p:nvPr>
            <p:ph type="body" sz="half" idx="1"/>
          </p:nvPr>
        </p:nvSpPr>
        <p:spPr>
          <a:xfrm>
            <a:off x="123825" y="782638"/>
            <a:ext cx="5072063" cy="3022600"/>
          </a:xfrm>
          <a:noFill/>
        </p:spPr>
        <p:txBody>
          <a:bodyPr/>
          <a:lstStyle/>
          <a:p>
            <a:pPr marL="182563" indent="-182563">
              <a:spcBef>
                <a:spcPct val="75000"/>
              </a:spcBef>
            </a:pPr>
            <a:r>
              <a:rPr lang="en-GB" altLang="en-US" sz="1700">
                <a:effectLst/>
              </a:rPr>
              <a:t>Folds with </a:t>
            </a:r>
            <a:r>
              <a:rPr lang="en-GB" altLang="en-US" sz="1700">
                <a:solidFill>
                  <a:srgbClr val="FF66CC"/>
                </a:solidFill>
                <a:effectLst/>
              </a:rPr>
              <a:t>hinge lines that curve</a:t>
            </a:r>
            <a:r>
              <a:rPr lang="en-GB" altLang="en-US" sz="1700">
                <a:effectLst/>
              </a:rPr>
              <a:t> through more than 90° within the axial surface are described as </a:t>
            </a:r>
            <a:r>
              <a:rPr lang="en-GB" altLang="en-US" sz="1700">
                <a:solidFill>
                  <a:srgbClr val="FF6600"/>
                </a:solidFill>
                <a:effectLst/>
              </a:rPr>
              <a:t>sheath folds</a:t>
            </a:r>
            <a:endParaRPr lang="en-GB" altLang="en-US" sz="1700">
              <a:effectLst/>
            </a:endParaRPr>
          </a:p>
          <a:p>
            <a:pPr marL="182563" indent="-182563">
              <a:spcBef>
                <a:spcPct val="75000"/>
              </a:spcBef>
            </a:pPr>
            <a:r>
              <a:rPr lang="en-GB" altLang="en-US" sz="1700">
                <a:effectLst/>
              </a:rPr>
              <a:t>They are commonly associated with a strong </a:t>
            </a:r>
            <a:r>
              <a:rPr lang="en-GB" altLang="en-US" sz="1700">
                <a:solidFill>
                  <a:srgbClr val="FF66CC"/>
                </a:solidFill>
                <a:effectLst/>
              </a:rPr>
              <a:t>stretching lineation</a:t>
            </a:r>
          </a:p>
          <a:p>
            <a:pPr marL="182563" indent="-182563">
              <a:spcBef>
                <a:spcPct val="75000"/>
              </a:spcBef>
            </a:pPr>
            <a:r>
              <a:rPr lang="en-GB" altLang="en-US" sz="1700">
                <a:effectLst/>
              </a:rPr>
              <a:t>Sheath folds form by </a:t>
            </a:r>
            <a:r>
              <a:rPr lang="en-GB" altLang="en-US" sz="1700">
                <a:solidFill>
                  <a:srgbClr val="FF66CC"/>
                </a:solidFill>
                <a:effectLst/>
              </a:rPr>
              <a:t>passive amplification</a:t>
            </a:r>
            <a:r>
              <a:rPr lang="en-GB" altLang="en-US" sz="1700">
                <a:effectLst/>
              </a:rPr>
              <a:t> of some initial irregularity within a layer that is subject to layer-parallel shear</a:t>
            </a:r>
          </a:p>
        </p:txBody>
      </p:sp>
      <p:pic>
        <p:nvPicPr>
          <p:cNvPr id="228356" name="Picture 4" descr="12"/>
          <p:cNvPicPr>
            <a:picLocks noGrp="1" noChangeAspect="1" noChangeArrowheads="1"/>
          </p:cNvPicPr>
          <p:nvPr>
            <p:ph sz="quarter" idx="2"/>
          </p:nvPr>
        </p:nvPicPr>
        <p:blipFill>
          <a:blip r:embed="rId3">
            <a:extLst>
              <a:ext uri="{28A0092B-C50C-407E-A947-70E740481C1C}">
                <a14:useLocalDpi xmlns:a14="http://schemas.microsoft.com/office/drawing/2010/main" val="0"/>
              </a:ext>
            </a:extLst>
          </a:blip>
          <a:srcRect/>
          <a:stretch>
            <a:fillRect/>
          </a:stretch>
        </p:blipFill>
        <p:spPr>
          <a:xfrm>
            <a:off x="5475288" y="917575"/>
            <a:ext cx="3448050" cy="2787650"/>
          </a:xfr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228358" name="Text Box 6"/>
          <p:cNvSpPr txBox="1">
            <a:spLocks noChangeArrowheads="1"/>
          </p:cNvSpPr>
          <p:nvPr/>
        </p:nvSpPr>
        <p:spPr bwMode="auto">
          <a:xfrm>
            <a:off x="115888" y="3878263"/>
            <a:ext cx="1941512" cy="1647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77800" indent="-177800">
              <a:defRPr sz="1600">
                <a:solidFill>
                  <a:schemeClr val="tx1"/>
                </a:solidFill>
                <a:latin typeface="Helvetica" charset="0"/>
              </a:defRPr>
            </a:lvl1pPr>
            <a:lvl2pPr>
              <a:defRPr sz="1600">
                <a:solidFill>
                  <a:schemeClr val="tx1"/>
                </a:solidFill>
                <a:latin typeface="Helvetica" charset="0"/>
              </a:defRPr>
            </a:lvl2pPr>
            <a:lvl3pPr>
              <a:defRPr sz="1600">
                <a:solidFill>
                  <a:schemeClr val="tx1"/>
                </a:solidFill>
                <a:latin typeface="Helvetica" charset="0"/>
              </a:defRPr>
            </a:lvl3pPr>
            <a:lvl4pPr>
              <a:defRPr sz="1600">
                <a:solidFill>
                  <a:schemeClr val="tx1"/>
                </a:solidFill>
                <a:latin typeface="Helvetica" charset="0"/>
              </a:defRPr>
            </a:lvl4pPr>
            <a:lvl5pPr>
              <a:defRPr sz="1600">
                <a:solidFill>
                  <a:schemeClr val="tx1"/>
                </a:solidFill>
                <a:latin typeface="Helvetica" charset="0"/>
              </a:defRPr>
            </a:lvl5pPr>
            <a:lvl6pPr eaLnBrk="0" fontAlgn="base" hangingPunct="0">
              <a:spcBef>
                <a:spcPct val="20000"/>
              </a:spcBef>
              <a:spcAft>
                <a:spcPct val="0"/>
              </a:spcAft>
              <a:buClr>
                <a:schemeClr val="accent2"/>
              </a:buClr>
              <a:defRPr sz="1600">
                <a:solidFill>
                  <a:schemeClr val="tx1"/>
                </a:solidFill>
                <a:latin typeface="Helvetica" charset="0"/>
              </a:defRPr>
            </a:lvl6pPr>
            <a:lvl7pPr eaLnBrk="0" fontAlgn="base" hangingPunct="0">
              <a:spcBef>
                <a:spcPct val="20000"/>
              </a:spcBef>
              <a:spcAft>
                <a:spcPct val="0"/>
              </a:spcAft>
              <a:buClr>
                <a:schemeClr val="accent2"/>
              </a:buClr>
              <a:defRPr sz="1600">
                <a:solidFill>
                  <a:schemeClr val="tx1"/>
                </a:solidFill>
                <a:latin typeface="Helvetica" charset="0"/>
              </a:defRPr>
            </a:lvl7pPr>
            <a:lvl8pPr eaLnBrk="0" fontAlgn="base" hangingPunct="0">
              <a:spcBef>
                <a:spcPct val="20000"/>
              </a:spcBef>
              <a:spcAft>
                <a:spcPct val="0"/>
              </a:spcAft>
              <a:buClr>
                <a:schemeClr val="accent2"/>
              </a:buClr>
              <a:defRPr sz="1600">
                <a:solidFill>
                  <a:schemeClr val="tx1"/>
                </a:solidFill>
                <a:latin typeface="Helvetica" charset="0"/>
              </a:defRPr>
            </a:lvl8pPr>
            <a:lvl9pPr eaLnBrk="0" fontAlgn="base" hangingPunct="0">
              <a:spcBef>
                <a:spcPct val="20000"/>
              </a:spcBef>
              <a:spcAft>
                <a:spcPct val="0"/>
              </a:spcAft>
              <a:buClr>
                <a:schemeClr val="accent2"/>
              </a:buClr>
              <a:defRPr sz="1600">
                <a:solidFill>
                  <a:schemeClr val="tx1"/>
                </a:solidFill>
                <a:latin typeface="Helvetica" charset="0"/>
              </a:defRPr>
            </a:lvl9pPr>
          </a:lstStyle>
          <a:p>
            <a:pPr>
              <a:lnSpc>
                <a:spcPct val="120000"/>
              </a:lnSpc>
              <a:spcBef>
                <a:spcPct val="100000"/>
              </a:spcBef>
              <a:buClr>
                <a:schemeClr val="folHlink"/>
              </a:buClr>
              <a:buSzPct val="100000"/>
              <a:buFont typeface="Times"/>
              <a:buChar char="•"/>
            </a:pPr>
            <a:r>
              <a:rPr lang="en-GB" altLang="en-US" sz="1700">
                <a:effectLst/>
                <a:latin typeface="Arial" charset="0"/>
              </a:rPr>
              <a:t>They are a feature of </a:t>
            </a:r>
            <a:r>
              <a:rPr lang="en-GB" altLang="en-US" sz="1700">
                <a:solidFill>
                  <a:srgbClr val="FF66CC"/>
                </a:solidFill>
                <a:effectLst/>
                <a:latin typeface="Arial" charset="0"/>
              </a:rPr>
              <a:t>shear zones</a:t>
            </a:r>
            <a:r>
              <a:rPr lang="en-GB" altLang="en-US" sz="1700">
                <a:effectLst/>
                <a:latin typeface="Arial" charset="0"/>
              </a:rPr>
              <a:t> and so we will return to them in Class 4</a:t>
            </a:r>
            <a:endParaRPr lang="en-GB" altLang="en-US" sz="1700">
              <a:effectLst>
                <a:outerShdw blurRad="38100" dist="38100" dir="2700000" algn="tl">
                  <a:srgbClr val="000000"/>
                </a:outerShdw>
              </a:effectLst>
              <a:latin typeface="Arial" charset="0"/>
            </a:endParaRPr>
          </a:p>
        </p:txBody>
      </p:sp>
      <p:pic>
        <p:nvPicPr>
          <p:cNvPr id="228359" name="Picture 7" descr="Sheath_fold_Cadaques"/>
          <p:cNvPicPr>
            <a:picLocks noGrp="1" noChangeAspect="1" noChangeArrowheads="1"/>
          </p:cNvPicPr>
          <p:nvPr>
            <p:ph sz="quarter" idx="3"/>
          </p:nvPr>
        </p:nvPicPr>
        <p:blipFill>
          <a:blip r:embed="rId4">
            <a:extLst>
              <a:ext uri="{28A0092B-C50C-407E-A947-70E740481C1C}">
                <a14:useLocalDpi xmlns:a14="http://schemas.microsoft.com/office/drawing/2010/main" val="0"/>
              </a:ext>
            </a:extLst>
          </a:blip>
          <a:srcRect/>
          <a:stretch>
            <a:fillRect/>
          </a:stretch>
        </p:blipFill>
        <p:spPr>
          <a:xfrm>
            <a:off x="2401888" y="3938588"/>
            <a:ext cx="4262437" cy="2751137"/>
          </a:xfrm>
          <a:noFill/>
          <a:ln w="38100">
            <a:solidFill>
              <a:schemeClr val="bg2"/>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228363" name="Picture 11" descr="12c-Spain"/>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965950" y="3938588"/>
            <a:ext cx="1955800" cy="2733675"/>
          </a:xfrm>
          <a:prstGeom prst="rect">
            <a:avLst/>
          </a:prstGeom>
          <a:noFill/>
          <a:ln w="38100">
            <a:solidFill>
              <a:schemeClr val="bg2"/>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p:transition spd="slow"/>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0402" name="Rectangle 2"/>
          <p:cNvSpPr>
            <a:spLocks noGrp="1" noChangeArrowheads="1"/>
          </p:cNvSpPr>
          <p:nvPr>
            <p:ph type="title"/>
          </p:nvPr>
        </p:nvSpPr>
        <p:spPr>
          <a:noFill/>
        </p:spPr>
        <p:txBody>
          <a:bodyPr/>
          <a:lstStyle/>
          <a:p>
            <a:r>
              <a:rPr lang="en-GB" altLang="en-US">
                <a:effectLst/>
              </a:rPr>
              <a:t>Soft sedimentary folds</a:t>
            </a:r>
          </a:p>
        </p:txBody>
      </p:sp>
      <p:sp>
        <p:nvSpPr>
          <p:cNvPr id="230403" name="Rectangle 3"/>
          <p:cNvSpPr>
            <a:spLocks noGrp="1" noChangeArrowheads="1"/>
          </p:cNvSpPr>
          <p:nvPr>
            <p:ph type="body" sz="half" idx="1"/>
          </p:nvPr>
        </p:nvSpPr>
        <p:spPr>
          <a:xfrm>
            <a:off x="114300" y="838200"/>
            <a:ext cx="2671763" cy="4186238"/>
          </a:xfrm>
          <a:noFill/>
        </p:spPr>
        <p:txBody>
          <a:bodyPr/>
          <a:lstStyle/>
          <a:p>
            <a:pPr marL="177800" indent="-177800"/>
            <a:r>
              <a:rPr lang="en-GB" altLang="en-US" sz="1700" dirty="0">
                <a:solidFill>
                  <a:srgbClr val="FF66CC"/>
                </a:solidFill>
                <a:effectLst/>
              </a:rPr>
              <a:t>Soft sediment deformation</a:t>
            </a:r>
            <a:r>
              <a:rPr lang="en-GB" altLang="en-US" sz="1700" dirty="0">
                <a:effectLst/>
              </a:rPr>
              <a:t> generally produces highly non-cylindrical folds because unlithified and water-saturated sediment is weak enough for it to respond to </a:t>
            </a:r>
            <a:r>
              <a:rPr lang="en-GB" altLang="en-US" sz="1700" dirty="0">
                <a:solidFill>
                  <a:srgbClr val="FF66CC"/>
                </a:solidFill>
                <a:effectLst/>
              </a:rPr>
              <a:t>small changes in the direction of the forces driving the deformation</a:t>
            </a:r>
            <a:r>
              <a:rPr lang="en-GB" altLang="en-US" sz="1700" dirty="0">
                <a:effectLst/>
              </a:rPr>
              <a:t> (</a:t>
            </a:r>
            <a:r>
              <a:rPr lang="en-GB" altLang="en-US" sz="1700" i="1" dirty="0">
                <a:effectLst/>
              </a:rPr>
              <a:t>e.g</a:t>
            </a:r>
            <a:r>
              <a:rPr lang="en-GB" altLang="en-US" sz="1700" dirty="0">
                <a:effectLst/>
              </a:rPr>
              <a:t>., as it encounters obstacles to its motion)</a:t>
            </a:r>
          </a:p>
        </p:txBody>
      </p:sp>
      <p:sp>
        <p:nvSpPr>
          <p:cNvPr id="230411" name="Text Box 11"/>
          <p:cNvSpPr txBox="1">
            <a:spLocks noChangeArrowheads="1"/>
          </p:cNvSpPr>
          <p:nvPr/>
        </p:nvSpPr>
        <p:spPr bwMode="auto">
          <a:xfrm>
            <a:off x="2201863" y="5573713"/>
            <a:ext cx="1982787" cy="1114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20000"/>
              </a:lnSpc>
              <a:spcBef>
                <a:spcPct val="50000"/>
              </a:spcBef>
            </a:pPr>
            <a:r>
              <a:rPr lang="en-GB" altLang="en-US" sz="1400">
                <a:solidFill>
                  <a:srgbClr val="FFFF00"/>
                </a:solidFill>
                <a:effectLst>
                  <a:outerShdw blurRad="38100" dist="38100" dir="2700000" algn="tl">
                    <a:srgbClr val="000000"/>
                  </a:outerShdw>
                </a:effectLst>
                <a:latin typeface="Arial" charset="0"/>
              </a:rPr>
              <a:t>Convolute slump folds (above); ice drag folds in glacial deposits (below)</a:t>
            </a:r>
          </a:p>
        </p:txBody>
      </p:sp>
      <p:pic>
        <p:nvPicPr>
          <p:cNvPr id="230412" name="Picture 12" descr="13a-Rhoscolyn"/>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00388" y="919163"/>
            <a:ext cx="5888037" cy="3541712"/>
          </a:xfrm>
          <a:prstGeom prst="rect">
            <a:avLst/>
          </a:prstGeo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Lst>
        </p:spPr>
      </p:pic>
      <p:pic>
        <p:nvPicPr>
          <p:cNvPr id="230413" name="Picture 13" descr="13b-CromerTill"/>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314825" y="4632325"/>
            <a:ext cx="4419600" cy="2090738"/>
          </a:xfrm>
          <a:prstGeom prst="rect">
            <a:avLst/>
          </a:prstGeo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p:transition spd="slow"/>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1426" name="Rectangle 2"/>
          <p:cNvSpPr>
            <a:spLocks noGrp="1" noChangeArrowheads="1"/>
          </p:cNvSpPr>
          <p:nvPr>
            <p:ph type="title"/>
          </p:nvPr>
        </p:nvSpPr>
        <p:spPr>
          <a:noFill/>
        </p:spPr>
        <p:txBody>
          <a:bodyPr/>
          <a:lstStyle/>
          <a:p>
            <a:r>
              <a:rPr lang="en-GB" altLang="en-US">
                <a:effectLst/>
              </a:rPr>
              <a:t>Refolded folds</a:t>
            </a:r>
          </a:p>
        </p:txBody>
      </p:sp>
      <p:sp>
        <p:nvSpPr>
          <p:cNvPr id="231427" name="Rectangle 3"/>
          <p:cNvSpPr>
            <a:spLocks noGrp="1" noChangeArrowheads="1"/>
          </p:cNvSpPr>
          <p:nvPr>
            <p:ph type="body" sz="half" idx="1"/>
          </p:nvPr>
        </p:nvSpPr>
        <p:spPr>
          <a:xfrm>
            <a:off x="134938" y="766763"/>
            <a:ext cx="4411662" cy="1374553"/>
          </a:xfrm>
          <a:noFill/>
        </p:spPr>
        <p:txBody>
          <a:bodyPr/>
          <a:lstStyle/>
          <a:p>
            <a:pPr marL="177800" indent="-177800">
              <a:spcBef>
                <a:spcPct val="50000"/>
              </a:spcBef>
            </a:pPr>
            <a:r>
              <a:rPr lang="en-GB" altLang="en-US" sz="1700" dirty="0">
                <a:effectLst/>
              </a:rPr>
              <a:t>Folds generated by </a:t>
            </a:r>
            <a:r>
              <a:rPr lang="en-GB" altLang="en-US" sz="1700" dirty="0">
                <a:solidFill>
                  <a:srgbClr val="FF66CC"/>
                </a:solidFill>
                <a:effectLst/>
              </a:rPr>
              <a:t>two (or more) phases of deformation</a:t>
            </a:r>
            <a:r>
              <a:rPr lang="en-GB" altLang="en-US" sz="1700" dirty="0">
                <a:effectLst/>
              </a:rPr>
              <a:t> are non-cylindrical except for the special case where the folding events are coaxial and coplanar</a:t>
            </a:r>
          </a:p>
        </p:txBody>
      </p:sp>
      <p:pic>
        <p:nvPicPr>
          <p:cNvPr id="231443" name="Picture 19" descr="01c-refold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4625" y="2428875"/>
            <a:ext cx="4352925" cy="3074988"/>
          </a:xfrm>
          <a:prstGeom prst="rect">
            <a:avLst/>
          </a:prstGeo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Lst>
        </p:spPr>
      </p:pic>
      <p:sp>
        <p:nvSpPr>
          <p:cNvPr id="231448" name="Text Box 24"/>
          <p:cNvSpPr txBox="1">
            <a:spLocks noChangeArrowheads="1"/>
          </p:cNvSpPr>
          <p:nvPr/>
        </p:nvSpPr>
        <p:spPr bwMode="auto">
          <a:xfrm>
            <a:off x="1525588" y="5967413"/>
            <a:ext cx="1357312"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GB" altLang="en-US" sz="1400">
                <a:solidFill>
                  <a:srgbClr val="FFFF00"/>
                </a:solidFill>
                <a:effectLst>
                  <a:outerShdw blurRad="38100" dist="38100" dir="2700000" algn="tl">
                    <a:srgbClr val="000000"/>
                  </a:outerShdw>
                </a:effectLst>
                <a:latin typeface="Arial" charset="0"/>
              </a:rPr>
              <a:t>Refolded folds</a:t>
            </a:r>
          </a:p>
        </p:txBody>
      </p:sp>
      <p:pic>
        <p:nvPicPr>
          <p:cNvPr id="231449" name="Picture 25" descr="14a1-NHG"/>
          <p:cNvPicPr>
            <a:picLocks noChangeAspect="1" noChangeArrowheads="1"/>
          </p:cNvPicPr>
          <p:nvPr/>
        </p:nvPicPr>
        <p:blipFill>
          <a:blip r:embed="rId4">
            <a:lum bright="4000"/>
            <a:extLst>
              <a:ext uri="{28A0092B-C50C-407E-A947-70E740481C1C}">
                <a14:useLocalDpi xmlns:a14="http://schemas.microsoft.com/office/drawing/2010/main" val="0"/>
              </a:ext>
            </a:extLst>
          </a:blip>
          <a:srcRect/>
          <a:stretch>
            <a:fillRect/>
          </a:stretch>
        </p:blipFill>
        <p:spPr bwMode="auto">
          <a:xfrm>
            <a:off x="4725988" y="904875"/>
            <a:ext cx="4276725" cy="2536825"/>
          </a:xfrm>
          <a:prstGeom prst="rect">
            <a:avLst/>
          </a:prstGeo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Lst>
        </p:spPr>
      </p:pic>
      <p:pic>
        <p:nvPicPr>
          <p:cNvPr id="231450" name="Picture 26" descr="14a3-Mull"/>
          <p:cNvPicPr>
            <a:picLocks noChangeAspect="1" noChangeArrowheads="1"/>
          </p:cNvPicPr>
          <p:nvPr/>
        </p:nvPicPr>
        <p:blipFill>
          <a:blip r:embed="rId5">
            <a:lum bright="8000"/>
            <a:extLst>
              <a:ext uri="{28A0092B-C50C-407E-A947-70E740481C1C}">
                <a14:useLocalDpi xmlns:a14="http://schemas.microsoft.com/office/drawing/2010/main" val="0"/>
              </a:ext>
            </a:extLst>
          </a:blip>
          <a:srcRect/>
          <a:stretch>
            <a:fillRect/>
          </a:stretch>
        </p:blipFill>
        <p:spPr bwMode="auto">
          <a:xfrm>
            <a:off x="4741863" y="3635375"/>
            <a:ext cx="4256087" cy="3011488"/>
          </a:xfrm>
          <a:prstGeom prst="rect">
            <a:avLst/>
          </a:prstGeo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p:transition spd="slow"/>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5330" name="Rectangle 2"/>
          <p:cNvSpPr>
            <a:spLocks noGrp="1" noChangeArrowheads="1"/>
          </p:cNvSpPr>
          <p:nvPr>
            <p:ph type="title"/>
          </p:nvPr>
        </p:nvSpPr>
        <p:spPr>
          <a:noFill/>
        </p:spPr>
        <p:txBody>
          <a:bodyPr/>
          <a:lstStyle/>
          <a:p>
            <a:r>
              <a:rPr lang="en-GB" altLang="en-US">
                <a:effectLst/>
              </a:rPr>
              <a:t>Refolded folds (fold interference patterns)</a:t>
            </a:r>
          </a:p>
        </p:txBody>
      </p:sp>
      <p:sp>
        <p:nvSpPr>
          <p:cNvPr id="355331" name="Rectangle 3"/>
          <p:cNvSpPr>
            <a:spLocks noGrp="1" noChangeArrowheads="1"/>
          </p:cNvSpPr>
          <p:nvPr>
            <p:ph type="body" sz="half" idx="1"/>
          </p:nvPr>
        </p:nvSpPr>
        <p:spPr>
          <a:xfrm>
            <a:off x="141288" y="760413"/>
            <a:ext cx="4913312" cy="2730500"/>
          </a:xfrm>
          <a:noFill/>
        </p:spPr>
        <p:txBody>
          <a:bodyPr/>
          <a:lstStyle/>
          <a:p>
            <a:pPr marL="177800" indent="-177800">
              <a:spcBef>
                <a:spcPct val="50000"/>
              </a:spcBef>
            </a:pPr>
            <a:r>
              <a:rPr lang="en-GB" altLang="en-US" sz="1700" dirty="0">
                <a:effectLst/>
              </a:rPr>
              <a:t>The outcrop patterns of refolded folds have been classified into </a:t>
            </a:r>
            <a:r>
              <a:rPr lang="en-GB" altLang="en-US" sz="1700" dirty="0">
                <a:solidFill>
                  <a:srgbClr val="FF66CC"/>
                </a:solidFill>
                <a:effectLst/>
              </a:rPr>
              <a:t>four basic fold interference patterns</a:t>
            </a:r>
            <a:r>
              <a:rPr lang="en-GB" altLang="en-US" sz="1700" dirty="0">
                <a:effectLst/>
              </a:rPr>
              <a:t> according to the orientation of the fold axes and the axial planes of the two phases of folding relative to each other</a:t>
            </a:r>
          </a:p>
          <a:p>
            <a:pPr marL="177800" indent="-177800">
              <a:spcBef>
                <a:spcPct val="50000"/>
              </a:spcBef>
            </a:pPr>
            <a:r>
              <a:rPr lang="en-GB" altLang="en-US" sz="1700" dirty="0">
                <a:solidFill>
                  <a:srgbClr val="FF6600"/>
                </a:solidFill>
                <a:effectLst/>
              </a:rPr>
              <a:t>Type 0</a:t>
            </a:r>
            <a:r>
              <a:rPr lang="en-GB" altLang="en-US" sz="1700" dirty="0">
                <a:effectLst/>
              </a:rPr>
              <a:t> is the </a:t>
            </a:r>
            <a:r>
              <a:rPr lang="en-GB" altLang="en-US" sz="1700" dirty="0">
                <a:solidFill>
                  <a:srgbClr val="FF66CC"/>
                </a:solidFill>
                <a:effectLst/>
              </a:rPr>
              <a:t>coaxial and coplanar case</a:t>
            </a:r>
            <a:r>
              <a:rPr lang="en-GB" altLang="en-US" sz="1700" dirty="0">
                <a:effectLst/>
              </a:rPr>
              <a:t> – the 2</a:t>
            </a:r>
            <a:r>
              <a:rPr lang="en-GB" altLang="en-US" sz="1700" baseline="30000" dirty="0">
                <a:effectLst/>
              </a:rPr>
              <a:t>nd</a:t>
            </a:r>
            <a:r>
              <a:rPr lang="en-GB" altLang="en-US" sz="1700" dirty="0">
                <a:effectLst/>
              </a:rPr>
              <a:t> phase of folding merely intensifies the 1</a:t>
            </a:r>
            <a:r>
              <a:rPr lang="en-GB" altLang="en-US" sz="1700" baseline="30000" dirty="0">
                <a:effectLst/>
              </a:rPr>
              <a:t>st</a:t>
            </a:r>
            <a:r>
              <a:rPr lang="en-GB" altLang="en-US" sz="1700" dirty="0">
                <a:effectLst/>
              </a:rPr>
              <a:t> fold structure</a:t>
            </a:r>
          </a:p>
        </p:txBody>
      </p:sp>
      <p:pic>
        <p:nvPicPr>
          <p:cNvPr id="355332" name="Picture 4"/>
          <p:cNvPicPr>
            <a:picLocks noGrp="1" noChangeAspect="1" noChangeArrowheads="1"/>
          </p:cNvPicPr>
          <p:nvPr>
            <p:ph sz="quarter" idx="2"/>
          </p:nvPr>
        </p:nvPicPr>
        <p:blipFill>
          <a:blip r:embed="rId3">
            <a:extLst>
              <a:ext uri="{28A0092B-C50C-407E-A947-70E740481C1C}">
                <a14:useLocalDpi xmlns:a14="http://schemas.microsoft.com/office/drawing/2010/main" val="0"/>
              </a:ext>
            </a:extLst>
          </a:blip>
          <a:srcRect/>
          <a:stretch>
            <a:fillRect/>
          </a:stretch>
        </p:blipFill>
        <p:spPr>
          <a:xfrm>
            <a:off x="5480050" y="904875"/>
            <a:ext cx="3328988" cy="2181225"/>
          </a:xfrm>
          <a:noFill/>
          <a:ln w="38100" cap="flat">
            <a:solidFill>
              <a:schemeClr val="bg2"/>
            </a:solidFill>
            <a:miter lim="800000"/>
            <a:headEnd/>
            <a:tailEnd/>
          </a:ln>
        </p:spPr>
      </p:pic>
      <p:pic>
        <p:nvPicPr>
          <p:cNvPr id="355335" name="Picture 7"/>
          <p:cNvPicPr>
            <a:picLocks noGrp="1" noChangeAspect="1" noChangeArrowheads="1"/>
          </p:cNvPicPr>
          <p:nvPr>
            <p:ph sz="quarter" idx="3"/>
          </p:nvPr>
        </p:nvPicPr>
        <p:blipFill>
          <a:blip r:embed="rId4" cstate="print">
            <a:extLst>
              <a:ext uri="{28A0092B-C50C-407E-A947-70E740481C1C}">
                <a14:useLocalDpi xmlns:a14="http://schemas.microsoft.com/office/drawing/2010/main" val="0"/>
              </a:ext>
            </a:extLst>
          </a:blip>
          <a:srcRect r="10274"/>
          <a:stretch>
            <a:fillRect/>
          </a:stretch>
        </p:blipFill>
        <p:spPr>
          <a:xfrm>
            <a:off x="5481638" y="3292475"/>
            <a:ext cx="3327400" cy="3294063"/>
          </a:xfrm>
          <a:noFill/>
          <a:ln w="38100" cap="flat">
            <a:solidFill>
              <a:schemeClr val="bg2"/>
            </a:solidFill>
            <a:miter lim="800000"/>
            <a:headEnd/>
            <a:tailEnd/>
          </a:ln>
        </p:spPr>
      </p:pic>
      <p:pic>
        <p:nvPicPr>
          <p:cNvPr id="355336" name="Picture 8" descr="Paper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57213" y="3700463"/>
            <a:ext cx="4146550" cy="2571750"/>
          </a:xfrm>
          <a:prstGeom prst="rect">
            <a:avLst/>
          </a:prstGeo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Lst>
        </p:spPr>
      </p:pic>
      <p:sp>
        <p:nvSpPr>
          <p:cNvPr id="355337" name="Text Box 9"/>
          <p:cNvSpPr txBox="1">
            <a:spLocks noChangeArrowheads="1"/>
          </p:cNvSpPr>
          <p:nvPr/>
        </p:nvSpPr>
        <p:spPr bwMode="auto">
          <a:xfrm>
            <a:off x="503238" y="6373813"/>
            <a:ext cx="42799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GB" altLang="en-US" sz="1400">
                <a:solidFill>
                  <a:srgbClr val="FFFF00"/>
                </a:solidFill>
                <a:effectLst>
                  <a:outerShdw blurRad="38100" dist="38100" dir="2700000" algn="tl">
                    <a:srgbClr val="000000"/>
                  </a:outerShdw>
                </a:effectLst>
                <a:latin typeface="Arial" charset="0"/>
              </a:rPr>
              <a:t>Visualization requires considerable mental dexterity</a:t>
            </a:r>
          </a:p>
        </p:txBody>
      </p:sp>
    </p:spTree>
  </p:cSld>
  <p:clrMapOvr>
    <a:masterClrMapping/>
  </p:clrMapOvr>
  <p:transition spd="slow"/>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9730" name="Rectangle 2"/>
          <p:cNvSpPr>
            <a:spLocks noGrp="1" noChangeArrowheads="1"/>
          </p:cNvSpPr>
          <p:nvPr>
            <p:ph type="title"/>
          </p:nvPr>
        </p:nvSpPr>
        <p:spPr>
          <a:noFill/>
        </p:spPr>
        <p:txBody>
          <a:bodyPr/>
          <a:lstStyle/>
          <a:p>
            <a:r>
              <a:rPr lang="en-GB" altLang="en-US">
                <a:effectLst/>
              </a:rPr>
              <a:t>Refolded folds  (Type 1: dome and basin)</a:t>
            </a:r>
          </a:p>
        </p:txBody>
      </p:sp>
      <p:sp>
        <p:nvSpPr>
          <p:cNvPr id="329731" name="Rectangle 3"/>
          <p:cNvSpPr>
            <a:spLocks noGrp="1" noChangeArrowheads="1"/>
          </p:cNvSpPr>
          <p:nvPr>
            <p:ph type="body" sz="half" idx="1"/>
          </p:nvPr>
        </p:nvSpPr>
        <p:spPr>
          <a:xfrm>
            <a:off x="131763" y="792163"/>
            <a:ext cx="4264025" cy="1822450"/>
          </a:xfrm>
          <a:noFill/>
        </p:spPr>
        <p:txBody>
          <a:bodyPr/>
          <a:lstStyle/>
          <a:p>
            <a:pPr marL="177800" indent="-177800"/>
            <a:r>
              <a:rPr lang="en-GB" altLang="en-US" sz="1700">
                <a:effectLst/>
              </a:rPr>
              <a:t>In </a:t>
            </a:r>
            <a:r>
              <a:rPr lang="en-GB" altLang="en-US" sz="1700">
                <a:solidFill>
                  <a:srgbClr val="FF6600"/>
                </a:solidFill>
                <a:effectLst/>
              </a:rPr>
              <a:t>Type 1</a:t>
            </a:r>
            <a:r>
              <a:rPr lang="en-GB" altLang="en-US" sz="1700">
                <a:effectLst/>
              </a:rPr>
              <a:t> refolded folds, the </a:t>
            </a:r>
            <a:r>
              <a:rPr lang="en-GB" altLang="en-US" sz="1700">
                <a:solidFill>
                  <a:srgbClr val="FF66CC"/>
                </a:solidFill>
                <a:effectLst/>
              </a:rPr>
              <a:t>fold axes are at 90°</a:t>
            </a:r>
            <a:r>
              <a:rPr lang="en-GB" altLang="en-US" sz="1700">
                <a:effectLst/>
              </a:rPr>
              <a:t> to each other, </a:t>
            </a:r>
            <a:r>
              <a:rPr lang="en-GB" altLang="en-US" sz="1700">
                <a:solidFill>
                  <a:srgbClr val="FF66CC"/>
                </a:solidFill>
                <a:effectLst/>
              </a:rPr>
              <a:t>both folds are upright with axial planes that are at 90°</a:t>
            </a:r>
            <a:r>
              <a:rPr lang="en-GB" altLang="en-US" sz="1700">
                <a:effectLst/>
              </a:rPr>
              <a:t> to each other. The result is a series of domes and basins</a:t>
            </a:r>
          </a:p>
        </p:txBody>
      </p:sp>
      <p:pic>
        <p:nvPicPr>
          <p:cNvPr id="329736" name="Picture 8"/>
          <p:cNvPicPr>
            <a:picLocks noGrp="1" noChangeAspect="1" noChangeArrowheads="1"/>
          </p:cNvPicPr>
          <p:nvPr>
            <p:ph sz="quarter" idx="2"/>
          </p:nvPr>
        </p:nvPicPr>
        <p:blipFill>
          <a:blip r:embed="rId3">
            <a:extLst>
              <a:ext uri="{28A0092B-C50C-407E-A947-70E740481C1C}">
                <a14:useLocalDpi xmlns:a14="http://schemas.microsoft.com/office/drawing/2010/main" val="0"/>
              </a:ext>
            </a:extLst>
          </a:blip>
          <a:srcRect/>
          <a:stretch>
            <a:fillRect/>
          </a:stretch>
        </p:blipFill>
        <p:spPr>
          <a:xfrm>
            <a:off x="206375" y="2963863"/>
            <a:ext cx="8764588" cy="3683000"/>
          </a:xfrm>
          <a:noFill/>
          <a:ln w="38100" cap="flat">
            <a:solidFill>
              <a:schemeClr val="bg2"/>
            </a:solidFill>
            <a:miter lim="800000"/>
            <a:headEnd/>
            <a:tailEnd/>
          </a:ln>
        </p:spPr>
      </p:pic>
      <p:pic>
        <p:nvPicPr>
          <p:cNvPr id="329738" name="Picture 10"/>
          <p:cNvPicPr>
            <a:picLocks noGrp="1" noChangeAspect="1" noChangeArrowheads="1"/>
          </p:cNvPicPr>
          <p:nvPr>
            <p:ph sz="quarter" idx="3"/>
          </p:nvPr>
        </p:nvPicPr>
        <p:blipFill>
          <a:blip r:embed="rId4" cstate="print">
            <a:extLst>
              <a:ext uri="{28A0092B-C50C-407E-A947-70E740481C1C}">
                <a14:useLocalDpi xmlns:a14="http://schemas.microsoft.com/office/drawing/2010/main" val="0"/>
              </a:ext>
            </a:extLst>
          </a:blip>
          <a:srcRect l="11325" t="7959" r="64163" b="62721"/>
          <a:stretch>
            <a:fillRect/>
          </a:stretch>
        </p:blipFill>
        <p:spPr>
          <a:xfrm>
            <a:off x="6756400" y="920750"/>
            <a:ext cx="1681163" cy="1785938"/>
          </a:xfrm>
          <a:noFill/>
          <a:ln w="38100" cap="flat">
            <a:solidFill>
              <a:schemeClr val="bg2"/>
            </a:solidFill>
            <a:miter lim="800000"/>
            <a:headEnd/>
            <a:tailEnd/>
          </a:ln>
        </p:spPr>
      </p:pic>
      <p:pic>
        <p:nvPicPr>
          <p:cNvPr id="329740" name="Picture 12"/>
          <p:cNvPicPr>
            <a:picLocks noChangeAspect="1" noChangeArrowheads="1"/>
          </p:cNvPicPr>
          <p:nvPr/>
        </p:nvPicPr>
        <p:blipFill>
          <a:blip r:embed="rId5" cstate="print">
            <a:extLst>
              <a:ext uri="{28A0092B-C50C-407E-A947-70E740481C1C}">
                <a14:useLocalDpi xmlns:a14="http://schemas.microsoft.com/office/drawing/2010/main" val="0"/>
              </a:ext>
            </a:extLst>
          </a:blip>
          <a:srcRect l="13184" t="8080" r="64897" b="62782"/>
          <a:stretch>
            <a:fillRect/>
          </a:stretch>
        </p:blipFill>
        <p:spPr bwMode="auto">
          <a:xfrm>
            <a:off x="4970463" y="928688"/>
            <a:ext cx="1514475" cy="1789112"/>
          </a:xfrm>
          <a:prstGeom prst="rect">
            <a:avLst/>
          </a:prstGeom>
          <a:noFill/>
          <a:ln w="38100">
            <a:solidFill>
              <a:schemeClr val="bg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spd="slow"/>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1778" name="Rectangle 2"/>
          <p:cNvSpPr>
            <a:spLocks noGrp="1" noChangeArrowheads="1"/>
          </p:cNvSpPr>
          <p:nvPr>
            <p:ph type="title"/>
          </p:nvPr>
        </p:nvSpPr>
        <p:spPr>
          <a:noFill/>
        </p:spPr>
        <p:txBody>
          <a:bodyPr/>
          <a:lstStyle/>
          <a:p>
            <a:r>
              <a:rPr lang="en-GB" altLang="en-US" dirty="0">
                <a:effectLst/>
              </a:rPr>
              <a:t>Refolded folds  (Type 2: dom</a:t>
            </a:r>
            <a:r>
              <a:rPr lang="en-GB" altLang="en-US" spc="300" dirty="0">
                <a:effectLst/>
              </a:rPr>
              <a:t>e-</a:t>
            </a:r>
            <a:r>
              <a:rPr lang="en-GB" altLang="en-US" dirty="0">
                <a:effectLst/>
              </a:rPr>
              <a:t>crescen</a:t>
            </a:r>
            <a:r>
              <a:rPr lang="en-GB" altLang="en-US" spc="300" dirty="0">
                <a:effectLst/>
              </a:rPr>
              <a:t>t-</a:t>
            </a:r>
            <a:r>
              <a:rPr lang="en-GB" altLang="en-US" dirty="0">
                <a:effectLst/>
              </a:rPr>
              <a:t>mushroom)</a:t>
            </a:r>
          </a:p>
        </p:txBody>
      </p:sp>
      <p:sp>
        <p:nvSpPr>
          <p:cNvPr id="331779" name="Rectangle 3"/>
          <p:cNvSpPr>
            <a:spLocks noGrp="1" noChangeArrowheads="1"/>
          </p:cNvSpPr>
          <p:nvPr>
            <p:ph type="body" sz="half" idx="1"/>
          </p:nvPr>
        </p:nvSpPr>
        <p:spPr>
          <a:xfrm>
            <a:off x="130175" y="811213"/>
            <a:ext cx="4600575" cy="1797050"/>
          </a:xfrm>
          <a:noFill/>
        </p:spPr>
        <p:txBody>
          <a:bodyPr/>
          <a:lstStyle/>
          <a:p>
            <a:pPr marL="177800" indent="-177800"/>
            <a:r>
              <a:rPr lang="en-GB" altLang="en-US" sz="1700" dirty="0">
                <a:effectLst/>
              </a:rPr>
              <a:t>In </a:t>
            </a:r>
            <a:r>
              <a:rPr lang="en-GB" altLang="en-US" sz="1700" dirty="0">
                <a:solidFill>
                  <a:srgbClr val="FF6600"/>
                </a:solidFill>
                <a:effectLst/>
              </a:rPr>
              <a:t>Type 2</a:t>
            </a:r>
            <a:r>
              <a:rPr lang="en-GB" altLang="en-US" sz="1700" dirty="0">
                <a:effectLst/>
              </a:rPr>
              <a:t> refolded folds, the </a:t>
            </a:r>
            <a:r>
              <a:rPr lang="en-GB" altLang="en-US" sz="1700" dirty="0">
                <a:solidFill>
                  <a:srgbClr val="FF66CC"/>
                </a:solidFill>
                <a:effectLst/>
              </a:rPr>
              <a:t>fold axes are at 90°</a:t>
            </a:r>
            <a:r>
              <a:rPr lang="en-GB" altLang="en-US" sz="1700" dirty="0">
                <a:effectLst/>
              </a:rPr>
              <a:t> to each other, but </a:t>
            </a:r>
            <a:r>
              <a:rPr lang="en-GB" altLang="en-US" sz="1700" dirty="0">
                <a:solidFill>
                  <a:srgbClr val="FF66CC"/>
                </a:solidFill>
                <a:effectLst/>
              </a:rPr>
              <a:t>one set of folds is recumbent and the other is upright</a:t>
            </a:r>
            <a:r>
              <a:rPr lang="en-GB" altLang="en-US" sz="1700" dirty="0">
                <a:effectLst/>
              </a:rPr>
              <a:t>. The result is a characteristic crescent or mushroom-shaped outcrop pattern</a:t>
            </a:r>
            <a:endParaRPr lang="en-GB" altLang="en-US" sz="1500" dirty="0">
              <a:effectLst/>
            </a:endParaRPr>
          </a:p>
        </p:txBody>
      </p:sp>
      <p:pic>
        <p:nvPicPr>
          <p:cNvPr id="331782" name="Picture 6"/>
          <p:cNvPicPr>
            <a:picLocks noGrp="1" noChangeAspect="1" noChangeArrowheads="1"/>
          </p:cNvPicPr>
          <p:nvPr>
            <p:ph sz="quarter" idx="2"/>
          </p:nvPr>
        </p:nvPicPr>
        <p:blipFill>
          <a:blip r:embed="rId3">
            <a:extLst>
              <a:ext uri="{28A0092B-C50C-407E-A947-70E740481C1C}">
                <a14:useLocalDpi xmlns:a14="http://schemas.microsoft.com/office/drawing/2010/main" val="0"/>
              </a:ext>
            </a:extLst>
          </a:blip>
          <a:srcRect/>
          <a:stretch>
            <a:fillRect/>
          </a:stretch>
        </p:blipFill>
        <p:spPr>
          <a:xfrm>
            <a:off x="220663" y="2894013"/>
            <a:ext cx="8734425" cy="3803650"/>
          </a:xfrm>
          <a:noFill/>
          <a:ln w="38100" cap="flat">
            <a:solidFill>
              <a:schemeClr val="bg2"/>
            </a:solidFill>
            <a:miter lim="800000"/>
            <a:headEnd/>
            <a:tailEnd/>
          </a:ln>
        </p:spPr>
      </p:pic>
      <p:pic>
        <p:nvPicPr>
          <p:cNvPr id="331784" name="Picture 8"/>
          <p:cNvPicPr>
            <a:picLocks noGrp="1" noChangeAspect="1" noChangeArrowheads="1"/>
          </p:cNvPicPr>
          <p:nvPr>
            <p:ph sz="quarter" idx="3"/>
          </p:nvPr>
        </p:nvPicPr>
        <p:blipFill>
          <a:blip r:embed="rId4" cstate="print">
            <a:extLst>
              <a:ext uri="{28A0092B-C50C-407E-A947-70E740481C1C}">
                <a14:useLocalDpi xmlns:a14="http://schemas.microsoft.com/office/drawing/2010/main" val="0"/>
              </a:ext>
            </a:extLst>
          </a:blip>
          <a:srcRect l="10768" t="66725" r="64459" b="3471"/>
          <a:stretch>
            <a:fillRect/>
          </a:stretch>
        </p:blipFill>
        <p:spPr>
          <a:xfrm>
            <a:off x="6832600" y="957263"/>
            <a:ext cx="1550988" cy="1657350"/>
          </a:xfrm>
          <a:noFill/>
          <a:ln w="38100" cap="flat">
            <a:solidFill>
              <a:schemeClr val="bg2"/>
            </a:solidFill>
            <a:miter lim="800000"/>
            <a:headEnd/>
            <a:tailEnd/>
          </a:ln>
        </p:spPr>
      </p:pic>
      <p:pic>
        <p:nvPicPr>
          <p:cNvPr id="331786" name="Picture 10"/>
          <p:cNvPicPr>
            <a:picLocks noChangeAspect="1" noChangeArrowheads="1"/>
          </p:cNvPicPr>
          <p:nvPr/>
        </p:nvPicPr>
        <p:blipFill>
          <a:blip r:embed="rId5" cstate="print">
            <a:extLst>
              <a:ext uri="{28A0092B-C50C-407E-A947-70E740481C1C}">
                <a14:useLocalDpi xmlns:a14="http://schemas.microsoft.com/office/drawing/2010/main" val="0"/>
              </a:ext>
            </a:extLst>
          </a:blip>
          <a:srcRect l="13870" t="67029" r="64897" b="3694"/>
          <a:stretch>
            <a:fillRect/>
          </a:stretch>
        </p:blipFill>
        <p:spPr bwMode="auto">
          <a:xfrm>
            <a:off x="5184775" y="965200"/>
            <a:ext cx="1354138" cy="1658938"/>
          </a:xfrm>
          <a:prstGeom prst="rect">
            <a:avLst/>
          </a:prstGeom>
          <a:noFill/>
          <a:ln w="38100">
            <a:solidFill>
              <a:schemeClr val="bg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spd="slow"/>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2802" name="Rectangle 2"/>
          <p:cNvSpPr>
            <a:spLocks noGrp="1" noChangeArrowheads="1"/>
          </p:cNvSpPr>
          <p:nvPr>
            <p:ph type="title"/>
          </p:nvPr>
        </p:nvSpPr>
        <p:spPr>
          <a:noFill/>
        </p:spPr>
        <p:txBody>
          <a:bodyPr/>
          <a:lstStyle/>
          <a:p>
            <a:r>
              <a:rPr lang="en-GB" altLang="en-US" dirty="0">
                <a:effectLst/>
              </a:rPr>
              <a:t>Refolded folds  (Type 3: convergen</a:t>
            </a:r>
            <a:r>
              <a:rPr lang="en-GB" altLang="en-US" spc="300" dirty="0">
                <a:effectLst/>
              </a:rPr>
              <a:t>t-</a:t>
            </a:r>
            <a:r>
              <a:rPr lang="en-GB" altLang="en-US" dirty="0">
                <a:effectLst/>
              </a:rPr>
              <a:t>divergent)</a:t>
            </a:r>
          </a:p>
        </p:txBody>
      </p:sp>
      <p:sp>
        <p:nvSpPr>
          <p:cNvPr id="332803" name="Rectangle 3"/>
          <p:cNvSpPr>
            <a:spLocks noGrp="1" noChangeArrowheads="1"/>
          </p:cNvSpPr>
          <p:nvPr>
            <p:ph type="body" sz="half" idx="1"/>
          </p:nvPr>
        </p:nvSpPr>
        <p:spPr>
          <a:xfrm>
            <a:off x="130175" y="801688"/>
            <a:ext cx="3944938" cy="1903412"/>
          </a:xfrm>
          <a:noFill/>
        </p:spPr>
        <p:txBody>
          <a:bodyPr/>
          <a:lstStyle/>
          <a:p>
            <a:pPr marL="177800" indent="-177800"/>
            <a:r>
              <a:rPr lang="en-GB" altLang="en-US" sz="1700" dirty="0">
                <a:effectLst/>
              </a:rPr>
              <a:t>In </a:t>
            </a:r>
            <a:r>
              <a:rPr lang="en-GB" altLang="en-US" sz="1700" dirty="0">
                <a:solidFill>
                  <a:srgbClr val="FF6600"/>
                </a:solidFill>
                <a:effectLst/>
              </a:rPr>
              <a:t>Type 3</a:t>
            </a:r>
            <a:r>
              <a:rPr lang="en-GB" altLang="en-US" sz="1700" dirty="0">
                <a:effectLst/>
              </a:rPr>
              <a:t> refolded folds, the </a:t>
            </a:r>
            <a:r>
              <a:rPr lang="en-GB" altLang="en-US" sz="1700" dirty="0">
                <a:solidFill>
                  <a:srgbClr val="FF66CC"/>
                </a:solidFill>
                <a:effectLst/>
              </a:rPr>
              <a:t>fold axes are approximately coaxial</a:t>
            </a:r>
            <a:r>
              <a:rPr lang="en-GB" altLang="en-US" sz="1700" dirty="0">
                <a:effectLst/>
              </a:rPr>
              <a:t>, but </a:t>
            </a:r>
            <a:r>
              <a:rPr lang="en-GB" altLang="en-US" sz="1700" dirty="0">
                <a:solidFill>
                  <a:srgbClr val="FF66CC"/>
                </a:solidFill>
                <a:effectLst/>
              </a:rPr>
              <a:t>one set of folds is recumbent and the other is upright</a:t>
            </a:r>
            <a:r>
              <a:rPr lang="en-GB" altLang="en-US" sz="1700" dirty="0">
                <a:effectLst/>
              </a:rPr>
              <a:t>. The result is a wavy form of outcrop pattern</a:t>
            </a:r>
          </a:p>
        </p:txBody>
      </p:sp>
      <p:pic>
        <p:nvPicPr>
          <p:cNvPr id="332806" name="Picture 6"/>
          <p:cNvPicPr>
            <a:picLocks noGrp="1" noChangeAspect="1" noChangeArrowheads="1"/>
          </p:cNvPicPr>
          <p:nvPr>
            <p:ph sz="quarter" idx="2"/>
          </p:nvPr>
        </p:nvPicPr>
        <p:blipFill>
          <a:blip r:embed="rId3">
            <a:extLst>
              <a:ext uri="{28A0092B-C50C-407E-A947-70E740481C1C}">
                <a14:useLocalDpi xmlns:a14="http://schemas.microsoft.com/office/drawing/2010/main" val="0"/>
              </a:ext>
            </a:extLst>
          </a:blip>
          <a:srcRect/>
          <a:stretch>
            <a:fillRect/>
          </a:stretch>
        </p:blipFill>
        <p:spPr>
          <a:xfrm>
            <a:off x="192088" y="2960688"/>
            <a:ext cx="8791575" cy="3740150"/>
          </a:xfrm>
          <a:noFill/>
          <a:ln w="38100" cap="flat">
            <a:solidFill>
              <a:schemeClr val="bg2"/>
            </a:solidFill>
            <a:miter lim="800000"/>
            <a:headEnd/>
            <a:tailEnd/>
          </a:ln>
        </p:spPr>
      </p:pic>
      <p:pic>
        <p:nvPicPr>
          <p:cNvPr id="332808" name="Picture 8"/>
          <p:cNvPicPr>
            <a:picLocks noGrp="1" noChangeAspect="1" noChangeArrowheads="1"/>
          </p:cNvPicPr>
          <p:nvPr>
            <p:ph sz="quarter" idx="3"/>
          </p:nvPr>
        </p:nvPicPr>
        <p:blipFill>
          <a:blip r:embed="rId4" cstate="print">
            <a:extLst>
              <a:ext uri="{28A0092B-C50C-407E-A947-70E740481C1C}">
                <a14:useLocalDpi xmlns:a14="http://schemas.microsoft.com/office/drawing/2010/main" val="0"/>
              </a:ext>
            </a:extLst>
          </a:blip>
          <a:srcRect l="62791" t="66791" r="11577" b="3813"/>
          <a:stretch>
            <a:fillRect/>
          </a:stretch>
        </p:blipFill>
        <p:spPr>
          <a:xfrm>
            <a:off x="6600825" y="974725"/>
            <a:ext cx="1668463" cy="1701800"/>
          </a:xfrm>
          <a:noFill/>
          <a:ln w="38100" cap="flat">
            <a:solidFill>
              <a:schemeClr val="bg2"/>
            </a:solidFill>
            <a:miter lim="800000"/>
            <a:headEnd/>
            <a:tailEnd/>
          </a:ln>
        </p:spPr>
      </p:pic>
      <p:pic>
        <p:nvPicPr>
          <p:cNvPr id="332810" name="Picture 10"/>
          <p:cNvPicPr>
            <a:picLocks noChangeAspect="1" noChangeArrowheads="1"/>
          </p:cNvPicPr>
          <p:nvPr/>
        </p:nvPicPr>
        <p:blipFill>
          <a:blip r:embed="rId5" cstate="print">
            <a:extLst>
              <a:ext uri="{28A0092B-C50C-407E-A947-70E740481C1C}">
                <a14:useLocalDpi xmlns:a14="http://schemas.microsoft.com/office/drawing/2010/main" val="0"/>
              </a:ext>
            </a:extLst>
          </a:blip>
          <a:srcRect l="65839" t="67436" r="12671" b="3975"/>
          <a:stretch>
            <a:fillRect/>
          </a:stretch>
        </p:blipFill>
        <p:spPr bwMode="auto">
          <a:xfrm>
            <a:off x="4800600" y="976313"/>
            <a:ext cx="1433513" cy="1693862"/>
          </a:xfrm>
          <a:prstGeom prst="rect">
            <a:avLst/>
          </a:prstGeom>
          <a:noFill/>
          <a:ln w="38100">
            <a:solidFill>
              <a:schemeClr val="bg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spd="slow"/>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1474" name="Rectangle 2"/>
          <p:cNvSpPr>
            <a:spLocks noGrp="1" noChangeArrowheads="1"/>
          </p:cNvSpPr>
          <p:nvPr>
            <p:ph type="title" sz="quarter"/>
          </p:nvPr>
        </p:nvSpPr>
        <p:spPr>
          <a:noFill/>
        </p:spPr>
        <p:txBody>
          <a:bodyPr/>
          <a:lstStyle/>
          <a:p>
            <a:r>
              <a:rPr lang="en-GB" altLang="en-US">
                <a:effectLst/>
              </a:rPr>
              <a:t>Refolded folds – examples of the three types</a:t>
            </a:r>
          </a:p>
        </p:txBody>
      </p:sp>
      <p:pic>
        <p:nvPicPr>
          <p:cNvPr id="361482" name="Picture 10" descr="Type1a"/>
          <p:cNvPicPr>
            <a:picLocks noGrp="1" noChangeAspect="1" noChangeArrowheads="1"/>
          </p:cNvPicPr>
          <p:nvPr>
            <p:ph sz="quarter" idx="1"/>
          </p:nvPr>
        </p:nvPicPr>
        <p:blipFill>
          <a:blip r:embed="rId3">
            <a:extLst>
              <a:ext uri="{28A0092B-C50C-407E-A947-70E740481C1C}">
                <a14:useLocalDpi xmlns:a14="http://schemas.microsoft.com/office/drawing/2010/main" val="0"/>
              </a:ext>
            </a:extLst>
          </a:blip>
          <a:srcRect/>
          <a:stretch>
            <a:fillRect/>
          </a:stretch>
        </p:blipFill>
        <p:spPr>
          <a:xfrm>
            <a:off x="155290" y="859219"/>
            <a:ext cx="3933825" cy="2400300"/>
          </a:xfr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361487" name="Picture 15" descr="Type2a"/>
          <p:cNvPicPr>
            <a:picLocks noGrp="1" noChangeAspect="1" noChangeArrowheads="1"/>
          </p:cNvPicPr>
          <p:nvPr>
            <p:ph sz="quarter" idx="2"/>
          </p:nvPr>
        </p:nvPicPr>
        <p:blipFill rotWithShape="1">
          <a:blip r:embed="rId4">
            <a:extLst>
              <a:ext uri="{28A0092B-C50C-407E-A947-70E740481C1C}">
                <a14:useLocalDpi xmlns:a14="http://schemas.microsoft.com/office/drawing/2010/main" val="0"/>
              </a:ext>
            </a:extLst>
          </a:blip>
          <a:srcRect l="733" t="64" r="-733" b="3325"/>
          <a:stretch/>
        </p:blipFill>
        <p:spPr>
          <a:xfrm>
            <a:off x="155290" y="3428999"/>
            <a:ext cx="2936875" cy="3262185"/>
          </a:xfrm>
          <a:noFill/>
          <a:ln w="38100">
            <a:solidFill>
              <a:schemeClr val="bg2"/>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361493" name="Text Box 21"/>
          <p:cNvSpPr txBox="1">
            <a:spLocks noChangeArrowheads="1"/>
          </p:cNvSpPr>
          <p:nvPr/>
        </p:nvSpPr>
        <p:spPr bwMode="auto">
          <a:xfrm>
            <a:off x="3235548" y="3344863"/>
            <a:ext cx="8255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GB" altLang="en-US" sz="1400" dirty="0">
                <a:solidFill>
                  <a:srgbClr val="FFFF00"/>
                </a:solidFill>
                <a:effectLst>
                  <a:outerShdw blurRad="38100" dist="38100" dir="2700000" algn="tl">
                    <a:srgbClr val="000000"/>
                  </a:outerShdw>
                </a:effectLst>
                <a:latin typeface="Arial" charset="0"/>
              </a:rPr>
              <a:t>Type 1</a:t>
            </a:r>
          </a:p>
        </p:txBody>
      </p:sp>
      <p:sp>
        <p:nvSpPr>
          <p:cNvPr id="361494" name="Text Box 22"/>
          <p:cNvSpPr txBox="1">
            <a:spLocks noChangeArrowheads="1"/>
          </p:cNvSpPr>
          <p:nvPr/>
        </p:nvSpPr>
        <p:spPr bwMode="auto">
          <a:xfrm>
            <a:off x="4195795" y="5876588"/>
            <a:ext cx="8255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GB" altLang="en-US" sz="1400" dirty="0">
                <a:solidFill>
                  <a:srgbClr val="FFFF00"/>
                </a:solidFill>
                <a:effectLst>
                  <a:outerShdw blurRad="38100" dist="38100" dir="2700000" algn="tl">
                    <a:srgbClr val="000000"/>
                  </a:outerShdw>
                </a:effectLst>
                <a:latin typeface="Arial" charset="0"/>
              </a:rPr>
              <a:t>Type 3</a:t>
            </a:r>
          </a:p>
        </p:txBody>
      </p:sp>
      <p:sp>
        <p:nvSpPr>
          <p:cNvPr id="361495" name="Text Box 23"/>
          <p:cNvSpPr txBox="1">
            <a:spLocks noChangeArrowheads="1"/>
          </p:cNvSpPr>
          <p:nvPr/>
        </p:nvSpPr>
        <p:spPr bwMode="auto">
          <a:xfrm>
            <a:off x="3174588" y="6410769"/>
            <a:ext cx="8255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GB" altLang="en-US" sz="1400" dirty="0">
                <a:solidFill>
                  <a:srgbClr val="FFFF00"/>
                </a:solidFill>
                <a:effectLst>
                  <a:outerShdw blurRad="38100" dist="38100" dir="2700000" algn="tl">
                    <a:srgbClr val="000000"/>
                  </a:outerShdw>
                </a:effectLst>
                <a:latin typeface="Arial" charset="0"/>
              </a:rPr>
              <a:t>Type 2</a:t>
            </a:r>
          </a:p>
        </p:txBody>
      </p:sp>
      <p:pic>
        <p:nvPicPr>
          <p:cNvPr id="3" name="Picture 2">
            <a:extLst>
              <a:ext uri="{FF2B5EF4-FFF2-40B4-BE49-F238E27FC236}">
                <a16:creationId xmlns:a16="http://schemas.microsoft.com/office/drawing/2014/main" id="{7F49D711-9BC5-6706-D345-DB28D5FA46E4}"/>
              </a:ext>
            </a:extLst>
          </p:cNvPr>
          <p:cNvPicPr>
            <a:picLocks noChangeAspect="1"/>
          </p:cNvPicPr>
          <p:nvPr/>
        </p:nvPicPr>
        <p:blipFill rotWithShape="1">
          <a:blip r:embed="rId5" cstate="hqprint">
            <a:extLst>
              <a:ext uri="{28A0092B-C50C-407E-A947-70E740481C1C}">
                <a14:useLocalDpi xmlns:a14="http://schemas.microsoft.com/office/drawing/2010/main"/>
              </a:ext>
            </a:extLst>
          </a:blip>
          <a:srcRect/>
          <a:stretch/>
        </p:blipFill>
        <p:spPr>
          <a:xfrm>
            <a:off x="4234276" y="859219"/>
            <a:ext cx="4752656" cy="4957742"/>
          </a:xfrm>
          <a:prstGeom prst="rect">
            <a:avLst/>
          </a:prstGeom>
          <a:ln w="38100">
            <a:solidFill>
              <a:schemeClr val="bg2"/>
            </a:solidFill>
          </a:ln>
        </p:spPr>
      </p:pic>
    </p:spTree>
  </p:cSld>
  <p:clrMapOvr>
    <a:masterClrMapping/>
  </p:clrMapOvr>
  <p:transition spd="slow"/>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1650" name="Rectangle 2"/>
          <p:cNvSpPr>
            <a:spLocks noGrp="1" noChangeArrowheads="1"/>
          </p:cNvSpPr>
          <p:nvPr>
            <p:ph type="title"/>
          </p:nvPr>
        </p:nvSpPr>
        <p:spPr>
          <a:noFill/>
        </p:spPr>
        <p:txBody>
          <a:bodyPr/>
          <a:lstStyle/>
          <a:p>
            <a:r>
              <a:rPr lang="en-GB" altLang="en-US">
                <a:effectLst/>
              </a:rPr>
              <a:t>Refolded folds – the real world</a:t>
            </a:r>
          </a:p>
        </p:txBody>
      </p:sp>
      <p:sp>
        <p:nvSpPr>
          <p:cNvPr id="411651" name="Text Box 3"/>
          <p:cNvSpPr txBox="1">
            <a:spLocks noChangeArrowheads="1"/>
          </p:cNvSpPr>
          <p:nvPr/>
        </p:nvSpPr>
        <p:spPr bwMode="auto">
          <a:xfrm>
            <a:off x="477838" y="6342063"/>
            <a:ext cx="8215312"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GB" altLang="en-US" sz="1400">
                <a:solidFill>
                  <a:srgbClr val="FFFF00"/>
                </a:solidFill>
                <a:effectLst>
                  <a:outerShdw blurRad="38100" dist="38100" dir="2700000" algn="tl">
                    <a:srgbClr val="000000"/>
                  </a:outerShdw>
                </a:effectLst>
                <a:latin typeface="Arial" charset="0"/>
              </a:rPr>
              <a:t>Fold interference patterns when the folds from one or both phases are non-cylindrical may be complex</a:t>
            </a:r>
          </a:p>
        </p:txBody>
      </p:sp>
      <p:pic>
        <p:nvPicPr>
          <p:cNvPr id="411654" name="Picture 6" descr="DSC_0147"/>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169863" y="925513"/>
            <a:ext cx="8831262" cy="5280025"/>
          </a:xfr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spTree>
  </p:cSld>
  <p:clrMapOvr>
    <a:masterClrMapping/>
  </p:clrMapOvr>
  <p:transition spd="slow"/>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22" name="Rectangle 2"/>
          <p:cNvSpPr>
            <a:spLocks noGrp="1" noChangeArrowheads="1"/>
          </p:cNvSpPr>
          <p:nvPr>
            <p:ph type="title"/>
          </p:nvPr>
        </p:nvSpPr>
        <p:spPr>
          <a:noFill/>
        </p:spPr>
        <p:txBody>
          <a:bodyPr/>
          <a:lstStyle/>
          <a:p>
            <a:r>
              <a:rPr lang="en-GB" altLang="en-US">
                <a:effectLst/>
              </a:rPr>
              <a:t>Reading</a:t>
            </a:r>
          </a:p>
        </p:txBody>
      </p:sp>
      <p:sp>
        <p:nvSpPr>
          <p:cNvPr id="337923" name="Rectangle 3"/>
          <p:cNvSpPr>
            <a:spLocks noGrp="1" noChangeArrowheads="1"/>
          </p:cNvSpPr>
          <p:nvPr>
            <p:ph type="body" sz="half" idx="1"/>
          </p:nvPr>
        </p:nvSpPr>
        <p:spPr>
          <a:xfrm>
            <a:off x="130175" y="831850"/>
            <a:ext cx="8847138" cy="3649663"/>
          </a:xfrm>
          <a:noFill/>
        </p:spPr>
        <p:txBody>
          <a:bodyPr/>
          <a:lstStyle/>
          <a:p>
            <a:pPr marL="182563" indent="-182563">
              <a:lnSpc>
                <a:spcPct val="110000"/>
              </a:lnSpc>
            </a:pPr>
            <a:r>
              <a:rPr lang="en-GB" altLang="en-US" sz="1400" dirty="0">
                <a:effectLst/>
              </a:rPr>
              <a:t>Fossen H (2016) </a:t>
            </a:r>
            <a:r>
              <a:rPr lang="en-GB" altLang="en-US" sz="1400" i="1" dirty="0">
                <a:effectLst/>
              </a:rPr>
              <a:t>Structural Geology </a:t>
            </a:r>
            <a:r>
              <a:rPr lang="en-GB" altLang="en-US" sz="1400" dirty="0">
                <a:effectLst/>
              </a:rPr>
              <a:t>(2</a:t>
            </a:r>
            <a:r>
              <a:rPr lang="en-GB" altLang="en-US" sz="1400" baseline="30000" dirty="0">
                <a:effectLst/>
              </a:rPr>
              <a:t>nd</a:t>
            </a:r>
            <a:r>
              <a:rPr lang="en-GB" altLang="en-US" sz="1400" dirty="0">
                <a:effectLst/>
              </a:rPr>
              <a:t> edition).</a:t>
            </a:r>
            <a:r>
              <a:rPr lang="en-GB" altLang="en-US" sz="1400" i="1" dirty="0">
                <a:effectLst/>
              </a:rPr>
              <a:t> </a:t>
            </a:r>
            <a:r>
              <a:rPr lang="en-GB" altLang="en-US" sz="1400" dirty="0">
                <a:effectLst/>
              </a:rPr>
              <a:t>Cambridge University Press. </a:t>
            </a:r>
            <a:r>
              <a:rPr lang="en-GB" altLang="en-US" sz="1400" dirty="0">
                <a:solidFill>
                  <a:srgbClr val="FF66CC"/>
                </a:solidFill>
                <a:effectLst/>
              </a:rPr>
              <a:t>[Chapter 12]</a:t>
            </a:r>
          </a:p>
          <a:p>
            <a:pPr marL="182563" indent="-182563">
              <a:lnSpc>
                <a:spcPct val="110000"/>
              </a:lnSpc>
            </a:pPr>
            <a:r>
              <a:rPr lang="en-GB" altLang="en-US" sz="1400" dirty="0">
                <a:effectLst/>
              </a:rPr>
              <a:t>Twiss RJ, </a:t>
            </a:r>
            <a:r>
              <a:rPr lang="en-GB" altLang="en-US" sz="1400" dirty="0" err="1">
                <a:effectLst/>
              </a:rPr>
              <a:t>Moores</a:t>
            </a:r>
            <a:r>
              <a:rPr lang="en-GB" altLang="en-US" sz="1400" dirty="0">
                <a:effectLst/>
              </a:rPr>
              <a:t> EM (2007) </a:t>
            </a:r>
            <a:r>
              <a:rPr lang="en-GB" altLang="en-US" sz="1400" i="1" dirty="0">
                <a:effectLst/>
              </a:rPr>
              <a:t>Structural Geology</a:t>
            </a:r>
            <a:r>
              <a:rPr lang="en-GB" altLang="en-US" sz="1400" dirty="0">
                <a:effectLst/>
              </a:rPr>
              <a:t> (2</a:t>
            </a:r>
            <a:r>
              <a:rPr lang="en-GB" altLang="en-US" sz="1400" baseline="30000" dirty="0">
                <a:effectLst/>
              </a:rPr>
              <a:t>nd</a:t>
            </a:r>
            <a:r>
              <a:rPr lang="en-GB" altLang="en-US" sz="1400" dirty="0">
                <a:effectLst/>
              </a:rPr>
              <a:t> edition). WH Freeman and Co. </a:t>
            </a:r>
            <a:r>
              <a:rPr lang="en-GB" altLang="en-US" sz="1400" dirty="0">
                <a:solidFill>
                  <a:srgbClr val="FF66CC"/>
                </a:solidFill>
                <a:effectLst/>
              </a:rPr>
              <a:t>[Chapter 13]</a:t>
            </a:r>
          </a:p>
          <a:p>
            <a:pPr marL="182563" indent="-182563">
              <a:lnSpc>
                <a:spcPct val="110000"/>
              </a:lnSpc>
            </a:pPr>
            <a:r>
              <a:rPr lang="en-GB" altLang="en-US" sz="1400" dirty="0">
                <a:effectLst/>
              </a:rPr>
              <a:t>Price NJ, Cosgrove JW (1990) </a:t>
            </a:r>
            <a:r>
              <a:rPr lang="en-GB" altLang="en-US" sz="1400" i="1" dirty="0">
                <a:effectLst/>
              </a:rPr>
              <a:t>Analysis of Geological Structures.</a:t>
            </a:r>
            <a:r>
              <a:rPr lang="en-GB" altLang="en-US" sz="1400" dirty="0">
                <a:effectLst/>
              </a:rPr>
              <a:t> Cambridge University Press. </a:t>
            </a:r>
            <a:r>
              <a:rPr lang="en-GB" altLang="en-US" sz="1400" dirty="0">
                <a:solidFill>
                  <a:srgbClr val="FF66CC"/>
                </a:solidFill>
                <a:effectLst/>
              </a:rPr>
              <a:t>[Chapters 10, 11, 12, 13, 14, 15]</a:t>
            </a:r>
          </a:p>
          <a:p>
            <a:pPr marL="182563" indent="-182563">
              <a:lnSpc>
                <a:spcPct val="110000"/>
              </a:lnSpc>
            </a:pPr>
            <a:r>
              <a:rPr lang="en-GB" altLang="en-US" sz="1400" dirty="0">
                <a:effectLst/>
              </a:rPr>
              <a:t>Ramsay JG, Huber MI (1987) </a:t>
            </a:r>
            <a:r>
              <a:rPr lang="en-GB" altLang="en-US" sz="1400" i="1" dirty="0">
                <a:effectLst/>
              </a:rPr>
              <a:t>Techniques of Modern Structural Geology. Volume 2: Folds and Fractures.</a:t>
            </a:r>
            <a:r>
              <a:rPr lang="en-GB" altLang="en-US" sz="1400" dirty="0">
                <a:effectLst/>
              </a:rPr>
              <a:t> Academic Press. </a:t>
            </a:r>
            <a:r>
              <a:rPr lang="en-GB" altLang="en-US" sz="1400" dirty="0">
                <a:solidFill>
                  <a:srgbClr val="FF66CC"/>
                </a:solidFill>
                <a:effectLst/>
              </a:rPr>
              <a:t>[Sessions 19, 20, 21, 22]</a:t>
            </a:r>
          </a:p>
          <a:p>
            <a:pPr marL="182563" indent="-182563">
              <a:lnSpc>
                <a:spcPct val="110000"/>
              </a:lnSpc>
            </a:pPr>
            <a:endParaRPr lang="en-GB" altLang="en-US" sz="1400" dirty="0">
              <a:solidFill>
                <a:srgbClr val="FF66CC"/>
              </a:solidFill>
              <a:effectLst/>
            </a:endParaRPr>
          </a:p>
          <a:p>
            <a:pPr marL="182563" indent="-182563">
              <a:lnSpc>
                <a:spcPct val="110000"/>
              </a:lnSpc>
              <a:buFont typeface="Times"/>
              <a:buNone/>
            </a:pPr>
            <a:r>
              <a:rPr lang="en-GB" altLang="en-US" sz="1400" dirty="0">
                <a:solidFill>
                  <a:srgbClr val="FF66CC"/>
                </a:solidFill>
                <a:effectLst/>
              </a:rPr>
              <a:t>	</a:t>
            </a:r>
            <a:r>
              <a:rPr lang="en-GB" altLang="en-US" sz="1400" dirty="0">
                <a:effectLst/>
              </a:rPr>
              <a:t>In the notes frequent mention has been made of </a:t>
            </a:r>
          </a:p>
          <a:p>
            <a:pPr marL="183600" indent="0">
              <a:lnSpc>
                <a:spcPct val="110000"/>
              </a:lnSpc>
              <a:spcBef>
                <a:spcPct val="50000"/>
              </a:spcBef>
              <a:buNone/>
            </a:pPr>
            <a:r>
              <a:rPr lang="en-GB" altLang="en-US" sz="1400" dirty="0">
                <a:solidFill>
                  <a:srgbClr val="FFFF00"/>
                </a:solidFill>
                <a:effectLst/>
              </a:rPr>
              <a:t>Ramsay JG (1967) </a:t>
            </a:r>
            <a:r>
              <a:rPr lang="en-GB" altLang="en-US" sz="1400" i="1" dirty="0">
                <a:solidFill>
                  <a:srgbClr val="FFFF00"/>
                </a:solidFill>
                <a:effectLst/>
              </a:rPr>
              <a:t>Folding and Fracturing of Rocks.</a:t>
            </a:r>
            <a:r>
              <a:rPr lang="en-GB" altLang="en-US" sz="1400" dirty="0">
                <a:solidFill>
                  <a:srgbClr val="FFFF00"/>
                </a:solidFill>
                <a:effectLst/>
              </a:rPr>
              <a:t> McGraw-Hill</a:t>
            </a:r>
          </a:p>
        </p:txBody>
      </p:sp>
      <p:sp>
        <p:nvSpPr>
          <p:cNvPr id="337929" name="Rectangle 9"/>
          <p:cNvSpPr>
            <a:spLocks noChangeArrowheads="1"/>
          </p:cNvSpPr>
          <p:nvPr/>
        </p:nvSpPr>
        <p:spPr bwMode="auto">
          <a:xfrm>
            <a:off x="152400" y="4208463"/>
            <a:ext cx="4891088" cy="23034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182563" indent="-182563">
              <a:lnSpc>
                <a:spcPct val="120000"/>
              </a:lnSpc>
              <a:spcBef>
                <a:spcPct val="100000"/>
              </a:spcBef>
              <a:buClr>
                <a:schemeClr val="folHlink"/>
              </a:buClr>
              <a:buSzPct val="100000"/>
              <a:buFont typeface="Times"/>
              <a:buChar char="•"/>
              <a:defRPr>
                <a:solidFill>
                  <a:schemeClr val="tx1"/>
                </a:solidFill>
                <a:latin typeface="Arial" charset="0"/>
              </a:defRPr>
            </a:lvl1pPr>
            <a:lvl2pPr marL="762000" indent="-187325">
              <a:lnSpc>
                <a:spcPct val="120000"/>
              </a:lnSpc>
              <a:spcBef>
                <a:spcPct val="50000"/>
              </a:spcBef>
              <a:buClr>
                <a:schemeClr val="folHlink"/>
              </a:buClr>
              <a:buSzPct val="100000"/>
              <a:buFont typeface="Times"/>
              <a:buChar char="•"/>
              <a:defRPr sz="1600">
                <a:solidFill>
                  <a:schemeClr val="tx1"/>
                </a:solidFill>
                <a:latin typeface="Arial" charset="0"/>
              </a:defRPr>
            </a:lvl2pPr>
            <a:lvl3pPr marL="1235075" indent="-184150">
              <a:spcBef>
                <a:spcPct val="25000"/>
              </a:spcBef>
              <a:buClr>
                <a:schemeClr val="folHlink"/>
              </a:buClr>
              <a:buFont typeface="Times"/>
              <a:buChar char="•"/>
              <a:defRPr sz="1400">
                <a:solidFill>
                  <a:schemeClr val="tx1"/>
                </a:solidFill>
                <a:latin typeface="Arial" charset="0"/>
              </a:defRPr>
            </a:lvl3pPr>
            <a:lvl4pPr marL="1698625" indent="-228600">
              <a:spcBef>
                <a:spcPct val="25000"/>
              </a:spcBef>
              <a:buClr>
                <a:schemeClr val="folHlink"/>
              </a:buClr>
              <a:buFont typeface="Times"/>
              <a:buChar char="•"/>
              <a:defRPr sz="1400">
                <a:solidFill>
                  <a:schemeClr val="tx1"/>
                </a:solidFill>
                <a:latin typeface="Arial" charset="0"/>
              </a:defRPr>
            </a:lvl4pPr>
            <a:lvl5pPr marL="2117725" indent="-228600">
              <a:spcBef>
                <a:spcPct val="25000"/>
              </a:spcBef>
              <a:buClr>
                <a:schemeClr val="folHlink"/>
              </a:buClr>
              <a:buSzPct val="50000"/>
              <a:buFont typeface="Times"/>
              <a:buChar char="•"/>
              <a:defRPr sz="1400">
                <a:solidFill>
                  <a:schemeClr val="tx1"/>
                </a:solidFill>
                <a:latin typeface="Arial" charset="0"/>
              </a:defRPr>
            </a:lvl5pPr>
            <a:lvl6pPr marL="2574925" indent="-228600" eaLnBrk="0" fontAlgn="base" hangingPunct="0">
              <a:spcBef>
                <a:spcPct val="25000"/>
              </a:spcBef>
              <a:spcAft>
                <a:spcPct val="0"/>
              </a:spcAft>
              <a:buClr>
                <a:schemeClr val="folHlink"/>
              </a:buClr>
              <a:buSzPct val="50000"/>
              <a:buFont typeface="Times"/>
              <a:buChar char="•"/>
              <a:defRPr sz="1400">
                <a:solidFill>
                  <a:schemeClr val="tx1"/>
                </a:solidFill>
                <a:latin typeface="Arial" charset="0"/>
              </a:defRPr>
            </a:lvl6pPr>
            <a:lvl7pPr marL="3032125" indent="-228600" eaLnBrk="0" fontAlgn="base" hangingPunct="0">
              <a:spcBef>
                <a:spcPct val="25000"/>
              </a:spcBef>
              <a:spcAft>
                <a:spcPct val="0"/>
              </a:spcAft>
              <a:buClr>
                <a:schemeClr val="folHlink"/>
              </a:buClr>
              <a:buSzPct val="50000"/>
              <a:buFont typeface="Times"/>
              <a:buChar char="•"/>
              <a:defRPr sz="1400">
                <a:solidFill>
                  <a:schemeClr val="tx1"/>
                </a:solidFill>
                <a:latin typeface="Arial" charset="0"/>
              </a:defRPr>
            </a:lvl7pPr>
            <a:lvl8pPr marL="3489325" indent="-228600" eaLnBrk="0" fontAlgn="base" hangingPunct="0">
              <a:spcBef>
                <a:spcPct val="25000"/>
              </a:spcBef>
              <a:spcAft>
                <a:spcPct val="0"/>
              </a:spcAft>
              <a:buClr>
                <a:schemeClr val="folHlink"/>
              </a:buClr>
              <a:buSzPct val="50000"/>
              <a:buFont typeface="Times"/>
              <a:buChar char="•"/>
              <a:defRPr sz="1400">
                <a:solidFill>
                  <a:schemeClr val="tx1"/>
                </a:solidFill>
                <a:latin typeface="Arial" charset="0"/>
              </a:defRPr>
            </a:lvl8pPr>
            <a:lvl9pPr marL="3946525" indent="-228600" eaLnBrk="0" fontAlgn="base" hangingPunct="0">
              <a:spcBef>
                <a:spcPct val="25000"/>
              </a:spcBef>
              <a:spcAft>
                <a:spcPct val="0"/>
              </a:spcAft>
              <a:buClr>
                <a:schemeClr val="folHlink"/>
              </a:buClr>
              <a:buSzPct val="50000"/>
              <a:buFont typeface="Times"/>
              <a:buChar char="•"/>
              <a:defRPr sz="1400">
                <a:solidFill>
                  <a:schemeClr val="tx1"/>
                </a:solidFill>
                <a:latin typeface="Arial" charset="0"/>
              </a:defRPr>
            </a:lvl9pPr>
          </a:lstStyle>
          <a:p>
            <a:pPr>
              <a:spcBef>
                <a:spcPct val="50000"/>
              </a:spcBef>
              <a:buFont typeface="Times"/>
              <a:buNone/>
            </a:pPr>
            <a:r>
              <a:rPr lang="en-GB" altLang="en-US" sz="1400" dirty="0">
                <a:effectLst/>
              </a:rPr>
              <a:t>	This is a classic text. It is particularly strong on the analysis of the effect of folding on pre-existing </a:t>
            </a:r>
            <a:r>
              <a:rPr lang="en-GB" altLang="en-US" sz="1400" dirty="0" err="1">
                <a:effectLst/>
              </a:rPr>
              <a:t>lineations</a:t>
            </a:r>
            <a:r>
              <a:rPr lang="en-GB" altLang="en-US" sz="1400" dirty="0">
                <a:effectLst/>
              </a:rPr>
              <a:t> and planar features, and on refolding in general (John Ramsay essentially developed the systematic framework within which refolded folds are now considered). This material is all contained in the Ramsay &amp; Huber text noted above, but the original Ramsay text covers it more succinctly</a:t>
            </a:r>
          </a:p>
        </p:txBody>
      </p:sp>
      <p:pic>
        <p:nvPicPr>
          <p:cNvPr id="337930" name="Picture 10" descr="Ramsay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67425" y="3595688"/>
            <a:ext cx="2446338" cy="2681287"/>
          </a:xfrm>
          <a:prstGeom prst="rect">
            <a:avLst/>
          </a:prstGeo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Lst>
        </p:spPr>
      </p:pic>
      <p:sp>
        <p:nvSpPr>
          <p:cNvPr id="337932" name="Text Box 12"/>
          <p:cNvSpPr txBox="1">
            <a:spLocks noChangeArrowheads="1"/>
          </p:cNvSpPr>
          <p:nvPr/>
        </p:nvSpPr>
        <p:spPr bwMode="auto">
          <a:xfrm>
            <a:off x="6661150" y="6338888"/>
            <a:ext cx="1293813"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GB" altLang="en-US" sz="1400">
                <a:solidFill>
                  <a:srgbClr val="FFFF00"/>
                </a:solidFill>
                <a:effectLst>
                  <a:outerShdw blurRad="38100" dist="38100" dir="2700000" algn="tl">
                    <a:srgbClr val="000000"/>
                  </a:outerShdw>
                </a:effectLst>
                <a:latin typeface="Arial" charset="0"/>
              </a:rPr>
              <a:t>John Ramsay</a:t>
            </a:r>
          </a:p>
        </p:txBody>
      </p:sp>
    </p:spTree>
  </p:cSld>
  <p:clrMapOvr>
    <a:masterClrMapping/>
  </p:clrMapOvr>
  <p:transition spd="slow"/>
</p:sld>
</file>

<file path=ppt/theme/theme1.xml><?xml version="1.0" encoding="utf-8"?>
<a:theme xmlns:a="http://schemas.openxmlformats.org/drawingml/2006/main" name="EART20292">
  <a:themeElements>
    <a:clrScheme name="Basin Studies 2002 1">
      <a:dk1>
        <a:srgbClr val="000037"/>
      </a:dk1>
      <a:lt1>
        <a:srgbClr val="FFFFFF"/>
      </a:lt1>
      <a:dk2>
        <a:srgbClr val="000066"/>
      </a:dk2>
      <a:lt2>
        <a:srgbClr val="FFFFFF"/>
      </a:lt2>
      <a:accent1>
        <a:srgbClr val="D5790C"/>
      </a:accent1>
      <a:accent2>
        <a:srgbClr val="D5790C"/>
      </a:accent2>
      <a:accent3>
        <a:srgbClr val="AAAAB8"/>
      </a:accent3>
      <a:accent4>
        <a:srgbClr val="DADADA"/>
      </a:accent4>
      <a:accent5>
        <a:srgbClr val="E7BEAA"/>
      </a:accent5>
      <a:accent6>
        <a:srgbClr val="C16D0A"/>
      </a:accent6>
      <a:hlink>
        <a:srgbClr val="5858A2"/>
      </a:hlink>
      <a:folHlink>
        <a:srgbClr val="FFFFFF"/>
      </a:folHlink>
    </a:clrScheme>
    <a:fontScheme name="Basin Studies 2002">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20000"/>
          </a:spcBef>
          <a:spcAft>
            <a:spcPct val="0"/>
          </a:spcAft>
          <a:buClr>
            <a:schemeClr val="accent2"/>
          </a:buClr>
          <a:buSzTx/>
          <a:buFontTx/>
          <a:buNone/>
          <a:tabLst/>
          <a:defRPr kumimoji="0" lang="en-GB" sz="1600" b="0" i="0" u="none" strike="noStrike" cap="none" normalizeH="0" baseline="0" smtClean="0">
            <a:ln>
              <a:noFill/>
            </a:ln>
            <a:solidFill>
              <a:schemeClr val="tx1"/>
            </a:solidFill>
            <a:effectLst>
              <a:outerShdw blurRad="38100" dist="38100" dir="2700000" algn="tl">
                <a:srgbClr val="000000">
                  <a:alpha val="43137"/>
                </a:srgbClr>
              </a:outerShdw>
            </a:effectLst>
            <a:latin typeface="Helvetica" charset="0"/>
          </a:defRPr>
        </a:defPPr>
      </a:lstStyle>
    </a:spDef>
    <a:lnDef>
      <a:spPr bwMode="auto">
        <a:xfrm>
          <a:off x="0" y="0"/>
          <a:ext cx="1" cy="1"/>
        </a:xfrm>
        <a:custGeom>
          <a:avLst/>
          <a:gdLst/>
          <a:ahLst/>
          <a:cxnLst/>
          <a:rect l="0" t="0" r="0" b="0"/>
          <a:pathLst/>
        </a:cu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20000"/>
          </a:spcBef>
          <a:spcAft>
            <a:spcPct val="0"/>
          </a:spcAft>
          <a:buClr>
            <a:schemeClr val="accent2"/>
          </a:buClr>
          <a:buSzTx/>
          <a:buFontTx/>
          <a:buNone/>
          <a:tabLst/>
          <a:defRPr kumimoji="0" lang="en-GB" sz="1600" b="0" i="0" u="none" strike="noStrike" cap="none" normalizeH="0" baseline="0" smtClean="0">
            <a:ln>
              <a:noFill/>
            </a:ln>
            <a:solidFill>
              <a:schemeClr val="tx1"/>
            </a:solidFill>
            <a:effectLst>
              <a:outerShdw blurRad="38100" dist="38100" dir="2700000" algn="tl">
                <a:srgbClr val="000000">
                  <a:alpha val="43137"/>
                </a:srgbClr>
              </a:outerShdw>
            </a:effectLst>
            <a:latin typeface="Helvetica" charset="0"/>
          </a:defRPr>
        </a:defPPr>
      </a:lstStyle>
    </a:lnDef>
  </a:objectDefaults>
  <a:extraClrSchemeLst>
    <a:extraClrScheme>
      <a:clrScheme name="Basin Studies 2002 1">
        <a:dk1>
          <a:srgbClr val="000037"/>
        </a:dk1>
        <a:lt1>
          <a:srgbClr val="FFFFFF"/>
        </a:lt1>
        <a:dk2>
          <a:srgbClr val="000066"/>
        </a:dk2>
        <a:lt2>
          <a:srgbClr val="FFFFFF"/>
        </a:lt2>
        <a:accent1>
          <a:srgbClr val="D5790C"/>
        </a:accent1>
        <a:accent2>
          <a:srgbClr val="D5790C"/>
        </a:accent2>
        <a:accent3>
          <a:srgbClr val="AAAAB8"/>
        </a:accent3>
        <a:accent4>
          <a:srgbClr val="DADADA"/>
        </a:accent4>
        <a:accent5>
          <a:srgbClr val="E7BEAA"/>
        </a:accent5>
        <a:accent6>
          <a:srgbClr val="C16D0A"/>
        </a:accent6>
        <a:hlink>
          <a:srgbClr val="5858A2"/>
        </a:hlink>
        <a:folHlink>
          <a:srgbClr val="FFFFFF"/>
        </a:folHlink>
      </a:clrScheme>
      <a:clrMap bg1="dk2" tx1="lt1" bg2="dk1" tx2="lt2" accent1="accent1" accent2="accent2" accent3="accent3" accent4="accent4" accent5="accent5" accent6="accent6" hlink="hlink" folHlink="folHlink"/>
    </a:extraClrScheme>
    <a:extraClrScheme>
      <a:clrScheme name="Basin Studies 2002 2">
        <a:dk1>
          <a:srgbClr val="000066"/>
        </a:dk1>
        <a:lt1>
          <a:srgbClr val="FFFFFF"/>
        </a:lt1>
        <a:dk2>
          <a:srgbClr val="000066"/>
        </a:dk2>
        <a:lt2>
          <a:srgbClr val="000037"/>
        </a:lt2>
        <a:accent1>
          <a:srgbClr val="D5790C"/>
        </a:accent1>
        <a:accent2>
          <a:srgbClr val="D5790C"/>
        </a:accent2>
        <a:accent3>
          <a:srgbClr val="FFFFFF"/>
        </a:accent3>
        <a:accent4>
          <a:srgbClr val="000056"/>
        </a:accent4>
        <a:accent5>
          <a:srgbClr val="E7BEAA"/>
        </a:accent5>
        <a:accent6>
          <a:srgbClr val="C16D0A"/>
        </a:accent6>
        <a:hlink>
          <a:srgbClr val="5858A2"/>
        </a:hlink>
        <a:folHlink>
          <a:srgbClr val="FFFFFF"/>
        </a:folHlink>
      </a:clrScheme>
      <a:clrMap bg1="lt1" tx1="dk1" bg2="lt2" tx2="dk2" accent1="accent1" accent2="accent2" accent3="accent3" accent4="accent4" accent5="accent5" accent6="accent6" hlink="hlink" folHlink="folHlink"/>
    </a:extraClrScheme>
    <a:extraClrScheme>
      <a:clrScheme name="Basin Studies 2002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PowerBook HD:Users:robgawth:Documents:Eudora Folder:Attachments Folder:Basin Studies 2002.pot</Template>
  <TotalTime>9862</TotalTime>
  <Words>8694</Words>
  <Application>Microsoft Office PowerPoint</Application>
  <PresentationFormat>On-screen Show (4:3)</PresentationFormat>
  <Paragraphs>345</Paragraphs>
  <Slides>42</Slides>
  <Notes>42</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42</vt:i4>
      </vt:variant>
    </vt:vector>
  </HeadingPairs>
  <TitlesOfParts>
    <vt:vector size="50" baseType="lpstr">
      <vt:lpstr>Arial</vt:lpstr>
      <vt:lpstr>Cambria Math</vt:lpstr>
      <vt:lpstr>Helvetica</vt:lpstr>
      <vt:lpstr>Symbol</vt:lpstr>
      <vt:lpstr>Times</vt:lpstr>
      <vt:lpstr>Times New Roman</vt:lpstr>
      <vt:lpstr>Wingdings</vt:lpstr>
      <vt:lpstr>EART20292</vt:lpstr>
      <vt:lpstr>EART 28202 :  Structural Geology    Class 2 :  How folds form</vt:lpstr>
      <vt:lpstr>Types of folding</vt:lpstr>
      <vt:lpstr>Buckling  (introductory remarks)</vt:lpstr>
      <vt:lpstr>Single layer buckling</vt:lpstr>
      <vt:lpstr>Single layer buckling  (wavelength/thickness)</vt:lpstr>
      <vt:lpstr>Single layer buckling  (viscosity contrast)</vt:lpstr>
      <vt:lpstr>The exception – folded pinch-and-swell</vt:lpstr>
      <vt:lpstr>Multilayer buckling  1</vt:lpstr>
      <vt:lpstr>Multilayer buckling  2</vt:lpstr>
      <vt:lpstr>Multilayer buckling  3</vt:lpstr>
      <vt:lpstr>Multilayer buckling  (accommodation structures  1)</vt:lpstr>
      <vt:lpstr>Multilayer buckling  (accommodation structures  2)</vt:lpstr>
      <vt:lpstr>Buckling anisotropic rocks  1</vt:lpstr>
      <vt:lpstr>Buckling anisotropic rocks  2</vt:lpstr>
      <vt:lpstr>Buckling anisotropic rocks  (kink bands)</vt:lpstr>
      <vt:lpstr>Buckling anisotropic rocks  3</vt:lpstr>
      <vt:lpstr>Buckling anisotropic rocks  4</vt:lpstr>
      <vt:lpstr>Buckling anisotropic rocks  5</vt:lpstr>
      <vt:lpstr>The life and times of a buckle fold  1 </vt:lpstr>
      <vt:lpstr>The life and times of a buckle fold  2</vt:lpstr>
      <vt:lpstr>The life and times of a buckle fold  3</vt:lpstr>
      <vt:lpstr>Post-buckle flattening</vt:lpstr>
      <vt:lpstr>Bending</vt:lpstr>
      <vt:lpstr>Passive folding</vt:lpstr>
      <vt:lpstr>Folding mechanisms</vt:lpstr>
      <vt:lpstr>Folding mechanisms  (flexural slip/flexural flow)</vt:lpstr>
      <vt:lpstr>Folding mechanisms  (flexural slip/flexural flow)</vt:lpstr>
      <vt:lpstr>Folding mechanisms  (tangential longitudinal strain)</vt:lpstr>
      <vt:lpstr>Folding mechanisms  (tangential longitudinal strain)</vt:lpstr>
      <vt:lpstr>Folding mechanisms  (shear folding)</vt:lpstr>
      <vt:lpstr>  Non-cylindrical folds</vt:lpstr>
      <vt:lpstr>Periclines and fold hinges that bifurcate</vt:lpstr>
      <vt:lpstr>Sheath folds</vt:lpstr>
      <vt:lpstr>Soft sedimentary folds</vt:lpstr>
      <vt:lpstr>Refolded folds</vt:lpstr>
      <vt:lpstr>Refolded folds (fold interference patterns)</vt:lpstr>
      <vt:lpstr>Refolded folds  (Type 1: dome and basin)</vt:lpstr>
      <vt:lpstr>Refolded folds  (Type 2: dome-crescent-mushroom)</vt:lpstr>
      <vt:lpstr>Refolded folds  (Type 3: convergent-divergent)</vt:lpstr>
      <vt:lpstr>Refolded folds – examples of the three types</vt:lpstr>
      <vt:lpstr>Refolded folds – the real world</vt:lpstr>
      <vt:lpstr>Reading</vt:lpstr>
    </vt:vector>
  </TitlesOfParts>
  <Company>University of Manchester</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GY2141 Lecture 10</dc:subject>
  <dc:creator>Steve Covey-Crump</dc:creator>
  <cp:lastModifiedBy>Stephen Covey-crump</cp:lastModifiedBy>
  <cp:revision>412</cp:revision>
  <cp:lastPrinted>2002-03-22T07:32:28Z</cp:lastPrinted>
  <dcterms:created xsi:type="dcterms:W3CDTF">2002-10-21T14:42:49Z</dcterms:created>
  <dcterms:modified xsi:type="dcterms:W3CDTF">2026-02-12T11:49:23Z</dcterms:modified>
</cp:coreProperties>
</file>