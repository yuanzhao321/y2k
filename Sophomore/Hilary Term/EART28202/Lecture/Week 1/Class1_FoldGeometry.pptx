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Lst>
  <p:notesMasterIdLst>
    <p:notesMasterId r:id="rId47"/>
  </p:notesMasterIdLst>
  <p:handoutMasterIdLst>
    <p:handoutMasterId r:id="rId48"/>
  </p:handoutMasterIdLst>
  <p:sldIdLst>
    <p:sldId id="316" r:id="rId2"/>
    <p:sldId id="362" r:id="rId3"/>
    <p:sldId id="319" r:id="rId4"/>
    <p:sldId id="320" r:id="rId5"/>
    <p:sldId id="321" r:id="rId6"/>
    <p:sldId id="322" r:id="rId7"/>
    <p:sldId id="323" r:id="rId8"/>
    <p:sldId id="324" r:id="rId9"/>
    <p:sldId id="325" r:id="rId10"/>
    <p:sldId id="326" r:id="rId11"/>
    <p:sldId id="327" r:id="rId12"/>
    <p:sldId id="328" r:id="rId13"/>
    <p:sldId id="363" r:id="rId14"/>
    <p:sldId id="330" r:id="rId15"/>
    <p:sldId id="331" r:id="rId16"/>
    <p:sldId id="361" r:id="rId17"/>
    <p:sldId id="333" r:id="rId18"/>
    <p:sldId id="364" r:id="rId19"/>
    <p:sldId id="375" r:id="rId20"/>
    <p:sldId id="335" r:id="rId21"/>
    <p:sldId id="337" r:id="rId22"/>
    <p:sldId id="338" r:id="rId23"/>
    <p:sldId id="340" r:id="rId24"/>
    <p:sldId id="343" r:id="rId25"/>
    <p:sldId id="342" r:id="rId26"/>
    <p:sldId id="365" r:id="rId27"/>
    <p:sldId id="370" r:id="rId28"/>
    <p:sldId id="366" r:id="rId29"/>
    <p:sldId id="348" r:id="rId30"/>
    <p:sldId id="376" r:id="rId31"/>
    <p:sldId id="367" r:id="rId32"/>
    <p:sldId id="350" r:id="rId33"/>
    <p:sldId id="368" r:id="rId34"/>
    <p:sldId id="352" r:id="rId35"/>
    <p:sldId id="371" r:id="rId36"/>
    <p:sldId id="377" r:id="rId37"/>
    <p:sldId id="378" r:id="rId38"/>
    <p:sldId id="360" r:id="rId39"/>
    <p:sldId id="345" r:id="rId40"/>
    <p:sldId id="353" r:id="rId41"/>
    <p:sldId id="373" r:id="rId42"/>
    <p:sldId id="374" r:id="rId43"/>
    <p:sldId id="369" r:id="rId44"/>
    <p:sldId id="359" r:id="rId45"/>
    <p:sldId id="357" r:id="rId46"/>
  </p:sldIdLst>
  <p:sldSz cx="9144000" cy="6858000" type="screen4x3"/>
  <p:notesSz cx="6732588" cy="9855200"/>
  <p:defaultTextStyle>
    <a:defPPr>
      <a:defRPr lang="en-GB"/>
    </a:defPPr>
    <a:lvl1pPr algn="l" rtl="0" eaLnBrk="0" fontAlgn="base" hangingPunct="0">
      <a:spcBef>
        <a:spcPct val="0"/>
      </a:spcBef>
      <a:spcAft>
        <a:spcPct val="0"/>
      </a:spcAft>
      <a:defRPr sz="1600" kern="1200">
        <a:solidFill>
          <a:schemeClr val="tx1"/>
        </a:solidFill>
        <a:latin typeface="Helvetica" charset="0"/>
        <a:ea typeface="+mn-ea"/>
        <a:cs typeface="+mn-cs"/>
      </a:defRPr>
    </a:lvl1pPr>
    <a:lvl2pPr marL="457200" algn="l" rtl="0" eaLnBrk="0" fontAlgn="base" hangingPunct="0">
      <a:spcBef>
        <a:spcPct val="0"/>
      </a:spcBef>
      <a:spcAft>
        <a:spcPct val="0"/>
      </a:spcAft>
      <a:defRPr sz="1600" kern="1200">
        <a:solidFill>
          <a:schemeClr val="tx1"/>
        </a:solidFill>
        <a:latin typeface="Helvetica" charset="0"/>
        <a:ea typeface="+mn-ea"/>
        <a:cs typeface="+mn-cs"/>
      </a:defRPr>
    </a:lvl2pPr>
    <a:lvl3pPr marL="914400" algn="l" rtl="0" eaLnBrk="0" fontAlgn="base" hangingPunct="0">
      <a:spcBef>
        <a:spcPct val="0"/>
      </a:spcBef>
      <a:spcAft>
        <a:spcPct val="0"/>
      </a:spcAft>
      <a:defRPr sz="1600" kern="1200">
        <a:solidFill>
          <a:schemeClr val="tx1"/>
        </a:solidFill>
        <a:latin typeface="Helvetica" charset="0"/>
        <a:ea typeface="+mn-ea"/>
        <a:cs typeface="+mn-cs"/>
      </a:defRPr>
    </a:lvl3pPr>
    <a:lvl4pPr marL="1371600" algn="l" rtl="0" eaLnBrk="0" fontAlgn="base" hangingPunct="0">
      <a:spcBef>
        <a:spcPct val="0"/>
      </a:spcBef>
      <a:spcAft>
        <a:spcPct val="0"/>
      </a:spcAft>
      <a:defRPr sz="1600" kern="1200">
        <a:solidFill>
          <a:schemeClr val="tx1"/>
        </a:solidFill>
        <a:latin typeface="Helvetica" charset="0"/>
        <a:ea typeface="+mn-ea"/>
        <a:cs typeface="+mn-cs"/>
      </a:defRPr>
    </a:lvl4pPr>
    <a:lvl5pPr marL="1828800" algn="l" rtl="0" eaLnBrk="0" fontAlgn="base" hangingPunct="0">
      <a:spcBef>
        <a:spcPct val="0"/>
      </a:spcBef>
      <a:spcAft>
        <a:spcPct val="0"/>
      </a:spcAft>
      <a:defRPr sz="1600" kern="1200">
        <a:solidFill>
          <a:schemeClr val="tx1"/>
        </a:solidFill>
        <a:latin typeface="Helvetica" charset="0"/>
        <a:ea typeface="+mn-ea"/>
        <a:cs typeface="+mn-cs"/>
      </a:defRPr>
    </a:lvl5pPr>
    <a:lvl6pPr marL="2286000" algn="l" defTabSz="914400" rtl="0" eaLnBrk="1" latinLnBrk="0" hangingPunct="1">
      <a:defRPr sz="1600" kern="1200">
        <a:solidFill>
          <a:schemeClr val="tx1"/>
        </a:solidFill>
        <a:latin typeface="Helvetica" charset="0"/>
        <a:ea typeface="+mn-ea"/>
        <a:cs typeface="+mn-cs"/>
      </a:defRPr>
    </a:lvl6pPr>
    <a:lvl7pPr marL="2743200" algn="l" defTabSz="914400" rtl="0" eaLnBrk="1" latinLnBrk="0" hangingPunct="1">
      <a:defRPr sz="1600" kern="1200">
        <a:solidFill>
          <a:schemeClr val="tx1"/>
        </a:solidFill>
        <a:latin typeface="Helvetica" charset="0"/>
        <a:ea typeface="+mn-ea"/>
        <a:cs typeface="+mn-cs"/>
      </a:defRPr>
    </a:lvl7pPr>
    <a:lvl8pPr marL="3200400" algn="l" defTabSz="914400" rtl="0" eaLnBrk="1" latinLnBrk="0" hangingPunct="1">
      <a:defRPr sz="1600" kern="1200">
        <a:solidFill>
          <a:schemeClr val="tx1"/>
        </a:solidFill>
        <a:latin typeface="Helvetica" charset="0"/>
        <a:ea typeface="+mn-ea"/>
        <a:cs typeface="+mn-cs"/>
      </a:defRPr>
    </a:lvl8pPr>
    <a:lvl9pPr marL="3657600" algn="l" defTabSz="914400" rtl="0" eaLnBrk="1" latinLnBrk="0" hangingPunct="1">
      <a:defRPr sz="1600" kern="1200">
        <a:solidFill>
          <a:schemeClr val="tx1"/>
        </a:solidFill>
        <a:latin typeface="Helvetica" charset="0"/>
        <a:ea typeface="+mn-ea"/>
        <a:cs typeface="+mn-cs"/>
      </a:defRPr>
    </a:lvl9pPr>
  </p:defaultTextStyle>
  <p:extLst>
    <p:ext uri="{EFAFB233-063F-42B5-8137-9DF3F51BA10A}">
      <p15:sldGuideLst xmlns:p15="http://schemas.microsoft.com/office/powerpoint/2012/main">
        <p15:guide id="1" orient="horz" pos="291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00"/>
    <a:srgbClr val="FF0000"/>
    <a:srgbClr val="D3D3FF"/>
    <a:srgbClr val="B7B7FF"/>
    <a:srgbClr val="A1A1FF"/>
    <a:srgbClr val="FF66CC"/>
    <a:srgbClr val="FFFF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005" autoAdjust="0"/>
    <p:restoredTop sz="76319" autoAdjust="0"/>
  </p:normalViewPr>
  <p:slideViewPr>
    <p:cSldViewPr snapToGrid="0">
      <p:cViewPr varScale="1">
        <p:scale>
          <a:sx n="84" d="100"/>
          <a:sy n="84" d="100"/>
        </p:scale>
        <p:origin x="2832" y="90"/>
      </p:cViewPr>
      <p:guideLst>
        <p:guide orient="horz" pos="2914"/>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1835AB58-5263-4DE0-9034-008E4C8C5ADA}"/>
              </a:ext>
            </a:extLst>
          </p:cNvPr>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a:effectLst/>
                <a:latin typeface="Arial" charset="0"/>
              </a:defRPr>
            </a:lvl1pPr>
          </a:lstStyle>
          <a:p>
            <a:pPr>
              <a:defRPr/>
            </a:pPr>
            <a:endParaRPr lang="en-GB"/>
          </a:p>
        </p:txBody>
      </p:sp>
      <p:sp>
        <p:nvSpPr>
          <p:cNvPr id="87043" name="Rectangle 3">
            <a:extLst>
              <a:ext uri="{FF2B5EF4-FFF2-40B4-BE49-F238E27FC236}">
                <a16:creationId xmlns:a16="http://schemas.microsoft.com/office/drawing/2014/main" id="{4B675BCD-CF27-4992-89E0-3757498E7D19}"/>
              </a:ext>
            </a:extLst>
          </p:cNvPr>
          <p:cNvSpPr>
            <a:spLocks noGrp="1" noChangeArrowheads="1"/>
          </p:cNvSpPr>
          <p:nvPr>
            <p:ph type="dt" sz="quarter"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a:effectLst/>
                <a:latin typeface="Arial" charset="0"/>
              </a:defRPr>
            </a:lvl1pPr>
          </a:lstStyle>
          <a:p>
            <a:pPr>
              <a:defRPr/>
            </a:pPr>
            <a:endParaRPr lang="en-GB"/>
          </a:p>
        </p:txBody>
      </p:sp>
      <p:sp>
        <p:nvSpPr>
          <p:cNvPr id="87044" name="Rectangle 4">
            <a:extLst>
              <a:ext uri="{FF2B5EF4-FFF2-40B4-BE49-F238E27FC236}">
                <a16:creationId xmlns:a16="http://schemas.microsoft.com/office/drawing/2014/main" id="{C86F6981-458F-4A61-9671-C7ED8003DB9A}"/>
              </a:ext>
            </a:extLst>
          </p:cNvPr>
          <p:cNvSpPr>
            <a:spLocks noGrp="1" noChangeArrowheads="1"/>
          </p:cNvSpPr>
          <p:nvPr>
            <p:ph type="ftr" sz="quarter" idx="2"/>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a:effectLst/>
                <a:latin typeface="Arial" charset="0"/>
              </a:defRPr>
            </a:lvl1pPr>
          </a:lstStyle>
          <a:p>
            <a:pPr>
              <a:defRPr/>
            </a:pPr>
            <a:endParaRPr lang="en-GB"/>
          </a:p>
        </p:txBody>
      </p:sp>
      <p:sp>
        <p:nvSpPr>
          <p:cNvPr id="87045" name="Rectangle 5">
            <a:extLst>
              <a:ext uri="{FF2B5EF4-FFF2-40B4-BE49-F238E27FC236}">
                <a16:creationId xmlns:a16="http://schemas.microsoft.com/office/drawing/2014/main" id="{A74BE46E-1359-4118-A816-479625437C55}"/>
              </a:ext>
            </a:extLst>
          </p:cNvPr>
          <p:cNvSpPr>
            <a:spLocks noGrp="1" noChangeArrowheads="1"/>
          </p:cNvSpPr>
          <p:nvPr>
            <p:ph type="sldNum" sz="quarter" idx="3"/>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defRPr sz="1200">
                <a:latin typeface="Arial" charset="0"/>
              </a:defRPr>
            </a:lvl1pPr>
          </a:lstStyle>
          <a:p>
            <a:fld id="{A1AF8668-47B7-4917-A504-BE00F998E3C3}" type="slidenum">
              <a:rPr lang="en-GB" altLang="en-US"/>
              <a:pPr/>
              <a:t>‹#›</a:t>
            </a:fld>
            <a:endParaRPr lang="en-GB" altLang="en-US"/>
          </a:p>
        </p:txBody>
      </p:sp>
    </p:spTree>
    <p:extLst>
      <p:ext uri="{BB962C8B-B14F-4D97-AF65-F5344CB8AC3E}">
        <p14:creationId xmlns:p14="http://schemas.microsoft.com/office/powerpoint/2010/main" val="1189825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99268FC8-6F62-4601-A7C9-AEBCE84581AC}"/>
              </a:ext>
            </a:extLst>
          </p:cNvPr>
          <p:cNvSpPr>
            <a:spLocks noGrp="1" noChangeArrowheads="1"/>
          </p:cNvSpPr>
          <p:nvPr>
            <p:ph type="hdr" sz="quarter"/>
          </p:nvPr>
        </p:nvSpPr>
        <p:spPr bwMode="auto">
          <a:xfrm>
            <a:off x="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defTabSz="912813">
              <a:spcBef>
                <a:spcPct val="0"/>
              </a:spcBef>
              <a:buClrTx/>
              <a:defRPr sz="1200">
                <a:effectLst/>
                <a:latin typeface="Arial" charset="0"/>
              </a:defRPr>
            </a:lvl1pPr>
          </a:lstStyle>
          <a:p>
            <a:pPr>
              <a:defRPr/>
            </a:pPr>
            <a:endParaRPr lang="en-GB"/>
          </a:p>
        </p:txBody>
      </p:sp>
      <p:sp>
        <p:nvSpPr>
          <p:cNvPr id="43011" name="Rectangle 3">
            <a:extLst>
              <a:ext uri="{FF2B5EF4-FFF2-40B4-BE49-F238E27FC236}">
                <a16:creationId xmlns:a16="http://schemas.microsoft.com/office/drawing/2014/main" id="{1055B5E1-76FB-467B-8253-155F8FB5DCFF}"/>
              </a:ext>
            </a:extLst>
          </p:cNvPr>
          <p:cNvSpPr>
            <a:spLocks noGrp="1" noChangeArrowheads="1"/>
          </p:cNvSpPr>
          <p:nvPr>
            <p:ph type="dt" idx="1"/>
          </p:nvPr>
        </p:nvSpPr>
        <p:spPr bwMode="auto">
          <a:xfrm>
            <a:off x="3803650" y="0"/>
            <a:ext cx="2890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lvl1pPr algn="r" defTabSz="912813">
              <a:spcBef>
                <a:spcPct val="0"/>
              </a:spcBef>
              <a:buClrTx/>
              <a:defRPr sz="1200">
                <a:effectLst/>
                <a:latin typeface="Arial" charset="0"/>
              </a:defRPr>
            </a:lvl1pPr>
          </a:lstStyle>
          <a:p>
            <a:pPr>
              <a:defRPr/>
            </a:pPr>
            <a:endParaRPr lang="en-GB"/>
          </a:p>
        </p:txBody>
      </p:sp>
      <p:sp>
        <p:nvSpPr>
          <p:cNvPr id="3076" name="Rectangle 4"/>
          <p:cNvSpPr>
            <a:spLocks noGrp="1" noRot="1" noChangeAspect="1" noChangeArrowheads="1" noTextEdit="1"/>
          </p:cNvSpPr>
          <p:nvPr>
            <p:ph type="sldImg" idx="2"/>
          </p:nvPr>
        </p:nvSpPr>
        <p:spPr bwMode="auto">
          <a:xfrm>
            <a:off x="954088" y="758825"/>
            <a:ext cx="4864100" cy="36480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013" name="Rectangle 5">
            <a:extLst>
              <a:ext uri="{FF2B5EF4-FFF2-40B4-BE49-F238E27FC236}">
                <a16:creationId xmlns:a16="http://schemas.microsoft.com/office/drawing/2014/main" id="{4813605A-8FD1-4CAF-9D6E-704A77E3124C}"/>
              </a:ext>
            </a:extLst>
          </p:cNvPr>
          <p:cNvSpPr>
            <a:spLocks noGrp="1" noChangeArrowheads="1"/>
          </p:cNvSpPr>
          <p:nvPr>
            <p:ph type="body" sz="quarter" idx="3"/>
          </p:nvPr>
        </p:nvSpPr>
        <p:spPr bwMode="auto">
          <a:xfrm>
            <a:off x="912813" y="4711700"/>
            <a:ext cx="4945062"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3014" name="Rectangle 6">
            <a:extLst>
              <a:ext uri="{FF2B5EF4-FFF2-40B4-BE49-F238E27FC236}">
                <a16:creationId xmlns:a16="http://schemas.microsoft.com/office/drawing/2014/main" id="{F61D450A-C674-489D-8ADF-90511A70229F}"/>
              </a:ext>
            </a:extLst>
          </p:cNvPr>
          <p:cNvSpPr>
            <a:spLocks noGrp="1" noChangeArrowheads="1"/>
          </p:cNvSpPr>
          <p:nvPr>
            <p:ph type="ftr" sz="quarter" idx="4"/>
          </p:nvPr>
        </p:nvSpPr>
        <p:spPr bwMode="auto">
          <a:xfrm>
            <a:off x="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defTabSz="912813">
              <a:spcBef>
                <a:spcPct val="0"/>
              </a:spcBef>
              <a:buClrTx/>
              <a:defRPr sz="1200">
                <a:effectLst/>
                <a:latin typeface="Arial" charset="0"/>
              </a:defRPr>
            </a:lvl1pPr>
          </a:lstStyle>
          <a:p>
            <a:pPr>
              <a:defRPr/>
            </a:pPr>
            <a:endParaRPr lang="en-GB"/>
          </a:p>
        </p:txBody>
      </p:sp>
      <p:sp>
        <p:nvSpPr>
          <p:cNvPr id="43015" name="Rectangle 7">
            <a:extLst>
              <a:ext uri="{FF2B5EF4-FFF2-40B4-BE49-F238E27FC236}">
                <a16:creationId xmlns:a16="http://schemas.microsoft.com/office/drawing/2014/main" id="{02331A4B-2542-4985-A3CD-B92546A208B8}"/>
              </a:ext>
            </a:extLst>
          </p:cNvPr>
          <p:cNvSpPr>
            <a:spLocks noGrp="1" noChangeArrowheads="1"/>
          </p:cNvSpPr>
          <p:nvPr>
            <p:ph type="sldNum" sz="quarter" idx="5"/>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285" tIns="45642" rIns="91285" bIns="45642" numCol="1" anchor="b" anchorCtr="0" compatLnSpc="1">
            <a:prstTxWarp prst="textNoShape">
              <a:avLst/>
            </a:prstTxWarp>
          </a:bodyPr>
          <a:lstStyle>
            <a:lvl1pPr algn="r" defTabSz="912813">
              <a:defRPr sz="1200">
                <a:latin typeface="Arial" charset="0"/>
              </a:defRPr>
            </a:lvl1pPr>
          </a:lstStyle>
          <a:p>
            <a:fld id="{697C009B-9679-4A70-8D45-342CF50E3D29}" type="slidenum">
              <a:rPr lang="en-GB" altLang="en-US"/>
              <a:pPr/>
              <a:t>‹#›</a:t>
            </a:fld>
            <a:endParaRPr lang="en-GB" altLang="en-US"/>
          </a:p>
        </p:txBody>
      </p:sp>
    </p:spTree>
    <p:extLst>
      <p:ext uri="{BB962C8B-B14F-4D97-AF65-F5344CB8AC3E}">
        <p14:creationId xmlns:p14="http://schemas.microsoft.com/office/powerpoint/2010/main" val="380162494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spect="1" noChangeArrowheads="1" noTextEdit="1"/>
          </p:cNvSpPr>
          <p:nvPr>
            <p:ph type="sldImg"/>
          </p:nvPr>
        </p:nvSpPr>
        <p:spPr>
          <a:ln/>
        </p:spPr>
      </p:sp>
      <p:sp>
        <p:nvSpPr>
          <p:cNvPr id="6147"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In the notes panes to these slides there are numerous references (figure credits and further reading). If the reference is incomplete it refers to the references stated in the reading list on the last slide</a:t>
            </a:r>
          </a:p>
          <a:p>
            <a:pPr marL="108000" indent="-108000">
              <a:spcBef>
                <a:spcPts val="300"/>
              </a:spcBef>
              <a:buFontTx/>
              <a:buChar char="•"/>
            </a:pPr>
            <a:r>
              <a:rPr lang="en-GB" altLang="en-US" sz="1000" dirty="0"/>
              <a:t>With regard to figures in this PowerPoint file, many will be subject to copyright restrictions. I don’t care about you using any of the figures/photos that are mine (Steve Covey-Crump), although a credit would be nice, but take care to comply with copyright restrictions if you reuse any that are not</a:t>
            </a:r>
          </a:p>
          <a:p>
            <a:pPr marL="0" indent="0">
              <a:spcBef>
                <a:spcPts val="300"/>
              </a:spcBef>
              <a:buFontTx/>
              <a:buNone/>
            </a:pPr>
            <a:endParaRPr lang="en-GB" altLang="en-US" sz="10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spect="1" noChangeArrowheads="1" noTextEdit="1"/>
          </p:cNvSpPr>
          <p:nvPr>
            <p:ph type="sldImg"/>
          </p:nvPr>
        </p:nvSpPr>
        <p:spPr>
          <a:ln/>
        </p:spPr>
      </p:sp>
      <p:sp>
        <p:nvSpPr>
          <p:cNvPr id="8195"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For folding at the microscopic (thin section) scale, see </a:t>
            </a:r>
            <a:r>
              <a:rPr lang="en-GB" altLang="en-US" sz="1000" dirty="0" err="1"/>
              <a:t>Passchier</a:t>
            </a:r>
            <a:r>
              <a:rPr lang="en-GB" altLang="en-US" sz="1000" dirty="0"/>
              <a:t> &amp; </a:t>
            </a:r>
            <a:r>
              <a:rPr lang="en-GB" altLang="en-US" sz="1000" dirty="0" err="1"/>
              <a:t>Trouw</a:t>
            </a:r>
            <a:r>
              <a:rPr lang="en-GB" altLang="en-US" sz="1000" dirty="0"/>
              <a:t>, 2005, </a:t>
            </a:r>
            <a:r>
              <a:rPr lang="en-GB" altLang="en-US" sz="1000" i="1" dirty="0" err="1"/>
              <a:t>Microtectonics</a:t>
            </a:r>
            <a:r>
              <a:rPr lang="en-GB" altLang="en-US" sz="1000" dirty="0"/>
              <a:t> (2</a:t>
            </a:r>
            <a:r>
              <a:rPr lang="en-GB" altLang="en-US" sz="1000" baseline="30000" dirty="0"/>
              <a:t>nd</a:t>
            </a:r>
            <a:r>
              <a:rPr lang="en-GB" altLang="en-US" sz="1000" dirty="0"/>
              <a:t> edition). This is available as an </a:t>
            </a:r>
            <a:r>
              <a:rPr lang="en-GB" altLang="en-US" sz="1000" dirty="0" err="1"/>
              <a:t>ebook</a:t>
            </a:r>
            <a:r>
              <a:rPr lang="en-GB" altLang="en-US" sz="1000" dirty="0"/>
              <a:t> from the library. At the scale of the thin section there are many connections between the material I am covering and the material that Alison Pawley is delivering in </a:t>
            </a:r>
            <a:r>
              <a:rPr lang="en-GB" altLang="en-US" sz="1000" i="1" dirty="0"/>
              <a:t>Metamorphic Minerals and Processes</a:t>
            </a:r>
            <a:r>
              <a:rPr lang="en-GB" altLang="en-US" sz="1000" dirty="0"/>
              <a:t>, and so </a:t>
            </a:r>
            <a:r>
              <a:rPr lang="en-GB" altLang="en-US" sz="1000" dirty="0" err="1"/>
              <a:t>Passchier</a:t>
            </a:r>
            <a:r>
              <a:rPr lang="en-GB" altLang="en-US" sz="1000" dirty="0"/>
              <a:t> &amp; </a:t>
            </a:r>
            <a:r>
              <a:rPr lang="en-GB" altLang="en-US" sz="1000" dirty="0" err="1"/>
              <a:t>Trouw</a:t>
            </a:r>
            <a:r>
              <a:rPr lang="en-GB" altLang="en-US" sz="1000" dirty="0"/>
              <a:t> is a good source of information for parts of her course unit too</a:t>
            </a:r>
          </a:p>
          <a:p>
            <a:pPr marL="108000" indent="-108000">
              <a:spcBef>
                <a:spcPts val="300"/>
              </a:spcBef>
              <a:buFontTx/>
              <a:buChar char="•"/>
            </a:pPr>
            <a:r>
              <a:rPr lang="en-GB" altLang="en-US" sz="1000" dirty="0"/>
              <a:t>We will consider how folds form in Class 2</a:t>
            </a:r>
          </a:p>
          <a:p>
            <a:pPr marL="108000" indent="-108000">
              <a:spcBef>
                <a:spcPts val="300"/>
              </a:spcBef>
              <a:buFontTx/>
              <a:buChar char="•"/>
            </a:pPr>
            <a:r>
              <a:rPr lang="en-GB" altLang="en-US" sz="1000" dirty="0"/>
              <a:t>Photo left (Steve Covey-Crump): Hope’s Nose, near Torquay, South Devon</a:t>
            </a:r>
          </a:p>
          <a:p>
            <a:pPr marL="108000" indent="-108000">
              <a:spcBef>
                <a:spcPts val="300"/>
              </a:spcBef>
              <a:buFontTx/>
              <a:buChar char="•"/>
            </a:pPr>
            <a:r>
              <a:rPr lang="en-GB" altLang="en-US" sz="1000" dirty="0"/>
              <a:t>Photo right (Steve Covey-Crump): the </a:t>
            </a:r>
            <a:r>
              <a:rPr lang="en-GB" altLang="en-US" sz="1000" dirty="0" err="1"/>
              <a:t>Vélodrome</a:t>
            </a:r>
            <a:r>
              <a:rPr lang="en-GB" altLang="en-US" sz="1000" dirty="0"/>
              <a:t>, near </a:t>
            </a:r>
            <a:r>
              <a:rPr lang="en-GB" altLang="en-US" sz="1000" dirty="0" err="1"/>
              <a:t>Digne</a:t>
            </a:r>
            <a:r>
              <a:rPr lang="en-GB" altLang="en-US" sz="1000" dirty="0"/>
              <a:t>-les-Bains, France</a:t>
            </a:r>
          </a:p>
          <a:p>
            <a:pPr marL="0" indent="0">
              <a:spcBef>
                <a:spcPts val="300"/>
              </a:spcBef>
              <a:buFontTx/>
              <a:buNone/>
            </a:pPr>
            <a:endParaRPr lang="en-GB" altLang="en-US" sz="10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a:ln/>
        </p:spPr>
      </p:sp>
      <p:sp>
        <p:nvSpPr>
          <p:cNvPr id="10243"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Real folds are not perfectly cylindrical, but they may be subdivided into parts that are approximately cylindrical. The use of stereograms to describe fold geometry relies on the folds being cylindrical over the area from which the data have been collected</a:t>
            </a:r>
          </a:p>
          <a:p>
            <a:pPr marL="108000" indent="-108000">
              <a:spcBef>
                <a:spcPts val="300"/>
              </a:spcBef>
              <a:buFontTx/>
              <a:buChar char="•"/>
            </a:pPr>
            <a:r>
              <a:rPr lang="en-GB" altLang="en-US" sz="1000" dirty="0"/>
              <a:t>Note that the fold axis is not defined at any particular location on the folded surface, that is, the fold axis is not just along the hinge</a:t>
            </a:r>
          </a:p>
          <a:p>
            <a:pPr marL="108000" indent="-108000">
              <a:spcBef>
                <a:spcPts val="300"/>
              </a:spcBef>
              <a:buFontTx/>
              <a:buChar char="•"/>
            </a:pPr>
            <a:r>
              <a:rPr lang="en-GB" altLang="en-US" sz="1000" dirty="0"/>
              <a:t>Two figures top redrawn by Steve Covey-Crump from Lisle, 2004, </a:t>
            </a:r>
            <a:r>
              <a:rPr lang="en-GB" altLang="en-US" sz="1000" i="1" dirty="0"/>
              <a:t>Geological Structures and Maps: A Practical Guide </a:t>
            </a:r>
            <a:r>
              <a:rPr lang="en-GB" altLang="en-US" sz="1000" i="0" dirty="0"/>
              <a:t>(3</a:t>
            </a:r>
            <a:r>
              <a:rPr lang="en-GB" altLang="en-US" sz="1000" i="0" baseline="30000" dirty="0"/>
              <a:t>rd</a:t>
            </a:r>
            <a:r>
              <a:rPr lang="en-GB" altLang="en-US" sz="1000" i="0" dirty="0"/>
              <a:t> edition)</a:t>
            </a:r>
            <a:r>
              <a:rPr lang="en-GB" altLang="en-US" sz="1000" dirty="0"/>
              <a:t>, p.29</a:t>
            </a:r>
          </a:p>
          <a:p>
            <a:pPr marL="108000" indent="-108000">
              <a:spcBef>
                <a:spcPts val="300"/>
              </a:spcBef>
              <a:buFontTx/>
              <a:buChar char="•"/>
            </a:pPr>
            <a:r>
              <a:rPr lang="en-GB" altLang="en-US" sz="1000" dirty="0"/>
              <a:t>Figure bottom by Steve Covey-Crump</a:t>
            </a:r>
          </a:p>
          <a:p>
            <a:pPr marL="0" indent="0">
              <a:spcBef>
                <a:spcPts val="300"/>
              </a:spcBef>
              <a:buFontTx/>
              <a:buNone/>
            </a:pPr>
            <a:endParaRPr lang="en-GB" altLang="en-US" sz="10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Some points to remember:</a:t>
            </a:r>
          </a:p>
          <a:p>
            <a:pPr marL="324000" lvl="1" indent="-144000">
              <a:spcBef>
                <a:spcPts val="300"/>
              </a:spcBef>
              <a:buFont typeface="Calibri" pitchFamily="34" charset="0"/>
              <a:buAutoNum type="arabicPeriod"/>
            </a:pPr>
            <a:r>
              <a:rPr lang="en-GB" altLang="en-US" sz="1000" dirty="0"/>
              <a:t> the hinge line is parallel to the fold axis but unlike the fold axis, it is at a specific location on the fold;</a:t>
            </a:r>
          </a:p>
          <a:p>
            <a:pPr marL="324000" lvl="1" indent="-144000">
              <a:spcBef>
                <a:spcPts val="300"/>
              </a:spcBef>
              <a:buFont typeface="Calibri" pitchFamily="34" charset="0"/>
              <a:buAutoNum type="arabicPeriod"/>
            </a:pPr>
            <a:r>
              <a:rPr lang="en-GB" altLang="en-US" sz="1000" dirty="0"/>
              <a:t> inflection lines separate different folds, that is, a single fold is the portion of the folded surface that lies between two adjacent inflection lines;</a:t>
            </a:r>
          </a:p>
          <a:p>
            <a:pPr marL="324000" lvl="1" indent="-144000">
              <a:spcBef>
                <a:spcPts val="300"/>
              </a:spcBef>
              <a:buFont typeface="Calibri" pitchFamily="34" charset="0"/>
              <a:buAutoNum type="arabicPeriod"/>
            </a:pPr>
            <a:r>
              <a:rPr lang="en-GB" altLang="en-US" sz="1000" dirty="0"/>
              <a:t> the crest line and trough line each only coincide with a hinge line if the fold has a vertical axial plane (for the definition of an axial plane, see Slide 6)</a:t>
            </a:r>
          </a:p>
          <a:p>
            <a:pPr marL="108000" indent="-108000">
              <a:spcBef>
                <a:spcPts val="300"/>
              </a:spcBef>
              <a:buFontTx/>
              <a:buChar char="•"/>
            </a:pPr>
            <a:r>
              <a:rPr lang="en-GB" altLang="en-US" sz="1000" dirty="0"/>
              <a:t>Figures from Twiss &amp; </a:t>
            </a:r>
            <a:r>
              <a:rPr lang="en-GB" altLang="en-US" sz="1000" dirty="0" err="1"/>
              <a:t>Moores</a:t>
            </a:r>
            <a:r>
              <a:rPr lang="en-GB" altLang="en-US" sz="1000" dirty="0"/>
              <a:t>, p.277, 278</a:t>
            </a:r>
          </a:p>
          <a:p>
            <a:pPr marL="0" indent="0">
              <a:spcBef>
                <a:spcPts val="300"/>
              </a:spcBef>
              <a:buFontTx/>
              <a:buNone/>
            </a:pPr>
            <a:endParaRPr lang="en-GB" altLang="en-US" sz="10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ln/>
        </p:spPr>
      </p:sp>
      <p:sp>
        <p:nvSpPr>
          <p:cNvPr id="14339"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Figure left redrawn by Steve Covey-Crump from Ragan, p.372</a:t>
            </a:r>
          </a:p>
          <a:p>
            <a:pPr marL="108000" indent="-108000">
              <a:spcBef>
                <a:spcPts val="300"/>
              </a:spcBef>
              <a:buFontTx/>
              <a:buChar char="•"/>
            </a:pPr>
            <a:r>
              <a:rPr lang="en-GB" altLang="en-US" sz="1000" dirty="0"/>
              <a:t>Figure right redrawn by Steve Covey-Crump from Lisle, 2004, </a:t>
            </a:r>
            <a:r>
              <a:rPr lang="en-GB" altLang="en-US" sz="1000" i="1" dirty="0"/>
              <a:t>Geological Structures and Maps: A Practical Guide </a:t>
            </a:r>
            <a:r>
              <a:rPr lang="en-GB" altLang="en-US" sz="1000" i="0" dirty="0"/>
              <a:t>(3</a:t>
            </a:r>
            <a:r>
              <a:rPr lang="en-GB" altLang="en-US" sz="1000" i="0" baseline="30000" dirty="0"/>
              <a:t>rd</a:t>
            </a:r>
            <a:r>
              <a:rPr lang="en-GB" altLang="en-US" sz="1000" i="0" dirty="0"/>
              <a:t> edition)</a:t>
            </a:r>
            <a:r>
              <a:rPr lang="en-GB" altLang="en-US" sz="1000" dirty="0"/>
              <a:t>, p.33</a:t>
            </a:r>
          </a:p>
          <a:p>
            <a:pPr marL="0" indent="0">
              <a:spcBef>
                <a:spcPts val="300"/>
              </a:spcBef>
              <a:buFontTx/>
              <a:buNone/>
            </a:pPr>
            <a:endParaRPr lang="en-GB" altLang="en-US" sz="10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5B8F4F06-AC25-4EC2-B9A0-9E84B7BF9399}"/>
              </a:ext>
            </a:extLst>
          </p:cNvPr>
          <p:cNvSpPr>
            <a:spLocks noGrp="1" noChangeArrowheads="1"/>
          </p:cNvSpPr>
          <p:nvPr>
            <p:ph type="body" idx="1"/>
          </p:nvPr>
        </p:nvSpPr>
        <p:spPr/>
        <p:txBody>
          <a:bodyPr/>
          <a:lstStyle/>
          <a:p>
            <a:pPr marL="108000" indent="-108000">
              <a:spcBef>
                <a:spcPts val="300"/>
              </a:spcBef>
              <a:buFont typeface="Arial" panose="020B0604020202020204" pitchFamily="34" charset="0"/>
              <a:buChar char="•"/>
              <a:defRPr/>
            </a:pPr>
            <a:r>
              <a:rPr lang="en-GB" altLang="en-US" sz="1000" dirty="0"/>
              <a:t>In principle, one could distinguish the </a:t>
            </a:r>
            <a:r>
              <a:rPr lang="en-GB" altLang="en-US" sz="1000" i="1" dirty="0"/>
              <a:t>hinge plane</a:t>
            </a:r>
            <a:r>
              <a:rPr lang="en-GB" altLang="en-US" sz="1000" dirty="0"/>
              <a:t> and the axial plane in the same way as the hinge line and fold axis are distinguished, that is, the hinge plane and axial plane are parallel with each other, but the former relates to a specific location (the hinge of the fold) whereas the latter does not (see notes to Slides 3 and 4)</a:t>
            </a:r>
          </a:p>
          <a:p>
            <a:pPr marL="108000" indent="-108000">
              <a:spcBef>
                <a:spcPts val="300"/>
              </a:spcBef>
              <a:buFont typeface="Arial" panose="020B0604020202020204" pitchFamily="34" charset="0"/>
              <a:buChar char="•"/>
              <a:defRPr/>
            </a:pPr>
            <a:r>
              <a:rPr lang="en-GB" altLang="en-US" sz="1000" b="1" dirty="0"/>
              <a:t>Very important:</a:t>
            </a:r>
            <a:r>
              <a:rPr lang="en-GB" altLang="en-US" sz="1000" dirty="0"/>
              <a:t> on a geological map the plunge direction of the fold axis is not generally in the same orientation as the axial trace (it is ONLY in the same orientation if the axial plane is vertical or the fold axis is horizontal). Since the fold axis lies in the axial plane, on a stereogram it lies on the great circle that describes the orientation of the axial plane; hence the plunge direction of the fold axis can only be the same as the strike of the axial plane if the axial plane is vertical or the fold axis is horizontal (try it and see)</a:t>
            </a:r>
          </a:p>
          <a:p>
            <a:pPr marL="108000" indent="-108000">
              <a:spcBef>
                <a:spcPts val="300"/>
              </a:spcBef>
              <a:buFont typeface="Arial" panose="020B0604020202020204" pitchFamily="34" charset="0"/>
              <a:buChar char="•"/>
              <a:defRPr/>
            </a:pPr>
            <a:r>
              <a:rPr lang="en-GB" altLang="en-US" sz="1000" dirty="0"/>
              <a:t>Figure left redrawn by Steve Covey-Crump from Lisle, 2004, </a:t>
            </a:r>
            <a:r>
              <a:rPr lang="en-GB" altLang="en-US" sz="1000" i="1" dirty="0"/>
              <a:t>Geological Structures and Maps: A Practical Guide </a:t>
            </a:r>
            <a:r>
              <a:rPr lang="en-GB" altLang="en-US" sz="1000" i="0" dirty="0"/>
              <a:t>(3</a:t>
            </a:r>
            <a:r>
              <a:rPr lang="en-GB" altLang="en-US" sz="1000" i="0" baseline="30000" dirty="0"/>
              <a:t>rd</a:t>
            </a:r>
            <a:r>
              <a:rPr lang="en-GB" altLang="en-US" sz="1000" i="0" dirty="0"/>
              <a:t> edition)</a:t>
            </a:r>
            <a:r>
              <a:rPr lang="en-GB" altLang="en-US" sz="1000" dirty="0"/>
              <a:t>, p.32</a:t>
            </a:r>
          </a:p>
          <a:p>
            <a:pPr marL="108000" indent="-108000">
              <a:spcBef>
                <a:spcPts val="300"/>
              </a:spcBef>
              <a:buFont typeface="Arial" panose="020B0604020202020204" pitchFamily="34" charset="0"/>
              <a:buChar char="•"/>
              <a:defRPr/>
            </a:pPr>
            <a:r>
              <a:rPr lang="en-GB" altLang="en-US" sz="1000" dirty="0"/>
              <a:t>Figure right redrawn by Steve Covey-Crump from Twiss &amp; </a:t>
            </a:r>
            <a:r>
              <a:rPr lang="en-GB" altLang="en-US" sz="1000" dirty="0" err="1"/>
              <a:t>Moores</a:t>
            </a:r>
            <a:r>
              <a:rPr lang="en-GB" altLang="en-US" sz="1000" dirty="0"/>
              <a:t>, p.280</a:t>
            </a:r>
          </a:p>
          <a:p>
            <a:pPr marL="108000" indent="-108000">
              <a:spcBef>
                <a:spcPts val="300"/>
              </a:spcBef>
              <a:defRPr/>
            </a:pPr>
            <a:endParaRPr lang="en-GB" altLang="en-US" sz="10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F2B83BBD-0B88-40D5-961B-343E384D49B0}"/>
              </a:ext>
            </a:extLst>
          </p:cNvPr>
          <p:cNvSpPr>
            <a:spLocks noGrp="1" noChangeArrowheads="1"/>
          </p:cNvSpPr>
          <p:nvPr>
            <p:ph type="body" idx="1"/>
          </p:nvPr>
        </p:nvSpPr>
        <p:spPr/>
        <p:txBody>
          <a:bodyPr/>
          <a:lstStyle/>
          <a:p>
            <a:pPr marL="108000" indent="-108000">
              <a:spcBef>
                <a:spcPts val="300"/>
              </a:spcBef>
              <a:buFont typeface="Arial" panose="020B0604020202020204" pitchFamily="34" charset="0"/>
              <a:buChar char="•"/>
              <a:defRPr/>
            </a:pPr>
            <a:r>
              <a:rPr lang="en-GB" altLang="en-US" sz="1000" dirty="0"/>
              <a:t>A fold is said to close in the direction that the limbs converge. Strictly, the </a:t>
            </a:r>
            <a:r>
              <a:rPr lang="en-GB" altLang="en-US" sz="1000" i="1" dirty="0"/>
              <a:t>direction of closure</a:t>
            </a:r>
            <a:r>
              <a:rPr lang="en-GB" altLang="en-US" sz="1000" dirty="0"/>
              <a:t> is the direction in which the limbs converge as seen within the plane that is at right angles to the hinge line (</a:t>
            </a:r>
            <a:r>
              <a:rPr lang="en-GB" altLang="en-US" sz="1000" i="1" dirty="0"/>
              <a:t>i.e.</a:t>
            </a:r>
            <a:r>
              <a:rPr lang="en-GB" altLang="en-US" sz="1000" i="0" dirty="0"/>
              <a:t>, as seen within the profile plane)</a:t>
            </a:r>
            <a:endParaRPr lang="en-GB" altLang="en-US" sz="1000" dirty="0"/>
          </a:p>
          <a:p>
            <a:pPr marL="108000" indent="-108000">
              <a:spcBef>
                <a:spcPts val="300"/>
              </a:spcBef>
              <a:buFont typeface="Arial" panose="020B0604020202020204" pitchFamily="34" charset="0"/>
              <a:buChar char="•"/>
              <a:defRPr/>
            </a:pPr>
            <a:r>
              <a:rPr lang="en-GB" altLang="en-US" sz="1000" i="1" dirty="0"/>
              <a:t>Facing</a:t>
            </a:r>
            <a:r>
              <a:rPr lang="en-GB" altLang="en-US" sz="1000" dirty="0"/>
              <a:t> is an alternative terminology that is used to convey </a:t>
            </a:r>
            <a:r>
              <a:rPr lang="en-GB" altLang="en-US" sz="1000" dirty="0" err="1"/>
              <a:t>younging</a:t>
            </a:r>
            <a:r>
              <a:rPr lang="en-GB" altLang="en-US" sz="1000" dirty="0"/>
              <a:t> and in principle it gets around using the terms </a:t>
            </a:r>
            <a:r>
              <a:rPr lang="en-GB" altLang="en-US" sz="1000" dirty="0" err="1"/>
              <a:t>antifor</a:t>
            </a:r>
            <a:r>
              <a:rPr lang="en-GB" altLang="en-US" sz="1000" spc="150" baseline="0" dirty="0" err="1"/>
              <a:t>m</a:t>
            </a:r>
            <a:r>
              <a:rPr lang="en-GB" altLang="en-US" sz="1000" spc="150" baseline="0" dirty="0"/>
              <a:t>/</a:t>
            </a:r>
            <a:r>
              <a:rPr lang="en-GB" altLang="en-US" sz="1000" dirty="0" err="1"/>
              <a:t>synform</a:t>
            </a:r>
            <a:r>
              <a:rPr lang="en-GB" altLang="en-US" sz="1000" dirty="0"/>
              <a:t> – an upward-facing anticline is an anticlinal </a:t>
            </a:r>
            <a:r>
              <a:rPr lang="en-GB" altLang="en-US" sz="1000" dirty="0" err="1"/>
              <a:t>antiform</a:t>
            </a:r>
            <a:r>
              <a:rPr lang="en-GB" altLang="en-US" sz="1000" dirty="0"/>
              <a:t> while a downward-facing anticline is an anticlinal </a:t>
            </a:r>
            <a:r>
              <a:rPr lang="en-GB" altLang="en-US" sz="1000" dirty="0" err="1"/>
              <a:t>synform</a:t>
            </a:r>
            <a:endParaRPr lang="en-GB" altLang="en-US" sz="1000" dirty="0"/>
          </a:p>
          <a:p>
            <a:pPr marL="108000" indent="-108000">
              <a:spcBef>
                <a:spcPts val="300"/>
              </a:spcBef>
              <a:buFont typeface="Arial" panose="020B0604020202020204" pitchFamily="34" charset="0"/>
              <a:buChar char="•"/>
              <a:defRPr/>
            </a:pPr>
            <a:r>
              <a:rPr lang="en-GB" altLang="en-US" sz="1000" dirty="0"/>
              <a:t>Figure left by Steve Covey-Crump</a:t>
            </a:r>
          </a:p>
          <a:p>
            <a:pPr marL="108000" indent="-108000">
              <a:spcBef>
                <a:spcPts val="300"/>
              </a:spcBef>
              <a:buFont typeface="Arial" panose="020B0604020202020204" pitchFamily="34" charset="0"/>
              <a:buChar char="•"/>
              <a:defRPr/>
            </a:pPr>
            <a:r>
              <a:rPr lang="en-GB" altLang="en-US" sz="1000" dirty="0"/>
              <a:t>Figure top right redrawn by Steve Covey-Crump from Ramsay &amp; Huber, p.310</a:t>
            </a:r>
          </a:p>
          <a:p>
            <a:pPr marL="108000" indent="-108000">
              <a:spcBef>
                <a:spcPts val="300"/>
              </a:spcBef>
              <a:buFont typeface="Arial" panose="020B0604020202020204" pitchFamily="34" charset="0"/>
              <a:buChar char="•"/>
              <a:defRPr/>
            </a:pPr>
            <a:r>
              <a:rPr lang="en-GB" altLang="en-US" sz="1000" dirty="0"/>
              <a:t>Figure bottom right redrawn by Steve Covey-Crump from Lisle, 2004, </a:t>
            </a:r>
            <a:r>
              <a:rPr lang="en-GB" altLang="en-US" sz="1000" i="1" dirty="0"/>
              <a:t>Geological Structures and Maps: A Practical Guide </a:t>
            </a:r>
            <a:r>
              <a:rPr lang="en-GB" altLang="en-US" sz="1000" i="0" dirty="0"/>
              <a:t>(3</a:t>
            </a:r>
            <a:r>
              <a:rPr lang="en-GB" altLang="en-US" sz="1000" i="0" baseline="30000" dirty="0"/>
              <a:t>rd</a:t>
            </a:r>
            <a:r>
              <a:rPr lang="en-GB" altLang="en-US" sz="1000" i="0" dirty="0"/>
              <a:t> edition)</a:t>
            </a:r>
            <a:r>
              <a:rPr lang="en-GB" altLang="en-US" sz="1000" dirty="0"/>
              <a:t>, p.32</a:t>
            </a:r>
          </a:p>
          <a:p>
            <a:pPr marL="0" indent="0">
              <a:spcBef>
                <a:spcPts val="300"/>
              </a:spcBef>
              <a:buFontTx/>
              <a:buNone/>
              <a:defRPr/>
            </a:pPr>
            <a:endParaRPr lang="en-GB" altLang="en-US" sz="1000" i="1"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ln/>
        </p:spPr>
      </p:sp>
      <p:sp>
        <p:nvSpPr>
          <p:cNvPr id="20483"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Two figures top redrawn by Steve Covey-Crump from Twiss &amp; </a:t>
            </a:r>
            <a:r>
              <a:rPr lang="en-GB" altLang="en-US" sz="1000" dirty="0" err="1"/>
              <a:t>Moores</a:t>
            </a:r>
            <a:r>
              <a:rPr lang="en-GB" altLang="en-US" sz="1000" dirty="0"/>
              <a:t>, p.283</a:t>
            </a:r>
          </a:p>
          <a:p>
            <a:pPr marL="108000" indent="-108000">
              <a:spcBef>
                <a:spcPts val="300"/>
              </a:spcBef>
              <a:buFontTx/>
              <a:buChar char="•"/>
            </a:pPr>
            <a:r>
              <a:rPr lang="en-GB" altLang="en-US" sz="1000" dirty="0"/>
              <a:t>Figure bottom redrawn by Steve Covey-Crump from Fossen, p.258</a:t>
            </a:r>
          </a:p>
          <a:p>
            <a:pPr marL="108000" indent="-108000">
              <a:spcBef>
                <a:spcPts val="300"/>
              </a:spcBef>
              <a:buFontTx/>
              <a:buNone/>
            </a:pPr>
            <a:endParaRPr lang="en-GB" altLang="en-US" sz="10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Note the spelling of </a:t>
            </a:r>
            <a:r>
              <a:rPr lang="en-GB" altLang="en-US" sz="1000" b="1" i="1" dirty="0"/>
              <a:t>asymmetry</a:t>
            </a:r>
            <a:r>
              <a:rPr lang="en-GB" altLang="en-US" sz="1000" dirty="0"/>
              <a:t> (one ‘s’ and two ‘m’)</a:t>
            </a:r>
          </a:p>
          <a:p>
            <a:pPr marL="108000" indent="-108000">
              <a:spcBef>
                <a:spcPts val="300"/>
              </a:spcBef>
              <a:buFontTx/>
              <a:buChar char="•"/>
            </a:pPr>
            <a:r>
              <a:rPr lang="en-GB" altLang="en-US" sz="1000" dirty="0"/>
              <a:t>Photo (Steve Covey-Crump): asymmetric fold at Stair Hole, Lulworth Cove, Dorset, formed during the Alpine orogeny</a:t>
            </a:r>
          </a:p>
          <a:p>
            <a:pPr marL="108000" indent="-108000">
              <a:spcBef>
                <a:spcPts val="300"/>
              </a:spcBef>
              <a:buFontTx/>
              <a:buChar char="•"/>
            </a:pPr>
            <a:r>
              <a:rPr lang="en-GB" altLang="en-US" sz="1000" dirty="0"/>
              <a:t>Figures bottom redrawn by Steve Covey-Crump from Ramsay &amp; Huber, p.320</a:t>
            </a:r>
          </a:p>
          <a:p>
            <a:pPr marL="108000" indent="-108000">
              <a:spcBef>
                <a:spcPts val="300"/>
              </a:spcBef>
              <a:buFontTx/>
              <a:buNone/>
            </a:pPr>
            <a:endParaRPr lang="en-GB" altLang="en-US" sz="10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Whether an asymmetric fold pair has the appearance of S-asymmetry or of Z-asymmetry depends upon whether one is looking down the fold axis or up the fold axis (try it by drawing a ‘Z’ on a bit of paper – this looks like an ‘S’ if you look through the back of the paper). This means that for non-cylindrical folds in which the hinge-line passes through culminations and depressions so that the fold axis plunges first one way and then 180° in the other direction, congruent minor folds on the same limb may be of S-asymmetry in one place but Z-asymmetry in another. The direction of vergence does not suffer from this descriptive untidiness – all congruent minor folds on the same limb verge in the same direction. Consequently, vergence is favoured over S/Z terminology by many structural geologists (see Bell, 1981, </a:t>
            </a:r>
            <a:r>
              <a:rPr lang="en-GB" altLang="en-US" sz="1000" i="1" dirty="0"/>
              <a:t>Journal of Structural Geology</a:t>
            </a:r>
            <a:r>
              <a:rPr lang="en-GB" altLang="en-US" sz="1000" dirty="0"/>
              <a:t> 3: 197-202, </a:t>
            </a:r>
            <a:r>
              <a:rPr lang="en-GB" sz="1000" dirty="0"/>
              <a:t>https://doi.org/10.1016/0191-8141(81)90015-8</a:t>
            </a:r>
            <a:r>
              <a:rPr lang="en-GB" altLang="en-US" sz="1000" dirty="0"/>
              <a:t>). The S/Z terminology is, however, intuitively simpler for the novice structural geologist and so has wide currency – for a comments on when it might be preferable to use the S/Z approach rather than vergence and </a:t>
            </a:r>
            <a:r>
              <a:rPr lang="en-GB" altLang="en-US" sz="1000" i="1" dirty="0"/>
              <a:t>vic</a:t>
            </a:r>
            <a:r>
              <a:rPr lang="en-GB" altLang="en-US" sz="1000" i="1" dirty="0">
                <a:solidFill>
                  <a:schemeClr val="bg1"/>
                </a:solidFill>
              </a:rPr>
              <a:t>e versa</a:t>
            </a:r>
            <a:r>
              <a:rPr lang="en-GB" altLang="en-US" sz="1000" dirty="0">
                <a:solidFill>
                  <a:schemeClr val="bg1"/>
                </a:solidFill>
              </a:rPr>
              <a:t>, see </a:t>
            </a:r>
            <a:r>
              <a:rPr lang="en-GB" altLang="en-US" sz="1000" dirty="0" err="1">
                <a:solidFill>
                  <a:schemeClr val="bg1"/>
                </a:solidFill>
              </a:rPr>
              <a:t>Weijermars</a:t>
            </a:r>
            <a:r>
              <a:rPr lang="en-GB" altLang="en-US" sz="1000" dirty="0">
                <a:solidFill>
                  <a:schemeClr val="bg1"/>
                </a:solidFill>
              </a:rPr>
              <a:t>, 1985, </a:t>
            </a:r>
            <a:r>
              <a:rPr lang="en-GB" altLang="en-US" sz="1000" i="1" dirty="0" err="1">
                <a:solidFill>
                  <a:schemeClr val="bg1"/>
                </a:solidFill>
              </a:rPr>
              <a:t>Geologische</a:t>
            </a:r>
            <a:r>
              <a:rPr lang="en-GB" altLang="en-US" sz="1000" i="1" dirty="0">
                <a:solidFill>
                  <a:schemeClr val="bg1"/>
                </a:solidFill>
              </a:rPr>
              <a:t> </a:t>
            </a:r>
            <a:r>
              <a:rPr lang="en-GB" altLang="en-US" sz="1000" i="1" dirty="0" err="1">
                <a:solidFill>
                  <a:schemeClr val="bg1"/>
                </a:solidFill>
              </a:rPr>
              <a:t>Rundschau</a:t>
            </a:r>
            <a:r>
              <a:rPr lang="en-GB" altLang="en-US" sz="1000" dirty="0">
                <a:solidFill>
                  <a:schemeClr val="bg1"/>
                </a:solidFill>
              </a:rPr>
              <a:t> 74: 611-622, </a:t>
            </a:r>
            <a:r>
              <a:rPr lang="en-GB" sz="1000" dirty="0">
                <a:solidFill>
                  <a:schemeClr val="bg1"/>
                </a:solidFill>
              </a:rPr>
              <a:t>https://doi.org/10.1007/BF01821216</a:t>
            </a:r>
            <a:endParaRPr lang="en-GB" altLang="en-US" sz="1000" dirty="0">
              <a:solidFill>
                <a:schemeClr val="bg1"/>
              </a:solidFill>
            </a:endParaRPr>
          </a:p>
          <a:p>
            <a:pPr marL="108000" indent="-108000">
              <a:spcBef>
                <a:spcPts val="300"/>
              </a:spcBef>
              <a:buFontTx/>
              <a:buChar char="•"/>
            </a:pPr>
            <a:r>
              <a:rPr lang="en-GB" altLang="en-US" sz="1000" dirty="0">
                <a:solidFill>
                  <a:schemeClr val="bg1"/>
                </a:solidFill>
              </a:rPr>
              <a:t>Figure by Steve Covey-Crump</a:t>
            </a:r>
          </a:p>
          <a:p>
            <a:pPr marL="108000" indent="-108000">
              <a:spcBef>
                <a:spcPts val="300"/>
              </a:spcBef>
              <a:buFontTx/>
              <a:buNone/>
            </a:pPr>
            <a:endParaRPr lang="en-GB" altLang="en-US" sz="10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ln/>
        </p:spPr>
      </p:sp>
      <p:sp>
        <p:nvSpPr>
          <p:cNvPr id="26627"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Photo left (Steve Covey-Crump): the shore section at </a:t>
            </a:r>
            <a:r>
              <a:rPr lang="en-GB" altLang="en-US" sz="1000" dirty="0" err="1"/>
              <a:t>Onich</a:t>
            </a:r>
            <a:r>
              <a:rPr lang="en-GB" altLang="en-US" sz="1000" dirty="0"/>
              <a:t>, Scotland</a:t>
            </a:r>
          </a:p>
          <a:p>
            <a:pPr marL="108000" indent="-108000">
              <a:spcBef>
                <a:spcPts val="300"/>
              </a:spcBef>
              <a:buFontTx/>
              <a:buChar char="•"/>
            </a:pPr>
            <a:r>
              <a:rPr lang="en-GB" altLang="en-US" sz="1000" dirty="0"/>
              <a:t>Photo right (Steve Covey-Crump): Hele Bay, near Ilfracombe, Devon</a:t>
            </a:r>
          </a:p>
          <a:p>
            <a:pPr marL="108000" indent="-108000">
              <a:spcBef>
                <a:spcPts val="300"/>
              </a:spcBef>
              <a:buFontTx/>
              <a:buNone/>
            </a:pPr>
            <a:endParaRPr lang="en-GB" altLang="en-US" sz="10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Since the definition of an axial surface requires at least two nested folded surfaces (see Slide 6), it follows that when you have a single folded surface, the axial plane is not defined. In this situation the bisector is all that can be specified. This situation most commonly arises in artificial </a:t>
            </a:r>
            <a:r>
              <a:rPr lang="en-GB" altLang="en-US" sz="1000" i="1" dirty="0"/>
              <a:t>Structural Geology</a:t>
            </a:r>
            <a:r>
              <a:rPr lang="en-GB" altLang="en-US" sz="1000" i="0" dirty="0"/>
              <a:t> classwork exercises; in nature if you have a folded bed, </a:t>
            </a:r>
            <a:r>
              <a:rPr lang="en-GB" altLang="en-US" sz="1000" dirty="0"/>
              <a:t>the top and bottom of the bed form two nested surfaces that you can use to define the axial surface</a:t>
            </a:r>
          </a:p>
          <a:p>
            <a:pPr marL="108000" indent="-108000">
              <a:spcBef>
                <a:spcPts val="300"/>
              </a:spcBef>
              <a:buFontTx/>
              <a:buChar char="•"/>
            </a:pPr>
            <a:r>
              <a:rPr lang="en-GB" altLang="en-US" sz="1000" dirty="0"/>
              <a:t>Figures by Steve Covey-Crump</a:t>
            </a:r>
          </a:p>
          <a:p>
            <a:pPr marL="108000" indent="-108000">
              <a:spcBef>
                <a:spcPts val="300"/>
              </a:spcBef>
              <a:buFontTx/>
              <a:buNone/>
            </a:pPr>
            <a:endParaRPr lang="en-GB" altLang="en-US" sz="10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Photo left (Steve Covey-Crump): a minor fold at </a:t>
            </a:r>
            <a:r>
              <a:rPr lang="en-GB" altLang="en-US" sz="1000" dirty="0" err="1"/>
              <a:t>Uisken</a:t>
            </a:r>
            <a:r>
              <a:rPr lang="en-GB" altLang="en-US" sz="1000" dirty="0"/>
              <a:t> in the </a:t>
            </a:r>
            <a:r>
              <a:rPr lang="en-GB" altLang="en-US" sz="1000" dirty="0" err="1"/>
              <a:t>Moine</a:t>
            </a:r>
            <a:r>
              <a:rPr lang="en-GB" altLang="en-US" sz="1000" dirty="0"/>
              <a:t> metasediments on the island of Mull, Scotland</a:t>
            </a:r>
          </a:p>
          <a:p>
            <a:pPr marL="108000" indent="-108000">
              <a:spcBef>
                <a:spcPts val="300"/>
              </a:spcBef>
              <a:buFontTx/>
              <a:buChar char="•"/>
            </a:pPr>
            <a:r>
              <a:rPr lang="en-GB" altLang="en-US" sz="1000" dirty="0"/>
              <a:t>Photo right (Steve-Covey-Crump): small scale folds in </a:t>
            </a:r>
            <a:r>
              <a:rPr lang="en-GB" altLang="en-US" sz="1000" dirty="0" err="1"/>
              <a:t>Moine</a:t>
            </a:r>
            <a:r>
              <a:rPr lang="en-GB" altLang="en-US" sz="1000" dirty="0"/>
              <a:t> metasediments, east end of Loch </a:t>
            </a:r>
            <a:r>
              <a:rPr lang="en-GB" altLang="en-US" sz="1000" dirty="0" err="1"/>
              <a:t>Monar</a:t>
            </a:r>
            <a:r>
              <a:rPr lang="en-GB" altLang="en-US" sz="1000" dirty="0"/>
              <a:t>, Scotland. The locality where this photo comes from is where John Ramsay established the geometric features of fold interference patterns (refolded folds – see the last few slides of the Class 2 presentation). The locality is described in Strachan </a:t>
            </a:r>
            <a:r>
              <a:rPr lang="en-GB" altLang="en-US" sz="1000" i="1" dirty="0"/>
              <a:t>et al.</a:t>
            </a:r>
            <a:r>
              <a:rPr lang="en-GB" altLang="en-US" sz="1000" dirty="0"/>
              <a:t>, 2010, </a:t>
            </a:r>
            <a:r>
              <a:rPr lang="en-GB" altLang="en-US" sz="1000" i="1" dirty="0"/>
              <a:t>An Excursion Guide to the </a:t>
            </a:r>
            <a:r>
              <a:rPr lang="en-GB" altLang="en-US" sz="1000" i="1" dirty="0" err="1"/>
              <a:t>Moine</a:t>
            </a:r>
            <a:r>
              <a:rPr lang="en-GB" altLang="en-US" sz="1000" i="1" dirty="0"/>
              <a:t> Geology of the Northern Highlands of Scotland</a:t>
            </a:r>
            <a:r>
              <a:rPr lang="en-GB" altLang="en-US" sz="1000" dirty="0"/>
              <a:t>, (p.153-161, particularly locality 8.3)</a:t>
            </a:r>
          </a:p>
          <a:p>
            <a:pPr marL="108000" indent="-108000">
              <a:spcBef>
                <a:spcPts val="300"/>
              </a:spcBef>
              <a:buFontTx/>
              <a:buNone/>
            </a:pPr>
            <a:endParaRPr lang="en-GB" altLang="en-US" sz="10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solidFill>
                  <a:schemeClr val="bg1"/>
                </a:solidFill>
              </a:rPr>
              <a:t>Subtle variations in the definitions of amplitude and wavelength have arisen between different authors, largely because real folds are not perfectly cylindrical and so decisions have to be made about how to apply formal mathematical definitions (see Fig. 1 and Fig. 2 of </a:t>
            </a:r>
            <a:r>
              <a:rPr lang="en-GB" altLang="en-US" sz="1000" dirty="0" err="1">
                <a:solidFill>
                  <a:schemeClr val="bg1"/>
                </a:solidFill>
              </a:rPr>
              <a:t>Adamuszek</a:t>
            </a:r>
            <a:r>
              <a:rPr lang="en-GB" altLang="en-US" sz="1000" dirty="0">
                <a:solidFill>
                  <a:schemeClr val="bg1"/>
                </a:solidFill>
              </a:rPr>
              <a:t> </a:t>
            </a:r>
            <a:r>
              <a:rPr lang="en-GB" altLang="en-US" sz="1000" i="1" dirty="0">
                <a:solidFill>
                  <a:schemeClr val="bg1"/>
                </a:solidFill>
              </a:rPr>
              <a:t>et al.</a:t>
            </a:r>
            <a:r>
              <a:rPr lang="en-GB" altLang="en-US" sz="1000" dirty="0">
                <a:solidFill>
                  <a:schemeClr val="bg1"/>
                </a:solidFill>
              </a:rPr>
              <a:t>, 2011, </a:t>
            </a:r>
            <a:r>
              <a:rPr lang="en-GB" altLang="en-US" sz="1000" i="1" dirty="0">
                <a:solidFill>
                  <a:schemeClr val="bg1"/>
                </a:solidFill>
              </a:rPr>
              <a:t>Journal of Structural Geology</a:t>
            </a:r>
            <a:r>
              <a:rPr lang="en-GB" altLang="en-US" sz="1000" dirty="0">
                <a:solidFill>
                  <a:schemeClr val="bg1"/>
                </a:solidFill>
              </a:rPr>
              <a:t> 33: 1406-1416, </a:t>
            </a:r>
            <a:r>
              <a:rPr lang="en-GB" sz="1000" dirty="0">
                <a:solidFill>
                  <a:schemeClr val="bg1"/>
                </a:solidFill>
              </a:rPr>
              <a:t>https://doi.org/10.1016/j.jsg.2011.06.003</a:t>
            </a:r>
            <a:r>
              <a:rPr lang="en-GB" altLang="en-US" sz="1000" dirty="0">
                <a:solidFill>
                  <a:schemeClr val="bg1"/>
                </a:solidFill>
              </a:rPr>
              <a:t>)</a:t>
            </a:r>
          </a:p>
          <a:p>
            <a:pPr marL="108000" indent="-108000">
              <a:spcBef>
                <a:spcPts val="300"/>
              </a:spcBef>
              <a:buFontTx/>
              <a:buChar char="•"/>
            </a:pPr>
            <a:r>
              <a:rPr lang="en-GB" altLang="en-US" sz="1000" dirty="0">
                <a:solidFill>
                  <a:schemeClr val="bg1"/>
                </a:solidFill>
              </a:rPr>
              <a:t>Figures by Steve Covey-Crump based on Ragan, p.372</a:t>
            </a:r>
          </a:p>
          <a:p>
            <a:pPr marL="108000" indent="-108000">
              <a:spcBef>
                <a:spcPts val="300"/>
              </a:spcBef>
              <a:buFontTx/>
              <a:buNone/>
            </a:pPr>
            <a:endParaRPr lang="en-GB" altLang="en-US" sz="1000" dirty="0">
              <a:solidFill>
                <a:schemeClr val="bg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b="1" i="1" dirty="0"/>
              <a:t>Vertical folds</a:t>
            </a:r>
            <a:r>
              <a:rPr lang="en-GB" altLang="en-US" sz="1000" dirty="0"/>
              <a:t> are those in which the fold axis (and hence the axial plane) is vertical; </a:t>
            </a:r>
            <a:r>
              <a:rPr lang="en-GB" altLang="en-US" sz="1000" b="1" i="1" dirty="0"/>
              <a:t>reclined folds</a:t>
            </a:r>
            <a:r>
              <a:rPr lang="en-GB" altLang="en-US" sz="1000" dirty="0"/>
              <a:t> are ones in which the plunge/plunge direction of the fold axis is the same as the dip/dip direction of the axial plane</a:t>
            </a:r>
          </a:p>
          <a:p>
            <a:pPr marL="108000" indent="-108000">
              <a:spcBef>
                <a:spcPts val="300"/>
              </a:spcBef>
              <a:buFontTx/>
              <a:buChar char="•"/>
            </a:pPr>
            <a:r>
              <a:rPr lang="en-GB" altLang="en-US" sz="1000" dirty="0"/>
              <a:t>Figure from Twiss &amp; </a:t>
            </a:r>
            <a:r>
              <a:rPr lang="en-GB" altLang="en-US" sz="1000" dirty="0" err="1"/>
              <a:t>Moores</a:t>
            </a:r>
            <a:r>
              <a:rPr lang="en-GB" altLang="en-US" sz="1000" dirty="0"/>
              <a:t>, p.282</a:t>
            </a:r>
          </a:p>
          <a:p>
            <a:pPr marL="0" indent="0">
              <a:spcBef>
                <a:spcPts val="300"/>
              </a:spcBef>
              <a:buFontTx/>
              <a:buNone/>
            </a:pPr>
            <a:endParaRPr lang="en-GB" altLang="en-US" sz="1000" b="1" i="1"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Photo bottom left (Steve Covey-Crump): Ladies Cave anticline, south of Saundersfoot harbour, Pembrokeshire</a:t>
            </a:r>
          </a:p>
          <a:p>
            <a:pPr marL="108000" indent="-108000">
              <a:spcBef>
                <a:spcPts val="300"/>
              </a:spcBef>
              <a:buFontTx/>
              <a:buChar char="•"/>
            </a:pPr>
            <a:r>
              <a:rPr lang="en-GB" altLang="en-US" sz="1000" dirty="0"/>
              <a:t>Photo top right (Steve Covey-Crump): a fold on the slopes north of </a:t>
            </a:r>
            <a:r>
              <a:rPr lang="en-GB" altLang="en-US" sz="1000" dirty="0" err="1"/>
              <a:t>Kinlochleven</a:t>
            </a:r>
            <a:endParaRPr lang="en-GB" altLang="en-US" sz="1000" dirty="0"/>
          </a:p>
          <a:p>
            <a:pPr marL="108000" indent="-108000">
              <a:spcBef>
                <a:spcPts val="300"/>
              </a:spcBef>
              <a:buFontTx/>
              <a:buNone/>
            </a:pPr>
            <a:endParaRPr lang="en-GB" altLang="en-US" sz="10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Formal definitions of these three measures may be found in the textbooks by Twiss &amp; </a:t>
            </a:r>
            <a:r>
              <a:rPr lang="en-GB" altLang="en-US" sz="1000" dirty="0" err="1"/>
              <a:t>Moores</a:t>
            </a:r>
            <a:r>
              <a:rPr lang="en-GB" altLang="en-US" sz="1000" dirty="0"/>
              <a:t> (p.284-285) and by Ragan (p.373-374)</a:t>
            </a:r>
          </a:p>
          <a:p>
            <a:pPr marL="108000" indent="-108000">
              <a:spcBef>
                <a:spcPts val="300"/>
              </a:spcBef>
              <a:buFontTx/>
              <a:buChar char="•"/>
            </a:pPr>
            <a:r>
              <a:rPr lang="en-GB" altLang="en-US" sz="1000" dirty="0"/>
              <a:t>Note that the use of half wavelength in the definition of fold aspect ratio makes sense if you recall that a fold is defined as that part of the curved surface lying between two adjacent inflection lines (see point 2 in the notes to Slide 4). Amplitude is defined that way, but wavelength is twice this distance (see figure on Slide 14)</a:t>
            </a:r>
          </a:p>
          <a:p>
            <a:pPr marL="108000" indent="-108000">
              <a:spcBef>
                <a:spcPts val="300"/>
              </a:spcBef>
              <a:buFontTx/>
              <a:buChar char="•"/>
            </a:pPr>
            <a:r>
              <a:rPr lang="en-GB" altLang="en-US" sz="1000" dirty="0"/>
              <a:t>Figure left (redrawn by Steve Covey-Crump from Ragan, p.371) showing the formal definition of ‘interlimb angle’</a:t>
            </a:r>
          </a:p>
          <a:p>
            <a:pPr marL="108000" indent="-108000">
              <a:spcBef>
                <a:spcPts val="300"/>
              </a:spcBef>
              <a:buFontTx/>
              <a:buChar char="•"/>
            </a:pPr>
            <a:r>
              <a:rPr lang="en-GB" altLang="en-US" sz="1000" dirty="0"/>
              <a:t>Figure right (redrawn by Steve Covey-Crump from Fossen, p.262) showing terms used for fold tightness</a:t>
            </a:r>
          </a:p>
          <a:p>
            <a:pPr marL="108000" indent="-108000">
              <a:spcBef>
                <a:spcPts val="300"/>
              </a:spcBef>
              <a:buFontTx/>
              <a:buNone/>
            </a:pPr>
            <a:endParaRPr lang="en-GB" altLang="en-US" sz="10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Photo top left (Steve Covey-Crump): </a:t>
            </a:r>
            <a:r>
              <a:rPr lang="en-GB" altLang="en-US" sz="1000" dirty="0" err="1"/>
              <a:t>Millook</a:t>
            </a:r>
            <a:r>
              <a:rPr lang="en-GB" altLang="en-US" sz="1000" dirty="0"/>
              <a:t> Haven, North Devon</a:t>
            </a:r>
          </a:p>
          <a:p>
            <a:pPr marL="108000" indent="-108000">
              <a:spcBef>
                <a:spcPts val="300"/>
              </a:spcBef>
              <a:buFontTx/>
              <a:buChar char="•"/>
            </a:pPr>
            <a:r>
              <a:rPr lang="en-GB" altLang="en-US" sz="1000" dirty="0"/>
              <a:t>Photo bottom right (BGS image database: geoscenic.bgs.ac.uk/asset-bank/action/</a:t>
            </a:r>
            <a:r>
              <a:rPr lang="en-GB" altLang="en-US" sz="1000" dirty="0" err="1"/>
              <a:t>viewHome</a:t>
            </a:r>
            <a:r>
              <a:rPr lang="en-GB" altLang="en-US" sz="1000" dirty="0"/>
              <a:t>, image P211581): upright chevron folds, </a:t>
            </a:r>
            <a:r>
              <a:rPr lang="en-GB" altLang="en-US" sz="1000" dirty="0" err="1"/>
              <a:t>Gunpath</a:t>
            </a:r>
            <a:r>
              <a:rPr lang="en-GB" altLang="en-US" sz="1000" dirty="0"/>
              <a:t> Beach, near Hartland Quay, North Devon</a:t>
            </a:r>
          </a:p>
          <a:p>
            <a:pPr marL="108000" indent="-108000">
              <a:spcBef>
                <a:spcPts val="300"/>
              </a:spcBef>
              <a:buFontTx/>
              <a:buNone/>
            </a:pPr>
            <a:endParaRPr lang="en-GB" altLang="en-US" sz="10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Photo top left (Steve Covey-Crump): folded quartzites within a dominantly </a:t>
            </a:r>
            <a:r>
              <a:rPr lang="en-GB" altLang="en-US" sz="1000" dirty="0" err="1"/>
              <a:t>pelitic</a:t>
            </a:r>
            <a:r>
              <a:rPr lang="en-GB" altLang="en-US" sz="1000" dirty="0"/>
              <a:t> unit, </a:t>
            </a:r>
            <a:r>
              <a:rPr lang="en-GB" altLang="en-US" sz="1000" dirty="0" err="1"/>
              <a:t>Kinlochleven</a:t>
            </a:r>
            <a:endParaRPr lang="en-GB" altLang="en-US" sz="1000" dirty="0"/>
          </a:p>
          <a:p>
            <a:pPr marL="108000" indent="-108000">
              <a:spcBef>
                <a:spcPts val="300"/>
              </a:spcBef>
              <a:buFontTx/>
              <a:buChar char="•"/>
            </a:pPr>
            <a:r>
              <a:rPr lang="en-GB" altLang="en-US" sz="1000" dirty="0"/>
              <a:t>Figure top right from Fossen, p.258</a:t>
            </a:r>
          </a:p>
          <a:p>
            <a:pPr marL="108000" indent="-108000">
              <a:spcBef>
                <a:spcPts val="300"/>
              </a:spcBef>
              <a:buFontTx/>
              <a:buChar char="•"/>
            </a:pPr>
            <a:r>
              <a:rPr lang="en-GB" altLang="en-US" sz="1000" dirty="0"/>
              <a:t>Photo bottom right (Steve Covey-Crump): folds within the South Alligator Group (</a:t>
            </a:r>
            <a:r>
              <a:rPr lang="en-GB" altLang="en-US" sz="1000" spc="100" baseline="0" dirty="0"/>
              <a:t>~</a:t>
            </a:r>
            <a:r>
              <a:rPr lang="en-GB" altLang="en-US" sz="1000" dirty="0"/>
              <a:t>1900 Ma), Kakadu Highway, south of Darwin, Australia</a:t>
            </a:r>
          </a:p>
          <a:p>
            <a:pPr marL="108000" indent="-108000">
              <a:spcBef>
                <a:spcPts val="300"/>
              </a:spcBef>
              <a:buFontTx/>
              <a:buNone/>
            </a:pPr>
            <a:endParaRPr lang="en-GB" altLang="en-US" sz="10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2D4ABAA8-BB44-446A-8588-620FFFB1F23A}"/>
              </a:ext>
            </a:extLst>
          </p:cNvPr>
          <p:cNvSpPr>
            <a:spLocks noGrp="1" noChangeArrowheads="1"/>
          </p:cNvSpPr>
          <p:nvPr>
            <p:ph type="body" idx="1"/>
          </p:nvPr>
        </p:nvSpPr>
        <p:spPr/>
        <p:txBody>
          <a:bodyPr/>
          <a:lstStyle/>
          <a:p>
            <a:pPr marL="108000" indent="-108000">
              <a:spcBef>
                <a:spcPts val="300"/>
              </a:spcBef>
              <a:buFont typeface="Arial" panose="020B0604020202020204" pitchFamily="34" charset="0"/>
              <a:buChar char="•"/>
              <a:defRPr/>
            </a:pPr>
            <a:r>
              <a:rPr lang="en-GB" altLang="en-US" sz="1000" dirty="0"/>
              <a:t>The variation in thickness of a layer around a fold can indicate the mechanism by which the fold formed and so this variation has been subject to a particularly thorough analysis</a:t>
            </a:r>
          </a:p>
          <a:p>
            <a:pPr marL="108000" indent="-108000">
              <a:spcBef>
                <a:spcPts val="300"/>
              </a:spcBef>
              <a:buFont typeface="Arial" panose="020B0604020202020204" pitchFamily="34" charset="0"/>
              <a:buChar char="•"/>
              <a:defRPr/>
            </a:pPr>
            <a:r>
              <a:rPr lang="en-GB" altLang="en-US" sz="1000" dirty="0"/>
              <a:t>Figure top right by Steve Covey-Crump</a:t>
            </a:r>
          </a:p>
          <a:p>
            <a:pPr marL="108000" indent="-108000">
              <a:spcBef>
                <a:spcPts val="300"/>
              </a:spcBef>
              <a:buFont typeface="Arial" panose="020B0604020202020204" pitchFamily="34" charset="0"/>
              <a:buChar char="•"/>
              <a:defRPr/>
            </a:pPr>
            <a:r>
              <a:rPr lang="en-GB" altLang="en-US" sz="1000" dirty="0"/>
              <a:t>Photo bottom left (BGS image database: geoscenic.bgs.ac.uk/asset-bank/action/</a:t>
            </a:r>
            <a:r>
              <a:rPr lang="en-GB" altLang="en-US" sz="1000" dirty="0" err="1"/>
              <a:t>viewHome</a:t>
            </a:r>
            <a:r>
              <a:rPr lang="en-GB" altLang="en-US" sz="1000" dirty="0"/>
              <a:t>, image P006697): parallel folds at St. Ann’s Head, Pembrokeshire (Old Red Sandstone)</a:t>
            </a:r>
          </a:p>
          <a:p>
            <a:pPr marL="108000" indent="-108000">
              <a:spcBef>
                <a:spcPts val="300"/>
              </a:spcBef>
              <a:buFont typeface="Arial" panose="020B0604020202020204" pitchFamily="34" charset="0"/>
              <a:buChar char="•"/>
              <a:defRPr/>
            </a:pPr>
            <a:r>
              <a:rPr lang="en-GB" altLang="en-US" sz="1000" dirty="0"/>
              <a:t>Photo bottom right (Fossen (1</a:t>
            </a:r>
            <a:r>
              <a:rPr lang="en-GB" altLang="en-US" sz="1000" baseline="30000" dirty="0"/>
              <a:t>st</a:t>
            </a:r>
            <a:r>
              <a:rPr lang="en-GB" altLang="en-US" sz="1000" dirty="0"/>
              <a:t> edition), p.222): similar fold from Bergen, Norway. The fold is also isoclinal (it has a small interlimb angle so that the limbs are nearly parallel – see figure on Slide 17). Similar folds are very commonly isoclinal</a:t>
            </a:r>
          </a:p>
          <a:p>
            <a:pPr marL="108000" indent="-108000">
              <a:spcBef>
                <a:spcPts val="300"/>
              </a:spcBef>
              <a:defRPr/>
            </a:pPr>
            <a:endParaRPr lang="en-GB"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Which class of fold is formed depends in part upon the mechanical properties of the layer being folded (discussed further in Class 2). For folded multilayers containing interbedded units of very different mechanical properties (</a:t>
            </a:r>
            <a:r>
              <a:rPr lang="en-GB" altLang="en-US" sz="1000" i="1" dirty="0"/>
              <a:t>e.g</a:t>
            </a:r>
            <a:r>
              <a:rPr lang="en-GB" altLang="en-US" sz="1000" dirty="0"/>
              <a:t>., interbedded sandstones and mudstones), the class of fold may vary from one layer to the next</a:t>
            </a:r>
          </a:p>
          <a:p>
            <a:pPr marL="108000" indent="-108000">
              <a:spcBef>
                <a:spcPts val="300"/>
              </a:spcBef>
              <a:buFontTx/>
              <a:buChar char="•"/>
            </a:pPr>
            <a:r>
              <a:rPr lang="en-GB" altLang="en-US" sz="1000" dirty="0"/>
              <a:t>There are some special case situations where the classification scheme doesn’t work (see Ramsay and Huber, Fig.17.13)</a:t>
            </a:r>
          </a:p>
          <a:p>
            <a:pPr marL="108000" indent="-108000">
              <a:spcBef>
                <a:spcPts val="300"/>
              </a:spcBef>
              <a:buFontTx/>
              <a:buChar char="•"/>
            </a:pPr>
            <a:r>
              <a:rPr lang="en-GB" altLang="en-US" sz="1000" dirty="0"/>
              <a:t>Figure top by Steve Covey-Crump</a:t>
            </a:r>
          </a:p>
          <a:p>
            <a:pPr marL="108000" indent="-108000">
              <a:spcBef>
                <a:spcPts val="300"/>
              </a:spcBef>
              <a:buFontTx/>
              <a:buChar char="•"/>
            </a:pPr>
            <a:r>
              <a:rPr lang="en-GB" altLang="en-US" sz="1000" dirty="0"/>
              <a:t>Figure bottom redrawn by Steve Covey-Crump from Ramsay, 1967, </a:t>
            </a:r>
            <a:r>
              <a:rPr lang="en-GB" altLang="en-US" sz="1000" i="1" dirty="0"/>
              <a:t>Folding and Fracturing of Rocks</a:t>
            </a:r>
            <a:r>
              <a:rPr lang="en-GB" altLang="en-US" sz="1000" dirty="0"/>
              <a:t>, p.365</a:t>
            </a:r>
          </a:p>
          <a:p>
            <a:pPr marL="108000" indent="-108000">
              <a:spcBef>
                <a:spcPts val="300"/>
              </a:spcBef>
              <a:buFontTx/>
              <a:buNone/>
            </a:pPr>
            <a:endParaRPr lang="en-GB" altLang="en-US" sz="10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As you work around the fold away from the hinge, </a:t>
            </a:r>
            <a:r>
              <a:rPr lang="el-GR" altLang="en-US" sz="1000" i="1" dirty="0">
                <a:cs typeface="Times New Roman" pitchFamily="18" charset="0"/>
              </a:rPr>
              <a:t>α</a:t>
            </a:r>
            <a:r>
              <a:rPr lang="en-GB" altLang="en-US" sz="1000" dirty="0">
                <a:cs typeface="Times New Roman" pitchFamily="18" charset="0"/>
              </a:rPr>
              <a:t> and </a:t>
            </a:r>
            <a:r>
              <a:rPr lang="en-GB" altLang="en-US" sz="1000" i="1" dirty="0">
                <a:cs typeface="Times New Roman" pitchFamily="18" charset="0"/>
              </a:rPr>
              <a:t>t</a:t>
            </a:r>
            <a:r>
              <a:rPr lang="el-GR" altLang="en-US" sz="1000" i="1" spc="250" baseline="-25000" dirty="0">
                <a:cs typeface="Times New Roman" pitchFamily="18" charset="0"/>
              </a:rPr>
              <a:t>α</a:t>
            </a:r>
            <a:r>
              <a:rPr lang="en-GB" altLang="en-US" sz="1000" spc="150" dirty="0">
                <a:cs typeface="Times New Roman" pitchFamily="18" charset="0"/>
              </a:rPr>
              <a:t>/</a:t>
            </a:r>
            <a:r>
              <a:rPr lang="en-GB" altLang="en-US" sz="1000" i="1" dirty="0">
                <a:cs typeface="Times New Roman" pitchFamily="18" charset="0"/>
              </a:rPr>
              <a:t>t</a:t>
            </a:r>
            <a:r>
              <a:rPr lang="en-GB" altLang="en-US" sz="1000" baseline="-25000" dirty="0">
                <a:cs typeface="Times New Roman" pitchFamily="18" charset="0"/>
              </a:rPr>
              <a:t>0</a:t>
            </a:r>
            <a:r>
              <a:rPr lang="en-GB" altLang="en-US" sz="1000" dirty="0">
                <a:cs typeface="Times New Roman" pitchFamily="18" charset="0"/>
              </a:rPr>
              <a:t> (or </a:t>
            </a:r>
            <a:r>
              <a:rPr lang="en-GB" altLang="en-US" sz="1000" i="1" dirty="0">
                <a:cs typeface="Times New Roman" pitchFamily="18" charset="0"/>
              </a:rPr>
              <a:t>T</a:t>
            </a:r>
            <a:r>
              <a:rPr lang="el-GR" altLang="en-US" sz="1000" i="1" spc="300" baseline="-25000" dirty="0">
                <a:cs typeface="Times New Roman" pitchFamily="18" charset="0"/>
              </a:rPr>
              <a:t>α</a:t>
            </a:r>
            <a:r>
              <a:rPr lang="en-GB" altLang="en-US" sz="1000" spc="150" dirty="0">
                <a:cs typeface="Times New Roman" pitchFamily="18" charset="0"/>
              </a:rPr>
              <a:t>/</a:t>
            </a:r>
            <a:r>
              <a:rPr lang="en-GB" altLang="en-US" sz="1000" i="1" dirty="0">
                <a:cs typeface="Times New Roman" pitchFamily="18" charset="0"/>
              </a:rPr>
              <a:t>T</a:t>
            </a:r>
            <a:r>
              <a:rPr lang="en-GB" altLang="en-US" sz="1000" baseline="-25000" dirty="0">
                <a:cs typeface="Times New Roman" pitchFamily="18" charset="0"/>
              </a:rPr>
              <a:t>0</a:t>
            </a:r>
            <a:r>
              <a:rPr lang="en-GB" altLang="en-US" sz="1000" dirty="0">
                <a:cs typeface="Times New Roman" pitchFamily="18" charset="0"/>
              </a:rPr>
              <a:t>) change and so the fold plots as a line on such graphs</a:t>
            </a:r>
            <a:endParaRPr lang="el-GR" altLang="en-US" sz="1000" dirty="0">
              <a:cs typeface="Times New Roman" pitchFamily="18" charset="0"/>
            </a:endParaRPr>
          </a:p>
          <a:p>
            <a:pPr marL="108000" indent="-108000">
              <a:spcBef>
                <a:spcPts val="300"/>
              </a:spcBef>
              <a:buFontTx/>
              <a:buChar char="•"/>
            </a:pPr>
            <a:r>
              <a:rPr lang="en-GB" altLang="en-US" sz="1000" dirty="0"/>
              <a:t>On the orthogonal thickness plot (the left graph on right figure), Class 1B folds (parallel folds) plot as a horizontal straight line because the orthogonal thickness of these does not vary around the fold. On the axial plane thickness plot (the right graph on right figure), Class 2 folds (similar folds) plot as a horizontal straight line because the axial plane thickness of these does not vary around the fold</a:t>
            </a:r>
          </a:p>
          <a:p>
            <a:pPr marL="108000" indent="-108000">
              <a:spcBef>
                <a:spcPts val="300"/>
              </a:spcBef>
              <a:buFontTx/>
              <a:buChar char="•"/>
            </a:pPr>
            <a:r>
              <a:rPr lang="en-GB" altLang="en-US" sz="1000" dirty="0"/>
              <a:t>There are some more sophisticated variants of the plots shown on this slide which use the same measurements (see Ragan, p.386-397). Perhaps the best of these was developed by Lisle (Lisle RJ, 1997, A fold classification scheme based on a polar plot of inverse layer thickness, in: Sengupta S (editor) </a:t>
            </a:r>
            <a:r>
              <a:rPr lang="en-GB" altLang="en-US" sz="1000" i="1" dirty="0"/>
              <a:t>Evolution of Geological Structures in Micro- to Macro-scales</a:t>
            </a:r>
            <a:r>
              <a:rPr lang="en-GB" altLang="en-US" sz="1000" i="0" dirty="0"/>
              <a:t>, p.323-339; for an accessible description, see Ragan, p.388ff). These schemes allow </a:t>
            </a:r>
            <a:r>
              <a:rPr lang="en-GB" altLang="en-US" sz="1000" dirty="0"/>
              <a:t>information to be extracted about the amount of shortening and mechanical properties of the layer during folding (see Ragan, p.397ff.)</a:t>
            </a:r>
          </a:p>
          <a:p>
            <a:pPr marL="108000" indent="-108000">
              <a:spcBef>
                <a:spcPts val="300"/>
              </a:spcBef>
              <a:buFontTx/>
              <a:buChar char="•"/>
            </a:pPr>
            <a:r>
              <a:rPr lang="en-GB" altLang="en-US" sz="1000" dirty="0"/>
              <a:t>For those doing a field-based 3</a:t>
            </a:r>
            <a:r>
              <a:rPr lang="en-GB" altLang="en-US" sz="1000" baseline="30000" dirty="0"/>
              <a:t>rd</a:t>
            </a:r>
            <a:r>
              <a:rPr lang="en-GB" altLang="en-US" sz="1000" dirty="0"/>
              <a:t> year project where there are folds in your field area, it is well worth carrying out such an analysis. If it is not obvious how to do this from the figures on this and the previous slide, then see Ramsay &amp; Huber (p.348ff.) for a straightforward outline of the method and some worked examples. I have also put a worked example on the Canvas site accompanying this PowerPoint presentation. The measurements are best made in the field but can also be made from a photograph if you have taken the photo looking along the fold axis</a:t>
            </a:r>
          </a:p>
          <a:p>
            <a:pPr marL="108000" indent="-108000">
              <a:spcBef>
                <a:spcPts val="300"/>
              </a:spcBef>
              <a:buFontTx/>
              <a:buChar char="•"/>
            </a:pPr>
            <a:r>
              <a:rPr lang="en-GB" altLang="en-US" sz="1000" dirty="0"/>
              <a:t>Figure left redrawn by Steve Covey-Crump from Ragan, p.384</a:t>
            </a:r>
          </a:p>
          <a:p>
            <a:pPr marL="108000" indent="-108000">
              <a:spcBef>
                <a:spcPts val="300"/>
              </a:spcBef>
              <a:buFontTx/>
              <a:buChar char="•"/>
            </a:pPr>
            <a:r>
              <a:rPr lang="en-GB" altLang="en-US" sz="1000" dirty="0"/>
              <a:t>Figure right by Steve Covey-Crump based on Ramsay, 1967, </a:t>
            </a:r>
            <a:r>
              <a:rPr lang="en-GB" altLang="en-US" sz="1000" i="1" dirty="0"/>
              <a:t>Folding and Fracturing of Rocks</a:t>
            </a:r>
            <a:r>
              <a:rPr lang="en-GB" altLang="en-US" sz="1000" dirty="0"/>
              <a:t>, p.366</a:t>
            </a:r>
          </a:p>
          <a:p>
            <a:pPr marL="108000" indent="-108000">
              <a:spcBef>
                <a:spcPts val="300"/>
              </a:spcBef>
              <a:buFontTx/>
              <a:buNone/>
            </a:pPr>
            <a:endParaRPr lang="en-GB" altLang="en-US" sz="10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endParaRPr lang="en-GB" sz="1000" dirty="0"/>
          </a:p>
        </p:txBody>
      </p:sp>
      <p:sp>
        <p:nvSpPr>
          <p:cNvPr id="4" name="Slide Number Placeholder 3"/>
          <p:cNvSpPr>
            <a:spLocks noGrp="1"/>
          </p:cNvSpPr>
          <p:nvPr>
            <p:ph type="sldNum" sz="quarter" idx="5"/>
          </p:nvPr>
        </p:nvSpPr>
        <p:spPr/>
        <p:txBody>
          <a:bodyPr/>
          <a:lstStyle/>
          <a:p>
            <a:fld id="{697C009B-9679-4A70-8D45-342CF50E3D29}" type="slidenum">
              <a:rPr lang="en-GB" altLang="en-US" smtClean="0"/>
              <a:pPr/>
              <a:t>23</a:t>
            </a:fld>
            <a:endParaRPr lang="en-GB" altLang="en-US"/>
          </a:p>
        </p:txBody>
      </p:sp>
    </p:spTree>
    <p:extLst>
      <p:ext uri="{BB962C8B-B14F-4D97-AF65-F5344CB8AC3E}">
        <p14:creationId xmlns:p14="http://schemas.microsoft.com/office/powerpoint/2010/main" val="29575128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8000" indent="-108000">
              <a:spcBef>
                <a:spcPts val="300"/>
              </a:spcBef>
              <a:buFont typeface="Arial" panose="020B0604020202020204" pitchFamily="34" charset="0"/>
              <a:buChar char="•"/>
            </a:pPr>
            <a:r>
              <a:rPr lang="en-GB" sz="1000" dirty="0"/>
              <a:t>Congruent minor structures are small-scale structures that form at the same time as a larger scale structure, and which have a geometry that is systematically related to the geometry of that larger scale structure. Here we consider the suite of congruent minor structures and fabrics that form during folding; in later classes we will consider congruent minor structures that form around faults and shear zones. Obtaining an intuitive understanding of the geometry of congruent minor structures is absolutely essential for working out how to integrate relatively small-scale structural observations into a larger scale tectonic story. We will consider such syntheses of structural observations in last three classes of this unit, but what I will say then will not make much sense if you haven’t understood congruent minor structures first</a:t>
            </a:r>
          </a:p>
          <a:p>
            <a:pPr marL="108000" indent="-108000">
              <a:spcBef>
                <a:spcPts val="300"/>
              </a:spcBef>
              <a:buFont typeface="Arial" panose="020B0604020202020204" pitchFamily="34" charset="0"/>
              <a:buNone/>
            </a:pPr>
            <a:endParaRPr lang="en-GB" sz="1000" dirty="0"/>
          </a:p>
        </p:txBody>
      </p:sp>
      <p:sp>
        <p:nvSpPr>
          <p:cNvPr id="4" name="Slide Number Placeholder 3"/>
          <p:cNvSpPr>
            <a:spLocks noGrp="1"/>
          </p:cNvSpPr>
          <p:nvPr>
            <p:ph type="sldNum" sz="quarter" idx="10"/>
          </p:nvPr>
        </p:nvSpPr>
        <p:spPr/>
        <p:txBody>
          <a:bodyPr/>
          <a:lstStyle/>
          <a:p>
            <a:fld id="{697C009B-9679-4A70-8D45-342CF50E3D29}" type="slidenum">
              <a:rPr lang="en-GB" altLang="en-US" smtClean="0"/>
              <a:pPr/>
              <a:t>24</a:t>
            </a:fld>
            <a:endParaRPr lang="en-GB" altLang="en-US"/>
          </a:p>
        </p:txBody>
      </p:sp>
    </p:spTree>
    <p:extLst>
      <p:ext uri="{BB962C8B-B14F-4D97-AF65-F5344CB8AC3E}">
        <p14:creationId xmlns:p14="http://schemas.microsoft.com/office/powerpoint/2010/main" val="9747171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The reference to the strain ellipsoid on this figure is for completeness – we will discuss strain in Class 3</a:t>
            </a:r>
          </a:p>
          <a:p>
            <a:pPr marL="108000" indent="-108000">
              <a:spcBef>
                <a:spcPts val="300"/>
              </a:spcBef>
              <a:buFontTx/>
              <a:buChar char="•"/>
            </a:pPr>
            <a:r>
              <a:rPr lang="en-GB" altLang="en-US" sz="1000" dirty="0"/>
              <a:t>Figure by Steve Covey-Crump based on an original by Ernie Rutter</a:t>
            </a:r>
          </a:p>
          <a:p>
            <a:pPr marL="108000" indent="-108000">
              <a:spcBef>
                <a:spcPts val="300"/>
              </a:spcBef>
              <a:buFontTx/>
              <a:buChar char="•"/>
            </a:pPr>
            <a:r>
              <a:rPr lang="en-GB" altLang="en-US" sz="1000" dirty="0"/>
              <a:t>Photo (users.ugent.be/~</a:t>
            </a:r>
            <a:r>
              <a:rPr lang="en-GB" altLang="en-US" sz="1000" dirty="0" err="1"/>
              <a:t>melburg</a:t>
            </a:r>
            <a:r>
              <a:rPr lang="en-GB" altLang="en-US" sz="1000" dirty="0"/>
              <a:t>/Excursion/Excursion2009/SantoriniNaxos2009.html): </a:t>
            </a:r>
            <a:r>
              <a:rPr lang="en-GB" altLang="en-US" sz="1000" dirty="0" err="1"/>
              <a:t>boudinaged</a:t>
            </a:r>
            <a:r>
              <a:rPr lang="en-GB" altLang="en-US" sz="1000" dirty="0"/>
              <a:t> fold limbs, marble quarry, Naxos</a:t>
            </a:r>
          </a:p>
          <a:p>
            <a:pPr marL="108000" indent="-108000">
              <a:spcBef>
                <a:spcPts val="300"/>
              </a:spcBef>
              <a:buFontTx/>
              <a:buNone/>
            </a:pPr>
            <a:endParaRPr lang="en-GB" altLang="en-US" sz="10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The term ‘drag fold’ implies a rather dubious theory about how these folds form. ‘Parasitic fold’ is more general, and it also conveys the sense that these folds have formed on a larger scale structure (the term ‘minor fold’ does not quite capture this meaning)</a:t>
            </a:r>
          </a:p>
          <a:p>
            <a:pPr marL="108000" indent="-108000">
              <a:spcBef>
                <a:spcPts val="300"/>
              </a:spcBef>
              <a:buFontTx/>
              <a:buChar char="•"/>
            </a:pPr>
            <a:r>
              <a:rPr lang="en-GB" altLang="en-US" sz="1000" dirty="0"/>
              <a:t>Figure left by Steve Covey-Crump</a:t>
            </a:r>
          </a:p>
          <a:p>
            <a:pPr marL="108000" indent="-108000">
              <a:spcBef>
                <a:spcPts val="300"/>
              </a:spcBef>
              <a:buFontTx/>
              <a:buChar char="•"/>
            </a:pPr>
            <a:r>
              <a:rPr lang="en-GB" altLang="en-US" sz="1000" dirty="0"/>
              <a:t>Photo right (Steve Covey-Crump): folded </a:t>
            </a:r>
            <a:r>
              <a:rPr lang="en-GB" altLang="en-US" sz="1000" dirty="0" err="1"/>
              <a:t>Moine</a:t>
            </a:r>
            <a:r>
              <a:rPr lang="en-GB" altLang="en-US" sz="1000" dirty="0"/>
              <a:t> schists, near Glenfinnan, Scotland</a:t>
            </a:r>
          </a:p>
          <a:p>
            <a:pPr marL="108000" indent="-108000">
              <a:spcBef>
                <a:spcPts val="300"/>
              </a:spcBef>
              <a:buFontTx/>
              <a:buNone/>
            </a:pPr>
            <a:endParaRPr lang="en-GB" altLang="en-US" sz="10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txBox="1">
            <a:spLocks noGrp="1" noChangeArrowheads="1"/>
          </p:cNvSpPr>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85" tIns="45642" rIns="91285" bIns="45642" anchor="b"/>
          <a:lstStyle>
            <a:lvl1pPr defTabSz="912813">
              <a:defRPr sz="1600">
                <a:solidFill>
                  <a:schemeClr val="tx1"/>
                </a:solidFill>
                <a:latin typeface="Helvetica" charset="0"/>
              </a:defRPr>
            </a:lvl1pPr>
            <a:lvl2pPr marL="742950" indent="-285750" defTabSz="912813">
              <a:defRPr sz="1600">
                <a:solidFill>
                  <a:schemeClr val="tx1"/>
                </a:solidFill>
                <a:latin typeface="Helvetica" charset="0"/>
              </a:defRPr>
            </a:lvl2pPr>
            <a:lvl3pPr marL="1143000" indent="-228600" defTabSz="912813">
              <a:defRPr sz="1600">
                <a:solidFill>
                  <a:schemeClr val="tx1"/>
                </a:solidFill>
                <a:latin typeface="Helvetica" charset="0"/>
              </a:defRPr>
            </a:lvl3pPr>
            <a:lvl4pPr marL="1600200" indent="-228600" defTabSz="912813">
              <a:defRPr sz="1600">
                <a:solidFill>
                  <a:schemeClr val="tx1"/>
                </a:solidFill>
                <a:latin typeface="Helvetica" charset="0"/>
              </a:defRPr>
            </a:lvl4pPr>
            <a:lvl5pPr marL="2057400" indent="-228600" defTabSz="912813">
              <a:defRPr sz="1600">
                <a:solidFill>
                  <a:schemeClr val="tx1"/>
                </a:solidFill>
                <a:latin typeface="Helvetica" charset="0"/>
              </a:defRPr>
            </a:lvl5pPr>
            <a:lvl6pPr marL="2514600" indent="-228600" defTabSz="912813" eaLnBrk="0" fontAlgn="base" hangingPunct="0">
              <a:spcBef>
                <a:spcPct val="0"/>
              </a:spcBef>
              <a:spcAft>
                <a:spcPct val="0"/>
              </a:spcAft>
              <a:defRPr sz="1600">
                <a:solidFill>
                  <a:schemeClr val="tx1"/>
                </a:solidFill>
                <a:latin typeface="Helvetica" charset="0"/>
              </a:defRPr>
            </a:lvl6pPr>
            <a:lvl7pPr marL="2971800" indent="-228600" defTabSz="912813" eaLnBrk="0" fontAlgn="base" hangingPunct="0">
              <a:spcBef>
                <a:spcPct val="0"/>
              </a:spcBef>
              <a:spcAft>
                <a:spcPct val="0"/>
              </a:spcAft>
              <a:defRPr sz="1600">
                <a:solidFill>
                  <a:schemeClr val="tx1"/>
                </a:solidFill>
                <a:latin typeface="Helvetica" charset="0"/>
              </a:defRPr>
            </a:lvl7pPr>
            <a:lvl8pPr marL="3429000" indent="-228600" defTabSz="912813" eaLnBrk="0" fontAlgn="base" hangingPunct="0">
              <a:spcBef>
                <a:spcPct val="0"/>
              </a:spcBef>
              <a:spcAft>
                <a:spcPct val="0"/>
              </a:spcAft>
              <a:defRPr sz="1600">
                <a:solidFill>
                  <a:schemeClr val="tx1"/>
                </a:solidFill>
                <a:latin typeface="Helvetica" charset="0"/>
              </a:defRPr>
            </a:lvl8pPr>
            <a:lvl9pPr marL="3886200" indent="-228600" defTabSz="912813" eaLnBrk="0" fontAlgn="base" hangingPunct="0">
              <a:spcBef>
                <a:spcPct val="0"/>
              </a:spcBef>
              <a:spcAft>
                <a:spcPct val="0"/>
              </a:spcAft>
              <a:defRPr sz="1600">
                <a:solidFill>
                  <a:schemeClr val="tx1"/>
                </a:solidFill>
                <a:latin typeface="Helvetica" charset="0"/>
              </a:defRPr>
            </a:lvl9pPr>
          </a:lstStyle>
          <a:p>
            <a:pPr algn="r"/>
            <a:fld id="{E238BBA9-DEBD-4DA8-A4C0-6898DF958A26}" type="slidenum">
              <a:rPr lang="en-GB" altLang="en-US" sz="1200">
                <a:latin typeface="Arial" charset="0"/>
              </a:rPr>
              <a:pPr algn="r"/>
              <a:t>27</a:t>
            </a:fld>
            <a:endParaRPr lang="en-GB" altLang="en-US" sz="1200">
              <a:latin typeface="Arial"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The development of foliations and </a:t>
            </a:r>
            <a:r>
              <a:rPr lang="en-GB" altLang="en-US" sz="1000" dirty="0" err="1"/>
              <a:t>lineations</a:t>
            </a:r>
            <a:r>
              <a:rPr lang="en-GB" altLang="en-US" sz="1000" dirty="0"/>
              <a:t> is an important topic (mapping foliations and </a:t>
            </a:r>
            <a:r>
              <a:rPr lang="en-GB" altLang="en-US" sz="1000" dirty="0" err="1"/>
              <a:t>lineations</a:t>
            </a:r>
            <a:r>
              <a:rPr lang="en-GB" altLang="en-US" sz="1000" dirty="0"/>
              <a:t> is a key part of mapping deformed rocks). There is not much time to develop this theme within this course unit but see the excellent discussions in (a) </a:t>
            </a:r>
            <a:r>
              <a:rPr lang="en-GB" altLang="en-US" sz="1000" dirty="0" err="1"/>
              <a:t>Passchier</a:t>
            </a:r>
            <a:r>
              <a:rPr lang="en-GB" altLang="en-US" sz="1000" dirty="0"/>
              <a:t> &amp; </a:t>
            </a:r>
            <a:r>
              <a:rPr lang="en-GB" altLang="en-US" sz="1000" dirty="0" err="1"/>
              <a:t>Trouw</a:t>
            </a:r>
            <a:r>
              <a:rPr lang="en-GB" altLang="en-US" sz="1000" dirty="0"/>
              <a:t>, 2005, </a:t>
            </a:r>
            <a:r>
              <a:rPr lang="en-GB" altLang="en-US" sz="1000" i="1" dirty="0" err="1"/>
              <a:t>Microtectonics</a:t>
            </a:r>
            <a:r>
              <a:rPr lang="en-GB" altLang="en-US" sz="1000" dirty="0"/>
              <a:t> (2</a:t>
            </a:r>
            <a:r>
              <a:rPr lang="en-GB" altLang="en-US" sz="1000" baseline="30000" dirty="0"/>
              <a:t>nd</a:t>
            </a:r>
            <a:r>
              <a:rPr lang="en-GB" altLang="en-US" sz="1000" dirty="0"/>
              <a:t> edition), Chapter 4, (b) Twiss &amp; </a:t>
            </a:r>
            <a:r>
              <a:rPr lang="en-GB" altLang="en-US" sz="1000" dirty="0" err="1"/>
              <a:t>Moores</a:t>
            </a:r>
            <a:r>
              <a:rPr lang="en-GB" altLang="en-US" sz="1000" dirty="0"/>
              <a:t>, 2007, </a:t>
            </a:r>
            <a:r>
              <a:rPr lang="en-GB" altLang="en-US" sz="1000" i="1" dirty="0"/>
              <a:t>Structural Geology </a:t>
            </a:r>
            <a:r>
              <a:rPr lang="en-GB" altLang="en-US" sz="1000" dirty="0"/>
              <a:t>(2</a:t>
            </a:r>
            <a:r>
              <a:rPr lang="en-GB" altLang="en-US" sz="1000" baseline="30000" dirty="0"/>
              <a:t>nd</a:t>
            </a:r>
            <a:r>
              <a:rPr lang="en-GB" altLang="en-US" sz="1000" dirty="0"/>
              <a:t> edition), Chapter 11, and (c) Fossen, Chapters 13 and 14</a:t>
            </a:r>
          </a:p>
          <a:p>
            <a:pPr marL="108000" indent="-108000">
              <a:spcBef>
                <a:spcPts val="300"/>
              </a:spcBef>
              <a:buFontTx/>
              <a:buChar char="•"/>
            </a:pPr>
            <a:r>
              <a:rPr lang="en-GB" altLang="en-US" sz="1000" dirty="0"/>
              <a:t>Figures from </a:t>
            </a:r>
            <a:r>
              <a:rPr lang="en-GB" altLang="en-US" sz="1000" dirty="0" err="1"/>
              <a:t>Passchier</a:t>
            </a:r>
            <a:r>
              <a:rPr lang="en-GB" altLang="en-US" sz="1000" dirty="0"/>
              <a:t> &amp; </a:t>
            </a:r>
            <a:r>
              <a:rPr lang="en-GB" altLang="en-US" sz="1000" dirty="0" err="1"/>
              <a:t>Trouw</a:t>
            </a:r>
            <a:r>
              <a:rPr lang="en-GB" altLang="en-US" sz="1000" dirty="0"/>
              <a:t>, 2005, </a:t>
            </a:r>
            <a:r>
              <a:rPr lang="en-GB" altLang="en-US" sz="1000" i="1" dirty="0" err="1"/>
              <a:t>Microtectonics</a:t>
            </a:r>
            <a:r>
              <a:rPr lang="en-GB" altLang="en-US" sz="1000" dirty="0"/>
              <a:t> (2</a:t>
            </a:r>
            <a:r>
              <a:rPr lang="en-GB" altLang="en-US" sz="1000" baseline="30000" dirty="0"/>
              <a:t>nd</a:t>
            </a:r>
            <a:r>
              <a:rPr lang="en-GB" altLang="en-US" sz="1000" dirty="0"/>
              <a:t> edition), Fig. 4.16</a:t>
            </a:r>
          </a:p>
          <a:p>
            <a:pPr marL="108000" indent="-108000">
              <a:spcBef>
                <a:spcPts val="300"/>
              </a:spcBef>
              <a:buFontTx/>
              <a:buNone/>
            </a:pPr>
            <a:endParaRPr lang="en-GB" altLang="en-US" sz="10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The term ‘fracture cleavage’ is commonly used for a set of closely spaced fractures in brittle lithologies; the description ‘</a:t>
            </a:r>
            <a:r>
              <a:rPr lang="en-GB" altLang="en-US" sz="1000" dirty="0" err="1"/>
              <a:t>phyllitic</a:t>
            </a:r>
            <a:r>
              <a:rPr lang="en-GB" altLang="en-US" sz="1000" dirty="0"/>
              <a:t>’ may be used for fabrics that are transitional between cleavage and schistosity; the term ‘</a:t>
            </a:r>
            <a:r>
              <a:rPr lang="en-GB" altLang="en-US" sz="1000" dirty="0" err="1"/>
              <a:t>gneissosity</a:t>
            </a:r>
            <a:r>
              <a:rPr lang="en-GB" altLang="en-US" sz="1000" dirty="0"/>
              <a:t>’ may be used for a deformation-induced fabric in very high-grade rocks, although this is now largely out of favour because of the possible confusion it may cause with compositional layering in gneisses</a:t>
            </a:r>
          </a:p>
          <a:p>
            <a:pPr marL="108000" indent="-108000">
              <a:spcBef>
                <a:spcPts val="300"/>
              </a:spcBef>
              <a:buFontTx/>
              <a:buChar char="•"/>
            </a:pPr>
            <a:r>
              <a:rPr lang="en-GB" altLang="en-US" sz="1000" dirty="0"/>
              <a:t>There are many terms that have been developed to describe the morphology of cleavage and schistosity (</a:t>
            </a:r>
            <a:r>
              <a:rPr lang="en-GB" altLang="en-US" sz="1000" i="1" dirty="0"/>
              <a:t>e.g</a:t>
            </a:r>
            <a:r>
              <a:rPr lang="en-GB" altLang="en-US" sz="1000" dirty="0"/>
              <a:t>., see </a:t>
            </a:r>
            <a:r>
              <a:rPr lang="en-GB" altLang="en-US" sz="1000" dirty="0" err="1"/>
              <a:t>Passchier</a:t>
            </a:r>
            <a:r>
              <a:rPr lang="en-GB" altLang="en-US" sz="1000" dirty="0"/>
              <a:t> &amp; </a:t>
            </a:r>
            <a:r>
              <a:rPr lang="en-GB" altLang="en-US" sz="1000" dirty="0" err="1"/>
              <a:t>Trouw</a:t>
            </a:r>
            <a:r>
              <a:rPr lang="en-GB" altLang="en-US" sz="1000" dirty="0"/>
              <a:t>, 2005, </a:t>
            </a:r>
            <a:r>
              <a:rPr lang="en-GB" altLang="en-US" sz="1000" i="1" dirty="0" err="1"/>
              <a:t>Microtectonics</a:t>
            </a:r>
            <a:r>
              <a:rPr lang="en-GB" altLang="en-US" sz="1000" dirty="0"/>
              <a:t> (2</a:t>
            </a:r>
            <a:r>
              <a:rPr lang="en-GB" altLang="en-US" sz="1000" baseline="30000" dirty="0"/>
              <a:t>nd</a:t>
            </a:r>
            <a:r>
              <a:rPr lang="en-GB" altLang="en-US" sz="1000" dirty="0"/>
              <a:t> edition), Fig. 4.7, or Price &amp; Cosgrove, p.434-5) but while these allow a certain descriptive precision, they are not particularly useful</a:t>
            </a:r>
          </a:p>
          <a:p>
            <a:pPr marL="108000" indent="-108000">
              <a:spcBef>
                <a:spcPts val="300"/>
              </a:spcBef>
              <a:buFontTx/>
              <a:buChar char="•"/>
            </a:pPr>
            <a:r>
              <a:rPr lang="en-GB" altLang="en-US" sz="1000" dirty="0"/>
              <a:t>Photo left (Steve Covey-Crump): cleavage in Precambrian units, Charnwood Forest, Leicestershire. Note how the cleavage changes dip in passing from the dark grey units to the buff-brown units. This is the phenomenon of cleavage refraction (see Slide 33)</a:t>
            </a:r>
          </a:p>
          <a:p>
            <a:pPr marL="108000" indent="-108000">
              <a:spcBef>
                <a:spcPts val="300"/>
              </a:spcBef>
              <a:buFontTx/>
              <a:buChar char="•"/>
            </a:pPr>
            <a:r>
              <a:rPr lang="en-GB" altLang="en-US" sz="1000" dirty="0"/>
              <a:t>Photo middle (Steve Covey-Crump): fracture cleavage in Carboniferous limestones, West Angle Bay, Pembrokeshire</a:t>
            </a:r>
          </a:p>
          <a:p>
            <a:pPr marL="108000" indent="-108000">
              <a:spcBef>
                <a:spcPts val="300"/>
              </a:spcBef>
              <a:buFontTx/>
              <a:buChar char="•"/>
            </a:pPr>
            <a:r>
              <a:rPr lang="en-GB" altLang="en-US" sz="1000" dirty="0"/>
              <a:t>Photo right (Steve Covey-Crump): schistosity in deformed </a:t>
            </a:r>
            <a:r>
              <a:rPr lang="en-GB" altLang="en-US" sz="1000" dirty="0" err="1"/>
              <a:t>Moine</a:t>
            </a:r>
            <a:r>
              <a:rPr lang="en-GB" altLang="en-US" sz="1000" dirty="0"/>
              <a:t> metasedimentary units, south coast of the Ross of Mull, Scotland</a:t>
            </a:r>
          </a:p>
          <a:p>
            <a:pPr marL="108000" indent="-108000">
              <a:spcBef>
                <a:spcPts val="300"/>
              </a:spcBef>
              <a:buFontTx/>
              <a:buNone/>
            </a:pPr>
            <a:endParaRPr lang="en-GB" altLang="en-US" sz="10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Figure top left: from Price &amp; Cosgrove, p.436</a:t>
            </a:r>
          </a:p>
          <a:p>
            <a:pPr marL="108000" indent="-108000">
              <a:spcBef>
                <a:spcPts val="300"/>
              </a:spcBef>
              <a:buFontTx/>
              <a:buChar char="•"/>
            </a:pPr>
            <a:r>
              <a:rPr lang="en-GB" altLang="en-US" sz="1000" dirty="0"/>
              <a:t>Photo left (from the image database accompanying </a:t>
            </a:r>
            <a:r>
              <a:rPr lang="en-GB" altLang="en-US" sz="1000" dirty="0" err="1"/>
              <a:t>Passchier</a:t>
            </a:r>
            <a:r>
              <a:rPr lang="en-GB" altLang="en-US" sz="1000" dirty="0"/>
              <a:t> &amp; </a:t>
            </a:r>
            <a:r>
              <a:rPr lang="en-GB" altLang="en-US" sz="1000" dirty="0" err="1"/>
              <a:t>Trouw</a:t>
            </a:r>
            <a:r>
              <a:rPr lang="en-GB" altLang="en-US" sz="1000" dirty="0"/>
              <a:t>, 2005, </a:t>
            </a:r>
            <a:r>
              <a:rPr lang="en-GB" altLang="en-US" sz="1000" i="1" dirty="0" err="1"/>
              <a:t>Microtectonics</a:t>
            </a:r>
            <a:r>
              <a:rPr lang="en-GB" altLang="en-US" sz="1000" dirty="0"/>
              <a:t> (2</a:t>
            </a:r>
            <a:r>
              <a:rPr lang="en-GB" altLang="en-US" sz="1000" baseline="30000" dirty="0"/>
              <a:t>nd</a:t>
            </a:r>
            <a:r>
              <a:rPr lang="en-GB" altLang="en-US" sz="1000" dirty="0"/>
              <a:t> edition)): axial planar cleavage in a thin section scale fold (height of image 20 mm); phyllite from the Swedish </a:t>
            </a:r>
            <a:r>
              <a:rPr lang="en-GB" altLang="en-US" sz="1000" dirty="0" err="1"/>
              <a:t>Caledonides</a:t>
            </a:r>
            <a:endParaRPr lang="en-GB" altLang="en-US" sz="1000" dirty="0"/>
          </a:p>
          <a:p>
            <a:pPr marL="108000" indent="-108000">
              <a:spcBef>
                <a:spcPts val="300"/>
              </a:spcBef>
              <a:buFontTx/>
              <a:buChar char="•"/>
            </a:pPr>
            <a:r>
              <a:rPr lang="en-GB" altLang="en-US" sz="1000" dirty="0"/>
              <a:t>Photo right (Steve Covey-Crump): fold at Bwa Du, on the NW limb of the </a:t>
            </a:r>
            <a:r>
              <a:rPr lang="en-GB" altLang="en-US" sz="1000" dirty="0" err="1"/>
              <a:t>Rhoscolyn</a:t>
            </a:r>
            <a:r>
              <a:rPr lang="en-GB" altLang="en-US" sz="1000" dirty="0"/>
              <a:t> </a:t>
            </a:r>
            <a:r>
              <a:rPr lang="en-GB" altLang="en-US" sz="1000" dirty="0" err="1"/>
              <a:t>antiform</a:t>
            </a:r>
            <a:r>
              <a:rPr lang="en-GB" altLang="en-US" sz="1000" dirty="0"/>
              <a:t>, Anglesey</a:t>
            </a:r>
          </a:p>
          <a:p>
            <a:pPr marL="108000" indent="-108000">
              <a:spcBef>
                <a:spcPts val="300"/>
              </a:spcBef>
              <a:buFontTx/>
              <a:buNone/>
            </a:pPr>
            <a:endParaRPr lang="en-GB" altLang="en-US" sz="10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When marking field maps, one of the biggest discriminators is between those who have bothered to measure cleavage and those who have not. It is not always easy to put your compass on a cleavage plane, but it is usually straightforward to align a notebook with the cleavage and measure that instead</a:t>
            </a:r>
          </a:p>
          <a:p>
            <a:pPr marL="108000" indent="-108000">
              <a:spcBef>
                <a:spcPts val="300"/>
              </a:spcBef>
              <a:buFontTx/>
              <a:buChar char="•"/>
            </a:pPr>
            <a:r>
              <a:rPr lang="en-GB" altLang="en-US" sz="1000" dirty="0"/>
              <a:t>Figure top left: from Price &amp; Cosgrove, p.436</a:t>
            </a:r>
          </a:p>
          <a:p>
            <a:pPr marL="108000" indent="-108000">
              <a:spcBef>
                <a:spcPts val="300"/>
              </a:spcBef>
              <a:buFontTx/>
              <a:buChar char="•"/>
            </a:pPr>
            <a:r>
              <a:rPr lang="en-GB" altLang="en-US" sz="1000" dirty="0"/>
              <a:t>Photo left (Steve Covey-Crump): trace of axial planar cleavage in folded </a:t>
            </a:r>
            <a:r>
              <a:rPr lang="en-GB" altLang="en-US" sz="1000" dirty="0" err="1"/>
              <a:t>pelites</a:t>
            </a:r>
            <a:r>
              <a:rPr lang="en-GB" altLang="en-US" sz="1000" dirty="0"/>
              <a:t>, Penally Point, north side of Boscastle Harbour, Cornwall</a:t>
            </a:r>
          </a:p>
          <a:p>
            <a:pPr marL="108000" indent="-108000">
              <a:spcBef>
                <a:spcPts val="300"/>
              </a:spcBef>
              <a:buFontTx/>
              <a:buChar char="•"/>
            </a:pPr>
            <a:r>
              <a:rPr lang="en-GB" altLang="en-US" sz="1000" dirty="0"/>
              <a:t>Photo right (Steve Covey-Crump): axial planar cleavage (with the appearance of a spaced fracture cleavage) in the rounded hinge fold shown on Slide 19; folds within the South Alligator Group, Kakadu Highway, south of Darwin, Australia</a:t>
            </a:r>
          </a:p>
          <a:p>
            <a:pPr marL="108000" indent="-108000">
              <a:spcBef>
                <a:spcPts val="300"/>
              </a:spcBef>
              <a:buFontTx/>
              <a:buNone/>
            </a:pPr>
            <a:endParaRPr lang="en-GB" altLang="en-US" sz="100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To establish S or Z asymmetry, you trace </a:t>
            </a:r>
            <a:r>
              <a:rPr lang="en-GB" altLang="en-US" sz="1000" b="1" i="1" dirty="0"/>
              <a:t>along bedding – along cleavage – along bedding</a:t>
            </a:r>
            <a:r>
              <a:rPr lang="en-GB" altLang="en-US" sz="1000" dirty="0"/>
              <a:t>, making acute angles. You must be looking </a:t>
            </a:r>
            <a:r>
              <a:rPr lang="en-GB" altLang="en-US" sz="1000" b="1" dirty="0"/>
              <a:t>down</a:t>
            </a:r>
            <a:r>
              <a:rPr lang="en-GB" altLang="en-US" sz="1000" dirty="0"/>
              <a:t> the fold axis</a:t>
            </a:r>
          </a:p>
          <a:p>
            <a:pPr marL="108000" indent="-108000">
              <a:spcBef>
                <a:spcPts val="300"/>
              </a:spcBef>
              <a:buFontTx/>
              <a:buChar char="•"/>
            </a:pPr>
            <a:r>
              <a:rPr lang="en-GB" altLang="en-US" sz="1000" dirty="0"/>
              <a:t>The direction of vergence (indicated by the orange arrows above) is obtained by establishing which way you have to rotate the top of the cleavage trace to make it parallel with the trace of bedding. The direction of vergence points towards the </a:t>
            </a:r>
            <a:r>
              <a:rPr lang="en-GB" altLang="en-US" sz="1000" dirty="0" err="1"/>
              <a:t>antiform</a:t>
            </a:r>
            <a:r>
              <a:rPr lang="en-GB" altLang="en-US" sz="1000" dirty="0"/>
              <a:t>; it doesn’t matter which way you are looking</a:t>
            </a:r>
          </a:p>
          <a:p>
            <a:pPr marL="108000" indent="-108000">
              <a:spcBef>
                <a:spcPts val="300"/>
              </a:spcBef>
              <a:buFontTx/>
              <a:buChar char="•"/>
            </a:pPr>
            <a:r>
              <a:rPr lang="en-GB" altLang="en-US" sz="1000" dirty="0"/>
              <a:t>Figure left by Steve Covey-Crump (the bottom part of this figure was based on Lisle, 2004, </a:t>
            </a:r>
            <a:r>
              <a:rPr lang="en-GB" altLang="en-US" sz="1000" i="1" dirty="0"/>
              <a:t>Geological Structures and Maps: A Practical Guide </a:t>
            </a:r>
            <a:r>
              <a:rPr lang="en-GB" altLang="en-US" sz="1000" i="0" dirty="0"/>
              <a:t>(3</a:t>
            </a:r>
            <a:r>
              <a:rPr lang="en-GB" altLang="en-US" sz="1000" i="0" baseline="30000" dirty="0"/>
              <a:t>rd</a:t>
            </a:r>
            <a:r>
              <a:rPr lang="en-GB" altLang="en-US" sz="1000" i="0" dirty="0"/>
              <a:t> edition)</a:t>
            </a:r>
            <a:r>
              <a:rPr lang="en-GB" altLang="en-US" sz="1000" dirty="0"/>
              <a:t>, p.99)</a:t>
            </a:r>
          </a:p>
          <a:p>
            <a:pPr marL="108000" indent="-108000">
              <a:spcBef>
                <a:spcPts val="300"/>
              </a:spcBef>
              <a:buFontTx/>
              <a:buChar char="•"/>
            </a:pPr>
            <a:r>
              <a:rPr lang="en-GB" altLang="en-US" sz="1000" dirty="0"/>
              <a:t>Photo middle (Steve Covey-Crump): </a:t>
            </a:r>
            <a:r>
              <a:rPr lang="en-GB" altLang="en-US" sz="1000" dirty="0" err="1"/>
              <a:t>Marloes</a:t>
            </a:r>
            <a:r>
              <a:rPr lang="en-GB" altLang="en-US" sz="1000" dirty="0"/>
              <a:t>, Pembrokeshire</a:t>
            </a:r>
          </a:p>
          <a:p>
            <a:pPr marL="108000" indent="-108000">
              <a:spcBef>
                <a:spcPts val="300"/>
              </a:spcBef>
              <a:buFontTx/>
              <a:buChar char="•"/>
            </a:pPr>
            <a:r>
              <a:rPr lang="en-GB" altLang="en-US" sz="1000" dirty="0"/>
              <a:t>Photo right (Steve Covey-Crump): road section in Clue du </a:t>
            </a:r>
            <a:r>
              <a:rPr lang="en-GB" altLang="en-US" sz="1000" dirty="0" err="1"/>
              <a:t>Pérouré</a:t>
            </a:r>
            <a:r>
              <a:rPr lang="en-GB" altLang="en-US" sz="1000" dirty="0"/>
              <a:t>, near </a:t>
            </a:r>
            <a:r>
              <a:rPr lang="en-GB" altLang="en-US" sz="1000" dirty="0" err="1"/>
              <a:t>Digne</a:t>
            </a:r>
            <a:r>
              <a:rPr lang="en-GB" altLang="en-US" sz="1000" dirty="0"/>
              <a:t>-les-Bains, France</a:t>
            </a:r>
          </a:p>
          <a:p>
            <a:pPr marL="108000" indent="-108000">
              <a:spcBef>
                <a:spcPts val="300"/>
              </a:spcBef>
              <a:buFontTx/>
              <a:buNone/>
            </a:pPr>
            <a:endParaRPr lang="en-GB" altLang="en-US" sz="10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err="1"/>
              <a:t>Transpression</a:t>
            </a:r>
            <a:r>
              <a:rPr lang="en-GB" altLang="en-US" sz="1000" dirty="0"/>
              <a:t> is a combination of shearing with compression (we will consider </a:t>
            </a:r>
            <a:r>
              <a:rPr lang="en-GB" altLang="en-US" sz="1000" dirty="0" err="1"/>
              <a:t>transpression</a:t>
            </a:r>
            <a:r>
              <a:rPr lang="en-GB" altLang="en-US" sz="1000" dirty="0"/>
              <a:t> properly in Classes 4 and 10). Transecting cleavage is a feature of the North Wales slate belts</a:t>
            </a:r>
          </a:p>
          <a:p>
            <a:pPr marL="108000" indent="-108000">
              <a:spcBef>
                <a:spcPts val="300"/>
              </a:spcBef>
              <a:buFontTx/>
              <a:buChar char="•"/>
            </a:pPr>
            <a:r>
              <a:rPr lang="en-GB" altLang="en-US" sz="1000" dirty="0"/>
              <a:t>Figure top left is from Price &amp; Cosgrove, p.436</a:t>
            </a:r>
          </a:p>
          <a:p>
            <a:pPr marL="108000" indent="-108000">
              <a:spcBef>
                <a:spcPts val="300"/>
              </a:spcBef>
              <a:buFontTx/>
              <a:buChar char="•"/>
            </a:pPr>
            <a:r>
              <a:rPr lang="en-GB" altLang="en-US" sz="1000" dirty="0"/>
              <a:t>Two figures bottom left are from Fossen, p.263</a:t>
            </a:r>
          </a:p>
          <a:p>
            <a:pPr marL="108000" indent="-108000">
              <a:spcBef>
                <a:spcPts val="300"/>
              </a:spcBef>
              <a:buFontTx/>
              <a:buChar char="•"/>
            </a:pPr>
            <a:r>
              <a:rPr lang="en-GB" altLang="en-US" sz="1000" dirty="0"/>
              <a:t>Figure right is from Fossen, p.295</a:t>
            </a:r>
          </a:p>
          <a:p>
            <a:pPr marL="108000" indent="-108000">
              <a:spcBef>
                <a:spcPts val="300"/>
              </a:spcBef>
              <a:buFontTx/>
              <a:buNone/>
            </a:pPr>
            <a:endParaRPr lang="en-GB" altLang="en-US" sz="10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More competent lithologies are ones that are more resistant to flow</a:t>
            </a:r>
          </a:p>
          <a:p>
            <a:pPr marL="108000" indent="-108000">
              <a:spcBef>
                <a:spcPts val="300"/>
              </a:spcBef>
              <a:buFontTx/>
              <a:buChar char="•"/>
            </a:pPr>
            <a:r>
              <a:rPr lang="en-GB" altLang="en-US" sz="1000" dirty="0"/>
              <a:t>With caution, refracted cleavage may be used as an indicator of graded bedding – it usually becomes more nearly parallel to bedding as the clay mineral content increases towards the top of a normally graded bed. Using this logic in the photo on the left the units are </a:t>
            </a:r>
            <a:r>
              <a:rPr lang="en-GB" altLang="en-US" sz="1000" dirty="0" err="1"/>
              <a:t>younging</a:t>
            </a:r>
            <a:r>
              <a:rPr lang="en-GB" altLang="en-US" sz="1000" dirty="0"/>
              <a:t> towards the left (look at how the cleavage curves across the lighter coloured, more quartz-rich units). The cleavage/bedding asymmetry (S in this view) suggests </a:t>
            </a:r>
            <a:r>
              <a:rPr lang="en-GB" altLang="en-US" sz="1000" dirty="0" err="1"/>
              <a:t>antiform</a:t>
            </a:r>
            <a:r>
              <a:rPr lang="en-GB" altLang="en-US" sz="1000" dirty="0"/>
              <a:t> to the left, but the beds are also </a:t>
            </a:r>
            <a:r>
              <a:rPr lang="en-GB" altLang="en-US" sz="1000" dirty="0" err="1"/>
              <a:t>younging</a:t>
            </a:r>
            <a:r>
              <a:rPr lang="en-GB" altLang="en-US" sz="1000" dirty="0"/>
              <a:t> in this direction. Hence to the left is a synclinal </a:t>
            </a:r>
            <a:r>
              <a:rPr lang="en-GB" altLang="en-US" sz="1000" dirty="0" err="1"/>
              <a:t>antiform</a:t>
            </a:r>
            <a:r>
              <a:rPr lang="en-GB" altLang="en-US" sz="1000" dirty="0"/>
              <a:t>. In this case the cleavage is actually a cleavage generated in a later folding event than the one that formed the </a:t>
            </a:r>
            <a:r>
              <a:rPr lang="en-GB" altLang="en-US" sz="1000" dirty="0" err="1"/>
              <a:t>antiform</a:t>
            </a:r>
            <a:r>
              <a:rPr lang="en-GB" altLang="en-US" sz="1000" dirty="0"/>
              <a:t> and so we can’t really say this – care is required in making too many inferences from a photo at this scale (one needs to match the generation of cleavage to the generation of fold). In the photo on the right the cleavage refraction suggests </a:t>
            </a:r>
            <a:r>
              <a:rPr lang="en-GB" altLang="en-US" sz="1000" dirty="0" err="1"/>
              <a:t>younging</a:t>
            </a:r>
            <a:r>
              <a:rPr lang="en-GB" altLang="en-US" sz="1000" dirty="0"/>
              <a:t> to the right (the cleavage/bedding asymmetry suggests </a:t>
            </a:r>
            <a:r>
              <a:rPr lang="en-GB" altLang="en-US" sz="1000" dirty="0" err="1"/>
              <a:t>synform</a:t>
            </a:r>
            <a:r>
              <a:rPr lang="en-GB" altLang="en-US" sz="1000" dirty="0"/>
              <a:t> to the right – synclinal </a:t>
            </a:r>
            <a:r>
              <a:rPr lang="en-GB" altLang="en-US" sz="1000" dirty="0" err="1"/>
              <a:t>synform</a:t>
            </a:r>
            <a:r>
              <a:rPr lang="en-GB" altLang="en-US" sz="1000" dirty="0"/>
              <a:t>)</a:t>
            </a:r>
          </a:p>
          <a:p>
            <a:pPr marL="108000" indent="-108000">
              <a:spcBef>
                <a:spcPts val="300"/>
              </a:spcBef>
              <a:buFontTx/>
              <a:buChar char="•"/>
            </a:pPr>
            <a:r>
              <a:rPr lang="en-GB" altLang="en-US" sz="1000" dirty="0"/>
              <a:t>Photo left (Steve Covey-Crump): north shore of Loch Leven at </a:t>
            </a:r>
            <a:r>
              <a:rPr lang="en-GB" altLang="en-US" sz="1000" dirty="0" err="1"/>
              <a:t>Kinlochleven</a:t>
            </a:r>
            <a:r>
              <a:rPr lang="en-GB" altLang="en-US" sz="1000" dirty="0"/>
              <a:t> (we’ll see this locality on the Easter field course to Scotland). Inset figure from Price &amp; Cosgrove, p.436</a:t>
            </a:r>
          </a:p>
          <a:p>
            <a:pPr marL="108000" indent="-108000">
              <a:spcBef>
                <a:spcPts val="300"/>
              </a:spcBef>
              <a:buFontTx/>
              <a:buChar char="•"/>
            </a:pPr>
            <a:r>
              <a:rPr lang="en-GB" altLang="en-US" sz="1000" dirty="0"/>
              <a:t>Photo right (Steve Covey-Crump): Precambrian units at Charnwood Forest, Leicestershire</a:t>
            </a:r>
          </a:p>
          <a:p>
            <a:pPr marL="108000" indent="-108000">
              <a:spcBef>
                <a:spcPts val="300"/>
              </a:spcBef>
              <a:buFontTx/>
              <a:buNone/>
            </a:pPr>
            <a:endParaRPr lang="en-GB" altLang="en-US" sz="100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If a rock with a well-developed deformation fabric is re-deformed, then a new fabric is formed. We describe this as a crenulation cleavage. Hence, by definition, the existence of a crenulation cleavage means that the rocks have been deformed more than once</a:t>
            </a:r>
          </a:p>
          <a:p>
            <a:pPr marL="108000" indent="-108000">
              <a:spcBef>
                <a:spcPts val="300"/>
              </a:spcBef>
              <a:buFontTx/>
              <a:buChar char="•"/>
            </a:pPr>
            <a:r>
              <a:rPr lang="en-GB" altLang="en-US" sz="1000" dirty="0"/>
              <a:t>In the photo on the left, ignore the thin Tertiary dyke and look at the light grey surface. This is a bedding surface and the lineation on it which has a pitch of about 30° to the left is a crenulation lineation (in this case, an S</a:t>
            </a:r>
            <a:r>
              <a:rPr lang="en-GB" altLang="en-US" sz="1000" spc="150" baseline="-25000" dirty="0"/>
              <a:t>2</a:t>
            </a:r>
            <a:r>
              <a:rPr lang="en-GB" altLang="en-US" sz="1000" spc="150" dirty="0"/>
              <a:t>/</a:t>
            </a:r>
            <a:r>
              <a:rPr lang="en-GB" altLang="en-US" sz="1000" dirty="0"/>
              <a:t>S</a:t>
            </a:r>
            <a:r>
              <a:rPr lang="en-GB" altLang="en-US" sz="1000" baseline="-25000" dirty="0"/>
              <a:t>0</a:t>
            </a:r>
            <a:r>
              <a:rPr lang="en-GB" altLang="en-US" sz="1000" dirty="0"/>
              <a:t> intersection lineation). In the photo on the right, the cleavage running left-right is folding an earlier cleavage running approximately up-down. The folds are sufficiently well defined to measure an axial plane (= crenulation cleavage) </a:t>
            </a:r>
          </a:p>
          <a:p>
            <a:pPr marL="108000" indent="-108000">
              <a:spcBef>
                <a:spcPts val="300"/>
              </a:spcBef>
              <a:buFontTx/>
              <a:buChar char="•"/>
            </a:pPr>
            <a:r>
              <a:rPr lang="en-GB" altLang="en-US" sz="1000" dirty="0"/>
              <a:t>Photo left (Steve Covey-Crump): folded </a:t>
            </a:r>
            <a:r>
              <a:rPr lang="en-GB" altLang="en-US" sz="1000" dirty="0" err="1"/>
              <a:t>Moine</a:t>
            </a:r>
            <a:r>
              <a:rPr lang="en-GB" altLang="en-US" sz="1000" dirty="0"/>
              <a:t> metasedimentary units on the south coast of the Ross of Mull, Scotland</a:t>
            </a:r>
          </a:p>
          <a:p>
            <a:pPr marL="108000" indent="-108000">
              <a:spcBef>
                <a:spcPts val="300"/>
              </a:spcBef>
              <a:buFontTx/>
              <a:buChar char="•"/>
            </a:pPr>
            <a:r>
              <a:rPr lang="en-GB" altLang="en-US" sz="1000" dirty="0"/>
              <a:t>Photo right (BGS image database: geoscenic.bgs.ac.uk/asset-bank/action/</a:t>
            </a:r>
            <a:r>
              <a:rPr lang="en-GB" altLang="en-US" sz="1000" dirty="0" err="1"/>
              <a:t>viewHome</a:t>
            </a:r>
            <a:r>
              <a:rPr lang="en-GB" altLang="en-US" sz="1000" dirty="0"/>
              <a:t>, image P204238): folded Dartmouth slates at Blackpool beach, Stoke Fleming, Devon</a:t>
            </a:r>
          </a:p>
          <a:p>
            <a:pPr marL="108000" indent="-108000">
              <a:spcBef>
                <a:spcPts val="300"/>
              </a:spcBef>
              <a:buFontTx/>
              <a:buNone/>
            </a:pPr>
            <a:endParaRPr lang="en-GB" altLang="en-US" sz="1000"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txBox="1">
            <a:spLocks noGrp="1" noChangeArrowheads="1"/>
          </p:cNvSpPr>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85" tIns="45642" rIns="91285" bIns="45642" anchor="b"/>
          <a:lstStyle>
            <a:lvl1pPr defTabSz="912813">
              <a:defRPr sz="1600">
                <a:solidFill>
                  <a:schemeClr val="tx1"/>
                </a:solidFill>
                <a:latin typeface="Helvetica" charset="0"/>
              </a:defRPr>
            </a:lvl1pPr>
            <a:lvl2pPr marL="742950" indent="-285750" defTabSz="912813">
              <a:defRPr sz="1600">
                <a:solidFill>
                  <a:schemeClr val="tx1"/>
                </a:solidFill>
                <a:latin typeface="Helvetica" charset="0"/>
              </a:defRPr>
            </a:lvl2pPr>
            <a:lvl3pPr marL="1143000" indent="-228600" defTabSz="912813">
              <a:defRPr sz="1600">
                <a:solidFill>
                  <a:schemeClr val="tx1"/>
                </a:solidFill>
                <a:latin typeface="Helvetica" charset="0"/>
              </a:defRPr>
            </a:lvl3pPr>
            <a:lvl4pPr marL="1600200" indent="-228600" defTabSz="912813">
              <a:defRPr sz="1600">
                <a:solidFill>
                  <a:schemeClr val="tx1"/>
                </a:solidFill>
                <a:latin typeface="Helvetica" charset="0"/>
              </a:defRPr>
            </a:lvl4pPr>
            <a:lvl5pPr marL="2057400" indent="-228600" defTabSz="912813">
              <a:defRPr sz="1600">
                <a:solidFill>
                  <a:schemeClr val="tx1"/>
                </a:solidFill>
                <a:latin typeface="Helvetica" charset="0"/>
              </a:defRPr>
            </a:lvl5pPr>
            <a:lvl6pPr marL="2514600" indent="-228600" defTabSz="912813" eaLnBrk="0" fontAlgn="base" hangingPunct="0">
              <a:spcBef>
                <a:spcPct val="0"/>
              </a:spcBef>
              <a:spcAft>
                <a:spcPct val="0"/>
              </a:spcAft>
              <a:defRPr sz="1600">
                <a:solidFill>
                  <a:schemeClr val="tx1"/>
                </a:solidFill>
                <a:latin typeface="Helvetica" charset="0"/>
              </a:defRPr>
            </a:lvl6pPr>
            <a:lvl7pPr marL="2971800" indent="-228600" defTabSz="912813" eaLnBrk="0" fontAlgn="base" hangingPunct="0">
              <a:spcBef>
                <a:spcPct val="0"/>
              </a:spcBef>
              <a:spcAft>
                <a:spcPct val="0"/>
              </a:spcAft>
              <a:defRPr sz="1600">
                <a:solidFill>
                  <a:schemeClr val="tx1"/>
                </a:solidFill>
                <a:latin typeface="Helvetica" charset="0"/>
              </a:defRPr>
            </a:lvl7pPr>
            <a:lvl8pPr marL="3429000" indent="-228600" defTabSz="912813" eaLnBrk="0" fontAlgn="base" hangingPunct="0">
              <a:spcBef>
                <a:spcPct val="0"/>
              </a:spcBef>
              <a:spcAft>
                <a:spcPct val="0"/>
              </a:spcAft>
              <a:defRPr sz="1600">
                <a:solidFill>
                  <a:schemeClr val="tx1"/>
                </a:solidFill>
                <a:latin typeface="Helvetica" charset="0"/>
              </a:defRPr>
            </a:lvl8pPr>
            <a:lvl9pPr marL="3886200" indent="-228600" defTabSz="912813" eaLnBrk="0" fontAlgn="base" hangingPunct="0">
              <a:spcBef>
                <a:spcPct val="0"/>
              </a:spcBef>
              <a:spcAft>
                <a:spcPct val="0"/>
              </a:spcAft>
              <a:defRPr sz="1600">
                <a:solidFill>
                  <a:schemeClr val="tx1"/>
                </a:solidFill>
                <a:latin typeface="Helvetica" charset="0"/>
              </a:defRPr>
            </a:lvl9pPr>
          </a:lstStyle>
          <a:p>
            <a:pPr algn="r"/>
            <a:fld id="{6434A362-6692-4230-A885-B0FED47BA979}" type="slidenum">
              <a:rPr lang="en-GB" altLang="en-US" sz="1200">
                <a:latin typeface="Arial" charset="0"/>
              </a:rPr>
              <a:pPr algn="r"/>
              <a:t>35</a:t>
            </a:fld>
            <a:endParaRPr lang="en-GB" altLang="en-US" sz="1200">
              <a:latin typeface="Arial"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Note the notation: S</a:t>
            </a:r>
            <a:r>
              <a:rPr lang="en-GB" altLang="en-US" sz="1000" baseline="-25000" dirty="0"/>
              <a:t>0</a:t>
            </a:r>
            <a:r>
              <a:rPr lang="en-GB" altLang="en-US" sz="1000" dirty="0"/>
              <a:t> is the original surface (bedding), S</a:t>
            </a:r>
            <a:r>
              <a:rPr lang="en-GB" altLang="en-US" sz="1000" baseline="-25000" dirty="0"/>
              <a:t>1</a:t>
            </a:r>
            <a:r>
              <a:rPr lang="en-GB" altLang="en-US" sz="1000" dirty="0"/>
              <a:t> is the first cleavage, S</a:t>
            </a:r>
            <a:r>
              <a:rPr lang="en-GB" altLang="en-US" sz="1000" baseline="-25000" dirty="0"/>
              <a:t>2</a:t>
            </a:r>
            <a:r>
              <a:rPr lang="en-GB" altLang="en-US" sz="1000" dirty="0"/>
              <a:t> is the second cleavage, and so on. We can also use D</a:t>
            </a:r>
            <a:r>
              <a:rPr lang="en-GB" altLang="en-US" sz="1000" baseline="-25000" dirty="0"/>
              <a:t>1</a:t>
            </a:r>
            <a:r>
              <a:rPr lang="en-GB" altLang="en-US" sz="1000" dirty="0"/>
              <a:t>, D</a:t>
            </a:r>
            <a:r>
              <a:rPr lang="en-GB" altLang="en-US" sz="1000" baseline="-25000" dirty="0"/>
              <a:t>2</a:t>
            </a:r>
            <a:r>
              <a:rPr lang="en-GB" altLang="en-US" sz="1000" dirty="0"/>
              <a:t>, . . . to refer to deformation phase 1, 2, </a:t>
            </a:r>
            <a:r>
              <a:rPr lang="en-GB" altLang="en-US" sz="1000" i="1" dirty="0"/>
              <a:t>etc</a:t>
            </a:r>
            <a:r>
              <a:rPr lang="en-GB" altLang="en-US" sz="1000" dirty="0"/>
              <a:t>., F</a:t>
            </a:r>
            <a:r>
              <a:rPr lang="en-GB" altLang="en-US" sz="1000" baseline="-25000" dirty="0"/>
              <a:t>1</a:t>
            </a:r>
            <a:r>
              <a:rPr lang="en-GB" altLang="en-US" sz="1000" dirty="0"/>
              <a:t>, F</a:t>
            </a:r>
            <a:r>
              <a:rPr lang="en-GB" altLang="en-US" sz="1000" baseline="-25000" dirty="0"/>
              <a:t>2</a:t>
            </a:r>
            <a:r>
              <a:rPr lang="en-GB" altLang="en-US" sz="1000" dirty="0"/>
              <a:t>, . . . to refer to folds formed in the 1</a:t>
            </a:r>
            <a:r>
              <a:rPr lang="en-GB" altLang="en-US" sz="1000" baseline="30000" dirty="0"/>
              <a:t>st</a:t>
            </a:r>
            <a:r>
              <a:rPr lang="en-GB" altLang="en-US" sz="1000" dirty="0"/>
              <a:t> phase of deformation, 2</a:t>
            </a:r>
            <a:r>
              <a:rPr lang="en-GB" altLang="en-US" sz="1000" baseline="30000" dirty="0"/>
              <a:t>nd</a:t>
            </a:r>
            <a:r>
              <a:rPr lang="en-GB" altLang="en-US" sz="1000" dirty="0"/>
              <a:t> phase of deformation, </a:t>
            </a:r>
            <a:r>
              <a:rPr lang="en-GB" altLang="en-US" sz="1000" i="1" dirty="0"/>
              <a:t>etc</a:t>
            </a:r>
            <a:r>
              <a:rPr lang="en-GB" altLang="en-US" sz="1000" dirty="0"/>
              <a:t>., and L</a:t>
            </a:r>
            <a:r>
              <a:rPr lang="en-GB" altLang="en-US" sz="1000" baseline="-25000" dirty="0"/>
              <a:t>1</a:t>
            </a:r>
            <a:r>
              <a:rPr lang="en-GB" altLang="en-US" sz="1000" dirty="0"/>
              <a:t>, L</a:t>
            </a:r>
            <a:r>
              <a:rPr lang="en-GB" altLang="en-US" sz="1000" baseline="-25000" dirty="0"/>
              <a:t>2</a:t>
            </a:r>
            <a:r>
              <a:rPr lang="en-GB" altLang="en-US" sz="1000" dirty="0"/>
              <a:t>, . . . to refer to </a:t>
            </a:r>
            <a:r>
              <a:rPr lang="en-GB" altLang="en-US" sz="1000" dirty="0" err="1"/>
              <a:t>lineations</a:t>
            </a:r>
            <a:r>
              <a:rPr lang="en-GB" altLang="en-US" sz="1000" dirty="0"/>
              <a:t> formed in the 1</a:t>
            </a:r>
            <a:r>
              <a:rPr lang="en-GB" altLang="en-US" sz="1000" baseline="30000" dirty="0"/>
              <a:t>st</a:t>
            </a:r>
            <a:r>
              <a:rPr lang="en-GB" altLang="en-US" sz="1000" dirty="0"/>
              <a:t> phase of deformation, 2</a:t>
            </a:r>
            <a:r>
              <a:rPr lang="en-GB" altLang="en-US" sz="1000" baseline="30000" dirty="0"/>
              <a:t>nd</a:t>
            </a:r>
            <a:r>
              <a:rPr lang="en-GB" altLang="en-US" sz="1000" dirty="0"/>
              <a:t> phase of deformation, </a:t>
            </a:r>
            <a:r>
              <a:rPr lang="en-GB" altLang="en-US" sz="1000" i="1" dirty="0"/>
              <a:t>etc.</a:t>
            </a:r>
            <a:endParaRPr lang="en-GB" altLang="en-US" sz="1000" dirty="0"/>
          </a:p>
          <a:p>
            <a:pPr marL="108000" indent="-108000">
              <a:spcBef>
                <a:spcPts val="300"/>
              </a:spcBef>
              <a:buFontTx/>
              <a:buChar char="•"/>
            </a:pPr>
            <a:r>
              <a:rPr lang="en-GB" altLang="en-US" sz="1000" dirty="0"/>
              <a:t>The formation of crenulation cleavage is discussed by Cosgrove, 1976, </a:t>
            </a:r>
            <a:r>
              <a:rPr lang="en-GB" altLang="en-US" sz="1000" i="1" dirty="0"/>
              <a:t>Journal of the Geological Society, London</a:t>
            </a:r>
            <a:r>
              <a:rPr lang="en-GB" altLang="en-US" sz="1000" dirty="0"/>
              <a:t> 132: 155-178, </a:t>
            </a:r>
            <a:r>
              <a:rPr lang="en-GB" sz="1000" dirty="0"/>
              <a:t>https://doi.org/10.1144/gsjgs.132.2.0155;</a:t>
            </a:r>
            <a:r>
              <a:rPr lang="en-GB" altLang="en-US" sz="1000" dirty="0"/>
              <a:t> and by Knipe, 1981, </a:t>
            </a:r>
            <a:r>
              <a:rPr lang="en-GB" altLang="en-US" sz="1000" i="1" dirty="0"/>
              <a:t>Tectonophysics</a:t>
            </a:r>
            <a:r>
              <a:rPr lang="en-GB" altLang="en-US" sz="1000" dirty="0"/>
              <a:t> 78: 249-272, </a:t>
            </a:r>
            <a:r>
              <a:rPr lang="en-GB" sz="1000" dirty="0"/>
              <a:t>https://doi.org/10.1016/0040-1951(81)90016-0</a:t>
            </a:r>
            <a:endParaRPr lang="en-GB" altLang="en-US" sz="1000" dirty="0"/>
          </a:p>
          <a:p>
            <a:pPr marL="108000" indent="-108000">
              <a:spcBef>
                <a:spcPts val="300"/>
              </a:spcBef>
              <a:buFontTx/>
              <a:buChar char="•"/>
            </a:pPr>
            <a:r>
              <a:rPr lang="en-GB" altLang="en-US" sz="1000" dirty="0"/>
              <a:t>Figure from </a:t>
            </a:r>
            <a:r>
              <a:rPr lang="en-GB" altLang="en-US" sz="1000" dirty="0" err="1"/>
              <a:t>Passchier</a:t>
            </a:r>
            <a:r>
              <a:rPr lang="en-GB" altLang="en-US" sz="1000" dirty="0"/>
              <a:t> &amp; </a:t>
            </a:r>
            <a:r>
              <a:rPr lang="en-GB" altLang="en-US" sz="1000" dirty="0" err="1"/>
              <a:t>Trouw</a:t>
            </a:r>
            <a:r>
              <a:rPr lang="en-GB" altLang="en-US" sz="1000" dirty="0"/>
              <a:t>, 2005, </a:t>
            </a:r>
            <a:r>
              <a:rPr lang="en-GB" altLang="en-US" sz="1000" i="1" dirty="0" err="1"/>
              <a:t>Microtectonics</a:t>
            </a:r>
            <a:r>
              <a:rPr lang="en-GB" altLang="en-US" sz="1000" dirty="0"/>
              <a:t> (2</a:t>
            </a:r>
            <a:r>
              <a:rPr lang="en-GB" altLang="en-US" sz="1000" baseline="30000" dirty="0"/>
              <a:t>nd</a:t>
            </a:r>
            <a:r>
              <a:rPr lang="en-GB" altLang="en-US" sz="1000" dirty="0"/>
              <a:t> edition), Fig.4.18</a:t>
            </a:r>
          </a:p>
          <a:p>
            <a:pPr marL="108000" indent="-108000">
              <a:spcBef>
                <a:spcPts val="300"/>
              </a:spcBef>
              <a:buFontTx/>
              <a:buChar char="•"/>
            </a:pPr>
            <a:r>
              <a:rPr lang="en-GB" altLang="en-US" sz="1000" dirty="0"/>
              <a:t>Photo (Steve Covey-Crump): a spaced crenulation cleavage, </a:t>
            </a:r>
            <a:r>
              <a:rPr lang="en-GB" altLang="en-US" sz="1000" dirty="0" err="1"/>
              <a:t>Kinlochleven</a:t>
            </a:r>
            <a:r>
              <a:rPr lang="en-GB" altLang="en-US" sz="1000" dirty="0"/>
              <a:t> (at this locality this is actually S</a:t>
            </a:r>
            <a:r>
              <a:rPr lang="en-GB" altLang="en-US" sz="1000" baseline="-25000" dirty="0"/>
              <a:t>3</a:t>
            </a:r>
            <a:r>
              <a:rPr lang="en-GB" altLang="en-US" sz="1000" baseline="0" dirty="0"/>
              <a:t> </a:t>
            </a:r>
            <a:r>
              <a:rPr lang="en-GB" altLang="en-US" sz="1000" baseline="0" dirty="0" err="1"/>
              <a:t>crenulating</a:t>
            </a:r>
            <a:r>
              <a:rPr lang="en-GB" altLang="en-US" sz="1000" baseline="0" dirty="0"/>
              <a:t> S</a:t>
            </a:r>
            <a:r>
              <a:rPr lang="en-GB" altLang="en-US" sz="1000" spc="150" baseline="-25000" dirty="0"/>
              <a:t>2</a:t>
            </a:r>
            <a:r>
              <a:rPr lang="en-GB" altLang="en-US" sz="1000" spc="150" baseline="0" dirty="0"/>
              <a:t>;</a:t>
            </a:r>
            <a:r>
              <a:rPr lang="en-GB" altLang="en-US" sz="1000" dirty="0"/>
              <a:t> S</a:t>
            </a:r>
            <a:r>
              <a:rPr lang="en-GB" altLang="en-US" sz="1000" baseline="-25000" dirty="0"/>
              <a:t>1</a:t>
            </a:r>
            <a:r>
              <a:rPr lang="en-GB" altLang="en-US" sz="1000" baseline="0" dirty="0"/>
              <a:t> is not visible in the photo)</a:t>
            </a:r>
            <a:r>
              <a:rPr lang="en-GB" altLang="en-US" sz="1000" dirty="0"/>
              <a:t>. The thin </a:t>
            </a:r>
            <a:r>
              <a:rPr lang="en-GB" altLang="en-US" sz="1000" dirty="0" err="1"/>
              <a:t>quartzitic</a:t>
            </a:r>
            <a:r>
              <a:rPr lang="en-GB" altLang="en-US" sz="1000" dirty="0"/>
              <a:t> layers are bedding but there is a fine S</a:t>
            </a:r>
            <a:r>
              <a:rPr lang="en-GB" altLang="en-US" sz="1000" baseline="-25000" dirty="0"/>
              <a:t>2</a:t>
            </a:r>
            <a:r>
              <a:rPr lang="en-GB" altLang="en-US" sz="1000" dirty="0"/>
              <a:t> cleavage almost bedding parallel which is rather challenging to see in this photo. The development of the crenulation cleavage is at about stage 3 in the figure above</a:t>
            </a:r>
          </a:p>
          <a:p>
            <a:pPr marL="108000" indent="-108000">
              <a:spcBef>
                <a:spcPts val="300"/>
              </a:spcBef>
              <a:buFontTx/>
              <a:buNone/>
            </a:pPr>
            <a:endParaRPr lang="en-GB" altLang="en-US" sz="100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txBox="1">
            <a:spLocks noGrp="1" noChangeArrowheads="1"/>
          </p:cNvSpPr>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85" tIns="45642" rIns="91285" bIns="45642" anchor="b"/>
          <a:lstStyle>
            <a:lvl1pPr defTabSz="912813">
              <a:defRPr sz="1600">
                <a:solidFill>
                  <a:schemeClr val="tx1"/>
                </a:solidFill>
                <a:latin typeface="Helvetica" charset="0"/>
              </a:defRPr>
            </a:lvl1pPr>
            <a:lvl2pPr marL="742950" indent="-285750" defTabSz="912813">
              <a:defRPr sz="1600">
                <a:solidFill>
                  <a:schemeClr val="tx1"/>
                </a:solidFill>
                <a:latin typeface="Helvetica" charset="0"/>
              </a:defRPr>
            </a:lvl2pPr>
            <a:lvl3pPr marL="1143000" indent="-228600" defTabSz="912813">
              <a:defRPr sz="1600">
                <a:solidFill>
                  <a:schemeClr val="tx1"/>
                </a:solidFill>
                <a:latin typeface="Helvetica" charset="0"/>
              </a:defRPr>
            </a:lvl3pPr>
            <a:lvl4pPr marL="1600200" indent="-228600" defTabSz="912813">
              <a:defRPr sz="1600">
                <a:solidFill>
                  <a:schemeClr val="tx1"/>
                </a:solidFill>
                <a:latin typeface="Helvetica" charset="0"/>
              </a:defRPr>
            </a:lvl4pPr>
            <a:lvl5pPr marL="2057400" indent="-228600" defTabSz="912813">
              <a:defRPr sz="1600">
                <a:solidFill>
                  <a:schemeClr val="tx1"/>
                </a:solidFill>
                <a:latin typeface="Helvetica" charset="0"/>
              </a:defRPr>
            </a:lvl5pPr>
            <a:lvl6pPr marL="2514600" indent="-228600" defTabSz="912813" eaLnBrk="0" fontAlgn="base" hangingPunct="0">
              <a:spcBef>
                <a:spcPct val="0"/>
              </a:spcBef>
              <a:spcAft>
                <a:spcPct val="0"/>
              </a:spcAft>
              <a:defRPr sz="1600">
                <a:solidFill>
                  <a:schemeClr val="tx1"/>
                </a:solidFill>
                <a:latin typeface="Helvetica" charset="0"/>
              </a:defRPr>
            </a:lvl6pPr>
            <a:lvl7pPr marL="2971800" indent="-228600" defTabSz="912813" eaLnBrk="0" fontAlgn="base" hangingPunct="0">
              <a:spcBef>
                <a:spcPct val="0"/>
              </a:spcBef>
              <a:spcAft>
                <a:spcPct val="0"/>
              </a:spcAft>
              <a:defRPr sz="1600">
                <a:solidFill>
                  <a:schemeClr val="tx1"/>
                </a:solidFill>
                <a:latin typeface="Helvetica" charset="0"/>
              </a:defRPr>
            </a:lvl7pPr>
            <a:lvl8pPr marL="3429000" indent="-228600" defTabSz="912813" eaLnBrk="0" fontAlgn="base" hangingPunct="0">
              <a:spcBef>
                <a:spcPct val="0"/>
              </a:spcBef>
              <a:spcAft>
                <a:spcPct val="0"/>
              </a:spcAft>
              <a:defRPr sz="1600">
                <a:solidFill>
                  <a:schemeClr val="tx1"/>
                </a:solidFill>
                <a:latin typeface="Helvetica" charset="0"/>
              </a:defRPr>
            </a:lvl8pPr>
            <a:lvl9pPr marL="3886200" indent="-228600" defTabSz="912813" eaLnBrk="0" fontAlgn="base" hangingPunct="0">
              <a:spcBef>
                <a:spcPct val="0"/>
              </a:spcBef>
              <a:spcAft>
                <a:spcPct val="0"/>
              </a:spcAft>
              <a:defRPr sz="1600">
                <a:solidFill>
                  <a:schemeClr val="tx1"/>
                </a:solidFill>
                <a:latin typeface="Helvetica" charset="0"/>
              </a:defRPr>
            </a:lvl9pPr>
          </a:lstStyle>
          <a:p>
            <a:pPr algn="r"/>
            <a:fld id="{9C16334B-3BDF-4C31-9181-2E16F17D43F5}" type="slidenum">
              <a:rPr lang="en-GB" altLang="en-US" sz="1200">
                <a:latin typeface="Arial" charset="0"/>
              </a:rPr>
              <a:pPr algn="r"/>
              <a:t>36</a:t>
            </a:fld>
            <a:endParaRPr lang="en-GB" altLang="en-US" sz="1200">
              <a:latin typeface="Arial"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Photo top (Steve Covey-Crump): an F</a:t>
            </a:r>
            <a:r>
              <a:rPr lang="en-GB" altLang="en-US" sz="1000" baseline="-25000" dirty="0"/>
              <a:t>2</a:t>
            </a:r>
            <a:r>
              <a:rPr lang="en-GB" altLang="en-US" sz="1000" dirty="0"/>
              <a:t> fold within the South Stack Formation, </a:t>
            </a:r>
            <a:r>
              <a:rPr lang="en-GB" altLang="en-US" sz="1000" dirty="0" err="1"/>
              <a:t>Rhoscolyn</a:t>
            </a:r>
            <a:r>
              <a:rPr lang="en-GB" altLang="en-US" sz="1000" dirty="0"/>
              <a:t>, Anglesey. Note that there is an early cleavage </a:t>
            </a:r>
            <a:r>
              <a:rPr lang="en-GB" altLang="en-US" sz="1000" spc="100" baseline="0" dirty="0"/>
              <a:t>(</a:t>
            </a:r>
            <a:r>
              <a:rPr lang="en-GB" altLang="en-US" sz="1000" dirty="0"/>
              <a:t>S</a:t>
            </a:r>
            <a:r>
              <a:rPr lang="en-GB" altLang="en-US" sz="1000" spc="150" baseline="-25000" dirty="0"/>
              <a:t>1</a:t>
            </a:r>
            <a:r>
              <a:rPr lang="en-GB" altLang="en-US" sz="1000" dirty="0"/>
              <a:t>) that is oblique to bedding </a:t>
            </a:r>
            <a:r>
              <a:rPr lang="en-GB" altLang="en-US" sz="1000" spc="100" baseline="0" dirty="0"/>
              <a:t>(</a:t>
            </a:r>
            <a:r>
              <a:rPr lang="en-GB" altLang="en-US" sz="1000" dirty="0"/>
              <a:t>S</a:t>
            </a:r>
            <a:r>
              <a:rPr lang="en-GB" altLang="en-US" sz="1000" spc="150" baseline="-25000" dirty="0"/>
              <a:t>0</a:t>
            </a:r>
            <a:r>
              <a:rPr lang="en-GB" altLang="en-US" sz="1000" dirty="0"/>
              <a:t>) on the short steep limb </a:t>
            </a:r>
            <a:r>
              <a:rPr lang="en-GB" altLang="en-US" sz="1000" spc="100" baseline="0" dirty="0"/>
              <a:t>(</a:t>
            </a:r>
            <a:r>
              <a:rPr lang="en-GB" altLang="en-US" sz="1000" dirty="0"/>
              <a:t>S</a:t>
            </a:r>
            <a:r>
              <a:rPr lang="en-GB" altLang="en-US" sz="1000" spc="150" baseline="-25000" dirty="0"/>
              <a:t>1</a:t>
            </a:r>
            <a:r>
              <a:rPr lang="en-GB" altLang="en-US" sz="1000" spc="150" dirty="0"/>
              <a:t>/</a:t>
            </a:r>
            <a:r>
              <a:rPr lang="en-GB" altLang="en-US" sz="1000" dirty="0"/>
              <a:t>S</a:t>
            </a:r>
            <a:r>
              <a:rPr lang="en-GB" altLang="en-US" sz="1000" baseline="-25000" dirty="0"/>
              <a:t>0</a:t>
            </a:r>
            <a:r>
              <a:rPr lang="en-GB" altLang="en-US" sz="1000" dirty="0"/>
              <a:t> has S-asymmetry) and that this is folded around the hinge of the </a:t>
            </a:r>
            <a:r>
              <a:rPr lang="en-GB" altLang="en-US" sz="1000" dirty="0" err="1"/>
              <a:t>antiform</a:t>
            </a:r>
            <a:r>
              <a:rPr lang="en-GB" altLang="en-US" sz="1000" dirty="0"/>
              <a:t>. It is not easy to see but on the long, gently dipping limbs you can just make out that S</a:t>
            </a:r>
            <a:r>
              <a:rPr lang="en-GB" altLang="en-US" sz="1000" spc="150" baseline="-25000" dirty="0"/>
              <a:t>1</a:t>
            </a:r>
            <a:r>
              <a:rPr lang="en-GB" altLang="en-US" sz="1000" spc="150" dirty="0"/>
              <a:t>/</a:t>
            </a:r>
            <a:r>
              <a:rPr lang="en-GB" altLang="en-US" sz="1000" dirty="0"/>
              <a:t>S</a:t>
            </a:r>
            <a:r>
              <a:rPr lang="en-GB" altLang="en-US" sz="1000" baseline="-25000" dirty="0"/>
              <a:t>0</a:t>
            </a:r>
            <a:r>
              <a:rPr lang="en-GB" altLang="en-US" sz="1000" dirty="0"/>
              <a:t> has S-asymmetry. Note also the presence of a spaced crenulation cleavage </a:t>
            </a:r>
            <a:r>
              <a:rPr lang="en-GB" altLang="en-US" sz="1000" spc="100" baseline="0" dirty="0"/>
              <a:t>(</a:t>
            </a:r>
            <a:r>
              <a:rPr lang="en-GB" altLang="en-US" sz="1000" dirty="0"/>
              <a:t>S</a:t>
            </a:r>
            <a:r>
              <a:rPr lang="en-GB" altLang="en-US" sz="1000" spc="150" baseline="-25000" dirty="0"/>
              <a:t>2</a:t>
            </a:r>
            <a:r>
              <a:rPr lang="en-GB" altLang="en-US" sz="1000" dirty="0"/>
              <a:t>) axial planar to the folding, in the core of the </a:t>
            </a:r>
            <a:r>
              <a:rPr lang="en-GB" altLang="en-US" sz="1000" dirty="0" err="1"/>
              <a:t>antiform</a:t>
            </a:r>
            <a:endParaRPr lang="en-GB" altLang="en-US" sz="1000" dirty="0"/>
          </a:p>
          <a:p>
            <a:pPr marL="108000" indent="-108000">
              <a:spcBef>
                <a:spcPts val="300"/>
              </a:spcBef>
              <a:buFontTx/>
              <a:buChar char="•"/>
            </a:pPr>
            <a:r>
              <a:rPr lang="en-GB" altLang="en-US" sz="1000" dirty="0"/>
              <a:t>Figure (Steve Covey-Crump) illustrating how S</a:t>
            </a:r>
            <a:r>
              <a:rPr lang="en-GB" altLang="en-US" sz="1000" spc="150" baseline="-25000" dirty="0"/>
              <a:t>1</a:t>
            </a:r>
            <a:r>
              <a:rPr lang="en-GB" altLang="en-US" sz="1000" spc="150" dirty="0"/>
              <a:t>/</a:t>
            </a:r>
            <a:r>
              <a:rPr lang="en-GB" altLang="en-US" sz="1000" dirty="0"/>
              <a:t>S</a:t>
            </a:r>
            <a:r>
              <a:rPr lang="en-GB" altLang="en-US" sz="1000" baseline="-25000" dirty="0"/>
              <a:t>0</a:t>
            </a:r>
            <a:r>
              <a:rPr lang="en-GB" altLang="en-US" sz="1000" dirty="0"/>
              <a:t> asymmetry remains the same (here an S) all the way around an F</a:t>
            </a:r>
            <a:r>
              <a:rPr lang="en-GB" altLang="en-US" sz="1000" baseline="-25000" dirty="0"/>
              <a:t>2</a:t>
            </a:r>
            <a:r>
              <a:rPr lang="en-GB" altLang="en-US" sz="1000" dirty="0"/>
              <a:t> </a:t>
            </a:r>
            <a:r>
              <a:rPr lang="en-GB" altLang="en-US" sz="1000" dirty="0" err="1"/>
              <a:t>antiform-synform</a:t>
            </a:r>
            <a:r>
              <a:rPr lang="en-GB" altLang="en-US" sz="1000" dirty="0"/>
              <a:t> pair</a:t>
            </a:r>
          </a:p>
          <a:p>
            <a:pPr marL="108000" indent="-108000">
              <a:spcBef>
                <a:spcPts val="300"/>
              </a:spcBef>
              <a:buFontTx/>
              <a:buNone/>
            </a:pPr>
            <a:endParaRPr lang="en-GB" altLang="en-US" sz="1000"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txBox="1">
            <a:spLocks noGrp="1" noChangeArrowheads="1"/>
          </p:cNvSpPr>
          <p:nvPr/>
        </p:nvSpPr>
        <p:spPr bwMode="auto">
          <a:xfrm>
            <a:off x="3803650" y="9347200"/>
            <a:ext cx="28908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285" tIns="45642" rIns="91285" bIns="45642" anchor="b"/>
          <a:lstStyle>
            <a:lvl1pPr defTabSz="912813">
              <a:defRPr sz="1600">
                <a:solidFill>
                  <a:schemeClr val="tx1"/>
                </a:solidFill>
                <a:latin typeface="Helvetica" charset="0"/>
              </a:defRPr>
            </a:lvl1pPr>
            <a:lvl2pPr marL="742950" indent="-285750" defTabSz="912813">
              <a:defRPr sz="1600">
                <a:solidFill>
                  <a:schemeClr val="tx1"/>
                </a:solidFill>
                <a:latin typeface="Helvetica" charset="0"/>
              </a:defRPr>
            </a:lvl2pPr>
            <a:lvl3pPr marL="1143000" indent="-228600" defTabSz="912813">
              <a:defRPr sz="1600">
                <a:solidFill>
                  <a:schemeClr val="tx1"/>
                </a:solidFill>
                <a:latin typeface="Helvetica" charset="0"/>
              </a:defRPr>
            </a:lvl3pPr>
            <a:lvl4pPr marL="1600200" indent="-228600" defTabSz="912813">
              <a:defRPr sz="1600">
                <a:solidFill>
                  <a:schemeClr val="tx1"/>
                </a:solidFill>
                <a:latin typeface="Helvetica" charset="0"/>
              </a:defRPr>
            </a:lvl4pPr>
            <a:lvl5pPr marL="2057400" indent="-228600" defTabSz="912813">
              <a:defRPr sz="1600">
                <a:solidFill>
                  <a:schemeClr val="tx1"/>
                </a:solidFill>
                <a:latin typeface="Helvetica" charset="0"/>
              </a:defRPr>
            </a:lvl5pPr>
            <a:lvl6pPr marL="2514600" indent="-228600" defTabSz="912813" eaLnBrk="0" fontAlgn="base" hangingPunct="0">
              <a:spcBef>
                <a:spcPct val="0"/>
              </a:spcBef>
              <a:spcAft>
                <a:spcPct val="0"/>
              </a:spcAft>
              <a:defRPr sz="1600">
                <a:solidFill>
                  <a:schemeClr val="tx1"/>
                </a:solidFill>
                <a:latin typeface="Helvetica" charset="0"/>
              </a:defRPr>
            </a:lvl6pPr>
            <a:lvl7pPr marL="2971800" indent="-228600" defTabSz="912813" eaLnBrk="0" fontAlgn="base" hangingPunct="0">
              <a:spcBef>
                <a:spcPct val="0"/>
              </a:spcBef>
              <a:spcAft>
                <a:spcPct val="0"/>
              </a:spcAft>
              <a:defRPr sz="1600">
                <a:solidFill>
                  <a:schemeClr val="tx1"/>
                </a:solidFill>
                <a:latin typeface="Helvetica" charset="0"/>
              </a:defRPr>
            </a:lvl7pPr>
            <a:lvl8pPr marL="3429000" indent="-228600" defTabSz="912813" eaLnBrk="0" fontAlgn="base" hangingPunct="0">
              <a:spcBef>
                <a:spcPct val="0"/>
              </a:spcBef>
              <a:spcAft>
                <a:spcPct val="0"/>
              </a:spcAft>
              <a:defRPr sz="1600">
                <a:solidFill>
                  <a:schemeClr val="tx1"/>
                </a:solidFill>
                <a:latin typeface="Helvetica" charset="0"/>
              </a:defRPr>
            </a:lvl8pPr>
            <a:lvl9pPr marL="3886200" indent="-228600" defTabSz="912813" eaLnBrk="0" fontAlgn="base" hangingPunct="0">
              <a:spcBef>
                <a:spcPct val="0"/>
              </a:spcBef>
              <a:spcAft>
                <a:spcPct val="0"/>
              </a:spcAft>
              <a:defRPr sz="1600">
                <a:solidFill>
                  <a:schemeClr val="tx1"/>
                </a:solidFill>
                <a:latin typeface="Helvetica" charset="0"/>
              </a:defRPr>
            </a:lvl9pPr>
          </a:lstStyle>
          <a:p>
            <a:pPr algn="r"/>
            <a:fld id="{6967458B-2019-44BC-A0F2-FCEC91C6D51A}" type="slidenum">
              <a:rPr lang="en-GB" altLang="en-US" sz="1200">
                <a:latin typeface="Arial" charset="0"/>
              </a:rPr>
              <a:pPr algn="r"/>
              <a:t>37</a:t>
            </a:fld>
            <a:endParaRPr lang="en-GB" altLang="en-US" sz="1200">
              <a:latin typeface="Arial"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Photo top (Steve Covey-Crump): an F</a:t>
            </a:r>
            <a:r>
              <a:rPr lang="en-GB" altLang="en-US" sz="1000" baseline="-25000" dirty="0"/>
              <a:t>2</a:t>
            </a:r>
            <a:r>
              <a:rPr lang="en-GB" altLang="en-US" sz="1000" dirty="0"/>
              <a:t> fold within the South Stack Formation, </a:t>
            </a:r>
            <a:r>
              <a:rPr lang="en-GB" altLang="en-US" sz="1000" dirty="0" err="1"/>
              <a:t>Rhoscolyn</a:t>
            </a:r>
            <a:r>
              <a:rPr lang="en-GB" altLang="en-US" sz="1000" dirty="0"/>
              <a:t>, Anglesey. Note that there is an early cleavage </a:t>
            </a:r>
            <a:r>
              <a:rPr lang="en-GB" altLang="en-US" sz="1000" spc="100" baseline="0" dirty="0"/>
              <a:t>(</a:t>
            </a:r>
            <a:r>
              <a:rPr lang="en-GB" altLang="en-US" sz="1000" dirty="0"/>
              <a:t>S</a:t>
            </a:r>
            <a:r>
              <a:rPr lang="en-GB" altLang="en-US" sz="1000" spc="150" baseline="-25000" dirty="0"/>
              <a:t>1</a:t>
            </a:r>
            <a:r>
              <a:rPr lang="en-GB" altLang="en-US" sz="1000" dirty="0"/>
              <a:t>) that is oblique to bedding </a:t>
            </a:r>
            <a:r>
              <a:rPr lang="en-GB" altLang="en-US" sz="1000" spc="100" baseline="0" dirty="0"/>
              <a:t>(</a:t>
            </a:r>
            <a:r>
              <a:rPr lang="en-GB" altLang="en-US" sz="1000" dirty="0"/>
              <a:t>S</a:t>
            </a:r>
            <a:r>
              <a:rPr lang="en-GB" altLang="en-US" sz="1000" spc="150" baseline="-25000" dirty="0"/>
              <a:t>0</a:t>
            </a:r>
            <a:r>
              <a:rPr lang="en-GB" altLang="en-US" sz="1000" dirty="0"/>
              <a:t>) on the short steep limb </a:t>
            </a:r>
            <a:r>
              <a:rPr lang="en-GB" altLang="en-US" sz="1000" spc="100" baseline="0" dirty="0"/>
              <a:t>(</a:t>
            </a:r>
            <a:r>
              <a:rPr lang="en-GB" altLang="en-US" sz="1000" dirty="0"/>
              <a:t>S</a:t>
            </a:r>
            <a:r>
              <a:rPr lang="en-GB" altLang="en-US" sz="1000" spc="150" baseline="-25000" dirty="0"/>
              <a:t>1</a:t>
            </a:r>
            <a:r>
              <a:rPr lang="en-GB" altLang="en-US" sz="1000" spc="150" dirty="0"/>
              <a:t>/</a:t>
            </a:r>
            <a:r>
              <a:rPr lang="en-GB" altLang="en-US" sz="1000" dirty="0"/>
              <a:t>S</a:t>
            </a:r>
            <a:r>
              <a:rPr lang="en-GB" altLang="en-US" sz="1000" baseline="-25000" dirty="0"/>
              <a:t>0</a:t>
            </a:r>
            <a:r>
              <a:rPr lang="en-GB" altLang="en-US" sz="1000" dirty="0"/>
              <a:t> has S-asymmetry) and that this is folded around the hinge of the </a:t>
            </a:r>
            <a:r>
              <a:rPr lang="en-GB" altLang="en-US" sz="1000" dirty="0" err="1"/>
              <a:t>antiform</a:t>
            </a:r>
            <a:r>
              <a:rPr lang="en-GB" altLang="en-US" sz="1000" dirty="0"/>
              <a:t>. It is not easy to see but on the long, gently dipping limbs you can just make out that S</a:t>
            </a:r>
            <a:r>
              <a:rPr lang="en-GB" altLang="en-US" sz="1000" spc="150" baseline="-25000" dirty="0"/>
              <a:t>1</a:t>
            </a:r>
            <a:r>
              <a:rPr lang="en-GB" altLang="en-US" sz="1000" spc="150" dirty="0"/>
              <a:t>/</a:t>
            </a:r>
            <a:r>
              <a:rPr lang="en-GB" altLang="en-US" sz="1000" dirty="0"/>
              <a:t>S</a:t>
            </a:r>
            <a:r>
              <a:rPr lang="en-GB" altLang="en-US" sz="1000" baseline="-25000" dirty="0"/>
              <a:t>0</a:t>
            </a:r>
            <a:r>
              <a:rPr lang="en-GB" altLang="en-US" sz="1000" dirty="0"/>
              <a:t> has S-asymmetry. Note also the presence of a spaced crenulation cleavage </a:t>
            </a:r>
            <a:r>
              <a:rPr lang="en-GB" altLang="en-US" sz="1000" spc="100" baseline="0" dirty="0"/>
              <a:t>(</a:t>
            </a:r>
            <a:r>
              <a:rPr lang="en-GB" altLang="en-US" sz="1000" dirty="0"/>
              <a:t>S</a:t>
            </a:r>
            <a:r>
              <a:rPr lang="en-GB" altLang="en-US" sz="1000" spc="150" baseline="-25000" dirty="0"/>
              <a:t>2</a:t>
            </a:r>
            <a:r>
              <a:rPr lang="en-GB" altLang="en-US" sz="1000" dirty="0"/>
              <a:t>) axial planar to the folding, in the core of the </a:t>
            </a:r>
            <a:r>
              <a:rPr lang="en-GB" altLang="en-US" sz="1000" dirty="0" err="1"/>
              <a:t>antiform</a:t>
            </a:r>
            <a:endParaRPr lang="en-GB" altLang="en-US" sz="1000" dirty="0"/>
          </a:p>
          <a:p>
            <a:pPr marL="108000" indent="-108000">
              <a:spcBef>
                <a:spcPts val="300"/>
              </a:spcBef>
              <a:buFontTx/>
              <a:buChar char="•"/>
            </a:pPr>
            <a:r>
              <a:rPr lang="en-GB" altLang="en-US" sz="1000" dirty="0"/>
              <a:t>Figure (Steve Covey-Crump) illustrating how S</a:t>
            </a:r>
            <a:r>
              <a:rPr lang="en-GB" altLang="en-US" sz="1000" spc="150" baseline="-25000" dirty="0"/>
              <a:t>1</a:t>
            </a:r>
            <a:r>
              <a:rPr lang="en-GB" altLang="en-US" sz="1000" spc="150" dirty="0"/>
              <a:t>/</a:t>
            </a:r>
            <a:r>
              <a:rPr lang="en-GB" altLang="en-US" sz="1000" dirty="0"/>
              <a:t>S</a:t>
            </a:r>
            <a:r>
              <a:rPr lang="en-GB" altLang="en-US" sz="1000" baseline="-25000" dirty="0"/>
              <a:t>0</a:t>
            </a:r>
            <a:r>
              <a:rPr lang="en-GB" altLang="en-US" sz="1000" dirty="0"/>
              <a:t> asymmetry remains the same (here an S) all the way around an F</a:t>
            </a:r>
            <a:r>
              <a:rPr lang="en-GB" altLang="en-US" sz="1000" baseline="-25000" dirty="0"/>
              <a:t>2</a:t>
            </a:r>
            <a:r>
              <a:rPr lang="en-GB" altLang="en-US" sz="1000" dirty="0"/>
              <a:t> </a:t>
            </a:r>
            <a:r>
              <a:rPr lang="en-GB" altLang="en-US" sz="1000" dirty="0" err="1"/>
              <a:t>antiform-synform</a:t>
            </a:r>
            <a:r>
              <a:rPr lang="en-GB" altLang="en-US" sz="1000" dirty="0"/>
              <a:t> pair</a:t>
            </a:r>
          </a:p>
          <a:p>
            <a:pPr marL="108000" indent="-108000">
              <a:spcBef>
                <a:spcPts val="300"/>
              </a:spcBef>
              <a:buFontTx/>
              <a:buNone/>
            </a:pPr>
            <a:endParaRPr lang="en-GB" altLang="en-US" sz="100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Photo (Gray </a:t>
            </a:r>
            <a:r>
              <a:rPr lang="en-GB" altLang="en-US" sz="1000" i="1" dirty="0"/>
              <a:t>et al</a:t>
            </a:r>
            <a:r>
              <a:rPr lang="en-GB" altLang="en-US" sz="1000" dirty="0"/>
              <a:t>., in: Birch (editor), 2003, Geology of Victoria, </a:t>
            </a:r>
            <a:r>
              <a:rPr lang="en-GB" altLang="en-US" sz="1000" i="1" dirty="0"/>
              <a:t>Geological Society of Australia Special Publication</a:t>
            </a:r>
            <a:r>
              <a:rPr lang="en-GB" altLang="en-US" sz="1000" dirty="0"/>
              <a:t> 23, p.26): Avoca Fault Zone, near </a:t>
            </a:r>
            <a:r>
              <a:rPr lang="en-GB" altLang="en-US" sz="1000" dirty="0" err="1"/>
              <a:t>Pitfield</a:t>
            </a:r>
            <a:r>
              <a:rPr lang="en-GB" altLang="en-US" sz="1000" dirty="0"/>
              <a:t>, Victoria, Australia</a:t>
            </a:r>
          </a:p>
          <a:p>
            <a:pPr marL="108000" indent="-108000">
              <a:spcBef>
                <a:spcPts val="300"/>
              </a:spcBef>
              <a:buFontTx/>
              <a:buNone/>
            </a:pPr>
            <a:endParaRPr lang="en-GB" altLang="en-US" sz="100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Photo (Steve Covey-Crump): phyllites from the </a:t>
            </a:r>
            <a:r>
              <a:rPr lang="en-GB" altLang="en-US" sz="1000" dirty="0" err="1"/>
              <a:t>Onich</a:t>
            </a:r>
            <a:r>
              <a:rPr lang="en-GB" altLang="en-US" sz="1000" dirty="0"/>
              <a:t> shore section</a:t>
            </a:r>
          </a:p>
          <a:p>
            <a:pPr marL="108000" indent="-108000">
              <a:spcBef>
                <a:spcPts val="300"/>
              </a:spcBef>
              <a:buFontTx/>
              <a:buNone/>
            </a:pPr>
            <a:endParaRPr lang="en-GB" altLang="en-US" sz="1000"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We will define terms like ‘maximum extension direction’ properly in Class 3. For the moment think of the maximum extension direction as the direction in which the rocks have been stretched</a:t>
            </a:r>
          </a:p>
          <a:p>
            <a:pPr marL="108000" indent="-108000">
              <a:spcBef>
                <a:spcPts val="300"/>
              </a:spcBef>
              <a:buFontTx/>
              <a:buChar char="•"/>
            </a:pPr>
            <a:r>
              <a:rPr lang="en-GB" altLang="en-US" sz="1000" dirty="0"/>
              <a:t>Photo bottom left (Steve Covey-Crump): stretching lineation, Upper </a:t>
            </a:r>
            <a:r>
              <a:rPr lang="en-GB" altLang="en-US" sz="1000" dirty="0" err="1"/>
              <a:t>Shiaba</a:t>
            </a:r>
            <a:r>
              <a:rPr lang="en-GB" altLang="en-US" sz="1000" dirty="0"/>
              <a:t> Psammite, </a:t>
            </a:r>
            <a:r>
              <a:rPr lang="en-GB" altLang="en-US" sz="1000" dirty="0" err="1"/>
              <a:t>Moine</a:t>
            </a:r>
            <a:r>
              <a:rPr lang="en-GB" altLang="en-US" sz="1000" dirty="0"/>
              <a:t> units, Ross of Mull </a:t>
            </a:r>
          </a:p>
          <a:p>
            <a:pPr marL="108000" indent="-108000">
              <a:spcBef>
                <a:spcPts val="300"/>
              </a:spcBef>
              <a:buFontTx/>
              <a:buChar char="•"/>
            </a:pPr>
            <a:r>
              <a:rPr lang="en-GB" altLang="en-US" sz="1000" dirty="0"/>
              <a:t>Photo right (Steve Covey-Crump): from the </a:t>
            </a:r>
            <a:r>
              <a:rPr lang="en-GB" altLang="en-US" sz="1000" dirty="0" err="1"/>
              <a:t>Moine</a:t>
            </a:r>
            <a:r>
              <a:rPr lang="en-GB" altLang="en-US" sz="1000" dirty="0"/>
              <a:t> metasedimentary units on the south coast of the Ross of Mull, Scotland. It is conceivable that the missing halves of the quartz overgrowths have been eroded out if they grew slightly out of plane of the photographed bedding surface</a:t>
            </a:r>
          </a:p>
          <a:p>
            <a:pPr marL="108000" indent="-108000">
              <a:spcBef>
                <a:spcPts val="300"/>
              </a:spcBef>
              <a:buFontTx/>
              <a:buNone/>
            </a:pPr>
            <a:endParaRPr lang="en-GB" altLang="en-US" sz="1000"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The term boudinage derives from the French ‘boudin’ meaning ‘blood sausage’</a:t>
            </a:r>
          </a:p>
          <a:p>
            <a:pPr marL="108000" indent="-108000">
              <a:spcBef>
                <a:spcPts val="300"/>
              </a:spcBef>
              <a:buFontTx/>
              <a:buChar char="•"/>
            </a:pPr>
            <a:r>
              <a:rPr lang="en-GB" altLang="en-US" sz="1000" dirty="0"/>
              <a:t>Photo left (Steve Covey-Crump): a layer showing pinch-and-swell, </a:t>
            </a:r>
            <a:r>
              <a:rPr lang="en-GB" altLang="en-US" sz="1000" dirty="0" err="1"/>
              <a:t>Moine</a:t>
            </a:r>
            <a:r>
              <a:rPr lang="en-GB" altLang="en-US" sz="1000" dirty="0"/>
              <a:t> metasediments, Glenfinnan</a:t>
            </a:r>
          </a:p>
          <a:p>
            <a:pPr marL="108000" indent="-108000">
              <a:spcBef>
                <a:spcPts val="300"/>
              </a:spcBef>
              <a:buFontTx/>
              <a:buChar char="•"/>
            </a:pPr>
            <a:r>
              <a:rPr lang="en-GB" altLang="en-US" sz="1000" dirty="0"/>
              <a:t>Photo right (Fossen, one of the extra figures on the web-site for the book, folk.uib.no/</a:t>
            </a:r>
            <a:r>
              <a:rPr lang="en-GB" altLang="en-US" sz="1000" dirty="0" err="1"/>
              <a:t>nglhe</a:t>
            </a:r>
            <a:r>
              <a:rPr lang="en-GB" altLang="en-US" sz="1000" dirty="0"/>
              <a:t>/StructuralGeoBook.html, photo by J. Jacobs): </a:t>
            </a:r>
            <a:r>
              <a:rPr lang="en-GB" altLang="en-US" sz="1000" dirty="0" err="1"/>
              <a:t>boudinaged</a:t>
            </a:r>
            <a:r>
              <a:rPr lang="en-GB" altLang="en-US" sz="1000" dirty="0"/>
              <a:t> gneiss, Mozambique. These are barrel-shaped boudins (see next slide)</a:t>
            </a:r>
          </a:p>
          <a:p>
            <a:pPr marL="108000" indent="-108000">
              <a:spcBef>
                <a:spcPts val="300"/>
              </a:spcBef>
              <a:buFontTx/>
              <a:buNone/>
            </a:pPr>
            <a:endParaRPr lang="en-GB" altLang="en-US" sz="1000"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FFFE69DE-ED97-4B39-B2AD-670B656B62CC}"/>
              </a:ext>
            </a:extLst>
          </p:cNvPr>
          <p:cNvSpPr>
            <a:spLocks noGrp="1" noChangeArrowheads="1"/>
          </p:cNvSpPr>
          <p:nvPr>
            <p:ph type="body" idx="1"/>
          </p:nvPr>
        </p:nvSpPr>
        <p:spPr/>
        <p:txBody>
          <a:bodyPr/>
          <a:lstStyle/>
          <a:p>
            <a:pPr marL="108000" indent="-108000">
              <a:spcBef>
                <a:spcPts val="300"/>
              </a:spcBef>
              <a:buFont typeface="Arial" panose="020B0604020202020204" pitchFamily="34" charset="0"/>
              <a:buChar char="•"/>
              <a:defRPr/>
            </a:pPr>
            <a:r>
              <a:rPr lang="en-GB" altLang="en-US" sz="1000" dirty="0"/>
              <a:t>Figure top from Twiss &amp; </a:t>
            </a:r>
            <a:r>
              <a:rPr lang="en-GB" altLang="en-US" sz="1000" dirty="0" err="1"/>
              <a:t>Moores</a:t>
            </a:r>
            <a:r>
              <a:rPr lang="en-GB" altLang="en-US" sz="1000" dirty="0"/>
              <a:t>, p.312</a:t>
            </a:r>
          </a:p>
          <a:p>
            <a:pPr marL="108000" indent="-108000">
              <a:spcBef>
                <a:spcPts val="300"/>
              </a:spcBef>
              <a:buFont typeface="Arial" panose="020B0604020202020204" pitchFamily="34" charset="0"/>
              <a:buChar char="•"/>
              <a:defRPr/>
            </a:pPr>
            <a:r>
              <a:rPr lang="en-GB" altLang="en-US" sz="1000" dirty="0"/>
              <a:t>Figure bottom right by Steve Covey-Crump based on an original by Ernie Rutter. The ‘boudin neck-lines’ are labelled as ‘boudin long axes’ on the diagram</a:t>
            </a:r>
          </a:p>
          <a:p>
            <a:pPr marL="108000" indent="-108000">
              <a:spcBef>
                <a:spcPts val="300"/>
              </a:spcBef>
              <a:buFont typeface="Arial" panose="020B0604020202020204" pitchFamily="34" charset="0"/>
              <a:buChar char="•"/>
              <a:defRPr/>
            </a:pPr>
            <a:r>
              <a:rPr lang="en-GB" altLang="en-US" sz="1000" dirty="0"/>
              <a:t>Photo left (Fossen, one of the extra figures on the web-site for the book, folk.uib.no/</a:t>
            </a:r>
            <a:r>
              <a:rPr lang="en-GB" altLang="en-US" sz="1000" dirty="0" err="1"/>
              <a:t>nglhe</a:t>
            </a:r>
            <a:r>
              <a:rPr lang="en-GB" altLang="en-US" sz="1000" dirty="0"/>
              <a:t>/StructuralGeoBook.html): block-shaped boudins in some gneisses. Note the bleaching of the boudin necks which indicates that the fractures served as fluid pathways</a:t>
            </a:r>
          </a:p>
          <a:p>
            <a:pPr marL="108000" indent="-108000">
              <a:spcBef>
                <a:spcPts val="300"/>
              </a:spcBef>
              <a:buFontTx/>
              <a:buNone/>
              <a:defRPr/>
            </a:pPr>
            <a:endParaRPr lang="en-GB"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The two diagrams are from Fossen (p.316, p.320)</a:t>
            </a:r>
          </a:p>
          <a:p>
            <a:pPr marL="108000" indent="-108000">
              <a:spcBef>
                <a:spcPts val="300"/>
              </a:spcBef>
              <a:buFontTx/>
              <a:buChar char="•"/>
            </a:pPr>
            <a:r>
              <a:rPr lang="en-GB" altLang="en-US" sz="1000" dirty="0"/>
              <a:t>Photo bottom left (from Fossen, p.318): a dyke that shows extreme symmetric pinch-and-swell, </a:t>
            </a:r>
            <a:r>
              <a:rPr lang="en-GB" altLang="en-US" sz="1000" dirty="0" err="1"/>
              <a:t>Finnmark</a:t>
            </a:r>
            <a:r>
              <a:rPr lang="en-GB" altLang="en-US" sz="1000" dirty="0"/>
              <a:t>, northern Norway</a:t>
            </a:r>
          </a:p>
          <a:p>
            <a:pPr marL="108000" indent="-108000">
              <a:spcBef>
                <a:spcPts val="300"/>
              </a:spcBef>
              <a:buFontTx/>
              <a:buChar char="•"/>
            </a:pPr>
            <a:r>
              <a:rPr lang="en-GB" altLang="en-US" sz="1000" dirty="0"/>
              <a:t>Photo middle (Steve Covey-Crump): symmetric pinch-and-swell structures in some bedding-parallel quartz veins, Combe Martin, Devon. Note that the wavelength of the pinch-and-swell decreases as the layer becomes thinner (we shall discuss this further in Class 2)</a:t>
            </a:r>
          </a:p>
          <a:p>
            <a:pPr marL="108000" indent="-108000">
              <a:spcBef>
                <a:spcPts val="300"/>
              </a:spcBef>
              <a:buFontTx/>
              <a:buChar char="•"/>
            </a:pPr>
            <a:r>
              <a:rPr lang="en-GB" altLang="en-US" sz="1000" dirty="0"/>
              <a:t>Photo right (Steve Covey-Crump): rotated boudins on the eastern limb of the </a:t>
            </a:r>
            <a:r>
              <a:rPr lang="en-GB" altLang="en-US" sz="1000" dirty="0" err="1"/>
              <a:t>Assapol</a:t>
            </a:r>
            <a:r>
              <a:rPr lang="en-GB" altLang="en-US" sz="1000" dirty="0"/>
              <a:t> </a:t>
            </a:r>
            <a:r>
              <a:rPr lang="en-GB" altLang="en-US" sz="1000" dirty="0" err="1"/>
              <a:t>synform</a:t>
            </a:r>
            <a:r>
              <a:rPr lang="en-GB" altLang="en-US" sz="1000" dirty="0"/>
              <a:t>, south coast of the Ross of Mull. The core of the </a:t>
            </a:r>
            <a:r>
              <a:rPr lang="en-GB" altLang="en-US" sz="1000" dirty="0" err="1"/>
              <a:t>synform</a:t>
            </a:r>
            <a:r>
              <a:rPr lang="en-GB" altLang="en-US" sz="1000" dirty="0"/>
              <a:t> is to the left, implying (assuming a flexural slip model of fold formation, see Class 2) that the sense of layer-parallel shear is dextral, that is, that the boudins have rotated in the direction of shear (indicated by the red lazy arrow)</a:t>
            </a:r>
          </a:p>
          <a:p>
            <a:pPr marL="108000" indent="-108000">
              <a:spcBef>
                <a:spcPts val="300"/>
              </a:spcBef>
              <a:buFontTx/>
              <a:buNone/>
            </a:pPr>
            <a:endParaRPr lang="en-GB" altLang="en-US" sz="1000"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Photo left (Steve Covey-Crump): cuspate contact at the base of a quartz-rich bed, </a:t>
            </a:r>
            <a:r>
              <a:rPr lang="en-GB" altLang="en-US" sz="1000" dirty="0" err="1"/>
              <a:t>Moine</a:t>
            </a:r>
            <a:r>
              <a:rPr lang="en-GB" altLang="en-US" sz="1000" dirty="0"/>
              <a:t> metasedimentary units, south coast of the Ross of Mull, Scotland</a:t>
            </a:r>
          </a:p>
          <a:p>
            <a:pPr marL="108000" indent="-108000">
              <a:spcBef>
                <a:spcPts val="300"/>
              </a:spcBef>
              <a:buFontTx/>
              <a:buChar char="•"/>
            </a:pPr>
            <a:r>
              <a:rPr lang="en-GB" altLang="en-US" sz="1000" dirty="0"/>
              <a:t>Photo right (from Hobbs </a:t>
            </a:r>
            <a:r>
              <a:rPr lang="en-GB" altLang="en-US" sz="1000" i="1" dirty="0"/>
              <a:t>et al.</a:t>
            </a:r>
            <a:r>
              <a:rPr lang="en-GB" altLang="en-US" sz="1000" dirty="0"/>
              <a:t>, 1976, </a:t>
            </a:r>
            <a:r>
              <a:rPr lang="en-GB" altLang="en-US" sz="1000" i="1" dirty="0"/>
              <a:t>An Outline of Structural Geology</a:t>
            </a:r>
            <a:r>
              <a:rPr lang="en-GB" altLang="en-US" sz="1000" dirty="0"/>
              <a:t>, p.277): mullions, </a:t>
            </a:r>
            <a:r>
              <a:rPr lang="en-GB" altLang="en-US" sz="1000" dirty="0" err="1"/>
              <a:t>Dederborn</a:t>
            </a:r>
            <a:r>
              <a:rPr lang="en-GB" altLang="en-US" sz="1000" dirty="0"/>
              <a:t>, Ardennes, Belgium</a:t>
            </a:r>
          </a:p>
          <a:p>
            <a:pPr marL="108000" indent="-108000">
              <a:spcBef>
                <a:spcPts val="300"/>
              </a:spcBef>
              <a:buFontTx/>
              <a:buNone/>
            </a:pPr>
            <a:endParaRPr lang="en-GB" altLang="en-US" sz="1000"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ln/>
        </p:spPr>
      </p:sp>
      <p:sp>
        <p:nvSpPr>
          <p:cNvPr id="94211" name="Rectangle 3"/>
          <p:cNvSpPr>
            <a:spLocks noGrp="1" noChangeArrowheads="1"/>
          </p:cNvSpPr>
          <p:nvPr>
            <p:ph type="body" idx="1"/>
          </p:nvPr>
        </p:nvSpPr>
        <p:spPr>
          <a:noFill/>
        </p:spPr>
        <p:txBody>
          <a:bodyPr/>
          <a:lstStyle/>
          <a:p>
            <a:pPr marL="108000" indent="-108000">
              <a:spcBef>
                <a:spcPts val="300"/>
              </a:spcBef>
              <a:buFontTx/>
              <a:buChar char="•"/>
            </a:pPr>
            <a:r>
              <a:rPr lang="en-GB" altLang="en-US" sz="1000" dirty="0"/>
              <a:t>The primary course text is Fossen’s book. This is a beautifully illustrated survey of the subject and is well supported by extra resources on the web, including some </a:t>
            </a:r>
            <a:r>
              <a:rPr lang="en-GB" altLang="en-US" sz="1000" dirty="0" err="1"/>
              <a:t>Emodules</a:t>
            </a:r>
            <a:r>
              <a:rPr lang="en-GB" altLang="en-US" sz="1000" dirty="0"/>
              <a:t> and animations that you may find helpful. The extra resources pages noted on this slide also provide links to other sites containing structural geology resources. There are hard copies of this text in the library, and online access through the library. I have also added Fossen’s book on </a:t>
            </a:r>
            <a:r>
              <a:rPr lang="en-GB" altLang="en-US" sz="1000" i="1" dirty="0"/>
              <a:t>Plate Tectonics</a:t>
            </a:r>
            <a:r>
              <a:rPr lang="en-GB" altLang="en-US" sz="1000" i="0" dirty="0"/>
              <a:t> as a course text; it is most relevant for the last three classes of this unit, and for anything you might do with tectonics in your 3</a:t>
            </a:r>
            <a:r>
              <a:rPr lang="en-GB" altLang="en-US" sz="1000" i="0" baseline="30000" dirty="0"/>
              <a:t>rd</a:t>
            </a:r>
            <a:r>
              <a:rPr lang="en-GB" altLang="en-US" sz="1000" i="0" dirty="0"/>
              <a:t> year</a:t>
            </a:r>
            <a:endParaRPr lang="en-GB" altLang="en-US" sz="1000" dirty="0"/>
          </a:p>
          <a:p>
            <a:pPr marL="108000" indent="-108000">
              <a:spcBef>
                <a:spcPts val="300"/>
              </a:spcBef>
              <a:buFontTx/>
              <a:buChar char="•"/>
            </a:pPr>
            <a:r>
              <a:rPr lang="en-GB" altLang="en-US" sz="1000" dirty="0"/>
              <a:t>Twiss &amp; </a:t>
            </a:r>
            <a:r>
              <a:rPr lang="en-GB" altLang="en-US" sz="1000" dirty="0" err="1"/>
              <a:t>Moores</a:t>
            </a:r>
            <a:r>
              <a:rPr lang="en-GB" altLang="en-US" sz="1000" dirty="0"/>
              <a:t> is significantly more detailed than Fossen but without the colourful photos. It is a superb text with very clear explanations of concepts taken from first principles, and so it provides an opportunity to establish greater depth to your understanding than can be obtained from Fossen</a:t>
            </a:r>
          </a:p>
          <a:p>
            <a:pPr marL="108000" indent="-108000">
              <a:spcBef>
                <a:spcPts val="300"/>
              </a:spcBef>
              <a:buFontTx/>
              <a:buChar char="•"/>
            </a:pPr>
            <a:r>
              <a:rPr lang="en-GB" altLang="en-US" sz="1000" dirty="0"/>
              <a:t>I have added Price and Cosgrove to the texts because they taught me structural geology and so for me their approach is particularly clear. The chapters on how folds form (dealt with in the next class) and minor fractures (dealt with in Class 6) are particularly good additions to the explanations given by Fossen and Twiss &amp; </a:t>
            </a:r>
            <a:r>
              <a:rPr lang="en-GB" altLang="en-US" sz="1000" dirty="0" err="1"/>
              <a:t>Moores</a:t>
            </a:r>
            <a:endParaRPr lang="en-GB" altLang="en-US" sz="1000" dirty="0"/>
          </a:p>
          <a:p>
            <a:pPr marL="108000" indent="-108000">
              <a:spcBef>
                <a:spcPts val="300"/>
              </a:spcBef>
              <a:buFontTx/>
              <a:buChar char="•"/>
            </a:pPr>
            <a:r>
              <a:rPr lang="en-GB" altLang="en-US" sz="1000" dirty="0"/>
              <a:t>Ragan is very good for some of the practical techniques described in this course unit, particularly for strain analysis (Class 3) and stress analysis (Class 5)</a:t>
            </a:r>
          </a:p>
          <a:p>
            <a:pPr marL="108000" indent="-108000">
              <a:spcBef>
                <a:spcPts val="300"/>
              </a:spcBef>
              <a:buFontTx/>
              <a:buChar char="•"/>
            </a:pPr>
            <a:r>
              <a:rPr lang="en-GB" altLang="en-US" sz="1000" dirty="0"/>
              <a:t>Ramsay &amp; Huber is a set of worked practical exercises. This is not a course text, but you may find it interesting to see how the practical techniques introduced in this course unit may be taken further. Volume 1 deals with strain analysis (Class 3); Volume 2 with the analysis of folds and faults</a:t>
            </a:r>
          </a:p>
          <a:p>
            <a:pPr marL="108000" indent="-108000">
              <a:spcBef>
                <a:spcPts val="300"/>
              </a:spcBef>
              <a:buFontTx/>
              <a:buNone/>
            </a:pPr>
            <a:endParaRPr lang="en-GB" altLang="en-US" sz="10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292" name="Title"/>
          <p:cNvSpPr>
            <a:spLocks noGrp="1" noChangeArrowheads="1"/>
          </p:cNvSpPr>
          <p:nvPr>
            <p:ph type="ctrTitle"/>
          </p:nvPr>
        </p:nvSpPr>
        <p:spPr bwMode="black">
          <a:xfrm>
            <a:off x="566738" y="2647950"/>
            <a:ext cx="8123237" cy="625475"/>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lvl1pPr algn="ctr">
              <a:defRPr sz="3500"/>
            </a:lvl1pPr>
          </a:lstStyle>
          <a:p>
            <a:pPr lvl="0"/>
            <a:r>
              <a:rPr lang="en-GB" noProof="0"/>
              <a:t>Click to edit Master title style</a:t>
            </a:r>
          </a:p>
        </p:txBody>
      </p:sp>
    </p:spTree>
    <p:extLst>
      <p:ext uri="{BB962C8B-B14F-4D97-AF65-F5344CB8AC3E}">
        <p14:creationId xmlns:p14="http://schemas.microsoft.com/office/powerpoint/2010/main" val="2777095170"/>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75309159"/>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838956793"/>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255588" y="917575"/>
            <a:ext cx="4291012"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451612757"/>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424784294"/>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548782915"/>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8348085"/>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45644357"/>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03539613"/>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40107271"/>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10375" y="93663"/>
            <a:ext cx="2184400" cy="65532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252413" y="93663"/>
            <a:ext cx="6405562"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80864046"/>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p:cNvSpPr>
            <a:spLocks noGrp="1"/>
          </p:cNvSpPr>
          <p:nvPr>
            <p:ph type="body" sz="half" idx="1"/>
          </p:nvPr>
        </p:nvSpPr>
        <p:spPr>
          <a:xfrm>
            <a:off x="255588" y="917575"/>
            <a:ext cx="4291012"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99000" y="917575"/>
            <a:ext cx="4291013" cy="5729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037171342"/>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CB6F4-6214-4F59-AF60-398B2BE98057}"/>
              </a:ext>
            </a:extLst>
          </p:cNvPr>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C79A960-816B-4688-B59B-92EDB6912A0E}"/>
              </a:ext>
            </a:extLst>
          </p:cNvPr>
          <p:cNvSpPr>
            <a:spLocks noGrp="1"/>
          </p:cNvSpPr>
          <p:nvPr>
            <p:ph sz="half" idx="1"/>
          </p:nvPr>
        </p:nvSpPr>
        <p:spPr>
          <a:xfrm>
            <a:off x="255588" y="917575"/>
            <a:ext cx="4291012" cy="57292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B6A676C-7AE1-472F-AB33-022072DE14FA}"/>
              </a:ext>
            </a:extLst>
          </p:cNvPr>
          <p:cNvSpPr>
            <a:spLocks noGrp="1"/>
          </p:cNvSpPr>
          <p:nvPr>
            <p:ph sz="quarter" idx="2"/>
          </p:nvPr>
        </p:nvSpPr>
        <p:spPr>
          <a:xfrm>
            <a:off x="4699000" y="917575"/>
            <a:ext cx="4291013" cy="2787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a:extLst>
              <a:ext uri="{FF2B5EF4-FFF2-40B4-BE49-F238E27FC236}">
                <a16:creationId xmlns:a16="http://schemas.microsoft.com/office/drawing/2014/main" id="{DE1C388D-3EE4-4991-8DC2-5B4DAE8EB24E}"/>
              </a:ext>
            </a:extLst>
          </p:cNvPr>
          <p:cNvSpPr>
            <a:spLocks noGrp="1"/>
          </p:cNvSpPr>
          <p:nvPr>
            <p:ph sz="quarter" idx="3"/>
          </p:nvPr>
        </p:nvSpPr>
        <p:spPr>
          <a:xfrm>
            <a:off x="4699000" y="3857625"/>
            <a:ext cx="4291013" cy="27892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605033699"/>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AC4F6-6313-4CE8-8465-EDB5F2D1E307}"/>
              </a:ext>
            </a:extLst>
          </p:cNvPr>
          <p:cNvSpPr>
            <a:spLocks noGrp="1"/>
          </p:cNvSpPr>
          <p:nvPr>
            <p:ph type="title"/>
          </p:nvPr>
        </p:nvSpPr>
        <p:spPr>
          <a:xfrm>
            <a:off x="252413" y="93663"/>
            <a:ext cx="8742362" cy="541337"/>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52B344A-1C08-41F1-8050-845F4590BE30}"/>
              </a:ext>
            </a:extLst>
          </p:cNvPr>
          <p:cNvSpPr>
            <a:spLocks noGrp="1"/>
          </p:cNvSpPr>
          <p:nvPr>
            <p:ph type="body" sz="half" idx="1"/>
          </p:nvPr>
        </p:nvSpPr>
        <p:spPr>
          <a:xfrm>
            <a:off x="255588" y="917575"/>
            <a:ext cx="4291012" cy="57292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52C9DB0-038E-494B-9E13-EB90311CB80A}"/>
              </a:ext>
            </a:extLst>
          </p:cNvPr>
          <p:cNvSpPr>
            <a:spLocks noGrp="1"/>
          </p:cNvSpPr>
          <p:nvPr>
            <p:ph sz="quarter" idx="2"/>
          </p:nvPr>
        </p:nvSpPr>
        <p:spPr>
          <a:xfrm>
            <a:off x="4699000" y="917575"/>
            <a:ext cx="4291013" cy="2787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a:extLst>
              <a:ext uri="{FF2B5EF4-FFF2-40B4-BE49-F238E27FC236}">
                <a16:creationId xmlns:a16="http://schemas.microsoft.com/office/drawing/2014/main" id="{D6B9E63A-E12C-43EB-9CAE-23DAB9ED0CA6}"/>
              </a:ext>
            </a:extLst>
          </p:cNvPr>
          <p:cNvSpPr>
            <a:spLocks noGrp="1"/>
          </p:cNvSpPr>
          <p:nvPr>
            <p:ph sz="quarter" idx="3"/>
          </p:nvPr>
        </p:nvSpPr>
        <p:spPr>
          <a:xfrm>
            <a:off x="4699000" y="3857625"/>
            <a:ext cx="4291013" cy="27892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918439056"/>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7" name="Rectangle 3">
            <a:extLst>
              <a:ext uri="{FF2B5EF4-FFF2-40B4-BE49-F238E27FC236}">
                <a16:creationId xmlns:a16="http://schemas.microsoft.com/office/drawing/2014/main" id="{A2DF192F-0142-4CC3-A7A7-020F8898E528}"/>
              </a:ext>
            </a:extLst>
          </p:cNvPr>
          <p:cNvSpPr>
            <a:spLocks noGrp="1" noChangeArrowheads="1"/>
          </p:cNvSpPr>
          <p:nvPr>
            <p:ph type="title"/>
          </p:nvPr>
        </p:nvSpPr>
        <p:spPr bwMode="auto">
          <a:xfrm>
            <a:off x="252413" y="93663"/>
            <a:ext cx="8742362" cy="54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GB"/>
              <a:t>Click to edit Master title style</a:t>
            </a:r>
          </a:p>
        </p:txBody>
      </p:sp>
      <p:sp>
        <p:nvSpPr>
          <p:cNvPr id="11268" name="Rectangle 4">
            <a:extLst>
              <a:ext uri="{FF2B5EF4-FFF2-40B4-BE49-F238E27FC236}">
                <a16:creationId xmlns:a16="http://schemas.microsoft.com/office/drawing/2014/main" id="{F1FEEF27-564F-4F45-9BEF-1AD5A92F616E}"/>
              </a:ext>
            </a:extLst>
          </p:cNvPr>
          <p:cNvSpPr>
            <a:spLocks noGrp="1" noChangeArrowheads="1"/>
          </p:cNvSpPr>
          <p:nvPr>
            <p:ph type="body" idx="1"/>
          </p:nvPr>
        </p:nvSpPr>
        <p:spPr bwMode="auto">
          <a:xfrm>
            <a:off x="255588" y="917575"/>
            <a:ext cx="8734425" cy="572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288" name="Line 24">
            <a:extLst>
              <a:ext uri="{FF2B5EF4-FFF2-40B4-BE49-F238E27FC236}">
                <a16:creationId xmlns:a16="http://schemas.microsoft.com/office/drawing/2014/main" id="{304B374D-FA6B-44EF-B088-B736781C097A}"/>
              </a:ext>
            </a:extLst>
          </p:cNvPr>
          <p:cNvSpPr>
            <a:spLocks noChangeShapeType="1"/>
          </p:cNvSpPr>
          <p:nvPr userDrawn="1"/>
        </p:nvSpPr>
        <p:spPr bwMode="auto">
          <a:xfrm>
            <a:off x="0" y="735013"/>
            <a:ext cx="914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endParaRPr>
          </a:p>
        </p:txBody>
      </p:sp>
    </p:spTree>
  </p:cSld>
  <p:clrMap bg1="dk2" tx1="lt1" bg2="dk1" tx2="lt2" accent1="accent1" accent2="accent2" accent3="accent3" accent4="accent4" accent5="accent5" accent6="accent6" hlink="hlink" folHlink="folHlink"/>
  <p:sldLayoutIdLst>
    <p:sldLayoutId id="2147483708"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Lst>
  <p:transition spd="slow"/>
  <p:txStyles>
    <p:titleStyle>
      <a:lvl1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2pPr>
      <a:lvl3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3pPr>
      <a:lvl4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4pPr>
      <a:lvl5pPr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5pPr>
      <a:lvl6pPr marL="4572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6pPr>
      <a:lvl7pPr marL="9144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7pPr>
      <a:lvl8pPr marL="13716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8pPr>
      <a:lvl9pPr marL="1828800" algn="l" rtl="0" eaLnBrk="0" fontAlgn="base" hangingPunct="0">
        <a:spcBef>
          <a:spcPct val="0"/>
        </a:spcBef>
        <a:spcAft>
          <a:spcPct val="0"/>
        </a:spcAft>
        <a:defRPr sz="2600" b="1">
          <a:solidFill>
            <a:srgbClr val="FFFF66"/>
          </a:solidFill>
          <a:effectLst>
            <a:outerShdw blurRad="38100" dist="38100" dir="2700000" algn="tl">
              <a:srgbClr val="000000"/>
            </a:outerShdw>
          </a:effectLst>
          <a:latin typeface="Arial" charset="0"/>
        </a:defRPr>
      </a:lvl9pPr>
    </p:titleStyle>
    <p:bodyStyle>
      <a:lvl1pPr marL="288925" indent="-288925" algn="l" rtl="0" eaLnBrk="0" fontAlgn="base" hangingPunct="0">
        <a:lnSpc>
          <a:spcPct val="120000"/>
        </a:lnSpc>
        <a:spcBef>
          <a:spcPct val="100000"/>
        </a:spcBef>
        <a:spcAft>
          <a:spcPct val="0"/>
        </a:spcAft>
        <a:buClr>
          <a:schemeClr val="folHlink"/>
        </a:buClr>
        <a:buSzPct val="100000"/>
        <a:buFont typeface="Times"/>
        <a:buChar char="•"/>
        <a:defRPr sz="2000">
          <a:solidFill>
            <a:schemeClr val="tx1"/>
          </a:solidFill>
          <a:effectLst>
            <a:outerShdw blurRad="38100" dist="38100" dir="2700000" algn="tl">
              <a:srgbClr val="000000"/>
            </a:outerShdw>
          </a:effectLst>
          <a:latin typeface="+mn-lt"/>
          <a:ea typeface="+mn-ea"/>
          <a:cs typeface="+mn-cs"/>
        </a:defRPr>
      </a:lvl1pPr>
      <a:lvl2pPr marL="762000" indent="-187325" algn="l" rtl="0" eaLnBrk="0" fontAlgn="base" hangingPunct="0">
        <a:lnSpc>
          <a:spcPct val="120000"/>
        </a:lnSpc>
        <a:spcBef>
          <a:spcPct val="50000"/>
        </a:spcBef>
        <a:spcAft>
          <a:spcPct val="0"/>
        </a:spcAft>
        <a:buClr>
          <a:schemeClr val="folHlink"/>
        </a:buClr>
        <a:buSzPct val="100000"/>
        <a:buFont typeface="Times"/>
        <a:buChar char="•"/>
        <a:defRPr>
          <a:solidFill>
            <a:schemeClr val="tx1"/>
          </a:solidFill>
          <a:effectLst>
            <a:outerShdw blurRad="38100" dist="38100" dir="2700000" algn="tl">
              <a:srgbClr val="000000"/>
            </a:outerShdw>
          </a:effectLst>
          <a:latin typeface="+mn-lt"/>
        </a:defRPr>
      </a:lvl2pPr>
      <a:lvl3pPr marL="1235075" indent="-184150" algn="l" rtl="0" eaLnBrk="0" fontAlgn="base" hangingPunct="0">
        <a:spcBef>
          <a:spcPct val="25000"/>
        </a:spcBef>
        <a:spcAft>
          <a:spcPct val="0"/>
        </a:spcAft>
        <a:buClr>
          <a:schemeClr val="folHlink"/>
        </a:buClr>
        <a:buFont typeface="Times"/>
        <a:buChar char="•"/>
        <a:defRPr sz="1600">
          <a:solidFill>
            <a:schemeClr val="tx1"/>
          </a:solidFill>
          <a:effectLst>
            <a:outerShdw blurRad="38100" dist="38100" dir="2700000" algn="tl">
              <a:srgbClr val="000000"/>
            </a:outerShdw>
          </a:effectLst>
          <a:latin typeface="+mn-lt"/>
        </a:defRPr>
      </a:lvl3pPr>
      <a:lvl4pPr marL="1698625" indent="-228600" algn="l" rtl="0" eaLnBrk="0" fontAlgn="base" hangingPunct="0">
        <a:spcBef>
          <a:spcPct val="25000"/>
        </a:spcBef>
        <a:spcAft>
          <a:spcPct val="0"/>
        </a:spcAft>
        <a:buClr>
          <a:schemeClr val="folHlink"/>
        </a:buClr>
        <a:buFont typeface="Times"/>
        <a:buChar char="•"/>
        <a:defRPr sz="1600">
          <a:solidFill>
            <a:schemeClr val="tx1"/>
          </a:solidFill>
          <a:effectLst>
            <a:outerShdw blurRad="38100" dist="38100" dir="2700000" algn="tl">
              <a:srgbClr val="000000"/>
            </a:outerShdw>
          </a:effectLst>
          <a:latin typeface="+mn-lt"/>
        </a:defRPr>
      </a:lvl4pPr>
      <a:lvl5pPr marL="21177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5pPr>
      <a:lvl6pPr marL="25749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6pPr>
      <a:lvl7pPr marL="30321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7pPr>
      <a:lvl8pPr marL="34893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8pPr>
      <a:lvl9pPr marL="3946525" indent="-228600" algn="l" rtl="0" eaLnBrk="0" fontAlgn="base" hangingPunct="0">
        <a:spcBef>
          <a:spcPct val="25000"/>
        </a:spcBef>
        <a:spcAft>
          <a:spcPct val="0"/>
        </a:spcAft>
        <a:buClr>
          <a:schemeClr val="folHlink"/>
        </a:buClr>
        <a:buSzPct val="50000"/>
        <a:buFont typeface="Times"/>
        <a:buChar char="•"/>
        <a:defRPr sz="16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21.jpe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25.jpe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9.jpe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33.jpeg"/></Relationships>
</file>

<file path=ppt/slides/_rels/slide1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9.xml"/><Relationship Id="rId1" Type="http://schemas.openxmlformats.org/officeDocument/2006/relationships/slideLayout" Target="../slideLayouts/slideLayout14.xml"/><Relationship Id="rId5" Type="http://schemas.openxmlformats.org/officeDocument/2006/relationships/image" Target="../media/image36.jpeg"/><Relationship Id="rId4" Type="http://schemas.openxmlformats.org/officeDocument/2006/relationships/image" Target="../media/image35.jpeg"/></Relationships>
</file>

<file path=ppt/slides/_rels/slide2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0.xml"/><Relationship Id="rId1" Type="http://schemas.openxmlformats.org/officeDocument/2006/relationships/slideLayout" Target="../slideLayouts/slideLayout14.xml"/><Relationship Id="rId5" Type="http://schemas.openxmlformats.org/officeDocument/2006/relationships/image" Target="../media/image39.jpe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14.xml"/><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14.xml"/><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14.xml"/><Relationship Id="rId4" Type="http://schemas.openxmlformats.org/officeDocument/2006/relationships/image" Target="../media/image45.jpeg"/></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47.jpeg"/></Relationships>
</file>

<file path=ppt/slides/_rels/slide2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51.jpeg"/><Relationship Id="rId4" Type="http://schemas.openxmlformats.org/officeDocument/2006/relationships/image" Target="../media/image50.jpeg"/></Relationships>
</file>

<file path=ppt/slides/_rels/slide29.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9.xml"/><Relationship Id="rId1" Type="http://schemas.openxmlformats.org/officeDocument/2006/relationships/slideLayout" Target="../slideLayouts/slideLayout14.xml"/><Relationship Id="rId5" Type="http://schemas.openxmlformats.org/officeDocument/2006/relationships/image" Target="../media/image54.jpeg"/><Relationship Id="rId4" Type="http://schemas.openxmlformats.org/officeDocument/2006/relationships/image" Target="../media/image53.jpeg"/></Relationships>
</file>

<file path=ppt/slides/_rels/slide3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30.xml"/><Relationship Id="rId1" Type="http://schemas.openxmlformats.org/officeDocument/2006/relationships/slideLayout" Target="../slideLayouts/slideLayout13.xml"/><Relationship Id="rId5" Type="http://schemas.openxmlformats.org/officeDocument/2006/relationships/image" Target="../media/image56.jpeg"/><Relationship Id="rId4" Type="http://schemas.openxmlformats.org/officeDocument/2006/relationships/image" Target="../media/image52.jpeg"/></Relationships>
</file>

<file path=ppt/slides/_rels/slide31.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31.xml"/><Relationship Id="rId1" Type="http://schemas.openxmlformats.org/officeDocument/2006/relationships/slideLayout" Target="../slideLayouts/slideLayout14.xml"/><Relationship Id="rId5" Type="http://schemas.openxmlformats.org/officeDocument/2006/relationships/image" Target="../media/image59.png"/><Relationship Id="rId4" Type="http://schemas.openxmlformats.org/officeDocument/2006/relationships/image" Target="../media/image58.jpeg"/></Relationships>
</file>

<file path=ppt/slides/_rels/slide3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32.xml"/><Relationship Id="rId1" Type="http://schemas.openxmlformats.org/officeDocument/2006/relationships/slideLayout" Target="../slideLayouts/slideLayout14.xml"/><Relationship Id="rId5" Type="http://schemas.openxmlformats.org/officeDocument/2006/relationships/image" Target="../media/image62.jpeg"/><Relationship Id="rId4" Type="http://schemas.openxmlformats.org/officeDocument/2006/relationships/image" Target="../media/image61.jpeg"/></Relationships>
</file>

<file path=ppt/slides/_rels/slide33.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33.xml"/><Relationship Id="rId1" Type="http://schemas.openxmlformats.org/officeDocument/2006/relationships/slideLayout" Target="../slideLayouts/slideLayout14.xml"/><Relationship Id="rId5" Type="http://schemas.openxmlformats.org/officeDocument/2006/relationships/image" Target="../media/image65.jpeg"/><Relationship Id="rId4" Type="http://schemas.openxmlformats.org/officeDocument/2006/relationships/image" Target="../media/image64.jpeg"/></Relationships>
</file>

<file path=ppt/slides/_rels/slide34.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34.xml"/><Relationship Id="rId1" Type="http://schemas.openxmlformats.org/officeDocument/2006/relationships/slideLayout" Target="../slideLayouts/slideLayout14.xml"/><Relationship Id="rId4" Type="http://schemas.openxmlformats.org/officeDocument/2006/relationships/image" Target="../media/image67.jpeg"/></Relationships>
</file>

<file path=ppt/slides/_rels/slide35.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69.jpeg"/></Relationships>
</file>

<file path=ppt/slides/_rels/slide36.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37.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3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40.xml"/><Relationship Id="rId1" Type="http://schemas.openxmlformats.org/officeDocument/2006/relationships/slideLayout" Target="../slideLayouts/slideLayout14.xml"/><Relationship Id="rId4" Type="http://schemas.openxmlformats.org/officeDocument/2006/relationships/image" Target="../media/image75.jpeg"/></Relationships>
</file>

<file path=ppt/slides/_rels/slide41.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41.xml"/><Relationship Id="rId1" Type="http://schemas.openxmlformats.org/officeDocument/2006/relationships/slideLayout" Target="../slideLayouts/slideLayout13.xml"/><Relationship Id="rId4" Type="http://schemas.openxmlformats.org/officeDocument/2006/relationships/image" Target="../media/image77.jpeg"/></Relationships>
</file>

<file path=ppt/slides/_rels/slide4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2.xml"/><Relationship Id="rId1" Type="http://schemas.openxmlformats.org/officeDocument/2006/relationships/slideLayout" Target="../slideLayouts/slideLayout4.xml"/><Relationship Id="rId5" Type="http://schemas.openxmlformats.org/officeDocument/2006/relationships/image" Target="../media/image80.jpeg"/><Relationship Id="rId4" Type="http://schemas.openxmlformats.org/officeDocument/2006/relationships/image" Target="../media/image79.jpeg"/></Relationships>
</file>

<file path=ppt/slides/_rels/slide43.xml.rels><?xml version="1.0" encoding="UTF-8" standalone="yes"?>
<Relationships xmlns="http://schemas.openxmlformats.org/package/2006/relationships"><Relationship Id="rId8" Type="http://schemas.openxmlformats.org/officeDocument/2006/relationships/image" Target="../media/image86.jpeg"/><Relationship Id="rId3" Type="http://schemas.openxmlformats.org/officeDocument/2006/relationships/image" Target="../media/image81.jpeg"/><Relationship Id="rId7" Type="http://schemas.openxmlformats.org/officeDocument/2006/relationships/image" Target="../media/image85.jpeg"/><Relationship Id="rId2" Type="http://schemas.openxmlformats.org/officeDocument/2006/relationships/notesSlide" Target="../notesSlides/notesSlide43.xml"/><Relationship Id="rId1" Type="http://schemas.openxmlformats.org/officeDocument/2006/relationships/slideLayout" Target="../slideLayouts/slideLayout13.xml"/><Relationship Id="rId6" Type="http://schemas.openxmlformats.org/officeDocument/2006/relationships/image" Target="../media/image84.jpeg"/><Relationship Id="rId5" Type="http://schemas.openxmlformats.org/officeDocument/2006/relationships/image" Target="../media/image83.jpeg"/><Relationship Id="rId4" Type="http://schemas.openxmlformats.org/officeDocument/2006/relationships/image" Target="../media/image82.jpeg"/></Relationships>
</file>

<file path=ppt/slides/_rels/slide44.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44.xml"/><Relationship Id="rId1" Type="http://schemas.openxmlformats.org/officeDocument/2006/relationships/slideLayout" Target="../slideLayouts/slideLayout14.xml"/><Relationship Id="rId4" Type="http://schemas.openxmlformats.org/officeDocument/2006/relationships/image" Target="../media/image88.jpeg"/></Relationships>
</file>

<file path=ppt/slides/_rels/slide45.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45.xml"/><Relationship Id="rId1" Type="http://schemas.openxmlformats.org/officeDocument/2006/relationships/slideLayout" Target="../slideLayouts/slideLayout14.xml"/><Relationship Id="rId4" Type="http://schemas.openxmlformats.org/officeDocument/2006/relationships/image" Target="../media/image9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B0BF56F5-31B2-4A99-AAD5-0D2E8EBB7146}"/>
              </a:ext>
            </a:extLst>
          </p:cNvPr>
          <p:cNvSpPr>
            <a:spLocks noGrp="1" noChangeArrowheads="1"/>
          </p:cNvSpPr>
          <p:nvPr>
            <p:ph type="ctrTitle"/>
          </p:nvPr>
        </p:nvSpPr>
        <p:spPr>
          <a:xfrm>
            <a:off x="239713" y="671513"/>
            <a:ext cx="8705850" cy="3805237"/>
          </a:xfrm>
        </p:spPr>
        <p:txBody>
          <a:bodyPr/>
          <a:lstStyle/>
          <a:p>
            <a:pPr>
              <a:lnSpc>
                <a:spcPct val="120000"/>
              </a:lnSpc>
              <a:defRPr/>
            </a:pPr>
            <a:r>
              <a:rPr lang="en-US" altLang="en-US" sz="3200" dirty="0"/>
              <a:t>EART 28202 :  Structural Geology</a:t>
            </a:r>
            <a:br>
              <a:rPr lang="en-US" altLang="en-US" sz="3200" dirty="0"/>
            </a:br>
            <a:br>
              <a:rPr lang="en-US" altLang="en-US" dirty="0"/>
            </a:br>
            <a:br>
              <a:rPr lang="en-US" altLang="en-US" dirty="0"/>
            </a:br>
            <a:br>
              <a:rPr lang="en-US" altLang="en-US" dirty="0"/>
            </a:br>
            <a:r>
              <a:rPr lang="en-US" altLang="en-US" sz="3200" dirty="0">
                <a:solidFill>
                  <a:srgbClr val="FF6600"/>
                </a:solidFill>
              </a:rPr>
              <a:t>Class 1 :  The Geometry of Folds and Congruent Minor Structures</a:t>
            </a:r>
            <a:endParaRPr lang="en-US" altLang="en-US" sz="2600" dirty="0">
              <a:solidFill>
                <a:srgbClr val="FF6600"/>
              </a:solidFill>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p:spPr>
        <p:txBody>
          <a:bodyPr/>
          <a:lstStyle/>
          <a:p>
            <a:r>
              <a:rPr lang="en-GB" altLang="en-US">
                <a:effectLst/>
              </a:rPr>
              <a:t>Folding</a:t>
            </a:r>
          </a:p>
        </p:txBody>
      </p:sp>
      <p:pic>
        <p:nvPicPr>
          <p:cNvPr id="7171" name="Picture 7" descr="01a1-HopesNose"/>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01613" y="3576638"/>
            <a:ext cx="4291012" cy="28384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172" name="Rectangle 5"/>
          <p:cNvSpPr>
            <a:spLocks noChangeArrowheads="1"/>
          </p:cNvSpPr>
          <p:nvPr/>
        </p:nvSpPr>
        <p:spPr bwMode="auto">
          <a:xfrm>
            <a:off x="117475" y="836613"/>
            <a:ext cx="8872538" cy="2541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sz="2000">
                <a:solidFill>
                  <a:schemeClr val="tx1"/>
                </a:solidFill>
                <a:latin typeface="Arial" charset="0"/>
              </a:defRPr>
            </a:lvl1pPr>
            <a:lvl2pPr marL="820738" indent="-285750">
              <a:lnSpc>
                <a:spcPct val="120000"/>
              </a:lnSpc>
              <a:spcBef>
                <a:spcPct val="50000"/>
              </a:spcBef>
              <a:buClr>
                <a:schemeClr val="folHlink"/>
              </a:buClr>
              <a:buSzPct val="100000"/>
              <a:buFont typeface="Times"/>
              <a:buChar char="•"/>
              <a:defRPr>
                <a:solidFill>
                  <a:schemeClr val="tx1"/>
                </a:solidFill>
                <a:latin typeface="Arial" charset="0"/>
              </a:defRPr>
            </a:lvl2pPr>
            <a:lvl3pPr marL="1228725" indent="-228600">
              <a:spcBef>
                <a:spcPct val="25000"/>
              </a:spcBef>
              <a:buClr>
                <a:schemeClr val="folHlink"/>
              </a:buClr>
              <a:buFont typeface="Times"/>
              <a:buChar char="•"/>
              <a:defRPr sz="1600">
                <a:solidFill>
                  <a:schemeClr val="tx1"/>
                </a:solidFill>
                <a:latin typeface="Arial" charset="0"/>
              </a:defRPr>
            </a:lvl3pPr>
            <a:lvl4pPr marL="1636713" indent="-228600">
              <a:spcBef>
                <a:spcPct val="25000"/>
              </a:spcBef>
              <a:buClr>
                <a:schemeClr val="folHlink"/>
              </a:buClr>
              <a:buFont typeface="Times"/>
              <a:buChar char="•"/>
              <a:defRPr sz="1600">
                <a:solidFill>
                  <a:schemeClr val="tx1"/>
                </a:solidFill>
                <a:latin typeface="Arial" charset="0"/>
              </a:defRPr>
            </a:lvl4pPr>
            <a:lvl5pPr marL="2057400" indent="-228600">
              <a:spcBef>
                <a:spcPct val="25000"/>
              </a:spcBef>
              <a:buClr>
                <a:schemeClr val="folHlink"/>
              </a:buClr>
              <a:buSzPct val="50000"/>
              <a:buFont typeface="Times"/>
              <a:buChar char="•"/>
              <a:defRPr sz="1600">
                <a:solidFill>
                  <a:schemeClr val="tx1"/>
                </a:solidFill>
                <a:latin typeface="Arial" charset="0"/>
              </a:defRPr>
            </a:lvl5pPr>
            <a:lvl6pPr marL="25146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29718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290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8862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r>
              <a:rPr lang="en-GB" altLang="en-US" sz="1700" dirty="0"/>
              <a:t>A geological surface (</a:t>
            </a:r>
            <a:r>
              <a:rPr lang="en-GB" altLang="en-US" sz="1700" i="1" dirty="0"/>
              <a:t>e.g.</a:t>
            </a:r>
            <a:r>
              <a:rPr lang="en-GB" altLang="en-US" sz="1700" dirty="0"/>
              <a:t>, bedding, cleavage) that is curved is said to be </a:t>
            </a:r>
            <a:r>
              <a:rPr lang="en-GB" altLang="en-US" sz="1700" dirty="0">
                <a:solidFill>
                  <a:srgbClr val="FF6600"/>
                </a:solidFill>
              </a:rPr>
              <a:t>folded</a:t>
            </a:r>
            <a:r>
              <a:rPr lang="en-GB" altLang="en-US" sz="1700" dirty="0"/>
              <a:t>. Folds occur </a:t>
            </a:r>
            <a:r>
              <a:rPr lang="en-GB" altLang="en-US" sz="1700" dirty="0">
                <a:solidFill>
                  <a:srgbClr val="FF66CC"/>
                </a:solidFill>
              </a:rPr>
              <a:t>on all scales</a:t>
            </a:r>
            <a:r>
              <a:rPr lang="en-GB" altLang="en-US" sz="1700" dirty="0"/>
              <a:t> from the microscopic to the regional</a:t>
            </a:r>
          </a:p>
          <a:p>
            <a:pPr>
              <a:spcBef>
                <a:spcPct val="50000"/>
              </a:spcBef>
            </a:pPr>
            <a:r>
              <a:rPr lang="en-GB" altLang="en-US" sz="1700" dirty="0"/>
              <a:t>There is a great variety in the geometry of folds, and this reflects differences in the </a:t>
            </a:r>
            <a:r>
              <a:rPr lang="en-GB" altLang="en-US" sz="1700" dirty="0">
                <a:solidFill>
                  <a:srgbClr val="FF66CC"/>
                </a:solidFill>
              </a:rPr>
              <a:t>way that they formed</a:t>
            </a:r>
            <a:r>
              <a:rPr lang="en-GB" altLang="en-US" sz="1700" dirty="0"/>
              <a:t> – if we are to interpret the significance of these geometric variations, first we need to describe their geometry in a rigorous way</a:t>
            </a:r>
          </a:p>
          <a:p>
            <a:pPr>
              <a:spcBef>
                <a:spcPct val="50000"/>
              </a:spcBef>
            </a:pPr>
            <a:r>
              <a:rPr lang="en-GB" altLang="en-US" sz="1700" dirty="0"/>
              <a:t>Such descriptions also allow us </a:t>
            </a:r>
            <a:r>
              <a:rPr lang="en-GB" altLang="en-US" sz="1700" dirty="0">
                <a:solidFill>
                  <a:srgbClr val="FF66CC"/>
                </a:solidFill>
              </a:rPr>
              <a:t>to make reliable extrapolations of the geometry of folds</a:t>
            </a:r>
            <a:r>
              <a:rPr lang="en-GB" altLang="en-US" sz="1700" dirty="0"/>
              <a:t> at depth or laterally into areas of no exposure</a:t>
            </a:r>
          </a:p>
        </p:txBody>
      </p:sp>
      <p:pic>
        <p:nvPicPr>
          <p:cNvPr id="7173" name="Picture 13" descr="01b-Velodrome"/>
          <p:cNvPicPr>
            <a:picLocks noGrp="1" noChangeAspect="1" noChangeArrowheads="1"/>
          </p:cNvPicPr>
          <p:nvPr>
            <p:ph sz="half" idx="1"/>
          </p:nvPr>
        </p:nvPicPr>
        <p:blipFill>
          <a:blip r:embed="rId4">
            <a:extLst>
              <a:ext uri="{28A0092B-C50C-407E-A947-70E740481C1C}">
                <a14:useLocalDpi xmlns:a14="http://schemas.microsoft.com/office/drawing/2010/main" val="0"/>
              </a:ext>
            </a:extLst>
          </a:blip>
          <a:srcRect/>
          <a:stretch>
            <a:fillRect/>
          </a:stretch>
        </p:blipFill>
        <p:spPr>
          <a:xfrm>
            <a:off x="4660900" y="3568700"/>
            <a:ext cx="4291013" cy="285273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noFill/>
        </p:spPr>
        <p:txBody>
          <a:bodyPr/>
          <a:lstStyle/>
          <a:p>
            <a:r>
              <a:rPr lang="en-GB" altLang="en-US" dirty="0">
                <a:effectLst/>
              </a:rPr>
              <a:t>Essential geometric elements: fold axi</a:t>
            </a:r>
            <a:r>
              <a:rPr lang="en-GB" altLang="en-US" spc="500" dirty="0">
                <a:effectLst/>
              </a:rPr>
              <a:t>s/</a:t>
            </a:r>
            <a:r>
              <a:rPr lang="en-GB" altLang="en-US" dirty="0">
                <a:effectLst/>
              </a:rPr>
              <a:t>profile plane</a:t>
            </a:r>
          </a:p>
        </p:txBody>
      </p:sp>
      <p:pic>
        <p:nvPicPr>
          <p:cNvPr id="9219" name="Picture 4"/>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406400" y="1881188"/>
            <a:ext cx="3079750" cy="1412875"/>
          </a:xfrm>
          <a:noFill/>
          <a:ln w="38100" cap="flat">
            <a:solidFill>
              <a:schemeClr val="bg2"/>
            </a:solidFill>
            <a:miter lim="800000"/>
            <a:headEnd/>
            <a:tailEnd/>
          </a:ln>
        </p:spPr>
      </p:pic>
      <p:pic>
        <p:nvPicPr>
          <p:cNvPr id="9220" name="Picture 6"/>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4138613" y="1879600"/>
            <a:ext cx="4576762" cy="2011363"/>
          </a:xfrm>
          <a:noFill/>
          <a:ln w="38100" cap="flat">
            <a:solidFill>
              <a:schemeClr val="bg2"/>
            </a:solidFill>
            <a:miter lim="800000"/>
            <a:headEnd/>
            <a:tailEnd/>
          </a:ln>
        </p:spPr>
      </p:pic>
      <p:pic>
        <p:nvPicPr>
          <p:cNvPr id="9221" name="Picture 8"/>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409575" y="4627563"/>
            <a:ext cx="3035300" cy="1776412"/>
          </a:xfrm>
          <a:noFill/>
          <a:ln w="38100" cap="flat">
            <a:solidFill>
              <a:schemeClr val="bg2"/>
            </a:solidFill>
            <a:miter lim="800000"/>
            <a:headEnd/>
            <a:tailEnd/>
          </a:ln>
        </p:spPr>
      </p:pic>
      <p:sp>
        <p:nvSpPr>
          <p:cNvPr id="9222" name="Rectangle 12"/>
          <p:cNvSpPr>
            <a:spLocks noChangeArrowheads="1"/>
          </p:cNvSpPr>
          <p:nvPr/>
        </p:nvSpPr>
        <p:spPr bwMode="auto">
          <a:xfrm>
            <a:off x="217488" y="917575"/>
            <a:ext cx="8734425" cy="747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sz="2000">
                <a:solidFill>
                  <a:schemeClr val="tx1"/>
                </a:solidFill>
                <a:latin typeface="Arial" charset="0"/>
              </a:defRPr>
            </a:lvl1pPr>
            <a:lvl2pPr marL="820738" indent="-285750">
              <a:lnSpc>
                <a:spcPct val="120000"/>
              </a:lnSpc>
              <a:spcBef>
                <a:spcPct val="50000"/>
              </a:spcBef>
              <a:buClr>
                <a:schemeClr val="folHlink"/>
              </a:buClr>
              <a:buSzPct val="100000"/>
              <a:buFont typeface="Times"/>
              <a:buChar char="•"/>
              <a:defRPr>
                <a:solidFill>
                  <a:schemeClr val="tx1"/>
                </a:solidFill>
                <a:latin typeface="Arial" charset="0"/>
              </a:defRPr>
            </a:lvl2pPr>
            <a:lvl3pPr marL="1228725" indent="-228600">
              <a:spcBef>
                <a:spcPct val="25000"/>
              </a:spcBef>
              <a:buClr>
                <a:schemeClr val="folHlink"/>
              </a:buClr>
              <a:buFont typeface="Times"/>
              <a:buChar char="•"/>
              <a:defRPr sz="1600">
                <a:solidFill>
                  <a:schemeClr val="tx1"/>
                </a:solidFill>
                <a:latin typeface="Arial" charset="0"/>
              </a:defRPr>
            </a:lvl3pPr>
            <a:lvl4pPr marL="1636713" indent="-228600">
              <a:spcBef>
                <a:spcPct val="25000"/>
              </a:spcBef>
              <a:buClr>
                <a:schemeClr val="folHlink"/>
              </a:buClr>
              <a:buFont typeface="Times"/>
              <a:buChar char="•"/>
              <a:defRPr sz="1600">
                <a:solidFill>
                  <a:schemeClr val="tx1"/>
                </a:solidFill>
                <a:latin typeface="Arial" charset="0"/>
              </a:defRPr>
            </a:lvl4pPr>
            <a:lvl5pPr marL="2057400" indent="-228600">
              <a:spcBef>
                <a:spcPct val="25000"/>
              </a:spcBef>
              <a:buClr>
                <a:schemeClr val="folHlink"/>
              </a:buClr>
              <a:buSzPct val="50000"/>
              <a:buFont typeface="Times"/>
              <a:buChar char="•"/>
              <a:defRPr sz="1600">
                <a:solidFill>
                  <a:schemeClr val="tx1"/>
                </a:solidFill>
                <a:latin typeface="Arial" charset="0"/>
              </a:defRPr>
            </a:lvl5pPr>
            <a:lvl6pPr marL="25146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29718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290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8862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r>
              <a:rPr lang="en-GB" altLang="en-US" sz="1700" dirty="0"/>
              <a:t>Folds that can be generated by translating (no rotation) a </a:t>
            </a:r>
            <a:r>
              <a:rPr lang="en-GB" altLang="en-US" sz="1700" dirty="0">
                <a:solidFill>
                  <a:srgbClr val="FF66CC"/>
                </a:solidFill>
              </a:rPr>
              <a:t>straight</a:t>
            </a:r>
            <a:r>
              <a:rPr lang="en-GB" altLang="en-US" sz="1700" dirty="0"/>
              <a:t> line are described as </a:t>
            </a:r>
            <a:r>
              <a:rPr lang="en-GB" altLang="en-US" sz="1700" dirty="0">
                <a:solidFill>
                  <a:srgbClr val="FF6600"/>
                </a:solidFill>
              </a:rPr>
              <a:t>cylindrical</a:t>
            </a:r>
            <a:r>
              <a:rPr lang="en-GB" altLang="en-US" sz="1700" dirty="0"/>
              <a:t>; folds that cannot be generated in this way are described as </a:t>
            </a:r>
            <a:r>
              <a:rPr lang="en-GB" altLang="en-US" sz="1700" dirty="0">
                <a:solidFill>
                  <a:srgbClr val="FF6600"/>
                </a:solidFill>
              </a:rPr>
              <a:t>non-cylindrical</a:t>
            </a:r>
            <a:endParaRPr lang="en-GB" altLang="en-US" sz="1700" dirty="0"/>
          </a:p>
        </p:txBody>
      </p:sp>
      <p:sp>
        <p:nvSpPr>
          <p:cNvPr id="9223" name="Rectangle 15"/>
          <p:cNvSpPr>
            <a:spLocks noChangeArrowheads="1"/>
          </p:cNvSpPr>
          <p:nvPr/>
        </p:nvSpPr>
        <p:spPr bwMode="auto">
          <a:xfrm>
            <a:off x="174625" y="3563938"/>
            <a:ext cx="3657600" cy="84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sz="2000">
                <a:solidFill>
                  <a:schemeClr val="tx1"/>
                </a:solidFill>
                <a:latin typeface="Arial" charset="0"/>
              </a:defRPr>
            </a:lvl1pPr>
            <a:lvl2pPr marL="820738" indent="-285750">
              <a:lnSpc>
                <a:spcPct val="120000"/>
              </a:lnSpc>
              <a:spcBef>
                <a:spcPct val="50000"/>
              </a:spcBef>
              <a:buClr>
                <a:schemeClr val="folHlink"/>
              </a:buClr>
              <a:buSzPct val="100000"/>
              <a:buFont typeface="Times"/>
              <a:buChar char="•"/>
              <a:defRPr>
                <a:solidFill>
                  <a:schemeClr val="tx1"/>
                </a:solidFill>
                <a:latin typeface="Arial" charset="0"/>
              </a:defRPr>
            </a:lvl2pPr>
            <a:lvl3pPr marL="1228725" indent="-228600">
              <a:spcBef>
                <a:spcPct val="25000"/>
              </a:spcBef>
              <a:buClr>
                <a:schemeClr val="folHlink"/>
              </a:buClr>
              <a:buFont typeface="Times"/>
              <a:buChar char="•"/>
              <a:defRPr sz="1600">
                <a:solidFill>
                  <a:schemeClr val="tx1"/>
                </a:solidFill>
                <a:latin typeface="Arial" charset="0"/>
              </a:defRPr>
            </a:lvl3pPr>
            <a:lvl4pPr marL="1636713" indent="-228600">
              <a:spcBef>
                <a:spcPct val="25000"/>
              </a:spcBef>
              <a:buClr>
                <a:schemeClr val="folHlink"/>
              </a:buClr>
              <a:buFont typeface="Times"/>
              <a:buChar char="•"/>
              <a:defRPr sz="1600">
                <a:solidFill>
                  <a:schemeClr val="tx1"/>
                </a:solidFill>
                <a:latin typeface="Arial" charset="0"/>
              </a:defRPr>
            </a:lvl4pPr>
            <a:lvl5pPr marL="2057400" indent="-228600">
              <a:spcBef>
                <a:spcPct val="25000"/>
              </a:spcBef>
              <a:buClr>
                <a:schemeClr val="folHlink"/>
              </a:buClr>
              <a:buSzPct val="50000"/>
              <a:buFont typeface="Times"/>
              <a:buChar char="•"/>
              <a:defRPr sz="1600">
                <a:solidFill>
                  <a:schemeClr val="tx1"/>
                </a:solidFill>
                <a:latin typeface="Arial" charset="0"/>
              </a:defRPr>
            </a:lvl5pPr>
            <a:lvl6pPr marL="25146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29718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290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8862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r>
              <a:rPr lang="en-GB" altLang="en-US" sz="1700"/>
              <a:t>The line used to generate the fold is the </a:t>
            </a:r>
            <a:r>
              <a:rPr lang="en-GB" altLang="en-US" sz="1700">
                <a:solidFill>
                  <a:srgbClr val="FF6600"/>
                </a:solidFill>
              </a:rPr>
              <a:t>fold axis</a:t>
            </a:r>
            <a:endParaRPr lang="en-GB" altLang="en-US" sz="1700"/>
          </a:p>
        </p:txBody>
      </p:sp>
      <p:sp>
        <p:nvSpPr>
          <p:cNvPr id="9224" name="Rectangle 18"/>
          <p:cNvSpPr>
            <a:spLocks noChangeArrowheads="1"/>
          </p:cNvSpPr>
          <p:nvPr/>
        </p:nvSpPr>
        <p:spPr bwMode="auto">
          <a:xfrm>
            <a:off x="3944938" y="4478338"/>
            <a:ext cx="4946650" cy="201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sz="2000">
                <a:solidFill>
                  <a:schemeClr val="tx1"/>
                </a:solidFill>
                <a:latin typeface="Arial" charset="0"/>
              </a:defRPr>
            </a:lvl1pPr>
            <a:lvl2pPr marL="820738" indent="-285750">
              <a:lnSpc>
                <a:spcPct val="120000"/>
              </a:lnSpc>
              <a:spcBef>
                <a:spcPct val="50000"/>
              </a:spcBef>
              <a:buClr>
                <a:schemeClr val="folHlink"/>
              </a:buClr>
              <a:buSzPct val="100000"/>
              <a:buFont typeface="Times"/>
              <a:buChar char="•"/>
              <a:defRPr>
                <a:solidFill>
                  <a:schemeClr val="tx1"/>
                </a:solidFill>
                <a:latin typeface="Arial" charset="0"/>
              </a:defRPr>
            </a:lvl2pPr>
            <a:lvl3pPr marL="1228725" indent="-228600">
              <a:spcBef>
                <a:spcPct val="25000"/>
              </a:spcBef>
              <a:buClr>
                <a:schemeClr val="folHlink"/>
              </a:buClr>
              <a:buFont typeface="Times"/>
              <a:buChar char="•"/>
              <a:defRPr sz="1600">
                <a:solidFill>
                  <a:schemeClr val="tx1"/>
                </a:solidFill>
                <a:latin typeface="Arial" charset="0"/>
              </a:defRPr>
            </a:lvl3pPr>
            <a:lvl4pPr marL="1636713" indent="-228600">
              <a:spcBef>
                <a:spcPct val="25000"/>
              </a:spcBef>
              <a:buClr>
                <a:schemeClr val="folHlink"/>
              </a:buClr>
              <a:buFont typeface="Times"/>
              <a:buChar char="•"/>
              <a:defRPr sz="1600">
                <a:solidFill>
                  <a:schemeClr val="tx1"/>
                </a:solidFill>
                <a:latin typeface="Arial" charset="0"/>
              </a:defRPr>
            </a:lvl4pPr>
            <a:lvl5pPr marL="2057400" indent="-228600">
              <a:spcBef>
                <a:spcPct val="25000"/>
              </a:spcBef>
              <a:buClr>
                <a:schemeClr val="folHlink"/>
              </a:buClr>
              <a:buSzPct val="50000"/>
              <a:buFont typeface="Times"/>
              <a:buChar char="•"/>
              <a:defRPr sz="1600">
                <a:solidFill>
                  <a:schemeClr val="tx1"/>
                </a:solidFill>
                <a:latin typeface="Arial" charset="0"/>
              </a:defRPr>
            </a:lvl5pPr>
            <a:lvl6pPr marL="25146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29718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290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8862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r>
              <a:rPr lang="en-GB" altLang="en-US" sz="1700" dirty="0"/>
              <a:t>In cylindrical folds the fold shape on parallel cross section planes, whatever their orientation, is constant </a:t>
            </a:r>
            <a:r>
              <a:rPr lang="en-GB" altLang="en-US" sz="1700" dirty="0">
                <a:cs typeface="Arial" charset="0"/>
              </a:rPr>
              <a:t>→ we choose one of these orientations to describe fold geometry, and by convention that orientation is</a:t>
            </a:r>
            <a:r>
              <a:rPr lang="en-GB" altLang="en-US" sz="1700" dirty="0"/>
              <a:t> the </a:t>
            </a:r>
            <a:r>
              <a:rPr lang="en-GB" altLang="en-US" sz="1700" dirty="0">
                <a:solidFill>
                  <a:srgbClr val="FF66CC"/>
                </a:solidFill>
              </a:rPr>
              <a:t>plane that is perpendicular to the fold axis</a:t>
            </a:r>
            <a:r>
              <a:rPr lang="en-GB" altLang="en-US" sz="1700" dirty="0"/>
              <a:t> (</a:t>
            </a:r>
            <a:r>
              <a:rPr lang="en-GB" altLang="en-US" sz="1700" dirty="0">
                <a:solidFill>
                  <a:srgbClr val="FF6600"/>
                </a:solidFill>
              </a:rPr>
              <a:t>profile plane</a:t>
            </a:r>
            <a:r>
              <a:rPr lang="en-GB" altLang="en-US" sz="1700" dirty="0"/>
              <a:t>)</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noFill/>
        </p:spPr>
        <p:txBody>
          <a:bodyPr/>
          <a:lstStyle/>
          <a:p>
            <a:r>
              <a:rPr lang="en-GB" altLang="en-US">
                <a:effectLst/>
              </a:rPr>
              <a:t>Essential geometric elements: parts of a fold</a:t>
            </a:r>
          </a:p>
        </p:txBody>
      </p:sp>
      <p:sp>
        <p:nvSpPr>
          <p:cNvPr id="11267" name="Rectangle 3"/>
          <p:cNvSpPr>
            <a:spLocks noGrp="1" noChangeArrowheads="1"/>
          </p:cNvSpPr>
          <p:nvPr>
            <p:ph type="body" sz="half" idx="1"/>
          </p:nvPr>
        </p:nvSpPr>
        <p:spPr>
          <a:xfrm>
            <a:off x="177800" y="847725"/>
            <a:ext cx="4645025" cy="3198813"/>
          </a:xfrm>
          <a:noFill/>
        </p:spPr>
        <p:txBody>
          <a:bodyPr/>
          <a:lstStyle/>
          <a:p>
            <a:pPr marL="177800" indent="-177800">
              <a:spcBef>
                <a:spcPct val="75000"/>
              </a:spcBef>
            </a:pPr>
            <a:r>
              <a:rPr lang="en-GB" altLang="en-US" sz="1700" dirty="0">
                <a:effectLst/>
              </a:rPr>
              <a:t>Variations in </a:t>
            </a:r>
            <a:r>
              <a:rPr lang="en-GB" altLang="en-US" sz="1700" dirty="0">
                <a:solidFill>
                  <a:srgbClr val="FF6600"/>
                </a:solidFill>
                <a:effectLst/>
              </a:rPr>
              <a:t>curvature</a:t>
            </a:r>
            <a:r>
              <a:rPr lang="en-GB" altLang="en-US" sz="1700" dirty="0">
                <a:effectLst/>
              </a:rPr>
              <a:t> around a fold define its essential elements: a line connecting points of </a:t>
            </a:r>
            <a:r>
              <a:rPr lang="en-GB" altLang="en-US" sz="1700" dirty="0">
                <a:solidFill>
                  <a:srgbClr val="FF66CC"/>
                </a:solidFill>
                <a:effectLst/>
              </a:rPr>
              <a:t>maximum curvature</a:t>
            </a:r>
            <a:r>
              <a:rPr lang="en-GB" altLang="en-US" sz="1700" dirty="0">
                <a:effectLst/>
              </a:rPr>
              <a:t> is the </a:t>
            </a:r>
            <a:r>
              <a:rPr lang="en-GB" altLang="en-US" sz="1700" dirty="0">
                <a:solidFill>
                  <a:srgbClr val="FF6600"/>
                </a:solidFill>
                <a:effectLst/>
              </a:rPr>
              <a:t>hinge line</a:t>
            </a:r>
            <a:r>
              <a:rPr lang="en-GB" altLang="en-US" sz="1700" dirty="0">
                <a:effectLst/>
              </a:rPr>
              <a:t>; lines joining points of </a:t>
            </a:r>
            <a:r>
              <a:rPr lang="en-GB" altLang="en-US" sz="1700" dirty="0">
                <a:solidFill>
                  <a:srgbClr val="FF66CC"/>
                </a:solidFill>
                <a:effectLst/>
              </a:rPr>
              <a:t>zero curvature</a:t>
            </a:r>
            <a:r>
              <a:rPr lang="en-GB" altLang="en-US" sz="1700" dirty="0">
                <a:effectLst/>
              </a:rPr>
              <a:t> (where the surface changes its sense of curvature) are </a:t>
            </a:r>
            <a:r>
              <a:rPr lang="en-GB" altLang="en-US" sz="1700" dirty="0">
                <a:solidFill>
                  <a:srgbClr val="FF6600"/>
                </a:solidFill>
                <a:effectLst/>
              </a:rPr>
              <a:t>inflection lines</a:t>
            </a:r>
          </a:p>
          <a:p>
            <a:pPr marL="180000" indent="-180000">
              <a:spcBef>
                <a:spcPct val="75000"/>
              </a:spcBef>
            </a:pPr>
            <a:r>
              <a:rPr lang="en-GB" altLang="en-US" sz="1700" dirty="0">
                <a:effectLst/>
              </a:rPr>
              <a:t>The region around the hinge line is the </a:t>
            </a:r>
            <a:r>
              <a:rPr lang="en-GB" altLang="en-US" sz="1700" dirty="0">
                <a:solidFill>
                  <a:srgbClr val="FF6600"/>
                </a:solidFill>
                <a:effectLst/>
              </a:rPr>
              <a:t>hinge zone</a:t>
            </a:r>
            <a:r>
              <a:rPr lang="en-GB" altLang="en-US" sz="1700" dirty="0">
                <a:effectLst/>
              </a:rPr>
              <a:t>; the regions between hinge zones are the </a:t>
            </a:r>
            <a:r>
              <a:rPr lang="en-GB" altLang="en-US" sz="1700" dirty="0">
                <a:solidFill>
                  <a:srgbClr val="FF6600"/>
                </a:solidFill>
                <a:effectLst/>
              </a:rPr>
              <a:t>limbs</a:t>
            </a:r>
          </a:p>
        </p:txBody>
      </p:sp>
      <p:pic>
        <p:nvPicPr>
          <p:cNvPr id="11268" name="Picture 7" descr="03b"/>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5118100" y="3236913"/>
            <a:ext cx="3725863" cy="1611312"/>
          </a:xfr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269" name="Picture 9" descr="03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025" y="4333875"/>
            <a:ext cx="3979863" cy="2244725"/>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79882" name="Rectangle 10">
            <a:extLst>
              <a:ext uri="{FF2B5EF4-FFF2-40B4-BE49-F238E27FC236}">
                <a16:creationId xmlns:a16="http://schemas.microsoft.com/office/drawing/2014/main" id="{E96B34FF-151C-4C8D-B03A-F99D61CDBCF9}"/>
              </a:ext>
            </a:extLst>
          </p:cNvPr>
          <p:cNvSpPr>
            <a:spLocks noChangeArrowheads="1"/>
          </p:cNvSpPr>
          <p:nvPr/>
        </p:nvSpPr>
        <p:spPr bwMode="auto">
          <a:xfrm>
            <a:off x="5126038" y="942975"/>
            <a:ext cx="3708400" cy="210978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pic>
        <p:nvPicPr>
          <p:cNvPr id="11271" name="Picture 11" descr="03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03825" y="1022350"/>
            <a:ext cx="3587750" cy="1963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272" name="Rectangle 13"/>
          <p:cNvSpPr>
            <a:spLocks noChangeArrowheads="1"/>
          </p:cNvSpPr>
          <p:nvPr/>
        </p:nvSpPr>
        <p:spPr bwMode="auto">
          <a:xfrm>
            <a:off x="4433888" y="5010150"/>
            <a:ext cx="4584700"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sz="2000">
                <a:solidFill>
                  <a:schemeClr val="tx1"/>
                </a:solidFill>
                <a:latin typeface="Arial" charset="0"/>
              </a:defRPr>
            </a:lvl1pPr>
            <a:lvl2pPr marL="742950" indent="-285750">
              <a:lnSpc>
                <a:spcPct val="120000"/>
              </a:lnSpc>
              <a:spcBef>
                <a:spcPct val="50000"/>
              </a:spcBef>
              <a:buClr>
                <a:schemeClr val="folHlink"/>
              </a:buClr>
              <a:buSzPct val="100000"/>
              <a:buFont typeface="Times"/>
              <a:buChar char="•"/>
              <a:defRPr>
                <a:solidFill>
                  <a:schemeClr val="tx1"/>
                </a:solidFill>
                <a:latin typeface="Arial" charset="0"/>
              </a:defRPr>
            </a:lvl2pPr>
            <a:lvl3pPr marL="1143000" indent="-228600">
              <a:spcBef>
                <a:spcPct val="25000"/>
              </a:spcBef>
              <a:buClr>
                <a:schemeClr val="folHlink"/>
              </a:buClr>
              <a:buFont typeface="Times"/>
              <a:buChar char="•"/>
              <a:defRPr sz="1600">
                <a:solidFill>
                  <a:schemeClr val="tx1"/>
                </a:solidFill>
                <a:latin typeface="Arial" charset="0"/>
              </a:defRPr>
            </a:lvl3pPr>
            <a:lvl4pPr marL="1600200" indent="-228600">
              <a:spcBef>
                <a:spcPct val="25000"/>
              </a:spcBef>
              <a:buClr>
                <a:schemeClr val="folHlink"/>
              </a:buClr>
              <a:buFont typeface="Times"/>
              <a:buChar char="•"/>
              <a:defRPr sz="1600">
                <a:solidFill>
                  <a:schemeClr val="tx1"/>
                </a:solidFill>
                <a:latin typeface="Arial" charset="0"/>
              </a:defRPr>
            </a:lvl4pPr>
            <a:lvl5pPr marL="2057400" indent="-228600">
              <a:spcBef>
                <a:spcPct val="25000"/>
              </a:spcBef>
              <a:buClr>
                <a:schemeClr val="folHlink"/>
              </a:buClr>
              <a:buSzPct val="50000"/>
              <a:buFont typeface="Times"/>
              <a:buChar char="•"/>
              <a:defRPr sz="1600">
                <a:solidFill>
                  <a:schemeClr val="tx1"/>
                </a:solidFill>
                <a:latin typeface="Arial" charset="0"/>
              </a:defRPr>
            </a:lvl5pPr>
            <a:lvl6pPr marL="25146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29718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290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886200"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r>
              <a:rPr lang="en-GB" altLang="en-US" sz="1700" dirty="0"/>
              <a:t>The line connecting the </a:t>
            </a:r>
            <a:r>
              <a:rPr lang="en-GB" altLang="en-US" sz="1700" dirty="0">
                <a:solidFill>
                  <a:srgbClr val="FF66CC"/>
                </a:solidFill>
              </a:rPr>
              <a:t>highest topographic points</a:t>
            </a:r>
            <a:r>
              <a:rPr lang="en-GB" altLang="en-US" sz="1700" dirty="0"/>
              <a:t> is the </a:t>
            </a:r>
            <a:r>
              <a:rPr lang="en-GB" altLang="en-US" sz="1700" dirty="0">
                <a:solidFill>
                  <a:srgbClr val="FF6600"/>
                </a:solidFill>
              </a:rPr>
              <a:t>crest line</a:t>
            </a:r>
            <a:r>
              <a:rPr lang="en-GB" altLang="en-US" sz="1700" dirty="0"/>
              <a:t>, and that connecting the </a:t>
            </a:r>
            <a:r>
              <a:rPr lang="en-GB" altLang="en-US" sz="1700" dirty="0">
                <a:solidFill>
                  <a:srgbClr val="FF66CC"/>
                </a:solidFill>
              </a:rPr>
              <a:t>lowest points</a:t>
            </a:r>
            <a:r>
              <a:rPr lang="en-GB" altLang="en-US" sz="1700" dirty="0"/>
              <a:t> is the </a:t>
            </a:r>
            <a:r>
              <a:rPr lang="en-GB" altLang="en-US" sz="1700" dirty="0">
                <a:solidFill>
                  <a:srgbClr val="FF6600"/>
                </a:solidFill>
              </a:rPr>
              <a:t>trough line</a:t>
            </a:r>
            <a:r>
              <a:rPr lang="en-GB" altLang="en-US" sz="1700" dirty="0"/>
              <a:t>. Non-cylindrical folds may have crest line and trough line </a:t>
            </a:r>
            <a:r>
              <a:rPr lang="en-GB" altLang="en-US" sz="1700" dirty="0">
                <a:solidFill>
                  <a:srgbClr val="FF6600"/>
                </a:solidFill>
              </a:rPr>
              <a:t>culminations</a:t>
            </a:r>
            <a:r>
              <a:rPr lang="en-GB" altLang="en-US" sz="1700" dirty="0"/>
              <a:t> and </a:t>
            </a:r>
            <a:r>
              <a:rPr lang="en-GB" altLang="en-US" sz="1700" dirty="0">
                <a:solidFill>
                  <a:srgbClr val="FF6600"/>
                </a:solidFill>
              </a:rPr>
              <a:t>depressions</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p:spPr>
        <p:txBody>
          <a:bodyPr/>
          <a:lstStyle/>
          <a:p>
            <a:r>
              <a:rPr lang="en-GB" altLang="en-US">
                <a:effectLst/>
              </a:rPr>
              <a:t>Essential geometric elements: enveloping surfaces</a:t>
            </a:r>
          </a:p>
        </p:txBody>
      </p:sp>
      <p:sp>
        <p:nvSpPr>
          <p:cNvPr id="13315" name="Rectangle 3"/>
          <p:cNvSpPr>
            <a:spLocks noGrp="1" noChangeArrowheads="1"/>
          </p:cNvSpPr>
          <p:nvPr>
            <p:ph type="body" sz="half" idx="1"/>
          </p:nvPr>
        </p:nvSpPr>
        <p:spPr>
          <a:xfrm>
            <a:off x="206375" y="889000"/>
            <a:ext cx="8736013" cy="2717800"/>
          </a:xfrm>
          <a:noFill/>
        </p:spPr>
        <p:txBody>
          <a:bodyPr/>
          <a:lstStyle/>
          <a:p>
            <a:pPr marL="177800" indent="-177800">
              <a:spcBef>
                <a:spcPct val="75000"/>
              </a:spcBef>
            </a:pPr>
            <a:r>
              <a:rPr lang="en-GB" altLang="en-US" sz="1700" dirty="0">
                <a:effectLst/>
              </a:rPr>
              <a:t>In a train of folds, the surface that </a:t>
            </a:r>
            <a:r>
              <a:rPr lang="en-GB" altLang="en-US" sz="1700" dirty="0">
                <a:solidFill>
                  <a:srgbClr val="FF66CC"/>
                </a:solidFill>
                <a:effectLst/>
              </a:rPr>
              <a:t>contains the crest lines</a:t>
            </a:r>
            <a:r>
              <a:rPr lang="en-GB" altLang="en-US" sz="1700" dirty="0">
                <a:effectLst/>
              </a:rPr>
              <a:t> (or trough lines) is described as the </a:t>
            </a:r>
            <a:r>
              <a:rPr lang="en-GB" altLang="en-US" sz="1700" dirty="0">
                <a:solidFill>
                  <a:srgbClr val="FF6600"/>
                </a:solidFill>
                <a:effectLst/>
              </a:rPr>
              <a:t>enveloping surface</a:t>
            </a:r>
            <a:r>
              <a:rPr lang="en-GB" altLang="en-US" sz="1700" dirty="0">
                <a:effectLst/>
              </a:rPr>
              <a:t>. The </a:t>
            </a:r>
            <a:r>
              <a:rPr lang="en-GB" altLang="en-US" sz="1700" dirty="0">
                <a:solidFill>
                  <a:srgbClr val="FF66CC"/>
                </a:solidFill>
                <a:effectLst/>
              </a:rPr>
              <a:t>dip of this surface</a:t>
            </a:r>
            <a:r>
              <a:rPr lang="en-GB" altLang="en-US" sz="1700" dirty="0">
                <a:effectLst/>
              </a:rPr>
              <a:t> is commonly called the </a:t>
            </a:r>
            <a:r>
              <a:rPr lang="en-GB" altLang="en-US" sz="1700" dirty="0">
                <a:solidFill>
                  <a:srgbClr val="FF6600"/>
                </a:solidFill>
                <a:effectLst/>
              </a:rPr>
              <a:t>sheet dip</a:t>
            </a:r>
            <a:r>
              <a:rPr lang="en-GB" altLang="en-US" sz="1700" dirty="0">
                <a:effectLst/>
              </a:rPr>
              <a:t> and is effectively the average dip of the folded surface</a:t>
            </a:r>
          </a:p>
          <a:p>
            <a:pPr marL="177800" indent="-177800">
              <a:spcBef>
                <a:spcPct val="75000"/>
              </a:spcBef>
            </a:pPr>
            <a:r>
              <a:rPr lang="en-GB" altLang="en-US" sz="1700" dirty="0">
                <a:effectLst/>
              </a:rPr>
              <a:t>The surface </a:t>
            </a:r>
            <a:r>
              <a:rPr lang="en-GB" altLang="en-US" sz="1700" dirty="0">
                <a:solidFill>
                  <a:srgbClr val="FF66CC"/>
                </a:solidFill>
                <a:effectLst/>
              </a:rPr>
              <a:t>containing all the inflection lines</a:t>
            </a:r>
            <a:r>
              <a:rPr lang="en-GB" altLang="en-US" sz="1700" dirty="0">
                <a:effectLst/>
              </a:rPr>
              <a:t> is described as the </a:t>
            </a:r>
            <a:r>
              <a:rPr lang="en-GB" altLang="en-US" sz="1700" dirty="0">
                <a:solidFill>
                  <a:srgbClr val="FF6600"/>
                </a:solidFill>
                <a:effectLst/>
              </a:rPr>
              <a:t>median surface</a:t>
            </a:r>
            <a:r>
              <a:rPr lang="en-GB" altLang="en-US" sz="1700" dirty="0">
                <a:effectLst/>
              </a:rPr>
              <a:t>. This need not be halfway between the two enveloping surfaces that are on either side of it</a:t>
            </a:r>
          </a:p>
          <a:p>
            <a:pPr marL="177800" indent="-177800">
              <a:spcBef>
                <a:spcPct val="75000"/>
              </a:spcBef>
            </a:pPr>
            <a:r>
              <a:rPr lang="en-GB" altLang="en-US" sz="1700" dirty="0">
                <a:effectLst/>
              </a:rPr>
              <a:t>The enveloping and median surfaces are central to the notion of fold </a:t>
            </a:r>
            <a:r>
              <a:rPr lang="en-GB" altLang="en-US" sz="1700" dirty="0">
                <a:solidFill>
                  <a:srgbClr val="FF6600"/>
                </a:solidFill>
                <a:effectLst/>
              </a:rPr>
              <a:t>symmetry</a:t>
            </a:r>
            <a:r>
              <a:rPr lang="en-GB" altLang="en-US" sz="1700" dirty="0">
                <a:effectLst/>
              </a:rPr>
              <a:t> and fold </a:t>
            </a:r>
            <a:r>
              <a:rPr lang="en-GB" altLang="en-US" sz="1700" dirty="0">
                <a:solidFill>
                  <a:srgbClr val="FF6600"/>
                </a:solidFill>
                <a:effectLst/>
              </a:rPr>
              <a:t>scale</a:t>
            </a:r>
          </a:p>
        </p:txBody>
      </p:sp>
      <p:pic>
        <p:nvPicPr>
          <p:cNvPr id="13316"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98450" y="3943350"/>
            <a:ext cx="8558213" cy="2295525"/>
          </a:xfrm>
          <a:noFill/>
          <a:ln w="38100" cap="flat">
            <a:solidFill>
              <a:schemeClr val="bg2"/>
            </a:solidFill>
            <a:miter lim="800000"/>
            <a:headEnd/>
            <a:tailEnd/>
          </a:ln>
        </p:spPr>
      </p:pic>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noFill/>
        </p:spPr>
        <p:txBody>
          <a:bodyPr/>
          <a:lstStyle/>
          <a:p>
            <a:r>
              <a:rPr lang="en-GB" altLang="en-US">
                <a:effectLst/>
              </a:rPr>
              <a:t>Essential geometric elements: axial surface</a:t>
            </a:r>
          </a:p>
        </p:txBody>
      </p:sp>
      <p:sp>
        <p:nvSpPr>
          <p:cNvPr id="15363" name="Rectangle 3"/>
          <p:cNvSpPr>
            <a:spLocks noGrp="1" noChangeArrowheads="1"/>
          </p:cNvSpPr>
          <p:nvPr>
            <p:ph type="body" sz="half" idx="1"/>
          </p:nvPr>
        </p:nvSpPr>
        <p:spPr>
          <a:xfrm>
            <a:off x="168275" y="869950"/>
            <a:ext cx="8763000" cy="1566863"/>
          </a:xfrm>
          <a:noFill/>
        </p:spPr>
        <p:txBody>
          <a:bodyPr/>
          <a:lstStyle/>
          <a:p>
            <a:pPr marL="177800" indent="-177800"/>
            <a:r>
              <a:rPr lang="en-GB" altLang="en-US" sz="1700">
                <a:effectLst/>
              </a:rPr>
              <a:t>The surface that </a:t>
            </a:r>
            <a:r>
              <a:rPr lang="en-GB" altLang="en-US" sz="1700">
                <a:solidFill>
                  <a:srgbClr val="FF66CC"/>
                </a:solidFill>
                <a:effectLst/>
              </a:rPr>
              <a:t>contains the hinge lines</a:t>
            </a:r>
            <a:r>
              <a:rPr lang="en-GB" altLang="en-US" sz="1700">
                <a:effectLst/>
              </a:rPr>
              <a:t> of a nested stack of folded surfaces is called the </a:t>
            </a:r>
            <a:r>
              <a:rPr lang="en-GB" altLang="en-US" sz="1700">
                <a:solidFill>
                  <a:srgbClr val="FF6600"/>
                </a:solidFill>
                <a:effectLst/>
              </a:rPr>
              <a:t>axial surface </a:t>
            </a:r>
            <a:r>
              <a:rPr lang="en-GB" altLang="en-US" sz="1700">
                <a:effectLst/>
              </a:rPr>
              <a:t>(</a:t>
            </a:r>
            <a:r>
              <a:rPr lang="en-GB" altLang="en-US" sz="1700">
                <a:solidFill>
                  <a:srgbClr val="FF6600"/>
                </a:solidFill>
                <a:effectLst/>
              </a:rPr>
              <a:t>axial plane </a:t>
            </a:r>
            <a:r>
              <a:rPr lang="en-GB" altLang="en-US" sz="1700">
                <a:effectLst/>
              </a:rPr>
              <a:t>if that surface is planar)</a:t>
            </a:r>
          </a:p>
          <a:p>
            <a:pPr marL="177800" indent="-177800">
              <a:spcBef>
                <a:spcPct val="75000"/>
              </a:spcBef>
            </a:pPr>
            <a:r>
              <a:rPr lang="en-GB" altLang="en-US" sz="1700">
                <a:effectLst/>
              </a:rPr>
              <a:t>The </a:t>
            </a:r>
            <a:r>
              <a:rPr lang="en-GB" altLang="en-US" sz="1700">
                <a:solidFill>
                  <a:srgbClr val="FF66CC"/>
                </a:solidFill>
                <a:effectLst/>
              </a:rPr>
              <a:t>line of</a:t>
            </a:r>
            <a:r>
              <a:rPr lang="en-GB" altLang="en-US" sz="1700">
                <a:effectLst/>
              </a:rPr>
              <a:t> </a:t>
            </a:r>
            <a:r>
              <a:rPr lang="en-GB" altLang="en-US" sz="1700">
                <a:solidFill>
                  <a:srgbClr val="FF66CC"/>
                </a:solidFill>
                <a:effectLst/>
              </a:rPr>
              <a:t>intersection</a:t>
            </a:r>
            <a:r>
              <a:rPr lang="en-GB" altLang="en-US" sz="1700">
                <a:effectLst/>
              </a:rPr>
              <a:t> of the axial surface with any other surface of interest (usually the ground surface) is called the </a:t>
            </a:r>
            <a:r>
              <a:rPr lang="en-GB" altLang="en-US" sz="1700">
                <a:solidFill>
                  <a:srgbClr val="FF6600"/>
                </a:solidFill>
                <a:effectLst/>
              </a:rPr>
              <a:t>axial trace</a:t>
            </a:r>
          </a:p>
        </p:txBody>
      </p:sp>
      <p:pic>
        <p:nvPicPr>
          <p:cNvPr id="15364"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41313" y="2749550"/>
            <a:ext cx="8489950" cy="3671888"/>
          </a:xfrm>
          <a:noFill/>
          <a:ln w="38100" cap="flat">
            <a:solidFill>
              <a:schemeClr val="bg2"/>
            </a:solidFill>
            <a:miter lim="800000"/>
            <a:headEnd/>
            <a:tailEnd/>
          </a:ln>
        </p:spPr>
      </p:pic>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noFill/>
        </p:spPr>
        <p:txBody>
          <a:bodyPr/>
          <a:lstStyle/>
          <a:p>
            <a:r>
              <a:rPr lang="en-GB" altLang="en-US" dirty="0">
                <a:effectLst/>
              </a:rPr>
              <a:t>Essential geometric elements: </a:t>
            </a:r>
            <a:r>
              <a:rPr lang="en-GB" altLang="en-US" dirty="0" err="1">
                <a:effectLst/>
              </a:rPr>
              <a:t>antifor</a:t>
            </a:r>
            <a:r>
              <a:rPr lang="en-GB" altLang="en-US" spc="500" dirty="0" err="1">
                <a:effectLst/>
              </a:rPr>
              <a:t>m</a:t>
            </a:r>
            <a:r>
              <a:rPr lang="en-GB" altLang="en-US" spc="500" dirty="0">
                <a:effectLst/>
              </a:rPr>
              <a:t>/</a:t>
            </a:r>
            <a:r>
              <a:rPr lang="en-GB" altLang="en-US" dirty="0" err="1">
                <a:effectLst/>
              </a:rPr>
              <a:t>synform</a:t>
            </a:r>
            <a:endParaRPr lang="en-GB" altLang="en-US" dirty="0">
              <a:effectLst/>
            </a:endParaRPr>
          </a:p>
        </p:txBody>
      </p:sp>
      <p:sp>
        <p:nvSpPr>
          <p:cNvPr id="17411" name="Rectangle 3"/>
          <p:cNvSpPr>
            <a:spLocks noGrp="1" noChangeArrowheads="1"/>
          </p:cNvSpPr>
          <p:nvPr>
            <p:ph type="body" sz="half" idx="1"/>
          </p:nvPr>
        </p:nvSpPr>
        <p:spPr>
          <a:xfrm>
            <a:off x="125413" y="835025"/>
            <a:ext cx="6081712" cy="847725"/>
          </a:xfrm>
          <a:noFill/>
        </p:spPr>
        <p:txBody>
          <a:bodyPr/>
          <a:lstStyle/>
          <a:p>
            <a:pPr marL="177800" indent="-177800"/>
            <a:r>
              <a:rPr lang="en-GB" altLang="en-US" sz="1700">
                <a:effectLst/>
              </a:rPr>
              <a:t>Folds that </a:t>
            </a:r>
            <a:r>
              <a:rPr lang="en-GB" altLang="en-US" sz="1700">
                <a:solidFill>
                  <a:srgbClr val="FF66CC"/>
                </a:solidFill>
                <a:effectLst/>
              </a:rPr>
              <a:t>close down</a:t>
            </a:r>
            <a:r>
              <a:rPr lang="en-GB" altLang="en-US" sz="1700">
                <a:effectLst/>
              </a:rPr>
              <a:t> are </a:t>
            </a:r>
            <a:r>
              <a:rPr lang="en-GB" altLang="en-US" sz="1700">
                <a:solidFill>
                  <a:srgbClr val="FF6600"/>
                </a:solidFill>
                <a:effectLst/>
              </a:rPr>
              <a:t>synforms</a:t>
            </a:r>
            <a:r>
              <a:rPr lang="en-GB" altLang="en-US" sz="1700">
                <a:effectLst/>
              </a:rPr>
              <a:t>; folds that </a:t>
            </a:r>
            <a:r>
              <a:rPr lang="en-GB" altLang="en-US" sz="1700">
                <a:solidFill>
                  <a:srgbClr val="FF66CC"/>
                </a:solidFill>
                <a:effectLst/>
              </a:rPr>
              <a:t>close up</a:t>
            </a:r>
            <a:r>
              <a:rPr lang="en-GB" altLang="en-US" sz="1700">
                <a:effectLst/>
              </a:rPr>
              <a:t> are </a:t>
            </a:r>
            <a:r>
              <a:rPr lang="en-GB" altLang="en-US" sz="1700">
                <a:solidFill>
                  <a:srgbClr val="FF6600"/>
                </a:solidFill>
                <a:effectLst/>
              </a:rPr>
              <a:t>antiforms</a:t>
            </a:r>
            <a:r>
              <a:rPr lang="en-GB" altLang="en-US" sz="1700">
                <a:effectLst/>
              </a:rPr>
              <a:t>. Folds that </a:t>
            </a:r>
            <a:r>
              <a:rPr lang="en-GB" altLang="en-US" sz="1700">
                <a:solidFill>
                  <a:srgbClr val="FF66CC"/>
                </a:solidFill>
                <a:effectLst/>
              </a:rPr>
              <a:t>close horizontally</a:t>
            </a:r>
            <a:r>
              <a:rPr lang="en-GB" altLang="en-US" sz="1700">
                <a:effectLst/>
              </a:rPr>
              <a:t> are </a:t>
            </a:r>
            <a:r>
              <a:rPr lang="en-GB" altLang="en-US" sz="1700">
                <a:solidFill>
                  <a:srgbClr val="FF6600"/>
                </a:solidFill>
                <a:effectLst/>
              </a:rPr>
              <a:t>neutral folds</a:t>
            </a:r>
          </a:p>
        </p:txBody>
      </p:sp>
      <p:pic>
        <p:nvPicPr>
          <p:cNvPr id="17412" name="Picture 4"/>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31775" y="1865313"/>
            <a:ext cx="5697538" cy="1812925"/>
          </a:xfrm>
          <a:noFill/>
          <a:ln w="38100" cap="flat">
            <a:solidFill>
              <a:schemeClr val="bg2"/>
            </a:solidFill>
            <a:miter lim="800000"/>
            <a:headEnd/>
            <a:tailEnd/>
          </a:ln>
        </p:spPr>
      </p:pic>
      <p:pic>
        <p:nvPicPr>
          <p:cNvPr id="17413" name="Picture 6"/>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5313363" y="3960813"/>
            <a:ext cx="3095625" cy="2692400"/>
          </a:xfrm>
          <a:noFill/>
          <a:ln w="38100" cap="flat">
            <a:solidFill>
              <a:schemeClr val="bg2"/>
            </a:solidFill>
            <a:miter lim="800000"/>
            <a:headEnd/>
            <a:tailEnd/>
          </a:ln>
        </p:spPr>
      </p:pic>
      <p:pic>
        <p:nvPicPr>
          <p:cNvPr id="17414"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78563" y="990600"/>
            <a:ext cx="2673350" cy="1641475"/>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15" name="Rectangle 9"/>
          <p:cNvSpPr>
            <a:spLocks noChangeArrowheads="1"/>
          </p:cNvSpPr>
          <p:nvPr/>
        </p:nvSpPr>
        <p:spPr bwMode="auto">
          <a:xfrm>
            <a:off x="658813" y="5251450"/>
            <a:ext cx="4513262" cy="139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sz="2000">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a:solidFill>
                  <a:schemeClr val="tx1"/>
                </a:solidFill>
                <a:latin typeface="Arial" charset="0"/>
              </a:defRPr>
            </a:lvl2pPr>
            <a:lvl3pPr marL="1235075" indent="-184150">
              <a:spcBef>
                <a:spcPct val="25000"/>
              </a:spcBef>
              <a:buClr>
                <a:schemeClr val="folHlink"/>
              </a:buClr>
              <a:buFont typeface="Times"/>
              <a:buChar char="•"/>
              <a:defRPr sz="1600">
                <a:solidFill>
                  <a:schemeClr val="tx1"/>
                </a:solidFill>
                <a:latin typeface="Arial" charset="0"/>
              </a:defRPr>
            </a:lvl3pPr>
            <a:lvl4pPr marL="1698625" indent="-228600">
              <a:spcBef>
                <a:spcPct val="25000"/>
              </a:spcBef>
              <a:buClr>
                <a:schemeClr val="folHlink"/>
              </a:buClr>
              <a:buFont typeface="Times"/>
              <a:buChar char="•"/>
              <a:defRPr sz="1600">
                <a:solidFill>
                  <a:schemeClr val="tx1"/>
                </a:solidFill>
                <a:latin typeface="Arial" charset="0"/>
              </a:defRPr>
            </a:lvl4pPr>
            <a:lvl5pPr marL="2117725" indent="-228600">
              <a:spcBef>
                <a:spcPct val="25000"/>
              </a:spcBef>
              <a:buClr>
                <a:schemeClr val="folHlink"/>
              </a:buClr>
              <a:buSzPct val="50000"/>
              <a:buFont typeface="Times"/>
              <a:buChar char="•"/>
              <a:defRPr sz="16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r>
              <a:rPr lang="en-GB" altLang="en-US" sz="1700" dirty="0"/>
              <a:t>Folds </a:t>
            </a:r>
            <a:r>
              <a:rPr lang="en-GB" altLang="en-US" sz="1700" dirty="0">
                <a:solidFill>
                  <a:srgbClr val="FF6600"/>
                </a:solidFill>
              </a:rPr>
              <a:t>face</a:t>
            </a:r>
            <a:r>
              <a:rPr lang="en-GB" altLang="en-US" sz="1700" dirty="0"/>
              <a:t> in the direction within their axial plane that they young. Hence, they face upwards, downwards or sideways. The fold to the right is an </a:t>
            </a:r>
            <a:r>
              <a:rPr lang="en-GB" altLang="en-US" sz="1700" dirty="0">
                <a:solidFill>
                  <a:srgbClr val="FF66CC"/>
                </a:solidFill>
              </a:rPr>
              <a:t>upward-facing anticline</a:t>
            </a:r>
            <a:endParaRPr lang="en-GB" altLang="en-US" sz="1700" dirty="0"/>
          </a:p>
        </p:txBody>
      </p:sp>
      <p:sp>
        <p:nvSpPr>
          <p:cNvPr id="17416" name="Rectangle 10"/>
          <p:cNvSpPr>
            <a:spLocks noChangeArrowheads="1"/>
          </p:cNvSpPr>
          <p:nvPr/>
        </p:nvSpPr>
        <p:spPr bwMode="auto">
          <a:xfrm>
            <a:off x="117475" y="3757613"/>
            <a:ext cx="4756150" cy="108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sz="2000">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a:solidFill>
                  <a:schemeClr val="tx1"/>
                </a:solidFill>
                <a:latin typeface="Arial" charset="0"/>
              </a:defRPr>
            </a:lvl2pPr>
            <a:lvl3pPr marL="1235075" indent="-184150">
              <a:spcBef>
                <a:spcPct val="25000"/>
              </a:spcBef>
              <a:buClr>
                <a:schemeClr val="folHlink"/>
              </a:buClr>
              <a:buFont typeface="Times"/>
              <a:buChar char="•"/>
              <a:defRPr sz="1600">
                <a:solidFill>
                  <a:schemeClr val="tx1"/>
                </a:solidFill>
                <a:latin typeface="Arial" charset="0"/>
              </a:defRPr>
            </a:lvl3pPr>
            <a:lvl4pPr marL="1698625" indent="-228600">
              <a:spcBef>
                <a:spcPct val="25000"/>
              </a:spcBef>
              <a:buClr>
                <a:schemeClr val="folHlink"/>
              </a:buClr>
              <a:buFont typeface="Times"/>
              <a:buChar char="•"/>
              <a:defRPr sz="1600">
                <a:solidFill>
                  <a:schemeClr val="tx1"/>
                </a:solidFill>
                <a:latin typeface="Arial" charset="0"/>
              </a:defRPr>
            </a:lvl4pPr>
            <a:lvl5pPr marL="2117725" indent="-228600">
              <a:spcBef>
                <a:spcPct val="25000"/>
              </a:spcBef>
              <a:buClr>
                <a:schemeClr val="folHlink"/>
              </a:buClr>
              <a:buSzPct val="50000"/>
              <a:buFont typeface="Times"/>
              <a:buChar char="•"/>
              <a:defRPr sz="16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r>
              <a:rPr lang="en-GB" altLang="en-US" sz="1700"/>
              <a:t>Folds with the </a:t>
            </a:r>
            <a:r>
              <a:rPr lang="en-GB" altLang="en-US" sz="1700">
                <a:solidFill>
                  <a:srgbClr val="FF66CC"/>
                </a:solidFill>
              </a:rPr>
              <a:t>youngest rocks</a:t>
            </a:r>
            <a:r>
              <a:rPr lang="en-GB" altLang="en-US" sz="1700"/>
              <a:t> in their cores are </a:t>
            </a:r>
            <a:r>
              <a:rPr lang="en-GB" altLang="en-US" sz="1700">
                <a:solidFill>
                  <a:srgbClr val="FF6600"/>
                </a:solidFill>
              </a:rPr>
              <a:t>synclines</a:t>
            </a:r>
            <a:r>
              <a:rPr lang="en-GB" altLang="en-US" sz="1700"/>
              <a:t>; folds with the </a:t>
            </a:r>
            <a:r>
              <a:rPr lang="en-GB" altLang="en-US" sz="1700">
                <a:solidFill>
                  <a:srgbClr val="FF66CC"/>
                </a:solidFill>
              </a:rPr>
              <a:t>oldest rocks</a:t>
            </a:r>
            <a:r>
              <a:rPr lang="en-GB" altLang="en-US" sz="1700"/>
              <a:t> in their cores are </a:t>
            </a:r>
            <a:r>
              <a:rPr lang="en-GB" altLang="en-US" sz="1700">
                <a:solidFill>
                  <a:srgbClr val="FF6600"/>
                </a:solidFill>
              </a:rPr>
              <a:t>anticlines</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p:spPr>
        <p:txBody>
          <a:bodyPr/>
          <a:lstStyle/>
          <a:p>
            <a:r>
              <a:rPr lang="en-GB" altLang="en-US">
                <a:effectLst/>
              </a:rPr>
              <a:t>Essential geometric elements: other fold types</a:t>
            </a:r>
          </a:p>
        </p:txBody>
      </p:sp>
      <p:sp>
        <p:nvSpPr>
          <p:cNvPr id="19459" name="Rectangle 3"/>
          <p:cNvSpPr>
            <a:spLocks noGrp="1" noChangeArrowheads="1"/>
          </p:cNvSpPr>
          <p:nvPr>
            <p:ph type="body" sz="half" idx="1"/>
          </p:nvPr>
        </p:nvSpPr>
        <p:spPr>
          <a:xfrm>
            <a:off x="217488" y="3582988"/>
            <a:ext cx="5137150" cy="2763837"/>
          </a:xfrm>
          <a:noFill/>
        </p:spPr>
        <p:txBody>
          <a:bodyPr/>
          <a:lstStyle/>
          <a:p>
            <a:pPr marL="177800" indent="-177800">
              <a:spcBef>
                <a:spcPct val="60000"/>
              </a:spcBef>
              <a:buFont typeface="Times"/>
              <a:buNone/>
              <a:tabLst>
                <a:tab pos="177800" algn="l"/>
                <a:tab pos="355600" algn="l"/>
              </a:tabLst>
            </a:pPr>
            <a:r>
              <a:rPr lang="en-GB" altLang="en-US" sz="1700" dirty="0">
                <a:effectLst/>
              </a:rPr>
              <a:t>Other fold types include</a:t>
            </a:r>
          </a:p>
          <a:p>
            <a:pPr marL="177800" indent="-177800">
              <a:spcBef>
                <a:spcPct val="50000"/>
              </a:spcBef>
              <a:tabLst>
                <a:tab pos="177800" algn="l"/>
                <a:tab pos="355600" algn="l"/>
              </a:tabLst>
            </a:pPr>
            <a:r>
              <a:rPr lang="en-GB" altLang="en-US" sz="1700" dirty="0" err="1">
                <a:solidFill>
                  <a:srgbClr val="FF6600"/>
                </a:solidFill>
                <a:effectLst/>
              </a:rPr>
              <a:t>Homoclines</a:t>
            </a:r>
            <a:r>
              <a:rPr lang="en-GB" altLang="en-US" sz="1700" dirty="0">
                <a:effectLst/>
              </a:rPr>
              <a:t>: </a:t>
            </a:r>
            <a:r>
              <a:rPr lang="en-GB" altLang="en-US" sz="1700" dirty="0">
                <a:solidFill>
                  <a:srgbClr val="FF66CC"/>
                </a:solidFill>
                <a:effectLst/>
              </a:rPr>
              <a:t>uniformly tilted</a:t>
            </a:r>
            <a:r>
              <a:rPr lang="en-GB" altLang="en-US" sz="1700" dirty="0">
                <a:effectLst/>
              </a:rPr>
              <a:t> layering on a regional scale</a:t>
            </a:r>
          </a:p>
          <a:p>
            <a:pPr marL="177800" indent="-177800">
              <a:spcBef>
                <a:spcPct val="50000"/>
              </a:spcBef>
              <a:tabLst>
                <a:tab pos="177800" algn="l"/>
                <a:tab pos="355600" algn="l"/>
              </a:tabLst>
            </a:pPr>
            <a:r>
              <a:rPr lang="en-GB" altLang="en-US" sz="1700" dirty="0">
                <a:solidFill>
                  <a:srgbClr val="FF6600"/>
                </a:solidFill>
                <a:effectLst/>
              </a:rPr>
              <a:t>Monoclines</a:t>
            </a:r>
            <a:r>
              <a:rPr lang="en-GB" altLang="en-US" sz="1700" dirty="0">
                <a:effectLst/>
              </a:rPr>
              <a:t>: fold pair with </a:t>
            </a:r>
            <a:r>
              <a:rPr lang="en-GB" altLang="en-US" sz="1700" dirty="0">
                <a:solidFill>
                  <a:srgbClr val="FF66CC"/>
                </a:solidFill>
                <a:effectLst/>
              </a:rPr>
              <a:t>two long horizontal limbs connected by a short, inclined limb</a:t>
            </a:r>
          </a:p>
          <a:p>
            <a:pPr marL="177800" indent="-177800">
              <a:spcBef>
                <a:spcPct val="50000"/>
              </a:spcBef>
              <a:tabLst>
                <a:tab pos="177800" algn="l"/>
                <a:tab pos="355600" algn="l"/>
              </a:tabLst>
            </a:pPr>
            <a:r>
              <a:rPr lang="en-GB" altLang="en-US" sz="1700" dirty="0">
                <a:solidFill>
                  <a:srgbClr val="FF6600"/>
                </a:solidFill>
                <a:effectLst/>
              </a:rPr>
              <a:t>Box folds</a:t>
            </a:r>
            <a:r>
              <a:rPr lang="en-GB" altLang="en-US" sz="1700" dirty="0">
                <a:effectLst/>
              </a:rPr>
              <a:t>: </a:t>
            </a:r>
            <a:r>
              <a:rPr lang="en-GB" altLang="en-US" sz="1700" dirty="0">
                <a:solidFill>
                  <a:srgbClr val="FF66CC"/>
                </a:solidFill>
                <a:effectLst/>
              </a:rPr>
              <a:t>double-hinged</a:t>
            </a:r>
            <a:r>
              <a:rPr lang="en-GB" altLang="en-US" sz="1700" dirty="0">
                <a:effectLst/>
              </a:rPr>
              <a:t> fold, and </a:t>
            </a:r>
            <a:r>
              <a:rPr lang="en-GB" altLang="en-US" sz="1700" dirty="0">
                <a:solidFill>
                  <a:srgbClr val="FF6600"/>
                </a:solidFill>
                <a:effectLst/>
              </a:rPr>
              <a:t>kink folds</a:t>
            </a:r>
            <a:r>
              <a:rPr lang="en-GB" altLang="en-US" sz="1700" dirty="0">
                <a:effectLst/>
              </a:rPr>
              <a:t>:</a:t>
            </a:r>
            <a:r>
              <a:rPr lang="en-GB" altLang="en-US" sz="1700" dirty="0">
                <a:solidFill>
                  <a:srgbClr val="FF6600"/>
                </a:solidFill>
                <a:effectLst/>
              </a:rPr>
              <a:t> </a:t>
            </a:r>
            <a:r>
              <a:rPr lang="en-GB" altLang="en-US" sz="1700" dirty="0">
                <a:effectLst/>
              </a:rPr>
              <a:t>one </a:t>
            </a:r>
            <a:r>
              <a:rPr lang="en-GB" altLang="en-US" sz="1700" dirty="0">
                <a:solidFill>
                  <a:srgbClr val="FF66CC"/>
                </a:solidFill>
                <a:effectLst/>
              </a:rPr>
              <a:t>half of a box fold</a:t>
            </a:r>
            <a:r>
              <a:rPr lang="en-GB" altLang="en-US" sz="1700" dirty="0">
                <a:solidFill>
                  <a:srgbClr val="FF6600"/>
                </a:solidFill>
                <a:effectLst/>
              </a:rPr>
              <a:t> </a:t>
            </a:r>
            <a:r>
              <a:rPr lang="en-GB" altLang="en-US" sz="1700" dirty="0">
                <a:effectLst/>
              </a:rPr>
              <a:t>(discussed further in Class 2)</a:t>
            </a:r>
          </a:p>
        </p:txBody>
      </p:sp>
      <p:pic>
        <p:nvPicPr>
          <p:cNvPr id="19460" name="Picture 7"/>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00063" y="1031875"/>
            <a:ext cx="3719512" cy="2187575"/>
          </a:xfrm>
          <a:noFill/>
          <a:ln w="38100">
            <a:solidFill>
              <a:schemeClr val="bg2"/>
            </a:solidFill>
            <a:miter lim="800000"/>
            <a:headEnd/>
            <a:tailEnd/>
          </a:ln>
        </p:spPr>
      </p:pic>
      <p:pic>
        <p:nvPicPr>
          <p:cNvPr id="19461" name="Picture 9"/>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806950" y="1025525"/>
            <a:ext cx="3873500" cy="2182813"/>
          </a:xfrm>
          <a:noFill/>
          <a:ln w="38100" cmpd="dbl">
            <a:solidFill>
              <a:schemeClr val="bg2"/>
            </a:solidFill>
            <a:miter lim="800000"/>
            <a:headEnd/>
            <a:tailEnd/>
          </a:ln>
        </p:spPr>
      </p:pic>
      <p:pic>
        <p:nvPicPr>
          <p:cNvPr id="19462"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35638" y="3935413"/>
            <a:ext cx="2792412" cy="2058987"/>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noFill/>
        </p:spPr>
        <p:txBody>
          <a:bodyPr/>
          <a:lstStyle/>
          <a:p>
            <a:r>
              <a:rPr lang="en-GB" altLang="en-US">
                <a:effectLst/>
              </a:rPr>
              <a:t>Fold symmetry  1</a:t>
            </a:r>
          </a:p>
        </p:txBody>
      </p:sp>
      <p:sp>
        <p:nvSpPr>
          <p:cNvPr id="21507" name="Rectangle 3"/>
          <p:cNvSpPr>
            <a:spLocks noGrp="1" noChangeArrowheads="1"/>
          </p:cNvSpPr>
          <p:nvPr>
            <p:ph type="body" sz="half" idx="1"/>
          </p:nvPr>
        </p:nvSpPr>
        <p:spPr>
          <a:xfrm>
            <a:off x="125413" y="882650"/>
            <a:ext cx="5818187" cy="2365375"/>
          </a:xfrm>
          <a:noFill/>
        </p:spPr>
        <p:txBody>
          <a:bodyPr/>
          <a:lstStyle/>
          <a:p>
            <a:pPr marL="174625" indent="-174625">
              <a:spcBef>
                <a:spcPct val="25000"/>
              </a:spcBef>
              <a:tabLst>
                <a:tab pos="174625" algn="l"/>
              </a:tabLst>
            </a:pPr>
            <a:r>
              <a:rPr lang="en-GB" altLang="en-US" sz="1700" dirty="0">
                <a:effectLst/>
              </a:rPr>
              <a:t>A fold is </a:t>
            </a:r>
            <a:r>
              <a:rPr lang="en-GB" altLang="en-US" sz="1700" dirty="0">
                <a:solidFill>
                  <a:srgbClr val="FF6600"/>
                </a:solidFill>
                <a:effectLst/>
              </a:rPr>
              <a:t>symmetric</a:t>
            </a:r>
            <a:r>
              <a:rPr lang="en-GB" altLang="en-US" sz="1700" dirty="0">
                <a:effectLst/>
              </a:rPr>
              <a:t> if:</a:t>
            </a:r>
          </a:p>
          <a:p>
            <a:pPr marL="450000" lvl="1" indent="-268288">
              <a:buFont typeface="Times"/>
              <a:buAutoNum type="arabicPeriod"/>
              <a:tabLst>
                <a:tab pos="174625" algn="l"/>
              </a:tabLst>
            </a:pPr>
            <a:r>
              <a:rPr lang="en-GB" altLang="en-US" sz="1700" dirty="0">
                <a:effectLst/>
              </a:rPr>
              <a:t>the median surface and the axial surface are </a:t>
            </a:r>
            <a:r>
              <a:rPr lang="en-GB" altLang="en-US" sz="1700" dirty="0">
                <a:solidFill>
                  <a:srgbClr val="FF66CC"/>
                </a:solidFill>
                <a:effectLst/>
              </a:rPr>
              <a:t>perpendicular</a:t>
            </a:r>
            <a:r>
              <a:rPr lang="en-GB" altLang="en-US" sz="1700" dirty="0">
                <a:effectLst/>
              </a:rPr>
              <a:t>, and</a:t>
            </a:r>
          </a:p>
          <a:p>
            <a:pPr marL="450000" lvl="1" indent="-268288">
              <a:buFont typeface="Times"/>
              <a:buAutoNum type="arabicPeriod"/>
              <a:tabLst>
                <a:tab pos="174625" algn="l"/>
              </a:tabLst>
            </a:pPr>
            <a:r>
              <a:rPr lang="en-GB" altLang="en-US" sz="1700" dirty="0">
                <a:effectLst/>
              </a:rPr>
              <a:t>the median surface and the axial surface divide an </a:t>
            </a:r>
            <a:r>
              <a:rPr lang="en-GB" altLang="en-US" sz="1700" dirty="0" err="1">
                <a:effectLst/>
              </a:rPr>
              <a:t>antifor</a:t>
            </a:r>
            <a:r>
              <a:rPr lang="en-GB" altLang="en-US" sz="1700" spc="300" dirty="0" err="1">
                <a:effectLst/>
              </a:rPr>
              <a:t>m-</a:t>
            </a:r>
            <a:r>
              <a:rPr lang="en-GB" altLang="en-US" sz="1700" dirty="0" err="1">
                <a:effectLst/>
              </a:rPr>
              <a:t>synform</a:t>
            </a:r>
            <a:r>
              <a:rPr lang="en-GB" altLang="en-US" sz="1700" dirty="0">
                <a:effectLst/>
              </a:rPr>
              <a:t> pair into </a:t>
            </a:r>
            <a:r>
              <a:rPr lang="en-GB" altLang="en-US" sz="1700" dirty="0">
                <a:solidFill>
                  <a:srgbClr val="FF66CC"/>
                </a:solidFill>
                <a:effectLst/>
              </a:rPr>
              <a:t>mirror-symmetric quarter waves </a:t>
            </a:r>
            <a:r>
              <a:rPr lang="en-GB" altLang="en-US" sz="1700" dirty="0">
                <a:effectLst/>
              </a:rPr>
              <a:t>(each limb is the same length)</a:t>
            </a:r>
          </a:p>
        </p:txBody>
      </p:sp>
      <p:pic>
        <p:nvPicPr>
          <p:cNvPr id="21508" name="Picture 4"/>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17538" y="4425950"/>
            <a:ext cx="7867650" cy="2265363"/>
          </a:xfrm>
          <a:noFill/>
          <a:ln w="38100">
            <a:solidFill>
              <a:schemeClr val="bg2"/>
            </a:solidFill>
            <a:miter lim="800000"/>
            <a:headEnd/>
            <a:tailEnd/>
          </a:ln>
        </p:spPr>
      </p:pic>
      <p:sp>
        <p:nvSpPr>
          <p:cNvPr id="21509" name="Text Box 8"/>
          <p:cNvSpPr txBox="1">
            <a:spLocks noChangeArrowheads="1"/>
          </p:cNvSpPr>
          <p:nvPr/>
        </p:nvSpPr>
        <p:spPr bwMode="auto">
          <a:xfrm>
            <a:off x="144463" y="3303588"/>
            <a:ext cx="5843587"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4625" indent="-174625">
              <a:defRPr sz="1600">
                <a:solidFill>
                  <a:schemeClr val="tx1"/>
                </a:solidFill>
                <a:latin typeface="Helvetica" charset="0"/>
              </a:defRPr>
            </a:lvl1pPr>
            <a:lvl2pPr marL="742950" indent="-285750">
              <a:defRPr sz="1600">
                <a:solidFill>
                  <a:schemeClr val="tx1"/>
                </a:solidFill>
                <a:latin typeface="Helvetica" charset="0"/>
              </a:defRPr>
            </a:lvl2pPr>
            <a:lvl3pPr marL="1143000" indent="-228600">
              <a:defRPr sz="1600">
                <a:solidFill>
                  <a:schemeClr val="tx1"/>
                </a:solidFill>
                <a:latin typeface="Helvetica" charset="0"/>
              </a:defRPr>
            </a:lvl3pPr>
            <a:lvl4pPr marL="1600200" indent="-228600">
              <a:defRPr sz="1600">
                <a:solidFill>
                  <a:schemeClr val="tx1"/>
                </a:solidFill>
                <a:latin typeface="Helvetica" charset="0"/>
              </a:defRPr>
            </a:lvl4pPr>
            <a:lvl5pPr marL="2057400" indent="-228600">
              <a:defRPr sz="1600">
                <a:solidFill>
                  <a:schemeClr val="tx1"/>
                </a:solidFill>
                <a:latin typeface="Helvetica" charset="0"/>
              </a:defRPr>
            </a:lvl5pPr>
            <a:lvl6pPr marL="2514600" indent="-228600" eaLnBrk="0" fontAlgn="base" hangingPunct="0">
              <a:spcBef>
                <a:spcPct val="0"/>
              </a:spcBef>
              <a:spcAft>
                <a:spcPct val="0"/>
              </a:spcAft>
              <a:defRPr sz="1600">
                <a:solidFill>
                  <a:schemeClr val="tx1"/>
                </a:solidFill>
                <a:latin typeface="Helvetica" charset="0"/>
              </a:defRPr>
            </a:lvl6pPr>
            <a:lvl7pPr marL="2971800" indent="-228600" eaLnBrk="0" fontAlgn="base" hangingPunct="0">
              <a:spcBef>
                <a:spcPct val="0"/>
              </a:spcBef>
              <a:spcAft>
                <a:spcPct val="0"/>
              </a:spcAft>
              <a:defRPr sz="1600">
                <a:solidFill>
                  <a:schemeClr val="tx1"/>
                </a:solidFill>
                <a:latin typeface="Helvetica" charset="0"/>
              </a:defRPr>
            </a:lvl7pPr>
            <a:lvl8pPr marL="3429000" indent="-228600" eaLnBrk="0" fontAlgn="base" hangingPunct="0">
              <a:spcBef>
                <a:spcPct val="0"/>
              </a:spcBef>
              <a:spcAft>
                <a:spcPct val="0"/>
              </a:spcAft>
              <a:defRPr sz="1600">
                <a:solidFill>
                  <a:schemeClr val="tx1"/>
                </a:solidFill>
                <a:latin typeface="Helvetica" charset="0"/>
              </a:defRPr>
            </a:lvl8pPr>
            <a:lvl9pPr marL="3886200" indent="-228600" eaLnBrk="0" fontAlgn="base" hangingPunct="0">
              <a:spcBef>
                <a:spcPct val="0"/>
              </a:spcBef>
              <a:spcAft>
                <a:spcPct val="0"/>
              </a:spcAft>
              <a:defRPr sz="1600">
                <a:solidFill>
                  <a:schemeClr val="tx1"/>
                </a:solidFill>
                <a:latin typeface="Helvetica" charset="0"/>
              </a:defRPr>
            </a:lvl9pPr>
          </a:lstStyle>
          <a:p>
            <a:pPr>
              <a:lnSpc>
                <a:spcPct val="120000"/>
              </a:lnSpc>
              <a:spcBef>
                <a:spcPct val="50000"/>
              </a:spcBef>
              <a:buClr>
                <a:schemeClr val="tx1"/>
              </a:buClr>
              <a:buFontTx/>
              <a:buChar char="•"/>
            </a:pPr>
            <a:r>
              <a:rPr lang="en-GB" altLang="en-US" sz="1700" dirty="0">
                <a:latin typeface="Arial" charset="0"/>
              </a:rPr>
              <a:t>If </a:t>
            </a:r>
            <a:r>
              <a:rPr lang="en-GB" altLang="en-US" sz="1700" dirty="0">
                <a:solidFill>
                  <a:srgbClr val="FF66CC"/>
                </a:solidFill>
                <a:latin typeface="Arial" charset="0"/>
              </a:rPr>
              <a:t>either</a:t>
            </a:r>
            <a:r>
              <a:rPr lang="en-GB" altLang="en-US" sz="1700" dirty="0">
                <a:latin typeface="Arial" charset="0"/>
              </a:rPr>
              <a:t> of these conditions is not satisfied, then the fold is said to be </a:t>
            </a:r>
            <a:r>
              <a:rPr lang="en-GB" altLang="en-US" sz="1700" dirty="0">
                <a:solidFill>
                  <a:srgbClr val="FF6600"/>
                </a:solidFill>
                <a:latin typeface="Arial" charset="0"/>
              </a:rPr>
              <a:t>asymmetric</a:t>
            </a:r>
          </a:p>
        </p:txBody>
      </p:sp>
      <p:pic>
        <p:nvPicPr>
          <p:cNvPr id="21510" name="Picture 9" descr="08b1-Lulwort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0163" y="925513"/>
            <a:ext cx="2379662" cy="32988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noFill/>
        </p:spPr>
        <p:txBody>
          <a:bodyPr/>
          <a:lstStyle/>
          <a:p>
            <a:r>
              <a:rPr lang="en-GB" altLang="en-US">
                <a:effectLst/>
              </a:rPr>
              <a:t>Fold symmetry  2</a:t>
            </a:r>
          </a:p>
        </p:txBody>
      </p:sp>
      <p:sp>
        <p:nvSpPr>
          <p:cNvPr id="23555" name="Rectangle 3"/>
          <p:cNvSpPr>
            <a:spLocks noGrp="1" noChangeArrowheads="1"/>
          </p:cNvSpPr>
          <p:nvPr>
            <p:ph type="body" sz="half" idx="1"/>
          </p:nvPr>
        </p:nvSpPr>
        <p:spPr>
          <a:xfrm>
            <a:off x="147638" y="825500"/>
            <a:ext cx="8775700" cy="1951038"/>
          </a:xfrm>
          <a:noFill/>
        </p:spPr>
        <p:txBody>
          <a:bodyPr/>
          <a:lstStyle/>
          <a:p>
            <a:pPr marL="177800" indent="-177800"/>
            <a:r>
              <a:rPr lang="en-GB" altLang="en-US" sz="1700" dirty="0">
                <a:effectLst/>
              </a:rPr>
              <a:t>Asymmetric folds usually </a:t>
            </a:r>
            <a:r>
              <a:rPr lang="en-GB" altLang="en-US" sz="1700" dirty="0">
                <a:solidFill>
                  <a:srgbClr val="FF66CC"/>
                </a:solidFill>
                <a:effectLst/>
              </a:rPr>
              <a:t>violate both conditions for symmetry</a:t>
            </a:r>
            <a:r>
              <a:rPr lang="en-GB" altLang="en-US" sz="1700" dirty="0">
                <a:effectLst/>
              </a:rPr>
              <a:t>, that is, the median surface and axial plane are not perpendicular, and the fold limbs are of unequal length</a:t>
            </a:r>
          </a:p>
          <a:p>
            <a:pPr marL="177800" indent="-177800"/>
            <a:r>
              <a:rPr lang="en-GB" altLang="en-US" sz="1700" dirty="0">
                <a:effectLst/>
              </a:rPr>
              <a:t>The shape of an </a:t>
            </a:r>
            <a:r>
              <a:rPr lang="en-GB" altLang="en-US" sz="1700" dirty="0" err="1">
                <a:effectLst/>
              </a:rPr>
              <a:t>antifor</a:t>
            </a:r>
            <a:r>
              <a:rPr lang="en-GB" altLang="en-US" sz="1700" spc="300" dirty="0" err="1">
                <a:effectLst/>
              </a:rPr>
              <a:t>m-</a:t>
            </a:r>
            <a:r>
              <a:rPr lang="en-GB" altLang="en-US" sz="1700" dirty="0" err="1">
                <a:effectLst/>
              </a:rPr>
              <a:t>synform</a:t>
            </a:r>
            <a:r>
              <a:rPr lang="en-GB" altLang="en-US" sz="1700" dirty="0">
                <a:effectLst/>
              </a:rPr>
              <a:t> pair in the profile plane (drawn with the short limb as the intermediate limb, and by convention looking down the fold axis) may then be described as being of </a:t>
            </a:r>
            <a:r>
              <a:rPr lang="en-GB" altLang="en-US" sz="1700" dirty="0">
                <a:solidFill>
                  <a:srgbClr val="FF6600"/>
                </a:solidFill>
                <a:effectLst/>
              </a:rPr>
              <a:t>S-</a:t>
            </a:r>
            <a:r>
              <a:rPr lang="en-GB" altLang="en-US" sz="1700" dirty="0">
                <a:effectLst/>
              </a:rPr>
              <a:t> or </a:t>
            </a:r>
            <a:r>
              <a:rPr lang="en-GB" altLang="en-US" sz="1700" dirty="0">
                <a:solidFill>
                  <a:srgbClr val="FF6600"/>
                </a:solidFill>
                <a:effectLst/>
              </a:rPr>
              <a:t>Z-asymmetry</a:t>
            </a:r>
            <a:endParaRPr lang="en-GB" altLang="en-US" sz="1700" dirty="0">
              <a:effectLst/>
            </a:endParaRPr>
          </a:p>
        </p:txBody>
      </p:sp>
      <p:pic>
        <p:nvPicPr>
          <p:cNvPr id="23556"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706813" y="3033713"/>
            <a:ext cx="4954587" cy="2454275"/>
          </a:xfrm>
          <a:noFill/>
          <a:ln w="38100">
            <a:solidFill>
              <a:schemeClr val="bg2"/>
            </a:solidFill>
            <a:miter lim="800000"/>
            <a:headEnd/>
            <a:tailEnd/>
          </a:ln>
        </p:spPr>
      </p:pic>
      <p:sp>
        <p:nvSpPr>
          <p:cNvPr id="23557" name="Rectangle 6"/>
          <p:cNvSpPr>
            <a:spLocks noChangeArrowheads="1"/>
          </p:cNvSpPr>
          <p:nvPr/>
        </p:nvSpPr>
        <p:spPr bwMode="auto">
          <a:xfrm>
            <a:off x="147638" y="2895600"/>
            <a:ext cx="2936875" cy="3761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sz="2000">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a:solidFill>
                  <a:schemeClr val="tx1"/>
                </a:solidFill>
                <a:latin typeface="Arial" charset="0"/>
              </a:defRPr>
            </a:lvl2pPr>
            <a:lvl3pPr marL="1235075" indent="-184150">
              <a:spcBef>
                <a:spcPct val="25000"/>
              </a:spcBef>
              <a:buClr>
                <a:schemeClr val="folHlink"/>
              </a:buClr>
              <a:buFont typeface="Times"/>
              <a:buChar char="•"/>
              <a:defRPr sz="1600">
                <a:solidFill>
                  <a:schemeClr val="tx1"/>
                </a:solidFill>
                <a:latin typeface="Arial" charset="0"/>
              </a:defRPr>
            </a:lvl3pPr>
            <a:lvl4pPr marL="1698625" indent="-228600">
              <a:spcBef>
                <a:spcPct val="25000"/>
              </a:spcBef>
              <a:buClr>
                <a:schemeClr val="folHlink"/>
              </a:buClr>
              <a:buFont typeface="Times"/>
              <a:buChar char="•"/>
              <a:defRPr sz="1600">
                <a:solidFill>
                  <a:schemeClr val="tx1"/>
                </a:solidFill>
                <a:latin typeface="Arial" charset="0"/>
              </a:defRPr>
            </a:lvl4pPr>
            <a:lvl5pPr marL="2117725" indent="-228600">
              <a:spcBef>
                <a:spcPct val="25000"/>
              </a:spcBef>
              <a:buClr>
                <a:schemeClr val="folHlink"/>
              </a:buClr>
              <a:buSzPct val="50000"/>
              <a:buFont typeface="Times"/>
              <a:buChar char="•"/>
              <a:defRPr sz="16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pPr>
              <a:spcBef>
                <a:spcPct val="50000"/>
              </a:spcBef>
            </a:pPr>
            <a:r>
              <a:rPr lang="en-GB" altLang="en-US" sz="1700" dirty="0"/>
              <a:t>Alternatively, we may use the concept of </a:t>
            </a:r>
            <a:r>
              <a:rPr lang="en-GB" altLang="en-US" sz="1700" dirty="0">
                <a:solidFill>
                  <a:srgbClr val="FF6600"/>
                </a:solidFill>
              </a:rPr>
              <a:t>vergence</a:t>
            </a:r>
            <a:r>
              <a:rPr lang="en-GB" altLang="en-US" sz="1700" dirty="0"/>
              <a:t>:</a:t>
            </a:r>
          </a:p>
          <a:p>
            <a:pPr>
              <a:spcBef>
                <a:spcPct val="50000"/>
              </a:spcBef>
              <a:buFont typeface="Times"/>
              <a:buNone/>
            </a:pPr>
            <a:r>
              <a:rPr lang="en-GB" altLang="en-US" sz="1600" dirty="0"/>
              <a:t>	</a:t>
            </a:r>
            <a:r>
              <a:rPr lang="en-GB" altLang="en-US" sz="1600" i="1" dirty="0"/>
              <a:t>the </a:t>
            </a:r>
            <a:r>
              <a:rPr lang="en-GB" altLang="en-US" sz="1600" i="1" dirty="0">
                <a:solidFill>
                  <a:srgbClr val="FF66CC"/>
                </a:solidFill>
              </a:rPr>
              <a:t>direction of vergence</a:t>
            </a:r>
            <a:r>
              <a:rPr lang="en-GB" altLang="en-US" sz="1600" dirty="0"/>
              <a:t> </a:t>
            </a:r>
            <a:r>
              <a:rPr lang="en-GB" altLang="en-US" sz="1600" i="1" dirty="0"/>
              <a:t>(a compass direction) is the horizontal direction within the profile plane that the top of the short limb must be rotated so that the short limb becomes parallel with the long limbs (</a:t>
            </a:r>
            <a:r>
              <a:rPr lang="en-GB" altLang="en-US" sz="1600" i="1" dirty="0">
                <a:solidFill>
                  <a:srgbClr val="FF66CC"/>
                </a:solidFill>
              </a:rPr>
              <a:t>= direction towards the </a:t>
            </a:r>
            <a:r>
              <a:rPr lang="en-GB" altLang="en-US" sz="1600" i="1" dirty="0" err="1">
                <a:solidFill>
                  <a:srgbClr val="FF66CC"/>
                </a:solidFill>
              </a:rPr>
              <a:t>antiform</a:t>
            </a:r>
            <a:r>
              <a:rPr lang="en-GB" altLang="en-US" sz="1600" i="1" dirty="0">
                <a:solidFill>
                  <a:srgbClr val="FF66CC"/>
                </a:solidFill>
              </a:rPr>
              <a:t> if you are on the long limb</a:t>
            </a:r>
            <a:r>
              <a:rPr lang="en-GB" altLang="en-US" sz="1600" i="1" dirty="0"/>
              <a:t>)</a:t>
            </a:r>
          </a:p>
        </p:txBody>
      </p:sp>
      <p:sp>
        <p:nvSpPr>
          <p:cNvPr id="86023" name="Text Box 7">
            <a:extLst>
              <a:ext uri="{FF2B5EF4-FFF2-40B4-BE49-F238E27FC236}">
                <a16:creationId xmlns:a16="http://schemas.microsoft.com/office/drawing/2014/main" id="{6B9AFBD7-41DB-47AD-8FDD-EB4EA6C24F31}"/>
              </a:ext>
            </a:extLst>
          </p:cNvPr>
          <p:cNvSpPr txBox="1">
            <a:spLocks noChangeArrowheads="1"/>
          </p:cNvSpPr>
          <p:nvPr/>
        </p:nvSpPr>
        <p:spPr bwMode="auto">
          <a:xfrm>
            <a:off x="3806825" y="5610225"/>
            <a:ext cx="2125663" cy="93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buClr>
                <a:schemeClr val="accent2"/>
              </a:buClr>
              <a:defRPr/>
            </a:pPr>
            <a:r>
              <a:rPr lang="en-GB" altLang="en-US" sz="1400">
                <a:solidFill>
                  <a:srgbClr val="FFFF00"/>
                </a:solidFill>
                <a:effectLst>
                  <a:outerShdw blurRad="38100" dist="38100" dir="2700000" algn="tl">
                    <a:srgbClr val="000000"/>
                  </a:outerShdw>
                </a:effectLst>
                <a:latin typeface="Arial" panose="020B0604020202020204" pitchFamily="34" charset="0"/>
              </a:rPr>
              <a:t>Z-fold </a:t>
            </a:r>
            <a:r>
              <a:rPr lang="en-GB" altLang="en-US" sz="1400">
                <a:effectLst>
                  <a:outerShdw blurRad="38100" dist="38100" dir="2700000" algn="tl">
                    <a:srgbClr val="000000"/>
                  </a:outerShdw>
                </a:effectLst>
                <a:latin typeface="Arial" panose="020B0604020202020204" pitchFamily="34" charset="0"/>
              </a:rPr>
              <a:t>(assuming we are looking down plunge)</a:t>
            </a:r>
          </a:p>
          <a:p>
            <a:pPr>
              <a:lnSpc>
                <a:spcPct val="115000"/>
              </a:lnSpc>
              <a:spcBef>
                <a:spcPct val="50000"/>
              </a:spcBef>
              <a:buClr>
                <a:schemeClr val="accent2"/>
              </a:buClr>
              <a:defRPr/>
            </a:pPr>
            <a:r>
              <a:rPr lang="en-GB" altLang="en-US" sz="1400">
                <a:solidFill>
                  <a:srgbClr val="FFFF00"/>
                </a:solidFill>
                <a:effectLst>
                  <a:outerShdw blurRad="38100" dist="38100" dir="2700000" algn="tl">
                    <a:srgbClr val="000000"/>
                  </a:outerShdw>
                </a:effectLst>
                <a:latin typeface="Arial" panose="020B0604020202020204" pitchFamily="34" charset="0"/>
              </a:rPr>
              <a:t>Verge to the “right”</a:t>
            </a:r>
          </a:p>
        </p:txBody>
      </p:sp>
      <p:sp>
        <p:nvSpPr>
          <p:cNvPr id="86024" name="Text Box 8">
            <a:extLst>
              <a:ext uri="{FF2B5EF4-FFF2-40B4-BE49-F238E27FC236}">
                <a16:creationId xmlns:a16="http://schemas.microsoft.com/office/drawing/2014/main" id="{9813C351-BA11-4005-84DC-E6C53D0FE2E3}"/>
              </a:ext>
            </a:extLst>
          </p:cNvPr>
          <p:cNvSpPr txBox="1">
            <a:spLocks noChangeArrowheads="1"/>
          </p:cNvSpPr>
          <p:nvPr/>
        </p:nvSpPr>
        <p:spPr bwMode="auto">
          <a:xfrm>
            <a:off x="6554788" y="5610225"/>
            <a:ext cx="2125662" cy="93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5000"/>
              </a:lnSpc>
              <a:spcBef>
                <a:spcPct val="50000"/>
              </a:spcBef>
              <a:buClr>
                <a:schemeClr val="accent2"/>
              </a:buClr>
              <a:defRPr/>
            </a:pPr>
            <a:r>
              <a:rPr lang="en-GB" altLang="en-US" sz="1400">
                <a:solidFill>
                  <a:srgbClr val="FFFF00"/>
                </a:solidFill>
                <a:effectLst>
                  <a:outerShdw blurRad="38100" dist="38100" dir="2700000" algn="tl">
                    <a:srgbClr val="000000"/>
                  </a:outerShdw>
                </a:effectLst>
                <a:latin typeface="Arial" panose="020B0604020202020204" pitchFamily="34" charset="0"/>
              </a:rPr>
              <a:t>S-fold </a:t>
            </a:r>
            <a:r>
              <a:rPr lang="en-GB" altLang="en-US" sz="1400">
                <a:effectLst>
                  <a:outerShdw blurRad="38100" dist="38100" dir="2700000" algn="tl">
                    <a:srgbClr val="000000"/>
                  </a:outerShdw>
                </a:effectLst>
                <a:latin typeface="Arial" panose="020B0604020202020204" pitchFamily="34" charset="0"/>
              </a:rPr>
              <a:t>(assuming we are looking down plunge)</a:t>
            </a:r>
          </a:p>
          <a:p>
            <a:pPr>
              <a:lnSpc>
                <a:spcPct val="115000"/>
              </a:lnSpc>
              <a:spcBef>
                <a:spcPct val="50000"/>
              </a:spcBef>
              <a:buClr>
                <a:schemeClr val="accent2"/>
              </a:buClr>
              <a:defRPr/>
            </a:pPr>
            <a:r>
              <a:rPr lang="en-GB" altLang="en-US" sz="1400">
                <a:solidFill>
                  <a:srgbClr val="FFFF00"/>
                </a:solidFill>
                <a:effectLst>
                  <a:outerShdw blurRad="38100" dist="38100" dir="2700000" algn="tl">
                    <a:srgbClr val="000000"/>
                  </a:outerShdw>
                </a:effectLst>
                <a:latin typeface="Arial" panose="020B0604020202020204" pitchFamily="34" charset="0"/>
              </a:rPr>
              <a:t>Verge to the “left”</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p:spPr>
        <p:txBody>
          <a:bodyPr/>
          <a:lstStyle/>
          <a:p>
            <a:r>
              <a:rPr lang="en-GB" altLang="en-US">
                <a:effectLst/>
              </a:rPr>
              <a:t>Fold symmetry  3</a:t>
            </a:r>
          </a:p>
        </p:txBody>
      </p:sp>
      <p:sp>
        <p:nvSpPr>
          <p:cNvPr id="25603" name="Rectangle 3"/>
          <p:cNvSpPr>
            <a:spLocks noGrp="1" noChangeArrowheads="1"/>
          </p:cNvSpPr>
          <p:nvPr>
            <p:ph type="body" sz="half" idx="1"/>
          </p:nvPr>
        </p:nvSpPr>
        <p:spPr>
          <a:xfrm>
            <a:off x="5310188" y="4297363"/>
            <a:ext cx="3105150" cy="746125"/>
          </a:xfrm>
          <a:noFill/>
        </p:spPr>
        <p:txBody>
          <a:bodyPr/>
          <a:lstStyle/>
          <a:p>
            <a:pPr marL="0" indent="0">
              <a:buFont typeface="Times"/>
              <a:buNone/>
            </a:pPr>
            <a:r>
              <a:rPr lang="en-GB" altLang="en-US" sz="1400">
                <a:solidFill>
                  <a:srgbClr val="FFFF00"/>
                </a:solidFill>
                <a:effectLst/>
              </a:rPr>
              <a:t>Asymmetric folds verging to the left; S-asymmetry in this viewing direction</a:t>
            </a:r>
          </a:p>
        </p:txBody>
      </p:sp>
      <p:pic>
        <p:nvPicPr>
          <p:cNvPr id="25604" name="Picture 11" descr="10a-Onich"/>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47650" y="1341438"/>
            <a:ext cx="4305300" cy="285273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605" name="Rectangle 8"/>
          <p:cNvSpPr>
            <a:spLocks noChangeArrowheads="1"/>
          </p:cNvSpPr>
          <p:nvPr/>
        </p:nvSpPr>
        <p:spPr bwMode="auto">
          <a:xfrm>
            <a:off x="781050" y="4297363"/>
            <a:ext cx="3151188"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100000"/>
              </a:spcBef>
              <a:buClr>
                <a:schemeClr val="folHlink"/>
              </a:buClr>
              <a:buSzPct val="100000"/>
              <a:buFont typeface="Times"/>
              <a:buChar char="•"/>
              <a:defRPr sz="2000">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a:solidFill>
                  <a:schemeClr val="tx1"/>
                </a:solidFill>
                <a:latin typeface="Arial" charset="0"/>
              </a:defRPr>
            </a:lvl2pPr>
            <a:lvl3pPr marL="1235075" indent="-184150">
              <a:spcBef>
                <a:spcPct val="25000"/>
              </a:spcBef>
              <a:buClr>
                <a:schemeClr val="folHlink"/>
              </a:buClr>
              <a:buFont typeface="Times"/>
              <a:buChar char="•"/>
              <a:defRPr sz="1600">
                <a:solidFill>
                  <a:schemeClr val="tx1"/>
                </a:solidFill>
                <a:latin typeface="Arial" charset="0"/>
              </a:defRPr>
            </a:lvl3pPr>
            <a:lvl4pPr marL="1698625" indent="-228600">
              <a:spcBef>
                <a:spcPct val="25000"/>
              </a:spcBef>
              <a:buClr>
                <a:schemeClr val="folHlink"/>
              </a:buClr>
              <a:buFont typeface="Times"/>
              <a:buChar char="•"/>
              <a:defRPr sz="1600">
                <a:solidFill>
                  <a:schemeClr val="tx1"/>
                </a:solidFill>
                <a:latin typeface="Arial" charset="0"/>
              </a:defRPr>
            </a:lvl4pPr>
            <a:lvl5pPr marL="2117725" indent="-228600">
              <a:spcBef>
                <a:spcPct val="25000"/>
              </a:spcBef>
              <a:buClr>
                <a:schemeClr val="folHlink"/>
              </a:buClr>
              <a:buSzPct val="50000"/>
              <a:buFont typeface="Times"/>
              <a:buChar char="•"/>
              <a:defRPr sz="16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pPr>
              <a:buFont typeface="Times"/>
              <a:buNone/>
            </a:pPr>
            <a:r>
              <a:rPr lang="en-GB" altLang="en-US" sz="1400">
                <a:solidFill>
                  <a:srgbClr val="FFFF00"/>
                </a:solidFill>
              </a:rPr>
              <a:t>Asymmetric folds verging to the right; Z-asymmetry in this viewing direction</a:t>
            </a:r>
          </a:p>
        </p:txBody>
      </p:sp>
      <p:sp>
        <p:nvSpPr>
          <p:cNvPr id="25606" name="Rectangle 9"/>
          <p:cNvSpPr>
            <a:spLocks noChangeArrowheads="1"/>
          </p:cNvSpPr>
          <p:nvPr/>
        </p:nvSpPr>
        <p:spPr bwMode="auto">
          <a:xfrm>
            <a:off x="896938" y="5599113"/>
            <a:ext cx="7299325" cy="80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100000"/>
              </a:spcBef>
              <a:buClr>
                <a:schemeClr val="folHlink"/>
              </a:buClr>
              <a:buSzPct val="100000"/>
              <a:buFont typeface="Times"/>
              <a:buChar char="•"/>
              <a:defRPr sz="2000">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a:solidFill>
                  <a:schemeClr val="tx1"/>
                </a:solidFill>
                <a:latin typeface="Arial" charset="0"/>
              </a:defRPr>
            </a:lvl2pPr>
            <a:lvl3pPr marL="1235075" indent="-184150">
              <a:spcBef>
                <a:spcPct val="25000"/>
              </a:spcBef>
              <a:buClr>
                <a:schemeClr val="folHlink"/>
              </a:buClr>
              <a:buFont typeface="Times"/>
              <a:buChar char="•"/>
              <a:defRPr sz="1600">
                <a:solidFill>
                  <a:schemeClr val="tx1"/>
                </a:solidFill>
                <a:latin typeface="Arial" charset="0"/>
              </a:defRPr>
            </a:lvl3pPr>
            <a:lvl4pPr marL="1698625" indent="-228600">
              <a:spcBef>
                <a:spcPct val="25000"/>
              </a:spcBef>
              <a:buClr>
                <a:schemeClr val="folHlink"/>
              </a:buClr>
              <a:buFont typeface="Times"/>
              <a:buChar char="•"/>
              <a:defRPr sz="1600">
                <a:solidFill>
                  <a:schemeClr val="tx1"/>
                </a:solidFill>
                <a:latin typeface="Arial" charset="0"/>
              </a:defRPr>
            </a:lvl4pPr>
            <a:lvl5pPr marL="2117725" indent="-228600">
              <a:spcBef>
                <a:spcPct val="25000"/>
              </a:spcBef>
              <a:buClr>
                <a:schemeClr val="folHlink"/>
              </a:buClr>
              <a:buSzPct val="50000"/>
              <a:buFont typeface="Times"/>
              <a:buChar char="•"/>
              <a:defRPr sz="16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pPr>
              <a:buFont typeface="Times"/>
              <a:buNone/>
            </a:pPr>
            <a:r>
              <a:rPr lang="en-GB" altLang="en-US" sz="1700"/>
              <a:t>NB. Direction of vergence is normally indicated as a compass direction rather than as left or right</a:t>
            </a:r>
          </a:p>
        </p:txBody>
      </p:sp>
      <p:pic>
        <p:nvPicPr>
          <p:cNvPr id="25607" name="Picture 14" descr="10b1-NDevon"/>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840288" y="1341438"/>
            <a:ext cx="4040187" cy="28448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noFill/>
        </p:spPr>
        <p:txBody>
          <a:bodyPr/>
          <a:lstStyle/>
          <a:p>
            <a:r>
              <a:rPr lang="en-GB" altLang="en-US">
                <a:effectLst/>
              </a:rPr>
              <a:t>Fold symmetry  4</a:t>
            </a:r>
          </a:p>
        </p:txBody>
      </p:sp>
      <p:sp>
        <p:nvSpPr>
          <p:cNvPr id="27651" name="Rectangle 3"/>
          <p:cNvSpPr>
            <a:spLocks noGrp="1" noChangeArrowheads="1"/>
          </p:cNvSpPr>
          <p:nvPr>
            <p:ph type="body" sz="half" idx="1"/>
          </p:nvPr>
        </p:nvSpPr>
        <p:spPr>
          <a:xfrm>
            <a:off x="179388" y="917575"/>
            <a:ext cx="5189537" cy="3297238"/>
          </a:xfrm>
          <a:noFill/>
        </p:spPr>
        <p:txBody>
          <a:bodyPr/>
          <a:lstStyle/>
          <a:p>
            <a:pPr marL="177800" indent="-177800"/>
            <a:r>
              <a:rPr lang="en-GB" altLang="en-US" sz="1700" dirty="0">
                <a:effectLst/>
              </a:rPr>
              <a:t>Asymmetric folds which </a:t>
            </a:r>
            <a:r>
              <a:rPr lang="en-GB" altLang="en-US" sz="1700" dirty="0">
                <a:solidFill>
                  <a:srgbClr val="FF66CC"/>
                </a:solidFill>
                <a:effectLst/>
              </a:rPr>
              <a:t>violate only one of the conditions for symmetry</a:t>
            </a:r>
            <a:r>
              <a:rPr lang="en-GB" altLang="en-US" sz="1700" dirty="0">
                <a:effectLst/>
              </a:rPr>
              <a:t> arise when the limbs are of different thickness</a:t>
            </a:r>
          </a:p>
          <a:p>
            <a:pPr marL="177800" indent="-177800">
              <a:spcBef>
                <a:spcPct val="75000"/>
              </a:spcBef>
            </a:pPr>
            <a:r>
              <a:rPr lang="en-GB" altLang="en-US" sz="1700" dirty="0">
                <a:effectLst/>
              </a:rPr>
              <a:t>In such cases, the axial plane </a:t>
            </a:r>
            <a:r>
              <a:rPr lang="en-GB" altLang="en-US" sz="1700" dirty="0">
                <a:solidFill>
                  <a:srgbClr val="FF66CC"/>
                </a:solidFill>
                <a:effectLst/>
              </a:rPr>
              <a:t>does not bisect</a:t>
            </a:r>
            <a:r>
              <a:rPr lang="en-GB" altLang="en-US" sz="1700" dirty="0">
                <a:effectLst/>
              </a:rPr>
              <a:t> the angle between the limbs (as seen in the profile plane), and it becomes convenient to refer to the </a:t>
            </a:r>
            <a:r>
              <a:rPr lang="en-GB" altLang="en-US" sz="1700" dirty="0">
                <a:solidFill>
                  <a:srgbClr val="FF6600"/>
                </a:solidFill>
                <a:effectLst/>
              </a:rPr>
              <a:t>bisector</a:t>
            </a:r>
            <a:r>
              <a:rPr lang="en-GB" altLang="en-US" sz="1700" dirty="0">
                <a:effectLst/>
              </a:rPr>
              <a:t>, that is, the plane that does bisect this angle and which also contains the hinge line of the folded surface</a:t>
            </a:r>
          </a:p>
        </p:txBody>
      </p:sp>
      <p:pic>
        <p:nvPicPr>
          <p:cNvPr id="27652" name="Picture 4"/>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31825" y="4435475"/>
            <a:ext cx="7959725" cy="2193925"/>
          </a:xfrm>
          <a:noFill/>
          <a:ln w="38100" cap="flat">
            <a:solidFill>
              <a:schemeClr val="bg2"/>
            </a:solidFill>
            <a:miter lim="800000"/>
            <a:headEnd/>
            <a:tailEnd/>
          </a:ln>
        </p:spPr>
      </p:pic>
      <p:pic>
        <p:nvPicPr>
          <p:cNvPr id="27653" name="Picture 12"/>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5602288" y="1044575"/>
            <a:ext cx="3241675" cy="2952750"/>
          </a:xfrm>
          <a:noFill/>
          <a:ln w="38100" cap="flat">
            <a:solidFill>
              <a:schemeClr val="bg2"/>
            </a:solidFill>
            <a:miter lim="800000"/>
            <a:headEnd/>
            <a:tailEnd/>
          </a:ln>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noFill/>
        </p:spPr>
        <p:txBody>
          <a:bodyPr/>
          <a:lstStyle/>
          <a:p>
            <a:r>
              <a:rPr lang="en-GB" altLang="en-US">
                <a:effectLst/>
              </a:rPr>
              <a:t>Fold symmetry  5</a:t>
            </a:r>
          </a:p>
        </p:txBody>
      </p:sp>
      <p:sp>
        <p:nvSpPr>
          <p:cNvPr id="29699" name="Rectangle 3"/>
          <p:cNvSpPr>
            <a:spLocks noGrp="1" noChangeArrowheads="1"/>
          </p:cNvSpPr>
          <p:nvPr>
            <p:ph type="body" sz="half" idx="1"/>
          </p:nvPr>
        </p:nvSpPr>
        <p:spPr>
          <a:xfrm>
            <a:off x="4244975" y="5664200"/>
            <a:ext cx="4408488" cy="447675"/>
          </a:xfrm>
          <a:noFill/>
        </p:spPr>
        <p:txBody>
          <a:bodyPr/>
          <a:lstStyle/>
          <a:p>
            <a:pPr>
              <a:buFont typeface="Times"/>
              <a:buNone/>
            </a:pPr>
            <a:r>
              <a:rPr lang="en-GB" altLang="en-US" sz="1400">
                <a:solidFill>
                  <a:srgbClr val="FFFF00"/>
                </a:solidFill>
                <a:effectLst/>
              </a:rPr>
              <a:t>Asymmetric folds with very different limb thicknesses</a:t>
            </a:r>
          </a:p>
        </p:txBody>
      </p:sp>
      <p:pic>
        <p:nvPicPr>
          <p:cNvPr id="29700" name="Picture 6" descr="12a-Uisken"/>
          <p:cNvPicPr>
            <a:picLocks noGrp="1" noChangeAspect="1" noChangeArrowheads="1"/>
          </p:cNvPicPr>
          <p:nvPr>
            <p:ph sz="half" idx="2"/>
          </p:nvPr>
        </p:nvPicPr>
        <p:blipFill>
          <a:blip r:embed="rId3">
            <a:lum bright="-4000"/>
            <a:extLst>
              <a:ext uri="{28A0092B-C50C-407E-A947-70E740481C1C}">
                <a14:useLocalDpi xmlns:a14="http://schemas.microsoft.com/office/drawing/2010/main" val="0"/>
              </a:ext>
            </a:extLst>
          </a:blip>
          <a:srcRect/>
          <a:stretch>
            <a:fillRect/>
          </a:stretch>
        </p:blipFill>
        <p:spPr>
          <a:xfrm>
            <a:off x="288925" y="1085850"/>
            <a:ext cx="3578225" cy="51689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9701" name="Picture 8" descr="12b"/>
          <p:cNvPicPr>
            <a:picLocks noChangeAspect="1" noChangeArrowheads="1"/>
          </p:cNvPicPr>
          <p:nvPr/>
        </p:nvPicPr>
        <p:blipFill>
          <a:blip r:embed="rId4">
            <a:lum bright="-6000"/>
            <a:extLst>
              <a:ext uri="{28A0092B-C50C-407E-A947-70E740481C1C}">
                <a14:useLocalDpi xmlns:a14="http://schemas.microsoft.com/office/drawing/2010/main" val="0"/>
              </a:ext>
            </a:extLst>
          </a:blip>
          <a:srcRect/>
          <a:stretch>
            <a:fillRect/>
          </a:stretch>
        </p:blipFill>
        <p:spPr bwMode="auto">
          <a:xfrm>
            <a:off x="4089400" y="1096963"/>
            <a:ext cx="4784725" cy="424338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noFill/>
        </p:spPr>
        <p:txBody>
          <a:bodyPr/>
          <a:lstStyle/>
          <a:p>
            <a:r>
              <a:rPr lang="en-GB" altLang="en-US">
                <a:effectLst/>
              </a:rPr>
              <a:t>Fold scale</a:t>
            </a:r>
          </a:p>
        </p:txBody>
      </p:sp>
      <p:sp>
        <p:nvSpPr>
          <p:cNvPr id="31747" name="Rectangle 3"/>
          <p:cNvSpPr>
            <a:spLocks noGrp="1" noChangeArrowheads="1"/>
          </p:cNvSpPr>
          <p:nvPr>
            <p:ph type="body" sz="half" idx="1"/>
          </p:nvPr>
        </p:nvSpPr>
        <p:spPr>
          <a:xfrm>
            <a:off x="227013" y="815975"/>
            <a:ext cx="8631237" cy="1431925"/>
          </a:xfrm>
          <a:noFill/>
        </p:spPr>
        <p:txBody>
          <a:bodyPr/>
          <a:lstStyle/>
          <a:p>
            <a:pPr marL="177800" indent="-177800"/>
            <a:r>
              <a:rPr lang="en-GB" altLang="en-US" sz="1700" dirty="0">
                <a:effectLst/>
              </a:rPr>
              <a:t>The </a:t>
            </a:r>
            <a:r>
              <a:rPr lang="en-GB" altLang="en-US" sz="1700" dirty="0">
                <a:solidFill>
                  <a:srgbClr val="FF66CC"/>
                </a:solidFill>
                <a:effectLst/>
              </a:rPr>
              <a:t>scale of folds</a:t>
            </a:r>
            <a:r>
              <a:rPr lang="en-GB" altLang="en-US" sz="1700" dirty="0">
                <a:effectLst/>
              </a:rPr>
              <a:t> is characterized by their </a:t>
            </a:r>
            <a:r>
              <a:rPr lang="en-GB" altLang="en-US" sz="1700" dirty="0">
                <a:solidFill>
                  <a:srgbClr val="FF6600"/>
                </a:solidFill>
                <a:effectLst/>
              </a:rPr>
              <a:t>amplitude</a:t>
            </a:r>
            <a:r>
              <a:rPr lang="en-GB" altLang="en-US" sz="1700" dirty="0">
                <a:effectLst/>
              </a:rPr>
              <a:t> </a:t>
            </a:r>
            <a:r>
              <a:rPr lang="en-GB" altLang="en-US" sz="1700" spc="150" dirty="0">
                <a:effectLst/>
              </a:rPr>
              <a:t>(</a:t>
            </a:r>
            <a:r>
              <a:rPr lang="en-GB" altLang="en-US" sz="1700" i="1" spc="150" dirty="0">
                <a:solidFill>
                  <a:srgbClr val="FFFF00"/>
                </a:solidFill>
                <a:effectLst/>
              </a:rPr>
              <a:t>A</a:t>
            </a:r>
            <a:r>
              <a:rPr lang="en-GB" altLang="en-US" sz="1700" dirty="0">
                <a:effectLst/>
              </a:rPr>
              <a:t>) and </a:t>
            </a:r>
            <a:r>
              <a:rPr lang="en-GB" altLang="en-US" sz="1700" dirty="0">
                <a:solidFill>
                  <a:srgbClr val="FF6600"/>
                </a:solidFill>
                <a:effectLst/>
              </a:rPr>
              <a:t>wavelength</a:t>
            </a:r>
            <a:r>
              <a:rPr lang="en-GB" altLang="en-US" sz="1700" dirty="0">
                <a:effectLst/>
              </a:rPr>
              <a:t> </a:t>
            </a:r>
            <a:r>
              <a:rPr lang="en-GB" altLang="en-US" sz="1700" spc="150" dirty="0">
                <a:effectLst/>
              </a:rPr>
              <a:t>(</a:t>
            </a:r>
            <a:r>
              <a:rPr lang="el-GR" altLang="en-US" sz="1700" i="1" spc="300" dirty="0">
                <a:solidFill>
                  <a:srgbClr val="FFFF00"/>
                </a:solidFill>
                <a:effectLst/>
                <a:latin typeface="Cambria Math" panose="02040503050406030204" pitchFamily="18" charset="0"/>
                <a:ea typeface="Cambria Math" panose="02040503050406030204" pitchFamily="18" charset="0"/>
              </a:rPr>
              <a:t>λ</a:t>
            </a:r>
            <a:r>
              <a:rPr lang="en-GB" altLang="en-US" sz="1700" dirty="0">
                <a:effectLst/>
              </a:rPr>
              <a:t>) as defined with reference to the enveloping surfaces and median surface. (If the median surface is not midway between the enveloping surfaces, then two values of amplitude are required)</a:t>
            </a:r>
          </a:p>
        </p:txBody>
      </p:sp>
      <p:pic>
        <p:nvPicPr>
          <p:cNvPr id="31748"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47663" y="2417763"/>
            <a:ext cx="8539162" cy="1825625"/>
          </a:xfrm>
          <a:noFill/>
          <a:ln w="38100" cap="flat">
            <a:solidFill>
              <a:schemeClr val="bg2"/>
            </a:solidFill>
            <a:miter lim="800000"/>
            <a:headEnd/>
            <a:tailEnd/>
          </a:ln>
        </p:spPr>
      </p:pic>
      <p:sp>
        <p:nvSpPr>
          <p:cNvPr id="31749" name="Rectangle 6"/>
          <p:cNvSpPr>
            <a:spLocks noChangeArrowheads="1"/>
          </p:cNvSpPr>
          <p:nvPr/>
        </p:nvSpPr>
        <p:spPr bwMode="auto">
          <a:xfrm>
            <a:off x="255588" y="4573588"/>
            <a:ext cx="8631237" cy="196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indent="-174625">
              <a:lnSpc>
                <a:spcPct val="120000"/>
              </a:lnSpc>
              <a:spcBef>
                <a:spcPct val="100000"/>
              </a:spcBef>
              <a:buClr>
                <a:schemeClr val="folHlink"/>
              </a:buClr>
              <a:buSzPct val="100000"/>
              <a:buFont typeface="Times"/>
              <a:buChar char="•"/>
              <a:defRPr sz="2000">
                <a:solidFill>
                  <a:schemeClr val="tx1"/>
                </a:solidFill>
                <a:latin typeface="Arial" charset="0"/>
              </a:defRPr>
            </a:lvl1pPr>
            <a:lvl2pPr marL="622300" indent="-268288">
              <a:lnSpc>
                <a:spcPct val="120000"/>
              </a:lnSpc>
              <a:spcBef>
                <a:spcPct val="50000"/>
              </a:spcBef>
              <a:buClr>
                <a:schemeClr val="folHlink"/>
              </a:buClr>
              <a:buSzPct val="100000"/>
              <a:buFont typeface="Times"/>
              <a:buChar char="•"/>
              <a:defRPr>
                <a:solidFill>
                  <a:schemeClr val="tx1"/>
                </a:solidFill>
                <a:latin typeface="Arial" charset="0"/>
              </a:defRPr>
            </a:lvl2pPr>
            <a:lvl3pPr marL="1341438" indent="-266700">
              <a:spcBef>
                <a:spcPct val="25000"/>
              </a:spcBef>
              <a:buClr>
                <a:schemeClr val="folHlink"/>
              </a:buClr>
              <a:buFont typeface="Times"/>
              <a:buChar char="•"/>
              <a:defRPr sz="1600">
                <a:solidFill>
                  <a:schemeClr val="tx1"/>
                </a:solidFill>
                <a:latin typeface="Arial" charset="0"/>
              </a:defRPr>
            </a:lvl3pPr>
            <a:lvl4pPr marL="1787525" indent="-266700">
              <a:spcBef>
                <a:spcPct val="25000"/>
              </a:spcBef>
              <a:buClr>
                <a:schemeClr val="folHlink"/>
              </a:buClr>
              <a:buFont typeface="Times"/>
              <a:buChar char="•"/>
              <a:defRPr sz="1600">
                <a:solidFill>
                  <a:schemeClr val="tx1"/>
                </a:solidFill>
                <a:latin typeface="Arial" charset="0"/>
              </a:defRPr>
            </a:lvl4pPr>
            <a:lvl5pPr marL="2233613" indent="-266700">
              <a:spcBef>
                <a:spcPct val="25000"/>
              </a:spcBef>
              <a:buClr>
                <a:schemeClr val="folHlink"/>
              </a:buClr>
              <a:buSzPct val="50000"/>
              <a:buFont typeface="Times"/>
              <a:buChar char="•"/>
              <a:defRPr sz="1600">
                <a:solidFill>
                  <a:schemeClr val="tx1"/>
                </a:solidFill>
                <a:latin typeface="Arial" charset="0"/>
              </a:defRPr>
            </a:lvl5pPr>
            <a:lvl6pPr marL="2690813" indent="-2667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148013" indent="-2667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605213" indent="-2667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4062413" indent="-2667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r>
              <a:rPr lang="en-GB" altLang="en-US" sz="1700" dirty="0"/>
              <a:t>Two other length scales are important when it comes to considering how folds form:</a:t>
            </a:r>
          </a:p>
          <a:p>
            <a:pPr marL="450000" lvl="1">
              <a:buClr>
                <a:schemeClr val="tx1"/>
              </a:buClr>
              <a:buFont typeface="Times"/>
              <a:buAutoNum type="arabicPeriod"/>
            </a:pPr>
            <a:r>
              <a:rPr lang="en-GB" altLang="en-US" sz="1700" dirty="0">
                <a:solidFill>
                  <a:srgbClr val="FF6600"/>
                </a:solidFill>
              </a:rPr>
              <a:t>arc length</a:t>
            </a:r>
            <a:r>
              <a:rPr lang="en-GB" altLang="en-US" sz="1700" dirty="0"/>
              <a:t>, defined as the distance </a:t>
            </a:r>
            <a:r>
              <a:rPr lang="en-GB" altLang="en-US" sz="1700" dirty="0">
                <a:solidFill>
                  <a:srgbClr val="FF66CC"/>
                </a:solidFill>
              </a:rPr>
              <a:t>measured along the folded surface</a:t>
            </a:r>
            <a:r>
              <a:rPr lang="en-GB" altLang="en-US" sz="1700" dirty="0"/>
              <a:t> between two inflection points or (as illustrated above) twice that distance, and</a:t>
            </a:r>
          </a:p>
          <a:p>
            <a:pPr marL="450000" lvl="1">
              <a:buClr>
                <a:schemeClr val="tx1"/>
              </a:buClr>
              <a:buFont typeface="Times"/>
              <a:buAutoNum type="arabicPeriod"/>
            </a:pPr>
            <a:r>
              <a:rPr lang="en-GB" altLang="en-US" sz="1700" dirty="0">
                <a:solidFill>
                  <a:srgbClr val="FF6600"/>
                </a:solidFill>
              </a:rPr>
              <a:t>layer thickness</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2" name="Rectangle 6">
            <a:extLst>
              <a:ext uri="{FF2B5EF4-FFF2-40B4-BE49-F238E27FC236}">
                <a16:creationId xmlns:a16="http://schemas.microsoft.com/office/drawing/2014/main" id="{7B44B3D0-D094-45DA-8809-583E8E1273F6}"/>
              </a:ext>
            </a:extLst>
          </p:cNvPr>
          <p:cNvSpPr>
            <a:spLocks noChangeArrowheads="1"/>
          </p:cNvSpPr>
          <p:nvPr/>
        </p:nvSpPr>
        <p:spPr bwMode="auto">
          <a:xfrm>
            <a:off x="1411288" y="1755775"/>
            <a:ext cx="6399212" cy="482123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33795" name="Rectangle 2"/>
          <p:cNvSpPr>
            <a:spLocks noGrp="1" noChangeArrowheads="1"/>
          </p:cNvSpPr>
          <p:nvPr>
            <p:ph type="title"/>
          </p:nvPr>
        </p:nvSpPr>
        <p:spPr>
          <a:noFill/>
        </p:spPr>
        <p:txBody>
          <a:bodyPr/>
          <a:lstStyle/>
          <a:p>
            <a:r>
              <a:rPr lang="en-GB" altLang="en-US">
                <a:effectLst/>
              </a:rPr>
              <a:t>Fold attitude  1</a:t>
            </a:r>
          </a:p>
        </p:txBody>
      </p:sp>
      <p:sp>
        <p:nvSpPr>
          <p:cNvPr id="33796" name="Rectangle 3"/>
          <p:cNvSpPr>
            <a:spLocks noGrp="1" noChangeArrowheads="1"/>
          </p:cNvSpPr>
          <p:nvPr>
            <p:ph type="body" sz="half" idx="1"/>
          </p:nvPr>
        </p:nvSpPr>
        <p:spPr>
          <a:xfrm>
            <a:off x="255588" y="812800"/>
            <a:ext cx="8658225" cy="782638"/>
          </a:xfrm>
          <a:noFill/>
        </p:spPr>
        <p:txBody>
          <a:bodyPr/>
          <a:lstStyle/>
          <a:p>
            <a:pPr marL="177800" indent="-177800"/>
            <a:r>
              <a:rPr lang="en-GB" altLang="en-US" sz="1700">
                <a:effectLst/>
              </a:rPr>
              <a:t>The attitude of folds is described with reference to the </a:t>
            </a:r>
            <a:r>
              <a:rPr lang="en-GB" altLang="en-US" sz="1700">
                <a:solidFill>
                  <a:srgbClr val="FF6600"/>
                </a:solidFill>
                <a:effectLst/>
              </a:rPr>
              <a:t>plunge of the fold axis</a:t>
            </a:r>
            <a:r>
              <a:rPr lang="en-GB" altLang="en-US" sz="1700">
                <a:effectLst/>
              </a:rPr>
              <a:t> and the </a:t>
            </a:r>
            <a:r>
              <a:rPr lang="en-GB" altLang="en-US" sz="1700">
                <a:solidFill>
                  <a:srgbClr val="FF6600"/>
                </a:solidFill>
                <a:effectLst/>
              </a:rPr>
              <a:t>dip of the axial plane</a:t>
            </a:r>
            <a:r>
              <a:rPr lang="en-GB" altLang="en-US" sz="1700">
                <a:effectLst/>
              </a:rPr>
              <a:t>. Various adjectives are often applied</a:t>
            </a:r>
          </a:p>
        </p:txBody>
      </p:sp>
      <p:pic>
        <p:nvPicPr>
          <p:cNvPr id="33797" name="Picture 4" descr="1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574800" y="1876425"/>
            <a:ext cx="6064250" cy="46275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p:spPr>
        <p:txBody>
          <a:bodyPr/>
          <a:lstStyle/>
          <a:p>
            <a:r>
              <a:rPr lang="en-GB" altLang="en-US">
                <a:effectLst/>
              </a:rPr>
              <a:t>Fold attitude  2</a:t>
            </a:r>
          </a:p>
        </p:txBody>
      </p:sp>
      <p:sp>
        <p:nvSpPr>
          <p:cNvPr id="234501" name="Text Box 5">
            <a:extLst>
              <a:ext uri="{FF2B5EF4-FFF2-40B4-BE49-F238E27FC236}">
                <a16:creationId xmlns:a16="http://schemas.microsoft.com/office/drawing/2014/main" id="{478A8FC8-69C0-482E-A8B6-66AC927C079B}"/>
              </a:ext>
            </a:extLst>
          </p:cNvPr>
          <p:cNvSpPr txBox="1">
            <a:spLocks noChangeArrowheads="1"/>
          </p:cNvSpPr>
          <p:nvPr/>
        </p:nvSpPr>
        <p:spPr bwMode="auto">
          <a:xfrm>
            <a:off x="4835525" y="6388100"/>
            <a:ext cx="34528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defRPr/>
            </a:pPr>
            <a:r>
              <a:rPr lang="en-GB" altLang="en-US" sz="1400" dirty="0">
                <a:solidFill>
                  <a:srgbClr val="FFFF00"/>
                </a:solidFill>
                <a:effectLst>
                  <a:outerShdw blurRad="38100" dist="38100" dir="2700000" algn="tl">
                    <a:srgbClr val="000000"/>
                  </a:outerShdw>
                </a:effectLst>
                <a:latin typeface="Arial" panose="020B0604020202020204" pitchFamily="34" charset="0"/>
              </a:rPr>
              <a:t>Uprigh</a:t>
            </a:r>
            <a:r>
              <a:rPr lang="en-GB" altLang="en-US" sz="1400" spc="300" dirty="0">
                <a:solidFill>
                  <a:srgbClr val="FFFF00"/>
                </a:solidFill>
                <a:effectLst>
                  <a:outerShdw blurRad="38100" dist="38100" dir="2700000" algn="tl">
                    <a:srgbClr val="000000"/>
                  </a:outerShdw>
                </a:effectLst>
                <a:latin typeface="Arial" panose="020B0604020202020204" pitchFamily="34" charset="0"/>
              </a:rPr>
              <a:t>t/</a:t>
            </a:r>
            <a:r>
              <a:rPr lang="en-GB" altLang="en-US" sz="1400" dirty="0">
                <a:solidFill>
                  <a:srgbClr val="FFFF00"/>
                </a:solidFill>
                <a:effectLst>
                  <a:outerShdw blurRad="38100" dist="38100" dir="2700000" algn="tl">
                    <a:srgbClr val="000000"/>
                  </a:outerShdw>
                </a:effectLst>
                <a:latin typeface="Arial" panose="020B0604020202020204" pitchFamily="34" charset="0"/>
              </a:rPr>
              <a:t>steeply inclined, gently plunging</a:t>
            </a:r>
          </a:p>
        </p:txBody>
      </p:sp>
      <p:sp>
        <p:nvSpPr>
          <p:cNvPr id="234502" name="Text Box 6">
            <a:extLst>
              <a:ext uri="{FF2B5EF4-FFF2-40B4-BE49-F238E27FC236}">
                <a16:creationId xmlns:a16="http://schemas.microsoft.com/office/drawing/2014/main" id="{C6B0394F-F0C3-4115-B679-4EDD198A9D77}"/>
              </a:ext>
            </a:extLst>
          </p:cNvPr>
          <p:cNvSpPr txBox="1">
            <a:spLocks noChangeArrowheads="1"/>
          </p:cNvSpPr>
          <p:nvPr/>
        </p:nvSpPr>
        <p:spPr bwMode="auto">
          <a:xfrm>
            <a:off x="5986463" y="3857625"/>
            <a:ext cx="2768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defRPr/>
            </a:pPr>
            <a:r>
              <a:rPr lang="en-GB" altLang="en-US" sz="1400">
                <a:solidFill>
                  <a:srgbClr val="FFFF00"/>
                </a:solidFill>
                <a:effectLst>
                  <a:outerShdw blurRad="38100" dist="38100" dir="2700000" algn="tl">
                    <a:srgbClr val="000000"/>
                  </a:outerShdw>
                </a:effectLst>
                <a:latin typeface="Arial" panose="020B0604020202020204" pitchFamily="34" charset="0"/>
              </a:rPr>
              <a:t>Gently inclined, gently plunging</a:t>
            </a:r>
          </a:p>
        </p:txBody>
      </p:sp>
      <p:pic>
        <p:nvPicPr>
          <p:cNvPr id="35845" name="Picture 8" descr="DSC_0364"/>
          <p:cNvPicPr>
            <a:picLocks noGrp="1" noChangeAspect="1" noChangeArrowheads="1"/>
          </p:cNvPicPr>
          <p:nvPr>
            <p:ph sz="half" idx="1"/>
          </p:nvPr>
        </p:nvPicPr>
        <p:blipFill>
          <a:blip r:embed="rId3">
            <a:lum bright="-4000"/>
            <a:extLst>
              <a:ext uri="{28A0092B-C50C-407E-A947-70E740481C1C}">
                <a14:useLocalDpi xmlns:a14="http://schemas.microsoft.com/office/drawing/2010/main" val="0"/>
              </a:ext>
            </a:extLst>
          </a:blip>
          <a:srcRect/>
          <a:stretch>
            <a:fillRect/>
          </a:stretch>
        </p:blipFill>
        <p:spPr>
          <a:xfrm>
            <a:off x="381000" y="3929063"/>
            <a:ext cx="4338638" cy="275748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5846" name="Picture 10" descr="03b-Kinlochleven"/>
          <p:cNvPicPr>
            <a:picLocks noChangeAspect="1" noChangeArrowheads="1"/>
          </p:cNvPicPr>
          <p:nvPr/>
        </p:nvPicPr>
        <p:blipFill>
          <a:blip r:embed="rId4">
            <a:lum bright="4000"/>
            <a:extLst>
              <a:ext uri="{28A0092B-C50C-407E-A947-70E740481C1C}">
                <a14:useLocalDpi xmlns:a14="http://schemas.microsoft.com/office/drawing/2010/main" val="0"/>
              </a:ext>
            </a:extLst>
          </a:blip>
          <a:srcRect/>
          <a:stretch>
            <a:fillRect/>
          </a:stretch>
        </p:blipFill>
        <p:spPr bwMode="auto">
          <a:xfrm>
            <a:off x="3022600" y="893763"/>
            <a:ext cx="5797550" cy="28225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34509" name="Text Box 13">
            <a:extLst>
              <a:ext uri="{FF2B5EF4-FFF2-40B4-BE49-F238E27FC236}">
                <a16:creationId xmlns:a16="http://schemas.microsoft.com/office/drawing/2014/main" id="{903A6D9A-49F8-48DB-AB1C-787236461A6F}"/>
              </a:ext>
            </a:extLst>
          </p:cNvPr>
          <p:cNvSpPr txBox="1">
            <a:spLocks noChangeArrowheads="1"/>
          </p:cNvSpPr>
          <p:nvPr/>
        </p:nvSpPr>
        <p:spPr bwMode="auto">
          <a:xfrm>
            <a:off x="5246688" y="5756275"/>
            <a:ext cx="10795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defRPr/>
            </a:pPr>
            <a:r>
              <a:rPr lang="en-GB" altLang="en-US" sz="1400">
                <a:solidFill>
                  <a:srgbClr val="FF0000"/>
                </a:solidFill>
                <a:effectLst>
                  <a:outerShdw blurRad="38100" dist="38100" dir="2700000" algn="tl">
                    <a:srgbClr val="000000"/>
                  </a:outerShdw>
                </a:effectLst>
                <a:latin typeface="Arial" panose="020B0604020202020204" pitchFamily="34" charset="0"/>
              </a:rPr>
              <a:t>axial plane</a:t>
            </a:r>
          </a:p>
        </p:txBody>
      </p:sp>
      <p:sp>
        <p:nvSpPr>
          <p:cNvPr id="234510" name="Text Box 14">
            <a:extLst>
              <a:ext uri="{FF2B5EF4-FFF2-40B4-BE49-F238E27FC236}">
                <a16:creationId xmlns:a16="http://schemas.microsoft.com/office/drawing/2014/main" id="{A06118D2-A6B7-4ABC-94F3-6468E143615F}"/>
              </a:ext>
            </a:extLst>
          </p:cNvPr>
          <p:cNvSpPr txBox="1">
            <a:spLocks noChangeArrowheads="1"/>
          </p:cNvSpPr>
          <p:nvPr/>
        </p:nvSpPr>
        <p:spPr bwMode="auto">
          <a:xfrm>
            <a:off x="7323138" y="5756275"/>
            <a:ext cx="8620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defRPr/>
            </a:pPr>
            <a:r>
              <a:rPr lang="en-GB" altLang="en-US" sz="1400">
                <a:solidFill>
                  <a:srgbClr val="FF0000"/>
                </a:solidFill>
                <a:effectLst>
                  <a:outerShdw blurRad="38100" dist="38100" dir="2700000" algn="tl">
                    <a:srgbClr val="000000"/>
                  </a:outerShdw>
                </a:effectLst>
                <a:latin typeface="Arial" panose="020B0604020202020204" pitchFamily="34" charset="0"/>
              </a:rPr>
              <a:t>fold axis</a:t>
            </a:r>
          </a:p>
        </p:txBody>
      </p:sp>
      <p:sp>
        <p:nvSpPr>
          <p:cNvPr id="234511" name="Line 15">
            <a:extLst>
              <a:ext uri="{FF2B5EF4-FFF2-40B4-BE49-F238E27FC236}">
                <a16:creationId xmlns:a16="http://schemas.microsoft.com/office/drawing/2014/main" id="{801FD9C0-80B4-4E36-89D6-09986031DBA1}"/>
              </a:ext>
            </a:extLst>
          </p:cNvPr>
          <p:cNvSpPr>
            <a:spLocks noChangeShapeType="1"/>
          </p:cNvSpPr>
          <p:nvPr/>
        </p:nvSpPr>
        <p:spPr bwMode="auto">
          <a:xfrm flipH="1">
            <a:off x="7554913" y="6073775"/>
            <a:ext cx="87312" cy="284163"/>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34512" name="Line 16">
            <a:extLst>
              <a:ext uri="{FF2B5EF4-FFF2-40B4-BE49-F238E27FC236}">
                <a16:creationId xmlns:a16="http://schemas.microsoft.com/office/drawing/2014/main" id="{BC49A1C5-C5FE-42DD-A70F-6BCADC3723B8}"/>
              </a:ext>
            </a:extLst>
          </p:cNvPr>
          <p:cNvSpPr>
            <a:spLocks noChangeShapeType="1"/>
          </p:cNvSpPr>
          <p:nvPr/>
        </p:nvSpPr>
        <p:spPr bwMode="auto">
          <a:xfrm>
            <a:off x="5834063" y="6096000"/>
            <a:ext cx="55562" cy="261938"/>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p:spPr>
        <p:txBody>
          <a:bodyPr/>
          <a:lstStyle/>
          <a:p>
            <a:r>
              <a:rPr lang="en-GB" altLang="en-US">
                <a:effectLst/>
              </a:rPr>
              <a:t>Fold shape  1</a:t>
            </a:r>
          </a:p>
        </p:txBody>
      </p:sp>
      <p:sp>
        <p:nvSpPr>
          <p:cNvPr id="37891" name="Rectangle 3"/>
          <p:cNvSpPr>
            <a:spLocks noGrp="1" noChangeArrowheads="1"/>
          </p:cNvSpPr>
          <p:nvPr>
            <p:ph type="body" sz="half" idx="1"/>
          </p:nvPr>
        </p:nvSpPr>
        <p:spPr>
          <a:xfrm>
            <a:off x="255588" y="917575"/>
            <a:ext cx="8747125" cy="3303588"/>
          </a:xfrm>
          <a:noFill/>
        </p:spPr>
        <p:txBody>
          <a:bodyPr/>
          <a:lstStyle/>
          <a:p>
            <a:pPr marL="177800" indent="-177800">
              <a:tabLst>
                <a:tab pos="355600" algn="l"/>
              </a:tabLst>
            </a:pPr>
            <a:r>
              <a:rPr lang="en-GB" altLang="en-US" sz="1700" dirty="0">
                <a:effectLst/>
              </a:rPr>
              <a:t>Various quantitative measures of fold shape have been defined:</a:t>
            </a:r>
          </a:p>
          <a:p>
            <a:pPr marL="450000" lvl="1" indent="-270000">
              <a:buFont typeface="Times"/>
              <a:buAutoNum type="arabicPeriod"/>
              <a:tabLst>
                <a:tab pos="355600" algn="l"/>
              </a:tabLst>
            </a:pPr>
            <a:r>
              <a:rPr lang="en-GB" altLang="en-US" sz="1700" dirty="0">
                <a:solidFill>
                  <a:srgbClr val="FF6600"/>
                </a:solidFill>
                <a:effectLst/>
              </a:rPr>
              <a:t>Fold aspect ratio</a:t>
            </a:r>
            <a:r>
              <a:rPr lang="en-GB" altLang="en-US" sz="1700" dirty="0">
                <a:effectLst/>
              </a:rPr>
              <a:t>: amplitude </a:t>
            </a:r>
            <a:r>
              <a:rPr lang="en-GB" altLang="en-US" dirty="0">
                <a:effectLst/>
              </a:rPr>
              <a:t>÷</a:t>
            </a:r>
            <a:r>
              <a:rPr lang="en-GB" altLang="en-US" sz="1700" dirty="0">
                <a:effectLst/>
              </a:rPr>
              <a:t> half wavelength</a:t>
            </a:r>
          </a:p>
          <a:p>
            <a:pPr marL="450000" lvl="1" indent="-270000">
              <a:buFont typeface="Times"/>
              <a:buAutoNum type="arabicPeriod"/>
              <a:tabLst>
                <a:tab pos="355600" algn="l"/>
              </a:tabLst>
            </a:pPr>
            <a:r>
              <a:rPr lang="en-GB" altLang="en-US" sz="1700" dirty="0">
                <a:solidFill>
                  <a:srgbClr val="FF6600"/>
                </a:solidFill>
                <a:effectLst/>
              </a:rPr>
              <a:t>Fold bluntness</a:t>
            </a:r>
            <a:r>
              <a:rPr lang="en-GB" altLang="en-US" sz="1700" dirty="0">
                <a:effectLst/>
              </a:rPr>
              <a:t>: a measure of how rounded or angular the hinge is</a:t>
            </a:r>
          </a:p>
          <a:p>
            <a:pPr marL="450000" lvl="1" indent="-270000">
              <a:buFont typeface="Times"/>
              <a:buAutoNum type="arabicPeriod"/>
              <a:tabLst>
                <a:tab pos="355600" algn="l"/>
              </a:tabLst>
            </a:pPr>
            <a:r>
              <a:rPr lang="en-GB" altLang="en-US" sz="1700" dirty="0">
                <a:solidFill>
                  <a:srgbClr val="FF6600"/>
                </a:solidFill>
                <a:effectLst/>
              </a:rPr>
              <a:t>Fold tightness</a:t>
            </a:r>
            <a:r>
              <a:rPr lang="en-GB" altLang="en-US" sz="1700" dirty="0">
                <a:effectLst/>
              </a:rPr>
              <a:t>: defined by the </a:t>
            </a:r>
            <a:r>
              <a:rPr lang="en-GB" altLang="en-US" sz="1700" dirty="0">
                <a:solidFill>
                  <a:srgbClr val="FF66CC"/>
                </a:solidFill>
                <a:effectLst/>
              </a:rPr>
              <a:t>interlimb angle</a:t>
            </a:r>
            <a:r>
              <a:rPr lang="en-GB" altLang="en-US" sz="1700" dirty="0">
                <a:effectLst/>
              </a:rPr>
              <a:t> (the minimum angle between the limbs as measured in the profile plane, that is, the angle between the lines tangent to the inflection points of the fold in that plane)</a:t>
            </a:r>
          </a:p>
          <a:p>
            <a:pPr marL="177800" indent="-177800">
              <a:spcBef>
                <a:spcPct val="75000"/>
              </a:spcBef>
              <a:tabLst>
                <a:tab pos="355600" algn="l"/>
              </a:tabLst>
            </a:pPr>
            <a:r>
              <a:rPr lang="en-GB" altLang="en-US" sz="1700" dirty="0">
                <a:effectLst/>
              </a:rPr>
              <a:t>Quantitative measures of this kind are rarely used but the features that they describe are commonly noted using adjectives such as </a:t>
            </a:r>
            <a:r>
              <a:rPr lang="en-GB" altLang="en-US" sz="1700" dirty="0">
                <a:solidFill>
                  <a:srgbClr val="FF66CC"/>
                </a:solidFill>
                <a:effectLst/>
              </a:rPr>
              <a:t>concentric</a:t>
            </a:r>
            <a:r>
              <a:rPr lang="en-GB" altLang="en-US" sz="1700" dirty="0">
                <a:effectLst/>
              </a:rPr>
              <a:t>, </a:t>
            </a:r>
            <a:r>
              <a:rPr lang="en-GB" altLang="en-US" sz="1700" dirty="0">
                <a:solidFill>
                  <a:srgbClr val="FF66CC"/>
                </a:solidFill>
                <a:effectLst/>
              </a:rPr>
              <a:t>chevron</a:t>
            </a:r>
            <a:r>
              <a:rPr lang="en-GB" altLang="en-US" sz="1700" dirty="0">
                <a:effectLst/>
              </a:rPr>
              <a:t>, </a:t>
            </a:r>
            <a:r>
              <a:rPr lang="en-GB" altLang="en-US" sz="1700" dirty="0">
                <a:solidFill>
                  <a:srgbClr val="FF66CC"/>
                </a:solidFill>
                <a:effectLst/>
              </a:rPr>
              <a:t>isoclinal</a:t>
            </a:r>
          </a:p>
        </p:txBody>
      </p:sp>
      <p:pic>
        <p:nvPicPr>
          <p:cNvPr id="37892" name="Picture 4"/>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30188" y="4408488"/>
            <a:ext cx="2784475" cy="2162175"/>
          </a:xfrm>
          <a:noFill/>
          <a:ln w="38100" cap="flat">
            <a:solidFill>
              <a:schemeClr val="bg2"/>
            </a:solidFill>
            <a:miter lim="800000"/>
            <a:headEnd/>
            <a:tailEnd/>
          </a:ln>
        </p:spPr>
      </p:pic>
      <p:pic>
        <p:nvPicPr>
          <p:cNvPr id="37893" name="Picture 6"/>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3187700" y="4413250"/>
            <a:ext cx="5767388" cy="2157413"/>
          </a:xfrm>
          <a:noFill/>
          <a:ln w="38100" cap="flat">
            <a:solidFill>
              <a:schemeClr val="bg2"/>
            </a:solidFill>
            <a:miter lim="800000"/>
            <a:headEnd/>
            <a:tailEnd/>
          </a:ln>
        </p:spPr>
      </p:pic>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noFill/>
        </p:spPr>
        <p:txBody>
          <a:bodyPr/>
          <a:lstStyle/>
          <a:p>
            <a:r>
              <a:rPr lang="en-GB" altLang="en-US">
                <a:effectLst/>
              </a:rPr>
              <a:t>Fold shape  2  (fold bluntness)</a:t>
            </a:r>
          </a:p>
        </p:txBody>
      </p:sp>
      <p:sp>
        <p:nvSpPr>
          <p:cNvPr id="39939" name="Rectangle 3"/>
          <p:cNvSpPr>
            <a:spLocks noGrp="1" noChangeArrowheads="1"/>
          </p:cNvSpPr>
          <p:nvPr>
            <p:ph type="body" sz="half" idx="1"/>
          </p:nvPr>
        </p:nvSpPr>
        <p:spPr>
          <a:xfrm>
            <a:off x="5586413" y="893763"/>
            <a:ext cx="3121025" cy="473075"/>
          </a:xfrm>
          <a:noFill/>
        </p:spPr>
        <p:txBody>
          <a:bodyPr/>
          <a:lstStyle/>
          <a:p>
            <a:pPr marL="177800" indent="-177800">
              <a:buFont typeface="Times"/>
              <a:buNone/>
            </a:pPr>
            <a:r>
              <a:rPr lang="en-GB" altLang="en-US" sz="1400">
                <a:solidFill>
                  <a:srgbClr val="FFFF00"/>
                </a:solidFill>
                <a:effectLst/>
              </a:rPr>
              <a:t>Chevron folds (very angular hinges)</a:t>
            </a:r>
          </a:p>
        </p:txBody>
      </p:sp>
      <p:pic>
        <p:nvPicPr>
          <p:cNvPr id="39940" name="Picture 10" descr="17a-Millook"/>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228600" y="879475"/>
            <a:ext cx="5003800" cy="28813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9941" name="Picture 14" descr="P211581"/>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3048000" y="3946525"/>
            <a:ext cx="5829300" cy="274796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noFill/>
        </p:spPr>
        <p:txBody>
          <a:bodyPr/>
          <a:lstStyle/>
          <a:p>
            <a:r>
              <a:rPr lang="en-GB" altLang="en-US">
                <a:effectLst/>
              </a:rPr>
              <a:t>Fold shape  3  (fold bluntness)</a:t>
            </a:r>
          </a:p>
        </p:txBody>
      </p:sp>
      <p:pic>
        <p:nvPicPr>
          <p:cNvPr id="41987" name="Picture 2" descr="GR02.jpg"/>
          <p:cNvPicPr>
            <a:picLocks noGrp="1" noChangeAspect="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410200" y="1133475"/>
            <a:ext cx="2493963" cy="12700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988" name="Rectangle 5"/>
          <p:cNvSpPr>
            <a:spLocks noChangeArrowheads="1"/>
          </p:cNvSpPr>
          <p:nvPr/>
        </p:nvSpPr>
        <p:spPr bwMode="auto">
          <a:xfrm>
            <a:off x="184150" y="3503613"/>
            <a:ext cx="2997200" cy="61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100000"/>
              </a:spcBef>
              <a:buClr>
                <a:schemeClr val="folHlink"/>
              </a:buClr>
              <a:buSzPct val="100000"/>
              <a:buFont typeface="Times"/>
              <a:buChar char="•"/>
              <a:defRPr sz="2000">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a:solidFill>
                  <a:schemeClr val="tx1"/>
                </a:solidFill>
                <a:latin typeface="Arial" charset="0"/>
              </a:defRPr>
            </a:lvl2pPr>
            <a:lvl3pPr marL="1235075" indent="-184150">
              <a:spcBef>
                <a:spcPct val="25000"/>
              </a:spcBef>
              <a:buClr>
                <a:schemeClr val="folHlink"/>
              </a:buClr>
              <a:buFont typeface="Times"/>
              <a:buChar char="•"/>
              <a:defRPr sz="1600">
                <a:solidFill>
                  <a:schemeClr val="tx1"/>
                </a:solidFill>
                <a:latin typeface="Arial" charset="0"/>
              </a:defRPr>
            </a:lvl3pPr>
            <a:lvl4pPr marL="1698625" indent="-228600">
              <a:spcBef>
                <a:spcPct val="25000"/>
              </a:spcBef>
              <a:buClr>
                <a:schemeClr val="folHlink"/>
              </a:buClr>
              <a:buFont typeface="Times"/>
              <a:buChar char="•"/>
              <a:defRPr sz="1600">
                <a:solidFill>
                  <a:schemeClr val="tx1"/>
                </a:solidFill>
                <a:latin typeface="Arial" charset="0"/>
              </a:defRPr>
            </a:lvl4pPr>
            <a:lvl5pPr marL="2117725" indent="-228600">
              <a:spcBef>
                <a:spcPct val="25000"/>
              </a:spcBef>
              <a:buClr>
                <a:schemeClr val="folHlink"/>
              </a:buClr>
              <a:buSzPct val="50000"/>
              <a:buFont typeface="Times"/>
              <a:buChar char="•"/>
              <a:defRPr sz="16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pPr>
              <a:buFont typeface="Times"/>
              <a:buNone/>
            </a:pPr>
            <a:r>
              <a:rPr lang="en-GB" altLang="en-US" sz="1400">
                <a:solidFill>
                  <a:srgbClr val="FFFF00"/>
                </a:solidFill>
              </a:rPr>
              <a:t>Rounded hinge folds (approaching concentric)</a:t>
            </a:r>
          </a:p>
        </p:txBody>
      </p:sp>
      <p:sp>
        <p:nvSpPr>
          <p:cNvPr id="41989" name="Rectangle 6"/>
          <p:cNvSpPr>
            <a:spLocks noChangeArrowheads="1"/>
          </p:cNvSpPr>
          <p:nvPr/>
        </p:nvSpPr>
        <p:spPr bwMode="auto">
          <a:xfrm>
            <a:off x="5384800" y="2486025"/>
            <a:ext cx="258286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100000"/>
              </a:spcBef>
              <a:buClr>
                <a:schemeClr val="folHlink"/>
              </a:buClr>
              <a:buSzPct val="100000"/>
              <a:buFont typeface="Times"/>
              <a:buChar char="•"/>
              <a:defRPr sz="2000">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a:solidFill>
                  <a:schemeClr val="tx1"/>
                </a:solidFill>
                <a:latin typeface="Arial" charset="0"/>
              </a:defRPr>
            </a:lvl2pPr>
            <a:lvl3pPr marL="1235075" indent="-184150">
              <a:spcBef>
                <a:spcPct val="25000"/>
              </a:spcBef>
              <a:buClr>
                <a:schemeClr val="folHlink"/>
              </a:buClr>
              <a:buFont typeface="Times"/>
              <a:buChar char="•"/>
              <a:defRPr sz="1600">
                <a:solidFill>
                  <a:schemeClr val="tx1"/>
                </a:solidFill>
                <a:latin typeface="Arial" charset="0"/>
              </a:defRPr>
            </a:lvl3pPr>
            <a:lvl4pPr marL="1698625" indent="-228600">
              <a:spcBef>
                <a:spcPct val="25000"/>
              </a:spcBef>
              <a:buClr>
                <a:schemeClr val="folHlink"/>
              </a:buClr>
              <a:buFont typeface="Times"/>
              <a:buChar char="•"/>
              <a:defRPr sz="1600">
                <a:solidFill>
                  <a:schemeClr val="tx1"/>
                </a:solidFill>
                <a:latin typeface="Arial" charset="0"/>
              </a:defRPr>
            </a:lvl4pPr>
            <a:lvl5pPr marL="2117725" indent="-228600">
              <a:spcBef>
                <a:spcPct val="25000"/>
              </a:spcBef>
              <a:buClr>
                <a:schemeClr val="folHlink"/>
              </a:buClr>
              <a:buSzPct val="50000"/>
              <a:buFont typeface="Times"/>
              <a:buChar char="•"/>
              <a:defRPr sz="16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pPr>
              <a:buFont typeface="Times"/>
              <a:buNone/>
            </a:pPr>
            <a:r>
              <a:rPr lang="en-GB" altLang="en-US" sz="1400">
                <a:solidFill>
                  <a:srgbClr val="FFFF00"/>
                </a:solidFill>
              </a:rPr>
              <a:t>Concentric folds (hinge</a:t>
            </a:r>
            <a:r>
              <a:rPr lang="en-GB" altLang="en-US" sz="800">
                <a:solidFill>
                  <a:srgbClr val="FFFF00"/>
                </a:solidFill>
              </a:rPr>
              <a:t> </a:t>
            </a:r>
            <a:r>
              <a:rPr lang="en-GB" altLang="en-US" sz="1400">
                <a:solidFill>
                  <a:srgbClr val="FFFF00"/>
                </a:solidFill>
              </a:rPr>
              <a:t>/</a:t>
            </a:r>
            <a:r>
              <a:rPr lang="en-GB" altLang="en-US" sz="800">
                <a:solidFill>
                  <a:srgbClr val="FFFF00"/>
                </a:solidFill>
              </a:rPr>
              <a:t> </a:t>
            </a:r>
            <a:r>
              <a:rPr lang="en-GB" altLang="en-US" sz="1400">
                <a:solidFill>
                  <a:srgbClr val="FFFF00"/>
                </a:solidFill>
              </a:rPr>
              <a:t>limbs are arcs of a circle)</a:t>
            </a:r>
          </a:p>
        </p:txBody>
      </p:sp>
      <p:pic>
        <p:nvPicPr>
          <p:cNvPr id="41990" name="Picture 8" descr="17b-Kinlochleven"/>
          <p:cNvPicPr>
            <a:picLocks noChangeAspect="1" noChangeArrowheads="1"/>
          </p:cNvPicPr>
          <p:nvPr/>
        </p:nvPicPr>
        <p:blipFill>
          <a:blip r:embed="rId4">
            <a:extLst>
              <a:ext uri="{28A0092B-C50C-407E-A947-70E740481C1C}">
                <a14:useLocalDpi xmlns:a14="http://schemas.microsoft.com/office/drawing/2010/main" val="0"/>
              </a:ext>
            </a:extLst>
          </a:blip>
          <a:srcRect t="3627" b="2379"/>
          <a:stretch>
            <a:fillRect/>
          </a:stretch>
        </p:blipFill>
        <p:spPr bwMode="auto">
          <a:xfrm>
            <a:off x="196850" y="901700"/>
            <a:ext cx="4032250" cy="250983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1991" name="Picture 11" descr="Kakadu1"/>
          <p:cNvPicPr>
            <a:picLocks noChangeAspect="1" noChangeArrowheads="1"/>
          </p:cNvPicPr>
          <p:nvPr/>
        </p:nvPicPr>
        <p:blipFill>
          <a:blip r:embed="rId5">
            <a:lum bright="-4000"/>
            <a:extLst>
              <a:ext uri="{28A0092B-C50C-407E-A947-70E740481C1C}">
                <a14:useLocalDpi xmlns:a14="http://schemas.microsoft.com/office/drawing/2010/main" val="0"/>
              </a:ext>
            </a:extLst>
          </a:blip>
          <a:srcRect/>
          <a:stretch>
            <a:fillRect/>
          </a:stretch>
        </p:blipFill>
        <p:spPr bwMode="auto">
          <a:xfrm>
            <a:off x="3770313" y="3586163"/>
            <a:ext cx="5102225" cy="3059112"/>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1992" name="Rectangle 13"/>
          <p:cNvSpPr>
            <a:spLocks noChangeArrowheads="1"/>
          </p:cNvSpPr>
          <p:nvPr/>
        </p:nvSpPr>
        <p:spPr bwMode="auto">
          <a:xfrm>
            <a:off x="687388" y="5591175"/>
            <a:ext cx="2997200" cy="113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100000"/>
              </a:spcBef>
              <a:buClr>
                <a:schemeClr val="folHlink"/>
              </a:buClr>
              <a:buSzPct val="100000"/>
              <a:buFont typeface="Times"/>
              <a:buChar char="•"/>
              <a:defRPr sz="2000">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a:solidFill>
                  <a:schemeClr val="tx1"/>
                </a:solidFill>
                <a:latin typeface="Arial" charset="0"/>
              </a:defRPr>
            </a:lvl2pPr>
            <a:lvl3pPr marL="1235075" indent="-184150">
              <a:spcBef>
                <a:spcPct val="25000"/>
              </a:spcBef>
              <a:buClr>
                <a:schemeClr val="folHlink"/>
              </a:buClr>
              <a:buFont typeface="Times"/>
              <a:buChar char="•"/>
              <a:defRPr sz="1600">
                <a:solidFill>
                  <a:schemeClr val="tx1"/>
                </a:solidFill>
                <a:latin typeface="Arial" charset="0"/>
              </a:defRPr>
            </a:lvl3pPr>
            <a:lvl4pPr marL="1698625" indent="-228600">
              <a:spcBef>
                <a:spcPct val="25000"/>
              </a:spcBef>
              <a:buClr>
                <a:schemeClr val="folHlink"/>
              </a:buClr>
              <a:buFont typeface="Times"/>
              <a:buChar char="•"/>
              <a:defRPr sz="1600">
                <a:solidFill>
                  <a:schemeClr val="tx1"/>
                </a:solidFill>
                <a:latin typeface="Arial" charset="0"/>
              </a:defRPr>
            </a:lvl4pPr>
            <a:lvl5pPr marL="2117725" indent="-228600">
              <a:spcBef>
                <a:spcPct val="25000"/>
              </a:spcBef>
              <a:buClr>
                <a:schemeClr val="folHlink"/>
              </a:buClr>
              <a:buSzPct val="50000"/>
              <a:buFont typeface="Times"/>
              <a:buChar char="•"/>
              <a:defRPr sz="16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pPr>
              <a:buFont typeface="Times"/>
              <a:buNone/>
            </a:pPr>
            <a:r>
              <a:rPr lang="en-GB" altLang="en-US" sz="1400">
                <a:solidFill>
                  <a:srgbClr val="FFFF00"/>
                </a:solidFill>
              </a:rPr>
              <a:t>Note that within these folds, some layers have chevron fold shape (top) while others are much more rounded (bottom on the road-side)</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p:spPr>
        <p:txBody>
          <a:bodyPr/>
          <a:lstStyle/>
          <a:p>
            <a:r>
              <a:rPr lang="en-GB" altLang="en-US" dirty="0">
                <a:effectLst/>
              </a:rPr>
              <a:t>Fold classification by layer thickness variations  1</a:t>
            </a:r>
          </a:p>
        </p:txBody>
      </p:sp>
      <p:sp>
        <p:nvSpPr>
          <p:cNvPr id="44035" name="Rectangle 3"/>
          <p:cNvSpPr>
            <a:spLocks noGrp="1" noChangeArrowheads="1"/>
          </p:cNvSpPr>
          <p:nvPr>
            <p:ph type="body" sz="half" idx="1"/>
          </p:nvPr>
        </p:nvSpPr>
        <p:spPr>
          <a:xfrm>
            <a:off x="236538" y="860425"/>
            <a:ext cx="5408612" cy="1466850"/>
          </a:xfrm>
          <a:noFill/>
        </p:spPr>
        <p:txBody>
          <a:bodyPr/>
          <a:lstStyle/>
          <a:p>
            <a:pPr marL="177800" indent="-177800">
              <a:spcBef>
                <a:spcPct val="75000"/>
              </a:spcBef>
            </a:pPr>
            <a:r>
              <a:rPr lang="en-GB" altLang="en-US" sz="1700">
                <a:solidFill>
                  <a:srgbClr val="FF6600"/>
                </a:solidFill>
                <a:effectLst/>
              </a:rPr>
              <a:t>Parallel folds</a:t>
            </a:r>
            <a:r>
              <a:rPr lang="en-GB" altLang="en-US" sz="1700">
                <a:effectLst/>
              </a:rPr>
              <a:t> (below left) have constant orthogonal layer thickness around the fold</a:t>
            </a:r>
          </a:p>
          <a:p>
            <a:pPr marL="177800" indent="-177800">
              <a:spcBef>
                <a:spcPct val="75000"/>
              </a:spcBef>
            </a:pPr>
            <a:r>
              <a:rPr lang="en-GB" altLang="en-US" sz="1700">
                <a:solidFill>
                  <a:srgbClr val="FF6600"/>
                </a:solidFill>
                <a:effectLst/>
              </a:rPr>
              <a:t>Similar folds</a:t>
            </a:r>
            <a:r>
              <a:rPr lang="en-GB" altLang="en-US" sz="1700">
                <a:effectLst/>
              </a:rPr>
              <a:t> (below right) have constant layer thickness parallel to the axial trace</a:t>
            </a:r>
          </a:p>
        </p:txBody>
      </p:sp>
      <p:pic>
        <p:nvPicPr>
          <p:cNvPr id="44036" name="Picture 4" descr="18a-StAnnHead"/>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338138" y="2695575"/>
            <a:ext cx="5110162" cy="399097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4037"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4538" y="849313"/>
            <a:ext cx="2960687" cy="1612900"/>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38" name="Picture 11" descr="18b- Bergen"/>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6035675" y="2695575"/>
            <a:ext cx="2595563" cy="39893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noFill/>
        </p:spPr>
        <p:txBody>
          <a:bodyPr/>
          <a:lstStyle/>
          <a:p>
            <a:r>
              <a:rPr lang="en-GB" altLang="en-US" dirty="0">
                <a:effectLst/>
              </a:rPr>
              <a:t>Fold classification by layer thickness variations  2</a:t>
            </a:r>
          </a:p>
        </p:txBody>
      </p:sp>
      <p:sp>
        <p:nvSpPr>
          <p:cNvPr id="46083" name="Rectangle 3"/>
          <p:cNvSpPr>
            <a:spLocks noGrp="1" noChangeArrowheads="1"/>
          </p:cNvSpPr>
          <p:nvPr>
            <p:ph type="body" sz="half" idx="1"/>
          </p:nvPr>
        </p:nvSpPr>
        <p:spPr>
          <a:xfrm>
            <a:off x="193675" y="917575"/>
            <a:ext cx="4291013" cy="3001963"/>
          </a:xfrm>
          <a:noFill/>
        </p:spPr>
        <p:txBody>
          <a:bodyPr/>
          <a:lstStyle/>
          <a:p>
            <a:pPr marL="177800" indent="-177800"/>
            <a:r>
              <a:rPr lang="en-GB" altLang="en-US" sz="1700" dirty="0">
                <a:effectLst/>
              </a:rPr>
              <a:t>A more rigorous treatment utilizes the concept of a </a:t>
            </a:r>
            <a:r>
              <a:rPr lang="en-GB" altLang="en-US" sz="1700" dirty="0">
                <a:solidFill>
                  <a:srgbClr val="FF6600"/>
                </a:solidFill>
                <a:effectLst/>
              </a:rPr>
              <a:t>dip isogon</a:t>
            </a:r>
            <a:r>
              <a:rPr lang="en-GB" altLang="en-US" sz="1700" dirty="0">
                <a:effectLst/>
              </a:rPr>
              <a:t>, which is the line connecting points of equal dip on either side of a folded layer (in the profile plane)</a:t>
            </a:r>
          </a:p>
          <a:p>
            <a:pPr marL="177800" indent="-177800">
              <a:spcBef>
                <a:spcPct val="75000"/>
              </a:spcBef>
            </a:pPr>
            <a:r>
              <a:rPr lang="en-GB" altLang="en-US" sz="1700" dirty="0">
                <a:effectLst/>
              </a:rPr>
              <a:t>Based in dip isogons we can distinguish </a:t>
            </a:r>
            <a:r>
              <a:rPr lang="en-GB" altLang="en-US" sz="1700" dirty="0">
                <a:solidFill>
                  <a:srgbClr val="FF6600"/>
                </a:solidFill>
                <a:effectLst/>
              </a:rPr>
              <a:t>five different classes</a:t>
            </a:r>
            <a:r>
              <a:rPr lang="en-GB" altLang="en-US" sz="1700" dirty="0">
                <a:effectLst/>
              </a:rPr>
              <a:t> of fold – parallel folds and similar folds are two of these</a:t>
            </a:r>
          </a:p>
        </p:txBody>
      </p:sp>
      <p:pic>
        <p:nvPicPr>
          <p:cNvPr id="46084" name="Picture 4"/>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689475" y="1076325"/>
            <a:ext cx="4291013" cy="2363788"/>
          </a:xfrm>
          <a:noFill/>
          <a:ln w="38100" cap="flat">
            <a:solidFill>
              <a:schemeClr val="bg2"/>
            </a:solidFill>
            <a:miter lim="800000"/>
            <a:headEnd/>
            <a:tailEnd/>
          </a:ln>
        </p:spPr>
      </p:pic>
      <p:pic>
        <p:nvPicPr>
          <p:cNvPr id="46085" name="Picture 6"/>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180975" y="4125913"/>
            <a:ext cx="8782050" cy="2212975"/>
          </a:xfrm>
          <a:noFill/>
          <a:ln w="38100" cap="flat">
            <a:solidFill>
              <a:schemeClr val="bg2"/>
            </a:solidFill>
            <a:miter lim="800000"/>
            <a:headEnd/>
            <a:tailEnd/>
          </a:ln>
        </p:spPr>
      </p:pic>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noFill/>
        </p:spPr>
        <p:txBody>
          <a:bodyPr/>
          <a:lstStyle/>
          <a:p>
            <a:r>
              <a:rPr lang="en-GB" altLang="en-US" dirty="0">
                <a:effectLst/>
              </a:rPr>
              <a:t>Fold classification by layer thickness variations  3</a:t>
            </a:r>
          </a:p>
        </p:txBody>
      </p:sp>
      <p:sp>
        <p:nvSpPr>
          <p:cNvPr id="48131" name="Rectangle 3"/>
          <p:cNvSpPr>
            <a:spLocks noGrp="1" noChangeArrowheads="1"/>
          </p:cNvSpPr>
          <p:nvPr>
            <p:ph type="body" sz="half" idx="1"/>
          </p:nvPr>
        </p:nvSpPr>
        <p:spPr>
          <a:xfrm>
            <a:off x="142875" y="790575"/>
            <a:ext cx="8756650" cy="1738313"/>
          </a:xfrm>
          <a:noFill/>
        </p:spPr>
        <p:txBody>
          <a:bodyPr/>
          <a:lstStyle/>
          <a:p>
            <a:pPr marL="177800" indent="-177800">
              <a:spcBef>
                <a:spcPct val="75000"/>
              </a:spcBef>
            </a:pPr>
            <a:r>
              <a:rPr lang="en-GB" altLang="en-US" sz="1700" dirty="0">
                <a:effectLst/>
              </a:rPr>
              <a:t>By plotting </a:t>
            </a:r>
            <a:r>
              <a:rPr lang="en-GB" altLang="en-US" sz="1700" dirty="0">
                <a:solidFill>
                  <a:srgbClr val="FF66CC"/>
                </a:solidFill>
                <a:effectLst/>
              </a:rPr>
              <a:t>orthogonal thickness </a:t>
            </a:r>
            <a:r>
              <a:rPr lang="en-GB" altLang="en-US" sz="1700" spc="150" dirty="0">
                <a:solidFill>
                  <a:srgbClr val="FF66CC"/>
                </a:solidFill>
                <a:effectLst/>
              </a:rPr>
              <a:t>(</a:t>
            </a:r>
            <a:r>
              <a:rPr lang="en-GB" altLang="en-US" sz="1700" i="1" dirty="0">
                <a:solidFill>
                  <a:srgbClr val="FFFF00"/>
                </a:solidFill>
                <a:effectLst/>
              </a:rPr>
              <a:t>t</a:t>
            </a:r>
            <a:r>
              <a:rPr lang="en-GB" altLang="en-US" sz="1700" i="1" spc="300" baseline="-25000" dirty="0">
                <a:solidFill>
                  <a:srgbClr val="FFFF00"/>
                </a:solidFill>
                <a:effectLst/>
                <a:latin typeface="Symbol" pitchFamily="18" charset="2"/>
              </a:rPr>
              <a:t>a</a:t>
            </a:r>
            <a:r>
              <a:rPr lang="en-GB" altLang="en-US" sz="1700" dirty="0">
                <a:solidFill>
                  <a:srgbClr val="FF66CC"/>
                </a:solidFill>
                <a:effectLst/>
              </a:rPr>
              <a:t>) ÷ orthogonal thickness in the hinge </a:t>
            </a:r>
            <a:r>
              <a:rPr lang="en-GB" altLang="en-US" sz="1700" spc="150" dirty="0">
                <a:solidFill>
                  <a:srgbClr val="FF66CC"/>
                </a:solidFill>
                <a:effectLst/>
              </a:rPr>
              <a:t>(</a:t>
            </a:r>
            <a:r>
              <a:rPr lang="en-GB" altLang="en-US" sz="1700" i="1" dirty="0">
                <a:solidFill>
                  <a:srgbClr val="FFFF00"/>
                </a:solidFill>
                <a:effectLst/>
              </a:rPr>
              <a:t>t</a:t>
            </a:r>
            <a:r>
              <a:rPr lang="en-GB" altLang="en-US" sz="1700" spc="150" baseline="-25000" dirty="0">
                <a:solidFill>
                  <a:srgbClr val="FFFF00"/>
                </a:solidFill>
                <a:effectLst/>
              </a:rPr>
              <a:t>0</a:t>
            </a:r>
            <a:r>
              <a:rPr lang="en-GB" altLang="en-US" sz="1700" dirty="0">
                <a:solidFill>
                  <a:srgbClr val="FF66CC"/>
                </a:solidFill>
                <a:effectLst/>
              </a:rPr>
              <a:t>) vs. </a:t>
            </a:r>
            <a:r>
              <a:rPr lang="en-GB" altLang="en-US" sz="1700" i="1" dirty="0">
                <a:solidFill>
                  <a:srgbClr val="FFFF00"/>
                </a:solidFill>
                <a:effectLst/>
                <a:latin typeface="Symbol" pitchFamily="18" charset="2"/>
              </a:rPr>
              <a:t>a</a:t>
            </a:r>
            <a:r>
              <a:rPr lang="en-GB" altLang="en-US" sz="1700" dirty="0">
                <a:effectLst/>
              </a:rPr>
              <a:t>  one can distinguish the different fold classes graphically (below left)</a:t>
            </a:r>
          </a:p>
          <a:p>
            <a:pPr marL="177800" indent="-177800">
              <a:spcBef>
                <a:spcPct val="75000"/>
              </a:spcBef>
            </a:pPr>
            <a:r>
              <a:rPr lang="en-GB" altLang="en-US" sz="1700" dirty="0">
                <a:effectLst/>
              </a:rPr>
              <a:t>Alternatively, one can do this by plotting </a:t>
            </a:r>
            <a:r>
              <a:rPr lang="en-GB" altLang="en-US" sz="1700" dirty="0">
                <a:solidFill>
                  <a:srgbClr val="FF66CC"/>
                </a:solidFill>
                <a:effectLst/>
              </a:rPr>
              <a:t>thickness parallel to the axial plane </a:t>
            </a:r>
            <a:r>
              <a:rPr lang="en-GB" altLang="en-US" sz="1700" spc="100" dirty="0">
                <a:solidFill>
                  <a:srgbClr val="FF66CC"/>
                </a:solidFill>
                <a:effectLst/>
              </a:rPr>
              <a:t>(</a:t>
            </a:r>
            <a:r>
              <a:rPr lang="en-GB" altLang="en-US" sz="1700" i="1" dirty="0">
                <a:solidFill>
                  <a:srgbClr val="FFFF00"/>
                </a:solidFill>
                <a:effectLst/>
              </a:rPr>
              <a:t>T</a:t>
            </a:r>
            <a:r>
              <a:rPr lang="en-GB" altLang="en-US" sz="1700" i="1" spc="300" baseline="-25000" dirty="0">
                <a:solidFill>
                  <a:srgbClr val="FFFF00"/>
                </a:solidFill>
                <a:effectLst/>
                <a:latin typeface="Symbol" pitchFamily="18" charset="2"/>
              </a:rPr>
              <a:t>a</a:t>
            </a:r>
            <a:r>
              <a:rPr lang="en-GB" altLang="en-US" sz="1700" dirty="0">
                <a:solidFill>
                  <a:srgbClr val="FF66CC"/>
                </a:solidFill>
                <a:effectLst/>
              </a:rPr>
              <a:t>) ÷ thickness parallel to the axial plane in the hinge </a:t>
            </a:r>
            <a:r>
              <a:rPr lang="en-GB" altLang="en-US" sz="1700" spc="100" dirty="0">
                <a:solidFill>
                  <a:srgbClr val="FF66CC"/>
                </a:solidFill>
                <a:effectLst/>
              </a:rPr>
              <a:t>(</a:t>
            </a:r>
            <a:r>
              <a:rPr lang="en-GB" altLang="en-US" sz="1700" i="1" dirty="0">
                <a:solidFill>
                  <a:srgbClr val="FFFF00"/>
                </a:solidFill>
                <a:effectLst/>
              </a:rPr>
              <a:t>T</a:t>
            </a:r>
            <a:r>
              <a:rPr lang="en-GB" altLang="en-US" sz="1700" spc="150" baseline="-25000" dirty="0">
                <a:solidFill>
                  <a:srgbClr val="FFFF00"/>
                </a:solidFill>
                <a:effectLst/>
              </a:rPr>
              <a:t>0</a:t>
            </a:r>
            <a:r>
              <a:rPr lang="en-GB" altLang="en-US" sz="1700" dirty="0">
                <a:solidFill>
                  <a:srgbClr val="FF66CC"/>
                </a:solidFill>
                <a:effectLst/>
              </a:rPr>
              <a:t>) vs. </a:t>
            </a:r>
            <a:r>
              <a:rPr lang="en-GB" altLang="en-US" sz="1700" i="1" dirty="0">
                <a:solidFill>
                  <a:srgbClr val="FFFF00"/>
                </a:solidFill>
                <a:effectLst/>
                <a:latin typeface="Symbol" pitchFamily="18" charset="2"/>
              </a:rPr>
              <a:t>a</a:t>
            </a:r>
            <a:r>
              <a:rPr lang="en-GB" altLang="en-US" sz="1700" dirty="0">
                <a:effectLst/>
              </a:rPr>
              <a:t>  (below right)</a:t>
            </a:r>
          </a:p>
        </p:txBody>
      </p:sp>
      <p:pic>
        <p:nvPicPr>
          <p:cNvPr id="48132" name="Picture 4"/>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71463" y="2730500"/>
            <a:ext cx="2295525" cy="2787650"/>
          </a:xfrm>
          <a:noFill/>
          <a:ln w="38100" cap="flat">
            <a:solidFill>
              <a:schemeClr val="bg2"/>
            </a:solidFill>
            <a:miter lim="800000"/>
            <a:headEnd/>
            <a:tailEnd/>
          </a:ln>
        </p:spPr>
      </p:pic>
      <p:pic>
        <p:nvPicPr>
          <p:cNvPr id="48133" name="Picture 9"/>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2832100" y="2730500"/>
            <a:ext cx="6051550" cy="3906838"/>
          </a:xfrm>
          <a:noFill/>
          <a:ln w="38100" cap="flat">
            <a:solidFill>
              <a:schemeClr val="bg2"/>
            </a:solidFill>
            <a:miter lim="800000"/>
            <a:headEnd/>
            <a:tailEnd/>
          </a:ln>
        </p:spPr>
      </p:pic>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noFill/>
        </p:spPr>
        <p:txBody>
          <a:bodyPr/>
          <a:lstStyle/>
          <a:p>
            <a:r>
              <a:rPr lang="en-GB" altLang="en-US">
                <a:effectLst/>
              </a:rPr>
              <a:t>Summary of key geometric descriptors</a:t>
            </a:r>
          </a:p>
        </p:txBody>
      </p:sp>
      <p:sp>
        <p:nvSpPr>
          <p:cNvPr id="50179" name="Rectangle 3"/>
          <p:cNvSpPr>
            <a:spLocks noGrp="1" noChangeArrowheads="1"/>
          </p:cNvSpPr>
          <p:nvPr>
            <p:ph type="body" idx="1"/>
          </p:nvPr>
        </p:nvSpPr>
        <p:spPr>
          <a:xfrm>
            <a:off x="255588" y="917575"/>
            <a:ext cx="8734425" cy="5300663"/>
          </a:xfrm>
          <a:noFill/>
        </p:spPr>
        <p:txBody>
          <a:bodyPr/>
          <a:lstStyle/>
          <a:p>
            <a:pPr marL="177800" indent="-177800"/>
            <a:r>
              <a:rPr lang="en-GB" altLang="en-US" sz="1700" dirty="0">
                <a:effectLst/>
              </a:rPr>
              <a:t>The </a:t>
            </a:r>
            <a:r>
              <a:rPr lang="en-GB" altLang="en-US" sz="1700" dirty="0">
                <a:solidFill>
                  <a:srgbClr val="FF66CC"/>
                </a:solidFill>
                <a:effectLst/>
              </a:rPr>
              <a:t>essential features</a:t>
            </a:r>
            <a:r>
              <a:rPr lang="en-GB" altLang="en-US" sz="1700" dirty="0">
                <a:effectLst/>
              </a:rPr>
              <a:t> that must be described (being quantitative whenever possible):</a:t>
            </a:r>
          </a:p>
          <a:p>
            <a:pPr marL="642938" lvl="1" indent="-285750">
              <a:buFont typeface="Wingdings" panose="05000000000000000000" pitchFamily="2" charset="2"/>
              <a:buChar char="Ø"/>
            </a:pPr>
            <a:r>
              <a:rPr lang="en-GB" altLang="en-US" sz="1700" dirty="0" err="1">
                <a:solidFill>
                  <a:srgbClr val="FF6600"/>
                </a:solidFill>
                <a:effectLst/>
              </a:rPr>
              <a:t>Antifor</a:t>
            </a:r>
            <a:r>
              <a:rPr lang="en-GB" altLang="en-US" sz="1700" spc="300" dirty="0" err="1">
                <a:solidFill>
                  <a:srgbClr val="FF6600"/>
                </a:solidFill>
                <a:effectLst/>
              </a:rPr>
              <a:t>m</a:t>
            </a:r>
            <a:r>
              <a:rPr lang="en-GB" altLang="en-US" sz="1700" spc="300" dirty="0">
                <a:solidFill>
                  <a:srgbClr val="FF6600"/>
                </a:solidFill>
                <a:effectLst/>
              </a:rPr>
              <a:t>/</a:t>
            </a:r>
            <a:r>
              <a:rPr lang="en-GB" altLang="en-US" sz="1700" dirty="0" err="1">
                <a:solidFill>
                  <a:srgbClr val="FF6600"/>
                </a:solidFill>
                <a:effectLst/>
              </a:rPr>
              <a:t>synform</a:t>
            </a:r>
            <a:r>
              <a:rPr lang="en-GB" altLang="en-US" sz="1700" dirty="0">
                <a:effectLst/>
              </a:rPr>
              <a:t>, </a:t>
            </a:r>
            <a:r>
              <a:rPr lang="en-GB" altLang="en-US" sz="1700" dirty="0">
                <a:solidFill>
                  <a:srgbClr val="FF6600"/>
                </a:solidFill>
                <a:effectLst/>
              </a:rPr>
              <a:t>anticlin</a:t>
            </a:r>
            <a:r>
              <a:rPr lang="en-GB" altLang="en-US" sz="1700" spc="300" dirty="0">
                <a:solidFill>
                  <a:srgbClr val="FF6600"/>
                </a:solidFill>
                <a:effectLst/>
              </a:rPr>
              <a:t>e/</a:t>
            </a:r>
            <a:r>
              <a:rPr lang="en-GB" altLang="en-US" sz="1700" dirty="0">
                <a:solidFill>
                  <a:srgbClr val="FF6600"/>
                </a:solidFill>
                <a:effectLst/>
              </a:rPr>
              <a:t>syncline,</a:t>
            </a:r>
            <a:r>
              <a:rPr lang="en-GB" altLang="en-US" sz="1700" dirty="0">
                <a:effectLst/>
              </a:rPr>
              <a:t> </a:t>
            </a:r>
            <a:r>
              <a:rPr lang="en-GB" altLang="en-US" sz="1700" dirty="0">
                <a:solidFill>
                  <a:srgbClr val="FF6600"/>
                </a:solidFill>
                <a:effectLst/>
              </a:rPr>
              <a:t>symmetry</a:t>
            </a:r>
            <a:r>
              <a:rPr lang="en-GB" altLang="en-US" sz="1700" dirty="0">
                <a:effectLst/>
              </a:rPr>
              <a:t>, </a:t>
            </a:r>
            <a:r>
              <a:rPr lang="en-GB" altLang="en-US" sz="1700" dirty="0">
                <a:solidFill>
                  <a:srgbClr val="FF6600"/>
                </a:solidFill>
                <a:effectLst/>
              </a:rPr>
              <a:t>scale</a:t>
            </a:r>
            <a:r>
              <a:rPr lang="en-GB" altLang="en-US" sz="1700" dirty="0">
                <a:effectLst/>
              </a:rPr>
              <a:t> (wavelength, amplitude)</a:t>
            </a:r>
          </a:p>
          <a:p>
            <a:pPr marL="642938" lvl="1" indent="-285750">
              <a:spcBef>
                <a:spcPct val="20000"/>
              </a:spcBef>
              <a:buFont typeface="Wingdings" panose="05000000000000000000" pitchFamily="2" charset="2"/>
              <a:buChar char="Ø"/>
            </a:pPr>
            <a:r>
              <a:rPr lang="en-GB" altLang="en-US" sz="1700" dirty="0">
                <a:effectLst/>
              </a:rPr>
              <a:t>Orientation of </a:t>
            </a:r>
            <a:r>
              <a:rPr lang="en-GB" altLang="en-US" sz="1700" dirty="0">
                <a:solidFill>
                  <a:srgbClr val="FF6600"/>
                </a:solidFill>
                <a:effectLst/>
              </a:rPr>
              <a:t>fold axis </a:t>
            </a:r>
            <a:r>
              <a:rPr lang="en-GB" altLang="en-US" sz="1700" dirty="0">
                <a:effectLst/>
              </a:rPr>
              <a:t>(plunge</a:t>
            </a:r>
            <a:r>
              <a:rPr lang="en-GB" altLang="en-US" sz="800" dirty="0">
                <a:effectLst/>
              </a:rPr>
              <a:t> </a:t>
            </a:r>
            <a:r>
              <a:rPr lang="en-GB" altLang="en-US" sz="1700" dirty="0">
                <a:effectLst/>
              </a:rPr>
              <a:t>/</a:t>
            </a:r>
            <a:r>
              <a:rPr lang="en-GB" altLang="en-US" sz="800" dirty="0">
                <a:effectLst/>
              </a:rPr>
              <a:t> </a:t>
            </a:r>
            <a:r>
              <a:rPr lang="en-GB" altLang="en-US" sz="1700" dirty="0">
                <a:effectLst/>
              </a:rPr>
              <a:t>plunge direction)</a:t>
            </a:r>
          </a:p>
          <a:p>
            <a:pPr marL="642938" lvl="1" indent="-285750">
              <a:spcBef>
                <a:spcPct val="20000"/>
              </a:spcBef>
              <a:buFont typeface="Wingdings" panose="05000000000000000000" pitchFamily="2" charset="2"/>
              <a:buChar char="Ø"/>
            </a:pPr>
            <a:r>
              <a:rPr lang="en-GB" altLang="en-US" sz="1700" dirty="0">
                <a:effectLst/>
              </a:rPr>
              <a:t>Orientation of </a:t>
            </a:r>
            <a:r>
              <a:rPr lang="en-GB" altLang="en-US" sz="1700" dirty="0">
                <a:solidFill>
                  <a:srgbClr val="FF6600"/>
                </a:solidFill>
                <a:effectLst/>
              </a:rPr>
              <a:t>axial plane </a:t>
            </a:r>
            <a:r>
              <a:rPr lang="en-GB" altLang="en-US" sz="1700" dirty="0">
                <a:effectLst/>
              </a:rPr>
              <a:t>(strike</a:t>
            </a:r>
            <a:r>
              <a:rPr lang="en-GB" altLang="en-US" sz="800" dirty="0">
                <a:effectLst/>
              </a:rPr>
              <a:t> </a:t>
            </a:r>
            <a:r>
              <a:rPr lang="en-GB" altLang="en-US" sz="1700" dirty="0">
                <a:effectLst/>
              </a:rPr>
              <a:t>/</a:t>
            </a:r>
            <a:r>
              <a:rPr lang="en-GB" altLang="en-US" sz="800" dirty="0">
                <a:effectLst/>
              </a:rPr>
              <a:t> </a:t>
            </a:r>
            <a:r>
              <a:rPr lang="en-GB" altLang="en-US" sz="1700" dirty="0">
                <a:effectLst/>
              </a:rPr>
              <a:t>dip)</a:t>
            </a:r>
          </a:p>
          <a:p>
            <a:pPr marL="642938" lvl="1" indent="-285750">
              <a:spcBef>
                <a:spcPct val="20000"/>
              </a:spcBef>
              <a:buFont typeface="Wingdings" panose="05000000000000000000" pitchFamily="2" charset="2"/>
              <a:buChar char="Ø"/>
            </a:pPr>
            <a:r>
              <a:rPr lang="en-GB" altLang="en-US" sz="1700" dirty="0">
                <a:effectLst/>
              </a:rPr>
              <a:t>Orientation of </a:t>
            </a:r>
            <a:r>
              <a:rPr lang="en-GB" altLang="en-US" sz="1700" dirty="0">
                <a:solidFill>
                  <a:srgbClr val="FF6600"/>
                </a:solidFill>
                <a:effectLst/>
              </a:rPr>
              <a:t>representative limbs</a:t>
            </a:r>
            <a:r>
              <a:rPr lang="en-GB" altLang="en-US" sz="1700" dirty="0">
                <a:effectLst/>
              </a:rPr>
              <a:t> (strike</a:t>
            </a:r>
            <a:r>
              <a:rPr lang="en-GB" altLang="en-US" sz="800" dirty="0">
                <a:effectLst/>
              </a:rPr>
              <a:t> </a:t>
            </a:r>
            <a:r>
              <a:rPr lang="en-GB" altLang="en-US" sz="1700" dirty="0">
                <a:effectLst/>
              </a:rPr>
              <a:t>/</a:t>
            </a:r>
            <a:r>
              <a:rPr lang="en-GB" altLang="en-US" sz="800" dirty="0">
                <a:effectLst/>
              </a:rPr>
              <a:t> </a:t>
            </a:r>
            <a:r>
              <a:rPr lang="en-GB" altLang="en-US" sz="1700" dirty="0">
                <a:effectLst/>
              </a:rPr>
              <a:t>dip of limbs at the inflection lines)</a:t>
            </a:r>
          </a:p>
          <a:p>
            <a:pPr marL="642938" lvl="1" indent="-285750">
              <a:spcBef>
                <a:spcPct val="20000"/>
              </a:spcBef>
              <a:buFont typeface="Wingdings" panose="05000000000000000000" pitchFamily="2" charset="2"/>
              <a:buChar char="Ø"/>
            </a:pPr>
            <a:r>
              <a:rPr lang="en-GB" altLang="en-US" sz="1700" dirty="0" err="1">
                <a:solidFill>
                  <a:srgbClr val="FF6600"/>
                </a:solidFill>
                <a:effectLst/>
              </a:rPr>
              <a:t>Interlimb</a:t>
            </a:r>
            <a:r>
              <a:rPr lang="en-GB" altLang="en-US" sz="1700" dirty="0">
                <a:solidFill>
                  <a:srgbClr val="FF6600"/>
                </a:solidFill>
                <a:effectLst/>
              </a:rPr>
              <a:t> angle</a:t>
            </a:r>
          </a:p>
          <a:p>
            <a:pPr marL="642938" lvl="1" indent="-285750">
              <a:spcBef>
                <a:spcPct val="20000"/>
              </a:spcBef>
              <a:buFont typeface="Wingdings" panose="05000000000000000000" pitchFamily="2" charset="2"/>
              <a:buChar char="Ø"/>
            </a:pPr>
            <a:r>
              <a:rPr lang="en-GB" altLang="en-US" sz="1700" dirty="0">
                <a:effectLst/>
              </a:rPr>
              <a:t>Orientation of </a:t>
            </a:r>
            <a:r>
              <a:rPr lang="en-GB" altLang="en-US" sz="1700" dirty="0">
                <a:solidFill>
                  <a:srgbClr val="FF6600"/>
                </a:solidFill>
                <a:effectLst/>
              </a:rPr>
              <a:t>bisector </a:t>
            </a:r>
            <a:r>
              <a:rPr lang="en-GB" altLang="en-US" sz="1700" dirty="0">
                <a:effectLst/>
              </a:rPr>
              <a:t>(strike</a:t>
            </a:r>
            <a:r>
              <a:rPr lang="en-GB" altLang="en-US" sz="800" dirty="0">
                <a:effectLst/>
              </a:rPr>
              <a:t> </a:t>
            </a:r>
            <a:r>
              <a:rPr lang="en-GB" altLang="en-US" sz="1700" dirty="0">
                <a:effectLst/>
              </a:rPr>
              <a:t>/</a:t>
            </a:r>
            <a:r>
              <a:rPr lang="en-GB" altLang="en-US" sz="800" dirty="0">
                <a:effectLst/>
              </a:rPr>
              <a:t> </a:t>
            </a:r>
            <a:r>
              <a:rPr lang="en-GB" altLang="en-US" sz="1700" dirty="0">
                <a:effectLst/>
              </a:rPr>
              <a:t>dip)</a:t>
            </a:r>
          </a:p>
          <a:p>
            <a:pPr marL="177800" indent="-177800">
              <a:spcBef>
                <a:spcPct val="200000"/>
              </a:spcBef>
            </a:pPr>
            <a:r>
              <a:rPr lang="en-GB" altLang="en-US" sz="1700" dirty="0">
                <a:solidFill>
                  <a:srgbClr val="FF66CC"/>
                </a:solidFill>
                <a:effectLst/>
              </a:rPr>
              <a:t>Additional features</a:t>
            </a:r>
            <a:r>
              <a:rPr lang="en-GB" altLang="en-US" sz="1700" dirty="0">
                <a:effectLst/>
              </a:rPr>
              <a:t> useful for interpreting the mechanism of fold formation include:</a:t>
            </a:r>
          </a:p>
          <a:p>
            <a:pPr marL="642938" lvl="1" indent="-285750">
              <a:buFont typeface="Wingdings" panose="05000000000000000000" pitchFamily="2" charset="2"/>
              <a:buChar char="Ø"/>
            </a:pPr>
            <a:r>
              <a:rPr lang="en-GB" altLang="en-US" sz="1700" dirty="0">
                <a:solidFill>
                  <a:srgbClr val="FF66CC"/>
                </a:solidFill>
                <a:effectLst/>
              </a:rPr>
              <a:t>Fold hinge shape</a:t>
            </a:r>
          </a:p>
          <a:p>
            <a:pPr marL="642938" lvl="1" indent="-285750">
              <a:buFont typeface="Wingdings" panose="05000000000000000000" pitchFamily="2" charset="2"/>
              <a:buChar char="Ø"/>
            </a:pPr>
            <a:r>
              <a:rPr lang="en-GB" altLang="en-US" sz="1700" dirty="0">
                <a:solidFill>
                  <a:srgbClr val="FF66CC"/>
                </a:solidFill>
                <a:effectLst/>
              </a:rPr>
              <a:t>Layer thickness variations</a:t>
            </a:r>
            <a:r>
              <a:rPr lang="en-GB" altLang="en-US" sz="1700" dirty="0">
                <a:effectLst/>
              </a:rPr>
              <a:t> (paralle</a:t>
            </a:r>
            <a:r>
              <a:rPr lang="en-GB" altLang="en-US" sz="1700" spc="300" dirty="0">
                <a:effectLst/>
              </a:rPr>
              <a:t>l/</a:t>
            </a:r>
            <a:r>
              <a:rPr lang="en-GB" altLang="en-US" sz="1700" dirty="0">
                <a:effectLst/>
              </a:rPr>
              <a:t>similar or a full isogon analysis)</a:t>
            </a:r>
          </a:p>
          <a:p>
            <a:pPr marL="642938" lvl="1" indent="-285750">
              <a:buFont typeface="Wingdings" panose="05000000000000000000" pitchFamily="2" charset="2"/>
              <a:buChar char="Ø"/>
            </a:pPr>
            <a:r>
              <a:rPr lang="en-GB" altLang="en-US" sz="1700" dirty="0">
                <a:solidFill>
                  <a:srgbClr val="FF66CC"/>
                </a:solidFill>
                <a:effectLst/>
              </a:rPr>
              <a:t>Mechanistically significant features</a:t>
            </a:r>
            <a:r>
              <a:rPr lang="en-GB" altLang="en-US" sz="1700" dirty="0">
                <a:effectLst/>
              </a:rPr>
              <a:t> (to be discussed in Class 2) including the presence of </a:t>
            </a:r>
            <a:r>
              <a:rPr lang="en-GB" altLang="en-US" sz="1700" dirty="0" err="1">
                <a:effectLst/>
              </a:rPr>
              <a:t>slickolites</a:t>
            </a:r>
            <a:r>
              <a:rPr lang="en-GB" altLang="en-US" sz="1700" dirty="0">
                <a:effectLst/>
              </a:rPr>
              <a:t>, outer arc tension gashes, </a:t>
            </a:r>
            <a:r>
              <a:rPr lang="en-GB" altLang="en-US" sz="1700" i="1" dirty="0">
                <a:effectLst/>
              </a:rPr>
              <a:t>etc</a:t>
            </a:r>
            <a:r>
              <a:rPr lang="en-GB" altLang="en-US" sz="1700" dirty="0">
                <a:effectLst/>
              </a:rPr>
              <a:t>.</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7C71C683-5787-4566-B154-4AA06A08E15F}"/>
              </a:ext>
            </a:extLst>
          </p:cNvPr>
          <p:cNvSpPr>
            <a:spLocks noGrp="1" noChangeArrowheads="1"/>
          </p:cNvSpPr>
          <p:nvPr>
            <p:ph type="ctrTitle" idx="4294967295"/>
          </p:nvPr>
        </p:nvSpPr>
        <p:spPr bwMode="black">
          <a:xfrm>
            <a:off x="239713" y="1392238"/>
            <a:ext cx="8705850" cy="3109912"/>
          </a:xfrm>
          <a:effectLst>
            <a:outerShdw dist="35921" dir="2700000" algn="ctr" rotWithShape="0">
              <a:schemeClr val="bg2"/>
            </a:outerShdw>
          </a:effectLst>
          <a:extLst>
            <a:ext uri="{909E8E84-426E-40DD-AFC4-6F175D3DCCD1}">
              <a14:hiddenFill xmlns:a14="http://schemas.microsoft.com/office/drawing/2010/main">
                <a:solidFill>
                  <a:schemeClr val="bg1"/>
                </a:solidFill>
              </a14:hiddenFill>
            </a:ext>
          </a:extLst>
        </p:spPr>
        <p:txBody>
          <a:bodyPr anchor="ctr">
            <a:spAutoFit/>
          </a:bodyPr>
          <a:lstStyle/>
          <a:p>
            <a:pPr algn="ctr">
              <a:defRPr/>
            </a:pPr>
            <a:br>
              <a:rPr lang="en-US" altLang="en-US" sz="3500"/>
            </a:br>
            <a:br>
              <a:rPr lang="en-US" altLang="en-US" sz="3500"/>
            </a:br>
            <a:br>
              <a:rPr lang="en-US" altLang="en-US" sz="3500"/>
            </a:br>
            <a:r>
              <a:rPr lang="en-US" altLang="en-US" sz="3200"/>
              <a:t>Congruent Minor Structures</a:t>
            </a:r>
            <a:br>
              <a:rPr lang="en-US" altLang="en-US" sz="3200">
                <a:solidFill>
                  <a:srgbClr val="FF6600"/>
                </a:solidFill>
              </a:rPr>
            </a:br>
            <a:br>
              <a:rPr lang="en-US" altLang="en-US" sz="3500">
                <a:solidFill>
                  <a:srgbClr val="FF6600"/>
                </a:solidFill>
              </a:rPr>
            </a:br>
            <a:endParaRPr lang="en-US" altLang="en-US">
              <a:solidFill>
                <a:srgbClr val="FF6600"/>
              </a:solidFill>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noFill/>
        </p:spPr>
        <p:txBody>
          <a:bodyPr/>
          <a:lstStyle/>
          <a:p>
            <a:r>
              <a:rPr lang="en-GB" altLang="en-US">
                <a:effectLst/>
              </a:rPr>
              <a:t>Congruent minor structures</a:t>
            </a:r>
          </a:p>
        </p:txBody>
      </p:sp>
      <p:sp>
        <p:nvSpPr>
          <p:cNvPr id="52227" name="Rectangle 3"/>
          <p:cNvSpPr>
            <a:spLocks noGrp="1" noChangeArrowheads="1"/>
          </p:cNvSpPr>
          <p:nvPr>
            <p:ph type="body" sz="half" idx="1"/>
          </p:nvPr>
        </p:nvSpPr>
        <p:spPr>
          <a:xfrm>
            <a:off x="157163" y="800100"/>
            <a:ext cx="3154362" cy="1392238"/>
          </a:xfrm>
          <a:noFill/>
        </p:spPr>
        <p:txBody>
          <a:bodyPr/>
          <a:lstStyle/>
          <a:p>
            <a:pPr marL="177800" indent="-177800">
              <a:spcBef>
                <a:spcPct val="75000"/>
              </a:spcBef>
            </a:pPr>
            <a:r>
              <a:rPr lang="en-GB" altLang="en-US" sz="1700" dirty="0">
                <a:effectLst/>
              </a:rPr>
              <a:t>The large-scale geometry of a fold may be established by examining </a:t>
            </a:r>
            <a:r>
              <a:rPr lang="en-GB" altLang="en-US" sz="1700" dirty="0">
                <a:solidFill>
                  <a:srgbClr val="FF6600"/>
                </a:solidFill>
                <a:effectLst/>
              </a:rPr>
              <a:t>small-scale structures </a:t>
            </a:r>
            <a:r>
              <a:rPr lang="en-GB" altLang="en-US" sz="1700" dirty="0">
                <a:effectLst/>
              </a:rPr>
              <a:t>around it</a:t>
            </a:r>
          </a:p>
        </p:txBody>
      </p:sp>
      <p:pic>
        <p:nvPicPr>
          <p:cNvPr id="52228" name="Picture 4"/>
          <p:cNvPicPr>
            <a:picLocks noGrp="1" noChangeAspect="1" noChangeArrowheads="1"/>
          </p:cNvPicPr>
          <p:nvPr>
            <p:ph sz="quarter" idx="2"/>
          </p:nvPr>
        </p:nvPicPr>
        <p:blipFill>
          <a:blip r:embed="rId3" cstate="print">
            <a:extLst>
              <a:ext uri="{28A0092B-C50C-407E-A947-70E740481C1C}">
                <a14:useLocalDpi xmlns:a14="http://schemas.microsoft.com/office/drawing/2010/main" val="0"/>
              </a:ext>
            </a:extLst>
          </a:blip>
          <a:srcRect/>
          <a:stretch>
            <a:fillRect/>
          </a:stretch>
        </p:blipFill>
        <p:spPr>
          <a:xfrm>
            <a:off x="3619500" y="896938"/>
            <a:ext cx="5289550" cy="4502150"/>
          </a:xfrm>
          <a:noFill/>
          <a:ln w="38100" cap="flat">
            <a:solidFill>
              <a:schemeClr val="bg2"/>
            </a:solidFill>
            <a:miter lim="800000"/>
            <a:headEnd/>
            <a:tailEnd/>
          </a:ln>
        </p:spPr>
      </p:pic>
      <p:sp>
        <p:nvSpPr>
          <p:cNvPr id="103430" name="Text Box 6">
            <a:extLst>
              <a:ext uri="{FF2B5EF4-FFF2-40B4-BE49-F238E27FC236}">
                <a16:creationId xmlns:a16="http://schemas.microsoft.com/office/drawing/2014/main" id="{34CC3AD2-BC6A-4ABE-B830-2FD333C03476}"/>
              </a:ext>
            </a:extLst>
          </p:cNvPr>
          <p:cNvSpPr txBox="1">
            <a:spLocks noChangeArrowheads="1"/>
          </p:cNvSpPr>
          <p:nvPr/>
        </p:nvSpPr>
        <p:spPr bwMode="auto">
          <a:xfrm>
            <a:off x="157163" y="5526088"/>
            <a:ext cx="8796337" cy="1103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defRPr/>
            </a:pPr>
            <a:r>
              <a:rPr lang="en-GB" altLang="en-US" sz="1700" dirty="0">
                <a:latin typeface="Arial" panose="020B0604020202020204" pitchFamily="34" charset="0"/>
              </a:rPr>
              <a:t>	</a:t>
            </a:r>
            <a:r>
              <a:rPr lang="en-GB" altLang="en-US" sz="1700" dirty="0">
                <a:solidFill>
                  <a:srgbClr val="FF66CC"/>
                </a:solidFill>
                <a:latin typeface="Arial" panose="020B0604020202020204" pitchFamily="34" charset="0"/>
              </a:rPr>
              <a:t>fabrics in igneous rocks</a:t>
            </a:r>
            <a:r>
              <a:rPr lang="en-GB" altLang="en-US" sz="1700" dirty="0">
                <a:latin typeface="Arial" panose="020B0604020202020204" pitchFamily="34" charset="0"/>
              </a:rPr>
              <a:t> (</a:t>
            </a:r>
            <a:r>
              <a:rPr lang="en-GB" altLang="en-US" sz="1700" i="1" dirty="0">
                <a:latin typeface="Arial" panose="020B0604020202020204" pitchFamily="34" charset="0"/>
              </a:rPr>
              <a:t>e.g</a:t>
            </a:r>
            <a:r>
              <a:rPr lang="en-GB" altLang="en-US" sz="1700" dirty="0">
                <a:latin typeface="Arial" panose="020B0604020202020204" pitchFamily="34" charset="0"/>
              </a:rPr>
              <a:t>., flow banding) provide an indication of orientation (particularly </a:t>
            </a:r>
            <a:r>
              <a:rPr lang="en-GB" altLang="en-US" sz="1700" dirty="0">
                <a:solidFill>
                  <a:srgbClr val="FF66CC"/>
                </a:solidFill>
                <a:latin typeface="Arial" panose="020B0604020202020204" pitchFamily="34" charset="0"/>
              </a:rPr>
              <a:t>way-up</a:t>
            </a:r>
            <a:r>
              <a:rPr lang="en-GB" altLang="en-US" sz="1700" dirty="0">
                <a:latin typeface="Arial" panose="020B0604020202020204" pitchFamily="34" charset="0"/>
              </a:rPr>
              <a:t>) at the time the rock was formed</a:t>
            </a:r>
          </a:p>
          <a:p>
            <a:pPr>
              <a:spcBef>
                <a:spcPct val="50000"/>
              </a:spcBef>
              <a:buClr>
                <a:schemeClr val="tx1"/>
              </a:buClr>
              <a:buFontTx/>
              <a:buChar char="•"/>
              <a:defRPr/>
            </a:pPr>
            <a:r>
              <a:rPr lang="en-GB" altLang="en-US" sz="1700" dirty="0">
                <a:solidFill>
                  <a:srgbClr val="FF6600"/>
                </a:solidFill>
                <a:effectLst>
                  <a:outerShdw blurRad="38100" dist="38100" dir="2700000" algn="tl">
                    <a:srgbClr val="000000"/>
                  </a:outerShdw>
                </a:effectLst>
                <a:latin typeface="Arial" panose="020B0604020202020204" pitchFamily="34" charset="0"/>
              </a:rPr>
              <a:t>Secondary structures</a:t>
            </a:r>
            <a:r>
              <a:rPr lang="en-GB" altLang="en-US" sz="1700" dirty="0">
                <a:effectLst>
                  <a:outerShdw blurRad="38100" dist="38100" dir="2700000" algn="tl">
                    <a:srgbClr val="000000"/>
                  </a:outerShdw>
                </a:effectLst>
                <a:latin typeface="Arial" panose="020B0604020202020204" pitchFamily="34" charset="0"/>
              </a:rPr>
              <a:t> produced by deformation (</a:t>
            </a:r>
            <a:r>
              <a:rPr lang="en-GB" altLang="en-US" sz="1700" i="1" dirty="0">
                <a:effectLst>
                  <a:outerShdw blurRad="38100" dist="38100" dir="2700000" algn="tl">
                    <a:srgbClr val="000000"/>
                  </a:outerShdw>
                </a:effectLst>
                <a:latin typeface="Arial" panose="020B0604020202020204" pitchFamily="34" charset="0"/>
              </a:rPr>
              <a:t>e.g</a:t>
            </a:r>
            <a:r>
              <a:rPr lang="en-GB" altLang="en-US" sz="1700" dirty="0">
                <a:effectLst>
                  <a:outerShdw blurRad="38100" dist="38100" dir="2700000" algn="tl">
                    <a:srgbClr val="000000"/>
                  </a:outerShdw>
                </a:effectLst>
                <a:latin typeface="Arial" panose="020B0604020202020204" pitchFamily="34" charset="0"/>
              </a:rPr>
              <a:t>., minor folds, cleavag</a:t>
            </a:r>
            <a:r>
              <a:rPr lang="en-GB" altLang="en-US" sz="1700" spc="300" dirty="0">
                <a:effectLst>
                  <a:outerShdw blurRad="38100" dist="38100" dir="2700000" algn="tl">
                    <a:srgbClr val="000000"/>
                  </a:outerShdw>
                </a:effectLst>
                <a:latin typeface="Arial" panose="020B0604020202020204" pitchFamily="34" charset="0"/>
              </a:rPr>
              <a:t>e/</a:t>
            </a:r>
            <a:r>
              <a:rPr lang="en-GB" altLang="en-US" sz="1700" dirty="0">
                <a:effectLst>
                  <a:outerShdw blurRad="38100" dist="38100" dir="2700000" algn="tl">
                    <a:srgbClr val="000000"/>
                  </a:outerShdw>
                </a:effectLst>
                <a:latin typeface="Arial" panose="020B0604020202020204" pitchFamily="34" charset="0"/>
              </a:rPr>
              <a:t>schistosity)</a:t>
            </a:r>
          </a:p>
        </p:txBody>
      </p:sp>
      <p:pic>
        <p:nvPicPr>
          <p:cNvPr id="52230" name="Picture 7" descr="BoudinsRoundFold"/>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287338" y="2352675"/>
            <a:ext cx="3062287" cy="22875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2231" name="Rectangle 9"/>
          <p:cNvSpPr>
            <a:spLocks noChangeArrowheads="1"/>
          </p:cNvSpPr>
          <p:nvPr/>
        </p:nvSpPr>
        <p:spPr bwMode="auto">
          <a:xfrm>
            <a:off x="157163" y="4884738"/>
            <a:ext cx="3311525" cy="754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sz="2000">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a:solidFill>
                  <a:schemeClr val="tx1"/>
                </a:solidFill>
                <a:latin typeface="Arial" charset="0"/>
              </a:defRPr>
            </a:lvl2pPr>
            <a:lvl3pPr marL="1235075" indent="-184150">
              <a:spcBef>
                <a:spcPct val="25000"/>
              </a:spcBef>
              <a:buClr>
                <a:schemeClr val="folHlink"/>
              </a:buClr>
              <a:buFont typeface="Times"/>
              <a:buChar char="•"/>
              <a:defRPr sz="1600">
                <a:solidFill>
                  <a:schemeClr val="tx1"/>
                </a:solidFill>
                <a:latin typeface="Arial" charset="0"/>
              </a:defRPr>
            </a:lvl3pPr>
            <a:lvl4pPr marL="1698625" indent="-228600">
              <a:spcBef>
                <a:spcPct val="25000"/>
              </a:spcBef>
              <a:buClr>
                <a:schemeClr val="folHlink"/>
              </a:buClr>
              <a:buFont typeface="Times"/>
              <a:buChar char="•"/>
              <a:defRPr sz="1600">
                <a:solidFill>
                  <a:schemeClr val="tx1"/>
                </a:solidFill>
                <a:latin typeface="Arial" charset="0"/>
              </a:defRPr>
            </a:lvl4pPr>
            <a:lvl5pPr marL="2117725" indent="-228600">
              <a:spcBef>
                <a:spcPct val="25000"/>
              </a:spcBef>
              <a:buClr>
                <a:schemeClr val="folHlink"/>
              </a:buClr>
              <a:buSzPct val="50000"/>
              <a:buFont typeface="Times"/>
              <a:buChar char="•"/>
              <a:defRPr sz="16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pPr>
              <a:spcBef>
                <a:spcPct val="75000"/>
              </a:spcBef>
            </a:pPr>
            <a:r>
              <a:rPr lang="en-GB" altLang="en-US" sz="1700">
                <a:solidFill>
                  <a:srgbClr val="FF6600"/>
                </a:solidFill>
              </a:rPr>
              <a:t>Primary structures</a:t>
            </a:r>
            <a:r>
              <a:rPr lang="en-GB" altLang="en-US" sz="1700"/>
              <a:t> including </a:t>
            </a:r>
            <a:r>
              <a:rPr lang="en-GB" altLang="en-US" sz="1700">
                <a:solidFill>
                  <a:srgbClr val="FF66CC"/>
                </a:solidFill>
              </a:rPr>
              <a:t>sedimentary structures</a:t>
            </a:r>
            <a:r>
              <a:rPr lang="en-GB" altLang="en-US" sz="1700"/>
              <a:t> and </a:t>
            </a: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noFill/>
        </p:spPr>
        <p:txBody>
          <a:bodyPr/>
          <a:lstStyle/>
          <a:p>
            <a:r>
              <a:rPr lang="en-GB" altLang="en-US">
                <a:effectLst/>
              </a:rPr>
              <a:t>Minor folds</a:t>
            </a:r>
          </a:p>
        </p:txBody>
      </p:sp>
      <p:pic>
        <p:nvPicPr>
          <p:cNvPr id="54275" name="Picture 3"/>
          <p:cNvPicPr>
            <a:picLocks noGrp="1" noChangeAspect="1" noChangeArrowheads="1"/>
          </p:cNvPicPr>
          <p:nvPr>
            <p:ph sz="half" idx="1"/>
          </p:nvPr>
        </p:nvPicPr>
        <p:blipFill>
          <a:blip r:embed="rId3" cstate="print">
            <a:extLst>
              <a:ext uri="{28A0092B-C50C-407E-A947-70E740481C1C}">
                <a14:useLocalDpi xmlns:a14="http://schemas.microsoft.com/office/drawing/2010/main" val="0"/>
              </a:ext>
            </a:extLst>
          </a:blip>
          <a:srcRect/>
          <a:stretch>
            <a:fillRect/>
          </a:stretch>
        </p:blipFill>
        <p:spPr>
          <a:xfrm>
            <a:off x="423863" y="962025"/>
            <a:ext cx="2906712" cy="2398713"/>
          </a:xfrm>
          <a:noFill/>
          <a:ln w="38100" cap="flat">
            <a:solidFill>
              <a:schemeClr val="bg2"/>
            </a:solidFill>
            <a:miter lim="800000"/>
            <a:headEnd/>
            <a:tailEnd/>
          </a:ln>
        </p:spPr>
      </p:pic>
      <p:sp>
        <p:nvSpPr>
          <p:cNvPr id="244741" name="Text Box 5">
            <a:extLst>
              <a:ext uri="{FF2B5EF4-FFF2-40B4-BE49-F238E27FC236}">
                <a16:creationId xmlns:a16="http://schemas.microsoft.com/office/drawing/2014/main" id="{7FFEC38D-2EAD-4663-9B9A-F06C96B2D825}"/>
              </a:ext>
            </a:extLst>
          </p:cNvPr>
          <p:cNvSpPr txBox="1">
            <a:spLocks noChangeArrowheads="1"/>
          </p:cNvSpPr>
          <p:nvPr/>
        </p:nvSpPr>
        <p:spPr bwMode="auto">
          <a:xfrm>
            <a:off x="204788" y="3559175"/>
            <a:ext cx="3243262"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defRPr/>
            </a:pPr>
            <a:r>
              <a:rPr lang="en-GB" altLang="en-US" sz="1700" dirty="0">
                <a:effectLst>
                  <a:outerShdw blurRad="38100" dist="38100" dir="2700000" algn="tl">
                    <a:srgbClr val="000000"/>
                  </a:outerShdw>
                </a:effectLst>
                <a:latin typeface="Arial" panose="020B0604020202020204" pitchFamily="34" charset="0"/>
              </a:rPr>
              <a:t>Around large-scale folds, frequently there are smaller, asymmetric </a:t>
            </a:r>
            <a:r>
              <a:rPr lang="en-GB" altLang="en-US" sz="1700" dirty="0">
                <a:solidFill>
                  <a:srgbClr val="FF6600"/>
                </a:solidFill>
                <a:effectLst>
                  <a:outerShdw blurRad="38100" dist="38100" dir="2700000" algn="tl">
                    <a:srgbClr val="000000"/>
                  </a:outerShdw>
                </a:effectLst>
                <a:latin typeface="Arial" panose="020B0604020202020204" pitchFamily="34" charset="0"/>
              </a:rPr>
              <a:t>minor folds</a:t>
            </a:r>
            <a:r>
              <a:rPr lang="en-GB" altLang="en-US" sz="1700" dirty="0">
                <a:effectLst>
                  <a:outerShdw blurRad="38100" dist="38100" dir="2700000" algn="tl">
                    <a:srgbClr val="000000"/>
                  </a:outerShdw>
                </a:effectLst>
                <a:latin typeface="Arial" panose="020B0604020202020204" pitchFamily="34" charset="0"/>
              </a:rPr>
              <a:t> (sometimes described as </a:t>
            </a:r>
            <a:r>
              <a:rPr lang="en-GB" altLang="en-US" sz="1700" dirty="0">
                <a:solidFill>
                  <a:srgbClr val="FF6600"/>
                </a:solidFill>
                <a:effectLst>
                  <a:outerShdw blurRad="38100" dist="38100" dir="2700000" algn="tl">
                    <a:srgbClr val="000000"/>
                  </a:outerShdw>
                </a:effectLst>
                <a:latin typeface="Arial" panose="020B0604020202020204" pitchFamily="34" charset="0"/>
              </a:rPr>
              <a:t>drag folds</a:t>
            </a:r>
            <a:r>
              <a:rPr lang="en-GB" altLang="en-US" sz="1700" dirty="0">
                <a:effectLst>
                  <a:outerShdw blurRad="38100" dist="38100" dir="2700000" algn="tl">
                    <a:srgbClr val="000000"/>
                  </a:outerShdw>
                </a:effectLst>
                <a:latin typeface="Arial" panose="020B0604020202020204" pitchFamily="34" charset="0"/>
              </a:rPr>
              <a:t> or </a:t>
            </a:r>
            <a:r>
              <a:rPr lang="en-GB" altLang="en-US" sz="1700" dirty="0">
                <a:solidFill>
                  <a:srgbClr val="FF6600"/>
                </a:solidFill>
                <a:effectLst>
                  <a:outerShdw blurRad="38100" dist="38100" dir="2700000" algn="tl">
                    <a:srgbClr val="000000"/>
                  </a:outerShdw>
                </a:effectLst>
                <a:latin typeface="Arial" panose="020B0604020202020204" pitchFamily="34" charset="0"/>
              </a:rPr>
              <a:t>parasitic folds</a:t>
            </a:r>
            <a:r>
              <a:rPr lang="en-GB" altLang="en-US" sz="1700" dirty="0">
                <a:effectLst>
                  <a:outerShdw blurRad="38100" dist="38100" dir="2700000" algn="tl">
                    <a:srgbClr val="000000"/>
                  </a:outerShdw>
                </a:effectLst>
                <a:latin typeface="Arial" panose="020B0604020202020204" pitchFamily="34" charset="0"/>
              </a:rPr>
              <a:t>)</a:t>
            </a:r>
          </a:p>
        </p:txBody>
      </p:sp>
      <p:sp>
        <p:nvSpPr>
          <p:cNvPr id="244742" name="Text Box 6">
            <a:extLst>
              <a:ext uri="{FF2B5EF4-FFF2-40B4-BE49-F238E27FC236}">
                <a16:creationId xmlns:a16="http://schemas.microsoft.com/office/drawing/2014/main" id="{86A15C44-A336-4966-997E-23FF67C6FEB2}"/>
              </a:ext>
            </a:extLst>
          </p:cNvPr>
          <p:cNvSpPr txBox="1">
            <a:spLocks noChangeArrowheads="1"/>
          </p:cNvSpPr>
          <p:nvPr/>
        </p:nvSpPr>
        <p:spPr bwMode="auto">
          <a:xfrm>
            <a:off x="204788" y="5383213"/>
            <a:ext cx="8532812"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defRPr/>
            </a:pPr>
            <a:r>
              <a:rPr lang="en-GB" altLang="en-US" sz="1700">
                <a:effectLst>
                  <a:outerShdw blurRad="38100" dist="38100" dir="2700000" algn="tl">
                    <a:srgbClr val="000000"/>
                  </a:outerShdw>
                </a:effectLst>
                <a:latin typeface="Arial" panose="020B0604020202020204" pitchFamily="34" charset="0"/>
              </a:rPr>
              <a:t>The direction of vergence of these minor folds changes across the fold hinge and so minor fold vergence (</a:t>
            </a:r>
            <a:r>
              <a:rPr lang="en-GB" altLang="en-US" sz="1700">
                <a:solidFill>
                  <a:srgbClr val="FF66CC"/>
                </a:solidFill>
                <a:effectLst>
                  <a:outerShdw blurRad="38100" dist="38100" dir="2700000" algn="tl">
                    <a:srgbClr val="000000"/>
                  </a:outerShdw>
                </a:effectLst>
                <a:latin typeface="Arial" panose="020B0604020202020204" pitchFamily="34" charset="0"/>
              </a:rPr>
              <a:t>sense of asymmetry</a:t>
            </a:r>
            <a:r>
              <a:rPr lang="en-GB" altLang="en-US" sz="1700">
                <a:effectLst>
                  <a:outerShdw blurRad="38100" dist="38100" dir="2700000" algn="tl">
                    <a:srgbClr val="000000"/>
                  </a:outerShdw>
                </a:effectLst>
                <a:latin typeface="Arial" panose="020B0604020202020204" pitchFamily="34" charset="0"/>
              </a:rPr>
              <a:t>) may be used to locate this hinge</a:t>
            </a:r>
          </a:p>
          <a:p>
            <a:pPr>
              <a:lnSpc>
                <a:spcPct val="120000"/>
              </a:lnSpc>
              <a:spcBef>
                <a:spcPct val="75000"/>
              </a:spcBef>
              <a:buClr>
                <a:schemeClr val="tx1"/>
              </a:buClr>
              <a:buFontTx/>
              <a:buChar char="•"/>
              <a:defRPr/>
            </a:pPr>
            <a:r>
              <a:rPr lang="en-GB" altLang="en-US" sz="1700">
                <a:effectLst>
                  <a:outerShdw blurRad="38100" dist="38100" dir="2700000" algn="tl">
                    <a:srgbClr val="000000"/>
                  </a:outerShdw>
                </a:effectLst>
                <a:latin typeface="Arial" panose="020B0604020202020204" pitchFamily="34" charset="0"/>
              </a:rPr>
              <a:t>The </a:t>
            </a:r>
            <a:r>
              <a:rPr lang="en-GB" altLang="en-US" sz="1700">
                <a:solidFill>
                  <a:srgbClr val="FF66CC"/>
                </a:solidFill>
                <a:effectLst>
                  <a:outerShdw blurRad="38100" dist="38100" dir="2700000" algn="tl">
                    <a:srgbClr val="000000"/>
                  </a:outerShdw>
                </a:effectLst>
                <a:latin typeface="Arial" panose="020B0604020202020204" pitchFamily="34" charset="0"/>
              </a:rPr>
              <a:t>fold axis</a:t>
            </a:r>
            <a:r>
              <a:rPr lang="en-GB" altLang="en-US" sz="1700">
                <a:effectLst>
                  <a:outerShdw blurRad="38100" dist="38100" dir="2700000" algn="tl">
                    <a:srgbClr val="000000"/>
                  </a:outerShdw>
                </a:effectLst>
                <a:latin typeface="Arial" panose="020B0604020202020204" pitchFamily="34" charset="0"/>
              </a:rPr>
              <a:t> of these minor folds is the same as the fold axis of the larger scale fold</a:t>
            </a:r>
          </a:p>
        </p:txBody>
      </p:sp>
      <p:pic>
        <p:nvPicPr>
          <p:cNvPr id="54278" name="Picture 8" descr="24b-Glenfinnan"/>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3683000" y="962025"/>
            <a:ext cx="5114925" cy="41925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43A55265-AA7B-4933-95A7-7C34417C8884}"/>
              </a:ext>
            </a:extLst>
          </p:cNvPr>
          <p:cNvSpPr>
            <a:spLocks noGrp="1" noChangeArrowheads="1"/>
          </p:cNvSpPr>
          <p:nvPr>
            <p:ph type="title" idx="4294967295"/>
          </p:nvPr>
        </p:nvSpPr>
        <p:spPr/>
        <p:txBody>
          <a:bodyPr/>
          <a:lstStyle/>
          <a:p>
            <a:pPr>
              <a:defRPr/>
            </a:pPr>
            <a:r>
              <a:rPr lang="en-GB" altLang="en-US"/>
              <a:t>Formation of planar and linear fabrics</a:t>
            </a:r>
          </a:p>
        </p:txBody>
      </p:sp>
      <p:sp>
        <p:nvSpPr>
          <p:cNvPr id="192515" name="Rectangle 3">
            <a:extLst>
              <a:ext uri="{FF2B5EF4-FFF2-40B4-BE49-F238E27FC236}">
                <a16:creationId xmlns:a16="http://schemas.microsoft.com/office/drawing/2014/main" id="{4CF4C71E-DCD1-49A4-B895-080E70DDD3AF}"/>
              </a:ext>
            </a:extLst>
          </p:cNvPr>
          <p:cNvSpPr>
            <a:spLocks noGrp="1" noChangeArrowheads="1"/>
          </p:cNvSpPr>
          <p:nvPr>
            <p:ph type="body" idx="4294967295"/>
          </p:nvPr>
        </p:nvSpPr>
        <p:spPr>
          <a:xfrm>
            <a:off x="115888" y="1966913"/>
            <a:ext cx="3922712" cy="4797425"/>
          </a:xfrm>
        </p:spPr>
        <p:txBody>
          <a:bodyPr/>
          <a:lstStyle/>
          <a:p>
            <a:pPr marL="269875" indent="-269875">
              <a:spcBef>
                <a:spcPct val="65000"/>
              </a:spcBef>
              <a:buFont typeface="Times" panose="02020603050405020304" pitchFamily="18" charset="0"/>
              <a:buAutoNum type="arabicPeriod"/>
              <a:defRPr/>
            </a:pPr>
            <a:r>
              <a:rPr lang="en-GB" altLang="en-US" sz="1700" dirty="0">
                <a:solidFill>
                  <a:srgbClr val="FF66CC"/>
                </a:solidFill>
              </a:rPr>
              <a:t>Passive rotation</a:t>
            </a:r>
            <a:r>
              <a:rPr lang="en-GB" altLang="en-US" sz="1700" dirty="0"/>
              <a:t> of elongate crystals</a:t>
            </a:r>
          </a:p>
          <a:p>
            <a:pPr marL="269875" indent="-269875">
              <a:spcBef>
                <a:spcPct val="65000"/>
              </a:spcBef>
              <a:buFont typeface="Times" panose="02020603050405020304" pitchFamily="18" charset="0"/>
              <a:buAutoNum type="arabicPeriod"/>
              <a:defRPr/>
            </a:pPr>
            <a:r>
              <a:rPr lang="en-GB" altLang="en-US" sz="1700" dirty="0">
                <a:solidFill>
                  <a:srgbClr val="FF66CC"/>
                </a:solidFill>
              </a:rPr>
              <a:t>Mineral shape change by solution and precipitation</a:t>
            </a:r>
            <a:r>
              <a:rPr lang="en-GB" altLang="en-US" sz="1700" dirty="0"/>
              <a:t> in strain shadows</a:t>
            </a:r>
          </a:p>
          <a:p>
            <a:pPr marL="269875" indent="-269875">
              <a:spcBef>
                <a:spcPct val="65000"/>
              </a:spcBef>
              <a:buFont typeface="Times" panose="02020603050405020304" pitchFamily="18" charset="0"/>
              <a:buAutoNum type="arabicPeriod"/>
              <a:defRPr/>
            </a:pPr>
            <a:r>
              <a:rPr lang="en-GB" altLang="en-US" sz="1700" dirty="0">
                <a:solidFill>
                  <a:srgbClr val="FF66CC"/>
                </a:solidFill>
              </a:rPr>
              <a:t>Mineral shape change by plasticity</a:t>
            </a:r>
          </a:p>
          <a:p>
            <a:pPr marL="269875" indent="-269875">
              <a:spcBef>
                <a:spcPct val="65000"/>
              </a:spcBef>
              <a:buFont typeface="Times" panose="02020603050405020304" pitchFamily="18" charset="0"/>
              <a:buAutoNum type="arabicPeriod"/>
              <a:defRPr/>
            </a:pPr>
            <a:r>
              <a:rPr lang="en-GB" altLang="en-US" sz="1700" dirty="0">
                <a:solidFill>
                  <a:srgbClr val="FF66CC"/>
                </a:solidFill>
              </a:rPr>
              <a:t>Combination of 1 and 2</a:t>
            </a:r>
            <a:r>
              <a:rPr lang="en-GB" altLang="en-US" sz="1700" dirty="0"/>
              <a:t> in polymineralic aggregates</a:t>
            </a:r>
          </a:p>
          <a:p>
            <a:pPr marL="269875" indent="-269875">
              <a:spcBef>
                <a:spcPct val="65000"/>
              </a:spcBef>
              <a:buFont typeface="Times" panose="02020603050405020304" pitchFamily="18" charset="0"/>
              <a:buAutoNum type="arabicPeriod"/>
              <a:defRPr/>
            </a:pPr>
            <a:r>
              <a:rPr lang="en-GB" altLang="en-US" sz="1700" dirty="0">
                <a:solidFill>
                  <a:srgbClr val="FF66CC"/>
                </a:solidFill>
              </a:rPr>
              <a:t>Grain growth of micas</a:t>
            </a:r>
            <a:r>
              <a:rPr lang="en-GB" altLang="en-US" sz="1700" dirty="0"/>
              <a:t> parallel with their basal planes; grains that are oriented parallel with the foliation grow to greater lengths</a:t>
            </a:r>
          </a:p>
          <a:p>
            <a:pPr marL="269875" indent="-269875">
              <a:spcBef>
                <a:spcPct val="65000"/>
              </a:spcBef>
              <a:buFont typeface="Times" panose="02020603050405020304" pitchFamily="18" charset="0"/>
              <a:buAutoNum type="arabicPeriod"/>
              <a:defRPr/>
            </a:pPr>
            <a:r>
              <a:rPr lang="en-GB" altLang="en-US" sz="1700" dirty="0">
                <a:solidFill>
                  <a:srgbClr val="FF66CC"/>
                </a:solidFill>
              </a:rPr>
              <a:t>Oriented nucleation and growth</a:t>
            </a:r>
            <a:r>
              <a:rPr lang="en-GB" altLang="en-US" sz="1700" dirty="0"/>
              <a:t> of new grains</a:t>
            </a:r>
          </a:p>
        </p:txBody>
      </p:sp>
      <p:sp>
        <p:nvSpPr>
          <p:cNvPr id="39946" name="Text Box 10">
            <a:extLst>
              <a:ext uri="{FF2B5EF4-FFF2-40B4-BE49-F238E27FC236}">
                <a16:creationId xmlns:a16="http://schemas.microsoft.com/office/drawing/2014/main" id="{04F7E124-FD1C-4E0F-A373-79D74AA4A970}"/>
              </a:ext>
            </a:extLst>
          </p:cNvPr>
          <p:cNvSpPr txBox="1">
            <a:spLocks noChangeArrowheads="1"/>
          </p:cNvSpPr>
          <p:nvPr/>
        </p:nvSpPr>
        <p:spPr bwMode="auto">
          <a:xfrm>
            <a:off x="4226312" y="5140325"/>
            <a:ext cx="4768463" cy="1489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04800" indent="-304800">
              <a:defRPr sz="1600">
                <a:solidFill>
                  <a:schemeClr val="tx1"/>
                </a:solidFill>
                <a:latin typeface="Helvetica" panose="020B0604020202020204" pitchFamily="34" charset="0"/>
              </a:defRPr>
            </a:lvl1pPr>
            <a:lvl2pPr marL="762000" indent="-304800">
              <a:defRPr sz="1600">
                <a:solidFill>
                  <a:schemeClr val="tx1"/>
                </a:solidFill>
                <a:latin typeface="Helvetica" panose="020B0604020202020204" pitchFamily="34" charset="0"/>
              </a:defRPr>
            </a:lvl2pPr>
            <a:lvl3pPr marL="1219200" indent="-304800">
              <a:defRPr sz="1600">
                <a:solidFill>
                  <a:schemeClr val="tx1"/>
                </a:solidFill>
                <a:latin typeface="Helvetica" panose="020B0604020202020204" pitchFamily="34" charset="0"/>
              </a:defRPr>
            </a:lvl3pPr>
            <a:lvl4pPr marL="1676400" indent="-304800">
              <a:defRPr sz="1600">
                <a:solidFill>
                  <a:schemeClr val="tx1"/>
                </a:solidFill>
                <a:latin typeface="Helvetica" panose="020B0604020202020204" pitchFamily="34" charset="0"/>
              </a:defRPr>
            </a:lvl4pPr>
            <a:lvl5pPr marL="2133600" indent="-304800">
              <a:defRPr sz="1600">
                <a:solidFill>
                  <a:schemeClr val="tx1"/>
                </a:solidFill>
                <a:latin typeface="Helvetica" panose="020B0604020202020204" pitchFamily="34" charset="0"/>
              </a:defRPr>
            </a:lvl5pPr>
            <a:lvl6pPr marL="259080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marL="304800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marL="350520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marL="3962400" indent="-304800"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AutoNum type="arabicPeriod" startAt="7"/>
              <a:defRPr/>
            </a:pPr>
            <a:r>
              <a:rPr lang="en-GB" altLang="en-US" sz="1700" dirty="0">
                <a:solidFill>
                  <a:srgbClr val="FF66CC"/>
                </a:solidFill>
                <a:effectLst>
                  <a:outerShdw blurRad="38100" dist="38100" dir="2700000" algn="tl">
                    <a:srgbClr val="000000"/>
                  </a:outerShdw>
                </a:effectLst>
                <a:latin typeface="Arial" panose="020B0604020202020204" pitchFamily="34" charset="0"/>
              </a:rPr>
              <a:t>Mimetic growth</a:t>
            </a:r>
            <a:r>
              <a:rPr lang="en-GB" altLang="en-US" sz="1700" dirty="0">
                <a:effectLst>
                  <a:outerShdw blurRad="38100" dist="38100" dir="2700000" algn="tl">
                    <a:srgbClr val="000000"/>
                  </a:outerShdw>
                </a:effectLst>
                <a:latin typeface="Arial" panose="020B0604020202020204" pitchFamily="34" charset="0"/>
              </a:rPr>
              <a:t> of elongate grains due to restrictions on growth direction imposed by a pre-existing foliation</a:t>
            </a:r>
          </a:p>
          <a:p>
            <a:pPr>
              <a:lnSpc>
                <a:spcPct val="120000"/>
              </a:lnSpc>
              <a:spcBef>
                <a:spcPct val="65000"/>
              </a:spcBef>
              <a:buClr>
                <a:schemeClr val="tx1"/>
              </a:buClr>
              <a:buFontTx/>
              <a:buAutoNum type="arabicPeriod" startAt="7"/>
              <a:defRPr/>
            </a:pPr>
            <a:r>
              <a:rPr lang="en-GB" altLang="en-US" sz="1700" dirty="0">
                <a:solidFill>
                  <a:srgbClr val="FF66CC"/>
                </a:solidFill>
                <a:effectLst>
                  <a:outerShdw blurRad="38100" dist="38100" dir="2700000" algn="tl">
                    <a:srgbClr val="000000"/>
                  </a:outerShdw>
                </a:effectLst>
                <a:latin typeface="Arial" panose="020B0604020202020204" pitchFamily="34" charset="0"/>
              </a:rPr>
              <a:t>Restricted growth</a:t>
            </a:r>
            <a:r>
              <a:rPr lang="en-GB" altLang="en-US" sz="1700" dirty="0">
                <a:effectLst>
                  <a:outerShdw blurRad="38100" dist="38100" dir="2700000" algn="tl">
                    <a:srgbClr val="000000"/>
                  </a:outerShdw>
                </a:effectLst>
                <a:latin typeface="Arial" panose="020B0604020202020204" pitchFamily="34" charset="0"/>
              </a:rPr>
              <a:t> parallel with platy minerals</a:t>
            </a:r>
          </a:p>
        </p:txBody>
      </p:sp>
      <p:sp>
        <p:nvSpPr>
          <p:cNvPr id="56325" name="Rectangle 6"/>
          <p:cNvSpPr>
            <a:spLocks noChangeArrowheads="1"/>
          </p:cNvSpPr>
          <p:nvPr/>
        </p:nvSpPr>
        <p:spPr bwMode="auto">
          <a:xfrm>
            <a:off x="125413" y="803275"/>
            <a:ext cx="3992562" cy="104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sz="2000">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a:solidFill>
                  <a:schemeClr val="tx1"/>
                </a:solidFill>
                <a:latin typeface="Arial" charset="0"/>
              </a:defRPr>
            </a:lvl2pPr>
            <a:lvl3pPr marL="1235075" indent="-184150">
              <a:spcBef>
                <a:spcPct val="25000"/>
              </a:spcBef>
              <a:buClr>
                <a:schemeClr val="folHlink"/>
              </a:buClr>
              <a:buFont typeface="Times"/>
              <a:buChar char="•"/>
              <a:defRPr sz="1600">
                <a:solidFill>
                  <a:schemeClr val="tx1"/>
                </a:solidFill>
                <a:latin typeface="Arial" charset="0"/>
              </a:defRPr>
            </a:lvl3pPr>
            <a:lvl4pPr marL="1698625" indent="-228600">
              <a:spcBef>
                <a:spcPct val="25000"/>
              </a:spcBef>
              <a:buClr>
                <a:schemeClr val="folHlink"/>
              </a:buClr>
              <a:buFont typeface="Times"/>
              <a:buChar char="•"/>
              <a:defRPr sz="1600">
                <a:solidFill>
                  <a:schemeClr val="tx1"/>
                </a:solidFill>
                <a:latin typeface="Arial" charset="0"/>
              </a:defRPr>
            </a:lvl4pPr>
            <a:lvl5pPr marL="2117725" indent="-228600">
              <a:spcBef>
                <a:spcPct val="25000"/>
              </a:spcBef>
              <a:buClr>
                <a:schemeClr val="folHlink"/>
              </a:buClr>
              <a:buSzPct val="50000"/>
              <a:buFont typeface="Times"/>
              <a:buChar char="•"/>
              <a:defRPr sz="16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pPr>
              <a:spcBef>
                <a:spcPct val="75000"/>
              </a:spcBef>
            </a:pPr>
            <a:r>
              <a:rPr lang="en-GB" altLang="en-US" sz="1700"/>
              <a:t>During deformation several different processes may result in the formation of a </a:t>
            </a:r>
            <a:r>
              <a:rPr lang="en-GB" altLang="en-US" sz="1700">
                <a:solidFill>
                  <a:srgbClr val="FF6600"/>
                </a:solidFill>
              </a:rPr>
              <a:t>planar fabric</a:t>
            </a:r>
            <a:r>
              <a:rPr lang="en-GB" altLang="en-US" sz="1700"/>
              <a:t> or a </a:t>
            </a:r>
            <a:r>
              <a:rPr lang="en-GB" altLang="en-US" sz="1700">
                <a:solidFill>
                  <a:srgbClr val="FF6600"/>
                </a:solidFill>
              </a:rPr>
              <a:t>lineation</a:t>
            </a:r>
          </a:p>
        </p:txBody>
      </p:sp>
      <p:pic>
        <p:nvPicPr>
          <p:cNvPr id="56326" name="Picture 7" descr="25a"/>
          <p:cNvPicPr>
            <a:picLocks noChangeAspect="1" noChangeArrowheads="1"/>
          </p:cNvPicPr>
          <p:nvPr/>
        </p:nvPicPr>
        <p:blipFill>
          <a:blip r:embed="rId3">
            <a:extLst>
              <a:ext uri="{28A0092B-C50C-407E-A947-70E740481C1C}">
                <a14:useLocalDpi xmlns:a14="http://schemas.microsoft.com/office/drawing/2010/main" val="0"/>
              </a:ext>
            </a:extLst>
          </a:blip>
          <a:srcRect l="6644" r="58986"/>
          <a:stretch>
            <a:fillRect/>
          </a:stretch>
        </p:blipFill>
        <p:spPr bwMode="auto">
          <a:xfrm>
            <a:off x="4327294" y="863600"/>
            <a:ext cx="2265363" cy="412273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56327" name="Picture 8" descr="25a"/>
          <p:cNvPicPr>
            <a:picLocks noChangeAspect="1" noChangeArrowheads="1"/>
          </p:cNvPicPr>
          <p:nvPr/>
        </p:nvPicPr>
        <p:blipFill>
          <a:blip r:embed="rId3">
            <a:extLst>
              <a:ext uri="{28A0092B-C50C-407E-A947-70E740481C1C}">
                <a14:useLocalDpi xmlns:a14="http://schemas.microsoft.com/office/drawing/2010/main" val="0"/>
              </a:ext>
            </a:extLst>
          </a:blip>
          <a:srcRect l="59279" r="16599"/>
          <a:stretch>
            <a:fillRect/>
          </a:stretch>
        </p:blipFill>
        <p:spPr bwMode="auto">
          <a:xfrm>
            <a:off x="7294563" y="863600"/>
            <a:ext cx="1585912" cy="411638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61129" name="Line 9">
            <a:extLst>
              <a:ext uri="{FF2B5EF4-FFF2-40B4-BE49-F238E27FC236}">
                <a16:creationId xmlns:a16="http://schemas.microsoft.com/office/drawing/2014/main" id="{C26611A4-1765-4E39-A8E3-A33166D1CE2B}"/>
              </a:ext>
            </a:extLst>
          </p:cNvPr>
          <p:cNvSpPr>
            <a:spLocks noChangeShapeType="1"/>
          </p:cNvSpPr>
          <p:nvPr/>
        </p:nvSpPr>
        <p:spPr bwMode="auto">
          <a:xfrm>
            <a:off x="6767436" y="2890838"/>
            <a:ext cx="373062"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noFill/>
        </p:spPr>
        <p:txBody>
          <a:bodyPr/>
          <a:lstStyle/>
          <a:p>
            <a:r>
              <a:rPr lang="en-GB" altLang="en-US">
                <a:effectLst/>
              </a:rPr>
              <a:t>Cleavage  (definitions)</a:t>
            </a:r>
          </a:p>
        </p:txBody>
      </p:sp>
      <p:sp>
        <p:nvSpPr>
          <p:cNvPr id="58371" name="Rectangle 3"/>
          <p:cNvSpPr>
            <a:spLocks noGrp="1" noChangeArrowheads="1"/>
          </p:cNvSpPr>
          <p:nvPr>
            <p:ph type="body" sz="half" idx="1"/>
          </p:nvPr>
        </p:nvSpPr>
        <p:spPr>
          <a:xfrm>
            <a:off x="169863" y="784225"/>
            <a:ext cx="4598987" cy="763588"/>
          </a:xfrm>
          <a:noFill/>
        </p:spPr>
        <p:txBody>
          <a:bodyPr/>
          <a:lstStyle/>
          <a:p>
            <a:pPr marL="177800" indent="-177800">
              <a:spcBef>
                <a:spcPct val="75000"/>
              </a:spcBef>
            </a:pPr>
            <a:r>
              <a:rPr lang="en-GB" altLang="en-US" sz="1700">
                <a:effectLst/>
              </a:rPr>
              <a:t>The most significant planar fabric in folded rocks is </a:t>
            </a:r>
            <a:r>
              <a:rPr lang="en-GB" altLang="en-US" sz="1700">
                <a:solidFill>
                  <a:srgbClr val="FF6600"/>
                </a:solidFill>
                <a:effectLst/>
              </a:rPr>
              <a:t>cleavage</a:t>
            </a:r>
            <a:r>
              <a:rPr lang="en-GB" altLang="en-US" sz="1700">
                <a:effectLst/>
              </a:rPr>
              <a:t> or </a:t>
            </a:r>
            <a:r>
              <a:rPr lang="en-GB" altLang="en-US" sz="1700">
                <a:solidFill>
                  <a:srgbClr val="FF6600"/>
                </a:solidFill>
                <a:effectLst/>
              </a:rPr>
              <a:t>schistosity</a:t>
            </a:r>
            <a:endParaRPr lang="en-GB" altLang="en-US" sz="1700">
              <a:effectLst/>
            </a:endParaRPr>
          </a:p>
        </p:txBody>
      </p:sp>
      <p:sp>
        <p:nvSpPr>
          <p:cNvPr id="246791" name="Text Box 7">
            <a:extLst>
              <a:ext uri="{FF2B5EF4-FFF2-40B4-BE49-F238E27FC236}">
                <a16:creationId xmlns:a16="http://schemas.microsoft.com/office/drawing/2014/main" id="{314C0A06-449F-459C-BA81-AA2AAC479900}"/>
              </a:ext>
            </a:extLst>
          </p:cNvPr>
          <p:cNvSpPr txBox="1">
            <a:spLocks noChangeArrowheads="1"/>
          </p:cNvSpPr>
          <p:nvPr/>
        </p:nvSpPr>
        <p:spPr bwMode="auto">
          <a:xfrm>
            <a:off x="4878388" y="4121150"/>
            <a:ext cx="40703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defRPr/>
            </a:pPr>
            <a:r>
              <a:rPr lang="en-GB" altLang="en-US" sz="1700" dirty="0">
                <a:solidFill>
                  <a:srgbClr val="FF6600"/>
                </a:solidFill>
                <a:effectLst>
                  <a:outerShdw blurRad="38100" dist="38100" dir="2700000" algn="tl">
                    <a:srgbClr val="000000"/>
                  </a:outerShdw>
                </a:effectLst>
                <a:latin typeface="Arial" panose="020B0604020202020204" pitchFamily="34" charset="0"/>
              </a:rPr>
              <a:t>Cleavage</a:t>
            </a:r>
            <a:r>
              <a:rPr lang="en-GB" altLang="en-US" sz="1700" dirty="0">
                <a:effectLst>
                  <a:outerShdw blurRad="38100" dist="38100" dir="2700000" algn="tl">
                    <a:srgbClr val="000000"/>
                  </a:outerShdw>
                </a:effectLst>
                <a:latin typeface="Arial" panose="020B0604020202020204" pitchFamily="34" charset="0"/>
              </a:rPr>
              <a:t> = the fabric formed in fine-grained rocks up to a scale at which individual cleavage-forming minerals are visible to the naked eye (applies at </a:t>
            </a:r>
            <a:r>
              <a:rPr lang="en-GB" altLang="en-US" sz="1700" dirty="0">
                <a:solidFill>
                  <a:srgbClr val="FF66CC"/>
                </a:solidFill>
                <a:effectLst>
                  <a:outerShdw blurRad="38100" dist="38100" dir="2700000" algn="tl">
                    <a:srgbClr val="000000"/>
                  </a:outerShdw>
                </a:effectLst>
                <a:latin typeface="Arial" panose="020B0604020202020204" pitchFamily="34" charset="0"/>
              </a:rPr>
              <a:t>low metamorphic grade</a:t>
            </a:r>
            <a:r>
              <a:rPr lang="en-GB" altLang="en-US" sz="1700" dirty="0">
                <a:effectLst>
                  <a:outerShdw blurRad="38100" dist="38100" dir="2700000" algn="tl">
                    <a:srgbClr val="000000"/>
                  </a:outerShdw>
                </a:effectLst>
                <a:latin typeface="Arial" panose="020B0604020202020204" pitchFamily="34" charset="0"/>
              </a:rPr>
              <a:t>)</a:t>
            </a:r>
          </a:p>
        </p:txBody>
      </p:sp>
      <p:sp>
        <p:nvSpPr>
          <p:cNvPr id="58373" name="Rectangle 8"/>
          <p:cNvSpPr>
            <a:spLocks noChangeArrowheads="1"/>
          </p:cNvSpPr>
          <p:nvPr/>
        </p:nvSpPr>
        <p:spPr bwMode="auto">
          <a:xfrm>
            <a:off x="169863" y="5849938"/>
            <a:ext cx="8674100" cy="87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sz="2000">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a:solidFill>
                  <a:schemeClr val="tx1"/>
                </a:solidFill>
                <a:latin typeface="Arial" charset="0"/>
              </a:defRPr>
            </a:lvl2pPr>
            <a:lvl3pPr marL="1235075" indent="-184150">
              <a:spcBef>
                <a:spcPct val="25000"/>
              </a:spcBef>
              <a:buClr>
                <a:schemeClr val="folHlink"/>
              </a:buClr>
              <a:buFont typeface="Times"/>
              <a:buChar char="•"/>
              <a:defRPr sz="1600">
                <a:solidFill>
                  <a:schemeClr val="tx1"/>
                </a:solidFill>
                <a:latin typeface="Arial" charset="0"/>
              </a:defRPr>
            </a:lvl3pPr>
            <a:lvl4pPr marL="1698625" indent="-228600">
              <a:spcBef>
                <a:spcPct val="25000"/>
              </a:spcBef>
              <a:buClr>
                <a:schemeClr val="folHlink"/>
              </a:buClr>
              <a:buFont typeface="Times"/>
              <a:buChar char="•"/>
              <a:defRPr sz="1600">
                <a:solidFill>
                  <a:schemeClr val="tx1"/>
                </a:solidFill>
                <a:latin typeface="Arial" charset="0"/>
              </a:defRPr>
            </a:lvl4pPr>
            <a:lvl5pPr marL="2117725" indent="-228600">
              <a:spcBef>
                <a:spcPct val="25000"/>
              </a:spcBef>
              <a:buClr>
                <a:schemeClr val="folHlink"/>
              </a:buClr>
              <a:buSzPct val="50000"/>
              <a:buFont typeface="Times"/>
              <a:buChar char="•"/>
              <a:defRPr sz="16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pPr>
              <a:spcBef>
                <a:spcPct val="75000"/>
              </a:spcBef>
            </a:pPr>
            <a:r>
              <a:rPr lang="en-GB" altLang="en-US" sz="1700">
                <a:solidFill>
                  <a:srgbClr val="FF6600"/>
                </a:solidFill>
              </a:rPr>
              <a:t>Schistosity</a:t>
            </a:r>
            <a:r>
              <a:rPr lang="en-GB" altLang="en-US" sz="1700"/>
              <a:t> = coarser-grained foliations formed at </a:t>
            </a:r>
            <a:r>
              <a:rPr lang="en-GB" altLang="en-US" sz="1700">
                <a:solidFill>
                  <a:srgbClr val="FF66CC"/>
                </a:solidFill>
              </a:rPr>
              <a:t>higher metamorphic grades</a:t>
            </a:r>
            <a:endParaRPr lang="en-GB" altLang="en-US" sz="1700"/>
          </a:p>
          <a:p>
            <a:pPr>
              <a:spcBef>
                <a:spcPct val="50000"/>
              </a:spcBef>
            </a:pPr>
            <a:r>
              <a:rPr lang="en-GB" altLang="en-US" sz="1700"/>
              <a:t>Both may be described as </a:t>
            </a:r>
            <a:r>
              <a:rPr lang="en-GB" altLang="en-US" sz="1700">
                <a:solidFill>
                  <a:srgbClr val="FF66CC"/>
                </a:solidFill>
              </a:rPr>
              <a:t>penetrative</a:t>
            </a:r>
            <a:r>
              <a:rPr lang="en-GB" altLang="en-US" sz="1700"/>
              <a:t> or as </a:t>
            </a:r>
            <a:r>
              <a:rPr lang="en-GB" altLang="en-US" sz="1700">
                <a:solidFill>
                  <a:srgbClr val="FF66CC"/>
                </a:solidFill>
              </a:rPr>
              <a:t>spaced</a:t>
            </a:r>
          </a:p>
        </p:txBody>
      </p:sp>
      <p:pic>
        <p:nvPicPr>
          <p:cNvPr id="58374" name="Picture 11" descr="25a-WestAng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5213" y="950913"/>
            <a:ext cx="1997075" cy="3005137"/>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58375" name="Picture 13" descr="25c1-GneissMul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9300" y="955675"/>
            <a:ext cx="1871663" cy="299402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58376" name="Picture 16" descr="25a-Charnwood"/>
          <p:cNvPicPr>
            <a:picLocks noGrp="1" noChangeAspect="1" noChangeArrowheads="1"/>
          </p:cNvPicPr>
          <p:nvPr>
            <p:ph sz="half" idx="2"/>
          </p:nvPr>
        </p:nvPicPr>
        <p:blipFill>
          <a:blip r:embed="rId5">
            <a:extLst>
              <a:ext uri="{28A0092B-C50C-407E-A947-70E740481C1C}">
                <a14:useLocalDpi xmlns:a14="http://schemas.microsoft.com/office/drawing/2010/main" val="0"/>
              </a:ext>
            </a:extLst>
          </a:blip>
          <a:srcRect/>
          <a:stretch>
            <a:fillRect/>
          </a:stretch>
        </p:blipFill>
        <p:spPr>
          <a:xfrm>
            <a:off x="314325" y="1654175"/>
            <a:ext cx="4335463" cy="40751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noFill/>
        </p:spPr>
        <p:txBody>
          <a:bodyPr/>
          <a:lstStyle/>
          <a:p>
            <a:r>
              <a:rPr lang="en-GB" altLang="en-US">
                <a:effectLst/>
              </a:rPr>
              <a:t>Cleavage  (axial planar)</a:t>
            </a:r>
          </a:p>
        </p:txBody>
      </p:sp>
      <p:sp>
        <p:nvSpPr>
          <p:cNvPr id="60419" name="Rectangle 3"/>
          <p:cNvSpPr>
            <a:spLocks noGrp="1" noChangeArrowheads="1"/>
          </p:cNvSpPr>
          <p:nvPr>
            <p:ph type="body" sz="half" idx="1"/>
          </p:nvPr>
        </p:nvSpPr>
        <p:spPr>
          <a:xfrm>
            <a:off x="265113" y="779463"/>
            <a:ext cx="8555037" cy="746125"/>
          </a:xfrm>
          <a:noFill/>
        </p:spPr>
        <p:txBody>
          <a:bodyPr/>
          <a:lstStyle/>
          <a:p>
            <a:pPr marL="177800" indent="-177800"/>
            <a:r>
              <a:rPr lang="en-GB" altLang="en-US" sz="1700" dirty="0">
                <a:effectLst/>
              </a:rPr>
              <a:t>Cleavag</a:t>
            </a:r>
            <a:r>
              <a:rPr lang="en-GB" altLang="en-US" sz="1700" spc="300" dirty="0">
                <a:effectLst/>
              </a:rPr>
              <a:t>e/</a:t>
            </a:r>
            <a:r>
              <a:rPr lang="en-GB" altLang="en-US" sz="1700" dirty="0">
                <a:effectLst/>
              </a:rPr>
              <a:t>schistosity generally forms parallel or sub-parallel to the axial surfaces of folds. When it does, it is described as </a:t>
            </a:r>
            <a:r>
              <a:rPr lang="en-GB" altLang="en-US" sz="1700" dirty="0">
                <a:solidFill>
                  <a:srgbClr val="FF6600"/>
                </a:solidFill>
                <a:effectLst/>
              </a:rPr>
              <a:t>axial planar cleavage</a:t>
            </a:r>
            <a:endParaRPr lang="en-GB" altLang="en-US" sz="1700" dirty="0">
              <a:solidFill>
                <a:srgbClr val="FF66CC"/>
              </a:solidFill>
              <a:effectLst/>
            </a:endParaRPr>
          </a:p>
        </p:txBody>
      </p:sp>
      <p:pic>
        <p:nvPicPr>
          <p:cNvPr id="60420" name="Picture 14" descr="26c"/>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725488" y="1647825"/>
            <a:ext cx="1368425" cy="16621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0421" name="Picture 12" descr="26b-ThinSec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513" y="3552825"/>
            <a:ext cx="2238375" cy="3109913"/>
          </a:xfrm>
          <a:prstGeom prst="rect">
            <a:avLst/>
          </a:prstGeom>
          <a:noFill/>
          <a:ln w="381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0422" name="Text Box 21"/>
          <p:cNvSpPr txBox="1">
            <a:spLocks noChangeArrowheads="1"/>
          </p:cNvSpPr>
          <p:nvPr/>
        </p:nvSpPr>
        <p:spPr bwMode="auto">
          <a:xfrm>
            <a:off x="2873375" y="5676900"/>
            <a:ext cx="5789613" cy="10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7800" indent="-177800">
              <a:defRPr sz="1600">
                <a:solidFill>
                  <a:schemeClr val="tx1"/>
                </a:solidFill>
                <a:latin typeface="Helvetica" charset="0"/>
              </a:defRPr>
            </a:lvl1pPr>
            <a:lvl2pPr marL="742950" indent="-285750">
              <a:defRPr sz="1600">
                <a:solidFill>
                  <a:schemeClr val="tx1"/>
                </a:solidFill>
                <a:latin typeface="Helvetica" charset="0"/>
              </a:defRPr>
            </a:lvl2pPr>
            <a:lvl3pPr marL="1143000" indent="-228600">
              <a:defRPr sz="1600">
                <a:solidFill>
                  <a:schemeClr val="tx1"/>
                </a:solidFill>
                <a:latin typeface="Helvetica" charset="0"/>
              </a:defRPr>
            </a:lvl3pPr>
            <a:lvl4pPr marL="1600200" indent="-228600">
              <a:defRPr sz="1600">
                <a:solidFill>
                  <a:schemeClr val="tx1"/>
                </a:solidFill>
                <a:latin typeface="Helvetica" charset="0"/>
              </a:defRPr>
            </a:lvl4pPr>
            <a:lvl5pPr marL="2057400" indent="-228600">
              <a:defRPr sz="1600">
                <a:solidFill>
                  <a:schemeClr val="tx1"/>
                </a:solidFill>
                <a:latin typeface="Helvetica" charset="0"/>
              </a:defRPr>
            </a:lvl5pPr>
            <a:lvl6pPr marL="2514600" indent="-228600" eaLnBrk="0" fontAlgn="base" hangingPunct="0">
              <a:spcBef>
                <a:spcPct val="0"/>
              </a:spcBef>
              <a:spcAft>
                <a:spcPct val="0"/>
              </a:spcAft>
              <a:defRPr sz="1600">
                <a:solidFill>
                  <a:schemeClr val="tx1"/>
                </a:solidFill>
                <a:latin typeface="Helvetica" charset="0"/>
              </a:defRPr>
            </a:lvl6pPr>
            <a:lvl7pPr marL="2971800" indent="-228600" eaLnBrk="0" fontAlgn="base" hangingPunct="0">
              <a:spcBef>
                <a:spcPct val="0"/>
              </a:spcBef>
              <a:spcAft>
                <a:spcPct val="0"/>
              </a:spcAft>
              <a:defRPr sz="1600">
                <a:solidFill>
                  <a:schemeClr val="tx1"/>
                </a:solidFill>
                <a:latin typeface="Helvetica" charset="0"/>
              </a:defRPr>
            </a:lvl7pPr>
            <a:lvl8pPr marL="3429000" indent="-228600" eaLnBrk="0" fontAlgn="base" hangingPunct="0">
              <a:spcBef>
                <a:spcPct val="0"/>
              </a:spcBef>
              <a:spcAft>
                <a:spcPct val="0"/>
              </a:spcAft>
              <a:defRPr sz="1600">
                <a:solidFill>
                  <a:schemeClr val="tx1"/>
                </a:solidFill>
                <a:latin typeface="Helvetica" charset="0"/>
              </a:defRPr>
            </a:lvl8pPr>
            <a:lvl9pPr marL="3886200" indent="-228600" eaLnBrk="0" fontAlgn="base" hangingPunct="0">
              <a:spcBef>
                <a:spcPct val="0"/>
              </a:spcBef>
              <a:spcAft>
                <a:spcPct val="0"/>
              </a:spcAft>
              <a:defRPr sz="1600">
                <a:solidFill>
                  <a:schemeClr val="tx1"/>
                </a:solidFill>
                <a:latin typeface="Helvetica" charset="0"/>
              </a:defRPr>
            </a:lvl9pPr>
          </a:lstStyle>
          <a:p>
            <a:pPr>
              <a:lnSpc>
                <a:spcPct val="120000"/>
              </a:lnSpc>
              <a:spcBef>
                <a:spcPct val="50000"/>
              </a:spcBef>
              <a:buClr>
                <a:schemeClr val="tx1"/>
              </a:buClr>
              <a:buFontTx/>
              <a:buChar char="•"/>
            </a:pPr>
            <a:r>
              <a:rPr lang="en-GB" altLang="en-US" sz="1700" dirty="0">
                <a:latin typeface="Arial" charset="0"/>
              </a:rPr>
              <a:t>Axial planar cleavage is invaluable for determining the </a:t>
            </a:r>
            <a:r>
              <a:rPr lang="en-GB" altLang="en-US" sz="1700" dirty="0">
                <a:solidFill>
                  <a:srgbClr val="FF66CC"/>
                </a:solidFill>
                <a:latin typeface="Arial" charset="0"/>
              </a:rPr>
              <a:t>orientation of the axial surface</a:t>
            </a:r>
            <a:r>
              <a:rPr lang="en-GB" altLang="en-US" sz="1700" dirty="0">
                <a:latin typeface="Arial" charset="0"/>
              </a:rPr>
              <a:t> and also, by using the cleavag</a:t>
            </a:r>
            <a:r>
              <a:rPr lang="en-GB" altLang="en-US" sz="1700" spc="300" dirty="0">
                <a:latin typeface="Arial" charset="0"/>
              </a:rPr>
              <a:t>e/</a:t>
            </a:r>
            <a:r>
              <a:rPr lang="en-GB" altLang="en-US" sz="1700" dirty="0">
                <a:latin typeface="Arial" charset="0"/>
              </a:rPr>
              <a:t>bedding intersection, the </a:t>
            </a:r>
            <a:r>
              <a:rPr lang="en-GB" altLang="en-US" sz="1700" dirty="0">
                <a:solidFill>
                  <a:srgbClr val="FF66CC"/>
                </a:solidFill>
                <a:latin typeface="Arial" charset="0"/>
              </a:rPr>
              <a:t>fold axis </a:t>
            </a:r>
            <a:r>
              <a:rPr lang="en-GB" altLang="en-US" sz="1700" dirty="0">
                <a:latin typeface="Arial" charset="0"/>
              </a:rPr>
              <a:t>orientation</a:t>
            </a:r>
          </a:p>
        </p:txBody>
      </p:sp>
      <p:pic>
        <p:nvPicPr>
          <p:cNvPr id="60423" name="Picture 23" descr="26a1-BwaDu"/>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2867025" y="1647825"/>
            <a:ext cx="6059488" cy="38719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noFill/>
        </p:spPr>
        <p:txBody>
          <a:bodyPr/>
          <a:lstStyle/>
          <a:p>
            <a:r>
              <a:rPr lang="en-GB" altLang="en-US">
                <a:effectLst/>
              </a:rPr>
              <a:t>Cleavage  (axial planar)  2</a:t>
            </a:r>
          </a:p>
        </p:txBody>
      </p:sp>
      <p:pic>
        <p:nvPicPr>
          <p:cNvPr id="62467" name="Picture 10" descr="Kakadu2"/>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4552950" y="1017588"/>
            <a:ext cx="4427538" cy="382428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2468" name="Picture 4" descr="26c"/>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1457325" y="1017588"/>
            <a:ext cx="1366838" cy="165893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2469" name="Picture 12" descr="Boscastle"/>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168275" y="3046413"/>
            <a:ext cx="4192588" cy="34290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2470" name="Text Box 14"/>
          <p:cNvSpPr txBox="1">
            <a:spLocks noChangeArrowheads="1"/>
          </p:cNvSpPr>
          <p:nvPr/>
        </p:nvSpPr>
        <p:spPr bwMode="auto">
          <a:xfrm>
            <a:off x="4623594" y="5015798"/>
            <a:ext cx="4315521" cy="1515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77800" indent="-177800">
              <a:defRPr sz="1600">
                <a:solidFill>
                  <a:schemeClr val="tx1"/>
                </a:solidFill>
                <a:latin typeface="Helvetica" charset="0"/>
              </a:defRPr>
            </a:lvl1pPr>
            <a:lvl2pPr marL="742950" indent="-285750">
              <a:defRPr sz="1600">
                <a:solidFill>
                  <a:schemeClr val="tx1"/>
                </a:solidFill>
                <a:latin typeface="Helvetica" charset="0"/>
              </a:defRPr>
            </a:lvl2pPr>
            <a:lvl3pPr marL="1143000" indent="-228600">
              <a:defRPr sz="1600">
                <a:solidFill>
                  <a:schemeClr val="tx1"/>
                </a:solidFill>
                <a:latin typeface="Helvetica" charset="0"/>
              </a:defRPr>
            </a:lvl3pPr>
            <a:lvl4pPr marL="1600200" indent="-228600">
              <a:defRPr sz="1600">
                <a:solidFill>
                  <a:schemeClr val="tx1"/>
                </a:solidFill>
                <a:latin typeface="Helvetica" charset="0"/>
              </a:defRPr>
            </a:lvl4pPr>
            <a:lvl5pPr marL="2057400" indent="-228600">
              <a:defRPr sz="1600">
                <a:solidFill>
                  <a:schemeClr val="tx1"/>
                </a:solidFill>
                <a:latin typeface="Helvetica" charset="0"/>
              </a:defRPr>
            </a:lvl5pPr>
            <a:lvl6pPr marL="2514600" indent="-228600" eaLnBrk="0" fontAlgn="base" hangingPunct="0">
              <a:spcBef>
                <a:spcPct val="0"/>
              </a:spcBef>
              <a:spcAft>
                <a:spcPct val="0"/>
              </a:spcAft>
              <a:defRPr sz="1600">
                <a:solidFill>
                  <a:schemeClr val="tx1"/>
                </a:solidFill>
                <a:latin typeface="Helvetica" charset="0"/>
              </a:defRPr>
            </a:lvl6pPr>
            <a:lvl7pPr marL="2971800" indent="-228600" eaLnBrk="0" fontAlgn="base" hangingPunct="0">
              <a:spcBef>
                <a:spcPct val="0"/>
              </a:spcBef>
              <a:spcAft>
                <a:spcPct val="0"/>
              </a:spcAft>
              <a:defRPr sz="1600">
                <a:solidFill>
                  <a:schemeClr val="tx1"/>
                </a:solidFill>
                <a:latin typeface="Helvetica" charset="0"/>
              </a:defRPr>
            </a:lvl7pPr>
            <a:lvl8pPr marL="3429000" indent="-228600" eaLnBrk="0" fontAlgn="base" hangingPunct="0">
              <a:spcBef>
                <a:spcPct val="0"/>
              </a:spcBef>
              <a:spcAft>
                <a:spcPct val="0"/>
              </a:spcAft>
              <a:defRPr sz="1600">
                <a:solidFill>
                  <a:schemeClr val="tx1"/>
                </a:solidFill>
                <a:latin typeface="Helvetica" charset="0"/>
              </a:defRPr>
            </a:lvl8pPr>
            <a:lvl9pPr marL="3886200" indent="-228600" eaLnBrk="0" fontAlgn="base" hangingPunct="0">
              <a:spcBef>
                <a:spcPct val="0"/>
              </a:spcBef>
              <a:spcAft>
                <a:spcPct val="0"/>
              </a:spcAft>
              <a:defRPr sz="1600">
                <a:solidFill>
                  <a:schemeClr val="tx1"/>
                </a:solidFill>
                <a:latin typeface="Helvetica" charset="0"/>
              </a:defRPr>
            </a:lvl9pPr>
          </a:lstStyle>
          <a:p>
            <a:pPr>
              <a:lnSpc>
                <a:spcPct val="120000"/>
              </a:lnSpc>
              <a:spcBef>
                <a:spcPct val="50000"/>
              </a:spcBef>
              <a:buClr>
                <a:schemeClr val="tx1"/>
              </a:buClr>
              <a:buFontTx/>
              <a:buChar char="•"/>
            </a:pPr>
            <a:r>
              <a:rPr lang="en-GB" altLang="en-US" sz="1700" dirty="0">
                <a:latin typeface="Arial" charset="0"/>
              </a:rPr>
              <a:t>When you are mapping:</a:t>
            </a:r>
          </a:p>
          <a:p>
            <a:pPr algn="ctr">
              <a:lnSpc>
                <a:spcPct val="120000"/>
              </a:lnSpc>
              <a:spcBef>
                <a:spcPct val="25000"/>
              </a:spcBef>
              <a:buClr>
                <a:schemeClr val="tx1"/>
              </a:buClr>
            </a:pPr>
            <a:r>
              <a:rPr lang="en-GB" altLang="en-US" sz="1700" dirty="0">
                <a:latin typeface="Arial" charset="0"/>
              </a:rPr>
              <a:t>	don’t</a:t>
            </a:r>
            <a:r>
              <a:rPr lang="en-GB" altLang="en-US" sz="1700" dirty="0">
                <a:solidFill>
                  <a:srgbClr val="FF6600"/>
                </a:solidFill>
                <a:latin typeface="Arial" charset="0"/>
              </a:rPr>
              <a:t> </a:t>
            </a:r>
            <a:r>
              <a:rPr lang="en-GB" altLang="en-US" sz="1700" dirty="0">
                <a:latin typeface="Arial" charset="0"/>
              </a:rPr>
              <a:t>forget to measure </a:t>
            </a:r>
            <a:r>
              <a:rPr lang="en-GB" altLang="en-US" sz="1700" dirty="0">
                <a:solidFill>
                  <a:srgbClr val="FF6600"/>
                </a:solidFill>
                <a:latin typeface="Arial" charset="0"/>
              </a:rPr>
              <a:t>CLEAVAGE</a:t>
            </a:r>
          </a:p>
          <a:p>
            <a:pPr algn="ctr">
              <a:lnSpc>
                <a:spcPct val="120000"/>
              </a:lnSpc>
              <a:spcBef>
                <a:spcPct val="25000"/>
              </a:spcBef>
              <a:buClr>
                <a:schemeClr val="tx1"/>
              </a:buClr>
            </a:pPr>
            <a:r>
              <a:rPr lang="en-GB" altLang="en-US" sz="1700" dirty="0">
                <a:latin typeface="Arial" charset="0"/>
              </a:rPr>
              <a:t>and, if possible, the</a:t>
            </a:r>
          </a:p>
          <a:p>
            <a:pPr algn="ctr">
              <a:lnSpc>
                <a:spcPct val="120000"/>
              </a:lnSpc>
              <a:spcBef>
                <a:spcPct val="25000"/>
              </a:spcBef>
              <a:buClr>
                <a:schemeClr val="tx1"/>
              </a:buClr>
            </a:pPr>
            <a:r>
              <a:rPr lang="en-GB" altLang="en-US" sz="1700" dirty="0">
                <a:solidFill>
                  <a:srgbClr val="FF6600"/>
                </a:solidFill>
                <a:latin typeface="Arial" charset="0"/>
              </a:rPr>
              <a:t>CLEAVAGE / BEDDING INTERSECTION</a:t>
            </a: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1" descr="Marloes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0925" y="3014663"/>
            <a:ext cx="2373313" cy="36703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64515" name="Picture 20" descr="27c-Velodro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9825" y="3024188"/>
            <a:ext cx="2663825" cy="36639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64516" name="Rectangle 3"/>
          <p:cNvSpPr>
            <a:spLocks noGrp="1" noChangeArrowheads="1"/>
          </p:cNvSpPr>
          <p:nvPr>
            <p:ph type="title"/>
          </p:nvPr>
        </p:nvSpPr>
        <p:spPr>
          <a:noFill/>
        </p:spPr>
        <p:txBody>
          <a:bodyPr/>
          <a:lstStyle/>
          <a:p>
            <a:r>
              <a:rPr lang="en-GB" altLang="en-US">
                <a:effectLst/>
              </a:rPr>
              <a:t>Cleavage  (asymmetry)</a:t>
            </a:r>
          </a:p>
        </p:txBody>
      </p:sp>
      <p:sp>
        <p:nvSpPr>
          <p:cNvPr id="64517" name="Rectangle 4"/>
          <p:cNvSpPr>
            <a:spLocks noGrp="1" noChangeArrowheads="1"/>
          </p:cNvSpPr>
          <p:nvPr>
            <p:ph type="body" sz="half" idx="1"/>
          </p:nvPr>
        </p:nvSpPr>
        <p:spPr>
          <a:xfrm>
            <a:off x="114300" y="796925"/>
            <a:ext cx="8888413" cy="1690688"/>
          </a:xfrm>
          <a:noFill/>
        </p:spPr>
        <p:txBody>
          <a:bodyPr/>
          <a:lstStyle/>
          <a:p>
            <a:pPr marL="177800" indent="-177800"/>
            <a:r>
              <a:rPr lang="en-GB" altLang="en-US" sz="1700" dirty="0">
                <a:effectLst/>
              </a:rPr>
              <a:t>The </a:t>
            </a:r>
            <a:r>
              <a:rPr lang="en-GB" altLang="en-US" sz="1700" dirty="0">
                <a:solidFill>
                  <a:srgbClr val="FF6600"/>
                </a:solidFill>
                <a:effectLst/>
              </a:rPr>
              <a:t>sense of cleavag</a:t>
            </a:r>
            <a:r>
              <a:rPr lang="en-GB" altLang="en-US" sz="1700" spc="300" dirty="0">
                <a:solidFill>
                  <a:srgbClr val="FF6600"/>
                </a:solidFill>
                <a:effectLst/>
              </a:rPr>
              <a:t>e/</a:t>
            </a:r>
            <a:r>
              <a:rPr lang="en-GB" altLang="en-US" sz="1700" dirty="0">
                <a:solidFill>
                  <a:srgbClr val="FF6600"/>
                </a:solidFill>
                <a:effectLst/>
              </a:rPr>
              <a:t>bedding asymmetry</a:t>
            </a:r>
            <a:r>
              <a:rPr lang="en-GB" altLang="en-US" sz="1700" dirty="0">
                <a:effectLst/>
              </a:rPr>
              <a:t> of an axial planar cleavage may be used to determine location on the larger scale fold structure. The sense of asymmetry may be determined using the </a:t>
            </a:r>
            <a:r>
              <a:rPr lang="en-GB" altLang="en-US" sz="1700" spc="300" dirty="0">
                <a:solidFill>
                  <a:srgbClr val="FF66CC"/>
                </a:solidFill>
                <a:effectLst/>
              </a:rPr>
              <a:t>S/</a:t>
            </a:r>
            <a:r>
              <a:rPr lang="en-GB" altLang="en-US" sz="1700" dirty="0">
                <a:solidFill>
                  <a:srgbClr val="FF66CC"/>
                </a:solidFill>
                <a:effectLst/>
              </a:rPr>
              <a:t>Z nomenclature</a:t>
            </a:r>
            <a:r>
              <a:rPr lang="en-GB" altLang="en-US" sz="1700" dirty="0">
                <a:effectLst/>
              </a:rPr>
              <a:t> or by using the </a:t>
            </a:r>
            <a:r>
              <a:rPr lang="en-GB" altLang="en-US" sz="1700" dirty="0">
                <a:solidFill>
                  <a:srgbClr val="FF66CC"/>
                </a:solidFill>
                <a:effectLst/>
              </a:rPr>
              <a:t>direction of vergence</a:t>
            </a:r>
            <a:r>
              <a:rPr lang="en-GB" altLang="en-US" sz="1700" dirty="0">
                <a:effectLst/>
              </a:rPr>
              <a:t> (in this case, defined as the horizontal direction within the profile plane that the top of the cleavage trace must be rotated so that the cleavage becomes parallel with bedding)</a:t>
            </a:r>
          </a:p>
        </p:txBody>
      </p:sp>
      <p:pic>
        <p:nvPicPr>
          <p:cNvPr id="64518" name="Picture 5"/>
          <p:cNvPicPr>
            <a:picLocks noGrp="1" noChangeAspect="1" noChangeArrowheads="1"/>
          </p:cNvPicPr>
          <p:nvPr>
            <p:ph sz="quarter" idx="2"/>
          </p:nvPr>
        </p:nvPicPr>
        <p:blipFill>
          <a:blip r:embed="rId5">
            <a:extLst>
              <a:ext uri="{28A0092B-C50C-407E-A947-70E740481C1C}">
                <a14:useLocalDpi xmlns:a14="http://schemas.microsoft.com/office/drawing/2010/main" val="0"/>
              </a:ext>
            </a:extLst>
          </a:blip>
          <a:srcRect/>
          <a:stretch>
            <a:fillRect/>
          </a:stretch>
        </p:blipFill>
        <p:spPr>
          <a:xfrm>
            <a:off x="381000" y="2774950"/>
            <a:ext cx="2916238" cy="3927475"/>
          </a:xfrm>
          <a:noFill/>
          <a:ln w="38100" cap="flat">
            <a:solidFill>
              <a:schemeClr val="bg2"/>
            </a:solidFill>
            <a:miter lim="800000"/>
            <a:headEnd/>
            <a:tailEnd/>
          </a:ln>
        </p:spPr>
      </p:pic>
      <p:sp>
        <p:nvSpPr>
          <p:cNvPr id="251911" name="Line 7">
            <a:extLst>
              <a:ext uri="{FF2B5EF4-FFF2-40B4-BE49-F238E27FC236}">
                <a16:creationId xmlns:a16="http://schemas.microsoft.com/office/drawing/2014/main" id="{D0B368EE-4900-4155-8A6B-D443A58B84FA}"/>
              </a:ext>
            </a:extLst>
          </p:cNvPr>
          <p:cNvSpPr>
            <a:spLocks noChangeShapeType="1"/>
          </p:cNvSpPr>
          <p:nvPr/>
        </p:nvSpPr>
        <p:spPr bwMode="auto">
          <a:xfrm>
            <a:off x="4805363" y="2805113"/>
            <a:ext cx="622300" cy="0"/>
          </a:xfrm>
          <a:prstGeom prst="line">
            <a:avLst/>
          </a:prstGeom>
          <a:noFill/>
          <a:ln w="381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51912" name="Line 8">
            <a:extLst>
              <a:ext uri="{FF2B5EF4-FFF2-40B4-BE49-F238E27FC236}">
                <a16:creationId xmlns:a16="http://schemas.microsoft.com/office/drawing/2014/main" id="{58C2469C-F821-415B-967A-45019AFF78D8}"/>
              </a:ext>
            </a:extLst>
          </p:cNvPr>
          <p:cNvSpPr>
            <a:spLocks noChangeShapeType="1"/>
          </p:cNvSpPr>
          <p:nvPr/>
        </p:nvSpPr>
        <p:spPr bwMode="auto">
          <a:xfrm flipH="1">
            <a:off x="7113588" y="2816225"/>
            <a:ext cx="603250" cy="0"/>
          </a:xfrm>
          <a:prstGeom prst="line">
            <a:avLst/>
          </a:prstGeom>
          <a:noFill/>
          <a:ln w="381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51913" name="Line 9">
            <a:extLst>
              <a:ext uri="{FF2B5EF4-FFF2-40B4-BE49-F238E27FC236}">
                <a16:creationId xmlns:a16="http://schemas.microsoft.com/office/drawing/2014/main" id="{9EA1DA35-88ED-4AE7-96AF-3C3D768D25FA}"/>
              </a:ext>
            </a:extLst>
          </p:cNvPr>
          <p:cNvSpPr>
            <a:spLocks noChangeShapeType="1"/>
          </p:cNvSpPr>
          <p:nvPr/>
        </p:nvSpPr>
        <p:spPr bwMode="auto">
          <a:xfrm flipH="1">
            <a:off x="6321425" y="5494338"/>
            <a:ext cx="506413" cy="531812"/>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51914" name="Line 10">
            <a:extLst>
              <a:ext uri="{FF2B5EF4-FFF2-40B4-BE49-F238E27FC236}">
                <a16:creationId xmlns:a16="http://schemas.microsoft.com/office/drawing/2014/main" id="{F20C7A1D-EBD8-40F1-B412-3F4937D82D0E}"/>
              </a:ext>
            </a:extLst>
          </p:cNvPr>
          <p:cNvSpPr>
            <a:spLocks noChangeShapeType="1"/>
          </p:cNvSpPr>
          <p:nvPr/>
        </p:nvSpPr>
        <p:spPr bwMode="auto">
          <a:xfrm flipH="1">
            <a:off x="6910388" y="5559425"/>
            <a:ext cx="728662" cy="654050"/>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51915" name="Line 11">
            <a:extLst>
              <a:ext uri="{FF2B5EF4-FFF2-40B4-BE49-F238E27FC236}">
                <a16:creationId xmlns:a16="http://schemas.microsoft.com/office/drawing/2014/main" id="{E6C03B3D-6A5A-4F7A-9C77-01721EC67EEA}"/>
              </a:ext>
            </a:extLst>
          </p:cNvPr>
          <p:cNvSpPr>
            <a:spLocks noChangeShapeType="1"/>
          </p:cNvSpPr>
          <p:nvPr/>
        </p:nvSpPr>
        <p:spPr bwMode="auto">
          <a:xfrm flipV="1">
            <a:off x="6437313" y="5581650"/>
            <a:ext cx="1057275" cy="534988"/>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51916" name="Line 12">
            <a:extLst>
              <a:ext uri="{FF2B5EF4-FFF2-40B4-BE49-F238E27FC236}">
                <a16:creationId xmlns:a16="http://schemas.microsoft.com/office/drawing/2014/main" id="{46CB4745-8757-4B1C-80A2-FC579F44DA1D}"/>
              </a:ext>
            </a:extLst>
          </p:cNvPr>
          <p:cNvSpPr>
            <a:spLocks noChangeShapeType="1"/>
          </p:cNvSpPr>
          <p:nvPr/>
        </p:nvSpPr>
        <p:spPr bwMode="auto">
          <a:xfrm>
            <a:off x="5313363" y="5535613"/>
            <a:ext cx="168275" cy="812800"/>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51917" name="Line 13">
            <a:extLst>
              <a:ext uri="{FF2B5EF4-FFF2-40B4-BE49-F238E27FC236}">
                <a16:creationId xmlns:a16="http://schemas.microsoft.com/office/drawing/2014/main" id="{97A586DA-F7DB-4F8B-A50A-ECBDBFCB7DA9}"/>
              </a:ext>
            </a:extLst>
          </p:cNvPr>
          <p:cNvSpPr>
            <a:spLocks noChangeShapeType="1"/>
          </p:cNvSpPr>
          <p:nvPr/>
        </p:nvSpPr>
        <p:spPr bwMode="auto">
          <a:xfrm flipH="1" flipV="1">
            <a:off x="4741863" y="5605463"/>
            <a:ext cx="612775" cy="725487"/>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51918" name="Line 14">
            <a:extLst>
              <a:ext uri="{FF2B5EF4-FFF2-40B4-BE49-F238E27FC236}">
                <a16:creationId xmlns:a16="http://schemas.microsoft.com/office/drawing/2014/main" id="{5C0CF03B-3E63-496A-BDE1-45311D242216}"/>
              </a:ext>
            </a:extLst>
          </p:cNvPr>
          <p:cNvSpPr>
            <a:spLocks noChangeShapeType="1"/>
          </p:cNvSpPr>
          <p:nvPr/>
        </p:nvSpPr>
        <p:spPr bwMode="auto">
          <a:xfrm>
            <a:off x="4613275" y="5575300"/>
            <a:ext cx="177800" cy="827088"/>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51919" name="Text Box 15">
            <a:extLst>
              <a:ext uri="{FF2B5EF4-FFF2-40B4-BE49-F238E27FC236}">
                <a16:creationId xmlns:a16="http://schemas.microsoft.com/office/drawing/2014/main" id="{517674B9-B4E1-4D5E-A642-976BAA9FA286}"/>
              </a:ext>
            </a:extLst>
          </p:cNvPr>
          <p:cNvSpPr txBox="1">
            <a:spLocks noChangeArrowheads="1"/>
          </p:cNvSpPr>
          <p:nvPr/>
        </p:nvSpPr>
        <p:spPr bwMode="auto">
          <a:xfrm>
            <a:off x="4341813" y="2586038"/>
            <a:ext cx="3460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defRPr/>
            </a:pPr>
            <a:r>
              <a:rPr lang="en-GB" altLang="en-US" sz="2000">
                <a:solidFill>
                  <a:srgbClr val="FF6600"/>
                </a:solidFill>
                <a:effectLst>
                  <a:outerShdw blurRad="38100" dist="38100" dir="2700000" algn="tl">
                    <a:srgbClr val="000000"/>
                  </a:outerShdw>
                </a:effectLst>
                <a:latin typeface="Helvetica" panose="020B0604020202020204" pitchFamily="34" charset="0"/>
              </a:rPr>
              <a:t>Z</a:t>
            </a:r>
          </a:p>
        </p:txBody>
      </p:sp>
      <p:sp>
        <p:nvSpPr>
          <p:cNvPr id="251920" name="Text Box 16">
            <a:extLst>
              <a:ext uri="{FF2B5EF4-FFF2-40B4-BE49-F238E27FC236}">
                <a16:creationId xmlns:a16="http://schemas.microsoft.com/office/drawing/2014/main" id="{62CB0B6A-CB1C-442D-B380-4CE539C34544}"/>
              </a:ext>
            </a:extLst>
          </p:cNvPr>
          <p:cNvSpPr txBox="1">
            <a:spLocks noChangeArrowheads="1"/>
          </p:cNvSpPr>
          <p:nvPr/>
        </p:nvSpPr>
        <p:spPr bwMode="auto">
          <a:xfrm>
            <a:off x="7877175" y="2586038"/>
            <a:ext cx="3460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defRPr/>
            </a:pPr>
            <a:r>
              <a:rPr lang="en-GB" altLang="en-US" sz="2000">
                <a:solidFill>
                  <a:srgbClr val="FF6600"/>
                </a:solidFill>
                <a:effectLst>
                  <a:outerShdw blurRad="38100" dist="38100" dir="2700000" algn="tl">
                    <a:srgbClr val="000000"/>
                  </a:outerShdw>
                </a:effectLst>
                <a:latin typeface="Helvetica" panose="020B0604020202020204" pitchFamily="34" charset="0"/>
              </a:rPr>
              <a:t>S</a:t>
            </a: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19" name="Rectangle 15">
            <a:extLst>
              <a:ext uri="{FF2B5EF4-FFF2-40B4-BE49-F238E27FC236}">
                <a16:creationId xmlns:a16="http://schemas.microsoft.com/office/drawing/2014/main" id="{19EDFADB-6D60-4325-BD2E-1100CC973B8C}"/>
              </a:ext>
            </a:extLst>
          </p:cNvPr>
          <p:cNvSpPr>
            <a:spLocks noChangeArrowheads="1"/>
          </p:cNvSpPr>
          <p:nvPr/>
        </p:nvSpPr>
        <p:spPr bwMode="auto">
          <a:xfrm>
            <a:off x="844550" y="4543425"/>
            <a:ext cx="1463675" cy="1766888"/>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175112" name="Rectangle 8">
            <a:extLst>
              <a:ext uri="{FF2B5EF4-FFF2-40B4-BE49-F238E27FC236}">
                <a16:creationId xmlns:a16="http://schemas.microsoft.com/office/drawing/2014/main" id="{0D111178-426C-4CA5-AC3F-DFB5249E67AC}"/>
              </a:ext>
            </a:extLst>
          </p:cNvPr>
          <p:cNvSpPr>
            <a:spLocks noChangeArrowheads="1"/>
          </p:cNvSpPr>
          <p:nvPr/>
        </p:nvSpPr>
        <p:spPr bwMode="auto">
          <a:xfrm>
            <a:off x="4783138" y="936625"/>
            <a:ext cx="4057650" cy="3738563"/>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20000"/>
              </a:spcBef>
              <a:buClr>
                <a:schemeClr val="accent2"/>
              </a:buClr>
              <a:defRPr/>
            </a:pPr>
            <a:endParaRPr lang="en-US" altLang="en-US">
              <a:effectLst>
                <a:outerShdw blurRad="38100" dist="38100" dir="2700000" algn="tl">
                  <a:srgbClr val="C0C0C0"/>
                </a:outerShdw>
              </a:effectLst>
              <a:latin typeface="Helvetica" panose="020B0604020202020204" pitchFamily="34" charset="0"/>
            </a:endParaRPr>
          </a:p>
        </p:txBody>
      </p:sp>
      <p:sp>
        <p:nvSpPr>
          <p:cNvPr id="66564" name="Rectangle 2"/>
          <p:cNvSpPr>
            <a:spLocks noGrp="1" noChangeArrowheads="1"/>
          </p:cNvSpPr>
          <p:nvPr>
            <p:ph type="title"/>
          </p:nvPr>
        </p:nvSpPr>
        <p:spPr>
          <a:noFill/>
        </p:spPr>
        <p:txBody>
          <a:bodyPr/>
          <a:lstStyle/>
          <a:p>
            <a:r>
              <a:rPr lang="en-GB" altLang="en-US" dirty="0">
                <a:effectLst/>
              </a:rPr>
              <a:t>Cleavage  (fannin</a:t>
            </a:r>
            <a:r>
              <a:rPr lang="en-GB" altLang="en-US" spc="500" dirty="0">
                <a:effectLst/>
              </a:rPr>
              <a:t>g/</a:t>
            </a:r>
            <a:r>
              <a:rPr lang="en-GB" altLang="en-US" dirty="0">
                <a:effectLst/>
              </a:rPr>
              <a:t>transecting)</a:t>
            </a:r>
          </a:p>
        </p:txBody>
      </p:sp>
      <p:sp>
        <p:nvSpPr>
          <p:cNvPr id="66565" name="Rectangle 3"/>
          <p:cNvSpPr>
            <a:spLocks noGrp="1" noChangeArrowheads="1"/>
          </p:cNvSpPr>
          <p:nvPr>
            <p:ph type="body" sz="half" idx="1"/>
          </p:nvPr>
        </p:nvSpPr>
        <p:spPr>
          <a:xfrm>
            <a:off x="117475" y="792163"/>
            <a:ext cx="4505325" cy="1392237"/>
          </a:xfrm>
          <a:noFill/>
        </p:spPr>
        <p:txBody>
          <a:bodyPr/>
          <a:lstStyle/>
          <a:p>
            <a:pPr marL="177800" indent="-177800"/>
            <a:r>
              <a:rPr lang="en-GB" altLang="en-US" sz="1700">
                <a:effectLst/>
              </a:rPr>
              <a:t>Except in the hinge, cleavage is often not exactly parallel with the axial plane but rather it </a:t>
            </a:r>
            <a:r>
              <a:rPr lang="en-GB" altLang="en-US" sz="1700">
                <a:solidFill>
                  <a:srgbClr val="FF6600"/>
                </a:solidFill>
                <a:effectLst/>
              </a:rPr>
              <a:t>fans</a:t>
            </a:r>
            <a:r>
              <a:rPr lang="en-GB" altLang="en-US" sz="1700">
                <a:effectLst/>
              </a:rPr>
              <a:t> about the fold in a </a:t>
            </a:r>
            <a:r>
              <a:rPr lang="en-GB" altLang="en-US" sz="1700">
                <a:solidFill>
                  <a:srgbClr val="FF66CC"/>
                </a:solidFill>
                <a:effectLst/>
              </a:rPr>
              <a:t>convergent</a:t>
            </a:r>
            <a:r>
              <a:rPr lang="en-GB" altLang="en-US" sz="1700">
                <a:effectLst/>
              </a:rPr>
              <a:t> or </a:t>
            </a:r>
            <a:r>
              <a:rPr lang="en-GB" altLang="en-US" sz="1700">
                <a:solidFill>
                  <a:srgbClr val="FF66CC"/>
                </a:solidFill>
                <a:effectLst/>
              </a:rPr>
              <a:t>divergent</a:t>
            </a:r>
            <a:r>
              <a:rPr lang="en-GB" altLang="en-US" sz="1700">
                <a:effectLst/>
              </a:rPr>
              <a:t> manner</a:t>
            </a:r>
          </a:p>
        </p:txBody>
      </p:sp>
      <p:pic>
        <p:nvPicPr>
          <p:cNvPr id="66566" name="Picture 2" descr="GR20.jpg"/>
          <p:cNvPicPr>
            <a:picLocks noGrp="1" noChangeAspect="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964113" y="1039813"/>
            <a:ext cx="3792537" cy="33543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6567" name="Picture 6" descr="28a"/>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1427163" y="2362200"/>
            <a:ext cx="1947862" cy="199866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6568" name="Rectangle 10"/>
          <p:cNvSpPr>
            <a:spLocks noChangeArrowheads="1"/>
          </p:cNvSpPr>
          <p:nvPr/>
        </p:nvSpPr>
        <p:spPr bwMode="auto">
          <a:xfrm>
            <a:off x="4800600" y="4821238"/>
            <a:ext cx="4168775" cy="1389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sz="2000">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a:solidFill>
                  <a:schemeClr val="tx1"/>
                </a:solidFill>
                <a:latin typeface="Arial" charset="0"/>
              </a:defRPr>
            </a:lvl2pPr>
            <a:lvl3pPr marL="1235075" indent="-184150">
              <a:spcBef>
                <a:spcPct val="25000"/>
              </a:spcBef>
              <a:buClr>
                <a:schemeClr val="folHlink"/>
              </a:buClr>
              <a:buFont typeface="Times"/>
              <a:buChar char="•"/>
              <a:defRPr sz="1600">
                <a:solidFill>
                  <a:schemeClr val="tx1"/>
                </a:solidFill>
                <a:latin typeface="Arial" charset="0"/>
              </a:defRPr>
            </a:lvl3pPr>
            <a:lvl4pPr marL="1698625" indent="-228600">
              <a:spcBef>
                <a:spcPct val="25000"/>
              </a:spcBef>
              <a:buClr>
                <a:schemeClr val="folHlink"/>
              </a:buClr>
              <a:buFont typeface="Times"/>
              <a:buChar char="•"/>
              <a:defRPr sz="1600">
                <a:solidFill>
                  <a:schemeClr val="tx1"/>
                </a:solidFill>
                <a:latin typeface="Arial" charset="0"/>
              </a:defRPr>
            </a:lvl4pPr>
            <a:lvl5pPr marL="2117725" indent="-228600">
              <a:spcBef>
                <a:spcPct val="25000"/>
              </a:spcBef>
              <a:buClr>
                <a:schemeClr val="folHlink"/>
              </a:buClr>
              <a:buSzPct val="50000"/>
              <a:buFont typeface="Times"/>
              <a:buChar char="•"/>
              <a:defRPr sz="16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r>
              <a:rPr lang="en-GB" altLang="en-US" sz="1700"/>
              <a:t>Alternatively, when folding occurs in a transpressive regime, the cleavage may be systematically oblique to the axial plane (</a:t>
            </a:r>
            <a:r>
              <a:rPr lang="en-GB" altLang="en-US" sz="1700">
                <a:solidFill>
                  <a:srgbClr val="FF6600"/>
                </a:solidFill>
              </a:rPr>
              <a:t>transecting cleavage</a:t>
            </a:r>
            <a:r>
              <a:rPr lang="en-GB" altLang="en-US" sz="1700"/>
              <a:t>)</a:t>
            </a:r>
          </a:p>
        </p:txBody>
      </p:sp>
      <p:pic>
        <p:nvPicPr>
          <p:cNvPr id="66569" name="Picture 2" descr="GR10.jpg"/>
          <p:cNvPicPr>
            <a:picLocks noChangeAspect="1"/>
          </p:cNvPicPr>
          <p:nvPr/>
        </p:nvPicPr>
        <p:blipFill>
          <a:blip r:embed="rId5">
            <a:extLst>
              <a:ext uri="{28A0092B-C50C-407E-A947-70E740481C1C}">
                <a14:useLocalDpi xmlns:a14="http://schemas.microsoft.com/office/drawing/2010/main" val="0"/>
              </a:ext>
            </a:extLst>
          </a:blip>
          <a:srcRect l="56822" t="58850" r="8594"/>
          <a:stretch>
            <a:fillRect/>
          </a:stretch>
        </p:blipFill>
        <p:spPr bwMode="auto">
          <a:xfrm>
            <a:off x="2490788" y="4559300"/>
            <a:ext cx="1404937" cy="1743075"/>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66570" name="Picture 2" descr="GR10.jpg"/>
          <p:cNvPicPr>
            <a:picLocks noChangeAspect="1"/>
          </p:cNvPicPr>
          <p:nvPr/>
        </p:nvPicPr>
        <p:blipFill>
          <a:blip r:embed="rId5">
            <a:extLst>
              <a:ext uri="{28A0092B-C50C-407E-A947-70E740481C1C}">
                <a14:useLocalDpi xmlns:a14="http://schemas.microsoft.com/office/drawing/2010/main" val="0"/>
              </a:ext>
            </a:extLst>
          </a:blip>
          <a:srcRect l="73607" t="21449" b="47820"/>
          <a:stretch>
            <a:fillRect/>
          </a:stretch>
        </p:blipFill>
        <p:spPr bwMode="auto">
          <a:xfrm>
            <a:off x="866775" y="4567238"/>
            <a:ext cx="14097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117" name="Rectangle 13">
            <a:extLst>
              <a:ext uri="{FF2B5EF4-FFF2-40B4-BE49-F238E27FC236}">
                <a16:creationId xmlns:a16="http://schemas.microsoft.com/office/drawing/2014/main" id="{EAD56D30-DCC8-4A56-BD37-66AF5368C794}"/>
              </a:ext>
            </a:extLst>
          </p:cNvPr>
          <p:cNvSpPr>
            <a:spLocks noChangeArrowheads="1"/>
          </p:cNvSpPr>
          <p:nvPr/>
        </p:nvSpPr>
        <p:spPr bwMode="auto">
          <a:xfrm>
            <a:off x="866775" y="4567238"/>
            <a:ext cx="242888" cy="66992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175118" name="Rectangle 14">
            <a:extLst>
              <a:ext uri="{FF2B5EF4-FFF2-40B4-BE49-F238E27FC236}">
                <a16:creationId xmlns:a16="http://schemas.microsoft.com/office/drawing/2014/main" id="{2DF1848D-354D-4F83-90A7-F9A19DBEC993}"/>
              </a:ext>
            </a:extLst>
          </p:cNvPr>
          <p:cNvSpPr>
            <a:spLocks noChangeArrowheads="1"/>
          </p:cNvSpPr>
          <p:nvPr/>
        </p:nvSpPr>
        <p:spPr bwMode="auto">
          <a:xfrm>
            <a:off x="1465263" y="5427663"/>
            <a:ext cx="260350" cy="23177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175120" name="Text Box 16">
            <a:extLst>
              <a:ext uri="{FF2B5EF4-FFF2-40B4-BE49-F238E27FC236}">
                <a16:creationId xmlns:a16="http://schemas.microsoft.com/office/drawing/2014/main" id="{15A52D15-2600-4F24-A679-26CFFF5953AC}"/>
              </a:ext>
            </a:extLst>
          </p:cNvPr>
          <p:cNvSpPr txBox="1">
            <a:spLocks noChangeArrowheads="1"/>
          </p:cNvSpPr>
          <p:nvPr/>
        </p:nvSpPr>
        <p:spPr bwMode="auto">
          <a:xfrm>
            <a:off x="1036638" y="6357938"/>
            <a:ext cx="10826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defRPr/>
            </a:pPr>
            <a:r>
              <a:rPr lang="en-GB" altLang="en-US" sz="1400">
                <a:solidFill>
                  <a:srgbClr val="FFFF00"/>
                </a:solidFill>
                <a:effectLst>
                  <a:outerShdw blurRad="38100" dist="38100" dir="2700000" algn="tl">
                    <a:srgbClr val="000000"/>
                  </a:outerShdw>
                </a:effectLst>
                <a:latin typeface="Arial" panose="020B0604020202020204" pitchFamily="34" charset="0"/>
              </a:rPr>
              <a:t>convergent</a:t>
            </a:r>
          </a:p>
        </p:txBody>
      </p:sp>
      <p:sp>
        <p:nvSpPr>
          <p:cNvPr id="175121" name="Text Box 17">
            <a:extLst>
              <a:ext uri="{FF2B5EF4-FFF2-40B4-BE49-F238E27FC236}">
                <a16:creationId xmlns:a16="http://schemas.microsoft.com/office/drawing/2014/main" id="{C613448B-16CC-40EE-B020-AAABDF9F9941}"/>
              </a:ext>
            </a:extLst>
          </p:cNvPr>
          <p:cNvSpPr txBox="1">
            <a:spLocks noChangeArrowheads="1"/>
          </p:cNvSpPr>
          <p:nvPr/>
        </p:nvSpPr>
        <p:spPr bwMode="auto">
          <a:xfrm>
            <a:off x="2711450" y="6357938"/>
            <a:ext cx="9239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defRPr/>
            </a:pPr>
            <a:r>
              <a:rPr lang="en-GB" altLang="en-US" sz="1400">
                <a:solidFill>
                  <a:srgbClr val="FFFF00"/>
                </a:solidFill>
                <a:effectLst>
                  <a:outerShdw blurRad="38100" dist="38100" dir="2700000" algn="tl">
                    <a:srgbClr val="000000"/>
                  </a:outerShdw>
                </a:effectLst>
                <a:latin typeface="Arial" panose="020B0604020202020204" pitchFamily="34" charset="0"/>
              </a:rPr>
              <a:t>divergent</a:t>
            </a: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14" descr="29b-Kinlochleven"/>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06400" y="2586038"/>
            <a:ext cx="5456238" cy="40957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8611" name="Rectangle 2"/>
          <p:cNvSpPr>
            <a:spLocks noGrp="1" noChangeArrowheads="1"/>
          </p:cNvSpPr>
          <p:nvPr>
            <p:ph type="title"/>
          </p:nvPr>
        </p:nvSpPr>
        <p:spPr>
          <a:noFill/>
        </p:spPr>
        <p:txBody>
          <a:bodyPr/>
          <a:lstStyle/>
          <a:p>
            <a:r>
              <a:rPr lang="en-GB" altLang="en-US">
                <a:effectLst/>
              </a:rPr>
              <a:t>Cleavage  (refraction)</a:t>
            </a:r>
          </a:p>
        </p:txBody>
      </p:sp>
      <p:sp>
        <p:nvSpPr>
          <p:cNvPr id="68612" name="Rectangle 3"/>
          <p:cNvSpPr>
            <a:spLocks noGrp="1" noChangeArrowheads="1"/>
          </p:cNvSpPr>
          <p:nvPr>
            <p:ph type="body" sz="half" idx="1"/>
          </p:nvPr>
        </p:nvSpPr>
        <p:spPr>
          <a:xfrm>
            <a:off x="114300" y="779463"/>
            <a:ext cx="8888413" cy="1681162"/>
          </a:xfrm>
          <a:noFill/>
        </p:spPr>
        <p:txBody>
          <a:bodyPr/>
          <a:lstStyle/>
          <a:p>
            <a:pPr marL="177800" indent="-177800"/>
            <a:r>
              <a:rPr lang="en-GB" altLang="en-US" sz="1700">
                <a:effectLst/>
              </a:rPr>
              <a:t>Cleavage is often observed to change dip (but not strike) as it passes from one lithology to another. This phenomenon (</a:t>
            </a:r>
            <a:r>
              <a:rPr lang="en-GB" altLang="en-US" sz="1700">
                <a:solidFill>
                  <a:srgbClr val="FF6600"/>
                </a:solidFill>
                <a:effectLst/>
              </a:rPr>
              <a:t>cleavage refraction</a:t>
            </a:r>
            <a:r>
              <a:rPr lang="en-GB" altLang="en-US" sz="1700">
                <a:effectLst/>
              </a:rPr>
              <a:t>) reflects differences in the resistance to flow (the competence) of the layers. Cleavage in more </a:t>
            </a:r>
            <a:r>
              <a:rPr lang="en-GB" altLang="en-US" sz="1700">
                <a:solidFill>
                  <a:srgbClr val="FF66CC"/>
                </a:solidFill>
                <a:effectLst/>
              </a:rPr>
              <a:t>competent</a:t>
            </a:r>
            <a:r>
              <a:rPr lang="en-GB" altLang="en-US" sz="1700">
                <a:effectLst/>
              </a:rPr>
              <a:t> lithologies (typically, ones that are less clay-rich) tends to be at a higher angle to bedding than it is in less competent layers</a:t>
            </a:r>
          </a:p>
        </p:txBody>
      </p:sp>
      <p:pic>
        <p:nvPicPr>
          <p:cNvPr id="68613" name="Picture 5" descr="29a"/>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643438" y="2586038"/>
            <a:ext cx="1219200" cy="174783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68614" name="Group 7"/>
          <p:cNvGrpSpPr>
            <a:grpSpLocks/>
          </p:cNvGrpSpPr>
          <p:nvPr/>
        </p:nvGrpSpPr>
        <p:grpSpPr bwMode="auto">
          <a:xfrm rot="-6936713">
            <a:off x="5279232" y="5844381"/>
            <a:ext cx="152400" cy="246063"/>
            <a:chOff x="5292" y="1087"/>
            <a:chExt cx="96" cy="155"/>
          </a:xfrm>
        </p:grpSpPr>
        <p:sp>
          <p:nvSpPr>
            <p:cNvPr id="253960" name="Freeform 8">
              <a:extLst>
                <a:ext uri="{FF2B5EF4-FFF2-40B4-BE49-F238E27FC236}">
                  <a16:creationId xmlns:a16="http://schemas.microsoft.com/office/drawing/2014/main" id="{9BA520FA-4A2A-4380-B050-AC8B70990736}"/>
                </a:ext>
              </a:extLst>
            </p:cNvPr>
            <p:cNvSpPr>
              <a:spLocks/>
            </p:cNvSpPr>
            <p:nvPr/>
          </p:nvSpPr>
          <p:spPr bwMode="auto">
            <a:xfrm>
              <a:off x="5293" y="1176"/>
              <a:ext cx="96" cy="66"/>
            </a:xfrm>
            <a:custGeom>
              <a:avLst/>
              <a:gdLst>
                <a:gd name="T0" fmla="*/ 0 w 96"/>
                <a:gd name="T1" fmla="*/ 66 h 66"/>
                <a:gd name="T2" fmla="*/ 48 w 96"/>
                <a:gd name="T3" fmla="*/ 0 h 66"/>
                <a:gd name="T4" fmla="*/ 96 w 96"/>
                <a:gd name="T5" fmla="*/ 66 h 66"/>
              </a:gdLst>
              <a:ahLst/>
              <a:cxnLst>
                <a:cxn ang="0">
                  <a:pos x="T0" y="T1"/>
                </a:cxn>
                <a:cxn ang="0">
                  <a:pos x="T2" y="T3"/>
                </a:cxn>
                <a:cxn ang="0">
                  <a:pos x="T4" y="T5"/>
                </a:cxn>
              </a:cxnLst>
              <a:rect l="0" t="0" r="r" b="b"/>
              <a:pathLst>
                <a:path w="96" h="66">
                  <a:moveTo>
                    <a:pt x="0" y="66"/>
                  </a:moveTo>
                  <a:lnTo>
                    <a:pt x="48" y="0"/>
                  </a:lnTo>
                  <a:lnTo>
                    <a:pt x="96" y="66"/>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53961" name="Line 9">
              <a:extLst>
                <a:ext uri="{FF2B5EF4-FFF2-40B4-BE49-F238E27FC236}">
                  <a16:creationId xmlns:a16="http://schemas.microsoft.com/office/drawing/2014/main" id="{2AFC1B14-3ABB-4E14-BF0A-4FD3A607EBE8}"/>
                </a:ext>
              </a:extLst>
            </p:cNvPr>
            <p:cNvSpPr>
              <a:spLocks noChangeShapeType="1"/>
            </p:cNvSpPr>
            <p:nvPr/>
          </p:nvSpPr>
          <p:spPr bwMode="auto">
            <a:xfrm flipV="1">
              <a:off x="5344" y="1087"/>
              <a:ext cx="1" cy="89"/>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grpSp>
      <p:pic>
        <p:nvPicPr>
          <p:cNvPr id="68615" name="Picture 16" descr="29c1-Charnwood"/>
          <p:cNvPicPr>
            <a:picLocks noChangeAspect="1" noChangeArrowheads="1"/>
          </p:cNvPicPr>
          <p:nvPr/>
        </p:nvPicPr>
        <p:blipFill>
          <a:blip r:embed="rId5">
            <a:lum bright="-6000"/>
            <a:extLst>
              <a:ext uri="{28A0092B-C50C-407E-A947-70E740481C1C}">
                <a14:useLocalDpi xmlns:a14="http://schemas.microsoft.com/office/drawing/2010/main" val="0"/>
              </a:ext>
            </a:extLst>
          </a:blip>
          <a:srcRect/>
          <a:stretch>
            <a:fillRect/>
          </a:stretch>
        </p:blipFill>
        <p:spPr bwMode="auto">
          <a:xfrm>
            <a:off x="6113463" y="2351088"/>
            <a:ext cx="2787650" cy="43434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68616" name="Group 10"/>
          <p:cNvGrpSpPr>
            <a:grpSpLocks/>
          </p:cNvGrpSpPr>
          <p:nvPr/>
        </p:nvGrpSpPr>
        <p:grpSpPr bwMode="auto">
          <a:xfrm rot="3381652">
            <a:off x="8077994" y="5861844"/>
            <a:ext cx="152400" cy="246062"/>
            <a:chOff x="5292" y="1087"/>
            <a:chExt cx="96" cy="155"/>
          </a:xfrm>
        </p:grpSpPr>
        <p:sp>
          <p:nvSpPr>
            <p:cNvPr id="253963" name="Freeform 11">
              <a:extLst>
                <a:ext uri="{FF2B5EF4-FFF2-40B4-BE49-F238E27FC236}">
                  <a16:creationId xmlns:a16="http://schemas.microsoft.com/office/drawing/2014/main" id="{44DFD89E-8B0D-4891-9E8F-B90A1B5DFB72}"/>
                </a:ext>
              </a:extLst>
            </p:cNvPr>
            <p:cNvSpPr>
              <a:spLocks/>
            </p:cNvSpPr>
            <p:nvPr/>
          </p:nvSpPr>
          <p:spPr bwMode="auto">
            <a:xfrm>
              <a:off x="5291" y="1174"/>
              <a:ext cx="96" cy="66"/>
            </a:xfrm>
            <a:custGeom>
              <a:avLst/>
              <a:gdLst>
                <a:gd name="T0" fmla="*/ 0 w 96"/>
                <a:gd name="T1" fmla="*/ 66 h 66"/>
                <a:gd name="T2" fmla="*/ 48 w 96"/>
                <a:gd name="T3" fmla="*/ 0 h 66"/>
                <a:gd name="T4" fmla="*/ 96 w 96"/>
                <a:gd name="T5" fmla="*/ 66 h 66"/>
              </a:gdLst>
              <a:ahLst/>
              <a:cxnLst>
                <a:cxn ang="0">
                  <a:pos x="T0" y="T1"/>
                </a:cxn>
                <a:cxn ang="0">
                  <a:pos x="T2" y="T3"/>
                </a:cxn>
                <a:cxn ang="0">
                  <a:pos x="T4" y="T5"/>
                </a:cxn>
              </a:cxnLst>
              <a:rect l="0" t="0" r="r" b="b"/>
              <a:pathLst>
                <a:path w="96" h="66">
                  <a:moveTo>
                    <a:pt x="0" y="66"/>
                  </a:moveTo>
                  <a:lnTo>
                    <a:pt x="48" y="0"/>
                  </a:lnTo>
                  <a:lnTo>
                    <a:pt x="96" y="66"/>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53964" name="Line 12">
              <a:extLst>
                <a:ext uri="{FF2B5EF4-FFF2-40B4-BE49-F238E27FC236}">
                  <a16:creationId xmlns:a16="http://schemas.microsoft.com/office/drawing/2014/main" id="{A8285328-38B2-4F98-BF45-0E5403B68EBA}"/>
                </a:ext>
              </a:extLst>
            </p:cNvPr>
            <p:cNvSpPr>
              <a:spLocks noChangeShapeType="1"/>
            </p:cNvSpPr>
            <p:nvPr/>
          </p:nvSpPr>
          <p:spPr bwMode="auto">
            <a:xfrm flipV="1">
              <a:off x="5339" y="1086"/>
              <a:ext cx="1" cy="89"/>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gr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noFill/>
        </p:spPr>
        <p:txBody>
          <a:bodyPr/>
          <a:lstStyle/>
          <a:p>
            <a:r>
              <a:rPr lang="en-GB" altLang="en-US">
                <a:effectLst/>
              </a:rPr>
              <a:t>Cleavage  (crenulation)</a:t>
            </a:r>
          </a:p>
        </p:txBody>
      </p:sp>
      <p:sp>
        <p:nvSpPr>
          <p:cNvPr id="70659" name="Rectangle 3"/>
          <p:cNvSpPr>
            <a:spLocks noGrp="1" noChangeArrowheads="1"/>
          </p:cNvSpPr>
          <p:nvPr>
            <p:ph type="body" sz="half" idx="1"/>
          </p:nvPr>
        </p:nvSpPr>
        <p:spPr>
          <a:xfrm>
            <a:off x="131763" y="774700"/>
            <a:ext cx="8872537" cy="1433513"/>
          </a:xfrm>
          <a:noFill/>
        </p:spPr>
        <p:txBody>
          <a:bodyPr/>
          <a:lstStyle/>
          <a:p>
            <a:pPr marL="177800" indent="-177800">
              <a:tabLst>
                <a:tab pos="177800" algn="l"/>
              </a:tabLst>
            </a:pPr>
            <a:r>
              <a:rPr lang="en-GB" altLang="en-US" sz="1700">
                <a:effectLst/>
              </a:rPr>
              <a:t>The fine-scale layering of cleavage and schistosity means that if the rock is </a:t>
            </a:r>
            <a:r>
              <a:rPr lang="en-GB" altLang="en-US" sz="1700">
                <a:solidFill>
                  <a:srgbClr val="FF66CC"/>
                </a:solidFill>
                <a:effectLst/>
              </a:rPr>
              <a:t>deformed for a second time</a:t>
            </a:r>
            <a:r>
              <a:rPr lang="en-GB" altLang="en-US" sz="1700">
                <a:effectLst/>
              </a:rPr>
              <a:t>, the cleavage or schistosity is refolded on a sub-millimetre to centimetre scale. The hinges of these small folds are described as a </a:t>
            </a:r>
            <a:r>
              <a:rPr lang="en-GB" altLang="en-US" sz="1700">
                <a:solidFill>
                  <a:srgbClr val="FF6600"/>
                </a:solidFill>
                <a:effectLst/>
              </a:rPr>
              <a:t>crenulation lineation </a:t>
            </a:r>
            <a:r>
              <a:rPr lang="en-GB" altLang="en-US" sz="1700">
                <a:effectLst/>
              </a:rPr>
              <a:t>and their axial planes as a </a:t>
            </a:r>
            <a:r>
              <a:rPr lang="en-GB" altLang="en-US" sz="1700">
                <a:solidFill>
                  <a:srgbClr val="FF6600"/>
                </a:solidFill>
                <a:effectLst/>
              </a:rPr>
              <a:t>crenulation cleavage</a:t>
            </a:r>
            <a:endParaRPr lang="en-GB" altLang="en-US" sz="1700">
              <a:effectLst/>
            </a:endParaRPr>
          </a:p>
        </p:txBody>
      </p:sp>
      <p:pic>
        <p:nvPicPr>
          <p:cNvPr id="70660" name="Picture 6" descr="30c-StokeFleming"/>
          <p:cNvPicPr>
            <a:picLocks noGrp="1" noChangeAspect="1" noChangeArrowheads="1"/>
          </p:cNvPicPr>
          <p:nvPr>
            <p:ph sz="quarter" idx="3"/>
          </p:nvPr>
        </p:nvPicPr>
        <p:blipFill>
          <a:blip r:embed="rId3">
            <a:lum bright="-4000" contrast="10000"/>
            <a:extLst>
              <a:ext uri="{28A0092B-C50C-407E-A947-70E740481C1C}">
                <a14:useLocalDpi xmlns:a14="http://schemas.microsoft.com/office/drawing/2010/main" val="0"/>
              </a:ext>
            </a:extLst>
          </a:blip>
          <a:srcRect/>
          <a:stretch>
            <a:fillRect/>
          </a:stretch>
        </p:blipFill>
        <p:spPr>
          <a:xfrm>
            <a:off x="3394075" y="2393950"/>
            <a:ext cx="5541963" cy="412750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0661" name="Picture 9" descr="30a-Mull"/>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231775" y="2393950"/>
            <a:ext cx="2916238" cy="411956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F3BE890F-5EF4-4186-ADC3-1C7714619AB1}"/>
              </a:ext>
            </a:extLst>
          </p:cNvPr>
          <p:cNvSpPr>
            <a:spLocks noGrp="1" noChangeArrowheads="1"/>
          </p:cNvSpPr>
          <p:nvPr>
            <p:ph type="title" idx="4294967295"/>
          </p:nvPr>
        </p:nvSpPr>
        <p:spPr/>
        <p:txBody>
          <a:bodyPr/>
          <a:lstStyle/>
          <a:p>
            <a:pPr>
              <a:defRPr/>
            </a:pPr>
            <a:r>
              <a:rPr lang="en-GB"/>
              <a:t>Crenulation cleavage development</a:t>
            </a:r>
          </a:p>
        </p:txBody>
      </p:sp>
      <p:sp>
        <p:nvSpPr>
          <p:cNvPr id="192515" name="Rectangle 3">
            <a:extLst>
              <a:ext uri="{FF2B5EF4-FFF2-40B4-BE49-F238E27FC236}">
                <a16:creationId xmlns:a16="http://schemas.microsoft.com/office/drawing/2014/main" id="{07B61CCF-FBEA-4069-B177-3D456F9DAAF4}"/>
              </a:ext>
            </a:extLst>
          </p:cNvPr>
          <p:cNvSpPr>
            <a:spLocks noGrp="1" noChangeArrowheads="1"/>
          </p:cNvSpPr>
          <p:nvPr>
            <p:ph type="body" idx="4294967295"/>
          </p:nvPr>
        </p:nvSpPr>
        <p:spPr>
          <a:xfrm>
            <a:off x="115888" y="1831975"/>
            <a:ext cx="3087687" cy="4679950"/>
          </a:xfrm>
        </p:spPr>
        <p:txBody>
          <a:bodyPr/>
          <a:lstStyle/>
          <a:p>
            <a:pPr marL="269875" indent="-269875">
              <a:spcBef>
                <a:spcPct val="150000"/>
              </a:spcBef>
              <a:buFont typeface="Times" panose="02020603050405020304" pitchFamily="18" charset="0"/>
              <a:buAutoNum type="arabicPeriod"/>
              <a:defRPr/>
            </a:pPr>
            <a:r>
              <a:rPr lang="en-GB" altLang="en-US" sz="1700" dirty="0"/>
              <a:t>Gentle crenulation of S</a:t>
            </a:r>
            <a:r>
              <a:rPr lang="en-GB" altLang="en-US" sz="1700" baseline="-25000" dirty="0"/>
              <a:t>1</a:t>
            </a:r>
            <a:r>
              <a:rPr lang="en-GB" altLang="en-US" sz="1700" dirty="0"/>
              <a:t> but no S</a:t>
            </a:r>
            <a:r>
              <a:rPr lang="en-GB" altLang="en-US" sz="1700" baseline="-25000" dirty="0"/>
              <a:t>2</a:t>
            </a:r>
          </a:p>
          <a:p>
            <a:pPr marL="269875" indent="-269875">
              <a:spcBef>
                <a:spcPct val="50000"/>
              </a:spcBef>
              <a:buFont typeface="Times" panose="02020603050405020304" pitchFamily="18" charset="0"/>
              <a:buAutoNum type="arabicPeriod"/>
              <a:defRPr/>
            </a:pPr>
            <a:r>
              <a:rPr lang="en-GB" altLang="en-US" sz="1700" dirty="0"/>
              <a:t>Tighter crenulation and a discrete S</a:t>
            </a:r>
            <a:r>
              <a:rPr lang="en-GB" altLang="en-US" sz="1700" baseline="-25000" dirty="0"/>
              <a:t>2</a:t>
            </a:r>
            <a:r>
              <a:rPr lang="en-GB" altLang="en-US" sz="1700" dirty="0"/>
              <a:t> visible </a:t>
            </a:r>
          </a:p>
          <a:p>
            <a:pPr marL="269875" indent="-269875">
              <a:spcBef>
                <a:spcPct val="50000"/>
              </a:spcBef>
              <a:buFont typeface="Times" panose="02020603050405020304" pitchFamily="18" charset="0"/>
              <a:buAutoNum type="arabicPeriod"/>
              <a:defRPr/>
            </a:pPr>
            <a:r>
              <a:rPr lang="en-GB" altLang="en-US" sz="1700" dirty="0"/>
              <a:t>S</a:t>
            </a:r>
            <a:r>
              <a:rPr lang="en-GB" altLang="en-US" sz="1700" baseline="-25000" dirty="0"/>
              <a:t>1</a:t>
            </a:r>
            <a:r>
              <a:rPr lang="en-GB" altLang="en-US" sz="1700" dirty="0"/>
              <a:t> and S</a:t>
            </a:r>
            <a:r>
              <a:rPr lang="en-GB" altLang="en-US" sz="1700" baseline="-25000" dirty="0"/>
              <a:t>2</a:t>
            </a:r>
            <a:r>
              <a:rPr lang="en-GB" altLang="en-US" sz="1700" dirty="0"/>
              <a:t> of equal importance; recrystallized microfold hinges at higher temperatures</a:t>
            </a:r>
          </a:p>
          <a:p>
            <a:pPr marL="269875" indent="-269875">
              <a:spcBef>
                <a:spcPct val="50000"/>
              </a:spcBef>
              <a:buFont typeface="Times" panose="02020603050405020304" pitchFamily="18" charset="0"/>
              <a:buAutoNum type="arabicPeriod"/>
              <a:defRPr/>
            </a:pPr>
            <a:r>
              <a:rPr lang="en-GB" altLang="en-US" sz="1700" dirty="0"/>
              <a:t>S</a:t>
            </a:r>
            <a:r>
              <a:rPr lang="en-GB" altLang="en-US" sz="1700" baseline="-25000" dirty="0"/>
              <a:t>2</a:t>
            </a:r>
            <a:r>
              <a:rPr lang="en-GB" altLang="en-US" sz="1700" dirty="0"/>
              <a:t> predominates with S</a:t>
            </a:r>
            <a:r>
              <a:rPr lang="en-GB" altLang="en-US" sz="1700" baseline="-25000" dirty="0"/>
              <a:t>1</a:t>
            </a:r>
            <a:r>
              <a:rPr lang="en-GB" altLang="en-US" sz="1700" dirty="0"/>
              <a:t> visible in relict fold hinges; new grains grown along S</a:t>
            </a:r>
            <a:r>
              <a:rPr lang="en-GB" altLang="en-US" sz="1700" baseline="-25000" dirty="0"/>
              <a:t>2</a:t>
            </a:r>
            <a:r>
              <a:rPr lang="en-GB" altLang="en-US" sz="1700" dirty="0"/>
              <a:t> dominate the fabric</a:t>
            </a:r>
          </a:p>
          <a:p>
            <a:pPr marL="269875" indent="-269875">
              <a:spcBef>
                <a:spcPct val="50000"/>
              </a:spcBef>
              <a:buFont typeface="Times" panose="02020603050405020304" pitchFamily="18" charset="0"/>
              <a:buAutoNum type="arabicPeriod"/>
              <a:defRPr/>
            </a:pPr>
            <a:r>
              <a:rPr lang="en-GB" altLang="en-US" sz="1700" dirty="0"/>
              <a:t>S</a:t>
            </a:r>
            <a:r>
              <a:rPr lang="en-GB" altLang="en-US" sz="1700" baseline="-25000" dirty="0"/>
              <a:t>1</a:t>
            </a:r>
            <a:r>
              <a:rPr lang="en-GB" altLang="en-US" sz="1700" dirty="0"/>
              <a:t> completely transposed</a:t>
            </a:r>
          </a:p>
        </p:txBody>
      </p:sp>
      <p:sp>
        <p:nvSpPr>
          <p:cNvPr id="263174" name="Text Box 6">
            <a:extLst>
              <a:ext uri="{FF2B5EF4-FFF2-40B4-BE49-F238E27FC236}">
                <a16:creationId xmlns:a16="http://schemas.microsoft.com/office/drawing/2014/main" id="{6AE80E1B-80AD-4D62-9B12-9EF8E623AAA9}"/>
              </a:ext>
            </a:extLst>
          </p:cNvPr>
          <p:cNvSpPr txBox="1">
            <a:spLocks noChangeArrowheads="1"/>
          </p:cNvSpPr>
          <p:nvPr/>
        </p:nvSpPr>
        <p:spPr bwMode="auto">
          <a:xfrm>
            <a:off x="123825" y="838200"/>
            <a:ext cx="2471738"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defRPr/>
            </a:pPr>
            <a:r>
              <a:rPr lang="en-GB" altLang="en-US" sz="1200">
                <a:solidFill>
                  <a:srgbClr val="FFFF00"/>
                </a:solidFill>
                <a:effectLst>
                  <a:outerShdw blurRad="38100" dist="38100" dir="2700000" algn="tl">
                    <a:srgbClr val="000000"/>
                  </a:outerShdw>
                </a:effectLst>
                <a:latin typeface="Arial" panose="020B0604020202020204" pitchFamily="34" charset="0"/>
              </a:rPr>
              <a:t>S</a:t>
            </a:r>
            <a:r>
              <a:rPr lang="en-GB" altLang="en-US" sz="1200" baseline="-25000">
                <a:solidFill>
                  <a:srgbClr val="FFFF00"/>
                </a:solidFill>
                <a:effectLst>
                  <a:outerShdw blurRad="38100" dist="38100" dir="2700000" algn="tl">
                    <a:srgbClr val="000000"/>
                  </a:outerShdw>
                </a:effectLst>
                <a:latin typeface="Arial" panose="020B0604020202020204" pitchFamily="34" charset="0"/>
              </a:rPr>
              <a:t>0</a:t>
            </a:r>
            <a:r>
              <a:rPr lang="en-GB" altLang="en-US" sz="1200">
                <a:solidFill>
                  <a:srgbClr val="FFFF00"/>
                </a:solidFill>
                <a:effectLst>
                  <a:outerShdw blurRad="38100" dist="38100" dir="2700000" algn="tl">
                    <a:srgbClr val="000000"/>
                  </a:outerShdw>
                </a:effectLst>
                <a:latin typeface="Arial" panose="020B0604020202020204" pitchFamily="34" charset="0"/>
              </a:rPr>
              <a:t> original surface (bedding)</a:t>
            </a:r>
          </a:p>
          <a:p>
            <a:pPr>
              <a:spcBef>
                <a:spcPct val="50000"/>
              </a:spcBef>
              <a:buClr>
                <a:schemeClr val="accent2"/>
              </a:buClr>
              <a:defRPr/>
            </a:pPr>
            <a:r>
              <a:rPr lang="en-GB" altLang="en-US" sz="1200">
                <a:solidFill>
                  <a:srgbClr val="FFFF00"/>
                </a:solidFill>
                <a:effectLst>
                  <a:outerShdw blurRad="38100" dist="38100" dir="2700000" algn="tl">
                    <a:srgbClr val="000000"/>
                  </a:outerShdw>
                </a:effectLst>
                <a:latin typeface="Arial" panose="020B0604020202020204" pitchFamily="34" charset="0"/>
              </a:rPr>
              <a:t>S</a:t>
            </a:r>
            <a:r>
              <a:rPr lang="en-GB" altLang="en-US" sz="1200" baseline="-25000">
                <a:solidFill>
                  <a:srgbClr val="FFFF00"/>
                </a:solidFill>
                <a:effectLst>
                  <a:outerShdw blurRad="38100" dist="38100" dir="2700000" algn="tl">
                    <a:srgbClr val="000000"/>
                  </a:outerShdw>
                </a:effectLst>
                <a:latin typeface="Arial" panose="020B0604020202020204" pitchFamily="34" charset="0"/>
              </a:rPr>
              <a:t>1</a:t>
            </a:r>
            <a:r>
              <a:rPr lang="en-GB" altLang="en-US" sz="1200">
                <a:solidFill>
                  <a:srgbClr val="FFFF00"/>
                </a:solidFill>
                <a:effectLst>
                  <a:outerShdw blurRad="38100" dist="38100" dir="2700000" algn="tl">
                    <a:srgbClr val="000000"/>
                  </a:outerShdw>
                </a:effectLst>
                <a:latin typeface="Arial" panose="020B0604020202020204" pitchFamily="34" charset="0"/>
              </a:rPr>
              <a:t> first cleavage</a:t>
            </a:r>
          </a:p>
          <a:p>
            <a:pPr>
              <a:spcBef>
                <a:spcPct val="50000"/>
              </a:spcBef>
              <a:buClr>
                <a:schemeClr val="accent2"/>
              </a:buClr>
              <a:defRPr/>
            </a:pPr>
            <a:r>
              <a:rPr lang="en-GB" altLang="en-US" sz="1200">
                <a:solidFill>
                  <a:srgbClr val="FFFF00"/>
                </a:solidFill>
                <a:effectLst>
                  <a:outerShdw blurRad="38100" dist="38100" dir="2700000" algn="tl">
                    <a:srgbClr val="000000"/>
                  </a:outerShdw>
                </a:effectLst>
                <a:latin typeface="Arial" panose="020B0604020202020204" pitchFamily="34" charset="0"/>
              </a:rPr>
              <a:t>S</a:t>
            </a:r>
            <a:r>
              <a:rPr lang="en-GB" altLang="en-US" sz="1200" baseline="-25000">
                <a:solidFill>
                  <a:srgbClr val="FFFF00"/>
                </a:solidFill>
                <a:effectLst>
                  <a:outerShdw blurRad="38100" dist="38100" dir="2700000" algn="tl">
                    <a:srgbClr val="000000"/>
                  </a:outerShdw>
                </a:effectLst>
                <a:latin typeface="Arial" panose="020B0604020202020204" pitchFamily="34" charset="0"/>
              </a:rPr>
              <a:t>2</a:t>
            </a:r>
            <a:r>
              <a:rPr lang="en-GB" altLang="en-US" sz="1200">
                <a:solidFill>
                  <a:srgbClr val="FFFF00"/>
                </a:solidFill>
                <a:effectLst>
                  <a:outerShdw blurRad="38100" dist="38100" dir="2700000" algn="tl">
                    <a:srgbClr val="000000"/>
                  </a:outerShdw>
                </a:effectLst>
                <a:latin typeface="Arial" panose="020B0604020202020204" pitchFamily="34" charset="0"/>
              </a:rPr>
              <a:t> second cleavage (crenulation)</a:t>
            </a:r>
          </a:p>
        </p:txBody>
      </p:sp>
      <p:sp>
        <p:nvSpPr>
          <p:cNvPr id="263175" name="Text Box 7">
            <a:extLst>
              <a:ext uri="{FF2B5EF4-FFF2-40B4-BE49-F238E27FC236}">
                <a16:creationId xmlns:a16="http://schemas.microsoft.com/office/drawing/2014/main" id="{B0932DB0-8AE7-4F27-B369-0B04BD1AEF34}"/>
              </a:ext>
            </a:extLst>
          </p:cNvPr>
          <p:cNvSpPr txBox="1">
            <a:spLocks noChangeArrowheads="1"/>
          </p:cNvSpPr>
          <p:nvPr/>
        </p:nvSpPr>
        <p:spPr bwMode="auto">
          <a:xfrm rot="16200000">
            <a:off x="3129756" y="1496219"/>
            <a:ext cx="576263"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5000"/>
              </a:lnSpc>
              <a:spcBef>
                <a:spcPct val="50000"/>
              </a:spcBef>
              <a:buClr>
                <a:schemeClr val="accent2"/>
              </a:buClr>
              <a:defRPr/>
            </a:pPr>
            <a:r>
              <a:rPr lang="en-GB" altLang="en-US" sz="1200">
                <a:solidFill>
                  <a:srgbClr val="FF0000"/>
                </a:solidFill>
                <a:effectLst>
                  <a:outerShdw blurRad="38100" dist="38100" dir="2700000" algn="tl">
                    <a:srgbClr val="000000"/>
                  </a:outerShdw>
                </a:effectLst>
                <a:latin typeface="Arial" panose="020B0604020202020204" pitchFamily="34" charset="0"/>
              </a:rPr>
              <a:t>low </a:t>
            </a:r>
            <a:r>
              <a:rPr lang="en-GB" altLang="en-US" sz="1200" i="1">
                <a:solidFill>
                  <a:srgbClr val="FF0000"/>
                </a:solidFill>
                <a:effectLst>
                  <a:outerShdw blurRad="38100" dist="38100" dir="2700000" algn="tl">
                    <a:srgbClr val="000000"/>
                  </a:outerShdw>
                </a:effectLst>
                <a:latin typeface="Arial" panose="020B0604020202020204" pitchFamily="34" charset="0"/>
              </a:rPr>
              <a:t>T</a:t>
            </a:r>
            <a:endParaRPr lang="en-GB" altLang="en-US" sz="1200">
              <a:solidFill>
                <a:srgbClr val="FF0000"/>
              </a:solidFill>
              <a:effectLst>
                <a:outerShdw blurRad="38100" dist="38100" dir="2700000" algn="tl">
                  <a:srgbClr val="000000"/>
                </a:outerShdw>
              </a:effectLst>
              <a:latin typeface="Arial" panose="020B0604020202020204" pitchFamily="34" charset="0"/>
            </a:endParaRPr>
          </a:p>
        </p:txBody>
      </p:sp>
      <p:pic>
        <p:nvPicPr>
          <p:cNvPr id="72710" name="Picture 11" descr="30d2-Kinlochleve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3788" y="3405188"/>
            <a:ext cx="5346700" cy="3273425"/>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72711" name="Picture 15" descr="30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7438" y="855663"/>
            <a:ext cx="5353050" cy="2360612"/>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263185" name="Text Box 17">
            <a:extLst>
              <a:ext uri="{FF2B5EF4-FFF2-40B4-BE49-F238E27FC236}">
                <a16:creationId xmlns:a16="http://schemas.microsoft.com/office/drawing/2014/main" id="{D0EE2B3B-7AD2-41D7-B7C4-E2A7DA30F21F}"/>
              </a:ext>
            </a:extLst>
          </p:cNvPr>
          <p:cNvSpPr txBox="1">
            <a:spLocks noChangeArrowheads="1"/>
          </p:cNvSpPr>
          <p:nvPr/>
        </p:nvSpPr>
        <p:spPr bwMode="auto">
          <a:xfrm rot="16200000">
            <a:off x="3097213" y="2627312"/>
            <a:ext cx="641350"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5000"/>
              </a:lnSpc>
              <a:spcBef>
                <a:spcPct val="50000"/>
              </a:spcBef>
              <a:buClr>
                <a:schemeClr val="accent2"/>
              </a:buClr>
              <a:defRPr/>
            </a:pPr>
            <a:r>
              <a:rPr lang="en-GB" altLang="en-US" sz="1200">
                <a:solidFill>
                  <a:srgbClr val="FF0000"/>
                </a:solidFill>
                <a:effectLst>
                  <a:outerShdw blurRad="38100" dist="38100" dir="2700000" algn="tl">
                    <a:srgbClr val="000000"/>
                  </a:outerShdw>
                </a:effectLst>
                <a:latin typeface="Arial" panose="020B0604020202020204" pitchFamily="34" charset="0"/>
              </a:rPr>
              <a:t>high </a:t>
            </a:r>
            <a:r>
              <a:rPr lang="en-GB" altLang="en-US" sz="1200" i="1">
                <a:solidFill>
                  <a:srgbClr val="FF0000"/>
                </a:solidFill>
                <a:effectLst>
                  <a:outerShdw blurRad="38100" dist="38100" dir="2700000" algn="tl">
                    <a:srgbClr val="000000"/>
                  </a:outerShdw>
                </a:effectLst>
                <a:latin typeface="Arial" panose="020B0604020202020204" pitchFamily="34" charset="0"/>
              </a:rPr>
              <a:t>T</a:t>
            </a:r>
            <a:endParaRPr lang="en-GB" altLang="en-US" sz="1200">
              <a:solidFill>
                <a:srgbClr val="FF0000"/>
              </a:solidFill>
              <a:effectLst>
                <a:outerShdw blurRad="38100" dist="38100" dir="2700000" algn="tl">
                  <a:srgbClr val="000000"/>
                </a:outerShdw>
              </a:effectLst>
              <a:latin typeface="Arial" panose="020B0604020202020204" pitchFamily="34" charset="0"/>
            </a:endParaRPr>
          </a:p>
        </p:txBody>
      </p:sp>
      <p:sp>
        <p:nvSpPr>
          <p:cNvPr id="2" name="Line 9">
            <a:extLst>
              <a:ext uri="{FF2B5EF4-FFF2-40B4-BE49-F238E27FC236}">
                <a16:creationId xmlns:a16="http://schemas.microsoft.com/office/drawing/2014/main" id="{6B8B7704-D231-10C7-BB89-3A5ECAF9264E}"/>
              </a:ext>
            </a:extLst>
          </p:cNvPr>
          <p:cNvSpPr>
            <a:spLocks noChangeShapeType="1"/>
          </p:cNvSpPr>
          <p:nvPr/>
        </p:nvSpPr>
        <p:spPr bwMode="auto">
          <a:xfrm>
            <a:off x="7771047" y="1062038"/>
            <a:ext cx="373062"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3" name="Line 9">
            <a:extLst>
              <a:ext uri="{FF2B5EF4-FFF2-40B4-BE49-F238E27FC236}">
                <a16:creationId xmlns:a16="http://schemas.microsoft.com/office/drawing/2014/main" id="{70F79D85-C6F0-172B-0FBF-BFE30DBB3FE9}"/>
              </a:ext>
            </a:extLst>
          </p:cNvPr>
          <p:cNvSpPr>
            <a:spLocks noChangeShapeType="1"/>
          </p:cNvSpPr>
          <p:nvPr/>
        </p:nvSpPr>
        <p:spPr bwMode="auto">
          <a:xfrm flipH="1">
            <a:off x="8222166" y="1060993"/>
            <a:ext cx="373062"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C0D2E448-8812-4533-BF5E-CCB3AA858DC4}"/>
              </a:ext>
            </a:extLst>
          </p:cNvPr>
          <p:cNvSpPr>
            <a:spLocks noGrp="1" noChangeArrowheads="1"/>
          </p:cNvSpPr>
          <p:nvPr>
            <p:ph type="title" idx="4294967295"/>
          </p:nvPr>
        </p:nvSpPr>
        <p:spPr/>
        <p:txBody>
          <a:bodyPr/>
          <a:lstStyle/>
          <a:p>
            <a:pPr>
              <a:defRPr/>
            </a:pPr>
            <a:r>
              <a:rPr lang="en-GB" altLang="en-US" dirty="0"/>
              <a:t>Crenulation cleavag</a:t>
            </a:r>
            <a:r>
              <a:rPr lang="en-GB" altLang="en-US" spc="500" dirty="0"/>
              <a:t>e/</a:t>
            </a:r>
            <a:r>
              <a:rPr lang="en-GB" altLang="en-US" dirty="0"/>
              <a:t>bedding asymmetry</a:t>
            </a:r>
          </a:p>
        </p:txBody>
      </p:sp>
      <p:sp>
        <p:nvSpPr>
          <p:cNvPr id="290822" name="Text Box 6">
            <a:extLst>
              <a:ext uri="{FF2B5EF4-FFF2-40B4-BE49-F238E27FC236}">
                <a16:creationId xmlns:a16="http://schemas.microsoft.com/office/drawing/2014/main" id="{441C6C8F-C562-4016-AB5A-C664A1469BDD}"/>
              </a:ext>
            </a:extLst>
          </p:cNvPr>
          <p:cNvSpPr txBox="1">
            <a:spLocks noChangeArrowheads="1"/>
          </p:cNvSpPr>
          <p:nvPr/>
        </p:nvSpPr>
        <p:spPr bwMode="auto">
          <a:xfrm>
            <a:off x="3925888" y="4738688"/>
            <a:ext cx="5081587" cy="134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tx1"/>
              </a:buClr>
              <a:buFontTx/>
              <a:buChar char="•"/>
              <a:defRPr/>
            </a:pPr>
            <a:r>
              <a:rPr lang="en-GB" altLang="en-US" sz="1700" dirty="0">
                <a:effectLst>
                  <a:outerShdw blurRad="38100" dist="38100" dir="2700000" algn="tl">
                    <a:srgbClr val="000000"/>
                  </a:outerShdw>
                </a:effectLst>
                <a:latin typeface="Arial" panose="020B0604020202020204" pitchFamily="34" charset="0"/>
              </a:rPr>
              <a:t>The </a:t>
            </a:r>
            <a:r>
              <a:rPr lang="en-GB" altLang="en-US" sz="1700" dirty="0">
                <a:solidFill>
                  <a:srgbClr val="FF66CC"/>
                </a:solidFill>
                <a:effectLst>
                  <a:outerShdw blurRad="38100" dist="38100" dir="2700000" algn="tl">
                    <a:srgbClr val="000000"/>
                  </a:outerShdw>
                </a:effectLst>
                <a:latin typeface="Arial" panose="020B0604020202020204" pitchFamily="34" charset="0"/>
              </a:rPr>
              <a:t>cleavag</a:t>
            </a:r>
            <a:r>
              <a:rPr lang="en-GB" altLang="en-US" sz="1700" spc="300" dirty="0">
                <a:solidFill>
                  <a:srgbClr val="FF66CC"/>
                </a:solidFill>
                <a:effectLst>
                  <a:outerShdw blurRad="38100" dist="38100" dir="2700000" algn="tl">
                    <a:srgbClr val="000000"/>
                  </a:outerShdw>
                </a:effectLst>
                <a:latin typeface="Arial" panose="020B0604020202020204" pitchFamily="34" charset="0"/>
              </a:rPr>
              <a:t>e/</a:t>
            </a:r>
            <a:r>
              <a:rPr lang="en-GB" altLang="en-US" sz="1700" dirty="0">
                <a:solidFill>
                  <a:srgbClr val="FF66CC"/>
                </a:solidFill>
                <a:effectLst>
                  <a:outerShdw blurRad="38100" dist="38100" dir="2700000" algn="tl">
                    <a:srgbClr val="000000"/>
                  </a:outerShdw>
                </a:effectLst>
                <a:latin typeface="Arial" panose="020B0604020202020204" pitchFamily="34" charset="0"/>
              </a:rPr>
              <a:t>bedding asymmetry</a:t>
            </a:r>
            <a:r>
              <a:rPr lang="en-GB" altLang="en-US" sz="1700" dirty="0">
                <a:effectLst>
                  <a:outerShdw blurRad="38100" dist="38100" dir="2700000" algn="tl">
                    <a:srgbClr val="000000"/>
                  </a:outerShdw>
                </a:effectLst>
                <a:latin typeface="Arial" panose="020B0604020202020204" pitchFamily="34" charset="0"/>
              </a:rPr>
              <a:t> relationships apply for folds of given deformation phase</a:t>
            </a:r>
          </a:p>
          <a:p>
            <a:pPr>
              <a:lnSpc>
                <a:spcPct val="120000"/>
              </a:lnSpc>
              <a:spcBef>
                <a:spcPct val="25000"/>
              </a:spcBef>
              <a:buClr>
                <a:schemeClr val="tx1"/>
              </a:buClr>
              <a:defRPr/>
            </a:pPr>
            <a:r>
              <a:rPr lang="en-GB" altLang="en-US" sz="1700" dirty="0">
                <a:effectLst>
                  <a:outerShdw blurRad="38100" dist="38100" dir="2700000" algn="tl">
                    <a:srgbClr val="000000"/>
                  </a:outerShdw>
                </a:effectLst>
                <a:latin typeface="Arial" panose="020B0604020202020204" pitchFamily="34" charset="0"/>
              </a:rPr>
              <a:t>	</a:t>
            </a:r>
            <a:r>
              <a:rPr lang="en-GB" altLang="en-US" sz="1400" dirty="0">
                <a:solidFill>
                  <a:srgbClr val="FF6600"/>
                </a:solidFill>
                <a:effectLst>
                  <a:outerShdw blurRad="38100" dist="38100" dir="2700000" algn="tl">
                    <a:srgbClr val="000000"/>
                  </a:outerShdw>
                </a:effectLst>
                <a:latin typeface="Arial" panose="020B0604020202020204" pitchFamily="34" charset="0"/>
              </a:rPr>
              <a:t>S</a:t>
            </a:r>
            <a:r>
              <a:rPr lang="en-GB" altLang="en-US" sz="1400" spc="400" baseline="-25000" dirty="0">
                <a:solidFill>
                  <a:srgbClr val="FF6600"/>
                </a:solidFill>
                <a:effectLst>
                  <a:outerShdw blurRad="38100" dist="38100" dir="2700000" algn="tl">
                    <a:srgbClr val="000000"/>
                  </a:outerShdw>
                </a:effectLst>
                <a:latin typeface="Arial" panose="020B0604020202020204" pitchFamily="34" charset="0"/>
              </a:rPr>
              <a:t>2</a:t>
            </a:r>
            <a:r>
              <a:rPr lang="en-GB" altLang="en-US" sz="1400" spc="150" dirty="0">
                <a:solidFill>
                  <a:srgbClr val="FF6600"/>
                </a:solidFill>
                <a:effectLst>
                  <a:outerShdw blurRad="38100" dist="38100" dir="2700000" algn="tl">
                    <a:srgbClr val="000000"/>
                  </a:outerShdw>
                </a:effectLst>
                <a:latin typeface="Arial" panose="020B0604020202020204" pitchFamily="34" charset="0"/>
              </a:rPr>
              <a:t>/</a:t>
            </a:r>
            <a:r>
              <a:rPr lang="en-GB" altLang="en-US" sz="1400" dirty="0">
                <a:solidFill>
                  <a:srgbClr val="FF6600"/>
                </a:solidFill>
                <a:effectLst>
                  <a:outerShdw blurRad="38100" dist="38100" dir="2700000" algn="tl">
                    <a:srgbClr val="000000"/>
                  </a:outerShdw>
                </a:effectLst>
                <a:latin typeface="Arial" panose="020B0604020202020204" pitchFamily="34" charset="0"/>
              </a:rPr>
              <a:t>S</a:t>
            </a:r>
            <a:r>
              <a:rPr lang="en-GB" altLang="en-US" sz="1400" baseline="-25000" dirty="0">
                <a:solidFill>
                  <a:srgbClr val="FF6600"/>
                </a:solidFill>
                <a:effectLst>
                  <a:outerShdw blurRad="38100" dist="38100" dir="2700000" algn="tl">
                    <a:srgbClr val="000000"/>
                  </a:outerShdw>
                </a:effectLst>
                <a:latin typeface="Arial" panose="020B0604020202020204" pitchFamily="34" charset="0"/>
              </a:rPr>
              <a:t>0</a:t>
            </a:r>
            <a:r>
              <a:rPr lang="en-GB" altLang="en-US" sz="1400" dirty="0">
                <a:solidFill>
                  <a:srgbClr val="FF6600"/>
                </a:solidFill>
                <a:effectLst>
                  <a:outerShdw blurRad="38100" dist="38100" dir="2700000" algn="tl">
                    <a:srgbClr val="000000"/>
                  </a:outerShdw>
                </a:effectLst>
                <a:latin typeface="Arial" panose="020B0604020202020204" pitchFamily="34" charset="0"/>
              </a:rPr>
              <a:t> changes asymmetry across an F</a:t>
            </a:r>
            <a:r>
              <a:rPr lang="en-GB" altLang="en-US" sz="1400" baseline="-25000" dirty="0">
                <a:solidFill>
                  <a:srgbClr val="FF6600"/>
                </a:solidFill>
                <a:effectLst>
                  <a:outerShdw blurRad="38100" dist="38100" dir="2700000" algn="tl">
                    <a:srgbClr val="000000"/>
                  </a:outerShdw>
                </a:effectLst>
                <a:latin typeface="Arial" panose="020B0604020202020204" pitchFamily="34" charset="0"/>
              </a:rPr>
              <a:t>2</a:t>
            </a:r>
            <a:r>
              <a:rPr lang="en-GB" altLang="en-US" sz="1400" dirty="0">
                <a:solidFill>
                  <a:srgbClr val="FF6600"/>
                </a:solidFill>
                <a:effectLst>
                  <a:outerShdw blurRad="38100" dist="38100" dir="2700000" algn="tl">
                    <a:srgbClr val="000000"/>
                  </a:outerShdw>
                </a:effectLst>
                <a:latin typeface="Arial" panose="020B0604020202020204" pitchFamily="34" charset="0"/>
              </a:rPr>
              <a:t> fold but S</a:t>
            </a:r>
            <a:r>
              <a:rPr lang="en-GB" altLang="en-US" sz="1400" spc="400" baseline="-25000" dirty="0">
                <a:solidFill>
                  <a:srgbClr val="FF6600"/>
                </a:solidFill>
                <a:effectLst>
                  <a:outerShdw blurRad="38100" dist="38100" dir="2700000" algn="tl">
                    <a:srgbClr val="000000"/>
                  </a:outerShdw>
                </a:effectLst>
                <a:latin typeface="Arial" panose="020B0604020202020204" pitchFamily="34" charset="0"/>
              </a:rPr>
              <a:t>1</a:t>
            </a:r>
            <a:r>
              <a:rPr lang="en-GB" altLang="en-US" sz="1400" spc="150" dirty="0">
                <a:solidFill>
                  <a:srgbClr val="FF6600"/>
                </a:solidFill>
                <a:effectLst>
                  <a:outerShdw blurRad="38100" dist="38100" dir="2700000" algn="tl">
                    <a:srgbClr val="000000"/>
                  </a:outerShdw>
                </a:effectLst>
                <a:latin typeface="Arial" panose="020B0604020202020204" pitchFamily="34" charset="0"/>
              </a:rPr>
              <a:t>/</a:t>
            </a:r>
            <a:r>
              <a:rPr lang="en-GB" altLang="en-US" sz="1400" dirty="0">
                <a:solidFill>
                  <a:srgbClr val="FF6600"/>
                </a:solidFill>
                <a:effectLst>
                  <a:outerShdw blurRad="38100" dist="38100" dir="2700000" algn="tl">
                    <a:srgbClr val="000000"/>
                  </a:outerShdw>
                </a:effectLst>
                <a:latin typeface="Arial" panose="020B0604020202020204" pitchFamily="34" charset="0"/>
              </a:rPr>
              <a:t>S</a:t>
            </a:r>
            <a:r>
              <a:rPr lang="en-GB" altLang="en-US" sz="1400" baseline="-25000" dirty="0">
                <a:solidFill>
                  <a:srgbClr val="FF6600"/>
                </a:solidFill>
                <a:effectLst>
                  <a:outerShdw blurRad="38100" dist="38100" dir="2700000" algn="tl">
                    <a:srgbClr val="000000"/>
                  </a:outerShdw>
                </a:effectLst>
                <a:latin typeface="Arial" panose="020B0604020202020204" pitchFamily="34" charset="0"/>
              </a:rPr>
              <a:t>0</a:t>
            </a:r>
            <a:r>
              <a:rPr lang="en-GB" altLang="en-US" sz="1400" dirty="0">
                <a:solidFill>
                  <a:srgbClr val="FF6600"/>
                </a:solidFill>
                <a:effectLst>
                  <a:outerShdw blurRad="38100" dist="38100" dir="2700000" algn="tl">
                    <a:srgbClr val="000000"/>
                  </a:outerShdw>
                </a:effectLst>
                <a:latin typeface="Arial" panose="020B0604020202020204" pitchFamily="34" charset="0"/>
              </a:rPr>
              <a:t> does not</a:t>
            </a:r>
          </a:p>
        </p:txBody>
      </p:sp>
      <p:pic>
        <p:nvPicPr>
          <p:cNvPr id="74756" name="Picture 8" descr="30e2-Rhoscoly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3" y="835025"/>
            <a:ext cx="8705850" cy="3803650"/>
          </a:xfrm>
          <a:prstGeom prst="rect">
            <a:avLst/>
          </a:prstGeom>
          <a:noFill/>
          <a:ln w="38100">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74757"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3" y="4784725"/>
            <a:ext cx="3571875" cy="1911350"/>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0826" name="Text Box 10">
            <a:extLst>
              <a:ext uri="{FF2B5EF4-FFF2-40B4-BE49-F238E27FC236}">
                <a16:creationId xmlns:a16="http://schemas.microsoft.com/office/drawing/2014/main" id="{A2790FB1-F019-449F-BC74-C0480436EDF8}"/>
              </a:ext>
            </a:extLst>
          </p:cNvPr>
          <p:cNvSpPr txBox="1">
            <a:spLocks noChangeArrowheads="1"/>
          </p:cNvSpPr>
          <p:nvPr/>
        </p:nvSpPr>
        <p:spPr bwMode="auto">
          <a:xfrm>
            <a:off x="4092575" y="6389688"/>
            <a:ext cx="42576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defRPr/>
            </a:pPr>
            <a:r>
              <a:rPr lang="en-GB" altLang="en-US" sz="1400" dirty="0">
                <a:solidFill>
                  <a:srgbClr val="FFFF00"/>
                </a:solidFill>
                <a:effectLst>
                  <a:outerShdw blurRad="38100" dist="38100" dir="2700000" algn="tl">
                    <a:srgbClr val="000000"/>
                  </a:outerShdw>
                </a:effectLst>
                <a:latin typeface="Arial" panose="020B0604020202020204" pitchFamily="34" charset="0"/>
              </a:rPr>
              <a:t>S</a:t>
            </a:r>
            <a:r>
              <a:rPr lang="en-GB" altLang="en-US" sz="1400" spc="4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400" spc="150" dirty="0">
                <a:solidFill>
                  <a:srgbClr val="FFFF00"/>
                </a:solidFill>
                <a:effectLst>
                  <a:outerShdw blurRad="38100" dist="38100" dir="2700000" algn="tl">
                    <a:srgbClr val="000000"/>
                  </a:outerShdw>
                </a:effectLst>
                <a:latin typeface="Arial" panose="020B0604020202020204" pitchFamily="34" charset="0"/>
              </a:rPr>
              <a:t>/</a:t>
            </a:r>
            <a:r>
              <a:rPr lang="en-GB" altLang="en-US" sz="1400" dirty="0">
                <a:solidFill>
                  <a:srgbClr val="FFFF00"/>
                </a:solidFill>
                <a:effectLst>
                  <a:outerShdw blurRad="38100" dist="38100" dir="2700000" algn="tl">
                    <a:srgbClr val="000000"/>
                  </a:outerShdw>
                </a:effectLst>
                <a:latin typeface="Arial" panose="020B0604020202020204" pitchFamily="34" charset="0"/>
              </a:rPr>
              <a:t>S</a:t>
            </a:r>
            <a:r>
              <a:rPr lang="en-GB" altLang="en-US" sz="1400" baseline="-25000" dirty="0">
                <a:solidFill>
                  <a:srgbClr val="FFFF00"/>
                </a:solidFill>
                <a:effectLst>
                  <a:outerShdw blurRad="38100" dist="38100" dir="2700000" algn="tl">
                    <a:srgbClr val="000000"/>
                  </a:outerShdw>
                </a:effectLst>
                <a:latin typeface="Arial" panose="020B0604020202020204" pitchFamily="34" charset="0"/>
              </a:rPr>
              <a:t>0</a:t>
            </a:r>
            <a:r>
              <a:rPr lang="en-GB" altLang="en-US" sz="1400" dirty="0">
                <a:solidFill>
                  <a:srgbClr val="FFFF00"/>
                </a:solidFill>
                <a:effectLst>
                  <a:outerShdw blurRad="38100" dist="38100" dir="2700000" algn="tl">
                    <a:srgbClr val="000000"/>
                  </a:outerShdw>
                </a:effectLst>
                <a:latin typeface="Arial" panose="020B0604020202020204" pitchFamily="34" charset="0"/>
              </a:rPr>
              <a:t> is everywhere S asymmetry (verging to NW)</a:t>
            </a:r>
          </a:p>
        </p:txBody>
      </p:sp>
      <p:sp>
        <p:nvSpPr>
          <p:cNvPr id="290827" name="Line 11">
            <a:extLst>
              <a:ext uri="{FF2B5EF4-FFF2-40B4-BE49-F238E27FC236}">
                <a16:creationId xmlns:a16="http://schemas.microsoft.com/office/drawing/2014/main" id="{48221F84-D6F0-4B38-AB19-21D6A677C6BD}"/>
              </a:ext>
            </a:extLst>
          </p:cNvPr>
          <p:cNvSpPr>
            <a:spLocks noChangeShapeType="1"/>
          </p:cNvSpPr>
          <p:nvPr/>
        </p:nvSpPr>
        <p:spPr bwMode="auto">
          <a:xfrm flipH="1" flipV="1">
            <a:off x="3505200" y="6281738"/>
            <a:ext cx="555625" cy="238125"/>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441CE7C3-FFB3-4D74-B4FD-D99196A958C4}"/>
              </a:ext>
            </a:extLst>
          </p:cNvPr>
          <p:cNvSpPr>
            <a:spLocks noGrp="1" noChangeArrowheads="1"/>
          </p:cNvSpPr>
          <p:nvPr>
            <p:ph type="title" idx="4294967295"/>
          </p:nvPr>
        </p:nvSpPr>
        <p:spPr/>
        <p:txBody>
          <a:bodyPr/>
          <a:lstStyle/>
          <a:p>
            <a:pPr>
              <a:defRPr/>
            </a:pPr>
            <a:r>
              <a:rPr lang="en-GB" altLang="en-US" dirty="0"/>
              <a:t>Crenulation cleavag</a:t>
            </a:r>
            <a:r>
              <a:rPr lang="en-GB" altLang="en-US" spc="500" dirty="0"/>
              <a:t>e/</a:t>
            </a:r>
            <a:r>
              <a:rPr lang="en-GB" altLang="en-US" dirty="0"/>
              <a:t>bedding asymmetry</a:t>
            </a:r>
          </a:p>
        </p:txBody>
      </p:sp>
      <p:sp>
        <p:nvSpPr>
          <p:cNvPr id="292867" name="Text Box 3">
            <a:extLst>
              <a:ext uri="{FF2B5EF4-FFF2-40B4-BE49-F238E27FC236}">
                <a16:creationId xmlns:a16="http://schemas.microsoft.com/office/drawing/2014/main" id="{8BA811A3-80A9-47FD-8699-529D069A50DE}"/>
              </a:ext>
            </a:extLst>
          </p:cNvPr>
          <p:cNvSpPr txBox="1">
            <a:spLocks noChangeArrowheads="1"/>
          </p:cNvSpPr>
          <p:nvPr/>
        </p:nvSpPr>
        <p:spPr bwMode="auto">
          <a:xfrm>
            <a:off x="3925888" y="4738688"/>
            <a:ext cx="5081587" cy="134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75000"/>
              </a:spcBef>
              <a:buClr>
                <a:schemeClr val="tx1"/>
              </a:buClr>
              <a:buFontTx/>
              <a:buChar char="•"/>
              <a:defRPr/>
            </a:pPr>
            <a:r>
              <a:rPr lang="en-GB" altLang="en-US" sz="1700" dirty="0">
                <a:effectLst>
                  <a:outerShdw blurRad="38100" dist="38100" dir="2700000" algn="tl">
                    <a:srgbClr val="000000"/>
                  </a:outerShdw>
                </a:effectLst>
                <a:latin typeface="Arial" panose="020B0604020202020204" pitchFamily="34" charset="0"/>
              </a:rPr>
              <a:t>The </a:t>
            </a:r>
            <a:r>
              <a:rPr lang="en-GB" altLang="en-US" sz="1700" dirty="0">
                <a:solidFill>
                  <a:srgbClr val="FF66CC"/>
                </a:solidFill>
                <a:effectLst>
                  <a:outerShdw blurRad="38100" dist="38100" dir="2700000" algn="tl">
                    <a:srgbClr val="000000"/>
                  </a:outerShdw>
                </a:effectLst>
                <a:latin typeface="Arial" panose="020B0604020202020204" pitchFamily="34" charset="0"/>
              </a:rPr>
              <a:t>cleavag</a:t>
            </a:r>
            <a:r>
              <a:rPr lang="en-GB" altLang="en-US" sz="1700" spc="300" dirty="0">
                <a:solidFill>
                  <a:srgbClr val="FF66CC"/>
                </a:solidFill>
                <a:effectLst>
                  <a:outerShdw blurRad="38100" dist="38100" dir="2700000" algn="tl">
                    <a:srgbClr val="000000"/>
                  </a:outerShdw>
                </a:effectLst>
                <a:latin typeface="Arial" panose="020B0604020202020204" pitchFamily="34" charset="0"/>
              </a:rPr>
              <a:t>e/</a:t>
            </a:r>
            <a:r>
              <a:rPr lang="en-GB" altLang="en-US" sz="1700" dirty="0">
                <a:solidFill>
                  <a:srgbClr val="FF66CC"/>
                </a:solidFill>
                <a:effectLst>
                  <a:outerShdw blurRad="38100" dist="38100" dir="2700000" algn="tl">
                    <a:srgbClr val="000000"/>
                  </a:outerShdw>
                </a:effectLst>
                <a:latin typeface="Arial" panose="020B0604020202020204" pitchFamily="34" charset="0"/>
              </a:rPr>
              <a:t>bedding asymmetry</a:t>
            </a:r>
            <a:r>
              <a:rPr lang="en-GB" altLang="en-US" sz="1700" dirty="0">
                <a:effectLst>
                  <a:outerShdw blurRad="38100" dist="38100" dir="2700000" algn="tl">
                    <a:srgbClr val="000000"/>
                  </a:outerShdw>
                </a:effectLst>
                <a:latin typeface="Arial" panose="020B0604020202020204" pitchFamily="34" charset="0"/>
              </a:rPr>
              <a:t> relationships apply for folds of given deformation phase</a:t>
            </a:r>
          </a:p>
          <a:p>
            <a:pPr>
              <a:lnSpc>
                <a:spcPct val="120000"/>
              </a:lnSpc>
              <a:spcBef>
                <a:spcPct val="25000"/>
              </a:spcBef>
              <a:buClr>
                <a:schemeClr val="tx1"/>
              </a:buClr>
              <a:defRPr/>
            </a:pPr>
            <a:r>
              <a:rPr lang="en-GB" altLang="en-US" sz="1700" dirty="0">
                <a:effectLst>
                  <a:outerShdw blurRad="38100" dist="38100" dir="2700000" algn="tl">
                    <a:srgbClr val="000000"/>
                  </a:outerShdw>
                </a:effectLst>
                <a:latin typeface="Arial" panose="020B0604020202020204" pitchFamily="34" charset="0"/>
              </a:rPr>
              <a:t>	</a:t>
            </a:r>
            <a:r>
              <a:rPr lang="en-GB" altLang="en-US" sz="1400" dirty="0">
                <a:solidFill>
                  <a:srgbClr val="FF6600"/>
                </a:solidFill>
                <a:effectLst>
                  <a:outerShdw blurRad="38100" dist="38100" dir="2700000" algn="tl">
                    <a:srgbClr val="000000"/>
                  </a:outerShdw>
                </a:effectLst>
                <a:latin typeface="Arial" panose="020B0604020202020204" pitchFamily="34" charset="0"/>
              </a:rPr>
              <a:t>S</a:t>
            </a:r>
            <a:r>
              <a:rPr lang="en-GB" altLang="en-US" sz="1400" spc="400" baseline="-25000" dirty="0">
                <a:solidFill>
                  <a:srgbClr val="FF6600"/>
                </a:solidFill>
                <a:effectLst>
                  <a:outerShdw blurRad="38100" dist="38100" dir="2700000" algn="tl">
                    <a:srgbClr val="000000"/>
                  </a:outerShdw>
                </a:effectLst>
                <a:latin typeface="Arial" panose="020B0604020202020204" pitchFamily="34" charset="0"/>
              </a:rPr>
              <a:t>2</a:t>
            </a:r>
            <a:r>
              <a:rPr lang="en-GB" altLang="en-US" sz="1400" spc="150" dirty="0">
                <a:solidFill>
                  <a:srgbClr val="FF6600"/>
                </a:solidFill>
                <a:effectLst>
                  <a:outerShdw blurRad="38100" dist="38100" dir="2700000" algn="tl">
                    <a:srgbClr val="000000"/>
                  </a:outerShdw>
                </a:effectLst>
                <a:latin typeface="Arial" panose="020B0604020202020204" pitchFamily="34" charset="0"/>
              </a:rPr>
              <a:t>/</a:t>
            </a:r>
            <a:r>
              <a:rPr lang="en-GB" altLang="en-US" sz="1400" dirty="0">
                <a:solidFill>
                  <a:srgbClr val="FF6600"/>
                </a:solidFill>
                <a:effectLst>
                  <a:outerShdw blurRad="38100" dist="38100" dir="2700000" algn="tl">
                    <a:srgbClr val="000000"/>
                  </a:outerShdw>
                </a:effectLst>
                <a:latin typeface="Arial" panose="020B0604020202020204" pitchFamily="34" charset="0"/>
              </a:rPr>
              <a:t>S</a:t>
            </a:r>
            <a:r>
              <a:rPr lang="en-GB" altLang="en-US" sz="1400" baseline="-25000" dirty="0">
                <a:solidFill>
                  <a:srgbClr val="FF6600"/>
                </a:solidFill>
                <a:effectLst>
                  <a:outerShdw blurRad="38100" dist="38100" dir="2700000" algn="tl">
                    <a:srgbClr val="000000"/>
                  </a:outerShdw>
                </a:effectLst>
                <a:latin typeface="Arial" panose="020B0604020202020204" pitchFamily="34" charset="0"/>
              </a:rPr>
              <a:t>0</a:t>
            </a:r>
            <a:r>
              <a:rPr lang="en-GB" altLang="en-US" sz="1400" dirty="0">
                <a:solidFill>
                  <a:srgbClr val="FF6600"/>
                </a:solidFill>
                <a:effectLst>
                  <a:outerShdw blurRad="38100" dist="38100" dir="2700000" algn="tl">
                    <a:srgbClr val="000000"/>
                  </a:outerShdw>
                </a:effectLst>
                <a:latin typeface="Arial" panose="020B0604020202020204" pitchFamily="34" charset="0"/>
              </a:rPr>
              <a:t> changes asymmetry across an F</a:t>
            </a:r>
            <a:r>
              <a:rPr lang="en-GB" altLang="en-US" sz="1400" baseline="-25000" dirty="0">
                <a:solidFill>
                  <a:srgbClr val="FF6600"/>
                </a:solidFill>
                <a:effectLst>
                  <a:outerShdw blurRad="38100" dist="38100" dir="2700000" algn="tl">
                    <a:srgbClr val="000000"/>
                  </a:outerShdw>
                </a:effectLst>
                <a:latin typeface="Arial" panose="020B0604020202020204" pitchFamily="34" charset="0"/>
              </a:rPr>
              <a:t>2</a:t>
            </a:r>
            <a:r>
              <a:rPr lang="en-GB" altLang="en-US" sz="1400" dirty="0">
                <a:solidFill>
                  <a:srgbClr val="FF6600"/>
                </a:solidFill>
                <a:effectLst>
                  <a:outerShdw blurRad="38100" dist="38100" dir="2700000" algn="tl">
                    <a:srgbClr val="000000"/>
                  </a:outerShdw>
                </a:effectLst>
                <a:latin typeface="Arial" panose="020B0604020202020204" pitchFamily="34" charset="0"/>
              </a:rPr>
              <a:t> fold but S</a:t>
            </a:r>
            <a:r>
              <a:rPr lang="en-GB" altLang="en-US" sz="1400" spc="400" baseline="-25000" dirty="0">
                <a:solidFill>
                  <a:srgbClr val="FF6600"/>
                </a:solidFill>
                <a:effectLst>
                  <a:outerShdw blurRad="38100" dist="38100" dir="2700000" algn="tl">
                    <a:srgbClr val="000000"/>
                  </a:outerShdw>
                </a:effectLst>
                <a:latin typeface="Arial" panose="020B0604020202020204" pitchFamily="34" charset="0"/>
              </a:rPr>
              <a:t>1</a:t>
            </a:r>
            <a:r>
              <a:rPr lang="en-GB" altLang="en-US" sz="1400" spc="150" dirty="0">
                <a:solidFill>
                  <a:srgbClr val="FF6600"/>
                </a:solidFill>
                <a:effectLst>
                  <a:outerShdw blurRad="38100" dist="38100" dir="2700000" algn="tl">
                    <a:srgbClr val="000000"/>
                  </a:outerShdw>
                </a:effectLst>
                <a:latin typeface="Arial" panose="020B0604020202020204" pitchFamily="34" charset="0"/>
              </a:rPr>
              <a:t>/</a:t>
            </a:r>
            <a:r>
              <a:rPr lang="en-GB" altLang="en-US" sz="1400" dirty="0">
                <a:solidFill>
                  <a:srgbClr val="FF6600"/>
                </a:solidFill>
                <a:effectLst>
                  <a:outerShdw blurRad="38100" dist="38100" dir="2700000" algn="tl">
                    <a:srgbClr val="000000"/>
                  </a:outerShdw>
                </a:effectLst>
                <a:latin typeface="Arial" panose="020B0604020202020204" pitchFamily="34" charset="0"/>
              </a:rPr>
              <a:t>S</a:t>
            </a:r>
            <a:r>
              <a:rPr lang="en-GB" altLang="en-US" sz="1400" baseline="-25000" dirty="0">
                <a:solidFill>
                  <a:srgbClr val="FF6600"/>
                </a:solidFill>
                <a:effectLst>
                  <a:outerShdw blurRad="38100" dist="38100" dir="2700000" algn="tl">
                    <a:srgbClr val="000000"/>
                  </a:outerShdw>
                </a:effectLst>
                <a:latin typeface="Arial" panose="020B0604020202020204" pitchFamily="34" charset="0"/>
              </a:rPr>
              <a:t>0</a:t>
            </a:r>
            <a:r>
              <a:rPr lang="en-GB" altLang="en-US" sz="1400" dirty="0">
                <a:solidFill>
                  <a:srgbClr val="FF6600"/>
                </a:solidFill>
                <a:effectLst>
                  <a:outerShdw blurRad="38100" dist="38100" dir="2700000" algn="tl">
                    <a:srgbClr val="000000"/>
                  </a:outerShdw>
                </a:effectLst>
                <a:latin typeface="Arial" panose="020B0604020202020204" pitchFamily="34" charset="0"/>
              </a:rPr>
              <a:t> does not</a:t>
            </a:r>
          </a:p>
        </p:txBody>
      </p:sp>
      <p:pic>
        <p:nvPicPr>
          <p:cNvPr id="76804" name="Picture 4" descr="30e2-Rhoscoly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3" y="835025"/>
            <a:ext cx="8705850" cy="3803650"/>
          </a:xfrm>
          <a:prstGeom prst="rect">
            <a:avLst/>
          </a:prstGeom>
          <a:noFill/>
          <a:ln w="19050">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7680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3" y="4784725"/>
            <a:ext cx="3571875" cy="1911350"/>
          </a:xfrm>
          <a:prstGeom prst="rect">
            <a:avLst/>
          </a:prstGeom>
          <a:noFill/>
          <a:ln w="381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2870" name="Text Box 6">
            <a:extLst>
              <a:ext uri="{FF2B5EF4-FFF2-40B4-BE49-F238E27FC236}">
                <a16:creationId xmlns:a16="http://schemas.microsoft.com/office/drawing/2014/main" id="{5DFA379E-08B1-470E-B36E-4339EB657885}"/>
              </a:ext>
            </a:extLst>
          </p:cNvPr>
          <p:cNvSpPr txBox="1">
            <a:spLocks noChangeArrowheads="1"/>
          </p:cNvSpPr>
          <p:nvPr/>
        </p:nvSpPr>
        <p:spPr bwMode="auto">
          <a:xfrm>
            <a:off x="4092575" y="6389688"/>
            <a:ext cx="42576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defRPr/>
            </a:pPr>
            <a:r>
              <a:rPr lang="en-GB" altLang="en-US" sz="1400" dirty="0">
                <a:solidFill>
                  <a:srgbClr val="FFFF00"/>
                </a:solidFill>
                <a:effectLst>
                  <a:outerShdw blurRad="38100" dist="38100" dir="2700000" algn="tl">
                    <a:srgbClr val="000000"/>
                  </a:outerShdw>
                </a:effectLst>
                <a:latin typeface="Arial" panose="020B0604020202020204" pitchFamily="34" charset="0"/>
              </a:rPr>
              <a:t>S</a:t>
            </a:r>
            <a:r>
              <a:rPr lang="en-GB" altLang="en-US" sz="1400" spc="4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400" spc="150" dirty="0">
                <a:solidFill>
                  <a:srgbClr val="FFFF00"/>
                </a:solidFill>
                <a:effectLst>
                  <a:outerShdw blurRad="38100" dist="38100" dir="2700000" algn="tl">
                    <a:srgbClr val="000000"/>
                  </a:outerShdw>
                </a:effectLst>
                <a:latin typeface="Arial" panose="020B0604020202020204" pitchFamily="34" charset="0"/>
              </a:rPr>
              <a:t>/</a:t>
            </a:r>
            <a:r>
              <a:rPr lang="en-GB" altLang="en-US" sz="1400" dirty="0">
                <a:solidFill>
                  <a:srgbClr val="FFFF00"/>
                </a:solidFill>
                <a:effectLst>
                  <a:outerShdw blurRad="38100" dist="38100" dir="2700000" algn="tl">
                    <a:srgbClr val="000000"/>
                  </a:outerShdw>
                </a:effectLst>
                <a:latin typeface="Arial" panose="020B0604020202020204" pitchFamily="34" charset="0"/>
              </a:rPr>
              <a:t>S</a:t>
            </a:r>
            <a:r>
              <a:rPr lang="en-GB" altLang="en-US" sz="1400" baseline="-25000" dirty="0">
                <a:solidFill>
                  <a:srgbClr val="FFFF00"/>
                </a:solidFill>
                <a:effectLst>
                  <a:outerShdw blurRad="38100" dist="38100" dir="2700000" algn="tl">
                    <a:srgbClr val="000000"/>
                  </a:outerShdw>
                </a:effectLst>
                <a:latin typeface="Arial" panose="020B0604020202020204" pitchFamily="34" charset="0"/>
              </a:rPr>
              <a:t>0</a:t>
            </a:r>
            <a:r>
              <a:rPr lang="en-GB" altLang="en-US" sz="1400" dirty="0">
                <a:solidFill>
                  <a:srgbClr val="FFFF00"/>
                </a:solidFill>
                <a:effectLst>
                  <a:outerShdw blurRad="38100" dist="38100" dir="2700000" algn="tl">
                    <a:srgbClr val="000000"/>
                  </a:outerShdw>
                </a:effectLst>
                <a:latin typeface="Arial" panose="020B0604020202020204" pitchFamily="34" charset="0"/>
              </a:rPr>
              <a:t> is everywhere S asymmetry (verging to NW)</a:t>
            </a:r>
          </a:p>
        </p:txBody>
      </p:sp>
      <p:sp>
        <p:nvSpPr>
          <p:cNvPr id="292871" name="Line 7">
            <a:extLst>
              <a:ext uri="{FF2B5EF4-FFF2-40B4-BE49-F238E27FC236}">
                <a16:creationId xmlns:a16="http://schemas.microsoft.com/office/drawing/2014/main" id="{42316E2C-0B0D-49C5-A1E7-546245BFE630}"/>
              </a:ext>
            </a:extLst>
          </p:cNvPr>
          <p:cNvSpPr>
            <a:spLocks noChangeShapeType="1"/>
          </p:cNvSpPr>
          <p:nvPr/>
        </p:nvSpPr>
        <p:spPr bwMode="auto">
          <a:xfrm flipH="1" flipV="1">
            <a:off x="3505200" y="6281738"/>
            <a:ext cx="555625" cy="238125"/>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92872" name="Freeform 8">
            <a:extLst>
              <a:ext uri="{FF2B5EF4-FFF2-40B4-BE49-F238E27FC236}">
                <a16:creationId xmlns:a16="http://schemas.microsoft.com/office/drawing/2014/main" id="{79970422-823F-4D72-A79A-CAD9DB2C5E80}"/>
              </a:ext>
            </a:extLst>
          </p:cNvPr>
          <p:cNvSpPr>
            <a:spLocks/>
          </p:cNvSpPr>
          <p:nvPr/>
        </p:nvSpPr>
        <p:spPr bwMode="auto">
          <a:xfrm>
            <a:off x="5683250" y="1257300"/>
            <a:ext cx="663575" cy="946150"/>
          </a:xfrm>
          <a:custGeom>
            <a:avLst/>
            <a:gdLst>
              <a:gd name="T0" fmla="*/ 24 w 418"/>
              <a:gd name="T1" fmla="*/ 0 h 596"/>
              <a:gd name="T2" fmla="*/ 20 w 418"/>
              <a:gd name="T3" fmla="*/ 104 h 596"/>
              <a:gd name="T4" fmla="*/ 144 w 418"/>
              <a:gd name="T5" fmla="*/ 180 h 596"/>
              <a:gd name="T6" fmla="*/ 336 w 418"/>
              <a:gd name="T7" fmla="*/ 200 h 596"/>
              <a:gd name="T8" fmla="*/ 400 w 418"/>
              <a:gd name="T9" fmla="*/ 260 h 596"/>
              <a:gd name="T10" fmla="*/ 376 w 418"/>
              <a:gd name="T11" fmla="*/ 356 h 596"/>
              <a:gd name="T12" fmla="*/ 148 w 418"/>
              <a:gd name="T13" fmla="*/ 556 h 596"/>
              <a:gd name="T14" fmla="*/ 88 w 418"/>
              <a:gd name="T15" fmla="*/ 596 h 5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8" h="596">
                <a:moveTo>
                  <a:pt x="24" y="0"/>
                </a:moveTo>
                <a:cubicBezTo>
                  <a:pt x="12" y="37"/>
                  <a:pt x="0" y="74"/>
                  <a:pt x="20" y="104"/>
                </a:cubicBezTo>
                <a:cubicBezTo>
                  <a:pt x="40" y="134"/>
                  <a:pt x="91" y="164"/>
                  <a:pt x="144" y="180"/>
                </a:cubicBezTo>
                <a:cubicBezTo>
                  <a:pt x="197" y="196"/>
                  <a:pt x="293" y="187"/>
                  <a:pt x="336" y="200"/>
                </a:cubicBezTo>
                <a:cubicBezTo>
                  <a:pt x="379" y="213"/>
                  <a:pt x="393" y="234"/>
                  <a:pt x="400" y="260"/>
                </a:cubicBezTo>
                <a:cubicBezTo>
                  <a:pt x="407" y="286"/>
                  <a:pt x="418" y="307"/>
                  <a:pt x="376" y="356"/>
                </a:cubicBezTo>
                <a:cubicBezTo>
                  <a:pt x="334" y="405"/>
                  <a:pt x="196" y="516"/>
                  <a:pt x="148" y="556"/>
                </a:cubicBezTo>
                <a:cubicBezTo>
                  <a:pt x="100" y="596"/>
                  <a:pt x="94" y="596"/>
                  <a:pt x="88" y="596"/>
                </a:cubicBez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92873" name="Freeform 9">
            <a:extLst>
              <a:ext uri="{FF2B5EF4-FFF2-40B4-BE49-F238E27FC236}">
                <a16:creationId xmlns:a16="http://schemas.microsoft.com/office/drawing/2014/main" id="{E3C1F34D-F901-4AE0-AB56-45A58BC54C4C}"/>
              </a:ext>
            </a:extLst>
          </p:cNvPr>
          <p:cNvSpPr>
            <a:spLocks/>
          </p:cNvSpPr>
          <p:nvPr/>
        </p:nvSpPr>
        <p:spPr bwMode="auto">
          <a:xfrm>
            <a:off x="5334000" y="1225550"/>
            <a:ext cx="1657350" cy="1568450"/>
          </a:xfrm>
          <a:custGeom>
            <a:avLst/>
            <a:gdLst>
              <a:gd name="T0" fmla="*/ 0 w 1044"/>
              <a:gd name="T1" fmla="*/ 988 h 988"/>
              <a:gd name="T2" fmla="*/ 332 w 1044"/>
              <a:gd name="T3" fmla="*/ 816 h 988"/>
              <a:gd name="T4" fmla="*/ 732 w 1044"/>
              <a:gd name="T5" fmla="*/ 584 h 988"/>
              <a:gd name="T6" fmla="*/ 976 w 1044"/>
              <a:gd name="T7" fmla="*/ 388 h 988"/>
              <a:gd name="T8" fmla="*/ 1044 w 1044"/>
              <a:gd name="T9" fmla="*/ 244 h 988"/>
              <a:gd name="T10" fmla="*/ 976 w 1044"/>
              <a:gd name="T11" fmla="*/ 136 h 988"/>
              <a:gd name="T12" fmla="*/ 872 w 1044"/>
              <a:gd name="T13" fmla="*/ 108 h 988"/>
              <a:gd name="T14" fmla="*/ 704 w 1044"/>
              <a:gd name="T15" fmla="*/ 100 h 988"/>
              <a:gd name="T16" fmla="*/ 656 w 1044"/>
              <a:gd name="T17" fmla="*/ 0 h 9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4" h="988">
                <a:moveTo>
                  <a:pt x="0" y="988"/>
                </a:moveTo>
                <a:cubicBezTo>
                  <a:pt x="105" y="935"/>
                  <a:pt x="210" y="883"/>
                  <a:pt x="332" y="816"/>
                </a:cubicBezTo>
                <a:cubicBezTo>
                  <a:pt x="454" y="749"/>
                  <a:pt x="625" y="655"/>
                  <a:pt x="732" y="584"/>
                </a:cubicBezTo>
                <a:cubicBezTo>
                  <a:pt x="839" y="513"/>
                  <a:pt x="924" y="445"/>
                  <a:pt x="976" y="388"/>
                </a:cubicBezTo>
                <a:cubicBezTo>
                  <a:pt x="1028" y="331"/>
                  <a:pt x="1044" y="286"/>
                  <a:pt x="1044" y="244"/>
                </a:cubicBezTo>
                <a:cubicBezTo>
                  <a:pt x="1044" y="202"/>
                  <a:pt x="1005" y="159"/>
                  <a:pt x="976" y="136"/>
                </a:cubicBezTo>
                <a:cubicBezTo>
                  <a:pt x="947" y="113"/>
                  <a:pt x="917" y="114"/>
                  <a:pt x="872" y="108"/>
                </a:cubicBezTo>
                <a:cubicBezTo>
                  <a:pt x="827" y="102"/>
                  <a:pt x="740" y="118"/>
                  <a:pt x="704" y="100"/>
                </a:cubicBezTo>
                <a:cubicBezTo>
                  <a:pt x="668" y="82"/>
                  <a:pt x="662" y="41"/>
                  <a:pt x="656" y="0"/>
                </a:cubicBez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92874" name="Freeform 10">
            <a:extLst>
              <a:ext uri="{FF2B5EF4-FFF2-40B4-BE49-F238E27FC236}">
                <a16:creationId xmlns:a16="http://schemas.microsoft.com/office/drawing/2014/main" id="{77B53496-41FD-42F3-AAAA-36F0650CB756}"/>
              </a:ext>
            </a:extLst>
          </p:cNvPr>
          <p:cNvSpPr>
            <a:spLocks/>
          </p:cNvSpPr>
          <p:nvPr/>
        </p:nvSpPr>
        <p:spPr bwMode="auto">
          <a:xfrm>
            <a:off x="3727450" y="1352550"/>
            <a:ext cx="533400" cy="133350"/>
          </a:xfrm>
          <a:custGeom>
            <a:avLst/>
            <a:gdLst>
              <a:gd name="T0" fmla="*/ 0 w 336"/>
              <a:gd name="T1" fmla="*/ 0 h 84"/>
              <a:gd name="T2" fmla="*/ 180 w 336"/>
              <a:gd name="T3" fmla="*/ 52 h 84"/>
              <a:gd name="T4" fmla="*/ 336 w 336"/>
              <a:gd name="T5" fmla="*/ 84 h 84"/>
            </a:gdLst>
            <a:ahLst/>
            <a:cxnLst>
              <a:cxn ang="0">
                <a:pos x="T0" y="T1"/>
              </a:cxn>
              <a:cxn ang="0">
                <a:pos x="T2" y="T3"/>
              </a:cxn>
              <a:cxn ang="0">
                <a:pos x="T4" y="T5"/>
              </a:cxn>
            </a:cxnLst>
            <a:rect l="0" t="0" r="r" b="b"/>
            <a:pathLst>
              <a:path w="336" h="84">
                <a:moveTo>
                  <a:pt x="0" y="0"/>
                </a:moveTo>
                <a:cubicBezTo>
                  <a:pt x="62" y="19"/>
                  <a:pt x="124" y="38"/>
                  <a:pt x="180" y="52"/>
                </a:cubicBezTo>
                <a:cubicBezTo>
                  <a:pt x="236" y="66"/>
                  <a:pt x="286" y="75"/>
                  <a:pt x="336" y="84"/>
                </a:cubicBez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92875" name="Freeform 11">
            <a:extLst>
              <a:ext uri="{FF2B5EF4-FFF2-40B4-BE49-F238E27FC236}">
                <a16:creationId xmlns:a16="http://schemas.microsoft.com/office/drawing/2014/main" id="{D6390FBE-5B5B-4304-B7A9-BE93E7EF4057}"/>
              </a:ext>
            </a:extLst>
          </p:cNvPr>
          <p:cNvSpPr>
            <a:spLocks/>
          </p:cNvSpPr>
          <p:nvPr/>
        </p:nvSpPr>
        <p:spPr bwMode="auto">
          <a:xfrm>
            <a:off x="4846638" y="3714750"/>
            <a:ext cx="1096962" cy="425450"/>
          </a:xfrm>
          <a:custGeom>
            <a:avLst/>
            <a:gdLst>
              <a:gd name="T0" fmla="*/ 43 w 691"/>
              <a:gd name="T1" fmla="*/ 0 h 268"/>
              <a:gd name="T2" fmla="*/ 27 w 691"/>
              <a:gd name="T3" fmla="*/ 72 h 268"/>
              <a:gd name="T4" fmla="*/ 207 w 691"/>
              <a:gd name="T5" fmla="*/ 128 h 268"/>
              <a:gd name="T6" fmla="*/ 527 w 691"/>
              <a:gd name="T7" fmla="*/ 196 h 268"/>
              <a:gd name="T8" fmla="*/ 691 w 691"/>
              <a:gd name="T9" fmla="*/ 268 h 268"/>
            </a:gdLst>
            <a:ahLst/>
            <a:cxnLst>
              <a:cxn ang="0">
                <a:pos x="T0" y="T1"/>
              </a:cxn>
              <a:cxn ang="0">
                <a:pos x="T2" y="T3"/>
              </a:cxn>
              <a:cxn ang="0">
                <a:pos x="T4" y="T5"/>
              </a:cxn>
              <a:cxn ang="0">
                <a:pos x="T6" y="T7"/>
              </a:cxn>
              <a:cxn ang="0">
                <a:pos x="T8" y="T9"/>
              </a:cxn>
            </a:cxnLst>
            <a:rect l="0" t="0" r="r" b="b"/>
            <a:pathLst>
              <a:path w="691" h="268">
                <a:moveTo>
                  <a:pt x="43" y="0"/>
                </a:moveTo>
                <a:cubicBezTo>
                  <a:pt x="21" y="25"/>
                  <a:pt x="0" y="51"/>
                  <a:pt x="27" y="72"/>
                </a:cubicBezTo>
                <a:cubicBezTo>
                  <a:pt x="54" y="93"/>
                  <a:pt x="124" y="107"/>
                  <a:pt x="207" y="128"/>
                </a:cubicBezTo>
                <a:cubicBezTo>
                  <a:pt x="290" y="149"/>
                  <a:pt x="446" y="173"/>
                  <a:pt x="527" y="196"/>
                </a:cubicBezTo>
                <a:cubicBezTo>
                  <a:pt x="608" y="219"/>
                  <a:pt x="649" y="243"/>
                  <a:pt x="691" y="268"/>
                </a:cubicBez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92876" name="Freeform 12">
            <a:extLst>
              <a:ext uri="{FF2B5EF4-FFF2-40B4-BE49-F238E27FC236}">
                <a16:creationId xmlns:a16="http://schemas.microsoft.com/office/drawing/2014/main" id="{169A6E28-323D-4C64-8781-01EA5A57D346}"/>
              </a:ext>
            </a:extLst>
          </p:cNvPr>
          <p:cNvSpPr>
            <a:spLocks/>
          </p:cNvSpPr>
          <p:nvPr/>
        </p:nvSpPr>
        <p:spPr bwMode="auto">
          <a:xfrm>
            <a:off x="4348163" y="3365500"/>
            <a:ext cx="852487" cy="463550"/>
          </a:xfrm>
          <a:custGeom>
            <a:avLst/>
            <a:gdLst>
              <a:gd name="T0" fmla="*/ 537 w 537"/>
              <a:gd name="T1" fmla="*/ 0 h 292"/>
              <a:gd name="T2" fmla="*/ 253 w 537"/>
              <a:gd name="T3" fmla="*/ 116 h 292"/>
              <a:gd name="T4" fmla="*/ 41 w 537"/>
              <a:gd name="T5" fmla="*/ 208 h 292"/>
              <a:gd name="T6" fmla="*/ 5 w 537"/>
              <a:gd name="T7" fmla="*/ 292 h 292"/>
            </a:gdLst>
            <a:ahLst/>
            <a:cxnLst>
              <a:cxn ang="0">
                <a:pos x="T0" y="T1"/>
              </a:cxn>
              <a:cxn ang="0">
                <a:pos x="T2" y="T3"/>
              </a:cxn>
              <a:cxn ang="0">
                <a:pos x="T4" y="T5"/>
              </a:cxn>
              <a:cxn ang="0">
                <a:pos x="T6" y="T7"/>
              </a:cxn>
            </a:cxnLst>
            <a:rect l="0" t="0" r="r" b="b"/>
            <a:pathLst>
              <a:path w="537" h="292">
                <a:moveTo>
                  <a:pt x="537" y="0"/>
                </a:moveTo>
                <a:cubicBezTo>
                  <a:pt x="436" y="40"/>
                  <a:pt x="336" y="81"/>
                  <a:pt x="253" y="116"/>
                </a:cubicBezTo>
                <a:cubicBezTo>
                  <a:pt x="170" y="151"/>
                  <a:pt x="82" y="179"/>
                  <a:pt x="41" y="208"/>
                </a:cubicBezTo>
                <a:cubicBezTo>
                  <a:pt x="0" y="237"/>
                  <a:pt x="2" y="264"/>
                  <a:pt x="5" y="292"/>
                </a:cubicBez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92877" name="Freeform 13">
            <a:extLst>
              <a:ext uri="{FF2B5EF4-FFF2-40B4-BE49-F238E27FC236}">
                <a16:creationId xmlns:a16="http://schemas.microsoft.com/office/drawing/2014/main" id="{FD8E3637-B91A-42BA-8338-E78F7C0D5974}"/>
              </a:ext>
            </a:extLst>
          </p:cNvPr>
          <p:cNvSpPr>
            <a:spLocks/>
          </p:cNvSpPr>
          <p:nvPr/>
        </p:nvSpPr>
        <p:spPr bwMode="auto">
          <a:xfrm>
            <a:off x="4584700" y="1911350"/>
            <a:ext cx="2603500" cy="1460500"/>
          </a:xfrm>
          <a:custGeom>
            <a:avLst/>
            <a:gdLst>
              <a:gd name="T0" fmla="*/ 0 w 1640"/>
              <a:gd name="T1" fmla="*/ 920 h 920"/>
              <a:gd name="T2" fmla="*/ 320 w 1640"/>
              <a:gd name="T3" fmla="*/ 812 h 920"/>
              <a:gd name="T4" fmla="*/ 704 w 1640"/>
              <a:gd name="T5" fmla="*/ 624 h 920"/>
              <a:gd name="T6" fmla="*/ 1328 w 1640"/>
              <a:gd name="T7" fmla="*/ 240 h 920"/>
              <a:gd name="T8" fmla="*/ 1640 w 1640"/>
              <a:gd name="T9" fmla="*/ 0 h 920"/>
            </a:gdLst>
            <a:ahLst/>
            <a:cxnLst>
              <a:cxn ang="0">
                <a:pos x="T0" y="T1"/>
              </a:cxn>
              <a:cxn ang="0">
                <a:pos x="T2" y="T3"/>
              </a:cxn>
              <a:cxn ang="0">
                <a:pos x="T4" y="T5"/>
              </a:cxn>
              <a:cxn ang="0">
                <a:pos x="T6" y="T7"/>
              </a:cxn>
              <a:cxn ang="0">
                <a:pos x="T8" y="T9"/>
              </a:cxn>
            </a:cxnLst>
            <a:rect l="0" t="0" r="r" b="b"/>
            <a:pathLst>
              <a:path w="1640" h="920">
                <a:moveTo>
                  <a:pt x="0" y="920"/>
                </a:moveTo>
                <a:cubicBezTo>
                  <a:pt x="101" y="890"/>
                  <a:pt x="203" y="861"/>
                  <a:pt x="320" y="812"/>
                </a:cubicBezTo>
                <a:cubicBezTo>
                  <a:pt x="437" y="763"/>
                  <a:pt x="536" y="719"/>
                  <a:pt x="704" y="624"/>
                </a:cubicBezTo>
                <a:cubicBezTo>
                  <a:pt x="872" y="529"/>
                  <a:pt x="1172" y="344"/>
                  <a:pt x="1328" y="240"/>
                </a:cubicBezTo>
                <a:cubicBezTo>
                  <a:pt x="1484" y="136"/>
                  <a:pt x="1562" y="68"/>
                  <a:pt x="1640" y="0"/>
                </a:cubicBez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92879" name="Freeform 15">
            <a:extLst>
              <a:ext uri="{FF2B5EF4-FFF2-40B4-BE49-F238E27FC236}">
                <a16:creationId xmlns:a16="http://schemas.microsoft.com/office/drawing/2014/main" id="{FCCBBCBE-B322-46A6-87B6-564AEBD5C5DE}"/>
              </a:ext>
            </a:extLst>
          </p:cNvPr>
          <p:cNvSpPr>
            <a:spLocks/>
          </p:cNvSpPr>
          <p:nvPr/>
        </p:nvSpPr>
        <p:spPr bwMode="auto">
          <a:xfrm>
            <a:off x="2546350" y="1403350"/>
            <a:ext cx="1270000" cy="146050"/>
          </a:xfrm>
          <a:custGeom>
            <a:avLst/>
            <a:gdLst>
              <a:gd name="T0" fmla="*/ 0 w 800"/>
              <a:gd name="T1" fmla="*/ 0 h 92"/>
              <a:gd name="T2" fmla="*/ 212 w 800"/>
              <a:gd name="T3" fmla="*/ 28 h 92"/>
              <a:gd name="T4" fmla="*/ 476 w 800"/>
              <a:gd name="T5" fmla="*/ 72 h 92"/>
              <a:gd name="T6" fmla="*/ 800 w 800"/>
              <a:gd name="T7" fmla="*/ 92 h 92"/>
            </a:gdLst>
            <a:ahLst/>
            <a:cxnLst>
              <a:cxn ang="0">
                <a:pos x="T0" y="T1"/>
              </a:cxn>
              <a:cxn ang="0">
                <a:pos x="T2" y="T3"/>
              </a:cxn>
              <a:cxn ang="0">
                <a:pos x="T4" y="T5"/>
              </a:cxn>
              <a:cxn ang="0">
                <a:pos x="T6" y="T7"/>
              </a:cxn>
            </a:cxnLst>
            <a:rect l="0" t="0" r="r" b="b"/>
            <a:pathLst>
              <a:path w="800" h="92">
                <a:moveTo>
                  <a:pt x="0" y="0"/>
                </a:moveTo>
                <a:cubicBezTo>
                  <a:pt x="66" y="8"/>
                  <a:pt x="133" y="16"/>
                  <a:pt x="212" y="28"/>
                </a:cubicBezTo>
                <a:cubicBezTo>
                  <a:pt x="291" y="40"/>
                  <a:pt x="378" y="61"/>
                  <a:pt x="476" y="72"/>
                </a:cubicBezTo>
                <a:cubicBezTo>
                  <a:pt x="574" y="83"/>
                  <a:pt x="687" y="87"/>
                  <a:pt x="800" y="92"/>
                </a:cubicBezTo>
              </a:path>
            </a:pathLst>
          </a:custGeom>
          <a:noFill/>
          <a:ln w="1905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noFill/>
        </p:spPr>
        <p:txBody>
          <a:bodyPr/>
          <a:lstStyle/>
          <a:p>
            <a:r>
              <a:rPr lang="en-GB" altLang="en-US">
                <a:effectLst/>
              </a:rPr>
              <a:t>Cleavage  (crenulation)  2</a:t>
            </a:r>
          </a:p>
        </p:txBody>
      </p:sp>
      <p:sp>
        <p:nvSpPr>
          <p:cNvPr id="78851" name="Rectangle 3"/>
          <p:cNvSpPr>
            <a:spLocks noGrp="1" noChangeArrowheads="1"/>
          </p:cNvSpPr>
          <p:nvPr>
            <p:ph type="body" sz="half" idx="1"/>
          </p:nvPr>
        </p:nvSpPr>
        <p:spPr>
          <a:xfrm>
            <a:off x="149225" y="831850"/>
            <a:ext cx="3932121" cy="2813050"/>
          </a:xfrm>
          <a:noFill/>
        </p:spPr>
        <p:txBody>
          <a:bodyPr/>
          <a:lstStyle/>
          <a:p>
            <a:pPr marL="177800" indent="-177800">
              <a:tabLst>
                <a:tab pos="177800" algn="l"/>
              </a:tabLst>
            </a:pPr>
            <a:r>
              <a:rPr lang="en-GB" altLang="en-US" sz="1700" dirty="0">
                <a:effectLst/>
              </a:rPr>
              <a:t>Identifying </a:t>
            </a:r>
            <a:r>
              <a:rPr lang="en-GB" altLang="en-US" sz="1700" dirty="0">
                <a:solidFill>
                  <a:srgbClr val="FF66CC"/>
                </a:solidFill>
                <a:effectLst/>
              </a:rPr>
              <a:t>generations of cleavages</a:t>
            </a:r>
            <a:r>
              <a:rPr lang="en-GB" altLang="en-US" sz="1700" dirty="0">
                <a:effectLst/>
              </a:rPr>
              <a:t>, and (for each generation) measuring the </a:t>
            </a:r>
            <a:r>
              <a:rPr lang="en-GB" altLang="en-US" sz="1700" dirty="0">
                <a:solidFill>
                  <a:srgbClr val="FF66CC"/>
                </a:solidFill>
                <a:effectLst/>
              </a:rPr>
              <a:t>cleavage plane</a:t>
            </a:r>
            <a:r>
              <a:rPr lang="en-GB" altLang="en-US" sz="1700" dirty="0">
                <a:effectLst/>
              </a:rPr>
              <a:t> and the </a:t>
            </a:r>
            <a:r>
              <a:rPr lang="en-GB" altLang="en-US" sz="1700" dirty="0">
                <a:solidFill>
                  <a:srgbClr val="FF66CC"/>
                </a:solidFill>
                <a:effectLst/>
              </a:rPr>
              <a:t>cleavag</a:t>
            </a:r>
            <a:r>
              <a:rPr lang="en-GB" altLang="en-US" sz="1700" spc="300" dirty="0">
                <a:solidFill>
                  <a:srgbClr val="FF66CC"/>
                </a:solidFill>
                <a:effectLst/>
              </a:rPr>
              <a:t>e/</a:t>
            </a:r>
            <a:r>
              <a:rPr lang="en-GB" altLang="en-US" sz="1700" dirty="0">
                <a:solidFill>
                  <a:srgbClr val="FF66CC"/>
                </a:solidFill>
                <a:effectLst/>
              </a:rPr>
              <a:t>bedding intersection</a:t>
            </a:r>
            <a:r>
              <a:rPr lang="en-GB" altLang="en-US" sz="1700" dirty="0">
                <a:effectLst/>
              </a:rPr>
              <a:t> </a:t>
            </a:r>
            <a:r>
              <a:rPr lang="en-GB" altLang="en-US" sz="1700" dirty="0">
                <a:solidFill>
                  <a:srgbClr val="FF66CC"/>
                </a:solidFill>
                <a:effectLst/>
              </a:rPr>
              <a:t>lineation</a:t>
            </a:r>
            <a:r>
              <a:rPr lang="en-GB" altLang="en-US" sz="1700" dirty="0">
                <a:effectLst/>
              </a:rPr>
              <a:t> is a key mapping skill</a:t>
            </a:r>
          </a:p>
          <a:p>
            <a:pPr marL="177800" indent="-177800">
              <a:spcBef>
                <a:spcPts val="1200"/>
              </a:spcBef>
              <a:tabLst>
                <a:tab pos="177800" algn="l"/>
              </a:tabLst>
            </a:pPr>
            <a:r>
              <a:rPr lang="en-GB" altLang="en-US" sz="1700" dirty="0">
                <a:effectLst/>
              </a:rPr>
              <a:t>Honing these skills is a major objective of any mapping field course that is not just introductory</a:t>
            </a:r>
          </a:p>
        </p:txBody>
      </p:sp>
      <p:pic>
        <p:nvPicPr>
          <p:cNvPr id="78852" name="Picture 8" descr="Crenulation"/>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392613" y="1411288"/>
            <a:ext cx="4222750" cy="511968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7338" name="Text Box 10">
            <a:extLst>
              <a:ext uri="{FF2B5EF4-FFF2-40B4-BE49-F238E27FC236}">
                <a16:creationId xmlns:a16="http://schemas.microsoft.com/office/drawing/2014/main" id="{45E2E110-7640-49D5-B28B-A5C07B94B869}"/>
              </a:ext>
            </a:extLst>
          </p:cNvPr>
          <p:cNvSpPr txBox="1">
            <a:spLocks noChangeArrowheads="1"/>
          </p:cNvSpPr>
          <p:nvPr/>
        </p:nvSpPr>
        <p:spPr bwMode="auto">
          <a:xfrm>
            <a:off x="563563" y="3644900"/>
            <a:ext cx="3827462" cy="296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15000"/>
              </a:lnSpc>
              <a:spcBef>
                <a:spcPct val="75000"/>
              </a:spcBef>
              <a:buClr>
                <a:schemeClr val="accent2"/>
              </a:buClr>
              <a:defRPr/>
            </a:pPr>
            <a:r>
              <a:rPr lang="en-GB" altLang="en-US" sz="1400" dirty="0">
                <a:solidFill>
                  <a:srgbClr val="FFFF00"/>
                </a:solidFill>
                <a:effectLst>
                  <a:outerShdw blurRad="38100" dist="38100" dir="2700000" algn="tl">
                    <a:srgbClr val="000000"/>
                  </a:outerShdw>
                </a:effectLst>
                <a:latin typeface="Arial" panose="020B0604020202020204" pitchFamily="34" charset="0"/>
              </a:rPr>
              <a:t>In the photo right:</a:t>
            </a:r>
          </a:p>
          <a:p>
            <a:pPr>
              <a:lnSpc>
                <a:spcPct val="115000"/>
              </a:lnSpc>
              <a:spcBef>
                <a:spcPct val="50000"/>
              </a:spcBef>
              <a:buClr>
                <a:srgbClr val="FFFF00"/>
              </a:buClr>
              <a:buFontTx/>
              <a:buChar char="•"/>
              <a:defRPr/>
            </a:pPr>
            <a:r>
              <a:rPr lang="en-GB" altLang="en-US" sz="1400" dirty="0">
                <a:solidFill>
                  <a:srgbClr val="FF6600"/>
                </a:solidFill>
                <a:effectLst>
                  <a:outerShdw blurRad="38100" dist="38100" dir="2700000" algn="tl">
                    <a:srgbClr val="000000"/>
                  </a:outerShdw>
                </a:effectLst>
                <a:latin typeface="Arial" panose="020B0604020202020204" pitchFamily="34" charset="0"/>
              </a:rPr>
              <a:t>bedding </a:t>
            </a:r>
            <a:r>
              <a:rPr lang="en-GB" altLang="en-US" sz="1400" spc="150" dirty="0">
                <a:solidFill>
                  <a:srgbClr val="FF6600"/>
                </a:solidFill>
                <a:effectLst>
                  <a:outerShdw blurRad="38100" dist="38100" dir="2700000" algn="tl">
                    <a:srgbClr val="000000"/>
                  </a:outerShdw>
                </a:effectLst>
                <a:latin typeface="Arial" panose="020B0604020202020204" pitchFamily="34" charset="0"/>
              </a:rPr>
              <a:t>(</a:t>
            </a:r>
            <a:r>
              <a:rPr lang="en-GB" altLang="en-US" sz="1400" dirty="0">
                <a:solidFill>
                  <a:srgbClr val="FF6600"/>
                </a:solidFill>
                <a:effectLst>
                  <a:outerShdw blurRad="38100" dist="38100" dir="2700000" algn="tl">
                    <a:srgbClr val="000000"/>
                  </a:outerShdw>
                </a:effectLst>
                <a:latin typeface="Arial" panose="020B0604020202020204" pitchFamily="34" charset="0"/>
              </a:rPr>
              <a:t>S</a:t>
            </a:r>
            <a:r>
              <a:rPr lang="en-GB" altLang="en-US" sz="1400" spc="250" baseline="-25000" dirty="0">
                <a:solidFill>
                  <a:srgbClr val="FF6600"/>
                </a:solidFill>
                <a:effectLst>
                  <a:outerShdw blurRad="38100" dist="38100" dir="2700000" algn="tl">
                    <a:srgbClr val="000000"/>
                  </a:outerShdw>
                </a:effectLst>
                <a:latin typeface="Arial" panose="020B0604020202020204" pitchFamily="34" charset="0"/>
              </a:rPr>
              <a:t>0</a:t>
            </a:r>
            <a:r>
              <a:rPr lang="en-GB" altLang="en-US" sz="1400" dirty="0">
                <a:solidFill>
                  <a:srgbClr val="FF6600"/>
                </a:solidFill>
                <a:effectLst>
                  <a:outerShdw blurRad="38100" dist="38100" dir="2700000" algn="tl">
                    <a:srgbClr val="000000"/>
                  </a:outerShdw>
                </a:effectLst>
                <a:latin typeface="Arial" panose="020B0604020202020204" pitchFamily="34" charset="0"/>
              </a:rPr>
              <a:t>)</a:t>
            </a:r>
            <a:r>
              <a:rPr lang="en-GB" altLang="en-US" sz="1400" dirty="0">
                <a:solidFill>
                  <a:srgbClr val="FFFF00"/>
                </a:solidFill>
                <a:effectLst>
                  <a:outerShdw blurRad="38100" dist="38100" dir="2700000" algn="tl">
                    <a:srgbClr val="000000"/>
                  </a:outerShdw>
                </a:effectLst>
                <a:latin typeface="Arial" panose="020B0604020202020204" pitchFamily="34" charset="0"/>
              </a:rPr>
              <a:t> is given by the change in lithology;</a:t>
            </a:r>
          </a:p>
          <a:p>
            <a:pPr>
              <a:lnSpc>
                <a:spcPct val="115000"/>
              </a:lnSpc>
              <a:spcBef>
                <a:spcPct val="75000"/>
              </a:spcBef>
              <a:buClr>
                <a:srgbClr val="FFFF00"/>
              </a:buClr>
              <a:buFontTx/>
              <a:buChar char="•"/>
              <a:defRPr/>
            </a:pPr>
            <a:r>
              <a:rPr lang="en-GB" altLang="en-US" sz="1400" dirty="0">
                <a:solidFill>
                  <a:srgbClr val="FF6600"/>
                </a:solidFill>
                <a:effectLst>
                  <a:outerShdw blurRad="38100" dist="38100" dir="2700000" algn="tl">
                    <a:srgbClr val="000000"/>
                  </a:outerShdw>
                </a:effectLst>
                <a:latin typeface="Arial" panose="020B0604020202020204" pitchFamily="34" charset="0"/>
              </a:rPr>
              <a:t>the first cleavage </a:t>
            </a:r>
            <a:r>
              <a:rPr lang="en-GB" altLang="en-US" sz="1400" spc="150" dirty="0">
                <a:solidFill>
                  <a:srgbClr val="FF6600"/>
                </a:solidFill>
                <a:effectLst>
                  <a:outerShdw blurRad="38100" dist="38100" dir="2700000" algn="tl">
                    <a:srgbClr val="000000"/>
                  </a:outerShdw>
                </a:effectLst>
                <a:latin typeface="Arial" panose="020B0604020202020204" pitchFamily="34" charset="0"/>
              </a:rPr>
              <a:t>(</a:t>
            </a:r>
            <a:r>
              <a:rPr lang="en-GB" altLang="en-US" sz="1400" dirty="0">
                <a:solidFill>
                  <a:srgbClr val="FF6600"/>
                </a:solidFill>
                <a:effectLst>
                  <a:outerShdw blurRad="38100" dist="38100" dir="2700000" algn="tl">
                    <a:srgbClr val="000000"/>
                  </a:outerShdw>
                </a:effectLst>
                <a:latin typeface="Arial" panose="020B0604020202020204" pitchFamily="34" charset="0"/>
              </a:rPr>
              <a:t>S</a:t>
            </a:r>
            <a:r>
              <a:rPr lang="en-GB" altLang="en-US" sz="1400" spc="250" baseline="-25000" dirty="0">
                <a:solidFill>
                  <a:srgbClr val="FF6600"/>
                </a:solidFill>
                <a:effectLst>
                  <a:outerShdw blurRad="38100" dist="38100" dir="2700000" algn="tl">
                    <a:srgbClr val="000000"/>
                  </a:outerShdw>
                </a:effectLst>
                <a:latin typeface="Arial" panose="020B0604020202020204" pitchFamily="34" charset="0"/>
              </a:rPr>
              <a:t>1</a:t>
            </a:r>
            <a:r>
              <a:rPr lang="en-GB" altLang="en-US" sz="1400" dirty="0">
                <a:solidFill>
                  <a:srgbClr val="FF6600"/>
                </a:solidFill>
                <a:effectLst>
                  <a:outerShdw blurRad="38100" dist="38100" dir="2700000" algn="tl">
                    <a:srgbClr val="000000"/>
                  </a:outerShdw>
                </a:effectLst>
                <a:latin typeface="Arial" panose="020B0604020202020204" pitchFamily="34" charset="0"/>
              </a:rPr>
              <a:t>)</a:t>
            </a:r>
            <a:r>
              <a:rPr lang="en-GB" altLang="en-US" sz="1400" dirty="0">
                <a:solidFill>
                  <a:srgbClr val="FFFF00"/>
                </a:solidFill>
                <a:effectLst>
                  <a:outerShdw blurRad="38100" dist="38100" dir="2700000" algn="tl">
                    <a:srgbClr val="000000"/>
                  </a:outerShdw>
                </a:effectLst>
                <a:latin typeface="Arial" panose="020B0604020202020204" pitchFamily="34" charset="0"/>
              </a:rPr>
              <a:t> is the penetrative fabric running top right to bottom left </a:t>
            </a:r>
            <a:r>
              <a:rPr lang="en-GB" altLang="en-US" sz="1400" spc="150" dirty="0">
                <a:solidFill>
                  <a:srgbClr val="FFFF00"/>
                </a:solidFill>
                <a:effectLst>
                  <a:outerShdw blurRad="38100" dist="38100" dir="2700000" algn="tl">
                    <a:srgbClr val="000000"/>
                  </a:outerShdw>
                </a:effectLst>
                <a:latin typeface="Arial" panose="020B0604020202020204" pitchFamily="34" charset="0"/>
              </a:rPr>
              <a:t>(</a:t>
            </a:r>
            <a:r>
              <a:rPr lang="en-GB" altLang="en-US" sz="1400" dirty="0">
                <a:solidFill>
                  <a:srgbClr val="FFFF00"/>
                </a:solidFill>
                <a:effectLst>
                  <a:outerShdw blurRad="38100" dist="38100" dir="2700000" algn="tl">
                    <a:srgbClr val="000000"/>
                  </a:outerShdw>
                </a:effectLst>
                <a:latin typeface="Arial" panose="020B0604020202020204" pitchFamily="34" charset="0"/>
              </a:rPr>
              <a:t>D</a:t>
            </a:r>
            <a:r>
              <a:rPr lang="en-GB" altLang="en-US" sz="1400" baseline="-25000" dirty="0">
                <a:solidFill>
                  <a:srgbClr val="FFFF00"/>
                </a:solidFill>
                <a:effectLst>
                  <a:outerShdw blurRad="38100" dist="38100" dir="2700000" algn="tl">
                    <a:srgbClr val="000000"/>
                  </a:outerShdw>
                </a:effectLst>
                <a:latin typeface="Arial" panose="020B0604020202020204" pitchFamily="34" charset="0"/>
              </a:rPr>
              <a:t>1</a:t>
            </a:r>
            <a:r>
              <a:rPr lang="en-GB" altLang="en-US" sz="1400" dirty="0">
                <a:solidFill>
                  <a:srgbClr val="FFFF00"/>
                </a:solidFill>
                <a:effectLst>
                  <a:outerShdw blurRad="38100" dist="38100" dir="2700000" algn="tl">
                    <a:srgbClr val="000000"/>
                  </a:outerShdw>
                </a:effectLst>
                <a:latin typeface="Arial" panose="020B0604020202020204" pitchFamily="34" charset="0"/>
              </a:rPr>
              <a:t> </a:t>
            </a:r>
            <a:r>
              <a:rPr lang="en-GB" altLang="en-US" sz="1400" dirty="0" err="1">
                <a:solidFill>
                  <a:srgbClr val="FFFF00"/>
                </a:solidFill>
                <a:effectLst>
                  <a:outerShdw blurRad="38100" dist="38100" dir="2700000" algn="tl">
                    <a:srgbClr val="000000"/>
                  </a:outerShdw>
                </a:effectLst>
                <a:latin typeface="Arial" panose="020B0604020202020204" pitchFamily="34" charset="0"/>
              </a:rPr>
              <a:t>antiform</a:t>
            </a:r>
            <a:r>
              <a:rPr lang="en-GB" altLang="en-US" sz="1400" dirty="0">
                <a:solidFill>
                  <a:srgbClr val="FFFF00"/>
                </a:solidFill>
                <a:effectLst>
                  <a:outerShdw blurRad="38100" dist="38100" dir="2700000" algn="tl">
                    <a:srgbClr val="000000"/>
                  </a:outerShdw>
                </a:effectLst>
                <a:latin typeface="Arial" panose="020B0604020202020204" pitchFamily="34" charset="0"/>
              </a:rPr>
              <a:t> to the left)</a:t>
            </a:r>
          </a:p>
          <a:p>
            <a:pPr>
              <a:lnSpc>
                <a:spcPct val="115000"/>
              </a:lnSpc>
              <a:spcBef>
                <a:spcPct val="75000"/>
              </a:spcBef>
              <a:buClr>
                <a:srgbClr val="FFFF00"/>
              </a:buClr>
              <a:buFontTx/>
              <a:buChar char="•"/>
              <a:defRPr/>
            </a:pPr>
            <a:r>
              <a:rPr lang="en-GB" altLang="en-US" sz="1400" dirty="0">
                <a:solidFill>
                  <a:srgbClr val="FF6600"/>
                </a:solidFill>
                <a:effectLst>
                  <a:outerShdw blurRad="38100" dist="38100" dir="2700000" algn="tl">
                    <a:srgbClr val="000000"/>
                  </a:outerShdw>
                </a:effectLst>
                <a:latin typeface="Arial" panose="020B0604020202020204" pitchFamily="34" charset="0"/>
              </a:rPr>
              <a:t>the second cleavage </a:t>
            </a:r>
            <a:r>
              <a:rPr lang="en-GB" altLang="en-US" sz="1400" spc="150" dirty="0">
                <a:solidFill>
                  <a:srgbClr val="FF6600"/>
                </a:solidFill>
                <a:effectLst>
                  <a:outerShdw blurRad="38100" dist="38100" dir="2700000" algn="tl">
                    <a:srgbClr val="000000"/>
                  </a:outerShdw>
                </a:effectLst>
                <a:latin typeface="Arial" panose="020B0604020202020204" pitchFamily="34" charset="0"/>
              </a:rPr>
              <a:t>(</a:t>
            </a:r>
            <a:r>
              <a:rPr lang="en-GB" altLang="en-US" sz="1400" dirty="0">
                <a:solidFill>
                  <a:srgbClr val="FF6600"/>
                </a:solidFill>
                <a:effectLst>
                  <a:outerShdw blurRad="38100" dist="38100" dir="2700000" algn="tl">
                    <a:srgbClr val="000000"/>
                  </a:outerShdw>
                </a:effectLst>
                <a:latin typeface="Arial" panose="020B0604020202020204" pitchFamily="34" charset="0"/>
              </a:rPr>
              <a:t>S</a:t>
            </a:r>
            <a:r>
              <a:rPr lang="en-GB" altLang="en-US" sz="1400" spc="250" baseline="-25000" dirty="0">
                <a:solidFill>
                  <a:srgbClr val="FF6600"/>
                </a:solidFill>
                <a:effectLst>
                  <a:outerShdw blurRad="38100" dist="38100" dir="2700000" algn="tl">
                    <a:srgbClr val="000000"/>
                  </a:outerShdw>
                </a:effectLst>
                <a:latin typeface="Arial" panose="020B0604020202020204" pitchFamily="34" charset="0"/>
              </a:rPr>
              <a:t>2</a:t>
            </a:r>
            <a:r>
              <a:rPr lang="en-GB" altLang="en-US" sz="1400" dirty="0">
                <a:solidFill>
                  <a:srgbClr val="FF6600"/>
                </a:solidFill>
                <a:effectLst>
                  <a:outerShdw blurRad="38100" dist="38100" dir="2700000" algn="tl">
                    <a:srgbClr val="000000"/>
                  </a:outerShdw>
                </a:effectLst>
                <a:latin typeface="Arial" panose="020B0604020202020204" pitchFamily="34" charset="0"/>
              </a:rPr>
              <a:t>)</a:t>
            </a:r>
            <a:r>
              <a:rPr lang="en-GB" altLang="en-US" sz="1400" dirty="0">
                <a:solidFill>
                  <a:srgbClr val="FFFF00"/>
                </a:solidFill>
                <a:effectLst>
                  <a:outerShdw blurRad="38100" dist="38100" dir="2700000" algn="tl">
                    <a:srgbClr val="000000"/>
                  </a:outerShdw>
                </a:effectLst>
                <a:latin typeface="Arial" panose="020B0604020202020204" pitchFamily="34" charset="0"/>
              </a:rPr>
              <a:t> is the spaced, weakly developed fabric running top to bottom (note that it is axial planar to the folded cleavage in the quartzite layer)</a:t>
            </a:r>
          </a:p>
        </p:txBody>
      </p:sp>
      <p:sp>
        <p:nvSpPr>
          <p:cNvPr id="227339" name="Line 11">
            <a:extLst>
              <a:ext uri="{FF2B5EF4-FFF2-40B4-BE49-F238E27FC236}">
                <a16:creationId xmlns:a16="http://schemas.microsoft.com/office/drawing/2014/main" id="{13849EC7-330B-4363-8329-0F8FD9955027}"/>
              </a:ext>
            </a:extLst>
          </p:cNvPr>
          <p:cNvSpPr>
            <a:spLocks noChangeShapeType="1"/>
          </p:cNvSpPr>
          <p:nvPr/>
        </p:nvSpPr>
        <p:spPr bwMode="auto">
          <a:xfrm flipV="1">
            <a:off x="6648450" y="957263"/>
            <a:ext cx="158750" cy="977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27340" name="Line 12">
            <a:extLst>
              <a:ext uri="{FF2B5EF4-FFF2-40B4-BE49-F238E27FC236}">
                <a16:creationId xmlns:a16="http://schemas.microsoft.com/office/drawing/2014/main" id="{5465FE31-8C74-48DE-B767-61D582F82CE6}"/>
              </a:ext>
            </a:extLst>
          </p:cNvPr>
          <p:cNvSpPr>
            <a:spLocks noChangeShapeType="1"/>
          </p:cNvSpPr>
          <p:nvPr/>
        </p:nvSpPr>
        <p:spPr bwMode="auto">
          <a:xfrm flipV="1">
            <a:off x="7488238" y="935038"/>
            <a:ext cx="468312" cy="873125"/>
          </a:xfrm>
          <a:prstGeom prst="line">
            <a:avLst/>
          </a:prstGeom>
          <a:noFill/>
          <a:ln w="3810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27341" name="Line 13">
            <a:extLst>
              <a:ext uri="{FF2B5EF4-FFF2-40B4-BE49-F238E27FC236}">
                <a16:creationId xmlns:a16="http://schemas.microsoft.com/office/drawing/2014/main" id="{3D08B5F0-4A10-4248-8E76-87A0B026BE38}"/>
              </a:ext>
            </a:extLst>
          </p:cNvPr>
          <p:cNvSpPr>
            <a:spLocks noChangeShapeType="1"/>
          </p:cNvSpPr>
          <p:nvPr/>
        </p:nvSpPr>
        <p:spPr bwMode="auto">
          <a:xfrm>
            <a:off x="8431213" y="3709988"/>
            <a:ext cx="42862" cy="796925"/>
          </a:xfrm>
          <a:prstGeom prst="line">
            <a:avLst/>
          </a:prstGeom>
          <a:noFill/>
          <a:ln w="5715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27342" name="Text Box 14">
            <a:extLst>
              <a:ext uri="{FF2B5EF4-FFF2-40B4-BE49-F238E27FC236}">
                <a16:creationId xmlns:a16="http://schemas.microsoft.com/office/drawing/2014/main" id="{848A65F5-840B-4337-B52C-00F5D027161A}"/>
              </a:ext>
            </a:extLst>
          </p:cNvPr>
          <p:cNvSpPr txBox="1">
            <a:spLocks noChangeArrowheads="1"/>
          </p:cNvSpPr>
          <p:nvPr/>
        </p:nvSpPr>
        <p:spPr bwMode="auto">
          <a:xfrm>
            <a:off x="8632825" y="3848100"/>
            <a:ext cx="42545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defRPr/>
            </a:pPr>
            <a:r>
              <a:rPr lang="en-GB" altLang="en-US" sz="1700">
                <a:solidFill>
                  <a:srgbClr val="FF0000"/>
                </a:solidFill>
                <a:effectLst>
                  <a:outerShdw blurRad="38100" dist="38100" dir="2700000" algn="tl">
                    <a:srgbClr val="000000"/>
                  </a:outerShdw>
                </a:effectLst>
                <a:latin typeface="Arial" panose="020B0604020202020204" pitchFamily="34" charset="0"/>
              </a:rPr>
              <a:t>S</a:t>
            </a:r>
            <a:r>
              <a:rPr lang="en-GB" altLang="en-US" sz="1700" baseline="-25000">
                <a:solidFill>
                  <a:srgbClr val="FF0000"/>
                </a:solidFill>
                <a:effectLst>
                  <a:outerShdw blurRad="38100" dist="38100" dir="2700000" algn="tl">
                    <a:srgbClr val="000000"/>
                  </a:outerShdw>
                </a:effectLst>
                <a:latin typeface="Arial" panose="020B0604020202020204" pitchFamily="34" charset="0"/>
              </a:rPr>
              <a:t>2</a:t>
            </a:r>
            <a:endParaRPr lang="en-GB" altLang="en-US" sz="1700">
              <a:solidFill>
                <a:srgbClr val="FF0000"/>
              </a:solidFill>
              <a:effectLst>
                <a:outerShdw blurRad="38100" dist="38100" dir="2700000" algn="tl">
                  <a:srgbClr val="000000"/>
                </a:outerShdw>
              </a:effectLst>
              <a:latin typeface="Arial" panose="020B0604020202020204" pitchFamily="34" charset="0"/>
            </a:endParaRPr>
          </a:p>
        </p:txBody>
      </p:sp>
      <p:sp>
        <p:nvSpPr>
          <p:cNvPr id="227343" name="Text Box 15">
            <a:extLst>
              <a:ext uri="{FF2B5EF4-FFF2-40B4-BE49-F238E27FC236}">
                <a16:creationId xmlns:a16="http://schemas.microsoft.com/office/drawing/2014/main" id="{A6026D88-9218-428C-ACE6-0A65519EBED9}"/>
              </a:ext>
            </a:extLst>
          </p:cNvPr>
          <p:cNvSpPr txBox="1">
            <a:spLocks noChangeArrowheads="1"/>
          </p:cNvSpPr>
          <p:nvPr/>
        </p:nvSpPr>
        <p:spPr bwMode="auto">
          <a:xfrm>
            <a:off x="8080375" y="885825"/>
            <a:ext cx="42545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defRPr/>
            </a:pPr>
            <a:r>
              <a:rPr lang="en-GB" altLang="en-US" sz="1700">
                <a:solidFill>
                  <a:srgbClr val="FF0000"/>
                </a:solidFill>
                <a:effectLst>
                  <a:outerShdw blurRad="38100" dist="38100" dir="2700000" algn="tl">
                    <a:srgbClr val="000000"/>
                  </a:outerShdw>
                </a:effectLst>
                <a:latin typeface="Arial" panose="020B0604020202020204" pitchFamily="34" charset="0"/>
              </a:rPr>
              <a:t>S</a:t>
            </a:r>
            <a:r>
              <a:rPr lang="en-GB" altLang="en-US" sz="1700" baseline="-25000">
                <a:solidFill>
                  <a:srgbClr val="FF0000"/>
                </a:solidFill>
                <a:effectLst>
                  <a:outerShdw blurRad="38100" dist="38100" dir="2700000" algn="tl">
                    <a:srgbClr val="000000"/>
                  </a:outerShdw>
                </a:effectLst>
                <a:latin typeface="Arial" panose="020B0604020202020204" pitchFamily="34" charset="0"/>
              </a:rPr>
              <a:t>1</a:t>
            </a:r>
            <a:endParaRPr lang="en-GB" altLang="en-US" sz="1700">
              <a:solidFill>
                <a:srgbClr val="FF0000"/>
              </a:solidFill>
              <a:effectLst>
                <a:outerShdw blurRad="38100" dist="38100" dir="2700000" algn="tl">
                  <a:srgbClr val="000000"/>
                </a:outerShdw>
              </a:effectLst>
              <a:latin typeface="Arial" panose="020B0604020202020204" pitchFamily="34" charset="0"/>
            </a:endParaRPr>
          </a:p>
        </p:txBody>
      </p:sp>
      <p:sp>
        <p:nvSpPr>
          <p:cNvPr id="227344" name="Text Box 16">
            <a:extLst>
              <a:ext uri="{FF2B5EF4-FFF2-40B4-BE49-F238E27FC236}">
                <a16:creationId xmlns:a16="http://schemas.microsoft.com/office/drawing/2014/main" id="{BF1D51C1-3C1A-49A0-AB90-F05469F2DD8F}"/>
              </a:ext>
            </a:extLst>
          </p:cNvPr>
          <p:cNvSpPr txBox="1">
            <a:spLocks noChangeArrowheads="1"/>
          </p:cNvSpPr>
          <p:nvPr/>
        </p:nvSpPr>
        <p:spPr bwMode="auto">
          <a:xfrm>
            <a:off x="6200775" y="868363"/>
            <a:ext cx="42545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defRPr/>
            </a:pPr>
            <a:r>
              <a:rPr lang="en-GB" altLang="en-US" sz="1700">
                <a:solidFill>
                  <a:srgbClr val="FF0000"/>
                </a:solidFill>
                <a:effectLst>
                  <a:outerShdw blurRad="38100" dist="38100" dir="2700000" algn="tl">
                    <a:srgbClr val="000000"/>
                  </a:outerShdw>
                </a:effectLst>
                <a:latin typeface="Arial" panose="020B0604020202020204" pitchFamily="34" charset="0"/>
              </a:rPr>
              <a:t>S</a:t>
            </a:r>
            <a:r>
              <a:rPr lang="en-GB" altLang="en-US" sz="1700" baseline="-25000">
                <a:solidFill>
                  <a:srgbClr val="FF0000"/>
                </a:solidFill>
                <a:effectLst>
                  <a:outerShdw blurRad="38100" dist="38100" dir="2700000" algn="tl">
                    <a:srgbClr val="000000"/>
                  </a:outerShdw>
                </a:effectLst>
                <a:latin typeface="Arial" panose="020B0604020202020204" pitchFamily="34" charset="0"/>
              </a:rPr>
              <a:t>0</a:t>
            </a:r>
            <a:endParaRPr lang="en-GB" altLang="en-US" sz="1700">
              <a:solidFill>
                <a:srgbClr val="FF0000"/>
              </a:solidFill>
              <a:effectLst>
                <a:outerShdw blurRad="38100" dist="38100" dir="2700000" algn="tl">
                  <a:srgbClr val="000000"/>
                </a:outerShdw>
              </a:effectLst>
              <a:latin typeface="Arial" panose="020B0604020202020204" pitchFamily="34" charset="0"/>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noFill/>
        </p:spPr>
        <p:txBody>
          <a:bodyPr/>
          <a:lstStyle/>
          <a:p>
            <a:r>
              <a:rPr lang="en-GB" altLang="en-US">
                <a:effectLst/>
              </a:rPr>
              <a:t>Mineral elongation lineations</a:t>
            </a:r>
          </a:p>
        </p:txBody>
      </p:sp>
      <p:sp>
        <p:nvSpPr>
          <p:cNvPr id="80899" name="Rectangle 3"/>
          <p:cNvSpPr>
            <a:spLocks noGrp="1" noChangeArrowheads="1"/>
          </p:cNvSpPr>
          <p:nvPr>
            <p:ph type="body" sz="half" idx="1"/>
          </p:nvPr>
        </p:nvSpPr>
        <p:spPr>
          <a:xfrm>
            <a:off x="125413" y="833438"/>
            <a:ext cx="3205162" cy="1371600"/>
          </a:xfrm>
          <a:noFill/>
        </p:spPr>
        <p:txBody>
          <a:bodyPr/>
          <a:lstStyle/>
          <a:p>
            <a:pPr marL="177800" indent="-177800">
              <a:spcBef>
                <a:spcPct val="50000"/>
              </a:spcBef>
            </a:pPr>
            <a:r>
              <a:rPr lang="en-GB" altLang="en-US" sz="1700">
                <a:effectLst/>
              </a:rPr>
              <a:t>Lineations formed during deformation and often lying within the cleavage plane, include:</a:t>
            </a:r>
          </a:p>
        </p:txBody>
      </p:sp>
      <p:pic>
        <p:nvPicPr>
          <p:cNvPr id="80900" name="Picture 11" descr="31b-Onich"/>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405188" y="952500"/>
            <a:ext cx="5502275" cy="44291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0901" name="Rectangle 14"/>
          <p:cNvSpPr>
            <a:spLocks noChangeArrowheads="1"/>
          </p:cNvSpPr>
          <p:nvPr/>
        </p:nvSpPr>
        <p:spPr bwMode="auto">
          <a:xfrm>
            <a:off x="271463" y="2257425"/>
            <a:ext cx="3005137" cy="425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65113" indent="-265113">
              <a:lnSpc>
                <a:spcPct val="120000"/>
              </a:lnSpc>
              <a:spcBef>
                <a:spcPct val="100000"/>
              </a:spcBef>
              <a:buClr>
                <a:schemeClr val="folHlink"/>
              </a:buClr>
              <a:buSzPct val="100000"/>
              <a:buFont typeface="Times"/>
              <a:buChar char="•"/>
              <a:tabLst>
                <a:tab pos="265113" algn="l"/>
              </a:tabLst>
              <a:defRPr sz="2000">
                <a:solidFill>
                  <a:schemeClr val="tx1"/>
                </a:solidFill>
                <a:latin typeface="Arial" charset="0"/>
              </a:defRPr>
            </a:lvl1pPr>
            <a:lvl2pPr marL="846138" indent="-304800">
              <a:lnSpc>
                <a:spcPct val="120000"/>
              </a:lnSpc>
              <a:spcBef>
                <a:spcPct val="50000"/>
              </a:spcBef>
              <a:buClr>
                <a:schemeClr val="folHlink"/>
              </a:buClr>
              <a:buSzPct val="100000"/>
              <a:buFont typeface="Times"/>
              <a:buChar char="•"/>
              <a:tabLst>
                <a:tab pos="265113" algn="l"/>
              </a:tabLst>
              <a:defRPr>
                <a:solidFill>
                  <a:schemeClr val="tx1"/>
                </a:solidFill>
                <a:latin typeface="Arial" charset="0"/>
              </a:defRPr>
            </a:lvl2pPr>
            <a:lvl3pPr marL="1401763" indent="-304800">
              <a:spcBef>
                <a:spcPct val="25000"/>
              </a:spcBef>
              <a:buClr>
                <a:schemeClr val="folHlink"/>
              </a:buClr>
              <a:buFont typeface="Times"/>
              <a:buChar char="•"/>
              <a:tabLst>
                <a:tab pos="265113" algn="l"/>
              </a:tabLst>
              <a:defRPr sz="1600">
                <a:solidFill>
                  <a:schemeClr val="tx1"/>
                </a:solidFill>
                <a:latin typeface="Arial" charset="0"/>
              </a:defRPr>
            </a:lvl3pPr>
            <a:lvl4pPr marL="1885950" indent="-304800">
              <a:spcBef>
                <a:spcPct val="25000"/>
              </a:spcBef>
              <a:buClr>
                <a:schemeClr val="folHlink"/>
              </a:buClr>
              <a:buFont typeface="Times"/>
              <a:buChar char="•"/>
              <a:tabLst>
                <a:tab pos="265113" algn="l"/>
              </a:tabLst>
              <a:defRPr sz="1600">
                <a:solidFill>
                  <a:schemeClr val="tx1"/>
                </a:solidFill>
                <a:latin typeface="Arial" charset="0"/>
              </a:defRPr>
            </a:lvl4pPr>
            <a:lvl5pPr marL="2370138" indent="-304800">
              <a:spcBef>
                <a:spcPct val="25000"/>
              </a:spcBef>
              <a:buClr>
                <a:schemeClr val="folHlink"/>
              </a:buClr>
              <a:buSzPct val="50000"/>
              <a:buFont typeface="Times"/>
              <a:buChar char="•"/>
              <a:tabLst>
                <a:tab pos="265113" algn="l"/>
              </a:tabLst>
              <a:defRPr sz="1600">
                <a:solidFill>
                  <a:schemeClr val="tx1"/>
                </a:solidFill>
                <a:latin typeface="Arial" charset="0"/>
              </a:defRPr>
            </a:lvl5pPr>
            <a:lvl6pPr marL="2827338" indent="-304800" eaLnBrk="0" fontAlgn="base" hangingPunct="0">
              <a:spcBef>
                <a:spcPct val="25000"/>
              </a:spcBef>
              <a:spcAft>
                <a:spcPct val="0"/>
              </a:spcAft>
              <a:buClr>
                <a:schemeClr val="folHlink"/>
              </a:buClr>
              <a:buSzPct val="50000"/>
              <a:buFont typeface="Times"/>
              <a:buChar char="•"/>
              <a:tabLst>
                <a:tab pos="265113" algn="l"/>
              </a:tabLst>
              <a:defRPr sz="1600">
                <a:solidFill>
                  <a:schemeClr val="tx1"/>
                </a:solidFill>
                <a:latin typeface="Arial" charset="0"/>
              </a:defRPr>
            </a:lvl6pPr>
            <a:lvl7pPr marL="3284538" indent="-304800" eaLnBrk="0" fontAlgn="base" hangingPunct="0">
              <a:spcBef>
                <a:spcPct val="25000"/>
              </a:spcBef>
              <a:spcAft>
                <a:spcPct val="0"/>
              </a:spcAft>
              <a:buClr>
                <a:schemeClr val="folHlink"/>
              </a:buClr>
              <a:buSzPct val="50000"/>
              <a:buFont typeface="Times"/>
              <a:buChar char="•"/>
              <a:tabLst>
                <a:tab pos="265113" algn="l"/>
              </a:tabLst>
              <a:defRPr sz="1600">
                <a:solidFill>
                  <a:schemeClr val="tx1"/>
                </a:solidFill>
                <a:latin typeface="Arial" charset="0"/>
              </a:defRPr>
            </a:lvl7pPr>
            <a:lvl8pPr marL="3741738" indent="-304800" eaLnBrk="0" fontAlgn="base" hangingPunct="0">
              <a:spcBef>
                <a:spcPct val="25000"/>
              </a:spcBef>
              <a:spcAft>
                <a:spcPct val="0"/>
              </a:spcAft>
              <a:buClr>
                <a:schemeClr val="folHlink"/>
              </a:buClr>
              <a:buSzPct val="50000"/>
              <a:buFont typeface="Times"/>
              <a:buChar char="•"/>
              <a:tabLst>
                <a:tab pos="265113" algn="l"/>
              </a:tabLst>
              <a:defRPr sz="1600">
                <a:solidFill>
                  <a:schemeClr val="tx1"/>
                </a:solidFill>
                <a:latin typeface="Arial" charset="0"/>
              </a:defRPr>
            </a:lvl8pPr>
            <a:lvl9pPr marL="4198938" indent="-304800" eaLnBrk="0" fontAlgn="base" hangingPunct="0">
              <a:spcBef>
                <a:spcPct val="25000"/>
              </a:spcBef>
              <a:spcAft>
                <a:spcPct val="0"/>
              </a:spcAft>
              <a:buClr>
                <a:schemeClr val="folHlink"/>
              </a:buClr>
              <a:buSzPct val="50000"/>
              <a:buFont typeface="Times"/>
              <a:buChar char="•"/>
              <a:tabLst>
                <a:tab pos="265113" algn="l"/>
              </a:tabLst>
              <a:defRPr sz="1600">
                <a:solidFill>
                  <a:schemeClr val="tx1"/>
                </a:solidFill>
                <a:latin typeface="Arial" charset="0"/>
              </a:defRPr>
            </a:lvl9pPr>
          </a:lstStyle>
          <a:p>
            <a:pPr>
              <a:spcBef>
                <a:spcPct val="50000"/>
              </a:spcBef>
              <a:buFont typeface="Times"/>
              <a:buAutoNum type="arabicPeriod"/>
            </a:pPr>
            <a:r>
              <a:rPr lang="en-GB" altLang="en-US" sz="1700">
                <a:solidFill>
                  <a:srgbClr val="FF66CC"/>
                </a:solidFill>
              </a:rPr>
              <a:t>Preferred orientation</a:t>
            </a:r>
            <a:r>
              <a:rPr lang="en-GB" altLang="en-US" sz="1700"/>
              <a:t> of minerals with an acicular or prismatic habit </a:t>
            </a:r>
          </a:p>
          <a:p>
            <a:pPr>
              <a:spcBef>
                <a:spcPct val="50000"/>
              </a:spcBef>
              <a:buFont typeface="Times"/>
              <a:buAutoNum type="arabicPeriod"/>
            </a:pPr>
            <a:r>
              <a:rPr lang="en-GB" altLang="en-US" sz="1700"/>
              <a:t>Small, </a:t>
            </a:r>
            <a:r>
              <a:rPr lang="en-GB" altLang="en-US" sz="1700">
                <a:solidFill>
                  <a:srgbClr val="FF66CC"/>
                </a:solidFill>
              </a:rPr>
              <a:t>elongate concentrations</a:t>
            </a:r>
            <a:r>
              <a:rPr lang="en-GB" altLang="en-US" sz="1700"/>
              <a:t> of individual minerals</a:t>
            </a:r>
          </a:p>
          <a:p>
            <a:pPr>
              <a:spcBef>
                <a:spcPct val="50000"/>
              </a:spcBef>
              <a:buFont typeface="Times"/>
              <a:buAutoNum type="arabicPeriod"/>
            </a:pPr>
            <a:r>
              <a:rPr lang="en-GB" altLang="en-US" sz="1700"/>
              <a:t>Minerals with </a:t>
            </a:r>
            <a:r>
              <a:rPr lang="en-GB" altLang="en-US" sz="1700">
                <a:solidFill>
                  <a:srgbClr val="FF66CC"/>
                </a:solidFill>
              </a:rPr>
              <a:t>elongate mineral overgrowths</a:t>
            </a:r>
            <a:r>
              <a:rPr lang="en-GB" altLang="en-US" sz="1700"/>
              <a:t> </a:t>
            </a:r>
          </a:p>
          <a:p>
            <a:pPr>
              <a:spcBef>
                <a:spcPct val="50000"/>
              </a:spcBef>
              <a:buFont typeface="Times"/>
              <a:buAutoNum type="arabicPeriod"/>
            </a:pPr>
            <a:r>
              <a:rPr lang="en-GB" altLang="en-US" sz="1700"/>
              <a:t>Grains or other discrete objects that have been deformed into </a:t>
            </a:r>
            <a:r>
              <a:rPr lang="en-GB" altLang="en-US" sz="1700">
                <a:solidFill>
                  <a:srgbClr val="FF66CC"/>
                </a:solidFill>
              </a:rPr>
              <a:t>well-aligned elongate shapes</a:t>
            </a:r>
          </a:p>
        </p:txBody>
      </p:sp>
      <p:sp>
        <p:nvSpPr>
          <p:cNvPr id="80902" name="Rectangle 15"/>
          <p:cNvSpPr>
            <a:spLocks noChangeArrowheads="1"/>
          </p:cNvSpPr>
          <p:nvPr/>
        </p:nvSpPr>
        <p:spPr bwMode="auto">
          <a:xfrm>
            <a:off x="3689350" y="5483225"/>
            <a:ext cx="5024438"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100000"/>
              </a:spcBef>
              <a:buClr>
                <a:schemeClr val="folHlink"/>
              </a:buClr>
              <a:buSzPct val="100000"/>
              <a:buFont typeface="Times"/>
              <a:buChar char="•"/>
              <a:defRPr sz="2000">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a:solidFill>
                  <a:schemeClr val="tx1"/>
                </a:solidFill>
                <a:latin typeface="Arial" charset="0"/>
              </a:defRPr>
            </a:lvl2pPr>
            <a:lvl3pPr marL="1235075" indent="-184150">
              <a:spcBef>
                <a:spcPct val="25000"/>
              </a:spcBef>
              <a:buClr>
                <a:schemeClr val="folHlink"/>
              </a:buClr>
              <a:buFont typeface="Times"/>
              <a:buChar char="•"/>
              <a:defRPr sz="1600">
                <a:solidFill>
                  <a:schemeClr val="tx1"/>
                </a:solidFill>
                <a:latin typeface="Arial" charset="0"/>
              </a:defRPr>
            </a:lvl3pPr>
            <a:lvl4pPr marL="1698625" indent="-228600">
              <a:spcBef>
                <a:spcPct val="25000"/>
              </a:spcBef>
              <a:buClr>
                <a:schemeClr val="folHlink"/>
              </a:buClr>
              <a:buFont typeface="Times"/>
              <a:buChar char="•"/>
              <a:defRPr sz="1600">
                <a:solidFill>
                  <a:schemeClr val="tx1"/>
                </a:solidFill>
                <a:latin typeface="Arial" charset="0"/>
              </a:defRPr>
            </a:lvl4pPr>
            <a:lvl5pPr marL="2117725" indent="-228600">
              <a:spcBef>
                <a:spcPct val="25000"/>
              </a:spcBef>
              <a:buClr>
                <a:schemeClr val="folHlink"/>
              </a:buClr>
              <a:buSzPct val="50000"/>
              <a:buFont typeface="Times"/>
              <a:buChar char="•"/>
              <a:defRPr sz="16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pPr>
              <a:buFont typeface="Times"/>
              <a:buNone/>
            </a:pPr>
            <a:r>
              <a:rPr lang="en-GB" altLang="en-US" sz="1400" dirty="0">
                <a:solidFill>
                  <a:srgbClr val="FFFF00"/>
                </a:solidFill>
              </a:rPr>
              <a:t>Aligned biotite </a:t>
            </a:r>
            <a:r>
              <a:rPr lang="en-GB" altLang="en-US" sz="1400" dirty="0" err="1">
                <a:solidFill>
                  <a:srgbClr val="FFFF00"/>
                </a:solidFill>
              </a:rPr>
              <a:t>porphyroblasts</a:t>
            </a:r>
            <a:r>
              <a:rPr lang="en-GB" altLang="en-US" sz="1400" dirty="0">
                <a:solidFill>
                  <a:srgbClr val="FFFF00"/>
                </a:solidFill>
              </a:rPr>
              <a:t> formed mimetically, parallel to a pre-existing lineation – </a:t>
            </a:r>
            <a:r>
              <a:rPr lang="en-GB" altLang="en-US" sz="1400" dirty="0"/>
              <a:t>the biotite </a:t>
            </a:r>
            <a:r>
              <a:rPr lang="en-GB" altLang="en-US" sz="1400" dirty="0" err="1"/>
              <a:t>porphyroblasts</a:t>
            </a:r>
            <a:r>
              <a:rPr lang="en-GB" altLang="en-US" sz="1400" dirty="0"/>
              <a:t> overgrow a crenulation </a:t>
            </a:r>
            <a:r>
              <a:rPr lang="en-GB" altLang="en-US" sz="1400" spc="150" dirty="0"/>
              <a:t>(</a:t>
            </a:r>
            <a:r>
              <a:rPr lang="en-GB" altLang="en-US" sz="1400" dirty="0"/>
              <a:t>S</a:t>
            </a:r>
            <a:r>
              <a:rPr lang="en-GB" altLang="en-US" sz="1400" spc="250" baseline="-25000" dirty="0"/>
              <a:t>2</a:t>
            </a:r>
            <a:r>
              <a:rPr lang="en-GB" altLang="en-US" sz="1400" dirty="0"/>
              <a:t>) but are parallel to a strong lineation </a:t>
            </a:r>
            <a:r>
              <a:rPr lang="en-GB" altLang="en-US" sz="1400" spc="150" dirty="0"/>
              <a:t>(</a:t>
            </a:r>
            <a:r>
              <a:rPr lang="en-GB" altLang="en-US" sz="1400" dirty="0"/>
              <a:t>L</a:t>
            </a:r>
            <a:r>
              <a:rPr lang="en-GB" altLang="en-US" sz="1400" spc="250" baseline="-25000" dirty="0"/>
              <a:t>1</a:t>
            </a:r>
            <a:r>
              <a:rPr lang="en-GB" altLang="en-US" sz="1400" dirty="0"/>
              <a:t>) seen elsewhere in the vicinity</a:t>
            </a: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noFill/>
        </p:spPr>
        <p:txBody>
          <a:bodyPr/>
          <a:lstStyle/>
          <a:p>
            <a:r>
              <a:rPr lang="en-GB" altLang="en-US">
                <a:effectLst/>
              </a:rPr>
              <a:t>Stretching lineations</a:t>
            </a:r>
          </a:p>
        </p:txBody>
      </p:sp>
      <p:sp>
        <p:nvSpPr>
          <p:cNvPr id="82947" name="Rectangle 8"/>
          <p:cNvSpPr>
            <a:spLocks noChangeArrowheads="1"/>
          </p:cNvSpPr>
          <p:nvPr/>
        </p:nvSpPr>
        <p:spPr bwMode="auto">
          <a:xfrm>
            <a:off x="5308600" y="5832475"/>
            <a:ext cx="3679825"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100000"/>
              </a:spcBef>
              <a:buClr>
                <a:schemeClr val="folHlink"/>
              </a:buClr>
              <a:buSzPct val="100000"/>
              <a:buFont typeface="Times"/>
              <a:buChar char="•"/>
              <a:defRPr sz="2000">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a:solidFill>
                  <a:schemeClr val="tx1"/>
                </a:solidFill>
                <a:latin typeface="Arial" charset="0"/>
              </a:defRPr>
            </a:lvl2pPr>
            <a:lvl3pPr marL="1235075" indent="-184150">
              <a:spcBef>
                <a:spcPct val="25000"/>
              </a:spcBef>
              <a:buClr>
                <a:schemeClr val="folHlink"/>
              </a:buClr>
              <a:buFont typeface="Times"/>
              <a:buChar char="•"/>
              <a:defRPr sz="1600">
                <a:solidFill>
                  <a:schemeClr val="tx1"/>
                </a:solidFill>
                <a:latin typeface="Arial" charset="0"/>
              </a:defRPr>
            </a:lvl3pPr>
            <a:lvl4pPr marL="1698625" indent="-228600">
              <a:spcBef>
                <a:spcPct val="25000"/>
              </a:spcBef>
              <a:buClr>
                <a:schemeClr val="folHlink"/>
              </a:buClr>
              <a:buFont typeface="Times"/>
              <a:buChar char="•"/>
              <a:defRPr sz="1600">
                <a:solidFill>
                  <a:schemeClr val="tx1"/>
                </a:solidFill>
                <a:latin typeface="Arial" charset="0"/>
              </a:defRPr>
            </a:lvl4pPr>
            <a:lvl5pPr marL="2117725" indent="-228600">
              <a:spcBef>
                <a:spcPct val="25000"/>
              </a:spcBef>
              <a:buClr>
                <a:schemeClr val="folHlink"/>
              </a:buClr>
              <a:buSzPct val="50000"/>
              <a:buFont typeface="Times"/>
              <a:buChar char="•"/>
              <a:defRPr sz="16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pPr>
              <a:buFont typeface="Times"/>
              <a:buNone/>
            </a:pPr>
            <a:r>
              <a:rPr lang="en-GB" altLang="en-US" sz="1400" dirty="0">
                <a:solidFill>
                  <a:srgbClr val="FFFF00"/>
                </a:solidFill>
              </a:rPr>
              <a:t>Garnet porphyroblasts with elongate quartz overgrowths parallel with a well-developed stretching lineation</a:t>
            </a:r>
          </a:p>
        </p:txBody>
      </p:sp>
      <p:pic>
        <p:nvPicPr>
          <p:cNvPr id="82948" name="Picture 13" descr="31a-Mull1"/>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346700" y="987425"/>
            <a:ext cx="3546475" cy="4786313"/>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2949" name="Rectangle 16"/>
          <p:cNvSpPr>
            <a:spLocks noChangeArrowheads="1"/>
          </p:cNvSpPr>
          <p:nvPr/>
        </p:nvSpPr>
        <p:spPr bwMode="auto">
          <a:xfrm>
            <a:off x="130175" y="798513"/>
            <a:ext cx="5024438" cy="280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sz="2000">
                <a:solidFill>
                  <a:schemeClr val="tx1"/>
                </a:solidFill>
                <a:latin typeface="Arial" charset="0"/>
              </a:defRPr>
            </a:lvl1pPr>
            <a:lvl2pPr marL="630238" indent="-273050">
              <a:lnSpc>
                <a:spcPct val="120000"/>
              </a:lnSpc>
              <a:spcBef>
                <a:spcPct val="50000"/>
              </a:spcBef>
              <a:buClr>
                <a:schemeClr val="folHlink"/>
              </a:buClr>
              <a:buSzPct val="100000"/>
              <a:buFont typeface="Times"/>
              <a:buChar char="•"/>
              <a:defRPr>
                <a:solidFill>
                  <a:schemeClr val="tx1"/>
                </a:solidFill>
                <a:latin typeface="Arial" charset="0"/>
              </a:defRPr>
            </a:lvl2pPr>
            <a:lvl3pPr marL="1401763" indent="-304800">
              <a:spcBef>
                <a:spcPct val="25000"/>
              </a:spcBef>
              <a:buClr>
                <a:schemeClr val="folHlink"/>
              </a:buClr>
              <a:buFont typeface="Times"/>
              <a:buChar char="•"/>
              <a:defRPr sz="1600">
                <a:solidFill>
                  <a:schemeClr val="tx1"/>
                </a:solidFill>
                <a:latin typeface="Arial" charset="0"/>
              </a:defRPr>
            </a:lvl3pPr>
            <a:lvl4pPr marL="1885950" indent="-304800">
              <a:spcBef>
                <a:spcPct val="25000"/>
              </a:spcBef>
              <a:buClr>
                <a:schemeClr val="folHlink"/>
              </a:buClr>
              <a:buFont typeface="Times"/>
              <a:buChar char="•"/>
              <a:defRPr sz="1600">
                <a:solidFill>
                  <a:schemeClr val="tx1"/>
                </a:solidFill>
                <a:latin typeface="Arial" charset="0"/>
              </a:defRPr>
            </a:lvl4pPr>
            <a:lvl5pPr marL="2370138" indent="-304800">
              <a:spcBef>
                <a:spcPct val="25000"/>
              </a:spcBef>
              <a:buClr>
                <a:schemeClr val="folHlink"/>
              </a:buClr>
              <a:buSzPct val="50000"/>
              <a:buFont typeface="Times"/>
              <a:buChar char="•"/>
              <a:defRPr sz="1600">
                <a:solidFill>
                  <a:schemeClr val="tx1"/>
                </a:solidFill>
                <a:latin typeface="Arial" charset="0"/>
              </a:defRPr>
            </a:lvl5pPr>
            <a:lvl6pPr marL="2827338" indent="-3048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284538" indent="-3048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741738" indent="-3048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4198938" indent="-3048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pPr>
              <a:spcBef>
                <a:spcPct val="75000"/>
              </a:spcBef>
            </a:pPr>
            <a:r>
              <a:rPr lang="en-GB" altLang="en-US" sz="1700" dirty="0"/>
              <a:t>Mineral elongation </a:t>
            </a:r>
            <a:r>
              <a:rPr lang="en-GB" altLang="en-US" sz="1700" dirty="0" err="1"/>
              <a:t>lineations</a:t>
            </a:r>
            <a:r>
              <a:rPr lang="en-GB" altLang="en-US" sz="1700" dirty="0"/>
              <a:t> formed parallel with the </a:t>
            </a:r>
            <a:r>
              <a:rPr lang="en-GB" altLang="en-US" sz="1700" dirty="0">
                <a:solidFill>
                  <a:srgbClr val="FF66CC"/>
                </a:solidFill>
              </a:rPr>
              <a:t>maximum extension direction</a:t>
            </a:r>
            <a:r>
              <a:rPr lang="en-GB" altLang="en-US" sz="1700" dirty="0"/>
              <a:t> of the structure on which they occur, are described as </a:t>
            </a:r>
            <a:r>
              <a:rPr lang="en-GB" altLang="en-US" sz="1700" dirty="0">
                <a:solidFill>
                  <a:srgbClr val="FF6600"/>
                </a:solidFill>
              </a:rPr>
              <a:t>stretching </a:t>
            </a:r>
            <a:r>
              <a:rPr lang="en-GB" altLang="en-US" sz="1700" dirty="0" err="1">
                <a:solidFill>
                  <a:srgbClr val="FF6600"/>
                </a:solidFill>
              </a:rPr>
              <a:t>lineations</a:t>
            </a:r>
            <a:endParaRPr lang="en-GB" altLang="en-US" sz="1700" dirty="0">
              <a:solidFill>
                <a:srgbClr val="FF6600"/>
              </a:solidFill>
            </a:endParaRPr>
          </a:p>
          <a:p>
            <a:pPr>
              <a:spcBef>
                <a:spcPct val="75000"/>
              </a:spcBef>
            </a:pPr>
            <a:r>
              <a:rPr lang="en-GB" altLang="en-US" sz="1700" dirty="0"/>
              <a:t>Stretching </a:t>
            </a:r>
            <a:r>
              <a:rPr lang="en-GB" altLang="en-US" sz="1700" dirty="0" err="1"/>
              <a:t>lineations</a:t>
            </a:r>
            <a:r>
              <a:rPr lang="en-GB" altLang="en-US" sz="1700" dirty="0"/>
              <a:t> are parallel with the </a:t>
            </a:r>
            <a:r>
              <a:rPr lang="en-GB" altLang="en-US" sz="1700" dirty="0">
                <a:solidFill>
                  <a:srgbClr val="FF6600"/>
                </a:solidFill>
              </a:rPr>
              <a:t>tectonic a-direction</a:t>
            </a:r>
            <a:r>
              <a:rPr lang="en-GB" altLang="en-US" sz="1700" dirty="0"/>
              <a:t> (transport direction) – the orientation of this direction may be at </a:t>
            </a:r>
            <a:r>
              <a:rPr lang="en-GB" altLang="en-US" sz="1700" dirty="0">
                <a:solidFill>
                  <a:srgbClr val="FF66CC"/>
                </a:solidFill>
              </a:rPr>
              <a:t>any angle</a:t>
            </a:r>
            <a:r>
              <a:rPr lang="en-GB" altLang="en-US" sz="1700" dirty="0"/>
              <a:t> to the fold axis within the axial plane</a:t>
            </a:r>
          </a:p>
        </p:txBody>
      </p:sp>
      <p:pic>
        <p:nvPicPr>
          <p:cNvPr id="82950" name="Picture 18" descr="UShiabaMull1"/>
          <p:cNvPicPr>
            <a:picLocks noChangeAspect="1" noChangeArrowheads="1"/>
          </p:cNvPicPr>
          <p:nvPr/>
        </p:nvPicPr>
        <p:blipFill>
          <a:blip r:embed="rId4">
            <a:extLst>
              <a:ext uri="{28A0092B-C50C-407E-A947-70E740481C1C}">
                <a14:useLocalDpi xmlns:a14="http://schemas.microsoft.com/office/drawing/2010/main" val="0"/>
              </a:ext>
            </a:extLst>
          </a:blip>
          <a:srcRect t="2165"/>
          <a:stretch>
            <a:fillRect/>
          </a:stretch>
        </p:blipFill>
        <p:spPr bwMode="auto">
          <a:xfrm>
            <a:off x="265113" y="3770313"/>
            <a:ext cx="4832350" cy="28702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noFill/>
        </p:spPr>
        <p:txBody>
          <a:bodyPr/>
          <a:lstStyle/>
          <a:p>
            <a:r>
              <a:rPr lang="en-GB" altLang="en-US" dirty="0">
                <a:effectLst/>
              </a:rPr>
              <a:t>Pinch-and-swel</a:t>
            </a:r>
            <a:r>
              <a:rPr lang="en-GB" altLang="en-US" spc="500" dirty="0">
                <a:effectLst/>
              </a:rPr>
              <a:t>l/</a:t>
            </a:r>
            <a:r>
              <a:rPr lang="en-GB" altLang="en-US" dirty="0">
                <a:effectLst/>
              </a:rPr>
              <a:t>boudinage</a:t>
            </a:r>
          </a:p>
        </p:txBody>
      </p:sp>
      <p:pic>
        <p:nvPicPr>
          <p:cNvPr id="84995" name="Picture 10" descr="Glenfinnan"/>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60350" y="3840163"/>
            <a:ext cx="4367213" cy="28035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84996" name="Picture 12" descr="Boudinaged gneiss, Mozambique, Photo J Jacobs"/>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897438" y="965200"/>
            <a:ext cx="4033837" cy="5691188"/>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4997" name="Rectangle 14"/>
          <p:cNvSpPr>
            <a:spLocks noChangeArrowheads="1"/>
          </p:cNvSpPr>
          <p:nvPr/>
        </p:nvSpPr>
        <p:spPr bwMode="auto">
          <a:xfrm>
            <a:off x="165100" y="842963"/>
            <a:ext cx="4591050"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sz="2000">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a:solidFill>
                  <a:schemeClr val="tx1"/>
                </a:solidFill>
                <a:latin typeface="Arial" charset="0"/>
              </a:defRPr>
            </a:lvl2pPr>
            <a:lvl3pPr marL="1235075" indent="-184150">
              <a:spcBef>
                <a:spcPct val="25000"/>
              </a:spcBef>
              <a:buClr>
                <a:schemeClr val="folHlink"/>
              </a:buClr>
              <a:buFont typeface="Times"/>
              <a:buChar char="•"/>
              <a:defRPr sz="1600">
                <a:solidFill>
                  <a:schemeClr val="tx1"/>
                </a:solidFill>
                <a:latin typeface="Arial" charset="0"/>
              </a:defRPr>
            </a:lvl3pPr>
            <a:lvl4pPr marL="1698625" indent="-228600">
              <a:spcBef>
                <a:spcPct val="25000"/>
              </a:spcBef>
              <a:buClr>
                <a:schemeClr val="folHlink"/>
              </a:buClr>
              <a:buFont typeface="Times"/>
              <a:buChar char="•"/>
              <a:defRPr sz="1600">
                <a:solidFill>
                  <a:schemeClr val="tx1"/>
                </a:solidFill>
                <a:latin typeface="Arial" charset="0"/>
              </a:defRPr>
            </a:lvl4pPr>
            <a:lvl5pPr marL="2117725" indent="-228600">
              <a:spcBef>
                <a:spcPct val="25000"/>
              </a:spcBef>
              <a:buClr>
                <a:schemeClr val="folHlink"/>
              </a:buClr>
              <a:buSzPct val="50000"/>
              <a:buFont typeface="Times"/>
              <a:buChar char="•"/>
              <a:defRPr sz="16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r>
              <a:rPr lang="en-GB" altLang="en-US" sz="1700"/>
              <a:t>During folding it is not uncommon for the limbs to be attenuated</a:t>
            </a:r>
          </a:p>
          <a:p>
            <a:pPr>
              <a:spcBef>
                <a:spcPct val="75000"/>
              </a:spcBef>
            </a:pPr>
            <a:r>
              <a:rPr lang="en-GB" altLang="en-US" sz="1700">
                <a:solidFill>
                  <a:srgbClr val="FF66CC"/>
                </a:solidFill>
              </a:rPr>
              <a:t>Gentle oscillations</a:t>
            </a:r>
            <a:r>
              <a:rPr lang="en-GB" altLang="en-US" sz="1700"/>
              <a:t> of the thickness of the bed are described as </a:t>
            </a:r>
            <a:r>
              <a:rPr lang="en-GB" altLang="en-US" sz="1700">
                <a:solidFill>
                  <a:srgbClr val="FF6600"/>
                </a:solidFill>
              </a:rPr>
              <a:t>pinch-and-swell</a:t>
            </a:r>
            <a:r>
              <a:rPr lang="en-GB" altLang="en-US" sz="1700"/>
              <a:t> structures; if the layer is periodically </a:t>
            </a:r>
            <a:r>
              <a:rPr lang="en-GB" altLang="en-US" sz="1700">
                <a:solidFill>
                  <a:srgbClr val="FF66CC"/>
                </a:solidFill>
              </a:rPr>
              <a:t>separated</a:t>
            </a:r>
            <a:r>
              <a:rPr lang="en-GB" altLang="en-US" sz="1700"/>
              <a:t> it is described as </a:t>
            </a:r>
            <a:r>
              <a:rPr lang="en-GB" altLang="en-US" sz="1700">
                <a:solidFill>
                  <a:srgbClr val="FF6600"/>
                </a:solidFill>
              </a:rPr>
              <a:t>boudinage</a:t>
            </a:r>
            <a:endParaRPr lang="en-GB" altLang="en-US" sz="1700"/>
          </a:p>
        </p:txBody>
      </p:sp>
      <p:sp>
        <p:nvSpPr>
          <p:cNvPr id="271376" name="Text Box 16">
            <a:extLst>
              <a:ext uri="{FF2B5EF4-FFF2-40B4-BE49-F238E27FC236}">
                <a16:creationId xmlns:a16="http://schemas.microsoft.com/office/drawing/2014/main" id="{100FED9B-ED51-438D-AFD9-7B59A3B9D0CB}"/>
              </a:ext>
            </a:extLst>
          </p:cNvPr>
          <p:cNvSpPr txBox="1">
            <a:spLocks noChangeArrowheads="1"/>
          </p:cNvSpPr>
          <p:nvPr/>
        </p:nvSpPr>
        <p:spPr bwMode="auto">
          <a:xfrm>
            <a:off x="147638" y="3414713"/>
            <a:ext cx="1493837"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Clr>
                <a:schemeClr val="accent2"/>
              </a:buClr>
              <a:defRPr/>
            </a:pPr>
            <a:r>
              <a:rPr lang="en-GB" altLang="en-US" sz="1400">
                <a:solidFill>
                  <a:srgbClr val="FFFF00"/>
                </a:solidFill>
                <a:effectLst>
                  <a:outerShdw blurRad="38100" dist="38100" dir="2700000" algn="tl">
                    <a:srgbClr val="000000"/>
                  </a:outerShdw>
                </a:effectLst>
                <a:latin typeface="Arial" panose="020B0604020202020204" pitchFamily="34" charset="0"/>
              </a:rPr>
              <a:t>Pinch-and-swell</a:t>
            </a:r>
          </a:p>
        </p:txBody>
      </p:sp>
      <p:sp>
        <p:nvSpPr>
          <p:cNvPr id="271377" name="Text Box 17">
            <a:extLst>
              <a:ext uri="{FF2B5EF4-FFF2-40B4-BE49-F238E27FC236}">
                <a16:creationId xmlns:a16="http://schemas.microsoft.com/office/drawing/2014/main" id="{5C53A34B-FA16-4604-95BB-D1AEF2FA9505}"/>
              </a:ext>
            </a:extLst>
          </p:cNvPr>
          <p:cNvSpPr txBox="1">
            <a:spLocks noChangeArrowheads="1"/>
          </p:cNvSpPr>
          <p:nvPr/>
        </p:nvSpPr>
        <p:spPr bwMode="auto">
          <a:xfrm>
            <a:off x="3725863" y="3157538"/>
            <a:ext cx="1057275"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Clr>
                <a:schemeClr val="accent2"/>
              </a:buClr>
              <a:defRPr/>
            </a:pPr>
            <a:r>
              <a:rPr lang="en-GB" altLang="en-US" sz="1400">
                <a:solidFill>
                  <a:srgbClr val="FFFF00"/>
                </a:solidFill>
                <a:effectLst>
                  <a:outerShdw blurRad="38100" dist="38100" dir="2700000" algn="tl">
                    <a:srgbClr val="000000"/>
                  </a:outerShdw>
                </a:effectLst>
                <a:latin typeface="Arial" panose="020B0604020202020204" pitchFamily="34" charset="0"/>
              </a:rPr>
              <a:t>Boudinage</a:t>
            </a: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noFill/>
        </p:spPr>
        <p:txBody>
          <a:bodyPr/>
          <a:lstStyle/>
          <a:p>
            <a:r>
              <a:rPr lang="en-GB" altLang="en-US" dirty="0">
                <a:effectLst/>
              </a:rPr>
              <a:t>Pinch-and-swel</a:t>
            </a:r>
            <a:r>
              <a:rPr lang="en-GB" altLang="en-US" spc="500" dirty="0">
                <a:effectLst/>
              </a:rPr>
              <a:t>l/</a:t>
            </a:r>
            <a:r>
              <a:rPr lang="en-GB" altLang="en-US" dirty="0">
                <a:effectLst/>
              </a:rPr>
              <a:t>boudinage  (shape and orientation)</a:t>
            </a:r>
          </a:p>
        </p:txBody>
      </p:sp>
      <p:pic>
        <p:nvPicPr>
          <p:cNvPr id="87043" name="Picture 6"/>
          <p:cNvPicPr>
            <a:picLocks noGrp="1" noChangeAspect="1" noChangeArrowheads="1"/>
          </p:cNvPicPr>
          <p:nvPr>
            <p:ph sz="half" idx="1"/>
          </p:nvPr>
        </p:nvPicPr>
        <p:blipFill>
          <a:blip r:embed="rId3" cstate="print">
            <a:extLst>
              <a:ext uri="{28A0092B-C50C-407E-A947-70E740481C1C}">
                <a14:useLocalDpi xmlns:a14="http://schemas.microsoft.com/office/drawing/2010/main" val="0"/>
              </a:ext>
            </a:extLst>
          </a:blip>
          <a:srcRect/>
          <a:stretch>
            <a:fillRect/>
          </a:stretch>
        </p:blipFill>
        <p:spPr>
          <a:xfrm>
            <a:off x="5191125" y="3898900"/>
            <a:ext cx="3186113" cy="2713038"/>
          </a:xfrm>
          <a:noFill/>
          <a:ln w="38100" cap="flat">
            <a:solidFill>
              <a:schemeClr val="bg2"/>
            </a:solidFill>
            <a:miter lim="800000"/>
            <a:headEnd/>
            <a:tailEnd/>
          </a:ln>
        </p:spPr>
      </p:pic>
      <p:sp>
        <p:nvSpPr>
          <p:cNvPr id="87044" name="Rectangle 5"/>
          <p:cNvSpPr>
            <a:spLocks noChangeArrowheads="1"/>
          </p:cNvSpPr>
          <p:nvPr/>
        </p:nvSpPr>
        <p:spPr bwMode="auto">
          <a:xfrm>
            <a:off x="5103034" y="3095625"/>
            <a:ext cx="3338435"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sz="2000">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a:solidFill>
                  <a:schemeClr val="tx1"/>
                </a:solidFill>
                <a:latin typeface="Arial" charset="0"/>
              </a:defRPr>
            </a:lvl2pPr>
            <a:lvl3pPr marL="1235075" indent="-184150">
              <a:spcBef>
                <a:spcPct val="25000"/>
              </a:spcBef>
              <a:buClr>
                <a:schemeClr val="folHlink"/>
              </a:buClr>
              <a:buFont typeface="Times"/>
              <a:buChar char="•"/>
              <a:defRPr sz="1600">
                <a:solidFill>
                  <a:schemeClr val="tx1"/>
                </a:solidFill>
                <a:latin typeface="Arial" charset="0"/>
              </a:defRPr>
            </a:lvl3pPr>
            <a:lvl4pPr marL="1698625" indent="-228600">
              <a:spcBef>
                <a:spcPct val="25000"/>
              </a:spcBef>
              <a:buClr>
                <a:schemeClr val="folHlink"/>
              </a:buClr>
              <a:buFont typeface="Times"/>
              <a:buChar char="•"/>
              <a:defRPr sz="1600">
                <a:solidFill>
                  <a:schemeClr val="tx1"/>
                </a:solidFill>
                <a:latin typeface="Arial" charset="0"/>
              </a:defRPr>
            </a:lvl4pPr>
            <a:lvl5pPr marL="2117725" indent="-228600">
              <a:spcBef>
                <a:spcPct val="25000"/>
              </a:spcBef>
              <a:buClr>
                <a:schemeClr val="folHlink"/>
              </a:buClr>
              <a:buSzPct val="50000"/>
              <a:buFont typeface="Times"/>
              <a:buChar char="•"/>
              <a:defRPr sz="16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r>
              <a:rPr lang="en-GB" altLang="en-US" sz="1700" dirty="0"/>
              <a:t>The boudin neck-lines may be </a:t>
            </a:r>
            <a:r>
              <a:rPr lang="en-GB" altLang="en-US" sz="1700" dirty="0">
                <a:solidFill>
                  <a:srgbClr val="FF66CC"/>
                </a:solidFill>
              </a:rPr>
              <a:t>parallel with the fold axis</a:t>
            </a:r>
            <a:endParaRPr lang="en-GB" altLang="en-US" sz="1700" dirty="0"/>
          </a:p>
        </p:txBody>
      </p:sp>
      <p:pic>
        <p:nvPicPr>
          <p:cNvPr id="87045" name="Picture 10" descr="32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325" y="869950"/>
            <a:ext cx="8470900" cy="153193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87046" name="Picture 14" descr="33b-Boudinage initiation, gneiss"/>
          <p:cNvPicPr>
            <a:picLocks noGrp="1" noChangeAspect="1" noChangeArrowheads="1"/>
          </p:cNvPicPr>
          <p:nvPr>
            <p:ph sz="half" idx="2"/>
          </p:nvPr>
        </p:nvPicPr>
        <p:blipFill>
          <a:blip r:embed="rId5">
            <a:extLst>
              <a:ext uri="{28A0092B-C50C-407E-A947-70E740481C1C}">
                <a14:useLocalDpi xmlns:a14="http://schemas.microsoft.com/office/drawing/2010/main" val="0"/>
              </a:ext>
            </a:extLst>
          </a:blip>
          <a:srcRect b="8897"/>
          <a:stretch>
            <a:fillRect/>
          </a:stretch>
        </p:blipFill>
        <p:spPr>
          <a:xfrm>
            <a:off x="560388" y="3535363"/>
            <a:ext cx="3598862" cy="2178050"/>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7047" name="Rectangle 16"/>
          <p:cNvSpPr>
            <a:spLocks noChangeArrowheads="1"/>
          </p:cNvSpPr>
          <p:nvPr/>
        </p:nvSpPr>
        <p:spPr bwMode="auto">
          <a:xfrm>
            <a:off x="465138" y="5837238"/>
            <a:ext cx="3800475"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sz="2000">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a:solidFill>
                  <a:schemeClr val="tx1"/>
                </a:solidFill>
                <a:latin typeface="Arial" charset="0"/>
              </a:defRPr>
            </a:lvl2pPr>
            <a:lvl3pPr marL="1235075" indent="-184150">
              <a:spcBef>
                <a:spcPct val="25000"/>
              </a:spcBef>
              <a:buClr>
                <a:schemeClr val="folHlink"/>
              </a:buClr>
              <a:buFont typeface="Times"/>
              <a:buChar char="•"/>
              <a:defRPr sz="1600">
                <a:solidFill>
                  <a:schemeClr val="tx1"/>
                </a:solidFill>
                <a:latin typeface="Arial" charset="0"/>
              </a:defRPr>
            </a:lvl3pPr>
            <a:lvl4pPr marL="1698625" indent="-228600">
              <a:spcBef>
                <a:spcPct val="25000"/>
              </a:spcBef>
              <a:buClr>
                <a:schemeClr val="folHlink"/>
              </a:buClr>
              <a:buFont typeface="Times"/>
              <a:buChar char="•"/>
              <a:defRPr sz="1600">
                <a:solidFill>
                  <a:schemeClr val="tx1"/>
                </a:solidFill>
                <a:latin typeface="Arial" charset="0"/>
              </a:defRPr>
            </a:lvl4pPr>
            <a:lvl5pPr marL="2117725" indent="-228600">
              <a:spcBef>
                <a:spcPct val="25000"/>
              </a:spcBef>
              <a:buClr>
                <a:schemeClr val="folHlink"/>
              </a:buClr>
              <a:buSzPct val="50000"/>
              <a:buFont typeface="Times"/>
              <a:buChar char="•"/>
              <a:defRPr sz="16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pPr>
              <a:spcBef>
                <a:spcPct val="75000"/>
              </a:spcBef>
            </a:pPr>
            <a:r>
              <a:rPr lang="en-GB" altLang="en-US" sz="1700"/>
              <a:t>Boudin necks are frequently infilled with a </a:t>
            </a:r>
            <a:r>
              <a:rPr lang="en-GB" altLang="en-US" sz="1700">
                <a:solidFill>
                  <a:srgbClr val="FF66CC"/>
                </a:solidFill>
              </a:rPr>
              <a:t>secondary mineral deposit</a:t>
            </a:r>
          </a:p>
        </p:txBody>
      </p:sp>
      <p:sp>
        <p:nvSpPr>
          <p:cNvPr id="87048" name="Rectangle 17"/>
          <p:cNvSpPr>
            <a:spLocks noChangeArrowheads="1"/>
          </p:cNvSpPr>
          <p:nvPr/>
        </p:nvSpPr>
        <p:spPr bwMode="auto">
          <a:xfrm>
            <a:off x="209550" y="2501900"/>
            <a:ext cx="8736013" cy="79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sz="2000">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a:solidFill>
                  <a:schemeClr val="tx1"/>
                </a:solidFill>
                <a:latin typeface="Arial" charset="0"/>
              </a:defRPr>
            </a:lvl2pPr>
            <a:lvl3pPr marL="1235075" indent="-184150">
              <a:spcBef>
                <a:spcPct val="25000"/>
              </a:spcBef>
              <a:buClr>
                <a:schemeClr val="folHlink"/>
              </a:buClr>
              <a:buFont typeface="Times"/>
              <a:buChar char="•"/>
              <a:defRPr sz="1600">
                <a:solidFill>
                  <a:schemeClr val="tx1"/>
                </a:solidFill>
                <a:latin typeface="Arial" charset="0"/>
              </a:defRPr>
            </a:lvl3pPr>
            <a:lvl4pPr marL="1698625" indent="-228600">
              <a:spcBef>
                <a:spcPct val="25000"/>
              </a:spcBef>
              <a:buClr>
                <a:schemeClr val="folHlink"/>
              </a:buClr>
              <a:buFont typeface="Times"/>
              <a:buChar char="•"/>
              <a:defRPr sz="1600">
                <a:solidFill>
                  <a:schemeClr val="tx1"/>
                </a:solidFill>
                <a:latin typeface="Arial" charset="0"/>
              </a:defRPr>
            </a:lvl4pPr>
            <a:lvl5pPr marL="2117725" indent="-228600">
              <a:spcBef>
                <a:spcPct val="25000"/>
              </a:spcBef>
              <a:buClr>
                <a:schemeClr val="folHlink"/>
              </a:buClr>
              <a:buSzPct val="50000"/>
              <a:buFont typeface="Times"/>
              <a:buChar char="•"/>
              <a:defRPr sz="16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r>
              <a:rPr lang="en-GB" altLang="en-US" sz="1700"/>
              <a:t>The </a:t>
            </a:r>
            <a:r>
              <a:rPr lang="en-GB" altLang="en-US" sz="1700">
                <a:solidFill>
                  <a:srgbClr val="FF66CC"/>
                </a:solidFill>
              </a:rPr>
              <a:t>shape of the boudins</a:t>
            </a:r>
            <a:r>
              <a:rPr lang="en-GB" altLang="en-US" sz="1700"/>
              <a:t> (block, barrel, fish-mouth) depends upon the contrast in competence with the adjacent layers</a:t>
            </a:r>
          </a:p>
        </p:txBody>
      </p:sp>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0" descr="33c-Mu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4975" y="2606675"/>
            <a:ext cx="2182813" cy="403225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56002" name="Rectangle 2">
            <a:extLst>
              <a:ext uri="{FF2B5EF4-FFF2-40B4-BE49-F238E27FC236}">
                <a16:creationId xmlns:a16="http://schemas.microsoft.com/office/drawing/2014/main" id="{0FB2FFC4-A67F-40B5-A882-8ACD54380E7E}"/>
              </a:ext>
            </a:extLst>
          </p:cNvPr>
          <p:cNvSpPr>
            <a:spLocks noChangeArrowheads="1"/>
          </p:cNvSpPr>
          <p:nvPr/>
        </p:nvSpPr>
        <p:spPr bwMode="auto">
          <a:xfrm>
            <a:off x="223838" y="3109913"/>
            <a:ext cx="3638550" cy="89535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256003" name="Rectangle 3">
            <a:extLst>
              <a:ext uri="{FF2B5EF4-FFF2-40B4-BE49-F238E27FC236}">
                <a16:creationId xmlns:a16="http://schemas.microsoft.com/office/drawing/2014/main" id="{99812C2E-6F60-47F0-82C9-BCF58B282ACA}"/>
              </a:ext>
            </a:extLst>
          </p:cNvPr>
          <p:cNvSpPr>
            <a:spLocks noChangeArrowheads="1"/>
          </p:cNvSpPr>
          <p:nvPr/>
        </p:nvSpPr>
        <p:spPr bwMode="auto">
          <a:xfrm>
            <a:off x="3979863" y="866775"/>
            <a:ext cx="5018087" cy="1574800"/>
          </a:xfrm>
          <a:prstGeom prst="rect">
            <a:avLst/>
          </a:prstGeom>
          <a:solidFill>
            <a:schemeClr val="folHlink"/>
          </a:solidFill>
          <a:ln w="381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sp>
        <p:nvSpPr>
          <p:cNvPr id="89093" name="Rectangle 4"/>
          <p:cNvSpPr>
            <a:spLocks noGrp="1" noChangeArrowheads="1"/>
          </p:cNvSpPr>
          <p:nvPr>
            <p:ph type="title"/>
          </p:nvPr>
        </p:nvSpPr>
        <p:spPr>
          <a:noFill/>
        </p:spPr>
        <p:txBody>
          <a:bodyPr/>
          <a:lstStyle/>
          <a:p>
            <a:r>
              <a:rPr lang="en-GB" altLang="en-US" dirty="0">
                <a:effectLst/>
              </a:rPr>
              <a:t>Pinch-and-swel</a:t>
            </a:r>
            <a:r>
              <a:rPr lang="en-GB" altLang="en-US" spc="500" dirty="0">
                <a:effectLst/>
              </a:rPr>
              <a:t>l/</a:t>
            </a:r>
            <a:r>
              <a:rPr lang="en-GB" altLang="en-US" dirty="0">
                <a:effectLst/>
              </a:rPr>
              <a:t>boudinage  (symmetry)</a:t>
            </a:r>
          </a:p>
        </p:txBody>
      </p:sp>
      <p:sp>
        <p:nvSpPr>
          <p:cNvPr id="256008" name="Text Box 8">
            <a:extLst>
              <a:ext uri="{FF2B5EF4-FFF2-40B4-BE49-F238E27FC236}">
                <a16:creationId xmlns:a16="http://schemas.microsoft.com/office/drawing/2014/main" id="{2ED367CF-C719-4CF1-9DCF-E87587C8C0A7}"/>
              </a:ext>
            </a:extLst>
          </p:cNvPr>
          <p:cNvSpPr txBox="1">
            <a:spLocks noChangeArrowheads="1"/>
          </p:cNvSpPr>
          <p:nvPr/>
        </p:nvSpPr>
        <p:spPr bwMode="auto">
          <a:xfrm>
            <a:off x="104775" y="758825"/>
            <a:ext cx="3721100" cy="215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4625" indent="-17462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defRPr/>
            </a:pPr>
            <a:r>
              <a:rPr lang="en-GB" altLang="en-US" sz="1700">
                <a:effectLst>
                  <a:outerShdw blurRad="38100" dist="38100" dir="2700000" algn="tl">
                    <a:srgbClr val="000000"/>
                  </a:outerShdw>
                </a:effectLst>
                <a:latin typeface="Arial" panose="020B0604020202020204" pitchFamily="34" charset="0"/>
              </a:rPr>
              <a:t>Boudins may be </a:t>
            </a:r>
            <a:r>
              <a:rPr lang="en-GB" altLang="en-US" sz="1700">
                <a:solidFill>
                  <a:srgbClr val="FF66CC"/>
                </a:solidFill>
                <a:effectLst>
                  <a:outerShdw blurRad="38100" dist="38100" dir="2700000" algn="tl">
                    <a:srgbClr val="000000"/>
                  </a:outerShdw>
                </a:effectLst>
                <a:latin typeface="Arial" panose="020B0604020202020204" pitchFamily="34" charset="0"/>
              </a:rPr>
              <a:t>symmetric</a:t>
            </a:r>
            <a:r>
              <a:rPr lang="en-GB" altLang="en-US" sz="1700">
                <a:effectLst>
                  <a:outerShdw blurRad="38100" dist="38100" dir="2700000" algn="tl">
                    <a:srgbClr val="000000"/>
                  </a:outerShdw>
                </a:effectLst>
                <a:latin typeface="Arial" panose="020B0604020202020204" pitchFamily="34" charset="0"/>
              </a:rPr>
              <a:t>, or if formed in the presence of a layer parallel shear, </a:t>
            </a:r>
            <a:r>
              <a:rPr lang="en-GB" altLang="en-US" sz="1700">
                <a:solidFill>
                  <a:srgbClr val="FF66CC"/>
                </a:solidFill>
                <a:effectLst>
                  <a:outerShdw blurRad="38100" dist="38100" dir="2700000" algn="tl">
                    <a:srgbClr val="000000"/>
                  </a:outerShdw>
                </a:effectLst>
                <a:latin typeface="Arial" panose="020B0604020202020204" pitchFamily="34" charset="0"/>
              </a:rPr>
              <a:t>asymmetric</a:t>
            </a:r>
          </a:p>
          <a:p>
            <a:pPr>
              <a:lnSpc>
                <a:spcPct val="120000"/>
              </a:lnSpc>
              <a:spcBef>
                <a:spcPct val="75000"/>
              </a:spcBef>
              <a:buClr>
                <a:schemeClr val="tx1"/>
              </a:buClr>
              <a:buFontTx/>
              <a:buChar char="•"/>
              <a:defRPr/>
            </a:pPr>
            <a:r>
              <a:rPr lang="en-GB" altLang="en-US" sz="1700">
                <a:effectLst>
                  <a:outerShdw blurRad="38100" dist="38100" dir="2700000" algn="tl">
                    <a:srgbClr val="000000"/>
                  </a:outerShdw>
                </a:effectLst>
                <a:latin typeface="Arial" panose="020B0604020202020204" pitchFamily="34" charset="0"/>
              </a:rPr>
              <a:t>The </a:t>
            </a:r>
            <a:r>
              <a:rPr lang="en-GB" altLang="en-US" sz="1700">
                <a:solidFill>
                  <a:srgbClr val="FF66CC"/>
                </a:solidFill>
                <a:effectLst>
                  <a:outerShdw blurRad="38100" dist="38100" dir="2700000" algn="tl">
                    <a:srgbClr val="000000"/>
                  </a:outerShdw>
                </a:effectLst>
                <a:latin typeface="Arial" panose="020B0604020202020204" pitchFamily="34" charset="0"/>
              </a:rPr>
              <a:t>rotation of the boudins</a:t>
            </a:r>
            <a:r>
              <a:rPr lang="en-GB" altLang="en-US" sz="1700">
                <a:effectLst>
                  <a:outerShdw blurRad="38100" dist="38100" dir="2700000" algn="tl">
                    <a:srgbClr val="000000"/>
                  </a:outerShdw>
                </a:effectLst>
                <a:latin typeface="Arial" panose="020B0604020202020204" pitchFamily="34" charset="0"/>
              </a:rPr>
              <a:t> may be with the sense of shear (photo far right) or against it (figure below)</a:t>
            </a:r>
          </a:p>
        </p:txBody>
      </p:sp>
      <p:pic>
        <p:nvPicPr>
          <p:cNvPr id="89095" name="Picture 2" descr="GR01.jpg"/>
          <p:cNvPicPr>
            <a:picLocks noChangeAspect="1"/>
          </p:cNvPicPr>
          <p:nvPr/>
        </p:nvPicPr>
        <p:blipFill>
          <a:blip r:embed="rId4" cstate="print">
            <a:extLst>
              <a:ext uri="{28A0092B-C50C-407E-A947-70E740481C1C}">
                <a14:useLocalDpi xmlns:a14="http://schemas.microsoft.com/office/drawing/2010/main" val="0"/>
              </a:ext>
            </a:extLst>
          </a:blip>
          <a:srcRect t="16339" r="58035"/>
          <a:stretch>
            <a:fillRect/>
          </a:stretch>
        </p:blipFill>
        <p:spPr bwMode="auto">
          <a:xfrm>
            <a:off x="4048125" y="1168400"/>
            <a:ext cx="264477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6" name="Picture 2" descr="GR01.jpg"/>
          <p:cNvPicPr>
            <a:picLocks noChangeAspect="1"/>
          </p:cNvPicPr>
          <p:nvPr/>
        </p:nvPicPr>
        <p:blipFill>
          <a:blip r:embed="rId5">
            <a:extLst>
              <a:ext uri="{28A0092B-C50C-407E-A947-70E740481C1C}">
                <a14:useLocalDpi xmlns:a14="http://schemas.microsoft.com/office/drawing/2010/main" val="0"/>
              </a:ext>
            </a:extLst>
          </a:blip>
          <a:srcRect l="69295" t="18736"/>
          <a:stretch>
            <a:fillRect/>
          </a:stretch>
        </p:blipFill>
        <p:spPr bwMode="auto">
          <a:xfrm>
            <a:off x="6985000" y="1203325"/>
            <a:ext cx="1935163"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7" name="Picture 2" descr="GR12.jpg"/>
          <p:cNvPicPr>
            <a:picLocks noGrp="1" noChangeAspect="1"/>
          </p:cNvPicPr>
          <p:nvPr>
            <p:ph sz="half" idx="1"/>
          </p:nvPr>
        </p:nvPicPr>
        <p:blipFill>
          <a:blip r:embed="rId6">
            <a:extLst>
              <a:ext uri="{28A0092B-C50C-407E-A947-70E740481C1C}">
                <a14:useLocalDpi xmlns:a14="http://schemas.microsoft.com/office/drawing/2010/main" val="0"/>
              </a:ext>
            </a:extLst>
          </a:blip>
          <a:srcRect/>
          <a:stretch>
            <a:fillRect/>
          </a:stretch>
        </p:blipFill>
        <p:spPr>
          <a:xfrm>
            <a:off x="298450" y="3176588"/>
            <a:ext cx="3497263"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6013" name="Freeform 13">
            <a:extLst>
              <a:ext uri="{FF2B5EF4-FFF2-40B4-BE49-F238E27FC236}">
                <a16:creationId xmlns:a16="http://schemas.microsoft.com/office/drawing/2014/main" id="{DC854093-A854-49B0-9557-474E9422837F}"/>
              </a:ext>
            </a:extLst>
          </p:cNvPr>
          <p:cNvSpPr>
            <a:spLocks/>
          </p:cNvSpPr>
          <p:nvPr/>
        </p:nvSpPr>
        <p:spPr bwMode="auto">
          <a:xfrm>
            <a:off x="7794625" y="3043238"/>
            <a:ext cx="106363" cy="292100"/>
          </a:xfrm>
          <a:custGeom>
            <a:avLst/>
            <a:gdLst>
              <a:gd name="T0" fmla="*/ 0 w 67"/>
              <a:gd name="T1" fmla="*/ 184 h 184"/>
              <a:gd name="T2" fmla="*/ 67 w 67"/>
              <a:gd name="T3" fmla="*/ 0 h 184"/>
              <a:gd name="T4" fmla="*/ 6 w 67"/>
              <a:gd name="T5" fmla="*/ 31 h 184"/>
            </a:gdLst>
            <a:ahLst/>
            <a:cxnLst>
              <a:cxn ang="0">
                <a:pos x="T0" y="T1"/>
              </a:cxn>
              <a:cxn ang="0">
                <a:pos x="T2" y="T3"/>
              </a:cxn>
              <a:cxn ang="0">
                <a:pos x="T4" y="T5"/>
              </a:cxn>
            </a:cxnLst>
            <a:rect l="0" t="0" r="r" b="b"/>
            <a:pathLst>
              <a:path w="67" h="184">
                <a:moveTo>
                  <a:pt x="0" y="184"/>
                </a:moveTo>
                <a:lnTo>
                  <a:pt x="67" y="0"/>
                </a:lnTo>
                <a:lnTo>
                  <a:pt x="6" y="31"/>
                </a:ln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accent2"/>
              </a:buClr>
              <a:defRPr/>
            </a:pPr>
            <a:endParaRPr lang="en-GB">
              <a:effectLst>
                <a:outerShdw blurRad="38100" dist="38100" dir="2700000" algn="tl">
                  <a:srgbClr val="000000">
                    <a:alpha val="43137"/>
                  </a:srgbClr>
                </a:outerShdw>
              </a:effectLst>
              <a:latin typeface="Helvetica" panose="020B0604020202020204" pitchFamily="34" charset="0"/>
            </a:endParaRPr>
          </a:p>
        </p:txBody>
      </p:sp>
      <p:pic>
        <p:nvPicPr>
          <p:cNvPr id="89099" name="Picture 16" descr="33a-NDevo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29075" y="2608263"/>
            <a:ext cx="2571750" cy="40417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89100" name="Picture 22" descr="Pinch and Swell, Dyke, Finnmark"/>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338" y="4254500"/>
            <a:ext cx="3692525" cy="2408238"/>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89101" name="Text Box 24"/>
          <p:cNvSpPr txBox="1">
            <a:spLocks noChangeArrowheads="1"/>
          </p:cNvSpPr>
          <p:nvPr/>
        </p:nvSpPr>
        <p:spPr bwMode="auto">
          <a:xfrm>
            <a:off x="5051425" y="914400"/>
            <a:ext cx="11652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charset="0"/>
              </a:defRPr>
            </a:lvl1pPr>
            <a:lvl2pPr marL="742950" indent="-285750">
              <a:defRPr sz="1600">
                <a:solidFill>
                  <a:schemeClr val="tx1"/>
                </a:solidFill>
                <a:latin typeface="Helvetica" charset="0"/>
              </a:defRPr>
            </a:lvl2pPr>
            <a:lvl3pPr marL="1143000" indent="-228600">
              <a:defRPr sz="1600">
                <a:solidFill>
                  <a:schemeClr val="tx1"/>
                </a:solidFill>
                <a:latin typeface="Helvetica" charset="0"/>
              </a:defRPr>
            </a:lvl3pPr>
            <a:lvl4pPr marL="1600200" indent="-228600">
              <a:defRPr sz="1600">
                <a:solidFill>
                  <a:schemeClr val="tx1"/>
                </a:solidFill>
                <a:latin typeface="Helvetica" charset="0"/>
              </a:defRPr>
            </a:lvl4pPr>
            <a:lvl5pPr marL="2057400" indent="-228600">
              <a:defRPr sz="1600">
                <a:solidFill>
                  <a:schemeClr val="tx1"/>
                </a:solidFill>
                <a:latin typeface="Helvetica" charset="0"/>
              </a:defRPr>
            </a:lvl5pPr>
            <a:lvl6pPr marL="2514600" indent="-228600" eaLnBrk="0" fontAlgn="base" hangingPunct="0">
              <a:spcBef>
                <a:spcPct val="0"/>
              </a:spcBef>
              <a:spcAft>
                <a:spcPct val="0"/>
              </a:spcAft>
              <a:defRPr sz="1600">
                <a:solidFill>
                  <a:schemeClr val="tx1"/>
                </a:solidFill>
                <a:latin typeface="Helvetica" charset="0"/>
              </a:defRPr>
            </a:lvl6pPr>
            <a:lvl7pPr marL="2971800" indent="-228600" eaLnBrk="0" fontAlgn="base" hangingPunct="0">
              <a:spcBef>
                <a:spcPct val="0"/>
              </a:spcBef>
              <a:spcAft>
                <a:spcPct val="0"/>
              </a:spcAft>
              <a:defRPr sz="1600">
                <a:solidFill>
                  <a:schemeClr val="tx1"/>
                </a:solidFill>
                <a:latin typeface="Helvetica" charset="0"/>
              </a:defRPr>
            </a:lvl7pPr>
            <a:lvl8pPr marL="3429000" indent="-228600" eaLnBrk="0" fontAlgn="base" hangingPunct="0">
              <a:spcBef>
                <a:spcPct val="0"/>
              </a:spcBef>
              <a:spcAft>
                <a:spcPct val="0"/>
              </a:spcAft>
              <a:defRPr sz="1600">
                <a:solidFill>
                  <a:schemeClr val="tx1"/>
                </a:solidFill>
                <a:latin typeface="Helvetica" charset="0"/>
              </a:defRPr>
            </a:lvl8pPr>
            <a:lvl9pPr marL="3886200" indent="-228600" eaLnBrk="0" fontAlgn="base" hangingPunct="0">
              <a:spcBef>
                <a:spcPct val="0"/>
              </a:spcBef>
              <a:spcAft>
                <a:spcPct val="0"/>
              </a:spcAft>
              <a:defRPr sz="1600">
                <a:solidFill>
                  <a:schemeClr val="tx1"/>
                </a:solidFill>
                <a:latin typeface="Helvetica" charset="0"/>
              </a:defRPr>
            </a:lvl9pPr>
          </a:lstStyle>
          <a:p>
            <a:pPr>
              <a:spcBef>
                <a:spcPct val="50000"/>
              </a:spcBef>
              <a:buClr>
                <a:schemeClr val="accent2"/>
              </a:buClr>
            </a:pPr>
            <a:r>
              <a:rPr lang="en-GB" altLang="en-US" sz="1400">
                <a:solidFill>
                  <a:srgbClr val="FF0000"/>
                </a:solidFill>
                <a:latin typeface="Arial" charset="0"/>
              </a:rPr>
              <a:t>symmetric</a:t>
            </a:r>
          </a:p>
        </p:txBody>
      </p:sp>
      <p:sp>
        <p:nvSpPr>
          <p:cNvPr id="89102" name="Text Box 25"/>
          <p:cNvSpPr txBox="1">
            <a:spLocks noChangeArrowheads="1"/>
          </p:cNvSpPr>
          <p:nvPr/>
        </p:nvSpPr>
        <p:spPr bwMode="auto">
          <a:xfrm>
            <a:off x="7261225" y="914400"/>
            <a:ext cx="11652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a:solidFill>
                  <a:schemeClr val="tx1"/>
                </a:solidFill>
                <a:latin typeface="Helvetica" charset="0"/>
              </a:defRPr>
            </a:lvl1pPr>
            <a:lvl2pPr marL="742950" indent="-285750">
              <a:defRPr sz="1600">
                <a:solidFill>
                  <a:schemeClr val="tx1"/>
                </a:solidFill>
                <a:latin typeface="Helvetica" charset="0"/>
              </a:defRPr>
            </a:lvl2pPr>
            <a:lvl3pPr marL="1143000" indent="-228600">
              <a:defRPr sz="1600">
                <a:solidFill>
                  <a:schemeClr val="tx1"/>
                </a:solidFill>
                <a:latin typeface="Helvetica" charset="0"/>
              </a:defRPr>
            </a:lvl3pPr>
            <a:lvl4pPr marL="1600200" indent="-228600">
              <a:defRPr sz="1600">
                <a:solidFill>
                  <a:schemeClr val="tx1"/>
                </a:solidFill>
                <a:latin typeface="Helvetica" charset="0"/>
              </a:defRPr>
            </a:lvl4pPr>
            <a:lvl5pPr marL="2057400" indent="-228600">
              <a:defRPr sz="1600">
                <a:solidFill>
                  <a:schemeClr val="tx1"/>
                </a:solidFill>
                <a:latin typeface="Helvetica" charset="0"/>
              </a:defRPr>
            </a:lvl5pPr>
            <a:lvl6pPr marL="2514600" indent="-228600" eaLnBrk="0" fontAlgn="base" hangingPunct="0">
              <a:spcBef>
                <a:spcPct val="0"/>
              </a:spcBef>
              <a:spcAft>
                <a:spcPct val="0"/>
              </a:spcAft>
              <a:defRPr sz="1600">
                <a:solidFill>
                  <a:schemeClr val="tx1"/>
                </a:solidFill>
                <a:latin typeface="Helvetica" charset="0"/>
              </a:defRPr>
            </a:lvl6pPr>
            <a:lvl7pPr marL="2971800" indent="-228600" eaLnBrk="0" fontAlgn="base" hangingPunct="0">
              <a:spcBef>
                <a:spcPct val="0"/>
              </a:spcBef>
              <a:spcAft>
                <a:spcPct val="0"/>
              </a:spcAft>
              <a:defRPr sz="1600">
                <a:solidFill>
                  <a:schemeClr val="tx1"/>
                </a:solidFill>
                <a:latin typeface="Helvetica" charset="0"/>
              </a:defRPr>
            </a:lvl7pPr>
            <a:lvl8pPr marL="3429000" indent="-228600" eaLnBrk="0" fontAlgn="base" hangingPunct="0">
              <a:spcBef>
                <a:spcPct val="0"/>
              </a:spcBef>
              <a:spcAft>
                <a:spcPct val="0"/>
              </a:spcAft>
              <a:defRPr sz="1600">
                <a:solidFill>
                  <a:schemeClr val="tx1"/>
                </a:solidFill>
                <a:latin typeface="Helvetica" charset="0"/>
              </a:defRPr>
            </a:lvl8pPr>
            <a:lvl9pPr marL="3886200" indent="-228600" eaLnBrk="0" fontAlgn="base" hangingPunct="0">
              <a:spcBef>
                <a:spcPct val="0"/>
              </a:spcBef>
              <a:spcAft>
                <a:spcPct val="0"/>
              </a:spcAft>
              <a:defRPr sz="1600">
                <a:solidFill>
                  <a:schemeClr val="tx1"/>
                </a:solidFill>
                <a:latin typeface="Helvetica" charset="0"/>
              </a:defRPr>
            </a:lvl9pPr>
          </a:lstStyle>
          <a:p>
            <a:pPr>
              <a:spcBef>
                <a:spcPct val="50000"/>
              </a:spcBef>
              <a:buClr>
                <a:schemeClr val="accent2"/>
              </a:buClr>
            </a:pPr>
            <a:r>
              <a:rPr lang="en-GB" altLang="en-US" sz="1400">
                <a:solidFill>
                  <a:srgbClr val="FF0000"/>
                </a:solidFill>
                <a:latin typeface="Arial" charset="0"/>
              </a:rPr>
              <a:t>asymmetric</a:t>
            </a:r>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noFill/>
        </p:spPr>
        <p:txBody>
          <a:bodyPr/>
          <a:lstStyle/>
          <a:p>
            <a:r>
              <a:rPr lang="en-GB" altLang="en-US">
                <a:effectLst/>
              </a:rPr>
              <a:t>Lineations parallel to the fold axis  (mullions)</a:t>
            </a:r>
          </a:p>
        </p:txBody>
      </p:sp>
      <p:sp>
        <p:nvSpPr>
          <p:cNvPr id="91139" name="Rectangle 3"/>
          <p:cNvSpPr>
            <a:spLocks noGrp="1" noChangeArrowheads="1"/>
          </p:cNvSpPr>
          <p:nvPr>
            <p:ph type="body" sz="half" idx="1"/>
          </p:nvPr>
        </p:nvSpPr>
        <p:spPr>
          <a:xfrm>
            <a:off x="119063" y="830263"/>
            <a:ext cx="8872537" cy="739775"/>
          </a:xfrm>
          <a:noFill/>
        </p:spPr>
        <p:txBody>
          <a:bodyPr/>
          <a:lstStyle/>
          <a:p>
            <a:pPr marL="174625" indent="-174625"/>
            <a:r>
              <a:rPr lang="en-GB" altLang="en-US" sz="1700">
                <a:effectLst/>
              </a:rPr>
              <a:t>The interface between layers of very different competence may take the form of convex surfaces with intervening </a:t>
            </a:r>
            <a:r>
              <a:rPr lang="en-GB" altLang="en-US" sz="1700">
                <a:solidFill>
                  <a:srgbClr val="FF66CC"/>
                </a:solidFill>
                <a:effectLst/>
              </a:rPr>
              <a:t>cusps</a:t>
            </a:r>
            <a:r>
              <a:rPr lang="en-GB" altLang="en-US" sz="1700">
                <a:effectLst/>
              </a:rPr>
              <a:t>. These are described as </a:t>
            </a:r>
            <a:r>
              <a:rPr lang="en-GB" altLang="en-US" sz="1700">
                <a:solidFill>
                  <a:srgbClr val="FF6600"/>
                </a:solidFill>
                <a:effectLst/>
              </a:rPr>
              <a:t>mullions</a:t>
            </a:r>
          </a:p>
        </p:txBody>
      </p:sp>
      <p:pic>
        <p:nvPicPr>
          <p:cNvPr id="91140" name="Picture 5" descr="Morcle006"/>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5729288" y="1887538"/>
            <a:ext cx="3124200" cy="4373562"/>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23238" name="Text Box 6">
            <a:extLst>
              <a:ext uri="{FF2B5EF4-FFF2-40B4-BE49-F238E27FC236}">
                <a16:creationId xmlns:a16="http://schemas.microsoft.com/office/drawing/2014/main" id="{10EACF8F-011C-47A7-ADB7-B27B7AD9E90B}"/>
              </a:ext>
            </a:extLst>
          </p:cNvPr>
          <p:cNvSpPr txBox="1">
            <a:spLocks noChangeArrowheads="1"/>
          </p:cNvSpPr>
          <p:nvPr/>
        </p:nvSpPr>
        <p:spPr bwMode="auto">
          <a:xfrm>
            <a:off x="117475" y="1570038"/>
            <a:ext cx="5456238" cy="1155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74625" indent="-174625">
              <a:defRPr sz="1600">
                <a:solidFill>
                  <a:schemeClr val="tx1"/>
                </a:solidFill>
                <a:latin typeface="Helvetica" panose="020B0604020202020204" pitchFamily="34" charset="0"/>
              </a:defRPr>
            </a:lvl1pPr>
            <a:lvl2pPr>
              <a:defRPr sz="1600">
                <a:solidFill>
                  <a:schemeClr val="tx1"/>
                </a:solidFill>
                <a:latin typeface="Helvetica" panose="020B0604020202020204" pitchFamily="34" charset="0"/>
              </a:defRPr>
            </a:lvl2pPr>
            <a:lvl3pPr>
              <a:defRPr sz="1600">
                <a:solidFill>
                  <a:schemeClr val="tx1"/>
                </a:solidFill>
                <a:latin typeface="Helvetica" panose="020B0604020202020204" pitchFamily="34" charset="0"/>
              </a:defRPr>
            </a:lvl3pPr>
            <a:lvl4pPr>
              <a:defRPr sz="1600">
                <a:solidFill>
                  <a:schemeClr val="tx1"/>
                </a:solidFill>
                <a:latin typeface="Helvetica" panose="020B0604020202020204" pitchFamily="34" charset="0"/>
              </a:defRPr>
            </a:lvl4pPr>
            <a:lvl5pPr>
              <a:defRPr sz="1600">
                <a:solidFill>
                  <a:schemeClr val="tx1"/>
                </a:solidFill>
                <a:latin typeface="Helvetica" panose="020B0604020202020204" pitchFamily="34" charset="0"/>
              </a:defRPr>
            </a:lvl5pPr>
            <a:lvl6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6pPr>
            <a:lvl7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7pPr>
            <a:lvl8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8pPr>
            <a:lvl9pPr eaLnBrk="0" fontAlgn="base" hangingPunct="0">
              <a:spcBef>
                <a:spcPct val="20000"/>
              </a:spcBef>
              <a:spcAft>
                <a:spcPct val="0"/>
              </a:spcAft>
              <a:buClr>
                <a:schemeClr val="accent2"/>
              </a:buClr>
              <a:defRPr sz="1600">
                <a:solidFill>
                  <a:schemeClr val="tx1"/>
                </a:solidFill>
                <a:latin typeface="Helvetica" panose="020B0604020202020204" pitchFamily="34" charset="0"/>
              </a:defRPr>
            </a:lvl9pPr>
          </a:lstStyle>
          <a:p>
            <a:pPr>
              <a:lnSpc>
                <a:spcPct val="120000"/>
              </a:lnSpc>
              <a:spcBef>
                <a:spcPct val="50000"/>
              </a:spcBef>
              <a:buClr>
                <a:schemeClr val="tx1"/>
              </a:buClr>
              <a:buFontTx/>
              <a:buChar char="•"/>
              <a:defRPr/>
            </a:pPr>
            <a:r>
              <a:rPr lang="en-GB" altLang="en-US" sz="1700" dirty="0">
                <a:latin typeface="Arial" panose="020B0604020202020204" pitchFamily="34" charset="0"/>
              </a:rPr>
              <a:t>The </a:t>
            </a:r>
            <a:r>
              <a:rPr lang="en-GB" altLang="en-US" sz="1700" dirty="0">
                <a:solidFill>
                  <a:srgbClr val="FF66CC"/>
                </a:solidFill>
                <a:latin typeface="Arial" panose="020B0604020202020204" pitchFamily="34" charset="0"/>
              </a:rPr>
              <a:t>long axis of mullions</a:t>
            </a:r>
            <a:r>
              <a:rPr lang="en-GB" altLang="en-US" sz="1700" dirty="0">
                <a:latin typeface="Arial" panose="020B0604020202020204" pitchFamily="34" charset="0"/>
              </a:rPr>
              <a:t> is typically parallel with the fold axis</a:t>
            </a:r>
          </a:p>
          <a:p>
            <a:pPr>
              <a:lnSpc>
                <a:spcPct val="120000"/>
              </a:lnSpc>
              <a:spcBef>
                <a:spcPct val="50000"/>
              </a:spcBef>
              <a:buClr>
                <a:schemeClr val="tx1"/>
              </a:buClr>
              <a:buFontTx/>
              <a:buChar char="•"/>
              <a:defRPr/>
            </a:pPr>
            <a:r>
              <a:rPr lang="en-GB" altLang="en-US" sz="1700" dirty="0">
                <a:latin typeface="Arial" panose="020B0604020202020204" pitchFamily="34" charset="0"/>
              </a:rPr>
              <a:t>The cusps point into the </a:t>
            </a:r>
            <a:r>
              <a:rPr lang="en-GB" altLang="en-US" sz="1700" dirty="0">
                <a:solidFill>
                  <a:srgbClr val="FF66CC"/>
                </a:solidFill>
                <a:latin typeface="Arial" panose="020B0604020202020204" pitchFamily="34" charset="0"/>
              </a:rPr>
              <a:t>more competent</a:t>
            </a:r>
            <a:r>
              <a:rPr lang="en-GB" altLang="en-US" sz="1700" dirty="0">
                <a:latin typeface="Arial" panose="020B0604020202020204" pitchFamily="34" charset="0"/>
              </a:rPr>
              <a:t> unit</a:t>
            </a:r>
            <a:endParaRPr lang="en-GB" altLang="en-US" sz="1700" dirty="0">
              <a:effectLst>
                <a:outerShdw blurRad="38100" dist="38100" dir="2700000" algn="tl">
                  <a:srgbClr val="000000"/>
                </a:outerShdw>
              </a:effectLst>
              <a:latin typeface="Arial" panose="020B0604020202020204" pitchFamily="34" charset="0"/>
            </a:endParaRPr>
          </a:p>
        </p:txBody>
      </p:sp>
      <p:pic>
        <p:nvPicPr>
          <p:cNvPr id="91142" name="Picture 11" descr="34a-Mull"/>
          <p:cNvPicPr>
            <a:picLocks noGrp="1" noChangeAspect="1" noChangeArrowheads="1"/>
          </p:cNvPicPr>
          <p:nvPr>
            <p:ph sz="quarter" idx="2"/>
          </p:nvPr>
        </p:nvPicPr>
        <p:blipFill>
          <a:blip r:embed="rId4">
            <a:lum bright="6000"/>
            <a:extLst>
              <a:ext uri="{28A0092B-C50C-407E-A947-70E740481C1C}">
                <a14:useLocalDpi xmlns:a14="http://schemas.microsoft.com/office/drawing/2010/main" val="0"/>
              </a:ext>
            </a:extLst>
          </a:blip>
          <a:srcRect/>
          <a:stretch>
            <a:fillRect/>
          </a:stretch>
        </p:blipFill>
        <p:spPr>
          <a:xfrm>
            <a:off x="385763" y="2941638"/>
            <a:ext cx="5056187" cy="3671887"/>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10" descr="Fossen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138" y="1019175"/>
            <a:ext cx="2879725" cy="36576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93187" name="Rectangle 2"/>
          <p:cNvSpPr>
            <a:spLocks noGrp="1" noChangeArrowheads="1"/>
          </p:cNvSpPr>
          <p:nvPr>
            <p:ph type="title"/>
          </p:nvPr>
        </p:nvSpPr>
        <p:spPr>
          <a:noFill/>
        </p:spPr>
        <p:txBody>
          <a:bodyPr/>
          <a:lstStyle/>
          <a:p>
            <a:r>
              <a:rPr lang="en-GB" altLang="en-US">
                <a:effectLst/>
              </a:rPr>
              <a:t>Reading</a:t>
            </a:r>
          </a:p>
        </p:txBody>
      </p:sp>
      <p:sp>
        <p:nvSpPr>
          <p:cNvPr id="93188" name="Rectangle 3"/>
          <p:cNvSpPr>
            <a:spLocks noGrp="1" noChangeArrowheads="1"/>
          </p:cNvSpPr>
          <p:nvPr>
            <p:ph type="body" sz="half" idx="1"/>
          </p:nvPr>
        </p:nvSpPr>
        <p:spPr>
          <a:xfrm>
            <a:off x="3506788" y="877888"/>
            <a:ext cx="5472112" cy="2900362"/>
          </a:xfrm>
          <a:noFill/>
        </p:spPr>
        <p:txBody>
          <a:bodyPr/>
          <a:lstStyle/>
          <a:p>
            <a:pPr marL="177800" indent="-177800"/>
            <a:r>
              <a:rPr lang="en-GB" altLang="en-US" sz="1400">
                <a:effectLst/>
              </a:rPr>
              <a:t>Fossen H (2016) </a:t>
            </a:r>
            <a:r>
              <a:rPr lang="en-GB" altLang="en-US" sz="1400" i="1">
                <a:effectLst/>
              </a:rPr>
              <a:t>Structural Geology </a:t>
            </a:r>
            <a:r>
              <a:rPr lang="en-GB" altLang="en-US" sz="1400">
                <a:effectLst/>
              </a:rPr>
              <a:t>(2</a:t>
            </a:r>
            <a:r>
              <a:rPr lang="en-GB" altLang="en-US" sz="1400" baseline="30000">
                <a:effectLst/>
              </a:rPr>
              <a:t>nd</a:t>
            </a:r>
            <a:r>
              <a:rPr lang="en-GB" altLang="en-US" sz="1400">
                <a:effectLst/>
              </a:rPr>
              <a:t> edition).</a:t>
            </a:r>
            <a:r>
              <a:rPr lang="en-GB" altLang="en-US" sz="1400" i="1">
                <a:effectLst/>
              </a:rPr>
              <a:t> </a:t>
            </a:r>
            <a:r>
              <a:rPr lang="en-GB" altLang="en-US" sz="1400">
                <a:effectLst/>
              </a:rPr>
              <a:t>Cambridge University Press. </a:t>
            </a:r>
            <a:r>
              <a:rPr lang="en-GB" altLang="en-US" sz="1400">
                <a:solidFill>
                  <a:srgbClr val="FF66CC"/>
                </a:solidFill>
                <a:effectLst/>
              </a:rPr>
              <a:t>[Chapters 12, 13, 14, 15]</a:t>
            </a:r>
          </a:p>
          <a:p>
            <a:pPr marL="177800" indent="-177800">
              <a:spcBef>
                <a:spcPct val="75000"/>
              </a:spcBef>
            </a:pPr>
            <a:r>
              <a:rPr lang="en-GB" altLang="en-US" sz="1400">
                <a:effectLst/>
              </a:rPr>
              <a:t>Twiss RJ, Moores EM (2007) </a:t>
            </a:r>
            <a:r>
              <a:rPr lang="en-GB" altLang="en-US" sz="1400" i="1">
                <a:effectLst/>
              </a:rPr>
              <a:t>Structural Geology</a:t>
            </a:r>
            <a:r>
              <a:rPr lang="en-GB" altLang="en-US" sz="1400">
                <a:effectLst/>
              </a:rPr>
              <a:t> (2</a:t>
            </a:r>
            <a:r>
              <a:rPr lang="en-GB" altLang="en-US" sz="1400" baseline="30000">
                <a:effectLst/>
              </a:rPr>
              <a:t>nd</a:t>
            </a:r>
            <a:r>
              <a:rPr lang="en-GB" altLang="en-US" sz="1400">
                <a:effectLst/>
              </a:rPr>
              <a:t> edition). WH Freeman and Co. </a:t>
            </a:r>
            <a:r>
              <a:rPr lang="en-GB" altLang="en-US" sz="1400">
                <a:solidFill>
                  <a:srgbClr val="FF66CC"/>
                </a:solidFill>
                <a:effectLst/>
              </a:rPr>
              <a:t>[Chapters 10, 11]</a:t>
            </a:r>
          </a:p>
          <a:p>
            <a:pPr marL="177800" indent="-177800">
              <a:spcBef>
                <a:spcPct val="75000"/>
              </a:spcBef>
            </a:pPr>
            <a:r>
              <a:rPr lang="en-GB" altLang="en-US" sz="1400">
                <a:effectLst/>
              </a:rPr>
              <a:t>Price NJ, Cosgrove JW (1990) </a:t>
            </a:r>
            <a:r>
              <a:rPr lang="en-GB" altLang="en-US" sz="1400" i="1">
                <a:effectLst/>
              </a:rPr>
              <a:t>Analysis of Geological Structures.</a:t>
            </a:r>
            <a:r>
              <a:rPr lang="en-GB" altLang="en-US" sz="1400">
                <a:effectLst/>
              </a:rPr>
              <a:t> Cambridge University Press. </a:t>
            </a:r>
            <a:r>
              <a:rPr lang="en-GB" altLang="en-US" sz="1400">
                <a:solidFill>
                  <a:srgbClr val="FF66CC"/>
                </a:solidFill>
                <a:effectLst/>
              </a:rPr>
              <a:t>[Chapters 10, 16, 17, 18]</a:t>
            </a:r>
          </a:p>
          <a:p>
            <a:pPr marL="177800" indent="-177800">
              <a:spcBef>
                <a:spcPct val="75000"/>
              </a:spcBef>
            </a:pPr>
            <a:r>
              <a:rPr lang="en-GB" altLang="en-US" sz="1400">
                <a:effectLst/>
              </a:rPr>
              <a:t>Ragan DM (2009) </a:t>
            </a:r>
            <a:r>
              <a:rPr lang="en-GB" altLang="en-US" sz="1400" i="1">
                <a:effectLst/>
              </a:rPr>
              <a:t>Structural Geology: An Introduction to Geometrical Techniques</a:t>
            </a:r>
            <a:r>
              <a:rPr lang="en-GB" altLang="en-US" sz="1400">
                <a:effectLst/>
              </a:rPr>
              <a:t> (4</a:t>
            </a:r>
            <a:r>
              <a:rPr lang="en-GB" altLang="en-US" sz="1400" baseline="30000">
                <a:effectLst/>
              </a:rPr>
              <a:t>th</a:t>
            </a:r>
            <a:r>
              <a:rPr lang="en-GB" altLang="en-US" sz="1400">
                <a:effectLst/>
              </a:rPr>
              <a:t> edition). Cambridge University Press. </a:t>
            </a:r>
            <a:r>
              <a:rPr lang="en-GB" altLang="en-US" sz="1400">
                <a:solidFill>
                  <a:srgbClr val="FF66CC"/>
                </a:solidFill>
                <a:effectLst/>
              </a:rPr>
              <a:t>[Chapter 14]</a:t>
            </a:r>
          </a:p>
        </p:txBody>
      </p:sp>
      <p:pic>
        <p:nvPicPr>
          <p:cNvPr id="93189" name="Picture 6" descr="Twiss"/>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6613525" y="3665538"/>
            <a:ext cx="2311400" cy="2981325"/>
          </a:xfr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3190" name="Rectangle 8"/>
          <p:cNvSpPr>
            <a:spLocks noChangeArrowheads="1"/>
          </p:cNvSpPr>
          <p:nvPr/>
        </p:nvSpPr>
        <p:spPr bwMode="auto">
          <a:xfrm>
            <a:off x="3492500" y="3810000"/>
            <a:ext cx="2994025" cy="1420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lnSpc>
                <a:spcPct val="120000"/>
              </a:lnSpc>
              <a:spcBef>
                <a:spcPct val="100000"/>
              </a:spcBef>
              <a:buClr>
                <a:schemeClr val="folHlink"/>
              </a:buClr>
              <a:buSzPct val="100000"/>
              <a:buFont typeface="Times"/>
              <a:buChar char="•"/>
              <a:defRPr sz="2000">
                <a:solidFill>
                  <a:schemeClr val="tx1"/>
                </a:solidFill>
                <a:latin typeface="Arial" charset="0"/>
              </a:defRPr>
            </a:lvl1pPr>
            <a:lvl2pPr marL="762000" indent="-187325">
              <a:lnSpc>
                <a:spcPct val="120000"/>
              </a:lnSpc>
              <a:spcBef>
                <a:spcPct val="50000"/>
              </a:spcBef>
              <a:buClr>
                <a:schemeClr val="folHlink"/>
              </a:buClr>
              <a:buSzPct val="100000"/>
              <a:buFont typeface="Times"/>
              <a:buChar char="•"/>
              <a:defRPr>
                <a:solidFill>
                  <a:schemeClr val="tx1"/>
                </a:solidFill>
                <a:latin typeface="Arial" charset="0"/>
              </a:defRPr>
            </a:lvl2pPr>
            <a:lvl3pPr marL="1235075" indent="-184150">
              <a:spcBef>
                <a:spcPct val="25000"/>
              </a:spcBef>
              <a:buClr>
                <a:schemeClr val="folHlink"/>
              </a:buClr>
              <a:buFont typeface="Times"/>
              <a:buChar char="•"/>
              <a:defRPr sz="1600">
                <a:solidFill>
                  <a:schemeClr val="tx1"/>
                </a:solidFill>
                <a:latin typeface="Arial" charset="0"/>
              </a:defRPr>
            </a:lvl3pPr>
            <a:lvl4pPr marL="1698625" indent="-228600">
              <a:spcBef>
                <a:spcPct val="25000"/>
              </a:spcBef>
              <a:buClr>
                <a:schemeClr val="folHlink"/>
              </a:buClr>
              <a:buFont typeface="Times"/>
              <a:buChar char="•"/>
              <a:defRPr sz="1600">
                <a:solidFill>
                  <a:schemeClr val="tx1"/>
                </a:solidFill>
                <a:latin typeface="Arial" charset="0"/>
              </a:defRPr>
            </a:lvl4pPr>
            <a:lvl5pPr marL="2117725" indent="-228600">
              <a:spcBef>
                <a:spcPct val="25000"/>
              </a:spcBef>
              <a:buClr>
                <a:schemeClr val="folHlink"/>
              </a:buClr>
              <a:buSzPct val="50000"/>
              <a:buFont typeface="Times"/>
              <a:buChar char="•"/>
              <a:defRPr sz="1600">
                <a:solidFill>
                  <a:schemeClr val="tx1"/>
                </a:solidFill>
                <a:latin typeface="Arial" charset="0"/>
              </a:defRPr>
            </a:lvl5pPr>
            <a:lvl6pPr marL="25749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6pPr>
            <a:lvl7pPr marL="30321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7pPr>
            <a:lvl8pPr marL="34893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8pPr>
            <a:lvl9pPr marL="3946525" indent="-228600" eaLnBrk="0" fontAlgn="base" hangingPunct="0">
              <a:spcBef>
                <a:spcPct val="25000"/>
              </a:spcBef>
              <a:spcAft>
                <a:spcPct val="0"/>
              </a:spcAft>
              <a:buClr>
                <a:schemeClr val="folHlink"/>
              </a:buClr>
              <a:buSzPct val="50000"/>
              <a:buFont typeface="Times"/>
              <a:buChar char="•"/>
              <a:defRPr sz="1600">
                <a:solidFill>
                  <a:schemeClr val="tx1"/>
                </a:solidFill>
                <a:latin typeface="Arial" charset="0"/>
              </a:defRPr>
            </a:lvl9pPr>
          </a:lstStyle>
          <a:p>
            <a:r>
              <a:rPr lang="en-GB" altLang="en-US" sz="1400" dirty="0"/>
              <a:t>Ramsay JG, Huber MI (1987) </a:t>
            </a:r>
            <a:r>
              <a:rPr lang="en-GB" altLang="en-US" sz="1400" i="1" dirty="0"/>
              <a:t>Techniques of Modern Structural Geology. Volume 2: Folds and Fractures.</a:t>
            </a:r>
            <a:r>
              <a:rPr lang="en-GB" altLang="en-US" sz="1400" dirty="0"/>
              <a:t> Academic Press. </a:t>
            </a:r>
            <a:r>
              <a:rPr lang="en-GB" altLang="en-US" sz="1400" dirty="0">
                <a:solidFill>
                  <a:srgbClr val="FF66CC"/>
                </a:solidFill>
              </a:rPr>
              <a:t>[Sessions 15, 17]</a:t>
            </a:r>
          </a:p>
        </p:txBody>
      </p:sp>
      <p:sp>
        <p:nvSpPr>
          <p:cNvPr id="214025" name="Text Box 9">
            <a:extLst>
              <a:ext uri="{FF2B5EF4-FFF2-40B4-BE49-F238E27FC236}">
                <a16:creationId xmlns:a16="http://schemas.microsoft.com/office/drawing/2014/main" id="{5FC95D12-C5D2-4A94-8DBF-629F337C3F4E}"/>
              </a:ext>
            </a:extLst>
          </p:cNvPr>
          <p:cNvSpPr txBox="1">
            <a:spLocks noChangeArrowheads="1"/>
          </p:cNvSpPr>
          <p:nvPr/>
        </p:nvSpPr>
        <p:spPr bwMode="auto">
          <a:xfrm>
            <a:off x="314325" y="5465763"/>
            <a:ext cx="5294738" cy="1188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20000"/>
              </a:spcBef>
              <a:buClr>
                <a:schemeClr val="accent2"/>
              </a:buClr>
              <a:defRPr/>
            </a:pPr>
            <a:r>
              <a:rPr lang="en-GB" altLang="en-US" sz="1400" dirty="0">
                <a:effectLst>
                  <a:outerShdw blurRad="38100" dist="38100" dir="2700000" algn="tl">
                    <a:srgbClr val="000000"/>
                  </a:outerShdw>
                </a:effectLst>
                <a:latin typeface="Arial" panose="020B0604020202020204" pitchFamily="34" charset="0"/>
              </a:rPr>
              <a:t>Extra resources for Fossen’s book at</a:t>
            </a:r>
          </a:p>
          <a:p>
            <a:pPr>
              <a:lnSpc>
                <a:spcPct val="120000"/>
              </a:lnSpc>
              <a:spcBef>
                <a:spcPct val="20000"/>
              </a:spcBef>
              <a:buClr>
                <a:schemeClr val="accent2"/>
              </a:buClr>
              <a:defRPr/>
            </a:pPr>
            <a:r>
              <a:rPr lang="en-GB" altLang="en-US" sz="1400" dirty="0">
                <a:solidFill>
                  <a:srgbClr val="FFFF00"/>
                </a:solidFill>
                <a:effectLst>
                  <a:outerShdw blurRad="38100" dist="38100" dir="2700000" algn="tl">
                    <a:srgbClr val="000000"/>
                  </a:outerShdw>
                </a:effectLst>
                <a:latin typeface="Arial" panose="020B0604020202020204" pitchFamily="34" charset="0"/>
              </a:rPr>
              <a:t>http://folk.uib.no/nglhe/StructuralGeoBook2ndEd.html</a:t>
            </a:r>
          </a:p>
          <a:p>
            <a:pPr>
              <a:lnSpc>
                <a:spcPct val="120000"/>
              </a:lnSpc>
              <a:spcBef>
                <a:spcPct val="20000"/>
              </a:spcBef>
              <a:buClr>
                <a:schemeClr val="accent2"/>
              </a:buClr>
              <a:defRPr/>
            </a:pPr>
            <a:r>
              <a:rPr lang="en-GB" altLang="en-US" sz="1400" dirty="0">
                <a:effectLst>
                  <a:outerShdw blurRad="38100" dist="38100" dir="2700000" algn="tl">
                    <a:srgbClr val="000000"/>
                  </a:outerShdw>
                </a:effectLst>
                <a:latin typeface="Arial" panose="020B0604020202020204" pitchFamily="34" charset="0"/>
              </a:rPr>
              <a:t>The 1</a:t>
            </a:r>
            <a:r>
              <a:rPr lang="en-GB" altLang="en-US" sz="1400" baseline="30000" dirty="0">
                <a:effectLst>
                  <a:outerShdw blurRad="38100" dist="38100" dir="2700000" algn="tl">
                    <a:srgbClr val="000000"/>
                  </a:outerShdw>
                </a:effectLst>
                <a:latin typeface="Arial" panose="020B0604020202020204" pitchFamily="34" charset="0"/>
              </a:rPr>
              <a:t>st</a:t>
            </a:r>
            <a:r>
              <a:rPr lang="en-GB" altLang="en-US" sz="1400" dirty="0">
                <a:effectLst>
                  <a:outerShdw blurRad="38100" dist="38100" dir="2700000" algn="tl">
                    <a:srgbClr val="000000"/>
                  </a:outerShdw>
                </a:effectLst>
                <a:latin typeface="Arial" panose="020B0604020202020204" pitchFamily="34" charset="0"/>
              </a:rPr>
              <a:t> edition is available on-line through the library; the library has ~ 10 hard copies of the 2</a:t>
            </a:r>
            <a:r>
              <a:rPr lang="en-GB" altLang="en-US" sz="1400" baseline="30000" dirty="0">
                <a:effectLst>
                  <a:outerShdw blurRad="38100" dist="38100" dir="2700000" algn="tl">
                    <a:srgbClr val="000000"/>
                  </a:outerShdw>
                </a:effectLst>
                <a:latin typeface="Arial" panose="020B0604020202020204" pitchFamily="34" charset="0"/>
              </a:rPr>
              <a:t>nd</a:t>
            </a:r>
            <a:r>
              <a:rPr lang="en-GB" altLang="en-US" sz="1400" dirty="0">
                <a:effectLst>
                  <a:outerShdw blurRad="38100" dist="38100" dir="2700000" algn="tl">
                    <a:srgbClr val="000000"/>
                  </a:outerShdw>
                </a:effectLst>
                <a:latin typeface="Arial" panose="020B0604020202020204" pitchFamily="34" charset="0"/>
              </a:rPr>
              <a:t> edition</a:t>
            </a:r>
          </a:p>
        </p:txBody>
      </p:sp>
    </p:spTree>
  </p:cSld>
  <p:clrMapOvr>
    <a:masterClrMapping/>
  </p:clrMapOvr>
  <p:transition spd="slow"/>
</p:sld>
</file>

<file path=ppt/theme/theme1.xml><?xml version="1.0" encoding="utf-8"?>
<a:theme xmlns:a="http://schemas.openxmlformats.org/drawingml/2006/main" name="Basin Studies 2002">
  <a:themeElements>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fontScheme name="Basin Studies 200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
            <a:schemeClr val="accent2"/>
          </a:buClr>
          <a:buSzTx/>
          <a:buFontTx/>
          <a:buNone/>
          <a:tabLst/>
          <a:defRPr kumimoji="0" lang="en-GB" sz="1600" b="0" i="0" u="none" strike="noStrike" cap="none" normalizeH="0" baseline="0" smtClean="0">
            <a:ln>
              <a:noFill/>
            </a:ln>
            <a:solidFill>
              <a:schemeClr val="tx1"/>
            </a:solidFill>
            <a:effectLst>
              <a:outerShdw blurRad="38100" dist="38100" dir="2700000" algn="tl">
                <a:srgbClr val="000000">
                  <a:alpha val="43137"/>
                </a:srgbClr>
              </a:outerShdw>
            </a:effectLst>
            <a:latin typeface="Helvetica" charset="0"/>
          </a:defRPr>
        </a:defPPr>
      </a:lstStyle>
    </a:lnDef>
  </a:objectDefaults>
  <a:extraClrSchemeLst>
    <a:extraClrScheme>
      <a:clrScheme name="Basin Studies 2002 1">
        <a:dk1>
          <a:srgbClr val="000037"/>
        </a:dk1>
        <a:lt1>
          <a:srgbClr val="FFFFFF"/>
        </a:lt1>
        <a:dk2>
          <a:srgbClr val="000066"/>
        </a:dk2>
        <a:lt2>
          <a:srgbClr val="FFFFFF"/>
        </a:lt2>
        <a:accent1>
          <a:srgbClr val="D5790C"/>
        </a:accent1>
        <a:accent2>
          <a:srgbClr val="D5790C"/>
        </a:accent2>
        <a:accent3>
          <a:srgbClr val="AAAAB8"/>
        </a:accent3>
        <a:accent4>
          <a:srgbClr val="DADADA"/>
        </a:accent4>
        <a:accent5>
          <a:srgbClr val="E7BEAA"/>
        </a:accent5>
        <a:accent6>
          <a:srgbClr val="C16D0A"/>
        </a:accent6>
        <a:hlink>
          <a:srgbClr val="5858A2"/>
        </a:hlink>
        <a:folHlink>
          <a:srgbClr val="FFFFFF"/>
        </a:folHlink>
      </a:clrScheme>
      <a:clrMap bg1="dk2" tx1="lt1" bg2="dk1" tx2="lt2" accent1="accent1" accent2="accent2" accent3="accent3" accent4="accent4" accent5="accent5" accent6="accent6" hlink="hlink" folHlink="folHlink"/>
    </a:extraClrScheme>
    <a:extraClrScheme>
      <a:clrScheme name="Basin Studies 2002 2">
        <a:dk1>
          <a:srgbClr val="000066"/>
        </a:dk1>
        <a:lt1>
          <a:srgbClr val="FFFFFF"/>
        </a:lt1>
        <a:dk2>
          <a:srgbClr val="000066"/>
        </a:dk2>
        <a:lt2>
          <a:srgbClr val="000037"/>
        </a:lt2>
        <a:accent1>
          <a:srgbClr val="D5790C"/>
        </a:accent1>
        <a:accent2>
          <a:srgbClr val="D5790C"/>
        </a:accent2>
        <a:accent3>
          <a:srgbClr val="FFFFFF"/>
        </a:accent3>
        <a:accent4>
          <a:srgbClr val="000056"/>
        </a:accent4>
        <a:accent5>
          <a:srgbClr val="E7BEAA"/>
        </a:accent5>
        <a:accent6>
          <a:srgbClr val="C16D0A"/>
        </a:accent6>
        <a:hlink>
          <a:srgbClr val="5858A2"/>
        </a:hlink>
        <a:folHlink>
          <a:srgbClr val="FFFFFF"/>
        </a:folHlink>
      </a:clrScheme>
      <a:clrMap bg1="lt1" tx1="dk1" bg2="lt2" tx2="dk2" accent1="accent1" accent2="accent2" accent3="accent3" accent4="accent4" accent5="accent5" accent6="accent6" hlink="hlink" folHlink="folHlink"/>
    </a:extraClrScheme>
    <a:extraClrScheme>
      <a:clrScheme name="Basin Studies 200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PowerBook HD:Users:robgawth:Documents:Eudora Folder:Attachments Folder:Basin Studies 2002.pot</Template>
  <TotalTime>7887</TotalTime>
  <Words>8323</Words>
  <Application>Microsoft Office PowerPoint</Application>
  <PresentationFormat>On-screen Show (4:3)</PresentationFormat>
  <Paragraphs>352</Paragraphs>
  <Slides>45</Slides>
  <Notes>45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45</vt:i4>
      </vt:variant>
    </vt:vector>
  </HeadingPairs>
  <TitlesOfParts>
    <vt:vector size="54" baseType="lpstr">
      <vt:lpstr>Arial</vt:lpstr>
      <vt:lpstr>Calibri</vt:lpstr>
      <vt:lpstr>Cambria Math</vt:lpstr>
      <vt:lpstr>Helvetica</vt:lpstr>
      <vt:lpstr>Symbol</vt:lpstr>
      <vt:lpstr>Times</vt:lpstr>
      <vt:lpstr>Times New Roman</vt:lpstr>
      <vt:lpstr>Wingdings</vt:lpstr>
      <vt:lpstr>Basin Studies 2002</vt:lpstr>
      <vt:lpstr>EART 28202 :  Structural Geology    Class 1 :  The Geometry of Folds and Congruent Minor Structures</vt:lpstr>
      <vt:lpstr>Folding</vt:lpstr>
      <vt:lpstr>Essential geometric elements: fold axis/profile plane</vt:lpstr>
      <vt:lpstr>Essential geometric elements: parts of a fold</vt:lpstr>
      <vt:lpstr>Essential geometric elements: enveloping surfaces</vt:lpstr>
      <vt:lpstr>Essential geometric elements: axial surface</vt:lpstr>
      <vt:lpstr>Essential geometric elements: antiform/synform</vt:lpstr>
      <vt:lpstr>Essential geometric elements: other fold types</vt:lpstr>
      <vt:lpstr>Fold symmetry  1</vt:lpstr>
      <vt:lpstr>Fold symmetry  2</vt:lpstr>
      <vt:lpstr>Fold symmetry  3</vt:lpstr>
      <vt:lpstr>Fold symmetry  4</vt:lpstr>
      <vt:lpstr>Fold symmetry  5</vt:lpstr>
      <vt:lpstr>Fold scale</vt:lpstr>
      <vt:lpstr>Fold attitude  1</vt:lpstr>
      <vt:lpstr>Fold attitude  2</vt:lpstr>
      <vt:lpstr>Fold shape  1</vt:lpstr>
      <vt:lpstr>Fold shape  2  (fold bluntness)</vt:lpstr>
      <vt:lpstr>Fold shape  3  (fold bluntness)</vt:lpstr>
      <vt:lpstr>Fold classification by layer thickness variations  1</vt:lpstr>
      <vt:lpstr>Fold classification by layer thickness variations  2</vt:lpstr>
      <vt:lpstr>Fold classification by layer thickness variations  3</vt:lpstr>
      <vt:lpstr>Summary of key geometric descriptors</vt:lpstr>
      <vt:lpstr>   Congruent Minor Structures  </vt:lpstr>
      <vt:lpstr>Congruent minor structures</vt:lpstr>
      <vt:lpstr>Minor folds</vt:lpstr>
      <vt:lpstr>Formation of planar and linear fabrics</vt:lpstr>
      <vt:lpstr>Cleavage  (definitions)</vt:lpstr>
      <vt:lpstr>Cleavage  (axial planar)</vt:lpstr>
      <vt:lpstr>Cleavage  (axial planar)  2</vt:lpstr>
      <vt:lpstr>Cleavage  (asymmetry)</vt:lpstr>
      <vt:lpstr>Cleavage  (fanning/transecting)</vt:lpstr>
      <vt:lpstr>Cleavage  (refraction)</vt:lpstr>
      <vt:lpstr>Cleavage  (crenulation)</vt:lpstr>
      <vt:lpstr>Crenulation cleavage development</vt:lpstr>
      <vt:lpstr>Crenulation cleavage/bedding asymmetry</vt:lpstr>
      <vt:lpstr>Crenulation cleavage/bedding asymmetry</vt:lpstr>
      <vt:lpstr>Cleavage  (crenulation)  2</vt:lpstr>
      <vt:lpstr>Mineral elongation lineations</vt:lpstr>
      <vt:lpstr>Stretching lineations</vt:lpstr>
      <vt:lpstr>Pinch-and-swell/boudinage</vt:lpstr>
      <vt:lpstr>Pinch-and-swell/boudinage  (shape and orientation)</vt:lpstr>
      <vt:lpstr>Pinch-and-swell/boudinage  (symmetry)</vt:lpstr>
      <vt:lpstr>Lineations parallel to the fold axis  (mullions)</vt:lpstr>
      <vt:lpstr>Reading</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GY2141 Lecture 10</dc:subject>
  <dc:creator>Steve Covey-Crump</dc:creator>
  <cp:lastModifiedBy>Stephen Covey-crump</cp:lastModifiedBy>
  <cp:revision>383</cp:revision>
  <cp:lastPrinted>2002-03-22T07:32:28Z</cp:lastPrinted>
  <dcterms:created xsi:type="dcterms:W3CDTF">2002-10-21T14:42:49Z</dcterms:created>
  <dcterms:modified xsi:type="dcterms:W3CDTF">2026-02-05T10:05:59Z</dcterms:modified>
</cp:coreProperties>
</file>